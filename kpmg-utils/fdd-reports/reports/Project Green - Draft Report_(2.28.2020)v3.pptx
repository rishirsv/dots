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s/slide30.xml" ContentType="application/vnd.openxmlformats-officedocument.presentationml.slide+xml"/>
  <Override PartName="/ppt/slides/slide7.xml" ContentType="application/vnd.openxmlformats-officedocument.presentationml.slide+xml"/>
  <Override PartName="/ppt/slides/slide3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36.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29.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31.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6.xml" ContentType="application/vnd.openxmlformats-officedocument.presentationml.slid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2.xml" ContentType="application/vnd.openxmlformats-officedocument.presentationml.slideLayout+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slideLayouts/slideLayout41.xml" ContentType="application/vnd.openxmlformats-officedocument.presentationml.slideLayout+xml"/>
  <Override PartName="/ppt/slideLayouts/slideLayout39.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40.xml" ContentType="application/vnd.openxmlformats-officedocument.presentationml.slideLayout+xml"/>
  <Override PartName="/ppt/slideLayouts/slideLayout33.xml" ContentType="application/vnd.openxmlformats-officedocument.presentationml.slideLayout+xml"/>
  <Override PartName="/ppt/slideLayouts/slideLayout35.xml" ContentType="application/vnd.openxmlformats-officedocument.presentationml.slideLayout+xml"/>
  <Override PartName="/ppt/notesSlides/notesSlide10.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slideLayouts/slideLayout34.xml" ContentType="application/vnd.openxmlformats-officedocument.presentationml.slideLayout+xml"/>
  <Override PartName="/ppt/notesSlides/notesSlide8.xml" ContentType="application/vnd.openxmlformats-officedocument.presentationml.notesSlide+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notesSlides/notesSlide13.xml" ContentType="application/vnd.openxmlformats-officedocument.presentationml.notesSlide+xml"/>
  <Override PartName="/ppt/comments/comment2.xml" ContentType="application/vnd.openxmlformats-officedocument.presentationml.comments+xml"/>
  <Override PartName="/ppt/comments/comment1.xml" ContentType="application/vnd.openxmlformats-officedocument.presentationml.comments+xml"/>
  <Override PartName="/ppt/comments/comment3.xml" ContentType="application/vnd.openxmlformats-officedocument.presentationml.comments+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commentAuthors.xml" ContentType="application/vnd.openxmlformats-officedocument.presentationml.commentAuthors+xml"/>
  <Override PartName="/ppt/theme/theme1.xml" ContentType="application/vnd.openxmlformats-officedocument.theme+xml"/>
  <Override PartName="/ppt/theme/theme4.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ags/tag35.xml" ContentType="application/vnd.openxmlformats-officedocument.presentationml.tags+xml"/>
  <Override PartName="/ppt/tags/tag9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4.xml" ContentType="application/vnd.openxmlformats-officedocument.presentationml.tags+xml"/>
  <Override PartName="/ppt/tags/tag33.xml" ContentType="application/vnd.openxmlformats-officedocument.presentationml.tags+xml"/>
  <Override PartName="/ppt/tags/tag36.xml" ContentType="application/vnd.openxmlformats-officedocument.presentationml.tags+xml"/>
  <Override PartName="/ppt/tags/tag30.xml" ContentType="application/vnd.openxmlformats-officedocument.presentationml.tags+xml"/>
  <Override PartName="/ppt/tags/tag38.xml" ContentType="application/vnd.openxmlformats-officedocument.presentationml.tags+xml"/>
  <Override PartName="/ppt/tags/tag46.xml" ContentType="application/vnd.openxmlformats-officedocument.presentationml.tags+xml"/>
  <Override PartName="/ppt/tags/tag45.xml" ContentType="application/vnd.openxmlformats-officedocument.presentationml.tags+xml"/>
  <Override PartName="/ppt/tags/tag44.xml" ContentType="application/vnd.openxmlformats-officedocument.presentationml.tags+xml"/>
  <Override PartName="/ppt/tags/tag43.xml" ContentType="application/vnd.openxmlformats-officedocument.presentationml.tags+xml"/>
  <Override PartName="/ppt/tags/tag42.xml" ContentType="application/vnd.openxmlformats-officedocument.presentationml.tags+xml"/>
  <Override PartName="/ppt/tags/tag41.xml" ContentType="application/vnd.openxmlformats-officedocument.presentationml.tags+xml"/>
  <Override PartName="/ppt/tags/tag40.xml" ContentType="application/vnd.openxmlformats-officedocument.presentationml.tags+xml"/>
  <Override PartName="/ppt/tags/tag39.xml" ContentType="application/vnd.openxmlformats-officedocument.presentationml.tags+xml"/>
  <Override PartName="/ppt/tags/tag37.xml" ContentType="application/vnd.openxmlformats-officedocument.presentationml.tags+xml"/>
  <Override PartName="/ppt/tags/tag47.xml" ContentType="application/vnd.openxmlformats-officedocument.presentationml.tags+xml"/>
  <Override PartName="/ppt/tags/tag2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3.xml" ContentType="application/vnd.openxmlformats-officedocument.presentationml.tags+xml"/>
  <Override PartName="/ppt/tags/tag22.xml" ContentType="application/vnd.openxmlformats-officedocument.presentationml.tags+xml"/>
  <Override PartName="/ppt/tags/tag21.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9.xml" ContentType="application/vnd.openxmlformats-officedocument.presentationml.tags+xml"/>
  <Override PartName="/ppt/tags/tag55.xml" ContentType="application/vnd.openxmlformats-officedocument.presentationml.tags+xml"/>
  <Override PartName="/ppt/tags/tag49.xml" ContentType="application/vnd.openxmlformats-officedocument.presentationml.tags+xml"/>
  <Override PartName="/ppt/tags/tag114.xml" ContentType="application/vnd.openxmlformats-officedocument.presentationml.tags+xml"/>
  <Override PartName="/ppt/tags/tag113.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112.xml" ContentType="application/vnd.openxmlformats-officedocument.presentationml.tags+xml"/>
  <Override PartName="/ppt/tags/tag111.xml" ContentType="application/vnd.openxmlformats-officedocument.presentationml.tags+xml"/>
  <Override PartName="/ppt/tags/tag110.xml" ContentType="application/vnd.openxmlformats-officedocument.presentationml.tags+xml"/>
  <Override PartName="/ppt/tags/tag109.xml" ContentType="application/vnd.openxmlformats-officedocument.presentationml.tags+xml"/>
  <Override PartName="/ppt/tags/tag108.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21.xml" ContentType="application/vnd.openxmlformats-officedocument.presentationml.tags+xml"/>
  <Override PartName="/ppt/tags/tag120.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119.xml" ContentType="application/vnd.openxmlformats-officedocument.presentationml.tags+xml"/>
  <Override PartName="/ppt/tags/tag118.xml" ContentType="application/vnd.openxmlformats-officedocument.presentationml.tags+xml"/>
  <Override PartName="/ppt/tags/tag107.xml" ContentType="application/vnd.openxmlformats-officedocument.presentationml.tags+xml"/>
  <Override PartName="/ppt/tags/tag84.xml" ContentType="application/vnd.openxmlformats-officedocument.presentationml.tags+xml"/>
  <Override PartName="/ppt/tags/tag106.xml" ContentType="application/vnd.openxmlformats-officedocument.presentationml.tags+xml"/>
  <Override PartName="/ppt/tags/tag9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6.xml" ContentType="application/vnd.openxmlformats-officedocument.presentationml.tags+xml"/>
  <Override PartName="/ppt/tags/tag95.xml" ContentType="application/vnd.openxmlformats-officedocument.presentationml.tags+xml"/>
  <Override PartName="/ppt/tags/tag94.xml" ContentType="application/vnd.openxmlformats-officedocument.presentationml.tags+xml"/>
  <Override PartName="/ppt/tags/tag93.xml" ContentType="application/vnd.openxmlformats-officedocument.presentationml.tags+xml"/>
  <Override PartName="/ppt/tags/tag92.xml" ContentType="application/vnd.openxmlformats-officedocument.presentationml.tags+xml"/>
  <Override PartName="/ppt/tags/tag91.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87.xml" ContentType="application/vnd.openxmlformats-officedocument.presentationml.tags+xml"/>
  <Override PartName="/ppt/tags/tag85.xml" ContentType="application/vnd.openxmlformats-officedocument.presentationml.tags+xml"/>
  <Override PartName="/ppt/tags/tag105.xml" ContentType="application/vnd.openxmlformats-officedocument.presentationml.tags+xml"/>
  <Override PartName="/ppt/tags/tag104.xml" ContentType="application/vnd.openxmlformats-officedocument.presentationml.tags+xml"/>
  <Override PartName="/ppt/tags/tag103.xml" ContentType="application/vnd.openxmlformats-officedocument.presentationml.tags+xml"/>
  <Override PartName="/ppt/tags/tag102.xml" ContentType="application/vnd.openxmlformats-officedocument.presentationml.tags+xml"/>
  <Override PartName="/ppt/tags/tag101.xml" ContentType="application/vnd.openxmlformats-officedocument.presentationml.tags+xml"/>
  <Override PartName="/ppt/tags/tag100.xml" ContentType="application/vnd.openxmlformats-officedocument.presentationml.tags+xml"/>
  <Override PartName="/ppt/tags/tag86.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docProps/custom.xml" ContentType="application/vnd.openxmlformats-officedocument.custom-properties+xml"/>
  <Override PartName="/ppt/tags/tag60.xml" ContentType="application/vnd.openxmlformats-officedocument.presentationml.tags+xml"/>
  <Override PartName="/ppt/tags/tag59.xml" ContentType="application/vnd.openxmlformats-officedocument.presentationml.tags+xml"/>
  <Override PartName="/ppt/tags/tag58.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1.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docProps/app.xml" ContentType="application/vnd.openxmlformats-officedocument.extended-properties+xml"/>
  <Override PartName="/docProps/core.xml" ContentType="application/vnd.openxmlformats-package.core-properties+xml"/>
  <Override PartName="/ppt/tags/tag69.xml" ContentType="application/vnd.openxmlformats-officedocument.presentationml.tags+xml"/>
  <Override PartName="/ppt/tags/tag129.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128.xml" ContentType="application/vnd.openxmlformats-officedocument.presentationml.tags+xml"/>
  <Override PartName="/ppt/tags/tag127.xml" ContentType="application/vnd.openxmlformats-officedocument.presentationml.tags+xml"/>
  <Override PartName="/ppt/tags/tag126.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125.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73.xml" ContentType="application/vnd.openxmlformats-officedocument.presentationml.tags+xml"/>
  <Override PartName="/ppt/tags/tag70.xml" ContentType="application/vnd.openxmlformats-officedocument.presentationml.tags+xml"/>
  <Override PartName="/ppt/tags/tag136.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135.xml" ContentType="application/vnd.openxmlformats-officedocument.presentationml.tags+xml"/>
  <Override PartName="/ppt/tags/tag134.xml" ContentType="application/vnd.openxmlformats-officedocument.presentationml.tags+xml"/>
  <Override PartName="/ppt/tags/tag133.xml" ContentType="application/vnd.openxmlformats-officedocument.presentationml.tags+xml"/>
  <Override PartName="/ppt/tags/tag132.xml" ContentType="application/vnd.openxmlformats-officedocument.presentationml.tags+xml"/>
  <Override PartName="/ppt/tags/tag48.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738" r:id="rId2"/>
    <p:sldMasterId id="2147483733" r:id="rId3"/>
  </p:sldMasterIdLst>
  <p:notesMasterIdLst>
    <p:notesMasterId r:id="rId41"/>
  </p:notesMasterIdLst>
  <p:sldIdLst>
    <p:sldId id="256" r:id="rId4"/>
    <p:sldId id="296" r:id="rId5"/>
    <p:sldId id="293" r:id="rId6"/>
    <p:sldId id="354" r:id="rId7"/>
    <p:sldId id="349" r:id="rId8"/>
    <p:sldId id="342" r:id="rId9"/>
    <p:sldId id="303" r:id="rId10"/>
    <p:sldId id="316" r:id="rId11"/>
    <p:sldId id="331" r:id="rId12"/>
    <p:sldId id="336" r:id="rId13"/>
    <p:sldId id="318" r:id="rId14"/>
    <p:sldId id="343" r:id="rId15"/>
    <p:sldId id="292" r:id="rId16"/>
    <p:sldId id="337" r:id="rId17"/>
    <p:sldId id="306" r:id="rId18"/>
    <p:sldId id="324" r:id="rId19"/>
    <p:sldId id="307" r:id="rId20"/>
    <p:sldId id="338" r:id="rId21"/>
    <p:sldId id="339" r:id="rId22"/>
    <p:sldId id="352" r:id="rId23"/>
    <p:sldId id="340" r:id="rId24"/>
    <p:sldId id="341" r:id="rId25"/>
    <p:sldId id="311" r:id="rId26"/>
    <p:sldId id="344" r:id="rId27"/>
    <p:sldId id="313" r:id="rId28"/>
    <p:sldId id="314" r:id="rId29"/>
    <p:sldId id="345" r:id="rId30"/>
    <p:sldId id="346" r:id="rId31"/>
    <p:sldId id="347" r:id="rId32"/>
    <p:sldId id="325" r:id="rId33"/>
    <p:sldId id="326" r:id="rId34"/>
    <p:sldId id="350" r:id="rId35"/>
    <p:sldId id="332" r:id="rId36"/>
    <p:sldId id="333" r:id="rId37"/>
    <p:sldId id="334" r:id="rId38"/>
    <p:sldId id="356" r:id="rId39"/>
    <p:sldId id="264" r:id="rId40"/>
  </p:sldIdLst>
  <p:sldSz cx="9144000" cy="6858000" type="letter"/>
  <p:notesSz cx="7010400" cy="92964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as, Mohammed A" initials="AMA" lastIdx="57" clrIdx="0">
    <p:extLst>
      <p:ext uri="{19B8F6BF-5375-455C-9EA6-DF929625EA0E}">
        <p15:presenceInfo xmlns:p15="http://schemas.microsoft.com/office/powerpoint/2012/main" userId="S-1-5-21-228335008-1399325431-926709054-297881" providerId="AD"/>
      </p:ext>
    </p:extLst>
  </p:cmAuthor>
  <p:cmAuthor id="2" name="Chowdhury, Zahin" initials="CZ" lastIdx="104" clrIdx="1">
    <p:extLst>
      <p:ext uri="{19B8F6BF-5375-455C-9EA6-DF929625EA0E}">
        <p15:presenceInfo xmlns:p15="http://schemas.microsoft.com/office/powerpoint/2012/main" userId="S-1-5-21-228335008-1399325431-926709054-216592" providerId="AD"/>
      </p:ext>
    </p:extLst>
  </p:cmAuthor>
  <p:cmAuthor id="3" name="Sivapunniyam, Schanuj" initials="SS" lastIdx="7" clrIdx="2">
    <p:extLst>
      <p:ext uri="{19B8F6BF-5375-455C-9EA6-DF929625EA0E}">
        <p15:presenceInfo xmlns:p15="http://schemas.microsoft.com/office/powerpoint/2012/main" userId="S-1-5-21-228335008-1399325431-926709054-386957" providerId="AD"/>
      </p:ext>
    </p:extLst>
  </p:cmAuthor>
  <p:cmAuthor id="4" name="Stern, Ryan" initials="SR" lastIdx="1" clrIdx="3">
    <p:extLst>
      <p:ext uri="{19B8F6BF-5375-455C-9EA6-DF929625EA0E}">
        <p15:presenceInfo xmlns:p15="http://schemas.microsoft.com/office/powerpoint/2012/main" userId="S-1-5-21-228335008-1399325431-926709054-402765" providerId="AD"/>
      </p:ext>
    </p:extLst>
  </p:cmAuthor>
  <p:cmAuthor id="5" name="Chowdhury, Zahin" initials="CZ [2]" lastIdx="4" clrIdx="4">
    <p:extLst>
      <p:ext uri="{19B8F6BF-5375-455C-9EA6-DF929625EA0E}">
        <p15:presenceInfo xmlns:p15="http://schemas.microsoft.com/office/powerpoint/2012/main" userId="Chowdhury, Zah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clrMode="bw"/>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9A44"/>
    <a:srgbClr val="BC204B"/>
    <a:srgbClr val="F68D2E"/>
    <a:srgbClr val="EAAA00"/>
    <a:srgbClr val="43B0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9" autoAdjust="0"/>
    <p:restoredTop sz="95512" autoAdjust="0"/>
  </p:normalViewPr>
  <p:slideViewPr>
    <p:cSldViewPr snapToGrid="0" showGuides="1">
      <p:cViewPr varScale="1">
        <p:scale>
          <a:sx n="109" d="100"/>
          <a:sy n="109" d="100"/>
        </p:scale>
        <p:origin x="1642" y="96"/>
      </p:cViewPr>
      <p:guideLst/>
    </p:cSldViewPr>
  </p:slideViewPr>
  <p:outlineViewPr>
    <p:cViewPr>
      <p:scale>
        <a:sx n="33" d="100"/>
        <a:sy n="33" d="100"/>
      </p:scale>
      <p:origin x="0" y="-23364"/>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gs" Target="tags/tag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customXml" Target="../customXml/item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commentAuthors" Target="commentAuthors.xml"/><Relationship Id="rId48" Type="http://schemas.openxmlformats.org/officeDocument/2006/relationships/customXml" Target="../customXml/item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0-02-26T19:25:19.265" idx="103">
    <p:pos x="10" y="10"/>
    <p:text>To update table.</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0-02-26T21:08:11.090" idx="104">
    <p:pos x="10" y="10"/>
    <p:text>RS - need to fix these tables.</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19-12-19T15:26:49.839" idx="92">
    <p:pos x="10" y="10"/>
    <p:text>Please see comments on prior page.</p:text>
    <p:extLst>
      <p:ext uri="{C676402C-5697-4E1C-873F-D02D1690AC5C}">
        <p15:threadingInfo xmlns:p15="http://schemas.microsoft.com/office/powerpoint/2012/main" timeZoneBias="300"/>
      </p:ext>
    </p:extLst>
  </p:cm>
  <p:cm authorId="1" dt="2019-12-19T18:22:22.512" idx="46">
    <p:pos x="10" y="106"/>
    <p:text>Done</p:text>
    <p:extLst>
      <p:ext uri="{C676402C-5697-4E1C-873F-D02D1690AC5C}">
        <p15:threadingInfo xmlns:p15="http://schemas.microsoft.com/office/powerpoint/2012/main" timeZoneBias="300">
          <p15:parentCm authorId="2" idx="92"/>
        </p15:threadingInfo>
      </p:ext>
    </p:extLst>
  </p:cm>
  <p:cm authorId="2" dt="2019-12-23T13:28:43.533" idx="99">
    <p:pos x="3616" y="718"/>
    <p:text>Formatting needs work.</p:text>
    <p:extLst mod="1">
      <p:ext uri="{C676402C-5697-4E1C-873F-D02D1690AC5C}">
        <p15:threadingInfo xmlns:p15="http://schemas.microsoft.com/office/powerpoint/2012/main" timeZoneBias="300"/>
      </p:ext>
    </p:extLst>
  </p:cm>
  <p:cm authorId="1" dt="2019-12-23T17:54:32.927" idx="57">
    <p:pos x="3616" y="814"/>
    <p:text>Adjusted</p:text>
    <p:extLst mod="1">
      <p:ext uri="{C676402C-5697-4E1C-873F-D02D1690AC5C}">
        <p15:threadingInfo xmlns:p15="http://schemas.microsoft.com/office/powerpoint/2012/main" timeZoneBias="300">
          <p15:parentCm authorId="2" idx="99"/>
        </p15:threadingInfo>
      </p:ext>
    </p:extLst>
  </p:cm>
  <p:cm authorId="2" dt="2019-12-23T13:31:17.115" idx="102">
    <p:pos x="106" y="106"/>
    <p:text>For some reason table is not showing up, put in potentially adjusted</p:text>
    <p:extLst>
      <p:ext uri="{C676402C-5697-4E1C-873F-D02D1690AC5C}">
        <p15:threadingInfo xmlns:p15="http://schemas.microsoft.com/office/powerpoint/2012/main" timeZoneBias="300"/>
      </p:ext>
    </p:extLst>
  </p:cm>
  <p:cm authorId="1" dt="2019-12-23T17:54:26.589" idx="56">
    <p:pos x="106" y="202"/>
    <p:text>Done</p:text>
    <p:extLst>
      <p:ext uri="{C676402C-5697-4E1C-873F-D02D1690AC5C}">
        <p15:threadingInfo xmlns:p15="http://schemas.microsoft.com/office/powerpoint/2012/main" timeZoneBias="300">
          <p15:parentCm authorId="2" idx="102"/>
        </p15:threadingInfo>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CA" dirty="0"/>
          </a:p>
        </p:txBody>
      </p:sp>
      <p:sp>
        <p:nvSpPr>
          <p:cNvPr id="3" name="Espace réservé de la date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DE3BE6DB-D452-43FD-85F4-C135BF52E16A}" type="datetimeFigureOut">
              <a:rPr lang="en-CA" smtClean="0"/>
              <a:t>2020-04-29</a:t>
            </a:fld>
            <a:endParaRPr lang="en-CA" dirty="0"/>
          </a:p>
        </p:txBody>
      </p:sp>
      <p:sp>
        <p:nvSpPr>
          <p:cNvPr id="4" name="Espace réservé de l'image des diapositives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fr-CA" dirty="0"/>
          </a:p>
        </p:txBody>
      </p:sp>
      <p:sp>
        <p:nvSpPr>
          <p:cNvPr id="5" name="Espace réservé des commentaires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CA" dirty="0" err="1"/>
              <a:t>Modifiez</a:t>
            </a:r>
            <a:r>
              <a:rPr lang="en-CA" dirty="0"/>
              <a:t> les styles du </a:t>
            </a:r>
            <a:r>
              <a:rPr lang="en-CA" dirty="0" err="1"/>
              <a:t>texte</a:t>
            </a:r>
            <a:r>
              <a:rPr lang="en-CA" dirty="0"/>
              <a:t> du masque</a:t>
            </a:r>
          </a:p>
          <a:p>
            <a:pPr lvl="1"/>
            <a:r>
              <a:rPr lang="en-CA" dirty="0" err="1"/>
              <a:t>Deuxième</a:t>
            </a:r>
            <a:r>
              <a:rPr lang="en-CA" dirty="0"/>
              <a:t> </a:t>
            </a:r>
            <a:r>
              <a:rPr lang="en-CA" dirty="0" err="1"/>
              <a:t>niveau</a:t>
            </a:r>
            <a:endParaRPr lang="en-CA" dirty="0"/>
          </a:p>
          <a:p>
            <a:pPr lvl="2"/>
            <a:r>
              <a:rPr lang="en-CA" dirty="0" err="1"/>
              <a:t>Troisième</a:t>
            </a:r>
            <a:r>
              <a:rPr lang="en-CA" dirty="0"/>
              <a:t> </a:t>
            </a:r>
            <a:r>
              <a:rPr lang="en-CA" dirty="0" err="1"/>
              <a:t>niveau</a:t>
            </a:r>
            <a:endParaRPr lang="en-CA" dirty="0"/>
          </a:p>
          <a:p>
            <a:pPr lvl="3"/>
            <a:r>
              <a:rPr lang="en-CA" dirty="0" err="1"/>
              <a:t>Quatrième</a:t>
            </a:r>
            <a:r>
              <a:rPr lang="en-CA" dirty="0"/>
              <a:t> </a:t>
            </a:r>
            <a:r>
              <a:rPr lang="en-CA" dirty="0" err="1"/>
              <a:t>niveau</a:t>
            </a:r>
            <a:endParaRPr lang="en-CA" dirty="0"/>
          </a:p>
          <a:p>
            <a:pPr lvl="4"/>
            <a:r>
              <a:rPr lang="en-CA" dirty="0" err="1"/>
              <a:t>Cinquième</a:t>
            </a:r>
            <a:r>
              <a:rPr lang="en-CA" dirty="0"/>
              <a:t> </a:t>
            </a:r>
            <a:r>
              <a:rPr lang="en-CA" dirty="0" err="1"/>
              <a:t>niveau</a:t>
            </a:r>
            <a:endParaRPr lang="en-CA" dirty="0"/>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CA" dirty="0"/>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427F0981-8270-4661-92A6-60BF2B81C7CA}" type="slidenum">
              <a:rPr lang="en-CA" smtClean="0"/>
              <a:t>‹#›</a:t>
            </a:fld>
            <a:endParaRPr lang="en-CA" dirty="0"/>
          </a:p>
        </p:txBody>
      </p:sp>
    </p:spTree>
    <p:extLst>
      <p:ext uri="{BB962C8B-B14F-4D97-AF65-F5344CB8AC3E}">
        <p14:creationId xmlns:p14="http://schemas.microsoft.com/office/powerpoint/2010/main" val="1018745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1</a:t>
            </a:fld>
            <a:endParaRPr lang="en-CA" dirty="0"/>
          </a:p>
        </p:txBody>
      </p:sp>
    </p:spTree>
    <p:extLst>
      <p:ext uri="{BB962C8B-B14F-4D97-AF65-F5344CB8AC3E}">
        <p14:creationId xmlns:p14="http://schemas.microsoft.com/office/powerpoint/2010/main" val="3638779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2</a:t>
            </a:fld>
            <a:endParaRPr lang="en-CA" dirty="0"/>
          </a:p>
        </p:txBody>
      </p:sp>
    </p:spTree>
    <p:extLst>
      <p:ext uri="{BB962C8B-B14F-4D97-AF65-F5344CB8AC3E}">
        <p14:creationId xmlns:p14="http://schemas.microsoft.com/office/powerpoint/2010/main" val="3977181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3</a:t>
            </a:fld>
            <a:endParaRPr lang="en-CA" dirty="0"/>
          </a:p>
        </p:txBody>
      </p:sp>
    </p:spTree>
    <p:extLst>
      <p:ext uri="{BB962C8B-B14F-4D97-AF65-F5344CB8AC3E}">
        <p14:creationId xmlns:p14="http://schemas.microsoft.com/office/powerpoint/2010/main" val="1037726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4</a:t>
            </a:fld>
            <a:endParaRPr lang="en-CA" dirty="0"/>
          </a:p>
        </p:txBody>
      </p:sp>
    </p:spTree>
    <p:extLst>
      <p:ext uri="{BB962C8B-B14F-4D97-AF65-F5344CB8AC3E}">
        <p14:creationId xmlns:p14="http://schemas.microsoft.com/office/powerpoint/2010/main" val="192849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5</a:t>
            </a:fld>
            <a:endParaRPr lang="en-CA" dirty="0"/>
          </a:p>
        </p:txBody>
      </p:sp>
    </p:spTree>
    <p:extLst>
      <p:ext uri="{BB962C8B-B14F-4D97-AF65-F5344CB8AC3E}">
        <p14:creationId xmlns:p14="http://schemas.microsoft.com/office/powerpoint/2010/main" val="1948088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CA" dirty="0"/>
              <a:t>GX </a:t>
            </a:r>
          </a:p>
        </p:txBody>
      </p:sp>
      <p:sp>
        <p:nvSpPr>
          <p:cNvPr id="4" name="Espace réservé du numéro de diapositive 3"/>
          <p:cNvSpPr>
            <a:spLocks noGrp="1"/>
          </p:cNvSpPr>
          <p:nvPr>
            <p:ph type="sldNum" sz="quarter" idx="10"/>
          </p:nvPr>
        </p:nvSpPr>
        <p:spPr/>
        <p:txBody>
          <a:bodyPr/>
          <a:lstStyle/>
          <a:p>
            <a:fld id="{E2FEE106-D861-6343-96FF-5BF90692C3C7}" type="slidenum">
              <a:rPr lang="en-CA" smtClean="0"/>
              <a:pPr/>
              <a:t>9</a:t>
            </a:fld>
            <a:endParaRPr lang="en-CA" dirty="0"/>
          </a:p>
        </p:txBody>
      </p:sp>
    </p:spTree>
    <p:extLst>
      <p:ext uri="{BB962C8B-B14F-4D97-AF65-F5344CB8AC3E}">
        <p14:creationId xmlns:p14="http://schemas.microsoft.com/office/powerpoint/2010/main" val="3385648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7F0981-8270-4661-92A6-60BF2B81C7CA}" type="slidenum">
              <a:rPr lang="en-CA" smtClean="0"/>
              <a:t>10</a:t>
            </a:fld>
            <a:endParaRPr lang="en-CA" dirty="0"/>
          </a:p>
        </p:txBody>
      </p:sp>
    </p:spTree>
    <p:extLst>
      <p:ext uri="{BB962C8B-B14F-4D97-AF65-F5344CB8AC3E}">
        <p14:creationId xmlns:p14="http://schemas.microsoft.com/office/powerpoint/2010/main" val="2804098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7F0981-8270-4661-92A6-60BF2B81C7CA}" type="slidenum">
              <a:rPr lang="en-CA" smtClean="0"/>
              <a:t>11</a:t>
            </a:fld>
            <a:endParaRPr lang="en-CA" dirty="0"/>
          </a:p>
        </p:txBody>
      </p:sp>
    </p:spTree>
    <p:extLst>
      <p:ext uri="{BB962C8B-B14F-4D97-AF65-F5344CB8AC3E}">
        <p14:creationId xmlns:p14="http://schemas.microsoft.com/office/powerpoint/2010/main" val="871029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13</a:t>
            </a:fld>
            <a:endParaRPr lang="en-CA" dirty="0"/>
          </a:p>
        </p:txBody>
      </p:sp>
    </p:spTree>
    <p:extLst>
      <p:ext uri="{BB962C8B-B14F-4D97-AF65-F5344CB8AC3E}">
        <p14:creationId xmlns:p14="http://schemas.microsoft.com/office/powerpoint/2010/main" val="3917161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25</a:t>
            </a:fld>
            <a:endParaRPr lang="en-CA" dirty="0"/>
          </a:p>
        </p:txBody>
      </p:sp>
    </p:spTree>
    <p:extLst>
      <p:ext uri="{BB962C8B-B14F-4D97-AF65-F5344CB8AC3E}">
        <p14:creationId xmlns:p14="http://schemas.microsoft.com/office/powerpoint/2010/main" val="3143298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28</a:t>
            </a:fld>
            <a:endParaRPr lang="en-CA" dirty="0"/>
          </a:p>
        </p:txBody>
      </p:sp>
    </p:spTree>
    <p:extLst>
      <p:ext uri="{BB962C8B-B14F-4D97-AF65-F5344CB8AC3E}">
        <p14:creationId xmlns:p14="http://schemas.microsoft.com/office/powerpoint/2010/main" val="2184547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29</a:t>
            </a:fld>
            <a:endParaRPr lang="en-CA" dirty="0"/>
          </a:p>
        </p:txBody>
      </p:sp>
    </p:spTree>
    <p:extLst>
      <p:ext uri="{BB962C8B-B14F-4D97-AF65-F5344CB8AC3E}">
        <p14:creationId xmlns:p14="http://schemas.microsoft.com/office/powerpoint/2010/main" val="2329875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27F0981-8270-4661-92A6-60BF2B81C7CA}" type="slidenum">
              <a:rPr lang="en-CA" smtClean="0"/>
              <a:t>37</a:t>
            </a:fld>
            <a:endParaRPr lang="en-CA" dirty="0"/>
          </a:p>
        </p:txBody>
      </p:sp>
    </p:spTree>
    <p:extLst>
      <p:ext uri="{BB962C8B-B14F-4D97-AF65-F5344CB8AC3E}">
        <p14:creationId xmlns:p14="http://schemas.microsoft.com/office/powerpoint/2010/main" val="29717439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2.jp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2.jp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vmlDrawing" Target="../drawings/vmlDrawing5.v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6.v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8.v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2.jpg"/><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33.xml.rels><?xml version="1.0" encoding="UTF-8" standalone="yes"?>
<Relationships xmlns="http://schemas.openxmlformats.org/package/2006/relationships"><Relationship Id="rId3" Type="http://schemas.openxmlformats.org/officeDocument/2006/relationships/hyperlink" Target="https://www.youtube.com/user/KPMGCanada?utm_medium=Email&amp;utm_source=ExactTarget&amp;utm_campaign=" TargetMode="External"/><Relationship Id="rId7" Type="http://schemas.openxmlformats.org/officeDocument/2006/relationships/image" Target="../media/image5.png"/><Relationship Id="rId2" Type="http://schemas.openxmlformats.org/officeDocument/2006/relationships/hyperlink" Target="http://kpmg.ca/" TargetMode="External"/><Relationship Id="rId1" Type="http://schemas.openxmlformats.org/officeDocument/2006/relationships/slideMaster" Target="../slideMasters/slideMaster1.xml"/><Relationship Id="rId6" Type="http://schemas.openxmlformats.org/officeDocument/2006/relationships/hyperlink" Target="https://www.instagram.com/kpmgcanada/" TargetMode="External"/><Relationship Id="rId5" Type="http://schemas.openxmlformats.org/officeDocument/2006/relationships/hyperlink" Target="https://www.linkedin.com/company/kpmg-canada/?utm_medium=Email&amp;utm_source=ExactTarget&amp;utm_campaign=" TargetMode="External"/><Relationship Id="rId4" Type="http://schemas.openxmlformats.org/officeDocument/2006/relationships/hyperlink" Target="https://twitter.com/KPMG_Canada?utm_medium=Email&amp;utm_source=ExactTarget&amp;utm_campaign="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6.emf"/><Relationship Id="rId4" Type="http://schemas.openxmlformats.org/officeDocument/2006/relationships/oleObject" Target="../embeddings/oleObject10.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6.emf"/><Relationship Id="rId4" Type="http://schemas.openxmlformats.org/officeDocument/2006/relationships/oleObject" Target="../embeddings/oleObject11.bin"/></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6" Type="http://schemas.openxmlformats.org/officeDocument/2006/relationships/image" Target="../media/image2.jp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10" Type="http://schemas.openxmlformats.org/officeDocument/2006/relationships/slideMaster" Target="../slideMasters/slideMaster3.xml"/><Relationship Id="rId4" Type="http://schemas.openxmlformats.org/officeDocument/2006/relationships/tags" Target="../tags/tag19.xml"/><Relationship Id="rId9" Type="http://schemas.openxmlformats.org/officeDocument/2006/relationships/tags" Target="../tags/tag24.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10" Type="http://schemas.openxmlformats.org/officeDocument/2006/relationships/slideMaster" Target="../slideMasters/slideMaster3.xml"/><Relationship Id="rId4" Type="http://schemas.openxmlformats.org/officeDocument/2006/relationships/tags" Target="../tags/tag28.xml"/><Relationship Id="rId9" Type="http://schemas.openxmlformats.org/officeDocument/2006/relationships/tags" Target="../tags/tag33.xml"/></Relationships>
</file>

<file path=ppt/slideLayouts/_rels/slideLayout45.xml.rels><?xml version="1.0" encoding="UTF-8" standalone="yes"?>
<Relationships xmlns="http://schemas.openxmlformats.org/package/2006/relationships"><Relationship Id="rId8" Type="http://schemas.openxmlformats.org/officeDocument/2006/relationships/tags" Target="../tags/tag41.xml"/><Relationship Id="rId3" Type="http://schemas.openxmlformats.org/officeDocument/2006/relationships/tags" Target="../tags/tag36.xml"/><Relationship Id="rId7" Type="http://schemas.openxmlformats.org/officeDocument/2006/relationships/tags" Target="../tags/tag40.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10" Type="http://schemas.openxmlformats.org/officeDocument/2006/relationships/slideMaster" Target="../slideMasters/slideMaster3.xml"/><Relationship Id="rId4" Type="http://schemas.openxmlformats.org/officeDocument/2006/relationships/tags" Target="../tags/tag37.xml"/><Relationship Id="rId9" Type="http://schemas.openxmlformats.org/officeDocument/2006/relationships/tags" Target="../tags/tag42.xml"/></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4.xml"/><Relationship Id="rId1" Type="http://schemas.openxmlformats.org/officeDocument/2006/relationships/tags" Target="../tags/tag4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 Right light vertical image">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142433333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65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4" name="Image 3"/>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Freeform 19"/>
          <p:cNvSpPr>
            <a:spLocks noEditPoints="1"/>
          </p:cNvSpPr>
          <p:nvPr userDrawn="1"/>
        </p:nvSpPr>
        <p:spPr bwMode="gray">
          <a:xfrm>
            <a:off x="759455"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solidFill>
                <a:srgbClr val="00338D"/>
              </a:solidFill>
            </a:endParaRPr>
          </a:p>
        </p:txBody>
      </p:sp>
      <p:sp>
        <p:nvSpPr>
          <p:cNvPr id="2" name="Title 1"/>
          <p:cNvSpPr>
            <a:spLocks noGrp="1"/>
          </p:cNvSpPr>
          <p:nvPr>
            <p:ph type="ctrTitle" hasCustomPrompt="1"/>
          </p:nvPr>
        </p:nvSpPr>
        <p:spPr bwMode="gray">
          <a:xfrm>
            <a:off x="727200" y="1339200"/>
            <a:ext cx="6192000" cy="3510000"/>
          </a:xfrm>
        </p:spPr>
        <p:txBody>
          <a:bodyPr anchor="t" anchorCtr="0"/>
          <a:lstStyle>
            <a:lvl1pPr algn="l">
              <a:defRPr sz="11000">
                <a:solidFill>
                  <a:schemeClr val="tx2"/>
                </a:solidFill>
              </a:defRPr>
            </a:lvl1pPr>
          </a:lstStyle>
          <a:p>
            <a:r>
              <a:rPr lang="en-CA" dirty="0"/>
              <a:t>Title slide 1</a:t>
            </a:r>
            <a:br>
              <a:rPr lang="en-CA" dirty="0"/>
            </a:br>
            <a:r>
              <a:rPr lang="en-CA" dirty="0"/>
              <a:t>light right vertical image</a:t>
            </a:r>
          </a:p>
        </p:txBody>
      </p:sp>
      <p:sp>
        <p:nvSpPr>
          <p:cNvPr id="10" name="Text Placeholder 3"/>
          <p:cNvSpPr>
            <a:spLocks noGrp="1"/>
          </p:cNvSpPr>
          <p:nvPr>
            <p:ph type="body" sz="quarter" idx="11"/>
          </p:nvPr>
        </p:nvSpPr>
        <p:spPr bwMode="gray">
          <a:xfrm>
            <a:off x="756000" y="5036400"/>
            <a:ext cx="6163200" cy="216000"/>
          </a:xfrm>
        </p:spPr>
        <p:txBody>
          <a:bodyPr/>
          <a:lstStyle>
            <a:lvl1pPr>
              <a:defRPr sz="1100">
                <a:solidFill>
                  <a:schemeClr val="tx2"/>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835608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 Right dark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2" y="0"/>
            <a:ext cx="9144001" cy="6858000"/>
          </a:xfrm>
          <a:prstGeom prst="rect">
            <a:avLst/>
          </a:prstGeom>
        </p:spPr>
      </p:pic>
      <p:sp>
        <p:nvSpPr>
          <p:cNvPr id="2" name="Title 1"/>
          <p:cNvSpPr>
            <a:spLocks noGrp="1"/>
          </p:cNvSpPr>
          <p:nvPr>
            <p:ph type="ctrTitle" hasCustomPrompt="1"/>
          </p:nvPr>
        </p:nvSpPr>
        <p:spPr bwMode="gray">
          <a:xfrm>
            <a:off x="727200" y="1339200"/>
            <a:ext cx="6192000" cy="3510000"/>
          </a:xfrm>
        </p:spPr>
        <p:txBody>
          <a:bodyPr anchor="t" anchorCtr="0"/>
          <a:lstStyle>
            <a:lvl1pPr algn="l">
              <a:defRPr sz="11000">
                <a:solidFill>
                  <a:schemeClr val="bg1"/>
                </a:solidFill>
              </a:defRPr>
            </a:lvl1pPr>
          </a:lstStyle>
          <a:p>
            <a:r>
              <a:rPr lang="en-CA" dirty="0"/>
              <a:t>Title slide 2</a:t>
            </a:r>
            <a:br>
              <a:rPr lang="en-CA" dirty="0"/>
            </a:br>
            <a:r>
              <a:rPr lang="en-CA" dirty="0"/>
              <a:t>right dark vertical image</a:t>
            </a:r>
          </a:p>
        </p:txBody>
      </p:sp>
      <p:sp>
        <p:nvSpPr>
          <p:cNvPr id="9" name="Freeform 19"/>
          <p:cNvSpPr>
            <a:spLocks noEditPoints="1"/>
          </p:cNvSpPr>
          <p:nvPr userDrawn="1"/>
        </p:nvSpPr>
        <p:spPr bwMode="gray">
          <a:xfrm>
            <a:off x="7560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6" name="Text Placeholder 3"/>
          <p:cNvSpPr>
            <a:spLocks noGrp="1"/>
          </p:cNvSpPr>
          <p:nvPr>
            <p:ph type="body" sz="quarter" idx="11"/>
          </p:nvPr>
        </p:nvSpPr>
        <p:spPr bwMode="gray">
          <a:xfrm>
            <a:off x="756000" y="5036400"/>
            <a:ext cx="61632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164097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 Left light vertical image">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2089383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68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7" name="Image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flipH="1">
            <a:off x="0" y="0"/>
            <a:ext cx="9144000" cy="6858000"/>
          </a:xfrm>
          <a:prstGeom prst="rect">
            <a:avLst/>
          </a:prstGeom>
        </p:spPr>
      </p:pic>
      <p:sp>
        <p:nvSpPr>
          <p:cNvPr id="9" name="Freeform 19"/>
          <p:cNvSpPr>
            <a:spLocks noEditPoints="1"/>
          </p:cNvSpPr>
          <p:nvPr userDrawn="1"/>
        </p:nvSpPr>
        <p:spPr bwMode="gray">
          <a:xfrm>
            <a:off x="3673571"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solidFill>
                <a:srgbClr val="00338D"/>
              </a:solidFill>
            </a:endParaRPr>
          </a:p>
        </p:txBody>
      </p:sp>
      <p:sp>
        <p:nvSpPr>
          <p:cNvPr id="2" name="Title 1"/>
          <p:cNvSpPr>
            <a:spLocks noGrp="1"/>
          </p:cNvSpPr>
          <p:nvPr>
            <p:ph type="ctrTitle" hasCustomPrompt="1"/>
          </p:nvPr>
        </p:nvSpPr>
        <p:spPr bwMode="gray">
          <a:xfrm>
            <a:off x="3668954" y="1339200"/>
            <a:ext cx="5029200" cy="3510000"/>
          </a:xfrm>
        </p:spPr>
        <p:txBody>
          <a:bodyPr anchor="t" anchorCtr="0"/>
          <a:lstStyle>
            <a:lvl1pPr algn="l">
              <a:defRPr sz="11000">
                <a:solidFill>
                  <a:schemeClr val="tx2"/>
                </a:solidFill>
              </a:defRPr>
            </a:lvl1pPr>
          </a:lstStyle>
          <a:p>
            <a:r>
              <a:rPr lang="en-CA" dirty="0"/>
              <a:t>Title slide 3</a:t>
            </a:r>
            <a:br>
              <a:rPr lang="en-CA" dirty="0"/>
            </a:br>
            <a:r>
              <a:rPr lang="en-CA" dirty="0"/>
              <a:t>left light vertical image</a:t>
            </a:r>
          </a:p>
        </p:txBody>
      </p:sp>
      <p:sp>
        <p:nvSpPr>
          <p:cNvPr id="8" name="Text Placeholder 3"/>
          <p:cNvSpPr>
            <a:spLocks noGrp="1"/>
          </p:cNvSpPr>
          <p:nvPr>
            <p:ph type="body" sz="quarter" idx="11"/>
          </p:nvPr>
        </p:nvSpPr>
        <p:spPr bwMode="gray">
          <a:xfrm>
            <a:off x="3697754" y="5036400"/>
            <a:ext cx="5000400" cy="216000"/>
          </a:xfrm>
        </p:spPr>
        <p:txBody>
          <a:bodyPr/>
          <a:lstStyle>
            <a:lvl1pPr>
              <a:defRPr sz="1100">
                <a:solidFill>
                  <a:schemeClr val="tx2"/>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555135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 Left dark vertical ima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flipH="1">
            <a:off x="-2" y="0"/>
            <a:ext cx="9144001" cy="6858000"/>
          </a:xfrm>
          <a:prstGeom prst="rect">
            <a:avLst/>
          </a:prstGeom>
        </p:spPr>
      </p:pic>
      <p:sp>
        <p:nvSpPr>
          <p:cNvPr id="2" name="Title 1"/>
          <p:cNvSpPr>
            <a:spLocks noGrp="1"/>
          </p:cNvSpPr>
          <p:nvPr>
            <p:ph type="ctrTitle" hasCustomPrompt="1"/>
          </p:nvPr>
        </p:nvSpPr>
        <p:spPr bwMode="gray">
          <a:xfrm>
            <a:off x="3668954" y="1339200"/>
            <a:ext cx="5029200" cy="3510000"/>
          </a:xfrm>
        </p:spPr>
        <p:txBody>
          <a:bodyPr anchor="t" anchorCtr="0"/>
          <a:lstStyle>
            <a:lvl1pPr algn="l">
              <a:defRPr sz="11000">
                <a:solidFill>
                  <a:schemeClr val="bg1"/>
                </a:solidFill>
              </a:defRPr>
            </a:lvl1pPr>
          </a:lstStyle>
          <a:p>
            <a:r>
              <a:rPr lang="en-CA" dirty="0"/>
              <a:t>Title slide 4</a:t>
            </a:r>
            <a:br>
              <a:rPr lang="en-CA" dirty="0"/>
            </a:br>
            <a:r>
              <a:rPr lang="en-CA" dirty="0"/>
              <a:t>left dark vertical image</a:t>
            </a:r>
          </a:p>
        </p:txBody>
      </p:sp>
      <p:sp>
        <p:nvSpPr>
          <p:cNvPr id="5" name="Freeform 19"/>
          <p:cNvSpPr>
            <a:spLocks noEditPoints="1"/>
          </p:cNvSpPr>
          <p:nvPr userDrawn="1"/>
        </p:nvSpPr>
        <p:spPr bwMode="gray">
          <a:xfrm>
            <a:off x="3697754"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 Placeholder 3"/>
          <p:cNvSpPr>
            <a:spLocks noGrp="1"/>
          </p:cNvSpPr>
          <p:nvPr>
            <p:ph type="body" sz="quarter" idx="11"/>
          </p:nvPr>
        </p:nvSpPr>
        <p:spPr bwMode="gray">
          <a:xfrm>
            <a:off x="3697754" y="5036400"/>
            <a:ext cx="50004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374907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23602" y="0"/>
            <a:ext cx="9119106" cy="6858000"/>
          </a:xfrm>
          <a:prstGeom prst="rect">
            <a:avLst/>
          </a:prstGeom>
        </p:spPr>
      </p:pic>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Report </a:t>
            </a:r>
            <a:br>
              <a:rPr lang="en-CA" dirty="0"/>
            </a:br>
            <a:r>
              <a:rPr lang="en-CA" dirty="0"/>
              <a:t>template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 Placeholder 3"/>
          <p:cNvSpPr>
            <a:spLocks noGrp="1"/>
          </p:cNvSpPr>
          <p:nvPr>
            <p:ph type="body" sz="quarter" idx="11"/>
          </p:nvPr>
        </p:nvSpPr>
        <p:spPr bwMode="gray">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826430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spTree>
      <p:nvGrpSpPr>
        <p:cNvPr id="1" name=""/>
        <p:cNvGrpSpPr/>
        <p:nvPr/>
      </p:nvGrpSpPr>
      <p:grpSpPr>
        <a:xfrm>
          <a:off x="0" y="0"/>
          <a:ext cx="0" cy="0"/>
          <a:chOff x="0" y="0"/>
          <a:chExt cx="0" cy="0"/>
        </a:xfrm>
      </p:grpSpPr>
      <p:graphicFrame>
        <p:nvGraphicFramePr>
          <p:cNvPr id="5" name="Objet 4" hidden="1"/>
          <p:cNvGraphicFramePr>
            <a:graphicFrameLocks noChangeAspect="1"/>
          </p:cNvGraphicFramePr>
          <p:nvPr userDrawn="1">
            <p:custDataLst>
              <p:tags r:id="rId2"/>
            </p:custDataLst>
            <p:extLst>
              <p:ext uri="{D42A27DB-BD31-4B8C-83A1-F6EECF244321}">
                <p14:modId xmlns:p14="http://schemas.microsoft.com/office/powerpoint/2010/main" val="10858767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71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userDrawn="1"/>
        </p:nvSpPr>
        <p:spPr bwMode="gray">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Title slide 6</a:t>
            </a:r>
            <a:br>
              <a:rPr lang="en-CA" dirty="0"/>
            </a:br>
            <a:r>
              <a:rPr lang="en-CA" dirty="0"/>
              <a:t>no image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7" name="Text Placeholder 3"/>
          <p:cNvSpPr>
            <a:spLocks noGrp="1"/>
          </p:cNvSpPr>
          <p:nvPr>
            <p:ph type="body" sz="quarter" idx="11"/>
          </p:nvPr>
        </p:nvSpPr>
        <p:spPr bwMode="gray">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06058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Letter two column">
    <p:spTree>
      <p:nvGrpSpPr>
        <p:cNvPr id="1" name=""/>
        <p:cNvGrpSpPr/>
        <p:nvPr/>
      </p:nvGrpSpPr>
      <p:grpSpPr>
        <a:xfrm>
          <a:off x="0" y="0"/>
          <a:ext cx="0" cy="0"/>
          <a:chOff x="0" y="0"/>
          <a:chExt cx="0" cy="0"/>
        </a:xfrm>
      </p:grpSpPr>
      <p:sp>
        <p:nvSpPr>
          <p:cNvPr id="25" name="Text Placeholder 24"/>
          <p:cNvSpPr>
            <a:spLocks noGrp="1"/>
          </p:cNvSpPr>
          <p:nvPr>
            <p:ph type="body" sz="quarter" idx="14"/>
          </p:nvPr>
        </p:nvSpPr>
        <p:spPr>
          <a:xfrm>
            <a:off x="4643439" y="302982"/>
            <a:ext cx="4075444"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6" name="Text Placeholder 24"/>
          <p:cNvSpPr>
            <a:spLocks noGrp="1"/>
          </p:cNvSpPr>
          <p:nvPr>
            <p:ph type="body" sz="quarter" idx="15"/>
          </p:nvPr>
        </p:nvSpPr>
        <p:spPr>
          <a:xfrm>
            <a:off x="431799" y="302982"/>
            <a:ext cx="4068763"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19" name="Text Placeholder 8"/>
          <p:cNvSpPr>
            <a:spLocks noGrp="1"/>
          </p:cNvSpPr>
          <p:nvPr>
            <p:ph type="body" sz="quarter" idx="10" hasCustomPrompt="1"/>
          </p:nvPr>
        </p:nvSpPr>
        <p:spPr>
          <a:xfrm>
            <a:off x="431799" y="1130531"/>
            <a:ext cx="4068763" cy="4878928"/>
          </a:xfrm>
        </p:spPr>
        <p:txBody>
          <a:bodyPr tIns="72000"/>
          <a:lstStyle>
            <a:lvl1pPr>
              <a:defRPr sz="800"/>
            </a:lvl1pPr>
            <a:lvl2pPr>
              <a:defRPr sz="800"/>
            </a:lvl2pPr>
            <a:lvl3pPr>
              <a:defRPr sz="800"/>
            </a:lvl3pPr>
            <a:lvl4pPr>
              <a:defRPr sz="800"/>
            </a:lvl4pPr>
            <a:lvl5pPr>
              <a:defRPr sz="800"/>
            </a:lvl5pPr>
          </a:lstStyle>
          <a:p>
            <a:pPr lvl="0"/>
            <a:r>
              <a:rPr lang="en-CA" dirty="0"/>
              <a:t>Private and confidential</a:t>
            </a:r>
          </a:p>
          <a:p>
            <a:pPr lvl="1"/>
            <a:r>
              <a:rPr lang="en-CA" dirty="0"/>
              <a:t>Second level</a:t>
            </a:r>
          </a:p>
          <a:p>
            <a:pPr lvl="2"/>
            <a:r>
              <a:rPr lang="en-CA" dirty="0"/>
              <a:t>Third level</a:t>
            </a:r>
          </a:p>
          <a:p>
            <a:pPr lvl="3"/>
            <a:r>
              <a:rPr lang="en-CA" dirty="0"/>
              <a:t>Fourth level</a:t>
            </a:r>
          </a:p>
          <a:p>
            <a:pPr lvl="4"/>
            <a:r>
              <a:rPr lang="en-CA" dirty="0"/>
              <a:t>Fifth level</a:t>
            </a:r>
          </a:p>
        </p:txBody>
      </p:sp>
      <p:sp>
        <p:nvSpPr>
          <p:cNvPr id="20" name="Text Placeholder 8"/>
          <p:cNvSpPr>
            <a:spLocks noGrp="1"/>
          </p:cNvSpPr>
          <p:nvPr>
            <p:ph type="body" sz="quarter" idx="11" hasCustomPrompt="1"/>
          </p:nvPr>
        </p:nvSpPr>
        <p:spPr>
          <a:xfrm>
            <a:off x="4643438" y="1130531"/>
            <a:ext cx="4068762" cy="4878928"/>
          </a:xfrm>
          <a:ln w="6350">
            <a:solidFill>
              <a:schemeClr val="tx2"/>
            </a:solidFill>
          </a:ln>
        </p:spPr>
        <p:txBody>
          <a:bodyPr lIns="144000" tIns="72000"/>
          <a:lstStyle>
            <a:lvl1pPr>
              <a:defRPr sz="800"/>
            </a:lvl1pPr>
            <a:lvl2pPr>
              <a:defRPr sz="800"/>
            </a:lvl2pPr>
            <a:lvl3pPr>
              <a:defRPr sz="800"/>
            </a:lvl3pPr>
            <a:lvl4pPr>
              <a:defRPr sz="800"/>
            </a:lvl4pPr>
            <a:lvl5pPr>
              <a:defRPr sz="800"/>
            </a:lvl5pPr>
          </a:lstStyle>
          <a:p>
            <a:pPr lvl="0"/>
            <a:r>
              <a:rPr lang="en-CA" dirty="0"/>
              <a:t>Important Notice</a:t>
            </a:r>
            <a:br>
              <a:rPr lang="en-CA" dirty="0"/>
            </a:br>
            <a:r>
              <a:rPr lang="en-CA" dirty="0"/>
              <a:t>Details and content must be edited to reflect nature of engagement and local office/country information.</a:t>
            </a:r>
          </a:p>
          <a:p>
            <a:pPr lvl="1"/>
            <a:r>
              <a:rPr lang="en-CA" dirty="0"/>
              <a:t>Second level</a:t>
            </a:r>
          </a:p>
          <a:p>
            <a:pPr lvl="2"/>
            <a:r>
              <a:rPr lang="en-CA" dirty="0"/>
              <a:t>Third level</a:t>
            </a:r>
          </a:p>
          <a:p>
            <a:pPr lvl="3"/>
            <a:r>
              <a:rPr lang="en-CA" dirty="0"/>
              <a:t>Fourth level</a:t>
            </a:r>
          </a:p>
          <a:p>
            <a:pPr lvl="4"/>
            <a:r>
              <a:rPr lang="en-CA" dirty="0"/>
              <a:t>Fifth level</a:t>
            </a:r>
          </a:p>
        </p:txBody>
      </p:sp>
      <p:sp>
        <p:nvSpPr>
          <p:cNvPr id="21" name="Rectangle 20"/>
          <p:cNvSpPr/>
          <p:nvPr userDrawn="1"/>
        </p:nvSpPr>
        <p:spPr>
          <a:xfrm>
            <a:off x="4643438" y="1130531"/>
            <a:ext cx="84075" cy="4878928"/>
          </a:xfrm>
          <a:prstGeom prst="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eaLnBrk="1"/>
            <a:endParaRPr lang="en-CA" sz="800" dirty="0">
              <a:solidFill>
                <a:schemeClr val="bg1"/>
              </a:solidFill>
            </a:endParaRPr>
          </a:p>
        </p:txBody>
      </p:sp>
      <p:sp>
        <p:nvSpPr>
          <p:cNvPr id="27"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0" name="TextBox 9"/>
          <p:cNvSpPr txBox="1"/>
          <p:nvPr userDrawn="1"/>
        </p:nvSpPr>
        <p:spPr bwMode="auto">
          <a:xfrm>
            <a:off x="1318360" y="6336273"/>
            <a:ext cx="603504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2020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
        <p:nvSpPr>
          <p:cNvPr id="11"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57974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Letter continuatio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130531"/>
            <a:ext cx="4068763" cy="4878928"/>
          </a:xfrm>
        </p:spPr>
        <p:txBody>
          <a:bodyPr tIns="72000"/>
          <a:lstStyle>
            <a:lvl1pPr>
              <a:defRPr sz="800"/>
            </a:lvl1pPr>
            <a:lvl2pPr>
              <a:defRPr sz="800"/>
            </a:lvl2pPr>
            <a:lvl3pPr>
              <a:defRPr sz="800"/>
            </a:lvl3pPr>
            <a:lvl4pPr>
              <a:defRPr sz="800"/>
            </a:lvl4pPr>
            <a:lvl5pPr>
              <a:defRPr sz="800"/>
            </a:lvl5pPr>
            <a:lvl6pPr>
              <a:defRPr sz="8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4643438" y="1130531"/>
            <a:ext cx="4068762" cy="4878928"/>
          </a:xfrm>
          <a:ln w="6350">
            <a:solidFill>
              <a:schemeClr val="tx2"/>
            </a:solidFill>
          </a:ln>
        </p:spPr>
        <p:txBody>
          <a:bodyPr lIns="144000" tIns="72000"/>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Rectangle 17"/>
          <p:cNvSpPr/>
          <p:nvPr userDrawn="1"/>
        </p:nvSpPr>
        <p:spPr>
          <a:xfrm>
            <a:off x="4652403" y="1130531"/>
            <a:ext cx="84075" cy="4878928"/>
          </a:xfrm>
          <a:prstGeom prst="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eaLnBrk="1"/>
            <a:endParaRPr lang="en-CA" sz="800" dirty="0">
              <a:solidFill>
                <a:schemeClr val="bg1"/>
              </a:solidFill>
            </a:endParaRPr>
          </a:p>
        </p:txBody>
      </p:sp>
      <p:sp>
        <p:nvSpPr>
          <p:cNvPr id="15" name="Text Placeholder 24"/>
          <p:cNvSpPr>
            <a:spLocks noGrp="1"/>
          </p:cNvSpPr>
          <p:nvPr>
            <p:ph type="body" sz="quarter" idx="14"/>
          </p:nvPr>
        </p:nvSpPr>
        <p:spPr>
          <a:xfrm>
            <a:off x="4643719" y="302982"/>
            <a:ext cx="4075164"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19" name="Text Placeholder 24"/>
          <p:cNvSpPr>
            <a:spLocks noGrp="1"/>
          </p:cNvSpPr>
          <p:nvPr>
            <p:ph type="body" sz="quarter" idx="15"/>
          </p:nvPr>
        </p:nvSpPr>
        <p:spPr>
          <a:xfrm>
            <a:off x="431799" y="302982"/>
            <a:ext cx="4068763"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0"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0" name="TextBox 9"/>
          <p:cNvSpPr txBox="1"/>
          <p:nvPr userDrawn="1"/>
        </p:nvSpPr>
        <p:spPr bwMode="auto">
          <a:xfrm>
            <a:off x="1318360" y="6336273"/>
            <a:ext cx="603504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2020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
        <p:nvSpPr>
          <p:cNvPr id="11"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1106940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tter important notice combination">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431800" y="1130531"/>
            <a:ext cx="4046600" cy="4878928"/>
          </a:xfrm>
        </p:spPr>
        <p:txBody>
          <a:bodyPr/>
          <a:lstStyle>
            <a:lvl1pPr>
              <a:defRPr sz="800"/>
            </a:lvl1pPr>
            <a:lvl2pPr>
              <a:defRPr sz="800"/>
            </a:lvl2pPr>
            <a:lvl3pPr>
              <a:defRPr sz="800"/>
            </a:lvl3pPr>
            <a:lvl4pPr>
              <a:defRPr sz="800"/>
            </a:lvl4pPr>
            <a:lvl5pPr>
              <a:defRPr sz="800"/>
            </a:lvl5pPr>
          </a:lstStyle>
          <a:p>
            <a:pPr lvl="0"/>
            <a:r>
              <a:rPr lang="en-CA" dirty="0"/>
              <a:t>Use this slide if your Cover Letter runs onto more than one page. </a:t>
            </a:r>
            <a:br>
              <a:rPr lang="en-CA" dirty="0"/>
            </a:br>
            <a:r>
              <a:rPr lang="en-CA" dirty="0"/>
              <a:t>Delete if not needed.</a:t>
            </a:r>
          </a:p>
          <a:p>
            <a:pPr lvl="1"/>
            <a:r>
              <a:rPr lang="en-CA" dirty="0"/>
              <a:t>Second level</a:t>
            </a:r>
          </a:p>
          <a:p>
            <a:pPr lvl="2"/>
            <a:r>
              <a:rPr lang="en-CA" dirty="0"/>
              <a:t>Third level</a:t>
            </a:r>
          </a:p>
          <a:p>
            <a:pPr lvl="3"/>
            <a:r>
              <a:rPr lang="en-CA" dirty="0"/>
              <a:t>Fourth level</a:t>
            </a:r>
          </a:p>
          <a:p>
            <a:pPr lvl="4"/>
            <a:r>
              <a:rPr lang="en-CA" dirty="0"/>
              <a:t>Fifth level</a:t>
            </a:r>
          </a:p>
        </p:txBody>
      </p:sp>
      <p:sp>
        <p:nvSpPr>
          <p:cNvPr id="4" name="Text Placeholder 8"/>
          <p:cNvSpPr>
            <a:spLocks noGrp="1"/>
          </p:cNvSpPr>
          <p:nvPr>
            <p:ph type="body" sz="quarter" idx="11"/>
          </p:nvPr>
        </p:nvSpPr>
        <p:spPr>
          <a:xfrm>
            <a:off x="4671752" y="1130531"/>
            <a:ext cx="4040448" cy="4878928"/>
          </a:xfrm>
          <a:ln w="6350">
            <a:noFill/>
          </a:ln>
        </p:spPr>
        <p:txBody>
          <a:bodyPr lIns="0" tIns="0"/>
          <a:lstStyle>
            <a:lvl1pPr>
              <a:defRPr sz="800"/>
            </a:lvl1pPr>
            <a:lvl2pPr>
              <a:defRPr sz="8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9" name="Text Placeholder 24"/>
          <p:cNvSpPr>
            <a:spLocks noGrp="1"/>
          </p:cNvSpPr>
          <p:nvPr>
            <p:ph type="body" sz="quarter" idx="15"/>
          </p:nvPr>
        </p:nvSpPr>
        <p:spPr>
          <a:xfrm>
            <a:off x="431800" y="302982"/>
            <a:ext cx="4046600"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0"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8" name="TextBox 7"/>
          <p:cNvSpPr txBox="1"/>
          <p:nvPr userDrawn="1"/>
        </p:nvSpPr>
        <p:spPr bwMode="auto">
          <a:xfrm>
            <a:off x="1318360" y="6336273"/>
            <a:ext cx="603504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2020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
        <p:nvSpPr>
          <p:cNvPr id="10"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1985192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KEY MESSAGE">
    <p:bg bwMode="gray">
      <p:bgRef idx="1001">
        <a:schemeClr val="bg1"/>
      </p:bgRef>
    </p:bg>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bwMode="gray">
          <a:xfrm>
            <a:off x="43180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1"/>
          </p:nvPr>
        </p:nvSpPr>
        <p:spPr bwMode="gray">
          <a:xfrm>
            <a:off x="2103121" y="1426659"/>
            <a:ext cx="6609080"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bwMode="gray"/>
        <p:txBody>
          <a:bodyPr/>
          <a:lstStyle/>
          <a:p>
            <a:r>
              <a:rPr lang="en-US"/>
              <a:t>Click to edit Master title style</a:t>
            </a:r>
            <a:endParaRPr lang="en-CA" dirty="0"/>
          </a:p>
        </p:txBody>
      </p:sp>
    </p:spTree>
    <p:extLst>
      <p:ext uri="{BB962C8B-B14F-4D97-AF65-F5344CB8AC3E}">
        <p14:creationId xmlns:p14="http://schemas.microsoft.com/office/powerpoint/2010/main" val="1871554881"/>
      </p:ext>
    </p:extLst>
  </p:cSld>
  <p:clrMapOvr>
    <a:masterClrMapping/>
  </p:clrMapOvr>
  <p:extLst mod="1">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KEY MESSAGE: Graph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1"/>
          </p:nvPr>
        </p:nvSpPr>
        <p:spPr>
          <a:xfrm>
            <a:off x="5466080" y="1426659"/>
            <a:ext cx="3246120"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1214003177"/>
      </p:ext>
    </p:extLst>
  </p:cSld>
  <p:clrMapOvr>
    <a:masterClrMapping/>
  </p:clrMapOvr>
  <p:extLst mod="1">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KEY MESSAGE 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434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1"/>
          </p:nvPr>
        </p:nvSpPr>
        <p:spPr>
          <a:xfrm>
            <a:off x="2099178" y="1426659"/>
            <a:ext cx="3244347"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2"/>
          </p:nvPr>
        </p:nvSpPr>
        <p:spPr>
          <a:xfrm>
            <a:off x="5465763" y="1426659"/>
            <a:ext cx="3246437" cy="4594225"/>
          </a:xfrm>
          <a:ln>
            <a:solidFill>
              <a:schemeClr val="accent1"/>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264360914"/>
      </p:ext>
    </p:extLst>
  </p:cSld>
  <p:clrMapOvr>
    <a:masterClrMapping/>
  </p:clrMapOvr>
  <p:extLst mod="1">
    <p:ext uri="{DCECCB84-F9BA-43D5-87BE-67443E8EF086}">
      <p15:sldGuideLst xmlns:p15="http://schemas.microsoft.com/office/powerpoint/2012/main">
        <p15:guide id="1" pos="1224" userDrawn="1">
          <p15:clr>
            <a:srgbClr val="FBAE40"/>
          </p15:clr>
        </p15:guide>
        <p15:guide id="2" pos="1320" userDrawn="1">
          <p15:clr>
            <a:srgbClr val="FBAE40"/>
          </p15:clr>
        </p15:guide>
        <p15:guide id="3" pos="3443" userDrawn="1">
          <p15:clr>
            <a:srgbClr val="FBAE40"/>
          </p15:clr>
        </p15:guide>
        <p15:guide id="4" pos="336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1086707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dirty="0"/>
          </a:p>
        </p:txBody>
      </p:sp>
      <p:sp>
        <p:nvSpPr>
          <p:cNvPr id="9" name="Text Placeholder 8"/>
          <p:cNvSpPr>
            <a:spLocks noGrp="1"/>
          </p:cNvSpPr>
          <p:nvPr>
            <p:ph type="body" sz="quarter" idx="10"/>
          </p:nvPr>
        </p:nvSpPr>
        <p:spPr>
          <a:xfrm>
            <a:off x="431800" y="1426659"/>
            <a:ext cx="82804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6043585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4643438" y="1426659"/>
            <a:ext cx="4068762"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760996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Chart Placeholder 5"/>
          <p:cNvSpPr>
            <a:spLocks noGrp="1"/>
          </p:cNvSpPr>
          <p:nvPr>
            <p:ph type="chart" sz="quarter" idx="13"/>
          </p:nvPr>
        </p:nvSpPr>
        <p:spPr>
          <a:xfrm>
            <a:off x="4643438" y="1426658"/>
            <a:ext cx="4068762" cy="4593600"/>
          </a:xfrm>
        </p:spPr>
        <p:txBody>
          <a:bodyPr anchor="ctr"/>
          <a:lstStyle>
            <a:lvl1pPr algn="ctr">
              <a:defRPr/>
            </a:lvl1pPr>
          </a:lstStyle>
          <a:p>
            <a:r>
              <a:rPr lang="en-US" dirty="0"/>
              <a:t>Click icon to add chart</a:t>
            </a:r>
            <a:endParaRPr lang="en-GB" dirty="0"/>
          </a:p>
        </p:txBody>
      </p:sp>
      <p:sp>
        <p:nvSpPr>
          <p:cNvPr id="2" name="Title 1"/>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1468853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3824884"/>
            <a:ext cx="82804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1"/>
          </p:nvPr>
        </p:nvSpPr>
        <p:spPr>
          <a:xfrm>
            <a:off x="431800" y="1426659"/>
            <a:ext cx="8280400" cy="2196000"/>
          </a:xfrm>
        </p:spPr>
        <p:txBody>
          <a:bodyPr anchor="ctr"/>
          <a:lstStyle>
            <a:lvl1pPr algn="ctr">
              <a:defRPr/>
            </a:lvl1pPr>
          </a:lstStyle>
          <a:p>
            <a:r>
              <a:rPr lang="en-US" dirty="0"/>
              <a:t>Click icon to add chart</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7786615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3249000" y="1426659"/>
            <a:ext cx="2646000" cy="2185200"/>
          </a:xfrm>
        </p:spPr>
        <p:txBody>
          <a:bodyPr anchor="ctr"/>
          <a:lstStyle>
            <a:lvl1pPr algn="ctr">
              <a:defRPr/>
            </a:lvl1pPr>
          </a:lstStyle>
          <a:p>
            <a:r>
              <a:rPr lang="en-US" dirty="0"/>
              <a:t>Click icon to add chart</a:t>
            </a:r>
            <a:endParaRPr lang="en-GB" dirty="0"/>
          </a:p>
        </p:txBody>
      </p:sp>
      <p:sp>
        <p:nvSpPr>
          <p:cNvPr id="6" name="Chart Placeholder 4"/>
          <p:cNvSpPr>
            <a:spLocks noGrp="1"/>
          </p:cNvSpPr>
          <p:nvPr>
            <p:ph type="chart" sz="quarter" idx="12"/>
          </p:nvPr>
        </p:nvSpPr>
        <p:spPr>
          <a:xfrm>
            <a:off x="431800" y="1426659"/>
            <a:ext cx="2646000" cy="2185200"/>
          </a:xfrm>
        </p:spPr>
        <p:txBody>
          <a:bodyPr anchor="ctr"/>
          <a:lstStyle>
            <a:lvl1pPr algn="ctr">
              <a:defRPr/>
            </a:lvl1pPr>
          </a:lstStyle>
          <a:p>
            <a:r>
              <a:rPr lang="en-US" dirty="0"/>
              <a:t>Click icon to add chart</a:t>
            </a:r>
            <a:endParaRPr lang="en-GB" dirty="0"/>
          </a:p>
        </p:txBody>
      </p:sp>
      <p:sp>
        <p:nvSpPr>
          <p:cNvPr id="7" name="Text Placeholder 8"/>
          <p:cNvSpPr>
            <a:spLocks noGrp="1"/>
          </p:cNvSpPr>
          <p:nvPr>
            <p:ph type="body" sz="quarter" idx="10"/>
          </p:nvPr>
        </p:nvSpPr>
        <p:spPr>
          <a:xfrm>
            <a:off x="431800" y="3824884"/>
            <a:ext cx="2646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hart Placeholder 4"/>
          <p:cNvSpPr>
            <a:spLocks noGrp="1"/>
          </p:cNvSpPr>
          <p:nvPr>
            <p:ph type="chart" sz="quarter" idx="13"/>
          </p:nvPr>
        </p:nvSpPr>
        <p:spPr>
          <a:xfrm>
            <a:off x="6066200" y="1426659"/>
            <a:ext cx="2646000" cy="2185200"/>
          </a:xfrm>
        </p:spPr>
        <p:txBody>
          <a:bodyPr anchor="ctr"/>
          <a:lstStyle>
            <a:lvl1pPr algn="ctr">
              <a:defRPr/>
            </a:lvl1pPr>
          </a:lstStyle>
          <a:p>
            <a:r>
              <a:rPr lang="en-US" dirty="0"/>
              <a:t>Click icon to add chart</a:t>
            </a:r>
            <a:endParaRPr lang="en-GB" dirty="0"/>
          </a:p>
        </p:txBody>
      </p:sp>
      <p:sp>
        <p:nvSpPr>
          <p:cNvPr id="9" name="Text Placeholder 8"/>
          <p:cNvSpPr>
            <a:spLocks noGrp="1"/>
          </p:cNvSpPr>
          <p:nvPr>
            <p:ph type="body" sz="quarter" idx="14"/>
          </p:nvPr>
        </p:nvSpPr>
        <p:spPr>
          <a:xfrm>
            <a:off x="3246853" y="3824884"/>
            <a:ext cx="2646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15"/>
          </p:nvPr>
        </p:nvSpPr>
        <p:spPr>
          <a:xfrm>
            <a:off x="6061906" y="3824884"/>
            <a:ext cx="2646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3441336973"/>
      </p:ext>
    </p:extLst>
  </p:cSld>
  <p:clrMapOvr>
    <a:masterClrMapping/>
  </p:clrMapOvr>
  <p:extLst mod="1">
    <p:ext uri="{DCECCB84-F9BA-43D5-87BE-67443E8EF086}">
      <p15:sldGuideLst xmlns:p15="http://schemas.microsoft.com/office/powerpoint/2012/main">
        <p15:guide id="1" orient="horz" pos="2273" userDrawn="1">
          <p15:clr>
            <a:srgbClr val="FBAE40"/>
          </p15:clr>
        </p15:guide>
        <p15:guide id="2" orient="horz" pos="240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431800" y="1427284"/>
            <a:ext cx="8280400" cy="4593600"/>
          </a:xfrm>
        </p:spPr>
        <p:txBody>
          <a:bodyPr anchor="ctr"/>
          <a:lstStyle>
            <a:lvl1pPr algn="ctr">
              <a:defRPr/>
            </a:lvl1pPr>
          </a:lstStyle>
          <a:p>
            <a:r>
              <a:rPr lang="en-US" dirty="0"/>
              <a:t>Click icon to add image</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15466858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1194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38070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4946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431800" y="1426659"/>
            <a:ext cx="1530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5" name="Text Placeholder 12"/>
          <p:cNvSpPr>
            <a:spLocks noGrp="1"/>
          </p:cNvSpPr>
          <p:nvPr>
            <p:ph type="body" sz="quarter" idx="15" hasCustomPrompt="1"/>
          </p:nvPr>
        </p:nvSpPr>
        <p:spPr>
          <a:xfrm>
            <a:off x="21194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6" name="Text Placeholder 12"/>
          <p:cNvSpPr>
            <a:spLocks noGrp="1"/>
          </p:cNvSpPr>
          <p:nvPr>
            <p:ph type="body" sz="quarter" idx="16" hasCustomPrompt="1"/>
          </p:nvPr>
        </p:nvSpPr>
        <p:spPr>
          <a:xfrm>
            <a:off x="38070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7" name="Text Placeholder 12"/>
          <p:cNvSpPr>
            <a:spLocks noGrp="1"/>
          </p:cNvSpPr>
          <p:nvPr>
            <p:ph type="body" sz="quarter" idx="17" hasCustomPrompt="1"/>
          </p:nvPr>
        </p:nvSpPr>
        <p:spPr>
          <a:xfrm>
            <a:off x="54946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1" name="Text Placeholder 12"/>
          <p:cNvSpPr>
            <a:spLocks noGrp="1"/>
          </p:cNvSpPr>
          <p:nvPr>
            <p:ph type="body" sz="quarter" idx="18" hasCustomPrompt="1"/>
          </p:nvPr>
        </p:nvSpPr>
        <p:spPr>
          <a:xfrm>
            <a:off x="7182200" y="1426659"/>
            <a:ext cx="1530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2" name="Text Placeholder 8"/>
          <p:cNvSpPr>
            <a:spLocks noGrp="1"/>
          </p:cNvSpPr>
          <p:nvPr>
            <p:ph type="body" sz="quarter" idx="19"/>
          </p:nvPr>
        </p:nvSpPr>
        <p:spPr>
          <a:xfrm>
            <a:off x="7182200" y="2316484"/>
            <a:ext cx="1530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2877598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800"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543933"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4656066"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6768200" y="2316484"/>
            <a:ext cx="1944000" cy="3704400"/>
          </a:xfrm>
        </p:spPr>
        <p:txBody>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431800" y="1426659"/>
            <a:ext cx="1944000" cy="604800"/>
          </a:xfrm>
          <a:prstGeom prst="homePlate">
            <a:avLst>
              <a:gd name="adj" fmla="val 3197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5" name="Text Placeholder 12"/>
          <p:cNvSpPr>
            <a:spLocks noGrp="1"/>
          </p:cNvSpPr>
          <p:nvPr>
            <p:ph type="body" sz="quarter" idx="15" hasCustomPrompt="1"/>
          </p:nvPr>
        </p:nvSpPr>
        <p:spPr>
          <a:xfrm>
            <a:off x="2543933" y="1426659"/>
            <a:ext cx="1944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6" name="Text Placeholder 12"/>
          <p:cNvSpPr>
            <a:spLocks noGrp="1"/>
          </p:cNvSpPr>
          <p:nvPr>
            <p:ph type="body" sz="quarter" idx="16" hasCustomPrompt="1"/>
          </p:nvPr>
        </p:nvSpPr>
        <p:spPr>
          <a:xfrm>
            <a:off x="4656066" y="1426659"/>
            <a:ext cx="1944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7" name="Text Placeholder 12"/>
          <p:cNvSpPr>
            <a:spLocks noGrp="1"/>
          </p:cNvSpPr>
          <p:nvPr>
            <p:ph type="body" sz="quarter" idx="17" hasCustomPrompt="1"/>
          </p:nvPr>
        </p:nvSpPr>
        <p:spPr>
          <a:xfrm>
            <a:off x="6768200" y="1426659"/>
            <a:ext cx="1944000" cy="604800"/>
          </a:xfrm>
          <a:prstGeom prst="chevron">
            <a:avLst>
              <a:gd name="adj" fmla="val 31101"/>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26838659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5" name="Text Placeholder 8"/>
          <p:cNvSpPr>
            <a:spLocks noGrp="1"/>
          </p:cNvSpPr>
          <p:nvPr>
            <p:ph type="body" sz="quarter" idx="12"/>
          </p:nvPr>
        </p:nvSpPr>
        <p:spPr>
          <a:xfrm>
            <a:off x="5504400" y="4400575"/>
            <a:ext cx="3207800" cy="1606525"/>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504400" y="1657033"/>
            <a:ext cx="3207800" cy="1612800"/>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3976201" y="3191933"/>
            <a:ext cx="1191600" cy="1191600"/>
          </a:xfrm>
          <a:prstGeom prst="ellipse">
            <a:avLst/>
          </a:prstGeom>
          <a:solidFill>
            <a:schemeClr val="accent1"/>
          </a:solidFill>
        </p:spPr>
        <p:txBody>
          <a:bodyPr lIns="54000" tIns="54000" rIns="54000" bIns="54000" anchor="ctr"/>
          <a:lstStyle>
            <a:lvl1pPr algn="ctr">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CA" dirty="0"/>
              <a:t>Click to add text</a:t>
            </a:r>
          </a:p>
        </p:txBody>
      </p:sp>
      <p:sp>
        <p:nvSpPr>
          <p:cNvPr id="11" name="Text Placeholder 8"/>
          <p:cNvSpPr>
            <a:spLocks noGrp="1"/>
          </p:cNvSpPr>
          <p:nvPr>
            <p:ph type="body" sz="quarter" idx="15"/>
          </p:nvPr>
        </p:nvSpPr>
        <p:spPr>
          <a:xfrm>
            <a:off x="5504400" y="1428430"/>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2" name="Text Placeholder 8"/>
          <p:cNvSpPr>
            <a:spLocks noGrp="1"/>
          </p:cNvSpPr>
          <p:nvPr>
            <p:ph type="body" sz="quarter" idx="16"/>
          </p:nvPr>
        </p:nvSpPr>
        <p:spPr>
          <a:xfrm>
            <a:off x="5504400" y="4173277"/>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4" name="Text Placeholder 8"/>
          <p:cNvSpPr>
            <a:spLocks noGrp="1"/>
          </p:cNvSpPr>
          <p:nvPr>
            <p:ph type="body" sz="quarter" idx="17"/>
          </p:nvPr>
        </p:nvSpPr>
        <p:spPr>
          <a:xfrm>
            <a:off x="431800" y="4400575"/>
            <a:ext cx="3207800" cy="1606525"/>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8"/>
          <p:cNvSpPr>
            <a:spLocks noGrp="1"/>
          </p:cNvSpPr>
          <p:nvPr>
            <p:ph type="body" sz="quarter" idx="18"/>
          </p:nvPr>
        </p:nvSpPr>
        <p:spPr>
          <a:xfrm>
            <a:off x="431800" y="4173277"/>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8"/>
          <p:cNvSpPr>
            <a:spLocks noGrp="1"/>
          </p:cNvSpPr>
          <p:nvPr>
            <p:ph type="body" sz="quarter" idx="19"/>
          </p:nvPr>
        </p:nvSpPr>
        <p:spPr>
          <a:xfrm>
            <a:off x="431800" y="1657033"/>
            <a:ext cx="3207800" cy="1612800"/>
          </a:xfrm>
          <a:ln w="1270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431800" y="1428430"/>
            <a:ext cx="3207800" cy="223200"/>
          </a:xfrm>
          <a:solidFill>
            <a:schemeClr val="tx2"/>
          </a:solidFill>
          <a:ln w="1270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Right Arrow 2"/>
          <p:cNvSpPr/>
          <p:nvPr userDrawn="1"/>
        </p:nvSpPr>
        <p:spPr>
          <a:xfrm rot="2655894">
            <a:off x="3785399" y="2812312"/>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21" name="Right Arrow 20"/>
          <p:cNvSpPr/>
          <p:nvPr userDrawn="1"/>
        </p:nvSpPr>
        <p:spPr>
          <a:xfrm rot="18944106" flipH="1">
            <a:off x="4977002" y="2812312"/>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22" name="Right Arrow 21"/>
          <p:cNvSpPr/>
          <p:nvPr userDrawn="1"/>
        </p:nvSpPr>
        <p:spPr>
          <a:xfrm rot="18944106" flipV="1">
            <a:off x="3785399" y="4385153"/>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23" name="Right Arrow 22"/>
          <p:cNvSpPr/>
          <p:nvPr userDrawn="1"/>
        </p:nvSpPr>
        <p:spPr>
          <a:xfrm rot="2655894" flipH="1" flipV="1">
            <a:off x="4977002" y="4385153"/>
            <a:ext cx="381600" cy="378000"/>
          </a:xfrm>
          <a:prstGeom prst="rightArrow">
            <a:avLst>
              <a:gd name="adj1" fmla="val 65119"/>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l" eaLnBrk="1"/>
            <a:endParaRPr lang="en-CA" sz="900" dirty="0">
              <a:solidFill>
                <a:schemeClr val="bg1"/>
              </a:solidFill>
            </a:endParaRPr>
          </a:p>
        </p:txBody>
      </p:sp>
      <p:sp>
        <p:nvSpPr>
          <p:cNvPr id="4" name="Title 3"/>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4248635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431800" y="1657033"/>
            <a:ext cx="4068763" cy="4357241"/>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431799" y="1426659"/>
            <a:ext cx="4068763"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4643438" y="1657033"/>
            <a:ext cx="4068762" cy="4357241"/>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4643438" y="1426659"/>
            <a:ext cx="4068762"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35625604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graphicFrame>
        <p:nvGraphicFramePr>
          <p:cNvPr id="7" name="Objet 6" hidden="1"/>
          <p:cNvGraphicFramePr>
            <a:graphicFrameLocks noChangeAspect="1"/>
          </p:cNvGraphicFramePr>
          <p:nvPr userDrawn="1">
            <p:custDataLst>
              <p:tags r:id="rId2"/>
            </p:custDataLst>
            <p:extLst>
              <p:ext uri="{D42A27DB-BD31-4B8C-83A1-F6EECF244321}">
                <p14:modId xmlns:p14="http://schemas.microsoft.com/office/powerpoint/2010/main" val="131131647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73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3869611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113160134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75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9627710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3">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23790721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78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18981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4">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ext uri="{D42A27DB-BD31-4B8C-83A1-F6EECF244321}">
                <p14:modId xmlns:p14="http://schemas.microsoft.com/office/powerpoint/2010/main" val="105075403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80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Rectangle 4"/>
          <p:cNvSpPr/>
          <p:nvPr userDrawn="1"/>
        </p:nvSpPr>
        <p:spPr bwMode="gray">
          <a:xfrm>
            <a:off x="0" y="0"/>
            <a:ext cx="9144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pPr eaLnBrk="1"/>
            <a:endParaRPr lang="en-CA" sz="1800" dirty="0">
              <a:latin typeface="Arial" panose="020B0604020202020204" pitchFamily="34" charset="0"/>
            </a:endParaRPr>
          </a:p>
        </p:txBody>
      </p:sp>
      <p:sp>
        <p:nvSpPr>
          <p:cNvPr id="6"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9811532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QUAD">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431799" y="1649859"/>
            <a:ext cx="4068763" cy="1956328"/>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431799" y="1426659"/>
            <a:ext cx="4068763"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4643438" y="1649859"/>
            <a:ext cx="4068762" cy="1956328"/>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4643438" y="1426659"/>
            <a:ext cx="4068762"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 name="Text Placeholder 8"/>
          <p:cNvSpPr>
            <a:spLocks noGrp="1"/>
          </p:cNvSpPr>
          <p:nvPr>
            <p:ph type="body" sz="quarter" idx="23"/>
          </p:nvPr>
        </p:nvSpPr>
        <p:spPr>
          <a:xfrm>
            <a:off x="431799" y="4055088"/>
            <a:ext cx="4068763" cy="1956327"/>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8"/>
          <p:cNvSpPr>
            <a:spLocks noGrp="1"/>
          </p:cNvSpPr>
          <p:nvPr>
            <p:ph type="body" sz="quarter" idx="24"/>
          </p:nvPr>
        </p:nvSpPr>
        <p:spPr>
          <a:xfrm>
            <a:off x="431799" y="3835137"/>
            <a:ext cx="4068763"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9" name="Text Placeholder 8"/>
          <p:cNvSpPr>
            <a:spLocks noGrp="1"/>
          </p:cNvSpPr>
          <p:nvPr>
            <p:ph type="body" sz="quarter" idx="25"/>
          </p:nvPr>
        </p:nvSpPr>
        <p:spPr>
          <a:xfrm>
            <a:off x="4643438" y="4055088"/>
            <a:ext cx="4068762" cy="1956328"/>
          </a:xfrm>
          <a:ln w="6350">
            <a:solidFill>
              <a:schemeClr val="tx2"/>
            </a:solid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26"/>
          </p:nvPr>
        </p:nvSpPr>
        <p:spPr>
          <a:xfrm>
            <a:off x="4643438" y="3835137"/>
            <a:ext cx="4068762" cy="223200"/>
          </a:xfrm>
          <a:solidFill>
            <a:schemeClr val="tx2"/>
          </a:solidFill>
          <a:ln w="6350">
            <a:solidFill>
              <a:schemeClr val="tx2"/>
            </a:solid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5" name="TextBox 14"/>
          <p:cNvSpPr txBox="1"/>
          <p:nvPr userDrawn="1"/>
        </p:nvSpPr>
        <p:spPr bwMode="auto">
          <a:xfrm>
            <a:off x="1318360" y="6336273"/>
            <a:ext cx="603504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2020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
        <p:nvSpPr>
          <p:cNvPr id="18"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2" name="Title 1">
            <a:extLst>
              <a:ext uri="{FF2B5EF4-FFF2-40B4-BE49-F238E27FC236}">
                <a16:creationId xmlns="" xmlns:a16="http://schemas.microsoft.com/office/drawing/2014/main" id="{D5741C76-0C61-4CF3-9026-BBF922A52FA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55695692"/>
      </p:ext>
    </p:extLst>
  </p:cSld>
  <p:clrMapOvr>
    <a:masterClrMapping/>
  </p:clrMapOvr>
  <p:extLst mod="1">
    <p:ext uri="{DCECCB84-F9BA-43D5-87BE-67443E8EF086}">
      <p15:sldGuideLst xmlns:p15="http://schemas.microsoft.com/office/powerpoint/2012/main">
        <p15:guide id="1" orient="horz" pos="2273" userDrawn="1">
          <p15:clr>
            <a:srgbClr val="FBAE40"/>
          </p15:clr>
        </p15:guide>
        <p15:guide id="2" orient="horz" pos="2409"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REPORT 2 COLUMN AND COVER LETTER RUNOVER">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4643438" y="1426659"/>
            <a:ext cx="4068762"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12"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10" name="TextBox 9"/>
          <p:cNvSpPr txBox="1"/>
          <p:nvPr userDrawn="1"/>
        </p:nvSpPr>
        <p:spPr bwMode="auto">
          <a:xfrm>
            <a:off x="1318360" y="6336273"/>
            <a:ext cx="603504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2020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
        <p:nvSpPr>
          <p:cNvPr id="11"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32672883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REPORT 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CA" dirty="0"/>
          </a:p>
        </p:txBody>
      </p:sp>
      <p:sp>
        <p:nvSpPr>
          <p:cNvPr id="12"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7" name="TextBox 6"/>
          <p:cNvSpPr txBox="1"/>
          <p:nvPr userDrawn="1"/>
        </p:nvSpPr>
        <p:spPr bwMode="auto">
          <a:xfrm>
            <a:off x="1318360" y="6336273"/>
            <a:ext cx="603504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2020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
        <p:nvSpPr>
          <p:cNvPr id="8"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21562581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EPORT TITL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dirty="0"/>
          </a:p>
        </p:txBody>
      </p:sp>
      <p:sp>
        <p:nvSpPr>
          <p:cNvPr id="9" name="Text Placeholder 8"/>
          <p:cNvSpPr>
            <a:spLocks noGrp="1"/>
          </p:cNvSpPr>
          <p:nvPr>
            <p:ph type="body" sz="quarter" idx="10"/>
          </p:nvPr>
        </p:nvSpPr>
        <p:spPr>
          <a:xfrm>
            <a:off x="431800" y="1426659"/>
            <a:ext cx="82804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Freeform 19"/>
          <p:cNvSpPr>
            <a:spLocks noEditPoints="1"/>
          </p:cNvSpPr>
          <p:nvPr userDrawn="1"/>
        </p:nvSpPr>
        <p:spPr bwMode="auto">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1" name="Shape 8"/>
          <p:cNvSpPr txBox="1">
            <a:spLocks/>
          </p:cNvSpPr>
          <p:nvPr userDrawn="1"/>
        </p:nvSpPr>
        <p:spPr>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8" name="TextBox 7"/>
          <p:cNvSpPr txBox="1"/>
          <p:nvPr userDrawn="1"/>
        </p:nvSpPr>
        <p:spPr bwMode="auto">
          <a:xfrm>
            <a:off x="1318360" y="6336273"/>
            <a:ext cx="603504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2020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Tree>
    <p:extLst>
      <p:ext uri="{BB962C8B-B14F-4D97-AF65-F5344CB8AC3E}">
        <p14:creationId xmlns:p14="http://schemas.microsoft.com/office/powerpoint/2010/main" val="22427722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acts">
    <p:spTree>
      <p:nvGrpSpPr>
        <p:cNvPr id="1" name=""/>
        <p:cNvGrpSpPr/>
        <p:nvPr/>
      </p:nvGrpSpPr>
      <p:grpSpPr>
        <a:xfrm>
          <a:off x="0" y="0"/>
          <a:ext cx="0" cy="0"/>
          <a:chOff x="0" y="0"/>
          <a:chExt cx="0" cy="0"/>
        </a:xfrm>
      </p:grpSpPr>
      <p:graphicFrame>
        <p:nvGraphicFramePr>
          <p:cNvPr id="2" name="Objet 1" hidden="1"/>
          <p:cNvGraphicFramePr>
            <a:graphicFrameLocks noChangeAspect="1"/>
          </p:cNvGraphicFramePr>
          <p:nvPr userDrawn="1">
            <p:custDataLst>
              <p:tags r:id="rId2"/>
            </p:custDataLst>
            <p:extLst>
              <p:ext uri="{D42A27DB-BD31-4B8C-83A1-F6EECF244321}">
                <p14:modId xmlns:p14="http://schemas.microsoft.com/office/powerpoint/2010/main" val="391506443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70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Image 8"/>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flipH="1">
            <a:off x="0" y="0"/>
            <a:ext cx="9144000" cy="6858000"/>
          </a:xfrm>
          <a:prstGeom prst="rect">
            <a:avLst/>
          </a:prstGeom>
        </p:spPr>
      </p:pic>
      <p:sp>
        <p:nvSpPr>
          <p:cNvPr id="7" name="Text Placeholder 6"/>
          <p:cNvSpPr>
            <a:spLocks noGrp="1"/>
          </p:cNvSpPr>
          <p:nvPr>
            <p:ph type="body" sz="quarter" idx="10" hasCustomPrompt="1"/>
          </p:nvPr>
        </p:nvSpPr>
        <p:spPr>
          <a:xfrm>
            <a:off x="4659580" y="1700956"/>
            <a:ext cx="3739884" cy="754061"/>
          </a:xfrm>
        </p:spPr>
        <p:txBody>
          <a:bodyPr/>
          <a:lstStyle>
            <a:lvl1pPr>
              <a:lnSpc>
                <a:spcPct val="70000"/>
              </a:lnSpc>
              <a:defRPr sz="4400" b="0">
                <a:solidFill>
                  <a:schemeClr val="tx2"/>
                </a:solidFill>
                <a:latin typeface="+mj-lt"/>
              </a:defRPr>
            </a:lvl1pPr>
          </a:lstStyle>
          <a:p>
            <a:pPr lvl="0"/>
            <a:r>
              <a:rPr lang="en-US" dirty="0"/>
              <a:t>Click to edit Master title style</a:t>
            </a:r>
            <a:endParaRPr lang="en-CA" dirty="0"/>
          </a:p>
        </p:txBody>
      </p:sp>
      <p:sp>
        <p:nvSpPr>
          <p:cNvPr id="11" name="Text Placeholder 10"/>
          <p:cNvSpPr>
            <a:spLocks noGrp="1"/>
          </p:cNvSpPr>
          <p:nvPr>
            <p:ph type="body" sz="quarter" idx="11"/>
          </p:nvPr>
        </p:nvSpPr>
        <p:spPr>
          <a:xfrm>
            <a:off x="4659580" y="2315952"/>
            <a:ext cx="3740400" cy="3267075"/>
          </a:xfrm>
        </p:spPr>
        <p:txBody>
          <a:bodyPr/>
          <a:lstStyle>
            <a:lvl1pPr>
              <a:defRPr>
                <a:solidFill>
                  <a:schemeClr val="tx2"/>
                </a:solidFill>
              </a:defRPr>
            </a:lvl1pPr>
            <a:lvl2pP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Freeform 19"/>
          <p:cNvSpPr>
            <a:spLocks noEditPoints="1"/>
          </p:cNvSpPr>
          <p:nvPr userDrawn="1"/>
        </p:nvSpPr>
        <p:spPr bwMode="auto">
          <a:xfrm>
            <a:off x="4626303"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Tree>
    <p:extLst>
      <p:ext uri="{BB962C8B-B14F-4D97-AF65-F5344CB8AC3E}">
        <p14:creationId xmlns:p14="http://schemas.microsoft.com/office/powerpoint/2010/main" val="578825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bwMode="gray">
          <a:xfrm>
            <a:off x="2" y="0"/>
            <a:ext cx="74771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400" dirty="0">
              <a:latin typeface="Arial" panose="020B0604020202020204" pitchFamily="34" charset="0"/>
              <a:sym typeface="Arial" panose="020B0604020202020204" pitchFamily="34" charset="0"/>
            </a:endParaRPr>
          </a:p>
        </p:txBody>
      </p:sp>
      <p:sp>
        <p:nvSpPr>
          <p:cNvPr id="11" name="Freeform 19"/>
          <p:cNvSpPr>
            <a:spLocks noEditPoints="1"/>
          </p:cNvSpPr>
          <p:nvPr userDrawn="1"/>
        </p:nvSpPr>
        <p:spPr bwMode="gray">
          <a:xfrm>
            <a:off x="15840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19" name="Text Placeholder 2"/>
          <p:cNvSpPr>
            <a:spLocks noGrp="1"/>
          </p:cNvSpPr>
          <p:nvPr>
            <p:ph type="body" sz="quarter" idx="13"/>
          </p:nvPr>
        </p:nvSpPr>
        <p:spPr bwMode="auto">
          <a:xfrm>
            <a:off x="1584000" y="4058433"/>
            <a:ext cx="6815463" cy="659335"/>
          </a:xfrm>
        </p:spPr>
        <p:txBody>
          <a:bodyPr/>
          <a:lstStyle>
            <a:lvl1pPr eaLnBrk="1">
              <a:spcBef>
                <a:spcPts val="0"/>
              </a:spcBef>
              <a:spcAft>
                <a:spcPts val="600"/>
              </a:spcAft>
              <a:buFontTx/>
              <a:buNone/>
              <a:defRPr sz="1000" b="0">
                <a:solidFill>
                  <a:schemeClr val="bg1">
                    <a:lumMod val="65000"/>
                  </a:schemeClr>
                </a:solidFill>
              </a:defRPr>
            </a:lvl1pPr>
            <a:lvl2pPr>
              <a:spcBef>
                <a:spcPts val="300"/>
              </a:spcBef>
              <a:spcAft>
                <a:spcPts val="0"/>
              </a:spcAft>
              <a:buFontTx/>
              <a:buNone/>
              <a:defRPr sz="10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sp>
        <p:nvSpPr>
          <p:cNvPr id="48" name="Rectangle 47">
            <a:hlinkClick r:id="rId2"/>
          </p:cNvPr>
          <p:cNvSpPr>
            <a:spLocks noChangeArrowheads="1"/>
          </p:cNvSpPr>
          <p:nvPr userDrawn="1"/>
        </p:nvSpPr>
        <p:spPr bwMode="gray">
          <a:xfrm>
            <a:off x="1584000" y="3065360"/>
            <a:ext cx="1752293" cy="184666"/>
          </a:xfrm>
          <a:prstGeom prst="rect">
            <a:avLst/>
          </a:prstGeom>
          <a:noFill/>
          <a:ln w="9525">
            <a:noFill/>
            <a:miter lim="800000"/>
            <a:headEnd/>
            <a:tailEnd/>
          </a:ln>
          <a:effectLst/>
        </p:spPr>
        <p:txBody>
          <a:bodyPr wrap="square" lIns="0" tIns="0" rIns="0" bIns="0" anchor="ctr">
            <a:spAutoFit/>
          </a:bodyPr>
          <a:lstStyle/>
          <a:p>
            <a:pPr>
              <a:defRPr/>
            </a:pPr>
            <a:r>
              <a:rPr lang="en-CA" sz="1200" b="1" i="0" kern="0" dirty="0">
                <a:solidFill>
                  <a:schemeClr val="tx2"/>
                </a:solidFill>
                <a:latin typeface="+mn-lt"/>
                <a:ea typeface="Times New Roman" pitchFamily="18" charset="0"/>
                <a:cs typeface="Univers for KPMG"/>
              </a:rPr>
              <a:t>kpmg.ca</a:t>
            </a:r>
            <a:endParaRPr lang="en-CA" sz="1200" b="1" i="0" kern="0" dirty="0">
              <a:solidFill>
                <a:schemeClr val="tx2"/>
              </a:solidFill>
              <a:latin typeface="+mn-lt"/>
              <a:cs typeface="Univers for KPMG"/>
            </a:endParaRPr>
          </a:p>
        </p:txBody>
      </p:sp>
      <p:sp>
        <p:nvSpPr>
          <p:cNvPr id="59" name="Freeform 6"/>
          <p:cNvSpPr>
            <a:spLocks/>
          </p:cNvSpPr>
          <p:nvPr/>
        </p:nvSpPr>
        <p:spPr bwMode="gray">
          <a:xfrm>
            <a:off x="2251576" y="3365691"/>
            <a:ext cx="294635" cy="303444"/>
          </a:xfrm>
          <a:custGeom>
            <a:avLst/>
            <a:gdLst>
              <a:gd name="T0" fmla="*/ 118 w 127"/>
              <a:gd name="T1" fmla="*/ 0 h 128"/>
              <a:gd name="T2" fmla="*/ 9 w 127"/>
              <a:gd name="T3" fmla="*/ 0 h 128"/>
              <a:gd name="T4" fmla="*/ 0 w 127"/>
              <a:gd name="T5" fmla="*/ 10 h 128"/>
              <a:gd name="T6" fmla="*/ 0 w 127"/>
              <a:gd name="T7" fmla="*/ 119 h 128"/>
              <a:gd name="T8" fmla="*/ 9 w 127"/>
              <a:gd name="T9" fmla="*/ 128 h 128"/>
              <a:gd name="T10" fmla="*/ 118 w 127"/>
              <a:gd name="T11" fmla="*/ 128 h 128"/>
              <a:gd name="T12" fmla="*/ 127 w 127"/>
              <a:gd name="T13" fmla="*/ 119 h 128"/>
              <a:gd name="T14" fmla="*/ 127 w 127"/>
              <a:gd name="T15" fmla="*/ 10 h 128"/>
              <a:gd name="T16" fmla="*/ 118 w 127"/>
              <a:gd name="T1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128">
                <a:moveTo>
                  <a:pt x="118" y="0"/>
                </a:moveTo>
                <a:cubicBezTo>
                  <a:pt x="9" y="0"/>
                  <a:pt x="9" y="0"/>
                  <a:pt x="9" y="0"/>
                </a:cubicBezTo>
                <a:cubicBezTo>
                  <a:pt x="4" y="0"/>
                  <a:pt x="0" y="5"/>
                  <a:pt x="0" y="10"/>
                </a:cubicBezTo>
                <a:cubicBezTo>
                  <a:pt x="0" y="119"/>
                  <a:pt x="0" y="119"/>
                  <a:pt x="0" y="119"/>
                </a:cubicBezTo>
                <a:cubicBezTo>
                  <a:pt x="0" y="124"/>
                  <a:pt x="4" y="128"/>
                  <a:pt x="9" y="128"/>
                </a:cubicBezTo>
                <a:cubicBezTo>
                  <a:pt x="118" y="128"/>
                  <a:pt x="118" y="128"/>
                  <a:pt x="118" y="128"/>
                </a:cubicBezTo>
                <a:cubicBezTo>
                  <a:pt x="123" y="128"/>
                  <a:pt x="127" y="124"/>
                  <a:pt x="127" y="119"/>
                </a:cubicBezTo>
                <a:cubicBezTo>
                  <a:pt x="127" y="10"/>
                  <a:pt x="127" y="10"/>
                  <a:pt x="127" y="10"/>
                </a:cubicBezTo>
                <a:cubicBezTo>
                  <a:pt x="127" y="5"/>
                  <a:pt x="123" y="0"/>
                  <a:pt x="118" y="0"/>
                </a:cubicBezTo>
              </a:path>
            </a:pathLst>
          </a:custGeom>
          <a:solidFill>
            <a:srgbClr val="E5322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0" name="Freeform 7">
            <a:hlinkClick r:id="rId3"/>
          </p:cNvPr>
          <p:cNvSpPr>
            <a:spLocks noEditPoints="1"/>
          </p:cNvSpPr>
          <p:nvPr/>
        </p:nvSpPr>
        <p:spPr bwMode="gray">
          <a:xfrm>
            <a:off x="2304434" y="3442041"/>
            <a:ext cx="194792" cy="151722"/>
          </a:xfrm>
          <a:custGeom>
            <a:avLst/>
            <a:gdLst>
              <a:gd name="T0" fmla="*/ 30 w 84"/>
              <a:gd name="T1" fmla="*/ 46 h 64"/>
              <a:gd name="T2" fmla="*/ 30 w 84"/>
              <a:gd name="T3" fmla="*/ 18 h 64"/>
              <a:gd name="T4" fmla="*/ 54 w 84"/>
              <a:gd name="T5" fmla="*/ 32 h 64"/>
              <a:gd name="T6" fmla="*/ 30 w 84"/>
              <a:gd name="T7" fmla="*/ 46 h 64"/>
              <a:gd name="T8" fmla="*/ 71 w 84"/>
              <a:gd name="T9" fmla="*/ 0 h 64"/>
              <a:gd name="T10" fmla="*/ 12 w 84"/>
              <a:gd name="T11" fmla="*/ 0 h 64"/>
              <a:gd name="T12" fmla="*/ 0 w 84"/>
              <a:gd name="T13" fmla="*/ 13 h 64"/>
              <a:gd name="T14" fmla="*/ 0 w 84"/>
              <a:gd name="T15" fmla="*/ 51 h 64"/>
              <a:gd name="T16" fmla="*/ 12 w 84"/>
              <a:gd name="T17" fmla="*/ 64 h 64"/>
              <a:gd name="T18" fmla="*/ 71 w 84"/>
              <a:gd name="T19" fmla="*/ 64 h 64"/>
              <a:gd name="T20" fmla="*/ 84 w 84"/>
              <a:gd name="T21" fmla="*/ 51 h 64"/>
              <a:gd name="T22" fmla="*/ 84 w 84"/>
              <a:gd name="T23" fmla="*/ 13 h 64"/>
              <a:gd name="T24" fmla="*/ 71 w 84"/>
              <a:gd name="T25"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64">
                <a:moveTo>
                  <a:pt x="30" y="46"/>
                </a:moveTo>
                <a:cubicBezTo>
                  <a:pt x="30" y="18"/>
                  <a:pt x="30" y="18"/>
                  <a:pt x="30" y="18"/>
                </a:cubicBezTo>
                <a:cubicBezTo>
                  <a:pt x="54" y="32"/>
                  <a:pt x="54" y="32"/>
                  <a:pt x="54" y="32"/>
                </a:cubicBezTo>
                <a:lnTo>
                  <a:pt x="30" y="46"/>
                </a:lnTo>
                <a:close/>
                <a:moveTo>
                  <a:pt x="71" y="0"/>
                </a:moveTo>
                <a:cubicBezTo>
                  <a:pt x="12" y="0"/>
                  <a:pt x="12" y="0"/>
                  <a:pt x="12" y="0"/>
                </a:cubicBezTo>
                <a:cubicBezTo>
                  <a:pt x="5" y="0"/>
                  <a:pt x="0" y="6"/>
                  <a:pt x="0" y="13"/>
                </a:cubicBezTo>
                <a:cubicBezTo>
                  <a:pt x="0" y="51"/>
                  <a:pt x="0" y="51"/>
                  <a:pt x="0" y="51"/>
                </a:cubicBezTo>
                <a:cubicBezTo>
                  <a:pt x="0" y="58"/>
                  <a:pt x="5" y="64"/>
                  <a:pt x="12" y="64"/>
                </a:cubicBezTo>
                <a:cubicBezTo>
                  <a:pt x="71" y="64"/>
                  <a:pt x="71" y="64"/>
                  <a:pt x="71" y="64"/>
                </a:cubicBezTo>
                <a:cubicBezTo>
                  <a:pt x="78" y="64"/>
                  <a:pt x="84" y="58"/>
                  <a:pt x="84" y="51"/>
                </a:cubicBezTo>
                <a:cubicBezTo>
                  <a:pt x="84" y="13"/>
                  <a:pt x="84" y="13"/>
                  <a:pt x="84" y="13"/>
                </a:cubicBezTo>
                <a:cubicBezTo>
                  <a:pt x="84" y="6"/>
                  <a:pt x="78" y="0"/>
                  <a:pt x="7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7" name="Freeform 5"/>
          <p:cNvSpPr>
            <a:spLocks/>
          </p:cNvSpPr>
          <p:nvPr/>
        </p:nvSpPr>
        <p:spPr bwMode="gray">
          <a:xfrm>
            <a:off x="1917788" y="3365691"/>
            <a:ext cx="296592" cy="303444"/>
          </a:xfrm>
          <a:custGeom>
            <a:avLst/>
            <a:gdLst>
              <a:gd name="T0" fmla="*/ 118 w 128"/>
              <a:gd name="T1" fmla="*/ 0 h 128"/>
              <a:gd name="T2" fmla="*/ 9 w 128"/>
              <a:gd name="T3" fmla="*/ 0 h 128"/>
              <a:gd name="T4" fmla="*/ 0 w 128"/>
              <a:gd name="T5" fmla="*/ 10 h 128"/>
              <a:gd name="T6" fmla="*/ 0 w 128"/>
              <a:gd name="T7" fmla="*/ 119 h 128"/>
              <a:gd name="T8" fmla="*/ 9 w 128"/>
              <a:gd name="T9" fmla="*/ 128 h 128"/>
              <a:gd name="T10" fmla="*/ 118 w 128"/>
              <a:gd name="T11" fmla="*/ 128 h 128"/>
              <a:gd name="T12" fmla="*/ 128 w 128"/>
              <a:gd name="T13" fmla="*/ 119 h 128"/>
              <a:gd name="T14" fmla="*/ 128 w 128"/>
              <a:gd name="T15" fmla="*/ 10 h 128"/>
              <a:gd name="T16" fmla="*/ 118 w 128"/>
              <a:gd name="T1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28">
                <a:moveTo>
                  <a:pt x="118" y="0"/>
                </a:moveTo>
                <a:cubicBezTo>
                  <a:pt x="9" y="0"/>
                  <a:pt x="9" y="0"/>
                  <a:pt x="9" y="0"/>
                </a:cubicBezTo>
                <a:cubicBezTo>
                  <a:pt x="4" y="0"/>
                  <a:pt x="0" y="5"/>
                  <a:pt x="0" y="10"/>
                </a:cubicBezTo>
                <a:cubicBezTo>
                  <a:pt x="0" y="119"/>
                  <a:pt x="0" y="119"/>
                  <a:pt x="0" y="119"/>
                </a:cubicBezTo>
                <a:cubicBezTo>
                  <a:pt x="0" y="124"/>
                  <a:pt x="4" y="128"/>
                  <a:pt x="9" y="128"/>
                </a:cubicBezTo>
                <a:cubicBezTo>
                  <a:pt x="118" y="128"/>
                  <a:pt x="118" y="128"/>
                  <a:pt x="118" y="128"/>
                </a:cubicBezTo>
                <a:cubicBezTo>
                  <a:pt x="123" y="128"/>
                  <a:pt x="128" y="124"/>
                  <a:pt x="128" y="119"/>
                </a:cubicBezTo>
                <a:cubicBezTo>
                  <a:pt x="128" y="10"/>
                  <a:pt x="128" y="10"/>
                  <a:pt x="128" y="10"/>
                </a:cubicBezTo>
                <a:cubicBezTo>
                  <a:pt x="128" y="5"/>
                  <a:pt x="123" y="0"/>
                  <a:pt x="118" y="0"/>
                </a:cubicBezTo>
              </a:path>
            </a:pathLst>
          </a:custGeom>
          <a:solidFill>
            <a:srgbClr val="61A8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8" name="Freeform 8">
            <a:hlinkClick r:id="rId4"/>
          </p:cNvPr>
          <p:cNvSpPr>
            <a:spLocks/>
          </p:cNvSpPr>
          <p:nvPr/>
        </p:nvSpPr>
        <p:spPr bwMode="gray">
          <a:xfrm>
            <a:off x="1963794" y="3432253"/>
            <a:ext cx="208495" cy="173257"/>
          </a:xfrm>
          <a:custGeom>
            <a:avLst/>
            <a:gdLst>
              <a:gd name="T0" fmla="*/ 90 w 90"/>
              <a:gd name="T1" fmla="*/ 9 h 73"/>
              <a:gd name="T2" fmla="*/ 79 w 90"/>
              <a:gd name="T3" fmla="*/ 11 h 73"/>
              <a:gd name="T4" fmla="*/ 88 w 90"/>
              <a:gd name="T5" fmla="*/ 1 h 73"/>
              <a:gd name="T6" fmla="*/ 76 w 90"/>
              <a:gd name="T7" fmla="*/ 6 h 73"/>
              <a:gd name="T8" fmla="*/ 62 w 90"/>
              <a:gd name="T9" fmla="*/ 0 h 73"/>
              <a:gd name="T10" fmla="*/ 44 w 90"/>
              <a:gd name="T11" fmla="*/ 18 h 73"/>
              <a:gd name="T12" fmla="*/ 44 w 90"/>
              <a:gd name="T13" fmla="*/ 23 h 73"/>
              <a:gd name="T14" fmla="*/ 6 w 90"/>
              <a:gd name="T15" fmla="*/ 3 h 73"/>
              <a:gd name="T16" fmla="*/ 3 w 90"/>
              <a:gd name="T17" fmla="*/ 13 h 73"/>
              <a:gd name="T18" fmla="*/ 12 w 90"/>
              <a:gd name="T19" fmla="*/ 28 h 73"/>
              <a:gd name="T20" fmla="*/ 3 w 90"/>
              <a:gd name="T21" fmla="*/ 26 h 73"/>
              <a:gd name="T22" fmla="*/ 3 w 90"/>
              <a:gd name="T23" fmla="*/ 26 h 73"/>
              <a:gd name="T24" fmla="*/ 18 w 90"/>
              <a:gd name="T25" fmla="*/ 44 h 73"/>
              <a:gd name="T26" fmla="*/ 13 w 90"/>
              <a:gd name="T27" fmla="*/ 45 h 73"/>
              <a:gd name="T28" fmla="*/ 10 w 90"/>
              <a:gd name="T29" fmla="*/ 44 h 73"/>
              <a:gd name="T30" fmla="*/ 27 w 90"/>
              <a:gd name="T31" fmla="*/ 57 h 73"/>
              <a:gd name="T32" fmla="*/ 4 w 90"/>
              <a:gd name="T33" fmla="*/ 65 h 73"/>
              <a:gd name="T34" fmla="*/ 0 w 90"/>
              <a:gd name="T35" fmla="*/ 65 h 73"/>
              <a:gd name="T36" fmla="*/ 28 w 90"/>
              <a:gd name="T37" fmla="*/ 73 h 73"/>
              <a:gd name="T38" fmla="*/ 81 w 90"/>
              <a:gd name="T39" fmla="*/ 21 h 73"/>
              <a:gd name="T40" fmla="*/ 81 w 90"/>
              <a:gd name="T41" fmla="*/ 18 h 73"/>
              <a:gd name="T42" fmla="*/ 90 w 90"/>
              <a:gd name="T43" fmla="*/ 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0" h="73">
                <a:moveTo>
                  <a:pt x="90" y="9"/>
                </a:moveTo>
                <a:cubicBezTo>
                  <a:pt x="87" y="10"/>
                  <a:pt x="83" y="11"/>
                  <a:pt x="79" y="11"/>
                </a:cubicBezTo>
                <a:cubicBezTo>
                  <a:pt x="83" y="9"/>
                  <a:pt x="86" y="6"/>
                  <a:pt x="88" y="1"/>
                </a:cubicBezTo>
                <a:cubicBezTo>
                  <a:pt x="84" y="3"/>
                  <a:pt x="80" y="5"/>
                  <a:pt x="76" y="6"/>
                </a:cubicBezTo>
                <a:cubicBezTo>
                  <a:pt x="72" y="2"/>
                  <a:pt x="68" y="0"/>
                  <a:pt x="62" y="0"/>
                </a:cubicBezTo>
                <a:cubicBezTo>
                  <a:pt x="52" y="0"/>
                  <a:pt x="44" y="8"/>
                  <a:pt x="44" y="18"/>
                </a:cubicBezTo>
                <a:cubicBezTo>
                  <a:pt x="44" y="20"/>
                  <a:pt x="44" y="21"/>
                  <a:pt x="44" y="23"/>
                </a:cubicBezTo>
                <a:cubicBezTo>
                  <a:pt x="29" y="22"/>
                  <a:pt x="15" y="14"/>
                  <a:pt x="6" y="3"/>
                </a:cubicBezTo>
                <a:cubicBezTo>
                  <a:pt x="4" y="6"/>
                  <a:pt x="3" y="9"/>
                  <a:pt x="3" y="13"/>
                </a:cubicBezTo>
                <a:cubicBezTo>
                  <a:pt x="3" y="19"/>
                  <a:pt x="7" y="25"/>
                  <a:pt x="12" y="28"/>
                </a:cubicBezTo>
                <a:cubicBezTo>
                  <a:pt x="9" y="28"/>
                  <a:pt x="6" y="27"/>
                  <a:pt x="3" y="26"/>
                </a:cubicBezTo>
                <a:cubicBezTo>
                  <a:pt x="3" y="26"/>
                  <a:pt x="3" y="26"/>
                  <a:pt x="3" y="26"/>
                </a:cubicBezTo>
                <a:cubicBezTo>
                  <a:pt x="3" y="35"/>
                  <a:pt x="10" y="42"/>
                  <a:pt x="18" y="44"/>
                </a:cubicBezTo>
                <a:cubicBezTo>
                  <a:pt x="17" y="45"/>
                  <a:pt x="15" y="45"/>
                  <a:pt x="13" y="45"/>
                </a:cubicBezTo>
                <a:cubicBezTo>
                  <a:pt x="12" y="45"/>
                  <a:pt x="11" y="45"/>
                  <a:pt x="10" y="44"/>
                </a:cubicBezTo>
                <a:cubicBezTo>
                  <a:pt x="12" y="52"/>
                  <a:pt x="19" y="57"/>
                  <a:pt x="27" y="57"/>
                </a:cubicBezTo>
                <a:cubicBezTo>
                  <a:pt x="21" y="62"/>
                  <a:pt x="13" y="65"/>
                  <a:pt x="4" y="65"/>
                </a:cubicBezTo>
                <a:cubicBezTo>
                  <a:pt x="2" y="65"/>
                  <a:pt x="1" y="65"/>
                  <a:pt x="0" y="65"/>
                </a:cubicBezTo>
                <a:cubicBezTo>
                  <a:pt x="8" y="70"/>
                  <a:pt x="18" y="73"/>
                  <a:pt x="28" y="73"/>
                </a:cubicBezTo>
                <a:cubicBezTo>
                  <a:pt x="62" y="73"/>
                  <a:pt x="81" y="45"/>
                  <a:pt x="81" y="21"/>
                </a:cubicBezTo>
                <a:cubicBezTo>
                  <a:pt x="81" y="20"/>
                  <a:pt x="81" y="19"/>
                  <a:pt x="81" y="18"/>
                </a:cubicBezTo>
                <a:cubicBezTo>
                  <a:pt x="84" y="16"/>
                  <a:pt x="88" y="12"/>
                  <a:pt x="90" y="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4" name="Freeform 9">
            <a:hlinkClick r:id="rId5"/>
          </p:cNvPr>
          <p:cNvSpPr>
            <a:spLocks/>
          </p:cNvSpPr>
          <p:nvPr/>
        </p:nvSpPr>
        <p:spPr bwMode="gray">
          <a:xfrm>
            <a:off x="1584000" y="3365691"/>
            <a:ext cx="296592" cy="303444"/>
          </a:xfrm>
          <a:custGeom>
            <a:avLst/>
            <a:gdLst>
              <a:gd name="T0" fmla="*/ 118 w 128"/>
              <a:gd name="T1" fmla="*/ 0 h 128"/>
              <a:gd name="T2" fmla="*/ 9 w 128"/>
              <a:gd name="T3" fmla="*/ 0 h 128"/>
              <a:gd name="T4" fmla="*/ 0 w 128"/>
              <a:gd name="T5" fmla="*/ 10 h 128"/>
              <a:gd name="T6" fmla="*/ 0 w 128"/>
              <a:gd name="T7" fmla="*/ 119 h 128"/>
              <a:gd name="T8" fmla="*/ 9 w 128"/>
              <a:gd name="T9" fmla="*/ 128 h 128"/>
              <a:gd name="T10" fmla="*/ 118 w 128"/>
              <a:gd name="T11" fmla="*/ 128 h 128"/>
              <a:gd name="T12" fmla="*/ 128 w 128"/>
              <a:gd name="T13" fmla="*/ 119 h 128"/>
              <a:gd name="T14" fmla="*/ 128 w 128"/>
              <a:gd name="T15" fmla="*/ 10 h 128"/>
              <a:gd name="T16" fmla="*/ 118 w 128"/>
              <a:gd name="T17"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28">
                <a:moveTo>
                  <a:pt x="118" y="0"/>
                </a:moveTo>
                <a:cubicBezTo>
                  <a:pt x="9" y="0"/>
                  <a:pt x="9" y="0"/>
                  <a:pt x="9" y="0"/>
                </a:cubicBezTo>
                <a:cubicBezTo>
                  <a:pt x="4" y="0"/>
                  <a:pt x="0" y="5"/>
                  <a:pt x="0" y="10"/>
                </a:cubicBezTo>
                <a:cubicBezTo>
                  <a:pt x="0" y="119"/>
                  <a:pt x="0" y="119"/>
                  <a:pt x="0" y="119"/>
                </a:cubicBezTo>
                <a:cubicBezTo>
                  <a:pt x="0" y="124"/>
                  <a:pt x="4" y="128"/>
                  <a:pt x="9" y="128"/>
                </a:cubicBezTo>
                <a:cubicBezTo>
                  <a:pt x="118" y="128"/>
                  <a:pt x="118" y="128"/>
                  <a:pt x="118" y="128"/>
                </a:cubicBezTo>
                <a:cubicBezTo>
                  <a:pt x="123" y="128"/>
                  <a:pt x="128" y="124"/>
                  <a:pt x="128" y="119"/>
                </a:cubicBezTo>
                <a:cubicBezTo>
                  <a:pt x="128" y="10"/>
                  <a:pt x="128" y="10"/>
                  <a:pt x="128" y="10"/>
                </a:cubicBezTo>
                <a:cubicBezTo>
                  <a:pt x="128" y="5"/>
                  <a:pt x="123" y="0"/>
                  <a:pt x="118" y="0"/>
                </a:cubicBezTo>
              </a:path>
            </a:pathLst>
          </a:custGeom>
          <a:solidFill>
            <a:srgbClr val="047C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5" name="Freeform 13"/>
          <p:cNvSpPr>
            <a:spLocks noEditPoints="1"/>
          </p:cNvSpPr>
          <p:nvPr/>
        </p:nvSpPr>
        <p:spPr bwMode="gray">
          <a:xfrm>
            <a:off x="1623154" y="3408760"/>
            <a:ext cx="50900" cy="215347"/>
          </a:xfrm>
          <a:custGeom>
            <a:avLst/>
            <a:gdLst>
              <a:gd name="T0" fmla="*/ 11 w 22"/>
              <a:gd name="T1" fmla="*/ 0 h 91"/>
              <a:gd name="T2" fmla="*/ 22 w 22"/>
              <a:gd name="T3" fmla="*/ 11 h 91"/>
              <a:gd name="T4" fmla="*/ 11 w 22"/>
              <a:gd name="T5" fmla="*/ 22 h 91"/>
              <a:gd name="T6" fmla="*/ 0 w 22"/>
              <a:gd name="T7" fmla="*/ 11 h 91"/>
              <a:gd name="T8" fmla="*/ 11 w 22"/>
              <a:gd name="T9" fmla="*/ 0 h 91"/>
              <a:gd name="T10" fmla="*/ 2 w 22"/>
              <a:gd name="T11" fmla="*/ 30 h 91"/>
              <a:gd name="T12" fmla="*/ 21 w 22"/>
              <a:gd name="T13" fmla="*/ 30 h 91"/>
              <a:gd name="T14" fmla="*/ 21 w 22"/>
              <a:gd name="T15" fmla="*/ 91 h 91"/>
              <a:gd name="T16" fmla="*/ 2 w 22"/>
              <a:gd name="T17" fmla="*/ 91 h 91"/>
              <a:gd name="T18" fmla="*/ 2 w 22"/>
              <a:gd name="T19" fmla="*/ 3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91">
                <a:moveTo>
                  <a:pt x="11" y="0"/>
                </a:moveTo>
                <a:cubicBezTo>
                  <a:pt x="17" y="0"/>
                  <a:pt x="22" y="5"/>
                  <a:pt x="22" y="11"/>
                </a:cubicBezTo>
                <a:cubicBezTo>
                  <a:pt x="22" y="17"/>
                  <a:pt x="17" y="22"/>
                  <a:pt x="11" y="22"/>
                </a:cubicBezTo>
                <a:cubicBezTo>
                  <a:pt x="5" y="22"/>
                  <a:pt x="0" y="17"/>
                  <a:pt x="0" y="11"/>
                </a:cubicBezTo>
                <a:cubicBezTo>
                  <a:pt x="0" y="5"/>
                  <a:pt x="5" y="0"/>
                  <a:pt x="11" y="0"/>
                </a:cubicBezTo>
                <a:moveTo>
                  <a:pt x="2" y="30"/>
                </a:moveTo>
                <a:cubicBezTo>
                  <a:pt x="21" y="30"/>
                  <a:pt x="21" y="30"/>
                  <a:pt x="21" y="30"/>
                </a:cubicBezTo>
                <a:cubicBezTo>
                  <a:pt x="21" y="91"/>
                  <a:pt x="21" y="91"/>
                  <a:pt x="21" y="91"/>
                </a:cubicBezTo>
                <a:cubicBezTo>
                  <a:pt x="2" y="91"/>
                  <a:pt x="2" y="91"/>
                  <a:pt x="2" y="91"/>
                </a:cubicBezTo>
                <a:lnTo>
                  <a:pt x="2"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6" name="Freeform 14"/>
          <p:cNvSpPr>
            <a:spLocks/>
          </p:cNvSpPr>
          <p:nvPr/>
        </p:nvSpPr>
        <p:spPr bwMode="gray">
          <a:xfrm>
            <a:off x="1699504" y="3477280"/>
            <a:ext cx="137039" cy="146828"/>
          </a:xfrm>
          <a:custGeom>
            <a:avLst/>
            <a:gdLst>
              <a:gd name="T0" fmla="*/ 0 w 59"/>
              <a:gd name="T1" fmla="*/ 1 h 62"/>
              <a:gd name="T2" fmla="*/ 18 w 59"/>
              <a:gd name="T3" fmla="*/ 1 h 62"/>
              <a:gd name="T4" fmla="*/ 18 w 59"/>
              <a:gd name="T5" fmla="*/ 10 h 62"/>
              <a:gd name="T6" fmla="*/ 18 w 59"/>
              <a:gd name="T7" fmla="*/ 10 h 62"/>
              <a:gd name="T8" fmla="*/ 36 w 59"/>
              <a:gd name="T9" fmla="*/ 0 h 62"/>
              <a:gd name="T10" fmla="*/ 59 w 59"/>
              <a:gd name="T11" fmla="*/ 29 h 62"/>
              <a:gd name="T12" fmla="*/ 59 w 59"/>
              <a:gd name="T13" fmla="*/ 62 h 62"/>
              <a:gd name="T14" fmla="*/ 40 w 59"/>
              <a:gd name="T15" fmla="*/ 62 h 62"/>
              <a:gd name="T16" fmla="*/ 40 w 59"/>
              <a:gd name="T17" fmla="*/ 33 h 62"/>
              <a:gd name="T18" fmla="*/ 30 w 59"/>
              <a:gd name="T19" fmla="*/ 16 h 62"/>
              <a:gd name="T20" fmla="*/ 19 w 59"/>
              <a:gd name="T21" fmla="*/ 32 h 62"/>
              <a:gd name="T22" fmla="*/ 19 w 59"/>
              <a:gd name="T23" fmla="*/ 62 h 62"/>
              <a:gd name="T24" fmla="*/ 0 w 59"/>
              <a:gd name="T25" fmla="*/ 62 h 62"/>
              <a:gd name="T26" fmla="*/ 0 w 59"/>
              <a:gd name="T27" fmla="*/ 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 h="62">
                <a:moveTo>
                  <a:pt x="0" y="1"/>
                </a:moveTo>
                <a:cubicBezTo>
                  <a:pt x="18" y="1"/>
                  <a:pt x="18" y="1"/>
                  <a:pt x="18" y="1"/>
                </a:cubicBezTo>
                <a:cubicBezTo>
                  <a:pt x="18" y="10"/>
                  <a:pt x="18" y="10"/>
                  <a:pt x="18" y="10"/>
                </a:cubicBezTo>
                <a:cubicBezTo>
                  <a:pt x="18" y="10"/>
                  <a:pt x="18" y="10"/>
                  <a:pt x="18" y="10"/>
                </a:cubicBezTo>
                <a:cubicBezTo>
                  <a:pt x="21" y="5"/>
                  <a:pt x="27" y="0"/>
                  <a:pt x="36" y="0"/>
                </a:cubicBezTo>
                <a:cubicBezTo>
                  <a:pt x="55" y="0"/>
                  <a:pt x="59" y="12"/>
                  <a:pt x="59" y="29"/>
                </a:cubicBezTo>
                <a:cubicBezTo>
                  <a:pt x="59" y="62"/>
                  <a:pt x="59" y="62"/>
                  <a:pt x="59" y="62"/>
                </a:cubicBezTo>
                <a:cubicBezTo>
                  <a:pt x="40" y="62"/>
                  <a:pt x="40" y="62"/>
                  <a:pt x="40" y="62"/>
                </a:cubicBezTo>
                <a:cubicBezTo>
                  <a:pt x="40" y="33"/>
                  <a:pt x="40" y="33"/>
                  <a:pt x="40" y="33"/>
                </a:cubicBezTo>
                <a:cubicBezTo>
                  <a:pt x="40" y="25"/>
                  <a:pt x="40" y="16"/>
                  <a:pt x="30" y="16"/>
                </a:cubicBezTo>
                <a:cubicBezTo>
                  <a:pt x="20" y="16"/>
                  <a:pt x="19" y="24"/>
                  <a:pt x="19" y="32"/>
                </a:cubicBezTo>
                <a:cubicBezTo>
                  <a:pt x="19" y="62"/>
                  <a:pt x="19" y="62"/>
                  <a:pt x="19" y="62"/>
                </a:cubicBezTo>
                <a:cubicBezTo>
                  <a:pt x="0" y="62"/>
                  <a:pt x="0" y="62"/>
                  <a:pt x="0" y="62"/>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pic>
        <p:nvPicPr>
          <p:cNvPr id="53" name="Picture 52">
            <a:hlinkClick r:id="rId6"/>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2583408" y="3365691"/>
            <a:ext cx="303608" cy="303444"/>
          </a:xfrm>
          <a:prstGeom prst="rect">
            <a:avLst/>
          </a:prstGeom>
        </p:spPr>
      </p:pic>
    </p:spTree>
    <p:extLst>
      <p:ext uri="{BB962C8B-B14F-4D97-AF65-F5344CB8AC3E}">
        <p14:creationId xmlns:p14="http://schemas.microsoft.com/office/powerpoint/2010/main" val="3267273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9" name="Title 6">
            <a:extLst>
              <a:ext uri="{FF2B5EF4-FFF2-40B4-BE49-F238E27FC236}">
                <a16:creationId xmlns="" xmlns:a16="http://schemas.microsoft.com/office/drawing/2014/main" id="{FAD73A8C-18E6-4F34-9E21-D37CBF86F9D7}"/>
              </a:ext>
            </a:extLst>
          </p:cNvPr>
          <p:cNvSpPr txBox="1">
            <a:spLocks/>
          </p:cNvSpPr>
          <p:nvPr userDrawn="1"/>
        </p:nvSpPr>
        <p:spPr bwMode="gray">
          <a:xfrm>
            <a:off x="431800" y="480476"/>
            <a:ext cx="8280400" cy="7344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r>
              <a:rPr lang="en-US" dirty="0"/>
              <a:t>Contents</a:t>
            </a:r>
          </a:p>
        </p:txBody>
      </p:sp>
      <p:sp>
        <p:nvSpPr>
          <p:cNvPr id="3" name="Espace réservé du numéro de diapositive 2"/>
          <p:cNvSpPr>
            <a:spLocks noGrp="1"/>
          </p:cNvSpPr>
          <p:nvPr>
            <p:ph type="sldNum" sz="quarter" idx="10"/>
          </p:nvPr>
        </p:nvSpPr>
        <p:spPr>
          <a:xfrm>
            <a:off x="-72000" y="0"/>
            <a:ext cx="0" cy="0"/>
          </a:xfrm>
          <a:prstGeom prst="rect">
            <a:avLst/>
          </a:prstGeom>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22041"/>
            <a:fld id="{4D41ED6B-0A05-44D7-9208-91571559B6FC}" type="slidenum">
              <a:rPr lang="en-GB" smtClean="0"/>
              <a:pPr defTabSz="457200"/>
              <a:t>‹#›</a:t>
            </a:fld>
            <a:endParaRPr lang="fr-FR" dirty="0"/>
          </a:p>
        </p:txBody>
      </p:sp>
      <p:sp>
        <p:nvSpPr>
          <p:cNvPr id="4" name="TextBox 3">
            <a:extLst>
              <a:ext uri="{FF2B5EF4-FFF2-40B4-BE49-F238E27FC236}">
                <a16:creationId xmlns="" xmlns:a16="http://schemas.microsoft.com/office/drawing/2014/main" id="{48E4D99C-6723-468A-AB40-2EE56B35D080}"/>
              </a:ext>
            </a:extLst>
          </p:cNvPr>
          <p:cNvSpPr txBox="1">
            <a:spLocks/>
          </p:cNvSpPr>
          <p:nvPr userDrawn="1"/>
        </p:nvSpPr>
        <p:spPr>
          <a:xfrm>
            <a:off x="752400" y="1423988"/>
            <a:ext cx="7635600" cy="154200"/>
          </a:xfrm>
          <a:prstGeom prst="rect">
            <a:avLst/>
          </a:prstGeom>
        </p:spPr>
        <p:txBody>
          <a:bodyPr vert="horz" wrap="none" lIns="0" tIns="0" rIns="0" bIns="0" rtlCol="0" anchor="t" anchorCtr="0">
            <a:noAutofit/>
          </a:bodyPr>
          <a:lstStyle/>
          <a:p>
            <a:pPr algn="r"/>
            <a:r>
              <a:rPr lang="en-US" sz="900" b="1" dirty="0">
                <a:solidFill>
                  <a:schemeClr val="tx2"/>
                </a:solidFill>
              </a:rPr>
              <a:t>Page</a:t>
            </a:r>
          </a:p>
        </p:txBody>
      </p:sp>
    </p:spTree>
    <p:extLst>
      <p:ext uri="{BB962C8B-B14F-4D97-AF65-F5344CB8AC3E}">
        <p14:creationId xmlns:p14="http://schemas.microsoft.com/office/powerpoint/2010/main" val="1878852927"/>
      </p:ext>
    </p:extLst>
  </p:cSld>
  <p:clrMapOvr>
    <a:masterClrMapping/>
  </p:clrMapOvr>
  <p:extLst mod="1">
    <p:ext uri="{DCECCB84-F9BA-43D5-87BE-67443E8EF086}">
      <p15:sldGuideLst xmlns:p15="http://schemas.microsoft.com/office/powerpoint/2012/main">
        <p15:guide id="1" pos="409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re 1"/>
          <p:cNvSpPr>
            <a:spLocks noGrp="1"/>
          </p:cNvSpPr>
          <p:nvPr>
            <p:ph type="title"/>
          </p:nvPr>
        </p:nvSpPr>
        <p:spPr>
          <a:xfrm>
            <a:off x="324000" y="396000"/>
            <a:ext cx="8496000" cy="470898"/>
          </a:xfrm>
        </p:spPr>
        <p:txBody>
          <a:bodyPr/>
          <a:lstStyle/>
          <a:p>
            <a:r>
              <a:rPr lang="en-US" noProof="0"/>
              <a:t>Click to edit Master title style</a:t>
            </a:r>
            <a:endParaRPr lang="en-CA" noProof="0" dirty="0"/>
          </a:p>
        </p:txBody>
      </p:sp>
    </p:spTree>
    <p:extLst>
      <p:ext uri="{BB962C8B-B14F-4D97-AF65-F5344CB8AC3E}">
        <p14:creationId xmlns:p14="http://schemas.microsoft.com/office/powerpoint/2010/main" val="26485987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KEY MESSAGE TWO COLUMN TEX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786" name="think-cell Slide" r:id="rId4" imgW="498" imgH="499" progId="TCLayout.ActiveDocument.1">
                  <p:embed/>
                </p:oleObj>
              </mc:Choice>
              <mc:Fallback>
                <p:oleObj name="think-cell Slide" r:id="rId4" imgW="498" imgH="499"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Text Placeholder 8"/>
          <p:cNvSpPr>
            <a:spLocks noGrp="1"/>
          </p:cNvSpPr>
          <p:nvPr>
            <p:ph type="body" sz="quarter" idx="10"/>
          </p:nvPr>
        </p:nvSpPr>
        <p:spPr>
          <a:xfrm>
            <a:off x="43434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1"/>
          </p:nvPr>
        </p:nvSpPr>
        <p:spPr>
          <a:xfrm>
            <a:off x="2099178" y="1426659"/>
            <a:ext cx="3244347" cy="4594225"/>
          </a:xfrm>
          <a:ln>
            <a:solidFill>
              <a:schemeClr val="accent1"/>
            </a:solidFill>
          </a:ln>
        </p:spPr>
        <p:txBody>
          <a:bodyPr lIns="54000" tIns="54000" rIns="54000" bIns="54000"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Text Placeholder 8"/>
          <p:cNvSpPr>
            <a:spLocks noGrp="1"/>
          </p:cNvSpPr>
          <p:nvPr>
            <p:ph type="body" sz="quarter" idx="12"/>
          </p:nvPr>
        </p:nvSpPr>
        <p:spPr>
          <a:xfrm>
            <a:off x="5465763" y="1426659"/>
            <a:ext cx="3246437" cy="4594225"/>
          </a:xfrm>
          <a:ln>
            <a:solidFill>
              <a:schemeClr val="accent1"/>
            </a:solidFill>
          </a:ln>
        </p:spPr>
        <p:txBody>
          <a:bodyPr lIns="54000" tIns="54000" rIns="54000" bIns="54000"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7" name="Text Placeholder 4"/>
          <p:cNvSpPr>
            <a:spLocks noGrp="1"/>
          </p:cNvSpPr>
          <p:nvPr>
            <p:ph type="body" sz="quarter" idx="13"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2" name="TextBox 1"/>
          <p:cNvSpPr txBox="1"/>
          <p:nvPr userDrawn="1"/>
        </p:nvSpPr>
        <p:spPr>
          <a:xfrm>
            <a:off x="6348550" y="227993"/>
            <a:ext cx="2682240" cy="231730"/>
          </a:xfrm>
          <a:prstGeom prst="rect">
            <a:avLst/>
          </a:prstGeom>
          <a:noFill/>
        </p:spPr>
        <p:txBody>
          <a:bodyPr wrap="square" lIns="54610" tIns="54610" rIns="54610" bIns="54610" rtlCol="0" anchor="b">
            <a:noAutofit/>
          </a:bodyPr>
          <a:lstStyle/>
          <a:p>
            <a:pPr algn="r">
              <a:spcAft>
                <a:spcPts val="600"/>
              </a:spcAft>
            </a:pPr>
            <a:endParaRPr lang="en-US" sz="2000" dirty="0">
              <a:solidFill>
                <a:srgbClr val="483698"/>
              </a:solidFill>
              <a:latin typeface="+mj-lt"/>
            </a:endParaRPr>
          </a:p>
        </p:txBody>
      </p:sp>
    </p:spTree>
    <p:extLst>
      <p:ext uri="{BB962C8B-B14F-4D97-AF65-F5344CB8AC3E}">
        <p14:creationId xmlns:p14="http://schemas.microsoft.com/office/powerpoint/2010/main" val="3670813010"/>
      </p:ext>
    </p:extLst>
  </p:cSld>
  <p:clrMapOvr>
    <a:masterClrMapping/>
  </p:clrMapOvr>
  <p:extLst mod="1">
    <p:ext uri="{DCECCB84-F9BA-43D5-87BE-67443E8EF086}">
      <p15:sldGuideLst xmlns:p15="http://schemas.microsoft.com/office/powerpoint/2012/main">
        <p15:guide id="1" pos="1224">
          <p15:clr>
            <a:srgbClr val="FBAE40"/>
          </p15:clr>
        </p15:guide>
        <p15:guide id="2" pos="1320">
          <p15:clr>
            <a:srgbClr val="FBAE40"/>
          </p15:clr>
        </p15:guide>
        <p15:guide id="3" pos="3443">
          <p15:clr>
            <a:srgbClr val="FBAE40"/>
          </p15:clr>
        </p15:guide>
        <p15:guide id="4" pos="336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KEY MESSAGE TWO COLUMN TEX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810" name="think-cell Slide" r:id="rId4" imgW="498" imgH="499" progId="TCLayout.ActiveDocument.1">
                  <p:embed/>
                </p:oleObj>
              </mc:Choice>
              <mc:Fallback>
                <p:oleObj name="think-cell Slide" r:id="rId4" imgW="498" imgH="499"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Text Placeholder 8"/>
          <p:cNvSpPr>
            <a:spLocks noGrp="1"/>
          </p:cNvSpPr>
          <p:nvPr>
            <p:ph type="body" sz="quarter" idx="10"/>
          </p:nvPr>
        </p:nvSpPr>
        <p:spPr>
          <a:xfrm>
            <a:off x="434340" y="1426659"/>
            <a:ext cx="1508760" cy="4594225"/>
          </a:xfrm>
          <a:solidFill>
            <a:schemeClr val="accent1"/>
          </a:solidFill>
          <a:ln>
            <a:solidFill>
              <a:schemeClr val="accent1"/>
            </a:solid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Text Placeholder 8"/>
          <p:cNvSpPr>
            <a:spLocks noGrp="1"/>
          </p:cNvSpPr>
          <p:nvPr>
            <p:ph type="body" sz="quarter" idx="11"/>
          </p:nvPr>
        </p:nvSpPr>
        <p:spPr>
          <a:xfrm>
            <a:off x="2099178" y="1426659"/>
            <a:ext cx="3244347" cy="4594225"/>
          </a:xfrm>
          <a:ln>
            <a:solidFill>
              <a:schemeClr val="accent1"/>
            </a:solidFill>
          </a:ln>
        </p:spPr>
        <p:txBody>
          <a:bodyPr lIns="54000" tIns="54000" rIns="54000" bIns="54000"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Text Placeholder 8"/>
          <p:cNvSpPr>
            <a:spLocks noGrp="1"/>
          </p:cNvSpPr>
          <p:nvPr>
            <p:ph type="body" sz="quarter" idx="12"/>
          </p:nvPr>
        </p:nvSpPr>
        <p:spPr>
          <a:xfrm>
            <a:off x="5465763" y="1426659"/>
            <a:ext cx="3246437" cy="4594225"/>
          </a:xfrm>
          <a:ln>
            <a:solidFill>
              <a:schemeClr val="accent1"/>
            </a:solidFill>
          </a:ln>
        </p:spPr>
        <p:txBody>
          <a:bodyPr lIns="54000" tIns="54000" rIns="54000" bIns="54000"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3" name="Title 2"/>
          <p:cNvSpPr>
            <a:spLocks noGrp="1"/>
          </p:cNvSpPr>
          <p:nvPr>
            <p:ph type="title"/>
          </p:nvPr>
        </p:nvSpPr>
        <p:spPr/>
        <p:txBody>
          <a:bodyPr/>
          <a:lstStyle/>
          <a:p>
            <a:r>
              <a:rPr lang="en-US"/>
              <a:t>Click to edit Master title style</a:t>
            </a:r>
            <a:endParaRPr lang="en-CA" dirty="0"/>
          </a:p>
        </p:txBody>
      </p:sp>
      <p:sp>
        <p:nvSpPr>
          <p:cNvPr id="7" name="Text Placeholder 4"/>
          <p:cNvSpPr>
            <a:spLocks noGrp="1"/>
          </p:cNvSpPr>
          <p:nvPr>
            <p:ph type="body" sz="quarter" idx="13"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
        <p:nvSpPr>
          <p:cNvPr id="2" name="TextBox 1"/>
          <p:cNvSpPr txBox="1"/>
          <p:nvPr userDrawn="1"/>
        </p:nvSpPr>
        <p:spPr>
          <a:xfrm>
            <a:off x="6348550" y="227993"/>
            <a:ext cx="2682240" cy="231730"/>
          </a:xfrm>
          <a:prstGeom prst="rect">
            <a:avLst/>
          </a:prstGeom>
          <a:noFill/>
        </p:spPr>
        <p:txBody>
          <a:bodyPr wrap="square" lIns="54610" tIns="54610" rIns="54610" bIns="54610" rtlCol="0" anchor="b">
            <a:noAutofit/>
          </a:bodyPr>
          <a:lstStyle/>
          <a:p>
            <a:pPr algn="r">
              <a:spcAft>
                <a:spcPts val="600"/>
              </a:spcAft>
            </a:pPr>
            <a:endParaRPr lang="en-US" sz="2000" dirty="0">
              <a:solidFill>
                <a:srgbClr val="483698"/>
              </a:solidFill>
              <a:latin typeface="+mj-lt"/>
            </a:endParaRPr>
          </a:p>
        </p:txBody>
      </p:sp>
    </p:spTree>
    <p:extLst>
      <p:ext uri="{BB962C8B-B14F-4D97-AF65-F5344CB8AC3E}">
        <p14:creationId xmlns:p14="http://schemas.microsoft.com/office/powerpoint/2010/main" val="1698399169"/>
      </p:ext>
    </p:extLst>
  </p:cSld>
  <p:clrMapOvr>
    <a:masterClrMapping/>
  </p:clrMapOvr>
  <p:extLst mod="1">
    <p:ext uri="{DCECCB84-F9BA-43D5-87BE-67443E8EF086}">
      <p15:sldGuideLst xmlns:p15="http://schemas.microsoft.com/office/powerpoint/2012/main">
        <p15:guide id="1" pos="1224">
          <p15:clr>
            <a:srgbClr val="FBAE40"/>
          </p15:clr>
        </p15:guide>
        <p15:guide id="2" pos="1320">
          <p15:clr>
            <a:srgbClr val="FBAE40"/>
          </p15:clr>
        </p15:guide>
        <p15:guide id="3" pos="3443">
          <p15:clr>
            <a:srgbClr val="FBAE40"/>
          </p15:clr>
        </p15:guide>
        <p15:guide id="4" pos="336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itre seul">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CA" dirty="0"/>
          </a:p>
        </p:txBody>
      </p:sp>
      <p:sp>
        <p:nvSpPr>
          <p:cNvPr id="4" name="Text Placeholder 4"/>
          <p:cNvSpPr>
            <a:spLocks noGrp="1"/>
          </p:cNvSpPr>
          <p:nvPr>
            <p:ph type="body" sz="quarter" idx="12" hasCustomPrompt="1"/>
          </p:nvPr>
        </p:nvSpPr>
        <p:spPr>
          <a:xfrm>
            <a:off x="431800" y="227993"/>
            <a:ext cx="8284464" cy="169200"/>
          </a:xfrm>
        </p:spPr>
        <p:txBody>
          <a:bodyPr anchor="b"/>
          <a:lstStyle>
            <a:lvl1pPr>
              <a:spcAft>
                <a:spcPts val="0"/>
              </a:spcAft>
              <a:defRPr sz="1200"/>
            </a:lvl1pPr>
          </a:lstStyle>
          <a:p>
            <a:pPr lvl="0"/>
            <a:r>
              <a:rPr lang="en-CA" dirty="0"/>
              <a:t>Super title here</a:t>
            </a:r>
          </a:p>
        </p:txBody>
      </p:sp>
    </p:spTree>
    <p:extLst>
      <p:ext uri="{BB962C8B-B14F-4D97-AF65-F5344CB8AC3E}">
        <p14:creationId xmlns:p14="http://schemas.microsoft.com/office/powerpoint/2010/main" val="39814804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 5">
    <p:spTree>
      <p:nvGrpSpPr>
        <p:cNvPr id="1" name=""/>
        <p:cNvGrpSpPr/>
        <p:nvPr/>
      </p:nvGrpSpPr>
      <p:grpSpPr>
        <a:xfrm>
          <a:off x="0" y="0"/>
          <a:ext cx="0" cy="0"/>
          <a:chOff x="0" y="0"/>
          <a:chExt cx="0" cy="0"/>
        </a:xfrm>
      </p:grpSpPr>
      <p:graphicFrame>
        <p:nvGraphicFramePr>
          <p:cNvPr id="3" name="Obje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954" name="think-cell Slide" r:id="rId4" imgW="270" imgH="270" progId="TCLayout.ActiveDocument.1">
                  <p:embed/>
                </p:oleObj>
              </mc:Choice>
              <mc:Fallback>
                <p:oleObj name="think-cell Slide" r:id="rId4" imgW="270" imgH="270" progId="TCLayout.ActiveDocument.1">
                  <p:embed/>
                  <p:pic>
                    <p:nvPicPr>
                      <p:cNvPr id="3" name="Obje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7" name="Image 6"/>
          <p:cNvPicPr>
            <a:picLocks noChangeAspect="1"/>
          </p:cNvPicPr>
          <p:nvPr userDrawn="1"/>
        </p:nvPicPr>
        <p:blipFill rotWithShape="1">
          <a:blip r:embed="rId6">
            <a:extLst>
              <a:ext uri="{28A0092B-C50C-407E-A947-70E740481C1C}">
                <a14:useLocalDpi xmlns:a14="http://schemas.microsoft.com/office/drawing/2010/main" val="0"/>
              </a:ext>
            </a:extLst>
          </a:blip>
          <a:srcRect r="14104"/>
          <a:stretch/>
        </p:blipFill>
        <p:spPr>
          <a:xfrm flipH="1">
            <a:off x="0" y="0"/>
            <a:ext cx="9144000" cy="6858000"/>
          </a:xfrm>
          <a:prstGeom prst="rect">
            <a:avLst/>
          </a:prstGeom>
        </p:spPr>
      </p:pic>
      <p:sp>
        <p:nvSpPr>
          <p:cNvPr id="9"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solidFill>
                <a:srgbClr val="00338D"/>
              </a:solidFill>
            </a:endParaRPr>
          </a:p>
        </p:txBody>
      </p:sp>
      <p:sp>
        <p:nvSpPr>
          <p:cNvPr id="8" name="Text Placeholder 3"/>
          <p:cNvSpPr>
            <a:spLocks noGrp="1"/>
          </p:cNvSpPr>
          <p:nvPr>
            <p:ph type="body" sz="quarter" idx="11"/>
          </p:nvPr>
        </p:nvSpPr>
        <p:spPr bwMode="gray">
          <a:xfrm>
            <a:off x="2064100" y="5036400"/>
            <a:ext cx="6634054" cy="216000"/>
          </a:xfrm>
        </p:spPr>
        <p:txBody>
          <a:bodyPr/>
          <a:lstStyle>
            <a:lvl1pPr>
              <a:defRPr sz="1100">
                <a:solidFill>
                  <a:schemeClr val="tx2"/>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4596802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431799" y="1426659"/>
            <a:ext cx="4068763"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4643438" y="1426659"/>
            <a:ext cx="4068762" cy="458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itle 2"/>
          <p:cNvSpPr>
            <a:spLocks noGrp="1"/>
          </p:cNvSpPr>
          <p:nvPr>
            <p:ph type="title"/>
          </p:nvPr>
        </p:nvSpPr>
        <p:spPr/>
        <p:txBody>
          <a:bodyPr/>
          <a:lstStyle/>
          <a:p>
            <a:r>
              <a:rPr lang="en-US"/>
              <a:t>Click to edit Master title style</a:t>
            </a:r>
            <a:endParaRPr lang="en-CA" dirty="0"/>
          </a:p>
        </p:txBody>
      </p:sp>
    </p:spTree>
    <p:extLst>
      <p:ext uri="{BB962C8B-B14F-4D97-AF65-F5344CB8AC3E}">
        <p14:creationId xmlns:p14="http://schemas.microsoft.com/office/powerpoint/2010/main" val="1709995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re 1"/>
          <p:cNvSpPr>
            <a:spLocks noGrp="1"/>
          </p:cNvSpPr>
          <p:nvPr>
            <p:ph type="title"/>
          </p:nvPr>
        </p:nvSpPr>
        <p:spPr>
          <a:xfrm>
            <a:off x="324000" y="396000"/>
            <a:ext cx="8496000" cy="470898"/>
          </a:xfrm>
        </p:spPr>
        <p:txBody>
          <a:bodyPr/>
          <a:lstStyle/>
          <a:p>
            <a:r>
              <a:rPr lang="en-US" noProof="0" dirty="0"/>
              <a:t>Click to edit Master title style</a:t>
            </a:r>
            <a:endParaRPr lang="en-CA" noProof="0" dirty="0"/>
          </a:p>
        </p:txBody>
      </p:sp>
    </p:spTree>
    <p:extLst>
      <p:ext uri="{BB962C8B-B14F-4D97-AF65-F5344CB8AC3E}">
        <p14:creationId xmlns:p14="http://schemas.microsoft.com/office/powerpoint/2010/main" val="30959851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TITLE SLIDE 6 - No image">
    <p:spTree>
      <p:nvGrpSpPr>
        <p:cNvPr id="1" name=""/>
        <p:cNvGrpSpPr/>
        <p:nvPr/>
      </p:nvGrpSpPr>
      <p:grpSpPr>
        <a:xfrm>
          <a:off x="0" y="0"/>
          <a:ext cx="0" cy="0"/>
          <a:chOff x="0" y="0"/>
          <a:chExt cx="0" cy="0"/>
        </a:xfrm>
      </p:grpSpPr>
      <p:graphicFrame>
        <p:nvGraphicFramePr>
          <p:cNvPr id="5" name="Obje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673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userDrawn="1"/>
        </p:nvSpPr>
        <p:spPr bwMode="gray">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eaLnBrk="1"/>
            <a:endParaRPr lang="en-CA" sz="900" dirty="0">
              <a:solidFill>
                <a:schemeClr val="bg1"/>
              </a:solidFill>
            </a:endParaRPr>
          </a:p>
        </p:txBody>
      </p:sp>
      <p:sp>
        <p:nvSpPr>
          <p:cNvPr id="2" name="Title 1"/>
          <p:cNvSpPr>
            <a:spLocks noGrp="1"/>
          </p:cNvSpPr>
          <p:nvPr>
            <p:ph type="ctrTitle" hasCustomPrompt="1"/>
          </p:nvPr>
        </p:nvSpPr>
        <p:spPr bwMode="gray">
          <a:xfrm>
            <a:off x="2044800" y="1346400"/>
            <a:ext cx="6192000" cy="3510000"/>
          </a:xfrm>
        </p:spPr>
        <p:txBody>
          <a:bodyPr anchor="t" anchorCtr="0"/>
          <a:lstStyle>
            <a:lvl1pPr algn="l">
              <a:defRPr sz="11000">
                <a:solidFill>
                  <a:schemeClr val="bg1"/>
                </a:solidFill>
              </a:defRPr>
            </a:lvl1pPr>
          </a:lstStyle>
          <a:p>
            <a:r>
              <a:rPr lang="en-CA" dirty="0"/>
              <a:t>Title slide 6</a:t>
            </a:r>
            <a:br>
              <a:rPr lang="en-CA" dirty="0"/>
            </a:br>
            <a:r>
              <a:rPr lang="en-CA" dirty="0"/>
              <a:t>no image</a:t>
            </a:r>
          </a:p>
        </p:txBody>
      </p:sp>
      <p:sp>
        <p:nvSpPr>
          <p:cNvPr id="4" name="object 3"/>
          <p:cNvSpPr/>
          <p:nvPr userDrawn="1"/>
        </p:nvSpPr>
        <p:spPr bwMode="gray">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CA" sz="1800" dirty="0">
              <a:latin typeface="Arial" panose="020B0604020202020204" pitchFamily="34" charset="0"/>
            </a:endParaRPr>
          </a:p>
        </p:txBody>
      </p:sp>
      <p:sp>
        <p:nvSpPr>
          <p:cNvPr id="7" name="Text Placeholder 3"/>
          <p:cNvSpPr>
            <a:spLocks noGrp="1"/>
          </p:cNvSpPr>
          <p:nvPr>
            <p:ph type="body" sz="quarter" idx="11"/>
          </p:nvPr>
        </p:nvSpPr>
        <p:spPr bwMode="gray">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
        <p:nvSpPr>
          <p:cNvPr id="8" name="Freeform 19"/>
          <p:cNvSpPr>
            <a:spLocks noEditPoints="1"/>
          </p:cNvSpPr>
          <p:nvPr userDrawn="1"/>
        </p:nvSpPr>
        <p:spPr bwMode="gray">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eaLnBrk="1"/>
            <a:endParaRPr lang="en-CA" dirty="0">
              <a:solidFill>
                <a:srgbClr val="FFFFFF"/>
              </a:solidFill>
            </a:endParaRPr>
          </a:p>
        </p:txBody>
      </p:sp>
    </p:spTree>
    <p:extLst>
      <p:ext uri="{BB962C8B-B14F-4D97-AF65-F5344CB8AC3E}">
        <p14:creationId xmlns:p14="http://schemas.microsoft.com/office/powerpoint/2010/main" val="21882306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able of content Storage Layout">
    <p:spTree>
      <p:nvGrpSpPr>
        <p:cNvPr id="1" name=""/>
        <p:cNvGrpSpPr/>
        <p:nvPr/>
      </p:nvGrpSpPr>
      <p:grpSpPr>
        <a:xfrm>
          <a:off x="0" y="0"/>
          <a:ext cx="0" cy="0"/>
          <a:chOff x="0" y="0"/>
          <a:chExt cx="0" cy="0"/>
        </a:xfrm>
      </p:grpSpPr>
      <p:sp>
        <p:nvSpPr>
          <p:cNvPr id="22" name="ZoneTexte 13">
            <a:extLst>
              <a:ext uri="{FF2B5EF4-FFF2-40B4-BE49-F238E27FC236}">
                <a16:creationId xmlns="" xmlns:a16="http://schemas.microsoft.com/office/drawing/2014/main" id="{614457E7-E8B7-4880-A63B-188167E1D9AD}"/>
              </a:ext>
            </a:extLst>
          </p:cNvPr>
          <p:cNvSpPr txBox="1"/>
          <p:nvPr userDrawn="1">
            <p:custDataLst>
              <p:tags r:id="rId1"/>
            </p:custDataLst>
          </p:nvPr>
        </p:nvSpPr>
        <p:spPr>
          <a:xfrm>
            <a:off x="1016318" y="2455640"/>
            <a:ext cx="7106223" cy="230832"/>
          </a:xfrm>
          <a:prstGeom prst="rect">
            <a:avLst/>
          </a:prstGeom>
          <a:noFill/>
        </p:spPr>
        <p:txBody>
          <a:bodyPr wrap="square" rtlCol="0">
            <a:spAutoFit/>
          </a:bodyPr>
          <a:lstStyle/>
          <a:p>
            <a:r>
              <a:rPr lang="fr-FR" sz="900" i="0" dirty="0">
                <a:solidFill>
                  <a:schemeClr val="tx2"/>
                </a:solidFill>
                <a:latin typeface="+mn-lt"/>
                <a:cs typeface="Arial" panose="020B0604020202020204" pitchFamily="34" charset="0"/>
              </a:rPr>
              <a:t>Section</a:t>
            </a:r>
          </a:p>
        </p:txBody>
      </p:sp>
      <p:sp>
        <p:nvSpPr>
          <p:cNvPr id="23" name="ZoneTexte 14">
            <a:extLst>
              <a:ext uri="{FF2B5EF4-FFF2-40B4-BE49-F238E27FC236}">
                <a16:creationId xmlns="" xmlns:a16="http://schemas.microsoft.com/office/drawing/2014/main" id="{0649687D-F468-47CF-8732-9B49E0A04DD9}"/>
              </a:ext>
            </a:extLst>
          </p:cNvPr>
          <p:cNvSpPr txBox="1">
            <a:spLocks/>
          </p:cNvSpPr>
          <p:nvPr userDrawn="1">
            <p:custDataLst>
              <p:tags r:id="rId2"/>
            </p:custDataLst>
          </p:nvPr>
        </p:nvSpPr>
        <p:spPr>
          <a:xfrm>
            <a:off x="8111961" y="2455640"/>
            <a:ext cx="276038" cy="307777"/>
          </a:xfrm>
          <a:prstGeom prst="rect">
            <a:avLst/>
          </a:prstGeom>
          <a:noFill/>
        </p:spPr>
        <p:txBody>
          <a:bodyPr wrap="none" lIns="0" tIns="0" rIns="0" bIns="0" rtlCol="0" anchor="ctr" anchorCtr="0">
            <a:noAutofit/>
          </a:bodyPr>
          <a:lstStyle/>
          <a:p>
            <a:pPr algn="ctr"/>
            <a:r>
              <a:rPr lang="fr-FR" sz="900" i="0" dirty="0">
                <a:solidFill>
                  <a:schemeClr val="tx2"/>
                </a:solidFill>
                <a:latin typeface="+mn-lt"/>
                <a:cs typeface="Arial" panose="020B0604020202020204" pitchFamily="34" charset="0"/>
              </a:rPr>
              <a:t>1</a:t>
            </a:r>
          </a:p>
        </p:txBody>
      </p:sp>
      <p:sp>
        <p:nvSpPr>
          <p:cNvPr id="24" name="Rectangle 23">
            <a:extLst>
              <a:ext uri="{FF2B5EF4-FFF2-40B4-BE49-F238E27FC236}">
                <a16:creationId xmlns="" xmlns:a16="http://schemas.microsoft.com/office/drawing/2014/main" id="{2984A9CA-33D4-4548-8861-1D8C914BCC00}"/>
              </a:ext>
            </a:extLst>
          </p:cNvPr>
          <p:cNvSpPr>
            <a:spLocks/>
          </p:cNvSpPr>
          <p:nvPr userDrawn="1">
            <p:custDataLst>
              <p:tags r:id="rId3"/>
            </p:custDataLst>
          </p:nvPr>
        </p:nvSpPr>
        <p:spPr>
          <a:xfrm>
            <a:off x="752400" y="1697911"/>
            <a:ext cx="7635600" cy="39550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dirty="0"/>
          </a:p>
        </p:txBody>
      </p:sp>
      <p:sp>
        <p:nvSpPr>
          <p:cNvPr id="25" name="ZoneTexte 22">
            <a:hlinkClick r:id="" action="ppaction://noaction"/>
            <a:extLst>
              <a:ext uri="{FF2B5EF4-FFF2-40B4-BE49-F238E27FC236}">
                <a16:creationId xmlns="" xmlns:a16="http://schemas.microsoft.com/office/drawing/2014/main" id="{3C27A747-8C8A-438A-9DD3-04BF8AA1E0FA}"/>
              </a:ext>
            </a:extLst>
          </p:cNvPr>
          <p:cNvSpPr txBox="1">
            <a:spLocks/>
          </p:cNvSpPr>
          <p:nvPr userDrawn="1">
            <p:custDataLst>
              <p:tags r:id="rId4"/>
            </p:custDataLst>
          </p:nvPr>
        </p:nvSpPr>
        <p:spPr>
          <a:xfrm>
            <a:off x="752400" y="1673282"/>
            <a:ext cx="0" cy="332407"/>
          </a:xfrm>
          <a:prstGeom prst="rect">
            <a:avLst/>
          </a:prstGeom>
          <a:noFill/>
        </p:spPr>
        <p:txBody>
          <a:bodyPr vert="horz" wrap="none" lIns="0" tIns="0" rIns="0" bIns="0" rtlCol="0" anchor="b" anchorCtr="0">
            <a:noAutofit/>
          </a:bodyPr>
          <a:lstStyle/>
          <a:p>
            <a:pPr algn="r"/>
            <a:r>
              <a:rPr lang="en-US" sz="900" dirty="0">
                <a:solidFill>
                  <a:srgbClr val="0091DA"/>
                </a:solidFill>
                <a:latin typeface="+mn-lt"/>
                <a:cs typeface="Arial" panose="020B0604020202020204" pitchFamily="34" charset="0"/>
              </a:rPr>
              <a:t>1</a:t>
            </a:r>
          </a:p>
        </p:txBody>
      </p:sp>
      <p:sp>
        <p:nvSpPr>
          <p:cNvPr id="26" name="TextBox 25">
            <a:hlinkClick r:id="" action="ppaction://noaction"/>
            <a:extLst>
              <a:ext uri="{FF2B5EF4-FFF2-40B4-BE49-F238E27FC236}">
                <a16:creationId xmlns="" xmlns:a16="http://schemas.microsoft.com/office/drawing/2014/main" id="{7E8A87AD-03BC-4BD2-B315-ED3E4DBEC40B}"/>
              </a:ext>
            </a:extLst>
          </p:cNvPr>
          <p:cNvSpPr txBox="1">
            <a:spLocks/>
          </p:cNvSpPr>
          <p:nvPr userDrawn="1">
            <p:custDataLst>
              <p:tags r:id="rId5"/>
            </p:custDataLst>
          </p:nvPr>
        </p:nvSpPr>
        <p:spPr>
          <a:xfrm>
            <a:off x="752400" y="1697912"/>
            <a:ext cx="7539280" cy="332407"/>
          </a:xfrm>
          <a:prstGeom prst="rect">
            <a:avLst/>
          </a:prstGeom>
          <a:noFill/>
        </p:spPr>
        <p:txBody>
          <a:bodyPr vert="horz" wrap="square" lIns="0" tIns="0" rIns="0" bIns="7200" rtlCol="0" anchor="b">
            <a:noAutofit/>
          </a:bodyPr>
          <a:lstStyle/>
          <a:p>
            <a:r>
              <a:rPr lang="en-US" sz="900" b="1" dirty="0">
                <a:solidFill>
                  <a:schemeClr val="tx2"/>
                </a:solidFill>
                <a:latin typeface="+mn-lt"/>
                <a:cs typeface="Arial" panose="020B0604020202020204" pitchFamily="34" charset="0"/>
              </a:rPr>
              <a:t>Section</a:t>
            </a:r>
          </a:p>
        </p:txBody>
      </p:sp>
      <p:sp>
        <p:nvSpPr>
          <p:cNvPr id="27" name="TextBox 26">
            <a:hlinkClick r:id="" action="ppaction://noaction"/>
            <a:extLst>
              <a:ext uri="{FF2B5EF4-FFF2-40B4-BE49-F238E27FC236}">
                <a16:creationId xmlns="" xmlns:a16="http://schemas.microsoft.com/office/drawing/2014/main" id="{9B2D8805-3B87-465E-87D2-FDE4C103D4BE}"/>
              </a:ext>
            </a:extLst>
          </p:cNvPr>
          <p:cNvSpPr txBox="1">
            <a:spLocks/>
          </p:cNvSpPr>
          <p:nvPr userDrawn="1">
            <p:custDataLst>
              <p:tags r:id="rId6"/>
            </p:custDataLst>
          </p:nvPr>
        </p:nvSpPr>
        <p:spPr>
          <a:xfrm>
            <a:off x="752400" y="2005689"/>
            <a:ext cx="7530506" cy="332407"/>
          </a:xfrm>
          <a:prstGeom prst="rect">
            <a:avLst/>
          </a:prstGeom>
          <a:noFill/>
        </p:spPr>
        <p:txBody>
          <a:bodyPr vert="horz" wrap="square" lIns="0" tIns="0" rIns="0" bIns="7200" rtlCol="0" anchor="b">
            <a:noAutofit/>
          </a:bodyPr>
          <a:lstStyle/>
          <a:p>
            <a:pPr marL="182880" indent="-182880">
              <a:spcAft>
                <a:spcPts val="600"/>
              </a:spcAft>
              <a:buClr>
                <a:schemeClr val="tx2"/>
              </a:buClr>
              <a:buFont typeface="Arial" panose="020B0604020202020204" pitchFamily="34" charset="0"/>
              <a:buChar char="–"/>
            </a:pPr>
            <a:r>
              <a:rPr lang="en-US" sz="900" dirty="0">
                <a:solidFill>
                  <a:schemeClr val="tx2"/>
                </a:solidFill>
                <a:latin typeface="+mn-lt"/>
                <a:cs typeface="Arial" panose="020B0604020202020204" pitchFamily="34" charset="0"/>
              </a:rPr>
              <a:t>Section</a:t>
            </a:r>
          </a:p>
        </p:txBody>
      </p:sp>
      <p:sp>
        <p:nvSpPr>
          <p:cNvPr id="28" name="TextBox 27">
            <a:hlinkClick r:id="" action="ppaction://noaction"/>
            <a:extLst>
              <a:ext uri="{FF2B5EF4-FFF2-40B4-BE49-F238E27FC236}">
                <a16:creationId xmlns="" xmlns:a16="http://schemas.microsoft.com/office/drawing/2014/main" id="{16EEDD3D-C361-40B4-B0F8-88728BB7118E}"/>
              </a:ext>
            </a:extLst>
          </p:cNvPr>
          <p:cNvSpPr txBox="1">
            <a:spLocks/>
          </p:cNvSpPr>
          <p:nvPr userDrawn="1">
            <p:custDataLst>
              <p:tags r:id="rId7"/>
            </p:custDataLst>
          </p:nvPr>
        </p:nvSpPr>
        <p:spPr>
          <a:xfrm>
            <a:off x="8342281" y="1853289"/>
            <a:ext cx="45719" cy="332407"/>
          </a:xfrm>
          <a:prstGeom prst="rect">
            <a:avLst/>
          </a:prstGeom>
          <a:noFill/>
        </p:spPr>
        <p:txBody>
          <a:bodyPr vert="horz" wrap="none" lIns="0" tIns="0" rIns="0" bIns="0" rtlCol="0" anchor="b" anchorCtr="0">
            <a:noAutofit/>
          </a:bodyPr>
          <a:lstStyle/>
          <a:p>
            <a:pPr algn="r"/>
            <a:r>
              <a:rPr lang="en-US" sz="900" b="0" dirty="0">
                <a:solidFill>
                  <a:schemeClr val="tx2"/>
                </a:solidFill>
                <a:latin typeface="+mn-lt"/>
                <a:cs typeface="Arial" panose="020B0604020202020204" pitchFamily="34" charset="0"/>
              </a:rPr>
              <a:t>4</a:t>
            </a:r>
          </a:p>
        </p:txBody>
      </p:sp>
      <p:sp>
        <p:nvSpPr>
          <p:cNvPr id="29" name="TextBox 28">
            <a:hlinkClick r:id="" action="ppaction://noaction"/>
            <a:extLst>
              <a:ext uri="{FF2B5EF4-FFF2-40B4-BE49-F238E27FC236}">
                <a16:creationId xmlns="" xmlns:a16="http://schemas.microsoft.com/office/drawing/2014/main" id="{09D952C3-F3D2-4C73-9ED8-F6AC1152D86F}"/>
              </a:ext>
            </a:extLst>
          </p:cNvPr>
          <p:cNvSpPr txBox="1">
            <a:spLocks/>
          </p:cNvSpPr>
          <p:nvPr userDrawn="1">
            <p:custDataLst>
              <p:tags r:id="rId8"/>
            </p:custDataLst>
          </p:nvPr>
        </p:nvSpPr>
        <p:spPr>
          <a:xfrm>
            <a:off x="8342281" y="2005689"/>
            <a:ext cx="45719" cy="332407"/>
          </a:xfrm>
          <a:prstGeom prst="rect">
            <a:avLst/>
          </a:prstGeom>
          <a:noFill/>
        </p:spPr>
        <p:txBody>
          <a:bodyPr vert="horz" wrap="none" lIns="0" tIns="0" rIns="0" bIns="0" rtlCol="0" anchor="b" anchorCtr="0">
            <a:noAutofit/>
          </a:bodyPr>
          <a:lstStyle/>
          <a:p>
            <a:pPr algn="r"/>
            <a:r>
              <a:rPr lang="en-US" sz="900" b="0" dirty="0">
                <a:solidFill>
                  <a:schemeClr val="tx2"/>
                </a:solidFill>
                <a:latin typeface="+mn-lt"/>
                <a:cs typeface="Arial" panose="020B0604020202020204" pitchFamily="34" charset="0"/>
              </a:rPr>
              <a:t>4</a:t>
            </a:r>
          </a:p>
        </p:txBody>
      </p:sp>
      <p:sp>
        <p:nvSpPr>
          <p:cNvPr id="30" name="TextBox 29">
            <a:hlinkClick r:id="" action="ppaction://noaction"/>
            <a:extLst>
              <a:ext uri="{FF2B5EF4-FFF2-40B4-BE49-F238E27FC236}">
                <a16:creationId xmlns="" xmlns:a16="http://schemas.microsoft.com/office/drawing/2014/main" id="{541FA5F7-9E4D-4E89-A426-CE348391D771}"/>
              </a:ext>
            </a:extLst>
          </p:cNvPr>
          <p:cNvSpPr txBox="1">
            <a:spLocks/>
          </p:cNvSpPr>
          <p:nvPr userDrawn="1">
            <p:custDataLst>
              <p:tags r:id="rId9"/>
            </p:custDataLst>
          </p:nvPr>
        </p:nvSpPr>
        <p:spPr>
          <a:xfrm>
            <a:off x="752400" y="2005689"/>
            <a:ext cx="0" cy="332407"/>
          </a:xfrm>
          <a:prstGeom prst="rect">
            <a:avLst/>
          </a:prstGeom>
          <a:noFill/>
        </p:spPr>
        <p:txBody>
          <a:bodyPr vert="horz" wrap="none" lIns="0" tIns="0" rIns="0" bIns="0" rtlCol="0" anchor="b" anchorCtr="0">
            <a:noAutofit/>
          </a:bodyPr>
          <a:lstStyle/>
          <a:p>
            <a:pPr algn="r"/>
            <a:r>
              <a:rPr lang="en-US" sz="900" dirty="0">
                <a:solidFill>
                  <a:srgbClr val="0091DA"/>
                </a:solidFill>
                <a:latin typeface="+mn-lt"/>
                <a:cs typeface="Arial" panose="020B0604020202020204" pitchFamily="34" charset="0"/>
              </a:rPr>
              <a:t>1</a:t>
            </a:r>
          </a:p>
        </p:txBody>
      </p:sp>
      <p:sp>
        <p:nvSpPr>
          <p:cNvPr id="31" name="Rectangle 30">
            <a:extLst>
              <a:ext uri="{FF2B5EF4-FFF2-40B4-BE49-F238E27FC236}">
                <a16:creationId xmlns="" xmlns:a16="http://schemas.microsoft.com/office/drawing/2014/main" id="{776EF86D-F8FE-4E31-81E4-73728CB7A9ED}"/>
              </a:ext>
            </a:extLst>
          </p:cNvPr>
          <p:cNvSpPr>
            <a:spLocks/>
          </p:cNvSpPr>
          <p:nvPr userDrawn="1"/>
        </p:nvSpPr>
        <p:spPr>
          <a:xfrm>
            <a:off x="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625896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Divider Storage Layout">
    <p:spTree>
      <p:nvGrpSpPr>
        <p:cNvPr id="1" name=""/>
        <p:cNvGrpSpPr/>
        <p:nvPr/>
      </p:nvGrpSpPr>
      <p:grpSpPr>
        <a:xfrm>
          <a:off x="0" y="0"/>
          <a:ext cx="0" cy="0"/>
          <a:chOff x="0" y="0"/>
          <a:chExt cx="0" cy="0"/>
        </a:xfrm>
      </p:grpSpPr>
      <p:sp>
        <p:nvSpPr>
          <p:cNvPr id="22" name="ZoneTexte 19">
            <a:extLst>
              <a:ext uri="{FF2B5EF4-FFF2-40B4-BE49-F238E27FC236}">
                <a16:creationId xmlns="" xmlns:a16="http://schemas.microsoft.com/office/drawing/2014/main" id="{892A0F3A-B73D-4519-85C5-DF4DE7BEA2D3}"/>
              </a:ext>
            </a:extLst>
          </p:cNvPr>
          <p:cNvSpPr txBox="1"/>
          <p:nvPr userDrawn="1">
            <p:custDataLst>
              <p:tags r:id="rId1"/>
            </p:custDataLst>
          </p:nvPr>
        </p:nvSpPr>
        <p:spPr>
          <a:xfrm>
            <a:off x="2006836" y="5032394"/>
            <a:ext cx="7106223" cy="307777"/>
          </a:xfrm>
          <a:prstGeom prst="rect">
            <a:avLst/>
          </a:prstGeom>
          <a:noFill/>
        </p:spPr>
        <p:txBody>
          <a:bodyPr wrap="square" rtlCol="0">
            <a:spAutoFit/>
          </a:bodyPr>
          <a:lstStyle/>
          <a:p>
            <a:r>
              <a:rPr lang="fr-FR" sz="1400" i="1" dirty="0">
                <a:latin typeface="Garamond" pitchFamily="18" charset="0"/>
              </a:rPr>
              <a:t>Section</a:t>
            </a:r>
          </a:p>
        </p:txBody>
      </p:sp>
      <p:sp>
        <p:nvSpPr>
          <p:cNvPr id="23" name="ZoneTexte 14">
            <a:extLst>
              <a:ext uri="{FF2B5EF4-FFF2-40B4-BE49-F238E27FC236}">
                <a16:creationId xmlns="" xmlns:a16="http://schemas.microsoft.com/office/drawing/2014/main" id="{AC1FBA77-BF94-437C-B6E6-217B4EAD5530}"/>
              </a:ext>
            </a:extLst>
          </p:cNvPr>
          <p:cNvSpPr txBox="1"/>
          <p:nvPr userDrawn="1">
            <p:custDataLst>
              <p:tags r:id="rId2"/>
            </p:custDataLst>
          </p:nvPr>
        </p:nvSpPr>
        <p:spPr>
          <a:xfrm>
            <a:off x="8519285" y="2139758"/>
            <a:ext cx="276038" cy="307777"/>
          </a:xfrm>
          <a:prstGeom prst="rect">
            <a:avLst/>
          </a:prstGeom>
          <a:noFill/>
        </p:spPr>
        <p:txBody>
          <a:bodyPr wrap="none" lIns="0" tIns="0" rIns="0" bIns="0" rtlCol="0" anchor="ctr" anchorCtr="0">
            <a:noAutofit/>
          </a:bodyPr>
          <a:lstStyle/>
          <a:p>
            <a:pPr algn="ctr"/>
            <a:r>
              <a:rPr lang="fr-FR" sz="1400" i="1" dirty="0">
                <a:latin typeface="Garamond" pitchFamily="18" charset="0"/>
              </a:rPr>
              <a:t>1</a:t>
            </a:r>
          </a:p>
        </p:txBody>
      </p:sp>
      <p:sp>
        <p:nvSpPr>
          <p:cNvPr id="24" name="TextBox 6">
            <a:extLst>
              <a:ext uri="{FF2B5EF4-FFF2-40B4-BE49-F238E27FC236}">
                <a16:creationId xmlns="" xmlns:a16="http://schemas.microsoft.com/office/drawing/2014/main" id="{AD4443DC-99C6-4E9B-95ED-DF6A72B49572}"/>
              </a:ext>
            </a:extLst>
          </p:cNvPr>
          <p:cNvSpPr txBox="1">
            <a:spLocks noChangeArrowheads="1"/>
          </p:cNvSpPr>
          <p:nvPr userDrawn="1">
            <p:custDataLst>
              <p:tags r:id="rId3"/>
            </p:custDataLst>
          </p:nvPr>
        </p:nvSpPr>
        <p:spPr bwMode="auto">
          <a:xfrm>
            <a:off x="2064469" y="1346401"/>
            <a:ext cx="36000" cy="36000"/>
          </a:xfrm>
          <a:prstGeom prst="rect">
            <a:avLst/>
          </a:prstGeom>
          <a:noFill/>
          <a:ln w="9525">
            <a:noFill/>
            <a:miter lim="800000"/>
            <a:headEnd/>
            <a:tailEnd/>
          </a:ln>
        </p:spPr>
        <p:txBody>
          <a:bodyPr wrap="none"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00" dirty="0">
                <a:noFill/>
                <a:latin typeface="+mj-lt"/>
              </a:rPr>
              <a:t>1.1</a:t>
            </a:r>
          </a:p>
        </p:txBody>
      </p:sp>
      <p:sp>
        <p:nvSpPr>
          <p:cNvPr id="25" name="Rectangle 24">
            <a:extLst>
              <a:ext uri="{FF2B5EF4-FFF2-40B4-BE49-F238E27FC236}">
                <a16:creationId xmlns="" xmlns:a16="http://schemas.microsoft.com/office/drawing/2014/main" id="{FBD26C27-91FE-49EB-AEB2-1E1BB3AC2ED9}"/>
              </a:ext>
            </a:extLst>
          </p:cNvPr>
          <p:cNvSpPr>
            <a:spLocks/>
          </p:cNvSpPr>
          <p:nvPr userDrawn="1">
            <p:custDataLst>
              <p:tags r:id="rId4"/>
            </p:custDataLst>
          </p:nvPr>
        </p:nvSpPr>
        <p:spPr>
          <a:xfrm>
            <a:off x="2044800" y="1346401"/>
            <a:ext cx="6192000" cy="48941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dirty="0"/>
          </a:p>
        </p:txBody>
      </p:sp>
      <p:sp>
        <p:nvSpPr>
          <p:cNvPr id="26" name="TextBox 6">
            <a:extLst>
              <a:ext uri="{FF2B5EF4-FFF2-40B4-BE49-F238E27FC236}">
                <a16:creationId xmlns="" xmlns:a16="http://schemas.microsoft.com/office/drawing/2014/main" id="{15201026-8286-4A52-A257-E5CFCAC81A3E}"/>
              </a:ext>
            </a:extLst>
          </p:cNvPr>
          <p:cNvSpPr txBox="1">
            <a:spLocks noChangeArrowheads="1"/>
          </p:cNvSpPr>
          <p:nvPr userDrawn="1">
            <p:custDataLst>
              <p:tags r:id="rId5"/>
            </p:custDataLst>
          </p:nvPr>
        </p:nvSpPr>
        <p:spPr bwMode="auto">
          <a:xfrm>
            <a:off x="2064469" y="3871636"/>
            <a:ext cx="36000" cy="36000"/>
          </a:xfrm>
          <a:prstGeom prst="rect">
            <a:avLst/>
          </a:prstGeom>
          <a:noFill/>
          <a:ln w="9525">
            <a:noFill/>
            <a:miter lim="800000"/>
            <a:headEnd/>
            <a:tailEnd/>
          </a:ln>
        </p:spPr>
        <p:txBody>
          <a:bodyPr wrap="none" lIns="0" tIns="0" rIns="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00" dirty="0">
                <a:noFill/>
              </a:rPr>
              <a:t>1.1</a:t>
            </a:r>
          </a:p>
        </p:txBody>
      </p:sp>
      <p:sp>
        <p:nvSpPr>
          <p:cNvPr id="27" name="ZoneTexte 25">
            <a:hlinkClick r:id="" action="ppaction://noaction"/>
            <a:extLst>
              <a:ext uri="{FF2B5EF4-FFF2-40B4-BE49-F238E27FC236}">
                <a16:creationId xmlns="" xmlns:a16="http://schemas.microsoft.com/office/drawing/2014/main" id="{2875FA67-93CB-4C75-9851-0ABB87622BC5}"/>
              </a:ext>
            </a:extLst>
          </p:cNvPr>
          <p:cNvSpPr txBox="1">
            <a:spLocks/>
          </p:cNvSpPr>
          <p:nvPr userDrawn="1">
            <p:custDataLst>
              <p:tags r:id="rId6"/>
            </p:custDataLst>
          </p:nvPr>
        </p:nvSpPr>
        <p:spPr>
          <a:xfrm>
            <a:off x="2044800" y="1346401"/>
            <a:ext cx="6192000" cy="2518589"/>
          </a:xfrm>
          <a:prstGeom prst="rect">
            <a:avLst/>
          </a:prstGeom>
          <a:noFill/>
        </p:spPr>
        <p:txBody>
          <a:bodyPr vert="horz" wrap="square" lIns="0" tIns="0" rIns="0" bIns="0" rtlCol="0">
            <a:noAutofit/>
          </a:bodyPr>
          <a:lstStyle/>
          <a:p>
            <a:pPr>
              <a:lnSpc>
                <a:spcPct val="70000"/>
              </a:lnSpc>
            </a:pPr>
            <a:r>
              <a:rPr lang="en-US" sz="11000" dirty="0">
                <a:solidFill>
                  <a:schemeClr val="bg1"/>
                </a:solidFill>
                <a:latin typeface="+mj-lt"/>
              </a:rPr>
              <a:t>section</a:t>
            </a:r>
          </a:p>
        </p:txBody>
      </p:sp>
      <p:sp>
        <p:nvSpPr>
          <p:cNvPr id="28" name="ZoneTexte 31">
            <a:hlinkClick r:id="" action="ppaction://noaction"/>
            <a:extLst>
              <a:ext uri="{FF2B5EF4-FFF2-40B4-BE49-F238E27FC236}">
                <a16:creationId xmlns="" xmlns:a16="http://schemas.microsoft.com/office/drawing/2014/main" id="{828D139C-838D-48F8-BE7B-6F5A1216B6CD}"/>
              </a:ext>
            </a:extLst>
          </p:cNvPr>
          <p:cNvSpPr txBox="1">
            <a:spLocks/>
          </p:cNvSpPr>
          <p:nvPr userDrawn="1">
            <p:custDataLst>
              <p:tags r:id="rId7"/>
            </p:custDataLst>
          </p:nvPr>
        </p:nvSpPr>
        <p:spPr>
          <a:xfrm>
            <a:off x="3668954" y="3879390"/>
            <a:ext cx="5029200" cy="270000"/>
          </a:xfrm>
          <a:prstGeom prst="rect">
            <a:avLst/>
          </a:prstGeom>
          <a:noFill/>
        </p:spPr>
        <p:txBody>
          <a:bodyPr vert="horz" wrap="square" lIns="0" tIns="0" rIns="0" bIns="0" rtlCol="0">
            <a:noAutofit/>
          </a:bodyPr>
          <a:lstStyle/>
          <a:p>
            <a:r>
              <a:rPr lang="en-US" sz="2000" dirty="0">
                <a:solidFill>
                  <a:srgbClr val="FFFFFF"/>
                </a:solidFill>
                <a:latin typeface="+mj-lt"/>
              </a:rPr>
              <a:t>Subsection</a:t>
            </a:r>
          </a:p>
        </p:txBody>
      </p:sp>
      <p:sp>
        <p:nvSpPr>
          <p:cNvPr id="29" name="ZoneTexte 32">
            <a:hlinkClick r:id="" action="ppaction://noaction"/>
            <a:extLst>
              <a:ext uri="{FF2B5EF4-FFF2-40B4-BE49-F238E27FC236}">
                <a16:creationId xmlns="" xmlns:a16="http://schemas.microsoft.com/office/drawing/2014/main" id="{71B824CA-7E68-4DAA-AE43-F93B119D5848}"/>
              </a:ext>
            </a:extLst>
          </p:cNvPr>
          <p:cNvSpPr txBox="1">
            <a:spLocks/>
          </p:cNvSpPr>
          <p:nvPr userDrawn="1">
            <p:custDataLst>
              <p:tags r:id="rId8"/>
            </p:custDataLst>
          </p:nvPr>
        </p:nvSpPr>
        <p:spPr>
          <a:xfrm>
            <a:off x="9041059" y="3828990"/>
            <a:ext cx="72000" cy="36000"/>
          </a:xfrm>
          <a:prstGeom prst="rect">
            <a:avLst/>
          </a:prstGeom>
          <a:noFill/>
        </p:spPr>
        <p:txBody>
          <a:bodyPr vert="horz" wrap="none" lIns="0" tIns="0" rIns="0" bIns="0" rtlCol="0" anchor="ctr" anchorCtr="0">
            <a:noAutofit/>
          </a:bodyPr>
          <a:lstStyle/>
          <a:p>
            <a:pPr algn="ctr"/>
            <a:r>
              <a:rPr lang="fr-FR" sz="100" dirty="0">
                <a:noFill/>
                <a:latin typeface="+mj-lt"/>
              </a:rPr>
              <a:t>4</a:t>
            </a:r>
          </a:p>
        </p:txBody>
      </p:sp>
      <p:sp>
        <p:nvSpPr>
          <p:cNvPr id="30" name="ZoneTexte 33">
            <a:hlinkClick r:id="" action="ppaction://noaction"/>
            <a:extLst>
              <a:ext uri="{FF2B5EF4-FFF2-40B4-BE49-F238E27FC236}">
                <a16:creationId xmlns="" xmlns:a16="http://schemas.microsoft.com/office/drawing/2014/main" id="{73FA0C7E-85A9-497B-99C4-E6FD2DA1D60B}"/>
              </a:ext>
            </a:extLst>
          </p:cNvPr>
          <p:cNvSpPr txBox="1"/>
          <p:nvPr userDrawn="1">
            <p:custDataLst>
              <p:tags r:id="rId9"/>
            </p:custDataLst>
          </p:nvPr>
        </p:nvSpPr>
        <p:spPr>
          <a:xfrm>
            <a:off x="8741801" y="3879390"/>
            <a:ext cx="276038" cy="270000"/>
          </a:xfrm>
          <a:prstGeom prst="rect">
            <a:avLst/>
          </a:prstGeom>
          <a:noFill/>
        </p:spPr>
        <p:txBody>
          <a:bodyPr vert="horz" wrap="none" lIns="0" tIns="0" rIns="0" bIns="0" rtlCol="0" anchor="t" anchorCtr="0">
            <a:noAutofit/>
          </a:bodyPr>
          <a:lstStyle/>
          <a:p>
            <a:pPr algn="r"/>
            <a:r>
              <a:rPr lang="fr-FR" sz="2000" dirty="0">
                <a:solidFill>
                  <a:srgbClr val="FFFFFF"/>
                </a:solidFill>
                <a:latin typeface="+mj-lt"/>
              </a:rPr>
              <a:t>5</a:t>
            </a:r>
          </a:p>
        </p:txBody>
      </p:sp>
      <p:sp>
        <p:nvSpPr>
          <p:cNvPr id="31" name="Rectangle 30">
            <a:extLst>
              <a:ext uri="{FF2B5EF4-FFF2-40B4-BE49-F238E27FC236}">
                <a16:creationId xmlns="" xmlns:a16="http://schemas.microsoft.com/office/drawing/2014/main" id="{41E60A8B-0674-46A7-AC89-A2E42492B5CE}"/>
              </a:ext>
            </a:extLst>
          </p:cNvPr>
          <p:cNvSpPr>
            <a:spLocks/>
          </p:cNvSpPr>
          <p:nvPr userDrawn="1"/>
        </p:nvSpPr>
        <p:spPr>
          <a:xfrm>
            <a:off x="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5637541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ubSection Divider Storage Layout">
    <p:spTree>
      <p:nvGrpSpPr>
        <p:cNvPr id="1" name=""/>
        <p:cNvGrpSpPr/>
        <p:nvPr/>
      </p:nvGrpSpPr>
      <p:grpSpPr>
        <a:xfrm>
          <a:off x="0" y="0"/>
          <a:ext cx="0" cy="0"/>
          <a:chOff x="0" y="0"/>
          <a:chExt cx="0" cy="0"/>
        </a:xfrm>
      </p:grpSpPr>
      <p:sp>
        <p:nvSpPr>
          <p:cNvPr id="22" name="ZoneTexte 13">
            <a:extLst>
              <a:ext uri="{FF2B5EF4-FFF2-40B4-BE49-F238E27FC236}">
                <a16:creationId xmlns="" xmlns:a16="http://schemas.microsoft.com/office/drawing/2014/main" id="{24CBF9C5-95C5-450C-9E34-59AAA2D4A5CB}"/>
              </a:ext>
            </a:extLst>
          </p:cNvPr>
          <p:cNvSpPr txBox="1"/>
          <p:nvPr userDrawn="1">
            <p:custDataLst>
              <p:tags r:id="rId1"/>
            </p:custDataLst>
          </p:nvPr>
        </p:nvSpPr>
        <p:spPr>
          <a:xfrm>
            <a:off x="1300798" y="2139758"/>
            <a:ext cx="7106223" cy="307777"/>
          </a:xfrm>
          <a:prstGeom prst="rect">
            <a:avLst/>
          </a:prstGeom>
          <a:noFill/>
        </p:spPr>
        <p:txBody>
          <a:bodyPr wrap="square" rtlCol="0">
            <a:spAutoFit/>
          </a:bodyPr>
          <a:lstStyle/>
          <a:p>
            <a:r>
              <a:rPr lang="fr-FR" sz="1400" i="1" dirty="0">
                <a:latin typeface="Garamond" pitchFamily="18" charset="0"/>
              </a:rPr>
              <a:t>Section</a:t>
            </a:r>
          </a:p>
        </p:txBody>
      </p:sp>
      <p:sp>
        <p:nvSpPr>
          <p:cNvPr id="23" name="ZoneTexte 14">
            <a:extLst>
              <a:ext uri="{FF2B5EF4-FFF2-40B4-BE49-F238E27FC236}">
                <a16:creationId xmlns="" xmlns:a16="http://schemas.microsoft.com/office/drawing/2014/main" id="{18C87240-EDD9-46B8-A954-06FC585E6BB3}"/>
              </a:ext>
            </a:extLst>
          </p:cNvPr>
          <p:cNvSpPr txBox="1"/>
          <p:nvPr userDrawn="1">
            <p:custDataLst>
              <p:tags r:id="rId2"/>
            </p:custDataLst>
          </p:nvPr>
        </p:nvSpPr>
        <p:spPr>
          <a:xfrm>
            <a:off x="8519285" y="2139758"/>
            <a:ext cx="276038" cy="307777"/>
          </a:xfrm>
          <a:prstGeom prst="rect">
            <a:avLst/>
          </a:prstGeom>
          <a:noFill/>
        </p:spPr>
        <p:txBody>
          <a:bodyPr wrap="none" lIns="0" tIns="0" rIns="0" bIns="0" rtlCol="0" anchor="ctr" anchorCtr="0">
            <a:noAutofit/>
          </a:bodyPr>
          <a:lstStyle/>
          <a:p>
            <a:pPr algn="ctr"/>
            <a:r>
              <a:rPr lang="fr-FR" sz="1400" i="1" dirty="0">
                <a:latin typeface="Garamond" pitchFamily="18" charset="0"/>
              </a:rPr>
              <a:t>1</a:t>
            </a:r>
          </a:p>
        </p:txBody>
      </p:sp>
      <p:sp>
        <p:nvSpPr>
          <p:cNvPr id="24" name="Rectangle 23">
            <a:extLst>
              <a:ext uri="{FF2B5EF4-FFF2-40B4-BE49-F238E27FC236}">
                <a16:creationId xmlns="" xmlns:a16="http://schemas.microsoft.com/office/drawing/2014/main" id="{FE72A150-A51B-4CF3-B6DE-F1E6560853FD}"/>
              </a:ext>
            </a:extLst>
          </p:cNvPr>
          <p:cNvSpPr>
            <a:spLocks/>
          </p:cNvSpPr>
          <p:nvPr userDrawn="1">
            <p:custDataLst>
              <p:tags r:id="rId3"/>
            </p:custDataLst>
          </p:nvPr>
        </p:nvSpPr>
        <p:spPr>
          <a:xfrm>
            <a:off x="2044800" y="1346401"/>
            <a:ext cx="6192000" cy="48941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dirty="0"/>
          </a:p>
        </p:txBody>
      </p:sp>
      <p:sp>
        <p:nvSpPr>
          <p:cNvPr id="25" name="TextBox 24">
            <a:hlinkClick r:id="" action="ppaction://noaction"/>
            <a:extLst>
              <a:ext uri="{FF2B5EF4-FFF2-40B4-BE49-F238E27FC236}">
                <a16:creationId xmlns="" xmlns:a16="http://schemas.microsoft.com/office/drawing/2014/main" id="{CBF5ABA4-B3E8-4A89-88ED-D0EAD2DD6160}"/>
              </a:ext>
            </a:extLst>
          </p:cNvPr>
          <p:cNvSpPr txBox="1"/>
          <p:nvPr userDrawn="1">
            <p:custDataLst>
              <p:tags r:id="rId4"/>
            </p:custDataLst>
          </p:nvPr>
        </p:nvSpPr>
        <p:spPr bwMode="auto">
          <a:xfrm>
            <a:off x="2064469" y="1346401"/>
            <a:ext cx="36000" cy="36000"/>
          </a:xfrm>
          <a:prstGeom prst="rect">
            <a:avLst/>
          </a:prstGeom>
          <a:noFill/>
          <a:ln w="9525">
            <a:noFill/>
            <a:miter lim="800000"/>
            <a:headEnd/>
            <a:tailEnd/>
          </a:ln>
        </p:spPr>
        <p:txBody>
          <a:bodyPr vert="horz" wrap="none" rtlCol="0" anchor="t" anchorCtr="0">
            <a:noAutofit/>
          </a:bodyPr>
          <a:lstStyle/>
          <a:p>
            <a:r>
              <a:rPr lang="fr-FR" sz="100" dirty="0">
                <a:noFill/>
                <a:latin typeface="+mj-lt"/>
              </a:rPr>
              <a:t>1</a:t>
            </a:r>
          </a:p>
        </p:txBody>
      </p:sp>
      <p:sp>
        <p:nvSpPr>
          <p:cNvPr id="26" name="TextBox 25">
            <a:hlinkClick r:id="" action="ppaction://noaction"/>
            <a:extLst>
              <a:ext uri="{FF2B5EF4-FFF2-40B4-BE49-F238E27FC236}">
                <a16:creationId xmlns="" xmlns:a16="http://schemas.microsoft.com/office/drawing/2014/main" id="{B8104A3E-1C6F-4FDD-A121-1C5F962F089F}"/>
              </a:ext>
            </a:extLst>
          </p:cNvPr>
          <p:cNvSpPr txBox="1">
            <a:spLocks/>
          </p:cNvSpPr>
          <p:nvPr userDrawn="1">
            <p:custDataLst>
              <p:tags r:id="rId5"/>
            </p:custDataLst>
          </p:nvPr>
        </p:nvSpPr>
        <p:spPr>
          <a:xfrm>
            <a:off x="2044800" y="1346401"/>
            <a:ext cx="6192000" cy="2518589"/>
          </a:xfrm>
          <a:prstGeom prst="rect">
            <a:avLst/>
          </a:prstGeom>
          <a:noFill/>
        </p:spPr>
        <p:txBody>
          <a:bodyPr vert="horz" wrap="square" lIns="0" tIns="0" rIns="0" bIns="0" rtlCol="0">
            <a:noAutofit/>
          </a:bodyPr>
          <a:lstStyle/>
          <a:p>
            <a:pPr>
              <a:lnSpc>
                <a:spcPct val="70000"/>
              </a:lnSpc>
            </a:pPr>
            <a:r>
              <a:rPr lang="fr-FR" sz="11000" dirty="0">
                <a:solidFill>
                  <a:schemeClr val="bg1"/>
                </a:solidFill>
                <a:latin typeface="+mj-lt"/>
              </a:rPr>
              <a:t>section</a:t>
            </a:r>
          </a:p>
        </p:txBody>
      </p:sp>
      <p:sp>
        <p:nvSpPr>
          <p:cNvPr id="27" name="TextBox 26">
            <a:hlinkClick r:id="" action="ppaction://noaction"/>
            <a:extLst>
              <a:ext uri="{FF2B5EF4-FFF2-40B4-BE49-F238E27FC236}">
                <a16:creationId xmlns="" xmlns:a16="http://schemas.microsoft.com/office/drawing/2014/main" id="{EE28941E-BCC3-4026-A62C-C8AB26D79C69}"/>
              </a:ext>
            </a:extLst>
          </p:cNvPr>
          <p:cNvSpPr txBox="1"/>
          <p:nvPr userDrawn="1">
            <p:custDataLst>
              <p:tags r:id="rId6"/>
            </p:custDataLst>
          </p:nvPr>
        </p:nvSpPr>
        <p:spPr>
          <a:xfrm>
            <a:off x="9041059" y="3828990"/>
            <a:ext cx="72000" cy="36000"/>
          </a:xfrm>
          <a:prstGeom prst="rect">
            <a:avLst/>
          </a:prstGeom>
          <a:noFill/>
        </p:spPr>
        <p:txBody>
          <a:bodyPr vert="horz" wrap="none" lIns="0" tIns="0" rIns="0" bIns="0" rtlCol="0" anchor="ctr" anchorCtr="0">
            <a:noAutofit/>
          </a:bodyPr>
          <a:lstStyle/>
          <a:p>
            <a:pPr algn="ctr"/>
            <a:r>
              <a:rPr lang="fr-FR" sz="100" dirty="0">
                <a:noFill/>
                <a:latin typeface="+mj-lt"/>
              </a:rPr>
              <a:t>5</a:t>
            </a:r>
          </a:p>
        </p:txBody>
      </p:sp>
      <p:sp>
        <p:nvSpPr>
          <p:cNvPr id="28" name="TextBox 27">
            <a:hlinkClick r:id="" action="ppaction://noaction"/>
            <a:extLst>
              <a:ext uri="{FF2B5EF4-FFF2-40B4-BE49-F238E27FC236}">
                <a16:creationId xmlns="" xmlns:a16="http://schemas.microsoft.com/office/drawing/2014/main" id="{7576CD9F-BFAB-45DF-8F5E-68423F4A3826}"/>
              </a:ext>
            </a:extLst>
          </p:cNvPr>
          <p:cNvSpPr txBox="1"/>
          <p:nvPr userDrawn="1">
            <p:custDataLst>
              <p:tags r:id="rId7"/>
            </p:custDataLst>
          </p:nvPr>
        </p:nvSpPr>
        <p:spPr>
          <a:xfrm>
            <a:off x="8778528" y="3879390"/>
            <a:ext cx="276038" cy="270000"/>
          </a:xfrm>
          <a:prstGeom prst="rect">
            <a:avLst/>
          </a:prstGeom>
          <a:noFill/>
        </p:spPr>
        <p:txBody>
          <a:bodyPr vert="horz" wrap="none" lIns="0" tIns="0" rIns="0" bIns="0" rtlCol="0" anchor="t" anchorCtr="0">
            <a:noAutofit/>
          </a:bodyPr>
          <a:lstStyle/>
          <a:p>
            <a:pPr algn="r"/>
            <a:r>
              <a:rPr lang="fr-FR" sz="2000" dirty="0">
                <a:solidFill>
                  <a:srgbClr val="FFFFFF"/>
                </a:solidFill>
                <a:latin typeface="+mj-lt"/>
              </a:rPr>
              <a:t>6</a:t>
            </a:r>
          </a:p>
        </p:txBody>
      </p:sp>
      <p:sp>
        <p:nvSpPr>
          <p:cNvPr id="29" name="TextBox 28">
            <a:hlinkClick r:id="" action="ppaction://noaction"/>
            <a:extLst>
              <a:ext uri="{FF2B5EF4-FFF2-40B4-BE49-F238E27FC236}">
                <a16:creationId xmlns="" xmlns:a16="http://schemas.microsoft.com/office/drawing/2014/main" id="{BD55679B-F284-4C95-82F0-E3C205BBFDEC}"/>
              </a:ext>
            </a:extLst>
          </p:cNvPr>
          <p:cNvSpPr txBox="1"/>
          <p:nvPr userDrawn="1">
            <p:custDataLst>
              <p:tags r:id="rId8"/>
            </p:custDataLst>
          </p:nvPr>
        </p:nvSpPr>
        <p:spPr bwMode="auto">
          <a:xfrm>
            <a:off x="2064469" y="3879390"/>
            <a:ext cx="36000" cy="36000"/>
          </a:xfrm>
          <a:prstGeom prst="rect">
            <a:avLst/>
          </a:prstGeom>
          <a:noFill/>
          <a:ln w="9525">
            <a:noFill/>
            <a:miter lim="800000"/>
            <a:headEnd/>
            <a:tailEnd/>
          </a:ln>
        </p:spPr>
        <p:txBody>
          <a:bodyPr vert="horz" wrap="none" lIns="0" tIns="0" rIns="0" bIns="0" rtlCol="0" anchor="t" anchorCtr="0">
            <a:noAutofit/>
          </a:bodyPr>
          <a:lstStyle/>
          <a:p>
            <a:r>
              <a:rPr lang="fr-FR" sz="100" dirty="0">
                <a:noFill/>
              </a:rPr>
              <a:t>1.1</a:t>
            </a:r>
          </a:p>
        </p:txBody>
      </p:sp>
      <p:sp>
        <p:nvSpPr>
          <p:cNvPr id="30" name="TextBox 29">
            <a:hlinkClick r:id="" action="ppaction://noaction"/>
            <a:extLst>
              <a:ext uri="{FF2B5EF4-FFF2-40B4-BE49-F238E27FC236}">
                <a16:creationId xmlns="" xmlns:a16="http://schemas.microsoft.com/office/drawing/2014/main" id="{443A5F6B-C48A-4016-A227-D57EFEA96E4D}"/>
              </a:ext>
            </a:extLst>
          </p:cNvPr>
          <p:cNvSpPr txBox="1"/>
          <p:nvPr userDrawn="1">
            <p:custDataLst>
              <p:tags r:id="rId9"/>
            </p:custDataLst>
          </p:nvPr>
        </p:nvSpPr>
        <p:spPr>
          <a:xfrm>
            <a:off x="2215200" y="3879390"/>
            <a:ext cx="6897859" cy="270000"/>
          </a:xfrm>
          <a:prstGeom prst="rect">
            <a:avLst/>
          </a:prstGeom>
          <a:noFill/>
        </p:spPr>
        <p:txBody>
          <a:bodyPr vert="horz" wrap="square" lIns="0" tIns="0" rIns="0" bIns="0" rtlCol="0">
            <a:noAutofit/>
          </a:bodyPr>
          <a:lstStyle/>
          <a:p>
            <a:r>
              <a:rPr lang="fr-FR" sz="2000" dirty="0">
                <a:solidFill>
                  <a:srgbClr val="FFFFFF"/>
                </a:solidFill>
                <a:latin typeface="+mj-lt"/>
              </a:rPr>
              <a:t>1</a:t>
            </a:r>
          </a:p>
        </p:txBody>
      </p:sp>
      <p:sp>
        <p:nvSpPr>
          <p:cNvPr id="31" name="Rectangle 30">
            <a:extLst>
              <a:ext uri="{FF2B5EF4-FFF2-40B4-BE49-F238E27FC236}">
                <a16:creationId xmlns="" xmlns:a16="http://schemas.microsoft.com/office/drawing/2014/main" id="{045C6A03-99A6-4A05-B409-EE1A9107102F}"/>
              </a:ext>
            </a:extLst>
          </p:cNvPr>
          <p:cNvSpPr>
            <a:spLocks/>
          </p:cNvSpPr>
          <p:nvPr userDrawn="1"/>
        </p:nvSpPr>
        <p:spPr>
          <a:xfrm>
            <a:off x="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7948223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minder shapes Storage Layout">
    <p:spTree>
      <p:nvGrpSpPr>
        <p:cNvPr id="1" name=""/>
        <p:cNvGrpSpPr/>
        <p:nvPr/>
      </p:nvGrpSpPr>
      <p:grpSpPr>
        <a:xfrm>
          <a:off x="0" y="0"/>
          <a:ext cx="0" cy="0"/>
          <a:chOff x="0" y="0"/>
          <a:chExt cx="0" cy="0"/>
        </a:xfrm>
      </p:grpSpPr>
      <p:sp>
        <p:nvSpPr>
          <p:cNvPr id="8" name="TextBox 8">
            <a:extLst>
              <a:ext uri="{FF2B5EF4-FFF2-40B4-BE49-F238E27FC236}">
                <a16:creationId xmlns="" xmlns:a16="http://schemas.microsoft.com/office/drawing/2014/main" id="{10925E5A-584A-4EAC-B609-0A568D350D29}"/>
              </a:ext>
            </a:extLst>
          </p:cNvPr>
          <p:cNvSpPr txBox="1">
            <a:spLocks noChangeArrowheads="1"/>
          </p:cNvSpPr>
          <p:nvPr userDrawn="1">
            <p:custDataLst>
              <p:tags r:id="rId1"/>
            </p:custDataLst>
          </p:nvPr>
        </p:nvSpPr>
        <p:spPr bwMode="auto">
          <a:xfrm>
            <a:off x="215900" y="743642"/>
            <a:ext cx="4356100" cy="307975"/>
          </a:xfrm>
          <a:prstGeom prst="rect">
            <a:avLst/>
          </a:prstGeom>
          <a:noFill/>
          <a:ln w="9525">
            <a:noFill/>
            <a:miter lim="800000"/>
            <a:headEnd/>
            <a:tailEnd/>
          </a:ln>
        </p:spPr>
        <p:txBody>
          <a:bodyPr anchor="ctr" anchorCtr="0">
            <a:normAutofit/>
          </a:bodyPr>
          <a:lstStyle>
            <a:defPPr>
              <a:defRPr lang="fr-FR"/>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fr-FR" sz="1400" b="1" dirty="0">
                <a:latin typeface="Garamond" pitchFamily="18" charset="0"/>
              </a:rPr>
              <a:t>Section</a:t>
            </a:r>
          </a:p>
        </p:txBody>
      </p:sp>
      <p:sp>
        <p:nvSpPr>
          <p:cNvPr id="9" name="ZoneTexte 11">
            <a:extLst>
              <a:ext uri="{FF2B5EF4-FFF2-40B4-BE49-F238E27FC236}">
                <a16:creationId xmlns="" xmlns:a16="http://schemas.microsoft.com/office/drawing/2014/main" id="{A3A96B79-9A6D-4A5A-99B1-DE73E3871431}"/>
              </a:ext>
            </a:extLst>
          </p:cNvPr>
          <p:cNvSpPr txBox="1">
            <a:spLocks/>
          </p:cNvSpPr>
          <p:nvPr userDrawn="1">
            <p:custDataLst>
              <p:tags r:id="rId2"/>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 d | </a:t>
            </a:r>
          </a:p>
        </p:txBody>
      </p:sp>
      <p:sp>
        <p:nvSpPr>
          <p:cNvPr id="10" name="Rectangle 9">
            <a:extLst>
              <a:ext uri="{FF2B5EF4-FFF2-40B4-BE49-F238E27FC236}">
                <a16:creationId xmlns="" xmlns:a16="http://schemas.microsoft.com/office/drawing/2014/main" id="{CBB07E52-673B-4A5D-B43B-573E243EDE3C}"/>
              </a:ext>
            </a:extLst>
          </p:cNvPr>
          <p:cNvSpPr/>
          <p:nvPr userDrawn="1"/>
        </p:nvSpPr>
        <p:spPr>
          <a:xfrm>
            <a:off x="0" y="0"/>
            <a:ext cx="9144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020496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vmlDrawing" Target="../drawings/vmlDrawing1.v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slideLayout" Target="../slideLayouts/slideLayout41.xml"/><Relationship Id="rId7" Type="http://schemas.openxmlformats.org/officeDocument/2006/relationships/tags" Target="../tags/tag13.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vmlDrawing" Target="../drawings/vmlDrawing12.vml"/><Relationship Id="rId5" Type="http://schemas.openxmlformats.org/officeDocument/2006/relationships/theme" Target="../theme/theme2.xml"/><Relationship Id="rId4" Type="http://schemas.openxmlformats.org/officeDocument/2006/relationships/slideLayout" Target="../slideLayouts/slideLayout42.xml"/><Relationship Id="rId9"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45.xml"/><Relationship Id="rId7" Type="http://schemas.openxmlformats.org/officeDocument/2006/relationships/image" Target="../media/image8.png"/><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image" Target="../media/image7.png"/><Relationship Id="rId5" Type="http://schemas.openxmlformats.org/officeDocument/2006/relationships/theme" Target="../theme/theme3.xml"/><Relationship Id="rId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t 3" hidden="1"/>
          <p:cNvGraphicFramePr>
            <a:graphicFrameLocks noChangeAspect="1"/>
          </p:cNvGraphicFramePr>
          <p:nvPr userDrawn="1">
            <p:custDataLst>
              <p:tags r:id="rId41"/>
            </p:custDataLst>
            <p:extLst>
              <p:ext uri="{D42A27DB-BD31-4B8C-83A1-F6EECF244321}">
                <p14:modId xmlns:p14="http://schemas.microsoft.com/office/powerpoint/2010/main" val="253211299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38" name="think-cell Slide" r:id="rId42" imgW="270" imgH="270" progId="TCLayout.ActiveDocument.1">
                  <p:embed/>
                </p:oleObj>
              </mc:Choice>
              <mc:Fallback>
                <p:oleObj name="think-cell Slide" r:id="rId42" imgW="270" imgH="270" progId="TCLayout.ActiveDocument.1">
                  <p:embed/>
                  <p:pic>
                    <p:nvPicPr>
                      <p:cNvPr id="0" name=""/>
                      <p:cNvPicPr/>
                      <p:nvPr/>
                    </p:nvPicPr>
                    <p:blipFill>
                      <a:blip r:embed="rId43"/>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31800" y="480476"/>
            <a:ext cx="8280400" cy="734400"/>
          </a:xfrm>
          <a:prstGeom prst="rect">
            <a:avLst/>
          </a:prstGeom>
        </p:spPr>
        <p:txBody>
          <a:bodyPr vert="horz" lIns="0" tIns="0" rIns="0" bIns="0" rtlCol="0" anchor="t" anchorCtr="0">
            <a:noAutofit/>
          </a:bodyPr>
          <a:lstStyle/>
          <a:p>
            <a:r>
              <a:rPr lang="en-US"/>
              <a:t>Click to edit Master title style</a:t>
            </a:r>
            <a:endParaRPr lang="en-CA" noProof="0" dirty="0"/>
          </a:p>
        </p:txBody>
      </p:sp>
      <p:sp>
        <p:nvSpPr>
          <p:cNvPr id="3" name="Text Placeholder 2"/>
          <p:cNvSpPr>
            <a:spLocks noGrp="1"/>
          </p:cNvSpPr>
          <p:nvPr>
            <p:ph type="body" idx="1"/>
          </p:nvPr>
        </p:nvSpPr>
        <p:spPr bwMode="gray">
          <a:xfrm>
            <a:off x="431800" y="1426659"/>
            <a:ext cx="8280400" cy="45828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8"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29" name="Shape 8"/>
          <p:cNvSpPr txBox="1">
            <a:spLocks/>
          </p:cNvSpPr>
          <p:nvPr userDrawn="1"/>
        </p:nvSpPr>
        <p:spPr bwMode="gray">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9" name="TextBox 8"/>
          <p:cNvSpPr txBox="1"/>
          <p:nvPr userDrawn="1"/>
        </p:nvSpPr>
        <p:spPr bwMode="auto">
          <a:xfrm>
            <a:off x="1318360" y="6336273"/>
            <a:ext cx="603504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2020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
        <p:nvSpPr>
          <p:cNvPr id="8" name="Title Placeholder 1"/>
          <p:cNvSpPr txBox="1">
            <a:spLocks/>
          </p:cNvSpPr>
          <p:nvPr userDrawn="1"/>
        </p:nvSpPr>
        <p:spPr bwMode="gray">
          <a:xfrm>
            <a:off x="431800" y="228600"/>
            <a:ext cx="8280400" cy="159643"/>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pPr algn="r"/>
            <a:r>
              <a:rPr lang="en-CA" sz="1800" i="1" dirty="0">
                <a:solidFill>
                  <a:schemeClr val="accent2"/>
                </a:solidFill>
              </a:rPr>
              <a:t>DRAFT</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24" r:id="rId1"/>
    <p:sldLayoutId id="2147483726" r:id="rId2"/>
    <p:sldLayoutId id="2147483725" r:id="rId3"/>
    <p:sldLayoutId id="2147483727" r:id="rId4"/>
    <p:sldLayoutId id="2147483729" r:id="rId5"/>
    <p:sldLayoutId id="2147483728" r:id="rId6"/>
    <p:sldLayoutId id="2147483707" r:id="rId7"/>
    <p:sldLayoutId id="2147483708" r:id="rId8"/>
    <p:sldLayoutId id="2147483709" r:id="rId9"/>
    <p:sldLayoutId id="2147483719" r:id="rId10"/>
    <p:sldLayoutId id="2147483732" r:id="rId11"/>
    <p:sldLayoutId id="2147483722" r:id="rId12"/>
    <p:sldLayoutId id="2147483666" r:id="rId13"/>
    <p:sldLayoutId id="2147483664" r:id="rId14"/>
    <p:sldLayoutId id="2147483689" r:id="rId15"/>
    <p:sldLayoutId id="2147483690" r:id="rId16"/>
    <p:sldLayoutId id="2147483692" r:id="rId17"/>
    <p:sldLayoutId id="2147483693" r:id="rId18"/>
    <p:sldLayoutId id="2147483694" r:id="rId19"/>
    <p:sldLayoutId id="2147483701" r:id="rId20"/>
    <p:sldLayoutId id="2147483697" r:id="rId21"/>
    <p:sldLayoutId id="2147483730" r:id="rId22"/>
    <p:sldLayoutId id="2147483731" r:id="rId23"/>
    <p:sldLayoutId id="2147483682" r:id="rId24"/>
    <p:sldLayoutId id="2147483683" r:id="rId25"/>
    <p:sldLayoutId id="2147483684" r:id="rId26"/>
    <p:sldLayoutId id="2147483685" r:id="rId27"/>
    <p:sldLayoutId id="2147483700" r:id="rId28"/>
    <p:sldLayoutId id="2147483710" r:id="rId29"/>
    <p:sldLayoutId id="2147483711" r:id="rId30"/>
    <p:sldLayoutId id="2147483712" r:id="rId31"/>
    <p:sldLayoutId id="2147483713" r:id="rId32"/>
    <p:sldLayoutId id="2147483667" r:id="rId33"/>
    <p:sldLayoutId id="2147483740" r:id="rId34"/>
    <p:sldLayoutId id="2147483743" r:id="rId35"/>
    <p:sldLayoutId id="2147483745" r:id="rId36"/>
    <p:sldLayoutId id="2147483746" r:id="rId37"/>
    <p:sldLayoutId id="2147483747" r:id="rId38"/>
  </p:sldLayoutIdLst>
  <p:txStyles>
    <p:titleStyle>
      <a:lvl1pPr algn="l" defTabSz="914400" rtl="0" eaLnBrk="1" latinLnBrk="0" hangingPunct="1">
        <a:lnSpc>
          <a:spcPct val="70000"/>
        </a:lnSpc>
        <a:spcBef>
          <a:spcPct val="0"/>
        </a:spcBef>
        <a:buNone/>
        <a:defRPr sz="3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784" userDrawn="1">
          <p15:clr>
            <a:srgbClr val="F26B43"/>
          </p15:clr>
        </p15:guide>
        <p15:guide id="2" pos="272" userDrawn="1">
          <p15:clr>
            <a:srgbClr val="F26B43"/>
          </p15:clr>
        </p15:guide>
        <p15:guide id="3" pos="5488" userDrawn="1">
          <p15:clr>
            <a:srgbClr val="F26B43"/>
          </p15:clr>
        </p15:guide>
        <p15:guide id="4" orient="horz" pos="763" userDrawn="1">
          <p15:clr>
            <a:srgbClr val="F26B43"/>
          </p15:clr>
        </p15:guide>
        <p15:guide id="6" orient="horz" pos="300" userDrawn="1">
          <p15:clr>
            <a:srgbClr val="F26B43"/>
          </p15:clr>
        </p15:guide>
        <p15:guide id="7" orient="horz" pos="896" userDrawn="1">
          <p15:clr>
            <a:srgbClr val="F26B43"/>
          </p15:clr>
        </p15:guide>
        <p15:guide id="8" pos="2925" userDrawn="1">
          <p15:clr>
            <a:srgbClr val="F26B43"/>
          </p15:clr>
        </p15:guide>
        <p15:guide id="9" pos="283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aphicFrame>
        <p:nvGraphicFramePr>
          <p:cNvPr id="4" name="Objet 3" hidden="1"/>
          <p:cNvGraphicFramePr>
            <a:graphicFrameLocks noChangeAspect="1"/>
          </p:cNvGraphicFramePr>
          <p:nvPr userDrawn="1">
            <p:custDataLst>
              <p:tags r:id="rId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930" name="think-cell Slide" r:id="rId8" imgW="270" imgH="270" progId="TCLayout.ActiveDocument.1">
                  <p:embed/>
                </p:oleObj>
              </mc:Choice>
              <mc:Fallback>
                <p:oleObj name="think-cell Slide" r:id="rId8" imgW="270" imgH="270" progId="TCLayout.ActiveDocument.1">
                  <p:embed/>
                  <p:pic>
                    <p:nvPicPr>
                      <p:cNvPr id="4" name="Objet 3" hidden="1"/>
                      <p:cNvPicPr/>
                      <p:nvPr/>
                    </p:nvPicPr>
                    <p:blipFill>
                      <a:blip r:embed="rId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31800" y="480476"/>
            <a:ext cx="8280400" cy="734400"/>
          </a:xfrm>
          <a:prstGeom prst="rect">
            <a:avLst/>
          </a:prstGeom>
        </p:spPr>
        <p:txBody>
          <a:bodyPr vert="horz" lIns="0" tIns="0" rIns="0" bIns="0" rtlCol="0" anchor="t" anchorCtr="0">
            <a:noAutofit/>
          </a:bodyPr>
          <a:lstStyle/>
          <a:p>
            <a:r>
              <a:rPr lang="en-US"/>
              <a:t>Click to edit Master title style</a:t>
            </a:r>
            <a:endParaRPr lang="en-CA" noProof="0" dirty="0"/>
          </a:p>
        </p:txBody>
      </p:sp>
      <p:sp>
        <p:nvSpPr>
          <p:cNvPr id="3" name="Text Placeholder 2"/>
          <p:cNvSpPr>
            <a:spLocks noGrp="1"/>
          </p:cNvSpPr>
          <p:nvPr>
            <p:ph type="body" idx="1"/>
          </p:nvPr>
        </p:nvSpPr>
        <p:spPr bwMode="gray">
          <a:xfrm>
            <a:off x="431800" y="1426659"/>
            <a:ext cx="8280400" cy="458280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8" name="Freeform 19"/>
          <p:cNvSpPr>
            <a:spLocks noEditPoints="1"/>
          </p:cNvSpPr>
          <p:nvPr userDrawn="1"/>
        </p:nvSpPr>
        <p:spPr bwMode="gray">
          <a:xfrm>
            <a:off x="431800"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CA" dirty="0"/>
          </a:p>
        </p:txBody>
      </p:sp>
      <p:sp>
        <p:nvSpPr>
          <p:cNvPr id="29" name="Shape 8"/>
          <p:cNvSpPr txBox="1">
            <a:spLocks/>
          </p:cNvSpPr>
          <p:nvPr userDrawn="1"/>
        </p:nvSpPr>
        <p:spPr bwMode="gray">
          <a:xfrm>
            <a:off x="8369980" y="6320118"/>
            <a:ext cx="34222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CA" sz="900" smtClean="0">
                <a:solidFill>
                  <a:schemeClr val="tx2"/>
                </a:solidFill>
                <a:latin typeface="+mn-lt"/>
                <a:ea typeface="Arial"/>
                <a:cs typeface="Arial" panose="020B0604020202020204" pitchFamily="34" charset="0"/>
              </a:rPr>
              <a:pPr algn="r"/>
              <a:t>‹#›</a:t>
            </a:fld>
            <a:endParaRPr lang="en-CA" sz="900" dirty="0">
              <a:solidFill>
                <a:schemeClr val="tx2"/>
              </a:solidFill>
              <a:latin typeface="+mn-lt"/>
              <a:ea typeface="Arial"/>
              <a:cs typeface="Arial" panose="020B0604020202020204" pitchFamily="34" charset="0"/>
            </a:endParaRPr>
          </a:p>
        </p:txBody>
      </p:sp>
      <p:sp>
        <p:nvSpPr>
          <p:cNvPr id="9" name="TextBox 8"/>
          <p:cNvSpPr txBox="1"/>
          <p:nvPr userDrawn="1"/>
        </p:nvSpPr>
        <p:spPr bwMode="auto">
          <a:xfrm>
            <a:off x="1318360" y="6336273"/>
            <a:ext cx="603504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2020 KPMG LLP, a Canadian limited liability partnership and a member firm of the KPMG network of independent member firms affiliated with KPMG International Cooperative (“KPMG International”), a Swiss entity. All rights reserved. The KPMG name and logo are registered trademarks or trademarks of KPMG International.</a:t>
            </a:r>
          </a:p>
        </p:txBody>
      </p:sp>
      <p:sp>
        <p:nvSpPr>
          <p:cNvPr id="8" name="Title Placeholder 1"/>
          <p:cNvSpPr txBox="1">
            <a:spLocks/>
          </p:cNvSpPr>
          <p:nvPr userDrawn="1"/>
        </p:nvSpPr>
        <p:spPr bwMode="gray">
          <a:xfrm>
            <a:off x="431800" y="228600"/>
            <a:ext cx="8280400" cy="159643"/>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3800" kern="1200">
                <a:solidFill>
                  <a:schemeClr val="tx2"/>
                </a:solidFill>
                <a:latin typeface="+mj-lt"/>
                <a:ea typeface="+mj-ea"/>
                <a:cs typeface="+mj-cs"/>
              </a:defRPr>
            </a:lvl1pPr>
          </a:lstStyle>
          <a:p>
            <a:pPr algn="r"/>
            <a:r>
              <a:rPr lang="en-CA" sz="1800" i="1" dirty="0">
                <a:solidFill>
                  <a:schemeClr val="accent2"/>
                </a:solidFill>
              </a:rPr>
              <a:t>DRAFT</a:t>
            </a:r>
          </a:p>
        </p:txBody>
      </p:sp>
    </p:spTree>
    <p:extLst>
      <p:ext uri="{BB962C8B-B14F-4D97-AF65-F5344CB8AC3E}">
        <p14:creationId xmlns:p14="http://schemas.microsoft.com/office/powerpoint/2010/main" val="902039847"/>
      </p:ext>
    </p:extLst>
  </p:cSld>
  <p:clrMap bg1="lt1" tx1="dk1" bg2="lt2" tx2="dk2" accent1="accent1" accent2="accent2" accent3="accent3" accent4="accent4" accent5="accent5" accent6="accent6" hlink="hlink" folHlink="folHlink"/>
  <p:sldLayoutIdLst>
    <p:sldLayoutId id="2147483739" r:id="rId1"/>
    <p:sldLayoutId id="2147483742" r:id="rId2"/>
    <p:sldLayoutId id="2147483744" r:id="rId3"/>
    <p:sldLayoutId id="2147483748" r:id="rId4"/>
  </p:sldLayoutIdLst>
  <p:txStyles>
    <p:titleStyle>
      <a:lvl1pPr algn="l" defTabSz="914400" rtl="0" eaLnBrk="1" latinLnBrk="0" hangingPunct="1">
        <a:lnSpc>
          <a:spcPct val="70000"/>
        </a:lnSpc>
        <a:spcBef>
          <a:spcPct val="0"/>
        </a:spcBef>
        <a:buNone/>
        <a:defRPr sz="3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784">
          <p15:clr>
            <a:srgbClr val="F26B43"/>
          </p15:clr>
        </p15:guide>
        <p15:guide id="2" pos="272">
          <p15:clr>
            <a:srgbClr val="F26B43"/>
          </p15:clr>
        </p15:guide>
        <p15:guide id="3" pos="5488">
          <p15:clr>
            <a:srgbClr val="F26B43"/>
          </p15:clr>
        </p15:guide>
        <p15:guide id="4" orient="horz" pos="763">
          <p15:clr>
            <a:srgbClr val="F26B43"/>
          </p15:clr>
        </p15:guide>
        <p15:guide id="6" orient="horz" pos="300">
          <p15:clr>
            <a:srgbClr val="F26B43"/>
          </p15:clr>
        </p15:guide>
        <p15:guide id="7" orient="horz" pos="896">
          <p15:clr>
            <a:srgbClr val="F26B43"/>
          </p15:clr>
        </p15:guide>
        <p15:guide id="8" pos="2925">
          <p15:clr>
            <a:srgbClr val="F26B43"/>
          </p15:clr>
        </p15:guide>
        <p15:guide id="9" pos="283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re 3"/>
          <p:cNvSpPr txBox="1">
            <a:spLocks/>
          </p:cNvSpPr>
          <p:nvPr userDrawn="1"/>
        </p:nvSpPr>
        <p:spPr>
          <a:xfrm>
            <a:off x="450927" y="3861049"/>
            <a:ext cx="8175678" cy="2088457"/>
          </a:xfrm>
          <a:prstGeom prst="rect">
            <a:avLst/>
          </a:prstGeom>
        </p:spPr>
        <p:txBody>
          <a:bodyPr wrap="square" lIns="0" rIns="0">
            <a:spAutoFit/>
          </a:bodyPr>
          <a:ls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844104" rtl="0" eaLnBrk="1" fontAlgn="auto" latinLnBrk="0" hangingPunct="1">
              <a:lnSpc>
                <a:spcPct val="90000"/>
              </a:lnSpc>
              <a:spcBef>
                <a:spcPts val="2215"/>
              </a:spcBef>
              <a:spcAft>
                <a:spcPts val="0"/>
              </a:spcAft>
              <a:buClrTx/>
              <a:buSzTx/>
              <a:buFontTx/>
              <a:buNone/>
              <a:tabLst/>
              <a:defRPr/>
            </a:pPr>
            <a:r>
              <a:rPr kumimoji="0" lang="en-US" sz="2954" b="0" i="0" u="none" strike="noStrike" kern="1200" cap="all" spc="0" normalizeH="0" baseline="0" noProof="0" dirty="0">
                <a:ln>
                  <a:noFill/>
                </a:ln>
                <a:solidFill>
                  <a:srgbClr val="0782BE"/>
                </a:solidFill>
                <a:effectLst/>
                <a:uLnTx/>
                <a:uFillTx/>
                <a:latin typeface="Segoe UI Light" panose="020B0502040204020203" pitchFamily="34" charset="0"/>
                <a:ea typeface="+mj-ea"/>
                <a:cs typeface="Segoe UI Light" panose="020B0502040204020203" pitchFamily="34" charset="0"/>
              </a:rPr>
              <a:t>UpSlide Table Of Content Master </a:t>
            </a:r>
          </a:p>
          <a:p>
            <a:pPr marL="0" marR="0" lvl="0" indent="0" algn="l" defTabSz="844104" rtl="0" eaLnBrk="1" fontAlgn="auto" latinLnBrk="0" hangingPunct="1">
              <a:lnSpc>
                <a:spcPct val="90000"/>
              </a:lnSpc>
              <a:spcBef>
                <a:spcPts val="2215"/>
              </a:spcBef>
              <a:spcAft>
                <a:spcPts val="0"/>
              </a:spcAft>
              <a:buClrTx/>
              <a:buSzTx/>
              <a:buFontTx/>
              <a:buNone/>
              <a:tabLst/>
              <a:defRPr/>
            </a:pPr>
            <a:r>
              <a:rPr kumimoji="0" lang="en-US" sz="3692" b="0" i="0" u="none" strike="noStrike" kern="1200" cap="all" spc="0" normalizeH="0" baseline="0" noProof="0" dirty="0">
                <a:ln>
                  <a:noFill/>
                </a:ln>
                <a:solidFill>
                  <a:srgbClr val="0782BE"/>
                </a:solidFill>
                <a:effectLst/>
                <a:uLnTx/>
                <a:uFillTx/>
                <a:latin typeface="Segoe UI Light" panose="020B0502040204020203" pitchFamily="34" charset="0"/>
                <a:ea typeface="+mj-ea"/>
                <a:cs typeface="Segoe UI Light" panose="020B0502040204020203" pitchFamily="34" charset="0"/>
              </a:rPr>
              <a:t>Do not edit</a:t>
            </a:r>
          </a:p>
          <a:p>
            <a:pPr marL="0" marR="0" lvl="0" indent="0" algn="l" defTabSz="844104" rtl="0" eaLnBrk="1" fontAlgn="auto" latinLnBrk="0" hangingPunct="1">
              <a:lnSpc>
                <a:spcPct val="90000"/>
              </a:lnSpc>
              <a:spcBef>
                <a:spcPts val="2215"/>
              </a:spcBef>
              <a:spcAft>
                <a:spcPts val="0"/>
              </a:spcAft>
              <a:buClrTx/>
              <a:buSzTx/>
              <a:buFontTx/>
              <a:buNone/>
              <a:tabLst/>
              <a:defRPr/>
            </a:pPr>
            <a:r>
              <a:rPr kumimoji="0" lang="en-US" sz="3692" b="0" i="0" u="none" strike="noStrike" kern="1200" cap="all" spc="0" normalizeH="0" baseline="0" noProof="0" dirty="0">
                <a:ln>
                  <a:noFill/>
                </a:ln>
                <a:solidFill>
                  <a:srgbClr val="0782BE"/>
                </a:solidFill>
                <a:effectLst/>
                <a:uLnTx/>
                <a:uFillTx/>
                <a:latin typeface="Segoe UI Light" panose="020B0502040204020203" pitchFamily="34" charset="0"/>
                <a:ea typeface="+mj-ea"/>
                <a:cs typeface="Segoe UI Light" panose="020B0502040204020203" pitchFamily="34" charset="0"/>
              </a:rPr>
              <a:t>Do not delete</a:t>
            </a:r>
          </a:p>
        </p:txBody>
      </p:sp>
      <p:pic>
        <p:nvPicPr>
          <p:cNvPr id="7" name="Picture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50926" y="260648"/>
            <a:ext cx="5133207" cy="3168352"/>
          </a:xfrm>
          <a:prstGeom prst="rect">
            <a:avLst/>
          </a:prstGeom>
        </p:spPr>
      </p:pic>
    </p:spTree>
    <p:extLst>
      <p:ext uri="{BB962C8B-B14F-4D97-AF65-F5344CB8AC3E}">
        <p14:creationId xmlns:p14="http://schemas.microsoft.com/office/powerpoint/2010/main" val="1835973981"/>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Lst>
  <p:hf hdr="0" ftr="0" dt="0"/>
  <p:txStyles>
    <p:titleStyle>
      <a:lvl1pPr algn="l" rtl="0" fontAlgn="base">
        <a:spcBef>
          <a:spcPct val="0"/>
        </a:spcBef>
        <a:spcAft>
          <a:spcPct val="0"/>
        </a:spcAft>
        <a:defRPr sz="2215" b="1" kern="1200">
          <a:solidFill>
            <a:srgbClr val="376092"/>
          </a:solidFill>
          <a:latin typeface="Garamond" pitchFamily="18" charset="0"/>
          <a:ea typeface="+mj-ea"/>
          <a:cs typeface="+mj-cs"/>
        </a:defRPr>
      </a:lvl1pPr>
      <a:lvl2pPr algn="l" rtl="0" fontAlgn="base">
        <a:spcBef>
          <a:spcPct val="0"/>
        </a:spcBef>
        <a:spcAft>
          <a:spcPct val="0"/>
        </a:spcAft>
        <a:defRPr sz="2215" b="1">
          <a:solidFill>
            <a:srgbClr val="376092"/>
          </a:solidFill>
          <a:latin typeface="Garamond" pitchFamily="18" charset="0"/>
        </a:defRPr>
      </a:lvl2pPr>
      <a:lvl3pPr algn="l" rtl="0" fontAlgn="base">
        <a:spcBef>
          <a:spcPct val="0"/>
        </a:spcBef>
        <a:spcAft>
          <a:spcPct val="0"/>
        </a:spcAft>
        <a:defRPr sz="2215" b="1">
          <a:solidFill>
            <a:srgbClr val="376092"/>
          </a:solidFill>
          <a:latin typeface="Garamond" pitchFamily="18" charset="0"/>
        </a:defRPr>
      </a:lvl3pPr>
      <a:lvl4pPr algn="l" rtl="0" fontAlgn="base">
        <a:spcBef>
          <a:spcPct val="0"/>
        </a:spcBef>
        <a:spcAft>
          <a:spcPct val="0"/>
        </a:spcAft>
        <a:defRPr sz="2215" b="1">
          <a:solidFill>
            <a:srgbClr val="376092"/>
          </a:solidFill>
          <a:latin typeface="Garamond" pitchFamily="18" charset="0"/>
        </a:defRPr>
      </a:lvl4pPr>
      <a:lvl5pPr algn="l" rtl="0" fontAlgn="base">
        <a:spcBef>
          <a:spcPct val="0"/>
        </a:spcBef>
        <a:spcAft>
          <a:spcPct val="0"/>
        </a:spcAft>
        <a:defRPr sz="2215" b="1">
          <a:solidFill>
            <a:srgbClr val="376092"/>
          </a:solidFill>
          <a:latin typeface="Garamond" pitchFamily="18" charset="0"/>
        </a:defRPr>
      </a:lvl5pPr>
      <a:lvl6pPr marL="422041" algn="l" rtl="0" fontAlgn="base">
        <a:spcBef>
          <a:spcPct val="0"/>
        </a:spcBef>
        <a:spcAft>
          <a:spcPct val="0"/>
        </a:spcAft>
        <a:defRPr sz="2215" b="1">
          <a:solidFill>
            <a:srgbClr val="376092"/>
          </a:solidFill>
          <a:latin typeface="Garamond" pitchFamily="18" charset="0"/>
        </a:defRPr>
      </a:lvl6pPr>
      <a:lvl7pPr marL="844083" algn="l" rtl="0" fontAlgn="base">
        <a:spcBef>
          <a:spcPct val="0"/>
        </a:spcBef>
        <a:spcAft>
          <a:spcPct val="0"/>
        </a:spcAft>
        <a:defRPr sz="2215" b="1">
          <a:solidFill>
            <a:srgbClr val="376092"/>
          </a:solidFill>
          <a:latin typeface="Garamond" pitchFamily="18" charset="0"/>
        </a:defRPr>
      </a:lvl7pPr>
      <a:lvl8pPr marL="1266124" algn="l" rtl="0" fontAlgn="base">
        <a:spcBef>
          <a:spcPct val="0"/>
        </a:spcBef>
        <a:spcAft>
          <a:spcPct val="0"/>
        </a:spcAft>
        <a:defRPr sz="2215" b="1">
          <a:solidFill>
            <a:srgbClr val="376092"/>
          </a:solidFill>
          <a:latin typeface="Garamond" pitchFamily="18" charset="0"/>
        </a:defRPr>
      </a:lvl8pPr>
      <a:lvl9pPr marL="1688165" algn="l" rtl="0" fontAlgn="base">
        <a:spcBef>
          <a:spcPct val="0"/>
        </a:spcBef>
        <a:spcAft>
          <a:spcPct val="0"/>
        </a:spcAft>
        <a:defRPr sz="2215" b="1">
          <a:solidFill>
            <a:srgbClr val="376092"/>
          </a:solidFill>
          <a:latin typeface="Garamond" pitchFamily="18" charset="0"/>
        </a:defRPr>
      </a:lvl9pPr>
    </p:titleStyle>
    <p:bodyStyle>
      <a:lvl1pPr algn="l" rtl="0" fontAlgn="base">
        <a:spcBef>
          <a:spcPct val="20000"/>
        </a:spcBef>
        <a:spcAft>
          <a:spcPct val="0"/>
        </a:spcAft>
        <a:buClr>
          <a:srgbClr val="376092"/>
        </a:buClr>
        <a:buSzPct val="80000"/>
        <a:defRPr lang="en-US" sz="1292" b="1" kern="1200" dirty="0">
          <a:solidFill>
            <a:srgbClr val="376092"/>
          </a:solidFill>
          <a:latin typeface="Garamond" pitchFamily="18" charset="0"/>
          <a:ea typeface="+mj-ea"/>
          <a:cs typeface="+mj-cs"/>
        </a:defRPr>
      </a:lvl1pPr>
      <a:lvl2pPr algn="l" rtl="0" fontAlgn="base">
        <a:spcBef>
          <a:spcPct val="20000"/>
        </a:spcBef>
        <a:spcAft>
          <a:spcPct val="0"/>
        </a:spcAft>
        <a:buClr>
          <a:srgbClr val="376092"/>
        </a:buClr>
        <a:buFont typeface="Arial" charset="0"/>
        <a:defRPr lang="en-US" sz="1292" kern="1200" dirty="0">
          <a:solidFill>
            <a:schemeClr val="tx1"/>
          </a:solidFill>
          <a:latin typeface="Garamond" pitchFamily="18" charset="0"/>
          <a:ea typeface="+mn-ea"/>
          <a:cs typeface="+mn-cs"/>
        </a:defRPr>
      </a:lvl2pPr>
      <a:lvl3pPr marL="244726" indent="-244726" algn="l" rtl="0" fontAlgn="base">
        <a:spcBef>
          <a:spcPct val="20000"/>
        </a:spcBef>
        <a:spcAft>
          <a:spcPct val="0"/>
        </a:spcAft>
        <a:buClr>
          <a:srgbClr val="376092"/>
        </a:buClr>
        <a:buBlip>
          <a:blip r:embed="rId7"/>
        </a:buBlip>
        <a:defRPr lang="en-US" sz="1292" kern="1200">
          <a:solidFill>
            <a:schemeClr val="tx1"/>
          </a:solidFill>
          <a:latin typeface="Garamond" pitchFamily="18" charset="0"/>
          <a:ea typeface="+mn-ea"/>
          <a:cs typeface="+mn-cs"/>
        </a:defRPr>
      </a:lvl3pPr>
      <a:lvl4pPr marL="411784" indent="-167058" algn="l" rtl="0" fontAlgn="base">
        <a:spcBef>
          <a:spcPct val="20000"/>
        </a:spcBef>
        <a:spcAft>
          <a:spcPct val="0"/>
        </a:spcAft>
        <a:buFont typeface="Arial" charset="0"/>
        <a:buChar char="–"/>
        <a:defRPr lang="en-US" sz="1292" kern="1200" dirty="0">
          <a:solidFill>
            <a:schemeClr val="tx1"/>
          </a:solidFill>
          <a:latin typeface="Garamond" pitchFamily="18" charset="0"/>
          <a:ea typeface="+mj-ea"/>
          <a:cs typeface="+mj-cs"/>
        </a:defRPr>
      </a:lvl4pPr>
      <a:lvl5pPr marL="578842" indent="-167058" algn="l" rtl="0" fontAlgn="base">
        <a:spcBef>
          <a:spcPct val="20000"/>
        </a:spcBef>
        <a:spcAft>
          <a:spcPct val="0"/>
        </a:spcAft>
        <a:buClr>
          <a:schemeClr val="tx2"/>
        </a:buClr>
        <a:buFont typeface="Arial" charset="0"/>
        <a:buChar char="•"/>
        <a:defRPr lang="en-US" sz="1292" kern="1200" dirty="0">
          <a:solidFill>
            <a:schemeClr val="tx1"/>
          </a:solidFill>
          <a:latin typeface="Garamond" pitchFamily="18" charset="0"/>
          <a:ea typeface="+mj-ea"/>
          <a:cs typeface="+mj-cs"/>
        </a:defRPr>
      </a:lvl5pPr>
      <a:lvl6pPr marL="578842" marR="0" indent="167058" algn="l" defTabSz="844083" rtl="0" eaLnBrk="1" fontAlgn="auto" latinLnBrk="0" hangingPunct="1">
        <a:lnSpc>
          <a:spcPct val="100000"/>
        </a:lnSpc>
        <a:spcBef>
          <a:spcPct val="20000"/>
        </a:spcBef>
        <a:spcAft>
          <a:spcPts val="0"/>
        </a:spcAft>
        <a:buClr>
          <a:schemeClr val="tx2"/>
        </a:buClr>
        <a:buSzTx/>
        <a:buFont typeface="Garamond" pitchFamily="18" charset="0"/>
        <a:buChar char="−"/>
        <a:tabLst/>
        <a:defRPr lang="en-US" sz="1292" kern="1200" dirty="0" smtClean="0">
          <a:solidFill>
            <a:schemeClr val="tx1"/>
          </a:solidFill>
          <a:latin typeface="+mn-lt"/>
          <a:ea typeface="+mn-ea"/>
          <a:cs typeface="+mn-cs"/>
        </a:defRPr>
      </a:lvl6pPr>
      <a:lvl7pPr marL="912958" marR="0" indent="-167058" algn="l" defTabSz="844083" rtl="0" eaLnBrk="1" fontAlgn="auto" latinLnBrk="0" hangingPunct="1">
        <a:lnSpc>
          <a:spcPct val="100000"/>
        </a:lnSpc>
        <a:spcBef>
          <a:spcPct val="20000"/>
        </a:spcBef>
        <a:spcAft>
          <a:spcPts val="0"/>
        </a:spcAft>
        <a:buClr>
          <a:schemeClr val="tx2"/>
        </a:buClr>
        <a:buSzTx/>
        <a:buFont typeface="Garamond" pitchFamily="18" charset="0"/>
        <a:buChar char="−"/>
        <a:tabLst/>
        <a:defRPr lang="en-US" sz="1292" kern="1200" baseline="0" dirty="0" smtClean="0">
          <a:solidFill>
            <a:schemeClr val="tx1"/>
          </a:solidFill>
          <a:latin typeface="Garamond" pitchFamily="18" charset="0"/>
          <a:ea typeface="+mn-ea"/>
          <a:cs typeface="+mn-cs"/>
        </a:defRPr>
      </a:lvl7pPr>
      <a:lvl8pPr marL="1080016" indent="-167058" algn="l" defTabSz="844083" rtl="0" eaLnBrk="1" latinLnBrk="0" hangingPunct="1">
        <a:spcBef>
          <a:spcPct val="20000"/>
        </a:spcBef>
        <a:buFont typeface="Garamond" pitchFamily="18" charset="0"/>
        <a:buChar char="−"/>
        <a:defRPr lang="en-US" sz="1292" kern="1200" baseline="0" dirty="0" smtClean="0">
          <a:solidFill>
            <a:schemeClr val="tx1"/>
          </a:solidFill>
          <a:latin typeface="Garamond" pitchFamily="18" charset="0"/>
          <a:ea typeface="+mn-ea"/>
          <a:cs typeface="+mn-cs"/>
        </a:defRPr>
      </a:lvl8pPr>
      <a:lvl9pPr marL="1236816" indent="-156801" algn="l" defTabSz="844083" rtl="0" eaLnBrk="1" latinLnBrk="0" hangingPunct="1">
        <a:spcBef>
          <a:spcPct val="20000"/>
        </a:spcBef>
        <a:buFont typeface="Garamond" pitchFamily="18" charset="0"/>
        <a:buChar char="−"/>
        <a:defRPr lang="en-US" sz="1292" kern="1200" baseline="0" dirty="0" smtClean="0">
          <a:solidFill>
            <a:schemeClr val="tx1"/>
          </a:solidFill>
          <a:latin typeface="Garamond" pitchFamily="18" charset="0"/>
          <a:ea typeface="+mn-ea"/>
          <a:cs typeface="+mn-cs"/>
        </a:defRPr>
      </a:lvl9pPr>
    </p:bodyStyle>
    <p:otherStyle>
      <a:defPPr>
        <a:defRPr lang="en-US"/>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2.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tags" Target="../tags/tag47.xml"/><Relationship Id="rId7" Type="http://schemas.openxmlformats.org/officeDocument/2006/relationships/oleObject" Target="../embeddings/oleObject15.bin"/><Relationship Id="rId2" Type="http://schemas.openxmlformats.org/officeDocument/2006/relationships/tags" Target="../tags/tag46.xml"/><Relationship Id="rId1" Type="http://schemas.openxmlformats.org/officeDocument/2006/relationships/vmlDrawing" Target="../drawings/vmlDrawing15.vml"/><Relationship Id="rId6" Type="http://schemas.openxmlformats.org/officeDocument/2006/relationships/notesSlide" Target="../notesSlides/notesSlide2.xml"/><Relationship Id="rId5" Type="http://schemas.openxmlformats.org/officeDocument/2006/relationships/slideLayout" Target="../slideLayouts/slideLayout13.xml"/><Relationship Id="rId4" Type="http://schemas.openxmlformats.org/officeDocument/2006/relationships/tags" Target="../tags/tag4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4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8.xml"/><Relationship Id="rId1" Type="http://schemas.openxmlformats.org/officeDocument/2006/relationships/tags" Target="../tags/tag5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5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12.emf"/><Relationship Id="rId5" Type="http://schemas.openxmlformats.org/officeDocument/2006/relationships/notesSlide" Target="../notesSlides/notesSlide6.xml"/><Relationship Id="rId4"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image" Target="../media/image13.emf"/><Relationship Id="rId2" Type="http://schemas.openxmlformats.org/officeDocument/2006/relationships/tags" Target="../tags/tag61.xml"/><Relationship Id="rId1" Type="http://schemas.openxmlformats.org/officeDocument/2006/relationships/vmlDrawing" Target="../drawings/vmlDrawing16.vml"/><Relationship Id="rId6" Type="http://schemas.openxmlformats.org/officeDocument/2006/relationships/tags" Target="../tags/tag65.xml"/><Relationship Id="rId11" Type="http://schemas.openxmlformats.org/officeDocument/2006/relationships/image" Target="../media/image6.emf"/><Relationship Id="rId5" Type="http://schemas.openxmlformats.org/officeDocument/2006/relationships/tags" Target="../tags/tag64.xml"/><Relationship Id="rId10" Type="http://schemas.openxmlformats.org/officeDocument/2006/relationships/oleObject" Target="../embeddings/oleObject16.bin"/><Relationship Id="rId4" Type="http://schemas.openxmlformats.org/officeDocument/2006/relationships/tags" Target="../tags/tag63.xml"/><Relationship Id="rId9"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image" Target="../media/image14.emf"/><Relationship Id="rId2" Type="http://schemas.openxmlformats.org/officeDocument/2006/relationships/tags" Target="../tags/tag67.xml"/><Relationship Id="rId1" Type="http://schemas.openxmlformats.org/officeDocument/2006/relationships/vmlDrawing" Target="../drawings/vmlDrawing17.vml"/><Relationship Id="rId6" Type="http://schemas.openxmlformats.org/officeDocument/2006/relationships/tags" Target="../tags/tag71.xml"/><Relationship Id="rId11" Type="http://schemas.openxmlformats.org/officeDocument/2006/relationships/image" Target="../media/image6.emf"/><Relationship Id="rId5" Type="http://schemas.openxmlformats.org/officeDocument/2006/relationships/tags" Target="../tags/tag70.xml"/><Relationship Id="rId10" Type="http://schemas.openxmlformats.org/officeDocument/2006/relationships/oleObject" Target="../embeddings/oleObject17.bin"/><Relationship Id="rId4" Type="http://schemas.openxmlformats.org/officeDocument/2006/relationships/tags" Target="../tags/tag69.xml"/><Relationship Id="rId9"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3.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tags" Target="../tags/tag75.xml"/><Relationship Id="rId7" Type="http://schemas.openxmlformats.org/officeDocument/2006/relationships/notesSlide" Target="../notesSlides/notesSlide9.xml"/><Relationship Id="rId2" Type="http://schemas.openxmlformats.org/officeDocument/2006/relationships/tags" Target="../tags/tag74.xml"/><Relationship Id="rId1" Type="http://schemas.openxmlformats.org/officeDocument/2006/relationships/vmlDrawing" Target="../drawings/vmlDrawing18.vml"/><Relationship Id="rId6" Type="http://schemas.openxmlformats.org/officeDocument/2006/relationships/slideLayout" Target="../slideLayouts/slideLayout12.xml"/><Relationship Id="rId5" Type="http://schemas.openxmlformats.org/officeDocument/2006/relationships/tags" Target="../tags/tag77.xml"/><Relationship Id="rId10" Type="http://schemas.openxmlformats.org/officeDocument/2006/relationships/image" Target="../media/image15.emf"/><Relationship Id="rId4" Type="http://schemas.openxmlformats.org/officeDocument/2006/relationships/tags" Target="../tags/tag76.xml"/><Relationship Id="rId9" Type="http://schemas.openxmlformats.org/officeDocument/2006/relationships/image" Target="../media/image6.emf"/></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79.xml"/><Relationship Id="rId1" Type="http://schemas.openxmlformats.org/officeDocument/2006/relationships/tags" Target="../tags/tag78.xml"/><Relationship Id="rId4" Type="http://schemas.openxmlformats.org/officeDocument/2006/relationships/image" Target="../media/image16.emf"/></Relationships>
</file>

<file path=ppt/slides/_rels/slide15.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image" Target="../media/image18.emf"/><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7.emf"/><Relationship Id="rId5" Type="http://schemas.openxmlformats.org/officeDocument/2006/relationships/slideLayout" Target="../slideLayouts/slideLayout15.xml"/><Relationship Id="rId4" Type="http://schemas.openxmlformats.org/officeDocument/2006/relationships/tags" Target="../tags/tag8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image" Target="../media/image17.emf"/><Relationship Id="rId4" Type="http://schemas.openxmlformats.org/officeDocument/2006/relationships/image" Target="../media/image19.emf"/></Relationships>
</file>

<file path=ppt/slides/_rels/slide17.xml.rels><?xml version="1.0" encoding="UTF-8" standalone="yes"?>
<Relationships xmlns="http://schemas.openxmlformats.org/package/2006/relationships"><Relationship Id="rId3" Type="http://schemas.openxmlformats.org/officeDocument/2006/relationships/tags" Target="../tags/tag88.xml"/><Relationship Id="rId7" Type="http://schemas.openxmlformats.org/officeDocument/2006/relationships/image" Target="../media/image21.emf"/><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20.emf"/><Relationship Id="rId5" Type="http://schemas.openxmlformats.org/officeDocument/2006/relationships/slideLayout" Target="../slideLayouts/slideLayout15.xml"/><Relationship Id="rId4" Type="http://schemas.openxmlformats.org/officeDocument/2006/relationships/tags" Target="../tags/tag89.xml"/></Relationships>
</file>

<file path=ppt/slides/_rels/slide18.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21.emf"/><Relationship Id="rId5" Type="http://schemas.openxmlformats.org/officeDocument/2006/relationships/image" Target="../media/image22.emf"/><Relationship Id="rId4"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94.xml"/><Relationship Id="rId1" Type="http://schemas.openxmlformats.org/officeDocument/2006/relationships/tags" Target="../tags/tag93.xml"/><Relationship Id="rId4" Type="http://schemas.openxmlformats.org/officeDocument/2006/relationships/image" Target="../media/image21.emf"/></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96.xml"/><Relationship Id="rId1" Type="http://schemas.openxmlformats.org/officeDocument/2006/relationships/tags" Target="../tags/tag95.xml"/><Relationship Id="rId5" Type="http://schemas.openxmlformats.org/officeDocument/2006/relationships/comments" Target="../comments/comment1.xml"/><Relationship Id="rId4" Type="http://schemas.openxmlformats.org/officeDocument/2006/relationships/image" Target="../media/image23.emf"/></Relationships>
</file>

<file path=ppt/slides/_rels/slide21.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25.emf"/><Relationship Id="rId5" Type="http://schemas.openxmlformats.org/officeDocument/2006/relationships/image" Target="../media/image26.emf"/><Relationship Id="rId4"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5" Type="http://schemas.openxmlformats.org/officeDocument/2006/relationships/image" Target="../media/image27.emf"/><Relationship Id="rId4"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06.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29.emf"/><Relationship Id="rId3" Type="http://schemas.openxmlformats.org/officeDocument/2006/relationships/tags" Target="../tags/tag108.xml"/><Relationship Id="rId7" Type="http://schemas.openxmlformats.org/officeDocument/2006/relationships/tags" Target="../tags/tag112.xml"/><Relationship Id="rId12" Type="http://schemas.openxmlformats.org/officeDocument/2006/relationships/image" Target="../media/image28.emf"/><Relationship Id="rId2" Type="http://schemas.openxmlformats.org/officeDocument/2006/relationships/tags" Target="../tags/tag107.xml"/><Relationship Id="rId1" Type="http://schemas.openxmlformats.org/officeDocument/2006/relationships/vmlDrawing" Target="../drawings/vmlDrawing19.vml"/><Relationship Id="rId6" Type="http://schemas.openxmlformats.org/officeDocument/2006/relationships/tags" Target="../tags/tag111.xml"/><Relationship Id="rId11" Type="http://schemas.openxmlformats.org/officeDocument/2006/relationships/image" Target="../media/image6.emf"/><Relationship Id="rId5" Type="http://schemas.openxmlformats.org/officeDocument/2006/relationships/tags" Target="../tags/tag110.xml"/><Relationship Id="rId10" Type="http://schemas.openxmlformats.org/officeDocument/2006/relationships/oleObject" Target="../embeddings/oleObject19.bin"/><Relationship Id="rId4" Type="http://schemas.openxmlformats.org/officeDocument/2006/relationships/tags" Target="../tags/tag109.xml"/><Relationship Id="rId9"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comments" Target="../comments/comment2.xml"/><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image" Target="../media/image33.emf"/><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image" Target="../media/image32.emf"/><Relationship Id="rId5" Type="http://schemas.openxmlformats.org/officeDocument/2006/relationships/tags" Target="../tags/tag117.xml"/><Relationship Id="rId10" Type="http://schemas.openxmlformats.org/officeDocument/2006/relationships/image" Target="../media/image31.emf"/><Relationship Id="rId4" Type="http://schemas.openxmlformats.org/officeDocument/2006/relationships/tags" Target="../tags/tag116.xml"/><Relationship Id="rId9" Type="http://schemas.openxmlformats.org/officeDocument/2006/relationships/image" Target="../media/image30.emf"/></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20.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6.xml"/><Relationship Id="rId1" Type="http://schemas.openxmlformats.org/officeDocument/2006/relationships/tags" Target="../tags/tag12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7.xml"/><Relationship Id="rId1" Type="http://schemas.openxmlformats.org/officeDocument/2006/relationships/tags" Target="../tags/tag122.xml"/></Relationships>
</file>

<file path=ppt/slides/_rels/slide30.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image" Target="../media/image35.emf"/><Relationship Id="rId5" Type="http://schemas.openxmlformats.org/officeDocument/2006/relationships/image" Target="../media/image34.emf"/><Relationship Id="rId4"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image" Target="../media/image39.emf"/><Relationship Id="rId5" Type="http://schemas.openxmlformats.org/officeDocument/2006/relationships/image" Target="../media/image38.emf"/><Relationship Id="rId4" Type="http://schemas.openxmlformats.org/officeDocument/2006/relationships/slideLayout" Target="../slideLayouts/slideLayout4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tags" Target="../tags/tag133.xml"/><Relationship Id="rId1" Type="http://schemas.openxmlformats.org/officeDocument/2006/relationships/tags" Target="../tags/tag132.xml"/><Relationship Id="rId4" Type="http://schemas.openxmlformats.org/officeDocument/2006/relationships/image" Target="../media/image40.emf"/></Relationships>
</file>

<file path=ppt/slides/_rels/slide34.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slideLayout" Target="../slideLayouts/slideLayout41.xml"/><Relationship Id="rId1" Type="http://schemas.openxmlformats.org/officeDocument/2006/relationships/tags" Target="../tags/tag134.xml"/></Relationships>
</file>

<file path=ppt/slides/_rels/slide35.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slideLayout" Target="../slideLayouts/slideLayout41.xml"/><Relationship Id="rId1" Type="http://schemas.openxmlformats.org/officeDocument/2006/relationships/tags" Target="../tags/tag135.xml"/><Relationship Id="rId4" Type="http://schemas.openxmlformats.org/officeDocument/2006/relationships/comments" Target="../comments/commen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3.xml"/><Relationship Id="rId1" Type="http://schemas.openxmlformats.org/officeDocument/2006/relationships/tags" Target="../tags/tag1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064100" y="1408332"/>
            <a:ext cx="5813325" cy="3434000"/>
          </a:xfrm>
        </p:spPr>
        <p:txBody>
          <a:bodyPr/>
          <a:lstStyle/>
          <a:p>
            <a:r>
              <a:rPr lang="en-CA" sz="9600" dirty="0"/>
              <a:t>Project Green</a:t>
            </a:r>
            <a:endParaRPr lang="en-CA" noProof="0" dirty="0"/>
          </a:p>
        </p:txBody>
      </p:sp>
      <p:sp>
        <p:nvSpPr>
          <p:cNvPr id="6"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sp>
        <p:nvSpPr>
          <p:cNvPr id="8" name="Subtitle 4"/>
          <p:cNvSpPr txBox="1">
            <a:spLocks/>
          </p:cNvSpPr>
          <p:nvPr/>
        </p:nvSpPr>
        <p:spPr bwMode="gray">
          <a:xfrm>
            <a:off x="2064100" y="3645488"/>
            <a:ext cx="6172700" cy="914441"/>
          </a:xfrm>
          <a:prstGeom prst="rect">
            <a:avLst/>
          </a:prstGeom>
        </p:spPr>
        <p:txBody>
          <a:bodyPr vert="horz" lIns="0" tIns="0" rIns="0" bIns="0" rtlCol="0">
            <a:noAutofit/>
          </a:bodyPr>
          <a:lstStyle>
            <a:lvl1pPr algn="l" eaLnBrk="1" hangingPunct="1">
              <a:spcBef>
                <a:spcPts val="900"/>
              </a:spcBef>
              <a:spcAft>
                <a:spcPts val="0"/>
              </a:spcAft>
              <a:defRPr sz="1100" b="1" i="0">
                <a:solidFill>
                  <a:schemeClr val="tx2"/>
                </a:solidFill>
                <a:latin typeface="Univers for KPMG" panose="020B0603020202020204" pitchFamily="34" charset="0"/>
                <a:cs typeface="Arial" panose="020B0604020202020204" pitchFamily="34" charset="0"/>
              </a:defRPr>
            </a:lvl1pPr>
            <a:lvl2pPr marL="0" indent="0" algn="l" eaLnBrk="1" hangingPunct="1">
              <a:spcBef>
                <a:spcPts val="600"/>
              </a:spcBef>
              <a:spcAft>
                <a:spcPts val="0"/>
              </a:spcAft>
              <a:buFont typeface="Univers for KPMG"/>
              <a:buNone/>
              <a:defRPr sz="1100" b="0" i="0">
                <a:solidFill>
                  <a:schemeClr val="bg1"/>
                </a:solidFill>
                <a:latin typeface="+mn-lt"/>
                <a:cs typeface="Arial" panose="020B0604020202020204" pitchFamily="34" charset="0"/>
              </a:defRPr>
            </a:lvl2pPr>
            <a:lvl3pPr marL="270000" indent="-270000" algn="l" eaLnBrk="1" hangingPunct="1">
              <a:spcBef>
                <a:spcPts val="300"/>
              </a:spcBef>
              <a:spcAft>
                <a:spcPts val="0"/>
              </a:spcAft>
              <a:buClr>
                <a:schemeClr val="bg1"/>
              </a:buClr>
              <a:buFont typeface="Univers for KPMG Light" panose="020B0403020202020204" pitchFamily="34" charset="0"/>
              <a:buChar char="—"/>
              <a:defRPr sz="1100" b="0" i="0">
                <a:solidFill>
                  <a:schemeClr val="bg1"/>
                </a:solidFill>
                <a:latin typeface="+mn-lt"/>
                <a:cs typeface="Arial" panose="020B0604020202020204" pitchFamily="34" charset="0"/>
              </a:defRPr>
            </a:lvl3pPr>
            <a:lvl4pPr marL="630000" indent="-270000" algn="l" eaLnBrk="1" hangingPunct="1">
              <a:spcBef>
                <a:spcPts val="200"/>
              </a:spcBef>
              <a:spcAft>
                <a:spcPts val="0"/>
              </a:spcAft>
              <a:buClr>
                <a:schemeClr val="bg1"/>
              </a:buClr>
              <a:buFont typeface="Univers for KPMG Light" panose="020B0403020202020204" pitchFamily="34" charset="0"/>
              <a:buChar char="—"/>
              <a:defRPr lang="en-US" sz="1100" b="0" i="0">
                <a:solidFill>
                  <a:schemeClr val="bg1"/>
                </a:solidFill>
                <a:latin typeface="+mn-lt"/>
                <a:cs typeface="Arial" panose="020B0604020202020204" pitchFamily="34" charset="0"/>
              </a:defRPr>
            </a:lvl4pPr>
            <a:lvl5pPr marL="990000" indent="-270000" algn="l" eaLnBrk="1" hangingPunct="1">
              <a:spcBef>
                <a:spcPts val="200"/>
              </a:spcBef>
              <a:spcAft>
                <a:spcPts val="0"/>
              </a:spcAft>
              <a:buClr>
                <a:schemeClr val="bg1"/>
              </a:buClr>
              <a:buFont typeface="Univers for KPMG Light" panose="020B0403020202020204" pitchFamily="34" charset="0"/>
              <a:buChar char="—"/>
              <a:defRPr lang="en-CA" sz="1100" b="0" i="0">
                <a:solidFill>
                  <a:schemeClr val="bg1"/>
                </a:solidFill>
                <a:latin typeface="+mn-lt"/>
                <a:cs typeface="Arial" panose="020B0604020202020204" pitchFamily="34" charset="0"/>
              </a:defRPr>
            </a:lvl5pPr>
            <a:lvl6pPr marL="1166813"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6pPr>
            <a:lvl7pPr marL="1524000"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7pPr>
            <a:lvl8pPr marL="1881188" indent="-248400" algn="l" eaLnBrk="1" hangingPunct="1">
              <a:spcAft>
                <a:spcPts val="600"/>
              </a:spcAft>
              <a:buFont typeface="Univers for KPMG Light" panose="020B0403020202020204" pitchFamily="34" charset="0"/>
              <a:buChar char="-"/>
              <a:defRPr lang="en-US" sz="1400" b="0" i="0" baseline="0" dirty="0" smtClean="0">
                <a:solidFill>
                  <a:srgbClr val="003087"/>
                </a:solidFill>
                <a:latin typeface="Univers for KPMG Light" panose="020B0403020202020204" pitchFamily="34" charset="0"/>
              </a:defRPr>
            </a:lvl8pPr>
            <a:lvl9pPr marL="2238375" indent="-309600" algn="l" eaLnBrk="1" hangingPunct="1">
              <a:spcAft>
                <a:spcPts val="600"/>
              </a:spcAft>
              <a:buFont typeface="Univers for KPMG Light" panose="020B0403020202020204" pitchFamily="34" charset="0"/>
              <a:buChar char="—"/>
              <a:defRPr lang="en-US" sz="1400" b="0" i="0" dirty="0" smtClean="0">
                <a:solidFill>
                  <a:srgbClr val="003087"/>
                </a:solidFill>
                <a:latin typeface="Univers for KPMG Light" panose="020B0403020202020204" pitchFamily="34" charset="0"/>
              </a:defRPr>
            </a:lvl9pPr>
          </a:lstStyle>
          <a:p>
            <a:pPr defTabSz="914400"/>
            <a:r>
              <a:rPr lang="en-GB" sz="1200" kern="0" dirty="0">
                <a:solidFill>
                  <a:schemeClr val="bg1"/>
                </a:solidFill>
              </a:rPr>
              <a:t>Due diligence assistance</a:t>
            </a:r>
          </a:p>
          <a:p>
            <a:pPr defTabSz="914400"/>
            <a:r>
              <a:rPr lang="en-GB" sz="1200" kern="0" dirty="0">
                <a:solidFill>
                  <a:schemeClr val="bg1"/>
                </a:solidFill>
              </a:rPr>
              <a:t>Deal Advisory</a:t>
            </a:r>
          </a:p>
          <a:p>
            <a:pPr defTabSz="914400"/>
            <a:r>
              <a:rPr lang="en-CA" sz="1200" dirty="0">
                <a:solidFill>
                  <a:schemeClr val="bg1"/>
                </a:solidFill>
              </a:rPr>
              <a:t>DRAFT</a:t>
            </a:r>
          </a:p>
          <a:p>
            <a:pPr lvl="1" defTabSz="914400"/>
            <a:r>
              <a:rPr lang="en-GB" sz="1200" kern="0" dirty="0" smtClean="0">
                <a:latin typeface="Univers for KPMG" panose="020B0603020202020204" pitchFamily="34" charset="0"/>
              </a:rPr>
              <a:t>March 3, </a:t>
            </a:r>
            <a:r>
              <a:rPr lang="en-GB" sz="1200" kern="0" dirty="0">
                <a:latin typeface="Univers for KPMG" panose="020B0603020202020204" pitchFamily="34" charset="0"/>
              </a:rPr>
              <a:t>2020</a:t>
            </a:r>
          </a:p>
        </p:txBody>
      </p:sp>
    </p:spTree>
    <p:extLst>
      <p:ext uri="{BB962C8B-B14F-4D97-AF65-F5344CB8AC3E}">
        <p14:creationId xmlns:p14="http://schemas.microsoft.com/office/powerpoint/2010/main" val="4382896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extLst>
              <p:ext uri="{D42A27DB-BD31-4B8C-83A1-F6EECF244321}">
                <p14:modId xmlns:p14="http://schemas.microsoft.com/office/powerpoint/2010/main" val="3512285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896" name="think-cell Slide" r:id="rId7" imgW="498" imgH="499" progId="TCLayout.ActiveDocument.1">
                  <p:embed/>
                </p:oleObj>
              </mc:Choice>
              <mc:Fallback>
                <p:oleObj name="think-cell Slide" r:id="rId7" imgW="498" imgH="499"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7" name="Rectangle 6"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nSpc>
                <a:spcPct val="70000"/>
              </a:lnSpc>
              <a:spcBef>
                <a:spcPct val="0"/>
              </a:spcBef>
              <a:spcAft>
                <a:spcPct val="0"/>
              </a:spcAft>
            </a:pPr>
            <a:endParaRPr lang="en-CA" sz="38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2" name="Title 1"/>
          <p:cNvSpPr>
            <a:spLocks noGrp="1"/>
          </p:cNvSpPr>
          <p:nvPr>
            <p:ph type="title"/>
          </p:nvPr>
        </p:nvSpPr>
        <p:spPr/>
        <p:txBody>
          <a:bodyPr/>
          <a:lstStyle/>
          <a:p>
            <a:r>
              <a:rPr lang="en-CA" noProof="0" dirty="0"/>
              <a:t>Important notice</a:t>
            </a:r>
          </a:p>
        </p:txBody>
      </p:sp>
      <p:sp>
        <p:nvSpPr>
          <p:cNvPr id="6" name="Text Placeholder 2"/>
          <p:cNvSpPr>
            <a:spLocks noGrp="1"/>
          </p:cNvSpPr>
          <p:nvPr>
            <p:ph type="body" sz="quarter" idx="4294967295"/>
          </p:nvPr>
        </p:nvSpPr>
        <p:spPr>
          <a:xfrm>
            <a:off x="431800" y="1071000"/>
            <a:ext cx="8280400" cy="4644000"/>
          </a:xfrm>
          <a:prstGeom prst="rect">
            <a:avLst/>
          </a:prstGeom>
          <a:noFill/>
          <a:ln>
            <a:noFill/>
          </a:ln>
        </p:spPr>
        <p:txBody>
          <a:bodyPr lIns="0" tIns="0" rIns="0" bIns="0"/>
          <a:lstStyle/>
          <a:p>
            <a:pPr lvl="0" algn="just">
              <a:spcBef>
                <a:spcPts val="600"/>
              </a:spcBef>
            </a:pPr>
            <a:r>
              <a:rPr lang="en-US" sz="1000" b="0" dirty="0"/>
              <a:t>This report is provided to Caregiver, Inc. (“Client”) on a confidential basis pursuant to our engagement </a:t>
            </a:r>
            <a:r>
              <a:rPr lang="en-US" sz="1000" b="0" dirty="0">
                <a:solidFill>
                  <a:srgbClr val="00338D"/>
                </a:solidFill>
              </a:rPr>
              <a:t>letter dated September 26, 2020 </a:t>
            </a:r>
            <a:r>
              <a:rPr lang="en-US" sz="1000" b="0" dirty="0"/>
              <a:t>(“Engagement Agreement”) and is subject in all respects to the terms and conditions of the Engagement Agreement, including restrictions on use of this report by third parties. </a:t>
            </a:r>
          </a:p>
          <a:p>
            <a:pPr lvl="0" algn="just">
              <a:spcBef>
                <a:spcPts val="600"/>
              </a:spcBef>
            </a:pPr>
            <a:r>
              <a:rPr lang="en-US" sz="1000" b="0" dirty="0"/>
              <a:t>If this report is received by any party other than Client, the recipient is placed on notice that this report has been prepared solely for Client’s benefit and its own use. KPMG LLP (“KPMG”) does not authorize recipient or any other party to rely on this report and any such reliance shall be at recipient’s sole risk. Therefore, KPMG shall have no liability or responsibility in respect of the advice, recommendations, or other information in this report to recipient or any other party other than the Client. Further, this report and its contents may not be shared with or disclosed by the recipient to any party without the express written consent of the Client and KPMG.</a:t>
            </a:r>
          </a:p>
          <a:p>
            <a:pPr lvl="0" algn="just">
              <a:spcBef>
                <a:spcPts val="600"/>
              </a:spcBef>
            </a:pPr>
            <a:endParaRPr lang="en-US" sz="1000" b="0" dirty="0"/>
          </a:p>
        </p:txBody>
      </p:sp>
      <p:sp>
        <p:nvSpPr>
          <p:cNvPr id="9" name="ZoneTexte 11">
            <a:extLst>
              <a:ext uri="{FF2B5EF4-FFF2-40B4-BE49-F238E27FC236}">
                <a16:creationId xmlns="" xmlns:a16="http://schemas.microsoft.com/office/drawing/2014/main" id="{A3A96B79-9A6D-4A5A-99B1-DE73E3871431}"/>
              </a:ext>
            </a:extLst>
          </p:cNvPr>
          <p:cNvSpPr txBox="1">
            <a:spLocks/>
          </p:cNvSpPr>
          <p:nvPr>
            <p:custDataLst>
              <p:tags r:id="rId4"/>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spTree>
    <p:extLst>
      <p:ext uri="{BB962C8B-B14F-4D97-AF65-F5344CB8AC3E}">
        <p14:creationId xmlns:p14="http://schemas.microsoft.com/office/powerpoint/2010/main" val="25821282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8"/>
          <p:cNvSpPr>
            <a:spLocks noGrp="1"/>
          </p:cNvSpPr>
          <p:nvPr>
            <p:ph type="body" sz="quarter" idx="4294967295"/>
          </p:nvPr>
        </p:nvSpPr>
        <p:spPr>
          <a:xfrm>
            <a:off x="4643438" y="1217564"/>
            <a:ext cx="4060947" cy="4031873"/>
          </a:xfrm>
          <a:prstGeom prst="rect">
            <a:avLst/>
          </a:prstGeom>
        </p:spPr>
        <p:txBody>
          <a:bodyPr lIns="0" tIns="0" rIns="0" bIns="0"/>
          <a:lstStyle/>
          <a:p>
            <a:pPr lvl="0" algn="just"/>
            <a:r>
              <a:rPr lang="en-US" sz="800" b="0" dirty="0">
                <a:solidFill>
                  <a:srgbClr val="00338D"/>
                </a:solidFill>
              </a:rPr>
              <a:t>The procedures we performed do not constitute an audit, examination or review in accordance with standards established by the Auditing and Assurance Standards Board (“AASB”) in Canada, and we have not otherwise verified the information we obtained or presented in this report. We express no opinion or any other form of assurance on Target’s internal control over financial reporting or on the information presented in our report, and make no representations concerning its accuracy or completeness.</a:t>
            </a:r>
          </a:p>
          <a:p>
            <a:pPr lvl="0" algn="just"/>
            <a:r>
              <a:rPr lang="en-US" sz="800" b="0" dirty="0">
                <a:solidFill>
                  <a:srgbClr val="00338D"/>
                </a:solidFill>
              </a:rPr>
              <a:t>We have not compiled, examined, or applied other procedures in accordance with the Assurance and Related Services Guidelines issued by the AASB to prospective information contained in this document and, accordingly, express no opinion or any other form of assurance or representations concerning the accuracy, completeness or presentation format of such prospective information. There will usually be differences between projected and actual results, because events and circumstances frequently do not occur as expected, and those differences may be material.</a:t>
            </a:r>
          </a:p>
          <a:p>
            <a:pPr lvl="0" algn="just"/>
            <a:r>
              <a:rPr lang="en-US" sz="800" b="0" dirty="0">
                <a:solidFill>
                  <a:srgbClr val="00338D"/>
                </a:solidFill>
              </a:rPr>
              <a:t>The data included in this report was obtained from you and/or Target from September 26, </a:t>
            </a:r>
            <a:r>
              <a:rPr lang="en-US" sz="800" b="0" dirty="0" smtClean="0">
                <a:solidFill>
                  <a:srgbClr val="00338D"/>
                </a:solidFill>
              </a:rPr>
              <a:t>2019 to March 3, 2020, </a:t>
            </a:r>
            <a:r>
              <a:rPr lang="en-US" sz="800" b="0" dirty="0">
                <a:solidFill>
                  <a:srgbClr val="00338D"/>
                </a:solidFill>
              </a:rPr>
              <a:t>inclusive. Since many aspects of the transaction with Target have either not been finalized or are not yet documented, changes may occur that materially affect the financial and other information we received and reported to you. We have no obligation to update our report or to revise the information contained herein to reflect events and transactions occurring </a:t>
            </a:r>
            <a:r>
              <a:rPr lang="en-US" sz="800" b="0" dirty="0" smtClean="0">
                <a:solidFill>
                  <a:srgbClr val="00338D"/>
                </a:solidFill>
              </a:rPr>
              <a:t>subsequent to March 3, 2020. </a:t>
            </a:r>
            <a:r>
              <a:rPr lang="en-US" sz="800" b="0" dirty="0">
                <a:solidFill>
                  <a:srgbClr val="00338D"/>
                </a:solidFill>
              </a:rPr>
              <a:t>We have not reviewed this report with Target Management for the purpose of confirming the factual accuracy of the information we presented.</a:t>
            </a:r>
          </a:p>
          <a:p>
            <a:pPr lvl="0" algn="just"/>
            <a:r>
              <a:rPr lang="en-US" sz="800" b="0" dirty="0">
                <a:solidFill>
                  <a:srgbClr val="00338D"/>
                </a:solidFill>
              </a:rPr>
              <a:t>Because of its special nature, this report is not suited for any purpose other than to assist Client in its evaluation of Target and, as such and as agreed in the engagement letter, is restricted for your internal use only. Accordingly, KPMG does not accept any liability or responsibility to any third party who may use or place reliance on our report.</a:t>
            </a:r>
          </a:p>
          <a:p>
            <a:pPr lvl="0" algn="just"/>
            <a:r>
              <a:rPr lang="en-US" sz="800" b="0" dirty="0">
                <a:solidFill>
                  <a:srgbClr val="00338D"/>
                </a:solidFill>
              </a:rPr>
              <a:t>Yours truly,</a:t>
            </a:r>
          </a:p>
          <a:p>
            <a:pPr lvl="0" algn="just"/>
            <a:endParaRPr lang="en-US" sz="800" b="0" dirty="0">
              <a:solidFill>
                <a:srgbClr val="00338D"/>
              </a:solidFill>
            </a:endParaRPr>
          </a:p>
          <a:p>
            <a:pPr lvl="0" algn="just"/>
            <a:r>
              <a:rPr lang="en-US" sz="800" dirty="0">
                <a:solidFill>
                  <a:srgbClr val="00338D"/>
                </a:solidFill>
              </a:rPr>
              <a:t>DRAFT</a:t>
            </a:r>
          </a:p>
          <a:p>
            <a:pPr lvl="1"/>
            <a:endParaRPr lang="en-CA" b="1" dirty="0">
              <a:solidFill>
                <a:schemeClr val="tx1"/>
              </a:solidFill>
            </a:endParaRPr>
          </a:p>
          <a:p>
            <a:pPr lvl="1"/>
            <a:endParaRPr lang="en-US" b="1" dirty="0">
              <a:solidFill>
                <a:schemeClr val="tx1"/>
              </a:solidFill>
            </a:endParaRPr>
          </a:p>
        </p:txBody>
      </p:sp>
      <p:sp>
        <p:nvSpPr>
          <p:cNvPr id="9" name="Espace réservé du texte 8"/>
          <p:cNvSpPr>
            <a:spLocks noGrp="1"/>
          </p:cNvSpPr>
          <p:nvPr>
            <p:ph type="body" sz="quarter" idx="4294967295"/>
          </p:nvPr>
        </p:nvSpPr>
        <p:spPr>
          <a:xfrm>
            <a:off x="430823" y="1217564"/>
            <a:ext cx="4007976" cy="4647426"/>
          </a:xfrm>
          <a:prstGeom prst="rect">
            <a:avLst/>
          </a:prstGeom>
        </p:spPr>
        <p:txBody>
          <a:bodyPr wrap="square" lIns="0" tIns="0" rIns="0" bIns="0">
            <a:spAutoFit/>
          </a:bodyPr>
          <a:lstStyle/>
          <a:p>
            <a:pPr lvl="0">
              <a:spcAft>
                <a:spcPts val="0"/>
              </a:spcAft>
            </a:pPr>
            <a:r>
              <a:rPr lang="en-CA" sz="800" dirty="0">
                <a:solidFill>
                  <a:srgbClr val="00338D"/>
                </a:solidFill>
              </a:rPr>
              <a:t>Private and confidential</a:t>
            </a:r>
            <a:br>
              <a:rPr lang="en-CA" sz="800" dirty="0">
                <a:solidFill>
                  <a:srgbClr val="00338D"/>
                </a:solidFill>
              </a:rPr>
            </a:br>
            <a:endParaRPr lang="en-CA" sz="800" dirty="0">
              <a:solidFill>
                <a:srgbClr val="00338D"/>
              </a:solidFill>
            </a:endParaRPr>
          </a:p>
          <a:p>
            <a:pPr lvl="1">
              <a:spcAft>
                <a:spcPts val="0"/>
              </a:spcAft>
            </a:pPr>
            <a:r>
              <a:rPr lang="en-US" sz="800" dirty="0">
                <a:solidFill>
                  <a:srgbClr val="00338D"/>
                </a:solidFill>
              </a:rPr>
              <a:t>Mr. Gary D. Nettis</a:t>
            </a:r>
          </a:p>
          <a:p>
            <a:pPr lvl="1">
              <a:spcAft>
                <a:spcPts val="0"/>
              </a:spcAft>
            </a:pPr>
            <a:r>
              <a:rPr lang="en-US" sz="800" dirty="0">
                <a:solidFill>
                  <a:srgbClr val="00338D"/>
                </a:solidFill>
              </a:rPr>
              <a:t>Caregiver, Inc.</a:t>
            </a:r>
          </a:p>
          <a:p>
            <a:pPr lvl="1">
              <a:spcAft>
                <a:spcPts val="0"/>
              </a:spcAft>
            </a:pPr>
            <a:r>
              <a:rPr lang="en-US" sz="800" dirty="0">
                <a:solidFill>
                  <a:srgbClr val="00338D"/>
                </a:solidFill>
              </a:rPr>
              <a:t>4100 International Plaza, Suite 800</a:t>
            </a:r>
          </a:p>
          <a:p>
            <a:pPr lvl="1">
              <a:spcAft>
                <a:spcPts val="0"/>
              </a:spcAft>
            </a:pPr>
            <a:r>
              <a:rPr lang="en-US" sz="800" dirty="0">
                <a:solidFill>
                  <a:srgbClr val="00338D"/>
                </a:solidFill>
              </a:rPr>
              <a:t>Fort Worth, Texas</a:t>
            </a:r>
          </a:p>
          <a:p>
            <a:pPr lvl="1">
              <a:spcAft>
                <a:spcPts val="0"/>
              </a:spcAft>
            </a:pPr>
            <a:r>
              <a:rPr lang="en-US" sz="800" dirty="0">
                <a:solidFill>
                  <a:srgbClr val="00338D"/>
                </a:solidFill>
              </a:rPr>
              <a:t>76109</a:t>
            </a:r>
          </a:p>
          <a:p>
            <a:pPr lvl="1" algn="just">
              <a:spcAft>
                <a:spcPts val="0"/>
              </a:spcAft>
            </a:pPr>
            <a:endParaRPr lang="en-US" sz="800" dirty="0">
              <a:solidFill>
                <a:srgbClr val="00338D"/>
              </a:solidFill>
            </a:endParaRPr>
          </a:p>
          <a:p>
            <a:pPr lvl="1" algn="just"/>
            <a:r>
              <a:rPr lang="en-US" sz="800" dirty="0" smtClean="0">
                <a:solidFill>
                  <a:srgbClr val="00338D"/>
                </a:solidFill>
              </a:rPr>
              <a:t>March 3, </a:t>
            </a:r>
            <a:r>
              <a:rPr lang="en-US" sz="800" dirty="0">
                <a:solidFill>
                  <a:srgbClr val="00338D"/>
                </a:solidFill>
              </a:rPr>
              <a:t>2020</a:t>
            </a:r>
          </a:p>
          <a:p>
            <a:pPr lvl="1" algn="just"/>
            <a:r>
              <a:rPr lang="en-CA" sz="800" dirty="0">
                <a:solidFill>
                  <a:srgbClr val="00338D"/>
                </a:solidFill>
              </a:rPr>
              <a:t>Dear Mr. Nettis,</a:t>
            </a:r>
            <a:endParaRPr lang="en-US" sz="800" dirty="0">
              <a:solidFill>
                <a:srgbClr val="00338D"/>
              </a:solidFill>
            </a:endParaRPr>
          </a:p>
          <a:p>
            <a:pPr algn="just"/>
            <a:r>
              <a:rPr lang="en-US" sz="800" b="0" dirty="0">
                <a:solidFill>
                  <a:srgbClr val="00338D"/>
                </a:solidFill>
              </a:rPr>
              <a:t>We have completed our procedures to assist Caregiver, Inc. (“Client” or “you”) in performing financial due diligence in connection with your prospective acquisition (the “Transaction”) of Soto Assisted Living Group (the “Company” or “Target”), in accordance with the terms of our engagement letter dated September 26, 2019, including its Terms and Conditions for Advisory and Tax Services. </a:t>
            </a:r>
          </a:p>
          <a:p>
            <a:pPr algn="just"/>
            <a:r>
              <a:rPr lang="en-US" sz="800" dirty="0">
                <a:solidFill>
                  <a:srgbClr val="00338D"/>
                </a:solidFill>
              </a:rPr>
              <a:t>Objective</a:t>
            </a:r>
            <a:endParaRPr lang="en-US" sz="800" b="0" dirty="0">
              <a:solidFill>
                <a:srgbClr val="00338D"/>
              </a:solidFill>
            </a:endParaRPr>
          </a:p>
          <a:p>
            <a:pPr algn="just"/>
            <a:r>
              <a:rPr lang="en-US" sz="800" b="0" dirty="0">
                <a:solidFill>
                  <a:srgbClr val="00338D"/>
                </a:solidFill>
              </a:rPr>
              <a:t>The objective of our engagement was to assist you with your assessment of the risks and opportunities of your prospective acquisition of Target. Our work in this report was based on information provided by you and obtained in an electronic data room and discussions with Target Management. The primary scope of our engagement was to make inquiries and perform analyses based on information made available to us, directed toward those business activities and related financial data of interest to you. </a:t>
            </a:r>
          </a:p>
          <a:p>
            <a:pPr lvl="1" algn="just"/>
            <a:r>
              <a:rPr lang="en-US" sz="800" b="1" dirty="0">
                <a:solidFill>
                  <a:srgbClr val="00338D"/>
                </a:solidFill>
              </a:rPr>
              <a:t>Basis of Information</a:t>
            </a:r>
          </a:p>
          <a:p>
            <a:pPr lvl="1" algn="just"/>
            <a:r>
              <a:rPr lang="en-US" sz="800" dirty="0">
                <a:solidFill>
                  <a:srgbClr val="00338D"/>
                </a:solidFill>
              </a:rPr>
              <a:t>The engagement letter describes the procedures we were to perform and are attached herein in Appendix 1. Those procedures were selected by you and were limited in nature and extent to those that you determined best fit your needs. We make no representation regarding the sufficiency for your purposes of the procedures selected, and those procedures will not necessarily disclose all significant matters about Target or reveal errors in the underlying information, instances of fraud, or illegal acts, if any. This report was prepared by us on the basis that you provided us with all relevant information you received concerning Target.</a:t>
            </a:r>
          </a:p>
        </p:txBody>
      </p:sp>
      <p:grpSp>
        <p:nvGrpSpPr>
          <p:cNvPr id="12" name="Group 11"/>
          <p:cNvGrpSpPr/>
          <p:nvPr/>
        </p:nvGrpSpPr>
        <p:grpSpPr bwMode="gray">
          <a:xfrm>
            <a:off x="368520" y="166294"/>
            <a:ext cx="889489" cy="695325"/>
            <a:chOff x="175518" y="0"/>
            <a:chExt cx="963613" cy="695325"/>
          </a:xfrm>
        </p:grpSpPr>
        <p:sp>
          <p:nvSpPr>
            <p:cNvPr id="13" name="Freeform 6"/>
            <p:cNvSpPr>
              <a:spLocks noEditPoints="1"/>
            </p:cNvSpPr>
            <p:nvPr userDrawn="1"/>
          </p:nvSpPr>
          <p:spPr bwMode="gray">
            <a:xfrm>
              <a:off x="286643" y="215900"/>
              <a:ext cx="700088" cy="271463"/>
            </a:xfrm>
            <a:custGeom>
              <a:avLst/>
              <a:gdLst/>
              <a:ahLst/>
              <a:cxnLst>
                <a:cxn ang="0">
                  <a:pos x="6130" y="2584"/>
                </a:cxn>
                <a:cxn ang="0">
                  <a:pos x="6106" y="2594"/>
                </a:cxn>
                <a:cxn ang="0">
                  <a:pos x="5549" y="2661"/>
                </a:cxn>
                <a:cxn ang="0">
                  <a:pos x="5025" y="2423"/>
                </a:cxn>
                <a:cxn ang="0">
                  <a:pos x="4926" y="2101"/>
                </a:cxn>
                <a:cxn ang="0">
                  <a:pos x="4756" y="2101"/>
                </a:cxn>
                <a:cxn ang="0">
                  <a:pos x="4625" y="2625"/>
                </a:cxn>
                <a:cxn ang="0">
                  <a:pos x="4182" y="2625"/>
                </a:cxn>
                <a:cxn ang="0">
                  <a:pos x="4338" y="2101"/>
                </a:cxn>
                <a:cxn ang="0">
                  <a:pos x="4197" y="2101"/>
                </a:cxn>
                <a:cxn ang="0">
                  <a:pos x="3859" y="2625"/>
                </a:cxn>
                <a:cxn ang="0">
                  <a:pos x="3503" y="2625"/>
                </a:cxn>
                <a:cxn ang="0">
                  <a:pos x="3471" y="2101"/>
                </a:cxn>
                <a:cxn ang="0">
                  <a:pos x="3314" y="2101"/>
                </a:cxn>
                <a:cxn ang="0">
                  <a:pos x="3159" y="2625"/>
                </a:cxn>
                <a:cxn ang="0">
                  <a:pos x="2780" y="2625"/>
                </a:cxn>
                <a:cxn ang="0">
                  <a:pos x="2940" y="2101"/>
                </a:cxn>
                <a:cxn ang="0">
                  <a:pos x="2047" y="2101"/>
                </a:cxn>
                <a:cxn ang="0">
                  <a:pos x="2047" y="2093"/>
                </a:cxn>
                <a:cxn ang="0">
                  <a:pos x="1888" y="2626"/>
                </a:cxn>
                <a:cxn ang="0">
                  <a:pos x="1484" y="2626"/>
                </a:cxn>
                <a:cxn ang="0">
                  <a:pos x="1642" y="2101"/>
                </a:cxn>
                <a:cxn ang="0">
                  <a:pos x="1148" y="2101"/>
                </a:cxn>
                <a:cxn ang="0">
                  <a:pos x="1394" y="2626"/>
                </a:cxn>
                <a:cxn ang="0">
                  <a:pos x="927" y="2626"/>
                </a:cxn>
                <a:cxn ang="0">
                  <a:pos x="715" y="2101"/>
                </a:cxn>
                <a:cxn ang="0">
                  <a:pos x="588" y="2101"/>
                </a:cxn>
                <a:cxn ang="0">
                  <a:pos x="442" y="2583"/>
                </a:cxn>
                <a:cxn ang="0">
                  <a:pos x="434" y="2626"/>
                </a:cxn>
                <a:cxn ang="0">
                  <a:pos x="0" y="2626"/>
                </a:cxn>
                <a:cxn ang="0">
                  <a:pos x="397" y="1303"/>
                </a:cxn>
                <a:cxn ang="0">
                  <a:pos x="397" y="0"/>
                </a:cxn>
                <a:cxn ang="0">
                  <a:pos x="1888" y="0"/>
                </a:cxn>
                <a:cxn ang="0">
                  <a:pos x="1888" y="1287"/>
                </a:cxn>
                <a:cxn ang="0">
                  <a:pos x="1944" y="1098"/>
                </a:cxn>
                <a:cxn ang="0">
                  <a:pos x="2047" y="1098"/>
                </a:cxn>
                <a:cxn ang="0">
                  <a:pos x="2047" y="0"/>
                </a:cxn>
                <a:cxn ang="0">
                  <a:pos x="3534" y="0"/>
                </a:cxn>
                <a:cxn ang="0">
                  <a:pos x="3534" y="1098"/>
                </a:cxn>
                <a:cxn ang="0">
                  <a:pos x="3694" y="1098"/>
                </a:cxn>
                <a:cxn ang="0">
                  <a:pos x="3694" y="0"/>
                </a:cxn>
                <a:cxn ang="0">
                  <a:pos x="5180" y="0"/>
                </a:cxn>
                <a:cxn ang="0">
                  <a:pos x="5180" y="1388"/>
                </a:cxn>
                <a:cxn ang="0">
                  <a:pos x="5340" y="1222"/>
                </a:cxn>
                <a:cxn ang="0">
                  <a:pos x="5340" y="0"/>
                </a:cxn>
                <a:cxn ang="0">
                  <a:pos x="6827" y="0"/>
                </a:cxn>
                <a:cxn ang="0">
                  <a:pos x="6827" y="2101"/>
                </a:cxn>
                <a:cxn ang="0">
                  <a:pos x="6266" y="2101"/>
                </a:cxn>
                <a:cxn ang="0">
                  <a:pos x="6130" y="2584"/>
                </a:cxn>
                <a:cxn ang="0">
                  <a:pos x="5342" y="2101"/>
                </a:cxn>
                <a:cxn ang="0">
                  <a:pos x="5386" y="2264"/>
                </a:cxn>
                <a:cxn ang="0">
                  <a:pos x="5610" y="2349"/>
                </a:cxn>
                <a:cxn ang="0">
                  <a:pos x="5788" y="2330"/>
                </a:cxn>
                <a:cxn ang="0">
                  <a:pos x="5861" y="2101"/>
                </a:cxn>
                <a:cxn ang="0">
                  <a:pos x="5342" y="2101"/>
                </a:cxn>
              </a:cxnLst>
              <a:rect l="0" t="0" r="r" b="b"/>
              <a:pathLst>
                <a:path w="6827" h="2661">
                  <a:moveTo>
                    <a:pt x="6130" y="2584"/>
                  </a:moveTo>
                  <a:cubicBezTo>
                    <a:pt x="6106" y="2594"/>
                    <a:pt x="6106" y="2594"/>
                    <a:pt x="6106" y="2594"/>
                  </a:cubicBezTo>
                  <a:cubicBezTo>
                    <a:pt x="6010" y="2632"/>
                    <a:pt x="5728" y="2661"/>
                    <a:pt x="5549" y="2661"/>
                  </a:cubicBezTo>
                  <a:cubicBezTo>
                    <a:pt x="5381" y="2661"/>
                    <a:pt x="5156" y="2599"/>
                    <a:pt x="5025" y="2423"/>
                  </a:cubicBezTo>
                  <a:cubicBezTo>
                    <a:pt x="4975" y="2355"/>
                    <a:pt x="4927" y="2250"/>
                    <a:pt x="4926" y="2101"/>
                  </a:cubicBezTo>
                  <a:cubicBezTo>
                    <a:pt x="4756" y="2101"/>
                    <a:pt x="4756" y="2101"/>
                    <a:pt x="4756" y="2101"/>
                  </a:cubicBezTo>
                  <a:cubicBezTo>
                    <a:pt x="4625" y="2625"/>
                    <a:pt x="4625" y="2625"/>
                    <a:pt x="4625" y="2625"/>
                  </a:cubicBezTo>
                  <a:cubicBezTo>
                    <a:pt x="4182" y="2625"/>
                    <a:pt x="4182" y="2625"/>
                    <a:pt x="4182" y="2625"/>
                  </a:cubicBezTo>
                  <a:cubicBezTo>
                    <a:pt x="4338" y="2101"/>
                    <a:pt x="4338" y="2101"/>
                    <a:pt x="4338" y="2101"/>
                  </a:cubicBezTo>
                  <a:cubicBezTo>
                    <a:pt x="4197" y="2101"/>
                    <a:pt x="4197" y="2101"/>
                    <a:pt x="4197" y="2101"/>
                  </a:cubicBezTo>
                  <a:cubicBezTo>
                    <a:pt x="3859" y="2625"/>
                    <a:pt x="3859" y="2625"/>
                    <a:pt x="3859" y="2625"/>
                  </a:cubicBezTo>
                  <a:cubicBezTo>
                    <a:pt x="3503" y="2625"/>
                    <a:pt x="3503" y="2625"/>
                    <a:pt x="3503" y="2625"/>
                  </a:cubicBezTo>
                  <a:cubicBezTo>
                    <a:pt x="3471" y="2101"/>
                    <a:pt x="3471" y="2101"/>
                    <a:pt x="3471" y="2101"/>
                  </a:cubicBezTo>
                  <a:cubicBezTo>
                    <a:pt x="3314" y="2101"/>
                    <a:pt x="3314" y="2101"/>
                    <a:pt x="3314" y="2101"/>
                  </a:cubicBezTo>
                  <a:cubicBezTo>
                    <a:pt x="3159" y="2625"/>
                    <a:pt x="3159" y="2625"/>
                    <a:pt x="3159" y="2625"/>
                  </a:cubicBezTo>
                  <a:cubicBezTo>
                    <a:pt x="2780" y="2625"/>
                    <a:pt x="2780" y="2625"/>
                    <a:pt x="2780" y="2625"/>
                  </a:cubicBezTo>
                  <a:cubicBezTo>
                    <a:pt x="2940" y="2101"/>
                    <a:pt x="2940" y="2101"/>
                    <a:pt x="2940" y="2101"/>
                  </a:cubicBezTo>
                  <a:cubicBezTo>
                    <a:pt x="2047" y="2101"/>
                    <a:pt x="2047" y="2101"/>
                    <a:pt x="2047" y="2101"/>
                  </a:cubicBezTo>
                  <a:cubicBezTo>
                    <a:pt x="2047" y="2093"/>
                    <a:pt x="2047" y="2093"/>
                    <a:pt x="2047" y="2093"/>
                  </a:cubicBezTo>
                  <a:cubicBezTo>
                    <a:pt x="1888" y="2626"/>
                    <a:pt x="1888" y="2626"/>
                    <a:pt x="1888" y="2626"/>
                  </a:cubicBezTo>
                  <a:cubicBezTo>
                    <a:pt x="1484" y="2626"/>
                    <a:pt x="1484" y="2626"/>
                    <a:pt x="1484" y="2626"/>
                  </a:cubicBezTo>
                  <a:cubicBezTo>
                    <a:pt x="1642" y="2101"/>
                    <a:pt x="1642" y="2101"/>
                    <a:pt x="1642" y="2101"/>
                  </a:cubicBezTo>
                  <a:cubicBezTo>
                    <a:pt x="1148" y="2101"/>
                    <a:pt x="1148" y="2101"/>
                    <a:pt x="1148" y="2101"/>
                  </a:cubicBezTo>
                  <a:cubicBezTo>
                    <a:pt x="1394" y="2626"/>
                    <a:pt x="1394" y="2626"/>
                    <a:pt x="1394" y="2626"/>
                  </a:cubicBezTo>
                  <a:cubicBezTo>
                    <a:pt x="927" y="2626"/>
                    <a:pt x="927" y="2626"/>
                    <a:pt x="927" y="2626"/>
                  </a:cubicBezTo>
                  <a:cubicBezTo>
                    <a:pt x="715" y="2101"/>
                    <a:pt x="715" y="2101"/>
                    <a:pt x="715" y="2101"/>
                  </a:cubicBezTo>
                  <a:cubicBezTo>
                    <a:pt x="588" y="2101"/>
                    <a:pt x="588" y="2101"/>
                    <a:pt x="588" y="2101"/>
                  </a:cubicBezTo>
                  <a:cubicBezTo>
                    <a:pt x="509" y="2359"/>
                    <a:pt x="447" y="2567"/>
                    <a:pt x="442" y="2583"/>
                  </a:cubicBezTo>
                  <a:cubicBezTo>
                    <a:pt x="434" y="2626"/>
                    <a:pt x="434" y="2626"/>
                    <a:pt x="434" y="2626"/>
                  </a:cubicBezTo>
                  <a:cubicBezTo>
                    <a:pt x="0" y="2626"/>
                    <a:pt x="0" y="2626"/>
                    <a:pt x="0" y="2626"/>
                  </a:cubicBezTo>
                  <a:cubicBezTo>
                    <a:pt x="397" y="1303"/>
                    <a:pt x="397" y="1303"/>
                    <a:pt x="397" y="1303"/>
                  </a:cubicBezTo>
                  <a:cubicBezTo>
                    <a:pt x="397" y="0"/>
                    <a:pt x="397" y="0"/>
                    <a:pt x="397" y="0"/>
                  </a:cubicBezTo>
                  <a:cubicBezTo>
                    <a:pt x="1888" y="0"/>
                    <a:pt x="1888" y="0"/>
                    <a:pt x="1888" y="0"/>
                  </a:cubicBezTo>
                  <a:cubicBezTo>
                    <a:pt x="1888" y="1287"/>
                    <a:pt x="1888" y="1287"/>
                    <a:pt x="1888" y="1287"/>
                  </a:cubicBezTo>
                  <a:cubicBezTo>
                    <a:pt x="1944" y="1098"/>
                    <a:pt x="1944" y="1098"/>
                    <a:pt x="1944" y="1098"/>
                  </a:cubicBezTo>
                  <a:cubicBezTo>
                    <a:pt x="2047" y="1098"/>
                    <a:pt x="2047" y="1098"/>
                    <a:pt x="2047" y="1098"/>
                  </a:cubicBezTo>
                  <a:cubicBezTo>
                    <a:pt x="2047" y="0"/>
                    <a:pt x="2047" y="0"/>
                    <a:pt x="2047" y="0"/>
                  </a:cubicBezTo>
                  <a:cubicBezTo>
                    <a:pt x="3534" y="0"/>
                    <a:pt x="3534" y="0"/>
                    <a:pt x="3534" y="0"/>
                  </a:cubicBezTo>
                  <a:cubicBezTo>
                    <a:pt x="3534" y="1098"/>
                    <a:pt x="3534" y="1098"/>
                    <a:pt x="3534" y="1098"/>
                  </a:cubicBezTo>
                  <a:cubicBezTo>
                    <a:pt x="3694" y="1098"/>
                    <a:pt x="3694" y="1098"/>
                    <a:pt x="3694" y="1098"/>
                  </a:cubicBezTo>
                  <a:cubicBezTo>
                    <a:pt x="3694" y="0"/>
                    <a:pt x="3694" y="0"/>
                    <a:pt x="3694" y="0"/>
                  </a:cubicBezTo>
                  <a:cubicBezTo>
                    <a:pt x="5180" y="0"/>
                    <a:pt x="5180" y="0"/>
                    <a:pt x="5180" y="0"/>
                  </a:cubicBezTo>
                  <a:cubicBezTo>
                    <a:pt x="5180" y="1388"/>
                    <a:pt x="5180" y="1388"/>
                    <a:pt x="5180" y="1388"/>
                  </a:cubicBezTo>
                  <a:cubicBezTo>
                    <a:pt x="5231" y="1319"/>
                    <a:pt x="5285" y="1264"/>
                    <a:pt x="5340" y="1222"/>
                  </a:cubicBezTo>
                  <a:cubicBezTo>
                    <a:pt x="5340" y="0"/>
                    <a:pt x="5340" y="0"/>
                    <a:pt x="5340" y="0"/>
                  </a:cubicBezTo>
                  <a:cubicBezTo>
                    <a:pt x="6827" y="0"/>
                    <a:pt x="6827" y="0"/>
                    <a:pt x="6827" y="0"/>
                  </a:cubicBezTo>
                  <a:cubicBezTo>
                    <a:pt x="6827" y="2101"/>
                    <a:pt x="6827" y="2101"/>
                    <a:pt x="6827" y="2101"/>
                  </a:cubicBezTo>
                  <a:cubicBezTo>
                    <a:pt x="6266" y="2101"/>
                    <a:pt x="6266" y="2101"/>
                    <a:pt x="6266" y="2101"/>
                  </a:cubicBezTo>
                  <a:lnTo>
                    <a:pt x="6130" y="2584"/>
                  </a:lnTo>
                  <a:close/>
                  <a:moveTo>
                    <a:pt x="5342" y="2101"/>
                  </a:moveTo>
                  <a:cubicBezTo>
                    <a:pt x="5344" y="2169"/>
                    <a:pt x="5356" y="2226"/>
                    <a:pt x="5386" y="2264"/>
                  </a:cubicBezTo>
                  <a:cubicBezTo>
                    <a:pt x="5429" y="2321"/>
                    <a:pt x="5503" y="2349"/>
                    <a:pt x="5610" y="2349"/>
                  </a:cubicBezTo>
                  <a:cubicBezTo>
                    <a:pt x="5728" y="2349"/>
                    <a:pt x="5773" y="2336"/>
                    <a:pt x="5788" y="2330"/>
                  </a:cubicBezTo>
                  <a:cubicBezTo>
                    <a:pt x="5861" y="2101"/>
                    <a:pt x="5861" y="2101"/>
                    <a:pt x="5861" y="2101"/>
                  </a:cubicBezTo>
                  <a:lnTo>
                    <a:pt x="5342" y="2101"/>
                  </a:lnTo>
                  <a:close/>
                </a:path>
              </a:pathLst>
            </a:custGeom>
            <a:solidFill>
              <a:srgbClr val="00338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4" name="Freeform 7"/>
            <p:cNvSpPr>
              <a:spLocks noEditPoints="1"/>
            </p:cNvSpPr>
            <p:nvPr userDrawn="1"/>
          </p:nvSpPr>
          <p:spPr bwMode="gray">
            <a:xfrm>
              <a:off x="294581" y="330200"/>
              <a:ext cx="650875" cy="152400"/>
            </a:xfrm>
            <a:custGeom>
              <a:avLst/>
              <a:gdLst/>
              <a:ahLst/>
              <a:cxnLst>
                <a:cxn ang="0">
                  <a:pos x="2581" y="459"/>
                </a:cxn>
                <a:cxn ang="0">
                  <a:pos x="2254" y="682"/>
                </a:cxn>
                <a:cxn ang="0">
                  <a:pos x="2000" y="681"/>
                </a:cxn>
                <a:cxn ang="0">
                  <a:pos x="2130" y="234"/>
                </a:cxn>
                <a:cxn ang="0">
                  <a:pos x="2581" y="459"/>
                </a:cxn>
                <a:cxn ang="0">
                  <a:pos x="749" y="30"/>
                </a:cxn>
                <a:cxn ang="0">
                  <a:pos x="427" y="30"/>
                </a:cxn>
                <a:cxn ang="0">
                  <a:pos x="0" y="1452"/>
                </a:cxn>
                <a:cxn ang="0">
                  <a:pos x="319" y="1452"/>
                </a:cxn>
                <a:cxn ang="0">
                  <a:pos x="749" y="30"/>
                </a:cxn>
                <a:cxn ang="0">
                  <a:pos x="1585" y="30"/>
                </a:cxn>
                <a:cxn ang="0">
                  <a:pos x="1194" y="30"/>
                </a:cxn>
                <a:cxn ang="0">
                  <a:pos x="571" y="658"/>
                </a:cxn>
                <a:cxn ang="0">
                  <a:pos x="571" y="657"/>
                </a:cxn>
                <a:cxn ang="0">
                  <a:pos x="571" y="658"/>
                </a:cxn>
                <a:cxn ang="0">
                  <a:pos x="571" y="658"/>
                </a:cxn>
                <a:cxn ang="0">
                  <a:pos x="571" y="658"/>
                </a:cxn>
                <a:cxn ang="0">
                  <a:pos x="571" y="658"/>
                </a:cxn>
                <a:cxn ang="0">
                  <a:pos x="571" y="658"/>
                </a:cxn>
                <a:cxn ang="0">
                  <a:pos x="892" y="1452"/>
                </a:cxn>
                <a:cxn ang="0">
                  <a:pos x="1239" y="1452"/>
                </a:cxn>
                <a:cxn ang="0">
                  <a:pos x="881" y="688"/>
                </a:cxn>
                <a:cxn ang="0">
                  <a:pos x="1585" y="30"/>
                </a:cxn>
                <a:cxn ang="0">
                  <a:pos x="2875" y="459"/>
                </a:cxn>
                <a:cxn ang="0">
                  <a:pos x="2275" y="30"/>
                </a:cxn>
                <a:cxn ang="0">
                  <a:pos x="1913" y="30"/>
                </a:cxn>
                <a:cxn ang="0">
                  <a:pos x="1484" y="1452"/>
                </a:cxn>
                <a:cxn ang="0">
                  <a:pos x="1777" y="1452"/>
                </a:cxn>
                <a:cxn ang="0">
                  <a:pos x="1945" y="890"/>
                </a:cxn>
                <a:cxn ang="0">
                  <a:pos x="2179" y="890"/>
                </a:cxn>
                <a:cxn ang="0">
                  <a:pos x="2875" y="459"/>
                </a:cxn>
                <a:cxn ang="0">
                  <a:pos x="4866" y="30"/>
                </a:cxn>
                <a:cxn ang="0">
                  <a:pos x="4400" y="30"/>
                </a:cxn>
                <a:cxn ang="0">
                  <a:pos x="3694" y="1259"/>
                </a:cxn>
                <a:cxn ang="0">
                  <a:pos x="3678" y="30"/>
                </a:cxn>
                <a:cxn ang="0">
                  <a:pos x="3216" y="30"/>
                </a:cxn>
                <a:cxn ang="0">
                  <a:pos x="2781" y="1451"/>
                </a:cxn>
                <a:cxn ang="0">
                  <a:pos x="3048" y="1451"/>
                </a:cxn>
                <a:cxn ang="0">
                  <a:pos x="3408" y="234"/>
                </a:cxn>
                <a:cxn ang="0">
                  <a:pos x="3482" y="1451"/>
                </a:cxn>
                <a:cxn ang="0">
                  <a:pos x="3758" y="1451"/>
                </a:cxn>
                <a:cxn ang="0">
                  <a:pos x="4544" y="234"/>
                </a:cxn>
                <a:cxn ang="0">
                  <a:pos x="4183" y="1451"/>
                </a:cxn>
                <a:cxn ang="0">
                  <a:pos x="4512" y="1451"/>
                </a:cxn>
                <a:cxn ang="0">
                  <a:pos x="4866" y="30"/>
                </a:cxn>
                <a:cxn ang="0">
                  <a:pos x="5792" y="0"/>
                </a:cxn>
                <a:cxn ang="0">
                  <a:pos x="4947" y="735"/>
                </a:cxn>
                <a:cxn ang="0">
                  <a:pos x="5478" y="1487"/>
                </a:cxn>
                <a:cxn ang="0">
                  <a:pos x="6015" y="1424"/>
                </a:cxn>
                <a:cxn ang="0">
                  <a:pos x="6217" y="706"/>
                </a:cxn>
                <a:cxn ang="0">
                  <a:pos x="5614" y="706"/>
                </a:cxn>
                <a:cxn ang="0">
                  <a:pos x="5547" y="920"/>
                </a:cxn>
                <a:cxn ang="0">
                  <a:pos x="5865" y="920"/>
                </a:cxn>
                <a:cxn ang="0">
                  <a:pos x="5766" y="1232"/>
                </a:cxn>
                <a:cxn ang="0">
                  <a:pos x="5540" y="1282"/>
                </a:cxn>
                <a:cxn ang="0">
                  <a:pos x="5254" y="727"/>
                </a:cxn>
                <a:cxn ang="0">
                  <a:pos x="5764" y="205"/>
                </a:cxn>
                <a:cxn ang="0">
                  <a:pos x="6001" y="451"/>
                </a:cxn>
                <a:cxn ang="0">
                  <a:pos x="5991" y="487"/>
                </a:cxn>
                <a:cxn ang="0">
                  <a:pos x="6284" y="487"/>
                </a:cxn>
                <a:cxn ang="0">
                  <a:pos x="5792" y="0"/>
                </a:cxn>
              </a:cxnLst>
              <a:rect l="0" t="0" r="r" b="b"/>
              <a:pathLst>
                <a:path w="6358" h="1487">
                  <a:moveTo>
                    <a:pt x="2581" y="459"/>
                  </a:moveTo>
                  <a:cubicBezTo>
                    <a:pt x="2533" y="604"/>
                    <a:pt x="2468" y="678"/>
                    <a:pt x="2254" y="682"/>
                  </a:cubicBezTo>
                  <a:cubicBezTo>
                    <a:pt x="2183" y="683"/>
                    <a:pt x="2106" y="681"/>
                    <a:pt x="2000" y="681"/>
                  </a:cubicBezTo>
                  <a:cubicBezTo>
                    <a:pt x="2130" y="234"/>
                    <a:pt x="2130" y="234"/>
                    <a:pt x="2130" y="234"/>
                  </a:cubicBezTo>
                  <a:cubicBezTo>
                    <a:pt x="2451" y="234"/>
                    <a:pt x="2665" y="208"/>
                    <a:pt x="2581" y="459"/>
                  </a:cubicBezTo>
                  <a:moveTo>
                    <a:pt x="749" y="30"/>
                  </a:moveTo>
                  <a:cubicBezTo>
                    <a:pt x="427" y="30"/>
                    <a:pt x="427" y="30"/>
                    <a:pt x="427" y="30"/>
                  </a:cubicBezTo>
                  <a:cubicBezTo>
                    <a:pt x="0" y="1452"/>
                    <a:pt x="0" y="1452"/>
                    <a:pt x="0" y="1452"/>
                  </a:cubicBezTo>
                  <a:cubicBezTo>
                    <a:pt x="319" y="1452"/>
                    <a:pt x="319" y="1452"/>
                    <a:pt x="319" y="1452"/>
                  </a:cubicBezTo>
                  <a:cubicBezTo>
                    <a:pt x="325" y="1422"/>
                    <a:pt x="749" y="30"/>
                    <a:pt x="749" y="30"/>
                  </a:cubicBezTo>
                  <a:moveTo>
                    <a:pt x="1585" y="30"/>
                  </a:moveTo>
                  <a:cubicBezTo>
                    <a:pt x="1194" y="30"/>
                    <a:pt x="1194" y="30"/>
                    <a:pt x="1194" y="30"/>
                  </a:cubicBezTo>
                  <a:cubicBezTo>
                    <a:pt x="571" y="658"/>
                    <a:pt x="571" y="658"/>
                    <a:pt x="571" y="658"/>
                  </a:cubicBezTo>
                  <a:cubicBezTo>
                    <a:pt x="571" y="657"/>
                    <a:pt x="571" y="657"/>
                    <a:pt x="571" y="657"/>
                  </a:cubicBezTo>
                  <a:cubicBezTo>
                    <a:pt x="571" y="658"/>
                    <a:pt x="571" y="658"/>
                    <a:pt x="571" y="658"/>
                  </a:cubicBezTo>
                  <a:cubicBezTo>
                    <a:pt x="571" y="658"/>
                    <a:pt x="571" y="658"/>
                    <a:pt x="571" y="658"/>
                  </a:cubicBezTo>
                  <a:cubicBezTo>
                    <a:pt x="571" y="658"/>
                    <a:pt x="571" y="658"/>
                    <a:pt x="571" y="658"/>
                  </a:cubicBezTo>
                  <a:cubicBezTo>
                    <a:pt x="571" y="658"/>
                    <a:pt x="571" y="658"/>
                    <a:pt x="571" y="658"/>
                  </a:cubicBezTo>
                  <a:cubicBezTo>
                    <a:pt x="571" y="658"/>
                    <a:pt x="571" y="658"/>
                    <a:pt x="571" y="658"/>
                  </a:cubicBezTo>
                  <a:cubicBezTo>
                    <a:pt x="892" y="1452"/>
                    <a:pt x="892" y="1452"/>
                    <a:pt x="892" y="1452"/>
                  </a:cubicBezTo>
                  <a:cubicBezTo>
                    <a:pt x="1239" y="1452"/>
                    <a:pt x="1239" y="1452"/>
                    <a:pt x="1239" y="1452"/>
                  </a:cubicBezTo>
                  <a:cubicBezTo>
                    <a:pt x="881" y="688"/>
                    <a:pt x="881" y="688"/>
                    <a:pt x="881" y="688"/>
                  </a:cubicBezTo>
                  <a:lnTo>
                    <a:pt x="1585" y="30"/>
                  </a:lnTo>
                  <a:close/>
                  <a:moveTo>
                    <a:pt x="2875" y="459"/>
                  </a:moveTo>
                  <a:cubicBezTo>
                    <a:pt x="2956" y="21"/>
                    <a:pt x="2603" y="26"/>
                    <a:pt x="2275" y="30"/>
                  </a:cubicBezTo>
                  <a:cubicBezTo>
                    <a:pt x="1913" y="30"/>
                    <a:pt x="1913" y="30"/>
                    <a:pt x="1913" y="30"/>
                  </a:cubicBezTo>
                  <a:cubicBezTo>
                    <a:pt x="1484" y="1452"/>
                    <a:pt x="1484" y="1452"/>
                    <a:pt x="1484" y="1452"/>
                  </a:cubicBezTo>
                  <a:cubicBezTo>
                    <a:pt x="1777" y="1452"/>
                    <a:pt x="1777" y="1452"/>
                    <a:pt x="1777" y="1452"/>
                  </a:cubicBezTo>
                  <a:cubicBezTo>
                    <a:pt x="1945" y="890"/>
                    <a:pt x="1945" y="890"/>
                    <a:pt x="1945" y="890"/>
                  </a:cubicBezTo>
                  <a:cubicBezTo>
                    <a:pt x="2179" y="890"/>
                    <a:pt x="2179" y="890"/>
                    <a:pt x="2179" y="890"/>
                  </a:cubicBezTo>
                  <a:cubicBezTo>
                    <a:pt x="2633" y="890"/>
                    <a:pt x="2833" y="689"/>
                    <a:pt x="2875" y="459"/>
                  </a:cubicBezTo>
                  <a:moveTo>
                    <a:pt x="4866" y="30"/>
                  </a:moveTo>
                  <a:cubicBezTo>
                    <a:pt x="4400" y="30"/>
                    <a:pt x="4400" y="30"/>
                    <a:pt x="4400" y="30"/>
                  </a:cubicBezTo>
                  <a:cubicBezTo>
                    <a:pt x="3832" y="817"/>
                    <a:pt x="3694" y="1259"/>
                    <a:pt x="3694" y="1259"/>
                  </a:cubicBezTo>
                  <a:cubicBezTo>
                    <a:pt x="3749" y="759"/>
                    <a:pt x="3678" y="30"/>
                    <a:pt x="3678" y="30"/>
                  </a:cubicBezTo>
                  <a:cubicBezTo>
                    <a:pt x="3216" y="30"/>
                    <a:pt x="3216" y="30"/>
                    <a:pt x="3216" y="30"/>
                  </a:cubicBezTo>
                  <a:cubicBezTo>
                    <a:pt x="2781" y="1451"/>
                    <a:pt x="2781" y="1451"/>
                    <a:pt x="2781" y="1451"/>
                  </a:cubicBezTo>
                  <a:cubicBezTo>
                    <a:pt x="3048" y="1451"/>
                    <a:pt x="3048" y="1451"/>
                    <a:pt x="3048" y="1451"/>
                  </a:cubicBezTo>
                  <a:cubicBezTo>
                    <a:pt x="3408" y="234"/>
                    <a:pt x="3408" y="234"/>
                    <a:pt x="3408" y="234"/>
                  </a:cubicBezTo>
                  <a:cubicBezTo>
                    <a:pt x="3482" y="1451"/>
                    <a:pt x="3482" y="1451"/>
                    <a:pt x="3482" y="1451"/>
                  </a:cubicBezTo>
                  <a:cubicBezTo>
                    <a:pt x="3758" y="1451"/>
                    <a:pt x="3758" y="1451"/>
                    <a:pt x="3758" y="1451"/>
                  </a:cubicBezTo>
                  <a:cubicBezTo>
                    <a:pt x="4544" y="234"/>
                    <a:pt x="4544" y="234"/>
                    <a:pt x="4544" y="234"/>
                  </a:cubicBezTo>
                  <a:cubicBezTo>
                    <a:pt x="4183" y="1451"/>
                    <a:pt x="4183" y="1451"/>
                    <a:pt x="4183" y="1451"/>
                  </a:cubicBezTo>
                  <a:cubicBezTo>
                    <a:pt x="4512" y="1451"/>
                    <a:pt x="4512" y="1451"/>
                    <a:pt x="4512" y="1451"/>
                  </a:cubicBezTo>
                  <a:lnTo>
                    <a:pt x="4866" y="30"/>
                  </a:lnTo>
                  <a:close/>
                  <a:moveTo>
                    <a:pt x="5792" y="0"/>
                  </a:moveTo>
                  <a:cubicBezTo>
                    <a:pt x="5506" y="0"/>
                    <a:pt x="5151" y="64"/>
                    <a:pt x="4947" y="735"/>
                  </a:cubicBezTo>
                  <a:cubicBezTo>
                    <a:pt x="4777" y="1296"/>
                    <a:pt x="5191" y="1487"/>
                    <a:pt x="5478" y="1487"/>
                  </a:cubicBezTo>
                  <a:cubicBezTo>
                    <a:pt x="5667" y="1487"/>
                    <a:pt x="5935" y="1455"/>
                    <a:pt x="6015" y="1424"/>
                  </a:cubicBezTo>
                  <a:cubicBezTo>
                    <a:pt x="6217" y="706"/>
                    <a:pt x="6217" y="706"/>
                    <a:pt x="6217" y="706"/>
                  </a:cubicBezTo>
                  <a:cubicBezTo>
                    <a:pt x="5614" y="706"/>
                    <a:pt x="5614" y="706"/>
                    <a:pt x="5614" y="706"/>
                  </a:cubicBezTo>
                  <a:cubicBezTo>
                    <a:pt x="5547" y="920"/>
                    <a:pt x="5547" y="920"/>
                    <a:pt x="5547" y="920"/>
                  </a:cubicBezTo>
                  <a:cubicBezTo>
                    <a:pt x="5865" y="920"/>
                    <a:pt x="5865" y="920"/>
                    <a:pt x="5865" y="920"/>
                  </a:cubicBezTo>
                  <a:cubicBezTo>
                    <a:pt x="5766" y="1232"/>
                    <a:pt x="5766" y="1232"/>
                    <a:pt x="5766" y="1232"/>
                  </a:cubicBezTo>
                  <a:cubicBezTo>
                    <a:pt x="5766" y="1232"/>
                    <a:pt x="5779" y="1281"/>
                    <a:pt x="5540" y="1282"/>
                  </a:cubicBezTo>
                  <a:cubicBezTo>
                    <a:pt x="5238" y="1283"/>
                    <a:pt x="5155" y="1072"/>
                    <a:pt x="5254" y="727"/>
                  </a:cubicBezTo>
                  <a:cubicBezTo>
                    <a:pt x="5346" y="407"/>
                    <a:pt x="5493" y="192"/>
                    <a:pt x="5764" y="205"/>
                  </a:cubicBezTo>
                  <a:cubicBezTo>
                    <a:pt x="5947" y="214"/>
                    <a:pt x="6052" y="282"/>
                    <a:pt x="6001" y="451"/>
                  </a:cubicBezTo>
                  <a:cubicBezTo>
                    <a:pt x="5998" y="463"/>
                    <a:pt x="5996" y="477"/>
                    <a:pt x="5991" y="487"/>
                  </a:cubicBezTo>
                  <a:cubicBezTo>
                    <a:pt x="6284" y="487"/>
                    <a:pt x="6284" y="487"/>
                    <a:pt x="6284" y="487"/>
                  </a:cubicBezTo>
                  <a:cubicBezTo>
                    <a:pt x="6358" y="270"/>
                    <a:pt x="6210" y="0"/>
                    <a:pt x="5792" y="0"/>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5" name="Freeform 8"/>
            <p:cNvSpPr>
              <a:spLocks noEditPoints="1"/>
            </p:cNvSpPr>
            <p:nvPr userDrawn="1"/>
          </p:nvSpPr>
          <p:spPr bwMode="gray">
            <a:xfrm>
              <a:off x="175518" y="0"/>
              <a:ext cx="963613" cy="695325"/>
            </a:xfrm>
            <a:custGeom>
              <a:avLst/>
              <a:gdLst/>
              <a:ahLst/>
              <a:cxnLst>
                <a:cxn ang="0">
                  <a:pos x="607" y="136"/>
                </a:cxn>
                <a:cxn ang="0">
                  <a:pos x="511" y="136"/>
                </a:cxn>
                <a:cxn ang="0">
                  <a:pos x="511" y="0"/>
                </a:cxn>
                <a:cxn ang="0">
                  <a:pos x="607" y="0"/>
                </a:cxn>
                <a:cxn ang="0">
                  <a:pos x="607" y="136"/>
                </a:cxn>
                <a:cxn ang="0">
                  <a:pos x="607" y="302"/>
                </a:cxn>
                <a:cxn ang="0">
                  <a:pos x="511" y="302"/>
                </a:cxn>
                <a:cxn ang="0">
                  <a:pos x="511" y="438"/>
                </a:cxn>
                <a:cxn ang="0">
                  <a:pos x="607" y="438"/>
                </a:cxn>
                <a:cxn ang="0">
                  <a:pos x="607" y="302"/>
                </a:cxn>
                <a:cxn ang="0">
                  <a:pos x="96" y="0"/>
                </a:cxn>
                <a:cxn ang="0">
                  <a:pos x="0" y="0"/>
                </a:cxn>
                <a:cxn ang="0">
                  <a:pos x="0" y="136"/>
                </a:cxn>
                <a:cxn ang="0">
                  <a:pos x="96" y="136"/>
                </a:cxn>
                <a:cxn ang="0">
                  <a:pos x="96" y="0"/>
                </a:cxn>
                <a:cxn ang="0">
                  <a:pos x="96" y="302"/>
                </a:cxn>
                <a:cxn ang="0">
                  <a:pos x="0" y="302"/>
                </a:cxn>
                <a:cxn ang="0">
                  <a:pos x="0" y="438"/>
                </a:cxn>
                <a:cxn ang="0">
                  <a:pos x="96" y="438"/>
                </a:cxn>
                <a:cxn ang="0">
                  <a:pos x="96" y="302"/>
                </a:cxn>
              </a:cxnLst>
              <a:rect l="0" t="0" r="r" b="b"/>
              <a:pathLst>
                <a:path w="607" h="438">
                  <a:moveTo>
                    <a:pt x="607" y="136"/>
                  </a:moveTo>
                  <a:lnTo>
                    <a:pt x="511" y="136"/>
                  </a:lnTo>
                  <a:lnTo>
                    <a:pt x="511" y="0"/>
                  </a:lnTo>
                  <a:lnTo>
                    <a:pt x="607" y="0"/>
                  </a:lnTo>
                  <a:lnTo>
                    <a:pt x="607" y="136"/>
                  </a:lnTo>
                  <a:close/>
                  <a:moveTo>
                    <a:pt x="607" y="302"/>
                  </a:moveTo>
                  <a:lnTo>
                    <a:pt x="511" y="302"/>
                  </a:lnTo>
                  <a:lnTo>
                    <a:pt x="511" y="438"/>
                  </a:lnTo>
                  <a:lnTo>
                    <a:pt x="607" y="438"/>
                  </a:lnTo>
                  <a:lnTo>
                    <a:pt x="607" y="302"/>
                  </a:lnTo>
                  <a:close/>
                  <a:moveTo>
                    <a:pt x="96" y="0"/>
                  </a:moveTo>
                  <a:lnTo>
                    <a:pt x="0" y="0"/>
                  </a:lnTo>
                  <a:lnTo>
                    <a:pt x="0" y="136"/>
                  </a:lnTo>
                  <a:lnTo>
                    <a:pt x="96" y="136"/>
                  </a:lnTo>
                  <a:lnTo>
                    <a:pt x="96" y="0"/>
                  </a:lnTo>
                  <a:close/>
                  <a:moveTo>
                    <a:pt x="96" y="302"/>
                  </a:moveTo>
                  <a:lnTo>
                    <a:pt x="0" y="302"/>
                  </a:lnTo>
                  <a:lnTo>
                    <a:pt x="0" y="438"/>
                  </a:lnTo>
                  <a:lnTo>
                    <a:pt x="96" y="438"/>
                  </a:lnTo>
                  <a:lnTo>
                    <a:pt x="96" y="302"/>
                  </a:lnTo>
                  <a:close/>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16" name="Espace réservé du texte 8"/>
          <p:cNvSpPr>
            <a:spLocks noGrp="1"/>
          </p:cNvSpPr>
          <p:nvPr>
            <p:ph type="body" sz="quarter" idx="4294967295"/>
          </p:nvPr>
        </p:nvSpPr>
        <p:spPr>
          <a:xfrm>
            <a:off x="1360586" y="382194"/>
            <a:ext cx="1362736" cy="615553"/>
          </a:xfrm>
          <a:prstGeom prst="rect">
            <a:avLst/>
          </a:prstGeom>
        </p:spPr>
        <p:txBody>
          <a:bodyPr wrap="square" lIns="0" tIns="0" rIns="0" bIns="0">
            <a:spAutoFit/>
          </a:bodyPr>
          <a:lstStyle/>
          <a:p>
            <a:pPr lvl="0">
              <a:spcAft>
                <a:spcPts val="0"/>
              </a:spcAft>
            </a:pPr>
            <a:r>
              <a:rPr lang="en-US" sz="800" dirty="0">
                <a:solidFill>
                  <a:srgbClr val="00338D"/>
                </a:solidFill>
                <a:latin typeface="Univers for KPMG" panose="020B0603020202020204" pitchFamily="34" charset="0"/>
              </a:rPr>
              <a:t>KPMG LLP</a:t>
            </a:r>
          </a:p>
          <a:p>
            <a:pPr lvl="0">
              <a:spcAft>
                <a:spcPts val="0"/>
              </a:spcAft>
            </a:pPr>
            <a:r>
              <a:rPr lang="en-US" sz="800" b="0" dirty="0">
                <a:solidFill>
                  <a:srgbClr val="00338D"/>
                </a:solidFill>
                <a:latin typeface="Univers for KPMG" panose="020B0603020202020204" pitchFamily="34" charset="0"/>
              </a:rPr>
              <a:t>Bay Adelaide Centre</a:t>
            </a:r>
          </a:p>
          <a:p>
            <a:pPr lvl="0">
              <a:spcAft>
                <a:spcPts val="0"/>
              </a:spcAft>
            </a:pPr>
            <a:r>
              <a:rPr lang="en-US" sz="800" b="0" dirty="0">
                <a:solidFill>
                  <a:srgbClr val="00338D"/>
                </a:solidFill>
                <a:latin typeface="Univers for KPMG" panose="020B0603020202020204" pitchFamily="34" charset="0"/>
              </a:rPr>
              <a:t>333 Bay Street Suite 4600</a:t>
            </a:r>
          </a:p>
          <a:p>
            <a:pPr lvl="0">
              <a:spcAft>
                <a:spcPts val="0"/>
              </a:spcAft>
            </a:pPr>
            <a:r>
              <a:rPr lang="en-US" sz="800" b="0" dirty="0">
                <a:solidFill>
                  <a:srgbClr val="00338D"/>
                </a:solidFill>
                <a:latin typeface="Univers for KPMG" panose="020B0603020202020204" pitchFamily="34" charset="0"/>
              </a:rPr>
              <a:t>Toronto ON M5H 2S5</a:t>
            </a:r>
          </a:p>
          <a:p>
            <a:pPr lvl="0">
              <a:spcAft>
                <a:spcPts val="0"/>
              </a:spcAft>
            </a:pPr>
            <a:r>
              <a:rPr lang="en-US" sz="800" b="0" dirty="0">
                <a:solidFill>
                  <a:srgbClr val="00338D"/>
                </a:solidFill>
                <a:latin typeface="Univers for KPMG" panose="020B0603020202020204" pitchFamily="34" charset="0"/>
              </a:rPr>
              <a:t>Canada</a:t>
            </a:r>
          </a:p>
        </p:txBody>
      </p:sp>
      <p:sp>
        <p:nvSpPr>
          <p:cNvPr id="19" name="Espace réservé du texte 8"/>
          <p:cNvSpPr>
            <a:spLocks noGrp="1"/>
          </p:cNvSpPr>
          <p:nvPr>
            <p:ph type="body" sz="quarter" idx="4294967295"/>
          </p:nvPr>
        </p:nvSpPr>
        <p:spPr>
          <a:xfrm>
            <a:off x="2825898" y="494836"/>
            <a:ext cx="2024397" cy="369332"/>
          </a:xfrm>
          <a:prstGeom prst="rect">
            <a:avLst/>
          </a:prstGeom>
        </p:spPr>
        <p:txBody>
          <a:bodyPr wrap="square" lIns="0" tIns="0" rIns="0" bIns="0">
            <a:spAutoFit/>
          </a:bodyPr>
          <a:lstStyle/>
          <a:p>
            <a:pPr lvl="0">
              <a:spcAft>
                <a:spcPts val="0"/>
              </a:spcAft>
            </a:pPr>
            <a:r>
              <a:rPr lang="en-US" sz="800" b="0" dirty="0">
                <a:solidFill>
                  <a:srgbClr val="00338D"/>
                </a:solidFill>
                <a:latin typeface="Univers for KPMG" panose="020B0603020202020204" pitchFamily="34" charset="0"/>
              </a:rPr>
              <a:t>Telephone +1 (416) 777-8500</a:t>
            </a:r>
          </a:p>
          <a:p>
            <a:pPr lvl="0">
              <a:spcAft>
                <a:spcPts val="0"/>
              </a:spcAft>
            </a:pPr>
            <a:r>
              <a:rPr lang="en-US" sz="800" b="0" dirty="0">
                <a:solidFill>
                  <a:srgbClr val="00338D"/>
                </a:solidFill>
                <a:latin typeface="Univers for KPMG" panose="020B0603020202020204" pitchFamily="34" charset="0"/>
              </a:rPr>
              <a:t>Fax +1 (416) 777-8818</a:t>
            </a:r>
          </a:p>
          <a:p>
            <a:pPr lvl="0">
              <a:spcAft>
                <a:spcPts val="0"/>
              </a:spcAft>
            </a:pPr>
            <a:r>
              <a:rPr lang="en-US" sz="800" b="0" dirty="0">
                <a:solidFill>
                  <a:srgbClr val="00338D"/>
                </a:solidFill>
                <a:latin typeface="Univers for KPMG" panose="020B0603020202020204" pitchFamily="34" charset="0"/>
              </a:rPr>
              <a:t>www.kpmg.ca</a:t>
            </a:r>
          </a:p>
        </p:txBody>
      </p:sp>
      <p:sp>
        <p:nvSpPr>
          <p:cNvPr id="11"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spTree>
    <p:extLst>
      <p:ext uri="{BB962C8B-B14F-4D97-AF65-F5344CB8AC3E}">
        <p14:creationId xmlns:p14="http://schemas.microsoft.com/office/powerpoint/2010/main" val="1648754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80400" cy="734400"/>
          </a:xfrm>
        </p:spPr>
        <p:txBody>
          <a:bodyPr/>
          <a:lstStyle/>
          <a:p>
            <a:r>
              <a:rPr lang="en-CA" noProof="0" dirty="0"/>
              <a:t>Contents</a:t>
            </a:r>
          </a:p>
        </p:txBody>
      </p:sp>
      <p:graphicFrame>
        <p:nvGraphicFramePr>
          <p:cNvPr id="3" name="Table 2"/>
          <p:cNvGraphicFramePr>
            <a:graphicFrameLocks noGrp="1"/>
          </p:cNvGraphicFramePr>
          <p:nvPr>
            <p:extLst>
              <p:ext uri="{D42A27DB-BD31-4B8C-83A1-F6EECF244321}">
                <p14:modId xmlns:p14="http://schemas.microsoft.com/office/powerpoint/2010/main" val="1830771023"/>
              </p:ext>
            </p:extLst>
          </p:nvPr>
        </p:nvGraphicFramePr>
        <p:xfrm>
          <a:off x="825638" y="1449696"/>
          <a:ext cx="7635600" cy="2958120"/>
        </p:xfrm>
        <a:graphic>
          <a:graphicData uri="http://schemas.openxmlformats.org/drawingml/2006/table">
            <a:tbl>
              <a:tblPr firstRow="1" bandRow="1">
                <a:tableStyleId>{5C22544A-7EE6-4342-B048-85BDC9FD1C3A}</a:tableStyleId>
              </a:tblPr>
              <a:tblGrid>
                <a:gridCol w="6346800">
                  <a:extLst>
                    <a:ext uri="{9D8B030D-6E8A-4147-A177-3AD203B41FA5}">
                      <a16:colId xmlns:a16="http://schemas.microsoft.com/office/drawing/2014/main" xmlns="" val="20000"/>
                    </a:ext>
                  </a:extLst>
                </a:gridCol>
                <a:gridCol w="1288800">
                  <a:extLst>
                    <a:ext uri="{9D8B030D-6E8A-4147-A177-3AD203B41FA5}">
                      <a16:colId xmlns:a16="http://schemas.microsoft.com/office/drawing/2014/main" xmlns="" val="20001"/>
                    </a:ext>
                  </a:extLst>
                </a:gridCol>
              </a:tblGrid>
              <a:tr h="0">
                <a:tc>
                  <a:txBody>
                    <a:bodyPr/>
                    <a:lstStyle/>
                    <a:p>
                      <a:pPr eaLnBrk="1"/>
                      <a:endParaRPr lang="en-CA" sz="900" dirty="0">
                        <a:solidFill>
                          <a:schemeClr val="tx2"/>
                        </a:solidFill>
                        <a:latin typeface="+mn-lt"/>
                      </a:endParaRPr>
                    </a:p>
                  </a:txBody>
                  <a:tcPr marL="0" marR="54610" marT="97200" marB="9720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CA" sz="900" dirty="0">
                          <a:solidFill>
                            <a:schemeClr val="tx2"/>
                          </a:solidFill>
                          <a:latin typeface="+mn-lt"/>
                        </a:rPr>
                        <a:t>Page</a:t>
                      </a:r>
                    </a:p>
                  </a:txBody>
                  <a:tcPr marL="54610" marR="0" marT="0" marB="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0"/>
                  </a:ext>
                </a:extLst>
              </a:tr>
              <a:tr h="0">
                <a:tc>
                  <a:txBody>
                    <a:bodyPr/>
                    <a:lstStyle/>
                    <a:p>
                      <a:pPr marL="0" marR="0" lvl="0" indent="0" algn="l" defTabSz="762000" rtl="0" eaLnBrk="1" fontAlgn="base" latinLnBrk="0" hangingPunct="1">
                        <a:lnSpc>
                          <a:spcPct val="100000"/>
                        </a:lnSpc>
                        <a:spcBef>
                          <a:spcPct val="40000"/>
                        </a:spcBef>
                        <a:spcAft>
                          <a:spcPct val="0"/>
                        </a:spcAft>
                        <a:buClrTx/>
                        <a:buSzTx/>
                        <a:buFontTx/>
                        <a:buNone/>
                        <a:tabLst/>
                      </a:pPr>
                      <a:r>
                        <a:rPr lang="en-US" sz="1000" b="1" kern="1200" noProof="0" dirty="0">
                          <a:solidFill>
                            <a:srgbClr val="00338D"/>
                          </a:solidFill>
                          <a:latin typeface="+mn-lt"/>
                          <a:ea typeface="+mn-ea"/>
                          <a:cs typeface="Arial" pitchFamily="34" charset="0"/>
                        </a:rPr>
                        <a:t>Executive summary</a:t>
                      </a:r>
                    </a:p>
                  </a:txBody>
                  <a:tcPr marL="72000" marR="72000" marT="72000" marB="72000" anchor="ctr" horzOverflow="overflow">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a:endParaRPr lang="en-CA" sz="900" dirty="0">
                        <a:solidFill>
                          <a:schemeClr val="tx2"/>
                        </a:solidFill>
                        <a:latin typeface="+mn-lt"/>
                      </a:endParaRPr>
                    </a:p>
                  </a:txBody>
                  <a:tcPr marL="54610" marR="0" marT="97200" marB="9720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1"/>
                  </a:ext>
                </a:extLst>
              </a:tr>
              <a:tr h="0">
                <a:tc>
                  <a:txBody>
                    <a:bodyPr/>
                    <a:lstStyle/>
                    <a:p>
                      <a:pPr marL="180000" marR="0" lvl="2" indent="-180000" algn="l" defTabSz="914400" rtl="0" eaLnBrk="1" fontAlgn="base" latinLnBrk="0" hangingPunct="1">
                        <a:lnSpc>
                          <a:spcPct val="100000"/>
                        </a:lnSpc>
                        <a:spcBef>
                          <a:spcPts val="600"/>
                        </a:spcBef>
                        <a:spcAft>
                          <a:spcPct val="0"/>
                        </a:spcAft>
                        <a:buClr>
                          <a:schemeClr val="tx2"/>
                        </a:buClr>
                        <a:buSzPct val="100000"/>
                        <a:buFont typeface="Arial" panose="020B0604020202020204" pitchFamily="34" charset="0"/>
                        <a:buChar char="–"/>
                        <a:tabLst/>
                      </a:pPr>
                      <a:r>
                        <a:rPr lang="en-US" sz="900" kern="1200" dirty="0">
                          <a:solidFill>
                            <a:srgbClr val="00338D"/>
                          </a:solidFill>
                          <a:latin typeface="+mn-lt"/>
                          <a:ea typeface="+mn-ea"/>
                          <a:cs typeface="+mn-cs"/>
                        </a:rPr>
                        <a:t>Business overview</a:t>
                      </a:r>
                      <a:endParaRPr lang="en-US" sz="900" kern="1200" noProof="0" dirty="0">
                        <a:solidFill>
                          <a:srgbClr val="00338D"/>
                        </a:solidFill>
                        <a:latin typeface="+mn-lt"/>
                        <a:ea typeface="+mn-ea"/>
                        <a:cs typeface="+mn-cs"/>
                      </a:endParaRP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185738" algn="r" defTabSz="9144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900" kern="1200" noProof="0" dirty="0" smtClean="0">
                          <a:solidFill>
                            <a:schemeClr val="tx2"/>
                          </a:solidFill>
                          <a:latin typeface="Univers for KPMG" panose="020B0603020202020204" pitchFamily="34" charset="0"/>
                          <a:ea typeface="+mn-ea"/>
                          <a:cs typeface="+mn-cs"/>
                        </a:rPr>
                        <a:t>7</a:t>
                      </a:r>
                      <a:endParaRPr lang="en-US" sz="900" kern="1200" noProof="0" dirty="0">
                        <a:solidFill>
                          <a:schemeClr val="tx2"/>
                        </a:solidFill>
                        <a:latin typeface="Univers for KPMG" panose="020B0603020202020204" pitchFamily="34" charset="0"/>
                        <a:ea typeface="+mn-ea"/>
                        <a:cs typeface="+mn-cs"/>
                      </a:endParaRP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2"/>
                  </a:ext>
                </a:extLst>
              </a:tr>
              <a:tr h="0">
                <a:tc>
                  <a:txBody>
                    <a:bodyPr/>
                    <a:lstStyle/>
                    <a:p>
                      <a:pPr marL="180000" marR="0" lvl="2" indent="-180000" algn="l" defTabSz="914400" rtl="0" eaLnBrk="1" fontAlgn="base" latinLnBrk="0" hangingPunct="1">
                        <a:lnSpc>
                          <a:spcPct val="100000"/>
                        </a:lnSpc>
                        <a:spcBef>
                          <a:spcPts val="600"/>
                        </a:spcBef>
                        <a:spcAft>
                          <a:spcPct val="0"/>
                        </a:spcAft>
                        <a:buClr>
                          <a:schemeClr val="tx2"/>
                        </a:buClr>
                        <a:buSzPct val="100000"/>
                        <a:buFont typeface="Arial" panose="020B0604020202020204" pitchFamily="34" charset="0"/>
                        <a:buChar char="–"/>
                        <a:tabLst/>
                      </a:pPr>
                      <a:r>
                        <a:rPr lang="en-US" sz="900" kern="1200" noProof="0" dirty="0">
                          <a:solidFill>
                            <a:srgbClr val="00338D"/>
                          </a:solidFill>
                          <a:latin typeface="+mn-lt"/>
                          <a:ea typeface="+mn-ea"/>
                          <a:cs typeface="+mn-cs"/>
                        </a:rPr>
                        <a:t>Summary financial </a:t>
                      </a:r>
                      <a:r>
                        <a:rPr lang="en-US" sz="900" kern="1200" noProof="0" dirty="0" smtClean="0">
                          <a:solidFill>
                            <a:srgbClr val="00338D"/>
                          </a:solidFill>
                          <a:latin typeface="+mn-lt"/>
                          <a:ea typeface="+mn-ea"/>
                          <a:cs typeface="+mn-cs"/>
                        </a:rPr>
                        <a:t>statements</a:t>
                      </a:r>
                      <a:endParaRPr lang="en-US" sz="900" kern="1200" noProof="0" dirty="0">
                        <a:solidFill>
                          <a:srgbClr val="00338D"/>
                        </a:solidFill>
                        <a:latin typeface="+mn-lt"/>
                        <a:ea typeface="+mn-ea"/>
                        <a:cs typeface="+mn-cs"/>
                      </a:endParaRP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185738" algn="r" defTabSz="9144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900" kern="1200" noProof="0" dirty="0" smtClean="0">
                          <a:solidFill>
                            <a:schemeClr val="tx2"/>
                          </a:solidFill>
                          <a:latin typeface="Univers for KPMG" panose="020B0603020202020204" pitchFamily="34" charset="0"/>
                          <a:ea typeface="+mn-ea"/>
                          <a:cs typeface="+mn-cs"/>
                        </a:rPr>
                        <a:t>8</a:t>
                      </a:r>
                      <a:endParaRPr lang="en-US" sz="900" kern="1200" noProof="0" dirty="0">
                        <a:solidFill>
                          <a:schemeClr val="tx2"/>
                        </a:solidFill>
                        <a:latin typeface="Univers for KPMG" panose="020B0603020202020204" pitchFamily="34" charset="0"/>
                        <a:ea typeface="+mn-ea"/>
                        <a:cs typeface="+mn-cs"/>
                      </a:endParaRP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3"/>
                  </a:ext>
                </a:extLst>
              </a:tr>
              <a:tr h="0">
                <a:tc>
                  <a:txBody>
                    <a:bodyPr/>
                    <a:lstStyle/>
                    <a:p>
                      <a:pPr marL="180000" marR="0" lvl="2" indent="-180000" algn="l" defTabSz="914400" rtl="0" eaLnBrk="1" fontAlgn="base" latinLnBrk="0" hangingPunct="1">
                        <a:lnSpc>
                          <a:spcPct val="100000"/>
                        </a:lnSpc>
                        <a:spcBef>
                          <a:spcPts val="600"/>
                        </a:spcBef>
                        <a:spcAft>
                          <a:spcPct val="0"/>
                        </a:spcAft>
                        <a:buClr>
                          <a:schemeClr val="tx2"/>
                        </a:buClr>
                        <a:buSzPct val="100000"/>
                        <a:buFont typeface="Arial" panose="020B0604020202020204" pitchFamily="34" charset="0"/>
                        <a:buChar char="–"/>
                        <a:tabLst/>
                      </a:pPr>
                      <a:r>
                        <a:rPr lang="en-US" sz="900" kern="1200" noProof="0" dirty="0" smtClean="0">
                          <a:solidFill>
                            <a:srgbClr val="00338D"/>
                          </a:solidFill>
                          <a:latin typeface="+mn-lt"/>
                          <a:ea typeface="+mn-ea"/>
                          <a:cs typeface="+mn-cs"/>
                        </a:rPr>
                        <a:t>Key findings</a:t>
                      </a:r>
                      <a:endParaRPr lang="en-US" sz="900" kern="1200" noProof="0" dirty="0">
                        <a:solidFill>
                          <a:srgbClr val="00338D"/>
                        </a:solidFill>
                        <a:latin typeface="+mn-lt"/>
                        <a:ea typeface="+mn-ea"/>
                        <a:cs typeface="+mn-cs"/>
                      </a:endParaRP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185738" algn="r" defTabSz="9144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900" kern="1200" noProof="0" dirty="0" smtClean="0">
                          <a:solidFill>
                            <a:schemeClr val="tx2"/>
                          </a:solidFill>
                          <a:latin typeface="Univers for KPMG" panose="020B0603020202020204" pitchFamily="34" charset="0"/>
                          <a:ea typeface="+mn-ea"/>
                          <a:cs typeface="+mn-cs"/>
                        </a:rPr>
                        <a:t>9</a:t>
                      </a:r>
                      <a:endParaRPr lang="en-US" sz="900" kern="1200" noProof="0" dirty="0">
                        <a:solidFill>
                          <a:schemeClr val="tx2"/>
                        </a:solidFill>
                        <a:latin typeface="Univers for KPMG" panose="020B0603020202020204" pitchFamily="34" charset="0"/>
                        <a:ea typeface="+mn-ea"/>
                        <a:cs typeface="+mn-cs"/>
                      </a:endParaRP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0">
                <a:tc>
                  <a:txBody>
                    <a:bodyPr/>
                    <a:lstStyle/>
                    <a:p>
                      <a:pPr marL="187325" marR="0" lvl="1" indent="-185738" algn="l"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1000" b="1" kern="1200" noProof="0" dirty="0">
                          <a:solidFill>
                            <a:srgbClr val="00338D"/>
                          </a:solidFill>
                          <a:latin typeface="+mn-lt"/>
                          <a:ea typeface="+mn-ea"/>
                          <a:cs typeface="Arial" pitchFamily="34" charset="0"/>
                        </a:rPr>
                        <a:t>Supporting analysis</a:t>
                      </a: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185738" algn="r" defTabSz="914400" rtl="0" eaLnBrk="1" fontAlgn="base" latinLnBrk="0" hangingPunct="1">
                        <a:lnSpc>
                          <a:spcPct val="100000"/>
                        </a:lnSpc>
                        <a:spcBef>
                          <a:spcPct val="40000"/>
                        </a:spcBef>
                        <a:spcAft>
                          <a:spcPct val="0"/>
                        </a:spcAft>
                        <a:buClr>
                          <a:schemeClr val="tx2"/>
                        </a:buClr>
                        <a:buSzPct val="85000"/>
                        <a:buFont typeface="Wingdings" pitchFamily="2" charset="2"/>
                        <a:buNone/>
                        <a:tabLst/>
                      </a:pPr>
                      <a:endParaRPr lang="en-US" sz="900" kern="1200" noProof="0" dirty="0">
                        <a:solidFill>
                          <a:schemeClr val="tx2"/>
                        </a:solidFill>
                        <a:latin typeface="Univers for KPMG" panose="020B0603020202020204" pitchFamily="34" charset="0"/>
                        <a:ea typeface="+mn-ea"/>
                        <a:cs typeface="+mn-cs"/>
                      </a:endParaRP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4"/>
                  </a:ext>
                </a:extLst>
              </a:tr>
              <a:tr h="0">
                <a:tc>
                  <a:txBody>
                    <a:bodyPr/>
                    <a:lstStyle/>
                    <a:p>
                      <a:pPr marL="180000" marR="0" lvl="2" indent="-180000" algn="l" defTabSz="914400" rtl="0" eaLnBrk="1" fontAlgn="base" latinLnBrk="0" hangingPunct="1">
                        <a:lnSpc>
                          <a:spcPct val="100000"/>
                        </a:lnSpc>
                        <a:spcBef>
                          <a:spcPts val="600"/>
                        </a:spcBef>
                        <a:spcAft>
                          <a:spcPct val="0"/>
                        </a:spcAft>
                        <a:buClr>
                          <a:schemeClr val="tx2"/>
                        </a:buClr>
                        <a:buSzPct val="100000"/>
                        <a:buFont typeface="Arial" panose="020B0604020202020204" pitchFamily="34" charset="0"/>
                        <a:buChar char="–"/>
                        <a:tabLst/>
                      </a:pPr>
                      <a:r>
                        <a:rPr lang="en-US" sz="900" kern="1200" noProof="0" dirty="0">
                          <a:solidFill>
                            <a:srgbClr val="00338D"/>
                          </a:solidFill>
                          <a:latin typeface="+mn-lt"/>
                          <a:ea typeface="+mn-ea"/>
                          <a:cs typeface="+mn-cs"/>
                        </a:rPr>
                        <a:t>Quality of earnings</a:t>
                      </a: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185738" algn="r" defTabSz="9144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900" kern="1200" noProof="0" dirty="0" smtClean="0">
                          <a:solidFill>
                            <a:schemeClr val="tx2"/>
                          </a:solidFill>
                          <a:latin typeface="Univers for KPMG" panose="020B0603020202020204" pitchFamily="34" charset="0"/>
                          <a:ea typeface="+mn-ea"/>
                          <a:cs typeface="+mn-cs"/>
                        </a:rPr>
                        <a:t>13</a:t>
                      </a:r>
                      <a:endParaRPr lang="en-US" sz="900" kern="1200" noProof="0" dirty="0">
                        <a:solidFill>
                          <a:schemeClr val="tx2"/>
                        </a:solidFill>
                        <a:latin typeface="Univers for KPMG" panose="020B0603020202020204" pitchFamily="34" charset="0"/>
                        <a:ea typeface="+mn-ea"/>
                        <a:cs typeface="+mn-cs"/>
                      </a:endParaRP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5"/>
                  </a:ext>
                </a:extLst>
              </a:tr>
              <a:tr h="0">
                <a:tc>
                  <a:txBody>
                    <a:bodyPr/>
                    <a:lstStyle/>
                    <a:p>
                      <a:pPr marL="180000" marR="0" lvl="2" indent="-180000" algn="l" defTabSz="914400" rtl="0" eaLnBrk="1" fontAlgn="base" latinLnBrk="0" hangingPunct="1">
                        <a:lnSpc>
                          <a:spcPct val="100000"/>
                        </a:lnSpc>
                        <a:spcBef>
                          <a:spcPts val="600"/>
                        </a:spcBef>
                        <a:spcAft>
                          <a:spcPct val="0"/>
                        </a:spcAft>
                        <a:buClr>
                          <a:schemeClr val="tx2"/>
                        </a:buClr>
                        <a:buSzPct val="100000"/>
                        <a:buFont typeface="Arial" panose="020B0604020202020204" pitchFamily="34" charset="0"/>
                        <a:buChar char="–"/>
                        <a:tabLst/>
                      </a:pPr>
                      <a:r>
                        <a:rPr lang="en-US" sz="900" kern="1200" noProof="0" dirty="0">
                          <a:solidFill>
                            <a:srgbClr val="00338D"/>
                          </a:solidFill>
                          <a:latin typeface="+mn-lt"/>
                          <a:ea typeface="+mn-ea"/>
                          <a:cs typeface="+mn-cs"/>
                        </a:rPr>
                        <a:t>Working capital</a:t>
                      </a: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185738" algn="r" defTabSz="9144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900" kern="1200" noProof="0" dirty="0" smtClean="0">
                          <a:solidFill>
                            <a:schemeClr val="tx2"/>
                          </a:solidFill>
                          <a:latin typeface="Univers for KPMG" panose="020B0603020202020204" pitchFamily="34" charset="0"/>
                          <a:ea typeface="+mn-ea"/>
                          <a:cs typeface="+mn-cs"/>
                        </a:rPr>
                        <a:t>25   </a:t>
                      </a:r>
                      <a:endParaRPr lang="en-US" sz="900" kern="1200" noProof="0" dirty="0">
                        <a:solidFill>
                          <a:schemeClr val="tx2"/>
                        </a:solidFill>
                        <a:latin typeface="Univers for KPMG" panose="020B0603020202020204" pitchFamily="34" charset="0"/>
                        <a:ea typeface="+mn-ea"/>
                        <a:cs typeface="+mn-cs"/>
                      </a:endParaRP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7"/>
                  </a:ext>
                </a:extLst>
              </a:tr>
              <a:tr h="0">
                <a:tc>
                  <a:txBody>
                    <a:bodyPr/>
                    <a:lstStyle/>
                    <a:p>
                      <a:pPr marL="177800" marR="0" lvl="2" indent="-177800" algn="l" defTabSz="914400" rtl="0" eaLnBrk="1" fontAlgn="base" latinLnBrk="0" hangingPunct="1">
                        <a:lnSpc>
                          <a:spcPct val="100000"/>
                        </a:lnSpc>
                        <a:spcBef>
                          <a:spcPts val="600"/>
                        </a:spcBef>
                        <a:spcAft>
                          <a:spcPct val="0"/>
                        </a:spcAft>
                        <a:buClr>
                          <a:srgbClr val="97989A"/>
                        </a:buClr>
                        <a:buSzPct val="100000"/>
                        <a:buFont typeface="Arial" pitchFamily="34" charset="0"/>
                        <a:buNone/>
                        <a:tabLst/>
                        <a:defRPr/>
                      </a:pPr>
                      <a:r>
                        <a:rPr lang="en-US" sz="1000" b="1" kern="1200" noProof="0" dirty="0">
                          <a:solidFill>
                            <a:srgbClr val="00338D"/>
                          </a:solidFill>
                          <a:latin typeface="+mn-lt"/>
                          <a:ea typeface="+mn-ea"/>
                          <a:cs typeface="Arial" pitchFamily="34" charset="0"/>
                        </a:rPr>
                        <a:t>Appendix</a:t>
                      </a: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185738" algn="r" defTabSz="9144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900" kern="1200" noProof="0" dirty="0" smtClean="0">
                          <a:solidFill>
                            <a:schemeClr val="tx2"/>
                          </a:solidFill>
                          <a:latin typeface="Univers for KPMG" panose="020B0603020202020204" pitchFamily="34" charset="0"/>
                          <a:ea typeface="+mn-ea"/>
                          <a:cs typeface="+mn-cs"/>
                        </a:rPr>
                        <a:t>27</a:t>
                      </a:r>
                      <a:endParaRPr lang="en-US" sz="900" kern="1200" noProof="0" dirty="0">
                        <a:solidFill>
                          <a:schemeClr val="tx2"/>
                        </a:solidFill>
                        <a:latin typeface="Univers for KPMG" panose="020B0603020202020204" pitchFamily="34" charset="0"/>
                        <a:ea typeface="+mn-ea"/>
                        <a:cs typeface="+mn-cs"/>
                      </a:endParaRP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8"/>
                  </a:ext>
                </a:extLst>
              </a:tr>
              <a:tr h="0">
                <a:tc>
                  <a:txBody>
                    <a:bodyPr/>
                    <a:lstStyle/>
                    <a:p>
                      <a:pPr marL="187325" marR="0" lvl="1" indent="-185738" algn="l" defTabSz="762000" rtl="0" eaLnBrk="1" fontAlgn="base" latinLnBrk="0" hangingPunct="1">
                        <a:lnSpc>
                          <a:spcPct val="100000"/>
                        </a:lnSpc>
                        <a:spcBef>
                          <a:spcPct val="40000"/>
                        </a:spcBef>
                        <a:spcAft>
                          <a:spcPct val="0"/>
                        </a:spcAft>
                        <a:buClr>
                          <a:schemeClr val="tx2"/>
                        </a:buClr>
                        <a:buSzPct val="85000"/>
                        <a:buFont typeface="Wingdings" pitchFamily="2" charset="2"/>
                        <a:buNone/>
                        <a:tabLst/>
                      </a:pPr>
                      <a:endParaRPr lang="en-US" sz="1000" b="1" kern="1200" noProof="0" dirty="0">
                        <a:solidFill>
                          <a:srgbClr val="00338D"/>
                        </a:solidFill>
                        <a:latin typeface="+mn-lt"/>
                        <a:ea typeface="+mn-ea"/>
                        <a:cs typeface="Arial" pitchFamily="34" charset="0"/>
                      </a:endParaRP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1" indent="-185738" algn="r" defTabSz="914400" rtl="0" eaLnBrk="1" fontAlgn="base" latinLnBrk="0" hangingPunct="1">
                        <a:lnSpc>
                          <a:spcPct val="100000"/>
                        </a:lnSpc>
                        <a:spcBef>
                          <a:spcPct val="40000"/>
                        </a:spcBef>
                        <a:spcAft>
                          <a:spcPct val="0"/>
                        </a:spcAft>
                        <a:buClr>
                          <a:schemeClr val="tx2"/>
                        </a:buClr>
                        <a:buSzPct val="85000"/>
                        <a:buFont typeface="Wingdings" pitchFamily="2" charset="2"/>
                        <a:buNone/>
                        <a:tabLst/>
                      </a:pPr>
                      <a:r>
                        <a:rPr lang="en-US" sz="900" kern="1200" noProof="0" dirty="0">
                          <a:solidFill>
                            <a:schemeClr val="tx2"/>
                          </a:solidFill>
                          <a:latin typeface="Univers for KPMG" panose="020B0603020202020204" pitchFamily="34" charset="0"/>
                          <a:ea typeface="+mn-ea"/>
                          <a:cs typeface="+mn-cs"/>
                        </a:rPr>
                        <a:t> </a:t>
                      </a:r>
                    </a:p>
                  </a:txBody>
                  <a:tcPr marL="72000" marR="72000" marT="72000"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xmlns="" val="10009"/>
                  </a:ext>
                </a:extLst>
              </a:tr>
            </a:tbl>
          </a:graphicData>
        </a:graphic>
      </p:graphicFrame>
      <p:sp>
        <p:nvSpPr>
          <p:cNvPr id="4" name="ZoneTexte 11">
            <a:extLst>
              <a:ext uri="{FF2B5EF4-FFF2-40B4-BE49-F238E27FC236}">
                <a16:creationId xmlns:a16="http://schemas.microsoft.com/office/drawing/2014/main" xmlns=""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spTree>
    <p:extLst>
      <p:ext uri="{BB962C8B-B14F-4D97-AF65-F5344CB8AC3E}">
        <p14:creationId xmlns:p14="http://schemas.microsoft.com/office/powerpoint/2010/main" val="2217681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noProof="0" dirty="0"/>
              <a:t>Glossary</a:t>
            </a:r>
          </a:p>
        </p:txBody>
      </p:sp>
      <p:graphicFrame>
        <p:nvGraphicFramePr>
          <p:cNvPr id="5" name="Table 4"/>
          <p:cNvGraphicFramePr>
            <a:graphicFrameLocks noGrp="1"/>
          </p:cNvGraphicFramePr>
          <p:nvPr>
            <p:extLst>
              <p:ext uri="{D42A27DB-BD31-4B8C-83A1-F6EECF244321}">
                <p14:modId xmlns:p14="http://schemas.microsoft.com/office/powerpoint/2010/main" val="1905551389"/>
              </p:ext>
            </p:extLst>
          </p:nvPr>
        </p:nvGraphicFramePr>
        <p:xfrm>
          <a:off x="498475" y="1214876"/>
          <a:ext cx="3726000" cy="4813935"/>
        </p:xfrm>
        <a:graphic>
          <a:graphicData uri="http://schemas.openxmlformats.org/drawingml/2006/table">
            <a:tbl>
              <a:tblPr firstRow="1" bandRow="1">
                <a:tableStyleId>{5C22544A-7EE6-4342-B048-85BDC9FD1C3A}</a:tableStyleId>
              </a:tblPr>
              <a:tblGrid>
                <a:gridCol w="1206000">
                  <a:extLst>
                    <a:ext uri="{9D8B030D-6E8A-4147-A177-3AD203B41FA5}">
                      <a16:colId xmlns="" xmlns:a16="http://schemas.microsoft.com/office/drawing/2014/main" val="20000"/>
                    </a:ext>
                  </a:extLst>
                </a:gridCol>
                <a:gridCol w="2520000">
                  <a:extLst>
                    <a:ext uri="{9D8B030D-6E8A-4147-A177-3AD203B41FA5}">
                      <a16:colId xmlns="" xmlns:a16="http://schemas.microsoft.com/office/drawing/2014/main" val="20001"/>
                    </a:ext>
                  </a:extLst>
                </a:gridCol>
              </a:tblGrid>
              <a:tr h="253365">
                <a:tc>
                  <a:txBody>
                    <a:bodyPr/>
                    <a:lstStyle/>
                    <a:p>
                      <a:pPr algn="l" fontAlgn="b"/>
                      <a:r>
                        <a:rPr lang="en-US" sz="800" b="0" i="0" u="none" strike="noStrike" dirty="0">
                          <a:solidFill>
                            <a:srgbClr val="00338E"/>
                          </a:solidFill>
                          <a:effectLst/>
                          <a:latin typeface="Univers 65 Bold" pitchFamily="2" charset="0"/>
                        </a:rPr>
                        <a:t>$’000</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Thousands of United States dollars</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253365">
                <a:tc>
                  <a:txBody>
                    <a:bodyPr/>
                    <a:lstStyle/>
                    <a:p>
                      <a:pPr algn="l" fontAlgn="b"/>
                      <a:r>
                        <a:rPr lang="en-US" sz="800" b="0" i="0" u="none" strike="noStrike" dirty="0">
                          <a:solidFill>
                            <a:srgbClr val="00338E"/>
                          </a:solidFill>
                          <a:effectLst/>
                          <a:latin typeface="Univers 65 Bold" pitchFamily="2" charset="0"/>
                        </a:rPr>
                        <a:t>AASB</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Auditing and Assurance Standards Board</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3049907591"/>
                  </a:ext>
                </a:extLst>
              </a:tr>
              <a:tr h="253365">
                <a:tc>
                  <a:txBody>
                    <a:bodyPr/>
                    <a:lstStyle/>
                    <a:p>
                      <a:pPr algn="l" fontAlgn="b"/>
                      <a:r>
                        <a:rPr lang="en-US" sz="800" b="0" i="0" u="none" strike="noStrike" dirty="0">
                          <a:solidFill>
                            <a:srgbClr val="00338E"/>
                          </a:solidFill>
                          <a:effectLst/>
                          <a:latin typeface="Univers 65 Bold" pitchFamily="2" charset="0"/>
                        </a:rPr>
                        <a:t>ABA</a:t>
                      </a:r>
                    </a:p>
                  </a:txBody>
                  <a:tcPr marL="9525" marR="9525" marT="9525" marB="0" anchor="b">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Applied</a:t>
                      </a:r>
                      <a:r>
                        <a:rPr lang="en-US" sz="800" b="0" i="0" u="none" strike="noStrike" baseline="0" dirty="0">
                          <a:solidFill>
                            <a:srgbClr val="00338E"/>
                          </a:solidFill>
                          <a:effectLst/>
                          <a:latin typeface="UniversforKPMG" panose="020B0603020202020204" pitchFamily="34" charset="0"/>
                        </a:rPr>
                        <a:t> behavior analysis</a:t>
                      </a:r>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53365">
                <a:tc>
                  <a:txBody>
                    <a:bodyPr/>
                    <a:lstStyle/>
                    <a:p>
                      <a:pPr algn="l" fontAlgn="b"/>
                      <a:r>
                        <a:rPr lang="en-US" sz="800" b="0" i="0" u="none" strike="noStrike" dirty="0">
                          <a:solidFill>
                            <a:srgbClr val="00338E"/>
                          </a:solidFill>
                          <a:effectLst/>
                          <a:latin typeface="Univers 65 Bold" pitchFamily="2" charset="0"/>
                        </a:rPr>
                        <a:t>AP</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Accounts payables</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253365">
                <a:tc>
                  <a:txBody>
                    <a:bodyPr/>
                    <a:lstStyle/>
                    <a:p>
                      <a:pPr algn="l" fontAlgn="b"/>
                      <a:r>
                        <a:rPr lang="en-US" sz="800" b="0" i="0" u="none" strike="noStrike" dirty="0">
                          <a:solidFill>
                            <a:srgbClr val="00338E"/>
                          </a:solidFill>
                          <a:effectLst/>
                          <a:latin typeface="Univers 65 Bold" pitchFamily="2" charset="0"/>
                        </a:rPr>
                        <a:t>AR</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Accounts receivables</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r h="253365">
                <a:tc>
                  <a:txBody>
                    <a:bodyPr/>
                    <a:lstStyle/>
                    <a:p>
                      <a:pPr algn="l" fontAlgn="b"/>
                      <a:r>
                        <a:rPr lang="en-US" sz="800" b="0" i="0" u="none" strike="noStrike" dirty="0">
                          <a:solidFill>
                            <a:srgbClr val="00338E"/>
                          </a:solidFill>
                          <a:effectLst/>
                          <a:latin typeface="Univers 65 Bold" pitchFamily="2" charset="0"/>
                        </a:rPr>
                        <a:t>BCBA</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Board</a:t>
                      </a:r>
                      <a:r>
                        <a:rPr lang="en-US" sz="800" b="0" i="0" u="none" strike="noStrike" baseline="0" dirty="0">
                          <a:solidFill>
                            <a:srgbClr val="00338E"/>
                          </a:solidFill>
                          <a:effectLst/>
                          <a:latin typeface="UniversforKPMG" panose="020B0603020202020204" pitchFamily="34" charset="0"/>
                        </a:rPr>
                        <a:t> certified behavior analyst</a:t>
                      </a:r>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4"/>
                  </a:ext>
                </a:extLst>
              </a:tr>
              <a:tr h="253365">
                <a:tc>
                  <a:txBody>
                    <a:bodyPr/>
                    <a:lstStyle/>
                    <a:p>
                      <a:pPr algn="l" fontAlgn="b"/>
                      <a:r>
                        <a:rPr lang="en-US" sz="800" b="0" i="0" u="none" strike="noStrike" dirty="0">
                          <a:solidFill>
                            <a:srgbClr val="00338E"/>
                          </a:solidFill>
                          <a:effectLst/>
                          <a:latin typeface="Univers 65 Bold" pitchFamily="2" charset="0"/>
                        </a:rPr>
                        <a:t>Business</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Soto Assisted Living Group (“Soto ALG”)</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5"/>
                  </a:ext>
                </a:extLst>
              </a:tr>
              <a:tr h="253365">
                <a:tc>
                  <a:txBody>
                    <a:bodyPr/>
                    <a:lstStyle/>
                    <a:p>
                      <a:pPr algn="l" fontAlgn="b"/>
                      <a:r>
                        <a:rPr lang="en-US" sz="800" b="0" i="0" u="none" strike="noStrike" dirty="0">
                          <a:solidFill>
                            <a:srgbClr val="00338E"/>
                          </a:solidFill>
                          <a:effectLst/>
                          <a:latin typeface="Univers 65 Bold" pitchFamily="2" charset="0"/>
                        </a:rPr>
                        <a:t>CDSA</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Children’s developmental services agency</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6"/>
                  </a:ext>
                </a:extLst>
              </a:tr>
              <a:tr h="253365">
                <a:tc>
                  <a:txBody>
                    <a:bodyPr/>
                    <a:lstStyle/>
                    <a:p>
                      <a:pPr algn="l" fontAlgn="b"/>
                      <a:r>
                        <a:rPr lang="en-US" sz="800" b="0" i="0" u="none" strike="noStrike" dirty="0">
                          <a:solidFill>
                            <a:srgbClr val="00338E"/>
                          </a:solidFill>
                          <a:effectLst/>
                          <a:latin typeface="Univers 65 Bold" pitchFamily="2" charset="0"/>
                        </a:rPr>
                        <a:t>CEO</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Chief Executive Officer</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7"/>
                  </a:ext>
                </a:extLst>
              </a:tr>
              <a:tr h="253365">
                <a:tc>
                  <a:txBody>
                    <a:bodyPr/>
                    <a:lstStyle/>
                    <a:p>
                      <a:pPr algn="l" fontAlgn="b"/>
                      <a:r>
                        <a:rPr lang="en-US" sz="800" b="0" i="0" u="none" strike="noStrike" dirty="0">
                          <a:solidFill>
                            <a:srgbClr val="00338E"/>
                          </a:solidFill>
                          <a:effectLst/>
                          <a:latin typeface="Univers 65 Bold" pitchFamily="2" charset="0"/>
                        </a:rPr>
                        <a:t>CFO</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Chief Financial Officer</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8"/>
                  </a:ext>
                </a:extLst>
              </a:tr>
              <a:tr h="253365">
                <a:tc>
                  <a:txBody>
                    <a:bodyPr/>
                    <a:lstStyle/>
                    <a:p>
                      <a:pPr algn="l" fontAlgn="b"/>
                      <a:r>
                        <a:rPr lang="en-US" sz="800" b="0" i="0" u="none" strike="noStrike" dirty="0">
                          <a:solidFill>
                            <a:srgbClr val="00338E"/>
                          </a:solidFill>
                          <a:effectLst/>
                          <a:latin typeface="Univers 65 Bold" pitchFamily="2" charset="0"/>
                        </a:rPr>
                        <a:t>Client</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Caregiver, Inc.</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10"/>
                  </a:ext>
                </a:extLst>
              </a:tr>
              <a:tr h="253365">
                <a:tc>
                  <a:txBody>
                    <a:bodyPr/>
                    <a:lstStyle/>
                    <a:p>
                      <a:pPr algn="l" fontAlgn="b"/>
                      <a:r>
                        <a:rPr lang="en-US" sz="800" b="0" i="0" u="none" strike="noStrike" dirty="0">
                          <a:solidFill>
                            <a:srgbClr val="00338E"/>
                          </a:solidFill>
                          <a:effectLst/>
                          <a:latin typeface="Univers 65 Bold" pitchFamily="2" charset="0"/>
                        </a:rPr>
                        <a:t>CLS</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Community living support</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11"/>
                  </a:ext>
                </a:extLst>
              </a:tr>
              <a:tr h="253365">
                <a:tc>
                  <a:txBody>
                    <a:bodyPr/>
                    <a:lstStyle/>
                    <a:p>
                      <a:pPr algn="l" fontAlgn="b"/>
                      <a:r>
                        <a:rPr lang="en-US" sz="800" b="0" i="0" u="none" strike="noStrike" dirty="0">
                          <a:solidFill>
                            <a:srgbClr val="00338E"/>
                          </a:solidFill>
                          <a:effectLst/>
                          <a:latin typeface="Univers 65 Bold" pitchFamily="2" charset="0"/>
                        </a:rPr>
                        <a:t>Company/Target</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Entities within the transaction perimeter</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12"/>
                  </a:ext>
                </a:extLst>
              </a:tr>
              <a:tr h="253365">
                <a:tc>
                  <a:txBody>
                    <a:bodyPr/>
                    <a:lstStyle/>
                    <a:p>
                      <a:pPr algn="l" fontAlgn="b"/>
                      <a:r>
                        <a:rPr lang="en-US" sz="800" b="0" i="0" u="none" strike="noStrike" dirty="0">
                          <a:solidFill>
                            <a:srgbClr val="00338E"/>
                          </a:solidFill>
                          <a:effectLst/>
                          <a:latin typeface="Univers 65 Bold" pitchFamily="2" charset="0"/>
                        </a:rPr>
                        <a:t>DPO</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Days payable outstanding</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14"/>
                  </a:ext>
                </a:extLst>
              </a:tr>
              <a:tr h="253365">
                <a:tc>
                  <a:txBody>
                    <a:bodyPr/>
                    <a:lstStyle/>
                    <a:p>
                      <a:pPr algn="l" fontAlgn="b"/>
                      <a:r>
                        <a:rPr lang="en-US" sz="800" b="0" i="0" u="none" strike="noStrike" dirty="0">
                          <a:solidFill>
                            <a:srgbClr val="00338E"/>
                          </a:solidFill>
                          <a:effectLst/>
                          <a:latin typeface="Univers 65 Bold" pitchFamily="2" charset="0"/>
                        </a:rPr>
                        <a:t>DSO</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Days sales outstanding</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17"/>
                  </a:ext>
                </a:extLst>
              </a:tr>
              <a:tr h="253365">
                <a:tc>
                  <a:txBody>
                    <a:bodyPr/>
                    <a:lstStyle/>
                    <a:p>
                      <a:pPr algn="l" fontAlgn="ctr"/>
                      <a:r>
                        <a:rPr lang="en-US" sz="800" b="0" i="0" u="none" strike="noStrike" dirty="0">
                          <a:solidFill>
                            <a:srgbClr val="00338E"/>
                          </a:solidFill>
                          <a:effectLst/>
                          <a:latin typeface="Univers 65 Bold" pitchFamily="2" charset="0"/>
                        </a:rPr>
                        <a:t>EBITDA</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Earnings before interest, taxes, depreciation and amortization</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15"/>
                  </a:ext>
                </a:extLst>
              </a:tr>
              <a:tr h="253365">
                <a:tc>
                  <a:txBody>
                    <a:bodyPr/>
                    <a:lstStyle/>
                    <a:p>
                      <a:pPr algn="l" fontAlgn="b"/>
                      <a:r>
                        <a:rPr lang="en-US" sz="800" b="0" i="0" u="none" strike="noStrike" dirty="0">
                          <a:solidFill>
                            <a:srgbClr val="00338E"/>
                          </a:solidFill>
                          <a:effectLst/>
                          <a:latin typeface="Univers 65 Bold" pitchFamily="2" charset="0"/>
                        </a:rPr>
                        <a:t>FMV</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Fair</a:t>
                      </a:r>
                      <a:r>
                        <a:rPr lang="en-US" sz="800" b="0" i="0" u="none" strike="noStrike" baseline="0" dirty="0">
                          <a:solidFill>
                            <a:srgbClr val="00338E"/>
                          </a:solidFill>
                          <a:effectLst/>
                          <a:latin typeface="UniversforKPMG" panose="020B0603020202020204" pitchFamily="34" charset="0"/>
                        </a:rPr>
                        <a:t> market value</a:t>
                      </a:r>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16"/>
                  </a:ext>
                </a:extLst>
              </a:tr>
              <a:tr h="253365">
                <a:tc>
                  <a:txBody>
                    <a:bodyPr/>
                    <a:lstStyle/>
                    <a:p>
                      <a:pPr algn="l" fontAlgn="b"/>
                      <a:r>
                        <a:rPr lang="en-US" sz="800" b="0" i="0" u="none" strike="noStrike" dirty="0">
                          <a:solidFill>
                            <a:srgbClr val="00338E"/>
                          </a:solidFill>
                          <a:effectLst/>
                          <a:latin typeface="Univers 65 Bold" pitchFamily="2" charset="0"/>
                        </a:rPr>
                        <a:t>FYXX</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Fiscal year ended December 31, 20XX</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18"/>
                  </a:ext>
                </a:extLst>
              </a:tr>
              <a:tr h="253365">
                <a:tc>
                  <a:txBody>
                    <a:bodyPr/>
                    <a:lstStyle/>
                    <a:p>
                      <a:pPr algn="l" fontAlgn="b"/>
                      <a:r>
                        <a:rPr lang="en-US" sz="800" b="0" i="0" u="none" strike="noStrike" dirty="0">
                          <a:solidFill>
                            <a:srgbClr val="00338E"/>
                          </a:solidFill>
                          <a:effectLst/>
                          <a:latin typeface="Univers 65 Bold" pitchFamily="2" charset="0"/>
                        </a:rPr>
                        <a:t>GAAP</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Generally accepted accounting principles</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19"/>
                  </a:ext>
                </a:extLst>
              </a:tr>
            </a:tbl>
          </a:graphicData>
        </a:graphic>
      </p:graphicFrame>
      <p:sp>
        <p:nvSpPr>
          <p:cNvPr id="7"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graphicFrame>
        <p:nvGraphicFramePr>
          <p:cNvPr id="8" name="Table 7">
            <a:extLst>
              <a:ext uri="{FF2B5EF4-FFF2-40B4-BE49-F238E27FC236}">
                <a16:creationId xmlns="" xmlns:a16="http://schemas.microsoft.com/office/drawing/2014/main" id="{7FA1D6FB-5BDD-4247-8443-107C1423D702}"/>
              </a:ext>
            </a:extLst>
          </p:cNvPr>
          <p:cNvGraphicFramePr>
            <a:graphicFrameLocks noGrp="1"/>
          </p:cNvGraphicFramePr>
          <p:nvPr>
            <p:extLst>
              <p:ext uri="{D42A27DB-BD31-4B8C-83A1-F6EECF244321}">
                <p14:modId xmlns:p14="http://schemas.microsoft.com/office/powerpoint/2010/main" val="3262642452"/>
              </p:ext>
            </p:extLst>
          </p:nvPr>
        </p:nvGraphicFramePr>
        <p:xfrm>
          <a:off x="4403725" y="1214876"/>
          <a:ext cx="3726000" cy="4560570"/>
        </p:xfrm>
        <a:graphic>
          <a:graphicData uri="http://schemas.openxmlformats.org/drawingml/2006/table">
            <a:tbl>
              <a:tblPr firstRow="1" bandRow="1">
                <a:tableStyleId>{5C22544A-7EE6-4342-B048-85BDC9FD1C3A}</a:tableStyleId>
              </a:tblPr>
              <a:tblGrid>
                <a:gridCol w="1206000">
                  <a:extLst>
                    <a:ext uri="{9D8B030D-6E8A-4147-A177-3AD203B41FA5}">
                      <a16:colId xmlns="" xmlns:a16="http://schemas.microsoft.com/office/drawing/2014/main" val="20000"/>
                    </a:ext>
                  </a:extLst>
                </a:gridCol>
                <a:gridCol w="2520000">
                  <a:extLst>
                    <a:ext uri="{9D8B030D-6E8A-4147-A177-3AD203B41FA5}">
                      <a16:colId xmlns="" xmlns:a16="http://schemas.microsoft.com/office/drawing/2014/main" val="20001"/>
                    </a:ext>
                  </a:extLst>
                </a:gridCol>
              </a:tblGrid>
              <a:tr h="253365">
                <a:tc>
                  <a:txBody>
                    <a:bodyPr/>
                    <a:lstStyle/>
                    <a:p>
                      <a:pPr algn="l" fontAlgn="b"/>
                      <a:r>
                        <a:rPr lang="en-US" sz="800" b="0" i="0" u="none" strike="noStrike" dirty="0">
                          <a:solidFill>
                            <a:srgbClr val="00338E"/>
                          </a:solidFill>
                          <a:effectLst/>
                          <a:latin typeface="Univers 65 Bold" pitchFamily="2" charset="0"/>
                        </a:rPr>
                        <a:t>IDD</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l" fontAlgn="b"/>
                      <a:r>
                        <a:rPr lang="en-US" sz="800" b="0" i="0" u="none" strike="noStrike" dirty="0">
                          <a:solidFill>
                            <a:srgbClr val="00338E"/>
                          </a:solidFill>
                          <a:effectLst/>
                          <a:latin typeface="UniversforKPMG" panose="020B0603020202020204" pitchFamily="34" charset="0"/>
                        </a:rPr>
                        <a:t>Intellectual and developmental disabilities</a:t>
                      </a:r>
                    </a:p>
                  </a:txBody>
                  <a:tcPr marL="9525" marR="9525" marT="9525"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0"/>
                  </a:ext>
                </a:extLst>
              </a:tr>
              <a:tr h="253365">
                <a:tc>
                  <a:txBody>
                    <a:bodyPr/>
                    <a:lstStyle/>
                    <a:p>
                      <a:pPr algn="l" fontAlgn="b"/>
                      <a:r>
                        <a:rPr lang="en-US" sz="800" b="0" i="0" u="none" strike="noStrike" dirty="0">
                          <a:solidFill>
                            <a:srgbClr val="00338E"/>
                          </a:solidFill>
                          <a:effectLst/>
                          <a:latin typeface="Univers 65 Bold" pitchFamily="2" charset="0"/>
                        </a:rPr>
                        <a:t>IT</a:t>
                      </a:r>
                    </a:p>
                  </a:txBody>
                  <a:tcPr marL="9525" marR="9525" marT="9525"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r>
                        <a:rPr lang="en-US" sz="800" b="0" i="0" u="none" strike="noStrike" dirty="0">
                          <a:solidFill>
                            <a:srgbClr val="00338E"/>
                          </a:solidFill>
                          <a:effectLst/>
                          <a:latin typeface="UniversforKPMG" panose="020B0603020202020204" pitchFamily="34" charset="0"/>
                        </a:rPr>
                        <a:t>Information technology</a:t>
                      </a:r>
                    </a:p>
                  </a:txBody>
                  <a:tcPr marL="9525" marR="9525" marT="9525"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1"/>
                  </a:ext>
                </a:extLst>
              </a:tr>
              <a:tr h="253365">
                <a:tc>
                  <a:txBody>
                    <a:bodyPr/>
                    <a:lstStyle/>
                    <a:p>
                      <a:pPr algn="l" fontAlgn="b"/>
                      <a:r>
                        <a:rPr lang="en-US" sz="800" b="0" i="0" u="none" strike="noStrike" dirty="0">
                          <a:solidFill>
                            <a:srgbClr val="00338E"/>
                          </a:solidFill>
                          <a:effectLst/>
                          <a:latin typeface="Univers 65 Bold" pitchFamily="2" charset="0"/>
                        </a:rPr>
                        <a:t>Management</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Management of Target</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253365">
                <a:tc>
                  <a:txBody>
                    <a:bodyPr/>
                    <a:lstStyle/>
                    <a:p>
                      <a:pPr algn="l" fontAlgn="b"/>
                      <a:r>
                        <a:rPr lang="en-US" sz="800" b="0" i="0" u="none" strike="noStrike" dirty="0">
                          <a:solidFill>
                            <a:srgbClr val="00338E"/>
                          </a:solidFill>
                          <a:effectLst/>
                          <a:latin typeface="Univers 65 Bold" pitchFamily="2" charset="0"/>
                        </a:rPr>
                        <a:t>n.a.</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Not applicable</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r h="253365">
                <a:tc>
                  <a:txBody>
                    <a:bodyPr/>
                    <a:lstStyle/>
                    <a:p>
                      <a:pPr algn="l" fontAlgn="b"/>
                      <a:r>
                        <a:rPr lang="en-US" sz="800" b="0" i="0" u="none" strike="noStrike" dirty="0">
                          <a:solidFill>
                            <a:srgbClr val="00338E"/>
                          </a:solidFill>
                          <a:effectLst/>
                          <a:latin typeface="Univers 65 Bold" pitchFamily="2" charset="0"/>
                        </a:rPr>
                        <a:t>NWC</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Net working capital</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4"/>
                  </a:ext>
                </a:extLst>
              </a:tr>
              <a:tr h="253365">
                <a:tc>
                  <a:txBody>
                    <a:bodyPr/>
                    <a:lstStyle/>
                    <a:p>
                      <a:pPr algn="l" fontAlgn="b"/>
                      <a:r>
                        <a:rPr lang="en-US" sz="800" b="0" i="0" u="none" strike="noStrike" dirty="0">
                          <a:solidFill>
                            <a:srgbClr val="00338E"/>
                          </a:solidFill>
                          <a:effectLst/>
                          <a:latin typeface="Univers 65 Bold" pitchFamily="2" charset="0"/>
                        </a:rPr>
                        <a:t>TTM</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Trailing twelve months</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5"/>
                  </a:ext>
                </a:extLst>
              </a:tr>
              <a:tr h="253365">
                <a:tc>
                  <a:txBody>
                    <a:bodyPr/>
                    <a:lstStyle/>
                    <a:p>
                      <a:pPr algn="l" fontAlgn="b"/>
                      <a:r>
                        <a:rPr lang="en-US" sz="800" b="0" i="0" u="none" strike="noStrike" dirty="0">
                          <a:solidFill>
                            <a:srgbClr val="00338E"/>
                          </a:solidFill>
                          <a:effectLst/>
                          <a:latin typeface="Univers 65 Bold" pitchFamily="2" charset="0"/>
                        </a:rPr>
                        <a:t>TxHML</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Texas</a:t>
                      </a:r>
                      <a:r>
                        <a:rPr lang="en-US" sz="800" b="0" i="0" u="none" strike="noStrike" baseline="0" dirty="0">
                          <a:solidFill>
                            <a:srgbClr val="00338E"/>
                          </a:solidFill>
                          <a:effectLst/>
                          <a:latin typeface="UniversforKPMG" panose="020B0603020202020204" pitchFamily="34" charset="0"/>
                        </a:rPr>
                        <a:t> home living</a:t>
                      </a:r>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6"/>
                  </a:ext>
                </a:extLst>
              </a:tr>
              <a:tr h="253365">
                <a:tc>
                  <a:txBody>
                    <a:bodyPr/>
                    <a:lstStyle/>
                    <a:p>
                      <a:pPr algn="l" fontAlgn="b"/>
                      <a:r>
                        <a:rPr lang="en-US" sz="800" b="0" i="0" u="none" strike="noStrike" dirty="0">
                          <a:solidFill>
                            <a:srgbClr val="00338E"/>
                          </a:solidFill>
                          <a:effectLst/>
                          <a:latin typeface="Univers 65 Bold" pitchFamily="2" charset="0"/>
                        </a:rPr>
                        <a:t>USA</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800" b="0" i="0" u="none" strike="noStrike" dirty="0">
                          <a:solidFill>
                            <a:srgbClr val="00338E"/>
                          </a:solidFill>
                          <a:effectLst/>
                          <a:latin typeface="UniversforKPMG" panose="020B0603020202020204" pitchFamily="34" charset="0"/>
                        </a:rPr>
                        <a:t>The United States of America</a:t>
                      </a: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7"/>
                  </a:ext>
                </a:extLst>
              </a:tr>
              <a:tr h="253365">
                <a:tc>
                  <a:txBody>
                    <a:bodyPr/>
                    <a:lstStyle/>
                    <a:p>
                      <a:pPr algn="l" fontAlgn="b"/>
                      <a:endParaRPr lang="en-US" sz="800" b="0" i="0" u="none" strike="noStrike" dirty="0">
                        <a:solidFill>
                          <a:srgbClr val="00338E"/>
                        </a:solidFill>
                        <a:effectLst/>
                        <a:latin typeface="Univers 65 Bold" pitchFamily="2"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08"/>
                  </a:ext>
                </a:extLst>
              </a:tr>
              <a:tr h="253365">
                <a:tc>
                  <a:txBody>
                    <a:bodyPr/>
                    <a:lstStyle/>
                    <a:p>
                      <a:pPr algn="l" fontAlgn="b"/>
                      <a:endParaRPr lang="en-US" sz="800" b="0" i="0" u="none" strike="noStrike" dirty="0">
                        <a:solidFill>
                          <a:srgbClr val="00338E"/>
                        </a:solidFill>
                        <a:effectLst/>
                        <a:latin typeface="Univers 65 Bold" pitchFamily="2"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10"/>
                  </a:ext>
                </a:extLst>
              </a:tr>
              <a:tr h="253365">
                <a:tc>
                  <a:txBody>
                    <a:bodyPr/>
                    <a:lstStyle/>
                    <a:p>
                      <a:pPr algn="l" fontAlgn="b"/>
                      <a:endParaRPr lang="en-US" sz="800" b="0" i="0" u="none" strike="noStrike" dirty="0">
                        <a:solidFill>
                          <a:srgbClr val="00338E"/>
                        </a:solidFill>
                        <a:effectLst/>
                        <a:latin typeface="Univers 65 Bold" pitchFamily="2"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11"/>
                  </a:ext>
                </a:extLst>
              </a:tr>
              <a:tr h="253365">
                <a:tc>
                  <a:txBody>
                    <a:bodyPr/>
                    <a:lstStyle/>
                    <a:p>
                      <a:pPr algn="l" fontAlgn="b"/>
                      <a:endParaRPr lang="en-US" sz="800" b="0" i="0" u="none" strike="noStrike" dirty="0">
                        <a:solidFill>
                          <a:srgbClr val="00338E"/>
                        </a:solidFill>
                        <a:effectLst/>
                        <a:latin typeface="Univers 65 Bold" pitchFamily="2"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12"/>
                  </a:ext>
                </a:extLst>
              </a:tr>
              <a:tr h="253365">
                <a:tc>
                  <a:txBody>
                    <a:bodyPr/>
                    <a:lstStyle/>
                    <a:p>
                      <a:pPr algn="l" fontAlgn="ctr"/>
                      <a:endParaRPr lang="en-US" sz="800" b="0" i="0" u="none" strike="noStrike" dirty="0">
                        <a:solidFill>
                          <a:srgbClr val="00338E"/>
                        </a:solidFill>
                        <a:effectLst/>
                        <a:latin typeface="Univers 65 Bold" pitchFamily="2" charset="0"/>
                      </a:endParaRP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14"/>
                  </a:ext>
                </a:extLst>
              </a:tr>
              <a:tr h="253365">
                <a:tc>
                  <a:txBody>
                    <a:bodyPr/>
                    <a:lstStyle/>
                    <a:p>
                      <a:pPr algn="l" fontAlgn="b"/>
                      <a:endParaRPr lang="en-US" sz="800" b="0" i="0" u="none" strike="noStrike" dirty="0">
                        <a:solidFill>
                          <a:srgbClr val="00338E"/>
                        </a:solidFill>
                        <a:effectLst/>
                        <a:latin typeface="Univers 65 Bold" pitchFamily="2"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17"/>
                  </a:ext>
                </a:extLst>
              </a:tr>
              <a:tr h="253365">
                <a:tc>
                  <a:txBody>
                    <a:bodyPr/>
                    <a:lstStyle/>
                    <a:p>
                      <a:pPr algn="l" fontAlgn="b"/>
                      <a:endParaRPr lang="en-US" sz="800" b="0" i="0" u="none" strike="noStrike" dirty="0">
                        <a:solidFill>
                          <a:srgbClr val="00338E"/>
                        </a:solidFill>
                        <a:effectLst/>
                        <a:latin typeface="Univers 65 Bold" pitchFamily="2"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15"/>
                  </a:ext>
                </a:extLst>
              </a:tr>
              <a:tr h="253365">
                <a:tc>
                  <a:txBody>
                    <a:bodyPr/>
                    <a:lstStyle/>
                    <a:p>
                      <a:pPr algn="l" fontAlgn="b"/>
                      <a:endParaRPr lang="en-US" sz="800" b="0" i="0" u="none" strike="noStrike" dirty="0">
                        <a:solidFill>
                          <a:srgbClr val="00338E"/>
                        </a:solidFill>
                        <a:effectLst/>
                        <a:latin typeface="Univers 65 Bold" pitchFamily="2"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16"/>
                  </a:ext>
                </a:extLst>
              </a:tr>
              <a:tr h="253365">
                <a:tc>
                  <a:txBody>
                    <a:bodyPr/>
                    <a:lstStyle/>
                    <a:p>
                      <a:pPr algn="l" fontAlgn="b"/>
                      <a:endParaRPr lang="en-US" sz="800" b="0" i="0" u="none" strike="noStrike" dirty="0">
                        <a:solidFill>
                          <a:srgbClr val="00338E"/>
                        </a:solidFill>
                        <a:effectLst/>
                        <a:latin typeface="Univers 65 Bold" pitchFamily="2"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18"/>
                  </a:ext>
                </a:extLst>
              </a:tr>
              <a:tr h="253365">
                <a:tc>
                  <a:txBody>
                    <a:bodyPr/>
                    <a:lstStyle/>
                    <a:p>
                      <a:pPr algn="l" fontAlgn="b"/>
                      <a:endParaRPr lang="en-US" sz="800" b="0" i="0" u="none" strike="noStrike" dirty="0">
                        <a:solidFill>
                          <a:srgbClr val="00338E"/>
                        </a:solidFill>
                        <a:effectLst/>
                        <a:latin typeface="Univers 65 Bold" pitchFamily="2"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endParaRPr lang="en-US" sz="800" b="0" i="0" u="none" strike="noStrike" dirty="0">
                        <a:solidFill>
                          <a:srgbClr val="00338E"/>
                        </a:solidFill>
                        <a:effectLst/>
                        <a:latin typeface="UniversforKPMG" panose="020B0603020202020204" pitchFamily="34" charset="0"/>
                      </a:endParaRPr>
                    </a:p>
                  </a:txBody>
                  <a:tcPr marL="9525" marR="9525" marT="9525"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 xmlns:a16="http://schemas.microsoft.com/office/drawing/2014/main" val="10019"/>
                  </a:ext>
                </a:extLst>
              </a:tr>
            </a:tbl>
          </a:graphicData>
        </a:graphic>
      </p:graphicFrame>
    </p:spTree>
    <p:extLst>
      <p:ext uri="{BB962C8B-B14F-4D97-AF65-F5344CB8AC3E}">
        <p14:creationId xmlns:p14="http://schemas.microsoft.com/office/powerpoint/2010/main" val="41961282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Executive summary</a:t>
            </a:r>
          </a:p>
        </p:txBody>
      </p:sp>
      <p:sp>
        <p:nvSpPr>
          <p:cNvPr id="5"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spTree>
    <p:extLst>
      <p:ext uri="{BB962C8B-B14F-4D97-AF65-F5344CB8AC3E}">
        <p14:creationId xmlns:p14="http://schemas.microsoft.com/office/powerpoint/2010/main" val="791256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4802466" y="1214876"/>
            <a:ext cx="3909734" cy="4970698"/>
          </a:xfrm>
        </p:spPr>
        <p:txBody>
          <a:bodyPr/>
          <a:lstStyle/>
          <a:p>
            <a:pPr algn="just"/>
            <a:r>
              <a:rPr lang="en-US" dirty="0"/>
              <a:t>Business overview</a:t>
            </a:r>
          </a:p>
          <a:p>
            <a:pPr marL="171450" indent="-171450" algn="just">
              <a:buFont typeface="Wingdings" panose="05000000000000000000" pitchFamily="2" charset="2"/>
              <a:buChar char="§"/>
            </a:pPr>
            <a:r>
              <a:rPr lang="en-US" b="0" dirty="0">
                <a:solidFill>
                  <a:schemeClr val="tx1"/>
                </a:solidFill>
              </a:rPr>
              <a:t>Soto Assisted Living Group (“Soto ALG” or the “Business”) provides support and health care services to individuals with intellectual and developmental disabilities (“IDD</a:t>
            </a:r>
            <a:r>
              <a:rPr lang="en-US" b="0" dirty="0" smtClean="0">
                <a:solidFill>
                  <a:schemeClr val="tx1"/>
                </a:solidFill>
              </a:rPr>
              <a:t>”).</a:t>
            </a:r>
          </a:p>
          <a:p>
            <a:pPr marL="171450" indent="-171450" algn="just">
              <a:buFont typeface="Wingdings" panose="05000000000000000000" pitchFamily="2" charset="2"/>
              <a:buChar char="§"/>
            </a:pPr>
            <a:r>
              <a:rPr lang="en-US" b="0" dirty="0" smtClean="0">
                <a:solidFill>
                  <a:schemeClr val="tx1"/>
                </a:solidFill>
              </a:rPr>
              <a:t>The </a:t>
            </a:r>
            <a:r>
              <a:rPr lang="en-US" b="0" dirty="0">
                <a:solidFill>
                  <a:schemeClr val="tx1"/>
                </a:solidFill>
              </a:rPr>
              <a:t>transaction perimeter is focused on the Business’ IDD </a:t>
            </a:r>
            <a:r>
              <a:rPr lang="en-US" b="0" dirty="0">
                <a:solidFill>
                  <a:srgbClr val="000000"/>
                </a:solidFill>
                <a:latin typeface="Univers for KPMG" panose="020B0603020202020204" pitchFamily="34" charset="0"/>
                <a:cs typeface="Arial" pitchFamily="34" charset="0"/>
              </a:rPr>
              <a:t>operations servicing adults (“Target” or the “Company”). The services include:</a:t>
            </a:r>
            <a:endParaRPr lang="en-US" b="0" dirty="0">
              <a:solidFill>
                <a:schemeClr val="tx1"/>
              </a:solidFill>
            </a:endParaRPr>
          </a:p>
          <a:p>
            <a:pPr marL="350838" lvl="2" indent="-171450" algn="just">
              <a:spcAft>
                <a:spcPts val="0"/>
              </a:spcAft>
              <a:buClrTx/>
              <a:buFontTx/>
              <a:buChar char="–"/>
            </a:pPr>
            <a:r>
              <a:rPr lang="en-US" b="0" dirty="0">
                <a:solidFill>
                  <a:schemeClr val="tx1"/>
                </a:solidFill>
              </a:rPr>
              <a:t>Residential </a:t>
            </a:r>
            <a:r>
              <a:rPr lang="en-US" dirty="0">
                <a:solidFill>
                  <a:schemeClr val="tx1"/>
                </a:solidFill>
              </a:rPr>
              <a:t>(</a:t>
            </a:r>
            <a:r>
              <a:rPr lang="en-US" b="0" dirty="0">
                <a:solidFill>
                  <a:schemeClr val="tx1"/>
                </a:solidFill>
              </a:rPr>
              <a:t>group homes and host homes);</a:t>
            </a:r>
          </a:p>
          <a:p>
            <a:pPr marL="350838" lvl="2" indent="-171450" algn="just">
              <a:spcAft>
                <a:spcPts val="0"/>
              </a:spcAft>
              <a:buClrTx/>
              <a:buFontTx/>
              <a:buChar char="–"/>
            </a:pPr>
            <a:r>
              <a:rPr lang="en-US" b="0" dirty="0">
                <a:solidFill>
                  <a:schemeClr val="tx1"/>
                </a:solidFill>
              </a:rPr>
              <a:t>Day services (community based and prevocational</a:t>
            </a:r>
            <a:r>
              <a:rPr lang="en-US" dirty="0">
                <a:solidFill>
                  <a:schemeClr val="tx1"/>
                </a:solidFill>
              </a:rPr>
              <a:t> services)</a:t>
            </a:r>
            <a:r>
              <a:rPr lang="en-US" b="0" dirty="0">
                <a:solidFill>
                  <a:schemeClr val="tx1"/>
                </a:solidFill>
              </a:rPr>
              <a:t>;</a:t>
            </a:r>
          </a:p>
          <a:p>
            <a:pPr marL="350838" lvl="2" indent="-171450" algn="just">
              <a:spcAft>
                <a:spcPts val="0"/>
              </a:spcAft>
              <a:buClrTx/>
              <a:buFontTx/>
              <a:buChar char="–"/>
            </a:pPr>
            <a:r>
              <a:rPr lang="en-US" b="0" dirty="0">
                <a:solidFill>
                  <a:schemeClr val="tx1"/>
                </a:solidFill>
              </a:rPr>
              <a:t>Community </a:t>
            </a:r>
            <a:r>
              <a:rPr lang="en-US" dirty="0">
                <a:solidFill>
                  <a:schemeClr val="tx1"/>
                </a:solidFill>
              </a:rPr>
              <a:t>l</a:t>
            </a:r>
            <a:r>
              <a:rPr lang="en-US" b="0" dirty="0">
                <a:solidFill>
                  <a:schemeClr val="tx1"/>
                </a:solidFill>
              </a:rPr>
              <a:t>iving support (“CLS”); and</a:t>
            </a:r>
          </a:p>
          <a:p>
            <a:pPr marL="350838" lvl="2" indent="-171450" algn="just">
              <a:spcAft>
                <a:spcPts val="0"/>
              </a:spcAft>
              <a:buClrTx/>
              <a:buFontTx/>
              <a:buChar char="–"/>
            </a:pPr>
            <a:r>
              <a:rPr lang="en-US" dirty="0">
                <a:solidFill>
                  <a:schemeClr val="tx1"/>
                </a:solidFill>
              </a:rPr>
              <a:t>Health services (speech and occupational therapy). </a:t>
            </a:r>
          </a:p>
          <a:p>
            <a:pPr lvl="2" indent="0" algn="just">
              <a:spcAft>
                <a:spcPts val="0"/>
              </a:spcAft>
              <a:buClrTx/>
              <a:buNone/>
            </a:pPr>
            <a:endParaRPr lang="en-US" b="0" dirty="0">
              <a:solidFill>
                <a:schemeClr val="tx1"/>
              </a:solidFill>
            </a:endParaRPr>
          </a:p>
          <a:p>
            <a:pPr marL="171450" lvl="1" indent="-171450" algn="just">
              <a:buFont typeface="Wingdings" panose="05000000000000000000" pitchFamily="2" charset="2"/>
              <a:buChar char="§"/>
            </a:pPr>
            <a:r>
              <a:rPr lang="en-US" dirty="0">
                <a:solidFill>
                  <a:schemeClr val="tx1"/>
                </a:solidFill>
              </a:rPr>
              <a:t>The Company has operations in six areas located in Georgia, USA (Augusta, Thomson, </a:t>
            </a:r>
            <a:r>
              <a:rPr lang="en-US" dirty="0" smtClean="0">
                <a:solidFill>
                  <a:schemeClr val="tx1"/>
                </a:solidFill>
              </a:rPr>
              <a:t>Evans / Martinez, </a:t>
            </a:r>
            <a:r>
              <a:rPr lang="en-US" dirty="0">
                <a:solidFill>
                  <a:schemeClr val="tx1"/>
                </a:solidFill>
              </a:rPr>
              <a:t>Washington, Appling, and Grovetown).</a:t>
            </a:r>
          </a:p>
          <a:p>
            <a:pPr marL="171450" lvl="1" indent="-171450" algn="just">
              <a:buFont typeface="Wingdings" panose="05000000000000000000" pitchFamily="2" charset="2"/>
              <a:buChar char="§"/>
            </a:pPr>
            <a:r>
              <a:rPr lang="en-US" b="0" dirty="0">
                <a:solidFill>
                  <a:schemeClr val="tx1"/>
                </a:solidFill>
              </a:rPr>
              <a:t>The Company </a:t>
            </a:r>
            <a:r>
              <a:rPr lang="en-US" dirty="0">
                <a:solidFill>
                  <a:schemeClr val="tx1"/>
                </a:solidFill>
              </a:rPr>
              <a:t>currently has 15 group homes, four day services centers, 17 host homes, and two community living support locations. </a:t>
            </a:r>
            <a:endParaRPr lang="en-US" b="0" dirty="0">
              <a:solidFill>
                <a:schemeClr val="tx1"/>
              </a:solidFill>
            </a:endParaRPr>
          </a:p>
          <a:p>
            <a:pPr marL="171450" lvl="1" indent="-171450" algn="just">
              <a:buFont typeface="Wingdings" panose="05000000000000000000" pitchFamily="2" charset="2"/>
              <a:buChar char="§"/>
            </a:pPr>
            <a:r>
              <a:rPr lang="en-US" b="0" dirty="0">
                <a:solidFill>
                  <a:schemeClr val="tx1"/>
                </a:solidFill>
              </a:rPr>
              <a:t>For FY19, the Company reported revenue of $</a:t>
            </a:r>
            <a:r>
              <a:rPr lang="en-US" dirty="0" smtClean="0">
                <a:solidFill>
                  <a:schemeClr val="tx1"/>
                </a:solidFill>
              </a:rPr>
              <a:t>9.3</a:t>
            </a:r>
            <a:r>
              <a:rPr lang="en-US" b="0" dirty="0" smtClean="0">
                <a:solidFill>
                  <a:schemeClr val="tx1"/>
                </a:solidFill>
              </a:rPr>
              <a:t> </a:t>
            </a:r>
            <a:r>
              <a:rPr lang="en-US" b="0" dirty="0">
                <a:solidFill>
                  <a:schemeClr val="tx1"/>
                </a:solidFill>
              </a:rPr>
              <a:t>million (primarily consists of waiver income) and EBITDA of $</a:t>
            </a:r>
            <a:r>
              <a:rPr lang="en-US" dirty="0">
                <a:solidFill>
                  <a:schemeClr val="tx1"/>
                </a:solidFill>
              </a:rPr>
              <a:t>1.4</a:t>
            </a:r>
            <a:r>
              <a:rPr lang="en-US" b="0" dirty="0">
                <a:solidFill>
                  <a:schemeClr val="tx1"/>
                </a:solidFill>
              </a:rPr>
              <a:t> </a:t>
            </a:r>
            <a:r>
              <a:rPr lang="en-US" b="0" dirty="0" smtClean="0">
                <a:solidFill>
                  <a:schemeClr val="tx1"/>
                </a:solidFill>
              </a:rPr>
              <a:t>million.</a:t>
            </a:r>
            <a:endParaRPr lang="en-US" b="0" dirty="0">
              <a:solidFill>
                <a:schemeClr val="tx1"/>
              </a:solidFill>
            </a:endParaRPr>
          </a:p>
          <a:p>
            <a:pPr lvl="1" algn="just"/>
            <a:r>
              <a:rPr lang="en-US" b="1" dirty="0"/>
              <a:t>Transaction overview</a:t>
            </a:r>
          </a:p>
          <a:p>
            <a:pPr marL="171450" lvl="1" indent="-171450" algn="just">
              <a:buFont typeface="Wingdings" panose="05000000000000000000" pitchFamily="2" charset="2"/>
              <a:buChar char="§"/>
            </a:pPr>
            <a:r>
              <a:rPr lang="en-US" dirty="0" smtClean="0">
                <a:solidFill>
                  <a:schemeClr val="tx1"/>
                </a:solidFill>
                <a:latin typeface="Univers for KPMG" panose="020B0603020202020204" pitchFamily="34" charset="0"/>
                <a:cs typeface="Arial" pitchFamily="34" charset="0"/>
              </a:rPr>
              <a:t>The Business is a C-Corporation and Client is evaluating the potential acquisition of the Business’ IDD assets from the C-Corporation via an asset acquisition. </a:t>
            </a:r>
          </a:p>
          <a:p>
            <a:pPr marL="171450" lvl="1" indent="-171450" algn="just">
              <a:buFont typeface="Wingdings" panose="05000000000000000000" pitchFamily="2" charset="2"/>
              <a:buChar char="§"/>
            </a:pPr>
            <a:r>
              <a:rPr lang="en-US" b="0" dirty="0" smtClean="0">
                <a:solidFill>
                  <a:schemeClr val="tx1"/>
                </a:solidFill>
              </a:rPr>
              <a:t>Client </a:t>
            </a:r>
            <a:r>
              <a:rPr lang="en-US" b="0" dirty="0">
                <a:solidFill>
                  <a:schemeClr val="tx1"/>
                </a:solidFill>
              </a:rPr>
              <a:t>is prepared to acquire the assets of the Company on a cash-free and debt-free basis, excluding the real estate portfolio owned by the Company.</a:t>
            </a:r>
          </a:p>
          <a:p>
            <a:pPr marL="171450" lvl="1" indent="-171450" algn="just">
              <a:buFont typeface="Wingdings" panose="05000000000000000000" pitchFamily="2" charset="2"/>
              <a:buChar char="§"/>
            </a:pPr>
            <a:r>
              <a:rPr lang="en-US" b="0" dirty="0">
                <a:solidFill>
                  <a:schemeClr val="tx1"/>
                </a:solidFill>
              </a:rPr>
              <a:t>It is our understanding that the closing consideration is based on the average trailing twelve month adjusted EBITDA.</a:t>
            </a:r>
          </a:p>
        </p:txBody>
      </p:sp>
      <p:sp>
        <p:nvSpPr>
          <p:cNvPr id="4" name="Title 3"/>
          <p:cNvSpPr>
            <a:spLocks noGrp="1"/>
          </p:cNvSpPr>
          <p:nvPr>
            <p:ph type="title"/>
          </p:nvPr>
        </p:nvSpPr>
        <p:spPr/>
        <p:txBody>
          <a:bodyPr/>
          <a:lstStyle/>
          <a:p>
            <a:r>
              <a:rPr lang="en-US" dirty="0"/>
              <a:t>Business and transaction overview</a:t>
            </a:r>
          </a:p>
        </p:txBody>
      </p:sp>
      <p:sp>
        <p:nvSpPr>
          <p:cNvPr id="5"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CA" sz="1200" b="1" dirty="0">
                <a:solidFill>
                  <a:srgbClr val="00338D"/>
                </a:solidFill>
              </a:rPr>
              <a:t>Executive summary</a:t>
            </a:r>
          </a:p>
        </p:txBody>
      </p:sp>
      <p:sp>
        <p:nvSpPr>
          <p:cNvPr id="6" name="Rectangle 5"/>
          <p:cNvSpPr/>
          <p:nvPr/>
        </p:nvSpPr>
        <p:spPr>
          <a:xfrm>
            <a:off x="1756308" y="2126546"/>
            <a:ext cx="1217434" cy="342424"/>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b="1" dirty="0">
                <a:solidFill>
                  <a:schemeClr val="bg1"/>
                </a:solidFill>
                <a:latin typeface="Univers for KPMG" panose="020B0603020202020204" pitchFamily="34" charset="0"/>
              </a:rPr>
              <a:t>Soto Assisted Living Group.</a:t>
            </a:r>
          </a:p>
        </p:txBody>
      </p:sp>
      <p:sp>
        <p:nvSpPr>
          <p:cNvPr id="7" name="Rectangle 6"/>
          <p:cNvSpPr/>
          <p:nvPr/>
        </p:nvSpPr>
        <p:spPr>
          <a:xfrm>
            <a:off x="431800" y="1214876"/>
            <a:ext cx="4211637" cy="3460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900" b="1" dirty="0">
                <a:solidFill>
                  <a:schemeClr val="bg1"/>
                </a:solidFill>
                <a:latin typeface="Univers for KPMG" panose="020B0603020202020204" pitchFamily="34" charset="0"/>
              </a:rPr>
              <a:t>Organizational structure</a:t>
            </a:r>
          </a:p>
        </p:txBody>
      </p:sp>
      <p:sp>
        <p:nvSpPr>
          <p:cNvPr id="8" name="Rectangle 7"/>
          <p:cNvSpPr/>
          <p:nvPr/>
        </p:nvSpPr>
        <p:spPr>
          <a:xfrm>
            <a:off x="431799" y="4212519"/>
            <a:ext cx="4211639" cy="3460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900" b="1" dirty="0">
                <a:solidFill>
                  <a:schemeClr val="bg1"/>
                </a:solidFill>
                <a:latin typeface="Univers for KPMG" panose="020B0603020202020204" pitchFamily="34" charset="0"/>
              </a:rPr>
              <a:t>Financial overview</a:t>
            </a:r>
          </a:p>
        </p:txBody>
      </p:sp>
      <p:cxnSp>
        <p:nvCxnSpPr>
          <p:cNvPr id="11" name="Elbow Connector 10"/>
          <p:cNvCxnSpPr/>
          <p:nvPr/>
        </p:nvCxnSpPr>
        <p:spPr>
          <a:xfrm rot="5400000">
            <a:off x="1819195" y="2119924"/>
            <a:ext cx="198856" cy="892805"/>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88131" y="3730469"/>
            <a:ext cx="4112431" cy="374148"/>
          </a:xfrm>
          <a:prstGeom prst="rect">
            <a:avLst/>
          </a:prstGeom>
          <a:noFill/>
        </p:spPr>
        <p:txBody>
          <a:bodyPr wrap="square" lIns="54610" tIns="54610" rIns="54610" bIns="54610" rtlCol="0">
            <a:noAutofit/>
          </a:bodyPr>
          <a:lstStyle/>
          <a:p>
            <a:r>
              <a:rPr lang="en-US" sz="600" i="1" dirty="0">
                <a:latin typeface="Univers for KPMG" panose="020B0603020202020204" pitchFamily="34" charset="0"/>
              </a:rPr>
              <a:t>Source: CG_Project Green_Deal Summary </a:t>
            </a:r>
          </a:p>
          <a:p>
            <a:r>
              <a:rPr lang="en-US" sz="600" i="1" dirty="0">
                <a:latin typeface="Univers for KPMG" panose="020B0603020202020204" pitchFamily="34" charset="0"/>
              </a:rPr>
              <a:t>Note: The above chart does not represent the legal structure of the Company.</a:t>
            </a:r>
          </a:p>
          <a:p>
            <a:r>
              <a:rPr lang="en-US" sz="600" i="1" dirty="0">
                <a:latin typeface="Univers for KPMG" panose="020B0603020202020204" pitchFamily="34" charset="0"/>
              </a:rPr>
              <a:t>Note (1): Consists of </a:t>
            </a:r>
            <a:r>
              <a:rPr lang="en-US" sz="600" i="1" dirty="0" smtClean="0">
                <a:latin typeface="Univers for KPMG" panose="020B0603020202020204" pitchFamily="34" charset="0"/>
              </a:rPr>
              <a:t>divisions </a:t>
            </a:r>
            <a:r>
              <a:rPr lang="en-US" sz="600" i="1" dirty="0">
                <a:latin typeface="Univers for KPMG" panose="020B0603020202020204" pitchFamily="34" charset="0"/>
              </a:rPr>
              <a:t>which are not within the transaction </a:t>
            </a:r>
            <a:r>
              <a:rPr lang="en-US" sz="600" i="1" dirty="0" smtClean="0">
                <a:latin typeface="Univers for KPMG" panose="020B0603020202020204" pitchFamily="34" charset="0"/>
              </a:rPr>
              <a:t>perimeter,  primarily ABLE Kids services (childcare). </a:t>
            </a:r>
            <a:endParaRPr lang="en-US" sz="600" i="1" dirty="0">
              <a:latin typeface="Univers for KPMG" panose="020B0603020202020204" pitchFamily="34" charset="0"/>
            </a:endParaRPr>
          </a:p>
        </p:txBody>
      </p:sp>
      <p:sp>
        <p:nvSpPr>
          <p:cNvPr id="14" name="Rectangle 13"/>
          <p:cNvSpPr/>
          <p:nvPr/>
        </p:nvSpPr>
        <p:spPr>
          <a:xfrm>
            <a:off x="517962" y="2713006"/>
            <a:ext cx="903355" cy="3005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b="1" dirty="0">
                <a:solidFill>
                  <a:schemeClr val="bg1"/>
                </a:solidFill>
                <a:latin typeface="Univers for KPMG" panose="020B0603020202020204" pitchFamily="34" charset="0"/>
              </a:rPr>
              <a:t>Residential Services</a:t>
            </a:r>
          </a:p>
        </p:txBody>
      </p:sp>
      <p:sp>
        <p:nvSpPr>
          <p:cNvPr id="15" name="Rectangle 14"/>
          <p:cNvSpPr/>
          <p:nvPr/>
        </p:nvSpPr>
        <p:spPr>
          <a:xfrm>
            <a:off x="1909331" y="1629058"/>
            <a:ext cx="914400" cy="342424"/>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b="1" dirty="0">
                <a:solidFill>
                  <a:schemeClr val="bg1"/>
                </a:solidFill>
                <a:latin typeface="Univers for KPMG" panose="020B0603020202020204" pitchFamily="34" charset="0"/>
              </a:rPr>
              <a:t>Allan Soto</a:t>
            </a:r>
          </a:p>
        </p:txBody>
      </p:sp>
      <p:sp>
        <p:nvSpPr>
          <p:cNvPr id="16" name="Rectangle 15"/>
          <p:cNvSpPr/>
          <p:nvPr/>
        </p:nvSpPr>
        <p:spPr>
          <a:xfrm>
            <a:off x="444796" y="2667826"/>
            <a:ext cx="2054848" cy="1079018"/>
          </a:xfrm>
          <a:prstGeom prst="rect">
            <a:avLst/>
          </a:prstGeom>
          <a:noFill/>
          <a:ln w="19050">
            <a:solidFill>
              <a:srgbClr val="00338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cxnSp>
        <p:nvCxnSpPr>
          <p:cNvPr id="17" name="Elbow Connector 16"/>
          <p:cNvCxnSpPr>
            <a:stCxn id="15" idx="2"/>
            <a:endCxn id="6" idx="0"/>
          </p:cNvCxnSpPr>
          <p:nvPr/>
        </p:nvCxnSpPr>
        <p:spPr>
          <a:xfrm rot="5400000">
            <a:off x="2288246" y="2048261"/>
            <a:ext cx="155064" cy="1506"/>
          </a:xfrm>
          <a:prstGeom prst="bentConnector3">
            <a:avLst>
              <a:gd name="adj1" fmla="val 50000"/>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008680" y="1934623"/>
            <a:ext cx="256996" cy="178622"/>
          </a:xfrm>
          <a:prstGeom prst="rect">
            <a:avLst/>
          </a:prstGeom>
          <a:noFill/>
        </p:spPr>
        <p:txBody>
          <a:bodyPr wrap="none" lIns="54610" tIns="54610" rIns="54610" bIns="54610" rtlCol="0">
            <a:noAutofit/>
          </a:bodyPr>
          <a:lstStyle/>
          <a:p>
            <a:pPr>
              <a:spcAft>
                <a:spcPts val="600"/>
              </a:spcAft>
            </a:pPr>
            <a:r>
              <a:rPr lang="en-US" sz="700" dirty="0">
                <a:solidFill>
                  <a:schemeClr val="tx2"/>
                </a:solidFill>
                <a:latin typeface="Univers for KPMG" panose="020B0603020202020204" pitchFamily="34" charset="0"/>
              </a:rPr>
              <a:t>100%</a:t>
            </a:r>
          </a:p>
        </p:txBody>
      </p:sp>
      <p:sp>
        <p:nvSpPr>
          <p:cNvPr id="19" name="TextBox 18"/>
          <p:cNvSpPr txBox="1"/>
          <p:nvPr/>
        </p:nvSpPr>
        <p:spPr>
          <a:xfrm>
            <a:off x="388132" y="2506198"/>
            <a:ext cx="1016203" cy="173438"/>
          </a:xfrm>
          <a:prstGeom prst="rect">
            <a:avLst/>
          </a:prstGeom>
          <a:noFill/>
        </p:spPr>
        <p:txBody>
          <a:bodyPr wrap="none" lIns="54610" tIns="54610" rIns="54610" bIns="54610" rtlCol="0">
            <a:noAutofit/>
          </a:bodyPr>
          <a:lstStyle/>
          <a:p>
            <a:pPr>
              <a:spcAft>
                <a:spcPts val="600"/>
              </a:spcAft>
            </a:pPr>
            <a:r>
              <a:rPr lang="en-US" sz="600" dirty="0">
                <a:solidFill>
                  <a:schemeClr val="tx2"/>
                </a:solidFill>
                <a:latin typeface="Univers for KPMG" panose="020B0603020202020204" pitchFamily="34" charset="0"/>
              </a:rPr>
              <a:t>Transaction perimeter</a:t>
            </a:r>
          </a:p>
        </p:txBody>
      </p:sp>
      <p:sp>
        <p:nvSpPr>
          <p:cNvPr id="20" name="Rectangle 19"/>
          <p:cNvSpPr/>
          <p:nvPr/>
        </p:nvSpPr>
        <p:spPr>
          <a:xfrm>
            <a:off x="1530909" y="2708829"/>
            <a:ext cx="903355" cy="3005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b="1" dirty="0">
                <a:solidFill>
                  <a:schemeClr val="bg1"/>
                </a:solidFill>
                <a:latin typeface="Univers for KPMG" panose="020B0603020202020204" pitchFamily="34" charset="0"/>
              </a:rPr>
              <a:t>Day services</a:t>
            </a:r>
          </a:p>
        </p:txBody>
      </p:sp>
      <p:sp>
        <p:nvSpPr>
          <p:cNvPr id="21" name="Rectangle 20"/>
          <p:cNvSpPr/>
          <p:nvPr/>
        </p:nvSpPr>
        <p:spPr>
          <a:xfrm>
            <a:off x="517961" y="3043286"/>
            <a:ext cx="903355" cy="3005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b="1" dirty="0">
                <a:solidFill>
                  <a:schemeClr val="bg1"/>
                </a:solidFill>
                <a:latin typeface="Univers for KPMG" panose="020B0603020202020204" pitchFamily="34" charset="0"/>
              </a:rPr>
              <a:t>Community living support</a:t>
            </a:r>
          </a:p>
        </p:txBody>
      </p:sp>
      <p:sp>
        <p:nvSpPr>
          <p:cNvPr id="22" name="Rectangle 21"/>
          <p:cNvSpPr/>
          <p:nvPr/>
        </p:nvSpPr>
        <p:spPr>
          <a:xfrm>
            <a:off x="1526016" y="3040986"/>
            <a:ext cx="903355" cy="3005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b="1" dirty="0">
                <a:solidFill>
                  <a:schemeClr val="bg1"/>
                </a:solidFill>
                <a:latin typeface="Univers for KPMG" panose="020B0603020202020204" pitchFamily="34" charset="0"/>
              </a:rPr>
              <a:t>Health services</a:t>
            </a:r>
          </a:p>
        </p:txBody>
      </p:sp>
      <p:pic>
        <p:nvPicPr>
          <p:cNvPr id="10" name="Picture 9"/>
          <p:cNvPicPr>
            <a:picLocks noChangeAspect="1"/>
          </p:cNvPicPr>
          <p:nvPr>
            <p:custDataLst>
              <p:tags r:id="rId2"/>
            </p:custDataLst>
          </p:nvPr>
        </p:nvPicPr>
        <p:blipFill>
          <a:blip r:embed="rId4"/>
          <a:stretch>
            <a:fillRect/>
          </a:stretch>
        </p:blipFill>
        <p:spPr>
          <a:xfrm>
            <a:off x="598212" y="4435473"/>
            <a:ext cx="4105023" cy="1931358"/>
          </a:xfrm>
          <a:prstGeom prst="rect">
            <a:avLst/>
          </a:prstGeom>
        </p:spPr>
      </p:pic>
      <p:cxnSp>
        <p:nvCxnSpPr>
          <p:cNvPr id="28" name="Elbow Connector 27"/>
          <p:cNvCxnSpPr/>
          <p:nvPr/>
        </p:nvCxnSpPr>
        <p:spPr>
          <a:xfrm>
            <a:off x="1703171" y="2562073"/>
            <a:ext cx="1602824" cy="98905"/>
          </a:xfrm>
          <a:prstGeom prst="bentConnector2">
            <a:avLst/>
          </a:prstGeom>
          <a:ln>
            <a:solidFill>
              <a:srgbClr val="00338D"/>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1021353" y="3388966"/>
            <a:ext cx="903355" cy="3005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b="1" dirty="0">
                <a:solidFill>
                  <a:schemeClr val="bg1"/>
                </a:solidFill>
                <a:latin typeface="Univers for KPMG" panose="020B0603020202020204" pitchFamily="34" charset="0"/>
              </a:rPr>
              <a:t>Corporate cost centers</a:t>
            </a:r>
          </a:p>
        </p:txBody>
      </p:sp>
      <p:sp>
        <p:nvSpPr>
          <p:cNvPr id="32" name="Rectangle 31"/>
          <p:cNvSpPr/>
          <p:nvPr/>
        </p:nvSpPr>
        <p:spPr>
          <a:xfrm>
            <a:off x="2736082" y="2721597"/>
            <a:ext cx="903355" cy="3005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b="1" dirty="0">
                <a:solidFill>
                  <a:schemeClr val="bg1"/>
                </a:solidFill>
                <a:latin typeface="Univers for KPMG" panose="020B0603020202020204" pitchFamily="34" charset="0"/>
              </a:rPr>
              <a:t>ABLE Kids services</a:t>
            </a:r>
          </a:p>
        </p:txBody>
      </p:sp>
      <p:sp>
        <p:nvSpPr>
          <p:cNvPr id="34" name="Rectangle 33"/>
          <p:cNvSpPr/>
          <p:nvPr/>
        </p:nvSpPr>
        <p:spPr>
          <a:xfrm>
            <a:off x="3668645" y="2721597"/>
            <a:ext cx="903355" cy="3005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b="1" dirty="0">
                <a:solidFill>
                  <a:schemeClr val="bg1"/>
                </a:solidFill>
                <a:latin typeface="Univers for KPMG" panose="020B0603020202020204" pitchFamily="34" charset="0"/>
              </a:rPr>
              <a:t>Other</a:t>
            </a:r>
            <a:r>
              <a:rPr lang="en-US" sz="700" b="1" baseline="30000" dirty="0">
                <a:solidFill>
                  <a:schemeClr val="bg1"/>
                </a:solidFill>
                <a:latin typeface="Univers for KPMG" panose="020B0603020202020204" pitchFamily="34" charset="0"/>
              </a:rPr>
              <a:t>1</a:t>
            </a:r>
          </a:p>
        </p:txBody>
      </p:sp>
      <p:sp>
        <p:nvSpPr>
          <p:cNvPr id="29" name="Rectangle 28"/>
          <p:cNvSpPr/>
          <p:nvPr/>
        </p:nvSpPr>
        <p:spPr>
          <a:xfrm>
            <a:off x="2698105" y="2672480"/>
            <a:ext cx="1905899" cy="404590"/>
          </a:xfrm>
          <a:prstGeom prst="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26" name="TextBox 25"/>
          <p:cNvSpPr txBox="1"/>
          <p:nvPr/>
        </p:nvSpPr>
        <p:spPr>
          <a:xfrm>
            <a:off x="3063864" y="3060299"/>
            <a:ext cx="1611211" cy="104849"/>
          </a:xfrm>
          <a:prstGeom prst="rect">
            <a:avLst/>
          </a:prstGeom>
          <a:noFill/>
        </p:spPr>
        <p:txBody>
          <a:bodyPr wrap="none" lIns="54610" tIns="54610" rIns="54610" bIns="54610" rtlCol="0">
            <a:noAutofit/>
          </a:bodyPr>
          <a:lstStyle/>
          <a:p>
            <a:pPr algn="r">
              <a:spcAft>
                <a:spcPts val="600"/>
              </a:spcAft>
            </a:pPr>
            <a:r>
              <a:rPr lang="en-US" sz="600" dirty="0">
                <a:solidFill>
                  <a:schemeClr val="tx2"/>
                </a:solidFill>
                <a:latin typeface="Univers for KPMG" panose="020B0603020202020204" pitchFamily="34" charset="0"/>
              </a:rPr>
              <a:t>Outside of transaction perimeter</a:t>
            </a:r>
          </a:p>
        </p:txBody>
      </p:sp>
    </p:spTree>
    <p:extLst>
      <p:ext uri="{BB962C8B-B14F-4D97-AF65-F5344CB8AC3E}">
        <p14:creationId xmlns:p14="http://schemas.microsoft.com/office/powerpoint/2010/main" val="13532115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34340" y="1214876"/>
            <a:ext cx="1508760" cy="4792224"/>
          </a:xfrm>
        </p:spPr>
        <p:txBody>
          <a:bodyPr/>
          <a:lstStyle/>
          <a:p>
            <a:r>
              <a:rPr lang="en-US" dirty="0"/>
              <a:t>The Company’s fiscal year-end is December 31</a:t>
            </a:r>
            <a:r>
              <a:rPr lang="en-US" baseline="30000" dirty="0"/>
              <a:t>st</a:t>
            </a:r>
            <a:r>
              <a:rPr lang="en-US" dirty="0"/>
              <a:t>. </a:t>
            </a:r>
          </a:p>
          <a:p>
            <a:r>
              <a:rPr lang="en-US" dirty="0"/>
              <a:t>The adjacent tables present the operating results of the Company on a combined basis.</a:t>
            </a:r>
          </a:p>
          <a:p>
            <a:r>
              <a:rPr lang="en-US" dirty="0"/>
              <a:t>The Company’s financial statements are not audited or reviewed.</a:t>
            </a:r>
          </a:p>
          <a:p>
            <a:r>
              <a:rPr lang="en-US" dirty="0"/>
              <a:t>Refer to the appendices for a build-up of the Company's financial statements by (i) residential, (ii) day services, (iii) community living support, (iv) health services, and (v) corporate cost centers. </a:t>
            </a:r>
          </a:p>
        </p:txBody>
      </p:sp>
      <p:sp>
        <p:nvSpPr>
          <p:cNvPr id="5" name="Title 4"/>
          <p:cNvSpPr>
            <a:spLocks noGrp="1"/>
          </p:cNvSpPr>
          <p:nvPr>
            <p:ph type="title"/>
          </p:nvPr>
        </p:nvSpPr>
        <p:spPr/>
        <p:txBody>
          <a:bodyPr/>
          <a:lstStyle/>
          <a:p>
            <a:r>
              <a:rPr lang="en-US" dirty="0"/>
              <a:t>Summary financial statements</a:t>
            </a:r>
          </a:p>
        </p:txBody>
      </p:sp>
      <p:sp>
        <p:nvSpPr>
          <p:cNvPr id="6"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CA" sz="1200" b="1" dirty="0">
                <a:solidFill>
                  <a:srgbClr val="00338D"/>
                </a:solidFill>
              </a:rPr>
              <a:t>Executive summary</a:t>
            </a:r>
          </a:p>
        </p:txBody>
      </p:sp>
      <p:sp>
        <p:nvSpPr>
          <p:cNvPr id="11" name="TextBox 10"/>
          <p:cNvSpPr txBox="1"/>
          <p:nvPr/>
        </p:nvSpPr>
        <p:spPr>
          <a:xfrm>
            <a:off x="2112173" y="4779658"/>
            <a:ext cx="5821890" cy="975683"/>
          </a:xfrm>
          <a:prstGeom prst="rect">
            <a:avLst/>
          </a:prstGeom>
          <a:noFill/>
          <a:ln>
            <a:solidFill>
              <a:srgbClr val="00338D"/>
            </a:solidFill>
          </a:ln>
        </p:spPr>
        <p:txBody>
          <a:bodyPr wrap="square" lIns="54610" tIns="54610" rIns="54610" bIns="54610" rtlCol="0">
            <a:noAutofit/>
          </a:bodyPr>
          <a:lstStyle/>
          <a:p>
            <a:pPr algn="just">
              <a:spcAft>
                <a:spcPts val="600"/>
              </a:spcAft>
            </a:pPr>
            <a:r>
              <a:rPr lang="en-US" sz="700" b="1" i="1" dirty="0">
                <a:solidFill>
                  <a:srgbClr val="00338D"/>
                </a:solidFill>
                <a:latin typeface="Univers for KPMG" panose="020B0603020202020204" pitchFamily="34" charset="0"/>
              </a:rPr>
              <a:t>Basis of presentation:</a:t>
            </a:r>
          </a:p>
          <a:p>
            <a:pPr algn="just">
              <a:spcAft>
                <a:spcPts val="600"/>
              </a:spcAft>
            </a:pPr>
            <a:r>
              <a:rPr lang="en-US" sz="700" i="1" dirty="0">
                <a:solidFill>
                  <a:srgbClr val="00338D"/>
                </a:solidFill>
                <a:latin typeface="Univers for KPMG" panose="020B0603020202020204" pitchFamily="34" charset="0"/>
              </a:rPr>
              <a:t>The majority of the analysis herein is based on the financial statements compiled from the Company’s monthly trial balances.</a:t>
            </a:r>
            <a:endParaRPr lang="en-US" sz="700" b="1" i="1" dirty="0">
              <a:solidFill>
                <a:srgbClr val="00338D"/>
              </a:solidFill>
              <a:latin typeface="Univers for KPMG" panose="020B0603020202020204" pitchFamily="34" charset="0"/>
            </a:endParaRPr>
          </a:p>
          <a:p>
            <a:pPr algn="just">
              <a:spcAft>
                <a:spcPts val="600"/>
              </a:spcAft>
            </a:pPr>
            <a:r>
              <a:rPr lang="en-US" sz="700" i="1" dirty="0">
                <a:solidFill>
                  <a:srgbClr val="00338D"/>
                </a:solidFill>
                <a:latin typeface="Univers for KPMG" panose="020B0603020202020204" pitchFamily="34" charset="0"/>
              </a:rPr>
              <a:t>Note that the balance sheet presented represents the entire operating results of the organization (i.e. it does not reflect the transaction perimeter) as Management does not separately track and/or prepare the balance sheet for the contemplated transaction.</a:t>
            </a:r>
          </a:p>
          <a:p>
            <a:pPr algn="just">
              <a:spcAft>
                <a:spcPts val="600"/>
              </a:spcAft>
            </a:pPr>
            <a:r>
              <a:rPr lang="en-US" sz="700" i="1" dirty="0" smtClean="0">
                <a:solidFill>
                  <a:srgbClr val="00338D"/>
                </a:solidFill>
                <a:latin typeface="Univers for KPMG" panose="020B0603020202020204" pitchFamily="34" charset="0"/>
              </a:rPr>
              <a:t>For </a:t>
            </a:r>
            <a:r>
              <a:rPr lang="en-US" sz="700" i="1" dirty="0">
                <a:solidFill>
                  <a:srgbClr val="00338D"/>
                </a:solidFill>
                <a:latin typeface="Univers for KPMG" panose="020B0603020202020204" pitchFamily="34" charset="0"/>
              </a:rPr>
              <a:t>purposes of the net working capital analysis, the accounts receivable, accounts payable, and payroll accrual balances are estimated based on applying payroll cycle and days metrics on potentially adjusted revenue and expenses.</a:t>
            </a:r>
          </a:p>
        </p:txBody>
      </p:sp>
      <p:sp>
        <p:nvSpPr>
          <p:cNvPr id="12" name="Rectangle 11"/>
          <p:cNvSpPr/>
          <p:nvPr/>
        </p:nvSpPr>
        <p:spPr>
          <a:xfrm>
            <a:off x="2052901" y="4261941"/>
            <a:ext cx="1814627" cy="93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Internal trial balances; KPMG analysis</a:t>
            </a:r>
          </a:p>
        </p:txBody>
      </p:sp>
      <p:sp>
        <p:nvSpPr>
          <p:cNvPr id="16" name="Rectangle 15"/>
          <p:cNvSpPr/>
          <p:nvPr/>
        </p:nvSpPr>
        <p:spPr>
          <a:xfrm>
            <a:off x="4936497" y="4258766"/>
            <a:ext cx="1814627" cy="93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Internal trial balances; KPMG analysis</a:t>
            </a:r>
          </a:p>
        </p:txBody>
      </p:sp>
      <p:pic>
        <p:nvPicPr>
          <p:cNvPr id="9" name="Picture 8"/>
          <p:cNvPicPr>
            <a:picLocks noChangeAspect="1"/>
          </p:cNvPicPr>
          <p:nvPr>
            <p:custDataLst>
              <p:tags r:id="rId2"/>
            </p:custDataLst>
          </p:nvPr>
        </p:nvPicPr>
        <p:blipFill>
          <a:blip r:embed="rId5"/>
          <a:stretch>
            <a:fillRect/>
          </a:stretch>
        </p:blipFill>
        <p:spPr>
          <a:xfrm>
            <a:off x="4995769" y="1213540"/>
            <a:ext cx="2938294" cy="3028096"/>
          </a:xfrm>
          <a:prstGeom prst="rect">
            <a:avLst/>
          </a:prstGeom>
        </p:spPr>
      </p:pic>
      <p:pic>
        <p:nvPicPr>
          <p:cNvPr id="8" name="Picture 7"/>
          <p:cNvPicPr>
            <a:picLocks noChangeAspect="1"/>
          </p:cNvPicPr>
          <p:nvPr>
            <p:custDataLst>
              <p:tags r:id="rId3"/>
            </p:custDataLst>
          </p:nvPr>
        </p:nvPicPr>
        <p:blipFill>
          <a:blip r:embed="rId6"/>
          <a:stretch>
            <a:fillRect/>
          </a:stretch>
        </p:blipFill>
        <p:spPr>
          <a:xfrm>
            <a:off x="2095500" y="1211263"/>
            <a:ext cx="2522578" cy="3047479"/>
          </a:xfrm>
          <a:prstGeom prst="rect">
            <a:avLst/>
          </a:prstGeom>
        </p:spPr>
      </p:pic>
    </p:spTree>
    <p:extLst>
      <p:ext uri="{BB962C8B-B14F-4D97-AF65-F5344CB8AC3E}">
        <p14:creationId xmlns:p14="http://schemas.microsoft.com/office/powerpoint/2010/main" val="171914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a:spLocks noGrp="1"/>
          </p:cNvSpPr>
          <p:nvPr>
            <p:ph type="title"/>
          </p:nvPr>
        </p:nvSpPr>
        <p:spPr>
          <a:xfrm>
            <a:off x="429768" y="477012"/>
            <a:ext cx="8280400" cy="734400"/>
          </a:xfrm>
        </p:spPr>
        <p:txBody>
          <a:bodyPr/>
          <a:lstStyle/>
          <a:p>
            <a:r>
              <a:rPr lang="en-CA" dirty="0"/>
              <a:t>Basis of preparation</a:t>
            </a:r>
            <a:endParaRPr lang="en-CA" noProof="0" dirty="0"/>
          </a:p>
        </p:txBody>
      </p:sp>
      <p:sp>
        <p:nvSpPr>
          <p:cNvPr id="4" name="ZoneTexte 11">
            <a:extLst>
              <a:ext uri="{FF2B5EF4-FFF2-40B4-BE49-F238E27FC236}">
                <a16:creationId xmlns="" xmlns:a16="http://schemas.microsoft.com/office/drawing/2014/main" id="{A3A96B79-9A6D-4A5A-99B1-DE73E3871431}"/>
              </a:ext>
            </a:extLst>
          </p:cNvPr>
          <p:cNvSpPr txBox="1">
            <a:spLocks/>
          </p:cNvSpPr>
          <p:nvPr>
            <p:custDataLst>
              <p:tags r:id="rId2"/>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Executive summary</a:t>
            </a:r>
          </a:p>
        </p:txBody>
      </p:sp>
      <p:sp>
        <p:nvSpPr>
          <p:cNvPr id="21" name="TextBox 20"/>
          <p:cNvSpPr txBox="1"/>
          <p:nvPr/>
        </p:nvSpPr>
        <p:spPr>
          <a:xfrm>
            <a:off x="413325" y="892597"/>
            <a:ext cx="8296843" cy="292797"/>
          </a:xfrm>
          <a:prstGeom prst="rect">
            <a:avLst/>
          </a:prstGeom>
          <a:noFill/>
        </p:spPr>
        <p:txBody>
          <a:bodyPr wrap="square" lIns="54610" tIns="54610" rIns="54610" bIns="54610" rtlCol="0">
            <a:noAutofit/>
          </a:bodyPr>
          <a:lstStyle/>
          <a:p>
            <a:pPr marL="0" lvl="1" fontAlgn="base">
              <a:spcAft>
                <a:spcPts val="600"/>
              </a:spcAft>
              <a:defRPr/>
            </a:pPr>
            <a:r>
              <a:rPr lang="en-US" sz="900" dirty="0" smtClean="0">
                <a:solidFill>
                  <a:srgbClr val="00338D"/>
                </a:solidFill>
                <a:latin typeface="Univers for KPMG" panose="020B0603020202020204" pitchFamily="34" charset="0"/>
              </a:rPr>
              <a:t>The </a:t>
            </a:r>
            <a:r>
              <a:rPr lang="en-US" sz="900" dirty="0">
                <a:solidFill>
                  <a:srgbClr val="00338D"/>
                </a:solidFill>
                <a:latin typeface="Univers for KPMG" panose="020B0603020202020204" pitchFamily="34" charset="0"/>
              </a:rPr>
              <a:t>transaction perimeter excludes ABA services (child care), content, employment and executive departments. The table below presents the results of the Business, and each of the departments that are excluded from the proposed transaction perimeter. </a:t>
            </a:r>
          </a:p>
          <a:p>
            <a:pPr algn="just">
              <a:lnSpc>
                <a:spcPts val="900"/>
              </a:lnSpc>
              <a:spcAft>
                <a:spcPts val="500"/>
              </a:spcAft>
            </a:pPr>
            <a:endParaRPr lang="en-US" sz="900" dirty="0">
              <a:solidFill>
                <a:srgbClr val="00338D"/>
              </a:solidFill>
              <a:latin typeface="Univers for KPMG" panose="020B0603020202020204" pitchFamily="34" charset="0"/>
            </a:endParaRPr>
          </a:p>
        </p:txBody>
      </p:sp>
      <p:sp>
        <p:nvSpPr>
          <p:cNvPr id="37" name="TextBox 36"/>
          <p:cNvSpPr txBox="1"/>
          <p:nvPr/>
        </p:nvSpPr>
        <p:spPr>
          <a:xfrm>
            <a:off x="571156" y="5133359"/>
            <a:ext cx="8296843" cy="292797"/>
          </a:xfrm>
          <a:prstGeom prst="rect">
            <a:avLst/>
          </a:prstGeom>
          <a:noFill/>
        </p:spPr>
        <p:txBody>
          <a:bodyPr wrap="square" lIns="54610" tIns="54610" rIns="54610" bIns="54610" rtlCol="0">
            <a:noAutofit/>
          </a:bodyPr>
          <a:lstStyle/>
          <a:p>
            <a:pPr algn="just">
              <a:lnSpc>
                <a:spcPts val="900"/>
              </a:lnSpc>
              <a:spcAft>
                <a:spcPts val="500"/>
              </a:spcAft>
            </a:pPr>
            <a:r>
              <a:rPr lang="en-US" sz="900" dirty="0">
                <a:latin typeface="Univers for KPMG" panose="020B0603020202020204" pitchFamily="34" charset="0"/>
              </a:rPr>
              <a:t>Revenue and expenses associated with the following divisions are removed from the transaction perimeter.   </a:t>
            </a:r>
          </a:p>
          <a:p>
            <a:pPr algn="just">
              <a:lnSpc>
                <a:spcPts val="900"/>
              </a:lnSpc>
              <a:spcAft>
                <a:spcPts val="500"/>
              </a:spcAft>
            </a:pPr>
            <a:endParaRPr lang="en-US" sz="900" dirty="0">
              <a:solidFill>
                <a:srgbClr val="00338D"/>
              </a:solidFill>
              <a:latin typeface="Univers for KPMG" panose="020B0603020202020204" pitchFamily="34" charset="0"/>
            </a:endParaRPr>
          </a:p>
        </p:txBody>
      </p:sp>
      <p:sp>
        <p:nvSpPr>
          <p:cNvPr id="14" name="Rounded Rectangle 13"/>
          <p:cNvSpPr/>
          <p:nvPr/>
        </p:nvSpPr>
        <p:spPr>
          <a:xfrm flipH="1">
            <a:off x="434978" y="5175807"/>
            <a:ext cx="131516" cy="116650"/>
          </a:xfrm>
          <a:prstGeom prst="roundRect">
            <a:avLst>
              <a:gd name="adj" fmla="val 2255"/>
            </a:avLst>
          </a:prstGeom>
          <a:solidFill>
            <a:srgbClr val="00A3A1">
              <a:alpha val="10000"/>
            </a:srgbClr>
          </a:solidFill>
          <a:ln w="15875">
            <a:solidFill>
              <a:srgbClr val="00A3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5" name="TextBox 14"/>
          <p:cNvSpPr txBox="1"/>
          <p:nvPr/>
        </p:nvSpPr>
        <p:spPr>
          <a:xfrm>
            <a:off x="571156" y="5315180"/>
            <a:ext cx="8296843" cy="292797"/>
          </a:xfrm>
          <a:prstGeom prst="rect">
            <a:avLst/>
          </a:prstGeom>
          <a:noFill/>
        </p:spPr>
        <p:txBody>
          <a:bodyPr wrap="square" lIns="54610" tIns="54610" rIns="54610" bIns="54610" rtlCol="0">
            <a:noAutofit/>
          </a:bodyPr>
          <a:lstStyle/>
          <a:p>
            <a:pPr algn="just">
              <a:lnSpc>
                <a:spcPts val="900"/>
              </a:lnSpc>
              <a:spcAft>
                <a:spcPts val="500"/>
              </a:spcAft>
            </a:pPr>
            <a:r>
              <a:rPr lang="en-US" sz="900" dirty="0">
                <a:latin typeface="Univers for KPMG" panose="020B0603020202020204" pitchFamily="34" charset="0"/>
              </a:rPr>
              <a:t>Division’s revenue and expenses primarily consist of management fees paid to the owner and payroll expenses relating to divisions outside of the Business.</a:t>
            </a:r>
          </a:p>
          <a:p>
            <a:pPr algn="just">
              <a:lnSpc>
                <a:spcPts val="900"/>
              </a:lnSpc>
              <a:spcAft>
                <a:spcPts val="500"/>
              </a:spcAft>
            </a:pPr>
            <a:endParaRPr lang="en-US" sz="900" dirty="0">
              <a:solidFill>
                <a:srgbClr val="00338D"/>
              </a:solidFill>
              <a:latin typeface="Univers for KPMG" panose="020B0603020202020204" pitchFamily="34" charset="0"/>
            </a:endParaRPr>
          </a:p>
        </p:txBody>
      </p:sp>
      <p:sp>
        <p:nvSpPr>
          <p:cNvPr id="16" name="Oval 15"/>
          <p:cNvSpPr/>
          <p:nvPr/>
        </p:nvSpPr>
        <p:spPr>
          <a:xfrm>
            <a:off x="431800" y="5355846"/>
            <a:ext cx="137160" cy="137160"/>
          </a:xfrm>
          <a:prstGeom prst="ellipse">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rgbClr val="FFFFFF"/>
                </a:solidFill>
              </a:rPr>
              <a:t>1</a:t>
            </a:r>
          </a:p>
        </p:txBody>
      </p:sp>
      <p:pic>
        <p:nvPicPr>
          <p:cNvPr id="2" name="Picture 1"/>
          <p:cNvPicPr>
            <a:picLocks noChangeAspect="1"/>
          </p:cNvPicPr>
          <p:nvPr>
            <p:custDataLst>
              <p:tags r:id="rId3"/>
            </p:custDataLst>
          </p:nvPr>
        </p:nvPicPr>
        <p:blipFill>
          <a:blip r:embed="rId6"/>
          <a:stretch>
            <a:fillRect/>
          </a:stretch>
        </p:blipFill>
        <p:spPr>
          <a:xfrm>
            <a:off x="431800" y="1439876"/>
            <a:ext cx="7991100" cy="3497442"/>
          </a:xfrm>
          <a:prstGeom prst="rect">
            <a:avLst/>
          </a:prstGeom>
        </p:spPr>
      </p:pic>
      <p:sp>
        <p:nvSpPr>
          <p:cNvPr id="22" name="Rounded Rectangle 21"/>
          <p:cNvSpPr/>
          <p:nvPr/>
        </p:nvSpPr>
        <p:spPr>
          <a:xfrm flipH="1">
            <a:off x="3130568" y="1414692"/>
            <a:ext cx="851523" cy="3573016"/>
          </a:xfrm>
          <a:prstGeom prst="roundRect">
            <a:avLst>
              <a:gd name="adj" fmla="val 2255"/>
            </a:avLst>
          </a:prstGeom>
          <a:solidFill>
            <a:srgbClr val="00A3A1">
              <a:alpha val="10000"/>
            </a:srgbClr>
          </a:solidFill>
          <a:ln w="15875">
            <a:solidFill>
              <a:srgbClr val="00A3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19" name="Rounded Rectangle 18"/>
          <p:cNvSpPr/>
          <p:nvPr/>
        </p:nvSpPr>
        <p:spPr>
          <a:xfrm flipH="1">
            <a:off x="4168200" y="1414692"/>
            <a:ext cx="842382" cy="3573016"/>
          </a:xfrm>
          <a:prstGeom prst="roundRect">
            <a:avLst>
              <a:gd name="adj" fmla="val 2255"/>
            </a:avLst>
          </a:prstGeom>
          <a:solidFill>
            <a:srgbClr val="00A3A1">
              <a:alpha val="10000"/>
            </a:srgbClr>
          </a:solidFill>
          <a:ln w="15875">
            <a:solidFill>
              <a:srgbClr val="00A3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20" name="Rounded Rectangle 19"/>
          <p:cNvSpPr/>
          <p:nvPr/>
        </p:nvSpPr>
        <p:spPr>
          <a:xfrm flipH="1">
            <a:off x="5203769" y="1414691"/>
            <a:ext cx="842381" cy="3573017"/>
          </a:xfrm>
          <a:prstGeom prst="roundRect">
            <a:avLst>
              <a:gd name="adj" fmla="val 2255"/>
            </a:avLst>
          </a:prstGeom>
          <a:solidFill>
            <a:srgbClr val="00A3A1">
              <a:alpha val="10000"/>
            </a:srgbClr>
          </a:solidFill>
          <a:ln w="15875">
            <a:solidFill>
              <a:srgbClr val="00A3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34" name="Rounded Rectangle 33"/>
          <p:cNvSpPr/>
          <p:nvPr/>
        </p:nvSpPr>
        <p:spPr>
          <a:xfrm flipH="1">
            <a:off x="6221105" y="1414693"/>
            <a:ext cx="937996" cy="3573015"/>
          </a:xfrm>
          <a:prstGeom prst="roundRect">
            <a:avLst>
              <a:gd name="adj" fmla="val 2255"/>
            </a:avLst>
          </a:prstGeom>
          <a:solidFill>
            <a:srgbClr val="00A3A1">
              <a:alpha val="10000"/>
            </a:srgbClr>
          </a:solidFill>
          <a:ln w="15875">
            <a:solidFill>
              <a:srgbClr val="00A3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35" name="Oval 34"/>
          <p:cNvSpPr/>
          <p:nvPr/>
        </p:nvSpPr>
        <p:spPr>
          <a:xfrm>
            <a:off x="6159556" y="1299660"/>
            <a:ext cx="137160" cy="137160"/>
          </a:xfrm>
          <a:prstGeom prst="ellipse">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dirty="0">
                <a:solidFill>
                  <a:srgbClr val="FFFFFF"/>
                </a:solidFill>
              </a:rPr>
              <a:t>1</a:t>
            </a:r>
          </a:p>
        </p:txBody>
      </p:sp>
    </p:spTree>
    <p:custDataLst>
      <p:tags r:id="rId1"/>
    </p:custDataLst>
    <p:extLst>
      <p:ext uri="{BB962C8B-B14F-4D97-AF65-F5344CB8AC3E}">
        <p14:creationId xmlns:p14="http://schemas.microsoft.com/office/powerpoint/2010/main" val="29654750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836" name="think-cell Slide" r:id="rId10" imgW="498" imgH="499" progId="TCLayout.ActiveDocument.1">
                  <p:embed/>
                </p:oleObj>
              </mc:Choice>
              <mc:Fallback>
                <p:oleObj name="think-cell Slide" r:id="rId10" imgW="498" imgH="499" progId="TCLayout.ActiveDocument.1">
                  <p:embed/>
                  <p:pic>
                    <p:nvPicPr>
                      <p:cNvPr id="0" name=""/>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nSpc>
                <a:spcPct val="70000"/>
              </a:lnSpc>
              <a:spcBef>
                <a:spcPct val="0"/>
              </a:spcBef>
              <a:spcAft>
                <a:spcPct val="0"/>
              </a:spcAft>
            </a:pPr>
            <a:endParaRPr lang="en-CA" sz="3800" dirty="0">
              <a:solidFill>
                <a:schemeClr val="bg1"/>
              </a:solidFill>
              <a:latin typeface="KPMG Extralight" panose="020B0303030202040204" pitchFamily="34" charset="0"/>
              <a:ea typeface="+mj-ea"/>
              <a:cs typeface="+mj-cs"/>
              <a:sym typeface="KPMG Extralight" panose="020B0303030202040204" pitchFamily="34" charset="0"/>
            </a:endParaRPr>
          </a:p>
        </p:txBody>
      </p:sp>
      <p:graphicFrame>
        <p:nvGraphicFramePr>
          <p:cNvPr id="4" name="Group 3"/>
          <p:cNvGraphicFramePr>
            <a:graphicFrameLocks noGrp="1"/>
          </p:cNvGraphicFramePr>
          <p:nvPr>
            <p:extLst>
              <p:ext uri="{D42A27DB-BD31-4B8C-83A1-F6EECF244321}">
                <p14:modId xmlns:p14="http://schemas.microsoft.com/office/powerpoint/2010/main" val="2833744691"/>
              </p:ext>
            </p:extLst>
          </p:nvPr>
        </p:nvGraphicFramePr>
        <p:xfrm>
          <a:off x="431800" y="1211263"/>
          <a:ext cx="8280400" cy="4937760"/>
        </p:xfrm>
        <a:graphic>
          <a:graphicData uri="http://schemas.openxmlformats.org/drawingml/2006/table">
            <a:tbl>
              <a:tblPr/>
              <a:tblGrid>
                <a:gridCol w="1083235">
                  <a:extLst>
                    <a:ext uri="{9D8B030D-6E8A-4147-A177-3AD203B41FA5}">
                      <a16:colId xmlns="" xmlns:a16="http://schemas.microsoft.com/office/drawing/2014/main" val="20000"/>
                    </a:ext>
                  </a:extLst>
                </a:gridCol>
                <a:gridCol w="6396370">
                  <a:extLst>
                    <a:ext uri="{9D8B030D-6E8A-4147-A177-3AD203B41FA5}">
                      <a16:colId xmlns="" xmlns:a16="http://schemas.microsoft.com/office/drawing/2014/main" val="20001"/>
                    </a:ext>
                  </a:extLst>
                </a:gridCol>
                <a:gridCol w="800795">
                  <a:extLst>
                    <a:ext uri="{9D8B030D-6E8A-4147-A177-3AD203B41FA5}">
                      <a16:colId xmlns="" xmlns:a16="http://schemas.microsoft.com/office/drawing/2014/main" val="20002"/>
                    </a:ext>
                  </a:extLst>
                </a:gridCol>
              </a:tblGrid>
              <a:tr h="163448">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u="none" kern="1200" dirty="0">
                          <a:solidFill>
                            <a:schemeClr val="bg1"/>
                          </a:solidFill>
                          <a:latin typeface="Univers for KPMG" panose="020B0603020202020204" pitchFamily="34" charset="0"/>
                          <a:ea typeface="+mn-ea"/>
                          <a:cs typeface="+mn-cs"/>
                        </a:rPr>
                        <a:t>Issue</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just"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extLst>
                  <a:ext uri="{0D108BD9-81ED-4DB2-BD59-A6C34878D82A}">
                    <a16:rowId xmlns="" xmlns:a16="http://schemas.microsoft.com/office/drawing/2014/main" val="10000"/>
                  </a:ext>
                </a:extLst>
              </a:tr>
              <a:tr h="4546609">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u="none" kern="1200" baseline="0" dirty="0">
                          <a:solidFill>
                            <a:srgbClr val="00338D"/>
                          </a:solidFill>
                          <a:latin typeface="Univers for KPMG" panose="020B0603020202020204" pitchFamily="34" charset="0"/>
                          <a:ea typeface="+mn-ea"/>
                          <a:cs typeface="+mn-cs"/>
                        </a:rPr>
                        <a:t>Quality of earnings</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0" u="none" kern="1200" baseline="0" dirty="0">
                          <a:solidFill>
                            <a:srgbClr val="00338D"/>
                          </a:solidFill>
                          <a:latin typeface="Univers for KPMG" panose="020B0603020202020204" pitchFamily="34" charset="0"/>
                          <a:ea typeface="+mn-ea"/>
                          <a:cs typeface="+mn-cs"/>
                        </a:rPr>
                        <a:t>FY19 reported EBITDA of $1.4 million increases to $</a:t>
                      </a:r>
                      <a:r>
                        <a:rPr lang="en-US" sz="900" b="0" i="0" u="none" kern="1200" baseline="0" dirty="0" smtClean="0">
                          <a:solidFill>
                            <a:srgbClr val="00338D"/>
                          </a:solidFill>
                          <a:latin typeface="Univers for KPMG" panose="020B0603020202020204" pitchFamily="34" charset="0"/>
                          <a:ea typeface="+mn-ea"/>
                          <a:cs typeface="+mn-cs"/>
                        </a:rPr>
                        <a:t>1.8 </a:t>
                      </a:r>
                      <a:r>
                        <a:rPr lang="en-US" sz="900" b="0" i="0" u="none" kern="1200" baseline="0" dirty="0">
                          <a:solidFill>
                            <a:srgbClr val="00338D"/>
                          </a:solidFill>
                          <a:latin typeface="Univers for KPMG" panose="020B0603020202020204" pitchFamily="34" charset="0"/>
                          <a:ea typeface="+mn-ea"/>
                          <a:cs typeface="+mn-cs"/>
                        </a:rPr>
                        <a:t>million subsequent to Management adjustments.</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0" u="none" kern="1200" baseline="0" dirty="0">
                          <a:solidFill>
                            <a:srgbClr val="00338D"/>
                          </a:solidFill>
                          <a:latin typeface="Univers for KPMG" panose="020B0603020202020204" pitchFamily="34" charset="0"/>
                          <a:ea typeface="+mn-ea"/>
                          <a:cs typeface="+mn-cs"/>
                        </a:rPr>
                        <a:t>Potential adjustments identified during due diligence increases </a:t>
                      </a:r>
                      <a:r>
                        <a:rPr lang="en-US" sz="900" b="0" i="0" u="none" kern="1200" baseline="0" dirty="0" smtClean="0">
                          <a:solidFill>
                            <a:srgbClr val="00338D"/>
                          </a:solidFill>
                          <a:latin typeface="Univers for KPMG" panose="020B0603020202020204" pitchFamily="34" charset="0"/>
                          <a:ea typeface="+mn-ea"/>
                          <a:cs typeface="+mn-cs"/>
                        </a:rPr>
                        <a:t>FY19 Management </a:t>
                      </a:r>
                      <a:r>
                        <a:rPr lang="en-US" sz="900" b="0" i="0" u="none" kern="1200" baseline="0" dirty="0">
                          <a:solidFill>
                            <a:srgbClr val="00338D"/>
                          </a:solidFill>
                          <a:latin typeface="Univers for KPMG" panose="020B0603020202020204" pitchFamily="34" charset="0"/>
                          <a:ea typeface="+mn-ea"/>
                          <a:cs typeface="+mn-cs"/>
                        </a:rPr>
                        <a:t>adjusted EBITDA to $</a:t>
                      </a:r>
                      <a:r>
                        <a:rPr lang="en-US" sz="900" b="0" i="0" u="none" kern="1200" baseline="0" dirty="0" smtClean="0">
                          <a:solidFill>
                            <a:srgbClr val="00338D"/>
                          </a:solidFill>
                          <a:latin typeface="Univers for KPMG" panose="020B0603020202020204" pitchFamily="34" charset="0"/>
                          <a:ea typeface="+mn-ea"/>
                          <a:cs typeface="+mn-cs"/>
                        </a:rPr>
                        <a:t>2.7 </a:t>
                      </a:r>
                      <a:r>
                        <a:rPr lang="en-US" sz="900" b="0" i="0" u="none" kern="1200" baseline="0" dirty="0">
                          <a:solidFill>
                            <a:srgbClr val="00338D"/>
                          </a:solidFill>
                          <a:latin typeface="Univers for KPMG" panose="020B0603020202020204" pitchFamily="34" charset="0"/>
                          <a:ea typeface="+mn-ea"/>
                          <a:cs typeface="+mn-cs"/>
                        </a:rPr>
                        <a:t>million.</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0" u="none" kern="1200" baseline="0" dirty="0">
                          <a:solidFill>
                            <a:srgbClr val="00338D"/>
                          </a:solidFill>
                          <a:latin typeface="Univers for KPMG" panose="020B0603020202020204" pitchFamily="34" charset="0"/>
                          <a:ea typeface="+mn-ea"/>
                          <a:cs typeface="+mn-cs"/>
                        </a:rPr>
                        <a:t>We have identified additional qualitative considerations during due diligence. Refer to the supporting analysis for further details. </a:t>
                      </a:r>
                      <a:endParaRPr lang="en-US" sz="900" b="0" i="0" u="none" kern="1200" baseline="0" dirty="0">
                        <a:solidFill>
                          <a:srgbClr val="FF0000"/>
                        </a:solidFill>
                        <a:latin typeface="Univers for KPMG" panose="020B0603020202020204" pitchFamily="34" charset="0"/>
                        <a:ea typeface="+mn-ea"/>
                        <a:cs typeface="+mn-cs"/>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rPr>
                        <a:t>The table below summarizes reported, management adjusted, and potentially adjusted EBITDA for </a:t>
                      </a: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FY17 to FY19: </a:t>
                      </a: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endParaRPr>
                    </a:p>
                    <a:p>
                      <a:pPr marL="0" marR="0" lvl="2" indent="0" algn="just" defTabSz="914400" rtl="0" eaLnBrk="1" fontAlgn="auto" latinLnBrk="0" hangingPunct="1">
                        <a:lnSpc>
                          <a:spcPct val="100000"/>
                        </a:lnSpc>
                        <a:spcBef>
                          <a:spcPts val="400"/>
                        </a:spcBef>
                        <a:spcAft>
                          <a:spcPts val="0"/>
                        </a:spcAft>
                        <a:buClr>
                          <a:srgbClr val="97989A"/>
                        </a:buClr>
                        <a:buSzTx/>
                        <a:buFont typeface="Arial" pitchFamily="34" charset="0"/>
                        <a:buNone/>
                        <a:tabLst/>
                        <a:defRPr/>
                      </a:pPr>
                      <a:endParaRPr kumimoji="0" lang="en-US" sz="1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0" marR="0" lvl="2" indent="0" algn="just" defTabSz="914400" rtl="0" eaLnBrk="1" fontAlgn="auto" latinLnBrk="0" hangingPunct="1">
                        <a:lnSpc>
                          <a:spcPct val="100000"/>
                        </a:lnSpc>
                        <a:spcBef>
                          <a:spcPts val="0"/>
                        </a:spcBef>
                        <a:spcAft>
                          <a:spcPts val="0"/>
                        </a:spcAft>
                        <a:buClr>
                          <a:srgbClr val="97989A"/>
                        </a:buClr>
                        <a:buSzTx/>
                        <a:buFont typeface="Arial" pitchFamily="34" charset="0"/>
                        <a:buNone/>
                        <a:tabLst/>
                        <a:defRPr/>
                      </a:pPr>
                      <a:endParaRPr kumimoji="0" lang="en-US" sz="900" b="0" i="0" u="none" strike="noStrike" kern="1200" cap="none" spc="0" normalizeH="0" baseline="0" noProof="0" dirty="0" smtClean="0">
                        <a:ln>
                          <a:noFill/>
                        </a:ln>
                        <a:solidFill>
                          <a:schemeClr val="tx1"/>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chemeClr val="tx1"/>
                          </a:solidFill>
                          <a:effectLst/>
                          <a:uLnTx/>
                          <a:uFillTx/>
                          <a:latin typeface="Univers for KPMG" panose="020B0603020202020204" pitchFamily="34" charset="0"/>
                          <a:ea typeface="+mn-ea"/>
                          <a:cs typeface="Arial" pitchFamily="34" charset="0"/>
                        </a:rPr>
                        <a:t>Management </a:t>
                      </a:r>
                      <a:r>
                        <a:rPr kumimoji="0" lang="en-US" sz="900" b="0" i="0" u="none" strike="noStrike" kern="1200" cap="none" spc="0" normalizeH="0" baseline="0" noProof="0" dirty="0">
                          <a:ln>
                            <a:noFill/>
                          </a:ln>
                          <a:solidFill>
                            <a:schemeClr val="tx1"/>
                          </a:solidFill>
                          <a:effectLst/>
                          <a:uLnTx/>
                          <a:uFillTx/>
                          <a:latin typeface="Univers for KPMG" panose="020B0603020202020204" pitchFamily="34" charset="0"/>
                          <a:ea typeface="+mn-ea"/>
                          <a:cs typeface="Arial" pitchFamily="34" charset="0"/>
                        </a:rPr>
                        <a:t>adjustments </a:t>
                      </a:r>
                      <a:r>
                        <a:rPr kumimoji="0" lang="en-US" sz="900" b="0" i="0" u="none" strike="noStrike" kern="1200" cap="none" spc="0" normalizeH="0" baseline="0" noProof="0" dirty="0" smtClean="0">
                          <a:ln>
                            <a:noFill/>
                          </a:ln>
                          <a:solidFill>
                            <a:schemeClr val="tx1"/>
                          </a:solidFill>
                          <a:effectLst/>
                          <a:uLnTx/>
                          <a:uFillTx/>
                          <a:latin typeface="Univers for KPMG" panose="020B0603020202020204" pitchFamily="34" charset="0"/>
                          <a:ea typeface="+mn-ea"/>
                          <a:cs typeface="Arial" pitchFamily="34" charset="0"/>
                        </a:rPr>
                        <a:t>relating to run-rate growth in homes and centers </a:t>
                      </a:r>
                      <a:r>
                        <a:rPr kumimoji="0" lang="en-US" sz="900" b="0" i="0" u="none" strike="noStrike" kern="1200" cap="none" spc="0" normalizeH="0" baseline="0" noProof="0" dirty="0">
                          <a:ln>
                            <a:noFill/>
                          </a:ln>
                          <a:solidFill>
                            <a:schemeClr val="tx1"/>
                          </a:solidFill>
                          <a:effectLst/>
                          <a:uLnTx/>
                          <a:uFillTx/>
                          <a:latin typeface="Univers for KPMG" panose="020B0603020202020204" pitchFamily="34" charset="0"/>
                          <a:ea typeface="+mn-ea"/>
                          <a:cs typeface="Arial" pitchFamily="34" charset="0"/>
                        </a:rPr>
                        <a:t>are quantified based on preliminary estimates with no supporting details. </a:t>
                      </a:r>
                      <a:r>
                        <a:rPr kumimoji="0" lang="en-US" sz="900" b="0" i="0" u="none" strike="noStrike" kern="1200" cap="none" spc="0" normalizeH="0" baseline="0" noProof="0" dirty="0" smtClean="0">
                          <a:ln>
                            <a:noFill/>
                          </a:ln>
                          <a:solidFill>
                            <a:schemeClr val="tx1"/>
                          </a:solidFill>
                          <a:effectLst/>
                          <a:uLnTx/>
                          <a:uFillTx/>
                          <a:latin typeface="Univers for KPMG" panose="020B0603020202020204" pitchFamily="34" charset="0"/>
                          <a:ea typeface="+mn-ea"/>
                          <a:cs typeface="Arial" pitchFamily="34" charset="0"/>
                        </a:rPr>
                        <a:t>As a result, these amounts (total of $0.4 million) are </a:t>
                      </a:r>
                      <a:r>
                        <a:rPr kumimoji="0" lang="en-US" sz="900" b="0" i="0" u="none" strike="noStrike" kern="1200" cap="none" spc="0" normalizeH="0" baseline="0" noProof="0" dirty="0">
                          <a:ln>
                            <a:noFill/>
                          </a:ln>
                          <a:solidFill>
                            <a:schemeClr val="tx1"/>
                          </a:solidFill>
                          <a:effectLst/>
                          <a:uLnTx/>
                          <a:uFillTx/>
                          <a:latin typeface="Univers for KPMG" panose="020B0603020202020204" pitchFamily="34" charset="0"/>
                          <a:ea typeface="+mn-ea"/>
                          <a:cs typeface="Arial" pitchFamily="34" charset="0"/>
                        </a:rPr>
                        <a:t>reversed as part of potential adjustments, </a:t>
                      </a:r>
                      <a:r>
                        <a:rPr kumimoji="0" lang="en-US" sz="900" b="0" i="0" u="none" strike="noStrike" kern="1200" cap="none" spc="0" normalizeH="0" baseline="0" noProof="0" dirty="0" smtClean="0">
                          <a:ln>
                            <a:noFill/>
                          </a:ln>
                          <a:solidFill>
                            <a:schemeClr val="tx1"/>
                          </a:solidFill>
                          <a:effectLst/>
                          <a:uLnTx/>
                          <a:uFillTx/>
                          <a:latin typeface="Univers for KPMG" panose="020B0603020202020204" pitchFamily="34" charset="0"/>
                          <a:ea typeface="+mn-ea"/>
                          <a:cs typeface="Arial" pitchFamily="34" charset="0"/>
                        </a:rPr>
                        <a:t>and are partially offset based on actual quantifiable amounts.</a:t>
                      </a:r>
                      <a:endParaRPr kumimoji="0" lang="en-US" sz="900" b="0" i="0" u="none" strike="noStrike" kern="1200" cap="none" spc="0" normalizeH="0" baseline="0" noProof="0" dirty="0">
                        <a:ln>
                          <a:noFill/>
                        </a:ln>
                        <a:solidFill>
                          <a:schemeClr val="tx1"/>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Significant potential EBITDA adjustments in FY19 include the following:</a:t>
                      </a:r>
                    </a:p>
                    <a:p>
                      <a:pPr marL="341313" marR="0" lvl="3" indent="-171450" algn="just"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n-US" sz="900" b="1" dirty="0" smtClean="0">
                          <a:solidFill>
                            <a:schemeClr val="tx1"/>
                          </a:solidFill>
                        </a:rPr>
                        <a:t>New locations (increase of $0.5 million)</a:t>
                      </a:r>
                      <a:r>
                        <a:rPr lang="en-US" sz="900" dirty="0" smtClean="0">
                          <a:solidFill>
                            <a:schemeClr val="tx1"/>
                          </a:solidFill>
                        </a:rPr>
                        <a:t>:</a:t>
                      </a:r>
                      <a:r>
                        <a:rPr lang="en-US" sz="900" b="0" dirty="0" smtClean="0">
                          <a:solidFill>
                            <a:schemeClr val="tx1"/>
                          </a:solidFill>
                        </a:rPr>
                        <a:t> During</a:t>
                      </a:r>
                      <a:r>
                        <a:rPr lang="en-US" sz="900" b="0" baseline="0" dirty="0" smtClean="0">
                          <a:solidFill>
                            <a:schemeClr val="tx1"/>
                          </a:solidFill>
                        </a:rPr>
                        <a:t> the respective periods, t</a:t>
                      </a:r>
                      <a:r>
                        <a:rPr lang="en-US" sz="900" b="0" dirty="0" smtClean="0">
                          <a:solidFill>
                            <a:schemeClr val="tx1"/>
                          </a:solidFill>
                        </a:rPr>
                        <a:t>he Company opened nine additional homes, one center</a:t>
                      </a:r>
                      <a:r>
                        <a:rPr lang="en-US" sz="900" b="0" baseline="0" dirty="0" smtClean="0">
                          <a:solidFill>
                            <a:schemeClr val="tx1"/>
                          </a:solidFill>
                        </a:rPr>
                        <a:t> (day services) </a:t>
                      </a:r>
                      <a:r>
                        <a:rPr lang="en-US" sz="900" b="0" dirty="0" smtClean="0">
                          <a:solidFill>
                            <a:schemeClr val="tx1"/>
                          </a:solidFill>
                        </a:rPr>
                        <a:t>and</a:t>
                      </a:r>
                      <a:r>
                        <a:rPr lang="en-US" sz="900" b="0" baseline="0" dirty="0" smtClean="0">
                          <a:solidFill>
                            <a:schemeClr val="tx1"/>
                          </a:solidFill>
                        </a:rPr>
                        <a:t> 10</a:t>
                      </a:r>
                      <a:r>
                        <a:rPr lang="en-US" sz="900" b="0" dirty="0" smtClean="0">
                          <a:solidFill>
                            <a:schemeClr val="tx1"/>
                          </a:solidFill>
                        </a:rPr>
                        <a:t> host homes. According to Management, new locations typically</a:t>
                      </a:r>
                      <a:r>
                        <a:rPr lang="en-US" sz="900" b="0" baseline="0" dirty="0" smtClean="0">
                          <a:solidFill>
                            <a:schemeClr val="tx1"/>
                          </a:solidFill>
                        </a:rPr>
                        <a:t> ramp up between 30 to 90 days</a:t>
                      </a:r>
                      <a:r>
                        <a:rPr lang="en-US" sz="900" b="0" dirty="0" smtClean="0">
                          <a:solidFill>
                            <a:schemeClr val="tx1"/>
                          </a:solidFill>
                        </a:rPr>
                        <a:t>. As such, this adjustment annualizes the run-rate revenue and EBITDA for each location</a:t>
                      </a:r>
                      <a:r>
                        <a:rPr lang="en-US" sz="900" b="0" baseline="0" dirty="0" smtClean="0">
                          <a:solidFill>
                            <a:schemeClr val="tx1"/>
                          </a:solidFill>
                        </a:rPr>
                        <a:t> </a:t>
                      </a:r>
                      <a:r>
                        <a:rPr lang="en-US" sz="900" b="0" dirty="0" smtClean="0">
                          <a:solidFill>
                            <a:schemeClr val="tx1"/>
                          </a:solidFill>
                        </a:rPr>
                        <a:t>within</a:t>
                      </a:r>
                      <a:r>
                        <a:rPr lang="en-US" sz="900" b="0" baseline="0" dirty="0" smtClean="0">
                          <a:solidFill>
                            <a:schemeClr val="tx1"/>
                          </a:solidFill>
                        </a:rPr>
                        <a:t> the fiscal period it opened (note: the adjustment excludes start-up costs)</a:t>
                      </a:r>
                      <a:r>
                        <a:rPr lang="en-US" sz="900" b="0" dirty="0" smtClean="0">
                          <a:solidFill>
                            <a:schemeClr val="tx1"/>
                          </a:solidFill>
                        </a:rPr>
                        <a:t>. </a:t>
                      </a:r>
                    </a:p>
                    <a:p>
                      <a:pPr marL="341313" marR="0" lvl="3" indent="-171450" algn="just"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n-US" sz="900" b="1" kern="1200" noProof="0" dirty="0" smtClean="0">
                          <a:solidFill>
                            <a:schemeClr val="tx1"/>
                          </a:solidFill>
                          <a:latin typeface="Univers for KPMG" panose="020B0603020202020204" pitchFamily="34" charset="0"/>
                          <a:ea typeface="+mn-ea"/>
                          <a:cs typeface="+mn-cs"/>
                        </a:rPr>
                        <a:t>Payroll adjustment (increase of $0.3</a:t>
                      </a:r>
                      <a:r>
                        <a:rPr lang="en-US" sz="900" b="1" kern="1200" baseline="0" noProof="0" dirty="0" smtClean="0">
                          <a:solidFill>
                            <a:schemeClr val="tx1"/>
                          </a:solidFill>
                          <a:latin typeface="Univers for KPMG" panose="020B0603020202020204" pitchFamily="34" charset="0"/>
                          <a:ea typeface="+mn-ea"/>
                          <a:cs typeface="+mn-cs"/>
                        </a:rPr>
                        <a:t> million)</a:t>
                      </a:r>
                      <a:r>
                        <a:rPr lang="en-US" sz="900" b="1" kern="1200" noProof="0" dirty="0" smtClean="0">
                          <a:solidFill>
                            <a:schemeClr val="tx1"/>
                          </a:solidFill>
                          <a:latin typeface="Univers for KPMG" panose="020B0603020202020204" pitchFamily="34" charset="0"/>
                          <a:ea typeface="+mn-ea"/>
                          <a:cs typeface="+mn-cs"/>
                        </a:rPr>
                        <a:t>: </a:t>
                      </a:r>
                      <a:r>
                        <a:rPr lang="en-US" sz="900" b="0" kern="1200" noProof="0" dirty="0" smtClean="0">
                          <a:solidFill>
                            <a:schemeClr val="tx1"/>
                          </a:solidFill>
                          <a:latin typeface="Univers for KPMG" panose="020B0603020202020204" pitchFamily="34" charset="0"/>
                          <a:ea typeface="+mn-ea"/>
                          <a:cs typeface="+mn-cs"/>
                        </a:rPr>
                        <a:t>This adjustment: (i) eliminates compensation for employees who currently have non-operating roles, and (ii) includes expenses for new roles required post-transaction per Client representation.</a:t>
                      </a:r>
                    </a:p>
                    <a:p>
                      <a:pPr marL="341313" marR="0" lvl="3" indent="-171450" algn="just"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n-US" sz="900" b="1" dirty="0" smtClean="0">
                          <a:solidFill>
                            <a:schemeClr val="tx1"/>
                          </a:solidFill>
                          <a:latin typeface="Univers for KPMG" panose="020B0603020202020204" pitchFamily="34" charset="0"/>
                        </a:rPr>
                        <a:t>Start-up costs (increase of $0.2 million)</a:t>
                      </a:r>
                      <a:r>
                        <a:rPr lang="en-US" sz="900" dirty="0" smtClean="0">
                          <a:solidFill>
                            <a:schemeClr val="tx1"/>
                          </a:solidFill>
                          <a:latin typeface="Univers for KPMG" panose="020B0603020202020204" pitchFamily="34" charset="0"/>
                        </a:rPr>
                        <a:t>:</a:t>
                      </a:r>
                      <a:r>
                        <a:rPr lang="en-US" sz="900" b="0" dirty="0" smtClean="0">
                          <a:solidFill>
                            <a:schemeClr val="tx1"/>
                          </a:solidFill>
                        </a:rPr>
                        <a:t> As noted</a:t>
                      </a:r>
                      <a:r>
                        <a:rPr lang="en-US" sz="900" b="0" baseline="0" dirty="0" smtClean="0">
                          <a:solidFill>
                            <a:schemeClr val="tx1"/>
                          </a:solidFill>
                        </a:rPr>
                        <a:t> above, the Company increased its geographic footprint with new locations. As a result, during the initial months the Company incurred start-up losses (i.e. primarily incurred expenses such as rent or utilities). </a:t>
                      </a:r>
                      <a:r>
                        <a:rPr lang="en-US" sz="900" b="0" dirty="0" smtClean="0">
                          <a:solidFill>
                            <a:schemeClr val="tx1"/>
                          </a:solidFill>
                        </a:rPr>
                        <a:t>This adjustment eliminates any revenue and operating expenses prior to the location reaching maturity.</a:t>
                      </a:r>
                      <a:endParaRPr lang="en-US" sz="900" b="0" kern="1200" noProof="0" dirty="0" smtClean="0">
                        <a:solidFill>
                          <a:schemeClr val="tx1"/>
                        </a:solidFill>
                        <a:latin typeface="Univers for KPMG" panose="020B0603020202020204" pitchFamily="34" charset="0"/>
                        <a:ea typeface="+mn-ea"/>
                        <a:cs typeface="+mn-cs"/>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smtClean="0">
                          <a:ln>
                            <a:noFill/>
                          </a:ln>
                          <a:solidFill>
                            <a:schemeClr val="tx1"/>
                          </a:solidFill>
                          <a:effectLst/>
                          <a:uLnTx/>
                          <a:uFillTx/>
                          <a:latin typeface="Univers for KPMG" panose="020B0603020202020204" pitchFamily="34" charset="0"/>
                          <a:ea typeface="+mn-ea"/>
                          <a:cs typeface="Arial" pitchFamily="34" charset="0"/>
                        </a:rPr>
                        <a:t>Client should consider these potential </a:t>
                      </a:r>
                      <a:r>
                        <a:rPr kumimoji="0" lang="en-US" sz="900" b="0" i="0" u="none" strike="noStrike" kern="1200" cap="none" spc="0" normalizeH="0" baseline="0" noProof="0" dirty="0" smtClean="0">
                          <a:ln>
                            <a:noFill/>
                          </a:ln>
                          <a:solidFill>
                            <a:srgbClr val="000000"/>
                          </a:solidFill>
                          <a:effectLst/>
                          <a:uLnTx/>
                          <a:uFillTx/>
                          <a:latin typeface="Univers for KPMG" panose="020B0603020202020204" pitchFamily="34" charset="0"/>
                          <a:ea typeface="+mn-ea"/>
                          <a:cs typeface="Arial" pitchFamily="34" charset="0"/>
                        </a:rPr>
                        <a:t>adjustments as part of its valuation model and in finalizing credit agreements (including covenants) with prospective lenders. </a:t>
                      </a: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0" marR="0" indent="0" algn="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u="none" dirty="0">
                          <a:solidFill>
                            <a:schemeClr val="tx1"/>
                          </a:solidFill>
                          <a:latin typeface="Univers for KPMG" panose="020B0603020202020204" pitchFamily="34" charset="0"/>
                        </a:rPr>
                        <a:t>Page </a:t>
                      </a:r>
                      <a:r>
                        <a:rPr lang="en-US" sz="900" b="0" u="none" dirty="0" smtClean="0">
                          <a:solidFill>
                            <a:schemeClr val="tx1"/>
                          </a:solidFill>
                          <a:latin typeface="Univers for KPMG" panose="020B0603020202020204" pitchFamily="34" charset="0"/>
                        </a:rPr>
                        <a:t>13 </a:t>
                      </a:r>
                      <a:r>
                        <a:rPr lang="en-US" sz="900" b="0" u="none" dirty="0">
                          <a:solidFill>
                            <a:schemeClr val="tx1"/>
                          </a:solidFill>
                          <a:latin typeface="Univers for KPMG" panose="020B0603020202020204" pitchFamily="34" charset="0"/>
                        </a:rPr>
                        <a:t>to</a:t>
                      </a:r>
                      <a:r>
                        <a:rPr lang="en-US" sz="900" b="0" u="none" baseline="0" dirty="0">
                          <a:solidFill>
                            <a:schemeClr val="tx1"/>
                          </a:solidFill>
                          <a:latin typeface="Univers for KPMG" panose="020B0603020202020204" pitchFamily="34" charset="0"/>
                        </a:rPr>
                        <a:t> </a:t>
                      </a:r>
                      <a:r>
                        <a:rPr lang="en-US" sz="900" b="0" u="none" baseline="0" dirty="0" smtClean="0">
                          <a:solidFill>
                            <a:schemeClr val="tx1"/>
                          </a:solidFill>
                          <a:latin typeface="Univers for KPMG" panose="020B0603020202020204" pitchFamily="34" charset="0"/>
                        </a:rPr>
                        <a:t>23</a:t>
                      </a:r>
                      <a:endParaRPr lang="en-US" sz="900" b="0" u="none" dirty="0">
                        <a:solidFill>
                          <a:schemeClr val="tx1"/>
                        </a:solidFill>
                        <a:latin typeface="Univers for KPMG" panose="020B0603020202020204"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1"/>
                  </a:ext>
                </a:extLst>
              </a:tr>
            </a:tbl>
          </a:graphicData>
        </a:graphic>
      </p:graphicFrame>
      <p:sp>
        <p:nvSpPr>
          <p:cNvPr id="7" name="Title 1"/>
          <p:cNvSpPr>
            <a:spLocks noGrp="1"/>
          </p:cNvSpPr>
          <p:nvPr>
            <p:ph type="title"/>
          </p:nvPr>
        </p:nvSpPr>
        <p:spPr>
          <a:xfrm>
            <a:off x="431800" y="480476"/>
            <a:ext cx="8280400" cy="734400"/>
          </a:xfrm>
        </p:spPr>
        <p:txBody>
          <a:bodyPr/>
          <a:lstStyle/>
          <a:p>
            <a:r>
              <a:rPr lang="en-CA" noProof="0" dirty="0"/>
              <a:t>Key findings </a:t>
            </a:r>
            <a:r>
              <a:rPr lang="en-CA" noProof="0" dirty="0" smtClean="0"/>
              <a:t>– </a:t>
            </a:r>
            <a:r>
              <a:rPr lang="en-CA" i="1" dirty="0"/>
              <a:t>Financial due diligence (1 of 2)</a:t>
            </a:r>
            <a:endParaRPr lang="en-CA" noProof="0" dirty="0"/>
          </a:p>
        </p:txBody>
      </p:sp>
      <p:sp>
        <p:nvSpPr>
          <p:cNvPr id="3" name="UpSlide SubSection Marker" hidden="1">
            <a:extLst>
              <a:ext uri="{FF2B5EF4-FFF2-40B4-BE49-F238E27FC236}">
                <a16:creationId xmlns="" xmlns:a16="http://schemas.microsoft.com/office/drawing/2014/main" id="{671451BE-1EA9-481E-9C7B-E12FF4E10576}"/>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dirty="0">
              <a:solidFill>
                <a:schemeClr val="bg1"/>
              </a:solidFill>
            </a:endParaRPr>
          </a:p>
        </p:txBody>
      </p:sp>
      <p:sp>
        <p:nvSpPr>
          <p:cNvPr id="8" name="ZoneTexte 11">
            <a:extLst>
              <a:ext uri="{FF2B5EF4-FFF2-40B4-BE49-F238E27FC236}">
                <a16:creationId xmlns="" xmlns:a16="http://schemas.microsoft.com/office/drawing/2014/main" id="{A3A96B79-9A6D-4A5A-99B1-DE73E3871431}"/>
              </a:ext>
            </a:extLst>
          </p:cNvPr>
          <p:cNvSpPr txBox="1">
            <a:spLocks/>
          </p:cNvSpPr>
          <p:nvPr>
            <p:custDataLst>
              <p:tags r:id="rId5"/>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CA" sz="1200" b="1" dirty="0">
                <a:solidFill>
                  <a:srgbClr val="00338D"/>
                </a:solidFill>
              </a:rPr>
              <a:t>Executive summary</a:t>
            </a:r>
          </a:p>
        </p:txBody>
      </p:sp>
      <p:sp>
        <p:nvSpPr>
          <p:cNvPr id="11" name="Rectangle 10"/>
          <p:cNvSpPr/>
          <p:nvPr/>
        </p:nvSpPr>
        <p:spPr>
          <a:xfrm>
            <a:off x="1699629" y="3341984"/>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t>
            </a:r>
            <a:r>
              <a:rPr lang="en-US" sz="600" i="1" dirty="0" smtClean="0">
                <a:solidFill>
                  <a:schemeClr val="tx1"/>
                </a:solidFill>
              </a:rPr>
              <a:t>analysis</a:t>
            </a:r>
            <a:endParaRPr lang="en-US" sz="600" i="1" dirty="0">
              <a:solidFill>
                <a:schemeClr val="tx1"/>
              </a:solidFill>
            </a:endParaRPr>
          </a:p>
        </p:txBody>
      </p:sp>
      <p:sp>
        <p:nvSpPr>
          <p:cNvPr id="10" name="Rectangle 4"/>
          <p:cNvSpPr>
            <a:spLocks noChangeArrowheads="1"/>
          </p:cNvSpPr>
          <p:nvPr>
            <p:custDataLst>
              <p:tags r:id="rId6"/>
            </p:custDataLst>
          </p:nvPr>
        </p:nvSpPr>
        <p:spPr bwMode="auto">
          <a:xfrm>
            <a:off x="4801441" y="2147582"/>
            <a:ext cx="2098323" cy="995451"/>
          </a:xfrm>
          <a:prstGeom prst="rect">
            <a:avLst/>
          </a:prstGeom>
          <a:solidFill>
            <a:srgbClr val="00A3A1"/>
          </a:solidFill>
          <a:ln w="9525">
            <a:noFill/>
            <a:miter lim="800000"/>
            <a:headEnd/>
            <a:tailEnd/>
          </a:ln>
          <a:effectLst/>
        </p:spPr>
        <p:txBody>
          <a:bodyPr wrap="square" lIns="54000" tIns="54000" rIns="54000" bIns="54000" anchor="ctr" anchorCtr="1">
            <a:spAutoFit/>
          </a:bodyPr>
          <a:lstStyle/>
          <a:p>
            <a:pPr marL="0" lvl="2" defTabSz="762000" eaLnBrk="0" hangingPunct="0">
              <a:lnSpc>
                <a:spcPct val="90000"/>
              </a:lnSpc>
              <a:spcBef>
                <a:spcPts val="600"/>
              </a:spcBef>
            </a:pPr>
            <a:r>
              <a:rPr lang="en-US" sz="800" dirty="0" smtClean="0">
                <a:solidFill>
                  <a:schemeClr val="bg1"/>
                </a:solidFill>
                <a:latin typeface="Univers for KPMG" panose="020B0603020202020204" pitchFamily="34" charset="0"/>
              </a:rPr>
              <a:t>EBITDA margin decreases from 24.1% to 21.8% from FY17 to FY18, and subsequently increases to 25.4% in FY19. This is attributable to: (i) the </a:t>
            </a:r>
            <a:r>
              <a:rPr lang="en-US" sz="800" dirty="0">
                <a:solidFill>
                  <a:schemeClr val="bg1"/>
                </a:solidFill>
                <a:latin typeface="Univers for KPMG" panose="020B0603020202020204" pitchFamily="34" charset="0"/>
              </a:rPr>
              <a:t>Company increasing the number of </a:t>
            </a:r>
            <a:r>
              <a:rPr lang="en-US" sz="800" dirty="0" smtClean="0">
                <a:solidFill>
                  <a:schemeClr val="bg1"/>
                </a:solidFill>
                <a:latin typeface="Univers for KPMG" panose="020B0603020202020204" pitchFamily="34" charset="0"/>
              </a:rPr>
              <a:t>administrative employees in FY18 to </a:t>
            </a:r>
            <a:r>
              <a:rPr lang="en-US" sz="800" dirty="0">
                <a:solidFill>
                  <a:schemeClr val="bg1"/>
                </a:solidFill>
                <a:latin typeface="Univers for KPMG" panose="020B0603020202020204" pitchFamily="34" charset="0"/>
              </a:rPr>
              <a:t>service </a:t>
            </a:r>
            <a:r>
              <a:rPr lang="en-US" sz="800" dirty="0" smtClean="0">
                <a:solidFill>
                  <a:schemeClr val="bg1"/>
                </a:solidFill>
                <a:latin typeface="Univers for KPMG" panose="020B0603020202020204" pitchFamily="34" charset="0"/>
              </a:rPr>
              <a:t>growth realized in FY19, and (ii) step-fixed costs, such as rent expenses. </a:t>
            </a:r>
            <a:endParaRPr lang="en-US" sz="800" dirty="0">
              <a:solidFill>
                <a:schemeClr val="bg1"/>
              </a:solidFill>
              <a:latin typeface="Univers for KPMG" panose="020B0603020202020204" pitchFamily="34" charset="0"/>
            </a:endParaRPr>
          </a:p>
        </p:txBody>
      </p:sp>
      <p:cxnSp>
        <p:nvCxnSpPr>
          <p:cNvPr id="17" name="Elbow Connector 16"/>
          <p:cNvCxnSpPr>
            <a:cxnSpLocks/>
            <a:stCxn id="13" idx="3"/>
            <a:endCxn id="10" idx="1"/>
          </p:cNvCxnSpPr>
          <p:nvPr/>
        </p:nvCxnSpPr>
        <p:spPr>
          <a:xfrm flipV="1">
            <a:off x="4560440" y="2645308"/>
            <a:ext cx="241001" cy="604614"/>
          </a:xfrm>
          <a:prstGeom prst="bentConnector3">
            <a:avLst>
              <a:gd name="adj1" fmla="val 50000"/>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custDataLst>
              <p:tags r:id="rId7"/>
            </p:custDataLst>
          </p:nvPr>
        </p:nvPicPr>
        <p:blipFill>
          <a:blip r:embed="rId12"/>
          <a:stretch>
            <a:fillRect/>
          </a:stretch>
        </p:blipFill>
        <p:spPr>
          <a:xfrm>
            <a:off x="1769382" y="1645207"/>
            <a:ext cx="2791058" cy="1696777"/>
          </a:xfrm>
          <a:prstGeom prst="rect">
            <a:avLst/>
          </a:prstGeom>
        </p:spPr>
      </p:pic>
      <p:sp>
        <p:nvSpPr>
          <p:cNvPr id="13" name="Rounded Rectangle 12"/>
          <p:cNvSpPr/>
          <p:nvPr/>
        </p:nvSpPr>
        <p:spPr>
          <a:xfrm>
            <a:off x="3499100" y="3194192"/>
            <a:ext cx="1061340" cy="11146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Tree>
    <p:extLst>
      <p:ext uri="{BB962C8B-B14F-4D97-AF65-F5344CB8AC3E}">
        <p14:creationId xmlns:p14="http://schemas.microsoft.com/office/powerpoint/2010/main" val="31750939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2036" name="think-cell Slide" r:id="rId10" imgW="498" imgH="499" progId="TCLayout.ActiveDocument.1">
                  <p:embed/>
                </p:oleObj>
              </mc:Choice>
              <mc:Fallback>
                <p:oleObj name="think-cell Slide" r:id="rId10" imgW="498" imgH="499" progId="TCLayout.ActiveDocument.1">
                  <p:embed/>
                  <p:pic>
                    <p:nvPicPr>
                      <p:cNvPr id="0" name=""/>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nSpc>
                <a:spcPct val="70000"/>
              </a:lnSpc>
              <a:spcBef>
                <a:spcPct val="0"/>
              </a:spcBef>
              <a:spcAft>
                <a:spcPct val="0"/>
              </a:spcAft>
            </a:pPr>
            <a:endParaRPr lang="en-CA" sz="3800" dirty="0">
              <a:solidFill>
                <a:schemeClr val="bg1"/>
              </a:solidFill>
              <a:latin typeface="KPMG Extralight" panose="020B0303030202040204" pitchFamily="34" charset="0"/>
              <a:ea typeface="+mj-ea"/>
              <a:cs typeface="+mj-cs"/>
              <a:sym typeface="KPMG Extralight" panose="020B0303030202040204" pitchFamily="34" charset="0"/>
            </a:endParaRPr>
          </a:p>
        </p:txBody>
      </p:sp>
      <p:graphicFrame>
        <p:nvGraphicFramePr>
          <p:cNvPr id="4" name="Group 3"/>
          <p:cNvGraphicFramePr>
            <a:graphicFrameLocks noGrp="1"/>
          </p:cNvGraphicFramePr>
          <p:nvPr>
            <p:extLst>
              <p:ext uri="{D42A27DB-BD31-4B8C-83A1-F6EECF244321}">
                <p14:modId xmlns:p14="http://schemas.microsoft.com/office/powerpoint/2010/main" val="3216085193"/>
              </p:ext>
            </p:extLst>
          </p:nvPr>
        </p:nvGraphicFramePr>
        <p:xfrm>
          <a:off x="431800" y="1214876"/>
          <a:ext cx="8280400" cy="4114355"/>
        </p:xfrm>
        <a:graphic>
          <a:graphicData uri="http://schemas.openxmlformats.org/drawingml/2006/table">
            <a:tbl>
              <a:tblPr/>
              <a:tblGrid>
                <a:gridCol w="1315502">
                  <a:extLst>
                    <a:ext uri="{9D8B030D-6E8A-4147-A177-3AD203B41FA5}">
                      <a16:colId xmlns="" xmlns:a16="http://schemas.microsoft.com/office/drawing/2014/main" val="20000"/>
                    </a:ext>
                  </a:extLst>
                </a:gridCol>
                <a:gridCol w="6164103">
                  <a:extLst>
                    <a:ext uri="{9D8B030D-6E8A-4147-A177-3AD203B41FA5}">
                      <a16:colId xmlns="" xmlns:a16="http://schemas.microsoft.com/office/drawing/2014/main" val="20001"/>
                    </a:ext>
                  </a:extLst>
                </a:gridCol>
                <a:gridCol w="800795">
                  <a:extLst>
                    <a:ext uri="{9D8B030D-6E8A-4147-A177-3AD203B41FA5}">
                      <a16:colId xmlns="" xmlns:a16="http://schemas.microsoft.com/office/drawing/2014/main" val="20002"/>
                    </a:ext>
                  </a:extLst>
                </a:gridCol>
              </a:tblGrid>
              <a:tr h="223844">
                <a:tc>
                  <a:txBody>
                    <a:bodyPr/>
                    <a:lstStyle/>
                    <a:p>
                      <a:pPr marL="0" marR="0" lvl="1" indent="0" algn="l" defTabSz="914400" rtl="0" eaLnBrk="1" fontAlgn="base" latinLnBrk="0" hangingPunct="1">
                        <a:lnSpc>
                          <a:spcPct val="100000"/>
                        </a:lnSpc>
                        <a:spcBef>
                          <a:spcPts val="0"/>
                        </a:spcBef>
                        <a:spcAft>
                          <a:spcPts val="600"/>
                        </a:spcAft>
                        <a:buClrTx/>
                        <a:buSzTx/>
                        <a:buFontTx/>
                        <a:buNone/>
                        <a:tabLst/>
                      </a:pPr>
                      <a:r>
                        <a:rPr lang="en-US" sz="900" b="1" u="none" kern="1200" dirty="0">
                          <a:solidFill>
                            <a:schemeClr val="bg1"/>
                          </a:solidFill>
                          <a:latin typeface="Univers for KPMG" panose="020B0603020202020204" pitchFamily="34" charset="0"/>
                          <a:ea typeface="+mn-ea"/>
                          <a:cs typeface="+mn-cs"/>
                        </a:rPr>
                        <a:t>Issue</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Summary observations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tc>
                  <a:txBody>
                    <a:bodyPr/>
                    <a:lstStyle/>
                    <a:p>
                      <a:pPr marL="0" marR="0" lvl="1" indent="0" algn="l" defTabSz="914400" rtl="0" eaLnBrk="1" fontAlgn="auto" latinLnBrk="0" hangingPunct="1">
                        <a:lnSpc>
                          <a:spcPct val="100000"/>
                        </a:lnSpc>
                        <a:spcBef>
                          <a:spcPts val="0"/>
                        </a:spcBef>
                        <a:spcAft>
                          <a:spcPts val="600"/>
                        </a:spcAft>
                        <a:buClr>
                          <a:srgbClr val="97989A"/>
                        </a:buClr>
                        <a:buSzTx/>
                        <a:buFontTx/>
                        <a:buNone/>
                        <a:tabLst/>
                        <a:defRPr/>
                      </a:pPr>
                      <a:r>
                        <a:rPr lang="en-US" sz="900" b="1" u="none" kern="1200" noProof="0" dirty="0">
                          <a:solidFill>
                            <a:schemeClr val="bg1"/>
                          </a:solidFill>
                          <a:latin typeface="Univers for KPMG" panose="020B0603020202020204" pitchFamily="34" charset="0"/>
                          <a:ea typeface="+mn-ea"/>
                          <a:cs typeface="+mn-cs"/>
                        </a:rPr>
                        <a:t>Key analysis</a:t>
                      </a:r>
                    </a:p>
                  </a:txBody>
                  <a:tcPr marL="45720" marR="45720" anchor="b"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rgbClr val="00338D"/>
                    </a:solidFill>
                  </a:tcPr>
                </a:tc>
                <a:extLst>
                  <a:ext uri="{0D108BD9-81ED-4DB2-BD59-A6C34878D82A}">
                    <a16:rowId xmlns="" xmlns:a16="http://schemas.microsoft.com/office/drawing/2014/main" val="10000"/>
                  </a:ext>
                </a:extLst>
              </a:tr>
              <a:tr h="3885755">
                <a:tc>
                  <a:txBody>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1" u="none" kern="1200" baseline="0" dirty="0">
                          <a:solidFill>
                            <a:srgbClr val="00338D"/>
                          </a:solidFill>
                          <a:latin typeface="Univers for KPMG" panose="020B0603020202020204" pitchFamily="34" charset="0"/>
                          <a:ea typeface="+mn-ea"/>
                          <a:cs typeface="+mn-cs"/>
                        </a:rPr>
                        <a:t>Net working capital</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0" u="none" kern="1200" baseline="0" dirty="0">
                          <a:solidFill>
                            <a:srgbClr val="00338D"/>
                          </a:solidFill>
                          <a:latin typeface="Univers for KPMG" panose="020B0603020202020204" pitchFamily="34" charset="0"/>
                          <a:ea typeface="+mn-ea"/>
                          <a:cs typeface="+mn-cs"/>
                        </a:rPr>
                        <a:t>The adjacent table presents an estimate of the net working capital requirements post-transaction. </a:t>
                      </a:r>
                    </a:p>
                    <a:p>
                      <a:pPr marL="0" marR="0" lvl="1" indent="0" algn="l" defTabSz="914400" rtl="0" eaLnBrk="1" fontAlgn="base" latinLnBrk="0" hangingPunct="1">
                        <a:lnSpc>
                          <a:spcPct val="100000"/>
                        </a:lnSpc>
                        <a:spcBef>
                          <a:spcPts val="0"/>
                        </a:spcBef>
                        <a:spcAft>
                          <a:spcPts val="600"/>
                        </a:spcAft>
                        <a:buClrTx/>
                        <a:buSzTx/>
                        <a:buFontTx/>
                        <a:buNone/>
                        <a:tabLst/>
                        <a:defRPr/>
                      </a:pPr>
                      <a:r>
                        <a:rPr lang="en-US" sz="900" b="0" i="0" u="none" kern="1200" baseline="0" dirty="0">
                          <a:solidFill>
                            <a:srgbClr val="00338D"/>
                          </a:solidFill>
                          <a:latin typeface="Univers for KPMG" panose="020B0603020202020204" pitchFamily="34" charset="0"/>
                          <a:ea typeface="+mn-ea"/>
                          <a:cs typeface="+mn-cs"/>
                        </a:rPr>
                        <a:t>Average potentially adjusted working capital for FY19 is approximately ($</a:t>
                      </a:r>
                      <a:r>
                        <a:rPr lang="en-US" sz="900" b="0" i="0" u="none" kern="1200" baseline="0" dirty="0" smtClean="0">
                          <a:solidFill>
                            <a:srgbClr val="00338D"/>
                          </a:solidFill>
                          <a:latin typeface="Univers for KPMG" panose="020B0603020202020204" pitchFamily="34" charset="0"/>
                          <a:ea typeface="+mn-ea"/>
                          <a:cs typeface="+mn-cs"/>
                        </a:rPr>
                        <a:t>51,000</a:t>
                      </a:r>
                      <a:r>
                        <a:rPr lang="en-US" sz="900" b="0" i="0" u="none" kern="1200" baseline="0" dirty="0">
                          <a:solidFill>
                            <a:srgbClr val="00338D"/>
                          </a:solidFill>
                          <a:latin typeface="Univers for KPMG" panose="020B0603020202020204" pitchFamily="34" charset="0"/>
                          <a:ea typeface="+mn-ea"/>
                          <a:cs typeface="+mn-cs"/>
                        </a:rPr>
                        <a:t>).</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rPr>
                        <a:t>The following table summarizes the estimated net working capital for FY17, FY18, and FY19:</a:t>
                      </a: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endParaRPr kumimoji="0" lang="en-US" sz="900" b="0" i="0" u="none" strike="noStrike" kern="1200" cap="none" spc="0" normalizeH="0" baseline="0" noProof="0" dirty="0">
                        <a:ln>
                          <a:noFill/>
                        </a:ln>
                        <a:solidFill>
                          <a:srgbClr val="000000"/>
                        </a:solidFill>
                        <a:effectLst/>
                        <a:uLnTx/>
                        <a:uFillTx/>
                        <a:latin typeface="Univers for KPMG" panose="020B0603020202020204" pitchFamily="34" charset="0"/>
                        <a:ea typeface="+mn-ea"/>
                        <a:cs typeface="Arial" pitchFamily="34" charset="0"/>
                      </a:endParaRPr>
                    </a:p>
                    <a:p>
                      <a:pPr marL="0" marR="0" lvl="2" indent="0" algn="just" defTabSz="914400" rtl="0" eaLnBrk="1" fontAlgn="auto" latinLnBrk="0" hangingPunct="1">
                        <a:lnSpc>
                          <a:spcPct val="100000"/>
                        </a:lnSpc>
                        <a:spcBef>
                          <a:spcPts val="400"/>
                        </a:spcBef>
                        <a:spcAft>
                          <a:spcPts val="0"/>
                        </a:spcAft>
                        <a:buClr>
                          <a:srgbClr val="97989A"/>
                        </a:buClr>
                        <a:buSzTx/>
                        <a:buFont typeface="Arial" pitchFamily="34" charset="0"/>
                        <a:buNone/>
                        <a:tabLst/>
                        <a:defRPr/>
                      </a:pPr>
                      <a:endParaRPr kumimoji="0" lang="en-US" sz="100" b="0" i="0" u="none" strike="noStrike" kern="1200" cap="none" spc="0" normalizeH="0" baseline="0" noProof="0" dirty="0">
                        <a:ln>
                          <a:noFill/>
                        </a:ln>
                        <a:solidFill>
                          <a:schemeClr val="tx1"/>
                        </a:solidFill>
                        <a:effectLst/>
                        <a:uLnTx/>
                        <a:uFillTx/>
                        <a:latin typeface="Univers for KPMG" panose="020B0603020202020204" pitchFamily="34" charset="0"/>
                        <a:ea typeface="+mn-ea"/>
                        <a:cs typeface="Arial" pitchFamily="34" charset="0"/>
                      </a:endParaRP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a:ln>
                            <a:noFill/>
                          </a:ln>
                          <a:solidFill>
                            <a:schemeClr val="tx1"/>
                          </a:solidFill>
                          <a:effectLst/>
                          <a:uLnTx/>
                          <a:uFillTx/>
                          <a:latin typeface="Univers for KPMG" panose="020B0603020202020204" pitchFamily="34" charset="0"/>
                          <a:ea typeface="+mn-ea"/>
                          <a:cs typeface="Arial" pitchFamily="34" charset="0"/>
                        </a:rPr>
                        <a:t>Significant NWC balances for FY19 include the following:</a:t>
                      </a:r>
                    </a:p>
                    <a:p>
                      <a:pPr marL="341313" marR="0" lvl="3" indent="-171450" algn="just"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n-US" sz="900" b="1" i="0" kern="1200" noProof="0" dirty="0">
                          <a:solidFill>
                            <a:schemeClr val="tx1"/>
                          </a:solidFill>
                          <a:latin typeface="Univers for KPMG" panose="020B0603020202020204" pitchFamily="34" charset="0"/>
                          <a:ea typeface="+mn-ea"/>
                          <a:cs typeface="+mn-cs"/>
                        </a:rPr>
                        <a:t>Accounts receivable (average balance</a:t>
                      </a:r>
                      <a:r>
                        <a:rPr lang="en-US" sz="900" b="1" i="0" kern="1200" baseline="0" noProof="0" dirty="0">
                          <a:solidFill>
                            <a:schemeClr val="tx1"/>
                          </a:solidFill>
                          <a:latin typeface="Univers for KPMG" panose="020B0603020202020204" pitchFamily="34" charset="0"/>
                          <a:ea typeface="+mn-ea"/>
                          <a:cs typeface="+mn-cs"/>
                        </a:rPr>
                        <a:t> of $0.2 million)</a:t>
                      </a:r>
                      <a:r>
                        <a:rPr lang="en-US" sz="900" b="1" i="0" kern="1200" noProof="0" dirty="0">
                          <a:solidFill>
                            <a:schemeClr val="tx1"/>
                          </a:solidFill>
                          <a:latin typeface="Univers for KPMG" panose="020B0603020202020204" pitchFamily="34" charset="0"/>
                          <a:ea typeface="+mn-ea"/>
                          <a:cs typeface="+mn-cs"/>
                        </a:rPr>
                        <a:t>:</a:t>
                      </a:r>
                      <a:r>
                        <a:rPr lang="en-US" sz="900" b="0" i="0" kern="1200" noProof="0" dirty="0">
                          <a:solidFill>
                            <a:schemeClr val="tx1"/>
                          </a:solidFill>
                          <a:latin typeface="Univers for KPMG" panose="020B0603020202020204" pitchFamily="34" charset="0"/>
                          <a:ea typeface="+mn-ea"/>
                          <a:cs typeface="+mn-cs"/>
                        </a:rPr>
                        <a:t> The </a:t>
                      </a:r>
                      <a:r>
                        <a:rPr lang="en-US" sz="900" b="0" i="0" kern="1200" baseline="0" noProof="0" dirty="0">
                          <a:solidFill>
                            <a:schemeClr val="tx1"/>
                          </a:solidFill>
                          <a:latin typeface="Univers for KPMG" panose="020B0603020202020204" pitchFamily="34" charset="0"/>
                          <a:ea typeface="+mn-ea"/>
                          <a:cs typeface="+mn-cs"/>
                        </a:rPr>
                        <a:t>Company invoices the State of Georgia on a weekly basis (i.e. Fridays, one week in arrears), with approved balances paid out the following Tuesday</a:t>
                      </a:r>
                      <a:r>
                        <a:rPr lang="en-US" sz="900" b="0" i="0" kern="1200" noProof="0" dirty="0">
                          <a:solidFill>
                            <a:schemeClr val="tx1"/>
                          </a:solidFill>
                          <a:latin typeface="Univers for KPMG" panose="020B0603020202020204" pitchFamily="34" charset="0"/>
                          <a:ea typeface="+mn-ea"/>
                          <a:cs typeface="+mn-cs"/>
                        </a:rPr>
                        <a:t>. Average accounts receivable remains</a:t>
                      </a:r>
                      <a:r>
                        <a:rPr lang="en-US" sz="900" b="0" i="0" kern="1200" baseline="0" noProof="0" dirty="0">
                          <a:solidFill>
                            <a:schemeClr val="tx1"/>
                          </a:solidFill>
                          <a:latin typeface="Univers for KPMG" panose="020B0603020202020204" pitchFamily="34" charset="0"/>
                          <a:ea typeface="+mn-ea"/>
                          <a:cs typeface="+mn-cs"/>
                        </a:rPr>
                        <a:t> relatively stable and increases with revenue. </a:t>
                      </a:r>
                      <a:r>
                        <a:rPr lang="en-US" sz="900" b="0" i="0" kern="1200" baseline="0" noProof="0" dirty="0" smtClean="0">
                          <a:solidFill>
                            <a:schemeClr val="tx1"/>
                          </a:solidFill>
                          <a:latin typeface="Univers for KPMG" panose="020B0603020202020204" pitchFamily="34" charset="0"/>
                          <a:ea typeface="+mn-ea"/>
                          <a:cs typeface="+mn-cs"/>
                        </a:rPr>
                        <a:t>Consistent with the Company’s cash collection cycle, a </a:t>
                      </a:r>
                      <a:r>
                        <a:rPr lang="en-US" sz="900" b="0" i="0" kern="1200" baseline="0" noProof="0" dirty="0">
                          <a:solidFill>
                            <a:schemeClr val="tx1"/>
                          </a:solidFill>
                          <a:latin typeface="Univers for KPMG" panose="020B0603020202020204" pitchFamily="34" charset="0"/>
                          <a:ea typeface="+mn-ea"/>
                          <a:cs typeface="+mn-cs"/>
                        </a:rPr>
                        <a:t>DSO of seven days is utilized to estimate the month-end </a:t>
                      </a:r>
                      <a:r>
                        <a:rPr lang="en-US" sz="900" b="0" i="0" kern="1200" baseline="0" noProof="0" dirty="0" smtClean="0">
                          <a:solidFill>
                            <a:schemeClr val="tx1"/>
                          </a:solidFill>
                          <a:latin typeface="Univers for KPMG" panose="020B0603020202020204" pitchFamily="34" charset="0"/>
                          <a:ea typeface="+mn-ea"/>
                          <a:cs typeface="+mn-cs"/>
                        </a:rPr>
                        <a:t>balance.</a:t>
                      </a:r>
                      <a:endParaRPr lang="en-US" sz="900" b="0" i="0" kern="1200" noProof="0" dirty="0">
                        <a:solidFill>
                          <a:schemeClr val="tx1"/>
                        </a:solidFill>
                        <a:latin typeface="Univers for KPMG" panose="020B0603020202020204" pitchFamily="34" charset="0"/>
                        <a:ea typeface="+mn-ea"/>
                        <a:cs typeface="+mn-cs"/>
                      </a:endParaRPr>
                    </a:p>
                    <a:p>
                      <a:pPr marL="341313" marR="0" lvl="3" indent="-171450" algn="just"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n-US" sz="900" b="1" i="0" kern="1200" noProof="0" dirty="0">
                          <a:solidFill>
                            <a:schemeClr val="tx1"/>
                          </a:solidFill>
                          <a:latin typeface="Univers for KPMG" panose="020B0603020202020204" pitchFamily="34" charset="0"/>
                          <a:ea typeface="+mn-ea"/>
                          <a:cs typeface="+mn-cs"/>
                        </a:rPr>
                        <a:t>Payroll liabilities (average balance</a:t>
                      </a:r>
                      <a:r>
                        <a:rPr lang="en-US" sz="900" b="1" i="0" kern="1200" baseline="0" noProof="0" dirty="0">
                          <a:solidFill>
                            <a:schemeClr val="tx1"/>
                          </a:solidFill>
                          <a:latin typeface="Univers for KPMG" panose="020B0603020202020204" pitchFamily="34" charset="0"/>
                          <a:ea typeface="+mn-ea"/>
                          <a:cs typeface="+mn-cs"/>
                        </a:rPr>
                        <a:t> of </a:t>
                      </a:r>
                      <a:r>
                        <a:rPr lang="en-US" sz="900" b="1" i="0" kern="1200" baseline="0" noProof="0" dirty="0" smtClean="0">
                          <a:solidFill>
                            <a:schemeClr val="tx1"/>
                          </a:solidFill>
                          <a:latin typeface="Univers for KPMG" panose="020B0603020202020204" pitchFamily="34" charset="0"/>
                          <a:ea typeface="+mn-ea"/>
                          <a:cs typeface="+mn-cs"/>
                        </a:rPr>
                        <a:t>-$0.2 </a:t>
                      </a:r>
                      <a:r>
                        <a:rPr lang="en-US" sz="900" b="1" i="0" kern="1200" baseline="0" noProof="0" dirty="0">
                          <a:solidFill>
                            <a:schemeClr val="tx1"/>
                          </a:solidFill>
                          <a:latin typeface="Univers for KPMG" panose="020B0603020202020204" pitchFamily="34" charset="0"/>
                          <a:ea typeface="+mn-ea"/>
                          <a:cs typeface="+mn-cs"/>
                        </a:rPr>
                        <a:t>million)</a:t>
                      </a:r>
                      <a:r>
                        <a:rPr lang="en-US" sz="900" b="1" i="0" kern="1200" noProof="0" dirty="0">
                          <a:solidFill>
                            <a:schemeClr val="tx1"/>
                          </a:solidFill>
                          <a:latin typeface="Univers for KPMG" panose="020B0603020202020204" pitchFamily="34" charset="0"/>
                          <a:ea typeface="+mn-ea"/>
                          <a:cs typeface="+mn-cs"/>
                        </a:rPr>
                        <a:t>:</a:t>
                      </a:r>
                      <a:r>
                        <a:rPr lang="en-US" sz="900" b="0" i="0" kern="1200" noProof="0" dirty="0">
                          <a:solidFill>
                            <a:schemeClr val="tx1"/>
                          </a:solidFill>
                          <a:latin typeface="Univers for KPMG" panose="020B0603020202020204" pitchFamily="34" charset="0"/>
                          <a:ea typeface="+mn-ea"/>
                          <a:cs typeface="+mn-cs"/>
                        </a:rPr>
                        <a:t> The Company</a:t>
                      </a:r>
                      <a:r>
                        <a:rPr lang="en-US" sz="900" b="0" i="0" kern="1200" baseline="0" noProof="0" dirty="0">
                          <a:solidFill>
                            <a:schemeClr val="tx1"/>
                          </a:solidFill>
                          <a:latin typeface="Univers for KPMG" panose="020B0603020202020204" pitchFamily="34" charset="0"/>
                          <a:ea typeface="+mn-ea"/>
                          <a:cs typeface="+mn-cs"/>
                        </a:rPr>
                        <a:t> does not currently accrue for its payroll, which is paid on a bi-weekly basis (one week in arrears). The estimated monthly amount is based on the Company’s payroll cycle and days outstanding at each respective month-end.</a:t>
                      </a:r>
                      <a:endParaRPr lang="en-US" sz="900" b="0" i="0" kern="1200" baseline="0" noProof="0" dirty="0">
                        <a:solidFill>
                          <a:srgbClr val="00338D"/>
                        </a:solidFill>
                        <a:latin typeface="Univers for KPMG" panose="020B0603020202020204" pitchFamily="34" charset="0"/>
                        <a:ea typeface="+mn-ea"/>
                        <a:cs typeface="+mn-cs"/>
                      </a:endParaRPr>
                    </a:p>
                    <a:p>
                      <a:pPr marL="341313" marR="0" lvl="3" indent="-171450" algn="just"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lang="en-US" sz="900" b="1" i="0" kern="1200" noProof="0" dirty="0">
                          <a:solidFill>
                            <a:schemeClr val="tx1"/>
                          </a:solidFill>
                          <a:latin typeface="Univers for KPMG" panose="020B0603020202020204" pitchFamily="34" charset="0"/>
                          <a:ea typeface="+mn-ea"/>
                          <a:cs typeface="+mn-cs"/>
                        </a:rPr>
                        <a:t>Accounts payable (average balance</a:t>
                      </a:r>
                      <a:r>
                        <a:rPr lang="en-US" sz="900" b="1" i="0" kern="1200" baseline="0" noProof="0" dirty="0">
                          <a:solidFill>
                            <a:schemeClr val="tx1"/>
                          </a:solidFill>
                          <a:latin typeface="Univers for KPMG" panose="020B0603020202020204" pitchFamily="34" charset="0"/>
                          <a:ea typeface="+mn-ea"/>
                          <a:cs typeface="+mn-cs"/>
                        </a:rPr>
                        <a:t> of </a:t>
                      </a:r>
                      <a:r>
                        <a:rPr lang="en-US" sz="900" b="1" i="0" kern="1200" baseline="0" noProof="0" dirty="0" smtClean="0">
                          <a:solidFill>
                            <a:schemeClr val="tx1"/>
                          </a:solidFill>
                          <a:latin typeface="Univers for KPMG" panose="020B0603020202020204" pitchFamily="34" charset="0"/>
                          <a:ea typeface="+mn-ea"/>
                          <a:cs typeface="+mn-cs"/>
                        </a:rPr>
                        <a:t>-$21,000)</a:t>
                      </a:r>
                      <a:r>
                        <a:rPr lang="en-US" sz="900" b="1" i="0" kern="1200" noProof="0" dirty="0" smtClean="0">
                          <a:solidFill>
                            <a:schemeClr val="tx1"/>
                          </a:solidFill>
                          <a:latin typeface="Univers for KPMG" panose="020B0603020202020204" pitchFamily="34" charset="0"/>
                          <a:ea typeface="+mn-ea"/>
                          <a:cs typeface="+mn-cs"/>
                        </a:rPr>
                        <a:t>:</a:t>
                      </a:r>
                      <a:r>
                        <a:rPr lang="en-US" sz="900" b="0" i="0" kern="1200" noProof="0" dirty="0" smtClean="0">
                          <a:solidFill>
                            <a:schemeClr val="tx1"/>
                          </a:solidFill>
                          <a:latin typeface="Univers for KPMG" panose="020B0603020202020204" pitchFamily="34" charset="0"/>
                          <a:ea typeface="+mn-ea"/>
                          <a:cs typeface="+mn-cs"/>
                        </a:rPr>
                        <a:t> </a:t>
                      </a:r>
                      <a:r>
                        <a:rPr lang="en-US" sz="900" b="0" i="0" kern="1200" noProof="0" dirty="0">
                          <a:solidFill>
                            <a:schemeClr val="tx1"/>
                          </a:solidFill>
                          <a:latin typeface="Univers for KPMG" panose="020B0603020202020204" pitchFamily="34" charset="0"/>
                          <a:ea typeface="+mn-ea"/>
                          <a:cs typeface="+mn-cs"/>
                        </a:rPr>
                        <a:t>Management represents</a:t>
                      </a:r>
                      <a:r>
                        <a:rPr lang="en-US" sz="900" b="0" i="0" kern="1200" baseline="0" noProof="0" dirty="0">
                          <a:solidFill>
                            <a:schemeClr val="tx1"/>
                          </a:solidFill>
                          <a:latin typeface="Univers for KPMG" panose="020B0603020202020204" pitchFamily="34" charset="0"/>
                          <a:ea typeface="+mn-ea"/>
                          <a:cs typeface="+mn-cs"/>
                        </a:rPr>
                        <a:t> that operating expenses (i.e. groceries, utilities, computer related, etc.) are paid on a weekly basis. A DPO of seven days is utilized to estimate the balance at each respective month-end.</a:t>
                      </a:r>
                    </a:p>
                    <a:p>
                      <a:pPr marL="177800" marR="0" lvl="2" indent="-177800" algn="just" defTabSz="914400" rtl="0" eaLnBrk="1" fontAlgn="auto" latinLnBrk="0" hangingPunct="1">
                        <a:lnSpc>
                          <a:spcPct val="100000"/>
                        </a:lnSpc>
                        <a:spcBef>
                          <a:spcPts val="400"/>
                        </a:spcBef>
                        <a:spcAft>
                          <a:spcPts val="0"/>
                        </a:spcAft>
                        <a:buClr>
                          <a:srgbClr val="97989A"/>
                        </a:buClr>
                        <a:buSzTx/>
                        <a:buFont typeface="Arial" pitchFamily="34" charset="0"/>
                        <a:buChar char="■"/>
                        <a:tabLst/>
                        <a:defRPr/>
                      </a:pPr>
                      <a:r>
                        <a:rPr kumimoji="0" lang="en-US" sz="900" b="0" i="0" u="none" strike="noStrike" kern="1200" cap="none" spc="0" normalizeH="0" baseline="0" noProof="0" dirty="0">
                          <a:ln>
                            <a:noFill/>
                          </a:ln>
                          <a:solidFill>
                            <a:schemeClr val="tx1"/>
                          </a:solidFill>
                          <a:effectLst/>
                          <a:uLnTx/>
                          <a:uFillTx/>
                          <a:latin typeface="Univers for KPMG" panose="020B0603020202020204" pitchFamily="34" charset="0"/>
                          <a:ea typeface="+mn-ea"/>
                          <a:cs typeface="Arial" pitchFamily="34" charset="0"/>
                        </a:rPr>
                        <a:t>Caregiver should consider the average working capital required to fund the operations of the Company post-transaction. </a:t>
                      </a: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tc>
                  <a:txBody>
                    <a:bodyPr/>
                    <a:lstStyle/>
                    <a:p>
                      <a:pPr marL="0" marR="0" indent="0" algn="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u="none" dirty="0">
                          <a:solidFill>
                            <a:schemeClr val="tx1"/>
                          </a:solidFill>
                          <a:latin typeface="Univers for KPMG" panose="020B0603020202020204" pitchFamily="34" charset="0"/>
                        </a:rPr>
                        <a:t>Page </a:t>
                      </a:r>
                      <a:r>
                        <a:rPr lang="en-US" sz="900" b="0" u="none" dirty="0" smtClean="0">
                          <a:solidFill>
                            <a:schemeClr val="tx1"/>
                          </a:solidFill>
                          <a:latin typeface="Univers for KPMG" panose="020B0603020202020204" pitchFamily="34" charset="0"/>
                        </a:rPr>
                        <a:t>25</a:t>
                      </a:r>
                      <a:r>
                        <a:rPr lang="en-US" sz="900" b="0" u="none" baseline="0" dirty="0" smtClean="0">
                          <a:solidFill>
                            <a:schemeClr val="tx1"/>
                          </a:solidFill>
                          <a:latin typeface="Univers for KPMG" panose="020B0603020202020204" pitchFamily="34" charset="0"/>
                        </a:rPr>
                        <a:t> </a:t>
                      </a:r>
                      <a:r>
                        <a:rPr lang="en-US" sz="900" b="0" u="none" dirty="0" smtClean="0">
                          <a:solidFill>
                            <a:schemeClr val="tx1"/>
                          </a:solidFill>
                          <a:latin typeface="Univers for KPMG" panose="020B0603020202020204" pitchFamily="34" charset="0"/>
                        </a:rPr>
                        <a:t>to 26</a:t>
                      </a:r>
                      <a:endParaRPr lang="en-US" sz="900" b="0" u="none" dirty="0">
                        <a:solidFill>
                          <a:schemeClr val="tx1"/>
                        </a:solidFill>
                        <a:latin typeface="Univers for KPMG" panose="020B0603020202020204" pitchFamily="34" charset="0"/>
                      </a:endParaRPr>
                    </a:p>
                  </a:txBody>
                  <a:tcPr marL="45720" marR="45720" horzOverflow="overflow">
                    <a:lnL w="6350" cap="flat" cmpd="sng" algn="ctr">
                      <a:solidFill>
                        <a:srgbClr val="00338D"/>
                      </a:solidFill>
                      <a:prstDash val="solid"/>
                      <a:round/>
                      <a:headEnd type="none" w="med" len="med"/>
                      <a:tailEnd type="none" w="med" len="med"/>
                    </a:lnL>
                    <a:lnR w="6350" cap="flat" cmpd="sng" algn="ctr">
                      <a:solidFill>
                        <a:srgbClr val="00338D"/>
                      </a:solidFill>
                      <a:prstDash val="solid"/>
                      <a:round/>
                      <a:headEnd type="none" w="med" len="med"/>
                      <a:tailEnd type="none" w="med" len="med"/>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a:noFill/>
                    </a:lnTlToBr>
                    <a:lnBlToTr>
                      <a:noFill/>
                    </a:lnBlToTr>
                    <a:solidFill>
                      <a:schemeClr val="bg1"/>
                    </a:solidFill>
                  </a:tcPr>
                </a:tc>
                <a:extLst>
                  <a:ext uri="{0D108BD9-81ED-4DB2-BD59-A6C34878D82A}">
                    <a16:rowId xmlns="" xmlns:a16="http://schemas.microsoft.com/office/drawing/2014/main" val="10001"/>
                  </a:ext>
                </a:extLst>
              </a:tr>
            </a:tbl>
          </a:graphicData>
        </a:graphic>
      </p:graphicFrame>
      <p:sp>
        <p:nvSpPr>
          <p:cNvPr id="7" name="Title 1"/>
          <p:cNvSpPr>
            <a:spLocks noGrp="1"/>
          </p:cNvSpPr>
          <p:nvPr>
            <p:ph type="title"/>
          </p:nvPr>
        </p:nvSpPr>
        <p:spPr>
          <a:xfrm>
            <a:off x="431800" y="480476"/>
            <a:ext cx="8280400" cy="734400"/>
          </a:xfrm>
        </p:spPr>
        <p:txBody>
          <a:bodyPr/>
          <a:lstStyle/>
          <a:p>
            <a:r>
              <a:rPr lang="en-CA" dirty="0"/>
              <a:t>Key findings – </a:t>
            </a:r>
            <a:r>
              <a:rPr lang="en-CA" i="1" dirty="0"/>
              <a:t>Financial due diligence (2 of 2)</a:t>
            </a:r>
            <a:endParaRPr lang="en-CA" noProof="0" dirty="0"/>
          </a:p>
        </p:txBody>
      </p:sp>
      <p:sp>
        <p:nvSpPr>
          <p:cNvPr id="3" name="UpSlide SubSection Marker" hidden="1">
            <a:extLst>
              <a:ext uri="{FF2B5EF4-FFF2-40B4-BE49-F238E27FC236}">
                <a16:creationId xmlns="" xmlns:a16="http://schemas.microsoft.com/office/drawing/2014/main" id="{671451BE-1EA9-481E-9C7B-E12FF4E10576}"/>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dirty="0">
              <a:solidFill>
                <a:schemeClr val="bg1"/>
              </a:solidFill>
            </a:endParaRPr>
          </a:p>
        </p:txBody>
      </p:sp>
      <p:sp>
        <p:nvSpPr>
          <p:cNvPr id="8" name="ZoneTexte 11">
            <a:extLst>
              <a:ext uri="{FF2B5EF4-FFF2-40B4-BE49-F238E27FC236}">
                <a16:creationId xmlns="" xmlns:a16="http://schemas.microsoft.com/office/drawing/2014/main" id="{A3A96B79-9A6D-4A5A-99B1-DE73E3871431}"/>
              </a:ext>
            </a:extLst>
          </p:cNvPr>
          <p:cNvSpPr txBox="1">
            <a:spLocks/>
          </p:cNvSpPr>
          <p:nvPr>
            <p:custDataLst>
              <p:tags r:id="rId5"/>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CA" sz="1200" b="1" dirty="0">
                <a:solidFill>
                  <a:srgbClr val="00338D"/>
                </a:solidFill>
              </a:rPr>
              <a:t>Executive summary</a:t>
            </a:r>
          </a:p>
        </p:txBody>
      </p:sp>
      <p:sp>
        <p:nvSpPr>
          <p:cNvPr id="10" name="Rectangle 4"/>
          <p:cNvSpPr>
            <a:spLocks noChangeArrowheads="1"/>
          </p:cNvSpPr>
          <p:nvPr>
            <p:custDataLst>
              <p:tags r:id="rId6"/>
            </p:custDataLst>
          </p:nvPr>
        </p:nvSpPr>
        <p:spPr bwMode="auto">
          <a:xfrm>
            <a:off x="5808026" y="2383201"/>
            <a:ext cx="2005928" cy="663053"/>
          </a:xfrm>
          <a:prstGeom prst="rect">
            <a:avLst/>
          </a:prstGeom>
          <a:solidFill>
            <a:srgbClr val="00A3A1"/>
          </a:solidFill>
          <a:ln w="9525">
            <a:noFill/>
            <a:miter lim="800000"/>
            <a:headEnd/>
            <a:tailEnd/>
          </a:ln>
          <a:effectLst/>
        </p:spPr>
        <p:txBody>
          <a:bodyPr wrap="square" lIns="54000" tIns="54000" rIns="54000" bIns="54000" anchor="ctr" anchorCtr="1">
            <a:spAutoFit/>
          </a:bodyPr>
          <a:lstStyle/>
          <a:p>
            <a:pPr marL="0" lvl="2" algn="just" defTabSz="762000" eaLnBrk="0" hangingPunct="0">
              <a:lnSpc>
                <a:spcPct val="90000"/>
              </a:lnSpc>
              <a:spcBef>
                <a:spcPts val="600"/>
              </a:spcBef>
            </a:pPr>
            <a:r>
              <a:rPr lang="en-US" sz="800" dirty="0">
                <a:solidFill>
                  <a:schemeClr val="bg1"/>
                </a:solidFill>
                <a:latin typeface="Univers for KPMG" panose="020B0603020202020204" pitchFamily="34" charset="0"/>
              </a:rPr>
              <a:t>Accounts receivable, accounts payable, and payroll accrual balances are estimated based on applying payroll cycle and days metrics on potentially adjusted revenue and expenses.</a:t>
            </a:r>
          </a:p>
        </p:txBody>
      </p:sp>
      <p:sp>
        <p:nvSpPr>
          <p:cNvPr id="12" name="Rectangle 11"/>
          <p:cNvSpPr/>
          <p:nvPr/>
        </p:nvSpPr>
        <p:spPr>
          <a:xfrm>
            <a:off x="1918371" y="3049467"/>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pic>
        <p:nvPicPr>
          <p:cNvPr id="11" name="Picture 10"/>
          <p:cNvPicPr>
            <a:picLocks noChangeAspect="1"/>
          </p:cNvPicPr>
          <p:nvPr>
            <p:custDataLst>
              <p:tags r:id="rId7"/>
            </p:custDataLst>
          </p:nvPr>
        </p:nvPicPr>
        <p:blipFill>
          <a:blip r:embed="rId12"/>
          <a:stretch>
            <a:fillRect/>
          </a:stretch>
        </p:blipFill>
        <p:spPr>
          <a:xfrm>
            <a:off x="1968552" y="1751752"/>
            <a:ext cx="3760523" cy="1294503"/>
          </a:xfrm>
          <a:prstGeom prst="rect">
            <a:avLst/>
          </a:prstGeom>
        </p:spPr>
      </p:pic>
    </p:spTree>
    <p:extLst>
      <p:ext uri="{BB962C8B-B14F-4D97-AF65-F5344CB8AC3E}">
        <p14:creationId xmlns:p14="http://schemas.microsoft.com/office/powerpoint/2010/main" val="10326569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Quality of earnings</a:t>
            </a:r>
          </a:p>
        </p:txBody>
      </p:sp>
      <p:sp>
        <p:nvSpPr>
          <p:cNvPr id="6"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spTree>
    <p:extLst>
      <p:ext uri="{BB962C8B-B14F-4D97-AF65-F5344CB8AC3E}">
        <p14:creationId xmlns:p14="http://schemas.microsoft.com/office/powerpoint/2010/main" val="22247074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ext uri="{D42A27DB-BD31-4B8C-83A1-F6EECF244321}">
                <p14:modId xmlns:p14="http://schemas.microsoft.com/office/powerpoint/2010/main" val="14928748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912" name="think-cell Slide" r:id="rId8" imgW="498" imgH="499" progId="TCLayout.ActiveDocument.1">
                  <p:embed/>
                </p:oleObj>
              </mc:Choice>
              <mc:Fallback>
                <p:oleObj name="think-cell Slide" r:id="rId8" imgW="498" imgH="499" progId="TCLayout.ActiveDocument.1">
                  <p:embed/>
                  <p:pic>
                    <p:nvPicPr>
                      <p:cNvPr id="0" name=""/>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9" name="Text Placeholder 38"/>
          <p:cNvSpPr>
            <a:spLocks noGrp="1"/>
          </p:cNvSpPr>
          <p:nvPr>
            <p:ph type="body" sz="quarter" idx="10"/>
          </p:nvPr>
        </p:nvSpPr>
        <p:spPr>
          <a:xfrm>
            <a:off x="434340" y="1214876"/>
            <a:ext cx="1508760" cy="4792224"/>
          </a:xfrm>
        </p:spPr>
        <p:txBody>
          <a:bodyPr/>
          <a:lstStyle/>
          <a:p>
            <a:r>
              <a:rPr lang="en-US" dirty="0"/>
              <a:t>FY19 reported EBITDA of $1.4 million increases to $</a:t>
            </a:r>
            <a:r>
              <a:rPr lang="en-US" dirty="0" smtClean="0"/>
              <a:t>1.8 </a:t>
            </a:r>
            <a:r>
              <a:rPr lang="en-US" dirty="0"/>
              <a:t>million subsequent to Management adjustments. </a:t>
            </a:r>
          </a:p>
          <a:p>
            <a:r>
              <a:rPr lang="en-US" dirty="0"/>
              <a:t>Potential adjustments identified during due diligence increases Management adjusted EBITDA to $</a:t>
            </a:r>
            <a:r>
              <a:rPr lang="en-US" dirty="0" smtClean="0"/>
              <a:t>2.7 </a:t>
            </a:r>
            <a:r>
              <a:rPr lang="en-US" dirty="0"/>
              <a:t>million.</a:t>
            </a:r>
          </a:p>
          <a:p>
            <a:endParaRPr lang="en-CA" dirty="0"/>
          </a:p>
        </p:txBody>
      </p:sp>
      <p:sp>
        <p:nvSpPr>
          <p:cNvPr id="2" name="Rectangle 1"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nSpc>
                <a:spcPct val="70000"/>
              </a:lnSpc>
              <a:spcBef>
                <a:spcPct val="0"/>
              </a:spcBef>
              <a:spcAft>
                <a:spcPct val="0"/>
              </a:spcAft>
            </a:pPr>
            <a:endParaRPr lang="en-CA" sz="38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40" name="Text Placeholder 39"/>
          <p:cNvSpPr>
            <a:spLocks noGrp="1"/>
          </p:cNvSpPr>
          <p:nvPr>
            <p:ph type="body" sz="quarter" idx="11"/>
          </p:nvPr>
        </p:nvSpPr>
        <p:spPr>
          <a:xfrm>
            <a:off x="5006036" y="1154113"/>
            <a:ext cx="3742326" cy="4792224"/>
          </a:xfrm>
          <a:ln>
            <a:noFill/>
          </a:ln>
        </p:spPr>
        <p:txBody>
          <a:bodyPr/>
          <a:lstStyle/>
          <a:p>
            <a:pPr algn="just"/>
            <a:r>
              <a:rPr lang="en-GB" dirty="0">
                <a:solidFill>
                  <a:srgbClr val="00338D"/>
                </a:solidFill>
                <a:latin typeface="Univers for KPMG" panose="020B0603020202020204" pitchFamily="34" charset="0"/>
                <a:cs typeface="Univers for KPMG" panose="020B0603020202020204" pitchFamily="34" charset="0"/>
              </a:rPr>
              <a:t>Overview</a:t>
            </a:r>
          </a:p>
          <a:p>
            <a:pPr algn="just"/>
            <a:r>
              <a:rPr lang="en-US" b="0" dirty="0">
                <a:solidFill>
                  <a:schemeClr val="tx1"/>
                </a:solidFill>
                <a:latin typeface="Univers for KPMG" panose="020B0603020202020204" pitchFamily="34" charset="0"/>
                <a:cs typeface="Univers for KPMG" panose="020B0603020202020204" pitchFamily="34" charset="0"/>
              </a:rPr>
              <a:t>The quality of earnings analysis is prepared based on the following sources of information: </a:t>
            </a:r>
          </a:p>
          <a:p>
            <a:pPr marL="171450" indent="-171450" algn="just">
              <a:buFont typeface="Wingdings" panose="05000000000000000000" pitchFamily="2" charset="2"/>
              <a:buChar char="§"/>
            </a:pPr>
            <a:r>
              <a:rPr lang="en-US" b="0" dirty="0">
                <a:solidFill>
                  <a:schemeClr val="tx1"/>
                </a:solidFill>
                <a:latin typeface="Univers for KPMG" panose="020B0603020202020204" pitchFamily="34" charset="0"/>
                <a:cs typeface="Univers for KPMG" panose="020B0603020202020204" pitchFamily="34" charset="0"/>
              </a:rPr>
              <a:t>Internal trial balances and other information provided by Management; and</a:t>
            </a:r>
          </a:p>
          <a:p>
            <a:pPr marL="171450" indent="-171450" algn="just">
              <a:buFont typeface="Wingdings" panose="05000000000000000000" pitchFamily="2" charset="2"/>
              <a:buChar char="§"/>
            </a:pPr>
            <a:r>
              <a:rPr lang="en-US" b="0" dirty="0">
                <a:solidFill>
                  <a:schemeClr val="tx1"/>
                </a:solidFill>
                <a:latin typeface="Univers for KPMG" panose="020B0603020202020204" pitchFamily="34" charset="0"/>
                <a:cs typeface="Univers for KPMG" panose="020B0603020202020204" pitchFamily="34" charset="0"/>
              </a:rPr>
              <a:t>Discussions held with Allan Soto (CEO and o</a:t>
            </a:r>
            <a:r>
              <a:rPr lang="en-US" b="0" dirty="0" smtClean="0">
                <a:solidFill>
                  <a:schemeClr val="tx1"/>
                </a:solidFill>
                <a:latin typeface="Univers for KPMG" panose="020B0603020202020204" pitchFamily="34" charset="0"/>
                <a:cs typeface="Univers for KPMG" panose="020B0603020202020204" pitchFamily="34" charset="0"/>
              </a:rPr>
              <a:t>wner</a:t>
            </a:r>
            <a:r>
              <a:rPr lang="en-US" b="0" dirty="0">
                <a:solidFill>
                  <a:schemeClr val="tx1"/>
                </a:solidFill>
                <a:latin typeface="Univers for KPMG" panose="020B0603020202020204" pitchFamily="34" charset="0"/>
                <a:cs typeface="Univers for KPMG" panose="020B0603020202020204" pitchFamily="34" charset="0"/>
              </a:rPr>
              <a:t>), Dan McNichol (CFO), and Ashley Gilbert (Human Resources Director).</a:t>
            </a:r>
          </a:p>
          <a:p>
            <a:pPr algn="just"/>
            <a:r>
              <a:rPr lang="en-US" b="0" dirty="0">
                <a:solidFill>
                  <a:schemeClr val="tx1"/>
                </a:solidFill>
                <a:latin typeface="Univers for KPMG" panose="020B0603020202020204" pitchFamily="34" charset="0"/>
                <a:cs typeface="Univers for KPMG" panose="020B0603020202020204" pitchFamily="34" charset="0"/>
              </a:rPr>
              <a:t>The nature of adjustments included in the quality of earnings analysis </a:t>
            </a:r>
            <a:r>
              <a:rPr lang="en-US" b="0" dirty="0" smtClean="0">
                <a:solidFill>
                  <a:schemeClr val="tx1"/>
                </a:solidFill>
                <a:latin typeface="Univers for KPMG" panose="020B0603020202020204" pitchFamily="34" charset="0"/>
                <a:cs typeface="Univers for KPMG" panose="020B0603020202020204" pitchFamily="34" charset="0"/>
              </a:rPr>
              <a:t>are </a:t>
            </a:r>
            <a:r>
              <a:rPr lang="en-US" b="0" dirty="0">
                <a:solidFill>
                  <a:schemeClr val="tx1"/>
                </a:solidFill>
                <a:latin typeface="Univers for KPMG" panose="020B0603020202020204" pitchFamily="34" charset="0"/>
                <a:cs typeface="Univers for KPMG" panose="020B0603020202020204" pitchFamily="34" charset="0"/>
              </a:rPr>
              <a:t>as follows:</a:t>
            </a:r>
          </a:p>
          <a:p>
            <a:pPr marL="171450" indent="-171450" algn="just">
              <a:buFont typeface="Wingdings" panose="05000000000000000000" pitchFamily="2" charset="2"/>
              <a:buChar char="§"/>
            </a:pPr>
            <a:r>
              <a:rPr lang="en-US" dirty="0">
                <a:solidFill>
                  <a:schemeClr val="tx1"/>
                </a:solidFill>
                <a:latin typeface="Univers for KPMG" panose="020B0603020202020204" pitchFamily="34" charset="0"/>
                <a:cs typeface="Univers for KPMG" panose="020B0603020202020204" pitchFamily="34" charset="0"/>
              </a:rPr>
              <a:t>Management adjustments: </a:t>
            </a:r>
            <a:r>
              <a:rPr lang="en-US" b="0" dirty="0">
                <a:solidFill>
                  <a:schemeClr val="tx1"/>
                </a:solidFill>
                <a:latin typeface="Univers for KPMG" panose="020B0603020202020204" pitchFamily="34" charset="0"/>
                <a:cs typeface="Univers for KPMG" panose="020B0603020202020204" pitchFamily="34" charset="0"/>
              </a:rPr>
              <a:t>Represents adjustments to reflect </a:t>
            </a:r>
            <a:r>
              <a:rPr lang="en-US" b="0" dirty="0" smtClean="0">
                <a:solidFill>
                  <a:schemeClr val="tx1"/>
                </a:solidFill>
                <a:latin typeface="Univers for KPMG" panose="020B0603020202020204" pitchFamily="34" charset="0"/>
                <a:cs typeface="Univers for KPMG" panose="020B0603020202020204" pitchFamily="34" charset="0"/>
              </a:rPr>
              <a:t>non-operating and run-rate items identified </a:t>
            </a:r>
            <a:r>
              <a:rPr lang="en-US" b="0" dirty="0">
                <a:solidFill>
                  <a:schemeClr val="tx1"/>
                </a:solidFill>
                <a:latin typeface="Univers for KPMG" panose="020B0603020202020204" pitchFamily="34" charset="0"/>
                <a:cs typeface="Univers for KPMG" panose="020B0603020202020204" pitchFamily="34" charset="0"/>
              </a:rPr>
              <a:t>by Management; and</a:t>
            </a:r>
          </a:p>
          <a:p>
            <a:pPr marL="171450" indent="-171450" algn="just">
              <a:buFont typeface="Wingdings" panose="05000000000000000000" pitchFamily="2" charset="2"/>
              <a:buChar char="§"/>
            </a:pPr>
            <a:r>
              <a:rPr lang="en-US" dirty="0">
                <a:solidFill>
                  <a:schemeClr val="tx1"/>
                </a:solidFill>
                <a:latin typeface="Univers for KPMG" panose="020B0603020202020204" pitchFamily="34" charset="0"/>
                <a:cs typeface="Univers for KPMG" panose="020B0603020202020204" pitchFamily="34" charset="0"/>
              </a:rPr>
              <a:t>Potential adjustments: </a:t>
            </a:r>
            <a:r>
              <a:rPr lang="en-US" b="0" dirty="0" smtClean="0">
                <a:solidFill>
                  <a:schemeClr val="tx1"/>
                </a:solidFill>
                <a:latin typeface="Univers for KPMG" panose="020B0603020202020204" pitchFamily="34" charset="0"/>
                <a:cs typeface="Univers for KPMG" panose="020B0603020202020204" pitchFamily="34" charset="0"/>
              </a:rPr>
              <a:t>Represents adjustments identified </a:t>
            </a:r>
            <a:r>
              <a:rPr lang="en-US" b="0" dirty="0">
                <a:solidFill>
                  <a:schemeClr val="tx1"/>
                </a:solidFill>
                <a:latin typeface="Univers for KPMG" panose="020B0603020202020204" pitchFamily="34" charset="0"/>
                <a:cs typeface="Univers for KPMG" panose="020B0603020202020204" pitchFamily="34" charset="0"/>
              </a:rPr>
              <a:t>during the course of diligence and adjustments proposed to Management’s adjustments. These adjustments are </a:t>
            </a:r>
            <a:r>
              <a:rPr lang="en-US" b="0" dirty="0" smtClean="0">
                <a:solidFill>
                  <a:schemeClr val="tx1"/>
                </a:solidFill>
                <a:latin typeface="Univers for KPMG" panose="020B0603020202020204" pitchFamily="34" charset="0"/>
                <a:cs typeface="Univers for KPMG" panose="020B0603020202020204" pitchFamily="34" charset="0"/>
              </a:rPr>
              <a:t>bifurcated into four categories:</a:t>
            </a:r>
            <a:endParaRPr lang="en-US" b="0" dirty="0">
              <a:solidFill>
                <a:schemeClr val="tx1"/>
              </a:solidFill>
              <a:latin typeface="Univers for KPMG" panose="020B0603020202020204" pitchFamily="34" charset="0"/>
              <a:cs typeface="Univers for KPMG" panose="020B0603020202020204" pitchFamily="34" charset="0"/>
            </a:endParaRPr>
          </a:p>
          <a:p>
            <a:pPr marL="350838" lvl="2" indent="-171450" algn="just">
              <a:buClrTx/>
              <a:buFont typeface="Wingdings" panose="05000000000000000000" pitchFamily="2" charset="2"/>
              <a:buChar char="§"/>
            </a:pPr>
            <a:r>
              <a:rPr lang="en-US" b="0" dirty="0" smtClean="0">
                <a:solidFill>
                  <a:schemeClr val="tx1"/>
                </a:solidFill>
                <a:latin typeface="Univers for KPMG" panose="020B0603020202020204" pitchFamily="34" charset="0"/>
                <a:cs typeface="Univers for KPMG" panose="020B0603020202020204" pitchFamily="34" charset="0"/>
              </a:rPr>
              <a:t>Standalone savings – relating to contemplated post-transaction payroll and operating expenses.</a:t>
            </a:r>
            <a:endParaRPr lang="en-US" b="0" dirty="0">
              <a:solidFill>
                <a:schemeClr val="tx1"/>
              </a:solidFill>
              <a:latin typeface="Univers for KPMG" panose="020B0603020202020204" pitchFamily="34" charset="0"/>
              <a:cs typeface="Univers for KPMG" panose="020B0603020202020204" pitchFamily="34" charset="0"/>
            </a:endParaRPr>
          </a:p>
          <a:p>
            <a:pPr marL="350838" lvl="2" indent="-171450" algn="just">
              <a:buClrTx/>
              <a:buFont typeface="Wingdings" panose="05000000000000000000" pitchFamily="2" charset="2"/>
              <a:buChar char="§"/>
            </a:pPr>
            <a:r>
              <a:rPr lang="en-US" dirty="0" smtClean="0">
                <a:solidFill>
                  <a:schemeClr val="tx1"/>
                </a:solidFill>
                <a:latin typeface="Univers for KPMG" panose="020B0603020202020204" pitchFamily="34" charset="0"/>
                <a:cs typeface="Univers for KPMG" panose="020B0603020202020204" pitchFamily="34" charset="0"/>
              </a:rPr>
              <a:t>Non-recurring – relating </a:t>
            </a:r>
            <a:r>
              <a:rPr lang="en-US" dirty="0">
                <a:solidFill>
                  <a:schemeClr val="tx1"/>
                </a:solidFill>
                <a:latin typeface="Univers for KPMG" panose="020B0603020202020204" pitchFamily="34" charset="0"/>
                <a:cs typeface="Univers for KPMG" panose="020B0603020202020204" pitchFamily="34" charset="0"/>
              </a:rPr>
              <a:t>to </a:t>
            </a:r>
            <a:r>
              <a:rPr lang="en-US" dirty="0" smtClean="0">
                <a:solidFill>
                  <a:schemeClr val="tx1"/>
                </a:solidFill>
                <a:latin typeface="Univers for KPMG" panose="020B0603020202020204" pitchFamily="34" charset="0"/>
                <a:cs typeface="Univers for KPMG" panose="020B0603020202020204" pitchFamily="34" charset="0"/>
              </a:rPr>
              <a:t>non-recurring or one-time expenses and revenue.</a:t>
            </a:r>
            <a:endParaRPr lang="en-US" dirty="0">
              <a:solidFill>
                <a:schemeClr val="tx1"/>
              </a:solidFill>
              <a:latin typeface="Univers for KPMG" panose="020B0603020202020204" pitchFamily="34" charset="0"/>
              <a:cs typeface="Univers for KPMG" panose="020B0603020202020204" pitchFamily="34" charset="0"/>
            </a:endParaRPr>
          </a:p>
          <a:p>
            <a:pPr marL="350838" lvl="2" indent="-171450" algn="just">
              <a:buClrTx/>
              <a:buFont typeface="Wingdings" panose="05000000000000000000" pitchFamily="2" charset="2"/>
              <a:buChar char="§"/>
            </a:pPr>
            <a:r>
              <a:rPr lang="en-US" b="0" dirty="0" smtClean="0">
                <a:solidFill>
                  <a:schemeClr val="tx1"/>
                </a:solidFill>
                <a:latin typeface="Univers for KPMG" panose="020B0603020202020204" pitchFamily="34" charset="0"/>
                <a:cs typeface="Univers for KPMG" panose="020B0603020202020204" pitchFamily="34" charset="0"/>
              </a:rPr>
              <a:t>Accounting</a:t>
            </a:r>
            <a:r>
              <a:rPr lang="en-US" dirty="0">
                <a:solidFill>
                  <a:schemeClr val="tx1"/>
                </a:solidFill>
                <a:latin typeface="Univers for KPMG" panose="020B0603020202020204" pitchFamily="34" charset="0"/>
                <a:cs typeface="Univers for KPMG" panose="020B0603020202020204" pitchFamily="34" charset="0"/>
              </a:rPr>
              <a:t> </a:t>
            </a:r>
            <a:r>
              <a:rPr lang="en-US" dirty="0" smtClean="0">
                <a:solidFill>
                  <a:schemeClr val="tx1"/>
                </a:solidFill>
                <a:latin typeface="Univers for KPMG" panose="020B0603020202020204" pitchFamily="34" charset="0"/>
                <a:cs typeface="Univers for KPMG" panose="020B0603020202020204" pitchFamily="34" charset="0"/>
              </a:rPr>
              <a:t>– relating to out-of-period transactions, or reclassification of expenses recorded outside of the transaction perimeter. </a:t>
            </a:r>
            <a:endParaRPr lang="en-US" b="0" dirty="0">
              <a:solidFill>
                <a:schemeClr val="tx1"/>
              </a:solidFill>
              <a:latin typeface="Univers for KPMG" panose="020B0603020202020204" pitchFamily="34" charset="0"/>
              <a:cs typeface="Univers for KPMG" panose="020B0603020202020204" pitchFamily="34" charset="0"/>
            </a:endParaRPr>
          </a:p>
          <a:p>
            <a:pPr marL="350838" lvl="2" indent="-171450" algn="just">
              <a:buClrTx/>
              <a:buFont typeface="Wingdings" panose="05000000000000000000" pitchFamily="2" charset="2"/>
              <a:buChar char="§"/>
            </a:pPr>
            <a:r>
              <a:rPr lang="en-US" dirty="0" smtClean="0">
                <a:solidFill>
                  <a:schemeClr val="tx1"/>
                </a:solidFill>
                <a:latin typeface="Univers for KPMG" panose="020B0603020202020204" pitchFamily="34" charset="0"/>
                <a:cs typeface="Univers for KPMG" panose="020B0603020202020204" pitchFamily="34" charset="0"/>
              </a:rPr>
              <a:t>Run-rate </a:t>
            </a:r>
            <a:r>
              <a:rPr lang="en-US" dirty="0">
                <a:solidFill>
                  <a:schemeClr val="tx1"/>
                </a:solidFill>
                <a:latin typeface="Univers for KPMG" panose="020B0603020202020204" pitchFamily="34" charset="0"/>
                <a:cs typeface="Univers for KPMG" panose="020B0603020202020204" pitchFamily="34" charset="0"/>
              </a:rPr>
              <a:t>growth </a:t>
            </a:r>
            <a:r>
              <a:rPr lang="en-US" dirty="0" smtClean="0">
                <a:solidFill>
                  <a:schemeClr val="tx1"/>
                </a:solidFill>
                <a:latin typeface="Univers for KPMG" panose="020B0603020202020204" pitchFamily="34" charset="0"/>
                <a:cs typeface="Univers for KPMG" panose="020B0603020202020204" pitchFamily="34" charset="0"/>
              </a:rPr>
              <a:t>– represents the annualized run-rate attributable to new locations during the period to which it is opened.</a:t>
            </a:r>
            <a:r>
              <a:rPr lang="en-US" dirty="0" smtClean="0">
                <a:solidFill>
                  <a:srgbClr val="FF0000"/>
                </a:solidFill>
                <a:latin typeface="Univers for KPMG" panose="020B0603020202020204" pitchFamily="34" charset="0"/>
                <a:cs typeface="Univers for KPMG" panose="020B0603020202020204" pitchFamily="34" charset="0"/>
              </a:rPr>
              <a:t> </a:t>
            </a:r>
            <a:endParaRPr lang="en-US" b="0" dirty="0">
              <a:solidFill>
                <a:srgbClr val="FF0000"/>
              </a:solidFill>
              <a:latin typeface="Univers for KPMG" panose="020B0603020202020204" pitchFamily="34" charset="0"/>
              <a:cs typeface="Univers for KPMG" panose="020B0603020202020204" pitchFamily="34" charset="0"/>
            </a:endParaRPr>
          </a:p>
          <a:p>
            <a:pPr algn="just"/>
            <a:r>
              <a:rPr lang="en-US" b="0" dirty="0" smtClean="0">
                <a:solidFill>
                  <a:schemeClr val="tx1"/>
                </a:solidFill>
                <a:latin typeface="Univers for KPMG" panose="020B0603020202020204" pitchFamily="34" charset="0"/>
                <a:cs typeface="Univers for KPMG" panose="020B0603020202020204" pitchFamily="34" charset="0"/>
              </a:rPr>
              <a:t>Management and potential adjustments </a:t>
            </a:r>
            <a:r>
              <a:rPr lang="en-US" b="0" dirty="0">
                <a:solidFill>
                  <a:schemeClr val="tx1"/>
                </a:solidFill>
                <a:latin typeface="Univers for KPMG" panose="020B0603020202020204" pitchFamily="34" charset="0"/>
                <a:cs typeface="Univers for KPMG" panose="020B0603020202020204" pitchFamily="34" charset="0"/>
              </a:rPr>
              <a:t>are discussed further on the following pages. Certain other items which were not included as an adjustment, but are included in the ‘Other considerations’ section are highlighted for your consideration.</a:t>
            </a:r>
          </a:p>
          <a:p>
            <a:pPr algn="just"/>
            <a:endParaRPr lang="en-GB" b="0" dirty="0">
              <a:solidFill>
                <a:srgbClr val="00338D"/>
              </a:solidFill>
              <a:latin typeface="Univers for KPMG" panose="020B0603020202020204" pitchFamily="34" charset="0"/>
              <a:cs typeface="Univers for KPMG" panose="020B0603020202020204" pitchFamily="34" charset="0"/>
            </a:endParaRPr>
          </a:p>
          <a:p>
            <a:pPr algn="just"/>
            <a:endParaRPr lang="en-CA" b="0" dirty="0"/>
          </a:p>
        </p:txBody>
      </p:sp>
      <p:sp>
        <p:nvSpPr>
          <p:cNvPr id="38" name="Title 37"/>
          <p:cNvSpPr>
            <a:spLocks noGrp="1"/>
          </p:cNvSpPr>
          <p:nvPr>
            <p:ph type="title"/>
          </p:nvPr>
        </p:nvSpPr>
        <p:spPr/>
        <p:txBody>
          <a:bodyPr/>
          <a:lstStyle/>
          <a:p>
            <a:r>
              <a:rPr lang="en-CA" noProof="0" dirty="0"/>
              <a:t>Quality of earnings (1) – </a:t>
            </a:r>
            <a:r>
              <a:rPr lang="en-CA" i="1" noProof="0" dirty="0"/>
              <a:t>Overview</a:t>
            </a:r>
          </a:p>
        </p:txBody>
      </p:sp>
      <p:sp>
        <p:nvSpPr>
          <p:cNvPr id="10" name="ZoneTexte 11">
            <a:extLst>
              <a:ext uri="{FF2B5EF4-FFF2-40B4-BE49-F238E27FC236}">
                <a16:creationId xmlns="" xmlns:a16="http://schemas.microsoft.com/office/drawing/2014/main" id="{A3A96B79-9A6D-4A5A-99B1-DE73E3871431}"/>
              </a:ext>
            </a:extLst>
          </p:cNvPr>
          <p:cNvSpPr txBox="1">
            <a:spLocks/>
          </p:cNvSpPr>
          <p:nvPr>
            <p:custDataLst>
              <p:tags r:id="rId4"/>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smtClean="0">
                <a:solidFill>
                  <a:schemeClr val="tx2"/>
                </a:solidFill>
              </a:rPr>
              <a:t>Supporting analysis</a:t>
            </a:r>
            <a:endParaRPr lang="en-GB" sz="1200" b="1" dirty="0">
              <a:solidFill>
                <a:schemeClr val="tx2"/>
              </a:solidFill>
            </a:endParaRPr>
          </a:p>
        </p:txBody>
      </p:sp>
      <p:sp>
        <p:nvSpPr>
          <p:cNvPr id="12" name="Espace réservé du texte 3"/>
          <p:cNvSpPr>
            <a:spLocks noGrp="1"/>
          </p:cNvSpPr>
          <p:nvPr>
            <p:ph type="body" sz="quarter" idx="4294967295"/>
          </p:nvPr>
        </p:nvSpPr>
        <p:spPr>
          <a:xfrm>
            <a:off x="2014815" y="3880450"/>
            <a:ext cx="2906991" cy="1138773"/>
          </a:xfrm>
          <a:prstGeom prst="rect">
            <a:avLst/>
          </a:prstGeom>
          <a:ln>
            <a:solidFill>
              <a:srgbClr val="00338D"/>
            </a:solidFill>
          </a:ln>
        </p:spPr>
        <p:txBody>
          <a:bodyPr wrap="square" lIns="45720" tIns="45720" rIns="45720" bIns="45720">
            <a:spAutoFit/>
          </a:bodyPr>
          <a:lstStyle/>
          <a:p>
            <a:pPr algn="just">
              <a:spcAft>
                <a:spcPts val="300"/>
              </a:spcAft>
              <a:buClr>
                <a:srgbClr val="00338D"/>
              </a:buClr>
            </a:pPr>
            <a:r>
              <a:rPr lang="en-CA" sz="700" dirty="0">
                <a:solidFill>
                  <a:srgbClr val="00338D"/>
                </a:solidFill>
                <a:latin typeface="Univers for KPMG" panose="020B0603020202020204" pitchFamily="34" charset="0"/>
              </a:rPr>
              <a:t>Basis of presentation</a:t>
            </a:r>
          </a:p>
          <a:p>
            <a:pPr algn="just">
              <a:spcAft>
                <a:spcPts val="300"/>
              </a:spcAft>
              <a:buClr>
                <a:srgbClr val="00338D"/>
              </a:buClr>
            </a:pPr>
            <a:r>
              <a:rPr lang="en-US" sz="700" b="0" dirty="0">
                <a:solidFill>
                  <a:srgbClr val="00338D"/>
                </a:solidFill>
                <a:latin typeface="Univers for KPMG" panose="020B0603020202020204" pitchFamily="34" charset="0"/>
              </a:rPr>
              <a:t>The above quality of earnings schedule illustrates potential adjustments and other factors to be considered which are identified for fiscal years ending December 31, 2017, December 31, 2018 and December 31, 2019.</a:t>
            </a:r>
          </a:p>
          <a:p>
            <a:pPr marL="0" lvl="2" indent="0" algn="just">
              <a:spcAft>
                <a:spcPts val="300"/>
              </a:spcAft>
              <a:buClr>
                <a:srgbClr val="00338D"/>
              </a:buClr>
              <a:buNone/>
            </a:pPr>
            <a:r>
              <a:rPr lang="en-US" sz="700" dirty="0">
                <a:solidFill>
                  <a:srgbClr val="00338D"/>
                </a:solidFill>
                <a:latin typeface="Univers for KPMG" panose="020B0603020202020204" pitchFamily="34" charset="0"/>
              </a:rPr>
              <a:t>The proposed adjustments are not necessarily all-inclusive and are based on information provided by Management to date. Further analysis and access to additional information could uncover additional or different proposed adjustments.</a:t>
            </a:r>
          </a:p>
        </p:txBody>
      </p:sp>
      <p:sp>
        <p:nvSpPr>
          <p:cNvPr id="11" name="Rectangle 10"/>
          <p:cNvSpPr/>
          <p:nvPr/>
        </p:nvSpPr>
        <p:spPr>
          <a:xfrm>
            <a:off x="1978653" y="3459215"/>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pic>
        <p:nvPicPr>
          <p:cNvPr id="5" name="Picture 4"/>
          <p:cNvPicPr>
            <a:picLocks noChangeAspect="1"/>
          </p:cNvPicPr>
          <p:nvPr>
            <p:custDataLst>
              <p:tags r:id="rId5"/>
            </p:custDataLst>
          </p:nvPr>
        </p:nvPicPr>
        <p:blipFill>
          <a:blip r:embed="rId10"/>
          <a:stretch>
            <a:fillRect/>
          </a:stretch>
        </p:blipFill>
        <p:spPr>
          <a:xfrm>
            <a:off x="2014815" y="1214876"/>
            <a:ext cx="2919506" cy="2238546"/>
          </a:xfrm>
          <a:prstGeom prst="rect">
            <a:avLst/>
          </a:prstGeom>
        </p:spPr>
      </p:pic>
    </p:spTree>
    <p:extLst>
      <p:ext uri="{BB962C8B-B14F-4D97-AF65-F5344CB8AC3E}">
        <p14:creationId xmlns:p14="http://schemas.microsoft.com/office/powerpoint/2010/main" val="24644598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392771" y="3466835"/>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27" name="Text Placeholder 2"/>
          <p:cNvSpPr>
            <a:spLocks noGrp="1"/>
          </p:cNvSpPr>
          <p:nvPr>
            <p:ph type="body" sz="quarter" idx="11"/>
          </p:nvPr>
        </p:nvSpPr>
        <p:spPr>
          <a:xfrm>
            <a:off x="3871784" y="1214876"/>
            <a:ext cx="4840416" cy="4582800"/>
          </a:xfrm>
        </p:spPr>
        <p:txBody>
          <a:bodyPr/>
          <a:lstStyle/>
          <a:p>
            <a:pPr algn="just"/>
            <a:r>
              <a:rPr lang="en-US" dirty="0"/>
              <a:t>Management adjustments:</a:t>
            </a:r>
          </a:p>
          <a:p>
            <a:pPr algn="just"/>
            <a:r>
              <a:rPr lang="en-US" b="0" dirty="0">
                <a:solidFill>
                  <a:schemeClr val="tx1"/>
                </a:solidFill>
              </a:rPr>
              <a:t>The following represents Management adjustments to EBITDA: </a:t>
            </a:r>
          </a:p>
          <a:p>
            <a:pPr marL="228600" indent="-228600" algn="just">
              <a:buFont typeface="+mj-lt"/>
              <a:buAutoNum type="arabicPeriod"/>
            </a:pPr>
            <a:r>
              <a:rPr lang="en-US" dirty="0">
                <a:solidFill>
                  <a:schemeClr val="tx1"/>
                </a:solidFill>
              </a:rPr>
              <a:t>New homes – 14 and 15: </a:t>
            </a:r>
            <a:r>
              <a:rPr lang="en-US" b="0" dirty="0">
                <a:solidFill>
                  <a:schemeClr val="tx1"/>
                </a:solidFill>
              </a:rPr>
              <a:t>Management represents that Homes 14 and 15 (opened in Sep-19) are expected to generate approximately $0.2 million in run-rate EBITDA. This adjustment is reversed and corrected as part of quality of earnings adjustment #</a:t>
            </a:r>
            <a:r>
              <a:rPr lang="en-US" b="0" dirty="0" smtClean="0">
                <a:solidFill>
                  <a:schemeClr val="tx1"/>
                </a:solidFill>
              </a:rPr>
              <a:t>15 (resulting in a net increase to EBITDA of $0.5 million), </a:t>
            </a:r>
            <a:r>
              <a:rPr lang="en-US" b="0" dirty="0">
                <a:solidFill>
                  <a:schemeClr val="tx1"/>
                </a:solidFill>
              </a:rPr>
              <a:t>as it was quantified using preliminary estimates and no supporting details.</a:t>
            </a:r>
          </a:p>
          <a:p>
            <a:pPr marL="228600" indent="-228600" algn="just">
              <a:buFont typeface="+mj-lt"/>
              <a:buAutoNum type="arabicPeriod"/>
            </a:pPr>
            <a:r>
              <a:rPr lang="en-US" dirty="0">
                <a:solidFill>
                  <a:schemeClr val="tx1"/>
                </a:solidFill>
              </a:rPr>
              <a:t>New summer clients: </a:t>
            </a:r>
            <a:r>
              <a:rPr lang="en-US" b="0" dirty="0">
                <a:solidFill>
                  <a:schemeClr val="tx1"/>
                </a:solidFill>
              </a:rPr>
              <a:t>One of the Company’s competitors closed its operations during May-19, resulting in 35 of its clients moving into the Augusta Center. Management proposes a potential adjustment of $0.2 million to reflect the run-rate EBITDA as if the clients joined the Augusta Center in Sep-18. This adjustment is reversed as part of quality of earnings adjustment #</a:t>
            </a:r>
            <a:r>
              <a:rPr lang="en-US" b="0" dirty="0" smtClean="0">
                <a:solidFill>
                  <a:schemeClr val="tx1"/>
                </a:solidFill>
              </a:rPr>
              <a:t>16 (resulting in a net decrease </a:t>
            </a:r>
            <a:r>
              <a:rPr lang="en-US" b="0" dirty="0">
                <a:solidFill>
                  <a:schemeClr val="tx1"/>
                </a:solidFill>
              </a:rPr>
              <a:t>to EBITDA of $</a:t>
            </a:r>
            <a:r>
              <a:rPr lang="en-US" b="0" dirty="0" smtClean="0">
                <a:solidFill>
                  <a:schemeClr val="tx1"/>
                </a:solidFill>
              </a:rPr>
              <a:t>0.2 </a:t>
            </a:r>
            <a:r>
              <a:rPr lang="en-US" b="0" dirty="0">
                <a:solidFill>
                  <a:schemeClr val="tx1"/>
                </a:solidFill>
              </a:rPr>
              <a:t>million)</a:t>
            </a:r>
            <a:r>
              <a:rPr lang="en-US" b="0" dirty="0" smtClean="0">
                <a:solidFill>
                  <a:schemeClr val="tx1"/>
                </a:solidFill>
              </a:rPr>
              <a:t>, </a:t>
            </a:r>
            <a:r>
              <a:rPr lang="en-US" b="0" dirty="0">
                <a:solidFill>
                  <a:schemeClr val="tx1"/>
                </a:solidFill>
              </a:rPr>
              <a:t>as the Augusta Center’s reported results from May-19 to Oct-19 includes the actual impact for any new clients.</a:t>
            </a:r>
          </a:p>
          <a:p>
            <a:pPr marL="228600" indent="-228600" algn="just">
              <a:buFont typeface="+mj-lt"/>
              <a:buAutoNum type="arabicPeriod"/>
            </a:pPr>
            <a:r>
              <a:rPr lang="en-US" dirty="0">
                <a:solidFill>
                  <a:schemeClr val="tx1"/>
                </a:solidFill>
              </a:rPr>
              <a:t>Cell phone:</a:t>
            </a:r>
            <a:r>
              <a:rPr lang="en-US" b="0" dirty="0">
                <a:solidFill>
                  <a:schemeClr val="tx1"/>
                </a:solidFill>
              </a:rPr>
              <a:t> Represents cell phone expenses that are personal in nature and will not be necessary post-transaction</a:t>
            </a:r>
            <a:r>
              <a:rPr lang="en-US" b="0" dirty="0" smtClean="0">
                <a:solidFill>
                  <a:schemeClr val="tx1"/>
                </a:solidFill>
              </a:rPr>
              <a:t>.</a:t>
            </a:r>
            <a:endParaRPr lang="en-US" b="0" dirty="0">
              <a:solidFill>
                <a:schemeClr val="tx1"/>
              </a:solidFill>
            </a:endParaRPr>
          </a:p>
        </p:txBody>
      </p:sp>
      <p:sp>
        <p:nvSpPr>
          <p:cNvPr id="16" name="Title 3"/>
          <p:cNvSpPr>
            <a:spLocks noGrp="1"/>
          </p:cNvSpPr>
          <p:nvPr>
            <p:ph type="title"/>
          </p:nvPr>
        </p:nvSpPr>
        <p:spPr>
          <a:xfrm>
            <a:off x="431800" y="480476"/>
            <a:ext cx="8280400" cy="734400"/>
          </a:xfrm>
        </p:spPr>
        <p:txBody>
          <a:bodyPr/>
          <a:lstStyle/>
          <a:p>
            <a:r>
              <a:rPr lang="en-US" dirty="0"/>
              <a:t>Quality of earnings </a:t>
            </a:r>
            <a:r>
              <a:rPr lang="en-US" dirty="0" smtClean="0"/>
              <a:t>(2) </a:t>
            </a:r>
            <a:r>
              <a:rPr lang="en-US" dirty="0"/>
              <a:t>– </a:t>
            </a:r>
            <a:r>
              <a:rPr lang="en-US" i="1" dirty="0"/>
              <a:t>Management adjustments</a:t>
            </a:r>
          </a:p>
        </p:txBody>
      </p:sp>
      <p:sp>
        <p:nvSpPr>
          <p:cNvPr id="18"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pic>
        <p:nvPicPr>
          <p:cNvPr id="3" name="Picture 2"/>
          <p:cNvPicPr>
            <a:picLocks noChangeAspect="1"/>
          </p:cNvPicPr>
          <p:nvPr>
            <p:custDataLst>
              <p:tags r:id="rId2"/>
            </p:custDataLst>
          </p:nvPr>
        </p:nvPicPr>
        <p:blipFill>
          <a:blip r:embed="rId4"/>
          <a:stretch>
            <a:fillRect/>
          </a:stretch>
        </p:blipFill>
        <p:spPr>
          <a:xfrm>
            <a:off x="431800" y="1214876"/>
            <a:ext cx="2937000" cy="2251959"/>
          </a:xfrm>
          <a:prstGeom prst="rect">
            <a:avLst/>
          </a:prstGeom>
        </p:spPr>
      </p:pic>
    </p:spTree>
    <p:extLst>
      <p:ext uri="{BB962C8B-B14F-4D97-AF65-F5344CB8AC3E}">
        <p14:creationId xmlns:p14="http://schemas.microsoft.com/office/powerpoint/2010/main" val="11381217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3871784" y="1214876"/>
            <a:ext cx="4775066" cy="4582800"/>
          </a:xfrm>
        </p:spPr>
        <p:txBody>
          <a:bodyPr/>
          <a:lstStyle/>
          <a:p>
            <a:pPr algn="just"/>
            <a:r>
              <a:rPr lang="en-US" dirty="0"/>
              <a:t>Potential </a:t>
            </a:r>
            <a:r>
              <a:rPr lang="en-US" dirty="0" smtClean="0"/>
              <a:t>adjustments – Standalone savings: </a:t>
            </a:r>
            <a:endParaRPr lang="en-US" dirty="0"/>
          </a:p>
          <a:p>
            <a:pPr algn="just"/>
            <a:r>
              <a:rPr lang="en-US" b="0" dirty="0">
                <a:solidFill>
                  <a:schemeClr val="tx1"/>
                </a:solidFill>
                <a:latin typeface="Univers for KPMG" panose="020B0603020202020204" pitchFamily="34" charset="0"/>
              </a:rPr>
              <a:t>The following represents potential adjustments to EBITDA identified during due diligence: </a:t>
            </a:r>
            <a:endParaRPr lang="en-US" dirty="0"/>
          </a:p>
          <a:p>
            <a:pPr marL="228600" indent="-228600" algn="just">
              <a:buFont typeface="+mj-lt"/>
              <a:buAutoNum type="arabicPeriod"/>
            </a:pPr>
            <a:r>
              <a:rPr lang="en-US" dirty="0">
                <a:solidFill>
                  <a:schemeClr val="tx1"/>
                </a:solidFill>
              </a:rPr>
              <a:t>Payroll adjustment: </a:t>
            </a:r>
            <a:r>
              <a:rPr lang="en-US" b="0" dirty="0">
                <a:solidFill>
                  <a:schemeClr val="tx1"/>
                </a:solidFill>
              </a:rPr>
              <a:t>This adjustment: (i) eliminates compensation for employees who currently have non-operating roles, and (ii) includes </a:t>
            </a:r>
            <a:r>
              <a:rPr lang="en-US" b="0" dirty="0" smtClean="0">
                <a:solidFill>
                  <a:schemeClr val="tx1"/>
                </a:solidFill>
              </a:rPr>
              <a:t>the compensation for incremental roles as required by the Client post-transaction. The </a:t>
            </a:r>
            <a:r>
              <a:rPr lang="en-US" b="0" dirty="0">
                <a:solidFill>
                  <a:schemeClr val="tx1"/>
                </a:solidFill>
              </a:rPr>
              <a:t>table below provides a detailed </a:t>
            </a:r>
            <a:r>
              <a:rPr lang="en-US" b="0" dirty="0" smtClean="0">
                <a:solidFill>
                  <a:schemeClr val="tx1"/>
                </a:solidFill>
              </a:rPr>
              <a:t>breakdown:</a:t>
            </a:r>
            <a:endParaRPr lang="en-US" b="0" dirty="0">
              <a:solidFill>
                <a:schemeClr val="tx1"/>
              </a:solidFill>
            </a:endParaRPr>
          </a:p>
          <a:p>
            <a:pPr marL="228600" indent="-228600" algn="just">
              <a:buFont typeface="+mj-lt"/>
              <a:buAutoNum type="arabicPeriod"/>
            </a:pPr>
            <a:endParaRPr lang="en-US" b="0" dirty="0">
              <a:solidFill>
                <a:schemeClr val="tx1"/>
              </a:solidFill>
            </a:endParaRPr>
          </a:p>
          <a:p>
            <a:pPr marL="228600" indent="-228600" algn="just">
              <a:buFont typeface="+mj-lt"/>
              <a:buAutoNum type="arabicPeriod"/>
            </a:pPr>
            <a:endParaRPr lang="en-US" b="0" dirty="0">
              <a:solidFill>
                <a:schemeClr val="tx1"/>
              </a:solidFill>
            </a:endParaRPr>
          </a:p>
          <a:p>
            <a:pPr marL="228600" indent="-228600" algn="just">
              <a:buFont typeface="+mj-lt"/>
              <a:buAutoNum type="arabicPeriod"/>
            </a:pPr>
            <a:endParaRPr lang="en-US" b="0" dirty="0">
              <a:solidFill>
                <a:schemeClr val="tx1"/>
              </a:solidFill>
            </a:endParaRPr>
          </a:p>
          <a:p>
            <a:pPr marL="228600" indent="-228600" algn="just">
              <a:buFont typeface="+mj-lt"/>
              <a:buAutoNum type="arabicPeriod"/>
            </a:pPr>
            <a:endParaRPr lang="en-US" b="0" dirty="0">
              <a:solidFill>
                <a:schemeClr val="tx1"/>
              </a:solidFill>
            </a:endParaRPr>
          </a:p>
          <a:p>
            <a:pPr marL="228600" indent="-228600" algn="just">
              <a:buFont typeface="+mj-lt"/>
              <a:buAutoNum type="arabicPeriod"/>
            </a:pPr>
            <a:endParaRPr lang="en-US" b="0" dirty="0">
              <a:solidFill>
                <a:schemeClr val="tx1"/>
              </a:solidFill>
            </a:endParaRPr>
          </a:p>
          <a:p>
            <a:pPr marL="228600" indent="-228600" algn="just">
              <a:buFont typeface="+mj-lt"/>
              <a:buAutoNum type="arabicPeriod"/>
            </a:pPr>
            <a:endParaRPr lang="en-US" b="0" dirty="0">
              <a:solidFill>
                <a:schemeClr val="tx1"/>
              </a:solidFill>
            </a:endParaRPr>
          </a:p>
          <a:p>
            <a:pPr marL="228600" indent="-228600" algn="just">
              <a:buFont typeface="+mj-lt"/>
              <a:buAutoNum type="arabicPeriod"/>
            </a:pPr>
            <a:endParaRPr lang="en-US" b="0" dirty="0">
              <a:solidFill>
                <a:schemeClr val="tx1"/>
              </a:solidFill>
            </a:endParaRPr>
          </a:p>
          <a:p>
            <a:pPr algn="just"/>
            <a:endParaRPr lang="en-US" dirty="0"/>
          </a:p>
        </p:txBody>
      </p:sp>
      <p:sp>
        <p:nvSpPr>
          <p:cNvPr id="4" name="Title 3"/>
          <p:cNvSpPr>
            <a:spLocks noGrp="1"/>
          </p:cNvSpPr>
          <p:nvPr>
            <p:ph type="title"/>
          </p:nvPr>
        </p:nvSpPr>
        <p:spPr/>
        <p:txBody>
          <a:bodyPr/>
          <a:lstStyle/>
          <a:p>
            <a:r>
              <a:rPr lang="en-US" dirty="0"/>
              <a:t>Quality of earnings </a:t>
            </a:r>
            <a:r>
              <a:rPr lang="en-US" dirty="0" smtClean="0"/>
              <a:t>(3) </a:t>
            </a:r>
            <a:r>
              <a:rPr lang="en-US" dirty="0"/>
              <a:t>– </a:t>
            </a:r>
            <a:r>
              <a:rPr lang="en-US" i="1" dirty="0"/>
              <a:t>Potential adjustments  </a:t>
            </a:r>
          </a:p>
        </p:txBody>
      </p:sp>
      <p:sp>
        <p:nvSpPr>
          <p:cNvPr id="5"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sp>
        <p:nvSpPr>
          <p:cNvPr id="24" name="Rectangle 23"/>
          <p:cNvSpPr/>
          <p:nvPr/>
        </p:nvSpPr>
        <p:spPr>
          <a:xfrm>
            <a:off x="366407" y="4522963"/>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pic>
        <p:nvPicPr>
          <p:cNvPr id="6" name="Picture 5"/>
          <p:cNvPicPr>
            <a:picLocks noChangeAspect="1"/>
          </p:cNvPicPr>
          <p:nvPr>
            <p:custDataLst>
              <p:tags r:id="rId2"/>
            </p:custDataLst>
          </p:nvPr>
        </p:nvPicPr>
        <p:blipFill>
          <a:blip r:embed="rId6"/>
          <a:stretch>
            <a:fillRect/>
          </a:stretch>
        </p:blipFill>
        <p:spPr>
          <a:xfrm>
            <a:off x="431802" y="1214878"/>
            <a:ext cx="2833518" cy="3308085"/>
          </a:xfrm>
          <a:prstGeom prst="rect">
            <a:avLst/>
          </a:prstGeom>
        </p:spPr>
      </p:pic>
      <p:pic>
        <p:nvPicPr>
          <p:cNvPr id="8" name="Picture 7"/>
          <p:cNvPicPr>
            <a:picLocks noChangeAspect="1"/>
          </p:cNvPicPr>
          <p:nvPr>
            <p:custDataLst>
              <p:tags r:id="rId3"/>
            </p:custDataLst>
          </p:nvPr>
        </p:nvPicPr>
        <p:blipFill>
          <a:blip r:embed="rId7"/>
          <a:stretch>
            <a:fillRect/>
          </a:stretch>
        </p:blipFill>
        <p:spPr>
          <a:xfrm>
            <a:off x="4096938" y="2372603"/>
            <a:ext cx="4213920" cy="2997323"/>
          </a:xfrm>
          <a:prstGeom prst="rect">
            <a:avLst/>
          </a:prstGeom>
        </p:spPr>
      </p:pic>
      <p:sp>
        <p:nvSpPr>
          <p:cNvPr id="29" name="Rectangle 28"/>
          <p:cNvSpPr/>
          <p:nvPr/>
        </p:nvSpPr>
        <p:spPr>
          <a:xfrm>
            <a:off x="4044603" y="5369925"/>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30" name="Rounded Rectangle 29"/>
          <p:cNvSpPr/>
          <p:nvPr/>
        </p:nvSpPr>
        <p:spPr>
          <a:xfrm>
            <a:off x="7305064" y="3897085"/>
            <a:ext cx="1005363" cy="256086"/>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
        <p:nvSpPr>
          <p:cNvPr id="31" name="Rounded Rectangle 30"/>
          <p:cNvSpPr/>
          <p:nvPr/>
        </p:nvSpPr>
        <p:spPr>
          <a:xfrm>
            <a:off x="7325779" y="4887571"/>
            <a:ext cx="984648" cy="256035"/>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cxnSp>
        <p:nvCxnSpPr>
          <p:cNvPr id="32" name="Elbow Connector 31"/>
          <p:cNvCxnSpPr>
            <a:cxnSpLocks/>
            <a:stCxn id="30" idx="3"/>
          </p:cNvCxnSpPr>
          <p:nvPr/>
        </p:nvCxnSpPr>
        <p:spPr>
          <a:xfrm>
            <a:off x="8310427" y="4025128"/>
            <a:ext cx="161220" cy="1666251"/>
          </a:xfrm>
          <a:prstGeom prst="bentConnector2">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p:cNvCxnSpPr>
            <a:cxnSpLocks/>
            <a:stCxn id="31" idx="3"/>
          </p:cNvCxnSpPr>
          <p:nvPr/>
        </p:nvCxnSpPr>
        <p:spPr>
          <a:xfrm>
            <a:off x="8310427" y="5015589"/>
            <a:ext cx="161220" cy="1036524"/>
          </a:xfrm>
          <a:prstGeom prst="bentConnector2">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4"/>
          <p:cNvSpPr>
            <a:spLocks noChangeArrowheads="1"/>
          </p:cNvSpPr>
          <p:nvPr>
            <p:custDataLst>
              <p:tags r:id="rId4"/>
            </p:custDataLst>
          </p:nvPr>
        </p:nvSpPr>
        <p:spPr bwMode="auto">
          <a:xfrm>
            <a:off x="6669741" y="5499860"/>
            <a:ext cx="2042459" cy="552253"/>
          </a:xfrm>
          <a:prstGeom prst="rect">
            <a:avLst/>
          </a:prstGeom>
          <a:solidFill>
            <a:srgbClr val="00A3A1"/>
          </a:solidFill>
          <a:ln w="12700">
            <a:solidFill>
              <a:srgbClr val="00A3A1"/>
            </a:solidFill>
            <a:miter lim="800000"/>
            <a:headEnd/>
            <a:tailEnd/>
          </a:ln>
          <a:effectLst/>
        </p:spPr>
        <p:txBody>
          <a:bodyPr wrap="square" lIns="54000" tIns="54000" rIns="54000" bIns="54000" anchor="ctr" anchorCtr="1">
            <a:spAutoFit/>
          </a:bodyPr>
          <a:lstStyle/>
          <a:p>
            <a:pPr marL="0" lvl="2" defTabSz="762000" eaLnBrk="0" hangingPunct="0">
              <a:lnSpc>
                <a:spcPct val="90000"/>
              </a:lnSpc>
              <a:spcBef>
                <a:spcPts val="600"/>
              </a:spcBef>
            </a:pPr>
            <a:r>
              <a:rPr lang="en-US" sz="800" dirty="0" smtClean="0">
                <a:solidFill>
                  <a:schemeClr val="bg1"/>
                </a:solidFill>
                <a:latin typeface="Univers for KPMG" panose="020B0603020202020204" pitchFamily="34" charset="0"/>
              </a:rPr>
              <a:t>For the historical period, the Company </a:t>
            </a:r>
            <a:r>
              <a:rPr lang="en-US" sz="800" dirty="0">
                <a:solidFill>
                  <a:schemeClr val="bg1"/>
                </a:solidFill>
                <a:latin typeface="Univers for KPMG" panose="020B0603020202020204" pitchFamily="34" charset="0"/>
              </a:rPr>
              <a:t>contributions and taxes are estimated based on the reported expense as a percentage of </a:t>
            </a:r>
            <a:r>
              <a:rPr lang="en-US" sz="800" dirty="0" smtClean="0">
                <a:solidFill>
                  <a:schemeClr val="bg1"/>
                </a:solidFill>
                <a:latin typeface="Univers for KPMG" panose="020B0603020202020204" pitchFamily="34" charset="0"/>
              </a:rPr>
              <a:t>payroll.</a:t>
            </a:r>
            <a:endParaRPr lang="en-US" sz="800" dirty="0">
              <a:solidFill>
                <a:schemeClr val="bg1"/>
              </a:solidFill>
              <a:latin typeface="Univers for KPMG" panose="020B0603020202020204" pitchFamily="34" charset="0"/>
            </a:endParaRPr>
          </a:p>
        </p:txBody>
      </p:sp>
    </p:spTree>
    <p:extLst>
      <p:ext uri="{BB962C8B-B14F-4D97-AF65-F5344CB8AC3E}">
        <p14:creationId xmlns:p14="http://schemas.microsoft.com/office/powerpoint/2010/main" val="2540532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3871784" y="1214876"/>
            <a:ext cx="4840416" cy="4582800"/>
          </a:xfrm>
        </p:spPr>
        <p:txBody>
          <a:bodyPr/>
          <a:lstStyle/>
          <a:p>
            <a:pPr algn="just"/>
            <a:r>
              <a:rPr lang="en-US" dirty="0"/>
              <a:t>Potential </a:t>
            </a:r>
            <a:r>
              <a:rPr lang="en-US" dirty="0" smtClean="0"/>
              <a:t>adjustments – Standalone savings </a:t>
            </a:r>
            <a:r>
              <a:rPr lang="en-US" dirty="0"/>
              <a:t>(continued): </a:t>
            </a:r>
          </a:p>
          <a:p>
            <a:pPr marL="228600" indent="-228600" algn="just">
              <a:buFont typeface="+mj-lt"/>
              <a:buAutoNum type="arabicPeriod" startAt="2"/>
            </a:pPr>
            <a:r>
              <a:rPr lang="en-US" b="1" dirty="0">
                <a:solidFill>
                  <a:schemeClr val="tx1"/>
                </a:solidFill>
              </a:rPr>
              <a:t>FMV </a:t>
            </a:r>
            <a:r>
              <a:rPr lang="en-US" dirty="0">
                <a:solidFill>
                  <a:schemeClr val="tx1"/>
                </a:solidFill>
              </a:rPr>
              <a:t>r</a:t>
            </a:r>
            <a:r>
              <a:rPr lang="en-US" b="1" dirty="0">
                <a:solidFill>
                  <a:schemeClr val="tx1"/>
                </a:solidFill>
              </a:rPr>
              <a:t>ent: </a:t>
            </a:r>
            <a:r>
              <a:rPr lang="en-US" b="0" dirty="0">
                <a:solidFill>
                  <a:schemeClr val="tx1"/>
                </a:solidFill>
              </a:rPr>
              <a:t>The Company leased several homes from a related party entity owned by Allan Soto. During November 2019, six homes were sold to a third party, which were subsequently leased back to the Company at market rates. This adjustment reflects the go-forward rent expense to the historical periods. Note that the adjustment is calculated on a cash basis, please see other considerations for further details.</a:t>
            </a:r>
          </a:p>
          <a:p>
            <a:pPr marL="228600" indent="-228600" algn="just">
              <a:buFont typeface="+mj-lt"/>
              <a:buAutoNum type="arabicPeriod" startAt="2"/>
            </a:pPr>
            <a:endParaRPr lang="en-US" b="0" dirty="0">
              <a:solidFill>
                <a:schemeClr val="tx1"/>
              </a:solidFill>
            </a:endParaRPr>
          </a:p>
          <a:p>
            <a:pPr marL="228600" indent="-228600" algn="just">
              <a:buFont typeface="+mj-lt"/>
              <a:buAutoNum type="arabicPeriod" startAt="2"/>
            </a:pPr>
            <a:endParaRPr lang="en-US" b="0" dirty="0">
              <a:solidFill>
                <a:schemeClr val="tx1"/>
              </a:solidFill>
            </a:endParaRPr>
          </a:p>
          <a:p>
            <a:pPr marL="228600" indent="-228600" algn="just">
              <a:buFont typeface="+mj-lt"/>
              <a:buAutoNum type="arabicPeriod" startAt="2"/>
            </a:pPr>
            <a:endParaRPr lang="en-US" b="0" dirty="0">
              <a:solidFill>
                <a:schemeClr val="tx1"/>
              </a:solidFill>
            </a:endParaRPr>
          </a:p>
          <a:p>
            <a:pPr marL="228600" indent="-228600" algn="just">
              <a:buFont typeface="+mj-lt"/>
              <a:buAutoNum type="arabicPeriod" startAt="2"/>
            </a:pPr>
            <a:endParaRPr lang="en-US" b="0" dirty="0">
              <a:solidFill>
                <a:schemeClr val="tx1"/>
              </a:solidFill>
            </a:endParaRPr>
          </a:p>
          <a:p>
            <a:pPr marL="228600" indent="-228600" algn="just">
              <a:buFont typeface="+mj-lt"/>
              <a:buAutoNum type="arabicPeriod" startAt="2"/>
            </a:pPr>
            <a:endParaRPr lang="en-US" b="0" dirty="0">
              <a:solidFill>
                <a:schemeClr val="tx1"/>
              </a:solidFill>
            </a:endParaRPr>
          </a:p>
          <a:p>
            <a:pPr marL="228600" indent="-228600" algn="just">
              <a:buFont typeface="+mj-lt"/>
              <a:buAutoNum type="arabicPeriod" startAt="2"/>
            </a:pPr>
            <a:endParaRPr lang="en-US" sz="700" b="0" dirty="0">
              <a:solidFill>
                <a:schemeClr val="tx1"/>
              </a:solidFill>
            </a:endParaRPr>
          </a:p>
          <a:p>
            <a:pPr marL="228600" indent="-228600" algn="just">
              <a:buFont typeface="+mj-lt"/>
              <a:buAutoNum type="arabicPeriod" startAt="2"/>
            </a:pPr>
            <a:endParaRPr lang="en-US" sz="100" b="0" dirty="0">
              <a:solidFill>
                <a:schemeClr val="tx1"/>
              </a:solidFill>
            </a:endParaRPr>
          </a:p>
          <a:p>
            <a:pPr marL="228600" indent="-228600" algn="just">
              <a:buFont typeface="+mj-lt"/>
              <a:buAutoNum type="arabicPeriod" startAt="2"/>
            </a:pPr>
            <a:endParaRPr lang="en-US" b="0" dirty="0">
              <a:solidFill>
                <a:schemeClr val="tx1"/>
              </a:solidFill>
            </a:endParaRPr>
          </a:p>
          <a:p>
            <a:pPr marL="228600" indent="-228600" algn="just">
              <a:buFont typeface="+mj-lt"/>
              <a:buAutoNum type="arabicPeriod" startAt="2"/>
            </a:pPr>
            <a:r>
              <a:rPr lang="en-US" dirty="0">
                <a:solidFill>
                  <a:schemeClr val="tx1"/>
                </a:solidFill>
              </a:rPr>
              <a:t>Legal </a:t>
            </a:r>
            <a:r>
              <a:rPr lang="en-US" dirty="0" smtClean="0">
                <a:solidFill>
                  <a:schemeClr val="tx1"/>
                </a:solidFill>
              </a:rPr>
              <a:t>expense &amp; professional fees: </a:t>
            </a:r>
            <a:r>
              <a:rPr lang="en-US" b="0" dirty="0">
                <a:solidFill>
                  <a:schemeClr val="tx1"/>
                </a:solidFill>
              </a:rPr>
              <a:t>The Company incurs third party </a:t>
            </a:r>
            <a:r>
              <a:rPr lang="en-US" b="0" dirty="0" smtClean="0">
                <a:solidFill>
                  <a:schemeClr val="tx1"/>
                </a:solidFill>
              </a:rPr>
              <a:t>legal and professional fees attributable </a:t>
            </a:r>
            <a:r>
              <a:rPr lang="en-US" b="0" dirty="0">
                <a:solidFill>
                  <a:schemeClr val="tx1"/>
                </a:solidFill>
              </a:rPr>
              <a:t>to the normal operations of the Company. Client represents that the external legal services will not be necessary post-transaction, as their legal team will take on the duties with no incremental costs. As a result, this expense is eliminated from EBITDA.</a:t>
            </a:r>
          </a:p>
          <a:p>
            <a:pPr marL="228600" indent="-228600" algn="just">
              <a:buFont typeface="+mj-lt"/>
              <a:buAutoNum type="arabicPeriod" startAt="2"/>
            </a:pPr>
            <a:r>
              <a:rPr lang="en-US" dirty="0">
                <a:solidFill>
                  <a:schemeClr val="tx1"/>
                </a:solidFill>
              </a:rPr>
              <a:t>Bank service charges: </a:t>
            </a:r>
            <a:r>
              <a:rPr lang="en-US" b="0" dirty="0">
                <a:solidFill>
                  <a:schemeClr val="tx1"/>
                </a:solidFill>
              </a:rPr>
              <a:t>The Company incurs service charges </a:t>
            </a:r>
            <a:r>
              <a:rPr lang="en-US" b="0" dirty="0" smtClean="0">
                <a:solidFill>
                  <a:schemeClr val="tx1"/>
                </a:solidFill>
              </a:rPr>
              <a:t>on </a:t>
            </a:r>
            <a:r>
              <a:rPr lang="en-US" b="0" dirty="0">
                <a:solidFill>
                  <a:schemeClr val="tx1"/>
                </a:solidFill>
              </a:rPr>
              <a:t>its existing bank accounts. Client represents that these charges will not be recurring post-transaction, as they will consolidate the Company’s bank accounts with its own. As a result, this expense has been eliminated from EBITDA.</a:t>
            </a:r>
          </a:p>
          <a:p>
            <a:pPr marL="228600" indent="-228600" algn="just">
              <a:buFont typeface="+mj-lt"/>
              <a:buAutoNum type="arabicPeriod" startAt="2"/>
            </a:pPr>
            <a:endParaRPr lang="en-US" b="0" dirty="0">
              <a:solidFill>
                <a:schemeClr val="tx1"/>
              </a:solidFill>
            </a:endParaRPr>
          </a:p>
          <a:p>
            <a:pPr algn="just"/>
            <a:endParaRPr lang="en-US" dirty="0"/>
          </a:p>
        </p:txBody>
      </p:sp>
      <p:sp>
        <p:nvSpPr>
          <p:cNvPr id="14" name="Rectangle 13"/>
          <p:cNvSpPr/>
          <p:nvPr/>
        </p:nvSpPr>
        <p:spPr>
          <a:xfrm>
            <a:off x="4101556" y="3557452"/>
            <a:ext cx="2755824" cy="107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a:p>
            <a:pPr algn="l"/>
            <a:r>
              <a:rPr lang="en-US" sz="600" i="1" dirty="0">
                <a:solidFill>
                  <a:schemeClr val="tx1"/>
                </a:solidFill>
              </a:rPr>
              <a:t>(1) Triple net lease agreement, excluding property tax and utilities</a:t>
            </a:r>
          </a:p>
        </p:txBody>
      </p:sp>
      <p:sp>
        <p:nvSpPr>
          <p:cNvPr id="15" name="Title 3"/>
          <p:cNvSpPr>
            <a:spLocks noGrp="1"/>
          </p:cNvSpPr>
          <p:nvPr>
            <p:ph type="title"/>
          </p:nvPr>
        </p:nvSpPr>
        <p:spPr>
          <a:xfrm>
            <a:off x="431800" y="480476"/>
            <a:ext cx="8280400" cy="734400"/>
          </a:xfrm>
        </p:spPr>
        <p:txBody>
          <a:bodyPr/>
          <a:lstStyle/>
          <a:p>
            <a:r>
              <a:rPr lang="en-US" dirty="0"/>
              <a:t>Quality of earnings </a:t>
            </a:r>
            <a:r>
              <a:rPr lang="en-US" dirty="0" smtClean="0"/>
              <a:t>(4) </a:t>
            </a:r>
            <a:r>
              <a:rPr lang="en-US" dirty="0"/>
              <a:t>– </a:t>
            </a:r>
            <a:r>
              <a:rPr lang="en-US" i="1" dirty="0"/>
              <a:t>Potential adjustments</a:t>
            </a:r>
          </a:p>
        </p:txBody>
      </p:sp>
      <p:sp>
        <p:nvSpPr>
          <p:cNvPr id="16"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pic>
        <p:nvPicPr>
          <p:cNvPr id="5" name="Picture 4">
            <a:extLst>
              <a:ext uri="{FF2B5EF4-FFF2-40B4-BE49-F238E27FC236}">
                <a16:creationId xmlns="" xmlns:a16="http://schemas.microsoft.com/office/drawing/2014/main" id="{B5E7B4AD-7589-46F5-86A6-EF6EAF10B63B}"/>
              </a:ext>
            </a:extLst>
          </p:cNvPr>
          <p:cNvPicPr>
            <a:picLocks noChangeAspect="1"/>
          </p:cNvPicPr>
          <p:nvPr/>
        </p:nvPicPr>
        <p:blipFill>
          <a:blip r:embed="rId4"/>
          <a:stretch>
            <a:fillRect/>
          </a:stretch>
        </p:blipFill>
        <p:spPr>
          <a:xfrm>
            <a:off x="4101556" y="2210414"/>
            <a:ext cx="2525851" cy="1316250"/>
          </a:xfrm>
          <a:prstGeom prst="rect">
            <a:avLst/>
          </a:prstGeom>
        </p:spPr>
      </p:pic>
      <p:sp>
        <p:nvSpPr>
          <p:cNvPr id="11" name="Rectangle 10"/>
          <p:cNvSpPr/>
          <p:nvPr/>
        </p:nvSpPr>
        <p:spPr>
          <a:xfrm>
            <a:off x="366450" y="4522963"/>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pic>
        <p:nvPicPr>
          <p:cNvPr id="12" name="Picture 11"/>
          <p:cNvPicPr>
            <a:picLocks noChangeAspect="1"/>
          </p:cNvPicPr>
          <p:nvPr>
            <p:custDataLst>
              <p:tags r:id="rId2"/>
            </p:custDataLst>
          </p:nvPr>
        </p:nvPicPr>
        <p:blipFill>
          <a:blip r:embed="rId5"/>
          <a:stretch>
            <a:fillRect/>
          </a:stretch>
        </p:blipFill>
        <p:spPr>
          <a:xfrm>
            <a:off x="431802" y="1214878"/>
            <a:ext cx="2833518" cy="3308085"/>
          </a:xfrm>
          <a:prstGeom prst="rect">
            <a:avLst/>
          </a:prstGeom>
        </p:spPr>
      </p:pic>
    </p:spTree>
    <p:extLst>
      <p:ext uri="{BB962C8B-B14F-4D97-AF65-F5344CB8AC3E}">
        <p14:creationId xmlns:p14="http://schemas.microsoft.com/office/powerpoint/2010/main" val="6363295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3871784" y="1214876"/>
            <a:ext cx="4766189" cy="4582800"/>
          </a:xfrm>
        </p:spPr>
        <p:txBody>
          <a:bodyPr/>
          <a:lstStyle/>
          <a:p>
            <a:pPr algn="just"/>
            <a:r>
              <a:rPr lang="en-US" dirty="0"/>
              <a:t>Potential </a:t>
            </a:r>
            <a:r>
              <a:rPr lang="en-US" dirty="0" smtClean="0"/>
              <a:t>adjustments – Non-recurring </a:t>
            </a:r>
            <a:r>
              <a:rPr lang="en-US" dirty="0"/>
              <a:t>(</a:t>
            </a:r>
            <a:r>
              <a:rPr lang="en-US" dirty="0" smtClean="0"/>
              <a:t>continued):</a:t>
            </a:r>
            <a:endParaRPr lang="en-US" dirty="0"/>
          </a:p>
          <a:p>
            <a:pPr marL="228600" indent="-228600" algn="just">
              <a:buFont typeface="+mj-lt"/>
              <a:buAutoNum type="arabicPeriod" startAt="5"/>
            </a:pPr>
            <a:r>
              <a:rPr lang="en-US" dirty="0">
                <a:solidFill>
                  <a:schemeClr val="tx1"/>
                </a:solidFill>
                <a:latin typeface="Univers for KPMG" panose="020B0603020202020204" pitchFamily="34" charset="0"/>
              </a:rPr>
              <a:t>Start-up costs:</a:t>
            </a:r>
            <a:r>
              <a:rPr lang="en-US" b="0" dirty="0">
                <a:solidFill>
                  <a:schemeClr val="tx1"/>
                </a:solidFill>
              </a:rPr>
              <a:t> The Company opened nine homes, one center (day services) and </a:t>
            </a:r>
            <a:r>
              <a:rPr lang="en-US" b="0" dirty="0" smtClean="0">
                <a:solidFill>
                  <a:schemeClr val="tx1"/>
                </a:solidFill>
              </a:rPr>
              <a:t>ten host </a:t>
            </a:r>
            <a:r>
              <a:rPr lang="en-US" b="0" dirty="0">
                <a:solidFill>
                  <a:schemeClr val="tx1"/>
                </a:solidFill>
              </a:rPr>
              <a:t>homes </a:t>
            </a:r>
            <a:r>
              <a:rPr lang="en-US" b="0" dirty="0" smtClean="0">
                <a:solidFill>
                  <a:schemeClr val="tx1"/>
                </a:solidFill>
              </a:rPr>
              <a:t>during the </a:t>
            </a:r>
            <a:r>
              <a:rPr lang="en-US" b="0" dirty="0">
                <a:solidFill>
                  <a:schemeClr val="tx1"/>
                </a:solidFill>
              </a:rPr>
              <a:t>historical period. As these locations ramp to maturity (30 to 90 days), they generate minimal revenue and incur </a:t>
            </a:r>
            <a:r>
              <a:rPr lang="en-US" b="0" dirty="0" smtClean="0">
                <a:solidFill>
                  <a:schemeClr val="tx1"/>
                </a:solidFill>
              </a:rPr>
              <a:t>start-up </a:t>
            </a:r>
            <a:r>
              <a:rPr lang="en-US" b="0" dirty="0">
                <a:solidFill>
                  <a:schemeClr val="tx1"/>
                </a:solidFill>
              </a:rPr>
              <a:t>costs (primarily rent). This adjustment eliminates any revenue and operating expenses prior to maturity. The table below provides a detailed breakdown:</a:t>
            </a:r>
          </a:p>
          <a:p>
            <a:pPr marL="228600" indent="-228600" algn="just">
              <a:buFont typeface="+mj-lt"/>
              <a:buAutoNum type="arabicPeriod" startAt="5"/>
            </a:pPr>
            <a:endParaRPr lang="en-US" b="0" dirty="0">
              <a:solidFill>
                <a:schemeClr val="tx1"/>
              </a:solidFill>
            </a:endParaRPr>
          </a:p>
          <a:p>
            <a:pPr marL="228600" indent="-228600" algn="just">
              <a:buFont typeface="+mj-lt"/>
              <a:buAutoNum type="arabicPeriod" startAt="5"/>
            </a:pPr>
            <a:endParaRPr lang="en-US" b="0" dirty="0">
              <a:solidFill>
                <a:schemeClr val="tx1"/>
              </a:solidFill>
            </a:endParaRPr>
          </a:p>
          <a:p>
            <a:pPr marL="228600" indent="-228600" algn="just">
              <a:buFont typeface="+mj-lt"/>
              <a:buAutoNum type="arabicPeriod" startAt="5"/>
            </a:pPr>
            <a:endParaRPr lang="en-US" b="0" dirty="0">
              <a:solidFill>
                <a:schemeClr val="tx1"/>
              </a:solidFill>
            </a:endParaRPr>
          </a:p>
          <a:p>
            <a:pPr marL="228600" indent="-228600" algn="just">
              <a:buFont typeface="+mj-lt"/>
              <a:buAutoNum type="arabicPeriod" startAt="5"/>
            </a:pPr>
            <a:endParaRPr lang="en-US" b="0" dirty="0">
              <a:solidFill>
                <a:schemeClr val="tx1"/>
              </a:solidFill>
            </a:endParaRPr>
          </a:p>
          <a:p>
            <a:pPr marL="228600" indent="-228600" algn="just">
              <a:buFont typeface="+mj-lt"/>
              <a:buAutoNum type="arabicPeriod" startAt="5"/>
            </a:pPr>
            <a:endParaRPr lang="en-US" b="0" dirty="0">
              <a:solidFill>
                <a:schemeClr val="tx1"/>
              </a:solidFill>
            </a:endParaRPr>
          </a:p>
          <a:p>
            <a:pPr marL="228600" indent="-228600" algn="just">
              <a:buFont typeface="+mj-lt"/>
              <a:buAutoNum type="arabicPeriod" startAt="5"/>
            </a:pPr>
            <a:endParaRPr lang="en-US" b="0" dirty="0">
              <a:solidFill>
                <a:schemeClr val="tx1"/>
              </a:solidFill>
            </a:endParaRPr>
          </a:p>
          <a:p>
            <a:pPr marL="228600" indent="-228600" algn="just">
              <a:buFont typeface="+mj-lt"/>
              <a:buAutoNum type="arabicPeriod" startAt="5"/>
            </a:pPr>
            <a:endParaRPr lang="en-US" b="0" dirty="0">
              <a:solidFill>
                <a:schemeClr val="tx1"/>
              </a:solidFill>
            </a:endParaRPr>
          </a:p>
          <a:p>
            <a:pPr marL="228600" indent="-228600" algn="just">
              <a:buFont typeface="+mj-lt"/>
              <a:buAutoNum type="arabicPeriod" startAt="5"/>
            </a:pPr>
            <a:endParaRPr lang="en-US" b="0" dirty="0">
              <a:solidFill>
                <a:schemeClr val="tx1"/>
              </a:solidFill>
            </a:endParaRPr>
          </a:p>
          <a:p>
            <a:pPr marL="228600" indent="-228600" algn="just">
              <a:buFont typeface="+mj-lt"/>
              <a:buAutoNum type="arabicPeriod" startAt="6"/>
            </a:pPr>
            <a:endParaRPr lang="en-US" dirty="0" smtClean="0">
              <a:solidFill>
                <a:schemeClr val="tx1"/>
              </a:solidFill>
              <a:latin typeface="Univers for KPMG" panose="020B0603020202020204" pitchFamily="34" charset="0"/>
            </a:endParaRPr>
          </a:p>
          <a:p>
            <a:pPr marL="233363" lvl="1" algn="just"/>
            <a:r>
              <a:rPr lang="en-US" dirty="0" smtClean="0">
                <a:solidFill>
                  <a:schemeClr val="tx1"/>
                </a:solidFill>
                <a:latin typeface="Univers for KPMG" panose="020B0603020202020204" pitchFamily="34" charset="0"/>
              </a:rPr>
              <a:t>Note: Post-transaction, Allan Soto (owner) will continue to open new locations using his real estate company and lease to the Company. Client represents majority of the start-up costs will be borne by Allan’s real estate company resulting in an immaterial balance remaining for the Company. </a:t>
            </a:r>
            <a:endParaRPr lang="en-US" dirty="0">
              <a:solidFill>
                <a:schemeClr val="tx1"/>
              </a:solidFill>
              <a:latin typeface="Univers for KPMG" panose="020B0603020202020204" pitchFamily="34" charset="0"/>
            </a:endParaRPr>
          </a:p>
          <a:p>
            <a:pPr marL="228600" indent="-228600" algn="just">
              <a:buFont typeface="+mj-lt"/>
              <a:buAutoNum type="arabicPeriod" startAt="6"/>
            </a:pPr>
            <a:r>
              <a:rPr lang="en-US" dirty="0" smtClean="0">
                <a:solidFill>
                  <a:schemeClr val="tx1"/>
                </a:solidFill>
                <a:latin typeface="Univers for KPMG" panose="020B0603020202020204" pitchFamily="34" charset="0"/>
              </a:rPr>
              <a:t>N</a:t>
            </a:r>
            <a:r>
              <a:rPr lang="en-US" dirty="0" smtClean="0">
                <a:solidFill>
                  <a:schemeClr val="tx1"/>
                </a:solidFill>
              </a:rPr>
              <a:t>on-operational </a:t>
            </a:r>
            <a:r>
              <a:rPr lang="en-US" dirty="0">
                <a:solidFill>
                  <a:schemeClr val="tx1"/>
                </a:solidFill>
              </a:rPr>
              <a:t>conferences:</a:t>
            </a:r>
            <a:r>
              <a:rPr lang="en-US" b="0" dirty="0">
                <a:solidFill>
                  <a:schemeClr val="tx1"/>
                </a:solidFill>
              </a:rPr>
              <a:t> Management represents that the Company's leadership team attended various conferences unrelated to the Company’s operations. As such, these expenses are eliminated from EBITDA</a:t>
            </a:r>
            <a:r>
              <a:rPr lang="en-US" b="0" dirty="0" smtClean="0">
                <a:solidFill>
                  <a:schemeClr val="tx1"/>
                </a:solidFill>
              </a:rPr>
              <a:t>.</a:t>
            </a:r>
            <a:endParaRPr lang="en-US" b="0" dirty="0">
              <a:solidFill>
                <a:schemeClr val="tx1"/>
              </a:solidFill>
            </a:endParaRPr>
          </a:p>
        </p:txBody>
      </p:sp>
      <p:sp>
        <p:nvSpPr>
          <p:cNvPr id="12" name="Rectangle 11"/>
          <p:cNvSpPr/>
          <p:nvPr/>
        </p:nvSpPr>
        <p:spPr>
          <a:xfrm>
            <a:off x="4063594" y="3969234"/>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13" name="Rectangle 12"/>
          <p:cNvSpPr/>
          <p:nvPr/>
        </p:nvSpPr>
        <p:spPr>
          <a:xfrm>
            <a:off x="357573" y="4967118"/>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14" name="Title 3"/>
          <p:cNvSpPr>
            <a:spLocks noGrp="1"/>
          </p:cNvSpPr>
          <p:nvPr>
            <p:ph type="title"/>
          </p:nvPr>
        </p:nvSpPr>
        <p:spPr>
          <a:xfrm>
            <a:off x="431800" y="480476"/>
            <a:ext cx="8280400" cy="734400"/>
          </a:xfrm>
        </p:spPr>
        <p:txBody>
          <a:bodyPr/>
          <a:lstStyle/>
          <a:p>
            <a:r>
              <a:rPr lang="en-US" dirty="0"/>
              <a:t>Quality of earnings </a:t>
            </a:r>
            <a:r>
              <a:rPr lang="en-US" dirty="0" smtClean="0"/>
              <a:t>(5) </a:t>
            </a:r>
            <a:r>
              <a:rPr lang="en-US" dirty="0"/>
              <a:t>– </a:t>
            </a:r>
            <a:r>
              <a:rPr lang="en-US" i="1" dirty="0"/>
              <a:t>Potential adjustments</a:t>
            </a:r>
          </a:p>
        </p:txBody>
      </p:sp>
      <p:sp>
        <p:nvSpPr>
          <p:cNvPr id="15"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sp>
        <p:nvSpPr>
          <p:cNvPr id="11" name="Rectangle 4"/>
          <p:cNvSpPr>
            <a:spLocks noChangeArrowheads="1"/>
          </p:cNvSpPr>
          <p:nvPr>
            <p:custDataLst>
              <p:tags r:id="rId2"/>
            </p:custDataLst>
          </p:nvPr>
        </p:nvSpPr>
        <p:spPr bwMode="auto">
          <a:xfrm>
            <a:off x="5944965" y="2171870"/>
            <a:ext cx="2400014" cy="330654"/>
          </a:xfrm>
          <a:prstGeom prst="rect">
            <a:avLst/>
          </a:prstGeom>
          <a:solidFill>
            <a:srgbClr val="00A3A1"/>
          </a:solidFill>
          <a:ln w="9525">
            <a:noFill/>
            <a:miter lim="800000"/>
            <a:headEnd/>
            <a:tailEnd/>
          </a:ln>
          <a:effectLst/>
        </p:spPr>
        <p:txBody>
          <a:bodyPr wrap="square" lIns="54000" tIns="54000" rIns="54000" bIns="54000" anchor="ctr" anchorCtr="1">
            <a:spAutoFit/>
          </a:bodyPr>
          <a:lstStyle/>
          <a:p>
            <a:pPr marL="0" lvl="2" defTabSz="762000" eaLnBrk="0" hangingPunct="0">
              <a:lnSpc>
                <a:spcPct val="90000"/>
              </a:lnSpc>
              <a:spcBef>
                <a:spcPts val="600"/>
              </a:spcBef>
            </a:pPr>
            <a:r>
              <a:rPr lang="en-US" sz="800" dirty="0">
                <a:solidFill>
                  <a:schemeClr val="bg1"/>
                </a:solidFill>
                <a:latin typeface="Univers for KPMG" panose="020B0603020202020204" pitchFamily="34" charset="0"/>
              </a:rPr>
              <a:t>See Adj. #</a:t>
            </a:r>
            <a:r>
              <a:rPr lang="en-US" sz="800" dirty="0" smtClean="0">
                <a:solidFill>
                  <a:schemeClr val="bg1"/>
                </a:solidFill>
                <a:latin typeface="Univers for KPMG" panose="020B0603020202020204" pitchFamily="34" charset="0"/>
              </a:rPr>
              <a:t>15 and #16 </a:t>
            </a:r>
            <a:r>
              <a:rPr lang="en-US" sz="800" dirty="0">
                <a:solidFill>
                  <a:schemeClr val="bg1"/>
                </a:solidFill>
                <a:latin typeface="Univers for KPMG" panose="020B0603020202020204" pitchFamily="34" charset="0"/>
              </a:rPr>
              <a:t>for annualized run-rate revenue and </a:t>
            </a:r>
            <a:r>
              <a:rPr lang="en-US" sz="800" dirty="0" smtClean="0">
                <a:solidFill>
                  <a:schemeClr val="bg1"/>
                </a:solidFill>
                <a:latin typeface="Univers for KPMG" panose="020B0603020202020204" pitchFamily="34" charset="0"/>
              </a:rPr>
              <a:t>EBITDA.</a:t>
            </a:r>
            <a:endParaRPr lang="en-US" sz="800" dirty="0">
              <a:solidFill>
                <a:schemeClr val="bg1"/>
              </a:solidFill>
              <a:latin typeface="Univers for KPMG" panose="020B0603020202020204" pitchFamily="34" charset="0"/>
            </a:endParaRPr>
          </a:p>
        </p:txBody>
      </p:sp>
      <p:pic>
        <p:nvPicPr>
          <p:cNvPr id="7" name="Picture 6"/>
          <p:cNvPicPr>
            <a:picLocks noChangeAspect="1"/>
          </p:cNvPicPr>
          <p:nvPr>
            <p:custDataLst>
              <p:tags r:id="rId3"/>
            </p:custDataLst>
          </p:nvPr>
        </p:nvPicPr>
        <p:blipFill>
          <a:blip r:embed="rId6"/>
          <a:stretch>
            <a:fillRect/>
          </a:stretch>
        </p:blipFill>
        <p:spPr>
          <a:xfrm>
            <a:off x="4114745" y="2171870"/>
            <a:ext cx="1721199" cy="1789464"/>
          </a:xfrm>
          <a:prstGeom prst="rect">
            <a:avLst/>
          </a:prstGeom>
        </p:spPr>
      </p:pic>
      <p:pic>
        <p:nvPicPr>
          <p:cNvPr id="6" name="Picture 5"/>
          <p:cNvPicPr>
            <a:picLocks noChangeAspect="1"/>
          </p:cNvPicPr>
          <p:nvPr>
            <p:custDataLst>
              <p:tags r:id="rId4"/>
            </p:custDataLst>
          </p:nvPr>
        </p:nvPicPr>
        <p:blipFill>
          <a:blip r:embed="rId7"/>
          <a:stretch>
            <a:fillRect/>
          </a:stretch>
        </p:blipFill>
        <p:spPr>
          <a:xfrm>
            <a:off x="431802" y="1223842"/>
            <a:ext cx="2830847" cy="3754962"/>
          </a:xfrm>
          <a:prstGeom prst="rect">
            <a:avLst/>
          </a:prstGeom>
        </p:spPr>
      </p:pic>
    </p:spTree>
    <p:extLst>
      <p:ext uri="{BB962C8B-B14F-4D97-AF65-F5344CB8AC3E}">
        <p14:creationId xmlns:p14="http://schemas.microsoft.com/office/powerpoint/2010/main" val="3529824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3871784" y="1214876"/>
            <a:ext cx="4775066" cy="4582800"/>
          </a:xfrm>
        </p:spPr>
        <p:txBody>
          <a:bodyPr/>
          <a:lstStyle/>
          <a:p>
            <a:pPr algn="just"/>
            <a:r>
              <a:rPr lang="en-US" dirty="0"/>
              <a:t>Potential </a:t>
            </a:r>
            <a:r>
              <a:rPr lang="en-US" dirty="0" smtClean="0"/>
              <a:t>adjustments – Non-recurring </a:t>
            </a:r>
            <a:r>
              <a:rPr lang="en-US" dirty="0"/>
              <a:t>(continued):</a:t>
            </a:r>
          </a:p>
          <a:p>
            <a:pPr marL="228600" indent="-228600" algn="just">
              <a:buFont typeface="+mj-lt"/>
              <a:buAutoNum type="arabicPeriod" startAt="7"/>
            </a:pPr>
            <a:r>
              <a:rPr lang="en-US" dirty="0">
                <a:solidFill>
                  <a:schemeClr val="tx1"/>
                </a:solidFill>
              </a:rPr>
              <a:t>Closed locations: </a:t>
            </a:r>
            <a:r>
              <a:rPr lang="en-US" b="0" dirty="0">
                <a:solidFill>
                  <a:schemeClr val="tx1"/>
                </a:solidFill>
              </a:rPr>
              <a:t>The Company closed Home 7, Home 8 and Wilkes Centre during the historical period: </a:t>
            </a:r>
          </a:p>
          <a:p>
            <a:pPr marL="350838" lvl="2" indent="-120650" algn="just">
              <a:buClrTx/>
              <a:buFont typeface="Wingdings" panose="05000000000000000000" pitchFamily="2" charset="2"/>
              <a:buChar char="§"/>
            </a:pPr>
            <a:r>
              <a:rPr lang="en-US" b="1" dirty="0">
                <a:solidFill>
                  <a:schemeClr val="tx1"/>
                </a:solidFill>
              </a:rPr>
              <a:t>Home 7</a:t>
            </a:r>
            <a:r>
              <a:rPr lang="en-US" dirty="0">
                <a:solidFill>
                  <a:schemeClr val="tx1"/>
                </a:solidFill>
              </a:rPr>
              <a:t> </a:t>
            </a:r>
            <a:r>
              <a:rPr lang="en-US" b="1" dirty="0">
                <a:solidFill>
                  <a:schemeClr val="tx1"/>
                </a:solidFill>
              </a:rPr>
              <a:t>(closed in Jun-17):  </a:t>
            </a:r>
            <a:r>
              <a:rPr lang="en-US" dirty="0">
                <a:solidFill>
                  <a:schemeClr val="tx1"/>
                </a:solidFill>
              </a:rPr>
              <a:t>This location provided services to four individuals as of </a:t>
            </a:r>
            <a:r>
              <a:rPr lang="en-US" dirty="0" smtClean="0">
                <a:solidFill>
                  <a:schemeClr val="tx1"/>
                </a:solidFill>
              </a:rPr>
              <a:t>Jun-17 (approximately $3,800 per individual on a monthly basis). </a:t>
            </a:r>
            <a:r>
              <a:rPr lang="en-US" dirty="0">
                <a:solidFill>
                  <a:schemeClr val="tx1"/>
                </a:solidFill>
              </a:rPr>
              <a:t>Upon closure, t</a:t>
            </a:r>
            <a:r>
              <a:rPr lang="en-US" b="0" dirty="0">
                <a:solidFill>
                  <a:schemeClr val="tx1"/>
                </a:solidFill>
              </a:rPr>
              <a:t>wo individuals transferred to host homes contracted by the Company and the other two individuals no longer receive any services. </a:t>
            </a:r>
            <a:r>
              <a:rPr lang="en-US" dirty="0">
                <a:solidFill>
                  <a:schemeClr val="tx1"/>
                </a:solidFill>
              </a:rPr>
              <a:t>As such, t</a:t>
            </a:r>
            <a:r>
              <a:rPr lang="en-US" b="0" dirty="0">
                <a:solidFill>
                  <a:schemeClr val="tx1"/>
                </a:solidFill>
              </a:rPr>
              <a:t>he adjustment </a:t>
            </a:r>
            <a:r>
              <a:rPr lang="en-US" dirty="0">
                <a:solidFill>
                  <a:schemeClr val="tx1"/>
                </a:solidFill>
              </a:rPr>
              <a:t>eliminates</a:t>
            </a:r>
            <a:r>
              <a:rPr lang="en-US" b="0" dirty="0">
                <a:solidFill>
                  <a:schemeClr val="tx1"/>
                </a:solidFill>
              </a:rPr>
              <a:t> 50% of the location’s revenue and variable costs (i.e. payroll). All other operating costs (i.e. rent and utilities) are eliminated.</a:t>
            </a:r>
          </a:p>
          <a:p>
            <a:pPr marL="350838" lvl="2" indent="-120650" algn="just">
              <a:buClrTx/>
              <a:buFont typeface="Wingdings" panose="05000000000000000000" pitchFamily="2" charset="2"/>
              <a:buChar char="§"/>
            </a:pPr>
            <a:r>
              <a:rPr lang="en-US" b="1" dirty="0">
                <a:solidFill>
                  <a:schemeClr val="tx1"/>
                </a:solidFill>
              </a:rPr>
              <a:t>Home 8</a:t>
            </a:r>
            <a:r>
              <a:rPr lang="en-US" dirty="0">
                <a:solidFill>
                  <a:schemeClr val="tx1"/>
                </a:solidFill>
              </a:rPr>
              <a:t> </a:t>
            </a:r>
            <a:r>
              <a:rPr lang="en-US" b="1" dirty="0">
                <a:solidFill>
                  <a:schemeClr val="tx1"/>
                </a:solidFill>
              </a:rPr>
              <a:t>(closed in Apr-19): </a:t>
            </a:r>
            <a:r>
              <a:rPr lang="en-US" b="0" dirty="0">
                <a:solidFill>
                  <a:schemeClr val="tx1"/>
                </a:solidFill>
              </a:rPr>
              <a:t>This location provided services to four individuals as of Apr-19. Upon closure, all four individuals transferred to other homes within the Company. This adjustment eliminates fixed </a:t>
            </a:r>
            <a:r>
              <a:rPr lang="en-US" b="0" dirty="0" smtClean="0">
                <a:solidFill>
                  <a:schemeClr val="tx1"/>
                </a:solidFill>
              </a:rPr>
              <a:t>costs (primarily rent and utilities) </a:t>
            </a:r>
            <a:r>
              <a:rPr lang="en-US" b="0" dirty="0">
                <a:solidFill>
                  <a:schemeClr val="tx1"/>
                </a:solidFill>
              </a:rPr>
              <a:t>incurred in Home 8 as the revenue and corresponding variable costs transferred to other locations</a:t>
            </a:r>
            <a:r>
              <a:rPr lang="en-US" dirty="0">
                <a:solidFill>
                  <a:schemeClr val="tx1"/>
                </a:solidFill>
              </a:rPr>
              <a:t> (i.e. Home 13, 6, and 10).</a:t>
            </a:r>
            <a:endParaRPr lang="en-US" b="0" dirty="0">
              <a:solidFill>
                <a:schemeClr val="tx1"/>
              </a:solidFill>
            </a:endParaRPr>
          </a:p>
          <a:p>
            <a:pPr marL="350838" lvl="2" indent="-120650" algn="just">
              <a:buClrTx/>
              <a:buFont typeface="Wingdings" panose="05000000000000000000" pitchFamily="2" charset="2"/>
              <a:buChar char="§"/>
            </a:pPr>
            <a:r>
              <a:rPr lang="en-US" b="1" dirty="0">
                <a:solidFill>
                  <a:schemeClr val="tx1"/>
                </a:solidFill>
              </a:rPr>
              <a:t>Wilkes Center</a:t>
            </a:r>
            <a:r>
              <a:rPr lang="en-US" dirty="0">
                <a:solidFill>
                  <a:schemeClr val="tx1"/>
                </a:solidFill>
              </a:rPr>
              <a:t> </a:t>
            </a:r>
            <a:r>
              <a:rPr lang="en-US" b="1" dirty="0">
                <a:solidFill>
                  <a:schemeClr val="tx1"/>
                </a:solidFill>
              </a:rPr>
              <a:t>(closed in Mar-17): </a:t>
            </a:r>
            <a:r>
              <a:rPr lang="en-US" b="0" dirty="0">
                <a:solidFill>
                  <a:schemeClr val="tx1"/>
                </a:solidFill>
              </a:rPr>
              <a:t>Upon closure, all members moved to the Thomson Center location. This adjustment reverses the fixed </a:t>
            </a:r>
            <a:r>
              <a:rPr lang="en-US" dirty="0">
                <a:solidFill>
                  <a:schemeClr val="tx1"/>
                </a:solidFill>
              </a:rPr>
              <a:t>costs (primarily rent and utilities) </a:t>
            </a:r>
            <a:r>
              <a:rPr lang="en-US" b="0" dirty="0">
                <a:solidFill>
                  <a:schemeClr val="tx1"/>
                </a:solidFill>
              </a:rPr>
              <a:t>incurred in Wilkes Center as the revenue and corresponding variable costs transferred to Thomson Center.</a:t>
            </a:r>
          </a:p>
          <a:p>
            <a:pPr marL="227013" lvl="2" indent="0" algn="just">
              <a:buNone/>
            </a:pPr>
            <a:r>
              <a:rPr lang="en-US" dirty="0">
                <a:solidFill>
                  <a:schemeClr val="tx1"/>
                </a:solidFill>
              </a:rPr>
              <a:t>Please see the table below for further details.</a:t>
            </a:r>
          </a:p>
          <a:p>
            <a:pPr lvl="2" indent="0" algn="just">
              <a:buNone/>
            </a:pPr>
            <a:endParaRPr lang="en-US" b="1" dirty="0">
              <a:solidFill>
                <a:srgbClr val="FF0000"/>
              </a:solidFill>
            </a:endParaRPr>
          </a:p>
          <a:p>
            <a:pPr lvl="2" indent="0" algn="just">
              <a:buNone/>
            </a:pPr>
            <a:endParaRPr lang="en-US" b="1" dirty="0">
              <a:solidFill>
                <a:srgbClr val="FF0000"/>
              </a:solidFill>
            </a:endParaRPr>
          </a:p>
          <a:p>
            <a:pPr lvl="2" indent="0" algn="just">
              <a:buNone/>
            </a:pPr>
            <a:endParaRPr lang="en-US" b="1" dirty="0">
              <a:solidFill>
                <a:srgbClr val="FF0000"/>
              </a:solidFill>
            </a:endParaRPr>
          </a:p>
          <a:p>
            <a:pPr lvl="2" indent="0" algn="just">
              <a:buNone/>
            </a:pPr>
            <a:endParaRPr lang="en-US" b="1" dirty="0">
              <a:solidFill>
                <a:srgbClr val="FF0000"/>
              </a:solidFill>
            </a:endParaRPr>
          </a:p>
          <a:p>
            <a:pPr lvl="2" indent="0" algn="just">
              <a:buNone/>
            </a:pPr>
            <a:endParaRPr lang="en-US" b="1" dirty="0">
              <a:solidFill>
                <a:srgbClr val="FF0000"/>
              </a:solidFill>
            </a:endParaRPr>
          </a:p>
          <a:p>
            <a:pPr lvl="2" indent="0" algn="just">
              <a:buNone/>
            </a:pPr>
            <a:endParaRPr lang="en-US" dirty="0">
              <a:solidFill>
                <a:schemeClr val="tx1"/>
              </a:solidFill>
            </a:endParaRPr>
          </a:p>
          <a:p>
            <a:pPr lvl="1" algn="just"/>
            <a:endParaRPr lang="en-US" b="1" dirty="0">
              <a:solidFill>
                <a:schemeClr val="tx1"/>
              </a:solidFill>
            </a:endParaRPr>
          </a:p>
        </p:txBody>
      </p:sp>
      <p:sp>
        <p:nvSpPr>
          <p:cNvPr id="10" name="Rectangle 9"/>
          <p:cNvSpPr/>
          <p:nvPr/>
        </p:nvSpPr>
        <p:spPr>
          <a:xfrm>
            <a:off x="4044018" y="5717063"/>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15" name="Title 3"/>
          <p:cNvSpPr>
            <a:spLocks noGrp="1"/>
          </p:cNvSpPr>
          <p:nvPr>
            <p:ph type="title"/>
          </p:nvPr>
        </p:nvSpPr>
        <p:spPr>
          <a:xfrm>
            <a:off x="431800" y="480476"/>
            <a:ext cx="8280400" cy="734400"/>
          </a:xfrm>
        </p:spPr>
        <p:txBody>
          <a:bodyPr/>
          <a:lstStyle/>
          <a:p>
            <a:r>
              <a:rPr lang="en-US" dirty="0"/>
              <a:t>Quality of earnings </a:t>
            </a:r>
            <a:r>
              <a:rPr lang="en-US" dirty="0" smtClean="0"/>
              <a:t>(6) </a:t>
            </a:r>
            <a:r>
              <a:rPr lang="en-US" dirty="0"/>
              <a:t>– </a:t>
            </a:r>
            <a:r>
              <a:rPr lang="en-US" i="1" dirty="0"/>
              <a:t>Potential adjustments</a:t>
            </a:r>
          </a:p>
        </p:txBody>
      </p:sp>
      <p:sp>
        <p:nvSpPr>
          <p:cNvPr id="16"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pic>
        <p:nvPicPr>
          <p:cNvPr id="2" name="Picture 1"/>
          <p:cNvPicPr>
            <a:picLocks noChangeAspect="1"/>
          </p:cNvPicPr>
          <p:nvPr>
            <p:custDataLst>
              <p:tags r:id="rId2"/>
            </p:custDataLst>
          </p:nvPr>
        </p:nvPicPr>
        <p:blipFill>
          <a:blip r:embed="rId5"/>
          <a:stretch>
            <a:fillRect/>
          </a:stretch>
        </p:blipFill>
        <p:spPr>
          <a:xfrm>
            <a:off x="4092116" y="4303863"/>
            <a:ext cx="3740669" cy="1404574"/>
          </a:xfrm>
          <a:prstGeom prst="rect">
            <a:avLst/>
          </a:prstGeom>
        </p:spPr>
      </p:pic>
      <p:sp>
        <p:nvSpPr>
          <p:cNvPr id="14" name="Rectangle 13"/>
          <p:cNvSpPr/>
          <p:nvPr/>
        </p:nvSpPr>
        <p:spPr>
          <a:xfrm>
            <a:off x="357573" y="4967118"/>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pic>
        <p:nvPicPr>
          <p:cNvPr id="17" name="Picture 16"/>
          <p:cNvPicPr>
            <a:picLocks noChangeAspect="1"/>
          </p:cNvPicPr>
          <p:nvPr>
            <p:custDataLst>
              <p:tags r:id="rId3"/>
            </p:custDataLst>
          </p:nvPr>
        </p:nvPicPr>
        <p:blipFill>
          <a:blip r:embed="rId6"/>
          <a:stretch>
            <a:fillRect/>
          </a:stretch>
        </p:blipFill>
        <p:spPr>
          <a:xfrm>
            <a:off x="431802" y="1214877"/>
            <a:ext cx="2830847" cy="3754962"/>
          </a:xfrm>
          <a:prstGeom prst="rect">
            <a:avLst/>
          </a:prstGeom>
        </p:spPr>
      </p:pic>
    </p:spTree>
    <p:extLst>
      <p:ext uri="{BB962C8B-B14F-4D97-AF65-F5344CB8AC3E}">
        <p14:creationId xmlns:p14="http://schemas.microsoft.com/office/powerpoint/2010/main" val="12626242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3871784" y="1214876"/>
            <a:ext cx="4775066" cy="4582800"/>
          </a:xfrm>
        </p:spPr>
        <p:txBody>
          <a:bodyPr/>
          <a:lstStyle/>
          <a:p>
            <a:pPr algn="just"/>
            <a:r>
              <a:rPr lang="en-US" dirty="0"/>
              <a:t>Potential </a:t>
            </a:r>
            <a:r>
              <a:rPr lang="en-US" dirty="0" smtClean="0"/>
              <a:t>adjustments – Non-recurring </a:t>
            </a:r>
            <a:r>
              <a:rPr lang="en-US" dirty="0"/>
              <a:t>(continued):</a:t>
            </a:r>
          </a:p>
          <a:p>
            <a:pPr marL="228600" indent="-228600" algn="just">
              <a:buFont typeface="+mj-lt"/>
              <a:buAutoNum type="arabicPeriod" startAt="8"/>
            </a:pPr>
            <a:r>
              <a:rPr lang="en-US" dirty="0" smtClean="0">
                <a:solidFill>
                  <a:schemeClr val="tx1"/>
                </a:solidFill>
              </a:rPr>
              <a:t>Participant payroll:</a:t>
            </a:r>
            <a:r>
              <a:rPr lang="en-US" b="0" dirty="0" smtClean="0">
                <a:solidFill>
                  <a:schemeClr val="tx1"/>
                </a:solidFill>
              </a:rPr>
              <a:t> Under a State sanctioned program, the Company provides employment to its clients where they perform various miscellaneous tasks (e.g. washing cars, clean driveways, etc.). The Company pays participating clients for the employment and receives a fee from the State. As the program generates minor profit/losses, Management decided to discontinue it in FY20. As such, the adjustment eliminates all revenue and expenses related to the program from EBITDA. </a:t>
            </a:r>
            <a:endParaRPr lang="en-US" dirty="0" smtClean="0">
              <a:solidFill>
                <a:schemeClr val="tx1"/>
              </a:solidFill>
            </a:endParaRPr>
          </a:p>
          <a:p>
            <a:pPr marL="228600" indent="-228600" algn="just">
              <a:buFont typeface="+mj-lt"/>
              <a:buAutoNum type="arabicPeriod" startAt="8"/>
            </a:pPr>
            <a:r>
              <a:rPr lang="en-US" dirty="0" smtClean="0">
                <a:solidFill>
                  <a:schemeClr val="tx1"/>
                </a:solidFill>
              </a:rPr>
              <a:t>Lawsuit </a:t>
            </a:r>
            <a:r>
              <a:rPr lang="en-US" dirty="0">
                <a:solidFill>
                  <a:schemeClr val="tx1"/>
                </a:solidFill>
              </a:rPr>
              <a:t>settlement: </a:t>
            </a:r>
            <a:r>
              <a:rPr lang="en-US" b="0" dirty="0">
                <a:solidFill>
                  <a:schemeClr val="tx1"/>
                </a:solidFill>
              </a:rPr>
              <a:t>In FY17, the Company incurred legal and settlement fees relating to a lawsuit filed against </a:t>
            </a:r>
            <a:r>
              <a:rPr lang="en-US" b="0" dirty="0" smtClean="0">
                <a:solidFill>
                  <a:schemeClr val="tx1"/>
                </a:solidFill>
              </a:rPr>
              <a:t>the company by </a:t>
            </a:r>
            <a:r>
              <a:rPr lang="en-US" b="0" dirty="0">
                <a:solidFill>
                  <a:schemeClr val="tx1"/>
                </a:solidFill>
              </a:rPr>
              <a:t>a former employee. </a:t>
            </a:r>
            <a:r>
              <a:rPr lang="en-US" b="0" dirty="0" smtClean="0">
                <a:solidFill>
                  <a:schemeClr val="tx1"/>
                </a:solidFill>
              </a:rPr>
              <a:t>Management represents </a:t>
            </a:r>
            <a:r>
              <a:rPr lang="en-US" b="0" dirty="0">
                <a:solidFill>
                  <a:schemeClr val="tx1"/>
                </a:solidFill>
              </a:rPr>
              <a:t>these costs are </a:t>
            </a:r>
            <a:r>
              <a:rPr lang="en-US" b="0" dirty="0" smtClean="0">
                <a:solidFill>
                  <a:schemeClr val="tx1"/>
                </a:solidFill>
              </a:rPr>
              <a:t>non-recurring, as such they </a:t>
            </a:r>
            <a:r>
              <a:rPr lang="en-US" b="0" dirty="0">
                <a:solidFill>
                  <a:schemeClr val="tx1"/>
                </a:solidFill>
              </a:rPr>
              <a:t>are eliminated from EBITDA. As of Dec-19, Management represents there are no pending legal claims</a:t>
            </a:r>
            <a:r>
              <a:rPr lang="en-US" b="0" dirty="0" smtClean="0">
                <a:solidFill>
                  <a:schemeClr val="tx1"/>
                </a:solidFill>
              </a:rPr>
              <a:t>.</a:t>
            </a:r>
            <a:endParaRPr lang="en-US" b="0" dirty="0">
              <a:solidFill>
                <a:schemeClr val="tx1"/>
              </a:solidFill>
            </a:endParaRPr>
          </a:p>
        </p:txBody>
      </p:sp>
      <p:sp>
        <p:nvSpPr>
          <p:cNvPr id="14" name="Title 3"/>
          <p:cNvSpPr>
            <a:spLocks noGrp="1"/>
          </p:cNvSpPr>
          <p:nvPr>
            <p:ph type="title"/>
          </p:nvPr>
        </p:nvSpPr>
        <p:spPr>
          <a:xfrm>
            <a:off x="431800" y="480476"/>
            <a:ext cx="8280400" cy="734400"/>
          </a:xfrm>
        </p:spPr>
        <p:txBody>
          <a:bodyPr/>
          <a:lstStyle/>
          <a:p>
            <a:r>
              <a:rPr lang="en-US" dirty="0"/>
              <a:t>Quality of earnings </a:t>
            </a:r>
            <a:r>
              <a:rPr lang="en-US" dirty="0" smtClean="0"/>
              <a:t>(7) </a:t>
            </a:r>
            <a:r>
              <a:rPr lang="en-US" dirty="0"/>
              <a:t>– </a:t>
            </a:r>
            <a:r>
              <a:rPr lang="en-US" i="1" dirty="0"/>
              <a:t>Potential adjustments</a:t>
            </a:r>
          </a:p>
        </p:txBody>
      </p:sp>
      <p:sp>
        <p:nvSpPr>
          <p:cNvPr id="15"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sp>
        <p:nvSpPr>
          <p:cNvPr id="9" name="Rectangle 8"/>
          <p:cNvSpPr/>
          <p:nvPr/>
        </p:nvSpPr>
        <p:spPr>
          <a:xfrm>
            <a:off x="357573" y="4967118"/>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pic>
        <p:nvPicPr>
          <p:cNvPr id="12" name="Picture 11"/>
          <p:cNvPicPr>
            <a:picLocks noChangeAspect="1"/>
          </p:cNvPicPr>
          <p:nvPr>
            <p:custDataLst>
              <p:tags r:id="rId2"/>
            </p:custDataLst>
          </p:nvPr>
        </p:nvPicPr>
        <p:blipFill>
          <a:blip r:embed="rId4"/>
          <a:stretch>
            <a:fillRect/>
          </a:stretch>
        </p:blipFill>
        <p:spPr>
          <a:xfrm>
            <a:off x="431802" y="1214877"/>
            <a:ext cx="2830847" cy="3754962"/>
          </a:xfrm>
          <a:prstGeom prst="rect">
            <a:avLst/>
          </a:prstGeom>
        </p:spPr>
      </p:pic>
    </p:spTree>
    <p:extLst>
      <p:ext uri="{BB962C8B-B14F-4D97-AF65-F5344CB8AC3E}">
        <p14:creationId xmlns:p14="http://schemas.microsoft.com/office/powerpoint/2010/main" val="29970728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3871784" y="1214876"/>
            <a:ext cx="4775066" cy="4582800"/>
          </a:xfrm>
        </p:spPr>
        <p:txBody>
          <a:bodyPr/>
          <a:lstStyle/>
          <a:p>
            <a:pPr algn="just"/>
            <a:r>
              <a:rPr lang="en-US" dirty="0"/>
              <a:t>Potential adjustments –</a:t>
            </a:r>
            <a:r>
              <a:rPr lang="en-US" dirty="0" smtClean="0"/>
              <a:t> Accounting </a:t>
            </a:r>
            <a:r>
              <a:rPr lang="en-US" dirty="0"/>
              <a:t>(continued):</a:t>
            </a:r>
          </a:p>
          <a:p>
            <a:pPr marL="228600" indent="-228600" algn="just">
              <a:buFont typeface="+mj-lt"/>
              <a:buAutoNum type="arabicPeriod" startAt="10"/>
            </a:pPr>
            <a:r>
              <a:rPr lang="en-US" dirty="0" smtClean="0">
                <a:solidFill>
                  <a:schemeClr val="tx1"/>
                </a:solidFill>
              </a:rPr>
              <a:t>Revenue </a:t>
            </a:r>
            <a:r>
              <a:rPr lang="en-US" dirty="0">
                <a:solidFill>
                  <a:schemeClr val="tx1"/>
                </a:solidFill>
              </a:rPr>
              <a:t>reclassification: </a:t>
            </a:r>
            <a:r>
              <a:rPr lang="en-US" b="0" dirty="0">
                <a:solidFill>
                  <a:schemeClr val="tx1"/>
                </a:solidFill>
              </a:rPr>
              <a:t>The Company inadvertently recorded revenue relating to FY18 during Jan-19. As a result, this adjustment reclassifies revenue earned to the appropriate months in FY18 from Jan-19. </a:t>
            </a:r>
          </a:p>
          <a:p>
            <a:pPr marL="228600" indent="-228600" algn="just">
              <a:buFont typeface="+mj-lt"/>
              <a:buAutoNum type="arabicPeriod" startAt="10"/>
            </a:pPr>
            <a:r>
              <a:rPr lang="en-US" dirty="0" smtClean="0">
                <a:solidFill>
                  <a:schemeClr val="tx1"/>
                </a:solidFill>
              </a:rPr>
              <a:t>Workers’ compensation reclassification:</a:t>
            </a:r>
            <a:r>
              <a:rPr lang="en-US" b="0" dirty="0" smtClean="0">
                <a:solidFill>
                  <a:schemeClr val="tx1"/>
                </a:solidFill>
              </a:rPr>
              <a:t> </a:t>
            </a:r>
            <a:r>
              <a:rPr lang="en-US" b="0" dirty="0">
                <a:solidFill>
                  <a:schemeClr val="tx1"/>
                </a:solidFill>
              </a:rPr>
              <a:t>The Company inadvertently recorded </a:t>
            </a:r>
            <a:r>
              <a:rPr lang="en-US" b="0" dirty="0" smtClean="0">
                <a:solidFill>
                  <a:schemeClr val="tx1"/>
                </a:solidFill>
              </a:rPr>
              <a:t>workers’ compensation expense </a:t>
            </a:r>
            <a:r>
              <a:rPr lang="en-US" b="0" dirty="0">
                <a:solidFill>
                  <a:schemeClr val="tx1"/>
                </a:solidFill>
              </a:rPr>
              <a:t>relating to </a:t>
            </a:r>
            <a:r>
              <a:rPr lang="en-US" b="0" dirty="0" smtClean="0">
                <a:solidFill>
                  <a:schemeClr val="tx1"/>
                </a:solidFill>
              </a:rPr>
              <a:t>FY18 </a:t>
            </a:r>
            <a:r>
              <a:rPr lang="en-US" b="0" dirty="0">
                <a:solidFill>
                  <a:schemeClr val="tx1"/>
                </a:solidFill>
              </a:rPr>
              <a:t>during </a:t>
            </a:r>
            <a:r>
              <a:rPr lang="en-US" b="0" dirty="0" smtClean="0">
                <a:solidFill>
                  <a:schemeClr val="tx1"/>
                </a:solidFill>
              </a:rPr>
              <a:t>FY19. </a:t>
            </a:r>
            <a:r>
              <a:rPr lang="en-US" b="0" dirty="0">
                <a:solidFill>
                  <a:schemeClr val="tx1"/>
                </a:solidFill>
              </a:rPr>
              <a:t>As a result, this adjustment reclassifies </a:t>
            </a:r>
            <a:r>
              <a:rPr lang="en-US" b="0" dirty="0" smtClean="0">
                <a:solidFill>
                  <a:schemeClr val="tx1"/>
                </a:solidFill>
              </a:rPr>
              <a:t>the expense to FY18 </a:t>
            </a:r>
            <a:r>
              <a:rPr lang="en-US" b="0" dirty="0">
                <a:solidFill>
                  <a:schemeClr val="tx1"/>
                </a:solidFill>
              </a:rPr>
              <a:t>from </a:t>
            </a:r>
            <a:r>
              <a:rPr lang="en-US" b="0" dirty="0" smtClean="0">
                <a:solidFill>
                  <a:schemeClr val="tx1"/>
                </a:solidFill>
              </a:rPr>
              <a:t>FY19. </a:t>
            </a:r>
            <a:endParaRPr lang="en-US" b="0" dirty="0">
              <a:solidFill>
                <a:schemeClr val="tx1"/>
              </a:solidFill>
            </a:endParaRPr>
          </a:p>
          <a:p>
            <a:pPr marL="228600" indent="-228600" algn="just">
              <a:buFont typeface="+mj-lt"/>
              <a:buAutoNum type="arabicPeriod" startAt="10"/>
            </a:pPr>
            <a:r>
              <a:rPr lang="en-US" dirty="0" smtClean="0">
                <a:solidFill>
                  <a:schemeClr val="tx1"/>
                </a:solidFill>
              </a:rPr>
              <a:t>Tax </a:t>
            </a:r>
            <a:r>
              <a:rPr lang="en-US" dirty="0">
                <a:solidFill>
                  <a:schemeClr val="tx1"/>
                </a:solidFill>
              </a:rPr>
              <a:t>payments: </a:t>
            </a:r>
            <a:r>
              <a:rPr lang="en-US" b="0" dirty="0" smtClean="0">
                <a:solidFill>
                  <a:schemeClr val="tx1"/>
                </a:solidFill>
              </a:rPr>
              <a:t>Management represents the Company had cash flow issues during FY16 and did not pay payroll taxes of $69,000. The Company </a:t>
            </a:r>
            <a:r>
              <a:rPr lang="en-US" b="0" dirty="0">
                <a:solidFill>
                  <a:schemeClr val="tx1"/>
                </a:solidFill>
              </a:rPr>
              <a:t>paid </a:t>
            </a:r>
            <a:r>
              <a:rPr lang="en-US" b="0" dirty="0" smtClean="0">
                <a:solidFill>
                  <a:schemeClr val="tx1"/>
                </a:solidFill>
              </a:rPr>
              <a:t>this outstanding balance during </a:t>
            </a:r>
            <a:r>
              <a:rPr lang="en-US" b="0" dirty="0">
                <a:solidFill>
                  <a:schemeClr val="tx1"/>
                </a:solidFill>
              </a:rPr>
              <a:t>FY18 and recorded the expense in </a:t>
            </a:r>
            <a:r>
              <a:rPr lang="en-US" b="0" dirty="0" smtClean="0">
                <a:solidFill>
                  <a:schemeClr val="tx1"/>
                </a:solidFill>
              </a:rPr>
              <a:t>the same year. </a:t>
            </a:r>
            <a:r>
              <a:rPr lang="en-US" b="0" dirty="0">
                <a:solidFill>
                  <a:schemeClr val="tx1"/>
                </a:solidFill>
              </a:rPr>
              <a:t>As such, this out-of-period expense is reallocated to FY16.</a:t>
            </a:r>
          </a:p>
          <a:p>
            <a:pPr marL="228600" indent="-228600" algn="just">
              <a:buFont typeface="+mj-lt"/>
              <a:buAutoNum type="arabicPeriod" startAt="10"/>
            </a:pPr>
            <a:r>
              <a:rPr lang="en-US" dirty="0">
                <a:solidFill>
                  <a:schemeClr val="tx1"/>
                </a:solidFill>
              </a:rPr>
              <a:t>Other: </a:t>
            </a:r>
            <a:r>
              <a:rPr lang="en-US" b="0" dirty="0">
                <a:solidFill>
                  <a:schemeClr val="tx1"/>
                </a:solidFill>
              </a:rPr>
              <a:t>Consists of two adjustments which include: (i) reversal of intercompany transactions between the Business that do not eliminate when combining divisions within the transaction perimeter (i.e. $85,000 in FY17), and (ii) inclusion of utilities expense recorded outside of the transaction perimeter that relate to the Company’s operations (approximately $</a:t>
            </a:r>
            <a:r>
              <a:rPr lang="en-US" b="0" dirty="0" smtClean="0">
                <a:solidFill>
                  <a:schemeClr val="tx1"/>
                </a:solidFill>
              </a:rPr>
              <a:t>4,000 in FY19). As at the date of this report, Management have not provided details regarding the nature of the </a:t>
            </a:r>
            <a:r>
              <a:rPr lang="en-US" b="0" smtClean="0">
                <a:solidFill>
                  <a:schemeClr val="tx1"/>
                </a:solidFill>
              </a:rPr>
              <a:t>intercompany transactions. </a:t>
            </a:r>
            <a:endParaRPr lang="en-US" b="0" dirty="0">
              <a:solidFill>
                <a:schemeClr val="tx1"/>
              </a:solidFill>
            </a:endParaRPr>
          </a:p>
          <a:p>
            <a:pPr marL="228600" indent="-228600" algn="just">
              <a:buFont typeface="+mj-lt"/>
              <a:buAutoNum type="arabicPeriod" startAt="10"/>
            </a:pPr>
            <a:r>
              <a:rPr lang="en-US" dirty="0">
                <a:solidFill>
                  <a:schemeClr val="tx1"/>
                </a:solidFill>
              </a:rPr>
              <a:t>Payroll paid via related party:</a:t>
            </a:r>
            <a:r>
              <a:rPr lang="en-US" b="0" dirty="0">
                <a:solidFill>
                  <a:schemeClr val="tx1"/>
                </a:solidFill>
              </a:rPr>
              <a:t> Management represents that in FY17, certain employees of the Company were paid via a related party </a:t>
            </a:r>
            <a:r>
              <a:rPr lang="en-US" b="0" dirty="0" smtClean="0">
                <a:solidFill>
                  <a:schemeClr val="tx1"/>
                </a:solidFill>
              </a:rPr>
              <a:t>entity. These expenses are recorded </a:t>
            </a:r>
            <a:r>
              <a:rPr lang="en-US" b="0" dirty="0">
                <a:solidFill>
                  <a:schemeClr val="tx1"/>
                </a:solidFill>
              </a:rPr>
              <a:t>outside of the transaction perimeter. As a result, FY17 EBITDA may not reflect the payroll expenses of all employees of the Company. As at the date of this report, supporting information confirming the related payroll expenses of these individuals is outstanding and as such, the adjustment is not quantifiable.</a:t>
            </a:r>
            <a:endParaRPr lang="en-US" dirty="0">
              <a:solidFill>
                <a:schemeClr val="tx1"/>
              </a:solidFill>
            </a:endParaRPr>
          </a:p>
        </p:txBody>
      </p:sp>
      <p:sp>
        <p:nvSpPr>
          <p:cNvPr id="14" name="Title 3"/>
          <p:cNvSpPr>
            <a:spLocks noGrp="1"/>
          </p:cNvSpPr>
          <p:nvPr>
            <p:ph type="title"/>
          </p:nvPr>
        </p:nvSpPr>
        <p:spPr>
          <a:xfrm>
            <a:off x="431800" y="480476"/>
            <a:ext cx="8280400" cy="734400"/>
          </a:xfrm>
        </p:spPr>
        <p:txBody>
          <a:bodyPr/>
          <a:lstStyle/>
          <a:p>
            <a:r>
              <a:rPr lang="en-US" dirty="0"/>
              <a:t>Quality of earnings </a:t>
            </a:r>
            <a:r>
              <a:rPr lang="en-US" dirty="0" smtClean="0"/>
              <a:t>(8) </a:t>
            </a:r>
            <a:r>
              <a:rPr lang="en-US" dirty="0"/>
              <a:t>– </a:t>
            </a:r>
            <a:r>
              <a:rPr lang="en-US" i="1" dirty="0"/>
              <a:t>Potential adjustments</a:t>
            </a:r>
          </a:p>
        </p:txBody>
      </p:sp>
      <p:sp>
        <p:nvSpPr>
          <p:cNvPr id="15"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pic>
        <p:nvPicPr>
          <p:cNvPr id="5" name="Picture 4"/>
          <p:cNvPicPr>
            <a:picLocks noChangeAspect="1"/>
          </p:cNvPicPr>
          <p:nvPr>
            <p:custDataLst>
              <p:tags r:id="rId2"/>
            </p:custDataLst>
          </p:nvPr>
        </p:nvPicPr>
        <p:blipFill>
          <a:blip r:embed="rId4"/>
          <a:stretch>
            <a:fillRect/>
          </a:stretch>
        </p:blipFill>
        <p:spPr>
          <a:xfrm>
            <a:off x="429402" y="1216840"/>
            <a:ext cx="2830847" cy="3672463"/>
          </a:xfrm>
          <a:prstGeom prst="rect">
            <a:avLst/>
          </a:prstGeom>
        </p:spPr>
      </p:pic>
      <p:sp>
        <p:nvSpPr>
          <p:cNvPr id="11" name="Rectangle 10"/>
          <p:cNvSpPr/>
          <p:nvPr/>
        </p:nvSpPr>
        <p:spPr>
          <a:xfrm>
            <a:off x="369626" y="4881511"/>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Tree>
    <p:extLst>
      <p:ext uri="{BB962C8B-B14F-4D97-AF65-F5344CB8AC3E}">
        <p14:creationId xmlns:p14="http://schemas.microsoft.com/office/powerpoint/2010/main" val="10728905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3871784" y="1214876"/>
            <a:ext cx="4775066" cy="4582800"/>
          </a:xfrm>
        </p:spPr>
        <p:txBody>
          <a:bodyPr/>
          <a:lstStyle/>
          <a:p>
            <a:pPr algn="just"/>
            <a:r>
              <a:rPr lang="en-US" dirty="0"/>
              <a:t>Potential adjustments </a:t>
            </a:r>
            <a:r>
              <a:rPr lang="en-US" dirty="0" smtClean="0"/>
              <a:t>– Run-rate growth </a:t>
            </a:r>
            <a:r>
              <a:rPr lang="en-US" dirty="0"/>
              <a:t>(continued):</a:t>
            </a:r>
          </a:p>
          <a:p>
            <a:pPr marL="228600" indent="-228600" algn="just">
              <a:buFont typeface="+mj-lt"/>
              <a:buAutoNum type="arabicPeriod" startAt="15"/>
            </a:pPr>
            <a:r>
              <a:rPr lang="en-US" dirty="0">
                <a:solidFill>
                  <a:schemeClr val="tx1"/>
                </a:solidFill>
              </a:rPr>
              <a:t>New </a:t>
            </a:r>
            <a:r>
              <a:rPr lang="en-US" dirty="0" smtClean="0">
                <a:solidFill>
                  <a:schemeClr val="tx1"/>
                </a:solidFill>
              </a:rPr>
              <a:t>locations:</a:t>
            </a:r>
            <a:r>
              <a:rPr lang="en-US" b="0" dirty="0" smtClean="0">
                <a:solidFill>
                  <a:schemeClr val="tx1"/>
                </a:solidFill>
              </a:rPr>
              <a:t> </a:t>
            </a:r>
            <a:r>
              <a:rPr lang="en-US" b="0" dirty="0">
                <a:solidFill>
                  <a:schemeClr val="tx1"/>
                </a:solidFill>
              </a:rPr>
              <a:t>During the respective periods, the Company opened nine additional homes, one center (day services) and 10 host homes. According to Management, new locations typically ramp up between 30 to 90 days. As such, this adjustment annualizes the run-rate revenue and EBITDA for each location (with start-up costs excluded), within the fiscal period it opened. The respective adjustment is determined as follows: </a:t>
            </a:r>
          </a:p>
          <a:p>
            <a:pPr algn="just"/>
            <a:endParaRPr lang="en-US" b="0" dirty="0">
              <a:solidFill>
                <a:schemeClr val="tx1"/>
              </a:solidFill>
            </a:endParaRPr>
          </a:p>
          <a:p>
            <a:pPr algn="just"/>
            <a:endParaRPr lang="en-US" b="0" dirty="0">
              <a:solidFill>
                <a:schemeClr val="tx1"/>
              </a:solidFill>
            </a:endParaRPr>
          </a:p>
          <a:p>
            <a:pPr algn="just"/>
            <a:endParaRPr lang="en-US" b="0" dirty="0">
              <a:solidFill>
                <a:schemeClr val="tx1"/>
              </a:solidFill>
            </a:endParaRPr>
          </a:p>
          <a:p>
            <a:pPr algn="just"/>
            <a:endParaRPr lang="en-US" b="0" dirty="0">
              <a:solidFill>
                <a:schemeClr val="tx1"/>
              </a:solidFill>
            </a:endParaRPr>
          </a:p>
          <a:p>
            <a:pPr algn="just"/>
            <a:endParaRPr lang="en-US" b="0" dirty="0">
              <a:solidFill>
                <a:schemeClr val="tx1"/>
              </a:solidFill>
            </a:endParaRPr>
          </a:p>
          <a:p>
            <a:pPr algn="just"/>
            <a:endParaRPr lang="en-US" b="0" dirty="0">
              <a:solidFill>
                <a:schemeClr val="tx1"/>
              </a:solidFill>
            </a:endParaRPr>
          </a:p>
          <a:p>
            <a:pPr marL="465138" lvl="2" indent="-236538" algn="just">
              <a:buClrTx/>
              <a:buFont typeface="+mj-lt"/>
              <a:buAutoNum type="romanLcPeriod"/>
            </a:pPr>
            <a:r>
              <a:rPr lang="en-US" b="1" dirty="0">
                <a:solidFill>
                  <a:schemeClr val="tx1"/>
                </a:solidFill>
              </a:rPr>
              <a:t>Homes </a:t>
            </a:r>
            <a:r>
              <a:rPr lang="en-US" b="1" dirty="0" smtClean="0">
                <a:solidFill>
                  <a:schemeClr val="tx1"/>
                </a:solidFill>
              </a:rPr>
              <a:t>opened </a:t>
            </a:r>
            <a:r>
              <a:rPr lang="en-US" b="1" dirty="0">
                <a:solidFill>
                  <a:schemeClr val="tx1"/>
                </a:solidFill>
              </a:rPr>
              <a:t>&lt; 60 days: </a:t>
            </a:r>
            <a:r>
              <a:rPr lang="en-US" dirty="0">
                <a:solidFill>
                  <a:schemeClr val="tx1"/>
                </a:solidFill>
              </a:rPr>
              <a:t>Represents locations open less than 60 days as at </a:t>
            </a:r>
            <a:r>
              <a:rPr lang="en-US" dirty="0" smtClean="0">
                <a:solidFill>
                  <a:schemeClr val="tx1"/>
                </a:solidFill>
              </a:rPr>
              <a:t>Dec-19 </a:t>
            </a:r>
            <a:r>
              <a:rPr lang="en-US" dirty="0">
                <a:solidFill>
                  <a:schemeClr val="tx1"/>
                </a:solidFill>
              </a:rPr>
              <a:t>and </a:t>
            </a:r>
            <a:r>
              <a:rPr lang="en-US" dirty="0" smtClean="0">
                <a:solidFill>
                  <a:schemeClr val="tx1"/>
                </a:solidFill>
              </a:rPr>
              <a:t>are not at maturity</a:t>
            </a:r>
            <a:r>
              <a:rPr lang="en-US" dirty="0">
                <a:solidFill>
                  <a:schemeClr val="tx1"/>
                </a:solidFill>
              </a:rPr>
              <a:t>. The adjustment is determined by using the lower of: (i) the average operating results of the Company’s </a:t>
            </a:r>
            <a:r>
              <a:rPr lang="en-US" dirty="0" smtClean="0">
                <a:solidFill>
                  <a:schemeClr val="tx1"/>
                </a:solidFill>
              </a:rPr>
              <a:t>fully running group portfolio</a:t>
            </a:r>
            <a:r>
              <a:rPr lang="en-US" dirty="0">
                <a:solidFill>
                  <a:schemeClr val="tx1"/>
                </a:solidFill>
              </a:rPr>
              <a:t>, and (ii) Management’s budget for each location.</a:t>
            </a:r>
          </a:p>
          <a:p>
            <a:pPr marL="644525" lvl="3" indent="-182563" algn="just">
              <a:buClrTx/>
              <a:buFont typeface="Wingdings" panose="05000000000000000000" pitchFamily="2" charset="2"/>
              <a:buChar char="§"/>
            </a:pPr>
            <a:r>
              <a:rPr lang="en-US" b="1" dirty="0">
                <a:solidFill>
                  <a:schemeClr val="tx1"/>
                </a:solidFill>
              </a:rPr>
              <a:t>Reversal of </a:t>
            </a:r>
            <a:r>
              <a:rPr lang="en-US" b="1" dirty="0" smtClean="0">
                <a:solidFill>
                  <a:schemeClr val="tx1"/>
                </a:solidFill>
              </a:rPr>
              <a:t>Management’s adjustment #1: </a:t>
            </a:r>
            <a:r>
              <a:rPr lang="en-US" dirty="0" smtClean="0">
                <a:solidFill>
                  <a:schemeClr val="tx1"/>
                </a:solidFill>
              </a:rPr>
              <a:t>This adjustment includes </a:t>
            </a:r>
            <a:r>
              <a:rPr lang="en-US" dirty="0">
                <a:solidFill>
                  <a:schemeClr val="tx1"/>
                </a:solidFill>
              </a:rPr>
              <a:t>a reversal of Management’s adjustment for Homes 14 and 15 as it </a:t>
            </a:r>
            <a:r>
              <a:rPr lang="en-US" dirty="0" smtClean="0">
                <a:solidFill>
                  <a:schemeClr val="tx1"/>
                </a:solidFill>
              </a:rPr>
              <a:t>is quantified </a:t>
            </a:r>
            <a:r>
              <a:rPr lang="en-US" dirty="0">
                <a:solidFill>
                  <a:schemeClr val="tx1"/>
                </a:solidFill>
              </a:rPr>
              <a:t>using preliminary estimates. </a:t>
            </a:r>
            <a:endParaRPr lang="en-US" b="1" dirty="0">
              <a:solidFill>
                <a:schemeClr val="tx1"/>
              </a:solidFill>
            </a:endParaRPr>
          </a:p>
          <a:p>
            <a:pPr marL="465138" lvl="2" indent="-236538" algn="just">
              <a:buClrTx/>
              <a:buFont typeface="+mj-lt"/>
              <a:buAutoNum type="romanLcPeriod"/>
            </a:pPr>
            <a:r>
              <a:rPr lang="en-US" b="1" dirty="0">
                <a:solidFill>
                  <a:schemeClr val="tx1"/>
                </a:solidFill>
              </a:rPr>
              <a:t>Homes opened &gt; 60 days, Host homes, and Williams (CLS):</a:t>
            </a:r>
            <a:r>
              <a:rPr lang="en-US" dirty="0">
                <a:solidFill>
                  <a:schemeClr val="tx1"/>
                </a:solidFill>
              </a:rPr>
              <a:t> Represents locations open greater than 60 days </a:t>
            </a:r>
            <a:r>
              <a:rPr lang="en-US" dirty="0" smtClean="0">
                <a:solidFill>
                  <a:schemeClr val="tx1"/>
                </a:solidFill>
              </a:rPr>
              <a:t>and are at maturity levels </a:t>
            </a:r>
            <a:r>
              <a:rPr lang="en-US" dirty="0">
                <a:solidFill>
                  <a:schemeClr val="tx1"/>
                </a:solidFill>
              </a:rPr>
              <a:t>as of </a:t>
            </a:r>
            <a:r>
              <a:rPr lang="en-US" dirty="0" smtClean="0">
                <a:solidFill>
                  <a:schemeClr val="tx1"/>
                </a:solidFill>
              </a:rPr>
              <a:t>Dec-19</a:t>
            </a:r>
            <a:r>
              <a:rPr lang="en-US" dirty="0">
                <a:solidFill>
                  <a:schemeClr val="tx1"/>
                </a:solidFill>
              </a:rPr>
              <a:t>. The adjustment is calculated by annualizing the latest three month average of operating results per location (which Management represents is at 100% occupancy). Furthermore, an average occupancy percentage based on the Company’s portfolio during the historical period is applied to </a:t>
            </a:r>
            <a:r>
              <a:rPr lang="en-US" dirty="0" smtClean="0">
                <a:solidFill>
                  <a:schemeClr val="tx1"/>
                </a:solidFill>
              </a:rPr>
              <a:t>the annualized </a:t>
            </a:r>
            <a:r>
              <a:rPr lang="en-US" dirty="0">
                <a:solidFill>
                  <a:schemeClr val="tx1"/>
                </a:solidFill>
              </a:rPr>
              <a:t>revenue. </a:t>
            </a:r>
          </a:p>
          <a:p>
            <a:pPr marL="228600" lvl="2" indent="0" algn="just">
              <a:buNone/>
            </a:pPr>
            <a:r>
              <a:rPr lang="en-US" dirty="0">
                <a:solidFill>
                  <a:schemeClr val="tx1"/>
                </a:solidFill>
              </a:rPr>
              <a:t>Please see the appendices for a continuity by location.</a:t>
            </a:r>
          </a:p>
        </p:txBody>
      </p:sp>
      <p:sp>
        <p:nvSpPr>
          <p:cNvPr id="10" name="Rectangle 9"/>
          <p:cNvSpPr/>
          <p:nvPr/>
        </p:nvSpPr>
        <p:spPr>
          <a:xfrm>
            <a:off x="4065493" y="3441394"/>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14" name="Rectangle 13"/>
          <p:cNvSpPr/>
          <p:nvPr/>
        </p:nvSpPr>
        <p:spPr>
          <a:xfrm>
            <a:off x="366450" y="4543852"/>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13" name="Title 3"/>
          <p:cNvSpPr>
            <a:spLocks noGrp="1"/>
          </p:cNvSpPr>
          <p:nvPr>
            <p:ph type="title"/>
          </p:nvPr>
        </p:nvSpPr>
        <p:spPr>
          <a:xfrm>
            <a:off x="431800" y="480476"/>
            <a:ext cx="8280400" cy="734400"/>
          </a:xfrm>
        </p:spPr>
        <p:txBody>
          <a:bodyPr/>
          <a:lstStyle/>
          <a:p>
            <a:r>
              <a:rPr lang="en-US" dirty="0"/>
              <a:t>Quality of earnings </a:t>
            </a:r>
            <a:r>
              <a:rPr lang="en-US" dirty="0" smtClean="0"/>
              <a:t>(</a:t>
            </a:r>
            <a:r>
              <a:rPr lang="en-US" dirty="0"/>
              <a:t>9</a:t>
            </a:r>
            <a:r>
              <a:rPr lang="en-US" dirty="0" smtClean="0"/>
              <a:t>) </a:t>
            </a:r>
            <a:r>
              <a:rPr lang="en-US" dirty="0"/>
              <a:t>– </a:t>
            </a:r>
            <a:r>
              <a:rPr lang="en-US" i="1" dirty="0"/>
              <a:t>Potential adjustments</a:t>
            </a:r>
          </a:p>
        </p:txBody>
      </p:sp>
      <p:sp>
        <p:nvSpPr>
          <p:cNvPr id="18"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pic>
        <p:nvPicPr>
          <p:cNvPr id="5" name="Picture 4"/>
          <p:cNvPicPr>
            <a:picLocks noChangeAspect="1"/>
          </p:cNvPicPr>
          <p:nvPr>
            <p:custDataLst>
              <p:tags r:id="rId2"/>
            </p:custDataLst>
          </p:nvPr>
        </p:nvPicPr>
        <p:blipFill>
          <a:blip r:embed="rId5"/>
          <a:stretch>
            <a:fillRect/>
          </a:stretch>
        </p:blipFill>
        <p:spPr>
          <a:xfrm>
            <a:off x="4114117" y="2330908"/>
            <a:ext cx="2548584" cy="1113132"/>
          </a:xfrm>
          <a:prstGeom prst="rect">
            <a:avLst/>
          </a:prstGeom>
        </p:spPr>
      </p:pic>
      <p:pic>
        <p:nvPicPr>
          <p:cNvPr id="4" name="Picture 3"/>
          <p:cNvPicPr>
            <a:picLocks noChangeAspect="1"/>
          </p:cNvPicPr>
          <p:nvPr>
            <p:custDataLst>
              <p:tags r:id="rId3"/>
            </p:custDataLst>
          </p:nvPr>
        </p:nvPicPr>
        <p:blipFill>
          <a:blip r:embed="rId6"/>
          <a:stretch>
            <a:fillRect/>
          </a:stretch>
        </p:blipFill>
        <p:spPr>
          <a:xfrm>
            <a:off x="431802" y="1216840"/>
            <a:ext cx="2830847" cy="3327467"/>
          </a:xfrm>
          <a:prstGeom prst="rect">
            <a:avLst/>
          </a:prstGeom>
        </p:spPr>
      </p:pic>
    </p:spTree>
    <p:extLst>
      <p:ext uri="{BB962C8B-B14F-4D97-AF65-F5344CB8AC3E}">
        <p14:creationId xmlns:p14="http://schemas.microsoft.com/office/powerpoint/2010/main" val="34742700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3871784" y="1214876"/>
            <a:ext cx="4766189" cy="4582800"/>
          </a:xfrm>
        </p:spPr>
        <p:txBody>
          <a:bodyPr/>
          <a:lstStyle/>
          <a:p>
            <a:pPr algn="just"/>
            <a:r>
              <a:rPr lang="en-US" dirty="0"/>
              <a:t>Potential </a:t>
            </a:r>
            <a:r>
              <a:rPr lang="en-US" dirty="0" smtClean="0"/>
              <a:t>adjustments </a:t>
            </a:r>
            <a:r>
              <a:rPr lang="en-US" dirty="0"/>
              <a:t>– </a:t>
            </a:r>
            <a:r>
              <a:rPr lang="en-US" dirty="0" smtClean="0"/>
              <a:t>Run-rate growth </a:t>
            </a:r>
            <a:r>
              <a:rPr lang="en-US" dirty="0"/>
              <a:t>(continued):</a:t>
            </a:r>
          </a:p>
          <a:p>
            <a:pPr marL="228600" indent="-228600" algn="just">
              <a:buFont typeface="+mj-lt"/>
              <a:buAutoNum type="arabicPeriod" startAt="16"/>
            </a:pPr>
            <a:r>
              <a:rPr lang="en-US" dirty="0" smtClean="0">
                <a:solidFill>
                  <a:schemeClr val="tx1"/>
                </a:solidFill>
              </a:rPr>
              <a:t>Day hab growth:</a:t>
            </a:r>
            <a:r>
              <a:rPr lang="en-US" b="0" dirty="0" smtClean="0">
                <a:solidFill>
                  <a:schemeClr val="tx1"/>
                </a:solidFill>
              </a:rPr>
              <a:t> </a:t>
            </a:r>
            <a:r>
              <a:rPr lang="en-US" b="0" dirty="0">
                <a:solidFill>
                  <a:schemeClr val="tx1"/>
                </a:solidFill>
              </a:rPr>
              <a:t>In May-19, 35 new clients moved into the Augusta center (day services) location as one of the Company’s competitors closed its operations. These individuals subsequently moved to the Downtown center, which opened in </a:t>
            </a:r>
            <a:r>
              <a:rPr lang="en-US" b="0" dirty="0" smtClean="0">
                <a:solidFill>
                  <a:schemeClr val="tx1"/>
                </a:solidFill>
              </a:rPr>
              <a:t>Sep-19 with  </a:t>
            </a:r>
            <a:r>
              <a:rPr lang="en-US" b="0" dirty="0">
                <a:solidFill>
                  <a:schemeClr val="tx1"/>
                </a:solidFill>
              </a:rPr>
              <a:t>a capacity of 45 individuals. As such, this adjustment consists of the following:</a:t>
            </a:r>
          </a:p>
          <a:p>
            <a:pPr marL="228600" indent="-228600" algn="just">
              <a:buFont typeface="+mj-lt"/>
              <a:buAutoNum type="arabicPeriod" startAt="16"/>
            </a:pPr>
            <a:endParaRPr lang="en-US" b="0" dirty="0">
              <a:solidFill>
                <a:schemeClr val="tx1"/>
              </a:solidFill>
            </a:endParaRPr>
          </a:p>
          <a:p>
            <a:pPr marL="228600" indent="-228600" algn="just">
              <a:buFont typeface="+mj-lt"/>
              <a:buAutoNum type="arabicPeriod" startAt="16"/>
            </a:pPr>
            <a:endParaRPr lang="en-US" sz="1050" b="0" dirty="0">
              <a:solidFill>
                <a:schemeClr val="tx1"/>
              </a:solidFill>
            </a:endParaRPr>
          </a:p>
          <a:p>
            <a:pPr marL="228600" indent="-228600" algn="just">
              <a:buFont typeface="+mj-lt"/>
              <a:buAutoNum type="arabicPeriod" startAt="16"/>
            </a:pPr>
            <a:endParaRPr lang="en-US" sz="1050" b="0" dirty="0">
              <a:solidFill>
                <a:schemeClr val="tx1"/>
              </a:solidFill>
            </a:endParaRPr>
          </a:p>
          <a:p>
            <a:pPr algn="just"/>
            <a:endParaRPr lang="en-US" b="0" dirty="0">
              <a:solidFill>
                <a:schemeClr val="tx1"/>
              </a:solidFill>
            </a:endParaRPr>
          </a:p>
          <a:p>
            <a:pPr marL="465138" lvl="2" indent="-236538" algn="just">
              <a:buClrTx/>
              <a:buFont typeface="+mj-lt"/>
              <a:buAutoNum type="romanLcPeriod"/>
            </a:pPr>
            <a:r>
              <a:rPr lang="en-US" b="1" dirty="0">
                <a:solidFill>
                  <a:schemeClr val="tx1"/>
                </a:solidFill>
              </a:rPr>
              <a:t>Reversal of Management adjustment: </a:t>
            </a:r>
            <a:r>
              <a:rPr lang="en-US" dirty="0">
                <a:solidFill>
                  <a:schemeClr val="tx1"/>
                </a:solidFill>
              </a:rPr>
              <a:t>Management’s adjustment increases </a:t>
            </a:r>
            <a:r>
              <a:rPr lang="en-US" dirty="0" smtClean="0">
                <a:solidFill>
                  <a:schemeClr val="tx1"/>
                </a:solidFill>
              </a:rPr>
              <a:t>EBITDA </a:t>
            </a:r>
            <a:r>
              <a:rPr lang="en-US" dirty="0">
                <a:solidFill>
                  <a:schemeClr val="tx1"/>
                </a:solidFill>
              </a:rPr>
              <a:t>for the </a:t>
            </a:r>
            <a:r>
              <a:rPr lang="en-US" dirty="0" smtClean="0">
                <a:solidFill>
                  <a:schemeClr val="tx1"/>
                </a:solidFill>
              </a:rPr>
              <a:t>incremental 35 </a:t>
            </a:r>
            <a:r>
              <a:rPr lang="en-US" dirty="0">
                <a:solidFill>
                  <a:schemeClr val="tx1"/>
                </a:solidFill>
              </a:rPr>
              <a:t>clients </a:t>
            </a:r>
            <a:r>
              <a:rPr lang="en-US" dirty="0" smtClean="0">
                <a:solidFill>
                  <a:schemeClr val="tx1"/>
                </a:solidFill>
              </a:rPr>
              <a:t>using </a:t>
            </a:r>
            <a:r>
              <a:rPr lang="en-US" dirty="0">
                <a:solidFill>
                  <a:schemeClr val="tx1"/>
                </a:solidFill>
              </a:rPr>
              <a:t>preliminary estimates. T</a:t>
            </a:r>
            <a:r>
              <a:rPr lang="en-US" dirty="0" smtClean="0">
                <a:solidFill>
                  <a:schemeClr val="tx1"/>
                </a:solidFill>
              </a:rPr>
              <a:t>he </a:t>
            </a:r>
            <a:r>
              <a:rPr lang="en-US" dirty="0">
                <a:solidFill>
                  <a:schemeClr val="tx1"/>
                </a:solidFill>
              </a:rPr>
              <a:t>Augusta Center’s reported results from May-19 to </a:t>
            </a:r>
            <a:r>
              <a:rPr lang="en-US" dirty="0" smtClean="0">
                <a:solidFill>
                  <a:schemeClr val="tx1"/>
                </a:solidFill>
              </a:rPr>
              <a:t>Dec-19 </a:t>
            </a:r>
            <a:r>
              <a:rPr lang="en-US" dirty="0">
                <a:solidFill>
                  <a:schemeClr val="tx1"/>
                </a:solidFill>
              </a:rPr>
              <a:t>includes the actual impact for any new </a:t>
            </a:r>
            <a:r>
              <a:rPr lang="en-US" dirty="0" smtClean="0">
                <a:solidFill>
                  <a:schemeClr val="tx1"/>
                </a:solidFill>
              </a:rPr>
              <a:t>clients. As such, Management’s total adjustment of $0.2 million relating to Nov-18 to Oct-19 is </a:t>
            </a:r>
            <a:r>
              <a:rPr lang="en-US" dirty="0">
                <a:solidFill>
                  <a:schemeClr val="tx1"/>
                </a:solidFill>
              </a:rPr>
              <a:t>reversed. </a:t>
            </a:r>
          </a:p>
          <a:p>
            <a:pPr marL="465138" lvl="2" indent="-236538" algn="just">
              <a:buClrTx/>
              <a:buFont typeface="+mj-lt"/>
              <a:buAutoNum type="romanLcPeriod"/>
            </a:pPr>
            <a:r>
              <a:rPr lang="en-US" b="1" dirty="0">
                <a:solidFill>
                  <a:schemeClr val="tx1"/>
                </a:solidFill>
              </a:rPr>
              <a:t>Augusta center: </a:t>
            </a:r>
            <a:r>
              <a:rPr lang="en-US" dirty="0">
                <a:solidFill>
                  <a:schemeClr val="tx1"/>
                </a:solidFill>
              </a:rPr>
              <a:t>As </a:t>
            </a:r>
            <a:r>
              <a:rPr lang="en-US" b="0" dirty="0">
                <a:solidFill>
                  <a:schemeClr val="tx1"/>
                </a:solidFill>
              </a:rPr>
              <a:t>the 35 new clients are moving to the Downtown center (adjusted for in </a:t>
            </a:r>
            <a:r>
              <a:rPr lang="en-US" dirty="0">
                <a:solidFill>
                  <a:schemeClr val="tx1"/>
                </a:solidFill>
              </a:rPr>
              <a:t>14(iii)</a:t>
            </a:r>
            <a:r>
              <a:rPr lang="en-US" b="0" dirty="0">
                <a:solidFill>
                  <a:schemeClr val="tx1"/>
                </a:solidFill>
              </a:rPr>
              <a:t> below), any revenue and variable expenses generated by these individuals are eliminated from the reported results of the Augusta Center.</a:t>
            </a:r>
          </a:p>
          <a:p>
            <a:pPr marL="465138" lvl="2" indent="-236538" algn="just">
              <a:buClrTx/>
              <a:buFont typeface="+mj-lt"/>
              <a:buAutoNum type="romanLcPeriod"/>
            </a:pPr>
            <a:r>
              <a:rPr lang="en-US" b="1" dirty="0">
                <a:solidFill>
                  <a:schemeClr val="tx1"/>
                </a:solidFill>
              </a:rPr>
              <a:t>Downtown center: </a:t>
            </a:r>
            <a:r>
              <a:rPr lang="en-US" dirty="0">
                <a:solidFill>
                  <a:schemeClr val="tx1"/>
                </a:solidFill>
              </a:rPr>
              <a:t>Represents the </a:t>
            </a:r>
            <a:r>
              <a:rPr lang="en-US" dirty="0" smtClean="0">
                <a:solidFill>
                  <a:schemeClr val="tx1"/>
                </a:solidFill>
              </a:rPr>
              <a:t>annualized </a:t>
            </a:r>
            <a:r>
              <a:rPr lang="en-US" dirty="0">
                <a:solidFill>
                  <a:schemeClr val="tx1"/>
                </a:solidFill>
              </a:rPr>
              <a:t>run-rate revenue and EBITDA for the Downtown center, which opened during Sep-19. The adjustment is based on the run-rate operating results realized in the Company’s portfolio (centers) during </a:t>
            </a:r>
            <a:r>
              <a:rPr lang="en-US" dirty="0" smtClean="0">
                <a:solidFill>
                  <a:schemeClr val="tx1"/>
                </a:solidFill>
              </a:rPr>
              <a:t>Dec-19</a:t>
            </a:r>
            <a:r>
              <a:rPr lang="en-US" dirty="0">
                <a:solidFill>
                  <a:schemeClr val="tx1"/>
                </a:solidFill>
              </a:rPr>
              <a:t>, which Management represents is at 100% occupancy. Furthermore, an average occupancy percentage based on the Company’s portfolio (centers) during the historical period is applied to annualized revenue. </a:t>
            </a:r>
          </a:p>
          <a:p>
            <a:pPr marL="228600" lvl="2" indent="0" algn="just">
              <a:buClrTx/>
              <a:buNone/>
            </a:pPr>
            <a:endParaRPr lang="en-US" b="1" dirty="0">
              <a:solidFill>
                <a:schemeClr val="tx1"/>
              </a:solidFill>
            </a:endParaRPr>
          </a:p>
        </p:txBody>
      </p:sp>
      <p:sp>
        <p:nvSpPr>
          <p:cNvPr id="10" name="Rectangle 9"/>
          <p:cNvSpPr/>
          <p:nvPr/>
        </p:nvSpPr>
        <p:spPr>
          <a:xfrm>
            <a:off x="4045508" y="2804228"/>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17" name="Title 3"/>
          <p:cNvSpPr>
            <a:spLocks noGrp="1"/>
          </p:cNvSpPr>
          <p:nvPr>
            <p:ph type="title"/>
          </p:nvPr>
        </p:nvSpPr>
        <p:spPr>
          <a:xfrm>
            <a:off x="431800" y="480476"/>
            <a:ext cx="8280400" cy="734400"/>
          </a:xfrm>
        </p:spPr>
        <p:txBody>
          <a:bodyPr/>
          <a:lstStyle/>
          <a:p>
            <a:r>
              <a:rPr lang="en-US" dirty="0"/>
              <a:t>Quality of earnings </a:t>
            </a:r>
            <a:r>
              <a:rPr lang="en-US" dirty="0" smtClean="0"/>
              <a:t>(10) </a:t>
            </a:r>
            <a:r>
              <a:rPr lang="en-US" dirty="0"/>
              <a:t>– </a:t>
            </a:r>
            <a:r>
              <a:rPr lang="en-US" i="1" dirty="0"/>
              <a:t>Potential adjustments</a:t>
            </a:r>
          </a:p>
        </p:txBody>
      </p:sp>
      <p:sp>
        <p:nvSpPr>
          <p:cNvPr id="18"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pic>
        <p:nvPicPr>
          <p:cNvPr id="7" name="Picture 6"/>
          <p:cNvPicPr>
            <a:picLocks noChangeAspect="1"/>
          </p:cNvPicPr>
          <p:nvPr>
            <p:custDataLst>
              <p:tags r:id="rId2"/>
            </p:custDataLst>
          </p:nvPr>
        </p:nvPicPr>
        <p:blipFill>
          <a:blip r:embed="rId5"/>
          <a:stretch>
            <a:fillRect/>
          </a:stretch>
        </p:blipFill>
        <p:spPr>
          <a:xfrm>
            <a:off x="4093745" y="2040485"/>
            <a:ext cx="2286091" cy="755300"/>
          </a:xfrm>
          <a:prstGeom prst="rect">
            <a:avLst/>
          </a:prstGeom>
        </p:spPr>
      </p:pic>
      <p:sp>
        <p:nvSpPr>
          <p:cNvPr id="14" name="Rectangle 13"/>
          <p:cNvSpPr/>
          <p:nvPr/>
        </p:nvSpPr>
        <p:spPr>
          <a:xfrm>
            <a:off x="366450" y="4543852"/>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pic>
        <p:nvPicPr>
          <p:cNvPr id="15" name="Picture 14"/>
          <p:cNvPicPr>
            <a:picLocks noChangeAspect="1"/>
          </p:cNvPicPr>
          <p:nvPr>
            <p:custDataLst>
              <p:tags r:id="rId3"/>
            </p:custDataLst>
          </p:nvPr>
        </p:nvPicPr>
        <p:blipFill>
          <a:blip r:embed="rId6"/>
          <a:stretch>
            <a:fillRect/>
          </a:stretch>
        </p:blipFill>
        <p:spPr>
          <a:xfrm>
            <a:off x="431802" y="1216840"/>
            <a:ext cx="2830847" cy="3327467"/>
          </a:xfrm>
          <a:prstGeom prst="rect">
            <a:avLst/>
          </a:prstGeom>
        </p:spPr>
      </p:pic>
    </p:spTree>
    <p:extLst>
      <p:ext uri="{BB962C8B-B14F-4D97-AF65-F5344CB8AC3E}">
        <p14:creationId xmlns:p14="http://schemas.microsoft.com/office/powerpoint/2010/main" val="1014363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
          <p:cNvSpPr>
            <a:spLocks noGrp="1"/>
          </p:cNvSpPr>
          <p:nvPr>
            <p:ph type="body" sz="quarter" idx="10"/>
          </p:nvPr>
        </p:nvSpPr>
        <p:spPr>
          <a:xfrm>
            <a:off x="4643437" y="1129782"/>
            <a:ext cx="4068763" cy="4582800"/>
          </a:xfrm>
        </p:spPr>
        <p:txBody>
          <a:bodyPr/>
          <a:lstStyle/>
          <a:p>
            <a:pPr algn="just"/>
            <a:endParaRPr lang="en-US" dirty="0">
              <a:solidFill>
                <a:schemeClr val="tx1"/>
              </a:solidFill>
              <a:latin typeface="Univers for KPMG (Body)"/>
            </a:endParaRPr>
          </a:p>
          <a:p>
            <a:pPr algn="just"/>
            <a:endParaRPr lang="en-US" sz="100" dirty="0">
              <a:solidFill>
                <a:schemeClr val="tx1"/>
              </a:solidFill>
              <a:latin typeface="Univers for KPMG (Body)"/>
            </a:endParaRPr>
          </a:p>
          <a:p>
            <a:pPr marL="228600" indent="-228600" algn="just">
              <a:buFont typeface="+mj-lt"/>
              <a:buAutoNum type="arabicPeriod" startAt="5"/>
            </a:pPr>
            <a:r>
              <a:rPr lang="en-US" dirty="0">
                <a:solidFill>
                  <a:schemeClr val="tx1"/>
                </a:solidFill>
              </a:rPr>
              <a:t>Unprocessed billing: </a:t>
            </a:r>
            <a:r>
              <a:rPr lang="en-US" b="0" dirty="0">
                <a:solidFill>
                  <a:schemeClr val="tx1"/>
                </a:solidFill>
              </a:rPr>
              <a:t>Management represents that there was an IT issue with the State of Georgia’s billing system, limiting the Company's ability to invoice for services provided during Sep-19 to Dec-19. </a:t>
            </a:r>
            <a:r>
              <a:rPr lang="en-US" b="0" dirty="0" smtClean="0">
                <a:solidFill>
                  <a:schemeClr val="tx1"/>
                </a:solidFill>
              </a:rPr>
              <a:t>As the unbilled revenue of $47,000 is not approved by the State, the Company did not recognize the amount in its financials. Client should consider the impact to EBITDA of any unbilled and unrecorded revenue. </a:t>
            </a:r>
            <a:endParaRPr lang="en-US" b="0" dirty="0">
              <a:solidFill>
                <a:schemeClr val="tx1"/>
              </a:solidFill>
            </a:endParaRPr>
          </a:p>
        </p:txBody>
      </p:sp>
      <p:sp>
        <p:nvSpPr>
          <p:cNvPr id="2" name="Text Placeholder 1"/>
          <p:cNvSpPr>
            <a:spLocks noGrp="1"/>
          </p:cNvSpPr>
          <p:nvPr>
            <p:ph type="body" sz="quarter" idx="10"/>
          </p:nvPr>
        </p:nvSpPr>
        <p:spPr>
          <a:xfrm>
            <a:off x="446088" y="1211263"/>
            <a:ext cx="4068763" cy="4582800"/>
          </a:xfrm>
        </p:spPr>
        <p:txBody>
          <a:bodyPr/>
          <a:lstStyle/>
          <a:p>
            <a:pPr algn="just"/>
            <a:r>
              <a:rPr lang="en-US" dirty="0"/>
              <a:t>Other considerations</a:t>
            </a:r>
          </a:p>
          <a:p>
            <a:pPr algn="just"/>
            <a:r>
              <a:rPr lang="en-US" b="0" dirty="0">
                <a:solidFill>
                  <a:schemeClr val="tx1"/>
                </a:solidFill>
              </a:rPr>
              <a:t>The following includes potential quality of earnings considerations identified during due diligence. These items relate to other potential business issues that should be considered in the overall evaluation of the business. In addition, these items may be subjective in nature and as a result, have not been included in the quality of earnings schedule.</a:t>
            </a:r>
          </a:p>
          <a:p>
            <a:pPr marL="228600" indent="-228600" algn="just">
              <a:buFont typeface="+mj-lt"/>
              <a:buAutoNum type="arabicPeriod"/>
            </a:pPr>
            <a:r>
              <a:rPr lang="en-US" dirty="0">
                <a:solidFill>
                  <a:schemeClr val="tx1"/>
                </a:solidFill>
              </a:rPr>
              <a:t>Rent: </a:t>
            </a:r>
            <a:r>
              <a:rPr lang="en-US" b="0" dirty="0">
                <a:solidFill>
                  <a:schemeClr val="tx1"/>
                </a:solidFill>
              </a:rPr>
              <a:t>The Company currently leases seven properties from a related </a:t>
            </a:r>
            <a:r>
              <a:rPr lang="en-US" b="0" dirty="0" smtClean="0">
                <a:solidFill>
                  <a:schemeClr val="tx1"/>
                </a:solidFill>
              </a:rPr>
              <a:t>party, </a:t>
            </a:r>
            <a:r>
              <a:rPr lang="en-US" b="0" dirty="0">
                <a:solidFill>
                  <a:schemeClr val="tx1"/>
                </a:solidFill>
              </a:rPr>
              <a:t>which may not be at market rates. As such, Client should consider the impact to EBITDA for lease payments paid at market value.</a:t>
            </a:r>
          </a:p>
          <a:p>
            <a:pPr marL="228600" indent="-228600" algn="just">
              <a:buFont typeface="+mj-lt"/>
              <a:buAutoNum type="arabicPeriod"/>
            </a:pPr>
            <a:r>
              <a:rPr lang="en-US" dirty="0">
                <a:solidFill>
                  <a:schemeClr val="tx1"/>
                </a:solidFill>
              </a:rPr>
              <a:t>Cash basis rent expense: </a:t>
            </a:r>
            <a:r>
              <a:rPr lang="en-US" b="0" dirty="0">
                <a:solidFill>
                  <a:schemeClr val="tx1"/>
                </a:solidFill>
              </a:rPr>
              <a:t>The Company records rent expense on a cash basis. However, pursuant to US GAAP, the Company should recognize rent on a straight line basis. It is our understanding that the impact may be nominal given that there </a:t>
            </a:r>
            <a:r>
              <a:rPr lang="en-US" b="0" dirty="0" smtClean="0">
                <a:solidFill>
                  <a:schemeClr val="tx1"/>
                </a:solidFill>
              </a:rPr>
              <a:t>is </a:t>
            </a:r>
            <a:r>
              <a:rPr lang="en-US" b="0" dirty="0">
                <a:solidFill>
                  <a:schemeClr val="tx1"/>
                </a:solidFill>
              </a:rPr>
              <a:t>minimal / no rent free periods and rent escalations are inflationary.</a:t>
            </a:r>
          </a:p>
          <a:p>
            <a:pPr marL="228600" indent="-228600" algn="just">
              <a:buFont typeface="+mj-lt"/>
              <a:buAutoNum type="arabicPeriod"/>
            </a:pPr>
            <a:r>
              <a:rPr lang="en-US" dirty="0" smtClean="0">
                <a:solidFill>
                  <a:schemeClr val="tx1"/>
                </a:solidFill>
              </a:rPr>
              <a:t>Admin </a:t>
            </a:r>
            <a:r>
              <a:rPr lang="en-US" dirty="0">
                <a:solidFill>
                  <a:schemeClr val="tx1"/>
                </a:solidFill>
              </a:rPr>
              <a:t>costs: </a:t>
            </a:r>
            <a:r>
              <a:rPr lang="en-US" b="0" dirty="0">
                <a:solidFill>
                  <a:schemeClr val="tx1"/>
                </a:solidFill>
              </a:rPr>
              <a:t>Management represents that the Company’s current administrative staff has additional capacity to service incremental homes in the future. Client should consider the impact to post-transaction </a:t>
            </a:r>
            <a:r>
              <a:rPr lang="en-US" b="0" dirty="0" smtClean="0">
                <a:solidFill>
                  <a:schemeClr val="tx1"/>
                </a:solidFill>
              </a:rPr>
              <a:t>EBITDA, </a:t>
            </a:r>
            <a:r>
              <a:rPr lang="en-US" b="0" dirty="0">
                <a:solidFill>
                  <a:schemeClr val="tx1"/>
                </a:solidFill>
              </a:rPr>
              <a:t>as new locations may not require significant incremental administrative expenses. </a:t>
            </a:r>
          </a:p>
          <a:p>
            <a:pPr marL="228600" indent="-228600" algn="just">
              <a:buFont typeface="+mj-lt"/>
              <a:buAutoNum type="arabicPeriod"/>
            </a:pPr>
            <a:r>
              <a:rPr lang="en-US" dirty="0" smtClean="0">
                <a:solidFill>
                  <a:schemeClr val="tx1"/>
                </a:solidFill>
              </a:rPr>
              <a:t>Incremental </a:t>
            </a:r>
            <a:r>
              <a:rPr lang="en-US" dirty="0">
                <a:solidFill>
                  <a:schemeClr val="tx1"/>
                </a:solidFill>
              </a:rPr>
              <a:t>payroll savings:</a:t>
            </a:r>
            <a:r>
              <a:rPr lang="en-US" b="0" dirty="0">
                <a:solidFill>
                  <a:schemeClr val="tx1"/>
                </a:solidFill>
              </a:rPr>
              <a:t> Client represents there are opportunities to eliminate further employees (Aliana Schuyler – Behavior Services Director and Ashley Soto – Participant Finance Director)  but have not confirmed the roles are entirely non-operational. As such, they are not included as an adjustment in the quality of earnings schedule. The incremental savings in payroll expense are noted below:</a:t>
            </a:r>
          </a:p>
          <a:p>
            <a:pPr marL="228600" indent="-228600" algn="just">
              <a:buFont typeface="+mj-lt"/>
              <a:buAutoNum type="arabicPeriod"/>
            </a:pPr>
            <a:endParaRPr lang="en-US" b="0" dirty="0">
              <a:solidFill>
                <a:schemeClr val="tx1"/>
              </a:solidFill>
            </a:endParaRPr>
          </a:p>
        </p:txBody>
      </p:sp>
      <p:sp>
        <p:nvSpPr>
          <p:cNvPr id="7" name="Title 3"/>
          <p:cNvSpPr>
            <a:spLocks noGrp="1"/>
          </p:cNvSpPr>
          <p:nvPr>
            <p:ph type="title"/>
          </p:nvPr>
        </p:nvSpPr>
        <p:spPr>
          <a:xfrm>
            <a:off x="431800" y="480476"/>
            <a:ext cx="8280400" cy="734400"/>
          </a:xfrm>
        </p:spPr>
        <p:txBody>
          <a:bodyPr/>
          <a:lstStyle/>
          <a:p>
            <a:r>
              <a:rPr lang="en-US" dirty="0"/>
              <a:t>Quality of earnings (</a:t>
            </a:r>
            <a:r>
              <a:rPr lang="en-US" dirty="0" smtClean="0"/>
              <a:t>11) </a:t>
            </a:r>
            <a:r>
              <a:rPr lang="en-US" dirty="0"/>
              <a:t>– </a:t>
            </a:r>
            <a:r>
              <a:rPr lang="en-US" i="1" dirty="0"/>
              <a:t>Other considerations</a:t>
            </a:r>
          </a:p>
        </p:txBody>
      </p:sp>
      <p:sp>
        <p:nvSpPr>
          <p:cNvPr id="8"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pic>
        <p:nvPicPr>
          <p:cNvPr id="3" name="Picture 2"/>
          <p:cNvPicPr>
            <a:picLocks noChangeAspect="1"/>
          </p:cNvPicPr>
          <p:nvPr>
            <p:custDataLst>
              <p:tags r:id="rId2"/>
            </p:custDataLst>
          </p:nvPr>
        </p:nvPicPr>
        <p:blipFill>
          <a:blip r:embed="rId5"/>
          <a:stretch>
            <a:fillRect/>
          </a:stretch>
        </p:blipFill>
        <p:spPr>
          <a:xfrm>
            <a:off x="665933" y="5242474"/>
            <a:ext cx="1969762" cy="764626"/>
          </a:xfrm>
          <a:prstGeom prst="rect">
            <a:avLst/>
          </a:prstGeom>
        </p:spPr>
      </p:pic>
      <p:sp>
        <p:nvSpPr>
          <p:cNvPr id="11" name="Rectangle 10"/>
          <p:cNvSpPr/>
          <p:nvPr/>
        </p:nvSpPr>
        <p:spPr>
          <a:xfrm>
            <a:off x="613749" y="6007100"/>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9" name="Rectangle 4"/>
          <p:cNvSpPr>
            <a:spLocks noChangeArrowheads="1"/>
          </p:cNvSpPr>
          <p:nvPr>
            <p:custDataLst>
              <p:tags r:id="rId3"/>
            </p:custDataLst>
          </p:nvPr>
        </p:nvSpPr>
        <p:spPr bwMode="auto">
          <a:xfrm>
            <a:off x="3036561" y="5217137"/>
            <a:ext cx="1606875" cy="773852"/>
          </a:xfrm>
          <a:prstGeom prst="rect">
            <a:avLst/>
          </a:prstGeom>
          <a:solidFill>
            <a:srgbClr val="00A3A1"/>
          </a:solidFill>
          <a:ln w="9525">
            <a:noFill/>
            <a:miter lim="800000"/>
            <a:headEnd/>
            <a:tailEnd/>
          </a:ln>
          <a:effectLst/>
        </p:spPr>
        <p:txBody>
          <a:bodyPr wrap="square" lIns="54000" tIns="54000" rIns="54000" bIns="54000" anchor="ctr" anchorCtr="1">
            <a:spAutoFit/>
          </a:bodyPr>
          <a:lstStyle/>
          <a:p>
            <a:pPr marL="0" lvl="2" defTabSz="762000" eaLnBrk="0" hangingPunct="0">
              <a:lnSpc>
                <a:spcPct val="90000"/>
              </a:lnSpc>
              <a:spcBef>
                <a:spcPts val="600"/>
              </a:spcBef>
            </a:pPr>
            <a:r>
              <a:rPr lang="en-US" sz="800" dirty="0" smtClean="0">
                <a:solidFill>
                  <a:schemeClr val="bg1"/>
                </a:solidFill>
                <a:latin typeface="Univers for KPMG" panose="020B0603020202020204" pitchFamily="34" charset="0"/>
              </a:rPr>
              <a:t>Aliana Schuyler’s payroll expenses increased in FY19, due to promotion to Behavior Services Director during Aug-18, and FY19 including the full-year impact.</a:t>
            </a:r>
            <a:endParaRPr lang="en-US" sz="800" dirty="0">
              <a:solidFill>
                <a:schemeClr val="bg1"/>
              </a:solidFill>
              <a:latin typeface="Univers for KPMG" panose="020B0603020202020204" pitchFamily="34" charset="0"/>
            </a:endParaRPr>
          </a:p>
        </p:txBody>
      </p:sp>
      <p:cxnSp>
        <p:nvCxnSpPr>
          <p:cNvPr id="12" name="Elbow Connector 11"/>
          <p:cNvCxnSpPr>
            <a:cxnSpLocks/>
            <a:stCxn id="13" idx="3"/>
            <a:endCxn id="9" idx="1"/>
          </p:cNvCxnSpPr>
          <p:nvPr/>
        </p:nvCxnSpPr>
        <p:spPr>
          <a:xfrm>
            <a:off x="2635695" y="5604062"/>
            <a:ext cx="400866" cy="1"/>
          </a:xfrm>
          <a:prstGeom prst="bentConnector3">
            <a:avLst>
              <a:gd name="adj1" fmla="val 50000"/>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659210" y="5546912"/>
            <a:ext cx="1976485" cy="114300"/>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Tree>
    <p:extLst>
      <p:ext uri="{BB962C8B-B14F-4D97-AF65-F5344CB8AC3E}">
        <p14:creationId xmlns:p14="http://schemas.microsoft.com/office/powerpoint/2010/main" val="14794590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Net working capital</a:t>
            </a:r>
            <a:br>
              <a:rPr lang="en-US" dirty="0"/>
            </a:br>
            <a:endParaRPr lang="en-US" dirty="0"/>
          </a:p>
        </p:txBody>
      </p:sp>
      <p:sp>
        <p:nvSpPr>
          <p:cNvPr id="3" name="Text Placeholder 2"/>
          <p:cNvSpPr>
            <a:spLocks noGrp="1"/>
          </p:cNvSpPr>
          <p:nvPr>
            <p:ph type="body" sz="quarter" idx="11"/>
          </p:nvPr>
        </p:nvSpPr>
        <p:spPr/>
        <p:txBody>
          <a:bodyPr/>
          <a:lstStyle/>
          <a:p>
            <a:endParaRPr lang="en-US" dirty="0"/>
          </a:p>
        </p:txBody>
      </p:sp>
      <p:sp>
        <p:nvSpPr>
          <p:cNvPr id="6"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spTree>
    <p:extLst>
      <p:ext uri="{BB962C8B-B14F-4D97-AF65-F5344CB8AC3E}">
        <p14:creationId xmlns:p14="http://schemas.microsoft.com/office/powerpoint/2010/main" val="35839775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995" name="think-cell Slide" r:id="rId10" imgW="498" imgH="499" progId="TCLayout.ActiveDocument.1">
                  <p:embed/>
                </p:oleObj>
              </mc:Choice>
              <mc:Fallback>
                <p:oleObj name="think-cell Slide" r:id="rId10" imgW="498" imgH="499" progId="TCLayout.ActiveDocument.1">
                  <p:embed/>
                  <p:pic>
                    <p:nvPicPr>
                      <p:cNvPr id="0" name=""/>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3"/>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nSpc>
                <a:spcPct val="70000"/>
              </a:lnSpc>
              <a:spcBef>
                <a:spcPct val="0"/>
              </a:spcBef>
              <a:spcAft>
                <a:spcPct val="0"/>
              </a:spcAft>
            </a:pPr>
            <a:endParaRPr lang="en-CA" sz="3800" dirty="0">
              <a:solidFill>
                <a:schemeClr val="bg1"/>
              </a:solidFill>
              <a:latin typeface="KPMG Extralight" panose="020B0303030202040204" pitchFamily="34" charset="0"/>
              <a:ea typeface="+mj-ea"/>
              <a:cs typeface="+mj-cs"/>
              <a:sym typeface="KPMG Extralight" panose="020B0303030202040204" pitchFamily="34" charset="0"/>
            </a:endParaRPr>
          </a:p>
        </p:txBody>
      </p:sp>
      <p:sp>
        <p:nvSpPr>
          <p:cNvPr id="39" name="Text Placeholder 38"/>
          <p:cNvSpPr>
            <a:spLocks noGrp="1"/>
          </p:cNvSpPr>
          <p:nvPr>
            <p:ph type="body" sz="quarter" idx="10"/>
          </p:nvPr>
        </p:nvSpPr>
        <p:spPr>
          <a:xfrm>
            <a:off x="434340" y="1214876"/>
            <a:ext cx="1508760" cy="4792224"/>
          </a:xfrm>
        </p:spPr>
        <p:txBody>
          <a:bodyPr/>
          <a:lstStyle/>
          <a:p>
            <a:r>
              <a:rPr lang="en-US" dirty="0"/>
              <a:t>The adjacent table presents an estimate of the net working capital requirements. </a:t>
            </a:r>
          </a:p>
          <a:p>
            <a:r>
              <a:rPr lang="en-US" dirty="0">
                <a:latin typeface="Univers for KPMG" panose="020B0603020202020204" pitchFamily="34" charset="0"/>
              </a:rPr>
              <a:t>Accounts receivable, accounts payable, and payroll accrual balances are estimated based on applying payroll cycle and days metrics on potentially adjusted revenue and expenses.</a:t>
            </a:r>
          </a:p>
          <a:p>
            <a:r>
              <a:rPr lang="en-US" dirty="0"/>
              <a:t>Average estimated working capital for FY19 is ($</a:t>
            </a:r>
            <a:r>
              <a:rPr lang="en-US" dirty="0" smtClean="0"/>
              <a:t>51,000</a:t>
            </a:r>
            <a:r>
              <a:rPr lang="en-US" dirty="0"/>
              <a:t>).</a:t>
            </a:r>
          </a:p>
          <a:p>
            <a:endParaRPr lang="en-US" dirty="0">
              <a:latin typeface="Univers for KPMG" panose="020B0603020202020204" pitchFamily="34" charset="0"/>
            </a:endParaRPr>
          </a:p>
          <a:p>
            <a:endParaRPr lang="en-US" dirty="0"/>
          </a:p>
          <a:p>
            <a:endParaRPr lang="en-US" dirty="0"/>
          </a:p>
        </p:txBody>
      </p:sp>
      <p:sp>
        <p:nvSpPr>
          <p:cNvPr id="38" name="Title 37"/>
          <p:cNvSpPr>
            <a:spLocks noGrp="1"/>
          </p:cNvSpPr>
          <p:nvPr>
            <p:ph type="title"/>
          </p:nvPr>
        </p:nvSpPr>
        <p:spPr/>
        <p:txBody>
          <a:bodyPr/>
          <a:lstStyle/>
          <a:p>
            <a:r>
              <a:rPr lang="en-CA" noProof="0" dirty="0"/>
              <a:t>Net working capital – </a:t>
            </a:r>
            <a:r>
              <a:rPr lang="en-CA" i="1" noProof="0" dirty="0"/>
              <a:t>Overview </a:t>
            </a:r>
            <a:endParaRPr lang="en-CA" noProof="0" dirty="0"/>
          </a:p>
        </p:txBody>
      </p:sp>
      <p:sp>
        <p:nvSpPr>
          <p:cNvPr id="10" name="ZoneTexte 11">
            <a:extLst>
              <a:ext uri="{FF2B5EF4-FFF2-40B4-BE49-F238E27FC236}">
                <a16:creationId xmlns="" xmlns:a16="http://schemas.microsoft.com/office/drawing/2014/main" id="{A3A96B79-9A6D-4A5A-99B1-DE73E3871431}"/>
              </a:ext>
            </a:extLst>
          </p:cNvPr>
          <p:cNvSpPr txBox="1">
            <a:spLocks/>
          </p:cNvSpPr>
          <p:nvPr>
            <p:custDataLst>
              <p:tags r:id="rId4"/>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sp>
        <p:nvSpPr>
          <p:cNvPr id="14" name="Espace réservé du texte 3"/>
          <p:cNvSpPr>
            <a:spLocks noGrp="1"/>
          </p:cNvSpPr>
          <p:nvPr>
            <p:ph type="body" sz="quarter" idx="4294967295"/>
          </p:nvPr>
        </p:nvSpPr>
        <p:spPr>
          <a:xfrm>
            <a:off x="6052948" y="1209814"/>
            <a:ext cx="2659252" cy="1392689"/>
          </a:xfrm>
          <a:prstGeom prst="rect">
            <a:avLst/>
          </a:prstGeom>
          <a:ln>
            <a:solidFill>
              <a:srgbClr val="00338D"/>
            </a:solidFill>
          </a:ln>
        </p:spPr>
        <p:txBody>
          <a:bodyPr wrap="square" lIns="45720" tIns="45720" rIns="45720" bIns="45720">
            <a:spAutoFit/>
          </a:bodyPr>
          <a:lstStyle/>
          <a:p>
            <a:pPr algn="just">
              <a:spcAft>
                <a:spcPts val="300"/>
              </a:spcAft>
              <a:buClr>
                <a:srgbClr val="00338D"/>
              </a:buClr>
            </a:pPr>
            <a:r>
              <a:rPr lang="en-CA" sz="700" dirty="0">
                <a:solidFill>
                  <a:srgbClr val="00338D"/>
                </a:solidFill>
                <a:latin typeface="Univers for KPMG" panose="020B0603020202020204" pitchFamily="34" charset="0"/>
              </a:rPr>
              <a:t>Basis of presentation</a:t>
            </a:r>
          </a:p>
          <a:p>
            <a:pPr algn="just">
              <a:spcAft>
                <a:spcPts val="300"/>
              </a:spcAft>
              <a:buClr>
                <a:srgbClr val="00338D"/>
              </a:buClr>
            </a:pPr>
            <a:r>
              <a:rPr lang="en-US" sz="700" b="0" dirty="0">
                <a:solidFill>
                  <a:srgbClr val="00338D"/>
                </a:solidFill>
                <a:latin typeface="Univers for KPMG" panose="020B0603020202020204" pitchFamily="34" charset="0"/>
              </a:rPr>
              <a:t>The net working capital schedule presents the estimated balances calculated for the fiscal years ended December 31, 2017, December 31, 2018 and December 31, 2019.</a:t>
            </a:r>
          </a:p>
          <a:p>
            <a:pPr marL="0" lvl="2" indent="0" algn="just">
              <a:spcAft>
                <a:spcPts val="300"/>
              </a:spcAft>
              <a:buClr>
                <a:srgbClr val="00338D"/>
              </a:buClr>
              <a:buNone/>
            </a:pPr>
            <a:r>
              <a:rPr lang="en-US" sz="700" dirty="0">
                <a:solidFill>
                  <a:srgbClr val="00338D"/>
                </a:solidFill>
                <a:latin typeface="Univers for KPMG" panose="020B0603020202020204" pitchFamily="34" charset="0"/>
              </a:rPr>
              <a:t>The estimated balances are not necessarily all-inclusive and are based on information provided by Management to date. Further analysis and access to additional information could uncover additional or different proposed adjustments.</a:t>
            </a:r>
          </a:p>
          <a:p>
            <a:pPr marL="0" lvl="2" indent="0" algn="just">
              <a:spcAft>
                <a:spcPts val="0"/>
              </a:spcAft>
              <a:buClr>
                <a:srgbClr val="00338D"/>
              </a:buClr>
              <a:buNone/>
            </a:pPr>
            <a:r>
              <a:rPr lang="en-US" sz="700" kern="900" dirty="0">
                <a:solidFill>
                  <a:srgbClr val="00338D"/>
                </a:solidFill>
                <a:latin typeface="Univers for KPMG" panose="020B0603020202020204" pitchFamily="34" charset="0"/>
              </a:rPr>
              <a:t>The net working capital balances are estimated based on information provided by Management, taking the receivable / payable terms into consideration.</a:t>
            </a:r>
          </a:p>
        </p:txBody>
      </p:sp>
      <p:sp>
        <p:nvSpPr>
          <p:cNvPr id="17" name="TextBox 16"/>
          <p:cNvSpPr txBox="1"/>
          <p:nvPr/>
        </p:nvSpPr>
        <p:spPr>
          <a:xfrm>
            <a:off x="2062084" y="3161056"/>
            <a:ext cx="1618260" cy="295039"/>
          </a:xfrm>
          <a:prstGeom prst="rect">
            <a:avLst/>
          </a:prstGeom>
          <a:noFill/>
        </p:spPr>
        <p:txBody>
          <a:bodyPr wrap="none" lIns="54610" tIns="54610" rIns="54610" bIns="54610" rtlCol="0">
            <a:noAutofit/>
          </a:bodyPr>
          <a:lstStyle/>
          <a:p>
            <a:pPr>
              <a:spcAft>
                <a:spcPts val="600"/>
              </a:spcAft>
            </a:pPr>
            <a:r>
              <a:rPr lang="en-US" sz="800" b="1" dirty="0">
                <a:solidFill>
                  <a:schemeClr val="tx2"/>
                </a:solidFill>
                <a:latin typeface="Univers for KPMG" panose="020B0603020202020204" pitchFamily="34" charset="0"/>
              </a:rPr>
              <a:t>Net working capital, estimated</a:t>
            </a:r>
          </a:p>
        </p:txBody>
      </p:sp>
      <p:sp>
        <p:nvSpPr>
          <p:cNvPr id="12" name="Rectangle 4"/>
          <p:cNvSpPr>
            <a:spLocks noChangeArrowheads="1"/>
          </p:cNvSpPr>
          <p:nvPr>
            <p:custDataLst>
              <p:tags r:id="rId5"/>
            </p:custDataLst>
          </p:nvPr>
        </p:nvSpPr>
        <p:spPr bwMode="auto">
          <a:xfrm>
            <a:off x="6052948" y="3014642"/>
            <a:ext cx="2659252" cy="441453"/>
          </a:xfrm>
          <a:prstGeom prst="rect">
            <a:avLst/>
          </a:prstGeom>
          <a:solidFill>
            <a:srgbClr val="00A3A1"/>
          </a:solidFill>
          <a:ln w="12700">
            <a:solidFill>
              <a:srgbClr val="00A3A1"/>
            </a:solidFill>
            <a:miter lim="800000"/>
            <a:headEnd/>
            <a:tailEnd/>
          </a:ln>
          <a:effectLst/>
        </p:spPr>
        <p:txBody>
          <a:bodyPr wrap="square" lIns="54000" tIns="54000" rIns="54000" bIns="54000" anchor="ctr" anchorCtr="1">
            <a:spAutoFit/>
          </a:bodyPr>
          <a:lstStyle/>
          <a:p>
            <a:pPr marL="0" lvl="2" algn="just" defTabSz="762000" eaLnBrk="0" hangingPunct="0">
              <a:lnSpc>
                <a:spcPct val="90000"/>
              </a:lnSpc>
              <a:spcBef>
                <a:spcPts val="600"/>
              </a:spcBef>
            </a:pPr>
            <a:r>
              <a:rPr lang="en-US" sz="800" dirty="0">
                <a:solidFill>
                  <a:schemeClr val="bg1"/>
                </a:solidFill>
                <a:latin typeface="Univers for KPMG" panose="020B0603020202020204" pitchFamily="34" charset="0"/>
              </a:rPr>
              <a:t>Average working capital decreases from ($</a:t>
            </a:r>
            <a:r>
              <a:rPr lang="en-US" sz="800" dirty="0" smtClean="0">
                <a:solidFill>
                  <a:schemeClr val="bg1"/>
                </a:solidFill>
                <a:latin typeface="Univers for KPMG" panose="020B0603020202020204" pitchFamily="34" charset="0"/>
              </a:rPr>
              <a:t>26,000</a:t>
            </a:r>
            <a:r>
              <a:rPr lang="en-US" sz="800" dirty="0">
                <a:solidFill>
                  <a:schemeClr val="bg1"/>
                </a:solidFill>
                <a:latin typeface="Univers for KPMG" panose="020B0603020202020204" pitchFamily="34" charset="0"/>
              </a:rPr>
              <a:t>) to ($</a:t>
            </a:r>
            <a:r>
              <a:rPr lang="en-US" sz="800" dirty="0" smtClean="0">
                <a:solidFill>
                  <a:schemeClr val="bg1"/>
                </a:solidFill>
                <a:latin typeface="Univers for KPMG" panose="020B0603020202020204" pitchFamily="34" charset="0"/>
              </a:rPr>
              <a:t>51,000</a:t>
            </a:r>
            <a:r>
              <a:rPr lang="en-US" sz="800" dirty="0">
                <a:solidFill>
                  <a:schemeClr val="bg1"/>
                </a:solidFill>
                <a:latin typeface="Univers for KPMG" panose="020B0603020202020204" pitchFamily="34" charset="0"/>
              </a:rPr>
              <a:t>) from FY17 to FY19, as the Company opened additional locations.</a:t>
            </a:r>
          </a:p>
        </p:txBody>
      </p:sp>
      <p:sp>
        <p:nvSpPr>
          <p:cNvPr id="19" name="Rectangle 18"/>
          <p:cNvSpPr/>
          <p:nvPr/>
        </p:nvSpPr>
        <p:spPr>
          <a:xfrm>
            <a:off x="2059718" y="2524095"/>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pic>
        <p:nvPicPr>
          <p:cNvPr id="7" name="Picture 6"/>
          <p:cNvPicPr>
            <a:picLocks noChangeAspect="1"/>
          </p:cNvPicPr>
          <p:nvPr>
            <p:custDataLst>
              <p:tags r:id="rId6"/>
            </p:custDataLst>
          </p:nvPr>
        </p:nvPicPr>
        <p:blipFill>
          <a:blip r:embed="rId12"/>
          <a:stretch>
            <a:fillRect/>
          </a:stretch>
        </p:blipFill>
        <p:spPr>
          <a:xfrm>
            <a:off x="2095500" y="1218417"/>
            <a:ext cx="3808125" cy="1310889"/>
          </a:xfrm>
          <a:prstGeom prst="rect">
            <a:avLst/>
          </a:prstGeom>
        </p:spPr>
      </p:pic>
      <p:pic>
        <p:nvPicPr>
          <p:cNvPr id="5" name="Picture 4"/>
          <p:cNvPicPr>
            <a:picLocks noChangeAspect="1"/>
          </p:cNvPicPr>
          <p:nvPr>
            <p:custDataLst>
              <p:tags r:id="rId7"/>
            </p:custDataLst>
          </p:nvPr>
        </p:nvPicPr>
        <p:blipFill>
          <a:blip r:embed="rId13"/>
          <a:stretch>
            <a:fillRect/>
          </a:stretch>
        </p:blipFill>
        <p:spPr>
          <a:xfrm>
            <a:off x="1822451" y="3208445"/>
            <a:ext cx="7003615" cy="2789493"/>
          </a:xfrm>
          <a:prstGeom prst="rect">
            <a:avLst/>
          </a:prstGeom>
        </p:spPr>
      </p:pic>
    </p:spTree>
    <p:extLst>
      <p:ext uri="{BB962C8B-B14F-4D97-AF65-F5344CB8AC3E}">
        <p14:creationId xmlns:p14="http://schemas.microsoft.com/office/powerpoint/2010/main" val="40945462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4643438" y="1214876"/>
            <a:ext cx="4068762" cy="4582800"/>
          </a:xfrm>
        </p:spPr>
        <p:txBody>
          <a:bodyPr/>
          <a:lstStyle/>
          <a:p>
            <a:pPr algn="just"/>
            <a:r>
              <a:rPr lang="en-US" dirty="0"/>
              <a:t>Supporting analysis</a:t>
            </a:r>
          </a:p>
          <a:p>
            <a:pPr marL="228600" indent="-228600" algn="just">
              <a:buFont typeface="+mj-lt"/>
              <a:buAutoNum type="arabicPeriod"/>
            </a:pPr>
            <a:r>
              <a:rPr lang="en-US" dirty="0">
                <a:solidFill>
                  <a:schemeClr val="tx1"/>
                </a:solidFill>
              </a:rPr>
              <a:t>Accounts receivable: </a:t>
            </a:r>
            <a:r>
              <a:rPr lang="en-US" b="0" dirty="0">
                <a:solidFill>
                  <a:schemeClr val="tx1"/>
                </a:solidFill>
                <a:latin typeface="Univers for KPMG" panose="020B0603020202020204" pitchFamily="34" charset="0"/>
              </a:rPr>
              <a:t>The Company invoices the State of Georgia on a weekly basis (i.e. Fridays, one week in arrears), with approved balances paid out the following Tuesday. As such, average accounts receivable remains relatively stable and increases with revenue</a:t>
            </a:r>
            <a:r>
              <a:rPr lang="en-US" b="0" dirty="0">
                <a:solidFill>
                  <a:schemeClr val="tx1"/>
                </a:solidFill>
              </a:rPr>
              <a:t>.</a:t>
            </a:r>
          </a:p>
          <a:p>
            <a:pPr marL="228600" indent="-228600" algn="just">
              <a:buFont typeface="+mj-lt"/>
              <a:buAutoNum type="arabicPeriod"/>
            </a:pPr>
            <a:endParaRPr lang="en-US" b="0" dirty="0">
              <a:solidFill>
                <a:schemeClr val="tx1"/>
              </a:solidFill>
            </a:endParaRPr>
          </a:p>
          <a:p>
            <a:pPr marL="228600" indent="-228600" algn="just">
              <a:buFont typeface="+mj-lt"/>
              <a:buAutoNum type="arabicPeriod"/>
            </a:pPr>
            <a:endParaRPr lang="en-US" b="0" dirty="0">
              <a:solidFill>
                <a:schemeClr val="tx1"/>
              </a:solidFill>
            </a:endParaRPr>
          </a:p>
          <a:p>
            <a:pPr marL="228600" indent="-228600" algn="just">
              <a:buFont typeface="+mj-lt"/>
              <a:buAutoNum type="arabicPeriod"/>
            </a:pPr>
            <a:endParaRPr lang="en-US" b="0" dirty="0">
              <a:solidFill>
                <a:schemeClr val="tx1"/>
              </a:solidFill>
            </a:endParaRPr>
          </a:p>
          <a:p>
            <a:pPr marL="228600" indent="-228600" algn="just">
              <a:buFont typeface="+mj-lt"/>
              <a:buAutoNum type="arabicPeriod"/>
            </a:pPr>
            <a:endParaRPr lang="en-US" b="0" dirty="0">
              <a:solidFill>
                <a:schemeClr val="tx1"/>
              </a:solidFill>
            </a:endParaRPr>
          </a:p>
          <a:p>
            <a:pPr marL="228600" indent="-228600" algn="just">
              <a:buFont typeface="+mj-lt"/>
              <a:buAutoNum type="arabicPeriod"/>
            </a:pPr>
            <a:r>
              <a:rPr lang="en-US" dirty="0">
                <a:solidFill>
                  <a:schemeClr val="tx1"/>
                </a:solidFill>
              </a:rPr>
              <a:t>Payroll accrual: </a:t>
            </a:r>
            <a:r>
              <a:rPr lang="en-US" b="0" dirty="0">
                <a:solidFill>
                  <a:schemeClr val="tx1"/>
                </a:solidFill>
              </a:rPr>
              <a:t>The Company does not currently accrue for its payroll, which is paid on a bi-weekly basis (one week in arrears). The estimated monthly amount is based on the Company’s payroll cycle and days outstanding at each respective month-end.</a:t>
            </a:r>
            <a:endParaRPr lang="en-US" dirty="0">
              <a:solidFill>
                <a:schemeClr val="tx1"/>
              </a:solidFill>
            </a:endParaRPr>
          </a:p>
          <a:p>
            <a:pPr marL="228600" indent="-228600" algn="just">
              <a:buFont typeface="+mj-lt"/>
              <a:buAutoNum type="arabicPeriod"/>
            </a:pPr>
            <a:endParaRPr lang="en-US" dirty="0">
              <a:solidFill>
                <a:schemeClr val="tx1"/>
              </a:solidFill>
            </a:endParaRPr>
          </a:p>
          <a:p>
            <a:pPr marL="228600" indent="-228600" algn="just">
              <a:buFont typeface="+mj-lt"/>
              <a:buAutoNum type="arabicPeriod"/>
            </a:pPr>
            <a:endParaRPr lang="en-US" dirty="0">
              <a:solidFill>
                <a:schemeClr val="tx1"/>
              </a:solidFill>
            </a:endParaRPr>
          </a:p>
          <a:p>
            <a:pPr marL="228600" indent="-228600" algn="just">
              <a:buFont typeface="+mj-lt"/>
              <a:buAutoNum type="arabicPeriod"/>
            </a:pPr>
            <a:endParaRPr lang="en-US" dirty="0">
              <a:solidFill>
                <a:schemeClr val="tx1"/>
              </a:solidFill>
            </a:endParaRPr>
          </a:p>
          <a:p>
            <a:pPr marL="228600" indent="-228600" algn="just">
              <a:buFont typeface="+mj-lt"/>
              <a:buAutoNum type="arabicPeriod"/>
            </a:pPr>
            <a:endParaRPr lang="en-US" dirty="0">
              <a:solidFill>
                <a:schemeClr val="tx1"/>
              </a:solidFill>
            </a:endParaRPr>
          </a:p>
          <a:p>
            <a:pPr marL="228600" indent="-228600" algn="just">
              <a:buFont typeface="+mj-lt"/>
              <a:buAutoNum type="arabicPeriod"/>
            </a:pPr>
            <a:endParaRPr lang="en-US" dirty="0">
              <a:solidFill>
                <a:schemeClr val="tx1"/>
              </a:solidFill>
            </a:endParaRPr>
          </a:p>
          <a:p>
            <a:pPr algn="just"/>
            <a:endParaRPr lang="en-US" sz="300" dirty="0">
              <a:solidFill>
                <a:schemeClr val="tx1"/>
              </a:solidFill>
            </a:endParaRPr>
          </a:p>
          <a:p>
            <a:pPr marL="228600" indent="-228600" algn="just">
              <a:buFont typeface="+mj-lt"/>
              <a:buAutoNum type="arabicPeriod" startAt="3"/>
            </a:pPr>
            <a:r>
              <a:rPr lang="en-US" dirty="0">
                <a:solidFill>
                  <a:schemeClr val="tx1"/>
                </a:solidFill>
              </a:rPr>
              <a:t>Accounts payable: </a:t>
            </a:r>
            <a:r>
              <a:rPr lang="en-US" b="0" dirty="0">
                <a:solidFill>
                  <a:schemeClr val="tx1"/>
                </a:solidFill>
              </a:rPr>
              <a:t>Management represents that operating expenses (</a:t>
            </a:r>
            <a:r>
              <a:rPr lang="fr-FR" b="0" dirty="0">
                <a:solidFill>
                  <a:schemeClr val="tx1"/>
                </a:solidFill>
              </a:rPr>
              <a:t>i.e. groceries, utilities, computer related, etc.</a:t>
            </a:r>
            <a:r>
              <a:rPr lang="en-US" b="0" dirty="0">
                <a:solidFill>
                  <a:schemeClr val="tx1"/>
                </a:solidFill>
              </a:rPr>
              <a:t>) are paid on a weekly basis. A DPO of seven days is utilized to estimate the </a:t>
            </a:r>
            <a:r>
              <a:rPr lang="en-US" b="0" dirty="0" smtClean="0">
                <a:solidFill>
                  <a:schemeClr val="tx1"/>
                </a:solidFill>
              </a:rPr>
              <a:t>balance </a:t>
            </a:r>
            <a:r>
              <a:rPr lang="en-US" b="0" dirty="0">
                <a:solidFill>
                  <a:schemeClr val="tx1"/>
                </a:solidFill>
              </a:rPr>
              <a:t>at each respective month-end. </a:t>
            </a:r>
            <a:endParaRPr lang="en-US" dirty="0"/>
          </a:p>
        </p:txBody>
      </p:sp>
      <p:sp>
        <p:nvSpPr>
          <p:cNvPr id="4" name="Title 3"/>
          <p:cNvSpPr>
            <a:spLocks noGrp="1"/>
          </p:cNvSpPr>
          <p:nvPr>
            <p:ph type="title"/>
          </p:nvPr>
        </p:nvSpPr>
        <p:spPr/>
        <p:txBody>
          <a:bodyPr/>
          <a:lstStyle/>
          <a:p>
            <a:r>
              <a:rPr lang="en-US" dirty="0"/>
              <a:t>Net working capital – </a:t>
            </a:r>
            <a:r>
              <a:rPr lang="en-US" i="1" dirty="0"/>
              <a:t>Estimations </a:t>
            </a:r>
            <a:endParaRPr lang="en-US" dirty="0"/>
          </a:p>
        </p:txBody>
      </p:sp>
      <p:sp>
        <p:nvSpPr>
          <p:cNvPr id="5"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a:solidFill>
                  <a:schemeClr val="tx2"/>
                </a:solidFill>
              </a:rPr>
              <a:t>Supporting analysis</a:t>
            </a:r>
          </a:p>
        </p:txBody>
      </p:sp>
      <p:sp>
        <p:nvSpPr>
          <p:cNvPr id="8" name="Rectangle 7"/>
          <p:cNvSpPr/>
          <p:nvPr/>
        </p:nvSpPr>
        <p:spPr>
          <a:xfrm>
            <a:off x="418832" y="2587790"/>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26" name="Rectangle 25"/>
          <p:cNvSpPr/>
          <p:nvPr/>
        </p:nvSpPr>
        <p:spPr>
          <a:xfrm>
            <a:off x="4834555" y="2721845"/>
            <a:ext cx="2365312" cy="93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r>
              <a:rPr lang="en-US" sz="600" i="1" baseline="30000" dirty="0">
                <a:solidFill>
                  <a:schemeClr val="tx1"/>
                </a:solidFill>
              </a:rPr>
              <a:t>(1)</a:t>
            </a:r>
            <a:r>
              <a:rPr lang="en-US" sz="600" i="1" dirty="0">
                <a:solidFill>
                  <a:schemeClr val="tx1"/>
                </a:solidFill>
              </a:rPr>
              <a:t> Excludes transferred income.</a:t>
            </a:r>
          </a:p>
          <a:p>
            <a:pPr algn="l"/>
            <a:r>
              <a:rPr lang="en-US" sz="600" i="1" dirty="0">
                <a:solidFill>
                  <a:schemeClr val="tx1"/>
                </a:solidFill>
              </a:rPr>
              <a:t>Source: Management provided information; KPMG analysis</a:t>
            </a:r>
          </a:p>
        </p:txBody>
      </p:sp>
      <p:sp>
        <p:nvSpPr>
          <p:cNvPr id="27" name="Rectangle 26"/>
          <p:cNvSpPr/>
          <p:nvPr/>
        </p:nvSpPr>
        <p:spPr>
          <a:xfrm>
            <a:off x="4833742" y="6013147"/>
            <a:ext cx="3214687" cy="766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r>
              <a:rPr lang="en-US" sz="600" i="1" baseline="30000" dirty="0">
                <a:solidFill>
                  <a:schemeClr val="tx1"/>
                </a:solidFill>
              </a:rPr>
              <a:t>(1)</a:t>
            </a:r>
            <a:r>
              <a:rPr lang="en-US" sz="600" i="1" dirty="0">
                <a:solidFill>
                  <a:schemeClr val="tx1"/>
                </a:solidFill>
              </a:rPr>
              <a:t> Excludes </a:t>
            </a:r>
            <a:r>
              <a:rPr lang="en-US" sz="600" i="1" dirty="0" smtClean="0">
                <a:solidFill>
                  <a:schemeClr val="tx1"/>
                </a:solidFill>
              </a:rPr>
              <a:t>intercompany, rent, </a:t>
            </a:r>
            <a:r>
              <a:rPr lang="en-US" sz="600" i="1" dirty="0">
                <a:solidFill>
                  <a:schemeClr val="tx1"/>
                </a:solidFill>
              </a:rPr>
              <a:t>and payroll expenses.</a:t>
            </a:r>
          </a:p>
          <a:p>
            <a:pPr algn="l"/>
            <a:r>
              <a:rPr lang="en-US" sz="600" i="1" dirty="0">
                <a:solidFill>
                  <a:schemeClr val="tx1"/>
                </a:solidFill>
              </a:rPr>
              <a:t>Source: Management provided information; KPMG analysis</a:t>
            </a:r>
          </a:p>
        </p:txBody>
      </p:sp>
      <p:sp>
        <p:nvSpPr>
          <p:cNvPr id="25" name="Rectangle 24"/>
          <p:cNvSpPr/>
          <p:nvPr/>
        </p:nvSpPr>
        <p:spPr>
          <a:xfrm>
            <a:off x="4834554" y="4547904"/>
            <a:ext cx="3214687" cy="766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r>
              <a:rPr lang="en-US" sz="600" i="1" baseline="30000" dirty="0">
                <a:solidFill>
                  <a:schemeClr val="tx1"/>
                </a:solidFill>
              </a:rPr>
              <a:t>(1)</a:t>
            </a:r>
            <a:r>
              <a:rPr lang="en-US" sz="600" i="1" dirty="0">
                <a:solidFill>
                  <a:schemeClr val="tx1"/>
                </a:solidFill>
              </a:rPr>
              <a:t> Includes contractor expenses.</a:t>
            </a:r>
          </a:p>
          <a:p>
            <a:pPr algn="l"/>
            <a:r>
              <a:rPr lang="en-US" sz="600" i="1" dirty="0">
                <a:solidFill>
                  <a:schemeClr val="tx1"/>
                </a:solidFill>
              </a:rPr>
              <a:t>Source: Management provided information; KPMG analysis</a:t>
            </a:r>
          </a:p>
        </p:txBody>
      </p:sp>
      <p:pic>
        <p:nvPicPr>
          <p:cNvPr id="6" name="Picture 5"/>
          <p:cNvPicPr>
            <a:picLocks noChangeAspect="1"/>
          </p:cNvPicPr>
          <p:nvPr>
            <p:custDataLst>
              <p:tags r:id="rId2"/>
            </p:custDataLst>
          </p:nvPr>
        </p:nvPicPr>
        <p:blipFill>
          <a:blip r:embed="rId9"/>
          <a:stretch>
            <a:fillRect/>
          </a:stretch>
        </p:blipFill>
        <p:spPr>
          <a:xfrm>
            <a:off x="431800" y="1211264"/>
            <a:ext cx="3998799" cy="1376526"/>
          </a:xfrm>
          <a:prstGeom prst="rect">
            <a:avLst/>
          </a:prstGeom>
        </p:spPr>
      </p:pic>
      <p:pic>
        <p:nvPicPr>
          <p:cNvPr id="9" name="Picture 8"/>
          <p:cNvPicPr>
            <a:picLocks noChangeAspect="1"/>
          </p:cNvPicPr>
          <p:nvPr>
            <p:custDataLst>
              <p:tags r:id="rId3"/>
            </p:custDataLst>
          </p:nvPr>
        </p:nvPicPr>
        <p:blipFill>
          <a:blip r:embed="rId10"/>
          <a:stretch>
            <a:fillRect/>
          </a:stretch>
        </p:blipFill>
        <p:spPr>
          <a:xfrm>
            <a:off x="4878181" y="1996102"/>
            <a:ext cx="2374755" cy="659673"/>
          </a:xfrm>
          <a:prstGeom prst="rect">
            <a:avLst/>
          </a:prstGeom>
        </p:spPr>
      </p:pic>
      <p:sp>
        <p:nvSpPr>
          <p:cNvPr id="13" name="Rounded Rectangle 12"/>
          <p:cNvSpPr/>
          <p:nvPr/>
        </p:nvSpPr>
        <p:spPr>
          <a:xfrm>
            <a:off x="6170397" y="2531180"/>
            <a:ext cx="1079116" cy="115781"/>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cxnSp>
        <p:nvCxnSpPr>
          <p:cNvPr id="19" name="Straight Arrow Connector 13"/>
          <p:cNvCxnSpPr>
            <a:cxnSpLocks/>
            <a:endCxn id="13" idx="3"/>
          </p:cNvCxnSpPr>
          <p:nvPr/>
        </p:nvCxnSpPr>
        <p:spPr>
          <a:xfrm flipH="1">
            <a:off x="7249513" y="2587790"/>
            <a:ext cx="575009" cy="1281"/>
          </a:xfrm>
          <a:prstGeom prst="straightConnector1">
            <a:avLst/>
          </a:prstGeom>
          <a:solidFill>
            <a:srgbClr val="00A3A1"/>
          </a:solidFill>
          <a:ln w="9525">
            <a:solidFill>
              <a:srgbClr val="00A3A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custDataLst>
              <p:tags r:id="rId4"/>
            </p:custDataLst>
          </p:nvPr>
        </p:nvPicPr>
        <p:blipFill>
          <a:blip r:embed="rId11"/>
          <a:stretch>
            <a:fillRect/>
          </a:stretch>
        </p:blipFill>
        <p:spPr>
          <a:xfrm>
            <a:off x="4878182" y="3511634"/>
            <a:ext cx="2992967" cy="969572"/>
          </a:xfrm>
          <a:prstGeom prst="rect">
            <a:avLst/>
          </a:prstGeom>
        </p:spPr>
      </p:pic>
      <p:sp>
        <p:nvSpPr>
          <p:cNvPr id="18" name="Rectangle 4"/>
          <p:cNvSpPr>
            <a:spLocks noChangeArrowheads="1"/>
          </p:cNvSpPr>
          <p:nvPr>
            <p:custDataLst>
              <p:tags r:id="rId5"/>
            </p:custDataLst>
          </p:nvPr>
        </p:nvSpPr>
        <p:spPr bwMode="auto">
          <a:xfrm>
            <a:off x="7632700" y="1977569"/>
            <a:ext cx="1079500" cy="884652"/>
          </a:xfrm>
          <a:prstGeom prst="rect">
            <a:avLst/>
          </a:prstGeom>
          <a:solidFill>
            <a:srgbClr val="00A3A1"/>
          </a:solidFill>
          <a:ln w="12700">
            <a:solidFill>
              <a:srgbClr val="00A3A1"/>
            </a:solidFill>
            <a:miter lim="800000"/>
            <a:headEnd/>
            <a:tailEnd/>
          </a:ln>
          <a:effectLst/>
        </p:spPr>
        <p:txBody>
          <a:bodyPr wrap="square" lIns="54000" tIns="54000" rIns="54000" bIns="54000" anchor="ctr" anchorCtr="1">
            <a:spAutoFit/>
          </a:bodyPr>
          <a:lstStyle/>
          <a:p>
            <a:pPr marL="0" lvl="2" indent="-400050" defTabSz="762000" eaLnBrk="0" hangingPunct="0">
              <a:lnSpc>
                <a:spcPct val="90000"/>
              </a:lnSpc>
              <a:spcBef>
                <a:spcPts val="600"/>
              </a:spcBef>
            </a:pPr>
            <a:r>
              <a:rPr lang="en-US" sz="800" dirty="0">
                <a:solidFill>
                  <a:schemeClr val="bg1"/>
                </a:solidFill>
                <a:latin typeface="Univers for KPMG" panose="020B0603020202020204" pitchFamily="34" charset="0"/>
              </a:rPr>
              <a:t>Seven day </a:t>
            </a:r>
            <a:r>
              <a:rPr lang="en-US" sz="800" dirty="0" smtClean="0">
                <a:solidFill>
                  <a:schemeClr val="bg1"/>
                </a:solidFill>
                <a:latin typeface="Univers for KPMG" panose="020B0603020202020204" pitchFamily="34" charset="0"/>
              </a:rPr>
              <a:t>DSO estimate is based </a:t>
            </a:r>
            <a:r>
              <a:rPr lang="en-US" sz="800" dirty="0">
                <a:solidFill>
                  <a:schemeClr val="bg1"/>
                </a:solidFill>
                <a:latin typeface="Univers for KPMG" panose="020B0603020202020204" pitchFamily="34" charset="0"/>
              </a:rPr>
              <a:t>on </a:t>
            </a:r>
            <a:r>
              <a:rPr lang="en-US" sz="800" dirty="0" smtClean="0">
                <a:solidFill>
                  <a:schemeClr val="bg1"/>
                </a:solidFill>
                <a:latin typeface="Univers for KPMG" panose="020B0603020202020204" pitchFamily="34" charset="0"/>
              </a:rPr>
              <a:t>Management representation and the State government’s billing</a:t>
            </a:r>
            <a:r>
              <a:rPr lang="en-US" sz="800" dirty="0">
                <a:solidFill>
                  <a:schemeClr val="bg1"/>
                </a:solidFill>
                <a:latin typeface="Univers for KPMG" panose="020B0603020202020204" pitchFamily="34" charset="0"/>
              </a:rPr>
              <a:t> </a:t>
            </a:r>
            <a:r>
              <a:rPr lang="en-US" sz="800" dirty="0" smtClean="0">
                <a:solidFill>
                  <a:schemeClr val="bg1"/>
                </a:solidFill>
                <a:latin typeface="Univers for KPMG" panose="020B0603020202020204" pitchFamily="34" charset="0"/>
              </a:rPr>
              <a:t>cycle. </a:t>
            </a:r>
            <a:endParaRPr lang="en-US" sz="800" dirty="0">
              <a:solidFill>
                <a:schemeClr val="bg1"/>
              </a:solidFill>
              <a:latin typeface="Univers for KPMG" panose="020B0603020202020204" pitchFamily="34" charset="0"/>
            </a:endParaRPr>
          </a:p>
        </p:txBody>
      </p:sp>
      <p:pic>
        <p:nvPicPr>
          <p:cNvPr id="7" name="Picture 6"/>
          <p:cNvPicPr>
            <a:picLocks noChangeAspect="1"/>
          </p:cNvPicPr>
          <p:nvPr>
            <p:custDataLst>
              <p:tags r:id="rId6"/>
            </p:custDataLst>
          </p:nvPr>
        </p:nvPicPr>
        <p:blipFill>
          <a:blip r:embed="rId12"/>
          <a:stretch>
            <a:fillRect/>
          </a:stretch>
        </p:blipFill>
        <p:spPr>
          <a:xfrm>
            <a:off x="4878181" y="5310098"/>
            <a:ext cx="2364717" cy="628729"/>
          </a:xfrm>
          <a:prstGeom prst="rect">
            <a:avLst/>
          </a:prstGeom>
        </p:spPr>
      </p:pic>
      <p:sp>
        <p:nvSpPr>
          <p:cNvPr id="21" name="Rectangle 4"/>
          <p:cNvSpPr>
            <a:spLocks noChangeArrowheads="1"/>
          </p:cNvSpPr>
          <p:nvPr>
            <p:custDataLst>
              <p:tags r:id="rId7"/>
            </p:custDataLst>
          </p:nvPr>
        </p:nvSpPr>
        <p:spPr bwMode="auto">
          <a:xfrm>
            <a:off x="7588250" y="5365519"/>
            <a:ext cx="1123919" cy="552253"/>
          </a:xfrm>
          <a:prstGeom prst="rect">
            <a:avLst/>
          </a:prstGeom>
          <a:solidFill>
            <a:srgbClr val="00A3A1"/>
          </a:solidFill>
          <a:ln w="12700">
            <a:solidFill>
              <a:srgbClr val="00A3A1"/>
            </a:solidFill>
            <a:miter lim="800000"/>
            <a:headEnd/>
            <a:tailEnd/>
          </a:ln>
          <a:effectLst/>
        </p:spPr>
        <p:txBody>
          <a:bodyPr wrap="square" lIns="54000" tIns="54000" rIns="54000" bIns="54000" anchor="ctr" anchorCtr="1">
            <a:spAutoFit/>
          </a:bodyPr>
          <a:lstStyle/>
          <a:p>
            <a:pPr marL="0" lvl="2" indent="-400050" algn="just" defTabSz="762000" eaLnBrk="0" hangingPunct="0">
              <a:lnSpc>
                <a:spcPct val="90000"/>
              </a:lnSpc>
              <a:spcBef>
                <a:spcPts val="600"/>
              </a:spcBef>
            </a:pPr>
            <a:r>
              <a:rPr lang="en-US" sz="800" dirty="0">
                <a:solidFill>
                  <a:schemeClr val="bg1"/>
                </a:solidFill>
                <a:latin typeface="Univers for KPMG" panose="020B0603020202020204" pitchFamily="34" charset="0"/>
              </a:rPr>
              <a:t>Seven day </a:t>
            </a:r>
            <a:r>
              <a:rPr lang="en-US" sz="800" dirty="0" smtClean="0">
                <a:solidFill>
                  <a:schemeClr val="bg1"/>
                </a:solidFill>
                <a:latin typeface="Univers for KPMG" panose="020B0603020202020204" pitchFamily="34" charset="0"/>
              </a:rPr>
              <a:t>DPO estimate based on Management representation.  </a:t>
            </a:r>
            <a:endParaRPr lang="en-US" sz="800" dirty="0">
              <a:solidFill>
                <a:schemeClr val="bg1"/>
              </a:solidFill>
              <a:latin typeface="Univers for KPMG" panose="020B0603020202020204" pitchFamily="34" charset="0"/>
            </a:endParaRPr>
          </a:p>
        </p:txBody>
      </p:sp>
      <p:cxnSp>
        <p:nvCxnSpPr>
          <p:cNvPr id="22" name="Straight Arrow Connector 13"/>
          <p:cNvCxnSpPr>
            <a:cxnSpLocks/>
            <a:endCxn id="28" idx="3"/>
          </p:cNvCxnSpPr>
          <p:nvPr/>
        </p:nvCxnSpPr>
        <p:spPr>
          <a:xfrm flipH="1">
            <a:off x="7255621" y="5760462"/>
            <a:ext cx="364111" cy="0"/>
          </a:xfrm>
          <a:prstGeom prst="straightConnector1">
            <a:avLst/>
          </a:prstGeom>
          <a:solidFill>
            <a:srgbClr val="00A3A1"/>
          </a:solidFill>
          <a:ln w="9525">
            <a:solidFill>
              <a:srgbClr val="00A3A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8" name="Rounded Rectangle 27"/>
          <p:cNvSpPr/>
          <p:nvPr/>
        </p:nvSpPr>
        <p:spPr>
          <a:xfrm>
            <a:off x="6242531" y="5708345"/>
            <a:ext cx="1013090" cy="104233"/>
          </a:xfrm>
          <a:prstGeom prst="roundRect">
            <a:avLst/>
          </a:prstGeom>
          <a:noFill/>
          <a:ln>
            <a:solidFill>
              <a:srgbClr val="00A3A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spTree>
    <p:extLst>
      <p:ext uri="{BB962C8B-B14F-4D97-AF65-F5344CB8AC3E}">
        <p14:creationId xmlns:p14="http://schemas.microsoft.com/office/powerpoint/2010/main" val="366943969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Appendix</a:t>
            </a:r>
            <a:br>
              <a:rPr lang="en-US" dirty="0"/>
            </a:br>
            <a:endParaRPr lang="en-US" u="sng" dirty="0"/>
          </a:p>
        </p:txBody>
      </p:sp>
      <p:sp>
        <p:nvSpPr>
          <p:cNvPr id="4" name="Text Placeholder 1">
            <a:extLst>
              <a:ext uri="{FF2B5EF4-FFF2-40B4-BE49-F238E27FC236}">
                <a16:creationId xmlns="" xmlns:a16="http://schemas.microsoft.com/office/drawing/2014/main" id="{C3857AA2-C353-4723-9048-2F50CE2FE837}"/>
              </a:ext>
            </a:extLst>
          </p:cNvPr>
          <p:cNvSpPr txBox="1">
            <a:spLocks/>
          </p:cNvSpPr>
          <p:nvPr/>
        </p:nvSpPr>
        <p:spPr bwMode="gray">
          <a:xfrm>
            <a:off x="2044800" y="2772884"/>
            <a:ext cx="6634054" cy="2040415"/>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1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100" kern="1200">
                <a:solidFill>
                  <a:schemeClr val="bg1"/>
                </a:solidFill>
                <a:latin typeface="+mn-lt"/>
                <a:ea typeface="+mn-ea"/>
                <a:cs typeface="+mn-cs"/>
              </a:defRPr>
            </a:lvl2pPr>
            <a:lvl3pPr marL="179388" indent="-179388"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3pPr>
            <a:lvl4pPr marL="358775" indent="-179388"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4pPr>
            <a:lvl5pPr marL="538163" indent="-179388"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baseline="0">
                <a:solidFill>
                  <a:schemeClr val="bg1"/>
                </a:solidFill>
                <a:latin typeface="+mn-lt"/>
                <a:ea typeface="+mn-ea"/>
                <a:cs typeface="+mn-cs"/>
              </a:defRPr>
            </a:lvl5pPr>
            <a:lvl6pPr marL="72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93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08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buFont typeface="+mj-lt"/>
              <a:buAutoNum type="arabicPeriod"/>
            </a:pPr>
            <a:r>
              <a:rPr lang="en-US" dirty="0"/>
              <a:t>Engagement letter procedures</a:t>
            </a:r>
          </a:p>
          <a:p>
            <a:pPr marL="228600" indent="-228600">
              <a:buFont typeface="+mj-lt"/>
              <a:buAutoNum type="arabicPeriod"/>
            </a:pPr>
            <a:r>
              <a:rPr lang="en-US" dirty="0" smtClean="0"/>
              <a:t>Cash </a:t>
            </a:r>
            <a:r>
              <a:rPr lang="en-US" dirty="0"/>
              <a:t>proof testing – operating account</a:t>
            </a:r>
          </a:p>
          <a:p>
            <a:pPr marL="228600" indent="-228600">
              <a:buFont typeface="+mj-lt"/>
              <a:buAutoNum type="arabicPeriod"/>
            </a:pPr>
            <a:r>
              <a:rPr lang="en-US" dirty="0"/>
              <a:t>Cash proof testing – payroll </a:t>
            </a:r>
            <a:r>
              <a:rPr lang="en-US" dirty="0" smtClean="0"/>
              <a:t>account</a:t>
            </a:r>
          </a:p>
          <a:p>
            <a:pPr marL="228600" indent="-228600">
              <a:buFont typeface="+mj-lt"/>
              <a:buAutoNum type="arabicPeriod"/>
            </a:pPr>
            <a:r>
              <a:rPr lang="en-US" dirty="0"/>
              <a:t>Continuity by home and </a:t>
            </a:r>
            <a:r>
              <a:rPr lang="en-US" dirty="0" smtClean="0"/>
              <a:t>center</a:t>
            </a:r>
            <a:endParaRPr lang="en-US" dirty="0"/>
          </a:p>
          <a:p>
            <a:pPr marL="228600" indent="-228600">
              <a:buFont typeface="+mj-lt"/>
              <a:buAutoNum type="arabicPeriod"/>
            </a:pPr>
            <a:r>
              <a:rPr lang="en-US" dirty="0" smtClean="0"/>
              <a:t>Combining </a:t>
            </a:r>
            <a:r>
              <a:rPr lang="en-US" dirty="0"/>
              <a:t>income </a:t>
            </a:r>
            <a:r>
              <a:rPr lang="en-US" dirty="0" smtClean="0"/>
              <a:t>statements, adjusted</a:t>
            </a:r>
          </a:p>
        </p:txBody>
      </p:sp>
      <p:sp>
        <p:nvSpPr>
          <p:cNvPr id="7"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spTree>
    <p:extLst>
      <p:ext uri="{BB962C8B-B14F-4D97-AF65-F5344CB8AC3E}">
        <p14:creationId xmlns:p14="http://schemas.microsoft.com/office/powerpoint/2010/main" val="220993450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7963" y="1152409"/>
            <a:ext cx="4092599" cy="4951212"/>
          </a:xfrm>
          <a:prstGeom prst="rect">
            <a:avLst/>
          </a:prstGeom>
          <a:noFill/>
        </p:spPr>
        <p:txBody>
          <a:bodyPr wrap="square" lIns="54610" tIns="54610" rIns="54610" bIns="54610" rtlCol="0">
            <a:noAutofit/>
          </a:bodyPr>
          <a:lstStyle/>
          <a:p>
            <a:pPr algn="ctr"/>
            <a:r>
              <a:rPr lang="en-US" sz="900" b="1" dirty="0">
                <a:cs typeface="Times New Roman" panose="02020603050405020304" pitchFamily="18" charset="0"/>
              </a:rPr>
              <a:t>TRANSACTION SERVICES WORKPLAN</a:t>
            </a:r>
          </a:p>
          <a:p>
            <a:pPr algn="ctr"/>
            <a:endParaRPr lang="en-US" sz="900" b="1" dirty="0">
              <a:cs typeface="Times New Roman" panose="02020603050405020304" pitchFamily="18" charset="0"/>
            </a:endParaRPr>
          </a:p>
          <a:p>
            <a:pPr algn="just"/>
            <a:r>
              <a:rPr lang="en-US" sz="900" i="1" dirty="0">
                <a:cs typeface="Times New Roman" panose="02020603050405020304" pitchFamily="18" charset="0"/>
              </a:rPr>
              <a:t>Unless otherwise noted, our work will concentrate on historical financial information of the latest fiscal years ended December 31, 2017 (“FY17”) and 2018 (“FY18”) and latest trailing twelve month period (“TTM-19”). Our findings will be documented in an executive style report outlining the key findings from the scope of work below. </a:t>
            </a:r>
            <a:endParaRPr lang="en-US" sz="900" dirty="0">
              <a:cs typeface="Times New Roman" panose="02020603050405020304" pitchFamily="18" charset="0"/>
            </a:endParaRPr>
          </a:p>
          <a:p>
            <a:endParaRPr lang="en-US" sz="500" b="1" u="heavy" dirty="0">
              <a:cs typeface="Times New Roman" panose="02020603050405020304" pitchFamily="18" charset="0"/>
            </a:endParaRPr>
          </a:p>
          <a:p>
            <a:r>
              <a:rPr lang="en-US" sz="900" b="1" u="heavy" dirty="0">
                <a:cs typeface="Times New Roman" panose="02020603050405020304" pitchFamily="18" charset="0"/>
              </a:rPr>
              <a:t>Financial Due Diligence</a:t>
            </a:r>
            <a:endParaRPr lang="en-US" sz="900" dirty="0">
              <a:cs typeface="Times New Roman" panose="02020603050405020304" pitchFamily="18" charset="0"/>
            </a:endParaRPr>
          </a:p>
          <a:p>
            <a:r>
              <a:rPr lang="en-US" sz="900" b="1" dirty="0">
                <a:cs typeface="Times New Roman" panose="02020603050405020304" pitchFamily="18" charset="0"/>
              </a:rPr>
              <a:t> </a:t>
            </a:r>
            <a:r>
              <a:rPr lang="en-US" sz="900" b="1" i="1" dirty="0">
                <a:cs typeface="Times New Roman" panose="02020603050405020304" pitchFamily="18" charset="0"/>
              </a:rPr>
              <a:t> </a:t>
            </a:r>
            <a:endParaRPr lang="en-US" sz="900" dirty="0">
              <a:cs typeface="Times New Roman" panose="02020603050405020304" pitchFamily="18" charset="0"/>
            </a:endParaRPr>
          </a:p>
          <a:p>
            <a:pPr marL="228600" lvl="0" indent="-228600">
              <a:buFont typeface="+mj-lt"/>
              <a:buAutoNum type="arabicPeriod"/>
            </a:pPr>
            <a:r>
              <a:rPr lang="en-US" sz="900" b="1" dirty="0">
                <a:cs typeface="Times New Roman" panose="02020603050405020304" pitchFamily="18" charset="0"/>
              </a:rPr>
              <a:t>Overview</a:t>
            </a:r>
            <a:endParaRPr lang="en-US" sz="900" dirty="0">
              <a:cs typeface="Times New Roman" panose="02020603050405020304" pitchFamily="18" charset="0"/>
            </a:endParaRPr>
          </a:p>
          <a:p>
            <a:pPr lvl="1"/>
            <a:r>
              <a:rPr lang="en-US" sz="900" dirty="0">
                <a:cs typeface="Times New Roman" panose="02020603050405020304" pitchFamily="18" charset="0"/>
              </a:rPr>
              <a:t>Obtain background information of Target, including its:</a:t>
            </a:r>
          </a:p>
          <a:p>
            <a:pPr marL="685800" lvl="1" indent="-228600">
              <a:buFont typeface="+mj-lt"/>
              <a:buAutoNum type="alphaLcParenR"/>
            </a:pPr>
            <a:r>
              <a:rPr lang="en-US" sz="900" dirty="0">
                <a:cs typeface="Times New Roman" panose="02020603050405020304" pitchFamily="18" charset="0"/>
              </a:rPr>
              <a:t>Organizational structure, ownership and management reporting relationships;</a:t>
            </a:r>
          </a:p>
          <a:p>
            <a:pPr marL="685800" lvl="1" indent="-228600">
              <a:buFont typeface="+mj-lt"/>
              <a:buAutoNum type="alphaLcParenR"/>
            </a:pPr>
            <a:r>
              <a:rPr lang="en-US" sz="900" dirty="0">
                <a:cs typeface="Times New Roman" panose="02020603050405020304" pitchFamily="18" charset="0"/>
              </a:rPr>
              <a:t>Service offerings;</a:t>
            </a:r>
          </a:p>
          <a:p>
            <a:pPr marL="685800" lvl="1" indent="-228600">
              <a:buFont typeface="+mj-lt"/>
              <a:buAutoNum type="alphaLcParenR"/>
            </a:pPr>
            <a:r>
              <a:rPr lang="en-US" sz="900" dirty="0">
                <a:cs typeface="Times New Roman" panose="02020603050405020304" pitchFamily="18" charset="0"/>
              </a:rPr>
              <a:t>Significant relevant contractual relationships; and</a:t>
            </a:r>
          </a:p>
          <a:p>
            <a:pPr marL="685800" lvl="1" indent="-228600">
              <a:buFont typeface="+mj-lt"/>
              <a:buAutoNum type="alphaLcParenR"/>
            </a:pPr>
            <a:r>
              <a:rPr lang="en-US" sz="900" dirty="0">
                <a:cs typeface="Times New Roman" panose="02020603050405020304" pitchFamily="18" charset="0"/>
              </a:rPr>
              <a:t>Financial reporting framework / systems, personnel and internal control environment.</a:t>
            </a:r>
          </a:p>
          <a:p>
            <a:r>
              <a:rPr lang="en-US" sz="900" b="1" i="1" dirty="0">
                <a:cs typeface="Times New Roman" panose="02020603050405020304" pitchFamily="18" charset="0"/>
              </a:rPr>
              <a:t> </a:t>
            </a:r>
            <a:endParaRPr lang="en-US" sz="900" dirty="0">
              <a:cs typeface="Times New Roman" panose="02020603050405020304" pitchFamily="18" charset="0"/>
            </a:endParaRPr>
          </a:p>
          <a:p>
            <a:pPr marL="228600" lvl="0" indent="-228600">
              <a:buFont typeface="+mj-lt"/>
              <a:buAutoNum type="arabicPeriod" startAt="2"/>
            </a:pPr>
            <a:r>
              <a:rPr lang="en-US" sz="900" b="1" dirty="0">
                <a:cs typeface="Times New Roman" panose="02020603050405020304" pitchFamily="18" charset="0"/>
              </a:rPr>
              <a:t>Consistency of accounting policies </a:t>
            </a:r>
            <a:endParaRPr lang="en-US" sz="900" dirty="0">
              <a:cs typeface="Times New Roman" panose="02020603050405020304" pitchFamily="18" charset="0"/>
            </a:endParaRPr>
          </a:p>
          <a:p>
            <a:pPr lvl="1"/>
            <a:r>
              <a:rPr lang="en-US" sz="900" dirty="0">
                <a:cs typeface="Times New Roman" panose="02020603050405020304" pitchFamily="18" charset="0"/>
              </a:rPr>
              <a:t>Read Target’s financial statements and discuss them with Target’s management to gain an understanding of accounting policies and practices including:</a:t>
            </a:r>
          </a:p>
          <a:p>
            <a:pPr marL="685800" lvl="1" indent="-228600">
              <a:buFont typeface="+mj-lt"/>
              <a:buAutoNum type="alphaLcParenR"/>
            </a:pPr>
            <a:r>
              <a:rPr lang="en-US" sz="900" dirty="0">
                <a:cs typeface="Times New Roman" panose="02020603050405020304" pitchFamily="18" charset="0"/>
              </a:rPr>
              <a:t>Reporting methodology; </a:t>
            </a:r>
          </a:p>
          <a:p>
            <a:pPr marL="685800" lvl="1" indent="-228600">
              <a:buFont typeface="+mj-lt"/>
              <a:buAutoNum type="alphaLcParenR"/>
            </a:pPr>
            <a:r>
              <a:rPr lang="en-US" sz="900" dirty="0">
                <a:cs typeface="Times New Roman" panose="02020603050405020304" pitchFamily="18" charset="0"/>
              </a:rPr>
              <a:t>Revenue recognition policies; </a:t>
            </a:r>
          </a:p>
          <a:p>
            <a:pPr marL="685800" lvl="1" indent="-228600">
              <a:buFont typeface="+mj-lt"/>
              <a:buAutoNum type="alphaLcParenR"/>
            </a:pPr>
            <a:r>
              <a:rPr lang="en-US" sz="900" dirty="0">
                <a:cs typeface="Times New Roman" panose="02020603050405020304" pitchFamily="18" charset="0"/>
              </a:rPr>
              <a:t>Cash basis versus accrual basis of accounting;</a:t>
            </a:r>
          </a:p>
          <a:p>
            <a:pPr marL="685800" lvl="1" indent="-228600">
              <a:buFont typeface="+mj-lt"/>
              <a:buAutoNum type="alphaLcParenR"/>
            </a:pPr>
            <a:r>
              <a:rPr lang="en-US" sz="900" dirty="0">
                <a:cs typeface="Times New Roman" panose="02020603050405020304" pitchFamily="18" charset="0"/>
              </a:rPr>
              <a:t>Significant accounting estimates; and </a:t>
            </a:r>
          </a:p>
          <a:p>
            <a:pPr marL="685800" lvl="1" indent="-228600">
              <a:buFont typeface="+mj-lt"/>
              <a:buAutoNum type="alphaLcParenR"/>
            </a:pPr>
            <a:r>
              <a:rPr lang="en-US" sz="900" dirty="0">
                <a:cs typeface="Times New Roman" panose="02020603050405020304" pitchFamily="18" charset="0"/>
              </a:rPr>
              <a:t>Recent or contemplated changes in accounting principles.</a:t>
            </a:r>
          </a:p>
          <a:p>
            <a:pPr lvl="1"/>
            <a:endParaRPr lang="en-US" sz="500" dirty="0">
              <a:cs typeface="Times New Roman" panose="02020603050405020304" pitchFamily="18" charset="0"/>
            </a:endParaRPr>
          </a:p>
          <a:p>
            <a:pPr marL="228600" lvl="0" indent="-228600">
              <a:buFont typeface="+mj-lt"/>
              <a:buAutoNum type="arabicPeriod" startAt="3"/>
            </a:pPr>
            <a:r>
              <a:rPr lang="en-US" sz="900" b="1" dirty="0">
                <a:cs typeface="Times New Roman" panose="02020603050405020304" pitchFamily="18" charset="0"/>
              </a:rPr>
              <a:t>Sustainability/quality of earnings</a:t>
            </a:r>
            <a:endParaRPr lang="en-US" sz="900" dirty="0">
              <a:cs typeface="Times New Roman" panose="02020603050405020304" pitchFamily="18" charset="0"/>
            </a:endParaRPr>
          </a:p>
          <a:p>
            <a:pPr lvl="1"/>
            <a:r>
              <a:rPr lang="en-US" sz="900" dirty="0">
                <a:cs typeface="Times New Roman" panose="02020603050405020304" pitchFamily="18" charset="0"/>
              </a:rPr>
              <a:t>Propose potential adjustments to historical earnings before interest, taxes, depreciation, and amortization (“EBITDA”) by considering:</a:t>
            </a:r>
          </a:p>
          <a:p>
            <a:pPr marL="685800" lvl="1" indent="-228600">
              <a:buFont typeface="+mj-lt"/>
              <a:buAutoNum type="alphaLcParenR"/>
            </a:pPr>
            <a:endParaRPr lang="en-US" sz="500" dirty="0">
              <a:cs typeface="Times New Roman" panose="02020603050405020304" pitchFamily="18" charset="0"/>
            </a:endParaRPr>
          </a:p>
        </p:txBody>
      </p:sp>
      <p:sp>
        <p:nvSpPr>
          <p:cNvPr id="7" name="TextBox 6"/>
          <p:cNvSpPr txBox="1"/>
          <p:nvPr/>
        </p:nvSpPr>
        <p:spPr>
          <a:xfrm>
            <a:off x="4643438" y="1152409"/>
            <a:ext cx="4072826" cy="4854691"/>
          </a:xfrm>
          <a:prstGeom prst="rect">
            <a:avLst/>
          </a:prstGeom>
          <a:noFill/>
        </p:spPr>
        <p:txBody>
          <a:bodyPr wrap="square" lIns="54610" tIns="54610" rIns="54610" bIns="54610" rtlCol="0">
            <a:noAutofit/>
          </a:bodyPr>
          <a:lstStyle/>
          <a:p>
            <a:pPr marL="685800" lvl="1" indent="-228600">
              <a:buFont typeface="+mj-lt"/>
              <a:buAutoNum type="alphaLcParenR"/>
            </a:pPr>
            <a:r>
              <a:rPr lang="en-US" sz="900" dirty="0">
                <a:cs typeface="Times New Roman" panose="02020603050405020304" pitchFamily="18" charset="0"/>
              </a:rPr>
              <a:t>The impact of the normalization adjustments identified by Management (i.e. owner payroll compensation, computer software, prior period state recoupment, etc.); </a:t>
            </a:r>
          </a:p>
          <a:p>
            <a:pPr marL="685800" lvl="1" indent="-228600">
              <a:buFont typeface="+mj-lt"/>
              <a:buAutoNum type="alphaLcParenR"/>
            </a:pPr>
            <a:r>
              <a:rPr lang="en-US" sz="900" dirty="0">
                <a:cs typeface="Times New Roman" panose="02020603050405020304" pitchFamily="18" charset="0"/>
              </a:rPr>
              <a:t>The impact of flooding and closing of the Dallas day habilitation location; </a:t>
            </a:r>
          </a:p>
          <a:p>
            <a:pPr marL="685800" lvl="1" indent="-228600">
              <a:buFont typeface="+mj-lt"/>
              <a:buAutoNum type="alphaLcParenR"/>
            </a:pPr>
            <a:endParaRPr lang="en-US" sz="900" dirty="0">
              <a:cs typeface="Times New Roman" panose="02020603050405020304" pitchFamily="18" charset="0"/>
            </a:endParaRPr>
          </a:p>
          <a:p>
            <a:pPr marL="685800" lvl="1" indent="-228600">
              <a:buFont typeface="+mj-lt"/>
              <a:buAutoNum type="alphaLcParenR"/>
            </a:pPr>
            <a:r>
              <a:rPr lang="en-US" sz="900" dirty="0">
                <a:cs typeface="Times New Roman" panose="02020603050405020304" pitchFamily="18" charset="0"/>
              </a:rPr>
              <a:t>The impact of related party transactions, if any;</a:t>
            </a:r>
          </a:p>
          <a:p>
            <a:pPr marL="685800" lvl="1" indent="-228600">
              <a:buFont typeface="+mj-lt"/>
              <a:buAutoNum type="alphaLcParenR"/>
            </a:pPr>
            <a:r>
              <a:rPr lang="en-US" sz="900" dirty="0">
                <a:cs typeface="Times New Roman" panose="02020603050405020304" pitchFamily="18" charset="0"/>
              </a:rPr>
              <a:t>The impact of settlements related to litigation, if any;</a:t>
            </a:r>
          </a:p>
          <a:p>
            <a:pPr marL="685800" lvl="1" indent="-228600">
              <a:buFont typeface="+mj-lt"/>
              <a:buAutoNum type="alphaLcParenR"/>
            </a:pPr>
            <a:r>
              <a:rPr lang="en-US" sz="900" dirty="0">
                <a:cs typeface="Times New Roman" panose="02020603050405020304" pitchFamily="18" charset="0"/>
              </a:rPr>
              <a:t>The impact of any changes to senior management or team structure;</a:t>
            </a:r>
          </a:p>
          <a:p>
            <a:pPr marL="685800" lvl="1" indent="-228600">
              <a:buFont typeface="+mj-lt"/>
              <a:buAutoNum type="alphaLcParenR"/>
            </a:pPr>
            <a:r>
              <a:rPr lang="en-US" sz="900" dirty="0">
                <a:cs typeface="Times New Roman" panose="02020603050405020304" pitchFamily="18" charset="0"/>
              </a:rPr>
              <a:t>The impact from the exclusion of CDSA and TxHML;</a:t>
            </a:r>
          </a:p>
          <a:p>
            <a:pPr marL="685800" lvl="1" indent="-228600">
              <a:buFont typeface="+mj-lt"/>
              <a:buAutoNum type="alphaLcParenR"/>
            </a:pPr>
            <a:r>
              <a:rPr lang="en-US" sz="900" dirty="0">
                <a:cs typeface="Times New Roman" panose="02020603050405020304" pitchFamily="18" charset="0"/>
              </a:rPr>
              <a:t>The impact from cash accounting (e.g. rent expense);</a:t>
            </a:r>
          </a:p>
          <a:p>
            <a:pPr marL="685800" lvl="1" indent="-228600">
              <a:buFont typeface="+mj-lt"/>
              <a:buAutoNum type="alphaLcParenR"/>
            </a:pPr>
            <a:r>
              <a:rPr lang="en-US" sz="900" dirty="0">
                <a:cs typeface="Times New Roman" panose="02020603050405020304" pitchFamily="18" charset="0"/>
              </a:rPr>
              <a:t>The pro forma impact of reimbursement rate changes, and census gain/loss included in reported/run rate EBITDA; </a:t>
            </a:r>
          </a:p>
          <a:p>
            <a:pPr marL="685800" lvl="1" indent="-228600">
              <a:buFont typeface="+mj-lt"/>
              <a:buAutoNum type="alphaLcParenR"/>
            </a:pPr>
            <a:r>
              <a:rPr lang="en-US" sz="900" dirty="0">
                <a:cs typeface="Times New Roman" panose="02020603050405020304" pitchFamily="18" charset="0"/>
              </a:rPr>
              <a:t>The impact of provisions, management estimates, or adjusting entries on the reported results;</a:t>
            </a:r>
          </a:p>
          <a:p>
            <a:pPr marL="685800" lvl="1" indent="-228600">
              <a:buFont typeface="+mj-lt"/>
              <a:buAutoNum type="alphaLcParenR"/>
            </a:pPr>
            <a:r>
              <a:rPr lang="en-US" sz="900" dirty="0">
                <a:cs typeface="Times New Roman" panose="02020603050405020304" pitchFamily="18" charset="0"/>
              </a:rPr>
              <a:t>Any other unusual or non-recurring events (revenue or expenses) or transactions that may have distorted results; and</a:t>
            </a:r>
          </a:p>
          <a:p>
            <a:pPr marL="685800" lvl="1" indent="-228600">
              <a:buFont typeface="+mj-lt"/>
              <a:buAutoNum type="alphaLcParenR"/>
            </a:pPr>
            <a:r>
              <a:rPr lang="en-US" sz="900" dirty="0">
                <a:cs typeface="Times New Roman" panose="02020603050405020304" pitchFamily="18" charset="0"/>
              </a:rPr>
              <a:t>Other potential items discovered in the due diligence process.</a:t>
            </a:r>
          </a:p>
          <a:p>
            <a:pPr marL="685800" lvl="1" indent="-228600">
              <a:buFont typeface="+mj-lt"/>
              <a:buAutoNum type="alphaLcParenR"/>
            </a:pPr>
            <a:endParaRPr lang="en-US" sz="500" dirty="0">
              <a:cs typeface="Times New Roman" panose="02020603050405020304" pitchFamily="18" charset="0"/>
            </a:endParaRPr>
          </a:p>
          <a:p>
            <a:r>
              <a:rPr lang="en-US" sz="900" dirty="0">
                <a:cs typeface="Times New Roman" panose="02020603050405020304" pitchFamily="18" charset="0"/>
              </a:rPr>
              <a:t> </a:t>
            </a:r>
            <a:r>
              <a:rPr lang="en-US" sz="900" b="1" i="1" dirty="0">
                <a:cs typeface="Times New Roman" panose="02020603050405020304" pitchFamily="18" charset="0"/>
              </a:rPr>
              <a:t>Supporting analyses to quality/sustainability of earnings</a:t>
            </a:r>
          </a:p>
          <a:p>
            <a:endParaRPr lang="en-US" sz="500" dirty="0">
              <a:cs typeface="Times New Roman" panose="02020603050405020304" pitchFamily="18" charset="0"/>
            </a:endParaRPr>
          </a:p>
          <a:p>
            <a:pPr marL="342900" lvl="0" indent="-171450">
              <a:buFont typeface="+mj-lt"/>
              <a:buAutoNum type="romanLcPeriod"/>
            </a:pPr>
            <a:r>
              <a:rPr lang="en-US" sz="900" b="1" dirty="0">
                <a:cs typeface="Times New Roman" panose="02020603050405020304" pitchFamily="18" charset="0"/>
              </a:rPr>
              <a:t>Revenue</a:t>
            </a:r>
            <a:endParaRPr lang="en-US" sz="900" dirty="0">
              <a:cs typeface="Times New Roman" panose="02020603050405020304" pitchFamily="18" charset="0"/>
            </a:endParaRPr>
          </a:p>
          <a:p>
            <a:pPr lvl="1"/>
            <a:r>
              <a:rPr lang="en-US" sz="900" dirty="0">
                <a:cs typeface="Times New Roman" panose="02020603050405020304" pitchFamily="18" charset="0"/>
              </a:rPr>
              <a:t>Obtain and read an analysis of Target’s revenue and inquire about:</a:t>
            </a:r>
          </a:p>
          <a:p>
            <a:pPr marL="685800" lvl="1" indent="-228600">
              <a:buFont typeface="+mj-lt"/>
              <a:buAutoNum type="alphaLcParenR"/>
            </a:pPr>
            <a:r>
              <a:rPr lang="en-US" sz="900" dirty="0">
                <a:cs typeface="Times New Roman" panose="02020603050405020304" pitchFamily="18" charset="0"/>
              </a:rPr>
              <a:t>Revenue and margin by type;</a:t>
            </a:r>
          </a:p>
          <a:p>
            <a:pPr marL="685800" lvl="1" indent="-228600">
              <a:buFont typeface="+mj-lt"/>
              <a:buAutoNum type="alphaLcParenR"/>
            </a:pPr>
            <a:r>
              <a:rPr lang="en-US" sz="900" dirty="0">
                <a:cs typeface="Times New Roman" panose="02020603050405020304" pitchFamily="18" charset="0"/>
              </a:rPr>
              <a:t>Comment on any non-recurring components of revenue;</a:t>
            </a:r>
          </a:p>
          <a:p>
            <a:pPr marL="685800" lvl="1" indent="-228600">
              <a:buFont typeface="+mj-lt"/>
              <a:buAutoNum type="alphaLcParenR"/>
            </a:pPr>
            <a:r>
              <a:rPr lang="en-US" sz="900" dirty="0">
                <a:cs typeface="Times New Roman" panose="02020603050405020304" pitchFamily="18" charset="0"/>
              </a:rPr>
              <a:t>Revenue seasonality, if any; and</a:t>
            </a:r>
          </a:p>
          <a:p>
            <a:pPr marL="685800" lvl="1" indent="-228600">
              <a:buFont typeface="+mj-lt"/>
              <a:buAutoNum type="alphaLcParenR"/>
            </a:pPr>
            <a:r>
              <a:rPr lang="en-US" sz="900" dirty="0">
                <a:cs typeface="Times New Roman" panose="02020603050405020304" pitchFamily="18" charset="0"/>
              </a:rPr>
              <a:t>Cut off issues, if any.</a:t>
            </a:r>
          </a:p>
          <a:p>
            <a:pPr lvl="1"/>
            <a:endParaRPr lang="en-US" sz="900" dirty="0">
              <a:cs typeface="Times New Roman" panose="02020603050405020304" pitchFamily="18" charset="0"/>
            </a:endParaRPr>
          </a:p>
          <a:p>
            <a:pPr lvl="1"/>
            <a:endParaRPr lang="en-US" sz="900" dirty="0">
              <a:cs typeface="Times New Roman" panose="02020603050405020304" pitchFamily="18" charset="0"/>
            </a:endParaRPr>
          </a:p>
          <a:p>
            <a:r>
              <a:rPr lang="en-US" sz="900" dirty="0">
                <a:cs typeface="Times New Roman" panose="02020603050405020304" pitchFamily="18" charset="0"/>
              </a:rPr>
              <a:t> </a:t>
            </a:r>
            <a:endParaRPr lang="en-US" sz="900" dirty="0">
              <a:solidFill>
                <a:schemeClr val="tx2"/>
              </a:solidFill>
              <a:cs typeface="Times New Roman" panose="02020603050405020304" pitchFamily="18" charset="0"/>
            </a:endParaRPr>
          </a:p>
        </p:txBody>
      </p:sp>
      <p:sp>
        <p:nvSpPr>
          <p:cNvPr id="8" name="Titre 5">
            <a:extLst>
              <a:ext uri="{FF2B5EF4-FFF2-40B4-BE49-F238E27FC236}">
                <a16:creationId xmlns="" xmlns:a16="http://schemas.microsoft.com/office/drawing/2014/main" id="{4EB95F7B-0357-46F1-AD07-EAF7E525387A}"/>
              </a:ext>
            </a:extLst>
          </p:cNvPr>
          <p:cNvSpPr>
            <a:spLocks noGrp="1"/>
          </p:cNvSpPr>
          <p:nvPr>
            <p:ph type="title"/>
          </p:nvPr>
        </p:nvSpPr>
        <p:spPr>
          <a:xfrm>
            <a:off x="431800" y="481941"/>
            <a:ext cx="7936690" cy="470505"/>
          </a:xfrm>
        </p:spPr>
        <p:txBody>
          <a:bodyPr/>
          <a:lstStyle/>
          <a:p>
            <a:r>
              <a:rPr lang="en-CA" dirty="0"/>
              <a:t>Engagement letter procedures  (1/2)</a:t>
            </a:r>
          </a:p>
        </p:txBody>
      </p:sp>
      <p:sp>
        <p:nvSpPr>
          <p:cNvPr id="9" name="ZoneTexte 11">
            <a:extLst>
              <a:ext uri="{FF2B5EF4-FFF2-40B4-BE49-F238E27FC236}">
                <a16:creationId xmlns="" xmlns:a16="http://schemas.microsoft.com/office/drawing/2014/main" id="{2BD5BE38-E784-4712-AB3D-2F36386BDE10}"/>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smtClean="0">
                <a:solidFill>
                  <a:schemeClr val="tx2"/>
                </a:solidFill>
              </a:rPr>
              <a:t>Appendix 1</a:t>
            </a:r>
            <a:endParaRPr lang="en-GB" sz="1200" b="1" dirty="0">
              <a:solidFill>
                <a:schemeClr val="tx2"/>
              </a:solidFill>
            </a:endParaRPr>
          </a:p>
        </p:txBody>
      </p:sp>
    </p:spTree>
    <p:extLst>
      <p:ext uri="{BB962C8B-B14F-4D97-AF65-F5344CB8AC3E}">
        <p14:creationId xmlns:p14="http://schemas.microsoft.com/office/powerpoint/2010/main" val="17263075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800" y="1057685"/>
            <a:ext cx="4068763" cy="5015600"/>
          </a:xfrm>
          <a:prstGeom prst="rect">
            <a:avLst/>
          </a:prstGeom>
          <a:noFill/>
        </p:spPr>
        <p:txBody>
          <a:bodyPr wrap="square" lIns="54610" tIns="54610" rIns="54610" bIns="54610" rtlCol="0">
            <a:noAutofit/>
          </a:bodyPr>
          <a:lstStyle/>
          <a:p>
            <a:pPr marL="457200" lvl="0" indent="-285750">
              <a:buFont typeface="+mj-lt"/>
              <a:buAutoNum type="romanLcPeriod" startAt="2"/>
              <a:tabLst>
                <a:tab pos="342900" algn="l"/>
              </a:tabLst>
            </a:pPr>
            <a:r>
              <a:rPr lang="en-US" sz="900" b="1" dirty="0">
                <a:cs typeface="Times New Roman" panose="02020603050405020304" pitchFamily="18" charset="0"/>
              </a:rPr>
              <a:t>Expenses</a:t>
            </a:r>
            <a:endParaRPr lang="en-US" sz="900" dirty="0">
              <a:cs typeface="Times New Roman" panose="02020603050405020304" pitchFamily="18" charset="0"/>
            </a:endParaRPr>
          </a:p>
          <a:p>
            <a:pPr lvl="1"/>
            <a:r>
              <a:rPr lang="en-US" sz="900" dirty="0">
                <a:cs typeface="Times New Roman" panose="02020603050405020304" pitchFamily="18" charset="0"/>
              </a:rPr>
              <a:t>Obtain and read an analysis of Target’s operating expenses and inquire about:</a:t>
            </a:r>
          </a:p>
          <a:p>
            <a:pPr marL="685800" lvl="1" indent="-228600">
              <a:buFont typeface="+mj-lt"/>
              <a:buAutoNum type="alphaLcParenR"/>
            </a:pPr>
            <a:r>
              <a:rPr lang="en-US" sz="900" dirty="0">
                <a:cs typeface="Times New Roman" panose="02020603050405020304" pitchFamily="18" charset="0"/>
              </a:rPr>
              <a:t>Salaries and wages (including headcount by area and function, if possible);</a:t>
            </a:r>
          </a:p>
          <a:p>
            <a:pPr marL="685800" lvl="1" indent="-228600">
              <a:buFont typeface="+mj-lt"/>
              <a:buAutoNum type="alphaLcParenR"/>
            </a:pPr>
            <a:r>
              <a:rPr lang="en-US" sz="900" dirty="0">
                <a:cs typeface="Times New Roman" panose="02020603050405020304" pitchFamily="18" charset="0"/>
              </a:rPr>
              <a:t>Incentive based compensation;</a:t>
            </a:r>
          </a:p>
          <a:p>
            <a:pPr marL="685800" lvl="1" indent="-228600">
              <a:buFont typeface="+mj-lt"/>
              <a:buAutoNum type="alphaLcParenR"/>
            </a:pPr>
            <a:r>
              <a:rPr lang="en-US" sz="900" dirty="0">
                <a:cs typeface="Times New Roman" panose="02020603050405020304" pitchFamily="18" charset="0"/>
              </a:rPr>
              <a:t>Corporate allocations;</a:t>
            </a:r>
          </a:p>
          <a:p>
            <a:pPr marL="685800" lvl="1" indent="-228600">
              <a:buFont typeface="+mj-lt"/>
              <a:buAutoNum type="alphaLcParenR"/>
            </a:pPr>
            <a:r>
              <a:rPr lang="en-US" sz="900" dirty="0">
                <a:cs typeface="Times New Roman" panose="02020603050405020304" pitchFamily="18" charset="0"/>
              </a:rPr>
              <a:t>Purchased services;</a:t>
            </a:r>
          </a:p>
          <a:p>
            <a:pPr marL="685800" lvl="1" indent="-228600">
              <a:buFont typeface="+mj-lt"/>
              <a:buAutoNum type="alphaLcParenR"/>
            </a:pPr>
            <a:r>
              <a:rPr lang="en-US" sz="900" dirty="0">
                <a:cs typeface="Times New Roman" panose="02020603050405020304" pitchFamily="18" charset="0"/>
              </a:rPr>
              <a:t>Rent and leases; and</a:t>
            </a:r>
          </a:p>
          <a:p>
            <a:pPr marL="685800" lvl="1" indent="-228600">
              <a:buFont typeface="+mj-lt"/>
              <a:buAutoNum type="alphaLcParenR"/>
            </a:pPr>
            <a:r>
              <a:rPr lang="en-US" sz="900" dirty="0">
                <a:cs typeface="Times New Roman" panose="02020603050405020304" pitchFamily="18" charset="0"/>
              </a:rPr>
              <a:t>Miscellaneous and other expenses.</a:t>
            </a:r>
          </a:p>
          <a:p>
            <a:pPr lvl="1"/>
            <a:endParaRPr lang="en-US" sz="400" dirty="0">
              <a:cs typeface="Times New Roman" panose="02020603050405020304" pitchFamily="18" charset="0"/>
            </a:endParaRPr>
          </a:p>
          <a:p>
            <a:pPr marL="228600" lvl="0" indent="-228600">
              <a:buFont typeface="+mj-lt"/>
              <a:buAutoNum type="arabicPeriod" startAt="4"/>
            </a:pPr>
            <a:r>
              <a:rPr lang="en-US" sz="900" b="1" dirty="0">
                <a:cs typeface="Times New Roman" panose="02020603050405020304" pitchFamily="18" charset="0"/>
              </a:rPr>
              <a:t>Working capital </a:t>
            </a:r>
            <a:endParaRPr lang="en-US" sz="900" dirty="0">
              <a:cs typeface="Times New Roman" panose="02020603050405020304" pitchFamily="18" charset="0"/>
            </a:endParaRPr>
          </a:p>
          <a:p>
            <a:pPr lvl="1"/>
            <a:r>
              <a:rPr lang="en-US" sz="900" dirty="0">
                <a:cs typeface="Times New Roman" panose="02020603050405020304" pitchFamily="18" charset="0"/>
              </a:rPr>
              <a:t>Summarize and normalize historical working capital in the business including:</a:t>
            </a:r>
          </a:p>
          <a:p>
            <a:pPr marL="685800" lvl="1" indent="-228600">
              <a:buFont typeface="+mj-lt"/>
              <a:buAutoNum type="alphaLcParenR"/>
            </a:pPr>
            <a:r>
              <a:rPr lang="en-US" sz="900" dirty="0">
                <a:cs typeface="Times New Roman" panose="02020603050405020304" pitchFamily="18" charset="0"/>
              </a:rPr>
              <a:t>Comment on the working capital trends, for the respective period;</a:t>
            </a:r>
          </a:p>
          <a:p>
            <a:pPr marL="685800" lvl="1" indent="-228600">
              <a:buFont typeface="+mj-lt"/>
              <a:buAutoNum type="alphaLcParenR"/>
            </a:pPr>
            <a:r>
              <a:rPr lang="en-US" sz="900" dirty="0">
                <a:cs typeface="Times New Roman" panose="02020603050405020304" pitchFamily="18" charset="0"/>
              </a:rPr>
              <a:t>Key drivers (i.e. seasonality, accounts payable days, days sales outstanding);</a:t>
            </a:r>
          </a:p>
          <a:p>
            <a:pPr marL="685800" lvl="1" indent="-228600">
              <a:buFont typeface="+mj-lt"/>
              <a:buAutoNum type="alphaLcParenR"/>
            </a:pPr>
            <a:r>
              <a:rPr lang="en-US" sz="900" dirty="0">
                <a:cs typeface="Times New Roman" panose="02020603050405020304" pitchFamily="18" charset="0"/>
              </a:rPr>
              <a:t>Payroll related funding and timing of cash flows; and</a:t>
            </a:r>
          </a:p>
          <a:p>
            <a:pPr marL="685800" lvl="1" indent="-228600">
              <a:buFont typeface="+mj-lt"/>
              <a:buAutoNum type="alphaLcParenR"/>
            </a:pPr>
            <a:r>
              <a:rPr lang="en-US" sz="900" dirty="0">
                <a:cs typeface="Times New Roman" panose="02020603050405020304" pitchFamily="18" charset="0"/>
              </a:rPr>
              <a:t>Large or unusual non-recurring items that may have impacted normal working capital trends including potential items identified within the quality of earnings analysis noted above.</a:t>
            </a:r>
          </a:p>
          <a:p>
            <a:r>
              <a:rPr lang="en-US" sz="900" dirty="0">
                <a:cs typeface="Times New Roman" panose="02020603050405020304" pitchFamily="18" charset="0"/>
              </a:rPr>
              <a:t> </a:t>
            </a:r>
            <a:r>
              <a:rPr lang="en-US" sz="900" b="1" i="1" dirty="0">
                <a:cs typeface="Times New Roman" panose="02020603050405020304" pitchFamily="18" charset="0"/>
              </a:rPr>
              <a:t>Supporting analyses to working capital</a:t>
            </a:r>
          </a:p>
          <a:p>
            <a:endParaRPr lang="en-US" sz="500" dirty="0">
              <a:cs typeface="Times New Roman" panose="02020603050405020304" pitchFamily="18" charset="0"/>
            </a:endParaRPr>
          </a:p>
          <a:p>
            <a:pPr marL="342900" lvl="0" indent="-171450">
              <a:buFont typeface="+mj-lt"/>
              <a:buAutoNum type="romanLcPeriod"/>
            </a:pPr>
            <a:r>
              <a:rPr lang="en-US" sz="900" b="1" dirty="0">
                <a:cs typeface="Times New Roman" panose="02020603050405020304" pitchFamily="18" charset="0"/>
              </a:rPr>
              <a:t>Accounts receivable</a:t>
            </a:r>
            <a:endParaRPr lang="en-US" sz="900" dirty="0">
              <a:cs typeface="Times New Roman" panose="02020603050405020304" pitchFamily="18" charset="0"/>
            </a:endParaRPr>
          </a:p>
          <a:p>
            <a:pPr lvl="1"/>
            <a:r>
              <a:rPr lang="en-US" sz="900" dirty="0">
                <a:cs typeface="Times New Roman" panose="02020603050405020304" pitchFamily="18" charset="0"/>
              </a:rPr>
              <a:t>Obtain and read an analysis of Target’s accounts receivable and inquire about:</a:t>
            </a:r>
          </a:p>
          <a:p>
            <a:pPr marL="685800" lvl="1" indent="-228600">
              <a:buFont typeface="+mj-lt"/>
              <a:buAutoNum type="alphaLcParenR"/>
            </a:pPr>
            <a:r>
              <a:rPr lang="en-US" sz="900" dirty="0">
                <a:cs typeface="Times New Roman" panose="02020603050405020304" pitchFamily="18" charset="0"/>
              </a:rPr>
              <a:t>Aging analysis and related credit terms (including special terms);</a:t>
            </a:r>
          </a:p>
          <a:p>
            <a:pPr marL="685800" lvl="1" indent="-228600">
              <a:buFont typeface="+mj-lt"/>
              <a:buAutoNum type="alphaLcParenR"/>
            </a:pPr>
            <a:r>
              <a:rPr lang="en-US" sz="900" dirty="0">
                <a:cs typeface="Times New Roman" panose="02020603050405020304" pitchFamily="18" charset="0"/>
              </a:rPr>
              <a:t>Trade and non-trade balances;</a:t>
            </a:r>
          </a:p>
          <a:p>
            <a:pPr marL="685800" lvl="1" indent="-228600">
              <a:buFont typeface="+mj-lt"/>
              <a:buAutoNum type="alphaLcParenR"/>
            </a:pPr>
            <a:r>
              <a:rPr lang="en-US" sz="900" dirty="0">
                <a:cs typeface="Times New Roman" panose="02020603050405020304" pitchFamily="18" charset="0"/>
              </a:rPr>
              <a:t>Allowance for uncollectible accounts and write-offs; and</a:t>
            </a:r>
          </a:p>
          <a:p>
            <a:pPr marL="685800" lvl="1" indent="-228600">
              <a:buFont typeface="+mj-lt"/>
              <a:buAutoNum type="alphaLcParenR"/>
            </a:pPr>
            <a:r>
              <a:rPr lang="en-US" sz="900" dirty="0">
                <a:cs typeface="Times New Roman" panose="02020603050405020304" pitchFamily="18" charset="0"/>
              </a:rPr>
              <a:t>Reserve and adjustments.</a:t>
            </a:r>
          </a:p>
          <a:p>
            <a:pPr marL="685800" lvl="1" indent="-228600">
              <a:buFont typeface="+mj-lt"/>
              <a:buAutoNum type="alphaLcParenR"/>
            </a:pPr>
            <a:endParaRPr lang="en-US" sz="500" dirty="0">
              <a:cs typeface="Times New Roman" panose="02020603050405020304" pitchFamily="18" charset="0"/>
            </a:endParaRPr>
          </a:p>
          <a:p>
            <a:pPr marL="457200" lvl="0" indent="-285750">
              <a:buFont typeface="+mj-lt"/>
              <a:buAutoNum type="romanLcPeriod"/>
              <a:tabLst>
                <a:tab pos="342900" algn="l"/>
              </a:tabLst>
            </a:pPr>
            <a:r>
              <a:rPr lang="en-US" sz="900" b="1" dirty="0">
                <a:cs typeface="Times New Roman" panose="02020603050405020304" pitchFamily="18" charset="0"/>
              </a:rPr>
              <a:t>Other assets (i.e. prepaid accounts)</a:t>
            </a:r>
            <a:endParaRPr lang="en-US" sz="900" dirty="0">
              <a:cs typeface="Times New Roman" panose="02020603050405020304" pitchFamily="18" charset="0"/>
            </a:endParaRPr>
          </a:p>
          <a:p>
            <a:pPr lvl="1"/>
            <a:r>
              <a:rPr lang="en-US" sz="900" dirty="0">
                <a:cs typeface="Times New Roman" panose="02020603050405020304" pitchFamily="18" charset="0"/>
              </a:rPr>
              <a:t>Obtain a summary of and comment on unusual items, significant fluctuations, and significant balances.</a:t>
            </a:r>
          </a:p>
          <a:p>
            <a:pPr marL="685800" lvl="1" indent="-228600">
              <a:buFont typeface="+mj-lt"/>
              <a:buAutoNum type="alphaLcParenR"/>
            </a:pPr>
            <a:endParaRPr lang="en-US" sz="900" dirty="0">
              <a:cs typeface="Times New Roman" panose="02020603050405020304" pitchFamily="18" charset="0"/>
            </a:endParaRPr>
          </a:p>
          <a:p>
            <a:pPr marL="685800" lvl="1" indent="-228600">
              <a:buFont typeface="+mj-lt"/>
              <a:buAutoNum type="alphaLcParenR"/>
            </a:pPr>
            <a:endParaRPr lang="en-US" sz="900" dirty="0">
              <a:cs typeface="Times New Roman" panose="02020603050405020304" pitchFamily="18" charset="0"/>
            </a:endParaRPr>
          </a:p>
          <a:p>
            <a:pPr marL="685800" lvl="1" indent="-228600">
              <a:buFont typeface="+mj-lt"/>
              <a:buAutoNum type="alphaLcParenR"/>
            </a:pPr>
            <a:endParaRPr lang="en-US" sz="900" dirty="0">
              <a:cs typeface="Times New Roman" panose="02020603050405020304" pitchFamily="18" charset="0"/>
            </a:endParaRPr>
          </a:p>
          <a:p>
            <a:pPr marL="685800" lvl="1" indent="-228600">
              <a:buFont typeface="+mj-lt"/>
              <a:buAutoNum type="alphaLcParenR"/>
            </a:pPr>
            <a:endParaRPr lang="en-US" sz="900" dirty="0">
              <a:cs typeface="Times New Roman" panose="02020603050405020304" pitchFamily="18" charset="0"/>
            </a:endParaRPr>
          </a:p>
          <a:p>
            <a:pPr marL="685800" lvl="1" indent="-228600">
              <a:buFont typeface="+mj-lt"/>
              <a:buAutoNum type="alphaLcParenR"/>
            </a:pPr>
            <a:endParaRPr lang="en-US" sz="900" dirty="0">
              <a:cs typeface="Times New Roman" panose="02020603050405020304" pitchFamily="18" charset="0"/>
            </a:endParaRPr>
          </a:p>
          <a:p>
            <a:pPr marL="685800" lvl="1" indent="-228600">
              <a:buFont typeface="+mj-lt"/>
              <a:buAutoNum type="alphaLcParenR"/>
            </a:pPr>
            <a:endParaRPr lang="en-US" sz="900" dirty="0">
              <a:solidFill>
                <a:schemeClr val="tx2"/>
              </a:solidFill>
              <a:cs typeface="Times New Roman" panose="02020603050405020304" pitchFamily="18" charset="0"/>
            </a:endParaRPr>
          </a:p>
        </p:txBody>
      </p:sp>
      <p:sp>
        <p:nvSpPr>
          <p:cNvPr id="5" name="TextBox 4">
            <a:extLst>
              <a:ext uri="{FF2B5EF4-FFF2-40B4-BE49-F238E27FC236}">
                <a16:creationId xmlns="" xmlns:a16="http://schemas.microsoft.com/office/drawing/2014/main" id="{8F372E3A-F123-45A0-BED3-EA151D8D6EAD}"/>
              </a:ext>
            </a:extLst>
          </p:cNvPr>
          <p:cNvSpPr txBox="1"/>
          <p:nvPr/>
        </p:nvSpPr>
        <p:spPr>
          <a:xfrm>
            <a:off x="4643438" y="1057685"/>
            <a:ext cx="4072825" cy="5025125"/>
          </a:xfrm>
          <a:prstGeom prst="rect">
            <a:avLst/>
          </a:prstGeom>
          <a:noFill/>
        </p:spPr>
        <p:txBody>
          <a:bodyPr wrap="square" lIns="54610" tIns="54610" rIns="54610" bIns="54610" rtlCol="0">
            <a:noAutofit/>
          </a:bodyPr>
          <a:lstStyle/>
          <a:p>
            <a:pPr marL="457200" lvl="0" indent="-285750">
              <a:buFont typeface="+mj-lt"/>
              <a:buAutoNum type="romanLcPeriod" startAt="3"/>
            </a:pPr>
            <a:r>
              <a:rPr lang="en-US" sz="900" b="1" dirty="0">
                <a:cs typeface="Times New Roman" panose="02020603050405020304" pitchFamily="18" charset="0"/>
              </a:rPr>
              <a:t>Accounts payable and accruals</a:t>
            </a:r>
            <a:endParaRPr lang="en-US" sz="900" dirty="0">
              <a:cs typeface="Times New Roman" panose="02020603050405020304" pitchFamily="18" charset="0"/>
            </a:endParaRPr>
          </a:p>
          <a:p>
            <a:pPr lvl="1"/>
            <a:r>
              <a:rPr lang="en-US" sz="900" dirty="0">
                <a:cs typeface="Times New Roman" panose="02020603050405020304" pitchFamily="18" charset="0"/>
              </a:rPr>
              <a:t>Obtain and read an analysis of Target’s accounts payable and accrued expenses and inquire about:</a:t>
            </a:r>
          </a:p>
          <a:p>
            <a:pPr marL="685800" lvl="1" indent="-228600">
              <a:buFont typeface="+mj-lt"/>
              <a:buAutoNum type="alphaLcParenR"/>
            </a:pPr>
            <a:r>
              <a:rPr lang="en-US" sz="900" dirty="0">
                <a:cs typeface="Times New Roman" panose="02020603050405020304" pitchFamily="18" charset="0"/>
              </a:rPr>
              <a:t>AP aging analysis, terms of trade with major vendors, days payables outstanding and trade payables aging analysis;</a:t>
            </a:r>
          </a:p>
          <a:p>
            <a:pPr marL="685800" lvl="1" indent="-228600">
              <a:buFont typeface="+mj-lt"/>
              <a:buAutoNum type="alphaLcParenR"/>
            </a:pPr>
            <a:r>
              <a:rPr lang="en-US" sz="900" dirty="0">
                <a:cs typeface="Times New Roman" panose="02020603050405020304" pitchFamily="18" charset="0"/>
              </a:rPr>
              <a:t>Accrued expenses; and</a:t>
            </a:r>
          </a:p>
          <a:p>
            <a:pPr marL="685800" lvl="1" indent="-228600">
              <a:buFont typeface="+mj-lt"/>
              <a:buAutoNum type="alphaLcParenR"/>
            </a:pPr>
            <a:r>
              <a:rPr lang="en-US" sz="900" dirty="0">
                <a:cs typeface="Times New Roman" panose="02020603050405020304" pitchFamily="18" charset="0"/>
              </a:rPr>
              <a:t>Other current and non-current liabilities.</a:t>
            </a:r>
          </a:p>
          <a:p>
            <a:pPr lvl="1"/>
            <a:endParaRPr lang="en-US" sz="500" dirty="0">
              <a:cs typeface="Times New Roman" panose="02020603050405020304" pitchFamily="18" charset="0"/>
            </a:endParaRPr>
          </a:p>
          <a:p>
            <a:pPr marL="228600" lvl="0" indent="-228600">
              <a:buFont typeface="+mj-lt"/>
              <a:buAutoNum type="arabicPeriod" startAt="5"/>
            </a:pPr>
            <a:r>
              <a:rPr lang="en-US" sz="900" b="1" dirty="0">
                <a:cs typeface="Times New Roman" panose="02020603050405020304" pitchFamily="18" charset="0"/>
              </a:rPr>
              <a:t>Related party transactions </a:t>
            </a:r>
            <a:endParaRPr lang="en-US" sz="900" dirty="0">
              <a:cs typeface="Times New Roman" panose="02020603050405020304" pitchFamily="18" charset="0"/>
            </a:endParaRPr>
          </a:p>
          <a:p>
            <a:pPr lvl="1"/>
            <a:r>
              <a:rPr lang="en-US" sz="900" dirty="0">
                <a:cs typeface="Times New Roman" panose="02020603050405020304" pitchFamily="18" charset="0"/>
              </a:rPr>
              <a:t>Inquire about and summarize related party transactions including:</a:t>
            </a:r>
          </a:p>
          <a:p>
            <a:pPr marL="685800" lvl="1" indent="-228600">
              <a:buFont typeface="+mj-lt"/>
              <a:buAutoNum type="alphaLcParenR"/>
            </a:pPr>
            <a:r>
              <a:rPr lang="en-US" sz="900" dirty="0">
                <a:cs typeface="Times New Roman" panose="02020603050405020304" pitchFamily="18" charset="0"/>
              </a:rPr>
              <a:t>Nature and extent of related party transactions; and </a:t>
            </a:r>
          </a:p>
          <a:p>
            <a:pPr marL="685800" lvl="1" indent="-228600">
              <a:buFont typeface="+mj-lt"/>
              <a:buAutoNum type="alphaLcParenR"/>
            </a:pPr>
            <a:r>
              <a:rPr lang="en-US" sz="900" dirty="0">
                <a:cs typeface="Times New Roman" panose="02020603050405020304" pitchFamily="18" charset="0"/>
              </a:rPr>
              <a:t>Basis of pricing for arrangements with related parties.</a:t>
            </a:r>
          </a:p>
          <a:p>
            <a:pPr marL="685800" lvl="1" indent="-228600">
              <a:buFont typeface="+mj-lt"/>
              <a:buAutoNum type="alphaLcParenR"/>
            </a:pPr>
            <a:endParaRPr lang="en-US" sz="500" dirty="0">
              <a:cs typeface="Times New Roman" panose="02020603050405020304" pitchFamily="18" charset="0"/>
            </a:endParaRPr>
          </a:p>
          <a:p>
            <a:pPr marL="228600" lvl="0" indent="-228600">
              <a:buFont typeface="+mj-lt"/>
              <a:buAutoNum type="arabicPeriod" startAt="6"/>
            </a:pPr>
            <a:r>
              <a:rPr lang="en-US" sz="900" b="1" dirty="0">
                <a:cs typeface="Times New Roman" panose="02020603050405020304" pitchFamily="18" charset="0"/>
              </a:rPr>
              <a:t>Fixed assets </a:t>
            </a:r>
            <a:endParaRPr lang="en-US" sz="900" dirty="0">
              <a:cs typeface="Times New Roman" panose="02020603050405020304" pitchFamily="18" charset="0"/>
            </a:endParaRPr>
          </a:p>
          <a:p>
            <a:pPr lvl="1"/>
            <a:r>
              <a:rPr lang="en-US" sz="900" dirty="0">
                <a:cs typeface="Times New Roman" panose="02020603050405020304" pitchFamily="18" charset="0"/>
              </a:rPr>
              <a:t>Obtain an analysis / schedule of Target’s fixed asset continuity schedule.</a:t>
            </a:r>
          </a:p>
          <a:p>
            <a:pPr marL="228600" lvl="0" indent="-228600">
              <a:buFont typeface="+mj-lt"/>
              <a:buAutoNum type="arabicPeriod" startAt="6"/>
            </a:pPr>
            <a:endParaRPr lang="en-US" sz="500" b="1" dirty="0">
              <a:cs typeface="Times New Roman" panose="02020603050405020304" pitchFamily="18" charset="0"/>
            </a:endParaRPr>
          </a:p>
          <a:p>
            <a:pPr marL="228600" lvl="0" indent="-228600">
              <a:buFont typeface="+mj-lt"/>
              <a:buAutoNum type="arabicPeriod" startAt="6"/>
            </a:pPr>
            <a:r>
              <a:rPr lang="en-US" sz="900" b="1" dirty="0">
                <a:cs typeface="Times New Roman" panose="02020603050405020304" pitchFamily="18" charset="0"/>
              </a:rPr>
              <a:t>Commitments and contingencies </a:t>
            </a:r>
            <a:endParaRPr lang="en-US" sz="900" dirty="0">
              <a:cs typeface="Times New Roman" panose="02020603050405020304" pitchFamily="18" charset="0"/>
            </a:endParaRPr>
          </a:p>
          <a:p>
            <a:pPr lvl="1"/>
            <a:r>
              <a:rPr lang="en-US" sz="900" dirty="0">
                <a:cs typeface="Times New Roman" panose="02020603050405020304" pitchFamily="18" charset="0"/>
              </a:rPr>
              <a:t>Inquire about significant commitments and contingent liabilities including:</a:t>
            </a:r>
          </a:p>
          <a:p>
            <a:pPr marL="685800" lvl="1" indent="-228600">
              <a:buFont typeface="+mj-lt"/>
              <a:buAutoNum type="alphaLcParenR"/>
            </a:pPr>
            <a:r>
              <a:rPr lang="en-US" sz="900" dirty="0">
                <a:cs typeface="Times New Roman" panose="02020603050405020304" pitchFamily="18" charset="0"/>
              </a:rPr>
              <a:t>Pending or threatened litigations by regulatory or other authorities and by employees;</a:t>
            </a:r>
          </a:p>
          <a:p>
            <a:pPr marL="685800" lvl="1" indent="-228600">
              <a:buFont typeface="+mj-lt"/>
              <a:buAutoNum type="alphaLcParenR"/>
            </a:pPr>
            <a:r>
              <a:rPr lang="en-US" sz="900" dirty="0">
                <a:cs typeface="Times New Roman" panose="02020603050405020304" pitchFamily="18" charset="0"/>
              </a:rPr>
              <a:t>Incentive compensation and employee benefit obligations; </a:t>
            </a:r>
          </a:p>
          <a:p>
            <a:pPr marL="685800" lvl="1" indent="-228600">
              <a:buFont typeface="+mj-lt"/>
              <a:buAutoNum type="alphaLcParenR"/>
            </a:pPr>
            <a:r>
              <a:rPr lang="en-US" sz="900" dirty="0">
                <a:cs typeface="Times New Roman" panose="02020603050405020304" pitchFamily="18" charset="0"/>
              </a:rPr>
              <a:t>Significant lease and purchase obligations; and</a:t>
            </a:r>
          </a:p>
          <a:p>
            <a:pPr marL="685800" lvl="1" indent="-228600">
              <a:buFont typeface="+mj-lt"/>
              <a:buAutoNum type="alphaLcParenR"/>
            </a:pPr>
            <a:r>
              <a:rPr lang="en-US" sz="900" dirty="0">
                <a:cs typeface="Times New Roman" panose="02020603050405020304" pitchFamily="18" charset="0"/>
              </a:rPr>
              <a:t>Inquire about other off-balance sheet transactions.</a:t>
            </a:r>
          </a:p>
          <a:p>
            <a:pPr lvl="1"/>
            <a:endParaRPr lang="en-US" sz="500" dirty="0">
              <a:cs typeface="Times New Roman" panose="02020603050405020304" pitchFamily="18" charset="0"/>
            </a:endParaRPr>
          </a:p>
          <a:p>
            <a:pPr marL="228600" lvl="0" indent="-228600">
              <a:buFont typeface="+mj-lt"/>
              <a:buAutoNum type="arabicPeriod" startAt="6"/>
            </a:pPr>
            <a:r>
              <a:rPr lang="en-US" sz="900" b="1" dirty="0">
                <a:cs typeface="Times New Roman" panose="02020603050405020304" pitchFamily="18" charset="0"/>
              </a:rPr>
              <a:t>Other (if required) </a:t>
            </a:r>
            <a:endParaRPr lang="en-US" sz="900" dirty="0">
              <a:cs typeface="Times New Roman" panose="02020603050405020304" pitchFamily="18" charset="0"/>
            </a:endParaRPr>
          </a:p>
          <a:p>
            <a:pPr marL="685800" lvl="1" indent="-228600">
              <a:buFont typeface="+mj-lt"/>
              <a:buAutoNum type="alphaLcParenR"/>
            </a:pPr>
            <a:r>
              <a:rPr lang="en-US" sz="900" dirty="0">
                <a:cs typeface="Times New Roman" panose="02020603050405020304" pitchFamily="18" charset="0"/>
              </a:rPr>
              <a:t>Cash proof testing:</a:t>
            </a:r>
          </a:p>
          <a:p>
            <a:pPr marL="857250" lvl="1" indent="-171450">
              <a:buFont typeface="Arial" panose="020B0604020202020204" pitchFamily="34" charset="0"/>
              <a:buChar char="•"/>
            </a:pPr>
            <a:r>
              <a:rPr lang="en-US" sz="900" dirty="0">
                <a:cs typeface="Times New Roman" panose="02020603050405020304" pitchFamily="18" charset="0"/>
              </a:rPr>
              <a:t>Revenue vs cash collected vs change in AR (monthly roll over the historical period); and</a:t>
            </a:r>
          </a:p>
          <a:p>
            <a:pPr marL="857250" lvl="1" indent="-171450">
              <a:buFont typeface="Arial" panose="020B0604020202020204" pitchFamily="34" charset="0"/>
              <a:buChar char="•"/>
            </a:pPr>
            <a:r>
              <a:rPr lang="en-US" sz="900" dirty="0">
                <a:cs typeface="Times New Roman" panose="02020603050405020304" pitchFamily="18" charset="0"/>
              </a:rPr>
              <a:t>Expenses vs cash disbursements vs AP (monthly roll over the historical period).</a:t>
            </a:r>
          </a:p>
          <a:p>
            <a:pPr marL="685800" lvl="1" indent="-228600">
              <a:buFont typeface="+mj-lt"/>
              <a:buAutoNum type="alphaLcParenR" startAt="2"/>
            </a:pPr>
            <a:r>
              <a:rPr lang="en-US" sz="900" dirty="0">
                <a:cs typeface="Times New Roman" panose="02020603050405020304" pitchFamily="18" charset="0"/>
              </a:rPr>
              <a:t>Quantifying significant accruals (e.g. prepaid, payroll, vacation etc.), if required.</a:t>
            </a:r>
          </a:p>
          <a:p>
            <a:pPr lvl="0"/>
            <a:r>
              <a:rPr lang="en-US" sz="900" dirty="0">
                <a:cs typeface="Times New Roman" panose="02020603050405020304" pitchFamily="18" charset="0"/>
              </a:rPr>
              <a:t>	</a:t>
            </a:r>
          </a:p>
          <a:p>
            <a:pPr lvl="0"/>
            <a:endParaRPr lang="en-US" sz="900" b="1" dirty="0">
              <a:cs typeface="Times New Roman" panose="02020603050405020304" pitchFamily="18" charset="0"/>
            </a:endParaRPr>
          </a:p>
          <a:p>
            <a:pPr marL="685800" lvl="1" indent="-228600">
              <a:buFont typeface="+mj-lt"/>
              <a:buAutoNum type="alphaLcParenR"/>
            </a:pPr>
            <a:endParaRPr lang="en-US" sz="900" dirty="0">
              <a:cs typeface="Times New Roman" panose="02020603050405020304" pitchFamily="18" charset="0"/>
            </a:endParaRPr>
          </a:p>
          <a:p>
            <a:pPr marL="685800" lvl="1" indent="-228600">
              <a:buFont typeface="+mj-lt"/>
              <a:buAutoNum type="alphaLcParenR"/>
            </a:pPr>
            <a:endParaRPr lang="en-US" sz="900" dirty="0">
              <a:cs typeface="Times New Roman" panose="02020603050405020304" pitchFamily="18" charset="0"/>
            </a:endParaRPr>
          </a:p>
          <a:p>
            <a:pPr marL="685800" lvl="1" indent="-228600">
              <a:buFont typeface="+mj-lt"/>
              <a:buAutoNum type="alphaLcParenR"/>
            </a:pPr>
            <a:endParaRPr lang="en-US" sz="900" dirty="0">
              <a:cs typeface="Times New Roman" panose="02020603050405020304" pitchFamily="18" charset="0"/>
            </a:endParaRPr>
          </a:p>
          <a:p>
            <a:pPr lvl="1"/>
            <a:endParaRPr lang="en-US" sz="900" dirty="0">
              <a:cs typeface="Times New Roman" panose="02020603050405020304" pitchFamily="18" charset="0"/>
            </a:endParaRPr>
          </a:p>
          <a:p>
            <a:pPr lvl="1"/>
            <a:endParaRPr lang="en-US" sz="900" dirty="0">
              <a:cs typeface="Times New Roman" panose="02020603050405020304" pitchFamily="18" charset="0"/>
            </a:endParaRPr>
          </a:p>
          <a:p>
            <a:pPr marL="685800" lvl="1" indent="-228600">
              <a:buFont typeface="+mj-lt"/>
              <a:buAutoNum type="alphaLcParenR"/>
            </a:pPr>
            <a:endParaRPr lang="en-US" sz="900" dirty="0">
              <a:cs typeface="Times New Roman" panose="02020603050405020304" pitchFamily="18" charset="0"/>
            </a:endParaRPr>
          </a:p>
          <a:p>
            <a:pPr marL="685800" lvl="1" indent="-228600">
              <a:buFont typeface="+mj-lt"/>
              <a:buAutoNum type="alphaLcParenR"/>
            </a:pPr>
            <a:endParaRPr lang="en-US" sz="900" dirty="0">
              <a:cs typeface="Times New Roman" panose="02020603050405020304" pitchFamily="18" charset="0"/>
            </a:endParaRPr>
          </a:p>
          <a:p>
            <a:pPr marL="685800" lvl="1" indent="-228600">
              <a:buFont typeface="+mj-lt"/>
              <a:buAutoNum type="alphaLcParenR"/>
            </a:pPr>
            <a:endParaRPr lang="en-US" sz="900" dirty="0">
              <a:cs typeface="Times New Roman" panose="02020603050405020304" pitchFamily="18" charset="0"/>
            </a:endParaRPr>
          </a:p>
          <a:p>
            <a:pPr marL="685800" lvl="1" indent="-228600">
              <a:buFont typeface="+mj-lt"/>
              <a:buAutoNum type="alphaLcParenR"/>
            </a:pPr>
            <a:endParaRPr lang="en-US" sz="900" dirty="0">
              <a:solidFill>
                <a:schemeClr val="tx2"/>
              </a:solidFill>
              <a:cs typeface="Times New Roman" panose="02020603050405020304" pitchFamily="18" charset="0"/>
            </a:endParaRPr>
          </a:p>
        </p:txBody>
      </p:sp>
      <p:sp>
        <p:nvSpPr>
          <p:cNvPr id="8" name="Titre 5">
            <a:extLst>
              <a:ext uri="{FF2B5EF4-FFF2-40B4-BE49-F238E27FC236}">
                <a16:creationId xmlns="" xmlns:a16="http://schemas.microsoft.com/office/drawing/2014/main" id="{BE1303D7-13C3-4DB7-97B5-5F137CF61F6B}"/>
              </a:ext>
            </a:extLst>
          </p:cNvPr>
          <p:cNvSpPr>
            <a:spLocks noGrp="1"/>
          </p:cNvSpPr>
          <p:nvPr>
            <p:ph type="title"/>
          </p:nvPr>
        </p:nvSpPr>
        <p:spPr>
          <a:xfrm>
            <a:off x="431800" y="481941"/>
            <a:ext cx="7936690" cy="470505"/>
          </a:xfrm>
        </p:spPr>
        <p:txBody>
          <a:bodyPr/>
          <a:lstStyle/>
          <a:p>
            <a:r>
              <a:rPr lang="en-CA" dirty="0"/>
              <a:t>Engagement letter procedures  (2/2)</a:t>
            </a:r>
          </a:p>
        </p:txBody>
      </p:sp>
      <p:sp>
        <p:nvSpPr>
          <p:cNvPr id="9" name="ZoneTexte 11">
            <a:extLst>
              <a:ext uri="{FF2B5EF4-FFF2-40B4-BE49-F238E27FC236}">
                <a16:creationId xmlns="" xmlns:a16="http://schemas.microsoft.com/office/drawing/2014/main" id="{FB575633-B003-4BB7-A60E-B1B3EC5E4230}"/>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smtClean="0">
                <a:solidFill>
                  <a:schemeClr val="tx2"/>
                </a:solidFill>
              </a:rPr>
              <a:t>Appendix 1</a:t>
            </a:r>
            <a:endParaRPr lang="en-GB" sz="1200" b="1" dirty="0">
              <a:solidFill>
                <a:schemeClr val="tx2"/>
              </a:solidFill>
            </a:endParaRPr>
          </a:p>
        </p:txBody>
      </p:sp>
    </p:spTree>
    <p:extLst>
      <p:ext uri="{BB962C8B-B14F-4D97-AF65-F5344CB8AC3E}">
        <p14:creationId xmlns:p14="http://schemas.microsoft.com/office/powerpoint/2010/main" val="2578676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custDataLst>
              <p:tags r:id="rId1"/>
            </p:custDataLst>
          </p:nvPr>
        </p:nvPicPr>
        <p:blipFill>
          <a:blip r:embed="rId5"/>
          <a:stretch>
            <a:fillRect/>
          </a:stretch>
        </p:blipFill>
        <p:spPr>
          <a:xfrm>
            <a:off x="438045" y="1215322"/>
            <a:ext cx="5097958" cy="1143660"/>
          </a:xfrm>
          <a:prstGeom prst="rect">
            <a:avLst/>
          </a:prstGeom>
        </p:spPr>
      </p:pic>
      <p:pic>
        <p:nvPicPr>
          <p:cNvPr id="5" name="Picture 4"/>
          <p:cNvPicPr>
            <a:picLocks noChangeAspect="1"/>
          </p:cNvPicPr>
          <p:nvPr>
            <p:custDataLst>
              <p:tags r:id="rId2"/>
            </p:custDataLst>
          </p:nvPr>
        </p:nvPicPr>
        <p:blipFill>
          <a:blip r:embed="rId6"/>
          <a:stretch>
            <a:fillRect/>
          </a:stretch>
        </p:blipFill>
        <p:spPr>
          <a:xfrm>
            <a:off x="431801" y="2604784"/>
            <a:ext cx="5103905" cy="2918386"/>
          </a:xfrm>
          <a:prstGeom prst="rect">
            <a:avLst/>
          </a:prstGeom>
        </p:spPr>
      </p:pic>
      <p:sp>
        <p:nvSpPr>
          <p:cNvPr id="3" name="Text Placeholder 2"/>
          <p:cNvSpPr>
            <a:spLocks noGrp="1"/>
          </p:cNvSpPr>
          <p:nvPr>
            <p:ph type="body" sz="quarter" idx="11"/>
          </p:nvPr>
        </p:nvSpPr>
        <p:spPr>
          <a:xfrm>
            <a:off x="5865468" y="1214725"/>
            <a:ext cx="2846731" cy="4582800"/>
          </a:xfrm>
        </p:spPr>
        <p:txBody>
          <a:bodyPr/>
          <a:lstStyle/>
          <a:p>
            <a:pPr algn="just">
              <a:spcBef>
                <a:spcPts val="600"/>
              </a:spcBef>
              <a:spcAft>
                <a:spcPts val="0"/>
              </a:spcAft>
            </a:pPr>
            <a:r>
              <a:rPr lang="en-CA" dirty="0">
                <a:latin typeface="Univers for KPMG" panose="020B0603020202020204" pitchFamily="34" charset="0"/>
              </a:rPr>
              <a:t>Overview</a:t>
            </a:r>
          </a:p>
          <a:p>
            <a:pPr marL="0" lvl="2" indent="0" algn="just">
              <a:lnSpc>
                <a:spcPts val="1000"/>
              </a:lnSpc>
              <a:spcBef>
                <a:spcPts val="600"/>
              </a:spcBef>
              <a:spcAft>
                <a:spcPts val="0"/>
              </a:spcAft>
              <a:buClr>
                <a:srgbClr val="97989A"/>
              </a:buClr>
              <a:buNone/>
              <a:defRPr/>
            </a:pPr>
            <a:r>
              <a:rPr lang="en-US" dirty="0">
                <a:solidFill>
                  <a:schemeClr val="tx1"/>
                </a:solidFill>
                <a:latin typeface="Univers for KPMG" panose="020B0603020202020204" pitchFamily="34" charset="0"/>
              </a:rPr>
              <a:t>The adjacent tables present an analysis comparing the cash inflows of the Business’ operating bank statements to the revenue, per the Business’ income </a:t>
            </a:r>
            <a:r>
              <a:rPr lang="en-US" dirty="0" smtClean="0">
                <a:solidFill>
                  <a:schemeClr val="tx1"/>
                </a:solidFill>
                <a:latin typeface="Univers for KPMG" panose="020B0603020202020204" pitchFamily="34" charset="0"/>
              </a:rPr>
              <a:t>statement. Management </a:t>
            </a:r>
            <a:r>
              <a:rPr lang="en-US" dirty="0">
                <a:solidFill>
                  <a:schemeClr val="tx1"/>
                </a:solidFill>
                <a:latin typeface="Univers for KPMG" panose="020B0603020202020204" pitchFamily="34" charset="0"/>
              </a:rPr>
              <a:t>does not separate operating bank accounts for each </a:t>
            </a:r>
            <a:r>
              <a:rPr lang="en-US" dirty="0" smtClean="0">
                <a:solidFill>
                  <a:schemeClr val="tx1"/>
                </a:solidFill>
                <a:latin typeface="Univers for KPMG" panose="020B0603020202020204" pitchFamily="34" charset="0"/>
              </a:rPr>
              <a:t>division therefore, </a:t>
            </a:r>
            <a:r>
              <a:rPr lang="en-US" dirty="0">
                <a:solidFill>
                  <a:schemeClr val="tx1"/>
                </a:solidFill>
                <a:latin typeface="Univers for KPMG" panose="020B0603020202020204" pitchFamily="34" charset="0"/>
              </a:rPr>
              <a:t>the adjacent analysis includes </a:t>
            </a:r>
            <a:r>
              <a:rPr lang="en-US" dirty="0" smtClean="0">
                <a:solidFill>
                  <a:schemeClr val="tx1"/>
                </a:solidFill>
                <a:latin typeface="Univers for KPMG" panose="020B0603020202020204" pitchFamily="34" charset="0"/>
              </a:rPr>
              <a:t>the activity for the </a:t>
            </a:r>
            <a:r>
              <a:rPr lang="en-US" dirty="0">
                <a:solidFill>
                  <a:schemeClr val="tx1"/>
                </a:solidFill>
                <a:latin typeface="Univers for KPMG" panose="020B0603020202020204" pitchFamily="34" charset="0"/>
              </a:rPr>
              <a:t>entire Business. </a:t>
            </a:r>
            <a:endParaRPr lang="en-US" b="1" dirty="0">
              <a:solidFill>
                <a:schemeClr val="tx1"/>
              </a:solidFill>
              <a:latin typeface="Univers for KPMG" panose="020B0603020202020204" pitchFamily="34" charset="0"/>
            </a:endParaRPr>
          </a:p>
          <a:p>
            <a:pPr algn="just"/>
            <a:endParaRPr lang="en-US" b="0" dirty="0">
              <a:solidFill>
                <a:schemeClr val="tx1"/>
              </a:solidFill>
            </a:endParaRPr>
          </a:p>
        </p:txBody>
      </p:sp>
      <p:sp>
        <p:nvSpPr>
          <p:cNvPr id="4" name="Title 3"/>
          <p:cNvSpPr>
            <a:spLocks noGrp="1"/>
          </p:cNvSpPr>
          <p:nvPr>
            <p:ph type="title"/>
          </p:nvPr>
        </p:nvSpPr>
        <p:spPr/>
        <p:txBody>
          <a:bodyPr/>
          <a:lstStyle/>
          <a:p>
            <a:r>
              <a:rPr lang="en-US" dirty="0"/>
              <a:t>Cash proof testing – </a:t>
            </a:r>
            <a:r>
              <a:rPr lang="en-US" i="1" dirty="0"/>
              <a:t>operating account</a:t>
            </a:r>
          </a:p>
        </p:txBody>
      </p:sp>
      <p:sp>
        <p:nvSpPr>
          <p:cNvPr id="14" name="Rectangle 13"/>
          <p:cNvSpPr/>
          <p:nvPr/>
        </p:nvSpPr>
        <p:spPr>
          <a:xfrm>
            <a:off x="371577" y="5516456"/>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25" name="Espace réservé du texte 3"/>
          <p:cNvSpPr>
            <a:spLocks noGrp="1"/>
          </p:cNvSpPr>
          <p:nvPr>
            <p:ph type="body" sz="quarter" idx="4294967295"/>
          </p:nvPr>
        </p:nvSpPr>
        <p:spPr>
          <a:xfrm>
            <a:off x="5991979" y="3492340"/>
            <a:ext cx="2720220" cy="738664"/>
          </a:xfrm>
          <a:prstGeom prst="rect">
            <a:avLst/>
          </a:prstGeom>
          <a:ln>
            <a:solidFill>
              <a:srgbClr val="00338D"/>
            </a:solidFill>
          </a:ln>
        </p:spPr>
        <p:txBody>
          <a:bodyPr wrap="square" lIns="45720" tIns="45720" rIns="45720" bIns="45720">
            <a:spAutoFit/>
          </a:bodyPr>
          <a:lstStyle/>
          <a:p>
            <a:pPr algn="just">
              <a:spcAft>
                <a:spcPts val="300"/>
              </a:spcAft>
              <a:buClr>
                <a:srgbClr val="00338D"/>
              </a:buClr>
            </a:pPr>
            <a:r>
              <a:rPr lang="en-CA" sz="700" b="0" dirty="0" smtClean="0">
                <a:solidFill>
                  <a:srgbClr val="00338D"/>
                </a:solidFill>
                <a:latin typeface="Univers for KPMG" panose="020B0603020202020204" pitchFamily="34" charset="0"/>
              </a:rPr>
              <a:t>The transactions </a:t>
            </a:r>
            <a:r>
              <a:rPr lang="en-CA" sz="700" b="0" dirty="0">
                <a:solidFill>
                  <a:srgbClr val="00338D"/>
                </a:solidFill>
                <a:latin typeface="Univers for KPMG" panose="020B0603020202020204" pitchFamily="34" charset="0"/>
              </a:rPr>
              <a:t>are included as reconciling items to bank deposits as they are cash inflows unrelated to the Business’ revenue. </a:t>
            </a:r>
            <a:r>
              <a:rPr lang="en-CA" sz="700" b="0" dirty="0" smtClean="0">
                <a:solidFill>
                  <a:srgbClr val="00338D"/>
                </a:solidFill>
                <a:latin typeface="Univers for KPMG" panose="020B0603020202020204" pitchFamily="34" charset="0"/>
              </a:rPr>
              <a:t>They relate to (i) payments from shareholders, (ii) reclassification of deposits received in FY18, but recognized as revenue in FY19, and (iii) miscellaneous deposits unrelated to revenue such as bank transfers. </a:t>
            </a:r>
            <a:endParaRPr lang="en-CA" sz="700" b="0" dirty="0">
              <a:solidFill>
                <a:srgbClr val="FF0000"/>
              </a:solidFill>
              <a:latin typeface="Univers for KPMG" panose="020B0603020202020204" pitchFamily="34" charset="0"/>
            </a:endParaRPr>
          </a:p>
        </p:txBody>
      </p:sp>
      <p:sp>
        <p:nvSpPr>
          <p:cNvPr id="26" name="Espace réservé du texte 3"/>
          <p:cNvSpPr>
            <a:spLocks noGrp="1"/>
          </p:cNvSpPr>
          <p:nvPr>
            <p:ph type="body" sz="quarter" idx="4294967295"/>
          </p:nvPr>
        </p:nvSpPr>
        <p:spPr>
          <a:xfrm>
            <a:off x="5991980" y="2849661"/>
            <a:ext cx="2720219" cy="415498"/>
          </a:xfrm>
          <a:prstGeom prst="rect">
            <a:avLst/>
          </a:prstGeom>
          <a:ln>
            <a:solidFill>
              <a:srgbClr val="00338D"/>
            </a:solidFill>
          </a:ln>
        </p:spPr>
        <p:txBody>
          <a:bodyPr wrap="square" lIns="45720" tIns="45720" rIns="45720" bIns="45720">
            <a:spAutoFit/>
          </a:bodyPr>
          <a:lstStyle/>
          <a:p>
            <a:pPr algn="just">
              <a:spcAft>
                <a:spcPts val="300"/>
              </a:spcAft>
              <a:buClr>
                <a:srgbClr val="00338D"/>
              </a:buClr>
            </a:pPr>
            <a:r>
              <a:rPr lang="en-US" sz="700" b="0" dirty="0">
                <a:solidFill>
                  <a:srgbClr val="00338D"/>
                </a:solidFill>
                <a:latin typeface="Univers for KPMG" panose="020B0603020202020204" pitchFamily="34" charset="0"/>
              </a:rPr>
              <a:t>The </a:t>
            </a:r>
            <a:r>
              <a:rPr lang="en-US" sz="700" b="0" dirty="0" smtClean="0">
                <a:solidFill>
                  <a:srgbClr val="00338D"/>
                </a:solidFill>
                <a:latin typeface="Univers for KPMG" panose="020B0603020202020204" pitchFamily="34" charset="0"/>
              </a:rPr>
              <a:t>transactions </a:t>
            </a:r>
            <a:r>
              <a:rPr lang="en-US" sz="700" b="0" dirty="0">
                <a:solidFill>
                  <a:srgbClr val="00338D"/>
                </a:solidFill>
                <a:latin typeface="Univers for KPMG" panose="020B0603020202020204" pitchFamily="34" charset="0"/>
              </a:rPr>
              <a:t>are included as reconciling items to revenue as they represent changes in balance sheet accounts relating to </a:t>
            </a:r>
            <a:r>
              <a:rPr lang="en-US" sz="700" b="0" dirty="0" smtClean="0">
                <a:solidFill>
                  <a:srgbClr val="00338D"/>
                </a:solidFill>
                <a:latin typeface="Univers for KPMG" panose="020B0603020202020204" pitchFamily="34" charset="0"/>
              </a:rPr>
              <a:t>cash, or do not relate to bank deposits. </a:t>
            </a:r>
            <a:endParaRPr lang="en-US" sz="700" b="0" dirty="0">
              <a:solidFill>
                <a:srgbClr val="00338D"/>
              </a:solidFill>
              <a:latin typeface="Univers for KPMG" panose="020B0603020202020204" pitchFamily="34" charset="0"/>
            </a:endParaRPr>
          </a:p>
        </p:txBody>
      </p:sp>
      <p:sp>
        <p:nvSpPr>
          <p:cNvPr id="29" name="Oval 28"/>
          <p:cNvSpPr>
            <a:spLocks noChangeAspect="1" noChangeArrowheads="1"/>
          </p:cNvSpPr>
          <p:nvPr/>
        </p:nvSpPr>
        <p:spPr bwMode="gray">
          <a:xfrm>
            <a:off x="5536876" y="3918478"/>
            <a:ext cx="126511" cy="121207"/>
          </a:xfrm>
          <a:prstGeom prst="ellipse">
            <a:avLst/>
          </a:prstGeom>
          <a:solidFill>
            <a:srgbClr val="003087"/>
          </a:solidFill>
          <a:ln w="6350">
            <a:noFill/>
            <a:round/>
            <a:headEnd/>
            <a:tailEnd/>
          </a:ln>
          <a:effectLst/>
        </p:spPr>
        <p:txBody>
          <a:bodyPr wrap="none" lIns="0" tIns="0" rIns="0" bIns="0" anchor="ctr"/>
          <a:lstStyle/>
          <a:p>
            <a:pPr algn="ctr"/>
            <a:r>
              <a:rPr lang="en-CA" sz="700" b="1" dirty="0">
                <a:solidFill>
                  <a:srgbClr val="FFFFFF"/>
                </a:solidFill>
                <a:cs typeface="Arial" pitchFamily="34" charset="0"/>
              </a:rPr>
              <a:t>1</a:t>
            </a:r>
          </a:p>
        </p:txBody>
      </p:sp>
      <p:sp>
        <p:nvSpPr>
          <p:cNvPr id="21" name="ZoneTexte 11">
            <a:extLst>
              <a:ext uri="{FF2B5EF4-FFF2-40B4-BE49-F238E27FC236}">
                <a16:creationId xmlns="" xmlns:a16="http://schemas.microsoft.com/office/drawing/2014/main" id="{A3A96B79-9A6D-4A5A-99B1-DE73E3871431}"/>
              </a:ext>
            </a:extLst>
          </p:cNvPr>
          <p:cNvSpPr txBox="1">
            <a:spLocks/>
          </p:cNvSpPr>
          <p:nvPr>
            <p:custDataLst>
              <p:tags r:id="rId3"/>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smtClean="0">
                <a:solidFill>
                  <a:schemeClr val="tx2"/>
                </a:solidFill>
              </a:rPr>
              <a:t>Appendix 2</a:t>
            </a:r>
            <a:endParaRPr lang="en-GB" sz="1200" b="1" dirty="0">
              <a:solidFill>
                <a:schemeClr val="tx2"/>
              </a:solidFill>
            </a:endParaRPr>
          </a:p>
        </p:txBody>
      </p:sp>
      <p:sp>
        <p:nvSpPr>
          <p:cNvPr id="38" name="Rounded Rectangle 37"/>
          <p:cNvSpPr/>
          <p:nvPr/>
        </p:nvSpPr>
        <p:spPr>
          <a:xfrm>
            <a:off x="4178556" y="1873938"/>
            <a:ext cx="1357447" cy="136498"/>
          </a:xfrm>
          <a:prstGeom prst="roundRect">
            <a:avLst/>
          </a:prstGeom>
          <a:noFill/>
          <a:ln>
            <a:solidFill>
              <a:srgbClr val="00A3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20" name="Rectangle 19"/>
          <p:cNvSpPr/>
          <p:nvPr/>
        </p:nvSpPr>
        <p:spPr>
          <a:xfrm>
            <a:off x="371577" y="2358982"/>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24" name="Rounded Rectangle 23"/>
          <p:cNvSpPr/>
          <p:nvPr/>
        </p:nvSpPr>
        <p:spPr>
          <a:xfrm>
            <a:off x="4178259" y="4388925"/>
            <a:ext cx="1357447" cy="136498"/>
          </a:xfrm>
          <a:prstGeom prst="roundRect">
            <a:avLst/>
          </a:prstGeom>
          <a:noFill/>
          <a:ln>
            <a:solidFill>
              <a:srgbClr val="00A3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cxnSp>
        <p:nvCxnSpPr>
          <p:cNvPr id="31" name="Elbow Connector 30"/>
          <p:cNvCxnSpPr>
            <a:cxnSpLocks/>
            <a:stCxn id="38" idx="3"/>
            <a:endCxn id="24" idx="3"/>
          </p:cNvCxnSpPr>
          <p:nvPr/>
        </p:nvCxnSpPr>
        <p:spPr>
          <a:xfrm flipH="1">
            <a:off x="5535706" y="1942187"/>
            <a:ext cx="297" cy="2514987"/>
          </a:xfrm>
          <a:prstGeom prst="bentConnector3">
            <a:avLst>
              <a:gd name="adj1" fmla="val -76969697"/>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p:cNvSpPr>
            <a:spLocks noChangeAspect="1" noChangeArrowheads="1"/>
          </p:cNvSpPr>
          <p:nvPr/>
        </p:nvSpPr>
        <p:spPr bwMode="gray">
          <a:xfrm>
            <a:off x="5536003" y="5140980"/>
            <a:ext cx="126511" cy="121207"/>
          </a:xfrm>
          <a:prstGeom prst="ellipse">
            <a:avLst/>
          </a:prstGeom>
          <a:solidFill>
            <a:srgbClr val="003087"/>
          </a:solidFill>
          <a:ln w="6350">
            <a:noFill/>
            <a:round/>
            <a:headEnd/>
            <a:tailEnd/>
          </a:ln>
          <a:effectLst/>
        </p:spPr>
        <p:txBody>
          <a:bodyPr wrap="none" lIns="0" tIns="0" rIns="0" bIns="0" anchor="ctr"/>
          <a:lstStyle/>
          <a:p>
            <a:pPr algn="ctr"/>
            <a:r>
              <a:rPr lang="en-CA" sz="700" b="1" dirty="0" smtClean="0">
                <a:solidFill>
                  <a:srgbClr val="FFFFFF"/>
                </a:solidFill>
                <a:cs typeface="Arial" pitchFamily="34" charset="0"/>
              </a:rPr>
              <a:t>2</a:t>
            </a:r>
            <a:endParaRPr lang="en-CA" sz="700" b="1" dirty="0">
              <a:solidFill>
                <a:srgbClr val="FFFFFF"/>
              </a:solidFill>
              <a:cs typeface="Arial" pitchFamily="34" charset="0"/>
            </a:endParaRPr>
          </a:p>
        </p:txBody>
      </p:sp>
      <p:sp>
        <p:nvSpPr>
          <p:cNvPr id="33" name="Oval 32"/>
          <p:cNvSpPr>
            <a:spLocks noChangeAspect="1" noChangeArrowheads="1"/>
          </p:cNvSpPr>
          <p:nvPr/>
        </p:nvSpPr>
        <p:spPr bwMode="gray">
          <a:xfrm>
            <a:off x="5866606" y="2789057"/>
            <a:ext cx="126511" cy="121207"/>
          </a:xfrm>
          <a:prstGeom prst="ellipse">
            <a:avLst/>
          </a:prstGeom>
          <a:solidFill>
            <a:srgbClr val="003087"/>
          </a:solidFill>
          <a:ln w="6350">
            <a:noFill/>
            <a:round/>
            <a:headEnd/>
            <a:tailEnd/>
          </a:ln>
          <a:effectLst/>
        </p:spPr>
        <p:txBody>
          <a:bodyPr wrap="none" lIns="0" tIns="0" rIns="0" bIns="0" anchor="ctr"/>
          <a:lstStyle/>
          <a:p>
            <a:pPr algn="ctr"/>
            <a:r>
              <a:rPr lang="en-CA" sz="700" b="1" dirty="0">
                <a:solidFill>
                  <a:srgbClr val="FFFFFF"/>
                </a:solidFill>
                <a:cs typeface="Arial" pitchFamily="34" charset="0"/>
              </a:rPr>
              <a:t>1</a:t>
            </a:r>
          </a:p>
        </p:txBody>
      </p:sp>
      <p:sp>
        <p:nvSpPr>
          <p:cNvPr id="34" name="Oval 33"/>
          <p:cNvSpPr>
            <a:spLocks noChangeAspect="1" noChangeArrowheads="1"/>
          </p:cNvSpPr>
          <p:nvPr/>
        </p:nvSpPr>
        <p:spPr bwMode="gray">
          <a:xfrm>
            <a:off x="5865468" y="3445597"/>
            <a:ext cx="126511" cy="121207"/>
          </a:xfrm>
          <a:prstGeom prst="ellipse">
            <a:avLst/>
          </a:prstGeom>
          <a:solidFill>
            <a:srgbClr val="003087"/>
          </a:solidFill>
          <a:ln w="6350">
            <a:noFill/>
            <a:round/>
            <a:headEnd/>
            <a:tailEnd/>
          </a:ln>
          <a:effectLst/>
        </p:spPr>
        <p:txBody>
          <a:bodyPr wrap="none" lIns="0" tIns="0" rIns="0" bIns="0" anchor="ctr"/>
          <a:lstStyle/>
          <a:p>
            <a:pPr algn="ctr"/>
            <a:r>
              <a:rPr lang="en-CA" sz="700" b="1" dirty="0" smtClean="0">
                <a:solidFill>
                  <a:srgbClr val="FFFFFF"/>
                </a:solidFill>
                <a:cs typeface="Arial" pitchFamily="34" charset="0"/>
              </a:rPr>
              <a:t>2</a:t>
            </a:r>
            <a:endParaRPr lang="en-CA" sz="700" b="1" dirty="0">
              <a:solidFill>
                <a:srgbClr val="FFFFFF"/>
              </a:solidFill>
              <a:cs typeface="Arial" pitchFamily="34" charset="0"/>
            </a:endParaRPr>
          </a:p>
        </p:txBody>
      </p:sp>
    </p:spTree>
    <p:extLst>
      <p:ext uri="{BB962C8B-B14F-4D97-AF65-F5344CB8AC3E}">
        <p14:creationId xmlns:p14="http://schemas.microsoft.com/office/powerpoint/2010/main" val="16840672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custDataLst>
              <p:tags r:id="rId1"/>
            </p:custDataLst>
          </p:nvPr>
        </p:nvPicPr>
        <p:blipFill>
          <a:blip r:embed="rId5"/>
          <a:stretch>
            <a:fillRect/>
          </a:stretch>
        </p:blipFill>
        <p:spPr>
          <a:xfrm>
            <a:off x="431800" y="1216223"/>
            <a:ext cx="5196268" cy="1165715"/>
          </a:xfrm>
          <a:prstGeom prst="rect">
            <a:avLst/>
          </a:prstGeom>
        </p:spPr>
      </p:pic>
      <p:pic>
        <p:nvPicPr>
          <p:cNvPr id="6" name="Picture 5"/>
          <p:cNvPicPr>
            <a:picLocks noChangeAspect="1"/>
          </p:cNvPicPr>
          <p:nvPr>
            <p:custDataLst>
              <p:tags r:id="rId2"/>
            </p:custDataLst>
          </p:nvPr>
        </p:nvPicPr>
        <p:blipFill>
          <a:blip r:embed="rId6"/>
          <a:stretch>
            <a:fillRect/>
          </a:stretch>
        </p:blipFill>
        <p:spPr>
          <a:xfrm>
            <a:off x="431800" y="2630356"/>
            <a:ext cx="5196268" cy="2845599"/>
          </a:xfrm>
          <a:prstGeom prst="rect">
            <a:avLst/>
          </a:prstGeom>
        </p:spPr>
      </p:pic>
      <p:sp>
        <p:nvSpPr>
          <p:cNvPr id="3" name="Text Placeholder 2"/>
          <p:cNvSpPr>
            <a:spLocks noGrp="1"/>
          </p:cNvSpPr>
          <p:nvPr>
            <p:ph type="body" sz="quarter" idx="11"/>
          </p:nvPr>
        </p:nvSpPr>
        <p:spPr>
          <a:xfrm>
            <a:off x="5973097" y="1214725"/>
            <a:ext cx="2739103" cy="4582800"/>
          </a:xfrm>
        </p:spPr>
        <p:txBody>
          <a:bodyPr/>
          <a:lstStyle/>
          <a:p>
            <a:pPr algn="just">
              <a:spcBef>
                <a:spcPts val="600"/>
              </a:spcBef>
              <a:spcAft>
                <a:spcPts val="0"/>
              </a:spcAft>
            </a:pPr>
            <a:r>
              <a:rPr lang="en-CA" dirty="0">
                <a:latin typeface="Univers for KPMG" panose="020B0603020202020204" pitchFamily="34" charset="0"/>
              </a:rPr>
              <a:t>Overview</a:t>
            </a:r>
          </a:p>
          <a:p>
            <a:pPr marL="0" lvl="2" indent="0" algn="just">
              <a:lnSpc>
                <a:spcPts val="1000"/>
              </a:lnSpc>
              <a:spcBef>
                <a:spcPts val="600"/>
              </a:spcBef>
              <a:spcAft>
                <a:spcPts val="0"/>
              </a:spcAft>
              <a:buClr>
                <a:srgbClr val="97989A"/>
              </a:buClr>
              <a:buNone/>
              <a:defRPr/>
            </a:pPr>
            <a:r>
              <a:rPr lang="en-US" dirty="0">
                <a:solidFill>
                  <a:schemeClr val="tx1"/>
                </a:solidFill>
                <a:latin typeface="Univers for KPMG" panose="020B0603020202020204" pitchFamily="34" charset="0"/>
              </a:rPr>
              <a:t>The adjacent tables present an analysis comparing the cash outflows of the Business’ payroll bank statements to the payroll expense per the Business’ income statement. The payroll account is funded from the operating account on the previous page. Management does not separate payroll bank accounts for each </a:t>
            </a:r>
            <a:r>
              <a:rPr lang="en-US" dirty="0" smtClean="0">
                <a:solidFill>
                  <a:schemeClr val="tx1"/>
                </a:solidFill>
                <a:latin typeface="Univers for KPMG" panose="020B0603020202020204" pitchFamily="34" charset="0"/>
              </a:rPr>
              <a:t>division therefore, </a:t>
            </a:r>
            <a:r>
              <a:rPr lang="en-US" dirty="0">
                <a:solidFill>
                  <a:schemeClr val="tx1"/>
                </a:solidFill>
                <a:latin typeface="Univers for KPMG" panose="020B0603020202020204" pitchFamily="34" charset="0"/>
              </a:rPr>
              <a:t>the adjacent analysis includes the </a:t>
            </a:r>
            <a:r>
              <a:rPr lang="en-US" dirty="0" smtClean="0">
                <a:solidFill>
                  <a:schemeClr val="tx1"/>
                </a:solidFill>
                <a:latin typeface="Univers for KPMG" panose="020B0603020202020204" pitchFamily="34" charset="0"/>
              </a:rPr>
              <a:t>activity for the entire </a:t>
            </a:r>
            <a:r>
              <a:rPr lang="en-US" dirty="0">
                <a:solidFill>
                  <a:schemeClr val="tx1"/>
                </a:solidFill>
                <a:latin typeface="Univers for KPMG" panose="020B0603020202020204" pitchFamily="34" charset="0"/>
              </a:rPr>
              <a:t>Business. </a:t>
            </a:r>
          </a:p>
          <a:p>
            <a:pPr algn="just"/>
            <a:endParaRPr lang="en-US" b="0" dirty="0">
              <a:solidFill>
                <a:schemeClr val="tx1"/>
              </a:solidFill>
            </a:endParaRPr>
          </a:p>
          <a:p>
            <a:pPr algn="just"/>
            <a:endParaRPr lang="en-US" b="0" dirty="0">
              <a:solidFill>
                <a:schemeClr val="tx1"/>
              </a:solidFill>
            </a:endParaRPr>
          </a:p>
        </p:txBody>
      </p:sp>
      <p:sp>
        <p:nvSpPr>
          <p:cNvPr id="4" name="Title 3"/>
          <p:cNvSpPr>
            <a:spLocks noGrp="1"/>
          </p:cNvSpPr>
          <p:nvPr>
            <p:ph type="title"/>
          </p:nvPr>
        </p:nvSpPr>
        <p:spPr/>
        <p:txBody>
          <a:bodyPr/>
          <a:lstStyle/>
          <a:p>
            <a:r>
              <a:rPr lang="en-US" dirty="0"/>
              <a:t>Cash proof testing – </a:t>
            </a:r>
            <a:r>
              <a:rPr lang="en-US" i="1" dirty="0"/>
              <a:t>payroll account</a:t>
            </a:r>
          </a:p>
        </p:txBody>
      </p:sp>
      <p:sp>
        <p:nvSpPr>
          <p:cNvPr id="14" name="Rectangle 13"/>
          <p:cNvSpPr/>
          <p:nvPr/>
        </p:nvSpPr>
        <p:spPr>
          <a:xfrm>
            <a:off x="387556" y="2381938"/>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24" name="Espace réservé du texte 3"/>
          <p:cNvSpPr>
            <a:spLocks noGrp="1"/>
          </p:cNvSpPr>
          <p:nvPr>
            <p:ph type="body" sz="quarter" idx="4294967295"/>
          </p:nvPr>
        </p:nvSpPr>
        <p:spPr>
          <a:xfrm>
            <a:off x="5973097" y="2908454"/>
            <a:ext cx="2731484" cy="415498"/>
          </a:xfrm>
          <a:prstGeom prst="rect">
            <a:avLst/>
          </a:prstGeom>
          <a:ln>
            <a:solidFill>
              <a:srgbClr val="00338D"/>
            </a:solidFill>
          </a:ln>
        </p:spPr>
        <p:txBody>
          <a:bodyPr wrap="square" lIns="45720" tIns="45720" rIns="45720" bIns="45720">
            <a:spAutoFit/>
          </a:bodyPr>
          <a:lstStyle/>
          <a:p>
            <a:pPr algn="just">
              <a:spcAft>
                <a:spcPts val="300"/>
              </a:spcAft>
              <a:buClr>
                <a:srgbClr val="00338D"/>
              </a:buClr>
            </a:pPr>
            <a:r>
              <a:rPr lang="en-CA" sz="700" b="0" dirty="0">
                <a:solidFill>
                  <a:srgbClr val="00338D"/>
                </a:solidFill>
                <a:latin typeface="Univers for KPMG" panose="020B0603020202020204" pitchFamily="34" charset="0"/>
              </a:rPr>
              <a:t>The </a:t>
            </a:r>
            <a:r>
              <a:rPr lang="en-CA" sz="700" b="0" dirty="0" smtClean="0">
                <a:solidFill>
                  <a:srgbClr val="00338D"/>
                </a:solidFill>
                <a:latin typeface="Univers for KPMG" panose="020B0603020202020204" pitchFamily="34" charset="0"/>
              </a:rPr>
              <a:t>payroll </a:t>
            </a:r>
            <a:r>
              <a:rPr lang="en-CA" sz="700" b="0" dirty="0">
                <a:solidFill>
                  <a:srgbClr val="00338D"/>
                </a:solidFill>
                <a:latin typeface="Univers for KPMG" panose="020B0603020202020204" pitchFamily="34" charset="0"/>
              </a:rPr>
              <a:t>related expenses are included on the income statement as separate accounts, however the cash payments were made from the payroll bank account. </a:t>
            </a:r>
          </a:p>
        </p:txBody>
      </p:sp>
      <p:sp>
        <p:nvSpPr>
          <p:cNvPr id="25" name="Espace réservé du texte 3"/>
          <p:cNvSpPr>
            <a:spLocks noGrp="1"/>
          </p:cNvSpPr>
          <p:nvPr>
            <p:ph type="body" sz="quarter" idx="4294967295"/>
          </p:nvPr>
        </p:nvSpPr>
        <p:spPr>
          <a:xfrm>
            <a:off x="5973096" y="3473367"/>
            <a:ext cx="2739103" cy="415498"/>
          </a:xfrm>
          <a:prstGeom prst="rect">
            <a:avLst/>
          </a:prstGeom>
          <a:ln>
            <a:solidFill>
              <a:srgbClr val="00338D"/>
            </a:solidFill>
          </a:ln>
        </p:spPr>
        <p:txBody>
          <a:bodyPr wrap="square" lIns="45720" tIns="45720" rIns="45720" bIns="45720">
            <a:spAutoFit/>
          </a:bodyPr>
          <a:lstStyle/>
          <a:p>
            <a:pPr algn="just">
              <a:spcAft>
                <a:spcPts val="300"/>
              </a:spcAft>
              <a:buClr>
                <a:srgbClr val="00338D"/>
              </a:buClr>
            </a:pPr>
            <a:r>
              <a:rPr lang="en-CA" sz="700" b="0" dirty="0">
                <a:solidFill>
                  <a:srgbClr val="00338D"/>
                </a:solidFill>
                <a:latin typeface="Univers for KPMG" panose="020B0603020202020204" pitchFamily="34" charset="0"/>
              </a:rPr>
              <a:t>The </a:t>
            </a:r>
            <a:r>
              <a:rPr lang="en-CA" sz="700" b="0" dirty="0" smtClean="0">
                <a:solidFill>
                  <a:srgbClr val="00338D"/>
                </a:solidFill>
                <a:latin typeface="Univers for KPMG" panose="020B0603020202020204" pitchFamily="34" charset="0"/>
              </a:rPr>
              <a:t> </a:t>
            </a:r>
            <a:r>
              <a:rPr lang="en-CA" sz="700" b="0" dirty="0">
                <a:solidFill>
                  <a:srgbClr val="00338D"/>
                </a:solidFill>
                <a:latin typeface="Univers for KPMG" panose="020B0603020202020204" pitchFamily="34" charset="0"/>
              </a:rPr>
              <a:t>reconciling item relates to electronic fund transfers to the Business’ operating account. The nature of these transfers is not related to payroll and therefore have been excluded.</a:t>
            </a:r>
          </a:p>
        </p:txBody>
      </p:sp>
      <p:sp>
        <p:nvSpPr>
          <p:cNvPr id="21" name="ZoneTexte 11">
            <a:extLst>
              <a:ext uri="{FF2B5EF4-FFF2-40B4-BE49-F238E27FC236}">
                <a16:creationId xmlns="" xmlns:a16="http://schemas.microsoft.com/office/drawing/2014/main" id="{A3A96B79-9A6D-4A5A-99B1-DE73E3871431}"/>
              </a:ext>
            </a:extLst>
          </p:cNvPr>
          <p:cNvSpPr txBox="1">
            <a:spLocks/>
          </p:cNvSpPr>
          <p:nvPr>
            <p:custDataLst>
              <p:tags r:id="rId3"/>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smtClean="0">
                <a:solidFill>
                  <a:schemeClr val="tx2"/>
                </a:solidFill>
              </a:rPr>
              <a:t>Appendix 3</a:t>
            </a:r>
            <a:endParaRPr lang="en-GB" sz="1200" b="1" dirty="0">
              <a:solidFill>
                <a:schemeClr val="tx2"/>
              </a:solidFill>
            </a:endParaRPr>
          </a:p>
        </p:txBody>
      </p:sp>
      <p:sp>
        <p:nvSpPr>
          <p:cNvPr id="23" name="Rectangle 22"/>
          <p:cNvSpPr/>
          <p:nvPr/>
        </p:nvSpPr>
        <p:spPr>
          <a:xfrm>
            <a:off x="387556" y="5475955"/>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sp>
        <p:nvSpPr>
          <p:cNvPr id="28" name="Oval 27"/>
          <p:cNvSpPr>
            <a:spLocks noChangeAspect="1" noChangeArrowheads="1"/>
          </p:cNvSpPr>
          <p:nvPr/>
        </p:nvSpPr>
        <p:spPr bwMode="gray">
          <a:xfrm>
            <a:off x="5855050" y="2831187"/>
            <a:ext cx="126511" cy="121207"/>
          </a:xfrm>
          <a:prstGeom prst="ellipse">
            <a:avLst/>
          </a:prstGeom>
          <a:solidFill>
            <a:srgbClr val="003087"/>
          </a:solidFill>
          <a:ln w="6350">
            <a:noFill/>
            <a:round/>
            <a:headEnd/>
            <a:tailEnd/>
          </a:ln>
          <a:effectLst/>
        </p:spPr>
        <p:txBody>
          <a:bodyPr wrap="none" lIns="0" tIns="0" rIns="0" bIns="0" anchor="ctr"/>
          <a:lstStyle/>
          <a:p>
            <a:pPr algn="ctr"/>
            <a:r>
              <a:rPr lang="en-CA" sz="700" b="1" dirty="0">
                <a:solidFill>
                  <a:srgbClr val="FFFFFF"/>
                </a:solidFill>
                <a:cs typeface="Arial" pitchFamily="34" charset="0"/>
              </a:rPr>
              <a:t>1</a:t>
            </a:r>
          </a:p>
        </p:txBody>
      </p:sp>
      <p:sp>
        <p:nvSpPr>
          <p:cNvPr id="29" name="Oval 28"/>
          <p:cNvSpPr>
            <a:spLocks noChangeAspect="1" noChangeArrowheads="1"/>
          </p:cNvSpPr>
          <p:nvPr/>
        </p:nvSpPr>
        <p:spPr bwMode="gray">
          <a:xfrm>
            <a:off x="5856026" y="3413887"/>
            <a:ext cx="126511" cy="121207"/>
          </a:xfrm>
          <a:prstGeom prst="ellipse">
            <a:avLst/>
          </a:prstGeom>
          <a:solidFill>
            <a:srgbClr val="003087"/>
          </a:solidFill>
          <a:ln w="6350">
            <a:noFill/>
            <a:round/>
            <a:headEnd/>
            <a:tailEnd/>
          </a:ln>
          <a:effectLst/>
        </p:spPr>
        <p:txBody>
          <a:bodyPr wrap="none" lIns="0" tIns="0" rIns="0" bIns="0" anchor="ctr"/>
          <a:lstStyle/>
          <a:p>
            <a:pPr algn="ctr"/>
            <a:r>
              <a:rPr lang="en-CA" sz="700" b="1" dirty="0" smtClean="0">
                <a:solidFill>
                  <a:srgbClr val="FFFFFF"/>
                </a:solidFill>
                <a:cs typeface="Arial" pitchFamily="34" charset="0"/>
              </a:rPr>
              <a:t>2</a:t>
            </a:r>
            <a:endParaRPr lang="en-CA" sz="700" b="1" dirty="0">
              <a:solidFill>
                <a:srgbClr val="FFFFFF"/>
              </a:solidFill>
              <a:cs typeface="Arial" pitchFamily="34" charset="0"/>
            </a:endParaRPr>
          </a:p>
        </p:txBody>
      </p:sp>
      <p:sp>
        <p:nvSpPr>
          <p:cNvPr id="30" name="Oval 29"/>
          <p:cNvSpPr>
            <a:spLocks noChangeAspect="1" noChangeArrowheads="1"/>
          </p:cNvSpPr>
          <p:nvPr/>
        </p:nvSpPr>
        <p:spPr bwMode="gray">
          <a:xfrm>
            <a:off x="5628068" y="4175028"/>
            <a:ext cx="126511" cy="121207"/>
          </a:xfrm>
          <a:prstGeom prst="ellipse">
            <a:avLst/>
          </a:prstGeom>
          <a:solidFill>
            <a:srgbClr val="003087"/>
          </a:solidFill>
          <a:ln w="6350">
            <a:noFill/>
            <a:round/>
            <a:headEnd/>
            <a:tailEnd/>
          </a:ln>
          <a:effectLst/>
        </p:spPr>
        <p:txBody>
          <a:bodyPr wrap="none" lIns="0" tIns="0" rIns="0" bIns="0" anchor="ctr"/>
          <a:lstStyle/>
          <a:p>
            <a:pPr algn="ctr"/>
            <a:r>
              <a:rPr lang="en-CA" sz="700" b="1" dirty="0">
                <a:solidFill>
                  <a:srgbClr val="FFFFFF"/>
                </a:solidFill>
                <a:cs typeface="Arial" pitchFamily="34" charset="0"/>
              </a:rPr>
              <a:t>1</a:t>
            </a:r>
          </a:p>
        </p:txBody>
      </p:sp>
      <p:sp>
        <p:nvSpPr>
          <p:cNvPr id="31" name="Oval 30"/>
          <p:cNvSpPr>
            <a:spLocks noChangeAspect="1" noChangeArrowheads="1"/>
          </p:cNvSpPr>
          <p:nvPr/>
        </p:nvSpPr>
        <p:spPr bwMode="gray">
          <a:xfrm>
            <a:off x="5628068" y="4712826"/>
            <a:ext cx="126511" cy="121207"/>
          </a:xfrm>
          <a:prstGeom prst="ellipse">
            <a:avLst/>
          </a:prstGeom>
          <a:solidFill>
            <a:srgbClr val="003087"/>
          </a:solidFill>
          <a:ln w="6350">
            <a:noFill/>
            <a:round/>
            <a:headEnd/>
            <a:tailEnd/>
          </a:ln>
          <a:effectLst/>
        </p:spPr>
        <p:txBody>
          <a:bodyPr wrap="none" lIns="0" tIns="0" rIns="0" bIns="0" anchor="ctr"/>
          <a:lstStyle/>
          <a:p>
            <a:pPr algn="ctr"/>
            <a:r>
              <a:rPr lang="en-CA" sz="700" b="1" dirty="0" smtClean="0">
                <a:solidFill>
                  <a:srgbClr val="FFFFFF"/>
                </a:solidFill>
                <a:cs typeface="Arial" pitchFamily="34" charset="0"/>
              </a:rPr>
              <a:t>2</a:t>
            </a:r>
            <a:endParaRPr lang="en-CA" sz="700" b="1" dirty="0">
              <a:solidFill>
                <a:srgbClr val="FFFFFF"/>
              </a:solidFill>
              <a:cs typeface="Arial" pitchFamily="34" charset="0"/>
            </a:endParaRPr>
          </a:p>
        </p:txBody>
      </p:sp>
      <p:sp>
        <p:nvSpPr>
          <p:cNvPr id="32" name="Rounded Rectangle 31"/>
          <p:cNvSpPr/>
          <p:nvPr/>
        </p:nvSpPr>
        <p:spPr>
          <a:xfrm>
            <a:off x="4270917" y="2006845"/>
            <a:ext cx="1357447" cy="136498"/>
          </a:xfrm>
          <a:prstGeom prst="roundRect">
            <a:avLst/>
          </a:prstGeom>
          <a:noFill/>
          <a:ln>
            <a:solidFill>
              <a:srgbClr val="00A3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sp>
        <p:nvSpPr>
          <p:cNvPr id="33" name="Rounded Rectangle 32"/>
          <p:cNvSpPr/>
          <p:nvPr/>
        </p:nvSpPr>
        <p:spPr>
          <a:xfrm>
            <a:off x="4270620" y="4570755"/>
            <a:ext cx="1357447" cy="136498"/>
          </a:xfrm>
          <a:prstGeom prst="roundRect">
            <a:avLst/>
          </a:prstGeom>
          <a:noFill/>
          <a:ln>
            <a:solidFill>
              <a:srgbClr val="00A3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900" dirty="0">
              <a:solidFill>
                <a:schemeClr val="bg1"/>
              </a:solidFill>
            </a:endParaRPr>
          </a:p>
        </p:txBody>
      </p:sp>
      <p:cxnSp>
        <p:nvCxnSpPr>
          <p:cNvPr id="34" name="Elbow Connector 33"/>
          <p:cNvCxnSpPr>
            <a:cxnSpLocks/>
            <a:stCxn id="32" idx="3"/>
            <a:endCxn id="33" idx="3"/>
          </p:cNvCxnSpPr>
          <p:nvPr/>
        </p:nvCxnSpPr>
        <p:spPr>
          <a:xfrm flipH="1">
            <a:off x="5628067" y="2075094"/>
            <a:ext cx="297" cy="2563910"/>
          </a:xfrm>
          <a:prstGeom prst="bentConnector3">
            <a:avLst>
              <a:gd name="adj1" fmla="val -76969697"/>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9387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476250"/>
            <a:ext cx="8496000" cy="470898"/>
          </a:xfrm>
        </p:spPr>
        <p:txBody>
          <a:bodyPr/>
          <a:lstStyle/>
          <a:p>
            <a:r>
              <a:rPr lang="en-US" dirty="0" smtClean="0"/>
              <a:t>Continuity </a:t>
            </a:r>
            <a:r>
              <a:rPr lang="en-US" dirty="0"/>
              <a:t>schedule</a:t>
            </a:r>
            <a:br>
              <a:rPr lang="en-US" dirty="0"/>
            </a:br>
            <a:endParaRPr lang="en-US" dirty="0"/>
          </a:p>
        </p:txBody>
      </p:sp>
      <p:sp>
        <p:nvSpPr>
          <p:cNvPr id="5"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smtClean="0">
                <a:solidFill>
                  <a:schemeClr val="tx2"/>
                </a:solidFill>
              </a:rPr>
              <a:t>Appendix 4</a:t>
            </a:r>
            <a:endParaRPr lang="en-GB" sz="1200" b="1" dirty="0">
              <a:solidFill>
                <a:schemeClr val="tx2"/>
              </a:solidFill>
            </a:endParaRPr>
          </a:p>
        </p:txBody>
      </p:sp>
      <p:sp>
        <p:nvSpPr>
          <p:cNvPr id="9" name="Rectangle 8"/>
          <p:cNvSpPr/>
          <p:nvPr/>
        </p:nvSpPr>
        <p:spPr>
          <a:xfrm>
            <a:off x="360083" y="3719426"/>
            <a:ext cx="3140220" cy="1974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(1) Opening date based on the earlier of transition or waiver income</a:t>
            </a:r>
          </a:p>
          <a:p>
            <a:pPr algn="l"/>
            <a:r>
              <a:rPr lang="en-US" sz="600" i="1" dirty="0">
                <a:solidFill>
                  <a:schemeClr val="tx1"/>
                </a:solidFill>
              </a:rPr>
              <a:t>Source: Management provided information; KPMG analysis</a:t>
            </a:r>
          </a:p>
        </p:txBody>
      </p:sp>
      <p:pic>
        <p:nvPicPr>
          <p:cNvPr id="3" name="Picture 2"/>
          <p:cNvPicPr>
            <a:picLocks noChangeAspect="1"/>
          </p:cNvPicPr>
          <p:nvPr>
            <p:custDataLst>
              <p:tags r:id="rId2"/>
            </p:custDataLst>
          </p:nvPr>
        </p:nvPicPr>
        <p:blipFill>
          <a:blip r:embed="rId5"/>
          <a:stretch>
            <a:fillRect/>
          </a:stretch>
        </p:blipFill>
        <p:spPr>
          <a:xfrm>
            <a:off x="431800" y="1211264"/>
            <a:ext cx="3211386" cy="2491160"/>
          </a:xfrm>
          <a:prstGeom prst="rect">
            <a:avLst/>
          </a:prstGeom>
        </p:spPr>
      </p:pic>
      <p:sp>
        <p:nvSpPr>
          <p:cNvPr id="6" name="Rectangle 5"/>
          <p:cNvSpPr/>
          <p:nvPr/>
        </p:nvSpPr>
        <p:spPr>
          <a:xfrm>
            <a:off x="4437336" y="3702424"/>
            <a:ext cx="3140220" cy="1974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(1) Opening date based on the earlier of transition or waiver income</a:t>
            </a:r>
          </a:p>
          <a:p>
            <a:pPr algn="l"/>
            <a:r>
              <a:rPr lang="en-US" sz="600" i="1" dirty="0">
                <a:solidFill>
                  <a:schemeClr val="tx1"/>
                </a:solidFill>
              </a:rPr>
              <a:t>Source: Management provided information; KPMG analysis</a:t>
            </a:r>
          </a:p>
        </p:txBody>
      </p:sp>
      <p:pic>
        <p:nvPicPr>
          <p:cNvPr id="7" name="Picture 6"/>
          <p:cNvPicPr>
            <a:picLocks noChangeAspect="1"/>
          </p:cNvPicPr>
          <p:nvPr>
            <p:custDataLst>
              <p:tags r:id="rId3"/>
            </p:custDataLst>
          </p:nvPr>
        </p:nvPicPr>
        <p:blipFill>
          <a:blip r:embed="rId6"/>
          <a:stretch>
            <a:fillRect/>
          </a:stretch>
        </p:blipFill>
        <p:spPr>
          <a:xfrm>
            <a:off x="4500562" y="1211264"/>
            <a:ext cx="3211385" cy="2491160"/>
          </a:xfrm>
          <a:prstGeom prst="rect">
            <a:avLst/>
          </a:prstGeom>
        </p:spPr>
      </p:pic>
    </p:spTree>
    <p:extLst>
      <p:ext uri="{BB962C8B-B14F-4D97-AF65-F5344CB8AC3E}">
        <p14:creationId xmlns:p14="http://schemas.microsoft.com/office/powerpoint/2010/main" val="37642402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476250"/>
            <a:ext cx="8496000" cy="470898"/>
          </a:xfrm>
        </p:spPr>
        <p:txBody>
          <a:bodyPr/>
          <a:lstStyle/>
          <a:p>
            <a:r>
              <a:rPr lang="en-US" dirty="0" smtClean="0"/>
              <a:t>Combining </a:t>
            </a:r>
            <a:r>
              <a:rPr lang="en-US" dirty="0"/>
              <a:t>income statement, potentially adjusted</a:t>
            </a:r>
          </a:p>
        </p:txBody>
      </p:sp>
      <p:sp>
        <p:nvSpPr>
          <p:cNvPr id="4"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smtClean="0">
                <a:solidFill>
                  <a:schemeClr val="tx2"/>
                </a:solidFill>
              </a:rPr>
              <a:t>Appendix 5</a:t>
            </a:r>
            <a:endParaRPr lang="en-GB" sz="1200" b="1" dirty="0">
              <a:solidFill>
                <a:schemeClr val="tx2"/>
              </a:solidFill>
            </a:endParaRPr>
          </a:p>
        </p:txBody>
      </p:sp>
      <p:sp>
        <p:nvSpPr>
          <p:cNvPr id="5" name="Rectangle 4"/>
          <p:cNvSpPr/>
          <p:nvPr/>
        </p:nvSpPr>
        <p:spPr>
          <a:xfrm>
            <a:off x="380838" y="3798737"/>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pic>
        <p:nvPicPr>
          <p:cNvPr id="6" name="Picture 5"/>
          <p:cNvPicPr>
            <a:picLocks noChangeAspect="1"/>
          </p:cNvPicPr>
          <p:nvPr>
            <p:custDataLst>
              <p:tags r:id="rId2"/>
            </p:custDataLst>
          </p:nvPr>
        </p:nvPicPr>
        <p:blipFill>
          <a:blip r:embed="rId4"/>
          <a:stretch>
            <a:fillRect/>
          </a:stretch>
        </p:blipFill>
        <p:spPr>
          <a:xfrm>
            <a:off x="431800" y="1211263"/>
            <a:ext cx="4127800" cy="2587474"/>
          </a:xfrm>
          <a:prstGeom prst="rect">
            <a:avLst/>
          </a:prstGeom>
        </p:spPr>
      </p:pic>
    </p:spTree>
    <p:extLst>
      <p:ext uri="{BB962C8B-B14F-4D97-AF65-F5344CB8AC3E}">
        <p14:creationId xmlns:p14="http://schemas.microsoft.com/office/powerpoint/2010/main" val="166225346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31800" y="1211263"/>
            <a:ext cx="8280400" cy="2481740"/>
          </a:xfrm>
          <a:prstGeom prst="rect">
            <a:avLst/>
          </a:prstGeom>
        </p:spPr>
      </p:pic>
      <p:sp>
        <p:nvSpPr>
          <p:cNvPr id="2" name="Title 1"/>
          <p:cNvSpPr>
            <a:spLocks noGrp="1"/>
          </p:cNvSpPr>
          <p:nvPr>
            <p:ph type="title"/>
          </p:nvPr>
        </p:nvSpPr>
        <p:spPr>
          <a:xfrm>
            <a:off x="431800" y="476250"/>
            <a:ext cx="8496000" cy="470898"/>
          </a:xfrm>
        </p:spPr>
        <p:txBody>
          <a:bodyPr/>
          <a:lstStyle/>
          <a:p>
            <a:r>
              <a:rPr lang="en-US" dirty="0"/>
              <a:t>Residential services, potentially adjusted</a:t>
            </a:r>
          </a:p>
        </p:txBody>
      </p:sp>
      <p:sp>
        <p:nvSpPr>
          <p:cNvPr id="4"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smtClean="0">
                <a:solidFill>
                  <a:schemeClr val="tx2"/>
                </a:solidFill>
              </a:rPr>
              <a:t>Appendix 5</a:t>
            </a:r>
            <a:endParaRPr lang="en-GB" sz="1200" b="1" dirty="0">
              <a:solidFill>
                <a:schemeClr val="tx2"/>
              </a:solidFill>
            </a:endParaRPr>
          </a:p>
        </p:txBody>
      </p:sp>
      <p:sp>
        <p:nvSpPr>
          <p:cNvPr id="6" name="Rectangle 5"/>
          <p:cNvSpPr/>
          <p:nvPr/>
        </p:nvSpPr>
        <p:spPr>
          <a:xfrm>
            <a:off x="367304" y="3693003"/>
            <a:ext cx="3300095" cy="1923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t>
            </a:r>
            <a:r>
              <a:rPr lang="en-US" sz="600" i="1" dirty="0" smtClean="0">
                <a:solidFill>
                  <a:schemeClr val="tx1"/>
                </a:solidFill>
              </a:rPr>
              <a:t>analysis</a:t>
            </a:r>
          </a:p>
          <a:p>
            <a:r>
              <a:rPr lang="en-US" sz="600" i="1" dirty="0">
                <a:solidFill>
                  <a:schemeClr val="tx1"/>
                </a:solidFill>
              </a:rPr>
              <a:t>[1] Previously owned by a related </a:t>
            </a:r>
            <a:r>
              <a:rPr lang="en-US" sz="600" i="1" dirty="0" smtClean="0">
                <a:solidFill>
                  <a:schemeClr val="tx1"/>
                </a:solidFill>
              </a:rPr>
              <a:t>party and sold </a:t>
            </a:r>
            <a:r>
              <a:rPr lang="en-US" sz="600" i="1" dirty="0">
                <a:solidFill>
                  <a:schemeClr val="tx1"/>
                </a:solidFill>
              </a:rPr>
              <a:t>to a 3rd party during Nov-19.</a:t>
            </a:r>
          </a:p>
        </p:txBody>
      </p:sp>
    </p:spTree>
    <p:extLst>
      <p:ext uri="{BB962C8B-B14F-4D97-AF65-F5344CB8AC3E}">
        <p14:creationId xmlns:p14="http://schemas.microsoft.com/office/powerpoint/2010/main" val="325489400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800" y="476250"/>
            <a:ext cx="8496000" cy="470898"/>
          </a:xfrm>
        </p:spPr>
        <p:txBody>
          <a:bodyPr/>
          <a:lstStyle/>
          <a:p>
            <a:r>
              <a:rPr lang="en-US" dirty="0"/>
              <a:t>Day services, potentially adjusted</a:t>
            </a:r>
          </a:p>
        </p:txBody>
      </p:sp>
      <p:sp>
        <p:nvSpPr>
          <p:cNvPr id="5"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200" b="1" dirty="0" smtClean="0">
                <a:solidFill>
                  <a:schemeClr val="tx2"/>
                </a:solidFill>
              </a:rPr>
              <a:t>Appendix 5</a:t>
            </a:r>
            <a:endParaRPr lang="en-GB" sz="1200" b="1" dirty="0">
              <a:solidFill>
                <a:schemeClr val="tx2"/>
              </a:solidFill>
            </a:endParaRPr>
          </a:p>
        </p:txBody>
      </p:sp>
      <p:sp>
        <p:nvSpPr>
          <p:cNvPr id="9" name="Rectangle 8"/>
          <p:cNvSpPr/>
          <p:nvPr/>
        </p:nvSpPr>
        <p:spPr>
          <a:xfrm>
            <a:off x="387349" y="4597439"/>
            <a:ext cx="2365312" cy="92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600" i="1" dirty="0">
                <a:solidFill>
                  <a:schemeClr val="tx1"/>
                </a:solidFill>
              </a:rPr>
              <a:t>Source: Management provided information; KPMG analysis</a:t>
            </a:r>
          </a:p>
        </p:txBody>
      </p:sp>
      <p:pic>
        <p:nvPicPr>
          <p:cNvPr id="6" name="Picture 5"/>
          <p:cNvPicPr>
            <a:picLocks noChangeAspect="1"/>
          </p:cNvPicPr>
          <p:nvPr/>
        </p:nvPicPr>
        <p:blipFill>
          <a:blip r:embed="rId3"/>
          <a:stretch>
            <a:fillRect/>
          </a:stretch>
        </p:blipFill>
        <p:spPr>
          <a:xfrm>
            <a:off x="431801" y="1211263"/>
            <a:ext cx="4438848" cy="3386176"/>
          </a:xfrm>
          <a:prstGeom prst="rect">
            <a:avLst/>
          </a:prstGeom>
        </p:spPr>
      </p:pic>
    </p:spTree>
    <p:extLst>
      <p:ext uri="{BB962C8B-B14F-4D97-AF65-F5344CB8AC3E}">
        <p14:creationId xmlns:p14="http://schemas.microsoft.com/office/powerpoint/2010/main" val="39294724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rgbClr val="FFFFFF"/>
                </a:solidFill>
              </a:rPr>
              <a:t>Contacts</a:t>
            </a:r>
            <a:endParaRPr lang="en-US" dirty="0">
              <a:solidFill>
                <a:srgbClr val="FFFFFF"/>
              </a:solidFill>
            </a:endParaRPr>
          </a:p>
        </p:txBody>
      </p:sp>
      <p:sp>
        <p:nvSpPr>
          <p:cNvPr id="3" name="Text Placeholder 2"/>
          <p:cNvSpPr>
            <a:spLocks noGrp="1"/>
          </p:cNvSpPr>
          <p:nvPr>
            <p:ph type="body" sz="quarter" idx="11"/>
          </p:nvPr>
        </p:nvSpPr>
        <p:spPr>
          <a:xfrm>
            <a:off x="2064100" y="2993400"/>
            <a:ext cx="6172700" cy="216000"/>
          </a:xfrm>
        </p:spPr>
        <p:txBody>
          <a:bodyPr/>
          <a:lstStyle/>
          <a:p>
            <a:r>
              <a:rPr lang="en-US" dirty="0" smtClean="0">
                <a:solidFill>
                  <a:srgbClr val="FFFFFF"/>
                </a:solidFill>
              </a:rPr>
              <a:t>The contacts at KPMG in connection with this report are:</a:t>
            </a:r>
          </a:p>
          <a:p>
            <a:endParaRPr lang="en-US" dirty="0">
              <a:solidFill>
                <a:srgbClr val="FFFFFF"/>
              </a:solidFill>
            </a:endParaRPr>
          </a:p>
          <a:p>
            <a:pPr>
              <a:spcAft>
                <a:spcPts val="0"/>
              </a:spcAft>
            </a:pPr>
            <a:r>
              <a:rPr lang="en-US" dirty="0">
                <a:solidFill>
                  <a:srgbClr val="FFFFFF"/>
                </a:solidFill>
                <a:latin typeface="Univers for KPMG" panose="020B0603020202020204" pitchFamily="34" charset="0"/>
              </a:rPr>
              <a:t>Mike Mammoliti </a:t>
            </a:r>
          </a:p>
          <a:p>
            <a:pPr>
              <a:spcAft>
                <a:spcPts val="0"/>
              </a:spcAft>
            </a:pPr>
            <a:r>
              <a:rPr lang="en-US" b="0" dirty="0">
                <a:solidFill>
                  <a:srgbClr val="FFFFFF"/>
                </a:solidFill>
                <a:latin typeface="Univers for KPMG" panose="020B0603020202020204" pitchFamily="34" charset="0"/>
              </a:rPr>
              <a:t>Partner, </a:t>
            </a:r>
            <a:r>
              <a:rPr lang="en-US" b="0" i="1" dirty="0">
                <a:solidFill>
                  <a:srgbClr val="FFFFFF"/>
                </a:solidFill>
                <a:latin typeface="Univers for KPMG" panose="020B0603020202020204" pitchFamily="34" charset="0"/>
              </a:rPr>
              <a:t>Transaction Services</a:t>
            </a:r>
          </a:p>
          <a:p>
            <a:pPr>
              <a:spcAft>
                <a:spcPts val="0"/>
              </a:spcAft>
            </a:pPr>
            <a:r>
              <a:rPr lang="en-US" b="0" dirty="0">
                <a:solidFill>
                  <a:srgbClr val="FFFFFF"/>
                </a:solidFill>
                <a:latin typeface="Univers for KPMG" panose="020B0603020202020204" pitchFamily="34" charset="0"/>
              </a:rPr>
              <a:t>416-777-8931</a:t>
            </a:r>
          </a:p>
          <a:p>
            <a:pPr>
              <a:spcAft>
                <a:spcPts val="0"/>
              </a:spcAft>
            </a:pPr>
            <a:r>
              <a:rPr lang="en-US" b="0" dirty="0">
                <a:solidFill>
                  <a:srgbClr val="FFFFFF"/>
                </a:solidFill>
                <a:latin typeface="Univers for KPMG" panose="020B0603020202020204" pitchFamily="34" charset="0"/>
              </a:rPr>
              <a:t>mmammoliti@kpmg.ca</a:t>
            </a:r>
          </a:p>
          <a:p>
            <a:pPr>
              <a:spcAft>
                <a:spcPts val="0"/>
              </a:spcAft>
            </a:pPr>
            <a:endParaRPr lang="en-US" b="0" dirty="0">
              <a:solidFill>
                <a:srgbClr val="FFFFFF"/>
              </a:solidFill>
              <a:latin typeface="Univers for KPMG" panose="020B0603020202020204" pitchFamily="34" charset="0"/>
            </a:endParaRPr>
          </a:p>
          <a:p>
            <a:pPr>
              <a:spcAft>
                <a:spcPts val="0"/>
              </a:spcAft>
            </a:pPr>
            <a:r>
              <a:rPr lang="en-US" dirty="0">
                <a:solidFill>
                  <a:srgbClr val="FFFFFF"/>
                </a:solidFill>
                <a:latin typeface="Univers for KPMG" panose="020B0603020202020204" pitchFamily="34" charset="0"/>
              </a:rPr>
              <a:t>Zahin Chowdhury</a:t>
            </a:r>
          </a:p>
          <a:p>
            <a:pPr>
              <a:spcAft>
                <a:spcPts val="0"/>
              </a:spcAft>
            </a:pPr>
            <a:r>
              <a:rPr lang="en-US" b="0" dirty="0">
                <a:solidFill>
                  <a:srgbClr val="FFFFFF"/>
                </a:solidFill>
                <a:latin typeface="Univers for KPMG" panose="020B0603020202020204" pitchFamily="34" charset="0"/>
              </a:rPr>
              <a:t>Senior Manager, </a:t>
            </a:r>
            <a:r>
              <a:rPr lang="en-US" b="0" i="1" dirty="0">
                <a:solidFill>
                  <a:srgbClr val="FFFFFF"/>
                </a:solidFill>
                <a:latin typeface="Univers for KPMG" panose="020B0603020202020204" pitchFamily="34" charset="0"/>
              </a:rPr>
              <a:t>Transaction Services</a:t>
            </a:r>
          </a:p>
          <a:p>
            <a:pPr>
              <a:spcAft>
                <a:spcPts val="0"/>
              </a:spcAft>
            </a:pPr>
            <a:r>
              <a:rPr lang="en-US" b="0" dirty="0">
                <a:solidFill>
                  <a:srgbClr val="FFFFFF"/>
                </a:solidFill>
                <a:latin typeface="Univers for KPMG" panose="020B0603020202020204" pitchFamily="34" charset="0"/>
              </a:rPr>
              <a:t>416-777-3510</a:t>
            </a:r>
          </a:p>
          <a:p>
            <a:pPr>
              <a:spcAft>
                <a:spcPts val="0"/>
              </a:spcAft>
            </a:pPr>
            <a:r>
              <a:rPr lang="en-US" b="0" dirty="0">
                <a:solidFill>
                  <a:srgbClr val="FFFFFF"/>
                </a:solidFill>
                <a:latin typeface="Univers for KPMG" panose="020B0603020202020204" pitchFamily="34" charset="0"/>
              </a:rPr>
              <a:t>znchowdhury@kpmg.ca</a:t>
            </a:r>
          </a:p>
          <a:p>
            <a:endParaRPr lang="en-US" dirty="0" smtClean="0">
              <a:solidFill>
                <a:srgbClr val="FFFFFF"/>
              </a:solidFill>
            </a:endParaRPr>
          </a:p>
          <a:p>
            <a:endParaRPr lang="en-US" dirty="0" smtClean="0">
              <a:solidFill>
                <a:srgbClr val="FFFFFF"/>
              </a:solidFill>
            </a:endParaRPr>
          </a:p>
          <a:p>
            <a:endParaRPr lang="en-US" dirty="0">
              <a:solidFill>
                <a:srgbClr val="FFFFFF"/>
              </a:solidFill>
            </a:endParaRPr>
          </a:p>
        </p:txBody>
      </p:sp>
    </p:spTree>
    <p:extLst>
      <p:ext uri="{BB962C8B-B14F-4D97-AF65-F5344CB8AC3E}">
        <p14:creationId xmlns:p14="http://schemas.microsoft.com/office/powerpoint/2010/main" val="28507515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11">
            <a:extLst>
              <a:ext uri="{FF2B5EF4-FFF2-40B4-BE49-F238E27FC236}">
                <a16:creationId xmlns="" xmlns:a16="http://schemas.microsoft.com/office/drawing/2014/main" id="{A3A96B79-9A6D-4A5A-99B1-DE73E3871431}"/>
              </a:ext>
            </a:extLst>
          </p:cNvPr>
          <p:cNvSpPr txBox="1">
            <a:spLocks/>
          </p:cNvSpPr>
          <p:nvPr>
            <p:custDataLst>
              <p:tags r:id="rId1"/>
            </p:custDataLst>
          </p:nvPr>
        </p:nvSpPr>
        <p:spPr>
          <a:xfrm>
            <a:off x="431800" y="195154"/>
            <a:ext cx="8284464"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endParaRPr lang="en-GB" sz="1200" b="1" dirty="0">
              <a:solidFill>
                <a:schemeClr val="tx2"/>
              </a:solidFill>
            </a:endParaRPr>
          </a:p>
        </p:txBody>
      </p:sp>
      <p:sp>
        <p:nvSpPr>
          <p:cNvPr id="10" name="Espace réservé du texte 9"/>
          <p:cNvSpPr>
            <a:spLocks noGrp="1"/>
          </p:cNvSpPr>
          <p:nvPr>
            <p:ph type="body" sz="quarter" idx="13"/>
          </p:nvPr>
        </p:nvSpPr>
        <p:spPr/>
        <p:txBody>
          <a:bodyPr/>
          <a:lstStyle/>
          <a:p>
            <a:r>
              <a:rPr lang="en-CA" dirty="0"/>
              <a:t>© 2020 KPMG LLP, a Canadian limited liability partnership and a member firm of the KPMG network of independent member firms affiliated with KPMG International Cooperative (“KPMG International”), a Swiss entity. All rights reserved. </a:t>
            </a:r>
          </a:p>
          <a:p>
            <a:r>
              <a:rPr lang="en-CA" dirty="0"/>
              <a:t>The KPMG name and logo are registered trademarks or trademarks of KPMG International.</a:t>
            </a:r>
          </a:p>
          <a:p>
            <a:endParaRPr lang="en-CA" noProof="0" dirty="0"/>
          </a:p>
        </p:txBody>
      </p:sp>
      <p:grpSp>
        <p:nvGrpSpPr>
          <p:cNvPr id="12" name="Groupe 1">
            <a:extLst>
              <a:ext uri="{FF2B5EF4-FFF2-40B4-BE49-F238E27FC236}">
                <a16:creationId xmlns="" xmlns:a16="http://schemas.microsoft.com/office/drawing/2014/main" id="{1EBEE2A5-46D2-4D59-8ECD-B158441CAF62}"/>
              </a:ext>
            </a:extLst>
          </p:cNvPr>
          <p:cNvGrpSpPr/>
          <p:nvPr/>
        </p:nvGrpSpPr>
        <p:grpSpPr>
          <a:xfrm>
            <a:off x="3" y="0"/>
            <a:ext cx="9143997" cy="661851"/>
            <a:chOff x="3" y="0"/>
            <a:chExt cx="9905997" cy="661851"/>
          </a:xfrm>
        </p:grpSpPr>
        <p:sp>
          <p:nvSpPr>
            <p:cNvPr id="13" name="Rectangle 12">
              <a:extLst>
                <a:ext uri="{FF2B5EF4-FFF2-40B4-BE49-F238E27FC236}">
                  <a16:creationId xmlns="" xmlns:a16="http://schemas.microsoft.com/office/drawing/2014/main" id="{5CCF29C7-1B11-414B-BB41-B1FCF0943716}"/>
                </a:ext>
              </a:extLst>
            </p:cNvPr>
            <p:cNvSpPr/>
            <p:nvPr/>
          </p:nvSpPr>
          <p:spPr>
            <a:xfrm>
              <a:off x="810024" y="0"/>
              <a:ext cx="9095976" cy="66185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fr-FR" sz="900" dirty="0">
                <a:solidFill>
                  <a:schemeClr val="bg1"/>
                </a:solidFill>
              </a:endParaRPr>
            </a:p>
          </p:txBody>
        </p:sp>
        <p:sp>
          <p:nvSpPr>
            <p:cNvPr id="14" name="Rectangle 13">
              <a:extLst>
                <a:ext uri="{FF2B5EF4-FFF2-40B4-BE49-F238E27FC236}">
                  <a16:creationId xmlns="" xmlns:a16="http://schemas.microsoft.com/office/drawing/2014/main" id="{6F083BB2-A906-476A-B288-5B1FE53B4E5B}"/>
                </a:ext>
              </a:extLst>
            </p:cNvPr>
            <p:cNvSpPr>
              <a:spLocks/>
            </p:cNvSpPr>
            <p:nvPr/>
          </p:nvSpPr>
          <p:spPr>
            <a:xfrm>
              <a:off x="3" y="0"/>
              <a:ext cx="810021" cy="6618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fr-FR" sz="900" dirty="0">
                <a:solidFill>
                  <a:schemeClr val="bg1"/>
                </a:solidFill>
              </a:endParaRPr>
            </a:p>
          </p:txBody>
        </p:sp>
      </p:grpSp>
    </p:spTree>
    <p:extLst>
      <p:ext uri="{BB962C8B-B14F-4D97-AF65-F5344CB8AC3E}">
        <p14:creationId xmlns:p14="http://schemas.microsoft.com/office/powerpoint/2010/main" val="394525062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Report"/>
  <p:tag name="KEYWORD" val="REPORT"/>
  <p:tag name="TEMPLATEVERSION" val="12/02/2016 01:32:30"/>
  <p:tag name="THINKCELLUNDODONOTDELETE" val="0"/>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false&lt;/ContainsUnNumberedSections&gt;&#10;    &lt;SlideTitle&gt;Contents&lt;/SlideTitle&gt;&#10;  &lt;/TocSlidesOptions&gt;&#10;  &lt;SectionSlideOptions&gt;&#10;    &lt;ContainsOwnSubSection&gt;false&lt;/ContainsOwnSubSection&gt;&#10;    &lt;ContainsOwnSlide&gt;false&lt;/ContainsOwnSlide&gt;&#10;    &lt;ContainsOtherSections&gt;false&lt;/ContainsOtherSections&gt;&#10;    &lt;ContainsOthersSubsection&gt;false&lt;/ContainsOthersSubsection&gt;&#10;    &lt;containsAppendix&gt;true&lt;/containsAppendix&gt;&#10;    &lt;containsUnnumberedSections&gt;false&lt;/containsUnnumberedSections&gt;&#10;    &lt;SlideTitle /&gt;&#10;  &lt;/SectionSlideOptions&gt;&#10;  &lt;SubSectionSlideOptions&gt;&#10;    &lt;ContainsOtherSubsections&gt;true&lt;/ContainsOtherSubsections&gt;&#10;    &lt;ContainsOwnSlides&gt;false&lt;/ContainsOwnSlides&gt;&#10;    &lt;ContainsParentSection&gt;true&lt;/ContainsParentSection&gt;&#10;    &lt;ContainsOtherSections&gt;false&lt;/ContainsOtherSections&gt;&#10;    &lt;containsAppendix&gt;true&lt;/containsAppendix&gt;&#10;    &lt;containsUnnumberedSections&gt;false&lt;/containsUnnumberedSections&gt;&#10;    &lt;SlideTitle /&gt;&#10;  &lt;/SubSectionSlideOptions&gt;&#10;  &lt;UsedSlideLayouts&gt;&#10;    &lt;TocSlidesLayout&gt;&#10;      &lt;DesignName&gt;KPMG_Report&lt;/DesignName&gt;&#10;      &lt;LayoutName&gt;CONTENTS&lt;/LayoutName&gt;&#10;    &lt;/TocSlidesLayout&gt;&#10;    &lt;SectionLayout&gt;&#10;      &lt;DesignName&gt;KPMG_Divider&lt;/DesignName&gt;&#10;      &lt;LayoutName&gt;DIVIDER 5&lt;/LayoutName&gt;&#10;    &lt;/SectionLayout&gt;&#10;    &lt;SubsectionLayout&gt;&#10;      &lt;DesignName&gt;KPMG_Divider&lt;/DesignName&gt;&#10;      &lt;LayoutName&gt;DIVIDER 5&lt;/LayoutName&gt;&#10;    &lt;/SubsectionLayout&gt;&#10;    &lt;TitleSliLayout&gt;&#10;      &lt;DesignName&gt;KPMG_Report&lt;/DesignName&gt;&#10;      &lt;LayoutName&gt;TITLE SLIDE 3 - Left light vertical image&lt;/LayoutName&gt;&#10;    &lt;/TitleSliLayout&gt;&#10;  &lt;/UsedSlideLayouts&gt;&#10;  &lt;ActiveReminders&gt;&#10;    &lt;ReminderScriptList&gt;&#10;      &lt;ReminderScript&gt;&#10;        &lt;Key xsi:type=&quot;xsd:string&quot;&gt;Reminder28/07/2016 10:55:40833312551&lt;/Key&gt;&#10;        &lt;Value xsi:type=&quot;xsd:string&quot;&gt;&amp;lt;%SectionName%&amp;gt;&amp;lt;%SpaceIfInSubSec%&amp;gt;&amp;lt;%TiretIfInSubSec%&amp;gt;&amp;lt;%SpaceIfInSubSec%&amp;gt;&amp;lt;%SubSectionName%&amp;gt;&lt;/Value&gt;&#10;      &lt;/ReminderScript&gt;&#10;    &lt;/ReminderScriptList&gt;&#10;  &lt;/ActiveReminders&gt;&#10;  &lt;CustomAlgoOptions&gt;&#10;    &lt;CustomBaseAlgoOptions&gt;&#10;      &lt;UseSlideTitleAsSubSectionMarker&gt;false&lt;/UseSlideTitleAsSubSectionMarker&gt;&#10;      &lt;SlideTitleAsSectionMarker&gt;&#10;        &lt;UseTitleAsReminder&gt;false&lt;/UseTitleAsReminder&gt;&#10;      &lt;/SlideTitleAsSectionMarker&gt;&#10;      &lt;ShowSectionNums&gt;false&lt;/ShowSectionNums&gt;&#10;      &lt;ShowSlideIndex&gt;true&lt;/ShowSlideIndex&gt;&#10;      &lt;myColorOfNonCurrentItems&gt;&#10;        &lt;UseFixedColor&gt;true&lt;/UseFixedColor&gt;&#10;        &lt;R&gt;140&lt;/R&gt;&#10;        &lt;G&gt;205&lt;/G&gt;&#10;        &lt;B&gt;238&lt;/B&gt;&#10;      &lt;/myColorOfNonCurrentItems&gt;&#10;      &lt;currentItemFormat&gt;&#10;        &lt;UseBanner&gt;false&lt;/UseBanner&gt;&#10;        &lt;BannerFillR&gt;0&lt;/BannerFillR&gt;&#10;        &lt;BannerFillG&gt;0&lt;/BannerFillG&gt;&#10;        &lt;BannerFillB&gt;0&lt;/BannerFillB&gt;&#10;        &lt;ForceBold&gt;false&lt;/ForceBold&gt;&#10;        &lt;ApplyToSubSections&gt;tru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false&lt;/ForceDisplayTOCOnTwocolumns&gt;&#10;      &lt;DisplayTOCOnTwocolumns&gt;false&lt;/DisplayTOCOnTwocolumns&gt;&#10;      &lt;Scripts&gt;&#10;        &lt;BeforeSubSecTitle /&gt;&#10;        &lt;BeforeSlideIndex /&gt;&#10;        &lt;AfterSecNum /&gt;&#10;        &lt;BeforeSecNum /&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0&lt;/SpaceBeforeSections&gt;&#10;          &lt;SpaceBeforeSubSections&gt;0&lt;/SpaceBeforeSubSections&gt;&#10;          &lt;SpaceBeforeSlides&gt;5.825008&lt;/SpaceBeforeSlides&gt;&#10;        &lt;/ManualSpacing&gt;&#10;        &lt;ManualSpacingSections&gt;&#10;          &lt;SpaceBeforeSections&gt;17.4750233&lt;/SpaceBeforeSections&gt;&#10;          &lt;SpaceBeforeSubSections&gt;11.6500158&lt;/SpaceBeforeSubSections&gt;&#10;          &lt;SpaceBeforeSlides&gt;5.825008&lt;/SpaceBeforeSlides&gt;&#10;        &lt;/ManualSpacingSections&gt;&#10;        &lt;ManualSpacingSubSections&gt;&#10;          &lt;SpaceBeforeSections&gt;17.4750233&lt;/SpaceBeforeSections&gt;&#10;          &lt;SpaceBeforeSubSections&gt;11.6500158&lt;/SpaceBeforeSubSections&gt;&#10;          &lt;SpaceBeforeSlides&gt;5.825008&lt;/SpaceBeforeSlides&gt;&#10;        &lt;/ManualSpacingSubSections&gt;&#10;        &lt;UseSpecificSpacingForSecDivider&gt;false&lt;/UseSpecificSpacingForSecDivider&gt;&#10;        &lt;UseSpecificSpacingForSubSecDivider&gt;false&lt;/UseSpecificSpacingForSubSecDivider&gt;&#10;      &lt;/ManVerticalSpacing&gt;&#10;    &lt;/CustomBaseAlgoOptions&gt;&#10;  &lt;/CustomAlgoOptions&gt;&#10;  &lt;XmlSubSectionsHaveSlide&gt;false&lt;/XmlSubSectionsHaveSlide&gt;&#10;  &lt;AllowDuplicateTitleSlides&gt;tru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UPSLIDETOCALGOID" val="Standard"/>
  <p:tag name="UPSLIDETOCMASTERID" val="KPMG Report 4 34 24 2019"/>
  <p:tag name="UPSLIDETOCMASTERNAME" val="KPMG Report 4 3"/>
  <p:tag name="UPSLIDETOCMASTERLASTEDITIONDATE" val="636924919490185233"/>
  <p:tag name="TEMPLATESHORTNAMETAG" val="Report"/>
  <p:tag name="TEMPLATEFULLNAMETAG" val="Report"/>
  <p:tag name="UPSLIDE" val="UpS00075_Report for Bev to validate_19-12-2017"/>
  <p:tag name="UPSLIDECOMPATIBILITYID" val="UpS00136_DD Report - Short [EN]_02-08-2017 UpS00136_KPMG Australia - Report Template_17-05-2016"/>
  <p:tag name="UPSLIDEVERSION" val="6.4.0.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17.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18.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19.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20.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21.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22.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UBSECTIONINDEX"/>
  <p:tag name="TOCTEMPLATESHAPENAME" val="Numéro de slide des sous-sections"/>
  <p:tag name="TOCTEMPLATESHAPEDESCRIPTION" val="Définit le format de la forme contenant les numéros de slides des sous-sections."/>
</p:tagLst>
</file>

<file path=ppt/tags/tag23.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ECTIONINDEX"/>
  <p:tag name="TOCTEMPLATESHAPENAME" val="Numéro de slide des sections"/>
  <p:tag name="TOCTEMPLATESHAPEDESCRIPTION" val="Définit le format de la forme contenant les numéros de slides pour les sections."/>
</p:tagLst>
</file>

<file path=ppt/tags/tag24.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25.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26.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27.xml><?xml version="1.0" encoding="utf-8"?>
<p:tagLst xmlns:a="http://schemas.openxmlformats.org/drawingml/2006/main" xmlns:r="http://schemas.openxmlformats.org/officeDocument/2006/relationships" xmlns:p="http://schemas.openxmlformats.org/presentationml/2006/main">
  <p:tag name="NAME" val="SECTIONUM"/>
  <p:tag name="TOCTEMPLATESHAPENAME" val="Numéro de section"/>
  <p:tag name="TOCTEMPLATESHAPEDESCRIPTION" val="Définit le format de la forme contenant les numéros de sections"/>
</p:tagLst>
</file>

<file path=ppt/tags/tag28.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29.xml><?xml version="1.0" encoding="utf-8"?>
<p:tagLst xmlns:a="http://schemas.openxmlformats.org/drawingml/2006/main" xmlns:r="http://schemas.openxmlformats.org/officeDocument/2006/relationships" xmlns:p="http://schemas.openxmlformats.org/presentationml/2006/main">
  <p:tag name="NAME" val="SUBSECTIONUM"/>
  <p:tag name="TOCTEMPLATESHAPENAME" val="Index des sous-section"/>
  <p:tag name="TOCTEMPLATESHAPEDESCRIPTION" val="Définit le format de la forme contenant les numéros des sou-sections"/>
</p:tagLst>
</file>

<file path=ppt/tags/tag30.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31.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32.xml><?xml version="1.0" encoding="utf-8"?>
<p:tagLst xmlns:a="http://schemas.openxmlformats.org/drawingml/2006/main" xmlns:r="http://schemas.openxmlformats.org/officeDocument/2006/relationships" xmlns:p="http://schemas.openxmlformats.org/presentationml/2006/main">
  <p:tag name="TOCSHAPE" val="344"/>
  <p:tag name="SLIDEINDEX" val="344"/>
  <p:tag name="NAME" val="SECTIONINDEX"/>
  <p:tag name="TOCTEMPLATESHAPENAME" val="Numéro de slide des sections"/>
  <p:tag name="TOCTEMPLATESHAPEDESCRIPTION" val="Définit le format de la forme contenant les numéros de slides pour les sections."/>
</p:tagLst>
</file>

<file path=ppt/tags/tag33.xml><?xml version="1.0" encoding="utf-8"?>
<p:tagLst xmlns:a="http://schemas.openxmlformats.org/drawingml/2006/main" xmlns:r="http://schemas.openxmlformats.org/officeDocument/2006/relationships" xmlns:p="http://schemas.openxmlformats.org/presentationml/2006/main">
  <p:tag name="TOCSHAPE" val="341"/>
  <p:tag name="SLIDEINDEX" val="341"/>
  <p:tag name="NAME" val="SUBSECTIONINDEX"/>
  <p:tag name="TOCTEMPLATESHAPENAME" val="Numéro de slide des sous-sections"/>
  <p:tag name="TOCTEMPLATESHAPEDESCRIPTION" val="Définit le format de la forme contenant les numéros de slides des sous-sections."/>
</p:tagLst>
</file>

<file path=ppt/tags/tag34.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35.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36.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37.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38.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39.xml><?xml version="1.0" encoding="utf-8"?>
<p:tagLst xmlns:a="http://schemas.openxmlformats.org/drawingml/2006/main" xmlns:r="http://schemas.openxmlformats.org/officeDocument/2006/relationships" xmlns:p="http://schemas.openxmlformats.org/presentationml/2006/main">
  <p:tag name="TOCSHAPE" val="268"/>
  <p:tag name="SLIDEINDEX" val="268"/>
  <p:tag name="NAME" val="SECTIONINDEX"/>
  <p:tag name="TOCTEMPLATESHAPENAME" val="Numéro de slide des sections"/>
  <p:tag name="TOCTEMPLATESHAPEDESCRIPTION" val="Définit le format de la forme contenant les numéros de slides pour les sections."/>
</p:tagLst>
</file>

<file path=ppt/tags/tag40.xml><?xml version="1.0" encoding="utf-8"?>
<p:tagLst xmlns:a="http://schemas.openxmlformats.org/drawingml/2006/main" xmlns:r="http://schemas.openxmlformats.org/officeDocument/2006/relationships" xmlns:p="http://schemas.openxmlformats.org/presentationml/2006/main">
  <p:tag name="TOCSHAPE" val="269"/>
  <p:tag name="SLIDEINDEX" val="269"/>
  <p:tag name="NAME" val="SUBSECTIONINDEX"/>
  <p:tag name="TOCTEMPLATESHAPENAME" val="Numéro de slide des sous-sections"/>
  <p:tag name="TOCTEMPLATESHAPEDESCRIPTION" val="Définit le format de la forme contenant les numéros de slides des sous-sections."/>
</p:tagLst>
</file>

<file path=ppt/tags/tag41.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42.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43.xml><?xml version="1.0" encoding="utf-8"?>
<p:tagLst xmlns:a="http://schemas.openxmlformats.org/drawingml/2006/main" xmlns:r="http://schemas.openxmlformats.org/officeDocument/2006/relationships" xmlns:p="http://schemas.openxmlformats.org/presentationml/2006/main">
  <p:tag name="RANK" val="0"/>
  <p:tag name="MODE" val="1"/>
  <p:tag name="LEFT" val="17"/>
  <p:tag name="TOP" val="7,5"/>
  <p:tag name="HEIGHT" val="24,25"/>
  <p:tag name="NAME" val="SectionName"/>
  <p:tag name="TOCTEMPLATESHAPENAME" val="Tittre de la section"/>
</p:tagLst>
</file>

<file path=ppt/tags/tag44.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 name="TOCTEMPLATESHAPEDESCRIPTION" val=""/>
</p:tagLst>
</file>

<file path=ppt/tags/tag45.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acBodhj5RTK3o6gv3Pyb.g"/>
</p:tagLst>
</file>

<file path=ppt/tags/tag48.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49.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50.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51.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52.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53.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54.xml><?xml version="1.0" encoding="utf-8"?>
<p:tagLst xmlns:a="http://schemas.openxmlformats.org/drawingml/2006/main" xmlns:r="http://schemas.openxmlformats.org/officeDocument/2006/relationships" xmlns:p="http://schemas.openxmlformats.org/presentationml/2006/main">
  <p:tag name="LAST UPDATE DATE" val="320109323.280338"/>
  <p:tag name="IMPORTID" val="6468311547217.103342"/>
  <p:tag name="WBLAST" val="\\cagtafsr04\_Advisory\Transactions Advisory\Clients\Transaction Services\D\DW Healthcare Partners\Project Green\Staff files\Project Green - DRAFT Databook (2020-2-22).xlsx"/>
  <p:tag name="USER NAME" val="mabas"/>
  <p:tag name="TYPE" val="2"/>
  <p:tag name="SOURCENAME" val="Chart2"/>
  <p:tag name="SHEETID" val="QofE | Summary"/>
  <p:tag name="PICTUREAPPEARANCE" val="xlPrinter"/>
</p:tagLst>
</file>

<file path=ppt/tags/tag55.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56.xml><?xml version="1.0" encoding="utf-8"?>
<p:tagLst xmlns:a="http://schemas.openxmlformats.org/drawingml/2006/main" xmlns:r="http://schemas.openxmlformats.org/officeDocument/2006/relationships" xmlns:p="http://schemas.openxmlformats.org/presentationml/2006/main">
  <p:tag name="LAST UPDATE DATE" val="320109406.691683"/>
  <p:tag name="IMPORTID" val="8202318475226.565317"/>
  <p:tag name="WBLAST" val="\\cagtafsr04\_Advisory\Transactions Advisory\Clients\Transaction Services\D\DW Healthcare Partners\Project Green\Staff files\Project Green - DRAFT Databook (2020-2-22).xlsx"/>
  <p:tag name="USER NAME" val="mabas"/>
  <p:tag name="TYPE" val="1"/>
  <p:tag name="SOURCENAME" val="Combined balance sheet"/>
  <p:tag name="SHEETID" val="BS_Combined "/>
  <p:tag name="PICTUREAPPEARANCE" val="xlPrinter"/>
</p:tagLst>
</file>

<file path=ppt/tags/tag57.xml><?xml version="1.0" encoding="utf-8"?>
<p:tagLst xmlns:a="http://schemas.openxmlformats.org/drawingml/2006/main" xmlns:r="http://schemas.openxmlformats.org/officeDocument/2006/relationships" xmlns:p="http://schemas.openxmlformats.org/presentationml/2006/main">
  <p:tag name="LAST UPDATE DATE" val="320109350.995092"/>
  <p:tag name="IMPORTID" val="6538318477086.676775"/>
  <p:tag name="WBLAST" val="\\cagtafsr04\_Advisory\Transactions Advisory\Clients\Transaction Services\D\DW Healthcare Partners\Project Green\Staff files\Project Green - DRAFT Databook (2020-2-22).xlsx"/>
  <p:tag name="USER NAME" val="mabas"/>
  <p:tag name="TYPE" val="1"/>
  <p:tag name="SOURCENAME" val="Combined income statement"/>
  <p:tag name="SHEETID" val="IS_Combined_Report"/>
  <p:tag name="PICTUREAPPEARANCE" val="xlPrinter"/>
</p:tagLst>
</file>

<file path=ppt/tags/tag58.xml><?xml version="1.0" encoding="utf-8"?>
<p:tagLst xmlns:a="http://schemas.openxmlformats.org/drawingml/2006/main" xmlns:r="http://schemas.openxmlformats.org/officeDocument/2006/relationships" xmlns:p="http://schemas.openxmlformats.org/presentationml/2006/main">
  <p:tag name="CROSSREFGUID" val="a3148333-f30c-45df-b48c-52577a913e05"/>
</p:tagLst>
</file>

<file path=ppt/tags/tag59.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60.xml><?xml version="1.0" encoding="utf-8"?>
<p:tagLst xmlns:a="http://schemas.openxmlformats.org/drawingml/2006/main" xmlns:r="http://schemas.openxmlformats.org/officeDocument/2006/relationships" xmlns:p="http://schemas.openxmlformats.org/presentationml/2006/main">
  <p:tag name="LAST UPDATE DATE" val="321495867.857984"/>
  <p:tag name="IMPORTID" val="8853319170419.756882"/>
  <p:tag name="WBLAST" val="\\cagtafsr04\_Advisory\Transactions Advisory\Clients\Transaction Services\D\DW Healthcare Partners\Project Green\Staff files\Project Green - DRAFT Databook (2020-2-28)v1.xlsx"/>
  <p:tag name="USER NAME" val="znchowdhury"/>
  <p:tag name="TYPE" val="1"/>
  <p:tag name="SOURCENAME" val="Combined Business"/>
  <p:tag name="SHEETID" val="Basisprep&amp;limit"/>
  <p:tag name="PICTUREAPPEARANCE" val="xlPrinter"/>
  <p:tag name="HIDDENRANGE" val=""/>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1q7vgHB4TWyHj14O0O0_JQ"/>
</p:tagLst>
</file>

<file path=ppt/tags/tag63.xml><?xml version="1.0" encoding="utf-8"?>
<p:tagLst xmlns:a="http://schemas.openxmlformats.org/drawingml/2006/main" xmlns:r="http://schemas.openxmlformats.org/officeDocument/2006/relationships" xmlns:p="http://schemas.openxmlformats.org/presentationml/2006/main">
  <p:tag name="NAME" val="1"/>
</p:tagLst>
</file>

<file path=ppt/tags/tag64.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65.xml><?xml version="1.0" encoding="utf-8"?>
<p:tagLst xmlns:a="http://schemas.openxmlformats.org/drawingml/2006/main" xmlns:r="http://schemas.openxmlformats.org/officeDocument/2006/relationships" xmlns:p="http://schemas.openxmlformats.org/presentationml/2006/main">
  <p:tag name="FASFONT" val="Univers55"/>
</p:tagLst>
</file>

<file path=ppt/tags/tag66.xml><?xml version="1.0" encoding="utf-8"?>
<p:tagLst xmlns:a="http://schemas.openxmlformats.org/drawingml/2006/main" xmlns:r="http://schemas.openxmlformats.org/officeDocument/2006/relationships" xmlns:p="http://schemas.openxmlformats.org/presentationml/2006/main">
  <p:tag name="LAST UPDATE DATE" val="320368271.69857"/>
  <p:tag name="IMPORTID" val="5469319167042.829261"/>
  <p:tag name="WBLAST" val="\\cagtafsr04\_Advisory\Transactions Advisory\Clients\Transaction Services\D\DW Healthcare Partners\Project Green\Staff files\Project Green - DRAFT Databook (2020-2-25).xlsx"/>
  <p:tag name="USER NAME" val="gxhabija"/>
  <p:tag name="TYPE" val="1"/>
  <p:tag name="SOURCENAME" val="Quality of earnings"/>
  <p:tag name="SHEETID" val="QofE | Detail_Report"/>
  <p:tag name="PICTUREAPPEARANCE" val="xlPrinter"/>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1q7vgHB4TWyHj14O0O0_JQ"/>
</p:tagLst>
</file>

<file path=ppt/tags/tag69.xml><?xml version="1.0" encoding="utf-8"?>
<p:tagLst xmlns:a="http://schemas.openxmlformats.org/drawingml/2006/main" xmlns:r="http://schemas.openxmlformats.org/officeDocument/2006/relationships" xmlns:p="http://schemas.openxmlformats.org/presentationml/2006/main">
  <p:tag name="NAME" val="1"/>
</p:tagLst>
</file>

<file path=ppt/tags/tag70.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71.xml><?xml version="1.0" encoding="utf-8"?>
<p:tagLst xmlns:a="http://schemas.openxmlformats.org/drawingml/2006/main" xmlns:r="http://schemas.openxmlformats.org/officeDocument/2006/relationships" xmlns:p="http://schemas.openxmlformats.org/presentationml/2006/main">
  <p:tag name="FASFONT" val="Univers55"/>
</p:tagLst>
</file>

<file path=ppt/tags/tag72.xml><?xml version="1.0" encoding="utf-8"?>
<p:tagLst xmlns:a="http://schemas.openxmlformats.org/drawingml/2006/main" xmlns:r="http://schemas.openxmlformats.org/officeDocument/2006/relationships" xmlns:p="http://schemas.openxmlformats.org/presentationml/2006/main">
  <p:tag name="LAST UPDATE DATE" val="320116949.079006"/>
  <p:tag name="IMPORTID" val="8229319166891.978428"/>
  <p:tag name="WBLAST" val="\\cagtafsr04\_Advisory\Transactions Advisory\Clients\Transaction Services\D\DW Healthcare Partners\Project Green\Staff files\Project Green - DRAFT Databook (2020-2-22).xlsx"/>
  <p:tag name="USER NAME" val="mabas"/>
  <p:tag name="TYPE" val="1"/>
  <p:tag name="SOURCENAME" val="Net working capital, estimated"/>
  <p:tag name="SHEETID" val="NWC | Detail"/>
  <p:tag name="PICTUREAPPEARANCE" val="xlPrinter"/>
</p:tagLst>
</file>

<file path=ppt/tags/tag73.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i1a2zac9QEGPtE4zemSo0A"/>
</p:tagLst>
</file>

<file path=ppt/tags/tag76.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77.xml><?xml version="1.0" encoding="utf-8"?>
<p:tagLst xmlns:a="http://schemas.openxmlformats.org/drawingml/2006/main" xmlns:r="http://schemas.openxmlformats.org/officeDocument/2006/relationships" xmlns:p="http://schemas.openxmlformats.org/presentationml/2006/main">
  <p:tag name="LAST UPDATE DATE" val="320368420.037235"/>
  <p:tag name="IMPORTID" val="5469319167042.829261"/>
  <p:tag name="WBLAST" val="\\cagtafsr04\_Advisory\Transactions Advisory\Clients\Transaction Services\D\DW Healthcare Partners\Project Green\Staff files\Project Green - DRAFT Databook (2020-2-25).xlsx"/>
  <p:tag name="USER NAME" val="gxhabija"/>
  <p:tag name="TYPE" val="1"/>
  <p:tag name="SOURCENAME" val="Quality of earnings"/>
  <p:tag name="SHEETID" val="QofE | Detail_Report"/>
  <p:tag name="PICTUREAPPEARANCE" val="xlPrinter"/>
</p:tagLst>
</file>

<file path=ppt/tags/tag78.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79.xml><?xml version="1.0" encoding="utf-8"?>
<p:tagLst xmlns:a="http://schemas.openxmlformats.org/drawingml/2006/main" xmlns:r="http://schemas.openxmlformats.org/officeDocument/2006/relationships" xmlns:p="http://schemas.openxmlformats.org/presentationml/2006/main">
  <p:tag name="LAST UPDATE DATE" val="320368570.249765"/>
  <p:tag name="IMPORTID" val="5469319167042.829261"/>
  <p:tag name="WBLAST" val="\\cagtafsr04\_Advisory\Transactions Advisory\Clients\Transaction Services\D\DW Healthcare Partners\Project Green\Staff files\Project Green - DRAFT Databook (2020-2-25).xlsx"/>
  <p:tag name="USER NAME" val="gxhabija"/>
  <p:tag name="TYPE" val="1"/>
  <p:tag name="SOURCENAME" val="Quality of earnings"/>
  <p:tag name="SHEETID" val="QofE | Detail_Report"/>
  <p:tag name="PICTUREAPPEARANCE" val="xlPrinter"/>
</p:tagLst>
</file>

<file path=ppt/tags/tag80.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81.xml><?xml version="1.0" encoding="utf-8"?>
<p:tagLst xmlns:a="http://schemas.openxmlformats.org/drawingml/2006/main" xmlns:r="http://schemas.openxmlformats.org/officeDocument/2006/relationships" xmlns:p="http://schemas.openxmlformats.org/presentationml/2006/main">
  <p:tag name="LAST UPDATE DATE" val="321478026.128257"/>
  <p:tag name="IMPORTID" val="5469319167042.829261"/>
  <p:tag name="WBLAST" val="\\cagtafsr04\_Advisory\Transactions Advisory\Clients\Transaction Services\D\DW Healthcare Partners\Project Green\Staff files\Project Green - DRAFT Databook (2020-2-28)v1.xlsx"/>
  <p:tag name="USER NAME" val="ryanstern"/>
  <p:tag name="TYPE" val="1"/>
  <p:tag name="SOURCENAME" val="Quality of earnings"/>
  <p:tag name="SHEETID" val="QofE | Detail_Report"/>
  <p:tag name="PICTUREAPPEARANCE" val="xlPrinter"/>
  <p:tag name="HIDDENRANGE" val=""/>
</p:tagLst>
</file>

<file path=ppt/tags/tag82.xml><?xml version="1.0" encoding="utf-8"?>
<p:tagLst xmlns:a="http://schemas.openxmlformats.org/drawingml/2006/main" xmlns:r="http://schemas.openxmlformats.org/officeDocument/2006/relationships" xmlns:p="http://schemas.openxmlformats.org/presentationml/2006/main">
  <p:tag name="LAST UPDATE DATE" val="321487438.35429"/>
  <p:tag name="IMPORTID" val="9950319168709.469626"/>
  <p:tag name="WBLAST" val="\\cagtafsr04\_Advisory\Transactions Advisory\Clients\Transaction Services\D\DW Healthcare Partners\Project Green\Staff files\Project Green - DRAFT Databook (2020-2-28)v1.xlsx"/>
  <p:tag name="USER NAME" val="znchowdhury"/>
  <p:tag name="TYPE" val="1"/>
  <p:tag name="SOURCENAME" val="Payroll adjustment"/>
  <p:tag name="SHEETID" val="Payroll adjustment"/>
  <p:tag name="PICTUREAPPEARANCE" val="xlPrinter"/>
  <p:tag name="HIDDENRANGE" val=""/>
</p:tagLst>
</file>

<file path=ppt/tags/tag83.xml><?xml version="1.0" encoding="utf-8"?>
<p:tagLst xmlns:a="http://schemas.openxmlformats.org/drawingml/2006/main" xmlns:r="http://schemas.openxmlformats.org/officeDocument/2006/relationships" xmlns:p="http://schemas.openxmlformats.org/presentationml/2006/main">
  <p:tag name="FASFONT" val="Univers55"/>
</p:tagLst>
</file>

<file path=ppt/tags/tag84.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85.xml><?xml version="1.0" encoding="utf-8"?>
<p:tagLst xmlns:a="http://schemas.openxmlformats.org/drawingml/2006/main" xmlns:r="http://schemas.openxmlformats.org/officeDocument/2006/relationships" xmlns:p="http://schemas.openxmlformats.org/presentationml/2006/main">
  <p:tag name="LAST UPDATE DATE" val="321478026.128257"/>
  <p:tag name="IMPORTID" val="5469319167042.829261"/>
  <p:tag name="WBLAST" val="\\cagtafsr04\_Advisory\Transactions Advisory\Clients\Transaction Services\D\DW Healthcare Partners\Project Green\Staff files\Project Green - DRAFT Databook (2020-2-28)v1.xlsx"/>
  <p:tag name="USER NAME" val="ryanstern"/>
  <p:tag name="TYPE" val="1"/>
  <p:tag name="SOURCENAME" val="Quality of earnings"/>
  <p:tag name="SHEETID" val="QofE | Detail_Report"/>
  <p:tag name="PICTUREAPPEARANCE" val="xlPrinter"/>
  <p:tag name="HIDDENRANGE" val=""/>
</p:tagLst>
</file>

<file path=ppt/tags/tag86.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87.xml><?xml version="1.0" encoding="utf-8"?>
<p:tagLst xmlns:a="http://schemas.openxmlformats.org/drawingml/2006/main" xmlns:r="http://schemas.openxmlformats.org/officeDocument/2006/relationships" xmlns:p="http://schemas.openxmlformats.org/presentationml/2006/main">
  <p:tag name="FASFONT" val="Univers55"/>
</p:tagLst>
</file>

<file path=ppt/tags/tag88.xml><?xml version="1.0" encoding="utf-8"?>
<p:tagLst xmlns:a="http://schemas.openxmlformats.org/drawingml/2006/main" xmlns:r="http://schemas.openxmlformats.org/officeDocument/2006/relationships" xmlns:p="http://schemas.openxmlformats.org/presentationml/2006/main">
  <p:tag name="LAST UPDATE DATE" val="320165588.689675"/>
  <p:tag name="IMPORTID" val="3961319168925.273087"/>
  <p:tag name="WBLAST" val="\\cagtafsr04\_Advisory\Transactions Advisory\Clients\Transaction Services\D\DW Healthcare Partners\Project Green\Staff files\Project Green - DRAFT Databook (2020-2-22).xlsx"/>
  <p:tag name="USER NAME" val="mabas"/>
  <p:tag name="TYPE" val="1"/>
  <p:tag name="SOURCENAME" val="Start-up costs"/>
  <p:tag name="SHEETID" val="Report tables"/>
  <p:tag name="PICTUREAPPEARANCE" val="xlPrinter"/>
</p:tagLst>
</file>

<file path=ppt/tags/tag89.xml><?xml version="1.0" encoding="utf-8"?>
<p:tagLst xmlns:a="http://schemas.openxmlformats.org/drawingml/2006/main" xmlns:r="http://schemas.openxmlformats.org/officeDocument/2006/relationships" xmlns:p="http://schemas.openxmlformats.org/presentationml/2006/main">
  <p:tag name="LAST UPDATE DATE" val="321478066.628092"/>
  <p:tag name="IMPORTID" val="5469319167042.829261"/>
  <p:tag name="WBLAST" val="\\cagtafsr04\_Advisory\Transactions Advisory\Clients\Transaction Services\D\DW Healthcare Partners\Project Green\Staff files\Project Green - DRAFT Databook (2020-2-28)v1.xlsx"/>
  <p:tag name="USER NAME" val="ryanstern"/>
  <p:tag name="TYPE" val="1"/>
  <p:tag name="SOURCENAME" val="Quality of earnings"/>
  <p:tag name="SHEETID" val="QofE | Detail_Report"/>
  <p:tag name="PICTUREAPPEARANCE" val="xlPrinter"/>
  <p:tag name="HIDDENRANGE" val=""/>
</p:tagLst>
</file>

<file path=ppt/tags/tag90.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91.xml><?xml version="1.0" encoding="utf-8"?>
<p:tagLst xmlns:a="http://schemas.openxmlformats.org/drawingml/2006/main" xmlns:r="http://schemas.openxmlformats.org/officeDocument/2006/relationships" xmlns:p="http://schemas.openxmlformats.org/presentationml/2006/main">
  <p:tag name="LAST UPDATE DATE" val="320165926.033791"/>
  <p:tag name="IMPORTID" val="1397320165926.033791"/>
  <p:tag name="WBLAST" val="\\cagtafsr04\_Advisory\Transactions Advisory\Clients\Transaction Services\D\DW Healthcare Partners\Project Green\Staff files\Project Green - DRAFT Databook (2020-2-22).xlsx"/>
  <p:tag name="USER NAME" val="mabas"/>
  <p:tag name="TYPE" val="1"/>
  <p:tag name="SOURCENAME" val="Closed locations"/>
  <p:tag name="SHEETID" val="Report tables"/>
  <p:tag name="PICTUREAPPEARANCE" val="xlPrinter"/>
</p:tagLst>
</file>

<file path=ppt/tags/tag92.xml><?xml version="1.0" encoding="utf-8"?>
<p:tagLst xmlns:a="http://schemas.openxmlformats.org/drawingml/2006/main" xmlns:r="http://schemas.openxmlformats.org/officeDocument/2006/relationships" xmlns:p="http://schemas.openxmlformats.org/presentationml/2006/main">
  <p:tag name="LAST UPDATE DATE" val="321478066.628092"/>
  <p:tag name="IMPORTID" val="5469319167042.829261"/>
  <p:tag name="WBLAST" val="\\cagtafsr04\_Advisory\Transactions Advisory\Clients\Transaction Services\D\DW Healthcare Partners\Project Green\Staff files\Project Green - DRAFT Databook (2020-2-28)v1.xlsx"/>
  <p:tag name="USER NAME" val="ryanstern"/>
  <p:tag name="TYPE" val="1"/>
  <p:tag name="SOURCENAME" val="Quality of earnings"/>
  <p:tag name="SHEETID" val="QofE | Detail_Report"/>
  <p:tag name="PICTUREAPPEARANCE" val="xlPrinter"/>
  <p:tag name="HIDDENRANGE" val=""/>
</p:tagLst>
</file>

<file path=ppt/tags/tag93.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94.xml><?xml version="1.0" encoding="utf-8"?>
<p:tagLst xmlns:a="http://schemas.openxmlformats.org/drawingml/2006/main" xmlns:r="http://schemas.openxmlformats.org/officeDocument/2006/relationships" xmlns:p="http://schemas.openxmlformats.org/presentationml/2006/main">
  <p:tag name="LAST UPDATE DATE" val="321478066.628092"/>
  <p:tag name="IMPORTID" val="5469319167042.829261"/>
  <p:tag name="WBLAST" val="\\cagtafsr04\_Advisory\Transactions Advisory\Clients\Transaction Services\D\DW Healthcare Partners\Project Green\Staff files\Project Green - DRAFT Databook (2020-2-28)v1.xlsx"/>
  <p:tag name="USER NAME" val="ryanstern"/>
  <p:tag name="TYPE" val="1"/>
  <p:tag name="SOURCENAME" val="Quality of earnings"/>
  <p:tag name="SHEETID" val="QofE | Detail_Report"/>
  <p:tag name="PICTUREAPPEARANCE" val="xlPrinter"/>
  <p:tag name="HIDDENRANGE" val=""/>
</p:tagLst>
</file>

<file path=ppt/tags/tag95.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96.xml><?xml version="1.0" encoding="utf-8"?>
<p:tagLst xmlns:a="http://schemas.openxmlformats.org/drawingml/2006/main" xmlns:r="http://schemas.openxmlformats.org/officeDocument/2006/relationships" xmlns:p="http://schemas.openxmlformats.org/presentationml/2006/main">
  <p:tag name="LAST UPDATE DATE" val="321478117.161805"/>
  <p:tag name="IMPORTID" val="5469319167042.829261"/>
  <p:tag name="WBLAST" val="\\cagtafsr04\_Advisory\Transactions Advisory\Clients\Transaction Services\D\DW Healthcare Partners\Project Green\Staff files\Project Green - DRAFT Databook (2020-2-28)v1.xlsx"/>
  <p:tag name="USER NAME" val="ryanstern"/>
  <p:tag name="TYPE" val="1"/>
  <p:tag name="SOURCENAME" val="Quality of earnings"/>
  <p:tag name="SHEETID" val="QofE | Detail_Report"/>
  <p:tag name="PICTUREAPPEARANCE" val="xlPrinter"/>
  <p:tag name="HIDDENRANGE" val=""/>
</p:tagLst>
</file>

<file path=ppt/tags/tag97.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98.xml><?xml version="1.0" encoding="utf-8"?>
<p:tagLst xmlns:a="http://schemas.openxmlformats.org/drawingml/2006/main" xmlns:r="http://schemas.openxmlformats.org/officeDocument/2006/relationships" xmlns:p="http://schemas.openxmlformats.org/presentationml/2006/main">
  <p:tag name="LAST UPDATE DATE" val="320166295.608667"/>
  <p:tag name="IMPORTID" val="7659319224685.70246"/>
  <p:tag name="WBLAST" val="\\cagtafsr04\_Advisory\Transactions Advisory\Clients\Transaction Services\D\DW Healthcare Partners\Project Green\Staff files\Project Green - DRAFT Databook (2020-2-22).xlsx"/>
  <p:tag name="USER NAME" val="mabas"/>
  <p:tag name="TYPE" val="1"/>
  <p:tag name="SOURCENAME" val="New opened homes"/>
  <p:tag name="SHEETID" val="Report tables"/>
  <p:tag name="PICTUREAPPEARANCE" val="xlPrinter"/>
</p:tagLst>
</file>

<file path=ppt/tags/tag99.xml><?xml version="1.0" encoding="utf-8"?>
<p:tagLst xmlns:a="http://schemas.openxmlformats.org/drawingml/2006/main" xmlns:r="http://schemas.openxmlformats.org/officeDocument/2006/relationships" xmlns:p="http://schemas.openxmlformats.org/presentationml/2006/main">
  <p:tag name="LAST UPDATE DATE" val="321478140.828827"/>
  <p:tag name="IMPORTID" val="5469319167042.829261"/>
  <p:tag name="WBLAST" val="\\cagtafsr04\_Advisory\Transactions Advisory\Clients\Transaction Services\D\DW Healthcare Partners\Project Green\Staff files\Project Green - DRAFT Databook (2020-2-28)v1.xlsx"/>
  <p:tag name="USER NAME" val="ryanstern"/>
  <p:tag name="TYPE" val="1"/>
  <p:tag name="SOURCENAME" val="Quality of earnings"/>
  <p:tag name="SHEETID" val="QofE | Detail_Report"/>
  <p:tag name="PICTUREAPPEARANCE" val="xlPrinter"/>
  <p:tag name="HIDDENRANGE" val=""/>
</p:tagLst>
</file>

<file path=ppt/tags/tag100.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01.xml><?xml version="1.0" encoding="utf-8"?>
<p:tagLst xmlns:a="http://schemas.openxmlformats.org/drawingml/2006/main" xmlns:r="http://schemas.openxmlformats.org/officeDocument/2006/relationships" xmlns:p="http://schemas.openxmlformats.org/presentationml/2006/main">
  <p:tag name="LAST UPDATE DATE" val="320166471.109835"/>
  <p:tag name="IMPORTID" val="2459319169629.766243"/>
  <p:tag name="WBLAST" val="\\cagtafsr04\_Advisory\Transactions Advisory\Clients\Transaction Services\D\DW Healthcare Partners\Project Green\Staff files\Project Green - DRAFT Databook (2020-2-22).xlsx"/>
  <p:tag name="USER NAME" val="mabas"/>
  <p:tag name="TYPE" val="1"/>
  <p:tag name="SOURCENAME" val="Day hab growth"/>
  <p:tag name="SHEETID" val="Report tables"/>
  <p:tag name="PICTUREAPPEARANCE" val="xlPrinter"/>
</p:tagLst>
</file>

<file path=ppt/tags/tag102.xml><?xml version="1.0" encoding="utf-8"?>
<p:tagLst xmlns:a="http://schemas.openxmlformats.org/drawingml/2006/main" xmlns:r="http://schemas.openxmlformats.org/officeDocument/2006/relationships" xmlns:p="http://schemas.openxmlformats.org/presentationml/2006/main">
  <p:tag name="LAST UPDATE DATE" val="321478140.828827"/>
  <p:tag name="IMPORTID" val="5469319167042.829261"/>
  <p:tag name="WBLAST" val="\\cagtafsr04\_Advisory\Transactions Advisory\Clients\Transaction Services\D\DW Healthcare Partners\Project Green\Staff files\Project Green - DRAFT Databook (2020-2-28)v1.xlsx"/>
  <p:tag name="USER NAME" val="ryanstern"/>
  <p:tag name="TYPE" val="1"/>
  <p:tag name="SOURCENAME" val="Quality of earnings"/>
  <p:tag name="SHEETID" val="QofE | Detail_Report"/>
  <p:tag name="PICTUREAPPEARANCE" val="xlPrinter"/>
  <p:tag name="HIDDENRANGE" val=""/>
</p:tagLst>
</file>

<file path=ppt/tags/tag103.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04.xml><?xml version="1.0" encoding="utf-8"?>
<p:tagLst xmlns:a="http://schemas.openxmlformats.org/drawingml/2006/main" xmlns:r="http://schemas.openxmlformats.org/officeDocument/2006/relationships" xmlns:p="http://schemas.openxmlformats.org/presentationml/2006/main">
  <p:tag name="LAST UPDATE DATE" val="320166955.441237"/>
  <p:tag name="IMPORTID" val="563320166955.441237"/>
  <p:tag name="WBLAST" val="\\cagtafsr04\_Advisory\Transactions Advisory\Clients\Transaction Services\D\DW Healthcare Partners\Project Green\Staff files\Project Green - DRAFT Databook (2020-2-22).xlsx"/>
  <p:tag name="USER NAME" val="mabas"/>
  <p:tag name="TYPE" val="1"/>
  <p:tag name="SOURCENAME" val="Incremental payroll savings"/>
  <p:tag name="SHEETID" val="Report tables"/>
  <p:tag name="PICTUREAPPEARANCE" val="xlPrinter"/>
</p:tagLst>
</file>

<file path=ppt/tags/tag105.xml><?xml version="1.0" encoding="utf-8"?>
<p:tagLst xmlns:a="http://schemas.openxmlformats.org/drawingml/2006/main" xmlns:r="http://schemas.openxmlformats.org/officeDocument/2006/relationships" xmlns:p="http://schemas.openxmlformats.org/presentationml/2006/main">
  <p:tag name="FASFONT" val="Univers55"/>
</p:tagLst>
</file>

<file path=ppt/tags/tag106.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i1a2zac9QEGPtE4zemSo0A"/>
</p:tagLst>
</file>

<file path=ppt/tags/tag109.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10.xml><?xml version="1.0" encoding="utf-8"?>
<p:tagLst xmlns:a="http://schemas.openxmlformats.org/drawingml/2006/main" xmlns:r="http://schemas.openxmlformats.org/officeDocument/2006/relationships" xmlns:p="http://schemas.openxmlformats.org/presentationml/2006/main">
  <p:tag name="FASFONT" val="Univers55"/>
</p:tagLst>
</file>

<file path=ppt/tags/tag111.xml><?xml version="1.0" encoding="utf-8"?>
<p:tagLst xmlns:a="http://schemas.openxmlformats.org/drawingml/2006/main" xmlns:r="http://schemas.openxmlformats.org/officeDocument/2006/relationships" xmlns:p="http://schemas.openxmlformats.org/presentationml/2006/main">
  <p:tag name="LAST UPDATE DATE" val="320118132.190773"/>
  <p:tag name="IMPORTID" val="8229319166891.978428"/>
  <p:tag name="WBLAST" val="\\cagtafsr04\_Advisory\Transactions Advisory\Clients\Transaction Services\D\DW Healthcare Partners\Project Green\Staff files\Project Green - DRAFT Databook (2020-2-22).xlsx"/>
  <p:tag name="USER NAME" val="mabas"/>
  <p:tag name="TYPE" val="1"/>
  <p:tag name="SOURCENAME" val="Net working capital, estimated"/>
  <p:tag name="SHEETID" val="NWC | Detail"/>
  <p:tag name="PICTUREAPPEARANCE" val="xlPrinter"/>
</p:tagLst>
</file>

<file path=ppt/tags/tag112.xml><?xml version="1.0" encoding="utf-8"?>
<p:tagLst xmlns:a="http://schemas.openxmlformats.org/drawingml/2006/main" xmlns:r="http://schemas.openxmlformats.org/officeDocument/2006/relationships" xmlns:p="http://schemas.openxmlformats.org/presentationml/2006/main">
  <p:tag name="LAST UPDATE DATE" val="320118110.018141"/>
  <p:tag name="IMPORTID" val="7974313213953.556384"/>
  <p:tag name="WBLAST" val="\\cagtafsr04\_Advisory\Transactions Advisory\Clients\Transaction Services\D\DW Healthcare Partners\Project Green\Staff files\Project Green - DRAFT Databook (2020-2-22).xlsx"/>
  <p:tag name="USER NAME" val="mabas"/>
  <p:tag name="TYPE" val="2"/>
  <p:tag name="SOURCENAME" val="Chart 2"/>
  <p:tag name="SHEETID" val="NWC | Detail"/>
  <p:tag name="PICTUREAPPEARANCE" val="xlPrinter"/>
</p:tagLst>
</file>

<file path=ppt/tags/tag113.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14.xml><?xml version="1.0" encoding="utf-8"?>
<p:tagLst xmlns:a="http://schemas.openxmlformats.org/drawingml/2006/main" xmlns:r="http://schemas.openxmlformats.org/officeDocument/2006/relationships" xmlns:p="http://schemas.openxmlformats.org/presentationml/2006/main">
  <p:tag name="LAST UPDATE DATE" val="320167185.48484"/>
  <p:tag name="IMPORTID" val="8229319166891.978428"/>
  <p:tag name="WBLAST" val="\\cagtafsr04\_Advisory\Transactions Advisory\Clients\Transaction Services\D\DW Healthcare Partners\Project Green\Staff files\Project Green - DRAFT Databook (2020-2-22).xlsx"/>
  <p:tag name="USER NAME" val="mabas"/>
  <p:tag name="TYPE" val="1"/>
  <p:tag name="SOURCENAME" val="Net working capital, estimated"/>
  <p:tag name="SHEETID" val="NWC | Detail"/>
  <p:tag name="PICTUREAPPEARANCE" val="xlPrinter"/>
</p:tagLst>
</file>

<file path=ppt/tags/tag115.xml><?xml version="1.0" encoding="utf-8"?>
<p:tagLst xmlns:a="http://schemas.openxmlformats.org/drawingml/2006/main" xmlns:r="http://schemas.openxmlformats.org/officeDocument/2006/relationships" xmlns:p="http://schemas.openxmlformats.org/presentationml/2006/main">
  <p:tag name="LAST UPDATE DATE" val="319170105.867205"/>
  <p:tag name="IMPORTID" val="2810319170105.867205"/>
  <p:tag name="WBLAST" val="\\cagtafsr04\_Advisory\Transactions Advisory\Clients\Transaction Services\D\DW Healthcare Partners\Project Green\Staff files\Project Green - DRAFT Databook (2020-2-11).xlsx"/>
  <p:tag name="USER NAME" val="ryanstern"/>
  <p:tag name="TYPE" val="1"/>
  <p:tag name="SOURCENAME" val="Accounts receivable"/>
  <p:tag name="SHEETID" val="Report tables"/>
  <p:tag name="PICTUREAPPEARANCE" val="xlPrinter"/>
</p:tagLst>
</file>

<file path=ppt/tags/tag116.xml><?xml version="1.0" encoding="utf-8"?>
<p:tagLst xmlns:a="http://schemas.openxmlformats.org/drawingml/2006/main" xmlns:r="http://schemas.openxmlformats.org/officeDocument/2006/relationships" xmlns:p="http://schemas.openxmlformats.org/presentationml/2006/main">
  <p:tag name="LAST UPDATE DATE" val="320167271.676153"/>
  <p:tag name="IMPORTID" val="1562319170216.683915"/>
  <p:tag name="WBLAST" val="\\cagtafsr04\_Advisory\Transactions Advisory\Clients\Transaction Services\D\DW Healthcare Partners\Project Green\Staff files\Project Green - DRAFT Databook (2020-2-22).xlsx"/>
  <p:tag name="USER NAME" val="mabas"/>
  <p:tag name="TYPE" val="1"/>
  <p:tag name="SOURCENAME" val="Payroll accrual"/>
  <p:tag name="SHEETID" val="Report tables"/>
  <p:tag name="PICTUREAPPEARANCE" val="xlPrinter"/>
</p:tagLst>
</file>

<file path=ppt/tags/tag117.xml><?xml version="1.0" encoding="utf-8"?>
<p:tagLst xmlns:a="http://schemas.openxmlformats.org/drawingml/2006/main" xmlns:r="http://schemas.openxmlformats.org/officeDocument/2006/relationships" xmlns:p="http://schemas.openxmlformats.org/presentationml/2006/main">
  <p:tag name="FASFONT" val="Univers55"/>
</p:tagLst>
</file>

<file path=ppt/tags/tag118.xml><?xml version="1.0" encoding="utf-8"?>
<p:tagLst xmlns:a="http://schemas.openxmlformats.org/drawingml/2006/main" xmlns:r="http://schemas.openxmlformats.org/officeDocument/2006/relationships" xmlns:p="http://schemas.openxmlformats.org/presentationml/2006/main">
  <p:tag name="LAST UPDATE DATE" val="320607792.964604"/>
  <p:tag name="IMPORTID" val="1058320607778.764849"/>
  <p:tag name="WBLAST" val="\\cagtafsr04\_Advisory\Transactions Advisory\Clients\Transaction Services\D\DW Healthcare Partners\Project Green\Staff files\Project Green - DRAFT Databook (2020-2-28).xlsx"/>
  <p:tag name="USER NAME" val="ryanstern"/>
  <p:tag name="TYPE" val="1"/>
  <p:tag name="SOURCENAME" val="Accounts payable"/>
  <p:tag name="SHEETID" val="Report tables"/>
  <p:tag name="PICTUREAPPEARANCE" val="xlPrinter"/>
</p:tagLst>
</file>

<file path=ppt/tags/tag119.xml><?xml version="1.0" encoding="utf-8"?>
<p:tagLst xmlns:a="http://schemas.openxmlformats.org/drawingml/2006/main" xmlns:r="http://schemas.openxmlformats.org/officeDocument/2006/relationships" xmlns:p="http://schemas.openxmlformats.org/presentationml/2006/main">
  <p:tag name="FASFONT" val="Univers55"/>
</p:tagLst>
</file>

<file path=ppt/tags/tag120.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21.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22.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23.xml><?xml version="1.0" encoding="utf-8"?>
<p:tagLst xmlns:a="http://schemas.openxmlformats.org/drawingml/2006/main" xmlns:r="http://schemas.openxmlformats.org/officeDocument/2006/relationships" xmlns:p="http://schemas.openxmlformats.org/presentationml/2006/main">
  <p:tag name="LAST UPDATE DATE" val="320118701.182306"/>
  <p:tag name="IMPORTID" val="1726320118429.861087"/>
  <p:tag name="WBLAST" val="\\cagtafsr04\_Advisory\Transactions Advisory\Clients\Transaction Services\D\DW Healthcare Partners\Project Green\Staff files\Project Green - DRAFT Databook (2020-2-22).xlsx"/>
  <p:tag name="USER NAME" val="mabas"/>
  <p:tag name="TYPE" val="1"/>
  <p:tag name="SOURCENAME" val="Bank statements summary, operating account"/>
  <p:tag name="SHEETID" val="Cash proof"/>
  <p:tag name="PICTUREAPPEARANCE" val="xlPrinter"/>
</p:tagLst>
</file>

<file path=ppt/tags/tag124.xml><?xml version="1.0" encoding="utf-8"?>
<p:tagLst xmlns:a="http://schemas.openxmlformats.org/drawingml/2006/main" xmlns:r="http://schemas.openxmlformats.org/officeDocument/2006/relationships" xmlns:p="http://schemas.openxmlformats.org/presentationml/2006/main">
  <p:tag name="LAST UPDATE DATE" val="320876379.702253"/>
  <p:tag name="IMPORTID" val="84319170639.795379"/>
  <p:tag name="WBLAST" val="\\cagtafsr04\_Advisory\Transactions Advisory\Clients\Transaction Services\D\DW Healthcare Partners\Project Green\Staff files\Project Green - DRAFT Databook (2020-2-28).xlsx"/>
  <p:tag name="USER NAME" val="znchowdhury"/>
  <p:tag name="TYPE" val="1"/>
  <p:tag name="SOURCENAME" val="Operating account revenue reconciliation"/>
  <p:tag name="SHEETID" val="Cash proof"/>
  <p:tag name="PICTUREAPPEARANCE" val="xlPrinter"/>
</p:tagLst>
</file>

<file path=ppt/tags/tag125.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26.xml><?xml version="1.0" encoding="utf-8"?>
<p:tagLst xmlns:a="http://schemas.openxmlformats.org/drawingml/2006/main" xmlns:r="http://schemas.openxmlformats.org/officeDocument/2006/relationships" xmlns:p="http://schemas.openxmlformats.org/presentationml/2006/main">
  <p:tag name="LAST UPDATE DATE" val="320119016.481756"/>
  <p:tag name="IMPORTID" val="862320119016.481756"/>
  <p:tag name="WBLAST" val="\\cagtafsr04\_Advisory\Transactions Advisory\Clients\Transaction Services\D\DW Healthcare Partners\Project Green\Staff files\Project Green - DRAFT Databook (2020-2-22).xlsx"/>
  <p:tag name="USER NAME" val="mabas"/>
  <p:tag name="TYPE" val="1"/>
  <p:tag name="SOURCENAME" val="Bank statements summary, payroll account"/>
  <p:tag name="SHEETID" val="Cash proof"/>
  <p:tag name="PICTUREAPPEARANCE" val="xlPrinter"/>
</p:tagLst>
</file>

<file path=ppt/tags/tag127.xml><?xml version="1.0" encoding="utf-8"?>
<p:tagLst xmlns:a="http://schemas.openxmlformats.org/drawingml/2006/main" xmlns:r="http://schemas.openxmlformats.org/officeDocument/2006/relationships" xmlns:p="http://schemas.openxmlformats.org/presentationml/2006/main">
  <p:tag name="LAST UPDATE DATE" val="320876130.175363"/>
  <p:tag name="IMPORTID" val="7613320119027.790796"/>
  <p:tag name="WBLAST" val="\\cagtafsr04\_Advisory\Transactions Advisory\Clients\Transaction Services\D\DW Healthcare Partners\Project Green\Staff files\Project Green - DRAFT Databook (2020-2-28).xlsx"/>
  <p:tag name="USER NAME" val="znchowdhury"/>
  <p:tag name="TYPE" val="1"/>
  <p:tag name="SOURCENAME" val="Payroll account expense reconciliation"/>
  <p:tag name="SHEETID" val="Cash proof"/>
  <p:tag name="PICTUREAPPEARANCE" val="xlPrinter"/>
</p:tagLst>
</file>

<file path=ppt/tags/tag128.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29.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30.xml><?xml version="1.0" encoding="utf-8"?>
<p:tagLst xmlns:a="http://schemas.openxmlformats.org/drawingml/2006/main" xmlns:r="http://schemas.openxmlformats.org/officeDocument/2006/relationships" xmlns:p="http://schemas.openxmlformats.org/presentationml/2006/main">
  <p:tag name="LAST UPDATE DATE" val="320119214.822461"/>
  <p:tag name="IMPORTID" val="7172319171551.056745"/>
  <p:tag name="WBLAST" val="\\cagtafsr04\_Advisory\Transactions Advisory\Clients\Transaction Services\D\DW Healthcare Partners\Project Green\Staff files\Project Green - DRAFT Databook (2020-2-22).xlsx"/>
  <p:tag name="USER NAME" val="mabas"/>
  <p:tag name="TYPE" val="1"/>
  <p:tag name="SOURCENAME" val="Care home continuity schedule(1)"/>
  <p:tag name="SHEETID" val="Report tables"/>
  <p:tag name="PICTUREAPPEARANCE" val="xlPrinter"/>
</p:tagLst>
</file>

<file path=ppt/tags/tag131.xml><?xml version="1.0" encoding="utf-8"?>
<p:tagLst xmlns:a="http://schemas.openxmlformats.org/drawingml/2006/main" xmlns:r="http://schemas.openxmlformats.org/officeDocument/2006/relationships" xmlns:p="http://schemas.openxmlformats.org/presentationml/2006/main">
  <p:tag name="LAST UPDATE DATE" val="320119230.475648"/>
  <p:tag name="IMPORTID" val="9859319171583.504296"/>
  <p:tag name="WBLAST" val="\\cagtafsr04\_Advisory\Transactions Advisory\Clients\Transaction Services\D\DW Healthcare Partners\Project Green\Staff files\Project Green - DRAFT Databook (2020-2-22).xlsx"/>
  <p:tag name="USER NAME" val="mabas"/>
  <p:tag name="TYPE" val="1"/>
  <p:tag name="SOURCENAME" val="Center continuity schedule(1)"/>
  <p:tag name="SHEETID" val="Report tables"/>
  <p:tag name="PICTUREAPPEARANCE" val="xlPrinter"/>
</p:tagLst>
</file>

<file path=ppt/tags/tag132.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33.xml><?xml version="1.0" encoding="utf-8"?>
<p:tagLst xmlns:a="http://schemas.openxmlformats.org/drawingml/2006/main" xmlns:r="http://schemas.openxmlformats.org/officeDocument/2006/relationships" xmlns:p="http://schemas.openxmlformats.org/presentationml/2006/main">
  <p:tag name="LAST UPDATE DATE" val="320608837.852883"/>
  <p:tag name="IMPORTID" val="6220319171377.436308"/>
  <p:tag name="WBLAST" val="\\cagtafsr04\_Advisory\Transactions Advisory\Clients\Transaction Services\D\DW Healthcare Partners\Project Green\Staff files\Project Green - DRAFT Databook (2020-2-28).xlsx"/>
  <p:tag name="USER NAME" val="ryanstern"/>
  <p:tag name="TYPE" val="1"/>
  <p:tag name="SOURCENAME" val="Combined income statement, potentially adjusted"/>
  <p:tag name="SHEETID" val="Report tables"/>
  <p:tag name="PICTUREAPPEARANCE" val="xlPrinter"/>
</p:tagLst>
</file>

<file path=ppt/tags/tag134.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35.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ags/tag136.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Lst>
</file>

<file path=ppt/theme/theme1.xml><?xml version="1.0" encoding="utf-8"?>
<a:theme xmlns:a="http://schemas.openxmlformats.org/drawingml/2006/main" name="KPMG_Report">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Univers for KPMG"/>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9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54610" tIns="54610" rIns="54610" bIns="54610" rtlCol="0">
        <a:noAutofit/>
      </a:bodyPr>
      <a:lstStyle>
        <a:defPPr algn="l">
          <a:spcAft>
            <a:spcPts val="600"/>
          </a:spcAft>
          <a:defRPr sz="9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UpSlideTemplate.potx" id="{7A2C917C-B9BC-4E4E-BC99-BFF0DC46B6E3}" vid="{B77DF4D5-1D34-4E20-8C81-398AC7D33A27}"/>
    </a:ext>
  </a:extLst>
</a:theme>
</file>

<file path=ppt/theme/theme2.xml><?xml version="1.0" encoding="utf-8"?>
<a:theme xmlns:a="http://schemas.openxmlformats.org/drawingml/2006/main" name="KPMG_Divider">
  <a:themeElements>
    <a:clrScheme name="Custom 1">
      <a:dk1>
        <a:srgbClr val="000000"/>
      </a:dk1>
      <a:lt1>
        <a:srgbClr val="00338D"/>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Univers for KPMG"/>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9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none" lIns="0" tIns="0" rIns="0" bIns="0" rtlCol="0" anchor="ctr" anchorCtr="0">
        <a:noAutofit/>
      </a:bodyPr>
      <a:lstStyle>
        <a:defPPr algn="ctr">
          <a:defRPr sz="1400" i="1" dirty="0">
            <a:latin typeface="Garamond" pitchFamily="18" charset="0"/>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UpSlideTemplate.potx" id="{7A2C917C-B9BC-4E4E-BC99-BFF0DC46B6E3}" vid="{6CBDFFDE-2776-41EE-BB03-E292A436B64C}"/>
    </a:ext>
  </a:extLst>
</a:theme>
</file>

<file path=ppt/theme/theme3.xml><?xml version="1.0" encoding="utf-8"?>
<a:theme xmlns:a="http://schemas.openxmlformats.org/drawingml/2006/main" name="UpSlide Table Of Content Master (do not e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pmg">
      <a:majorFont>
        <a:latin typeface="KPMG Extralight"/>
        <a:ea typeface=""/>
        <a:cs typeface=""/>
      </a:majorFont>
      <a:minorFont>
        <a:latin typeface="Univers for KPMG"/>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pSlideTemplate.potx" id="{7A2C917C-B9BC-4E4E-BC99-BFF0DC46B6E3}" vid="{D5326DAE-EA2C-4664-B846-84102E321193}"/>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0ACECE49572E49B9E2B6EEF15646F3" ma:contentTypeVersion="10" ma:contentTypeDescription="Create a new document." ma:contentTypeScope="" ma:versionID="8fdd78ded99f2352216c5d618f5b216c">
  <xsd:schema xmlns:xsd="http://www.w3.org/2001/XMLSchema" xmlns:xs="http://www.w3.org/2001/XMLSchema" xmlns:p="http://schemas.microsoft.com/office/2006/metadata/properties" xmlns:ns2="30996f19-b754-4f90-98d6-c022be1420b3" xmlns:ns3="ce774d3a-0da9-40f3-b86d-c9c3902288d7" targetNamespace="http://schemas.microsoft.com/office/2006/metadata/properties" ma:root="true" ma:fieldsID="412b5359f0c396b6faa7a13f838c7055" ns2:_="" ns3:_="">
    <xsd:import namespace="30996f19-b754-4f90-98d6-c022be1420b3"/>
    <xsd:import namespace="ce774d3a-0da9-40f3-b86d-c9c3902288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996f19-b754-4f90-98d6-c022be1420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e774d3a-0da9-40f3-b86d-c9c3902288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e5af1eb-79bf-4b24-8cd0-115ead010127}" ma:internalName="TaxCatchAll" ma:showField="CatchAllData" ma:web="ce774d3a-0da9-40f3-b86d-c9c3902288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996f19-b754-4f90-98d6-c022be1420b3">
      <Terms xmlns="http://schemas.microsoft.com/office/infopath/2007/PartnerControls"/>
    </lcf76f155ced4ddcb4097134ff3c332f>
    <TaxCatchAll xmlns="ce774d3a-0da9-40f3-b86d-c9c3902288d7" xsi:nil="true"/>
  </documentManagement>
</p:properties>
</file>

<file path=customXml/itemProps1.xml><?xml version="1.0" encoding="utf-8"?>
<ds:datastoreItem xmlns:ds="http://schemas.openxmlformats.org/officeDocument/2006/customXml" ds:itemID="{F3752FA9-1F3F-45D5-98E8-648BBEE3A720}"/>
</file>

<file path=customXml/itemProps2.xml><?xml version="1.0" encoding="utf-8"?>
<ds:datastoreItem xmlns:ds="http://schemas.openxmlformats.org/officeDocument/2006/customXml" ds:itemID="{16A5E3AF-07D3-4E0E-88E1-27D44702A3C1}"/>
</file>

<file path=customXml/itemProps3.xml><?xml version="1.0" encoding="utf-8"?>
<ds:datastoreItem xmlns:ds="http://schemas.openxmlformats.org/officeDocument/2006/customXml" ds:itemID="{2470220C-EC18-49E5-B7D9-37C1130E5E50}"/>
</file>

<file path=docProps/app.xml><?xml version="1.0" encoding="utf-8"?>
<Properties xmlns="http://schemas.openxmlformats.org/officeDocument/2006/extended-properties" xmlns:vt="http://schemas.openxmlformats.org/officeDocument/2006/docPropsVTypes">
  <Template>blank</Template>
  <TotalTime>12073</TotalTime>
  <Words>6378</Words>
  <Application>Microsoft Office PowerPoint</Application>
  <PresentationFormat>Letter Paper (8.5x11 in)</PresentationFormat>
  <Paragraphs>599</Paragraphs>
  <Slides>37</Slides>
  <Notes>13</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37</vt:i4>
      </vt:variant>
    </vt:vector>
  </HeadingPairs>
  <TitlesOfParts>
    <vt:vector size="52" baseType="lpstr">
      <vt:lpstr>Arial</vt:lpstr>
      <vt:lpstr>Calibri</vt:lpstr>
      <vt:lpstr>Garamond</vt:lpstr>
      <vt:lpstr>KPMG Extralight</vt:lpstr>
      <vt:lpstr>Segoe UI Light</vt:lpstr>
      <vt:lpstr>Times New Roman</vt:lpstr>
      <vt:lpstr>Univers 65 Bold</vt:lpstr>
      <vt:lpstr>Univers for KPMG</vt:lpstr>
      <vt:lpstr>Univers for KPMG (Body)</vt:lpstr>
      <vt:lpstr>UniversforKPMG</vt:lpstr>
      <vt:lpstr>Wingdings</vt:lpstr>
      <vt:lpstr>KPMG_Report</vt:lpstr>
      <vt:lpstr>KPMG_Divider</vt:lpstr>
      <vt:lpstr>UpSlide Table Of Content Master (do not edit)</vt:lpstr>
      <vt:lpstr>think-cell Slide</vt:lpstr>
      <vt:lpstr>Project Green</vt:lpstr>
      <vt:lpstr>Important notice</vt:lpstr>
      <vt:lpstr>PowerPoint Presentation</vt:lpstr>
      <vt:lpstr>Contents</vt:lpstr>
      <vt:lpstr>Glossary</vt:lpstr>
      <vt:lpstr>Executive summary</vt:lpstr>
      <vt:lpstr>Business and transaction overview</vt:lpstr>
      <vt:lpstr>Summary financial statements</vt:lpstr>
      <vt:lpstr>Basis of preparation</vt:lpstr>
      <vt:lpstr>Key findings – Financial due diligence (1 of 2)</vt:lpstr>
      <vt:lpstr>Key findings – Financial due diligence (2 of 2)</vt:lpstr>
      <vt:lpstr>Quality of earnings</vt:lpstr>
      <vt:lpstr>Quality of earnings (1) – Overview</vt:lpstr>
      <vt:lpstr>Quality of earnings (2) – Management adjustments</vt:lpstr>
      <vt:lpstr>Quality of earnings (3) – Potential adjustments  </vt:lpstr>
      <vt:lpstr>Quality of earnings (4) – Potential adjustments</vt:lpstr>
      <vt:lpstr>Quality of earnings (5) – Potential adjustments</vt:lpstr>
      <vt:lpstr>Quality of earnings (6) – Potential adjustments</vt:lpstr>
      <vt:lpstr>Quality of earnings (7) – Potential adjustments</vt:lpstr>
      <vt:lpstr>Quality of earnings (8) – Potential adjustments</vt:lpstr>
      <vt:lpstr>Quality of earnings (9) – Potential adjustments</vt:lpstr>
      <vt:lpstr>Quality of earnings (10) – Potential adjustments</vt:lpstr>
      <vt:lpstr>Quality of earnings (11) – Other considerations</vt:lpstr>
      <vt:lpstr>Net working capital </vt:lpstr>
      <vt:lpstr>Net working capital – Overview </vt:lpstr>
      <vt:lpstr>Net working capital – Estimations </vt:lpstr>
      <vt:lpstr>Appendix </vt:lpstr>
      <vt:lpstr>Engagement letter procedures  (1/2)</vt:lpstr>
      <vt:lpstr>Engagement letter procedures  (2/2)</vt:lpstr>
      <vt:lpstr>Cash proof testing – operating account</vt:lpstr>
      <vt:lpstr>Cash proof testing – payroll account</vt:lpstr>
      <vt:lpstr>Continuity schedule </vt:lpstr>
      <vt:lpstr>Combining income statement, potentially adjusted</vt:lpstr>
      <vt:lpstr>Residential services, potentially adjusted</vt:lpstr>
      <vt:lpstr>Day services, potentially adjusted</vt:lpstr>
      <vt:lpstr>Contacts</vt:lpstr>
      <vt:lpstr>PowerPoint Presentation</vt:lpstr>
    </vt:vector>
  </TitlesOfParts>
  <Company>KPMG</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Green</dc:title>
  <dc:creator>Abas, Mohammed A</dc:creator>
  <cp:lastModifiedBy>Sharma, Rishi</cp:lastModifiedBy>
  <cp:revision>641</cp:revision>
  <cp:lastPrinted>2019-12-19T23:24:08Z</cp:lastPrinted>
  <dcterms:created xsi:type="dcterms:W3CDTF">2019-12-05T18:02:28Z</dcterms:created>
  <dcterms:modified xsi:type="dcterms:W3CDTF">2020-04-29T14:39:24Z</dcterms:modified>
  <cp:category>KPMG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PMG_LayoutGrid">
    <vt:lpwstr>0</vt:lpwstr>
  </property>
  <property fmtid="{D5CDD505-2E9C-101B-9397-08002B2CF9AE}" pid="3" name="ContentTypeId">
    <vt:lpwstr>0x010100B50ACECE49572E49B9E2B6EEF15646F3</vt:lpwstr>
  </property>
</Properties>
</file>