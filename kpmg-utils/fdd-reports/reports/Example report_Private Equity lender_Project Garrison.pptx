
<file path=[Content_Types].xml><?xml version="1.0" encoding="utf-8"?>
<Types xmlns="http://schemas.openxmlformats.org/package/2006/content-types">
  <Default Extension="bin" ContentType="application/vnd.openxmlformats-officedocument.oleObject"/>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s/slide12.xml" ContentType="application/vnd.openxmlformats-officedocument.presentationml.slide+xml"/>
  <Override PartName="/ppt/slides/slide11.xml" ContentType="application/vnd.openxmlformats-officedocument.presentationml.slide+xml"/>
  <Override PartName="/ppt/slides/slide49.xml" ContentType="application/vnd.openxmlformats-officedocument.presentationml.slide+xml"/>
  <Override PartName="/ppt/slides/slide48.xml" ContentType="application/vnd.openxmlformats-officedocument.presentationml.slide+xml"/>
  <Override PartName="/ppt/slides/slide47.xml" ContentType="application/vnd.openxmlformats-officedocument.presentationml.slide+xml"/>
  <Override PartName="/ppt/slides/slide19.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10.xml" ContentType="application/vnd.openxmlformats-officedocument.presentationml.slide+xml"/>
  <Override PartName="/ppt/slides/slide57.xml" ContentType="application/vnd.openxmlformats-officedocument.presentationml.slide+xml"/>
  <Override PartName="/ppt/slides/slide56.xml" ContentType="application/vnd.openxmlformats-officedocument.presentationml.slide+xml"/>
  <Override PartName="/ppt/slides/slide14.xml" ContentType="application/vnd.openxmlformats-officedocument.presentationml.slide+xml"/>
  <Override PartName="/ppt/slides/slide55.xml" ContentType="application/vnd.openxmlformats-officedocument.presentationml.slide+xml"/>
  <Override PartName="/ppt/slides/slide54.xml" ContentType="application/vnd.openxmlformats-officedocument.presentationml.slide+xml"/>
  <Override PartName="/ppt/slides/slide9.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20.xml" ContentType="application/vnd.openxmlformats-officedocument.presentationml.slide+xml"/>
  <Override PartName="/ppt/slides/slide58.xml" ContentType="application/vnd.openxmlformats-officedocument.presentationml.slide+xml"/>
  <Override PartName="/ppt/slides/slide60.xml" ContentType="application/vnd.openxmlformats-officedocument.presentationml.slide+xml"/>
  <Override PartName="/ppt/slides/slide5.xml" ContentType="application/vnd.openxmlformats-officedocument.presentationml.slide+xml"/>
  <Override PartName="/ppt/slides/slide85.xml" ContentType="application/vnd.openxmlformats-officedocument.presentationml.slide+xml"/>
  <Override PartName="/ppt/slides/slide84.xml" ContentType="application/vnd.openxmlformats-officedocument.presentationml.slide+xml"/>
  <Override PartName="/ppt/slides/slide83.xml" ContentType="application/vnd.openxmlformats-officedocument.presentationml.slide+xml"/>
  <Override PartName="/ppt/slides/slide82.xml" ContentType="application/vnd.openxmlformats-officedocument.presentationml.slide+xml"/>
  <Override PartName="/ppt/slides/slide81.xml" ContentType="application/vnd.openxmlformats-officedocument.presentationml.slide+xml"/>
  <Override PartName="/ppt/slides/slide18.xml" ContentType="application/vnd.openxmlformats-officedocument.presentationml.slide+xml"/>
  <Override PartName="/ppt/slides/slide80.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4.xml" ContentType="application/vnd.openxmlformats-officedocument.presentationml.slide+xml"/>
  <Override PartName="/ppt/slides/slide79.xml" ContentType="application/vnd.openxmlformats-officedocument.presentationml.slide+xml"/>
  <Override PartName="/ppt/slides/slide78.xml" ContentType="application/vnd.openxmlformats-officedocument.presentationml.slide+xml"/>
  <Override PartName="/ppt/slides/slide77.xml" ContentType="application/vnd.openxmlformats-officedocument.presentationml.slide+xml"/>
  <Override PartName="/ppt/slides/slide67.xml" ContentType="application/vnd.openxmlformats-officedocument.presentationml.slide+xml"/>
  <Override PartName="/ppt/slides/slide66.xml" ContentType="application/vnd.openxmlformats-officedocument.presentationml.slide+xml"/>
  <Override PartName="/ppt/slides/slide65.xml" ContentType="application/vnd.openxmlformats-officedocument.presentationml.slide+xml"/>
  <Override PartName="/ppt/slides/slide64.xml" ContentType="application/vnd.openxmlformats-officedocument.presentationml.slide+xml"/>
  <Override PartName="/ppt/slides/slide8.xml" ContentType="application/vnd.openxmlformats-officedocument.presentationml.slide+xml"/>
  <Override PartName="/ppt/slides/slide63.xml" ContentType="application/vnd.openxmlformats-officedocument.presentationml.slide+xml"/>
  <Override PartName="/ppt/slides/slide62.xml" ContentType="application/vnd.openxmlformats-officedocument.presentationml.slide+xml"/>
  <Override PartName="/ppt/slides/slide61.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69.xml" ContentType="application/vnd.openxmlformats-officedocument.presentationml.slide+xml"/>
  <Override PartName="/ppt/slides/slide76.xml" ContentType="application/vnd.openxmlformats-officedocument.presentationml.slide+xml"/>
  <Override PartName="/ppt/slides/slide75.xml" ContentType="application/vnd.openxmlformats-officedocument.presentationml.slide+xml"/>
  <Override PartName="/ppt/slides/slide74.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2.xml" ContentType="application/vnd.openxmlformats-officedocument.presentationml.slide+xml"/>
  <Override PartName="/ppt/slides/slide71.xml" ContentType="application/vnd.openxmlformats-officedocument.presentationml.slide+xml"/>
  <Override PartName="/ppt/slides/slide70.xml" ContentType="application/vnd.openxmlformats-officedocument.presentationml.slide+xml"/>
  <Override PartName="/ppt/slides/slide73.xml" ContentType="application/vnd.openxmlformats-officedocument.presentationml.slide+xml"/>
  <Override PartName="/ppt/notesSlides/notesSlide62.xml" ContentType="application/vnd.openxmlformats-officedocument.presentationml.notesSlide+xml"/>
  <Override PartName="/ppt/notesSlides/notesSlide41.xml" ContentType="application/vnd.openxmlformats-officedocument.presentationml.notesSlide+xml"/>
  <Override PartName="/ppt/notesSlides/notesSlide38.xml" ContentType="application/vnd.openxmlformats-officedocument.presentationml.notesSlide+xml"/>
  <Override PartName="/ppt/notesSlides/notesSlide61.xml" ContentType="application/vnd.openxmlformats-officedocument.presentationml.notesSlide+xml"/>
  <Override PartName="/ppt/notesSlides/notesSlide37.xml" ContentType="application/vnd.openxmlformats-officedocument.presentationml.notesSlide+xml"/>
  <Override PartName="/ppt/notesSlides/notesSlide40.xml" ContentType="application/vnd.openxmlformats-officedocument.presentationml.notesSlide+xml"/>
  <Override PartName="/ppt/notesSlides/notesSlide39.xml" ContentType="application/vnd.openxmlformats-officedocument.presentationml.notesSlide+xml"/>
  <Override PartName="/ppt/notesSlides/notesSlide59.xml" ContentType="application/vnd.openxmlformats-officedocument.presentationml.notesSlide+xml"/>
  <Override PartName="/ppt/notesSlides/notesSlide58.xml" ContentType="application/vnd.openxmlformats-officedocument.presentationml.notesSlide+xml"/>
  <Override PartName="/ppt/notesSlides/notesSlide57.xml" ContentType="application/vnd.openxmlformats-officedocument.presentationml.notesSlide+xml"/>
  <Override PartName="/ppt/notesSlides/notesSlide56.xml" ContentType="application/vnd.openxmlformats-officedocument.presentationml.notesSlide+xml"/>
  <Override PartName="/ppt/notesSlides/notesSlide68.xml" ContentType="application/vnd.openxmlformats-officedocument.presentationml.notesSlide+xml"/>
  <Override PartName="/ppt/notesSlides/notesSlide60.xml" ContentType="application/vnd.openxmlformats-officedocument.presentationml.notesSlide+xml"/>
  <Override PartName="/ppt/notesSlides/notesSlide67.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55.xml" ContentType="application/vnd.openxmlformats-officedocument.presentationml.notesSlide+xml"/>
  <Override PartName="/ppt/notesSlides/notesSlide54.xml" ContentType="application/vnd.openxmlformats-officedocument.presentationml.notesSlide+xml"/>
  <Override PartName="/ppt/notesSlides/notesSlide53.xml" ContentType="application/vnd.openxmlformats-officedocument.presentationml.notesSlide+xml"/>
  <Override PartName="/ppt/notesSlides/notesSlide45.xml" ContentType="application/vnd.openxmlformats-officedocument.presentationml.notesSlide+xml"/>
  <Override PartName="/ppt/notesSlides/notesSlide44.xml" ContentType="application/vnd.openxmlformats-officedocument.presentationml.notesSlide+xml"/>
  <Override PartName="/ppt/notesSlides/notesSlide43.xml" ContentType="application/vnd.openxmlformats-officedocument.presentationml.notesSlide+xml"/>
  <Override PartName="/ppt/notesSlides/notesSlide42.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2.xml" ContentType="application/vnd.openxmlformats-officedocument.presentationml.notesSlide+xml"/>
  <Override PartName="/ppt/notesSlides/notesSlide51.xml" ContentType="application/vnd.openxmlformats-officedocument.presentationml.notesSlide+xml"/>
  <Override PartName="/ppt/notesSlides/notesSlide50.xml" ContentType="application/vnd.openxmlformats-officedocument.presentationml.notesSlide+xml"/>
  <Override PartName="/ppt/notesSlides/notesSlide4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7.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2.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22.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notesSlides/notesSlide32.xml" ContentType="application/vnd.openxmlformats-officedocument.presentationml.notesSlide+xml"/>
  <Override PartName="/ppt/notesSlides/notesSlide16.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1.xml" ContentType="application/vnd.openxmlformats-officedocument.presentationml.notesSlide+xml"/>
  <Override PartName="/ppt/notesSlides/notesSlide29.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0.xml" ContentType="application/vnd.openxmlformats-officedocument.presentationml.notesSlide+xml"/>
  <Override PartName="/ppt/notesSlides/notesSlide20.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ppt/tags/tag34.xml" ContentType="application/vnd.openxmlformats-officedocument.presentationml.tags+xml"/>
  <Override PartName="/ppt/tags/tag15.xml" ContentType="application/vnd.openxmlformats-officedocument.presentationml.tags+xml"/>
  <Override PartName="/ppt/tags/tag80.xml" ContentType="application/vnd.openxmlformats-officedocument.presentationml.tags+xml"/>
  <Override PartName="/ppt/tags/tag16.xml" ContentType="application/vnd.openxmlformats-officedocument.presentationml.tags+xml"/>
  <Override PartName="/ppt/tags/tag79.xml" ContentType="application/vnd.openxmlformats-officedocument.presentationml.tags+xml"/>
  <Override PartName="/ppt/tags/tag14.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13.xml" ContentType="application/vnd.openxmlformats-officedocument.presentationml.tags+xml"/>
  <Override PartName="/ppt/tags/tag12.xml" ContentType="application/vnd.openxmlformats-officedocument.presentationml.tags+xml"/>
  <Override PartName="/ppt/tags/tag83.xml" ContentType="application/vnd.openxmlformats-officedocument.presentationml.tags+xml"/>
  <Override PartName="/ppt/tags/tag78.xml" ContentType="application/vnd.openxmlformats-officedocument.presentationml.tags+xml"/>
  <Override PartName="/ppt/tags/tag77.xml" ContentType="application/vnd.openxmlformats-officedocument.presentationml.tags+xml"/>
  <Override PartName="/ppt/tags/tag17.xml" ContentType="application/vnd.openxmlformats-officedocument.presentationml.tags+xml"/>
  <Override PartName="/ppt/tags/tag72.xml" ContentType="application/vnd.openxmlformats-officedocument.presentationml.tags+xml"/>
  <Override PartName="/ppt/tags/tag21.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20.xml" ContentType="application/vnd.openxmlformats-officedocument.presentationml.tags+xml"/>
  <Override PartName="/ppt/tags/tag19.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18.xml" ContentType="application/vnd.openxmlformats-officedocument.presentationml.tags+xml"/>
  <Override PartName="/ppt/tags/tag11.xml" ContentType="application/vnd.openxmlformats-officedocument.presentationml.tags+xml"/>
  <Override PartName="/ppt/tags/tag84.xml" ContentType="application/vnd.openxmlformats-officedocument.presentationml.tags+xml"/>
  <Override PartName="/ppt/tags/tag10.xml" ContentType="application/vnd.openxmlformats-officedocument.presentationml.tags+xml"/>
  <Override PartName="/docProps/custom.xml" ContentType="application/vnd.openxmlformats-officedocument.custom-properties+xml"/>
  <Override PartName="/docProps/app.xml" ContentType="application/vnd.openxmlformats-officedocument.extended-properties+xml"/>
  <Override PartName="/ppt/tags/tag3.xml" ContentType="application/vnd.openxmlformats-officedocument.presentationml.tags+xml"/>
  <Override PartName="/docProps/core.xml" ContentType="application/vnd.openxmlformats-package.core-properties+xml"/>
  <Override PartName="/ppt/tags/tag90.xml" ContentType="application/vnd.openxmlformats-officedocument.presentationml.tags+xml"/>
  <Override PartName="/ppt/tags/tag2.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1.xml" ContentType="application/vnd.openxmlformats-officedocument.presentationml.tags+xml"/>
  <Override PartName="/ppt/tags/tag9.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xml" ContentType="application/vnd.openxmlformats-officedocument.presentationml.tags+xml"/>
  <Override PartName="/ppt/tags/tag7.xml" ContentType="application/vnd.openxmlformats-officedocument.presentationml.tags+xml"/>
  <Override PartName="/ppt/tags/tag89.xml" ContentType="application/vnd.openxmlformats-officedocument.presentationml.tags+xml"/>
  <Override PartName="/ppt/tags/tag6.xml" ContentType="application/vnd.openxmlformats-officedocument.presentationml.tags+xml"/>
  <Override PartName="/ppt/tags/tag71.xml" ContentType="application/vnd.openxmlformats-officedocument.presentationml.tags+xml"/>
  <Override PartName="/ppt/tags/tag70.xml" ContentType="application/vnd.openxmlformats-officedocument.presentationml.tags+xml"/>
  <Override PartName="/ppt/tags/tag69.xml" ContentType="application/vnd.openxmlformats-officedocument.presentationml.tags+xml"/>
  <Override PartName="/ppt/tags/tag26.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25.xml" ContentType="application/vnd.openxmlformats-officedocument.presentationml.tags+xml"/>
  <Override PartName="/ppt/tags/tag24.xml" ContentType="application/vnd.openxmlformats-officedocument.presentationml.tags+xml"/>
  <Override PartName="/ppt/tags/tag23.xml" ContentType="application/vnd.openxmlformats-officedocument.presentationml.tags+xml"/>
  <Override PartName="/ppt/tags/tag22.xml" ContentType="application/vnd.openxmlformats-officedocument.presentationml.tags+xml"/>
  <Override PartName="/ppt/tags/tag44.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40.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2.xml" ContentType="application/vnd.openxmlformats-officedocument.presentationml.tags+xml"/>
  <Override PartName="/ppt/tags/tag31.xml" ContentType="application/vnd.openxmlformats-officedocument.presentationml.tags+xml"/>
  <Override PartName="/ppt/tags/tag30.xml" ContentType="application/vnd.openxmlformats-officedocument.presentationml.tags+xml"/>
  <Override PartName="/ppt/tags/tag37.xml" ContentType="application/vnd.openxmlformats-officedocument.presentationml.tags+xml"/>
  <Override PartName="/ppt/tags/tag29.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59.xml" ContentType="application/vnd.openxmlformats-officedocument.presentationml.tags+xml"/>
  <Override PartName="/ppt/tags/tag58.xml" ContentType="application/vnd.openxmlformats-officedocument.presentationml.tags+xml"/>
  <Override PartName="/ppt/tags/tag5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33.xml" ContentType="application/vnd.openxmlformats-officedocument.presentationml.tag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0"/>
  </p:notesMasterIdLst>
  <p:sldIdLst>
    <p:sldId id="608" r:id="rId2"/>
    <p:sldId id="609" r:id="rId3"/>
    <p:sldId id="610" r:id="rId4"/>
    <p:sldId id="483" r:id="rId5"/>
    <p:sldId id="484" r:id="rId6"/>
    <p:sldId id="485" r:id="rId7"/>
    <p:sldId id="486" r:id="rId8"/>
    <p:sldId id="550" r:id="rId9"/>
    <p:sldId id="551" r:id="rId10"/>
    <p:sldId id="638" r:id="rId11"/>
    <p:sldId id="490" r:id="rId12"/>
    <p:sldId id="611" r:id="rId13"/>
    <p:sldId id="492" r:id="rId14"/>
    <p:sldId id="493" r:id="rId15"/>
    <p:sldId id="616" r:id="rId16"/>
    <p:sldId id="495" r:id="rId17"/>
    <p:sldId id="496" r:id="rId18"/>
    <p:sldId id="497" r:id="rId19"/>
    <p:sldId id="631" r:id="rId20"/>
    <p:sldId id="563" r:id="rId21"/>
    <p:sldId id="564" r:id="rId22"/>
    <p:sldId id="500" r:id="rId23"/>
    <p:sldId id="501" r:id="rId24"/>
    <p:sldId id="546" r:id="rId25"/>
    <p:sldId id="547" r:id="rId26"/>
    <p:sldId id="513" r:id="rId27"/>
    <p:sldId id="503" r:id="rId28"/>
    <p:sldId id="548" r:id="rId29"/>
    <p:sldId id="504" r:id="rId30"/>
    <p:sldId id="554" r:id="rId31"/>
    <p:sldId id="505" r:id="rId32"/>
    <p:sldId id="506" r:id="rId33"/>
    <p:sldId id="565" r:id="rId34"/>
    <p:sldId id="508" r:id="rId35"/>
    <p:sldId id="509" r:id="rId36"/>
    <p:sldId id="617" r:id="rId37"/>
    <p:sldId id="618" r:id="rId38"/>
    <p:sldId id="619" r:id="rId39"/>
    <p:sldId id="475" r:id="rId40"/>
    <p:sldId id="476" r:id="rId41"/>
    <p:sldId id="477" r:id="rId42"/>
    <p:sldId id="478" r:id="rId43"/>
    <p:sldId id="569" r:id="rId44"/>
    <p:sldId id="570" r:id="rId45"/>
    <p:sldId id="571" r:id="rId46"/>
    <p:sldId id="626" r:id="rId47"/>
    <p:sldId id="627" r:id="rId48"/>
    <p:sldId id="628" r:id="rId49"/>
    <p:sldId id="629" r:id="rId50"/>
    <p:sldId id="630" r:id="rId51"/>
    <p:sldId id="572" r:id="rId52"/>
    <p:sldId id="573" r:id="rId53"/>
    <p:sldId id="574" r:id="rId54"/>
    <p:sldId id="575" r:id="rId55"/>
    <p:sldId id="623" r:id="rId56"/>
    <p:sldId id="634" r:id="rId57"/>
    <p:sldId id="636" r:id="rId58"/>
    <p:sldId id="632" r:id="rId59"/>
    <p:sldId id="580" r:id="rId60"/>
    <p:sldId id="581" r:id="rId61"/>
    <p:sldId id="582" r:id="rId62"/>
    <p:sldId id="583" r:id="rId63"/>
    <p:sldId id="633" r:id="rId64"/>
    <p:sldId id="585" r:id="rId65"/>
    <p:sldId id="586" r:id="rId66"/>
    <p:sldId id="587" r:id="rId67"/>
    <p:sldId id="639" r:id="rId68"/>
    <p:sldId id="588" r:id="rId69"/>
    <p:sldId id="589" r:id="rId70"/>
    <p:sldId id="590" r:id="rId71"/>
    <p:sldId id="591" r:id="rId72"/>
    <p:sldId id="592" r:id="rId73"/>
    <p:sldId id="635" r:id="rId74"/>
    <p:sldId id="622" r:id="rId75"/>
    <p:sldId id="595" r:id="rId76"/>
    <p:sldId id="637" r:id="rId77"/>
    <p:sldId id="596" r:id="rId78"/>
    <p:sldId id="597" r:id="rId79"/>
    <p:sldId id="598" r:id="rId80"/>
    <p:sldId id="599" r:id="rId81"/>
    <p:sldId id="600" r:id="rId82"/>
    <p:sldId id="601" r:id="rId83"/>
    <p:sldId id="602" r:id="rId84"/>
    <p:sldId id="603" r:id="rId85"/>
    <p:sldId id="604" r:id="rId86"/>
    <p:sldId id="605" r:id="rId87"/>
    <p:sldId id="606" r:id="rId88"/>
    <p:sldId id="607" r:id="rId89"/>
  </p:sldIdLst>
  <p:sldSz cx="9144000" cy="6858000" type="letter"/>
  <p:notesSz cx="7315200" cy="9601200"/>
  <p:custDataLst>
    <p:tags r:id="rId9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f" initials="jf" lastIdx="14" clrIdx="0"/>
  <p:cmAuthor id="1" name="KPMG" initials="K" lastIdx="39" clrIdx="1">
    <p:extLst>
      <p:ext uri="{19B8F6BF-5375-455C-9EA6-DF929625EA0E}">
        <p15:presenceInfo xmlns:p15="http://schemas.microsoft.com/office/powerpoint/2012/main" userId="KPMG" providerId="None"/>
      </p:ext>
    </p:extLst>
  </p:cmAuthor>
  <p:cmAuthor id="2" name="salmangul" initials="s" lastIdx="108" clrIdx="2">
    <p:extLst>
      <p:ext uri="{19B8F6BF-5375-455C-9EA6-DF929625EA0E}">
        <p15:presenceInfo xmlns:p15="http://schemas.microsoft.com/office/powerpoint/2012/main" userId="salmangul" providerId="None"/>
      </p:ext>
    </p:extLst>
  </p:cmAuthor>
  <p:cmAuthor id="3" name="georgespigeon" initials="g" lastIdx="14" clrIdx="3">
    <p:extLst>
      <p:ext uri="{19B8F6BF-5375-455C-9EA6-DF929625EA0E}">
        <p15:presenceInfo xmlns:p15="http://schemas.microsoft.com/office/powerpoint/2012/main" userId="georgespigeon" providerId="None"/>
      </p:ext>
    </p:extLst>
  </p:cmAuthor>
  <p:cmAuthor id="4" name="Wang, Jason" initials="WJ" lastIdx="34" clrIdx="4">
    <p:extLst>
      <p:ext uri="{19B8F6BF-5375-455C-9EA6-DF929625EA0E}">
        <p15:presenceInfo xmlns:p15="http://schemas.microsoft.com/office/powerpoint/2012/main" userId="Wang, Jason" providerId="None"/>
      </p:ext>
    </p:extLst>
  </p:cmAuthor>
  <p:cmAuthor id="5" name="Timothy Johnson" initials="TJ" lastIdx="4" clrIdx="5">
    <p:extLst>
      <p:ext uri="{19B8F6BF-5375-455C-9EA6-DF929625EA0E}">
        <p15:presenceInfo xmlns:p15="http://schemas.microsoft.com/office/powerpoint/2012/main" userId="Timothy Johns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4A8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6433" autoAdjust="0"/>
  </p:normalViewPr>
  <p:slideViewPr>
    <p:cSldViewPr>
      <p:cViewPr varScale="1">
        <p:scale>
          <a:sx n="113" d="100"/>
          <a:sy n="113" d="100"/>
        </p:scale>
        <p:origin x="1512" y="96"/>
      </p:cViewPr>
      <p:guideLst>
        <p:guide orient="horz" pos="2160"/>
        <p:guide pos="2880"/>
      </p:guideLst>
    </p:cSldViewPr>
  </p:slideViewPr>
  <p:outlineViewPr>
    <p:cViewPr>
      <p:scale>
        <a:sx n="33" d="100"/>
        <a:sy n="33" d="100"/>
      </p:scale>
      <p:origin x="0" y="-34884"/>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tags" Target="tags/tag1.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99"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customXml" Target="../customXml/item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commentAuthors" Target="commentAuthor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presProps" Target="presProps.xml"/><Relationship Id="rId98" Type="http://schemas.openxmlformats.org/officeDocument/2006/relationships/customXml" Target="../customXml/item2.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image" Target="../media/image23.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image" Target="../media/image25.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image" Target="../media/image27.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image" Target="../media/image2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169920" cy="480060"/>
          </a:xfrm>
          <a:prstGeom prst="rect">
            <a:avLst/>
          </a:prstGeom>
        </p:spPr>
        <p:txBody>
          <a:bodyPr vert="horz" lIns="96647" tIns="48324" rIns="96647" bIns="48324" rtlCol="0"/>
          <a:lstStyle>
            <a:lvl1pPr algn="l">
              <a:defRPr sz="1300"/>
            </a:lvl1pPr>
          </a:lstStyle>
          <a:p>
            <a:endParaRPr lang="en-US" dirty="0"/>
          </a:p>
        </p:txBody>
      </p:sp>
      <p:sp>
        <p:nvSpPr>
          <p:cNvPr id="3" name="Date Placeholder 2"/>
          <p:cNvSpPr>
            <a:spLocks noGrp="1"/>
          </p:cNvSpPr>
          <p:nvPr>
            <p:ph type="dt" idx="1"/>
          </p:nvPr>
        </p:nvSpPr>
        <p:spPr>
          <a:xfrm>
            <a:off x="4143589" y="0"/>
            <a:ext cx="3169920" cy="480060"/>
          </a:xfrm>
          <a:prstGeom prst="rect">
            <a:avLst/>
          </a:prstGeom>
        </p:spPr>
        <p:txBody>
          <a:bodyPr vert="horz" lIns="96647" tIns="48324" rIns="96647" bIns="48324" rtlCol="0"/>
          <a:lstStyle>
            <a:lvl1pPr algn="r">
              <a:defRPr sz="1300"/>
            </a:lvl1pPr>
          </a:lstStyle>
          <a:p>
            <a:fld id="{DCCE2291-8BFA-40DF-8373-96AAFF03EE81}" type="datetimeFigureOut">
              <a:rPr lang="en-US" smtClean="0"/>
              <a:pPr/>
              <a:t>3/4/2020</a:t>
            </a:fld>
            <a:endParaRPr lang="en-US" dirty="0"/>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47" tIns="48324" rIns="96647" bIns="48324" rtlCol="0" anchor="ctr"/>
          <a:lstStyle/>
          <a:p>
            <a:endParaRPr lang="en-US" dirty="0"/>
          </a:p>
        </p:txBody>
      </p:sp>
      <p:sp>
        <p:nvSpPr>
          <p:cNvPr id="5" name="Notes Placeholder 4"/>
          <p:cNvSpPr>
            <a:spLocks noGrp="1"/>
          </p:cNvSpPr>
          <p:nvPr>
            <p:ph type="body" sz="quarter" idx="3"/>
          </p:nvPr>
        </p:nvSpPr>
        <p:spPr>
          <a:xfrm>
            <a:off x="731521" y="4560570"/>
            <a:ext cx="5852160" cy="4320540"/>
          </a:xfrm>
          <a:prstGeom prst="rect">
            <a:avLst/>
          </a:prstGeom>
        </p:spPr>
        <p:txBody>
          <a:bodyPr vert="horz" lIns="96647" tIns="48324" rIns="96647" bIns="48324"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119474"/>
            <a:ext cx="3169920" cy="480060"/>
          </a:xfrm>
          <a:prstGeom prst="rect">
            <a:avLst/>
          </a:prstGeom>
        </p:spPr>
        <p:txBody>
          <a:bodyPr vert="horz" lIns="96647" tIns="48324" rIns="96647" bIns="48324"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9" y="9119474"/>
            <a:ext cx="3169920" cy="480060"/>
          </a:xfrm>
          <a:prstGeom prst="rect">
            <a:avLst/>
          </a:prstGeom>
        </p:spPr>
        <p:txBody>
          <a:bodyPr vert="horz" lIns="96647" tIns="48324" rIns="96647" bIns="48324" rtlCol="0" anchor="b"/>
          <a:lstStyle>
            <a:lvl1pPr algn="r">
              <a:defRPr sz="1300"/>
            </a:lvl1pPr>
          </a:lstStyle>
          <a:p>
            <a:fld id="{8B04142D-1DF5-466F-A939-A7486BAFE811}" type="slidenum">
              <a:rPr lang="en-US" smtClean="0"/>
              <a:pPr/>
              <a:t>‹#›</a:t>
            </a:fld>
            <a:endParaRPr lang="en-US" dirty="0"/>
          </a:p>
        </p:txBody>
      </p:sp>
    </p:spTree>
    <p:extLst>
      <p:ext uri="{BB962C8B-B14F-4D97-AF65-F5344CB8AC3E}">
        <p14:creationId xmlns:p14="http://schemas.microsoft.com/office/powerpoint/2010/main" val="2207634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3984AA2-AC82-4CE6-8C3A-FD3FAB1BBE8E}" type="slidenum">
              <a:rPr lang="en-GB"/>
              <a:pPr/>
              <a:t>1</a:t>
            </a:fld>
            <a:endParaRPr lang="en-GB" dirty="0"/>
          </a:p>
        </p:txBody>
      </p:sp>
      <p:sp>
        <p:nvSpPr>
          <p:cNvPr id="246786" name="Rectangle 2"/>
          <p:cNvSpPr>
            <a:spLocks noGrp="1" noRot="1" noChangeAspect="1" noChangeArrowheads="1" noTextEdit="1"/>
          </p:cNvSpPr>
          <p:nvPr>
            <p:ph type="sldImg"/>
          </p:nvPr>
        </p:nvSpPr>
        <p:spPr>
          <a:ln/>
        </p:spPr>
      </p:sp>
      <p:sp>
        <p:nvSpPr>
          <p:cNvPr id="24678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41153699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19B61B7-ACB0-4158-BF4B-5FB53DED551C}" type="slidenum">
              <a:rPr lang="en-GB"/>
              <a:pPr/>
              <a:t>2</a:t>
            </a:fld>
            <a:endParaRPr lang="en-GB" dirty="0"/>
          </a:p>
        </p:txBody>
      </p:sp>
      <p:sp>
        <p:nvSpPr>
          <p:cNvPr id="259074" name="Rectangle 2"/>
          <p:cNvSpPr>
            <a:spLocks noGrp="1" noRot="1" noChangeAspect="1" noChangeArrowheads="1" noTextEdit="1"/>
          </p:cNvSpPr>
          <p:nvPr>
            <p:ph type="sldImg"/>
          </p:nvPr>
        </p:nvSpPr>
        <p:spPr>
          <a:ln/>
        </p:spPr>
      </p:sp>
      <p:sp>
        <p:nvSpPr>
          <p:cNvPr id="25907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6841592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93FFEB5-DF0D-4A7E-A75C-CFF41399637E}" type="slidenum">
              <a:rPr lang="en-GB"/>
              <a:pPr/>
              <a:t>4</a:t>
            </a:fld>
            <a:endParaRPr lang="en-GB" dirty="0"/>
          </a:p>
        </p:txBody>
      </p:sp>
      <p:sp>
        <p:nvSpPr>
          <p:cNvPr id="265218" name="Rectangle 2"/>
          <p:cNvSpPr>
            <a:spLocks noGrp="1" noRot="1" noChangeAspect="1" noChangeArrowheads="1" noTextEdit="1"/>
          </p:cNvSpPr>
          <p:nvPr>
            <p:ph type="sldImg"/>
          </p:nvPr>
        </p:nvSpPr>
        <p:spPr>
          <a:ln/>
        </p:spPr>
      </p:sp>
      <p:sp>
        <p:nvSpPr>
          <p:cNvPr id="26521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8387604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11</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62159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12</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8470173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13</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0526054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14</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0135163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15</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2297618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16</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8310638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17</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8253887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18</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7480625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19</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4358937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20</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0378786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21</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6088866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22</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2471947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23</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1854340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24</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3042461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25</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1718940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26</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8260455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27</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4384413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28</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8716268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29</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1137048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30</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3436630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31</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6461940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32</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7334443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33</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6378483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34</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0195996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35</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9834614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39</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6347309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40</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8860346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41</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7765532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42</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41186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04142D-1DF5-466F-A939-A7486BAFE811}" type="slidenum">
              <a:rPr lang="en-US" smtClean="0"/>
              <a:pPr/>
              <a:t>46</a:t>
            </a:fld>
            <a:endParaRPr lang="en-US" dirty="0"/>
          </a:p>
        </p:txBody>
      </p:sp>
    </p:spTree>
    <p:extLst>
      <p:ext uri="{BB962C8B-B14F-4D97-AF65-F5344CB8AC3E}">
        <p14:creationId xmlns:p14="http://schemas.microsoft.com/office/powerpoint/2010/main" val="37882124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48</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41490175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49</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45506397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50</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41051697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51</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80126104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52</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9206395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53</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69164665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54</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8517476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55</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95933329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56</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420076169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57</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81960647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58</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99312461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59</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56073513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60</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1437172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61</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77058518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62</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16230472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63</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12190883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68</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55144547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69</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60839028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70</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63181086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71</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409924440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72</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33458132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73</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47396809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75</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31082888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76</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47845299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77</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50770616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78</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30111311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79</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414229653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97932220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81</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04553750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82</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33849374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83</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424175353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84</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00509709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85</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06205268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86</a:t>
            </a:fld>
            <a:endParaRPr lang="en-GB" dirty="0"/>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71985845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63D95-A740-4802-8241-76E2AB6F0CEB}" type="slidenum">
              <a:rPr lang="en-GB"/>
              <a:pPr/>
              <a:t>87</a:t>
            </a:fld>
            <a:endParaRPr lang="en-GB" dirty="0"/>
          </a:p>
        </p:txBody>
      </p:sp>
      <p:sp>
        <p:nvSpPr>
          <p:cNvPr id="268290" name="Rectangle 2"/>
          <p:cNvSpPr>
            <a:spLocks noGrp="1" noRot="1" noChangeAspect="1" noChangeArrowheads="1" noTextEdit="1"/>
          </p:cNvSpPr>
          <p:nvPr>
            <p:ph type="sldImg"/>
          </p:nvPr>
        </p:nvSpPr>
        <p:spPr>
          <a:xfrm>
            <a:off x="1189038" y="719138"/>
            <a:ext cx="4802187" cy="3600450"/>
          </a:xfrm>
          <a:ln/>
        </p:spPr>
      </p:sp>
      <p:sp>
        <p:nvSpPr>
          <p:cNvPr id="26829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7962759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pic>
        <p:nvPicPr>
          <p:cNvPr id="1026" name="Picture 2"/>
          <p:cNvPicPr>
            <a:picLocks noChangeAspect="1" noChangeArrowheads="1"/>
          </p:cNvPicPr>
          <p:nvPr userDrawn="1"/>
        </p:nvPicPr>
        <p:blipFill>
          <a:blip r:embed="rId2" cstate="print"/>
          <a:srcRect l="372" t="433" r="461" b="903"/>
          <a:stretch>
            <a:fillRect/>
          </a:stretch>
        </p:blipFill>
        <p:spPr bwMode="gray">
          <a:xfrm>
            <a:off x="-1" y="-1"/>
            <a:ext cx="9144001" cy="6858001"/>
          </a:xfrm>
          <a:prstGeom prst="rect">
            <a:avLst/>
          </a:prstGeom>
          <a:noFill/>
          <a:ln w="9525">
            <a:noFill/>
            <a:miter lim="800000"/>
            <a:headEnd/>
            <a:tailEnd/>
          </a:ln>
          <a:effectLst/>
        </p:spPr>
      </p:pic>
      <p:sp>
        <p:nvSpPr>
          <p:cNvPr id="26" name="Freeform 41"/>
          <p:cNvSpPr>
            <a:spLocks noChangeAspect="1"/>
          </p:cNvSpPr>
          <p:nvPr userDrawn="1"/>
        </p:nvSpPr>
        <p:spPr bwMode="gray">
          <a:xfrm>
            <a:off x="0" y="0"/>
            <a:ext cx="5224463" cy="5591175"/>
          </a:xfrm>
          <a:custGeom>
            <a:avLst/>
            <a:gdLst/>
            <a:ahLst/>
            <a:cxnLst>
              <a:cxn ang="0">
                <a:pos x="0" y="0"/>
              </a:cxn>
              <a:cxn ang="0">
                <a:pos x="0" y="3522"/>
              </a:cxn>
              <a:cxn ang="0">
                <a:pos x="2247" y="3522"/>
              </a:cxn>
              <a:cxn ang="0">
                <a:pos x="3291" y="0"/>
              </a:cxn>
              <a:cxn ang="0">
                <a:pos x="0" y="0"/>
              </a:cxn>
            </a:cxnLst>
            <a:rect l="0" t="0" r="r" b="b"/>
            <a:pathLst>
              <a:path w="3291" h="3522">
                <a:moveTo>
                  <a:pt x="0" y="0"/>
                </a:moveTo>
                <a:lnTo>
                  <a:pt x="0" y="3522"/>
                </a:lnTo>
                <a:lnTo>
                  <a:pt x="2247" y="3522"/>
                </a:lnTo>
                <a:lnTo>
                  <a:pt x="3291" y="0"/>
                </a:lnTo>
                <a:lnTo>
                  <a:pt x="0" y="0"/>
                </a:lnTo>
                <a:close/>
              </a:path>
            </a:pathLst>
          </a:custGeom>
          <a:gradFill flip="none" rotWithShape="1">
            <a:gsLst>
              <a:gs pos="0">
                <a:srgbClr val="00257A">
                  <a:alpha val="90000"/>
                </a:srgbClr>
              </a:gs>
              <a:gs pos="35000">
                <a:srgbClr val="00338D">
                  <a:alpha val="90000"/>
                </a:srgbClr>
              </a:gs>
              <a:gs pos="100000">
                <a:srgbClr val="009FDA">
                  <a:alpha val="90000"/>
                </a:srgbClr>
              </a:gs>
            </a:gsLst>
            <a:lin ang="0" scaled="1"/>
            <a:tileRect/>
          </a:gradFill>
          <a:ln w="9525" cap="flat" cmpd="sng">
            <a:noFill/>
            <a:prstDash val="solid"/>
            <a:round/>
            <a:headEnd type="none" w="med" len="med"/>
            <a:tailEnd type="none" w="med" len="med"/>
          </a:ln>
          <a:effectLst/>
        </p:spPr>
        <p:txBody>
          <a:bodyPr>
            <a:noAutofit/>
          </a:bodyPr>
          <a:lstStyle/>
          <a:p>
            <a:pPr marL="0" algn="l" defTabSz="914400" rtl="0" eaLnBrk="1" latinLnBrk="0" hangingPunct="1">
              <a:spcBef>
                <a:spcPct val="50000"/>
              </a:spcBef>
              <a:defRPr/>
            </a:pPr>
            <a:endParaRPr lang="en-GB" sz="1800" kern="1200" dirty="0">
              <a:solidFill>
                <a:schemeClr val="tx1"/>
              </a:solidFill>
              <a:latin typeface="+mn-lt"/>
              <a:ea typeface="+mn-ea"/>
              <a:cs typeface="+mn-cs"/>
            </a:endParaRPr>
          </a:p>
        </p:txBody>
      </p:sp>
      <p:sp>
        <p:nvSpPr>
          <p:cNvPr id="10" name="Title 9"/>
          <p:cNvSpPr>
            <a:spLocks noGrp="1"/>
          </p:cNvSpPr>
          <p:nvPr>
            <p:ph type="title"/>
          </p:nvPr>
        </p:nvSpPr>
        <p:spPr bwMode="gray">
          <a:xfrm>
            <a:off x="323527" y="1484784"/>
            <a:ext cx="3816425" cy="2088232"/>
          </a:xfrm>
          <a:noFill/>
          <a:ln w="9525">
            <a:noFill/>
            <a:miter lim="800000"/>
            <a:headEnd/>
            <a:tailEnd/>
          </a:ln>
        </p:spPr>
        <p:txBody>
          <a:bodyPr vert="horz" wrap="square" lIns="0" tIns="0" rIns="0" bIns="0" numCol="1" anchor="t" anchorCtr="0" compatLnSpc="1">
            <a:prstTxWarp prst="textNoShape">
              <a:avLst/>
            </a:prstTxWarp>
            <a:noAutofit/>
          </a:bodyPr>
          <a:lstStyle>
            <a:lvl1pPr algn="l" rtl="0" eaLnBrk="1" fontAlgn="base" hangingPunct="1">
              <a:spcBef>
                <a:spcPct val="40000"/>
              </a:spcBef>
              <a:spcAft>
                <a:spcPct val="0"/>
              </a:spcAft>
              <a:defRPr lang="en-GB" sz="3000" b="1" dirty="0" smtClean="0">
                <a:solidFill>
                  <a:schemeClr val="bg1"/>
                </a:solidFill>
                <a:latin typeface="+mj-lt"/>
                <a:ea typeface="+mj-ea"/>
                <a:cs typeface="+mj-cs"/>
              </a:defRPr>
            </a:lvl1pPr>
            <a:lvl2pPr>
              <a:defRPr lang="en-GB" sz="3000" b="1" dirty="0">
                <a:solidFill>
                  <a:schemeClr val="bg1"/>
                </a:solidFill>
                <a:latin typeface="+mj-lt"/>
              </a:defRPr>
            </a:lvl2pPr>
            <a:lvl3pPr>
              <a:defRPr lang="en-GB" sz="3000" b="1" dirty="0">
                <a:solidFill>
                  <a:schemeClr val="bg1"/>
                </a:solidFill>
                <a:latin typeface="+mj-lt"/>
              </a:defRPr>
            </a:lvl3pPr>
            <a:lvl4pPr>
              <a:defRPr lang="en-GB" sz="3000" b="1" dirty="0">
                <a:solidFill>
                  <a:schemeClr val="bg1"/>
                </a:solidFill>
                <a:latin typeface="+mj-lt"/>
              </a:defRPr>
            </a:lvl4pPr>
            <a:lvl5pPr>
              <a:defRPr lang="en-GB" sz="3000" b="1" dirty="0">
                <a:solidFill>
                  <a:schemeClr val="bg1"/>
                </a:solidFill>
                <a:latin typeface="+mj-lt"/>
              </a:defRPr>
            </a:lvl5pPr>
            <a:lvl6pPr>
              <a:defRPr lang="en-GB" sz="3000" b="1" dirty="0">
                <a:solidFill>
                  <a:schemeClr val="bg1"/>
                </a:solidFill>
                <a:latin typeface="+mj-lt"/>
              </a:defRPr>
            </a:lvl6pPr>
            <a:lvl7pPr>
              <a:defRPr lang="en-GB" sz="3000" b="1" dirty="0">
                <a:solidFill>
                  <a:schemeClr val="bg1"/>
                </a:solidFill>
                <a:latin typeface="+mj-lt"/>
              </a:defRPr>
            </a:lvl7pPr>
            <a:lvl8pPr>
              <a:defRPr lang="en-GB" sz="3000" b="1" dirty="0">
                <a:solidFill>
                  <a:schemeClr val="bg1"/>
                </a:solidFill>
                <a:latin typeface="+mj-lt"/>
              </a:defRPr>
            </a:lvl8pPr>
            <a:lvl9pPr>
              <a:defRPr sz="3000">
                <a:solidFill>
                  <a:schemeClr val="bg1"/>
                </a:solidFill>
              </a:defRPr>
            </a:lvl9pPr>
          </a:lstStyle>
          <a:p>
            <a:pPr lvl="0"/>
            <a:r>
              <a:rPr lang="en-US" smtClean="0"/>
              <a:t>Click to edit Master title style</a:t>
            </a:r>
            <a:endParaRPr lang="en-GB" dirty="0"/>
          </a:p>
        </p:txBody>
      </p:sp>
      <p:sp>
        <p:nvSpPr>
          <p:cNvPr id="17" name="Text Placeholder 16"/>
          <p:cNvSpPr>
            <a:spLocks noGrp="1"/>
          </p:cNvSpPr>
          <p:nvPr>
            <p:ph type="body" sz="quarter" idx="10"/>
          </p:nvPr>
        </p:nvSpPr>
        <p:spPr bwMode="gray">
          <a:xfrm>
            <a:off x="323528" y="3789363"/>
            <a:ext cx="3456383" cy="1079500"/>
          </a:xfrm>
          <a:noFill/>
          <a:ln w="9525">
            <a:noFill/>
            <a:miter lim="800000"/>
            <a:headEnd/>
            <a:tailEnd/>
          </a:ln>
        </p:spPr>
        <p:txBody>
          <a:bodyPr vert="horz" wrap="square" lIns="0" tIns="0" rIns="0" bIns="0" numCol="1" anchor="t" anchorCtr="0" compatLnSpc="1">
            <a:prstTxWarp prst="textNoShape">
              <a:avLst/>
            </a:prstTxWarp>
            <a:noAutofit/>
          </a:bodyPr>
          <a:lstStyle>
            <a:lvl1pPr marL="342900" indent="-342900" algn="l" rtl="0" eaLnBrk="1" fontAlgn="base" hangingPunct="1">
              <a:lnSpc>
                <a:spcPct val="110000"/>
              </a:lnSpc>
              <a:spcBef>
                <a:spcPts val="600"/>
              </a:spcBef>
              <a:spcAft>
                <a:spcPct val="0"/>
              </a:spcAft>
              <a:defRPr lang="en-US" sz="1200" b="0" dirty="0" smtClean="0">
                <a:solidFill>
                  <a:schemeClr val="bg1"/>
                </a:solidFill>
                <a:latin typeface="+mn-lt"/>
                <a:ea typeface="+mn-ea"/>
                <a:cs typeface="+mn-cs"/>
              </a:defRPr>
            </a:lvl1pPr>
            <a:lvl2pPr>
              <a:defRPr lang="en-US" sz="1200" b="0" kern="1200" noProof="0" dirty="0" smtClean="0">
                <a:solidFill>
                  <a:schemeClr val="bg1"/>
                </a:solidFill>
                <a:latin typeface="+mn-lt"/>
                <a:ea typeface="+mn-ea"/>
                <a:cs typeface="+mn-cs"/>
              </a:defRPr>
            </a:lvl2pPr>
            <a:lvl3pPr>
              <a:defRPr lang="en-US" sz="1200" b="0" kern="1200" noProof="0" dirty="0" smtClean="0">
                <a:solidFill>
                  <a:schemeClr val="bg1"/>
                </a:solidFill>
                <a:latin typeface="+mn-lt"/>
                <a:ea typeface="+mn-ea"/>
                <a:cs typeface="+mn-cs"/>
              </a:defRPr>
            </a:lvl3pPr>
            <a:lvl4pPr>
              <a:defRPr lang="en-US" sz="1200" b="0" kern="1200" noProof="0" dirty="0" smtClean="0">
                <a:solidFill>
                  <a:schemeClr val="bg1"/>
                </a:solidFill>
                <a:latin typeface="+mn-lt"/>
                <a:ea typeface="+mn-ea"/>
                <a:cs typeface="+mn-cs"/>
              </a:defRPr>
            </a:lvl4pPr>
            <a:lvl5pPr>
              <a:defRPr lang="en-US" sz="1200" b="0" kern="1200" noProof="0" dirty="0" smtClean="0">
                <a:solidFill>
                  <a:schemeClr val="bg1"/>
                </a:solidFill>
                <a:latin typeface="+mn-lt"/>
                <a:ea typeface="+mn-ea"/>
                <a:cs typeface="+mn-cs"/>
              </a:defRPr>
            </a:lvl5pPr>
            <a:lvl6pPr>
              <a:defRPr lang="en-US" sz="1200" b="0" kern="1200" noProof="0" dirty="0" smtClean="0">
                <a:solidFill>
                  <a:schemeClr val="bg1"/>
                </a:solidFill>
                <a:latin typeface="+mn-lt"/>
                <a:ea typeface="+mn-ea"/>
                <a:cs typeface="+mn-cs"/>
              </a:defRPr>
            </a:lvl6pPr>
            <a:lvl7pPr>
              <a:defRPr lang="en-US" sz="1200" b="0" kern="1200" noProof="0" dirty="0" smtClean="0">
                <a:solidFill>
                  <a:schemeClr val="bg1"/>
                </a:solidFill>
                <a:latin typeface="+mn-lt"/>
                <a:ea typeface="+mn-ea"/>
                <a:cs typeface="+mn-cs"/>
              </a:defRPr>
            </a:lvl7pPr>
            <a:lvl8pPr>
              <a:defRPr lang="en-US" sz="1200" b="0" kern="1200" noProof="0" dirty="0" smtClean="0">
                <a:solidFill>
                  <a:schemeClr val="bg1"/>
                </a:solidFill>
                <a:latin typeface="+mn-lt"/>
                <a:ea typeface="+mn-ea"/>
                <a:cs typeface="+mn-cs"/>
              </a:defRPr>
            </a:lvl8pPr>
            <a:lvl9pPr>
              <a:defRPr lang="en-US" sz="1200" b="0" kern="1200" noProof="0" dirty="0" smtClean="0">
                <a:solidFill>
                  <a:schemeClr val="bg1"/>
                </a:solidFill>
                <a:latin typeface="+mn-lt"/>
                <a:ea typeface="+mn-ea"/>
                <a:cs typeface="+mn-cs"/>
              </a:defRPr>
            </a:lvl9pPr>
          </a:lstStyle>
          <a:p>
            <a:pPr lvl="0"/>
            <a:r>
              <a:rPr lang="en-US" smtClean="0"/>
              <a:t>Click to edit Master text styles</a:t>
            </a:r>
          </a:p>
        </p:txBody>
      </p:sp>
      <p:grpSp>
        <p:nvGrpSpPr>
          <p:cNvPr id="2" name="Group 8"/>
          <p:cNvGrpSpPr>
            <a:grpSpLocks noChangeAspect="1"/>
          </p:cNvGrpSpPr>
          <p:nvPr userDrawn="1"/>
        </p:nvGrpSpPr>
        <p:grpSpPr>
          <a:xfrm>
            <a:off x="128464" y="0"/>
            <a:ext cx="2592388" cy="1530350"/>
            <a:chOff x="-2592388" y="0"/>
            <a:chExt cx="2592388" cy="1530350"/>
          </a:xfrm>
          <a:solidFill>
            <a:schemeClr val="bg1"/>
          </a:solidFill>
        </p:grpSpPr>
        <p:sp>
          <p:nvSpPr>
            <p:cNvPr id="11" name="Freeform 14"/>
            <p:cNvSpPr>
              <a:spLocks noEditPoints="1"/>
            </p:cNvSpPr>
            <p:nvPr userDrawn="1"/>
          </p:nvSpPr>
          <p:spPr bwMode="auto">
            <a:xfrm>
              <a:off x="-2384425" y="393700"/>
              <a:ext cx="2119313" cy="776288"/>
            </a:xfrm>
            <a:custGeom>
              <a:avLst/>
              <a:gdLst/>
              <a:ahLst/>
              <a:cxnLst>
                <a:cxn ang="0">
                  <a:pos x="2851" y="1035"/>
                </a:cxn>
                <a:cxn ang="0">
                  <a:pos x="3588" y="28"/>
                </a:cxn>
                <a:cxn ang="0">
                  <a:pos x="2718" y="826"/>
                </a:cxn>
                <a:cxn ang="0">
                  <a:pos x="1973" y="28"/>
                </a:cxn>
                <a:cxn ang="0">
                  <a:pos x="1663" y="659"/>
                </a:cxn>
                <a:cxn ang="0">
                  <a:pos x="1850" y="28"/>
                </a:cxn>
                <a:cxn ang="0">
                  <a:pos x="1165" y="1000"/>
                </a:cxn>
                <a:cxn ang="0">
                  <a:pos x="1334" y="806"/>
                </a:cxn>
                <a:cxn ang="0">
                  <a:pos x="479" y="1047"/>
                </a:cxn>
                <a:cxn ang="0">
                  <a:pos x="980" y="699"/>
                </a:cxn>
                <a:cxn ang="0">
                  <a:pos x="2747" y="0"/>
                </a:cxn>
                <a:cxn ang="0">
                  <a:pos x="1009" y="0"/>
                </a:cxn>
                <a:cxn ang="0">
                  <a:pos x="665" y="1435"/>
                </a:cxn>
                <a:cxn ang="0">
                  <a:pos x="1150" y="1133"/>
                </a:cxn>
                <a:cxn ang="0">
                  <a:pos x="1980" y="1434"/>
                </a:cxn>
                <a:cxn ang="0">
                  <a:pos x="2963" y="1451"/>
                </a:cxn>
                <a:cxn ang="0">
                  <a:pos x="348" y="2092"/>
                </a:cxn>
                <a:cxn ang="0">
                  <a:pos x="395" y="2104"/>
                </a:cxn>
                <a:cxn ang="0">
                  <a:pos x="880" y="1895"/>
                </a:cxn>
                <a:cxn ang="0">
                  <a:pos x="584" y="1895"/>
                </a:cxn>
                <a:cxn ang="0">
                  <a:pos x="645" y="2088"/>
                </a:cxn>
                <a:cxn ang="0">
                  <a:pos x="813" y="2088"/>
                </a:cxn>
                <a:cxn ang="0">
                  <a:pos x="935" y="1790"/>
                </a:cxn>
                <a:cxn ang="0">
                  <a:pos x="1104" y="1929"/>
                </a:cxn>
                <a:cxn ang="0">
                  <a:pos x="1151" y="1938"/>
                </a:cxn>
                <a:cxn ang="0">
                  <a:pos x="1504" y="2134"/>
                </a:cxn>
                <a:cxn ang="0">
                  <a:pos x="1370" y="2132"/>
                </a:cxn>
                <a:cxn ang="0">
                  <a:pos x="1428" y="1940"/>
                </a:cxn>
                <a:cxn ang="0">
                  <a:pos x="1719" y="1895"/>
                </a:cxn>
                <a:cxn ang="0">
                  <a:pos x="1803" y="2052"/>
                </a:cxn>
                <a:cxn ang="0">
                  <a:pos x="2137" y="1923"/>
                </a:cxn>
                <a:cxn ang="0">
                  <a:pos x="1881" y="2136"/>
                </a:cxn>
                <a:cxn ang="0">
                  <a:pos x="2253" y="2017"/>
                </a:cxn>
                <a:cxn ang="0">
                  <a:pos x="2503" y="1888"/>
                </a:cxn>
                <a:cxn ang="0">
                  <a:pos x="2740" y="2092"/>
                </a:cxn>
                <a:cxn ang="0">
                  <a:pos x="2787" y="2104"/>
                </a:cxn>
                <a:cxn ang="0">
                  <a:pos x="3126" y="2134"/>
                </a:cxn>
                <a:cxn ang="0">
                  <a:pos x="2992" y="2132"/>
                </a:cxn>
                <a:cxn ang="0">
                  <a:pos x="3051" y="1940"/>
                </a:cxn>
                <a:cxn ang="0">
                  <a:pos x="3441" y="1989"/>
                </a:cxn>
                <a:cxn ang="0">
                  <a:pos x="3257" y="1790"/>
                </a:cxn>
                <a:cxn ang="0">
                  <a:pos x="168" y="2120"/>
                </a:cxn>
                <a:cxn ang="0">
                  <a:pos x="3742" y="1935"/>
                </a:cxn>
                <a:cxn ang="0">
                  <a:pos x="3624" y="2110"/>
                </a:cxn>
                <a:cxn ang="0">
                  <a:pos x="3857" y="2017"/>
                </a:cxn>
                <a:cxn ang="0">
                  <a:pos x="4180" y="1894"/>
                </a:cxn>
                <a:cxn ang="0">
                  <a:pos x="4515" y="2136"/>
                </a:cxn>
                <a:cxn ang="0">
                  <a:pos x="4289" y="1939"/>
                </a:cxn>
                <a:cxn ang="0">
                  <a:pos x="4846" y="2010"/>
                </a:cxn>
                <a:cxn ang="0">
                  <a:pos x="4741" y="1935"/>
                </a:cxn>
                <a:cxn ang="0">
                  <a:pos x="4936" y="1789"/>
                </a:cxn>
                <a:cxn ang="0">
                  <a:pos x="5002" y="2021"/>
                </a:cxn>
                <a:cxn ang="0">
                  <a:pos x="5080" y="1988"/>
                </a:cxn>
                <a:cxn ang="0">
                  <a:pos x="5388" y="2136"/>
                </a:cxn>
                <a:cxn ang="0">
                  <a:pos x="5625" y="1893"/>
                </a:cxn>
                <a:cxn ang="0">
                  <a:pos x="5573" y="1790"/>
                </a:cxn>
                <a:cxn ang="0">
                  <a:pos x="5710" y="1848"/>
                </a:cxn>
                <a:cxn ang="0">
                  <a:pos x="5786" y="2086"/>
                </a:cxn>
                <a:cxn ang="0">
                  <a:pos x="5835" y="2229"/>
                </a:cxn>
              </a:cxnLst>
              <a:rect l="0" t="0" r="r" b="b"/>
              <a:pathLst>
                <a:path w="6099" h="2232">
                  <a:moveTo>
                    <a:pt x="3588" y="1105"/>
                  </a:moveTo>
                  <a:cubicBezTo>
                    <a:pt x="3401" y="1105"/>
                    <a:pt x="3401" y="1105"/>
                    <a:pt x="3401" y="1105"/>
                  </a:cubicBezTo>
                  <a:cubicBezTo>
                    <a:pt x="3431" y="981"/>
                    <a:pt x="3431" y="981"/>
                    <a:pt x="3431" y="981"/>
                  </a:cubicBezTo>
                  <a:cubicBezTo>
                    <a:pt x="3055" y="981"/>
                    <a:pt x="3055" y="981"/>
                    <a:pt x="3055" y="981"/>
                  </a:cubicBezTo>
                  <a:cubicBezTo>
                    <a:pt x="3024" y="1105"/>
                    <a:pt x="3024" y="1105"/>
                    <a:pt x="3024" y="1105"/>
                  </a:cubicBezTo>
                  <a:cubicBezTo>
                    <a:pt x="2843" y="1105"/>
                    <a:pt x="2843" y="1105"/>
                    <a:pt x="2843" y="1105"/>
                  </a:cubicBezTo>
                  <a:cubicBezTo>
                    <a:pt x="2843" y="1079"/>
                    <a:pt x="2843" y="1079"/>
                    <a:pt x="2843" y="1079"/>
                  </a:cubicBezTo>
                  <a:cubicBezTo>
                    <a:pt x="2845" y="1065"/>
                    <a:pt x="2848" y="1051"/>
                    <a:pt x="2851" y="1035"/>
                  </a:cubicBezTo>
                  <a:cubicBezTo>
                    <a:pt x="2884" y="901"/>
                    <a:pt x="2972" y="769"/>
                    <a:pt x="3124" y="769"/>
                  </a:cubicBezTo>
                  <a:cubicBezTo>
                    <a:pt x="3185" y="769"/>
                    <a:pt x="3244" y="792"/>
                    <a:pt x="3236" y="875"/>
                  </a:cubicBezTo>
                  <a:cubicBezTo>
                    <a:pt x="3460" y="875"/>
                    <a:pt x="3460" y="875"/>
                    <a:pt x="3460" y="875"/>
                  </a:cubicBezTo>
                  <a:cubicBezTo>
                    <a:pt x="3469" y="836"/>
                    <a:pt x="3484" y="770"/>
                    <a:pt x="3441" y="709"/>
                  </a:cubicBezTo>
                  <a:cubicBezTo>
                    <a:pt x="3394" y="643"/>
                    <a:pt x="3298" y="616"/>
                    <a:pt x="3173" y="616"/>
                  </a:cubicBezTo>
                  <a:cubicBezTo>
                    <a:pt x="3084" y="616"/>
                    <a:pt x="2955" y="631"/>
                    <a:pt x="2843" y="704"/>
                  </a:cubicBezTo>
                  <a:cubicBezTo>
                    <a:pt x="2843" y="28"/>
                    <a:pt x="2843" y="28"/>
                    <a:pt x="2843" y="28"/>
                  </a:cubicBezTo>
                  <a:cubicBezTo>
                    <a:pt x="3588" y="28"/>
                    <a:pt x="3588" y="28"/>
                    <a:pt x="3588" y="28"/>
                  </a:cubicBezTo>
                  <a:lnTo>
                    <a:pt x="3588" y="1105"/>
                  </a:lnTo>
                  <a:close/>
                  <a:moveTo>
                    <a:pt x="3148" y="1287"/>
                  </a:moveTo>
                  <a:cubicBezTo>
                    <a:pt x="3106" y="1294"/>
                    <a:pt x="3063" y="1300"/>
                    <a:pt x="3023" y="1300"/>
                  </a:cubicBezTo>
                  <a:cubicBezTo>
                    <a:pt x="2915" y="1300"/>
                    <a:pt x="2840" y="1250"/>
                    <a:pt x="2839" y="1133"/>
                  </a:cubicBezTo>
                  <a:cubicBezTo>
                    <a:pt x="3186" y="1133"/>
                    <a:pt x="3186" y="1133"/>
                    <a:pt x="3186" y="1133"/>
                  </a:cubicBezTo>
                  <a:lnTo>
                    <a:pt x="3148" y="1287"/>
                  </a:lnTo>
                  <a:close/>
                  <a:moveTo>
                    <a:pt x="2718" y="672"/>
                  </a:moveTo>
                  <a:cubicBezTo>
                    <a:pt x="2718" y="826"/>
                    <a:pt x="2718" y="826"/>
                    <a:pt x="2718" y="826"/>
                  </a:cubicBezTo>
                  <a:cubicBezTo>
                    <a:pt x="2666" y="898"/>
                    <a:pt x="2634" y="976"/>
                    <a:pt x="2619" y="1040"/>
                  </a:cubicBezTo>
                  <a:cubicBezTo>
                    <a:pt x="2613" y="1061"/>
                    <a:pt x="2609" y="1083"/>
                    <a:pt x="2607" y="1105"/>
                  </a:cubicBezTo>
                  <a:cubicBezTo>
                    <a:pt x="2497" y="1105"/>
                    <a:pt x="2497" y="1105"/>
                    <a:pt x="2497" y="1105"/>
                  </a:cubicBezTo>
                  <a:cubicBezTo>
                    <a:pt x="2591" y="660"/>
                    <a:pt x="2591" y="660"/>
                    <a:pt x="2591" y="660"/>
                  </a:cubicBezTo>
                  <a:cubicBezTo>
                    <a:pt x="2276" y="660"/>
                    <a:pt x="2276" y="660"/>
                    <a:pt x="2276" y="660"/>
                  </a:cubicBezTo>
                  <a:cubicBezTo>
                    <a:pt x="1993" y="1105"/>
                    <a:pt x="1993" y="1105"/>
                    <a:pt x="1993" y="1105"/>
                  </a:cubicBezTo>
                  <a:cubicBezTo>
                    <a:pt x="1973" y="1105"/>
                    <a:pt x="1973" y="1105"/>
                    <a:pt x="1973" y="1105"/>
                  </a:cubicBezTo>
                  <a:cubicBezTo>
                    <a:pt x="1973" y="28"/>
                    <a:pt x="1973" y="28"/>
                    <a:pt x="1973" y="28"/>
                  </a:cubicBezTo>
                  <a:cubicBezTo>
                    <a:pt x="2718" y="28"/>
                    <a:pt x="2718" y="28"/>
                    <a:pt x="2718" y="28"/>
                  </a:cubicBezTo>
                  <a:lnTo>
                    <a:pt x="2718" y="672"/>
                  </a:lnTo>
                  <a:close/>
                  <a:moveTo>
                    <a:pt x="2302" y="1105"/>
                  </a:moveTo>
                  <a:cubicBezTo>
                    <a:pt x="2190" y="1105"/>
                    <a:pt x="2190" y="1105"/>
                    <a:pt x="2190" y="1105"/>
                  </a:cubicBezTo>
                  <a:cubicBezTo>
                    <a:pt x="2360" y="838"/>
                    <a:pt x="2360" y="838"/>
                    <a:pt x="2360" y="838"/>
                  </a:cubicBezTo>
                  <a:lnTo>
                    <a:pt x="2302" y="1105"/>
                  </a:lnTo>
                  <a:close/>
                  <a:moveTo>
                    <a:pt x="1850" y="659"/>
                  </a:moveTo>
                  <a:cubicBezTo>
                    <a:pt x="1663" y="659"/>
                    <a:pt x="1663" y="659"/>
                    <a:pt x="1663" y="659"/>
                  </a:cubicBezTo>
                  <a:cubicBezTo>
                    <a:pt x="1535" y="1105"/>
                    <a:pt x="1535" y="1105"/>
                    <a:pt x="1535" y="1105"/>
                  </a:cubicBezTo>
                  <a:cubicBezTo>
                    <a:pt x="1337" y="1105"/>
                    <a:pt x="1337" y="1105"/>
                    <a:pt x="1337" y="1105"/>
                  </a:cubicBezTo>
                  <a:cubicBezTo>
                    <a:pt x="1438" y="1068"/>
                    <a:pt x="1499" y="996"/>
                    <a:pt x="1518" y="890"/>
                  </a:cubicBezTo>
                  <a:cubicBezTo>
                    <a:pt x="1534" y="809"/>
                    <a:pt x="1527" y="755"/>
                    <a:pt x="1493" y="714"/>
                  </a:cubicBezTo>
                  <a:cubicBezTo>
                    <a:pt x="1443" y="654"/>
                    <a:pt x="1342" y="659"/>
                    <a:pt x="1253" y="659"/>
                  </a:cubicBezTo>
                  <a:cubicBezTo>
                    <a:pt x="1237" y="659"/>
                    <a:pt x="1105" y="659"/>
                    <a:pt x="1105" y="659"/>
                  </a:cubicBezTo>
                  <a:cubicBezTo>
                    <a:pt x="1105" y="28"/>
                    <a:pt x="1105" y="28"/>
                    <a:pt x="1105" y="28"/>
                  </a:cubicBezTo>
                  <a:cubicBezTo>
                    <a:pt x="1850" y="28"/>
                    <a:pt x="1850" y="28"/>
                    <a:pt x="1850" y="28"/>
                  </a:cubicBezTo>
                  <a:lnTo>
                    <a:pt x="1850" y="659"/>
                  </a:lnTo>
                  <a:close/>
                  <a:moveTo>
                    <a:pt x="1730" y="1105"/>
                  </a:moveTo>
                  <a:cubicBezTo>
                    <a:pt x="1809" y="826"/>
                    <a:pt x="1809" y="826"/>
                    <a:pt x="1809" y="826"/>
                  </a:cubicBezTo>
                  <a:cubicBezTo>
                    <a:pt x="1812" y="1105"/>
                    <a:pt x="1812" y="1105"/>
                    <a:pt x="1812" y="1105"/>
                  </a:cubicBezTo>
                  <a:lnTo>
                    <a:pt x="1730" y="1105"/>
                  </a:lnTo>
                  <a:close/>
                  <a:moveTo>
                    <a:pt x="1188" y="999"/>
                  </a:moveTo>
                  <a:cubicBezTo>
                    <a:pt x="1187" y="999"/>
                    <a:pt x="1187" y="999"/>
                    <a:pt x="1187" y="999"/>
                  </a:cubicBezTo>
                  <a:cubicBezTo>
                    <a:pt x="1180" y="999"/>
                    <a:pt x="1173" y="1000"/>
                    <a:pt x="1165" y="1000"/>
                  </a:cubicBezTo>
                  <a:cubicBezTo>
                    <a:pt x="1154" y="1000"/>
                    <a:pt x="1145" y="1000"/>
                    <a:pt x="1137" y="1000"/>
                  </a:cubicBezTo>
                  <a:cubicBezTo>
                    <a:pt x="1089" y="1000"/>
                    <a:pt x="1089" y="1000"/>
                    <a:pt x="1089" y="1000"/>
                  </a:cubicBezTo>
                  <a:cubicBezTo>
                    <a:pt x="1111" y="918"/>
                    <a:pt x="1111" y="918"/>
                    <a:pt x="1111" y="918"/>
                  </a:cubicBezTo>
                  <a:cubicBezTo>
                    <a:pt x="1122" y="878"/>
                    <a:pt x="1122" y="878"/>
                    <a:pt x="1122" y="878"/>
                  </a:cubicBezTo>
                  <a:cubicBezTo>
                    <a:pt x="1147" y="783"/>
                    <a:pt x="1147" y="783"/>
                    <a:pt x="1147" y="783"/>
                  </a:cubicBezTo>
                  <a:cubicBezTo>
                    <a:pt x="1158" y="783"/>
                    <a:pt x="1169" y="782"/>
                    <a:pt x="1179" y="782"/>
                  </a:cubicBezTo>
                  <a:cubicBezTo>
                    <a:pt x="1216" y="782"/>
                    <a:pt x="1216" y="782"/>
                    <a:pt x="1216" y="782"/>
                  </a:cubicBezTo>
                  <a:cubicBezTo>
                    <a:pt x="1279" y="782"/>
                    <a:pt x="1319" y="786"/>
                    <a:pt x="1334" y="806"/>
                  </a:cubicBezTo>
                  <a:cubicBezTo>
                    <a:pt x="1345" y="822"/>
                    <a:pt x="1343" y="848"/>
                    <a:pt x="1330" y="888"/>
                  </a:cubicBezTo>
                  <a:cubicBezTo>
                    <a:pt x="1308" y="957"/>
                    <a:pt x="1279" y="992"/>
                    <a:pt x="1188" y="999"/>
                  </a:cubicBezTo>
                  <a:moveTo>
                    <a:pt x="980" y="699"/>
                  </a:moveTo>
                  <a:cubicBezTo>
                    <a:pt x="969" y="737"/>
                    <a:pt x="969" y="737"/>
                    <a:pt x="969" y="737"/>
                  </a:cubicBezTo>
                  <a:cubicBezTo>
                    <a:pt x="862" y="1092"/>
                    <a:pt x="862" y="1092"/>
                    <a:pt x="862" y="1092"/>
                  </a:cubicBezTo>
                  <a:cubicBezTo>
                    <a:pt x="858" y="1105"/>
                    <a:pt x="858" y="1105"/>
                    <a:pt x="858" y="1105"/>
                  </a:cubicBezTo>
                  <a:cubicBezTo>
                    <a:pt x="507" y="1105"/>
                    <a:pt x="507" y="1105"/>
                    <a:pt x="507" y="1105"/>
                  </a:cubicBezTo>
                  <a:cubicBezTo>
                    <a:pt x="479" y="1047"/>
                    <a:pt x="479" y="1047"/>
                    <a:pt x="479" y="1047"/>
                  </a:cubicBezTo>
                  <a:cubicBezTo>
                    <a:pt x="858" y="660"/>
                    <a:pt x="858" y="660"/>
                    <a:pt x="858" y="660"/>
                  </a:cubicBezTo>
                  <a:cubicBezTo>
                    <a:pt x="615" y="660"/>
                    <a:pt x="615" y="660"/>
                    <a:pt x="615" y="660"/>
                  </a:cubicBezTo>
                  <a:cubicBezTo>
                    <a:pt x="319" y="979"/>
                    <a:pt x="319" y="979"/>
                    <a:pt x="319" y="979"/>
                  </a:cubicBezTo>
                  <a:cubicBezTo>
                    <a:pt x="415" y="660"/>
                    <a:pt x="415" y="660"/>
                    <a:pt x="415" y="660"/>
                  </a:cubicBezTo>
                  <a:cubicBezTo>
                    <a:pt x="235" y="660"/>
                    <a:pt x="235" y="660"/>
                    <a:pt x="235" y="660"/>
                  </a:cubicBezTo>
                  <a:cubicBezTo>
                    <a:pt x="235" y="28"/>
                    <a:pt x="235" y="28"/>
                    <a:pt x="235" y="28"/>
                  </a:cubicBezTo>
                  <a:cubicBezTo>
                    <a:pt x="980" y="28"/>
                    <a:pt x="980" y="28"/>
                    <a:pt x="980" y="28"/>
                  </a:cubicBezTo>
                  <a:lnTo>
                    <a:pt x="980" y="699"/>
                  </a:lnTo>
                  <a:close/>
                  <a:moveTo>
                    <a:pt x="281" y="1105"/>
                  </a:moveTo>
                  <a:cubicBezTo>
                    <a:pt x="282" y="1101"/>
                    <a:pt x="282" y="1101"/>
                    <a:pt x="282" y="1101"/>
                  </a:cubicBezTo>
                  <a:cubicBezTo>
                    <a:pt x="285" y="1105"/>
                    <a:pt x="285" y="1105"/>
                    <a:pt x="285" y="1105"/>
                  </a:cubicBezTo>
                  <a:lnTo>
                    <a:pt x="281" y="1105"/>
                  </a:lnTo>
                  <a:close/>
                  <a:moveTo>
                    <a:pt x="2814" y="0"/>
                  </a:moveTo>
                  <a:cubicBezTo>
                    <a:pt x="2814" y="724"/>
                    <a:pt x="2814" y="724"/>
                    <a:pt x="2814" y="724"/>
                  </a:cubicBezTo>
                  <a:cubicBezTo>
                    <a:pt x="2789" y="744"/>
                    <a:pt x="2767" y="765"/>
                    <a:pt x="2747" y="788"/>
                  </a:cubicBezTo>
                  <a:cubicBezTo>
                    <a:pt x="2747" y="0"/>
                    <a:pt x="2747" y="0"/>
                    <a:pt x="2747" y="0"/>
                  </a:cubicBezTo>
                  <a:cubicBezTo>
                    <a:pt x="1945" y="0"/>
                    <a:pt x="1945" y="0"/>
                    <a:pt x="1945" y="0"/>
                  </a:cubicBezTo>
                  <a:cubicBezTo>
                    <a:pt x="1945" y="659"/>
                    <a:pt x="1945" y="659"/>
                    <a:pt x="1945" y="659"/>
                  </a:cubicBezTo>
                  <a:cubicBezTo>
                    <a:pt x="1878" y="659"/>
                    <a:pt x="1878" y="659"/>
                    <a:pt x="1878" y="659"/>
                  </a:cubicBezTo>
                  <a:cubicBezTo>
                    <a:pt x="1878" y="0"/>
                    <a:pt x="1878" y="0"/>
                    <a:pt x="1878" y="0"/>
                  </a:cubicBezTo>
                  <a:cubicBezTo>
                    <a:pt x="1076" y="0"/>
                    <a:pt x="1076" y="0"/>
                    <a:pt x="1076" y="0"/>
                  </a:cubicBezTo>
                  <a:cubicBezTo>
                    <a:pt x="1076" y="660"/>
                    <a:pt x="1076" y="660"/>
                    <a:pt x="1076" y="660"/>
                  </a:cubicBezTo>
                  <a:cubicBezTo>
                    <a:pt x="1009" y="660"/>
                    <a:pt x="1009" y="660"/>
                    <a:pt x="1009" y="660"/>
                  </a:cubicBezTo>
                  <a:cubicBezTo>
                    <a:pt x="1009" y="0"/>
                    <a:pt x="1009" y="0"/>
                    <a:pt x="1009" y="0"/>
                  </a:cubicBezTo>
                  <a:cubicBezTo>
                    <a:pt x="207" y="0"/>
                    <a:pt x="207" y="0"/>
                    <a:pt x="207" y="0"/>
                  </a:cubicBezTo>
                  <a:cubicBezTo>
                    <a:pt x="207" y="753"/>
                    <a:pt x="207" y="753"/>
                    <a:pt x="207" y="753"/>
                  </a:cubicBezTo>
                  <a:cubicBezTo>
                    <a:pt x="2" y="1435"/>
                    <a:pt x="2" y="1435"/>
                    <a:pt x="2" y="1435"/>
                  </a:cubicBezTo>
                  <a:cubicBezTo>
                    <a:pt x="182" y="1435"/>
                    <a:pt x="182" y="1435"/>
                    <a:pt x="182" y="1435"/>
                  </a:cubicBezTo>
                  <a:cubicBezTo>
                    <a:pt x="273" y="1133"/>
                    <a:pt x="273" y="1133"/>
                    <a:pt x="273" y="1133"/>
                  </a:cubicBezTo>
                  <a:cubicBezTo>
                    <a:pt x="299" y="1133"/>
                    <a:pt x="299" y="1133"/>
                    <a:pt x="299" y="1133"/>
                  </a:cubicBezTo>
                  <a:cubicBezTo>
                    <a:pt x="448" y="1435"/>
                    <a:pt x="448" y="1435"/>
                    <a:pt x="448" y="1435"/>
                  </a:cubicBezTo>
                  <a:cubicBezTo>
                    <a:pt x="665" y="1435"/>
                    <a:pt x="665" y="1435"/>
                    <a:pt x="665" y="1435"/>
                  </a:cubicBezTo>
                  <a:cubicBezTo>
                    <a:pt x="520" y="1133"/>
                    <a:pt x="520" y="1133"/>
                    <a:pt x="520" y="1133"/>
                  </a:cubicBezTo>
                  <a:cubicBezTo>
                    <a:pt x="849" y="1133"/>
                    <a:pt x="849" y="1133"/>
                    <a:pt x="849" y="1133"/>
                  </a:cubicBezTo>
                  <a:cubicBezTo>
                    <a:pt x="758" y="1435"/>
                    <a:pt x="758" y="1435"/>
                    <a:pt x="758" y="1435"/>
                  </a:cubicBezTo>
                  <a:cubicBezTo>
                    <a:pt x="955" y="1435"/>
                    <a:pt x="955" y="1435"/>
                    <a:pt x="955" y="1435"/>
                  </a:cubicBezTo>
                  <a:cubicBezTo>
                    <a:pt x="1045" y="1134"/>
                    <a:pt x="1045" y="1134"/>
                    <a:pt x="1045" y="1134"/>
                  </a:cubicBezTo>
                  <a:cubicBezTo>
                    <a:pt x="1088" y="1134"/>
                    <a:pt x="1088" y="1134"/>
                    <a:pt x="1088" y="1134"/>
                  </a:cubicBezTo>
                  <a:cubicBezTo>
                    <a:pt x="1088" y="1133"/>
                    <a:pt x="1088" y="1133"/>
                    <a:pt x="1088" y="1133"/>
                  </a:cubicBezTo>
                  <a:cubicBezTo>
                    <a:pt x="1150" y="1133"/>
                    <a:pt x="1150" y="1133"/>
                    <a:pt x="1150" y="1133"/>
                  </a:cubicBezTo>
                  <a:cubicBezTo>
                    <a:pt x="1155" y="1133"/>
                    <a:pt x="1155" y="1133"/>
                    <a:pt x="1155" y="1133"/>
                  </a:cubicBezTo>
                  <a:cubicBezTo>
                    <a:pt x="1527" y="1133"/>
                    <a:pt x="1527" y="1133"/>
                    <a:pt x="1527" y="1133"/>
                  </a:cubicBezTo>
                  <a:cubicBezTo>
                    <a:pt x="1440" y="1434"/>
                    <a:pt x="1440" y="1434"/>
                    <a:pt x="1440" y="1434"/>
                  </a:cubicBezTo>
                  <a:cubicBezTo>
                    <a:pt x="1638" y="1434"/>
                    <a:pt x="1638" y="1434"/>
                    <a:pt x="1638" y="1434"/>
                  </a:cubicBezTo>
                  <a:cubicBezTo>
                    <a:pt x="1722" y="1133"/>
                    <a:pt x="1722" y="1133"/>
                    <a:pt x="1722" y="1133"/>
                  </a:cubicBezTo>
                  <a:cubicBezTo>
                    <a:pt x="1812" y="1133"/>
                    <a:pt x="1812" y="1133"/>
                    <a:pt x="1812" y="1133"/>
                  </a:cubicBezTo>
                  <a:cubicBezTo>
                    <a:pt x="1814" y="1434"/>
                    <a:pt x="1814" y="1434"/>
                    <a:pt x="1814" y="1434"/>
                  </a:cubicBezTo>
                  <a:cubicBezTo>
                    <a:pt x="1980" y="1434"/>
                    <a:pt x="1980" y="1434"/>
                    <a:pt x="1980" y="1434"/>
                  </a:cubicBezTo>
                  <a:cubicBezTo>
                    <a:pt x="2171" y="1133"/>
                    <a:pt x="2171" y="1133"/>
                    <a:pt x="2171" y="1133"/>
                  </a:cubicBezTo>
                  <a:cubicBezTo>
                    <a:pt x="2296" y="1133"/>
                    <a:pt x="2296" y="1133"/>
                    <a:pt x="2296" y="1133"/>
                  </a:cubicBezTo>
                  <a:cubicBezTo>
                    <a:pt x="2232" y="1434"/>
                    <a:pt x="2232" y="1434"/>
                    <a:pt x="2232" y="1434"/>
                  </a:cubicBezTo>
                  <a:cubicBezTo>
                    <a:pt x="2427" y="1434"/>
                    <a:pt x="2427" y="1434"/>
                    <a:pt x="2427" y="1434"/>
                  </a:cubicBezTo>
                  <a:cubicBezTo>
                    <a:pt x="2491" y="1133"/>
                    <a:pt x="2491" y="1133"/>
                    <a:pt x="2491" y="1133"/>
                  </a:cubicBezTo>
                  <a:cubicBezTo>
                    <a:pt x="2604" y="1133"/>
                    <a:pt x="2604" y="1133"/>
                    <a:pt x="2604" y="1133"/>
                  </a:cubicBezTo>
                  <a:cubicBezTo>
                    <a:pt x="2599" y="1226"/>
                    <a:pt x="2623" y="1311"/>
                    <a:pt x="2685" y="1368"/>
                  </a:cubicBezTo>
                  <a:cubicBezTo>
                    <a:pt x="2761" y="1438"/>
                    <a:pt x="2877" y="1451"/>
                    <a:pt x="2963" y="1451"/>
                  </a:cubicBezTo>
                  <a:cubicBezTo>
                    <a:pt x="3081" y="1451"/>
                    <a:pt x="3203" y="1434"/>
                    <a:pt x="3326" y="1407"/>
                  </a:cubicBezTo>
                  <a:cubicBezTo>
                    <a:pt x="3394" y="1133"/>
                    <a:pt x="3394" y="1133"/>
                    <a:pt x="3394" y="1133"/>
                  </a:cubicBezTo>
                  <a:cubicBezTo>
                    <a:pt x="3617" y="1133"/>
                    <a:pt x="3617" y="1133"/>
                    <a:pt x="3617" y="1133"/>
                  </a:cubicBezTo>
                  <a:cubicBezTo>
                    <a:pt x="3617" y="0"/>
                    <a:pt x="3617" y="0"/>
                    <a:pt x="3617" y="0"/>
                  </a:cubicBezTo>
                  <a:lnTo>
                    <a:pt x="2814" y="0"/>
                  </a:lnTo>
                  <a:close/>
                  <a:moveTo>
                    <a:pt x="351" y="1894"/>
                  </a:moveTo>
                  <a:cubicBezTo>
                    <a:pt x="321" y="2038"/>
                    <a:pt x="321" y="2038"/>
                    <a:pt x="321" y="2038"/>
                  </a:cubicBezTo>
                  <a:cubicBezTo>
                    <a:pt x="316" y="2060"/>
                    <a:pt x="309" y="2092"/>
                    <a:pt x="348" y="2092"/>
                  </a:cubicBezTo>
                  <a:cubicBezTo>
                    <a:pt x="393" y="2092"/>
                    <a:pt x="400" y="2058"/>
                    <a:pt x="409" y="2016"/>
                  </a:cubicBezTo>
                  <a:cubicBezTo>
                    <a:pt x="435" y="1894"/>
                    <a:pt x="435" y="1894"/>
                    <a:pt x="435" y="1894"/>
                  </a:cubicBezTo>
                  <a:cubicBezTo>
                    <a:pt x="508" y="1894"/>
                    <a:pt x="508" y="1894"/>
                    <a:pt x="508" y="1894"/>
                  </a:cubicBezTo>
                  <a:cubicBezTo>
                    <a:pt x="474" y="2053"/>
                    <a:pt x="474" y="2053"/>
                    <a:pt x="474" y="2053"/>
                  </a:cubicBezTo>
                  <a:cubicBezTo>
                    <a:pt x="464" y="2106"/>
                    <a:pt x="463" y="2112"/>
                    <a:pt x="462" y="2118"/>
                  </a:cubicBezTo>
                  <a:cubicBezTo>
                    <a:pt x="461" y="2125"/>
                    <a:pt x="460" y="2130"/>
                    <a:pt x="460" y="2136"/>
                  </a:cubicBezTo>
                  <a:cubicBezTo>
                    <a:pt x="391" y="2136"/>
                    <a:pt x="391" y="2136"/>
                    <a:pt x="391" y="2136"/>
                  </a:cubicBezTo>
                  <a:cubicBezTo>
                    <a:pt x="395" y="2104"/>
                    <a:pt x="395" y="2104"/>
                    <a:pt x="395" y="2104"/>
                  </a:cubicBezTo>
                  <a:cubicBezTo>
                    <a:pt x="386" y="2115"/>
                    <a:pt x="362" y="2143"/>
                    <a:pt x="315" y="2143"/>
                  </a:cubicBezTo>
                  <a:cubicBezTo>
                    <a:pt x="283" y="2143"/>
                    <a:pt x="259" y="2128"/>
                    <a:pt x="250" y="2110"/>
                  </a:cubicBezTo>
                  <a:cubicBezTo>
                    <a:pt x="238" y="2090"/>
                    <a:pt x="245" y="2056"/>
                    <a:pt x="248" y="2045"/>
                  </a:cubicBezTo>
                  <a:cubicBezTo>
                    <a:pt x="279" y="1894"/>
                    <a:pt x="279" y="1894"/>
                    <a:pt x="279" y="1894"/>
                  </a:cubicBezTo>
                  <a:lnTo>
                    <a:pt x="351" y="1894"/>
                  </a:lnTo>
                  <a:close/>
                  <a:moveTo>
                    <a:pt x="812" y="1942"/>
                  </a:moveTo>
                  <a:cubicBezTo>
                    <a:pt x="870" y="1942"/>
                    <a:pt x="870" y="1942"/>
                    <a:pt x="870" y="1942"/>
                  </a:cubicBezTo>
                  <a:cubicBezTo>
                    <a:pt x="880" y="1895"/>
                    <a:pt x="880" y="1895"/>
                    <a:pt x="880" y="1895"/>
                  </a:cubicBezTo>
                  <a:cubicBezTo>
                    <a:pt x="822" y="1895"/>
                    <a:pt x="822" y="1895"/>
                    <a:pt x="822" y="1895"/>
                  </a:cubicBezTo>
                  <a:cubicBezTo>
                    <a:pt x="838" y="1822"/>
                    <a:pt x="838" y="1822"/>
                    <a:pt x="838" y="1822"/>
                  </a:cubicBezTo>
                  <a:cubicBezTo>
                    <a:pt x="762" y="1848"/>
                    <a:pt x="762" y="1848"/>
                    <a:pt x="762" y="1848"/>
                  </a:cubicBezTo>
                  <a:cubicBezTo>
                    <a:pt x="752" y="1895"/>
                    <a:pt x="752" y="1895"/>
                    <a:pt x="752" y="1895"/>
                  </a:cubicBezTo>
                  <a:cubicBezTo>
                    <a:pt x="654" y="1895"/>
                    <a:pt x="654" y="1895"/>
                    <a:pt x="654" y="1895"/>
                  </a:cubicBezTo>
                  <a:cubicBezTo>
                    <a:pt x="670" y="1822"/>
                    <a:pt x="670" y="1822"/>
                    <a:pt x="670" y="1822"/>
                  </a:cubicBezTo>
                  <a:cubicBezTo>
                    <a:pt x="594" y="1848"/>
                    <a:pt x="594" y="1848"/>
                    <a:pt x="594" y="1848"/>
                  </a:cubicBezTo>
                  <a:cubicBezTo>
                    <a:pt x="584" y="1895"/>
                    <a:pt x="584" y="1895"/>
                    <a:pt x="584" y="1895"/>
                  </a:cubicBezTo>
                  <a:cubicBezTo>
                    <a:pt x="537" y="1895"/>
                    <a:pt x="537" y="1895"/>
                    <a:pt x="537" y="1895"/>
                  </a:cubicBezTo>
                  <a:cubicBezTo>
                    <a:pt x="527" y="1942"/>
                    <a:pt x="527" y="1942"/>
                    <a:pt x="527" y="1942"/>
                  </a:cubicBezTo>
                  <a:cubicBezTo>
                    <a:pt x="574" y="1942"/>
                    <a:pt x="574" y="1942"/>
                    <a:pt x="574" y="1942"/>
                  </a:cubicBezTo>
                  <a:cubicBezTo>
                    <a:pt x="545" y="2075"/>
                    <a:pt x="545" y="2075"/>
                    <a:pt x="545" y="2075"/>
                  </a:cubicBezTo>
                  <a:cubicBezTo>
                    <a:pt x="541" y="2095"/>
                    <a:pt x="531" y="2141"/>
                    <a:pt x="603" y="2141"/>
                  </a:cubicBezTo>
                  <a:cubicBezTo>
                    <a:pt x="615" y="2141"/>
                    <a:pt x="636" y="2139"/>
                    <a:pt x="660" y="2133"/>
                  </a:cubicBezTo>
                  <a:cubicBezTo>
                    <a:pt x="670" y="2086"/>
                    <a:pt x="670" y="2086"/>
                    <a:pt x="670" y="2086"/>
                  </a:cubicBezTo>
                  <a:cubicBezTo>
                    <a:pt x="661" y="2087"/>
                    <a:pt x="656" y="2088"/>
                    <a:pt x="645" y="2088"/>
                  </a:cubicBezTo>
                  <a:cubicBezTo>
                    <a:pt x="614" y="2088"/>
                    <a:pt x="617" y="2074"/>
                    <a:pt x="621" y="2052"/>
                  </a:cubicBezTo>
                  <a:cubicBezTo>
                    <a:pt x="645" y="1942"/>
                    <a:pt x="645" y="1942"/>
                    <a:pt x="645" y="1942"/>
                  </a:cubicBezTo>
                  <a:cubicBezTo>
                    <a:pt x="741" y="1942"/>
                    <a:pt x="741" y="1942"/>
                    <a:pt x="741" y="1942"/>
                  </a:cubicBezTo>
                  <a:cubicBezTo>
                    <a:pt x="713" y="2075"/>
                    <a:pt x="713" y="2075"/>
                    <a:pt x="713" y="2075"/>
                  </a:cubicBezTo>
                  <a:cubicBezTo>
                    <a:pt x="709" y="2095"/>
                    <a:pt x="699" y="2141"/>
                    <a:pt x="771" y="2141"/>
                  </a:cubicBezTo>
                  <a:cubicBezTo>
                    <a:pt x="782" y="2141"/>
                    <a:pt x="804" y="2139"/>
                    <a:pt x="828" y="2133"/>
                  </a:cubicBezTo>
                  <a:cubicBezTo>
                    <a:pt x="838" y="2086"/>
                    <a:pt x="838" y="2086"/>
                    <a:pt x="838" y="2086"/>
                  </a:cubicBezTo>
                  <a:cubicBezTo>
                    <a:pt x="829" y="2087"/>
                    <a:pt x="824" y="2088"/>
                    <a:pt x="813" y="2088"/>
                  </a:cubicBezTo>
                  <a:cubicBezTo>
                    <a:pt x="781" y="2088"/>
                    <a:pt x="785" y="2074"/>
                    <a:pt x="788" y="2052"/>
                  </a:cubicBezTo>
                  <a:lnTo>
                    <a:pt x="812" y="1942"/>
                  </a:lnTo>
                  <a:close/>
                  <a:moveTo>
                    <a:pt x="916" y="1893"/>
                  </a:moveTo>
                  <a:cubicBezTo>
                    <a:pt x="987" y="1893"/>
                    <a:pt x="987" y="1893"/>
                    <a:pt x="987" y="1893"/>
                  </a:cubicBezTo>
                  <a:cubicBezTo>
                    <a:pt x="935" y="2136"/>
                    <a:pt x="935" y="2136"/>
                    <a:pt x="935" y="2136"/>
                  </a:cubicBezTo>
                  <a:cubicBezTo>
                    <a:pt x="864" y="2136"/>
                    <a:pt x="864" y="2136"/>
                    <a:pt x="864" y="2136"/>
                  </a:cubicBezTo>
                  <a:lnTo>
                    <a:pt x="916" y="1893"/>
                  </a:lnTo>
                  <a:close/>
                  <a:moveTo>
                    <a:pt x="935" y="1790"/>
                  </a:moveTo>
                  <a:cubicBezTo>
                    <a:pt x="1011" y="1790"/>
                    <a:pt x="1011" y="1790"/>
                    <a:pt x="1011" y="1790"/>
                  </a:cubicBezTo>
                  <a:cubicBezTo>
                    <a:pt x="998" y="1851"/>
                    <a:pt x="998" y="1851"/>
                    <a:pt x="998" y="1851"/>
                  </a:cubicBezTo>
                  <a:cubicBezTo>
                    <a:pt x="922" y="1851"/>
                    <a:pt x="922" y="1851"/>
                    <a:pt x="922" y="1851"/>
                  </a:cubicBezTo>
                  <a:lnTo>
                    <a:pt x="935" y="1790"/>
                  </a:lnTo>
                  <a:close/>
                  <a:moveTo>
                    <a:pt x="1034" y="1937"/>
                  </a:moveTo>
                  <a:cubicBezTo>
                    <a:pt x="1034" y="1936"/>
                    <a:pt x="1040" y="1909"/>
                    <a:pt x="1042" y="1893"/>
                  </a:cubicBezTo>
                  <a:cubicBezTo>
                    <a:pt x="1110" y="1893"/>
                    <a:pt x="1110" y="1893"/>
                    <a:pt x="1110" y="1893"/>
                  </a:cubicBezTo>
                  <a:cubicBezTo>
                    <a:pt x="1104" y="1929"/>
                    <a:pt x="1104" y="1929"/>
                    <a:pt x="1104" y="1929"/>
                  </a:cubicBezTo>
                  <a:cubicBezTo>
                    <a:pt x="1113" y="1918"/>
                    <a:pt x="1139" y="1887"/>
                    <a:pt x="1192" y="1887"/>
                  </a:cubicBezTo>
                  <a:cubicBezTo>
                    <a:pt x="1239" y="1887"/>
                    <a:pt x="1254" y="1916"/>
                    <a:pt x="1256" y="1933"/>
                  </a:cubicBezTo>
                  <a:cubicBezTo>
                    <a:pt x="1259" y="1948"/>
                    <a:pt x="1257" y="1960"/>
                    <a:pt x="1248" y="2005"/>
                  </a:cubicBezTo>
                  <a:cubicBezTo>
                    <a:pt x="1220" y="2136"/>
                    <a:pt x="1220" y="2136"/>
                    <a:pt x="1220" y="2136"/>
                  </a:cubicBezTo>
                  <a:cubicBezTo>
                    <a:pt x="1147" y="2136"/>
                    <a:pt x="1147" y="2136"/>
                    <a:pt x="1147" y="2136"/>
                  </a:cubicBezTo>
                  <a:cubicBezTo>
                    <a:pt x="1179" y="1985"/>
                    <a:pt x="1179" y="1985"/>
                    <a:pt x="1179" y="1985"/>
                  </a:cubicBezTo>
                  <a:cubicBezTo>
                    <a:pt x="1181" y="1975"/>
                    <a:pt x="1183" y="1967"/>
                    <a:pt x="1181" y="1959"/>
                  </a:cubicBezTo>
                  <a:cubicBezTo>
                    <a:pt x="1178" y="1949"/>
                    <a:pt x="1169" y="1938"/>
                    <a:pt x="1151" y="1938"/>
                  </a:cubicBezTo>
                  <a:cubicBezTo>
                    <a:pt x="1136" y="1938"/>
                    <a:pt x="1120" y="1946"/>
                    <a:pt x="1110" y="1957"/>
                  </a:cubicBezTo>
                  <a:cubicBezTo>
                    <a:pt x="1104" y="1963"/>
                    <a:pt x="1097" y="1975"/>
                    <a:pt x="1093" y="1994"/>
                  </a:cubicBezTo>
                  <a:cubicBezTo>
                    <a:pt x="1063" y="2136"/>
                    <a:pt x="1063" y="2136"/>
                    <a:pt x="1063" y="2136"/>
                  </a:cubicBezTo>
                  <a:cubicBezTo>
                    <a:pt x="992" y="2136"/>
                    <a:pt x="992" y="2136"/>
                    <a:pt x="992" y="2136"/>
                  </a:cubicBezTo>
                  <a:lnTo>
                    <a:pt x="1034" y="1937"/>
                  </a:lnTo>
                  <a:close/>
                  <a:moveTo>
                    <a:pt x="1558" y="1895"/>
                  </a:moveTo>
                  <a:cubicBezTo>
                    <a:pt x="1552" y="1914"/>
                    <a:pt x="1547" y="1930"/>
                    <a:pt x="1542" y="1955"/>
                  </a:cubicBezTo>
                  <a:cubicBezTo>
                    <a:pt x="1504" y="2134"/>
                    <a:pt x="1504" y="2134"/>
                    <a:pt x="1504" y="2134"/>
                  </a:cubicBezTo>
                  <a:cubicBezTo>
                    <a:pt x="1486" y="2223"/>
                    <a:pt x="1409" y="2232"/>
                    <a:pt x="1363" y="2232"/>
                  </a:cubicBezTo>
                  <a:cubicBezTo>
                    <a:pt x="1328" y="2232"/>
                    <a:pt x="1261" y="2228"/>
                    <a:pt x="1272" y="2154"/>
                  </a:cubicBezTo>
                  <a:cubicBezTo>
                    <a:pt x="1340" y="2154"/>
                    <a:pt x="1340" y="2154"/>
                    <a:pt x="1340" y="2154"/>
                  </a:cubicBezTo>
                  <a:cubicBezTo>
                    <a:pt x="1340" y="2158"/>
                    <a:pt x="1339" y="2166"/>
                    <a:pt x="1344" y="2174"/>
                  </a:cubicBezTo>
                  <a:cubicBezTo>
                    <a:pt x="1348" y="2181"/>
                    <a:pt x="1357" y="2188"/>
                    <a:pt x="1375" y="2188"/>
                  </a:cubicBezTo>
                  <a:cubicBezTo>
                    <a:pt x="1397" y="2188"/>
                    <a:pt x="1417" y="2178"/>
                    <a:pt x="1427" y="2156"/>
                  </a:cubicBezTo>
                  <a:cubicBezTo>
                    <a:pt x="1432" y="2144"/>
                    <a:pt x="1434" y="2135"/>
                    <a:pt x="1442" y="2099"/>
                  </a:cubicBezTo>
                  <a:cubicBezTo>
                    <a:pt x="1413" y="2128"/>
                    <a:pt x="1387" y="2132"/>
                    <a:pt x="1370" y="2132"/>
                  </a:cubicBezTo>
                  <a:cubicBezTo>
                    <a:pt x="1300" y="2132"/>
                    <a:pt x="1280" y="2071"/>
                    <a:pt x="1293" y="2012"/>
                  </a:cubicBezTo>
                  <a:cubicBezTo>
                    <a:pt x="1306" y="1951"/>
                    <a:pt x="1352" y="1892"/>
                    <a:pt x="1422" y="1892"/>
                  </a:cubicBezTo>
                  <a:cubicBezTo>
                    <a:pt x="1466" y="1892"/>
                    <a:pt x="1477" y="1916"/>
                    <a:pt x="1482" y="1927"/>
                  </a:cubicBezTo>
                  <a:cubicBezTo>
                    <a:pt x="1492" y="1895"/>
                    <a:pt x="1492" y="1895"/>
                    <a:pt x="1492" y="1895"/>
                  </a:cubicBezTo>
                  <a:lnTo>
                    <a:pt x="1558" y="1895"/>
                  </a:lnTo>
                  <a:close/>
                  <a:moveTo>
                    <a:pt x="1397" y="2083"/>
                  </a:moveTo>
                  <a:cubicBezTo>
                    <a:pt x="1447" y="2083"/>
                    <a:pt x="1459" y="2025"/>
                    <a:pt x="1461" y="2014"/>
                  </a:cubicBezTo>
                  <a:cubicBezTo>
                    <a:pt x="1467" y="1986"/>
                    <a:pt x="1472" y="1940"/>
                    <a:pt x="1428" y="1940"/>
                  </a:cubicBezTo>
                  <a:cubicBezTo>
                    <a:pt x="1401" y="1940"/>
                    <a:pt x="1375" y="1960"/>
                    <a:pt x="1364" y="2012"/>
                  </a:cubicBezTo>
                  <a:cubicBezTo>
                    <a:pt x="1362" y="2025"/>
                    <a:pt x="1349" y="2083"/>
                    <a:pt x="1397" y="2083"/>
                  </a:cubicBezTo>
                  <a:moveTo>
                    <a:pt x="1842" y="2133"/>
                  </a:moveTo>
                  <a:cubicBezTo>
                    <a:pt x="1818" y="2139"/>
                    <a:pt x="1797" y="2141"/>
                    <a:pt x="1786" y="2141"/>
                  </a:cubicBezTo>
                  <a:cubicBezTo>
                    <a:pt x="1714" y="2141"/>
                    <a:pt x="1723" y="2095"/>
                    <a:pt x="1728" y="2075"/>
                  </a:cubicBezTo>
                  <a:cubicBezTo>
                    <a:pt x="1756" y="1942"/>
                    <a:pt x="1756" y="1942"/>
                    <a:pt x="1756" y="1942"/>
                  </a:cubicBezTo>
                  <a:cubicBezTo>
                    <a:pt x="1710" y="1942"/>
                    <a:pt x="1710" y="1942"/>
                    <a:pt x="1710" y="1942"/>
                  </a:cubicBezTo>
                  <a:cubicBezTo>
                    <a:pt x="1719" y="1895"/>
                    <a:pt x="1719" y="1895"/>
                    <a:pt x="1719" y="1895"/>
                  </a:cubicBezTo>
                  <a:cubicBezTo>
                    <a:pt x="1766" y="1895"/>
                    <a:pt x="1766" y="1895"/>
                    <a:pt x="1766" y="1895"/>
                  </a:cubicBezTo>
                  <a:cubicBezTo>
                    <a:pt x="1776" y="1848"/>
                    <a:pt x="1776" y="1848"/>
                    <a:pt x="1776" y="1848"/>
                  </a:cubicBezTo>
                  <a:cubicBezTo>
                    <a:pt x="1852" y="1822"/>
                    <a:pt x="1852" y="1822"/>
                    <a:pt x="1852" y="1822"/>
                  </a:cubicBezTo>
                  <a:cubicBezTo>
                    <a:pt x="1837" y="1895"/>
                    <a:pt x="1837" y="1895"/>
                    <a:pt x="1837" y="1895"/>
                  </a:cubicBezTo>
                  <a:cubicBezTo>
                    <a:pt x="1895" y="1895"/>
                    <a:pt x="1895" y="1895"/>
                    <a:pt x="1895" y="1895"/>
                  </a:cubicBezTo>
                  <a:cubicBezTo>
                    <a:pt x="1884" y="1942"/>
                    <a:pt x="1884" y="1942"/>
                    <a:pt x="1884" y="1942"/>
                  </a:cubicBezTo>
                  <a:cubicBezTo>
                    <a:pt x="1827" y="1942"/>
                    <a:pt x="1827" y="1942"/>
                    <a:pt x="1827" y="1942"/>
                  </a:cubicBezTo>
                  <a:cubicBezTo>
                    <a:pt x="1803" y="2052"/>
                    <a:pt x="1803" y="2052"/>
                    <a:pt x="1803" y="2052"/>
                  </a:cubicBezTo>
                  <a:cubicBezTo>
                    <a:pt x="1799" y="2074"/>
                    <a:pt x="1796" y="2088"/>
                    <a:pt x="1828" y="2088"/>
                  </a:cubicBezTo>
                  <a:cubicBezTo>
                    <a:pt x="1838" y="2088"/>
                    <a:pt x="1844" y="2087"/>
                    <a:pt x="1852" y="2086"/>
                  </a:cubicBezTo>
                  <a:lnTo>
                    <a:pt x="1842" y="2133"/>
                  </a:lnTo>
                  <a:close/>
                  <a:moveTo>
                    <a:pt x="1954" y="1790"/>
                  </a:moveTo>
                  <a:cubicBezTo>
                    <a:pt x="2025" y="1790"/>
                    <a:pt x="2025" y="1790"/>
                    <a:pt x="2025" y="1790"/>
                  </a:cubicBezTo>
                  <a:cubicBezTo>
                    <a:pt x="1996" y="1927"/>
                    <a:pt x="1996" y="1927"/>
                    <a:pt x="1996" y="1927"/>
                  </a:cubicBezTo>
                  <a:cubicBezTo>
                    <a:pt x="2007" y="1915"/>
                    <a:pt x="2030" y="1890"/>
                    <a:pt x="2074" y="1890"/>
                  </a:cubicBezTo>
                  <a:cubicBezTo>
                    <a:pt x="2110" y="1890"/>
                    <a:pt x="2129" y="1908"/>
                    <a:pt x="2137" y="1923"/>
                  </a:cubicBezTo>
                  <a:cubicBezTo>
                    <a:pt x="2143" y="1935"/>
                    <a:pt x="2146" y="1957"/>
                    <a:pt x="2139" y="1989"/>
                  </a:cubicBezTo>
                  <a:cubicBezTo>
                    <a:pt x="2108" y="2136"/>
                    <a:pt x="2108" y="2136"/>
                    <a:pt x="2108" y="2136"/>
                  </a:cubicBezTo>
                  <a:cubicBezTo>
                    <a:pt x="2037" y="2136"/>
                    <a:pt x="2037" y="2136"/>
                    <a:pt x="2037" y="2136"/>
                  </a:cubicBezTo>
                  <a:cubicBezTo>
                    <a:pt x="2068" y="1991"/>
                    <a:pt x="2068" y="1991"/>
                    <a:pt x="2068" y="1991"/>
                  </a:cubicBezTo>
                  <a:cubicBezTo>
                    <a:pt x="2071" y="1977"/>
                    <a:pt x="2079" y="1938"/>
                    <a:pt x="2040" y="1938"/>
                  </a:cubicBezTo>
                  <a:cubicBezTo>
                    <a:pt x="2019" y="1938"/>
                    <a:pt x="1991" y="1950"/>
                    <a:pt x="1983" y="1988"/>
                  </a:cubicBezTo>
                  <a:cubicBezTo>
                    <a:pt x="1952" y="2136"/>
                    <a:pt x="1952" y="2136"/>
                    <a:pt x="1952" y="2136"/>
                  </a:cubicBezTo>
                  <a:cubicBezTo>
                    <a:pt x="1881" y="2136"/>
                    <a:pt x="1881" y="2136"/>
                    <a:pt x="1881" y="2136"/>
                  </a:cubicBezTo>
                  <a:lnTo>
                    <a:pt x="1954" y="1790"/>
                  </a:lnTo>
                  <a:close/>
                  <a:moveTo>
                    <a:pt x="2195" y="1953"/>
                  </a:moveTo>
                  <a:cubicBezTo>
                    <a:pt x="2197" y="1942"/>
                    <a:pt x="2203" y="1906"/>
                    <a:pt x="2205" y="1893"/>
                  </a:cubicBezTo>
                  <a:cubicBezTo>
                    <a:pt x="2271" y="1893"/>
                    <a:pt x="2271" y="1893"/>
                    <a:pt x="2271" y="1893"/>
                  </a:cubicBezTo>
                  <a:cubicBezTo>
                    <a:pt x="2263" y="1939"/>
                    <a:pt x="2263" y="1939"/>
                    <a:pt x="2263" y="1939"/>
                  </a:cubicBezTo>
                  <a:cubicBezTo>
                    <a:pt x="2276" y="1919"/>
                    <a:pt x="2298" y="1889"/>
                    <a:pt x="2356" y="1892"/>
                  </a:cubicBezTo>
                  <a:cubicBezTo>
                    <a:pt x="2342" y="1956"/>
                    <a:pt x="2342" y="1956"/>
                    <a:pt x="2342" y="1956"/>
                  </a:cubicBezTo>
                  <a:cubicBezTo>
                    <a:pt x="2271" y="1949"/>
                    <a:pt x="2259" y="1986"/>
                    <a:pt x="2253" y="2017"/>
                  </a:cubicBezTo>
                  <a:cubicBezTo>
                    <a:pt x="2227" y="2136"/>
                    <a:pt x="2227" y="2136"/>
                    <a:pt x="2227" y="2136"/>
                  </a:cubicBezTo>
                  <a:cubicBezTo>
                    <a:pt x="2156" y="2136"/>
                    <a:pt x="2156" y="2136"/>
                    <a:pt x="2156" y="2136"/>
                  </a:cubicBezTo>
                  <a:lnTo>
                    <a:pt x="2195" y="1953"/>
                  </a:lnTo>
                  <a:close/>
                  <a:moveTo>
                    <a:pt x="2503" y="1888"/>
                  </a:moveTo>
                  <a:cubicBezTo>
                    <a:pt x="2591" y="1888"/>
                    <a:pt x="2617" y="1948"/>
                    <a:pt x="2602" y="2015"/>
                  </a:cubicBezTo>
                  <a:cubicBezTo>
                    <a:pt x="2587" y="2083"/>
                    <a:pt x="2535" y="2145"/>
                    <a:pt x="2447" y="2145"/>
                  </a:cubicBezTo>
                  <a:cubicBezTo>
                    <a:pt x="2378" y="2145"/>
                    <a:pt x="2332" y="2102"/>
                    <a:pt x="2350" y="2017"/>
                  </a:cubicBezTo>
                  <a:cubicBezTo>
                    <a:pt x="2362" y="1959"/>
                    <a:pt x="2408" y="1888"/>
                    <a:pt x="2503" y="1888"/>
                  </a:cubicBezTo>
                  <a:moveTo>
                    <a:pt x="2460" y="2095"/>
                  </a:moveTo>
                  <a:cubicBezTo>
                    <a:pt x="2491" y="2095"/>
                    <a:pt x="2516" y="2077"/>
                    <a:pt x="2530" y="2012"/>
                  </a:cubicBezTo>
                  <a:cubicBezTo>
                    <a:pt x="2537" y="1980"/>
                    <a:pt x="2540" y="1935"/>
                    <a:pt x="2493" y="1935"/>
                  </a:cubicBezTo>
                  <a:cubicBezTo>
                    <a:pt x="2441" y="1935"/>
                    <a:pt x="2427" y="1995"/>
                    <a:pt x="2423" y="2018"/>
                  </a:cubicBezTo>
                  <a:cubicBezTo>
                    <a:pt x="2411" y="2072"/>
                    <a:pt x="2425" y="2095"/>
                    <a:pt x="2460" y="2095"/>
                  </a:cubicBezTo>
                  <a:moveTo>
                    <a:pt x="2743" y="1894"/>
                  </a:moveTo>
                  <a:cubicBezTo>
                    <a:pt x="2713" y="2038"/>
                    <a:pt x="2713" y="2038"/>
                    <a:pt x="2713" y="2038"/>
                  </a:cubicBezTo>
                  <a:cubicBezTo>
                    <a:pt x="2708" y="2060"/>
                    <a:pt x="2701" y="2092"/>
                    <a:pt x="2740" y="2092"/>
                  </a:cubicBezTo>
                  <a:cubicBezTo>
                    <a:pt x="2785" y="2092"/>
                    <a:pt x="2792" y="2058"/>
                    <a:pt x="2801" y="2016"/>
                  </a:cubicBezTo>
                  <a:cubicBezTo>
                    <a:pt x="2827" y="1894"/>
                    <a:pt x="2827" y="1894"/>
                    <a:pt x="2827" y="1894"/>
                  </a:cubicBezTo>
                  <a:cubicBezTo>
                    <a:pt x="2900" y="1894"/>
                    <a:pt x="2900" y="1894"/>
                    <a:pt x="2900" y="1894"/>
                  </a:cubicBezTo>
                  <a:cubicBezTo>
                    <a:pt x="2867" y="2053"/>
                    <a:pt x="2867" y="2053"/>
                    <a:pt x="2867" y="2053"/>
                  </a:cubicBezTo>
                  <a:cubicBezTo>
                    <a:pt x="2856" y="2106"/>
                    <a:pt x="2855" y="2112"/>
                    <a:pt x="2854" y="2118"/>
                  </a:cubicBezTo>
                  <a:cubicBezTo>
                    <a:pt x="2853" y="2125"/>
                    <a:pt x="2852" y="2130"/>
                    <a:pt x="2852" y="2136"/>
                  </a:cubicBezTo>
                  <a:cubicBezTo>
                    <a:pt x="2783" y="2136"/>
                    <a:pt x="2783" y="2136"/>
                    <a:pt x="2783" y="2136"/>
                  </a:cubicBezTo>
                  <a:cubicBezTo>
                    <a:pt x="2787" y="2104"/>
                    <a:pt x="2787" y="2104"/>
                    <a:pt x="2787" y="2104"/>
                  </a:cubicBezTo>
                  <a:cubicBezTo>
                    <a:pt x="2778" y="2115"/>
                    <a:pt x="2753" y="2143"/>
                    <a:pt x="2707" y="2143"/>
                  </a:cubicBezTo>
                  <a:cubicBezTo>
                    <a:pt x="2675" y="2143"/>
                    <a:pt x="2651" y="2128"/>
                    <a:pt x="2641" y="2110"/>
                  </a:cubicBezTo>
                  <a:cubicBezTo>
                    <a:pt x="2630" y="2090"/>
                    <a:pt x="2637" y="2056"/>
                    <a:pt x="2639" y="2045"/>
                  </a:cubicBezTo>
                  <a:cubicBezTo>
                    <a:pt x="2671" y="1894"/>
                    <a:pt x="2671" y="1894"/>
                    <a:pt x="2671" y="1894"/>
                  </a:cubicBezTo>
                  <a:lnTo>
                    <a:pt x="2743" y="1894"/>
                  </a:lnTo>
                  <a:close/>
                  <a:moveTo>
                    <a:pt x="3181" y="1895"/>
                  </a:moveTo>
                  <a:cubicBezTo>
                    <a:pt x="3175" y="1914"/>
                    <a:pt x="3170" y="1930"/>
                    <a:pt x="3164" y="1955"/>
                  </a:cubicBezTo>
                  <a:cubicBezTo>
                    <a:pt x="3126" y="2134"/>
                    <a:pt x="3126" y="2134"/>
                    <a:pt x="3126" y="2134"/>
                  </a:cubicBezTo>
                  <a:cubicBezTo>
                    <a:pt x="3108" y="2223"/>
                    <a:pt x="3031" y="2232"/>
                    <a:pt x="2985" y="2232"/>
                  </a:cubicBezTo>
                  <a:cubicBezTo>
                    <a:pt x="2950" y="2232"/>
                    <a:pt x="2883" y="2228"/>
                    <a:pt x="2894" y="2154"/>
                  </a:cubicBezTo>
                  <a:cubicBezTo>
                    <a:pt x="2962" y="2154"/>
                    <a:pt x="2962" y="2154"/>
                    <a:pt x="2962" y="2154"/>
                  </a:cubicBezTo>
                  <a:cubicBezTo>
                    <a:pt x="2962" y="2158"/>
                    <a:pt x="2962" y="2166"/>
                    <a:pt x="2966" y="2174"/>
                  </a:cubicBezTo>
                  <a:cubicBezTo>
                    <a:pt x="2970" y="2181"/>
                    <a:pt x="2979" y="2188"/>
                    <a:pt x="2998" y="2188"/>
                  </a:cubicBezTo>
                  <a:cubicBezTo>
                    <a:pt x="3019" y="2188"/>
                    <a:pt x="3040" y="2178"/>
                    <a:pt x="3049" y="2156"/>
                  </a:cubicBezTo>
                  <a:cubicBezTo>
                    <a:pt x="3054" y="2144"/>
                    <a:pt x="3056" y="2135"/>
                    <a:pt x="3064" y="2099"/>
                  </a:cubicBezTo>
                  <a:cubicBezTo>
                    <a:pt x="3036" y="2128"/>
                    <a:pt x="3009" y="2132"/>
                    <a:pt x="2992" y="2132"/>
                  </a:cubicBezTo>
                  <a:cubicBezTo>
                    <a:pt x="2922" y="2132"/>
                    <a:pt x="2903" y="2071"/>
                    <a:pt x="2915" y="2012"/>
                  </a:cubicBezTo>
                  <a:cubicBezTo>
                    <a:pt x="2928" y="1951"/>
                    <a:pt x="2974" y="1892"/>
                    <a:pt x="3044" y="1892"/>
                  </a:cubicBezTo>
                  <a:cubicBezTo>
                    <a:pt x="3088" y="1892"/>
                    <a:pt x="3099" y="1916"/>
                    <a:pt x="3105" y="1927"/>
                  </a:cubicBezTo>
                  <a:cubicBezTo>
                    <a:pt x="3114" y="1895"/>
                    <a:pt x="3114" y="1895"/>
                    <a:pt x="3114" y="1895"/>
                  </a:cubicBezTo>
                  <a:lnTo>
                    <a:pt x="3181" y="1895"/>
                  </a:lnTo>
                  <a:close/>
                  <a:moveTo>
                    <a:pt x="3019" y="2083"/>
                  </a:moveTo>
                  <a:cubicBezTo>
                    <a:pt x="3069" y="2083"/>
                    <a:pt x="3081" y="2025"/>
                    <a:pt x="3083" y="2014"/>
                  </a:cubicBezTo>
                  <a:cubicBezTo>
                    <a:pt x="3089" y="1986"/>
                    <a:pt x="3094" y="1940"/>
                    <a:pt x="3051" y="1940"/>
                  </a:cubicBezTo>
                  <a:cubicBezTo>
                    <a:pt x="3024" y="1940"/>
                    <a:pt x="2997" y="1960"/>
                    <a:pt x="2986" y="2012"/>
                  </a:cubicBezTo>
                  <a:cubicBezTo>
                    <a:pt x="2984" y="2025"/>
                    <a:pt x="2971" y="2083"/>
                    <a:pt x="3019" y="2083"/>
                  </a:cubicBezTo>
                  <a:moveTo>
                    <a:pt x="3257" y="1790"/>
                  </a:moveTo>
                  <a:cubicBezTo>
                    <a:pt x="3327" y="1790"/>
                    <a:pt x="3327" y="1790"/>
                    <a:pt x="3327" y="1790"/>
                  </a:cubicBezTo>
                  <a:cubicBezTo>
                    <a:pt x="3298" y="1927"/>
                    <a:pt x="3298" y="1927"/>
                    <a:pt x="3298" y="1927"/>
                  </a:cubicBezTo>
                  <a:cubicBezTo>
                    <a:pt x="3309" y="1915"/>
                    <a:pt x="3332" y="1890"/>
                    <a:pt x="3376" y="1890"/>
                  </a:cubicBezTo>
                  <a:cubicBezTo>
                    <a:pt x="3412" y="1890"/>
                    <a:pt x="3431" y="1908"/>
                    <a:pt x="3440" y="1923"/>
                  </a:cubicBezTo>
                  <a:cubicBezTo>
                    <a:pt x="3446" y="1935"/>
                    <a:pt x="3448" y="1957"/>
                    <a:pt x="3441" y="1989"/>
                  </a:cubicBezTo>
                  <a:cubicBezTo>
                    <a:pt x="3410" y="2136"/>
                    <a:pt x="3410" y="2136"/>
                    <a:pt x="3410" y="2136"/>
                  </a:cubicBezTo>
                  <a:cubicBezTo>
                    <a:pt x="3340" y="2136"/>
                    <a:pt x="3340" y="2136"/>
                    <a:pt x="3340" y="2136"/>
                  </a:cubicBezTo>
                  <a:cubicBezTo>
                    <a:pt x="3370" y="1991"/>
                    <a:pt x="3370" y="1991"/>
                    <a:pt x="3370" y="1991"/>
                  </a:cubicBezTo>
                  <a:cubicBezTo>
                    <a:pt x="3373" y="1977"/>
                    <a:pt x="3382" y="1938"/>
                    <a:pt x="3342" y="1938"/>
                  </a:cubicBezTo>
                  <a:cubicBezTo>
                    <a:pt x="3322" y="1938"/>
                    <a:pt x="3293" y="1950"/>
                    <a:pt x="3286" y="1988"/>
                  </a:cubicBezTo>
                  <a:cubicBezTo>
                    <a:pt x="3255" y="2136"/>
                    <a:pt x="3255" y="2136"/>
                    <a:pt x="3255" y="2136"/>
                  </a:cubicBezTo>
                  <a:cubicBezTo>
                    <a:pt x="3183" y="2136"/>
                    <a:pt x="3183" y="2136"/>
                    <a:pt x="3183" y="2136"/>
                  </a:cubicBezTo>
                  <a:lnTo>
                    <a:pt x="3257" y="1790"/>
                  </a:lnTo>
                  <a:close/>
                  <a:moveTo>
                    <a:pt x="158" y="1980"/>
                  </a:moveTo>
                  <a:cubicBezTo>
                    <a:pt x="159" y="1971"/>
                    <a:pt x="164" y="1935"/>
                    <a:pt x="137" y="1935"/>
                  </a:cubicBezTo>
                  <a:cubicBezTo>
                    <a:pt x="103" y="1935"/>
                    <a:pt x="89" y="1986"/>
                    <a:pt x="83" y="2012"/>
                  </a:cubicBezTo>
                  <a:cubicBezTo>
                    <a:pt x="80" y="2026"/>
                    <a:pt x="72" y="2069"/>
                    <a:pt x="85" y="2087"/>
                  </a:cubicBezTo>
                  <a:cubicBezTo>
                    <a:pt x="90" y="2094"/>
                    <a:pt x="97" y="2095"/>
                    <a:pt x="102" y="2095"/>
                  </a:cubicBezTo>
                  <a:cubicBezTo>
                    <a:pt x="109" y="2095"/>
                    <a:pt x="133" y="2092"/>
                    <a:pt x="145" y="2048"/>
                  </a:cubicBezTo>
                  <a:cubicBezTo>
                    <a:pt x="215" y="2048"/>
                    <a:pt x="215" y="2048"/>
                    <a:pt x="215" y="2048"/>
                  </a:cubicBezTo>
                  <a:cubicBezTo>
                    <a:pt x="210" y="2067"/>
                    <a:pt x="201" y="2097"/>
                    <a:pt x="168" y="2120"/>
                  </a:cubicBezTo>
                  <a:cubicBezTo>
                    <a:pt x="148" y="2135"/>
                    <a:pt x="124" y="2143"/>
                    <a:pt x="94" y="2143"/>
                  </a:cubicBezTo>
                  <a:cubicBezTo>
                    <a:pt x="62" y="2143"/>
                    <a:pt x="35" y="2135"/>
                    <a:pt x="18" y="2110"/>
                  </a:cubicBezTo>
                  <a:cubicBezTo>
                    <a:pt x="2" y="2086"/>
                    <a:pt x="0" y="2053"/>
                    <a:pt x="8" y="2015"/>
                  </a:cubicBezTo>
                  <a:cubicBezTo>
                    <a:pt x="32" y="1904"/>
                    <a:pt x="116" y="1889"/>
                    <a:pt x="148" y="1889"/>
                  </a:cubicBezTo>
                  <a:cubicBezTo>
                    <a:pt x="193" y="1889"/>
                    <a:pt x="241" y="1914"/>
                    <a:pt x="228" y="1980"/>
                  </a:cubicBezTo>
                  <a:lnTo>
                    <a:pt x="158" y="1980"/>
                  </a:lnTo>
                  <a:close/>
                  <a:moveTo>
                    <a:pt x="3764" y="1980"/>
                  </a:moveTo>
                  <a:cubicBezTo>
                    <a:pt x="3765" y="1971"/>
                    <a:pt x="3770" y="1935"/>
                    <a:pt x="3742" y="1935"/>
                  </a:cubicBezTo>
                  <a:cubicBezTo>
                    <a:pt x="3709" y="1935"/>
                    <a:pt x="3694" y="1986"/>
                    <a:pt x="3688" y="2012"/>
                  </a:cubicBezTo>
                  <a:cubicBezTo>
                    <a:pt x="3685" y="2026"/>
                    <a:pt x="3678" y="2069"/>
                    <a:pt x="3691" y="2087"/>
                  </a:cubicBezTo>
                  <a:cubicBezTo>
                    <a:pt x="3695" y="2094"/>
                    <a:pt x="3703" y="2095"/>
                    <a:pt x="3708" y="2095"/>
                  </a:cubicBezTo>
                  <a:cubicBezTo>
                    <a:pt x="3715" y="2095"/>
                    <a:pt x="3738" y="2092"/>
                    <a:pt x="3751" y="2048"/>
                  </a:cubicBezTo>
                  <a:cubicBezTo>
                    <a:pt x="3820" y="2048"/>
                    <a:pt x="3820" y="2048"/>
                    <a:pt x="3820" y="2048"/>
                  </a:cubicBezTo>
                  <a:cubicBezTo>
                    <a:pt x="3816" y="2067"/>
                    <a:pt x="3807" y="2097"/>
                    <a:pt x="3774" y="2120"/>
                  </a:cubicBezTo>
                  <a:cubicBezTo>
                    <a:pt x="3754" y="2135"/>
                    <a:pt x="3730" y="2143"/>
                    <a:pt x="3700" y="2143"/>
                  </a:cubicBezTo>
                  <a:cubicBezTo>
                    <a:pt x="3668" y="2143"/>
                    <a:pt x="3641" y="2135"/>
                    <a:pt x="3624" y="2110"/>
                  </a:cubicBezTo>
                  <a:cubicBezTo>
                    <a:pt x="3608" y="2086"/>
                    <a:pt x="3606" y="2053"/>
                    <a:pt x="3614" y="2015"/>
                  </a:cubicBezTo>
                  <a:cubicBezTo>
                    <a:pt x="3638" y="1904"/>
                    <a:pt x="3722" y="1889"/>
                    <a:pt x="3754" y="1889"/>
                  </a:cubicBezTo>
                  <a:cubicBezTo>
                    <a:pt x="3799" y="1889"/>
                    <a:pt x="3847" y="1914"/>
                    <a:pt x="3834" y="1980"/>
                  </a:cubicBezTo>
                  <a:lnTo>
                    <a:pt x="3764" y="1980"/>
                  </a:lnTo>
                  <a:close/>
                  <a:moveTo>
                    <a:pt x="4010" y="1888"/>
                  </a:moveTo>
                  <a:cubicBezTo>
                    <a:pt x="4098" y="1888"/>
                    <a:pt x="4123" y="1948"/>
                    <a:pt x="4109" y="2015"/>
                  </a:cubicBezTo>
                  <a:cubicBezTo>
                    <a:pt x="4094" y="2083"/>
                    <a:pt x="4042" y="2145"/>
                    <a:pt x="3954" y="2145"/>
                  </a:cubicBezTo>
                  <a:cubicBezTo>
                    <a:pt x="3884" y="2145"/>
                    <a:pt x="3839" y="2102"/>
                    <a:pt x="3857" y="2017"/>
                  </a:cubicBezTo>
                  <a:cubicBezTo>
                    <a:pt x="3870" y="1959"/>
                    <a:pt x="3914" y="1888"/>
                    <a:pt x="4010" y="1888"/>
                  </a:cubicBezTo>
                  <a:moveTo>
                    <a:pt x="3967" y="2095"/>
                  </a:moveTo>
                  <a:cubicBezTo>
                    <a:pt x="3998" y="2095"/>
                    <a:pt x="4023" y="2077"/>
                    <a:pt x="4037" y="2012"/>
                  </a:cubicBezTo>
                  <a:cubicBezTo>
                    <a:pt x="4044" y="1980"/>
                    <a:pt x="4047" y="1935"/>
                    <a:pt x="4000" y="1935"/>
                  </a:cubicBezTo>
                  <a:cubicBezTo>
                    <a:pt x="3948" y="1935"/>
                    <a:pt x="3935" y="1995"/>
                    <a:pt x="3930" y="2018"/>
                  </a:cubicBezTo>
                  <a:cubicBezTo>
                    <a:pt x="3918" y="2072"/>
                    <a:pt x="3932" y="2095"/>
                    <a:pt x="3967" y="2095"/>
                  </a:cubicBezTo>
                  <a:moveTo>
                    <a:pt x="4173" y="1939"/>
                  </a:moveTo>
                  <a:cubicBezTo>
                    <a:pt x="4176" y="1924"/>
                    <a:pt x="4178" y="1909"/>
                    <a:pt x="4180" y="1894"/>
                  </a:cubicBezTo>
                  <a:cubicBezTo>
                    <a:pt x="4248" y="1894"/>
                    <a:pt x="4248" y="1894"/>
                    <a:pt x="4248" y="1894"/>
                  </a:cubicBezTo>
                  <a:cubicBezTo>
                    <a:pt x="4245" y="1925"/>
                    <a:pt x="4245" y="1925"/>
                    <a:pt x="4245" y="1925"/>
                  </a:cubicBezTo>
                  <a:cubicBezTo>
                    <a:pt x="4254" y="1915"/>
                    <a:pt x="4279" y="1889"/>
                    <a:pt x="4327" y="1889"/>
                  </a:cubicBezTo>
                  <a:cubicBezTo>
                    <a:pt x="4383" y="1889"/>
                    <a:pt x="4392" y="1923"/>
                    <a:pt x="4394" y="1934"/>
                  </a:cubicBezTo>
                  <a:cubicBezTo>
                    <a:pt x="4423" y="1895"/>
                    <a:pt x="4456" y="1889"/>
                    <a:pt x="4481" y="1889"/>
                  </a:cubicBezTo>
                  <a:cubicBezTo>
                    <a:pt x="4530" y="1889"/>
                    <a:pt x="4544" y="1918"/>
                    <a:pt x="4547" y="1928"/>
                  </a:cubicBezTo>
                  <a:cubicBezTo>
                    <a:pt x="4555" y="1949"/>
                    <a:pt x="4548" y="1978"/>
                    <a:pt x="4544" y="1999"/>
                  </a:cubicBezTo>
                  <a:cubicBezTo>
                    <a:pt x="4515" y="2136"/>
                    <a:pt x="4515" y="2136"/>
                    <a:pt x="4515" y="2136"/>
                  </a:cubicBezTo>
                  <a:cubicBezTo>
                    <a:pt x="4443" y="2136"/>
                    <a:pt x="4443" y="2136"/>
                    <a:pt x="4443" y="2136"/>
                  </a:cubicBezTo>
                  <a:cubicBezTo>
                    <a:pt x="4473" y="1994"/>
                    <a:pt x="4473" y="1994"/>
                    <a:pt x="4473" y="1994"/>
                  </a:cubicBezTo>
                  <a:cubicBezTo>
                    <a:pt x="4479" y="1968"/>
                    <a:pt x="4481" y="1939"/>
                    <a:pt x="4444" y="1939"/>
                  </a:cubicBezTo>
                  <a:cubicBezTo>
                    <a:pt x="4401" y="1939"/>
                    <a:pt x="4392" y="1979"/>
                    <a:pt x="4385" y="2015"/>
                  </a:cubicBezTo>
                  <a:cubicBezTo>
                    <a:pt x="4358" y="2136"/>
                    <a:pt x="4358" y="2136"/>
                    <a:pt x="4358" y="2136"/>
                  </a:cubicBezTo>
                  <a:cubicBezTo>
                    <a:pt x="4286" y="2136"/>
                    <a:pt x="4286" y="2136"/>
                    <a:pt x="4286" y="2136"/>
                  </a:cubicBezTo>
                  <a:cubicBezTo>
                    <a:pt x="4318" y="1992"/>
                    <a:pt x="4318" y="1992"/>
                    <a:pt x="4318" y="1992"/>
                  </a:cubicBezTo>
                  <a:cubicBezTo>
                    <a:pt x="4321" y="1974"/>
                    <a:pt x="4328" y="1939"/>
                    <a:pt x="4289" y="1939"/>
                  </a:cubicBezTo>
                  <a:cubicBezTo>
                    <a:pt x="4244" y="1939"/>
                    <a:pt x="4236" y="1977"/>
                    <a:pt x="4232" y="1994"/>
                  </a:cubicBezTo>
                  <a:cubicBezTo>
                    <a:pt x="4202" y="2136"/>
                    <a:pt x="4202" y="2136"/>
                    <a:pt x="4202" y="2136"/>
                  </a:cubicBezTo>
                  <a:cubicBezTo>
                    <a:pt x="4131" y="2136"/>
                    <a:pt x="4131" y="2136"/>
                    <a:pt x="4131" y="2136"/>
                  </a:cubicBezTo>
                  <a:lnTo>
                    <a:pt x="4173" y="1939"/>
                  </a:lnTo>
                  <a:close/>
                  <a:moveTo>
                    <a:pt x="4694" y="1894"/>
                  </a:moveTo>
                  <a:cubicBezTo>
                    <a:pt x="4689" y="1928"/>
                    <a:pt x="4689" y="1928"/>
                    <a:pt x="4689" y="1928"/>
                  </a:cubicBezTo>
                  <a:cubicBezTo>
                    <a:pt x="4719" y="1889"/>
                    <a:pt x="4759" y="1889"/>
                    <a:pt x="4771" y="1889"/>
                  </a:cubicBezTo>
                  <a:cubicBezTo>
                    <a:pt x="4834" y="1889"/>
                    <a:pt x="4862" y="1936"/>
                    <a:pt x="4846" y="2010"/>
                  </a:cubicBezTo>
                  <a:cubicBezTo>
                    <a:pt x="4832" y="2079"/>
                    <a:pt x="4783" y="2140"/>
                    <a:pt x="4713" y="2140"/>
                  </a:cubicBezTo>
                  <a:cubicBezTo>
                    <a:pt x="4669" y="2140"/>
                    <a:pt x="4656" y="2117"/>
                    <a:pt x="4652" y="2109"/>
                  </a:cubicBezTo>
                  <a:cubicBezTo>
                    <a:pt x="4626" y="2229"/>
                    <a:pt x="4626" y="2229"/>
                    <a:pt x="4626" y="2229"/>
                  </a:cubicBezTo>
                  <a:cubicBezTo>
                    <a:pt x="4554" y="2229"/>
                    <a:pt x="4554" y="2229"/>
                    <a:pt x="4554" y="2229"/>
                  </a:cubicBezTo>
                  <a:cubicBezTo>
                    <a:pt x="4625" y="1894"/>
                    <a:pt x="4625" y="1894"/>
                    <a:pt x="4625" y="1894"/>
                  </a:cubicBezTo>
                  <a:lnTo>
                    <a:pt x="4694" y="1894"/>
                  </a:lnTo>
                  <a:close/>
                  <a:moveTo>
                    <a:pt x="4774" y="2013"/>
                  </a:moveTo>
                  <a:cubicBezTo>
                    <a:pt x="4780" y="1984"/>
                    <a:pt x="4783" y="1935"/>
                    <a:pt x="4741" y="1935"/>
                  </a:cubicBezTo>
                  <a:cubicBezTo>
                    <a:pt x="4718" y="1935"/>
                    <a:pt x="4682" y="1952"/>
                    <a:pt x="4668" y="2017"/>
                  </a:cubicBezTo>
                  <a:cubicBezTo>
                    <a:pt x="4665" y="2031"/>
                    <a:pt x="4652" y="2093"/>
                    <a:pt x="4705" y="2093"/>
                  </a:cubicBezTo>
                  <a:cubicBezTo>
                    <a:pt x="4738" y="2093"/>
                    <a:pt x="4763" y="2061"/>
                    <a:pt x="4774" y="2013"/>
                  </a:cubicBezTo>
                  <a:moveTo>
                    <a:pt x="4936" y="1789"/>
                  </a:moveTo>
                  <a:cubicBezTo>
                    <a:pt x="5007" y="1789"/>
                    <a:pt x="5007" y="1789"/>
                    <a:pt x="5007" y="1789"/>
                  </a:cubicBezTo>
                  <a:cubicBezTo>
                    <a:pt x="4933" y="2136"/>
                    <a:pt x="4933" y="2136"/>
                    <a:pt x="4933" y="2136"/>
                  </a:cubicBezTo>
                  <a:cubicBezTo>
                    <a:pt x="4862" y="2136"/>
                    <a:pt x="4862" y="2136"/>
                    <a:pt x="4862" y="2136"/>
                  </a:cubicBezTo>
                  <a:lnTo>
                    <a:pt x="4936" y="1789"/>
                  </a:lnTo>
                  <a:close/>
                  <a:moveTo>
                    <a:pt x="5068" y="2033"/>
                  </a:moveTo>
                  <a:cubicBezTo>
                    <a:pt x="5064" y="2049"/>
                    <a:pt x="5054" y="2098"/>
                    <a:pt x="5104" y="2098"/>
                  </a:cubicBezTo>
                  <a:cubicBezTo>
                    <a:pt x="5121" y="2098"/>
                    <a:pt x="5140" y="2091"/>
                    <a:pt x="5153" y="2064"/>
                  </a:cubicBezTo>
                  <a:cubicBezTo>
                    <a:pt x="5218" y="2064"/>
                    <a:pt x="5218" y="2064"/>
                    <a:pt x="5218" y="2064"/>
                  </a:cubicBezTo>
                  <a:cubicBezTo>
                    <a:pt x="5214" y="2076"/>
                    <a:pt x="5208" y="2097"/>
                    <a:pt x="5184" y="2117"/>
                  </a:cubicBezTo>
                  <a:cubicBezTo>
                    <a:pt x="5162" y="2136"/>
                    <a:pt x="5128" y="2145"/>
                    <a:pt x="5092" y="2145"/>
                  </a:cubicBezTo>
                  <a:cubicBezTo>
                    <a:pt x="5072" y="2145"/>
                    <a:pt x="5033" y="2142"/>
                    <a:pt x="5013" y="2115"/>
                  </a:cubicBezTo>
                  <a:cubicBezTo>
                    <a:pt x="4996" y="2092"/>
                    <a:pt x="4994" y="2060"/>
                    <a:pt x="5002" y="2021"/>
                  </a:cubicBezTo>
                  <a:cubicBezTo>
                    <a:pt x="5011" y="1981"/>
                    <a:pt x="5030" y="1934"/>
                    <a:pt x="5077" y="1906"/>
                  </a:cubicBezTo>
                  <a:cubicBezTo>
                    <a:pt x="5099" y="1893"/>
                    <a:pt x="5123" y="1886"/>
                    <a:pt x="5150" y="1886"/>
                  </a:cubicBezTo>
                  <a:cubicBezTo>
                    <a:pt x="5184" y="1886"/>
                    <a:pt x="5222" y="1899"/>
                    <a:pt x="5235" y="1944"/>
                  </a:cubicBezTo>
                  <a:cubicBezTo>
                    <a:pt x="5244" y="1977"/>
                    <a:pt x="5236" y="2013"/>
                    <a:pt x="5231" y="2033"/>
                  </a:cubicBezTo>
                  <a:lnTo>
                    <a:pt x="5068" y="2033"/>
                  </a:lnTo>
                  <a:close/>
                  <a:moveTo>
                    <a:pt x="5167" y="1988"/>
                  </a:moveTo>
                  <a:cubicBezTo>
                    <a:pt x="5170" y="1977"/>
                    <a:pt x="5178" y="1934"/>
                    <a:pt x="5137" y="1934"/>
                  </a:cubicBezTo>
                  <a:cubicBezTo>
                    <a:pt x="5105" y="1934"/>
                    <a:pt x="5087" y="1960"/>
                    <a:pt x="5080" y="1988"/>
                  </a:cubicBezTo>
                  <a:lnTo>
                    <a:pt x="5167" y="1988"/>
                  </a:lnTo>
                  <a:close/>
                  <a:moveTo>
                    <a:pt x="5353" y="1894"/>
                  </a:moveTo>
                  <a:cubicBezTo>
                    <a:pt x="5382" y="1973"/>
                    <a:pt x="5382" y="1973"/>
                    <a:pt x="5382" y="1973"/>
                  </a:cubicBezTo>
                  <a:cubicBezTo>
                    <a:pt x="5447" y="1894"/>
                    <a:pt x="5447" y="1894"/>
                    <a:pt x="5447" y="1894"/>
                  </a:cubicBezTo>
                  <a:cubicBezTo>
                    <a:pt x="5520" y="1894"/>
                    <a:pt x="5520" y="1894"/>
                    <a:pt x="5520" y="1894"/>
                  </a:cubicBezTo>
                  <a:cubicBezTo>
                    <a:pt x="5417" y="2012"/>
                    <a:pt x="5417" y="2012"/>
                    <a:pt x="5417" y="2012"/>
                  </a:cubicBezTo>
                  <a:cubicBezTo>
                    <a:pt x="5471" y="2136"/>
                    <a:pt x="5471" y="2136"/>
                    <a:pt x="5471" y="2136"/>
                  </a:cubicBezTo>
                  <a:cubicBezTo>
                    <a:pt x="5388" y="2136"/>
                    <a:pt x="5388" y="2136"/>
                    <a:pt x="5388" y="2136"/>
                  </a:cubicBezTo>
                  <a:cubicBezTo>
                    <a:pt x="5357" y="2047"/>
                    <a:pt x="5357" y="2047"/>
                    <a:pt x="5357" y="2047"/>
                  </a:cubicBezTo>
                  <a:cubicBezTo>
                    <a:pt x="5289" y="2136"/>
                    <a:pt x="5289" y="2136"/>
                    <a:pt x="5289" y="2136"/>
                  </a:cubicBezTo>
                  <a:cubicBezTo>
                    <a:pt x="5214" y="2136"/>
                    <a:pt x="5214" y="2136"/>
                    <a:pt x="5214" y="2136"/>
                  </a:cubicBezTo>
                  <a:cubicBezTo>
                    <a:pt x="5323" y="2006"/>
                    <a:pt x="5323" y="2006"/>
                    <a:pt x="5323" y="2006"/>
                  </a:cubicBezTo>
                  <a:cubicBezTo>
                    <a:pt x="5269" y="1894"/>
                    <a:pt x="5269" y="1894"/>
                    <a:pt x="5269" y="1894"/>
                  </a:cubicBezTo>
                  <a:lnTo>
                    <a:pt x="5353" y="1894"/>
                  </a:lnTo>
                  <a:close/>
                  <a:moveTo>
                    <a:pt x="5553" y="1893"/>
                  </a:moveTo>
                  <a:cubicBezTo>
                    <a:pt x="5625" y="1893"/>
                    <a:pt x="5625" y="1893"/>
                    <a:pt x="5625" y="1893"/>
                  </a:cubicBezTo>
                  <a:cubicBezTo>
                    <a:pt x="5573" y="2136"/>
                    <a:pt x="5573" y="2136"/>
                    <a:pt x="5573" y="2136"/>
                  </a:cubicBezTo>
                  <a:cubicBezTo>
                    <a:pt x="5501" y="2136"/>
                    <a:pt x="5501" y="2136"/>
                    <a:pt x="5501" y="2136"/>
                  </a:cubicBezTo>
                  <a:lnTo>
                    <a:pt x="5553" y="1893"/>
                  </a:lnTo>
                  <a:close/>
                  <a:moveTo>
                    <a:pt x="5573" y="1790"/>
                  </a:moveTo>
                  <a:cubicBezTo>
                    <a:pt x="5648" y="1790"/>
                    <a:pt x="5648" y="1790"/>
                    <a:pt x="5648" y="1790"/>
                  </a:cubicBezTo>
                  <a:cubicBezTo>
                    <a:pt x="5636" y="1851"/>
                    <a:pt x="5636" y="1851"/>
                    <a:pt x="5636" y="1851"/>
                  </a:cubicBezTo>
                  <a:cubicBezTo>
                    <a:pt x="5560" y="1851"/>
                    <a:pt x="5560" y="1851"/>
                    <a:pt x="5560" y="1851"/>
                  </a:cubicBezTo>
                  <a:lnTo>
                    <a:pt x="5573" y="1790"/>
                  </a:lnTo>
                  <a:close/>
                  <a:moveTo>
                    <a:pt x="5775" y="2133"/>
                  </a:moveTo>
                  <a:cubicBezTo>
                    <a:pt x="5752" y="2139"/>
                    <a:pt x="5730" y="2141"/>
                    <a:pt x="5719" y="2141"/>
                  </a:cubicBezTo>
                  <a:cubicBezTo>
                    <a:pt x="5647" y="2141"/>
                    <a:pt x="5657" y="2095"/>
                    <a:pt x="5662" y="2075"/>
                  </a:cubicBezTo>
                  <a:cubicBezTo>
                    <a:pt x="5689" y="1942"/>
                    <a:pt x="5689" y="1942"/>
                    <a:pt x="5689" y="1942"/>
                  </a:cubicBezTo>
                  <a:cubicBezTo>
                    <a:pt x="5643" y="1942"/>
                    <a:pt x="5643" y="1942"/>
                    <a:pt x="5643" y="1942"/>
                  </a:cubicBezTo>
                  <a:cubicBezTo>
                    <a:pt x="5653" y="1895"/>
                    <a:pt x="5653" y="1895"/>
                    <a:pt x="5653" y="1895"/>
                  </a:cubicBezTo>
                  <a:cubicBezTo>
                    <a:pt x="5700" y="1895"/>
                    <a:pt x="5700" y="1895"/>
                    <a:pt x="5700" y="1895"/>
                  </a:cubicBezTo>
                  <a:cubicBezTo>
                    <a:pt x="5710" y="1848"/>
                    <a:pt x="5710" y="1848"/>
                    <a:pt x="5710" y="1848"/>
                  </a:cubicBezTo>
                  <a:cubicBezTo>
                    <a:pt x="5786" y="1822"/>
                    <a:pt x="5786" y="1822"/>
                    <a:pt x="5786" y="1822"/>
                  </a:cubicBezTo>
                  <a:cubicBezTo>
                    <a:pt x="5770" y="1895"/>
                    <a:pt x="5770" y="1895"/>
                    <a:pt x="5770" y="1895"/>
                  </a:cubicBezTo>
                  <a:cubicBezTo>
                    <a:pt x="5828" y="1895"/>
                    <a:pt x="5828" y="1895"/>
                    <a:pt x="5828" y="1895"/>
                  </a:cubicBezTo>
                  <a:cubicBezTo>
                    <a:pt x="5818" y="1942"/>
                    <a:pt x="5818" y="1942"/>
                    <a:pt x="5818" y="1942"/>
                  </a:cubicBezTo>
                  <a:cubicBezTo>
                    <a:pt x="5760" y="1942"/>
                    <a:pt x="5760" y="1942"/>
                    <a:pt x="5760" y="1942"/>
                  </a:cubicBezTo>
                  <a:cubicBezTo>
                    <a:pt x="5736" y="2052"/>
                    <a:pt x="5736" y="2052"/>
                    <a:pt x="5736" y="2052"/>
                  </a:cubicBezTo>
                  <a:cubicBezTo>
                    <a:pt x="5733" y="2074"/>
                    <a:pt x="5729" y="2088"/>
                    <a:pt x="5761" y="2088"/>
                  </a:cubicBezTo>
                  <a:cubicBezTo>
                    <a:pt x="5772" y="2088"/>
                    <a:pt x="5777" y="2087"/>
                    <a:pt x="5786" y="2086"/>
                  </a:cubicBezTo>
                  <a:lnTo>
                    <a:pt x="5775" y="2133"/>
                  </a:lnTo>
                  <a:close/>
                  <a:moveTo>
                    <a:pt x="5921" y="1894"/>
                  </a:moveTo>
                  <a:cubicBezTo>
                    <a:pt x="5939" y="2062"/>
                    <a:pt x="5939" y="2062"/>
                    <a:pt x="5939" y="2062"/>
                  </a:cubicBezTo>
                  <a:cubicBezTo>
                    <a:pt x="6028" y="1894"/>
                    <a:pt x="6028" y="1894"/>
                    <a:pt x="6028" y="1894"/>
                  </a:cubicBezTo>
                  <a:cubicBezTo>
                    <a:pt x="6099" y="1894"/>
                    <a:pt x="6099" y="1894"/>
                    <a:pt x="6099" y="1894"/>
                  </a:cubicBezTo>
                  <a:cubicBezTo>
                    <a:pt x="5957" y="2132"/>
                    <a:pt x="5957" y="2132"/>
                    <a:pt x="5957" y="2132"/>
                  </a:cubicBezTo>
                  <a:cubicBezTo>
                    <a:pt x="5907" y="2229"/>
                    <a:pt x="5907" y="2229"/>
                    <a:pt x="5907" y="2229"/>
                  </a:cubicBezTo>
                  <a:cubicBezTo>
                    <a:pt x="5835" y="2229"/>
                    <a:pt x="5835" y="2229"/>
                    <a:pt x="5835" y="2229"/>
                  </a:cubicBezTo>
                  <a:cubicBezTo>
                    <a:pt x="5886" y="2137"/>
                    <a:pt x="5886" y="2137"/>
                    <a:pt x="5886" y="2137"/>
                  </a:cubicBezTo>
                  <a:cubicBezTo>
                    <a:pt x="5844" y="1894"/>
                    <a:pt x="5844" y="1894"/>
                    <a:pt x="5844" y="1894"/>
                  </a:cubicBezTo>
                  <a:lnTo>
                    <a:pt x="5921" y="1894"/>
                  </a:lnTo>
                  <a:close/>
                </a:path>
              </a:pathLst>
            </a:custGeom>
            <a:grpFill/>
            <a:ln w="9525">
              <a:noFill/>
              <a:round/>
              <a:headEnd/>
              <a:tailEnd/>
            </a:ln>
          </p:spPr>
          <p:txBody>
            <a:bodyPr vert="horz" wrap="square" lIns="91440" tIns="45720" rIns="91440" bIns="45720" numCol="1" anchor="t" anchorCtr="0" compatLnSpc="1">
              <a:prstTxWarp prst="textNoShape">
                <a:avLst/>
              </a:prstTxWarp>
              <a:noAutofit/>
            </a:bodyPr>
            <a:lstStyle/>
            <a:p>
              <a:endParaRPr lang="en-GB" dirty="0"/>
            </a:p>
          </p:txBody>
        </p:sp>
        <p:sp>
          <p:nvSpPr>
            <p:cNvPr id="12" name="Freeform 15"/>
            <p:cNvSpPr>
              <a:spLocks noEditPoints="1"/>
            </p:cNvSpPr>
            <p:nvPr userDrawn="1"/>
          </p:nvSpPr>
          <p:spPr bwMode="auto">
            <a:xfrm>
              <a:off x="-2592388" y="0"/>
              <a:ext cx="2592388" cy="1530350"/>
            </a:xfrm>
            <a:custGeom>
              <a:avLst/>
              <a:gdLst/>
              <a:ahLst/>
              <a:cxnLst>
                <a:cxn ang="0">
                  <a:pos x="176" y="248"/>
                </a:cxn>
                <a:cxn ang="0">
                  <a:pos x="0" y="248"/>
                </a:cxn>
                <a:cxn ang="0">
                  <a:pos x="0" y="0"/>
                </a:cxn>
                <a:cxn ang="0">
                  <a:pos x="176" y="0"/>
                </a:cxn>
                <a:cxn ang="0">
                  <a:pos x="176" y="248"/>
                </a:cxn>
                <a:cxn ang="0">
                  <a:pos x="176" y="716"/>
                </a:cxn>
                <a:cxn ang="0">
                  <a:pos x="0" y="716"/>
                </a:cxn>
                <a:cxn ang="0">
                  <a:pos x="0" y="964"/>
                </a:cxn>
                <a:cxn ang="0">
                  <a:pos x="176" y="964"/>
                </a:cxn>
                <a:cxn ang="0">
                  <a:pos x="176" y="716"/>
                </a:cxn>
                <a:cxn ang="0">
                  <a:pos x="1633" y="0"/>
                </a:cxn>
                <a:cxn ang="0">
                  <a:pos x="1457" y="0"/>
                </a:cxn>
                <a:cxn ang="0">
                  <a:pos x="1457" y="248"/>
                </a:cxn>
                <a:cxn ang="0">
                  <a:pos x="1633" y="248"/>
                </a:cxn>
                <a:cxn ang="0">
                  <a:pos x="1633" y="0"/>
                </a:cxn>
                <a:cxn ang="0">
                  <a:pos x="1633" y="716"/>
                </a:cxn>
                <a:cxn ang="0">
                  <a:pos x="1457" y="716"/>
                </a:cxn>
                <a:cxn ang="0">
                  <a:pos x="1457" y="964"/>
                </a:cxn>
                <a:cxn ang="0">
                  <a:pos x="1633" y="964"/>
                </a:cxn>
                <a:cxn ang="0">
                  <a:pos x="1633" y="716"/>
                </a:cxn>
              </a:cxnLst>
              <a:rect l="0" t="0" r="r" b="b"/>
              <a:pathLst>
                <a:path w="1633" h="964">
                  <a:moveTo>
                    <a:pt x="176" y="248"/>
                  </a:moveTo>
                  <a:lnTo>
                    <a:pt x="0" y="248"/>
                  </a:lnTo>
                  <a:lnTo>
                    <a:pt x="0" y="0"/>
                  </a:lnTo>
                  <a:lnTo>
                    <a:pt x="176" y="0"/>
                  </a:lnTo>
                  <a:lnTo>
                    <a:pt x="176" y="248"/>
                  </a:lnTo>
                  <a:close/>
                  <a:moveTo>
                    <a:pt x="176" y="716"/>
                  </a:moveTo>
                  <a:lnTo>
                    <a:pt x="0" y="716"/>
                  </a:lnTo>
                  <a:lnTo>
                    <a:pt x="0" y="964"/>
                  </a:lnTo>
                  <a:lnTo>
                    <a:pt x="176" y="964"/>
                  </a:lnTo>
                  <a:lnTo>
                    <a:pt x="176" y="716"/>
                  </a:lnTo>
                  <a:close/>
                  <a:moveTo>
                    <a:pt x="1633" y="0"/>
                  </a:moveTo>
                  <a:lnTo>
                    <a:pt x="1457" y="0"/>
                  </a:lnTo>
                  <a:lnTo>
                    <a:pt x="1457" y="248"/>
                  </a:lnTo>
                  <a:lnTo>
                    <a:pt x="1633" y="248"/>
                  </a:lnTo>
                  <a:lnTo>
                    <a:pt x="1633" y="0"/>
                  </a:lnTo>
                  <a:close/>
                  <a:moveTo>
                    <a:pt x="1633" y="716"/>
                  </a:moveTo>
                  <a:lnTo>
                    <a:pt x="1457" y="716"/>
                  </a:lnTo>
                  <a:lnTo>
                    <a:pt x="1457" y="964"/>
                  </a:lnTo>
                  <a:lnTo>
                    <a:pt x="1633" y="964"/>
                  </a:lnTo>
                  <a:lnTo>
                    <a:pt x="1633" y="716"/>
                  </a:ln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en-GB" dirty="0"/>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5161" name="Freeform 41"/>
          <p:cNvSpPr>
            <a:spLocks noChangeAspect="1"/>
          </p:cNvSpPr>
          <p:nvPr userDrawn="1"/>
        </p:nvSpPr>
        <p:spPr bwMode="gray">
          <a:xfrm>
            <a:off x="0" y="0"/>
            <a:ext cx="5224463" cy="5591175"/>
          </a:xfrm>
          <a:custGeom>
            <a:avLst/>
            <a:gdLst/>
            <a:ahLst/>
            <a:cxnLst>
              <a:cxn ang="0">
                <a:pos x="0" y="0"/>
              </a:cxn>
              <a:cxn ang="0">
                <a:pos x="0" y="3522"/>
              </a:cxn>
              <a:cxn ang="0">
                <a:pos x="2247" y="3522"/>
              </a:cxn>
              <a:cxn ang="0">
                <a:pos x="3291" y="0"/>
              </a:cxn>
              <a:cxn ang="0">
                <a:pos x="0" y="0"/>
              </a:cxn>
            </a:cxnLst>
            <a:rect l="0" t="0" r="r" b="b"/>
            <a:pathLst>
              <a:path w="3291" h="3522">
                <a:moveTo>
                  <a:pt x="0" y="0"/>
                </a:moveTo>
                <a:lnTo>
                  <a:pt x="0" y="3522"/>
                </a:lnTo>
                <a:lnTo>
                  <a:pt x="2247" y="3522"/>
                </a:lnTo>
                <a:lnTo>
                  <a:pt x="3291" y="0"/>
                </a:lnTo>
                <a:lnTo>
                  <a:pt x="0" y="0"/>
                </a:lnTo>
                <a:close/>
              </a:path>
            </a:pathLst>
          </a:custGeom>
          <a:gradFill flip="none" rotWithShape="1">
            <a:gsLst>
              <a:gs pos="0">
                <a:srgbClr val="00257A">
                  <a:alpha val="90000"/>
                </a:srgbClr>
              </a:gs>
              <a:gs pos="35000">
                <a:srgbClr val="00338D">
                  <a:alpha val="90000"/>
                </a:srgbClr>
              </a:gs>
              <a:gs pos="100000">
                <a:srgbClr val="009FDA">
                  <a:alpha val="90000"/>
                </a:srgbClr>
              </a:gs>
            </a:gsLst>
            <a:lin ang="0" scaled="1"/>
            <a:tileRect/>
          </a:gradFill>
          <a:ln w="9525" cap="flat" cmpd="sng">
            <a:noFill/>
            <a:prstDash val="solid"/>
            <a:round/>
            <a:headEnd type="none" w="med" len="med"/>
            <a:tailEnd type="none" w="med" len="med"/>
          </a:ln>
          <a:effectLst/>
        </p:spPr>
        <p:txBody>
          <a:bodyPr>
            <a:noAutofit/>
          </a:bodyPr>
          <a:lstStyle/>
          <a:p>
            <a:pPr marL="0" algn="l" defTabSz="914400" rtl="0" eaLnBrk="1" latinLnBrk="0" hangingPunct="1">
              <a:spcBef>
                <a:spcPct val="50000"/>
              </a:spcBef>
              <a:defRPr/>
            </a:pPr>
            <a:endParaRPr lang="en-GB" sz="1800" kern="1200" dirty="0">
              <a:solidFill>
                <a:schemeClr val="tx1"/>
              </a:solidFill>
              <a:latin typeface="+mn-lt"/>
              <a:ea typeface="+mn-ea"/>
              <a:cs typeface="+mn-cs"/>
            </a:endParaRPr>
          </a:p>
        </p:txBody>
      </p:sp>
      <p:sp>
        <p:nvSpPr>
          <p:cNvPr id="6" name="Title 9"/>
          <p:cNvSpPr>
            <a:spLocks noGrp="1"/>
          </p:cNvSpPr>
          <p:nvPr>
            <p:ph type="title"/>
          </p:nvPr>
        </p:nvSpPr>
        <p:spPr bwMode="gray">
          <a:xfrm>
            <a:off x="323527" y="1484784"/>
            <a:ext cx="3816425" cy="2088232"/>
          </a:xfrm>
          <a:noFill/>
          <a:ln w="9525">
            <a:noFill/>
            <a:miter lim="800000"/>
            <a:headEnd/>
            <a:tailEnd/>
          </a:ln>
        </p:spPr>
        <p:txBody>
          <a:bodyPr vert="horz" wrap="square" lIns="0" tIns="0" rIns="0" bIns="0" numCol="1" anchor="t" anchorCtr="0" compatLnSpc="1">
            <a:prstTxWarp prst="textNoShape">
              <a:avLst/>
            </a:prstTxWarp>
            <a:noAutofit/>
          </a:bodyPr>
          <a:lstStyle>
            <a:lvl1pPr algn="l" rtl="0" eaLnBrk="1" fontAlgn="base" hangingPunct="1">
              <a:spcBef>
                <a:spcPct val="40000"/>
              </a:spcBef>
              <a:spcAft>
                <a:spcPct val="0"/>
              </a:spcAft>
              <a:defRPr lang="en-GB" sz="3000" b="1" dirty="0" smtClean="0">
                <a:solidFill>
                  <a:schemeClr val="bg1"/>
                </a:solidFill>
                <a:latin typeface="+mj-lt"/>
                <a:ea typeface="+mj-ea"/>
                <a:cs typeface="+mj-cs"/>
              </a:defRPr>
            </a:lvl1pPr>
            <a:lvl2pPr>
              <a:defRPr lang="en-GB" sz="3000" b="1" dirty="0">
                <a:solidFill>
                  <a:schemeClr val="bg1"/>
                </a:solidFill>
                <a:latin typeface="+mj-lt"/>
              </a:defRPr>
            </a:lvl2pPr>
            <a:lvl3pPr>
              <a:defRPr lang="en-GB" sz="3000" b="1" dirty="0">
                <a:solidFill>
                  <a:schemeClr val="bg1"/>
                </a:solidFill>
                <a:latin typeface="+mj-lt"/>
              </a:defRPr>
            </a:lvl3pPr>
            <a:lvl4pPr>
              <a:defRPr lang="en-GB" sz="3000" b="1" dirty="0">
                <a:solidFill>
                  <a:schemeClr val="bg1"/>
                </a:solidFill>
                <a:latin typeface="+mj-lt"/>
              </a:defRPr>
            </a:lvl4pPr>
            <a:lvl5pPr>
              <a:defRPr lang="en-GB" sz="3000" b="1" dirty="0">
                <a:solidFill>
                  <a:schemeClr val="bg1"/>
                </a:solidFill>
                <a:latin typeface="+mj-lt"/>
              </a:defRPr>
            </a:lvl5pPr>
            <a:lvl6pPr>
              <a:defRPr lang="en-GB" sz="3000" b="1" dirty="0">
                <a:solidFill>
                  <a:schemeClr val="bg1"/>
                </a:solidFill>
                <a:latin typeface="+mj-lt"/>
              </a:defRPr>
            </a:lvl6pPr>
            <a:lvl7pPr>
              <a:defRPr lang="en-GB" sz="3000" b="1" dirty="0">
                <a:solidFill>
                  <a:schemeClr val="bg1"/>
                </a:solidFill>
                <a:latin typeface="+mj-lt"/>
              </a:defRPr>
            </a:lvl7pPr>
            <a:lvl8pPr>
              <a:defRPr lang="en-GB" sz="3000" b="1" dirty="0">
                <a:solidFill>
                  <a:schemeClr val="bg1"/>
                </a:solidFill>
                <a:latin typeface="+mj-lt"/>
              </a:defRPr>
            </a:lvl8pPr>
            <a:lvl9pPr>
              <a:defRPr sz="3000">
                <a:solidFill>
                  <a:schemeClr val="bg1"/>
                </a:solidFill>
              </a:defRPr>
            </a:lvl9pPr>
          </a:lstStyle>
          <a:p>
            <a:pPr lvl="0"/>
            <a:r>
              <a:rPr lang="en-US" smtClean="0"/>
              <a:t>Click to edit Master title style</a:t>
            </a:r>
            <a:endParaRPr lang="en-GB" dirty="0"/>
          </a:p>
        </p:txBody>
      </p:sp>
      <p:sp>
        <p:nvSpPr>
          <p:cNvPr id="7" name="Text Placeholder 16"/>
          <p:cNvSpPr>
            <a:spLocks noGrp="1"/>
          </p:cNvSpPr>
          <p:nvPr>
            <p:ph type="body" sz="quarter" idx="10"/>
          </p:nvPr>
        </p:nvSpPr>
        <p:spPr bwMode="gray">
          <a:xfrm>
            <a:off x="323528" y="3789363"/>
            <a:ext cx="3456384" cy="1079500"/>
          </a:xfrm>
          <a:noFill/>
          <a:ln w="9525">
            <a:noFill/>
            <a:miter lim="800000"/>
            <a:headEnd/>
            <a:tailEnd/>
          </a:ln>
        </p:spPr>
        <p:txBody>
          <a:bodyPr vert="horz" wrap="square" lIns="0" tIns="0" rIns="0" bIns="0" numCol="1" anchor="t" anchorCtr="0" compatLnSpc="1">
            <a:prstTxWarp prst="textNoShape">
              <a:avLst/>
            </a:prstTxWarp>
            <a:noAutofit/>
          </a:bodyPr>
          <a:lstStyle>
            <a:lvl1pPr marL="342900" indent="-342900" algn="l" rtl="0" eaLnBrk="1" fontAlgn="base" hangingPunct="1">
              <a:lnSpc>
                <a:spcPct val="110000"/>
              </a:lnSpc>
              <a:spcBef>
                <a:spcPts val="600"/>
              </a:spcBef>
              <a:spcAft>
                <a:spcPct val="0"/>
              </a:spcAft>
              <a:defRPr lang="en-US" sz="1200" b="0" dirty="0" smtClean="0">
                <a:solidFill>
                  <a:schemeClr val="bg1"/>
                </a:solidFill>
                <a:latin typeface="+mn-lt"/>
                <a:ea typeface="+mn-ea"/>
                <a:cs typeface="+mn-cs"/>
              </a:defRPr>
            </a:lvl1pPr>
            <a:lvl2pPr>
              <a:defRPr lang="en-US" sz="1200" b="0" kern="1200" noProof="0" dirty="0" smtClean="0">
                <a:solidFill>
                  <a:schemeClr val="bg1"/>
                </a:solidFill>
                <a:latin typeface="+mn-lt"/>
                <a:ea typeface="+mn-ea"/>
                <a:cs typeface="+mn-cs"/>
              </a:defRPr>
            </a:lvl2pPr>
            <a:lvl3pPr>
              <a:defRPr lang="en-US" sz="1200" b="0" kern="1200" noProof="0" dirty="0" smtClean="0">
                <a:solidFill>
                  <a:schemeClr val="bg1"/>
                </a:solidFill>
                <a:latin typeface="+mn-lt"/>
                <a:ea typeface="+mn-ea"/>
                <a:cs typeface="+mn-cs"/>
              </a:defRPr>
            </a:lvl3pPr>
            <a:lvl4pPr>
              <a:defRPr lang="en-US" sz="1200" b="0" kern="1200" noProof="0" dirty="0" smtClean="0">
                <a:solidFill>
                  <a:schemeClr val="bg1"/>
                </a:solidFill>
                <a:latin typeface="+mn-lt"/>
                <a:ea typeface="+mn-ea"/>
                <a:cs typeface="+mn-cs"/>
              </a:defRPr>
            </a:lvl4pPr>
            <a:lvl5pPr>
              <a:defRPr lang="en-US" sz="1200" b="0" kern="1200" noProof="0" dirty="0" smtClean="0">
                <a:solidFill>
                  <a:schemeClr val="bg1"/>
                </a:solidFill>
                <a:latin typeface="+mn-lt"/>
                <a:ea typeface="+mn-ea"/>
                <a:cs typeface="+mn-cs"/>
              </a:defRPr>
            </a:lvl5pPr>
            <a:lvl6pPr>
              <a:defRPr lang="en-US" sz="1200" b="0" kern="1200" noProof="0" dirty="0" smtClean="0">
                <a:solidFill>
                  <a:schemeClr val="bg1"/>
                </a:solidFill>
                <a:latin typeface="+mn-lt"/>
                <a:ea typeface="+mn-ea"/>
                <a:cs typeface="+mn-cs"/>
              </a:defRPr>
            </a:lvl6pPr>
            <a:lvl7pPr>
              <a:defRPr lang="en-US" sz="1200" b="0" kern="1200" noProof="0" dirty="0" smtClean="0">
                <a:solidFill>
                  <a:schemeClr val="bg1"/>
                </a:solidFill>
                <a:latin typeface="+mn-lt"/>
                <a:ea typeface="+mn-ea"/>
                <a:cs typeface="+mn-cs"/>
              </a:defRPr>
            </a:lvl7pPr>
            <a:lvl8pPr>
              <a:defRPr lang="en-US" sz="1200" b="0" kern="1200" noProof="0" dirty="0" smtClean="0">
                <a:solidFill>
                  <a:schemeClr val="bg1"/>
                </a:solidFill>
                <a:latin typeface="+mn-lt"/>
                <a:ea typeface="+mn-ea"/>
                <a:cs typeface="+mn-cs"/>
              </a:defRPr>
            </a:lvl8pPr>
            <a:lvl9pPr>
              <a:defRPr lang="en-US" sz="1200" b="0" kern="1200" noProof="0" dirty="0" smtClean="0">
                <a:solidFill>
                  <a:schemeClr val="bg1"/>
                </a:solidFill>
                <a:latin typeface="+mn-lt"/>
                <a:ea typeface="+mn-ea"/>
                <a:cs typeface="+mn-cs"/>
              </a:defRPr>
            </a:lvl9pPr>
          </a:lstStyle>
          <a:p>
            <a:pPr lvl="0"/>
            <a:r>
              <a:rPr lang="en-US" smtClean="0"/>
              <a:t>Click to edit Master text styles</a:t>
            </a:r>
          </a:p>
        </p:txBody>
      </p:sp>
      <p:grpSp>
        <p:nvGrpSpPr>
          <p:cNvPr id="2" name="Group 7"/>
          <p:cNvGrpSpPr>
            <a:grpSpLocks noChangeAspect="1"/>
          </p:cNvGrpSpPr>
          <p:nvPr userDrawn="1"/>
        </p:nvGrpSpPr>
        <p:grpSpPr>
          <a:xfrm>
            <a:off x="128464" y="0"/>
            <a:ext cx="2592388" cy="1530350"/>
            <a:chOff x="-2592388" y="0"/>
            <a:chExt cx="2592388" cy="1530350"/>
          </a:xfrm>
          <a:solidFill>
            <a:schemeClr val="bg1"/>
          </a:solidFill>
        </p:grpSpPr>
        <p:sp>
          <p:nvSpPr>
            <p:cNvPr id="12" name="Freeform 14"/>
            <p:cNvSpPr>
              <a:spLocks noEditPoints="1"/>
            </p:cNvSpPr>
            <p:nvPr userDrawn="1"/>
          </p:nvSpPr>
          <p:spPr bwMode="auto">
            <a:xfrm>
              <a:off x="-2384425" y="393700"/>
              <a:ext cx="2119313" cy="776288"/>
            </a:xfrm>
            <a:custGeom>
              <a:avLst/>
              <a:gdLst/>
              <a:ahLst/>
              <a:cxnLst>
                <a:cxn ang="0">
                  <a:pos x="2851" y="1035"/>
                </a:cxn>
                <a:cxn ang="0">
                  <a:pos x="3588" y="28"/>
                </a:cxn>
                <a:cxn ang="0">
                  <a:pos x="2718" y="826"/>
                </a:cxn>
                <a:cxn ang="0">
                  <a:pos x="1973" y="28"/>
                </a:cxn>
                <a:cxn ang="0">
                  <a:pos x="1663" y="659"/>
                </a:cxn>
                <a:cxn ang="0">
                  <a:pos x="1850" y="28"/>
                </a:cxn>
                <a:cxn ang="0">
                  <a:pos x="1165" y="1000"/>
                </a:cxn>
                <a:cxn ang="0">
                  <a:pos x="1334" y="806"/>
                </a:cxn>
                <a:cxn ang="0">
                  <a:pos x="479" y="1047"/>
                </a:cxn>
                <a:cxn ang="0">
                  <a:pos x="980" y="699"/>
                </a:cxn>
                <a:cxn ang="0">
                  <a:pos x="2747" y="0"/>
                </a:cxn>
                <a:cxn ang="0">
                  <a:pos x="1009" y="0"/>
                </a:cxn>
                <a:cxn ang="0">
                  <a:pos x="665" y="1435"/>
                </a:cxn>
                <a:cxn ang="0">
                  <a:pos x="1150" y="1133"/>
                </a:cxn>
                <a:cxn ang="0">
                  <a:pos x="1980" y="1434"/>
                </a:cxn>
                <a:cxn ang="0">
                  <a:pos x="2963" y="1451"/>
                </a:cxn>
                <a:cxn ang="0">
                  <a:pos x="348" y="2092"/>
                </a:cxn>
                <a:cxn ang="0">
                  <a:pos x="395" y="2104"/>
                </a:cxn>
                <a:cxn ang="0">
                  <a:pos x="880" y="1895"/>
                </a:cxn>
                <a:cxn ang="0">
                  <a:pos x="584" y="1895"/>
                </a:cxn>
                <a:cxn ang="0">
                  <a:pos x="645" y="2088"/>
                </a:cxn>
                <a:cxn ang="0">
                  <a:pos x="813" y="2088"/>
                </a:cxn>
                <a:cxn ang="0">
                  <a:pos x="935" y="1790"/>
                </a:cxn>
                <a:cxn ang="0">
                  <a:pos x="1104" y="1929"/>
                </a:cxn>
                <a:cxn ang="0">
                  <a:pos x="1151" y="1938"/>
                </a:cxn>
                <a:cxn ang="0">
                  <a:pos x="1504" y="2134"/>
                </a:cxn>
                <a:cxn ang="0">
                  <a:pos x="1370" y="2132"/>
                </a:cxn>
                <a:cxn ang="0">
                  <a:pos x="1428" y="1940"/>
                </a:cxn>
                <a:cxn ang="0">
                  <a:pos x="1719" y="1895"/>
                </a:cxn>
                <a:cxn ang="0">
                  <a:pos x="1803" y="2052"/>
                </a:cxn>
                <a:cxn ang="0">
                  <a:pos x="2137" y="1923"/>
                </a:cxn>
                <a:cxn ang="0">
                  <a:pos x="1881" y="2136"/>
                </a:cxn>
                <a:cxn ang="0">
                  <a:pos x="2253" y="2017"/>
                </a:cxn>
                <a:cxn ang="0">
                  <a:pos x="2503" y="1888"/>
                </a:cxn>
                <a:cxn ang="0">
                  <a:pos x="2740" y="2092"/>
                </a:cxn>
                <a:cxn ang="0">
                  <a:pos x="2787" y="2104"/>
                </a:cxn>
                <a:cxn ang="0">
                  <a:pos x="3126" y="2134"/>
                </a:cxn>
                <a:cxn ang="0">
                  <a:pos x="2992" y="2132"/>
                </a:cxn>
                <a:cxn ang="0">
                  <a:pos x="3051" y="1940"/>
                </a:cxn>
                <a:cxn ang="0">
                  <a:pos x="3441" y="1989"/>
                </a:cxn>
                <a:cxn ang="0">
                  <a:pos x="3257" y="1790"/>
                </a:cxn>
                <a:cxn ang="0">
                  <a:pos x="168" y="2120"/>
                </a:cxn>
                <a:cxn ang="0">
                  <a:pos x="3742" y="1935"/>
                </a:cxn>
                <a:cxn ang="0">
                  <a:pos x="3624" y="2110"/>
                </a:cxn>
                <a:cxn ang="0">
                  <a:pos x="3857" y="2017"/>
                </a:cxn>
                <a:cxn ang="0">
                  <a:pos x="4180" y="1894"/>
                </a:cxn>
                <a:cxn ang="0">
                  <a:pos x="4515" y="2136"/>
                </a:cxn>
                <a:cxn ang="0">
                  <a:pos x="4289" y="1939"/>
                </a:cxn>
                <a:cxn ang="0">
                  <a:pos x="4846" y="2010"/>
                </a:cxn>
                <a:cxn ang="0">
                  <a:pos x="4741" y="1935"/>
                </a:cxn>
                <a:cxn ang="0">
                  <a:pos x="4936" y="1789"/>
                </a:cxn>
                <a:cxn ang="0">
                  <a:pos x="5002" y="2021"/>
                </a:cxn>
                <a:cxn ang="0">
                  <a:pos x="5080" y="1988"/>
                </a:cxn>
                <a:cxn ang="0">
                  <a:pos x="5388" y="2136"/>
                </a:cxn>
                <a:cxn ang="0">
                  <a:pos x="5625" y="1893"/>
                </a:cxn>
                <a:cxn ang="0">
                  <a:pos x="5573" y="1790"/>
                </a:cxn>
                <a:cxn ang="0">
                  <a:pos x="5710" y="1848"/>
                </a:cxn>
                <a:cxn ang="0">
                  <a:pos x="5786" y="2086"/>
                </a:cxn>
                <a:cxn ang="0">
                  <a:pos x="5835" y="2229"/>
                </a:cxn>
              </a:cxnLst>
              <a:rect l="0" t="0" r="r" b="b"/>
              <a:pathLst>
                <a:path w="6099" h="2232">
                  <a:moveTo>
                    <a:pt x="3588" y="1105"/>
                  </a:moveTo>
                  <a:cubicBezTo>
                    <a:pt x="3401" y="1105"/>
                    <a:pt x="3401" y="1105"/>
                    <a:pt x="3401" y="1105"/>
                  </a:cubicBezTo>
                  <a:cubicBezTo>
                    <a:pt x="3431" y="981"/>
                    <a:pt x="3431" y="981"/>
                    <a:pt x="3431" y="981"/>
                  </a:cubicBezTo>
                  <a:cubicBezTo>
                    <a:pt x="3055" y="981"/>
                    <a:pt x="3055" y="981"/>
                    <a:pt x="3055" y="981"/>
                  </a:cubicBezTo>
                  <a:cubicBezTo>
                    <a:pt x="3024" y="1105"/>
                    <a:pt x="3024" y="1105"/>
                    <a:pt x="3024" y="1105"/>
                  </a:cubicBezTo>
                  <a:cubicBezTo>
                    <a:pt x="2843" y="1105"/>
                    <a:pt x="2843" y="1105"/>
                    <a:pt x="2843" y="1105"/>
                  </a:cubicBezTo>
                  <a:cubicBezTo>
                    <a:pt x="2843" y="1079"/>
                    <a:pt x="2843" y="1079"/>
                    <a:pt x="2843" y="1079"/>
                  </a:cubicBezTo>
                  <a:cubicBezTo>
                    <a:pt x="2845" y="1065"/>
                    <a:pt x="2848" y="1051"/>
                    <a:pt x="2851" y="1035"/>
                  </a:cubicBezTo>
                  <a:cubicBezTo>
                    <a:pt x="2884" y="901"/>
                    <a:pt x="2972" y="769"/>
                    <a:pt x="3124" y="769"/>
                  </a:cubicBezTo>
                  <a:cubicBezTo>
                    <a:pt x="3185" y="769"/>
                    <a:pt x="3244" y="792"/>
                    <a:pt x="3236" y="875"/>
                  </a:cubicBezTo>
                  <a:cubicBezTo>
                    <a:pt x="3460" y="875"/>
                    <a:pt x="3460" y="875"/>
                    <a:pt x="3460" y="875"/>
                  </a:cubicBezTo>
                  <a:cubicBezTo>
                    <a:pt x="3469" y="836"/>
                    <a:pt x="3484" y="770"/>
                    <a:pt x="3441" y="709"/>
                  </a:cubicBezTo>
                  <a:cubicBezTo>
                    <a:pt x="3394" y="643"/>
                    <a:pt x="3298" y="616"/>
                    <a:pt x="3173" y="616"/>
                  </a:cubicBezTo>
                  <a:cubicBezTo>
                    <a:pt x="3084" y="616"/>
                    <a:pt x="2955" y="631"/>
                    <a:pt x="2843" y="704"/>
                  </a:cubicBezTo>
                  <a:cubicBezTo>
                    <a:pt x="2843" y="28"/>
                    <a:pt x="2843" y="28"/>
                    <a:pt x="2843" y="28"/>
                  </a:cubicBezTo>
                  <a:cubicBezTo>
                    <a:pt x="3588" y="28"/>
                    <a:pt x="3588" y="28"/>
                    <a:pt x="3588" y="28"/>
                  </a:cubicBezTo>
                  <a:lnTo>
                    <a:pt x="3588" y="1105"/>
                  </a:lnTo>
                  <a:close/>
                  <a:moveTo>
                    <a:pt x="3148" y="1287"/>
                  </a:moveTo>
                  <a:cubicBezTo>
                    <a:pt x="3106" y="1294"/>
                    <a:pt x="3063" y="1300"/>
                    <a:pt x="3023" y="1300"/>
                  </a:cubicBezTo>
                  <a:cubicBezTo>
                    <a:pt x="2915" y="1300"/>
                    <a:pt x="2840" y="1250"/>
                    <a:pt x="2839" y="1133"/>
                  </a:cubicBezTo>
                  <a:cubicBezTo>
                    <a:pt x="3186" y="1133"/>
                    <a:pt x="3186" y="1133"/>
                    <a:pt x="3186" y="1133"/>
                  </a:cubicBezTo>
                  <a:lnTo>
                    <a:pt x="3148" y="1287"/>
                  </a:lnTo>
                  <a:close/>
                  <a:moveTo>
                    <a:pt x="2718" y="672"/>
                  </a:moveTo>
                  <a:cubicBezTo>
                    <a:pt x="2718" y="826"/>
                    <a:pt x="2718" y="826"/>
                    <a:pt x="2718" y="826"/>
                  </a:cubicBezTo>
                  <a:cubicBezTo>
                    <a:pt x="2666" y="898"/>
                    <a:pt x="2634" y="976"/>
                    <a:pt x="2619" y="1040"/>
                  </a:cubicBezTo>
                  <a:cubicBezTo>
                    <a:pt x="2613" y="1061"/>
                    <a:pt x="2609" y="1083"/>
                    <a:pt x="2607" y="1105"/>
                  </a:cubicBezTo>
                  <a:cubicBezTo>
                    <a:pt x="2497" y="1105"/>
                    <a:pt x="2497" y="1105"/>
                    <a:pt x="2497" y="1105"/>
                  </a:cubicBezTo>
                  <a:cubicBezTo>
                    <a:pt x="2591" y="660"/>
                    <a:pt x="2591" y="660"/>
                    <a:pt x="2591" y="660"/>
                  </a:cubicBezTo>
                  <a:cubicBezTo>
                    <a:pt x="2276" y="660"/>
                    <a:pt x="2276" y="660"/>
                    <a:pt x="2276" y="660"/>
                  </a:cubicBezTo>
                  <a:cubicBezTo>
                    <a:pt x="1993" y="1105"/>
                    <a:pt x="1993" y="1105"/>
                    <a:pt x="1993" y="1105"/>
                  </a:cubicBezTo>
                  <a:cubicBezTo>
                    <a:pt x="1973" y="1105"/>
                    <a:pt x="1973" y="1105"/>
                    <a:pt x="1973" y="1105"/>
                  </a:cubicBezTo>
                  <a:cubicBezTo>
                    <a:pt x="1973" y="28"/>
                    <a:pt x="1973" y="28"/>
                    <a:pt x="1973" y="28"/>
                  </a:cubicBezTo>
                  <a:cubicBezTo>
                    <a:pt x="2718" y="28"/>
                    <a:pt x="2718" y="28"/>
                    <a:pt x="2718" y="28"/>
                  </a:cubicBezTo>
                  <a:lnTo>
                    <a:pt x="2718" y="672"/>
                  </a:lnTo>
                  <a:close/>
                  <a:moveTo>
                    <a:pt x="2302" y="1105"/>
                  </a:moveTo>
                  <a:cubicBezTo>
                    <a:pt x="2190" y="1105"/>
                    <a:pt x="2190" y="1105"/>
                    <a:pt x="2190" y="1105"/>
                  </a:cubicBezTo>
                  <a:cubicBezTo>
                    <a:pt x="2360" y="838"/>
                    <a:pt x="2360" y="838"/>
                    <a:pt x="2360" y="838"/>
                  </a:cubicBezTo>
                  <a:lnTo>
                    <a:pt x="2302" y="1105"/>
                  </a:lnTo>
                  <a:close/>
                  <a:moveTo>
                    <a:pt x="1850" y="659"/>
                  </a:moveTo>
                  <a:cubicBezTo>
                    <a:pt x="1663" y="659"/>
                    <a:pt x="1663" y="659"/>
                    <a:pt x="1663" y="659"/>
                  </a:cubicBezTo>
                  <a:cubicBezTo>
                    <a:pt x="1535" y="1105"/>
                    <a:pt x="1535" y="1105"/>
                    <a:pt x="1535" y="1105"/>
                  </a:cubicBezTo>
                  <a:cubicBezTo>
                    <a:pt x="1337" y="1105"/>
                    <a:pt x="1337" y="1105"/>
                    <a:pt x="1337" y="1105"/>
                  </a:cubicBezTo>
                  <a:cubicBezTo>
                    <a:pt x="1438" y="1068"/>
                    <a:pt x="1499" y="996"/>
                    <a:pt x="1518" y="890"/>
                  </a:cubicBezTo>
                  <a:cubicBezTo>
                    <a:pt x="1534" y="809"/>
                    <a:pt x="1527" y="755"/>
                    <a:pt x="1493" y="714"/>
                  </a:cubicBezTo>
                  <a:cubicBezTo>
                    <a:pt x="1443" y="654"/>
                    <a:pt x="1342" y="659"/>
                    <a:pt x="1253" y="659"/>
                  </a:cubicBezTo>
                  <a:cubicBezTo>
                    <a:pt x="1237" y="659"/>
                    <a:pt x="1105" y="659"/>
                    <a:pt x="1105" y="659"/>
                  </a:cubicBezTo>
                  <a:cubicBezTo>
                    <a:pt x="1105" y="28"/>
                    <a:pt x="1105" y="28"/>
                    <a:pt x="1105" y="28"/>
                  </a:cubicBezTo>
                  <a:cubicBezTo>
                    <a:pt x="1850" y="28"/>
                    <a:pt x="1850" y="28"/>
                    <a:pt x="1850" y="28"/>
                  </a:cubicBezTo>
                  <a:lnTo>
                    <a:pt x="1850" y="659"/>
                  </a:lnTo>
                  <a:close/>
                  <a:moveTo>
                    <a:pt x="1730" y="1105"/>
                  </a:moveTo>
                  <a:cubicBezTo>
                    <a:pt x="1809" y="826"/>
                    <a:pt x="1809" y="826"/>
                    <a:pt x="1809" y="826"/>
                  </a:cubicBezTo>
                  <a:cubicBezTo>
                    <a:pt x="1812" y="1105"/>
                    <a:pt x="1812" y="1105"/>
                    <a:pt x="1812" y="1105"/>
                  </a:cubicBezTo>
                  <a:lnTo>
                    <a:pt x="1730" y="1105"/>
                  </a:lnTo>
                  <a:close/>
                  <a:moveTo>
                    <a:pt x="1188" y="999"/>
                  </a:moveTo>
                  <a:cubicBezTo>
                    <a:pt x="1187" y="999"/>
                    <a:pt x="1187" y="999"/>
                    <a:pt x="1187" y="999"/>
                  </a:cubicBezTo>
                  <a:cubicBezTo>
                    <a:pt x="1180" y="999"/>
                    <a:pt x="1173" y="1000"/>
                    <a:pt x="1165" y="1000"/>
                  </a:cubicBezTo>
                  <a:cubicBezTo>
                    <a:pt x="1154" y="1000"/>
                    <a:pt x="1145" y="1000"/>
                    <a:pt x="1137" y="1000"/>
                  </a:cubicBezTo>
                  <a:cubicBezTo>
                    <a:pt x="1089" y="1000"/>
                    <a:pt x="1089" y="1000"/>
                    <a:pt x="1089" y="1000"/>
                  </a:cubicBezTo>
                  <a:cubicBezTo>
                    <a:pt x="1111" y="918"/>
                    <a:pt x="1111" y="918"/>
                    <a:pt x="1111" y="918"/>
                  </a:cubicBezTo>
                  <a:cubicBezTo>
                    <a:pt x="1122" y="878"/>
                    <a:pt x="1122" y="878"/>
                    <a:pt x="1122" y="878"/>
                  </a:cubicBezTo>
                  <a:cubicBezTo>
                    <a:pt x="1147" y="783"/>
                    <a:pt x="1147" y="783"/>
                    <a:pt x="1147" y="783"/>
                  </a:cubicBezTo>
                  <a:cubicBezTo>
                    <a:pt x="1158" y="783"/>
                    <a:pt x="1169" y="782"/>
                    <a:pt x="1179" y="782"/>
                  </a:cubicBezTo>
                  <a:cubicBezTo>
                    <a:pt x="1216" y="782"/>
                    <a:pt x="1216" y="782"/>
                    <a:pt x="1216" y="782"/>
                  </a:cubicBezTo>
                  <a:cubicBezTo>
                    <a:pt x="1279" y="782"/>
                    <a:pt x="1319" y="786"/>
                    <a:pt x="1334" y="806"/>
                  </a:cubicBezTo>
                  <a:cubicBezTo>
                    <a:pt x="1345" y="822"/>
                    <a:pt x="1343" y="848"/>
                    <a:pt x="1330" y="888"/>
                  </a:cubicBezTo>
                  <a:cubicBezTo>
                    <a:pt x="1308" y="957"/>
                    <a:pt x="1279" y="992"/>
                    <a:pt x="1188" y="999"/>
                  </a:cubicBezTo>
                  <a:moveTo>
                    <a:pt x="980" y="699"/>
                  </a:moveTo>
                  <a:cubicBezTo>
                    <a:pt x="969" y="737"/>
                    <a:pt x="969" y="737"/>
                    <a:pt x="969" y="737"/>
                  </a:cubicBezTo>
                  <a:cubicBezTo>
                    <a:pt x="862" y="1092"/>
                    <a:pt x="862" y="1092"/>
                    <a:pt x="862" y="1092"/>
                  </a:cubicBezTo>
                  <a:cubicBezTo>
                    <a:pt x="858" y="1105"/>
                    <a:pt x="858" y="1105"/>
                    <a:pt x="858" y="1105"/>
                  </a:cubicBezTo>
                  <a:cubicBezTo>
                    <a:pt x="507" y="1105"/>
                    <a:pt x="507" y="1105"/>
                    <a:pt x="507" y="1105"/>
                  </a:cubicBezTo>
                  <a:cubicBezTo>
                    <a:pt x="479" y="1047"/>
                    <a:pt x="479" y="1047"/>
                    <a:pt x="479" y="1047"/>
                  </a:cubicBezTo>
                  <a:cubicBezTo>
                    <a:pt x="858" y="660"/>
                    <a:pt x="858" y="660"/>
                    <a:pt x="858" y="660"/>
                  </a:cubicBezTo>
                  <a:cubicBezTo>
                    <a:pt x="615" y="660"/>
                    <a:pt x="615" y="660"/>
                    <a:pt x="615" y="660"/>
                  </a:cubicBezTo>
                  <a:cubicBezTo>
                    <a:pt x="319" y="979"/>
                    <a:pt x="319" y="979"/>
                    <a:pt x="319" y="979"/>
                  </a:cubicBezTo>
                  <a:cubicBezTo>
                    <a:pt x="415" y="660"/>
                    <a:pt x="415" y="660"/>
                    <a:pt x="415" y="660"/>
                  </a:cubicBezTo>
                  <a:cubicBezTo>
                    <a:pt x="235" y="660"/>
                    <a:pt x="235" y="660"/>
                    <a:pt x="235" y="660"/>
                  </a:cubicBezTo>
                  <a:cubicBezTo>
                    <a:pt x="235" y="28"/>
                    <a:pt x="235" y="28"/>
                    <a:pt x="235" y="28"/>
                  </a:cubicBezTo>
                  <a:cubicBezTo>
                    <a:pt x="980" y="28"/>
                    <a:pt x="980" y="28"/>
                    <a:pt x="980" y="28"/>
                  </a:cubicBezTo>
                  <a:lnTo>
                    <a:pt x="980" y="699"/>
                  </a:lnTo>
                  <a:close/>
                  <a:moveTo>
                    <a:pt x="281" y="1105"/>
                  </a:moveTo>
                  <a:cubicBezTo>
                    <a:pt x="282" y="1101"/>
                    <a:pt x="282" y="1101"/>
                    <a:pt x="282" y="1101"/>
                  </a:cubicBezTo>
                  <a:cubicBezTo>
                    <a:pt x="285" y="1105"/>
                    <a:pt x="285" y="1105"/>
                    <a:pt x="285" y="1105"/>
                  </a:cubicBezTo>
                  <a:lnTo>
                    <a:pt x="281" y="1105"/>
                  </a:lnTo>
                  <a:close/>
                  <a:moveTo>
                    <a:pt x="2814" y="0"/>
                  </a:moveTo>
                  <a:cubicBezTo>
                    <a:pt x="2814" y="724"/>
                    <a:pt x="2814" y="724"/>
                    <a:pt x="2814" y="724"/>
                  </a:cubicBezTo>
                  <a:cubicBezTo>
                    <a:pt x="2789" y="744"/>
                    <a:pt x="2767" y="765"/>
                    <a:pt x="2747" y="788"/>
                  </a:cubicBezTo>
                  <a:cubicBezTo>
                    <a:pt x="2747" y="0"/>
                    <a:pt x="2747" y="0"/>
                    <a:pt x="2747" y="0"/>
                  </a:cubicBezTo>
                  <a:cubicBezTo>
                    <a:pt x="1945" y="0"/>
                    <a:pt x="1945" y="0"/>
                    <a:pt x="1945" y="0"/>
                  </a:cubicBezTo>
                  <a:cubicBezTo>
                    <a:pt x="1945" y="659"/>
                    <a:pt x="1945" y="659"/>
                    <a:pt x="1945" y="659"/>
                  </a:cubicBezTo>
                  <a:cubicBezTo>
                    <a:pt x="1878" y="659"/>
                    <a:pt x="1878" y="659"/>
                    <a:pt x="1878" y="659"/>
                  </a:cubicBezTo>
                  <a:cubicBezTo>
                    <a:pt x="1878" y="0"/>
                    <a:pt x="1878" y="0"/>
                    <a:pt x="1878" y="0"/>
                  </a:cubicBezTo>
                  <a:cubicBezTo>
                    <a:pt x="1076" y="0"/>
                    <a:pt x="1076" y="0"/>
                    <a:pt x="1076" y="0"/>
                  </a:cubicBezTo>
                  <a:cubicBezTo>
                    <a:pt x="1076" y="660"/>
                    <a:pt x="1076" y="660"/>
                    <a:pt x="1076" y="660"/>
                  </a:cubicBezTo>
                  <a:cubicBezTo>
                    <a:pt x="1009" y="660"/>
                    <a:pt x="1009" y="660"/>
                    <a:pt x="1009" y="660"/>
                  </a:cubicBezTo>
                  <a:cubicBezTo>
                    <a:pt x="1009" y="0"/>
                    <a:pt x="1009" y="0"/>
                    <a:pt x="1009" y="0"/>
                  </a:cubicBezTo>
                  <a:cubicBezTo>
                    <a:pt x="207" y="0"/>
                    <a:pt x="207" y="0"/>
                    <a:pt x="207" y="0"/>
                  </a:cubicBezTo>
                  <a:cubicBezTo>
                    <a:pt x="207" y="753"/>
                    <a:pt x="207" y="753"/>
                    <a:pt x="207" y="753"/>
                  </a:cubicBezTo>
                  <a:cubicBezTo>
                    <a:pt x="2" y="1435"/>
                    <a:pt x="2" y="1435"/>
                    <a:pt x="2" y="1435"/>
                  </a:cubicBezTo>
                  <a:cubicBezTo>
                    <a:pt x="182" y="1435"/>
                    <a:pt x="182" y="1435"/>
                    <a:pt x="182" y="1435"/>
                  </a:cubicBezTo>
                  <a:cubicBezTo>
                    <a:pt x="273" y="1133"/>
                    <a:pt x="273" y="1133"/>
                    <a:pt x="273" y="1133"/>
                  </a:cubicBezTo>
                  <a:cubicBezTo>
                    <a:pt x="299" y="1133"/>
                    <a:pt x="299" y="1133"/>
                    <a:pt x="299" y="1133"/>
                  </a:cubicBezTo>
                  <a:cubicBezTo>
                    <a:pt x="448" y="1435"/>
                    <a:pt x="448" y="1435"/>
                    <a:pt x="448" y="1435"/>
                  </a:cubicBezTo>
                  <a:cubicBezTo>
                    <a:pt x="665" y="1435"/>
                    <a:pt x="665" y="1435"/>
                    <a:pt x="665" y="1435"/>
                  </a:cubicBezTo>
                  <a:cubicBezTo>
                    <a:pt x="520" y="1133"/>
                    <a:pt x="520" y="1133"/>
                    <a:pt x="520" y="1133"/>
                  </a:cubicBezTo>
                  <a:cubicBezTo>
                    <a:pt x="849" y="1133"/>
                    <a:pt x="849" y="1133"/>
                    <a:pt x="849" y="1133"/>
                  </a:cubicBezTo>
                  <a:cubicBezTo>
                    <a:pt x="758" y="1435"/>
                    <a:pt x="758" y="1435"/>
                    <a:pt x="758" y="1435"/>
                  </a:cubicBezTo>
                  <a:cubicBezTo>
                    <a:pt x="955" y="1435"/>
                    <a:pt x="955" y="1435"/>
                    <a:pt x="955" y="1435"/>
                  </a:cubicBezTo>
                  <a:cubicBezTo>
                    <a:pt x="1045" y="1134"/>
                    <a:pt x="1045" y="1134"/>
                    <a:pt x="1045" y="1134"/>
                  </a:cubicBezTo>
                  <a:cubicBezTo>
                    <a:pt x="1088" y="1134"/>
                    <a:pt x="1088" y="1134"/>
                    <a:pt x="1088" y="1134"/>
                  </a:cubicBezTo>
                  <a:cubicBezTo>
                    <a:pt x="1088" y="1133"/>
                    <a:pt x="1088" y="1133"/>
                    <a:pt x="1088" y="1133"/>
                  </a:cubicBezTo>
                  <a:cubicBezTo>
                    <a:pt x="1150" y="1133"/>
                    <a:pt x="1150" y="1133"/>
                    <a:pt x="1150" y="1133"/>
                  </a:cubicBezTo>
                  <a:cubicBezTo>
                    <a:pt x="1155" y="1133"/>
                    <a:pt x="1155" y="1133"/>
                    <a:pt x="1155" y="1133"/>
                  </a:cubicBezTo>
                  <a:cubicBezTo>
                    <a:pt x="1527" y="1133"/>
                    <a:pt x="1527" y="1133"/>
                    <a:pt x="1527" y="1133"/>
                  </a:cubicBezTo>
                  <a:cubicBezTo>
                    <a:pt x="1440" y="1434"/>
                    <a:pt x="1440" y="1434"/>
                    <a:pt x="1440" y="1434"/>
                  </a:cubicBezTo>
                  <a:cubicBezTo>
                    <a:pt x="1638" y="1434"/>
                    <a:pt x="1638" y="1434"/>
                    <a:pt x="1638" y="1434"/>
                  </a:cubicBezTo>
                  <a:cubicBezTo>
                    <a:pt x="1722" y="1133"/>
                    <a:pt x="1722" y="1133"/>
                    <a:pt x="1722" y="1133"/>
                  </a:cubicBezTo>
                  <a:cubicBezTo>
                    <a:pt x="1812" y="1133"/>
                    <a:pt x="1812" y="1133"/>
                    <a:pt x="1812" y="1133"/>
                  </a:cubicBezTo>
                  <a:cubicBezTo>
                    <a:pt x="1814" y="1434"/>
                    <a:pt x="1814" y="1434"/>
                    <a:pt x="1814" y="1434"/>
                  </a:cubicBezTo>
                  <a:cubicBezTo>
                    <a:pt x="1980" y="1434"/>
                    <a:pt x="1980" y="1434"/>
                    <a:pt x="1980" y="1434"/>
                  </a:cubicBezTo>
                  <a:cubicBezTo>
                    <a:pt x="2171" y="1133"/>
                    <a:pt x="2171" y="1133"/>
                    <a:pt x="2171" y="1133"/>
                  </a:cubicBezTo>
                  <a:cubicBezTo>
                    <a:pt x="2296" y="1133"/>
                    <a:pt x="2296" y="1133"/>
                    <a:pt x="2296" y="1133"/>
                  </a:cubicBezTo>
                  <a:cubicBezTo>
                    <a:pt x="2232" y="1434"/>
                    <a:pt x="2232" y="1434"/>
                    <a:pt x="2232" y="1434"/>
                  </a:cubicBezTo>
                  <a:cubicBezTo>
                    <a:pt x="2427" y="1434"/>
                    <a:pt x="2427" y="1434"/>
                    <a:pt x="2427" y="1434"/>
                  </a:cubicBezTo>
                  <a:cubicBezTo>
                    <a:pt x="2491" y="1133"/>
                    <a:pt x="2491" y="1133"/>
                    <a:pt x="2491" y="1133"/>
                  </a:cubicBezTo>
                  <a:cubicBezTo>
                    <a:pt x="2604" y="1133"/>
                    <a:pt x="2604" y="1133"/>
                    <a:pt x="2604" y="1133"/>
                  </a:cubicBezTo>
                  <a:cubicBezTo>
                    <a:pt x="2599" y="1226"/>
                    <a:pt x="2623" y="1311"/>
                    <a:pt x="2685" y="1368"/>
                  </a:cubicBezTo>
                  <a:cubicBezTo>
                    <a:pt x="2761" y="1438"/>
                    <a:pt x="2877" y="1451"/>
                    <a:pt x="2963" y="1451"/>
                  </a:cubicBezTo>
                  <a:cubicBezTo>
                    <a:pt x="3081" y="1451"/>
                    <a:pt x="3203" y="1434"/>
                    <a:pt x="3326" y="1407"/>
                  </a:cubicBezTo>
                  <a:cubicBezTo>
                    <a:pt x="3394" y="1133"/>
                    <a:pt x="3394" y="1133"/>
                    <a:pt x="3394" y="1133"/>
                  </a:cubicBezTo>
                  <a:cubicBezTo>
                    <a:pt x="3617" y="1133"/>
                    <a:pt x="3617" y="1133"/>
                    <a:pt x="3617" y="1133"/>
                  </a:cubicBezTo>
                  <a:cubicBezTo>
                    <a:pt x="3617" y="0"/>
                    <a:pt x="3617" y="0"/>
                    <a:pt x="3617" y="0"/>
                  </a:cubicBezTo>
                  <a:lnTo>
                    <a:pt x="2814" y="0"/>
                  </a:lnTo>
                  <a:close/>
                  <a:moveTo>
                    <a:pt x="351" y="1894"/>
                  </a:moveTo>
                  <a:cubicBezTo>
                    <a:pt x="321" y="2038"/>
                    <a:pt x="321" y="2038"/>
                    <a:pt x="321" y="2038"/>
                  </a:cubicBezTo>
                  <a:cubicBezTo>
                    <a:pt x="316" y="2060"/>
                    <a:pt x="309" y="2092"/>
                    <a:pt x="348" y="2092"/>
                  </a:cubicBezTo>
                  <a:cubicBezTo>
                    <a:pt x="393" y="2092"/>
                    <a:pt x="400" y="2058"/>
                    <a:pt x="409" y="2016"/>
                  </a:cubicBezTo>
                  <a:cubicBezTo>
                    <a:pt x="435" y="1894"/>
                    <a:pt x="435" y="1894"/>
                    <a:pt x="435" y="1894"/>
                  </a:cubicBezTo>
                  <a:cubicBezTo>
                    <a:pt x="508" y="1894"/>
                    <a:pt x="508" y="1894"/>
                    <a:pt x="508" y="1894"/>
                  </a:cubicBezTo>
                  <a:cubicBezTo>
                    <a:pt x="474" y="2053"/>
                    <a:pt x="474" y="2053"/>
                    <a:pt x="474" y="2053"/>
                  </a:cubicBezTo>
                  <a:cubicBezTo>
                    <a:pt x="464" y="2106"/>
                    <a:pt x="463" y="2112"/>
                    <a:pt x="462" y="2118"/>
                  </a:cubicBezTo>
                  <a:cubicBezTo>
                    <a:pt x="461" y="2125"/>
                    <a:pt x="460" y="2130"/>
                    <a:pt x="460" y="2136"/>
                  </a:cubicBezTo>
                  <a:cubicBezTo>
                    <a:pt x="391" y="2136"/>
                    <a:pt x="391" y="2136"/>
                    <a:pt x="391" y="2136"/>
                  </a:cubicBezTo>
                  <a:cubicBezTo>
                    <a:pt x="395" y="2104"/>
                    <a:pt x="395" y="2104"/>
                    <a:pt x="395" y="2104"/>
                  </a:cubicBezTo>
                  <a:cubicBezTo>
                    <a:pt x="386" y="2115"/>
                    <a:pt x="362" y="2143"/>
                    <a:pt x="315" y="2143"/>
                  </a:cubicBezTo>
                  <a:cubicBezTo>
                    <a:pt x="283" y="2143"/>
                    <a:pt x="259" y="2128"/>
                    <a:pt x="250" y="2110"/>
                  </a:cubicBezTo>
                  <a:cubicBezTo>
                    <a:pt x="238" y="2090"/>
                    <a:pt x="245" y="2056"/>
                    <a:pt x="248" y="2045"/>
                  </a:cubicBezTo>
                  <a:cubicBezTo>
                    <a:pt x="279" y="1894"/>
                    <a:pt x="279" y="1894"/>
                    <a:pt x="279" y="1894"/>
                  </a:cubicBezTo>
                  <a:lnTo>
                    <a:pt x="351" y="1894"/>
                  </a:lnTo>
                  <a:close/>
                  <a:moveTo>
                    <a:pt x="812" y="1942"/>
                  </a:moveTo>
                  <a:cubicBezTo>
                    <a:pt x="870" y="1942"/>
                    <a:pt x="870" y="1942"/>
                    <a:pt x="870" y="1942"/>
                  </a:cubicBezTo>
                  <a:cubicBezTo>
                    <a:pt x="880" y="1895"/>
                    <a:pt x="880" y="1895"/>
                    <a:pt x="880" y="1895"/>
                  </a:cubicBezTo>
                  <a:cubicBezTo>
                    <a:pt x="822" y="1895"/>
                    <a:pt x="822" y="1895"/>
                    <a:pt x="822" y="1895"/>
                  </a:cubicBezTo>
                  <a:cubicBezTo>
                    <a:pt x="838" y="1822"/>
                    <a:pt x="838" y="1822"/>
                    <a:pt x="838" y="1822"/>
                  </a:cubicBezTo>
                  <a:cubicBezTo>
                    <a:pt x="762" y="1848"/>
                    <a:pt x="762" y="1848"/>
                    <a:pt x="762" y="1848"/>
                  </a:cubicBezTo>
                  <a:cubicBezTo>
                    <a:pt x="752" y="1895"/>
                    <a:pt x="752" y="1895"/>
                    <a:pt x="752" y="1895"/>
                  </a:cubicBezTo>
                  <a:cubicBezTo>
                    <a:pt x="654" y="1895"/>
                    <a:pt x="654" y="1895"/>
                    <a:pt x="654" y="1895"/>
                  </a:cubicBezTo>
                  <a:cubicBezTo>
                    <a:pt x="670" y="1822"/>
                    <a:pt x="670" y="1822"/>
                    <a:pt x="670" y="1822"/>
                  </a:cubicBezTo>
                  <a:cubicBezTo>
                    <a:pt x="594" y="1848"/>
                    <a:pt x="594" y="1848"/>
                    <a:pt x="594" y="1848"/>
                  </a:cubicBezTo>
                  <a:cubicBezTo>
                    <a:pt x="584" y="1895"/>
                    <a:pt x="584" y="1895"/>
                    <a:pt x="584" y="1895"/>
                  </a:cubicBezTo>
                  <a:cubicBezTo>
                    <a:pt x="537" y="1895"/>
                    <a:pt x="537" y="1895"/>
                    <a:pt x="537" y="1895"/>
                  </a:cubicBezTo>
                  <a:cubicBezTo>
                    <a:pt x="527" y="1942"/>
                    <a:pt x="527" y="1942"/>
                    <a:pt x="527" y="1942"/>
                  </a:cubicBezTo>
                  <a:cubicBezTo>
                    <a:pt x="574" y="1942"/>
                    <a:pt x="574" y="1942"/>
                    <a:pt x="574" y="1942"/>
                  </a:cubicBezTo>
                  <a:cubicBezTo>
                    <a:pt x="545" y="2075"/>
                    <a:pt x="545" y="2075"/>
                    <a:pt x="545" y="2075"/>
                  </a:cubicBezTo>
                  <a:cubicBezTo>
                    <a:pt x="541" y="2095"/>
                    <a:pt x="531" y="2141"/>
                    <a:pt x="603" y="2141"/>
                  </a:cubicBezTo>
                  <a:cubicBezTo>
                    <a:pt x="615" y="2141"/>
                    <a:pt x="636" y="2139"/>
                    <a:pt x="660" y="2133"/>
                  </a:cubicBezTo>
                  <a:cubicBezTo>
                    <a:pt x="670" y="2086"/>
                    <a:pt x="670" y="2086"/>
                    <a:pt x="670" y="2086"/>
                  </a:cubicBezTo>
                  <a:cubicBezTo>
                    <a:pt x="661" y="2087"/>
                    <a:pt x="656" y="2088"/>
                    <a:pt x="645" y="2088"/>
                  </a:cubicBezTo>
                  <a:cubicBezTo>
                    <a:pt x="614" y="2088"/>
                    <a:pt x="617" y="2074"/>
                    <a:pt x="621" y="2052"/>
                  </a:cubicBezTo>
                  <a:cubicBezTo>
                    <a:pt x="645" y="1942"/>
                    <a:pt x="645" y="1942"/>
                    <a:pt x="645" y="1942"/>
                  </a:cubicBezTo>
                  <a:cubicBezTo>
                    <a:pt x="741" y="1942"/>
                    <a:pt x="741" y="1942"/>
                    <a:pt x="741" y="1942"/>
                  </a:cubicBezTo>
                  <a:cubicBezTo>
                    <a:pt x="713" y="2075"/>
                    <a:pt x="713" y="2075"/>
                    <a:pt x="713" y="2075"/>
                  </a:cubicBezTo>
                  <a:cubicBezTo>
                    <a:pt x="709" y="2095"/>
                    <a:pt x="699" y="2141"/>
                    <a:pt x="771" y="2141"/>
                  </a:cubicBezTo>
                  <a:cubicBezTo>
                    <a:pt x="782" y="2141"/>
                    <a:pt x="804" y="2139"/>
                    <a:pt x="828" y="2133"/>
                  </a:cubicBezTo>
                  <a:cubicBezTo>
                    <a:pt x="838" y="2086"/>
                    <a:pt x="838" y="2086"/>
                    <a:pt x="838" y="2086"/>
                  </a:cubicBezTo>
                  <a:cubicBezTo>
                    <a:pt x="829" y="2087"/>
                    <a:pt x="824" y="2088"/>
                    <a:pt x="813" y="2088"/>
                  </a:cubicBezTo>
                  <a:cubicBezTo>
                    <a:pt x="781" y="2088"/>
                    <a:pt x="785" y="2074"/>
                    <a:pt x="788" y="2052"/>
                  </a:cubicBezTo>
                  <a:lnTo>
                    <a:pt x="812" y="1942"/>
                  </a:lnTo>
                  <a:close/>
                  <a:moveTo>
                    <a:pt x="916" y="1893"/>
                  </a:moveTo>
                  <a:cubicBezTo>
                    <a:pt x="987" y="1893"/>
                    <a:pt x="987" y="1893"/>
                    <a:pt x="987" y="1893"/>
                  </a:cubicBezTo>
                  <a:cubicBezTo>
                    <a:pt x="935" y="2136"/>
                    <a:pt x="935" y="2136"/>
                    <a:pt x="935" y="2136"/>
                  </a:cubicBezTo>
                  <a:cubicBezTo>
                    <a:pt x="864" y="2136"/>
                    <a:pt x="864" y="2136"/>
                    <a:pt x="864" y="2136"/>
                  </a:cubicBezTo>
                  <a:lnTo>
                    <a:pt x="916" y="1893"/>
                  </a:lnTo>
                  <a:close/>
                  <a:moveTo>
                    <a:pt x="935" y="1790"/>
                  </a:moveTo>
                  <a:cubicBezTo>
                    <a:pt x="1011" y="1790"/>
                    <a:pt x="1011" y="1790"/>
                    <a:pt x="1011" y="1790"/>
                  </a:cubicBezTo>
                  <a:cubicBezTo>
                    <a:pt x="998" y="1851"/>
                    <a:pt x="998" y="1851"/>
                    <a:pt x="998" y="1851"/>
                  </a:cubicBezTo>
                  <a:cubicBezTo>
                    <a:pt x="922" y="1851"/>
                    <a:pt x="922" y="1851"/>
                    <a:pt x="922" y="1851"/>
                  </a:cubicBezTo>
                  <a:lnTo>
                    <a:pt x="935" y="1790"/>
                  </a:lnTo>
                  <a:close/>
                  <a:moveTo>
                    <a:pt x="1034" y="1937"/>
                  </a:moveTo>
                  <a:cubicBezTo>
                    <a:pt x="1034" y="1936"/>
                    <a:pt x="1040" y="1909"/>
                    <a:pt x="1042" y="1893"/>
                  </a:cubicBezTo>
                  <a:cubicBezTo>
                    <a:pt x="1110" y="1893"/>
                    <a:pt x="1110" y="1893"/>
                    <a:pt x="1110" y="1893"/>
                  </a:cubicBezTo>
                  <a:cubicBezTo>
                    <a:pt x="1104" y="1929"/>
                    <a:pt x="1104" y="1929"/>
                    <a:pt x="1104" y="1929"/>
                  </a:cubicBezTo>
                  <a:cubicBezTo>
                    <a:pt x="1113" y="1918"/>
                    <a:pt x="1139" y="1887"/>
                    <a:pt x="1192" y="1887"/>
                  </a:cubicBezTo>
                  <a:cubicBezTo>
                    <a:pt x="1239" y="1887"/>
                    <a:pt x="1254" y="1916"/>
                    <a:pt x="1256" y="1933"/>
                  </a:cubicBezTo>
                  <a:cubicBezTo>
                    <a:pt x="1259" y="1948"/>
                    <a:pt x="1257" y="1960"/>
                    <a:pt x="1248" y="2005"/>
                  </a:cubicBezTo>
                  <a:cubicBezTo>
                    <a:pt x="1220" y="2136"/>
                    <a:pt x="1220" y="2136"/>
                    <a:pt x="1220" y="2136"/>
                  </a:cubicBezTo>
                  <a:cubicBezTo>
                    <a:pt x="1147" y="2136"/>
                    <a:pt x="1147" y="2136"/>
                    <a:pt x="1147" y="2136"/>
                  </a:cubicBezTo>
                  <a:cubicBezTo>
                    <a:pt x="1179" y="1985"/>
                    <a:pt x="1179" y="1985"/>
                    <a:pt x="1179" y="1985"/>
                  </a:cubicBezTo>
                  <a:cubicBezTo>
                    <a:pt x="1181" y="1975"/>
                    <a:pt x="1183" y="1967"/>
                    <a:pt x="1181" y="1959"/>
                  </a:cubicBezTo>
                  <a:cubicBezTo>
                    <a:pt x="1178" y="1949"/>
                    <a:pt x="1169" y="1938"/>
                    <a:pt x="1151" y="1938"/>
                  </a:cubicBezTo>
                  <a:cubicBezTo>
                    <a:pt x="1136" y="1938"/>
                    <a:pt x="1120" y="1946"/>
                    <a:pt x="1110" y="1957"/>
                  </a:cubicBezTo>
                  <a:cubicBezTo>
                    <a:pt x="1104" y="1963"/>
                    <a:pt x="1097" y="1975"/>
                    <a:pt x="1093" y="1994"/>
                  </a:cubicBezTo>
                  <a:cubicBezTo>
                    <a:pt x="1063" y="2136"/>
                    <a:pt x="1063" y="2136"/>
                    <a:pt x="1063" y="2136"/>
                  </a:cubicBezTo>
                  <a:cubicBezTo>
                    <a:pt x="992" y="2136"/>
                    <a:pt x="992" y="2136"/>
                    <a:pt x="992" y="2136"/>
                  </a:cubicBezTo>
                  <a:lnTo>
                    <a:pt x="1034" y="1937"/>
                  </a:lnTo>
                  <a:close/>
                  <a:moveTo>
                    <a:pt x="1558" y="1895"/>
                  </a:moveTo>
                  <a:cubicBezTo>
                    <a:pt x="1552" y="1914"/>
                    <a:pt x="1547" y="1930"/>
                    <a:pt x="1542" y="1955"/>
                  </a:cubicBezTo>
                  <a:cubicBezTo>
                    <a:pt x="1504" y="2134"/>
                    <a:pt x="1504" y="2134"/>
                    <a:pt x="1504" y="2134"/>
                  </a:cubicBezTo>
                  <a:cubicBezTo>
                    <a:pt x="1486" y="2223"/>
                    <a:pt x="1409" y="2232"/>
                    <a:pt x="1363" y="2232"/>
                  </a:cubicBezTo>
                  <a:cubicBezTo>
                    <a:pt x="1328" y="2232"/>
                    <a:pt x="1261" y="2228"/>
                    <a:pt x="1272" y="2154"/>
                  </a:cubicBezTo>
                  <a:cubicBezTo>
                    <a:pt x="1340" y="2154"/>
                    <a:pt x="1340" y="2154"/>
                    <a:pt x="1340" y="2154"/>
                  </a:cubicBezTo>
                  <a:cubicBezTo>
                    <a:pt x="1340" y="2158"/>
                    <a:pt x="1339" y="2166"/>
                    <a:pt x="1344" y="2174"/>
                  </a:cubicBezTo>
                  <a:cubicBezTo>
                    <a:pt x="1348" y="2181"/>
                    <a:pt x="1357" y="2188"/>
                    <a:pt x="1375" y="2188"/>
                  </a:cubicBezTo>
                  <a:cubicBezTo>
                    <a:pt x="1397" y="2188"/>
                    <a:pt x="1417" y="2178"/>
                    <a:pt x="1427" y="2156"/>
                  </a:cubicBezTo>
                  <a:cubicBezTo>
                    <a:pt x="1432" y="2144"/>
                    <a:pt x="1434" y="2135"/>
                    <a:pt x="1442" y="2099"/>
                  </a:cubicBezTo>
                  <a:cubicBezTo>
                    <a:pt x="1413" y="2128"/>
                    <a:pt x="1387" y="2132"/>
                    <a:pt x="1370" y="2132"/>
                  </a:cubicBezTo>
                  <a:cubicBezTo>
                    <a:pt x="1300" y="2132"/>
                    <a:pt x="1280" y="2071"/>
                    <a:pt x="1293" y="2012"/>
                  </a:cubicBezTo>
                  <a:cubicBezTo>
                    <a:pt x="1306" y="1951"/>
                    <a:pt x="1352" y="1892"/>
                    <a:pt x="1422" y="1892"/>
                  </a:cubicBezTo>
                  <a:cubicBezTo>
                    <a:pt x="1466" y="1892"/>
                    <a:pt x="1477" y="1916"/>
                    <a:pt x="1482" y="1927"/>
                  </a:cubicBezTo>
                  <a:cubicBezTo>
                    <a:pt x="1492" y="1895"/>
                    <a:pt x="1492" y="1895"/>
                    <a:pt x="1492" y="1895"/>
                  </a:cubicBezTo>
                  <a:lnTo>
                    <a:pt x="1558" y="1895"/>
                  </a:lnTo>
                  <a:close/>
                  <a:moveTo>
                    <a:pt x="1397" y="2083"/>
                  </a:moveTo>
                  <a:cubicBezTo>
                    <a:pt x="1447" y="2083"/>
                    <a:pt x="1459" y="2025"/>
                    <a:pt x="1461" y="2014"/>
                  </a:cubicBezTo>
                  <a:cubicBezTo>
                    <a:pt x="1467" y="1986"/>
                    <a:pt x="1472" y="1940"/>
                    <a:pt x="1428" y="1940"/>
                  </a:cubicBezTo>
                  <a:cubicBezTo>
                    <a:pt x="1401" y="1940"/>
                    <a:pt x="1375" y="1960"/>
                    <a:pt x="1364" y="2012"/>
                  </a:cubicBezTo>
                  <a:cubicBezTo>
                    <a:pt x="1362" y="2025"/>
                    <a:pt x="1349" y="2083"/>
                    <a:pt x="1397" y="2083"/>
                  </a:cubicBezTo>
                  <a:moveTo>
                    <a:pt x="1842" y="2133"/>
                  </a:moveTo>
                  <a:cubicBezTo>
                    <a:pt x="1818" y="2139"/>
                    <a:pt x="1797" y="2141"/>
                    <a:pt x="1786" y="2141"/>
                  </a:cubicBezTo>
                  <a:cubicBezTo>
                    <a:pt x="1714" y="2141"/>
                    <a:pt x="1723" y="2095"/>
                    <a:pt x="1728" y="2075"/>
                  </a:cubicBezTo>
                  <a:cubicBezTo>
                    <a:pt x="1756" y="1942"/>
                    <a:pt x="1756" y="1942"/>
                    <a:pt x="1756" y="1942"/>
                  </a:cubicBezTo>
                  <a:cubicBezTo>
                    <a:pt x="1710" y="1942"/>
                    <a:pt x="1710" y="1942"/>
                    <a:pt x="1710" y="1942"/>
                  </a:cubicBezTo>
                  <a:cubicBezTo>
                    <a:pt x="1719" y="1895"/>
                    <a:pt x="1719" y="1895"/>
                    <a:pt x="1719" y="1895"/>
                  </a:cubicBezTo>
                  <a:cubicBezTo>
                    <a:pt x="1766" y="1895"/>
                    <a:pt x="1766" y="1895"/>
                    <a:pt x="1766" y="1895"/>
                  </a:cubicBezTo>
                  <a:cubicBezTo>
                    <a:pt x="1776" y="1848"/>
                    <a:pt x="1776" y="1848"/>
                    <a:pt x="1776" y="1848"/>
                  </a:cubicBezTo>
                  <a:cubicBezTo>
                    <a:pt x="1852" y="1822"/>
                    <a:pt x="1852" y="1822"/>
                    <a:pt x="1852" y="1822"/>
                  </a:cubicBezTo>
                  <a:cubicBezTo>
                    <a:pt x="1837" y="1895"/>
                    <a:pt x="1837" y="1895"/>
                    <a:pt x="1837" y="1895"/>
                  </a:cubicBezTo>
                  <a:cubicBezTo>
                    <a:pt x="1895" y="1895"/>
                    <a:pt x="1895" y="1895"/>
                    <a:pt x="1895" y="1895"/>
                  </a:cubicBezTo>
                  <a:cubicBezTo>
                    <a:pt x="1884" y="1942"/>
                    <a:pt x="1884" y="1942"/>
                    <a:pt x="1884" y="1942"/>
                  </a:cubicBezTo>
                  <a:cubicBezTo>
                    <a:pt x="1827" y="1942"/>
                    <a:pt x="1827" y="1942"/>
                    <a:pt x="1827" y="1942"/>
                  </a:cubicBezTo>
                  <a:cubicBezTo>
                    <a:pt x="1803" y="2052"/>
                    <a:pt x="1803" y="2052"/>
                    <a:pt x="1803" y="2052"/>
                  </a:cubicBezTo>
                  <a:cubicBezTo>
                    <a:pt x="1799" y="2074"/>
                    <a:pt x="1796" y="2088"/>
                    <a:pt x="1828" y="2088"/>
                  </a:cubicBezTo>
                  <a:cubicBezTo>
                    <a:pt x="1838" y="2088"/>
                    <a:pt x="1844" y="2087"/>
                    <a:pt x="1852" y="2086"/>
                  </a:cubicBezTo>
                  <a:lnTo>
                    <a:pt x="1842" y="2133"/>
                  </a:lnTo>
                  <a:close/>
                  <a:moveTo>
                    <a:pt x="1954" y="1790"/>
                  </a:moveTo>
                  <a:cubicBezTo>
                    <a:pt x="2025" y="1790"/>
                    <a:pt x="2025" y="1790"/>
                    <a:pt x="2025" y="1790"/>
                  </a:cubicBezTo>
                  <a:cubicBezTo>
                    <a:pt x="1996" y="1927"/>
                    <a:pt x="1996" y="1927"/>
                    <a:pt x="1996" y="1927"/>
                  </a:cubicBezTo>
                  <a:cubicBezTo>
                    <a:pt x="2007" y="1915"/>
                    <a:pt x="2030" y="1890"/>
                    <a:pt x="2074" y="1890"/>
                  </a:cubicBezTo>
                  <a:cubicBezTo>
                    <a:pt x="2110" y="1890"/>
                    <a:pt x="2129" y="1908"/>
                    <a:pt x="2137" y="1923"/>
                  </a:cubicBezTo>
                  <a:cubicBezTo>
                    <a:pt x="2143" y="1935"/>
                    <a:pt x="2146" y="1957"/>
                    <a:pt x="2139" y="1989"/>
                  </a:cubicBezTo>
                  <a:cubicBezTo>
                    <a:pt x="2108" y="2136"/>
                    <a:pt x="2108" y="2136"/>
                    <a:pt x="2108" y="2136"/>
                  </a:cubicBezTo>
                  <a:cubicBezTo>
                    <a:pt x="2037" y="2136"/>
                    <a:pt x="2037" y="2136"/>
                    <a:pt x="2037" y="2136"/>
                  </a:cubicBezTo>
                  <a:cubicBezTo>
                    <a:pt x="2068" y="1991"/>
                    <a:pt x="2068" y="1991"/>
                    <a:pt x="2068" y="1991"/>
                  </a:cubicBezTo>
                  <a:cubicBezTo>
                    <a:pt x="2071" y="1977"/>
                    <a:pt x="2079" y="1938"/>
                    <a:pt x="2040" y="1938"/>
                  </a:cubicBezTo>
                  <a:cubicBezTo>
                    <a:pt x="2019" y="1938"/>
                    <a:pt x="1991" y="1950"/>
                    <a:pt x="1983" y="1988"/>
                  </a:cubicBezTo>
                  <a:cubicBezTo>
                    <a:pt x="1952" y="2136"/>
                    <a:pt x="1952" y="2136"/>
                    <a:pt x="1952" y="2136"/>
                  </a:cubicBezTo>
                  <a:cubicBezTo>
                    <a:pt x="1881" y="2136"/>
                    <a:pt x="1881" y="2136"/>
                    <a:pt x="1881" y="2136"/>
                  </a:cubicBezTo>
                  <a:lnTo>
                    <a:pt x="1954" y="1790"/>
                  </a:lnTo>
                  <a:close/>
                  <a:moveTo>
                    <a:pt x="2195" y="1953"/>
                  </a:moveTo>
                  <a:cubicBezTo>
                    <a:pt x="2197" y="1942"/>
                    <a:pt x="2203" y="1906"/>
                    <a:pt x="2205" y="1893"/>
                  </a:cubicBezTo>
                  <a:cubicBezTo>
                    <a:pt x="2271" y="1893"/>
                    <a:pt x="2271" y="1893"/>
                    <a:pt x="2271" y="1893"/>
                  </a:cubicBezTo>
                  <a:cubicBezTo>
                    <a:pt x="2263" y="1939"/>
                    <a:pt x="2263" y="1939"/>
                    <a:pt x="2263" y="1939"/>
                  </a:cubicBezTo>
                  <a:cubicBezTo>
                    <a:pt x="2276" y="1919"/>
                    <a:pt x="2298" y="1889"/>
                    <a:pt x="2356" y="1892"/>
                  </a:cubicBezTo>
                  <a:cubicBezTo>
                    <a:pt x="2342" y="1956"/>
                    <a:pt x="2342" y="1956"/>
                    <a:pt x="2342" y="1956"/>
                  </a:cubicBezTo>
                  <a:cubicBezTo>
                    <a:pt x="2271" y="1949"/>
                    <a:pt x="2259" y="1986"/>
                    <a:pt x="2253" y="2017"/>
                  </a:cubicBezTo>
                  <a:cubicBezTo>
                    <a:pt x="2227" y="2136"/>
                    <a:pt x="2227" y="2136"/>
                    <a:pt x="2227" y="2136"/>
                  </a:cubicBezTo>
                  <a:cubicBezTo>
                    <a:pt x="2156" y="2136"/>
                    <a:pt x="2156" y="2136"/>
                    <a:pt x="2156" y="2136"/>
                  </a:cubicBezTo>
                  <a:lnTo>
                    <a:pt x="2195" y="1953"/>
                  </a:lnTo>
                  <a:close/>
                  <a:moveTo>
                    <a:pt x="2503" y="1888"/>
                  </a:moveTo>
                  <a:cubicBezTo>
                    <a:pt x="2591" y="1888"/>
                    <a:pt x="2617" y="1948"/>
                    <a:pt x="2602" y="2015"/>
                  </a:cubicBezTo>
                  <a:cubicBezTo>
                    <a:pt x="2587" y="2083"/>
                    <a:pt x="2535" y="2145"/>
                    <a:pt x="2447" y="2145"/>
                  </a:cubicBezTo>
                  <a:cubicBezTo>
                    <a:pt x="2378" y="2145"/>
                    <a:pt x="2332" y="2102"/>
                    <a:pt x="2350" y="2017"/>
                  </a:cubicBezTo>
                  <a:cubicBezTo>
                    <a:pt x="2362" y="1959"/>
                    <a:pt x="2408" y="1888"/>
                    <a:pt x="2503" y="1888"/>
                  </a:cubicBezTo>
                  <a:moveTo>
                    <a:pt x="2460" y="2095"/>
                  </a:moveTo>
                  <a:cubicBezTo>
                    <a:pt x="2491" y="2095"/>
                    <a:pt x="2516" y="2077"/>
                    <a:pt x="2530" y="2012"/>
                  </a:cubicBezTo>
                  <a:cubicBezTo>
                    <a:pt x="2537" y="1980"/>
                    <a:pt x="2540" y="1935"/>
                    <a:pt x="2493" y="1935"/>
                  </a:cubicBezTo>
                  <a:cubicBezTo>
                    <a:pt x="2441" y="1935"/>
                    <a:pt x="2427" y="1995"/>
                    <a:pt x="2423" y="2018"/>
                  </a:cubicBezTo>
                  <a:cubicBezTo>
                    <a:pt x="2411" y="2072"/>
                    <a:pt x="2425" y="2095"/>
                    <a:pt x="2460" y="2095"/>
                  </a:cubicBezTo>
                  <a:moveTo>
                    <a:pt x="2743" y="1894"/>
                  </a:moveTo>
                  <a:cubicBezTo>
                    <a:pt x="2713" y="2038"/>
                    <a:pt x="2713" y="2038"/>
                    <a:pt x="2713" y="2038"/>
                  </a:cubicBezTo>
                  <a:cubicBezTo>
                    <a:pt x="2708" y="2060"/>
                    <a:pt x="2701" y="2092"/>
                    <a:pt x="2740" y="2092"/>
                  </a:cubicBezTo>
                  <a:cubicBezTo>
                    <a:pt x="2785" y="2092"/>
                    <a:pt x="2792" y="2058"/>
                    <a:pt x="2801" y="2016"/>
                  </a:cubicBezTo>
                  <a:cubicBezTo>
                    <a:pt x="2827" y="1894"/>
                    <a:pt x="2827" y="1894"/>
                    <a:pt x="2827" y="1894"/>
                  </a:cubicBezTo>
                  <a:cubicBezTo>
                    <a:pt x="2900" y="1894"/>
                    <a:pt x="2900" y="1894"/>
                    <a:pt x="2900" y="1894"/>
                  </a:cubicBezTo>
                  <a:cubicBezTo>
                    <a:pt x="2867" y="2053"/>
                    <a:pt x="2867" y="2053"/>
                    <a:pt x="2867" y="2053"/>
                  </a:cubicBezTo>
                  <a:cubicBezTo>
                    <a:pt x="2856" y="2106"/>
                    <a:pt x="2855" y="2112"/>
                    <a:pt x="2854" y="2118"/>
                  </a:cubicBezTo>
                  <a:cubicBezTo>
                    <a:pt x="2853" y="2125"/>
                    <a:pt x="2852" y="2130"/>
                    <a:pt x="2852" y="2136"/>
                  </a:cubicBezTo>
                  <a:cubicBezTo>
                    <a:pt x="2783" y="2136"/>
                    <a:pt x="2783" y="2136"/>
                    <a:pt x="2783" y="2136"/>
                  </a:cubicBezTo>
                  <a:cubicBezTo>
                    <a:pt x="2787" y="2104"/>
                    <a:pt x="2787" y="2104"/>
                    <a:pt x="2787" y="2104"/>
                  </a:cubicBezTo>
                  <a:cubicBezTo>
                    <a:pt x="2778" y="2115"/>
                    <a:pt x="2753" y="2143"/>
                    <a:pt x="2707" y="2143"/>
                  </a:cubicBezTo>
                  <a:cubicBezTo>
                    <a:pt x="2675" y="2143"/>
                    <a:pt x="2651" y="2128"/>
                    <a:pt x="2641" y="2110"/>
                  </a:cubicBezTo>
                  <a:cubicBezTo>
                    <a:pt x="2630" y="2090"/>
                    <a:pt x="2637" y="2056"/>
                    <a:pt x="2639" y="2045"/>
                  </a:cubicBezTo>
                  <a:cubicBezTo>
                    <a:pt x="2671" y="1894"/>
                    <a:pt x="2671" y="1894"/>
                    <a:pt x="2671" y="1894"/>
                  </a:cubicBezTo>
                  <a:lnTo>
                    <a:pt x="2743" y="1894"/>
                  </a:lnTo>
                  <a:close/>
                  <a:moveTo>
                    <a:pt x="3181" y="1895"/>
                  </a:moveTo>
                  <a:cubicBezTo>
                    <a:pt x="3175" y="1914"/>
                    <a:pt x="3170" y="1930"/>
                    <a:pt x="3164" y="1955"/>
                  </a:cubicBezTo>
                  <a:cubicBezTo>
                    <a:pt x="3126" y="2134"/>
                    <a:pt x="3126" y="2134"/>
                    <a:pt x="3126" y="2134"/>
                  </a:cubicBezTo>
                  <a:cubicBezTo>
                    <a:pt x="3108" y="2223"/>
                    <a:pt x="3031" y="2232"/>
                    <a:pt x="2985" y="2232"/>
                  </a:cubicBezTo>
                  <a:cubicBezTo>
                    <a:pt x="2950" y="2232"/>
                    <a:pt x="2883" y="2228"/>
                    <a:pt x="2894" y="2154"/>
                  </a:cubicBezTo>
                  <a:cubicBezTo>
                    <a:pt x="2962" y="2154"/>
                    <a:pt x="2962" y="2154"/>
                    <a:pt x="2962" y="2154"/>
                  </a:cubicBezTo>
                  <a:cubicBezTo>
                    <a:pt x="2962" y="2158"/>
                    <a:pt x="2962" y="2166"/>
                    <a:pt x="2966" y="2174"/>
                  </a:cubicBezTo>
                  <a:cubicBezTo>
                    <a:pt x="2970" y="2181"/>
                    <a:pt x="2979" y="2188"/>
                    <a:pt x="2998" y="2188"/>
                  </a:cubicBezTo>
                  <a:cubicBezTo>
                    <a:pt x="3019" y="2188"/>
                    <a:pt x="3040" y="2178"/>
                    <a:pt x="3049" y="2156"/>
                  </a:cubicBezTo>
                  <a:cubicBezTo>
                    <a:pt x="3054" y="2144"/>
                    <a:pt x="3056" y="2135"/>
                    <a:pt x="3064" y="2099"/>
                  </a:cubicBezTo>
                  <a:cubicBezTo>
                    <a:pt x="3036" y="2128"/>
                    <a:pt x="3009" y="2132"/>
                    <a:pt x="2992" y="2132"/>
                  </a:cubicBezTo>
                  <a:cubicBezTo>
                    <a:pt x="2922" y="2132"/>
                    <a:pt x="2903" y="2071"/>
                    <a:pt x="2915" y="2012"/>
                  </a:cubicBezTo>
                  <a:cubicBezTo>
                    <a:pt x="2928" y="1951"/>
                    <a:pt x="2974" y="1892"/>
                    <a:pt x="3044" y="1892"/>
                  </a:cubicBezTo>
                  <a:cubicBezTo>
                    <a:pt x="3088" y="1892"/>
                    <a:pt x="3099" y="1916"/>
                    <a:pt x="3105" y="1927"/>
                  </a:cubicBezTo>
                  <a:cubicBezTo>
                    <a:pt x="3114" y="1895"/>
                    <a:pt x="3114" y="1895"/>
                    <a:pt x="3114" y="1895"/>
                  </a:cubicBezTo>
                  <a:lnTo>
                    <a:pt x="3181" y="1895"/>
                  </a:lnTo>
                  <a:close/>
                  <a:moveTo>
                    <a:pt x="3019" y="2083"/>
                  </a:moveTo>
                  <a:cubicBezTo>
                    <a:pt x="3069" y="2083"/>
                    <a:pt x="3081" y="2025"/>
                    <a:pt x="3083" y="2014"/>
                  </a:cubicBezTo>
                  <a:cubicBezTo>
                    <a:pt x="3089" y="1986"/>
                    <a:pt x="3094" y="1940"/>
                    <a:pt x="3051" y="1940"/>
                  </a:cubicBezTo>
                  <a:cubicBezTo>
                    <a:pt x="3024" y="1940"/>
                    <a:pt x="2997" y="1960"/>
                    <a:pt x="2986" y="2012"/>
                  </a:cubicBezTo>
                  <a:cubicBezTo>
                    <a:pt x="2984" y="2025"/>
                    <a:pt x="2971" y="2083"/>
                    <a:pt x="3019" y="2083"/>
                  </a:cubicBezTo>
                  <a:moveTo>
                    <a:pt x="3257" y="1790"/>
                  </a:moveTo>
                  <a:cubicBezTo>
                    <a:pt x="3327" y="1790"/>
                    <a:pt x="3327" y="1790"/>
                    <a:pt x="3327" y="1790"/>
                  </a:cubicBezTo>
                  <a:cubicBezTo>
                    <a:pt x="3298" y="1927"/>
                    <a:pt x="3298" y="1927"/>
                    <a:pt x="3298" y="1927"/>
                  </a:cubicBezTo>
                  <a:cubicBezTo>
                    <a:pt x="3309" y="1915"/>
                    <a:pt x="3332" y="1890"/>
                    <a:pt x="3376" y="1890"/>
                  </a:cubicBezTo>
                  <a:cubicBezTo>
                    <a:pt x="3412" y="1890"/>
                    <a:pt x="3431" y="1908"/>
                    <a:pt x="3440" y="1923"/>
                  </a:cubicBezTo>
                  <a:cubicBezTo>
                    <a:pt x="3446" y="1935"/>
                    <a:pt x="3448" y="1957"/>
                    <a:pt x="3441" y="1989"/>
                  </a:cubicBezTo>
                  <a:cubicBezTo>
                    <a:pt x="3410" y="2136"/>
                    <a:pt x="3410" y="2136"/>
                    <a:pt x="3410" y="2136"/>
                  </a:cubicBezTo>
                  <a:cubicBezTo>
                    <a:pt x="3340" y="2136"/>
                    <a:pt x="3340" y="2136"/>
                    <a:pt x="3340" y="2136"/>
                  </a:cubicBezTo>
                  <a:cubicBezTo>
                    <a:pt x="3370" y="1991"/>
                    <a:pt x="3370" y="1991"/>
                    <a:pt x="3370" y="1991"/>
                  </a:cubicBezTo>
                  <a:cubicBezTo>
                    <a:pt x="3373" y="1977"/>
                    <a:pt x="3382" y="1938"/>
                    <a:pt x="3342" y="1938"/>
                  </a:cubicBezTo>
                  <a:cubicBezTo>
                    <a:pt x="3322" y="1938"/>
                    <a:pt x="3293" y="1950"/>
                    <a:pt x="3286" y="1988"/>
                  </a:cubicBezTo>
                  <a:cubicBezTo>
                    <a:pt x="3255" y="2136"/>
                    <a:pt x="3255" y="2136"/>
                    <a:pt x="3255" y="2136"/>
                  </a:cubicBezTo>
                  <a:cubicBezTo>
                    <a:pt x="3183" y="2136"/>
                    <a:pt x="3183" y="2136"/>
                    <a:pt x="3183" y="2136"/>
                  </a:cubicBezTo>
                  <a:lnTo>
                    <a:pt x="3257" y="1790"/>
                  </a:lnTo>
                  <a:close/>
                  <a:moveTo>
                    <a:pt x="158" y="1980"/>
                  </a:moveTo>
                  <a:cubicBezTo>
                    <a:pt x="159" y="1971"/>
                    <a:pt x="164" y="1935"/>
                    <a:pt x="137" y="1935"/>
                  </a:cubicBezTo>
                  <a:cubicBezTo>
                    <a:pt x="103" y="1935"/>
                    <a:pt x="89" y="1986"/>
                    <a:pt x="83" y="2012"/>
                  </a:cubicBezTo>
                  <a:cubicBezTo>
                    <a:pt x="80" y="2026"/>
                    <a:pt x="72" y="2069"/>
                    <a:pt x="85" y="2087"/>
                  </a:cubicBezTo>
                  <a:cubicBezTo>
                    <a:pt x="90" y="2094"/>
                    <a:pt x="97" y="2095"/>
                    <a:pt x="102" y="2095"/>
                  </a:cubicBezTo>
                  <a:cubicBezTo>
                    <a:pt x="109" y="2095"/>
                    <a:pt x="133" y="2092"/>
                    <a:pt x="145" y="2048"/>
                  </a:cubicBezTo>
                  <a:cubicBezTo>
                    <a:pt x="215" y="2048"/>
                    <a:pt x="215" y="2048"/>
                    <a:pt x="215" y="2048"/>
                  </a:cubicBezTo>
                  <a:cubicBezTo>
                    <a:pt x="210" y="2067"/>
                    <a:pt x="201" y="2097"/>
                    <a:pt x="168" y="2120"/>
                  </a:cubicBezTo>
                  <a:cubicBezTo>
                    <a:pt x="148" y="2135"/>
                    <a:pt x="124" y="2143"/>
                    <a:pt x="94" y="2143"/>
                  </a:cubicBezTo>
                  <a:cubicBezTo>
                    <a:pt x="62" y="2143"/>
                    <a:pt x="35" y="2135"/>
                    <a:pt x="18" y="2110"/>
                  </a:cubicBezTo>
                  <a:cubicBezTo>
                    <a:pt x="2" y="2086"/>
                    <a:pt x="0" y="2053"/>
                    <a:pt x="8" y="2015"/>
                  </a:cubicBezTo>
                  <a:cubicBezTo>
                    <a:pt x="32" y="1904"/>
                    <a:pt x="116" y="1889"/>
                    <a:pt x="148" y="1889"/>
                  </a:cubicBezTo>
                  <a:cubicBezTo>
                    <a:pt x="193" y="1889"/>
                    <a:pt x="241" y="1914"/>
                    <a:pt x="228" y="1980"/>
                  </a:cubicBezTo>
                  <a:lnTo>
                    <a:pt x="158" y="1980"/>
                  </a:lnTo>
                  <a:close/>
                  <a:moveTo>
                    <a:pt x="3764" y="1980"/>
                  </a:moveTo>
                  <a:cubicBezTo>
                    <a:pt x="3765" y="1971"/>
                    <a:pt x="3770" y="1935"/>
                    <a:pt x="3742" y="1935"/>
                  </a:cubicBezTo>
                  <a:cubicBezTo>
                    <a:pt x="3709" y="1935"/>
                    <a:pt x="3694" y="1986"/>
                    <a:pt x="3688" y="2012"/>
                  </a:cubicBezTo>
                  <a:cubicBezTo>
                    <a:pt x="3685" y="2026"/>
                    <a:pt x="3678" y="2069"/>
                    <a:pt x="3691" y="2087"/>
                  </a:cubicBezTo>
                  <a:cubicBezTo>
                    <a:pt x="3695" y="2094"/>
                    <a:pt x="3703" y="2095"/>
                    <a:pt x="3708" y="2095"/>
                  </a:cubicBezTo>
                  <a:cubicBezTo>
                    <a:pt x="3715" y="2095"/>
                    <a:pt x="3738" y="2092"/>
                    <a:pt x="3751" y="2048"/>
                  </a:cubicBezTo>
                  <a:cubicBezTo>
                    <a:pt x="3820" y="2048"/>
                    <a:pt x="3820" y="2048"/>
                    <a:pt x="3820" y="2048"/>
                  </a:cubicBezTo>
                  <a:cubicBezTo>
                    <a:pt x="3816" y="2067"/>
                    <a:pt x="3807" y="2097"/>
                    <a:pt x="3774" y="2120"/>
                  </a:cubicBezTo>
                  <a:cubicBezTo>
                    <a:pt x="3754" y="2135"/>
                    <a:pt x="3730" y="2143"/>
                    <a:pt x="3700" y="2143"/>
                  </a:cubicBezTo>
                  <a:cubicBezTo>
                    <a:pt x="3668" y="2143"/>
                    <a:pt x="3641" y="2135"/>
                    <a:pt x="3624" y="2110"/>
                  </a:cubicBezTo>
                  <a:cubicBezTo>
                    <a:pt x="3608" y="2086"/>
                    <a:pt x="3606" y="2053"/>
                    <a:pt x="3614" y="2015"/>
                  </a:cubicBezTo>
                  <a:cubicBezTo>
                    <a:pt x="3638" y="1904"/>
                    <a:pt x="3722" y="1889"/>
                    <a:pt x="3754" y="1889"/>
                  </a:cubicBezTo>
                  <a:cubicBezTo>
                    <a:pt x="3799" y="1889"/>
                    <a:pt x="3847" y="1914"/>
                    <a:pt x="3834" y="1980"/>
                  </a:cubicBezTo>
                  <a:lnTo>
                    <a:pt x="3764" y="1980"/>
                  </a:lnTo>
                  <a:close/>
                  <a:moveTo>
                    <a:pt x="4010" y="1888"/>
                  </a:moveTo>
                  <a:cubicBezTo>
                    <a:pt x="4098" y="1888"/>
                    <a:pt x="4123" y="1948"/>
                    <a:pt x="4109" y="2015"/>
                  </a:cubicBezTo>
                  <a:cubicBezTo>
                    <a:pt x="4094" y="2083"/>
                    <a:pt x="4042" y="2145"/>
                    <a:pt x="3954" y="2145"/>
                  </a:cubicBezTo>
                  <a:cubicBezTo>
                    <a:pt x="3884" y="2145"/>
                    <a:pt x="3839" y="2102"/>
                    <a:pt x="3857" y="2017"/>
                  </a:cubicBezTo>
                  <a:cubicBezTo>
                    <a:pt x="3870" y="1959"/>
                    <a:pt x="3914" y="1888"/>
                    <a:pt x="4010" y="1888"/>
                  </a:cubicBezTo>
                  <a:moveTo>
                    <a:pt x="3967" y="2095"/>
                  </a:moveTo>
                  <a:cubicBezTo>
                    <a:pt x="3998" y="2095"/>
                    <a:pt x="4023" y="2077"/>
                    <a:pt x="4037" y="2012"/>
                  </a:cubicBezTo>
                  <a:cubicBezTo>
                    <a:pt x="4044" y="1980"/>
                    <a:pt x="4047" y="1935"/>
                    <a:pt x="4000" y="1935"/>
                  </a:cubicBezTo>
                  <a:cubicBezTo>
                    <a:pt x="3948" y="1935"/>
                    <a:pt x="3935" y="1995"/>
                    <a:pt x="3930" y="2018"/>
                  </a:cubicBezTo>
                  <a:cubicBezTo>
                    <a:pt x="3918" y="2072"/>
                    <a:pt x="3932" y="2095"/>
                    <a:pt x="3967" y="2095"/>
                  </a:cubicBezTo>
                  <a:moveTo>
                    <a:pt x="4173" y="1939"/>
                  </a:moveTo>
                  <a:cubicBezTo>
                    <a:pt x="4176" y="1924"/>
                    <a:pt x="4178" y="1909"/>
                    <a:pt x="4180" y="1894"/>
                  </a:cubicBezTo>
                  <a:cubicBezTo>
                    <a:pt x="4248" y="1894"/>
                    <a:pt x="4248" y="1894"/>
                    <a:pt x="4248" y="1894"/>
                  </a:cubicBezTo>
                  <a:cubicBezTo>
                    <a:pt x="4245" y="1925"/>
                    <a:pt x="4245" y="1925"/>
                    <a:pt x="4245" y="1925"/>
                  </a:cubicBezTo>
                  <a:cubicBezTo>
                    <a:pt x="4254" y="1915"/>
                    <a:pt x="4279" y="1889"/>
                    <a:pt x="4327" y="1889"/>
                  </a:cubicBezTo>
                  <a:cubicBezTo>
                    <a:pt x="4383" y="1889"/>
                    <a:pt x="4392" y="1923"/>
                    <a:pt x="4394" y="1934"/>
                  </a:cubicBezTo>
                  <a:cubicBezTo>
                    <a:pt x="4423" y="1895"/>
                    <a:pt x="4456" y="1889"/>
                    <a:pt x="4481" y="1889"/>
                  </a:cubicBezTo>
                  <a:cubicBezTo>
                    <a:pt x="4530" y="1889"/>
                    <a:pt x="4544" y="1918"/>
                    <a:pt x="4547" y="1928"/>
                  </a:cubicBezTo>
                  <a:cubicBezTo>
                    <a:pt x="4555" y="1949"/>
                    <a:pt x="4548" y="1978"/>
                    <a:pt x="4544" y="1999"/>
                  </a:cubicBezTo>
                  <a:cubicBezTo>
                    <a:pt x="4515" y="2136"/>
                    <a:pt x="4515" y="2136"/>
                    <a:pt x="4515" y="2136"/>
                  </a:cubicBezTo>
                  <a:cubicBezTo>
                    <a:pt x="4443" y="2136"/>
                    <a:pt x="4443" y="2136"/>
                    <a:pt x="4443" y="2136"/>
                  </a:cubicBezTo>
                  <a:cubicBezTo>
                    <a:pt x="4473" y="1994"/>
                    <a:pt x="4473" y="1994"/>
                    <a:pt x="4473" y="1994"/>
                  </a:cubicBezTo>
                  <a:cubicBezTo>
                    <a:pt x="4479" y="1968"/>
                    <a:pt x="4481" y="1939"/>
                    <a:pt x="4444" y="1939"/>
                  </a:cubicBezTo>
                  <a:cubicBezTo>
                    <a:pt x="4401" y="1939"/>
                    <a:pt x="4392" y="1979"/>
                    <a:pt x="4385" y="2015"/>
                  </a:cubicBezTo>
                  <a:cubicBezTo>
                    <a:pt x="4358" y="2136"/>
                    <a:pt x="4358" y="2136"/>
                    <a:pt x="4358" y="2136"/>
                  </a:cubicBezTo>
                  <a:cubicBezTo>
                    <a:pt x="4286" y="2136"/>
                    <a:pt x="4286" y="2136"/>
                    <a:pt x="4286" y="2136"/>
                  </a:cubicBezTo>
                  <a:cubicBezTo>
                    <a:pt x="4318" y="1992"/>
                    <a:pt x="4318" y="1992"/>
                    <a:pt x="4318" y="1992"/>
                  </a:cubicBezTo>
                  <a:cubicBezTo>
                    <a:pt x="4321" y="1974"/>
                    <a:pt x="4328" y="1939"/>
                    <a:pt x="4289" y="1939"/>
                  </a:cubicBezTo>
                  <a:cubicBezTo>
                    <a:pt x="4244" y="1939"/>
                    <a:pt x="4236" y="1977"/>
                    <a:pt x="4232" y="1994"/>
                  </a:cubicBezTo>
                  <a:cubicBezTo>
                    <a:pt x="4202" y="2136"/>
                    <a:pt x="4202" y="2136"/>
                    <a:pt x="4202" y="2136"/>
                  </a:cubicBezTo>
                  <a:cubicBezTo>
                    <a:pt x="4131" y="2136"/>
                    <a:pt x="4131" y="2136"/>
                    <a:pt x="4131" y="2136"/>
                  </a:cubicBezTo>
                  <a:lnTo>
                    <a:pt x="4173" y="1939"/>
                  </a:lnTo>
                  <a:close/>
                  <a:moveTo>
                    <a:pt x="4694" y="1894"/>
                  </a:moveTo>
                  <a:cubicBezTo>
                    <a:pt x="4689" y="1928"/>
                    <a:pt x="4689" y="1928"/>
                    <a:pt x="4689" y="1928"/>
                  </a:cubicBezTo>
                  <a:cubicBezTo>
                    <a:pt x="4719" y="1889"/>
                    <a:pt x="4759" y="1889"/>
                    <a:pt x="4771" y="1889"/>
                  </a:cubicBezTo>
                  <a:cubicBezTo>
                    <a:pt x="4834" y="1889"/>
                    <a:pt x="4862" y="1936"/>
                    <a:pt x="4846" y="2010"/>
                  </a:cubicBezTo>
                  <a:cubicBezTo>
                    <a:pt x="4832" y="2079"/>
                    <a:pt x="4783" y="2140"/>
                    <a:pt x="4713" y="2140"/>
                  </a:cubicBezTo>
                  <a:cubicBezTo>
                    <a:pt x="4669" y="2140"/>
                    <a:pt x="4656" y="2117"/>
                    <a:pt x="4652" y="2109"/>
                  </a:cubicBezTo>
                  <a:cubicBezTo>
                    <a:pt x="4626" y="2229"/>
                    <a:pt x="4626" y="2229"/>
                    <a:pt x="4626" y="2229"/>
                  </a:cubicBezTo>
                  <a:cubicBezTo>
                    <a:pt x="4554" y="2229"/>
                    <a:pt x="4554" y="2229"/>
                    <a:pt x="4554" y="2229"/>
                  </a:cubicBezTo>
                  <a:cubicBezTo>
                    <a:pt x="4625" y="1894"/>
                    <a:pt x="4625" y="1894"/>
                    <a:pt x="4625" y="1894"/>
                  </a:cubicBezTo>
                  <a:lnTo>
                    <a:pt x="4694" y="1894"/>
                  </a:lnTo>
                  <a:close/>
                  <a:moveTo>
                    <a:pt x="4774" y="2013"/>
                  </a:moveTo>
                  <a:cubicBezTo>
                    <a:pt x="4780" y="1984"/>
                    <a:pt x="4783" y="1935"/>
                    <a:pt x="4741" y="1935"/>
                  </a:cubicBezTo>
                  <a:cubicBezTo>
                    <a:pt x="4718" y="1935"/>
                    <a:pt x="4682" y="1952"/>
                    <a:pt x="4668" y="2017"/>
                  </a:cubicBezTo>
                  <a:cubicBezTo>
                    <a:pt x="4665" y="2031"/>
                    <a:pt x="4652" y="2093"/>
                    <a:pt x="4705" y="2093"/>
                  </a:cubicBezTo>
                  <a:cubicBezTo>
                    <a:pt x="4738" y="2093"/>
                    <a:pt x="4763" y="2061"/>
                    <a:pt x="4774" y="2013"/>
                  </a:cubicBezTo>
                  <a:moveTo>
                    <a:pt x="4936" y="1789"/>
                  </a:moveTo>
                  <a:cubicBezTo>
                    <a:pt x="5007" y="1789"/>
                    <a:pt x="5007" y="1789"/>
                    <a:pt x="5007" y="1789"/>
                  </a:cubicBezTo>
                  <a:cubicBezTo>
                    <a:pt x="4933" y="2136"/>
                    <a:pt x="4933" y="2136"/>
                    <a:pt x="4933" y="2136"/>
                  </a:cubicBezTo>
                  <a:cubicBezTo>
                    <a:pt x="4862" y="2136"/>
                    <a:pt x="4862" y="2136"/>
                    <a:pt x="4862" y="2136"/>
                  </a:cubicBezTo>
                  <a:lnTo>
                    <a:pt x="4936" y="1789"/>
                  </a:lnTo>
                  <a:close/>
                  <a:moveTo>
                    <a:pt x="5068" y="2033"/>
                  </a:moveTo>
                  <a:cubicBezTo>
                    <a:pt x="5064" y="2049"/>
                    <a:pt x="5054" y="2098"/>
                    <a:pt x="5104" y="2098"/>
                  </a:cubicBezTo>
                  <a:cubicBezTo>
                    <a:pt x="5121" y="2098"/>
                    <a:pt x="5140" y="2091"/>
                    <a:pt x="5153" y="2064"/>
                  </a:cubicBezTo>
                  <a:cubicBezTo>
                    <a:pt x="5218" y="2064"/>
                    <a:pt x="5218" y="2064"/>
                    <a:pt x="5218" y="2064"/>
                  </a:cubicBezTo>
                  <a:cubicBezTo>
                    <a:pt x="5214" y="2076"/>
                    <a:pt x="5208" y="2097"/>
                    <a:pt x="5184" y="2117"/>
                  </a:cubicBezTo>
                  <a:cubicBezTo>
                    <a:pt x="5162" y="2136"/>
                    <a:pt x="5128" y="2145"/>
                    <a:pt x="5092" y="2145"/>
                  </a:cubicBezTo>
                  <a:cubicBezTo>
                    <a:pt x="5072" y="2145"/>
                    <a:pt x="5033" y="2142"/>
                    <a:pt x="5013" y="2115"/>
                  </a:cubicBezTo>
                  <a:cubicBezTo>
                    <a:pt x="4996" y="2092"/>
                    <a:pt x="4994" y="2060"/>
                    <a:pt x="5002" y="2021"/>
                  </a:cubicBezTo>
                  <a:cubicBezTo>
                    <a:pt x="5011" y="1981"/>
                    <a:pt x="5030" y="1934"/>
                    <a:pt x="5077" y="1906"/>
                  </a:cubicBezTo>
                  <a:cubicBezTo>
                    <a:pt x="5099" y="1893"/>
                    <a:pt x="5123" y="1886"/>
                    <a:pt x="5150" y="1886"/>
                  </a:cubicBezTo>
                  <a:cubicBezTo>
                    <a:pt x="5184" y="1886"/>
                    <a:pt x="5222" y="1899"/>
                    <a:pt x="5235" y="1944"/>
                  </a:cubicBezTo>
                  <a:cubicBezTo>
                    <a:pt x="5244" y="1977"/>
                    <a:pt x="5236" y="2013"/>
                    <a:pt x="5231" y="2033"/>
                  </a:cubicBezTo>
                  <a:lnTo>
                    <a:pt x="5068" y="2033"/>
                  </a:lnTo>
                  <a:close/>
                  <a:moveTo>
                    <a:pt x="5167" y="1988"/>
                  </a:moveTo>
                  <a:cubicBezTo>
                    <a:pt x="5170" y="1977"/>
                    <a:pt x="5178" y="1934"/>
                    <a:pt x="5137" y="1934"/>
                  </a:cubicBezTo>
                  <a:cubicBezTo>
                    <a:pt x="5105" y="1934"/>
                    <a:pt x="5087" y="1960"/>
                    <a:pt x="5080" y="1988"/>
                  </a:cubicBezTo>
                  <a:lnTo>
                    <a:pt x="5167" y="1988"/>
                  </a:lnTo>
                  <a:close/>
                  <a:moveTo>
                    <a:pt x="5353" y="1894"/>
                  </a:moveTo>
                  <a:cubicBezTo>
                    <a:pt x="5382" y="1973"/>
                    <a:pt x="5382" y="1973"/>
                    <a:pt x="5382" y="1973"/>
                  </a:cubicBezTo>
                  <a:cubicBezTo>
                    <a:pt x="5447" y="1894"/>
                    <a:pt x="5447" y="1894"/>
                    <a:pt x="5447" y="1894"/>
                  </a:cubicBezTo>
                  <a:cubicBezTo>
                    <a:pt x="5520" y="1894"/>
                    <a:pt x="5520" y="1894"/>
                    <a:pt x="5520" y="1894"/>
                  </a:cubicBezTo>
                  <a:cubicBezTo>
                    <a:pt x="5417" y="2012"/>
                    <a:pt x="5417" y="2012"/>
                    <a:pt x="5417" y="2012"/>
                  </a:cubicBezTo>
                  <a:cubicBezTo>
                    <a:pt x="5471" y="2136"/>
                    <a:pt x="5471" y="2136"/>
                    <a:pt x="5471" y="2136"/>
                  </a:cubicBezTo>
                  <a:cubicBezTo>
                    <a:pt x="5388" y="2136"/>
                    <a:pt x="5388" y="2136"/>
                    <a:pt x="5388" y="2136"/>
                  </a:cubicBezTo>
                  <a:cubicBezTo>
                    <a:pt x="5357" y="2047"/>
                    <a:pt x="5357" y="2047"/>
                    <a:pt x="5357" y="2047"/>
                  </a:cubicBezTo>
                  <a:cubicBezTo>
                    <a:pt x="5289" y="2136"/>
                    <a:pt x="5289" y="2136"/>
                    <a:pt x="5289" y="2136"/>
                  </a:cubicBezTo>
                  <a:cubicBezTo>
                    <a:pt x="5214" y="2136"/>
                    <a:pt x="5214" y="2136"/>
                    <a:pt x="5214" y="2136"/>
                  </a:cubicBezTo>
                  <a:cubicBezTo>
                    <a:pt x="5323" y="2006"/>
                    <a:pt x="5323" y="2006"/>
                    <a:pt x="5323" y="2006"/>
                  </a:cubicBezTo>
                  <a:cubicBezTo>
                    <a:pt x="5269" y="1894"/>
                    <a:pt x="5269" y="1894"/>
                    <a:pt x="5269" y="1894"/>
                  </a:cubicBezTo>
                  <a:lnTo>
                    <a:pt x="5353" y="1894"/>
                  </a:lnTo>
                  <a:close/>
                  <a:moveTo>
                    <a:pt x="5553" y="1893"/>
                  </a:moveTo>
                  <a:cubicBezTo>
                    <a:pt x="5625" y="1893"/>
                    <a:pt x="5625" y="1893"/>
                    <a:pt x="5625" y="1893"/>
                  </a:cubicBezTo>
                  <a:cubicBezTo>
                    <a:pt x="5573" y="2136"/>
                    <a:pt x="5573" y="2136"/>
                    <a:pt x="5573" y="2136"/>
                  </a:cubicBezTo>
                  <a:cubicBezTo>
                    <a:pt x="5501" y="2136"/>
                    <a:pt x="5501" y="2136"/>
                    <a:pt x="5501" y="2136"/>
                  </a:cubicBezTo>
                  <a:lnTo>
                    <a:pt x="5553" y="1893"/>
                  </a:lnTo>
                  <a:close/>
                  <a:moveTo>
                    <a:pt x="5573" y="1790"/>
                  </a:moveTo>
                  <a:cubicBezTo>
                    <a:pt x="5648" y="1790"/>
                    <a:pt x="5648" y="1790"/>
                    <a:pt x="5648" y="1790"/>
                  </a:cubicBezTo>
                  <a:cubicBezTo>
                    <a:pt x="5636" y="1851"/>
                    <a:pt x="5636" y="1851"/>
                    <a:pt x="5636" y="1851"/>
                  </a:cubicBezTo>
                  <a:cubicBezTo>
                    <a:pt x="5560" y="1851"/>
                    <a:pt x="5560" y="1851"/>
                    <a:pt x="5560" y="1851"/>
                  </a:cubicBezTo>
                  <a:lnTo>
                    <a:pt x="5573" y="1790"/>
                  </a:lnTo>
                  <a:close/>
                  <a:moveTo>
                    <a:pt x="5775" y="2133"/>
                  </a:moveTo>
                  <a:cubicBezTo>
                    <a:pt x="5752" y="2139"/>
                    <a:pt x="5730" y="2141"/>
                    <a:pt x="5719" y="2141"/>
                  </a:cubicBezTo>
                  <a:cubicBezTo>
                    <a:pt x="5647" y="2141"/>
                    <a:pt x="5657" y="2095"/>
                    <a:pt x="5662" y="2075"/>
                  </a:cubicBezTo>
                  <a:cubicBezTo>
                    <a:pt x="5689" y="1942"/>
                    <a:pt x="5689" y="1942"/>
                    <a:pt x="5689" y="1942"/>
                  </a:cubicBezTo>
                  <a:cubicBezTo>
                    <a:pt x="5643" y="1942"/>
                    <a:pt x="5643" y="1942"/>
                    <a:pt x="5643" y="1942"/>
                  </a:cubicBezTo>
                  <a:cubicBezTo>
                    <a:pt x="5653" y="1895"/>
                    <a:pt x="5653" y="1895"/>
                    <a:pt x="5653" y="1895"/>
                  </a:cubicBezTo>
                  <a:cubicBezTo>
                    <a:pt x="5700" y="1895"/>
                    <a:pt x="5700" y="1895"/>
                    <a:pt x="5700" y="1895"/>
                  </a:cubicBezTo>
                  <a:cubicBezTo>
                    <a:pt x="5710" y="1848"/>
                    <a:pt x="5710" y="1848"/>
                    <a:pt x="5710" y="1848"/>
                  </a:cubicBezTo>
                  <a:cubicBezTo>
                    <a:pt x="5786" y="1822"/>
                    <a:pt x="5786" y="1822"/>
                    <a:pt x="5786" y="1822"/>
                  </a:cubicBezTo>
                  <a:cubicBezTo>
                    <a:pt x="5770" y="1895"/>
                    <a:pt x="5770" y="1895"/>
                    <a:pt x="5770" y="1895"/>
                  </a:cubicBezTo>
                  <a:cubicBezTo>
                    <a:pt x="5828" y="1895"/>
                    <a:pt x="5828" y="1895"/>
                    <a:pt x="5828" y="1895"/>
                  </a:cubicBezTo>
                  <a:cubicBezTo>
                    <a:pt x="5818" y="1942"/>
                    <a:pt x="5818" y="1942"/>
                    <a:pt x="5818" y="1942"/>
                  </a:cubicBezTo>
                  <a:cubicBezTo>
                    <a:pt x="5760" y="1942"/>
                    <a:pt x="5760" y="1942"/>
                    <a:pt x="5760" y="1942"/>
                  </a:cubicBezTo>
                  <a:cubicBezTo>
                    <a:pt x="5736" y="2052"/>
                    <a:pt x="5736" y="2052"/>
                    <a:pt x="5736" y="2052"/>
                  </a:cubicBezTo>
                  <a:cubicBezTo>
                    <a:pt x="5733" y="2074"/>
                    <a:pt x="5729" y="2088"/>
                    <a:pt x="5761" y="2088"/>
                  </a:cubicBezTo>
                  <a:cubicBezTo>
                    <a:pt x="5772" y="2088"/>
                    <a:pt x="5777" y="2087"/>
                    <a:pt x="5786" y="2086"/>
                  </a:cubicBezTo>
                  <a:lnTo>
                    <a:pt x="5775" y="2133"/>
                  </a:lnTo>
                  <a:close/>
                  <a:moveTo>
                    <a:pt x="5921" y="1894"/>
                  </a:moveTo>
                  <a:cubicBezTo>
                    <a:pt x="5939" y="2062"/>
                    <a:pt x="5939" y="2062"/>
                    <a:pt x="5939" y="2062"/>
                  </a:cubicBezTo>
                  <a:cubicBezTo>
                    <a:pt x="6028" y="1894"/>
                    <a:pt x="6028" y="1894"/>
                    <a:pt x="6028" y="1894"/>
                  </a:cubicBezTo>
                  <a:cubicBezTo>
                    <a:pt x="6099" y="1894"/>
                    <a:pt x="6099" y="1894"/>
                    <a:pt x="6099" y="1894"/>
                  </a:cubicBezTo>
                  <a:cubicBezTo>
                    <a:pt x="5957" y="2132"/>
                    <a:pt x="5957" y="2132"/>
                    <a:pt x="5957" y="2132"/>
                  </a:cubicBezTo>
                  <a:cubicBezTo>
                    <a:pt x="5907" y="2229"/>
                    <a:pt x="5907" y="2229"/>
                    <a:pt x="5907" y="2229"/>
                  </a:cubicBezTo>
                  <a:cubicBezTo>
                    <a:pt x="5835" y="2229"/>
                    <a:pt x="5835" y="2229"/>
                    <a:pt x="5835" y="2229"/>
                  </a:cubicBezTo>
                  <a:cubicBezTo>
                    <a:pt x="5886" y="2137"/>
                    <a:pt x="5886" y="2137"/>
                    <a:pt x="5886" y="2137"/>
                  </a:cubicBezTo>
                  <a:cubicBezTo>
                    <a:pt x="5844" y="1894"/>
                    <a:pt x="5844" y="1894"/>
                    <a:pt x="5844" y="1894"/>
                  </a:cubicBezTo>
                  <a:lnTo>
                    <a:pt x="5921" y="1894"/>
                  </a:lnTo>
                  <a:close/>
                </a:path>
              </a:pathLst>
            </a:custGeom>
            <a:grpFill/>
            <a:ln w="9525">
              <a:noFill/>
              <a:round/>
              <a:headEnd/>
              <a:tailEnd/>
            </a:ln>
          </p:spPr>
          <p:txBody>
            <a:bodyPr vert="horz" wrap="square" lIns="91440" tIns="45720" rIns="91440" bIns="45720" numCol="1" anchor="t" anchorCtr="0" compatLnSpc="1">
              <a:prstTxWarp prst="textNoShape">
                <a:avLst/>
              </a:prstTxWarp>
              <a:noAutofit/>
            </a:bodyPr>
            <a:lstStyle/>
            <a:p>
              <a:endParaRPr lang="en-GB" dirty="0"/>
            </a:p>
          </p:txBody>
        </p:sp>
        <p:sp>
          <p:nvSpPr>
            <p:cNvPr id="13" name="Freeform 15"/>
            <p:cNvSpPr>
              <a:spLocks noEditPoints="1"/>
            </p:cNvSpPr>
            <p:nvPr userDrawn="1"/>
          </p:nvSpPr>
          <p:spPr bwMode="auto">
            <a:xfrm>
              <a:off x="-2592388" y="0"/>
              <a:ext cx="2592388" cy="1530350"/>
            </a:xfrm>
            <a:custGeom>
              <a:avLst/>
              <a:gdLst/>
              <a:ahLst/>
              <a:cxnLst>
                <a:cxn ang="0">
                  <a:pos x="176" y="248"/>
                </a:cxn>
                <a:cxn ang="0">
                  <a:pos x="0" y="248"/>
                </a:cxn>
                <a:cxn ang="0">
                  <a:pos x="0" y="0"/>
                </a:cxn>
                <a:cxn ang="0">
                  <a:pos x="176" y="0"/>
                </a:cxn>
                <a:cxn ang="0">
                  <a:pos x="176" y="248"/>
                </a:cxn>
                <a:cxn ang="0">
                  <a:pos x="176" y="716"/>
                </a:cxn>
                <a:cxn ang="0">
                  <a:pos x="0" y="716"/>
                </a:cxn>
                <a:cxn ang="0">
                  <a:pos x="0" y="964"/>
                </a:cxn>
                <a:cxn ang="0">
                  <a:pos x="176" y="964"/>
                </a:cxn>
                <a:cxn ang="0">
                  <a:pos x="176" y="716"/>
                </a:cxn>
                <a:cxn ang="0">
                  <a:pos x="1633" y="0"/>
                </a:cxn>
                <a:cxn ang="0">
                  <a:pos x="1457" y="0"/>
                </a:cxn>
                <a:cxn ang="0">
                  <a:pos x="1457" y="248"/>
                </a:cxn>
                <a:cxn ang="0">
                  <a:pos x="1633" y="248"/>
                </a:cxn>
                <a:cxn ang="0">
                  <a:pos x="1633" y="0"/>
                </a:cxn>
                <a:cxn ang="0">
                  <a:pos x="1633" y="716"/>
                </a:cxn>
                <a:cxn ang="0">
                  <a:pos x="1457" y="716"/>
                </a:cxn>
                <a:cxn ang="0">
                  <a:pos x="1457" y="964"/>
                </a:cxn>
                <a:cxn ang="0">
                  <a:pos x="1633" y="964"/>
                </a:cxn>
                <a:cxn ang="0">
                  <a:pos x="1633" y="716"/>
                </a:cxn>
              </a:cxnLst>
              <a:rect l="0" t="0" r="r" b="b"/>
              <a:pathLst>
                <a:path w="1633" h="964">
                  <a:moveTo>
                    <a:pt x="176" y="248"/>
                  </a:moveTo>
                  <a:lnTo>
                    <a:pt x="0" y="248"/>
                  </a:lnTo>
                  <a:lnTo>
                    <a:pt x="0" y="0"/>
                  </a:lnTo>
                  <a:lnTo>
                    <a:pt x="176" y="0"/>
                  </a:lnTo>
                  <a:lnTo>
                    <a:pt x="176" y="248"/>
                  </a:lnTo>
                  <a:close/>
                  <a:moveTo>
                    <a:pt x="176" y="716"/>
                  </a:moveTo>
                  <a:lnTo>
                    <a:pt x="0" y="716"/>
                  </a:lnTo>
                  <a:lnTo>
                    <a:pt x="0" y="964"/>
                  </a:lnTo>
                  <a:lnTo>
                    <a:pt x="176" y="964"/>
                  </a:lnTo>
                  <a:lnTo>
                    <a:pt x="176" y="716"/>
                  </a:lnTo>
                  <a:close/>
                  <a:moveTo>
                    <a:pt x="1633" y="0"/>
                  </a:moveTo>
                  <a:lnTo>
                    <a:pt x="1457" y="0"/>
                  </a:lnTo>
                  <a:lnTo>
                    <a:pt x="1457" y="248"/>
                  </a:lnTo>
                  <a:lnTo>
                    <a:pt x="1633" y="248"/>
                  </a:lnTo>
                  <a:lnTo>
                    <a:pt x="1633" y="0"/>
                  </a:lnTo>
                  <a:close/>
                  <a:moveTo>
                    <a:pt x="1633" y="716"/>
                  </a:moveTo>
                  <a:lnTo>
                    <a:pt x="1457" y="716"/>
                  </a:lnTo>
                  <a:lnTo>
                    <a:pt x="1457" y="964"/>
                  </a:lnTo>
                  <a:lnTo>
                    <a:pt x="1633" y="964"/>
                  </a:lnTo>
                  <a:lnTo>
                    <a:pt x="1633" y="716"/>
                  </a:ln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en-GB" dirty="0"/>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53" name="Freeform 6"/>
          <p:cNvSpPr>
            <a:spLocks noChangeAspect="1"/>
          </p:cNvSpPr>
          <p:nvPr userDrawn="1"/>
        </p:nvSpPr>
        <p:spPr bwMode="gray">
          <a:xfrm>
            <a:off x="0" y="547688"/>
            <a:ext cx="5062538" cy="5043488"/>
          </a:xfrm>
          <a:custGeom>
            <a:avLst/>
            <a:gdLst/>
            <a:ahLst/>
            <a:cxnLst>
              <a:cxn ang="0">
                <a:pos x="3189" y="0"/>
              </a:cxn>
              <a:cxn ang="0">
                <a:pos x="476" y="0"/>
              </a:cxn>
              <a:cxn ang="0">
                <a:pos x="0" y="1608"/>
              </a:cxn>
              <a:cxn ang="0">
                <a:pos x="0" y="3177"/>
              </a:cxn>
              <a:cxn ang="0">
                <a:pos x="2247" y="3177"/>
              </a:cxn>
              <a:cxn ang="0">
                <a:pos x="3189" y="0"/>
              </a:cxn>
            </a:cxnLst>
            <a:rect l="0" t="0" r="r" b="b"/>
            <a:pathLst>
              <a:path w="3189" h="3177">
                <a:moveTo>
                  <a:pt x="3189" y="0"/>
                </a:moveTo>
                <a:lnTo>
                  <a:pt x="476" y="0"/>
                </a:lnTo>
                <a:lnTo>
                  <a:pt x="0" y="1608"/>
                </a:lnTo>
                <a:lnTo>
                  <a:pt x="0" y="3177"/>
                </a:lnTo>
                <a:lnTo>
                  <a:pt x="2247" y="3177"/>
                </a:lnTo>
                <a:lnTo>
                  <a:pt x="3189" y="0"/>
                </a:lnTo>
                <a:close/>
              </a:path>
            </a:pathLst>
          </a:custGeom>
          <a:gradFill flip="none" rotWithShape="1">
            <a:gsLst>
              <a:gs pos="0">
                <a:srgbClr val="00257A">
                  <a:alpha val="90000"/>
                </a:srgbClr>
              </a:gs>
              <a:gs pos="35000">
                <a:srgbClr val="00338D">
                  <a:alpha val="90000"/>
                </a:srgbClr>
              </a:gs>
              <a:gs pos="100000">
                <a:srgbClr val="009FDA">
                  <a:alpha val="90000"/>
                </a:srgbClr>
              </a:gs>
            </a:gsLst>
            <a:lin ang="0" scaled="1"/>
            <a:tileRect/>
          </a:gradFill>
          <a:ln w="9525" cap="flat" cmpd="sng">
            <a:noFill/>
            <a:prstDash val="solid"/>
            <a:round/>
            <a:headEnd type="none" w="med" len="med"/>
            <a:tailEnd type="none" w="med" len="med"/>
          </a:ln>
          <a:effectLst/>
        </p:spPr>
        <p:txBody>
          <a:bodyPr>
            <a:noAutofit/>
          </a:bodyPr>
          <a:lstStyle/>
          <a:p>
            <a:pPr marL="0" algn="l" defTabSz="914400" rtl="0" eaLnBrk="1" latinLnBrk="0" hangingPunct="1">
              <a:spcBef>
                <a:spcPct val="50000"/>
              </a:spcBef>
              <a:defRPr/>
            </a:pPr>
            <a:endParaRPr lang="en-GB" sz="1800" kern="1200" dirty="0">
              <a:solidFill>
                <a:schemeClr val="tx1"/>
              </a:solidFill>
              <a:latin typeface="+mn-lt"/>
              <a:ea typeface="+mn-ea"/>
              <a:cs typeface="+mn-cs"/>
            </a:endParaRPr>
          </a:p>
        </p:txBody>
      </p:sp>
      <p:sp>
        <p:nvSpPr>
          <p:cNvPr id="15" name="Title 9"/>
          <p:cNvSpPr>
            <a:spLocks noGrp="1"/>
          </p:cNvSpPr>
          <p:nvPr>
            <p:ph type="title"/>
          </p:nvPr>
        </p:nvSpPr>
        <p:spPr bwMode="gray">
          <a:xfrm>
            <a:off x="683568" y="1844824"/>
            <a:ext cx="3384375" cy="1943892"/>
          </a:xfrm>
          <a:noFill/>
          <a:ln w="9525">
            <a:noFill/>
            <a:miter lim="800000"/>
            <a:headEnd/>
            <a:tailEnd/>
          </a:ln>
        </p:spPr>
        <p:txBody>
          <a:bodyPr vert="horz" wrap="square" lIns="0" tIns="0" rIns="0" bIns="0" numCol="1" anchor="t" anchorCtr="0" compatLnSpc="1">
            <a:prstTxWarp prst="textNoShape">
              <a:avLst/>
            </a:prstTxWarp>
            <a:noAutofit/>
          </a:bodyPr>
          <a:lstStyle>
            <a:lvl1pPr algn="l" rtl="0" eaLnBrk="1" fontAlgn="base" hangingPunct="1">
              <a:spcBef>
                <a:spcPct val="40000"/>
              </a:spcBef>
              <a:spcAft>
                <a:spcPct val="0"/>
              </a:spcAft>
              <a:defRPr lang="en-GB" sz="3000" b="1" dirty="0" smtClean="0">
                <a:solidFill>
                  <a:schemeClr val="bg1"/>
                </a:solidFill>
                <a:latin typeface="+mj-lt"/>
                <a:ea typeface="+mj-ea"/>
                <a:cs typeface="+mj-cs"/>
              </a:defRPr>
            </a:lvl1pPr>
            <a:lvl2pPr>
              <a:defRPr lang="en-GB" sz="3000" b="1" dirty="0">
                <a:solidFill>
                  <a:schemeClr val="bg1"/>
                </a:solidFill>
                <a:latin typeface="+mj-lt"/>
              </a:defRPr>
            </a:lvl2pPr>
            <a:lvl3pPr>
              <a:defRPr lang="en-GB" sz="3000" b="1" dirty="0">
                <a:solidFill>
                  <a:schemeClr val="bg1"/>
                </a:solidFill>
                <a:latin typeface="+mj-lt"/>
              </a:defRPr>
            </a:lvl3pPr>
            <a:lvl4pPr>
              <a:defRPr lang="en-GB" sz="3000" b="1" dirty="0">
                <a:solidFill>
                  <a:schemeClr val="bg1"/>
                </a:solidFill>
                <a:latin typeface="+mj-lt"/>
              </a:defRPr>
            </a:lvl4pPr>
            <a:lvl5pPr>
              <a:defRPr lang="en-GB" sz="3000" b="1" dirty="0">
                <a:solidFill>
                  <a:schemeClr val="bg1"/>
                </a:solidFill>
                <a:latin typeface="+mj-lt"/>
              </a:defRPr>
            </a:lvl5pPr>
            <a:lvl6pPr>
              <a:defRPr lang="en-GB" sz="3000" b="1" dirty="0">
                <a:solidFill>
                  <a:schemeClr val="bg1"/>
                </a:solidFill>
                <a:latin typeface="+mj-lt"/>
              </a:defRPr>
            </a:lvl6pPr>
            <a:lvl7pPr>
              <a:defRPr lang="en-GB" sz="3000" b="1" dirty="0">
                <a:solidFill>
                  <a:schemeClr val="bg1"/>
                </a:solidFill>
                <a:latin typeface="+mj-lt"/>
              </a:defRPr>
            </a:lvl7pPr>
            <a:lvl8pPr>
              <a:defRPr lang="en-GB" sz="3000" b="1" dirty="0">
                <a:solidFill>
                  <a:schemeClr val="bg1"/>
                </a:solidFill>
                <a:latin typeface="+mj-lt"/>
              </a:defRPr>
            </a:lvl8pPr>
            <a:lvl9pPr>
              <a:defRPr sz="3000">
                <a:solidFill>
                  <a:schemeClr val="bg1"/>
                </a:solidFill>
              </a:defRPr>
            </a:lvl9pPr>
          </a:lstStyle>
          <a:p>
            <a:pPr lvl="0"/>
            <a:r>
              <a:rPr lang="en-US" smtClean="0"/>
              <a:t>Click to edit Master title style</a:t>
            </a:r>
            <a:endParaRPr lang="en-GB" dirty="0"/>
          </a:p>
        </p:txBody>
      </p:sp>
      <p:sp>
        <p:nvSpPr>
          <p:cNvPr id="16" name="Text Placeholder 16"/>
          <p:cNvSpPr>
            <a:spLocks noGrp="1"/>
          </p:cNvSpPr>
          <p:nvPr>
            <p:ph type="body" sz="quarter" idx="10"/>
          </p:nvPr>
        </p:nvSpPr>
        <p:spPr bwMode="gray">
          <a:xfrm>
            <a:off x="683568" y="4005064"/>
            <a:ext cx="3024336" cy="1079500"/>
          </a:xfrm>
          <a:noFill/>
          <a:ln w="9525">
            <a:noFill/>
            <a:miter lim="800000"/>
            <a:headEnd/>
            <a:tailEnd/>
          </a:ln>
        </p:spPr>
        <p:txBody>
          <a:bodyPr vert="horz" wrap="square" lIns="0" tIns="0" rIns="0" bIns="0" numCol="1" anchor="t" anchorCtr="0" compatLnSpc="1">
            <a:prstTxWarp prst="textNoShape">
              <a:avLst/>
            </a:prstTxWarp>
            <a:noAutofit/>
          </a:bodyPr>
          <a:lstStyle>
            <a:lvl1pPr marL="342900" indent="-342900" algn="l" rtl="0" eaLnBrk="1" fontAlgn="base" hangingPunct="1">
              <a:lnSpc>
                <a:spcPct val="110000"/>
              </a:lnSpc>
              <a:spcBef>
                <a:spcPts val="600"/>
              </a:spcBef>
              <a:spcAft>
                <a:spcPct val="0"/>
              </a:spcAft>
              <a:defRPr lang="en-US" sz="1200" b="0" dirty="0" smtClean="0">
                <a:solidFill>
                  <a:schemeClr val="bg1"/>
                </a:solidFill>
                <a:latin typeface="+mn-lt"/>
                <a:ea typeface="+mn-ea"/>
                <a:cs typeface="+mn-cs"/>
              </a:defRPr>
            </a:lvl1pPr>
            <a:lvl2pPr>
              <a:defRPr lang="en-US" sz="1200" b="0" kern="1200" noProof="0" dirty="0" smtClean="0">
                <a:solidFill>
                  <a:schemeClr val="bg1"/>
                </a:solidFill>
                <a:latin typeface="+mn-lt"/>
                <a:ea typeface="+mn-ea"/>
                <a:cs typeface="+mn-cs"/>
              </a:defRPr>
            </a:lvl2pPr>
            <a:lvl3pPr>
              <a:defRPr lang="en-US" sz="1200" b="0" kern="1200" noProof="0" dirty="0" smtClean="0">
                <a:solidFill>
                  <a:schemeClr val="bg1"/>
                </a:solidFill>
                <a:latin typeface="+mn-lt"/>
                <a:ea typeface="+mn-ea"/>
                <a:cs typeface="+mn-cs"/>
              </a:defRPr>
            </a:lvl3pPr>
            <a:lvl4pPr>
              <a:defRPr lang="en-US" sz="1200" b="0" kern="1200" noProof="0" dirty="0" smtClean="0">
                <a:solidFill>
                  <a:schemeClr val="bg1"/>
                </a:solidFill>
                <a:latin typeface="+mn-lt"/>
                <a:ea typeface="+mn-ea"/>
                <a:cs typeface="+mn-cs"/>
              </a:defRPr>
            </a:lvl4pPr>
            <a:lvl5pPr>
              <a:defRPr lang="en-US" sz="1200" b="0" kern="1200" noProof="0" dirty="0" smtClean="0">
                <a:solidFill>
                  <a:schemeClr val="bg1"/>
                </a:solidFill>
                <a:latin typeface="+mn-lt"/>
                <a:ea typeface="+mn-ea"/>
                <a:cs typeface="+mn-cs"/>
              </a:defRPr>
            </a:lvl5pPr>
            <a:lvl6pPr>
              <a:defRPr lang="en-US" sz="1200" b="0" kern="1200" noProof="0" dirty="0" smtClean="0">
                <a:solidFill>
                  <a:schemeClr val="bg1"/>
                </a:solidFill>
                <a:latin typeface="+mn-lt"/>
                <a:ea typeface="+mn-ea"/>
                <a:cs typeface="+mn-cs"/>
              </a:defRPr>
            </a:lvl6pPr>
            <a:lvl7pPr>
              <a:defRPr lang="en-US" sz="1200" b="0" kern="1200" noProof="0" dirty="0" smtClean="0">
                <a:solidFill>
                  <a:schemeClr val="bg1"/>
                </a:solidFill>
                <a:latin typeface="+mn-lt"/>
                <a:ea typeface="+mn-ea"/>
                <a:cs typeface="+mn-cs"/>
              </a:defRPr>
            </a:lvl7pPr>
            <a:lvl8pPr>
              <a:defRPr lang="en-US" sz="1200" b="0" kern="1200" noProof="0" dirty="0" smtClean="0">
                <a:solidFill>
                  <a:schemeClr val="bg1"/>
                </a:solidFill>
                <a:latin typeface="+mn-lt"/>
                <a:ea typeface="+mn-ea"/>
                <a:cs typeface="+mn-cs"/>
              </a:defRPr>
            </a:lvl8pPr>
            <a:lvl9pPr>
              <a:defRPr lang="en-US" sz="1200" b="0" kern="1200" noProof="0" dirty="0" smtClean="0">
                <a:solidFill>
                  <a:schemeClr val="bg1"/>
                </a:solidFill>
                <a:latin typeface="+mn-lt"/>
                <a:ea typeface="+mn-ea"/>
                <a:cs typeface="+mn-cs"/>
              </a:defRPr>
            </a:lvl9pPr>
          </a:lstStyle>
          <a:p>
            <a:pPr lvl="0"/>
            <a:r>
              <a:rPr lang="en-US" smtClean="0"/>
              <a:t>Click to edit Master text styles</a:t>
            </a:r>
          </a:p>
        </p:txBody>
      </p:sp>
      <p:grpSp>
        <p:nvGrpSpPr>
          <p:cNvPr id="2" name="Group 10"/>
          <p:cNvGrpSpPr>
            <a:grpSpLocks noChangeAspect="1"/>
          </p:cNvGrpSpPr>
          <p:nvPr userDrawn="1"/>
        </p:nvGrpSpPr>
        <p:grpSpPr>
          <a:xfrm>
            <a:off x="776536" y="548680"/>
            <a:ext cx="1829502" cy="1080000"/>
            <a:chOff x="-2592388" y="0"/>
            <a:chExt cx="2592388" cy="1530350"/>
          </a:xfrm>
          <a:solidFill>
            <a:schemeClr val="bg1"/>
          </a:solidFill>
        </p:grpSpPr>
        <p:sp>
          <p:nvSpPr>
            <p:cNvPr id="12" name="Freeform 14"/>
            <p:cNvSpPr>
              <a:spLocks noEditPoints="1"/>
            </p:cNvSpPr>
            <p:nvPr userDrawn="1"/>
          </p:nvSpPr>
          <p:spPr bwMode="auto">
            <a:xfrm>
              <a:off x="-2384425" y="393700"/>
              <a:ext cx="2119313" cy="776288"/>
            </a:xfrm>
            <a:custGeom>
              <a:avLst/>
              <a:gdLst/>
              <a:ahLst/>
              <a:cxnLst>
                <a:cxn ang="0">
                  <a:pos x="2851" y="1035"/>
                </a:cxn>
                <a:cxn ang="0">
                  <a:pos x="3588" y="28"/>
                </a:cxn>
                <a:cxn ang="0">
                  <a:pos x="2718" y="826"/>
                </a:cxn>
                <a:cxn ang="0">
                  <a:pos x="1973" y="28"/>
                </a:cxn>
                <a:cxn ang="0">
                  <a:pos x="1663" y="659"/>
                </a:cxn>
                <a:cxn ang="0">
                  <a:pos x="1850" y="28"/>
                </a:cxn>
                <a:cxn ang="0">
                  <a:pos x="1165" y="1000"/>
                </a:cxn>
                <a:cxn ang="0">
                  <a:pos x="1334" y="806"/>
                </a:cxn>
                <a:cxn ang="0">
                  <a:pos x="479" y="1047"/>
                </a:cxn>
                <a:cxn ang="0">
                  <a:pos x="980" y="699"/>
                </a:cxn>
                <a:cxn ang="0">
                  <a:pos x="2747" y="0"/>
                </a:cxn>
                <a:cxn ang="0">
                  <a:pos x="1009" y="0"/>
                </a:cxn>
                <a:cxn ang="0">
                  <a:pos x="665" y="1435"/>
                </a:cxn>
                <a:cxn ang="0">
                  <a:pos x="1150" y="1133"/>
                </a:cxn>
                <a:cxn ang="0">
                  <a:pos x="1980" y="1434"/>
                </a:cxn>
                <a:cxn ang="0">
                  <a:pos x="2963" y="1451"/>
                </a:cxn>
                <a:cxn ang="0">
                  <a:pos x="348" y="2092"/>
                </a:cxn>
                <a:cxn ang="0">
                  <a:pos x="395" y="2104"/>
                </a:cxn>
                <a:cxn ang="0">
                  <a:pos x="880" y="1895"/>
                </a:cxn>
                <a:cxn ang="0">
                  <a:pos x="584" y="1895"/>
                </a:cxn>
                <a:cxn ang="0">
                  <a:pos x="645" y="2088"/>
                </a:cxn>
                <a:cxn ang="0">
                  <a:pos x="813" y="2088"/>
                </a:cxn>
                <a:cxn ang="0">
                  <a:pos x="935" y="1790"/>
                </a:cxn>
                <a:cxn ang="0">
                  <a:pos x="1104" y="1929"/>
                </a:cxn>
                <a:cxn ang="0">
                  <a:pos x="1151" y="1938"/>
                </a:cxn>
                <a:cxn ang="0">
                  <a:pos x="1504" y="2134"/>
                </a:cxn>
                <a:cxn ang="0">
                  <a:pos x="1370" y="2132"/>
                </a:cxn>
                <a:cxn ang="0">
                  <a:pos x="1428" y="1940"/>
                </a:cxn>
                <a:cxn ang="0">
                  <a:pos x="1719" y="1895"/>
                </a:cxn>
                <a:cxn ang="0">
                  <a:pos x="1803" y="2052"/>
                </a:cxn>
                <a:cxn ang="0">
                  <a:pos x="2137" y="1923"/>
                </a:cxn>
                <a:cxn ang="0">
                  <a:pos x="1881" y="2136"/>
                </a:cxn>
                <a:cxn ang="0">
                  <a:pos x="2253" y="2017"/>
                </a:cxn>
                <a:cxn ang="0">
                  <a:pos x="2503" y="1888"/>
                </a:cxn>
                <a:cxn ang="0">
                  <a:pos x="2740" y="2092"/>
                </a:cxn>
                <a:cxn ang="0">
                  <a:pos x="2787" y="2104"/>
                </a:cxn>
                <a:cxn ang="0">
                  <a:pos x="3126" y="2134"/>
                </a:cxn>
                <a:cxn ang="0">
                  <a:pos x="2992" y="2132"/>
                </a:cxn>
                <a:cxn ang="0">
                  <a:pos x="3051" y="1940"/>
                </a:cxn>
                <a:cxn ang="0">
                  <a:pos x="3441" y="1989"/>
                </a:cxn>
                <a:cxn ang="0">
                  <a:pos x="3257" y="1790"/>
                </a:cxn>
                <a:cxn ang="0">
                  <a:pos x="168" y="2120"/>
                </a:cxn>
                <a:cxn ang="0">
                  <a:pos x="3742" y="1935"/>
                </a:cxn>
                <a:cxn ang="0">
                  <a:pos x="3624" y="2110"/>
                </a:cxn>
                <a:cxn ang="0">
                  <a:pos x="3857" y="2017"/>
                </a:cxn>
                <a:cxn ang="0">
                  <a:pos x="4180" y="1894"/>
                </a:cxn>
                <a:cxn ang="0">
                  <a:pos x="4515" y="2136"/>
                </a:cxn>
                <a:cxn ang="0">
                  <a:pos x="4289" y="1939"/>
                </a:cxn>
                <a:cxn ang="0">
                  <a:pos x="4846" y="2010"/>
                </a:cxn>
                <a:cxn ang="0">
                  <a:pos x="4741" y="1935"/>
                </a:cxn>
                <a:cxn ang="0">
                  <a:pos x="4936" y="1789"/>
                </a:cxn>
                <a:cxn ang="0">
                  <a:pos x="5002" y="2021"/>
                </a:cxn>
                <a:cxn ang="0">
                  <a:pos x="5080" y="1988"/>
                </a:cxn>
                <a:cxn ang="0">
                  <a:pos x="5388" y="2136"/>
                </a:cxn>
                <a:cxn ang="0">
                  <a:pos x="5625" y="1893"/>
                </a:cxn>
                <a:cxn ang="0">
                  <a:pos x="5573" y="1790"/>
                </a:cxn>
                <a:cxn ang="0">
                  <a:pos x="5710" y="1848"/>
                </a:cxn>
                <a:cxn ang="0">
                  <a:pos x="5786" y="2086"/>
                </a:cxn>
                <a:cxn ang="0">
                  <a:pos x="5835" y="2229"/>
                </a:cxn>
              </a:cxnLst>
              <a:rect l="0" t="0" r="r" b="b"/>
              <a:pathLst>
                <a:path w="6099" h="2232">
                  <a:moveTo>
                    <a:pt x="3588" y="1105"/>
                  </a:moveTo>
                  <a:cubicBezTo>
                    <a:pt x="3401" y="1105"/>
                    <a:pt x="3401" y="1105"/>
                    <a:pt x="3401" y="1105"/>
                  </a:cubicBezTo>
                  <a:cubicBezTo>
                    <a:pt x="3431" y="981"/>
                    <a:pt x="3431" y="981"/>
                    <a:pt x="3431" y="981"/>
                  </a:cubicBezTo>
                  <a:cubicBezTo>
                    <a:pt x="3055" y="981"/>
                    <a:pt x="3055" y="981"/>
                    <a:pt x="3055" y="981"/>
                  </a:cubicBezTo>
                  <a:cubicBezTo>
                    <a:pt x="3024" y="1105"/>
                    <a:pt x="3024" y="1105"/>
                    <a:pt x="3024" y="1105"/>
                  </a:cubicBezTo>
                  <a:cubicBezTo>
                    <a:pt x="2843" y="1105"/>
                    <a:pt x="2843" y="1105"/>
                    <a:pt x="2843" y="1105"/>
                  </a:cubicBezTo>
                  <a:cubicBezTo>
                    <a:pt x="2843" y="1079"/>
                    <a:pt x="2843" y="1079"/>
                    <a:pt x="2843" y="1079"/>
                  </a:cubicBezTo>
                  <a:cubicBezTo>
                    <a:pt x="2845" y="1065"/>
                    <a:pt x="2848" y="1051"/>
                    <a:pt x="2851" y="1035"/>
                  </a:cubicBezTo>
                  <a:cubicBezTo>
                    <a:pt x="2884" y="901"/>
                    <a:pt x="2972" y="769"/>
                    <a:pt x="3124" y="769"/>
                  </a:cubicBezTo>
                  <a:cubicBezTo>
                    <a:pt x="3185" y="769"/>
                    <a:pt x="3244" y="792"/>
                    <a:pt x="3236" y="875"/>
                  </a:cubicBezTo>
                  <a:cubicBezTo>
                    <a:pt x="3460" y="875"/>
                    <a:pt x="3460" y="875"/>
                    <a:pt x="3460" y="875"/>
                  </a:cubicBezTo>
                  <a:cubicBezTo>
                    <a:pt x="3469" y="836"/>
                    <a:pt x="3484" y="770"/>
                    <a:pt x="3441" y="709"/>
                  </a:cubicBezTo>
                  <a:cubicBezTo>
                    <a:pt x="3394" y="643"/>
                    <a:pt x="3298" y="616"/>
                    <a:pt x="3173" y="616"/>
                  </a:cubicBezTo>
                  <a:cubicBezTo>
                    <a:pt x="3084" y="616"/>
                    <a:pt x="2955" y="631"/>
                    <a:pt x="2843" y="704"/>
                  </a:cubicBezTo>
                  <a:cubicBezTo>
                    <a:pt x="2843" y="28"/>
                    <a:pt x="2843" y="28"/>
                    <a:pt x="2843" y="28"/>
                  </a:cubicBezTo>
                  <a:cubicBezTo>
                    <a:pt x="3588" y="28"/>
                    <a:pt x="3588" y="28"/>
                    <a:pt x="3588" y="28"/>
                  </a:cubicBezTo>
                  <a:lnTo>
                    <a:pt x="3588" y="1105"/>
                  </a:lnTo>
                  <a:close/>
                  <a:moveTo>
                    <a:pt x="3148" y="1287"/>
                  </a:moveTo>
                  <a:cubicBezTo>
                    <a:pt x="3106" y="1294"/>
                    <a:pt x="3063" y="1300"/>
                    <a:pt x="3023" y="1300"/>
                  </a:cubicBezTo>
                  <a:cubicBezTo>
                    <a:pt x="2915" y="1300"/>
                    <a:pt x="2840" y="1250"/>
                    <a:pt x="2839" y="1133"/>
                  </a:cubicBezTo>
                  <a:cubicBezTo>
                    <a:pt x="3186" y="1133"/>
                    <a:pt x="3186" y="1133"/>
                    <a:pt x="3186" y="1133"/>
                  </a:cubicBezTo>
                  <a:lnTo>
                    <a:pt x="3148" y="1287"/>
                  </a:lnTo>
                  <a:close/>
                  <a:moveTo>
                    <a:pt x="2718" y="672"/>
                  </a:moveTo>
                  <a:cubicBezTo>
                    <a:pt x="2718" y="826"/>
                    <a:pt x="2718" y="826"/>
                    <a:pt x="2718" y="826"/>
                  </a:cubicBezTo>
                  <a:cubicBezTo>
                    <a:pt x="2666" y="898"/>
                    <a:pt x="2634" y="976"/>
                    <a:pt x="2619" y="1040"/>
                  </a:cubicBezTo>
                  <a:cubicBezTo>
                    <a:pt x="2613" y="1061"/>
                    <a:pt x="2609" y="1083"/>
                    <a:pt x="2607" y="1105"/>
                  </a:cubicBezTo>
                  <a:cubicBezTo>
                    <a:pt x="2497" y="1105"/>
                    <a:pt x="2497" y="1105"/>
                    <a:pt x="2497" y="1105"/>
                  </a:cubicBezTo>
                  <a:cubicBezTo>
                    <a:pt x="2591" y="660"/>
                    <a:pt x="2591" y="660"/>
                    <a:pt x="2591" y="660"/>
                  </a:cubicBezTo>
                  <a:cubicBezTo>
                    <a:pt x="2276" y="660"/>
                    <a:pt x="2276" y="660"/>
                    <a:pt x="2276" y="660"/>
                  </a:cubicBezTo>
                  <a:cubicBezTo>
                    <a:pt x="1993" y="1105"/>
                    <a:pt x="1993" y="1105"/>
                    <a:pt x="1993" y="1105"/>
                  </a:cubicBezTo>
                  <a:cubicBezTo>
                    <a:pt x="1973" y="1105"/>
                    <a:pt x="1973" y="1105"/>
                    <a:pt x="1973" y="1105"/>
                  </a:cubicBezTo>
                  <a:cubicBezTo>
                    <a:pt x="1973" y="28"/>
                    <a:pt x="1973" y="28"/>
                    <a:pt x="1973" y="28"/>
                  </a:cubicBezTo>
                  <a:cubicBezTo>
                    <a:pt x="2718" y="28"/>
                    <a:pt x="2718" y="28"/>
                    <a:pt x="2718" y="28"/>
                  </a:cubicBezTo>
                  <a:lnTo>
                    <a:pt x="2718" y="672"/>
                  </a:lnTo>
                  <a:close/>
                  <a:moveTo>
                    <a:pt x="2302" y="1105"/>
                  </a:moveTo>
                  <a:cubicBezTo>
                    <a:pt x="2190" y="1105"/>
                    <a:pt x="2190" y="1105"/>
                    <a:pt x="2190" y="1105"/>
                  </a:cubicBezTo>
                  <a:cubicBezTo>
                    <a:pt x="2360" y="838"/>
                    <a:pt x="2360" y="838"/>
                    <a:pt x="2360" y="838"/>
                  </a:cubicBezTo>
                  <a:lnTo>
                    <a:pt x="2302" y="1105"/>
                  </a:lnTo>
                  <a:close/>
                  <a:moveTo>
                    <a:pt x="1850" y="659"/>
                  </a:moveTo>
                  <a:cubicBezTo>
                    <a:pt x="1663" y="659"/>
                    <a:pt x="1663" y="659"/>
                    <a:pt x="1663" y="659"/>
                  </a:cubicBezTo>
                  <a:cubicBezTo>
                    <a:pt x="1535" y="1105"/>
                    <a:pt x="1535" y="1105"/>
                    <a:pt x="1535" y="1105"/>
                  </a:cubicBezTo>
                  <a:cubicBezTo>
                    <a:pt x="1337" y="1105"/>
                    <a:pt x="1337" y="1105"/>
                    <a:pt x="1337" y="1105"/>
                  </a:cubicBezTo>
                  <a:cubicBezTo>
                    <a:pt x="1438" y="1068"/>
                    <a:pt x="1499" y="996"/>
                    <a:pt x="1518" y="890"/>
                  </a:cubicBezTo>
                  <a:cubicBezTo>
                    <a:pt x="1534" y="809"/>
                    <a:pt x="1527" y="755"/>
                    <a:pt x="1493" y="714"/>
                  </a:cubicBezTo>
                  <a:cubicBezTo>
                    <a:pt x="1443" y="654"/>
                    <a:pt x="1342" y="659"/>
                    <a:pt x="1253" y="659"/>
                  </a:cubicBezTo>
                  <a:cubicBezTo>
                    <a:pt x="1237" y="659"/>
                    <a:pt x="1105" y="659"/>
                    <a:pt x="1105" y="659"/>
                  </a:cubicBezTo>
                  <a:cubicBezTo>
                    <a:pt x="1105" y="28"/>
                    <a:pt x="1105" y="28"/>
                    <a:pt x="1105" y="28"/>
                  </a:cubicBezTo>
                  <a:cubicBezTo>
                    <a:pt x="1850" y="28"/>
                    <a:pt x="1850" y="28"/>
                    <a:pt x="1850" y="28"/>
                  </a:cubicBezTo>
                  <a:lnTo>
                    <a:pt x="1850" y="659"/>
                  </a:lnTo>
                  <a:close/>
                  <a:moveTo>
                    <a:pt x="1730" y="1105"/>
                  </a:moveTo>
                  <a:cubicBezTo>
                    <a:pt x="1809" y="826"/>
                    <a:pt x="1809" y="826"/>
                    <a:pt x="1809" y="826"/>
                  </a:cubicBezTo>
                  <a:cubicBezTo>
                    <a:pt x="1812" y="1105"/>
                    <a:pt x="1812" y="1105"/>
                    <a:pt x="1812" y="1105"/>
                  </a:cubicBezTo>
                  <a:lnTo>
                    <a:pt x="1730" y="1105"/>
                  </a:lnTo>
                  <a:close/>
                  <a:moveTo>
                    <a:pt x="1188" y="999"/>
                  </a:moveTo>
                  <a:cubicBezTo>
                    <a:pt x="1187" y="999"/>
                    <a:pt x="1187" y="999"/>
                    <a:pt x="1187" y="999"/>
                  </a:cubicBezTo>
                  <a:cubicBezTo>
                    <a:pt x="1180" y="999"/>
                    <a:pt x="1173" y="1000"/>
                    <a:pt x="1165" y="1000"/>
                  </a:cubicBezTo>
                  <a:cubicBezTo>
                    <a:pt x="1154" y="1000"/>
                    <a:pt x="1145" y="1000"/>
                    <a:pt x="1137" y="1000"/>
                  </a:cubicBezTo>
                  <a:cubicBezTo>
                    <a:pt x="1089" y="1000"/>
                    <a:pt x="1089" y="1000"/>
                    <a:pt x="1089" y="1000"/>
                  </a:cubicBezTo>
                  <a:cubicBezTo>
                    <a:pt x="1111" y="918"/>
                    <a:pt x="1111" y="918"/>
                    <a:pt x="1111" y="918"/>
                  </a:cubicBezTo>
                  <a:cubicBezTo>
                    <a:pt x="1122" y="878"/>
                    <a:pt x="1122" y="878"/>
                    <a:pt x="1122" y="878"/>
                  </a:cubicBezTo>
                  <a:cubicBezTo>
                    <a:pt x="1147" y="783"/>
                    <a:pt x="1147" y="783"/>
                    <a:pt x="1147" y="783"/>
                  </a:cubicBezTo>
                  <a:cubicBezTo>
                    <a:pt x="1158" y="783"/>
                    <a:pt x="1169" y="782"/>
                    <a:pt x="1179" y="782"/>
                  </a:cubicBezTo>
                  <a:cubicBezTo>
                    <a:pt x="1216" y="782"/>
                    <a:pt x="1216" y="782"/>
                    <a:pt x="1216" y="782"/>
                  </a:cubicBezTo>
                  <a:cubicBezTo>
                    <a:pt x="1279" y="782"/>
                    <a:pt x="1319" y="786"/>
                    <a:pt x="1334" y="806"/>
                  </a:cubicBezTo>
                  <a:cubicBezTo>
                    <a:pt x="1345" y="822"/>
                    <a:pt x="1343" y="848"/>
                    <a:pt x="1330" y="888"/>
                  </a:cubicBezTo>
                  <a:cubicBezTo>
                    <a:pt x="1308" y="957"/>
                    <a:pt x="1279" y="992"/>
                    <a:pt x="1188" y="999"/>
                  </a:cubicBezTo>
                  <a:moveTo>
                    <a:pt x="980" y="699"/>
                  </a:moveTo>
                  <a:cubicBezTo>
                    <a:pt x="969" y="737"/>
                    <a:pt x="969" y="737"/>
                    <a:pt x="969" y="737"/>
                  </a:cubicBezTo>
                  <a:cubicBezTo>
                    <a:pt x="862" y="1092"/>
                    <a:pt x="862" y="1092"/>
                    <a:pt x="862" y="1092"/>
                  </a:cubicBezTo>
                  <a:cubicBezTo>
                    <a:pt x="858" y="1105"/>
                    <a:pt x="858" y="1105"/>
                    <a:pt x="858" y="1105"/>
                  </a:cubicBezTo>
                  <a:cubicBezTo>
                    <a:pt x="507" y="1105"/>
                    <a:pt x="507" y="1105"/>
                    <a:pt x="507" y="1105"/>
                  </a:cubicBezTo>
                  <a:cubicBezTo>
                    <a:pt x="479" y="1047"/>
                    <a:pt x="479" y="1047"/>
                    <a:pt x="479" y="1047"/>
                  </a:cubicBezTo>
                  <a:cubicBezTo>
                    <a:pt x="858" y="660"/>
                    <a:pt x="858" y="660"/>
                    <a:pt x="858" y="660"/>
                  </a:cubicBezTo>
                  <a:cubicBezTo>
                    <a:pt x="615" y="660"/>
                    <a:pt x="615" y="660"/>
                    <a:pt x="615" y="660"/>
                  </a:cubicBezTo>
                  <a:cubicBezTo>
                    <a:pt x="319" y="979"/>
                    <a:pt x="319" y="979"/>
                    <a:pt x="319" y="979"/>
                  </a:cubicBezTo>
                  <a:cubicBezTo>
                    <a:pt x="415" y="660"/>
                    <a:pt x="415" y="660"/>
                    <a:pt x="415" y="660"/>
                  </a:cubicBezTo>
                  <a:cubicBezTo>
                    <a:pt x="235" y="660"/>
                    <a:pt x="235" y="660"/>
                    <a:pt x="235" y="660"/>
                  </a:cubicBezTo>
                  <a:cubicBezTo>
                    <a:pt x="235" y="28"/>
                    <a:pt x="235" y="28"/>
                    <a:pt x="235" y="28"/>
                  </a:cubicBezTo>
                  <a:cubicBezTo>
                    <a:pt x="980" y="28"/>
                    <a:pt x="980" y="28"/>
                    <a:pt x="980" y="28"/>
                  </a:cubicBezTo>
                  <a:lnTo>
                    <a:pt x="980" y="699"/>
                  </a:lnTo>
                  <a:close/>
                  <a:moveTo>
                    <a:pt x="281" y="1105"/>
                  </a:moveTo>
                  <a:cubicBezTo>
                    <a:pt x="282" y="1101"/>
                    <a:pt x="282" y="1101"/>
                    <a:pt x="282" y="1101"/>
                  </a:cubicBezTo>
                  <a:cubicBezTo>
                    <a:pt x="285" y="1105"/>
                    <a:pt x="285" y="1105"/>
                    <a:pt x="285" y="1105"/>
                  </a:cubicBezTo>
                  <a:lnTo>
                    <a:pt x="281" y="1105"/>
                  </a:lnTo>
                  <a:close/>
                  <a:moveTo>
                    <a:pt x="2814" y="0"/>
                  </a:moveTo>
                  <a:cubicBezTo>
                    <a:pt x="2814" y="724"/>
                    <a:pt x="2814" y="724"/>
                    <a:pt x="2814" y="724"/>
                  </a:cubicBezTo>
                  <a:cubicBezTo>
                    <a:pt x="2789" y="744"/>
                    <a:pt x="2767" y="765"/>
                    <a:pt x="2747" y="788"/>
                  </a:cubicBezTo>
                  <a:cubicBezTo>
                    <a:pt x="2747" y="0"/>
                    <a:pt x="2747" y="0"/>
                    <a:pt x="2747" y="0"/>
                  </a:cubicBezTo>
                  <a:cubicBezTo>
                    <a:pt x="1945" y="0"/>
                    <a:pt x="1945" y="0"/>
                    <a:pt x="1945" y="0"/>
                  </a:cubicBezTo>
                  <a:cubicBezTo>
                    <a:pt x="1945" y="659"/>
                    <a:pt x="1945" y="659"/>
                    <a:pt x="1945" y="659"/>
                  </a:cubicBezTo>
                  <a:cubicBezTo>
                    <a:pt x="1878" y="659"/>
                    <a:pt x="1878" y="659"/>
                    <a:pt x="1878" y="659"/>
                  </a:cubicBezTo>
                  <a:cubicBezTo>
                    <a:pt x="1878" y="0"/>
                    <a:pt x="1878" y="0"/>
                    <a:pt x="1878" y="0"/>
                  </a:cubicBezTo>
                  <a:cubicBezTo>
                    <a:pt x="1076" y="0"/>
                    <a:pt x="1076" y="0"/>
                    <a:pt x="1076" y="0"/>
                  </a:cubicBezTo>
                  <a:cubicBezTo>
                    <a:pt x="1076" y="660"/>
                    <a:pt x="1076" y="660"/>
                    <a:pt x="1076" y="660"/>
                  </a:cubicBezTo>
                  <a:cubicBezTo>
                    <a:pt x="1009" y="660"/>
                    <a:pt x="1009" y="660"/>
                    <a:pt x="1009" y="660"/>
                  </a:cubicBezTo>
                  <a:cubicBezTo>
                    <a:pt x="1009" y="0"/>
                    <a:pt x="1009" y="0"/>
                    <a:pt x="1009" y="0"/>
                  </a:cubicBezTo>
                  <a:cubicBezTo>
                    <a:pt x="207" y="0"/>
                    <a:pt x="207" y="0"/>
                    <a:pt x="207" y="0"/>
                  </a:cubicBezTo>
                  <a:cubicBezTo>
                    <a:pt x="207" y="753"/>
                    <a:pt x="207" y="753"/>
                    <a:pt x="207" y="753"/>
                  </a:cubicBezTo>
                  <a:cubicBezTo>
                    <a:pt x="2" y="1435"/>
                    <a:pt x="2" y="1435"/>
                    <a:pt x="2" y="1435"/>
                  </a:cubicBezTo>
                  <a:cubicBezTo>
                    <a:pt x="182" y="1435"/>
                    <a:pt x="182" y="1435"/>
                    <a:pt x="182" y="1435"/>
                  </a:cubicBezTo>
                  <a:cubicBezTo>
                    <a:pt x="273" y="1133"/>
                    <a:pt x="273" y="1133"/>
                    <a:pt x="273" y="1133"/>
                  </a:cubicBezTo>
                  <a:cubicBezTo>
                    <a:pt x="299" y="1133"/>
                    <a:pt x="299" y="1133"/>
                    <a:pt x="299" y="1133"/>
                  </a:cubicBezTo>
                  <a:cubicBezTo>
                    <a:pt x="448" y="1435"/>
                    <a:pt x="448" y="1435"/>
                    <a:pt x="448" y="1435"/>
                  </a:cubicBezTo>
                  <a:cubicBezTo>
                    <a:pt x="665" y="1435"/>
                    <a:pt x="665" y="1435"/>
                    <a:pt x="665" y="1435"/>
                  </a:cubicBezTo>
                  <a:cubicBezTo>
                    <a:pt x="520" y="1133"/>
                    <a:pt x="520" y="1133"/>
                    <a:pt x="520" y="1133"/>
                  </a:cubicBezTo>
                  <a:cubicBezTo>
                    <a:pt x="849" y="1133"/>
                    <a:pt x="849" y="1133"/>
                    <a:pt x="849" y="1133"/>
                  </a:cubicBezTo>
                  <a:cubicBezTo>
                    <a:pt x="758" y="1435"/>
                    <a:pt x="758" y="1435"/>
                    <a:pt x="758" y="1435"/>
                  </a:cubicBezTo>
                  <a:cubicBezTo>
                    <a:pt x="955" y="1435"/>
                    <a:pt x="955" y="1435"/>
                    <a:pt x="955" y="1435"/>
                  </a:cubicBezTo>
                  <a:cubicBezTo>
                    <a:pt x="1045" y="1134"/>
                    <a:pt x="1045" y="1134"/>
                    <a:pt x="1045" y="1134"/>
                  </a:cubicBezTo>
                  <a:cubicBezTo>
                    <a:pt x="1088" y="1134"/>
                    <a:pt x="1088" y="1134"/>
                    <a:pt x="1088" y="1134"/>
                  </a:cubicBezTo>
                  <a:cubicBezTo>
                    <a:pt x="1088" y="1133"/>
                    <a:pt x="1088" y="1133"/>
                    <a:pt x="1088" y="1133"/>
                  </a:cubicBezTo>
                  <a:cubicBezTo>
                    <a:pt x="1150" y="1133"/>
                    <a:pt x="1150" y="1133"/>
                    <a:pt x="1150" y="1133"/>
                  </a:cubicBezTo>
                  <a:cubicBezTo>
                    <a:pt x="1155" y="1133"/>
                    <a:pt x="1155" y="1133"/>
                    <a:pt x="1155" y="1133"/>
                  </a:cubicBezTo>
                  <a:cubicBezTo>
                    <a:pt x="1527" y="1133"/>
                    <a:pt x="1527" y="1133"/>
                    <a:pt x="1527" y="1133"/>
                  </a:cubicBezTo>
                  <a:cubicBezTo>
                    <a:pt x="1440" y="1434"/>
                    <a:pt x="1440" y="1434"/>
                    <a:pt x="1440" y="1434"/>
                  </a:cubicBezTo>
                  <a:cubicBezTo>
                    <a:pt x="1638" y="1434"/>
                    <a:pt x="1638" y="1434"/>
                    <a:pt x="1638" y="1434"/>
                  </a:cubicBezTo>
                  <a:cubicBezTo>
                    <a:pt x="1722" y="1133"/>
                    <a:pt x="1722" y="1133"/>
                    <a:pt x="1722" y="1133"/>
                  </a:cubicBezTo>
                  <a:cubicBezTo>
                    <a:pt x="1812" y="1133"/>
                    <a:pt x="1812" y="1133"/>
                    <a:pt x="1812" y="1133"/>
                  </a:cubicBezTo>
                  <a:cubicBezTo>
                    <a:pt x="1814" y="1434"/>
                    <a:pt x="1814" y="1434"/>
                    <a:pt x="1814" y="1434"/>
                  </a:cubicBezTo>
                  <a:cubicBezTo>
                    <a:pt x="1980" y="1434"/>
                    <a:pt x="1980" y="1434"/>
                    <a:pt x="1980" y="1434"/>
                  </a:cubicBezTo>
                  <a:cubicBezTo>
                    <a:pt x="2171" y="1133"/>
                    <a:pt x="2171" y="1133"/>
                    <a:pt x="2171" y="1133"/>
                  </a:cubicBezTo>
                  <a:cubicBezTo>
                    <a:pt x="2296" y="1133"/>
                    <a:pt x="2296" y="1133"/>
                    <a:pt x="2296" y="1133"/>
                  </a:cubicBezTo>
                  <a:cubicBezTo>
                    <a:pt x="2232" y="1434"/>
                    <a:pt x="2232" y="1434"/>
                    <a:pt x="2232" y="1434"/>
                  </a:cubicBezTo>
                  <a:cubicBezTo>
                    <a:pt x="2427" y="1434"/>
                    <a:pt x="2427" y="1434"/>
                    <a:pt x="2427" y="1434"/>
                  </a:cubicBezTo>
                  <a:cubicBezTo>
                    <a:pt x="2491" y="1133"/>
                    <a:pt x="2491" y="1133"/>
                    <a:pt x="2491" y="1133"/>
                  </a:cubicBezTo>
                  <a:cubicBezTo>
                    <a:pt x="2604" y="1133"/>
                    <a:pt x="2604" y="1133"/>
                    <a:pt x="2604" y="1133"/>
                  </a:cubicBezTo>
                  <a:cubicBezTo>
                    <a:pt x="2599" y="1226"/>
                    <a:pt x="2623" y="1311"/>
                    <a:pt x="2685" y="1368"/>
                  </a:cubicBezTo>
                  <a:cubicBezTo>
                    <a:pt x="2761" y="1438"/>
                    <a:pt x="2877" y="1451"/>
                    <a:pt x="2963" y="1451"/>
                  </a:cubicBezTo>
                  <a:cubicBezTo>
                    <a:pt x="3081" y="1451"/>
                    <a:pt x="3203" y="1434"/>
                    <a:pt x="3326" y="1407"/>
                  </a:cubicBezTo>
                  <a:cubicBezTo>
                    <a:pt x="3394" y="1133"/>
                    <a:pt x="3394" y="1133"/>
                    <a:pt x="3394" y="1133"/>
                  </a:cubicBezTo>
                  <a:cubicBezTo>
                    <a:pt x="3617" y="1133"/>
                    <a:pt x="3617" y="1133"/>
                    <a:pt x="3617" y="1133"/>
                  </a:cubicBezTo>
                  <a:cubicBezTo>
                    <a:pt x="3617" y="0"/>
                    <a:pt x="3617" y="0"/>
                    <a:pt x="3617" y="0"/>
                  </a:cubicBezTo>
                  <a:lnTo>
                    <a:pt x="2814" y="0"/>
                  </a:lnTo>
                  <a:close/>
                  <a:moveTo>
                    <a:pt x="351" y="1894"/>
                  </a:moveTo>
                  <a:cubicBezTo>
                    <a:pt x="321" y="2038"/>
                    <a:pt x="321" y="2038"/>
                    <a:pt x="321" y="2038"/>
                  </a:cubicBezTo>
                  <a:cubicBezTo>
                    <a:pt x="316" y="2060"/>
                    <a:pt x="309" y="2092"/>
                    <a:pt x="348" y="2092"/>
                  </a:cubicBezTo>
                  <a:cubicBezTo>
                    <a:pt x="393" y="2092"/>
                    <a:pt x="400" y="2058"/>
                    <a:pt x="409" y="2016"/>
                  </a:cubicBezTo>
                  <a:cubicBezTo>
                    <a:pt x="435" y="1894"/>
                    <a:pt x="435" y="1894"/>
                    <a:pt x="435" y="1894"/>
                  </a:cubicBezTo>
                  <a:cubicBezTo>
                    <a:pt x="508" y="1894"/>
                    <a:pt x="508" y="1894"/>
                    <a:pt x="508" y="1894"/>
                  </a:cubicBezTo>
                  <a:cubicBezTo>
                    <a:pt x="474" y="2053"/>
                    <a:pt x="474" y="2053"/>
                    <a:pt x="474" y="2053"/>
                  </a:cubicBezTo>
                  <a:cubicBezTo>
                    <a:pt x="464" y="2106"/>
                    <a:pt x="463" y="2112"/>
                    <a:pt x="462" y="2118"/>
                  </a:cubicBezTo>
                  <a:cubicBezTo>
                    <a:pt x="461" y="2125"/>
                    <a:pt x="460" y="2130"/>
                    <a:pt x="460" y="2136"/>
                  </a:cubicBezTo>
                  <a:cubicBezTo>
                    <a:pt x="391" y="2136"/>
                    <a:pt x="391" y="2136"/>
                    <a:pt x="391" y="2136"/>
                  </a:cubicBezTo>
                  <a:cubicBezTo>
                    <a:pt x="395" y="2104"/>
                    <a:pt x="395" y="2104"/>
                    <a:pt x="395" y="2104"/>
                  </a:cubicBezTo>
                  <a:cubicBezTo>
                    <a:pt x="386" y="2115"/>
                    <a:pt x="362" y="2143"/>
                    <a:pt x="315" y="2143"/>
                  </a:cubicBezTo>
                  <a:cubicBezTo>
                    <a:pt x="283" y="2143"/>
                    <a:pt x="259" y="2128"/>
                    <a:pt x="250" y="2110"/>
                  </a:cubicBezTo>
                  <a:cubicBezTo>
                    <a:pt x="238" y="2090"/>
                    <a:pt x="245" y="2056"/>
                    <a:pt x="248" y="2045"/>
                  </a:cubicBezTo>
                  <a:cubicBezTo>
                    <a:pt x="279" y="1894"/>
                    <a:pt x="279" y="1894"/>
                    <a:pt x="279" y="1894"/>
                  </a:cubicBezTo>
                  <a:lnTo>
                    <a:pt x="351" y="1894"/>
                  </a:lnTo>
                  <a:close/>
                  <a:moveTo>
                    <a:pt x="812" y="1942"/>
                  </a:moveTo>
                  <a:cubicBezTo>
                    <a:pt x="870" y="1942"/>
                    <a:pt x="870" y="1942"/>
                    <a:pt x="870" y="1942"/>
                  </a:cubicBezTo>
                  <a:cubicBezTo>
                    <a:pt x="880" y="1895"/>
                    <a:pt x="880" y="1895"/>
                    <a:pt x="880" y="1895"/>
                  </a:cubicBezTo>
                  <a:cubicBezTo>
                    <a:pt x="822" y="1895"/>
                    <a:pt x="822" y="1895"/>
                    <a:pt x="822" y="1895"/>
                  </a:cubicBezTo>
                  <a:cubicBezTo>
                    <a:pt x="838" y="1822"/>
                    <a:pt x="838" y="1822"/>
                    <a:pt x="838" y="1822"/>
                  </a:cubicBezTo>
                  <a:cubicBezTo>
                    <a:pt x="762" y="1848"/>
                    <a:pt x="762" y="1848"/>
                    <a:pt x="762" y="1848"/>
                  </a:cubicBezTo>
                  <a:cubicBezTo>
                    <a:pt x="752" y="1895"/>
                    <a:pt x="752" y="1895"/>
                    <a:pt x="752" y="1895"/>
                  </a:cubicBezTo>
                  <a:cubicBezTo>
                    <a:pt x="654" y="1895"/>
                    <a:pt x="654" y="1895"/>
                    <a:pt x="654" y="1895"/>
                  </a:cubicBezTo>
                  <a:cubicBezTo>
                    <a:pt x="670" y="1822"/>
                    <a:pt x="670" y="1822"/>
                    <a:pt x="670" y="1822"/>
                  </a:cubicBezTo>
                  <a:cubicBezTo>
                    <a:pt x="594" y="1848"/>
                    <a:pt x="594" y="1848"/>
                    <a:pt x="594" y="1848"/>
                  </a:cubicBezTo>
                  <a:cubicBezTo>
                    <a:pt x="584" y="1895"/>
                    <a:pt x="584" y="1895"/>
                    <a:pt x="584" y="1895"/>
                  </a:cubicBezTo>
                  <a:cubicBezTo>
                    <a:pt x="537" y="1895"/>
                    <a:pt x="537" y="1895"/>
                    <a:pt x="537" y="1895"/>
                  </a:cubicBezTo>
                  <a:cubicBezTo>
                    <a:pt x="527" y="1942"/>
                    <a:pt x="527" y="1942"/>
                    <a:pt x="527" y="1942"/>
                  </a:cubicBezTo>
                  <a:cubicBezTo>
                    <a:pt x="574" y="1942"/>
                    <a:pt x="574" y="1942"/>
                    <a:pt x="574" y="1942"/>
                  </a:cubicBezTo>
                  <a:cubicBezTo>
                    <a:pt x="545" y="2075"/>
                    <a:pt x="545" y="2075"/>
                    <a:pt x="545" y="2075"/>
                  </a:cubicBezTo>
                  <a:cubicBezTo>
                    <a:pt x="541" y="2095"/>
                    <a:pt x="531" y="2141"/>
                    <a:pt x="603" y="2141"/>
                  </a:cubicBezTo>
                  <a:cubicBezTo>
                    <a:pt x="615" y="2141"/>
                    <a:pt x="636" y="2139"/>
                    <a:pt x="660" y="2133"/>
                  </a:cubicBezTo>
                  <a:cubicBezTo>
                    <a:pt x="670" y="2086"/>
                    <a:pt x="670" y="2086"/>
                    <a:pt x="670" y="2086"/>
                  </a:cubicBezTo>
                  <a:cubicBezTo>
                    <a:pt x="661" y="2087"/>
                    <a:pt x="656" y="2088"/>
                    <a:pt x="645" y="2088"/>
                  </a:cubicBezTo>
                  <a:cubicBezTo>
                    <a:pt x="614" y="2088"/>
                    <a:pt x="617" y="2074"/>
                    <a:pt x="621" y="2052"/>
                  </a:cubicBezTo>
                  <a:cubicBezTo>
                    <a:pt x="645" y="1942"/>
                    <a:pt x="645" y="1942"/>
                    <a:pt x="645" y="1942"/>
                  </a:cubicBezTo>
                  <a:cubicBezTo>
                    <a:pt x="741" y="1942"/>
                    <a:pt x="741" y="1942"/>
                    <a:pt x="741" y="1942"/>
                  </a:cubicBezTo>
                  <a:cubicBezTo>
                    <a:pt x="713" y="2075"/>
                    <a:pt x="713" y="2075"/>
                    <a:pt x="713" y="2075"/>
                  </a:cubicBezTo>
                  <a:cubicBezTo>
                    <a:pt x="709" y="2095"/>
                    <a:pt x="699" y="2141"/>
                    <a:pt x="771" y="2141"/>
                  </a:cubicBezTo>
                  <a:cubicBezTo>
                    <a:pt x="782" y="2141"/>
                    <a:pt x="804" y="2139"/>
                    <a:pt x="828" y="2133"/>
                  </a:cubicBezTo>
                  <a:cubicBezTo>
                    <a:pt x="838" y="2086"/>
                    <a:pt x="838" y="2086"/>
                    <a:pt x="838" y="2086"/>
                  </a:cubicBezTo>
                  <a:cubicBezTo>
                    <a:pt x="829" y="2087"/>
                    <a:pt x="824" y="2088"/>
                    <a:pt x="813" y="2088"/>
                  </a:cubicBezTo>
                  <a:cubicBezTo>
                    <a:pt x="781" y="2088"/>
                    <a:pt x="785" y="2074"/>
                    <a:pt x="788" y="2052"/>
                  </a:cubicBezTo>
                  <a:lnTo>
                    <a:pt x="812" y="1942"/>
                  </a:lnTo>
                  <a:close/>
                  <a:moveTo>
                    <a:pt x="916" y="1893"/>
                  </a:moveTo>
                  <a:cubicBezTo>
                    <a:pt x="987" y="1893"/>
                    <a:pt x="987" y="1893"/>
                    <a:pt x="987" y="1893"/>
                  </a:cubicBezTo>
                  <a:cubicBezTo>
                    <a:pt x="935" y="2136"/>
                    <a:pt x="935" y="2136"/>
                    <a:pt x="935" y="2136"/>
                  </a:cubicBezTo>
                  <a:cubicBezTo>
                    <a:pt x="864" y="2136"/>
                    <a:pt x="864" y="2136"/>
                    <a:pt x="864" y="2136"/>
                  </a:cubicBezTo>
                  <a:lnTo>
                    <a:pt x="916" y="1893"/>
                  </a:lnTo>
                  <a:close/>
                  <a:moveTo>
                    <a:pt x="935" y="1790"/>
                  </a:moveTo>
                  <a:cubicBezTo>
                    <a:pt x="1011" y="1790"/>
                    <a:pt x="1011" y="1790"/>
                    <a:pt x="1011" y="1790"/>
                  </a:cubicBezTo>
                  <a:cubicBezTo>
                    <a:pt x="998" y="1851"/>
                    <a:pt x="998" y="1851"/>
                    <a:pt x="998" y="1851"/>
                  </a:cubicBezTo>
                  <a:cubicBezTo>
                    <a:pt x="922" y="1851"/>
                    <a:pt x="922" y="1851"/>
                    <a:pt x="922" y="1851"/>
                  </a:cubicBezTo>
                  <a:lnTo>
                    <a:pt x="935" y="1790"/>
                  </a:lnTo>
                  <a:close/>
                  <a:moveTo>
                    <a:pt x="1034" y="1937"/>
                  </a:moveTo>
                  <a:cubicBezTo>
                    <a:pt x="1034" y="1936"/>
                    <a:pt x="1040" y="1909"/>
                    <a:pt x="1042" y="1893"/>
                  </a:cubicBezTo>
                  <a:cubicBezTo>
                    <a:pt x="1110" y="1893"/>
                    <a:pt x="1110" y="1893"/>
                    <a:pt x="1110" y="1893"/>
                  </a:cubicBezTo>
                  <a:cubicBezTo>
                    <a:pt x="1104" y="1929"/>
                    <a:pt x="1104" y="1929"/>
                    <a:pt x="1104" y="1929"/>
                  </a:cubicBezTo>
                  <a:cubicBezTo>
                    <a:pt x="1113" y="1918"/>
                    <a:pt x="1139" y="1887"/>
                    <a:pt x="1192" y="1887"/>
                  </a:cubicBezTo>
                  <a:cubicBezTo>
                    <a:pt x="1239" y="1887"/>
                    <a:pt x="1254" y="1916"/>
                    <a:pt x="1256" y="1933"/>
                  </a:cubicBezTo>
                  <a:cubicBezTo>
                    <a:pt x="1259" y="1948"/>
                    <a:pt x="1257" y="1960"/>
                    <a:pt x="1248" y="2005"/>
                  </a:cubicBezTo>
                  <a:cubicBezTo>
                    <a:pt x="1220" y="2136"/>
                    <a:pt x="1220" y="2136"/>
                    <a:pt x="1220" y="2136"/>
                  </a:cubicBezTo>
                  <a:cubicBezTo>
                    <a:pt x="1147" y="2136"/>
                    <a:pt x="1147" y="2136"/>
                    <a:pt x="1147" y="2136"/>
                  </a:cubicBezTo>
                  <a:cubicBezTo>
                    <a:pt x="1179" y="1985"/>
                    <a:pt x="1179" y="1985"/>
                    <a:pt x="1179" y="1985"/>
                  </a:cubicBezTo>
                  <a:cubicBezTo>
                    <a:pt x="1181" y="1975"/>
                    <a:pt x="1183" y="1967"/>
                    <a:pt x="1181" y="1959"/>
                  </a:cubicBezTo>
                  <a:cubicBezTo>
                    <a:pt x="1178" y="1949"/>
                    <a:pt x="1169" y="1938"/>
                    <a:pt x="1151" y="1938"/>
                  </a:cubicBezTo>
                  <a:cubicBezTo>
                    <a:pt x="1136" y="1938"/>
                    <a:pt x="1120" y="1946"/>
                    <a:pt x="1110" y="1957"/>
                  </a:cubicBezTo>
                  <a:cubicBezTo>
                    <a:pt x="1104" y="1963"/>
                    <a:pt x="1097" y="1975"/>
                    <a:pt x="1093" y="1994"/>
                  </a:cubicBezTo>
                  <a:cubicBezTo>
                    <a:pt x="1063" y="2136"/>
                    <a:pt x="1063" y="2136"/>
                    <a:pt x="1063" y="2136"/>
                  </a:cubicBezTo>
                  <a:cubicBezTo>
                    <a:pt x="992" y="2136"/>
                    <a:pt x="992" y="2136"/>
                    <a:pt x="992" y="2136"/>
                  </a:cubicBezTo>
                  <a:lnTo>
                    <a:pt x="1034" y="1937"/>
                  </a:lnTo>
                  <a:close/>
                  <a:moveTo>
                    <a:pt x="1558" y="1895"/>
                  </a:moveTo>
                  <a:cubicBezTo>
                    <a:pt x="1552" y="1914"/>
                    <a:pt x="1547" y="1930"/>
                    <a:pt x="1542" y="1955"/>
                  </a:cubicBezTo>
                  <a:cubicBezTo>
                    <a:pt x="1504" y="2134"/>
                    <a:pt x="1504" y="2134"/>
                    <a:pt x="1504" y="2134"/>
                  </a:cubicBezTo>
                  <a:cubicBezTo>
                    <a:pt x="1486" y="2223"/>
                    <a:pt x="1409" y="2232"/>
                    <a:pt x="1363" y="2232"/>
                  </a:cubicBezTo>
                  <a:cubicBezTo>
                    <a:pt x="1328" y="2232"/>
                    <a:pt x="1261" y="2228"/>
                    <a:pt x="1272" y="2154"/>
                  </a:cubicBezTo>
                  <a:cubicBezTo>
                    <a:pt x="1340" y="2154"/>
                    <a:pt x="1340" y="2154"/>
                    <a:pt x="1340" y="2154"/>
                  </a:cubicBezTo>
                  <a:cubicBezTo>
                    <a:pt x="1340" y="2158"/>
                    <a:pt x="1339" y="2166"/>
                    <a:pt x="1344" y="2174"/>
                  </a:cubicBezTo>
                  <a:cubicBezTo>
                    <a:pt x="1348" y="2181"/>
                    <a:pt x="1357" y="2188"/>
                    <a:pt x="1375" y="2188"/>
                  </a:cubicBezTo>
                  <a:cubicBezTo>
                    <a:pt x="1397" y="2188"/>
                    <a:pt x="1417" y="2178"/>
                    <a:pt x="1427" y="2156"/>
                  </a:cubicBezTo>
                  <a:cubicBezTo>
                    <a:pt x="1432" y="2144"/>
                    <a:pt x="1434" y="2135"/>
                    <a:pt x="1442" y="2099"/>
                  </a:cubicBezTo>
                  <a:cubicBezTo>
                    <a:pt x="1413" y="2128"/>
                    <a:pt x="1387" y="2132"/>
                    <a:pt x="1370" y="2132"/>
                  </a:cubicBezTo>
                  <a:cubicBezTo>
                    <a:pt x="1300" y="2132"/>
                    <a:pt x="1280" y="2071"/>
                    <a:pt x="1293" y="2012"/>
                  </a:cubicBezTo>
                  <a:cubicBezTo>
                    <a:pt x="1306" y="1951"/>
                    <a:pt x="1352" y="1892"/>
                    <a:pt x="1422" y="1892"/>
                  </a:cubicBezTo>
                  <a:cubicBezTo>
                    <a:pt x="1466" y="1892"/>
                    <a:pt x="1477" y="1916"/>
                    <a:pt x="1482" y="1927"/>
                  </a:cubicBezTo>
                  <a:cubicBezTo>
                    <a:pt x="1492" y="1895"/>
                    <a:pt x="1492" y="1895"/>
                    <a:pt x="1492" y="1895"/>
                  </a:cubicBezTo>
                  <a:lnTo>
                    <a:pt x="1558" y="1895"/>
                  </a:lnTo>
                  <a:close/>
                  <a:moveTo>
                    <a:pt x="1397" y="2083"/>
                  </a:moveTo>
                  <a:cubicBezTo>
                    <a:pt x="1447" y="2083"/>
                    <a:pt x="1459" y="2025"/>
                    <a:pt x="1461" y="2014"/>
                  </a:cubicBezTo>
                  <a:cubicBezTo>
                    <a:pt x="1467" y="1986"/>
                    <a:pt x="1472" y="1940"/>
                    <a:pt x="1428" y="1940"/>
                  </a:cubicBezTo>
                  <a:cubicBezTo>
                    <a:pt x="1401" y="1940"/>
                    <a:pt x="1375" y="1960"/>
                    <a:pt x="1364" y="2012"/>
                  </a:cubicBezTo>
                  <a:cubicBezTo>
                    <a:pt x="1362" y="2025"/>
                    <a:pt x="1349" y="2083"/>
                    <a:pt x="1397" y="2083"/>
                  </a:cubicBezTo>
                  <a:moveTo>
                    <a:pt x="1842" y="2133"/>
                  </a:moveTo>
                  <a:cubicBezTo>
                    <a:pt x="1818" y="2139"/>
                    <a:pt x="1797" y="2141"/>
                    <a:pt x="1786" y="2141"/>
                  </a:cubicBezTo>
                  <a:cubicBezTo>
                    <a:pt x="1714" y="2141"/>
                    <a:pt x="1723" y="2095"/>
                    <a:pt x="1728" y="2075"/>
                  </a:cubicBezTo>
                  <a:cubicBezTo>
                    <a:pt x="1756" y="1942"/>
                    <a:pt x="1756" y="1942"/>
                    <a:pt x="1756" y="1942"/>
                  </a:cubicBezTo>
                  <a:cubicBezTo>
                    <a:pt x="1710" y="1942"/>
                    <a:pt x="1710" y="1942"/>
                    <a:pt x="1710" y="1942"/>
                  </a:cubicBezTo>
                  <a:cubicBezTo>
                    <a:pt x="1719" y="1895"/>
                    <a:pt x="1719" y="1895"/>
                    <a:pt x="1719" y="1895"/>
                  </a:cubicBezTo>
                  <a:cubicBezTo>
                    <a:pt x="1766" y="1895"/>
                    <a:pt x="1766" y="1895"/>
                    <a:pt x="1766" y="1895"/>
                  </a:cubicBezTo>
                  <a:cubicBezTo>
                    <a:pt x="1776" y="1848"/>
                    <a:pt x="1776" y="1848"/>
                    <a:pt x="1776" y="1848"/>
                  </a:cubicBezTo>
                  <a:cubicBezTo>
                    <a:pt x="1852" y="1822"/>
                    <a:pt x="1852" y="1822"/>
                    <a:pt x="1852" y="1822"/>
                  </a:cubicBezTo>
                  <a:cubicBezTo>
                    <a:pt x="1837" y="1895"/>
                    <a:pt x="1837" y="1895"/>
                    <a:pt x="1837" y="1895"/>
                  </a:cubicBezTo>
                  <a:cubicBezTo>
                    <a:pt x="1895" y="1895"/>
                    <a:pt x="1895" y="1895"/>
                    <a:pt x="1895" y="1895"/>
                  </a:cubicBezTo>
                  <a:cubicBezTo>
                    <a:pt x="1884" y="1942"/>
                    <a:pt x="1884" y="1942"/>
                    <a:pt x="1884" y="1942"/>
                  </a:cubicBezTo>
                  <a:cubicBezTo>
                    <a:pt x="1827" y="1942"/>
                    <a:pt x="1827" y="1942"/>
                    <a:pt x="1827" y="1942"/>
                  </a:cubicBezTo>
                  <a:cubicBezTo>
                    <a:pt x="1803" y="2052"/>
                    <a:pt x="1803" y="2052"/>
                    <a:pt x="1803" y="2052"/>
                  </a:cubicBezTo>
                  <a:cubicBezTo>
                    <a:pt x="1799" y="2074"/>
                    <a:pt x="1796" y="2088"/>
                    <a:pt x="1828" y="2088"/>
                  </a:cubicBezTo>
                  <a:cubicBezTo>
                    <a:pt x="1838" y="2088"/>
                    <a:pt x="1844" y="2087"/>
                    <a:pt x="1852" y="2086"/>
                  </a:cubicBezTo>
                  <a:lnTo>
                    <a:pt x="1842" y="2133"/>
                  </a:lnTo>
                  <a:close/>
                  <a:moveTo>
                    <a:pt x="1954" y="1790"/>
                  </a:moveTo>
                  <a:cubicBezTo>
                    <a:pt x="2025" y="1790"/>
                    <a:pt x="2025" y="1790"/>
                    <a:pt x="2025" y="1790"/>
                  </a:cubicBezTo>
                  <a:cubicBezTo>
                    <a:pt x="1996" y="1927"/>
                    <a:pt x="1996" y="1927"/>
                    <a:pt x="1996" y="1927"/>
                  </a:cubicBezTo>
                  <a:cubicBezTo>
                    <a:pt x="2007" y="1915"/>
                    <a:pt x="2030" y="1890"/>
                    <a:pt x="2074" y="1890"/>
                  </a:cubicBezTo>
                  <a:cubicBezTo>
                    <a:pt x="2110" y="1890"/>
                    <a:pt x="2129" y="1908"/>
                    <a:pt x="2137" y="1923"/>
                  </a:cubicBezTo>
                  <a:cubicBezTo>
                    <a:pt x="2143" y="1935"/>
                    <a:pt x="2146" y="1957"/>
                    <a:pt x="2139" y="1989"/>
                  </a:cubicBezTo>
                  <a:cubicBezTo>
                    <a:pt x="2108" y="2136"/>
                    <a:pt x="2108" y="2136"/>
                    <a:pt x="2108" y="2136"/>
                  </a:cubicBezTo>
                  <a:cubicBezTo>
                    <a:pt x="2037" y="2136"/>
                    <a:pt x="2037" y="2136"/>
                    <a:pt x="2037" y="2136"/>
                  </a:cubicBezTo>
                  <a:cubicBezTo>
                    <a:pt x="2068" y="1991"/>
                    <a:pt x="2068" y="1991"/>
                    <a:pt x="2068" y="1991"/>
                  </a:cubicBezTo>
                  <a:cubicBezTo>
                    <a:pt x="2071" y="1977"/>
                    <a:pt x="2079" y="1938"/>
                    <a:pt x="2040" y="1938"/>
                  </a:cubicBezTo>
                  <a:cubicBezTo>
                    <a:pt x="2019" y="1938"/>
                    <a:pt x="1991" y="1950"/>
                    <a:pt x="1983" y="1988"/>
                  </a:cubicBezTo>
                  <a:cubicBezTo>
                    <a:pt x="1952" y="2136"/>
                    <a:pt x="1952" y="2136"/>
                    <a:pt x="1952" y="2136"/>
                  </a:cubicBezTo>
                  <a:cubicBezTo>
                    <a:pt x="1881" y="2136"/>
                    <a:pt x="1881" y="2136"/>
                    <a:pt x="1881" y="2136"/>
                  </a:cubicBezTo>
                  <a:lnTo>
                    <a:pt x="1954" y="1790"/>
                  </a:lnTo>
                  <a:close/>
                  <a:moveTo>
                    <a:pt x="2195" y="1953"/>
                  </a:moveTo>
                  <a:cubicBezTo>
                    <a:pt x="2197" y="1942"/>
                    <a:pt x="2203" y="1906"/>
                    <a:pt x="2205" y="1893"/>
                  </a:cubicBezTo>
                  <a:cubicBezTo>
                    <a:pt x="2271" y="1893"/>
                    <a:pt x="2271" y="1893"/>
                    <a:pt x="2271" y="1893"/>
                  </a:cubicBezTo>
                  <a:cubicBezTo>
                    <a:pt x="2263" y="1939"/>
                    <a:pt x="2263" y="1939"/>
                    <a:pt x="2263" y="1939"/>
                  </a:cubicBezTo>
                  <a:cubicBezTo>
                    <a:pt x="2276" y="1919"/>
                    <a:pt x="2298" y="1889"/>
                    <a:pt x="2356" y="1892"/>
                  </a:cubicBezTo>
                  <a:cubicBezTo>
                    <a:pt x="2342" y="1956"/>
                    <a:pt x="2342" y="1956"/>
                    <a:pt x="2342" y="1956"/>
                  </a:cubicBezTo>
                  <a:cubicBezTo>
                    <a:pt x="2271" y="1949"/>
                    <a:pt x="2259" y="1986"/>
                    <a:pt x="2253" y="2017"/>
                  </a:cubicBezTo>
                  <a:cubicBezTo>
                    <a:pt x="2227" y="2136"/>
                    <a:pt x="2227" y="2136"/>
                    <a:pt x="2227" y="2136"/>
                  </a:cubicBezTo>
                  <a:cubicBezTo>
                    <a:pt x="2156" y="2136"/>
                    <a:pt x="2156" y="2136"/>
                    <a:pt x="2156" y="2136"/>
                  </a:cubicBezTo>
                  <a:lnTo>
                    <a:pt x="2195" y="1953"/>
                  </a:lnTo>
                  <a:close/>
                  <a:moveTo>
                    <a:pt x="2503" y="1888"/>
                  </a:moveTo>
                  <a:cubicBezTo>
                    <a:pt x="2591" y="1888"/>
                    <a:pt x="2617" y="1948"/>
                    <a:pt x="2602" y="2015"/>
                  </a:cubicBezTo>
                  <a:cubicBezTo>
                    <a:pt x="2587" y="2083"/>
                    <a:pt x="2535" y="2145"/>
                    <a:pt x="2447" y="2145"/>
                  </a:cubicBezTo>
                  <a:cubicBezTo>
                    <a:pt x="2378" y="2145"/>
                    <a:pt x="2332" y="2102"/>
                    <a:pt x="2350" y="2017"/>
                  </a:cubicBezTo>
                  <a:cubicBezTo>
                    <a:pt x="2362" y="1959"/>
                    <a:pt x="2408" y="1888"/>
                    <a:pt x="2503" y="1888"/>
                  </a:cubicBezTo>
                  <a:moveTo>
                    <a:pt x="2460" y="2095"/>
                  </a:moveTo>
                  <a:cubicBezTo>
                    <a:pt x="2491" y="2095"/>
                    <a:pt x="2516" y="2077"/>
                    <a:pt x="2530" y="2012"/>
                  </a:cubicBezTo>
                  <a:cubicBezTo>
                    <a:pt x="2537" y="1980"/>
                    <a:pt x="2540" y="1935"/>
                    <a:pt x="2493" y="1935"/>
                  </a:cubicBezTo>
                  <a:cubicBezTo>
                    <a:pt x="2441" y="1935"/>
                    <a:pt x="2427" y="1995"/>
                    <a:pt x="2423" y="2018"/>
                  </a:cubicBezTo>
                  <a:cubicBezTo>
                    <a:pt x="2411" y="2072"/>
                    <a:pt x="2425" y="2095"/>
                    <a:pt x="2460" y="2095"/>
                  </a:cubicBezTo>
                  <a:moveTo>
                    <a:pt x="2743" y="1894"/>
                  </a:moveTo>
                  <a:cubicBezTo>
                    <a:pt x="2713" y="2038"/>
                    <a:pt x="2713" y="2038"/>
                    <a:pt x="2713" y="2038"/>
                  </a:cubicBezTo>
                  <a:cubicBezTo>
                    <a:pt x="2708" y="2060"/>
                    <a:pt x="2701" y="2092"/>
                    <a:pt x="2740" y="2092"/>
                  </a:cubicBezTo>
                  <a:cubicBezTo>
                    <a:pt x="2785" y="2092"/>
                    <a:pt x="2792" y="2058"/>
                    <a:pt x="2801" y="2016"/>
                  </a:cubicBezTo>
                  <a:cubicBezTo>
                    <a:pt x="2827" y="1894"/>
                    <a:pt x="2827" y="1894"/>
                    <a:pt x="2827" y="1894"/>
                  </a:cubicBezTo>
                  <a:cubicBezTo>
                    <a:pt x="2900" y="1894"/>
                    <a:pt x="2900" y="1894"/>
                    <a:pt x="2900" y="1894"/>
                  </a:cubicBezTo>
                  <a:cubicBezTo>
                    <a:pt x="2867" y="2053"/>
                    <a:pt x="2867" y="2053"/>
                    <a:pt x="2867" y="2053"/>
                  </a:cubicBezTo>
                  <a:cubicBezTo>
                    <a:pt x="2856" y="2106"/>
                    <a:pt x="2855" y="2112"/>
                    <a:pt x="2854" y="2118"/>
                  </a:cubicBezTo>
                  <a:cubicBezTo>
                    <a:pt x="2853" y="2125"/>
                    <a:pt x="2852" y="2130"/>
                    <a:pt x="2852" y="2136"/>
                  </a:cubicBezTo>
                  <a:cubicBezTo>
                    <a:pt x="2783" y="2136"/>
                    <a:pt x="2783" y="2136"/>
                    <a:pt x="2783" y="2136"/>
                  </a:cubicBezTo>
                  <a:cubicBezTo>
                    <a:pt x="2787" y="2104"/>
                    <a:pt x="2787" y="2104"/>
                    <a:pt x="2787" y="2104"/>
                  </a:cubicBezTo>
                  <a:cubicBezTo>
                    <a:pt x="2778" y="2115"/>
                    <a:pt x="2753" y="2143"/>
                    <a:pt x="2707" y="2143"/>
                  </a:cubicBezTo>
                  <a:cubicBezTo>
                    <a:pt x="2675" y="2143"/>
                    <a:pt x="2651" y="2128"/>
                    <a:pt x="2641" y="2110"/>
                  </a:cubicBezTo>
                  <a:cubicBezTo>
                    <a:pt x="2630" y="2090"/>
                    <a:pt x="2637" y="2056"/>
                    <a:pt x="2639" y="2045"/>
                  </a:cubicBezTo>
                  <a:cubicBezTo>
                    <a:pt x="2671" y="1894"/>
                    <a:pt x="2671" y="1894"/>
                    <a:pt x="2671" y="1894"/>
                  </a:cubicBezTo>
                  <a:lnTo>
                    <a:pt x="2743" y="1894"/>
                  </a:lnTo>
                  <a:close/>
                  <a:moveTo>
                    <a:pt x="3181" y="1895"/>
                  </a:moveTo>
                  <a:cubicBezTo>
                    <a:pt x="3175" y="1914"/>
                    <a:pt x="3170" y="1930"/>
                    <a:pt x="3164" y="1955"/>
                  </a:cubicBezTo>
                  <a:cubicBezTo>
                    <a:pt x="3126" y="2134"/>
                    <a:pt x="3126" y="2134"/>
                    <a:pt x="3126" y="2134"/>
                  </a:cubicBezTo>
                  <a:cubicBezTo>
                    <a:pt x="3108" y="2223"/>
                    <a:pt x="3031" y="2232"/>
                    <a:pt x="2985" y="2232"/>
                  </a:cubicBezTo>
                  <a:cubicBezTo>
                    <a:pt x="2950" y="2232"/>
                    <a:pt x="2883" y="2228"/>
                    <a:pt x="2894" y="2154"/>
                  </a:cubicBezTo>
                  <a:cubicBezTo>
                    <a:pt x="2962" y="2154"/>
                    <a:pt x="2962" y="2154"/>
                    <a:pt x="2962" y="2154"/>
                  </a:cubicBezTo>
                  <a:cubicBezTo>
                    <a:pt x="2962" y="2158"/>
                    <a:pt x="2962" y="2166"/>
                    <a:pt x="2966" y="2174"/>
                  </a:cubicBezTo>
                  <a:cubicBezTo>
                    <a:pt x="2970" y="2181"/>
                    <a:pt x="2979" y="2188"/>
                    <a:pt x="2998" y="2188"/>
                  </a:cubicBezTo>
                  <a:cubicBezTo>
                    <a:pt x="3019" y="2188"/>
                    <a:pt x="3040" y="2178"/>
                    <a:pt x="3049" y="2156"/>
                  </a:cubicBezTo>
                  <a:cubicBezTo>
                    <a:pt x="3054" y="2144"/>
                    <a:pt x="3056" y="2135"/>
                    <a:pt x="3064" y="2099"/>
                  </a:cubicBezTo>
                  <a:cubicBezTo>
                    <a:pt x="3036" y="2128"/>
                    <a:pt x="3009" y="2132"/>
                    <a:pt x="2992" y="2132"/>
                  </a:cubicBezTo>
                  <a:cubicBezTo>
                    <a:pt x="2922" y="2132"/>
                    <a:pt x="2903" y="2071"/>
                    <a:pt x="2915" y="2012"/>
                  </a:cubicBezTo>
                  <a:cubicBezTo>
                    <a:pt x="2928" y="1951"/>
                    <a:pt x="2974" y="1892"/>
                    <a:pt x="3044" y="1892"/>
                  </a:cubicBezTo>
                  <a:cubicBezTo>
                    <a:pt x="3088" y="1892"/>
                    <a:pt x="3099" y="1916"/>
                    <a:pt x="3105" y="1927"/>
                  </a:cubicBezTo>
                  <a:cubicBezTo>
                    <a:pt x="3114" y="1895"/>
                    <a:pt x="3114" y="1895"/>
                    <a:pt x="3114" y="1895"/>
                  </a:cubicBezTo>
                  <a:lnTo>
                    <a:pt x="3181" y="1895"/>
                  </a:lnTo>
                  <a:close/>
                  <a:moveTo>
                    <a:pt x="3019" y="2083"/>
                  </a:moveTo>
                  <a:cubicBezTo>
                    <a:pt x="3069" y="2083"/>
                    <a:pt x="3081" y="2025"/>
                    <a:pt x="3083" y="2014"/>
                  </a:cubicBezTo>
                  <a:cubicBezTo>
                    <a:pt x="3089" y="1986"/>
                    <a:pt x="3094" y="1940"/>
                    <a:pt x="3051" y="1940"/>
                  </a:cubicBezTo>
                  <a:cubicBezTo>
                    <a:pt x="3024" y="1940"/>
                    <a:pt x="2997" y="1960"/>
                    <a:pt x="2986" y="2012"/>
                  </a:cubicBezTo>
                  <a:cubicBezTo>
                    <a:pt x="2984" y="2025"/>
                    <a:pt x="2971" y="2083"/>
                    <a:pt x="3019" y="2083"/>
                  </a:cubicBezTo>
                  <a:moveTo>
                    <a:pt x="3257" y="1790"/>
                  </a:moveTo>
                  <a:cubicBezTo>
                    <a:pt x="3327" y="1790"/>
                    <a:pt x="3327" y="1790"/>
                    <a:pt x="3327" y="1790"/>
                  </a:cubicBezTo>
                  <a:cubicBezTo>
                    <a:pt x="3298" y="1927"/>
                    <a:pt x="3298" y="1927"/>
                    <a:pt x="3298" y="1927"/>
                  </a:cubicBezTo>
                  <a:cubicBezTo>
                    <a:pt x="3309" y="1915"/>
                    <a:pt x="3332" y="1890"/>
                    <a:pt x="3376" y="1890"/>
                  </a:cubicBezTo>
                  <a:cubicBezTo>
                    <a:pt x="3412" y="1890"/>
                    <a:pt x="3431" y="1908"/>
                    <a:pt x="3440" y="1923"/>
                  </a:cubicBezTo>
                  <a:cubicBezTo>
                    <a:pt x="3446" y="1935"/>
                    <a:pt x="3448" y="1957"/>
                    <a:pt x="3441" y="1989"/>
                  </a:cubicBezTo>
                  <a:cubicBezTo>
                    <a:pt x="3410" y="2136"/>
                    <a:pt x="3410" y="2136"/>
                    <a:pt x="3410" y="2136"/>
                  </a:cubicBezTo>
                  <a:cubicBezTo>
                    <a:pt x="3340" y="2136"/>
                    <a:pt x="3340" y="2136"/>
                    <a:pt x="3340" y="2136"/>
                  </a:cubicBezTo>
                  <a:cubicBezTo>
                    <a:pt x="3370" y="1991"/>
                    <a:pt x="3370" y="1991"/>
                    <a:pt x="3370" y="1991"/>
                  </a:cubicBezTo>
                  <a:cubicBezTo>
                    <a:pt x="3373" y="1977"/>
                    <a:pt x="3382" y="1938"/>
                    <a:pt x="3342" y="1938"/>
                  </a:cubicBezTo>
                  <a:cubicBezTo>
                    <a:pt x="3322" y="1938"/>
                    <a:pt x="3293" y="1950"/>
                    <a:pt x="3286" y="1988"/>
                  </a:cubicBezTo>
                  <a:cubicBezTo>
                    <a:pt x="3255" y="2136"/>
                    <a:pt x="3255" y="2136"/>
                    <a:pt x="3255" y="2136"/>
                  </a:cubicBezTo>
                  <a:cubicBezTo>
                    <a:pt x="3183" y="2136"/>
                    <a:pt x="3183" y="2136"/>
                    <a:pt x="3183" y="2136"/>
                  </a:cubicBezTo>
                  <a:lnTo>
                    <a:pt x="3257" y="1790"/>
                  </a:lnTo>
                  <a:close/>
                  <a:moveTo>
                    <a:pt x="158" y="1980"/>
                  </a:moveTo>
                  <a:cubicBezTo>
                    <a:pt x="159" y="1971"/>
                    <a:pt x="164" y="1935"/>
                    <a:pt x="137" y="1935"/>
                  </a:cubicBezTo>
                  <a:cubicBezTo>
                    <a:pt x="103" y="1935"/>
                    <a:pt x="89" y="1986"/>
                    <a:pt x="83" y="2012"/>
                  </a:cubicBezTo>
                  <a:cubicBezTo>
                    <a:pt x="80" y="2026"/>
                    <a:pt x="72" y="2069"/>
                    <a:pt x="85" y="2087"/>
                  </a:cubicBezTo>
                  <a:cubicBezTo>
                    <a:pt x="90" y="2094"/>
                    <a:pt x="97" y="2095"/>
                    <a:pt x="102" y="2095"/>
                  </a:cubicBezTo>
                  <a:cubicBezTo>
                    <a:pt x="109" y="2095"/>
                    <a:pt x="133" y="2092"/>
                    <a:pt x="145" y="2048"/>
                  </a:cubicBezTo>
                  <a:cubicBezTo>
                    <a:pt x="215" y="2048"/>
                    <a:pt x="215" y="2048"/>
                    <a:pt x="215" y="2048"/>
                  </a:cubicBezTo>
                  <a:cubicBezTo>
                    <a:pt x="210" y="2067"/>
                    <a:pt x="201" y="2097"/>
                    <a:pt x="168" y="2120"/>
                  </a:cubicBezTo>
                  <a:cubicBezTo>
                    <a:pt x="148" y="2135"/>
                    <a:pt x="124" y="2143"/>
                    <a:pt x="94" y="2143"/>
                  </a:cubicBezTo>
                  <a:cubicBezTo>
                    <a:pt x="62" y="2143"/>
                    <a:pt x="35" y="2135"/>
                    <a:pt x="18" y="2110"/>
                  </a:cubicBezTo>
                  <a:cubicBezTo>
                    <a:pt x="2" y="2086"/>
                    <a:pt x="0" y="2053"/>
                    <a:pt x="8" y="2015"/>
                  </a:cubicBezTo>
                  <a:cubicBezTo>
                    <a:pt x="32" y="1904"/>
                    <a:pt x="116" y="1889"/>
                    <a:pt x="148" y="1889"/>
                  </a:cubicBezTo>
                  <a:cubicBezTo>
                    <a:pt x="193" y="1889"/>
                    <a:pt x="241" y="1914"/>
                    <a:pt x="228" y="1980"/>
                  </a:cubicBezTo>
                  <a:lnTo>
                    <a:pt x="158" y="1980"/>
                  </a:lnTo>
                  <a:close/>
                  <a:moveTo>
                    <a:pt x="3764" y="1980"/>
                  </a:moveTo>
                  <a:cubicBezTo>
                    <a:pt x="3765" y="1971"/>
                    <a:pt x="3770" y="1935"/>
                    <a:pt x="3742" y="1935"/>
                  </a:cubicBezTo>
                  <a:cubicBezTo>
                    <a:pt x="3709" y="1935"/>
                    <a:pt x="3694" y="1986"/>
                    <a:pt x="3688" y="2012"/>
                  </a:cubicBezTo>
                  <a:cubicBezTo>
                    <a:pt x="3685" y="2026"/>
                    <a:pt x="3678" y="2069"/>
                    <a:pt x="3691" y="2087"/>
                  </a:cubicBezTo>
                  <a:cubicBezTo>
                    <a:pt x="3695" y="2094"/>
                    <a:pt x="3703" y="2095"/>
                    <a:pt x="3708" y="2095"/>
                  </a:cubicBezTo>
                  <a:cubicBezTo>
                    <a:pt x="3715" y="2095"/>
                    <a:pt x="3738" y="2092"/>
                    <a:pt x="3751" y="2048"/>
                  </a:cubicBezTo>
                  <a:cubicBezTo>
                    <a:pt x="3820" y="2048"/>
                    <a:pt x="3820" y="2048"/>
                    <a:pt x="3820" y="2048"/>
                  </a:cubicBezTo>
                  <a:cubicBezTo>
                    <a:pt x="3816" y="2067"/>
                    <a:pt x="3807" y="2097"/>
                    <a:pt x="3774" y="2120"/>
                  </a:cubicBezTo>
                  <a:cubicBezTo>
                    <a:pt x="3754" y="2135"/>
                    <a:pt x="3730" y="2143"/>
                    <a:pt x="3700" y="2143"/>
                  </a:cubicBezTo>
                  <a:cubicBezTo>
                    <a:pt x="3668" y="2143"/>
                    <a:pt x="3641" y="2135"/>
                    <a:pt x="3624" y="2110"/>
                  </a:cubicBezTo>
                  <a:cubicBezTo>
                    <a:pt x="3608" y="2086"/>
                    <a:pt x="3606" y="2053"/>
                    <a:pt x="3614" y="2015"/>
                  </a:cubicBezTo>
                  <a:cubicBezTo>
                    <a:pt x="3638" y="1904"/>
                    <a:pt x="3722" y="1889"/>
                    <a:pt x="3754" y="1889"/>
                  </a:cubicBezTo>
                  <a:cubicBezTo>
                    <a:pt x="3799" y="1889"/>
                    <a:pt x="3847" y="1914"/>
                    <a:pt x="3834" y="1980"/>
                  </a:cubicBezTo>
                  <a:lnTo>
                    <a:pt x="3764" y="1980"/>
                  </a:lnTo>
                  <a:close/>
                  <a:moveTo>
                    <a:pt x="4010" y="1888"/>
                  </a:moveTo>
                  <a:cubicBezTo>
                    <a:pt x="4098" y="1888"/>
                    <a:pt x="4123" y="1948"/>
                    <a:pt x="4109" y="2015"/>
                  </a:cubicBezTo>
                  <a:cubicBezTo>
                    <a:pt x="4094" y="2083"/>
                    <a:pt x="4042" y="2145"/>
                    <a:pt x="3954" y="2145"/>
                  </a:cubicBezTo>
                  <a:cubicBezTo>
                    <a:pt x="3884" y="2145"/>
                    <a:pt x="3839" y="2102"/>
                    <a:pt x="3857" y="2017"/>
                  </a:cubicBezTo>
                  <a:cubicBezTo>
                    <a:pt x="3870" y="1959"/>
                    <a:pt x="3914" y="1888"/>
                    <a:pt x="4010" y="1888"/>
                  </a:cubicBezTo>
                  <a:moveTo>
                    <a:pt x="3967" y="2095"/>
                  </a:moveTo>
                  <a:cubicBezTo>
                    <a:pt x="3998" y="2095"/>
                    <a:pt x="4023" y="2077"/>
                    <a:pt x="4037" y="2012"/>
                  </a:cubicBezTo>
                  <a:cubicBezTo>
                    <a:pt x="4044" y="1980"/>
                    <a:pt x="4047" y="1935"/>
                    <a:pt x="4000" y="1935"/>
                  </a:cubicBezTo>
                  <a:cubicBezTo>
                    <a:pt x="3948" y="1935"/>
                    <a:pt x="3935" y="1995"/>
                    <a:pt x="3930" y="2018"/>
                  </a:cubicBezTo>
                  <a:cubicBezTo>
                    <a:pt x="3918" y="2072"/>
                    <a:pt x="3932" y="2095"/>
                    <a:pt x="3967" y="2095"/>
                  </a:cubicBezTo>
                  <a:moveTo>
                    <a:pt x="4173" y="1939"/>
                  </a:moveTo>
                  <a:cubicBezTo>
                    <a:pt x="4176" y="1924"/>
                    <a:pt x="4178" y="1909"/>
                    <a:pt x="4180" y="1894"/>
                  </a:cubicBezTo>
                  <a:cubicBezTo>
                    <a:pt x="4248" y="1894"/>
                    <a:pt x="4248" y="1894"/>
                    <a:pt x="4248" y="1894"/>
                  </a:cubicBezTo>
                  <a:cubicBezTo>
                    <a:pt x="4245" y="1925"/>
                    <a:pt x="4245" y="1925"/>
                    <a:pt x="4245" y="1925"/>
                  </a:cubicBezTo>
                  <a:cubicBezTo>
                    <a:pt x="4254" y="1915"/>
                    <a:pt x="4279" y="1889"/>
                    <a:pt x="4327" y="1889"/>
                  </a:cubicBezTo>
                  <a:cubicBezTo>
                    <a:pt x="4383" y="1889"/>
                    <a:pt x="4392" y="1923"/>
                    <a:pt x="4394" y="1934"/>
                  </a:cubicBezTo>
                  <a:cubicBezTo>
                    <a:pt x="4423" y="1895"/>
                    <a:pt x="4456" y="1889"/>
                    <a:pt x="4481" y="1889"/>
                  </a:cubicBezTo>
                  <a:cubicBezTo>
                    <a:pt x="4530" y="1889"/>
                    <a:pt x="4544" y="1918"/>
                    <a:pt x="4547" y="1928"/>
                  </a:cubicBezTo>
                  <a:cubicBezTo>
                    <a:pt x="4555" y="1949"/>
                    <a:pt x="4548" y="1978"/>
                    <a:pt x="4544" y="1999"/>
                  </a:cubicBezTo>
                  <a:cubicBezTo>
                    <a:pt x="4515" y="2136"/>
                    <a:pt x="4515" y="2136"/>
                    <a:pt x="4515" y="2136"/>
                  </a:cubicBezTo>
                  <a:cubicBezTo>
                    <a:pt x="4443" y="2136"/>
                    <a:pt x="4443" y="2136"/>
                    <a:pt x="4443" y="2136"/>
                  </a:cubicBezTo>
                  <a:cubicBezTo>
                    <a:pt x="4473" y="1994"/>
                    <a:pt x="4473" y="1994"/>
                    <a:pt x="4473" y="1994"/>
                  </a:cubicBezTo>
                  <a:cubicBezTo>
                    <a:pt x="4479" y="1968"/>
                    <a:pt x="4481" y="1939"/>
                    <a:pt x="4444" y="1939"/>
                  </a:cubicBezTo>
                  <a:cubicBezTo>
                    <a:pt x="4401" y="1939"/>
                    <a:pt x="4392" y="1979"/>
                    <a:pt x="4385" y="2015"/>
                  </a:cubicBezTo>
                  <a:cubicBezTo>
                    <a:pt x="4358" y="2136"/>
                    <a:pt x="4358" y="2136"/>
                    <a:pt x="4358" y="2136"/>
                  </a:cubicBezTo>
                  <a:cubicBezTo>
                    <a:pt x="4286" y="2136"/>
                    <a:pt x="4286" y="2136"/>
                    <a:pt x="4286" y="2136"/>
                  </a:cubicBezTo>
                  <a:cubicBezTo>
                    <a:pt x="4318" y="1992"/>
                    <a:pt x="4318" y="1992"/>
                    <a:pt x="4318" y="1992"/>
                  </a:cubicBezTo>
                  <a:cubicBezTo>
                    <a:pt x="4321" y="1974"/>
                    <a:pt x="4328" y="1939"/>
                    <a:pt x="4289" y="1939"/>
                  </a:cubicBezTo>
                  <a:cubicBezTo>
                    <a:pt x="4244" y="1939"/>
                    <a:pt x="4236" y="1977"/>
                    <a:pt x="4232" y="1994"/>
                  </a:cubicBezTo>
                  <a:cubicBezTo>
                    <a:pt x="4202" y="2136"/>
                    <a:pt x="4202" y="2136"/>
                    <a:pt x="4202" y="2136"/>
                  </a:cubicBezTo>
                  <a:cubicBezTo>
                    <a:pt x="4131" y="2136"/>
                    <a:pt x="4131" y="2136"/>
                    <a:pt x="4131" y="2136"/>
                  </a:cubicBezTo>
                  <a:lnTo>
                    <a:pt x="4173" y="1939"/>
                  </a:lnTo>
                  <a:close/>
                  <a:moveTo>
                    <a:pt x="4694" y="1894"/>
                  </a:moveTo>
                  <a:cubicBezTo>
                    <a:pt x="4689" y="1928"/>
                    <a:pt x="4689" y="1928"/>
                    <a:pt x="4689" y="1928"/>
                  </a:cubicBezTo>
                  <a:cubicBezTo>
                    <a:pt x="4719" y="1889"/>
                    <a:pt x="4759" y="1889"/>
                    <a:pt x="4771" y="1889"/>
                  </a:cubicBezTo>
                  <a:cubicBezTo>
                    <a:pt x="4834" y="1889"/>
                    <a:pt x="4862" y="1936"/>
                    <a:pt x="4846" y="2010"/>
                  </a:cubicBezTo>
                  <a:cubicBezTo>
                    <a:pt x="4832" y="2079"/>
                    <a:pt x="4783" y="2140"/>
                    <a:pt x="4713" y="2140"/>
                  </a:cubicBezTo>
                  <a:cubicBezTo>
                    <a:pt x="4669" y="2140"/>
                    <a:pt x="4656" y="2117"/>
                    <a:pt x="4652" y="2109"/>
                  </a:cubicBezTo>
                  <a:cubicBezTo>
                    <a:pt x="4626" y="2229"/>
                    <a:pt x="4626" y="2229"/>
                    <a:pt x="4626" y="2229"/>
                  </a:cubicBezTo>
                  <a:cubicBezTo>
                    <a:pt x="4554" y="2229"/>
                    <a:pt x="4554" y="2229"/>
                    <a:pt x="4554" y="2229"/>
                  </a:cubicBezTo>
                  <a:cubicBezTo>
                    <a:pt x="4625" y="1894"/>
                    <a:pt x="4625" y="1894"/>
                    <a:pt x="4625" y="1894"/>
                  </a:cubicBezTo>
                  <a:lnTo>
                    <a:pt x="4694" y="1894"/>
                  </a:lnTo>
                  <a:close/>
                  <a:moveTo>
                    <a:pt x="4774" y="2013"/>
                  </a:moveTo>
                  <a:cubicBezTo>
                    <a:pt x="4780" y="1984"/>
                    <a:pt x="4783" y="1935"/>
                    <a:pt x="4741" y="1935"/>
                  </a:cubicBezTo>
                  <a:cubicBezTo>
                    <a:pt x="4718" y="1935"/>
                    <a:pt x="4682" y="1952"/>
                    <a:pt x="4668" y="2017"/>
                  </a:cubicBezTo>
                  <a:cubicBezTo>
                    <a:pt x="4665" y="2031"/>
                    <a:pt x="4652" y="2093"/>
                    <a:pt x="4705" y="2093"/>
                  </a:cubicBezTo>
                  <a:cubicBezTo>
                    <a:pt x="4738" y="2093"/>
                    <a:pt x="4763" y="2061"/>
                    <a:pt x="4774" y="2013"/>
                  </a:cubicBezTo>
                  <a:moveTo>
                    <a:pt x="4936" y="1789"/>
                  </a:moveTo>
                  <a:cubicBezTo>
                    <a:pt x="5007" y="1789"/>
                    <a:pt x="5007" y="1789"/>
                    <a:pt x="5007" y="1789"/>
                  </a:cubicBezTo>
                  <a:cubicBezTo>
                    <a:pt x="4933" y="2136"/>
                    <a:pt x="4933" y="2136"/>
                    <a:pt x="4933" y="2136"/>
                  </a:cubicBezTo>
                  <a:cubicBezTo>
                    <a:pt x="4862" y="2136"/>
                    <a:pt x="4862" y="2136"/>
                    <a:pt x="4862" y="2136"/>
                  </a:cubicBezTo>
                  <a:lnTo>
                    <a:pt x="4936" y="1789"/>
                  </a:lnTo>
                  <a:close/>
                  <a:moveTo>
                    <a:pt x="5068" y="2033"/>
                  </a:moveTo>
                  <a:cubicBezTo>
                    <a:pt x="5064" y="2049"/>
                    <a:pt x="5054" y="2098"/>
                    <a:pt x="5104" y="2098"/>
                  </a:cubicBezTo>
                  <a:cubicBezTo>
                    <a:pt x="5121" y="2098"/>
                    <a:pt x="5140" y="2091"/>
                    <a:pt x="5153" y="2064"/>
                  </a:cubicBezTo>
                  <a:cubicBezTo>
                    <a:pt x="5218" y="2064"/>
                    <a:pt x="5218" y="2064"/>
                    <a:pt x="5218" y="2064"/>
                  </a:cubicBezTo>
                  <a:cubicBezTo>
                    <a:pt x="5214" y="2076"/>
                    <a:pt x="5208" y="2097"/>
                    <a:pt x="5184" y="2117"/>
                  </a:cubicBezTo>
                  <a:cubicBezTo>
                    <a:pt x="5162" y="2136"/>
                    <a:pt x="5128" y="2145"/>
                    <a:pt x="5092" y="2145"/>
                  </a:cubicBezTo>
                  <a:cubicBezTo>
                    <a:pt x="5072" y="2145"/>
                    <a:pt x="5033" y="2142"/>
                    <a:pt x="5013" y="2115"/>
                  </a:cubicBezTo>
                  <a:cubicBezTo>
                    <a:pt x="4996" y="2092"/>
                    <a:pt x="4994" y="2060"/>
                    <a:pt x="5002" y="2021"/>
                  </a:cubicBezTo>
                  <a:cubicBezTo>
                    <a:pt x="5011" y="1981"/>
                    <a:pt x="5030" y="1934"/>
                    <a:pt x="5077" y="1906"/>
                  </a:cubicBezTo>
                  <a:cubicBezTo>
                    <a:pt x="5099" y="1893"/>
                    <a:pt x="5123" y="1886"/>
                    <a:pt x="5150" y="1886"/>
                  </a:cubicBezTo>
                  <a:cubicBezTo>
                    <a:pt x="5184" y="1886"/>
                    <a:pt x="5222" y="1899"/>
                    <a:pt x="5235" y="1944"/>
                  </a:cubicBezTo>
                  <a:cubicBezTo>
                    <a:pt x="5244" y="1977"/>
                    <a:pt x="5236" y="2013"/>
                    <a:pt x="5231" y="2033"/>
                  </a:cubicBezTo>
                  <a:lnTo>
                    <a:pt x="5068" y="2033"/>
                  </a:lnTo>
                  <a:close/>
                  <a:moveTo>
                    <a:pt x="5167" y="1988"/>
                  </a:moveTo>
                  <a:cubicBezTo>
                    <a:pt x="5170" y="1977"/>
                    <a:pt x="5178" y="1934"/>
                    <a:pt x="5137" y="1934"/>
                  </a:cubicBezTo>
                  <a:cubicBezTo>
                    <a:pt x="5105" y="1934"/>
                    <a:pt x="5087" y="1960"/>
                    <a:pt x="5080" y="1988"/>
                  </a:cubicBezTo>
                  <a:lnTo>
                    <a:pt x="5167" y="1988"/>
                  </a:lnTo>
                  <a:close/>
                  <a:moveTo>
                    <a:pt x="5353" y="1894"/>
                  </a:moveTo>
                  <a:cubicBezTo>
                    <a:pt x="5382" y="1973"/>
                    <a:pt x="5382" y="1973"/>
                    <a:pt x="5382" y="1973"/>
                  </a:cubicBezTo>
                  <a:cubicBezTo>
                    <a:pt x="5447" y="1894"/>
                    <a:pt x="5447" y="1894"/>
                    <a:pt x="5447" y="1894"/>
                  </a:cubicBezTo>
                  <a:cubicBezTo>
                    <a:pt x="5520" y="1894"/>
                    <a:pt x="5520" y="1894"/>
                    <a:pt x="5520" y="1894"/>
                  </a:cubicBezTo>
                  <a:cubicBezTo>
                    <a:pt x="5417" y="2012"/>
                    <a:pt x="5417" y="2012"/>
                    <a:pt x="5417" y="2012"/>
                  </a:cubicBezTo>
                  <a:cubicBezTo>
                    <a:pt x="5471" y="2136"/>
                    <a:pt x="5471" y="2136"/>
                    <a:pt x="5471" y="2136"/>
                  </a:cubicBezTo>
                  <a:cubicBezTo>
                    <a:pt x="5388" y="2136"/>
                    <a:pt x="5388" y="2136"/>
                    <a:pt x="5388" y="2136"/>
                  </a:cubicBezTo>
                  <a:cubicBezTo>
                    <a:pt x="5357" y="2047"/>
                    <a:pt x="5357" y="2047"/>
                    <a:pt x="5357" y="2047"/>
                  </a:cubicBezTo>
                  <a:cubicBezTo>
                    <a:pt x="5289" y="2136"/>
                    <a:pt x="5289" y="2136"/>
                    <a:pt x="5289" y="2136"/>
                  </a:cubicBezTo>
                  <a:cubicBezTo>
                    <a:pt x="5214" y="2136"/>
                    <a:pt x="5214" y="2136"/>
                    <a:pt x="5214" y="2136"/>
                  </a:cubicBezTo>
                  <a:cubicBezTo>
                    <a:pt x="5323" y="2006"/>
                    <a:pt x="5323" y="2006"/>
                    <a:pt x="5323" y="2006"/>
                  </a:cubicBezTo>
                  <a:cubicBezTo>
                    <a:pt x="5269" y="1894"/>
                    <a:pt x="5269" y="1894"/>
                    <a:pt x="5269" y="1894"/>
                  </a:cubicBezTo>
                  <a:lnTo>
                    <a:pt x="5353" y="1894"/>
                  </a:lnTo>
                  <a:close/>
                  <a:moveTo>
                    <a:pt x="5553" y="1893"/>
                  </a:moveTo>
                  <a:cubicBezTo>
                    <a:pt x="5625" y="1893"/>
                    <a:pt x="5625" y="1893"/>
                    <a:pt x="5625" y="1893"/>
                  </a:cubicBezTo>
                  <a:cubicBezTo>
                    <a:pt x="5573" y="2136"/>
                    <a:pt x="5573" y="2136"/>
                    <a:pt x="5573" y="2136"/>
                  </a:cubicBezTo>
                  <a:cubicBezTo>
                    <a:pt x="5501" y="2136"/>
                    <a:pt x="5501" y="2136"/>
                    <a:pt x="5501" y="2136"/>
                  </a:cubicBezTo>
                  <a:lnTo>
                    <a:pt x="5553" y="1893"/>
                  </a:lnTo>
                  <a:close/>
                  <a:moveTo>
                    <a:pt x="5573" y="1790"/>
                  </a:moveTo>
                  <a:cubicBezTo>
                    <a:pt x="5648" y="1790"/>
                    <a:pt x="5648" y="1790"/>
                    <a:pt x="5648" y="1790"/>
                  </a:cubicBezTo>
                  <a:cubicBezTo>
                    <a:pt x="5636" y="1851"/>
                    <a:pt x="5636" y="1851"/>
                    <a:pt x="5636" y="1851"/>
                  </a:cubicBezTo>
                  <a:cubicBezTo>
                    <a:pt x="5560" y="1851"/>
                    <a:pt x="5560" y="1851"/>
                    <a:pt x="5560" y="1851"/>
                  </a:cubicBezTo>
                  <a:lnTo>
                    <a:pt x="5573" y="1790"/>
                  </a:lnTo>
                  <a:close/>
                  <a:moveTo>
                    <a:pt x="5775" y="2133"/>
                  </a:moveTo>
                  <a:cubicBezTo>
                    <a:pt x="5752" y="2139"/>
                    <a:pt x="5730" y="2141"/>
                    <a:pt x="5719" y="2141"/>
                  </a:cubicBezTo>
                  <a:cubicBezTo>
                    <a:pt x="5647" y="2141"/>
                    <a:pt x="5657" y="2095"/>
                    <a:pt x="5662" y="2075"/>
                  </a:cubicBezTo>
                  <a:cubicBezTo>
                    <a:pt x="5689" y="1942"/>
                    <a:pt x="5689" y="1942"/>
                    <a:pt x="5689" y="1942"/>
                  </a:cubicBezTo>
                  <a:cubicBezTo>
                    <a:pt x="5643" y="1942"/>
                    <a:pt x="5643" y="1942"/>
                    <a:pt x="5643" y="1942"/>
                  </a:cubicBezTo>
                  <a:cubicBezTo>
                    <a:pt x="5653" y="1895"/>
                    <a:pt x="5653" y="1895"/>
                    <a:pt x="5653" y="1895"/>
                  </a:cubicBezTo>
                  <a:cubicBezTo>
                    <a:pt x="5700" y="1895"/>
                    <a:pt x="5700" y="1895"/>
                    <a:pt x="5700" y="1895"/>
                  </a:cubicBezTo>
                  <a:cubicBezTo>
                    <a:pt x="5710" y="1848"/>
                    <a:pt x="5710" y="1848"/>
                    <a:pt x="5710" y="1848"/>
                  </a:cubicBezTo>
                  <a:cubicBezTo>
                    <a:pt x="5786" y="1822"/>
                    <a:pt x="5786" y="1822"/>
                    <a:pt x="5786" y="1822"/>
                  </a:cubicBezTo>
                  <a:cubicBezTo>
                    <a:pt x="5770" y="1895"/>
                    <a:pt x="5770" y="1895"/>
                    <a:pt x="5770" y="1895"/>
                  </a:cubicBezTo>
                  <a:cubicBezTo>
                    <a:pt x="5828" y="1895"/>
                    <a:pt x="5828" y="1895"/>
                    <a:pt x="5828" y="1895"/>
                  </a:cubicBezTo>
                  <a:cubicBezTo>
                    <a:pt x="5818" y="1942"/>
                    <a:pt x="5818" y="1942"/>
                    <a:pt x="5818" y="1942"/>
                  </a:cubicBezTo>
                  <a:cubicBezTo>
                    <a:pt x="5760" y="1942"/>
                    <a:pt x="5760" y="1942"/>
                    <a:pt x="5760" y="1942"/>
                  </a:cubicBezTo>
                  <a:cubicBezTo>
                    <a:pt x="5736" y="2052"/>
                    <a:pt x="5736" y="2052"/>
                    <a:pt x="5736" y="2052"/>
                  </a:cubicBezTo>
                  <a:cubicBezTo>
                    <a:pt x="5733" y="2074"/>
                    <a:pt x="5729" y="2088"/>
                    <a:pt x="5761" y="2088"/>
                  </a:cubicBezTo>
                  <a:cubicBezTo>
                    <a:pt x="5772" y="2088"/>
                    <a:pt x="5777" y="2087"/>
                    <a:pt x="5786" y="2086"/>
                  </a:cubicBezTo>
                  <a:lnTo>
                    <a:pt x="5775" y="2133"/>
                  </a:lnTo>
                  <a:close/>
                  <a:moveTo>
                    <a:pt x="5921" y="1894"/>
                  </a:moveTo>
                  <a:cubicBezTo>
                    <a:pt x="5939" y="2062"/>
                    <a:pt x="5939" y="2062"/>
                    <a:pt x="5939" y="2062"/>
                  </a:cubicBezTo>
                  <a:cubicBezTo>
                    <a:pt x="6028" y="1894"/>
                    <a:pt x="6028" y="1894"/>
                    <a:pt x="6028" y="1894"/>
                  </a:cubicBezTo>
                  <a:cubicBezTo>
                    <a:pt x="6099" y="1894"/>
                    <a:pt x="6099" y="1894"/>
                    <a:pt x="6099" y="1894"/>
                  </a:cubicBezTo>
                  <a:cubicBezTo>
                    <a:pt x="5957" y="2132"/>
                    <a:pt x="5957" y="2132"/>
                    <a:pt x="5957" y="2132"/>
                  </a:cubicBezTo>
                  <a:cubicBezTo>
                    <a:pt x="5907" y="2229"/>
                    <a:pt x="5907" y="2229"/>
                    <a:pt x="5907" y="2229"/>
                  </a:cubicBezTo>
                  <a:cubicBezTo>
                    <a:pt x="5835" y="2229"/>
                    <a:pt x="5835" y="2229"/>
                    <a:pt x="5835" y="2229"/>
                  </a:cubicBezTo>
                  <a:cubicBezTo>
                    <a:pt x="5886" y="2137"/>
                    <a:pt x="5886" y="2137"/>
                    <a:pt x="5886" y="2137"/>
                  </a:cubicBezTo>
                  <a:cubicBezTo>
                    <a:pt x="5844" y="1894"/>
                    <a:pt x="5844" y="1894"/>
                    <a:pt x="5844" y="1894"/>
                  </a:cubicBezTo>
                  <a:lnTo>
                    <a:pt x="5921" y="1894"/>
                  </a:lnTo>
                  <a:close/>
                </a:path>
              </a:pathLst>
            </a:custGeom>
            <a:grpFill/>
            <a:ln w="9525">
              <a:noFill/>
              <a:round/>
              <a:headEnd/>
              <a:tailEnd/>
            </a:ln>
          </p:spPr>
          <p:txBody>
            <a:bodyPr vert="horz" wrap="square" lIns="91440" tIns="45720" rIns="91440" bIns="45720" numCol="1" anchor="t" anchorCtr="0" compatLnSpc="1">
              <a:prstTxWarp prst="textNoShape">
                <a:avLst/>
              </a:prstTxWarp>
              <a:noAutofit/>
            </a:bodyPr>
            <a:lstStyle/>
            <a:p>
              <a:endParaRPr lang="en-GB" dirty="0"/>
            </a:p>
          </p:txBody>
        </p:sp>
        <p:sp>
          <p:nvSpPr>
            <p:cNvPr id="13" name="Freeform 15"/>
            <p:cNvSpPr>
              <a:spLocks noEditPoints="1"/>
            </p:cNvSpPr>
            <p:nvPr userDrawn="1"/>
          </p:nvSpPr>
          <p:spPr bwMode="auto">
            <a:xfrm>
              <a:off x="-2592388" y="0"/>
              <a:ext cx="2592388" cy="1530350"/>
            </a:xfrm>
            <a:custGeom>
              <a:avLst/>
              <a:gdLst/>
              <a:ahLst/>
              <a:cxnLst>
                <a:cxn ang="0">
                  <a:pos x="176" y="248"/>
                </a:cxn>
                <a:cxn ang="0">
                  <a:pos x="0" y="248"/>
                </a:cxn>
                <a:cxn ang="0">
                  <a:pos x="0" y="0"/>
                </a:cxn>
                <a:cxn ang="0">
                  <a:pos x="176" y="0"/>
                </a:cxn>
                <a:cxn ang="0">
                  <a:pos x="176" y="248"/>
                </a:cxn>
                <a:cxn ang="0">
                  <a:pos x="176" y="716"/>
                </a:cxn>
                <a:cxn ang="0">
                  <a:pos x="0" y="716"/>
                </a:cxn>
                <a:cxn ang="0">
                  <a:pos x="0" y="964"/>
                </a:cxn>
                <a:cxn ang="0">
                  <a:pos x="176" y="964"/>
                </a:cxn>
                <a:cxn ang="0">
                  <a:pos x="176" y="716"/>
                </a:cxn>
                <a:cxn ang="0">
                  <a:pos x="1633" y="0"/>
                </a:cxn>
                <a:cxn ang="0">
                  <a:pos x="1457" y="0"/>
                </a:cxn>
                <a:cxn ang="0">
                  <a:pos x="1457" y="248"/>
                </a:cxn>
                <a:cxn ang="0">
                  <a:pos x="1633" y="248"/>
                </a:cxn>
                <a:cxn ang="0">
                  <a:pos x="1633" y="0"/>
                </a:cxn>
                <a:cxn ang="0">
                  <a:pos x="1633" y="716"/>
                </a:cxn>
                <a:cxn ang="0">
                  <a:pos x="1457" y="716"/>
                </a:cxn>
                <a:cxn ang="0">
                  <a:pos x="1457" y="964"/>
                </a:cxn>
                <a:cxn ang="0">
                  <a:pos x="1633" y="964"/>
                </a:cxn>
                <a:cxn ang="0">
                  <a:pos x="1633" y="716"/>
                </a:cxn>
              </a:cxnLst>
              <a:rect l="0" t="0" r="r" b="b"/>
              <a:pathLst>
                <a:path w="1633" h="964">
                  <a:moveTo>
                    <a:pt x="176" y="248"/>
                  </a:moveTo>
                  <a:lnTo>
                    <a:pt x="0" y="248"/>
                  </a:lnTo>
                  <a:lnTo>
                    <a:pt x="0" y="0"/>
                  </a:lnTo>
                  <a:lnTo>
                    <a:pt x="176" y="0"/>
                  </a:lnTo>
                  <a:lnTo>
                    <a:pt x="176" y="248"/>
                  </a:lnTo>
                  <a:close/>
                  <a:moveTo>
                    <a:pt x="176" y="716"/>
                  </a:moveTo>
                  <a:lnTo>
                    <a:pt x="0" y="716"/>
                  </a:lnTo>
                  <a:lnTo>
                    <a:pt x="0" y="964"/>
                  </a:lnTo>
                  <a:lnTo>
                    <a:pt x="176" y="964"/>
                  </a:lnTo>
                  <a:lnTo>
                    <a:pt x="176" y="716"/>
                  </a:lnTo>
                  <a:close/>
                  <a:moveTo>
                    <a:pt x="1633" y="0"/>
                  </a:moveTo>
                  <a:lnTo>
                    <a:pt x="1457" y="0"/>
                  </a:lnTo>
                  <a:lnTo>
                    <a:pt x="1457" y="248"/>
                  </a:lnTo>
                  <a:lnTo>
                    <a:pt x="1633" y="248"/>
                  </a:lnTo>
                  <a:lnTo>
                    <a:pt x="1633" y="0"/>
                  </a:lnTo>
                  <a:close/>
                  <a:moveTo>
                    <a:pt x="1633" y="716"/>
                  </a:moveTo>
                  <a:lnTo>
                    <a:pt x="1457" y="716"/>
                  </a:lnTo>
                  <a:lnTo>
                    <a:pt x="1457" y="964"/>
                  </a:lnTo>
                  <a:lnTo>
                    <a:pt x="1633" y="964"/>
                  </a:lnTo>
                  <a:lnTo>
                    <a:pt x="1633" y="716"/>
                  </a:ln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en-GB" dirty="0"/>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grpSp>
        <p:nvGrpSpPr>
          <p:cNvPr id="2" name="Group 18"/>
          <p:cNvGrpSpPr>
            <a:grpSpLocks noChangeAspect="1"/>
          </p:cNvGrpSpPr>
          <p:nvPr userDrawn="1"/>
        </p:nvGrpSpPr>
        <p:grpSpPr bwMode="gray">
          <a:xfrm>
            <a:off x="0" y="0"/>
            <a:ext cx="9144001" cy="6858000"/>
            <a:chOff x="0" y="0"/>
            <a:chExt cx="9144001" cy="6858000"/>
          </a:xfrm>
        </p:grpSpPr>
        <p:sp>
          <p:nvSpPr>
            <p:cNvPr id="3078" name="Freeform 6"/>
            <p:cNvSpPr>
              <a:spLocks/>
            </p:cNvSpPr>
            <p:nvPr userDrawn="1"/>
          </p:nvSpPr>
          <p:spPr bwMode="gray">
            <a:xfrm>
              <a:off x="0" y="0"/>
              <a:ext cx="5219700" cy="3214688"/>
            </a:xfrm>
            <a:custGeom>
              <a:avLst/>
              <a:gdLst/>
              <a:ahLst/>
              <a:cxnLst>
                <a:cxn ang="0">
                  <a:pos x="3288" y="0"/>
                </a:cxn>
                <a:cxn ang="0">
                  <a:pos x="0" y="0"/>
                </a:cxn>
                <a:cxn ang="0">
                  <a:pos x="0" y="2025"/>
                </a:cxn>
                <a:cxn ang="0">
                  <a:pos x="2689" y="2025"/>
                </a:cxn>
                <a:cxn ang="0">
                  <a:pos x="3288" y="0"/>
                </a:cxn>
              </a:cxnLst>
              <a:rect l="0" t="0" r="r" b="b"/>
              <a:pathLst>
                <a:path w="3288" h="2025">
                  <a:moveTo>
                    <a:pt x="3288" y="0"/>
                  </a:moveTo>
                  <a:lnTo>
                    <a:pt x="0" y="0"/>
                  </a:lnTo>
                  <a:lnTo>
                    <a:pt x="0" y="2025"/>
                  </a:lnTo>
                  <a:lnTo>
                    <a:pt x="2689" y="2025"/>
                  </a:lnTo>
                  <a:lnTo>
                    <a:pt x="3288" y="0"/>
                  </a:lnTo>
                  <a:close/>
                </a:path>
              </a:pathLst>
            </a:custGeom>
            <a:gradFill flip="none" rotWithShape="1">
              <a:gsLst>
                <a:gs pos="0">
                  <a:srgbClr val="00257A">
                    <a:alpha val="90000"/>
                  </a:srgbClr>
                </a:gs>
                <a:gs pos="35000">
                  <a:srgbClr val="00338D">
                    <a:alpha val="90000"/>
                  </a:srgbClr>
                </a:gs>
                <a:gs pos="100000">
                  <a:srgbClr val="009FDA">
                    <a:alpha val="90000"/>
                  </a:srgbClr>
                </a:gs>
              </a:gsLst>
              <a:lin ang="0" scaled="1"/>
              <a:tileRect/>
            </a:gradFill>
            <a:ln w="9525" cap="flat" cmpd="sng">
              <a:noFill/>
              <a:prstDash val="solid"/>
              <a:round/>
              <a:headEnd type="none" w="med" len="med"/>
              <a:tailEnd type="none" w="med" len="med"/>
            </a:ln>
            <a:effectLst/>
          </p:spPr>
          <p:txBody>
            <a:bodyPr>
              <a:noAutofit/>
            </a:bodyPr>
            <a:lstStyle/>
            <a:p>
              <a:pPr marL="0" algn="l" defTabSz="914400" rtl="0" eaLnBrk="1" latinLnBrk="0" hangingPunct="1">
                <a:spcBef>
                  <a:spcPct val="50000"/>
                </a:spcBef>
                <a:defRPr/>
              </a:pPr>
              <a:endParaRPr lang="en-GB" sz="1800" kern="1200" dirty="0">
                <a:solidFill>
                  <a:schemeClr val="tx1"/>
                </a:solidFill>
                <a:latin typeface="+mn-lt"/>
                <a:ea typeface="+mn-ea"/>
                <a:cs typeface="+mn-cs"/>
              </a:endParaRPr>
            </a:p>
          </p:txBody>
        </p:sp>
        <p:sp>
          <p:nvSpPr>
            <p:cNvPr id="3079" name="Freeform 7"/>
            <p:cNvSpPr>
              <a:spLocks/>
            </p:cNvSpPr>
            <p:nvPr userDrawn="1"/>
          </p:nvSpPr>
          <p:spPr bwMode="gray">
            <a:xfrm>
              <a:off x="2170113" y="1774825"/>
              <a:ext cx="6973888" cy="5083175"/>
            </a:xfrm>
            <a:custGeom>
              <a:avLst/>
              <a:gdLst/>
              <a:ahLst/>
              <a:cxnLst>
                <a:cxn ang="0">
                  <a:pos x="4393" y="0"/>
                </a:cxn>
                <a:cxn ang="0">
                  <a:pos x="948" y="0"/>
                </a:cxn>
                <a:cxn ang="0">
                  <a:pos x="0" y="3202"/>
                </a:cxn>
                <a:cxn ang="0">
                  <a:pos x="4393" y="3202"/>
                </a:cxn>
                <a:cxn ang="0">
                  <a:pos x="4393" y="0"/>
                </a:cxn>
              </a:cxnLst>
              <a:rect l="0" t="0" r="r" b="b"/>
              <a:pathLst>
                <a:path w="4393" h="3202">
                  <a:moveTo>
                    <a:pt x="4393" y="0"/>
                  </a:moveTo>
                  <a:lnTo>
                    <a:pt x="948" y="0"/>
                  </a:lnTo>
                  <a:lnTo>
                    <a:pt x="0" y="3202"/>
                  </a:lnTo>
                  <a:lnTo>
                    <a:pt x="4393" y="3202"/>
                  </a:lnTo>
                  <a:lnTo>
                    <a:pt x="4393" y="0"/>
                  </a:lnTo>
                  <a:close/>
                </a:path>
              </a:pathLst>
            </a:custGeom>
            <a:gradFill flip="none" rotWithShape="1">
              <a:gsLst>
                <a:gs pos="0">
                  <a:srgbClr val="00257A">
                    <a:alpha val="90000"/>
                  </a:srgbClr>
                </a:gs>
                <a:gs pos="35000">
                  <a:srgbClr val="00338D">
                    <a:alpha val="90000"/>
                  </a:srgbClr>
                </a:gs>
                <a:gs pos="100000">
                  <a:srgbClr val="009FDA">
                    <a:alpha val="90000"/>
                  </a:srgbClr>
                </a:gs>
              </a:gsLst>
              <a:lin ang="0" scaled="1"/>
              <a:tileRect/>
            </a:gradFill>
            <a:ln w="9525" cap="flat" cmpd="sng">
              <a:noFill/>
              <a:prstDash val="solid"/>
              <a:round/>
              <a:headEnd type="none" w="med" len="med"/>
              <a:tailEnd type="none" w="med" len="med"/>
            </a:ln>
            <a:effectLst/>
          </p:spPr>
          <p:txBody>
            <a:bodyPr>
              <a:noAutofit/>
            </a:bodyPr>
            <a:lstStyle/>
            <a:p>
              <a:pPr marL="0" algn="l" defTabSz="914400" rtl="0" eaLnBrk="1" latinLnBrk="0" hangingPunct="1">
                <a:spcBef>
                  <a:spcPct val="50000"/>
                </a:spcBef>
                <a:defRPr/>
              </a:pPr>
              <a:endParaRPr lang="en-GB" sz="1800" kern="1200" dirty="0">
                <a:solidFill>
                  <a:schemeClr val="tx1"/>
                </a:solidFill>
                <a:latin typeface="+mn-lt"/>
                <a:ea typeface="+mn-ea"/>
                <a:cs typeface="+mn-cs"/>
              </a:endParaRPr>
            </a:p>
          </p:txBody>
        </p:sp>
        <p:sp>
          <p:nvSpPr>
            <p:cNvPr id="3080" name="Freeform 8"/>
            <p:cNvSpPr>
              <a:spLocks/>
            </p:cNvSpPr>
            <p:nvPr userDrawn="1"/>
          </p:nvSpPr>
          <p:spPr bwMode="gray">
            <a:xfrm>
              <a:off x="3249613" y="1774825"/>
              <a:ext cx="1444625" cy="1439863"/>
            </a:xfrm>
            <a:custGeom>
              <a:avLst/>
              <a:gdLst/>
              <a:ahLst/>
              <a:cxnLst>
                <a:cxn ang="0">
                  <a:pos x="0" y="907"/>
                </a:cxn>
                <a:cxn ang="0">
                  <a:pos x="642" y="907"/>
                </a:cxn>
                <a:cxn ang="0">
                  <a:pos x="910" y="0"/>
                </a:cxn>
                <a:cxn ang="0">
                  <a:pos x="268" y="0"/>
                </a:cxn>
                <a:cxn ang="0">
                  <a:pos x="0" y="907"/>
                </a:cxn>
              </a:cxnLst>
              <a:rect l="0" t="0" r="r" b="b"/>
              <a:pathLst>
                <a:path w="910" h="907">
                  <a:moveTo>
                    <a:pt x="0" y="907"/>
                  </a:moveTo>
                  <a:lnTo>
                    <a:pt x="642" y="907"/>
                  </a:lnTo>
                  <a:lnTo>
                    <a:pt x="910" y="0"/>
                  </a:lnTo>
                  <a:lnTo>
                    <a:pt x="268" y="0"/>
                  </a:lnTo>
                  <a:lnTo>
                    <a:pt x="0" y="907"/>
                  </a:lnTo>
                  <a:close/>
                </a:path>
              </a:pathLst>
            </a:custGeom>
            <a:solidFill>
              <a:srgbClr val="00257A"/>
            </a:solidFill>
            <a:ln w="9525" cap="flat" cmpd="sng">
              <a:noFill/>
              <a:prstDash val="solid"/>
              <a:round/>
              <a:headEnd type="none" w="med" len="med"/>
              <a:tailEnd type="none" w="med" len="med"/>
            </a:ln>
            <a:effectLst/>
          </p:spPr>
          <p:txBody>
            <a:bodyPr>
              <a:noAutofit/>
            </a:bodyPr>
            <a:lstStyle/>
            <a:p>
              <a:pPr marL="0" algn="l" defTabSz="914400" rtl="0" eaLnBrk="1" latinLnBrk="0" hangingPunct="1">
                <a:spcBef>
                  <a:spcPct val="50000"/>
                </a:spcBef>
                <a:defRPr/>
              </a:pPr>
              <a:endParaRPr lang="en-GB" sz="1800" kern="1200" dirty="0">
                <a:solidFill>
                  <a:schemeClr val="tx1"/>
                </a:solidFill>
                <a:latin typeface="+mn-lt"/>
                <a:ea typeface="+mn-ea"/>
                <a:cs typeface="+mn-cs"/>
              </a:endParaRPr>
            </a:p>
          </p:txBody>
        </p:sp>
      </p:grpSp>
      <p:sp>
        <p:nvSpPr>
          <p:cNvPr id="10" name="Title 9"/>
          <p:cNvSpPr>
            <a:spLocks noGrp="1"/>
          </p:cNvSpPr>
          <p:nvPr userDrawn="1">
            <p:ph type="title"/>
          </p:nvPr>
        </p:nvSpPr>
        <p:spPr bwMode="gray">
          <a:xfrm>
            <a:off x="4860032" y="2492896"/>
            <a:ext cx="3888432" cy="2232248"/>
          </a:xfrm>
          <a:noFill/>
          <a:ln w="9525">
            <a:noFill/>
            <a:miter lim="800000"/>
            <a:headEnd/>
            <a:tailEnd/>
          </a:ln>
        </p:spPr>
        <p:txBody>
          <a:bodyPr vert="horz" wrap="square" lIns="0" tIns="0" rIns="0" bIns="0" numCol="1" anchor="t" anchorCtr="0" compatLnSpc="1">
            <a:prstTxWarp prst="textNoShape">
              <a:avLst/>
            </a:prstTxWarp>
            <a:noAutofit/>
          </a:bodyPr>
          <a:lstStyle>
            <a:lvl1pPr algn="r" rtl="0" eaLnBrk="1" fontAlgn="base" hangingPunct="1">
              <a:spcBef>
                <a:spcPct val="40000"/>
              </a:spcBef>
              <a:spcAft>
                <a:spcPct val="0"/>
              </a:spcAft>
              <a:defRPr lang="en-GB" sz="3000" b="1" dirty="0" smtClean="0">
                <a:solidFill>
                  <a:schemeClr val="bg1"/>
                </a:solidFill>
                <a:latin typeface="+mj-lt"/>
                <a:ea typeface="+mj-ea"/>
                <a:cs typeface="+mj-cs"/>
              </a:defRPr>
            </a:lvl1pPr>
          </a:lstStyle>
          <a:p>
            <a:r>
              <a:rPr lang="en-US" smtClean="0"/>
              <a:t>Click to edit Master title style</a:t>
            </a:r>
            <a:endParaRPr lang="en-GB" dirty="0"/>
          </a:p>
        </p:txBody>
      </p:sp>
      <p:sp>
        <p:nvSpPr>
          <p:cNvPr id="17" name="Text Placeholder 16"/>
          <p:cNvSpPr>
            <a:spLocks noGrp="1"/>
          </p:cNvSpPr>
          <p:nvPr userDrawn="1">
            <p:ph type="body" sz="quarter" idx="10"/>
          </p:nvPr>
        </p:nvSpPr>
        <p:spPr bwMode="gray">
          <a:xfrm>
            <a:off x="4860032" y="5013176"/>
            <a:ext cx="3888432" cy="1512168"/>
          </a:xfrm>
          <a:noFill/>
          <a:ln w="9525">
            <a:noFill/>
            <a:miter lim="800000"/>
            <a:headEnd/>
            <a:tailEnd/>
          </a:ln>
        </p:spPr>
        <p:txBody>
          <a:bodyPr vert="horz" wrap="square" lIns="0" tIns="0" rIns="0" bIns="0" numCol="1" anchor="t" anchorCtr="0" compatLnSpc="1">
            <a:prstTxWarp prst="textNoShape">
              <a:avLst/>
            </a:prstTxWarp>
            <a:noAutofit/>
          </a:bodyPr>
          <a:lstStyle>
            <a:lvl1pPr marL="342900" indent="-342900" algn="r" rtl="0" eaLnBrk="1" fontAlgn="base" hangingPunct="1">
              <a:lnSpc>
                <a:spcPct val="110000"/>
              </a:lnSpc>
              <a:spcBef>
                <a:spcPts val="600"/>
              </a:spcBef>
              <a:spcAft>
                <a:spcPct val="0"/>
              </a:spcAft>
              <a:defRPr lang="en-US" sz="1200" b="0" dirty="0" smtClean="0">
                <a:solidFill>
                  <a:schemeClr val="bg1"/>
                </a:solidFill>
                <a:latin typeface="+mn-lt"/>
                <a:ea typeface="+mn-ea"/>
                <a:cs typeface="+mn-cs"/>
              </a:defRPr>
            </a:lvl1pPr>
          </a:lstStyle>
          <a:p>
            <a:pPr lvl="0"/>
            <a:r>
              <a:rPr lang="en-US" smtClean="0"/>
              <a:t>Click to edit Master text styles</a:t>
            </a:r>
          </a:p>
        </p:txBody>
      </p:sp>
      <p:grpSp>
        <p:nvGrpSpPr>
          <p:cNvPr id="3" name="Group 10"/>
          <p:cNvGrpSpPr>
            <a:grpSpLocks noChangeAspect="1"/>
          </p:cNvGrpSpPr>
          <p:nvPr userDrawn="1"/>
        </p:nvGrpSpPr>
        <p:grpSpPr>
          <a:xfrm>
            <a:off x="128464" y="0"/>
            <a:ext cx="2592388" cy="1530350"/>
            <a:chOff x="-2592388" y="0"/>
            <a:chExt cx="2592388" cy="1530350"/>
          </a:xfrm>
          <a:solidFill>
            <a:schemeClr val="bg1"/>
          </a:solidFill>
        </p:grpSpPr>
        <p:sp>
          <p:nvSpPr>
            <p:cNvPr id="12" name="Freeform 14"/>
            <p:cNvSpPr>
              <a:spLocks noEditPoints="1"/>
            </p:cNvSpPr>
            <p:nvPr userDrawn="1"/>
          </p:nvSpPr>
          <p:spPr bwMode="auto">
            <a:xfrm>
              <a:off x="-2384425" y="393700"/>
              <a:ext cx="2119313" cy="776288"/>
            </a:xfrm>
            <a:custGeom>
              <a:avLst/>
              <a:gdLst/>
              <a:ahLst/>
              <a:cxnLst>
                <a:cxn ang="0">
                  <a:pos x="2851" y="1035"/>
                </a:cxn>
                <a:cxn ang="0">
                  <a:pos x="3588" y="28"/>
                </a:cxn>
                <a:cxn ang="0">
                  <a:pos x="2718" y="826"/>
                </a:cxn>
                <a:cxn ang="0">
                  <a:pos x="1973" y="28"/>
                </a:cxn>
                <a:cxn ang="0">
                  <a:pos x="1663" y="659"/>
                </a:cxn>
                <a:cxn ang="0">
                  <a:pos x="1850" y="28"/>
                </a:cxn>
                <a:cxn ang="0">
                  <a:pos x="1165" y="1000"/>
                </a:cxn>
                <a:cxn ang="0">
                  <a:pos x="1334" y="806"/>
                </a:cxn>
                <a:cxn ang="0">
                  <a:pos x="479" y="1047"/>
                </a:cxn>
                <a:cxn ang="0">
                  <a:pos x="980" y="699"/>
                </a:cxn>
                <a:cxn ang="0">
                  <a:pos x="2747" y="0"/>
                </a:cxn>
                <a:cxn ang="0">
                  <a:pos x="1009" y="0"/>
                </a:cxn>
                <a:cxn ang="0">
                  <a:pos x="665" y="1435"/>
                </a:cxn>
                <a:cxn ang="0">
                  <a:pos x="1150" y="1133"/>
                </a:cxn>
                <a:cxn ang="0">
                  <a:pos x="1980" y="1434"/>
                </a:cxn>
                <a:cxn ang="0">
                  <a:pos x="2963" y="1451"/>
                </a:cxn>
                <a:cxn ang="0">
                  <a:pos x="348" y="2092"/>
                </a:cxn>
                <a:cxn ang="0">
                  <a:pos x="395" y="2104"/>
                </a:cxn>
                <a:cxn ang="0">
                  <a:pos x="880" y="1895"/>
                </a:cxn>
                <a:cxn ang="0">
                  <a:pos x="584" y="1895"/>
                </a:cxn>
                <a:cxn ang="0">
                  <a:pos x="645" y="2088"/>
                </a:cxn>
                <a:cxn ang="0">
                  <a:pos x="813" y="2088"/>
                </a:cxn>
                <a:cxn ang="0">
                  <a:pos x="935" y="1790"/>
                </a:cxn>
                <a:cxn ang="0">
                  <a:pos x="1104" y="1929"/>
                </a:cxn>
                <a:cxn ang="0">
                  <a:pos x="1151" y="1938"/>
                </a:cxn>
                <a:cxn ang="0">
                  <a:pos x="1504" y="2134"/>
                </a:cxn>
                <a:cxn ang="0">
                  <a:pos x="1370" y="2132"/>
                </a:cxn>
                <a:cxn ang="0">
                  <a:pos x="1428" y="1940"/>
                </a:cxn>
                <a:cxn ang="0">
                  <a:pos x="1719" y="1895"/>
                </a:cxn>
                <a:cxn ang="0">
                  <a:pos x="1803" y="2052"/>
                </a:cxn>
                <a:cxn ang="0">
                  <a:pos x="2137" y="1923"/>
                </a:cxn>
                <a:cxn ang="0">
                  <a:pos x="1881" y="2136"/>
                </a:cxn>
                <a:cxn ang="0">
                  <a:pos x="2253" y="2017"/>
                </a:cxn>
                <a:cxn ang="0">
                  <a:pos x="2503" y="1888"/>
                </a:cxn>
                <a:cxn ang="0">
                  <a:pos x="2740" y="2092"/>
                </a:cxn>
                <a:cxn ang="0">
                  <a:pos x="2787" y="2104"/>
                </a:cxn>
                <a:cxn ang="0">
                  <a:pos x="3126" y="2134"/>
                </a:cxn>
                <a:cxn ang="0">
                  <a:pos x="2992" y="2132"/>
                </a:cxn>
                <a:cxn ang="0">
                  <a:pos x="3051" y="1940"/>
                </a:cxn>
                <a:cxn ang="0">
                  <a:pos x="3441" y="1989"/>
                </a:cxn>
                <a:cxn ang="0">
                  <a:pos x="3257" y="1790"/>
                </a:cxn>
                <a:cxn ang="0">
                  <a:pos x="168" y="2120"/>
                </a:cxn>
                <a:cxn ang="0">
                  <a:pos x="3742" y="1935"/>
                </a:cxn>
                <a:cxn ang="0">
                  <a:pos x="3624" y="2110"/>
                </a:cxn>
                <a:cxn ang="0">
                  <a:pos x="3857" y="2017"/>
                </a:cxn>
                <a:cxn ang="0">
                  <a:pos x="4180" y="1894"/>
                </a:cxn>
                <a:cxn ang="0">
                  <a:pos x="4515" y="2136"/>
                </a:cxn>
                <a:cxn ang="0">
                  <a:pos x="4289" y="1939"/>
                </a:cxn>
                <a:cxn ang="0">
                  <a:pos x="4846" y="2010"/>
                </a:cxn>
                <a:cxn ang="0">
                  <a:pos x="4741" y="1935"/>
                </a:cxn>
                <a:cxn ang="0">
                  <a:pos x="4936" y="1789"/>
                </a:cxn>
                <a:cxn ang="0">
                  <a:pos x="5002" y="2021"/>
                </a:cxn>
                <a:cxn ang="0">
                  <a:pos x="5080" y="1988"/>
                </a:cxn>
                <a:cxn ang="0">
                  <a:pos x="5388" y="2136"/>
                </a:cxn>
                <a:cxn ang="0">
                  <a:pos x="5625" y="1893"/>
                </a:cxn>
                <a:cxn ang="0">
                  <a:pos x="5573" y="1790"/>
                </a:cxn>
                <a:cxn ang="0">
                  <a:pos x="5710" y="1848"/>
                </a:cxn>
                <a:cxn ang="0">
                  <a:pos x="5786" y="2086"/>
                </a:cxn>
                <a:cxn ang="0">
                  <a:pos x="5835" y="2229"/>
                </a:cxn>
              </a:cxnLst>
              <a:rect l="0" t="0" r="r" b="b"/>
              <a:pathLst>
                <a:path w="6099" h="2232">
                  <a:moveTo>
                    <a:pt x="3588" y="1105"/>
                  </a:moveTo>
                  <a:cubicBezTo>
                    <a:pt x="3401" y="1105"/>
                    <a:pt x="3401" y="1105"/>
                    <a:pt x="3401" y="1105"/>
                  </a:cubicBezTo>
                  <a:cubicBezTo>
                    <a:pt x="3431" y="981"/>
                    <a:pt x="3431" y="981"/>
                    <a:pt x="3431" y="981"/>
                  </a:cubicBezTo>
                  <a:cubicBezTo>
                    <a:pt x="3055" y="981"/>
                    <a:pt x="3055" y="981"/>
                    <a:pt x="3055" y="981"/>
                  </a:cubicBezTo>
                  <a:cubicBezTo>
                    <a:pt x="3024" y="1105"/>
                    <a:pt x="3024" y="1105"/>
                    <a:pt x="3024" y="1105"/>
                  </a:cubicBezTo>
                  <a:cubicBezTo>
                    <a:pt x="2843" y="1105"/>
                    <a:pt x="2843" y="1105"/>
                    <a:pt x="2843" y="1105"/>
                  </a:cubicBezTo>
                  <a:cubicBezTo>
                    <a:pt x="2843" y="1079"/>
                    <a:pt x="2843" y="1079"/>
                    <a:pt x="2843" y="1079"/>
                  </a:cubicBezTo>
                  <a:cubicBezTo>
                    <a:pt x="2845" y="1065"/>
                    <a:pt x="2848" y="1051"/>
                    <a:pt x="2851" y="1035"/>
                  </a:cubicBezTo>
                  <a:cubicBezTo>
                    <a:pt x="2884" y="901"/>
                    <a:pt x="2972" y="769"/>
                    <a:pt x="3124" y="769"/>
                  </a:cubicBezTo>
                  <a:cubicBezTo>
                    <a:pt x="3185" y="769"/>
                    <a:pt x="3244" y="792"/>
                    <a:pt x="3236" y="875"/>
                  </a:cubicBezTo>
                  <a:cubicBezTo>
                    <a:pt x="3460" y="875"/>
                    <a:pt x="3460" y="875"/>
                    <a:pt x="3460" y="875"/>
                  </a:cubicBezTo>
                  <a:cubicBezTo>
                    <a:pt x="3469" y="836"/>
                    <a:pt x="3484" y="770"/>
                    <a:pt x="3441" y="709"/>
                  </a:cubicBezTo>
                  <a:cubicBezTo>
                    <a:pt x="3394" y="643"/>
                    <a:pt x="3298" y="616"/>
                    <a:pt x="3173" y="616"/>
                  </a:cubicBezTo>
                  <a:cubicBezTo>
                    <a:pt x="3084" y="616"/>
                    <a:pt x="2955" y="631"/>
                    <a:pt x="2843" y="704"/>
                  </a:cubicBezTo>
                  <a:cubicBezTo>
                    <a:pt x="2843" y="28"/>
                    <a:pt x="2843" y="28"/>
                    <a:pt x="2843" y="28"/>
                  </a:cubicBezTo>
                  <a:cubicBezTo>
                    <a:pt x="3588" y="28"/>
                    <a:pt x="3588" y="28"/>
                    <a:pt x="3588" y="28"/>
                  </a:cubicBezTo>
                  <a:lnTo>
                    <a:pt x="3588" y="1105"/>
                  </a:lnTo>
                  <a:close/>
                  <a:moveTo>
                    <a:pt x="3148" y="1287"/>
                  </a:moveTo>
                  <a:cubicBezTo>
                    <a:pt x="3106" y="1294"/>
                    <a:pt x="3063" y="1300"/>
                    <a:pt x="3023" y="1300"/>
                  </a:cubicBezTo>
                  <a:cubicBezTo>
                    <a:pt x="2915" y="1300"/>
                    <a:pt x="2840" y="1250"/>
                    <a:pt x="2839" y="1133"/>
                  </a:cubicBezTo>
                  <a:cubicBezTo>
                    <a:pt x="3186" y="1133"/>
                    <a:pt x="3186" y="1133"/>
                    <a:pt x="3186" y="1133"/>
                  </a:cubicBezTo>
                  <a:lnTo>
                    <a:pt x="3148" y="1287"/>
                  </a:lnTo>
                  <a:close/>
                  <a:moveTo>
                    <a:pt x="2718" y="672"/>
                  </a:moveTo>
                  <a:cubicBezTo>
                    <a:pt x="2718" y="826"/>
                    <a:pt x="2718" y="826"/>
                    <a:pt x="2718" y="826"/>
                  </a:cubicBezTo>
                  <a:cubicBezTo>
                    <a:pt x="2666" y="898"/>
                    <a:pt x="2634" y="976"/>
                    <a:pt x="2619" y="1040"/>
                  </a:cubicBezTo>
                  <a:cubicBezTo>
                    <a:pt x="2613" y="1061"/>
                    <a:pt x="2609" y="1083"/>
                    <a:pt x="2607" y="1105"/>
                  </a:cubicBezTo>
                  <a:cubicBezTo>
                    <a:pt x="2497" y="1105"/>
                    <a:pt x="2497" y="1105"/>
                    <a:pt x="2497" y="1105"/>
                  </a:cubicBezTo>
                  <a:cubicBezTo>
                    <a:pt x="2591" y="660"/>
                    <a:pt x="2591" y="660"/>
                    <a:pt x="2591" y="660"/>
                  </a:cubicBezTo>
                  <a:cubicBezTo>
                    <a:pt x="2276" y="660"/>
                    <a:pt x="2276" y="660"/>
                    <a:pt x="2276" y="660"/>
                  </a:cubicBezTo>
                  <a:cubicBezTo>
                    <a:pt x="1993" y="1105"/>
                    <a:pt x="1993" y="1105"/>
                    <a:pt x="1993" y="1105"/>
                  </a:cubicBezTo>
                  <a:cubicBezTo>
                    <a:pt x="1973" y="1105"/>
                    <a:pt x="1973" y="1105"/>
                    <a:pt x="1973" y="1105"/>
                  </a:cubicBezTo>
                  <a:cubicBezTo>
                    <a:pt x="1973" y="28"/>
                    <a:pt x="1973" y="28"/>
                    <a:pt x="1973" y="28"/>
                  </a:cubicBezTo>
                  <a:cubicBezTo>
                    <a:pt x="2718" y="28"/>
                    <a:pt x="2718" y="28"/>
                    <a:pt x="2718" y="28"/>
                  </a:cubicBezTo>
                  <a:lnTo>
                    <a:pt x="2718" y="672"/>
                  </a:lnTo>
                  <a:close/>
                  <a:moveTo>
                    <a:pt x="2302" y="1105"/>
                  </a:moveTo>
                  <a:cubicBezTo>
                    <a:pt x="2190" y="1105"/>
                    <a:pt x="2190" y="1105"/>
                    <a:pt x="2190" y="1105"/>
                  </a:cubicBezTo>
                  <a:cubicBezTo>
                    <a:pt x="2360" y="838"/>
                    <a:pt x="2360" y="838"/>
                    <a:pt x="2360" y="838"/>
                  </a:cubicBezTo>
                  <a:lnTo>
                    <a:pt x="2302" y="1105"/>
                  </a:lnTo>
                  <a:close/>
                  <a:moveTo>
                    <a:pt x="1850" y="659"/>
                  </a:moveTo>
                  <a:cubicBezTo>
                    <a:pt x="1663" y="659"/>
                    <a:pt x="1663" y="659"/>
                    <a:pt x="1663" y="659"/>
                  </a:cubicBezTo>
                  <a:cubicBezTo>
                    <a:pt x="1535" y="1105"/>
                    <a:pt x="1535" y="1105"/>
                    <a:pt x="1535" y="1105"/>
                  </a:cubicBezTo>
                  <a:cubicBezTo>
                    <a:pt x="1337" y="1105"/>
                    <a:pt x="1337" y="1105"/>
                    <a:pt x="1337" y="1105"/>
                  </a:cubicBezTo>
                  <a:cubicBezTo>
                    <a:pt x="1438" y="1068"/>
                    <a:pt x="1499" y="996"/>
                    <a:pt x="1518" y="890"/>
                  </a:cubicBezTo>
                  <a:cubicBezTo>
                    <a:pt x="1534" y="809"/>
                    <a:pt x="1527" y="755"/>
                    <a:pt x="1493" y="714"/>
                  </a:cubicBezTo>
                  <a:cubicBezTo>
                    <a:pt x="1443" y="654"/>
                    <a:pt x="1342" y="659"/>
                    <a:pt x="1253" y="659"/>
                  </a:cubicBezTo>
                  <a:cubicBezTo>
                    <a:pt x="1237" y="659"/>
                    <a:pt x="1105" y="659"/>
                    <a:pt x="1105" y="659"/>
                  </a:cubicBezTo>
                  <a:cubicBezTo>
                    <a:pt x="1105" y="28"/>
                    <a:pt x="1105" y="28"/>
                    <a:pt x="1105" y="28"/>
                  </a:cubicBezTo>
                  <a:cubicBezTo>
                    <a:pt x="1850" y="28"/>
                    <a:pt x="1850" y="28"/>
                    <a:pt x="1850" y="28"/>
                  </a:cubicBezTo>
                  <a:lnTo>
                    <a:pt x="1850" y="659"/>
                  </a:lnTo>
                  <a:close/>
                  <a:moveTo>
                    <a:pt x="1730" y="1105"/>
                  </a:moveTo>
                  <a:cubicBezTo>
                    <a:pt x="1809" y="826"/>
                    <a:pt x="1809" y="826"/>
                    <a:pt x="1809" y="826"/>
                  </a:cubicBezTo>
                  <a:cubicBezTo>
                    <a:pt x="1812" y="1105"/>
                    <a:pt x="1812" y="1105"/>
                    <a:pt x="1812" y="1105"/>
                  </a:cubicBezTo>
                  <a:lnTo>
                    <a:pt x="1730" y="1105"/>
                  </a:lnTo>
                  <a:close/>
                  <a:moveTo>
                    <a:pt x="1188" y="999"/>
                  </a:moveTo>
                  <a:cubicBezTo>
                    <a:pt x="1187" y="999"/>
                    <a:pt x="1187" y="999"/>
                    <a:pt x="1187" y="999"/>
                  </a:cubicBezTo>
                  <a:cubicBezTo>
                    <a:pt x="1180" y="999"/>
                    <a:pt x="1173" y="1000"/>
                    <a:pt x="1165" y="1000"/>
                  </a:cubicBezTo>
                  <a:cubicBezTo>
                    <a:pt x="1154" y="1000"/>
                    <a:pt x="1145" y="1000"/>
                    <a:pt x="1137" y="1000"/>
                  </a:cubicBezTo>
                  <a:cubicBezTo>
                    <a:pt x="1089" y="1000"/>
                    <a:pt x="1089" y="1000"/>
                    <a:pt x="1089" y="1000"/>
                  </a:cubicBezTo>
                  <a:cubicBezTo>
                    <a:pt x="1111" y="918"/>
                    <a:pt x="1111" y="918"/>
                    <a:pt x="1111" y="918"/>
                  </a:cubicBezTo>
                  <a:cubicBezTo>
                    <a:pt x="1122" y="878"/>
                    <a:pt x="1122" y="878"/>
                    <a:pt x="1122" y="878"/>
                  </a:cubicBezTo>
                  <a:cubicBezTo>
                    <a:pt x="1147" y="783"/>
                    <a:pt x="1147" y="783"/>
                    <a:pt x="1147" y="783"/>
                  </a:cubicBezTo>
                  <a:cubicBezTo>
                    <a:pt x="1158" y="783"/>
                    <a:pt x="1169" y="782"/>
                    <a:pt x="1179" y="782"/>
                  </a:cubicBezTo>
                  <a:cubicBezTo>
                    <a:pt x="1216" y="782"/>
                    <a:pt x="1216" y="782"/>
                    <a:pt x="1216" y="782"/>
                  </a:cubicBezTo>
                  <a:cubicBezTo>
                    <a:pt x="1279" y="782"/>
                    <a:pt x="1319" y="786"/>
                    <a:pt x="1334" y="806"/>
                  </a:cubicBezTo>
                  <a:cubicBezTo>
                    <a:pt x="1345" y="822"/>
                    <a:pt x="1343" y="848"/>
                    <a:pt x="1330" y="888"/>
                  </a:cubicBezTo>
                  <a:cubicBezTo>
                    <a:pt x="1308" y="957"/>
                    <a:pt x="1279" y="992"/>
                    <a:pt x="1188" y="999"/>
                  </a:cubicBezTo>
                  <a:moveTo>
                    <a:pt x="980" y="699"/>
                  </a:moveTo>
                  <a:cubicBezTo>
                    <a:pt x="969" y="737"/>
                    <a:pt x="969" y="737"/>
                    <a:pt x="969" y="737"/>
                  </a:cubicBezTo>
                  <a:cubicBezTo>
                    <a:pt x="862" y="1092"/>
                    <a:pt x="862" y="1092"/>
                    <a:pt x="862" y="1092"/>
                  </a:cubicBezTo>
                  <a:cubicBezTo>
                    <a:pt x="858" y="1105"/>
                    <a:pt x="858" y="1105"/>
                    <a:pt x="858" y="1105"/>
                  </a:cubicBezTo>
                  <a:cubicBezTo>
                    <a:pt x="507" y="1105"/>
                    <a:pt x="507" y="1105"/>
                    <a:pt x="507" y="1105"/>
                  </a:cubicBezTo>
                  <a:cubicBezTo>
                    <a:pt x="479" y="1047"/>
                    <a:pt x="479" y="1047"/>
                    <a:pt x="479" y="1047"/>
                  </a:cubicBezTo>
                  <a:cubicBezTo>
                    <a:pt x="858" y="660"/>
                    <a:pt x="858" y="660"/>
                    <a:pt x="858" y="660"/>
                  </a:cubicBezTo>
                  <a:cubicBezTo>
                    <a:pt x="615" y="660"/>
                    <a:pt x="615" y="660"/>
                    <a:pt x="615" y="660"/>
                  </a:cubicBezTo>
                  <a:cubicBezTo>
                    <a:pt x="319" y="979"/>
                    <a:pt x="319" y="979"/>
                    <a:pt x="319" y="979"/>
                  </a:cubicBezTo>
                  <a:cubicBezTo>
                    <a:pt x="415" y="660"/>
                    <a:pt x="415" y="660"/>
                    <a:pt x="415" y="660"/>
                  </a:cubicBezTo>
                  <a:cubicBezTo>
                    <a:pt x="235" y="660"/>
                    <a:pt x="235" y="660"/>
                    <a:pt x="235" y="660"/>
                  </a:cubicBezTo>
                  <a:cubicBezTo>
                    <a:pt x="235" y="28"/>
                    <a:pt x="235" y="28"/>
                    <a:pt x="235" y="28"/>
                  </a:cubicBezTo>
                  <a:cubicBezTo>
                    <a:pt x="980" y="28"/>
                    <a:pt x="980" y="28"/>
                    <a:pt x="980" y="28"/>
                  </a:cubicBezTo>
                  <a:lnTo>
                    <a:pt x="980" y="699"/>
                  </a:lnTo>
                  <a:close/>
                  <a:moveTo>
                    <a:pt x="281" y="1105"/>
                  </a:moveTo>
                  <a:cubicBezTo>
                    <a:pt x="282" y="1101"/>
                    <a:pt x="282" y="1101"/>
                    <a:pt x="282" y="1101"/>
                  </a:cubicBezTo>
                  <a:cubicBezTo>
                    <a:pt x="285" y="1105"/>
                    <a:pt x="285" y="1105"/>
                    <a:pt x="285" y="1105"/>
                  </a:cubicBezTo>
                  <a:lnTo>
                    <a:pt x="281" y="1105"/>
                  </a:lnTo>
                  <a:close/>
                  <a:moveTo>
                    <a:pt x="2814" y="0"/>
                  </a:moveTo>
                  <a:cubicBezTo>
                    <a:pt x="2814" y="724"/>
                    <a:pt x="2814" y="724"/>
                    <a:pt x="2814" y="724"/>
                  </a:cubicBezTo>
                  <a:cubicBezTo>
                    <a:pt x="2789" y="744"/>
                    <a:pt x="2767" y="765"/>
                    <a:pt x="2747" y="788"/>
                  </a:cubicBezTo>
                  <a:cubicBezTo>
                    <a:pt x="2747" y="0"/>
                    <a:pt x="2747" y="0"/>
                    <a:pt x="2747" y="0"/>
                  </a:cubicBezTo>
                  <a:cubicBezTo>
                    <a:pt x="1945" y="0"/>
                    <a:pt x="1945" y="0"/>
                    <a:pt x="1945" y="0"/>
                  </a:cubicBezTo>
                  <a:cubicBezTo>
                    <a:pt x="1945" y="659"/>
                    <a:pt x="1945" y="659"/>
                    <a:pt x="1945" y="659"/>
                  </a:cubicBezTo>
                  <a:cubicBezTo>
                    <a:pt x="1878" y="659"/>
                    <a:pt x="1878" y="659"/>
                    <a:pt x="1878" y="659"/>
                  </a:cubicBezTo>
                  <a:cubicBezTo>
                    <a:pt x="1878" y="0"/>
                    <a:pt x="1878" y="0"/>
                    <a:pt x="1878" y="0"/>
                  </a:cubicBezTo>
                  <a:cubicBezTo>
                    <a:pt x="1076" y="0"/>
                    <a:pt x="1076" y="0"/>
                    <a:pt x="1076" y="0"/>
                  </a:cubicBezTo>
                  <a:cubicBezTo>
                    <a:pt x="1076" y="660"/>
                    <a:pt x="1076" y="660"/>
                    <a:pt x="1076" y="660"/>
                  </a:cubicBezTo>
                  <a:cubicBezTo>
                    <a:pt x="1009" y="660"/>
                    <a:pt x="1009" y="660"/>
                    <a:pt x="1009" y="660"/>
                  </a:cubicBezTo>
                  <a:cubicBezTo>
                    <a:pt x="1009" y="0"/>
                    <a:pt x="1009" y="0"/>
                    <a:pt x="1009" y="0"/>
                  </a:cubicBezTo>
                  <a:cubicBezTo>
                    <a:pt x="207" y="0"/>
                    <a:pt x="207" y="0"/>
                    <a:pt x="207" y="0"/>
                  </a:cubicBezTo>
                  <a:cubicBezTo>
                    <a:pt x="207" y="753"/>
                    <a:pt x="207" y="753"/>
                    <a:pt x="207" y="753"/>
                  </a:cubicBezTo>
                  <a:cubicBezTo>
                    <a:pt x="2" y="1435"/>
                    <a:pt x="2" y="1435"/>
                    <a:pt x="2" y="1435"/>
                  </a:cubicBezTo>
                  <a:cubicBezTo>
                    <a:pt x="182" y="1435"/>
                    <a:pt x="182" y="1435"/>
                    <a:pt x="182" y="1435"/>
                  </a:cubicBezTo>
                  <a:cubicBezTo>
                    <a:pt x="273" y="1133"/>
                    <a:pt x="273" y="1133"/>
                    <a:pt x="273" y="1133"/>
                  </a:cubicBezTo>
                  <a:cubicBezTo>
                    <a:pt x="299" y="1133"/>
                    <a:pt x="299" y="1133"/>
                    <a:pt x="299" y="1133"/>
                  </a:cubicBezTo>
                  <a:cubicBezTo>
                    <a:pt x="448" y="1435"/>
                    <a:pt x="448" y="1435"/>
                    <a:pt x="448" y="1435"/>
                  </a:cubicBezTo>
                  <a:cubicBezTo>
                    <a:pt x="665" y="1435"/>
                    <a:pt x="665" y="1435"/>
                    <a:pt x="665" y="1435"/>
                  </a:cubicBezTo>
                  <a:cubicBezTo>
                    <a:pt x="520" y="1133"/>
                    <a:pt x="520" y="1133"/>
                    <a:pt x="520" y="1133"/>
                  </a:cubicBezTo>
                  <a:cubicBezTo>
                    <a:pt x="849" y="1133"/>
                    <a:pt x="849" y="1133"/>
                    <a:pt x="849" y="1133"/>
                  </a:cubicBezTo>
                  <a:cubicBezTo>
                    <a:pt x="758" y="1435"/>
                    <a:pt x="758" y="1435"/>
                    <a:pt x="758" y="1435"/>
                  </a:cubicBezTo>
                  <a:cubicBezTo>
                    <a:pt x="955" y="1435"/>
                    <a:pt x="955" y="1435"/>
                    <a:pt x="955" y="1435"/>
                  </a:cubicBezTo>
                  <a:cubicBezTo>
                    <a:pt x="1045" y="1134"/>
                    <a:pt x="1045" y="1134"/>
                    <a:pt x="1045" y="1134"/>
                  </a:cubicBezTo>
                  <a:cubicBezTo>
                    <a:pt x="1088" y="1134"/>
                    <a:pt x="1088" y="1134"/>
                    <a:pt x="1088" y="1134"/>
                  </a:cubicBezTo>
                  <a:cubicBezTo>
                    <a:pt x="1088" y="1133"/>
                    <a:pt x="1088" y="1133"/>
                    <a:pt x="1088" y="1133"/>
                  </a:cubicBezTo>
                  <a:cubicBezTo>
                    <a:pt x="1150" y="1133"/>
                    <a:pt x="1150" y="1133"/>
                    <a:pt x="1150" y="1133"/>
                  </a:cubicBezTo>
                  <a:cubicBezTo>
                    <a:pt x="1155" y="1133"/>
                    <a:pt x="1155" y="1133"/>
                    <a:pt x="1155" y="1133"/>
                  </a:cubicBezTo>
                  <a:cubicBezTo>
                    <a:pt x="1527" y="1133"/>
                    <a:pt x="1527" y="1133"/>
                    <a:pt x="1527" y="1133"/>
                  </a:cubicBezTo>
                  <a:cubicBezTo>
                    <a:pt x="1440" y="1434"/>
                    <a:pt x="1440" y="1434"/>
                    <a:pt x="1440" y="1434"/>
                  </a:cubicBezTo>
                  <a:cubicBezTo>
                    <a:pt x="1638" y="1434"/>
                    <a:pt x="1638" y="1434"/>
                    <a:pt x="1638" y="1434"/>
                  </a:cubicBezTo>
                  <a:cubicBezTo>
                    <a:pt x="1722" y="1133"/>
                    <a:pt x="1722" y="1133"/>
                    <a:pt x="1722" y="1133"/>
                  </a:cubicBezTo>
                  <a:cubicBezTo>
                    <a:pt x="1812" y="1133"/>
                    <a:pt x="1812" y="1133"/>
                    <a:pt x="1812" y="1133"/>
                  </a:cubicBezTo>
                  <a:cubicBezTo>
                    <a:pt x="1814" y="1434"/>
                    <a:pt x="1814" y="1434"/>
                    <a:pt x="1814" y="1434"/>
                  </a:cubicBezTo>
                  <a:cubicBezTo>
                    <a:pt x="1980" y="1434"/>
                    <a:pt x="1980" y="1434"/>
                    <a:pt x="1980" y="1434"/>
                  </a:cubicBezTo>
                  <a:cubicBezTo>
                    <a:pt x="2171" y="1133"/>
                    <a:pt x="2171" y="1133"/>
                    <a:pt x="2171" y="1133"/>
                  </a:cubicBezTo>
                  <a:cubicBezTo>
                    <a:pt x="2296" y="1133"/>
                    <a:pt x="2296" y="1133"/>
                    <a:pt x="2296" y="1133"/>
                  </a:cubicBezTo>
                  <a:cubicBezTo>
                    <a:pt x="2232" y="1434"/>
                    <a:pt x="2232" y="1434"/>
                    <a:pt x="2232" y="1434"/>
                  </a:cubicBezTo>
                  <a:cubicBezTo>
                    <a:pt x="2427" y="1434"/>
                    <a:pt x="2427" y="1434"/>
                    <a:pt x="2427" y="1434"/>
                  </a:cubicBezTo>
                  <a:cubicBezTo>
                    <a:pt x="2491" y="1133"/>
                    <a:pt x="2491" y="1133"/>
                    <a:pt x="2491" y="1133"/>
                  </a:cubicBezTo>
                  <a:cubicBezTo>
                    <a:pt x="2604" y="1133"/>
                    <a:pt x="2604" y="1133"/>
                    <a:pt x="2604" y="1133"/>
                  </a:cubicBezTo>
                  <a:cubicBezTo>
                    <a:pt x="2599" y="1226"/>
                    <a:pt x="2623" y="1311"/>
                    <a:pt x="2685" y="1368"/>
                  </a:cubicBezTo>
                  <a:cubicBezTo>
                    <a:pt x="2761" y="1438"/>
                    <a:pt x="2877" y="1451"/>
                    <a:pt x="2963" y="1451"/>
                  </a:cubicBezTo>
                  <a:cubicBezTo>
                    <a:pt x="3081" y="1451"/>
                    <a:pt x="3203" y="1434"/>
                    <a:pt x="3326" y="1407"/>
                  </a:cubicBezTo>
                  <a:cubicBezTo>
                    <a:pt x="3394" y="1133"/>
                    <a:pt x="3394" y="1133"/>
                    <a:pt x="3394" y="1133"/>
                  </a:cubicBezTo>
                  <a:cubicBezTo>
                    <a:pt x="3617" y="1133"/>
                    <a:pt x="3617" y="1133"/>
                    <a:pt x="3617" y="1133"/>
                  </a:cubicBezTo>
                  <a:cubicBezTo>
                    <a:pt x="3617" y="0"/>
                    <a:pt x="3617" y="0"/>
                    <a:pt x="3617" y="0"/>
                  </a:cubicBezTo>
                  <a:lnTo>
                    <a:pt x="2814" y="0"/>
                  </a:lnTo>
                  <a:close/>
                  <a:moveTo>
                    <a:pt x="351" y="1894"/>
                  </a:moveTo>
                  <a:cubicBezTo>
                    <a:pt x="321" y="2038"/>
                    <a:pt x="321" y="2038"/>
                    <a:pt x="321" y="2038"/>
                  </a:cubicBezTo>
                  <a:cubicBezTo>
                    <a:pt x="316" y="2060"/>
                    <a:pt x="309" y="2092"/>
                    <a:pt x="348" y="2092"/>
                  </a:cubicBezTo>
                  <a:cubicBezTo>
                    <a:pt x="393" y="2092"/>
                    <a:pt x="400" y="2058"/>
                    <a:pt x="409" y="2016"/>
                  </a:cubicBezTo>
                  <a:cubicBezTo>
                    <a:pt x="435" y="1894"/>
                    <a:pt x="435" y="1894"/>
                    <a:pt x="435" y="1894"/>
                  </a:cubicBezTo>
                  <a:cubicBezTo>
                    <a:pt x="508" y="1894"/>
                    <a:pt x="508" y="1894"/>
                    <a:pt x="508" y="1894"/>
                  </a:cubicBezTo>
                  <a:cubicBezTo>
                    <a:pt x="474" y="2053"/>
                    <a:pt x="474" y="2053"/>
                    <a:pt x="474" y="2053"/>
                  </a:cubicBezTo>
                  <a:cubicBezTo>
                    <a:pt x="464" y="2106"/>
                    <a:pt x="463" y="2112"/>
                    <a:pt x="462" y="2118"/>
                  </a:cubicBezTo>
                  <a:cubicBezTo>
                    <a:pt x="461" y="2125"/>
                    <a:pt x="460" y="2130"/>
                    <a:pt x="460" y="2136"/>
                  </a:cubicBezTo>
                  <a:cubicBezTo>
                    <a:pt x="391" y="2136"/>
                    <a:pt x="391" y="2136"/>
                    <a:pt x="391" y="2136"/>
                  </a:cubicBezTo>
                  <a:cubicBezTo>
                    <a:pt x="395" y="2104"/>
                    <a:pt x="395" y="2104"/>
                    <a:pt x="395" y="2104"/>
                  </a:cubicBezTo>
                  <a:cubicBezTo>
                    <a:pt x="386" y="2115"/>
                    <a:pt x="362" y="2143"/>
                    <a:pt x="315" y="2143"/>
                  </a:cubicBezTo>
                  <a:cubicBezTo>
                    <a:pt x="283" y="2143"/>
                    <a:pt x="259" y="2128"/>
                    <a:pt x="250" y="2110"/>
                  </a:cubicBezTo>
                  <a:cubicBezTo>
                    <a:pt x="238" y="2090"/>
                    <a:pt x="245" y="2056"/>
                    <a:pt x="248" y="2045"/>
                  </a:cubicBezTo>
                  <a:cubicBezTo>
                    <a:pt x="279" y="1894"/>
                    <a:pt x="279" y="1894"/>
                    <a:pt x="279" y="1894"/>
                  </a:cubicBezTo>
                  <a:lnTo>
                    <a:pt x="351" y="1894"/>
                  </a:lnTo>
                  <a:close/>
                  <a:moveTo>
                    <a:pt x="812" y="1942"/>
                  </a:moveTo>
                  <a:cubicBezTo>
                    <a:pt x="870" y="1942"/>
                    <a:pt x="870" y="1942"/>
                    <a:pt x="870" y="1942"/>
                  </a:cubicBezTo>
                  <a:cubicBezTo>
                    <a:pt x="880" y="1895"/>
                    <a:pt x="880" y="1895"/>
                    <a:pt x="880" y="1895"/>
                  </a:cubicBezTo>
                  <a:cubicBezTo>
                    <a:pt x="822" y="1895"/>
                    <a:pt x="822" y="1895"/>
                    <a:pt x="822" y="1895"/>
                  </a:cubicBezTo>
                  <a:cubicBezTo>
                    <a:pt x="838" y="1822"/>
                    <a:pt x="838" y="1822"/>
                    <a:pt x="838" y="1822"/>
                  </a:cubicBezTo>
                  <a:cubicBezTo>
                    <a:pt x="762" y="1848"/>
                    <a:pt x="762" y="1848"/>
                    <a:pt x="762" y="1848"/>
                  </a:cubicBezTo>
                  <a:cubicBezTo>
                    <a:pt x="752" y="1895"/>
                    <a:pt x="752" y="1895"/>
                    <a:pt x="752" y="1895"/>
                  </a:cubicBezTo>
                  <a:cubicBezTo>
                    <a:pt x="654" y="1895"/>
                    <a:pt x="654" y="1895"/>
                    <a:pt x="654" y="1895"/>
                  </a:cubicBezTo>
                  <a:cubicBezTo>
                    <a:pt x="670" y="1822"/>
                    <a:pt x="670" y="1822"/>
                    <a:pt x="670" y="1822"/>
                  </a:cubicBezTo>
                  <a:cubicBezTo>
                    <a:pt x="594" y="1848"/>
                    <a:pt x="594" y="1848"/>
                    <a:pt x="594" y="1848"/>
                  </a:cubicBezTo>
                  <a:cubicBezTo>
                    <a:pt x="584" y="1895"/>
                    <a:pt x="584" y="1895"/>
                    <a:pt x="584" y="1895"/>
                  </a:cubicBezTo>
                  <a:cubicBezTo>
                    <a:pt x="537" y="1895"/>
                    <a:pt x="537" y="1895"/>
                    <a:pt x="537" y="1895"/>
                  </a:cubicBezTo>
                  <a:cubicBezTo>
                    <a:pt x="527" y="1942"/>
                    <a:pt x="527" y="1942"/>
                    <a:pt x="527" y="1942"/>
                  </a:cubicBezTo>
                  <a:cubicBezTo>
                    <a:pt x="574" y="1942"/>
                    <a:pt x="574" y="1942"/>
                    <a:pt x="574" y="1942"/>
                  </a:cubicBezTo>
                  <a:cubicBezTo>
                    <a:pt x="545" y="2075"/>
                    <a:pt x="545" y="2075"/>
                    <a:pt x="545" y="2075"/>
                  </a:cubicBezTo>
                  <a:cubicBezTo>
                    <a:pt x="541" y="2095"/>
                    <a:pt x="531" y="2141"/>
                    <a:pt x="603" y="2141"/>
                  </a:cubicBezTo>
                  <a:cubicBezTo>
                    <a:pt x="615" y="2141"/>
                    <a:pt x="636" y="2139"/>
                    <a:pt x="660" y="2133"/>
                  </a:cubicBezTo>
                  <a:cubicBezTo>
                    <a:pt x="670" y="2086"/>
                    <a:pt x="670" y="2086"/>
                    <a:pt x="670" y="2086"/>
                  </a:cubicBezTo>
                  <a:cubicBezTo>
                    <a:pt x="661" y="2087"/>
                    <a:pt x="656" y="2088"/>
                    <a:pt x="645" y="2088"/>
                  </a:cubicBezTo>
                  <a:cubicBezTo>
                    <a:pt x="614" y="2088"/>
                    <a:pt x="617" y="2074"/>
                    <a:pt x="621" y="2052"/>
                  </a:cubicBezTo>
                  <a:cubicBezTo>
                    <a:pt x="645" y="1942"/>
                    <a:pt x="645" y="1942"/>
                    <a:pt x="645" y="1942"/>
                  </a:cubicBezTo>
                  <a:cubicBezTo>
                    <a:pt x="741" y="1942"/>
                    <a:pt x="741" y="1942"/>
                    <a:pt x="741" y="1942"/>
                  </a:cubicBezTo>
                  <a:cubicBezTo>
                    <a:pt x="713" y="2075"/>
                    <a:pt x="713" y="2075"/>
                    <a:pt x="713" y="2075"/>
                  </a:cubicBezTo>
                  <a:cubicBezTo>
                    <a:pt x="709" y="2095"/>
                    <a:pt x="699" y="2141"/>
                    <a:pt x="771" y="2141"/>
                  </a:cubicBezTo>
                  <a:cubicBezTo>
                    <a:pt x="782" y="2141"/>
                    <a:pt x="804" y="2139"/>
                    <a:pt x="828" y="2133"/>
                  </a:cubicBezTo>
                  <a:cubicBezTo>
                    <a:pt x="838" y="2086"/>
                    <a:pt x="838" y="2086"/>
                    <a:pt x="838" y="2086"/>
                  </a:cubicBezTo>
                  <a:cubicBezTo>
                    <a:pt x="829" y="2087"/>
                    <a:pt x="824" y="2088"/>
                    <a:pt x="813" y="2088"/>
                  </a:cubicBezTo>
                  <a:cubicBezTo>
                    <a:pt x="781" y="2088"/>
                    <a:pt x="785" y="2074"/>
                    <a:pt x="788" y="2052"/>
                  </a:cubicBezTo>
                  <a:lnTo>
                    <a:pt x="812" y="1942"/>
                  </a:lnTo>
                  <a:close/>
                  <a:moveTo>
                    <a:pt x="916" y="1893"/>
                  </a:moveTo>
                  <a:cubicBezTo>
                    <a:pt x="987" y="1893"/>
                    <a:pt x="987" y="1893"/>
                    <a:pt x="987" y="1893"/>
                  </a:cubicBezTo>
                  <a:cubicBezTo>
                    <a:pt x="935" y="2136"/>
                    <a:pt x="935" y="2136"/>
                    <a:pt x="935" y="2136"/>
                  </a:cubicBezTo>
                  <a:cubicBezTo>
                    <a:pt x="864" y="2136"/>
                    <a:pt x="864" y="2136"/>
                    <a:pt x="864" y="2136"/>
                  </a:cubicBezTo>
                  <a:lnTo>
                    <a:pt x="916" y="1893"/>
                  </a:lnTo>
                  <a:close/>
                  <a:moveTo>
                    <a:pt x="935" y="1790"/>
                  </a:moveTo>
                  <a:cubicBezTo>
                    <a:pt x="1011" y="1790"/>
                    <a:pt x="1011" y="1790"/>
                    <a:pt x="1011" y="1790"/>
                  </a:cubicBezTo>
                  <a:cubicBezTo>
                    <a:pt x="998" y="1851"/>
                    <a:pt x="998" y="1851"/>
                    <a:pt x="998" y="1851"/>
                  </a:cubicBezTo>
                  <a:cubicBezTo>
                    <a:pt x="922" y="1851"/>
                    <a:pt x="922" y="1851"/>
                    <a:pt x="922" y="1851"/>
                  </a:cubicBezTo>
                  <a:lnTo>
                    <a:pt x="935" y="1790"/>
                  </a:lnTo>
                  <a:close/>
                  <a:moveTo>
                    <a:pt x="1034" y="1937"/>
                  </a:moveTo>
                  <a:cubicBezTo>
                    <a:pt x="1034" y="1936"/>
                    <a:pt x="1040" y="1909"/>
                    <a:pt x="1042" y="1893"/>
                  </a:cubicBezTo>
                  <a:cubicBezTo>
                    <a:pt x="1110" y="1893"/>
                    <a:pt x="1110" y="1893"/>
                    <a:pt x="1110" y="1893"/>
                  </a:cubicBezTo>
                  <a:cubicBezTo>
                    <a:pt x="1104" y="1929"/>
                    <a:pt x="1104" y="1929"/>
                    <a:pt x="1104" y="1929"/>
                  </a:cubicBezTo>
                  <a:cubicBezTo>
                    <a:pt x="1113" y="1918"/>
                    <a:pt x="1139" y="1887"/>
                    <a:pt x="1192" y="1887"/>
                  </a:cubicBezTo>
                  <a:cubicBezTo>
                    <a:pt x="1239" y="1887"/>
                    <a:pt x="1254" y="1916"/>
                    <a:pt x="1256" y="1933"/>
                  </a:cubicBezTo>
                  <a:cubicBezTo>
                    <a:pt x="1259" y="1948"/>
                    <a:pt x="1257" y="1960"/>
                    <a:pt x="1248" y="2005"/>
                  </a:cubicBezTo>
                  <a:cubicBezTo>
                    <a:pt x="1220" y="2136"/>
                    <a:pt x="1220" y="2136"/>
                    <a:pt x="1220" y="2136"/>
                  </a:cubicBezTo>
                  <a:cubicBezTo>
                    <a:pt x="1147" y="2136"/>
                    <a:pt x="1147" y="2136"/>
                    <a:pt x="1147" y="2136"/>
                  </a:cubicBezTo>
                  <a:cubicBezTo>
                    <a:pt x="1179" y="1985"/>
                    <a:pt x="1179" y="1985"/>
                    <a:pt x="1179" y="1985"/>
                  </a:cubicBezTo>
                  <a:cubicBezTo>
                    <a:pt x="1181" y="1975"/>
                    <a:pt x="1183" y="1967"/>
                    <a:pt x="1181" y="1959"/>
                  </a:cubicBezTo>
                  <a:cubicBezTo>
                    <a:pt x="1178" y="1949"/>
                    <a:pt x="1169" y="1938"/>
                    <a:pt x="1151" y="1938"/>
                  </a:cubicBezTo>
                  <a:cubicBezTo>
                    <a:pt x="1136" y="1938"/>
                    <a:pt x="1120" y="1946"/>
                    <a:pt x="1110" y="1957"/>
                  </a:cubicBezTo>
                  <a:cubicBezTo>
                    <a:pt x="1104" y="1963"/>
                    <a:pt x="1097" y="1975"/>
                    <a:pt x="1093" y="1994"/>
                  </a:cubicBezTo>
                  <a:cubicBezTo>
                    <a:pt x="1063" y="2136"/>
                    <a:pt x="1063" y="2136"/>
                    <a:pt x="1063" y="2136"/>
                  </a:cubicBezTo>
                  <a:cubicBezTo>
                    <a:pt x="992" y="2136"/>
                    <a:pt x="992" y="2136"/>
                    <a:pt x="992" y="2136"/>
                  </a:cubicBezTo>
                  <a:lnTo>
                    <a:pt x="1034" y="1937"/>
                  </a:lnTo>
                  <a:close/>
                  <a:moveTo>
                    <a:pt x="1558" y="1895"/>
                  </a:moveTo>
                  <a:cubicBezTo>
                    <a:pt x="1552" y="1914"/>
                    <a:pt x="1547" y="1930"/>
                    <a:pt x="1542" y="1955"/>
                  </a:cubicBezTo>
                  <a:cubicBezTo>
                    <a:pt x="1504" y="2134"/>
                    <a:pt x="1504" y="2134"/>
                    <a:pt x="1504" y="2134"/>
                  </a:cubicBezTo>
                  <a:cubicBezTo>
                    <a:pt x="1486" y="2223"/>
                    <a:pt x="1409" y="2232"/>
                    <a:pt x="1363" y="2232"/>
                  </a:cubicBezTo>
                  <a:cubicBezTo>
                    <a:pt x="1328" y="2232"/>
                    <a:pt x="1261" y="2228"/>
                    <a:pt x="1272" y="2154"/>
                  </a:cubicBezTo>
                  <a:cubicBezTo>
                    <a:pt x="1340" y="2154"/>
                    <a:pt x="1340" y="2154"/>
                    <a:pt x="1340" y="2154"/>
                  </a:cubicBezTo>
                  <a:cubicBezTo>
                    <a:pt x="1340" y="2158"/>
                    <a:pt x="1339" y="2166"/>
                    <a:pt x="1344" y="2174"/>
                  </a:cubicBezTo>
                  <a:cubicBezTo>
                    <a:pt x="1348" y="2181"/>
                    <a:pt x="1357" y="2188"/>
                    <a:pt x="1375" y="2188"/>
                  </a:cubicBezTo>
                  <a:cubicBezTo>
                    <a:pt x="1397" y="2188"/>
                    <a:pt x="1417" y="2178"/>
                    <a:pt x="1427" y="2156"/>
                  </a:cubicBezTo>
                  <a:cubicBezTo>
                    <a:pt x="1432" y="2144"/>
                    <a:pt x="1434" y="2135"/>
                    <a:pt x="1442" y="2099"/>
                  </a:cubicBezTo>
                  <a:cubicBezTo>
                    <a:pt x="1413" y="2128"/>
                    <a:pt x="1387" y="2132"/>
                    <a:pt x="1370" y="2132"/>
                  </a:cubicBezTo>
                  <a:cubicBezTo>
                    <a:pt x="1300" y="2132"/>
                    <a:pt x="1280" y="2071"/>
                    <a:pt x="1293" y="2012"/>
                  </a:cubicBezTo>
                  <a:cubicBezTo>
                    <a:pt x="1306" y="1951"/>
                    <a:pt x="1352" y="1892"/>
                    <a:pt x="1422" y="1892"/>
                  </a:cubicBezTo>
                  <a:cubicBezTo>
                    <a:pt x="1466" y="1892"/>
                    <a:pt x="1477" y="1916"/>
                    <a:pt x="1482" y="1927"/>
                  </a:cubicBezTo>
                  <a:cubicBezTo>
                    <a:pt x="1492" y="1895"/>
                    <a:pt x="1492" y="1895"/>
                    <a:pt x="1492" y="1895"/>
                  </a:cubicBezTo>
                  <a:lnTo>
                    <a:pt x="1558" y="1895"/>
                  </a:lnTo>
                  <a:close/>
                  <a:moveTo>
                    <a:pt x="1397" y="2083"/>
                  </a:moveTo>
                  <a:cubicBezTo>
                    <a:pt x="1447" y="2083"/>
                    <a:pt x="1459" y="2025"/>
                    <a:pt x="1461" y="2014"/>
                  </a:cubicBezTo>
                  <a:cubicBezTo>
                    <a:pt x="1467" y="1986"/>
                    <a:pt x="1472" y="1940"/>
                    <a:pt x="1428" y="1940"/>
                  </a:cubicBezTo>
                  <a:cubicBezTo>
                    <a:pt x="1401" y="1940"/>
                    <a:pt x="1375" y="1960"/>
                    <a:pt x="1364" y="2012"/>
                  </a:cubicBezTo>
                  <a:cubicBezTo>
                    <a:pt x="1362" y="2025"/>
                    <a:pt x="1349" y="2083"/>
                    <a:pt x="1397" y="2083"/>
                  </a:cubicBezTo>
                  <a:moveTo>
                    <a:pt x="1842" y="2133"/>
                  </a:moveTo>
                  <a:cubicBezTo>
                    <a:pt x="1818" y="2139"/>
                    <a:pt x="1797" y="2141"/>
                    <a:pt x="1786" y="2141"/>
                  </a:cubicBezTo>
                  <a:cubicBezTo>
                    <a:pt x="1714" y="2141"/>
                    <a:pt x="1723" y="2095"/>
                    <a:pt x="1728" y="2075"/>
                  </a:cubicBezTo>
                  <a:cubicBezTo>
                    <a:pt x="1756" y="1942"/>
                    <a:pt x="1756" y="1942"/>
                    <a:pt x="1756" y="1942"/>
                  </a:cubicBezTo>
                  <a:cubicBezTo>
                    <a:pt x="1710" y="1942"/>
                    <a:pt x="1710" y="1942"/>
                    <a:pt x="1710" y="1942"/>
                  </a:cubicBezTo>
                  <a:cubicBezTo>
                    <a:pt x="1719" y="1895"/>
                    <a:pt x="1719" y="1895"/>
                    <a:pt x="1719" y="1895"/>
                  </a:cubicBezTo>
                  <a:cubicBezTo>
                    <a:pt x="1766" y="1895"/>
                    <a:pt x="1766" y="1895"/>
                    <a:pt x="1766" y="1895"/>
                  </a:cubicBezTo>
                  <a:cubicBezTo>
                    <a:pt x="1776" y="1848"/>
                    <a:pt x="1776" y="1848"/>
                    <a:pt x="1776" y="1848"/>
                  </a:cubicBezTo>
                  <a:cubicBezTo>
                    <a:pt x="1852" y="1822"/>
                    <a:pt x="1852" y="1822"/>
                    <a:pt x="1852" y="1822"/>
                  </a:cubicBezTo>
                  <a:cubicBezTo>
                    <a:pt x="1837" y="1895"/>
                    <a:pt x="1837" y="1895"/>
                    <a:pt x="1837" y="1895"/>
                  </a:cubicBezTo>
                  <a:cubicBezTo>
                    <a:pt x="1895" y="1895"/>
                    <a:pt x="1895" y="1895"/>
                    <a:pt x="1895" y="1895"/>
                  </a:cubicBezTo>
                  <a:cubicBezTo>
                    <a:pt x="1884" y="1942"/>
                    <a:pt x="1884" y="1942"/>
                    <a:pt x="1884" y="1942"/>
                  </a:cubicBezTo>
                  <a:cubicBezTo>
                    <a:pt x="1827" y="1942"/>
                    <a:pt x="1827" y="1942"/>
                    <a:pt x="1827" y="1942"/>
                  </a:cubicBezTo>
                  <a:cubicBezTo>
                    <a:pt x="1803" y="2052"/>
                    <a:pt x="1803" y="2052"/>
                    <a:pt x="1803" y="2052"/>
                  </a:cubicBezTo>
                  <a:cubicBezTo>
                    <a:pt x="1799" y="2074"/>
                    <a:pt x="1796" y="2088"/>
                    <a:pt x="1828" y="2088"/>
                  </a:cubicBezTo>
                  <a:cubicBezTo>
                    <a:pt x="1838" y="2088"/>
                    <a:pt x="1844" y="2087"/>
                    <a:pt x="1852" y="2086"/>
                  </a:cubicBezTo>
                  <a:lnTo>
                    <a:pt x="1842" y="2133"/>
                  </a:lnTo>
                  <a:close/>
                  <a:moveTo>
                    <a:pt x="1954" y="1790"/>
                  </a:moveTo>
                  <a:cubicBezTo>
                    <a:pt x="2025" y="1790"/>
                    <a:pt x="2025" y="1790"/>
                    <a:pt x="2025" y="1790"/>
                  </a:cubicBezTo>
                  <a:cubicBezTo>
                    <a:pt x="1996" y="1927"/>
                    <a:pt x="1996" y="1927"/>
                    <a:pt x="1996" y="1927"/>
                  </a:cubicBezTo>
                  <a:cubicBezTo>
                    <a:pt x="2007" y="1915"/>
                    <a:pt x="2030" y="1890"/>
                    <a:pt x="2074" y="1890"/>
                  </a:cubicBezTo>
                  <a:cubicBezTo>
                    <a:pt x="2110" y="1890"/>
                    <a:pt x="2129" y="1908"/>
                    <a:pt x="2137" y="1923"/>
                  </a:cubicBezTo>
                  <a:cubicBezTo>
                    <a:pt x="2143" y="1935"/>
                    <a:pt x="2146" y="1957"/>
                    <a:pt x="2139" y="1989"/>
                  </a:cubicBezTo>
                  <a:cubicBezTo>
                    <a:pt x="2108" y="2136"/>
                    <a:pt x="2108" y="2136"/>
                    <a:pt x="2108" y="2136"/>
                  </a:cubicBezTo>
                  <a:cubicBezTo>
                    <a:pt x="2037" y="2136"/>
                    <a:pt x="2037" y="2136"/>
                    <a:pt x="2037" y="2136"/>
                  </a:cubicBezTo>
                  <a:cubicBezTo>
                    <a:pt x="2068" y="1991"/>
                    <a:pt x="2068" y="1991"/>
                    <a:pt x="2068" y="1991"/>
                  </a:cubicBezTo>
                  <a:cubicBezTo>
                    <a:pt x="2071" y="1977"/>
                    <a:pt x="2079" y="1938"/>
                    <a:pt x="2040" y="1938"/>
                  </a:cubicBezTo>
                  <a:cubicBezTo>
                    <a:pt x="2019" y="1938"/>
                    <a:pt x="1991" y="1950"/>
                    <a:pt x="1983" y="1988"/>
                  </a:cubicBezTo>
                  <a:cubicBezTo>
                    <a:pt x="1952" y="2136"/>
                    <a:pt x="1952" y="2136"/>
                    <a:pt x="1952" y="2136"/>
                  </a:cubicBezTo>
                  <a:cubicBezTo>
                    <a:pt x="1881" y="2136"/>
                    <a:pt x="1881" y="2136"/>
                    <a:pt x="1881" y="2136"/>
                  </a:cubicBezTo>
                  <a:lnTo>
                    <a:pt x="1954" y="1790"/>
                  </a:lnTo>
                  <a:close/>
                  <a:moveTo>
                    <a:pt x="2195" y="1953"/>
                  </a:moveTo>
                  <a:cubicBezTo>
                    <a:pt x="2197" y="1942"/>
                    <a:pt x="2203" y="1906"/>
                    <a:pt x="2205" y="1893"/>
                  </a:cubicBezTo>
                  <a:cubicBezTo>
                    <a:pt x="2271" y="1893"/>
                    <a:pt x="2271" y="1893"/>
                    <a:pt x="2271" y="1893"/>
                  </a:cubicBezTo>
                  <a:cubicBezTo>
                    <a:pt x="2263" y="1939"/>
                    <a:pt x="2263" y="1939"/>
                    <a:pt x="2263" y="1939"/>
                  </a:cubicBezTo>
                  <a:cubicBezTo>
                    <a:pt x="2276" y="1919"/>
                    <a:pt x="2298" y="1889"/>
                    <a:pt x="2356" y="1892"/>
                  </a:cubicBezTo>
                  <a:cubicBezTo>
                    <a:pt x="2342" y="1956"/>
                    <a:pt x="2342" y="1956"/>
                    <a:pt x="2342" y="1956"/>
                  </a:cubicBezTo>
                  <a:cubicBezTo>
                    <a:pt x="2271" y="1949"/>
                    <a:pt x="2259" y="1986"/>
                    <a:pt x="2253" y="2017"/>
                  </a:cubicBezTo>
                  <a:cubicBezTo>
                    <a:pt x="2227" y="2136"/>
                    <a:pt x="2227" y="2136"/>
                    <a:pt x="2227" y="2136"/>
                  </a:cubicBezTo>
                  <a:cubicBezTo>
                    <a:pt x="2156" y="2136"/>
                    <a:pt x="2156" y="2136"/>
                    <a:pt x="2156" y="2136"/>
                  </a:cubicBezTo>
                  <a:lnTo>
                    <a:pt x="2195" y="1953"/>
                  </a:lnTo>
                  <a:close/>
                  <a:moveTo>
                    <a:pt x="2503" y="1888"/>
                  </a:moveTo>
                  <a:cubicBezTo>
                    <a:pt x="2591" y="1888"/>
                    <a:pt x="2617" y="1948"/>
                    <a:pt x="2602" y="2015"/>
                  </a:cubicBezTo>
                  <a:cubicBezTo>
                    <a:pt x="2587" y="2083"/>
                    <a:pt x="2535" y="2145"/>
                    <a:pt x="2447" y="2145"/>
                  </a:cubicBezTo>
                  <a:cubicBezTo>
                    <a:pt x="2378" y="2145"/>
                    <a:pt x="2332" y="2102"/>
                    <a:pt x="2350" y="2017"/>
                  </a:cubicBezTo>
                  <a:cubicBezTo>
                    <a:pt x="2362" y="1959"/>
                    <a:pt x="2408" y="1888"/>
                    <a:pt x="2503" y="1888"/>
                  </a:cubicBezTo>
                  <a:moveTo>
                    <a:pt x="2460" y="2095"/>
                  </a:moveTo>
                  <a:cubicBezTo>
                    <a:pt x="2491" y="2095"/>
                    <a:pt x="2516" y="2077"/>
                    <a:pt x="2530" y="2012"/>
                  </a:cubicBezTo>
                  <a:cubicBezTo>
                    <a:pt x="2537" y="1980"/>
                    <a:pt x="2540" y="1935"/>
                    <a:pt x="2493" y="1935"/>
                  </a:cubicBezTo>
                  <a:cubicBezTo>
                    <a:pt x="2441" y="1935"/>
                    <a:pt x="2427" y="1995"/>
                    <a:pt x="2423" y="2018"/>
                  </a:cubicBezTo>
                  <a:cubicBezTo>
                    <a:pt x="2411" y="2072"/>
                    <a:pt x="2425" y="2095"/>
                    <a:pt x="2460" y="2095"/>
                  </a:cubicBezTo>
                  <a:moveTo>
                    <a:pt x="2743" y="1894"/>
                  </a:moveTo>
                  <a:cubicBezTo>
                    <a:pt x="2713" y="2038"/>
                    <a:pt x="2713" y="2038"/>
                    <a:pt x="2713" y="2038"/>
                  </a:cubicBezTo>
                  <a:cubicBezTo>
                    <a:pt x="2708" y="2060"/>
                    <a:pt x="2701" y="2092"/>
                    <a:pt x="2740" y="2092"/>
                  </a:cubicBezTo>
                  <a:cubicBezTo>
                    <a:pt x="2785" y="2092"/>
                    <a:pt x="2792" y="2058"/>
                    <a:pt x="2801" y="2016"/>
                  </a:cubicBezTo>
                  <a:cubicBezTo>
                    <a:pt x="2827" y="1894"/>
                    <a:pt x="2827" y="1894"/>
                    <a:pt x="2827" y="1894"/>
                  </a:cubicBezTo>
                  <a:cubicBezTo>
                    <a:pt x="2900" y="1894"/>
                    <a:pt x="2900" y="1894"/>
                    <a:pt x="2900" y="1894"/>
                  </a:cubicBezTo>
                  <a:cubicBezTo>
                    <a:pt x="2867" y="2053"/>
                    <a:pt x="2867" y="2053"/>
                    <a:pt x="2867" y="2053"/>
                  </a:cubicBezTo>
                  <a:cubicBezTo>
                    <a:pt x="2856" y="2106"/>
                    <a:pt x="2855" y="2112"/>
                    <a:pt x="2854" y="2118"/>
                  </a:cubicBezTo>
                  <a:cubicBezTo>
                    <a:pt x="2853" y="2125"/>
                    <a:pt x="2852" y="2130"/>
                    <a:pt x="2852" y="2136"/>
                  </a:cubicBezTo>
                  <a:cubicBezTo>
                    <a:pt x="2783" y="2136"/>
                    <a:pt x="2783" y="2136"/>
                    <a:pt x="2783" y="2136"/>
                  </a:cubicBezTo>
                  <a:cubicBezTo>
                    <a:pt x="2787" y="2104"/>
                    <a:pt x="2787" y="2104"/>
                    <a:pt x="2787" y="2104"/>
                  </a:cubicBezTo>
                  <a:cubicBezTo>
                    <a:pt x="2778" y="2115"/>
                    <a:pt x="2753" y="2143"/>
                    <a:pt x="2707" y="2143"/>
                  </a:cubicBezTo>
                  <a:cubicBezTo>
                    <a:pt x="2675" y="2143"/>
                    <a:pt x="2651" y="2128"/>
                    <a:pt x="2641" y="2110"/>
                  </a:cubicBezTo>
                  <a:cubicBezTo>
                    <a:pt x="2630" y="2090"/>
                    <a:pt x="2637" y="2056"/>
                    <a:pt x="2639" y="2045"/>
                  </a:cubicBezTo>
                  <a:cubicBezTo>
                    <a:pt x="2671" y="1894"/>
                    <a:pt x="2671" y="1894"/>
                    <a:pt x="2671" y="1894"/>
                  </a:cubicBezTo>
                  <a:lnTo>
                    <a:pt x="2743" y="1894"/>
                  </a:lnTo>
                  <a:close/>
                  <a:moveTo>
                    <a:pt x="3181" y="1895"/>
                  </a:moveTo>
                  <a:cubicBezTo>
                    <a:pt x="3175" y="1914"/>
                    <a:pt x="3170" y="1930"/>
                    <a:pt x="3164" y="1955"/>
                  </a:cubicBezTo>
                  <a:cubicBezTo>
                    <a:pt x="3126" y="2134"/>
                    <a:pt x="3126" y="2134"/>
                    <a:pt x="3126" y="2134"/>
                  </a:cubicBezTo>
                  <a:cubicBezTo>
                    <a:pt x="3108" y="2223"/>
                    <a:pt x="3031" y="2232"/>
                    <a:pt x="2985" y="2232"/>
                  </a:cubicBezTo>
                  <a:cubicBezTo>
                    <a:pt x="2950" y="2232"/>
                    <a:pt x="2883" y="2228"/>
                    <a:pt x="2894" y="2154"/>
                  </a:cubicBezTo>
                  <a:cubicBezTo>
                    <a:pt x="2962" y="2154"/>
                    <a:pt x="2962" y="2154"/>
                    <a:pt x="2962" y="2154"/>
                  </a:cubicBezTo>
                  <a:cubicBezTo>
                    <a:pt x="2962" y="2158"/>
                    <a:pt x="2962" y="2166"/>
                    <a:pt x="2966" y="2174"/>
                  </a:cubicBezTo>
                  <a:cubicBezTo>
                    <a:pt x="2970" y="2181"/>
                    <a:pt x="2979" y="2188"/>
                    <a:pt x="2998" y="2188"/>
                  </a:cubicBezTo>
                  <a:cubicBezTo>
                    <a:pt x="3019" y="2188"/>
                    <a:pt x="3040" y="2178"/>
                    <a:pt x="3049" y="2156"/>
                  </a:cubicBezTo>
                  <a:cubicBezTo>
                    <a:pt x="3054" y="2144"/>
                    <a:pt x="3056" y="2135"/>
                    <a:pt x="3064" y="2099"/>
                  </a:cubicBezTo>
                  <a:cubicBezTo>
                    <a:pt x="3036" y="2128"/>
                    <a:pt x="3009" y="2132"/>
                    <a:pt x="2992" y="2132"/>
                  </a:cubicBezTo>
                  <a:cubicBezTo>
                    <a:pt x="2922" y="2132"/>
                    <a:pt x="2903" y="2071"/>
                    <a:pt x="2915" y="2012"/>
                  </a:cubicBezTo>
                  <a:cubicBezTo>
                    <a:pt x="2928" y="1951"/>
                    <a:pt x="2974" y="1892"/>
                    <a:pt x="3044" y="1892"/>
                  </a:cubicBezTo>
                  <a:cubicBezTo>
                    <a:pt x="3088" y="1892"/>
                    <a:pt x="3099" y="1916"/>
                    <a:pt x="3105" y="1927"/>
                  </a:cubicBezTo>
                  <a:cubicBezTo>
                    <a:pt x="3114" y="1895"/>
                    <a:pt x="3114" y="1895"/>
                    <a:pt x="3114" y="1895"/>
                  </a:cubicBezTo>
                  <a:lnTo>
                    <a:pt x="3181" y="1895"/>
                  </a:lnTo>
                  <a:close/>
                  <a:moveTo>
                    <a:pt x="3019" y="2083"/>
                  </a:moveTo>
                  <a:cubicBezTo>
                    <a:pt x="3069" y="2083"/>
                    <a:pt x="3081" y="2025"/>
                    <a:pt x="3083" y="2014"/>
                  </a:cubicBezTo>
                  <a:cubicBezTo>
                    <a:pt x="3089" y="1986"/>
                    <a:pt x="3094" y="1940"/>
                    <a:pt x="3051" y="1940"/>
                  </a:cubicBezTo>
                  <a:cubicBezTo>
                    <a:pt x="3024" y="1940"/>
                    <a:pt x="2997" y="1960"/>
                    <a:pt x="2986" y="2012"/>
                  </a:cubicBezTo>
                  <a:cubicBezTo>
                    <a:pt x="2984" y="2025"/>
                    <a:pt x="2971" y="2083"/>
                    <a:pt x="3019" y="2083"/>
                  </a:cubicBezTo>
                  <a:moveTo>
                    <a:pt x="3257" y="1790"/>
                  </a:moveTo>
                  <a:cubicBezTo>
                    <a:pt x="3327" y="1790"/>
                    <a:pt x="3327" y="1790"/>
                    <a:pt x="3327" y="1790"/>
                  </a:cubicBezTo>
                  <a:cubicBezTo>
                    <a:pt x="3298" y="1927"/>
                    <a:pt x="3298" y="1927"/>
                    <a:pt x="3298" y="1927"/>
                  </a:cubicBezTo>
                  <a:cubicBezTo>
                    <a:pt x="3309" y="1915"/>
                    <a:pt x="3332" y="1890"/>
                    <a:pt x="3376" y="1890"/>
                  </a:cubicBezTo>
                  <a:cubicBezTo>
                    <a:pt x="3412" y="1890"/>
                    <a:pt x="3431" y="1908"/>
                    <a:pt x="3440" y="1923"/>
                  </a:cubicBezTo>
                  <a:cubicBezTo>
                    <a:pt x="3446" y="1935"/>
                    <a:pt x="3448" y="1957"/>
                    <a:pt x="3441" y="1989"/>
                  </a:cubicBezTo>
                  <a:cubicBezTo>
                    <a:pt x="3410" y="2136"/>
                    <a:pt x="3410" y="2136"/>
                    <a:pt x="3410" y="2136"/>
                  </a:cubicBezTo>
                  <a:cubicBezTo>
                    <a:pt x="3340" y="2136"/>
                    <a:pt x="3340" y="2136"/>
                    <a:pt x="3340" y="2136"/>
                  </a:cubicBezTo>
                  <a:cubicBezTo>
                    <a:pt x="3370" y="1991"/>
                    <a:pt x="3370" y="1991"/>
                    <a:pt x="3370" y="1991"/>
                  </a:cubicBezTo>
                  <a:cubicBezTo>
                    <a:pt x="3373" y="1977"/>
                    <a:pt x="3382" y="1938"/>
                    <a:pt x="3342" y="1938"/>
                  </a:cubicBezTo>
                  <a:cubicBezTo>
                    <a:pt x="3322" y="1938"/>
                    <a:pt x="3293" y="1950"/>
                    <a:pt x="3286" y="1988"/>
                  </a:cubicBezTo>
                  <a:cubicBezTo>
                    <a:pt x="3255" y="2136"/>
                    <a:pt x="3255" y="2136"/>
                    <a:pt x="3255" y="2136"/>
                  </a:cubicBezTo>
                  <a:cubicBezTo>
                    <a:pt x="3183" y="2136"/>
                    <a:pt x="3183" y="2136"/>
                    <a:pt x="3183" y="2136"/>
                  </a:cubicBezTo>
                  <a:lnTo>
                    <a:pt x="3257" y="1790"/>
                  </a:lnTo>
                  <a:close/>
                  <a:moveTo>
                    <a:pt x="158" y="1980"/>
                  </a:moveTo>
                  <a:cubicBezTo>
                    <a:pt x="159" y="1971"/>
                    <a:pt x="164" y="1935"/>
                    <a:pt x="137" y="1935"/>
                  </a:cubicBezTo>
                  <a:cubicBezTo>
                    <a:pt x="103" y="1935"/>
                    <a:pt x="89" y="1986"/>
                    <a:pt x="83" y="2012"/>
                  </a:cubicBezTo>
                  <a:cubicBezTo>
                    <a:pt x="80" y="2026"/>
                    <a:pt x="72" y="2069"/>
                    <a:pt x="85" y="2087"/>
                  </a:cubicBezTo>
                  <a:cubicBezTo>
                    <a:pt x="90" y="2094"/>
                    <a:pt x="97" y="2095"/>
                    <a:pt x="102" y="2095"/>
                  </a:cubicBezTo>
                  <a:cubicBezTo>
                    <a:pt x="109" y="2095"/>
                    <a:pt x="133" y="2092"/>
                    <a:pt x="145" y="2048"/>
                  </a:cubicBezTo>
                  <a:cubicBezTo>
                    <a:pt x="215" y="2048"/>
                    <a:pt x="215" y="2048"/>
                    <a:pt x="215" y="2048"/>
                  </a:cubicBezTo>
                  <a:cubicBezTo>
                    <a:pt x="210" y="2067"/>
                    <a:pt x="201" y="2097"/>
                    <a:pt x="168" y="2120"/>
                  </a:cubicBezTo>
                  <a:cubicBezTo>
                    <a:pt x="148" y="2135"/>
                    <a:pt x="124" y="2143"/>
                    <a:pt x="94" y="2143"/>
                  </a:cubicBezTo>
                  <a:cubicBezTo>
                    <a:pt x="62" y="2143"/>
                    <a:pt x="35" y="2135"/>
                    <a:pt x="18" y="2110"/>
                  </a:cubicBezTo>
                  <a:cubicBezTo>
                    <a:pt x="2" y="2086"/>
                    <a:pt x="0" y="2053"/>
                    <a:pt x="8" y="2015"/>
                  </a:cubicBezTo>
                  <a:cubicBezTo>
                    <a:pt x="32" y="1904"/>
                    <a:pt x="116" y="1889"/>
                    <a:pt x="148" y="1889"/>
                  </a:cubicBezTo>
                  <a:cubicBezTo>
                    <a:pt x="193" y="1889"/>
                    <a:pt x="241" y="1914"/>
                    <a:pt x="228" y="1980"/>
                  </a:cubicBezTo>
                  <a:lnTo>
                    <a:pt x="158" y="1980"/>
                  </a:lnTo>
                  <a:close/>
                  <a:moveTo>
                    <a:pt x="3764" y="1980"/>
                  </a:moveTo>
                  <a:cubicBezTo>
                    <a:pt x="3765" y="1971"/>
                    <a:pt x="3770" y="1935"/>
                    <a:pt x="3742" y="1935"/>
                  </a:cubicBezTo>
                  <a:cubicBezTo>
                    <a:pt x="3709" y="1935"/>
                    <a:pt x="3694" y="1986"/>
                    <a:pt x="3688" y="2012"/>
                  </a:cubicBezTo>
                  <a:cubicBezTo>
                    <a:pt x="3685" y="2026"/>
                    <a:pt x="3678" y="2069"/>
                    <a:pt x="3691" y="2087"/>
                  </a:cubicBezTo>
                  <a:cubicBezTo>
                    <a:pt x="3695" y="2094"/>
                    <a:pt x="3703" y="2095"/>
                    <a:pt x="3708" y="2095"/>
                  </a:cubicBezTo>
                  <a:cubicBezTo>
                    <a:pt x="3715" y="2095"/>
                    <a:pt x="3738" y="2092"/>
                    <a:pt x="3751" y="2048"/>
                  </a:cubicBezTo>
                  <a:cubicBezTo>
                    <a:pt x="3820" y="2048"/>
                    <a:pt x="3820" y="2048"/>
                    <a:pt x="3820" y="2048"/>
                  </a:cubicBezTo>
                  <a:cubicBezTo>
                    <a:pt x="3816" y="2067"/>
                    <a:pt x="3807" y="2097"/>
                    <a:pt x="3774" y="2120"/>
                  </a:cubicBezTo>
                  <a:cubicBezTo>
                    <a:pt x="3754" y="2135"/>
                    <a:pt x="3730" y="2143"/>
                    <a:pt x="3700" y="2143"/>
                  </a:cubicBezTo>
                  <a:cubicBezTo>
                    <a:pt x="3668" y="2143"/>
                    <a:pt x="3641" y="2135"/>
                    <a:pt x="3624" y="2110"/>
                  </a:cubicBezTo>
                  <a:cubicBezTo>
                    <a:pt x="3608" y="2086"/>
                    <a:pt x="3606" y="2053"/>
                    <a:pt x="3614" y="2015"/>
                  </a:cubicBezTo>
                  <a:cubicBezTo>
                    <a:pt x="3638" y="1904"/>
                    <a:pt x="3722" y="1889"/>
                    <a:pt x="3754" y="1889"/>
                  </a:cubicBezTo>
                  <a:cubicBezTo>
                    <a:pt x="3799" y="1889"/>
                    <a:pt x="3847" y="1914"/>
                    <a:pt x="3834" y="1980"/>
                  </a:cubicBezTo>
                  <a:lnTo>
                    <a:pt x="3764" y="1980"/>
                  </a:lnTo>
                  <a:close/>
                  <a:moveTo>
                    <a:pt x="4010" y="1888"/>
                  </a:moveTo>
                  <a:cubicBezTo>
                    <a:pt x="4098" y="1888"/>
                    <a:pt x="4123" y="1948"/>
                    <a:pt x="4109" y="2015"/>
                  </a:cubicBezTo>
                  <a:cubicBezTo>
                    <a:pt x="4094" y="2083"/>
                    <a:pt x="4042" y="2145"/>
                    <a:pt x="3954" y="2145"/>
                  </a:cubicBezTo>
                  <a:cubicBezTo>
                    <a:pt x="3884" y="2145"/>
                    <a:pt x="3839" y="2102"/>
                    <a:pt x="3857" y="2017"/>
                  </a:cubicBezTo>
                  <a:cubicBezTo>
                    <a:pt x="3870" y="1959"/>
                    <a:pt x="3914" y="1888"/>
                    <a:pt x="4010" y="1888"/>
                  </a:cubicBezTo>
                  <a:moveTo>
                    <a:pt x="3967" y="2095"/>
                  </a:moveTo>
                  <a:cubicBezTo>
                    <a:pt x="3998" y="2095"/>
                    <a:pt x="4023" y="2077"/>
                    <a:pt x="4037" y="2012"/>
                  </a:cubicBezTo>
                  <a:cubicBezTo>
                    <a:pt x="4044" y="1980"/>
                    <a:pt x="4047" y="1935"/>
                    <a:pt x="4000" y="1935"/>
                  </a:cubicBezTo>
                  <a:cubicBezTo>
                    <a:pt x="3948" y="1935"/>
                    <a:pt x="3935" y="1995"/>
                    <a:pt x="3930" y="2018"/>
                  </a:cubicBezTo>
                  <a:cubicBezTo>
                    <a:pt x="3918" y="2072"/>
                    <a:pt x="3932" y="2095"/>
                    <a:pt x="3967" y="2095"/>
                  </a:cubicBezTo>
                  <a:moveTo>
                    <a:pt x="4173" y="1939"/>
                  </a:moveTo>
                  <a:cubicBezTo>
                    <a:pt x="4176" y="1924"/>
                    <a:pt x="4178" y="1909"/>
                    <a:pt x="4180" y="1894"/>
                  </a:cubicBezTo>
                  <a:cubicBezTo>
                    <a:pt x="4248" y="1894"/>
                    <a:pt x="4248" y="1894"/>
                    <a:pt x="4248" y="1894"/>
                  </a:cubicBezTo>
                  <a:cubicBezTo>
                    <a:pt x="4245" y="1925"/>
                    <a:pt x="4245" y="1925"/>
                    <a:pt x="4245" y="1925"/>
                  </a:cubicBezTo>
                  <a:cubicBezTo>
                    <a:pt x="4254" y="1915"/>
                    <a:pt x="4279" y="1889"/>
                    <a:pt x="4327" y="1889"/>
                  </a:cubicBezTo>
                  <a:cubicBezTo>
                    <a:pt x="4383" y="1889"/>
                    <a:pt x="4392" y="1923"/>
                    <a:pt x="4394" y="1934"/>
                  </a:cubicBezTo>
                  <a:cubicBezTo>
                    <a:pt x="4423" y="1895"/>
                    <a:pt x="4456" y="1889"/>
                    <a:pt x="4481" y="1889"/>
                  </a:cubicBezTo>
                  <a:cubicBezTo>
                    <a:pt x="4530" y="1889"/>
                    <a:pt x="4544" y="1918"/>
                    <a:pt x="4547" y="1928"/>
                  </a:cubicBezTo>
                  <a:cubicBezTo>
                    <a:pt x="4555" y="1949"/>
                    <a:pt x="4548" y="1978"/>
                    <a:pt x="4544" y="1999"/>
                  </a:cubicBezTo>
                  <a:cubicBezTo>
                    <a:pt x="4515" y="2136"/>
                    <a:pt x="4515" y="2136"/>
                    <a:pt x="4515" y="2136"/>
                  </a:cubicBezTo>
                  <a:cubicBezTo>
                    <a:pt x="4443" y="2136"/>
                    <a:pt x="4443" y="2136"/>
                    <a:pt x="4443" y="2136"/>
                  </a:cubicBezTo>
                  <a:cubicBezTo>
                    <a:pt x="4473" y="1994"/>
                    <a:pt x="4473" y="1994"/>
                    <a:pt x="4473" y="1994"/>
                  </a:cubicBezTo>
                  <a:cubicBezTo>
                    <a:pt x="4479" y="1968"/>
                    <a:pt x="4481" y="1939"/>
                    <a:pt x="4444" y="1939"/>
                  </a:cubicBezTo>
                  <a:cubicBezTo>
                    <a:pt x="4401" y="1939"/>
                    <a:pt x="4392" y="1979"/>
                    <a:pt x="4385" y="2015"/>
                  </a:cubicBezTo>
                  <a:cubicBezTo>
                    <a:pt x="4358" y="2136"/>
                    <a:pt x="4358" y="2136"/>
                    <a:pt x="4358" y="2136"/>
                  </a:cubicBezTo>
                  <a:cubicBezTo>
                    <a:pt x="4286" y="2136"/>
                    <a:pt x="4286" y="2136"/>
                    <a:pt x="4286" y="2136"/>
                  </a:cubicBezTo>
                  <a:cubicBezTo>
                    <a:pt x="4318" y="1992"/>
                    <a:pt x="4318" y="1992"/>
                    <a:pt x="4318" y="1992"/>
                  </a:cubicBezTo>
                  <a:cubicBezTo>
                    <a:pt x="4321" y="1974"/>
                    <a:pt x="4328" y="1939"/>
                    <a:pt x="4289" y="1939"/>
                  </a:cubicBezTo>
                  <a:cubicBezTo>
                    <a:pt x="4244" y="1939"/>
                    <a:pt x="4236" y="1977"/>
                    <a:pt x="4232" y="1994"/>
                  </a:cubicBezTo>
                  <a:cubicBezTo>
                    <a:pt x="4202" y="2136"/>
                    <a:pt x="4202" y="2136"/>
                    <a:pt x="4202" y="2136"/>
                  </a:cubicBezTo>
                  <a:cubicBezTo>
                    <a:pt x="4131" y="2136"/>
                    <a:pt x="4131" y="2136"/>
                    <a:pt x="4131" y="2136"/>
                  </a:cubicBezTo>
                  <a:lnTo>
                    <a:pt x="4173" y="1939"/>
                  </a:lnTo>
                  <a:close/>
                  <a:moveTo>
                    <a:pt x="4694" y="1894"/>
                  </a:moveTo>
                  <a:cubicBezTo>
                    <a:pt x="4689" y="1928"/>
                    <a:pt x="4689" y="1928"/>
                    <a:pt x="4689" y="1928"/>
                  </a:cubicBezTo>
                  <a:cubicBezTo>
                    <a:pt x="4719" y="1889"/>
                    <a:pt x="4759" y="1889"/>
                    <a:pt x="4771" y="1889"/>
                  </a:cubicBezTo>
                  <a:cubicBezTo>
                    <a:pt x="4834" y="1889"/>
                    <a:pt x="4862" y="1936"/>
                    <a:pt x="4846" y="2010"/>
                  </a:cubicBezTo>
                  <a:cubicBezTo>
                    <a:pt x="4832" y="2079"/>
                    <a:pt x="4783" y="2140"/>
                    <a:pt x="4713" y="2140"/>
                  </a:cubicBezTo>
                  <a:cubicBezTo>
                    <a:pt x="4669" y="2140"/>
                    <a:pt x="4656" y="2117"/>
                    <a:pt x="4652" y="2109"/>
                  </a:cubicBezTo>
                  <a:cubicBezTo>
                    <a:pt x="4626" y="2229"/>
                    <a:pt x="4626" y="2229"/>
                    <a:pt x="4626" y="2229"/>
                  </a:cubicBezTo>
                  <a:cubicBezTo>
                    <a:pt x="4554" y="2229"/>
                    <a:pt x="4554" y="2229"/>
                    <a:pt x="4554" y="2229"/>
                  </a:cubicBezTo>
                  <a:cubicBezTo>
                    <a:pt x="4625" y="1894"/>
                    <a:pt x="4625" y="1894"/>
                    <a:pt x="4625" y="1894"/>
                  </a:cubicBezTo>
                  <a:lnTo>
                    <a:pt x="4694" y="1894"/>
                  </a:lnTo>
                  <a:close/>
                  <a:moveTo>
                    <a:pt x="4774" y="2013"/>
                  </a:moveTo>
                  <a:cubicBezTo>
                    <a:pt x="4780" y="1984"/>
                    <a:pt x="4783" y="1935"/>
                    <a:pt x="4741" y="1935"/>
                  </a:cubicBezTo>
                  <a:cubicBezTo>
                    <a:pt x="4718" y="1935"/>
                    <a:pt x="4682" y="1952"/>
                    <a:pt x="4668" y="2017"/>
                  </a:cubicBezTo>
                  <a:cubicBezTo>
                    <a:pt x="4665" y="2031"/>
                    <a:pt x="4652" y="2093"/>
                    <a:pt x="4705" y="2093"/>
                  </a:cubicBezTo>
                  <a:cubicBezTo>
                    <a:pt x="4738" y="2093"/>
                    <a:pt x="4763" y="2061"/>
                    <a:pt x="4774" y="2013"/>
                  </a:cubicBezTo>
                  <a:moveTo>
                    <a:pt x="4936" y="1789"/>
                  </a:moveTo>
                  <a:cubicBezTo>
                    <a:pt x="5007" y="1789"/>
                    <a:pt x="5007" y="1789"/>
                    <a:pt x="5007" y="1789"/>
                  </a:cubicBezTo>
                  <a:cubicBezTo>
                    <a:pt x="4933" y="2136"/>
                    <a:pt x="4933" y="2136"/>
                    <a:pt x="4933" y="2136"/>
                  </a:cubicBezTo>
                  <a:cubicBezTo>
                    <a:pt x="4862" y="2136"/>
                    <a:pt x="4862" y="2136"/>
                    <a:pt x="4862" y="2136"/>
                  </a:cubicBezTo>
                  <a:lnTo>
                    <a:pt x="4936" y="1789"/>
                  </a:lnTo>
                  <a:close/>
                  <a:moveTo>
                    <a:pt x="5068" y="2033"/>
                  </a:moveTo>
                  <a:cubicBezTo>
                    <a:pt x="5064" y="2049"/>
                    <a:pt x="5054" y="2098"/>
                    <a:pt x="5104" y="2098"/>
                  </a:cubicBezTo>
                  <a:cubicBezTo>
                    <a:pt x="5121" y="2098"/>
                    <a:pt x="5140" y="2091"/>
                    <a:pt x="5153" y="2064"/>
                  </a:cubicBezTo>
                  <a:cubicBezTo>
                    <a:pt x="5218" y="2064"/>
                    <a:pt x="5218" y="2064"/>
                    <a:pt x="5218" y="2064"/>
                  </a:cubicBezTo>
                  <a:cubicBezTo>
                    <a:pt x="5214" y="2076"/>
                    <a:pt x="5208" y="2097"/>
                    <a:pt x="5184" y="2117"/>
                  </a:cubicBezTo>
                  <a:cubicBezTo>
                    <a:pt x="5162" y="2136"/>
                    <a:pt x="5128" y="2145"/>
                    <a:pt x="5092" y="2145"/>
                  </a:cubicBezTo>
                  <a:cubicBezTo>
                    <a:pt x="5072" y="2145"/>
                    <a:pt x="5033" y="2142"/>
                    <a:pt x="5013" y="2115"/>
                  </a:cubicBezTo>
                  <a:cubicBezTo>
                    <a:pt x="4996" y="2092"/>
                    <a:pt x="4994" y="2060"/>
                    <a:pt x="5002" y="2021"/>
                  </a:cubicBezTo>
                  <a:cubicBezTo>
                    <a:pt x="5011" y="1981"/>
                    <a:pt x="5030" y="1934"/>
                    <a:pt x="5077" y="1906"/>
                  </a:cubicBezTo>
                  <a:cubicBezTo>
                    <a:pt x="5099" y="1893"/>
                    <a:pt x="5123" y="1886"/>
                    <a:pt x="5150" y="1886"/>
                  </a:cubicBezTo>
                  <a:cubicBezTo>
                    <a:pt x="5184" y="1886"/>
                    <a:pt x="5222" y="1899"/>
                    <a:pt x="5235" y="1944"/>
                  </a:cubicBezTo>
                  <a:cubicBezTo>
                    <a:pt x="5244" y="1977"/>
                    <a:pt x="5236" y="2013"/>
                    <a:pt x="5231" y="2033"/>
                  </a:cubicBezTo>
                  <a:lnTo>
                    <a:pt x="5068" y="2033"/>
                  </a:lnTo>
                  <a:close/>
                  <a:moveTo>
                    <a:pt x="5167" y="1988"/>
                  </a:moveTo>
                  <a:cubicBezTo>
                    <a:pt x="5170" y="1977"/>
                    <a:pt x="5178" y="1934"/>
                    <a:pt x="5137" y="1934"/>
                  </a:cubicBezTo>
                  <a:cubicBezTo>
                    <a:pt x="5105" y="1934"/>
                    <a:pt x="5087" y="1960"/>
                    <a:pt x="5080" y="1988"/>
                  </a:cubicBezTo>
                  <a:lnTo>
                    <a:pt x="5167" y="1988"/>
                  </a:lnTo>
                  <a:close/>
                  <a:moveTo>
                    <a:pt x="5353" y="1894"/>
                  </a:moveTo>
                  <a:cubicBezTo>
                    <a:pt x="5382" y="1973"/>
                    <a:pt x="5382" y="1973"/>
                    <a:pt x="5382" y="1973"/>
                  </a:cubicBezTo>
                  <a:cubicBezTo>
                    <a:pt x="5447" y="1894"/>
                    <a:pt x="5447" y="1894"/>
                    <a:pt x="5447" y="1894"/>
                  </a:cubicBezTo>
                  <a:cubicBezTo>
                    <a:pt x="5520" y="1894"/>
                    <a:pt x="5520" y="1894"/>
                    <a:pt x="5520" y="1894"/>
                  </a:cubicBezTo>
                  <a:cubicBezTo>
                    <a:pt x="5417" y="2012"/>
                    <a:pt x="5417" y="2012"/>
                    <a:pt x="5417" y="2012"/>
                  </a:cubicBezTo>
                  <a:cubicBezTo>
                    <a:pt x="5471" y="2136"/>
                    <a:pt x="5471" y="2136"/>
                    <a:pt x="5471" y="2136"/>
                  </a:cubicBezTo>
                  <a:cubicBezTo>
                    <a:pt x="5388" y="2136"/>
                    <a:pt x="5388" y="2136"/>
                    <a:pt x="5388" y="2136"/>
                  </a:cubicBezTo>
                  <a:cubicBezTo>
                    <a:pt x="5357" y="2047"/>
                    <a:pt x="5357" y="2047"/>
                    <a:pt x="5357" y="2047"/>
                  </a:cubicBezTo>
                  <a:cubicBezTo>
                    <a:pt x="5289" y="2136"/>
                    <a:pt x="5289" y="2136"/>
                    <a:pt x="5289" y="2136"/>
                  </a:cubicBezTo>
                  <a:cubicBezTo>
                    <a:pt x="5214" y="2136"/>
                    <a:pt x="5214" y="2136"/>
                    <a:pt x="5214" y="2136"/>
                  </a:cubicBezTo>
                  <a:cubicBezTo>
                    <a:pt x="5323" y="2006"/>
                    <a:pt x="5323" y="2006"/>
                    <a:pt x="5323" y="2006"/>
                  </a:cubicBezTo>
                  <a:cubicBezTo>
                    <a:pt x="5269" y="1894"/>
                    <a:pt x="5269" y="1894"/>
                    <a:pt x="5269" y="1894"/>
                  </a:cubicBezTo>
                  <a:lnTo>
                    <a:pt x="5353" y="1894"/>
                  </a:lnTo>
                  <a:close/>
                  <a:moveTo>
                    <a:pt x="5553" y="1893"/>
                  </a:moveTo>
                  <a:cubicBezTo>
                    <a:pt x="5625" y="1893"/>
                    <a:pt x="5625" y="1893"/>
                    <a:pt x="5625" y="1893"/>
                  </a:cubicBezTo>
                  <a:cubicBezTo>
                    <a:pt x="5573" y="2136"/>
                    <a:pt x="5573" y="2136"/>
                    <a:pt x="5573" y="2136"/>
                  </a:cubicBezTo>
                  <a:cubicBezTo>
                    <a:pt x="5501" y="2136"/>
                    <a:pt x="5501" y="2136"/>
                    <a:pt x="5501" y="2136"/>
                  </a:cubicBezTo>
                  <a:lnTo>
                    <a:pt x="5553" y="1893"/>
                  </a:lnTo>
                  <a:close/>
                  <a:moveTo>
                    <a:pt x="5573" y="1790"/>
                  </a:moveTo>
                  <a:cubicBezTo>
                    <a:pt x="5648" y="1790"/>
                    <a:pt x="5648" y="1790"/>
                    <a:pt x="5648" y="1790"/>
                  </a:cubicBezTo>
                  <a:cubicBezTo>
                    <a:pt x="5636" y="1851"/>
                    <a:pt x="5636" y="1851"/>
                    <a:pt x="5636" y="1851"/>
                  </a:cubicBezTo>
                  <a:cubicBezTo>
                    <a:pt x="5560" y="1851"/>
                    <a:pt x="5560" y="1851"/>
                    <a:pt x="5560" y="1851"/>
                  </a:cubicBezTo>
                  <a:lnTo>
                    <a:pt x="5573" y="1790"/>
                  </a:lnTo>
                  <a:close/>
                  <a:moveTo>
                    <a:pt x="5775" y="2133"/>
                  </a:moveTo>
                  <a:cubicBezTo>
                    <a:pt x="5752" y="2139"/>
                    <a:pt x="5730" y="2141"/>
                    <a:pt x="5719" y="2141"/>
                  </a:cubicBezTo>
                  <a:cubicBezTo>
                    <a:pt x="5647" y="2141"/>
                    <a:pt x="5657" y="2095"/>
                    <a:pt x="5662" y="2075"/>
                  </a:cubicBezTo>
                  <a:cubicBezTo>
                    <a:pt x="5689" y="1942"/>
                    <a:pt x="5689" y="1942"/>
                    <a:pt x="5689" y="1942"/>
                  </a:cubicBezTo>
                  <a:cubicBezTo>
                    <a:pt x="5643" y="1942"/>
                    <a:pt x="5643" y="1942"/>
                    <a:pt x="5643" y="1942"/>
                  </a:cubicBezTo>
                  <a:cubicBezTo>
                    <a:pt x="5653" y="1895"/>
                    <a:pt x="5653" y="1895"/>
                    <a:pt x="5653" y="1895"/>
                  </a:cubicBezTo>
                  <a:cubicBezTo>
                    <a:pt x="5700" y="1895"/>
                    <a:pt x="5700" y="1895"/>
                    <a:pt x="5700" y="1895"/>
                  </a:cubicBezTo>
                  <a:cubicBezTo>
                    <a:pt x="5710" y="1848"/>
                    <a:pt x="5710" y="1848"/>
                    <a:pt x="5710" y="1848"/>
                  </a:cubicBezTo>
                  <a:cubicBezTo>
                    <a:pt x="5786" y="1822"/>
                    <a:pt x="5786" y="1822"/>
                    <a:pt x="5786" y="1822"/>
                  </a:cubicBezTo>
                  <a:cubicBezTo>
                    <a:pt x="5770" y="1895"/>
                    <a:pt x="5770" y="1895"/>
                    <a:pt x="5770" y="1895"/>
                  </a:cubicBezTo>
                  <a:cubicBezTo>
                    <a:pt x="5828" y="1895"/>
                    <a:pt x="5828" y="1895"/>
                    <a:pt x="5828" y="1895"/>
                  </a:cubicBezTo>
                  <a:cubicBezTo>
                    <a:pt x="5818" y="1942"/>
                    <a:pt x="5818" y="1942"/>
                    <a:pt x="5818" y="1942"/>
                  </a:cubicBezTo>
                  <a:cubicBezTo>
                    <a:pt x="5760" y="1942"/>
                    <a:pt x="5760" y="1942"/>
                    <a:pt x="5760" y="1942"/>
                  </a:cubicBezTo>
                  <a:cubicBezTo>
                    <a:pt x="5736" y="2052"/>
                    <a:pt x="5736" y="2052"/>
                    <a:pt x="5736" y="2052"/>
                  </a:cubicBezTo>
                  <a:cubicBezTo>
                    <a:pt x="5733" y="2074"/>
                    <a:pt x="5729" y="2088"/>
                    <a:pt x="5761" y="2088"/>
                  </a:cubicBezTo>
                  <a:cubicBezTo>
                    <a:pt x="5772" y="2088"/>
                    <a:pt x="5777" y="2087"/>
                    <a:pt x="5786" y="2086"/>
                  </a:cubicBezTo>
                  <a:lnTo>
                    <a:pt x="5775" y="2133"/>
                  </a:lnTo>
                  <a:close/>
                  <a:moveTo>
                    <a:pt x="5921" y="1894"/>
                  </a:moveTo>
                  <a:cubicBezTo>
                    <a:pt x="5939" y="2062"/>
                    <a:pt x="5939" y="2062"/>
                    <a:pt x="5939" y="2062"/>
                  </a:cubicBezTo>
                  <a:cubicBezTo>
                    <a:pt x="6028" y="1894"/>
                    <a:pt x="6028" y="1894"/>
                    <a:pt x="6028" y="1894"/>
                  </a:cubicBezTo>
                  <a:cubicBezTo>
                    <a:pt x="6099" y="1894"/>
                    <a:pt x="6099" y="1894"/>
                    <a:pt x="6099" y="1894"/>
                  </a:cubicBezTo>
                  <a:cubicBezTo>
                    <a:pt x="5957" y="2132"/>
                    <a:pt x="5957" y="2132"/>
                    <a:pt x="5957" y="2132"/>
                  </a:cubicBezTo>
                  <a:cubicBezTo>
                    <a:pt x="5907" y="2229"/>
                    <a:pt x="5907" y="2229"/>
                    <a:pt x="5907" y="2229"/>
                  </a:cubicBezTo>
                  <a:cubicBezTo>
                    <a:pt x="5835" y="2229"/>
                    <a:pt x="5835" y="2229"/>
                    <a:pt x="5835" y="2229"/>
                  </a:cubicBezTo>
                  <a:cubicBezTo>
                    <a:pt x="5886" y="2137"/>
                    <a:pt x="5886" y="2137"/>
                    <a:pt x="5886" y="2137"/>
                  </a:cubicBezTo>
                  <a:cubicBezTo>
                    <a:pt x="5844" y="1894"/>
                    <a:pt x="5844" y="1894"/>
                    <a:pt x="5844" y="1894"/>
                  </a:cubicBezTo>
                  <a:lnTo>
                    <a:pt x="5921" y="1894"/>
                  </a:lnTo>
                  <a:close/>
                </a:path>
              </a:pathLst>
            </a:custGeom>
            <a:grpFill/>
            <a:ln w="9525">
              <a:noFill/>
              <a:round/>
              <a:headEnd/>
              <a:tailEnd/>
            </a:ln>
          </p:spPr>
          <p:txBody>
            <a:bodyPr vert="horz" wrap="square" lIns="91440" tIns="45720" rIns="91440" bIns="45720" numCol="1" anchor="t" anchorCtr="0" compatLnSpc="1">
              <a:prstTxWarp prst="textNoShape">
                <a:avLst/>
              </a:prstTxWarp>
              <a:noAutofit/>
            </a:bodyPr>
            <a:lstStyle/>
            <a:p>
              <a:endParaRPr lang="en-GB" dirty="0"/>
            </a:p>
          </p:txBody>
        </p:sp>
        <p:sp>
          <p:nvSpPr>
            <p:cNvPr id="13" name="Freeform 15"/>
            <p:cNvSpPr>
              <a:spLocks noEditPoints="1"/>
            </p:cNvSpPr>
            <p:nvPr userDrawn="1"/>
          </p:nvSpPr>
          <p:spPr bwMode="auto">
            <a:xfrm>
              <a:off x="-2592388" y="0"/>
              <a:ext cx="2592388" cy="1530350"/>
            </a:xfrm>
            <a:custGeom>
              <a:avLst/>
              <a:gdLst/>
              <a:ahLst/>
              <a:cxnLst>
                <a:cxn ang="0">
                  <a:pos x="176" y="248"/>
                </a:cxn>
                <a:cxn ang="0">
                  <a:pos x="0" y="248"/>
                </a:cxn>
                <a:cxn ang="0">
                  <a:pos x="0" y="0"/>
                </a:cxn>
                <a:cxn ang="0">
                  <a:pos x="176" y="0"/>
                </a:cxn>
                <a:cxn ang="0">
                  <a:pos x="176" y="248"/>
                </a:cxn>
                <a:cxn ang="0">
                  <a:pos x="176" y="716"/>
                </a:cxn>
                <a:cxn ang="0">
                  <a:pos x="0" y="716"/>
                </a:cxn>
                <a:cxn ang="0">
                  <a:pos x="0" y="964"/>
                </a:cxn>
                <a:cxn ang="0">
                  <a:pos x="176" y="964"/>
                </a:cxn>
                <a:cxn ang="0">
                  <a:pos x="176" y="716"/>
                </a:cxn>
                <a:cxn ang="0">
                  <a:pos x="1633" y="0"/>
                </a:cxn>
                <a:cxn ang="0">
                  <a:pos x="1457" y="0"/>
                </a:cxn>
                <a:cxn ang="0">
                  <a:pos x="1457" y="248"/>
                </a:cxn>
                <a:cxn ang="0">
                  <a:pos x="1633" y="248"/>
                </a:cxn>
                <a:cxn ang="0">
                  <a:pos x="1633" y="0"/>
                </a:cxn>
                <a:cxn ang="0">
                  <a:pos x="1633" y="716"/>
                </a:cxn>
                <a:cxn ang="0">
                  <a:pos x="1457" y="716"/>
                </a:cxn>
                <a:cxn ang="0">
                  <a:pos x="1457" y="964"/>
                </a:cxn>
                <a:cxn ang="0">
                  <a:pos x="1633" y="964"/>
                </a:cxn>
                <a:cxn ang="0">
                  <a:pos x="1633" y="716"/>
                </a:cxn>
              </a:cxnLst>
              <a:rect l="0" t="0" r="r" b="b"/>
              <a:pathLst>
                <a:path w="1633" h="964">
                  <a:moveTo>
                    <a:pt x="176" y="248"/>
                  </a:moveTo>
                  <a:lnTo>
                    <a:pt x="0" y="248"/>
                  </a:lnTo>
                  <a:lnTo>
                    <a:pt x="0" y="0"/>
                  </a:lnTo>
                  <a:lnTo>
                    <a:pt x="176" y="0"/>
                  </a:lnTo>
                  <a:lnTo>
                    <a:pt x="176" y="248"/>
                  </a:lnTo>
                  <a:close/>
                  <a:moveTo>
                    <a:pt x="176" y="716"/>
                  </a:moveTo>
                  <a:lnTo>
                    <a:pt x="0" y="716"/>
                  </a:lnTo>
                  <a:lnTo>
                    <a:pt x="0" y="964"/>
                  </a:lnTo>
                  <a:lnTo>
                    <a:pt x="176" y="964"/>
                  </a:lnTo>
                  <a:lnTo>
                    <a:pt x="176" y="716"/>
                  </a:lnTo>
                  <a:close/>
                  <a:moveTo>
                    <a:pt x="1633" y="0"/>
                  </a:moveTo>
                  <a:lnTo>
                    <a:pt x="1457" y="0"/>
                  </a:lnTo>
                  <a:lnTo>
                    <a:pt x="1457" y="248"/>
                  </a:lnTo>
                  <a:lnTo>
                    <a:pt x="1633" y="248"/>
                  </a:lnTo>
                  <a:lnTo>
                    <a:pt x="1633" y="0"/>
                  </a:lnTo>
                  <a:close/>
                  <a:moveTo>
                    <a:pt x="1633" y="716"/>
                  </a:moveTo>
                  <a:lnTo>
                    <a:pt x="1457" y="716"/>
                  </a:lnTo>
                  <a:lnTo>
                    <a:pt x="1457" y="964"/>
                  </a:lnTo>
                  <a:lnTo>
                    <a:pt x="1633" y="964"/>
                  </a:lnTo>
                  <a:lnTo>
                    <a:pt x="1633" y="716"/>
                  </a:ln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en-GB" dirty="0"/>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Letter 1">
    <p:spTree>
      <p:nvGrpSpPr>
        <p:cNvPr id="1" name=""/>
        <p:cNvGrpSpPr/>
        <p:nvPr/>
      </p:nvGrpSpPr>
      <p:grpSpPr>
        <a:xfrm>
          <a:off x="0" y="0"/>
          <a:ext cx="0" cy="0"/>
          <a:chOff x="0" y="0"/>
          <a:chExt cx="0" cy="0"/>
        </a:xfrm>
      </p:grpSpPr>
      <p:sp>
        <p:nvSpPr>
          <p:cNvPr id="22" name="Text Placeholder 4"/>
          <p:cNvSpPr>
            <a:spLocks noGrp="1"/>
          </p:cNvSpPr>
          <p:nvPr>
            <p:ph type="body" sz="quarter" idx="15" hasCustomPrompt="1"/>
          </p:nvPr>
        </p:nvSpPr>
        <p:spPr bwMode="gray">
          <a:xfrm>
            <a:off x="2113085" y="6421438"/>
            <a:ext cx="1594338" cy="175914"/>
          </a:xfrm>
        </p:spPr>
        <p:txBody>
          <a:bodyPr>
            <a:noAutofit/>
          </a:bodyPr>
          <a:lstStyle>
            <a:lvl1pPr>
              <a:lnSpc>
                <a:spcPct val="100000"/>
              </a:lnSpc>
              <a:spcBef>
                <a:spcPts val="0"/>
              </a:spcBef>
              <a:defRPr sz="400" b="0">
                <a:solidFill>
                  <a:schemeClr val="tx1"/>
                </a:solidFill>
                <a:latin typeface="+mn-lt"/>
                <a:cs typeface="Times New Roman" pitchFamily="18" charset="0"/>
              </a:defRPr>
            </a:lvl1pPr>
            <a:lvl2pPr>
              <a:lnSpc>
                <a:spcPct val="100000"/>
              </a:lnSpc>
              <a:spcBef>
                <a:spcPts val="0"/>
              </a:spcBef>
              <a:defRPr sz="700">
                <a:solidFill>
                  <a:schemeClr val="tx1"/>
                </a:solidFill>
                <a:latin typeface="+mn-lt"/>
                <a:cs typeface="Times New Roman" pitchFamily="18" charset="0"/>
              </a:defRPr>
            </a:lvl2pPr>
            <a:lvl3pPr>
              <a:lnSpc>
                <a:spcPct val="100000"/>
              </a:lnSpc>
              <a:spcBef>
                <a:spcPts val="0"/>
              </a:spcBef>
              <a:buClrTx/>
              <a:defRPr sz="700">
                <a:solidFill>
                  <a:schemeClr val="tx1"/>
                </a:solidFill>
                <a:latin typeface="+mn-lt"/>
                <a:cs typeface="Times New Roman" pitchFamily="18" charset="0"/>
              </a:defRPr>
            </a:lvl3pPr>
            <a:lvl4pPr>
              <a:lnSpc>
                <a:spcPct val="100000"/>
              </a:lnSpc>
              <a:spcBef>
                <a:spcPts val="0"/>
              </a:spcBef>
              <a:buClrTx/>
              <a:defRPr sz="700">
                <a:solidFill>
                  <a:schemeClr val="tx1"/>
                </a:solidFill>
                <a:latin typeface="+mn-lt"/>
                <a:cs typeface="Times New Roman" pitchFamily="18" charset="0"/>
              </a:defRPr>
            </a:lvl4pPr>
            <a:lvl5pPr>
              <a:lnSpc>
                <a:spcPct val="100000"/>
              </a:lnSpc>
              <a:spcBef>
                <a:spcPts val="0"/>
              </a:spcBef>
              <a:buClrTx/>
              <a:defRPr sz="700">
                <a:solidFill>
                  <a:schemeClr val="tx1"/>
                </a:solidFill>
                <a:latin typeface="+mn-lt"/>
                <a:cs typeface="Times New Roman" pitchFamily="18" charset="0"/>
              </a:defRPr>
            </a:lvl5pPr>
            <a:lvl6pPr>
              <a:lnSpc>
                <a:spcPct val="100000"/>
              </a:lnSpc>
              <a:spcBef>
                <a:spcPts val="0"/>
              </a:spcBef>
              <a:buClrTx/>
              <a:defRPr sz="700" baseline="0">
                <a:solidFill>
                  <a:schemeClr val="tx1"/>
                </a:solidFill>
                <a:latin typeface="+mn-lt"/>
                <a:cs typeface="Times New Roman" pitchFamily="18" charset="0"/>
              </a:defRPr>
            </a:lvl6pPr>
            <a:lvl7pPr>
              <a:lnSpc>
                <a:spcPct val="100000"/>
              </a:lnSpc>
              <a:spcBef>
                <a:spcPts val="0"/>
              </a:spcBef>
              <a:buClrTx/>
              <a:defRPr sz="700" baseline="0">
                <a:solidFill>
                  <a:schemeClr val="tx1"/>
                </a:solidFill>
                <a:latin typeface="+mn-lt"/>
                <a:cs typeface="Times New Roman" pitchFamily="18" charset="0"/>
              </a:defRPr>
            </a:lvl7pPr>
            <a:lvl8pPr>
              <a:lnSpc>
                <a:spcPct val="100000"/>
              </a:lnSpc>
              <a:spcBef>
                <a:spcPts val="0"/>
              </a:spcBef>
              <a:buClrTx/>
              <a:defRPr sz="700" baseline="0">
                <a:solidFill>
                  <a:schemeClr val="tx1"/>
                </a:solidFill>
                <a:latin typeface="+mn-lt"/>
                <a:cs typeface="Times New Roman" pitchFamily="18" charset="0"/>
              </a:defRPr>
            </a:lvl8pPr>
            <a:lvl9pPr>
              <a:lnSpc>
                <a:spcPct val="100000"/>
              </a:lnSpc>
              <a:spcBef>
                <a:spcPts val="0"/>
              </a:spcBef>
              <a:buClrTx/>
              <a:defRPr sz="700" baseline="0">
                <a:solidFill>
                  <a:schemeClr val="tx1"/>
                </a:solidFill>
                <a:latin typeface="+mn-lt"/>
                <a:cs typeface="Times New Roman" pitchFamily="18" charset="0"/>
              </a:defRPr>
            </a:lvl9pPr>
          </a:lstStyle>
          <a:p>
            <a:pPr lvl="0"/>
            <a:r>
              <a:rPr lang="en-US" dirty="0" smtClean="0"/>
              <a:t>Footer</a:t>
            </a:r>
            <a:endParaRPr lang="en-GB" dirty="0"/>
          </a:p>
        </p:txBody>
      </p:sp>
      <p:sp>
        <p:nvSpPr>
          <p:cNvPr id="21" name="Text Placeholder 4"/>
          <p:cNvSpPr>
            <a:spLocks noGrp="1"/>
          </p:cNvSpPr>
          <p:nvPr>
            <p:ph type="body" sz="quarter" idx="14" hasCustomPrompt="1"/>
          </p:nvPr>
        </p:nvSpPr>
        <p:spPr bwMode="gray">
          <a:xfrm>
            <a:off x="252046" y="6421438"/>
            <a:ext cx="1594338" cy="175914"/>
          </a:xfrm>
        </p:spPr>
        <p:txBody>
          <a:bodyPr>
            <a:noAutofit/>
          </a:bodyPr>
          <a:lstStyle>
            <a:lvl1pPr>
              <a:lnSpc>
                <a:spcPct val="100000"/>
              </a:lnSpc>
              <a:spcBef>
                <a:spcPts val="0"/>
              </a:spcBef>
              <a:defRPr sz="400" b="0">
                <a:solidFill>
                  <a:schemeClr val="tx1"/>
                </a:solidFill>
                <a:latin typeface="+mn-lt"/>
                <a:cs typeface="Times New Roman" pitchFamily="18" charset="0"/>
              </a:defRPr>
            </a:lvl1pPr>
            <a:lvl2pPr>
              <a:lnSpc>
                <a:spcPct val="100000"/>
              </a:lnSpc>
              <a:spcBef>
                <a:spcPts val="0"/>
              </a:spcBef>
              <a:defRPr sz="700">
                <a:solidFill>
                  <a:schemeClr val="tx1"/>
                </a:solidFill>
                <a:latin typeface="+mn-lt"/>
                <a:cs typeface="Times New Roman" pitchFamily="18" charset="0"/>
              </a:defRPr>
            </a:lvl2pPr>
            <a:lvl3pPr>
              <a:lnSpc>
                <a:spcPct val="100000"/>
              </a:lnSpc>
              <a:spcBef>
                <a:spcPts val="0"/>
              </a:spcBef>
              <a:buClrTx/>
              <a:defRPr sz="700">
                <a:solidFill>
                  <a:schemeClr val="tx1"/>
                </a:solidFill>
                <a:latin typeface="+mn-lt"/>
                <a:cs typeface="Times New Roman" pitchFamily="18" charset="0"/>
              </a:defRPr>
            </a:lvl3pPr>
            <a:lvl4pPr>
              <a:lnSpc>
                <a:spcPct val="100000"/>
              </a:lnSpc>
              <a:spcBef>
                <a:spcPts val="0"/>
              </a:spcBef>
              <a:buClrTx/>
              <a:defRPr sz="700">
                <a:solidFill>
                  <a:schemeClr val="tx1"/>
                </a:solidFill>
                <a:latin typeface="+mn-lt"/>
                <a:cs typeface="Times New Roman" pitchFamily="18" charset="0"/>
              </a:defRPr>
            </a:lvl4pPr>
            <a:lvl5pPr>
              <a:lnSpc>
                <a:spcPct val="100000"/>
              </a:lnSpc>
              <a:spcBef>
                <a:spcPts val="0"/>
              </a:spcBef>
              <a:buClrTx/>
              <a:defRPr sz="700">
                <a:solidFill>
                  <a:schemeClr val="tx1"/>
                </a:solidFill>
                <a:latin typeface="+mn-lt"/>
                <a:cs typeface="Times New Roman" pitchFamily="18" charset="0"/>
              </a:defRPr>
            </a:lvl5pPr>
            <a:lvl6pPr>
              <a:lnSpc>
                <a:spcPct val="100000"/>
              </a:lnSpc>
              <a:spcBef>
                <a:spcPts val="0"/>
              </a:spcBef>
              <a:buClrTx/>
              <a:defRPr sz="700" baseline="0">
                <a:solidFill>
                  <a:schemeClr val="tx1"/>
                </a:solidFill>
                <a:latin typeface="+mn-lt"/>
                <a:cs typeface="Times New Roman" pitchFamily="18" charset="0"/>
              </a:defRPr>
            </a:lvl6pPr>
            <a:lvl7pPr>
              <a:lnSpc>
                <a:spcPct val="100000"/>
              </a:lnSpc>
              <a:spcBef>
                <a:spcPts val="0"/>
              </a:spcBef>
              <a:buClrTx/>
              <a:defRPr sz="700" baseline="0">
                <a:solidFill>
                  <a:schemeClr val="tx1"/>
                </a:solidFill>
                <a:latin typeface="+mn-lt"/>
                <a:cs typeface="Times New Roman" pitchFamily="18" charset="0"/>
              </a:defRPr>
            </a:lvl7pPr>
            <a:lvl8pPr>
              <a:lnSpc>
                <a:spcPct val="100000"/>
              </a:lnSpc>
              <a:spcBef>
                <a:spcPts val="0"/>
              </a:spcBef>
              <a:buClrTx/>
              <a:defRPr sz="700" baseline="0">
                <a:solidFill>
                  <a:schemeClr val="tx1"/>
                </a:solidFill>
                <a:latin typeface="+mn-lt"/>
                <a:cs typeface="Times New Roman" pitchFamily="18" charset="0"/>
              </a:defRPr>
            </a:lvl8pPr>
            <a:lvl9pPr>
              <a:lnSpc>
                <a:spcPct val="100000"/>
              </a:lnSpc>
              <a:spcBef>
                <a:spcPts val="0"/>
              </a:spcBef>
              <a:buClrTx/>
              <a:defRPr sz="700" baseline="0">
                <a:solidFill>
                  <a:schemeClr val="tx1"/>
                </a:solidFill>
                <a:latin typeface="+mn-lt"/>
                <a:cs typeface="Times New Roman" pitchFamily="18" charset="0"/>
              </a:defRPr>
            </a:lvl9pPr>
          </a:lstStyle>
          <a:p>
            <a:pPr lvl="0"/>
            <a:r>
              <a:rPr lang="en-US" dirty="0" smtClean="0"/>
              <a:t>Footer</a:t>
            </a:r>
            <a:endParaRPr lang="en-GB" dirty="0"/>
          </a:p>
        </p:txBody>
      </p:sp>
      <p:sp>
        <p:nvSpPr>
          <p:cNvPr id="20" name="Text Placeholder 4"/>
          <p:cNvSpPr>
            <a:spLocks noGrp="1"/>
          </p:cNvSpPr>
          <p:nvPr>
            <p:ph type="body" sz="quarter" idx="13" hasCustomPrompt="1"/>
          </p:nvPr>
        </p:nvSpPr>
        <p:spPr bwMode="gray">
          <a:xfrm>
            <a:off x="2507345" y="476672"/>
            <a:ext cx="1199468" cy="531813"/>
          </a:xfrm>
        </p:spPr>
        <p:txBody>
          <a:bodyPr>
            <a:noAutofit/>
          </a:bodyPr>
          <a:lstStyle>
            <a:lvl1pPr marL="179388" indent="-179388">
              <a:lnSpc>
                <a:spcPct val="100000"/>
              </a:lnSpc>
              <a:spcBef>
                <a:spcPts val="0"/>
              </a:spcBef>
              <a:defRPr sz="700" b="0">
                <a:solidFill>
                  <a:schemeClr val="tx1"/>
                </a:solidFill>
                <a:latin typeface="+mn-lt"/>
                <a:cs typeface="Times New Roman" pitchFamily="18" charset="0"/>
              </a:defRPr>
            </a:lvl1pPr>
            <a:lvl2pPr>
              <a:lnSpc>
                <a:spcPct val="100000"/>
              </a:lnSpc>
              <a:spcBef>
                <a:spcPts val="0"/>
              </a:spcBef>
              <a:defRPr sz="700">
                <a:solidFill>
                  <a:schemeClr val="tx1"/>
                </a:solidFill>
                <a:latin typeface="+mn-lt"/>
                <a:cs typeface="Times New Roman" pitchFamily="18" charset="0"/>
              </a:defRPr>
            </a:lvl2pPr>
            <a:lvl3pPr>
              <a:lnSpc>
                <a:spcPct val="100000"/>
              </a:lnSpc>
              <a:spcBef>
                <a:spcPts val="0"/>
              </a:spcBef>
              <a:buClrTx/>
              <a:defRPr sz="700">
                <a:solidFill>
                  <a:schemeClr val="tx1"/>
                </a:solidFill>
                <a:latin typeface="+mn-lt"/>
                <a:cs typeface="Times New Roman" pitchFamily="18" charset="0"/>
              </a:defRPr>
            </a:lvl3pPr>
            <a:lvl4pPr>
              <a:lnSpc>
                <a:spcPct val="100000"/>
              </a:lnSpc>
              <a:spcBef>
                <a:spcPts val="0"/>
              </a:spcBef>
              <a:buClrTx/>
              <a:defRPr sz="700">
                <a:solidFill>
                  <a:schemeClr val="tx1"/>
                </a:solidFill>
                <a:latin typeface="+mn-lt"/>
                <a:cs typeface="Times New Roman" pitchFamily="18" charset="0"/>
              </a:defRPr>
            </a:lvl4pPr>
            <a:lvl5pPr>
              <a:lnSpc>
                <a:spcPct val="100000"/>
              </a:lnSpc>
              <a:spcBef>
                <a:spcPts val="0"/>
              </a:spcBef>
              <a:buClrTx/>
              <a:defRPr sz="700">
                <a:solidFill>
                  <a:schemeClr val="tx1"/>
                </a:solidFill>
                <a:latin typeface="+mn-lt"/>
                <a:cs typeface="Times New Roman" pitchFamily="18" charset="0"/>
              </a:defRPr>
            </a:lvl5pPr>
            <a:lvl6pPr>
              <a:lnSpc>
                <a:spcPct val="100000"/>
              </a:lnSpc>
              <a:spcBef>
                <a:spcPts val="0"/>
              </a:spcBef>
              <a:buClrTx/>
              <a:defRPr sz="700" baseline="0">
                <a:solidFill>
                  <a:schemeClr val="tx1"/>
                </a:solidFill>
                <a:latin typeface="+mn-lt"/>
                <a:cs typeface="Times New Roman" pitchFamily="18" charset="0"/>
              </a:defRPr>
            </a:lvl6pPr>
            <a:lvl7pPr>
              <a:lnSpc>
                <a:spcPct val="100000"/>
              </a:lnSpc>
              <a:spcBef>
                <a:spcPts val="0"/>
              </a:spcBef>
              <a:buClrTx/>
              <a:defRPr sz="700" baseline="0">
                <a:solidFill>
                  <a:schemeClr val="tx1"/>
                </a:solidFill>
                <a:latin typeface="+mn-lt"/>
                <a:cs typeface="Times New Roman" pitchFamily="18" charset="0"/>
              </a:defRPr>
            </a:lvl7pPr>
            <a:lvl8pPr>
              <a:lnSpc>
                <a:spcPct val="100000"/>
              </a:lnSpc>
              <a:spcBef>
                <a:spcPts val="0"/>
              </a:spcBef>
              <a:buClrTx/>
              <a:defRPr sz="700" baseline="0">
                <a:solidFill>
                  <a:schemeClr val="tx1"/>
                </a:solidFill>
                <a:latin typeface="+mn-lt"/>
                <a:cs typeface="Times New Roman" pitchFamily="18" charset="0"/>
              </a:defRPr>
            </a:lvl8pPr>
            <a:lvl9pPr>
              <a:lnSpc>
                <a:spcPct val="100000"/>
              </a:lnSpc>
              <a:spcBef>
                <a:spcPts val="0"/>
              </a:spcBef>
              <a:buClrTx/>
              <a:defRPr sz="700" baseline="0">
                <a:solidFill>
                  <a:schemeClr val="tx1"/>
                </a:solidFill>
                <a:latin typeface="+mn-lt"/>
                <a:cs typeface="Times New Roman" pitchFamily="18" charset="0"/>
              </a:defRPr>
            </a:lvl9pPr>
          </a:lstStyle>
          <a:p>
            <a:pPr lvl="0"/>
            <a:r>
              <a:rPr lang="en-US" dirty="0" smtClean="0"/>
              <a:t>Tel	[…]</a:t>
            </a:r>
          </a:p>
          <a:p>
            <a:pPr lvl="0"/>
            <a:r>
              <a:rPr lang="en-US" dirty="0" smtClean="0"/>
              <a:t>Fax	[…]</a:t>
            </a:r>
            <a:endParaRPr lang="en-GB" dirty="0"/>
          </a:p>
        </p:txBody>
      </p:sp>
      <p:sp>
        <p:nvSpPr>
          <p:cNvPr id="19" name="Text Placeholder 4"/>
          <p:cNvSpPr>
            <a:spLocks noGrp="1"/>
          </p:cNvSpPr>
          <p:nvPr>
            <p:ph type="body" sz="quarter" idx="12" hasCustomPrompt="1"/>
          </p:nvPr>
        </p:nvSpPr>
        <p:spPr bwMode="gray">
          <a:xfrm>
            <a:off x="1115616" y="476672"/>
            <a:ext cx="1368152" cy="531813"/>
          </a:xfrm>
        </p:spPr>
        <p:txBody>
          <a:bodyPr>
            <a:noAutofit/>
          </a:bodyPr>
          <a:lstStyle>
            <a:lvl1pPr>
              <a:lnSpc>
                <a:spcPct val="100000"/>
              </a:lnSpc>
              <a:spcBef>
                <a:spcPts val="0"/>
              </a:spcBef>
              <a:defRPr sz="700">
                <a:solidFill>
                  <a:schemeClr val="tx1"/>
                </a:solidFill>
                <a:latin typeface="+mn-lt"/>
                <a:cs typeface="Times New Roman" pitchFamily="18" charset="0"/>
              </a:defRPr>
            </a:lvl1pPr>
            <a:lvl2pPr>
              <a:lnSpc>
                <a:spcPct val="100000"/>
              </a:lnSpc>
              <a:spcBef>
                <a:spcPts val="0"/>
              </a:spcBef>
              <a:defRPr sz="700">
                <a:solidFill>
                  <a:schemeClr val="tx1"/>
                </a:solidFill>
                <a:latin typeface="+mn-lt"/>
                <a:cs typeface="Times New Roman" pitchFamily="18" charset="0"/>
              </a:defRPr>
            </a:lvl2pPr>
            <a:lvl3pPr>
              <a:lnSpc>
                <a:spcPct val="100000"/>
              </a:lnSpc>
              <a:spcBef>
                <a:spcPts val="0"/>
              </a:spcBef>
              <a:buClrTx/>
              <a:defRPr sz="700">
                <a:solidFill>
                  <a:schemeClr val="tx1"/>
                </a:solidFill>
                <a:latin typeface="+mn-lt"/>
                <a:cs typeface="Times New Roman" pitchFamily="18" charset="0"/>
              </a:defRPr>
            </a:lvl3pPr>
            <a:lvl4pPr>
              <a:lnSpc>
                <a:spcPct val="100000"/>
              </a:lnSpc>
              <a:spcBef>
                <a:spcPts val="0"/>
              </a:spcBef>
              <a:buClrTx/>
              <a:defRPr sz="700">
                <a:solidFill>
                  <a:schemeClr val="tx1"/>
                </a:solidFill>
                <a:latin typeface="+mn-lt"/>
                <a:cs typeface="Times New Roman" pitchFamily="18" charset="0"/>
              </a:defRPr>
            </a:lvl4pPr>
            <a:lvl5pPr>
              <a:lnSpc>
                <a:spcPct val="100000"/>
              </a:lnSpc>
              <a:spcBef>
                <a:spcPts val="0"/>
              </a:spcBef>
              <a:buClrTx/>
              <a:defRPr sz="700">
                <a:solidFill>
                  <a:schemeClr val="tx1"/>
                </a:solidFill>
                <a:latin typeface="+mn-lt"/>
                <a:cs typeface="Times New Roman" pitchFamily="18" charset="0"/>
              </a:defRPr>
            </a:lvl5pPr>
            <a:lvl6pPr>
              <a:lnSpc>
                <a:spcPct val="100000"/>
              </a:lnSpc>
              <a:spcBef>
                <a:spcPts val="0"/>
              </a:spcBef>
              <a:buClrTx/>
              <a:defRPr sz="700" baseline="0">
                <a:solidFill>
                  <a:schemeClr val="tx1"/>
                </a:solidFill>
                <a:latin typeface="+mn-lt"/>
                <a:cs typeface="Times New Roman" pitchFamily="18" charset="0"/>
              </a:defRPr>
            </a:lvl6pPr>
            <a:lvl7pPr>
              <a:lnSpc>
                <a:spcPct val="100000"/>
              </a:lnSpc>
              <a:spcBef>
                <a:spcPts val="0"/>
              </a:spcBef>
              <a:buClrTx/>
              <a:defRPr sz="700" baseline="0">
                <a:solidFill>
                  <a:schemeClr val="tx1"/>
                </a:solidFill>
                <a:latin typeface="+mn-lt"/>
                <a:cs typeface="Times New Roman" pitchFamily="18" charset="0"/>
              </a:defRPr>
            </a:lvl7pPr>
            <a:lvl8pPr>
              <a:lnSpc>
                <a:spcPct val="100000"/>
              </a:lnSpc>
              <a:spcBef>
                <a:spcPts val="0"/>
              </a:spcBef>
              <a:buClrTx/>
              <a:defRPr sz="700" baseline="0">
                <a:solidFill>
                  <a:schemeClr val="tx1"/>
                </a:solidFill>
                <a:latin typeface="+mn-lt"/>
                <a:cs typeface="Times New Roman" pitchFamily="18" charset="0"/>
              </a:defRPr>
            </a:lvl8pPr>
            <a:lvl9pPr>
              <a:lnSpc>
                <a:spcPct val="100000"/>
              </a:lnSpc>
              <a:spcBef>
                <a:spcPts val="0"/>
              </a:spcBef>
              <a:buClrTx/>
              <a:defRPr sz="700" baseline="0">
                <a:solidFill>
                  <a:schemeClr val="tx1"/>
                </a:solidFill>
                <a:latin typeface="+mn-lt"/>
                <a:cs typeface="Times New Roman" pitchFamily="18" charset="0"/>
              </a:defRPr>
            </a:lvl9pPr>
          </a:lstStyle>
          <a:p>
            <a:pPr lvl="0"/>
            <a:r>
              <a:rPr lang="en-US" dirty="0" smtClean="0"/>
              <a:t>KPMG address</a:t>
            </a:r>
            <a:endParaRPr lang="en-GB" dirty="0"/>
          </a:p>
        </p:txBody>
      </p:sp>
      <p:sp>
        <p:nvSpPr>
          <p:cNvPr id="5" name="Text Placeholder 4"/>
          <p:cNvSpPr>
            <a:spLocks noGrp="1"/>
          </p:cNvSpPr>
          <p:nvPr>
            <p:ph type="body" sz="quarter" idx="10"/>
          </p:nvPr>
        </p:nvSpPr>
        <p:spPr bwMode="gray">
          <a:xfrm>
            <a:off x="251984" y="1196975"/>
            <a:ext cx="4176000" cy="4895850"/>
          </a:xfrm>
        </p:spPr>
        <p:txBody>
          <a:bodyPr>
            <a:noAutofit/>
          </a:bodyPr>
          <a:lstStyle>
            <a:lvl1pPr>
              <a:defRPr>
                <a:solidFill>
                  <a:schemeClr val="tx1"/>
                </a:solidFill>
                <a:latin typeface="Times New Roman" pitchFamily="18" charset="0"/>
                <a:cs typeface="Times New Roman" pitchFamily="18" charset="0"/>
              </a:defRPr>
            </a:lvl1pPr>
            <a:lvl2pPr>
              <a:defRPr>
                <a:solidFill>
                  <a:schemeClr val="tx1"/>
                </a:solidFill>
                <a:latin typeface="Times New Roman" pitchFamily="18" charset="0"/>
                <a:cs typeface="Times New Roman" pitchFamily="18" charset="0"/>
              </a:defRPr>
            </a:lvl2pPr>
            <a:lvl3pPr>
              <a:buClrTx/>
              <a:defRPr>
                <a:solidFill>
                  <a:schemeClr val="tx1"/>
                </a:solidFill>
                <a:latin typeface="Times New Roman" pitchFamily="18" charset="0"/>
                <a:cs typeface="Times New Roman" pitchFamily="18" charset="0"/>
              </a:defRPr>
            </a:lvl3pPr>
            <a:lvl4pPr>
              <a:buClrTx/>
              <a:defRPr>
                <a:solidFill>
                  <a:schemeClr val="tx1"/>
                </a:solidFill>
                <a:latin typeface="Times New Roman" pitchFamily="18" charset="0"/>
                <a:cs typeface="Times New Roman" pitchFamily="18" charset="0"/>
              </a:defRPr>
            </a:lvl4pPr>
            <a:lvl5pPr>
              <a:buClrTx/>
              <a:defRPr>
                <a:solidFill>
                  <a:schemeClr val="tx1"/>
                </a:solidFill>
                <a:latin typeface="Times New Roman" pitchFamily="18" charset="0"/>
                <a:cs typeface="Times New Roman" pitchFamily="18" charset="0"/>
              </a:defRPr>
            </a:lvl5pPr>
            <a:lvl6pPr>
              <a:buClrTx/>
              <a:defRPr baseline="0">
                <a:solidFill>
                  <a:schemeClr val="tx1"/>
                </a:solidFill>
                <a:latin typeface="Times New Roman" pitchFamily="18" charset="0"/>
                <a:cs typeface="Times New Roman" pitchFamily="18" charset="0"/>
              </a:defRPr>
            </a:lvl6pPr>
            <a:lvl7pPr>
              <a:buClrTx/>
              <a:defRPr baseline="0">
                <a:solidFill>
                  <a:schemeClr val="tx1"/>
                </a:solidFill>
                <a:latin typeface="Times New Roman" pitchFamily="18" charset="0"/>
                <a:cs typeface="Times New Roman" pitchFamily="18" charset="0"/>
              </a:defRPr>
            </a:lvl7pPr>
            <a:lvl8pPr>
              <a:buClrTx/>
              <a:defRPr baseline="0">
                <a:solidFill>
                  <a:schemeClr val="tx1"/>
                </a:solidFill>
                <a:latin typeface="Times New Roman" pitchFamily="18" charset="0"/>
                <a:cs typeface="Times New Roman" pitchFamily="18" charset="0"/>
              </a:defRPr>
            </a:lvl8pPr>
            <a:lvl9pPr>
              <a:buClrTx/>
              <a:defRPr baseline="0">
                <a:solidFill>
                  <a:schemeClr val="tx1"/>
                </a:solidFill>
                <a:latin typeface="Times New Roman" pitchFamily="18" charset="0"/>
                <a:cs typeface="Times New Roman" pitchFamily="18" charset="0"/>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4" name="Text Placeholder 4"/>
          <p:cNvSpPr>
            <a:spLocks noGrp="1"/>
          </p:cNvSpPr>
          <p:nvPr>
            <p:ph type="body" sz="quarter" idx="11"/>
          </p:nvPr>
        </p:nvSpPr>
        <p:spPr bwMode="gray">
          <a:xfrm>
            <a:off x="4716480" y="1196975"/>
            <a:ext cx="4176000" cy="4895850"/>
          </a:xfrm>
          <a:ln>
            <a:solidFill>
              <a:srgbClr val="747678"/>
            </a:solidFill>
          </a:ln>
        </p:spPr>
        <p:txBody>
          <a:bodyPr lIns="72000" tIns="72000" rIns="72000" bIns="72000">
            <a:noAutofit/>
          </a:bodyPr>
          <a:lstStyle>
            <a:lvl1pPr>
              <a:lnSpc>
                <a:spcPct val="100000"/>
              </a:lnSpc>
              <a:spcBef>
                <a:spcPts val="336"/>
              </a:spcBef>
              <a:defRPr sz="700">
                <a:solidFill>
                  <a:srgbClr val="00338D"/>
                </a:solidFill>
                <a:latin typeface="+mn-lt"/>
                <a:cs typeface="Times New Roman" pitchFamily="18" charset="0"/>
              </a:defRPr>
            </a:lvl1pPr>
            <a:lvl2pPr>
              <a:lnSpc>
                <a:spcPct val="100000"/>
              </a:lnSpc>
              <a:spcBef>
                <a:spcPts val="336"/>
              </a:spcBef>
              <a:defRPr sz="700">
                <a:solidFill>
                  <a:srgbClr val="00338D"/>
                </a:solidFill>
                <a:latin typeface="+mn-lt"/>
                <a:cs typeface="Times New Roman" pitchFamily="18" charset="0"/>
              </a:defRPr>
            </a:lvl2pPr>
            <a:lvl3pPr>
              <a:lnSpc>
                <a:spcPct val="100000"/>
              </a:lnSpc>
              <a:spcBef>
                <a:spcPts val="336"/>
              </a:spcBef>
              <a:buClrTx/>
              <a:defRPr sz="700">
                <a:solidFill>
                  <a:srgbClr val="00338D"/>
                </a:solidFill>
                <a:latin typeface="+mn-lt"/>
                <a:cs typeface="Times New Roman" pitchFamily="18" charset="0"/>
              </a:defRPr>
            </a:lvl3pPr>
            <a:lvl4pPr>
              <a:lnSpc>
                <a:spcPct val="100000"/>
              </a:lnSpc>
              <a:spcBef>
                <a:spcPts val="336"/>
              </a:spcBef>
              <a:buClrTx/>
              <a:defRPr sz="700">
                <a:solidFill>
                  <a:srgbClr val="00338D"/>
                </a:solidFill>
                <a:latin typeface="+mn-lt"/>
                <a:cs typeface="Times New Roman" pitchFamily="18" charset="0"/>
              </a:defRPr>
            </a:lvl4pPr>
            <a:lvl5pPr>
              <a:lnSpc>
                <a:spcPct val="100000"/>
              </a:lnSpc>
              <a:spcBef>
                <a:spcPts val="336"/>
              </a:spcBef>
              <a:buClrTx/>
              <a:defRPr sz="700">
                <a:solidFill>
                  <a:srgbClr val="00338D"/>
                </a:solidFill>
                <a:latin typeface="+mn-lt"/>
                <a:cs typeface="Times New Roman" pitchFamily="18" charset="0"/>
              </a:defRPr>
            </a:lvl5pPr>
            <a:lvl6pPr>
              <a:lnSpc>
                <a:spcPct val="100000"/>
              </a:lnSpc>
              <a:spcBef>
                <a:spcPts val="336"/>
              </a:spcBef>
              <a:buClrTx/>
              <a:defRPr sz="700" baseline="0">
                <a:solidFill>
                  <a:srgbClr val="00338D"/>
                </a:solidFill>
                <a:latin typeface="+mn-lt"/>
                <a:cs typeface="Times New Roman" pitchFamily="18" charset="0"/>
              </a:defRPr>
            </a:lvl6pPr>
            <a:lvl7pPr>
              <a:lnSpc>
                <a:spcPct val="100000"/>
              </a:lnSpc>
              <a:spcBef>
                <a:spcPts val="336"/>
              </a:spcBef>
              <a:buClrTx/>
              <a:defRPr sz="700" baseline="0">
                <a:solidFill>
                  <a:srgbClr val="00338D"/>
                </a:solidFill>
                <a:latin typeface="+mn-lt"/>
                <a:cs typeface="Times New Roman" pitchFamily="18" charset="0"/>
              </a:defRPr>
            </a:lvl7pPr>
            <a:lvl8pPr>
              <a:lnSpc>
                <a:spcPct val="100000"/>
              </a:lnSpc>
              <a:spcBef>
                <a:spcPts val="336"/>
              </a:spcBef>
              <a:buClrTx/>
              <a:defRPr sz="700" baseline="0">
                <a:solidFill>
                  <a:srgbClr val="00338D"/>
                </a:solidFill>
                <a:latin typeface="+mn-lt"/>
                <a:cs typeface="Times New Roman" pitchFamily="18" charset="0"/>
              </a:defRPr>
            </a:lvl8pPr>
            <a:lvl9pPr>
              <a:lnSpc>
                <a:spcPct val="100000"/>
              </a:lnSpc>
              <a:spcBef>
                <a:spcPts val="336"/>
              </a:spcBef>
              <a:buClrTx/>
              <a:defRPr sz="700" baseline="0">
                <a:solidFill>
                  <a:srgbClr val="00338D"/>
                </a:solidFill>
                <a:latin typeface="+mn-lt"/>
                <a:cs typeface="Times New Roman" pitchFamily="18" charset="0"/>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grpSp>
        <p:nvGrpSpPr>
          <p:cNvPr id="2" name="Group 11"/>
          <p:cNvGrpSpPr>
            <a:grpSpLocks noChangeAspect="1"/>
          </p:cNvGrpSpPr>
          <p:nvPr userDrawn="1"/>
        </p:nvGrpSpPr>
        <p:grpSpPr>
          <a:xfrm>
            <a:off x="176213" y="0"/>
            <a:ext cx="963612" cy="700088"/>
            <a:chOff x="176213" y="0"/>
            <a:chExt cx="963612" cy="700088"/>
          </a:xfrm>
        </p:grpSpPr>
        <p:sp>
          <p:nvSpPr>
            <p:cNvPr id="18" name="Freeform 13"/>
            <p:cNvSpPr>
              <a:spLocks noEditPoints="1"/>
            </p:cNvSpPr>
            <p:nvPr userDrawn="1"/>
          </p:nvSpPr>
          <p:spPr bwMode="auto">
            <a:xfrm>
              <a:off x="176213" y="0"/>
              <a:ext cx="963612" cy="700088"/>
            </a:xfrm>
            <a:custGeom>
              <a:avLst/>
              <a:gdLst/>
              <a:ahLst/>
              <a:cxnLst>
                <a:cxn ang="0">
                  <a:pos x="96" y="136"/>
                </a:cxn>
                <a:cxn ang="0">
                  <a:pos x="0" y="136"/>
                </a:cxn>
                <a:cxn ang="0">
                  <a:pos x="0" y="0"/>
                </a:cxn>
                <a:cxn ang="0">
                  <a:pos x="96" y="0"/>
                </a:cxn>
                <a:cxn ang="0">
                  <a:pos x="96" y="136"/>
                </a:cxn>
                <a:cxn ang="0">
                  <a:pos x="607" y="0"/>
                </a:cxn>
                <a:cxn ang="0">
                  <a:pos x="511" y="0"/>
                </a:cxn>
                <a:cxn ang="0">
                  <a:pos x="511" y="136"/>
                </a:cxn>
                <a:cxn ang="0">
                  <a:pos x="607" y="136"/>
                </a:cxn>
                <a:cxn ang="0">
                  <a:pos x="607" y="0"/>
                </a:cxn>
                <a:cxn ang="0">
                  <a:pos x="96" y="441"/>
                </a:cxn>
                <a:cxn ang="0">
                  <a:pos x="0" y="441"/>
                </a:cxn>
                <a:cxn ang="0">
                  <a:pos x="0" y="305"/>
                </a:cxn>
                <a:cxn ang="0">
                  <a:pos x="96" y="305"/>
                </a:cxn>
                <a:cxn ang="0">
                  <a:pos x="96" y="441"/>
                </a:cxn>
                <a:cxn ang="0">
                  <a:pos x="607" y="305"/>
                </a:cxn>
                <a:cxn ang="0">
                  <a:pos x="511" y="305"/>
                </a:cxn>
                <a:cxn ang="0">
                  <a:pos x="511" y="441"/>
                </a:cxn>
                <a:cxn ang="0">
                  <a:pos x="607" y="441"/>
                </a:cxn>
                <a:cxn ang="0">
                  <a:pos x="607" y="305"/>
                </a:cxn>
              </a:cxnLst>
              <a:rect l="0" t="0" r="r" b="b"/>
              <a:pathLst>
                <a:path w="607" h="441">
                  <a:moveTo>
                    <a:pt x="96" y="136"/>
                  </a:moveTo>
                  <a:lnTo>
                    <a:pt x="0" y="136"/>
                  </a:lnTo>
                  <a:lnTo>
                    <a:pt x="0" y="0"/>
                  </a:lnTo>
                  <a:lnTo>
                    <a:pt x="96" y="0"/>
                  </a:lnTo>
                  <a:lnTo>
                    <a:pt x="96" y="136"/>
                  </a:lnTo>
                  <a:close/>
                  <a:moveTo>
                    <a:pt x="607" y="0"/>
                  </a:moveTo>
                  <a:lnTo>
                    <a:pt x="511" y="0"/>
                  </a:lnTo>
                  <a:lnTo>
                    <a:pt x="511" y="136"/>
                  </a:lnTo>
                  <a:lnTo>
                    <a:pt x="607" y="136"/>
                  </a:lnTo>
                  <a:lnTo>
                    <a:pt x="607" y="0"/>
                  </a:lnTo>
                  <a:close/>
                  <a:moveTo>
                    <a:pt x="96" y="441"/>
                  </a:moveTo>
                  <a:lnTo>
                    <a:pt x="0" y="441"/>
                  </a:lnTo>
                  <a:lnTo>
                    <a:pt x="0" y="305"/>
                  </a:lnTo>
                  <a:lnTo>
                    <a:pt x="96" y="305"/>
                  </a:lnTo>
                  <a:lnTo>
                    <a:pt x="96" y="441"/>
                  </a:lnTo>
                  <a:close/>
                  <a:moveTo>
                    <a:pt x="607" y="305"/>
                  </a:moveTo>
                  <a:lnTo>
                    <a:pt x="511" y="305"/>
                  </a:lnTo>
                  <a:lnTo>
                    <a:pt x="511" y="441"/>
                  </a:lnTo>
                  <a:lnTo>
                    <a:pt x="607" y="441"/>
                  </a:lnTo>
                  <a:lnTo>
                    <a:pt x="607" y="305"/>
                  </a:ln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en-GB" dirty="0"/>
            </a:p>
          </p:txBody>
        </p:sp>
        <p:grpSp>
          <p:nvGrpSpPr>
            <p:cNvPr id="3" name="Group 24"/>
            <p:cNvGrpSpPr/>
            <p:nvPr userDrawn="1"/>
          </p:nvGrpSpPr>
          <p:grpSpPr>
            <a:xfrm>
              <a:off x="287338" y="215900"/>
              <a:ext cx="700087" cy="273050"/>
              <a:chOff x="287338" y="215900"/>
              <a:chExt cx="700087" cy="273050"/>
            </a:xfrm>
          </p:grpSpPr>
          <p:sp>
            <p:nvSpPr>
              <p:cNvPr id="24" name="Freeform 12"/>
              <p:cNvSpPr>
                <a:spLocks/>
              </p:cNvSpPr>
              <p:nvPr userDrawn="1"/>
            </p:nvSpPr>
            <p:spPr bwMode="auto">
              <a:xfrm>
                <a:off x="292100" y="219075"/>
                <a:ext cx="692150" cy="266700"/>
              </a:xfrm>
              <a:custGeom>
                <a:avLst/>
                <a:gdLst/>
                <a:ahLst/>
                <a:cxnLst>
                  <a:cxn ang="0">
                    <a:pos x="2214" y="1047"/>
                  </a:cxn>
                  <a:cxn ang="0">
                    <a:pos x="2013" y="956"/>
                  </a:cxn>
                  <a:cxn ang="0">
                    <a:pos x="1975" y="833"/>
                  </a:cxn>
                  <a:cxn ang="0">
                    <a:pos x="1975" y="822"/>
                  </a:cxn>
                  <a:cxn ang="0">
                    <a:pos x="1888" y="822"/>
                  </a:cxn>
                  <a:cxn ang="0">
                    <a:pos x="1835" y="1032"/>
                  </a:cxn>
                  <a:cxn ang="0">
                    <a:pos x="1680" y="1032"/>
                  </a:cxn>
                  <a:cxn ang="0">
                    <a:pos x="1742" y="822"/>
                  </a:cxn>
                  <a:cxn ang="0">
                    <a:pos x="1666" y="822"/>
                  </a:cxn>
                  <a:cxn ang="0">
                    <a:pos x="1530" y="1032"/>
                  </a:cxn>
                  <a:cxn ang="0">
                    <a:pos x="1403" y="1032"/>
                  </a:cxn>
                  <a:cxn ang="0">
                    <a:pos x="1390" y="822"/>
                  </a:cxn>
                  <a:cxn ang="0">
                    <a:pos x="1309" y="822"/>
                  </a:cxn>
                  <a:cxn ang="0">
                    <a:pos x="1247" y="1032"/>
                  </a:cxn>
                  <a:cxn ang="0">
                    <a:pos x="1117" y="1032"/>
                  </a:cxn>
                  <a:cxn ang="0">
                    <a:pos x="1181" y="822"/>
                  </a:cxn>
                  <a:cxn ang="0">
                    <a:pos x="808" y="822"/>
                  </a:cxn>
                  <a:cxn ang="0">
                    <a:pos x="815" y="829"/>
                  </a:cxn>
                  <a:cxn ang="0">
                    <a:pos x="798" y="826"/>
                  </a:cxn>
                  <a:cxn ang="0">
                    <a:pos x="737" y="1033"/>
                  </a:cxn>
                  <a:cxn ang="0">
                    <a:pos x="596" y="1033"/>
                  </a:cxn>
                  <a:cxn ang="0">
                    <a:pos x="660" y="822"/>
                  </a:cxn>
                  <a:cxn ang="0">
                    <a:pos x="431" y="822"/>
                  </a:cxn>
                  <a:cxn ang="0">
                    <a:pos x="530" y="1033"/>
                  </a:cxn>
                  <a:cxn ang="0">
                    <a:pos x="366" y="1033"/>
                  </a:cxn>
                  <a:cxn ang="0">
                    <a:pos x="281" y="822"/>
                  </a:cxn>
                  <a:cxn ang="0">
                    <a:pos x="215" y="822"/>
                  </a:cxn>
                  <a:cxn ang="0">
                    <a:pos x="213" y="830"/>
                  </a:cxn>
                  <a:cxn ang="0">
                    <a:pos x="154" y="1023"/>
                  </a:cxn>
                  <a:cxn ang="0">
                    <a:pos x="152" y="1033"/>
                  </a:cxn>
                  <a:cxn ang="0">
                    <a:pos x="0" y="1033"/>
                  </a:cxn>
                  <a:cxn ang="0">
                    <a:pos x="156" y="514"/>
                  </a:cxn>
                  <a:cxn ang="0">
                    <a:pos x="156" y="0"/>
                  </a:cxn>
                  <a:cxn ang="0">
                    <a:pos x="734" y="0"/>
                  </a:cxn>
                  <a:cxn ang="0">
                    <a:pos x="734" y="506"/>
                  </a:cxn>
                  <a:cxn ang="0">
                    <a:pos x="754" y="509"/>
                  </a:cxn>
                  <a:cxn ang="0">
                    <a:pos x="775" y="440"/>
                  </a:cxn>
                  <a:cxn ang="0">
                    <a:pos x="819" y="440"/>
                  </a:cxn>
                  <a:cxn ang="0">
                    <a:pos x="819" y="0"/>
                  </a:cxn>
                  <a:cxn ang="0">
                    <a:pos x="1395" y="0"/>
                  </a:cxn>
                  <a:cxn ang="0">
                    <a:pos x="1395" y="440"/>
                  </a:cxn>
                  <a:cxn ang="0">
                    <a:pos x="1480" y="440"/>
                  </a:cxn>
                  <a:cxn ang="0">
                    <a:pos x="1480" y="0"/>
                  </a:cxn>
                  <a:cxn ang="0">
                    <a:pos x="2056" y="0"/>
                  </a:cxn>
                  <a:cxn ang="0">
                    <a:pos x="2056" y="578"/>
                  </a:cxn>
                  <a:cxn ang="0">
                    <a:pos x="2075" y="553"/>
                  </a:cxn>
                  <a:cxn ang="0">
                    <a:pos x="2137" y="488"/>
                  </a:cxn>
                  <a:cxn ang="0">
                    <a:pos x="2141" y="485"/>
                  </a:cxn>
                  <a:cxn ang="0">
                    <a:pos x="2141" y="0"/>
                  </a:cxn>
                  <a:cxn ang="0">
                    <a:pos x="2717" y="0"/>
                  </a:cxn>
                  <a:cxn ang="0">
                    <a:pos x="2717" y="822"/>
                  </a:cxn>
                  <a:cxn ang="0">
                    <a:pos x="2494" y="822"/>
                  </a:cxn>
                  <a:cxn ang="0">
                    <a:pos x="2439" y="1019"/>
                  </a:cxn>
                  <a:cxn ang="0">
                    <a:pos x="2434" y="1021"/>
                  </a:cxn>
                  <a:cxn ang="0">
                    <a:pos x="2214" y="1047"/>
                  </a:cxn>
                </a:cxnLst>
                <a:rect l="0" t="0" r="r" b="b"/>
                <a:pathLst>
                  <a:path w="2717" h="1047">
                    <a:moveTo>
                      <a:pt x="2214" y="1047"/>
                    </a:moveTo>
                    <a:cubicBezTo>
                      <a:pt x="2150" y="1047"/>
                      <a:pt x="2063" y="1023"/>
                      <a:pt x="2013" y="956"/>
                    </a:cubicBezTo>
                    <a:cubicBezTo>
                      <a:pt x="1996" y="933"/>
                      <a:pt x="1975" y="893"/>
                      <a:pt x="1975" y="833"/>
                    </a:cubicBezTo>
                    <a:cubicBezTo>
                      <a:pt x="1975" y="822"/>
                      <a:pt x="1975" y="822"/>
                      <a:pt x="1975" y="822"/>
                    </a:cubicBezTo>
                    <a:cubicBezTo>
                      <a:pt x="1888" y="822"/>
                      <a:pt x="1888" y="822"/>
                      <a:pt x="1888" y="822"/>
                    </a:cubicBezTo>
                    <a:cubicBezTo>
                      <a:pt x="1835" y="1032"/>
                      <a:pt x="1835" y="1032"/>
                      <a:pt x="1835" y="1032"/>
                    </a:cubicBezTo>
                    <a:cubicBezTo>
                      <a:pt x="1680" y="1032"/>
                      <a:pt x="1680" y="1032"/>
                      <a:pt x="1680" y="1032"/>
                    </a:cubicBezTo>
                    <a:cubicBezTo>
                      <a:pt x="1742" y="822"/>
                      <a:pt x="1742" y="822"/>
                      <a:pt x="1742" y="822"/>
                    </a:cubicBezTo>
                    <a:cubicBezTo>
                      <a:pt x="1666" y="822"/>
                      <a:pt x="1666" y="822"/>
                      <a:pt x="1666" y="822"/>
                    </a:cubicBezTo>
                    <a:cubicBezTo>
                      <a:pt x="1530" y="1032"/>
                      <a:pt x="1530" y="1032"/>
                      <a:pt x="1530" y="1032"/>
                    </a:cubicBezTo>
                    <a:cubicBezTo>
                      <a:pt x="1403" y="1032"/>
                      <a:pt x="1403" y="1032"/>
                      <a:pt x="1403" y="1032"/>
                    </a:cubicBezTo>
                    <a:cubicBezTo>
                      <a:pt x="1390" y="822"/>
                      <a:pt x="1390" y="822"/>
                      <a:pt x="1390" y="822"/>
                    </a:cubicBezTo>
                    <a:cubicBezTo>
                      <a:pt x="1309" y="822"/>
                      <a:pt x="1309" y="822"/>
                      <a:pt x="1309" y="822"/>
                    </a:cubicBezTo>
                    <a:cubicBezTo>
                      <a:pt x="1247" y="1032"/>
                      <a:pt x="1247" y="1032"/>
                      <a:pt x="1247" y="1032"/>
                    </a:cubicBezTo>
                    <a:cubicBezTo>
                      <a:pt x="1117" y="1032"/>
                      <a:pt x="1117" y="1032"/>
                      <a:pt x="1117" y="1032"/>
                    </a:cubicBezTo>
                    <a:cubicBezTo>
                      <a:pt x="1181" y="822"/>
                      <a:pt x="1181" y="822"/>
                      <a:pt x="1181" y="822"/>
                    </a:cubicBezTo>
                    <a:cubicBezTo>
                      <a:pt x="808" y="822"/>
                      <a:pt x="808" y="822"/>
                      <a:pt x="808" y="822"/>
                    </a:cubicBezTo>
                    <a:cubicBezTo>
                      <a:pt x="815" y="829"/>
                      <a:pt x="815" y="829"/>
                      <a:pt x="815" y="829"/>
                    </a:cubicBezTo>
                    <a:cubicBezTo>
                      <a:pt x="798" y="826"/>
                      <a:pt x="798" y="826"/>
                      <a:pt x="798" y="826"/>
                    </a:cubicBezTo>
                    <a:cubicBezTo>
                      <a:pt x="737" y="1033"/>
                      <a:pt x="737" y="1033"/>
                      <a:pt x="737" y="1033"/>
                    </a:cubicBezTo>
                    <a:cubicBezTo>
                      <a:pt x="596" y="1033"/>
                      <a:pt x="596" y="1033"/>
                      <a:pt x="596" y="1033"/>
                    </a:cubicBezTo>
                    <a:cubicBezTo>
                      <a:pt x="660" y="822"/>
                      <a:pt x="660" y="822"/>
                      <a:pt x="660" y="822"/>
                    </a:cubicBezTo>
                    <a:cubicBezTo>
                      <a:pt x="431" y="822"/>
                      <a:pt x="431" y="822"/>
                      <a:pt x="431" y="822"/>
                    </a:cubicBezTo>
                    <a:cubicBezTo>
                      <a:pt x="530" y="1033"/>
                      <a:pt x="530" y="1033"/>
                      <a:pt x="530" y="1033"/>
                    </a:cubicBezTo>
                    <a:cubicBezTo>
                      <a:pt x="366" y="1033"/>
                      <a:pt x="366" y="1033"/>
                      <a:pt x="366" y="1033"/>
                    </a:cubicBezTo>
                    <a:cubicBezTo>
                      <a:pt x="281" y="822"/>
                      <a:pt x="281" y="822"/>
                      <a:pt x="281" y="822"/>
                    </a:cubicBezTo>
                    <a:cubicBezTo>
                      <a:pt x="215" y="822"/>
                      <a:pt x="215" y="822"/>
                      <a:pt x="215" y="822"/>
                    </a:cubicBezTo>
                    <a:cubicBezTo>
                      <a:pt x="213" y="830"/>
                      <a:pt x="213" y="830"/>
                      <a:pt x="213" y="830"/>
                    </a:cubicBezTo>
                    <a:cubicBezTo>
                      <a:pt x="181" y="933"/>
                      <a:pt x="156" y="1017"/>
                      <a:pt x="154" y="1023"/>
                    </a:cubicBezTo>
                    <a:cubicBezTo>
                      <a:pt x="152" y="1033"/>
                      <a:pt x="152" y="1033"/>
                      <a:pt x="152" y="1033"/>
                    </a:cubicBezTo>
                    <a:cubicBezTo>
                      <a:pt x="0" y="1033"/>
                      <a:pt x="0" y="1033"/>
                      <a:pt x="0" y="1033"/>
                    </a:cubicBezTo>
                    <a:cubicBezTo>
                      <a:pt x="156" y="514"/>
                      <a:pt x="156" y="514"/>
                      <a:pt x="156" y="514"/>
                    </a:cubicBezTo>
                    <a:cubicBezTo>
                      <a:pt x="156" y="0"/>
                      <a:pt x="156" y="0"/>
                      <a:pt x="156" y="0"/>
                    </a:cubicBezTo>
                    <a:cubicBezTo>
                      <a:pt x="734" y="0"/>
                      <a:pt x="734" y="0"/>
                      <a:pt x="734" y="0"/>
                    </a:cubicBezTo>
                    <a:cubicBezTo>
                      <a:pt x="734" y="506"/>
                      <a:pt x="734" y="506"/>
                      <a:pt x="734" y="506"/>
                    </a:cubicBezTo>
                    <a:cubicBezTo>
                      <a:pt x="754" y="509"/>
                      <a:pt x="754" y="509"/>
                      <a:pt x="754" y="509"/>
                    </a:cubicBezTo>
                    <a:cubicBezTo>
                      <a:pt x="775" y="440"/>
                      <a:pt x="775" y="440"/>
                      <a:pt x="775" y="440"/>
                    </a:cubicBezTo>
                    <a:cubicBezTo>
                      <a:pt x="819" y="440"/>
                      <a:pt x="819" y="440"/>
                      <a:pt x="819" y="440"/>
                    </a:cubicBezTo>
                    <a:cubicBezTo>
                      <a:pt x="819" y="0"/>
                      <a:pt x="819" y="0"/>
                      <a:pt x="819" y="0"/>
                    </a:cubicBezTo>
                    <a:cubicBezTo>
                      <a:pt x="1395" y="0"/>
                      <a:pt x="1395" y="0"/>
                      <a:pt x="1395" y="0"/>
                    </a:cubicBezTo>
                    <a:cubicBezTo>
                      <a:pt x="1395" y="440"/>
                      <a:pt x="1395" y="440"/>
                      <a:pt x="1395" y="440"/>
                    </a:cubicBezTo>
                    <a:cubicBezTo>
                      <a:pt x="1480" y="440"/>
                      <a:pt x="1480" y="440"/>
                      <a:pt x="1480" y="440"/>
                    </a:cubicBezTo>
                    <a:cubicBezTo>
                      <a:pt x="1480" y="0"/>
                      <a:pt x="1480" y="0"/>
                      <a:pt x="1480" y="0"/>
                    </a:cubicBezTo>
                    <a:cubicBezTo>
                      <a:pt x="2056" y="0"/>
                      <a:pt x="2056" y="0"/>
                      <a:pt x="2056" y="0"/>
                    </a:cubicBezTo>
                    <a:cubicBezTo>
                      <a:pt x="2056" y="578"/>
                      <a:pt x="2056" y="578"/>
                      <a:pt x="2056" y="578"/>
                    </a:cubicBezTo>
                    <a:cubicBezTo>
                      <a:pt x="2075" y="553"/>
                      <a:pt x="2075" y="553"/>
                      <a:pt x="2075" y="553"/>
                    </a:cubicBezTo>
                    <a:cubicBezTo>
                      <a:pt x="2094" y="527"/>
                      <a:pt x="2115" y="505"/>
                      <a:pt x="2137" y="488"/>
                    </a:cubicBezTo>
                    <a:cubicBezTo>
                      <a:pt x="2141" y="485"/>
                      <a:pt x="2141" y="485"/>
                      <a:pt x="2141" y="485"/>
                    </a:cubicBezTo>
                    <a:cubicBezTo>
                      <a:pt x="2141" y="0"/>
                      <a:pt x="2141" y="0"/>
                      <a:pt x="2141" y="0"/>
                    </a:cubicBezTo>
                    <a:cubicBezTo>
                      <a:pt x="2717" y="0"/>
                      <a:pt x="2717" y="0"/>
                      <a:pt x="2717" y="0"/>
                    </a:cubicBezTo>
                    <a:cubicBezTo>
                      <a:pt x="2717" y="822"/>
                      <a:pt x="2717" y="822"/>
                      <a:pt x="2717" y="822"/>
                    </a:cubicBezTo>
                    <a:cubicBezTo>
                      <a:pt x="2494" y="822"/>
                      <a:pt x="2494" y="822"/>
                      <a:pt x="2494" y="822"/>
                    </a:cubicBezTo>
                    <a:cubicBezTo>
                      <a:pt x="2439" y="1019"/>
                      <a:pt x="2439" y="1019"/>
                      <a:pt x="2439" y="1019"/>
                    </a:cubicBezTo>
                    <a:cubicBezTo>
                      <a:pt x="2434" y="1021"/>
                      <a:pt x="2434" y="1021"/>
                      <a:pt x="2434" y="1021"/>
                    </a:cubicBezTo>
                    <a:cubicBezTo>
                      <a:pt x="2397" y="1036"/>
                      <a:pt x="2285" y="1047"/>
                      <a:pt x="2214" y="1047"/>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noAutofit/>
              </a:bodyPr>
              <a:lstStyle/>
              <a:p>
                <a:endParaRPr lang="en-GB" dirty="0"/>
              </a:p>
            </p:txBody>
          </p:sp>
          <p:sp>
            <p:nvSpPr>
              <p:cNvPr id="25" name="Freeform 14"/>
              <p:cNvSpPr>
                <a:spLocks noEditPoints="1"/>
              </p:cNvSpPr>
              <p:nvPr userDrawn="1"/>
            </p:nvSpPr>
            <p:spPr bwMode="auto">
              <a:xfrm>
                <a:off x="287338" y="215900"/>
                <a:ext cx="700087" cy="273050"/>
              </a:xfrm>
              <a:custGeom>
                <a:avLst/>
                <a:gdLst/>
                <a:ahLst/>
                <a:cxnLst>
                  <a:cxn ang="0">
                    <a:pos x="2452" y="1042"/>
                  </a:cxn>
                  <a:cxn ang="0">
                    <a:pos x="2018" y="973"/>
                  </a:cxn>
                  <a:cxn ang="0">
                    <a:pos x="1910" y="844"/>
                  </a:cxn>
                  <a:cxn ang="0">
                    <a:pos x="1680" y="1054"/>
                  </a:cxn>
                  <a:cxn ang="0">
                    <a:pos x="1686" y="844"/>
                  </a:cxn>
                  <a:cxn ang="0">
                    <a:pos x="1407" y="1054"/>
                  </a:cxn>
                  <a:cxn ang="0">
                    <a:pos x="1331" y="844"/>
                  </a:cxn>
                  <a:cxn ang="0">
                    <a:pos x="1117" y="1054"/>
                  </a:cxn>
                  <a:cxn ang="0">
                    <a:pos x="822" y="844"/>
                  </a:cxn>
                  <a:cxn ang="0">
                    <a:pos x="758" y="1054"/>
                  </a:cxn>
                  <a:cxn ang="0">
                    <a:pos x="660" y="844"/>
                  </a:cxn>
                  <a:cxn ang="0">
                    <a:pos x="560" y="1054"/>
                  </a:cxn>
                  <a:cxn ang="0">
                    <a:pos x="287" y="844"/>
                  </a:cxn>
                  <a:cxn ang="0">
                    <a:pos x="178" y="1037"/>
                  </a:cxn>
                  <a:cxn ang="0">
                    <a:pos x="0" y="1054"/>
                  </a:cxn>
                  <a:cxn ang="0">
                    <a:pos x="160" y="0"/>
                  </a:cxn>
                  <a:cxn ang="0">
                    <a:pos x="758" y="517"/>
                  </a:cxn>
                  <a:cxn ang="0">
                    <a:pos x="822" y="441"/>
                  </a:cxn>
                  <a:cxn ang="0">
                    <a:pos x="1419" y="0"/>
                  </a:cxn>
                  <a:cxn ang="0">
                    <a:pos x="1483" y="441"/>
                  </a:cxn>
                  <a:cxn ang="0">
                    <a:pos x="2080" y="0"/>
                  </a:cxn>
                  <a:cxn ang="0">
                    <a:pos x="2145" y="491"/>
                  </a:cxn>
                  <a:cxn ang="0">
                    <a:pos x="2742" y="0"/>
                  </a:cxn>
                  <a:cxn ang="0">
                    <a:pos x="2516" y="844"/>
                  </a:cxn>
                  <a:cxn ang="0">
                    <a:pos x="2145" y="844"/>
                  </a:cxn>
                  <a:cxn ang="0">
                    <a:pos x="2253" y="943"/>
                  </a:cxn>
                  <a:cxn ang="0">
                    <a:pos x="2354" y="844"/>
                  </a:cxn>
                  <a:cxn ang="0">
                    <a:pos x="330" y="462"/>
                  </a:cxn>
                  <a:cxn ang="0">
                    <a:pos x="29" y="1033"/>
                  </a:cxn>
                  <a:cxn ang="0">
                    <a:pos x="330" y="462"/>
                  </a:cxn>
                  <a:cxn ang="0">
                    <a:pos x="508" y="462"/>
                  </a:cxn>
                  <a:cxn ang="0">
                    <a:pos x="258" y="714"/>
                  </a:cxn>
                  <a:cxn ang="0">
                    <a:pos x="258" y="714"/>
                  </a:cxn>
                  <a:cxn ang="0">
                    <a:pos x="258" y="714"/>
                  </a:cxn>
                  <a:cxn ang="0">
                    <a:pos x="387" y="1033"/>
                  </a:cxn>
                  <a:cxn ang="0">
                    <a:pos x="383" y="726"/>
                  </a:cxn>
                  <a:cxn ang="0">
                    <a:pos x="1065" y="635"/>
                  </a:cxn>
                  <a:cxn ang="0">
                    <a:pos x="832" y="724"/>
                  </a:cxn>
                  <a:cxn ang="0">
                    <a:pos x="1065" y="635"/>
                  </a:cxn>
                  <a:cxn ang="0">
                    <a:pos x="943" y="462"/>
                  </a:cxn>
                  <a:cxn ang="0">
                    <a:pos x="625" y="1033"/>
                  </a:cxn>
                  <a:cxn ang="0">
                    <a:pos x="810" y="807"/>
                  </a:cxn>
                  <a:cxn ang="0">
                    <a:pos x="1183" y="635"/>
                  </a:cxn>
                  <a:cxn ang="0">
                    <a:pos x="1795" y="462"/>
                  </a:cxn>
                  <a:cxn ang="0">
                    <a:pos x="1506" y="462"/>
                  </a:cxn>
                  <a:cxn ang="0">
                    <a:pos x="1146" y="1033"/>
                  </a:cxn>
                  <a:cxn ang="0">
                    <a:pos x="1397" y="544"/>
                  </a:cxn>
                  <a:cxn ang="0">
                    <a:pos x="1538" y="1033"/>
                  </a:cxn>
                  <a:cxn ang="0">
                    <a:pos x="1708" y="1033"/>
                  </a:cxn>
                  <a:cxn ang="0">
                    <a:pos x="1983" y="462"/>
                  </a:cxn>
                  <a:cxn ang="0">
                    <a:pos x="2015" y="745"/>
                  </a:cxn>
                  <a:cxn ang="0">
                    <a:pos x="2444" y="1022"/>
                  </a:cxn>
                  <a:cxn ang="0">
                    <a:pos x="2283" y="734"/>
                  </a:cxn>
                  <a:cxn ang="0">
                    <a:pos x="2384" y="820"/>
                  </a:cxn>
                  <a:cxn ang="0">
                    <a:pos x="2253" y="965"/>
                  </a:cxn>
                  <a:cxn ang="0">
                    <a:pos x="2343" y="533"/>
                  </a:cxn>
                  <a:cxn ang="0">
                    <a:pos x="2435" y="646"/>
                  </a:cxn>
                  <a:cxn ang="0">
                    <a:pos x="2354" y="450"/>
                  </a:cxn>
                </a:cxnLst>
                <a:rect l="0" t="0" r="r" b="b"/>
                <a:pathLst>
                  <a:path w="2742" h="1069">
                    <a:moveTo>
                      <a:pt x="2462" y="1038"/>
                    </a:moveTo>
                    <a:cubicBezTo>
                      <a:pt x="2452" y="1042"/>
                      <a:pt x="2452" y="1042"/>
                      <a:pt x="2452" y="1042"/>
                    </a:cubicBezTo>
                    <a:cubicBezTo>
                      <a:pt x="2414" y="1057"/>
                      <a:pt x="2300" y="1069"/>
                      <a:pt x="2228" y="1069"/>
                    </a:cubicBezTo>
                    <a:cubicBezTo>
                      <a:pt x="2161" y="1069"/>
                      <a:pt x="2070" y="1043"/>
                      <a:pt x="2018" y="973"/>
                    </a:cubicBezTo>
                    <a:cubicBezTo>
                      <a:pt x="1998" y="946"/>
                      <a:pt x="1979" y="904"/>
                      <a:pt x="1978" y="844"/>
                    </a:cubicBezTo>
                    <a:cubicBezTo>
                      <a:pt x="1910" y="844"/>
                      <a:pt x="1910" y="844"/>
                      <a:pt x="1910" y="844"/>
                    </a:cubicBezTo>
                    <a:cubicBezTo>
                      <a:pt x="1857" y="1054"/>
                      <a:pt x="1857" y="1054"/>
                      <a:pt x="1857" y="1054"/>
                    </a:cubicBezTo>
                    <a:cubicBezTo>
                      <a:pt x="1680" y="1054"/>
                      <a:pt x="1680" y="1054"/>
                      <a:pt x="1680" y="1054"/>
                    </a:cubicBezTo>
                    <a:cubicBezTo>
                      <a:pt x="1742" y="844"/>
                      <a:pt x="1742" y="844"/>
                      <a:pt x="1742" y="844"/>
                    </a:cubicBezTo>
                    <a:cubicBezTo>
                      <a:pt x="1686" y="844"/>
                      <a:pt x="1686" y="844"/>
                      <a:pt x="1686" y="844"/>
                    </a:cubicBezTo>
                    <a:cubicBezTo>
                      <a:pt x="1550" y="1054"/>
                      <a:pt x="1550" y="1054"/>
                      <a:pt x="1550" y="1054"/>
                    </a:cubicBezTo>
                    <a:cubicBezTo>
                      <a:pt x="1407" y="1054"/>
                      <a:pt x="1407" y="1054"/>
                      <a:pt x="1407" y="1054"/>
                    </a:cubicBezTo>
                    <a:cubicBezTo>
                      <a:pt x="1394" y="844"/>
                      <a:pt x="1394" y="844"/>
                      <a:pt x="1394" y="844"/>
                    </a:cubicBezTo>
                    <a:cubicBezTo>
                      <a:pt x="1331" y="844"/>
                      <a:pt x="1331" y="844"/>
                      <a:pt x="1331" y="844"/>
                    </a:cubicBezTo>
                    <a:cubicBezTo>
                      <a:pt x="1269" y="1054"/>
                      <a:pt x="1269" y="1054"/>
                      <a:pt x="1269" y="1054"/>
                    </a:cubicBezTo>
                    <a:cubicBezTo>
                      <a:pt x="1117" y="1054"/>
                      <a:pt x="1117" y="1054"/>
                      <a:pt x="1117" y="1054"/>
                    </a:cubicBezTo>
                    <a:cubicBezTo>
                      <a:pt x="1181" y="844"/>
                      <a:pt x="1181" y="844"/>
                      <a:pt x="1181" y="844"/>
                    </a:cubicBezTo>
                    <a:cubicBezTo>
                      <a:pt x="822" y="844"/>
                      <a:pt x="822" y="844"/>
                      <a:pt x="822" y="844"/>
                    </a:cubicBezTo>
                    <a:cubicBezTo>
                      <a:pt x="822" y="840"/>
                      <a:pt x="822" y="840"/>
                      <a:pt x="822" y="840"/>
                    </a:cubicBezTo>
                    <a:cubicBezTo>
                      <a:pt x="758" y="1054"/>
                      <a:pt x="758" y="1054"/>
                      <a:pt x="758" y="1054"/>
                    </a:cubicBezTo>
                    <a:cubicBezTo>
                      <a:pt x="596" y="1054"/>
                      <a:pt x="596" y="1054"/>
                      <a:pt x="596" y="1054"/>
                    </a:cubicBezTo>
                    <a:cubicBezTo>
                      <a:pt x="660" y="844"/>
                      <a:pt x="660" y="844"/>
                      <a:pt x="660" y="844"/>
                    </a:cubicBezTo>
                    <a:cubicBezTo>
                      <a:pt x="462" y="844"/>
                      <a:pt x="462" y="844"/>
                      <a:pt x="462" y="844"/>
                    </a:cubicBezTo>
                    <a:cubicBezTo>
                      <a:pt x="560" y="1054"/>
                      <a:pt x="560" y="1054"/>
                      <a:pt x="560" y="1054"/>
                    </a:cubicBezTo>
                    <a:cubicBezTo>
                      <a:pt x="373" y="1054"/>
                      <a:pt x="373" y="1054"/>
                      <a:pt x="373" y="1054"/>
                    </a:cubicBezTo>
                    <a:cubicBezTo>
                      <a:pt x="287" y="844"/>
                      <a:pt x="287" y="844"/>
                      <a:pt x="287" y="844"/>
                    </a:cubicBezTo>
                    <a:cubicBezTo>
                      <a:pt x="237" y="844"/>
                      <a:pt x="237" y="844"/>
                      <a:pt x="237" y="844"/>
                    </a:cubicBezTo>
                    <a:cubicBezTo>
                      <a:pt x="205" y="947"/>
                      <a:pt x="180" y="1031"/>
                      <a:pt x="178" y="1037"/>
                    </a:cubicBezTo>
                    <a:cubicBezTo>
                      <a:pt x="175" y="1054"/>
                      <a:pt x="175" y="1054"/>
                      <a:pt x="175" y="1054"/>
                    </a:cubicBezTo>
                    <a:cubicBezTo>
                      <a:pt x="0" y="1054"/>
                      <a:pt x="0" y="1054"/>
                      <a:pt x="0" y="1054"/>
                    </a:cubicBezTo>
                    <a:cubicBezTo>
                      <a:pt x="160" y="523"/>
                      <a:pt x="160" y="523"/>
                      <a:pt x="160" y="523"/>
                    </a:cubicBezTo>
                    <a:cubicBezTo>
                      <a:pt x="160" y="0"/>
                      <a:pt x="160" y="0"/>
                      <a:pt x="160" y="0"/>
                    </a:cubicBezTo>
                    <a:cubicBezTo>
                      <a:pt x="758" y="0"/>
                      <a:pt x="758" y="0"/>
                      <a:pt x="758" y="0"/>
                    </a:cubicBezTo>
                    <a:cubicBezTo>
                      <a:pt x="758" y="517"/>
                      <a:pt x="758" y="517"/>
                      <a:pt x="758" y="517"/>
                    </a:cubicBezTo>
                    <a:cubicBezTo>
                      <a:pt x="781" y="441"/>
                      <a:pt x="781" y="441"/>
                      <a:pt x="781" y="441"/>
                    </a:cubicBezTo>
                    <a:cubicBezTo>
                      <a:pt x="822" y="441"/>
                      <a:pt x="822" y="441"/>
                      <a:pt x="822" y="441"/>
                    </a:cubicBezTo>
                    <a:cubicBezTo>
                      <a:pt x="822" y="0"/>
                      <a:pt x="822" y="0"/>
                      <a:pt x="822" y="0"/>
                    </a:cubicBezTo>
                    <a:cubicBezTo>
                      <a:pt x="1419" y="0"/>
                      <a:pt x="1419" y="0"/>
                      <a:pt x="1419" y="0"/>
                    </a:cubicBezTo>
                    <a:cubicBezTo>
                      <a:pt x="1419" y="441"/>
                      <a:pt x="1419" y="441"/>
                      <a:pt x="1419" y="441"/>
                    </a:cubicBezTo>
                    <a:cubicBezTo>
                      <a:pt x="1483" y="441"/>
                      <a:pt x="1483" y="441"/>
                      <a:pt x="1483" y="441"/>
                    </a:cubicBezTo>
                    <a:cubicBezTo>
                      <a:pt x="1483" y="0"/>
                      <a:pt x="1483" y="0"/>
                      <a:pt x="1483" y="0"/>
                    </a:cubicBezTo>
                    <a:cubicBezTo>
                      <a:pt x="2080" y="0"/>
                      <a:pt x="2080" y="0"/>
                      <a:pt x="2080" y="0"/>
                    </a:cubicBezTo>
                    <a:cubicBezTo>
                      <a:pt x="2080" y="557"/>
                      <a:pt x="2080" y="557"/>
                      <a:pt x="2080" y="557"/>
                    </a:cubicBezTo>
                    <a:cubicBezTo>
                      <a:pt x="2101" y="530"/>
                      <a:pt x="2122" y="508"/>
                      <a:pt x="2145" y="491"/>
                    </a:cubicBezTo>
                    <a:cubicBezTo>
                      <a:pt x="2145" y="0"/>
                      <a:pt x="2145" y="0"/>
                      <a:pt x="2145" y="0"/>
                    </a:cubicBezTo>
                    <a:cubicBezTo>
                      <a:pt x="2742" y="0"/>
                      <a:pt x="2742" y="0"/>
                      <a:pt x="2742" y="0"/>
                    </a:cubicBezTo>
                    <a:cubicBezTo>
                      <a:pt x="2742" y="844"/>
                      <a:pt x="2742" y="844"/>
                      <a:pt x="2742" y="844"/>
                    </a:cubicBezTo>
                    <a:cubicBezTo>
                      <a:pt x="2516" y="844"/>
                      <a:pt x="2516" y="844"/>
                      <a:pt x="2516" y="844"/>
                    </a:cubicBezTo>
                    <a:lnTo>
                      <a:pt x="2462" y="1038"/>
                    </a:lnTo>
                    <a:close/>
                    <a:moveTo>
                      <a:pt x="2145" y="844"/>
                    </a:moveTo>
                    <a:cubicBezTo>
                      <a:pt x="2146" y="871"/>
                      <a:pt x="2151" y="894"/>
                      <a:pt x="2163" y="909"/>
                    </a:cubicBezTo>
                    <a:cubicBezTo>
                      <a:pt x="2180" y="932"/>
                      <a:pt x="2210" y="943"/>
                      <a:pt x="2253" y="943"/>
                    </a:cubicBezTo>
                    <a:cubicBezTo>
                      <a:pt x="2301" y="943"/>
                      <a:pt x="2319" y="938"/>
                      <a:pt x="2324" y="936"/>
                    </a:cubicBezTo>
                    <a:cubicBezTo>
                      <a:pt x="2354" y="844"/>
                      <a:pt x="2354" y="844"/>
                      <a:pt x="2354" y="844"/>
                    </a:cubicBezTo>
                    <a:lnTo>
                      <a:pt x="2145" y="844"/>
                    </a:lnTo>
                    <a:close/>
                    <a:moveTo>
                      <a:pt x="330" y="462"/>
                    </a:moveTo>
                    <a:cubicBezTo>
                      <a:pt x="200" y="462"/>
                      <a:pt x="200" y="462"/>
                      <a:pt x="200" y="462"/>
                    </a:cubicBezTo>
                    <a:cubicBezTo>
                      <a:pt x="29" y="1033"/>
                      <a:pt x="29" y="1033"/>
                      <a:pt x="29" y="1033"/>
                    </a:cubicBezTo>
                    <a:cubicBezTo>
                      <a:pt x="157" y="1033"/>
                      <a:pt x="157" y="1033"/>
                      <a:pt x="157" y="1033"/>
                    </a:cubicBezTo>
                    <a:cubicBezTo>
                      <a:pt x="160" y="1021"/>
                      <a:pt x="330" y="462"/>
                      <a:pt x="330" y="462"/>
                    </a:cubicBezTo>
                    <a:moveTo>
                      <a:pt x="665" y="462"/>
                    </a:moveTo>
                    <a:cubicBezTo>
                      <a:pt x="508" y="462"/>
                      <a:pt x="508" y="462"/>
                      <a:pt x="508" y="462"/>
                    </a:cubicBezTo>
                    <a:cubicBezTo>
                      <a:pt x="258" y="714"/>
                      <a:pt x="258" y="714"/>
                      <a:pt x="258" y="714"/>
                    </a:cubicBezTo>
                    <a:cubicBezTo>
                      <a:pt x="258" y="714"/>
                      <a:pt x="258" y="714"/>
                      <a:pt x="258" y="714"/>
                    </a:cubicBezTo>
                    <a:cubicBezTo>
                      <a:pt x="258" y="714"/>
                      <a:pt x="258" y="714"/>
                      <a:pt x="258" y="714"/>
                    </a:cubicBezTo>
                    <a:cubicBezTo>
                      <a:pt x="258" y="714"/>
                      <a:pt x="258" y="714"/>
                      <a:pt x="258" y="714"/>
                    </a:cubicBezTo>
                    <a:cubicBezTo>
                      <a:pt x="258" y="714"/>
                      <a:pt x="258" y="714"/>
                      <a:pt x="258" y="714"/>
                    </a:cubicBezTo>
                    <a:cubicBezTo>
                      <a:pt x="258" y="714"/>
                      <a:pt x="258" y="714"/>
                      <a:pt x="258" y="714"/>
                    </a:cubicBezTo>
                    <a:cubicBezTo>
                      <a:pt x="258" y="714"/>
                      <a:pt x="258" y="714"/>
                      <a:pt x="258" y="714"/>
                    </a:cubicBezTo>
                    <a:cubicBezTo>
                      <a:pt x="387" y="1033"/>
                      <a:pt x="387" y="1033"/>
                      <a:pt x="387" y="1033"/>
                    </a:cubicBezTo>
                    <a:cubicBezTo>
                      <a:pt x="526" y="1033"/>
                      <a:pt x="526" y="1033"/>
                      <a:pt x="526" y="1033"/>
                    </a:cubicBezTo>
                    <a:cubicBezTo>
                      <a:pt x="383" y="726"/>
                      <a:pt x="383" y="726"/>
                      <a:pt x="383" y="726"/>
                    </a:cubicBezTo>
                    <a:lnTo>
                      <a:pt x="665" y="462"/>
                    </a:lnTo>
                    <a:close/>
                    <a:moveTo>
                      <a:pt x="1065" y="635"/>
                    </a:moveTo>
                    <a:cubicBezTo>
                      <a:pt x="1046" y="693"/>
                      <a:pt x="1020" y="722"/>
                      <a:pt x="934" y="724"/>
                    </a:cubicBezTo>
                    <a:cubicBezTo>
                      <a:pt x="905" y="724"/>
                      <a:pt x="874" y="724"/>
                      <a:pt x="832" y="724"/>
                    </a:cubicBezTo>
                    <a:cubicBezTo>
                      <a:pt x="884" y="544"/>
                      <a:pt x="884" y="544"/>
                      <a:pt x="884" y="544"/>
                    </a:cubicBezTo>
                    <a:cubicBezTo>
                      <a:pt x="1013" y="544"/>
                      <a:pt x="1099" y="534"/>
                      <a:pt x="1065" y="635"/>
                    </a:cubicBezTo>
                    <a:moveTo>
                      <a:pt x="1183" y="635"/>
                    </a:moveTo>
                    <a:cubicBezTo>
                      <a:pt x="1216" y="459"/>
                      <a:pt x="1074" y="461"/>
                      <a:pt x="943" y="462"/>
                    </a:cubicBezTo>
                    <a:cubicBezTo>
                      <a:pt x="797" y="462"/>
                      <a:pt x="797" y="462"/>
                      <a:pt x="797" y="462"/>
                    </a:cubicBezTo>
                    <a:cubicBezTo>
                      <a:pt x="625" y="1033"/>
                      <a:pt x="625" y="1033"/>
                      <a:pt x="625" y="1033"/>
                    </a:cubicBezTo>
                    <a:cubicBezTo>
                      <a:pt x="742" y="1033"/>
                      <a:pt x="742" y="1033"/>
                      <a:pt x="742" y="1033"/>
                    </a:cubicBezTo>
                    <a:cubicBezTo>
                      <a:pt x="810" y="807"/>
                      <a:pt x="810" y="807"/>
                      <a:pt x="810" y="807"/>
                    </a:cubicBezTo>
                    <a:cubicBezTo>
                      <a:pt x="904" y="807"/>
                      <a:pt x="904" y="807"/>
                      <a:pt x="904" y="807"/>
                    </a:cubicBezTo>
                    <a:cubicBezTo>
                      <a:pt x="1086" y="808"/>
                      <a:pt x="1166" y="727"/>
                      <a:pt x="1183" y="635"/>
                    </a:cubicBezTo>
                    <a:moveTo>
                      <a:pt x="1983" y="462"/>
                    </a:moveTo>
                    <a:cubicBezTo>
                      <a:pt x="1795" y="462"/>
                      <a:pt x="1795" y="462"/>
                      <a:pt x="1795" y="462"/>
                    </a:cubicBezTo>
                    <a:cubicBezTo>
                      <a:pt x="1567" y="778"/>
                      <a:pt x="1512" y="956"/>
                      <a:pt x="1512" y="956"/>
                    </a:cubicBezTo>
                    <a:cubicBezTo>
                      <a:pt x="1534" y="755"/>
                      <a:pt x="1506" y="462"/>
                      <a:pt x="1506" y="462"/>
                    </a:cubicBezTo>
                    <a:cubicBezTo>
                      <a:pt x="1320" y="462"/>
                      <a:pt x="1320" y="462"/>
                      <a:pt x="1320" y="462"/>
                    </a:cubicBezTo>
                    <a:cubicBezTo>
                      <a:pt x="1146" y="1033"/>
                      <a:pt x="1146" y="1033"/>
                      <a:pt x="1146" y="1033"/>
                    </a:cubicBezTo>
                    <a:cubicBezTo>
                      <a:pt x="1253" y="1033"/>
                      <a:pt x="1253" y="1033"/>
                      <a:pt x="1253" y="1033"/>
                    </a:cubicBezTo>
                    <a:cubicBezTo>
                      <a:pt x="1397" y="544"/>
                      <a:pt x="1397" y="544"/>
                      <a:pt x="1397" y="544"/>
                    </a:cubicBezTo>
                    <a:cubicBezTo>
                      <a:pt x="1427" y="1033"/>
                      <a:pt x="1427" y="1033"/>
                      <a:pt x="1427" y="1033"/>
                    </a:cubicBezTo>
                    <a:cubicBezTo>
                      <a:pt x="1538" y="1033"/>
                      <a:pt x="1538" y="1033"/>
                      <a:pt x="1538" y="1033"/>
                    </a:cubicBezTo>
                    <a:cubicBezTo>
                      <a:pt x="1854" y="544"/>
                      <a:pt x="1854" y="544"/>
                      <a:pt x="1854" y="544"/>
                    </a:cubicBezTo>
                    <a:cubicBezTo>
                      <a:pt x="1708" y="1033"/>
                      <a:pt x="1708" y="1033"/>
                      <a:pt x="1708" y="1033"/>
                    </a:cubicBezTo>
                    <a:cubicBezTo>
                      <a:pt x="1841" y="1033"/>
                      <a:pt x="1841" y="1033"/>
                      <a:pt x="1841" y="1033"/>
                    </a:cubicBezTo>
                    <a:lnTo>
                      <a:pt x="1983" y="462"/>
                    </a:lnTo>
                    <a:close/>
                    <a:moveTo>
                      <a:pt x="2354" y="450"/>
                    </a:moveTo>
                    <a:cubicBezTo>
                      <a:pt x="2239" y="450"/>
                      <a:pt x="2097" y="476"/>
                      <a:pt x="2015" y="745"/>
                    </a:cubicBezTo>
                    <a:cubicBezTo>
                      <a:pt x="1947" y="971"/>
                      <a:pt x="2113" y="1047"/>
                      <a:pt x="2228" y="1047"/>
                    </a:cubicBezTo>
                    <a:cubicBezTo>
                      <a:pt x="2304" y="1047"/>
                      <a:pt x="2412" y="1035"/>
                      <a:pt x="2444" y="1022"/>
                    </a:cubicBezTo>
                    <a:cubicBezTo>
                      <a:pt x="2525" y="734"/>
                      <a:pt x="2525" y="734"/>
                      <a:pt x="2525" y="734"/>
                    </a:cubicBezTo>
                    <a:cubicBezTo>
                      <a:pt x="2283" y="734"/>
                      <a:pt x="2283" y="734"/>
                      <a:pt x="2283" y="734"/>
                    </a:cubicBezTo>
                    <a:cubicBezTo>
                      <a:pt x="2256" y="820"/>
                      <a:pt x="2256" y="820"/>
                      <a:pt x="2256" y="820"/>
                    </a:cubicBezTo>
                    <a:cubicBezTo>
                      <a:pt x="2384" y="820"/>
                      <a:pt x="2384" y="820"/>
                      <a:pt x="2384" y="820"/>
                    </a:cubicBezTo>
                    <a:cubicBezTo>
                      <a:pt x="2344" y="945"/>
                      <a:pt x="2344" y="945"/>
                      <a:pt x="2344" y="945"/>
                    </a:cubicBezTo>
                    <a:cubicBezTo>
                      <a:pt x="2344" y="945"/>
                      <a:pt x="2349" y="965"/>
                      <a:pt x="2253" y="965"/>
                    </a:cubicBezTo>
                    <a:cubicBezTo>
                      <a:pt x="2132" y="965"/>
                      <a:pt x="2099" y="881"/>
                      <a:pt x="2138" y="742"/>
                    </a:cubicBezTo>
                    <a:cubicBezTo>
                      <a:pt x="2175" y="613"/>
                      <a:pt x="2234" y="527"/>
                      <a:pt x="2343" y="533"/>
                    </a:cubicBezTo>
                    <a:cubicBezTo>
                      <a:pt x="2417" y="536"/>
                      <a:pt x="2459" y="563"/>
                      <a:pt x="2438" y="631"/>
                    </a:cubicBezTo>
                    <a:cubicBezTo>
                      <a:pt x="2437" y="636"/>
                      <a:pt x="2436" y="642"/>
                      <a:pt x="2435" y="646"/>
                    </a:cubicBezTo>
                    <a:cubicBezTo>
                      <a:pt x="2552" y="646"/>
                      <a:pt x="2552" y="646"/>
                      <a:pt x="2552" y="646"/>
                    </a:cubicBezTo>
                    <a:cubicBezTo>
                      <a:pt x="2582" y="559"/>
                      <a:pt x="2522" y="450"/>
                      <a:pt x="2354" y="450"/>
                    </a:cubicBezTo>
                  </a:path>
                </a:pathLst>
              </a:custGeom>
              <a:solidFill>
                <a:srgbClr val="00338D"/>
              </a:solidFill>
              <a:ln w="9525">
                <a:noFill/>
                <a:round/>
                <a:headEnd/>
                <a:tailEnd/>
              </a:ln>
            </p:spPr>
            <p:txBody>
              <a:bodyPr vert="horz" wrap="square" lIns="91440" tIns="45720" rIns="91440" bIns="45720" numCol="1" anchor="t" anchorCtr="0" compatLnSpc="1">
                <a:prstTxWarp prst="textNoShape">
                  <a:avLst/>
                </a:prstTxWarp>
                <a:noAutofit/>
              </a:bodyPr>
              <a:lstStyle/>
              <a:p>
                <a:endParaRPr lang="en-GB" dirty="0"/>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Letter 2">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bwMode="gray">
          <a:xfrm>
            <a:off x="252048" y="1196975"/>
            <a:ext cx="4176000" cy="4895850"/>
          </a:xfrm>
        </p:spPr>
        <p:txBody>
          <a:bodyPr>
            <a:noAutofit/>
          </a:bodyPr>
          <a:lstStyle>
            <a:lvl1pPr>
              <a:defRPr>
                <a:solidFill>
                  <a:schemeClr val="tx1"/>
                </a:solidFill>
                <a:latin typeface="Times New Roman" pitchFamily="18" charset="0"/>
                <a:cs typeface="Times New Roman" pitchFamily="18" charset="0"/>
              </a:defRPr>
            </a:lvl1pPr>
            <a:lvl2pPr>
              <a:defRPr>
                <a:solidFill>
                  <a:schemeClr val="tx1"/>
                </a:solidFill>
                <a:latin typeface="Times New Roman" pitchFamily="18" charset="0"/>
                <a:cs typeface="Times New Roman" pitchFamily="18" charset="0"/>
              </a:defRPr>
            </a:lvl2pPr>
            <a:lvl3pPr>
              <a:buClrTx/>
              <a:defRPr>
                <a:solidFill>
                  <a:schemeClr val="tx1"/>
                </a:solidFill>
                <a:latin typeface="Times New Roman" pitchFamily="18" charset="0"/>
                <a:cs typeface="Times New Roman" pitchFamily="18" charset="0"/>
              </a:defRPr>
            </a:lvl3pPr>
            <a:lvl4pPr>
              <a:buClrTx/>
              <a:defRPr>
                <a:solidFill>
                  <a:schemeClr val="tx1"/>
                </a:solidFill>
                <a:latin typeface="Times New Roman" pitchFamily="18" charset="0"/>
                <a:cs typeface="Times New Roman" pitchFamily="18" charset="0"/>
              </a:defRPr>
            </a:lvl4pPr>
            <a:lvl5pPr>
              <a:buClrTx/>
              <a:defRPr>
                <a:solidFill>
                  <a:schemeClr val="tx1"/>
                </a:solidFill>
                <a:latin typeface="Times New Roman" pitchFamily="18" charset="0"/>
                <a:cs typeface="Times New Roman" pitchFamily="18" charset="0"/>
              </a:defRPr>
            </a:lvl5pPr>
            <a:lvl6pPr>
              <a:buClrTx/>
              <a:defRPr baseline="0">
                <a:solidFill>
                  <a:schemeClr val="tx1"/>
                </a:solidFill>
                <a:latin typeface="Times New Roman" pitchFamily="18" charset="0"/>
                <a:cs typeface="Times New Roman" pitchFamily="18" charset="0"/>
              </a:defRPr>
            </a:lvl6pPr>
            <a:lvl7pPr>
              <a:buClrTx/>
              <a:defRPr baseline="0">
                <a:solidFill>
                  <a:schemeClr val="tx1"/>
                </a:solidFill>
                <a:latin typeface="Times New Roman" pitchFamily="18" charset="0"/>
                <a:cs typeface="Times New Roman" pitchFamily="18" charset="0"/>
              </a:defRPr>
            </a:lvl7pPr>
            <a:lvl8pPr>
              <a:buClrTx/>
              <a:defRPr baseline="0">
                <a:solidFill>
                  <a:schemeClr val="tx1"/>
                </a:solidFill>
                <a:latin typeface="Times New Roman" pitchFamily="18" charset="0"/>
                <a:cs typeface="Times New Roman" pitchFamily="18" charset="0"/>
              </a:defRPr>
            </a:lvl8pPr>
            <a:lvl9pPr>
              <a:buClrTx/>
              <a:defRPr baseline="0">
                <a:solidFill>
                  <a:schemeClr val="tx1"/>
                </a:solidFill>
                <a:latin typeface="Times New Roman" pitchFamily="18" charset="0"/>
                <a:cs typeface="Times New Roman" pitchFamily="18" charset="0"/>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5" name="Text Placeholder 4"/>
          <p:cNvSpPr>
            <a:spLocks noGrp="1"/>
          </p:cNvSpPr>
          <p:nvPr>
            <p:ph type="body" sz="quarter" idx="11"/>
          </p:nvPr>
        </p:nvSpPr>
        <p:spPr bwMode="gray">
          <a:xfrm>
            <a:off x="4715588" y="1196975"/>
            <a:ext cx="4176000" cy="4895850"/>
          </a:xfrm>
        </p:spPr>
        <p:txBody>
          <a:bodyPr>
            <a:noAutofit/>
          </a:bodyPr>
          <a:lstStyle>
            <a:lvl1pPr>
              <a:defRPr>
                <a:solidFill>
                  <a:schemeClr val="tx1"/>
                </a:solidFill>
                <a:latin typeface="Times New Roman" pitchFamily="18" charset="0"/>
                <a:cs typeface="Times New Roman" pitchFamily="18" charset="0"/>
              </a:defRPr>
            </a:lvl1pPr>
            <a:lvl2pPr>
              <a:defRPr>
                <a:solidFill>
                  <a:schemeClr val="tx1"/>
                </a:solidFill>
                <a:latin typeface="Times New Roman" pitchFamily="18" charset="0"/>
                <a:cs typeface="Times New Roman" pitchFamily="18" charset="0"/>
              </a:defRPr>
            </a:lvl2pPr>
            <a:lvl3pPr>
              <a:buClrTx/>
              <a:defRPr>
                <a:solidFill>
                  <a:schemeClr val="tx1"/>
                </a:solidFill>
                <a:latin typeface="Times New Roman" pitchFamily="18" charset="0"/>
                <a:cs typeface="Times New Roman" pitchFamily="18" charset="0"/>
              </a:defRPr>
            </a:lvl3pPr>
            <a:lvl4pPr>
              <a:buClrTx/>
              <a:defRPr>
                <a:solidFill>
                  <a:schemeClr val="tx1"/>
                </a:solidFill>
                <a:latin typeface="Times New Roman" pitchFamily="18" charset="0"/>
                <a:cs typeface="Times New Roman" pitchFamily="18" charset="0"/>
              </a:defRPr>
            </a:lvl4pPr>
            <a:lvl5pPr>
              <a:buClrTx/>
              <a:defRPr>
                <a:solidFill>
                  <a:schemeClr val="tx1"/>
                </a:solidFill>
                <a:latin typeface="Times New Roman" pitchFamily="18" charset="0"/>
                <a:cs typeface="Times New Roman" pitchFamily="18" charset="0"/>
              </a:defRPr>
            </a:lvl5pPr>
            <a:lvl6pPr>
              <a:buClrTx/>
              <a:defRPr baseline="0">
                <a:solidFill>
                  <a:schemeClr val="tx1"/>
                </a:solidFill>
                <a:latin typeface="Times New Roman" pitchFamily="18" charset="0"/>
                <a:cs typeface="Times New Roman" pitchFamily="18" charset="0"/>
              </a:defRPr>
            </a:lvl6pPr>
            <a:lvl7pPr>
              <a:buClrTx/>
              <a:defRPr baseline="0">
                <a:solidFill>
                  <a:schemeClr val="tx1"/>
                </a:solidFill>
                <a:latin typeface="Times New Roman" pitchFamily="18" charset="0"/>
                <a:cs typeface="Times New Roman" pitchFamily="18" charset="0"/>
              </a:defRPr>
            </a:lvl7pPr>
            <a:lvl8pPr>
              <a:buClrTx/>
              <a:defRPr baseline="0">
                <a:solidFill>
                  <a:schemeClr val="tx1"/>
                </a:solidFill>
                <a:latin typeface="Times New Roman" pitchFamily="18" charset="0"/>
                <a:cs typeface="Times New Roman" pitchFamily="18" charset="0"/>
              </a:defRPr>
            </a:lvl8pPr>
            <a:lvl9pPr>
              <a:buClrTx/>
              <a:defRPr baseline="0">
                <a:solidFill>
                  <a:schemeClr val="tx1"/>
                </a:solidFill>
                <a:latin typeface="Times New Roman" pitchFamily="18" charset="0"/>
                <a:cs typeface="Times New Roman" pitchFamily="18" charset="0"/>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8" name="Text Placeholder 4"/>
          <p:cNvSpPr>
            <a:spLocks noGrp="1"/>
          </p:cNvSpPr>
          <p:nvPr>
            <p:ph type="body" sz="quarter" idx="12"/>
          </p:nvPr>
        </p:nvSpPr>
        <p:spPr bwMode="gray">
          <a:xfrm>
            <a:off x="4716016" y="212750"/>
            <a:ext cx="4176465" cy="479400"/>
          </a:xfrm>
        </p:spPr>
        <p:txBody>
          <a:bodyPr>
            <a:noAutofit/>
          </a:bodyPr>
          <a:lstStyle>
            <a:lvl1pPr algn="r">
              <a:defRPr b="0" i="1">
                <a:solidFill>
                  <a:schemeClr val="tx1"/>
                </a:solidFill>
                <a:latin typeface="Times New Roman" pitchFamily="18" charset="0"/>
                <a:cs typeface="Times New Roman" pitchFamily="18" charset="0"/>
              </a:defRPr>
            </a:lvl1pPr>
            <a:lvl2pPr algn="r">
              <a:defRPr b="0" i="1">
                <a:solidFill>
                  <a:schemeClr val="tx1"/>
                </a:solidFill>
                <a:latin typeface="Times New Roman" pitchFamily="18" charset="0"/>
                <a:cs typeface="Times New Roman" pitchFamily="18" charset="0"/>
              </a:defRPr>
            </a:lvl2pPr>
            <a:lvl3pPr algn="r">
              <a:buClrTx/>
              <a:defRPr b="0" i="1">
                <a:solidFill>
                  <a:schemeClr val="tx1"/>
                </a:solidFill>
                <a:latin typeface="Times New Roman" pitchFamily="18" charset="0"/>
                <a:cs typeface="Times New Roman" pitchFamily="18" charset="0"/>
              </a:defRPr>
            </a:lvl3pPr>
            <a:lvl4pPr algn="r">
              <a:buClrTx/>
              <a:defRPr b="0" i="1">
                <a:solidFill>
                  <a:schemeClr val="tx1"/>
                </a:solidFill>
                <a:latin typeface="Times New Roman" pitchFamily="18" charset="0"/>
                <a:cs typeface="Times New Roman" pitchFamily="18" charset="0"/>
              </a:defRPr>
            </a:lvl4pPr>
            <a:lvl5pPr algn="r">
              <a:buClrTx/>
              <a:defRPr b="0" i="1">
                <a:solidFill>
                  <a:schemeClr val="tx1"/>
                </a:solidFill>
                <a:latin typeface="Times New Roman" pitchFamily="18" charset="0"/>
                <a:cs typeface="Times New Roman" pitchFamily="18" charset="0"/>
              </a:defRPr>
            </a:lvl5pPr>
            <a:lvl6pPr algn="r">
              <a:buClrTx/>
              <a:defRPr b="0" i="1" baseline="0">
                <a:solidFill>
                  <a:schemeClr val="tx1"/>
                </a:solidFill>
                <a:latin typeface="Times New Roman" pitchFamily="18" charset="0"/>
                <a:cs typeface="Times New Roman" pitchFamily="18" charset="0"/>
              </a:defRPr>
            </a:lvl6pPr>
            <a:lvl7pPr algn="r">
              <a:buClrTx/>
              <a:defRPr b="0" i="1" baseline="0">
                <a:solidFill>
                  <a:schemeClr val="tx1"/>
                </a:solidFill>
                <a:latin typeface="Times New Roman" pitchFamily="18" charset="0"/>
                <a:cs typeface="Times New Roman" pitchFamily="18" charset="0"/>
              </a:defRPr>
            </a:lvl7pPr>
            <a:lvl8pPr algn="r">
              <a:buClrTx/>
              <a:defRPr b="0" i="1" baseline="0">
                <a:solidFill>
                  <a:schemeClr val="tx1"/>
                </a:solidFill>
                <a:latin typeface="Times New Roman" pitchFamily="18" charset="0"/>
                <a:cs typeface="Times New Roman" pitchFamily="18" charset="0"/>
              </a:defRPr>
            </a:lvl8pPr>
            <a:lvl9pPr algn="r">
              <a:buClrTx/>
              <a:defRPr b="0" i="1" baseline="0">
                <a:solidFill>
                  <a:schemeClr val="tx1"/>
                </a:solidFill>
                <a:latin typeface="Times New Roman" pitchFamily="18" charset="0"/>
                <a:cs typeface="Times New Roman" pitchFamily="18" charset="0"/>
              </a:defRPr>
            </a:lvl9pPr>
          </a:lstStyle>
          <a:p>
            <a:pPr lvl="0"/>
            <a:r>
              <a:rPr lang="en-US" smtClean="0"/>
              <a:t>Click to edit Master text styles</a:t>
            </a:r>
          </a:p>
        </p:txBody>
      </p:sp>
      <p:grpSp>
        <p:nvGrpSpPr>
          <p:cNvPr id="2" name="Group 19"/>
          <p:cNvGrpSpPr>
            <a:grpSpLocks noChangeAspect="1"/>
          </p:cNvGrpSpPr>
          <p:nvPr userDrawn="1"/>
        </p:nvGrpSpPr>
        <p:grpSpPr>
          <a:xfrm>
            <a:off x="176213" y="0"/>
            <a:ext cx="963612" cy="700088"/>
            <a:chOff x="176213" y="0"/>
            <a:chExt cx="963612" cy="700088"/>
          </a:xfrm>
        </p:grpSpPr>
        <p:sp>
          <p:nvSpPr>
            <p:cNvPr id="21" name="Freeform 13"/>
            <p:cNvSpPr>
              <a:spLocks noEditPoints="1"/>
            </p:cNvSpPr>
            <p:nvPr userDrawn="1"/>
          </p:nvSpPr>
          <p:spPr bwMode="auto">
            <a:xfrm>
              <a:off x="176213" y="0"/>
              <a:ext cx="963612" cy="700088"/>
            </a:xfrm>
            <a:custGeom>
              <a:avLst/>
              <a:gdLst/>
              <a:ahLst/>
              <a:cxnLst>
                <a:cxn ang="0">
                  <a:pos x="96" y="136"/>
                </a:cxn>
                <a:cxn ang="0">
                  <a:pos x="0" y="136"/>
                </a:cxn>
                <a:cxn ang="0">
                  <a:pos x="0" y="0"/>
                </a:cxn>
                <a:cxn ang="0">
                  <a:pos x="96" y="0"/>
                </a:cxn>
                <a:cxn ang="0">
                  <a:pos x="96" y="136"/>
                </a:cxn>
                <a:cxn ang="0">
                  <a:pos x="607" y="0"/>
                </a:cxn>
                <a:cxn ang="0">
                  <a:pos x="511" y="0"/>
                </a:cxn>
                <a:cxn ang="0">
                  <a:pos x="511" y="136"/>
                </a:cxn>
                <a:cxn ang="0">
                  <a:pos x="607" y="136"/>
                </a:cxn>
                <a:cxn ang="0">
                  <a:pos x="607" y="0"/>
                </a:cxn>
                <a:cxn ang="0">
                  <a:pos x="96" y="441"/>
                </a:cxn>
                <a:cxn ang="0">
                  <a:pos x="0" y="441"/>
                </a:cxn>
                <a:cxn ang="0">
                  <a:pos x="0" y="305"/>
                </a:cxn>
                <a:cxn ang="0">
                  <a:pos x="96" y="305"/>
                </a:cxn>
                <a:cxn ang="0">
                  <a:pos x="96" y="441"/>
                </a:cxn>
                <a:cxn ang="0">
                  <a:pos x="607" y="305"/>
                </a:cxn>
                <a:cxn ang="0">
                  <a:pos x="511" y="305"/>
                </a:cxn>
                <a:cxn ang="0">
                  <a:pos x="511" y="441"/>
                </a:cxn>
                <a:cxn ang="0">
                  <a:pos x="607" y="441"/>
                </a:cxn>
                <a:cxn ang="0">
                  <a:pos x="607" y="305"/>
                </a:cxn>
              </a:cxnLst>
              <a:rect l="0" t="0" r="r" b="b"/>
              <a:pathLst>
                <a:path w="607" h="441">
                  <a:moveTo>
                    <a:pt x="96" y="136"/>
                  </a:moveTo>
                  <a:lnTo>
                    <a:pt x="0" y="136"/>
                  </a:lnTo>
                  <a:lnTo>
                    <a:pt x="0" y="0"/>
                  </a:lnTo>
                  <a:lnTo>
                    <a:pt x="96" y="0"/>
                  </a:lnTo>
                  <a:lnTo>
                    <a:pt x="96" y="136"/>
                  </a:lnTo>
                  <a:close/>
                  <a:moveTo>
                    <a:pt x="607" y="0"/>
                  </a:moveTo>
                  <a:lnTo>
                    <a:pt x="511" y="0"/>
                  </a:lnTo>
                  <a:lnTo>
                    <a:pt x="511" y="136"/>
                  </a:lnTo>
                  <a:lnTo>
                    <a:pt x="607" y="136"/>
                  </a:lnTo>
                  <a:lnTo>
                    <a:pt x="607" y="0"/>
                  </a:lnTo>
                  <a:close/>
                  <a:moveTo>
                    <a:pt x="96" y="441"/>
                  </a:moveTo>
                  <a:lnTo>
                    <a:pt x="0" y="441"/>
                  </a:lnTo>
                  <a:lnTo>
                    <a:pt x="0" y="305"/>
                  </a:lnTo>
                  <a:lnTo>
                    <a:pt x="96" y="305"/>
                  </a:lnTo>
                  <a:lnTo>
                    <a:pt x="96" y="441"/>
                  </a:lnTo>
                  <a:close/>
                  <a:moveTo>
                    <a:pt x="607" y="305"/>
                  </a:moveTo>
                  <a:lnTo>
                    <a:pt x="511" y="305"/>
                  </a:lnTo>
                  <a:lnTo>
                    <a:pt x="511" y="441"/>
                  </a:lnTo>
                  <a:lnTo>
                    <a:pt x="607" y="441"/>
                  </a:lnTo>
                  <a:lnTo>
                    <a:pt x="607" y="305"/>
                  </a:ln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en-GB" dirty="0"/>
            </a:p>
          </p:txBody>
        </p:sp>
        <p:grpSp>
          <p:nvGrpSpPr>
            <p:cNvPr id="3" name="Group 24"/>
            <p:cNvGrpSpPr/>
            <p:nvPr userDrawn="1"/>
          </p:nvGrpSpPr>
          <p:grpSpPr>
            <a:xfrm>
              <a:off x="287338" y="215900"/>
              <a:ext cx="700087" cy="273050"/>
              <a:chOff x="287338" y="215900"/>
              <a:chExt cx="700087" cy="273050"/>
            </a:xfrm>
          </p:grpSpPr>
          <p:sp>
            <p:nvSpPr>
              <p:cNvPr id="23" name="Freeform 12"/>
              <p:cNvSpPr>
                <a:spLocks/>
              </p:cNvSpPr>
              <p:nvPr userDrawn="1"/>
            </p:nvSpPr>
            <p:spPr bwMode="auto">
              <a:xfrm>
                <a:off x="292100" y="219075"/>
                <a:ext cx="692150" cy="266700"/>
              </a:xfrm>
              <a:custGeom>
                <a:avLst/>
                <a:gdLst/>
                <a:ahLst/>
                <a:cxnLst>
                  <a:cxn ang="0">
                    <a:pos x="2214" y="1047"/>
                  </a:cxn>
                  <a:cxn ang="0">
                    <a:pos x="2013" y="956"/>
                  </a:cxn>
                  <a:cxn ang="0">
                    <a:pos x="1975" y="833"/>
                  </a:cxn>
                  <a:cxn ang="0">
                    <a:pos x="1975" y="822"/>
                  </a:cxn>
                  <a:cxn ang="0">
                    <a:pos x="1888" y="822"/>
                  </a:cxn>
                  <a:cxn ang="0">
                    <a:pos x="1835" y="1032"/>
                  </a:cxn>
                  <a:cxn ang="0">
                    <a:pos x="1680" y="1032"/>
                  </a:cxn>
                  <a:cxn ang="0">
                    <a:pos x="1742" y="822"/>
                  </a:cxn>
                  <a:cxn ang="0">
                    <a:pos x="1666" y="822"/>
                  </a:cxn>
                  <a:cxn ang="0">
                    <a:pos x="1530" y="1032"/>
                  </a:cxn>
                  <a:cxn ang="0">
                    <a:pos x="1403" y="1032"/>
                  </a:cxn>
                  <a:cxn ang="0">
                    <a:pos x="1390" y="822"/>
                  </a:cxn>
                  <a:cxn ang="0">
                    <a:pos x="1309" y="822"/>
                  </a:cxn>
                  <a:cxn ang="0">
                    <a:pos x="1247" y="1032"/>
                  </a:cxn>
                  <a:cxn ang="0">
                    <a:pos x="1117" y="1032"/>
                  </a:cxn>
                  <a:cxn ang="0">
                    <a:pos x="1181" y="822"/>
                  </a:cxn>
                  <a:cxn ang="0">
                    <a:pos x="808" y="822"/>
                  </a:cxn>
                  <a:cxn ang="0">
                    <a:pos x="815" y="829"/>
                  </a:cxn>
                  <a:cxn ang="0">
                    <a:pos x="798" y="826"/>
                  </a:cxn>
                  <a:cxn ang="0">
                    <a:pos x="737" y="1033"/>
                  </a:cxn>
                  <a:cxn ang="0">
                    <a:pos x="596" y="1033"/>
                  </a:cxn>
                  <a:cxn ang="0">
                    <a:pos x="660" y="822"/>
                  </a:cxn>
                  <a:cxn ang="0">
                    <a:pos x="431" y="822"/>
                  </a:cxn>
                  <a:cxn ang="0">
                    <a:pos x="530" y="1033"/>
                  </a:cxn>
                  <a:cxn ang="0">
                    <a:pos x="366" y="1033"/>
                  </a:cxn>
                  <a:cxn ang="0">
                    <a:pos x="281" y="822"/>
                  </a:cxn>
                  <a:cxn ang="0">
                    <a:pos x="215" y="822"/>
                  </a:cxn>
                  <a:cxn ang="0">
                    <a:pos x="213" y="830"/>
                  </a:cxn>
                  <a:cxn ang="0">
                    <a:pos x="154" y="1023"/>
                  </a:cxn>
                  <a:cxn ang="0">
                    <a:pos x="152" y="1033"/>
                  </a:cxn>
                  <a:cxn ang="0">
                    <a:pos x="0" y="1033"/>
                  </a:cxn>
                  <a:cxn ang="0">
                    <a:pos x="156" y="514"/>
                  </a:cxn>
                  <a:cxn ang="0">
                    <a:pos x="156" y="0"/>
                  </a:cxn>
                  <a:cxn ang="0">
                    <a:pos x="734" y="0"/>
                  </a:cxn>
                  <a:cxn ang="0">
                    <a:pos x="734" y="506"/>
                  </a:cxn>
                  <a:cxn ang="0">
                    <a:pos x="754" y="509"/>
                  </a:cxn>
                  <a:cxn ang="0">
                    <a:pos x="775" y="440"/>
                  </a:cxn>
                  <a:cxn ang="0">
                    <a:pos x="819" y="440"/>
                  </a:cxn>
                  <a:cxn ang="0">
                    <a:pos x="819" y="0"/>
                  </a:cxn>
                  <a:cxn ang="0">
                    <a:pos x="1395" y="0"/>
                  </a:cxn>
                  <a:cxn ang="0">
                    <a:pos x="1395" y="440"/>
                  </a:cxn>
                  <a:cxn ang="0">
                    <a:pos x="1480" y="440"/>
                  </a:cxn>
                  <a:cxn ang="0">
                    <a:pos x="1480" y="0"/>
                  </a:cxn>
                  <a:cxn ang="0">
                    <a:pos x="2056" y="0"/>
                  </a:cxn>
                  <a:cxn ang="0">
                    <a:pos x="2056" y="578"/>
                  </a:cxn>
                  <a:cxn ang="0">
                    <a:pos x="2075" y="553"/>
                  </a:cxn>
                  <a:cxn ang="0">
                    <a:pos x="2137" y="488"/>
                  </a:cxn>
                  <a:cxn ang="0">
                    <a:pos x="2141" y="485"/>
                  </a:cxn>
                  <a:cxn ang="0">
                    <a:pos x="2141" y="0"/>
                  </a:cxn>
                  <a:cxn ang="0">
                    <a:pos x="2717" y="0"/>
                  </a:cxn>
                  <a:cxn ang="0">
                    <a:pos x="2717" y="822"/>
                  </a:cxn>
                  <a:cxn ang="0">
                    <a:pos x="2494" y="822"/>
                  </a:cxn>
                  <a:cxn ang="0">
                    <a:pos x="2439" y="1019"/>
                  </a:cxn>
                  <a:cxn ang="0">
                    <a:pos x="2434" y="1021"/>
                  </a:cxn>
                  <a:cxn ang="0">
                    <a:pos x="2214" y="1047"/>
                  </a:cxn>
                </a:cxnLst>
                <a:rect l="0" t="0" r="r" b="b"/>
                <a:pathLst>
                  <a:path w="2717" h="1047">
                    <a:moveTo>
                      <a:pt x="2214" y="1047"/>
                    </a:moveTo>
                    <a:cubicBezTo>
                      <a:pt x="2150" y="1047"/>
                      <a:pt x="2063" y="1023"/>
                      <a:pt x="2013" y="956"/>
                    </a:cubicBezTo>
                    <a:cubicBezTo>
                      <a:pt x="1996" y="933"/>
                      <a:pt x="1975" y="893"/>
                      <a:pt x="1975" y="833"/>
                    </a:cubicBezTo>
                    <a:cubicBezTo>
                      <a:pt x="1975" y="822"/>
                      <a:pt x="1975" y="822"/>
                      <a:pt x="1975" y="822"/>
                    </a:cubicBezTo>
                    <a:cubicBezTo>
                      <a:pt x="1888" y="822"/>
                      <a:pt x="1888" y="822"/>
                      <a:pt x="1888" y="822"/>
                    </a:cubicBezTo>
                    <a:cubicBezTo>
                      <a:pt x="1835" y="1032"/>
                      <a:pt x="1835" y="1032"/>
                      <a:pt x="1835" y="1032"/>
                    </a:cubicBezTo>
                    <a:cubicBezTo>
                      <a:pt x="1680" y="1032"/>
                      <a:pt x="1680" y="1032"/>
                      <a:pt x="1680" y="1032"/>
                    </a:cubicBezTo>
                    <a:cubicBezTo>
                      <a:pt x="1742" y="822"/>
                      <a:pt x="1742" y="822"/>
                      <a:pt x="1742" y="822"/>
                    </a:cubicBezTo>
                    <a:cubicBezTo>
                      <a:pt x="1666" y="822"/>
                      <a:pt x="1666" y="822"/>
                      <a:pt x="1666" y="822"/>
                    </a:cubicBezTo>
                    <a:cubicBezTo>
                      <a:pt x="1530" y="1032"/>
                      <a:pt x="1530" y="1032"/>
                      <a:pt x="1530" y="1032"/>
                    </a:cubicBezTo>
                    <a:cubicBezTo>
                      <a:pt x="1403" y="1032"/>
                      <a:pt x="1403" y="1032"/>
                      <a:pt x="1403" y="1032"/>
                    </a:cubicBezTo>
                    <a:cubicBezTo>
                      <a:pt x="1390" y="822"/>
                      <a:pt x="1390" y="822"/>
                      <a:pt x="1390" y="822"/>
                    </a:cubicBezTo>
                    <a:cubicBezTo>
                      <a:pt x="1309" y="822"/>
                      <a:pt x="1309" y="822"/>
                      <a:pt x="1309" y="822"/>
                    </a:cubicBezTo>
                    <a:cubicBezTo>
                      <a:pt x="1247" y="1032"/>
                      <a:pt x="1247" y="1032"/>
                      <a:pt x="1247" y="1032"/>
                    </a:cubicBezTo>
                    <a:cubicBezTo>
                      <a:pt x="1117" y="1032"/>
                      <a:pt x="1117" y="1032"/>
                      <a:pt x="1117" y="1032"/>
                    </a:cubicBezTo>
                    <a:cubicBezTo>
                      <a:pt x="1181" y="822"/>
                      <a:pt x="1181" y="822"/>
                      <a:pt x="1181" y="822"/>
                    </a:cubicBezTo>
                    <a:cubicBezTo>
                      <a:pt x="808" y="822"/>
                      <a:pt x="808" y="822"/>
                      <a:pt x="808" y="822"/>
                    </a:cubicBezTo>
                    <a:cubicBezTo>
                      <a:pt x="815" y="829"/>
                      <a:pt x="815" y="829"/>
                      <a:pt x="815" y="829"/>
                    </a:cubicBezTo>
                    <a:cubicBezTo>
                      <a:pt x="798" y="826"/>
                      <a:pt x="798" y="826"/>
                      <a:pt x="798" y="826"/>
                    </a:cubicBezTo>
                    <a:cubicBezTo>
                      <a:pt x="737" y="1033"/>
                      <a:pt x="737" y="1033"/>
                      <a:pt x="737" y="1033"/>
                    </a:cubicBezTo>
                    <a:cubicBezTo>
                      <a:pt x="596" y="1033"/>
                      <a:pt x="596" y="1033"/>
                      <a:pt x="596" y="1033"/>
                    </a:cubicBezTo>
                    <a:cubicBezTo>
                      <a:pt x="660" y="822"/>
                      <a:pt x="660" y="822"/>
                      <a:pt x="660" y="822"/>
                    </a:cubicBezTo>
                    <a:cubicBezTo>
                      <a:pt x="431" y="822"/>
                      <a:pt x="431" y="822"/>
                      <a:pt x="431" y="822"/>
                    </a:cubicBezTo>
                    <a:cubicBezTo>
                      <a:pt x="530" y="1033"/>
                      <a:pt x="530" y="1033"/>
                      <a:pt x="530" y="1033"/>
                    </a:cubicBezTo>
                    <a:cubicBezTo>
                      <a:pt x="366" y="1033"/>
                      <a:pt x="366" y="1033"/>
                      <a:pt x="366" y="1033"/>
                    </a:cubicBezTo>
                    <a:cubicBezTo>
                      <a:pt x="281" y="822"/>
                      <a:pt x="281" y="822"/>
                      <a:pt x="281" y="822"/>
                    </a:cubicBezTo>
                    <a:cubicBezTo>
                      <a:pt x="215" y="822"/>
                      <a:pt x="215" y="822"/>
                      <a:pt x="215" y="822"/>
                    </a:cubicBezTo>
                    <a:cubicBezTo>
                      <a:pt x="213" y="830"/>
                      <a:pt x="213" y="830"/>
                      <a:pt x="213" y="830"/>
                    </a:cubicBezTo>
                    <a:cubicBezTo>
                      <a:pt x="181" y="933"/>
                      <a:pt x="156" y="1017"/>
                      <a:pt x="154" y="1023"/>
                    </a:cubicBezTo>
                    <a:cubicBezTo>
                      <a:pt x="152" y="1033"/>
                      <a:pt x="152" y="1033"/>
                      <a:pt x="152" y="1033"/>
                    </a:cubicBezTo>
                    <a:cubicBezTo>
                      <a:pt x="0" y="1033"/>
                      <a:pt x="0" y="1033"/>
                      <a:pt x="0" y="1033"/>
                    </a:cubicBezTo>
                    <a:cubicBezTo>
                      <a:pt x="156" y="514"/>
                      <a:pt x="156" y="514"/>
                      <a:pt x="156" y="514"/>
                    </a:cubicBezTo>
                    <a:cubicBezTo>
                      <a:pt x="156" y="0"/>
                      <a:pt x="156" y="0"/>
                      <a:pt x="156" y="0"/>
                    </a:cubicBezTo>
                    <a:cubicBezTo>
                      <a:pt x="734" y="0"/>
                      <a:pt x="734" y="0"/>
                      <a:pt x="734" y="0"/>
                    </a:cubicBezTo>
                    <a:cubicBezTo>
                      <a:pt x="734" y="506"/>
                      <a:pt x="734" y="506"/>
                      <a:pt x="734" y="506"/>
                    </a:cubicBezTo>
                    <a:cubicBezTo>
                      <a:pt x="754" y="509"/>
                      <a:pt x="754" y="509"/>
                      <a:pt x="754" y="509"/>
                    </a:cubicBezTo>
                    <a:cubicBezTo>
                      <a:pt x="775" y="440"/>
                      <a:pt x="775" y="440"/>
                      <a:pt x="775" y="440"/>
                    </a:cubicBezTo>
                    <a:cubicBezTo>
                      <a:pt x="819" y="440"/>
                      <a:pt x="819" y="440"/>
                      <a:pt x="819" y="440"/>
                    </a:cubicBezTo>
                    <a:cubicBezTo>
                      <a:pt x="819" y="0"/>
                      <a:pt x="819" y="0"/>
                      <a:pt x="819" y="0"/>
                    </a:cubicBezTo>
                    <a:cubicBezTo>
                      <a:pt x="1395" y="0"/>
                      <a:pt x="1395" y="0"/>
                      <a:pt x="1395" y="0"/>
                    </a:cubicBezTo>
                    <a:cubicBezTo>
                      <a:pt x="1395" y="440"/>
                      <a:pt x="1395" y="440"/>
                      <a:pt x="1395" y="440"/>
                    </a:cubicBezTo>
                    <a:cubicBezTo>
                      <a:pt x="1480" y="440"/>
                      <a:pt x="1480" y="440"/>
                      <a:pt x="1480" y="440"/>
                    </a:cubicBezTo>
                    <a:cubicBezTo>
                      <a:pt x="1480" y="0"/>
                      <a:pt x="1480" y="0"/>
                      <a:pt x="1480" y="0"/>
                    </a:cubicBezTo>
                    <a:cubicBezTo>
                      <a:pt x="2056" y="0"/>
                      <a:pt x="2056" y="0"/>
                      <a:pt x="2056" y="0"/>
                    </a:cubicBezTo>
                    <a:cubicBezTo>
                      <a:pt x="2056" y="578"/>
                      <a:pt x="2056" y="578"/>
                      <a:pt x="2056" y="578"/>
                    </a:cubicBezTo>
                    <a:cubicBezTo>
                      <a:pt x="2075" y="553"/>
                      <a:pt x="2075" y="553"/>
                      <a:pt x="2075" y="553"/>
                    </a:cubicBezTo>
                    <a:cubicBezTo>
                      <a:pt x="2094" y="527"/>
                      <a:pt x="2115" y="505"/>
                      <a:pt x="2137" y="488"/>
                    </a:cubicBezTo>
                    <a:cubicBezTo>
                      <a:pt x="2141" y="485"/>
                      <a:pt x="2141" y="485"/>
                      <a:pt x="2141" y="485"/>
                    </a:cubicBezTo>
                    <a:cubicBezTo>
                      <a:pt x="2141" y="0"/>
                      <a:pt x="2141" y="0"/>
                      <a:pt x="2141" y="0"/>
                    </a:cubicBezTo>
                    <a:cubicBezTo>
                      <a:pt x="2717" y="0"/>
                      <a:pt x="2717" y="0"/>
                      <a:pt x="2717" y="0"/>
                    </a:cubicBezTo>
                    <a:cubicBezTo>
                      <a:pt x="2717" y="822"/>
                      <a:pt x="2717" y="822"/>
                      <a:pt x="2717" y="822"/>
                    </a:cubicBezTo>
                    <a:cubicBezTo>
                      <a:pt x="2494" y="822"/>
                      <a:pt x="2494" y="822"/>
                      <a:pt x="2494" y="822"/>
                    </a:cubicBezTo>
                    <a:cubicBezTo>
                      <a:pt x="2439" y="1019"/>
                      <a:pt x="2439" y="1019"/>
                      <a:pt x="2439" y="1019"/>
                    </a:cubicBezTo>
                    <a:cubicBezTo>
                      <a:pt x="2434" y="1021"/>
                      <a:pt x="2434" y="1021"/>
                      <a:pt x="2434" y="1021"/>
                    </a:cubicBezTo>
                    <a:cubicBezTo>
                      <a:pt x="2397" y="1036"/>
                      <a:pt x="2285" y="1047"/>
                      <a:pt x="2214" y="1047"/>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noAutofit/>
              </a:bodyPr>
              <a:lstStyle/>
              <a:p>
                <a:endParaRPr lang="en-GB" dirty="0"/>
              </a:p>
            </p:txBody>
          </p:sp>
          <p:sp>
            <p:nvSpPr>
              <p:cNvPr id="24" name="Freeform 14"/>
              <p:cNvSpPr>
                <a:spLocks noEditPoints="1"/>
              </p:cNvSpPr>
              <p:nvPr userDrawn="1"/>
            </p:nvSpPr>
            <p:spPr bwMode="auto">
              <a:xfrm>
                <a:off x="287338" y="215900"/>
                <a:ext cx="700087" cy="273050"/>
              </a:xfrm>
              <a:custGeom>
                <a:avLst/>
                <a:gdLst/>
                <a:ahLst/>
                <a:cxnLst>
                  <a:cxn ang="0">
                    <a:pos x="2452" y="1042"/>
                  </a:cxn>
                  <a:cxn ang="0">
                    <a:pos x="2018" y="973"/>
                  </a:cxn>
                  <a:cxn ang="0">
                    <a:pos x="1910" y="844"/>
                  </a:cxn>
                  <a:cxn ang="0">
                    <a:pos x="1680" y="1054"/>
                  </a:cxn>
                  <a:cxn ang="0">
                    <a:pos x="1686" y="844"/>
                  </a:cxn>
                  <a:cxn ang="0">
                    <a:pos x="1407" y="1054"/>
                  </a:cxn>
                  <a:cxn ang="0">
                    <a:pos x="1331" y="844"/>
                  </a:cxn>
                  <a:cxn ang="0">
                    <a:pos x="1117" y="1054"/>
                  </a:cxn>
                  <a:cxn ang="0">
                    <a:pos x="822" y="844"/>
                  </a:cxn>
                  <a:cxn ang="0">
                    <a:pos x="758" y="1054"/>
                  </a:cxn>
                  <a:cxn ang="0">
                    <a:pos x="660" y="844"/>
                  </a:cxn>
                  <a:cxn ang="0">
                    <a:pos x="560" y="1054"/>
                  </a:cxn>
                  <a:cxn ang="0">
                    <a:pos x="287" y="844"/>
                  </a:cxn>
                  <a:cxn ang="0">
                    <a:pos x="178" y="1037"/>
                  </a:cxn>
                  <a:cxn ang="0">
                    <a:pos x="0" y="1054"/>
                  </a:cxn>
                  <a:cxn ang="0">
                    <a:pos x="160" y="0"/>
                  </a:cxn>
                  <a:cxn ang="0">
                    <a:pos x="758" y="517"/>
                  </a:cxn>
                  <a:cxn ang="0">
                    <a:pos x="822" y="441"/>
                  </a:cxn>
                  <a:cxn ang="0">
                    <a:pos x="1419" y="0"/>
                  </a:cxn>
                  <a:cxn ang="0">
                    <a:pos x="1483" y="441"/>
                  </a:cxn>
                  <a:cxn ang="0">
                    <a:pos x="2080" y="0"/>
                  </a:cxn>
                  <a:cxn ang="0">
                    <a:pos x="2145" y="491"/>
                  </a:cxn>
                  <a:cxn ang="0">
                    <a:pos x="2742" y="0"/>
                  </a:cxn>
                  <a:cxn ang="0">
                    <a:pos x="2516" y="844"/>
                  </a:cxn>
                  <a:cxn ang="0">
                    <a:pos x="2145" y="844"/>
                  </a:cxn>
                  <a:cxn ang="0">
                    <a:pos x="2253" y="943"/>
                  </a:cxn>
                  <a:cxn ang="0">
                    <a:pos x="2354" y="844"/>
                  </a:cxn>
                  <a:cxn ang="0">
                    <a:pos x="330" y="462"/>
                  </a:cxn>
                  <a:cxn ang="0">
                    <a:pos x="29" y="1033"/>
                  </a:cxn>
                  <a:cxn ang="0">
                    <a:pos x="330" y="462"/>
                  </a:cxn>
                  <a:cxn ang="0">
                    <a:pos x="508" y="462"/>
                  </a:cxn>
                  <a:cxn ang="0">
                    <a:pos x="258" y="714"/>
                  </a:cxn>
                  <a:cxn ang="0">
                    <a:pos x="258" y="714"/>
                  </a:cxn>
                  <a:cxn ang="0">
                    <a:pos x="258" y="714"/>
                  </a:cxn>
                  <a:cxn ang="0">
                    <a:pos x="387" y="1033"/>
                  </a:cxn>
                  <a:cxn ang="0">
                    <a:pos x="383" y="726"/>
                  </a:cxn>
                  <a:cxn ang="0">
                    <a:pos x="1065" y="635"/>
                  </a:cxn>
                  <a:cxn ang="0">
                    <a:pos x="832" y="724"/>
                  </a:cxn>
                  <a:cxn ang="0">
                    <a:pos x="1065" y="635"/>
                  </a:cxn>
                  <a:cxn ang="0">
                    <a:pos x="943" y="462"/>
                  </a:cxn>
                  <a:cxn ang="0">
                    <a:pos x="625" y="1033"/>
                  </a:cxn>
                  <a:cxn ang="0">
                    <a:pos x="810" y="807"/>
                  </a:cxn>
                  <a:cxn ang="0">
                    <a:pos x="1183" y="635"/>
                  </a:cxn>
                  <a:cxn ang="0">
                    <a:pos x="1795" y="462"/>
                  </a:cxn>
                  <a:cxn ang="0">
                    <a:pos x="1506" y="462"/>
                  </a:cxn>
                  <a:cxn ang="0">
                    <a:pos x="1146" y="1033"/>
                  </a:cxn>
                  <a:cxn ang="0">
                    <a:pos x="1397" y="544"/>
                  </a:cxn>
                  <a:cxn ang="0">
                    <a:pos x="1538" y="1033"/>
                  </a:cxn>
                  <a:cxn ang="0">
                    <a:pos x="1708" y="1033"/>
                  </a:cxn>
                  <a:cxn ang="0">
                    <a:pos x="1983" y="462"/>
                  </a:cxn>
                  <a:cxn ang="0">
                    <a:pos x="2015" y="745"/>
                  </a:cxn>
                  <a:cxn ang="0">
                    <a:pos x="2444" y="1022"/>
                  </a:cxn>
                  <a:cxn ang="0">
                    <a:pos x="2283" y="734"/>
                  </a:cxn>
                  <a:cxn ang="0">
                    <a:pos x="2384" y="820"/>
                  </a:cxn>
                  <a:cxn ang="0">
                    <a:pos x="2253" y="965"/>
                  </a:cxn>
                  <a:cxn ang="0">
                    <a:pos x="2343" y="533"/>
                  </a:cxn>
                  <a:cxn ang="0">
                    <a:pos x="2435" y="646"/>
                  </a:cxn>
                  <a:cxn ang="0">
                    <a:pos x="2354" y="450"/>
                  </a:cxn>
                </a:cxnLst>
                <a:rect l="0" t="0" r="r" b="b"/>
                <a:pathLst>
                  <a:path w="2742" h="1069">
                    <a:moveTo>
                      <a:pt x="2462" y="1038"/>
                    </a:moveTo>
                    <a:cubicBezTo>
                      <a:pt x="2452" y="1042"/>
                      <a:pt x="2452" y="1042"/>
                      <a:pt x="2452" y="1042"/>
                    </a:cubicBezTo>
                    <a:cubicBezTo>
                      <a:pt x="2414" y="1057"/>
                      <a:pt x="2300" y="1069"/>
                      <a:pt x="2228" y="1069"/>
                    </a:cubicBezTo>
                    <a:cubicBezTo>
                      <a:pt x="2161" y="1069"/>
                      <a:pt x="2070" y="1043"/>
                      <a:pt x="2018" y="973"/>
                    </a:cubicBezTo>
                    <a:cubicBezTo>
                      <a:pt x="1998" y="946"/>
                      <a:pt x="1979" y="904"/>
                      <a:pt x="1978" y="844"/>
                    </a:cubicBezTo>
                    <a:cubicBezTo>
                      <a:pt x="1910" y="844"/>
                      <a:pt x="1910" y="844"/>
                      <a:pt x="1910" y="844"/>
                    </a:cubicBezTo>
                    <a:cubicBezTo>
                      <a:pt x="1857" y="1054"/>
                      <a:pt x="1857" y="1054"/>
                      <a:pt x="1857" y="1054"/>
                    </a:cubicBezTo>
                    <a:cubicBezTo>
                      <a:pt x="1680" y="1054"/>
                      <a:pt x="1680" y="1054"/>
                      <a:pt x="1680" y="1054"/>
                    </a:cubicBezTo>
                    <a:cubicBezTo>
                      <a:pt x="1742" y="844"/>
                      <a:pt x="1742" y="844"/>
                      <a:pt x="1742" y="844"/>
                    </a:cubicBezTo>
                    <a:cubicBezTo>
                      <a:pt x="1686" y="844"/>
                      <a:pt x="1686" y="844"/>
                      <a:pt x="1686" y="844"/>
                    </a:cubicBezTo>
                    <a:cubicBezTo>
                      <a:pt x="1550" y="1054"/>
                      <a:pt x="1550" y="1054"/>
                      <a:pt x="1550" y="1054"/>
                    </a:cubicBezTo>
                    <a:cubicBezTo>
                      <a:pt x="1407" y="1054"/>
                      <a:pt x="1407" y="1054"/>
                      <a:pt x="1407" y="1054"/>
                    </a:cubicBezTo>
                    <a:cubicBezTo>
                      <a:pt x="1394" y="844"/>
                      <a:pt x="1394" y="844"/>
                      <a:pt x="1394" y="844"/>
                    </a:cubicBezTo>
                    <a:cubicBezTo>
                      <a:pt x="1331" y="844"/>
                      <a:pt x="1331" y="844"/>
                      <a:pt x="1331" y="844"/>
                    </a:cubicBezTo>
                    <a:cubicBezTo>
                      <a:pt x="1269" y="1054"/>
                      <a:pt x="1269" y="1054"/>
                      <a:pt x="1269" y="1054"/>
                    </a:cubicBezTo>
                    <a:cubicBezTo>
                      <a:pt x="1117" y="1054"/>
                      <a:pt x="1117" y="1054"/>
                      <a:pt x="1117" y="1054"/>
                    </a:cubicBezTo>
                    <a:cubicBezTo>
                      <a:pt x="1181" y="844"/>
                      <a:pt x="1181" y="844"/>
                      <a:pt x="1181" y="844"/>
                    </a:cubicBezTo>
                    <a:cubicBezTo>
                      <a:pt x="822" y="844"/>
                      <a:pt x="822" y="844"/>
                      <a:pt x="822" y="844"/>
                    </a:cubicBezTo>
                    <a:cubicBezTo>
                      <a:pt x="822" y="840"/>
                      <a:pt x="822" y="840"/>
                      <a:pt x="822" y="840"/>
                    </a:cubicBezTo>
                    <a:cubicBezTo>
                      <a:pt x="758" y="1054"/>
                      <a:pt x="758" y="1054"/>
                      <a:pt x="758" y="1054"/>
                    </a:cubicBezTo>
                    <a:cubicBezTo>
                      <a:pt x="596" y="1054"/>
                      <a:pt x="596" y="1054"/>
                      <a:pt x="596" y="1054"/>
                    </a:cubicBezTo>
                    <a:cubicBezTo>
                      <a:pt x="660" y="844"/>
                      <a:pt x="660" y="844"/>
                      <a:pt x="660" y="844"/>
                    </a:cubicBezTo>
                    <a:cubicBezTo>
                      <a:pt x="462" y="844"/>
                      <a:pt x="462" y="844"/>
                      <a:pt x="462" y="844"/>
                    </a:cubicBezTo>
                    <a:cubicBezTo>
                      <a:pt x="560" y="1054"/>
                      <a:pt x="560" y="1054"/>
                      <a:pt x="560" y="1054"/>
                    </a:cubicBezTo>
                    <a:cubicBezTo>
                      <a:pt x="373" y="1054"/>
                      <a:pt x="373" y="1054"/>
                      <a:pt x="373" y="1054"/>
                    </a:cubicBezTo>
                    <a:cubicBezTo>
                      <a:pt x="287" y="844"/>
                      <a:pt x="287" y="844"/>
                      <a:pt x="287" y="844"/>
                    </a:cubicBezTo>
                    <a:cubicBezTo>
                      <a:pt x="237" y="844"/>
                      <a:pt x="237" y="844"/>
                      <a:pt x="237" y="844"/>
                    </a:cubicBezTo>
                    <a:cubicBezTo>
                      <a:pt x="205" y="947"/>
                      <a:pt x="180" y="1031"/>
                      <a:pt x="178" y="1037"/>
                    </a:cubicBezTo>
                    <a:cubicBezTo>
                      <a:pt x="175" y="1054"/>
                      <a:pt x="175" y="1054"/>
                      <a:pt x="175" y="1054"/>
                    </a:cubicBezTo>
                    <a:cubicBezTo>
                      <a:pt x="0" y="1054"/>
                      <a:pt x="0" y="1054"/>
                      <a:pt x="0" y="1054"/>
                    </a:cubicBezTo>
                    <a:cubicBezTo>
                      <a:pt x="160" y="523"/>
                      <a:pt x="160" y="523"/>
                      <a:pt x="160" y="523"/>
                    </a:cubicBezTo>
                    <a:cubicBezTo>
                      <a:pt x="160" y="0"/>
                      <a:pt x="160" y="0"/>
                      <a:pt x="160" y="0"/>
                    </a:cubicBezTo>
                    <a:cubicBezTo>
                      <a:pt x="758" y="0"/>
                      <a:pt x="758" y="0"/>
                      <a:pt x="758" y="0"/>
                    </a:cubicBezTo>
                    <a:cubicBezTo>
                      <a:pt x="758" y="517"/>
                      <a:pt x="758" y="517"/>
                      <a:pt x="758" y="517"/>
                    </a:cubicBezTo>
                    <a:cubicBezTo>
                      <a:pt x="781" y="441"/>
                      <a:pt x="781" y="441"/>
                      <a:pt x="781" y="441"/>
                    </a:cubicBezTo>
                    <a:cubicBezTo>
                      <a:pt x="822" y="441"/>
                      <a:pt x="822" y="441"/>
                      <a:pt x="822" y="441"/>
                    </a:cubicBezTo>
                    <a:cubicBezTo>
                      <a:pt x="822" y="0"/>
                      <a:pt x="822" y="0"/>
                      <a:pt x="822" y="0"/>
                    </a:cubicBezTo>
                    <a:cubicBezTo>
                      <a:pt x="1419" y="0"/>
                      <a:pt x="1419" y="0"/>
                      <a:pt x="1419" y="0"/>
                    </a:cubicBezTo>
                    <a:cubicBezTo>
                      <a:pt x="1419" y="441"/>
                      <a:pt x="1419" y="441"/>
                      <a:pt x="1419" y="441"/>
                    </a:cubicBezTo>
                    <a:cubicBezTo>
                      <a:pt x="1483" y="441"/>
                      <a:pt x="1483" y="441"/>
                      <a:pt x="1483" y="441"/>
                    </a:cubicBezTo>
                    <a:cubicBezTo>
                      <a:pt x="1483" y="0"/>
                      <a:pt x="1483" y="0"/>
                      <a:pt x="1483" y="0"/>
                    </a:cubicBezTo>
                    <a:cubicBezTo>
                      <a:pt x="2080" y="0"/>
                      <a:pt x="2080" y="0"/>
                      <a:pt x="2080" y="0"/>
                    </a:cubicBezTo>
                    <a:cubicBezTo>
                      <a:pt x="2080" y="557"/>
                      <a:pt x="2080" y="557"/>
                      <a:pt x="2080" y="557"/>
                    </a:cubicBezTo>
                    <a:cubicBezTo>
                      <a:pt x="2101" y="530"/>
                      <a:pt x="2122" y="508"/>
                      <a:pt x="2145" y="491"/>
                    </a:cubicBezTo>
                    <a:cubicBezTo>
                      <a:pt x="2145" y="0"/>
                      <a:pt x="2145" y="0"/>
                      <a:pt x="2145" y="0"/>
                    </a:cubicBezTo>
                    <a:cubicBezTo>
                      <a:pt x="2742" y="0"/>
                      <a:pt x="2742" y="0"/>
                      <a:pt x="2742" y="0"/>
                    </a:cubicBezTo>
                    <a:cubicBezTo>
                      <a:pt x="2742" y="844"/>
                      <a:pt x="2742" y="844"/>
                      <a:pt x="2742" y="844"/>
                    </a:cubicBezTo>
                    <a:cubicBezTo>
                      <a:pt x="2516" y="844"/>
                      <a:pt x="2516" y="844"/>
                      <a:pt x="2516" y="844"/>
                    </a:cubicBezTo>
                    <a:lnTo>
                      <a:pt x="2462" y="1038"/>
                    </a:lnTo>
                    <a:close/>
                    <a:moveTo>
                      <a:pt x="2145" y="844"/>
                    </a:moveTo>
                    <a:cubicBezTo>
                      <a:pt x="2146" y="871"/>
                      <a:pt x="2151" y="894"/>
                      <a:pt x="2163" y="909"/>
                    </a:cubicBezTo>
                    <a:cubicBezTo>
                      <a:pt x="2180" y="932"/>
                      <a:pt x="2210" y="943"/>
                      <a:pt x="2253" y="943"/>
                    </a:cubicBezTo>
                    <a:cubicBezTo>
                      <a:pt x="2301" y="943"/>
                      <a:pt x="2319" y="938"/>
                      <a:pt x="2324" y="936"/>
                    </a:cubicBezTo>
                    <a:cubicBezTo>
                      <a:pt x="2354" y="844"/>
                      <a:pt x="2354" y="844"/>
                      <a:pt x="2354" y="844"/>
                    </a:cubicBezTo>
                    <a:lnTo>
                      <a:pt x="2145" y="844"/>
                    </a:lnTo>
                    <a:close/>
                    <a:moveTo>
                      <a:pt x="330" y="462"/>
                    </a:moveTo>
                    <a:cubicBezTo>
                      <a:pt x="200" y="462"/>
                      <a:pt x="200" y="462"/>
                      <a:pt x="200" y="462"/>
                    </a:cubicBezTo>
                    <a:cubicBezTo>
                      <a:pt x="29" y="1033"/>
                      <a:pt x="29" y="1033"/>
                      <a:pt x="29" y="1033"/>
                    </a:cubicBezTo>
                    <a:cubicBezTo>
                      <a:pt x="157" y="1033"/>
                      <a:pt x="157" y="1033"/>
                      <a:pt x="157" y="1033"/>
                    </a:cubicBezTo>
                    <a:cubicBezTo>
                      <a:pt x="160" y="1021"/>
                      <a:pt x="330" y="462"/>
                      <a:pt x="330" y="462"/>
                    </a:cubicBezTo>
                    <a:moveTo>
                      <a:pt x="665" y="462"/>
                    </a:moveTo>
                    <a:cubicBezTo>
                      <a:pt x="508" y="462"/>
                      <a:pt x="508" y="462"/>
                      <a:pt x="508" y="462"/>
                    </a:cubicBezTo>
                    <a:cubicBezTo>
                      <a:pt x="258" y="714"/>
                      <a:pt x="258" y="714"/>
                      <a:pt x="258" y="714"/>
                    </a:cubicBezTo>
                    <a:cubicBezTo>
                      <a:pt x="258" y="714"/>
                      <a:pt x="258" y="714"/>
                      <a:pt x="258" y="714"/>
                    </a:cubicBezTo>
                    <a:cubicBezTo>
                      <a:pt x="258" y="714"/>
                      <a:pt x="258" y="714"/>
                      <a:pt x="258" y="714"/>
                    </a:cubicBezTo>
                    <a:cubicBezTo>
                      <a:pt x="258" y="714"/>
                      <a:pt x="258" y="714"/>
                      <a:pt x="258" y="714"/>
                    </a:cubicBezTo>
                    <a:cubicBezTo>
                      <a:pt x="258" y="714"/>
                      <a:pt x="258" y="714"/>
                      <a:pt x="258" y="714"/>
                    </a:cubicBezTo>
                    <a:cubicBezTo>
                      <a:pt x="258" y="714"/>
                      <a:pt x="258" y="714"/>
                      <a:pt x="258" y="714"/>
                    </a:cubicBezTo>
                    <a:cubicBezTo>
                      <a:pt x="258" y="714"/>
                      <a:pt x="258" y="714"/>
                      <a:pt x="258" y="714"/>
                    </a:cubicBezTo>
                    <a:cubicBezTo>
                      <a:pt x="387" y="1033"/>
                      <a:pt x="387" y="1033"/>
                      <a:pt x="387" y="1033"/>
                    </a:cubicBezTo>
                    <a:cubicBezTo>
                      <a:pt x="526" y="1033"/>
                      <a:pt x="526" y="1033"/>
                      <a:pt x="526" y="1033"/>
                    </a:cubicBezTo>
                    <a:cubicBezTo>
                      <a:pt x="383" y="726"/>
                      <a:pt x="383" y="726"/>
                      <a:pt x="383" y="726"/>
                    </a:cubicBezTo>
                    <a:lnTo>
                      <a:pt x="665" y="462"/>
                    </a:lnTo>
                    <a:close/>
                    <a:moveTo>
                      <a:pt x="1065" y="635"/>
                    </a:moveTo>
                    <a:cubicBezTo>
                      <a:pt x="1046" y="693"/>
                      <a:pt x="1020" y="722"/>
                      <a:pt x="934" y="724"/>
                    </a:cubicBezTo>
                    <a:cubicBezTo>
                      <a:pt x="905" y="724"/>
                      <a:pt x="874" y="724"/>
                      <a:pt x="832" y="724"/>
                    </a:cubicBezTo>
                    <a:cubicBezTo>
                      <a:pt x="884" y="544"/>
                      <a:pt x="884" y="544"/>
                      <a:pt x="884" y="544"/>
                    </a:cubicBezTo>
                    <a:cubicBezTo>
                      <a:pt x="1013" y="544"/>
                      <a:pt x="1099" y="534"/>
                      <a:pt x="1065" y="635"/>
                    </a:cubicBezTo>
                    <a:moveTo>
                      <a:pt x="1183" y="635"/>
                    </a:moveTo>
                    <a:cubicBezTo>
                      <a:pt x="1216" y="459"/>
                      <a:pt x="1074" y="461"/>
                      <a:pt x="943" y="462"/>
                    </a:cubicBezTo>
                    <a:cubicBezTo>
                      <a:pt x="797" y="462"/>
                      <a:pt x="797" y="462"/>
                      <a:pt x="797" y="462"/>
                    </a:cubicBezTo>
                    <a:cubicBezTo>
                      <a:pt x="625" y="1033"/>
                      <a:pt x="625" y="1033"/>
                      <a:pt x="625" y="1033"/>
                    </a:cubicBezTo>
                    <a:cubicBezTo>
                      <a:pt x="742" y="1033"/>
                      <a:pt x="742" y="1033"/>
                      <a:pt x="742" y="1033"/>
                    </a:cubicBezTo>
                    <a:cubicBezTo>
                      <a:pt x="810" y="807"/>
                      <a:pt x="810" y="807"/>
                      <a:pt x="810" y="807"/>
                    </a:cubicBezTo>
                    <a:cubicBezTo>
                      <a:pt x="904" y="807"/>
                      <a:pt x="904" y="807"/>
                      <a:pt x="904" y="807"/>
                    </a:cubicBezTo>
                    <a:cubicBezTo>
                      <a:pt x="1086" y="808"/>
                      <a:pt x="1166" y="727"/>
                      <a:pt x="1183" y="635"/>
                    </a:cubicBezTo>
                    <a:moveTo>
                      <a:pt x="1983" y="462"/>
                    </a:moveTo>
                    <a:cubicBezTo>
                      <a:pt x="1795" y="462"/>
                      <a:pt x="1795" y="462"/>
                      <a:pt x="1795" y="462"/>
                    </a:cubicBezTo>
                    <a:cubicBezTo>
                      <a:pt x="1567" y="778"/>
                      <a:pt x="1512" y="956"/>
                      <a:pt x="1512" y="956"/>
                    </a:cubicBezTo>
                    <a:cubicBezTo>
                      <a:pt x="1534" y="755"/>
                      <a:pt x="1506" y="462"/>
                      <a:pt x="1506" y="462"/>
                    </a:cubicBezTo>
                    <a:cubicBezTo>
                      <a:pt x="1320" y="462"/>
                      <a:pt x="1320" y="462"/>
                      <a:pt x="1320" y="462"/>
                    </a:cubicBezTo>
                    <a:cubicBezTo>
                      <a:pt x="1146" y="1033"/>
                      <a:pt x="1146" y="1033"/>
                      <a:pt x="1146" y="1033"/>
                    </a:cubicBezTo>
                    <a:cubicBezTo>
                      <a:pt x="1253" y="1033"/>
                      <a:pt x="1253" y="1033"/>
                      <a:pt x="1253" y="1033"/>
                    </a:cubicBezTo>
                    <a:cubicBezTo>
                      <a:pt x="1397" y="544"/>
                      <a:pt x="1397" y="544"/>
                      <a:pt x="1397" y="544"/>
                    </a:cubicBezTo>
                    <a:cubicBezTo>
                      <a:pt x="1427" y="1033"/>
                      <a:pt x="1427" y="1033"/>
                      <a:pt x="1427" y="1033"/>
                    </a:cubicBezTo>
                    <a:cubicBezTo>
                      <a:pt x="1538" y="1033"/>
                      <a:pt x="1538" y="1033"/>
                      <a:pt x="1538" y="1033"/>
                    </a:cubicBezTo>
                    <a:cubicBezTo>
                      <a:pt x="1854" y="544"/>
                      <a:pt x="1854" y="544"/>
                      <a:pt x="1854" y="544"/>
                    </a:cubicBezTo>
                    <a:cubicBezTo>
                      <a:pt x="1708" y="1033"/>
                      <a:pt x="1708" y="1033"/>
                      <a:pt x="1708" y="1033"/>
                    </a:cubicBezTo>
                    <a:cubicBezTo>
                      <a:pt x="1841" y="1033"/>
                      <a:pt x="1841" y="1033"/>
                      <a:pt x="1841" y="1033"/>
                    </a:cubicBezTo>
                    <a:lnTo>
                      <a:pt x="1983" y="462"/>
                    </a:lnTo>
                    <a:close/>
                    <a:moveTo>
                      <a:pt x="2354" y="450"/>
                    </a:moveTo>
                    <a:cubicBezTo>
                      <a:pt x="2239" y="450"/>
                      <a:pt x="2097" y="476"/>
                      <a:pt x="2015" y="745"/>
                    </a:cubicBezTo>
                    <a:cubicBezTo>
                      <a:pt x="1947" y="971"/>
                      <a:pt x="2113" y="1047"/>
                      <a:pt x="2228" y="1047"/>
                    </a:cubicBezTo>
                    <a:cubicBezTo>
                      <a:pt x="2304" y="1047"/>
                      <a:pt x="2412" y="1035"/>
                      <a:pt x="2444" y="1022"/>
                    </a:cubicBezTo>
                    <a:cubicBezTo>
                      <a:pt x="2525" y="734"/>
                      <a:pt x="2525" y="734"/>
                      <a:pt x="2525" y="734"/>
                    </a:cubicBezTo>
                    <a:cubicBezTo>
                      <a:pt x="2283" y="734"/>
                      <a:pt x="2283" y="734"/>
                      <a:pt x="2283" y="734"/>
                    </a:cubicBezTo>
                    <a:cubicBezTo>
                      <a:pt x="2256" y="820"/>
                      <a:pt x="2256" y="820"/>
                      <a:pt x="2256" y="820"/>
                    </a:cubicBezTo>
                    <a:cubicBezTo>
                      <a:pt x="2384" y="820"/>
                      <a:pt x="2384" y="820"/>
                      <a:pt x="2384" y="820"/>
                    </a:cubicBezTo>
                    <a:cubicBezTo>
                      <a:pt x="2344" y="945"/>
                      <a:pt x="2344" y="945"/>
                      <a:pt x="2344" y="945"/>
                    </a:cubicBezTo>
                    <a:cubicBezTo>
                      <a:pt x="2344" y="945"/>
                      <a:pt x="2349" y="965"/>
                      <a:pt x="2253" y="965"/>
                    </a:cubicBezTo>
                    <a:cubicBezTo>
                      <a:pt x="2132" y="965"/>
                      <a:pt x="2099" y="881"/>
                      <a:pt x="2138" y="742"/>
                    </a:cubicBezTo>
                    <a:cubicBezTo>
                      <a:pt x="2175" y="613"/>
                      <a:pt x="2234" y="527"/>
                      <a:pt x="2343" y="533"/>
                    </a:cubicBezTo>
                    <a:cubicBezTo>
                      <a:pt x="2417" y="536"/>
                      <a:pt x="2459" y="563"/>
                      <a:pt x="2438" y="631"/>
                    </a:cubicBezTo>
                    <a:cubicBezTo>
                      <a:pt x="2437" y="636"/>
                      <a:pt x="2436" y="642"/>
                      <a:pt x="2435" y="646"/>
                    </a:cubicBezTo>
                    <a:cubicBezTo>
                      <a:pt x="2552" y="646"/>
                      <a:pt x="2552" y="646"/>
                      <a:pt x="2552" y="646"/>
                    </a:cubicBezTo>
                    <a:cubicBezTo>
                      <a:pt x="2582" y="559"/>
                      <a:pt x="2522" y="450"/>
                      <a:pt x="2354" y="450"/>
                    </a:cubicBezTo>
                  </a:path>
                </a:pathLst>
              </a:custGeom>
              <a:solidFill>
                <a:srgbClr val="00338D"/>
              </a:solidFill>
              <a:ln w="9525">
                <a:noFill/>
                <a:round/>
                <a:headEnd/>
                <a:tailEnd/>
              </a:ln>
            </p:spPr>
            <p:txBody>
              <a:bodyPr vert="horz" wrap="square" lIns="91440" tIns="45720" rIns="91440" bIns="45720" numCol="1" anchor="t" anchorCtr="0" compatLnSpc="1">
                <a:prstTxWarp prst="textNoShape">
                  <a:avLst/>
                </a:prstTxWarp>
                <a:noAutofit/>
              </a:bodyPr>
              <a:lstStyle/>
              <a:p>
                <a:endParaRPr lang="en-GB" dirty="0"/>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grpSp>
        <p:nvGrpSpPr>
          <p:cNvPr id="2" name="Group 8"/>
          <p:cNvGrpSpPr/>
          <p:nvPr userDrawn="1"/>
        </p:nvGrpSpPr>
        <p:grpSpPr bwMode="gray">
          <a:xfrm>
            <a:off x="1" y="904875"/>
            <a:ext cx="9143999" cy="5476453"/>
            <a:chOff x="1" y="904875"/>
            <a:chExt cx="9143999" cy="5476453"/>
          </a:xfrm>
          <a:noFill/>
        </p:grpSpPr>
        <p:grpSp>
          <p:nvGrpSpPr>
            <p:cNvPr id="3" name="Group 29"/>
            <p:cNvGrpSpPr/>
            <p:nvPr userDrawn="1"/>
          </p:nvGrpSpPr>
          <p:grpSpPr bwMode="gray">
            <a:xfrm>
              <a:off x="251521" y="1193800"/>
              <a:ext cx="8640960" cy="4896000"/>
              <a:chOff x="251521" y="1193800"/>
              <a:chExt cx="8640960" cy="4896000"/>
            </a:xfrm>
            <a:grpFill/>
          </p:grpSpPr>
          <p:sp>
            <p:nvSpPr>
              <p:cNvPr id="16" name="Rectangle 18"/>
              <p:cNvSpPr>
                <a:spLocks noChangeArrowheads="1"/>
              </p:cNvSpPr>
              <p:nvPr userDrawn="1"/>
            </p:nvSpPr>
            <p:spPr bwMode="gray">
              <a:xfrm>
                <a:off x="251521" y="1193800"/>
                <a:ext cx="8640960" cy="4894263"/>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sp>
            <p:nvSpPr>
              <p:cNvPr id="17" name="Rectangle 19"/>
              <p:cNvSpPr>
                <a:spLocks noChangeArrowheads="1"/>
              </p:cNvSpPr>
              <p:nvPr userDrawn="1"/>
            </p:nvSpPr>
            <p:spPr bwMode="gray">
              <a:xfrm>
                <a:off x="251521" y="3568700"/>
                <a:ext cx="8640960" cy="144463"/>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sp>
            <p:nvSpPr>
              <p:cNvPr id="18" name="Rectangle 20"/>
              <p:cNvSpPr>
                <a:spLocks noChangeArrowheads="1"/>
              </p:cNvSpPr>
              <p:nvPr userDrawn="1"/>
            </p:nvSpPr>
            <p:spPr bwMode="gray">
              <a:xfrm>
                <a:off x="3706318" y="1193800"/>
                <a:ext cx="144463" cy="4896000"/>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sp>
            <p:nvSpPr>
              <p:cNvPr id="19" name="Rectangle 21"/>
              <p:cNvSpPr>
                <a:spLocks noChangeArrowheads="1"/>
              </p:cNvSpPr>
              <p:nvPr userDrawn="1"/>
            </p:nvSpPr>
            <p:spPr bwMode="gray">
              <a:xfrm>
                <a:off x="1836838" y="1193800"/>
                <a:ext cx="284163" cy="4896000"/>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sp>
            <p:nvSpPr>
              <p:cNvPr id="20" name="Rectangle 22"/>
              <p:cNvSpPr>
                <a:spLocks noChangeArrowheads="1"/>
              </p:cNvSpPr>
              <p:nvPr userDrawn="1"/>
            </p:nvSpPr>
            <p:spPr bwMode="gray">
              <a:xfrm>
                <a:off x="5436098" y="1193800"/>
                <a:ext cx="142875" cy="4896000"/>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sp>
            <p:nvSpPr>
              <p:cNvPr id="21" name="Rectangle 23"/>
              <p:cNvSpPr>
                <a:spLocks noChangeArrowheads="1"/>
              </p:cNvSpPr>
              <p:nvPr userDrawn="1"/>
            </p:nvSpPr>
            <p:spPr bwMode="gray">
              <a:xfrm>
                <a:off x="7164290" y="1193800"/>
                <a:ext cx="142875" cy="4896000"/>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grpSp>
        <p:grpSp>
          <p:nvGrpSpPr>
            <p:cNvPr id="4" name="Group 30"/>
            <p:cNvGrpSpPr/>
            <p:nvPr userDrawn="1"/>
          </p:nvGrpSpPr>
          <p:grpSpPr bwMode="gray">
            <a:xfrm>
              <a:off x="1" y="904875"/>
              <a:ext cx="9143999" cy="5476453"/>
              <a:chOff x="1" y="904875"/>
              <a:chExt cx="9143999" cy="5476453"/>
            </a:xfrm>
            <a:grpFill/>
          </p:grpSpPr>
          <p:sp>
            <p:nvSpPr>
              <p:cNvPr id="12" name="Rectangle 25"/>
              <p:cNvSpPr>
                <a:spLocks noChangeArrowheads="1"/>
              </p:cNvSpPr>
              <p:nvPr/>
            </p:nvSpPr>
            <p:spPr bwMode="gray">
              <a:xfrm>
                <a:off x="4913313" y="904875"/>
                <a:ext cx="71437" cy="291877"/>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a:ln>
                    <a:noFill/>
                  </a:ln>
                  <a:solidFill>
                    <a:schemeClr val="tx1"/>
                  </a:solidFill>
                  <a:effectLst/>
                  <a:latin typeface="Arial" charset="0"/>
                  <a:ea typeface="+mn-ea"/>
                  <a:cs typeface="Arial" charset="0"/>
                </a:endParaRPr>
              </a:p>
            </p:txBody>
          </p:sp>
          <p:sp>
            <p:nvSpPr>
              <p:cNvPr id="13" name="Rectangle 26"/>
              <p:cNvSpPr>
                <a:spLocks noChangeArrowheads="1"/>
              </p:cNvSpPr>
              <p:nvPr/>
            </p:nvSpPr>
            <p:spPr bwMode="gray">
              <a:xfrm>
                <a:off x="4913313" y="6088063"/>
                <a:ext cx="71437" cy="293265"/>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a:ln>
                    <a:noFill/>
                  </a:ln>
                  <a:solidFill>
                    <a:schemeClr val="tx1"/>
                  </a:solidFill>
                  <a:effectLst/>
                  <a:latin typeface="Arial" charset="0"/>
                  <a:ea typeface="+mn-ea"/>
                  <a:cs typeface="Arial" charset="0"/>
                </a:endParaRPr>
              </a:p>
            </p:txBody>
          </p:sp>
          <p:sp>
            <p:nvSpPr>
              <p:cNvPr id="14" name="Rectangle 27"/>
              <p:cNvSpPr>
                <a:spLocks noChangeArrowheads="1"/>
              </p:cNvSpPr>
              <p:nvPr/>
            </p:nvSpPr>
            <p:spPr bwMode="gray">
              <a:xfrm>
                <a:off x="1" y="3605213"/>
                <a:ext cx="251520" cy="71437"/>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a:ln>
                    <a:noFill/>
                  </a:ln>
                  <a:solidFill>
                    <a:schemeClr val="tx1"/>
                  </a:solidFill>
                  <a:effectLst/>
                  <a:latin typeface="Arial" charset="0"/>
                  <a:ea typeface="+mn-ea"/>
                  <a:cs typeface="Arial" charset="0"/>
                </a:endParaRPr>
              </a:p>
            </p:txBody>
          </p:sp>
          <p:sp>
            <p:nvSpPr>
              <p:cNvPr id="15" name="Rectangle 27"/>
              <p:cNvSpPr>
                <a:spLocks noChangeArrowheads="1"/>
              </p:cNvSpPr>
              <p:nvPr userDrawn="1"/>
            </p:nvSpPr>
            <p:spPr bwMode="gray">
              <a:xfrm>
                <a:off x="8892480" y="3605213"/>
                <a:ext cx="251520" cy="71437"/>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a:ln>
                    <a:noFill/>
                  </a:ln>
                  <a:solidFill>
                    <a:schemeClr val="tx1"/>
                  </a:solidFill>
                  <a:effectLst/>
                  <a:latin typeface="Arial" charset="0"/>
                  <a:ea typeface="+mn-ea"/>
                  <a:cs typeface="Arial" charset="0"/>
                </a:endParaRPr>
              </a:p>
            </p:txBody>
          </p:sp>
        </p:grpSp>
      </p:grpSp>
      <p:sp>
        <p:nvSpPr>
          <p:cNvPr id="7" name="Freeform 29"/>
          <p:cNvSpPr>
            <a:spLocks/>
          </p:cNvSpPr>
          <p:nvPr userDrawn="1"/>
        </p:nvSpPr>
        <p:spPr bwMode="gray">
          <a:xfrm>
            <a:off x="0" y="908720"/>
            <a:ext cx="1835695" cy="5474865"/>
          </a:xfrm>
          <a:custGeom>
            <a:avLst/>
            <a:gdLst>
              <a:gd name="T0" fmla="*/ 0 w 1260"/>
              <a:gd name="T1" fmla="*/ 0 h 3748"/>
              <a:gd name="T2" fmla="*/ 0 w 1260"/>
              <a:gd name="T3" fmla="*/ 3748 h 3748"/>
              <a:gd name="T4" fmla="*/ 1260 w 1260"/>
              <a:gd name="T5" fmla="*/ 3748 h 3748"/>
              <a:gd name="T6" fmla="*/ 1260 w 1260"/>
              <a:gd name="T7" fmla="*/ 0 h 3748"/>
              <a:gd name="T8" fmla="*/ 0 w 1260"/>
              <a:gd name="T9" fmla="*/ 0 h 3748"/>
              <a:gd name="T10" fmla="*/ 0 w 1260"/>
              <a:gd name="T11" fmla="*/ 0 h 3748"/>
              <a:gd name="T12" fmla="*/ 0 60000 65536"/>
              <a:gd name="T13" fmla="*/ 0 60000 65536"/>
              <a:gd name="T14" fmla="*/ 0 60000 65536"/>
              <a:gd name="T15" fmla="*/ 0 60000 65536"/>
              <a:gd name="T16" fmla="*/ 0 60000 65536"/>
              <a:gd name="T17" fmla="*/ 0 60000 65536"/>
              <a:gd name="T18" fmla="*/ 0 w 1260"/>
              <a:gd name="T19" fmla="*/ 0 h 3748"/>
              <a:gd name="T20" fmla="*/ 1260 w 1260"/>
              <a:gd name="T21" fmla="*/ 3748 h 3748"/>
            </a:gdLst>
            <a:ahLst/>
            <a:cxnLst>
              <a:cxn ang="T12">
                <a:pos x="T0" y="T1"/>
              </a:cxn>
              <a:cxn ang="T13">
                <a:pos x="T2" y="T3"/>
              </a:cxn>
              <a:cxn ang="T14">
                <a:pos x="T4" y="T5"/>
              </a:cxn>
              <a:cxn ang="T15">
                <a:pos x="T6" y="T7"/>
              </a:cxn>
              <a:cxn ang="T16">
                <a:pos x="T8" y="T9"/>
              </a:cxn>
              <a:cxn ang="T17">
                <a:pos x="T10" y="T11"/>
              </a:cxn>
            </a:cxnLst>
            <a:rect l="T18" t="T19" r="T20" b="T21"/>
            <a:pathLst>
              <a:path w="1260" h="3748">
                <a:moveTo>
                  <a:pt x="0" y="0"/>
                </a:moveTo>
                <a:lnTo>
                  <a:pt x="0" y="3748"/>
                </a:lnTo>
                <a:lnTo>
                  <a:pt x="1260" y="3748"/>
                </a:lnTo>
                <a:lnTo>
                  <a:pt x="1260" y="0"/>
                </a:lnTo>
                <a:lnTo>
                  <a:pt x="0" y="0"/>
                </a:lnTo>
                <a:close/>
              </a:path>
            </a:pathLst>
          </a:custGeom>
          <a:solidFill>
            <a:srgbClr val="DCDDDD"/>
          </a:solidFill>
          <a:ln w="9525" cap="flat" cmpd="sng">
            <a:noFill/>
            <a:prstDash val="solid"/>
            <a:round/>
            <a:headEnd type="none" w="med" len="med"/>
            <a:tailEnd type="none" w="med" len="med"/>
          </a:ln>
        </p:spPr>
        <p:txBody>
          <a:bodyPr>
            <a:noAutofit/>
          </a:bodyPr>
          <a:lstStyle/>
          <a:p>
            <a:pPr marL="0" algn="l" defTabSz="914400" rtl="0" eaLnBrk="1" latinLnBrk="0" hangingPunct="1"/>
            <a:endParaRPr lang="en-GB" sz="1800" kern="1200" dirty="0">
              <a:solidFill>
                <a:schemeClr val="tx1"/>
              </a:solidFill>
              <a:latin typeface="+mn-lt"/>
              <a:ea typeface="+mn-ea"/>
              <a:cs typeface="+mn-cs"/>
            </a:endParaRPr>
          </a:p>
        </p:txBody>
      </p:sp>
      <p:sp>
        <p:nvSpPr>
          <p:cNvPr id="23" name="Line 33"/>
          <p:cNvSpPr>
            <a:spLocks noChangeShapeType="1"/>
          </p:cNvSpPr>
          <p:nvPr userDrawn="1"/>
        </p:nvSpPr>
        <p:spPr bwMode="gray">
          <a:xfrm>
            <a:off x="0" y="6381328"/>
            <a:ext cx="9136674" cy="0"/>
          </a:xfrm>
          <a:prstGeom prst="line">
            <a:avLst/>
          </a:prstGeom>
          <a:noFill/>
          <a:ln w="6350">
            <a:solidFill>
              <a:srgbClr val="97989A"/>
            </a:solidFill>
            <a:miter lim="800000"/>
            <a:headEnd/>
            <a:tailEnd/>
          </a:ln>
        </p:spPr>
        <p:txBody>
          <a:bodyPr>
            <a:noAutofit/>
          </a:bodyPr>
          <a:lstStyle/>
          <a:p>
            <a:endParaRPr lang="en-GB" dirty="0"/>
          </a:p>
        </p:txBody>
      </p:sp>
      <p:sp>
        <p:nvSpPr>
          <p:cNvPr id="26" name="Text Placeholder 25"/>
          <p:cNvSpPr>
            <a:spLocks noGrp="1"/>
          </p:cNvSpPr>
          <p:nvPr>
            <p:ph type="body" sz="quarter" idx="12"/>
          </p:nvPr>
        </p:nvSpPr>
        <p:spPr bwMode="gray">
          <a:xfrm>
            <a:off x="2123728" y="1196975"/>
            <a:ext cx="6768752" cy="4895850"/>
          </a:xfrm>
        </p:spPr>
        <p:txBody>
          <a:bodyPr>
            <a:noAutofit/>
          </a:bodyPr>
          <a:lstStyle>
            <a:lvl5pPr>
              <a:defRPr/>
            </a:lvl5pPr>
            <a:lvl6pPr>
              <a:defRPr/>
            </a:lvl6pPr>
            <a:lvl7pPr>
              <a:defRPr/>
            </a:lvl7pPr>
            <a:lvl8pPr>
              <a:defRPr/>
            </a:lvl8pPr>
            <a:lvl9pPr>
              <a:defRPr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8" name="Text Placeholder 7"/>
          <p:cNvSpPr>
            <a:spLocks noGrp="1"/>
          </p:cNvSpPr>
          <p:nvPr>
            <p:ph type="body" sz="quarter" idx="13"/>
          </p:nvPr>
        </p:nvSpPr>
        <p:spPr bwMode="gray">
          <a:xfrm>
            <a:off x="252046" y="1195200"/>
            <a:ext cx="1583650" cy="4895850"/>
          </a:xfrm>
        </p:spPr>
        <p:txBody>
          <a:bodyPr rIns="144000">
            <a:noAutofit/>
          </a:bodyPr>
          <a:lstStyle>
            <a:lvl1pPr>
              <a:lnSpc>
                <a:spcPct val="135000"/>
              </a:lnSpc>
              <a:defRPr sz="900">
                <a:solidFill>
                  <a:srgbClr val="00338D"/>
                </a:solidFill>
              </a:defRPr>
            </a:lvl1pPr>
            <a:lvl2pPr marL="180975" indent="-180975">
              <a:lnSpc>
                <a:spcPct val="135000"/>
              </a:lnSpc>
              <a:buClr>
                <a:srgbClr val="00338D"/>
              </a:buClr>
              <a:buFont typeface="Arial" pitchFamily="34" charset="0"/>
              <a:buChar char="■"/>
              <a:defRPr b="1">
                <a:solidFill>
                  <a:srgbClr val="00338D"/>
                </a:solidFill>
              </a:defRPr>
            </a:lvl2pPr>
            <a:lvl3pPr marL="361950" indent="-177800">
              <a:lnSpc>
                <a:spcPct val="135000"/>
              </a:lnSpc>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3pPr>
            <a:lvl4pPr marL="539750" indent="-177800">
              <a:lnSpc>
                <a:spcPct val="135000"/>
              </a:lnSpc>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4pPr>
            <a:lvl5pPr marL="719138" indent="-174625">
              <a:lnSpc>
                <a:spcPct val="135000"/>
              </a:lnSpc>
              <a:buClr>
                <a:srgbClr val="00338D"/>
              </a:buClr>
              <a:buFont typeface="Arial" pitchFamily="34" charset="0"/>
              <a:buChar char="–"/>
              <a:defRPr lang="en-US" sz="900" b="1" kern="1200" baseline="0" noProof="0" dirty="0" smtClean="0">
                <a:solidFill>
                  <a:srgbClr val="00338D"/>
                </a:solidFill>
                <a:latin typeface="Arial" pitchFamily="34" charset="0"/>
                <a:ea typeface="+mn-ea"/>
                <a:cs typeface="Arial" pitchFamily="34" charset="0"/>
              </a:defRPr>
            </a:lvl5pPr>
            <a:lvl6pPr marL="895350" indent="-177800">
              <a:lnSpc>
                <a:spcPct val="100000"/>
              </a:lnSpc>
              <a:buClr>
                <a:srgbClr val="00338D"/>
              </a:buClr>
              <a:buFont typeface="Arial" pitchFamily="34" charset="0"/>
              <a:buChar char="■"/>
              <a:defRPr lang="en-US" sz="900" b="1" kern="1200" baseline="0" dirty="0" smtClean="0">
                <a:solidFill>
                  <a:srgbClr val="00338D"/>
                </a:solidFill>
                <a:latin typeface="Arial" pitchFamily="34" charset="0"/>
                <a:ea typeface="+mn-ea"/>
                <a:cs typeface="Arial" pitchFamily="34" charset="0"/>
              </a:defRPr>
            </a:lvl6pPr>
            <a:lvl7pPr marL="1079500" indent="-184150">
              <a:lnSpc>
                <a:spcPct val="100000"/>
              </a:lnSpc>
              <a:buClr>
                <a:srgbClr val="00338D"/>
              </a:buClr>
              <a:buFont typeface="Arial" pitchFamily="34" charset="0"/>
              <a:buChar char="–"/>
              <a:defRPr lang="en-US" sz="900" b="1" kern="1200" baseline="0" dirty="0" smtClean="0">
                <a:solidFill>
                  <a:srgbClr val="00338D"/>
                </a:solidFill>
                <a:latin typeface="Arial" pitchFamily="34" charset="0"/>
                <a:ea typeface="+mn-ea"/>
                <a:cs typeface="Arial" pitchFamily="34" charset="0"/>
              </a:defRPr>
            </a:lvl7pPr>
            <a:lvl8pPr marL="1257300" indent="-177800">
              <a:lnSpc>
                <a:spcPct val="100000"/>
              </a:lnSpc>
              <a:buClr>
                <a:srgbClr val="00338D"/>
              </a:buClr>
              <a:buFont typeface="Arial" pitchFamily="34" charset="0"/>
              <a:buChar char="■"/>
              <a:defRPr lang="en-US" sz="900" b="1" kern="1200" dirty="0" smtClean="0">
                <a:solidFill>
                  <a:srgbClr val="00338D"/>
                </a:solidFill>
                <a:latin typeface="Arial" pitchFamily="34" charset="0"/>
                <a:ea typeface="+mn-ea"/>
                <a:cs typeface="+mn-cs"/>
              </a:defRPr>
            </a:lvl8pPr>
            <a:lvl9pPr marL="1401763" indent="-144463">
              <a:lnSpc>
                <a:spcPct val="100000"/>
              </a:lnSpc>
              <a:buClr>
                <a:srgbClr val="00338D"/>
              </a:buClr>
              <a:buFont typeface="Arial" pitchFamily="34" charset="0"/>
              <a:buChar char="–"/>
              <a:defRPr lang="en-US" sz="900" b="1" kern="1200" dirty="0" smtClean="0">
                <a:solidFill>
                  <a:srgbClr val="00338D"/>
                </a:solidFill>
                <a:latin typeface="Arial" pitchFamily="34" charset="0"/>
                <a:ea typeface="+mn-ea"/>
                <a:cs typeface="Arial" pitchFamily="34" charset="0"/>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smtClean="0"/>
          </a:p>
        </p:txBody>
      </p:sp>
      <p:sp>
        <p:nvSpPr>
          <p:cNvPr id="22" name="Line 31"/>
          <p:cNvSpPr>
            <a:spLocks noChangeShapeType="1"/>
          </p:cNvSpPr>
          <p:nvPr userDrawn="1"/>
        </p:nvSpPr>
        <p:spPr bwMode="gray">
          <a:xfrm>
            <a:off x="0" y="908720"/>
            <a:ext cx="9136674" cy="0"/>
          </a:xfrm>
          <a:prstGeom prst="line">
            <a:avLst/>
          </a:prstGeom>
          <a:noFill/>
          <a:ln w="6350">
            <a:solidFill>
              <a:srgbClr val="97989A"/>
            </a:solidFill>
            <a:miter lim="800000"/>
            <a:headEnd/>
            <a:tailEnd/>
          </a:ln>
        </p:spPr>
        <p:txBody>
          <a:bodyPr>
            <a:noAutofit/>
          </a:bodyPr>
          <a:lstStyle/>
          <a:p>
            <a:endParaRPr lang="en-GB" dirty="0"/>
          </a:p>
        </p:txBody>
      </p:sp>
      <p:sp>
        <p:nvSpPr>
          <p:cNvPr id="24" name="Title 23"/>
          <p:cNvSpPr>
            <a:spLocks noGrp="1"/>
          </p:cNvSpPr>
          <p:nvPr>
            <p:ph type="title"/>
          </p:nvPr>
        </p:nvSpPr>
        <p:spPr bwMode="gray"/>
        <p:txBody>
          <a:bodyPr>
            <a:noAutofit/>
          </a:bodyPr>
          <a:lstStyle/>
          <a:p>
            <a:r>
              <a:rPr lang="en-US" smtClean="0"/>
              <a:t>Click to edit Master title style</a:t>
            </a:r>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Text">
    <p:spTree>
      <p:nvGrpSpPr>
        <p:cNvPr id="1" name=""/>
        <p:cNvGrpSpPr/>
        <p:nvPr/>
      </p:nvGrpSpPr>
      <p:grpSpPr>
        <a:xfrm>
          <a:off x="0" y="0"/>
          <a:ext cx="0" cy="0"/>
          <a:chOff x="0" y="0"/>
          <a:chExt cx="0" cy="0"/>
        </a:xfrm>
      </p:grpSpPr>
      <p:sp>
        <p:nvSpPr>
          <p:cNvPr id="22" name="Freeform 29"/>
          <p:cNvSpPr>
            <a:spLocks/>
          </p:cNvSpPr>
          <p:nvPr userDrawn="1"/>
        </p:nvSpPr>
        <p:spPr bwMode="gray">
          <a:xfrm>
            <a:off x="0" y="908720"/>
            <a:ext cx="1835695" cy="5474865"/>
          </a:xfrm>
          <a:custGeom>
            <a:avLst/>
            <a:gdLst>
              <a:gd name="T0" fmla="*/ 0 w 1260"/>
              <a:gd name="T1" fmla="*/ 0 h 3748"/>
              <a:gd name="T2" fmla="*/ 0 w 1260"/>
              <a:gd name="T3" fmla="*/ 3748 h 3748"/>
              <a:gd name="T4" fmla="*/ 1260 w 1260"/>
              <a:gd name="T5" fmla="*/ 3748 h 3748"/>
              <a:gd name="T6" fmla="*/ 1260 w 1260"/>
              <a:gd name="T7" fmla="*/ 0 h 3748"/>
              <a:gd name="T8" fmla="*/ 0 w 1260"/>
              <a:gd name="T9" fmla="*/ 0 h 3748"/>
              <a:gd name="T10" fmla="*/ 0 w 1260"/>
              <a:gd name="T11" fmla="*/ 0 h 3748"/>
              <a:gd name="T12" fmla="*/ 0 60000 65536"/>
              <a:gd name="T13" fmla="*/ 0 60000 65536"/>
              <a:gd name="T14" fmla="*/ 0 60000 65536"/>
              <a:gd name="T15" fmla="*/ 0 60000 65536"/>
              <a:gd name="T16" fmla="*/ 0 60000 65536"/>
              <a:gd name="T17" fmla="*/ 0 60000 65536"/>
              <a:gd name="T18" fmla="*/ 0 w 1260"/>
              <a:gd name="T19" fmla="*/ 0 h 3748"/>
              <a:gd name="T20" fmla="*/ 1260 w 1260"/>
              <a:gd name="T21" fmla="*/ 3748 h 3748"/>
            </a:gdLst>
            <a:ahLst/>
            <a:cxnLst>
              <a:cxn ang="T12">
                <a:pos x="T0" y="T1"/>
              </a:cxn>
              <a:cxn ang="T13">
                <a:pos x="T2" y="T3"/>
              </a:cxn>
              <a:cxn ang="T14">
                <a:pos x="T4" y="T5"/>
              </a:cxn>
              <a:cxn ang="T15">
                <a:pos x="T6" y="T7"/>
              </a:cxn>
              <a:cxn ang="T16">
                <a:pos x="T8" y="T9"/>
              </a:cxn>
              <a:cxn ang="T17">
                <a:pos x="T10" y="T11"/>
              </a:cxn>
            </a:cxnLst>
            <a:rect l="T18" t="T19" r="T20" b="T21"/>
            <a:pathLst>
              <a:path w="1260" h="3748">
                <a:moveTo>
                  <a:pt x="0" y="0"/>
                </a:moveTo>
                <a:lnTo>
                  <a:pt x="0" y="3748"/>
                </a:lnTo>
                <a:lnTo>
                  <a:pt x="1260" y="3748"/>
                </a:lnTo>
                <a:lnTo>
                  <a:pt x="1260" y="0"/>
                </a:lnTo>
                <a:lnTo>
                  <a:pt x="0" y="0"/>
                </a:lnTo>
                <a:close/>
              </a:path>
            </a:pathLst>
          </a:custGeom>
          <a:solidFill>
            <a:srgbClr val="DCDDDD"/>
          </a:solidFill>
          <a:ln w="9525" cap="flat" cmpd="sng">
            <a:noFill/>
            <a:prstDash val="solid"/>
            <a:round/>
            <a:headEnd type="none" w="med" len="med"/>
            <a:tailEnd type="none" w="med" len="med"/>
          </a:ln>
        </p:spPr>
        <p:txBody>
          <a:bodyPr>
            <a:noAutofit/>
          </a:bodyPr>
          <a:lstStyle/>
          <a:p>
            <a:pPr marL="0" algn="l" defTabSz="914400" rtl="0" eaLnBrk="1" latinLnBrk="0" hangingPunct="1"/>
            <a:endParaRPr lang="en-GB" sz="1800" kern="1200" dirty="0">
              <a:solidFill>
                <a:schemeClr val="tx1"/>
              </a:solidFill>
              <a:latin typeface="+mn-lt"/>
              <a:ea typeface="+mn-ea"/>
              <a:cs typeface="+mn-cs"/>
            </a:endParaRPr>
          </a:p>
        </p:txBody>
      </p:sp>
      <p:sp>
        <p:nvSpPr>
          <p:cNvPr id="23" name="Line 33"/>
          <p:cNvSpPr>
            <a:spLocks noChangeShapeType="1"/>
          </p:cNvSpPr>
          <p:nvPr userDrawn="1"/>
        </p:nvSpPr>
        <p:spPr bwMode="gray">
          <a:xfrm>
            <a:off x="0" y="6381328"/>
            <a:ext cx="9136674" cy="0"/>
          </a:xfrm>
          <a:prstGeom prst="line">
            <a:avLst/>
          </a:prstGeom>
          <a:noFill/>
          <a:ln w="6350">
            <a:solidFill>
              <a:srgbClr val="97989A"/>
            </a:solidFill>
            <a:miter lim="800000"/>
            <a:headEnd/>
            <a:tailEnd/>
          </a:ln>
        </p:spPr>
        <p:txBody>
          <a:bodyPr>
            <a:noAutofit/>
          </a:bodyPr>
          <a:lstStyle/>
          <a:p>
            <a:endParaRPr lang="en-GB" dirty="0"/>
          </a:p>
        </p:txBody>
      </p:sp>
      <p:sp>
        <p:nvSpPr>
          <p:cNvPr id="25" name="Line 31"/>
          <p:cNvSpPr>
            <a:spLocks noChangeShapeType="1"/>
          </p:cNvSpPr>
          <p:nvPr userDrawn="1"/>
        </p:nvSpPr>
        <p:spPr bwMode="gray">
          <a:xfrm>
            <a:off x="0" y="908720"/>
            <a:ext cx="9136674" cy="0"/>
          </a:xfrm>
          <a:prstGeom prst="line">
            <a:avLst/>
          </a:prstGeom>
          <a:noFill/>
          <a:ln w="6350">
            <a:solidFill>
              <a:srgbClr val="97989A"/>
            </a:solidFill>
            <a:miter lim="800000"/>
            <a:headEnd/>
            <a:tailEnd/>
          </a:ln>
        </p:spPr>
        <p:txBody>
          <a:bodyPr>
            <a:noAutofit/>
          </a:bodyPr>
          <a:lstStyle/>
          <a:p>
            <a:endParaRPr lang="en-GB" dirty="0"/>
          </a:p>
        </p:txBody>
      </p:sp>
      <p:sp>
        <p:nvSpPr>
          <p:cNvPr id="10" name="Text Placeholder 7"/>
          <p:cNvSpPr>
            <a:spLocks noGrp="1"/>
          </p:cNvSpPr>
          <p:nvPr>
            <p:ph type="body" sz="quarter" idx="12"/>
          </p:nvPr>
        </p:nvSpPr>
        <p:spPr bwMode="gray">
          <a:xfrm>
            <a:off x="252046" y="1195200"/>
            <a:ext cx="1583650" cy="4895850"/>
          </a:xfrm>
        </p:spPr>
        <p:txBody>
          <a:bodyPr vert="horz" lIns="0" tIns="0" rIns="144000" bIns="0" rtlCol="0">
            <a:noAutofit/>
          </a:bodyPr>
          <a:lstStyle>
            <a:lvl1pPr algn="l" defTabSz="914400" rtl="0" eaLnBrk="1" latinLnBrk="0" hangingPunct="1">
              <a:lnSpc>
                <a:spcPct val="135000"/>
              </a:lnSpc>
              <a:spcBef>
                <a:spcPts val="600"/>
              </a:spcBef>
              <a:buFont typeface="Arial" pitchFamily="34" charset="0"/>
              <a:defRPr lang="en-US" sz="900" b="1" kern="1200" noProof="0" dirty="0" smtClean="0">
                <a:solidFill>
                  <a:srgbClr val="00338D"/>
                </a:solidFill>
                <a:latin typeface="Arial" pitchFamily="34" charset="0"/>
                <a:ea typeface="+mn-ea"/>
                <a:cs typeface="Arial" pitchFamily="34" charset="0"/>
              </a:defRPr>
            </a:lvl1pPr>
            <a:lvl2pPr marL="180975" indent="-180975"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2pPr>
            <a:lvl3pPr marL="361950" indent="-177800"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3pPr>
            <a:lvl4pPr marL="539750" indent="-177800"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4pPr>
            <a:lvl5pPr marL="719138" indent="-174625" algn="l" defTabSz="914400" rtl="0" eaLnBrk="1" latinLnBrk="0" hangingPunct="1">
              <a:lnSpc>
                <a:spcPct val="135000"/>
              </a:lnSpc>
              <a:spcBef>
                <a:spcPts val="600"/>
              </a:spcBef>
              <a:buClr>
                <a:srgbClr val="00338D"/>
              </a:buClr>
              <a:buFont typeface="Arial" pitchFamily="34" charset="0"/>
              <a:buChar char="–"/>
              <a:defRPr lang="en-GB" sz="900" b="1" kern="1200" noProof="0" dirty="0" smtClean="0">
                <a:solidFill>
                  <a:srgbClr val="00338D"/>
                </a:solidFill>
                <a:latin typeface="Arial" pitchFamily="34" charset="0"/>
                <a:ea typeface="+mn-ea"/>
                <a:cs typeface="Arial" pitchFamily="34" charset="0"/>
              </a:defRPr>
            </a:lvl5pPr>
            <a:lvl6pPr marL="895350" indent="-177800">
              <a:lnSpc>
                <a:spcPct val="100000"/>
              </a:lnSpc>
              <a:buClr>
                <a:srgbClr val="00338D"/>
              </a:buClr>
              <a:buFont typeface="Arial" pitchFamily="34" charset="0"/>
              <a:buChar char="■"/>
              <a:defRPr lang="en-US" sz="900" b="1" kern="1200" baseline="0" dirty="0" smtClean="0">
                <a:solidFill>
                  <a:srgbClr val="00338D"/>
                </a:solidFill>
                <a:latin typeface="Arial" pitchFamily="34" charset="0"/>
                <a:ea typeface="+mn-ea"/>
                <a:cs typeface="Arial" pitchFamily="34" charset="0"/>
              </a:defRPr>
            </a:lvl6pPr>
            <a:lvl7pPr marL="1079500" indent="-184150">
              <a:lnSpc>
                <a:spcPct val="100000"/>
              </a:lnSpc>
              <a:buClr>
                <a:srgbClr val="00338D"/>
              </a:buClr>
              <a:buFont typeface="Arial" pitchFamily="34" charset="0"/>
              <a:buChar char="–"/>
              <a:defRPr lang="en-US" sz="900" b="1" kern="1200" baseline="0" dirty="0" smtClean="0">
                <a:solidFill>
                  <a:srgbClr val="00338D"/>
                </a:solidFill>
                <a:latin typeface="Arial" pitchFamily="34" charset="0"/>
                <a:ea typeface="+mn-ea"/>
                <a:cs typeface="Arial" pitchFamily="34" charset="0"/>
              </a:defRPr>
            </a:lvl7pPr>
            <a:lvl8pPr marL="1257300" indent="-177800">
              <a:lnSpc>
                <a:spcPct val="100000"/>
              </a:lnSpc>
              <a:buClr>
                <a:srgbClr val="00338D"/>
              </a:buClr>
              <a:buFont typeface="Arial" pitchFamily="34" charset="0"/>
              <a:buChar char="■"/>
              <a:defRPr lang="en-US" sz="900" b="1" kern="1200" dirty="0" smtClean="0">
                <a:solidFill>
                  <a:srgbClr val="00338D"/>
                </a:solidFill>
                <a:latin typeface="Arial" pitchFamily="34" charset="0"/>
                <a:ea typeface="+mn-ea"/>
                <a:cs typeface="+mn-cs"/>
              </a:defRPr>
            </a:lvl8pPr>
            <a:lvl9pPr marL="1401763" indent="-144463">
              <a:lnSpc>
                <a:spcPct val="100000"/>
              </a:lnSpc>
              <a:buClr>
                <a:srgbClr val="00338D"/>
              </a:buClr>
              <a:buFont typeface="Arial" pitchFamily="34" charset="0"/>
              <a:buChar char="–"/>
              <a:defRPr lang="en-US" sz="900" b="1" kern="1200" dirty="0" smtClean="0">
                <a:solidFill>
                  <a:srgbClr val="00338D"/>
                </a:solidFill>
                <a:latin typeface="Arial" pitchFamily="34" charset="0"/>
                <a:ea typeface="+mn-ea"/>
                <a:cs typeface="Arial" pitchFamily="34" charset="0"/>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smtClean="0"/>
          </a:p>
        </p:txBody>
      </p:sp>
      <p:sp>
        <p:nvSpPr>
          <p:cNvPr id="24" name="Line 33"/>
          <p:cNvSpPr>
            <a:spLocks noChangeShapeType="1"/>
          </p:cNvSpPr>
          <p:nvPr userDrawn="1"/>
        </p:nvSpPr>
        <p:spPr bwMode="gray">
          <a:xfrm>
            <a:off x="0" y="6381328"/>
            <a:ext cx="9136674" cy="0"/>
          </a:xfrm>
          <a:prstGeom prst="line">
            <a:avLst/>
          </a:prstGeom>
          <a:noFill/>
          <a:ln w="6350">
            <a:solidFill>
              <a:srgbClr val="97989A"/>
            </a:solidFill>
            <a:miter lim="800000"/>
            <a:headEnd/>
            <a:tailEnd/>
          </a:ln>
        </p:spPr>
        <p:txBody>
          <a:bodyPr>
            <a:noAutofit/>
          </a:bodyPr>
          <a:lstStyle/>
          <a:p>
            <a:endParaRPr lang="en-GB" dirty="0"/>
          </a:p>
        </p:txBody>
      </p:sp>
      <p:sp>
        <p:nvSpPr>
          <p:cNvPr id="26" name="Text Placeholder 25"/>
          <p:cNvSpPr>
            <a:spLocks noGrp="1"/>
          </p:cNvSpPr>
          <p:nvPr>
            <p:ph type="body" sz="quarter" idx="13"/>
          </p:nvPr>
        </p:nvSpPr>
        <p:spPr bwMode="gray">
          <a:xfrm>
            <a:off x="2123729" y="1196753"/>
            <a:ext cx="3312848" cy="4896072"/>
          </a:xfrm>
        </p:spPr>
        <p:txBody>
          <a:bodyPr>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28" name="Text Placeholder 27"/>
          <p:cNvSpPr>
            <a:spLocks noGrp="1"/>
          </p:cNvSpPr>
          <p:nvPr>
            <p:ph type="body" sz="quarter" idx="14"/>
          </p:nvPr>
        </p:nvSpPr>
        <p:spPr bwMode="gray">
          <a:xfrm>
            <a:off x="5580112" y="1196753"/>
            <a:ext cx="3311842" cy="4896072"/>
          </a:xfrm>
        </p:spPr>
        <p:txBody>
          <a:bodyPr>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27" name="Title 26"/>
          <p:cNvSpPr>
            <a:spLocks noGrp="1"/>
          </p:cNvSpPr>
          <p:nvPr>
            <p:ph type="title"/>
          </p:nvPr>
        </p:nvSpPr>
        <p:spPr bwMode="gray"/>
        <p:txBody>
          <a:bodyPr>
            <a:noAutofit/>
          </a:bodyPr>
          <a:lstStyle/>
          <a:p>
            <a:r>
              <a:rPr lang="en-US" smtClean="0"/>
              <a:t>Click to edit Master title style</a:t>
            </a:r>
            <a:endParaRPr lang="en-GB"/>
          </a:p>
        </p:txBody>
      </p:sp>
      <p:grpSp>
        <p:nvGrpSpPr>
          <p:cNvPr id="2" name="Group 42"/>
          <p:cNvGrpSpPr/>
          <p:nvPr userDrawn="1"/>
        </p:nvGrpSpPr>
        <p:grpSpPr bwMode="gray">
          <a:xfrm>
            <a:off x="1" y="904875"/>
            <a:ext cx="9143999" cy="5476453"/>
            <a:chOff x="1" y="904875"/>
            <a:chExt cx="9143999" cy="5476453"/>
          </a:xfrm>
          <a:noFill/>
        </p:grpSpPr>
        <p:grpSp>
          <p:nvGrpSpPr>
            <p:cNvPr id="3" name="Group 29"/>
            <p:cNvGrpSpPr/>
            <p:nvPr userDrawn="1"/>
          </p:nvGrpSpPr>
          <p:grpSpPr bwMode="gray">
            <a:xfrm>
              <a:off x="251521" y="1193800"/>
              <a:ext cx="8640960" cy="4896000"/>
              <a:chOff x="251521" y="1193800"/>
              <a:chExt cx="8640960" cy="4896000"/>
            </a:xfrm>
            <a:grpFill/>
          </p:grpSpPr>
          <p:sp>
            <p:nvSpPr>
              <p:cNvPr id="50" name="Rectangle 18"/>
              <p:cNvSpPr>
                <a:spLocks noChangeArrowheads="1"/>
              </p:cNvSpPr>
              <p:nvPr userDrawn="1"/>
            </p:nvSpPr>
            <p:spPr bwMode="gray">
              <a:xfrm>
                <a:off x="251521" y="1193800"/>
                <a:ext cx="8640960" cy="4894263"/>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sp>
            <p:nvSpPr>
              <p:cNvPr id="51" name="Rectangle 19"/>
              <p:cNvSpPr>
                <a:spLocks noChangeArrowheads="1"/>
              </p:cNvSpPr>
              <p:nvPr userDrawn="1"/>
            </p:nvSpPr>
            <p:spPr bwMode="gray">
              <a:xfrm>
                <a:off x="251521" y="3568700"/>
                <a:ext cx="8640960" cy="144463"/>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sp>
            <p:nvSpPr>
              <p:cNvPr id="52" name="Rectangle 20"/>
              <p:cNvSpPr>
                <a:spLocks noChangeArrowheads="1"/>
              </p:cNvSpPr>
              <p:nvPr userDrawn="1"/>
            </p:nvSpPr>
            <p:spPr bwMode="gray">
              <a:xfrm>
                <a:off x="3706318" y="1193800"/>
                <a:ext cx="144463" cy="4896000"/>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sp>
            <p:nvSpPr>
              <p:cNvPr id="53" name="Rectangle 21"/>
              <p:cNvSpPr>
                <a:spLocks noChangeArrowheads="1"/>
              </p:cNvSpPr>
              <p:nvPr userDrawn="1"/>
            </p:nvSpPr>
            <p:spPr bwMode="gray">
              <a:xfrm>
                <a:off x="1836838" y="1193800"/>
                <a:ext cx="284163" cy="4896000"/>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sp>
            <p:nvSpPr>
              <p:cNvPr id="54" name="Rectangle 22"/>
              <p:cNvSpPr>
                <a:spLocks noChangeArrowheads="1"/>
              </p:cNvSpPr>
              <p:nvPr userDrawn="1"/>
            </p:nvSpPr>
            <p:spPr bwMode="gray">
              <a:xfrm>
                <a:off x="5436098" y="1193800"/>
                <a:ext cx="142875" cy="4896000"/>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sp>
            <p:nvSpPr>
              <p:cNvPr id="55" name="Rectangle 23"/>
              <p:cNvSpPr>
                <a:spLocks noChangeArrowheads="1"/>
              </p:cNvSpPr>
              <p:nvPr userDrawn="1"/>
            </p:nvSpPr>
            <p:spPr bwMode="gray">
              <a:xfrm>
                <a:off x="7164290" y="1193800"/>
                <a:ext cx="142875" cy="4896000"/>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grpSp>
        <p:grpSp>
          <p:nvGrpSpPr>
            <p:cNvPr id="4" name="Group 30"/>
            <p:cNvGrpSpPr/>
            <p:nvPr userDrawn="1"/>
          </p:nvGrpSpPr>
          <p:grpSpPr bwMode="gray">
            <a:xfrm>
              <a:off x="1" y="904875"/>
              <a:ext cx="9143999" cy="5476453"/>
              <a:chOff x="1" y="904875"/>
              <a:chExt cx="9143999" cy="5476453"/>
            </a:xfrm>
            <a:grpFill/>
          </p:grpSpPr>
          <p:sp>
            <p:nvSpPr>
              <p:cNvPr id="46" name="Rectangle 25"/>
              <p:cNvSpPr>
                <a:spLocks noChangeArrowheads="1"/>
              </p:cNvSpPr>
              <p:nvPr/>
            </p:nvSpPr>
            <p:spPr bwMode="gray">
              <a:xfrm>
                <a:off x="4913313" y="904875"/>
                <a:ext cx="71437" cy="291877"/>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a:ln>
                    <a:noFill/>
                  </a:ln>
                  <a:solidFill>
                    <a:schemeClr val="tx1"/>
                  </a:solidFill>
                  <a:effectLst/>
                  <a:latin typeface="Arial" charset="0"/>
                  <a:ea typeface="+mn-ea"/>
                  <a:cs typeface="Arial" charset="0"/>
                </a:endParaRPr>
              </a:p>
            </p:txBody>
          </p:sp>
          <p:sp>
            <p:nvSpPr>
              <p:cNvPr id="47" name="Rectangle 26"/>
              <p:cNvSpPr>
                <a:spLocks noChangeArrowheads="1"/>
              </p:cNvSpPr>
              <p:nvPr/>
            </p:nvSpPr>
            <p:spPr bwMode="gray">
              <a:xfrm>
                <a:off x="4913313" y="6088063"/>
                <a:ext cx="71437" cy="293265"/>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a:ln>
                    <a:noFill/>
                  </a:ln>
                  <a:solidFill>
                    <a:schemeClr val="tx1"/>
                  </a:solidFill>
                  <a:effectLst/>
                  <a:latin typeface="Arial" charset="0"/>
                  <a:ea typeface="+mn-ea"/>
                  <a:cs typeface="Arial" charset="0"/>
                </a:endParaRPr>
              </a:p>
            </p:txBody>
          </p:sp>
          <p:sp>
            <p:nvSpPr>
              <p:cNvPr id="48" name="Rectangle 27"/>
              <p:cNvSpPr>
                <a:spLocks noChangeArrowheads="1"/>
              </p:cNvSpPr>
              <p:nvPr/>
            </p:nvSpPr>
            <p:spPr bwMode="gray">
              <a:xfrm>
                <a:off x="1" y="3605213"/>
                <a:ext cx="251520" cy="71437"/>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a:ln>
                    <a:noFill/>
                  </a:ln>
                  <a:solidFill>
                    <a:schemeClr val="tx1"/>
                  </a:solidFill>
                  <a:effectLst/>
                  <a:latin typeface="Arial" charset="0"/>
                  <a:ea typeface="+mn-ea"/>
                  <a:cs typeface="Arial" charset="0"/>
                </a:endParaRPr>
              </a:p>
            </p:txBody>
          </p:sp>
          <p:sp>
            <p:nvSpPr>
              <p:cNvPr id="49" name="Rectangle 27"/>
              <p:cNvSpPr>
                <a:spLocks noChangeArrowheads="1"/>
              </p:cNvSpPr>
              <p:nvPr userDrawn="1"/>
            </p:nvSpPr>
            <p:spPr bwMode="gray">
              <a:xfrm>
                <a:off x="8892480" y="3605213"/>
                <a:ext cx="251520" cy="71437"/>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a:ln>
                    <a:noFill/>
                  </a:ln>
                  <a:solidFill>
                    <a:schemeClr val="tx1"/>
                  </a:solidFill>
                  <a:effectLst/>
                  <a:latin typeface="Arial" charset="0"/>
                  <a:ea typeface="+mn-ea"/>
                  <a:cs typeface="Arial" charset="0"/>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Four Text">
    <p:spTree>
      <p:nvGrpSpPr>
        <p:cNvPr id="1" name=""/>
        <p:cNvGrpSpPr/>
        <p:nvPr/>
      </p:nvGrpSpPr>
      <p:grpSpPr>
        <a:xfrm>
          <a:off x="0" y="0"/>
          <a:ext cx="0" cy="0"/>
          <a:chOff x="0" y="0"/>
          <a:chExt cx="0" cy="0"/>
        </a:xfrm>
      </p:grpSpPr>
      <p:sp>
        <p:nvSpPr>
          <p:cNvPr id="30" name="Freeform 29"/>
          <p:cNvSpPr>
            <a:spLocks/>
          </p:cNvSpPr>
          <p:nvPr userDrawn="1"/>
        </p:nvSpPr>
        <p:spPr bwMode="gray">
          <a:xfrm>
            <a:off x="0" y="908720"/>
            <a:ext cx="1835695" cy="5474865"/>
          </a:xfrm>
          <a:custGeom>
            <a:avLst/>
            <a:gdLst>
              <a:gd name="T0" fmla="*/ 0 w 1260"/>
              <a:gd name="T1" fmla="*/ 0 h 3748"/>
              <a:gd name="T2" fmla="*/ 0 w 1260"/>
              <a:gd name="T3" fmla="*/ 3748 h 3748"/>
              <a:gd name="T4" fmla="*/ 1260 w 1260"/>
              <a:gd name="T5" fmla="*/ 3748 h 3748"/>
              <a:gd name="T6" fmla="*/ 1260 w 1260"/>
              <a:gd name="T7" fmla="*/ 0 h 3748"/>
              <a:gd name="T8" fmla="*/ 0 w 1260"/>
              <a:gd name="T9" fmla="*/ 0 h 3748"/>
              <a:gd name="T10" fmla="*/ 0 w 1260"/>
              <a:gd name="T11" fmla="*/ 0 h 3748"/>
              <a:gd name="T12" fmla="*/ 0 60000 65536"/>
              <a:gd name="T13" fmla="*/ 0 60000 65536"/>
              <a:gd name="T14" fmla="*/ 0 60000 65536"/>
              <a:gd name="T15" fmla="*/ 0 60000 65536"/>
              <a:gd name="T16" fmla="*/ 0 60000 65536"/>
              <a:gd name="T17" fmla="*/ 0 60000 65536"/>
              <a:gd name="T18" fmla="*/ 0 w 1260"/>
              <a:gd name="T19" fmla="*/ 0 h 3748"/>
              <a:gd name="T20" fmla="*/ 1260 w 1260"/>
              <a:gd name="T21" fmla="*/ 3748 h 3748"/>
            </a:gdLst>
            <a:ahLst/>
            <a:cxnLst>
              <a:cxn ang="T12">
                <a:pos x="T0" y="T1"/>
              </a:cxn>
              <a:cxn ang="T13">
                <a:pos x="T2" y="T3"/>
              </a:cxn>
              <a:cxn ang="T14">
                <a:pos x="T4" y="T5"/>
              </a:cxn>
              <a:cxn ang="T15">
                <a:pos x="T6" y="T7"/>
              </a:cxn>
              <a:cxn ang="T16">
                <a:pos x="T8" y="T9"/>
              </a:cxn>
              <a:cxn ang="T17">
                <a:pos x="T10" y="T11"/>
              </a:cxn>
            </a:cxnLst>
            <a:rect l="T18" t="T19" r="T20" b="T21"/>
            <a:pathLst>
              <a:path w="1260" h="3748">
                <a:moveTo>
                  <a:pt x="0" y="0"/>
                </a:moveTo>
                <a:lnTo>
                  <a:pt x="0" y="3748"/>
                </a:lnTo>
                <a:lnTo>
                  <a:pt x="1260" y="3748"/>
                </a:lnTo>
                <a:lnTo>
                  <a:pt x="1260" y="0"/>
                </a:lnTo>
                <a:lnTo>
                  <a:pt x="0" y="0"/>
                </a:lnTo>
                <a:close/>
              </a:path>
            </a:pathLst>
          </a:custGeom>
          <a:solidFill>
            <a:srgbClr val="DCDDDD"/>
          </a:solidFill>
          <a:ln w="9525" cap="flat" cmpd="sng">
            <a:noFill/>
            <a:prstDash val="solid"/>
            <a:round/>
            <a:headEnd type="none" w="med" len="med"/>
            <a:tailEnd type="none" w="med" len="med"/>
          </a:ln>
        </p:spPr>
        <p:txBody>
          <a:bodyPr>
            <a:noAutofit/>
          </a:bodyPr>
          <a:lstStyle/>
          <a:p>
            <a:pPr marL="0" algn="l" defTabSz="914400" rtl="0" eaLnBrk="1" latinLnBrk="0" hangingPunct="1"/>
            <a:endParaRPr lang="en-GB" sz="1800" kern="1200" dirty="0">
              <a:solidFill>
                <a:schemeClr val="tx1"/>
              </a:solidFill>
              <a:latin typeface="+mn-lt"/>
              <a:ea typeface="+mn-ea"/>
              <a:cs typeface="+mn-cs"/>
            </a:endParaRPr>
          </a:p>
        </p:txBody>
      </p:sp>
      <p:sp>
        <p:nvSpPr>
          <p:cNvPr id="31" name="Line 33"/>
          <p:cNvSpPr>
            <a:spLocks noChangeShapeType="1"/>
          </p:cNvSpPr>
          <p:nvPr userDrawn="1"/>
        </p:nvSpPr>
        <p:spPr bwMode="gray">
          <a:xfrm>
            <a:off x="0" y="6381328"/>
            <a:ext cx="9136674" cy="0"/>
          </a:xfrm>
          <a:prstGeom prst="line">
            <a:avLst/>
          </a:prstGeom>
          <a:noFill/>
          <a:ln w="6350">
            <a:solidFill>
              <a:srgbClr val="97989A"/>
            </a:solidFill>
            <a:miter lim="800000"/>
            <a:headEnd/>
            <a:tailEnd/>
          </a:ln>
        </p:spPr>
        <p:txBody>
          <a:bodyPr>
            <a:noAutofit/>
          </a:bodyPr>
          <a:lstStyle/>
          <a:p>
            <a:endParaRPr lang="en-GB" dirty="0"/>
          </a:p>
        </p:txBody>
      </p:sp>
      <p:sp>
        <p:nvSpPr>
          <p:cNvPr id="32" name="Line 31"/>
          <p:cNvSpPr>
            <a:spLocks noChangeShapeType="1"/>
          </p:cNvSpPr>
          <p:nvPr userDrawn="1"/>
        </p:nvSpPr>
        <p:spPr bwMode="gray">
          <a:xfrm>
            <a:off x="0" y="908720"/>
            <a:ext cx="9136674" cy="0"/>
          </a:xfrm>
          <a:prstGeom prst="line">
            <a:avLst/>
          </a:prstGeom>
          <a:noFill/>
          <a:ln w="6350">
            <a:solidFill>
              <a:srgbClr val="97989A"/>
            </a:solidFill>
            <a:miter lim="800000"/>
            <a:headEnd/>
            <a:tailEnd/>
          </a:ln>
        </p:spPr>
        <p:txBody>
          <a:bodyPr>
            <a:noAutofit/>
          </a:bodyPr>
          <a:lstStyle/>
          <a:p>
            <a:endParaRPr lang="en-GB" dirty="0"/>
          </a:p>
        </p:txBody>
      </p:sp>
      <p:sp>
        <p:nvSpPr>
          <p:cNvPr id="10" name="Title 9"/>
          <p:cNvSpPr>
            <a:spLocks noGrp="1"/>
          </p:cNvSpPr>
          <p:nvPr>
            <p:ph type="title"/>
          </p:nvPr>
        </p:nvSpPr>
        <p:spPr bwMode="gray"/>
        <p:txBody>
          <a:bodyPr>
            <a:noAutofit/>
          </a:bodyPr>
          <a:lstStyle/>
          <a:p>
            <a:r>
              <a:rPr lang="en-US" smtClean="0"/>
              <a:t>Click to edit Master title style</a:t>
            </a:r>
            <a:endParaRPr lang="en-GB" dirty="0"/>
          </a:p>
        </p:txBody>
      </p:sp>
      <p:sp>
        <p:nvSpPr>
          <p:cNvPr id="14" name="Text Placeholder 13"/>
          <p:cNvSpPr>
            <a:spLocks noGrp="1"/>
          </p:cNvSpPr>
          <p:nvPr>
            <p:ph type="body" sz="quarter" idx="13"/>
          </p:nvPr>
        </p:nvSpPr>
        <p:spPr bwMode="gray">
          <a:xfrm>
            <a:off x="2123729" y="1196975"/>
            <a:ext cx="3312367" cy="2376488"/>
          </a:xfrm>
        </p:spPr>
        <p:txBody>
          <a:bodyPr>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ext Placeholder 15"/>
          <p:cNvSpPr>
            <a:spLocks noGrp="1"/>
          </p:cNvSpPr>
          <p:nvPr>
            <p:ph type="body" sz="quarter" idx="14"/>
          </p:nvPr>
        </p:nvSpPr>
        <p:spPr bwMode="gray">
          <a:xfrm>
            <a:off x="5580112" y="1196975"/>
            <a:ext cx="3312368" cy="2376488"/>
          </a:xfrm>
        </p:spPr>
        <p:txBody>
          <a:bodyPr>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8" name="Text Placeholder 17"/>
          <p:cNvSpPr>
            <a:spLocks noGrp="1"/>
          </p:cNvSpPr>
          <p:nvPr>
            <p:ph type="body" sz="quarter" idx="15"/>
          </p:nvPr>
        </p:nvSpPr>
        <p:spPr bwMode="gray">
          <a:xfrm>
            <a:off x="2123729" y="3716339"/>
            <a:ext cx="3312367" cy="2376487"/>
          </a:xfrm>
        </p:spPr>
        <p:txBody>
          <a:bodyPr>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20" name="Text Placeholder 19"/>
          <p:cNvSpPr>
            <a:spLocks noGrp="1"/>
          </p:cNvSpPr>
          <p:nvPr>
            <p:ph type="body" sz="quarter" idx="16"/>
          </p:nvPr>
        </p:nvSpPr>
        <p:spPr bwMode="gray">
          <a:xfrm>
            <a:off x="5580112" y="3716339"/>
            <a:ext cx="3312368" cy="2376487"/>
          </a:xfrm>
        </p:spPr>
        <p:txBody>
          <a:bodyPr>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1" name="Text Placeholder 7"/>
          <p:cNvSpPr>
            <a:spLocks noGrp="1"/>
          </p:cNvSpPr>
          <p:nvPr>
            <p:ph type="body" sz="quarter" idx="12"/>
          </p:nvPr>
        </p:nvSpPr>
        <p:spPr bwMode="gray">
          <a:xfrm>
            <a:off x="252046" y="1195200"/>
            <a:ext cx="1583650" cy="4895850"/>
          </a:xfrm>
        </p:spPr>
        <p:txBody>
          <a:bodyPr vert="horz" lIns="0" tIns="0" rIns="144000" bIns="0" rtlCol="0">
            <a:noAutofit/>
          </a:bodyPr>
          <a:lstStyle>
            <a:lvl1pPr algn="l" defTabSz="914400" rtl="0" eaLnBrk="1" latinLnBrk="0" hangingPunct="1">
              <a:lnSpc>
                <a:spcPct val="135000"/>
              </a:lnSpc>
              <a:spcBef>
                <a:spcPts val="600"/>
              </a:spcBef>
              <a:buFont typeface="Arial" pitchFamily="34" charset="0"/>
              <a:defRPr lang="en-US" sz="900" b="1" kern="1200" noProof="0" dirty="0" smtClean="0">
                <a:solidFill>
                  <a:srgbClr val="00338D"/>
                </a:solidFill>
                <a:latin typeface="Arial" pitchFamily="34" charset="0"/>
                <a:ea typeface="+mn-ea"/>
                <a:cs typeface="Arial" pitchFamily="34" charset="0"/>
              </a:defRPr>
            </a:lvl1pPr>
            <a:lvl2pPr marL="180975" indent="-180975"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2pPr>
            <a:lvl3pPr marL="361950" indent="-177800"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3pPr>
            <a:lvl4pPr marL="539750" indent="-177800"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4pPr>
            <a:lvl5pPr marL="719138" indent="-174625" algn="l" defTabSz="914400" rtl="0" eaLnBrk="1" latinLnBrk="0" hangingPunct="1">
              <a:lnSpc>
                <a:spcPct val="135000"/>
              </a:lnSpc>
              <a:spcBef>
                <a:spcPts val="600"/>
              </a:spcBef>
              <a:buClr>
                <a:srgbClr val="00338D"/>
              </a:buClr>
              <a:buFont typeface="Arial" pitchFamily="34" charset="0"/>
              <a:buChar char="–"/>
              <a:defRPr lang="en-GB" sz="900" b="1" kern="1200" noProof="0" dirty="0" smtClean="0">
                <a:solidFill>
                  <a:srgbClr val="00338D"/>
                </a:solidFill>
                <a:latin typeface="Arial" pitchFamily="34" charset="0"/>
                <a:ea typeface="+mn-ea"/>
                <a:cs typeface="Arial" pitchFamily="34" charset="0"/>
              </a:defRPr>
            </a:lvl5pPr>
            <a:lvl6pPr marL="895350" indent="-177800">
              <a:lnSpc>
                <a:spcPct val="100000"/>
              </a:lnSpc>
              <a:buClr>
                <a:srgbClr val="00338D"/>
              </a:buClr>
              <a:buFont typeface="Arial" pitchFamily="34" charset="0"/>
              <a:buChar char="■"/>
              <a:defRPr lang="en-US" sz="900" b="1" kern="1200" baseline="0" dirty="0" smtClean="0">
                <a:solidFill>
                  <a:srgbClr val="00338D"/>
                </a:solidFill>
                <a:latin typeface="Arial" pitchFamily="34" charset="0"/>
                <a:ea typeface="+mn-ea"/>
                <a:cs typeface="Arial" pitchFamily="34" charset="0"/>
              </a:defRPr>
            </a:lvl6pPr>
            <a:lvl7pPr marL="1079500" indent="-184150">
              <a:lnSpc>
                <a:spcPct val="100000"/>
              </a:lnSpc>
              <a:buClr>
                <a:srgbClr val="00338D"/>
              </a:buClr>
              <a:buFont typeface="Arial" pitchFamily="34" charset="0"/>
              <a:buChar char="–"/>
              <a:defRPr lang="en-US" sz="900" b="1" kern="1200" baseline="0" dirty="0" smtClean="0">
                <a:solidFill>
                  <a:srgbClr val="00338D"/>
                </a:solidFill>
                <a:latin typeface="Arial" pitchFamily="34" charset="0"/>
                <a:ea typeface="+mn-ea"/>
                <a:cs typeface="Arial" pitchFamily="34" charset="0"/>
              </a:defRPr>
            </a:lvl7pPr>
            <a:lvl8pPr marL="1257300" indent="-177800">
              <a:lnSpc>
                <a:spcPct val="100000"/>
              </a:lnSpc>
              <a:buClr>
                <a:srgbClr val="00338D"/>
              </a:buClr>
              <a:buFont typeface="Arial" pitchFamily="34" charset="0"/>
              <a:buChar char="■"/>
              <a:defRPr lang="en-US" sz="900" b="1" kern="1200" dirty="0" smtClean="0">
                <a:solidFill>
                  <a:srgbClr val="00338D"/>
                </a:solidFill>
                <a:latin typeface="Arial" pitchFamily="34" charset="0"/>
                <a:ea typeface="+mn-ea"/>
                <a:cs typeface="+mn-cs"/>
              </a:defRPr>
            </a:lvl8pPr>
            <a:lvl9pPr marL="1401763" indent="-144463">
              <a:lnSpc>
                <a:spcPct val="100000"/>
              </a:lnSpc>
              <a:buClr>
                <a:srgbClr val="00338D"/>
              </a:buClr>
              <a:buFont typeface="Arial" pitchFamily="34" charset="0"/>
              <a:buChar char="–"/>
              <a:defRPr lang="en-US" sz="900" b="1" kern="1200" dirty="0" smtClean="0">
                <a:solidFill>
                  <a:srgbClr val="00338D"/>
                </a:solidFill>
                <a:latin typeface="Arial" pitchFamily="34" charset="0"/>
                <a:ea typeface="+mn-ea"/>
                <a:cs typeface="Arial" pitchFamily="34" charset="0"/>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Two Charts One Text">
    <p:spTree>
      <p:nvGrpSpPr>
        <p:cNvPr id="1" name=""/>
        <p:cNvGrpSpPr/>
        <p:nvPr/>
      </p:nvGrpSpPr>
      <p:grpSpPr>
        <a:xfrm>
          <a:off x="0" y="0"/>
          <a:ext cx="0" cy="0"/>
          <a:chOff x="0" y="0"/>
          <a:chExt cx="0" cy="0"/>
        </a:xfrm>
      </p:grpSpPr>
      <p:sp>
        <p:nvSpPr>
          <p:cNvPr id="28" name="Freeform 29"/>
          <p:cNvSpPr>
            <a:spLocks/>
          </p:cNvSpPr>
          <p:nvPr userDrawn="1"/>
        </p:nvSpPr>
        <p:spPr bwMode="gray">
          <a:xfrm>
            <a:off x="0" y="908720"/>
            <a:ext cx="1835695" cy="5474865"/>
          </a:xfrm>
          <a:custGeom>
            <a:avLst/>
            <a:gdLst>
              <a:gd name="T0" fmla="*/ 0 w 1260"/>
              <a:gd name="T1" fmla="*/ 0 h 3748"/>
              <a:gd name="T2" fmla="*/ 0 w 1260"/>
              <a:gd name="T3" fmla="*/ 3748 h 3748"/>
              <a:gd name="T4" fmla="*/ 1260 w 1260"/>
              <a:gd name="T5" fmla="*/ 3748 h 3748"/>
              <a:gd name="T6" fmla="*/ 1260 w 1260"/>
              <a:gd name="T7" fmla="*/ 0 h 3748"/>
              <a:gd name="T8" fmla="*/ 0 w 1260"/>
              <a:gd name="T9" fmla="*/ 0 h 3748"/>
              <a:gd name="T10" fmla="*/ 0 w 1260"/>
              <a:gd name="T11" fmla="*/ 0 h 3748"/>
              <a:gd name="T12" fmla="*/ 0 60000 65536"/>
              <a:gd name="T13" fmla="*/ 0 60000 65536"/>
              <a:gd name="T14" fmla="*/ 0 60000 65536"/>
              <a:gd name="T15" fmla="*/ 0 60000 65536"/>
              <a:gd name="T16" fmla="*/ 0 60000 65536"/>
              <a:gd name="T17" fmla="*/ 0 60000 65536"/>
              <a:gd name="T18" fmla="*/ 0 w 1260"/>
              <a:gd name="T19" fmla="*/ 0 h 3748"/>
              <a:gd name="T20" fmla="*/ 1260 w 1260"/>
              <a:gd name="T21" fmla="*/ 3748 h 3748"/>
            </a:gdLst>
            <a:ahLst/>
            <a:cxnLst>
              <a:cxn ang="T12">
                <a:pos x="T0" y="T1"/>
              </a:cxn>
              <a:cxn ang="T13">
                <a:pos x="T2" y="T3"/>
              </a:cxn>
              <a:cxn ang="T14">
                <a:pos x="T4" y="T5"/>
              </a:cxn>
              <a:cxn ang="T15">
                <a:pos x="T6" y="T7"/>
              </a:cxn>
              <a:cxn ang="T16">
                <a:pos x="T8" y="T9"/>
              </a:cxn>
              <a:cxn ang="T17">
                <a:pos x="T10" y="T11"/>
              </a:cxn>
            </a:cxnLst>
            <a:rect l="T18" t="T19" r="T20" b="T21"/>
            <a:pathLst>
              <a:path w="1260" h="3748">
                <a:moveTo>
                  <a:pt x="0" y="0"/>
                </a:moveTo>
                <a:lnTo>
                  <a:pt x="0" y="3748"/>
                </a:lnTo>
                <a:lnTo>
                  <a:pt x="1260" y="3748"/>
                </a:lnTo>
                <a:lnTo>
                  <a:pt x="1260" y="0"/>
                </a:lnTo>
                <a:lnTo>
                  <a:pt x="0" y="0"/>
                </a:lnTo>
                <a:close/>
              </a:path>
            </a:pathLst>
          </a:custGeom>
          <a:solidFill>
            <a:srgbClr val="DCDDDD"/>
          </a:solidFill>
          <a:ln w="9525" cap="flat" cmpd="sng">
            <a:noFill/>
            <a:prstDash val="solid"/>
            <a:round/>
            <a:headEnd type="none" w="med" len="med"/>
            <a:tailEnd type="none" w="med" len="med"/>
          </a:ln>
        </p:spPr>
        <p:txBody>
          <a:bodyPr>
            <a:noAutofit/>
          </a:bodyPr>
          <a:lstStyle/>
          <a:p>
            <a:pPr marL="0" algn="l" defTabSz="914400" rtl="0" eaLnBrk="1" latinLnBrk="0" hangingPunct="1"/>
            <a:endParaRPr lang="en-GB" sz="1800" kern="1200" dirty="0">
              <a:solidFill>
                <a:schemeClr val="tx1"/>
              </a:solidFill>
              <a:latin typeface="+mn-lt"/>
              <a:ea typeface="+mn-ea"/>
              <a:cs typeface="+mn-cs"/>
            </a:endParaRPr>
          </a:p>
        </p:txBody>
      </p:sp>
      <p:sp>
        <p:nvSpPr>
          <p:cNvPr id="29" name="Line 33"/>
          <p:cNvSpPr>
            <a:spLocks noChangeShapeType="1"/>
          </p:cNvSpPr>
          <p:nvPr userDrawn="1"/>
        </p:nvSpPr>
        <p:spPr bwMode="gray">
          <a:xfrm>
            <a:off x="0" y="6381328"/>
            <a:ext cx="9136674" cy="0"/>
          </a:xfrm>
          <a:prstGeom prst="line">
            <a:avLst/>
          </a:prstGeom>
          <a:noFill/>
          <a:ln w="6350">
            <a:solidFill>
              <a:srgbClr val="97989A"/>
            </a:solidFill>
            <a:miter lim="800000"/>
            <a:headEnd/>
            <a:tailEnd/>
          </a:ln>
        </p:spPr>
        <p:txBody>
          <a:bodyPr>
            <a:noAutofit/>
          </a:bodyPr>
          <a:lstStyle/>
          <a:p>
            <a:endParaRPr lang="en-GB" dirty="0"/>
          </a:p>
        </p:txBody>
      </p:sp>
      <p:sp>
        <p:nvSpPr>
          <p:cNvPr id="30" name="Line 31"/>
          <p:cNvSpPr>
            <a:spLocks noChangeShapeType="1"/>
          </p:cNvSpPr>
          <p:nvPr userDrawn="1"/>
        </p:nvSpPr>
        <p:spPr bwMode="gray">
          <a:xfrm>
            <a:off x="0" y="908720"/>
            <a:ext cx="9136674" cy="0"/>
          </a:xfrm>
          <a:prstGeom prst="line">
            <a:avLst/>
          </a:prstGeom>
          <a:noFill/>
          <a:ln w="6350">
            <a:solidFill>
              <a:srgbClr val="97989A"/>
            </a:solidFill>
            <a:miter lim="800000"/>
            <a:headEnd/>
            <a:tailEnd/>
          </a:ln>
        </p:spPr>
        <p:txBody>
          <a:bodyPr>
            <a:noAutofit/>
          </a:bodyPr>
          <a:lstStyle/>
          <a:p>
            <a:endParaRPr lang="en-GB" dirty="0"/>
          </a:p>
        </p:txBody>
      </p:sp>
      <p:sp>
        <p:nvSpPr>
          <p:cNvPr id="10" name="Title 9"/>
          <p:cNvSpPr>
            <a:spLocks noGrp="1"/>
          </p:cNvSpPr>
          <p:nvPr>
            <p:ph type="title"/>
          </p:nvPr>
        </p:nvSpPr>
        <p:spPr bwMode="gray"/>
        <p:txBody>
          <a:bodyPr>
            <a:noAutofit/>
          </a:bodyPr>
          <a:lstStyle/>
          <a:p>
            <a:r>
              <a:rPr lang="en-US" smtClean="0"/>
              <a:t>Click to edit Master title style</a:t>
            </a:r>
            <a:endParaRPr lang="en-GB"/>
          </a:p>
        </p:txBody>
      </p:sp>
      <p:sp>
        <p:nvSpPr>
          <p:cNvPr id="14" name="Chart Placeholder 13"/>
          <p:cNvSpPr>
            <a:spLocks noGrp="1"/>
          </p:cNvSpPr>
          <p:nvPr>
            <p:ph type="chart" sz="quarter" idx="15"/>
          </p:nvPr>
        </p:nvSpPr>
        <p:spPr bwMode="gray">
          <a:xfrm>
            <a:off x="2123729" y="1196975"/>
            <a:ext cx="3312367" cy="2376488"/>
          </a:xfrm>
        </p:spPr>
        <p:txBody>
          <a:bodyPr anchor="ctr">
            <a:noAutofit/>
          </a:bodyPr>
          <a:lstStyle>
            <a:lvl1pPr algn="ctr">
              <a:defRPr/>
            </a:lvl1pPr>
          </a:lstStyle>
          <a:p>
            <a:r>
              <a:rPr lang="en-US" dirty="0" smtClean="0"/>
              <a:t>Click icon to add chart</a:t>
            </a:r>
            <a:endParaRPr lang="en-GB" dirty="0"/>
          </a:p>
        </p:txBody>
      </p:sp>
      <p:sp>
        <p:nvSpPr>
          <p:cNvPr id="16" name="Chart Placeholder 15"/>
          <p:cNvSpPr>
            <a:spLocks noGrp="1"/>
          </p:cNvSpPr>
          <p:nvPr>
            <p:ph type="chart" sz="quarter" idx="16"/>
          </p:nvPr>
        </p:nvSpPr>
        <p:spPr bwMode="gray">
          <a:xfrm>
            <a:off x="2123729" y="3716339"/>
            <a:ext cx="3312367" cy="2376487"/>
          </a:xfrm>
        </p:spPr>
        <p:txBody>
          <a:bodyPr anchor="ctr">
            <a:noAutofit/>
          </a:bodyPr>
          <a:lstStyle>
            <a:lvl1pPr algn="ctr">
              <a:defRPr/>
            </a:lvl1pPr>
          </a:lstStyle>
          <a:p>
            <a:r>
              <a:rPr lang="en-US" dirty="0" smtClean="0"/>
              <a:t>Click icon to add chart</a:t>
            </a:r>
            <a:endParaRPr lang="en-GB" dirty="0"/>
          </a:p>
        </p:txBody>
      </p:sp>
      <p:sp>
        <p:nvSpPr>
          <p:cNvPr id="18" name="Text Placeholder 17"/>
          <p:cNvSpPr>
            <a:spLocks noGrp="1"/>
          </p:cNvSpPr>
          <p:nvPr>
            <p:ph type="body" sz="quarter" idx="17"/>
          </p:nvPr>
        </p:nvSpPr>
        <p:spPr bwMode="gray">
          <a:xfrm>
            <a:off x="5580112" y="1196975"/>
            <a:ext cx="3312368" cy="4895850"/>
          </a:xfrm>
        </p:spPr>
        <p:txBody>
          <a:bodyPr>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9" name="Text Placeholder 7"/>
          <p:cNvSpPr>
            <a:spLocks noGrp="1"/>
          </p:cNvSpPr>
          <p:nvPr>
            <p:ph type="body" sz="quarter" idx="12"/>
          </p:nvPr>
        </p:nvSpPr>
        <p:spPr bwMode="gray">
          <a:xfrm>
            <a:off x="252046" y="1195200"/>
            <a:ext cx="1583650" cy="4895850"/>
          </a:xfrm>
        </p:spPr>
        <p:txBody>
          <a:bodyPr vert="horz" lIns="0" tIns="0" rIns="144000" bIns="0" rtlCol="0">
            <a:noAutofit/>
          </a:bodyPr>
          <a:lstStyle>
            <a:lvl1pPr algn="l" defTabSz="914400" rtl="0" eaLnBrk="1" latinLnBrk="0" hangingPunct="1">
              <a:lnSpc>
                <a:spcPct val="135000"/>
              </a:lnSpc>
              <a:spcBef>
                <a:spcPts val="600"/>
              </a:spcBef>
              <a:buFont typeface="Arial" pitchFamily="34" charset="0"/>
              <a:defRPr lang="en-US" sz="900" b="1" kern="1200" noProof="0" dirty="0" smtClean="0">
                <a:solidFill>
                  <a:srgbClr val="00338D"/>
                </a:solidFill>
                <a:latin typeface="Arial" pitchFamily="34" charset="0"/>
                <a:ea typeface="+mn-ea"/>
                <a:cs typeface="Arial" pitchFamily="34" charset="0"/>
              </a:defRPr>
            </a:lvl1pPr>
            <a:lvl2pPr marL="180975" indent="-180975"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2pPr>
            <a:lvl3pPr marL="361950" indent="-177800"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3pPr>
            <a:lvl4pPr marL="539750" indent="-177800"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4pPr>
            <a:lvl5pPr marL="719138" indent="-174625" algn="l" defTabSz="914400" rtl="0" eaLnBrk="1" latinLnBrk="0" hangingPunct="1">
              <a:lnSpc>
                <a:spcPct val="135000"/>
              </a:lnSpc>
              <a:spcBef>
                <a:spcPts val="600"/>
              </a:spcBef>
              <a:buClr>
                <a:srgbClr val="00338D"/>
              </a:buClr>
              <a:buFont typeface="Arial" pitchFamily="34" charset="0"/>
              <a:buChar char="–"/>
              <a:defRPr lang="en-GB" sz="900" b="1" kern="1200" noProof="0" dirty="0" smtClean="0">
                <a:solidFill>
                  <a:srgbClr val="00338D"/>
                </a:solidFill>
                <a:latin typeface="Arial" pitchFamily="34" charset="0"/>
                <a:ea typeface="+mn-ea"/>
                <a:cs typeface="Arial" pitchFamily="34" charset="0"/>
              </a:defRPr>
            </a:lvl5pPr>
            <a:lvl6pPr marL="895350" indent="-177800">
              <a:lnSpc>
                <a:spcPct val="100000"/>
              </a:lnSpc>
              <a:buClr>
                <a:srgbClr val="00338D"/>
              </a:buClr>
              <a:buFont typeface="Arial" pitchFamily="34" charset="0"/>
              <a:buChar char="■"/>
              <a:defRPr lang="en-US" sz="900" b="1" kern="1200" baseline="0" dirty="0" smtClean="0">
                <a:solidFill>
                  <a:srgbClr val="00338D"/>
                </a:solidFill>
                <a:latin typeface="Arial" pitchFamily="34" charset="0"/>
                <a:ea typeface="+mn-ea"/>
                <a:cs typeface="Arial" pitchFamily="34" charset="0"/>
              </a:defRPr>
            </a:lvl6pPr>
            <a:lvl7pPr marL="1079500" indent="-184150">
              <a:lnSpc>
                <a:spcPct val="100000"/>
              </a:lnSpc>
              <a:buClr>
                <a:srgbClr val="00338D"/>
              </a:buClr>
              <a:buFont typeface="Arial" pitchFamily="34" charset="0"/>
              <a:buChar char="–"/>
              <a:defRPr lang="en-US" sz="900" b="1" kern="1200" baseline="0" dirty="0" smtClean="0">
                <a:solidFill>
                  <a:srgbClr val="00338D"/>
                </a:solidFill>
                <a:latin typeface="Arial" pitchFamily="34" charset="0"/>
                <a:ea typeface="+mn-ea"/>
                <a:cs typeface="Arial" pitchFamily="34" charset="0"/>
              </a:defRPr>
            </a:lvl7pPr>
            <a:lvl8pPr marL="1257300" indent="-177800">
              <a:lnSpc>
                <a:spcPct val="100000"/>
              </a:lnSpc>
              <a:buClr>
                <a:srgbClr val="00338D"/>
              </a:buClr>
              <a:buFont typeface="Arial" pitchFamily="34" charset="0"/>
              <a:buChar char="■"/>
              <a:defRPr lang="en-US" sz="900" b="1" kern="1200" dirty="0" smtClean="0">
                <a:solidFill>
                  <a:srgbClr val="00338D"/>
                </a:solidFill>
                <a:latin typeface="Arial" pitchFamily="34" charset="0"/>
                <a:ea typeface="+mn-ea"/>
                <a:cs typeface="+mn-cs"/>
              </a:defRPr>
            </a:lvl8pPr>
            <a:lvl9pPr marL="1401763" indent="-144463">
              <a:lnSpc>
                <a:spcPct val="100000"/>
              </a:lnSpc>
              <a:buClr>
                <a:srgbClr val="00338D"/>
              </a:buClr>
              <a:buFont typeface="Arial" pitchFamily="34" charset="0"/>
              <a:buChar char="–"/>
              <a:defRPr lang="en-US" sz="900" b="1" kern="1200" dirty="0" smtClean="0">
                <a:solidFill>
                  <a:srgbClr val="00338D"/>
                </a:solidFill>
                <a:latin typeface="Arial" pitchFamily="34" charset="0"/>
                <a:ea typeface="+mn-ea"/>
                <a:cs typeface="Arial" pitchFamily="34" charset="0"/>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smtClean="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Two Tables One Text">
    <p:spTree>
      <p:nvGrpSpPr>
        <p:cNvPr id="1" name=""/>
        <p:cNvGrpSpPr/>
        <p:nvPr/>
      </p:nvGrpSpPr>
      <p:grpSpPr>
        <a:xfrm>
          <a:off x="0" y="0"/>
          <a:ext cx="0" cy="0"/>
          <a:chOff x="0" y="0"/>
          <a:chExt cx="0" cy="0"/>
        </a:xfrm>
      </p:grpSpPr>
      <p:sp>
        <p:nvSpPr>
          <p:cNvPr id="28" name="Freeform 29"/>
          <p:cNvSpPr>
            <a:spLocks/>
          </p:cNvSpPr>
          <p:nvPr userDrawn="1"/>
        </p:nvSpPr>
        <p:spPr bwMode="gray">
          <a:xfrm>
            <a:off x="0" y="908720"/>
            <a:ext cx="1835695" cy="5474865"/>
          </a:xfrm>
          <a:custGeom>
            <a:avLst/>
            <a:gdLst>
              <a:gd name="T0" fmla="*/ 0 w 1260"/>
              <a:gd name="T1" fmla="*/ 0 h 3748"/>
              <a:gd name="T2" fmla="*/ 0 w 1260"/>
              <a:gd name="T3" fmla="*/ 3748 h 3748"/>
              <a:gd name="T4" fmla="*/ 1260 w 1260"/>
              <a:gd name="T5" fmla="*/ 3748 h 3748"/>
              <a:gd name="T6" fmla="*/ 1260 w 1260"/>
              <a:gd name="T7" fmla="*/ 0 h 3748"/>
              <a:gd name="T8" fmla="*/ 0 w 1260"/>
              <a:gd name="T9" fmla="*/ 0 h 3748"/>
              <a:gd name="T10" fmla="*/ 0 w 1260"/>
              <a:gd name="T11" fmla="*/ 0 h 3748"/>
              <a:gd name="T12" fmla="*/ 0 60000 65536"/>
              <a:gd name="T13" fmla="*/ 0 60000 65536"/>
              <a:gd name="T14" fmla="*/ 0 60000 65536"/>
              <a:gd name="T15" fmla="*/ 0 60000 65536"/>
              <a:gd name="T16" fmla="*/ 0 60000 65536"/>
              <a:gd name="T17" fmla="*/ 0 60000 65536"/>
              <a:gd name="T18" fmla="*/ 0 w 1260"/>
              <a:gd name="T19" fmla="*/ 0 h 3748"/>
              <a:gd name="T20" fmla="*/ 1260 w 1260"/>
              <a:gd name="T21" fmla="*/ 3748 h 3748"/>
            </a:gdLst>
            <a:ahLst/>
            <a:cxnLst>
              <a:cxn ang="T12">
                <a:pos x="T0" y="T1"/>
              </a:cxn>
              <a:cxn ang="T13">
                <a:pos x="T2" y="T3"/>
              </a:cxn>
              <a:cxn ang="T14">
                <a:pos x="T4" y="T5"/>
              </a:cxn>
              <a:cxn ang="T15">
                <a:pos x="T6" y="T7"/>
              </a:cxn>
              <a:cxn ang="T16">
                <a:pos x="T8" y="T9"/>
              </a:cxn>
              <a:cxn ang="T17">
                <a:pos x="T10" y="T11"/>
              </a:cxn>
            </a:cxnLst>
            <a:rect l="T18" t="T19" r="T20" b="T21"/>
            <a:pathLst>
              <a:path w="1260" h="3748">
                <a:moveTo>
                  <a:pt x="0" y="0"/>
                </a:moveTo>
                <a:lnTo>
                  <a:pt x="0" y="3748"/>
                </a:lnTo>
                <a:lnTo>
                  <a:pt x="1260" y="3748"/>
                </a:lnTo>
                <a:lnTo>
                  <a:pt x="1260" y="0"/>
                </a:lnTo>
                <a:lnTo>
                  <a:pt x="0" y="0"/>
                </a:lnTo>
                <a:close/>
              </a:path>
            </a:pathLst>
          </a:custGeom>
          <a:solidFill>
            <a:srgbClr val="DCDDDD"/>
          </a:solidFill>
          <a:ln w="9525" cap="flat" cmpd="sng">
            <a:noFill/>
            <a:prstDash val="solid"/>
            <a:round/>
            <a:headEnd type="none" w="med" len="med"/>
            <a:tailEnd type="none" w="med" len="med"/>
          </a:ln>
        </p:spPr>
        <p:txBody>
          <a:bodyPr>
            <a:noAutofit/>
          </a:bodyPr>
          <a:lstStyle/>
          <a:p>
            <a:pPr marL="0" algn="l" defTabSz="914400" rtl="0" eaLnBrk="1" latinLnBrk="0" hangingPunct="1"/>
            <a:endParaRPr lang="en-GB" sz="1800" kern="1200" dirty="0">
              <a:solidFill>
                <a:schemeClr val="tx1"/>
              </a:solidFill>
              <a:latin typeface="+mn-lt"/>
              <a:ea typeface="+mn-ea"/>
              <a:cs typeface="+mn-cs"/>
            </a:endParaRPr>
          </a:p>
        </p:txBody>
      </p:sp>
      <p:sp>
        <p:nvSpPr>
          <p:cNvPr id="10" name="Title 9"/>
          <p:cNvSpPr>
            <a:spLocks noGrp="1"/>
          </p:cNvSpPr>
          <p:nvPr>
            <p:ph type="title"/>
          </p:nvPr>
        </p:nvSpPr>
        <p:spPr bwMode="gray"/>
        <p:txBody>
          <a:bodyPr>
            <a:noAutofit/>
          </a:bodyPr>
          <a:lstStyle/>
          <a:p>
            <a:r>
              <a:rPr lang="en-US" smtClean="0"/>
              <a:t>Click to edit Master title style</a:t>
            </a:r>
            <a:endParaRPr lang="en-GB"/>
          </a:p>
        </p:txBody>
      </p:sp>
      <p:sp>
        <p:nvSpPr>
          <p:cNvPr id="13" name="Table Placeholder 12"/>
          <p:cNvSpPr>
            <a:spLocks noGrp="1"/>
          </p:cNvSpPr>
          <p:nvPr>
            <p:ph type="tbl" sz="quarter" idx="14"/>
          </p:nvPr>
        </p:nvSpPr>
        <p:spPr bwMode="gray">
          <a:xfrm>
            <a:off x="2123729" y="1196975"/>
            <a:ext cx="3312367" cy="2376488"/>
          </a:xfrm>
        </p:spPr>
        <p:txBody>
          <a:bodyPr anchor="ctr">
            <a:noAutofit/>
          </a:bodyPr>
          <a:lstStyle>
            <a:lvl1pPr algn="ctr">
              <a:defRPr/>
            </a:lvl1pPr>
          </a:lstStyle>
          <a:p>
            <a:r>
              <a:rPr lang="en-US" dirty="0" smtClean="0"/>
              <a:t>Click icon to add table</a:t>
            </a:r>
            <a:endParaRPr lang="en-GB" dirty="0"/>
          </a:p>
        </p:txBody>
      </p:sp>
      <p:sp>
        <p:nvSpPr>
          <p:cNvPr id="15" name="Table Placeholder 12"/>
          <p:cNvSpPr>
            <a:spLocks noGrp="1"/>
          </p:cNvSpPr>
          <p:nvPr>
            <p:ph type="tbl" sz="quarter" idx="15"/>
          </p:nvPr>
        </p:nvSpPr>
        <p:spPr bwMode="gray">
          <a:xfrm>
            <a:off x="2123729" y="3716338"/>
            <a:ext cx="3312367" cy="2376488"/>
          </a:xfrm>
        </p:spPr>
        <p:txBody>
          <a:bodyPr anchor="ctr">
            <a:noAutofit/>
          </a:bodyPr>
          <a:lstStyle>
            <a:lvl1pPr algn="ctr">
              <a:defRPr/>
            </a:lvl1pPr>
          </a:lstStyle>
          <a:p>
            <a:r>
              <a:rPr lang="en-US" dirty="0" smtClean="0"/>
              <a:t>Click icon to add table</a:t>
            </a:r>
            <a:endParaRPr lang="en-GB" dirty="0"/>
          </a:p>
        </p:txBody>
      </p:sp>
      <p:sp>
        <p:nvSpPr>
          <p:cNvPr id="18" name="Text Placeholder 17"/>
          <p:cNvSpPr>
            <a:spLocks noGrp="1"/>
          </p:cNvSpPr>
          <p:nvPr>
            <p:ph type="body" sz="quarter" idx="16"/>
          </p:nvPr>
        </p:nvSpPr>
        <p:spPr bwMode="gray">
          <a:xfrm>
            <a:off x="5580112" y="1196975"/>
            <a:ext cx="3312368" cy="4895850"/>
          </a:xfrm>
        </p:spPr>
        <p:txBody>
          <a:bodyPr>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9" name="Text Placeholder 7"/>
          <p:cNvSpPr>
            <a:spLocks noGrp="1"/>
          </p:cNvSpPr>
          <p:nvPr>
            <p:ph type="body" sz="quarter" idx="12"/>
          </p:nvPr>
        </p:nvSpPr>
        <p:spPr bwMode="gray">
          <a:xfrm>
            <a:off x="252046" y="1195200"/>
            <a:ext cx="1583650" cy="4895850"/>
          </a:xfrm>
        </p:spPr>
        <p:txBody>
          <a:bodyPr vert="horz" lIns="0" tIns="0" rIns="144000" bIns="0" rtlCol="0">
            <a:noAutofit/>
          </a:bodyPr>
          <a:lstStyle>
            <a:lvl1pPr algn="l" defTabSz="914400" rtl="0" eaLnBrk="1" latinLnBrk="0" hangingPunct="1">
              <a:lnSpc>
                <a:spcPct val="135000"/>
              </a:lnSpc>
              <a:spcBef>
                <a:spcPts val="600"/>
              </a:spcBef>
              <a:buFont typeface="Arial" pitchFamily="34" charset="0"/>
              <a:defRPr lang="en-US" sz="900" b="1" kern="1200" noProof="0" dirty="0" smtClean="0">
                <a:solidFill>
                  <a:srgbClr val="00338D"/>
                </a:solidFill>
                <a:latin typeface="Arial" pitchFamily="34" charset="0"/>
                <a:ea typeface="+mn-ea"/>
                <a:cs typeface="Arial" pitchFamily="34" charset="0"/>
              </a:defRPr>
            </a:lvl1pPr>
            <a:lvl2pPr marL="180975" indent="-180975"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2pPr>
            <a:lvl3pPr marL="361950" indent="-177800"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3pPr>
            <a:lvl4pPr marL="539750" indent="-177800"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4pPr>
            <a:lvl5pPr marL="719138" indent="-174625" algn="l" defTabSz="914400" rtl="0" eaLnBrk="1" latinLnBrk="0" hangingPunct="1">
              <a:lnSpc>
                <a:spcPct val="135000"/>
              </a:lnSpc>
              <a:spcBef>
                <a:spcPts val="600"/>
              </a:spcBef>
              <a:buClr>
                <a:srgbClr val="00338D"/>
              </a:buClr>
              <a:buFont typeface="Arial" pitchFamily="34" charset="0"/>
              <a:buChar char="–"/>
              <a:defRPr lang="en-GB" sz="900" b="1" kern="1200" noProof="0" dirty="0" smtClean="0">
                <a:solidFill>
                  <a:srgbClr val="00338D"/>
                </a:solidFill>
                <a:latin typeface="Arial" pitchFamily="34" charset="0"/>
                <a:ea typeface="+mn-ea"/>
                <a:cs typeface="Arial" pitchFamily="34" charset="0"/>
              </a:defRPr>
            </a:lvl5pPr>
            <a:lvl6pPr marL="895350" indent="-177800">
              <a:lnSpc>
                <a:spcPct val="100000"/>
              </a:lnSpc>
              <a:buClr>
                <a:srgbClr val="00338D"/>
              </a:buClr>
              <a:buFont typeface="Arial" pitchFamily="34" charset="0"/>
              <a:buChar char="■"/>
              <a:defRPr lang="en-US" sz="900" b="1" kern="1200" baseline="0" dirty="0" smtClean="0">
                <a:solidFill>
                  <a:srgbClr val="00338D"/>
                </a:solidFill>
                <a:latin typeface="Arial" pitchFamily="34" charset="0"/>
                <a:ea typeface="+mn-ea"/>
                <a:cs typeface="Arial" pitchFamily="34" charset="0"/>
              </a:defRPr>
            </a:lvl6pPr>
            <a:lvl7pPr marL="1079500" indent="-184150">
              <a:lnSpc>
                <a:spcPct val="100000"/>
              </a:lnSpc>
              <a:buClr>
                <a:srgbClr val="00338D"/>
              </a:buClr>
              <a:buFont typeface="Arial" pitchFamily="34" charset="0"/>
              <a:buChar char="–"/>
              <a:defRPr lang="en-US" sz="900" b="1" kern="1200" baseline="0" dirty="0" smtClean="0">
                <a:solidFill>
                  <a:srgbClr val="00338D"/>
                </a:solidFill>
                <a:latin typeface="Arial" pitchFamily="34" charset="0"/>
                <a:ea typeface="+mn-ea"/>
                <a:cs typeface="Arial" pitchFamily="34" charset="0"/>
              </a:defRPr>
            </a:lvl7pPr>
            <a:lvl8pPr marL="1257300" indent="-177800">
              <a:lnSpc>
                <a:spcPct val="100000"/>
              </a:lnSpc>
              <a:buClr>
                <a:srgbClr val="00338D"/>
              </a:buClr>
              <a:buFont typeface="Arial" pitchFamily="34" charset="0"/>
              <a:buChar char="■"/>
              <a:defRPr lang="en-US" sz="900" b="1" kern="1200" dirty="0" smtClean="0">
                <a:solidFill>
                  <a:srgbClr val="00338D"/>
                </a:solidFill>
                <a:latin typeface="Arial" pitchFamily="34" charset="0"/>
                <a:ea typeface="+mn-ea"/>
                <a:cs typeface="+mn-cs"/>
              </a:defRPr>
            </a:lvl8pPr>
            <a:lvl9pPr marL="1401763" indent="-144463">
              <a:lnSpc>
                <a:spcPct val="100000"/>
              </a:lnSpc>
              <a:buClr>
                <a:srgbClr val="00338D"/>
              </a:buClr>
              <a:buFont typeface="Arial" pitchFamily="34" charset="0"/>
              <a:buChar char="–"/>
              <a:defRPr lang="en-US" sz="900" b="1" kern="1200" dirty="0" smtClean="0">
                <a:solidFill>
                  <a:srgbClr val="00338D"/>
                </a:solidFill>
                <a:latin typeface="Arial" pitchFamily="34" charset="0"/>
                <a:ea typeface="+mn-ea"/>
                <a:cs typeface="Arial" pitchFamily="34" charset="0"/>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smtClean="0"/>
          </a:p>
        </p:txBody>
      </p:sp>
      <p:sp>
        <p:nvSpPr>
          <p:cNvPr id="29" name="Line 33"/>
          <p:cNvSpPr>
            <a:spLocks noChangeShapeType="1"/>
          </p:cNvSpPr>
          <p:nvPr userDrawn="1"/>
        </p:nvSpPr>
        <p:spPr bwMode="gray">
          <a:xfrm>
            <a:off x="0" y="6381328"/>
            <a:ext cx="9136674" cy="0"/>
          </a:xfrm>
          <a:prstGeom prst="line">
            <a:avLst/>
          </a:prstGeom>
          <a:noFill/>
          <a:ln w="6350">
            <a:solidFill>
              <a:srgbClr val="97989A"/>
            </a:solidFill>
            <a:miter lim="800000"/>
            <a:headEnd/>
            <a:tailEnd/>
          </a:ln>
        </p:spPr>
        <p:txBody>
          <a:bodyPr>
            <a:noAutofit/>
          </a:bodyPr>
          <a:lstStyle/>
          <a:p>
            <a:endParaRPr lang="en-GB" dirty="0"/>
          </a:p>
        </p:txBody>
      </p:sp>
      <p:sp>
        <p:nvSpPr>
          <p:cNvPr id="30" name="Line 31"/>
          <p:cNvSpPr>
            <a:spLocks noChangeShapeType="1"/>
          </p:cNvSpPr>
          <p:nvPr userDrawn="1"/>
        </p:nvSpPr>
        <p:spPr bwMode="gray">
          <a:xfrm>
            <a:off x="0" y="908720"/>
            <a:ext cx="9136674" cy="0"/>
          </a:xfrm>
          <a:prstGeom prst="line">
            <a:avLst/>
          </a:prstGeom>
          <a:noFill/>
          <a:ln w="6350">
            <a:solidFill>
              <a:srgbClr val="97989A"/>
            </a:solidFill>
            <a:miter lim="800000"/>
            <a:headEnd/>
            <a:tailEnd/>
          </a:ln>
        </p:spPr>
        <p:txBody>
          <a:bodyPr>
            <a:noAutofit/>
          </a:bodyPr>
          <a:lstStyle/>
          <a:p>
            <a:endParaRPr lang="en-GB"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Two Rows Text">
    <p:spTree>
      <p:nvGrpSpPr>
        <p:cNvPr id="1" name=""/>
        <p:cNvGrpSpPr/>
        <p:nvPr/>
      </p:nvGrpSpPr>
      <p:grpSpPr>
        <a:xfrm>
          <a:off x="0" y="0"/>
          <a:ext cx="0" cy="0"/>
          <a:chOff x="0" y="0"/>
          <a:chExt cx="0" cy="0"/>
        </a:xfrm>
      </p:grpSpPr>
      <p:sp>
        <p:nvSpPr>
          <p:cNvPr id="23" name="Freeform 29"/>
          <p:cNvSpPr>
            <a:spLocks/>
          </p:cNvSpPr>
          <p:nvPr userDrawn="1"/>
        </p:nvSpPr>
        <p:spPr bwMode="gray">
          <a:xfrm>
            <a:off x="0" y="908720"/>
            <a:ext cx="1835695" cy="5474865"/>
          </a:xfrm>
          <a:custGeom>
            <a:avLst/>
            <a:gdLst>
              <a:gd name="T0" fmla="*/ 0 w 1260"/>
              <a:gd name="T1" fmla="*/ 0 h 3748"/>
              <a:gd name="T2" fmla="*/ 0 w 1260"/>
              <a:gd name="T3" fmla="*/ 3748 h 3748"/>
              <a:gd name="T4" fmla="*/ 1260 w 1260"/>
              <a:gd name="T5" fmla="*/ 3748 h 3748"/>
              <a:gd name="T6" fmla="*/ 1260 w 1260"/>
              <a:gd name="T7" fmla="*/ 0 h 3748"/>
              <a:gd name="T8" fmla="*/ 0 w 1260"/>
              <a:gd name="T9" fmla="*/ 0 h 3748"/>
              <a:gd name="T10" fmla="*/ 0 w 1260"/>
              <a:gd name="T11" fmla="*/ 0 h 3748"/>
              <a:gd name="T12" fmla="*/ 0 60000 65536"/>
              <a:gd name="T13" fmla="*/ 0 60000 65536"/>
              <a:gd name="T14" fmla="*/ 0 60000 65536"/>
              <a:gd name="T15" fmla="*/ 0 60000 65536"/>
              <a:gd name="T16" fmla="*/ 0 60000 65536"/>
              <a:gd name="T17" fmla="*/ 0 60000 65536"/>
              <a:gd name="T18" fmla="*/ 0 w 1260"/>
              <a:gd name="T19" fmla="*/ 0 h 3748"/>
              <a:gd name="T20" fmla="*/ 1260 w 1260"/>
              <a:gd name="T21" fmla="*/ 3748 h 3748"/>
            </a:gdLst>
            <a:ahLst/>
            <a:cxnLst>
              <a:cxn ang="T12">
                <a:pos x="T0" y="T1"/>
              </a:cxn>
              <a:cxn ang="T13">
                <a:pos x="T2" y="T3"/>
              </a:cxn>
              <a:cxn ang="T14">
                <a:pos x="T4" y="T5"/>
              </a:cxn>
              <a:cxn ang="T15">
                <a:pos x="T6" y="T7"/>
              </a:cxn>
              <a:cxn ang="T16">
                <a:pos x="T8" y="T9"/>
              </a:cxn>
              <a:cxn ang="T17">
                <a:pos x="T10" y="T11"/>
              </a:cxn>
            </a:cxnLst>
            <a:rect l="T18" t="T19" r="T20" b="T21"/>
            <a:pathLst>
              <a:path w="1260" h="3748">
                <a:moveTo>
                  <a:pt x="0" y="0"/>
                </a:moveTo>
                <a:lnTo>
                  <a:pt x="0" y="3748"/>
                </a:lnTo>
                <a:lnTo>
                  <a:pt x="1260" y="3748"/>
                </a:lnTo>
                <a:lnTo>
                  <a:pt x="1260" y="0"/>
                </a:lnTo>
                <a:lnTo>
                  <a:pt x="0" y="0"/>
                </a:lnTo>
                <a:close/>
              </a:path>
            </a:pathLst>
          </a:custGeom>
          <a:solidFill>
            <a:srgbClr val="DCDDDD"/>
          </a:solidFill>
          <a:ln w="9525" cap="flat" cmpd="sng">
            <a:noFill/>
            <a:prstDash val="solid"/>
            <a:round/>
            <a:headEnd type="none" w="med" len="med"/>
            <a:tailEnd type="none" w="med" len="med"/>
          </a:ln>
        </p:spPr>
        <p:txBody>
          <a:bodyPr>
            <a:noAutofit/>
          </a:bodyPr>
          <a:lstStyle/>
          <a:p>
            <a:pPr marL="0" algn="l" defTabSz="914400" rtl="0" eaLnBrk="1" latinLnBrk="0" hangingPunct="1"/>
            <a:endParaRPr lang="en-GB" sz="1800" kern="1200" dirty="0">
              <a:solidFill>
                <a:schemeClr val="tx1"/>
              </a:solidFill>
              <a:latin typeface="+mn-lt"/>
              <a:ea typeface="+mn-ea"/>
              <a:cs typeface="+mn-cs"/>
            </a:endParaRPr>
          </a:p>
        </p:txBody>
      </p:sp>
      <p:sp>
        <p:nvSpPr>
          <p:cNvPr id="25" name="Line 33"/>
          <p:cNvSpPr>
            <a:spLocks noChangeShapeType="1"/>
          </p:cNvSpPr>
          <p:nvPr userDrawn="1"/>
        </p:nvSpPr>
        <p:spPr bwMode="gray">
          <a:xfrm>
            <a:off x="0" y="6381328"/>
            <a:ext cx="9136674" cy="0"/>
          </a:xfrm>
          <a:prstGeom prst="line">
            <a:avLst/>
          </a:prstGeom>
          <a:noFill/>
          <a:ln w="6350">
            <a:solidFill>
              <a:srgbClr val="97989A"/>
            </a:solidFill>
            <a:miter lim="800000"/>
            <a:headEnd/>
            <a:tailEnd/>
          </a:ln>
        </p:spPr>
        <p:txBody>
          <a:bodyPr>
            <a:noAutofit/>
          </a:bodyPr>
          <a:lstStyle/>
          <a:p>
            <a:endParaRPr lang="en-GB" dirty="0"/>
          </a:p>
        </p:txBody>
      </p:sp>
      <p:sp>
        <p:nvSpPr>
          <p:cNvPr id="27" name="Line 31"/>
          <p:cNvSpPr>
            <a:spLocks noChangeShapeType="1"/>
          </p:cNvSpPr>
          <p:nvPr userDrawn="1"/>
        </p:nvSpPr>
        <p:spPr bwMode="gray">
          <a:xfrm>
            <a:off x="0" y="908720"/>
            <a:ext cx="9136674" cy="0"/>
          </a:xfrm>
          <a:prstGeom prst="line">
            <a:avLst/>
          </a:prstGeom>
          <a:noFill/>
          <a:ln w="6350">
            <a:solidFill>
              <a:srgbClr val="97989A"/>
            </a:solidFill>
            <a:miter lim="800000"/>
            <a:headEnd/>
            <a:tailEnd/>
          </a:ln>
        </p:spPr>
        <p:txBody>
          <a:bodyPr>
            <a:noAutofit/>
          </a:bodyPr>
          <a:lstStyle/>
          <a:p>
            <a:endParaRPr lang="en-GB" dirty="0"/>
          </a:p>
        </p:txBody>
      </p:sp>
      <p:sp>
        <p:nvSpPr>
          <p:cNvPr id="10" name="Title 9"/>
          <p:cNvSpPr>
            <a:spLocks noGrp="1"/>
          </p:cNvSpPr>
          <p:nvPr>
            <p:ph type="title"/>
          </p:nvPr>
        </p:nvSpPr>
        <p:spPr bwMode="gray"/>
        <p:txBody>
          <a:bodyPr>
            <a:noAutofit/>
          </a:bodyPr>
          <a:lstStyle/>
          <a:p>
            <a:r>
              <a:rPr lang="en-US" smtClean="0"/>
              <a:t>Click to edit Master title style</a:t>
            </a:r>
            <a:endParaRPr lang="en-GB"/>
          </a:p>
        </p:txBody>
      </p:sp>
      <p:sp>
        <p:nvSpPr>
          <p:cNvPr id="26" name="Text Placeholder 25"/>
          <p:cNvSpPr>
            <a:spLocks noGrp="1"/>
          </p:cNvSpPr>
          <p:nvPr>
            <p:ph type="body" sz="quarter" idx="13"/>
          </p:nvPr>
        </p:nvSpPr>
        <p:spPr bwMode="gray">
          <a:xfrm>
            <a:off x="2123728" y="1196975"/>
            <a:ext cx="6768752" cy="2376488"/>
          </a:xfrm>
        </p:spPr>
        <p:txBody>
          <a:bodyPr>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28" name="Text Placeholder 27"/>
          <p:cNvSpPr>
            <a:spLocks noGrp="1"/>
          </p:cNvSpPr>
          <p:nvPr>
            <p:ph type="body" sz="quarter" idx="14"/>
          </p:nvPr>
        </p:nvSpPr>
        <p:spPr bwMode="gray">
          <a:xfrm>
            <a:off x="2123728" y="3716339"/>
            <a:ext cx="6768752" cy="2376487"/>
          </a:xfrm>
        </p:spPr>
        <p:txBody>
          <a:bodyPr>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8" name="Text Placeholder 7"/>
          <p:cNvSpPr>
            <a:spLocks noGrp="1"/>
          </p:cNvSpPr>
          <p:nvPr>
            <p:ph type="body" sz="quarter" idx="12"/>
          </p:nvPr>
        </p:nvSpPr>
        <p:spPr bwMode="gray">
          <a:xfrm>
            <a:off x="252046" y="1195200"/>
            <a:ext cx="1583650" cy="4895850"/>
          </a:xfrm>
        </p:spPr>
        <p:txBody>
          <a:bodyPr vert="horz" lIns="0" tIns="0" rIns="144000" bIns="0" rtlCol="0">
            <a:noAutofit/>
          </a:bodyPr>
          <a:lstStyle>
            <a:lvl1pPr algn="l" defTabSz="914400" rtl="0" eaLnBrk="1" latinLnBrk="0" hangingPunct="1">
              <a:lnSpc>
                <a:spcPct val="135000"/>
              </a:lnSpc>
              <a:spcBef>
                <a:spcPts val="600"/>
              </a:spcBef>
              <a:buFont typeface="Arial" pitchFamily="34" charset="0"/>
              <a:defRPr lang="en-US" sz="900" b="1" kern="1200" noProof="0" dirty="0" smtClean="0">
                <a:solidFill>
                  <a:srgbClr val="00338D"/>
                </a:solidFill>
                <a:latin typeface="Arial" pitchFamily="34" charset="0"/>
                <a:ea typeface="+mn-ea"/>
                <a:cs typeface="Arial" pitchFamily="34" charset="0"/>
              </a:defRPr>
            </a:lvl1pPr>
            <a:lvl2pPr marL="180975" indent="-180975"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2pPr>
            <a:lvl3pPr marL="361950" indent="-177800"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3pPr>
            <a:lvl4pPr marL="539750" indent="-177800"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4pPr>
            <a:lvl5pPr marL="719138" indent="-174625" algn="l" defTabSz="914400" rtl="0" eaLnBrk="1" latinLnBrk="0" hangingPunct="1">
              <a:lnSpc>
                <a:spcPct val="135000"/>
              </a:lnSpc>
              <a:spcBef>
                <a:spcPts val="600"/>
              </a:spcBef>
              <a:buClr>
                <a:srgbClr val="00338D"/>
              </a:buClr>
              <a:buFont typeface="Arial" pitchFamily="34" charset="0"/>
              <a:buChar char="–"/>
              <a:defRPr lang="en-GB" sz="900" b="1" kern="1200" noProof="0" dirty="0" smtClean="0">
                <a:solidFill>
                  <a:srgbClr val="00338D"/>
                </a:solidFill>
                <a:latin typeface="Arial" pitchFamily="34" charset="0"/>
                <a:ea typeface="+mn-ea"/>
                <a:cs typeface="Arial" pitchFamily="34" charset="0"/>
              </a:defRPr>
            </a:lvl5pPr>
            <a:lvl6pPr marL="895350" indent="-177800">
              <a:lnSpc>
                <a:spcPct val="100000"/>
              </a:lnSpc>
              <a:buClr>
                <a:srgbClr val="00338D"/>
              </a:buClr>
              <a:buFont typeface="Arial" pitchFamily="34" charset="0"/>
              <a:buChar char="■"/>
              <a:defRPr lang="en-US" sz="900" b="1" kern="1200" baseline="0" dirty="0" smtClean="0">
                <a:solidFill>
                  <a:srgbClr val="00338D"/>
                </a:solidFill>
                <a:latin typeface="Arial" pitchFamily="34" charset="0"/>
                <a:ea typeface="+mn-ea"/>
                <a:cs typeface="Arial" pitchFamily="34" charset="0"/>
              </a:defRPr>
            </a:lvl6pPr>
            <a:lvl7pPr marL="1079500" indent="-184150">
              <a:lnSpc>
                <a:spcPct val="100000"/>
              </a:lnSpc>
              <a:buClr>
                <a:srgbClr val="00338D"/>
              </a:buClr>
              <a:buFont typeface="Arial" pitchFamily="34" charset="0"/>
              <a:buChar char="–"/>
              <a:defRPr lang="en-US" sz="900" b="1" kern="1200" baseline="0" dirty="0" smtClean="0">
                <a:solidFill>
                  <a:srgbClr val="00338D"/>
                </a:solidFill>
                <a:latin typeface="Arial" pitchFamily="34" charset="0"/>
                <a:ea typeface="+mn-ea"/>
                <a:cs typeface="Arial" pitchFamily="34" charset="0"/>
              </a:defRPr>
            </a:lvl7pPr>
            <a:lvl8pPr marL="1257300" indent="-177800">
              <a:lnSpc>
                <a:spcPct val="100000"/>
              </a:lnSpc>
              <a:buClr>
                <a:srgbClr val="00338D"/>
              </a:buClr>
              <a:buFont typeface="Arial" pitchFamily="34" charset="0"/>
              <a:buChar char="■"/>
              <a:defRPr lang="en-US" sz="900" b="1" kern="1200" dirty="0" smtClean="0">
                <a:solidFill>
                  <a:srgbClr val="00338D"/>
                </a:solidFill>
                <a:latin typeface="Arial" pitchFamily="34" charset="0"/>
                <a:ea typeface="+mn-ea"/>
                <a:cs typeface="+mn-cs"/>
              </a:defRPr>
            </a:lvl8pPr>
            <a:lvl9pPr marL="1401763" indent="-144463">
              <a:lnSpc>
                <a:spcPct val="100000"/>
              </a:lnSpc>
              <a:buClr>
                <a:srgbClr val="00338D"/>
              </a:buClr>
              <a:buFont typeface="Arial" pitchFamily="34" charset="0"/>
              <a:buChar char="–"/>
              <a:defRPr lang="en-US" sz="900" b="1" kern="1200" dirty="0" smtClean="0">
                <a:solidFill>
                  <a:srgbClr val="00338D"/>
                </a:solidFill>
                <a:latin typeface="Arial" pitchFamily="34" charset="0"/>
                <a:ea typeface="+mn-ea"/>
                <a:cs typeface="Arial" pitchFamily="34" charset="0"/>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smtClean="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One Chart One Row Text">
    <p:spTree>
      <p:nvGrpSpPr>
        <p:cNvPr id="1" name=""/>
        <p:cNvGrpSpPr/>
        <p:nvPr/>
      </p:nvGrpSpPr>
      <p:grpSpPr>
        <a:xfrm>
          <a:off x="0" y="0"/>
          <a:ext cx="0" cy="0"/>
          <a:chOff x="0" y="0"/>
          <a:chExt cx="0" cy="0"/>
        </a:xfrm>
      </p:grpSpPr>
      <p:sp>
        <p:nvSpPr>
          <p:cNvPr id="25" name="Freeform 29"/>
          <p:cNvSpPr>
            <a:spLocks/>
          </p:cNvSpPr>
          <p:nvPr userDrawn="1"/>
        </p:nvSpPr>
        <p:spPr bwMode="gray">
          <a:xfrm>
            <a:off x="0" y="908720"/>
            <a:ext cx="1835695" cy="5474865"/>
          </a:xfrm>
          <a:custGeom>
            <a:avLst/>
            <a:gdLst>
              <a:gd name="T0" fmla="*/ 0 w 1260"/>
              <a:gd name="T1" fmla="*/ 0 h 3748"/>
              <a:gd name="T2" fmla="*/ 0 w 1260"/>
              <a:gd name="T3" fmla="*/ 3748 h 3748"/>
              <a:gd name="T4" fmla="*/ 1260 w 1260"/>
              <a:gd name="T5" fmla="*/ 3748 h 3748"/>
              <a:gd name="T6" fmla="*/ 1260 w 1260"/>
              <a:gd name="T7" fmla="*/ 0 h 3748"/>
              <a:gd name="T8" fmla="*/ 0 w 1260"/>
              <a:gd name="T9" fmla="*/ 0 h 3748"/>
              <a:gd name="T10" fmla="*/ 0 w 1260"/>
              <a:gd name="T11" fmla="*/ 0 h 3748"/>
              <a:gd name="T12" fmla="*/ 0 60000 65536"/>
              <a:gd name="T13" fmla="*/ 0 60000 65536"/>
              <a:gd name="T14" fmla="*/ 0 60000 65536"/>
              <a:gd name="T15" fmla="*/ 0 60000 65536"/>
              <a:gd name="T16" fmla="*/ 0 60000 65536"/>
              <a:gd name="T17" fmla="*/ 0 60000 65536"/>
              <a:gd name="T18" fmla="*/ 0 w 1260"/>
              <a:gd name="T19" fmla="*/ 0 h 3748"/>
              <a:gd name="T20" fmla="*/ 1260 w 1260"/>
              <a:gd name="T21" fmla="*/ 3748 h 3748"/>
            </a:gdLst>
            <a:ahLst/>
            <a:cxnLst>
              <a:cxn ang="T12">
                <a:pos x="T0" y="T1"/>
              </a:cxn>
              <a:cxn ang="T13">
                <a:pos x="T2" y="T3"/>
              </a:cxn>
              <a:cxn ang="T14">
                <a:pos x="T4" y="T5"/>
              </a:cxn>
              <a:cxn ang="T15">
                <a:pos x="T6" y="T7"/>
              </a:cxn>
              <a:cxn ang="T16">
                <a:pos x="T8" y="T9"/>
              </a:cxn>
              <a:cxn ang="T17">
                <a:pos x="T10" y="T11"/>
              </a:cxn>
            </a:cxnLst>
            <a:rect l="T18" t="T19" r="T20" b="T21"/>
            <a:pathLst>
              <a:path w="1260" h="3748">
                <a:moveTo>
                  <a:pt x="0" y="0"/>
                </a:moveTo>
                <a:lnTo>
                  <a:pt x="0" y="3748"/>
                </a:lnTo>
                <a:lnTo>
                  <a:pt x="1260" y="3748"/>
                </a:lnTo>
                <a:lnTo>
                  <a:pt x="1260" y="0"/>
                </a:lnTo>
                <a:lnTo>
                  <a:pt x="0" y="0"/>
                </a:lnTo>
                <a:close/>
              </a:path>
            </a:pathLst>
          </a:custGeom>
          <a:solidFill>
            <a:srgbClr val="DCDDDD"/>
          </a:solidFill>
          <a:ln w="9525" cap="flat" cmpd="sng">
            <a:noFill/>
            <a:prstDash val="solid"/>
            <a:round/>
            <a:headEnd type="none" w="med" len="med"/>
            <a:tailEnd type="none" w="med" len="med"/>
          </a:ln>
        </p:spPr>
        <p:txBody>
          <a:bodyPr>
            <a:noAutofit/>
          </a:bodyPr>
          <a:lstStyle/>
          <a:p>
            <a:pPr marL="0" algn="l" defTabSz="914400" rtl="0" eaLnBrk="1" latinLnBrk="0" hangingPunct="1"/>
            <a:endParaRPr lang="en-GB" sz="1800" kern="1200" dirty="0">
              <a:solidFill>
                <a:schemeClr val="tx1"/>
              </a:solidFill>
              <a:latin typeface="+mn-lt"/>
              <a:ea typeface="+mn-ea"/>
              <a:cs typeface="+mn-cs"/>
            </a:endParaRPr>
          </a:p>
        </p:txBody>
      </p:sp>
      <p:sp>
        <p:nvSpPr>
          <p:cNvPr id="10" name="Title 9"/>
          <p:cNvSpPr>
            <a:spLocks noGrp="1"/>
          </p:cNvSpPr>
          <p:nvPr>
            <p:ph type="title"/>
          </p:nvPr>
        </p:nvSpPr>
        <p:spPr bwMode="gray"/>
        <p:txBody>
          <a:bodyPr>
            <a:noAutofit/>
          </a:bodyPr>
          <a:lstStyle/>
          <a:p>
            <a:r>
              <a:rPr lang="en-US" smtClean="0"/>
              <a:t>Click to edit Master title style</a:t>
            </a:r>
            <a:endParaRPr lang="en-GB"/>
          </a:p>
        </p:txBody>
      </p:sp>
      <p:sp>
        <p:nvSpPr>
          <p:cNvPr id="28" name="Text Placeholder 27"/>
          <p:cNvSpPr>
            <a:spLocks noGrp="1"/>
          </p:cNvSpPr>
          <p:nvPr>
            <p:ph type="body" sz="quarter" idx="14"/>
          </p:nvPr>
        </p:nvSpPr>
        <p:spPr bwMode="gray">
          <a:xfrm>
            <a:off x="2123728" y="3716339"/>
            <a:ext cx="6768752" cy="2376487"/>
          </a:xfrm>
        </p:spPr>
        <p:txBody>
          <a:bodyPr>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1" name="Chart Placeholder 10"/>
          <p:cNvSpPr>
            <a:spLocks noGrp="1"/>
          </p:cNvSpPr>
          <p:nvPr>
            <p:ph type="chart" sz="quarter" idx="15"/>
          </p:nvPr>
        </p:nvSpPr>
        <p:spPr bwMode="gray">
          <a:xfrm>
            <a:off x="2123728" y="1196975"/>
            <a:ext cx="6768752" cy="2376488"/>
          </a:xfrm>
        </p:spPr>
        <p:txBody>
          <a:bodyPr anchor="ctr">
            <a:noAutofit/>
          </a:bodyPr>
          <a:lstStyle>
            <a:lvl1pPr algn="ctr">
              <a:defRPr/>
            </a:lvl1pPr>
          </a:lstStyle>
          <a:p>
            <a:r>
              <a:rPr lang="en-US" dirty="0" smtClean="0"/>
              <a:t>Click icon to add chart</a:t>
            </a:r>
            <a:endParaRPr lang="en-GB" dirty="0"/>
          </a:p>
        </p:txBody>
      </p:sp>
      <p:sp>
        <p:nvSpPr>
          <p:cNvPr id="8" name="Text Placeholder 7"/>
          <p:cNvSpPr>
            <a:spLocks noGrp="1"/>
          </p:cNvSpPr>
          <p:nvPr>
            <p:ph type="body" sz="quarter" idx="12"/>
          </p:nvPr>
        </p:nvSpPr>
        <p:spPr bwMode="gray">
          <a:xfrm>
            <a:off x="252046" y="1195200"/>
            <a:ext cx="1583650" cy="4895850"/>
          </a:xfrm>
        </p:spPr>
        <p:txBody>
          <a:bodyPr vert="horz" lIns="0" tIns="0" rIns="144000" bIns="0" rtlCol="0">
            <a:noAutofit/>
          </a:bodyPr>
          <a:lstStyle>
            <a:lvl1pPr algn="l" defTabSz="914400" rtl="0" eaLnBrk="1" latinLnBrk="0" hangingPunct="1">
              <a:lnSpc>
                <a:spcPct val="135000"/>
              </a:lnSpc>
              <a:spcBef>
                <a:spcPts val="600"/>
              </a:spcBef>
              <a:buFont typeface="Arial" pitchFamily="34" charset="0"/>
              <a:defRPr lang="en-US" sz="900" b="1" kern="1200" noProof="0" dirty="0" smtClean="0">
                <a:solidFill>
                  <a:srgbClr val="00338D"/>
                </a:solidFill>
                <a:latin typeface="Arial" pitchFamily="34" charset="0"/>
                <a:ea typeface="+mn-ea"/>
                <a:cs typeface="Arial" pitchFamily="34" charset="0"/>
              </a:defRPr>
            </a:lvl1pPr>
            <a:lvl2pPr marL="180975" indent="-180975"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2pPr>
            <a:lvl3pPr marL="361950" indent="-177800"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3pPr>
            <a:lvl4pPr marL="539750" indent="-177800"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4pPr>
            <a:lvl5pPr marL="719138" indent="-174625" algn="l" defTabSz="914400" rtl="0" eaLnBrk="1" latinLnBrk="0" hangingPunct="1">
              <a:lnSpc>
                <a:spcPct val="135000"/>
              </a:lnSpc>
              <a:spcBef>
                <a:spcPts val="600"/>
              </a:spcBef>
              <a:buClr>
                <a:srgbClr val="00338D"/>
              </a:buClr>
              <a:buFont typeface="Arial" pitchFamily="34" charset="0"/>
              <a:buChar char="–"/>
              <a:defRPr lang="en-GB" sz="900" b="1" kern="1200" noProof="0" dirty="0" smtClean="0">
                <a:solidFill>
                  <a:srgbClr val="00338D"/>
                </a:solidFill>
                <a:latin typeface="Arial" pitchFamily="34" charset="0"/>
                <a:ea typeface="+mn-ea"/>
                <a:cs typeface="Arial" pitchFamily="34" charset="0"/>
              </a:defRPr>
            </a:lvl5pPr>
            <a:lvl6pPr marL="895350" indent="-177800">
              <a:lnSpc>
                <a:spcPct val="100000"/>
              </a:lnSpc>
              <a:buClr>
                <a:srgbClr val="00338D"/>
              </a:buClr>
              <a:buFont typeface="Arial" pitchFamily="34" charset="0"/>
              <a:buChar char="■"/>
              <a:defRPr lang="en-US" sz="900" b="1" kern="1200" baseline="0" dirty="0" smtClean="0">
                <a:solidFill>
                  <a:srgbClr val="00338D"/>
                </a:solidFill>
                <a:latin typeface="Arial" pitchFamily="34" charset="0"/>
                <a:ea typeface="+mn-ea"/>
                <a:cs typeface="Arial" pitchFamily="34" charset="0"/>
              </a:defRPr>
            </a:lvl6pPr>
            <a:lvl7pPr marL="1079500" indent="-184150">
              <a:lnSpc>
                <a:spcPct val="100000"/>
              </a:lnSpc>
              <a:buClr>
                <a:srgbClr val="00338D"/>
              </a:buClr>
              <a:buFont typeface="Arial" pitchFamily="34" charset="0"/>
              <a:buChar char="–"/>
              <a:defRPr lang="en-US" sz="900" b="1" kern="1200" baseline="0" dirty="0" smtClean="0">
                <a:solidFill>
                  <a:srgbClr val="00338D"/>
                </a:solidFill>
                <a:latin typeface="Arial" pitchFamily="34" charset="0"/>
                <a:ea typeface="+mn-ea"/>
                <a:cs typeface="Arial" pitchFamily="34" charset="0"/>
              </a:defRPr>
            </a:lvl7pPr>
            <a:lvl8pPr marL="1257300" indent="-177800">
              <a:lnSpc>
                <a:spcPct val="100000"/>
              </a:lnSpc>
              <a:buClr>
                <a:srgbClr val="00338D"/>
              </a:buClr>
              <a:buFont typeface="Arial" pitchFamily="34" charset="0"/>
              <a:buChar char="■"/>
              <a:defRPr lang="en-US" sz="900" b="1" kern="1200" dirty="0" smtClean="0">
                <a:solidFill>
                  <a:srgbClr val="00338D"/>
                </a:solidFill>
                <a:latin typeface="Arial" pitchFamily="34" charset="0"/>
                <a:ea typeface="+mn-ea"/>
                <a:cs typeface="+mn-cs"/>
              </a:defRPr>
            </a:lvl8pPr>
            <a:lvl9pPr marL="1401763" indent="-144463">
              <a:lnSpc>
                <a:spcPct val="100000"/>
              </a:lnSpc>
              <a:buClr>
                <a:srgbClr val="00338D"/>
              </a:buClr>
              <a:buFont typeface="Arial" pitchFamily="34" charset="0"/>
              <a:buChar char="–"/>
              <a:defRPr lang="en-US" sz="900" b="1" kern="1200" dirty="0" smtClean="0">
                <a:solidFill>
                  <a:srgbClr val="00338D"/>
                </a:solidFill>
                <a:latin typeface="Arial" pitchFamily="34" charset="0"/>
                <a:ea typeface="+mn-ea"/>
                <a:cs typeface="Arial" pitchFamily="34" charset="0"/>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smtClean="0"/>
          </a:p>
        </p:txBody>
      </p:sp>
      <p:sp>
        <p:nvSpPr>
          <p:cNvPr id="26" name="Line 33"/>
          <p:cNvSpPr>
            <a:spLocks noChangeShapeType="1"/>
          </p:cNvSpPr>
          <p:nvPr userDrawn="1"/>
        </p:nvSpPr>
        <p:spPr bwMode="gray">
          <a:xfrm>
            <a:off x="0" y="6381328"/>
            <a:ext cx="9136674" cy="0"/>
          </a:xfrm>
          <a:prstGeom prst="line">
            <a:avLst/>
          </a:prstGeom>
          <a:noFill/>
          <a:ln w="6350">
            <a:solidFill>
              <a:srgbClr val="97989A"/>
            </a:solidFill>
            <a:miter lim="800000"/>
            <a:headEnd/>
            <a:tailEnd/>
          </a:ln>
        </p:spPr>
        <p:txBody>
          <a:bodyPr>
            <a:noAutofit/>
          </a:bodyPr>
          <a:lstStyle/>
          <a:p>
            <a:endParaRPr lang="en-GB" dirty="0"/>
          </a:p>
        </p:txBody>
      </p:sp>
      <p:sp>
        <p:nvSpPr>
          <p:cNvPr id="27" name="Line 31"/>
          <p:cNvSpPr>
            <a:spLocks noChangeShapeType="1"/>
          </p:cNvSpPr>
          <p:nvPr userDrawn="1"/>
        </p:nvSpPr>
        <p:spPr bwMode="gray">
          <a:xfrm>
            <a:off x="0" y="908720"/>
            <a:ext cx="9136674" cy="0"/>
          </a:xfrm>
          <a:prstGeom prst="line">
            <a:avLst/>
          </a:prstGeom>
          <a:noFill/>
          <a:ln w="6350">
            <a:solidFill>
              <a:srgbClr val="97989A"/>
            </a:solidFill>
            <a:miter lim="800000"/>
            <a:headEnd/>
            <a:tailEnd/>
          </a:ln>
        </p:spPr>
        <p:txBody>
          <a:bodyPr>
            <a:noAutofit/>
          </a:bodyPr>
          <a:lstStyle/>
          <a:p>
            <a:endParaRPr lang="en-GB"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1" name="Freeform 29"/>
          <p:cNvSpPr>
            <a:spLocks/>
          </p:cNvSpPr>
          <p:nvPr userDrawn="1"/>
        </p:nvSpPr>
        <p:spPr bwMode="gray">
          <a:xfrm>
            <a:off x="0" y="908720"/>
            <a:ext cx="1835695" cy="5474865"/>
          </a:xfrm>
          <a:custGeom>
            <a:avLst/>
            <a:gdLst>
              <a:gd name="T0" fmla="*/ 0 w 1260"/>
              <a:gd name="T1" fmla="*/ 0 h 3748"/>
              <a:gd name="T2" fmla="*/ 0 w 1260"/>
              <a:gd name="T3" fmla="*/ 3748 h 3748"/>
              <a:gd name="T4" fmla="*/ 1260 w 1260"/>
              <a:gd name="T5" fmla="*/ 3748 h 3748"/>
              <a:gd name="T6" fmla="*/ 1260 w 1260"/>
              <a:gd name="T7" fmla="*/ 0 h 3748"/>
              <a:gd name="T8" fmla="*/ 0 w 1260"/>
              <a:gd name="T9" fmla="*/ 0 h 3748"/>
              <a:gd name="T10" fmla="*/ 0 w 1260"/>
              <a:gd name="T11" fmla="*/ 0 h 3748"/>
              <a:gd name="T12" fmla="*/ 0 60000 65536"/>
              <a:gd name="T13" fmla="*/ 0 60000 65536"/>
              <a:gd name="T14" fmla="*/ 0 60000 65536"/>
              <a:gd name="T15" fmla="*/ 0 60000 65536"/>
              <a:gd name="T16" fmla="*/ 0 60000 65536"/>
              <a:gd name="T17" fmla="*/ 0 60000 65536"/>
              <a:gd name="T18" fmla="*/ 0 w 1260"/>
              <a:gd name="T19" fmla="*/ 0 h 3748"/>
              <a:gd name="T20" fmla="*/ 1260 w 1260"/>
              <a:gd name="T21" fmla="*/ 3748 h 3748"/>
            </a:gdLst>
            <a:ahLst/>
            <a:cxnLst>
              <a:cxn ang="T12">
                <a:pos x="T0" y="T1"/>
              </a:cxn>
              <a:cxn ang="T13">
                <a:pos x="T2" y="T3"/>
              </a:cxn>
              <a:cxn ang="T14">
                <a:pos x="T4" y="T5"/>
              </a:cxn>
              <a:cxn ang="T15">
                <a:pos x="T6" y="T7"/>
              </a:cxn>
              <a:cxn ang="T16">
                <a:pos x="T8" y="T9"/>
              </a:cxn>
              <a:cxn ang="T17">
                <a:pos x="T10" y="T11"/>
              </a:cxn>
            </a:cxnLst>
            <a:rect l="T18" t="T19" r="T20" b="T21"/>
            <a:pathLst>
              <a:path w="1260" h="3748">
                <a:moveTo>
                  <a:pt x="0" y="0"/>
                </a:moveTo>
                <a:lnTo>
                  <a:pt x="0" y="3748"/>
                </a:lnTo>
                <a:lnTo>
                  <a:pt x="1260" y="3748"/>
                </a:lnTo>
                <a:lnTo>
                  <a:pt x="1260" y="0"/>
                </a:lnTo>
                <a:lnTo>
                  <a:pt x="0" y="0"/>
                </a:lnTo>
                <a:close/>
              </a:path>
            </a:pathLst>
          </a:custGeom>
          <a:solidFill>
            <a:srgbClr val="DCDDDD"/>
          </a:solidFill>
          <a:ln w="9525" cap="flat" cmpd="sng">
            <a:noFill/>
            <a:prstDash val="solid"/>
            <a:round/>
            <a:headEnd type="none" w="med" len="med"/>
            <a:tailEnd type="none" w="med" len="med"/>
          </a:ln>
        </p:spPr>
        <p:txBody>
          <a:bodyPr>
            <a:noAutofit/>
          </a:bodyPr>
          <a:lstStyle/>
          <a:p>
            <a:pPr marL="0" algn="l" defTabSz="914400" rtl="0" eaLnBrk="1" latinLnBrk="0" hangingPunct="1"/>
            <a:endParaRPr lang="en-GB" sz="1800" kern="1200" dirty="0">
              <a:solidFill>
                <a:schemeClr val="tx1"/>
              </a:solidFill>
              <a:latin typeface="+mn-lt"/>
              <a:ea typeface="+mn-ea"/>
              <a:cs typeface="+mn-cs"/>
            </a:endParaRPr>
          </a:p>
        </p:txBody>
      </p:sp>
      <p:sp>
        <p:nvSpPr>
          <p:cNvPr id="3" name="Title 2"/>
          <p:cNvSpPr>
            <a:spLocks noGrp="1"/>
          </p:cNvSpPr>
          <p:nvPr>
            <p:ph type="title"/>
          </p:nvPr>
        </p:nvSpPr>
        <p:spPr bwMode="gray"/>
        <p:txBody>
          <a:bodyPr>
            <a:noAutofit/>
          </a:bodyPr>
          <a:lstStyle/>
          <a:p>
            <a:r>
              <a:rPr lang="en-US" smtClean="0"/>
              <a:t>Click to edit Master title style</a:t>
            </a:r>
            <a:endParaRPr lang="en-GB" dirty="0"/>
          </a:p>
        </p:txBody>
      </p:sp>
      <p:sp>
        <p:nvSpPr>
          <p:cNvPr id="6" name="Text Placeholder 7"/>
          <p:cNvSpPr>
            <a:spLocks noGrp="1"/>
          </p:cNvSpPr>
          <p:nvPr>
            <p:ph type="body" sz="quarter" idx="12"/>
          </p:nvPr>
        </p:nvSpPr>
        <p:spPr bwMode="gray">
          <a:xfrm>
            <a:off x="252046" y="1195200"/>
            <a:ext cx="1583650" cy="4895850"/>
          </a:xfrm>
        </p:spPr>
        <p:txBody>
          <a:bodyPr vert="horz" lIns="0" tIns="0" rIns="144000" bIns="0" rtlCol="0">
            <a:noAutofit/>
          </a:bodyPr>
          <a:lstStyle>
            <a:lvl1pPr algn="l" defTabSz="914400" rtl="0" eaLnBrk="1" latinLnBrk="0" hangingPunct="1">
              <a:lnSpc>
                <a:spcPct val="135000"/>
              </a:lnSpc>
              <a:spcBef>
                <a:spcPts val="600"/>
              </a:spcBef>
              <a:buFont typeface="Arial" pitchFamily="34" charset="0"/>
              <a:defRPr lang="en-US" sz="900" b="1" kern="1200" noProof="0" dirty="0" smtClean="0">
                <a:solidFill>
                  <a:srgbClr val="00338D"/>
                </a:solidFill>
                <a:latin typeface="Arial" pitchFamily="34" charset="0"/>
                <a:ea typeface="+mn-ea"/>
                <a:cs typeface="Arial" pitchFamily="34" charset="0"/>
              </a:defRPr>
            </a:lvl1pPr>
            <a:lvl2pPr marL="180975" indent="-180975"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2pPr>
            <a:lvl3pPr marL="361950" indent="-177800"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3pPr>
            <a:lvl4pPr marL="539750" indent="-177800"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4pPr>
            <a:lvl5pPr marL="719138" indent="-174625" algn="l" defTabSz="914400" rtl="0" eaLnBrk="1" latinLnBrk="0" hangingPunct="1">
              <a:lnSpc>
                <a:spcPct val="135000"/>
              </a:lnSpc>
              <a:spcBef>
                <a:spcPts val="600"/>
              </a:spcBef>
              <a:buClr>
                <a:srgbClr val="00338D"/>
              </a:buClr>
              <a:buFont typeface="Arial" pitchFamily="34" charset="0"/>
              <a:buChar char="–"/>
              <a:defRPr lang="en-GB" sz="900" b="1" kern="1200" noProof="0" dirty="0" smtClean="0">
                <a:solidFill>
                  <a:srgbClr val="00338D"/>
                </a:solidFill>
                <a:latin typeface="Arial" pitchFamily="34" charset="0"/>
                <a:ea typeface="+mn-ea"/>
                <a:cs typeface="Arial" pitchFamily="34" charset="0"/>
              </a:defRPr>
            </a:lvl5pPr>
            <a:lvl6pPr marL="895350" indent="-177800">
              <a:lnSpc>
                <a:spcPct val="100000"/>
              </a:lnSpc>
              <a:buClr>
                <a:srgbClr val="00338D"/>
              </a:buClr>
              <a:buFont typeface="Arial" pitchFamily="34" charset="0"/>
              <a:buChar char="■"/>
              <a:defRPr lang="en-US" sz="900" b="1" kern="1200" baseline="0" dirty="0" smtClean="0">
                <a:solidFill>
                  <a:srgbClr val="00338D"/>
                </a:solidFill>
                <a:latin typeface="Arial" pitchFamily="34" charset="0"/>
                <a:ea typeface="+mn-ea"/>
                <a:cs typeface="Arial" pitchFamily="34" charset="0"/>
              </a:defRPr>
            </a:lvl6pPr>
            <a:lvl7pPr marL="1079500" indent="-184150">
              <a:lnSpc>
                <a:spcPct val="100000"/>
              </a:lnSpc>
              <a:buClr>
                <a:srgbClr val="00338D"/>
              </a:buClr>
              <a:buFont typeface="Arial" pitchFamily="34" charset="0"/>
              <a:buChar char="–"/>
              <a:defRPr lang="en-US" sz="900" b="1" kern="1200" baseline="0" dirty="0" smtClean="0">
                <a:solidFill>
                  <a:srgbClr val="00338D"/>
                </a:solidFill>
                <a:latin typeface="Arial" pitchFamily="34" charset="0"/>
                <a:ea typeface="+mn-ea"/>
                <a:cs typeface="Arial" pitchFamily="34" charset="0"/>
              </a:defRPr>
            </a:lvl7pPr>
            <a:lvl8pPr marL="1257300" indent="-177800">
              <a:lnSpc>
                <a:spcPct val="100000"/>
              </a:lnSpc>
              <a:buClr>
                <a:srgbClr val="00338D"/>
              </a:buClr>
              <a:buFont typeface="Arial" pitchFamily="34" charset="0"/>
              <a:buChar char="■"/>
              <a:defRPr lang="en-US" sz="900" b="1" kern="1200" dirty="0" smtClean="0">
                <a:solidFill>
                  <a:srgbClr val="00338D"/>
                </a:solidFill>
                <a:latin typeface="Arial" pitchFamily="34" charset="0"/>
                <a:ea typeface="+mn-ea"/>
                <a:cs typeface="+mn-cs"/>
              </a:defRPr>
            </a:lvl8pPr>
            <a:lvl9pPr marL="1401763" indent="-144463">
              <a:lnSpc>
                <a:spcPct val="100000"/>
              </a:lnSpc>
              <a:buClr>
                <a:srgbClr val="00338D"/>
              </a:buClr>
              <a:buFont typeface="Arial" pitchFamily="34" charset="0"/>
              <a:buChar char="–"/>
              <a:defRPr lang="en-US" sz="900" b="1" kern="1200" dirty="0" smtClean="0">
                <a:solidFill>
                  <a:srgbClr val="00338D"/>
                </a:solidFill>
                <a:latin typeface="Arial" pitchFamily="34" charset="0"/>
                <a:ea typeface="+mn-ea"/>
                <a:cs typeface="Arial" pitchFamily="34" charset="0"/>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smtClean="0"/>
          </a:p>
        </p:txBody>
      </p:sp>
      <p:sp>
        <p:nvSpPr>
          <p:cNvPr id="22" name="Line 33"/>
          <p:cNvSpPr>
            <a:spLocks noChangeShapeType="1"/>
          </p:cNvSpPr>
          <p:nvPr userDrawn="1"/>
        </p:nvSpPr>
        <p:spPr bwMode="gray">
          <a:xfrm>
            <a:off x="0" y="6381328"/>
            <a:ext cx="9136674" cy="0"/>
          </a:xfrm>
          <a:prstGeom prst="line">
            <a:avLst/>
          </a:prstGeom>
          <a:noFill/>
          <a:ln w="6350">
            <a:solidFill>
              <a:srgbClr val="97989A"/>
            </a:solidFill>
            <a:miter lim="800000"/>
            <a:headEnd/>
            <a:tailEnd/>
          </a:ln>
        </p:spPr>
        <p:txBody>
          <a:bodyPr>
            <a:noAutofit/>
          </a:bodyPr>
          <a:lstStyle/>
          <a:p>
            <a:endParaRPr lang="en-GB" dirty="0"/>
          </a:p>
        </p:txBody>
      </p:sp>
      <p:sp>
        <p:nvSpPr>
          <p:cNvPr id="23" name="Line 31"/>
          <p:cNvSpPr>
            <a:spLocks noChangeShapeType="1"/>
          </p:cNvSpPr>
          <p:nvPr userDrawn="1"/>
        </p:nvSpPr>
        <p:spPr bwMode="gray">
          <a:xfrm>
            <a:off x="0" y="908720"/>
            <a:ext cx="9136674" cy="0"/>
          </a:xfrm>
          <a:prstGeom prst="line">
            <a:avLst/>
          </a:prstGeom>
          <a:noFill/>
          <a:ln w="6350">
            <a:solidFill>
              <a:srgbClr val="97989A"/>
            </a:solidFill>
            <a:miter lim="800000"/>
            <a:headEnd/>
            <a:tailEnd/>
          </a:ln>
        </p:spPr>
        <p:txBody>
          <a:bodyPr>
            <a:noAutofit/>
          </a:bodyPr>
          <a:lstStyle/>
          <a:p>
            <a:endParaRPr lang="en-GB"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0" name="Freeform 29"/>
          <p:cNvSpPr>
            <a:spLocks/>
          </p:cNvSpPr>
          <p:nvPr userDrawn="1"/>
        </p:nvSpPr>
        <p:spPr bwMode="gray">
          <a:xfrm>
            <a:off x="0" y="908720"/>
            <a:ext cx="1835695" cy="5474865"/>
          </a:xfrm>
          <a:custGeom>
            <a:avLst/>
            <a:gdLst>
              <a:gd name="T0" fmla="*/ 0 w 1260"/>
              <a:gd name="T1" fmla="*/ 0 h 3748"/>
              <a:gd name="T2" fmla="*/ 0 w 1260"/>
              <a:gd name="T3" fmla="*/ 3748 h 3748"/>
              <a:gd name="T4" fmla="*/ 1260 w 1260"/>
              <a:gd name="T5" fmla="*/ 3748 h 3748"/>
              <a:gd name="T6" fmla="*/ 1260 w 1260"/>
              <a:gd name="T7" fmla="*/ 0 h 3748"/>
              <a:gd name="T8" fmla="*/ 0 w 1260"/>
              <a:gd name="T9" fmla="*/ 0 h 3748"/>
              <a:gd name="T10" fmla="*/ 0 w 1260"/>
              <a:gd name="T11" fmla="*/ 0 h 3748"/>
              <a:gd name="T12" fmla="*/ 0 60000 65536"/>
              <a:gd name="T13" fmla="*/ 0 60000 65536"/>
              <a:gd name="T14" fmla="*/ 0 60000 65536"/>
              <a:gd name="T15" fmla="*/ 0 60000 65536"/>
              <a:gd name="T16" fmla="*/ 0 60000 65536"/>
              <a:gd name="T17" fmla="*/ 0 60000 65536"/>
              <a:gd name="T18" fmla="*/ 0 w 1260"/>
              <a:gd name="T19" fmla="*/ 0 h 3748"/>
              <a:gd name="T20" fmla="*/ 1260 w 1260"/>
              <a:gd name="T21" fmla="*/ 3748 h 3748"/>
            </a:gdLst>
            <a:ahLst/>
            <a:cxnLst>
              <a:cxn ang="T12">
                <a:pos x="T0" y="T1"/>
              </a:cxn>
              <a:cxn ang="T13">
                <a:pos x="T2" y="T3"/>
              </a:cxn>
              <a:cxn ang="T14">
                <a:pos x="T4" y="T5"/>
              </a:cxn>
              <a:cxn ang="T15">
                <a:pos x="T6" y="T7"/>
              </a:cxn>
              <a:cxn ang="T16">
                <a:pos x="T8" y="T9"/>
              </a:cxn>
              <a:cxn ang="T17">
                <a:pos x="T10" y="T11"/>
              </a:cxn>
            </a:cxnLst>
            <a:rect l="T18" t="T19" r="T20" b="T21"/>
            <a:pathLst>
              <a:path w="1260" h="3748">
                <a:moveTo>
                  <a:pt x="0" y="0"/>
                </a:moveTo>
                <a:lnTo>
                  <a:pt x="0" y="3748"/>
                </a:lnTo>
                <a:lnTo>
                  <a:pt x="1260" y="3748"/>
                </a:lnTo>
                <a:lnTo>
                  <a:pt x="1260" y="0"/>
                </a:lnTo>
                <a:lnTo>
                  <a:pt x="0" y="0"/>
                </a:lnTo>
                <a:close/>
              </a:path>
            </a:pathLst>
          </a:custGeom>
          <a:solidFill>
            <a:srgbClr val="DCDDDD"/>
          </a:solidFill>
          <a:ln w="9525" cap="flat" cmpd="sng">
            <a:noFill/>
            <a:prstDash val="solid"/>
            <a:round/>
            <a:headEnd type="none" w="med" len="med"/>
            <a:tailEnd type="none" w="med" len="med"/>
          </a:ln>
        </p:spPr>
        <p:txBody>
          <a:bodyPr>
            <a:noAutofit/>
          </a:bodyPr>
          <a:lstStyle/>
          <a:p>
            <a:pPr marL="0" algn="l" defTabSz="914400" rtl="0" eaLnBrk="1" latinLnBrk="0" hangingPunct="1"/>
            <a:endParaRPr lang="en-GB" sz="1800" kern="1200" dirty="0">
              <a:solidFill>
                <a:schemeClr val="tx1"/>
              </a:solidFill>
              <a:latin typeface="+mn-lt"/>
              <a:ea typeface="+mn-ea"/>
              <a:cs typeface="+mn-cs"/>
            </a:endParaRPr>
          </a:p>
        </p:txBody>
      </p:sp>
      <p:sp>
        <p:nvSpPr>
          <p:cNvPr id="21" name="Line 33"/>
          <p:cNvSpPr>
            <a:spLocks noChangeShapeType="1"/>
          </p:cNvSpPr>
          <p:nvPr userDrawn="1"/>
        </p:nvSpPr>
        <p:spPr bwMode="gray">
          <a:xfrm>
            <a:off x="0" y="6381328"/>
            <a:ext cx="9136674" cy="0"/>
          </a:xfrm>
          <a:prstGeom prst="line">
            <a:avLst/>
          </a:prstGeom>
          <a:noFill/>
          <a:ln w="6350">
            <a:solidFill>
              <a:srgbClr val="97989A"/>
            </a:solidFill>
            <a:miter lim="800000"/>
            <a:headEnd/>
            <a:tailEnd/>
          </a:ln>
        </p:spPr>
        <p:txBody>
          <a:bodyPr>
            <a:noAutofit/>
          </a:bodyPr>
          <a:lstStyle/>
          <a:p>
            <a:endParaRPr lang="en-GB" dirty="0"/>
          </a:p>
        </p:txBody>
      </p:sp>
      <p:sp>
        <p:nvSpPr>
          <p:cNvPr id="22" name="Line 31"/>
          <p:cNvSpPr>
            <a:spLocks noChangeShapeType="1"/>
          </p:cNvSpPr>
          <p:nvPr userDrawn="1"/>
        </p:nvSpPr>
        <p:spPr bwMode="gray">
          <a:xfrm>
            <a:off x="0" y="908720"/>
            <a:ext cx="9136674" cy="0"/>
          </a:xfrm>
          <a:prstGeom prst="line">
            <a:avLst/>
          </a:prstGeom>
          <a:noFill/>
          <a:ln w="6350">
            <a:solidFill>
              <a:srgbClr val="97989A"/>
            </a:solidFill>
            <a:miter lim="800000"/>
            <a:headEnd/>
            <a:tailEnd/>
          </a:ln>
        </p:spPr>
        <p:txBody>
          <a:bodyPr>
            <a:noAutofit/>
          </a:bodyPr>
          <a:lstStyle/>
          <a:p>
            <a:endParaRPr lang="en-GB" dirty="0"/>
          </a:p>
        </p:txBody>
      </p:sp>
      <p:sp>
        <p:nvSpPr>
          <p:cNvPr id="5" name="Text Placeholder 7"/>
          <p:cNvSpPr>
            <a:spLocks noGrp="1"/>
          </p:cNvSpPr>
          <p:nvPr>
            <p:ph type="body" sz="quarter" idx="12"/>
          </p:nvPr>
        </p:nvSpPr>
        <p:spPr bwMode="gray">
          <a:xfrm>
            <a:off x="252046" y="1195200"/>
            <a:ext cx="1583650" cy="4895850"/>
          </a:xfrm>
        </p:spPr>
        <p:txBody>
          <a:bodyPr vert="horz" lIns="0" tIns="0" rIns="144000" bIns="0" rtlCol="0">
            <a:noAutofit/>
          </a:bodyPr>
          <a:lstStyle>
            <a:lvl1pPr algn="l" defTabSz="914400" rtl="0" eaLnBrk="1" latinLnBrk="0" hangingPunct="1">
              <a:lnSpc>
                <a:spcPct val="135000"/>
              </a:lnSpc>
              <a:spcBef>
                <a:spcPts val="600"/>
              </a:spcBef>
              <a:buFont typeface="Arial" pitchFamily="34" charset="0"/>
              <a:defRPr lang="en-US" sz="900" b="1" kern="1200" noProof="0" dirty="0" smtClean="0">
                <a:solidFill>
                  <a:srgbClr val="00338D"/>
                </a:solidFill>
                <a:latin typeface="Arial" pitchFamily="34" charset="0"/>
                <a:ea typeface="+mn-ea"/>
                <a:cs typeface="Arial" pitchFamily="34" charset="0"/>
              </a:defRPr>
            </a:lvl1pPr>
            <a:lvl2pPr marL="180975" indent="-180975"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2pPr>
            <a:lvl3pPr marL="361950" indent="-177800"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3pPr>
            <a:lvl4pPr marL="539750" indent="-177800"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4pPr>
            <a:lvl5pPr marL="719138" indent="-174625" algn="l" defTabSz="914400" rtl="0" eaLnBrk="1" latinLnBrk="0" hangingPunct="1">
              <a:lnSpc>
                <a:spcPct val="135000"/>
              </a:lnSpc>
              <a:spcBef>
                <a:spcPts val="600"/>
              </a:spcBef>
              <a:buClr>
                <a:srgbClr val="00338D"/>
              </a:buClr>
              <a:buFont typeface="Arial" pitchFamily="34" charset="0"/>
              <a:buChar char="–"/>
              <a:defRPr lang="en-GB" sz="900" b="1" kern="1200" noProof="0" dirty="0" smtClean="0">
                <a:solidFill>
                  <a:srgbClr val="00338D"/>
                </a:solidFill>
                <a:latin typeface="Arial" pitchFamily="34" charset="0"/>
                <a:ea typeface="+mn-ea"/>
                <a:cs typeface="Arial" pitchFamily="34" charset="0"/>
              </a:defRPr>
            </a:lvl5pPr>
            <a:lvl6pPr marL="895350" indent="-177800">
              <a:lnSpc>
                <a:spcPct val="100000"/>
              </a:lnSpc>
              <a:buClr>
                <a:srgbClr val="00338D"/>
              </a:buClr>
              <a:buFont typeface="Arial" pitchFamily="34" charset="0"/>
              <a:buChar char="■"/>
              <a:defRPr lang="en-US" sz="900" b="1" kern="1200" baseline="0" dirty="0" smtClean="0">
                <a:solidFill>
                  <a:srgbClr val="00338D"/>
                </a:solidFill>
                <a:latin typeface="Arial" pitchFamily="34" charset="0"/>
                <a:ea typeface="+mn-ea"/>
                <a:cs typeface="Arial" pitchFamily="34" charset="0"/>
              </a:defRPr>
            </a:lvl6pPr>
            <a:lvl7pPr marL="1079500" indent="-184150">
              <a:lnSpc>
                <a:spcPct val="100000"/>
              </a:lnSpc>
              <a:buClr>
                <a:srgbClr val="00338D"/>
              </a:buClr>
              <a:buFont typeface="Arial" pitchFamily="34" charset="0"/>
              <a:buChar char="–"/>
              <a:defRPr lang="en-US" sz="900" b="1" kern="1200" baseline="0" dirty="0" smtClean="0">
                <a:solidFill>
                  <a:srgbClr val="00338D"/>
                </a:solidFill>
                <a:latin typeface="Arial" pitchFamily="34" charset="0"/>
                <a:ea typeface="+mn-ea"/>
                <a:cs typeface="Arial" pitchFamily="34" charset="0"/>
              </a:defRPr>
            </a:lvl7pPr>
            <a:lvl8pPr marL="1257300" indent="-177800">
              <a:lnSpc>
                <a:spcPct val="100000"/>
              </a:lnSpc>
              <a:buClr>
                <a:srgbClr val="00338D"/>
              </a:buClr>
              <a:buFont typeface="Arial" pitchFamily="34" charset="0"/>
              <a:buChar char="■"/>
              <a:defRPr lang="en-US" sz="900" b="1" kern="1200" dirty="0" smtClean="0">
                <a:solidFill>
                  <a:srgbClr val="00338D"/>
                </a:solidFill>
                <a:latin typeface="Arial" pitchFamily="34" charset="0"/>
                <a:ea typeface="+mn-ea"/>
                <a:cs typeface="+mn-cs"/>
              </a:defRPr>
            </a:lvl8pPr>
            <a:lvl9pPr marL="1401763" indent="-144463">
              <a:lnSpc>
                <a:spcPct val="100000"/>
              </a:lnSpc>
              <a:buClr>
                <a:srgbClr val="00338D"/>
              </a:buClr>
              <a:buFont typeface="Arial" pitchFamily="34" charset="0"/>
              <a:buChar char="–"/>
              <a:defRPr lang="en-US" sz="900" b="1" kern="1200" dirty="0" smtClean="0">
                <a:solidFill>
                  <a:srgbClr val="00338D"/>
                </a:solidFill>
                <a:latin typeface="Arial" pitchFamily="34" charset="0"/>
                <a:ea typeface="+mn-ea"/>
                <a:cs typeface="Arial" pitchFamily="34" charset="0"/>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smtClean="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Four Chevrons">
    <p:spTree>
      <p:nvGrpSpPr>
        <p:cNvPr id="1" name=""/>
        <p:cNvGrpSpPr/>
        <p:nvPr/>
      </p:nvGrpSpPr>
      <p:grpSpPr>
        <a:xfrm>
          <a:off x="0" y="0"/>
          <a:ext cx="0" cy="0"/>
          <a:chOff x="0" y="0"/>
          <a:chExt cx="0" cy="0"/>
        </a:xfrm>
      </p:grpSpPr>
      <p:sp>
        <p:nvSpPr>
          <p:cNvPr id="37" name="Freeform 29"/>
          <p:cNvSpPr>
            <a:spLocks/>
          </p:cNvSpPr>
          <p:nvPr userDrawn="1"/>
        </p:nvSpPr>
        <p:spPr bwMode="gray">
          <a:xfrm>
            <a:off x="0" y="908720"/>
            <a:ext cx="1835695" cy="5474865"/>
          </a:xfrm>
          <a:custGeom>
            <a:avLst/>
            <a:gdLst>
              <a:gd name="T0" fmla="*/ 0 w 1260"/>
              <a:gd name="T1" fmla="*/ 0 h 3748"/>
              <a:gd name="T2" fmla="*/ 0 w 1260"/>
              <a:gd name="T3" fmla="*/ 3748 h 3748"/>
              <a:gd name="T4" fmla="*/ 1260 w 1260"/>
              <a:gd name="T5" fmla="*/ 3748 h 3748"/>
              <a:gd name="T6" fmla="*/ 1260 w 1260"/>
              <a:gd name="T7" fmla="*/ 0 h 3748"/>
              <a:gd name="T8" fmla="*/ 0 w 1260"/>
              <a:gd name="T9" fmla="*/ 0 h 3748"/>
              <a:gd name="T10" fmla="*/ 0 w 1260"/>
              <a:gd name="T11" fmla="*/ 0 h 3748"/>
              <a:gd name="T12" fmla="*/ 0 60000 65536"/>
              <a:gd name="T13" fmla="*/ 0 60000 65536"/>
              <a:gd name="T14" fmla="*/ 0 60000 65536"/>
              <a:gd name="T15" fmla="*/ 0 60000 65536"/>
              <a:gd name="T16" fmla="*/ 0 60000 65536"/>
              <a:gd name="T17" fmla="*/ 0 60000 65536"/>
              <a:gd name="T18" fmla="*/ 0 w 1260"/>
              <a:gd name="T19" fmla="*/ 0 h 3748"/>
              <a:gd name="T20" fmla="*/ 1260 w 1260"/>
              <a:gd name="T21" fmla="*/ 3748 h 3748"/>
            </a:gdLst>
            <a:ahLst/>
            <a:cxnLst>
              <a:cxn ang="T12">
                <a:pos x="T0" y="T1"/>
              </a:cxn>
              <a:cxn ang="T13">
                <a:pos x="T2" y="T3"/>
              </a:cxn>
              <a:cxn ang="T14">
                <a:pos x="T4" y="T5"/>
              </a:cxn>
              <a:cxn ang="T15">
                <a:pos x="T6" y="T7"/>
              </a:cxn>
              <a:cxn ang="T16">
                <a:pos x="T8" y="T9"/>
              </a:cxn>
              <a:cxn ang="T17">
                <a:pos x="T10" y="T11"/>
              </a:cxn>
            </a:cxnLst>
            <a:rect l="T18" t="T19" r="T20" b="T21"/>
            <a:pathLst>
              <a:path w="1260" h="3748">
                <a:moveTo>
                  <a:pt x="0" y="0"/>
                </a:moveTo>
                <a:lnTo>
                  <a:pt x="0" y="3748"/>
                </a:lnTo>
                <a:lnTo>
                  <a:pt x="1260" y="3748"/>
                </a:lnTo>
                <a:lnTo>
                  <a:pt x="1260" y="0"/>
                </a:lnTo>
                <a:lnTo>
                  <a:pt x="0" y="0"/>
                </a:lnTo>
                <a:close/>
              </a:path>
            </a:pathLst>
          </a:custGeom>
          <a:solidFill>
            <a:srgbClr val="DCDDDD"/>
          </a:solidFill>
          <a:ln w="9525" cap="flat" cmpd="sng">
            <a:noFill/>
            <a:prstDash val="solid"/>
            <a:round/>
            <a:headEnd type="none" w="med" len="med"/>
            <a:tailEnd type="none" w="med" len="med"/>
          </a:ln>
        </p:spPr>
        <p:txBody>
          <a:bodyPr>
            <a:noAutofit/>
          </a:bodyPr>
          <a:lstStyle/>
          <a:p>
            <a:pPr marL="0" algn="l" defTabSz="914400" rtl="0" eaLnBrk="1" latinLnBrk="0" hangingPunct="1"/>
            <a:endParaRPr lang="en-GB" sz="1800" kern="1200" dirty="0">
              <a:solidFill>
                <a:schemeClr val="tx1"/>
              </a:solidFill>
              <a:latin typeface="+mn-lt"/>
              <a:ea typeface="+mn-ea"/>
              <a:cs typeface="+mn-cs"/>
            </a:endParaRPr>
          </a:p>
        </p:txBody>
      </p:sp>
      <p:sp>
        <p:nvSpPr>
          <p:cNvPr id="38" name="Line 33"/>
          <p:cNvSpPr>
            <a:spLocks noChangeShapeType="1"/>
          </p:cNvSpPr>
          <p:nvPr userDrawn="1"/>
        </p:nvSpPr>
        <p:spPr bwMode="gray">
          <a:xfrm>
            <a:off x="0" y="6381328"/>
            <a:ext cx="9136674" cy="0"/>
          </a:xfrm>
          <a:prstGeom prst="line">
            <a:avLst/>
          </a:prstGeom>
          <a:noFill/>
          <a:ln w="6350">
            <a:solidFill>
              <a:srgbClr val="97989A"/>
            </a:solidFill>
            <a:miter lim="800000"/>
            <a:headEnd/>
            <a:tailEnd/>
          </a:ln>
        </p:spPr>
        <p:txBody>
          <a:bodyPr>
            <a:noAutofit/>
          </a:bodyPr>
          <a:lstStyle/>
          <a:p>
            <a:endParaRPr lang="en-GB" dirty="0"/>
          </a:p>
        </p:txBody>
      </p:sp>
      <p:sp>
        <p:nvSpPr>
          <p:cNvPr id="39" name="Line 31"/>
          <p:cNvSpPr>
            <a:spLocks noChangeShapeType="1"/>
          </p:cNvSpPr>
          <p:nvPr userDrawn="1"/>
        </p:nvSpPr>
        <p:spPr bwMode="gray">
          <a:xfrm>
            <a:off x="0" y="908720"/>
            <a:ext cx="9136674" cy="0"/>
          </a:xfrm>
          <a:prstGeom prst="line">
            <a:avLst/>
          </a:prstGeom>
          <a:noFill/>
          <a:ln w="6350">
            <a:solidFill>
              <a:srgbClr val="97989A"/>
            </a:solidFill>
            <a:miter lim="800000"/>
            <a:headEnd/>
            <a:tailEnd/>
          </a:ln>
        </p:spPr>
        <p:txBody>
          <a:bodyPr>
            <a:noAutofit/>
          </a:bodyPr>
          <a:lstStyle/>
          <a:p>
            <a:endParaRPr lang="en-GB" dirty="0"/>
          </a:p>
        </p:txBody>
      </p:sp>
      <p:sp>
        <p:nvSpPr>
          <p:cNvPr id="6" name="Title 5"/>
          <p:cNvSpPr>
            <a:spLocks noGrp="1"/>
          </p:cNvSpPr>
          <p:nvPr>
            <p:ph type="title"/>
          </p:nvPr>
        </p:nvSpPr>
        <p:spPr bwMode="gray"/>
        <p:txBody>
          <a:bodyPr>
            <a:noAutofit/>
          </a:bodyPr>
          <a:lstStyle/>
          <a:p>
            <a:r>
              <a:rPr lang="en-US" smtClean="0"/>
              <a:t>Click to edit Master title style</a:t>
            </a:r>
            <a:endParaRPr lang="en-GB"/>
          </a:p>
        </p:txBody>
      </p:sp>
      <p:sp>
        <p:nvSpPr>
          <p:cNvPr id="30" name="Text Placeholder 29"/>
          <p:cNvSpPr>
            <a:spLocks noGrp="1"/>
          </p:cNvSpPr>
          <p:nvPr>
            <p:ph type="body" sz="quarter" idx="13"/>
          </p:nvPr>
        </p:nvSpPr>
        <p:spPr bwMode="gray">
          <a:xfrm>
            <a:off x="2123727" y="1916113"/>
            <a:ext cx="1584177" cy="4176712"/>
          </a:xfrm>
        </p:spPr>
        <p:txBody>
          <a:bodyPr>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31" name="Text Placeholder 29"/>
          <p:cNvSpPr>
            <a:spLocks noGrp="1"/>
          </p:cNvSpPr>
          <p:nvPr>
            <p:ph type="body" sz="quarter" idx="14"/>
          </p:nvPr>
        </p:nvSpPr>
        <p:spPr bwMode="gray">
          <a:xfrm>
            <a:off x="3851920" y="1916113"/>
            <a:ext cx="1583192" cy="4176712"/>
          </a:xfrm>
        </p:spPr>
        <p:txBody>
          <a:bodyPr>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32" name="Text Placeholder 29"/>
          <p:cNvSpPr>
            <a:spLocks noGrp="1"/>
          </p:cNvSpPr>
          <p:nvPr>
            <p:ph type="body" sz="quarter" idx="15"/>
          </p:nvPr>
        </p:nvSpPr>
        <p:spPr bwMode="gray">
          <a:xfrm>
            <a:off x="5580112" y="1916113"/>
            <a:ext cx="1584154" cy="4176712"/>
          </a:xfrm>
        </p:spPr>
        <p:txBody>
          <a:bodyPr>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33" name="Text Placeholder 29"/>
          <p:cNvSpPr>
            <a:spLocks noGrp="1"/>
          </p:cNvSpPr>
          <p:nvPr>
            <p:ph type="body" sz="quarter" idx="16"/>
          </p:nvPr>
        </p:nvSpPr>
        <p:spPr bwMode="gray">
          <a:xfrm>
            <a:off x="7308304" y="1916113"/>
            <a:ext cx="1584176" cy="4176712"/>
          </a:xfrm>
        </p:spPr>
        <p:txBody>
          <a:bodyPr>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4" name="Text Placeholder 7"/>
          <p:cNvSpPr>
            <a:spLocks noGrp="1"/>
          </p:cNvSpPr>
          <p:nvPr>
            <p:ph type="body" sz="quarter" idx="12"/>
          </p:nvPr>
        </p:nvSpPr>
        <p:spPr bwMode="gray">
          <a:xfrm>
            <a:off x="252046" y="1195200"/>
            <a:ext cx="1583650" cy="4895850"/>
          </a:xfrm>
        </p:spPr>
        <p:txBody>
          <a:bodyPr vert="horz" lIns="0" tIns="0" rIns="144000" bIns="0" rtlCol="0">
            <a:noAutofit/>
          </a:bodyPr>
          <a:lstStyle>
            <a:lvl1pPr algn="l" defTabSz="914400" rtl="0" eaLnBrk="1" latinLnBrk="0" hangingPunct="1">
              <a:lnSpc>
                <a:spcPct val="135000"/>
              </a:lnSpc>
              <a:spcBef>
                <a:spcPts val="600"/>
              </a:spcBef>
              <a:buFont typeface="Arial" pitchFamily="34" charset="0"/>
              <a:defRPr lang="en-US" sz="900" b="1" kern="1200" noProof="0" dirty="0" smtClean="0">
                <a:solidFill>
                  <a:srgbClr val="00338D"/>
                </a:solidFill>
                <a:latin typeface="Arial" pitchFamily="34" charset="0"/>
                <a:ea typeface="+mn-ea"/>
                <a:cs typeface="Arial" pitchFamily="34" charset="0"/>
              </a:defRPr>
            </a:lvl1pPr>
            <a:lvl2pPr marL="180975" indent="-180975"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2pPr>
            <a:lvl3pPr marL="361950" indent="-177800"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3pPr>
            <a:lvl4pPr marL="539750" indent="-177800"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4pPr>
            <a:lvl5pPr marL="719138" indent="-174625" algn="l" defTabSz="914400" rtl="0" eaLnBrk="1" latinLnBrk="0" hangingPunct="1">
              <a:lnSpc>
                <a:spcPct val="135000"/>
              </a:lnSpc>
              <a:spcBef>
                <a:spcPts val="600"/>
              </a:spcBef>
              <a:buClr>
                <a:srgbClr val="00338D"/>
              </a:buClr>
              <a:buFont typeface="Arial" pitchFamily="34" charset="0"/>
              <a:buChar char="–"/>
              <a:defRPr lang="en-GB" sz="900" b="1" kern="1200" noProof="0" dirty="0" smtClean="0">
                <a:solidFill>
                  <a:srgbClr val="00338D"/>
                </a:solidFill>
                <a:latin typeface="Arial" pitchFamily="34" charset="0"/>
                <a:ea typeface="+mn-ea"/>
                <a:cs typeface="Arial" pitchFamily="34" charset="0"/>
              </a:defRPr>
            </a:lvl5pPr>
            <a:lvl6pPr marL="895350" indent="-177800">
              <a:lnSpc>
                <a:spcPct val="100000"/>
              </a:lnSpc>
              <a:buClr>
                <a:srgbClr val="00338D"/>
              </a:buClr>
              <a:buFont typeface="Arial" pitchFamily="34" charset="0"/>
              <a:buChar char="■"/>
              <a:defRPr lang="en-US" sz="900" b="1" kern="1200" baseline="0" dirty="0" smtClean="0">
                <a:solidFill>
                  <a:srgbClr val="00338D"/>
                </a:solidFill>
                <a:latin typeface="Arial" pitchFamily="34" charset="0"/>
                <a:ea typeface="+mn-ea"/>
                <a:cs typeface="Arial" pitchFamily="34" charset="0"/>
              </a:defRPr>
            </a:lvl6pPr>
            <a:lvl7pPr marL="1079500" indent="-184150">
              <a:lnSpc>
                <a:spcPct val="100000"/>
              </a:lnSpc>
              <a:buClr>
                <a:srgbClr val="00338D"/>
              </a:buClr>
              <a:buFont typeface="Arial" pitchFamily="34" charset="0"/>
              <a:buChar char="–"/>
              <a:defRPr lang="en-US" sz="900" b="1" kern="1200" baseline="0" dirty="0" smtClean="0">
                <a:solidFill>
                  <a:srgbClr val="00338D"/>
                </a:solidFill>
                <a:latin typeface="Arial" pitchFamily="34" charset="0"/>
                <a:ea typeface="+mn-ea"/>
                <a:cs typeface="Arial" pitchFamily="34" charset="0"/>
              </a:defRPr>
            </a:lvl7pPr>
            <a:lvl8pPr marL="1257300" indent="-177800">
              <a:lnSpc>
                <a:spcPct val="100000"/>
              </a:lnSpc>
              <a:buClr>
                <a:srgbClr val="00338D"/>
              </a:buClr>
              <a:buFont typeface="Arial" pitchFamily="34" charset="0"/>
              <a:buChar char="■"/>
              <a:defRPr lang="en-US" sz="900" b="1" kern="1200" dirty="0" smtClean="0">
                <a:solidFill>
                  <a:srgbClr val="00338D"/>
                </a:solidFill>
                <a:latin typeface="Arial" pitchFamily="34" charset="0"/>
                <a:ea typeface="+mn-ea"/>
                <a:cs typeface="+mn-cs"/>
              </a:defRPr>
            </a:lvl8pPr>
            <a:lvl9pPr marL="1401763" indent="-144463">
              <a:lnSpc>
                <a:spcPct val="100000"/>
              </a:lnSpc>
              <a:buClr>
                <a:srgbClr val="00338D"/>
              </a:buClr>
              <a:buFont typeface="Arial" pitchFamily="34" charset="0"/>
              <a:buChar char="–"/>
              <a:defRPr lang="en-US" sz="900" b="1" kern="1200" dirty="0" smtClean="0">
                <a:solidFill>
                  <a:srgbClr val="00338D"/>
                </a:solidFill>
                <a:latin typeface="Arial" pitchFamily="34" charset="0"/>
                <a:ea typeface="+mn-ea"/>
                <a:cs typeface="Arial" pitchFamily="34" charset="0"/>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smtClean="0"/>
          </a:p>
        </p:txBody>
      </p:sp>
      <p:sp>
        <p:nvSpPr>
          <p:cNvPr id="15" name="Text Placeholder 20"/>
          <p:cNvSpPr>
            <a:spLocks noGrp="1"/>
          </p:cNvSpPr>
          <p:nvPr>
            <p:ph type="body" sz="quarter" idx="27"/>
          </p:nvPr>
        </p:nvSpPr>
        <p:spPr bwMode="gray">
          <a:xfrm>
            <a:off x="3854450" y="1196975"/>
            <a:ext cx="1582738" cy="576411"/>
          </a:xfrm>
          <a:prstGeom prst="chevron">
            <a:avLst>
              <a:gd name="adj" fmla="val 34136"/>
            </a:avLst>
          </a:prstGeom>
          <a:gradFill>
            <a:gsLst>
              <a:gs pos="0">
                <a:srgbClr val="80BEC9"/>
              </a:gs>
              <a:gs pos="100000">
                <a:srgbClr val="409DA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1">
            <a:noAutofit/>
          </a:bodyPr>
          <a:lstStyle>
            <a:lvl1pPr marL="0" algn="ctr" defTabSz="914400" rtl="0" eaLnBrk="1" latinLnBrk="0" hangingPunct="1">
              <a:defRPr lang="en-US" sz="900" b="1" kern="1200" dirty="0" smtClean="0">
                <a:solidFill>
                  <a:schemeClr val="bg1"/>
                </a:solidFill>
                <a:latin typeface="+mn-lt"/>
                <a:ea typeface="+mn-ea"/>
                <a:cs typeface="+mn-cs"/>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smtClean="0"/>
              <a:t>Click to edit Master text styles</a:t>
            </a:r>
          </a:p>
        </p:txBody>
      </p:sp>
      <p:sp>
        <p:nvSpPr>
          <p:cNvPr id="17" name="Text Placeholder 20"/>
          <p:cNvSpPr>
            <a:spLocks noGrp="1"/>
          </p:cNvSpPr>
          <p:nvPr>
            <p:ph type="body" sz="quarter" idx="26"/>
          </p:nvPr>
        </p:nvSpPr>
        <p:spPr bwMode="gray">
          <a:xfrm>
            <a:off x="2124075" y="1196975"/>
            <a:ext cx="1582738" cy="576411"/>
          </a:xfrm>
          <a:prstGeom prst="homePlate">
            <a:avLst>
              <a:gd name="adj" fmla="val 34577"/>
            </a:avLst>
          </a:prstGeom>
          <a:gradFill>
            <a:gsLst>
              <a:gs pos="0">
                <a:srgbClr val="80BEC9"/>
              </a:gs>
              <a:gs pos="100000">
                <a:srgbClr val="409DA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1">
            <a:noAutofit/>
          </a:bodyPr>
          <a:lstStyle>
            <a:lvl1pPr marL="0" algn="ctr" defTabSz="914400" rtl="0" eaLnBrk="1" latinLnBrk="0" hangingPunct="1">
              <a:defRPr lang="en-US" sz="900" b="1" kern="1200" dirty="0" smtClean="0">
                <a:solidFill>
                  <a:schemeClr val="bg1"/>
                </a:solidFill>
                <a:latin typeface="+mn-lt"/>
                <a:ea typeface="+mn-ea"/>
                <a:cs typeface="+mn-cs"/>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smtClean="0"/>
              <a:t>Click to edit Master text styles</a:t>
            </a:r>
          </a:p>
        </p:txBody>
      </p:sp>
      <p:sp>
        <p:nvSpPr>
          <p:cNvPr id="18" name="Text Placeholder 20"/>
          <p:cNvSpPr>
            <a:spLocks noGrp="1"/>
          </p:cNvSpPr>
          <p:nvPr>
            <p:ph type="body" sz="quarter" idx="28"/>
          </p:nvPr>
        </p:nvSpPr>
        <p:spPr bwMode="gray">
          <a:xfrm>
            <a:off x="5581650" y="1196975"/>
            <a:ext cx="1582738" cy="576411"/>
          </a:xfrm>
          <a:prstGeom prst="chevron">
            <a:avLst>
              <a:gd name="adj" fmla="val 34136"/>
            </a:avLst>
          </a:prstGeom>
          <a:gradFill>
            <a:gsLst>
              <a:gs pos="0">
                <a:srgbClr val="80BEC9"/>
              </a:gs>
              <a:gs pos="100000">
                <a:srgbClr val="409DA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1">
            <a:noAutofit/>
          </a:bodyPr>
          <a:lstStyle>
            <a:lvl1pPr marL="0" algn="ctr" defTabSz="914400" rtl="0" eaLnBrk="1" latinLnBrk="0" hangingPunct="1">
              <a:defRPr lang="en-US" sz="900" b="1" kern="1200" dirty="0" smtClean="0">
                <a:solidFill>
                  <a:schemeClr val="bg1"/>
                </a:solidFill>
                <a:latin typeface="+mn-lt"/>
                <a:ea typeface="+mn-ea"/>
                <a:cs typeface="+mn-cs"/>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smtClean="0"/>
              <a:t>Click to edit Master text styles</a:t>
            </a:r>
          </a:p>
        </p:txBody>
      </p:sp>
      <p:sp>
        <p:nvSpPr>
          <p:cNvPr id="20" name="Text Placeholder 20"/>
          <p:cNvSpPr>
            <a:spLocks noGrp="1"/>
          </p:cNvSpPr>
          <p:nvPr>
            <p:ph type="body" sz="quarter" idx="29"/>
          </p:nvPr>
        </p:nvSpPr>
        <p:spPr bwMode="gray">
          <a:xfrm>
            <a:off x="7308850" y="1196975"/>
            <a:ext cx="1582738" cy="576411"/>
          </a:xfrm>
          <a:prstGeom prst="chevron">
            <a:avLst>
              <a:gd name="adj" fmla="val 34136"/>
            </a:avLst>
          </a:prstGeom>
          <a:gradFill>
            <a:gsLst>
              <a:gs pos="0">
                <a:srgbClr val="80BEC9"/>
              </a:gs>
              <a:gs pos="100000">
                <a:srgbClr val="409DA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1">
            <a:noAutofit/>
          </a:bodyPr>
          <a:lstStyle>
            <a:lvl1pPr marL="0" algn="ctr" defTabSz="914400" rtl="0" eaLnBrk="1" latinLnBrk="0" hangingPunct="1">
              <a:defRPr lang="en-US" sz="900" b="1" kern="1200" dirty="0" smtClean="0">
                <a:solidFill>
                  <a:schemeClr val="bg1"/>
                </a:solidFill>
                <a:latin typeface="+mn-lt"/>
                <a:ea typeface="+mn-ea"/>
                <a:cs typeface="+mn-cs"/>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smtClean="0"/>
              <a:t>Click to edit Master text styles</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Five Chevrons">
    <p:spTree>
      <p:nvGrpSpPr>
        <p:cNvPr id="1" name=""/>
        <p:cNvGrpSpPr/>
        <p:nvPr/>
      </p:nvGrpSpPr>
      <p:grpSpPr>
        <a:xfrm>
          <a:off x="0" y="0"/>
          <a:ext cx="0" cy="0"/>
          <a:chOff x="0" y="0"/>
          <a:chExt cx="0" cy="0"/>
        </a:xfrm>
      </p:grpSpPr>
      <p:sp>
        <p:nvSpPr>
          <p:cNvPr id="41" name="Freeform 29"/>
          <p:cNvSpPr>
            <a:spLocks/>
          </p:cNvSpPr>
          <p:nvPr userDrawn="1"/>
        </p:nvSpPr>
        <p:spPr bwMode="gray">
          <a:xfrm>
            <a:off x="0" y="908720"/>
            <a:ext cx="1835695" cy="5474865"/>
          </a:xfrm>
          <a:custGeom>
            <a:avLst/>
            <a:gdLst>
              <a:gd name="T0" fmla="*/ 0 w 1260"/>
              <a:gd name="T1" fmla="*/ 0 h 3748"/>
              <a:gd name="T2" fmla="*/ 0 w 1260"/>
              <a:gd name="T3" fmla="*/ 3748 h 3748"/>
              <a:gd name="T4" fmla="*/ 1260 w 1260"/>
              <a:gd name="T5" fmla="*/ 3748 h 3748"/>
              <a:gd name="T6" fmla="*/ 1260 w 1260"/>
              <a:gd name="T7" fmla="*/ 0 h 3748"/>
              <a:gd name="T8" fmla="*/ 0 w 1260"/>
              <a:gd name="T9" fmla="*/ 0 h 3748"/>
              <a:gd name="T10" fmla="*/ 0 w 1260"/>
              <a:gd name="T11" fmla="*/ 0 h 3748"/>
              <a:gd name="T12" fmla="*/ 0 60000 65536"/>
              <a:gd name="T13" fmla="*/ 0 60000 65536"/>
              <a:gd name="T14" fmla="*/ 0 60000 65536"/>
              <a:gd name="T15" fmla="*/ 0 60000 65536"/>
              <a:gd name="T16" fmla="*/ 0 60000 65536"/>
              <a:gd name="T17" fmla="*/ 0 60000 65536"/>
              <a:gd name="T18" fmla="*/ 0 w 1260"/>
              <a:gd name="T19" fmla="*/ 0 h 3748"/>
              <a:gd name="T20" fmla="*/ 1260 w 1260"/>
              <a:gd name="T21" fmla="*/ 3748 h 3748"/>
            </a:gdLst>
            <a:ahLst/>
            <a:cxnLst>
              <a:cxn ang="T12">
                <a:pos x="T0" y="T1"/>
              </a:cxn>
              <a:cxn ang="T13">
                <a:pos x="T2" y="T3"/>
              </a:cxn>
              <a:cxn ang="T14">
                <a:pos x="T4" y="T5"/>
              </a:cxn>
              <a:cxn ang="T15">
                <a:pos x="T6" y="T7"/>
              </a:cxn>
              <a:cxn ang="T16">
                <a:pos x="T8" y="T9"/>
              </a:cxn>
              <a:cxn ang="T17">
                <a:pos x="T10" y="T11"/>
              </a:cxn>
            </a:cxnLst>
            <a:rect l="T18" t="T19" r="T20" b="T21"/>
            <a:pathLst>
              <a:path w="1260" h="3748">
                <a:moveTo>
                  <a:pt x="0" y="0"/>
                </a:moveTo>
                <a:lnTo>
                  <a:pt x="0" y="3748"/>
                </a:lnTo>
                <a:lnTo>
                  <a:pt x="1260" y="3748"/>
                </a:lnTo>
                <a:lnTo>
                  <a:pt x="1260" y="0"/>
                </a:lnTo>
                <a:lnTo>
                  <a:pt x="0" y="0"/>
                </a:lnTo>
                <a:close/>
              </a:path>
            </a:pathLst>
          </a:custGeom>
          <a:solidFill>
            <a:srgbClr val="DCDDDD"/>
          </a:solidFill>
          <a:ln w="9525" cap="flat" cmpd="sng">
            <a:noFill/>
            <a:prstDash val="solid"/>
            <a:round/>
            <a:headEnd type="none" w="med" len="med"/>
            <a:tailEnd type="none" w="med" len="med"/>
          </a:ln>
        </p:spPr>
        <p:txBody>
          <a:bodyPr>
            <a:noAutofit/>
          </a:bodyPr>
          <a:lstStyle/>
          <a:p>
            <a:pPr marL="0" algn="l" defTabSz="914400" rtl="0" eaLnBrk="1" latinLnBrk="0" hangingPunct="1"/>
            <a:endParaRPr lang="en-GB" sz="1800" kern="1200" dirty="0">
              <a:solidFill>
                <a:schemeClr val="tx1"/>
              </a:solidFill>
              <a:latin typeface="+mn-lt"/>
              <a:ea typeface="+mn-ea"/>
              <a:cs typeface="+mn-cs"/>
            </a:endParaRPr>
          </a:p>
        </p:txBody>
      </p:sp>
      <p:sp>
        <p:nvSpPr>
          <p:cNvPr id="42" name="Line 33"/>
          <p:cNvSpPr>
            <a:spLocks noChangeShapeType="1"/>
          </p:cNvSpPr>
          <p:nvPr userDrawn="1"/>
        </p:nvSpPr>
        <p:spPr bwMode="gray">
          <a:xfrm>
            <a:off x="0" y="6381328"/>
            <a:ext cx="9136674" cy="0"/>
          </a:xfrm>
          <a:prstGeom prst="line">
            <a:avLst/>
          </a:prstGeom>
          <a:noFill/>
          <a:ln w="6350">
            <a:solidFill>
              <a:srgbClr val="97989A"/>
            </a:solidFill>
            <a:miter lim="800000"/>
            <a:headEnd/>
            <a:tailEnd/>
          </a:ln>
        </p:spPr>
        <p:txBody>
          <a:bodyPr>
            <a:noAutofit/>
          </a:bodyPr>
          <a:lstStyle/>
          <a:p>
            <a:endParaRPr lang="en-GB" dirty="0"/>
          </a:p>
        </p:txBody>
      </p:sp>
      <p:sp>
        <p:nvSpPr>
          <p:cNvPr id="43" name="Line 31"/>
          <p:cNvSpPr>
            <a:spLocks noChangeShapeType="1"/>
          </p:cNvSpPr>
          <p:nvPr userDrawn="1"/>
        </p:nvSpPr>
        <p:spPr bwMode="gray">
          <a:xfrm>
            <a:off x="0" y="908720"/>
            <a:ext cx="9136674" cy="0"/>
          </a:xfrm>
          <a:prstGeom prst="line">
            <a:avLst/>
          </a:prstGeom>
          <a:noFill/>
          <a:ln w="6350">
            <a:solidFill>
              <a:srgbClr val="97989A"/>
            </a:solidFill>
            <a:miter lim="800000"/>
            <a:headEnd/>
            <a:tailEnd/>
          </a:ln>
        </p:spPr>
        <p:txBody>
          <a:bodyPr>
            <a:noAutofit/>
          </a:bodyPr>
          <a:lstStyle/>
          <a:p>
            <a:endParaRPr lang="en-GB" dirty="0"/>
          </a:p>
        </p:txBody>
      </p:sp>
      <p:sp>
        <p:nvSpPr>
          <p:cNvPr id="6" name="Title 5"/>
          <p:cNvSpPr>
            <a:spLocks noGrp="1"/>
          </p:cNvSpPr>
          <p:nvPr>
            <p:ph type="title"/>
          </p:nvPr>
        </p:nvSpPr>
        <p:spPr bwMode="gray"/>
        <p:txBody>
          <a:bodyPr>
            <a:noAutofit/>
          </a:bodyPr>
          <a:lstStyle/>
          <a:p>
            <a:r>
              <a:rPr lang="en-US" smtClean="0"/>
              <a:t>Click to edit Master title style</a:t>
            </a:r>
            <a:endParaRPr lang="en-GB" dirty="0"/>
          </a:p>
        </p:txBody>
      </p:sp>
      <p:sp>
        <p:nvSpPr>
          <p:cNvPr id="31" name="Text Placeholder 30"/>
          <p:cNvSpPr>
            <a:spLocks noGrp="1"/>
          </p:cNvSpPr>
          <p:nvPr>
            <p:ph type="body" sz="quarter" idx="17"/>
          </p:nvPr>
        </p:nvSpPr>
        <p:spPr bwMode="gray">
          <a:xfrm>
            <a:off x="2123727" y="1916113"/>
            <a:ext cx="1252519" cy="4176712"/>
          </a:xfrm>
        </p:spPr>
        <p:txBody>
          <a:bodyPr>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32" name="Text Placeholder 30"/>
          <p:cNvSpPr>
            <a:spLocks noGrp="1"/>
          </p:cNvSpPr>
          <p:nvPr>
            <p:ph type="body" sz="quarter" idx="18"/>
          </p:nvPr>
        </p:nvSpPr>
        <p:spPr bwMode="gray">
          <a:xfrm>
            <a:off x="3492012" y="1916113"/>
            <a:ext cx="1263162" cy="4176712"/>
          </a:xfrm>
        </p:spPr>
        <p:txBody>
          <a:bodyPr>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33" name="Text Placeholder 30"/>
          <p:cNvSpPr>
            <a:spLocks noGrp="1"/>
          </p:cNvSpPr>
          <p:nvPr>
            <p:ph type="body" sz="quarter" idx="19"/>
          </p:nvPr>
        </p:nvSpPr>
        <p:spPr bwMode="gray">
          <a:xfrm>
            <a:off x="4870940" y="1916113"/>
            <a:ext cx="1263162" cy="4176712"/>
          </a:xfrm>
        </p:spPr>
        <p:txBody>
          <a:bodyPr>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34" name="Text Placeholder 30"/>
          <p:cNvSpPr>
            <a:spLocks noGrp="1"/>
          </p:cNvSpPr>
          <p:nvPr>
            <p:ph type="body" sz="quarter" idx="20"/>
          </p:nvPr>
        </p:nvSpPr>
        <p:spPr bwMode="gray">
          <a:xfrm>
            <a:off x="6249867" y="1916113"/>
            <a:ext cx="1263162" cy="4176712"/>
          </a:xfrm>
        </p:spPr>
        <p:txBody>
          <a:bodyPr>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35" name="Text Placeholder 30"/>
          <p:cNvSpPr>
            <a:spLocks noGrp="1"/>
          </p:cNvSpPr>
          <p:nvPr>
            <p:ph type="body" sz="quarter" idx="21"/>
          </p:nvPr>
        </p:nvSpPr>
        <p:spPr bwMode="gray">
          <a:xfrm>
            <a:off x="7628793" y="1916113"/>
            <a:ext cx="1263162" cy="4176712"/>
          </a:xfrm>
        </p:spPr>
        <p:txBody>
          <a:bodyPr>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7" name="Text Placeholder 7"/>
          <p:cNvSpPr>
            <a:spLocks noGrp="1"/>
          </p:cNvSpPr>
          <p:nvPr>
            <p:ph type="body" sz="quarter" idx="12"/>
          </p:nvPr>
        </p:nvSpPr>
        <p:spPr bwMode="gray">
          <a:xfrm>
            <a:off x="252046" y="1195200"/>
            <a:ext cx="1583650" cy="4895850"/>
          </a:xfrm>
        </p:spPr>
        <p:txBody>
          <a:bodyPr vert="horz" lIns="0" tIns="0" rIns="144000" bIns="0" rtlCol="0">
            <a:noAutofit/>
          </a:bodyPr>
          <a:lstStyle>
            <a:lvl1pPr algn="l" defTabSz="914400" rtl="0" eaLnBrk="1" latinLnBrk="0" hangingPunct="1">
              <a:lnSpc>
                <a:spcPct val="135000"/>
              </a:lnSpc>
              <a:spcBef>
                <a:spcPts val="600"/>
              </a:spcBef>
              <a:buFont typeface="Arial" pitchFamily="34" charset="0"/>
              <a:defRPr lang="en-US" sz="900" b="1" kern="1200" noProof="0" dirty="0" smtClean="0">
                <a:solidFill>
                  <a:srgbClr val="00338D"/>
                </a:solidFill>
                <a:latin typeface="Arial" pitchFamily="34" charset="0"/>
                <a:ea typeface="+mn-ea"/>
                <a:cs typeface="Arial" pitchFamily="34" charset="0"/>
              </a:defRPr>
            </a:lvl1pPr>
            <a:lvl2pPr marL="180975" indent="-180975"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2pPr>
            <a:lvl3pPr marL="361950" indent="-177800"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3pPr>
            <a:lvl4pPr marL="539750" indent="-177800"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4pPr>
            <a:lvl5pPr marL="719138" indent="-174625" algn="l" defTabSz="914400" rtl="0" eaLnBrk="1" latinLnBrk="0" hangingPunct="1">
              <a:lnSpc>
                <a:spcPct val="135000"/>
              </a:lnSpc>
              <a:spcBef>
                <a:spcPts val="600"/>
              </a:spcBef>
              <a:buClr>
                <a:srgbClr val="00338D"/>
              </a:buClr>
              <a:buFont typeface="Arial" pitchFamily="34" charset="0"/>
              <a:buChar char="–"/>
              <a:defRPr lang="en-GB" sz="900" b="1" kern="1200" noProof="0" dirty="0" smtClean="0">
                <a:solidFill>
                  <a:srgbClr val="00338D"/>
                </a:solidFill>
                <a:latin typeface="Arial" pitchFamily="34" charset="0"/>
                <a:ea typeface="+mn-ea"/>
                <a:cs typeface="Arial" pitchFamily="34" charset="0"/>
              </a:defRPr>
            </a:lvl5pPr>
            <a:lvl6pPr marL="895350" indent="-177800">
              <a:lnSpc>
                <a:spcPct val="100000"/>
              </a:lnSpc>
              <a:buClr>
                <a:srgbClr val="00338D"/>
              </a:buClr>
              <a:buFont typeface="Arial" pitchFamily="34" charset="0"/>
              <a:buChar char="■"/>
              <a:defRPr lang="en-US" sz="900" b="1" kern="1200" baseline="0" dirty="0" smtClean="0">
                <a:solidFill>
                  <a:srgbClr val="00338D"/>
                </a:solidFill>
                <a:latin typeface="Arial" pitchFamily="34" charset="0"/>
                <a:ea typeface="+mn-ea"/>
                <a:cs typeface="Arial" pitchFamily="34" charset="0"/>
              </a:defRPr>
            </a:lvl6pPr>
            <a:lvl7pPr marL="1079500" indent="-184150">
              <a:lnSpc>
                <a:spcPct val="100000"/>
              </a:lnSpc>
              <a:buClr>
                <a:srgbClr val="00338D"/>
              </a:buClr>
              <a:buFont typeface="Arial" pitchFamily="34" charset="0"/>
              <a:buChar char="–"/>
              <a:defRPr lang="en-US" sz="900" b="1" kern="1200" baseline="0" dirty="0" smtClean="0">
                <a:solidFill>
                  <a:srgbClr val="00338D"/>
                </a:solidFill>
                <a:latin typeface="Arial" pitchFamily="34" charset="0"/>
                <a:ea typeface="+mn-ea"/>
                <a:cs typeface="Arial" pitchFamily="34" charset="0"/>
              </a:defRPr>
            </a:lvl7pPr>
            <a:lvl8pPr marL="1257300" indent="-177800">
              <a:lnSpc>
                <a:spcPct val="100000"/>
              </a:lnSpc>
              <a:buClr>
                <a:srgbClr val="00338D"/>
              </a:buClr>
              <a:buFont typeface="Arial" pitchFamily="34" charset="0"/>
              <a:buChar char="■"/>
              <a:defRPr lang="en-US" sz="900" b="1" kern="1200" dirty="0" smtClean="0">
                <a:solidFill>
                  <a:srgbClr val="00338D"/>
                </a:solidFill>
                <a:latin typeface="Arial" pitchFamily="34" charset="0"/>
                <a:ea typeface="+mn-ea"/>
                <a:cs typeface="+mn-cs"/>
              </a:defRPr>
            </a:lvl8pPr>
            <a:lvl9pPr marL="1401763" indent="-144463">
              <a:lnSpc>
                <a:spcPct val="100000"/>
              </a:lnSpc>
              <a:buClr>
                <a:srgbClr val="00338D"/>
              </a:buClr>
              <a:buFont typeface="Arial" pitchFamily="34" charset="0"/>
              <a:buChar char="–"/>
              <a:defRPr lang="en-US" sz="900" b="1" kern="1200" dirty="0" smtClean="0">
                <a:solidFill>
                  <a:srgbClr val="00338D"/>
                </a:solidFill>
                <a:latin typeface="Arial" pitchFamily="34" charset="0"/>
                <a:ea typeface="+mn-ea"/>
                <a:cs typeface="Arial" pitchFamily="34" charset="0"/>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smtClean="0"/>
          </a:p>
        </p:txBody>
      </p:sp>
      <p:sp>
        <p:nvSpPr>
          <p:cNvPr id="18" name="Text Placeholder 20"/>
          <p:cNvSpPr>
            <a:spLocks noGrp="1"/>
          </p:cNvSpPr>
          <p:nvPr>
            <p:ph type="body" sz="quarter" idx="27"/>
          </p:nvPr>
        </p:nvSpPr>
        <p:spPr bwMode="gray">
          <a:xfrm>
            <a:off x="3492012" y="1196975"/>
            <a:ext cx="1262795" cy="576411"/>
          </a:xfrm>
          <a:prstGeom prst="chevron">
            <a:avLst>
              <a:gd name="adj" fmla="val 34136"/>
            </a:avLst>
          </a:prstGeom>
          <a:gradFill>
            <a:gsLst>
              <a:gs pos="0">
                <a:srgbClr val="80BEC9"/>
              </a:gs>
              <a:gs pos="100000">
                <a:srgbClr val="409DA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1">
            <a:noAutofit/>
          </a:bodyPr>
          <a:lstStyle>
            <a:lvl1pPr marL="0" algn="ctr" defTabSz="914400" rtl="0" eaLnBrk="1" latinLnBrk="0" hangingPunct="1">
              <a:defRPr lang="en-US" sz="900" b="1" kern="1200" dirty="0" smtClean="0">
                <a:solidFill>
                  <a:schemeClr val="bg1"/>
                </a:solidFill>
                <a:latin typeface="+mn-lt"/>
                <a:ea typeface="+mn-ea"/>
                <a:cs typeface="+mn-cs"/>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smtClean="0"/>
              <a:t>Click to edit Master text styles</a:t>
            </a:r>
          </a:p>
        </p:txBody>
      </p:sp>
      <p:sp>
        <p:nvSpPr>
          <p:cNvPr id="20" name="Text Placeholder 20"/>
          <p:cNvSpPr>
            <a:spLocks noGrp="1"/>
          </p:cNvSpPr>
          <p:nvPr>
            <p:ph type="body" sz="quarter" idx="26"/>
          </p:nvPr>
        </p:nvSpPr>
        <p:spPr bwMode="gray">
          <a:xfrm>
            <a:off x="2124075" y="1196975"/>
            <a:ext cx="1262795" cy="576411"/>
          </a:xfrm>
          <a:prstGeom prst="homePlate">
            <a:avLst>
              <a:gd name="adj" fmla="val 34577"/>
            </a:avLst>
          </a:prstGeom>
          <a:gradFill>
            <a:gsLst>
              <a:gs pos="0">
                <a:srgbClr val="80BEC9"/>
              </a:gs>
              <a:gs pos="100000">
                <a:srgbClr val="409DA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1">
            <a:noAutofit/>
          </a:bodyPr>
          <a:lstStyle>
            <a:lvl1pPr marL="0" algn="ctr" defTabSz="914400" rtl="0" eaLnBrk="1" latinLnBrk="0" hangingPunct="1">
              <a:defRPr lang="en-US" sz="900" b="1" kern="1200" dirty="0" smtClean="0">
                <a:solidFill>
                  <a:schemeClr val="bg1"/>
                </a:solidFill>
                <a:latin typeface="+mn-lt"/>
                <a:ea typeface="+mn-ea"/>
                <a:cs typeface="+mn-cs"/>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smtClean="0"/>
              <a:t>Click to edit Master text styles</a:t>
            </a:r>
          </a:p>
        </p:txBody>
      </p:sp>
      <p:sp>
        <p:nvSpPr>
          <p:cNvPr id="21" name="Text Placeholder 20"/>
          <p:cNvSpPr>
            <a:spLocks noGrp="1"/>
          </p:cNvSpPr>
          <p:nvPr>
            <p:ph type="body" sz="quarter" idx="28"/>
          </p:nvPr>
        </p:nvSpPr>
        <p:spPr bwMode="gray">
          <a:xfrm>
            <a:off x="4870940" y="1196975"/>
            <a:ext cx="1262795" cy="576411"/>
          </a:xfrm>
          <a:prstGeom prst="chevron">
            <a:avLst>
              <a:gd name="adj" fmla="val 34136"/>
            </a:avLst>
          </a:prstGeom>
          <a:gradFill>
            <a:gsLst>
              <a:gs pos="0">
                <a:srgbClr val="80BEC9"/>
              </a:gs>
              <a:gs pos="100000">
                <a:srgbClr val="409DA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1">
            <a:noAutofit/>
          </a:bodyPr>
          <a:lstStyle>
            <a:lvl1pPr marL="0" algn="ctr" defTabSz="914400" rtl="0" eaLnBrk="1" latinLnBrk="0" hangingPunct="1">
              <a:defRPr lang="en-US" sz="900" b="1" kern="1200" dirty="0" smtClean="0">
                <a:solidFill>
                  <a:schemeClr val="bg1"/>
                </a:solidFill>
                <a:latin typeface="+mn-lt"/>
                <a:ea typeface="+mn-ea"/>
                <a:cs typeface="+mn-cs"/>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smtClean="0"/>
              <a:t>Click to edit Master text styles</a:t>
            </a:r>
          </a:p>
        </p:txBody>
      </p:sp>
      <p:sp>
        <p:nvSpPr>
          <p:cNvPr id="24" name="Text Placeholder 20"/>
          <p:cNvSpPr>
            <a:spLocks noGrp="1"/>
          </p:cNvSpPr>
          <p:nvPr>
            <p:ph type="body" sz="quarter" idx="29"/>
          </p:nvPr>
        </p:nvSpPr>
        <p:spPr bwMode="gray">
          <a:xfrm>
            <a:off x="6249867" y="1196975"/>
            <a:ext cx="1262795" cy="576411"/>
          </a:xfrm>
          <a:prstGeom prst="chevron">
            <a:avLst>
              <a:gd name="adj" fmla="val 34136"/>
            </a:avLst>
          </a:prstGeom>
          <a:gradFill>
            <a:gsLst>
              <a:gs pos="0">
                <a:srgbClr val="80BEC9"/>
              </a:gs>
              <a:gs pos="100000">
                <a:srgbClr val="409DA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1">
            <a:noAutofit/>
          </a:bodyPr>
          <a:lstStyle>
            <a:lvl1pPr marL="0" algn="ctr" defTabSz="914400" rtl="0" eaLnBrk="1" latinLnBrk="0" hangingPunct="1">
              <a:defRPr lang="en-US" sz="900" b="1" kern="1200" dirty="0" smtClean="0">
                <a:solidFill>
                  <a:schemeClr val="bg1"/>
                </a:solidFill>
                <a:latin typeface="+mn-lt"/>
                <a:ea typeface="+mn-ea"/>
                <a:cs typeface="+mn-cs"/>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smtClean="0"/>
              <a:t>Click to edit Master text styles</a:t>
            </a:r>
          </a:p>
        </p:txBody>
      </p:sp>
      <p:sp>
        <p:nvSpPr>
          <p:cNvPr id="25" name="Text Placeholder 20"/>
          <p:cNvSpPr>
            <a:spLocks noGrp="1"/>
          </p:cNvSpPr>
          <p:nvPr>
            <p:ph type="body" sz="quarter" idx="30"/>
          </p:nvPr>
        </p:nvSpPr>
        <p:spPr bwMode="gray">
          <a:xfrm>
            <a:off x="7628793" y="1196975"/>
            <a:ext cx="1262795" cy="576411"/>
          </a:xfrm>
          <a:prstGeom prst="chevron">
            <a:avLst>
              <a:gd name="adj" fmla="val 34136"/>
            </a:avLst>
          </a:prstGeom>
          <a:gradFill>
            <a:gsLst>
              <a:gs pos="0">
                <a:srgbClr val="80BEC9"/>
              </a:gs>
              <a:gs pos="100000">
                <a:srgbClr val="409DA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1">
            <a:noAutofit/>
          </a:bodyPr>
          <a:lstStyle>
            <a:lvl1pPr marL="0" algn="ctr" defTabSz="914400" rtl="0" eaLnBrk="1" latinLnBrk="0" hangingPunct="1">
              <a:defRPr lang="en-US" sz="900" b="1" kern="1200" dirty="0" smtClean="0">
                <a:solidFill>
                  <a:schemeClr val="bg1"/>
                </a:solidFill>
                <a:latin typeface="+mn-lt"/>
                <a:ea typeface="+mn-ea"/>
                <a:cs typeface="+mn-cs"/>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smtClean="0"/>
              <a:t>Click to edit Master text styles</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emands and drivers">
    <p:spTree>
      <p:nvGrpSpPr>
        <p:cNvPr id="1" name=""/>
        <p:cNvGrpSpPr/>
        <p:nvPr/>
      </p:nvGrpSpPr>
      <p:grpSpPr>
        <a:xfrm>
          <a:off x="0" y="0"/>
          <a:ext cx="0" cy="0"/>
          <a:chOff x="0" y="0"/>
          <a:chExt cx="0" cy="0"/>
        </a:xfrm>
      </p:grpSpPr>
      <p:sp>
        <p:nvSpPr>
          <p:cNvPr id="52" name="AutoShape 20"/>
          <p:cNvSpPr>
            <a:spLocks noChangeArrowheads="1"/>
          </p:cNvSpPr>
          <p:nvPr userDrawn="1"/>
        </p:nvSpPr>
        <p:spPr bwMode="gray">
          <a:xfrm rot="19080000" flipH="1">
            <a:off x="5686706" y="2425700"/>
            <a:ext cx="1497623" cy="381000"/>
          </a:xfrm>
          <a:prstGeom prst="rightArrow">
            <a:avLst>
              <a:gd name="adj1" fmla="val 63333"/>
              <a:gd name="adj2" fmla="val 49582"/>
            </a:avLst>
          </a:prstGeom>
          <a:gradFill rotWithShape="1">
            <a:gsLst>
              <a:gs pos="0">
                <a:srgbClr val="DCDDDD"/>
              </a:gs>
              <a:gs pos="100000">
                <a:srgbClr val="97989A"/>
              </a:gs>
            </a:gsLst>
            <a:lin ang="0" scaled="1"/>
          </a:gradFill>
          <a:ln w="6350" algn="ctr">
            <a:noFill/>
            <a:miter lim="800000"/>
            <a:headEnd/>
            <a:tailEnd/>
          </a:ln>
          <a:effectLst/>
        </p:spPr>
        <p:txBody>
          <a:bodyPr rot="10800000" wrap="none" anchor="ctr">
            <a:noAutofit/>
          </a:bodyPr>
          <a:lstStyle/>
          <a:p>
            <a:endParaRPr lang="en-CA" dirty="0"/>
          </a:p>
        </p:txBody>
      </p:sp>
      <p:sp>
        <p:nvSpPr>
          <p:cNvPr id="53" name="AutoShape 17"/>
          <p:cNvSpPr>
            <a:spLocks noChangeArrowheads="1"/>
          </p:cNvSpPr>
          <p:nvPr userDrawn="1"/>
        </p:nvSpPr>
        <p:spPr bwMode="gray">
          <a:xfrm rot="2520000" flipH="1">
            <a:off x="5686706" y="4433888"/>
            <a:ext cx="1497623" cy="381000"/>
          </a:xfrm>
          <a:prstGeom prst="rightArrow">
            <a:avLst>
              <a:gd name="adj1" fmla="val 63333"/>
              <a:gd name="adj2" fmla="val 49582"/>
            </a:avLst>
          </a:prstGeom>
          <a:gradFill rotWithShape="1">
            <a:gsLst>
              <a:gs pos="0">
                <a:srgbClr val="DCDDDD"/>
              </a:gs>
              <a:gs pos="100000">
                <a:srgbClr val="97989A"/>
              </a:gs>
            </a:gsLst>
            <a:lin ang="0" scaled="1"/>
          </a:gradFill>
          <a:ln w="6350" algn="ctr">
            <a:noFill/>
            <a:miter lim="800000"/>
            <a:headEnd/>
            <a:tailEnd/>
          </a:ln>
          <a:effectLst/>
        </p:spPr>
        <p:txBody>
          <a:bodyPr rot="10800000" wrap="none" anchor="ctr">
            <a:noAutofit/>
          </a:bodyPr>
          <a:lstStyle/>
          <a:p>
            <a:pPr marL="0" algn="l" defTabSz="914400" rtl="0" eaLnBrk="1" latinLnBrk="0" hangingPunct="1"/>
            <a:endParaRPr lang="en-CA" sz="1800" kern="1200" dirty="0">
              <a:solidFill>
                <a:schemeClr val="tx1"/>
              </a:solidFill>
              <a:latin typeface="+mn-lt"/>
              <a:ea typeface="+mn-ea"/>
              <a:cs typeface="+mn-cs"/>
            </a:endParaRPr>
          </a:p>
        </p:txBody>
      </p:sp>
      <p:sp>
        <p:nvSpPr>
          <p:cNvPr id="47" name="Freeform 29"/>
          <p:cNvSpPr>
            <a:spLocks/>
          </p:cNvSpPr>
          <p:nvPr userDrawn="1"/>
        </p:nvSpPr>
        <p:spPr bwMode="gray">
          <a:xfrm>
            <a:off x="0" y="908720"/>
            <a:ext cx="1835695" cy="5474865"/>
          </a:xfrm>
          <a:custGeom>
            <a:avLst/>
            <a:gdLst>
              <a:gd name="T0" fmla="*/ 0 w 1260"/>
              <a:gd name="T1" fmla="*/ 0 h 3748"/>
              <a:gd name="T2" fmla="*/ 0 w 1260"/>
              <a:gd name="T3" fmla="*/ 3748 h 3748"/>
              <a:gd name="T4" fmla="*/ 1260 w 1260"/>
              <a:gd name="T5" fmla="*/ 3748 h 3748"/>
              <a:gd name="T6" fmla="*/ 1260 w 1260"/>
              <a:gd name="T7" fmla="*/ 0 h 3748"/>
              <a:gd name="T8" fmla="*/ 0 w 1260"/>
              <a:gd name="T9" fmla="*/ 0 h 3748"/>
              <a:gd name="T10" fmla="*/ 0 w 1260"/>
              <a:gd name="T11" fmla="*/ 0 h 3748"/>
              <a:gd name="T12" fmla="*/ 0 60000 65536"/>
              <a:gd name="T13" fmla="*/ 0 60000 65536"/>
              <a:gd name="T14" fmla="*/ 0 60000 65536"/>
              <a:gd name="T15" fmla="*/ 0 60000 65536"/>
              <a:gd name="T16" fmla="*/ 0 60000 65536"/>
              <a:gd name="T17" fmla="*/ 0 60000 65536"/>
              <a:gd name="T18" fmla="*/ 0 w 1260"/>
              <a:gd name="T19" fmla="*/ 0 h 3748"/>
              <a:gd name="T20" fmla="*/ 1260 w 1260"/>
              <a:gd name="T21" fmla="*/ 3748 h 3748"/>
            </a:gdLst>
            <a:ahLst/>
            <a:cxnLst>
              <a:cxn ang="T12">
                <a:pos x="T0" y="T1"/>
              </a:cxn>
              <a:cxn ang="T13">
                <a:pos x="T2" y="T3"/>
              </a:cxn>
              <a:cxn ang="T14">
                <a:pos x="T4" y="T5"/>
              </a:cxn>
              <a:cxn ang="T15">
                <a:pos x="T6" y="T7"/>
              </a:cxn>
              <a:cxn ang="T16">
                <a:pos x="T8" y="T9"/>
              </a:cxn>
              <a:cxn ang="T17">
                <a:pos x="T10" y="T11"/>
              </a:cxn>
            </a:cxnLst>
            <a:rect l="T18" t="T19" r="T20" b="T21"/>
            <a:pathLst>
              <a:path w="1260" h="3748">
                <a:moveTo>
                  <a:pt x="0" y="0"/>
                </a:moveTo>
                <a:lnTo>
                  <a:pt x="0" y="3748"/>
                </a:lnTo>
                <a:lnTo>
                  <a:pt x="1260" y="3748"/>
                </a:lnTo>
                <a:lnTo>
                  <a:pt x="1260" y="0"/>
                </a:lnTo>
                <a:lnTo>
                  <a:pt x="0" y="0"/>
                </a:lnTo>
                <a:close/>
              </a:path>
            </a:pathLst>
          </a:custGeom>
          <a:solidFill>
            <a:srgbClr val="DCDDDD"/>
          </a:solidFill>
          <a:ln w="9525" cap="flat" cmpd="sng">
            <a:noFill/>
            <a:prstDash val="solid"/>
            <a:round/>
            <a:headEnd type="none" w="med" len="med"/>
            <a:tailEnd type="none" w="med" len="med"/>
          </a:ln>
        </p:spPr>
        <p:txBody>
          <a:bodyPr>
            <a:noAutofit/>
          </a:bodyPr>
          <a:lstStyle/>
          <a:p>
            <a:pPr marL="0" algn="l" defTabSz="914400" rtl="0" eaLnBrk="1" latinLnBrk="0" hangingPunct="1"/>
            <a:endParaRPr lang="en-GB" sz="1800" kern="1200" dirty="0">
              <a:solidFill>
                <a:schemeClr val="tx1"/>
              </a:solidFill>
              <a:latin typeface="+mn-lt"/>
              <a:ea typeface="+mn-ea"/>
              <a:cs typeface="+mn-cs"/>
            </a:endParaRPr>
          </a:p>
        </p:txBody>
      </p:sp>
      <p:sp>
        <p:nvSpPr>
          <p:cNvPr id="48" name="Line 33"/>
          <p:cNvSpPr>
            <a:spLocks noChangeShapeType="1"/>
          </p:cNvSpPr>
          <p:nvPr userDrawn="1"/>
        </p:nvSpPr>
        <p:spPr bwMode="gray">
          <a:xfrm>
            <a:off x="0" y="6381328"/>
            <a:ext cx="9136674" cy="0"/>
          </a:xfrm>
          <a:prstGeom prst="line">
            <a:avLst/>
          </a:prstGeom>
          <a:noFill/>
          <a:ln w="6350">
            <a:solidFill>
              <a:srgbClr val="97989A"/>
            </a:solidFill>
            <a:miter lim="800000"/>
            <a:headEnd/>
            <a:tailEnd/>
          </a:ln>
        </p:spPr>
        <p:txBody>
          <a:bodyPr>
            <a:noAutofit/>
          </a:bodyPr>
          <a:lstStyle/>
          <a:p>
            <a:endParaRPr lang="en-GB" dirty="0"/>
          </a:p>
        </p:txBody>
      </p:sp>
      <p:sp>
        <p:nvSpPr>
          <p:cNvPr id="49" name="Line 31"/>
          <p:cNvSpPr>
            <a:spLocks noChangeShapeType="1"/>
          </p:cNvSpPr>
          <p:nvPr userDrawn="1"/>
        </p:nvSpPr>
        <p:spPr bwMode="gray">
          <a:xfrm>
            <a:off x="0" y="908720"/>
            <a:ext cx="9136674" cy="0"/>
          </a:xfrm>
          <a:prstGeom prst="line">
            <a:avLst/>
          </a:prstGeom>
          <a:noFill/>
          <a:ln w="6350">
            <a:solidFill>
              <a:srgbClr val="97989A"/>
            </a:solidFill>
            <a:miter lim="800000"/>
            <a:headEnd/>
            <a:tailEnd/>
          </a:ln>
        </p:spPr>
        <p:txBody>
          <a:bodyPr>
            <a:noAutofit/>
          </a:bodyPr>
          <a:lstStyle/>
          <a:p>
            <a:endParaRPr lang="en-GB" dirty="0"/>
          </a:p>
        </p:txBody>
      </p:sp>
      <p:sp>
        <p:nvSpPr>
          <p:cNvPr id="10" name="Title 9"/>
          <p:cNvSpPr>
            <a:spLocks noGrp="1"/>
          </p:cNvSpPr>
          <p:nvPr>
            <p:ph type="title"/>
          </p:nvPr>
        </p:nvSpPr>
        <p:spPr bwMode="gray"/>
        <p:txBody>
          <a:bodyPr>
            <a:noAutofit/>
          </a:bodyPr>
          <a:lstStyle/>
          <a:p>
            <a:r>
              <a:rPr lang="en-US" smtClean="0"/>
              <a:t>Click to edit Master title style</a:t>
            </a:r>
            <a:endParaRPr lang="en-GB"/>
          </a:p>
        </p:txBody>
      </p:sp>
      <p:sp>
        <p:nvSpPr>
          <p:cNvPr id="22" name="AutoShape 20"/>
          <p:cNvSpPr>
            <a:spLocks noChangeArrowheads="1"/>
          </p:cNvSpPr>
          <p:nvPr userDrawn="1"/>
        </p:nvSpPr>
        <p:spPr bwMode="gray">
          <a:xfrm rot="2520000">
            <a:off x="3832640" y="2425700"/>
            <a:ext cx="1497623" cy="381000"/>
          </a:xfrm>
          <a:prstGeom prst="rightArrow">
            <a:avLst>
              <a:gd name="adj1" fmla="val 63333"/>
              <a:gd name="adj2" fmla="val 49582"/>
            </a:avLst>
          </a:prstGeom>
          <a:gradFill rotWithShape="1">
            <a:gsLst>
              <a:gs pos="0">
                <a:srgbClr val="DCDDDD"/>
              </a:gs>
              <a:gs pos="100000">
                <a:srgbClr val="97989A"/>
              </a:gs>
            </a:gsLst>
            <a:lin ang="0" scaled="1"/>
          </a:gradFill>
          <a:ln w="6350" algn="ctr">
            <a:noFill/>
            <a:miter lim="800000"/>
            <a:headEnd/>
            <a:tailEnd/>
          </a:ln>
          <a:effectLst/>
        </p:spPr>
        <p:txBody>
          <a:bodyPr rot="10800000" wrap="none" anchor="ctr">
            <a:noAutofit/>
          </a:bodyPr>
          <a:lstStyle/>
          <a:p>
            <a:endParaRPr lang="en-CA" dirty="0"/>
          </a:p>
        </p:txBody>
      </p:sp>
      <p:sp>
        <p:nvSpPr>
          <p:cNvPr id="23" name="AutoShape 17"/>
          <p:cNvSpPr>
            <a:spLocks noChangeArrowheads="1"/>
          </p:cNvSpPr>
          <p:nvPr userDrawn="1"/>
        </p:nvSpPr>
        <p:spPr bwMode="gray">
          <a:xfrm rot="19080000">
            <a:off x="3832640" y="4433888"/>
            <a:ext cx="1497623" cy="381000"/>
          </a:xfrm>
          <a:prstGeom prst="rightArrow">
            <a:avLst>
              <a:gd name="adj1" fmla="val 63333"/>
              <a:gd name="adj2" fmla="val 49582"/>
            </a:avLst>
          </a:prstGeom>
          <a:gradFill rotWithShape="1">
            <a:gsLst>
              <a:gs pos="0">
                <a:srgbClr val="DCDDDD"/>
              </a:gs>
              <a:gs pos="100000">
                <a:srgbClr val="97989A"/>
              </a:gs>
            </a:gsLst>
            <a:lin ang="0" scaled="1"/>
          </a:gradFill>
          <a:ln w="6350" algn="ctr">
            <a:noFill/>
            <a:miter lim="800000"/>
            <a:headEnd/>
            <a:tailEnd/>
          </a:ln>
          <a:effectLst/>
        </p:spPr>
        <p:txBody>
          <a:bodyPr rot="10800000" wrap="none" anchor="ctr">
            <a:noAutofit/>
          </a:bodyPr>
          <a:lstStyle/>
          <a:p>
            <a:pPr marL="0" algn="l" defTabSz="914400" rtl="0" eaLnBrk="1" latinLnBrk="0" hangingPunct="1"/>
            <a:endParaRPr lang="en-CA" sz="1800" kern="1200" dirty="0">
              <a:solidFill>
                <a:schemeClr val="tx1"/>
              </a:solidFill>
              <a:latin typeface="+mn-lt"/>
              <a:ea typeface="+mn-ea"/>
              <a:cs typeface="+mn-cs"/>
            </a:endParaRPr>
          </a:p>
        </p:txBody>
      </p:sp>
      <p:sp>
        <p:nvSpPr>
          <p:cNvPr id="25" name="Text Placeholder 10"/>
          <p:cNvSpPr>
            <a:spLocks noGrp="1"/>
          </p:cNvSpPr>
          <p:nvPr userDrawn="1">
            <p:ph type="body" sz="quarter" idx="21"/>
          </p:nvPr>
        </p:nvSpPr>
        <p:spPr bwMode="gray">
          <a:xfrm>
            <a:off x="4950392" y="3324225"/>
            <a:ext cx="1093292" cy="622800"/>
          </a:xfrm>
          <a:prstGeom prst="ellipse">
            <a:avLst/>
          </a:prstGeom>
          <a:solidFill>
            <a:srgbClr val="AA5CAA"/>
          </a:solidFill>
          <a:ln>
            <a:noFill/>
          </a:ln>
        </p:spPr>
        <p:txBody>
          <a:bodyPr lIns="54000" tIns="54000" rIns="54000" bIns="54000" anchor="ctr" anchorCtr="1">
            <a:noAutofit/>
          </a:bodyPr>
          <a:lstStyle>
            <a:lvl1pPr algn="ctr">
              <a:defRPr>
                <a:solidFill>
                  <a:schemeClr val="bg1"/>
                </a:solidFill>
              </a:defRPr>
            </a:lvl1pPr>
          </a:lstStyle>
          <a:p>
            <a:pPr lvl="0"/>
            <a:r>
              <a:rPr lang="en-US" smtClean="0"/>
              <a:t>Click to edit Master text styles</a:t>
            </a:r>
          </a:p>
        </p:txBody>
      </p:sp>
      <p:sp>
        <p:nvSpPr>
          <p:cNvPr id="29" name="Text Placeholder 20"/>
          <p:cNvSpPr>
            <a:spLocks noGrp="1"/>
          </p:cNvSpPr>
          <p:nvPr>
            <p:ph type="body" sz="quarter" idx="22"/>
          </p:nvPr>
        </p:nvSpPr>
        <p:spPr bwMode="gray">
          <a:xfrm>
            <a:off x="2113085" y="1628775"/>
            <a:ext cx="2525384" cy="1944688"/>
          </a:xfrm>
          <a:solidFill>
            <a:schemeClr val="bg1"/>
          </a:solidFill>
          <a:ln w="6350">
            <a:solidFill>
              <a:srgbClr val="409DAD"/>
            </a:solidFill>
          </a:ln>
        </p:spPr>
        <p:txBody>
          <a:bodyPr lIns="54000" tIns="54000" rIns="54000" bIns="54000">
            <a:noAutofit/>
          </a:bodyPr>
          <a:lstStyle>
            <a:lvl5pPr>
              <a:defRPr/>
            </a:lvl5pPr>
            <a:lvl6pPr>
              <a:defRPr baseline="0"/>
            </a:lvl6pPr>
            <a:lvl7pPr>
              <a:defRPr baseline="0"/>
            </a:lvl7pPr>
            <a:lvl8pPr>
              <a:defRPr baseline="0"/>
            </a:lvl8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30" name="Text Placeholder 20"/>
          <p:cNvSpPr>
            <a:spLocks noGrp="1"/>
          </p:cNvSpPr>
          <p:nvPr>
            <p:ph type="body" sz="quarter" idx="23"/>
          </p:nvPr>
        </p:nvSpPr>
        <p:spPr bwMode="gray">
          <a:xfrm>
            <a:off x="2113085" y="4148137"/>
            <a:ext cx="2525384" cy="1944688"/>
          </a:xfrm>
          <a:solidFill>
            <a:schemeClr val="bg1"/>
          </a:solidFill>
          <a:ln w="6350">
            <a:solidFill>
              <a:srgbClr val="409DAD"/>
            </a:solidFill>
          </a:ln>
        </p:spPr>
        <p:txBody>
          <a:bodyPr lIns="54000" tIns="54000" rIns="54000" bIns="54000">
            <a:noAutofit/>
          </a:bodyPr>
          <a:lstStyle>
            <a:lvl5pPr>
              <a:defRPr/>
            </a:lvl5pPr>
            <a:lvl6pPr>
              <a:defRPr baseline="0"/>
            </a:lvl6pPr>
            <a:lvl7pPr>
              <a:defRPr baseline="0"/>
            </a:lvl7pPr>
            <a:lvl8pPr>
              <a:defRPr baseline="0"/>
            </a:lvl8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31" name="Text Placeholder 20"/>
          <p:cNvSpPr>
            <a:spLocks noGrp="1"/>
          </p:cNvSpPr>
          <p:nvPr>
            <p:ph type="body" sz="quarter" idx="24"/>
          </p:nvPr>
        </p:nvSpPr>
        <p:spPr bwMode="gray">
          <a:xfrm>
            <a:off x="6366570" y="1628775"/>
            <a:ext cx="2525384" cy="1944688"/>
          </a:xfrm>
          <a:solidFill>
            <a:schemeClr val="bg1"/>
          </a:solidFill>
          <a:ln w="6350">
            <a:solidFill>
              <a:srgbClr val="409DAD"/>
            </a:solidFill>
          </a:ln>
        </p:spPr>
        <p:txBody>
          <a:bodyPr lIns="54000" tIns="54000" rIns="54000" bIns="54000">
            <a:noAutofit/>
          </a:bodyPr>
          <a:lstStyle>
            <a:lvl5pPr>
              <a:defRPr/>
            </a:lvl5pPr>
            <a:lvl6pPr>
              <a:defRPr baseline="0"/>
            </a:lvl6pPr>
            <a:lvl7pPr>
              <a:defRPr baseline="0"/>
            </a:lvl7pPr>
            <a:lvl8pPr>
              <a:defRPr baseline="0"/>
            </a:lvl8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32" name="Text Placeholder 20"/>
          <p:cNvSpPr>
            <a:spLocks noGrp="1"/>
          </p:cNvSpPr>
          <p:nvPr>
            <p:ph type="body" sz="quarter" idx="25"/>
          </p:nvPr>
        </p:nvSpPr>
        <p:spPr bwMode="gray">
          <a:xfrm>
            <a:off x="6366570" y="4148137"/>
            <a:ext cx="2525384" cy="1944688"/>
          </a:xfrm>
          <a:solidFill>
            <a:schemeClr val="bg1"/>
          </a:solidFill>
          <a:ln w="6350">
            <a:solidFill>
              <a:srgbClr val="409DAD"/>
            </a:solidFill>
          </a:ln>
        </p:spPr>
        <p:txBody>
          <a:bodyPr lIns="54000" tIns="54000" rIns="54000" bIns="54000">
            <a:noAutofit/>
          </a:bodyPr>
          <a:lstStyle>
            <a:lvl5pPr>
              <a:defRPr/>
            </a:lvl5pPr>
            <a:lvl6pPr>
              <a:defRPr baseline="0"/>
            </a:lvl6pPr>
            <a:lvl7pPr>
              <a:defRPr baseline="0"/>
            </a:lvl7pPr>
            <a:lvl8pPr>
              <a:defRPr baseline="0"/>
            </a:lvl8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35" name="Text Placeholder 20"/>
          <p:cNvSpPr>
            <a:spLocks noGrp="1"/>
          </p:cNvSpPr>
          <p:nvPr>
            <p:ph type="body" sz="quarter" idx="26"/>
          </p:nvPr>
        </p:nvSpPr>
        <p:spPr bwMode="gray">
          <a:xfrm>
            <a:off x="2113085" y="1196976"/>
            <a:ext cx="2525384" cy="359817"/>
          </a:xfrm>
          <a:solidFill>
            <a:srgbClr val="409DAD"/>
          </a:solidFill>
          <a:ln w="6350">
            <a:solidFill>
              <a:srgbClr val="409DAD"/>
            </a:solidFill>
          </a:ln>
        </p:spPr>
        <p:txBody>
          <a:bodyPr vert="horz" lIns="0" tIns="0" rIns="0" bIns="0" rtlCol="0" anchor="ctr" anchorCtr="1">
            <a:noAutofit/>
          </a:bodyPr>
          <a:lstStyle>
            <a:lvl1pPr>
              <a:defRPr lang="en-US" sz="900" b="1" kern="1200" noProof="0" dirty="0" smtClean="0">
                <a:solidFill>
                  <a:schemeClr val="bg1"/>
                </a:solidFill>
                <a:latin typeface="Arial" pitchFamily="34" charset="0"/>
                <a:ea typeface="+mn-ea"/>
                <a:cs typeface="Arial"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smtClean="0"/>
              <a:t>Click to edit Master text styles</a:t>
            </a:r>
          </a:p>
        </p:txBody>
      </p:sp>
      <p:sp>
        <p:nvSpPr>
          <p:cNvPr id="36" name="Text Placeholder 20"/>
          <p:cNvSpPr>
            <a:spLocks noGrp="1"/>
          </p:cNvSpPr>
          <p:nvPr>
            <p:ph type="body" sz="quarter" idx="27"/>
          </p:nvPr>
        </p:nvSpPr>
        <p:spPr bwMode="gray">
          <a:xfrm>
            <a:off x="6366570" y="1196976"/>
            <a:ext cx="2525384" cy="359817"/>
          </a:xfrm>
          <a:solidFill>
            <a:srgbClr val="409DAD"/>
          </a:solidFill>
          <a:ln w="6350">
            <a:solidFill>
              <a:srgbClr val="409DAD"/>
            </a:solidFill>
          </a:ln>
        </p:spPr>
        <p:txBody>
          <a:bodyPr vert="horz" lIns="0" tIns="0" rIns="0" bIns="0" rtlCol="0" anchor="ctr" anchorCtr="1">
            <a:noAutofit/>
          </a:bodyPr>
          <a:lstStyle>
            <a:lvl1pPr>
              <a:defRPr lang="en-US" sz="900" b="1" kern="1200" noProof="0" dirty="0" smtClean="0">
                <a:solidFill>
                  <a:schemeClr val="bg1"/>
                </a:solidFill>
                <a:latin typeface="Arial" pitchFamily="34" charset="0"/>
                <a:ea typeface="+mn-ea"/>
                <a:cs typeface="Arial"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smtClean="0"/>
              <a:t>Click to edit Master text styles</a:t>
            </a:r>
          </a:p>
        </p:txBody>
      </p:sp>
      <p:sp>
        <p:nvSpPr>
          <p:cNvPr id="37" name="Text Placeholder 20"/>
          <p:cNvSpPr>
            <a:spLocks noGrp="1"/>
          </p:cNvSpPr>
          <p:nvPr>
            <p:ph type="body" sz="quarter" idx="28"/>
          </p:nvPr>
        </p:nvSpPr>
        <p:spPr bwMode="gray">
          <a:xfrm>
            <a:off x="2113085" y="3716339"/>
            <a:ext cx="2525384" cy="359817"/>
          </a:xfrm>
          <a:solidFill>
            <a:srgbClr val="409DAD"/>
          </a:solidFill>
          <a:ln w="6350">
            <a:solidFill>
              <a:srgbClr val="409DAD"/>
            </a:solidFill>
          </a:ln>
        </p:spPr>
        <p:txBody>
          <a:bodyPr vert="horz" lIns="0" tIns="0" rIns="0" bIns="0" rtlCol="0" anchor="ctr" anchorCtr="1">
            <a:noAutofit/>
          </a:bodyPr>
          <a:lstStyle>
            <a:lvl1pPr>
              <a:defRPr lang="en-US" sz="900" b="1" kern="1200" noProof="0" dirty="0" smtClean="0">
                <a:solidFill>
                  <a:schemeClr val="bg1"/>
                </a:solidFill>
                <a:latin typeface="Arial" pitchFamily="34" charset="0"/>
                <a:ea typeface="+mn-ea"/>
                <a:cs typeface="Arial"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smtClean="0"/>
              <a:t>Click to edit Master text styles</a:t>
            </a:r>
          </a:p>
        </p:txBody>
      </p:sp>
      <p:sp>
        <p:nvSpPr>
          <p:cNvPr id="38" name="Text Placeholder 20"/>
          <p:cNvSpPr>
            <a:spLocks noGrp="1"/>
          </p:cNvSpPr>
          <p:nvPr>
            <p:ph type="body" sz="quarter" idx="29"/>
          </p:nvPr>
        </p:nvSpPr>
        <p:spPr bwMode="gray">
          <a:xfrm>
            <a:off x="6366570" y="3716339"/>
            <a:ext cx="2525384" cy="359817"/>
          </a:xfrm>
          <a:solidFill>
            <a:srgbClr val="409DAD"/>
          </a:solidFill>
          <a:ln w="6350">
            <a:solidFill>
              <a:srgbClr val="409DAD"/>
            </a:solidFill>
          </a:ln>
        </p:spPr>
        <p:txBody>
          <a:bodyPr vert="horz" lIns="0" tIns="0" rIns="0" bIns="0" rtlCol="0" anchor="ctr" anchorCtr="1">
            <a:noAutofit/>
          </a:bodyPr>
          <a:lstStyle>
            <a:lvl1pPr>
              <a:defRPr lang="en-US" sz="900" b="1" kern="1200" noProof="0" dirty="0" smtClean="0">
                <a:solidFill>
                  <a:schemeClr val="bg1"/>
                </a:solidFill>
                <a:latin typeface="Arial" pitchFamily="34" charset="0"/>
                <a:ea typeface="+mn-ea"/>
                <a:cs typeface="Arial"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smtClean="0"/>
              <a:t>Click to edit Master text styles</a:t>
            </a:r>
          </a:p>
        </p:txBody>
      </p:sp>
      <p:sp>
        <p:nvSpPr>
          <p:cNvPr id="19" name="Text Placeholder 7"/>
          <p:cNvSpPr>
            <a:spLocks noGrp="1"/>
          </p:cNvSpPr>
          <p:nvPr>
            <p:ph type="body" sz="quarter" idx="12"/>
          </p:nvPr>
        </p:nvSpPr>
        <p:spPr bwMode="gray">
          <a:xfrm>
            <a:off x="252046" y="1195200"/>
            <a:ext cx="1583650" cy="4895850"/>
          </a:xfrm>
        </p:spPr>
        <p:txBody>
          <a:bodyPr vert="horz" lIns="0" tIns="0" rIns="144000" bIns="0" rtlCol="0">
            <a:noAutofit/>
          </a:bodyPr>
          <a:lstStyle>
            <a:lvl1pPr algn="l" defTabSz="914400" rtl="0" eaLnBrk="1" latinLnBrk="0" hangingPunct="1">
              <a:lnSpc>
                <a:spcPct val="135000"/>
              </a:lnSpc>
              <a:spcBef>
                <a:spcPts val="600"/>
              </a:spcBef>
              <a:buFont typeface="Arial" pitchFamily="34" charset="0"/>
              <a:defRPr lang="en-US" sz="900" b="1" kern="1200" noProof="0" dirty="0" smtClean="0">
                <a:solidFill>
                  <a:srgbClr val="00338D"/>
                </a:solidFill>
                <a:latin typeface="Arial" pitchFamily="34" charset="0"/>
                <a:ea typeface="+mn-ea"/>
                <a:cs typeface="Arial" pitchFamily="34" charset="0"/>
              </a:defRPr>
            </a:lvl1pPr>
            <a:lvl2pPr marL="180975" indent="-180975"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2pPr>
            <a:lvl3pPr marL="361950" indent="-177800"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3pPr>
            <a:lvl4pPr marL="539750" indent="-177800"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4pPr>
            <a:lvl5pPr marL="719138" indent="-174625" algn="l" defTabSz="914400" rtl="0" eaLnBrk="1" latinLnBrk="0" hangingPunct="1">
              <a:lnSpc>
                <a:spcPct val="135000"/>
              </a:lnSpc>
              <a:spcBef>
                <a:spcPts val="600"/>
              </a:spcBef>
              <a:buClr>
                <a:srgbClr val="00338D"/>
              </a:buClr>
              <a:buFont typeface="Arial" pitchFamily="34" charset="0"/>
              <a:buChar char="–"/>
              <a:defRPr lang="en-GB" sz="900" b="1" kern="1200" noProof="0" dirty="0" smtClean="0">
                <a:solidFill>
                  <a:srgbClr val="00338D"/>
                </a:solidFill>
                <a:latin typeface="Arial" pitchFamily="34" charset="0"/>
                <a:ea typeface="+mn-ea"/>
                <a:cs typeface="Arial" pitchFamily="34" charset="0"/>
              </a:defRPr>
            </a:lvl5pPr>
            <a:lvl6pPr marL="895350" indent="-177800">
              <a:lnSpc>
                <a:spcPct val="100000"/>
              </a:lnSpc>
              <a:buClr>
                <a:srgbClr val="00338D"/>
              </a:buClr>
              <a:buFont typeface="Arial" pitchFamily="34" charset="0"/>
              <a:buChar char="■"/>
              <a:defRPr lang="en-US" sz="900" b="1" kern="1200" baseline="0" dirty="0" smtClean="0">
                <a:solidFill>
                  <a:srgbClr val="00338D"/>
                </a:solidFill>
                <a:latin typeface="Arial" pitchFamily="34" charset="0"/>
                <a:ea typeface="+mn-ea"/>
                <a:cs typeface="Arial" pitchFamily="34" charset="0"/>
              </a:defRPr>
            </a:lvl6pPr>
            <a:lvl7pPr marL="1079500" indent="-184150">
              <a:lnSpc>
                <a:spcPct val="100000"/>
              </a:lnSpc>
              <a:buClr>
                <a:srgbClr val="00338D"/>
              </a:buClr>
              <a:buFont typeface="Arial" pitchFamily="34" charset="0"/>
              <a:buChar char="–"/>
              <a:defRPr lang="en-US" sz="900" b="1" kern="1200" baseline="0" dirty="0" smtClean="0">
                <a:solidFill>
                  <a:srgbClr val="00338D"/>
                </a:solidFill>
                <a:latin typeface="Arial" pitchFamily="34" charset="0"/>
                <a:ea typeface="+mn-ea"/>
                <a:cs typeface="Arial" pitchFamily="34" charset="0"/>
              </a:defRPr>
            </a:lvl7pPr>
            <a:lvl8pPr marL="1257300" indent="-177800">
              <a:lnSpc>
                <a:spcPct val="100000"/>
              </a:lnSpc>
              <a:buClr>
                <a:srgbClr val="00338D"/>
              </a:buClr>
              <a:buFont typeface="Arial" pitchFamily="34" charset="0"/>
              <a:buChar char="■"/>
              <a:defRPr lang="en-US" sz="900" b="1" kern="1200" dirty="0" smtClean="0">
                <a:solidFill>
                  <a:srgbClr val="00338D"/>
                </a:solidFill>
                <a:latin typeface="Arial" pitchFamily="34" charset="0"/>
                <a:ea typeface="+mn-ea"/>
                <a:cs typeface="+mn-cs"/>
              </a:defRPr>
            </a:lvl8pPr>
            <a:lvl9pPr marL="1401763" indent="-144463">
              <a:lnSpc>
                <a:spcPct val="100000"/>
              </a:lnSpc>
              <a:buClr>
                <a:srgbClr val="00338D"/>
              </a:buClr>
              <a:buFont typeface="Arial" pitchFamily="34" charset="0"/>
              <a:buChar char="–"/>
              <a:defRPr lang="en-US" sz="900" b="1" kern="1200" dirty="0" smtClean="0">
                <a:solidFill>
                  <a:srgbClr val="00338D"/>
                </a:solidFill>
                <a:latin typeface="Arial" pitchFamily="34" charset="0"/>
                <a:ea typeface="+mn-ea"/>
                <a:cs typeface="Arial" pitchFamily="34" charset="0"/>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smtClean="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Outline">
    <p:spTree>
      <p:nvGrpSpPr>
        <p:cNvPr id="1" name=""/>
        <p:cNvGrpSpPr/>
        <p:nvPr/>
      </p:nvGrpSpPr>
      <p:grpSpPr>
        <a:xfrm>
          <a:off x="0" y="0"/>
          <a:ext cx="0" cy="0"/>
          <a:chOff x="0" y="0"/>
          <a:chExt cx="0" cy="0"/>
        </a:xfrm>
      </p:grpSpPr>
      <p:sp>
        <p:nvSpPr>
          <p:cNvPr id="37" name="Freeform 29"/>
          <p:cNvSpPr>
            <a:spLocks/>
          </p:cNvSpPr>
          <p:nvPr userDrawn="1"/>
        </p:nvSpPr>
        <p:spPr bwMode="gray">
          <a:xfrm>
            <a:off x="0" y="908720"/>
            <a:ext cx="1835695" cy="5474865"/>
          </a:xfrm>
          <a:custGeom>
            <a:avLst/>
            <a:gdLst>
              <a:gd name="T0" fmla="*/ 0 w 1260"/>
              <a:gd name="T1" fmla="*/ 0 h 3748"/>
              <a:gd name="T2" fmla="*/ 0 w 1260"/>
              <a:gd name="T3" fmla="*/ 3748 h 3748"/>
              <a:gd name="T4" fmla="*/ 1260 w 1260"/>
              <a:gd name="T5" fmla="*/ 3748 h 3748"/>
              <a:gd name="T6" fmla="*/ 1260 w 1260"/>
              <a:gd name="T7" fmla="*/ 0 h 3748"/>
              <a:gd name="T8" fmla="*/ 0 w 1260"/>
              <a:gd name="T9" fmla="*/ 0 h 3748"/>
              <a:gd name="T10" fmla="*/ 0 w 1260"/>
              <a:gd name="T11" fmla="*/ 0 h 3748"/>
              <a:gd name="T12" fmla="*/ 0 60000 65536"/>
              <a:gd name="T13" fmla="*/ 0 60000 65536"/>
              <a:gd name="T14" fmla="*/ 0 60000 65536"/>
              <a:gd name="T15" fmla="*/ 0 60000 65536"/>
              <a:gd name="T16" fmla="*/ 0 60000 65536"/>
              <a:gd name="T17" fmla="*/ 0 60000 65536"/>
              <a:gd name="T18" fmla="*/ 0 w 1260"/>
              <a:gd name="T19" fmla="*/ 0 h 3748"/>
              <a:gd name="T20" fmla="*/ 1260 w 1260"/>
              <a:gd name="T21" fmla="*/ 3748 h 3748"/>
            </a:gdLst>
            <a:ahLst/>
            <a:cxnLst>
              <a:cxn ang="T12">
                <a:pos x="T0" y="T1"/>
              </a:cxn>
              <a:cxn ang="T13">
                <a:pos x="T2" y="T3"/>
              </a:cxn>
              <a:cxn ang="T14">
                <a:pos x="T4" y="T5"/>
              </a:cxn>
              <a:cxn ang="T15">
                <a:pos x="T6" y="T7"/>
              </a:cxn>
              <a:cxn ang="T16">
                <a:pos x="T8" y="T9"/>
              </a:cxn>
              <a:cxn ang="T17">
                <a:pos x="T10" y="T11"/>
              </a:cxn>
            </a:cxnLst>
            <a:rect l="T18" t="T19" r="T20" b="T21"/>
            <a:pathLst>
              <a:path w="1260" h="3748">
                <a:moveTo>
                  <a:pt x="0" y="0"/>
                </a:moveTo>
                <a:lnTo>
                  <a:pt x="0" y="3748"/>
                </a:lnTo>
                <a:lnTo>
                  <a:pt x="1260" y="3748"/>
                </a:lnTo>
                <a:lnTo>
                  <a:pt x="1260" y="0"/>
                </a:lnTo>
                <a:lnTo>
                  <a:pt x="0" y="0"/>
                </a:lnTo>
                <a:close/>
              </a:path>
            </a:pathLst>
          </a:custGeom>
          <a:solidFill>
            <a:srgbClr val="DCDDDD"/>
          </a:solidFill>
          <a:ln w="9525" cap="flat" cmpd="sng">
            <a:noFill/>
            <a:prstDash val="solid"/>
            <a:round/>
            <a:headEnd type="none" w="med" len="med"/>
            <a:tailEnd type="none" w="med" len="med"/>
          </a:ln>
        </p:spPr>
        <p:txBody>
          <a:bodyPr>
            <a:noAutofit/>
          </a:bodyPr>
          <a:lstStyle/>
          <a:p>
            <a:pPr marL="0" algn="l" defTabSz="914400" rtl="0" eaLnBrk="1" latinLnBrk="0" hangingPunct="1"/>
            <a:endParaRPr lang="en-GB" sz="1800" kern="1200" dirty="0">
              <a:solidFill>
                <a:schemeClr val="tx1"/>
              </a:solidFill>
              <a:latin typeface="+mn-lt"/>
              <a:ea typeface="+mn-ea"/>
              <a:cs typeface="+mn-cs"/>
            </a:endParaRPr>
          </a:p>
        </p:txBody>
      </p:sp>
      <p:sp>
        <p:nvSpPr>
          <p:cNvPr id="38" name="Line 33"/>
          <p:cNvSpPr>
            <a:spLocks noChangeShapeType="1"/>
          </p:cNvSpPr>
          <p:nvPr userDrawn="1"/>
        </p:nvSpPr>
        <p:spPr bwMode="gray">
          <a:xfrm>
            <a:off x="0" y="6381328"/>
            <a:ext cx="9136674" cy="0"/>
          </a:xfrm>
          <a:prstGeom prst="line">
            <a:avLst/>
          </a:prstGeom>
          <a:noFill/>
          <a:ln w="6350">
            <a:solidFill>
              <a:srgbClr val="97989A"/>
            </a:solidFill>
            <a:miter lim="800000"/>
            <a:headEnd/>
            <a:tailEnd/>
          </a:ln>
        </p:spPr>
        <p:txBody>
          <a:bodyPr>
            <a:noAutofit/>
          </a:bodyPr>
          <a:lstStyle/>
          <a:p>
            <a:endParaRPr lang="en-GB" dirty="0"/>
          </a:p>
        </p:txBody>
      </p:sp>
      <p:sp>
        <p:nvSpPr>
          <p:cNvPr id="39" name="Line 31"/>
          <p:cNvSpPr>
            <a:spLocks noChangeShapeType="1"/>
          </p:cNvSpPr>
          <p:nvPr userDrawn="1"/>
        </p:nvSpPr>
        <p:spPr bwMode="gray">
          <a:xfrm>
            <a:off x="0" y="908720"/>
            <a:ext cx="9136674" cy="0"/>
          </a:xfrm>
          <a:prstGeom prst="line">
            <a:avLst/>
          </a:prstGeom>
          <a:noFill/>
          <a:ln w="6350">
            <a:solidFill>
              <a:srgbClr val="97989A"/>
            </a:solidFill>
            <a:miter lim="800000"/>
            <a:headEnd/>
            <a:tailEnd/>
          </a:ln>
        </p:spPr>
        <p:txBody>
          <a:bodyPr>
            <a:noAutofit/>
          </a:bodyPr>
          <a:lstStyle/>
          <a:p>
            <a:endParaRPr lang="en-GB" dirty="0"/>
          </a:p>
        </p:txBody>
      </p:sp>
      <p:sp>
        <p:nvSpPr>
          <p:cNvPr id="10" name="Title 9"/>
          <p:cNvSpPr>
            <a:spLocks noGrp="1"/>
          </p:cNvSpPr>
          <p:nvPr>
            <p:ph type="title"/>
          </p:nvPr>
        </p:nvSpPr>
        <p:spPr bwMode="gray"/>
        <p:txBody>
          <a:bodyPr>
            <a:noAutofit/>
          </a:bodyPr>
          <a:lstStyle/>
          <a:p>
            <a:r>
              <a:rPr lang="en-US" smtClean="0"/>
              <a:t>Click to edit Master title style</a:t>
            </a:r>
            <a:endParaRPr lang="en-GB"/>
          </a:p>
        </p:txBody>
      </p:sp>
      <p:sp>
        <p:nvSpPr>
          <p:cNvPr id="21" name="Text Placeholder 20"/>
          <p:cNvSpPr>
            <a:spLocks noGrp="1"/>
          </p:cNvSpPr>
          <p:nvPr>
            <p:ph type="body" sz="quarter" idx="21"/>
          </p:nvPr>
        </p:nvSpPr>
        <p:spPr bwMode="gray">
          <a:xfrm>
            <a:off x="2113085" y="1628775"/>
            <a:ext cx="3323492" cy="1944688"/>
          </a:xfrm>
          <a:solidFill>
            <a:schemeClr val="bg1"/>
          </a:solidFill>
          <a:ln w="6350">
            <a:solidFill>
              <a:srgbClr val="409DAD"/>
            </a:solidFill>
          </a:ln>
        </p:spPr>
        <p:txBody>
          <a:bodyPr lIns="54000" tIns="54000" rIns="54000" bIns="54000">
            <a:noAutofit/>
          </a:bodyPr>
          <a:lstStyle>
            <a:lvl5pPr>
              <a:defRPr/>
            </a:lvl5pPr>
            <a:lvl6pPr>
              <a:defRPr baseline="0"/>
            </a:lvl6pPr>
            <a:lvl7pPr>
              <a:defRPr baseline="0"/>
            </a:lvl7pPr>
            <a:lvl8pPr>
              <a:defRPr baseline="0"/>
            </a:lvl8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23" name="Text Placeholder 20"/>
          <p:cNvSpPr>
            <a:spLocks noGrp="1"/>
          </p:cNvSpPr>
          <p:nvPr>
            <p:ph type="body" sz="quarter" idx="22"/>
          </p:nvPr>
        </p:nvSpPr>
        <p:spPr bwMode="gray">
          <a:xfrm>
            <a:off x="5568462" y="1628775"/>
            <a:ext cx="3323492" cy="1944688"/>
          </a:xfrm>
          <a:solidFill>
            <a:schemeClr val="bg1"/>
          </a:solidFill>
          <a:ln w="6350">
            <a:solidFill>
              <a:srgbClr val="409DAD"/>
            </a:solidFill>
          </a:ln>
        </p:spPr>
        <p:txBody>
          <a:bodyPr lIns="54000" tIns="54000" rIns="54000" bIns="54000">
            <a:noAutofit/>
          </a:bodyPr>
          <a:lstStyle>
            <a:lvl5pPr>
              <a:defRPr/>
            </a:lvl5pPr>
            <a:lvl6pPr>
              <a:defRPr baseline="0"/>
            </a:lvl6pPr>
            <a:lvl7pPr>
              <a:defRPr baseline="0"/>
            </a:lvl7pPr>
            <a:lvl8pPr>
              <a:defRPr baseline="0"/>
            </a:lvl8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25" name="Text Placeholder 20"/>
          <p:cNvSpPr>
            <a:spLocks noGrp="1"/>
          </p:cNvSpPr>
          <p:nvPr>
            <p:ph type="body" sz="quarter" idx="23"/>
          </p:nvPr>
        </p:nvSpPr>
        <p:spPr bwMode="gray">
          <a:xfrm>
            <a:off x="2113085" y="4148137"/>
            <a:ext cx="3323492" cy="1944688"/>
          </a:xfrm>
          <a:solidFill>
            <a:srgbClr val="BFDEE4"/>
          </a:solidFill>
          <a:ln w="6350">
            <a:solidFill>
              <a:srgbClr val="409DAD"/>
            </a:solidFill>
          </a:ln>
        </p:spPr>
        <p:txBody>
          <a:bodyPr lIns="54000" tIns="54000" rIns="54000" bIns="54000">
            <a:noAutofit/>
          </a:bodyPr>
          <a:lstStyle>
            <a:lvl5pPr>
              <a:defRPr/>
            </a:lvl5pPr>
            <a:lvl6pPr>
              <a:defRPr baseline="0"/>
            </a:lvl6pPr>
            <a:lvl7pPr>
              <a:defRPr baseline="0"/>
            </a:lvl7pPr>
            <a:lvl8pPr>
              <a:defRPr baseline="0"/>
            </a:lvl8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26" name="Text Placeholder 20"/>
          <p:cNvSpPr>
            <a:spLocks noGrp="1"/>
          </p:cNvSpPr>
          <p:nvPr>
            <p:ph type="body" sz="quarter" idx="24"/>
          </p:nvPr>
        </p:nvSpPr>
        <p:spPr bwMode="gray">
          <a:xfrm>
            <a:off x="5568462" y="4148137"/>
            <a:ext cx="3323492" cy="1944688"/>
          </a:xfrm>
          <a:solidFill>
            <a:srgbClr val="BFDEE4"/>
          </a:solidFill>
          <a:ln w="6350">
            <a:solidFill>
              <a:srgbClr val="409DAD"/>
            </a:solidFill>
          </a:ln>
        </p:spPr>
        <p:txBody>
          <a:bodyPr lIns="54000" tIns="54000" rIns="54000" bIns="54000">
            <a:noAutofit/>
          </a:bodyPr>
          <a:lstStyle>
            <a:lvl5pPr>
              <a:defRPr/>
            </a:lvl5pPr>
            <a:lvl6pPr>
              <a:defRPr baseline="0"/>
            </a:lvl6pPr>
            <a:lvl7pPr>
              <a:defRPr baseline="0"/>
            </a:lvl7pPr>
            <a:lvl8pPr>
              <a:defRPr baseline="0"/>
            </a:lvl8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29" name="Text Placeholder 20"/>
          <p:cNvSpPr>
            <a:spLocks noGrp="1"/>
          </p:cNvSpPr>
          <p:nvPr>
            <p:ph type="body" sz="quarter" idx="26"/>
          </p:nvPr>
        </p:nvSpPr>
        <p:spPr bwMode="gray">
          <a:xfrm>
            <a:off x="2113085" y="1196976"/>
            <a:ext cx="3323492" cy="359817"/>
          </a:xfrm>
          <a:solidFill>
            <a:srgbClr val="409DAD"/>
          </a:solidFill>
          <a:ln w="6350">
            <a:solidFill>
              <a:srgbClr val="409DAD"/>
            </a:solidFill>
          </a:ln>
        </p:spPr>
        <p:txBody>
          <a:bodyPr vert="horz" lIns="0" tIns="0" rIns="0" bIns="0" rtlCol="0" anchor="ctr" anchorCtr="1">
            <a:noAutofit/>
          </a:bodyPr>
          <a:lstStyle>
            <a:lvl1pPr>
              <a:defRPr lang="en-US" sz="900" b="1" kern="1200" noProof="0" dirty="0" smtClean="0">
                <a:solidFill>
                  <a:schemeClr val="bg1"/>
                </a:solidFill>
                <a:latin typeface="Arial" pitchFamily="34" charset="0"/>
                <a:ea typeface="+mn-ea"/>
                <a:cs typeface="Arial"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smtClean="0"/>
              <a:t>Click to edit Master text styles</a:t>
            </a:r>
          </a:p>
        </p:txBody>
      </p:sp>
      <p:sp>
        <p:nvSpPr>
          <p:cNvPr id="30" name="Text Placeholder 20"/>
          <p:cNvSpPr>
            <a:spLocks noGrp="1"/>
          </p:cNvSpPr>
          <p:nvPr>
            <p:ph type="body" sz="quarter" idx="27"/>
          </p:nvPr>
        </p:nvSpPr>
        <p:spPr bwMode="gray">
          <a:xfrm>
            <a:off x="5568463" y="1196976"/>
            <a:ext cx="3323492" cy="359817"/>
          </a:xfrm>
          <a:solidFill>
            <a:srgbClr val="409DAD"/>
          </a:solidFill>
          <a:ln w="6350">
            <a:solidFill>
              <a:srgbClr val="409DAD"/>
            </a:solidFill>
          </a:ln>
        </p:spPr>
        <p:txBody>
          <a:bodyPr vert="horz" lIns="0" tIns="0" rIns="0" bIns="0" rtlCol="0" anchor="ctr" anchorCtr="1">
            <a:noAutofit/>
          </a:bodyPr>
          <a:lstStyle>
            <a:lvl1pPr>
              <a:defRPr lang="en-US" sz="900" b="1" kern="1200" noProof="0" dirty="0" smtClean="0">
                <a:solidFill>
                  <a:schemeClr val="bg1"/>
                </a:solidFill>
                <a:latin typeface="Arial" pitchFamily="34" charset="0"/>
                <a:ea typeface="+mn-ea"/>
                <a:cs typeface="Arial"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smtClean="0"/>
              <a:t>Click to edit Master text styles</a:t>
            </a:r>
          </a:p>
        </p:txBody>
      </p:sp>
      <p:sp>
        <p:nvSpPr>
          <p:cNvPr id="31" name="Text Placeholder 20"/>
          <p:cNvSpPr>
            <a:spLocks noGrp="1"/>
          </p:cNvSpPr>
          <p:nvPr>
            <p:ph type="body" sz="quarter" idx="28"/>
          </p:nvPr>
        </p:nvSpPr>
        <p:spPr bwMode="gray">
          <a:xfrm>
            <a:off x="2113085" y="3716339"/>
            <a:ext cx="3323492" cy="359817"/>
          </a:xfrm>
          <a:solidFill>
            <a:srgbClr val="409DAD"/>
          </a:solidFill>
          <a:ln w="6350">
            <a:solidFill>
              <a:srgbClr val="409DAD"/>
            </a:solidFill>
          </a:ln>
        </p:spPr>
        <p:txBody>
          <a:bodyPr vert="horz" lIns="0" tIns="0" rIns="0" bIns="0" rtlCol="0" anchor="ctr" anchorCtr="1">
            <a:noAutofit/>
          </a:bodyPr>
          <a:lstStyle>
            <a:lvl1pPr>
              <a:defRPr lang="en-US" sz="900" b="1" kern="1200" noProof="0" dirty="0" smtClean="0">
                <a:solidFill>
                  <a:schemeClr val="bg1"/>
                </a:solidFill>
                <a:latin typeface="Arial" pitchFamily="34" charset="0"/>
                <a:ea typeface="+mn-ea"/>
                <a:cs typeface="Arial"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smtClean="0"/>
              <a:t>Click to edit Master text styles</a:t>
            </a:r>
          </a:p>
        </p:txBody>
      </p:sp>
      <p:sp>
        <p:nvSpPr>
          <p:cNvPr id="32" name="Text Placeholder 20"/>
          <p:cNvSpPr>
            <a:spLocks noGrp="1"/>
          </p:cNvSpPr>
          <p:nvPr>
            <p:ph type="body" sz="quarter" idx="29"/>
          </p:nvPr>
        </p:nvSpPr>
        <p:spPr bwMode="gray">
          <a:xfrm>
            <a:off x="5568463" y="3716339"/>
            <a:ext cx="3323492" cy="359817"/>
          </a:xfrm>
          <a:solidFill>
            <a:srgbClr val="409DAD"/>
          </a:solidFill>
          <a:ln w="6350">
            <a:solidFill>
              <a:srgbClr val="409DAD"/>
            </a:solidFill>
          </a:ln>
        </p:spPr>
        <p:txBody>
          <a:bodyPr vert="horz" lIns="0" tIns="0" rIns="0" bIns="0" rtlCol="0" anchor="ctr" anchorCtr="1">
            <a:noAutofit/>
          </a:bodyPr>
          <a:lstStyle>
            <a:lvl1pPr>
              <a:defRPr lang="en-US" sz="900" b="1" kern="1200" noProof="0" dirty="0" smtClean="0">
                <a:solidFill>
                  <a:schemeClr val="bg1"/>
                </a:solidFill>
                <a:latin typeface="Arial" pitchFamily="34" charset="0"/>
                <a:ea typeface="+mn-ea"/>
                <a:cs typeface="Arial"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smtClean="0"/>
              <a:t>Click to edit Master text styles</a:t>
            </a:r>
          </a:p>
        </p:txBody>
      </p:sp>
      <p:sp>
        <p:nvSpPr>
          <p:cNvPr id="14" name="Text Placeholder 7"/>
          <p:cNvSpPr>
            <a:spLocks noGrp="1"/>
          </p:cNvSpPr>
          <p:nvPr>
            <p:ph type="body" sz="quarter" idx="12"/>
          </p:nvPr>
        </p:nvSpPr>
        <p:spPr bwMode="gray">
          <a:xfrm>
            <a:off x="252046" y="1195200"/>
            <a:ext cx="1583650" cy="4895850"/>
          </a:xfrm>
        </p:spPr>
        <p:txBody>
          <a:bodyPr vert="horz" lIns="0" tIns="0" rIns="144000" bIns="0" rtlCol="0">
            <a:noAutofit/>
          </a:bodyPr>
          <a:lstStyle>
            <a:lvl1pPr algn="l" defTabSz="914400" rtl="0" eaLnBrk="1" latinLnBrk="0" hangingPunct="1">
              <a:lnSpc>
                <a:spcPct val="135000"/>
              </a:lnSpc>
              <a:spcBef>
                <a:spcPts val="600"/>
              </a:spcBef>
              <a:buFont typeface="Arial" pitchFamily="34" charset="0"/>
              <a:defRPr lang="en-US" sz="900" b="1" kern="1200" noProof="0" dirty="0" smtClean="0">
                <a:solidFill>
                  <a:srgbClr val="00338D"/>
                </a:solidFill>
                <a:latin typeface="Arial" pitchFamily="34" charset="0"/>
                <a:ea typeface="+mn-ea"/>
                <a:cs typeface="Arial" pitchFamily="34" charset="0"/>
              </a:defRPr>
            </a:lvl1pPr>
            <a:lvl2pPr marL="180975" indent="-180975"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2pPr>
            <a:lvl3pPr marL="361950" indent="-177800"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3pPr>
            <a:lvl4pPr marL="539750" indent="-177800"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4pPr>
            <a:lvl5pPr marL="719138" indent="-174625" algn="l" defTabSz="914400" rtl="0" eaLnBrk="1" latinLnBrk="0" hangingPunct="1">
              <a:lnSpc>
                <a:spcPct val="135000"/>
              </a:lnSpc>
              <a:spcBef>
                <a:spcPts val="600"/>
              </a:spcBef>
              <a:buClr>
                <a:srgbClr val="00338D"/>
              </a:buClr>
              <a:buFont typeface="Arial" pitchFamily="34" charset="0"/>
              <a:buChar char="–"/>
              <a:defRPr lang="en-GB" sz="900" b="1" kern="1200" noProof="0" dirty="0" smtClean="0">
                <a:solidFill>
                  <a:srgbClr val="00338D"/>
                </a:solidFill>
                <a:latin typeface="Arial" pitchFamily="34" charset="0"/>
                <a:ea typeface="+mn-ea"/>
                <a:cs typeface="Arial" pitchFamily="34" charset="0"/>
              </a:defRPr>
            </a:lvl5pPr>
            <a:lvl6pPr marL="895350" indent="-177800">
              <a:lnSpc>
                <a:spcPct val="100000"/>
              </a:lnSpc>
              <a:buClr>
                <a:srgbClr val="00338D"/>
              </a:buClr>
              <a:buFont typeface="Arial" pitchFamily="34" charset="0"/>
              <a:buChar char="■"/>
              <a:defRPr lang="en-US" sz="900" b="1" kern="1200" baseline="0" dirty="0" smtClean="0">
                <a:solidFill>
                  <a:srgbClr val="00338D"/>
                </a:solidFill>
                <a:latin typeface="Arial" pitchFamily="34" charset="0"/>
                <a:ea typeface="+mn-ea"/>
                <a:cs typeface="Arial" pitchFamily="34" charset="0"/>
              </a:defRPr>
            </a:lvl6pPr>
            <a:lvl7pPr marL="1079500" indent="-184150">
              <a:lnSpc>
                <a:spcPct val="100000"/>
              </a:lnSpc>
              <a:buClr>
                <a:srgbClr val="00338D"/>
              </a:buClr>
              <a:buFont typeface="Arial" pitchFamily="34" charset="0"/>
              <a:buChar char="–"/>
              <a:defRPr lang="en-US" sz="900" b="1" kern="1200" baseline="0" dirty="0" smtClean="0">
                <a:solidFill>
                  <a:srgbClr val="00338D"/>
                </a:solidFill>
                <a:latin typeface="Arial" pitchFamily="34" charset="0"/>
                <a:ea typeface="+mn-ea"/>
                <a:cs typeface="Arial" pitchFamily="34" charset="0"/>
              </a:defRPr>
            </a:lvl7pPr>
            <a:lvl8pPr marL="1257300" indent="-177800">
              <a:lnSpc>
                <a:spcPct val="100000"/>
              </a:lnSpc>
              <a:buClr>
                <a:srgbClr val="00338D"/>
              </a:buClr>
              <a:buFont typeface="Arial" pitchFamily="34" charset="0"/>
              <a:buChar char="■"/>
              <a:defRPr lang="en-US" sz="900" b="1" kern="1200" dirty="0" smtClean="0">
                <a:solidFill>
                  <a:srgbClr val="00338D"/>
                </a:solidFill>
                <a:latin typeface="Arial" pitchFamily="34" charset="0"/>
                <a:ea typeface="+mn-ea"/>
                <a:cs typeface="+mn-cs"/>
              </a:defRPr>
            </a:lvl8pPr>
            <a:lvl9pPr marL="1401763" indent="-144463">
              <a:lnSpc>
                <a:spcPct val="100000"/>
              </a:lnSpc>
              <a:buClr>
                <a:srgbClr val="00338D"/>
              </a:buClr>
              <a:buFont typeface="Arial" pitchFamily="34" charset="0"/>
              <a:buChar char="–"/>
              <a:defRPr lang="en-US" sz="900" b="1" kern="1200" dirty="0" smtClean="0">
                <a:solidFill>
                  <a:srgbClr val="00338D"/>
                </a:solidFill>
                <a:latin typeface="Arial" pitchFamily="34" charset="0"/>
                <a:ea typeface="+mn-ea"/>
                <a:cs typeface="Arial" pitchFamily="34" charset="0"/>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smtClean="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ny profile">
    <p:spTree>
      <p:nvGrpSpPr>
        <p:cNvPr id="1" name=""/>
        <p:cNvGrpSpPr/>
        <p:nvPr/>
      </p:nvGrpSpPr>
      <p:grpSpPr>
        <a:xfrm>
          <a:off x="0" y="0"/>
          <a:ext cx="0" cy="0"/>
          <a:chOff x="0" y="0"/>
          <a:chExt cx="0" cy="0"/>
        </a:xfrm>
      </p:grpSpPr>
      <p:sp>
        <p:nvSpPr>
          <p:cNvPr id="31" name="Freeform 29"/>
          <p:cNvSpPr>
            <a:spLocks/>
          </p:cNvSpPr>
          <p:nvPr userDrawn="1"/>
        </p:nvSpPr>
        <p:spPr bwMode="gray">
          <a:xfrm>
            <a:off x="0" y="908720"/>
            <a:ext cx="1835695" cy="5474865"/>
          </a:xfrm>
          <a:custGeom>
            <a:avLst/>
            <a:gdLst>
              <a:gd name="T0" fmla="*/ 0 w 1260"/>
              <a:gd name="T1" fmla="*/ 0 h 3748"/>
              <a:gd name="T2" fmla="*/ 0 w 1260"/>
              <a:gd name="T3" fmla="*/ 3748 h 3748"/>
              <a:gd name="T4" fmla="*/ 1260 w 1260"/>
              <a:gd name="T5" fmla="*/ 3748 h 3748"/>
              <a:gd name="T6" fmla="*/ 1260 w 1260"/>
              <a:gd name="T7" fmla="*/ 0 h 3748"/>
              <a:gd name="T8" fmla="*/ 0 w 1260"/>
              <a:gd name="T9" fmla="*/ 0 h 3748"/>
              <a:gd name="T10" fmla="*/ 0 w 1260"/>
              <a:gd name="T11" fmla="*/ 0 h 3748"/>
              <a:gd name="T12" fmla="*/ 0 60000 65536"/>
              <a:gd name="T13" fmla="*/ 0 60000 65536"/>
              <a:gd name="T14" fmla="*/ 0 60000 65536"/>
              <a:gd name="T15" fmla="*/ 0 60000 65536"/>
              <a:gd name="T16" fmla="*/ 0 60000 65536"/>
              <a:gd name="T17" fmla="*/ 0 60000 65536"/>
              <a:gd name="T18" fmla="*/ 0 w 1260"/>
              <a:gd name="T19" fmla="*/ 0 h 3748"/>
              <a:gd name="T20" fmla="*/ 1260 w 1260"/>
              <a:gd name="T21" fmla="*/ 3748 h 3748"/>
            </a:gdLst>
            <a:ahLst/>
            <a:cxnLst>
              <a:cxn ang="T12">
                <a:pos x="T0" y="T1"/>
              </a:cxn>
              <a:cxn ang="T13">
                <a:pos x="T2" y="T3"/>
              </a:cxn>
              <a:cxn ang="T14">
                <a:pos x="T4" y="T5"/>
              </a:cxn>
              <a:cxn ang="T15">
                <a:pos x="T6" y="T7"/>
              </a:cxn>
              <a:cxn ang="T16">
                <a:pos x="T8" y="T9"/>
              </a:cxn>
              <a:cxn ang="T17">
                <a:pos x="T10" y="T11"/>
              </a:cxn>
            </a:cxnLst>
            <a:rect l="T18" t="T19" r="T20" b="T21"/>
            <a:pathLst>
              <a:path w="1260" h="3748">
                <a:moveTo>
                  <a:pt x="0" y="0"/>
                </a:moveTo>
                <a:lnTo>
                  <a:pt x="0" y="3748"/>
                </a:lnTo>
                <a:lnTo>
                  <a:pt x="1260" y="3748"/>
                </a:lnTo>
                <a:lnTo>
                  <a:pt x="1260" y="0"/>
                </a:lnTo>
                <a:lnTo>
                  <a:pt x="0" y="0"/>
                </a:lnTo>
                <a:close/>
              </a:path>
            </a:pathLst>
          </a:custGeom>
          <a:solidFill>
            <a:srgbClr val="DCDDDD"/>
          </a:solidFill>
          <a:ln w="9525" cap="flat" cmpd="sng">
            <a:noFill/>
            <a:prstDash val="solid"/>
            <a:round/>
            <a:headEnd type="none" w="med" len="med"/>
            <a:tailEnd type="none" w="med" len="med"/>
          </a:ln>
        </p:spPr>
        <p:txBody>
          <a:bodyPr>
            <a:noAutofit/>
          </a:bodyPr>
          <a:lstStyle/>
          <a:p>
            <a:pPr marL="0" algn="l" defTabSz="914400" rtl="0" eaLnBrk="1" latinLnBrk="0" hangingPunct="1"/>
            <a:endParaRPr lang="en-GB" sz="1800" kern="1200" dirty="0">
              <a:solidFill>
                <a:schemeClr val="tx1"/>
              </a:solidFill>
              <a:latin typeface="+mn-lt"/>
              <a:ea typeface="+mn-ea"/>
              <a:cs typeface="+mn-cs"/>
            </a:endParaRPr>
          </a:p>
        </p:txBody>
      </p:sp>
      <p:sp>
        <p:nvSpPr>
          <p:cNvPr id="34" name="Line 33"/>
          <p:cNvSpPr>
            <a:spLocks noChangeShapeType="1"/>
          </p:cNvSpPr>
          <p:nvPr userDrawn="1"/>
        </p:nvSpPr>
        <p:spPr bwMode="gray">
          <a:xfrm>
            <a:off x="0" y="6381328"/>
            <a:ext cx="9136674" cy="0"/>
          </a:xfrm>
          <a:prstGeom prst="line">
            <a:avLst/>
          </a:prstGeom>
          <a:noFill/>
          <a:ln w="6350">
            <a:solidFill>
              <a:srgbClr val="97989A"/>
            </a:solidFill>
            <a:miter lim="800000"/>
            <a:headEnd/>
            <a:tailEnd/>
          </a:ln>
        </p:spPr>
        <p:txBody>
          <a:bodyPr>
            <a:noAutofit/>
          </a:bodyPr>
          <a:lstStyle/>
          <a:p>
            <a:endParaRPr lang="en-GB" dirty="0"/>
          </a:p>
        </p:txBody>
      </p:sp>
      <p:sp>
        <p:nvSpPr>
          <p:cNvPr id="35" name="Line 31"/>
          <p:cNvSpPr>
            <a:spLocks noChangeShapeType="1"/>
          </p:cNvSpPr>
          <p:nvPr userDrawn="1"/>
        </p:nvSpPr>
        <p:spPr bwMode="gray">
          <a:xfrm>
            <a:off x="0" y="908720"/>
            <a:ext cx="9136674" cy="0"/>
          </a:xfrm>
          <a:prstGeom prst="line">
            <a:avLst/>
          </a:prstGeom>
          <a:noFill/>
          <a:ln w="6350">
            <a:solidFill>
              <a:srgbClr val="97989A"/>
            </a:solidFill>
            <a:miter lim="800000"/>
            <a:headEnd/>
            <a:tailEnd/>
          </a:ln>
        </p:spPr>
        <p:txBody>
          <a:bodyPr>
            <a:noAutofit/>
          </a:bodyPr>
          <a:lstStyle/>
          <a:p>
            <a:endParaRPr lang="en-GB" dirty="0"/>
          </a:p>
        </p:txBody>
      </p:sp>
      <p:sp>
        <p:nvSpPr>
          <p:cNvPr id="33" name="Chart Placeholder 31"/>
          <p:cNvSpPr>
            <a:spLocks noGrp="1"/>
          </p:cNvSpPr>
          <p:nvPr userDrawn="1">
            <p:ph type="chart" sz="quarter" idx="22"/>
          </p:nvPr>
        </p:nvSpPr>
        <p:spPr bwMode="gray">
          <a:xfrm>
            <a:off x="4427984" y="1196975"/>
            <a:ext cx="2160240" cy="2376041"/>
          </a:xfrm>
        </p:spPr>
        <p:txBody>
          <a:bodyPr anchor="ctr">
            <a:noAutofit/>
          </a:bodyPr>
          <a:lstStyle>
            <a:lvl1pPr algn="ctr">
              <a:defRPr/>
            </a:lvl1pPr>
          </a:lstStyle>
          <a:p>
            <a:r>
              <a:rPr lang="en-US" dirty="0" smtClean="0"/>
              <a:t>Click icon to add chart</a:t>
            </a:r>
            <a:endParaRPr lang="en-GB" dirty="0"/>
          </a:p>
        </p:txBody>
      </p:sp>
      <p:sp>
        <p:nvSpPr>
          <p:cNvPr id="28" name="Text Placeholder 17"/>
          <p:cNvSpPr>
            <a:spLocks noGrp="1"/>
          </p:cNvSpPr>
          <p:nvPr userDrawn="1">
            <p:ph type="body" sz="quarter" idx="20"/>
          </p:nvPr>
        </p:nvSpPr>
        <p:spPr bwMode="gray">
          <a:xfrm>
            <a:off x="6733407" y="3716339"/>
            <a:ext cx="2159055" cy="2376957"/>
          </a:xfrm>
        </p:spPr>
        <p:txBody>
          <a:bodyPr>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32" name="Chart Placeholder 31"/>
          <p:cNvSpPr>
            <a:spLocks noGrp="1"/>
          </p:cNvSpPr>
          <p:nvPr userDrawn="1">
            <p:ph type="chart" sz="quarter" idx="21"/>
          </p:nvPr>
        </p:nvSpPr>
        <p:spPr bwMode="gray">
          <a:xfrm>
            <a:off x="6732240" y="1196975"/>
            <a:ext cx="2160240" cy="2376041"/>
          </a:xfrm>
        </p:spPr>
        <p:txBody>
          <a:bodyPr anchor="ctr">
            <a:noAutofit/>
          </a:bodyPr>
          <a:lstStyle>
            <a:lvl1pPr algn="ctr">
              <a:defRPr/>
            </a:lvl1pPr>
          </a:lstStyle>
          <a:p>
            <a:r>
              <a:rPr lang="en-US" dirty="0" smtClean="0"/>
              <a:t>Click icon to add chart</a:t>
            </a:r>
            <a:endParaRPr lang="en-GB" dirty="0"/>
          </a:p>
        </p:txBody>
      </p:sp>
      <p:sp>
        <p:nvSpPr>
          <p:cNvPr id="10" name="Title 9"/>
          <p:cNvSpPr>
            <a:spLocks noGrp="1"/>
          </p:cNvSpPr>
          <p:nvPr userDrawn="1">
            <p:ph type="title"/>
          </p:nvPr>
        </p:nvSpPr>
        <p:spPr bwMode="gray"/>
        <p:txBody>
          <a:bodyPr>
            <a:noAutofit/>
          </a:bodyPr>
          <a:lstStyle/>
          <a:p>
            <a:r>
              <a:rPr lang="en-US" smtClean="0"/>
              <a:t>Click to edit Master title style</a:t>
            </a:r>
            <a:endParaRPr lang="en-GB"/>
          </a:p>
        </p:txBody>
      </p:sp>
      <p:sp>
        <p:nvSpPr>
          <p:cNvPr id="13" name="Table Placeholder 12"/>
          <p:cNvSpPr>
            <a:spLocks noGrp="1"/>
          </p:cNvSpPr>
          <p:nvPr userDrawn="1">
            <p:ph type="tbl" sz="quarter" idx="14"/>
          </p:nvPr>
        </p:nvSpPr>
        <p:spPr bwMode="gray">
          <a:xfrm>
            <a:off x="2123728" y="1196975"/>
            <a:ext cx="2160240" cy="2376041"/>
          </a:xfrm>
        </p:spPr>
        <p:txBody>
          <a:bodyPr anchor="ctr">
            <a:noAutofit/>
          </a:bodyPr>
          <a:lstStyle>
            <a:lvl1pPr algn="ctr">
              <a:defRPr/>
            </a:lvl1pPr>
          </a:lstStyle>
          <a:p>
            <a:r>
              <a:rPr lang="en-US" dirty="0" smtClean="0"/>
              <a:t>Click icon to add table</a:t>
            </a:r>
            <a:endParaRPr lang="en-GB" dirty="0"/>
          </a:p>
        </p:txBody>
      </p:sp>
      <p:sp>
        <p:nvSpPr>
          <p:cNvPr id="18" name="Text Placeholder 17"/>
          <p:cNvSpPr>
            <a:spLocks noGrp="1"/>
          </p:cNvSpPr>
          <p:nvPr userDrawn="1">
            <p:ph type="body" sz="quarter" idx="16"/>
          </p:nvPr>
        </p:nvSpPr>
        <p:spPr bwMode="gray">
          <a:xfrm>
            <a:off x="2123728" y="3716339"/>
            <a:ext cx="2160240" cy="2376957"/>
          </a:xfrm>
        </p:spPr>
        <p:txBody>
          <a:bodyPr>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26" name="Text Placeholder 17"/>
          <p:cNvSpPr>
            <a:spLocks noGrp="1"/>
          </p:cNvSpPr>
          <p:nvPr userDrawn="1">
            <p:ph type="body" sz="quarter" idx="18"/>
          </p:nvPr>
        </p:nvSpPr>
        <p:spPr bwMode="gray">
          <a:xfrm>
            <a:off x="4428889" y="3716339"/>
            <a:ext cx="2159055" cy="2376957"/>
          </a:xfrm>
        </p:spPr>
        <p:txBody>
          <a:bodyPr>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2" name="Text Placeholder 7"/>
          <p:cNvSpPr>
            <a:spLocks noGrp="1"/>
          </p:cNvSpPr>
          <p:nvPr userDrawn="1">
            <p:ph type="body" sz="quarter" idx="12"/>
          </p:nvPr>
        </p:nvSpPr>
        <p:spPr bwMode="gray">
          <a:xfrm>
            <a:off x="251520" y="1195200"/>
            <a:ext cx="1584176" cy="4895850"/>
          </a:xfrm>
        </p:spPr>
        <p:txBody>
          <a:bodyPr vert="horz" lIns="0" tIns="0" rIns="144000" bIns="0" rtlCol="0">
            <a:noAutofit/>
          </a:bodyPr>
          <a:lstStyle>
            <a:lvl1pPr algn="l" defTabSz="914400" rtl="0" eaLnBrk="1" latinLnBrk="0" hangingPunct="1">
              <a:lnSpc>
                <a:spcPct val="135000"/>
              </a:lnSpc>
              <a:spcBef>
                <a:spcPts val="600"/>
              </a:spcBef>
              <a:buFont typeface="Arial" pitchFamily="34" charset="0"/>
              <a:defRPr lang="en-US" sz="900" b="1" kern="1200" noProof="0" dirty="0" smtClean="0">
                <a:solidFill>
                  <a:srgbClr val="00338D"/>
                </a:solidFill>
                <a:latin typeface="Arial" pitchFamily="34" charset="0"/>
                <a:ea typeface="+mn-ea"/>
                <a:cs typeface="Arial" pitchFamily="34" charset="0"/>
              </a:defRPr>
            </a:lvl1pPr>
            <a:lvl2pPr marL="180975" indent="-180975"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2pPr>
            <a:lvl3pPr marL="361950" indent="-177800"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3pPr>
            <a:lvl4pPr marL="539750" indent="-177800" algn="l" defTabSz="914400" rtl="0" eaLnBrk="1" latinLnBrk="0" hangingPunct="1">
              <a:lnSpc>
                <a:spcPct val="135000"/>
              </a:lnSpc>
              <a:spcBef>
                <a:spcPts val="600"/>
              </a:spcBef>
              <a:buClr>
                <a:srgbClr val="00338D"/>
              </a:buClr>
              <a:buFont typeface="Arial" pitchFamily="34" charset="0"/>
              <a:buChar char="■"/>
              <a:defRPr lang="en-US" sz="900" b="1" kern="1200" noProof="0" dirty="0" smtClean="0">
                <a:solidFill>
                  <a:srgbClr val="00338D"/>
                </a:solidFill>
                <a:latin typeface="Arial" pitchFamily="34" charset="0"/>
                <a:ea typeface="+mn-ea"/>
                <a:cs typeface="Arial" pitchFamily="34" charset="0"/>
              </a:defRPr>
            </a:lvl4pPr>
            <a:lvl5pPr marL="719138" indent="-174625" algn="l" defTabSz="914400" rtl="0" eaLnBrk="1" latinLnBrk="0" hangingPunct="1">
              <a:lnSpc>
                <a:spcPct val="135000"/>
              </a:lnSpc>
              <a:spcBef>
                <a:spcPts val="600"/>
              </a:spcBef>
              <a:buClr>
                <a:srgbClr val="00338D"/>
              </a:buClr>
              <a:buFont typeface="Arial" pitchFamily="34" charset="0"/>
              <a:buChar char="–"/>
              <a:defRPr lang="en-GB" sz="900" b="1" kern="1200" noProof="0" dirty="0" smtClean="0">
                <a:solidFill>
                  <a:srgbClr val="00338D"/>
                </a:solidFill>
                <a:latin typeface="Arial" pitchFamily="34" charset="0"/>
                <a:ea typeface="+mn-ea"/>
                <a:cs typeface="Arial" pitchFamily="34" charset="0"/>
              </a:defRPr>
            </a:lvl5pPr>
            <a:lvl6pPr marL="895350" indent="-177800">
              <a:lnSpc>
                <a:spcPct val="100000"/>
              </a:lnSpc>
              <a:buClr>
                <a:srgbClr val="00338D"/>
              </a:buClr>
              <a:buFont typeface="Arial" pitchFamily="34" charset="0"/>
              <a:buChar char="■"/>
              <a:defRPr lang="en-US" sz="900" b="1" kern="1200" baseline="0" dirty="0" smtClean="0">
                <a:solidFill>
                  <a:srgbClr val="00338D"/>
                </a:solidFill>
                <a:latin typeface="Arial" pitchFamily="34" charset="0"/>
                <a:ea typeface="+mn-ea"/>
                <a:cs typeface="Arial" pitchFamily="34" charset="0"/>
              </a:defRPr>
            </a:lvl6pPr>
            <a:lvl7pPr marL="1079500" indent="-184150">
              <a:lnSpc>
                <a:spcPct val="100000"/>
              </a:lnSpc>
              <a:buClr>
                <a:srgbClr val="00338D"/>
              </a:buClr>
              <a:buFont typeface="Arial" pitchFamily="34" charset="0"/>
              <a:buChar char="–"/>
              <a:defRPr lang="en-US" sz="900" b="1" kern="1200" baseline="0" dirty="0" smtClean="0">
                <a:solidFill>
                  <a:srgbClr val="00338D"/>
                </a:solidFill>
                <a:latin typeface="Arial" pitchFamily="34" charset="0"/>
                <a:ea typeface="+mn-ea"/>
                <a:cs typeface="Arial" pitchFamily="34" charset="0"/>
              </a:defRPr>
            </a:lvl7pPr>
            <a:lvl8pPr marL="1257300" indent="-177800">
              <a:lnSpc>
                <a:spcPct val="100000"/>
              </a:lnSpc>
              <a:buClr>
                <a:srgbClr val="00338D"/>
              </a:buClr>
              <a:buFont typeface="Arial" pitchFamily="34" charset="0"/>
              <a:buChar char="■"/>
              <a:defRPr lang="en-US" sz="900" b="1" kern="1200" dirty="0" smtClean="0">
                <a:solidFill>
                  <a:srgbClr val="00338D"/>
                </a:solidFill>
                <a:latin typeface="Arial" pitchFamily="34" charset="0"/>
                <a:ea typeface="+mn-ea"/>
                <a:cs typeface="+mn-cs"/>
              </a:defRPr>
            </a:lvl8pPr>
            <a:lvl9pPr marL="1401763" indent="-144463">
              <a:lnSpc>
                <a:spcPct val="100000"/>
              </a:lnSpc>
              <a:buClr>
                <a:srgbClr val="00338D"/>
              </a:buClr>
              <a:buFont typeface="Arial" pitchFamily="34" charset="0"/>
              <a:buChar char="–"/>
              <a:defRPr lang="en-US" sz="900" b="1" kern="1200" dirty="0" smtClean="0">
                <a:solidFill>
                  <a:srgbClr val="00338D"/>
                </a:solidFill>
                <a:latin typeface="Arial" pitchFamily="34" charset="0"/>
                <a:ea typeface="+mn-ea"/>
                <a:cs typeface="Arial" pitchFamily="34" charset="0"/>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smtClean="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ppendix Title and Content">
    <p:spTree>
      <p:nvGrpSpPr>
        <p:cNvPr id="1" name=""/>
        <p:cNvGrpSpPr/>
        <p:nvPr/>
      </p:nvGrpSpPr>
      <p:grpSpPr>
        <a:xfrm>
          <a:off x="0" y="0"/>
          <a:ext cx="0" cy="0"/>
          <a:chOff x="0" y="0"/>
          <a:chExt cx="0" cy="0"/>
        </a:xfrm>
      </p:grpSpPr>
      <p:grpSp>
        <p:nvGrpSpPr>
          <p:cNvPr id="2" name="Group 22"/>
          <p:cNvGrpSpPr/>
          <p:nvPr userDrawn="1"/>
        </p:nvGrpSpPr>
        <p:grpSpPr bwMode="gray">
          <a:xfrm>
            <a:off x="251521" y="1193800"/>
            <a:ext cx="8640960" cy="4899496"/>
            <a:chOff x="251521" y="1193800"/>
            <a:chExt cx="8640960" cy="4899496"/>
          </a:xfrm>
        </p:grpSpPr>
        <p:sp>
          <p:nvSpPr>
            <p:cNvPr id="27" name="TextBox 26"/>
            <p:cNvSpPr txBox="1"/>
            <p:nvPr userDrawn="1"/>
          </p:nvSpPr>
          <p:spPr bwMode="gray">
            <a:xfrm>
              <a:off x="5436096" y="5912871"/>
              <a:ext cx="3455377" cy="180425"/>
            </a:xfrm>
            <a:prstGeom prst="rect">
              <a:avLst/>
            </a:prstGeom>
            <a:noFill/>
          </p:spPr>
          <p:txBody>
            <a:bodyPr wrap="square" lIns="36000" tIns="36000" rIns="36000" bIns="36000" rtlCol="0" anchor="b" anchorCtr="0">
              <a:noAutofit/>
            </a:bodyPr>
            <a:lstStyle/>
            <a:p>
              <a:pPr algn="r"/>
              <a:r>
                <a:rPr lang="en-GB" sz="700" dirty="0" smtClean="0">
                  <a:solidFill>
                    <a:srgbClr val="C84E00"/>
                  </a:solidFill>
                </a:rPr>
                <a:t>Appendix</a:t>
              </a:r>
              <a:r>
                <a:rPr lang="en-GB" sz="700" baseline="0" dirty="0" smtClean="0">
                  <a:solidFill>
                    <a:srgbClr val="C84E00"/>
                  </a:solidFill>
                </a:rPr>
                <a:t> layout grid: to remove go to slide Master select Grid object and delete</a:t>
              </a:r>
              <a:endParaRPr lang="en-GB" sz="700" dirty="0">
                <a:solidFill>
                  <a:srgbClr val="C84E00"/>
                </a:solidFill>
              </a:endParaRPr>
            </a:p>
          </p:txBody>
        </p:sp>
        <p:grpSp>
          <p:nvGrpSpPr>
            <p:cNvPr id="3" name="Group 15"/>
            <p:cNvGrpSpPr/>
            <p:nvPr userDrawn="1"/>
          </p:nvGrpSpPr>
          <p:grpSpPr bwMode="gray">
            <a:xfrm>
              <a:off x="251521" y="1193800"/>
              <a:ext cx="8640960" cy="4896000"/>
              <a:chOff x="251521" y="1193800"/>
              <a:chExt cx="8640960" cy="4896000"/>
            </a:xfrm>
          </p:grpSpPr>
          <p:sp>
            <p:nvSpPr>
              <p:cNvPr id="17" name="Rectangle 18"/>
              <p:cNvSpPr>
                <a:spLocks noChangeArrowheads="1"/>
              </p:cNvSpPr>
              <p:nvPr userDrawn="1"/>
            </p:nvSpPr>
            <p:spPr bwMode="gray">
              <a:xfrm>
                <a:off x="251521" y="1193800"/>
                <a:ext cx="8640960" cy="4894263"/>
              </a:xfrm>
              <a:prstGeom prst="rect">
                <a:avLst/>
              </a:prstGeom>
              <a:noFill/>
              <a:ln w="6350" cap="flat" cmpd="sng" algn="ctr">
                <a:solidFill>
                  <a:srgbClr val="C84E00"/>
                </a:solidFill>
                <a:prstDash val="dash"/>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sp>
            <p:nvSpPr>
              <p:cNvPr id="18" name="Rectangle 19"/>
              <p:cNvSpPr>
                <a:spLocks noChangeArrowheads="1"/>
              </p:cNvSpPr>
              <p:nvPr userDrawn="1"/>
            </p:nvSpPr>
            <p:spPr bwMode="gray">
              <a:xfrm>
                <a:off x="251521" y="3568700"/>
                <a:ext cx="8640960" cy="144463"/>
              </a:xfrm>
              <a:prstGeom prst="rect">
                <a:avLst/>
              </a:prstGeom>
              <a:noFill/>
              <a:ln w="6350" cap="flat" cmpd="sng" algn="ctr">
                <a:solidFill>
                  <a:srgbClr val="C84E00"/>
                </a:solidFill>
                <a:prstDash val="dash"/>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sp>
            <p:nvSpPr>
              <p:cNvPr id="20" name="Rectangle 20"/>
              <p:cNvSpPr>
                <a:spLocks noChangeArrowheads="1"/>
              </p:cNvSpPr>
              <p:nvPr userDrawn="1"/>
            </p:nvSpPr>
            <p:spPr bwMode="gray">
              <a:xfrm>
                <a:off x="2304207" y="1193800"/>
                <a:ext cx="144463" cy="4896000"/>
              </a:xfrm>
              <a:prstGeom prst="rect">
                <a:avLst/>
              </a:prstGeom>
              <a:noFill/>
              <a:ln w="6350" cap="flat" cmpd="sng" algn="ctr">
                <a:solidFill>
                  <a:srgbClr val="C84E00"/>
                </a:solidFill>
                <a:prstDash val="dash"/>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sp>
            <p:nvSpPr>
              <p:cNvPr id="21" name="Rectangle 22"/>
              <p:cNvSpPr>
                <a:spLocks noChangeArrowheads="1"/>
              </p:cNvSpPr>
              <p:nvPr userDrawn="1"/>
            </p:nvSpPr>
            <p:spPr bwMode="gray">
              <a:xfrm>
                <a:off x="4501356" y="1193800"/>
                <a:ext cx="142875" cy="4896000"/>
              </a:xfrm>
              <a:prstGeom prst="rect">
                <a:avLst/>
              </a:prstGeom>
              <a:noFill/>
              <a:ln w="6350" cap="flat" cmpd="sng" algn="ctr">
                <a:solidFill>
                  <a:srgbClr val="C84E00"/>
                </a:solidFill>
                <a:prstDash val="dash"/>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sp>
            <p:nvSpPr>
              <p:cNvPr id="22" name="Rectangle 23"/>
              <p:cNvSpPr>
                <a:spLocks noChangeArrowheads="1"/>
              </p:cNvSpPr>
              <p:nvPr userDrawn="1"/>
            </p:nvSpPr>
            <p:spPr bwMode="gray">
              <a:xfrm>
                <a:off x="6696917" y="1193800"/>
                <a:ext cx="142875" cy="4896000"/>
              </a:xfrm>
              <a:prstGeom prst="rect">
                <a:avLst/>
              </a:prstGeom>
              <a:noFill/>
              <a:ln w="6350" cap="flat" cmpd="sng" algn="ctr">
                <a:solidFill>
                  <a:srgbClr val="C84E00"/>
                </a:solidFill>
                <a:prstDash val="dash"/>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grpSp>
      </p:grpSp>
      <p:sp>
        <p:nvSpPr>
          <p:cNvPr id="6" name="Title 5"/>
          <p:cNvSpPr>
            <a:spLocks noGrp="1"/>
          </p:cNvSpPr>
          <p:nvPr userDrawn="1">
            <p:ph type="title"/>
          </p:nvPr>
        </p:nvSpPr>
        <p:spPr bwMode="gray"/>
        <p:txBody>
          <a:bodyPr>
            <a:noAutofit/>
          </a:bodyPr>
          <a:lstStyle/>
          <a:p>
            <a:r>
              <a:rPr lang="en-US" smtClean="0"/>
              <a:t>Click to edit Master title style</a:t>
            </a:r>
            <a:endParaRPr lang="en-GB"/>
          </a:p>
        </p:txBody>
      </p:sp>
      <p:sp>
        <p:nvSpPr>
          <p:cNvPr id="34" name="Text Placeholder 33"/>
          <p:cNvSpPr>
            <a:spLocks noGrp="1"/>
          </p:cNvSpPr>
          <p:nvPr userDrawn="1">
            <p:ph type="body" sz="quarter" idx="10"/>
          </p:nvPr>
        </p:nvSpPr>
        <p:spPr bwMode="gray">
          <a:xfrm>
            <a:off x="251520" y="1196752"/>
            <a:ext cx="8640960" cy="4896543"/>
          </a:xfrm>
        </p:spPr>
        <p:txBody>
          <a:bodyPr>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4" name="Line 33"/>
          <p:cNvSpPr>
            <a:spLocks noChangeShapeType="1"/>
          </p:cNvSpPr>
          <p:nvPr userDrawn="1"/>
        </p:nvSpPr>
        <p:spPr bwMode="gray">
          <a:xfrm>
            <a:off x="0" y="6381328"/>
            <a:ext cx="9136674" cy="0"/>
          </a:xfrm>
          <a:prstGeom prst="line">
            <a:avLst/>
          </a:prstGeom>
          <a:noFill/>
          <a:ln w="6350">
            <a:solidFill>
              <a:srgbClr val="97989A"/>
            </a:solidFill>
            <a:miter lim="800000"/>
            <a:headEnd/>
            <a:tailEnd/>
          </a:ln>
        </p:spPr>
        <p:txBody>
          <a:bodyPr>
            <a:noAutofit/>
          </a:bodyPr>
          <a:lstStyle/>
          <a:p>
            <a:endParaRPr lang="en-GB" dirty="0"/>
          </a:p>
        </p:txBody>
      </p:sp>
      <p:sp>
        <p:nvSpPr>
          <p:cNvPr id="15" name="Line 31"/>
          <p:cNvSpPr>
            <a:spLocks noChangeShapeType="1"/>
          </p:cNvSpPr>
          <p:nvPr userDrawn="1"/>
        </p:nvSpPr>
        <p:spPr bwMode="gray">
          <a:xfrm>
            <a:off x="0" y="908720"/>
            <a:ext cx="9136674" cy="0"/>
          </a:xfrm>
          <a:prstGeom prst="line">
            <a:avLst/>
          </a:prstGeom>
          <a:noFill/>
          <a:ln w="6350">
            <a:solidFill>
              <a:srgbClr val="97989A"/>
            </a:solidFill>
            <a:miter lim="800000"/>
            <a:headEnd/>
            <a:tailEnd/>
          </a:ln>
        </p:spPr>
        <p:txBody>
          <a:bodyPr>
            <a:noAutofit/>
          </a:bodyPr>
          <a:lstStyle/>
          <a:p>
            <a:endParaRPr lang="en-GB"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ppendix Title and Two Columns">
    <p:spTree>
      <p:nvGrpSpPr>
        <p:cNvPr id="1" name=""/>
        <p:cNvGrpSpPr/>
        <p:nvPr/>
      </p:nvGrpSpPr>
      <p:grpSpPr>
        <a:xfrm>
          <a:off x="0" y="0"/>
          <a:ext cx="0" cy="0"/>
          <a:chOff x="0" y="0"/>
          <a:chExt cx="0" cy="0"/>
        </a:xfrm>
      </p:grpSpPr>
      <p:grpSp>
        <p:nvGrpSpPr>
          <p:cNvPr id="2" name="Group 32"/>
          <p:cNvGrpSpPr/>
          <p:nvPr userDrawn="1"/>
        </p:nvGrpSpPr>
        <p:grpSpPr bwMode="gray">
          <a:xfrm>
            <a:off x="251521" y="1193800"/>
            <a:ext cx="8640960" cy="4899496"/>
            <a:chOff x="251521" y="1193800"/>
            <a:chExt cx="8640960" cy="4899496"/>
          </a:xfrm>
        </p:grpSpPr>
        <p:sp>
          <p:nvSpPr>
            <p:cNvPr id="34" name="TextBox 33"/>
            <p:cNvSpPr txBox="1"/>
            <p:nvPr userDrawn="1"/>
          </p:nvSpPr>
          <p:spPr bwMode="gray">
            <a:xfrm>
              <a:off x="5436096" y="5912871"/>
              <a:ext cx="3455377" cy="180425"/>
            </a:xfrm>
            <a:prstGeom prst="rect">
              <a:avLst/>
            </a:prstGeom>
            <a:noFill/>
          </p:spPr>
          <p:txBody>
            <a:bodyPr wrap="square" lIns="36000" tIns="36000" rIns="36000" bIns="36000" rtlCol="0" anchor="b" anchorCtr="0">
              <a:noAutofit/>
            </a:bodyPr>
            <a:lstStyle/>
            <a:p>
              <a:pPr algn="r"/>
              <a:r>
                <a:rPr lang="en-GB" sz="700" dirty="0" smtClean="0">
                  <a:solidFill>
                    <a:srgbClr val="C84E00"/>
                  </a:solidFill>
                </a:rPr>
                <a:t>Appendix</a:t>
              </a:r>
              <a:r>
                <a:rPr lang="en-GB" sz="700" baseline="0" dirty="0" smtClean="0">
                  <a:solidFill>
                    <a:srgbClr val="C84E00"/>
                  </a:solidFill>
                </a:rPr>
                <a:t> layout grid: to remove go to slide Master select Grid object and delete</a:t>
              </a:r>
              <a:endParaRPr lang="en-GB" sz="700" dirty="0">
                <a:solidFill>
                  <a:srgbClr val="C84E00"/>
                </a:solidFill>
              </a:endParaRPr>
            </a:p>
          </p:txBody>
        </p:sp>
        <p:grpSp>
          <p:nvGrpSpPr>
            <p:cNvPr id="3" name="Group 15"/>
            <p:cNvGrpSpPr/>
            <p:nvPr userDrawn="1"/>
          </p:nvGrpSpPr>
          <p:grpSpPr bwMode="gray">
            <a:xfrm>
              <a:off x="251521" y="1193800"/>
              <a:ext cx="8640960" cy="4896000"/>
              <a:chOff x="251521" y="1193800"/>
              <a:chExt cx="8640960" cy="4896000"/>
            </a:xfrm>
          </p:grpSpPr>
          <p:sp>
            <p:nvSpPr>
              <p:cNvPr id="36" name="Rectangle 18"/>
              <p:cNvSpPr>
                <a:spLocks noChangeArrowheads="1"/>
              </p:cNvSpPr>
              <p:nvPr userDrawn="1"/>
            </p:nvSpPr>
            <p:spPr bwMode="gray">
              <a:xfrm>
                <a:off x="251521" y="1193800"/>
                <a:ext cx="8640960" cy="4894263"/>
              </a:xfrm>
              <a:prstGeom prst="rect">
                <a:avLst/>
              </a:prstGeom>
              <a:noFill/>
              <a:ln w="6350" cap="flat" cmpd="sng" algn="ctr">
                <a:solidFill>
                  <a:srgbClr val="C84E00"/>
                </a:solidFill>
                <a:prstDash val="dash"/>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sp>
            <p:nvSpPr>
              <p:cNvPr id="37" name="Rectangle 19"/>
              <p:cNvSpPr>
                <a:spLocks noChangeArrowheads="1"/>
              </p:cNvSpPr>
              <p:nvPr userDrawn="1"/>
            </p:nvSpPr>
            <p:spPr bwMode="gray">
              <a:xfrm>
                <a:off x="251521" y="3568700"/>
                <a:ext cx="8640960" cy="144463"/>
              </a:xfrm>
              <a:prstGeom prst="rect">
                <a:avLst/>
              </a:prstGeom>
              <a:noFill/>
              <a:ln w="6350" cap="flat" cmpd="sng" algn="ctr">
                <a:solidFill>
                  <a:srgbClr val="C84E00"/>
                </a:solidFill>
                <a:prstDash val="dash"/>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sp>
            <p:nvSpPr>
              <p:cNvPr id="38" name="Rectangle 20"/>
              <p:cNvSpPr>
                <a:spLocks noChangeArrowheads="1"/>
              </p:cNvSpPr>
              <p:nvPr userDrawn="1"/>
            </p:nvSpPr>
            <p:spPr bwMode="gray">
              <a:xfrm>
                <a:off x="2304207" y="1193800"/>
                <a:ext cx="144463" cy="4896000"/>
              </a:xfrm>
              <a:prstGeom prst="rect">
                <a:avLst/>
              </a:prstGeom>
              <a:noFill/>
              <a:ln w="6350" cap="flat" cmpd="sng" algn="ctr">
                <a:solidFill>
                  <a:srgbClr val="C84E00"/>
                </a:solidFill>
                <a:prstDash val="dash"/>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sp>
            <p:nvSpPr>
              <p:cNvPr id="39" name="Rectangle 22"/>
              <p:cNvSpPr>
                <a:spLocks noChangeArrowheads="1"/>
              </p:cNvSpPr>
              <p:nvPr userDrawn="1"/>
            </p:nvSpPr>
            <p:spPr bwMode="gray">
              <a:xfrm>
                <a:off x="4501356" y="1193800"/>
                <a:ext cx="142875" cy="4896000"/>
              </a:xfrm>
              <a:prstGeom prst="rect">
                <a:avLst/>
              </a:prstGeom>
              <a:noFill/>
              <a:ln w="6350" cap="flat" cmpd="sng" algn="ctr">
                <a:solidFill>
                  <a:srgbClr val="C84E00"/>
                </a:solidFill>
                <a:prstDash val="dash"/>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sp>
            <p:nvSpPr>
              <p:cNvPr id="40" name="Rectangle 23"/>
              <p:cNvSpPr>
                <a:spLocks noChangeArrowheads="1"/>
              </p:cNvSpPr>
              <p:nvPr userDrawn="1"/>
            </p:nvSpPr>
            <p:spPr bwMode="gray">
              <a:xfrm>
                <a:off x="6696917" y="1193800"/>
                <a:ext cx="142875" cy="4896000"/>
              </a:xfrm>
              <a:prstGeom prst="rect">
                <a:avLst/>
              </a:prstGeom>
              <a:noFill/>
              <a:ln w="6350" cap="flat" cmpd="sng" algn="ctr">
                <a:solidFill>
                  <a:srgbClr val="C84E00"/>
                </a:solidFill>
                <a:prstDash val="dash"/>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grpSp>
      </p:grpSp>
      <p:sp>
        <p:nvSpPr>
          <p:cNvPr id="41" name="Text Placeholder 33"/>
          <p:cNvSpPr>
            <a:spLocks noGrp="1"/>
          </p:cNvSpPr>
          <p:nvPr>
            <p:ph type="body" sz="quarter" idx="12"/>
          </p:nvPr>
        </p:nvSpPr>
        <p:spPr bwMode="gray">
          <a:xfrm>
            <a:off x="4644008" y="1196753"/>
            <a:ext cx="4248471" cy="4896543"/>
          </a:xfrm>
        </p:spPr>
        <p:txBody>
          <a:bodyPr>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6" name="Title 5"/>
          <p:cNvSpPr>
            <a:spLocks noGrp="1"/>
          </p:cNvSpPr>
          <p:nvPr>
            <p:ph type="title"/>
          </p:nvPr>
        </p:nvSpPr>
        <p:spPr bwMode="gray"/>
        <p:txBody>
          <a:bodyPr>
            <a:noAutofit/>
          </a:bodyPr>
          <a:lstStyle/>
          <a:p>
            <a:r>
              <a:rPr lang="en-US" smtClean="0"/>
              <a:t>Click to edit Master title style</a:t>
            </a:r>
            <a:endParaRPr lang="en-GB"/>
          </a:p>
        </p:txBody>
      </p:sp>
      <p:sp>
        <p:nvSpPr>
          <p:cNvPr id="28" name="Text Placeholder 33"/>
          <p:cNvSpPr>
            <a:spLocks noGrp="1"/>
          </p:cNvSpPr>
          <p:nvPr>
            <p:ph type="body" sz="quarter" idx="10"/>
          </p:nvPr>
        </p:nvSpPr>
        <p:spPr bwMode="gray">
          <a:xfrm>
            <a:off x="251520" y="1196753"/>
            <a:ext cx="4248471" cy="4896543"/>
          </a:xfrm>
        </p:spPr>
        <p:txBody>
          <a:bodyPr>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5" name="Line 33"/>
          <p:cNvSpPr>
            <a:spLocks noChangeShapeType="1"/>
          </p:cNvSpPr>
          <p:nvPr userDrawn="1"/>
        </p:nvSpPr>
        <p:spPr bwMode="gray">
          <a:xfrm>
            <a:off x="0" y="6381328"/>
            <a:ext cx="9136674" cy="0"/>
          </a:xfrm>
          <a:prstGeom prst="line">
            <a:avLst/>
          </a:prstGeom>
          <a:noFill/>
          <a:ln w="6350">
            <a:solidFill>
              <a:srgbClr val="97989A"/>
            </a:solidFill>
            <a:miter lim="800000"/>
            <a:headEnd/>
            <a:tailEnd/>
          </a:ln>
        </p:spPr>
        <p:txBody>
          <a:bodyPr>
            <a:noAutofit/>
          </a:bodyPr>
          <a:lstStyle/>
          <a:p>
            <a:endParaRPr lang="en-GB" dirty="0"/>
          </a:p>
        </p:txBody>
      </p:sp>
      <p:sp>
        <p:nvSpPr>
          <p:cNvPr id="16" name="Line 31"/>
          <p:cNvSpPr>
            <a:spLocks noChangeShapeType="1"/>
          </p:cNvSpPr>
          <p:nvPr userDrawn="1"/>
        </p:nvSpPr>
        <p:spPr bwMode="gray">
          <a:xfrm>
            <a:off x="0" y="908720"/>
            <a:ext cx="9136674" cy="0"/>
          </a:xfrm>
          <a:prstGeom prst="line">
            <a:avLst/>
          </a:prstGeom>
          <a:noFill/>
          <a:ln w="6350">
            <a:solidFill>
              <a:srgbClr val="97989A"/>
            </a:solidFill>
            <a:miter lim="800000"/>
            <a:headEnd/>
            <a:tailEnd/>
          </a:ln>
        </p:spPr>
        <p:txBody>
          <a:bodyPr>
            <a:noAutofit/>
          </a:bodyPr>
          <a:lstStyle/>
          <a:p>
            <a:endParaRPr lang="en-GB"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ppendix Title Only">
    <p:spTree>
      <p:nvGrpSpPr>
        <p:cNvPr id="1" name=""/>
        <p:cNvGrpSpPr/>
        <p:nvPr/>
      </p:nvGrpSpPr>
      <p:grpSpPr>
        <a:xfrm>
          <a:off x="0" y="0"/>
          <a:ext cx="0" cy="0"/>
          <a:chOff x="0" y="0"/>
          <a:chExt cx="0" cy="0"/>
        </a:xfrm>
      </p:grpSpPr>
      <p:sp>
        <p:nvSpPr>
          <p:cNvPr id="3" name="Title 2"/>
          <p:cNvSpPr>
            <a:spLocks noGrp="1"/>
          </p:cNvSpPr>
          <p:nvPr>
            <p:ph type="title"/>
          </p:nvPr>
        </p:nvSpPr>
        <p:spPr bwMode="gray"/>
        <p:txBody>
          <a:bodyPr>
            <a:noAutofit/>
          </a:bodyPr>
          <a:lstStyle/>
          <a:p>
            <a:r>
              <a:rPr lang="en-US" smtClean="0"/>
              <a:t>Click to edit Master title style</a:t>
            </a:r>
            <a:endParaRPr lang="en-GB" dirty="0"/>
          </a:p>
        </p:txBody>
      </p:sp>
      <p:sp>
        <p:nvSpPr>
          <p:cNvPr id="13" name="Line 33"/>
          <p:cNvSpPr>
            <a:spLocks noChangeShapeType="1"/>
          </p:cNvSpPr>
          <p:nvPr userDrawn="1"/>
        </p:nvSpPr>
        <p:spPr bwMode="gray">
          <a:xfrm>
            <a:off x="0" y="6381328"/>
            <a:ext cx="9136674" cy="0"/>
          </a:xfrm>
          <a:prstGeom prst="line">
            <a:avLst/>
          </a:prstGeom>
          <a:noFill/>
          <a:ln w="6350">
            <a:solidFill>
              <a:srgbClr val="97989A"/>
            </a:solidFill>
            <a:miter lim="800000"/>
            <a:headEnd/>
            <a:tailEnd/>
          </a:ln>
        </p:spPr>
        <p:txBody>
          <a:bodyPr>
            <a:noAutofit/>
          </a:bodyPr>
          <a:lstStyle/>
          <a:p>
            <a:endParaRPr lang="en-GB" dirty="0"/>
          </a:p>
        </p:txBody>
      </p:sp>
      <p:sp>
        <p:nvSpPr>
          <p:cNvPr id="14" name="Line 31"/>
          <p:cNvSpPr>
            <a:spLocks noChangeShapeType="1"/>
          </p:cNvSpPr>
          <p:nvPr userDrawn="1"/>
        </p:nvSpPr>
        <p:spPr bwMode="gray">
          <a:xfrm>
            <a:off x="0" y="908720"/>
            <a:ext cx="9136674" cy="0"/>
          </a:xfrm>
          <a:prstGeom prst="line">
            <a:avLst/>
          </a:prstGeom>
          <a:noFill/>
          <a:ln w="6350">
            <a:solidFill>
              <a:srgbClr val="97989A"/>
            </a:solidFill>
            <a:miter lim="800000"/>
            <a:headEnd/>
            <a:tailEnd/>
          </a:ln>
        </p:spPr>
        <p:txBody>
          <a:bodyPr>
            <a:noAutofit/>
          </a:bodyPr>
          <a:lstStyle/>
          <a:p>
            <a:endParaRPr lang="en-GB" dirty="0"/>
          </a:p>
        </p:txBody>
      </p:sp>
      <p:grpSp>
        <p:nvGrpSpPr>
          <p:cNvPr id="2" name="Group 21"/>
          <p:cNvGrpSpPr/>
          <p:nvPr userDrawn="1"/>
        </p:nvGrpSpPr>
        <p:grpSpPr bwMode="gray">
          <a:xfrm>
            <a:off x="251521" y="1193800"/>
            <a:ext cx="8640960" cy="4899496"/>
            <a:chOff x="251521" y="1193800"/>
            <a:chExt cx="8640960" cy="4899496"/>
          </a:xfrm>
        </p:grpSpPr>
        <p:sp>
          <p:nvSpPr>
            <p:cNvPr id="31" name="TextBox 30"/>
            <p:cNvSpPr txBox="1"/>
            <p:nvPr userDrawn="1"/>
          </p:nvSpPr>
          <p:spPr bwMode="gray">
            <a:xfrm>
              <a:off x="5436096" y="5912871"/>
              <a:ext cx="3455377" cy="180425"/>
            </a:xfrm>
            <a:prstGeom prst="rect">
              <a:avLst/>
            </a:prstGeom>
            <a:noFill/>
          </p:spPr>
          <p:txBody>
            <a:bodyPr wrap="square" lIns="36000" tIns="36000" rIns="36000" bIns="36000" rtlCol="0" anchor="b" anchorCtr="0">
              <a:noAutofit/>
            </a:bodyPr>
            <a:lstStyle/>
            <a:p>
              <a:pPr algn="r"/>
              <a:r>
                <a:rPr lang="en-GB" sz="700" dirty="0" smtClean="0">
                  <a:solidFill>
                    <a:srgbClr val="C84E00"/>
                  </a:solidFill>
                </a:rPr>
                <a:t>Appendix</a:t>
              </a:r>
              <a:r>
                <a:rPr lang="en-GB" sz="700" baseline="0" dirty="0" smtClean="0">
                  <a:solidFill>
                    <a:srgbClr val="C84E00"/>
                  </a:solidFill>
                </a:rPr>
                <a:t> layout grid: to remove go to slide Master select Grid object and delete</a:t>
              </a:r>
              <a:endParaRPr lang="en-GB" sz="700" dirty="0">
                <a:solidFill>
                  <a:srgbClr val="C84E00"/>
                </a:solidFill>
              </a:endParaRPr>
            </a:p>
          </p:txBody>
        </p:sp>
        <p:grpSp>
          <p:nvGrpSpPr>
            <p:cNvPr id="4" name="Group 15"/>
            <p:cNvGrpSpPr/>
            <p:nvPr userDrawn="1"/>
          </p:nvGrpSpPr>
          <p:grpSpPr bwMode="gray">
            <a:xfrm>
              <a:off x="251521" y="1193800"/>
              <a:ext cx="8640960" cy="4896000"/>
              <a:chOff x="251521" y="1193800"/>
              <a:chExt cx="8640960" cy="4896000"/>
            </a:xfrm>
          </p:grpSpPr>
          <p:sp>
            <p:nvSpPr>
              <p:cNvPr id="33" name="Rectangle 18"/>
              <p:cNvSpPr>
                <a:spLocks noChangeArrowheads="1"/>
              </p:cNvSpPr>
              <p:nvPr userDrawn="1"/>
            </p:nvSpPr>
            <p:spPr bwMode="gray">
              <a:xfrm>
                <a:off x="251521" y="1193800"/>
                <a:ext cx="8640960" cy="4894263"/>
              </a:xfrm>
              <a:prstGeom prst="rect">
                <a:avLst/>
              </a:prstGeom>
              <a:noFill/>
              <a:ln w="6350" cap="flat" cmpd="sng" algn="ctr">
                <a:solidFill>
                  <a:srgbClr val="C84E00"/>
                </a:solidFill>
                <a:prstDash val="dash"/>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sp>
            <p:nvSpPr>
              <p:cNvPr id="34" name="Rectangle 19"/>
              <p:cNvSpPr>
                <a:spLocks noChangeArrowheads="1"/>
              </p:cNvSpPr>
              <p:nvPr userDrawn="1"/>
            </p:nvSpPr>
            <p:spPr bwMode="gray">
              <a:xfrm>
                <a:off x="251521" y="3568700"/>
                <a:ext cx="8640960" cy="144463"/>
              </a:xfrm>
              <a:prstGeom prst="rect">
                <a:avLst/>
              </a:prstGeom>
              <a:noFill/>
              <a:ln w="6350" cap="flat" cmpd="sng" algn="ctr">
                <a:solidFill>
                  <a:srgbClr val="C84E00"/>
                </a:solidFill>
                <a:prstDash val="dash"/>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sp>
            <p:nvSpPr>
              <p:cNvPr id="35" name="Rectangle 20"/>
              <p:cNvSpPr>
                <a:spLocks noChangeArrowheads="1"/>
              </p:cNvSpPr>
              <p:nvPr userDrawn="1"/>
            </p:nvSpPr>
            <p:spPr bwMode="gray">
              <a:xfrm>
                <a:off x="2304207" y="1193800"/>
                <a:ext cx="144463" cy="4896000"/>
              </a:xfrm>
              <a:prstGeom prst="rect">
                <a:avLst/>
              </a:prstGeom>
              <a:noFill/>
              <a:ln w="6350" cap="flat" cmpd="sng" algn="ctr">
                <a:solidFill>
                  <a:srgbClr val="C84E00"/>
                </a:solidFill>
                <a:prstDash val="dash"/>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sp>
            <p:nvSpPr>
              <p:cNvPr id="36" name="Rectangle 22"/>
              <p:cNvSpPr>
                <a:spLocks noChangeArrowheads="1"/>
              </p:cNvSpPr>
              <p:nvPr userDrawn="1"/>
            </p:nvSpPr>
            <p:spPr bwMode="gray">
              <a:xfrm>
                <a:off x="4501356" y="1193800"/>
                <a:ext cx="142875" cy="4896000"/>
              </a:xfrm>
              <a:prstGeom prst="rect">
                <a:avLst/>
              </a:prstGeom>
              <a:noFill/>
              <a:ln w="6350" cap="flat" cmpd="sng" algn="ctr">
                <a:solidFill>
                  <a:srgbClr val="C84E00"/>
                </a:solidFill>
                <a:prstDash val="dash"/>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sp>
            <p:nvSpPr>
              <p:cNvPr id="37" name="Rectangle 23"/>
              <p:cNvSpPr>
                <a:spLocks noChangeArrowheads="1"/>
              </p:cNvSpPr>
              <p:nvPr userDrawn="1"/>
            </p:nvSpPr>
            <p:spPr bwMode="gray">
              <a:xfrm>
                <a:off x="6696917" y="1193800"/>
                <a:ext cx="142875" cy="4896000"/>
              </a:xfrm>
              <a:prstGeom prst="rect">
                <a:avLst/>
              </a:prstGeom>
              <a:noFill/>
              <a:ln w="6350" cap="flat" cmpd="sng" algn="ctr">
                <a:solidFill>
                  <a:srgbClr val="C84E00"/>
                </a:solidFill>
                <a:prstDash val="dash"/>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Blank no background items">
    <p:spTree>
      <p:nvGrpSpPr>
        <p:cNvPr id="1" name=""/>
        <p:cNvGrpSpPr/>
        <p:nvPr/>
      </p:nvGrpSpPr>
      <p:grpSpPr>
        <a:xfrm>
          <a:off x="0" y="0"/>
          <a:ext cx="0" cy="0"/>
          <a:chOff x="0" y="0"/>
          <a:chExt cx="0" cy="0"/>
        </a:xfrm>
      </p:grpSpPr>
      <p:grpSp>
        <p:nvGrpSpPr>
          <p:cNvPr id="2" name="Group 8"/>
          <p:cNvGrpSpPr/>
          <p:nvPr userDrawn="1"/>
        </p:nvGrpSpPr>
        <p:grpSpPr bwMode="gray">
          <a:xfrm>
            <a:off x="251521" y="1193800"/>
            <a:ext cx="8640960" cy="4899496"/>
            <a:chOff x="251521" y="1193800"/>
            <a:chExt cx="8640960" cy="4899496"/>
          </a:xfrm>
        </p:grpSpPr>
        <p:grpSp>
          <p:nvGrpSpPr>
            <p:cNvPr id="3" name="Group 22"/>
            <p:cNvGrpSpPr/>
            <p:nvPr userDrawn="1"/>
          </p:nvGrpSpPr>
          <p:grpSpPr bwMode="gray">
            <a:xfrm>
              <a:off x="251521" y="1193800"/>
              <a:ext cx="8640960" cy="4896000"/>
              <a:chOff x="251521" y="1193800"/>
              <a:chExt cx="8640960" cy="4896000"/>
            </a:xfrm>
          </p:grpSpPr>
          <p:sp>
            <p:nvSpPr>
              <p:cNvPr id="17" name="Rectangle 18"/>
              <p:cNvSpPr>
                <a:spLocks noChangeArrowheads="1"/>
              </p:cNvSpPr>
              <p:nvPr userDrawn="1"/>
            </p:nvSpPr>
            <p:spPr bwMode="gray">
              <a:xfrm>
                <a:off x="251521" y="1193800"/>
                <a:ext cx="8640960" cy="4894263"/>
              </a:xfrm>
              <a:prstGeom prst="rect">
                <a:avLst/>
              </a:prstGeom>
              <a:noFill/>
              <a:ln w="6350" cap="flat" cmpd="sng" algn="ctr">
                <a:solidFill>
                  <a:srgbClr val="C84E00"/>
                </a:solidFill>
                <a:prstDash val="dash"/>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sp>
            <p:nvSpPr>
              <p:cNvPr id="18" name="Rectangle 19"/>
              <p:cNvSpPr>
                <a:spLocks noChangeArrowheads="1"/>
              </p:cNvSpPr>
              <p:nvPr userDrawn="1"/>
            </p:nvSpPr>
            <p:spPr bwMode="gray">
              <a:xfrm>
                <a:off x="251521" y="3568700"/>
                <a:ext cx="8640960" cy="144463"/>
              </a:xfrm>
              <a:prstGeom prst="rect">
                <a:avLst/>
              </a:prstGeom>
              <a:noFill/>
              <a:ln w="6350" cap="flat" cmpd="sng" algn="ctr">
                <a:solidFill>
                  <a:srgbClr val="C84E00"/>
                </a:solidFill>
                <a:prstDash val="dash"/>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sp>
            <p:nvSpPr>
              <p:cNvPr id="19" name="Rectangle 20"/>
              <p:cNvSpPr>
                <a:spLocks noChangeArrowheads="1"/>
              </p:cNvSpPr>
              <p:nvPr userDrawn="1"/>
            </p:nvSpPr>
            <p:spPr bwMode="gray">
              <a:xfrm>
                <a:off x="2304207" y="1193800"/>
                <a:ext cx="144463" cy="4896000"/>
              </a:xfrm>
              <a:prstGeom prst="rect">
                <a:avLst/>
              </a:prstGeom>
              <a:noFill/>
              <a:ln w="6350" cap="flat" cmpd="sng" algn="ctr">
                <a:solidFill>
                  <a:srgbClr val="C84E00"/>
                </a:solidFill>
                <a:prstDash val="dash"/>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sp>
            <p:nvSpPr>
              <p:cNvPr id="21" name="Rectangle 22"/>
              <p:cNvSpPr>
                <a:spLocks noChangeArrowheads="1"/>
              </p:cNvSpPr>
              <p:nvPr userDrawn="1"/>
            </p:nvSpPr>
            <p:spPr bwMode="gray">
              <a:xfrm>
                <a:off x="4501356" y="1193800"/>
                <a:ext cx="142875" cy="4896000"/>
              </a:xfrm>
              <a:prstGeom prst="rect">
                <a:avLst/>
              </a:prstGeom>
              <a:noFill/>
              <a:ln w="6350" cap="flat" cmpd="sng" algn="ctr">
                <a:solidFill>
                  <a:srgbClr val="C84E00"/>
                </a:solidFill>
                <a:prstDash val="dash"/>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sp>
            <p:nvSpPr>
              <p:cNvPr id="22" name="Rectangle 23"/>
              <p:cNvSpPr>
                <a:spLocks noChangeArrowheads="1"/>
              </p:cNvSpPr>
              <p:nvPr userDrawn="1"/>
            </p:nvSpPr>
            <p:spPr bwMode="gray">
              <a:xfrm>
                <a:off x="6696917" y="1193800"/>
                <a:ext cx="142875" cy="4896000"/>
              </a:xfrm>
              <a:prstGeom prst="rect">
                <a:avLst/>
              </a:prstGeom>
              <a:noFill/>
              <a:ln w="6350" cap="flat" cmpd="sng" algn="ctr">
                <a:solidFill>
                  <a:srgbClr val="C84E00"/>
                </a:solidFill>
                <a:prstDash val="dash"/>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grpSp>
        <p:sp>
          <p:nvSpPr>
            <p:cNvPr id="8" name="TextBox 7"/>
            <p:cNvSpPr txBox="1"/>
            <p:nvPr userDrawn="1"/>
          </p:nvSpPr>
          <p:spPr bwMode="gray">
            <a:xfrm>
              <a:off x="5436096" y="5912871"/>
              <a:ext cx="3455377" cy="180425"/>
            </a:xfrm>
            <a:prstGeom prst="rect">
              <a:avLst/>
            </a:prstGeom>
            <a:noFill/>
          </p:spPr>
          <p:txBody>
            <a:bodyPr wrap="square" lIns="36000" tIns="36000" rIns="36000" bIns="36000" rtlCol="0" anchor="b" anchorCtr="0">
              <a:noAutofit/>
            </a:bodyPr>
            <a:lstStyle/>
            <a:p>
              <a:pPr algn="r"/>
              <a:r>
                <a:rPr lang="en-GB" sz="700" dirty="0" smtClean="0">
                  <a:solidFill>
                    <a:srgbClr val="C84E00"/>
                  </a:solidFill>
                </a:rPr>
                <a:t>Appendix</a:t>
              </a:r>
              <a:r>
                <a:rPr lang="en-GB" sz="700" baseline="0" dirty="0" smtClean="0">
                  <a:solidFill>
                    <a:srgbClr val="C84E00"/>
                  </a:solidFill>
                </a:rPr>
                <a:t> layout grid: to remove go to slide Master select Grid object and delete</a:t>
              </a:r>
              <a:endParaRPr lang="en-GB" sz="700" dirty="0">
                <a:solidFill>
                  <a:srgbClr val="C84E00"/>
                </a:solidFill>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No Key Issues Box">
    <p:spTree>
      <p:nvGrpSpPr>
        <p:cNvPr id="1" name=""/>
        <p:cNvGrpSpPr/>
        <p:nvPr/>
      </p:nvGrpSpPr>
      <p:grpSpPr>
        <a:xfrm>
          <a:off x="0" y="0"/>
          <a:ext cx="0" cy="0"/>
          <a:chOff x="0" y="0"/>
          <a:chExt cx="0" cy="0"/>
        </a:xfrm>
      </p:grpSpPr>
      <p:sp>
        <p:nvSpPr>
          <p:cNvPr id="6" name="Title 5"/>
          <p:cNvSpPr>
            <a:spLocks noGrp="1"/>
          </p:cNvSpPr>
          <p:nvPr>
            <p:ph type="title"/>
          </p:nvPr>
        </p:nvSpPr>
        <p:spPr bwMode="gray">
          <a:xfrm>
            <a:off x="2123728" y="116632"/>
            <a:ext cx="6768226" cy="576064"/>
          </a:xfrm>
        </p:spPr>
        <p:txBody>
          <a:bodyPr>
            <a:noAutofit/>
          </a:bodyPr>
          <a:lstStyle/>
          <a:p>
            <a:pPr lvl="0"/>
            <a:r>
              <a:rPr lang="en-US" smtClean="0"/>
              <a:t>Click to edit Master title style</a:t>
            </a:r>
            <a:endParaRPr lang="en-GB" dirty="0"/>
          </a:p>
        </p:txBody>
      </p:sp>
      <p:sp>
        <p:nvSpPr>
          <p:cNvPr id="26" name="Text Placeholder 25"/>
          <p:cNvSpPr>
            <a:spLocks noGrp="1"/>
          </p:cNvSpPr>
          <p:nvPr>
            <p:ph type="body" sz="quarter" idx="13"/>
          </p:nvPr>
        </p:nvSpPr>
        <p:spPr bwMode="gray">
          <a:xfrm>
            <a:off x="2123729" y="1196752"/>
            <a:ext cx="3312367" cy="4896544"/>
          </a:xfrm>
        </p:spPr>
        <p:txBody>
          <a:bodyPr>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28" name="Text Placeholder 27"/>
          <p:cNvSpPr>
            <a:spLocks noGrp="1"/>
          </p:cNvSpPr>
          <p:nvPr>
            <p:ph type="body" sz="quarter" idx="14"/>
          </p:nvPr>
        </p:nvSpPr>
        <p:spPr bwMode="gray">
          <a:xfrm>
            <a:off x="5580112" y="1196752"/>
            <a:ext cx="3312368" cy="4896544"/>
          </a:xfrm>
        </p:spPr>
        <p:txBody>
          <a:bodyPr>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8" name="Line 33"/>
          <p:cNvSpPr>
            <a:spLocks noChangeShapeType="1"/>
          </p:cNvSpPr>
          <p:nvPr userDrawn="1"/>
        </p:nvSpPr>
        <p:spPr bwMode="gray">
          <a:xfrm>
            <a:off x="0" y="6381328"/>
            <a:ext cx="9136674" cy="0"/>
          </a:xfrm>
          <a:prstGeom prst="line">
            <a:avLst/>
          </a:prstGeom>
          <a:noFill/>
          <a:ln w="6350">
            <a:solidFill>
              <a:srgbClr val="97989A"/>
            </a:solidFill>
            <a:miter lim="800000"/>
            <a:headEnd/>
            <a:tailEnd/>
          </a:ln>
        </p:spPr>
        <p:txBody>
          <a:bodyPr>
            <a:noAutofit/>
          </a:bodyPr>
          <a:lstStyle/>
          <a:p>
            <a:endParaRPr lang="en-GB" dirty="0"/>
          </a:p>
        </p:txBody>
      </p:sp>
      <p:sp>
        <p:nvSpPr>
          <p:cNvPr id="9" name="Line 31"/>
          <p:cNvSpPr>
            <a:spLocks noChangeShapeType="1"/>
          </p:cNvSpPr>
          <p:nvPr userDrawn="1"/>
        </p:nvSpPr>
        <p:spPr bwMode="gray">
          <a:xfrm>
            <a:off x="0" y="908720"/>
            <a:ext cx="9136674" cy="0"/>
          </a:xfrm>
          <a:prstGeom prst="line">
            <a:avLst/>
          </a:prstGeom>
          <a:noFill/>
          <a:ln w="6350">
            <a:solidFill>
              <a:srgbClr val="97989A"/>
            </a:solidFill>
            <a:miter lim="800000"/>
            <a:headEnd/>
            <a:tailEnd/>
          </a:ln>
        </p:spPr>
        <p:txBody>
          <a:bodyPr>
            <a:noAutofit/>
          </a:bodyPr>
          <a:lstStyle/>
          <a:p>
            <a:endParaRPr lang="en-GB"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No Key Issues Box Full Page">
    <p:spTree>
      <p:nvGrpSpPr>
        <p:cNvPr id="1" name=""/>
        <p:cNvGrpSpPr/>
        <p:nvPr/>
      </p:nvGrpSpPr>
      <p:grpSpPr>
        <a:xfrm>
          <a:off x="0" y="0"/>
          <a:ext cx="0" cy="0"/>
          <a:chOff x="0" y="0"/>
          <a:chExt cx="0" cy="0"/>
        </a:xfrm>
      </p:grpSpPr>
      <p:sp>
        <p:nvSpPr>
          <p:cNvPr id="6" name="Title 5"/>
          <p:cNvSpPr>
            <a:spLocks noGrp="1"/>
          </p:cNvSpPr>
          <p:nvPr>
            <p:ph type="title"/>
          </p:nvPr>
        </p:nvSpPr>
        <p:spPr bwMode="gray">
          <a:xfrm>
            <a:off x="2123728" y="116632"/>
            <a:ext cx="6768226" cy="576064"/>
          </a:xfrm>
        </p:spPr>
        <p:txBody>
          <a:bodyPr>
            <a:noAutofit/>
          </a:bodyPr>
          <a:lstStyle/>
          <a:p>
            <a:pPr lvl="0"/>
            <a:r>
              <a:rPr lang="en-US" smtClean="0"/>
              <a:t>Click to edit Master title style</a:t>
            </a:r>
            <a:endParaRPr lang="en-GB" dirty="0"/>
          </a:p>
        </p:txBody>
      </p:sp>
      <p:sp>
        <p:nvSpPr>
          <p:cNvPr id="28" name="Text Placeholder 27"/>
          <p:cNvSpPr>
            <a:spLocks noGrp="1"/>
          </p:cNvSpPr>
          <p:nvPr>
            <p:ph type="body" sz="quarter" idx="14"/>
          </p:nvPr>
        </p:nvSpPr>
        <p:spPr bwMode="gray">
          <a:xfrm>
            <a:off x="251520" y="1196752"/>
            <a:ext cx="8640960" cy="4896544"/>
          </a:xfrm>
        </p:spPr>
        <p:txBody>
          <a:bodyPr>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8" name="Line 33"/>
          <p:cNvSpPr>
            <a:spLocks noChangeShapeType="1"/>
          </p:cNvSpPr>
          <p:nvPr userDrawn="1"/>
        </p:nvSpPr>
        <p:spPr bwMode="gray">
          <a:xfrm>
            <a:off x="0" y="6381328"/>
            <a:ext cx="9136674" cy="0"/>
          </a:xfrm>
          <a:prstGeom prst="line">
            <a:avLst/>
          </a:prstGeom>
          <a:noFill/>
          <a:ln w="6350">
            <a:solidFill>
              <a:srgbClr val="97989A"/>
            </a:solidFill>
            <a:miter lim="800000"/>
            <a:headEnd/>
            <a:tailEnd/>
          </a:ln>
        </p:spPr>
        <p:txBody>
          <a:bodyPr>
            <a:noAutofit/>
          </a:bodyPr>
          <a:lstStyle/>
          <a:p>
            <a:endParaRPr lang="en-GB" dirty="0"/>
          </a:p>
        </p:txBody>
      </p:sp>
      <p:sp>
        <p:nvSpPr>
          <p:cNvPr id="9" name="Line 31"/>
          <p:cNvSpPr>
            <a:spLocks noChangeShapeType="1"/>
          </p:cNvSpPr>
          <p:nvPr userDrawn="1"/>
        </p:nvSpPr>
        <p:spPr bwMode="gray">
          <a:xfrm>
            <a:off x="0" y="908720"/>
            <a:ext cx="9136674" cy="0"/>
          </a:xfrm>
          <a:prstGeom prst="line">
            <a:avLst/>
          </a:prstGeom>
          <a:noFill/>
          <a:ln w="6350">
            <a:solidFill>
              <a:srgbClr val="97989A"/>
            </a:solidFill>
            <a:miter lim="800000"/>
            <a:headEnd/>
            <a:tailEnd/>
          </a:ln>
        </p:spPr>
        <p:txBody>
          <a:bodyPr>
            <a:noAutofit/>
          </a:bodyPr>
          <a:lstStyle/>
          <a:p>
            <a:endParaRPr lang="en-GB"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Divider 1">
    <p:spTree>
      <p:nvGrpSpPr>
        <p:cNvPr id="1" name=""/>
        <p:cNvGrpSpPr/>
        <p:nvPr/>
      </p:nvGrpSpPr>
      <p:grpSpPr>
        <a:xfrm>
          <a:off x="0" y="0"/>
          <a:ext cx="0" cy="0"/>
          <a:chOff x="0" y="0"/>
          <a:chExt cx="0" cy="0"/>
        </a:xfrm>
      </p:grpSpPr>
      <p:sp>
        <p:nvSpPr>
          <p:cNvPr id="5" name="Freeform 6"/>
          <p:cNvSpPr>
            <a:spLocks/>
          </p:cNvSpPr>
          <p:nvPr userDrawn="1"/>
        </p:nvSpPr>
        <p:spPr bwMode="gray">
          <a:xfrm>
            <a:off x="0" y="547688"/>
            <a:ext cx="5062538" cy="5043488"/>
          </a:xfrm>
          <a:custGeom>
            <a:avLst/>
            <a:gdLst/>
            <a:ahLst/>
            <a:cxnLst>
              <a:cxn ang="0">
                <a:pos x="3189" y="0"/>
              </a:cxn>
              <a:cxn ang="0">
                <a:pos x="476" y="0"/>
              </a:cxn>
              <a:cxn ang="0">
                <a:pos x="0" y="1608"/>
              </a:cxn>
              <a:cxn ang="0">
                <a:pos x="0" y="3177"/>
              </a:cxn>
              <a:cxn ang="0">
                <a:pos x="2247" y="3177"/>
              </a:cxn>
              <a:cxn ang="0">
                <a:pos x="3189" y="0"/>
              </a:cxn>
            </a:cxnLst>
            <a:rect l="0" t="0" r="r" b="b"/>
            <a:pathLst>
              <a:path w="3189" h="3177">
                <a:moveTo>
                  <a:pt x="3189" y="0"/>
                </a:moveTo>
                <a:lnTo>
                  <a:pt x="476" y="0"/>
                </a:lnTo>
                <a:lnTo>
                  <a:pt x="0" y="1608"/>
                </a:lnTo>
                <a:lnTo>
                  <a:pt x="0" y="3177"/>
                </a:lnTo>
                <a:lnTo>
                  <a:pt x="2247" y="3177"/>
                </a:lnTo>
                <a:lnTo>
                  <a:pt x="3189" y="0"/>
                </a:lnTo>
                <a:close/>
              </a:path>
            </a:pathLst>
          </a:custGeom>
          <a:gradFill flip="none" rotWithShape="1">
            <a:gsLst>
              <a:gs pos="0">
                <a:srgbClr val="00257A">
                  <a:alpha val="90000"/>
                </a:srgbClr>
              </a:gs>
              <a:gs pos="35000">
                <a:srgbClr val="00338D">
                  <a:alpha val="90000"/>
                </a:srgbClr>
              </a:gs>
              <a:gs pos="100000">
                <a:srgbClr val="009FDA">
                  <a:alpha val="90000"/>
                </a:srgbClr>
              </a:gs>
            </a:gsLst>
            <a:lin ang="0" scaled="1"/>
            <a:tileRect/>
          </a:gradFill>
          <a:ln w="9525" cap="flat" cmpd="sng">
            <a:noFill/>
            <a:prstDash val="solid"/>
            <a:round/>
            <a:headEnd type="none" w="med" len="med"/>
            <a:tailEnd type="none" w="med" len="med"/>
          </a:ln>
          <a:effectLst/>
        </p:spPr>
        <p:txBody>
          <a:bodyPr>
            <a:noAutofit/>
          </a:bodyPr>
          <a:lstStyle/>
          <a:p>
            <a:pPr marL="0" algn="l" defTabSz="914400" rtl="0" eaLnBrk="1" latinLnBrk="0" hangingPunct="1">
              <a:spcBef>
                <a:spcPct val="50000"/>
              </a:spcBef>
              <a:defRPr/>
            </a:pPr>
            <a:endParaRPr lang="en-GB" sz="1800" kern="1200" dirty="0">
              <a:solidFill>
                <a:schemeClr val="tx1"/>
              </a:solidFill>
              <a:latin typeface="+mn-lt"/>
              <a:ea typeface="+mn-ea"/>
              <a:cs typeface="+mn-cs"/>
            </a:endParaRPr>
          </a:p>
        </p:txBody>
      </p:sp>
      <p:sp>
        <p:nvSpPr>
          <p:cNvPr id="15" name="Title 9"/>
          <p:cNvSpPr>
            <a:spLocks noGrp="1"/>
          </p:cNvSpPr>
          <p:nvPr>
            <p:ph type="title"/>
          </p:nvPr>
        </p:nvSpPr>
        <p:spPr bwMode="gray">
          <a:xfrm>
            <a:off x="683568" y="1844824"/>
            <a:ext cx="3384375" cy="1943892"/>
          </a:xfrm>
          <a:noFill/>
          <a:ln w="9525">
            <a:noFill/>
            <a:miter lim="800000"/>
            <a:headEnd/>
            <a:tailEnd/>
          </a:ln>
        </p:spPr>
        <p:txBody>
          <a:bodyPr vert="horz" wrap="square" lIns="0" tIns="0" rIns="0" bIns="0" numCol="1" anchor="t" anchorCtr="0" compatLnSpc="1">
            <a:prstTxWarp prst="textNoShape">
              <a:avLst/>
            </a:prstTxWarp>
            <a:noAutofit/>
          </a:bodyPr>
          <a:lstStyle>
            <a:lvl1pPr algn="l" rtl="0" eaLnBrk="1" fontAlgn="base" hangingPunct="1">
              <a:spcBef>
                <a:spcPct val="40000"/>
              </a:spcBef>
              <a:spcAft>
                <a:spcPct val="0"/>
              </a:spcAft>
              <a:defRPr lang="en-GB" sz="3000" b="1" dirty="0" smtClean="0">
                <a:solidFill>
                  <a:schemeClr val="bg1"/>
                </a:solidFill>
                <a:latin typeface="+mj-lt"/>
                <a:ea typeface="+mj-ea"/>
                <a:cs typeface="+mj-cs"/>
              </a:defRPr>
            </a:lvl1pPr>
            <a:lvl2pPr>
              <a:defRPr lang="en-GB" sz="3000" b="1" dirty="0">
                <a:solidFill>
                  <a:schemeClr val="bg1"/>
                </a:solidFill>
                <a:latin typeface="+mj-lt"/>
              </a:defRPr>
            </a:lvl2pPr>
            <a:lvl3pPr>
              <a:defRPr lang="en-GB" sz="3000" b="1" dirty="0">
                <a:solidFill>
                  <a:schemeClr val="bg1"/>
                </a:solidFill>
                <a:latin typeface="+mj-lt"/>
              </a:defRPr>
            </a:lvl3pPr>
            <a:lvl4pPr>
              <a:defRPr lang="en-GB" sz="3000" b="1" dirty="0">
                <a:solidFill>
                  <a:schemeClr val="bg1"/>
                </a:solidFill>
                <a:latin typeface="+mj-lt"/>
              </a:defRPr>
            </a:lvl4pPr>
            <a:lvl5pPr>
              <a:defRPr lang="en-GB" sz="3000" b="1" dirty="0">
                <a:solidFill>
                  <a:schemeClr val="bg1"/>
                </a:solidFill>
                <a:latin typeface="+mj-lt"/>
              </a:defRPr>
            </a:lvl5pPr>
            <a:lvl6pPr>
              <a:defRPr lang="en-GB" sz="3000" b="1" dirty="0">
                <a:solidFill>
                  <a:schemeClr val="bg1"/>
                </a:solidFill>
                <a:latin typeface="+mj-lt"/>
              </a:defRPr>
            </a:lvl6pPr>
            <a:lvl7pPr>
              <a:defRPr lang="en-GB" sz="3000" b="1" dirty="0">
                <a:solidFill>
                  <a:schemeClr val="bg1"/>
                </a:solidFill>
                <a:latin typeface="+mj-lt"/>
              </a:defRPr>
            </a:lvl7pPr>
            <a:lvl8pPr>
              <a:defRPr lang="en-GB" sz="3000" b="1" dirty="0">
                <a:solidFill>
                  <a:schemeClr val="bg1"/>
                </a:solidFill>
                <a:latin typeface="+mj-lt"/>
              </a:defRPr>
            </a:lvl8pPr>
            <a:lvl9pPr>
              <a:defRPr sz="3000">
                <a:solidFill>
                  <a:schemeClr val="bg1"/>
                </a:solidFill>
              </a:defRPr>
            </a:lvl9pPr>
          </a:lstStyle>
          <a:p>
            <a:pPr lvl="0"/>
            <a:r>
              <a:rPr lang="en-US" smtClean="0"/>
              <a:t>Click to edit Master title style</a:t>
            </a:r>
            <a:endParaRPr lang="en-GB" dirty="0"/>
          </a:p>
        </p:txBody>
      </p:sp>
      <p:sp>
        <p:nvSpPr>
          <p:cNvPr id="16" name="Text Placeholder 16"/>
          <p:cNvSpPr>
            <a:spLocks noGrp="1"/>
          </p:cNvSpPr>
          <p:nvPr>
            <p:ph type="body" sz="quarter" idx="10"/>
          </p:nvPr>
        </p:nvSpPr>
        <p:spPr bwMode="gray">
          <a:xfrm>
            <a:off x="683568" y="4005064"/>
            <a:ext cx="3024336" cy="1079500"/>
          </a:xfrm>
          <a:noFill/>
          <a:ln w="9525">
            <a:noFill/>
            <a:miter lim="800000"/>
            <a:headEnd/>
            <a:tailEnd/>
          </a:ln>
        </p:spPr>
        <p:txBody>
          <a:bodyPr vert="horz" wrap="square" lIns="0" tIns="0" rIns="0" bIns="0" numCol="1" anchor="t" anchorCtr="0" compatLnSpc="1">
            <a:prstTxWarp prst="textNoShape">
              <a:avLst/>
            </a:prstTxWarp>
            <a:noAutofit/>
          </a:bodyPr>
          <a:lstStyle>
            <a:lvl1pPr marL="342900" indent="-342900" algn="l" rtl="0" eaLnBrk="1" fontAlgn="base" hangingPunct="1">
              <a:lnSpc>
                <a:spcPct val="110000"/>
              </a:lnSpc>
              <a:spcBef>
                <a:spcPts val="600"/>
              </a:spcBef>
              <a:spcAft>
                <a:spcPct val="0"/>
              </a:spcAft>
              <a:defRPr lang="en-US" sz="1200" b="0" dirty="0" smtClean="0">
                <a:solidFill>
                  <a:schemeClr val="bg1"/>
                </a:solidFill>
                <a:latin typeface="+mn-lt"/>
                <a:ea typeface="+mn-ea"/>
                <a:cs typeface="+mn-cs"/>
              </a:defRPr>
            </a:lvl1pPr>
            <a:lvl2pPr>
              <a:defRPr lang="en-US" sz="1200" b="0" kern="1200" noProof="0" dirty="0" smtClean="0">
                <a:solidFill>
                  <a:schemeClr val="bg1"/>
                </a:solidFill>
                <a:latin typeface="+mn-lt"/>
                <a:ea typeface="+mn-ea"/>
                <a:cs typeface="+mn-cs"/>
              </a:defRPr>
            </a:lvl2pPr>
            <a:lvl3pPr>
              <a:defRPr lang="en-US" sz="1200" b="0" kern="1200" noProof="0" dirty="0" smtClean="0">
                <a:solidFill>
                  <a:schemeClr val="bg1"/>
                </a:solidFill>
                <a:latin typeface="+mn-lt"/>
                <a:ea typeface="+mn-ea"/>
                <a:cs typeface="+mn-cs"/>
              </a:defRPr>
            </a:lvl3pPr>
            <a:lvl4pPr>
              <a:defRPr lang="en-US" sz="1200" b="0" kern="1200" noProof="0" dirty="0" smtClean="0">
                <a:solidFill>
                  <a:schemeClr val="bg1"/>
                </a:solidFill>
                <a:latin typeface="+mn-lt"/>
                <a:ea typeface="+mn-ea"/>
                <a:cs typeface="+mn-cs"/>
              </a:defRPr>
            </a:lvl4pPr>
            <a:lvl5pPr>
              <a:defRPr lang="en-US" sz="1200" b="0" kern="1200" noProof="0" dirty="0" smtClean="0">
                <a:solidFill>
                  <a:schemeClr val="bg1"/>
                </a:solidFill>
                <a:latin typeface="+mn-lt"/>
                <a:ea typeface="+mn-ea"/>
                <a:cs typeface="+mn-cs"/>
              </a:defRPr>
            </a:lvl5pPr>
            <a:lvl6pPr>
              <a:defRPr lang="en-US" sz="1200" b="0" kern="1200" noProof="0" dirty="0" smtClean="0">
                <a:solidFill>
                  <a:schemeClr val="bg1"/>
                </a:solidFill>
                <a:latin typeface="+mn-lt"/>
                <a:ea typeface="+mn-ea"/>
                <a:cs typeface="+mn-cs"/>
              </a:defRPr>
            </a:lvl6pPr>
            <a:lvl7pPr>
              <a:defRPr lang="en-US" sz="1200" b="0" kern="1200" noProof="0" dirty="0" smtClean="0">
                <a:solidFill>
                  <a:schemeClr val="bg1"/>
                </a:solidFill>
                <a:latin typeface="+mn-lt"/>
                <a:ea typeface="+mn-ea"/>
                <a:cs typeface="+mn-cs"/>
              </a:defRPr>
            </a:lvl7pPr>
            <a:lvl8pPr>
              <a:defRPr lang="en-US" sz="1200" b="0" kern="1200" noProof="0" dirty="0" smtClean="0">
                <a:solidFill>
                  <a:schemeClr val="bg1"/>
                </a:solidFill>
                <a:latin typeface="+mn-lt"/>
                <a:ea typeface="+mn-ea"/>
                <a:cs typeface="+mn-cs"/>
              </a:defRPr>
            </a:lvl8pPr>
            <a:lvl9pPr>
              <a:defRPr lang="en-US" sz="1200" b="0" kern="1200" noProof="0" dirty="0" smtClean="0">
                <a:solidFill>
                  <a:schemeClr val="bg1"/>
                </a:solidFill>
                <a:latin typeface="+mn-lt"/>
                <a:ea typeface="+mn-ea"/>
                <a:cs typeface="+mn-cs"/>
              </a:defRPr>
            </a:lvl9pPr>
          </a:lstStyle>
          <a:p>
            <a:pPr lvl="0"/>
            <a:r>
              <a:rPr lang="en-US" smtClean="0"/>
              <a:t>Click to edit Master text styles</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Divider 2">
    <p:spTree>
      <p:nvGrpSpPr>
        <p:cNvPr id="1" name=""/>
        <p:cNvGrpSpPr/>
        <p:nvPr/>
      </p:nvGrpSpPr>
      <p:grpSpPr>
        <a:xfrm>
          <a:off x="0" y="0"/>
          <a:ext cx="0" cy="0"/>
          <a:chOff x="0" y="0"/>
          <a:chExt cx="0" cy="0"/>
        </a:xfrm>
      </p:grpSpPr>
      <p:grpSp>
        <p:nvGrpSpPr>
          <p:cNvPr id="2" name="Group 22"/>
          <p:cNvGrpSpPr>
            <a:grpSpLocks noChangeAspect="1"/>
          </p:cNvGrpSpPr>
          <p:nvPr userDrawn="1"/>
        </p:nvGrpSpPr>
        <p:grpSpPr bwMode="gray">
          <a:xfrm>
            <a:off x="0" y="0"/>
            <a:ext cx="9144001" cy="6858000"/>
            <a:chOff x="0" y="0"/>
            <a:chExt cx="9144001" cy="6858000"/>
          </a:xfrm>
        </p:grpSpPr>
        <p:sp>
          <p:nvSpPr>
            <p:cNvPr id="24" name="Freeform 6"/>
            <p:cNvSpPr>
              <a:spLocks/>
            </p:cNvSpPr>
            <p:nvPr userDrawn="1"/>
          </p:nvSpPr>
          <p:spPr bwMode="gray">
            <a:xfrm>
              <a:off x="0" y="0"/>
              <a:ext cx="5219700" cy="3214688"/>
            </a:xfrm>
            <a:custGeom>
              <a:avLst/>
              <a:gdLst/>
              <a:ahLst/>
              <a:cxnLst>
                <a:cxn ang="0">
                  <a:pos x="3288" y="0"/>
                </a:cxn>
                <a:cxn ang="0">
                  <a:pos x="0" y="0"/>
                </a:cxn>
                <a:cxn ang="0">
                  <a:pos x="0" y="2025"/>
                </a:cxn>
                <a:cxn ang="0">
                  <a:pos x="2689" y="2025"/>
                </a:cxn>
                <a:cxn ang="0">
                  <a:pos x="3288" y="0"/>
                </a:cxn>
              </a:cxnLst>
              <a:rect l="0" t="0" r="r" b="b"/>
              <a:pathLst>
                <a:path w="3288" h="2025">
                  <a:moveTo>
                    <a:pt x="3288" y="0"/>
                  </a:moveTo>
                  <a:lnTo>
                    <a:pt x="0" y="0"/>
                  </a:lnTo>
                  <a:lnTo>
                    <a:pt x="0" y="2025"/>
                  </a:lnTo>
                  <a:lnTo>
                    <a:pt x="2689" y="2025"/>
                  </a:lnTo>
                  <a:lnTo>
                    <a:pt x="3288" y="0"/>
                  </a:lnTo>
                  <a:close/>
                </a:path>
              </a:pathLst>
            </a:custGeom>
            <a:gradFill flip="none" rotWithShape="1">
              <a:gsLst>
                <a:gs pos="0">
                  <a:srgbClr val="00257A">
                    <a:alpha val="90000"/>
                  </a:srgbClr>
                </a:gs>
                <a:gs pos="35000">
                  <a:srgbClr val="00338D">
                    <a:alpha val="90000"/>
                  </a:srgbClr>
                </a:gs>
                <a:gs pos="100000">
                  <a:srgbClr val="009FDA">
                    <a:alpha val="90000"/>
                  </a:srgbClr>
                </a:gs>
              </a:gsLst>
              <a:lin ang="0" scaled="1"/>
              <a:tileRect/>
            </a:gradFill>
            <a:ln w="9525" cap="flat" cmpd="sng">
              <a:noFill/>
              <a:prstDash val="solid"/>
              <a:round/>
              <a:headEnd type="none" w="med" len="med"/>
              <a:tailEnd type="none" w="med" len="med"/>
            </a:ln>
            <a:effectLst/>
          </p:spPr>
          <p:txBody>
            <a:bodyPr>
              <a:noAutofit/>
            </a:bodyPr>
            <a:lstStyle/>
            <a:p>
              <a:pPr marL="0" algn="l" defTabSz="914400" rtl="0" eaLnBrk="1" latinLnBrk="0" hangingPunct="1">
                <a:spcBef>
                  <a:spcPct val="50000"/>
                </a:spcBef>
                <a:defRPr/>
              </a:pPr>
              <a:endParaRPr lang="en-GB" sz="1800" kern="1200" dirty="0">
                <a:solidFill>
                  <a:schemeClr val="tx1"/>
                </a:solidFill>
                <a:latin typeface="+mn-lt"/>
                <a:ea typeface="+mn-ea"/>
                <a:cs typeface="+mn-cs"/>
              </a:endParaRPr>
            </a:p>
          </p:txBody>
        </p:sp>
        <p:sp>
          <p:nvSpPr>
            <p:cNvPr id="25" name="Freeform 7"/>
            <p:cNvSpPr>
              <a:spLocks/>
            </p:cNvSpPr>
            <p:nvPr userDrawn="1"/>
          </p:nvSpPr>
          <p:spPr bwMode="gray">
            <a:xfrm>
              <a:off x="2170113" y="1774825"/>
              <a:ext cx="6973888" cy="5083175"/>
            </a:xfrm>
            <a:custGeom>
              <a:avLst/>
              <a:gdLst/>
              <a:ahLst/>
              <a:cxnLst>
                <a:cxn ang="0">
                  <a:pos x="4393" y="0"/>
                </a:cxn>
                <a:cxn ang="0">
                  <a:pos x="948" y="0"/>
                </a:cxn>
                <a:cxn ang="0">
                  <a:pos x="0" y="3202"/>
                </a:cxn>
                <a:cxn ang="0">
                  <a:pos x="4393" y="3202"/>
                </a:cxn>
                <a:cxn ang="0">
                  <a:pos x="4393" y="0"/>
                </a:cxn>
              </a:cxnLst>
              <a:rect l="0" t="0" r="r" b="b"/>
              <a:pathLst>
                <a:path w="4393" h="3202">
                  <a:moveTo>
                    <a:pt x="4393" y="0"/>
                  </a:moveTo>
                  <a:lnTo>
                    <a:pt x="948" y="0"/>
                  </a:lnTo>
                  <a:lnTo>
                    <a:pt x="0" y="3202"/>
                  </a:lnTo>
                  <a:lnTo>
                    <a:pt x="4393" y="3202"/>
                  </a:lnTo>
                  <a:lnTo>
                    <a:pt x="4393" y="0"/>
                  </a:lnTo>
                  <a:close/>
                </a:path>
              </a:pathLst>
            </a:custGeom>
            <a:gradFill flip="none" rotWithShape="1">
              <a:gsLst>
                <a:gs pos="0">
                  <a:srgbClr val="00257A">
                    <a:alpha val="90000"/>
                  </a:srgbClr>
                </a:gs>
                <a:gs pos="35000">
                  <a:srgbClr val="00338D">
                    <a:alpha val="90000"/>
                  </a:srgbClr>
                </a:gs>
                <a:gs pos="100000">
                  <a:srgbClr val="009FDA">
                    <a:alpha val="90000"/>
                  </a:srgbClr>
                </a:gs>
              </a:gsLst>
              <a:lin ang="0" scaled="1"/>
              <a:tileRect/>
            </a:gradFill>
            <a:ln w="9525" cap="flat" cmpd="sng">
              <a:noFill/>
              <a:prstDash val="solid"/>
              <a:round/>
              <a:headEnd type="none" w="med" len="med"/>
              <a:tailEnd type="none" w="med" len="med"/>
            </a:ln>
            <a:effectLst/>
          </p:spPr>
          <p:txBody>
            <a:bodyPr>
              <a:noAutofit/>
            </a:bodyPr>
            <a:lstStyle/>
            <a:p>
              <a:pPr marL="0" algn="l" defTabSz="914400" rtl="0" eaLnBrk="1" latinLnBrk="0" hangingPunct="1">
                <a:spcBef>
                  <a:spcPct val="50000"/>
                </a:spcBef>
                <a:defRPr/>
              </a:pPr>
              <a:endParaRPr lang="en-GB" sz="1800" kern="1200" dirty="0">
                <a:solidFill>
                  <a:schemeClr val="tx1"/>
                </a:solidFill>
                <a:latin typeface="+mn-lt"/>
                <a:ea typeface="+mn-ea"/>
                <a:cs typeface="+mn-cs"/>
              </a:endParaRPr>
            </a:p>
          </p:txBody>
        </p:sp>
        <p:sp>
          <p:nvSpPr>
            <p:cNvPr id="26" name="Freeform 8"/>
            <p:cNvSpPr>
              <a:spLocks/>
            </p:cNvSpPr>
            <p:nvPr userDrawn="1"/>
          </p:nvSpPr>
          <p:spPr bwMode="gray">
            <a:xfrm>
              <a:off x="3249613" y="1774825"/>
              <a:ext cx="1444625" cy="1439863"/>
            </a:xfrm>
            <a:custGeom>
              <a:avLst/>
              <a:gdLst/>
              <a:ahLst/>
              <a:cxnLst>
                <a:cxn ang="0">
                  <a:pos x="0" y="907"/>
                </a:cxn>
                <a:cxn ang="0">
                  <a:pos x="642" y="907"/>
                </a:cxn>
                <a:cxn ang="0">
                  <a:pos x="910" y="0"/>
                </a:cxn>
                <a:cxn ang="0">
                  <a:pos x="268" y="0"/>
                </a:cxn>
                <a:cxn ang="0">
                  <a:pos x="0" y="907"/>
                </a:cxn>
              </a:cxnLst>
              <a:rect l="0" t="0" r="r" b="b"/>
              <a:pathLst>
                <a:path w="910" h="907">
                  <a:moveTo>
                    <a:pt x="0" y="907"/>
                  </a:moveTo>
                  <a:lnTo>
                    <a:pt x="642" y="907"/>
                  </a:lnTo>
                  <a:lnTo>
                    <a:pt x="910" y="0"/>
                  </a:lnTo>
                  <a:lnTo>
                    <a:pt x="268" y="0"/>
                  </a:lnTo>
                  <a:lnTo>
                    <a:pt x="0" y="907"/>
                  </a:lnTo>
                  <a:close/>
                </a:path>
              </a:pathLst>
            </a:custGeom>
            <a:solidFill>
              <a:srgbClr val="00257A"/>
            </a:solidFill>
            <a:ln w="9525" cap="flat" cmpd="sng">
              <a:noFill/>
              <a:prstDash val="solid"/>
              <a:round/>
              <a:headEnd type="none" w="med" len="med"/>
              <a:tailEnd type="none" w="med" len="med"/>
            </a:ln>
            <a:effectLst/>
          </p:spPr>
          <p:txBody>
            <a:bodyPr>
              <a:noAutofit/>
            </a:bodyPr>
            <a:lstStyle/>
            <a:p>
              <a:pPr marL="0" algn="l" defTabSz="914400" rtl="0" eaLnBrk="1" latinLnBrk="0" hangingPunct="1">
                <a:spcBef>
                  <a:spcPct val="50000"/>
                </a:spcBef>
                <a:defRPr/>
              </a:pPr>
              <a:endParaRPr lang="en-GB" sz="1800" kern="1200" dirty="0">
                <a:solidFill>
                  <a:schemeClr val="tx1"/>
                </a:solidFill>
                <a:latin typeface="+mn-lt"/>
                <a:ea typeface="+mn-ea"/>
                <a:cs typeface="+mn-cs"/>
              </a:endParaRPr>
            </a:p>
          </p:txBody>
        </p:sp>
      </p:grpSp>
      <p:sp>
        <p:nvSpPr>
          <p:cNvPr id="11" name="Title 10"/>
          <p:cNvSpPr>
            <a:spLocks noGrp="1"/>
          </p:cNvSpPr>
          <p:nvPr userDrawn="1">
            <p:ph type="title"/>
          </p:nvPr>
        </p:nvSpPr>
        <p:spPr bwMode="gray">
          <a:xfrm>
            <a:off x="4860486" y="2492896"/>
            <a:ext cx="3887176" cy="2232248"/>
          </a:xfrm>
          <a:noFill/>
          <a:ln w="9525">
            <a:noFill/>
            <a:miter lim="800000"/>
            <a:headEnd/>
            <a:tailEnd/>
          </a:ln>
        </p:spPr>
        <p:txBody>
          <a:bodyPr vert="horz" wrap="square" lIns="0" tIns="0" rIns="0" bIns="0" numCol="1" rtlCol="0" anchor="t" anchorCtr="0" compatLnSpc="1">
            <a:prstTxWarp prst="textNoShape">
              <a:avLst/>
            </a:prstTxWarp>
            <a:noAutofit/>
          </a:bodyPr>
          <a:lstStyle>
            <a:lvl1pPr algn="r" defTabSz="914400" rtl="0" eaLnBrk="1" fontAlgn="base" latinLnBrk="0" hangingPunct="1">
              <a:spcBef>
                <a:spcPct val="40000"/>
              </a:spcBef>
              <a:spcAft>
                <a:spcPct val="0"/>
              </a:spcAft>
              <a:buNone/>
              <a:defRPr lang="en-GB" sz="3000" b="1" kern="1200" noProof="0" dirty="0">
                <a:solidFill>
                  <a:schemeClr val="bg1"/>
                </a:solidFill>
                <a:latin typeface="+mj-lt"/>
                <a:ea typeface="+mj-ea"/>
                <a:cs typeface="+mj-cs"/>
              </a:defRPr>
            </a:lvl1pPr>
            <a:lvl2pPr>
              <a:defRPr lang="en-GB" sz="3000" b="1" kern="1200" noProof="0" dirty="0">
                <a:solidFill>
                  <a:schemeClr val="bg1"/>
                </a:solidFill>
                <a:latin typeface="+mj-lt"/>
                <a:ea typeface="+mj-ea"/>
                <a:cs typeface="+mj-cs"/>
              </a:defRPr>
            </a:lvl2pPr>
            <a:lvl3pPr>
              <a:defRPr lang="en-GB" sz="3000" b="1" kern="1200" noProof="0" dirty="0">
                <a:solidFill>
                  <a:schemeClr val="bg1"/>
                </a:solidFill>
                <a:latin typeface="+mj-lt"/>
                <a:ea typeface="+mj-ea"/>
                <a:cs typeface="+mj-cs"/>
              </a:defRPr>
            </a:lvl3pPr>
            <a:lvl4pPr>
              <a:defRPr lang="en-GB" sz="3000" b="1" kern="1200" noProof="0" dirty="0">
                <a:solidFill>
                  <a:schemeClr val="bg1"/>
                </a:solidFill>
                <a:latin typeface="+mj-lt"/>
                <a:ea typeface="+mj-ea"/>
                <a:cs typeface="+mj-cs"/>
              </a:defRPr>
            </a:lvl4pPr>
            <a:lvl5pPr>
              <a:defRPr lang="en-GB" sz="3000" b="1" kern="1200" noProof="0" dirty="0">
                <a:solidFill>
                  <a:schemeClr val="bg1"/>
                </a:solidFill>
                <a:latin typeface="+mj-lt"/>
                <a:ea typeface="+mj-ea"/>
                <a:cs typeface="+mj-cs"/>
              </a:defRPr>
            </a:lvl5pPr>
            <a:lvl6pPr>
              <a:defRPr lang="en-GB" sz="3000" b="1" kern="1200" noProof="0" dirty="0">
                <a:solidFill>
                  <a:schemeClr val="bg1"/>
                </a:solidFill>
                <a:latin typeface="+mj-lt"/>
                <a:ea typeface="+mj-ea"/>
                <a:cs typeface="+mj-cs"/>
              </a:defRPr>
            </a:lvl6pPr>
            <a:lvl7pPr>
              <a:defRPr lang="en-GB" sz="3000" b="1" kern="1200" noProof="0" dirty="0">
                <a:solidFill>
                  <a:schemeClr val="bg1"/>
                </a:solidFill>
                <a:latin typeface="+mj-lt"/>
                <a:ea typeface="+mj-ea"/>
                <a:cs typeface="+mj-cs"/>
              </a:defRPr>
            </a:lvl7pPr>
            <a:lvl8pPr>
              <a:defRPr lang="en-GB" sz="3000" b="1" kern="1200" noProof="0" dirty="0">
                <a:solidFill>
                  <a:schemeClr val="bg1"/>
                </a:solidFill>
                <a:latin typeface="+mj-lt"/>
                <a:ea typeface="+mj-ea"/>
                <a:cs typeface="+mj-cs"/>
              </a:defRPr>
            </a:lvl8pPr>
            <a:lvl9pPr>
              <a:defRPr lang="en-GB" sz="3000" b="1" kern="1200" noProof="0" dirty="0">
                <a:solidFill>
                  <a:schemeClr val="bg1"/>
                </a:solidFill>
                <a:latin typeface="+mj-lt"/>
                <a:ea typeface="+mj-ea"/>
                <a:cs typeface="+mj-cs"/>
              </a:defRPr>
            </a:lvl9pPr>
          </a:lstStyle>
          <a:p>
            <a:pPr lvl="0" algn="l" rtl="0" eaLnBrk="1" fontAlgn="base" hangingPunct="1">
              <a:spcBef>
                <a:spcPct val="40000"/>
              </a:spcBef>
              <a:spcAft>
                <a:spcPct val="0"/>
              </a:spcAft>
            </a:pPr>
            <a:r>
              <a:rPr lang="en-US" smtClean="0"/>
              <a:t>Click to edit Master title style</a:t>
            </a:r>
            <a:endParaRPr lang="en-GB" dirty="0"/>
          </a:p>
        </p:txBody>
      </p:sp>
      <p:sp>
        <p:nvSpPr>
          <p:cNvPr id="16" name="Text Placeholder 15"/>
          <p:cNvSpPr>
            <a:spLocks noGrp="1"/>
          </p:cNvSpPr>
          <p:nvPr userDrawn="1">
            <p:ph type="body" sz="quarter" idx="10"/>
          </p:nvPr>
        </p:nvSpPr>
        <p:spPr bwMode="gray">
          <a:xfrm>
            <a:off x="4860032" y="5013325"/>
            <a:ext cx="3888432" cy="1511300"/>
          </a:xfrm>
          <a:noFill/>
          <a:ln w="9525">
            <a:noFill/>
            <a:miter lim="800000"/>
            <a:headEnd/>
            <a:tailEnd/>
          </a:ln>
        </p:spPr>
        <p:txBody>
          <a:bodyPr vert="horz" wrap="square" lIns="0" tIns="0" rIns="0" bIns="0" numCol="1" rtlCol="0" anchor="t" anchorCtr="0" compatLnSpc="1">
            <a:prstTxWarp prst="textNoShape">
              <a:avLst/>
            </a:prstTxWarp>
            <a:noAutofit/>
          </a:bodyPr>
          <a:lstStyle>
            <a:lvl1pPr algn="r">
              <a:defRPr lang="en-US" sz="1200" b="0" kern="1200" noProof="0" smtClean="0">
                <a:solidFill>
                  <a:schemeClr val="bg1"/>
                </a:solidFill>
                <a:latin typeface="+mn-lt"/>
                <a:ea typeface="+mn-ea"/>
                <a:cs typeface="+mn-cs"/>
              </a:defRPr>
            </a:lvl1pPr>
            <a:lvl2pPr>
              <a:defRPr lang="en-US" sz="1200" b="0" kern="1200" noProof="0" dirty="0" smtClean="0">
                <a:solidFill>
                  <a:schemeClr val="bg1"/>
                </a:solidFill>
                <a:latin typeface="+mn-lt"/>
                <a:ea typeface="+mn-ea"/>
                <a:cs typeface="+mn-cs"/>
              </a:defRPr>
            </a:lvl2pPr>
            <a:lvl3pPr>
              <a:defRPr lang="en-US" sz="1200" b="0" kern="1200" noProof="0" dirty="0" smtClean="0">
                <a:solidFill>
                  <a:schemeClr val="bg1"/>
                </a:solidFill>
                <a:latin typeface="+mn-lt"/>
                <a:ea typeface="+mn-ea"/>
                <a:cs typeface="+mn-cs"/>
              </a:defRPr>
            </a:lvl3pPr>
            <a:lvl4pPr>
              <a:defRPr lang="en-US" sz="1200" b="0" kern="1200" noProof="0" dirty="0" smtClean="0">
                <a:solidFill>
                  <a:schemeClr val="bg1"/>
                </a:solidFill>
                <a:latin typeface="+mn-lt"/>
                <a:ea typeface="+mn-ea"/>
                <a:cs typeface="+mn-cs"/>
              </a:defRPr>
            </a:lvl4pPr>
            <a:lvl5pPr>
              <a:defRPr lang="en-US" sz="1200" b="0" kern="1200" noProof="0" dirty="0" smtClean="0">
                <a:solidFill>
                  <a:schemeClr val="bg1"/>
                </a:solidFill>
                <a:latin typeface="+mn-lt"/>
                <a:ea typeface="+mn-ea"/>
                <a:cs typeface="+mn-cs"/>
              </a:defRPr>
            </a:lvl5pPr>
            <a:lvl6pPr>
              <a:defRPr lang="en-US" sz="1200" b="0" kern="1200" noProof="0" dirty="0" smtClean="0">
                <a:solidFill>
                  <a:schemeClr val="bg1"/>
                </a:solidFill>
                <a:latin typeface="+mn-lt"/>
                <a:ea typeface="+mn-ea"/>
                <a:cs typeface="+mn-cs"/>
              </a:defRPr>
            </a:lvl6pPr>
            <a:lvl7pPr>
              <a:defRPr lang="en-US" sz="1200" b="0" kern="1200" noProof="0" dirty="0" smtClean="0">
                <a:solidFill>
                  <a:schemeClr val="bg1"/>
                </a:solidFill>
                <a:latin typeface="+mn-lt"/>
                <a:ea typeface="+mn-ea"/>
                <a:cs typeface="+mn-cs"/>
              </a:defRPr>
            </a:lvl7pPr>
            <a:lvl8pPr>
              <a:defRPr lang="en-US" sz="1200" b="0" kern="1200" noProof="0" dirty="0" smtClean="0">
                <a:solidFill>
                  <a:schemeClr val="bg1"/>
                </a:solidFill>
                <a:latin typeface="+mn-lt"/>
                <a:ea typeface="+mn-ea"/>
                <a:cs typeface="+mn-cs"/>
              </a:defRPr>
            </a:lvl8pPr>
            <a:lvl9pPr>
              <a:defRPr lang="en-US" sz="1200" b="0" kern="1200" noProof="0" dirty="0" smtClean="0">
                <a:solidFill>
                  <a:schemeClr val="bg1"/>
                </a:solidFill>
                <a:latin typeface="+mn-lt"/>
                <a:ea typeface="+mn-ea"/>
                <a:cs typeface="+mn-cs"/>
              </a:defRPr>
            </a:lvl9pPr>
          </a:lstStyle>
          <a:p>
            <a:pPr marL="342900" lvl="0" indent="-342900" algn="r" defTabSz="914400" rtl="0" eaLnBrk="1" fontAlgn="base" latinLnBrk="0" hangingPunct="1">
              <a:lnSpc>
                <a:spcPct val="110000"/>
              </a:lnSpc>
              <a:spcBef>
                <a:spcPts val="600"/>
              </a:spcBef>
              <a:spcAft>
                <a:spcPct val="0"/>
              </a:spcAft>
              <a:buFont typeface="Arial" pitchFamily="34" charset="0"/>
              <a:buNone/>
            </a:pPr>
            <a:r>
              <a:rPr lang="en-US" smtClean="0"/>
              <a:t>Click to edit Master text styles</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hank You">
    <p:spTree>
      <p:nvGrpSpPr>
        <p:cNvPr id="1" name=""/>
        <p:cNvGrpSpPr/>
        <p:nvPr/>
      </p:nvGrpSpPr>
      <p:grpSpPr>
        <a:xfrm>
          <a:off x="0" y="0"/>
          <a:ext cx="0" cy="0"/>
          <a:chOff x="0" y="0"/>
          <a:chExt cx="0" cy="0"/>
        </a:xfrm>
      </p:grpSpPr>
      <p:sp>
        <p:nvSpPr>
          <p:cNvPr id="5161" name="Freeform 41"/>
          <p:cNvSpPr>
            <a:spLocks noChangeAspect="1"/>
          </p:cNvSpPr>
          <p:nvPr userDrawn="1"/>
        </p:nvSpPr>
        <p:spPr bwMode="gray">
          <a:xfrm>
            <a:off x="0" y="0"/>
            <a:ext cx="5224463" cy="5591175"/>
          </a:xfrm>
          <a:custGeom>
            <a:avLst/>
            <a:gdLst/>
            <a:ahLst/>
            <a:cxnLst>
              <a:cxn ang="0">
                <a:pos x="0" y="0"/>
              </a:cxn>
              <a:cxn ang="0">
                <a:pos x="0" y="3522"/>
              </a:cxn>
              <a:cxn ang="0">
                <a:pos x="2247" y="3522"/>
              </a:cxn>
              <a:cxn ang="0">
                <a:pos x="3291" y="0"/>
              </a:cxn>
              <a:cxn ang="0">
                <a:pos x="0" y="0"/>
              </a:cxn>
            </a:cxnLst>
            <a:rect l="0" t="0" r="r" b="b"/>
            <a:pathLst>
              <a:path w="3291" h="3522">
                <a:moveTo>
                  <a:pt x="0" y="0"/>
                </a:moveTo>
                <a:lnTo>
                  <a:pt x="0" y="3522"/>
                </a:lnTo>
                <a:lnTo>
                  <a:pt x="2247" y="3522"/>
                </a:lnTo>
                <a:lnTo>
                  <a:pt x="3291" y="0"/>
                </a:lnTo>
                <a:lnTo>
                  <a:pt x="0" y="0"/>
                </a:lnTo>
                <a:close/>
              </a:path>
            </a:pathLst>
          </a:custGeom>
          <a:gradFill flip="none" rotWithShape="1">
            <a:gsLst>
              <a:gs pos="0">
                <a:srgbClr val="00257A">
                  <a:alpha val="90000"/>
                </a:srgbClr>
              </a:gs>
              <a:gs pos="35000">
                <a:srgbClr val="00338D">
                  <a:alpha val="90000"/>
                </a:srgbClr>
              </a:gs>
              <a:gs pos="100000">
                <a:srgbClr val="009FDA">
                  <a:alpha val="90000"/>
                </a:srgbClr>
              </a:gs>
            </a:gsLst>
            <a:lin ang="0" scaled="1"/>
            <a:tileRect/>
          </a:gradFill>
          <a:ln w="9525" cap="flat" cmpd="sng">
            <a:noFill/>
            <a:prstDash val="solid"/>
            <a:round/>
            <a:headEnd type="none" w="med" len="med"/>
            <a:tailEnd type="none" w="med" len="med"/>
          </a:ln>
          <a:effectLst/>
        </p:spPr>
        <p:txBody>
          <a:bodyPr>
            <a:noAutofit/>
          </a:bodyPr>
          <a:lstStyle/>
          <a:p>
            <a:pPr marL="0" algn="l" defTabSz="914400" rtl="0" eaLnBrk="1" latinLnBrk="0" hangingPunct="1">
              <a:spcBef>
                <a:spcPct val="50000"/>
              </a:spcBef>
              <a:defRPr/>
            </a:pPr>
            <a:endParaRPr lang="en-GB" sz="1800" kern="1200" dirty="0">
              <a:solidFill>
                <a:schemeClr val="tx1"/>
              </a:solidFill>
              <a:latin typeface="+mn-lt"/>
              <a:ea typeface="+mn-ea"/>
              <a:cs typeface="+mn-cs"/>
            </a:endParaRPr>
          </a:p>
        </p:txBody>
      </p:sp>
      <p:sp>
        <p:nvSpPr>
          <p:cNvPr id="6" name="Title 9"/>
          <p:cNvSpPr>
            <a:spLocks noGrp="1"/>
          </p:cNvSpPr>
          <p:nvPr>
            <p:ph type="title"/>
          </p:nvPr>
        </p:nvSpPr>
        <p:spPr bwMode="gray">
          <a:xfrm>
            <a:off x="323527" y="1484784"/>
            <a:ext cx="3816425" cy="2088232"/>
          </a:xfrm>
          <a:noFill/>
          <a:ln w="9525">
            <a:noFill/>
            <a:miter lim="800000"/>
            <a:headEnd/>
            <a:tailEnd/>
          </a:ln>
        </p:spPr>
        <p:txBody>
          <a:bodyPr vert="horz" wrap="square" lIns="0" tIns="0" rIns="0" bIns="0" numCol="1" anchor="t" anchorCtr="0" compatLnSpc="1">
            <a:prstTxWarp prst="textNoShape">
              <a:avLst/>
            </a:prstTxWarp>
            <a:noAutofit/>
          </a:bodyPr>
          <a:lstStyle>
            <a:lvl1pPr algn="l" rtl="0" eaLnBrk="1" fontAlgn="base" hangingPunct="1">
              <a:spcBef>
                <a:spcPct val="40000"/>
              </a:spcBef>
              <a:spcAft>
                <a:spcPct val="0"/>
              </a:spcAft>
              <a:defRPr lang="en-GB" sz="3000" b="1" dirty="0" smtClean="0">
                <a:solidFill>
                  <a:schemeClr val="bg1"/>
                </a:solidFill>
                <a:latin typeface="+mj-lt"/>
                <a:ea typeface="+mj-ea"/>
                <a:cs typeface="+mj-cs"/>
              </a:defRPr>
            </a:lvl1pPr>
            <a:lvl2pPr>
              <a:defRPr lang="en-GB" sz="3000" b="1" dirty="0">
                <a:solidFill>
                  <a:schemeClr val="bg1"/>
                </a:solidFill>
                <a:latin typeface="+mj-lt"/>
              </a:defRPr>
            </a:lvl2pPr>
            <a:lvl3pPr>
              <a:defRPr lang="en-GB" sz="3000" b="1" dirty="0">
                <a:solidFill>
                  <a:schemeClr val="bg1"/>
                </a:solidFill>
                <a:latin typeface="+mj-lt"/>
              </a:defRPr>
            </a:lvl3pPr>
            <a:lvl4pPr>
              <a:defRPr lang="en-GB" sz="3000" b="1" dirty="0">
                <a:solidFill>
                  <a:schemeClr val="bg1"/>
                </a:solidFill>
                <a:latin typeface="+mj-lt"/>
              </a:defRPr>
            </a:lvl4pPr>
            <a:lvl5pPr>
              <a:defRPr lang="en-GB" sz="3000" b="1" dirty="0">
                <a:solidFill>
                  <a:schemeClr val="bg1"/>
                </a:solidFill>
                <a:latin typeface="+mj-lt"/>
              </a:defRPr>
            </a:lvl5pPr>
            <a:lvl6pPr>
              <a:defRPr lang="en-GB" sz="3000" b="1" dirty="0">
                <a:solidFill>
                  <a:schemeClr val="bg1"/>
                </a:solidFill>
                <a:latin typeface="+mj-lt"/>
              </a:defRPr>
            </a:lvl6pPr>
            <a:lvl7pPr>
              <a:defRPr lang="en-GB" sz="3000" b="1" dirty="0">
                <a:solidFill>
                  <a:schemeClr val="bg1"/>
                </a:solidFill>
                <a:latin typeface="+mj-lt"/>
              </a:defRPr>
            </a:lvl7pPr>
            <a:lvl8pPr>
              <a:defRPr lang="en-GB" sz="3000" b="1" dirty="0">
                <a:solidFill>
                  <a:schemeClr val="bg1"/>
                </a:solidFill>
                <a:latin typeface="+mj-lt"/>
              </a:defRPr>
            </a:lvl8pPr>
            <a:lvl9pPr>
              <a:defRPr sz="3000">
                <a:solidFill>
                  <a:schemeClr val="bg1"/>
                </a:solidFill>
              </a:defRPr>
            </a:lvl9pPr>
          </a:lstStyle>
          <a:p>
            <a:pPr lvl="0"/>
            <a:r>
              <a:rPr lang="en-US" smtClean="0"/>
              <a:t>Click to edit Master title style</a:t>
            </a:r>
            <a:endParaRPr lang="en-GB" dirty="0"/>
          </a:p>
        </p:txBody>
      </p:sp>
      <p:sp>
        <p:nvSpPr>
          <p:cNvPr id="7" name="Text Placeholder 16"/>
          <p:cNvSpPr>
            <a:spLocks noGrp="1"/>
          </p:cNvSpPr>
          <p:nvPr>
            <p:ph type="body" sz="quarter" idx="10"/>
          </p:nvPr>
        </p:nvSpPr>
        <p:spPr bwMode="gray">
          <a:xfrm>
            <a:off x="323528" y="3789363"/>
            <a:ext cx="3456384" cy="1079500"/>
          </a:xfrm>
          <a:noFill/>
          <a:ln w="9525">
            <a:noFill/>
            <a:miter lim="800000"/>
            <a:headEnd/>
            <a:tailEnd/>
          </a:ln>
        </p:spPr>
        <p:txBody>
          <a:bodyPr vert="horz" wrap="square" lIns="0" tIns="0" rIns="0" bIns="0" numCol="1" anchor="t" anchorCtr="0" compatLnSpc="1">
            <a:prstTxWarp prst="textNoShape">
              <a:avLst/>
            </a:prstTxWarp>
            <a:noAutofit/>
          </a:bodyPr>
          <a:lstStyle>
            <a:lvl1pPr marL="342900" indent="-342900" algn="l" rtl="0" eaLnBrk="1" fontAlgn="base" hangingPunct="1">
              <a:lnSpc>
                <a:spcPct val="110000"/>
              </a:lnSpc>
              <a:spcBef>
                <a:spcPts val="600"/>
              </a:spcBef>
              <a:spcAft>
                <a:spcPct val="0"/>
              </a:spcAft>
              <a:defRPr lang="en-US" sz="1200" b="0" dirty="0" smtClean="0">
                <a:solidFill>
                  <a:schemeClr val="bg1"/>
                </a:solidFill>
                <a:latin typeface="+mn-lt"/>
                <a:ea typeface="+mn-ea"/>
                <a:cs typeface="+mn-cs"/>
              </a:defRPr>
            </a:lvl1pPr>
            <a:lvl2pPr>
              <a:defRPr lang="en-US" sz="1200" b="0" kern="1200" noProof="0" dirty="0" smtClean="0">
                <a:solidFill>
                  <a:schemeClr val="bg1"/>
                </a:solidFill>
                <a:latin typeface="+mn-lt"/>
                <a:ea typeface="+mn-ea"/>
                <a:cs typeface="+mn-cs"/>
              </a:defRPr>
            </a:lvl2pPr>
            <a:lvl3pPr>
              <a:defRPr lang="en-US" sz="1200" b="0" kern="1200" noProof="0" dirty="0" smtClean="0">
                <a:solidFill>
                  <a:schemeClr val="bg1"/>
                </a:solidFill>
                <a:latin typeface="+mn-lt"/>
                <a:ea typeface="+mn-ea"/>
                <a:cs typeface="+mn-cs"/>
              </a:defRPr>
            </a:lvl3pPr>
            <a:lvl4pPr>
              <a:defRPr lang="en-US" sz="1200" b="0" kern="1200" noProof="0" dirty="0" smtClean="0">
                <a:solidFill>
                  <a:schemeClr val="bg1"/>
                </a:solidFill>
                <a:latin typeface="+mn-lt"/>
                <a:ea typeface="+mn-ea"/>
                <a:cs typeface="+mn-cs"/>
              </a:defRPr>
            </a:lvl4pPr>
            <a:lvl5pPr>
              <a:defRPr lang="en-US" sz="1200" b="0" kern="1200" noProof="0" dirty="0" smtClean="0">
                <a:solidFill>
                  <a:schemeClr val="bg1"/>
                </a:solidFill>
                <a:latin typeface="+mn-lt"/>
                <a:ea typeface="+mn-ea"/>
                <a:cs typeface="+mn-cs"/>
              </a:defRPr>
            </a:lvl5pPr>
            <a:lvl6pPr>
              <a:defRPr lang="en-US" sz="1200" b="0" kern="1200" noProof="0" dirty="0" smtClean="0">
                <a:solidFill>
                  <a:schemeClr val="bg1"/>
                </a:solidFill>
                <a:latin typeface="+mn-lt"/>
                <a:ea typeface="+mn-ea"/>
                <a:cs typeface="+mn-cs"/>
              </a:defRPr>
            </a:lvl6pPr>
            <a:lvl7pPr>
              <a:defRPr lang="en-US" sz="1200" b="0" kern="1200" noProof="0" dirty="0" smtClean="0">
                <a:solidFill>
                  <a:schemeClr val="bg1"/>
                </a:solidFill>
                <a:latin typeface="+mn-lt"/>
                <a:ea typeface="+mn-ea"/>
                <a:cs typeface="+mn-cs"/>
              </a:defRPr>
            </a:lvl7pPr>
            <a:lvl8pPr>
              <a:defRPr lang="en-US" sz="1200" b="0" kern="1200" noProof="0" dirty="0" smtClean="0">
                <a:solidFill>
                  <a:schemeClr val="bg1"/>
                </a:solidFill>
                <a:latin typeface="+mn-lt"/>
                <a:ea typeface="+mn-ea"/>
                <a:cs typeface="+mn-cs"/>
              </a:defRPr>
            </a:lvl8pPr>
            <a:lvl9pPr>
              <a:defRPr lang="en-US" sz="1200" b="0" kern="1200" noProof="0" dirty="0" smtClean="0">
                <a:solidFill>
                  <a:schemeClr val="bg1"/>
                </a:solidFill>
                <a:latin typeface="+mn-lt"/>
                <a:ea typeface="+mn-ea"/>
                <a:cs typeface="+mn-cs"/>
              </a:defRPr>
            </a:lvl9pPr>
          </a:lstStyle>
          <a:p>
            <a:pPr lvl="0"/>
            <a:r>
              <a:rPr lang="en-US" smtClean="0"/>
              <a:t>Click to edit Master text styles</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Disclaimer">
    <p:spTree>
      <p:nvGrpSpPr>
        <p:cNvPr id="1" name=""/>
        <p:cNvGrpSpPr/>
        <p:nvPr/>
      </p:nvGrpSpPr>
      <p:grpSpPr>
        <a:xfrm>
          <a:off x="0" y="0"/>
          <a:ext cx="0" cy="0"/>
          <a:chOff x="0" y="0"/>
          <a:chExt cx="0" cy="0"/>
        </a:xfrm>
      </p:grpSpPr>
      <p:sp>
        <p:nvSpPr>
          <p:cNvPr id="1030" name="Freeform 6"/>
          <p:cNvSpPr>
            <a:spLocks noChangeAspect="1"/>
          </p:cNvSpPr>
          <p:nvPr userDrawn="1"/>
        </p:nvSpPr>
        <p:spPr bwMode="gray">
          <a:xfrm>
            <a:off x="1589" y="1588"/>
            <a:ext cx="5218484" cy="3282950"/>
          </a:xfrm>
          <a:custGeom>
            <a:avLst/>
            <a:gdLst/>
            <a:ahLst/>
            <a:cxnLst>
              <a:cxn ang="0">
                <a:pos x="0" y="2068"/>
              </a:cxn>
              <a:cxn ang="0">
                <a:pos x="2683" y="2068"/>
              </a:cxn>
              <a:cxn ang="0">
                <a:pos x="3298" y="0"/>
              </a:cxn>
              <a:cxn ang="0">
                <a:pos x="0" y="0"/>
              </a:cxn>
              <a:cxn ang="0">
                <a:pos x="0" y="2068"/>
              </a:cxn>
            </a:cxnLst>
            <a:rect l="0" t="0" r="r" b="b"/>
            <a:pathLst>
              <a:path w="3298" h="2068">
                <a:moveTo>
                  <a:pt x="0" y="2068"/>
                </a:moveTo>
                <a:lnTo>
                  <a:pt x="2683" y="2068"/>
                </a:lnTo>
                <a:lnTo>
                  <a:pt x="3298" y="0"/>
                </a:lnTo>
                <a:lnTo>
                  <a:pt x="0" y="0"/>
                </a:lnTo>
                <a:lnTo>
                  <a:pt x="0" y="2068"/>
                </a:lnTo>
                <a:close/>
              </a:path>
            </a:pathLst>
          </a:custGeom>
          <a:gradFill flip="none" rotWithShape="1">
            <a:gsLst>
              <a:gs pos="0">
                <a:srgbClr val="00257A">
                  <a:alpha val="90000"/>
                </a:srgbClr>
              </a:gs>
              <a:gs pos="35000">
                <a:srgbClr val="00338D">
                  <a:alpha val="90000"/>
                </a:srgbClr>
              </a:gs>
              <a:gs pos="100000">
                <a:srgbClr val="009FDA">
                  <a:alpha val="90000"/>
                </a:srgbClr>
              </a:gs>
            </a:gsLst>
            <a:lin ang="0" scaled="1"/>
            <a:tileRect/>
          </a:gradFill>
          <a:ln w="9525" cap="flat" cmpd="sng">
            <a:noFill/>
            <a:prstDash val="solid"/>
            <a:round/>
            <a:headEnd type="none" w="med" len="med"/>
            <a:tailEnd type="none" w="med" len="med"/>
          </a:ln>
          <a:effectLst/>
        </p:spPr>
        <p:txBody>
          <a:bodyPr>
            <a:noAutofit/>
          </a:bodyPr>
          <a:lstStyle/>
          <a:p>
            <a:pPr marL="0" algn="l" defTabSz="914400" rtl="0" eaLnBrk="1" latinLnBrk="0" hangingPunct="1">
              <a:spcBef>
                <a:spcPct val="50000"/>
              </a:spcBef>
              <a:defRPr/>
            </a:pPr>
            <a:endParaRPr lang="en-GB" sz="1800" kern="1200" dirty="0">
              <a:solidFill>
                <a:schemeClr val="tx1"/>
              </a:solidFill>
              <a:latin typeface="+mn-lt"/>
              <a:ea typeface="+mn-ea"/>
              <a:cs typeface="+mn-cs"/>
            </a:endParaRPr>
          </a:p>
        </p:txBody>
      </p:sp>
      <p:sp>
        <p:nvSpPr>
          <p:cNvPr id="8" name="Text Placeholder 4"/>
          <p:cNvSpPr>
            <a:spLocks noGrp="1"/>
          </p:cNvSpPr>
          <p:nvPr>
            <p:ph type="body" sz="quarter" idx="10"/>
          </p:nvPr>
        </p:nvSpPr>
        <p:spPr bwMode="gray">
          <a:xfrm>
            <a:off x="252414" y="3716338"/>
            <a:ext cx="3971244" cy="2376487"/>
          </a:xfrm>
          <a:prstGeom prst="rect">
            <a:avLst/>
          </a:prstGeom>
          <a:noFill/>
          <a:ln w="9525">
            <a:noFill/>
            <a:miter lim="800000"/>
            <a:headEnd/>
            <a:tailEnd/>
          </a:ln>
        </p:spPr>
        <p:txBody>
          <a:bodyPr anchor="b">
            <a:noAutofit/>
          </a:bodyPr>
          <a:lstStyle>
            <a:lvl1pPr>
              <a:defRPr lang="en-US" sz="900" b="0" dirty="0" smtClean="0">
                <a:solidFill>
                  <a:schemeClr val="tx1"/>
                </a:solidFill>
                <a:latin typeface="+mn-lt"/>
                <a:ea typeface="+mn-ea"/>
                <a:cs typeface="+mn-cs"/>
              </a:defRPr>
            </a:lvl1pPr>
          </a:lstStyle>
          <a:p>
            <a:pPr lvl="0"/>
            <a:r>
              <a:rPr lang="en-US" smtClean="0"/>
              <a:t>Click to edit Master text styles</a:t>
            </a:r>
          </a:p>
        </p:txBody>
      </p:sp>
      <p:grpSp>
        <p:nvGrpSpPr>
          <p:cNvPr id="2" name="Group 6"/>
          <p:cNvGrpSpPr>
            <a:grpSpLocks noChangeAspect="1"/>
          </p:cNvGrpSpPr>
          <p:nvPr userDrawn="1"/>
        </p:nvGrpSpPr>
        <p:grpSpPr>
          <a:xfrm>
            <a:off x="128464" y="0"/>
            <a:ext cx="2592388" cy="1530350"/>
            <a:chOff x="-2592388" y="0"/>
            <a:chExt cx="2592388" cy="1530350"/>
          </a:xfrm>
          <a:solidFill>
            <a:schemeClr val="bg1"/>
          </a:solidFill>
        </p:grpSpPr>
        <p:sp>
          <p:nvSpPr>
            <p:cNvPr id="9" name="Freeform 14"/>
            <p:cNvSpPr>
              <a:spLocks noEditPoints="1"/>
            </p:cNvSpPr>
            <p:nvPr userDrawn="1"/>
          </p:nvSpPr>
          <p:spPr bwMode="auto">
            <a:xfrm>
              <a:off x="-2384425" y="393700"/>
              <a:ext cx="2119313" cy="776288"/>
            </a:xfrm>
            <a:custGeom>
              <a:avLst/>
              <a:gdLst/>
              <a:ahLst/>
              <a:cxnLst>
                <a:cxn ang="0">
                  <a:pos x="2851" y="1035"/>
                </a:cxn>
                <a:cxn ang="0">
                  <a:pos x="3588" y="28"/>
                </a:cxn>
                <a:cxn ang="0">
                  <a:pos x="2718" y="826"/>
                </a:cxn>
                <a:cxn ang="0">
                  <a:pos x="1973" y="28"/>
                </a:cxn>
                <a:cxn ang="0">
                  <a:pos x="1663" y="659"/>
                </a:cxn>
                <a:cxn ang="0">
                  <a:pos x="1850" y="28"/>
                </a:cxn>
                <a:cxn ang="0">
                  <a:pos x="1165" y="1000"/>
                </a:cxn>
                <a:cxn ang="0">
                  <a:pos x="1334" y="806"/>
                </a:cxn>
                <a:cxn ang="0">
                  <a:pos x="479" y="1047"/>
                </a:cxn>
                <a:cxn ang="0">
                  <a:pos x="980" y="699"/>
                </a:cxn>
                <a:cxn ang="0">
                  <a:pos x="2747" y="0"/>
                </a:cxn>
                <a:cxn ang="0">
                  <a:pos x="1009" y="0"/>
                </a:cxn>
                <a:cxn ang="0">
                  <a:pos x="665" y="1435"/>
                </a:cxn>
                <a:cxn ang="0">
                  <a:pos x="1150" y="1133"/>
                </a:cxn>
                <a:cxn ang="0">
                  <a:pos x="1980" y="1434"/>
                </a:cxn>
                <a:cxn ang="0">
                  <a:pos x="2963" y="1451"/>
                </a:cxn>
                <a:cxn ang="0">
                  <a:pos x="348" y="2092"/>
                </a:cxn>
                <a:cxn ang="0">
                  <a:pos x="395" y="2104"/>
                </a:cxn>
                <a:cxn ang="0">
                  <a:pos x="880" y="1895"/>
                </a:cxn>
                <a:cxn ang="0">
                  <a:pos x="584" y="1895"/>
                </a:cxn>
                <a:cxn ang="0">
                  <a:pos x="645" y="2088"/>
                </a:cxn>
                <a:cxn ang="0">
                  <a:pos x="813" y="2088"/>
                </a:cxn>
                <a:cxn ang="0">
                  <a:pos x="935" y="1790"/>
                </a:cxn>
                <a:cxn ang="0">
                  <a:pos x="1104" y="1929"/>
                </a:cxn>
                <a:cxn ang="0">
                  <a:pos x="1151" y="1938"/>
                </a:cxn>
                <a:cxn ang="0">
                  <a:pos x="1504" y="2134"/>
                </a:cxn>
                <a:cxn ang="0">
                  <a:pos x="1370" y="2132"/>
                </a:cxn>
                <a:cxn ang="0">
                  <a:pos x="1428" y="1940"/>
                </a:cxn>
                <a:cxn ang="0">
                  <a:pos x="1719" y="1895"/>
                </a:cxn>
                <a:cxn ang="0">
                  <a:pos x="1803" y="2052"/>
                </a:cxn>
                <a:cxn ang="0">
                  <a:pos x="2137" y="1923"/>
                </a:cxn>
                <a:cxn ang="0">
                  <a:pos x="1881" y="2136"/>
                </a:cxn>
                <a:cxn ang="0">
                  <a:pos x="2253" y="2017"/>
                </a:cxn>
                <a:cxn ang="0">
                  <a:pos x="2503" y="1888"/>
                </a:cxn>
                <a:cxn ang="0">
                  <a:pos x="2740" y="2092"/>
                </a:cxn>
                <a:cxn ang="0">
                  <a:pos x="2787" y="2104"/>
                </a:cxn>
                <a:cxn ang="0">
                  <a:pos x="3126" y="2134"/>
                </a:cxn>
                <a:cxn ang="0">
                  <a:pos x="2992" y="2132"/>
                </a:cxn>
                <a:cxn ang="0">
                  <a:pos x="3051" y="1940"/>
                </a:cxn>
                <a:cxn ang="0">
                  <a:pos x="3441" y="1989"/>
                </a:cxn>
                <a:cxn ang="0">
                  <a:pos x="3257" y="1790"/>
                </a:cxn>
                <a:cxn ang="0">
                  <a:pos x="168" y="2120"/>
                </a:cxn>
                <a:cxn ang="0">
                  <a:pos x="3742" y="1935"/>
                </a:cxn>
                <a:cxn ang="0">
                  <a:pos x="3624" y="2110"/>
                </a:cxn>
                <a:cxn ang="0">
                  <a:pos x="3857" y="2017"/>
                </a:cxn>
                <a:cxn ang="0">
                  <a:pos x="4180" y="1894"/>
                </a:cxn>
                <a:cxn ang="0">
                  <a:pos x="4515" y="2136"/>
                </a:cxn>
                <a:cxn ang="0">
                  <a:pos x="4289" y="1939"/>
                </a:cxn>
                <a:cxn ang="0">
                  <a:pos x="4846" y="2010"/>
                </a:cxn>
                <a:cxn ang="0">
                  <a:pos x="4741" y="1935"/>
                </a:cxn>
                <a:cxn ang="0">
                  <a:pos x="4936" y="1789"/>
                </a:cxn>
                <a:cxn ang="0">
                  <a:pos x="5002" y="2021"/>
                </a:cxn>
                <a:cxn ang="0">
                  <a:pos x="5080" y="1988"/>
                </a:cxn>
                <a:cxn ang="0">
                  <a:pos x="5388" y="2136"/>
                </a:cxn>
                <a:cxn ang="0">
                  <a:pos x="5625" y="1893"/>
                </a:cxn>
                <a:cxn ang="0">
                  <a:pos x="5573" y="1790"/>
                </a:cxn>
                <a:cxn ang="0">
                  <a:pos x="5710" y="1848"/>
                </a:cxn>
                <a:cxn ang="0">
                  <a:pos x="5786" y="2086"/>
                </a:cxn>
                <a:cxn ang="0">
                  <a:pos x="5835" y="2229"/>
                </a:cxn>
              </a:cxnLst>
              <a:rect l="0" t="0" r="r" b="b"/>
              <a:pathLst>
                <a:path w="6099" h="2232">
                  <a:moveTo>
                    <a:pt x="3588" y="1105"/>
                  </a:moveTo>
                  <a:cubicBezTo>
                    <a:pt x="3401" y="1105"/>
                    <a:pt x="3401" y="1105"/>
                    <a:pt x="3401" y="1105"/>
                  </a:cubicBezTo>
                  <a:cubicBezTo>
                    <a:pt x="3431" y="981"/>
                    <a:pt x="3431" y="981"/>
                    <a:pt x="3431" y="981"/>
                  </a:cubicBezTo>
                  <a:cubicBezTo>
                    <a:pt x="3055" y="981"/>
                    <a:pt x="3055" y="981"/>
                    <a:pt x="3055" y="981"/>
                  </a:cubicBezTo>
                  <a:cubicBezTo>
                    <a:pt x="3024" y="1105"/>
                    <a:pt x="3024" y="1105"/>
                    <a:pt x="3024" y="1105"/>
                  </a:cubicBezTo>
                  <a:cubicBezTo>
                    <a:pt x="2843" y="1105"/>
                    <a:pt x="2843" y="1105"/>
                    <a:pt x="2843" y="1105"/>
                  </a:cubicBezTo>
                  <a:cubicBezTo>
                    <a:pt x="2843" y="1079"/>
                    <a:pt x="2843" y="1079"/>
                    <a:pt x="2843" y="1079"/>
                  </a:cubicBezTo>
                  <a:cubicBezTo>
                    <a:pt x="2845" y="1065"/>
                    <a:pt x="2848" y="1051"/>
                    <a:pt x="2851" y="1035"/>
                  </a:cubicBezTo>
                  <a:cubicBezTo>
                    <a:pt x="2884" y="901"/>
                    <a:pt x="2972" y="769"/>
                    <a:pt x="3124" y="769"/>
                  </a:cubicBezTo>
                  <a:cubicBezTo>
                    <a:pt x="3185" y="769"/>
                    <a:pt x="3244" y="792"/>
                    <a:pt x="3236" y="875"/>
                  </a:cubicBezTo>
                  <a:cubicBezTo>
                    <a:pt x="3460" y="875"/>
                    <a:pt x="3460" y="875"/>
                    <a:pt x="3460" y="875"/>
                  </a:cubicBezTo>
                  <a:cubicBezTo>
                    <a:pt x="3469" y="836"/>
                    <a:pt x="3484" y="770"/>
                    <a:pt x="3441" y="709"/>
                  </a:cubicBezTo>
                  <a:cubicBezTo>
                    <a:pt x="3394" y="643"/>
                    <a:pt x="3298" y="616"/>
                    <a:pt x="3173" y="616"/>
                  </a:cubicBezTo>
                  <a:cubicBezTo>
                    <a:pt x="3084" y="616"/>
                    <a:pt x="2955" y="631"/>
                    <a:pt x="2843" y="704"/>
                  </a:cubicBezTo>
                  <a:cubicBezTo>
                    <a:pt x="2843" y="28"/>
                    <a:pt x="2843" y="28"/>
                    <a:pt x="2843" y="28"/>
                  </a:cubicBezTo>
                  <a:cubicBezTo>
                    <a:pt x="3588" y="28"/>
                    <a:pt x="3588" y="28"/>
                    <a:pt x="3588" y="28"/>
                  </a:cubicBezTo>
                  <a:lnTo>
                    <a:pt x="3588" y="1105"/>
                  </a:lnTo>
                  <a:close/>
                  <a:moveTo>
                    <a:pt x="3148" y="1287"/>
                  </a:moveTo>
                  <a:cubicBezTo>
                    <a:pt x="3106" y="1294"/>
                    <a:pt x="3063" y="1300"/>
                    <a:pt x="3023" y="1300"/>
                  </a:cubicBezTo>
                  <a:cubicBezTo>
                    <a:pt x="2915" y="1300"/>
                    <a:pt x="2840" y="1250"/>
                    <a:pt x="2839" y="1133"/>
                  </a:cubicBezTo>
                  <a:cubicBezTo>
                    <a:pt x="3186" y="1133"/>
                    <a:pt x="3186" y="1133"/>
                    <a:pt x="3186" y="1133"/>
                  </a:cubicBezTo>
                  <a:lnTo>
                    <a:pt x="3148" y="1287"/>
                  </a:lnTo>
                  <a:close/>
                  <a:moveTo>
                    <a:pt x="2718" y="672"/>
                  </a:moveTo>
                  <a:cubicBezTo>
                    <a:pt x="2718" y="826"/>
                    <a:pt x="2718" y="826"/>
                    <a:pt x="2718" y="826"/>
                  </a:cubicBezTo>
                  <a:cubicBezTo>
                    <a:pt x="2666" y="898"/>
                    <a:pt x="2634" y="976"/>
                    <a:pt x="2619" y="1040"/>
                  </a:cubicBezTo>
                  <a:cubicBezTo>
                    <a:pt x="2613" y="1061"/>
                    <a:pt x="2609" y="1083"/>
                    <a:pt x="2607" y="1105"/>
                  </a:cubicBezTo>
                  <a:cubicBezTo>
                    <a:pt x="2497" y="1105"/>
                    <a:pt x="2497" y="1105"/>
                    <a:pt x="2497" y="1105"/>
                  </a:cubicBezTo>
                  <a:cubicBezTo>
                    <a:pt x="2591" y="660"/>
                    <a:pt x="2591" y="660"/>
                    <a:pt x="2591" y="660"/>
                  </a:cubicBezTo>
                  <a:cubicBezTo>
                    <a:pt x="2276" y="660"/>
                    <a:pt x="2276" y="660"/>
                    <a:pt x="2276" y="660"/>
                  </a:cubicBezTo>
                  <a:cubicBezTo>
                    <a:pt x="1993" y="1105"/>
                    <a:pt x="1993" y="1105"/>
                    <a:pt x="1993" y="1105"/>
                  </a:cubicBezTo>
                  <a:cubicBezTo>
                    <a:pt x="1973" y="1105"/>
                    <a:pt x="1973" y="1105"/>
                    <a:pt x="1973" y="1105"/>
                  </a:cubicBezTo>
                  <a:cubicBezTo>
                    <a:pt x="1973" y="28"/>
                    <a:pt x="1973" y="28"/>
                    <a:pt x="1973" y="28"/>
                  </a:cubicBezTo>
                  <a:cubicBezTo>
                    <a:pt x="2718" y="28"/>
                    <a:pt x="2718" y="28"/>
                    <a:pt x="2718" y="28"/>
                  </a:cubicBezTo>
                  <a:lnTo>
                    <a:pt x="2718" y="672"/>
                  </a:lnTo>
                  <a:close/>
                  <a:moveTo>
                    <a:pt x="2302" y="1105"/>
                  </a:moveTo>
                  <a:cubicBezTo>
                    <a:pt x="2190" y="1105"/>
                    <a:pt x="2190" y="1105"/>
                    <a:pt x="2190" y="1105"/>
                  </a:cubicBezTo>
                  <a:cubicBezTo>
                    <a:pt x="2360" y="838"/>
                    <a:pt x="2360" y="838"/>
                    <a:pt x="2360" y="838"/>
                  </a:cubicBezTo>
                  <a:lnTo>
                    <a:pt x="2302" y="1105"/>
                  </a:lnTo>
                  <a:close/>
                  <a:moveTo>
                    <a:pt x="1850" y="659"/>
                  </a:moveTo>
                  <a:cubicBezTo>
                    <a:pt x="1663" y="659"/>
                    <a:pt x="1663" y="659"/>
                    <a:pt x="1663" y="659"/>
                  </a:cubicBezTo>
                  <a:cubicBezTo>
                    <a:pt x="1535" y="1105"/>
                    <a:pt x="1535" y="1105"/>
                    <a:pt x="1535" y="1105"/>
                  </a:cubicBezTo>
                  <a:cubicBezTo>
                    <a:pt x="1337" y="1105"/>
                    <a:pt x="1337" y="1105"/>
                    <a:pt x="1337" y="1105"/>
                  </a:cubicBezTo>
                  <a:cubicBezTo>
                    <a:pt x="1438" y="1068"/>
                    <a:pt x="1499" y="996"/>
                    <a:pt x="1518" y="890"/>
                  </a:cubicBezTo>
                  <a:cubicBezTo>
                    <a:pt x="1534" y="809"/>
                    <a:pt x="1527" y="755"/>
                    <a:pt x="1493" y="714"/>
                  </a:cubicBezTo>
                  <a:cubicBezTo>
                    <a:pt x="1443" y="654"/>
                    <a:pt x="1342" y="659"/>
                    <a:pt x="1253" y="659"/>
                  </a:cubicBezTo>
                  <a:cubicBezTo>
                    <a:pt x="1237" y="659"/>
                    <a:pt x="1105" y="659"/>
                    <a:pt x="1105" y="659"/>
                  </a:cubicBezTo>
                  <a:cubicBezTo>
                    <a:pt x="1105" y="28"/>
                    <a:pt x="1105" y="28"/>
                    <a:pt x="1105" y="28"/>
                  </a:cubicBezTo>
                  <a:cubicBezTo>
                    <a:pt x="1850" y="28"/>
                    <a:pt x="1850" y="28"/>
                    <a:pt x="1850" y="28"/>
                  </a:cubicBezTo>
                  <a:lnTo>
                    <a:pt x="1850" y="659"/>
                  </a:lnTo>
                  <a:close/>
                  <a:moveTo>
                    <a:pt x="1730" y="1105"/>
                  </a:moveTo>
                  <a:cubicBezTo>
                    <a:pt x="1809" y="826"/>
                    <a:pt x="1809" y="826"/>
                    <a:pt x="1809" y="826"/>
                  </a:cubicBezTo>
                  <a:cubicBezTo>
                    <a:pt x="1812" y="1105"/>
                    <a:pt x="1812" y="1105"/>
                    <a:pt x="1812" y="1105"/>
                  </a:cubicBezTo>
                  <a:lnTo>
                    <a:pt x="1730" y="1105"/>
                  </a:lnTo>
                  <a:close/>
                  <a:moveTo>
                    <a:pt x="1188" y="999"/>
                  </a:moveTo>
                  <a:cubicBezTo>
                    <a:pt x="1187" y="999"/>
                    <a:pt x="1187" y="999"/>
                    <a:pt x="1187" y="999"/>
                  </a:cubicBezTo>
                  <a:cubicBezTo>
                    <a:pt x="1180" y="999"/>
                    <a:pt x="1173" y="1000"/>
                    <a:pt x="1165" y="1000"/>
                  </a:cubicBezTo>
                  <a:cubicBezTo>
                    <a:pt x="1154" y="1000"/>
                    <a:pt x="1145" y="1000"/>
                    <a:pt x="1137" y="1000"/>
                  </a:cubicBezTo>
                  <a:cubicBezTo>
                    <a:pt x="1089" y="1000"/>
                    <a:pt x="1089" y="1000"/>
                    <a:pt x="1089" y="1000"/>
                  </a:cubicBezTo>
                  <a:cubicBezTo>
                    <a:pt x="1111" y="918"/>
                    <a:pt x="1111" y="918"/>
                    <a:pt x="1111" y="918"/>
                  </a:cubicBezTo>
                  <a:cubicBezTo>
                    <a:pt x="1122" y="878"/>
                    <a:pt x="1122" y="878"/>
                    <a:pt x="1122" y="878"/>
                  </a:cubicBezTo>
                  <a:cubicBezTo>
                    <a:pt x="1147" y="783"/>
                    <a:pt x="1147" y="783"/>
                    <a:pt x="1147" y="783"/>
                  </a:cubicBezTo>
                  <a:cubicBezTo>
                    <a:pt x="1158" y="783"/>
                    <a:pt x="1169" y="782"/>
                    <a:pt x="1179" y="782"/>
                  </a:cubicBezTo>
                  <a:cubicBezTo>
                    <a:pt x="1216" y="782"/>
                    <a:pt x="1216" y="782"/>
                    <a:pt x="1216" y="782"/>
                  </a:cubicBezTo>
                  <a:cubicBezTo>
                    <a:pt x="1279" y="782"/>
                    <a:pt x="1319" y="786"/>
                    <a:pt x="1334" y="806"/>
                  </a:cubicBezTo>
                  <a:cubicBezTo>
                    <a:pt x="1345" y="822"/>
                    <a:pt x="1343" y="848"/>
                    <a:pt x="1330" y="888"/>
                  </a:cubicBezTo>
                  <a:cubicBezTo>
                    <a:pt x="1308" y="957"/>
                    <a:pt x="1279" y="992"/>
                    <a:pt x="1188" y="999"/>
                  </a:cubicBezTo>
                  <a:moveTo>
                    <a:pt x="980" y="699"/>
                  </a:moveTo>
                  <a:cubicBezTo>
                    <a:pt x="969" y="737"/>
                    <a:pt x="969" y="737"/>
                    <a:pt x="969" y="737"/>
                  </a:cubicBezTo>
                  <a:cubicBezTo>
                    <a:pt x="862" y="1092"/>
                    <a:pt x="862" y="1092"/>
                    <a:pt x="862" y="1092"/>
                  </a:cubicBezTo>
                  <a:cubicBezTo>
                    <a:pt x="858" y="1105"/>
                    <a:pt x="858" y="1105"/>
                    <a:pt x="858" y="1105"/>
                  </a:cubicBezTo>
                  <a:cubicBezTo>
                    <a:pt x="507" y="1105"/>
                    <a:pt x="507" y="1105"/>
                    <a:pt x="507" y="1105"/>
                  </a:cubicBezTo>
                  <a:cubicBezTo>
                    <a:pt x="479" y="1047"/>
                    <a:pt x="479" y="1047"/>
                    <a:pt x="479" y="1047"/>
                  </a:cubicBezTo>
                  <a:cubicBezTo>
                    <a:pt x="858" y="660"/>
                    <a:pt x="858" y="660"/>
                    <a:pt x="858" y="660"/>
                  </a:cubicBezTo>
                  <a:cubicBezTo>
                    <a:pt x="615" y="660"/>
                    <a:pt x="615" y="660"/>
                    <a:pt x="615" y="660"/>
                  </a:cubicBezTo>
                  <a:cubicBezTo>
                    <a:pt x="319" y="979"/>
                    <a:pt x="319" y="979"/>
                    <a:pt x="319" y="979"/>
                  </a:cubicBezTo>
                  <a:cubicBezTo>
                    <a:pt x="415" y="660"/>
                    <a:pt x="415" y="660"/>
                    <a:pt x="415" y="660"/>
                  </a:cubicBezTo>
                  <a:cubicBezTo>
                    <a:pt x="235" y="660"/>
                    <a:pt x="235" y="660"/>
                    <a:pt x="235" y="660"/>
                  </a:cubicBezTo>
                  <a:cubicBezTo>
                    <a:pt x="235" y="28"/>
                    <a:pt x="235" y="28"/>
                    <a:pt x="235" y="28"/>
                  </a:cubicBezTo>
                  <a:cubicBezTo>
                    <a:pt x="980" y="28"/>
                    <a:pt x="980" y="28"/>
                    <a:pt x="980" y="28"/>
                  </a:cubicBezTo>
                  <a:lnTo>
                    <a:pt x="980" y="699"/>
                  </a:lnTo>
                  <a:close/>
                  <a:moveTo>
                    <a:pt x="281" y="1105"/>
                  </a:moveTo>
                  <a:cubicBezTo>
                    <a:pt x="282" y="1101"/>
                    <a:pt x="282" y="1101"/>
                    <a:pt x="282" y="1101"/>
                  </a:cubicBezTo>
                  <a:cubicBezTo>
                    <a:pt x="285" y="1105"/>
                    <a:pt x="285" y="1105"/>
                    <a:pt x="285" y="1105"/>
                  </a:cubicBezTo>
                  <a:lnTo>
                    <a:pt x="281" y="1105"/>
                  </a:lnTo>
                  <a:close/>
                  <a:moveTo>
                    <a:pt x="2814" y="0"/>
                  </a:moveTo>
                  <a:cubicBezTo>
                    <a:pt x="2814" y="724"/>
                    <a:pt x="2814" y="724"/>
                    <a:pt x="2814" y="724"/>
                  </a:cubicBezTo>
                  <a:cubicBezTo>
                    <a:pt x="2789" y="744"/>
                    <a:pt x="2767" y="765"/>
                    <a:pt x="2747" y="788"/>
                  </a:cubicBezTo>
                  <a:cubicBezTo>
                    <a:pt x="2747" y="0"/>
                    <a:pt x="2747" y="0"/>
                    <a:pt x="2747" y="0"/>
                  </a:cubicBezTo>
                  <a:cubicBezTo>
                    <a:pt x="1945" y="0"/>
                    <a:pt x="1945" y="0"/>
                    <a:pt x="1945" y="0"/>
                  </a:cubicBezTo>
                  <a:cubicBezTo>
                    <a:pt x="1945" y="659"/>
                    <a:pt x="1945" y="659"/>
                    <a:pt x="1945" y="659"/>
                  </a:cubicBezTo>
                  <a:cubicBezTo>
                    <a:pt x="1878" y="659"/>
                    <a:pt x="1878" y="659"/>
                    <a:pt x="1878" y="659"/>
                  </a:cubicBezTo>
                  <a:cubicBezTo>
                    <a:pt x="1878" y="0"/>
                    <a:pt x="1878" y="0"/>
                    <a:pt x="1878" y="0"/>
                  </a:cubicBezTo>
                  <a:cubicBezTo>
                    <a:pt x="1076" y="0"/>
                    <a:pt x="1076" y="0"/>
                    <a:pt x="1076" y="0"/>
                  </a:cubicBezTo>
                  <a:cubicBezTo>
                    <a:pt x="1076" y="660"/>
                    <a:pt x="1076" y="660"/>
                    <a:pt x="1076" y="660"/>
                  </a:cubicBezTo>
                  <a:cubicBezTo>
                    <a:pt x="1009" y="660"/>
                    <a:pt x="1009" y="660"/>
                    <a:pt x="1009" y="660"/>
                  </a:cubicBezTo>
                  <a:cubicBezTo>
                    <a:pt x="1009" y="0"/>
                    <a:pt x="1009" y="0"/>
                    <a:pt x="1009" y="0"/>
                  </a:cubicBezTo>
                  <a:cubicBezTo>
                    <a:pt x="207" y="0"/>
                    <a:pt x="207" y="0"/>
                    <a:pt x="207" y="0"/>
                  </a:cubicBezTo>
                  <a:cubicBezTo>
                    <a:pt x="207" y="753"/>
                    <a:pt x="207" y="753"/>
                    <a:pt x="207" y="753"/>
                  </a:cubicBezTo>
                  <a:cubicBezTo>
                    <a:pt x="2" y="1435"/>
                    <a:pt x="2" y="1435"/>
                    <a:pt x="2" y="1435"/>
                  </a:cubicBezTo>
                  <a:cubicBezTo>
                    <a:pt x="182" y="1435"/>
                    <a:pt x="182" y="1435"/>
                    <a:pt x="182" y="1435"/>
                  </a:cubicBezTo>
                  <a:cubicBezTo>
                    <a:pt x="273" y="1133"/>
                    <a:pt x="273" y="1133"/>
                    <a:pt x="273" y="1133"/>
                  </a:cubicBezTo>
                  <a:cubicBezTo>
                    <a:pt x="299" y="1133"/>
                    <a:pt x="299" y="1133"/>
                    <a:pt x="299" y="1133"/>
                  </a:cubicBezTo>
                  <a:cubicBezTo>
                    <a:pt x="448" y="1435"/>
                    <a:pt x="448" y="1435"/>
                    <a:pt x="448" y="1435"/>
                  </a:cubicBezTo>
                  <a:cubicBezTo>
                    <a:pt x="665" y="1435"/>
                    <a:pt x="665" y="1435"/>
                    <a:pt x="665" y="1435"/>
                  </a:cubicBezTo>
                  <a:cubicBezTo>
                    <a:pt x="520" y="1133"/>
                    <a:pt x="520" y="1133"/>
                    <a:pt x="520" y="1133"/>
                  </a:cubicBezTo>
                  <a:cubicBezTo>
                    <a:pt x="849" y="1133"/>
                    <a:pt x="849" y="1133"/>
                    <a:pt x="849" y="1133"/>
                  </a:cubicBezTo>
                  <a:cubicBezTo>
                    <a:pt x="758" y="1435"/>
                    <a:pt x="758" y="1435"/>
                    <a:pt x="758" y="1435"/>
                  </a:cubicBezTo>
                  <a:cubicBezTo>
                    <a:pt x="955" y="1435"/>
                    <a:pt x="955" y="1435"/>
                    <a:pt x="955" y="1435"/>
                  </a:cubicBezTo>
                  <a:cubicBezTo>
                    <a:pt x="1045" y="1134"/>
                    <a:pt x="1045" y="1134"/>
                    <a:pt x="1045" y="1134"/>
                  </a:cubicBezTo>
                  <a:cubicBezTo>
                    <a:pt x="1088" y="1134"/>
                    <a:pt x="1088" y="1134"/>
                    <a:pt x="1088" y="1134"/>
                  </a:cubicBezTo>
                  <a:cubicBezTo>
                    <a:pt x="1088" y="1133"/>
                    <a:pt x="1088" y="1133"/>
                    <a:pt x="1088" y="1133"/>
                  </a:cubicBezTo>
                  <a:cubicBezTo>
                    <a:pt x="1150" y="1133"/>
                    <a:pt x="1150" y="1133"/>
                    <a:pt x="1150" y="1133"/>
                  </a:cubicBezTo>
                  <a:cubicBezTo>
                    <a:pt x="1155" y="1133"/>
                    <a:pt x="1155" y="1133"/>
                    <a:pt x="1155" y="1133"/>
                  </a:cubicBezTo>
                  <a:cubicBezTo>
                    <a:pt x="1527" y="1133"/>
                    <a:pt x="1527" y="1133"/>
                    <a:pt x="1527" y="1133"/>
                  </a:cubicBezTo>
                  <a:cubicBezTo>
                    <a:pt x="1440" y="1434"/>
                    <a:pt x="1440" y="1434"/>
                    <a:pt x="1440" y="1434"/>
                  </a:cubicBezTo>
                  <a:cubicBezTo>
                    <a:pt x="1638" y="1434"/>
                    <a:pt x="1638" y="1434"/>
                    <a:pt x="1638" y="1434"/>
                  </a:cubicBezTo>
                  <a:cubicBezTo>
                    <a:pt x="1722" y="1133"/>
                    <a:pt x="1722" y="1133"/>
                    <a:pt x="1722" y="1133"/>
                  </a:cubicBezTo>
                  <a:cubicBezTo>
                    <a:pt x="1812" y="1133"/>
                    <a:pt x="1812" y="1133"/>
                    <a:pt x="1812" y="1133"/>
                  </a:cubicBezTo>
                  <a:cubicBezTo>
                    <a:pt x="1814" y="1434"/>
                    <a:pt x="1814" y="1434"/>
                    <a:pt x="1814" y="1434"/>
                  </a:cubicBezTo>
                  <a:cubicBezTo>
                    <a:pt x="1980" y="1434"/>
                    <a:pt x="1980" y="1434"/>
                    <a:pt x="1980" y="1434"/>
                  </a:cubicBezTo>
                  <a:cubicBezTo>
                    <a:pt x="2171" y="1133"/>
                    <a:pt x="2171" y="1133"/>
                    <a:pt x="2171" y="1133"/>
                  </a:cubicBezTo>
                  <a:cubicBezTo>
                    <a:pt x="2296" y="1133"/>
                    <a:pt x="2296" y="1133"/>
                    <a:pt x="2296" y="1133"/>
                  </a:cubicBezTo>
                  <a:cubicBezTo>
                    <a:pt x="2232" y="1434"/>
                    <a:pt x="2232" y="1434"/>
                    <a:pt x="2232" y="1434"/>
                  </a:cubicBezTo>
                  <a:cubicBezTo>
                    <a:pt x="2427" y="1434"/>
                    <a:pt x="2427" y="1434"/>
                    <a:pt x="2427" y="1434"/>
                  </a:cubicBezTo>
                  <a:cubicBezTo>
                    <a:pt x="2491" y="1133"/>
                    <a:pt x="2491" y="1133"/>
                    <a:pt x="2491" y="1133"/>
                  </a:cubicBezTo>
                  <a:cubicBezTo>
                    <a:pt x="2604" y="1133"/>
                    <a:pt x="2604" y="1133"/>
                    <a:pt x="2604" y="1133"/>
                  </a:cubicBezTo>
                  <a:cubicBezTo>
                    <a:pt x="2599" y="1226"/>
                    <a:pt x="2623" y="1311"/>
                    <a:pt x="2685" y="1368"/>
                  </a:cubicBezTo>
                  <a:cubicBezTo>
                    <a:pt x="2761" y="1438"/>
                    <a:pt x="2877" y="1451"/>
                    <a:pt x="2963" y="1451"/>
                  </a:cubicBezTo>
                  <a:cubicBezTo>
                    <a:pt x="3081" y="1451"/>
                    <a:pt x="3203" y="1434"/>
                    <a:pt x="3326" y="1407"/>
                  </a:cubicBezTo>
                  <a:cubicBezTo>
                    <a:pt x="3394" y="1133"/>
                    <a:pt x="3394" y="1133"/>
                    <a:pt x="3394" y="1133"/>
                  </a:cubicBezTo>
                  <a:cubicBezTo>
                    <a:pt x="3617" y="1133"/>
                    <a:pt x="3617" y="1133"/>
                    <a:pt x="3617" y="1133"/>
                  </a:cubicBezTo>
                  <a:cubicBezTo>
                    <a:pt x="3617" y="0"/>
                    <a:pt x="3617" y="0"/>
                    <a:pt x="3617" y="0"/>
                  </a:cubicBezTo>
                  <a:lnTo>
                    <a:pt x="2814" y="0"/>
                  </a:lnTo>
                  <a:close/>
                  <a:moveTo>
                    <a:pt x="351" y="1894"/>
                  </a:moveTo>
                  <a:cubicBezTo>
                    <a:pt x="321" y="2038"/>
                    <a:pt x="321" y="2038"/>
                    <a:pt x="321" y="2038"/>
                  </a:cubicBezTo>
                  <a:cubicBezTo>
                    <a:pt x="316" y="2060"/>
                    <a:pt x="309" y="2092"/>
                    <a:pt x="348" y="2092"/>
                  </a:cubicBezTo>
                  <a:cubicBezTo>
                    <a:pt x="393" y="2092"/>
                    <a:pt x="400" y="2058"/>
                    <a:pt x="409" y="2016"/>
                  </a:cubicBezTo>
                  <a:cubicBezTo>
                    <a:pt x="435" y="1894"/>
                    <a:pt x="435" y="1894"/>
                    <a:pt x="435" y="1894"/>
                  </a:cubicBezTo>
                  <a:cubicBezTo>
                    <a:pt x="508" y="1894"/>
                    <a:pt x="508" y="1894"/>
                    <a:pt x="508" y="1894"/>
                  </a:cubicBezTo>
                  <a:cubicBezTo>
                    <a:pt x="474" y="2053"/>
                    <a:pt x="474" y="2053"/>
                    <a:pt x="474" y="2053"/>
                  </a:cubicBezTo>
                  <a:cubicBezTo>
                    <a:pt x="464" y="2106"/>
                    <a:pt x="463" y="2112"/>
                    <a:pt x="462" y="2118"/>
                  </a:cubicBezTo>
                  <a:cubicBezTo>
                    <a:pt x="461" y="2125"/>
                    <a:pt x="460" y="2130"/>
                    <a:pt x="460" y="2136"/>
                  </a:cubicBezTo>
                  <a:cubicBezTo>
                    <a:pt x="391" y="2136"/>
                    <a:pt x="391" y="2136"/>
                    <a:pt x="391" y="2136"/>
                  </a:cubicBezTo>
                  <a:cubicBezTo>
                    <a:pt x="395" y="2104"/>
                    <a:pt x="395" y="2104"/>
                    <a:pt x="395" y="2104"/>
                  </a:cubicBezTo>
                  <a:cubicBezTo>
                    <a:pt x="386" y="2115"/>
                    <a:pt x="362" y="2143"/>
                    <a:pt x="315" y="2143"/>
                  </a:cubicBezTo>
                  <a:cubicBezTo>
                    <a:pt x="283" y="2143"/>
                    <a:pt x="259" y="2128"/>
                    <a:pt x="250" y="2110"/>
                  </a:cubicBezTo>
                  <a:cubicBezTo>
                    <a:pt x="238" y="2090"/>
                    <a:pt x="245" y="2056"/>
                    <a:pt x="248" y="2045"/>
                  </a:cubicBezTo>
                  <a:cubicBezTo>
                    <a:pt x="279" y="1894"/>
                    <a:pt x="279" y="1894"/>
                    <a:pt x="279" y="1894"/>
                  </a:cubicBezTo>
                  <a:lnTo>
                    <a:pt x="351" y="1894"/>
                  </a:lnTo>
                  <a:close/>
                  <a:moveTo>
                    <a:pt x="812" y="1942"/>
                  </a:moveTo>
                  <a:cubicBezTo>
                    <a:pt x="870" y="1942"/>
                    <a:pt x="870" y="1942"/>
                    <a:pt x="870" y="1942"/>
                  </a:cubicBezTo>
                  <a:cubicBezTo>
                    <a:pt x="880" y="1895"/>
                    <a:pt x="880" y="1895"/>
                    <a:pt x="880" y="1895"/>
                  </a:cubicBezTo>
                  <a:cubicBezTo>
                    <a:pt x="822" y="1895"/>
                    <a:pt x="822" y="1895"/>
                    <a:pt x="822" y="1895"/>
                  </a:cubicBezTo>
                  <a:cubicBezTo>
                    <a:pt x="838" y="1822"/>
                    <a:pt x="838" y="1822"/>
                    <a:pt x="838" y="1822"/>
                  </a:cubicBezTo>
                  <a:cubicBezTo>
                    <a:pt x="762" y="1848"/>
                    <a:pt x="762" y="1848"/>
                    <a:pt x="762" y="1848"/>
                  </a:cubicBezTo>
                  <a:cubicBezTo>
                    <a:pt x="752" y="1895"/>
                    <a:pt x="752" y="1895"/>
                    <a:pt x="752" y="1895"/>
                  </a:cubicBezTo>
                  <a:cubicBezTo>
                    <a:pt x="654" y="1895"/>
                    <a:pt x="654" y="1895"/>
                    <a:pt x="654" y="1895"/>
                  </a:cubicBezTo>
                  <a:cubicBezTo>
                    <a:pt x="670" y="1822"/>
                    <a:pt x="670" y="1822"/>
                    <a:pt x="670" y="1822"/>
                  </a:cubicBezTo>
                  <a:cubicBezTo>
                    <a:pt x="594" y="1848"/>
                    <a:pt x="594" y="1848"/>
                    <a:pt x="594" y="1848"/>
                  </a:cubicBezTo>
                  <a:cubicBezTo>
                    <a:pt x="584" y="1895"/>
                    <a:pt x="584" y="1895"/>
                    <a:pt x="584" y="1895"/>
                  </a:cubicBezTo>
                  <a:cubicBezTo>
                    <a:pt x="537" y="1895"/>
                    <a:pt x="537" y="1895"/>
                    <a:pt x="537" y="1895"/>
                  </a:cubicBezTo>
                  <a:cubicBezTo>
                    <a:pt x="527" y="1942"/>
                    <a:pt x="527" y="1942"/>
                    <a:pt x="527" y="1942"/>
                  </a:cubicBezTo>
                  <a:cubicBezTo>
                    <a:pt x="574" y="1942"/>
                    <a:pt x="574" y="1942"/>
                    <a:pt x="574" y="1942"/>
                  </a:cubicBezTo>
                  <a:cubicBezTo>
                    <a:pt x="545" y="2075"/>
                    <a:pt x="545" y="2075"/>
                    <a:pt x="545" y="2075"/>
                  </a:cubicBezTo>
                  <a:cubicBezTo>
                    <a:pt x="541" y="2095"/>
                    <a:pt x="531" y="2141"/>
                    <a:pt x="603" y="2141"/>
                  </a:cubicBezTo>
                  <a:cubicBezTo>
                    <a:pt x="615" y="2141"/>
                    <a:pt x="636" y="2139"/>
                    <a:pt x="660" y="2133"/>
                  </a:cubicBezTo>
                  <a:cubicBezTo>
                    <a:pt x="670" y="2086"/>
                    <a:pt x="670" y="2086"/>
                    <a:pt x="670" y="2086"/>
                  </a:cubicBezTo>
                  <a:cubicBezTo>
                    <a:pt x="661" y="2087"/>
                    <a:pt x="656" y="2088"/>
                    <a:pt x="645" y="2088"/>
                  </a:cubicBezTo>
                  <a:cubicBezTo>
                    <a:pt x="614" y="2088"/>
                    <a:pt x="617" y="2074"/>
                    <a:pt x="621" y="2052"/>
                  </a:cubicBezTo>
                  <a:cubicBezTo>
                    <a:pt x="645" y="1942"/>
                    <a:pt x="645" y="1942"/>
                    <a:pt x="645" y="1942"/>
                  </a:cubicBezTo>
                  <a:cubicBezTo>
                    <a:pt x="741" y="1942"/>
                    <a:pt x="741" y="1942"/>
                    <a:pt x="741" y="1942"/>
                  </a:cubicBezTo>
                  <a:cubicBezTo>
                    <a:pt x="713" y="2075"/>
                    <a:pt x="713" y="2075"/>
                    <a:pt x="713" y="2075"/>
                  </a:cubicBezTo>
                  <a:cubicBezTo>
                    <a:pt x="709" y="2095"/>
                    <a:pt x="699" y="2141"/>
                    <a:pt x="771" y="2141"/>
                  </a:cubicBezTo>
                  <a:cubicBezTo>
                    <a:pt x="782" y="2141"/>
                    <a:pt x="804" y="2139"/>
                    <a:pt x="828" y="2133"/>
                  </a:cubicBezTo>
                  <a:cubicBezTo>
                    <a:pt x="838" y="2086"/>
                    <a:pt x="838" y="2086"/>
                    <a:pt x="838" y="2086"/>
                  </a:cubicBezTo>
                  <a:cubicBezTo>
                    <a:pt x="829" y="2087"/>
                    <a:pt x="824" y="2088"/>
                    <a:pt x="813" y="2088"/>
                  </a:cubicBezTo>
                  <a:cubicBezTo>
                    <a:pt x="781" y="2088"/>
                    <a:pt x="785" y="2074"/>
                    <a:pt x="788" y="2052"/>
                  </a:cubicBezTo>
                  <a:lnTo>
                    <a:pt x="812" y="1942"/>
                  </a:lnTo>
                  <a:close/>
                  <a:moveTo>
                    <a:pt x="916" y="1893"/>
                  </a:moveTo>
                  <a:cubicBezTo>
                    <a:pt x="987" y="1893"/>
                    <a:pt x="987" y="1893"/>
                    <a:pt x="987" y="1893"/>
                  </a:cubicBezTo>
                  <a:cubicBezTo>
                    <a:pt x="935" y="2136"/>
                    <a:pt x="935" y="2136"/>
                    <a:pt x="935" y="2136"/>
                  </a:cubicBezTo>
                  <a:cubicBezTo>
                    <a:pt x="864" y="2136"/>
                    <a:pt x="864" y="2136"/>
                    <a:pt x="864" y="2136"/>
                  </a:cubicBezTo>
                  <a:lnTo>
                    <a:pt x="916" y="1893"/>
                  </a:lnTo>
                  <a:close/>
                  <a:moveTo>
                    <a:pt x="935" y="1790"/>
                  </a:moveTo>
                  <a:cubicBezTo>
                    <a:pt x="1011" y="1790"/>
                    <a:pt x="1011" y="1790"/>
                    <a:pt x="1011" y="1790"/>
                  </a:cubicBezTo>
                  <a:cubicBezTo>
                    <a:pt x="998" y="1851"/>
                    <a:pt x="998" y="1851"/>
                    <a:pt x="998" y="1851"/>
                  </a:cubicBezTo>
                  <a:cubicBezTo>
                    <a:pt x="922" y="1851"/>
                    <a:pt x="922" y="1851"/>
                    <a:pt x="922" y="1851"/>
                  </a:cubicBezTo>
                  <a:lnTo>
                    <a:pt x="935" y="1790"/>
                  </a:lnTo>
                  <a:close/>
                  <a:moveTo>
                    <a:pt x="1034" y="1937"/>
                  </a:moveTo>
                  <a:cubicBezTo>
                    <a:pt x="1034" y="1936"/>
                    <a:pt x="1040" y="1909"/>
                    <a:pt x="1042" y="1893"/>
                  </a:cubicBezTo>
                  <a:cubicBezTo>
                    <a:pt x="1110" y="1893"/>
                    <a:pt x="1110" y="1893"/>
                    <a:pt x="1110" y="1893"/>
                  </a:cubicBezTo>
                  <a:cubicBezTo>
                    <a:pt x="1104" y="1929"/>
                    <a:pt x="1104" y="1929"/>
                    <a:pt x="1104" y="1929"/>
                  </a:cubicBezTo>
                  <a:cubicBezTo>
                    <a:pt x="1113" y="1918"/>
                    <a:pt x="1139" y="1887"/>
                    <a:pt x="1192" y="1887"/>
                  </a:cubicBezTo>
                  <a:cubicBezTo>
                    <a:pt x="1239" y="1887"/>
                    <a:pt x="1254" y="1916"/>
                    <a:pt x="1256" y="1933"/>
                  </a:cubicBezTo>
                  <a:cubicBezTo>
                    <a:pt x="1259" y="1948"/>
                    <a:pt x="1257" y="1960"/>
                    <a:pt x="1248" y="2005"/>
                  </a:cubicBezTo>
                  <a:cubicBezTo>
                    <a:pt x="1220" y="2136"/>
                    <a:pt x="1220" y="2136"/>
                    <a:pt x="1220" y="2136"/>
                  </a:cubicBezTo>
                  <a:cubicBezTo>
                    <a:pt x="1147" y="2136"/>
                    <a:pt x="1147" y="2136"/>
                    <a:pt x="1147" y="2136"/>
                  </a:cubicBezTo>
                  <a:cubicBezTo>
                    <a:pt x="1179" y="1985"/>
                    <a:pt x="1179" y="1985"/>
                    <a:pt x="1179" y="1985"/>
                  </a:cubicBezTo>
                  <a:cubicBezTo>
                    <a:pt x="1181" y="1975"/>
                    <a:pt x="1183" y="1967"/>
                    <a:pt x="1181" y="1959"/>
                  </a:cubicBezTo>
                  <a:cubicBezTo>
                    <a:pt x="1178" y="1949"/>
                    <a:pt x="1169" y="1938"/>
                    <a:pt x="1151" y="1938"/>
                  </a:cubicBezTo>
                  <a:cubicBezTo>
                    <a:pt x="1136" y="1938"/>
                    <a:pt x="1120" y="1946"/>
                    <a:pt x="1110" y="1957"/>
                  </a:cubicBezTo>
                  <a:cubicBezTo>
                    <a:pt x="1104" y="1963"/>
                    <a:pt x="1097" y="1975"/>
                    <a:pt x="1093" y="1994"/>
                  </a:cubicBezTo>
                  <a:cubicBezTo>
                    <a:pt x="1063" y="2136"/>
                    <a:pt x="1063" y="2136"/>
                    <a:pt x="1063" y="2136"/>
                  </a:cubicBezTo>
                  <a:cubicBezTo>
                    <a:pt x="992" y="2136"/>
                    <a:pt x="992" y="2136"/>
                    <a:pt x="992" y="2136"/>
                  </a:cubicBezTo>
                  <a:lnTo>
                    <a:pt x="1034" y="1937"/>
                  </a:lnTo>
                  <a:close/>
                  <a:moveTo>
                    <a:pt x="1558" y="1895"/>
                  </a:moveTo>
                  <a:cubicBezTo>
                    <a:pt x="1552" y="1914"/>
                    <a:pt x="1547" y="1930"/>
                    <a:pt x="1542" y="1955"/>
                  </a:cubicBezTo>
                  <a:cubicBezTo>
                    <a:pt x="1504" y="2134"/>
                    <a:pt x="1504" y="2134"/>
                    <a:pt x="1504" y="2134"/>
                  </a:cubicBezTo>
                  <a:cubicBezTo>
                    <a:pt x="1486" y="2223"/>
                    <a:pt x="1409" y="2232"/>
                    <a:pt x="1363" y="2232"/>
                  </a:cubicBezTo>
                  <a:cubicBezTo>
                    <a:pt x="1328" y="2232"/>
                    <a:pt x="1261" y="2228"/>
                    <a:pt x="1272" y="2154"/>
                  </a:cubicBezTo>
                  <a:cubicBezTo>
                    <a:pt x="1340" y="2154"/>
                    <a:pt x="1340" y="2154"/>
                    <a:pt x="1340" y="2154"/>
                  </a:cubicBezTo>
                  <a:cubicBezTo>
                    <a:pt x="1340" y="2158"/>
                    <a:pt x="1339" y="2166"/>
                    <a:pt x="1344" y="2174"/>
                  </a:cubicBezTo>
                  <a:cubicBezTo>
                    <a:pt x="1348" y="2181"/>
                    <a:pt x="1357" y="2188"/>
                    <a:pt x="1375" y="2188"/>
                  </a:cubicBezTo>
                  <a:cubicBezTo>
                    <a:pt x="1397" y="2188"/>
                    <a:pt x="1417" y="2178"/>
                    <a:pt x="1427" y="2156"/>
                  </a:cubicBezTo>
                  <a:cubicBezTo>
                    <a:pt x="1432" y="2144"/>
                    <a:pt x="1434" y="2135"/>
                    <a:pt x="1442" y="2099"/>
                  </a:cubicBezTo>
                  <a:cubicBezTo>
                    <a:pt x="1413" y="2128"/>
                    <a:pt x="1387" y="2132"/>
                    <a:pt x="1370" y="2132"/>
                  </a:cubicBezTo>
                  <a:cubicBezTo>
                    <a:pt x="1300" y="2132"/>
                    <a:pt x="1280" y="2071"/>
                    <a:pt x="1293" y="2012"/>
                  </a:cubicBezTo>
                  <a:cubicBezTo>
                    <a:pt x="1306" y="1951"/>
                    <a:pt x="1352" y="1892"/>
                    <a:pt x="1422" y="1892"/>
                  </a:cubicBezTo>
                  <a:cubicBezTo>
                    <a:pt x="1466" y="1892"/>
                    <a:pt x="1477" y="1916"/>
                    <a:pt x="1482" y="1927"/>
                  </a:cubicBezTo>
                  <a:cubicBezTo>
                    <a:pt x="1492" y="1895"/>
                    <a:pt x="1492" y="1895"/>
                    <a:pt x="1492" y="1895"/>
                  </a:cubicBezTo>
                  <a:lnTo>
                    <a:pt x="1558" y="1895"/>
                  </a:lnTo>
                  <a:close/>
                  <a:moveTo>
                    <a:pt x="1397" y="2083"/>
                  </a:moveTo>
                  <a:cubicBezTo>
                    <a:pt x="1447" y="2083"/>
                    <a:pt x="1459" y="2025"/>
                    <a:pt x="1461" y="2014"/>
                  </a:cubicBezTo>
                  <a:cubicBezTo>
                    <a:pt x="1467" y="1986"/>
                    <a:pt x="1472" y="1940"/>
                    <a:pt x="1428" y="1940"/>
                  </a:cubicBezTo>
                  <a:cubicBezTo>
                    <a:pt x="1401" y="1940"/>
                    <a:pt x="1375" y="1960"/>
                    <a:pt x="1364" y="2012"/>
                  </a:cubicBezTo>
                  <a:cubicBezTo>
                    <a:pt x="1362" y="2025"/>
                    <a:pt x="1349" y="2083"/>
                    <a:pt x="1397" y="2083"/>
                  </a:cubicBezTo>
                  <a:moveTo>
                    <a:pt x="1842" y="2133"/>
                  </a:moveTo>
                  <a:cubicBezTo>
                    <a:pt x="1818" y="2139"/>
                    <a:pt x="1797" y="2141"/>
                    <a:pt x="1786" y="2141"/>
                  </a:cubicBezTo>
                  <a:cubicBezTo>
                    <a:pt x="1714" y="2141"/>
                    <a:pt x="1723" y="2095"/>
                    <a:pt x="1728" y="2075"/>
                  </a:cubicBezTo>
                  <a:cubicBezTo>
                    <a:pt x="1756" y="1942"/>
                    <a:pt x="1756" y="1942"/>
                    <a:pt x="1756" y="1942"/>
                  </a:cubicBezTo>
                  <a:cubicBezTo>
                    <a:pt x="1710" y="1942"/>
                    <a:pt x="1710" y="1942"/>
                    <a:pt x="1710" y="1942"/>
                  </a:cubicBezTo>
                  <a:cubicBezTo>
                    <a:pt x="1719" y="1895"/>
                    <a:pt x="1719" y="1895"/>
                    <a:pt x="1719" y="1895"/>
                  </a:cubicBezTo>
                  <a:cubicBezTo>
                    <a:pt x="1766" y="1895"/>
                    <a:pt x="1766" y="1895"/>
                    <a:pt x="1766" y="1895"/>
                  </a:cubicBezTo>
                  <a:cubicBezTo>
                    <a:pt x="1776" y="1848"/>
                    <a:pt x="1776" y="1848"/>
                    <a:pt x="1776" y="1848"/>
                  </a:cubicBezTo>
                  <a:cubicBezTo>
                    <a:pt x="1852" y="1822"/>
                    <a:pt x="1852" y="1822"/>
                    <a:pt x="1852" y="1822"/>
                  </a:cubicBezTo>
                  <a:cubicBezTo>
                    <a:pt x="1837" y="1895"/>
                    <a:pt x="1837" y="1895"/>
                    <a:pt x="1837" y="1895"/>
                  </a:cubicBezTo>
                  <a:cubicBezTo>
                    <a:pt x="1895" y="1895"/>
                    <a:pt x="1895" y="1895"/>
                    <a:pt x="1895" y="1895"/>
                  </a:cubicBezTo>
                  <a:cubicBezTo>
                    <a:pt x="1884" y="1942"/>
                    <a:pt x="1884" y="1942"/>
                    <a:pt x="1884" y="1942"/>
                  </a:cubicBezTo>
                  <a:cubicBezTo>
                    <a:pt x="1827" y="1942"/>
                    <a:pt x="1827" y="1942"/>
                    <a:pt x="1827" y="1942"/>
                  </a:cubicBezTo>
                  <a:cubicBezTo>
                    <a:pt x="1803" y="2052"/>
                    <a:pt x="1803" y="2052"/>
                    <a:pt x="1803" y="2052"/>
                  </a:cubicBezTo>
                  <a:cubicBezTo>
                    <a:pt x="1799" y="2074"/>
                    <a:pt x="1796" y="2088"/>
                    <a:pt x="1828" y="2088"/>
                  </a:cubicBezTo>
                  <a:cubicBezTo>
                    <a:pt x="1838" y="2088"/>
                    <a:pt x="1844" y="2087"/>
                    <a:pt x="1852" y="2086"/>
                  </a:cubicBezTo>
                  <a:lnTo>
                    <a:pt x="1842" y="2133"/>
                  </a:lnTo>
                  <a:close/>
                  <a:moveTo>
                    <a:pt x="1954" y="1790"/>
                  </a:moveTo>
                  <a:cubicBezTo>
                    <a:pt x="2025" y="1790"/>
                    <a:pt x="2025" y="1790"/>
                    <a:pt x="2025" y="1790"/>
                  </a:cubicBezTo>
                  <a:cubicBezTo>
                    <a:pt x="1996" y="1927"/>
                    <a:pt x="1996" y="1927"/>
                    <a:pt x="1996" y="1927"/>
                  </a:cubicBezTo>
                  <a:cubicBezTo>
                    <a:pt x="2007" y="1915"/>
                    <a:pt x="2030" y="1890"/>
                    <a:pt x="2074" y="1890"/>
                  </a:cubicBezTo>
                  <a:cubicBezTo>
                    <a:pt x="2110" y="1890"/>
                    <a:pt x="2129" y="1908"/>
                    <a:pt x="2137" y="1923"/>
                  </a:cubicBezTo>
                  <a:cubicBezTo>
                    <a:pt x="2143" y="1935"/>
                    <a:pt x="2146" y="1957"/>
                    <a:pt x="2139" y="1989"/>
                  </a:cubicBezTo>
                  <a:cubicBezTo>
                    <a:pt x="2108" y="2136"/>
                    <a:pt x="2108" y="2136"/>
                    <a:pt x="2108" y="2136"/>
                  </a:cubicBezTo>
                  <a:cubicBezTo>
                    <a:pt x="2037" y="2136"/>
                    <a:pt x="2037" y="2136"/>
                    <a:pt x="2037" y="2136"/>
                  </a:cubicBezTo>
                  <a:cubicBezTo>
                    <a:pt x="2068" y="1991"/>
                    <a:pt x="2068" y="1991"/>
                    <a:pt x="2068" y="1991"/>
                  </a:cubicBezTo>
                  <a:cubicBezTo>
                    <a:pt x="2071" y="1977"/>
                    <a:pt x="2079" y="1938"/>
                    <a:pt x="2040" y="1938"/>
                  </a:cubicBezTo>
                  <a:cubicBezTo>
                    <a:pt x="2019" y="1938"/>
                    <a:pt x="1991" y="1950"/>
                    <a:pt x="1983" y="1988"/>
                  </a:cubicBezTo>
                  <a:cubicBezTo>
                    <a:pt x="1952" y="2136"/>
                    <a:pt x="1952" y="2136"/>
                    <a:pt x="1952" y="2136"/>
                  </a:cubicBezTo>
                  <a:cubicBezTo>
                    <a:pt x="1881" y="2136"/>
                    <a:pt x="1881" y="2136"/>
                    <a:pt x="1881" y="2136"/>
                  </a:cubicBezTo>
                  <a:lnTo>
                    <a:pt x="1954" y="1790"/>
                  </a:lnTo>
                  <a:close/>
                  <a:moveTo>
                    <a:pt x="2195" y="1953"/>
                  </a:moveTo>
                  <a:cubicBezTo>
                    <a:pt x="2197" y="1942"/>
                    <a:pt x="2203" y="1906"/>
                    <a:pt x="2205" y="1893"/>
                  </a:cubicBezTo>
                  <a:cubicBezTo>
                    <a:pt x="2271" y="1893"/>
                    <a:pt x="2271" y="1893"/>
                    <a:pt x="2271" y="1893"/>
                  </a:cubicBezTo>
                  <a:cubicBezTo>
                    <a:pt x="2263" y="1939"/>
                    <a:pt x="2263" y="1939"/>
                    <a:pt x="2263" y="1939"/>
                  </a:cubicBezTo>
                  <a:cubicBezTo>
                    <a:pt x="2276" y="1919"/>
                    <a:pt x="2298" y="1889"/>
                    <a:pt x="2356" y="1892"/>
                  </a:cubicBezTo>
                  <a:cubicBezTo>
                    <a:pt x="2342" y="1956"/>
                    <a:pt x="2342" y="1956"/>
                    <a:pt x="2342" y="1956"/>
                  </a:cubicBezTo>
                  <a:cubicBezTo>
                    <a:pt x="2271" y="1949"/>
                    <a:pt x="2259" y="1986"/>
                    <a:pt x="2253" y="2017"/>
                  </a:cubicBezTo>
                  <a:cubicBezTo>
                    <a:pt x="2227" y="2136"/>
                    <a:pt x="2227" y="2136"/>
                    <a:pt x="2227" y="2136"/>
                  </a:cubicBezTo>
                  <a:cubicBezTo>
                    <a:pt x="2156" y="2136"/>
                    <a:pt x="2156" y="2136"/>
                    <a:pt x="2156" y="2136"/>
                  </a:cubicBezTo>
                  <a:lnTo>
                    <a:pt x="2195" y="1953"/>
                  </a:lnTo>
                  <a:close/>
                  <a:moveTo>
                    <a:pt x="2503" y="1888"/>
                  </a:moveTo>
                  <a:cubicBezTo>
                    <a:pt x="2591" y="1888"/>
                    <a:pt x="2617" y="1948"/>
                    <a:pt x="2602" y="2015"/>
                  </a:cubicBezTo>
                  <a:cubicBezTo>
                    <a:pt x="2587" y="2083"/>
                    <a:pt x="2535" y="2145"/>
                    <a:pt x="2447" y="2145"/>
                  </a:cubicBezTo>
                  <a:cubicBezTo>
                    <a:pt x="2378" y="2145"/>
                    <a:pt x="2332" y="2102"/>
                    <a:pt x="2350" y="2017"/>
                  </a:cubicBezTo>
                  <a:cubicBezTo>
                    <a:pt x="2362" y="1959"/>
                    <a:pt x="2408" y="1888"/>
                    <a:pt x="2503" y="1888"/>
                  </a:cubicBezTo>
                  <a:moveTo>
                    <a:pt x="2460" y="2095"/>
                  </a:moveTo>
                  <a:cubicBezTo>
                    <a:pt x="2491" y="2095"/>
                    <a:pt x="2516" y="2077"/>
                    <a:pt x="2530" y="2012"/>
                  </a:cubicBezTo>
                  <a:cubicBezTo>
                    <a:pt x="2537" y="1980"/>
                    <a:pt x="2540" y="1935"/>
                    <a:pt x="2493" y="1935"/>
                  </a:cubicBezTo>
                  <a:cubicBezTo>
                    <a:pt x="2441" y="1935"/>
                    <a:pt x="2427" y="1995"/>
                    <a:pt x="2423" y="2018"/>
                  </a:cubicBezTo>
                  <a:cubicBezTo>
                    <a:pt x="2411" y="2072"/>
                    <a:pt x="2425" y="2095"/>
                    <a:pt x="2460" y="2095"/>
                  </a:cubicBezTo>
                  <a:moveTo>
                    <a:pt x="2743" y="1894"/>
                  </a:moveTo>
                  <a:cubicBezTo>
                    <a:pt x="2713" y="2038"/>
                    <a:pt x="2713" y="2038"/>
                    <a:pt x="2713" y="2038"/>
                  </a:cubicBezTo>
                  <a:cubicBezTo>
                    <a:pt x="2708" y="2060"/>
                    <a:pt x="2701" y="2092"/>
                    <a:pt x="2740" y="2092"/>
                  </a:cubicBezTo>
                  <a:cubicBezTo>
                    <a:pt x="2785" y="2092"/>
                    <a:pt x="2792" y="2058"/>
                    <a:pt x="2801" y="2016"/>
                  </a:cubicBezTo>
                  <a:cubicBezTo>
                    <a:pt x="2827" y="1894"/>
                    <a:pt x="2827" y="1894"/>
                    <a:pt x="2827" y="1894"/>
                  </a:cubicBezTo>
                  <a:cubicBezTo>
                    <a:pt x="2900" y="1894"/>
                    <a:pt x="2900" y="1894"/>
                    <a:pt x="2900" y="1894"/>
                  </a:cubicBezTo>
                  <a:cubicBezTo>
                    <a:pt x="2867" y="2053"/>
                    <a:pt x="2867" y="2053"/>
                    <a:pt x="2867" y="2053"/>
                  </a:cubicBezTo>
                  <a:cubicBezTo>
                    <a:pt x="2856" y="2106"/>
                    <a:pt x="2855" y="2112"/>
                    <a:pt x="2854" y="2118"/>
                  </a:cubicBezTo>
                  <a:cubicBezTo>
                    <a:pt x="2853" y="2125"/>
                    <a:pt x="2852" y="2130"/>
                    <a:pt x="2852" y="2136"/>
                  </a:cubicBezTo>
                  <a:cubicBezTo>
                    <a:pt x="2783" y="2136"/>
                    <a:pt x="2783" y="2136"/>
                    <a:pt x="2783" y="2136"/>
                  </a:cubicBezTo>
                  <a:cubicBezTo>
                    <a:pt x="2787" y="2104"/>
                    <a:pt x="2787" y="2104"/>
                    <a:pt x="2787" y="2104"/>
                  </a:cubicBezTo>
                  <a:cubicBezTo>
                    <a:pt x="2778" y="2115"/>
                    <a:pt x="2753" y="2143"/>
                    <a:pt x="2707" y="2143"/>
                  </a:cubicBezTo>
                  <a:cubicBezTo>
                    <a:pt x="2675" y="2143"/>
                    <a:pt x="2651" y="2128"/>
                    <a:pt x="2641" y="2110"/>
                  </a:cubicBezTo>
                  <a:cubicBezTo>
                    <a:pt x="2630" y="2090"/>
                    <a:pt x="2637" y="2056"/>
                    <a:pt x="2639" y="2045"/>
                  </a:cubicBezTo>
                  <a:cubicBezTo>
                    <a:pt x="2671" y="1894"/>
                    <a:pt x="2671" y="1894"/>
                    <a:pt x="2671" y="1894"/>
                  </a:cubicBezTo>
                  <a:lnTo>
                    <a:pt x="2743" y="1894"/>
                  </a:lnTo>
                  <a:close/>
                  <a:moveTo>
                    <a:pt x="3181" y="1895"/>
                  </a:moveTo>
                  <a:cubicBezTo>
                    <a:pt x="3175" y="1914"/>
                    <a:pt x="3170" y="1930"/>
                    <a:pt x="3164" y="1955"/>
                  </a:cubicBezTo>
                  <a:cubicBezTo>
                    <a:pt x="3126" y="2134"/>
                    <a:pt x="3126" y="2134"/>
                    <a:pt x="3126" y="2134"/>
                  </a:cubicBezTo>
                  <a:cubicBezTo>
                    <a:pt x="3108" y="2223"/>
                    <a:pt x="3031" y="2232"/>
                    <a:pt x="2985" y="2232"/>
                  </a:cubicBezTo>
                  <a:cubicBezTo>
                    <a:pt x="2950" y="2232"/>
                    <a:pt x="2883" y="2228"/>
                    <a:pt x="2894" y="2154"/>
                  </a:cubicBezTo>
                  <a:cubicBezTo>
                    <a:pt x="2962" y="2154"/>
                    <a:pt x="2962" y="2154"/>
                    <a:pt x="2962" y="2154"/>
                  </a:cubicBezTo>
                  <a:cubicBezTo>
                    <a:pt x="2962" y="2158"/>
                    <a:pt x="2962" y="2166"/>
                    <a:pt x="2966" y="2174"/>
                  </a:cubicBezTo>
                  <a:cubicBezTo>
                    <a:pt x="2970" y="2181"/>
                    <a:pt x="2979" y="2188"/>
                    <a:pt x="2998" y="2188"/>
                  </a:cubicBezTo>
                  <a:cubicBezTo>
                    <a:pt x="3019" y="2188"/>
                    <a:pt x="3040" y="2178"/>
                    <a:pt x="3049" y="2156"/>
                  </a:cubicBezTo>
                  <a:cubicBezTo>
                    <a:pt x="3054" y="2144"/>
                    <a:pt x="3056" y="2135"/>
                    <a:pt x="3064" y="2099"/>
                  </a:cubicBezTo>
                  <a:cubicBezTo>
                    <a:pt x="3036" y="2128"/>
                    <a:pt x="3009" y="2132"/>
                    <a:pt x="2992" y="2132"/>
                  </a:cubicBezTo>
                  <a:cubicBezTo>
                    <a:pt x="2922" y="2132"/>
                    <a:pt x="2903" y="2071"/>
                    <a:pt x="2915" y="2012"/>
                  </a:cubicBezTo>
                  <a:cubicBezTo>
                    <a:pt x="2928" y="1951"/>
                    <a:pt x="2974" y="1892"/>
                    <a:pt x="3044" y="1892"/>
                  </a:cubicBezTo>
                  <a:cubicBezTo>
                    <a:pt x="3088" y="1892"/>
                    <a:pt x="3099" y="1916"/>
                    <a:pt x="3105" y="1927"/>
                  </a:cubicBezTo>
                  <a:cubicBezTo>
                    <a:pt x="3114" y="1895"/>
                    <a:pt x="3114" y="1895"/>
                    <a:pt x="3114" y="1895"/>
                  </a:cubicBezTo>
                  <a:lnTo>
                    <a:pt x="3181" y="1895"/>
                  </a:lnTo>
                  <a:close/>
                  <a:moveTo>
                    <a:pt x="3019" y="2083"/>
                  </a:moveTo>
                  <a:cubicBezTo>
                    <a:pt x="3069" y="2083"/>
                    <a:pt x="3081" y="2025"/>
                    <a:pt x="3083" y="2014"/>
                  </a:cubicBezTo>
                  <a:cubicBezTo>
                    <a:pt x="3089" y="1986"/>
                    <a:pt x="3094" y="1940"/>
                    <a:pt x="3051" y="1940"/>
                  </a:cubicBezTo>
                  <a:cubicBezTo>
                    <a:pt x="3024" y="1940"/>
                    <a:pt x="2997" y="1960"/>
                    <a:pt x="2986" y="2012"/>
                  </a:cubicBezTo>
                  <a:cubicBezTo>
                    <a:pt x="2984" y="2025"/>
                    <a:pt x="2971" y="2083"/>
                    <a:pt x="3019" y="2083"/>
                  </a:cubicBezTo>
                  <a:moveTo>
                    <a:pt x="3257" y="1790"/>
                  </a:moveTo>
                  <a:cubicBezTo>
                    <a:pt x="3327" y="1790"/>
                    <a:pt x="3327" y="1790"/>
                    <a:pt x="3327" y="1790"/>
                  </a:cubicBezTo>
                  <a:cubicBezTo>
                    <a:pt x="3298" y="1927"/>
                    <a:pt x="3298" y="1927"/>
                    <a:pt x="3298" y="1927"/>
                  </a:cubicBezTo>
                  <a:cubicBezTo>
                    <a:pt x="3309" y="1915"/>
                    <a:pt x="3332" y="1890"/>
                    <a:pt x="3376" y="1890"/>
                  </a:cubicBezTo>
                  <a:cubicBezTo>
                    <a:pt x="3412" y="1890"/>
                    <a:pt x="3431" y="1908"/>
                    <a:pt x="3440" y="1923"/>
                  </a:cubicBezTo>
                  <a:cubicBezTo>
                    <a:pt x="3446" y="1935"/>
                    <a:pt x="3448" y="1957"/>
                    <a:pt x="3441" y="1989"/>
                  </a:cubicBezTo>
                  <a:cubicBezTo>
                    <a:pt x="3410" y="2136"/>
                    <a:pt x="3410" y="2136"/>
                    <a:pt x="3410" y="2136"/>
                  </a:cubicBezTo>
                  <a:cubicBezTo>
                    <a:pt x="3340" y="2136"/>
                    <a:pt x="3340" y="2136"/>
                    <a:pt x="3340" y="2136"/>
                  </a:cubicBezTo>
                  <a:cubicBezTo>
                    <a:pt x="3370" y="1991"/>
                    <a:pt x="3370" y="1991"/>
                    <a:pt x="3370" y="1991"/>
                  </a:cubicBezTo>
                  <a:cubicBezTo>
                    <a:pt x="3373" y="1977"/>
                    <a:pt x="3382" y="1938"/>
                    <a:pt x="3342" y="1938"/>
                  </a:cubicBezTo>
                  <a:cubicBezTo>
                    <a:pt x="3322" y="1938"/>
                    <a:pt x="3293" y="1950"/>
                    <a:pt x="3286" y="1988"/>
                  </a:cubicBezTo>
                  <a:cubicBezTo>
                    <a:pt x="3255" y="2136"/>
                    <a:pt x="3255" y="2136"/>
                    <a:pt x="3255" y="2136"/>
                  </a:cubicBezTo>
                  <a:cubicBezTo>
                    <a:pt x="3183" y="2136"/>
                    <a:pt x="3183" y="2136"/>
                    <a:pt x="3183" y="2136"/>
                  </a:cubicBezTo>
                  <a:lnTo>
                    <a:pt x="3257" y="1790"/>
                  </a:lnTo>
                  <a:close/>
                  <a:moveTo>
                    <a:pt x="158" y="1980"/>
                  </a:moveTo>
                  <a:cubicBezTo>
                    <a:pt x="159" y="1971"/>
                    <a:pt x="164" y="1935"/>
                    <a:pt x="137" y="1935"/>
                  </a:cubicBezTo>
                  <a:cubicBezTo>
                    <a:pt x="103" y="1935"/>
                    <a:pt x="89" y="1986"/>
                    <a:pt x="83" y="2012"/>
                  </a:cubicBezTo>
                  <a:cubicBezTo>
                    <a:pt x="80" y="2026"/>
                    <a:pt x="72" y="2069"/>
                    <a:pt x="85" y="2087"/>
                  </a:cubicBezTo>
                  <a:cubicBezTo>
                    <a:pt x="90" y="2094"/>
                    <a:pt x="97" y="2095"/>
                    <a:pt x="102" y="2095"/>
                  </a:cubicBezTo>
                  <a:cubicBezTo>
                    <a:pt x="109" y="2095"/>
                    <a:pt x="133" y="2092"/>
                    <a:pt x="145" y="2048"/>
                  </a:cubicBezTo>
                  <a:cubicBezTo>
                    <a:pt x="215" y="2048"/>
                    <a:pt x="215" y="2048"/>
                    <a:pt x="215" y="2048"/>
                  </a:cubicBezTo>
                  <a:cubicBezTo>
                    <a:pt x="210" y="2067"/>
                    <a:pt x="201" y="2097"/>
                    <a:pt x="168" y="2120"/>
                  </a:cubicBezTo>
                  <a:cubicBezTo>
                    <a:pt x="148" y="2135"/>
                    <a:pt x="124" y="2143"/>
                    <a:pt x="94" y="2143"/>
                  </a:cubicBezTo>
                  <a:cubicBezTo>
                    <a:pt x="62" y="2143"/>
                    <a:pt x="35" y="2135"/>
                    <a:pt x="18" y="2110"/>
                  </a:cubicBezTo>
                  <a:cubicBezTo>
                    <a:pt x="2" y="2086"/>
                    <a:pt x="0" y="2053"/>
                    <a:pt x="8" y="2015"/>
                  </a:cubicBezTo>
                  <a:cubicBezTo>
                    <a:pt x="32" y="1904"/>
                    <a:pt x="116" y="1889"/>
                    <a:pt x="148" y="1889"/>
                  </a:cubicBezTo>
                  <a:cubicBezTo>
                    <a:pt x="193" y="1889"/>
                    <a:pt x="241" y="1914"/>
                    <a:pt x="228" y="1980"/>
                  </a:cubicBezTo>
                  <a:lnTo>
                    <a:pt x="158" y="1980"/>
                  </a:lnTo>
                  <a:close/>
                  <a:moveTo>
                    <a:pt x="3764" y="1980"/>
                  </a:moveTo>
                  <a:cubicBezTo>
                    <a:pt x="3765" y="1971"/>
                    <a:pt x="3770" y="1935"/>
                    <a:pt x="3742" y="1935"/>
                  </a:cubicBezTo>
                  <a:cubicBezTo>
                    <a:pt x="3709" y="1935"/>
                    <a:pt x="3694" y="1986"/>
                    <a:pt x="3688" y="2012"/>
                  </a:cubicBezTo>
                  <a:cubicBezTo>
                    <a:pt x="3685" y="2026"/>
                    <a:pt x="3678" y="2069"/>
                    <a:pt x="3691" y="2087"/>
                  </a:cubicBezTo>
                  <a:cubicBezTo>
                    <a:pt x="3695" y="2094"/>
                    <a:pt x="3703" y="2095"/>
                    <a:pt x="3708" y="2095"/>
                  </a:cubicBezTo>
                  <a:cubicBezTo>
                    <a:pt x="3715" y="2095"/>
                    <a:pt x="3738" y="2092"/>
                    <a:pt x="3751" y="2048"/>
                  </a:cubicBezTo>
                  <a:cubicBezTo>
                    <a:pt x="3820" y="2048"/>
                    <a:pt x="3820" y="2048"/>
                    <a:pt x="3820" y="2048"/>
                  </a:cubicBezTo>
                  <a:cubicBezTo>
                    <a:pt x="3816" y="2067"/>
                    <a:pt x="3807" y="2097"/>
                    <a:pt x="3774" y="2120"/>
                  </a:cubicBezTo>
                  <a:cubicBezTo>
                    <a:pt x="3754" y="2135"/>
                    <a:pt x="3730" y="2143"/>
                    <a:pt x="3700" y="2143"/>
                  </a:cubicBezTo>
                  <a:cubicBezTo>
                    <a:pt x="3668" y="2143"/>
                    <a:pt x="3641" y="2135"/>
                    <a:pt x="3624" y="2110"/>
                  </a:cubicBezTo>
                  <a:cubicBezTo>
                    <a:pt x="3608" y="2086"/>
                    <a:pt x="3606" y="2053"/>
                    <a:pt x="3614" y="2015"/>
                  </a:cubicBezTo>
                  <a:cubicBezTo>
                    <a:pt x="3638" y="1904"/>
                    <a:pt x="3722" y="1889"/>
                    <a:pt x="3754" y="1889"/>
                  </a:cubicBezTo>
                  <a:cubicBezTo>
                    <a:pt x="3799" y="1889"/>
                    <a:pt x="3847" y="1914"/>
                    <a:pt x="3834" y="1980"/>
                  </a:cubicBezTo>
                  <a:lnTo>
                    <a:pt x="3764" y="1980"/>
                  </a:lnTo>
                  <a:close/>
                  <a:moveTo>
                    <a:pt x="4010" y="1888"/>
                  </a:moveTo>
                  <a:cubicBezTo>
                    <a:pt x="4098" y="1888"/>
                    <a:pt x="4123" y="1948"/>
                    <a:pt x="4109" y="2015"/>
                  </a:cubicBezTo>
                  <a:cubicBezTo>
                    <a:pt x="4094" y="2083"/>
                    <a:pt x="4042" y="2145"/>
                    <a:pt x="3954" y="2145"/>
                  </a:cubicBezTo>
                  <a:cubicBezTo>
                    <a:pt x="3884" y="2145"/>
                    <a:pt x="3839" y="2102"/>
                    <a:pt x="3857" y="2017"/>
                  </a:cubicBezTo>
                  <a:cubicBezTo>
                    <a:pt x="3870" y="1959"/>
                    <a:pt x="3914" y="1888"/>
                    <a:pt x="4010" y="1888"/>
                  </a:cubicBezTo>
                  <a:moveTo>
                    <a:pt x="3967" y="2095"/>
                  </a:moveTo>
                  <a:cubicBezTo>
                    <a:pt x="3998" y="2095"/>
                    <a:pt x="4023" y="2077"/>
                    <a:pt x="4037" y="2012"/>
                  </a:cubicBezTo>
                  <a:cubicBezTo>
                    <a:pt x="4044" y="1980"/>
                    <a:pt x="4047" y="1935"/>
                    <a:pt x="4000" y="1935"/>
                  </a:cubicBezTo>
                  <a:cubicBezTo>
                    <a:pt x="3948" y="1935"/>
                    <a:pt x="3935" y="1995"/>
                    <a:pt x="3930" y="2018"/>
                  </a:cubicBezTo>
                  <a:cubicBezTo>
                    <a:pt x="3918" y="2072"/>
                    <a:pt x="3932" y="2095"/>
                    <a:pt x="3967" y="2095"/>
                  </a:cubicBezTo>
                  <a:moveTo>
                    <a:pt x="4173" y="1939"/>
                  </a:moveTo>
                  <a:cubicBezTo>
                    <a:pt x="4176" y="1924"/>
                    <a:pt x="4178" y="1909"/>
                    <a:pt x="4180" y="1894"/>
                  </a:cubicBezTo>
                  <a:cubicBezTo>
                    <a:pt x="4248" y="1894"/>
                    <a:pt x="4248" y="1894"/>
                    <a:pt x="4248" y="1894"/>
                  </a:cubicBezTo>
                  <a:cubicBezTo>
                    <a:pt x="4245" y="1925"/>
                    <a:pt x="4245" y="1925"/>
                    <a:pt x="4245" y="1925"/>
                  </a:cubicBezTo>
                  <a:cubicBezTo>
                    <a:pt x="4254" y="1915"/>
                    <a:pt x="4279" y="1889"/>
                    <a:pt x="4327" y="1889"/>
                  </a:cubicBezTo>
                  <a:cubicBezTo>
                    <a:pt x="4383" y="1889"/>
                    <a:pt x="4392" y="1923"/>
                    <a:pt x="4394" y="1934"/>
                  </a:cubicBezTo>
                  <a:cubicBezTo>
                    <a:pt x="4423" y="1895"/>
                    <a:pt x="4456" y="1889"/>
                    <a:pt x="4481" y="1889"/>
                  </a:cubicBezTo>
                  <a:cubicBezTo>
                    <a:pt x="4530" y="1889"/>
                    <a:pt x="4544" y="1918"/>
                    <a:pt x="4547" y="1928"/>
                  </a:cubicBezTo>
                  <a:cubicBezTo>
                    <a:pt x="4555" y="1949"/>
                    <a:pt x="4548" y="1978"/>
                    <a:pt x="4544" y="1999"/>
                  </a:cubicBezTo>
                  <a:cubicBezTo>
                    <a:pt x="4515" y="2136"/>
                    <a:pt x="4515" y="2136"/>
                    <a:pt x="4515" y="2136"/>
                  </a:cubicBezTo>
                  <a:cubicBezTo>
                    <a:pt x="4443" y="2136"/>
                    <a:pt x="4443" y="2136"/>
                    <a:pt x="4443" y="2136"/>
                  </a:cubicBezTo>
                  <a:cubicBezTo>
                    <a:pt x="4473" y="1994"/>
                    <a:pt x="4473" y="1994"/>
                    <a:pt x="4473" y="1994"/>
                  </a:cubicBezTo>
                  <a:cubicBezTo>
                    <a:pt x="4479" y="1968"/>
                    <a:pt x="4481" y="1939"/>
                    <a:pt x="4444" y="1939"/>
                  </a:cubicBezTo>
                  <a:cubicBezTo>
                    <a:pt x="4401" y="1939"/>
                    <a:pt x="4392" y="1979"/>
                    <a:pt x="4385" y="2015"/>
                  </a:cubicBezTo>
                  <a:cubicBezTo>
                    <a:pt x="4358" y="2136"/>
                    <a:pt x="4358" y="2136"/>
                    <a:pt x="4358" y="2136"/>
                  </a:cubicBezTo>
                  <a:cubicBezTo>
                    <a:pt x="4286" y="2136"/>
                    <a:pt x="4286" y="2136"/>
                    <a:pt x="4286" y="2136"/>
                  </a:cubicBezTo>
                  <a:cubicBezTo>
                    <a:pt x="4318" y="1992"/>
                    <a:pt x="4318" y="1992"/>
                    <a:pt x="4318" y="1992"/>
                  </a:cubicBezTo>
                  <a:cubicBezTo>
                    <a:pt x="4321" y="1974"/>
                    <a:pt x="4328" y="1939"/>
                    <a:pt x="4289" y="1939"/>
                  </a:cubicBezTo>
                  <a:cubicBezTo>
                    <a:pt x="4244" y="1939"/>
                    <a:pt x="4236" y="1977"/>
                    <a:pt x="4232" y="1994"/>
                  </a:cubicBezTo>
                  <a:cubicBezTo>
                    <a:pt x="4202" y="2136"/>
                    <a:pt x="4202" y="2136"/>
                    <a:pt x="4202" y="2136"/>
                  </a:cubicBezTo>
                  <a:cubicBezTo>
                    <a:pt x="4131" y="2136"/>
                    <a:pt x="4131" y="2136"/>
                    <a:pt x="4131" y="2136"/>
                  </a:cubicBezTo>
                  <a:lnTo>
                    <a:pt x="4173" y="1939"/>
                  </a:lnTo>
                  <a:close/>
                  <a:moveTo>
                    <a:pt x="4694" y="1894"/>
                  </a:moveTo>
                  <a:cubicBezTo>
                    <a:pt x="4689" y="1928"/>
                    <a:pt x="4689" y="1928"/>
                    <a:pt x="4689" y="1928"/>
                  </a:cubicBezTo>
                  <a:cubicBezTo>
                    <a:pt x="4719" y="1889"/>
                    <a:pt x="4759" y="1889"/>
                    <a:pt x="4771" y="1889"/>
                  </a:cubicBezTo>
                  <a:cubicBezTo>
                    <a:pt x="4834" y="1889"/>
                    <a:pt x="4862" y="1936"/>
                    <a:pt x="4846" y="2010"/>
                  </a:cubicBezTo>
                  <a:cubicBezTo>
                    <a:pt x="4832" y="2079"/>
                    <a:pt x="4783" y="2140"/>
                    <a:pt x="4713" y="2140"/>
                  </a:cubicBezTo>
                  <a:cubicBezTo>
                    <a:pt x="4669" y="2140"/>
                    <a:pt x="4656" y="2117"/>
                    <a:pt x="4652" y="2109"/>
                  </a:cubicBezTo>
                  <a:cubicBezTo>
                    <a:pt x="4626" y="2229"/>
                    <a:pt x="4626" y="2229"/>
                    <a:pt x="4626" y="2229"/>
                  </a:cubicBezTo>
                  <a:cubicBezTo>
                    <a:pt x="4554" y="2229"/>
                    <a:pt x="4554" y="2229"/>
                    <a:pt x="4554" y="2229"/>
                  </a:cubicBezTo>
                  <a:cubicBezTo>
                    <a:pt x="4625" y="1894"/>
                    <a:pt x="4625" y="1894"/>
                    <a:pt x="4625" y="1894"/>
                  </a:cubicBezTo>
                  <a:lnTo>
                    <a:pt x="4694" y="1894"/>
                  </a:lnTo>
                  <a:close/>
                  <a:moveTo>
                    <a:pt x="4774" y="2013"/>
                  </a:moveTo>
                  <a:cubicBezTo>
                    <a:pt x="4780" y="1984"/>
                    <a:pt x="4783" y="1935"/>
                    <a:pt x="4741" y="1935"/>
                  </a:cubicBezTo>
                  <a:cubicBezTo>
                    <a:pt x="4718" y="1935"/>
                    <a:pt x="4682" y="1952"/>
                    <a:pt x="4668" y="2017"/>
                  </a:cubicBezTo>
                  <a:cubicBezTo>
                    <a:pt x="4665" y="2031"/>
                    <a:pt x="4652" y="2093"/>
                    <a:pt x="4705" y="2093"/>
                  </a:cubicBezTo>
                  <a:cubicBezTo>
                    <a:pt x="4738" y="2093"/>
                    <a:pt x="4763" y="2061"/>
                    <a:pt x="4774" y="2013"/>
                  </a:cubicBezTo>
                  <a:moveTo>
                    <a:pt x="4936" y="1789"/>
                  </a:moveTo>
                  <a:cubicBezTo>
                    <a:pt x="5007" y="1789"/>
                    <a:pt x="5007" y="1789"/>
                    <a:pt x="5007" y="1789"/>
                  </a:cubicBezTo>
                  <a:cubicBezTo>
                    <a:pt x="4933" y="2136"/>
                    <a:pt x="4933" y="2136"/>
                    <a:pt x="4933" y="2136"/>
                  </a:cubicBezTo>
                  <a:cubicBezTo>
                    <a:pt x="4862" y="2136"/>
                    <a:pt x="4862" y="2136"/>
                    <a:pt x="4862" y="2136"/>
                  </a:cubicBezTo>
                  <a:lnTo>
                    <a:pt x="4936" y="1789"/>
                  </a:lnTo>
                  <a:close/>
                  <a:moveTo>
                    <a:pt x="5068" y="2033"/>
                  </a:moveTo>
                  <a:cubicBezTo>
                    <a:pt x="5064" y="2049"/>
                    <a:pt x="5054" y="2098"/>
                    <a:pt x="5104" y="2098"/>
                  </a:cubicBezTo>
                  <a:cubicBezTo>
                    <a:pt x="5121" y="2098"/>
                    <a:pt x="5140" y="2091"/>
                    <a:pt x="5153" y="2064"/>
                  </a:cubicBezTo>
                  <a:cubicBezTo>
                    <a:pt x="5218" y="2064"/>
                    <a:pt x="5218" y="2064"/>
                    <a:pt x="5218" y="2064"/>
                  </a:cubicBezTo>
                  <a:cubicBezTo>
                    <a:pt x="5214" y="2076"/>
                    <a:pt x="5208" y="2097"/>
                    <a:pt x="5184" y="2117"/>
                  </a:cubicBezTo>
                  <a:cubicBezTo>
                    <a:pt x="5162" y="2136"/>
                    <a:pt x="5128" y="2145"/>
                    <a:pt x="5092" y="2145"/>
                  </a:cubicBezTo>
                  <a:cubicBezTo>
                    <a:pt x="5072" y="2145"/>
                    <a:pt x="5033" y="2142"/>
                    <a:pt x="5013" y="2115"/>
                  </a:cubicBezTo>
                  <a:cubicBezTo>
                    <a:pt x="4996" y="2092"/>
                    <a:pt x="4994" y="2060"/>
                    <a:pt x="5002" y="2021"/>
                  </a:cubicBezTo>
                  <a:cubicBezTo>
                    <a:pt x="5011" y="1981"/>
                    <a:pt x="5030" y="1934"/>
                    <a:pt x="5077" y="1906"/>
                  </a:cubicBezTo>
                  <a:cubicBezTo>
                    <a:pt x="5099" y="1893"/>
                    <a:pt x="5123" y="1886"/>
                    <a:pt x="5150" y="1886"/>
                  </a:cubicBezTo>
                  <a:cubicBezTo>
                    <a:pt x="5184" y="1886"/>
                    <a:pt x="5222" y="1899"/>
                    <a:pt x="5235" y="1944"/>
                  </a:cubicBezTo>
                  <a:cubicBezTo>
                    <a:pt x="5244" y="1977"/>
                    <a:pt x="5236" y="2013"/>
                    <a:pt x="5231" y="2033"/>
                  </a:cubicBezTo>
                  <a:lnTo>
                    <a:pt x="5068" y="2033"/>
                  </a:lnTo>
                  <a:close/>
                  <a:moveTo>
                    <a:pt x="5167" y="1988"/>
                  </a:moveTo>
                  <a:cubicBezTo>
                    <a:pt x="5170" y="1977"/>
                    <a:pt x="5178" y="1934"/>
                    <a:pt x="5137" y="1934"/>
                  </a:cubicBezTo>
                  <a:cubicBezTo>
                    <a:pt x="5105" y="1934"/>
                    <a:pt x="5087" y="1960"/>
                    <a:pt x="5080" y="1988"/>
                  </a:cubicBezTo>
                  <a:lnTo>
                    <a:pt x="5167" y="1988"/>
                  </a:lnTo>
                  <a:close/>
                  <a:moveTo>
                    <a:pt x="5353" y="1894"/>
                  </a:moveTo>
                  <a:cubicBezTo>
                    <a:pt x="5382" y="1973"/>
                    <a:pt x="5382" y="1973"/>
                    <a:pt x="5382" y="1973"/>
                  </a:cubicBezTo>
                  <a:cubicBezTo>
                    <a:pt x="5447" y="1894"/>
                    <a:pt x="5447" y="1894"/>
                    <a:pt x="5447" y="1894"/>
                  </a:cubicBezTo>
                  <a:cubicBezTo>
                    <a:pt x="5520" y="1894"/>
                    <a:pt x="5520" y="1894"/>
                    <a:pt x="5520" y="1894"/>
                  </a:cubicBezTo>
                  <a:cubicBezTo>
                    <a:pt x="5417" y="2012"/>
                    <a:pt x="5417" y="2012"/>
                    <a:pt x="5417" y="2012"/>
                  </a:cubicBezTo>
                  <a:cubicBezTo>
                    <a:pt x="5471" y="2136"/>
                    <a:pt x="5471" y="2136"/>
                    <a:pt x="5471" y="2136"/>
                  </a:cubicBezTo>
                  <a:cubicBezTo>
                    <a:pt x="5388" y="2136"/>
                    <a:pt x="5388" y="2136"/>
                    <a:pt x="5388" y="2136"/>
                  </a:cubicBezTo>
                  <a:cubicBezTo>
                    <a:pt x="5357" y="2047"/>
                    <a:pt x="5357" y="2047"/>
                    <a:pt x="5357" y="2047"/>
                  </a:cubicBezTo>
                  <a:cubicBezTo>
                    <a:pt x="5289" y="2136"/>
                    <a:pt x="5289" y="2136"/>
                    <a:pt x="5289" y="2136"/>
                  </a:cubicBezTo>
                  <a:cubicBezTo>
                    <a:pt x="5214" y="2136"/>
                    <a:pt x="5214" y="2136"/>
                    <a:pt x="5214" y="2136"/>
                  </a:cubicBezTo>
                  <a:cubicBezTo>
                    <a:pt x="5323" y="2006"/>
                    <a:pt x="5323" y="2006"/>
                    <a:pt x="5323" y="2006"/>
                  </a:cubicBezTo>
                  <a:cubicBezTo>
                    <a:pt x="5269" y="1894"/>
                    <a:pt x="5269" y="1894"/>
                    <a:pt x="5269" y="1894"/>
                  </a:cubicBezTo>
                  <a:lnTo>
                    <a:pt x="5353" y="1894"/>
                  </a:lnTo>
                  <a:close/>
                  <a:moveTo>
                    <a:pt x="5553" y="1893"/>
                  </a:moveTo>
                  <a:cubicBezTo>
                    <a:pt x="5625" y="1893"/>
                    <a:pt x="5625" y="1893"/>
                    <a:pt x="5625" y="1893"/>
                  </a:cubicBezTo>
                  <a:cubicBezTo>
                    <a:pt x="5573" y="2136"/>
                    <a:pt x="5573" y="2136"/>
                    <a:pt x="5573" y="2136"/>
                  </a:cubicBezTo>
                  <a:cubicBezTo>
                    <a:pt x="5501" y="2136"/>
                    <a:pt x="5501" y="2136"/>
                    <a:pt x="5501" y="2136"/>
                  </a:cubicBezTo>
                  <a:lnTo>
                    <a:pt x="5553" y="1893"/>
                  </a:lnTo>
                  <a:close/>
                  <a:moveTo>
                    <a:pt x="5573" y="1790"/>
                  </a:moveTo>
                  <a:cubicBezTo>
                    <a:pt x="5648" y="1790"/>
                    <a:pt x="5648" y="1790"/>
                    <a:pt x="5648" y="1790"/>
                  </a:cubicBezTo>
                  <a:cubicBezTo>
                    <a:pt x="5636" y="1851"/>
                    <a:pt x="5636" y="1851"/>
                    <a:pt x="5636" y="1851"/>
                  </a:cubicBezTo>
                  <a:cubicBezTo>
                    <a:pt x="5560" y="1851"/>
                    <a:pt x="5560" y="1851"/>
                    <a:pt x="5560" y="1851"/>
                  </a:cubicBezTo>
                  <a:lnTo>
                    <a:pt x="5573" y="1790"/>
                  </a:lnTo>
                  <a:close/>
                  <a:moveTo>
                    <a:pt x="5775" y="2133"/>
                  </a:moveTo>
                  <a:cubicBezTo>
                    <a:pt x="5752" y="2139"/>
                    <a:pt x="5730" y="2141"/>
                    <a:pt x="5719" y="2141"/>
                  </a:cubicBezTo>
                  <a:cubicBezTo>
                    <a:pt x="5647" y="2141"/>
                    <a:pt x="5657" y="2095"/>
                    <a:pt x="5662" y="2075"/>
                  </a:cubicBezTo>
                  <a:cubicBezTo>
                    <a:pt x="5689" y="1942"/>
                    <a:pt x="5689" y="1942"/>
                    <a:pt x="5689" y="1942"/>
                  </a:cubicBezTo>
                  <a:cubicBezTo>
                    <a:pt x="5643" y="1942"/>
                    <a:pt x="5643" y="1942"/>
                    <a:pt x="5643" y="1942"/>
                  </a:cubicBezTo>
                  <a:cubicBezTo>
                    <a:pt x="5653" y="1895"/>
                    <a:pt x="5653" y="1895"/>
                    <a:pt x="5653" y="1895"/>
                  </a:cubicBezTo>
                  <a:cubicBezTo>
                    <a:pt x="5700" y="1895"/>
                    <a:pt x="5700" y="1895"/>
                    <a:pt x="5700" y="1895"/>
                  </a:cubicBezTo>
                  <a:cubicBezTo>
                    <a:pt x="5710" y="1848"/>
                    <a:pt x="5710" y="1848"/>
                    <a:pt x="5710" y="1848"/>
                  </a:cubicBezTo>
                  <a:cubicBezTo>
                    <a:pt x="5786" y="1822"/>
                    <a:pt x="5786" y="1822"/>
                    <a:pt x="5786" y="1822"/>
                  </a:cubicBezTo>
                  <a:cubicBezTo>
                    <a:pt x="5770" y="1895"/>
                    <a:pt x="5770" y="1895"/>
                    <a:pt x="5770" y="1895"/>
                  </a:cubicBezTo>
                  <a:cubicBezTo>
                    <a:pt x="5828" y="1895"/>
                    <a:pt x="5828" y="1895"/>
                    <a:pt x="5828" y="1895"/>
                  </a:cubicBezTo>
                  <a:cubicBezTo>
                    <a:pt x="5818" y="1942"/>
                    <a:pt x="5818" y="1942"/>
                    <a:pt x="5818" y="1942"/>
                  </a:cubicBezTo>
                  <a:cubicBezTo>
                    <a:pt x="5760" y="1942"/>
                    <a:pt x="5760" y="1942"/>
                    <a:pt x="5760" y="1942"/>
                  </a:cubicBezTo>
                  <a:cubicBezTo>
                    <a:pt x="5736" y="2052"/>
                    <a:pt x="5736" y="2052"/>
                    <a:pt x="5736" y="2052"/>
                  </a:cubicBezTo>
                  <a:cubicBezTo>
                    <a:pt x="5733" y="2074"/>
                    <a:pt x="5729" y="2088"/>
                    <a:pt x="5761" y="2088"/>
                  </a:cubicBezTo>
                  <a:cubicBezTo>
                    <a:pt x="5772" y="2088"/>
                    <a:pt x="5777" y="2087"/>
                    <a:pt x="5786" y="2086"/>
                  </a:cubicBezTo>
                  <a:lnTo>
                    <a:pt x="5775" y="2133"/>
                  </a:lnTo>
                  <a:close/>
                  <a:moveTo>
                    <a:pt x="5921" y="1894"/>
                  </a:moveTo>
                  <a:cubicBezTo>
                    <a:pt x="5939" y="2062"/>
                    <a:pt x="5939" y="2062"/>
                    <a:pt x="5939" y="2062"/>
                  </a:cubicBezTo>
                  <a:cubicBezTo>
                    <a:pt x="6028" y="1894"/>
                    <a:pt x="6028" y="1894"/>
                    <a:pt x="6028" y="1894"/>
                  </a:cubicBezTo>
                  <a:cubicBezTo>
                    <a:pt x="6099" y="1894"/>
                    <a:pt x="6099" y="1894"/>
                    <a:pt x="6099" y="1894"/>
                  </a:cubicBezTo>
                  <a:cubicBezTo>
                    <a:pt x="5957" y="2132"/>
                    <a:pt x="5957" y="2132"/>
                    <a:pt x="5957" y="2132"/>
                  </a:cubicBezTo>
                  <a:cubicBezTo>
                    <a:pt x="5907" y="2229"/>
                    <a:pt x="5907" y="2229"/>
                    <a:pt x="5907" y="2229"/>
                  </a:cubicBezTo>
                  <a:cubicBezTo>
                    <a:pt x="5835" y="2229"/>
                    <a:pt x="5835" y="2229"/>
                    <a:pt x="5835" y="2229"/>
                  </a:cubicBezTo>
                  <a:cubicBezTo>
                    <a:pt x="5886" y="2137"/>
                    <a:pt x="5886" y="2137"/>
                    <a:pt x="5886" y="2137"/>
                  </a:cubicBezTo>
                  <a:cubicBezTo>
                    <a:pt x="5844" y="1894"/>
                    <a:pt x="5844" y="1894"/>
                    <a:pt x="5844" y="1894"/>
                  </a:cubicBezTo>
                  <a:lnTo>
                    <a:pt x="5921" y="1894"/>
                  </a:lnTo>
                  <a:close/>
                </a:path>
              </a:pathLst>
            </a:custGeom>
            <a:grpFill/>
            <a:ln w="9525">
              <a:noFill/>
              <a:round/>
              <a:headEnd/>
              <a:tailEnd/>
            </a:ln>
          </p:spPr>
          <p:txBody>
            <a:bodyPr vert="horz" wrap="square" lIns="91440" tIns="45720" rIns="91440" bIns="45720" numCol="1" anchor="t" anchorCtr="0" compatLnSpc="1">
              <a:prstTxWarp prst="textNoShape">
                <a:avLst/>
              </a:prstTxWarp>
              <a:noAutofit/>
            </a:bodyPr>
            <a:lstStyle/>
            <a:p>
              <a:endParaRPr lang="en-GB" dirty="0"/>
            </a:p>
          </p:txBody>
        </p:sp>
        <p:sp>
          <p:nvSpPr>
            <p:cNvPr id="12" name="Freeform 15"/>
            <p:cNvSpPr>
              <a:spLocks noEditPoints="1"/>
            </p:cNvSpPr>
            <p:nvPr userDrawn="1"/>
          </p:nvSpPr>
          <p:spPr bwMode="auto">
            <a:xfrm>
              <a:off x="-2592388" y="0"/>
              <a:ext cx="2592388" cy="1530350"/>
            </a:xfrm>
            <a:custGeom>
              <a:avLst/>
              <a:gdLst/>
              <a:ahLst/>
              <a:cxnLst>
                <a:cxn ang="0">
                  <a:pos x="176" y="248"/>
                </a:cxn>
                <a:cxn ang="0">
                  <a:pos x="0" y="248"/>
                </a:cxn>
                <a:cxn ang="0">
                  <a:pos x="0" y="0"/>
                </a:cxn>
                <a:cxn ang="0">
                  <a:pos x="176" y="0"/>
                </a:cxn>
                <a:cxn ang="0">
                  <a:pos x="176" y="248"/>
                </a:cxn>
                <a:cxn ang="0">
                  <a:pos x="176" y="716"/>
                </a:cxn>
                <a:cxn ang="0">
                  <a:pos x="0" y="716"/>
                </a:cxn>
                <a:cxn ang="0">
                  <a:pos x="0" y="964"/>
                </a:cxn>
                <a:cxn ang="0">
                  <a:pos x="176" y="964"/>
                </a:cxn>
                <a:cxn ang="0">
                  <a:pos x="176" y="716"/>
                </a:cxn>
                <a:cxn ang="0">
                  <a:pos x="1633" y="0"/>
                </a:cxn>
                <a:cxn ang="0">
                  <a:pos x="1457" y="0"/>
                </a:cxn>
                <a:cxn ang="0">
                  <a:pos x="1457" y="248"/>
                </a:cxn>
                <a:cxn ang="0">
                  <a:pos x="1633" y="248"/>
                </a:cxn>
                <a:cxn ang="0">
                  <a:pos x="1633" y="0"/>
                </a:cxn>
                <a:cxn ang="0">
                  <a:pos x="1633" y="716"/>
                </a:cxn>
                <a:cxn ang="0">
                  <a:pos x="1457" y="716"/>
                </a:cxn>
                <a:cxn ang="0">
                  <a:pos x="1457" y="964"/>
                </a:cxn>
                <a:cxn ang="0">
                  <a:pos x="1633" y="964"/>
                </a:cxn>
                <a:cxn ang="0">
                  <a:pos x="1633" y="716"/>
                </a:cxn>
              </a:cxnLst>
              <a:rect l="0" t="0" r="r" b="b"/>
              <a:pathLst>
                <a:path w="1633" h="964">
                  <a:moveTo>
                    <a:pt x="176" y="248"/>
                  </a:moveTo>
                  <a:lnTo>
                    <a:pt x="0" y="248"/>
                  </a:lnTo>
                  <a:lnTo>
                    <a:pt x="0" y="0"/>
                  </a:lnTo>
                  <a:lnTo>
                    <a:pt x="176" y="0"/>
                  </a:lnTo>
                  <a:lnTo>
                    <a:pt x="176" y="248"/>
                  </a:lnTo>
                  <a:close/>
                  <a:moveTo>
                    <a:pt x="176" y="716"/>
                  </a:moveTo>
                  <a:lnTo>
                    <a:pt x="0" y="716"/>
                  </a:lnTo>
                  <a:lnTo>
                    <a:pt x="0" y="964"/>
                  </a:lnTo>
                  <a:lnTo>
                    <a:pt x="176" y="964"/>
                  </a:lnTo>
                  <a:lnTo>
                    <a:pt x="176" y="716"/>
                  </a:lnTo>
                  <a:close/>
                  <a:moveTo>
                    <a:pt x="1633" y="0"/>
                  </a:moveTo>
                  <a:lnTo>
                    <a:pt x="1457" y="0"/>
                  </a:lnTo>
                  <a:lnTo>
                    <a:pt x="1457" y="248"/>
                  </a:lnTo>
                  <a:lnTo>
                    <a:pt x="1633" y="248"/>
                  </a:lnTo>
                  <a:lnTo>
                    <a:pt x="1633" y="0"/>
                  </a:lnTo>
                  <a:close/>
                  <a:moveTo>
                    <a:pt x="1633" y="716"/>
                  </a:moveTo>
                  <a:lnTo>
                    <a:pt x="1457" y="716"/>
                  </a:lnTo>
                  <a:lnTo>
                    <a:pt x="1457" y="964"/>
                  </a:lnTo>
                  <a:lnTo>
                    <a:pt x="1633" y="964"/>
                  </a:lnTo>
                  <a:lnTo>
                    <a:pt x="1633" y="716"/>
                  </a:ln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en-GB" dirty="0"/>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_Title and Text">
    <p:spTree>
      <p:nvGrpSpPr>
        <p:cNvPr id="1" name=""/>
        <p:cNvGrpSpPr/>
        <p:nvPr/>
      </p:nvGrpSpPr>
      <p:grpSpPr>
        <a:xfrm>
          <a:off x="0" y="0"/>
          <a:ext cx="0" cy="0"/>
          <a:chOff x="0" y="0"/>
          <a:chExt cx="0" cy="0"/>
        </a:xfrm>
      </p:grpSpPr>
      <p:grpSp>
        <p:nvGrpSpPr>
          <p:cNvPr id="9" name="Group 8"/>
          <p:cNvGrpSpPr/>
          <p:nvPr userDrawn="1"/>
        </p:nvGrpSpPr>
        <p:grpSpPr bwMode="gray">
          <a:xfrm>
            <a:off x="1" y="904875"/>
            <a:ext cx="9143999" cy="5476453"/>
            <a:chOff x="1" y="904875"/>
            <a:chExt cx="9143999" cy="5476453"/>
          </a:xfrm>
          <a:noFill/>
        </p:grpSpPr>
        <p:grpSp>
          <p:nvGrpSpPr>
            <p:cNvPr id="10" name="Group 29"/>
            <p:cNvGrpSpPr/>
            <p:nvPr userDrawn="1"/>
          </p:nvGrpSpPr>
          <p:grpSpPr bwMode="gray">
            <a:xfrm>
              <a:off x="251521" y="1193800"/>
              <a:ext cx="8640960" cy="4896000"/>
              <a:chOff x="251521" y="1193800"/>
              <a:chExt cx="8640960" cy="4896000"/>
            </a:xfrm>
            <a:grpFill/>
          </p:grpSpPr>
          <p:sp>
            <p:nvSpPr>
              <p:cNvPr id="16" name="Rectangle 18"/>
              <p:cNvSpPr>
                <a:spLocks noChangeArrowheads="1"/>
              </p:cNvSpPr>
              <p:nvPr userDrawn="1"/>
            </p:nvSpPr>
            <p:spPr bwMode="gray">
              <a:xfrm>
                <a:off x="251521" y="1193800"/>
                <a:ext cx="8640960" cy="4894263"/>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sp>
            <p:nvSpPr>
              <p:cNvPr id="17" name="Rectangle 19"/>
              <p:cNvSpPr>
                <a:spLocks noChangeArrowheads="1"/>
              </p:cNvSpPr>
              <p:nvPr userDrawn="1"/>
            </p:nvSpPr>
            <p:spPr bwMode="gray">
              <a:xfrm>
                <a:off x="251521" y="3568700"/>
                <a:ext cx="8640960" cy="144463"/>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sp>
            <p:nvSpPr>
              <p:cNvPr id="18" name="Rectangle 20"/>
              <p:cNvSpPr>
                <a:spLocks noChangeArrowheads="1"/>
              </p:cNvSpPr>
              <p:nvPr userDrawn="1"/>
            </p:nvSpPr>
            <p:spPr bwMode="gray">
              <a:xfrm>
                <a:off x="3706318" y="1193800"/>
                <a:ext cx="144463" cy="4896000"/>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sp>
            <p:nvSpPr>
              <p:cNvPr id="19" name="Rectangle 21"/>
              <p:cNvSpPr>
                <a:spLocks noChangeArrowheads="1"/>
              </p:cNvSpPr>
              <p:nvPr userDrawn="1"/>
            </p:nvSpPr>
            <p:spPr bwMode="gray">
              <a:xfrm>
                <a:off x="1836838" y="1193800"/>
                <a:ext cx="284163" cy="4896000"/>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sp>
            <p:nvSpPr>
              <p:cNvPr id="20" name="Rectangle 22"/>
              <p:cNvSpPr>
                <a:spLocks noChangeArrowheads="1"/>
              </p:cNvSpPr>
              <p:nvPr userDrawn="1"/>
            </p:nvSpPr>
            <p:spPr bwMode="gray">
              <a:xfrm>
                <a:off x="5436098" y="1193800"/>
                <a:ext cx="142875" cy="4896000"/>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sp>
            <p:nvSpPr>
              <p:cNvPr id="21" name="Rectangle 23"/>
              <p:cNvSpPr>
                <a:spLocks noChangeArrowheads="1"/>
              </p:cNvSpPr>
              <p:nvPr userDrawn="1"/>
            </p:nvSpPr>
            <p:spPr bwMode="gray">
              <a:xfrm>
                <a:off x="7164290" y="1193800"/>
                <a:ext cx="142875" cy="4896000"/>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grpSp>
        <p:grpSp>
          <p:nvGrpSpPr>
            <p:cNvPr id="11" name="Group 30"/>
            <p:cNvGrpSpPr/>
            <p:nvPr userDrawn="1"/>
          </p:nvGrpSpPr>
          <p:grpSpPr bwMode="gray">
            <a:xfrm>
              <a:off x="1" y="904875"/>
              <a:ext cx="9143999" cy="5476453"/>
              <a:chOff x="1" y="904875"/>
              <a:chExt cx="9143999" cy="5476453"/>
            </a:xfrm>
            <a:grpFill/>
          </p:grpSpPr>
          <p:sp>
            <p:nvSpPr>
              <p:cNvPr id="12" name="Rectangle 25"/>
              <p:cNvSpPr>
                <a:spLocks noChangeArrowheads="1"/>
              </p:cNvSpPr>
              <p:nvPr/>
            </p:nvSpPr>
            <p:spPr bwMode="gray">
              <a:xfrm>
                <a:off x="4913313" y="904875"/>
                <a:ext cx="71437" cy="291877"/>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a:ln>
                    <a:noFill/>
                  </a:ln>
                  <a:solidFill>
                    <a:schemeClr val="tx1"/>
                  </a:solidFill>
                  <a:effectLst/>
                  <a:latin typeface="Arial" charset="0"/>
                  <a:ea typeface="+mn-ea"/>
                  <a:cs typeface="Arial" charset="0"/>
                </a:endParaRPr>
              </a:p>
            </p:txBody>
          </p:sp>
          <p:sp>
            <p:nvSpPr>
              <p:cNvPr id="13" name="Rectangle 26"/>
              <p:cNvSpPr>
                <a:spLocks noChangeArrowheads="1"/>
              </p:cNvSpPr>
              <p:nvPr/>
            </p:nvSpPr>
            <p:spPr bwMode="gray">
              <a:xfrm>
                <a:off x="4913313" y="6088063"/>
                <a:ext cx="71437" cy="293265"/>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a:ln>
                    <a:noFill/>
                  </a:ln>
                  <a:solidFill>
                    <a:schemeClr val="tx1"/>
                  </a:solidFill>
                  <a:effectLst/>
                  <a:latin typeface="Arial" charset="0"/>
                  <a:ea typeface="+mn-ea"/>
                  <a:cs typeface="Arial" charset="0"/>
                </a:endParaRPr>
              </a:p>
            </p:txBody>
          </p:sp>
          <p:sp>
            <p:nvSpPr>
              <p:cNvPr id="14" name="Rectangle 27"/>
              <p:cNvSpPr>
                <a:spLocks noChangeArrowheads="1"/>
              </p:cNvSpPr>
              <p:nvPr/>
            </p:nvSpPr>
            <p:spPr bwMode="gray">
              <a:xfrm>
                <a:off x="1" y="3605213"/>
                <a:ext cx="251520" cy="71437"/>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a:ln>
                    <a:noFill/>
                  </a:ln>
                  <a:solidFill>
                    <a:schemeClr val="tx1"/>
                  </a:solidFill>
                  <a:effectLst/>
                  <a:latin typeface="Arial" charset="0"/>
                  <a:ea typeface="+mn-ea"/>
                  <a:cs typeface="Arial" charset="0"/>
                </a:endParaRPr>
              </a:p>
            </p:txBody>
          </p:sp>
          <p:sp>
            <p:nvSpPr>
              <p:cNvPr id="15" name="Rectangle 27"/>
              <p:cNvSpPr>
                <a:spLocks noChangeArrowheads="1"/>
              </p:cNvSpPr>
              <p:nvPr userDrawn="1"/>
            </p:nvSpPr>
            <p:spPr bwMode="gray">
              <a:xfrm>
                <a:off x="8892480" y="3605213"/>
                <a:ext cx="251520" cy="71437"/>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a:ln>
                    <a:noFill/>
                  </a:ln>
                  <a:solidFill>
                    <a:schemeClr val="tx1"/>
                  </a:solidFill>
                  <a:effectLst/>
                  <a:latin typeface="Arial" charset="0"/>
                  <a:ea typeface="+mn-ea"/>
                  <a:cs typeface="Arial" charset="0"/>
                </a:endParaRPr>
              </a:p>
            </p:txBody>
          </p:sp>
        </p:grpSp>
      </p:grpSp>
      <p:sp>
        <p:nvSpPr>
          <p:cNvPr id="23" name="Line 33"/>
          <p:cNvSpPr>
            <a:spLocks noChangeShapeType="1"/>
          </p:cNvSpPr>
          <p:nvPr userDrawn="1"/>
        </p:nvSpPr>
        <p:spPr bwMode="gray">
          <a:xfrm>
            <a:off x="0" y="6381328"/>
            <a:ext cx="9136674" cy="0"/>
          </a:xfrm>
          <a:prstGeom prst="line">
            <a:avLst/>
          </a:prstGeom>
          <a:noFill/>
          <a:ln w="6350">
            <a:solidFill>
              <a:srgbClr val="97989A"/>
            </a:solidFill>
            <a:miter lim="800000"/>
            <a:headEnd/>
            <a:tailEnd/>
          </a:ln>
        </p:spPr>
        <p:txBody>
          <a:bodyPr>
            <a:noAutofit/>
          </a:bodyPr>
          <a:lstStyle/>
          <a:p>
            <a:endParaRPr lang="en-GB" dirty="0"/>
          </a:p>
        </p:txBody>
      </p:sp>
      <p:sp>
        <p:nvSpPr>
          <p:cNvPr id="22" name="Line 31"/>
          <p:cNvSpPr>
            <a:spLocks noChangeShapeType="1"/>
          </p:cNvSpPr>
          <p:nvPr userDrawn="1"/>
        </p:nvSpPr>
        <p:spPr bwMode="gray">
          <a:xfrm>
            <a:off x="0" y="908720"/>
            <a:ext cx="9136674" cy="0"/>
          </a:xfrm>
          <a:prstGeom prst="line">
            <a:avLst/>
          </a:prstGeom>
          <a:noFill/>
          <a:ln w="6350">
            <a:solidFill>
              <a:srgbClr val="97989A"/>
            </a:solidFill>
            <a:miter lim="800000"/>
            <a:headEnd/>
            <a:tailEnd/>
          </a:ln>
        </p:spPr>
        <p:txBody>
          <a:bodyPr>
            <a:noAutofit/>
          </a:bodyPr>
          <a:lstStyle/>
          <a:p>
            <a:endParaRPr lang="en-GB" dirty="0"/>
          </a:p>
        </p:txBody>
      </p:sp>
      <p:sp>
        <p:nvSpPr>
          <p:cNvPr id="24" name="Title 23"/>
          <p:cNvSpPr>
            <a:spLocks noGrp="1"/>
          </p:cNvSpPr>
          <p:nvPr>
            <p:ph type="title"/>
          </p:nvPr>
        </p:nvSpPr>
        <p:spPr bwMode="gray"/>
        <p:txBody>
          <a:bodyPr>
            <a:noAutofit/>
          </a:bodyPr>
          <a:lstStyle/>
          <a:p>
            <a:r>
              <a:rPr lang="en-US" smtClean="0"/>
              <a:t>Click to edit Master title style</a:t>
            </a:r>
            <a:endParaRPr lang="en-GB"/>
          </a:p>
        </p:txBody>
      </p:sp>
    </p:spTree>
    <p:extLst>
      <p:ext uri="{BB962C8B-B14F-4D97-AF65-F5344CB8AC3E}">
        <p14:creationId xmlns:p14="http://schemas.microsoft.com/office/powerpoint/2010/main" val="411548125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_Title and Text">
    <p:spTree>
      <p:nvGrpSpPr>
        <p:cNvPr id="1" name=""/>
        <p:cNvGrpSpPr/>
        <p:nvPr/>
      </p:nvGrpSpPr>
      <p:grpSpPr>
        <a:xfrm>
          <a:off x="0" y="0"/>
          <a:ext cx="0" cy="0"/>
          <a:chOff x="0" y="0"/>
          <a:chExt cx="0" cy="0"/>
        </a:xfrm>
      </p:grpSpPr>
      <p:grpSp>
        <p:nvGrpSpPr>
          <p:cNvPr id="9" name="Group 8"/>
          <p:cNvGrpSpPr/>
          <p:nvPr userDrawn="1"/>
        </p:nvGrpSpPr>
        <p:grpSpPr bwMode="gray">
          <a:xfrm>
            <a:off x="1" y="904875"/>
            <a:ext cx="9143999" cy="5476453"/>
            <a:chOff x="1" y="904875"/>
            <a:chExt cx="9143999" cy="5476453"/>
          </a:xfrm>
          <a:noFill/>
        </p:grpSpPr>
        <p:grpSp>
          <p:nvGrpSpPr>
            <p:cNvPr id="10" name="Group 29"/>
            <p:cNvGrpSpPr/>
            <p:nvPr userDrawn="1"/>
          </p:nvGrpSpPr>
          <p:grpSpPr bwMode="gray">
            <a:xfrm>
              <a:off x="251521" y="1193800"/>
              <a:ext cx="8640960" cy="4896000"/>
              <a:chOff x="251521" y="1193800"/>
              <a:chExt cx="8640960" cy="4896000"/>
            </a:xfrm>
            <a:grpFill/>
          </p:grpSpPr>
          <p:sp>
            <p:nvSpPr>
              <p:cNvPr id="16" name="Rectangle 18"/>
              <p:cNvSpPr>
                <a:spLocks noChangeArrowheads="1"/>
              </p:cNvSpPr>
              <p:nvPr userDrawn="1"/>
            </p:nvSpPr>
            <p:spPr bwMode="gray">
              <a:xfrm>
                <a:off x="251521" y="1193800"/>
                <a:ext cx="8640960" cy="4894263"/>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sp>
            <p:nvSpPr>
              <p:cNvPr id="17" name="Rectangle 19"/>
              <p:cNvSpPr>
                <a:spLocks noChangeArrowheads="1"/>
              </p:cNvSpPr>
              <p:nvPr userDrawn="1"/>
            </p:nvSpPr>
            <p:spPr bwMode="gray">
              <a:xfrm>
                <a:off x="251521" y="3568700"/>
                <a:ext cx="8640960" cy="144463"/>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sp>
            <p:nvSpPr>
              <p:cNvPr id="18" name="Rectangle 20"/>
              <p:cNvSpPr>
                <a:spLocks noChangeArrowheads="1"/>
              </p:cNvSpPr>
              <p:nvPr userDrawn="1"/>
            </p:nvSpPr>
            <p:spPr bwMode="gray">
              <a:xfrm>
                <a:off x="3706318" y="1193800"/>
                <a:ext cx="144463" cy="4896000"/>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sp>
            <p:nvSpPr>
              <p:cNvPr id="19" name="Rectangle 21"/>
              <p:cNvSpPr>
                <a:spLocks noChangeArrowheads="1"/>
              </p:cNvSpPr>
              <p:nvPr userDrawn="1"/>
            </p:nvSpPr>
            <p:spPr bwMode="gray">
              <a:xfrm>
                <a:off x="1836838" y="1193800"/>
                <a:ext cx="284163" cy="4896000"/>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sp>
            <p:nvSpPr>
              <p:cNvPr id="20" name="Rectangle 22"/>
              <p:cNvSpPr>
                <a:spLocks noChangeArrowheads="1"/>
              </p:cNvSpPr>
              <p:nvPr userDrawn="1"/>
            </p:nvSpPr>
            <p:spPr bwMode="gray">
              <a:xfrm>
                <a:off x="5436098" y="1193800"/>
                <a:ext cx="142875" cy="4896000"/>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sp>
            <p:nvSpPr>
              <p:cNvPr id="21" name="Rectangle 23"/>
              <p:cNvSpPr>
                <a:spLocks noChangeArrowheads="1"/>
              </p:cNvSpPr>
              <p:nvPr userDrawn="1"/>
            </p:nvSpPr>
            <p:spPr bwMode="gray">
              <a:xfrm>
                <a:off x="7164290" y="1193800"/>
                <a:ext cx="142875" cy="4896000"/>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smtClean="0">
                  <a:ln>
                    <a:noFill/>
                  </a:ln>
                  <a:solidFill>
                    <a:schemeClr val="tx1"/>
                  </a:solidFill>
                  <a:effectLst/>
                  <a:latin typeface="Arial" charset="0"/>
                  <a:ea typeface="+mn-ea"/>
                  <a:cs typeface="Arial" charset="0"/>
                </a:endParaRPr>
              </a:p>
            </p:txBody>
          </p:sp>
        </p:grpSp>
        <p:grpSp>
          <p:nvGrpSpPr>
            <p:cNvPr id="11" name="Group 30"/>
            <p:cNvGrpSpPr/>
            <p:nvPr userDrawn="1"/>
          </p:nvGrpSpPr>
          <p:grpSpPr bwMode="gray">
            <a:xfrm>
              <a:off x="1" y="904875"/>
              <a:ext cx="9143999" cy="5476453"/>
              <a:chOff x="1" y="904875"/>
              <a:chExt cx="9143999" cy="5476453"/>
            </a:xfrm>
            <a:grpFill/>
          </p:grpSpPr>
          <p:sp>
            <p:nvSpPr>
              <p:cNvPr id="12" name="Rectangle 25"/>
              <p:cNvSpPr>
                <a:spLocks noChangeArrowheads="1"/>
              </p:cNvSpPr>
              <p:nvPr/>
            </p:nvSpPr>
            <p:spPr bwMode="gray">
              <a:xfrm>
                <a:off x="4913313" y="904875"/>
                <a:ext cx="71437" cy="291877"/>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a:ln>
                    <a:noFill/>
                  </a:ln>
                  <a:solidFill>
                    <a:schemeClr val="tx1"/>
                  </a:solidFill>
                  <a:effectLst/>
                  <a:latin typeface="Arial" charset="0"/>
                  <a:ea typeface="+mn-ea"/>
                  <a:cs typeface="Arial" charset="0"/>
                </a:endParaRPr>
              </a:p>
            </p:txBody>
          </p:sp>
          <p:sp>
            <p:nvSpPr>
              <p:cNvPr id="13" name="Rectangle 26"/>
              <p:cNvSpPr>
                <a:spLocks noChangeArrowheads="1"/>
              </p:cNvSpPr>
              <p:nvPr/>
            </p:nvSpPr>
            <p:spPr bwMode="gray">
              <a:xfrm>
                <a:off x="4913313" y="6088063"/>
                <a:ext cx="71437" cy="293265"/>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a:ln>
                    <a:noFill/>
                  </a:ln>
                  <a:solidFill>
                    <a:schemeClr val="tx1"/>
                  </a:solidFill>
                  <a:effectLst/>
                  <a:latin typeface="Arial" charset="0"/>
                  <a:ea typeface="+mn-ea"/>
                  <a:cs typeface="Arial" charset="0"/>
                </a:endParaRPr>
              </a:p>
            </p:txBody>
          </p:sp>
          <p:sp>
            <p:nvSpPr>
              <p:cNvPr id="14" name="Rectangle 27"/>
              <p:cNvSpPr>
                <a:spLocks noChangeArrowheads="1"/>
              </p:cNvSpPr>
              <p:nvPr/>
            </p:nvSpPr>
            <p:spPr bwMode="gray">
              <a:xfrm>
                <a:off x="1" y="3605213"/>
                <a:ext cx="251520" cy="71437"/>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a:ln>
                    <a:noFill/>
                  </a:ln>
                  <a:solidFill>
                    <a:schemeClr val="tx1"/>
                  </a:solidFill>
                  <a:effectLst/>
                  <a:latin typeface="Arial" charset="0"/>
                  <a:ea typeface="+mn-ea"/>
                  <a:cs typeface="Arial" charset="0"/>
                </a:endParaRPr>
              </a:p>
            </p:txBody>
          </p:sp>
          <p:sp>
            <p:nvSpPr>
              <p:cNvPr id="15" name="Rectangle 27"/>
              <p:cNvSpPr>
                <a:spLocks noChangeArrowheads="1"/>
              </p:cNvSpPr>
              <p:nvPr userDrawn="1"/>
            </p:nvSpPr>
            <p:spPr bwMode="gray">
              <a:xfrm>
                <a:off x="8892480" y="3605213"/>
                <a:ext cx="251520" cy="71437"/>
              </a:xfrm>
              <a:prstGeom prst="rect">
                <a:avLst/>
              </a:prstGeom>
              <a:grp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defRPr/>
                </a:pPr>
                <a:endParaRPr kumimoji="0" lang="en-US" sz="1200" b="0" i="0" u="none" strike="noStrike" kern="1200" cap="none" normalizeH="0" baseline="0" dirty="0">
                  <a:ln>
                    <a:noFill/>
                  </a:ln>
                  <a:solidFill>
                    <a:schemeClr val="tx1"/>
                  </a:solidFill>
                  <a:effectLst/>
                  <a:latin typeface="Arial" charset="0"/>
                  <a:ea typeface="+mn-ea"/>
                  <a:cs typeface="Arial" charset="0"/>
                </a:endParaRPr>
              </a:p>
            </p:txBody>
          </p:sp>
        </p:grpSp>
      </p:grpSp>
      <p:sp>
        <p:nvSpPr>
          <p:cNvPr id="23" name="Line 33"/>
          <p:cNvSpPr>
            <a:spLocks noChangeShapeType="1"/>
          </p:cNvSpPr>
          <p:nvPr userDrawn="1"/>
        </p:nvSpPr>
        <p:spPr bwMode="gray">
          <a:xfrm>
            <a:off x="0" y="6381328"/>
            <a:ext cx="9136674" cy="0"/>
          </a:xfrm>
          <a:prstGeom prst="line">
            <a:avLst/>
          </a:prstGeom>
          <a:noFill/>
          <a:ln w="6350">
            <a:solidFill>
              <a:srgbClr val="97989A"/>
            </a:solidFill>
            <a:miter lim="800000"/>
            <a:headEnd/>
            <a:tailEnd/>
          </a:ln>
        </p:spPr>
        <p:txBody>
          <a:bodyPr>
            <a:noAutofit/>
          </a:bodyPr>
          <a:lstStyle/>
          <a:p>
            <a:endParaRPr lang="en-GB" dirty="0"/>
          </a:p>
        </p:txBody>
      </p:sp>
      <p:sp>
        <p:nvSpPr>
          <p:cNvPr id="22" name="Line 31"/>
          <p:cNvSpPr>
            <a:spLocks noChangeShapeType="1"/>
          </p:cNvSpPr>
          <p:nvPr userDrawn="1"/>
        </p:nvSpPr>
        <p:spPr bwMode="gray">
          <a:xfrm>
            <a:off x="0" y="908720"/>
            <a:ext cx="9136674" cy="0"/>
          </a:xfrm>
          <a:prstGeom prst="line">
            <a:avLst/>
          </a:prstGeom>
          <a:noFill/>
          <a:ln w="6350">
            <a:solidFill>
              <a:srgbClr val="97989A"/>
            </a:solidFill>
            <a:miter lim="800000"/>
            <a:headEnd/>
            <a:tailEnd/>
          </a:ln>
        </p:spPr>
        <p:txBody>
          <a:bodyPr>
            <a:noAutofit/>
          </a:bodyPr>
          <a:lstStyle/>
          <a:p>
            <a:endParaRPr lang="en-GB" dirty="0"/>
          </a:p>
        </p:txBody>
      </p:sp>
      <p:sp>
        <p:nvSpPr>
          <p:cNvPr id="24" name="Title 23"/>
          <p:cNvSpPr>
            <a:spLocks noGrp="1"/>
          </p:cNvSpPr>
          <p:nvPr>
            <p:ph type="title"/>
          </p:nvPr>
        </p:nvSpPr>
        <p:spPr bwMode="gray"/>
        <p:txBody>
          <a:bodyPr>
            <a:noAutofit/>
          </a:bodyPr>
          <a:lstStyle/>
          <a:p>
            <a:r>
              <a:rPr lang="en-US" smtClean="0"/>
              <a:t>Click to edit Master title style</a:t>
            </a:r>
            <a:endParaRPr lang="en-GB"/>
          </a:p>
        </p:txBody>
      </p:sp>
    </p:spTree>
    <p:extLst>
      <p:ext uri="{BB962C8B-B14F-4D97-AF65-F5344CB8AC3E}">
        <p14:creationId xmlns:p14="http://schemas.microsoft.com/office/powerpoint/2010/main" val="18654225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5" name="Freeform 21"/>
          <p:cNvSpPr>
            <a:spLocks noChangeAspect="1"/>
          </p:cNvSpPr>
          <p:nvPr/>
        </p:nvSpPr>
        <p:spPr bwMode="gray">
          <a:xfrm>
            <a:off x="0" y="0"/>
            <a:ext cx="2101850" cy="906463"/>
          </a:xfrm>
          <a:custGeom>
            <a:avLst/>
            <a:gdLst/>
            <a:ahLst/>
            <a:cxnLst>
              <a:cxn ang="0">
                <a:pos x="0" y="0"/>
              </a:cxn>
              <a:cxn ang="0">
                <a:pos x="0" y="571"/>
              </a:cxn>
              <a:cxn ang="0">
                <a:pos x="1155" y="571"/>
              </a:cxn>
              <a:cxn ang="0">
                <a:pos x="1324" y="0"/>
              </a:cxn>
              <a:cxn ang="0">
                <a:pos x="0" y="0"/>
              </a:cxn>
            </a:cxnLst>
            <a:rect l="0" t="0" r="r" b="b"/>
            <a:pathLst>
              <a:path w="1324" h="571">
                <a:moveTo>
                  <a:pt x="0" y="0"/>
                </a:moveTo>
                <a:lnTo>
                  <a:pt x="0" y="571"/>
                </a:lnTo>
                <a:lnTo>
                  <a:pt x="1155" y="571"/>
                </a:lnTo>
                <a:lnTo>
                  <a:pt x="1324" y="0"/>
                </a:lnTo>
                <a:lnTo>
                  <a:pt x="0" y="0"/>
                </a:lnTo>
                <a:close/>
              </a:path>
            </a:pathLst>
          </a:custGeom>
          <a:gradFill flip="none" rotWithShape="1">
            <a:gsLst>
              <a:gs pos="0">
                <a:srgbClr val="00257A">
                  <a:alpha val="90000"/>
                </a:srgbClr>
              </a:gs>
              <a:gs pos="35000">
                <a:srgbClr val="00338D">
                  <a:alpha val="90000"/>
                </a:srgbClr>
              </a:gs>
              <a:gs pos="100000">
                <a:srgbClr val="009FDA">
                  <a:alpha val="90000"/>
                </a:srgbClr>
              </a:gs>
            </a:gsLst>
            <a:lin ang="0" scaled="1"/>
            <a:tileRect/>
          </a:gradFill>
          <a:ln w="9525" cap="flat" cmpd="sng">
            <a:noFill/>
            <a:prstDash val="solid"/>
            <a:round/>
            <a:headEnd type="none" w="med" len="med"/>
            <a:tailEnd type="none" w="med" len="med"/>
          </a:ln>
          <a:effectLst/>
        </p:spPr>
        <p:txBody>
          <a:bodyPr>
            <a:noAutofit/>
          </a:bodyPr>
          <a:lstStyle/>
          <a:p>
            <a:pPr marL="0" algn="l" defTabSz="914400" rtl="0" eaLnBrk="1" latinLnBrk="0" hangingPunct="1">
              <a:defRPr/>
            </a:pPr>
            <a:endParaRPr lang="en-GB" sz="1800" kern="1200" dirty="0">
              <a:solidFill>
                <a:schemeClr val="tx1"/>
              </a:solidFill>
              <a:latin typeface="+mn-lt"/>
              <a:ea typeface="+mn-ea"/>
              <a:cs typeface="+mn-cs"/>
            </a:endParaRPr>
          </a:p>
        </p:txBody>
      </p:sp>
      <p:sp>
        <p:nvSpPr>
          <p:cNvPr id="56" name="Text Placeholder 55"/>
          <p:cNvSpPr>
            <a:spLocks noGrp="1"/>
          </p:cNvSpPr>
          <p:nvPr>
            <p:ph type="body" idx="1"/>
          </p:nvPr>
        </p:nvSpPr>
        <p:spPr bwMode="gray">
          <a:xfrm>
            <a:off x="251520" y="1196752"/>
            <a:ext cx="8640960" cy="4896073"/>
          </a:xfrm>
          <a:prstGeom prst="rect">
            <a:avLst/>
          </a:prstGeom>
        </p:spPr>
        <p:txBody>
          <a:bodyPr vert="horz" lIns="0" tIns="0" rIns="0" bIns="0" rtlCol="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55" name="Title Placeholder 54"/>
          <p:cNvSpPr>
            <a:spLocks noGrp="1"/>
          </p:cNvSpPr>
          <p:nvPr>
            <p:ph type="title"/>
          </p:nvPr>
        </p:nvSpPr>
        <p:spPr bwMode="gray">
          <a:xfrm>
            <a:off x="2123728" y="116632"/>
            <a:ext cx="6768752" cy="576064"/>
          </a:xfrm>
          <a:prstGeom prst="rect">
            <a:avLst/>
          </a:prstGeom>
        </p:spPr>
        <p:txBody>
          <a:bodyPr vert="horz" lIns="0" tIns="0" rIns="0" bIns="0" rtlCol="0" anchor="b" anchorCtr="0">
            <a:noAutofit/>
          </a:bodyPr>
          <a:lstStyle/>
          <a:p>
            <a:pPr lvl="0"/>
            <a:r>
              <a:rPr lang="en-US" smtClean="0"/>
              <a:t>Click to edit Master title style</a:t>
            </a:r>
            <a:endParaRPr lang="en-US" dirty="0"/>
          </a:p>
        </p:txBody>
      </p:sp>
      <p:sp>
        <p:nvSpPr>
          <p:cNvPr id="58" name="Text Box 8"/>
          <p:cNvSpPr txBox="1">
            <a:spLocks noChangeArrowheads="1"/>
          </p:cNvSpPr>
          <p:nvPr/>
        </p:nvSpPr>
        <p:spPr bwMode="gray">
          <a:xfrm>
            <a:off x="251520" y="6381329"/>
            <a:ext cx="5760640" cy="257369"/>
          </a:xfrm>
          <a:prstGeom prst="rect">
            <a:avLst/>
          </a:prstGeom>
          <a:noFill/>
          <a:ln w="9525">
            <a:noFill/>
            <a:miter lim="800000"/>
            <a:headEnd/>
            <a:tailEnd/>
          </a:ln>
          <a:effectLst/>
        </p:spPr>
        <p:txBody>
          <a:bodyPr wrap="square" lIns="0" tIns="72000" rIns="0" bIns="0">
            <a:noAutofit/>
          </a:bodyPr>
          <a:lstStyle/>
          <a:p>
            <a:pPr algn="l">
              <a:spcBef>
                <a:spcPct val="40000"/>
              </a:spcBef>
            </a:pPr>
            <a:r>
              <a:rPr lang="en-US" sz="600" dirty="0" smtClean="0">
                <a:solidFill>
                  <a:srgbClr val="00338D"/>
                </a:solidFill>
                <a:latin typeface="Arial"/>
              </a:rPr>
              <a:t>© 2015</a:t>
            </a:r>
            <a:r>
              <a:rPr lang="en-US" sz="600" baseline="0" dirty="0" smtClean="0">
                <a:solidFill>
                  <a:srgbClr val="00338D"/>
                </a:solidFill>
                <a:latin typeface="Arial"/>
              </a:rPr>
              <a:t> KPMG LLP, a Canadian limited liability partnership</a:t>
            </a:r>
            <a:r>
              <a:rPr lang="en-US" sz="600" dirty="0" smtClean="0">
                <a:solidFill>
                  <a:srgbClr val="00338D"/>
                </a:solidFill>
                <a:latin typeface="Arial"/>
              </a:rPr>
              <a:t> and a member firm of the KPMG network of independent member firms affiliated with KPMG International Cooperative (“KPMG International”), a Swiss entity. All rights reserved. KPMG CONFIDENTIAL.</a:t>
            </a:r>
            <a:r>
              <a:rPr lang="en-US" sz="600" baseline="0" dirty="0" smtClean="0">
                <a:solidFill>
                  <a:srgbClr val="00338D"/>
                </a:solidFill>
                <a:latin typeface="Arial"/>
              </a:rPr>
              <a:t> </a:t>
            </a:r>
            <a:endParaRPr lang="en-US" sz="600" dirty="0">
              <a:solidFill>
                <a:srgbClr val="00338D"/>
              </a:solidFill>
              <a:latin typeface="Arial"/>
            </a:endParaRPr>
          </a:p>
        </p:txBody>
      </p:sp>
      <p:sp>
        <p:nvSpPr>
          <p:cNvPr id="59" name="Rectangle 58"/>
          <p:cNvSpPr/>
          <p:nvPr/>
        </p:nvSpPr>
        <p:spPr bwMode="gray">
          <a:xfrm>
            <a:off x="8388424" y="6381332"/>
            <a:ext cx="504056" cy="280800"/>
          </a:xfrm>
          <a:prstGeom prst="rect">
            <a:avLst/>
          </a:prstGeom>
          <a:ln>
            <a:miter lim="800000"/>
            <a:headEnd/>
            <a:tailEnd/>
          </a:ln>
        </p:spPr>
        <p:txBody>
          <a:bodyPr vert="horz" wrap="square" lIns="72000" tIns="72000" rIns="0" bIns="0" numCol="1" anchor="t" anchorCtr="0" compatLnSpc="1">
            <a:prstTxWarp prst="textNoShape">
              <a:avLst/>
            </a:prstTxWarp>
            <a:noAutofit/>
          </a:bodyPr>
          <a:lstStyle/>
          <a:p>
            <a:pPr algn="r" rtl="0" fontAlgn="base">
              <a:spcBef>
                <a:spcPct val="40000"/>
              </a:spcBef>
              <a:spcAft>
                <a:spcPct val="0"/>
              </a:spcAft>
            </a:pPr>
            <a:fld id="{358FC8E3-FE67-4452-9F4E-9A47A20D0542}" type="slidenum">
              <a:rPr lang="en-US" sz="900" kern="1200" noProof="0" smtClean="0">
                <a:solidFill>
                  <a:srgbClr val="00338D"/>
                </a:solidFill>
                <a:latin typeface="Arial"/>
                <a:ea typeface="+mn-ea"/>
                <a:cs typeface="Arial" charset="0"/>
              </a:rPr>
              <a:pPr algn="r" rtl="0" fontAlgn="base">
                <a:spcBef>
                  <a:spcPct val="40000"/>
                </a:spcBef>
                <a:spcAft>
                  <a:spcPct val="0"/>
                </a:spcAft>
              </a:pPr>
              <a:t>‹#›</a:t>
            </a:fld>
            <a:endParaRPr lang="en-US" sz="900" kern="1200" dirty="0">
              <a:solidFill>
                <a:srgbClr val="00338D"/>
              </a:solidFill>
              <a:latin typeface="Arial"/>
              <a:ea typeface="+mn-ea"/>
              <a:cs typeface="Arial" charset="0"/>
            </a:endParaRPr>
          </a:p>
        </p:txBody>
      </p:sp>
      <p:grpSp>
        <p:nvGrpSpPr>
          <p:cNvPr id="2" name="Group 26"/>
          <p:cNvGrpSpPr>
            <a:grpSpLocks noChangeAspect="1"/>
          </p:cNvGrpSpPr>
          <p:nvPr/>
        </p:nvGrpSpPr>
        <p:grpSpPr bwMode="gray">
          <a:xfrm>
            <a:off x="107950" y="0"/>
            <a:ext cx="1258888" cy="928688"/>
            <a:chOff x="68" y="0"/>
            <a:chExt cx="793" cy="585"/>
          </a:xfrm>
        </p:grpSpPr>
        <p:sp>
          <p:nvSpPr>
            <p:cNvPr id="15" name="Freeform 6"/>
            <p:cNvSpPr>
              <a:spLocks noEditPoints="1"/>
            </p:cNvSpPr>
            <p:nvPr userDrawn="1"/>
          </p:nvSpPr>
          <p:spPr bwMode="gray">
            <a:xfrm>
              <a:off x="162" y="179"/>
              <a:ext cx="572" cy="230"/>
            </a:xfrm>
            <a:custGeom>
              <a:avLst/>
              <a:gdLst>
                <a:gd name="T0" fmla="*/ 2168 w 2285"/>
                <a:gd name="T1" fmla="*/ 620 h 917"/>
                <a:gd name="T2" fmla="*/ 1796 w 2285"/>
                <a:gd name="T3" fmla="*/ 698 h 917"/>
                <a:gd name="T4" fmla="*/ 1974 w 2285"/>
                <a:gd name="T5" fmla="*/ 486 h 917"/>
                <a:gd name="T6" fmla="*/ 2175 w 2285"/>
                <a:gd name="T7" fmla="*/ 448 h 917"/>
                <a:gd name="T8" fmla="*/ 1796 w 2285"/>
                <a:gd name="T9" fmla="*/ 18 h 917"/>
                <a:gd name="T10" fmla="*/ 2268 w 2285"/>
                <a:gd name="T11" fmla="*/ 698 h 917"/>
                <a:gd name="T12" fmla="*/ 1794 w 2285"/>
                <a:gd name="T13" fmla="*/ 716 h 917"/>
                <a:gd name="T14" fmla="*/ 1989 w 2285"/>
                <a:gd name="T15" fmla="*/ 814 h 917"/>
                <a:gd name="T16" fmla="*/ 1654 w 2285"/>
                <a:gd name="T17" fmla="*/ 657 h 917"/>
                <a:gd name="T18" fmla="*/ 1637 w 2285"/>
                <a:gd name="T19" fmla="*/ 417 h 917"/>
                <a:gd name="T20" fmla="*/ 1246 w 2285"/>
                <a:gd name="T21" fmla="*/ 698 h 917"/>
                <a:gd name="T22" fmla="*/ 1718 w 2285"/>
                <a:gd name="T23" fmla="*/ 425 h 917"/>
                <a:gd name="T24" fmla="*/ 1384 w 2285"/>
                <a:gd name="T25" fmla="*/ 698 h 917"/>
                <a:gd name="T26" fmla="*/ 1454 w 2285"/>
                <a:gd name="T27" fmla="*/ 698 h 917"/>
                <a:gd name="T28" fmla="*/ 969 w 2285"/>
                <a:gd name="T29" fmla="*/ 698 h 917"/>
                <a:gd name="T30" fmla="*/ 943 w 2285"/>
                <a:gd name="T31" fmla="*/ 452 h 917"/>
                <a:gd name="T32" fmla="*/ 697 w 2285"/>
                <a:gd name="T33" fmla="*/ 18 h 917"/>
                <a:gd name="T34" fmla="*/ 1168 w 2285"/>
                <a:gd name="T35" fmla="*/ 417 h 917"/>
                <a:gd name="T36" fmla="*/ 1144 w 2285"/>
                <a:gd name="T37" fmla="*/ 698 h 917"/>
                <a:gd name="T38" fmla="*/ 750 w 2285"/>
                <a:gd name="T39" fmla="*/ 631 h 917"/>
                <a:gd name="T40" fmla="*/ 718 w 2285"/>
                <a:gd name="T41" fmla="*/ 632 h 917"/>
                <a:gd name="T42" fmla="*/ 708 w 2285"/>
                <a:gd name="T43" fmla="*/ 555 h 917"/>
                <a:gd name="T44" fmla="*/ 768 w 2285"/>
                <a:gd name="T45" fmla="*/ 494 h 917"/>
                <a:gd name="T46" fmla="*/ 750 w 2285"/>
                <a:gd name="T47" fmla="*/ 631 h 917"/>
                <a:gd name="T48" fmla="*/ 544 w 2285"/>
                <a:gd name="T49" fmla="*/ 690 h 917"/>
                <a:gd name="T50" fmla="*/ 302 w 2285"/>
                <a:gd name="T51" fmla="*/ 662 h 917"/>
                <a:gd name="T52" fmla="*/ 200 w 2285"/>
                <a:gd name="T53" fmla="*/ 619 h 917"/>
                <a:gd name="T54" fmla="*/ 148 w 2285"/>
                <a:gd name="T55" fmla="*/ 18 h 917"/>
                <a:gd name="T56" fmla="*/ 619 w 2285"/>
                <a:gd name="T57" fmla="*/ 442 h 917"/>
                <a:gd name="T58" fmla="*/ 179 w 2285"/>
                <a:gd name="T59" fmla="*/ 698 h 917"/>
                <a:gd name="T60" fmla="*/ 1778 w 2285"/>
                <a:gd name="T61" fmla="*/ 0 h 917"/>
                <a:gd name="T62" fmla="*/ 1736 w 2285"/>
                <a:gd name="T63" fmla="*/ 0 h 917"/>
                <a:gd name="T64" fmla="*/ 1186 w 2285"/>
                <a:gd name="T65" fmla="*/ 417 h 917"/>
                <a:gd name="T66" fmla="*/ 679 w 2285"/>
                <a:gd name="T67" fmla="*/ 417 h 917"/>
                <a:gd name="T68" fmla="*/ 129 w 2285"/>
                <a:gd name="T69" fmla="*/ 0 h 917"/>
                <a:gd name="T70" fmla="*/ 114 w 2285"/>
                <a:gd name="T71" fmla="*/ 907 h 917"/>
                <a:gd name="T72" fmla="*/ 282 w 2285"/>
                <a:gd name="T73" fmla="*/ 907 h 917"/>
                <a:gd name="T74" fmla="*/ 536 w 2285"/>
                <a:gd name="T75" fmla="*/ 716 h 917"/>
                <a:gd name="T76" fmla="*/ 660 w 2285"/>
                <a:gd name="T77" fmla="*/ 717 h 917"/>
                <a:gd name="T78" fmla="*/ 726 w 2285"/>
                <a:gd name="T79" fmla="*/ 716 h 917"/>
                <a:gd name="T80" fmla="*/ 909 w 2285"/>
                <a:gd name="T81" fmla="*/ 907 h 917"/>
                <a:gd name="T82" fmla="*/ 1144 w 2285"/>
                <a:gd name="T83" fmla="*/ 716 h 917"/>
                <a:gd name="T84" fmla="*/ 1372 w 2285"/>
                <a:gd name="T85" fmla="*/ 716 h 917"/>
                <a:gd name="T86" fmla="*/ 1534 w 2285"/>
                <a:gd name="T87" fmla="*/ 907 h 917"/>
                <a:gd name="T88" fmla="*/ 1697 w 2285"/>
                <a:gd name="T89" fmla="*/ 865 h 917"/>
                <a:gd name="T90" fmla="*/ 2145 w 2285"/>
                <a:gd name="T91" fmla="*/ 716 h 917"/>
                <a:gd name="T92" fmla="*/ 1778 w 2285"/>
                <a:gd name="T93" fmla="*/ 0 h 917"/>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2285"/>
                <a:gd name="T142" fmla="*/ 0 h 917"/>
                <a:gd name="T143" fmla="*/ 2285 w 2285"/>
                <a:gd name="T144" fmla="*/ 917 h 917"/>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2285" h="917">
                  <a:moveTo>
                    <a:pt x="2268" y="698"/>
                  </a:moveTo>
                  <a:cubicBezTo>
                    <a:pt x="2149" y="698"/>
                    <a:pt x="2149" y="698"/>
                    <a:pt x="2149" y="698"/>
                  </a:cubicBezTo>
                  <a:cubicBezTo>
                    <a:pt x="2168" y="620"/>
                    <a:pt x="2168" y="620"/>
                    <a:pt x="2168" y="620"/>
                  </a:cubicBezTo>
                  <a:cubicBezTo>
                    <a:pt x="1930" y="620"/>
                    <a:pt x="1930" y="620"/>
                    <a:pt x="1930" y="620"/>
                  </a:cubicBezTo>
                  <a:cubicBezTo>
                    <a:pt x="1911" y="698"/>
                    <a:pt x="1911" y="698"/>
                    <a:pt x="1911" y="698"/>
                  </a:cubicBezTo>
                  <a:cubicBezTo>
                    <a:pt x="1796" y="698"/>
                    <a:pt x="1796" y="698"/>
                    <a:pt x="1796" y="698"/>
                  </a:cubicBezTo>
                  <a:cubicBezTo>
                    <a:pt x="1796" y="682"/>
                    <a:pt x="1796" y="682"/>
                    <a:pt x="1796" y="682"/>
                  </a:cubicBezTo>
                  <a:cubicBezTo>
                    <a:pt x="1798" y="674"/>
                    <a:pt x="1799" y="664"/>
                    <a:pt x="1802" y="654"/>
                  </a:cubicBezTo>
                  <a:cubicBezTo>
                    <a:pt x="1822" y="570"/>
                    <a:pt x="1878" y="486"/>
                    <a:pt x="1974" y="486"/>
                  </a:cubicBezTo>
                  <a:cubicBezTo>
                    <a:pt x="2012" y="486"/>
                    <a:pt x="2050" y="501"/>
                    <a:pt x="2045" y="553"/>
                  </a:cubicBezTo>
                  <a:cubicBezTo>
                    <a:pt x="2186" y="553"/>
                    <a:pt x="2186" y="553"/>
                    <a:pt x="2186" y="553"/>
                  </a:cubicBezTo>
                  <a:cubicBezTo>
                    <a:pt x="2192" y="529"/>
                    <a:pt x="2201" y="486"/>
                    <a:pt x="2175" y="448"/>
                  </a:cubicBezTo>
                  <a:cubicBezTo>
                    <a:pt x="2144" y="406"/>
                    <a:pt x="2084" y="390"/>
                    <a:pt x="2005" y="390"/>
                  </a:cubicBezTo>
                  <a:cubicBezTo>
                    <a:pt x="1949" y="390"/>
                    <a:pt x="1867" y="399"/>
                    <a:pt x="1796" y="445"/>
                  </a:cubicBezTo>
                  <a:cubicBezTo>
                    <a:pt x="1796" y="18"/>
                    <a:pt x="1796" y="18"/>
                    <a:pt x="1796" y="18"/>
                  </a:cubicBezTo>
                  <a:cubicBezTo>
                    <a:pt x="2268" y="18"/>
                    <a:pt x="2268" y="18"/>
                    <a:pt x="2268" y="18"/>
                  </a:cubicBezTo>
                  <a:cubicBezTo>
                    <a:pt x="2268" y="698"/>
                    <a:pt x="2268" y="698"/>
                    <a:pt x="2268" y="698"/>
                  </a:cubicBezTo>
                  <a:cubicBezTo>
                    <a:pt x="2268" y="698"/>
                    <a:pt x="2268" y="698"/>
                    <a:pt x="2268" y="698"/>
                  </a:cubicBezTo>
                  <a:close/>
                  <a:moveTo>
                    <a:pt x="1989" y="814"/>
                  </a:moveTo>
                  <a:cubicBezTo>
                    <a:pt x="1962" y="818"/>
                    <a:pt x="1935" y="822"/>
                    <a:pt x="1910" y="822"/>
                  </a:cubicBezTo>
                  <a:cubicBezTo>
                    <a:pt x="1842" y="822"/>
                    <a:pt x="1795" y="790"/>
                    <a:pt x="1794" y="716"/>
                  </a:cubicBezTo>
                  <a:cubicBezTo>
                    <a:pt x="2013" y="716"/>
                    <a:pt x="2013" y="716"/>
                    <a:pt x="2013" y="716"/>
                  </a:cubicBezTo>
                  <a:cubicBezTo>
                    <a:pt x="1989" y="814"/>
                    <a:pt x="1989" y="814"/>
                    <a:pt x="1989" y="814"/>
                  </a:cubicBezTo>
                  <a:cubicBezTo>
                    <a:pt x="1989" y="814"/>
                    <a:pt x="1989" y="814"/>
                    <a:pt x="1989" y="814"/>
                  </a:cubicBezTo>
                  <a:close/>
                  <a:moveTo>
                    <a:pt x="1718" y="425"/>
                  </a:moveTo>
                  <a:cubicBezTo>
                    <a:pt x="1718" y="522"/>
                    <a:pt x="1718" y="522"/>
                    <a:pt x="1718" y="522"/>
                  </a:cubicBezTo>
                  <a:cubicBezTo>
                    <a:pt x="1685" y="568"/>
                    <a:pt x="1664" y="617"/>
                    <a:pt x="1654" y="657"/>
                  </a:cubicBezTo>
                  <a:cubicBezTo>
                    <a:pt x="1651" y="671"/>
                    <a:pt x="1648" y="685"/>
                    <a:pt x="1647" y="698"/>
                  </a:cubicBezTo>
                  <a:cubicBezTo>
                    <a:pt x="1578" y="698"/>
                    <a:pt x="1578" y="698"/>
                    <a:pt x="1578" y="698"/>
                  </a:cubicBezTo>
                  <a:cubicBezTo>
                    <a:pt x="1637" y="417"/>
                    <a:pt x="1637" y="417"/>
                    <a:pt x="1637" y="417"/>
                  </a:cubicBezTo>
                  <a:cubicBezTo>
                    <a:pt x="1437" y="417"/>
                    <a:pt x="1437" y="417"/>
                    <a:pt x="1437" y="417"/>
                  </a:cubicBezTo>
                  <a:cubicBezTo>
                    <a:pt x="1259" y="698"/>
                    <a:pt x="1259" y="698"/>
                    <a:pt x="1259" y="698"/>
                  </a:cubicBezTo>
                  <a:cubicBezTo>
                    <a:pt x="1246" y="698"/>
                    <a:pt x="1246" y="698"/>
                    <a:pt x="1246" y="698"/>
                  </a:cubicBezTo>
                  <a:cubicBezTo>
                    <a:pt x="1246" y="18"/>
                    <a:pt x="1246" y="18"/>
                    <a:pt x="1246" y="18"/>
                  </a:cubicBezTo>
                  <a:cubicBezTo>
                    <a:pt x="1718" y="18"/>
                    <a:pt x="1718" y="18"/>
                    <a:pt x="1718" y="18"/>
                  </a:cubicBezTo>
                  <a:cubicBezTo>
                    <a:pt x="1718" y="425"/>
                    <a:pt x="1718" y="425"/>
                    <a:pt x="1718" y="425"/>
                  </a:cubicBezTo>
                  <a:cubicBezTo>
                    <a:pt x="1718" y="425"/>
                    <a:pt x="1718" y="425"/>
                    <a:pt x="1718" y="425"/>
                  </a:cubicBezTo>
                  <a:close/>
                  <a:moveTo>
                    <a:pt x="1454" y="698"/>
                  </a:moveTo>
                  <a:cubicBezTo>
                    <a:pt x="1384" y="698"/>
                    <a:pt x="1384" y="698"/>
                    <a:pt x="1384" y="698"/>
                  </a:cubicBezTo>
                  <a:cubicBezTo>
                    <a:pt x="1491" y="530"/>
                    <a:pt x="1491" y="530"/>
                    <a:pt x="1491" y="530"/>
                  </a:cubicBezTo>
                  <a:cubicBezTo>
                    <a:pt x="1454" y="698"/>
                    <a:pt x="1454" y="698"/>
                    <a:pt x="1454" y="698"/>
                  </a:cubicBezTo>
                  <a:cubicBezTo>
                    <a:pt x="1454" y="698"/>
                    <a:pt x="1454" y="698"/>
                    <a:pt x="1454" y="698"/>
                  </a:cubicBezTo>
                  <a:close/>
                  <a:moveTo>
                    <a:pt x="1168" y="417"/>
                  </a:moveTo>
                  <a:cubicBezTo>
                    <a:pt x="1050" y="417"/>
                    <a:pt x="1050" y="417"/>
                    <a:pt x="1050" y="417"/>
                  </a:cubicBezTo>
                  <a:cubicBezTo>
                    <a:pt x="969" y="698"/>
                    <a:pt x="969" y="698"/>
                    <a:pt x="969" y="698"/>
                  </a:cubicBezTo>
                  <a:cubicBezTo>
                    <a:pt x="844" y="698"/>
                    <a:pt x="844" y="698"/>
                    <a:pt x="844" y="698"/>
                  </a:cubicBezTo>
                  <a:cubicBezTo>
                    <a:pt x="908" y="675"/>
                    <a:pt x="947" y="630"/>
                    <a:pt x="959" y="563"/>
                  </a:cubicBezTo>
                  <a:cubicBezTo>
                    <a:pt x="969" y="511"/>
                    <a:pt x="964" y="477"/>
                    <a:pt x="943" y="452"/>
                  </a:cubicBezTo>
                  <a:cubicBezTo>
                    <a:pt x="911" y="413"/>
                    <a:pt x="847" y="416"/>
                    <a:pt x="791" y="416"/>
                  </a:cubicBezTo>
                  <a:cubicBezTo>
                    <a:pt x="781" y="416"/>
                    <a:pt x="697" y="417"/>
                    <a:pt x="697" y="417"/>
                  </a:cubicBezTo>
                  <a:cubicBezTo>
                    <a:pt x="697" y="18"/>
                    <a:pt x="697" y="18"/>
                    <a:pt x="697" y="18"/>
                  </a:cubicBezTo>
                  <a:cubicBezTo>
                    <a:pt x="1168" y="18"/>
                    <a:pt x="1168" y="18"/>
                    <a:pt x="1168" y="18"/>
                  </a:cubicBezTo>
                  <a:cubicBezTo>
                    <a:pt x="1168" y="417"/>
                    <a:pt x="1168" y="417"/>
                    <a:pt x="1168" y="417"/>
                  </a:cubicBezTo>
                  <a:cubicBezTo>
                    <a:pt x="1168" y="417"/>
                    <a:pt x="1168" y="417"/>
                    <a:pt x="1168" y="417"/>
                  </a:cubicBezTo>
                  <a:close/>
                  <a:moveTo>
                    <a:pt x="1093" y="698"/>
                  </a:moveTo>
                  <a:cubicBezTo>
                    <a:pt x="1142" y="522"/>
                    <a:pt x="1142" y="522"/>
                    <a:pt x="1142" y="522"/>
                  </a:cubicBezTo>
                  <a:cubicBezTo>
                    <a:pt x="1144" y="698"/>
                    <a:pt x="1144" y="698"/>
                    <a:pt x="1144" y="698"/>
                  </a:cubicBezTo>
                  <a:cubicBezTo>
                    <a:pt x="1093" y="698"/>
                    <a:pt x="1093" y="698"/>
                    <a:pt x="1093" y="698"/>
                  </a:cubicBezTo>
                  <a:cubicBezTo>
                    <a:pt x="1093" y="698"/>
                    <a:pt x="1093" y="698"/>
                    <a:pt x="1093" y="698"/>
                  </a:cubicBezTo>
                  <a:close/>
                  <a:moveTo>
                    <a:pt x="750" y="631"/>
                  </a:moveTo>
                  <a:cubicBezTo>
                    <a:pt x="749" y="631"/>
                    <a:pt x="749" y="631"/>
                    <a:pt x="749" y="631"/>
                  </a:cubicBezTo>
                  <a:cubicBezTo>
                    <a:pt x="745" y="632"/>
                    <a:pt x="740" y="632"/>
                    <a:pt x="735" y="632"/>
                  </a:cubicBezTo>
                  <a:cubicBezTo>
                    <a:pt x="728" y="632"/>
                    <a:pt x="723" y="632"/>
                    <a:pt x="718" y="632"/>
                  </a:cubicBezTo>
                  <a:cubicBezTo>
                    <a:pt x="687" y="632"/>
                    <a:pt x="687" y="632"/>
                    <a:pt x="687" y="632"/>
                  </a:cubicBezTo>
                  <a:cubicBezTo>
                    <a:pt x="702" y="581"/>
                    <a:pt x="702" y="581"/>
                    <a:pt x="702" y="581"/>
                  </a:cubicBezTo>
                  <a:cubicBezTo>
                    <a:pt x="708" y="555"/>
                    <a:pt x="708" y="555"/>
                    <a:pt x="708" y="555"/>
                  </a:cubicBezTo>
                  <a:cubicBezTo>
                    <a:pt x="724" y="495"/>
                    <a:pt x="724" y="495"/>
                    <a:pt x="724" y="495"/>
                  </a:cubicBezTo>
                  <a:cubicBezTo>
                    <a:pt x="731" y="495"/>
                    <a:pt x="738" y="495"/>
                    <a:pt x="744" y="495"/>
                  </a:cubicBezTo>
                  <a:cubicBezTo>
                    <a:pt x="752" y="494"/>
                    <a:pt x="760" y="494"/>
                    <a:pt x="768" y="494"/>
                  </a:cubicBezTo>
                  <a:cubicBezTo>
                    <a:pt x="808" y="494"/>
                    <a:pt x="833" y="497"/>
                    <a:pt x="842" y="510"/>
                  </a:cubicBezTo>
                  <a:cubicBezTo>
                    <a:pt x="849" y="519"/>
                    <a:pt x="848" y="536"/>
                    <a:pt x="840" y="561"/>
                  </a:cubicBezTo>
                  <a:cubicBezTo>
                    <a:pt x="826" y="605"/>
                    <a:pt x="808" y="627"/>
                    <a:pt x="750" y="631"/>
                  </a:cubicBezTo>
                  <a:moveTo>
                    <a:pt x="619" y="442"/>
                  </a:moveTo>
                  <a:cubicBezTo>
                    <a:pt x="611" y="466"/>
                    <a:pt x="611" y="466"/>
                    <a:pt x="611" y="466"/>
                  </a:cubicBezTo>
                  <a:cubicBezTo>
                    <a:pt x="544" y="690"/>
                    <a:pt x="544" y="690"/>
                    <a:pt x="544" y="690"/>
                  </a:cubicBezTo>
                  <a:cubicBezTo>
                    <a:pt x="541" y="698"/>
                    <a:pt x="541" y="698"/>
                    <a:pt x="541" y="698"/>
                  </a:cubicBezTo>
                  <a:cubicBezTo>
                    <a:pt x="319" y="698"/>
                    <a:pt x="319" y="698"/>
                    <a:pt x="319" y="698"/>
                  </a:cubicBezTo>
                  <a:cubicBezTo>
                    <a:pt x="302" y="662"/>
                    <a:pt x="302" y="662"/>
                    <a:pt x="302" y="662"/>
                  </a:cubicBezTo>
                  <a:cubicBezTo>
                    <a:pt x="541" y="417"/>
                    <a:pt x="541" y="417"/>
                    <a:pt x="541" y="417"/>
                  </a:cubicBezTo>
                  <a:cubicBezTo>
                    <a:pt x="387" y="417"/>
                    <a:pt x="387" y="417"/>
                    <a:pt x="387" y="417"/>
                  </a:cubicBezTo>
                  <a:cubicBezTo>
                    <a:pt x="200" y="619"/>
                    <a:pt x="200" y="619"/>
                    <a:pt x="200" y="619"/>
                  </a:cubicBezTo>
                  <a:cubicBezTo>
                    <a:pt x="261" y="417"/>
                    <a:pt x="261" y="417"/>
                    <a:pt x="261" y="417"/>
                  </a:cubicBezTo>
                  <a:cubicBezTo>
                    <a:pt x="148" y="417"/>
                    <a:pt x="148" y="417"/>
                    <a:pt x="148" y="417"/>
                  </a:cubicBezTo>
                  <a:cubicBezTo>
                    <a:pt x="148" y="18"/>
                    <a:pt x="148" y="18"/>
                    <a:pt x="148" y="18"/>
                  </a:cubicBezTo>
                  <a:cubicBezTo>
                    <a:pt x="619" y="18"/>
                    <a:pt x="619" y="18"/>
                    <a:pt x="619" y="18"/>
                  </a:cubicBezTo>
                  <a:cubicBezTo>
                    <a:pt x="619" y="442"/>
                    <a:pt x="619" y="442"/>
                    <a:pt x="619" y="442"/>
                  </a:cubicBezTo>
                  <a:cubicBezTo>
                    <a:pt x="619" y="442"/>
                    <a:pt x="619" y="442"/>
                    <a:pt x="619" y="442"/>
                  </a:cubicBezTo>
                  <a:close/>
                  <a:moveTo>
                    <a:pt x="177" y="698"/>
                  </a:moveTo>
                  <a:cubicBezTo>
                    <a:pt x="177" y="696"/>
                    <a:pt x="177" y="696"/>
                    <a:pt x="177" y="696"/>
                  </a:cubicBezTo>
                  <a:cubicBezTo>
                    <a:pt x="179" y="698"/>
                    <a:pt x="179" y="698"/>
                    <a:pt x="179" y="698"/>
                  </a:cubicBezTo>
                  <a:cubicBezTo>
                    <a:pt x="177" y="698"/>
                    <a:pt x="177" y="698"/>
                    <a:pt x="177" y="698"/>
                  </a:cubicBezTo>
                  <a:cubicBezTo>
                    <a:pt x="177" y="698"/>
                    <a:pt x="177" y="698"/>
                    <a:pt x="177" y="698"/>
                  </a:cubicBezTo>
                  <a:close/>
                  <a:moveTo>
                    <a:pt x="1778" y="0"/>
                  </a:moveTo>
                  <a:cubicBezTo>
                    <a:pt x="1778" y="458"/>
                    <a:pt x="1778" y="458"/>
                    <a:pt x="1778" y="458"/>
                  </a:cubicBezTo>
                  <a:cubicBezTo>
                    <a:pt x="1762" y="470"/>
                    <a:pt x="1749" y="484"/>
                    <a:pt x="1736" y="498"/>
                  </a:cubicBezTo>
                  <a:cubicBezTo>
                    <a:pt x="1736" y="0"/>
                    <a:pt x="1736" y="0"/>
                    <a:pt x="1736" y="0"/>
                  </a:cubicBezTo>
                  <a:cubicBezTo>
                    <a:pt x="1229" y="0"/>
                    <a:pt x="1229" y="0"/>
                    <a:pt x="1229" y="0"/>
                  </a:cubicBezTo>
                  <a:cubicBezTo>
                    <a:pt x="1229" y="417"/>
                    <a:pt x="1229" y="417"/>
                    <a:pt x="1229" y="417"/>
                  </a:cubicBezTo>
                  <a:cubicBezTo>
                    <a:pt x="1186" y="417"/>
                    <a:pt x="1186" y="417"/>
                    <a:pt x="1186" y="417"/>
                  </a:cubicBezTo>
                  <a:cubicBezTo>
                    <a:pt x="1186" y="0"/>
                    <a:pt x="1186" y="0"/>
                    <a:pt x="1186" y="0"/>
                  </a:cubicBezTo>
                  <a:cubicBezTo>
                    <a:pt x="679" y="0"/>
                    <a:pt x="679" y="0"/>
                    <a:pt x="679" y="0"/>
                  </a:cubicBezTo>
                  <a:cubicBezTo>
                    <a:pt x="679" y="417"/>
                    <a:pt x="679" y="417"/>
                    <a:pt x="679" y="417"/>
                  </a:cubicBezTo>
                  <a:cubicBezTo>
                    <a:pt x="637" y="417"/>
                    <a:pt x="637" y="417"/>
                    <a:pt x="637" y="417"/>
                  </a:cubicBezTo>
                  <a:cubicBezTo>
                    <a:pt x="637" y="0"/>
                    <a:pt x="637" y="0"/>
                    <a:pt x="637" y="0"/>
                  </a:cubicBezTo>
                  <a:cubicBezTo>
                    <a:pt x="129" y="0"/>
                    <a:pt x="129" y="0"/>
                    <a:pt x="129" y="0"/>
                  </a:cubicBezTo>
                  <a:cubicBezTo>
                    <a:pt x="129" y="476"/>
                    <a:pt x="129" y="476"/>
                    <a:pt x="129" y="476"/>
                  </a:cubicBezTo>
                  <a:cubicBezTo>
                    <a:pt x="0" y="907"/>
                    <a:pt x="0" y="907"/>
                    <a:pt x="0" y="907"/>
                  </a:cubicBezTo>
                  <a:cubicBezTo>
                    <a:pt x="114" y="907"/>
                    <a:pt x="114" y="907"/>
                    <a:pt x="114" y="907"/>
                  </a:cubicBezTo>
                  <a:cubicBezTo>
                    <a:pt x="171" y="716"/>
                    <a:pt x="171" y="716"/>
                    <a:pt x="171" y="716"/>
                  </a:cubicBezTo>
                  <a:cubicBezTo>
                    <a:pt x="188" y="716"/>
                    <a:pt x="188" y="716"/>
                    <a:pt x="188" y="716"/>
                  </a:cubicBezTo>
                  <a:cubicBezTo>
                    <a:pt x="282" y="907"/>
                    <a:pt x="282" y="907"/>
                    <a:pt x="282" y="907"/>
                  </a:cubicBezTo>
                  <a:cubicBezTo>
                    <a:pt x="420" y="907"/>
                    <a:pt x="420" y="907"/>
                    <a:pt x="420" y="907"/>
                  </a:cubicBezTo>
                  <a:cubicBezTo>
                    <a:pt x="328" y="716"/>
                    <a:pt x="328" y="716"/>
                    <a:pt x="328" y="716"/>
                  </a:cubicBezTo>
                  <a:cubicBezTo>
                    <a:pt x="536" y="716"/>
                    <a:pt x="536" y="716"/>
                    <a:pt x="536" y="716"/>
                  </a:cubicBezTo>
                  <a:cubicBezTo>
                    <a:pt x="478" y="907"/>
                    <a:pt x="478" y="907"/>
                    <a:pt x="478" y="907"/>
                  </a:cubicBezTo>
                  <a:cubicBezTo>
                    <a:pt x="602" y="907"/>
                    <a:pt x="602" y="907"/>
                    <a:pt x="602" y="907"/>
                  </a:cubicBezTo>
                  <a:cubicBezTo>
                    <a:pt x="660" y="717"/>
                    <a:pt x="660" y="717"/>
                    <a:pt x="660" y="717"/>
                  </a:cubicBezTo>
                  <a:cubicBezTo>
                    <a:pt x="687" y="717"/>
                    <a:pt x="687" y="717"/>
                    <a:pt x="687" y="717"/>
                  </a:cubicBezTo>
                  <a:cubicBezTo>
                    <a:pt x="687" y="716"/>
                    <a:pt x="687" y="716"/>
                    <a:pt x="687" y="716"/>
                  </a:cubicBezTo>
                  <a:cubicBezTo>
                    <a:pt x="726" y="716"/>
                    <a:pt x="726" y="716"/>
                    <a:pt x="726" y="716"/>
                  </a:cubicBezTo>
                  <a:cubicBezTo>
                    <a:pt x="729" y="716"/>
                    <a:pt x="729" y="716"/>
                    <a:pt x="729" y="716"/>
                  </a:cubicBezTo>
                  <a:cubicBezTo>
                    <a:pt x="964" y="716"/>
                    <a:pt x="964" y="716"/>
                    <a:pt x="964" y="716"/>
                  </a:cubicBezTo>
                  <a:cubicBezTo>
                    <a:pt x="909" y="907"/>
                    <a:pt x="909" y="907"/>
                    <a:pt x="909" y="907"/>
                  </a:cubicBezTo>
                  <a:cubicBezTo>
                    <a:pt x="1035" y="907"/>
                    <a:pt x="1035" y="907"/>
                    <a:pt x="1035" y="907"/>
                  </a:cubicBezTo>
                  <a:cubicBezTo>
                    <a:pt x="1088" y="716"/>
                    <a:pt x="1088" y="716"/>
                    <a:pt x="1088" y="716"/>
                  </a:cubicBezTo>
                  <a:cubicBezTo>
                    <a:pt x="1144" y="716"/>
                    <a:pt x="1144" y="716"/>
                    <a:pt x="1144" y="716"/>
                  </a:cubicBezTo>
                  <a:cubicBezTo>
                    <a:pt x="1146" y="907"/>
                    <a:pt x="1146" y="907"/>
                    <a:pt x="1146" y="907"/>
                  </a:cubicBezTo>
                  <a:cubicBezTo>
                    <a:pt x="1251" y="907"/>
                    <a:pt x="1251" y="907"/>
                    <a:pt x="1251" y="907"/>
                  </a:cubicBezTo>
                  <a:cubicBezTo>
                    <a:pt x="1372" y="716"/>
                    <a:pt x="1372" y="716"/>
                    <a:pt x="1372" y="716"/>
                  </a:cubicBezTo>
                  <a:cubicBezTo>
                    <a:pt x="1451" y="716"/>
                    <a:pt x="1451" y="716"/>
                    <a:pt x="1451" y="716"/>
                  </a:cubicBezTo>
                  <a:cubicBezTo>
                    <a:pt x="1410" y="907"/>
                    <a:pt x="1410" y="907"/>
                    <a:pt x="1410" y="907"/>
                  </a:cubicBezTo>
                  <a:cubicBezTo>
                    <a:pt x="1534" y="907"/>
                    <a:pt x="1534" y="907"/>
                    <a:pt x="1534" y="907"/>
                  </a:cubicBezTo>
                  <a:cubicBezTo>
                    <a:pt x="1574" y="716"/>
                    <a:pt x="1574" y="716"/>
                    <a:pt x="1574" y="716"/>
                  </a:cubicBezTo>
                  <a:cubicBezTo>
                    <a:pt x="1645" y="716"/>
                    <a:pt x="1645" y="716"/>
                    <a:pt x="1645" y="716"/>
                  </a:cubicBezTo>
                  <a:cubicBezTo>
                    <a:pt x="1642" y="775"/>
                    <a:pt x="1657" y="829"/>
                    <a:pt x="1697" y="865"/>
                  </a:cubicBezTo>
                  <a:cubicBezTo>
                    <a:pt x="1744" y="909"/>
                    <a:pt x="1818" y="917"/>
                    <a:pt x="1872" y="917"/>
                  </a:cubicBezTo>
                  <a:cubicBezTo>
                    <a:pt x="1947" y="917"/>
                    <a:pt x="2024" y="907"/>
                    <a:pt x="2102" y="889"/>
                  </a:cubicBezTo>
                  <a:cubicBezTo>
                    <a:pt x="2145" y="716"/>
                    <a:pt x="2145" y="716"/>
                    <a:pt x="2145" y="716"/>
                  </a:cubicBezTo>
                  <a:cubicBezTo>
                    <a:pt x="2285" y="716"/>
                    <a:pt x="2285" y="716"/>
                    <a:pt x="2285" y="716"/>
                  </a:cubicBezTo>
                  <a:cubicBezTo>
                    <a:pt x="2285" y="0"/>
                    <a:pt x="2285" y="0"/>
                    <a:pt x="2285" y="0"/>
                  </a:cubicBezTo>
                  <a:cubicBezTo>
                    <a:pt x="1778" y="0"/>
                    <a:pt x="1778" y="0"/>
                    <a:pt x="1778" y="0"/>
                  </a:cubicBezTo>
                  <a:cubicBezTo>
                    <a:pt x="1778" y="0"/>
                    <a:pt x="1778" y="0"/>
                    <a:pt x="1778" y="0"/>
                  </a:cubicBezTo>
                  <a:close/>
                </a:path>
              </a:pathLst>
            </a:custGeom>
            <a:solidFill>
              <a:schemeClr val="bg1"/>
            </a:solidFill>
            <a:ln w="9525">
              <a:noFill/>
              <a:round/>
              <a:headEnd/>
              <a:tailEnd/>
            </a:ln>
          </p:spPr>
          <p:txBody>
            <a:bodyPr>
              <a:noAutofit/>
            </a:bodyPr>
            <a:lstStyle/>
            <a:p>
              <a:endParaRPr lang="en-GB" dirty="0"/>
            </a:p>
          </p:txBody>
        </p:sp>
        <p:sp>
          <p:nvSpPr>
            <p:cNvPr id="16" name="Freeform 7"/>
            <p:cNvSpPr>
              <a:spLocks noEditPoints="1"/>
            </p:cNvSpPr>
            <p:nvPr userDrawn="1"/>
          </p:nvSpPr>
          <p:spPr bwMode="gray">
            <a:xfrm>
              <a:off x="68" y="0"/>
              <a:ext cx="793" cy="585"/>
            </a:xfrm>
            <a:custGeom>
              <a:avLst/>
              <a:gdLst>
                <a:gd name="T0" fmla="*/ 231 w 1447"/>
                <a:gd name="T1" fmla="*/ 327 h 1068"/>
                <a:gd name="T2" fmla="*/ 0 w 1447"/>
                <a:gd name="T3" fmla="*/ 327 h 1068"/>
                <a:gd name="T4" fmla="*/ 0 w 1447"/>
                <a:gd name="T5" fmla="*/ 0 h 1068"/>
                <a:gd name="T6" fmla="*/ 231 w 1447"/>
                <a:gd name="T7" fmla="*/ 0 h 1068"/>
                <a:gd name="T8" fmla="*/ 231 w 1447"/>
                <a:gd name="T9" fmla="*/ 327 h 1068"/>
                <a:gd name="T10" fmla="*/ 1447 w 1447"/>
                <a:gd name="T11" fmla="*/ 0 h 1068"/>
                <a:gd name="T12" fmla="*/ 1215 w 1447"/>
                <a:gd name="T13" fmla="*/ 0 h 1068"/>
                <a:gd name="T14" fmla="*/ 1215 w 1447"/>
                <a:gd name="T15" fmla="*/ 327 h 1068"/>
                <a:gd name="T16" fmla="*/ 1447 w 1447"/>
                <a:gd name="T17" fmla="*/ 327 h 1068"/>
                <a:gd name="T18" fmla="*/ 1447 w 1447"/>
                <a:gd name="T19" fmla="*/ 0 h 1068"/>
                <a:gd name="T20" fmla="*/ 231 w 1447"/>
                <a:gd name="T21" fmla="*/ 741 h 1068"/>
                <a:gd name="T22" fmla="*/ 0 w 1447"/>
                <a:gd name="T23" fmla="*/ 741 h 1068"/>
                <a:gd name="T24" fmla="*/ 0 w 1447"/>
                <a:gd name="T25" fmla="*/ 1068 h 1068"/>
                <a:gd name="T26" fmla="*/ 231 w 1447"/>
                <a:gd name="T27" fmla="*/ 1068 h 1068"/>
                <a:gd name="T28" fmla="*/ 231 w 1447"/>
                <a:gd name="T29" fmla="*/ 741 h 1068"/>
                <a:gd name="T30" fmla="*/ 1447 w 1447"/>
                <a:gd name="T31" fmla="*/ 741 h 1068"/>
                <a:gd name="T32" fmla="*/ 1215 w 1447"/>
                <a:gd name="T33" fmla="*/ 741 h 1068"/>
                <a:gd name="T34" fmla="*/ 1215 w 1447"/>
                <a:gd name="T35" fmla="*/ 1068 h 1068"/>
                <a:gd name="T36" fmla="*/ 1447 w 1447"/>
                <a:gd name="T37" fmla="*/ 1068 h 1068"/>
                <a:gd name="T38" fmla="*/ 1447 w 1447"/>
                <a:gd name="T39" fmla="*/ 741 h 106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47"/>
                <a:gd name="T61" fmla="*/ 0 h 1068"/>
                <a:gd name="T62" fmla="*/ 1447 w 1447"/>
                <a:gd name="T63" fmla="*/ 1068 h 106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47" h="1068">
                  <a:moveTo>
                    <a:pt x="231" y="327"/>
                  </a:moveTo>
                  <a:lnTo>
                    <a:pt x="0" y="327"/>
                  </a:lnTo>
                  <a:lnTo>
                    <a:pt x="0" y="0"/>
                  </a:lnTo>
                  <a:lnTo>
                    <a:pt x="231" y="0"/>
                  </a:lnTo>
                  <a:lnTo>
                    <a:pt x="231" y="327"/>
                  </a:lnTo>
                  <a:close/>
                  <a:moveTo>
                    <a:pt x="1447" y="0"/>
                  </a:moveTo>
                  <a:lnTo>
                    <a:pt x="1215" y="0"/>
                  </a:lnTo>
                  <a:lnTo>
                    <a:pt x="1215" y="327"/>
                  </a:lnTo>
                  <a:lnTo>
                    <a:pt x="1447" y="327"/>
                  </a:lnTo>
                  <a:lnTo>
                    <a:pt x="1447" y="0"/>
                  </a:lnTo>
                  <a:close/>
                  <a:moveTo>
                    <a:pt x="231" y="741"/>
                  </a:moveTo>
                  <a:lnTo>
                    <a:pt x="0" y="741"/>
                  </a:lnTo>
                  <a:lnTo>
                    <a:pt x="0" y="1068"/>
                  </a:lnTo>
                  <a:lnTo>
                    <a:pt x="231" y="1068"/>
                  </a:lnTo>
                  <a:lnTo>
                    <a:pt x="231" y="741"/>
                  </a:lnTo>
                  <a:close/>
                  <a:moveTo>
                    <a:pt x="1447" y="741"/>
                  </a:moveTo>
                  <a:lnTo>
                    <a:pt x="1215" y="741"/>
                  </a:lnTo>
                  <a:lnTo>
                    <a:pt x="1215" y="1068"/>
                  </a:lnTo>
                  <a:lnTo>
                    <a:pt x="1447" y="1068"/>
                  </a:lnTo>
                  <a:lnTo>
                    <a:pt x="1447" y="741"/>
                  </a:lnTo>
                  <a:close/>
                </a:path>
              </a:pathLst>
            </a:custGeom>
            <a:noFill/>
            <a:ln w="9525">
              <a:noFill/>
              <a:round/>
              <a:headEnd/>
              <a:tailEnd/>
            </a:ln>
          </p:spPr>
          <p:txBody>
            <a:bodyPr>
              <a:noAutofit/>
            </a:bodyPr>
            <a:lstStyle/>
            <a:p>
              <a:endParaRPr lang="en-GB" dirty="0"/>
            </a:p>
          </p:txBody>
        </p:sp>
      </p:grpSp>
      <p:sp>
        <p:nvSpPr>
          <p:cNvPr id="33" name="Text Box 4"/>
          <p:cNvSpPr txBox="1">
            <a:spLocks noChangeArrowheads="1"/>
          </p:cNvSpPr>
          <p:nvPr userDrawn="1">
            <p:custDataLst>
              <p:tags r:id="rId34"/>
            </p:custDataLst>
          </p:nvPr>
        </p:nvSpPr>
        <p:spPr bwMode="gray">
          <a:xfrm>
            <a:off x="5580062" y="908049"/>
            <a:ext cx="3311525" cy="288925"/>
          </a:xfrm>
          <a:prstGeom prst="rect">
            <a:avLst/>
          </a:prstGeom>
          <a:noFill/>
          <a:ln w="6350" algn="ctr">
            <a:noFill/>
            <a:miter lim="800000"/>
            <a:headEnd/>
            <a:tailEnd/>
          </a:ln>
          <a:effectLst/>
        </p:spPr>
        <p:txBody>
          <a:bodyPr wrap="square" lIns="0" tIns="36000" rIns="0" bIns="0" anchor="t" anchorCtr="0">
            <a:noAutofit/>
          </a:bodyPr>
          <a:lstStyle/>
          <a:p>
            <a:pPr algn="r" defTabSz="762000" eaLnBrk="0" hangingPunct="0">
              <a:lnSpc>
                <a:spcPct val="80000"/>
              </a:lnSpc>
              <a:spcBef>
                <a:spcPct val="20000"/>
              </a:spcBef>
            </a:pPr>
            <a:r>
              <a:rPr lang="en-US" sz="1200" b="1" dirty="0" smtClean="0">
                <a:solidFill>
                  <a:srgbClr val="9E3039"/>
                </a:solidFill>
                <a:latin typeface="Arial"/>
              </a:rPr>
              <a:t>DRAFT FOR DISCUSSION PURPOSES ONLY</a:t>
            </a:r>
            <a:endParaRPr lang="en-US" sz="1200" b="1" dirty="0">
              <a:solidFill>
                <a:srgbClr val="9E3039"/>
              </a:solidFill>
              <a:latin typeface="Aria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Lst>
  <p:txStyles>
    <p:titleStyle>
      <a:lvl1pPr algn="l" defTabSz="914400" rtl="0" eaLnBrk="1" latinLnBrk="0" hangingPunct="1">
        <a:spcBef>
          <a:spcPct val="0"/>
        </a:spcBef>
        <a:buNone/>
        <a:defRPr lang="en-GB" sz="1600" b="1" kern="1200" noProof="0" dirty="0" smtClean="0">
          <a:solidFill>
            <a:srgbClr val="00338D"/>
          </a:solidFill>
          <a:latin typeface="Arial"/>
          <a:ea typeface="+mj-ea"/>
          <a:cs typeface="Arial" pitchFamily="34" charset="0"/>
        </a:defRPr>
      </a:lvl1pPr>
      <a:lvl2pPr eaLnBrk="1" hangingPunct="1">
        <a:defRPr sz="1600" b="1">
          <a:solidFill>
            <a:srgbClr val="00338D"/>
          </a:solidFill>
          <a:latin typeface="+mj-lt"/>
        </a:defRPr>
      </a:lvl2pPr>
      <a:lvl3pPr eaLnBrk="1" hangingPunct="1">
        <a:defRPr sz="1600" b="1">
          <a:solidFill>
            <a:srgbClr val="00338D"/>
          </a:solidFill>
          <a:latin typeface="+mj-lt"/>
        </a:defRPr>
      </a:lvl3pPr>
      <a:lvl4pPr eaLnBrk="1" hangingPunct="1">
        <a:defRPr sz="1600" b="1">
          <a:solidFill>
            <a:srgbClr val="00338D"/>
          </a:solidFill>
          <a:latin typeface="+mj-lt"/>
        </a:defRPr>
      </a:lvl4pPr>
      <a:lvl5pPr eaLnBrk="1" hangingPunct="1">
        <a:defRPr sz="1600" b="1">
          <a:solidFill>
            <a:srgbClr val="00338D"/>
          </a:solidFill>
          <a:latin typeface="+mj-lt"/>
        </a:defRPr>
      </a:lvl5pPr>
      <a:lvl6pPr eaLnBrk="1" hangingPunct="1">
        <a:defRPr sz="1600" b="1">
          <a:solidFill>
            <a:srgbClr val="00338D"/>
          </a:solidFill>
          <a:latin typeface="+mj-lt"/>
        </a:defRPr>
      </a:lvl6pPr>
      <a:lvl7pPr eaLnBrk="1" hangingPunct="1">
        <a:defRPr sz="1600" b="1">
          <a:solidFill>
            <a:srgbClr val="00338D"/>
          </a:solidFill>
          <a:latin typeface="+mj-lt"/>
        </a:defRPr>
      </a:lvl7pPr>
      <a:lvl8pPr eaLnBrk="1" hangingPunct="1">
        <a:defRPr sz="1600" b="1">
          <a:solidFill>
            <a:srgbClr val="00338D"/>
          </a:solidFill>
          <a:latin typeface="+mj-lt"/>
        </a:defRPr>
      </a:lvl8pPr>
      <a:lvl9pPr eaLnBrk="1" hangingPunct="1">
        <a:defRPr sz="1600" b="1">
          <a:solidFill>
            <a:srgbClr val="00338D"/>
          </a:solidFill>
          <a:latin typeface="+mj-lt"/>
        </a:defRPr>
      </a:lvl9pPr>
    </p:titleStyle>
    <p:bodyStyle>
      <a:lvl1pPr marL="0" indent="0" algn="l" defTabSz="914400" rtl="0" eaLnBrk="1" latinLnBrk="0" hangingPunct="1">
        <a:lnSpc>
          <a:spcPct val="100000"/>
        </a:lnSpc>
        <a:spcBef>
          <a:spcPts val="600"/>
        </a:spcBef>
        <a:buFont typeface="Arial" pitchFamily="34" charset="0"/>
        <a:buNone/>
        <a:defRPr lang="en-US" sz="900" b="1" kern="1200" noProof="0" dirty="0" smtClean="0">
          <a:solidFill>
            <a:srgbClr val="00338D"/>
          </a:solidFill>
          <a:latin typeface="Arial"/>
          <a:ea typeface="+mn-ea"/>
          <a:cs typeface="Arial" pitchFamily="34" charset="0"/>
        </a:defRPr>
      </a:lvl1pPr>
      <a:lvl2pPr marL="0" indent="0" algn="l" defTabSz="914400" rtl="0" eaLnBrk="1" latinLnBrk="0" hangingPunct="1">
        <a:lnSpc>
          <a:spcPct val="100000"/>
        </a:lnSpc>
        <a:spcBef>
          <a:spcPts val="600"/>
        </a:spcBef>
        <a:buFont typeface="Arial" pitchFamily="34" charset="0"/>
        <a:buNone/>
        <a:defRPr lang="en-US" sz="900" b="0" kern="1200" noProof="0" dirty="0" smtClean="0">
          <a:solidFill>
            <a:schemeClr val="tx1"/>
          </a:solidFill>
          <a:latin typeface="Arial"/>
          <a:ea typeface="+mn-ea"/>
          <a:cs typeface="Arial" pitchFamily="34" charset="0"/>
        </a:defRPr>
      </a:lvl2pPr>
      <a:lvl3pPr marL="177800" indent="-177800" algn="l" defTabSz="914400" rtl="0" eaLnBrk="1" latinLnBrk="0" hangingPunct="1">
        <a:lnSpc>
          <a:spcPct val="100000"/>
        </a:lnSpc>
        <a:spcBef>
          <a:spcPts val="600"/>
        </a:spcBef>
        <a:buClr>
          <a:srgbClr val="97989A"/>
        </a:buClr>
        <a:buFont typeface="Arial" pitchFamily="34" charset="0"/>
        <a:buChar char="■"/>
        <a:defRPr lang="en-US" sz="900" b="0" kern="1200" noProof="0" dirty="0" smtClean="0">
          <a:solidFill>
            <a:schemeClr val="tx1"/>
          </a:solidFill>
          <a:latin typeface="Arial"/>
          <a:ea typeface="+mn-ea"/>
          <a:cs typeface="Arial" pitchFamily="34" charset="0"/>
        </a:defRPr>
      </a:lvl3pPr>
      <a:lvl4pPr marL="355600" indent="-177800" algn="l" defTabSz="914400" rtl="0" eaLnBrk="1" latinLnBrk="0" hangingPunct="1">
        <a:lnSpc>
          <a:spcPct val="100000"/>
        </a:lnSpc>
        <a:spcBef>
          <a:spcPts val="600"/>
        </a:spcBef>
        <a:buClr>
          <a:srgbClr val="97989A"/>
        </a:buClr>
        <a:buFont typeface="Arial" pitchFamily="34" charset="0"/>
        <a:buChar char="–"/>
        <a:defRPr lang="en-US" sz="900" b="0" kern="1200" noProof="0" dirty="0" smtClean="0">
          <a:solidFill>
            <a:schemeClr val="tx1"/>
          </a:solidFill>
          <a:latin typeface="Arial"/>
          <a:ea typeface="+mn-ea"/>
          <a:cs typeface="Arial" pitchFamily="34" charset="0"/>
        </a:defRPr>
      </a:lvl4pPr>
      <a:lvl5pPr marL="534988" indent="-174625" algn="l" defTabSz="914400" rtl="0" eaLnBrk="1" latinLnBrk="0" hangingPunct="1">
        <a:lnSpc>
          <a:spcPct val="100000"/>
        </a:lnSpc>
        <a:spcBef>
          <a:spcPts val="600"/>
        </a:spcBef>
        <a:buClr>
          <a:srgbClr val="97989A"/>
        </a:buClr>
        <a:buFont typeface="Arial" pitchFamily="34" charset="0"/>
        <a:buChar char="■"/>
        <a:defRPr lang="en-GB" sz="900" b="0" kern="1200" baseline="0" noProof="0" dirty="0" smtClean="0">
          <a:solidFill>
            <a:schemeClr val="tx1"/>
          </a:solidFill>
          <a:latin typeface="Arial"/>
          <a:ea typeface="+mn-ea"/>
          <a:cs typeface="Arial" pitchFamily="34" charset="0"/>
        </a:defRPr>
      </a:lvl5pPr>
      <a:lvl6pPr marL="720725" indent="-185738" algn="l" defTabSz="914400" rtl="0" eaLnBrk="1" latinLnBrk="0" hangingPunct="1">
        <a:lnSpc>
          <a:spcPct val="110000"/>
        </a:lnSpc>
        <a:spcBef>
          <a:spcPts val="600"/>
        </a:spcBef>
        <a:buClr>
          <a:srgbClr val="97989A"/>
        </a:buClr>
        <a:buFont typeface="Arial" pitchFamily="34" charset="0"/>
        <a:buChar char="–"/>
        <a:defRPr lang="en-GB" sz="900" kern="1200" dirty="0" smtClean="0">
          <a:solidFill>
            <a:schemeClr val="tx1"/>
          </a:solidFill>
          <a:latin typeface="Arial" pitchFamily="34" charset="0"/>
          <a:ea typeface="+mn-ea"/>
          <a:cs typeface="Arial" pitchFamily="34" charset="0"/>
        </a:defRPr>
      </a:lvl6pPr>
      <a:lvl7pPr marL="895350" indent="-174625" algn="l" defTabSz="914400" rtl="0" eaLnBrk="1" latinLnBrk="0" hangingPunct="1">
        <a:lnSpc>
          <a:spcPct val="110000"/>
        </a:lnSpc>
        <a:spcBef>
          <a:spcPts val="600"/>
        </a:spcBef>
        <a:buClr>
          <a:srgbClr val="97989A"/>
        </a:buClr>
        <a:buFont typeface="Arial" pitchFamily="34" charset="0"/>
        <a:buChar char="■"/>
        <a:defRPr lang="en-GB" sz="900" kern="1200" baseline="0" dirty="0" smtClean="0">
          <a:solidFill>
            <a:schemeClr val="tx1"/>
          </a:solidFill>
          <a:latin typeface="Arial" pitchFamily="34" charset="0"/>
          <a:ea typeface="+mn-ea"/>
          <a:cs typeface="Arial" pitchFamily="34" charset="0"/>
        </a:defRPr>
      </a:lvl7pPr>
      <a:lvl8pPr marL="1081088" indent="-185738" algn="l" defTabSz="914400" rtl="0" eaLnBrk="1" latinLnBrk="0" hangingPunct="1">
        <a:lnSpc>
          <a:spcPct val="110000"/>
        </a:lnSpc>
        <a:spcBef>
          <a:spcPts val="600"/>
        </a:spcBef>
        <a:buClr>
          <a:srgbClr val="97989A"/>
        </a:buClr>
        <a:buFont typeface="Arial" pitchFamily="34" charset="0"/>
        <a:buChar char="–"/>
        <a:defRPr lang="en-GB" sz="900" kern="1200" baseline="0" dirty="0" smtClean="0">
          <a:solidFill>
            <a:schemeClr val="tx1"/>
          </a:solidFill>
          <a:latin typeface="Arial" pitchFamily="34" charset="0"/>
          <a:ea typeface="+mn-ea"/>
          <a:cs typeface="+mn-cs"/>
        </a:defRPr>
      </a:lvl8pPr>
      <a:lvl9pPr marL="1255713" indent="-174625" algn="l" defTabSz="914400" rtl="0" eaLnBrk="1" latinLnBrk="0" hangingPunct="1">
        <a:lnSpc>
          <a:spcPct val="110000"/>
        </a:lnSpc>
        <a:spcBef>
          <a:spcPts val="600"/>
        </a:spcBef>
        <a:buClr>
          <a:srgbClr val="97989A"/>
        </a:buClr>
        <a:buFont typeface="Arial" pitchFamily="34" charset="0"/>
        <a:buChar char="■"/>
        <a:defRPr lang="en-GB" sz="900" kern="1200" baseline="0" dirty="0" smtClean="0">
          <a:solidFill>
            <a:schemeClr val="tx1"/>
          </a:solidFill>
          <a:latin typeface="Arial" pitchFamily="34" charset="0"/>
          <a:ea typeface="+mn-ea"/>
          <a:cs typeface="Arial"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Layout" Target="../slideLayouts/slideLayout8.xml"/><Relationship Id="rId1" Type="http://schemas.openxmlformats.org/officeDocument/2006/relationships/tags" Target="../tags/tag3.xml"/><Relationship Id="rId4" Type="http://schemas.openxmlformats.org/officeDocument/2006/relationships/image" Target="../media/image3.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tags" Target="../tags/tag4.xml"/></Relationships>
</file>

<file path=ppt/slides/_rels/slide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5.xml"/><Relationship Id="rId1" Type="http://schemas.openxmlformats.org/officeDocument/2006/relationships/tags" Target="../tags/tag6.xml"/><Relationship Id="rId4" Type="http://schemas.openxmlformats.org/officeDocument/2006/relationships/image" Target="../media/image5.e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6.emf"/><Relationship Id="rId4"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1.xml"/><Relationship Id="rId1" Type="http://schemas.openxmlformats.org/officeDocument/2006/relationships/slideLayout" Target="../slideLayouts/slideLayout25.xml"/><Relationship Id="rId4" Type="http://schemas.openxmlformats.org/officeDocument/2006/relationships/image" Target="../media/image8.emf"/></Relationships>
</file>

<file path=ppt/slides/_rels/slide1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image" Target="../media/image10.emf"/><Relationship Id="rId4"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5.xml"/><Relationship Id="rId1" Type="http://schemas.openxmlformats.org/officeDocument/2006/relationships/tags" Target="../tags/tag11.xml"/><Relationship Id="rId4" Type="http://schemas.openxmlformats.org/officeDocument/2006/relationships/image" Target="../media/image11.e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13.emf"/><Relationship Id="rId5" Type="http://schemas.openxmlformats.org/officeDocument/2006/relationships/image" Target="../media/image12.emf"/><Relationship Id="rId4"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14.emf"/><Relationship Id="rId4"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5.xml"/><Relationship Id="rId1" Type="http://schemas.openxmlformats.org/officeDocument/2006/relationships/tags" Target="../tags/tag16.xml"/><Relationship Id="rId4" Type="http://schemas.openxmlformats.org/officeDocument/2006/relationships/image" Target="../media/image15.emf"/></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4.xml"/><Relationship Id="rId1" Type="http://schemas.openxmlformats.org/officeDocument/2006/relationships/slideLayout" Target="../slideLayouts/slideLayout25.xml"/><Relationship Id="rId4" Type="http://schemas.openxmlformats.org/officeDocument/2006/relationships/image" Target="../media/image17.e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5.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image" Target="../media/image19.emf"/><Relationship Id="rId4" Type="http://schemas.openxmlformats.org/officeDocument/2006/relationships/image" Target="../media/image18.emf"/></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21.emf"/><Relationship Id="rId4" Type="http://schemas.openxmlformats.org/officeDocument/2006/relationships/image" Target="../media/image20.emf"/></Relationships>
</file>

<file path=ppt/slides/_rels/slide38.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slideLayout" Target="../slideLayouts/slideLayout8.xml"/><Relationship Id="rId1" Type="http://schemas.openxmlformats.org/officeDocument/2006/relationships/tags" Target="../tags/tag2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4.xml.rels><?xml version="1.0" encoding="UTF-8" standalone="yes"?>
<Relationships xmlns="http://schemas.openxmlformats.org/package/2006/relationships"><Relationship Id="rId8" Type="http://schemas.openxmlformats.org/officeDocument/2006/relationships/image" Target="../media/image24.emf"/><Relationship Id="rId3" Type="http://schemas.openxmlformats.org/officeDocument/2006/relationships/oleObject" Target="../embeddings/oleObject1.bin"/><Relationship Id="rId7" Type="http://schemas.openxmlformats.org/officeDocument/2006/relationships/package" Target="../embeddings/Microsoft_Word_Document2.docx"/><Relationship Id="rId2" Type="http://schemas.openxmlformats.org/officeDocument/2006/relationships/slideLayout" Target="../slideLayouts/slideLayout31.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23.emf"/><Relationship Id="rId4" Type="http://schemas.openxmlformats.org/officeDocument/2006/relationships/package" Target="../embeddings/Microsoft_Word_Document1.docx"/></Relationships>
</file>

<file path=ppt/slides/_rels/slide45.xml.rels><?xml version="1.0" encoding="UTF-8" standalone="yes"?>
<Relationships xmlns="http://schemas.openxmlformats.org/package/2006/relationships"><Relationship Id="rId8" Type="http://schemas.openxmlformats.org/officeDocument/2006/relationships/image" Target="../media/image26.emf"/><Relationship Id="rId3" Type="http://schemas.openxmlformats.org/officeDocument/2006/relationships/oleObject" Target="../embeddings/oleObject3.bin"/><Relationship Id="rId7" Type="http://schemas.openxmlformats.org/officeDocument/2006/relationships/package" Target="../embeddings/Microsoft_Word_Document4.docx"/><Relationship Id="rId2" Type="http://schemas.openxmlformats.org/officeDocument/2006/relationships/slideLayout" Target="../slideLayouts/slideLayout32.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image" Target="../media/image25.emf"/><Relationship Id="rId4" Type="http://schemas.openxmlformats.org/officeDocument/2006/relationships/package" Target="../embeddings/Microsoft_Word_Document3.docx"/></Relationships>
</file>

<file path=ppt/slides/_rels/slide46.xml.rels><?xml version="1.0" encoding="UTF-8" standalone="yes"?>
<Relationships xmlns="http://schemas.openxmlformats.org/package/2006/relationships"><Relationship Id="rId8" Type="http://schemas.openxmlformats.org/officeDocument/2006/relationships/package" Target="../embeddings/Microsoft_Word_Document6.docx"/><Relationship Id="rId3" Type="http://schemas.openxmlformats.org/officeDocument/2006/relationships/notesSlide" Target="../notesSlides/notesSlide33.xml"/><Relationship Id="rId7" Type="http://schemas.openxmlformats.org/officeDocument/2006/relationships/oleObject" Target="../embeddings/oleObject6.bin"/><Relationship Id="rId2" Type="http://schemas.openxmlformats.org/officeDocument/2006/relationships/slideLayout" Target="../slideLayouts/slideLayout32.xml"/><Relationship Id="rId1" Type="http://schemas.openxmlformats.org/officeDocument/2006/relationships/vmlDrawing" Target="../drawings/vmlDrawing3.vml"/><Relationship Id="rId6" Type="http://schemas.openxmlformats.org/officeDocument/2006/relationships/image" Target="../media/image27.emf"/><Relationship Id="rId5" Type="http://schemas.openxmlformats.org/officeDocument/2006/relationships/package" Target="../embeddings/Microsoft_Word_Document5.docx"/><Relationship Id="rId4" Type="http://schemas.openxmlformats.org/officeDocument/2006/relationships/oleObject" Target="../embeddings/oleObject5.bin"/><Relationship Id="rId9" Type="http://schemas.openxmlformats.org/officeDocument/2006/relationships/image" Target="../media/image28.emf"/></Relationships>
</file>

<file path=ppt/slides/_rels/slide47.xml.rels><?xml version="1.0" encoding="UTF-8" standalone="yes"?>
<Relationships xmlns="http://schemas.openxmlformats.org/package/2006/relationships"><Relationship Id="rId8" Type="http://schemas.openxmlformats.org/officeDocument/2006/relationships/image" Target="../media/image30.emf"/><Relationship Id="rId3" Type="http://schemas.openxmlformats.org/officeDocument/2006/relationships/oleObject" Target="../embeddings/oleObject7.bin"/><Relationship Id="rId7" Type="http://schemas.openxmlformats.org/officeDocument/2006/relationships/package" Target="../embeddings/Microsoft_Word_Document8.docx"/><Relationship Id="rId2" Type="http://schemas.openxmlformats.org/officeDocument/2006/relationships/slideLayout" Target="../slideLayouts/slideLayout32.xml"/><Relationship Id="rId1" Type="http://schemas.openxmlformats.org/officeDocument/2006/relationships/vmlDrawing" Target="../drawings/vmlDrawing4.vml"/><Relationship Id="rId6" Type="http://schemas.openxmlformats.org/officeDocument/2006/relationships/oleObject" Target="../embeddings/oleObject8.bin"/><Relationship Id="rId5" Type="http://schemas.openxmlformats.org/officeDocument/2006/relationships/image" Target="../media/image29.emf"/><Relationship Id="rId4" Type="http://schemas.openxmlformats.org/officeDocument/2006/relationships/package" Target="../embeddings/Microsoft_Word_Document7.docx"/></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5.xml"/></Relationships>
</file>

<file path=ppt/slides/_rels/slide51.xml.rels><?xml version="1.0" encoding="UTF-8" standalone="yes"?>
<Relationships xmlns="http://schemas.openxmlformats.org/package/2006/relationships"><Relationship Id="rId8" Type="http://schemas.openxmlformats.org/officeDocument/2006/relationships/image" Target="../media/image32.emf"/><Relationship Id="rId3" Type="http://schemas.openxmlformats.org/officeDocument/2006/relationships/tags" Target="../tags/tag24.xml"/><Relationship Id="rId7" Type="http://schemas.openxmlformats.org/officeDocument/2006/relationships/image" Target="../media/image31.emf"/><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notesSlide" Target="../notesSlides/notesSlide37.xml"/><Relationship Id="rId5" Type="http://schemas.openxmlformats.org/officeDocument/2006/relationships/slideLayout" Target="../slideLayouts/slideLayout25.xml"/><Relationship Id="rId4" Type="http://schemas.openxmlformats.org/officeDocument/2006/relationships/tags" Target="../tags/tag25.xml"/><Relationship Id="rId9" Type="http://schemas.openxmlformats.org/officeDocument/2006/relationships/image" Target="../media/image33.emf"/></Relationships>
</file>

<file path=ppt/slides/_rels/slide52.xml.rels><?xml version="1.0" encoding="UTF-8" standalone="yes"?>
<Relationships xmlns="http://schemas.openxmlformats.org/package/2006/relationships"><Relationship Id="rId8" Type="http://schemas.openxmlformats.org/officeDocument/2006/relationships/image" Target="../media/image36.emf"/><Relationship Id="rId3" Type="http://schemas.openxmlformats.org/officeDocument/2006/relationships/tags" Target="../tags/tag28.xml"/><Relationship Id="rId7" Type="http://schemas.openxmlformats.org/officeDocument/2006/relationships/image" Target="../media/image35.emf"/><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image" Target="../media/image34.emf"/><Relationship Id="rId5" Type="http://schemas.openxmlformats.org/officeDocument/2006/relationships/notesSlide" Target="../notesSlides/notesSlide38.xml"/><Relationship Id="rId4" Type="http://schemas.openxmlformats.org/officeDocument/2006/relationships/slideLayout" Target="../slideLayouts/slideLayout25.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5.xml"/><Relationship Id="rId1" Type="http://schemas.openxmlformats.org/officeDocument/2006/relationships/tags" Target="../tags/tag29.xml"/><Relationship Id="rId4" Type="http://schemas.openxmlformats.org/officeDocument/2006/relationships/image" Target="../media/image37.emf"/></Relationships>
</file>

<file path=ppt/slides/_rels/slide54.xml.rels><?xml version="1.0" encoding="UTF-8" standalone="yes"?>
<Relationships xmlns="http://schemas.openxmlformats.org/package/2006/relationships"><Relationship Id="rId8" Type="http://schemas.openxmlformats.org/officeDocument/2006/relationships/image" Target="../media/image40.emf"/><Relationship Id="rId3" Type="http://schemas.openxmlformats.org/officeDocument/2006/relationships/tags" Target="../tags/tag32.xml"/><Relationship Id="rId7" Type="http://schemas.openxmlformats.org/officeDocument/2006/relationships/image" Target="../media/image39.emf"/><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image" Target="../media/image38.emf"/><Relationship Id="rId5" Type="http://schemas.openxmlformats.org/officeDocument/2006/relationships/notesSlide" Target="../notesSlides/notesSlide40.xml"/><Relationship Id="rId4" Type="http://schemas.openxmlformats.org/officeDocument/2006/relationships/slideLayout" Target="../slideLayouts/slideLayout25.xml"/></Relationships>
</file>

<file path=ppt/slides/_rels/slide55.xml.rels><?xml version="1.0" encoding="UTF-8" standalone="yes"?>
<Relationships xmlns="http://schemas.openxmlformats.org/package/2006/relationships"><Relationship Id="rId8" Type="http://schemas.openxmlformats.org/officeDocument/2006/relationships/image" Target="../media/image42.emf"/><Relationship Id="rId3" Type="http://schemas.openxmlformats.org/officeDocument/2006/relationships/tags" Target="../tags/tag35.xml"/><Relationship Id="rId7" Type="http://schemas.openxmlformats.org/officeDocument/2006/relationships/image" Target="../media/image41.emf"/><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notesSlide" Target="../notesSlides/notesSlide41.xml"/><Relationship Id="rId5" Type="http://schemas.openxmlformats.org/officeDocument/2006/relationships/slideLayout" Target="../slideLayouts/slideLayout25.xml"/><Relationship Id="rId4" Type="http://schemas.openxmlformats.org/officeDocument/2006/relationships/tags" Target="../tags/tag36.xml"/><Relationship Id="rId9" Type="http://schemas.openxmlformats.org/officeDocument/2006/relationships/image" Target="../media/image43.emf"/></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5.xml"/><Relationship Id="rId1" Type="http://schemas.openxmlformats.org/officeDocument/2006/relationships/tags" Target="../tags/tag37.xml"/><Relationship Id="rId4" Type="http://schemas.openxmlformats.org/officeDocument/2006/relationships/image" Target="../media/image44.emf"/></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5.xml"/><Relationship Id="rId1" Type="http://schemas.openxmlformats.org/officeDocument/2006/relationships/tags" Target="../tags/tag38.xml"/><Relationship Id="rId6" Type="http://schemas.openxmlformats.org/officeDocument/2006/relationships/image" Target="../media/image47.emf"/><Relationship Id="rId5" Type="http://schemas.openxmlformats.org/officeDocument/2006/relationships/image" Target="../media/image46.emf"/><Relationship Id="rId4" Type="http://schemas.openxmlformats.org/officeDocument/2006/relationships/image" Target="../media/image45.emf"/></Relationships>
</file>

<file path=ppt/slides/_rels/slide58.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notesSlide" Target="../notesSlides/notesSlide44.xml"/><Relationship Id="rId1" Type="http://schemas.openxmlformats.org/officeDocument/2006/relationships/slideLayout" Target="../slideLayouts/slideLayout25.xml"/><Relationship Id="rId4" Type="http://schemas.openxmlformats.org/officeDocument/2006/relationships/image" Target="../media/image49.emf"/></Relationships>
</file>

<file path=ppt/slides/_rels/slide59.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notesSlide" Target="../notesSlides/notesSlide45.xml"/><Relationship Id="rId1" Type="http://schemas.openxmlformats.org/officeDocument/2006/relationships/slideLayout" Target="../slideLayouts/slideLayout25.xml"/><Relationship Id="rId4" Type="http://schemas.openxmlformats.org/officeDocument/2006/relationships/image" Target="../media/image51.emf"/></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5.xml"/><Relationship Id="rId1" Type="http://schemas.openxmlformats.org/officeDocument/2006/relationships/tags" Target="../tags/tag39.xml"/><Relationship Id="rId6" Type="http://schemas.openxmlformats.org/officeDocument/2006/relationships/image" Target="../media/image54.emf"/><Relationship Id="rId5" Type="http://schemas.openxmlformats.org/officeDocument/2006/relationships/image" Target="../media/image53.emf"/><Relationship Id="rId4" Type="http://schemas.openxmlformats.org/officeDocument/2006/relationships/image" Target="../media/image52.emf"/></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5.xml"/></Relationships>
</file>

<file path=ppt/slides/_rels/slide62.xml.rels><?xml version="1.0" encoding="UTF-8" standalone="yes"?>
<Relationships xmlns="http://schemas.openxmlformats.org/package/2006/relationships"><Relationship Id="rId8" Type="http://schemas.openxmlformats.org/officeDocument/2006/relationships/image" Target="../media/image57.emf"/><Relationship Id="rId3" Type="http://schemas.openxmlformats.org/officeDocument/2006/relationships/tags" Target="../tags/tag42.xml"/><Relationship Id="rId7" Type="http://schemas.openxmlformats.org/officeDocument/2006/relationships/image" Target="../media/image56.emf"/><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image" Target="../media/image55.emf"/><Relationship Id="rId5" Type="http://schemas.openxmlformats.org/officeDocument/2006/relationships/notesSlide" Target="../notesSlides/notesSlide48.xml"/><Relationship Id="rId4" Type="http://schemas.openxmlformats.org/officeDocument/2006/relationships/slideLayout" Target="../slideLayouts/slideLayout25.xml"/></Relationships>
</file>

<file path=ppt/slides/_rels/slide63.xml.rels><?xml version="1.0" encoding="UTF-8" standalone="yes"?>
<Relationships xmlns="http://schemas.openxmlformats.org/package/2006/relationships"><Relationship Id="rId8" Type="http://schemas.openxmlformats.org/officeDocument/2006/relationships/image" Target="../media/image60.emf"/><Relationship Id="rId3" Type="http://schemas.openxmlformats.org/officeDocument/2006/relationships/tags" Target="../tags/tag45.xml"/><Relationship Id="rId7" Type="http://schemas.openxmlformats.org/officeDocument/2006/relationships/image" Target="../media/image59.png"/><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image" Target="../media/image58.png"/><Relationship Id="rId5" Type="http://schemas.openxmlformats.org/officeDocument/2006/relationships/notesSlide" Target="../notesSlides/notesSlide49.xml"/><Relationship Id="rId4" Type="http://schemas.openxmlformats.org/officeDocument/2006/relationships/slideLayout" Target="../slideLayouts/slideLayout25.xml"/></Relationships>
</file>

<file path=ppt/slides/_rels/slide64.xml.rels><?xml version="1.0" encoding="UTF-8" standalone="yes"?>
<Relationships xmlns="http://schemas.openxmlformats.org/package/2006/relationships"><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image" Target="../media/image61.emf"/><Relationship Id="rId5" Type="http://schemas.openxmlformats.org/officeDocument/2006/relationships/slideLayout" Target="../slideLayouts/slideLayout25.xml"/><Relationship Id="rId4" Type="http://schemas.openxmlformats.org/officeDocument/2006/relationships/tags" Target="../tags/tag49.xml"/></Relationships>
</file>

<file path=ppt/slides/_rels/slide65.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slideLayout" Target="../slideLayouts/slideLayout25.xml"/><Relationship Id="rId1" Type="http://schemas.openxmlformats.org/officeDocument/2006/relationships/tags" Target="../tags/tag50.xml"/></Relationships>
</file>

<file path=ppt/slides/_rels/slide66.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slideLayout" Target="../slideLayouts/slideLayout25.xml"/><Relationship Id="rId1" Type="http://schemas.openxmlformats.org/officeDocument/2006/relationships/tags" Target="../tags/tag51.xml"/></Relationships>
</file>

<file path=ppt/slides/_rels/slide67.xml.rels><?xml version="1.0" encoding="UTF-8" standalone="yes"?>
<Relationships xmlns="http://schemas.openxmlformats.org/package/2006/relationships"><Relationship Id="rId3" Type="http://schemas.openxmlformats.org/officeDocument/2006/relationships/tags" Target="../tags/tag54.xml"/><Relationship Id="rId7" Type="http://schemas.openxmlformats.org/officeDocument/2006/relationships/image" Target="../media/image66.emf"/><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image" Target="../media/image65.emf"/><Relationship Id="rId5" Type="http://schemas.openxmlformats.org/officeDocument/2006/relationships/image" Target="../media/image64.emf"/><Relationship Id="rId4" Type="http://schemas.openxmlformats.org/officeDocument/2006/relationships/slideLayout" Target="../slideLayouts/slideLayout25.xml"/></Relationships>
</file>

<file path=ppt/slides/_rels/slide68.xml.rels><?xml version="1.0" encoding="UTF-8" standalone="yes"?>
<Relationships xmlns="http://schemas.openxmlformats.org/package/2006/relationships"><Relationship Id="rId8" Type="http://schemas.openxmlformats.org/officeDocument/2006/relationships/tags" Target="../tags/tag62.xml"/><Relationship Id="rId13" Type="http://schemas.openxmlformats.org/officeDocument/2006/relationships/image" Target="../media/image68.emf"/><Relationship Id="rId3" Type="http://schemas.openxmlformats.org/officeDocument/2006/relationships/tags" Target="../tags/tag57.xml"/><Relationship Id="rId7" Type="http://schemas.openxmlformats.org/officeDocument/2006/relationships/tags" Target="../tags/tag61.xml"/><Relationship Id="rId12" Type="http://schemas.openxmlformats.org/officeDocument/2006/relationships/image" Target="../media/image12.emf"/><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tags" Target="../tags/tag60.xml"/><Relationship Id="rId11" Type="http://schemas.openxmlformats.org/officeDocument/2006/relationships/image" Target="../media/image67.emf"/><Relationship Id="rId5" Type="http://schemas.openxmlformats.org/officeDocument/2006/relationships/tags" Target="../tags/tag59.xml"/><Relationship Id="rId10" Type="http://schemas.openxmlformats.org/officeDocument/2006/relationships/notesSlide" Target="../notesSlides/notesSlide50.xml"/><Relationship Id="rId4" Type="http://schemas.openxmlformats.org/officeDocument/2006/relationships/tags" Target="../tags/tag58.xml"/><Relationship Id="rId9" Type="http://schemas.openxmlformats.org/officeDocument/2006/relationships/slideLayout" Target="../slideLayouts/slideLayout25.xml"/><Relationship Id="rId14" Type="http://schemas.openxmlformats.org/officeDocument/2006/relationships/image" Target="../media/image13.emf"/></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5.xml"/><Relationship Id="rId1" Type="http://schemas.openxmlformats.org/officeDocument/2006/relationships/tags" Target="../tags/tag63.xml"/><Relationship Id="rId4" Type="http://schemas.openxmlformats.org/officeDocument/2006/relationships/image" Target="../media/image69.emf"/></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5.xml"/><Relationship Id="rId1" Type="http://schemas.openxmlformats.org/officeDocument/2006/relationships/tags" Target="../tags/tag64.xml"/><Relationship Id="rId4" Type="http://schemas.openxmlformats.org/officeDocument/2006/relationships/image" Target="../media/image70.emf"/></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5.xml"/><Relationship Id="rId1" Type="http://schemas.openxmlformats.org/officeDocument/2006/relationships/tags" Target="../tags/tag65.xml"/><Relationship Id="rId4" Type="http://schemas.openxmlformats.org/officeDocument/2006/relationships/image" Target="../media/image71.emf"/></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5.xml"/><Relationship Id="rId1" Type="http://schemas.openxmlformats.org/officeDocument/2006/relationships/tags" Target="../tags/tag66.xml"/><Relationship Id="rId4" Type="http://schemas.openxmlformats.org/officeDocument/2006/relationships/image" Target="../media/image72.emf"/></Relationships>
</file>

<file path=ppt/slides/_rels/slide73.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tags" Target="../tags/tag69.xml"/><Relationship Id="rId7" Type="http://schemas.openxmlformats.org/officeDocument/2006/relationships/tags" Target="../tags/tag73.xml"/><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tags" Target="../tags/tag72.xml"/><Relationship Id="rId5" Type="http://schemas.openxmlformats.org/officeDocument/2006/relationships/tags" Target="../tags/tag71.xml"/><Relationship Id="rId10" Type="http://schemas.openxmlformats.org/officeDocument/2006/relationships/image" Target="../media/image73.emf"/><Relationship Id="rId4" Type="http://schemas.openxmlformats.org/officeDocument/2006/relationships/tags" Target="../tags/tag70.xml"/><Relationship Id="rId9" Type="http://schemas.openxmlformats.org/officeDocument/2006/relationships/notesSlide" Target="../notesSlides/notesSlide55.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tags" Target="../tags/tag74.xml"/></Relationships>
</file>

<file path=ppt/slides/_rels/slide75.xml.rels><?xml version="1.0" encoding="UTF-8" standalone="yes"?>
<Relationships xmlns="http://schemas.openxmlformats.org/package/2006/relationships"><Relationship Id="rId8" Type="http://schemas.openxmlformats.org/officeDocument/2006/relationships/image" Target="../media/image15.emf"/><Relationship Id="rId3" Type="http://schemas.openxmlformats.org/officeDocument/2006/relationships/tags" Target="../tags/tag77.xml"/><Relationship Id="rId7" Type="http://schemas.openxmlformats.org/officeDocument/2006/relationships/image" Target="../media/image75.emf"/><Relationship Id="rId2" Type="http://schemas.openxmlformats.org/officeDocument/2006/relationships/tags" Target="../tags/tag76.xml"/><Relationship Id="rId1" Type="http://schemas.openxmlformats.org/officeDocument/2006/relationships/tags" Target="../tags/tag75.xml"/><Relationship Id="rId6" Type="http://schemas.openxmlformats.org/officeDocument/2006/relationships/image" Target="../media/image74.emf"/><Relationship Id="rId5" Type="http://schemas.openxmlformats.org/officeDocument/2006/relationships/notesSlide" Target="../notesSlides/notesSlide56.xml"/><Relationship Id="rId4" Type="http://schemas.openxmlformats.org/officeDocument/2006/relationships/slideLayout" Target="../slideLayouts/slideLayout25.xml"/></Relationships>
</file>

<file path=ppt/slides/_rels/slide76.xml.rels><?xml version="1.0" encoding="UTF-8" standalone="yes"?>
<Relationships xmlns="http://schemas.openxmlformats.org/package/2006/relationships"><Relationship Id="rId8" Type="http://schemas.openxmlformats.org/officeDocument/2006/relationships/image" Target="../media/image78.emf"/><Relationship Id="rId3" Type="http://schemas.openxmlformats.org/officeDocument/2006/relationships/tags" Target="../tags/tag80.xml"/><Relationship Id="rId7" Type="http://schemas.openxmlformats.org/officeDocument/2006/relationships/image" Target="../media/image77.emf"/><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image" Target="../media/image76.emf"/><Relationship Id="rId5" Type="http://schemas.openxmlformats.org/officeDocument/2006/relationships/notesSlide" Target="../notesSlides/notesSlide57.xml"/><Relationship Id="rId4" Type="http://schemas.openxmlformats.org/officeDocument/2006/relationships/slideLayout" Target="../slideLayouts/slideLayout25.xml"/></Relationships>
</file>

<file path=ppt/slides/_rels/slide77.xml.rels><?xml version="1.0" encoding="UTF-8" standalone="yes"?>
<Relationships xmlns="http://schemas.openxmlformats.org/package/2006/relationships"><Relationship Id="rId8" Type="http://schemas.openxmlformats.org/officeDocument/2006/relationships/image" Target="../media/image80.emf"/><Relationship Id="rId3" Type="http://schemas.openxmlformats.org/officeDocument/2006/relationships/tags" Target="../tags/tag83.xml"/><Relationship Id="rId7" Type="http://schemas.openxmlformats.org/officeDocument/2006/relationships/image" Target="../media/image79.emf"/><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notesSlide" Target="../notesSlides/notesSlide58.xml"/><Relationship Id="rId5" Type="http://schemas.openxmlformats.org/officeDocument/2006/relationships/slideLayout" Target="../slideLayouts/slideLayout25.xml"/><Relationship Id="rId4" Type="http://schemas.openxmlformats.org/officeDocument/2006/relationships/tags" Target="../tags/tag84.xml"/></Relationships>
</file>

<file path=ppt/slides/_rels/slide78.xml.rels><?xml version="1.0" encoding="UTF-8" standalone="yes"?>
<Relationships xmlns="http://schemas.openxmlformats.org/package/2006/relationships"><Relationship Id="rId8" Type="http://schemas.openxmlformats.org/officeDocument/2006/relationships/image" Target="../media/image83.emf"/><Relationship Id="rId3" Type="http://schemas.openxmlformats.org/officeDocument/2006/relationships/tags" Target="../tags/tag87.xml"/><Relationship Id="rId7" Type="http://schemas.openxmlformats.org/officeDocument/2006/relationships/image" Target="../media/image82.emf"/><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image" Target="../media/image81.emf"/><Relationship Id="rId5" Type="http://schemas.openxmlformats.org/officeDocument/2006/relationships/notesSlide" Target="../notesSlides/notesSlide59.xml"/><Relationship Id="rId4" Type="http://schemas.openxmlformats.org/officeDocument/2006/relationships/slideLayout" Target="../slideLayouts/slideLayout25.xml"/></Relationships>
</file>

<file path=ppt/slides/_rels/slide79.xml.rels><?xml version="1.0" encoding="UTF-8" standalone="yes"?>
<Relationships xmlns="http://schemas.openxmlformats.org/package/2006/relationships"><Relationship Id="rId8" Type="http://schemas.openxmlformats.org/officeDocument/2006/relationships/image" Target="../media/image84.emf"/><Relationship Id="rId3" Type="http://schemas.openxmlformats.org/officeDocument/2006/relationships/tags" Target="../tags/tag90.xml"/><Relationship Id="rId7" Type="http://schemas.openxmlformats.org/officeDocument/2006/relationships/notesSlide" Target="../notesSlides/notesSlide60.xml"/><Relationship Id="rId12" Type="http://schemas.openxmlformats.org/officeDocument/2006/relationships/image" Target="../media/image88.emf"/><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slideLayout" Target="../slideLayouts/slideLayout25.xml"/><Relationship Id="rId11" Type="http://schemas.openxmlformats.org/officeDocument/2006/relationships/image" Target="../media/image87.emf"/><Relationship Id="rId5" Type="http://schemas.openxmlformats.org/officeDocument/2006/relationships/tags" Target="../tags/tag92.xml"/><Relationship Id="rId10" Type="http://schemas.openxmlformats.org/officeDocument/2006/relationships/image" Target="../media/image86.emf"/><Relationship Id="rId4" Type="http://schemas.openxmlformats.org/officeDocument/2006/relationships/tags" Target="../tags/tag91.xml"/><Relationship Id="rId9" Type="http://schemas.openxmlformats.org/officeDocument/2006/relationships/image" Target="../media/image85.emf"/></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5.xml"/><Relationship Id="rId1" Type="http://schemas.openxmlformats.org/officeDocument/2006/relationships/tags" Target="../tags/tag93.xml"/><Relationship Id="rId5" Type="http://schemas.openxmlformats.org/officeDocument/2006/relationships/image" Target="../media/image90.emf"/><Relationship Id="rId4" Type="http://schemas.openxmlformats.org/officeDocument/2006/relationships/image" Target="../media/image89.emf"/></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5.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5.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5.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5.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5.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5.xml"/></Relationships>
</file>

<file path=ppt/slides/_rels/slide87.xml.rels><?xml version="1.0" encoding="UTF-8" standalone="yes"?>
<Relationships xmlns="http://schemas.openxmlformats.org/package/2006/relationships"><Relationship Id="rId3" Type="http://schemas.openxmlformats.org/officeDocument/2006/relationships/image" Target="../media/image91.emf"/><Relationship Id="rId2" Type="http://schemas.openxmlformats.org/officeDocument/2006/relationships/notesSlide" Target="../notesSlides/notesSlide68.xml"/><Relationship Id="rId1" Type="http://schemas.openxmlformats.org/officeDocument/2006/relationships/slideLayout" Target="../slideLayouts/slideLayout2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bwMode="gray"/>
        <p:txBody>
          <a:bodyPr/>
          <a:lstStyle/>
          <a:p>
            <a:r>
              <a:rPr lang="en-US" dirty="0" smtClean="0">
                <a:latin typeface="Arial"/>
                <a:cs typeface="Arial" pitchFamily="34" charset="0"/>
              </a:rPr>
              <a:t>Project Garrison</a:t>
            </a:r>
            <a:br>
              <a:rPr lang="en-US" dirty="0" smtClean="0">
                <a:latin typeface="Arial"/>
                <a:cs typeface="Arial" pitchFamily="34" charset="0"/>
              </a:rPr>
            </a:br>
            <a:r>
              <a:rPr lang="en-US" sz="1800" dirty="0">
                <a:latin typeface="Arial"/>
                <a:cs typeface="Arial" pitchFamily="34" charset="0"/>
              </a:rPr>
              <a:t>D</a:t>
            </a:r>
            <a:r>
              <a:rPr lang="en-US" sz="1800" dirty="0" smtClean="0">
                <a:latin typeface="Arial"/>
                <a:cs typeface="Arial" pitchFamily="34" charset="0"/>
              </a:rPr>
              <a:t>ue diligence assistance</a:t>
            </a:r>
            <a:br>
              <a:rPr lang="en-US" sz="1800" dirty="0" smtClean="0">
                <a:latin typeface="Arial"/>
                <a:cs typeface="Arial" pitchFamily="34" charset="0"/>
              </a:rPr>
            </a:br>
            <a:r>
              <a:rPr lang="en-US" sz="1800" dirty="0" smtClean="0">
                <a:latin typeface="Arial"/>
                <a:cs typeface="Arial" pitchFamily="34" charset="0"/>
              </a:rPr>
              <a:t/>
            </a:r>
            <a:br>
              <a:rPr lang="en-US" sz="1800" dirty="0" smtClean="0">
                <a:latin typeface="Arial"/>
                <a:cs typeface="Arial" pitchFamily="34" charset="0"/>
              </a:rPr>
            </a:br>
            <a:r>
              <a:rPr lang="en-US" sz="1800" dirty="0">
                <a:cs typeface="Arial" pitchFamily="34" charset="0"/>
              </a:rPr>
              <a:t/>
            </a:r>
            <a:br>
              <a:rPr lang="en-US" sz="1800" dirty="0">
                <a:cs typeface="Arial" pitchFamily="34" charset="0"/>
              </a:rPr>
            </a:br>
            <a:r>
              <a:rPr lang="en-US" sz="1400" b="0" dirty="0" smtClean="0">
                <a:latin typeface="Arial"/>
                <a:cs typeface="Arial" pitchFamily="34" charset="0"/>
              </a:rPr>
              <a:t>Draft for discussion</a:t>
            </a:r>
            <a:r>
              <a:rPr lang="en-US" sz="2400" dirty="0" smtClean="0">
                <a:latin typeface="Arial"/>
                <a:cs typeface="Arial" pitchFamily="34" charset="0"/>
              </a:rPr>
              <a:t/>
            </a:r>
            <a:br>
              <a:rPr lang="en-US" sz="2400" dirty="0" smtClean="0">
                <a:latin typeface="Arial"/>
                <a:cs typeface="Arial" pitchFamily="34" charset="0"/>
              </a:rPr>
            </a:br>
            <a:endParaRPr lang="en-US" sz="1600" b="0" dirty="0">
              <a:latin typeface="Arial"/>
              <a:cs typeface="Arial" pitchFamily="34" charset="0"/>
            </a:endParaRPr>
          </a:p>
        </p:txBody>
      </p:sp>
      <p:sp>
        <p:nvSpPr>
          <p:cNvPr id="52227" name="Rectangle 3"/>
          <p:cNvSpPr>
            <a:spLocks noGrp="1" noChangeArrowheads="1"/>
          </p:cNvSpPr>
          <p:nvPr>
            <p:ph type="body" sz="quarter" idx="10"/>
          </p:nvPr>
        </p:nvSpPr>
        <p:spPr bwMode="gray"/>
        <p:txBody>
          <a:bodyPr/>
          <a:lstStyle/>
          <a:p>
            <a:r>
              <a:rPr lang="en-US" dirty="0" smtClean="0">
                <a:latin typeface="Arial"/>
                <a:cs typeface="Arial" pitchFamily="34" charset="0"/>
              </a:rPr>
              <a:t>June 2, 2015</a:t>
            </a:r>
          </a:p>
        </p:txBody>
      </p:sp>
    </p:spTree>
    <p:extLst>
      <p:ext uri="{BB962C8B-B14F-4D97-AF65-F5344CB8AC3E}">
        <p14:creationId xmlns:p14="http://schemas.microsoft.com/office/powerpoint/2010/main" val="94990160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3"/>
          <p:cNvSpPr>
            <a:spLocks noGrp="1" noChangeArrowheads="1"/>
          </p:cNvSpPr>
          <p:nvPr>
            <p:ph type="title"/>
          </p:nvPr>
        </p:nvSpPr>
        <p:spPr bwMode="gray"/>
        <p:txBody>
          <a:bodyPr/>
          <a:lstStyle/>
          <a:p>
            <a:r>
              <a:rPr lang="en-US" dirty="0" smtClean="0"/>
              <a:t>Disclaimer</a:t>
            </a:r>
            <a:endParaRPr lang="en-US" dirty="0"/>
          </a:p>
        </p:txBody>
      </p:sp>
      <p:sp>
        <p:nvSpPr>
          <p:cNvPr id="7" name="Rectangle 4"/>
          <p:cNvSpPr>
            <a:spLocks noGrp="1" noChangeArrowheads="1"/>
          </p:cNvSpPr>
          <p:nvPr>
            <p:ph type="body" sz="quarter" idx="14"/>
          </p:nvPr>
        </p:nvSpPr>
        <p:spPr bwMode="gray">
          <a:xfrm>
            <a:off x="251520" y="1196752"/>
            <a:ext cx="8640960" cy="4896544"/>
          </a:xfrm>
          <a:prstGeom prst="rect">
            <a:avLst/>
          </a:prstGeom>
        </p:spPr>
        <p:txBody>
          <a:bodyPr/>
          <a:lstStyle/>
          <a:p>
            <a:pPr algn="just"/>
            <a:r>
              <a:rPr lang="en-US" sz="1100" b="0" dirty="0">
                <a:solidFill>
                  <a:schemeClr val="accent4"/>
                </a:solidFill>
              </a:rPr>
              <a:t>This report has been prepared by KPMG LLP (“KPMG”) for the internal use of </a:t>
            </a:r>
            <a:r>
              <a:rPr lang="en-US" sz="1100" b="0" dirty="0" smtClean="0">
                <a:solidFill>
                  <a:schemeClr val="accent4"/>
                </a:solidFill>
              </a:rPr>
              <a:t>CPPIB Equity Investments Inc. </a:t>
            </a:r>
            <a:r>
              <a:rPr lang="en-US" sz="1100" b="0" dirty="0">
                <a:solidFill>
                  <a:schemeClr val="accent4"/>
                </a:solidFill>
              </a:rPr>
              <a:t>(“CPPIB”) pursuant to the terms of our engagement letter, dated </a:t>
            </a:r>
            <a:r>
              <a:rPr lang="en-US" sz="1100" b="0" dirty="0" smtClean="0">
                <a:solidFill>
                  <a:schemeClr val="accent4"/>
                </a:solidFill>
              </a:rPr>
              <a:t>April 28, 2015 (the </a:t>
            </a:r>
            <a:r>
              <a:rPr lang="en-US" sz="1100" b="0" dirty="0">
                <a:solidFill>
                  <a:schemeClr val="accent4"/>
                </a:solidFill>
              </a:rPr>
              <a:t>“Engagement Agreement”).</a:t>
            </a:r>
          </a:p>
          <a:p>
            <a:pPr algn="just"/>
            <a:r>
              <a:rPr lang="en-US" sz="1100" b="0" dirty="0">
                <a:solidFill>
                  <a:schemeClr val="accent4"/>
                </a:solidFill>
              </a:rPr>
              <a:t>This report is being provided to CPPIB on a confidential basis and may not be disclosed to any other person or entity without the express written consent of KPMG and </a:t>
            </a:r>
            <a:r>
              <a:rPr lang="en-US" sz="1100" b="0" dirty="0" smtClean="0">
                <a:solidFill>
                  <a:schemeClr val="accent4"/>
                </a:solidFill>
              </a:rPr>
              <a:t>CPPIB. </a:t>
            </a:r>
            <a:r>
              <a:rPr lang="en-US" sz="1100" b="0" dirty="0">
                <a:solidFill>
                  <a:schemeClr val="accent4"/>
                </a:solidFill>
              </a:rPr>
              <a:t>KPMG neither warrants nor represents that the information contained in this report is accurate, complete, sufficient or appropriate for use by any person or entity other than </a:t>
            </a:r>
            <a:r>
              <a:rPr lang="en-US" sz="1100" b="0" dirty="0" smtClean="0">
                <a:solidFill>
                  <a:schemeClr val="accent4"/>
                </a:solidFill>
              </a:rPr>
              <a:t>CPPIB </a:t>
            </a:r>
            <a:r>
              <a:rPr lang="en-US" sz="1100" b="0" dirty="0">
                <a:solidFill>
                  <a:schemeClr val="accent4"/>
                </a:solidFill>
              </a:rPr>
              <a:t>or for any purpose other than set out in the Engagement Agreement. This report may not be relied upon by any person or entity other than </a:t>
            </a:r>
            <a:r>
              <a:rPr lang="en-US" sz="1100" b="0" dirty="0" smtClean="0">
                <a:solidFill>
                  <a:schemeClr val="accent4"/>
                </a:solidFill>
              </a:rPr>
              <a:t>CPPIB, </a:t>
            </a:r>
            <a:r>
              <a:rPr lang="en-US" sz="1100" b="0" dirty="0">
                <a:solidFill>
                  <a:schemeClr val="accent4"/>
                </a:solidFill>
              </a:rPr>
              <a:t>and KPMG hereby expressly disclaims any and all responsibility or liability to any person or entity other than </a:t>
            </a:r>
            <a:r>
              <a:rPr lang="en-US" sz="1100" b="0" dirty="0" smtClean="0">
                <a:solidFill>
                  <a:schemeClr val="accent4"/>
                </a:solidFill>
              </a:rPr>
              <a:t>CPPIB </a:t>
            </a:r>
            <a:r>
              <a:rPr lang="en-US" sz="1100" b="0" dirty="0">
                <a:solidFill>
                  <a:schemeClr val="accent4"/>
                </a:solidFill>
              </a:rPr>
              <a:t>in connection with their use of this report</a:t>
            </a:r>
            <a:r>
              <a:rPr lang="en-US" sz="1100" b="0" dirty="0" smtClean="0">
                <a:solidFill>
                  <a:schemeClr val="accent4"/>
                </a:solidFill>
              </a:rPr>
              <a:t>.</a:t>
            </a:r>
          </a:p>
          <a:p>
            <a:pPr lvl="0" algn="ctr"/>
            <a:r>
              <a:rPr lang="en-US" sz="1400" b="0" dirty="0" smtClean="0"/>
              <a:t>**********</a:t>
            </a:r>
            <a:endParaRPr lang="en-US" sz="1400" b="0" dirty="0"/>
          </a:p>
          <a:p>
            <a:pPr algn="just"/>
            <a:r>
              <a:rPr lang="en-US" sz="1400" b="0" dirty="0">
                <a:latin typeface="Arial" pitchFamily="34" charset="0"/>
              </a:rPr>
              <a:t>ANY TAX ADVICE IN THIS REPORT IS NOT INTENDED OR WRITTEN BY KPMG TO BE USED, AND CANNOT BE USED, BY A CLIENT OR ANY OTHER PERSON OR ENTITY FOR THE PURPOSE OF (i) AVOIDING PENALTIES THAT MAY BE IMPOSED ON ANY TAXPAYER OR (ii) PROMOTING, MARKETING OR RECOMMENDING TO ANOTHER PARTY ANY MATTERS ADDRESSED HEREIN. </a:t>
            </a:r>
          </a:p>
          <a:p>
            <a:pPr algn="just"/>
            <a:r>
              <a:rPr lang="en-US" sz="1100" b="0" dirty="0">
                <a:latin typeface="Arial" pitchFamily="34" charset="0"/>
              </a:rPr>
              <a:t>Any tax advice in this document is limited to the conclusions specifically set forth herein and is based on the completeness and accuracy of the stated facts, assumptions and representations. If any of the facts, assumptions or representations herein is not entirely complete or accurate, it is imperative that we be informed immediately, as the inaccuracy or incompleteness could have a material effect on our conclusions. In rendering our US tax advice, we are relying upon the relevant provisions of the Internal Revenue Code of 1986, as amended, state and local tax statutes, the regulations thereunder, and the judicial and administrative interpretations thereof. These authorities are subject to change, retroactively and/or prospectively and any such changes could affect the validity of our advice. Unless mutually agreed to in writing, we will not update our advice for subsequent changes or modifications to the law and regulations, or to the judicial and administrative interpretations thereof.</a:t>
            </a:r>
          </a:p>
          <a:p>
            <a:pPr algn="just"/>
            <a:r>
              <a:rPr lang="en-US" sz="1100" b="0" dirty="0">
                <a:latin typeface="Arial" pitchFamily="34" charset="0"/>
              </a:rPr>
              <a:t>This presentation includes statements about non-tax laws. Such statements are not intended to be the expression of legal opinions by KPMG. You should consult counsel to confirm the accuracy of these statements.</a:t>
            </a:r>
          </a:p>
          <a:p>
            <a:pPr algn="just"/>
            <a:r>
              <a:rPr lang="en-US" sz="1100" b="0" dirty="0">
                <a:latin typeface="Arial" pitchFamily="34" charset="0"/>
              </a:rPr>
              <a:t>In various sections of this document, for ease of understanding and as a stylistic matter, we might use language (such as “will” or “should”) that could suggest that we reached a conclusion at a particular level of comfort on an issue.  Such language should not be so construed</a:t>
            </a:r>
            <a:r>
              <a:rPr lang="en-US" sz="1100" b="0" dirty="0" smtClean="0">
                <a:latin typeface="Arial" pitchFamily="34" charset="0"/>
              </a:rPr>
              <a:t>.</a:t>
            </a:r>
            <a:endParaRPr lang="en-US" sz="1300" b="0" dirty="0">
              <a:solidFill>
                <a:schemeClr val="accent4"/>
              </a:solidFill>
            </a:endParaRPr>
          </a:p>
        </p:txBody>
      </p:sp>
    </p:spTree>
    <p:extLst>
      <p:ext uri="{BB962C8B-B14F-4D97-AF65-F5344CB8AC3E}">
        <p14:creationId xmlns:p14="http://schemas.microsoft.com/office/powerpoint/2010/main" val="56616928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US" b="0" dirty="0" smtClean="0"/>
              <a:t>Telephone   (416) 777-8500</a:t>
            </a:r>
          </a:p>
          <a:p>
            <a:r>
              <a:rPr lang="en-US" b="0" dirty="0" smtClean="0"/>
              <a:t>Fax              (416) 777-3107</a:t>
            </a:r>
          </a:p>
          <a:p>
            <a:r>
              <a:rPr lang="en-US" b="0" dirty="0" smtClean="0"/>
              <a:t>Internet        www.kpmg.ca</a:t>
            </a:r>
            <a:endParaRPr lang="fr-CA" b="0" dirty="0"/>
          </a:p>
        </p:txBody>
      </p:sp>
      <p:sp>
        <p:nvSpPr>
          <p:cNvPr id="5" name="Text Placeholder 4"/>
          <p:cNvSpPr>
            <a:spLocks noGrp="1"/>
          </p:cNvSpPr>
          <p:nvPr>
            <p:ph type="body" sz="quarter" idx="12"/>
          </p:nvPr>
        </p:nvSpPr>
        <p:spPr/>
        <p:txBody>
          <a:bodyPr/>
          <a:lstStyle/>
          <a:p>
            <a:r>
              <a:rPr lang="en-US" dirty="0" smtClean="0"/>
              <a:t>KPMG LLP</a:t>
            </a:r>
          </a:p>
          <a:p>
            <a:r>
              <a:rPr lang="en-US" b="0" dirty="0" smtClean="0"/>
              <a:t>Bay Adelaide Centre</a:t>
            </a:r>
          </a:p>
          <a:p>
            <a:r>
              <a:rPr lang="en-US" b="0" dirty="0" smtClean="0"/>
              <a:t>333 Bay Street, Suite 4600</a:t>
            </a:r>
          </a:p>
          <a:p>
            <a:r>
              <a:rPr lang="en-US" b="0" dirty="0" smtClean="0"/>
              <a:t>Toronto ON  M5H 2S5</a:t>
            </a:r>
            <a:endParaRPr lang="fr-CA" b="0" dirty="0"/>
          </a:p>
        </p:txBody>
      </p:sp>
      <p:sp>
        <p:nvSpPr>
          <p:cNvPr id="6" name="Text Placeholder 5"/>
          <p:cNvSpPr>
            <a:spLocks noGrp="1"/>
          </p:cNvSpPr>
          <p:nvPr>
            <p:ph type="body" sz="quarter" idx="10"/>
          </p:nvPr>
        </p:nvSpPr>
        <p:spPr/>
        <p:txBody>
          <a:bodyPr/>
          <a:lstStyle/>
          <a:p>
            <a:pPr algn="just">
              <a:buClr>
                <a:schemeClr val="accent1"/>
              </a:buClr>
              <a:buSzPct val="85000"/>
            </a:pPr>
            <a:r>
              <a:rPr lang="en-US" sz="800" dirty="0" smtClean="0">
                <a:latin typeface="+mn-lt"/>
              </a:rPr>
              <a:t>PRIVATE &amp; CONFIDENTIAL – DRAFT for discussion purposes</a:t>
            </a:r>
          </a:p>
          <a:p>
            <a:pPr algn="just">
              <a:buClr>
                <a:schemeClr val="accent1"/>
              </a:buClr>
              <a:buSzPct val="85000"/>
            </a:pPr>
            <a:endParaRPr lang="en-US" sz="800" b="0" dirty="0" smtClean="0">
              <a:latin typeface="+mn-lt"/>
            </a:endParaRPr>
          </a:p>
          <a:p>
            <a:pPr algn="just" defTabSz="684213">
              <a:spcBef>
                <a:spcPts val="0"/>
              </a:spcBef>
              <a:tabLst>
                <a:tab pos="114300" algn="l"/>
                <a:tab pos="406400" algn="l"/>
              </a:tabLst>
            </a:pPr>
            <a:r>
              <a:rPr lang="en-US" sz="800" b="0" dirty="0" smtClean="0">
                <a:latin typeface="+mn-lt"/>
              </a:rPr>
              <a:t>Mr. Ryan Selwood</a:t>
            </a:r>
          </a:p>
          <a:p>
            <a:pPr algn="just" defTabSz="684213">
              <a:spcBef>
                <a:spcPts val="0"/>
              </a:spcBef>
              <a:tabLst>
                <a:tab pos="114300" algn="l"/>
                <a:tab pos="406400" algn="l"/>
              </a:tabLst>
            </a:pPr>
            <a:r>
              <a:rPr lang="en-US" sz="800" b="0" dirty="0" smtClean="0">
                <a:latin typeface="+mn-lt"/>
              </a:rPr>
              <a:t>Senior Principal</a:t>
            </a:r>
          </a:p>
          <a:p>
            <a:pPr algn="just" defTabSz="684213">
              <a:spcBef>
                <a:spcPts val="0"/>
              </a:spcBef>
              <a:tabLst>
                <a:tab pos="114300" algn="l"/>
                <a:tab pos="406400" algn="l"/>
              </a:tabLst>
            </a:pPr>
            <a:r>
              <a:rPr lang="en-US" sz="800" b="0" dirty="0" smtClean="0">
                <a:latin typeface="+mn-lt"/>
              </a:rPr>
              <a:t>CPPIB Equity Investments Inc.</a:t>
            </a:r>
          </a:p>
          <a:p>
            <a:pPr algn="just" defTabSz="684213">
              <a:spcBef>
                <a:spcPts val="0"/>
              </a:spcBef>
              <a:tabLst>
                <a:tab pos="114300" algn="l"/>
                <a:tab pos="406400" algn="l"/>
              </a:tabLst>
            </a:pPr>
            <a:r>
              <a:rPr lang="en-US" sz="800" b="0" dirty="0" smtClean="0">
                <a:latin typeface="+mn-lt"/>
              </a:rPr>
              <a:t>1 Queen Street East, Suite 2600</a:t>
            </a:r>
          </a:p>
          <a:p>
            <a:pPr algn="just" defTabSz="684213">
              <a:spcBef>
                <a:spcPts val="0"/>
              </a:spcBef>
              <a:tabLst>
                <a:tab pos="114300" algn="l"/>
                <a:tab pos="406400" algn="l"/>
              </a:tabLst>
            </a:pPr>
            <a:r>
              <a:rPr lang="en-US" sz="800" b="0" dirty="0" smtClean="0">
                <a:latin typeface="+mn-lt"/>
              </a:rPr>
              <a:t>PO Box 101</a:t>
            </a:r>
          </a:p>
          <a:p>
            <a:pPr algn="just" defTabSz="684213">
              <a:spcBef>
                <a:spcPts val="0"/>
              </a:spcBef>
              <a:tabLst>
                <a:tab pos="114300" algn="l"/>
                <a:tab pos="406400" algn="l"/>
              </a:tabLst>
            </a:pPr>
            <a:r>
              <a:rPr lang="en-US" sz="800" b="0" dirty="0" smtClean="0">
                <a:latin typeface="+mn-lt"/>
              </a:rPr>
              <a:t>Toronto, Ontario  M5C 2W5</a:t>
            </a:r>
          </a:p>
          <a:p>
            <a:pPr algn="just" defTabSz="684213">
              <a:spcBef>
                <a:spcPts val="0"/>
              </a:spcBef>
              <a:tabLst>
                <a:tab pos="114300" algn="l"/>
                <a:tab pos="406400" algn="l"/>
              </a:tabLst>
            </a:pPr>
            <a:endParaRPr lang="en-US" sz="800" b="0" dirty="0" smtClean="0">
              <a:latin typeface="+mn-lt"/>
            </a:endParaRPr>
          </a:p>
          <a:p>
            <a:pPr algn="just">
              <a:buClr>
                <a:schemeClr val="accent1"/>
              </a:buClr>
              <a:buSzPct val="85000"/>
            </a:pPr>
            <a:r>
              <a:rPr lang="en-US" sz="800" b="0" dirty="0" smtClean="0">
                <a:latin typeface="+mn-lt"/>
              </a:rPr>
              <a:t>June 2, 2015</a:t>
            </a:r>
          </a:p>
          <a:p>
            <a:pPr algn="just">
              <a:buClr>
                <a:schemeClr val="accent1"/>
              </a:buClr>
              <a:buSzPct val="85000"/>
            </a:pPr>
            <a:endParaRPr lang="en-US" sz="800" b="0" dirty="0" smtClean="0">
              <a:latin typeface="+mn-lt"/>
            </a:endParaRPr>
          </a:p>
          <a:p>
            <a:pPr algn="just">
              <a:buClr>
                <a:schemeClr val="accent1"/>
              </a:buClr>
              <a:buSzPct val="85000"/>
            </a:pPr>
            <a:r>
              <a:rPr lang="en-US" sz="800" b="0" dirty="0" smtClean="0">
                <a:latin typeface="+mn-lt"/>
              </a:rPr>
              <a:t>Dear Sir: </a:t>
            </a:r>
          </a:p>
          <a:p>
            <a:pPr algn="just">
              <a:buClr>
                <a:schemeClr val="accent1"/>
              </a:buClr>
              <a:buSzPct val="85000"/>
            </a:pPr>
            <a:r>
              <a:rPr lang="en-US" sz="800" b="0" dirty="0" smtClean="0">
                <a:latin typeface="+mn-lt"/>
              </a:rPr>
              <a:t>We have completed on our engagement to assist CPPIB Equity Investments Inc. (“CPPIB” or “you”) in </a:t>
            </a:r>
            <a:r>
              <a:rPr lang="en-US" sz="800" b="0" dirty="0">
                <a:latin typeface="+mn-lt"/>
              </a:rPr>
              <a:t>performing due diligence in connection with your prospective investment in GE Capital Corporation’s Sponsor Finance North America and Bank Loan Group North America (together, “Target”), in accordance with the terms of our engagement letter dated </a:t>
            </a:r>
            <a:r>
              <a:rPr lang="en-US" sz="800" b="0" dirty="0" smtClean="0">
                <a:latin typeface="+mn-lt"/>
              </a:rPr>
              <a:t>April 28, 2015, </a:t>
            </a:r>
            <a:r>
              <a:rPr lang="en-US" sz="800" b="0" dirty="0">
                <a:latin typeface="+mn-lt"/>
              </a:rPr>
              <a:t>including its </a:t>
            </a:r>
            <a:r>
              <a:rPr lang="en-US" sz="800" b="0" dirty="0" smtClean="0">
                <a:latin typeface="+mn-lt"/>
              </a:rPr>
              <a:t>Standard Terms and Conditions for advisory and tax services. </a:t>
            </a:r>
          </a:p>
          <a:p>
            <a:pPr algn="just">
              <a:buClr>
                <a:schemeClr val="accent1"/>
              </a:buClr>
              <a:buSzPct val="85000"/>
            </a:pPr>
            <a:r>
              <a:rPr lang="en-US" sz="800" dirty="0" smtClean="0">
                <a:latin typeface="+mn-lt"/>
              </a:rPr>
              <a:t>Objective</a:t>
            </a:r>
          </a:p>
          <a:p>
            <a:pPr algn="just">
              <a:buClr>
                <a:schemeClr val="accent1"/>
              </a:buClr>
              <a:buSzPct val="85000"/>
            </a:pPr>
            <a:r>
              <a:rPr lang="en-US" sz="800" b="0" dirty="0" smtClean="0">
                <a:latin typeface="+mn-lt"/>
              </a:rPr>
              <a:t>The objective of our engagement is to assist you with your assessment of the risks and opportunities of your prospective investment in Target. Our work was primarily conducted through information provided by Management, access to Target via conference calls and meetings with Management in New York. The primary scope of our engagement was to make inquiries and perform analyses based on information made available to us, directed toward those business activities and related financial data that you identified as important to your investment decision.</a:t>
            </a:r>
          </a:p>
          <a:p>
            <a:pPr algn="just">
              <a:buClr>
                <a:schemeClr val="accent1"/>
              </a:buClr>
              <a:buSzPct val="85000"/>
            </a:pPr>
            <a:r>
              <a:rPr lang="en-US" sz="800" dirty="0" smtClean="0">
                <a:latin typeface="+mn-lt"/>
              </a:rPr>
              <a:t>Basis of information</a:t>
            </a:r>
          </a:p>
          <a:p>
            <a:pPr algn="just">
              <a:buClr>
                <a:srgbClr val="34377D"/>
              </a:buClr>
              <a:buSzPct val="85000"/>
            </a:pPr>
            <a:r>
              <a:rPr lang="en-US" sz="800" b="0" dirty="0" smtClean="0">
                <a:latin typeface="+mn-lt"/>
              </a:rPr>
              <a:t>The engagement letter describes the procedures we were to perform. Those procedures were selected by you and were limited in nature and extent to those that you determined best fit your needs. We make no representation regarding the sufficiency for your purposes of the procedures you selected, and those procedures will not necessarily disclose all significant matters about Target or reveal errors in the underlying information, instances of fraud, or illegal acts, if any. We have indicated in our report any instances in which procedures you requested could not be performed. This report was prepared by us on the basis that you provided us with all relevant information you received concerning the Target.</a:t>
            </a:r>
          </a:p>
          <a:p>
            <a:pPr algn="just"/>
            <a:endParaRPr lang="fr-CA" sz="800" b="0" dirty="0"/>
          </a:p>
        </p:txBody>
      </p:sp>
      <p:sp>
        <p:nvSpPr>
          <p:cNvPr id="7" name="Text Placeholder 6"/>
          <p:cNvSpPr>
            <a:spLocks noGrp="1"/>
          </p:cNvSpPr>
          <p:nvPr>
            <p:ph type="body" sz="quarter" idx="11"/>
          </p:nvPr>
        </p:nvSpPr>
        <p:spPr>
          <a:xfrm>
            <a:off x="4716480" y="1485478"/>
            <a:ext cx="4176000" cy="4895850"/>
          </a:xfrm>
          <a:ln>
            <a:noFill/>
          </a:ln>
        </p:spPr>
        <p:txBody>
          <a:bodyPr/>
          <a:lstStyle/>
          <a:p>
            <a:pPr algn="just" defTabSz="684213">
              <a:spcBef>
                <a:spcPct val="55000"/>
              </a:spcBef>
              <a:buClr>
                <a:srgbClr val="1E5DFC"/>
              </a:buClr>
              <a:tabLst>
                <a:tab pos="114300" algn="l"/>
                <a:tab pos="406400" algn="l"/>
              </a:tabLst>
            </a:pPr>
            <a:r>
              <a:rPr lang="en-CA" sz="800" b="0" dirty="0" smtClean="0">
                <a:solidFill>
                  <a:schemeClr val="tx1"/>
                </a:solidFill>
              </a:rPr>
              <a:t>The procedures we performed do not constitute an audit, examination or review in accordance with standards established by the Canadian Institute of Chartered Accountants (“CICA”), and we have not otherwise verified the information we obtained or presented in this report. We express no opinion or any other form of assurance on Target’s internal control over financial reporting or on the information presented in our report, and make no representations concerning its accuracy or completeness.</a:t>
            </a:r>
          </a:p>
          <a:p>
            <a:pPr algn="just" defTabSz="684213">
              <a:spcBef>
                <a:spcPct val="55000"/>
              </a:spcBef>
              <a:tabLst>
                <a:tab pos="114300" algn="l"/>
                <a:tab pos="406400" algn="l"/>
              </a:tabLst>
            </a:pPr>
            <a:r>
              <a:rPr lang="en-CA" sz="800" b="0" dirty="0" smtClean="0">
                <a:solidFill>
                  <a:schemeClr val="tx1"/>
                </a:solidFill>
              </a:rPr>
              <a:t>We have not compiled, examined, or applied other procedures in accordance with the Assurance and Related Services Guidelines issued by the CICA to prospective information contained in this document and, accordingly, express no opinion or any other form of assurance or representations concerning the accuracy, completeness or presentation format of such prospective information. There will usually be differences between projected and actual results, because events and circumstances frequently do not occur as expected, and those differences may be material.</a:t>
            </a:r>
          </a:p>
          <a:p>
            <a:pPr algn="just" defTabSz="684213">
              <a:spcBef>
                <a:spcPct val="55000"/>
              </a:spcBef>
              <a:tabLst>
                <a:tab pos="114300" algn="l"/>
                <a:tab pos="406400" algn="l"/>
              </a:tabLst>
            </a:pPr>
            <a:r>
              <a:rPr lang="en-CA" sz="800" b="0" dirty="0" smtClean="0">
                <a:solidFill>
                  <a:schemeClr val="tx1"/>
                </a:solidFill>
              </a:rPr>
              <a:t>The data included in this report was obtained from you and Target by May 29, 2015 inclusive. Since many aspects of the transaction with Target have either not been finalized or are not yet documented, changes may occur that materially affect financial and other information we received and reported to you.  We have not reviewed a draft of this report with Target Management for the purpose of confirming the factual accuracy of the information we presented.</a:t>
            </a:r>
          </a:p>
          <a:p>
            <a:pPr algn="just" defTabSz="684213">
              <a:spcBef>
                <a:spcPct val="55000"/>
              </a:spcBef>
              <a:buClr>
                <a:srgbClr val="1E5DFC"/>
              </a:buClr>
              <a:tabLst>
                <a:tab pos="114300" algn="l"/>
                <a:tab pos="406400" algn="l"/>
              </a:tabLst>
            </a:pPr>
            <a:r>
              <a:rPr lang="en-CA" sz="800" dirty="0" smtClean="0">
                <a:solidFill>
                  <a:schemeClr val="tx1"/>
                </a:solidFill>
              </a:rPr>
              <a:t>Because of its special nature, this report is not suited for any purpose other than to assist CPPIB in its evaluation of Target and, as such and as agreed in the engagement letter, is restricted for your internal use only. </a:t>
            </a:r>
            <a:r>
              <a:rPr lang="en-US" sz="800" dirty="0" smtClean="0">
                <a:solidFill>
                  <a:schemeClr val="tx1"/>
                </a:solidFill>
              </a:rPr>
              <a:t>Accordingly, KPMG does not accept any liability or responsibility to any third party who may use or place reliance on this report.</a:t>
            </a:r>
          </a:p>
          <a:p>
            <a:pPr algn="just" defTabSz="684213">
              <a:spcBef>
                <a:spcPct val="55000"/>
              </a:spcBef>
              <a:buClr>
                <a:srgbClr val="1E5DFC"/>
              </a:buClr>
              <a:tabLst>
                <a:tab pos="114300" algn="l"/>
                <a:tab pos="406400" algn="l"/>
              </a:tabLst>
            </a:pPr>
            <a:endParaRPr lang="en-CA" sz="800" dirty="0" smtClean="0">
              <a:solidFill>
                <a:schemeClr val="tx1"/>
              </a:solidFill>
            </a:endParaRPr>
          </a:p>
          <a:p>
            <a:pPr algn="just" defTabSz="684213">
              <a:spcBef>
                <a:spcPct val="55000"/>
              </a:spcBef>
              <a:buClr>
                <a:srgbClr val="1E5DFC"/>
              </a:buClr>
              <a:tabLst>
                <a:tab pos="114300" algn="l"/>
                <a:tab pos="406400" algn="l"/>
              </a:tabLst>
            </a:pPr>
            <a:r>
              <a:rPr lang="en-CA" sz="800" b="0" dirty="0" smtClean="0">
                <a:solidFill>
                  <a:schemeClr val="tx1"/>
                </a:solidFill>
              </a:rPr>
              <a:t>Yours truly,</a:t>
            </a:r>
          </a:p>
          <a:p>
            <a:pPr algn="just" defTabSz="684213">
              <a:spcBef>
                <a:spcPct val="55000"/>
              </a:spcBef>
              <a:buClr>
                <a:srgbClr val="1E5DFC"/>
              </a:buClr>
              <a:tabLst>
                <a:tab pos="114300" algn="l"/>
                <a:tab pos="406400" algn="l"/>
              </a:tabLst>
            </a:pPr>
            <a:endParaRPr lang="en-CA" sz="800" b="0" dirty="0" smtClean="0">
              <a:solidFill>
                <a:schemeClr val="tx1"/>
              </a:solidFill>
            </a:endParaRPr>
          </a:p>
          <a:p>
            <a:pPr algn="just" defTabSz="684213">
              <a:spcBef>
                <a:spcPct val="55000"/>
              </a:spcBef>
              <a:buClr>
                <a:srgbClr val="1E5DFC"/>
              </a:buClr>
              <a:tabLst>
                <a:tab pos="114300" algn="l"/>
                <a:tab pos="406400" algn="l"/>
              </a:tabLst>
            </a:pPr>
            <a:endParaRPr lang="en-CA" sz="800" b="0" dirty="0" smtClean="0">
              <a:solidFill>
                <a:schemeClr val="tx1"/>
              </a:solidFill>
            </a:endParaRPr>
          </a:p>
          <a:p>
            <a:pPr algn="just" defTabSz="684213">
              <a:spcBef>
                <a:spcPct val="55000"/>
              </a:spcBef>
              <a:buClr>
                <a:srgbClr val="1E5DFC"/>
              </a:buClr>
              <a:tabLst>
                <a:tab pos="114300" algn="l"/>
                <a:tab pos="406400" algn="l"/>
              </a:tabLst>
            </a:pPr>
            <a:r>
              <a:rPr lang="en-CA" sz="800" dirty="0" smtClean="0">
                <a:solidFill>
                  <a:schemeClr val="tx1"/>
                </a:solidFill>
              </a:rPr>
              <a:t>DRAFT</a:t>
            </a:r>
          </a:p>
          <a:p>
            <a:endParaRPr lang="fr-CA" dirty="0"/>
          </a:p>
        </p:txBody>
      </p:sp>
    </p:spTree>
    <p:extLst>
      <p:ext uri="{BB962C8B-B14F-4D97-AF65-F5344CB8AC3E}">
        <p14:creationId xmlns:p14="http://schemas.microsoft.com/office/powerpoint/2010/main" val="40230593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bwMode="gray"/>
        <p:txBody>
          <a:bodyPr/>
          <a:lstStyle/>
          <a:p>
            <a:r>
              <a:rPr lang="en-US" dirty="0" smtClean="0"/>
              <a:t>Glossary of terms</a:t>
            </a:r>
            <a:endParaRPr lang="en-US" dirty="0"/>
          </a:p>
        </p:txBody>
      </p:sp>
      <p:graphicFrame>
        <p:nvGraphicFramePr>
          <p:cNvPr id="5" name="Group 205"/>
          <p:cNvGraphicFramePr>
            <a:graphicFrameLocks noGrp="1"/>
          </p:cNvGraphicFramePr>
          <p:nvPr>
            <p:extLst>
              <p:ext uri="{D42A27DB-BD31-4B8C-83A1-F6EECF244321}">
                <p14:modId xmlns:p14="http://schemas.microsoft.com/office/powerpoint/2010/main" val="3404377842"/>
              </p:ext>
            </p:extLst>
          </p:nvPr>
        </p:nvGraphicFramePr>
        <p:xfrm>
          <a:off x="381000" y="1295401"/>
          <a:ext cx="2743200" cy="4361198"/>
        </p:xfrm>
        <a:graphic>
          <a:graphicData uri="http://schemas.openxmlformats.org/drawingml/2006/table">
            <a:tbl>
              <a:tblPr/>
              <a:tblGrid>
                <a:gridCol w="688482"/>
                <a:gridCol w="2054718"/>
              </a:tblGrid>
              <a:tr h="265513">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$’MM</a:t>
                      </a:r>
                    </a:p>
                  </a:txBody>
                  <a:tcPr marL="0" marR="0" marT="0" horzOverflow="overflow">
                    <a:lnL cap="flat">
                      <a:noFill/>
                    </a:lnL>
                    <a:lnR>
                      <a:noFill/>
                    </a:lnR>
                    <a:lnT>
                      <a:noFill/>
                    </a:lnT>
                    <a:lnB>
                      <a:noFill/>
                    </a:lnB>
                    <a:lnTlToBr>
                      <a:noFill/>
                    </a:lnTlToBr>
                    <a:lnBlToTr>
                      <a:noFill/>
                    </a:lnBlToTr>
                    <a:noFill/>
                  </a:tcPr>
                </a:tc>
                <a:tc>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Millions of U.S. dollars</a:t>
                      </a:r>
                    </a:p>
                  </a:txBody>
                  <a:tcPr marL="0" marR="0" marT="0" horzOverflow="overflow">
                    <a:lnL>
                      <a:noFill/>
                    </a:lnL>
                    <a:lnR cap="flat">
                      <a:noFill/>
                    </a:lnR>
                    <a:lnT>
                      <a:noFill/>
                    </a:lnT>
                    <a:lnB>
                      <a:noFill/>
                    </a:lnB>
                    <a:lnTlToBr>
                      <a:noFill/>
                    </a:lnTlToBr>
                    <a:lnBlToTr>
                      <a:noFill/>
                    </a:lnBlToTr>
                    <a:noFill/>
                  </a:tcPr>
                </a:tc>
              </a:tr>
              <a:tr h="132757">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ABL</a:t>
                      </a:r>
                    </a:p>
                  </a:txBody>
                  <a:tcPr marL="0" marR="0" marT="0" horzOverflow="overflow">
                    <a:lnL cap="flat">
                      <a:noFill/>
                    </a:lnL>
                    <a:lnR>
                      <a:noFill/>
                    </a:lnR>
                    <a:lnT>
                      <a:noFill/>
                    </a:lnT>
                    <a:lnB>
                      <a:noFill/>
                    </a:lnB>
                    <a:lnTlToBr>
                      <a:noFill/>
                    </a:lnTlToBr>
                    <a:lnBlToTr>
                      <a:noFill/>
                    </a:lnBlToTr>
                    <a:noFill/>
                  </a:tcPr>
                </a:tc>
                <a:tc>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Asset Based Loan</a:t>
                      </a:r>
                    </a:p>
                  </a:txBody>
                  <a:tcPr marL="0" marR="0" marT="0" horzOverflow="overflow">
                    <a:lnL>
                      <a:noFill/>
                    </a:lnL>
                    <a:lnR cap="flat">
                      <a:noFill/>
                    </a:lnR>
                    <a:lnT>
                      <a:noFill/>
                    </a:lnT>
                    <a:lnB>
                      <a:noFill/>
                    </a:lnB>
                    <a:lnTlToBr>
                      <a:noFill/>
                    </a:lnTlToBr>
                    <a:lnBlToTr>
                      <a:noFill/>
                    </a:lnBlToTr>
                    <a:noFill/>
                  </a:tcPr>
                </a:tc>
              </a:tr>
              <a:tr h="132757">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endParaRPr lang="en-US" sz="900" b="1" i="0" u="none" strike="noStrike" kern="1200" dirty="0" smtClean="0">
                        <a:solidFill>
                          <a:srgbClr val="00338D"/>
                        </a:solidFill>
                        <a:latin typeface="Arial"/>
                        <a:ea typeface="+mn-ea"/>
                        <a:cs typeface="+mn-cs"/>
                      </a:endParaRPr>
                    </a:p>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ALLL</a:t>
                      </a:r>
                    </a:p>
                  </a:txBody>
                  <a:tcPr marL="0" marR="0" marT="0" horzOverflow="overflow">
                    <a:lnL cap="flat">
                      <a:noFill/>
                    </a:lnL>
                    <a:lnR>
                      <a:noFill/>
                    </a:lnR>
                    <a:lnT>
                      <a:noFill/>
                    </a:lnT>
                    <a:lnB>
                      <a:noFill/>
                    </a:lnB>
                    <a:lnTlToBr>
                      <a:noFill/>
                    </a:lnTlToBr>
                    <a:lnBlToTr>
                      <a:noFill/>
                    </a:lnBlToTr>
                    <a:noFill/>
                  </a:tcPr>
                </a:tc>
                <a:tc>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endPar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endParaRPr>
                    </a:p>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Allowance for Loan and Lease Losses</a:t>
                      </a:r>
                    </a:p>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endPar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endParaRPr>
                    </a:p>
                  </a:txBody>
                  <a:tcPr marL="0" marR="0" marT="0" horzOverflow="overflow">
                    <a:lnL>
                      <a:noFill/>
                    </a:lnL>
                    <a:lnR cap="flat">
                      <a:noFill/>
                    </a:lnR>
                    <a:lnT>
                      <a:noFill/>
                    </a:lnT>
                    <a:lnB>
                      <a:noFill/>
                    </a:lnB>
                    <a:lnTlToBr>
                      <a:noFill/>
                    </a:lnTlToBr>
                    <a:lnBlToTr>
                      <a:noFill/>
                    </a:lnBlToTr>
                    <a:noFill/>
                  </a:tcPr>
                </a:tc>
              </a:tr>
              <a:tr h="265513">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BEV</a:t>
                      </a:r>
                    </a:p>
                  </a:txBody>
                  <a:tcPr marL="0" marR="0" marT="0" horzOverflow="overflow">
                    <a:lnL cap="flat">
                      <a:noFill/>
                    </a:lnL>
                    <a:lnR>
                      <a:noFill/>
                    </a:lnR>
                    <a:lnT>
                      <a:noFill/>
                    </a:lnT>
                    <a:lnB>
                      <a:noFill/>
                    </a:lnB>
                    <a:lnTlToBr>
                      <a:noFill/>
                    </a:lnTlToBr>
                    <a:lnBlToTr>
                      <a:noFill/>
                    </a:lnBlToTr>
                    <a:noFill/>
                  </a:tcPr>
                </a:tc>
                <a:tc>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Business Enterprise Value</a:t>
                      </a:r>
                    </a:p>
                  </a:txBody>
                  <a:tcPr marL="0" marR="0" marT="0" horzOverflow="overflow">
                    <a:lnL>
                      <a:noFill/>
                    </a:lnL>
                    <a:lnR cap="flat">
                      <a:noFill/>
                    </a:lnR>
                    <a:lnT>
                      <a:noFill/>
                    </a:lnT>
                    <a:lnB>
                      <a:noFill/>
                    </a:lnB>
                    <a:lnTlToBr>
                      <a:noFill/>
                    </a:lnTlToBr>
                    <a:lnBlToTr>
                      <a:noFill/>
                    </a:lnBlToTr>
                    <a:noFill/>
                  </a:tcPr>
                </a:tc>
              </a:tr>
              <a:tr h="265513">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BLG</a:t>
                      </a:r>
                    </a:p>
                  </a:txBody>
                  <a:tcPr marL="0" marR="0" marT="0" horzOverflow="overflow">
                    <a:lnL cap="flat">
                      <a:noFill/>
                    </a:lnL>
                    <a:lnR>
                      <a:noFill/>
                    </a:lnR>
                    <a:lnT>
                      <a:noFill/>
                    </a:lnT>
                    <a:lnB>
                      <a:noFill/>
                    </a:lnB>
                    <a:lnTlToBr>
                      <a:noFill/>
                    </a:lnTlToBr>
                    <a:lnBlToTr>
                      <a:noFill/>
                    </a:lnBlToTr>
                    <a:noFill/>
                  </a:tcPr>
                </a:tc>
                <a:tc>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Bank Loan Group</a:t>
                      </a:r>
                    </a:p>
                  </a:txBody>
                  <a:tcPr marL="0" marR="0" marT="0" horzOverflow="overflow">
                    <a:lnL>
                      <a:noFill/>
                    </a:lnL>
                    <a:lnR cap="flat">
                      <a:noFill/>
                    </a:lnR>
                    <a:lnT>
                      <a:noFill/>
                    </a:lnT>
                    <a:lnB>
                      <a:noFill/>
                    </a:lnB>
                    <a:lnTlToBr>
                      <a:noFill/>
                    </a:lnTlToBr>
                    <a:lnBlToTr>
                      <a:noFill/>
                    </a:lnBlToTr>
                    <a:noFill/>
                  </a:tcPr>
                </a:tc>
              </a:tr>
              <a:tr h="265513">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CAP</a:t>
                      </a:r>
                    </a:p>
                  </a:txBody>
                  <a:tcPr marL="0" marR="0" marT="0" horzOverflow="overflow">
                    <a:lnL cap="flat">
                      <a:noFill/>
                    </a:lnL>
                    <a:lnR>
                      <a:noFill/>
                    </a:lnR>
                    <a:lnT>
                      <a:noFill/>
                    </a:lnT>
                    <a:lnB>
                      <a:noFill/>
                    </a:lnB>
                    <a:lnTlToBr>
                      <a:noFill/>
                    </a:lnTlToBr>
                    <a:lnBlToTr>
                      <a:noFill/>
                    </a:lnBlToTr>
                    <a:noFill/>
                  </a:tcPr>
                </a:tc>
                <a:tc>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Compliance Assurance Process</a:t>
                      </a:r>
                    </a:p>
                  </a:txBody>
                  <a:tcPr marL="0" marR="0" marT="0" horzOverflow="overflow">
                    <a:lnL>
                      <a:noFill/>
                    </a:lnL>
                    <a:lnR cap="flat">
                      <a:noFill/>
                    </a:lnR>
                    <a:lnT>
                      <a:noFill/>
                    </a:lnT>
                    <a:lnB>
                      <a:noFill/>
                    </a:lnB>
                    <a:lnTlToBr>
                      <a:noFill/>
                    </a:lnTlToBr>
                    <a:lnBlToTr>
                      <a:noFill/>
                    </a:lnBlToTr>
                    <a:noFill/>
                  </a:tcPr>
                </a:tc>
              </a:tr>
              <a:tr h="265513">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CFL</a:t>
                      </a:r>
                    </a:p>
                  </a:txBody>
                  <a:tcPr marL="0" marR="0" marT="0" horzOverflow="overflow">
                    <a:lnL cap="flat">
                      <a:noFill/>
                    </a:lnL>
                    <a:lnR>
                      <a:noFill/>
                    </a:lnR>
                    <a:lnT>
                      <a:noFill/>
                    </a:lnT>
                    <a:lnB>
                      <a:noFill/>
                    </a:lnB>
                    <a:lnTlToBr>
                      <a:noFill/>
                    </a:lnTlToBr>
                    <a:lnBlToTr>
                      <a:noFill/>
                    </a:lnBlToTr>
                    <a:noFill/>
                  </a:tcPr>
                </a:tc>
                <a:tc>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Cash Flow Loan</a:t>
                      </a:r>
                    </a:p>
                  </a:txBody>
                  <a:tcPr marL="0" marR="0" marT="0" horzOverflow="overflow">
                    <a:lnL>
                      <a:noFill/>
                    </a:lnL>
                    <a:lnR cap="flat">
                      <a:noFill/>
                    </a:lnR>
                    <a:lnT>
                      <a:noFill/>
                    </a:lnT>
                    <a:lnB>
                      <a:noFill/>
                    </a:lnB>
                    <a:lnTlToBr>
                      <a:noFill/>
                    </a:lnTlToBr>
                    <a:lnBlToTr>
                      <a:noFill/>
                    </a:lnBlToTr>
                    <a:noFill/>
                  </a:tcPr>
                </a:tc>
              </a:tr>
              <a:tr h="265513">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C&amp;B</a:t>
                      </a:r>
                    </a:p>
                  </a:txBody>
                  <a:tcPr marL="0" marR="0" marT="0" horzOverflow="overflow">
                    <a:lnL cap="flat">
                      <a:noFill/>
                    </a:lnL>
                    <a:lnR>
                      <a:noFill/>
                    </a:lnR>
                    <a:lnT>
                      <a:noFill/>
                    </a:lnT>
                    <a:lnB>
                      <a:noFill/>
                    </a:lnB>
                    <a:lnTlToBr>
                      <a:noFill/>
                    </a:lnTlToBr>
                    <a:lnBlToTr>
                      <a:noFill/>
                    </a:lnBlToTr>
                    <a:noFill/>
                  </a:tcPr>
                </a:tc>
                <a:tc>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Compensation and Benefits</a:t>
                      </a:r>
                    </a:p>
                  </a:txBody>
                  <a:tcPr marL="0" marR="0" marT="0" horzOverflow="overflow">
                    <a:lnL>
                      <a:noFill/>
                    </a:lnL>
                    <a:lnR cap="flat">
                      <a:noFill/>
                    </a:lnR>
                    <a:lnT>
                      <a:noFill/>
                    </a:lnT>
                    <a:lnB>
                      <a:noFill/>
                    </a:lnB>
                    <a:lnTlToBr>
                      <a:noFill/>
                    </a:lnTlToBr>
                    <a:lnBlToTr>
                      <a:noFill/>
                    </a:lnBlToTr>
                    <a:noFill/>
                  </a:tcPr>
                </a:tc>
              </a:tr>
              <a:tr h="132757">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CV</a:t>
                      </a:r>
                    </a:p>
                  </a:txBody>
                  <a:tcPr marL="0" marR="0" marT="0" horzOverflow="overflow">
                    <a:lnL cap="flat">
                      <a:noFill/>
                    </a:lnL>
                    <a:lnR>
                      <a:noFill/>
                    </a:lnR>
                    <a:lnT>
                      <a:noFill/>
                    </a:lnT>
                    <a:lnB>
                      <a:noFill/>
                    </a:lnB>
                    <a:lnTlToBr>
                      <a:noFill/>
                    </a:lnTlToBr>
                    <a:lnBlToTr>
                      <a:noFill/>
                    </a:lnBlToTr>
                    <a:noFill/>
                  </a:tcPr>
                </a:tc>
                <a:tc rowSpan="2">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Contributed Value</a:t>
                      </a:r>
                    </a:p>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endPar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endParaRPr>
                    </a:p>
                    <a:p>
                      <a:pPr marL="1588" marR="0" lvl="1" indent="0" algn="l" defTabSz="762000" rtl="0" eaLnBrk="0" fontAlgn="base" latinLnBrk="0" hangingPunct="0">
                        <a:lnSpc>
                          <a:spcPct val="79000"/>
                        </a:lnSpc>
                        <a:spcBef>
                          <a:spcPts val="40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Center of Excellence</a:t>
                      </a:r>
                    </a:p>
                  </a:txBody>
                  <a:tcPr marL="0" marR="0" marT="0" horzOverflow="overflow">
                    <a:lnL>
                      <a:noFill/>
                    </a:lnL>
                    <a:lnR cap="flat">
                      <a:noFill/>
                    </a:lnR>
                    <a:lnT>
                      <a:noFill/>
                    </a:lnT>
                    <a:lnB>
                      <a:noFill/>
                    </a:lnB>
                    <a:lnTlToBr>
                      <a:noFill/>
                    </a:lnTlToBr>
                    <a:lnBlToTr>
                      <a:noFill/>
                    </a:lnBlToTr>
                    <a:noFill/>
                  </a:tcPr>
                </a:tc>
              </a:tr>
              <a:tr h="132757">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endParaRPr lang="en-US" sz="900" b="1" i="0" u="none" strike="noStrike" kern="1200" dirty="0" smtClean="0">
                        <a:solidFill>
                          <a:srgbClr val="00338D"/>
                        </a:solidFill>
                        <a:latin typeface="Arial"/>
                        <a:ea typeface="+mn-ea"/>
                        <a:cs typeface="+mn-cs"/>
                      </a:endParaRPr>
                    </a:p>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COE            </a:t>
                      </a:r>
                      <a:r>
                        <a:rPr lang="en-US" sz="900" b="1" i="0" u="none" strike="noStrike" kern="1200" baseline="0" dirty="0" smtClean="0">
                          <a:solidFill>
                            <a:srgbClr val="00338D"/>
                          </a:solidFill>
                          <a:latin typeface="Arial"/>
                          <a:ea typeface="+mn-ea"/>
                          <a:cs typeface="+mn-cs"/>
                        </a:rPr>
                        <a:t> </a:t>
                      </a:r>
                      <a:endParaRPr lang="en-US" sz="900" b="1" i="0" u="none" strike="noStrike" kern="1200" dirty="0" smtClean="0">
                        <a:solidFill>
                          <a:srgbClr val="00338D"/>
                        </a:solidFill>
                        <a:latin typeface="Arial"/>
                        <a:ea typeface="+mn-ea"/>
                        <a:cs typeface="+mn-cs"/>
                      </a:endParaRPr>
                    </a:p>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endParaRPr lang="en-US" sz="900" b="1" i="0" u="none" strike="noStrike" kern="1200" dirty="0" smtClean="0">
                        <a:solidFill>
                          <a:srgbClr val="00338D"/>
                        </a:solidFill>
                        <a:latin typeface="Arial"/>
                        <a:ea typeface="+mn-ea"/>
                        <a:cs typeface="+mn-cs"/>
                      </a:endParaRPr>
                    </a:p>
                  </a:txBody>
                  <a:tcPr marL="0" marR="0" marT="0" horzOverflow="overflow">
                    <a:lnL cap="flat">
                      <a:noFill/>
                    </a:lnL>
                    <a:lnR>
                      <a:noFill/>
                    </a:lnR>
                    <a:lnT>
                      <a:noFill/>
                    </a:lnT>
                    <a:lnB>
                      <a:noFill/>
                    </a:lnB>
                    <a:lnTlToBr>
                      <a:noFill/>
                    </a:lnTlToBr>
                    <a:lnBlToTr>
                      <a:noFill/>
                    </a:lnBlToTr>
                    <a:noFill/>
                  </a:tcPr>
                </a:tc>
                <a:tc vMerge="1">
                  <a:txBody>
                    <a:bodyPr/>
                    <a:lstStyle/>
                    <a:p>
                      <a:endParaRPr lang="en-US"/>
                    </a:p>
                  </a:txBody>
                  <a:tcPr/>
                </a:tc>
              </a:tr>
              <a:tr h="265513">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DCF</a:t>
                      </a:r>
                    </a:p>
                  </a:txBody>
                  <a:tcPr marL="0" marR="0" marT="0" horzOverflow="overflow">
                    <a:lnL cap="flat">
                      <a:noFill/>
                    </a:lnL>
                    <a:lnR>
                      <a:noFill/>
                    </a:lnR>
                    <a:lnT>
                      <a:noFill/>
                    </a:lnT>
                    <a:lnB>
                      <a:noFill/>
                    </a:lnB>
                    <a:lnTlToBr>
                      <a:noFill/>
                    </a:lnTlToBr>
                    <a:lnBlToTr>
                      <a:noFill/>
                    </a:lnBlToTr>
                    <a:noFill/>
                  </a:tcPr>
                </a:tc>
                <a:tc>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Discounted Cash Flow</a:t>
                      </a:r>
                    </a:p>
                  </a:txBody>
                  <a:tcPr marL="0" marR="0" marT="0" horzOverflow="overflow">
                    <a:lnL>
                      <a:noFill/>
                    </a:lnL>
                    <a:lnR cap="flat">
                      <a:noFill/>
                    </a:lnR>
                    <a:lnT>
                      <a:noFill/>
                    </a:lnT>
                    <a:lnB>
                      <a:noFill/>
                    </a:lnB>
                    <a:lnTlToBr>
                      <a:noFill/>
                    </a:lnTlToBr>
                    <a:lnBlToTr>
                      <a:noFill/>
                    </a:lnBlToTr>
                    <a:noFill/>
                  </a:tcPr>
                </a:tc>
              </a:tr>
              <a:tr h="272098">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EBITDA</a:t>
                      </a:r>
                    </a:p>
                  </a:txBody>
                  <a:tcPr marL="0" marR="0" marT="0" horzOverflow="overflow">
                    <a:lnL cap="flat">
                      <a:noFill/>
                    </a:lnL>
                    <a:lnR>
                      <a:noFill/>
                    </a:lnR>
                    <a:lnT>
                      <a:noFill/>
                    </a:lnT>
                    <a:lnB>
                      <a:noFill/>
                    </a:lnB>
                    <a:lnTlToBr>
                      <a:noFill/>
                    </a:lnTlToBr>
                    <a:lnBlToTr>
                      <a:noFill/>
                    </a:lnBlToTr>
                    <a:noFill/>
                  </a:tcPr>
                </a:tc>
                <a:tc>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Earnings before interest, income taxes, depreciation and amortization</a:t>
                      </a:r>
                    </a:p>
                  </a:txBody>
                  <a:tcPr marL="0" marR="0" marT="0" horzOverflow="overflow">
                    <a:lnL>
                      <a:noFill/>
                    </a:lnL>
                    <a:lnR cap="flat">
                      <a:noFill/>
                    </a:lnR>
                    <a:lnT>
                      <a:noFill/>
                    </a:lnT>
                    <a:lnB>
                      <a:noFill/>
                    </a:lnB>
                    <a:lnTlToBr>
                      <a:noFill/>
                    </a:lnTlToBr>
                    <a:lnBlToTr>
                      <a:noFill/>
                    </a:lnBlToTr>
                    <a:noFill/>
                  </a:tcPr>
                </a:tc>
              </a:tr>
              <a:tr h="265513">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E&amp;P</a:t>
                      </a:r>
                    </a:p>
                  </a:txBody>
                  <a:tcPr marL="0" marR="0" marT="0" horzOverflow="overflow">
                    <a:lnL cap="flat">
                      <a:noFill/>
                    </a:lnL>
                    <a:lnR>
                      <a:noFill/>
                    </a:lnR>
                    <a:lnT>
                      <a:noFill/>
                    </a:lnT>
                    <a:lnB>
                      <a:noFill/>
                    </a:lnB>
                    <a:lnTlToBr>
                      <a:noFill/>
                    </a:lnTlToBr>
                    <a:lnBlToTr>
                      <a:noFill/>
                    </a:lnBlToTr>
                    <a:noFill/>
                  </a:tcPr>
                </a:tc>
                <a:tc>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Earnings and profits</a:t>
                      </a:r>
                    </a:p>
                  </a:txBody>
                  <a:tcPr marL="0" marR="0" marT="0" horzOverflow="overflow">
                    <a:lnL>
                      <a:noFill/>
                    </a:lnL>
                    <a:lnR cap="flat">
                      <a:noFill/>
                    </a:lnR>
                    <a:lnT>
                      <a:noFill/>
                    </a:lnT>
                    <a:lnB>
                      <a:noFill/>
                    </a:lnB>
                    <a:lnTlToBr>
                      <a:noFill/>
                    </a:lnTlToBr>
                    <a:lnBlToTr>
                      <a:noFill/>
                    </a:lnBlToTr>
                    <a:noFill/>
                  </a:tcPr>
                </a:tc>
              </a:tr>
              <a:tr h="265513">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ENI</a:t>
                      </a:r>
                    </a:p>
                  </a:txBody>
                  <a:tcPr marL="0" marR="0" marT="0" horzOverflow="overflow">
                    <a:lnL cap="flat">
                      <a:noFill/>
                    </a:lnL>
                    <a:lnR>
                      <a:noFill/>
                    </a:lnR>
                    <a:lnT>
                      <a:noFill/>
                    </a:lnT>
                    <a:lnB>
                      <a:noFill/>
                    </a:lnB>
                    <a:lnTlToBr>
                      <a:noFill/>
                    </a:lnTlToBr>
                    <a:lnBlToTr>
                      <a:noFill/>
                    </a:lnBlToTr>
                    <a:noFill/>
                  </a:tcPr>
                </a:tc>
                <a:tc>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Ending Net Investment</a:t>
                      </a:r>
                    </a:p>
                  </a:txBody>
                  <a:tcPr marL="0" marR="0" marT="0" horzOverflow="overflow">
                    <a:lnL>
                      <a:noFill/>
                    </a:lnL>
                    <a:lnR cap="flat">
                      <a:noFill/>
                    </a:lnR>
                    <a:lnT>
                      <a:noFill/>
                    </a:lnT>
                    <a:lnB>
                      <a:noFill/>
                    </a:lnB>
                    <a:lnTlToBr>
                      <a:noFill/>
                    </a:lnTlToBr>
                    <a:lnBlToTr>
                      <a:noFill/>
                    </a:lnBlToTr>
                    <a:noFill/>
                  </a:tcPr>
                </a:tc>
              </a:tr>
              <a:tr h="265513">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ETR</a:t>
                      </a:r>
                    </a:p>
                  </a:txBody>
                  <a:tcPr marL="0" marR="0" marT="0" horzOverflow="overflow">
                    <a:lnL cap="flat">
                      <a:noFill/>
                    </a:lnL>
                    <a:lnR>
                      <a:noFill/>
                    </a:lnR>
                    <a:lnT>
                      <a:noFill/>
                    </a:lnT>
                    <a:lnB>
                      <a:noFill/>
                    </a:lnB>
                    <a:lnTlToBr>
                      <a:noFill/>
                    </a:lnTlToBr>
                    <a:lnBlToTr>
                      <a:noFill/>
                    </a:lnBlToTr>
                    <a:noFill/>
                  </a:tcPr>
                </a:tc>
                <a:tc>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Effective Tax Rate</a:t>
                      </a:r>
                    </a:p>
                  </a:txBody>
                  <a:tcPr marL="0" marR="0" marT="0" horzOverflow="overflow">
                    <a:lnL>
                      <a:noFill/>
                    </a:lnL>
                    <a:lnR cap="flat">
                      <a:noFill/>
                    </a:lnR>
                    <a:lnT>
                      <a:noFill/>
                    </a:lnT>
                    <a:lnB>
                      <a:noFill/>
                    </a:lnB>
                    <a:lnTlToBr>
                      <a:noFill/>
                    </a:lnTlToBr>
                    <a:lnBlToTr>
                      <a:noFill/>
                    </a:lnBlToTr>
                    <a:noFill/>
                  </a:tcPr>
                </a:tc>
              </a:tr>
              <a:tr h="384442">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FAS 91</a:t>
                      </a:r>
                    </a:p>
                  </a:txBody>
                  <a:tcPr marL="0" marR="0" marT="0" horzOverflow="overflow">
                    <a:lnL cap="flat">
                      <a:noFill/>
                    </a:lnL>
                    <a:lnR>
                      <a:noFill/>
                    </a:lnR>
                    <a:lnT>
                      <a:noFill/>
                    </a:lnT>
                    <a:lnB>
                      <a:noFill/>
                    </a:lnB>
                    <a:lnTlToBr>
                      <a:noFill/>
                    </a:lnTlToBr>
                    <a:lnBlToTr>
                      <a:noFill/>
                    </a:lnBlToTr>
                    <a:noFill/>
                  </a:tcPr>
                </a:tc>
                <a:tc>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Financial Accounting Standard 91, U.S. Generally Accepted Accounting Principles</a:t>
                      </a:r>
                    </a:p>
                  </a:txBody>
                  <a:tcPr marL="0" marR="0" marT="0" horzOverflow="overflow">
                    <a:lnL>
                      <a:noFill/>
                    </a:lnL>
                    <a:lnR cap="flat">
                      <a:noFill/>
                    </a:lnR>
                    <a:lnT>
                      <a:noFill/>
                    </a:lnT>
                    <a:lnB>
                      <a:noFill/>
                    </a:lnB>
                    <a:lnTlToBr>
                      <a:noFill/>
                    </a:lnTlToBr>
                    <a:lnBlToTr>
                      <a:noFill/>
                    </a:lnBlToTr>
                    <a:noFill/>
                  </a:tcPr>
                </a:tc>
              </a:tr>
            </a:tbl>
          </a:graphicData>
        </a:graphic>
      </p:graphicFrame>
      <p:graphicFrame>
        <p:nvGraphicFramePr>
          <p:cNvPr id="6" name="Group 209"/>
          <p:cNvGraphicFramePr>
            <a:graphicFrameLocks noGrp="1"/>
          </p:cNvGraphicFramePr>
          <p:nvPr>
            <p:extLst>
              <p:ext uri="{D42A27DB-BD31-4B8C-83A1-F6EECF244321}">
                <p14:modId xmlns:p14="http://schemas.microsoft.com/office/powerpoint/2010/main" val="1093474391"/>
              </p:ext>
            </p:extLst>
          </p:nvPr>
        </p:nvGraphicFramePr>
        <p:xfrm>
          <a:off x="6248400" y="1295400"/>
          <a:ext cx="2819400" cy="4045966"/>
        </p:xfrm>
        <a:graphic>
          <a:graphicData uri="http://schemas.openxmlformats.org/drawingml/2006/table">
            <a:tbl>
              <a:tblPr/>
              <a:tblGrid>
                <a:gridCol w="878537"/>
                <a:gridCol w="1940863"/>
              </a:tblGrid>
              <a:tr h="292100">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NOL</a:t>
                      </a:r>
                    </a:p>
                  </a:txBody>
                  <a:tcPr marL="0" marR="0" marT="0" horzOverflow="overflow">
                    <a:lnL cap="flat">
                      <a:noFill/>
                    </a:lnL>
                    <a:lnR>
                      <a:noFill/>
                    </a:lnR>
                    <a:lnT>
                      <a:noFill/>
                    </a:lnT>
                    <a:lnB>
                      <a:noFill/>
                    </a:lnB>
                    <a:lnTlToBr>
                      <a:noFill/>
                    </a:lnTlToBr>
                    <a:lnBlToTr>
                      <a:noFill/>
                    </a:lnBlToTr>
                    <a:noFill/>
                  </a:tcPr>
                </a:tc>
                <a:tc>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Net Operating Loss</a:t>
                      </a:r>
                    </a:p>
                  </a:txBody>
                  <a:tcPr marL="0" marR="0" marT="0" horzOverflow="overflow">
                    <a:lnL>
                      <a:noFill/>
                    </a:lnL>
                    <a:lnR cap="flat">
                      <a:noFill/>
                    </a:lnR>
                    <a:lnT>
                      <a:noFill/>
                    </a:lnT>
                    <a:lnB>
                      <a:noFill/>
                    </a:lnB>
                    <a:lnTlToBr>
                      <a:noFill/>
                    </a:lnTlToBr>
                    <a:lnBlToTr>
                      <a:noFill/>
                    </a:lnBlToTr>
                    <a:noFill/>
                  </a:tcPr>
                </a:tc>
              </a:tr>
              <a:tr h="292100">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P&amp;L</a:t>
                      </a:r>
                    </a:p>
                  </a:txBody>
                  <a:tcPr marL="0" marR="0" marT="0" horzOverflow="overflow">
                    <a:lnL cap="flat">
                      <a:noFill/>
                    </a:lnL>
                    <a:lnR>
                      <a:noFill/>
                    </a:lnR>
                    <a:lnT>
                      <a:noFill/>
                    </a:lnT>
                    <a:lnB>
                      <a:noFill/>
                    </a:lnB>
                    <a:lnTlToBr>
                      <a:noFill/>
                    </a:lnTlToBr>
                    <a:lnBlToTr>
                      <a:noFill/>
                    </a:lnBlToTr>
                    <a:noFill/>
                  </a:tcPr>
                </a:tc>
                <a:tc>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Profit and loss</a:t>
                      </a:r>
                    </a:p>
                  </a:txBody>
                  <a:tcPr marL="0" marR="0" marT="0" horzOverflow="overflow">
                    <a:lnL>
                      <a:noFill/>
                    </a:lnL>
                    <a:lnR cap="flat">
                      <a:noFill/>
                    </a:lnR>
                    <a:lnT>
                      <a:noFill/>
                    </a:lnT>
                    <a:lnB>
                      <a:noFill/>
                    </a:lnB>
                    <a:lnTlToBr>
                      <a:noFill/>
                    </a:lnTlToBr>
                    <a:lnBlToTr>
                      <a:noFill/>
                    </a:lnBlToTr>
                    <a:noFill/>
                  </a:tcPr>
                </a:tc>
              </a:tr>
              <a:tr h="292100">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QoE</a:t>
                      </a:r>
                    </a:p>
                  </a:txBody>
                  <a:tcPr marL="0" marR="0" marT="0" horzOverflow="overflow">
                    <a:lnL cap="flat">
                      <a:noFill/>
                    </a:lnL>
                    <a:lnR>
                      <a:noFill/>
                    </a:lnR>
                    <a:lnT>
                      <a:noFill/>
                    </a:lnT>
                    <a:lnB>
                      <a:noFill/>
                    </a:lnB>
                    <a:lnTlToBr>
                      <a:noFill/>
                    </a:lnTlToBr>
                    <a:lnBlToTr>
                      <a:noFill/>
                    </a:lnBlToTr>
                    <a:noFill/>
                  </a:tcPr>
                </a:tc>
                <a:tc>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Quality of earnings</a:t>
                      </a:r>
                    </a:p>
                  </a:txBody>
                  <a:tcPr marL="0" marR="0" marT="0" horzOverflow="overflow">
                    <a:lnL>
                      <a:noFill/>
                    </a:lnL>
                    <a:lnR cap="flat">
                      <a:noFill/>
                    </a:lnR>
                    <a:lnT>
                      <a:noFill/>
                    </a:lnT>
                    <a:lnB>
                      <a:noFill/>
                    </a:lnB>
                    <a:lnTlToBr>
                      <a:noFill/>
                    </a:lnTlToBr>
                    <a:lnBlToTr>
                      <a:noFill/>
                    </a:lnBlToTr>
                    <a:noFill/>
                  </a:tcPr>
                </a:tc>
              </a:tr>
              <a:tr h="292100">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ROA</a:t>
                      </a:r>
                    </a:p>
                  </a:txBody>
                  <a:tcPr marL="0" marR="0" marT="0" horzOverflow="overflow">
                    <a:lnL cap="flat">
                      <a:noFill/>
                    </a:lnL>
                    <a:lnR>
                      <a:noFill/>
                    </a:lnR>
                    <a:lnT>
                      <a:noFill/>
                    </a:lnT>
                    <a:lnB>
                      <a:noFill/>
                    </a:lnB>
                    <a:lnTlToBr>
                      <a:noFill/>
                    </a:lnTlToBr>
                    <a:lnBlToTr>
                      <a:noFill/>
                    </a:lnBlToTr>
                    <a:noFill/>
                  </a:tcPr>
                </a:tc>
                <a:tc>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Return on assets</a:t>
                      </a:r>
                    </a:p>
                  </a:txBody>
                  <a:tcPr marL="0" marR="0" marT="0" horzOverflow="overflow">
                    <a:lnL>
                      <a:noFill/>
                    </a:lnL>
                    <a:lnR cap="flat">
                      <a:noFill/>
                    </a:lnR>
                    <a:lnT>
                      <a:noFill/>
                    </a:lnT>
                    <a:lnB>
                      <a:noFill/>
                    </a:lnB>
                    <a:lnTlToBr>
                      <a:noFill/>
                    </a:lnTlToBr>
                    <a:lnBlToTr>
                      <a:noFill/>
                    </a:lnBlToTr>
                    <a:noFill/>
                  </a:tcPr>
                </a:tc>
              </a:tr>
              <a:tr h="292100">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ROI</a:t>
                      </a:r>
                    </a:p>
                  </a:txBody>
                  <a:tcPr marL="0" marR="0" marT="0" horzOverflow="overflow">
                    <a:lnL cap="flat">
                      <a:noFill/>
                    </a:lnL>
                    <a:lnR>
                      <a:noFill/>
                    </a:lnR>
                    <a:lnT>
                      <a:noFill/>
                    </a:lnT>
                    <a:lnB>
                      <a:noFill/>
                    </a:lnB>
                    <a:lnTlToBr>
                      <a:noFill/>
                    </a:lnTlToBr>
                    <a:lnBlToTr>
                      <a:noFill/>
                    </a:lnBlToTr>
                    <a:noFill/>
                  </a:tcPr>
                </a:tc>
                <a:tc>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Return on investment</a:t>
                      </a:r>
                    </a:p>
                  </a:txBody>
                  <a:tcPr marL="0" marR="0" marT="0" horzOverflow="overflow">
                    <a:lnL>
                      <a:noFill/>
                    </a:lnL>
                    <a:lnR cap="flat">
                      <a:noFill/>
                    </a:lnR>
                    <a:lnT>
                      <a:noFill/>
                    </a:lnT>
                    <a:lnB>
                      <a:noFill/>
                    </a:lnB>
                    <a:lnTlToBr>
                      <a:noFill/>
                    </a:lnTlToBr>
                    <a:lnBlToTr>
                      <a:noFill/>
                    </a:lnBlToTr>
                    <a:noFill/>
                  </a:tcPr>
                </a:tc>
              </a:tr>
              <a:tr h="146050">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SG&amp;A</a:t>
                      </a:r>
                    </a:p>
                  </a:txBody>
                  <a:tcPr marL="0" marR="0" marT="0" horzOverflow="overflow">
                    <a:lnL cap="flat">
                      <a:noFill/>
                    </a:lnL>
                    <a:lnR>
                      <a:noFill/>
                    </a:lnR>
                    <a:lnT>
                      <a:noFill/>
                    </a:lnT>
                    <a:lnB>
                      <a:noFill/>
                    </a:lnB>
                    <a:lnTlToBr>
                      <a:noFill/>
                    </a:lnTlToBr>
                    <a:lnBlToTr>
                      <a:noFill/>
                    </a:lnBlToTr>
                    <a:noFill/>
                  </a:tcPr>
                </a:tc>
                <a:tc rowSpan="2">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Sales, general, and administrative expenses</a:t>
                      </a:r>
                    </a:p>
                    <a:p>
                      <a:pPr marL="1588" marR="0" lvl="1" indent="0" algn="l" defTabSz="762000" rtl="0" eaLnBrk="0" fontAlgn="base" latinLnBrk="0" hangingPunct="0">
                        <a:lnSpc>
                          <a:spcPct val="79000"/>
                        </a:lnSpc>
                        <a:spcBef>
                          <a:spcPts val="40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Sponsor Finance</a:t>
                      </a:r>
                    </a:p>
                  </a:txBody>
                  <a:tcPr marL="0" marR="0" marT="0" horzOverflow="overflow">
                    <a:lnL>
                      <a:noFill/>
                    </a:lnL>
                    <a:lnR cap="flat">
                      <a:noFill/>
                    </a:lnR>
                    <a:lnT>
                      <a:noFill/>
                    </a:lnT>
                    <a:lnB>
                      <a:noFill/>
                    </a:lnB>
                    <a:lnTlToBr>
                      <a:noFill/>
                    </a:lnTlToBr>
                    <a:lnBlToTr>
                      <a:noFill/>
                    </a:lnBlToTr>
                    <a:noFill/>
                  </a:tcPr>
                </a:tc>
              </a:tr>
              <a:tr h="146050">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endParaRPr lang="en-US" sz="900" b="1" i="0" u="none" strike="noStrike" kern="1200" dirty="0" smtClean="0">
                        <a:solidFill>
                          <a:srgbClr val="00338D"/>
                        </a:solidFill>
                        <a:latin typeface="Arial"/>
                        <a:ea typeface="+mn-ea"/>
                        <a:cs typeface="+mn-cs"/>
                      </a:endParaRPr>
                    </a:p>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SF</a:t>
                      </a:r>
                    </a:p>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endParaRPr lang="en-US" sz="900" b="1" i="0" u="none" strike="noStrike" kern="1200" dirty="0" smtClean="0">
                        <a:solidFill>
                          <a:srgbClr val="00338D"/>
                        </a:solidFill>
                        <a:latin typeface="Arial"/>
                        <a:ea typeface="+mn-ea"/>
                        <a:cs typeface="+mn-cs"/>
                      </a:endParaRPr>
                    </a:p>
                  </a:txBody>
                  <a:tcPr marL="0" marR="0" marT="0" horzOverflow="overflow">
                    <a:lnL cap="flat">
                      <a:noFill/>
                    </a:lnL>
                    <a:lnR>
                      <a:noFill/>
                    </a:lnR>
                    <a:lnT>
                      <a:noFill/>
                    </a:lnT>
                    <a:lnB>
                      <a:noFill/>
                    </a:lnB>
                    <a:lnTlToBr>
                      <a:noFill/>
                    </a:lnTlToBr>
                    <a:lnBlToTr>
                      <a:noFill/>
                    </a:lnBlToTr>
                    <a:noFill/>
                  </a:tcPr>
                </a:tc>
                <a:tc vMerge="1">
                  <a:txBody>
                    <a:bodyPr/>
                    <a:lstStyle/>
                    <a:p>
                      <a:endParaRPr lang="en-US"/>
                    </a:p>
                  </a:txBody>
                  <a:tcPr/>
                </a:tc>
              </a:tr>
              <a:tr h="139700">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SIC</a:t>
                      </a:r>
                    </a:p>
                  </a:txBody>
                  <a:tcPr marL="0" marR="0" marT="0" horzOverflow="overflow">
                    <a:lnL cap="flat">
                      <a:noFill/>
                    </a:lnL>
                    <a:lnR>
                      <a:noFill/>
                    </a:lnR>
                    <a:lnT>
                      <a:noFill/>
                    </a:lnT>
                    <a:lnB>
                      <a:noFill/>
                    </a:lnB>
                    <a:lnTlToBr>
                      <a:noFill/>
                    </a:lnTlToBr>
                    <a:lnBlToTr>
                      <a:noFill/>
                    </a:lnBlToTr>
                    <a:noFill/>
                  </a:tcPr>
                </a:tc>
                <a:tc>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Sales Incentive Compensation</a:t>
                      </a:r>
                    </a:p>
                  </a:txBody>
                  <a:tcPr marL="0" marR="0" marT="0" horzOverflow="overflow">
                    <a:lnL>
                      <a:noFill/>
                    </a:lnL>
                    <a:lnR cap="flat">
                      <a:noFill/>
                    </a:lnR>
                    <a:lnT>
                      <a:noFill/>
                    </a:lnT>
                    <a:lnB>
                      <a:noFill/>
                    </a:lnB>
                    <a:lnTlToBr>
                      <a:noFill/>
                    </a:lnTlToBr>
                    <a:lnBlToTr>
                      <a:noFill/>
                    </a:lnBlToTr>
                    <a:noFill/>
                  </a:tcPr>
                </a:tc>
              </a:tr>
              <a:tr h="0">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endParaRPr lang="en-US" sz="900" b="1" i="0" u="none" strike="noStrike" kern="1200" dirty="0" smtClean="0">
                        <a:solidFill>
                          <a:srgbClr val="00338D"/>
                        </a:solidFill>
                        <a:latin typeface="Arial"/>
                        <a:ea typeface="+mn-ea"/>
                        <a:cs typeface="+mn-cs"/>
                      </a:endParaRPr>
                    </a:p>
                  </a:txBody>
                  <a:tcPr marL="0" marR="0" marT="0" horzOverflow="overflow">
                    <a:lnL cap="flat">
                      <a:noFill/>
                    </a:lnL>
                    <a:lnR>
                      <a:noFill/>
                    </a:lnR>
                    <a:lnT>
                      <a:noFill/>
                    </a:lnT>
                    <a:lnB>
                      <a:noFill/>
                    </a:lnB>
                    <a:lnTlToBr>
                      <a:noFill/>
                    </a:lnTlToBr>
                    <a:lnBlToTr>
                      <a:noFill/>
                    </a:lnBlToTr>
                    <a:noFill/>
                  </a:tcPr>
                </a:tc>
                <a:tc>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endPar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endParaRPr>
                    </a:p>
                  </a:txBody>
                  <a:tcPr marL="0" marR="0" marT="0" horzOverflow="overflow">
                    <a:lnL>
                      <a:noFill/>
                    </a:lnL>
                    <a:lnR cap="flat">
                      <a:noFill/>
                    </a:lnR>
                    <a:lnT>
                      <a:noFill/>
                    </a:lnT>
                    <a:lnB>
                      <a:noFill/>
                    </a:lnB>
                    <a:lnTlToBr>
                      <a:noFill/>
                    </a:lnTlToBr>
                    <a:lnBlToTr>
                      <a:noFill/>
                    </a:lnBlToTr>
                    <a:noFill/>
                  </a:tcPr>
                </a:tc>
              </a:tr>
              <a:tr h="292100">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SSLP</a:t>
                      </a:r>
                    </a:p>
                  </a:txBody>
                  <a:tcPr marL="0" marR="0" marT="0" horzOverflow="overflow">
                    <a:lnL cap="flat">
                      <a:noFill/>
                    </a:lnL>
                    <a:lnR>
                      <a:noFill/>
                    </a:lnR>
                    <a:lnT>
                      <a:noFill/>
                    </a:lnT>
                    <a:lnB>
                      <a:noFill/>
                    </a:lnB>
                    <a:lnTlToBr>
                      <a:noFill/>
                    </a:lnTlToBr>
                    <a:lnBlToTr>
                      <a:noFill/>
                    </a:lnBlToTr>
                    <a:noFill/>
                  </a:tcPr>
                </a:tc>
                <a:tc>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Senior Secured Loan Program</a:t>
                      </a:r>
                    </a:p>
                  </a:txBody>
                  <a:tcPr marL="0" marR="0" marT="0" horzOverflow="overflow">
                    <a:lnL>
                      <a:noFill/>
                    </a:lnL>
                    <a:lnR cap="flat">
                      <a:noFill/>
                    </a:lnR>
                    <a:lnT>
                      <a:noFill/>
                    </a:lnT>
                    <a:lnB>
                      <a:noFill/>
                    </a:lnB>
                    <a:lnTlToBr>
                      <a:noFill/>
                    </a:lnTlToBr>
                    <a:lnBlToTr>
                      <a:noFill/>
                    </a:lnBlToTr>
                    <a:noFill/>
                  </a:tcPr>
                </a:tc>
              </a:tr>
              <a:tr h="292100">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SVP</a:t>
                      </a:r>
                    </a:p>
                  </a:txBody>
                  <a:tcPr marL="0" marR="0" marT="0" horzOverflow="overflow">
                    <a:lnL cap="flat">
                      <a:noFill/>
                    </a:lnL>
                    <a:lnR>
                      <a:noFill/>
                    </a:lnR>
                    <a:lnT>
                      <a:noFill/>
                    </a:lnT>
                    <a:lnB>
                      <a:noFill/>
                    </a:lnB>
                    <a:lnTlToBr>
                      <a:noFill/>
                    </a:lnTlToBr>
                    <a:lnBlToTr>
                      <a:noFill/>
                    </a:lnBlToTr>
                    <a:noFill/>
                  </a:tcPr>
                </a:tc>
                <a:tc>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Senior Vice President</a:t>
                      </a:r>
                    </a:p>
                  </a:txBody>
                  <a:tcPr marL="0" marR="0" marT="0" horzOverflow="overflow">
                    <a:lnL>
                      <a:noFill/>
                    </a:lnL>
                    <a:lnR cap="flat">
                      <a:noFill/>
                    </a:lnR>
                    <a:lnT>
                      <a:noFill/>
                    </a:lnT>
                    <a:lnB>
                      <a:noFill/>
                    </a:lnB>
                    <a:lnTlToBr>
                      <a:noFill/>
                    </a:lnTlToBr>
                    <a:lnBlToTr>
                      <a:noFill/>
                    </a:lnBlToTr>
                    <a:noFill/>
                  </a:tcPr>
                </a:tc>
              </a:tr>
              <a:tr h="292100">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Target / Company / GEA</a:t>
                      </a:r>
                    </a:p>
                  </a:txBody>
                  <a:tcPr marL="0" marR="0" marT="0" horzOverflow="overflow">
                    <a:lnL cap="flat">
                      <a:noFill/>
                    </a:lnL>
                    <a:lnR>
                      <a:noFill/>
                    </a:lnR>
                    <a:lnT>
                      <a:noFill/>
                    </a:lnT>
                    <a:lnB>
                      <a:noFill/>
                    </a:lnB>
                    <a:lnTlToBr>
                      <a:noFill/>
                    </a:lnTlToBr>
                    <a:lnBlToTr>
                      <a:noFill/>
                    </a:lnBlToTr>
                    <a:noFill/>
                  </a:tcPr>
                </a:tc>
                <a:tc>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GE Antares Capital</a:t>
                      </a:r>
                    </a:p>
                  </a:txBody>
                  <a:tcPr marL="0" marR="0" marT="0" horzOverflow="overflow">
                    <a:lnL>
                      <a:noFill/>
                    </a:lnL>
                    <a:lnR cap="flat">
                      <a:noFill/>
                    </a:lnR>
                    <a:lnT>
                      <a:noFill/>
                    </a:lnT>
                    <a:lnB>
                      <a:noFill/>
                    </a:lnB>
                    <a:lnTlToBr>
                      <a:noFill/>
                    </a:lnTlToBr>
                    <a:lnBlToTr>
                      <a:noFill/>
                    </a:lnBlToTr>
                    <a:noFill/>
                  </a:tcPr>
                </a:tc>
              </a:tr>
              <a:tr h="292100">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T&amp;L</a:t>
                      </a:r>
                    </a:p>
                  </a:txBody>
                  <a:tcPr marL="0" marR="0" marT="0" horzOverflow="overflow">
                    <a:lnL cap="flat">
                      <a:noFill/>
                    </a:lnL>
                    <a:lnR>
                      <a:noFill/>
                    </a:lnR>
                    <a:lnT>
                      <a:noFill/>
                    </a:lnT>
                    <a:lnB>
                      <a:noFill/>
                    </a:lnB>
                    <a:lnTlToBr>
                      <a:noFill/>
                    </a:lnTlToBr>
                    <a:lnBlToTr>
                      <a:noFill/>
                    </a:lnBlToTr>
                    <a:noFill/>
                  </a:tcPr>
                </a:tc>
                <a:tc>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Travel and Living</a:t>
                      </a:r>
                    </a:p>
                  </a:txBody>
                  <a:tcPr marL="0" marR="0" marT="0" horzOverflow="overflow">
                    <a:lnL>
                      <a:noFill/>
                    </a:lnL>
                    <a:lnR cap="flat">
                      <a:noFill/>
                    </a:lnR>
                    <a:lnT>
                      <a:noFill/>
                    </a:lnT>
                    <a:lnB>
                      <a:noFill/>
                    </a:lnB>
                    <a:lnTlToBr>
                      <a:noFill/>
                    </a:lnTlToBr>
                    <a:lnBlToTr>
                      <a:noFill/>
                    </a:lnBlToTr>
                    <a:noFill/>
                  </a:tcPr>
                </a:tc>
              </a:tr>
              <a:tr h="292100">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TMT</a:t>
                      </a:r>
                    </a:p>
                  </a:txBody>
                  <a:tcPr marL="0" marR="0" marT="0" horzOverflow="overflow">
                    <a:lnL cap="flat">
                      <a:noFill/>
                    </a:lnL>
                    <a:lnR>
                      <a:noFill/>
                    </a:lnR>
                    <a:lnT>
                      <a:noFill/>
                    </a:lnT>
                    <a:lnB>
                      <a:noFill/>
                    </a:lnB>
                    <a:lnTlToBr>
                      <a:noFill/>
                    </a:lnTlToBr>
                    <a:lnBlToTr>
                      <a:noFill/>
                    </a:lnBlToTr>
                    <a:noFill/>
                  </a:tcPr>
                </a:tc>
                <a:tc>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Technology Media and Telecommunications</a:t>
                      </a:r>
                    </a:p>
                  </a:txBody>
                  <a:tcPr marL="0" marR="0" marT="0" horzOverflow="overflow">
                    <a:lnL>
                      <a:noFill/>
                    </a:lnL>
                    <a:lnR cap="flat">
                      <a:noFill/>
                    </a:lnR>
                    <a:lnT>
                      <a:noFill/>
                    </a:lnT>
                    <a:lnB>
                      <a:noFill/>
                    </a:lnB>
                    <a:lnTlToBr>
                      <a:noFill/>
                    </a:lnTlToBr>
                    <a:lnBlToTr>
                      <a:noFill/>
                    </a:lnBlToTr>
                    <a:noFill/>
                  </a:tcPr>
                </a:tc>
              </a:tr>
              <a:tr h="292100">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VDR</a:t>
                      </a:r>
                    </a:p>
                  </a:txBody>
                  <a:tcPr marL="0" marR="0" marT="0" horzOverflow="overflow">
                    <a:lnL cap="flat">
                      <a:noFill/>
                    </a:lnL>
                    <a:lnR>
                      <a:noFill/>
                    </a:lnR>
                    <a:lnT>
                      <a:noFill/>
                    </a:lnT>
                    <a:lnB>
                      <a:noFill/>
                    </a:lnB>
                    <a:lnTlToBr>
                      <a:noFill/>
                    </a:lnTlToBr>
                    <a:lnBlToTr>
                      <a:noFill/>
                    </a:lnBlToTr>
                    <a:noFill/>
                  </a:tcPr>
                </a:tc>
                <a:tc>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GE Antares virtual dataroom</a:t>
                      </a:r>
                    </a:p>
                  </a:txBody>
                  <a:tcPr marL="0" marR="0" marT="0" horzOverflow="overflow">
                    <a:lnL>
                      <a:noFill/>
                    </a:lnL>
                    <a:lnR cap="flat">
                      <a:noFill/>
                    </a:lnR>
                    <a:lnT>
                      <a:noFill/>
                    </a:lnT>
                    <a:lnB>
                      <a:noFill/>
                    </a:lnB>
                    <a:lnTlToBr>
                      <a:noFill/>
                    </a:lnTlToBr>
                    <a:lnBlToTr>
                      <a:noFill/>
                    </a:lnBlToTr>
                    <a:noFill/>
                  </a:tcPr>
                </a:tc>
              </a:tr>
            </a:tbl>
          </a:graphicData>
        </a:graphic>
      </p:graphicFrame>
      <p:graphicFrame>
        <p:nvGraphicFramePr>
          <p:cNvPr id="7" name="Group 209"/>
          <p:cNvGraphicFramePr>
            <a:graphicFrameLocks noGrp="1"/>
          </p:cNvGraphicFramePr>
          <p:nvPr>
            <p:extLst>
              <p:ext uri="{D42A27DB-BD31-4B8C-83A1-F6EECF244321}">
                <p14:modId xmlns:p14="http://schemas.microsoft.com/office/powerpoint/2010/main" val="1431189991"/>
              </p:ext>
            </p:extLst>
          </p:nvPr>
        </p:nvGraphicFramePr>
        <p:xfrm>
          <a:off x="3352800" y="1295400"/>
          <a:ext cx="2819400" cy="4376459"/>
        </p:xfrm>
        <a:graphic>
          <a:graphicData uri="http://schemas.openxmlformats.org/drawingml/2006/table">
            <a:tbl>
              <a:tblPr/>
              <a:tblGrid>
                <a:gridCol w="878537"/>
                <a:gridCol w="1940863"/>
              </a:tblGrid>
              <a:tr h="137220">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FIRPTA</a:t>
                      </a:r>
                    </a:p>
                  </a:txBody>
                  <a:tcPr marL="0" marR="0" marT="0" horzOverflow="overflow">
                    <a:lnL cap="flat">
                      <a:noFill/>
                    </a:lnL>
                    <a:lnR>
                      <a:noFill/>
                    </a:lnR>
                    <a:lnT>
                      <a:noFill/>
                    </a:lnT>
                    <a:lnB>
                      <a:noFill/>
                    </a:lnB>
                    <a:lnTlToBr>
                      <a:noFill/>
                    </a:lnTlToBr>
                    <a:lnBlToTr>
                      <a:noFill/>
                    </a:lnBlToTr>
                    <a:noFill/>
                  </a:tcPr>
                </a:tc>
                <a:tc rowSpan="2">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Foreign Investment in Real Property Act of 1980</a:t>
                      </a:r>
                    </a:p>
                  </a:txBody>
                  <a:tcPr marL="0" marR="0" marT="0" horzOverflow="overflow">
                    <a:lnL>
                      <a:noFill/>
                    </a:lnL>
                    <a:lnR cap="flat">
                      <a:noFill/>
                    </a:lnR>
                    <a:lnT>
                      <a:noFill/>
                    </a:lnT>
                    <a:lnB>
                      <a:noFill/>
                    </a:lnB>
                    <a:lnTlToBr>
                      <a:noFill/>
                    </a:lnTlToBr>
                    <a:lnBlToTr>
                      <a:noFill/>
                    </a:lnBlToTr>
                    <a:noFill/>
                  </a:tcPr>
                </a:tc>
              </a:tr>
              <a:tr h="137220">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endParaRPr lang="en-US" sz="900" b="1" i="0" u="none" strike="noStrike" kern="1200" dirty="0" smtClean="0">
                        <a:solidFill>
                          <a:srgbClr val="00338D"/>
                        </a:solidFill>
                        <a:latin typeface="Arial"/>
                        <a:ea typeface="+mn-ea"/>
                        <a:cs typeface="+mn-cs"/>
                      </a:endParaRPr>
                    </a:p>
                  </a:txBody>
                  <a:tcPr marL="0" marR="0" marT="0" horzOverflow="overflow">
                    <a:lnL cap="flat">
                      <a:noFill/>
                    </a:lnL>
                    <a:lnR>
                      <a:noFill/>
                    </a:lnR>
                    <a:lnT>
                      <a:noFill/>
                    </a:lnT>
                    <a:lnB>
                      <a:noFill/>
                    </a:lnB>
                    <a:lnTlToBr>
                      <a:noFill/>
                    </a:lnTlToBr>
                    <a:lnBlToTr>
                      <a:noFill/>
                    </a:lnBlToTr>
                    <a:noFill/>
                  </a:tcPr>
                </a:tc>
                <a:tc vMerge="1">
                  <a:txBody>
                    <a:bodyPr/>
                    <a:lstStyle/>
                    <a:p>
                      <a:endParaRPr lang="en-US"/>
                    </a:p>
                  </a:txBody>
                  <a:tcPr>
                    <a:lnL>
                      <a:noFill/>
                    </a:lnL>
                    <a:lnR cap="flat">
                      <a:noFill/>
                    </a:lnR>
                    <a:lnT>
                      <a:noFill/>
                    </a:lnT>
                    <a:lnB>
                      <a:noFill/>
                    </a:lnB>
                    <a:lnTlToBr>
                      <a:noFill/>
                    </a:lnTlToBr>
                    <a:lnBlToTr>
                      <a:noFill/>
                    </a:lnBlToTr>
                    <a:noFill/>
                  </a:tcPr>
                </a:tc>
              </a:tr>
              <a:tr h="137220">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FTE</a:t>
                      </a:r>
                    </a:p>
                  </a:txBody>
                  <a:tcPr marL="0" marR="0" marT="0" horzOverflow="overflow">
                    <a:lnL cap="flat">
                      <a:noFill/>
                    </a:lnL>
                    <a:lnR>
                      <a:noFill/>
                    </a:lnR>
                    <a:lnT>
                      <a:noFill/>
                    </a:lnT>
                    <a:lnB>
                      <a:noFill/>
                    </a:lnB>
                    <a:lnTlToBr>
                      <a:noFill/>
                    </a:lnTlToBr>
                    <a:lnBlToTr>
                      <a:noFill/>
                    </a:lnBlToTr>
                    <a:noFill/>
                  </a:tcPr>
                </a:tc>
                <a:tc rowSpan="2">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Full time employee</a:t>
                      </a:r>
                    </a:p>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endPar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endParaRPr>
                    </a:p>
                    <a:p>
                      <a:pPr marL="1588" marR="0" lvl="1" indent="0" algn="l" defTabSz="762000" rtl="0" eaLnBrk="0" fontAlgn="base" latinLnBrk="0" hangingPunct="0">
                        <a:lnSpc>
                          <a:spcPct val="79000"/>
                        </a:lnSpc>
                        <a:spcBef>
                          <a:spcPts val="40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Financial Planning and Analysis</a:t>
                      </a:r>
                    </a:p>
                  </a:txBody>
                  <a:tcPr marL="0" marR="0" marT="0" horzOverflow="overflow">
                    <a:lnL>
                      <a:noFill/>
                    </a:lnL>
                    <a:lnR cap="flat">
                      <a:noFill/>
                    </a:lnR>
                    <a:lnT>
                      <a:noFill/>
                    </a:lnT>
                    <a:lnB>
                      <a:noFill/>
                    </a:lnB>
                    <a:lnTlToBr>
                      <a:noFill/>
                    </a:lnTlToBr>
                    <a:lnBlToTr>
                      <a:noFill/>
                    </a:lnBlToTr>
                    <a:noFill/>
                  </a:tcPr>
                </a:tc>
              </a:tr>
              <a:tr h="137220">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endParaRPr lang="en-US" sz="900" b="1" i="0" u="none" strike="noStrike" kern="1200" dirty="0" smtClean="0">
                        <a:solidFill>
                          <a:srgbClr val="00338D"/>
                        </a:solidFill>
                        <a:latin typeface="Arial"/>
                        <a:ea typeface="+mn-ea"/>
                        <a:cs typeface="+mn-cs"/>
                      </a:endParaRPr>
                    </a:p>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FP&amp;A</a:t>
                      </a:r>
                    </a:p>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endParaRPr lang="en-US" sz="900" b="1" i="0" u="none" strike="noStrike" kern="1200" dirty="0" smtClean="0">
                        <a:solidFill>
                          <a:srgbClr val="00338D"/>
                        </a:solidFill>
                        <a:latin typeface="Arial"/>
                        <a:ea typeface="+mn-ea"/>
                        <a:cs typeface="+mn-cs"/>
                      </a:endParaRPr>
                    </a:p>
                  </a:txBody>
                  <a:tcPr marL="0" marR="0" marT="0" horzOverflow="overflow">
                    <a:lnL cap="flat">
                      <a:noFill/>
                    </a:lnL>
                    <a:lnR>
                      <a:noFill/>
                    </a:lnR>
                    <a:lnT>
                      <a:noFill/>
                    </a:lnT>
                    <a:lnB>
                      <a:noFill/>
                    </a:lnB>
                    <a:lnTlToBr>
                      <a:noFill/>
                    </a:lnTlToBr>
                    <a:lnBlToTr>
                      <a:noFill/>
                    </a:lnBlToTr>
                    <a:noFill/>
                  </a:tcPr>
                </a:tc>
                <a:tc vMerge="1">
                  <a:txBody>
                    <a:bodyPr/>
                    <a:lstStyle/>
                    <a:p>
                      <a:endParaRPr lang="en-US"/>
                    </a:p>
                  </a:txBody>
                  <a:tcPr/>
                </a:tc>
              </a:tr>
              <a:tr h="274439">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FV</a:t>
                      </a:r>
                    </a:p>
                  </a:txBody>
                  <a:tcPr marL="0" marR="0" marT="0" horzOverflow="overflow">
                    <a:lnL cap="flat">
                      <a:noFill/>
                    </a:lnL>
                    <a:lnR>
                      <a:noFill/>
                    </a:lnR>
                    <a:lnT>
                      <a:noFill/>
                    </a:lnT>
                    <a:lnB>
                      <a:noFill/>
                    </a:lnB>
                    <a:lnTlToBr>
                      <a:noFill/>
                    </a:lnTlToBr>
                    <a:lnBlToTr>
                      <a:noFill/>
                    </a:lnBlToTr>
                    <a:noFill/>
                  </a:tcPr>
                </a:tc>
                <a:tc>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Fair Value</a:t>
                      </a:r>
                    </a:p>
                  </a:txBody>
                  <a:tcPr marL="0" marR="0" marT="0" horzOverflow="overflow">
                    <a:lnL>
                      <a:noFill/>
                    </a:lnL>
                    <a:lnR cap="flat">
                      <a:noFill/>
                    </a:lnR>
                    <a:lnT>
                      <a:noFill/>
                    </a:lnT>
                    <a:lnB>
                      <a:noFill/>
                    </a:lnB>
                    <a:lnTlToBr>
                      <a:noFill/>
                    </a:lnTlToBr>
                    <a:lnBlToTr>
                      <a:noFill/>
                    </a:lnBlToTr>
                    <a:noFill/>
                  </a:tcPr>
                </a:tc>
              </a:tr>
              <a:tr h="274439">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GE / Parent</a:t>
                      </a:r>
                    </a:p>
                  </a:txBody>
                  <a:tcPr marL="0" marR="0" marT="0" horzOverflow="overflow">
                    <a:lnL cap="flat">
                      <a:noFill/>
                    </a:lnL>
                    <a:lnR>
                      <a:noFill/>
                    </a:lnR>
                    <a:lnT>
                      <a:noFill/>
                    </a:lnT>
                    <a:lnB>
                      <a:noFill/>
                    </a:lnB>
                    <a:lnTlToBr>
                      <a:noFill/>
                    </a:lnTlToBr>
                    <a:lnBlToTr>
                      <a:noFill/>
                    </a:lnBlToTr>
                    <a:noFill/>
                  </a:tcPr>
                </a:tc>
                <a:tc>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General Electric Corporation</a:t>
                      </a:r>
                    </a:p>
                  </a:txBody>
                  <a:tcPr marL="0" marR="0" marT="0" horzOverflow="overflow">
                    <a:lnL>
                      <a:noFill/>
                    </a:lnL>
                    <a:lnR cap="flat">
                      <a:noFill/>
                    </a:lnR>
                    <a:lnT>
                      <a:noFill/>
                    </a:lnT>
                    <a:lnB>
                      <a:noFill/>
                    </a:lnB>
                    <a:lnTlToBr>
                      <a:noFill/>
                    </a:lnTlToBr>
                    <a:lnBlToTr>
                      <a:noFill/>
                    </a:lnBlToTr>
                    <a:noFill/>
                  </a:tcPr>
                </a:tc>
              </a:tr>
              <a:tr h="274439">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GECC / GE Capital</a:t>
                      </a:r>
                    </a:p>
                  </a:txBody>
                  <a:tcPr marL="0" marR="0" marT="0" horzOverflow="overflow">
                    <a:lnL cap="flat">
                      <a:noFill/>
                    </a:lnL>
                    <a:lnR>
                      <a:noFill/>
                    </a:lnR>
                    <a:lnT>
                      <a:noFill/>
                    </a:lnT>
                    <a:lnB>
                      <a:noFill/>
                    </a:lnB>
                    <a:lnTlToBr>
                      <a:noFill/>
                    </a:lnTlToBr>
                    <a:lnBlToTr>
                      <a:noFill/>
                    </a:lnBlToTr>
                    <a:noFill/>
                  </a:tcPr>
                </a:tc>
                <a:tc>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General Electric Capital Corporation</a:t>
                      </a:r>
                    </a:p>
                  </a:txBody>
                  <a:tcPr marL="0" marR="0" marT="0" horzOverflow="overflow">
                    <a:lnL>
                      <a:noFill/>
                    </a:lnL>
                    <a:lnR cap="flat">
                      <a:noFill/>
                    </a:lnR>
                    <a:lnT>
                      <a:noFill/>
                    </a:lnT>
                    <a:lnB>
                      <a:noFill/>
                    </a:lnB>
                    <a:lnTlToBr>
                      <a:noFill/>
                    </a:lnTlToBr>
                    <a:lnBlToTr>
                      <a:noFill/>
                    </a:lnBlToTr>
                    <a:noFill/>
                  </a:tcPr>
                </a:tc>
              </a:tr>
              <a:tr h="274439">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GSP</a:t>
                      </a:r>
                    </a:p>
                  </a:txBody>
                  <a:tcPr marL="0" marR="0" marT="0" horzOverflow="overflow">
                    <a:lnL cap="flat">
                      <a:noFill/>
                    </a:lnL>
                    <a:lnR>
                      <a:noFill/>
                    </a:lnR>
                    <a:lnT>
                      <a:noFill/>
                    </a:lnT>
                    <a:lnB>
                      <a:noFill/>
                    </a:lnB>
                    <a:lnTlToBr>
                      <a:noFill/>
                    </a:lnTlToBr>
                    <a:lnBlToTr>
                      <a:noFill/>
                    </a:lnBlToTr>
                    <a:noFill/>
                  </a:tcPr>
                </a:tc>
                <a:tc>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Guaranteed Sales Incentive Compensation Program</a:t>
                      </a:r>
                    </a:p>
                  </a:txBody>
                  <a:tcPr marL="0" marR="0" marT="0" horzOverflow="overflow">
                    <a:lnL>
                      <a:noFill/>
                    </a:lnL>
                    <a:lnR cap="flat">
                      <a:noFill/>
                    </a:lnR>
                    <a:lnT>
                      <a:noFill/>
                    </a:lnT>
                    <a:lnB>
                      <a:noFill/>
                    </a:lnB>
                    <a:lnTlToBr>
                      <a:noFill/>
                    </a:lnTlToBr>
                    <a:lnBlToTr>
                      <a:noFill/>
                    </a:lnBlToTr>
                    <a:noFill/>
                  </a:tcPr>
                </a:tc>
              </a:tr>
              <a:tr h="274439">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HR</a:t>
                      </a:r>
                    </a:p>
                  </a:txBody>
                  <a:tcPr marL="0" marR="0" marT="0" horzOverflow="overflow">
                    <a:lnL cap="flat">
                      <a:noFill/>
                    </a:lnL>
                    <a:lnR>
                      <a:noFill/>
                    </a:lnR>
                    <a:lnT>
                      <a:noFill/>
                    </a:lnT>
                    <a:lnB>
                      <a:noFill/>
                    </a:lnB>
                    <a:lnTlToBr>
                      <a:noFill/>
                    </a:lnTlToBr>
                    <a:lnBlToTr>
                      <a:noFill/>
                    </a:lnBlToTr>
                    <a:noFill/>
                  </a:tcPr>
                </a:tc>
                <a:tc>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Human Resources</a:t>
                      </a:r>
                    </a:p>
                  </a:txBody>
                  <a:tcPr marL="0" marR="0" marT="0" horzOverflow="overflow">
                    <a:lnL>
                      <a:noFill/>
                    </a:lnL>
                    <a:lnR cap="flat">
                      <a:noFill/>
                    </a:lnR>
                    <a:lnT>
                      <a:noFill/>
                    </a:lnT>
                    <a:lnB>
                      <a:noFill/>
                    </a:lnB>
                    <a:lnTlToBr>
                      <a:noFill/>
                    </a:lnTlToBr>
                    <a:lnBlToTr>
                      <a:noFill/>
                    </a:lnBlToTr>
                    <a:noFill/>
                  </a:tcPr>
                </a:tc>
              </a:tr>
              <a:tr h="274439">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JV</a:t>
                      </a:r>
                    </a:p>
                  </a:txBody>
                  <a:tcPr marL="0" marR="0" marT="0" horzOverflow="overflow">
                    <a:lnL cap="flat">
                      <a:noFill/>
                    </a:lnL>
                    <a:lnR>
                      <a:noFill/>
                    </a:lnR>
                    <a:lnT>
                      <a:noFill/>
                    </a:lnT>
                    <a:lnB>
                      <a:noFill/>
                    </a:lnB>
                    <a:lnTlToBr>
                      <a:noFill/>
                    </a:lnTlToBr>
                    <a:lnBlToTr>
                      <a:noFill/>
                    </a:lnBlToTr>
                    <a:noFill/>
                  </a:tcPr>
                </a:tc>
                <a:tc>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Joint venture</a:t>
                      </a:r>
                    </a:p>
                  </a:txBody>
                  <a:tcPr marL="0" marR="0" marT="0" horzOverflow="overflow">
                    <a:lnL>
                      <a:noFill/>
                    </a:lnL>
                    <a:lnR cap="flat">
                      <a:noFill/>
                    </a:lnR>
                    <a:lnT>
                      <a:noFill/>
                    </a:lnT>
                    <a:lnB>
                      <a:noFill/>
                    </a:lnB>
                    <a:lnTlToBr>
                      <a:noFill/>
                    </a:lnTlToBr>
                    <a:lnBlToTr>
                      <a:noFill/>
                    </a:lnBlToTr>
                    <a:noFill/>
                  </a:tcPr>
                </a:tc>
              </a:tr>
              <a:tr h="274439">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LBO</a:t>
                      </a:r>
                    </a:p>
                  </a:txBody>
                  <a:tcPr marL="0" marR="0" marT="0" horzOverflow="overflow">
                    <a:lnL cap="flat">
                      <a:noFill/>
                    </a:lnL>
                    <a:lnR>
                      <a:noFill/>
                    </a:lnR>
                    <a:lnT>
                      <a:noFill/>
                    </a:lnT>
                    <a:lnB>
                      <a:noFill/>
                    </a:lnB>
                    <a:lnTlToBr>
                      <a:noFill/>
                    </a:lnTlToBr>
                    <a:lnBlToTr>
                      <a:noFill/>
                    </a:lnBlToTr>
                    <a:noFill/>
                  </a:tcPr>
                </a:tc>
                <a:tc>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Leveraged buyout</a:t>
                      </a:r>
                    </a:p>
                  </a:txBody>
                  <a:tcPr marL="0" marR="0" marT="0" horzOverflow="overflow">
                    <a:lnL>
                      <a:noFill/>
                    </a:lnL>
                    <a:lnR cap="flat">
                      <a:noFill/>
                    </a:lnR>
                    <a:lnT>
                      <a:noFill/>
                    </a:lnT>
                    <a:lnB>
                      <a:noFill/>
                    </a:lnB>
                    <a:lnTlToBr>
                      <a:noFill/>
                    </a:lnTlToBr>
                    <a:lnBlToTr>
                      <a:noFill/>
                    </a:lnBlToTr>
                    <a:noFill/>
                  </a:tcPr>
                </a:tc>
              </a:tr>
              <a:tr h="274439">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MD</a:t>
                      </a:r>
                    </a:p>
                  </a:txBody>
                  <a:tcPr marL="0" marR="0" marT="0" horzOverflow="overflow">
                    <a:lnL cap="flat">
                      <a:noFill/>
                    </a:lnL>
                    <a:lnR>
                      <a:noFill/>
                    </a:lnR>
                    <a:lnT>
                      <a:noFill/>
                    </a:lnT>
                    <a:lnB>
                      <a:noFill/>
                    </a:lnB>
                    <a:lnTlToBr>
                      <a:noFill/>
                    </a:lnTlToBr>
                    <a:lnBlToTr>
                      <a:noFill/>
                    </a:lnBlToTr>
                    <a:noFill/>
                  </a:tcPr>
                </a:tc>
                <a:tc>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Managing Director</a:t>
                      </a:r>
                    </a:p>
                  </a:txBody>
                  <a:tcPr marL="0" marR="0" marT="0" horzOverflow="overflow">
                    <a:lnL>
                      <a:noFill/>
                    </a:lnL>
                    <a:lnR cap="flat">
                      <a:noFill/>
                    </a:lnR>
                    <a:lnT>
                      <a:noFill/>
                    </a:lnT>
                    <a:lnB>
                      <a:noFill/>
                    </a:lnB>
                    <a:lnTlToBr>
                      <a:noFill/>
                    </a:lnTlToBr>
                    <a:lnBlToTr>
                      <a:noFill/>
                    </a:lnBlToTr>
                    <a:noFill/>
                  </a:tcPr>
                </a:tc>
              </a:tr>
              <a:tr h="137220">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MMGP</a:t>
                      </a:r>
                    </a:p>
                  </a:txBody>
                  <a:tcPr marL="0" marR="0" marT="0" horzOverflow="overflow">
                    <a:lnL cap="flat">
                      <a:noFill/>
                    </a:lnL>
                    <a:lnR>
                      <a:noFill/>
                    </a:lnR>
                    <a:lnT>
                      <a:noFill/>
                    </a:lnT>
                    <a:lnB>
                      <a:noFill/>
                    </a:lnB>
                    <a:lnTlToBr>
                      <a:noFill/>
                    </a:lnTlToBr>
                    <a:lnBlToTr>
                      <a:noFill/>
                    </a:lnBlToTr>
                    <a:noFill/>
                  </a:tcPr>
                </a:tc>
                <a:tc rowSpan="2">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Middle Market Growth Program</a:t>
                      </a:r>
                    </a:p>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endPar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endParaRPr>
                    </a:p>
                    <a:p>
                      <a:pPr marL="1588" marR="0" lvl="1" indent="0" algn="l" defTabSz="762000" rtl="0" eaLnBrk="0" fontAlgn="base" latinLnBrk="0" hangingPunct="0">
                        <a:lnSpc>
                          <a:spcPct val="79000"/>
                        </a:lnSpc>
                        <a:spcBef>
                          <a:spcPts val="40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Manual Journal Entry</a:t>
                      </a:r>
                    </a:p>
                  </a:txBody>
                  <a:tcPr marL="0" marR="0" marT="0" horzOverflow="overflow">
                    <a:lnL>
                      <a:noFill/>
                    </a:lnL>
                    <a:lnR cap="flat">
                      <a:noFill/>
                    </a:lnR>
                    <a:lnT>
                      <a:noFill/>
                    </a:lnT>
                    <a:lnB>
                      <a:noFill/>
                    </a:lnB>
                    <a:lnTlToBr>
                      <a:noFill/>
                    </a:lnTlToBr>
                    <a:lnBlToTr>
                      <a:noFill/>
                    </a:lnBlToTr>
                    <a:noFill/>
                  </a:tcPr>
                </a:tc>
              </a:tr>
              <a:tr h="137220">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endParaRPr lang="en-US" sz="900" b="1" i="0" u="none" strike="noStrike" kern="1200" dirty="0" smtClean="0">
                        <a:solidFill>
                          <a:srgbClr val="00338D"/>
                        </a:solidFill>
                        <a:latin typeface="Arial"/>
                        <a:ea typeface="+mn-ea"/>
                        <a:cs typeface="+mn-cs"/>
                      </a:endParaRPr>
                    </a:p>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MJE</a:t>
                      </a:r>
                    </a:p>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endParaRPr lang="en-US" sz="900" b="1" i="0" u="none" strike="noStrike" kern="1200" dirty="0" smtClean="0">
                        <a:solidFill>
                          <a:srgbClr val="00338D"/>
                        </a:solidFill>
                        <a:latin typeface="Arial"/>
                        <a:ea typeface="+mn-ea"/>
                        <a:cs typeface="+mn-cs"/>
                      </a:endParaRPr>
                    </a:p>
                  </a:txBody>
                  <a:tcPr marL="0" marR="0" marT="0" horzOverflow="overflow">
                    <a:lnL cap="flat">
                      <a:noFill/>
                    </a:lnL>
                    <a:lnR>
                      <a:noFill/>
                    </a:lnR>
                    <a:lnT>
                      <a:noFill/>
                    </a:lnT>
                    <a:lnB>
                      <a:noFill/>
                    </a:lnB>
                    <a:lnTlToBr>
                      <a:noFill/>
                    </a:lnTlToBr>
                    <a:lnBlToTr>
                      <a:noFill/>
                    </a:lnBlToTr>
                    <a:noFill/>
                  </a:tcPr>
                </a:tc>
                <a:tc vMerge="1">
                  <a:txBody>
                    <a:bodyPr/>
                    <a:lstStyle/>
                    <a:p>
                      <a:endParaRPr lang="en-US"/>
                    </a:p>
                  </a:txBody>
                  <a:tcPr/>
                </a:tc>
              </a:tr>
              <a:tr h="274439">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NBM</a:t>
                      </a:r>
                    </a:p>
                  </a:txBody>
                  <a:tcPr marL="0" marR="0" marT="0" horzOverflow="overflow">
                    <a:lnL cap="flat">
                      <a:noFill/>
                    </a:lnL>
                    <a:lnR>
                      <a:noFill/>
                    </a:lnR>
                    <a:lnT>
                      <a:noFill/>
                    </a:lnT>
                    <a:lnB>
                      <a:noFill/>
                    </a:lnB>
                    <a:lnTlToBr>
                      <a:noFill/>
                    </a:lnTlToBr>
                    <a:lnBlToTr>
                      <a:noFill/>
                    </a:lnBlToTr>
                    <a:noFill/>
                  </a:tcPr>
                </a:tc>
                <a:tc>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New Business Margin</a:t>
                      </a:r>
                    </a:p>
                  </a:txBody>
                  <a:tcPr marL="0" marR="0" marT="0" horzOverflow="overflow">
                    <a:lnL>
                      <a:noFill/>
                    </a:lnL>
                    <a:lnR cap="flat">
                      <a:noFill/>
                    </a:lnR>
                    <a:lnT>
                      <a:noFill/>
                    </a:lnT>
                    <a:lnB>
                      <a:noFill/>
                    </a:lnB>
                    <a:lnTlToBr>
                      <a:noFill/>
                    </a:lnTlToBr>
                    <a:lnBlToTr>
                      <a:noFill/>
                    </a:lnBlToTr>
                    <a:noFill/>
                  </a:tcPr>
                </a:tc>
              </a:tr>
              <a:tr h="274439">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NCO</a:t>
                      </a:r>
                    </a:p>
                  </a:txBody>
                  <a:tcPr marL="0" marR="0" marT="0" horzOverflow="overflow">
                    <a:lnL cap="flat">
                      <a:noFill/>
                    </a:lnL>
                    <a:lnR>
                      <a:noFill/>
                    </a:lnR>
                    <a:lnT>
                      <a:noFill/>
                    </a:lnT>
                    <a:lnB>
                      <a:noFill/>
                    </a:lnB>
                    <a:lnTlToBr>
                      <a:noFill/>
                    </a:lnTlToBr>
                    <a:lnBlToTr>
                      <a:noFill/>
                    </a:lnBlToTr>
                    <a:noFill/>
                  </a:tcPr>
                </a:tc>
                <a:tc>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Net Charge-offs</a:t>
                      </a:r>
                    </a:p>
                  </a:txBody>
                  <a:tcPr marL="0" marR="0" marT="0" horzOverflow="overflow">
                    <a:lnL>
                      <a:noFill/>
                    </a:lnL>
                    <a:lnR cap="flat">
                      <a:noFill/>
                    </a:lnR>
                    <a:lnT>
                      <a:noFill/>
                    </a:lnT>
                    <a:lnB>
                      <a:noFill/>
                    </a:lnB>
                    <a:lnTlToBr>
                      <a:noFill/>
                    </a:lnTlToBr>
                    <a:lnBlToTr>
                      <a:noFill/>
                    </a:lnBlToTr>
                    <a:noFill/>
                  </a:tcPr>
                </a:tc>
              </a:tr>
              <a:tr h="274439">
                <a:tc>
                  <a:txBody>
                    <a:bodyPr/>
                    <a:lstStyle/>
                    <a:p>
                      <a:pPr marL="0" marR="0" lvl="1" indent="0" algn="l" defTabSz="914400" rtl="0" eaLnBrk="1" fontAlgn="b" latinLnBrk="0" hangingPunct="1">
                        <a:lnSpc>
                          <a:spcPct val="79000"/>
                        </a:lnSpc>
                        <a:spcBef>
                          <a:spcPts val="0"/>
                        </a:spcBef>
                        <a:spcAft>
                          <a:spcPct val="0"/>
                        </a:spcAft>
                        <a:buClr>
                          <a:schemeClr val="tx2"/>
                        </a:buClr>
                        <a:buSzPct val="85000"/>
                        <a:buFont typeface="Wingdings" pitchFamily="2" charset="2"/>
                        <a:buNone/>
                        <a:tabLst/>
                      </a:pPr>
                      <a:r>
                        <a:rPr lang="en-US" sz="900" b="1" i="0" u="none" strike="noStrike" kern="1200" dirty="0" smtClean="0">
                          <a:solidFill>
                            <a:srgbClr val="00338D"/>
                          </a:solidFill>
                          <a:latin typeface="Arial"/>
                          <a:ea typeface="+mn-ea"/>
                          <a:cs typeface="+mn-cs"/>
                        </a:rPr>
                        <a:t>NIM</a:t>
                      </a:r>
                    </a:p>
                  </a:txBody>
                  <a:tcPr marL="0" marR="0" marT="0" horzOverflow="overflow">
                    <a:lnL cap="flat">
                      <a:noFill/>
                    </a:lnL>
                    <a:lnR>
                      <a:noFill/>
                    </a:lnR>
                    <a:lnT>
                      <a:noFill/>
                    </a:lnT>
                    <a:lnB>
                      <a:noFill/>
                    </a:lnB>
                    <a:lnTlToBr>
                      <a:noFill/>
                    </a:lnTlToBr>
                    <a:lnBlToTr>
                      <a:noFill/>
                    </a:lnBlToTr>
                    <a:noFill/>
                  </a:tcPr>
                </a:tc>
                <a:tc>
                  <a:txBody>
                    <a:bodyPr/>
                    <a:lstStyle/>
                    <a:p>
                      <a:pPr marL="1588" marR="0" lvl="1" indent="0" algn="l" defTabSz="762000" rtl="0" eaLnBrk="0" fontAlgn="base" latinLnBrk="0" hangingPunct="0">
                        <a:lnSpc>
                          <a:spcPct val="79000"/>
                        </a:lnSpc>
                        <a:spcBef>
                          <a:spcPts val="0"/>
                        </a:spcBef>
                        <a:spcAft>
                          <a:spcPct val="0"/>
                        </a:spcAft>
                        <a:buClr>
                          <a:schemeClr val="tx2"/>
                        </a:buClr>
                        <a:buSzPct val="85000"/>
                        <a:buFont typeface="Wingdings" pitchFamily="2" charset="2"/>
                        <a:buNone/>
                        <a:tabLst/>
                        <a:defRPr/>
                      </a:pPr>
                      <a:r>
                        <a:rPr kumimoji="0" lang="en-US" sz="900" b="0" i="0" u="none" strike="noStrike" kern="1200" cap="none" normalizeH="0" baseline="0" dirty="0" smtClean="0">
                          <a:ln>
                            <a:noFill/>
                          </a:ln>
                          <a:solidFill>
                            <a:schemeClr val="tx1"/>
                          </a:solidFill>
                          <a:effectLst/>
                          <a:latin typeface="Arial" pitchFamily="34" charset="0"/>
                          <a:ea typeface="+mn-ea"/>
                          <a:cs typeface="Arial" pitchFamily="34" charset="0"/>
                        </a:rPr>
                        <a:t>Net Interest Margin</a:t>
                      </a:r>
                    </a:p>
                  </a:txBody>
                  <a:tcPr marL="0" marR="0" marT="0" horzOverflow="overflow">
                    <a:lnL>
                      <a:noFill/>
                    </a:lnL>
                    <a:lnR cap="flat">
                      <a:noFill/>
                    </a:lnR>
                    <a:lnT>
                      <a:noFill/>
                    </a:lnT>
                    <a:lnB>
                      <a:noFill/>
                    </a:lnB>
                    <a:lnTlToBr>
                      <a:noFill/>
                    </a:lnTlToBr>
                    <a:lnBlToTr>
                      <a:noFill/>
                    </a:lnBlToTr>
                    <a:noFill/>
                  </a:tcPr>
                </a:tc>
              </a:tr>
            </a:tbl>
          </a:graphicData>
        </a:graphic>
      </p:graphicFrame>
    </p:spTree>
    <p:extLst>
      <p:ext uri="{BB962C8B-B14F-4D97-AF65-F5344CB8AC3E}">
        <p14:creationId xmlns:p14="http://schemas.microsoft.com/office/powerpoint/2010/main" val="18484686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Contents</a:t>
            </a:r>
            <a:endParaRPr lang="en-US" dirty="0"/>
          </a:p>
        </p:txBody>
      </p:sp>
      <p:sp>
        <p:nvSpPr>
          <p:cNvPr id="3" name="Text Placeholder 2"/>
          <p:cNvSpPr>
            <a:spLocks noGrp="1"/>
          </p:cNvSpPr>
          <p:nvPr>
            <p:ph type="body" sz="quarter" idx="12"/>
          </p:nvPr>
        </p:nvSpPr>
        <p:spPr>
          <a:xfrm>
            <a:off x="252046" y="1195200"/>
            <a:ext cx="1655658" cy="4895850"/>
          </a:xfrm>
        </p:spPr>
        <p:txBody>
          <a:bodyPr/>
          <a:lstStyle/>
          <a:p>
            <a:pPr>
              <a:tabLst>
                <a:tab pos="361950" algn="l"/>
              </a:tabLst>
            </a:pPr>
            <a:r>
              <a:rPr lang="en-US" dirty="0" smtClean="0">
                <a:latin typeface="Arial"/>
              </a:rPr>
              <a:t>The contacts at KPMG </a:t>
            </a:r>
            <a:br>
              <a:rPr lang="en-US" dirty="0" smtClean="0">
                <a:latin typeface="Arial"/>
              </a:rPr>
            </a:br>
            <a:r>
              <a:rPr lang="en-US" dirty="0" smtClean="0">
                <a:latin typeface="Arial"/>
              </a:rPr>
              <a:t>in connection with this </a:t>
            </a:r>
            <a:br>
              <a:rPr lang="en-US" dirty="0" smtClean="0">
                <a:latin typeface="Arial"/>
              </a:rPr>
            </a:br>
            <a:r>
              <a:rPr lang="en-US" dirty="0" smtClean="0">
                <a:latin typeface="Arial"/>
              </a:rPr>
              <a:t>report are:</a:t>
            </a:r>
          </a:p>
          <a:p>
            <a:pPr>
              <a:lnSpc>
                <a:spcPct val="100000"/>
              </a:lnSpc>
              <a:tabLst>
                <a:tab pos="361950" algn="l"/>
              </a:tabLst>
            </a:pPr>
            <a:endParaRPr lang="en-US" dirty="0">
              <a:latin typeface="Arial"/>
            </a:endParaRPr>
          </a:p>
          <a:p>
            <a:pPr>
              <a:lnSpc>
                <a:spcPct val="100000"/>
              </a:lnSpc>
              <a:spcBef>
                <a:spcPts val="0"/>
              </a:spcBef>
              <a:tabLst>
                <a:tab pos="361950" algn="l"/>
              </a:tabLst>
            </a:pPr>
            <a:r>
              <a:rPr lang="en-US" dirty="0" smtClean="0">
                <a:latin typeface="Arial"/>
              </a:rPr>
              <a:t>Georges Pigeon</a:t>
            </a:r>
            <a:r>
              <a:rPr lang="en-US" dirty="0">
                <a:latin typeface="Arial"/>
              </a:rPr>
              <a:t/>
            </a:r>
            <a:br>
              <a:rPr lang="en-US" dirty="0">
                <a:latin typeface="Arial"/>
              </a:rPr>
            </a:br>
            <a:r>
              <a:rPr lang="en-US" b="0" dirty="0" smtClean="0">
                <a:latin typeface="Arial"/>
              </a:rPr>
              <a:t>Deal Advisory </a:t>
            </a:r>
            <a:r>
              <a:rPr lang="en-US" b="0" dirty="0">
                <a:latin typeface="Arial"/>
              </a:rPr>
              <a:t/>
            </a:r>
            <a:br>
              <a:rPr lang="en-US" b="0" dirty="0">
                <a:latin typeface="Arial"/>
              </a:rPr>
            </a:br>
            <a:r>
              <a:rPr lang="en-US" b="0" i="1" dirty="0">
                <a:latin typeface="Arial"/>
              </a:rPr>
              <a:t>Partner, </a:t>
            </a:r>
            <a:r>
              <a:rPr lang="en-US" b="0" i="1" dirty="0" smtClean="0">
                <a:latin typeface="Arial"/>
              </a:rPr>
              <a:t>Montreal </a:t>
            </a:r>
            <a:endParaRPr lang="en-US" b="0" i="1" dirty="0">
              <a:latin typeface="Arial"/>
            </a:endParaRPr>
          </a:p>
          <a:p>
            <a:pPr>
              <a:lnSpc>
                <a:spcPct val="100000"/>
              </a:lnSpc>
              <a:spcBef>
                <a:spcPts val="0"/>
              </a:spcBef>
              <a:tabLst>
                <a:tab pos="361950" algn="l"/>
              </a:tabLst>
            </a:pPr>
            <a:r>
              <a:rPr lang="en-US" b="0" dirty="0">
                <a:latin typeface="Arial"/>
              </a:rPr>
              <a:t>Tel:	+1 </a:t>
            </a:r>
            <a:r>
              <a:rPr lang="en-US" b="0" dirty="0" smtClean="0">
                <a:latin typeface="Arial"/>
              </a:rPr>
              <a:t>514 840 2178</a:t>
            </a:r>
            <a:r>
              <a:rPr lang="en-US" b="0" dirty="0">
                <a:latin typeface="Arial"/>
              </a:rPr>
              <a:t/>
            </a:r>
            <a:br>
              <a:rPr lang="en-US" b="0" dirty="0">
                <a:latin typeface="Arial"/>
              </a:rPr>
            </a:br>
            <a:r>
              <a:rPr lang="en-US" sz="800" b="0" dirty="0" smtClean="0">
                <a:latin typeface="Arial"/>
              </a:rPr>
              <a:t>georgespigeon@kpmg.ca</a:t>
            </a:r>
          </a:p>
          <a:p>
            <a:pPr>
              <a:lnSpc>
                <a:spcPct val="100000"/>
              </a:lnSpc>
              <a:tabLst>
                <a:tab pos="361950" algn="l"/>
              </a:tabLst>
            </a:pPr>
            <a:endParaRPr lang="en-US" dirty="0" smtClean="0">
              <a:latin typeface="Arial"/>
            </a:endParaRPr>
          </a:p>
          <a:p>
            <a:pPr>
              <a:lnSpc>
                <a:spcPct val="100000"/>
              </a:lnSpc>
              <a:spcBef>
                <a:spcPts val="0"/>
              </a:spcBef>
              <a:tabLst>
                <a:tab pos="361950" algn="l"/>
              </a:tabLst>
            </a:pPr>
            <a:endParaRPr lang="en-US" dirty="0" smtClean="0">
              <a:latin typeface="Arial"/>
            </a:endParaRPr>
          </a:p>
          <a:p>
            <a:pPr>
              <a:lnSpc>
                <a:spcPct val="100000"/>
              </a:lnSpc>
              <a:spcBef>
                <a:spcPts val="0"/>
              </a:spcBef>
              <a:tabLst>
                <a:tab pos="361950" algn="l"/>
              </a:tabLst>
            </a:pPr>
            <a:r>
              <a:rPr lang="en-US" dirty="0" smtClean="0">
                <a:latin typeface="Arial"/>
              </a:rPr>
              <a:t>Timothy Johnson</a:t>
            </a:r>
            <a:r>
              <a:rPr lang="en-US" dirty="0">
                <a:latin typeface="Arial"/>
              </a:rPr>
              <a:t/>
            </a:r>
            <a:br>
              <a:rPr lang="en-US" dirty="0">
                <a:latin typeface="Arial"/>
              </a:rPr>
            </a:br>
            <a:r>
              <a:rPr lang="en-US" b="0" dirty="0" smtClean="0">
                <a:latin typeface="Arial"/>
              </a:rPr>
              <a:t>Deal Advisory </a:t>
            </a:r>
            <a:r>
              <a:rPr lang="en-US" b="0" dirty="0">
                <a:latin typeface="Arial"/>
              </a:rPr>
              <a:t/>
            </a:r>
            <a:br>
              <a:rPr lang="en-US" b="0" dirty="0">
                <a:latin typeface="Arial"/>
              </a:rPr>
            </a:br>
            <a:r>
              <a:rPr lang="en-US" b="0" i="1" dirty="0" smtClean="0">
                <a:latin typeface="Arial"/>
              </a:rPr>
              <a:t>Partner, Chicago </a:t>
            </a:r>
            <a:endParaRPr lang="en-US" b="0" i="1" dirty="0">
              <a:latin typeface="Arial"/>
            </a:endParaRPr>
          </a:p>
          <a:p>
            <a:pPr>
              <a:lnSpc>
                <a:spcPct val="100000"/>
              </a:lnSpc>
              <a:spcBef>
                <a:spcPts val="0"/>
              </a:spcBef>
              <a:tabLst>
                <a:tab pos="361950" algn="l"/>
              </a:tabLst>
            </a:pPr>
            <a:r>
              <a:rPr lang="en-US" b="0" dirty="0">
                <a:latin typeface="Arial"/>
              </a:rPr>
              <a:t>Tel:	+1 </a:t>
            </a:r>
            <a:r>
              <a:rPr lang="en-US" b="0" dirty="0" smtClean="0">
                <a:latin typeface="Arial"/>
              </a:rPr>
              <a:t>312 665 1048</a:t>
            </a:r>
            <a:r>
              <a:rPr lang="en-US" b="0" dirty="0">
                <a:latin typeface="Arial"/>
              </a:rPr>
              <a:t/>
            </a:r>
            <a:br>
              <a:rPr lang="en-US" b="0" dirty="0">
                <a:latin typeface="Arial"/>
              </a:rPr>
            </a:br>
            <a:r>
              <a:rPr lang="en-US" sz="800" b="0" dirty="0" smtClean="0">
                <a:latin typeface="Arial"/>
              </a:rPr>
              <a:t>tejohnson@kpmg.com</a:t>
            </a:r>
            <a:endParaRPr lang="en-US" sz="800" b="0" dirty="0">
              <a:latin typeface="Arial"/>
            </a:endParaRPr>
          </a:p>
          <a:p>
            <a:pPr>
              <a:lnSpc>
                <a:spcPct val="100000"/>
              </a:lnSpc>
              <a:tabLst>
                <a:tab pos="361950" algn="l"/>
              </a:tabLst>
            </a:pPr>
            <a:endParaRPr lang="en-US" sz="800" b="0" dirty="0" smtClean="0">
              <a:latin typeface="Arial"/>
            </a:endParaRPr>
          </a:p>
          <a:p>
            <a:pPr>
              <a:lnSpc>
                <a:spcPct val="100000"/>
              </a:lnSpc>
              <a:spcBef>
                <a:spcPts val="0"/>
              </a:spcBef>
              <a:tabLst>
                <a:tab pos="361950" algn="l"/>
              </a:tabLst>
            </a:pPr>
            <a:endParaRPr lang="en-US" dirty="0" smtClean="0">
              <a:latin typeface="Arial"/>
            </a:endParaRPr>
          </a:p>
          <a:p>
            <a:pPr>
              <a:lnSpc>
                <a:spcPct val="100000"/>
              </a:lnSpc>
              <a:spcBef>
                <a:spcPts val="0"/>
              </a:spcBef>
              <a:tabLst>
                <a:tab pos="361950" algn="l"/>
              </a:tabLst>
            </a:pPr>
            <a:r>
              <a:rPr lang="en-US" dirty="0" smtClean="0">
                <a:latin typeface="Arial"/>
              </a:rPr>
              <a:t>Emma Preston</a:t>
            </a:r>
            <a:br>
              <a:rPr lang="en-US" dirty="0" smtClean="0">
                <a:latin typeface="Arial"/>
              </a:rPr>
            </a:br>
            <a:r>
              <a:rPr lang="en-US" b="0" dirty="0" smtClean="0">
                <a:latin typeface="Arial"/>
              </a:rPr>
              <a:t>Deal Advisory</a:t>
            </a:r>
            <a:br>
              <a:rPr lang="en-US" b="0" dirty="0" smtClean="0">
                <a:latin typeface="Arial"/>
              </a:rPr>
            </a:br>
            <a:r>
              <a:rPr lang="en-US" b="0" i="1" dirty="0" smtClean="0">
                <a:latin typeface="Arial"/>
              </a:rPr>
              <a:t>Partner, Dallas</a:t>
            </a:r>
          </a:p>
          <a:p>
            <a:pPr>
              <a:lnSpc>
                <a:spcPct val="100000"/>
              </a:lnSpc>
              <a:spcBef>
                <a:spcPts val="0"/>
              </a:spcBef>
              <a:tabLst>
                <a:tab pos="361950" algn="l"/>
              </a:tabLst>
            </a:pPr>
            <a:r>
              <a:rPr lang="en-US" b="0" dirty="0" smtClean="0">
                <a:latin typeface="Arial"/>
              </a:rPr>
              <a:t>Tel:	+1 </a:t>
            </a:r>
            <a:r>
              <a:rPr lang="en-US" b="0" dirty="0" smtClean="0"/>
              <a:t>917 331 3392</a:t>
            </a:r>
            <a:r>
              <a:rPr lang="en-US" dirty="0"/>
              <a:t> </a:t>
            </a:r>
            <a:r>
              <a:rPr lang="en-US" b="0" dirty="0" smtClean="0">
                <a:latin typeface="Arial"/>
              </a:rPr>
              <a:t/>
            </a:r>
            <a:br>
              <a:rPr lang="en-US" b="0" dirty="0" smtClean="0">
                <a:latin typeface="Arial"/>
              </a:rPr>
            </a:br>
            <a:r>
              <a:rPr lang="en-US" sz="800" b="0" dirty="0" smtClean="0">
                <a:latin typeface="Arial"/>
              </a:rPr>
              <a:t>epreston1@kpmg.com</a:t>
            </a:r>
          </a:p>
        </p:txBody>
      </p:sp>
      <p:graphicFrame>
        <p:nvGraphicFramePr>
          <p:cNvPr id="9" name="Group 2"/>
          <p:cNvGraphicFramePr>
            <a:graphicFrameLocks noGrp="1"/>
          </p:cNvGraphicFramePr>
          <p:nvPr>
            <p:extLst>
              <p:ext uri="{D42A27DB-BD31-4B8C-83A1-F6EECF244321}">
                <p14:modId xmlns:p14="http://schemas.microsoft.com/office/powerpoint/2010/main" val="546346461"/>
              </p:ext>
            </p:extLst>
          </p:nvPr>
        </p:nvGraphicFramePr>
        <p:xfrm>
          <a:off x="3401466" y="2127868"/>
          <a:ext cx="4249236" cy="2371200"/>
        </p:xfrm>
        <a:graphic>
          <a:graphicData uri="http://schemas.openxmlformats.org/drawingml/2006/table">
            <a:tbl>
              <a:tblPr/>
              <a:tblGrid>
                <a:gridCol w="3555974"/>
                <a:gridCol w="693262"/>
              </a:tblGrid>
              <a:tr h="196081">
                <a:tc>
                  <a:txBody>
                    <a:bodyPr/>
                    <a:lstStyle/>
                    <a:p>
                      <a:pPr marL="177800" marR="0" lvl="2" indent="-177800" algn="l" defTabSz="914400" rtl="0" eaLnBrk="1" fontAlgn="base" latinLnBrk="0" hangingPunct="1">
                        <a:lnSpc>
                          <a:spcPct val="100000"/>
                        </a:lnSpc>
                        <a:spcBef>
                          <a:spcPts val="600"/>
                        </a:spcBef>
                        <a:spcAft>
                          <a:spcPct val="0"/>
                        </a:spcAft>
                        <a:buClr>
                          <a:srgbClr val="97989A"/>
                        </a:buClr>
                        <a:buSzPct val="100000"/>
                        <a:buFont typeface="Arial" pitchFamily="34" charset="0"/>
                        <a:buNone/>
                        <a:tabLst/>
                        <a:defRPr/>
                      </a:pPr>
                      <a:r>
                        <a:rPr lang="en-US" sz="1000" b="1" kern="1200" noProof="0" dirty="0" smtClean="0">
                          <a:solidFill>
                            <a:srgbClr val="00338D"/>
                          </a:solidFill>
                          <a:latin typeface="+mn-lt"/>
                          <a:ea typeface="+mn-ea"/>
                          <a:cs typeface="Arial" pitchFamily="34" charset="0"/>
                        </a:rPr>
                        <a:t>Executive summary</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187325" marR="0" lvl="1" indent="-185738" algn="r" defTabSz="762000" rtl="0" eaLnBrk="1" fontAlgn="base" latinLnBrk="0" hangingPunct="1">
                        <a:lnSpc>
                          <a:spcPct val="100000"/>
                        </a:lnSpc>
                        <a:spcBef>
                          <a:spcPct val="40000"/>
                        </a:spcBef>
                        <a:spcAft>
                          <a:spcPct val="0"/>
                        </a:spcAft>
                        <a:buClr>
                          <a:schemeClr val="tx2"/>
                        </a:buClr>
                        <a:buSzPct val="85000"/>
                        <a:buFont typeface="Wingdings" pitchFamily="2" charset="2"/>
                        <a:buNone/>
                        <a:tabLst/>
                      </a:pPr>
                      <a:endParaRPr lang="en-US" sz="1000" b="0" kern="1200" noProof="0" dirty="0" smtClean="0">
                        <a:solidFill>
                          <a:schemeClr val="tx1"/>
                        </a:solidFill>
                        <a:latin typeface="Arial"/>
                        <a:ea typeface="+mn-ea"/>
                        <a:cs typeface="Arial" pitchFamily="34" charset="0"/>
                      </a:endParaRPr>
                    </a:p>
                  </a:txBody>
                  <a:tcPr marL="72000" marR="72000" marT="72000" marB="72000" anchor="ctr" horzOverflow="overflow">
                    <a:lnL>
                      <a:noFill/>
                    </a:lnL>
                    <a:lnR cap="flat">
                      <a:noFill/>
                    </a:lnR>
                    <a:lnT>
                      <a:noFill/>
                    </a:lnT>
                    <a:lnB>
                      <a:noFill/>
                    </a:lnB>
                    <a:lnTlToBr>
                      <a:noFill/>
                    </a:lnTlToBr>
                    <a:lnBlToTr>
                      <a:noFill/>
                    </a:lnBlToTr>
                    <a:noFill/>
                  </a:tcPr>
                </a:tc>
              </a:tr>
              <a:tr h="196081">
                <a:tc>
                  <a:txBody>
                    <a:bodyPr/>
                    <a:lstStyle/>
                    <a:p>
                      <a:pPr marL="177800" marR="0" lvl="2" indent="-177800" algn="l" defTabSz="914400" rtl="0" eaLnBrk="1" fontAlgn="base" latinLnBrk="0" hangingPunct="1">
                        <a:lnSpc>
                          <a:spcPct val="100000"/>
                        </a:lnSpc>
                        <a:spcBef>
                          <a:spcPts val="600"/>
                        </a:spcBef>
                        <a:spcAft>
                          <a:spcPct val="0"/>
                        </a:spcAft>
                        <a:buClr>
                          <a:srgbClr val="97989A"/>
                        </a:buClr>
                        <a:buSzPct val="100000"/>
                        <a:buFont typeface="Arial" pitchFamily="34" charset="0"/>
                        <a:buChar char="■"/>
                        <a:tabLst/>
                        <a:defRPr/>
                      </a:pPr>
                      <a:r>
                        <a:rPr lang="en-US" sz="1000" b="0" kern="1200" noProof="0" dirty="0" smtClean="0">
                          <a:solidFill>
                            <a:schemeClr val="tx1"/>
                          </a:solidFill>
                          <a:latin typeface="+mn-lt"/>
                          <a:ea typeface="+mn-ea"/>
                          <a:cs typeface="Arial" pitchFamily="34" charset="0"/>
                        </a:rPr>
                        <a:t>Business</a:t>
                      </a:r>
                      <a:r>
                        <a:rPr lang="en-US" sz="1000" b="0" kern="1200" baseline="0" noProof="0" dirty="0" smtClean="0">
                          <a:solidFill>
                            <a:schemeClr val="tx1"/>
                          </a:solidFill>
                          <a:latin typeface="+mn-lt"/>
                          <a:ea typeface="+mn-ea"/>
                          <a:cs typeface="Arial" pitchFamily="34" charset="0"/>
                        </a:rPr>
                        <a:t> and transaction overview</a:t>
                      </a:r>
                      <a:endParaRPr lang="en-US" sz="1000" b="0" kern="1200" noProof="0" dirty="0" smtClean="0">
                        <a:solidFill>
                          <a:schemeClr val="tx1"/>
                        </a:solidFill>
                        <a:latin typeface="+mn-lt"/>
                        <a:ea typeface="+mn-ea"/>
                        <a:cs typeface="Arial" pitchFamily="34" charset="0"/>
                      </a:endParaRP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0" marR="0" lvl="2" indent="0" algn="r" defTabSz="914400" rtl="0" eaLnBrk="1" fontAlgn="base" latinLnBrk="0" hangingPunct="1">
                        <a:lnSpc>
                          <a:spcPct val="100000"/>
                        </a:lnSpc>
                        <a:spcBef>
                          <a:spcPts val="600"/>
                        </a:spcBef>
                        <a:spcAft>
                          <a:spcPct val="0"/>
                        </a:spcAft>
                        <a:buClr>
                          <a:srgbClr val="97989A"/>
                        </a:buClr>
                        <a:buSzPct val="100000"/>
                        <a:buFont typeface="Arial" pitchFamily="34" charset="0"/>
                        <a:buNone/>
                        <a:tabLst/>
                        <a:defRPr/>
                      </a:pPr>
                      <a:r>
                        <a:rPr lang="en-US" sz="1000" b="0" kern="1200" noProof="0" dirty="0" smtClean="0">
                          <a:solidFill>
                            <a:schemeClr val="tx1"/>
                          </a:solidFill>
                          <a:latin typeface="+mn-lt"/>
                          <a:ea typeface="+mn-ea"/>
                          <a:cs typeface="Arial" pitchFamily="34" charset="0"/>
                        </a:rPr>
                        <a:t>7</a:t>
                      </a:r>
                    </a:p>
                  </a:txBody>
                  <a:tcPr marL="72000" marR="72000" marT="72000" marB="72000" anchor="ctr" horzOverflow="overflow">
                    <a:lnL>
                      <a:noFill/>
                    </a:lnL>
                    <a:lnR cap="flat">
                      <a:noFill/>
                    </a:lnR>
                    <a:lnT>
                      <a:noFill/>
                    </a:lnT>
                    <a:lnB>
                      <a:noFill/>
                    </a:lnB>
                    <a:lnTlToBr>
                      <a:noFill/>
                    </a:lnTlToBr>
                    <a:lnBlToTr>
                      <a:noFill/>
                    </a:lnBlToTr>
                    <a:noFill/>
                  </a:tcPr>
                </a:tc>
              </a:tr>
              <a:tr h="196081">
                <a:tc>
                  <a:txBody>
                    <a:bodyPr/>
                    <a:lstStyle/>
                    <a:p>
                      <a:pPr marL="177800" marR="0" lvl="2" indent="-177800" algn="l" defTabSz="914400" rtl="0" eaLnBrk="1" fontAlgn="base" latinLnBrk="0" hangingPunct="1">
                        <a:lnSpc>
                          <a:spcPct val="100000"/>
                        </a:lnSpc>
                        <a:spcBef>
                          <a:spcPts val="600"/>
                        </a:spcBef>
                        <a:spcAft>
                          <a:spcPct val="0"/>
                        </a:spcAft>
                        <a:buClr>
                          <a:srgbClr val="97989A"/>
                        </a:buClr>
                        <a:buSzPct val="100000"/>
                        <a:buFont typeface="Arial" pitchFamily="34" charset="0"/>
                        <a:buChar char="■"/>
                        <a:tabLst/>
                        <a:defRPr/>
                      </a:pPr>
                      <a:r>
                        <a:rPr lang="en-US" sz="1000" b="0" kern="1200" noProof="0" dirty="0" smtClean="0">
                          <a:solidFill>
                            <a:schemeClr val="tx1"/>
                          </a:solidFill>
                          <a:latin typeface="+mn-lt"/>
                          <a:ea typeface="+mn-ea"/>
                          <a:cs typeface="Arial" pitchFamily="34" charset="0"/>
                        </a:rPr>
                        <a:t>Earnings bridge – 2013</a:t>
                      </a:r>
                      <a:r>
                        <a:rPr lang="en-US" sz="1000" b="0" kern="1200" baseline="0" noProof="0" dirty="0" smtClean="0">
                          <a:solidFill>
                            <a:schemeClr val="tx1"/>
                          </a:solidFill>
                          <a:latin typeface="+mn-lt"/>
                          <a:ea typeface="+mn-ea"/>
                          <a:cs typeface="Arial" pitchFamily="34" charset="0"/>
                        </a:rPr>
                        <a:t> to 2014</a:t>
                      </a:r>
                      <a:endParaRPr lang="en-US" sz="1000" b="0" kern="1200" noProof="0" dirty="0" smtClean="0">
                        <a:solidFill>
                          <a:schemeClr val="tx1"/>
                        </a:solidFill>
                        <a:latin typeface="+mn-lt"/>
                        <a:ea typeface="+mn-ea"/>
                        <a:cs typeface="Arial" pitchFamily="34" charset="0"/>
                      </a:endParaRP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0" marR="0" lvl="2" indent="0" algn="r" defTabSz="914400" rtl="0" eaLnBrk="1" fontAlgn="base" latinLnBrk="0" hangingPunct="1">
                        <a:lnSpc>
                          <a:spcPct val="100000"/>
                        </a:lnSpc>
                        <a:spcBef>
                          <a:spcPts val="600"/>
                        </a:spcBef>
                        <a:spcAft>
                          <a:spcPct val="0"/>
                        </a:spcAft>
                        <a:buClr>
                          <a:srgbClr val="97989A"/>
                        </a:buClr>
                        <a:buSzPct val="100000"/>
                        <a:buFont typeface="Arial" pitchFamily="34" charset="0"/>
                        <a:buNone/>
                        <a:tabLst/>
                        <a:defRPr/>
                      </a:pPr>
                      <a:r>
                        <a:rPr lang="en-US" sz="1000" b="0" kern="1200" noProof="0" dirty="0" smtClean="0">
                          <a:solidFill>
                            <a:schemeClr val="tx1"/>
                          </a:solidFill>
                          <a:latin typeface="+mn-lt"/>
                          <a:ea typeface="+mn-ea"/>
                          <a:cs typeface="Arial" pitchFamily="34" charset="0"/>
                        </a:rPr>
                        <a:t>10</a:t>
                      </a:r>
                    </a:p>
                  </a:txBody>
                  <a:tcPr marL="72000" marR="72000" marT="72000" marB="72000" anchor="ctr" horzOverflow="overflow">
                    <a:lnL>
                      <a:noFill/>
                    </a:lnL>
                    <a:lnR cap="flat">
                      <a:noFill/>
                    </a:lnR>
                    <a:lnT>
                      <a:noFill/>
                    </a:lnT>
                    <a:lnB>
                      <a:noFill/>
                    </a:lnB>
                    <a:lnTlToBr>
                      <a:noFill/>
                    </a:lnTlToBr>
                    <a:lnBlToTr>
                      <a:noFill/>
                    </a:lnBlToTr>
                    <a:noFill/>
                  </a:tcPr>
                </a:tc>
              </a:tr>
              <a:tr h="196081">
                <a:tc>
                  <a:txBody>
                    <a:bodyPr/>
                    <a:lstStyle/>
                    <a:p>
                      <a:pPr marL="177800" marR="0" lvl="2" indent="-177800" algn="l" defTabSz="914400" rtl="0" eaLnBrk="1" fontAlgn="base" latinLnBrk="0" hangingPunct="1">
                        <a:lnSpc>
                          <a:spcPct val="100000"/>
                        </a:lnSpc>
                        <a:spcBef>
                          <a:spcPts val="600"/>
                        </a:spcBef>
                        <a:spcAft>
                          <a:spcPct val="0"/>
                        </a:spcAft>
                        <a:buClr>
                          <a:srgbClr val="97989A"/>
                        </a:buClr>
                        <a:buSzPct val="100000"/>
                        <a:buFont typeface="Arial" pitchFamily="34" charset="0"/>
                        <a:buChar char="■"/>
                        <a:tabLst/>
                        <a:defRPr/>
                      </a:pPr>
                      <a:r>
                        <a:rPr lang="en-GB" sz="1000" dirty="0" smtClean="0"/>
                        <a:t>Headlines</a:t>
                      </a:r>
                      <a:endParaRPr lang="en-US" sz="1000" b="0" kern="1200" noProof="0" dirty="0" smtClean="0">
                        <a:solidFill>
                          <a:schemeClr val="tx1"/>
                        </a:solidFill>
                        <a:latin typeface="+mn-lt"/>
                        <a:ea typeface="+mn-ea"/>
                        <a:cs typeface="Arial" pitchFamily="34" charset="0"/>
                      </a:endParaRP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187325" marR="0" lvl="1" indent="-185738" algn="r" defTabSz="762000" rtl="0" eaLnBrk="1" fontAlgn="base" latinLnBrk="0" hangingPunct="1">
                        <a:lnSpc>
                          <a:spcPct val="100000"/>
                        </a:lnSpc>
                        <a:spcBef>
                          <a:spcPct val="40000"/>
                        </a:spcBef>
                        <a:spcAft>
                          <a:spcPct val="0"/>
                        </a:spcAft>
                        <a:buClr>
                          <a:schemeClr val="tx2"/>
                        </a:buClr>
                        <a:buSzPct val="85000"/>
                        <a:buFont typeface="Wingdings" pitchFamily="2" charset="2"/>
                        <a:buNone/>
                        <a:tabLst/>
                      </a:pPr>
                      <a:r>
                        <a:rPr lang="en-US" sz="1000" b="0" kern="1200" noProof="0" dirty="0" smtClean="0">
                          <a:solidFill>
                            <a:schemeClr val="tx1"/>
                          </a:solidFill>
                          <a:latin typeface="Arial"/>
                          <a:ea typeface="+mn-ea"/>
                          <a:cs typeface="Arial" pitchFamily="34" charset="0"/>
                        </a:rPr>
                        <a:t>11</a:t>
                      </a:r>
                    </a:p>
                  </a:txBody>
                  <a:tcPr marL="72000" marR="72000" marT="72000" marB="72000" anchor="ctr" horzOverflow="overflow">
                    <a:lnL>
                      <a:noFill/>
                    </a:lnL>
                    <a:lnR cap="flat">
                      <a:noFill/>
                    </a:lnR>
                    <a:lnT>
                      <a:noFill/>
                    </a:lnT>
                    <a:lnB>
                      <a:noFill/>
                    </a:lnB>
                    <a:lnTlToBr>
                      <a:noFill/>
                    </a:lnTlToBr>
                    <a:lnBlToTr>
                      <a:noFill/>
                    </a:lnBlToTr>
                    <a:noFill/>
                  </a:tcPr>
                </a:tc>
              </a:tr>
              <a:tr h="196081">
                <a:tc>
                  <a:txBody>
                    <a:bodyPr/>
                    <a:lstStyle/>
                    <a:p>
                      <a:pPr marL="177800" marR="0" lvl="2" indent="-177800" algn="l" defTabSz="914400" rtl="0" eaLnBrk="1" fontAlgn="base" latinLnBrk="0" hangingPunct="1">
                        <a:lnSpc>
                          <a:spcPct val="100000"/>
                        </a:lnSpc>
                        <a:spcBef>
                          <a:spcPts val="600"/>
                        </a:spcBef>
                        <a:spcAft>
                          <a:spcPct val="0"/>
                        </a:spcAft>
                        <a:buClr>
                          <a:srgbClr val="97989A"/>
                        </a:buClr>
                        <a:buSzPct val="100000"/>
                        <a:buFont typeface="Arial" pitchFamily="34" charset="0"/>
                        <a:buChar char="■"/>
                        <a:tabLst/>
                        <a:defRPr/>
                      </a:pPr>
                      <a:r>
                        <a:rPr lang="en-GB" sz="1000" dirty="0" smtClean="0"/>
                        <a:t>Key findings: financial</a:t>
                      </a:r>
                      <a:endParaRPr lang="en-US" sz="1000" b="0" kern="1200" noProof="0" dirty="0" smtClean="0">
                        <a:solidFill>
                          <a:schemeClr val="tx1"/>
                        </a:solidFill>
                        <a:latin typeface="+mn-lt"/>
                        <a:ea typeface="+mn-ea"/>
                        <a:cs typeface="Arial" pitchFamily="34" charset="0"/>
                      </a:endParaRP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187325" marR="0" lvl="1" indent="-185738" algn="r" defTabSz="762000" rtl="0" eaLnBrk="1" fontAlgn="base" latinLnBrk="0" hangingPunct="1">
                        <a:lnSpc>
                          <a:spcPct val="100000"/>
                        </a:lnSpc>
                        <a:spcBef>
                          <a:spcPct val="40000"/>
                        </a:spcBef>
                        <a:spcAft>
                          <a:spcPct val="0"/>
                        </a:spcAft>
                        <a:buClr>
                          <a:schemeClr val="tx2"/>
                        </a:buClr>
                        <a:buSzPct val="85000"/>
                        <a:buFont typeface="Wingdings" pitchFamily="2" charset="2"/>
                        <a:buNone/>
                        <a:tabLst/>
                      </a:pPr>
                      <a:r>
                        <a:rPr lang="en-US" sz="1000" b="0" kern="1200" noProof="0" dirty="0" smtClean="0">
                          <a:solidFill>
                            <a:schemeClr val="tx1"/>
                          </a:solidFill>
                          <a:latin typeface="Arial"/>
                          <a:ea typeface="+mn-ea"/>
                          <a:cs typeface="Arial" pitchFamily="34" charset="0"/>
                        </a:rPr>
                        <a:t>12</a:t>
                      </a:r>
                    </a:p>
                  </a:txBody>
                  <a:tcPr marL="72000" marR="72000" marT="72000" marB="72000" anchor="ctr" horzOverflow="overflow">
                    <a:lnL>
                      <a:noFill/>
                    </a:lnL>
                    <a:lnR cap="flat">
                      <a:noFill/>
                    </a:lnR>
                    <a:lnT>
                      <a:noFill/>
                    </a:lnT>
                    <a:lnB>
                      <a:noFill/>
                    </a:lnB>
                    <a:lnTlToBr>
                      <a:noFill/>
                    </a:lnTlToBr>
                    <a:lnBlToTr>
                      <a:noFill/>
                    </a:lnBlToTr>
                    <a:noFill/>
                  </a:tcPr>
                </a:tc>
              </a:tr>
              <a:tr h="196081">
                <a:tc>
                  <a:txBody>
                    <a:bodyPr/>
                    <a:lstStyle/>
                    <a:p>
                      <a:pPr marL="177800" marR="0" lvl="2" indent="-177800" algn="l" defTabSz="914400" rtl="0" eaLnBrk="1" fontAlgn="base" latinLnBrk="0" hangingPunct="1">
                        <a:lnSpc>
                          <a:spcPct val="100000"/>
                        </a:lnSpc>
                        <a:spcBef>
                          <a:spcPts val="600"/>
                        </a:spcBef>
                        <a:spcAft>
                          <a:spcPct val="0"/>
                        </a:spcAft>
                        <a:buClr>
                          <a:srgbClr val="97989A"/>
                        </a:buClr>
                        <a:buSzPct val="100000"/>
                        <a:buFont typeface="Arial" pitchFamily="34" charset="0"/>
                        <a:buChar char="■"/>
                        <a:tabLst/>
                        <a:defRPr/>
                      </a:pPr>
                      <a:r>
                        <a:rPr lang="en-GB" sz="1000" dirty="0" smtClean="0"/>
                        <a:t>Quality of earnings and cash flow</a:t>
                      </a:r>
                      <a:endParaRPr lang="en-US" sz="1000" b="0" kern="1200" noProof="0" dirty="0" smtClean="0">
                        <a:solidFill>
                          <a:schemeClr val="tx1"/>
                        </a:solidFill>
                        <a:latin typeface="+mn-lt"/>
                        <a:ea typeface="+mn-ea"/>
                        <a:cs typeface="Arial" pitchFamily="34" charset="0"/>
                      </a:endParaRP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187325" marR="0" lvl="1" indent="-185738" algn="r" defTabSz="762000" rtl="0" eaLnBrk="1" fontAlgn="base" latinLnBrk="0" hangingPunct="1">
                        <a:lnSpc>
                          <a:spcPct val="100000"/>
                        </a:lnSpc>
                        <a:spcBef>
                          <a:spcPct val="40000"/>
                        </a:spcBef>
                        <a:spcAft>
                          <a:spcPct val="0"/>
                        </a:spcAft>
                        <a:buClr>
                          <a:schemeClr val="tx2"/>
                        </a:buClr>
                        <a:buSzPct val="85000"/>
                        <a:buFont typeface="Wingdings" pitchFamily="2" charset="2"/>
                        <a:buNone/>
                        <a:tabLst/>
                      </a:pPr>
                      <a:r>
                        <a:rPr lang="en-US" sz="1000" b="0" kern="1200" noProof="0" dirty="0" smtClean="0">
                          <a:solidFill>
                            <a:schemeClr val="tx1"/>
                          </a:solidFill>
                          <a:latin typeface="Arial"/>
                          <a:ea typeface="+mn-ea"/>
                          <a:cs typeface="Arial" pitchFamily="34" charset="0"/>
                        </a:rPr>
                        <a:t>36</a:t>
                      </a:r>
                    </a:p>
                  </a:txBody>
                  <a:tcPr marL="72000" marR="72000" marT="72000" marB="72000" anchor="ctr" horzOverflow="overflow">
                    <a:lnL>
                      <a:noFill/>
                    </a:lnL>
                    <a:lnR cap="flat">
                      <a:noFill/>
                    </a:lnR>
                    <a:lnT>
                      <a:noFill/>
                    </a:lnT>
                    <a:lnB>
                      <a:noFill/>
                    </a:lnB>
                    <a:lnTlToBr>
                      <a:noFill/>
                    </a:lnTlToBr>
                    <a:lnBlToTr>
                      <a:noFill/>
                    </a:lnBlToTr>
                    <a:noFill/>
                  </a:tcPr>
                </a:tc>
              </a:tr>
              <a:tr h="196081">
                <a:tc>
                  <a:txBody>
                    <a:bodyPr/>
                    <a:lstStyle/>
                    <a:p>
                      <a:pPr marL="177800" marR="0" lvl="2" indent="-177800" algn="l" defTabSz="914400" rtl="0" eaLnBrk="1" fontAlgn="base" latinLnBrk="0" hangingPunct="1">
                        <a:lnSpc>
                          <a:spcPct val="100000"/>
                        </a:lnSpc>
                        <a:spcBef>
                          <a:spcPts val="600"/>
                        </a:spcBef>
                        <a:spcAft>
                          <a:spcPct val="0"/>
                        </a:spcAft>
                        <a:buClr>
                          <a:srgbClr val="97989A"/>
                        </a:buClr>
                        <a:buSzPct val="100000"/>
                        <a:buFont typeface="Arial" pitchFamily="34" charset="0"/>
                        <a:buChar char="■"/>
                        <a:tabLst/>
                        <a:defRPr/>
                      </a:pPr>
                      <a:r>
                        <a:rPr lang="en-US" sz="1000" b="0" kern="1200" noProof="0" dirty="0" smtClean="0">
                          <a:solidFill>
                            <a:schemeClr val="tx1"/>
                          </a:solidFill>
                          <a:latin typeface="+mn-lt"/>
                          <a:ea typeface="+mn-ea"/>
                          <a:cs typeface="Arial" pitchFamily="34" charset="0"/>
                        </a:rPr>
                        <a:t>Key findings: tax</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187325" marR="0" lvl="1" indent="-185738" algn="r" defTabSz="762000" rtl="0" eaLnBrk="1" fontAlgn="base" latinLnBrk="0" hangingPunct="1">
                        <a:lnSpc>
                          <a:spcPct val="100000"/>
                        </a:lnSpc>
                        <a:spcBef>
                          <a:spcPct val="40000"/>
                        </a:spcBef>
                        <a:spcAft>
                          <a:spcPct val="0"/>
                        </a:spcAft>
                        <a:buClr>
                          <a:schemeClr val="tx2"/>
                        </a:buClr>
                        <a:buSzPct val="85000"/>
                        <a:buFont typeface="Wingdings" pitchFamily="2" charset="2"/>
                        <a:buNone/>
                        <a:tabLst/>
                      </a:pPr>
                      <a:r>
                        <a:rPr lang="en-US" sz="1000" b="0" kern="1200" noProof="0" dirty="0" smtClean="0">
                          <a:solidFill>
                            <a:schemeClr val="tx1"/>
                          </a:solidFill>
                          <a:latin typeface="Arial"/>
                          <a:ea typeface="+mn-ea"/>
                          <a:cs typeface="Arial" pitchFamily="34" charset="0"/>
                        </a:rPr>
                        <a:t>39</a:t>
                      </a:r>
                    </a:p>
                  </a:txBody>
                  <a:tcPr marL="72000" marR="72000" marT="72000" marB="72000" anchor="ctr" horzOverflow="overflow">
                    <a:lnL>
                      <a:noFill/>
                    </a:lnL>
                    <a:lnR cap="flat">
                      <a:noFill/>
                    </a:lnR>
                    <a:lnT>
                      <a:noFill/>
                    </a:lnT>
                    <a:lnB>
                      <a:noFill/>
                    </a:lnB>
                    <a:lnTlToBr>
                      <a:noFill/>
                    </a:lnTlToBr>
                    <a:lnBlToTr>
                      <a:noFill/>
                    </a:lnBlToTr>
                    <a:noFill/>
                  </a:tcPr>
                </a:tc>
              </a:tr>
              <a:tr h="196081">
                <a:tc>
                  <a:txBody>
                    <a:bodyPr/>
                    <a:lstStyle/>
                    <a:p>
                      <a:pPr marL="177800" marR="0" lvl="2" indent="-177800" algn="l" defTabSz="914400" rtl="0" eaLnBrk="1" fontAlgn="base" latinLnBrk="0" hangingPunct="1">
                        <a:lnSpc>
                          <a:spcPct val="100000"/>
                        </a:lnSpc>
                        <a:spcBef>
                          <a:spcPts val="600"/>
                        </a:spcBef>
                        <a:spcAft>
                          <a:spcPct val="0"/>
                        </a:spcAft>
                        <a:buClr>
                          <a:srgbClr val="97989A"/>
                        </a:buClr>
                        <a:buSzPct val="100000"/>
                        <a:buFont typeface="Arial" pitchFamily="34" charset="0"/>
                        <a:buNone/>
                        <a:tabLst/>
                        <a:defRPr/>
                      </a:pPr>
                      <a:r>
                        <a:rPr lang="en-US" sz="1000" b="1" kern="1200" noProof="0" dirty="0" smtClean="0">
                          <a:solidFill>
                            <a:srgbClr val="00338D"/>
                          </a:solidFill>
                          <a:latin typeface="+mn-lt"/>
                          <a:ea typeface="+mn-ea"/>
                          <a:cs typeface="Arial" pitchFamily="34" charset="0"/>
                        </a:rPr>
                        <a:t>Appendices</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187325" marR="0" lvl="1" indent="-185738" algn="r" defTabSz="762000" rtl="0" eaLnBrk="1" fontAlgn="base" latinLnBrk="0" hangingPunct="1">
                        <a:lnSpc>
                          <a:spcPct val="100000"/>
                        </a:lnSpc>
                        <a:spcBef>
                          <a:spcPct val="40000"/>
                        </a:spcBef>
                        <a:spcAft>
                          <a:spcPct val="0"/>
                        </a:spcAft>
                        <a:buClr>
                          <a:schemeClr val="tx2"/>
                        </a:buClr>
                        <a:buSzPct val="85000"/>
                        <a:buFont typeface="Wingdings" pitchFamily="2" charset="2"/>
                        <a:buNone/>
                        <a:tabLst/>
                        <a:defRPr/>
                      </a:pPr>
                      <a:r>
                        <a:rPr lang="en-US" sz="1000" b="0" kern="1200" noProof="0" dirty="0" smtClean="0">
                          <a:solidFill>
                            <a:schemeClr val="tx1"/>
                          </a:solidFill>
                          <a:latin typeface="+mn-lt"/>
                          <a:ea typeface="+mn-ea"/>
                          <a:cs typeface="Arial" pitchFamily="34" charset="0"/>
                        </a:rPr>
                        <a:t>43</a:t>
                      </a:r>
                    </a:p>
                  </a:txBody>
                  <a:tcPr marL="72000" marR="72000" marT="72000" marB="72000" anchor="ctr" horzOverflow="overflow">
                    <a:lnL>
                      <a:noFill/>
                    </a:lnL>
                    <a:lnR cap="flat">
                      <a:noFill/>
                    </a:lnR>
                    <a:lnT>
                      <a:noFill/>
                    </a:lnT>
                    <a:lnB>
                      <a:noFill/>
                    </a:lnB>
                    <a:lnTlToBr>
                      <a:noFill/>
                    </a:lnTlToBr>
                    <a:lnBlToTr>
                      <a:noFill/>
                    </a:lnBlToTr>
                    <a:noFill/>
                  </a:tcPr>
                </a:tc>
              </a:tr>
            </a:tbl>
          </a:graphicData>
        </a:graphic>
      </p:graphicFrame>
    </p:spTree>
    <p:extLst>
      <p:ext uri="{BB962C8B-B14F-4D97-AF65-F5344CB8AC3E}">
        <p14:creationId xmlns:p14="http://schemas.microsoft.com/office/powerpoint/2010/main" val="379112740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a:rPr>
              <a:t>Executive summary</a:t>
            </a:r>
            <a:endParaRPr lang="en-US" dirty="0">
              <a:latin typeface="Arial"/>
            </a:endParaRPr>
          </a:p>
        </p:txBody>
      </p:sp>
    </p:spTree>
    <p:extLst>
      <p:ext uri="{BB962C8B-B14F-4D97-AF65-F5344CB8AC3E}">
        <p14:creationId xmlns:p14="http://schemas.microsoft.com/office/powerpoint/2010/main" val="28208054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rPr lang="en-US" dirty="0" smtClean="0"/>
              <a:t>GE Antares Capital, a business unit within GE Capital, is </a:t>
            </a:r>
            <a:r>
              <a:rPr lang="en-US" dirty="0"/>
              <a:t>a leading middle-market lender for private equity backed </a:t>
            </a:r>
            <a:r>
              <a:rPr lang="en-US" dirty="0" smtClean="0"/>
              <a:t>transactions.</a:t>
            </a:r>
          </a:p>
          <a:p>
            <a:r>
              <a:rPr lang="en-US" dirty="0" smtClean="0"/>
              <a:t>In 2014, GE Antares Capital financed over 250 deals, which generated pre-tax income of $796 million off of $17 billion of gross volume with $8.5 billion syndicated.</a:t>
            </a:r>
          </a:p>
          <a:p>
            <a:r>
              <a:rPr lang="en-US" dirty="0" smtClean="0"/>
              <a:t>GE is proposing to sell GE Antares Capital as part of the broader effort to sell most of the assets of GE Capital over the next two years.</a:t>
            </a:r>
          </a:p>
        </p:txBody>
      </p:sp>
      <p:sp>
        <p:nvSpPr>
          <p:cNvPr id="3" name="Text Placeholder 2"/>
          <p:cNvSpPr>
            <a:spLocks noGrp="1"/>
          </p:cNvSpPr>
          <p:nvPr>
            <p:ph type="body" sz="quarter" idx="13"/>
          </p:nvPr>
        </p:nvSpPr>
        <p:spPr>
          <a:xfrm>
            <a:off x="2123728" y="1196753"/>
            <a:ext cx="3438871" cy="4896072"/>
          </a:xfrm>
        </p:spPr>
        <p:txBody>
          <a:bodyPr/>
          <a:lstStyle/>
          <a:p>
            <a:r>
              <a:rPr lang="en-US" dirty="0"/>
              <a:t>Business overview</a:t>
            </a:r>
          </a:p>
          <a:p>
            <a:pPr lvl="2">
              <a:defRPr/>
            </a:pPr>
            <a:r>
              <a:rPr lang="en-US" dirty="0" smtClean="0"/>
              <a:t>GE Antares Capital (the “Company”, or “Target”), is a leading middle-market lender for private equity backed transactions across a wide variety of industries. It arranges loans of $30 million to $500 million for leveraged buyouts, doing business with more than 300 private equity sponsors.</a:t>
            </a:r>
          </a:p>
          <a:p>
            <a:pPr lvl="2">
              <a:defRPr/>
            </a:pPr>
            <a:r>
              <a:rPr lang="en-US" dirty="0" smtClean="0"/>
              <a:t>Its integrated origination, underwriting, and distribution platform provides financing solutions for buyouts, acquisitions, growth funding, restructurings and capitalizations.</a:t>
            </a:r>
          </a:p>
          <a:p>
            <a:pPr lvl="2">
              <a:defRPr/>
            </a:pPr>
            <a:r>
              <a:rPr lang="en-US" dirty="0" smtClean="0"/>
              <a:t>Its primary product offerings are cash flow and asset-based lending, senior debt financing, junior debt financing, unitranche loans and equity investing.</a:t>
            </a:r>
            <a:endParaRPr lang="en-US" dirty="0"/>
          </a:p>
          <a:p>
            <a:pPr lvl="2">
              <a:defRPr/>
            </a:pPr>
            <a:r>
              <a:rPr lang="en-US" dirty="0" smtClean="0"/>
              <a:t>The business is 100% owned by GE Capital Corporation, a wholly-owned subsidiary of the General Electric Corporation.</a:t>
            </a:r>
          </a:p>
          <a:p>
            <a:pPr lvl="2">
              <a:defRPr/>
            </a:pPr>
            <a:r>
              <a:rPr lang="en-GB" dirty="0" smtClean="0"/>
              <a:t>On </a:t>
            </a:r>
            <a:r>
              <a:rPr lang="en-GB" dirty="0"/>
              <a:t>April 10, 2015 GE announced that it would sell most of GE </a:t>
            </a:r>
            <a:r>
              <a:rPr lang="en-GB" dirty="0" smtClean="0"/>
              <a:t>Capital, its finance unit, </a:t>
            </a:r>
            <a:r>
              <a:rPr lang="en-GB" dirty="0"/>
              <a:t>by 2018 </a:t>
            </a:r>
            <a:r>
              <a:rPr lang="en-GB" dirty="0" smtClean="0"/>
              <a:t>to accelerate efforts to shrink GE Capital and focus on GE’s industrial operations.</a:t>
            </a:r>
            <a:endParaRPr lang="en-GB" dirty="0"/>
          </a:p>
          <a:p>
            <a:r>
              <a:rPr lang="en-US" dirty="0" smtClean="0"/>
              <a:t>Information </a:t>
            </a:r>
            <a:r>
              <a:rPr lang="en-US" dirty="0"/>
              <a:t>overview and access</a:t>
            </a:r>
          </a:p>
          <a:p>
            <a:pPr lvl="2">
              <a:buSzPct val="85000"/>
              <a:defRPr/>
            </a:pPr>
            <a:r>
              <a:rPr lang="en-US" dirty="0"/>
              <a:t>The analysis contained in this report is prepared based on the following sources of information and access:</a:t>
            </a:r>
          </a:p>
          <a:p>
            <a:pPr marL="339725" lvl="3" indent="-165100">
              <a:buSzPct val="85000"/>
              <a:defRPr/>
            </a:pPr>
            <a:r>
              <a:rPr lang="en-US" i="1" dirty="0"/>
              <a:t>Data room access:</a:t>
            </a:r>
            <a:r>
              <a:rPr lang="en-US" dirty="0"/>
              <a:t> Key information from the data room </a:t>
            </a:r>
            <a:r>
              <a:rPr lang="en-US" dirty="0" smtClean="0"/>
              <a:t>including </a:t>
            </a:r>
            <a:r>
              <a:rPr lang="en-US" dirty="0"/>
              <a:t>internal management financial statements. </a:t>
            </a:r>
          </a:p>
          <a:p>
            <a:pPr marL="339725" lvl="3" indent="-165100">
              <a:buSzPct val="85000"/>
              <a:defRPr/>
            </a:pPr>
            <a:r>
              <a:rPr lang="en-US" i="1" dirty="0"/>
              <a:t>Discussions:</a:t>
            </a:r>
            <a:r>
              <a:rPr lang="en-US" dirty="0"/>
              <a:t> Discussions held with </a:t>
            </a:r>
            <a:r>
              <a:rPr lang="en-US" dirty="0" smtClean="0"/>
              <a:t>Target management at various dates, in person and on phone calls.</a:t>
            </a:r>
            <a:endParaRPr lang="en-US" dirty="0"/>
          </a:p>
        </p:txBody>
      </p:sp>
      <p:sp>
        <p:nvSpPr>
          <p:cNvPr id="6" name="Title 1"/>
          <p:cNvSpPr>
            <a:spLocks noGrp="1"/>
          </p:cNvSpPr>
          <p:nvPr>
            <p:ph type="title"/>
          </p:nvPr>
        </p:nvSpPr>
        <p:spPr>
          <a:xfrm>
            <a:off x="2123728" y="116632"/>
            <a:ext cx="6768226" cy="576064"/>
          </a:xfrm>
        </p:spPr>
        <p:txBody>
          <a:bodyPr/>
          <a:lstStyle/>
          <a:p>
            <a:r>
              <a:rPr lang="en-US" sz="1400" b="0" dirty="0" smtClean="0">
                <a:solidFill>
                  <a:srgbClr val="747678"/>
                </a:solidFill>
              </a:rPr>
              <a:t>Executive summary</a:t>
            </a:r>
            <a:r>
              <a:rPr lang="en-US" dirty="0" smtClean="0"/>
              <a:t/>
            </a:r>
            <a:br>
              <a:rPr lang="en-US" dirty="0" smtClean="0"/>
            </a:br>
            <a:r>
              <a:rPr lang="en-US" dirty="0" smtClean="0"/>
              <a:t>Business and transaction overview</a:t>
            </a:r>
            <a:endParaRPr lang="en-US" dirty="0"/>
          </a:p>
        </p:txBody>
      </p:sp>
      <p:sp>
        <p:nvSpPr>
          <p:cNvPr id="9" name="Text Box 8"/>
          <p:cNvSpPr txBox="1">
            <a:spLocks noChangeArrowheads="1"/>
          </p:cNvSpPr>
          <p:nvPr>
            <p:custDataLst>
              <p:tags r:id="rId1"/>
            </p:custDataLst>
          </p:nvPr>
        </p:nvSpPr>
        <p:spPr bwMode="gray">
          <a:xfrm>
            <a:off x="5844535" y="5896864"/>
            <a:ext cx="2587984" cy="92333"/>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latin typeface="Arial"/>
                <a:cs typeface="Arial" pitchFamily="34" charset="0"/>
              </a:rPr>
              <a:t> Source: 6.3 Atlas Preliminary Financial Information (05 11 2015)</a:t>
            </a:r>
          </a:p>
        </p:txBody>
      </p:sp>
      <p:pic>
        <p:nvPicPr>
          <p:cNvPr id="4" name="Picture 3"/>
          <p:cNvPicPr>
            <a:picLocks noChangeAspect="1"/>
          </p:cNvPicPr>
          <p:nvPr/>
        </p:nvPicPr>
        <p:blipFill>
          <a:blip r:embed="rId3"/>
          <a:stretch>
            <a:fillRect/>
          </a:stretch>
        </p:blipFill>
        <p:spPr>
          <a:xfrm>
            <a:off x="5854495" y="1195200"/>
            <a:ext cx="2679905" cy="2371852"/>
          </a:xfrm>
          <a:prstGeom prst="rect">
            <a:avLst/>
          </a:prstGeom>
        </p:spPr>
      </p:pic>
      <p:pic>
        <p:nvPicPr>
          <p:cNvPr id="8" name="Picture 7"/>
          <p:cNvPicPr>
            <a:picLocks noChangeAspect="1"/>
          </p:cNvPicPr>
          <p:nvPr/>
        </p:nvPicPr>
        <p:blipFill>
          <a:blip r:embed="rId4"/>
          <a:stretch>
            <a:fillRect/>
          </a:stretch>
        </p:blipFill>
        <p:spPr>
          <a:xfrm>
            <a:off x="5854495" y="3719228"/>
            <a:ext cx="2679905" cy="2144979"/>
          </a:xfrm>
          <a:prstGeom prst="rect">
            <a:avLst/>
          </a:prstGeom>
        </p:spPr>
      </p:pic>
    </p:spTree>
    <p:extLst>
      <p:ext uri="{BB962C8B-B14F-4D97-AF65-F5344CB8AC3E}">
        <p14:creationId xmlns:p14="http://schemas.microsoft.com/office/powerpoint/2010/main" val="35994214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rPr lang="en-US" dirty="0" smtClean="0"/>
              <a:t>GE has requested that, in the final offer, the purchase price be broken up into certain components.</a:t>
            </a:r>
          </a:p>
          <a:p>
            <a:r>
              <a:rPr lang="en-US" dirty="0" smtClean="0"/>
              <a:t>See the following page for a pictorial representation of the transaction perimeter.</a:t>
            </a:r>
          </a:p>
          <a:p>
            <a:r>
              <a:rPr lang="en-US" dirty="0" smtClean="0"/>
              <a:t>The assets for sale are held in a number of legal entities and it is understood an AcquirorCo would be set up to effect the acquisition. </a:t>
            </a:r>
            <a:endParaRPr lang="en-US" dirty="0"/>
          </a:p>
        </p:txBody>
      </p:sp>
      <p:sp>
        <p:nvSpPr>
          <p:cNvPr id="3" name="Text Placeholder 2"/>
          <p:cNvSpPr>
            <a:spLocks noGrp="1"/>
          </p:cNvSpPr>
          <p:nvPr>
            <p:ph type="body" sz="quarter" idx="13"/>
          </p:nvPr>
        </p:nvSpPr>
        <p:spPr/>
        <p:txBody>
          <a:bodyPr/>
          <a:lstStyle/>
          <a:p>
            <a:r>
              <a:rPr lang="en-US" dirty="0" smtClean="0"/>
              <a:t>Final offer requirements</a:t>
            </a:r>
            <a:endParaRPr lang="en-US" dirty="0"/>
          </a:p>
          <a:p>
            <a:pPr lvl="2">
              <a:defRPr/>
            </a:pPr>
            <a:r>
              <a:rPr lang="en-US" dirty="0" smtClean="0"/>
              <a:t>GE has requested that bidders of GE Capital’s U.S. and Canadian Sponsor Finance business unit submit their final offer breaking out the following components of their purchase:</a:t>
            </a:r>
          </a:p>
          <a:p>
            <a:pPr marL="342900" lvl="2" indent="-171450">
              <a:buFont typeface="Arial" panose="020B0604020202020204" pitchFamily="34" charset="0"/>
              <a:buChar char="‒"/>
              <a:defRPr/>
            </a:pPr>
            <a:r>
              <a:rPr lang="en-US" dirty="0" smtClean="0"/>
              <a:t>Core loan portfolio, excluding the Mubadala joint venture</a:t>
            </a:r>
          </a:p>
          <a:p>
            <a:pPr marL="342900" lvl="2" indent="-171450">
              <a:buFont typeface="Arial" panose="020B0604020202020204" pitchFamily="34" charset="0"/>
              <a:buChar char="‒"/>
              <a:defRPr/>
            </a:pPr>
            <a:r>
              <a:rPr lang="en-US" dirty="0" smtClean="0"/>
              <a:t>Debt interests in SSLP</a:t>
            </a:r>
          </a:p>
          <a:p>
            <a:pPr marL="342900" lvl="2" indent="-171450">
              <a:buFont typeface="Arial" panose="020B0604020202020204" pitchFamily="34" charset="0"/>
              <a:buChar char="‒"/>
              <a:defRPr/>
            </a:pPr>
            <a:r>
              <a:rPr lang="en-US" dirty="0" smtClean="0"/>
              <a:t>Equity interests in SSLP</a:t>
            </a:r>
          </a:p>
          <a:p>
            <a:pPr marL="342900" lvl="2" indent="-171450">
              <a:buFont typeface="Arial" panose="020B0604020202020204" pitchFamily="34" charset="0"/>
              <a:buChar char="‒"/>
              <a:defRPr/>
            </a:pPr>
            <a:r>
              <a:rPr lang="en-US" dirty="0" smtClean="0"/>
              <a:t>Debt interests in MMGP</a:t>
            </a:r>
          </a:p>
          <a:p>
            <a:pPr marL="342900" lvl="2" indent="-171450">
              <a:buFont typeface="Arial" panose="020B0604020202020204" pitchFamily="34" charset="0"/>
              <a:buChar char="‒"/>
              <a:defRPr/>
            </a:pPr>
            <a:r>
              <a:rPr lang="en-US" dirty="0" smtClean="0"/>
              <a:t>Equity tags</a:t>
            </a:r>
          </a:p>
          <a:p>
            <a:pPr marL="342900" lvl="2" indent="-171450">
              <a:buFont typeface="Arial" panose="020B0604020202020204" pitchFamily="34" charset="0"/>
              <a:buChar char="‒"/>
              <a:defRPr/>
            </a:pPr>
            <a:r>
              <a:rPr lang="en-US" dirty="0" smtClean="0"/>
              <a:t>Bank Loan Group portfolio (to the extent the bidder chooses to include in their proposal)</a:t>
            </a:r>
          </a:p>
          <a:p>
            <a:pPr marL="342900" lvl="2" indent="-171450">
              <a:buFont typeface="Arial" panose="020B0604020202020204" pitchFamily="34" charset="0"/>
              <a:buChar char="‒"/>
              <a:defRPr/>
            </a:pPr>
            <a:r>
              <a:rPr lang="en-US" dirty="0" smtClean="0"/>
              <a:t>Premium related to the franchise of the business</a:t>
            </a:r>
          </a:p>
          <a:p>
            <a:pPr lvl="2">
              <a:defRPr/>
            </a:pPr>
            <a:r>
              <a:rPr lang="en-US" dirty="0" smtClean="0"/>
              <a:t>GE has also requested the bidder to indicate the willingness to purchase up to an additional $2.2 billion of loans related to the Mubadala joint venture, which present similar characteristics as the overall business.  </a:t>
            </a:r>
            <a:endParaRPr lang="en-US" dirty="0"/>
          </a:p>
          <a:p>
            <a:pPr lvl="2">
              <a:defRPr/>
            </a:pPr>
            <a:r>
              <a:rPr lang="en-US" dirty="0" smtClean="0"/>
              <a:t>In addition, GE has requested that the bidder indicate the willingness to continue the strategic investor programs, and willingness to acquire the loans, if any, that the programs elect to sell via their tag-along rights.</a:t>
            </a:r>
          </a:p>
          <a:p>
            <a:pPr lvl="2">
              <a:defRPr/>
            </a:pPr>
            <a:r>
              <a:rPr lang="en-US" dirty="0" smtClean="0"/>
              <a:t>It is our understanding the following items will not be included in your final offer:</a:t>
            </a:r>
          </a:p>
          <a:p>
            <a:pPr marL="342900" lvl="2" indent="-171450">
              <a:buFont typeface="Arial" pitchFamily="34" charset="0"/>
              <a:buChar char="‒"/>
              <a:defRPr/>
            </a:pPr>
            <a:r>
              <a:rPr lang="en-US" dirty="0"/>
              <a:t>ABL facilities within the Core loan </a:t>
            </a:r>
            <a:r>
              <a:rPr lang="en-US" dirty="0" smtClean="0"/>
              <a:t>portfolio;</a:t>
            </a:r>
            <a:endParaRPr lang="en-US" dirty="0"/>
          </a:p>
          <a:p>
            <a:pPr marL="342900" lvl="2" indent="-171450">
              <a:buFont typeface="Arial" pitchFamily="34" charset="0"/>
              <a:buChar char="‒"/>
              <a:defRPr/>
            </a:pPr>
            <a:r>
              <a:rPr lang="en-US" dirty="0"/>
              <a:t>Debt </a:t>
            </a:r>
            <a:r>
              <a:rPr lang="en-US" dirty="0" smtClean="0"/>
              <a:t>interests </a:t>
            </a:r>
            <a:r>
              <a:rPr lang="en-US" dirty="0"/>
              <a:t>in SSLP and </a:t>
            </a:r>
            <a:r>
              <a:rPr lang="en-US" dirty="0" smtClean="0"/>
              <a:t>MMGP;</a:t>
            </a:r>
            <a:endParaRPr lang="en-US" dirty="0"/>
          </a:p>
          <a:p>
            <a:pPr marL="342900" lvl="2" indent="-171450">
              <a:buFont typeface="Arial" pitchFamily="34" charset="0"/>
              <a:buChar char="‒"/>
              <a:defRPr/>
            </a:pPr>
            <a:r>
              <a:rPr lang="en-US" dirty="0"/>
              <a:t>BLG </a:t>
            </a:r>
            <a:r>
              <a:rPr lang="en-US" dirty="0" smtClean="0"/>
              <a:t>employees, CLO </a:t>
            </a:r>
            <a:r>
              <a:rPr lang="en-US" dirty="0"/>
              <a:t>and revolver </a:t>
            </a:r>
            <a:r>
              <a:rPr lang="en-US" dirty="0" smtClean="0"/>
              <a:t>facilities;</a:t>
            </a:r>
            <a:endParaRPr lang="en-US" dirty="0"/>
          </a:p>
          <a:p>
            <a:pPr marL="342900" lvl="2" indent="-171450">
              <a:buFont typeface="Arial" pitchFamily="34" charset="0"/>
              <a:buChar char="‒"/>
              <a:defRPr/>
            </a:pPr>
            <a:r>
              <a:rPr lang="en-US" dirty="0" err="1"/>
              <a:t>Mubadala</a:t>
            </a:r>
            <a:r>
              <a:rPr lang="en-US" dirty="0"/>
              <a:t> joint </a:t>
            </a:r>
            <a:r>
              <a:rPr lang="en-US" dirty="0" smtClean="0"/>
              <a:t>venture; and</a:t>
            </a:r>
            <a:endParaRPr lang="en-US" dirty="0"/>
          </a:p>
          <a:p>
            <a:pPr marL="342900" lvl="2" indent="-171450">
              <a:buFont typeface="Arial" pitchFamily="34" charset="0"/>
              <a:buChar char="‒"/>
              <a:defRPr/>
            </a:pPr>
            <a:r>
              <a:rPr lang="en-US" dirty="0"/>
              <a:t>Strategic program with Golden Hill CLO I, LLC</a:t>
            </a:r>
          </a:p>
          <a:p>
            <a:pPr lvl="2">
              <a:defRPr/>
            </a:pPr>
            <a:endParaRPr lang="en-US" dirty="0"/>
          </a:p>
        </p:txBody>
      </p:sp>
      <p:sp>
        <p:nvSpPr>
          <p:cNvPr id="6" name="Title 1"/>
          <p:cNvSpPr>
            <a:spLocks noGrp="1"/>
          </p:cNvSpPr>
          <p:nvPr>
            <p:ph type="title"/>
          </p:nvPr>
        </p:nvSpPr>
        <p:spPr>
          <a:xfrm>
            <a:off x="2123728" y="116632"/>
            <a:ext cx="6768226" cy="576064"/>
          </a:xfrm>
        </p:spPr>
        <p:txBody>
          <a:bodyPr/>
          <a:lstStyle/>
          <a:p>
            <a:r>
              <a:rPr lang="en-US" sz="1400" b="0" dirty="0" smtClean="0">
                <a:solidFill>
                  <a:srgbClr val="747678"/>
                </a:solidFill>
              </a:rPr>
              <a:t>Executive summary</a:t>
            </a:r>
            <a:r>
              <a:rPr lang="en-US" dirty="0" smtClean="0"/>
              <a:t/>
            </a:r>
            <a:br>
              <a:rPr lang="en-US" dirty="0" smtClean="0"/>
            </a:br>
            <a:r>
              <a:rPr lang="en-US" dirty="0" smtClean="0"/>
              <a:t>Business and transaction overview (2)</a:t>
            </a:r>
            <a:endParaRPr lang="en-US" dirty="0"/>
          </a:p>
        </p:txBody>
      </p:sp>
      <p:sp>
        <p:nvSpPr>
          <p:cNvPr id="5" name="Text Placeholder 3"/>
          <p:cNvSpPr>
            <a:spLocks noGrp="1"/>
          </p:cNvSpPr>
          <p:nvPr>
            <p:ph type="body" sz="quarter" idx="14"/>
          </p:nvPr>
        </p:nvSpPr>
        <p:spPr>
          <a:xfrm>
            <a:off x="5580112" y="1196753"/>
            <a:ext cx="3311842" cy="4896072"/>
          </a:xfrm>
        </p:spPr>
        <p:txBody>
          <a:bodyPr/>
          <a:lstStyle/>
          <a:p>
            <a:r>
              <a:rPr lang="en-US" dirty="0" smtClean="0"/>
              <a:t>Legal entity structure</a:t>
            </a:r>
            <a:endParaRPr lang="en-US" dirty="0"/>
          </a:p>
          <a:p>
            <a:pPr lvl="2">
              <a:defRPr/>
            </a:pPr>
            <a:r>
              <a:rPr lang="en-US" dirty="0">
                <a:solidFill>
                  <a:srgbClr val="000000"/>
                </a:solidFill>
              </a:rPr>
              <a:t>We understand that an AcquirorCo will be set up to effect the acquisition </a:t>
            </a:r>
            <a:r>
              <a:rPr lang="en-US" dirty="0" smtClean="0">
                <a:solidFill>
                  <a:srgbClr val="000000"/>
                </a:solidFill>
              </a:rPr>
              <a:t>as the assets for sale reside in a number of GE Capital legal entities, a</a:t>
            </a:r>
            <a:r>
              <a:rPr lang="en-US" dirty="0" smtClean="0"/>
              <a:t>s depicted in Appendix 18:</a:t>
            </a:r>
          </a:p>
          <a:p>
            <a:pPr marL="342900" lvl="2" indent="-171450">
              <a:buFont typeface="Arial" panose="020B0604020202020204" pitchFamily="34" charset="0"/>
              <a:buChar char="‒"/>
              <a:defRPr/>
            </a:pPr>
            <a:r>
              <a:rPr lang="en-US" dirty="0" smtClean="0"/>
              <a:t>Loans are held within: </a:t>
            </a:r>
          </a:p>
          <a:p>
            <a:pPr marL="517525" lvl="2" indent="-171450">
              <a:buFont typeface="Wingdings" panose="05000000000000000000" pitchFamily="2" charset="2"/>
              <a:buChar char="§"/>
              <a:defRPr/>
            </a:pPr>
            <a:r>
              <a:rPr lang="en-US" dirty="0" smtClean="0"/>
              <a:t>GE Capital Corporation, </a:t>
            </a:r>
          </a:p>
          <a:p>
            <a:pPr marL="517525" lvl="2" indent="-171450">
              <a:buFont typeface="Wingdings" panose="05000000000000000000" pitchFamily="2" charset="2"/>
              <a:buChar char="§"/>
              <a:defRPr/>
            </a:pPr>
            <a:r>
              <a:rPr lang="en-US" dirty="0" smtClean="0"/>
              <a:t>Antares Capital Corporation, </a:t>
            </a:r>
          </a:p>
          <a:p>
            <a:pPr marL="517525" lvl="2" indent="-171450">
              <a:buFont typeface="Wingdings" panose="05000000000000000000" pitchFamily="2" charset="2"/>
              <a:buChar char="§"/>
              <a:defRPr/>
            </a:pPr>
            <a:r>
              <a:rPr lang="en-US" dirty="0" smtClean="0"/>
              <a:t>GE Capital Bank, </a:t>
            </a:r>
          </a:p>
          <a:p>
            <a:pPr marL="517525" lvl="2" indent="-171450">
              <a:buFont typeface="Wingdings" panose="05000000000000000000" pitchFamily="2" charset="2"/>
              <a:buChar char="§"/>
              <a:defRPr/>
            </a:pPr>
            <a:r>
              <a:rPr lang="en-US" dirty="0" smtClean="0"/>
              <a:t>GE Capital Canada Finance, Inc., </a:t>
            </a:r>
          </a:p>
          <a:p>
            <a:pPr marL="517525" lvl="2" indent="-171450">
              <a:buFont typeface="Wingdings" panose="05000000000000000000" pitchFamily="2" charset="2"/>
              <a:buChar char="§"/>
              <a:defRPr/>
            </a:pPr>
            <a:r>
              <a:rPr lang="en-US" dirty="0" smtClean="0"/>
              <a:t>GE Canada Finance Holding Company</a:t>
            </a:r>
            <a:endParaRPr lang="en-US" dirty="0"/>
          </a:p>
          <a:p>
            <a:pPr marL="342900" lvl="2" indent="-171450">
              <a:buFont typeface="Arial" panose="020B0604020202020204" pitchFamily="34" charset="0"/>
              <a:buChar char="‒"/>
              <a:defRPr/>
            </a:pPr>
            <a:r>
              <a:rPr lang="en-US" dirty="0" smtClean="0"/>
              <a:t>SSLP equity interests are held within GE Global Sponsor Finance LLC</a:t>
            </a:r>
          </a:p>
          <a:p>
            <a:pPr marL="342900" lvl="2" indent="-171450">
              <a:buFont typeface="Arial" panose="020B0604020202020204" pitchFamily="34" charset="0"/>
              <a:buChar char="‒"/>
              <a:defRPr/>
            </a:pPr>
            <a:r>
              <a:rPr lang="en-US" dirty="0" smtClean="0"/>
              <a:t>Equity tags are held within: </a:t>
            </a:r>
          </a:p>
          <a:p>
            <a:pPr marL="517525" lvl="2" indent="-171450">
              <a:buFont typeface="Wingdings" panose="05000000000000000000" pitchFamily="2" charset="2"/>
              <a:buChar char="§"/>
              <a:defRPr/>
            </a:pPr>
            <a:r>
              <a:rPr lang="en-US" dirty="0"/>
              <a:t>GE Capital Corporation, </a:t>
            </a:r>
          </a:p>
          <a:p>
            <a:pPr marL="517525" lvl="2" indent="-171450">
              <a:buFont typeface="Wingdings" panose="05000000000000000000" pitchFamily="2" charset="2"/>
              <a:buChar char="§"/>
              <a:defRPr/>
            </a:pPr>
            <a:r>
              <a:rPr lang="en-US" dirty="0"/>
              <a:t>Antares Capital Corporation, </a:t>
            </a:r>
          </a:p>
          <a:p>
            <a:pPr marL="517525" lvl="2" indent="-171450">
              <a:buFont typeface="Wingdings" panose="05000000000000000000" pitchFamily="2" charset="2"/>
              <a:buChar char="§"/>
              <a:defRPr/>
            </a:pPr>
            <a:r>
              <a:rPr lang="en-US" dirty="0"/>
              <a:t>GE Capital </a:t>
            </a:r>
            <a:r>
              <a:rPr lang="en-US" dirty="0" smtClean="0"/>
              <a:t>Equity Inv., Inc.</a:t>
            </a:r>
          </a:p>
          <a:p>
            <a:pPr marL="517525" lvl="2" indent="-171450">
              <a:buFont typeface="Wingdings" panose="05000000000000000000" pitchFamily="2" charset="2"/>
              <a:buChar char="§"/>
              <a:defRPr/>
            </a:pPr>
            <a:r>
              <a:rPr lang="en-US" dirty="0" smtClean="0"/>
              <a:t>GE </a:t>
            </a:r>
            <a:r>
              <a:rPr lang="en-US" dirty="0"/>
              <a:t>Capital </a:t>
            </a:r>
            <a:r>
              <a:rPr lang="en-US" dirty="0" smtClean="0"/>
              <a:t>Equity Holdings, Inc.</a:t>
            </a:r>
            <a:endParaRPr lang="en-US" dirty="0"/>
          </a:p>
        </p:txBody>
      </p:sp>
    </p:spTree>
    <p:extLst>
      <p:ext uri="{BB962C8B-B14F-4D97-AF65-F5344CB8AC3E}">
        <p14:creationId xmlns:p14="http://schemas.microsoft.com/office/powerpoint/2010/main" val="32436365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Rectangle 87"/>
          <p:cNvSpPr/>
          <p:nvPr/>
        </p:nvSpPr>
        <p:spPr>
          <a:xfrm>
            <a:off x="152400" y="3443610"/>
            <a:ext cx="8839199" cy="2143843"/>
          </a:xfrm>
          <a:prstGeom prst="rect">
            <a:avLst/>
          </a:prstGeom>
          <a:solidFill>
            <a:srgbClr val="F1D3BF"/>
          </a:solidFill>
          <a:ln w="12700">
            <a:solidFill>
              <a:srgbClr val="9E303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US" sz="900" dirty="0" smtClean="0">
              <a:solidFill>
                <a:schemeClr val="accent4"/>
              </a:solidFill>
            </a:endParaRPr>
          </a:p>
          <a:p>
            <a:pPr algn="ctr"/>
            <a:endParaRPr lang="en-US" sz="900" dirty="0" smtClean="0">
              <a:solidFill>
                <a:schemeClr val="accent4"/>
              </a:solidFill>
            </a:endParaRPr>
          </a:p>
          <a:p>
            <a:pPr algn="ctr"/>
            <a:endParaRPr lang="en-US" sz="900" dirty="0" smtClean="0">
              <a:solidFill>
                <a:schemeClr val="accent4"/>
              </a:solidFill>
            </a:endParaRPr>
          </a:p>
          <a:p>
            <a:pPr algn="ctr"/>
            <a:endParaRPr lang="en-US" sz="900" dirty="0" smtClean="0">
              <a:solidFill>
                <a:schemeClr val="accent4"/>
              </a:solidFill>
            </a:endParaRPr>
          </a:p>
          <a:p>
            <a:pPr algn="ctr"/>
            <a:endParaRPr lang="en-US" sz="900" dirty="0" smtClean="0">
              <a:solidFill>
                <a:schemeClr val="accent4"/>
              </a:solidFill>
            </a:endParaRPr>
          </a:p>
          <a:p>
            <a:pPr algn="ctr"/>
            <a:endParaRPr lang="en-US" sz="900" dirty="0" smtClean="0">
              <a:solidFill>
                <a:schemeClr val="accent4"/>
              </a:solidFill>
            </a:endParaRPr>
          </a:p>
          <a:p>
            <a:pPr algn="ctr"/>
            <a:endParaRPr lang="en-US" sz="900" dirty="0" smtClean="0">
              <a:solidFill>
                <a:schemeClr val="accent4"/>
              </a:solidFill>
            </a:endParaRPr>
          </a:p>
          <a:p>
            <a:pPr algn="ctr"/>
            <a:endParaRPr lang="en-US" sz="900" dirty="0" smtClean="0">
              <a:solidFill>
                <a:schemeClr val="accent4"/>
              </a:solidFill>
            </a:endParaRPr>
          </a:p>
          <a:p>
            <a:pPr algn="ctr"/>
            <a:endParaRPr lang="en-US" sz="900" dirty="0" smtClean="0">
              <a:solidFill>
                <a:schemeClr val="accent4"/>
              </a:solidFill>
            </a:endParaRPr>
          </a:p>
          <a:p>
            <a:pPr algn="ctr"/>
            <a:endParaRPr lang="en-US" sz="900" dirty="0" smtClean="0">
              <a:solidFill>
                <a:schemeClr val="accent4"/>
              </a:solidFill>
            </a:endParaRPr>
          </a:p>
          <a:p>
            <a:pPr algn="ctr"/>
            <a:endParaRPr lang="en-US" sz="900" dirty="0" smtClean="0">
              <a:solidFill>
                <a:schemeClr val="accent4"/>
              </a:solidFill>
            </a:endParaRPr>
          </a:p>
          <a:p>
            <a:pPr algn="ctr"/>
            <a:endParaRPr lang="en-US" sz="900" dirty="0" smtClean="0">
              <a:solidFill>
                <a:schemeClr val="accent4"/>
              </a:solidFill>
            </a:endParaRPr>
          </a:p>
          <a:p>
            <a:pPr algn="ctr"/>
            <a:endParaRPr lang="en-US" sz="900" dirty="0" smtClean="0">
              <a:solidFill>
                <a:schemeClr val="accent4"/>
              </a:solidFill>
            </a:endParaRPr>
          </a:p>
          <a:p>
            <a:pPr algn="ctr"/>
            <a:endParaRPr lang="en-US" sz="900" dirty="0" smtClean="0">
              <a:solidFill>
                <a:schemeClr val="accent4"/>
              </a:solidFill>
            </a:endParaRPr>
          </a:p>
          <a:p>
            <a:pPr algn="ctr"/>
            <a:endParaRPr lang="en-US" sz="900" dirty="0" smtClean="0">
              <a:solidFill>
                <a:schemeClr val="accent4"/>
              </a:solidFill>
            </a:endParaRPr>
          </a:p>
          <a:p>
            <a:pPr algn="ctr"/>
            <a:endParaRPr lang="en-US" sz="900" dirty="0" smtClean="0">
              <a:solidFill>
                <a:schemeClr val="accent4"/>
              </a:solidFill>
            </a:endParaRPr>
          </a:p>
          <a:p>
            <a:pPr algn="ctr"/>
            <a:endParaRPr lang="en-US" sz="900" dirty="0" smtClean="0">
              <a:solidFill>
                <a:schemeClr val="accent4"/>
              </a:solidFill>
            </a:endParaRPr>
          </a:p>
          <a:p>
            <a:pPr algn="ctr"/>
            <a:endParaRPr lang="en-US" sz="900" dirty="0" smtClean="0">
              <a:solidFill>
                <a:schemeClr val="accent4"/>
              </a:solidFill>
            </a:endParaRPr>
          </a:p>
          <a:p>
            <a:pPr algn="ctr"/>
            <a:endParaRPr lang="en-US" sz="900" dirty="0" smtClean="0">
              <a:solidFill>
                <a:schemeClr val="accent4"/>
              </a:solidFill>
            </a:endParaRPr>
          </a:p>
          <a:p>
            <a:pPr algn="ctr"/>
            <a:endParaRPr lang="en-US" sz="900" dirty="0" smtClean="0">
              <a:solidFill>
                <a:schemeClr val="accent4"/>
              </a:solidFill>
            </a:endParaRPr>
          </a:p>
          <a:p>
            <a:pPr algn="ctr"/>
            <a:endParaRPr lang="en-US" sz="900" dirty="0" smtClean="0">
              <a:solidFill>
                <a:schemeClr val="accent4"/>
              </a:solidFill>
            </a:endParaRPr>
          </a:p>
          <a:p>
            <a:pPr algn="ctr"/>
            <a:endParaRPr lang="en-US" sz="900" dirty="0" smtClean="0">
              <a:solidFill>
                <a:schemeClr val="accent4"/>
              </a:solidFill>
            </a:endParaRPr>
          </a:p>
          <a:p>
            <a:pPr algn="ctr"/>
            <a:endParaRPr lang="en-US" sz="900" dirty="0" smtClean="0">
              <a:solidFill>
                <a:schemeClr val="accent4"/>
              </a:solidFill>
            </a:endParaRPr>
          </a:p>
          <a:p>
            <a:pPr algn="ctr"/>
            <a:endParaRPr lang="en-US" sz="900" dirty="0" smtClean="0">
              <a:solidFill>
                <a:schemeClr val="accent4"/>
              </a:solidFill>
            </a:endParaRPr>
          </a:p>
          <a:p>
            <a:pPr algn="ctr"/>
            <a:endParaRPr lang="en-US" sz="900" dirty="0" smtClean="0">
              <a:solidFill>
                <a:schemeClr val="accent4"/>
              </a:solidFill>
            </a:endParaRPr>
          </a:p>
        </p:txBody>
      </p:sp>
      <p:cxnSp>
        <p:nvCxnSpPr>
          <p:cNvPr id="35" name="Straight Connector 34"/>
          <p:cNvCxnSpPr>
            <a:stCxn id="50" idx="0"/>
            <a:endCxn id="42" idx="2"/>
          </p:cNvCxnSpPr>
          <p:nvPr/>
        </p:nvCxnSpPr>
        <p:spPr>
          <a:xfrm flipV="1">
            <a:off x="4675665" y="2001208"/>
            <a:ext cx="763" cy="251964"/>
          </a:xfrm>
          <a:prstGeom prst="line">
            <a:avLst/>
          </a:prstGeom>
          <a:ln>
            <a:solidFill>
              <a:srgbClr val="747678"/>
            </a:solidFill>
          </a:ln>
        </p:spPr>
        <p:style>
          <a:lnRef idx="1">
            <a:schemeClr val="accent1"/>
          </a:lnRef>
          <a:fillRef idx="0">
            <a:schemeClr val="accent1"/>
          </a:fillRef>
          <a:effectRef idx="0">
            <a:schemeClr val="accent1"/>
          </a:effectRef>
          <a:fontRef idx="minor">
            <a:schemeClr val="tx1"/>
          </a:fontRef>
        </p:style>
      </p:cxnSp>
      <p:sp>
        <p:nvSpPr>
          <p:cNvPr id="39" name="Text Box 2"/>
          <p:cNvSpPr txBox="1">
            <a:spLocks noChangeArrowheads="1"/>
          </p:cNvSpPr>
          <p:nvPr>
            <p:custDataLst>
              <p:tags r:id="rId1"/>
            </p:custDataLst>
          </p:nvPr>
        </p:nvSpPr>
        <p:spPr bwMode="auto">
          <a:xfrm>
            <a:off x="253846" y="5638800"/>
            <a:ext cx="4414962" cy="729430"/>
          </a:xfrm>
          <a:prstGeom prst="rect">
            <a:avLst/>
          </a:prstGeom>
          <a:noFill/>
          <a:ln w="6350">
            <a:noFill/>
            <a:miter lim="800000"/>
            <a:headEnd type="none" w="sm" len="sm"/>
            <a:tailEnd type="none" w="sm" len="sm"/>
          </a:ln>
        </p:spPr>
        <p:txBody>
          <a:bodyPr wrap="square" lIns="0" tIns="0" rIns="0" bIns="0" anchor="b">
            <a:spAutoFit/>
          </a:bodyPr>
          <a:lstStyle/>
          <a:p>
            <a:pPr marL="539750" marR="0" lvl="0" indent="-539750" defTabSz="762000" eaLnBrk="0" fontAlgn="auto" latinLnBrk="0" hangingPunct="0">
              <a:lnSpc>
                <a:spcPct val="100000"/>
              </a:lnSpc>
              <a:spcBef>
                <a:spcPct val="15000"/>
              </a:spcBef>
              <a:spcAft>
                <a:spcPts val="0"/>
              </a:spcAft>
              <a:buClrTx/>
              <a:buSzTx/>
              <a:buFontTx/>
              <a:buNone/>
              <a:tabLst>
                <a:tab pos="357188" algn="l"/>
              </a:tabLst>
              <a:defRPr/>
            </a:pPr>
            <a:r>
              <a:rPr kumimoji="0" lang="en-GB" sz="600" b="0" i="1" u="none" strike="noStrike" kern="0" cap="none" spc="0" normalizeH="0" baseline="0" noProof="0" dirty="0" smtClean="0">
                <a:ln>
                  <a:noFill/>
                </a:ln>
                <a:effectLst/>
                <a:uLnTx/>
                <a:uFillTx/>
                <a:latin typeface="Arial" pitchFamily="34" charset="0"/>
                <a:cs typeface="Arial" pitchFamily="34" charset="0"/>
              </a:rPr>
              <a:t>Source:	</a:t>
            </a:r>
            <a:r>
              <a:rPr lang="en-GB" sz="600" i="1" kern="0" noProof="0" dirty="0" smtClean="0">
                <a:latin typeface="Arial" pitchFamily="34" charset="0"/>
                <a:cs typeface="Arial" pitchFamily="34" charset="0"/>
              </a:rPr>
              <a:t>Final Offer Process Letter dated May 26,2015</a:t>
            </a:r>
          </a:p>
          <a:p>
            <a:pPr marL="539750" marR="0" lvl="0" indent="-539750" defTabSz="762000" eaLnBrk="0" fontAlgn="auto" latinLnBrk="0" hangingPunct="0">
              <a:lnSpc>
                <a:spcPct val="100000"/>
              </a:lnSpc>
              <a:spcBef>
                <a:spcPct val="15000"/>
              </a:spcBef>
              <a:spcAft>
                <a:spcPts val="0"/>
              </a:spcAft>
              <a:buClrTx/>
              <a:buSzTx/>
              <a:buFontTx/>
              <a:buNone/>
              <a:tabLst>
                <a:tab pos="357188" algn="l"/>
              </a:tabLst>
              <a:defRPr/>
            </a:pPr>
            <a:r>
              <a:rPr lang="en-GB" sz="600" i="1" kern="0" dirty="0" smtClean="0">
                <a:latin typeface="Arial" pitchFamily="34" charset="0"/>
                <a:cs typeface="Arial" pitchFamily="34" charset="0"/>
              </a:rPr>
              <a:t>Note:	* Represents outstanding / funded balances as of Q1’15</a:t>
            </a:r>
          </a:p>
          <a:p>
            <a:pPr marL="539750" marR="0" lvl="0" indent="-539750" defTabSz="762000" eaLnBrk="0" fontAlgn="auto" latinLnBrk="0" hangingPunct="0">
              <a:lnSpc>
                <a:spcPct val="100000"/>
              </a:lnSpc>
              <a:spcBef>
                <a:spcPct val="15000"/>
              </a:spcBef>
              <a:spcAft>
                <a:spcPts val="0"/>
              </a:spcAft>
              <a:buClrTx/>
              <a:buSzTx/>
              <a:buFontTx/>
              <a:buNone/>
              <a:tabLst>
                <a:tab pos="357188" algn="l"/>
              </a:tabLst>
              <a:defRPr/>
            </a:pPr>
            <a:r>
              <a:rPr lang="en-GB" sz="600" i="1" kern="0" noProof="0" dirty="0">
                <a:latin typeface="Arial" pitchFamily="34" charset="0"/>
                <a:cs typeface="Arial" pitchFamily="34" charset="0"/>
              </a:rPr>
              <a:t>	</a:t>
            </a:r>
            <a:r>
              <a:rPr lang="en-GB" sz="600" i="1" kern="0" noProof="0" dirty="0" smtClean="0">
                <a:latin typeface="Arial" pitchFamily="34" charset="0"/>
                <a:cs typeface="Arial" pitchFamily="34" charset="0"/>
              </a:rPr>
              <a:t>1 – BLG employees, CLOs and revolver facilities are not expected to be included </a:t>
            </a:r>
            <a:r>
              <a:rPr lang="en-GB" sz="600" i="1" kern="0" dirty="0" smtClean="0">
                <a:latin typeface="Arial" pitchFamily="34" charset="0"/>
                <a:cs typeface="Arial" pitchFamily="34" charset="0"/>
              </a:rPr>
              <a:t>in your Final Offer</a:t>
            </a:r>
            <a:endParaRPr lang="en-GB" sz="600" i="1" kern="0" noProof="0" dirty="0" smtClean="0">
              <a:latin typeface="Arial" pitchFamily="34" charset="0"/>
              <a:cs typeface="Arial" pitchFamily="34" charset="0"/>
            </a:endParaRPr>
          </a:p>
          <a:p>
            <a:pPr marL="539750" marR="0" lvl="0" indent="-539750" defTabSz="762000" eaLnBrk="0" fontAlgn="auto" latinLnBrk="0" hangingPunct="0">
              <a:lnSpc>
                <a:spcPct val="100000"/>
              </a:lnSpc>
              <a:spcBef>
                <a:spcPct val="15000"/>
              </a:spcBef>
              <a:spcAft>
                <a:spcPts val="0"/>
              </a:spcAft>
              <a:buClrTx/>
              <a:buSzTx/>
              <a:buFontTx/>
              <a:buNone/>
              <a:tabLst>
                <a:tab pos="357188" algn="l"/>
              </a:tabLst>
              <a:defRPr/>
            </a:pPr>
            <a:r>
              <a:rPr lang="en-GB" sz="600" i="1" kern="0" dirty="0">
                <a:latin typeface="Arial" pitchFamily="34" charset="0"/>
                <a:cs typeface="Arial" pitchFamily="34" charset="0"/>
              </a:rPr>
              <a:t>	</a:t>
            </a:r>
            <a:r>
              <a:rPr lang="en-GB" sz="600" i="1" kern="0" dirty="0" smtClean="0">
                <a:latin typeface="Arial" pitchFamily="34" charset="0"/>
                <a:cs typeface="Arial" pitchFamily="34" charset="0"/>
              </a:rPr>
              <a:t>2 – ABL facilities within the Target’s Core loan portfolio are not expected to be included in your Final Offer</a:t>
            </a:r>
          </a:p>
          <a:p>
            <a:pPr marL="539750" marR="0" lvl="0" indent="-539750" defTabSz="762000" eaLnBrk="0" fontAlgn="auto" latinLnBrk="0" hangingPunct="0">
              <a:lnSpc>
                <a:spcPct val="100000"/>
              </a:lnSpc>
              <a:spcBef>
                <a:spcPct val="15000"/>
              </a:spcBef>
              <a:spcAft>
                <a:spcPts val="0"/>
              </a:spcAft>
              <a:buClrTx/>
              <a:buSzTx/>
              <a:buFontTx/>
              <a:buNone/>
              <a:tabLst>
                <a:tab pos="357188" algn="l"/>
              </a:tabLst>
              <a:defRPr/>
            </a:pPr>
            <a:r>
              <a:rPr lang="en-GB" sz="600" i="1" kern="0" dirty="0">
                <a:latin typeface="Arial" pitchFamily="34" charset="0"/>
                <a:cs typeface="Arial" pitchFamily="34" charset="0"/>
              </a:rPr>
              <a:t>	</a:t>
            </a:r>
            <a:r>
              <a:rPr lang="en-GB" sz="600" i="1" kern="0" dirty="0" smtClean="0">
                <a:latin typeface="Arial" pitchFamily="34" charset="0"/>
                <a:cs typeface="Arial" pitchFamily="34" charset="0"/>
              </a:rPr>
              <a:t>Golden Hill CLO I, LLC – a $400 million strategic investor program – is not expected to be included in your Final Offer</a:t>
            </a:r>
          </a:p>
          <a:p>
            <a:pPr marL="539750" marR="0" lvl="0" indent="-539750" defTabSz="762000" eaLnBrk="0" fontAlgn="auto" latinLnBrk="0" hangingPunct="0">
              <a:lnSpc>
                <a:spcPct val="100000"/>
              </a:lnSpc>
              <a:spcBef>
                <a:spcPct val="15000"/>
              </a:spcBef>
              <a:spcAft>
                <a:spcPts val="0"/>
              </a:spcAft>
              <a:buClrTx/>
              <a:buSzTx/>
              <a:buFontTx/>
              <a:buNone/>
              <a:tabLst>
                <a:tab pos="357188" algn="l"/>
              </a:tabLst>
              <a:defRPr/>
            </a:pPr>
            <a:r>
              <a:rPr lang="en-GB" sz="600" i="1" kern="0" dirty="0" smtClean="0">
                <a:latin typeface="Arial" pitchFamily="34" charset="0"/>
                <a:cs typeface="Arial" pitchFamily="34" charset="0"/>
              </a:rPr>
              <a:t>Key:		</a:t>
            </a:r>
            <a:r>
              <a:rPr lang="en-GB" sz="600" i="1" kern="0" dirty="0">
                <a:latin typeface="Arial" pitchFamily="34" charset="0"/>
                <a:cs typeface="Arial" pitchFamily="34" charset="0"/>
              </a:rPr>
              <a:t> </a:t>
            </a:r>
            <a:r>
              <a:rPr lang="en-GB" sz="600" i="1" kern="0" dirty="0" smtClean="0">
                <a:latin typeface="Arial" pitchFamily="34" charset="0"/>
                <a:cs typeface="Arial" pitchFamily="34" charset="0"/>
              </a:rPr>
              <a:t>    </a:t>
            </a:r>
            <a:r>
              <a:rPr lang="en-GB" sz="600" i="1" kern="0" noProof="0" dirty="0" smtClean="0">
                <a:latin typeface="Arial" pitchFamily="34" charset="0"/>
                <a:cs typeface="Arial" pitchFamily="34" charset="0"/>
              </a:rPr>
              <a:t>Components expected to be included in your Final Offer</a:t>
            </a:r>
          </a:p>
          <a:p>
            <a:pPr marL="539750" marR="0" lvl="0" indent="-539750" defTabSz="762000" eaLnBrk="0" fontAlgn="auto" latinLnBrk="0" hangingPunct="0">
              <a:lnSpc>
                <a:spcPct val="100000"/>
              </a:lnSpc>
              <a:spcBef>
                <a:spcPct val="15000"/>
              </a:spcBef>
              <a:spcAft>
                <a:spcPts val="0"/>
              </a:spcAft>
              <a:buClrTx/>
              <a:buSzTx/>
              <a:buFontTx/>
              <a:buNone/>
              <a:tabLst>
                <a:tab pos="357188" algn="l"/>
              </a:tabLst>
              <a:defRPr/>
            </a:pPr>
            <a:r>
              <a:rPr lang="en-GB" sz="600" i="1" kern="0" noProof="0" dirty="0" smtClean="0">
                <a:latin typeface="Arial" pitchFamily="34" charset="0"/>
                <a:cs typeface="Arial" pitchFamily="34" charset="0"/>
              </a:rPr>
              <a:t>		      Components expected to not be included in your Final Offer</a:t>
            </a:r>
          </a:p>
        </p:txBody>
      </p:sp>
      <p:cxnSp>
        <p:nvCxnSpPr>
          <p:cNvPr id="41" name="Straight Connector 40"/>
          <p:cNvCxnSpPr/>
          <p:nvPr/>
        </p:nvCxnSpPr>
        <p:spPr>
          <a:xfrm flipV="1">
            <a:off x="4526602" y="2997207"/>
            <a:ext cx="556" cy="3625"/>
          </a:xfrm>
          <a:prstGeom prst="line">
            <a:avLst/>
          </a:prstGeom>
          <a:ln>
            <a:solidFill>
              <a:srgbClr val="747678"/>
            </a:solidFill>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4079234" y="1488688"/>
            <a:ext cx="1194388" cy="512520"/>
          </a:xfrm>
          <a:prstGeom prst="rect">
            <a:avLst/>
          </a:prstGeom>
          <a:solidFill>
            <a:srgbClr val="E3C9E3"/>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smtClean="0">
                <a:solidFill>
                  <a:schemeClr val="accent4"/>
                </a:solidFill>
              </a:rPr>
              <a:t>General Electric Corporation</a:t>
            </a:r>
          </a:p>
        </p:txBody>
      </p:sp>
      <p:sp>
        <p:nvSpPr>
          <p:cNvPr id="43" name="Rectangle 42"/>
          <p:cNvSpPr/>
          <p:nvPr/>
        </p:nvSpPr>
        <p:spPr>
          <a:xfrm>
            <a:off x="253847" y="4120677"/>
            <a:ext cx="1148168" cy="501600"/>
          </a:xfrm>
          <a:prstGeom prst="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800" dirty="0" smtClean="0">
                <a:solidFill>
                  <a:schemeClr val="accent4"/>
                </a:solidFill>
              </a:rPr>
              <a:t>Core loan portfolio</a:t>
            </a:r>
            <a:r>
              <a:rPr lang="en-US" sz="800" baseline="30000" dirty="0" smtClean="0">
                <a:solidFill>
                  <a:schemeClr val="accent4"/>
                </a:solidFill>
              </a:rPr>
              <a:t>2</a:t>
            </a:r>
          </a:p>
          <a:p>
            <a:pPr algn="ctr"/>
            <a:r>
              <a:rPr lang="en-US" sz="700" i="1" dirty="0" smtClean="0">
                <a:solidFill>
                  <a:schemeClr val="accent4"/>
                </a:solidFill>
              </a:rPr>
              <a:t>Q1’15 balance*:</a:t>
            </a:r>
          </a:p>
          <a:p>
            <a:pPr algn="ctr"/>
            <a:r>
              <a:rPr lang="en-US" sz="700" i="1" dirty="0" smtClean="0">
                <a:solidFill>
                  <a:schemeClr val="accent4"/>
                </a:solidFill>
              </a:rPr>
              <a:t>$8,734 million</a:t>
            </a:r>
          </a:p>
        </p:txBody>
      </p:sp>
      <p:sp>
        <p:nvSpPr>
          <p:cNvPr id="44" name="Rectangle 43"/>
          <p:cNvSpPr/>
          <p:nvPr/>
        </p:nvSpPr>
        <p:spPr>
          <a:xfrm>
            <a:off x="2766839" y="4120677"/>
            <a:ext cx="1148168" cy="501600"/>
          </a:xfrm>
          <a:prstGeom prst="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800" dirty="0" smtClean="0">
                <a:solidFill>
                  <a:schemeClr val="accent4"/>
                </a:solidFill>
              </a:rPr>
              <a:t>SSLP equity </a:t>
            </a:r>
            <a:r>
              <a:rPr lang="en-US" sz="800" dirty="0">
                <a:solidFill>
                  <a:schemeClr val="accent4"/>
                </a:solidFill>
              </a:rPr>
              <a:t>i</a:t>
            </a:r>
            <a:r>
              <a:rPr lang="en-US" sz="800" dirty="0" smtClean="0">
                <a:solidFill>
                  <a:schemeClr val="accent4"/>
                </a:solidFill>
              </a:rPr>
              <a:t>nterests</a:t>
            </a:r>
          </a:p>
          <a:p>
            <a:pPr algn="ctr"/>
            <a:r>
              <a:rPr lang="en-US" sz="700" i="1" dirty="0">
                <a:solidFill>
                  <a:schemeClr val="accent4"/>
                </a:solidFill>
              </a:rPr>
              <a:t>Q1’15 balance*:</a:t>
            </a:r>
          </a:p>
          <a:p>
            <a:pPr algn="ctr"/>
            <a:r>
              <a:rPr lang="en-US" sz="700" i="1" dirty="0" smtClean="0">
                <a:solidFill>
                  <a:schemeClr val="accent4"/>
                </a:solidFill>
              </a:rPr>
              <a:t>$286 million</a:t>
            </a:r>
            <a:endParaRPr lang="en-US" sz="700" i="1" dirty="0">
              <a:solidFill>
                <a:schemeClr val="accent4"/>
              </a:solidFill>
            </a:endParaRPr>
          </a:p>
        </p:txBody>
      </p:sp>
      <p:sp>
        <p:nvSpPr>
          <p:cNvPr id="45" name="Rectangle 44"/>
          <p:cNvSpPr/>
          <p:nvPr/>
        </p:nvSpPr>
        <p:spPr>
          <a:xfrm>
            <a:off x="4011018" y="4120677"/>
            <a:ext cx="1148168" cy="501600"/>
          </a:xfrm>
          <a:prstGeom prst="rect">
            <a:avLst/>
          </a:prstGeom>
          <a:solidFill>
            <a:schemeClr val="bg1">
              <a:lumMod val="75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800" dirty="0" smtClean="0">
                <a:solidFill>
                  <a:schemeClr val="accent4"/>
                </a:solidFill>
              </a:rPr>
              <a:t>MMGP debt </a:t>
            </a:r>
            <a:r>
              <a:rPr lang="en-US" sz="800" dirty="0">
                <a:solidFill>
                  <a:schemeClr val="accent4"/>
                </a:solidFill>
              </a:rPr>
              <a:t>i</a:t>
            </a:r>
            <a:r>
              <a:rPr lang="en-US" sz="800" dirty="0" smtClean="0">
                <a:solidFill>
                  <a:schemeClr val="accent4"/>
                </a:solidFill>
              </a:rPr>
              <a:t>nterests</a:t>
            </a:r>
          </a:p>
          <a:p>
            <a:pPr algn="ctr"/>
            <a:r>
              <a:rPr lang="en-US" sz="700" i="1" dirty="0">
                <a:solidFill>
                  <a:schemeClr val="accent4"/>
                </a:solidFill>
              </a:rPr>
              <a:t>Q1’15 balance*:</a:t>
            </a:r>
          </a:p>
          <a:p>
            <a:pPr algn="ctr"/>
            <a:r>
              <a:rPr lang="en-US" sz="700" i="1" dirty="0" smtClean="0">
                <a:solidFill>
                  <a:schemeClr val="accent4"/>
                </a:solidFill>
              </a:rPr>
              <a:t>$571 million</a:t>
            </a:r>
            <a:endParaRPr lang="en-US" sz="700" i="1" dirty="0">
              <a:solidFill>
                <a:schemeClr val="accent4"/>
              </a:solidFill>
            </a:endParaRPr>
          </a:p>
        </p:txBody>
      </p:sp>
      <p:sp>
        <p:nvSpPr>
          <p:cNvPr id="46" name="Rectangle 45"/>
          <p:cNvSpPr/>
          <p:nvPr/>
        </p:nvSpPr>
        <p:spPr>
          <a:xfrm>
            <a:off x="6500469" y="4113915"/>
            <a:ext cx="1148168" cy="501600"/>
          </a:xfrm>
          <a:prstGeom prst="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800" dirty="0">
                <a:solidFill>
                  <a:schemeClr val="accent4"/>
                </a:solidFill>
              </a:rPr>
              <a:t>Bank Loan </a:t>
            </a:r>
            <a:r>
              <a:rPr lang="en-US" sz="800" dirty="0" smtClean="0">
                <a:solidFill>
                  <a:schemeClr val="accent4"/>
                </a:solidFill>
              </a:rPr>
              <a:t>Group</a:t>
            </a:r>
            <a:r>
              <a:rPr lang="en-US" sz="800" baseline="30000" dirty="0" smtClean="0">
                <a:solidFill>
                  <a:schemeClr val="accent4"/>
                </a:solidFill>
              </a:rPr>
              <a:t>1</a:t>
            </a:r>
            <a:endParaRPr lang="en-US" sz="800" baseline="30000" dirty="0">
              <a:solidFill>
                <a:schemeClr val="accent4"/>
              </a:solidFill>
            </a:endParaRPr>
          </a:p>
          <a:p>
            <a:pPr algn="ctr"/>
            <a:r>
              <a:rPr lang="en-US" sz="700" i="1" dirty="0">
                <a:solidFill>
                  <a:schemeClr val="accent4"/>
                </a:solidFill>
              </a:rPr>
              <a:t>Q1’15 balance*:</a:t>
            </a:r>
          </a:p>
          <a:p>
            <a:pPr algn="ctr"/>
            <a:r>
              <a:rPr lang="en-US" sz="700" i="1" dirty="0" smtClean="0">
                <a:solidFill>
                  <a:schemeClr val="accent4"/>
                </a:solidFill>
              </a:rPr>
              <a:t>$3,401 million</a:t>
            </a:r>
            <a:endParaRPr lang="en-US" sz="700" i="1" dirty="0">
              <a:solidFill>
                <a:schemeClr val="accent4"/>
              </a:solidFill>
            </a:endParaRPr>
          </a:p>
        </p:txBody>
      </p:sp>
      <p:sp>
        <p:nvSpPr>
          <p:cNvPr id="47" name="Rectangle 46"/>
          <p:cNvSpPr/>
          <p:nvPr/>
        </p:nvSpPr>
        <p:spPr>
          <a:xfrm>
            <a:off x="253847" y="4703658"/>
            <a:ext cx="1148168" cy="747253"/>
          </a:xfrm>
          <a:prstGeom prst="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800" dirty="0" smtClean="0">
                <a:solidFill>
                  <a:schemeClr val="accent4"/>
                </a:solidFill>
              </a:rPr>
              <a:t>Senior debt financing to middle-market, private equity backed companies</a:t>
            </a:r>
          </a:p>
        </p:txBody>
      </p:sp>
      <p:sp>
        <p:nvSpPr>
          <p:cNvPr id="48" name="Rectangle 47"/>
          <p:cNvSpPr/>
          <p:nvPr/>
        </p:nvSpPr>
        <p:spPr>
          <a:xfrm>
            <a:off x="4011018" y="4703658"/>
            <a:ext cx="1148168" cy="747253"/>
          </a:xfrm>
          <a:prstGeom prst="rect">
            <a:avLst/>
          </a:prstGeom>
          <a:solidFill>
            <a:schemeClr val="bg1">
              <a:lumMod val="75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800" dirty="0" smtClean="0">
                <a:solidFill>
                  <a:schemeClr val="accent4"/>
                </a:solidFill>
              </a:rPr>
              <a:t>Strategic program with Lone Star Funds targeting smaller companies</a:t>
            </a:r>
          </a:p>
        </p:txBody>
      </p:sp>
      <p:sp>
        <p:nvSpPr>
          <p:cNvPr id="49" name="Rectangle 48"/>
          <p:cNvSpPr/>
          <p:nvPr/>
        </p:nvSpPr>
        <p:spPr>
          <a:xfrm>
            <a:off x="6488315" y="4725906"/>
            <a:ext cx="1148168" cy="724339"/>
          </a:xfrm>
          <a:prstGeom prst="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800" dirty="0" smtClean="0">
                <a:solidFill>
                  <a:schemeClr val="accent4"/>
                </a:solidFill>
              </a:rPr>
              <a:t>Invests primarily in non-investment grade, broadly syndicated bank loans</a:t>
            </a:r>
            <a:endParaRPr lang="en-US" sz="800" dirty="0">
              <a:solidFill>
                <a:schemeClr val="accent4"/>
              </a:solidFill>
            </a:endParaRPr>
          </a:p>
        </p:txBody>
      </p:sp>
      <p:sp>
        <p:nvSpPr>
          <p:cNvPr id="50" name="Rectangle 49"/>
          <p:cNvSpPr/>
          <p:nvPr/>
        </p:nvSpPr>
        <p:spPr>
          <a:xfrm>
            <a:off x="4079233" y="2253172"/>
            <a:ext cx="1192863" cy="512520"/>
          </a:xfrm>
          <a:prstGeom prst="rect">
            <a:avLst/>
          </a:prstGeom>
          <a:solidFill>
            <a:srgbClr val="E3C9E3"/>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smtClean="0">
                <a:solidFill>
                  <a:schemeClr val="accent4"/>
                </a:solidFill>
              </a:rPr>
              <a:t>General Electric Capital Corporation</a:t>
            </a:r>
          </a:p>
        </p:txBody>
      </p:sp>
      <p:sp>
        <p:nvSpPr>
          <p:cNvPr id="51" name="TextBox 50"/>
          <p:cNvSpPr txBox="1"/>
          <p:nvPr/>
        </p:nvSpPr>
        <p:spPr>
          <a:xfrm>
            <a:off x="4668808" y="2013099"/>
            <a:ext cx="424169" cy="163873"/>
          </a:xfrm>
          <a:prstGeom prst="rect">
            <a:avLst/>
          </a:prstGeom>
          <a:noFill/>
        </p:spPr>
        <p:txBody>
          <a:bodyPr wrap="none" lIns="54000" tIns="54000" rIns="54000" bIns="54000" rtlCol="0">
            <a:noAutofit/>
          </a:bodyPr>
          <a:lstStyle/>
          <a:p>
            <a:r>
              <a:rPr lang="en-US" sz="800" dirty="0" smtClean="0">
                <a:latin typeface="Arial" pitchFamily="34" charset="0"/>
                <a:cs typeface="Arial" pitchFamily="34" charset="0"/>
              </a:rPr>
              <a:t>100%</a:t>
            </a:r>
          </a:p>
        </p:txBody>
      </p:sp>
      <p:cxnSp>
        <p:nvCxnSpPr>
          <p:cNvPr id="53" name="Straight Connector 52"/>
          <p:cNvCxnSpPr>
            <a:stCxn id="50" idx="2"/>
            <a:endCxn id="65" idx="0"/>
          </p:cNvCxnSpPr>
          <p:nvPr/>
        </p:nvCxnSpPr>
        <p:spPr>
          <a:xfrm rot="5400000">
            <a:off x="3612438" y="2483161"/>
            <a:ext cx="780697" cy="1345758"/>
          </a:xfrm>
          <a:prstGeom prst="bentConnector3">
            <a:avLst>
              <a:gd name="adj1" fmla="val 50000"/>
            </a:avLst>
          </a:prstGeom>
          <a:ln>
            <a:solidFill>
              <a:srgbClr val="747678"/>
            </a:solidFill>
          </a:ln>
        </p:spPr>
        <p:style>
          <a:lnRef idx="1">
            <a:schemeClr val="accent1"/>
          </a:lnRef>
          <a:fillRef idx="0">
            <a:schemeClr val="accent1"/>
          </a:fillRef>
          <a:effectRef idx="0">
            <a:schemeClr val="accent1"/>
          </a:effectRef>
          <a:fontRef idx="minor">
            <a:schemeClr val="tx1"/>
          </a:fontRef>
        </p:style>
      </p:cxnSp>
      <p:sp>
        <p:nvSpPr>
          <p:cNvPr id="54" name="Rectangle 53"/>
          <p:cNvSpPr/>
          <p:nvPr/>
        </p:nvSpPr>
        <p:spPr>
          <a:xfrm>
            <a:off x="152400" y="3243772"/>
            <a:ext cx="1751903" cy="215444"/>
          </a:xfrm>
          <a:prstGeom prst="rect">
            <a:avLst/>
          </a:prstGeom>
        </p:spPr>
        <p:txBody>
          <a:bodyPr wrap="square">
            <a:spAutoFit/>
          </a:bodyPr>
          <a:lstStyle/>
          <a:p>
            <a:r>
              <a:rPr lang="en-US" sz="800" dirty="0" smtClean="0">
                <a:solidFill>
                  <a:schemeClr val="accent4"/>
                </a:solidFill>
              </a:rPr>
              <a:t>Transaction perimeter </a:t>
            </a:r>
            <a:endParaRPr lang="en-US" sz="800" dirty="0">
              <a:solidFill>
                <a:schemeClr val="accent4"/>
              </a:solidFill>
            </a:endParaRPr>
          </a:p>
        </p:txBody>
      </p:sp>
      <p:sp>
        <p:nvSpPr>
          <p:cNvPr id="59" name="Rectangle 58"/>
          <p:cNvSpPr/>
          <p:nvPr/>
        </p:nvSpPr>
        <p:spPr>
          <a:xfrm>
            <a:off x="7744648" y="4113915"/>
            <a:ext cx="1148168" cy="501600"/>
          </a:xfrm>
          <a:prstGeom prst="rect">
            <a:avLst/>
          </a:prstGeom>
          <a:solidFill>
            <a:schemeClr val="bg1">
              <a:lumMod val="75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800" dirty="0" smtClean="0">
                <a:solidFill>
                  <a:schemeClr val="accent4"/>
                </a:solidFill>
              </a:rPr>
              <a:t>Mubadala JV</a:t>
            </a:r>
            <a:endParaRPr lang="en-US" sz="800" dirty="0">
              <a:solidFill>
                <a:schemeClr val="accent4"/>
              </a:solidFill>
            </a:endParaRPr>
          </a:p>
          <a:p>
            <a:pPr algn="ctr"/>
            <a:r>
              <a:rPr lang="en-US" sz="700" i="1" dirty="0">
                <a:solidFill>
                  <a:schemeClr val="accent4"/>
                </a:solidFill>
              </a:rPr>
              <a:t>Q1’15 balance*:</a:t>
            </a:r>
          </a:p>
          <a:p>
            <a:pPr algn="ctr"/>
            <a:r>
              <a:rPr lang="en-US" sz="700" i="1" dirty="0" smtClean="0">
                <a:solidFill>
                  <a:schemeClr val="accent4"/>
                </a:solidFill>
              </a:rPr>
              <a:t>$2,226 million</a:t>
            </a:r>
            <a:endParaRPr lang="en-US" sz="700" i="1" dirty="0">
              <a:solidFill>
                <a:schemeClr val="accent4"/>
              </a:solidFill>
            </a:endParaRPr>
          </a:p>
        </p:txBody>
      </p:sp>
      <p:sp>
        <p:nvSpPr>
          <p:cNvPr id="60" name="Rectangle 59"/>
          <p:cNvSpPr/>
          <p:nvPr/>
        </p:nvSpPr>
        <p:spPr>
          <a:xfrm>
            <a:off x="7737690" y="4725906"/>
            <a:ext cx="1148168" cy="724340"/>
          </a:xfrm>
          <a:prstGeom prst="rect">
            <a:avLst/>
          </a:prstGeom>
          <a:solidFill>
            <a:schemeClr val="bg1">
              <a:lumMod val="75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800" dirty="0" smtClean="0">
                <a:solidFill>
                  <a:schemeClr val="accent4"/>
                </a:solidFill>
              </a:rPr>
              <a:t>A 50/50 joint venture between Mubadala Development Company and GE Capital Corporation</a:t>
            </a:r>
            <a:endParaRPr lang="en-US" sz="800" dirty="0">
              <a:solidFill>
                <a:schemeClr val="accent4"/>
              </a:solidFill>
            </a:endParaRPr>
          </a:p>
        </p:txBody>
      </p:sp>
      <p:sp>
        <p:nvSpPr>
          <p:cNvPr id="61" name="Rectangle 60"/>
          <p:cNvSpPr/>
          <p:nvPr/>
        </p:nvSpPr>
        <p:spPr>
          <a:xfrm>
            <a:off x="1522545" y="4122778"/>
            <a:ext cx="1148168" cy="501600"/>
          </a:xfrm>
          <a:prstGeom prst="rect">
            <a:avLst/>
          </a:prstGeom>
          <a:solidFill>
            <a:schemeClr val="bg1">
              <a:lumMod val="75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800" dirty="0" smtClean="0">
                <a:solidFill>
                  <a:schemeClr val="accent4"/>
                </a:solidFill>
              </a:rPr>
              <a:t>SSLP debt </a:t>
            </a:r>
            <a:r>
              <a:rPr lang="en-US" sz="800" dirty="0">
                <a:solidFill>
                  <a:schemeClr val="accent4"/>
                </a:solidFill>
              </a:rPr>
              <a:t>i</a:t>
            </a:r>
            <a:r>
              <a:rPr lang="en-US" sz="800" dirty="0" smtClean="0">
                <a:solidFill>
                  <a:schemeClr val="accent4"/>
                </a:solidFill>
              </a:rPr>
              <a:t>nterests</a:t>
            </a:r>
          </a:p>
          <a:p>
            <a:pPr algn="ctr"/>
            <a:r>
              <a:rPr lang="en-US" sz="700" i="1" dirty="0">
                <a:solidFill>
                  <a:schemeClr val="accent4"/>
                </a:solidFill>
              </a:rPr>
              <a:t>Q1’15 balance*:</a:t>
            </a:r>
          </a:p>
          <a:p>
            <a:pPr algn="ctr"/>
            <a:r>
              <a:rPr lang="en-US" sz="700" i="1" dirty="0" smtClean="0">
                <a:solidFill>
                  <a:schemeClr val="accent4"/>
                </a:solidFill>
              </a:rPr>
              <a:t>$5,784 million</a:t>
            </a:r>
            <a:endParaRPr lang="en-US" sz="700" i="1" dirty="0">
              <a:solidFill>
                <a:schemeClr val="accent4"/>
              </a:solidFill>
            </a:endParaRPr>
          </a:p>
        </p:txBody>
      </p:sp>
      <p:sp>
        <p:nvSpPr>
          <p:cNvPr id="62" name="Rectangle 61"/>
          <p:cNvSpPr/>
          <p:nvPr/>
        </p:nvSpPr>
        <p:spPr>
          <a:xfrm>
            <a:off x="1527625" y="4705760"/>
            <a:ext cx="1143088" cy="744486"/>
          </a:xfrm>
          <a:prstGeom prst="rect">
            <a:avLst/>
          </a:prstGeom>
          <a:solidFill>
            <a:schemeClr val="bg1">
              <a:lumMod val="75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800" dirty="0">
                <a:solidFill>
                  <a:schemeClr val="accent4"/>
                </a:solidFill>
              </a:rPr>
              <a:t>Strategic program with Ares Capital; </a:t>
            </a:r>
            <a:r>
              <a:rPr lang="en-US" sz="800" dirty="0" smtClean="0">
                <a:solidFill>
                  <a:schemeClr val="accent4"/>
                </a:solidFill>
              </a:rPr>
              <a:t>GE owns 100% of the senior debt</a:t>
            </a:r>
            <a:endParaRPr lang="en-US" sz="800" dirty="0">
              <a:solidFill>
                <a:schemeClr val="accent4"/>
              </a:solidFill>
            </a:endParaRPr>
          </a:p>
        </p:txBody>
      </p:sp>
      <p:sp>
        <p:nvSpPr>
          <p:cNvPr id="63" name="Rectangle 62"/>
          <p:cNvSpPr/>
          <p:nvPr/>
        </p:nvSpPr>
        <p:spPr>
          <a:xfrm>
            <a:off x="5257800" y="4123718"/>
            <a:ext cx="1148168" cy="501600"/>
          </a:xfrm>
          <a:prstGeom prst="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800" dirty="0" smtClean="0">
                <a:solidFill>
                  <a:schemeClr val="accent4"/>
                </a:solidFill>
              </a:rPr>
              <a:t>Equity tags</a:t>
            </a:r>
          </a:p>
          <a:p>
            <a:pPr algn="ctr"/>
            <a:r>
              <a:rPr lang="en-US" sz="700" i="1" dirty="0">
                <a:solidFill>
                  <a:schemeClr val="accent4"/>
                </a:solidFill>
              </a:rPr>
              <a:t>Q1’15 balance*:</a:t>
            </a:r>
          </a:p>
          <a:p>
            <a:pPr algn="ctr"/>
            <a:r>
              <a:rPr lang="en-US" sz="700" i="1" dirty="0" smtClean="0">
                <a:solidFill>
                  <a:schemeClr val="accent4"/>
                </a:solidFill>
              </a:rPr>
              <a:t>$223 million</a:t>
            </a:r>
            <a:endParaRPr lang="en-US" sz="700" i="1" dirty="0">
              <a:solidFill>
                <a:schemeClr val="accent4"/>
              </a:solidFill>
            </a:endParaRPr>
          </a:p>
        </p:txBody>
      </p:sp>
      <p:sp>
        <p:nvSpPr>
          <p:cNvPr id="64" name="Rectangle 63"/>
          <p:cNvSpPr/>
          <p:nvPr/>
        </p:nvSpPr>
        <p:spPr>
          <a:xfrm>
            <a:off x="5262880" y="4706700"/>
            <a:ext cx="1148168" cy="744486"/>
          </a:xfrm>
          <a:prstGeom prst="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800" dirty="0" smtClean="0">
                <a:solidFill>
                  <a:schemeClr val="accent4"/>
                </a:solidFill>
              </a:rPr>
              <a:t>Equity investments in borrowers</a:t>
            </a:r>
          </a:p>
        </p:txBody>
      </p:sp>
      <p:sp>
        <p:nvSpPr>
          <p:cNvPr id="65" name="Rectangle 64"/>
          <p:cNvSpPr/>
          <p:nvPr/>
        </p:nvSpPr>
        <p:spPr>
          <a:xfrm>
            <a:off x="253846" y="3546389"/>
            <a:ext cx="6152121" cy="501600"/>
          </a:xfrm>
          <a:prstGeom prst="rect">
            <a:avLst/>
          </a:prstGeom>
          <a:solidFill>
            <a:srgbClr val="BFDEE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800" dirty="0" smtClean="0">
                <a:solidFill>
                  <a:schemeClr val="accent4"/>
                </a:solidFill>
              </a:rPr>
              <a:t>Sponsor Finance </a:t>
            </a:r>
          </a:p>
          <a:p>
            <a:pPr algn="ctr"/>
            <a:r>
              <a:rPr lang="en-US" sz="800" dirty="0">
                <a:solidFill>
                  <a:schemeClr val="accent4"/>
                </a:solidFill>
              </a:rPr>
              <a:t>(</a:t>
            </a:r>
            <a:r>
              <a:rPr lang="en-US" sz="800" dirty="0" smtClean="0">
                <a:solidFill>
                  <a:schemeClr val="accent4"/>
                </a:solidFill>
              </a:rPr>
              <a:t>GE Antares Capital)</a:t>
            </a:r>
          </a:p>
        </p:txBody>
      </p:sp>
      <p:cxnSp>
        <p:nvCxnSpPr>
          <p:cNvPr id="75" name="Straight Connector 52"/>
          <p:cNvCxnSpPr>
            <a:stCxn id="50" idx="2"/>
            <a:endCxn id="46" idx="0"/>
          </p:cNvCxnSpPr>
          <p:nvPr/>
        </p:nvCxnSpPr>
        <p:spPr>
          <a:xfrm rot="16200000" flipH="1">
            <a:off x="5200998" y="2240359"/>
            <a:ext cx="1348223" cy="2398888"/>
          </a:xfrm>
          <a:prstGeom prst="bentConnector3">
            <a:avLst>
              <a:gd name="adj1" fmla="val 28975"/>
            </a:avLst>
          </a:prstGeom>
          <a:ln>
            <a:solidFill>
              <a:srgbClr val="747678"/>
            </a:solidFill>
          </a:ln>
        </p:spPr>
        <p:style>
          <a:lnRef idx="1">
            <a:schemeClr val="accent1"/>
          </a:lnRef>
          <a:fillRef idx="0">
            <a:schemeClr val="accent1"/>
          </a:fillRef>
          <a:effectRef idx="0">
            <a:schemeClr val="accent1"/>
          </a:effectRef>
          <a:fontRef idx="minor">
            <a:schemeClr val="tx1"/>
          </a:fontRef>
        </p:style>
      </p:cxnSp>
      <p:cxnSp>
        <p:nvCxnSpPr>
          <p:cNvPr id="78" name="Straight Connector 52"/>
          <p:cNvCxnSpPr>
            <a:stCxn id="50" idx="2"/>
            <a:endCxn id="59" idx="0"/>
          </p:cNvCxnSpPr>
          <p:nvPr/>
        </p:nvCxnSpPr>
        <p:spPr>
          <a:xfrm rot="16200000" flipH="1">
            <a:off x="5823087" y="1618269"/>
            <a:ext cx="1348223" cy="3643067"/>
          </a:xfrm>
          <a:prstGeom prst="bentConnector3">
            <a:avLst>
              <a:gd name="adj1" fmla="val 28975"/>
            </a:avLst>
          </a:prstGeom>
          <a:ln>
            <a:solidFill>
              <a:srgbClr val="747678"/>
            </a:solidFill>
          </a:ln>
        </p:spPr>
        <p:style>
          <a:lnRef idx="1">
            <a:schemeClr val="accent1"/>
          </a:lnRef>
          <a:fillRef idx="0">
            <a:schemeClr val="accent1"/>
          </a:fillRef>
          <a:effectRef idx="0">
            <a:schemeClr val="accent1"/>
          </a:effectRef>
          <a:fontRef idx="minor">
            <a:schemeClr val="tx1"/>
          </a:fontRef>
        </p:style>
      </p:cxnSp>
      <p:sp>
        <p:nvSpPr>
          <p:cNvPr id="86" name="TextBox 85"/>
          <p:cNvSpPr txBox="1"/>
          <p:nvPr/>
        </p:nvSpPr>
        <p:spPr>
          <a:xfrm>
            <a:off x="8311774" y="3891430"/>
            <a:ext cx="424169" cy="163873"/>
          </a:xfrm>
          <a:prstGeom prst="rect">
            <a:avLst/>
          </a:prstGeom>
          <a:noFill/>
        </p:spPr>
        <p:txBody>
          <a:bodyPr wrap="none" lIns="54000" tIns="54000" rIns="54000" bIns="54000" rtlCol="0">
            <a:noAutofit/>
          </a:bodyPr>
          <a:lstStyle/>
          <a:p>
            <a:r>
              <a:rPr lang="en-US" sz="800" dirty="0">
                <a:latin typeface="Arial" pitchFamily="34" charset="0"/>
                <a:cs typeface="Arial" pitchFamily="34" charset="0"/>
              </a:rPr>
              <a:t>5</a:t>
            </a:r>
            <a:r>
              <a:rPr lang="en-US" sz="800" dirty="0" smtClean="0">
                <a:latin typeface="Arial" pitchFamily="34" charset="0"/>
                <a:cs typeface="Arial" pitchFamily="34" charset="0"/>
              </a:rPr>
              <a:t>0%</a:t>
            </a:r>
          </a:p>
        </p:txBody>
      </p:sp>
      <p:sp>
        <p:nvSpPr>
          <p:cNvPr id="95" name="Title 1"/>
          <p:cNvSpPr>
            <a:spLocks noGrp="1"/>
          </p:cNvSpPr>
          <p:nvPr>
            <p:ph type="title"/>
          </p:nvPr>
        </p:nvSpPr>
        <p:spPr>
          <a:xfrm>
            <a:off x="2123728" y="116632"/>
            <a:ext cx="6768226" cy="576064"/>
          </a:xfrm>
        </p:spPr>
        <p:txBody>
          <a:bodyPr/>
          <a:lstStyle/>
          <a:p>
            <a:r>
              <a:rPr lang="en-US" sz="1400" b="0" dirty="0" smtClean="0">
                <a:solidFill>
                  <a:srgbClr val="747678"/>
                </a:solidFill>
              </a:rPr>
              <a:t>Executive summary</a:t>
            </a:r>
            <a:r>
              <a:rPr lang="en-US" dirty="0" smtClean="0"/>
              <a:t/>
            </a:r>
            <a:br>
              <a:rPr lang="en-US" dirty="0" smtClean="0"/>
            </a:br>
            <a:r>
              <a:rPr lang="en-US" dirty="0" smtClean="0"/>
              <a:t>Business and transaction overview (3)</a:t>
            </a:r>
            <a:endParaRPr lang="en-US" dirty="0"/>
          </a:p>
        </p:txBody>
      </p:sp>
      <p:sp>
        <p:nvSpPr>
          <p:cNvPr id="29" name="Rectangle 28"/>
          <p:cNvSpPr/>
          <p:nvPr/>
        </p:nvSpPr>
        <p:spPr>
          <a:xfrm>
            <a:off x="2771919" y="4705760"/>
            <a:ext cx="1143088" cy="744486"/>
          </a:xfrm>
          <a:prstGeom prst="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800" dirty="0">
                <a:solidFill>
                  <a:schemeClr val="accent4"/>
                </a:solidFill>
              </a:rPr>
              <a:t>Strategic program with Ares </a:t>
            </a:r>
            <a:r>
              <a:rPr lang="en-US" sz="800" dirty="0" smtClean="0">
                <a:solidFill>
                  <a:schemeClr val="accent4"/>
                </a:solidFill>
              </a:rPr>
              <a:t>Capital; Target holds a 12.5% equity interest</a:t>
            </a:r>
          </a:p>
        </p:txBody>
      </p:sp>
      <p:sp>
        <p:nvSpPr>
          <p:cNvPr id="2" name="Rectangle 1"/>
          <p:cNvSpPr/>
          <p:nvPr/>
        </p:nvSpPr>
        <p:spPr>
          <a:xfrm>
            <a:off x="624577" y="6172200"/>
            <a:ext cx="203354" cy="76200"/>
          </a:xfrm>
          <a:prstGeom prst="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US" sz="800">
              <a:solidFill>
                <a:schemeClr val="accent4"/>
              </a:solidFill>
            </a:endParaRPr>
          </a:p>
        </p:txBody>
      </p:sp>
      <p:sp>
        <p:nvSpPr>
          <p:cNvPr id="34" name="Rectangle 33"/>
          <p:cNvSpPr/>
          <p:nvPr/>
        </p:nvSpPr>
        <p:spPr>
          <a:xfrm>
            <a:off x="622146" y="6273800"/>
            <a:ext cx="203354" cy="76200"/>
          </a:xfrm>
          <a:prstGeom prst="rect">
            <a:avLst/>
          </a:prstGeom>
          <a:solidFill>
            <a:schemeClr val="bg1">
              <a:lumMod val="75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US" sz="800">
              <a:solidFill>
                <a:schemeClr val="accent4"/>
              </a:solidFill>
            </a:endParaRPr>
          </a:p>
        </p:txBody>
      </p:sp>
    </p:spTree>
    <p:extLst>
      <p:ext uri="{BB962C8B-B14F-4D97-AF65-F5344CB8AC3E}">
        <p14:creationId xmlns:p14="http://schemas.microsoft.com/office/powerpoint/2010/main" val="262554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 Placeholder 27"/>
          <p:cNvSpPr>
            <a:spLocks noGrp="1"/>
          </p:cNvSpPr>
          <p:nvPr>
            <p:ph type="body" sz="quarter" idx="13"/>
          </p:nvPr>
        </p:nvSpPr>
        <p:spPr>
          <a:xfrm>
            <a:off x="2126496" y="3578869"/>
            <a:ext cx="6848776" cy="2735915"/>
          </a:xfrm>
        </p:spPr>
        <p:txBody>
          <a:bodyPr/>
          <a:lstStyle/>
          <a:p>
            <a:pPr>
              <a:lnSpc>
                <a:spcPct val="100000"/>
              </a:lnSpc>
            </a:pPr>
            <a:r>
              <a:rPr lang="en-GB" dirty="0" smtClean="0">
                <a:solidFill>
                  <a:schemeClr val="tx1"/>
                </a:solidFill>
              </a:rPr>
              <a:t>Interest income:</a:t>
            </a:r>
            <a:r>
              <a:rPr lang="en-GB" b="0" dirty="0" smtClean="0">
                <a:solidFill>
                  <a:schemeClr val="tx1"/>
                </a:solidFill>
              </a:rPr>
              <a:t> </a:t>
            </a:r>
            <a:r>
              <a:rPr lang="en-US" b="0" dirty="0" smtClean="0">
                <a:solidFill>
                  <a:schemeClr val="tx1"/>
                </a:solidFill>
              </a:rPr>
              <a:t>Interest income within the Core </a:t>
            </a:r>
            <a:r>
              <a:rPr lang="en-US" b="0" dirty="0">
                <a:solidFill>
                  <a:schemeClr val="tx1"/>
                </a:solidFill>
              </a:rPr>
              <a:t>portfolio decreased </a:t>
            </a:r>
            <a:r>
              <a:rPr lang="en-US" b="0" dirty="0" smtClean="0">
                <a:solidFill>
                  <a:schemeClr val="tx1"/>
                </a:solidFill>
              </a:rPr>
              <a:t>$53 million during the period but was partially offset by increases in the SSLP program and the newly-launched MMGP program. Overall, interest income has decreased yields as new loans continue declining and the product mix now includes a greater proportion of SSLP and MMGP loans, which have a lower yield compared to the Core portfolio. See further analysis within Key Finding section.</a:t>
            </a:r>
            <a:endParaRPr lang="en-GB" dirty="0" smtClean="0">
              <a:solidFill>
                <a:schemeClr val="tx1"/>
              </a:solidFill>
            </a:endParaRPr>
          </a:p>
          <a:p>
            <a:pPr>
              <a:lnSpc>
                <a:spcPct val="100000"/>
              </a:lnSpc>
            </a:pPr>
            <a:r>
              <a:rPr lang="en-GB" dirty="0" smtClean="0">
                <a:solidFill>
                  <a:schemeClr val="tx1"/>
                </a:solidFill>
              </a:rPr>
              <a:t>FAS 91:</a:t>
            </a:r>
            <a:r>
              <a:rPr lang="en-GB" b="0" dirty="0" smtClean="0">
                <a:solidFill>
                  <a:schemeClr val="tx1"/>
                </a:solidFill>
              </a:rPr>
              <a:t> Amortization of FAS 91 loan origination costs increased from $11 million in 2013 to $35 million in 2014. </a:t>
            </a:r>
            <a:r>
              <a:rPr lang="en-US" b="0" dirty="0">
                <a:solidFill>
                  <a:schemeClr val="tx1"/>
                </a:solidFill>
              </a:rPr>
              <a:t>In Q1’13, Target began deferring and amortizing into its income statement FAS 91 costs. Previously, this was done at Parent and no amounts were pushed down to Target. The amounts in the respective income statements reflect that practice beginning in 2013</a:t>
            </a:r>
            <a:r>
              <a:rPr lang="en-US" b="0" dirty="0" smtClean="0">
                <a:solidFill>
                  <a:schemeClr val="tx1"/>
                </a:solidFill>
              </a:rPr>
              <a:t>.</a:t>
            </a:r>
            <a:endParaRPr lang="en-GB" b="0" dirty="0">
              <a:solidFill>
                <a:schemeClr val="tx1"/>
              </a:solidFill>
            </a:endParaRPr>
          </a:p>
          <a:p>
            <a:pPr>
              <a:lnSpc>
                <a:spcPct val="100000"/>
              </a:lnSpc>
            </a:pPr>
            <a:r>
              <a:rPr lang="en-GB" dirty="0" smtClean="0">
                <a:solidFill>
                  <a:schemeClr val="tx1"/>
                </a:solidFill>
              </a:rPr>
              <a:t>Reserves: </a:t>
            </a:r>
            <a:r>
              <a:rPr lang="en-GB" b="0" dirty="0" smtClean="0">
                <a:solidFill>
                  <a:schemeClr val="tx1"/>
                </a:solidFill>
              </a:rPr>
              <a:t>Reserves increased from $38 million in 2013 to $62 million in 2014, which is consistent with Target management’s plan as reserves in 2013 were unusually low due to recoveries of long charged-off accounts.</a:t>
            </a:r>
          </a:p>
          <a:p>
            <a:pPr>
              <a:lnSpc>
                <a:spcPct val="100000"/>
              </a:lnSpc>
            </a:pPr>
            <a:r>
              <a:rPr lang="en-GB" dirty="0" smtClean="0">
                <a:solidFill>
                  <a:schemeClr val="tx1"/>
                </a:solidFill>
              </a:rPr>
              <a:t>Recoveries: </a:t>
            </a:r>
            <a:r>
              <a:rPr lang="en-GB" b="0" dirty="0" smtClean="0">
                <a:solidFill>
                  <a:schemeClr val="tx1"/>
                </a:solidFill>
              </a:rPr>
              <a:t>Recoveries on previously written-off loan amounts decreased from $19 million in 2013 to $12 million in 2014; recoveries are event-driven.</a:t>
            </a:r>
          </a:p>
          <a:p>
            <a:pPr>
              <a:lnSpc>
                <a:spcPct val="100000"/>
              </a:lnSpc>
            </a:pPr>
            <a:r>
              <a:rPr lang="en-GB" dirty="0" smtClean="0">
                <a:solidFill>
                  <a:schemeClr val="tx1"/>
                </a:solidFill>
              </a:rPr>
              <a:t>Interest expense: </a:t>
            </a:r>
            <a:r>
              <a:rPr lang="en-GB" b="0" dirty="0" smtClean="0">
                <a:solidFill>
                  <a:schemeClr val="tx1"/>
                </a:solidFill>
              </a:rPr>
              <a:t>Interest </a:t>
            </a:r>
            <a:r>
              <a:rPr lang="en-GB" b="0" dirty="0">
                <a:solidFill>
                  <a:schemeClr val="tx1"/>
                </a:solidFill>
              </a:rPr>
              <a:t>expense </a:t>
            </a:r>
            <a:r>
              <a:rPr lang="en-GB" b="0" dirty="0" smtClean="0">
                <a:solidFill>
                  <a:schemeClr val="tx1"/>
                </a:solidFill>
              </a:rPr>
              <a:t>increased $15 </a:t>
            </a:r>
            <a:r>
              <a:rPr lang="en-GB" b="0" dirty="0">
                <a:solidFill>
                  <a:schemeClr val="tx1"/>
                </a:solidFill>
              </a:rPr>
              <a:t>million </a:t>
            </a:r>
            <a:r>
              <a:rPr lang="en-GB" b="0" dirty="0" smtClean="0">
                <a:solidFill>
                  <a:schemeClr val="tx1"/>
                </a:solidFill>
              </a:rPr>
              <a:t>as the result of a $0.4 billion increase in funded assets year-over-year. </a:t>
            </a:r>
          </a:p>
          <a:p>
            <a:pPr>
              <a:lnSpc>
                <a:spcPct val="100000"/>
              </a:lnSpc>
            </a:pPr>
            <a:r>
              <a:rPr lang="en-GB" dirty="0" smtClean="0">
                <a:solidFill>
                  <a:schemeClr val="tx1"/>
                </a:solidFill>
              </a:rPr>
              <a:t>Other revenue: </a:t>
            </a:r>
            <a:r>
              <a:rPr lang="en-GB" b="0" dirty="0" smtClean="0">
                <a:solidFill>
                  <a:schemeClr val="tx1"/>
                </a:solidFill>
              </a:rPr>
              <a:t>Increases </a:t>
            </a:r>
            <a:r>
              <a:rPr lang="en-GB" b="0" dirty="0">
                <a:solidFill>
                  <a:schemeClr val="tx1"/>
                </a:solidFill>
              </a:rPr>
              <a:t>in both core upfront fees and SSLP management fees by $20 </a:t>
            </a:r>
            <a:r>
              <a:rPr lang="en-GB" b="0" dirty="0" smtClean="0">
                <a:solidFill>
                  <a:schemeClr val="tx1"/>
                </a:solidFill>
              </a:rPr>
              <a:t>million </a:t>
            </a:r>
            <a:r>
              <a:rPr lang="en-GB" b="0" dirty="0">
                <a:solidFill>
                  <a:schemeClr val="tx1"/>
                </a:solidFill>
              </a:rPr>
              <a:t>were partially offset by </a:t>
            </a:r>
            <a:r>
              <a:rPr lang="en-GB" b="0" dirty="0" smtClean="0">
                <a:solidFill>
                  <a:schemeClr val="tx1"/>
                </a:solidFill>
              </a:rPr>
              <a:t>decreases in equity co-investment gains of $9 million.</a:t>
            </a:r>
          </a:p>
          <a:p>
            <a:pPr>
              <a:lnSpc>
                <a:spcPct val="100000"/>
              </a:lnSpc>
            </a:pPr>
            <a:r>
              <a:rPr lang="en-GB" dirty="0" smtClean="0">
                <a:solidFill>
                  <a:schemeClr val="tx1"/>
                </a:solidFill>
              </a:rPr>
              <a:t>Comp &amp; benefits: </a:t>
            </a:r>
            <a:r>
              <a:rPr lang="en-GB" b="0" dirty="0" smtClean="0">
                <a:solidFill>
                  <a:schemeClr val="tx1"/>
                </a:solidFill>
              </a:rPr>
              <a:t>Compensation and benefits expense increased during the period due to an increase in 50 FTEs during the year. The Commercial function added 14 FTEs, Risk added 24 FTEs, Capital </a:t>
            </a:r>
            <a:r>
              <a:rPr lang="en-GB" b="0" dirty="0">
                <a:solidFill>
                  <a:schemeClr val="tx1"/>
                </a:solidFill>
              </a:rPr>
              <a:t>M</a:t>
            </a:r>
            <a:r>
              <a:rPr lang="en-GB" b="0" dirty="0" smtClean="0">
                <a:solidFill>
                  <a:schemeClr val="tx1"/>
                </a:solidFill>
              </a:rPr>
              <a:t>arkets added 2 FTEs and other remaining functions added another 10 FTEs in 2014 to address GE’s internal demands for increased risk supervision and presence “on the ground”.</a:t>
            </a:r>
          </a:p>
        </p:txBody>
      </p:sp>
      <p:sp>
        <p:nvSpPr>
          <p:cNvPr id="37" name="Oval 15"/>
          <p:cNvSpPr>
            <a:spLocks noChangeArrowheads="1"/>
          </p:cNvSpPr>
          <p:nvPr/>
        </p:nvSpPr>
        <p:spPr bwMode="gray">
          <a:xfrm>
            <a:off x="3764608" y="1681414"/>
            <a:ext cx="151442" cy="151441"/>
          </a:xfrm>
          <a:prstGeom prst="ellipse">
            <a:avLst/>
          </a:prstGeom>
          <a:solidFill>
            <a:srgbClr val="BFDEE4"/>
          </a:solidFill>
          <a:ln w="6350">
            <a:noFill/>
            <a:round/>
            <a:headEnd/>
            <a:tailEnd/>
          </a:ln>
          <a:effectLst/>
        </p:spPr>
        <p:txBody>
          <a:bodyPr wrap="none" lIns="0" tIns="0" rIns="0" bIns="0" anchor="ctr"/>
          <a:lstStyle/>
          <a:p>
            <a:pPr algn="ctr"/>
            <a:r>
              <a:rPr lang="en-CA" sz="800" dirty="0" smtClean="0">
                <a:latin typeface="Arial" pitchFamily="34" charset="0"/>
                <a:cs typeface="Arial" pitchFamily="34" charset="0"/>
              </a:rPr>
              <a:t>2</a:t>
            </a:r>
            <a:endParaRPr lang="en-CA" sz="800" dirty="0">
              <a:latin typeface="Arial" pitchFamily="34" charset="0"/>
              <a:cs typeface="Arial" pitchFamily="34" charset="0"/>
            </a:endParaRPr>
          </a:p>
        </p:txBody>
      </p:sp>
      <p:sp>
        <p:nvSpPr>
          <p:cNvPr id="39" name="Oval 15"/>
          <p:cNvSpPr>
            <a:spLocks noChangeArrowheads="1"/>
          </p:cNvSpPr>
          <p:nvPr/>
        </p:nvSpPr>
        <p:spPr bwMode="gray">
          <a:xfrm>
            <a:off x="4308312" y="1841019"/>
            <a:ext cx="151442" cy="151441"/>
          </a:xfrm>
          <a:prstGeom prst="ellipse">
            <a:avLst/>
          </a:prstGeom>
          <a:solidFill>
            <a:srgbClr val="BFDEE4"/>
          </a:solidFill>
          <a:ln w="6350">
            <a:noFill/>
            <a:round/>
            <a:headEnd/>
            <a:tailEnd/>
          </a:ln>
          <a:effectLst/>
        </p:spPr>
        <p:txBody>
          <a:bodyPr wrap="none" lIns="0" tIns="0" rIns="0" bIns="0" anchor="ctr"/>
          <a:lstStyle/>
          <a:p>
            <a:pPr algn="ctr"/>
            <a:r>
              <a:rPr lang="en-CA" sz="800" dirty="0" smtClean="0">
                <a:latin typeface="Arial" pitchFamily="34" charset="0"/>
                <a:cs typeface="Arial" pitchFamily="34" charset="0"/>
              </a:rPr>
              <a:t>3</a:t>
            </a:r>
            <a:endParaRPr lang="en-CA" sz="800" dirty="0">
              <a:latin typeface="Arial" pitchFamily="34" charset="0"/>
              <a:cs typeface="Arial" pitchFamily="34" charset="0"/>
            </a:endParaRPr>
          </a:p>
        </p:txBody>
      </p:sp>
      <p:sp>
        <p:nvSpPr>
          <p:cNvPr id="41" name="Oval 15"/>
          <p:cNvSpPr>
            <a:spLocks noChangeArrowheads="1"/>
          </p:cNvSpPr>
          <p:nvPr/>
        </p:nvSpPr>
        <p:spPr bwMode="gray">
          <a:xfrm>
            <a:off x="1899350" y="3581400"/>
            <a:ext cx="151442" cy="151441"/>
          </a:xfrm>
          <a:prstGeom prst="ellipse">
            <a:avLst/>
          </a:prstGeom>
          <a:solidFill>
            <a:srgbClr val="BFDEE4"/>
          </a:solidFill>
          <a:ln w="6350">
            <a:noFill/>
            <a:round/>
            <a:headEnd/>
            <a:tailEnd/>
          </a:ln>
          <a:effectLst/>
        </p:spPr>
        <p:txBody>
          <a:bodyPr wrap="none" lIns="0" tIns="0" rIns="0" bIns="0" anchor="ctr"/>
          <a:lstStyle/>
          <a:p>
            <a:pPr algn="ctr"/>
            <a:r>
              <a:rPr lang="en-CA" sz="800" dirty="0" smtClean="0">
                <a:latin typeface="Arial" pitchFamily="34" charset="0"/>
                <a:cs typeface="Arial" pitchFamily="34" charset="0"/>
              </a:rPr>
              <a:t>1</a:t>
            </a:r>
            <a:endParaRPr lang="en-CA" sz="800" dirty="0">
              <a:latin typeface="Arial" pitchFamily="34" charset="0"/>
              <a:cs typeface="Arial" pitchFamily="34" charset="0"/>
            </a:endParaRPr>
          </a:p>
        </p:txBody>
      </p:sp>
      <p:sp>
        <p:nvSpPr>
          <p:cNvPr id="43" name="Oval 15"/>
          <p:cNvSpPr>
            <a:spLocks noChangeArrowheads="1"/>
          </p:cNvSpPr>
          <p:nvPr/>
        </p:nvSpPr>
        <p:spPr bwMode="gray">
          <a:xfrm>
            <a:off x="1899342" y="4139694"/>
            <a:ext cx="151442" cy="151441"/>
          </a:xfrm>
          <a:prstGeom prst="ellipse">
            <a:avLst/>
          </a:prstGeom>
          <a:solidFill>
            <a:srgbClr val="BFDEE4"/>
          </a:solidFill>
          <a:ln w="6350">
            <a:noFill/>
            <a:round/>
            <a:headEnd/>
            <a:tailEnd/>
          </a:ln>
          <a:effectLst/>
        </p:spPr>
        <p:txBody>
          <a:bodyPr wrap="none" lIns="0" tIns="0" rIns="0" bIns="0" anchor="ctr"/>
          <a:lstStyle/>
          <a:p>
            <a:pPr algn="ctr"/>
            <a:r>
              <a:rPr lang="en-CA" sz="800" dirty="0" smtClean="0">
                <a:latin typeface="Arial" pitchFamily="34" charset="0"/>
                <a:cs typeface="Arial" pitchFamily="34" charset="0"/>
              </a:rPr>
              <a:t>2</a:t>
            </a:r>
            <a:endParaRPr lang="en-CA" sz="800" dirty="0">
              <a:latin typeface="Arial" pitchFamily="34" charset="0"/>
              <a:cs typeface="Arial" pitchFamily="34" charset="0"/>
            </a:endParaRPr>
          </a:p>
        </p:txBody>
      </p:sp>
      <p:sp>
        <p:nvSpPr>
          <p:cNvPr id="44" name="Oval 15"/>
          <p:cNvSpPr>
            <a:spLocks noChangeArrowheads="1"/>
          </p:cNvSpPr>
          <p:nvPr/>
        </p:nvSpPr>
        <p:spPr bwMode="gray">
          <a:xfrm>
            <a:off x="1899342" y="4645479"/>
            <a:ext cx="151442" cy="151441"/>
          </a:xfrm>
          <a:prstGeom prst="ellipse">
            <a:avLst/>
          </a:prstGeom>
          <a:solidFill>
            <a:srgbClr val="BFDEE4"/>
          </a:solidFill>
          <a:ln w="6350">
            <a:noFill/>
            <a:round/>
            <a:headEnd/>
            <a:tailEnd/>
          </a:ln>
          <a:effectLst/>
        </p:spPr>
        <p:txBody>
          <a:bodyPr wrap="none" lIns="0" tIns="0" rIns="0" bIns="0" anchor="ctr"/>
          <a:lstStyle/>
          <a:p>
            <a:pPr algn="ctr"/>
            <a:r>
              <a:rPr lang="en-CA" sz="800" dirty="0" smtClean="0">
                <a:latin typeface="Arial" pitchFamily="34" charset="0"/>
                <a:cs typeface="Arial" pitchFamily="34" charset="0"/>
              </a:rPr>
              <a:t>3</a:t>
            </a:r>
            <a:endParaRPr lang="en-CA" sz="800" dirty="0">
              <a:latin typeface="Arial" pitchFamily="34" charset="0"/>
              <a:cs typeface="Arial" pitchFamily="34" charset="0"/>
            </a:endParaRPr>
          </a:p>
        </p:txBody>
      </p:sp>
      <p:sp>
        <p:nvSpPr>
          <p:cNvPr id="45" name="Oval 15"/>
          <p:cNvSpPr>
            <a:spLocks noChangeArrowheads="1"/>
          </p:cNvSpPr>
          <p:nvPr/>
        </p:nvSpPr>
        <p:spPr bwMode="gray">
          <a:xfrm>
            <a:off x="4824678" y="2012616"/>
            <a:ext cx="151442" cy="151441"/>
          </a:xfrm>
          <a:prstGeom prst="ellipse">
            <a:avLst/>
          </a:prstGeom>
          <a:solidFill>
            <a:srgbClr val="BFDEE4"/>
          </a:solidFill>
          <a:ln w="6350">
            <a:noFill/>
            <a:round/>
            <a:headEnd/>
            <a:tailEnd/>
          </a:ln>
          <a:effectLst/>
        </p:spPr>
        <p:txBody>
          <a:bodyPr wrap="none" lIns="0" tIns="0" rIns="0" bIns="0" anchor="ctr"/>
          <a:lstStyle/>
          <a:p>
            <a:pPr algn="ctr"/>
            <a:r>
              <a:rPr lang="en-CA" sz="800" dirty="0" smtClean="0">
                <a:latin typeface="Arial" pitchFamily="34" charset="0"/>
                <a:cs typeface="Arial" pitchFamily="34" charset="0"/>
              </a:rPr>
              <a:t>4</a:t>
            </a:r>
            <a:endParaRPr lang="en-CA" sz="800" dirty="0">
              <a:latin typeface="Arial" pitchFamily="34" charset="0"/>
              <a:cs typeface="Arial" pitchFamily="34" charset="0"/>
            </a:endParaRPr>
          </a:p>
        </p:txBody>
      </p:sp>
      <p:sp>
        <p:nvSpPr>
          <p:cNvPr id="46" name="Oval 15"/>
          <p:cNvSpPr>
            <a:spLocks noChangeArrowheads="1"/>
          </p:cNvSpPr>
          <p:nvPr/>
        </p:nvSpPr>
        <p:spPr bwMode="gray">
          <a:xfrm>
            <a:off x="5386440" y="2081411"/>
            <a:ext cx="151442" cy="151441"/>
          </a:xfrm>
          <a:prstGeom prst="ellipse">
            <a:avLst/>
          </a:prstGeom>
          <a:solidFill>
            <a:srgbClr val="BFDEE4"/>
          </a:solidFill>
          <a:ln w="6350">
            <a:noFill/>
            <a:round/>
            <a:headEnd/>
            <a:tailEnd/>
          </a:ln>
          <a:effectLst/>
        </p:spPr>
        <p:txBody>
          <a:bodyPr wrap="none" lIns="0" tIns="0" rIns="0" bIns="0" anchor="ctr"/>
          <a:lstStyle/>
          <a:p>
            <a:pPr algn="ctr"/>
            <a:r>
              <a:rPr lang="en-CA" sz="800" dirty="0" smtClean="0">
                <a:latin typeface="Arial" pitchFamily="34" charset="0"/>
                <a:cs typeface="Arial" pitchFamily="34" charset="0"/>
              </a:rPr>
              <a:t>5</a:t>
            </a:r>
            <a:endParaRPr lang="en-CA" sz="800" dirty="0">
              <a:latin typeface="Arial" pitchFamily="34" charset="0"/>
              <a:cs typeface="Arial" pitchFamily="34" charset="0"/>
            </a:endParaRPr>
          </a:p>
        </p:txBody>
      </p:sp>
      <p:sp>
        <p:nvSpPr>
          <p:cNvPr id="47" name="Oval 15"/>
          <p:cNvSpPr>
            <a:spLocks noChangeArrowheads="1"/>
          </p:cNvSpPr>
          <p:nvPr/>
        </p:nvSpPr>
        <p:spPr bwMode="gray">
          <a:xfrm>
            <a:off x="5929373" y="2117769"/>
            <a:ext cx="151442" cy="151441"/>
          </a:xfrm>
          <a:prstGeom prst="ellipse">
            <a:avLst/>
          </a:prstGeom>
          <a:solidFill>
            <a:srgbClr val="BFDEE4"/>
          </a:solidFill>
          <a:ln w="6350">
            <a:noFill/>
            <a:round/>
            <a:headEnd/>
            <a:tailEnd/>
          </a:ln>
          <a:effectLst/>
        </p:spPr>
        <p:txBody>
          <a:bodyPr wrap="none" lIns="0" tIns="0" rIns="0" bIns="0" anchor="ctr"/>
          <a:lstStyle/>
          <a:p>
            <a:pPr algn="ctr"/>
            <a:r>
              <a:rPr lang="en-CA" sz="800" dirty="0" smtClean="0">
                <a:latin typeface="Arial" pitchFamily="34" charset="0"/>
                <a:cs typeface="Arial" pitchFamily="34" charset="0"/>
              </a:rPr>
              <a:t>6</a:t>
            </a:r>
            <a:endParaRPr lang="en-CA" sz="800" dirty="0">
              <a:latin typeface="Arial" pitchFamily="34" charset="0"/>
              <a:cs typeface="Arial" pitchFamily="34" charset="0"/>
            </a:endParaRPr>
          </a:p>
        </p:txBody>
      </p:sp>
      <p:sp>
        <p:nvSpPr>
          <p:cNvPr id="48" name="Oval 15"/>
          <p:cNvSpPr>
            <a:spLocks noChangeArrowheads="1"/>
          </p:cNvSpPr>
          <p:nvPr/>
        </p:nvSpPr>
        <p:spPr bwMode="gray">
          <a:xfrm>
            <a:off x="1899342" y="4996288"/>
            <a:ext cx="151442" cy="151441"/>
          </a:xfrm>
          <a:prstGeom prst="ellipse">
            <a:avLst/>
          </a:prstGeom>
          <a:solidFill>
            <a:srgbClr val="BFDEE4"/>
          </a:solidFill>
          <a:ln w="6350">
            <a:noFill/>
            <a:round/>
            <a:headEnd/>
            <a:tailEnd/>
          </a:ln>
          <a:effectLst/>
        </p:spPr>
        <p:txBody>
          <a:bodyPr wrap="none" lIns="0" tIns="0" rIns="0" bIns="0" anchor="ctr"/>
          <a:lstStyle/>
          <a:p>
            <a:pPr algn="ctr"/>
            <a:r>
              <a:rPr lang="en-CA" sz="800" dirty="0" smtClean="0">
                <a:latin typeface="Arial" pitchFamily="34" charset="0"/>
                <a:cs typeface="Arial" pitchFamily="34" charset="0"/>
              </a:rPr>
              <a:t>4</a:t>
            </a:r>
            <a:endParaRPr lang="en-CA" sz="800" dirty="0">
              <a:latin typeface="Arial" pitchFamily="34" charset="0"/>
              <a:cs typeface="Arial" pitchFamily="34" charset="0"/>
            </a:endParaRPr>
          </a:p>
        </p:txBody>
      </p:sp>
      <p:sp>
        <p:nvSpPr>
          <p:cNvPr id="49" name="Oval 15"/>
          <p:cNvSpPr>
            <a:spLocks noChangeArrowheads="1"/>
          </p:cNvSpPr>
          <p:nvPr/>
        </p:nvSpPr>
        <p:spPr bwMode="gray">
          <a:xfrm>
            <a:off x="1899342" y="5331279"/>
            <a:ext cx="151442" cy="151441"/>
          </a:xfrm>
          <a:prstGeom prst="ellipse">
            <a:avLst/>
          </a:prstGeom>
          <a:solidFill>
            <a:srgbClr val="BFDEE4"/>
          </a:solidFill>
          <a:ln w="6350">
            <a:noFill/>
            <a:round/>
            <a:headEnd/>
            <a:tailEnd/>
          </a:ln>
          <a:effectLst/>
        </p:spPr>
        <p:txBody>
          <a:bodyPr wrap="none" lIns="0" tIns="0" rIns="0" bIns="0" anchor="ctr"/>
          <a:lstStyle/>
          <a:p>
            <a:pPr algn="ctr"/>
            <a:r>
              <a:rPr lang="en-CA" sz="800" dirty="0" smtClean="0">
                <a:latin typeface="Arial" pitchFamily="34" charset="0"/>
                <a:cs typeface="Arial" pitchFamily="34" charset="0"/>
              </a:rPr>
              <a:t>5</a:t>
            </a:r>
            <a:endParaRPr lang="en-CA" sz="800" dirty="0">
              <a:latin typeface="Arial" pitchFamily="34" charset="0"/>
              <a:cs typeface="Arial" pitchFamily="34" charset="0"/>
            </a:endParaRPr>
          </a:p>
        </p:txBody>
      </p:sp>
      <p:sp>
        <p:nvSpPr>
          <p:cNvPr id="50" name="Oval 15"/>
          <p:cNvSpPr>
            <a:spLocks noChangeArrowheads="1"/>
          </p:cNvSpPr>
          <p:nvPr/>
        </p:nvSpPr>
        <p:spPr bwMode="gray">
          <a:xfrm>
            <a:off x="1899342" y="5574221"/>
            <a:ext cx="151442" cy="151441"/>
          </a:xfrm>
          <a:prstGeom prst="ellipse">
            <a:avLst/>
          </a:prstGeom>
          <a:solidFill>
            <a:srgbClr val="BFDEE4"/>
          </a:solidFill>
          <a:ln w="6350">
            <a:noFill/>
            <a:round/>
            <a:headEnd/>
            <a:tailEnd/>
          </a:ln>
          <a:effectLst/>
        </p:spPr>
        <p:txBody>
          <a:bodyPr wrap="none" lIns="0" tIns="0" rIns="0" bIns="0" anchor="ctr"/>
          <a:lstStyle/>
          <a:p>
            <a:pPr algn="ctr"/>
            <a:r>
              <a:rPr lang="en-CA" sz="800" dirty="0" smtClean="0">
                <a:latin typeface="Arial" pitchFamily="34" charset="0"/>
                <a:cs typeface="Arial" pitchFamily="34" charset="0"/>
              </a:rPr>
              <a:t>6</a:t>
            </a:r>
            <a:endParaRPr lang="en-CA" sz="800" dirty="0">
              <a:latin typeface="Arial" pitchFamily="34" charset="0"/>
              <a:cs typeface="Arial" pitchFamily="34" charset="0"/>
            </a:endParaRPr>
          </a:p>
        </p:txBody>
      </p:sp>
      <p:sp>
        <p:nvSpPr>
          <p:cNvPr id="59" name="Oval 15"/>
          <p:cNvSpPr>
            <a:spLocks noChangeArrowheads="1"/>
          </p:cNvSpPr>
          <p:nvPr/>
        </p:nvSpPr>
        <p:spPr bwMode="gray">
          <a:xfrm>
            <a:off x="3237233" y="1569720"/>
            <a:ext cx="151442" cy="151441"/>
          </a:xfrm>
          <a:prstGeom prst="ellipse">
            <a:avLst/>
          </a:prstGeom>
          <a:solidFill>
            <a:srgbClr val="BFDEE4"/>
          </a:solidFill>
          <a:ln w="6350">
            <a:noFill/>
            <a:round/>
            <a:headEnd/>
            <a:tailEnd/>
          </a:ln>
          <a:effectLst/>
        </p:spPr>
        <p:txBody>
          <a:bodyPr wrap="none" lIns="0" tIns="0" rIns="0" bIns="0" anchor="ctr"/>
          <a:lstStyle/>
          <a:p>
            <a:pPr algn="ctr"/>
            <a:r>
              <a:rPr lang="en-CA" sz="800" dirty="0" smtClean="0">
                <a:latin typeface="Arial" pitchFamily="34" charset="0"/>
                <a:cs typeface="Arial" pitchFamily="34" charset="0"/>
              </a:rPr>
              <a:t>1</a:t>
            </a:r>
            <a:endParaRPr lang="en-CA" sz="800" dirty="0">
              <a:latin typeface="Arial" pitchFamily="34" charset="0"/>
              <a:cs typeface="Arial" pitchFamily="34" charset="0"/>
            </a:endParaRPr>
          </a:p>
        </p:txBody>
      </p:sp>
      <p:sp>
        <p:nvSpPr>
          <p:cNvPr id="60" name="Text Placeholder 8"/>
          <p:cNvSpPr txBox="1">
            <a:spLocks/>
          </p:cNvSpPr>
          <p:nvPr/>
        </p:nvSpPr>
        <p:spPr bwMode="gray">
          <a:xfrm>
            <a:off x="2126449" y="1066800"/>
            <a:ext cx="3411433" cy="138499"/>
          </a:xfrm>
          <a:prstGeom prst="rect">
            <a:avLst/>
          </a:prstGeom>
        </p:spPr>
        <p:txBody>
          <a:bodyPr vert="horz" wrap="square" lIns="0" tIns="0" rIns="0" bIns="0" rtlCol="0">
            <a:spAutoFit/>
          </a:bodyPr>
          <a:lstStyle/>
          <a:p>
            <a:pPr algn="just">
              <a:spcBef>
                <a:spcPts val="600"/>
              </a:spcBef>
            </a:pPr>
            <a:r>
              <a:rPr lang="en-US" sz="900" b="1" dirty="0" smtClean="0">
                <a:solidFill>
                  <a:schemeClr val="accent4"/>
                </a:solidFill>
                <a:latin typeface="Arial"/>
                <a:cs typeface="Arial" pitchFamily="34" charset="0"/>
              </a:rPr>
              <a:t>Earnings bridge – 2013 to 2014</a:t>
            </a:r>
            <a:endParaRPr kumimoji="0" lang="en-US" sz="900" b="0" i="0" u="none" strike="noStrike" kern="1200" cap="none" spc="0" normalizeH="0" baseline="0" noProof="0" dirty="0">
              <a:ln>
                <a:noFill/>
              </a:ln>
              <a:solidFill>
                <a:schemeClr val="tx1"/>
              </a:solidFill>
              <a:effectLst/>
              <a:uLnTx/>
              <a:uFillTx/>
              <a:latin typeface="Arial"/>
              <a:ea typeface="+mn-ea"/>
              <a:cs typeface="Arial" pitchFamily="34" charset="0"/>
            </a:endParaRPr>
          </a:p>
        </p:txBody>
      </p:sp>
      <p:sp>
        <p:nvSpPr>
          <p:cNvPr id="61" name="Text Placeholder 1"/>
          <p:cNvSpPr>
            <a:spLocks noGrp="1"/>
          </p:cNvSpPr>
          <p:nvPr>
            <p:ph type="body" sz="quarter" idx="12"/>
          </p:nvPr>
        </p:nvSpPr>
        <p:spPr>
          <a:xfrm>
            <a:off x="252046" y="1195200"/>
            <a:ext cx="1583650" cy="4895850"/>
          </a:xfrm>
        </p:spPr>
        <p:txBody>
          <a:bodyPr/>
          <a:lstStyle/>
          <a:p>
            <a:r>
              <a:rPr lang="en-US" dirty="0" smtClean="0"/>
              <a:t>Earnings before tax decreased from $887 million in 2013 to $796 million in 2014.</a:t>
            </a:r>
          </a:p>
          <a:p>
            <a:r>
              <a:rPr lang="en-US" dirty="0" smtClean="0"/>
              <a:t>Interest income decreased by $16 million during the period as the product mix changed to a greater proportion of SSLP and MMGP loans, which have a lower yield compared to the Core portfolio.</a:t>
            </a:r>
          </a:p>
          <a:p>
            <a:r>
              <a:rPr lang="en-US" dirty="0" smtClean="0"/>
              <a:t>Amortization of FAS 91 loan origination costs increased from $12 million in 2013 to $35 million in 2014 due to an operational change in recording such costs. Management believes its current amortization run </a:t>
            </a:r>
            <a:r>
              <a:rPr lang="en-US" dirty="0"/>
              <a:t>rate is </a:t>
            </a:r>
            <a:r>
              <a:rPr lang="en-US" dirty="0" smtClean="0"/>
              <a:t>approximately $60 million per year.</a:t>
            </a:r>
          </a:p>
          <a:p>
            <a:r>
              <a:rPr lang="en-US" dirty="0" smtClean="0"/>
              <a:t>Reserves increased in 2014 to what management believes is a more normalized level based on the credit quality of its current portfolio. </a:t>
            </a:r>
          </a:p>
        </p:txBody>
      </p:sp>
      <p:sp>
        <p:nvSpPr>
          <p:cNvPr id="62" name="Text Box 8"/>
          <p:cNvSpPr txBox="1">
            <a:spLocks noChangeArrowheads="1"/>
          </p:cNvSpPr>
          <p:nvPr>
            <p:custDataLst>
              <p:tags r:id="rId1"/>
            </p:custDataLst>
          </p:nvPr>
        </p:nvSpPr>
        <p:spPr bwMode="gray">
          <a:xfrm>
            <a:off x="2088190" y="3461635"/>
            <a:ext cx="2587984" cy="92333"/>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latin typeface="Arial"/>
                <a:cs typeface="Arial" pitchFamily="34" charset="0"/>
              </a:rPr>
              <a:t> Source: 6.3 Atlas Preliminary Financial Information (05 11 2015)</a:t>
            </a:r>
          </a:p>
        </p:txBody>
      </p:sp>
      <p:sp>
        <p:nvSpPr>
          <p:cNvPr id="21" name="Title 3"/>
          <p:cNvSpPr>
            <a:spLocks noGrp="1"/>
          </p:cNvSpPr>
          <p:nvPr>
            <p:ph type="title"/>
          </p:nvPr>
        </p:nvSpPr>
        <p:spPr>
          <a:xfrm>
            <a:off x="2123728" y="116632"/>
            <a:ext cx="6768752" cy="576064"/>
          </a:xfrm>
        </p:spPr>
        <p:txBody>
          <a:bodyPr/>
          <a:lstStyle/>
          <a:p>
            <a:r>
              <a:rPr lang="en-US" sz="1400" b="0" dirty="0">
                <a:solidFill>
                  <a:srgbClr val="747678"/>
                </a:solidFill>
              </a:rPr>
              <a:t>Executive summary</a:t>
            </a:r>
            <a:r>
              <a:rPr lang="en-US" dirty="0" smtClean="0"/>
              <a:t/>
            </a:r>
            <a:br>
              <a:rPr lang="en-US" dirty="0" smtClean="0"/>
            </a:br>
            <a:r>
              <a:rPr lang="en-US" dirty="0" smtClean="0"/>
              <a:t>Earnings bridge – 2013 to 2014</a:t>
            </a:r>
            <a:endParaRPr lang="en-US" dirty="0"/>
          </a:p>
        </p:txBody>
      </p:sp>
      <p:sp>
        <p:nvSpPr>
          <p:cNvPr id="22" name="Oval 15"/>
          <p:cNvSpPr>
            <a:spLocks noChangeArrowheads="1"/>
          </p:cNvSpPr>
          <p:nvPr/>
        </p:nvSpPr>
        <p:spPr bwMode="gray">
          <a:xfrm>
            <a:off x="1897475" y="5898789"/>
            <a:ext cx="151442" cy="151441"/>
          </a:xfrm>
          <a:prstGeom prst="ellipse">
            <a:avLst/>
          </a:prstGeom>
          <a:solidFill>
            <a:srgbClr val="BFDEE4"/>
          </a:solidFill>
          <a:ln w="6350">
            <a:noFill/>
            <a:round/>
            <a:headEnd/>
            <a:tailEnd/>
          </a:ln>
          <a:effectLst/>
        </p:spPr>
        <p:txBody>
          <a:bodyPr wrap="none" lIns="0" tIns="0" rIns="0" bIns="0" anchor="ctr"/>
          <a:lstStyle/>
          <a:p>
            <a:pPr algn="ctr"/>
            <a:r>
              <a:rPr lang="en-CA" sz="800" dirty="0">
                <a:latin typeface="Arial" pitchFamily="34" charset="0"/>
                <a:cs typeface="Arial" pitchFamily="34" charset="0"/>
              </a:rPr>
              <a:t>7</a:t>
            </a:r>
          </a:p>
        </p:txBody>
      </p:sp>
      <p:sp>
        <p:nvSpPr>
          <p:cNvPr id="23" name="Oval 15"/>
          <p:cNvSpPr>
            <a:spLocks noChangeArrowheads="1"/>
          </p:cNvSpPr>
          <p:nvPr/>
        </p:nvSpPr>
        <p:spPr bwMode="gray">
          <a:xfrm>
            <a:off x="6429241" y="2119303"/>
            <a:ext cx="151442" cy="151441"/>
          </a:xfrm>
          <a:prstGeom prst="ellipse">
            <a:avLst/>
          </a:prstGeom>
          <a:solidFill>
            <a:srgbClr val="BFDEE4"/>
          </a:solidFill>
          <a:ln w="6350">
            <a:noFill/>
            <a:round/>
            <a:headEnd/>
            <a:tailEnd/>
          </a:ln>
          <a:effectLst/>
        </p:spPr>
        <p:txBody>
          <a:bodyPr wrap="none" lIns="0" tIns="0" rIns="0" bIns="0" anchor="ctr"/>
          <a:lstStyle/>
          <a:p>
            <a:pPr algn="ctr"/>
            <a:r>
              <a:rPr lang="en-CA" sz="800" dirty="0">
                <a:latin typeface="Arial" pitchFamily="34" charset="0"/>
                <a:cs typeface="Arial" pitchFamily="34" charset="0"/>
              </a:rPr>
              <a:t>7</a:t>
            </a:r>
          </a:p>
        </p:txBody>
      </p:sp>
      <p:pic>
        <p:nvPicPr>
          <p:cNvPr id="4" name="Picture 3"/>
          <p:cNvPicPr>
            <a:picLocks noChangeAspect="1"/>
          </p:cNvPicPr>
          <p:nvPr/>
        </p:nvPicPr>
        <p:blipFill>
          <a:blip r:embed="rId3"/>
          <a:stretch>
            <a:fillRect/>
          </a:stretch>
        </p:blipFill>
        <p:spPr>
          <a:xfrm>
            <a:off x="1910987" y="1194816"/>
            <a:ext cx="6024662" cy="2430101"/>
          </a:xfrm>
          <a:prstGeom prst="rect">
            <a:avLst/>
          </a:prstGeom>
        </p:spPr>
      </p:pic>
    </p:spTree>
    <p:extLst>
      <p:ext uri="{BB962C8B-B14F-4D97-AF65-F5344CB8AC3E}">
        <p14:creationId xmlns:p14="http://schemas.microsoft.com/office/powerpoint/2010/main" val="2380295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3"/>
          <p:cNvSpPr>
            <a:spLocks noGrp="1"/>
          </p:cNvSpPr>
          <p:nvPr>
            <p:ph type="title"/>
          </p:nvPr>
        </p:nvSpPr>
        <p:spPr>
          <a:xfrm>
            <a:off x="2123728" y="116632"/>
            <a:ext cx="6768752" cy="576064"/>
          </a:xfrm>
        </p:spPr>
        <p:txBody>
          <a:bodyPr/>
          <a:lstStyle/>
          <a:p>
            <a:r>
              <a:rPr lang="en-US" sz="1400" b="0" dirty="0">
                <a:solidFill>
                  <a:srgbClr val="747678"/>
                </a:solidFill>
              </a:rPr>
              <a:t>Executive summary</a:t>
            </a:r>
            <a:r>
              <a:rPr lang="en-US" dirty="0" smtClean="0"/>
              <a:t/>
            </a:r>
            <a:br>
              <a:rPr lang="en-US" dirty="0" smtClean="0"/>
            </a:br>
            <a:r>
              <a:rPr lang="en-US" dirty="0" smtClean="0"/>
              <a:t>Headlines</a:t>
            </a:r>
            <a:endParaRPr lang="en-US" dirty="0"/>
          </a:p>
        </p:txBody>
      </p:sp>
      <p:sp>
        <p:nvSpPr>
          <p:cNvPr id="4" name="Text Placeholder 1"/>
          <p:cNvSpPr>
            <a:spLocks noGrp="1"/>
          </p:cNvSpPr>
          <p:nvPr>
            <p:ph type="body" sz="quarter" idx="4294967295"/>
          </p:nvPr>
        </p:nvSpPr>
        <p:spPr>
          <a:xfrm>
            <a:off x="2078824" y="1992380"/>
            <a:ext cx="6690630" cy="800374"/>
          </a:xfrm>
          <a:prstGeom prst="rect">
            <a:avLst/>
          </a:prstGeom>
        </p:spPr>
        <p:txBody>
          <a:bodyPr anchor="ctr"/>
          <a:lstStyle/>
          <a:p>
            <a:pPr marL="0" lvl="2" indent="0">
              <a:buNone/>
              <a:defRPr/>
            </a:pPr>
            <a:r>
              <a:rPr lang="en-US" dirty="0" smtClean="0"/>
              <a:t>Fee income is a key driver in generating earnings for Target and is projected to continue to assume a greater proportion of total revenue over the forecast period. Upfront fees, driven by volume, and management fees, driven by assets under management within the SSLP and MMGP programs, are the primary components of fee income. Certain upfront fees are deferred and amortized into earnings over the stated life of the loan, creating a timing mismatch between cash receipts and revenue recognition. This timing mismatch should be considered in your valuation model.</a:t>
            </a:r>
            <a:endParaRPr lang="en-US" dirty="0"/>
          </a:p>
        </p:txBody>
      </p:sp>
      <p:sp>
        <p:nvSpPr>
          <p:cNvPr id="6" name="Text Placeholder 2"/>
          <p:cNvSpPr>
            <a:spLocks noGrp="1"/>
          </p:cNvSpPr>
          <p:nvPr>
            <p:ph type="body" sz="quarter" idx="13"/>
          </p:nvPr>
        </p:nvSpPr>
        <p:spPr>
          <a:xfrm>
            <a:off x="258500" y="2086418"/>
            <a:ext cx="1329454" cy="685800"/>
          </a:xfrm>
          <a:solidFill>
            <a:srgbClr val="409DAD"/>
          </a:solidFill>
        </p:spPr>
        <p:txBody>
          <a:bodyPr anchor="ctr"/>
          <a:lstStyle/>
          <a:p>
            <a:pPr algn="ctr"/>
            <a:r>
              <a:rPr lang="en-US" dirty="0" smtClean="0">
                <a:solidFill>
                  <a:schemeClr val="bg1"/>
                </a:solidFill>
              </a:rPr>
              <a:t>Greater reliance on    fee income</a:t>
            </a:r>
            <a:endParaRPr lang="en-US" dirty="0">
              <a:solidFill>
                <a:schemeClr val="bg1"/>
              </a:solidFill>
            </a:endParaRPr>
          </a:p>
        </p:txBody>
      </p:sp>
      <p:sp>
        <p:nvSpPr>
          <p:cNvPr id="2" name="Isosceles Triangle 1"/>
          <p:cNvSpPr/>
          <p:nvPr/>
        </p:nvSpPr>
        <p:spPr>
          <a:xfrm rot="5400000">
            <a:off x="1528588" y="2319955"/>
            <a:ext cx="685802" cy="218728"/>
          </a:xfrm>
          <a:prstGeom prst="triangle">
            <a:avLst>
              <a:gd name="adj" fmla="val 5112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US" sz="900" dirty="0"/>
          </a:p>
        </p:txBody>
      </p:sp>
      <p:sp>
        <p:nvSpPr>
          <p:cNvPr id="7" name="Text Placeholder 1"/>
          <p:cNvSpPr>
            <a:spLocks noGrp="1"/>
          </p:cNvSpPr>
          <p:nvPr>
            <p:ph type="body" sz="quarter" idx="4294967295"/>
          </p:nvPr>
        </p:nvSpPr>
        <p:spPr>
          <a:xfrm>
            <a:off x="2152303" y="4571489"/>
            <a:ext cx="6690630" cy="685800"/>
          </a:xfrm>
          <a:prstGeom prst="rect">
            <a:avLst/>
          </a:prstGeom>
        </p:spPr>
        <p:txBody>
          <a:bodyPr anchor="ctr"/>
          <a:lstStyle/>
          <a:p>
            <a:pPr marL="0" lvl="2" indent="0">
              <a:buNone/>
              <a:defRPr/>
            </a:pPr>
            <a:r>
              <a:rPr lang="en-US" dirty="0" smtClean="0"/>
              <a:t>Certain arrangements – retention agreements, guaranteed bonuses, and accelerated vesting of a supplementary pension plan – are in place with certain employees across various functions who have been identified by management as critical to the success of the business post-transaction. These arrangements vest fully no later than six months from transaction close date. You should consider other arrangements (and their associated costs) that would provide </a:t>
            </a:r>
            <a:r>
              <a:rPr lang="en-US" dirty="0"/>
              <a:t>key employees with </a:t>
            </a:r>
            <a:r>
              <a:rPr lang="en-US" dirty="0" smtClean="0"/>
              <a:t>sufficient </a:t>
            </a:r>
            <a:r>
              <a:rPr lang="en-US" dirty="0"/>
              <a:t>long-term </a:t>
            </a:r>
            <a:r>
              <a:rPr lang="en-US" dirty="0" smtClean="0"/>
              <a:t>incentives </a:t>
            </a:r>
            <a:r>
              <a:rPr lang="en-US" dirty="0"/>
              <a:t>to continue their employment with the business</a:t>
            </a:r>
            <a:r>
              <a:rPr lang="en-US" dirty="0" smtClean="0"/>
              <a:t>.</a:t>
            </a:r>
            <a:endParaRPr lang="en-US" dirty="0"/>
          </a:p>
        </p:txBody>
      </p:sp>
      <p:sp>
        <p:nvSpPr>
          <p:cNvPr id="8" name="Text Placeholder 2"/>
          <p:cNvSpPr>
            <a:spLocks noGrp="1"/>
          </p:cNvSpPr>
          <p:nvPr>
            <p:ph type="body" sz="quarter" idx="13"/>
          </p:nvPr>
        </p:nvSpPr>
        <p:spPr>
          <a:xfrm>
            <a:off x="255779" y="4569714"/>
            <a:ext cx="1329454" cy="685800"/>
          </a:xfrm>
          <a:solidFill>
            <a:srgbClr val="409DAD"/>
          </a:solidFill>
        </p:spPr>
        <p:txBody>
          <a:bodyPr anchor="ctr"/>
          <a:lstStyle/>
          <a:p>
            <a:pPr algn="ctr"/>
            <a:r>
              <a:rPr lang="en-US" dirty="0" smtClean="0">
                <a:solidFill>
                  <a:schemeClr val="bg1"/>
                </a:solidFill>
              </a:rPr>
              <a:t>Arrangements to retain key employees</a:t>
            </a:r>
            <a:endParaRPr lang="en-US" dirty="0">
              <a:solidFill>
                <a:schemeClr val="bg1"/>
              </a:solidFill>
            </a:endParaRPr>
          </a:p>
        </p:txBody>
      </p:sp>
      <p:sp>
        <p:nvSpPr>
          <p:cNvPr id="9" name="Isosceles Triangle 8"/>
          <p:cNvSpPr/>
          <p:nvPr/>
        </p:nvSpPr>
        <p:spPr>
          <a:xfrm rot="5400000">
            <a:off x="1525867" y="4803251"/>
            <a:ext cx="685802" cy="218728"/>
          </a:xfrm>
          <a:prstGeom prst="triangle">
            <a:avLst>
              <a:gd name="adj" fmla="val 5112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US" sz="900" dirty="0"/>
          </a:p>
        </p:txBody>
      </p:sp>
      <p:sp>
        <p:nvSpPr>
          <p:cNvPr id="11" name="Text Placeholder 2"/>
          <p:cNvSpPr>
            <a:spLocks noGrp="1"/>
          </p:cNvSpPr>
          <p:nvPr>
            <p:ph type="body" sz="quarter" idx="13"/>
          </p:nvPr>
        </p:nvSpPr>
        <p:spPr>
          <a:xfrm>
            <a:off x="239450" y="3760273"/>
            <a:ext cx="1329454" cy="685800"/>
          </a:xfrm>
          <a:solidFill>
            <a:srgbClr val="409DAD"/>
          </a:solidFill>
        </p:spPr>
        <p:txBody>
          <a:bodyPr anchor="ctr"/>
          <a:lstStyle/>
          <a:p>
            <a:pPr algn="ctr"/>
            <a:r>
              <a:rPr lang="en-US" dirty="0" smtClean="0">
                <a:solidFill>
                  <a:schemeClr val="bg1"/>
                </a:solidFill>
              </a:rPr>
              <a:t>Significant ongoing funding needs</a:t>
            </a:r>
            <a:endParaRPr lang="en-US" dirty="0">
              <a:solidFill>
                <a:schemeClr val="bg1"/>
              </a:solidFill>
            </a:endParaRPr>
          </a:p>
        </p:txBody>
      </p:sp>
      <p:sp>
        <p:nvSpPr>
          <p:cNvPr id="12" name="Isosceles Triangle 11"/>
          <p:cNvSpPr/>
          <p:nvPr/>
        </p:nvSpPr>
        <p:spPr>
          <a:xfrm rot="5400000">
            <a:off x="1509538" y="3993810"/>
            <a:ext cx="685802" cy="218728"/>
          </a:xfrm>
          <a:prstGeom prst="triangle">
            <a:avLst>
              <a:gd name="adj" fmla="val 5112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US" sz="900" dirty="0"/>
          </a:p>
        </p:txBody>
      </p:sp>
      <p:sp>
        <p:nvSpPr>
          <p:cNvPr id="14" name="Text Placeholder 1"/>
          <p:cNvSpPr>
            <a:spLocks noGrp="1"/>
          </p:cNvSpPr>
          <p:nvPr>
            <p:ph type="body" sz="quarter" idx="4294967295"/>
          </p:nvPr>
        </p:nvSpPr>
        <p:spPr>
          <a:xfrm>
            <a:off x="2167270" y="5389023"/>
            <a:ext cx="6690630" cy="685800"/>
          </a:xfrm>
          <a:prstGeom prst="rect">
            <a:avLst/>
          </a:prstGeom>
        </p:spPr>
        <p:txBody>
          <a:bodyPr anchor="ctr"/>
          <a:lstStyle/>
          <a:p>
            <a:pPr marL="0" lvl="2" indent="0">
              <a:buNone/>
              <a:defRPr/>
            </a:pPr>
            <a:r>
              <a:rPr lang="en-US" dirty="0" smtClean="0"/>
              <a:t>Back-office support functions have historically been provided collectively via shared service centers supporting various GE businesses that will not be available long-term post transaction. These functions – IT, operations, finance, legal, marketing, HR – will need to be established in order for Target to operate as a stand-alone entity. We understand that you have engaged with advisors to analyze this matter. </a:t>
            </a:r>
            <a:endParaRPr lang="en-US" dirty="0"/>
          </a:p>
        </p:txBody>
      </p:sp>
      <p:sp>
        <p:nvSpPr>
          <p:cNvPr id="15" name="Text Placeholder 2"/>
          <p:cNvSpPr>
            <a:spLocks noGrp="1"/>
          </p:cNvSpPr>
          <p:nvPr>
            <p:ph type="body" sz="quarter" idx="13"/>
          </p:nvPr>
        </p:nvSpPr>
        <p:spPr>
          <a:xfrm>
            <a:off x="273817" y="5389023"/>
            <a:ext cx="1329454" cy="685800"/>
          </a:xfrm>
          <a:solidFill>
            <a:srgbClr val="409DAD"/>
          </a:solidFill>
        </p:spPr>
        <p:txBody>
          <a:bodyPr anchor="ctr"/>
          <a:lstStyle/>
          <a:p>
            <a:pPr algn="ctr"/>
            <a:r>
              <a:rPr lang="en-US" dirty="0" smtClean="0">
                <a:solidFill>
                  <a:schemeClr val="bg1"/>
                </a:solidFill>
              </a:rPr>
              <a:t>Need to establish support functions to operate as a stand-alone entity</a:t>
            </a:r>
            <a:endParaRPr lang="en-US" dirty="0">
              <a:solidFill>
                <a:schemeClr val="bg1"/>
              </a:solidFill>
            </a:endParaRPr>
          </a:p>
        </p:txBody>
      </p:sp>
      <p:sp>
        <p:nvSpPr>
          <p:cNvPr id="16" name="Isosceles Triangle 15"/>
          <p:cNvSpPr/>
          <p:nvPr/>
        </p:nvSpPr>
        <p:spPr>
          <a:xfrm rot="5400000">
            <a:off x="1543905" y="5622560"/>
            <a:ext cx="685802" cy="218728"/>
          </a:xfrm>
          <a:prstGeom prst="triangle">
            <a:avLst>
              <a:gd name="adj" fmla="val 5112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US" sz="900" dirty="0"/>
          </a:p>
        </p:txBody>
      </p:sp>
      <p:sp>
        <p:nvSpPr>
          <p:cNvPr id="27" name="Text Placeholder 1"/>
          <p:cNvSpPr>
            <a:spLocks noGrp="1"/>
          </p:cNvSpPr>
          <p:nvPr>
            <p:ph type="body" sz="quarter" idx="4294967295"/>
          </p:nvPr>
        </p:nvSpPr>
        <p:spPr>
          <a:xfrm>
            <a:off x="2145499" y="2922277"/>
            <a:ext cx="6690630" cy="685800"/>
          </a:xfrm>
          <a:prstGeom prst="rect">
            <a:avLst/>
          </a:prstGeom>
        </p:spPr>
        <p:txBody>
          <a:bodyPr anchor="ctr"/>
          <a:lstStyle/>
          <a:p>
            <a:pPr marL="0" lvl="2" indent="0">
              <a:buNone/>
              <a:defRPr/>
            </a:pPr>
            <a:r>
              <a:rPr lang="en-US" dirty="0" smtClean="0"/>
              <a:t>The non-interest cost base consists principally of employee compensation and benefits. The </a:t>
            </a:r>
            <a:r>
              <a:rPr lang="en-US" dirty="0"/>
              <a:t>current compensation </a:t>
            </a:r>
            <a:r>
              <a:rPr lang="en-US" dirty="0" smtClean="0"/>
              <a:t>structure </a:t>
            </a:r>
            <a:r>
              <a:rPr lang="en-US" dirty="0"/>
              <a:t>is </a:t>
            </a:r>
            <a:r>
              <a:rPr lang="en-US" dirty="0" smtClean="0"/>
              <a:t>mostly variable, particularly for </a:t>
            </a:r>
            <a:r>
              <a:rPr lang="en-US" dirty="0"/>
              <a:t>the </a:t>
            </a:r>
            <a:r>
              <a:rPr lang="en-US" dirty="0" smtClean="0"/>
              <a:t>Commercial team, with cash bonuses paid annually </a:t>
            </a:r>
            <a:r>
              <a:rPr lang="en-US" dirty="0"/>
              <a:t>with no deferral mechanism. </a:t>
            </a:r>
            <a:r>
              <a:rPr lang="en-US" dirty="0" smtClean="0"/>
              <a:t>The Commercial team is critical to the preservation of Target’s value given their relationships with clients (which drive volumes) and the </a:t>
            </a:r>
            <a:r>
              <a:rPr lang="en-US" dirty="0"/>
              <a:t>relatively short expected life of the loan </a:t>
            </a:r>
            <a:r>
              <a:rPr lang="en-US" dirty="0" smtClean="0"/>
              <a:t>portfolio. We </a:t>
            </a:r>
            <a:r>
              <a:rPr lang="en-US" dirty="0"/>
              <a:t>recommend you consider </a:t>
            </a:r>
            <a:r>
              <a:rPr lang="en-US" dirty="0" smtClean="0"/>
              <a:t>the most appropriate compensation </a:t>
            </a:r>
            <a:r>
              <a:rPr lang="en-US" dirty="0"/>
              <a:t>structure </a:t>
            </a:r>
            <a:r>
              <a:rPr lang="en-US" dirty="0" smtClean="0"/>
              <a:t>such that it continues to incentivize and retain </a:t>
            </a:r>
            <a:r>
              <a:rPr lang="en-US" dirty="0"/>
              <a:t>this </a:t>
            </a:r>
            <a:r>
              <a:rPr lang="en-US" dirty="0" smtClean="0"/>
              <a:t>team.</a:t>
            </a:r>
            <a:endParaRPr lang="en-US" dirty="0"/>
          </a:p>
        </p:txBody>
      </p:sp>
      <p:sp>
        <p:nvSpPr>
          <p:cNvPr id="28" name="Text Placeholder 2"/>
          <p:cNvSpPr>
            <a:spLocks noGrp="1"/>
          </p:cNvSpPr>
          <p:nvPr>
            <p:ph type="body" sz="quarter" idx="13"/>
          </p:nvPr>
        </p:nvSpPr>
        <p:spPr>
          <a:xfrm>
            <a:off x="248975" y="2920502"/>
            <a:ext cx="1329454" cy="685800"/>
          </a:xfrm>
          <a:solidFill>
            <a:srgbClr val="409DAD"/>
          </a:solidFill>
        </p:spPr>
        <p:txBody>
          <a:bodyPr anchor="ctr"/>
          <a:lstStyle/>
          <a:p>
            <a:pPr algn="ctr"/>
            <a:r>
              <a:rPr lang="en-US" dirty="0" smtClean="0">
                <a:solidFill>
                  <a:schemeClr val="bg1"/>
                </a:solidFill>
              </a:rPr>
              <a:t>Highly variable         cost </a:t>
            </a:r>
            <a:r>
              <a:rPr lang="en-US" dirty="0">
                <a:solidFill>
                  <a:schemeClr val="bg1"/>
                </a:solidFill>
              </a:rPr>
              <a:t>b</a:t>
            </a:r>
            <a:r>
              <a:rPr lang="en-US" dirty="0" smtClean="0">
                <a:solidFill>
                  <a:schemeClr val="bg1"/>
                </a:solidFill>
              </a:rPr>
              <a:t>ase and  compensation  structure</a:t>
            </a:r>
            <a:endParaRPr lang="en-US" dirty="0">
              <a:solidFill>
                <a:schemeClr val="bg1"/>
              </a:solidFill>
            </a:endParaRPr>
          </a:p>
        </p:txBody>
      </p:sp>
      <p:sp>
        <p:nvSpPr>
          <p:cNvPr id="29" name="Isosceles Triangle 28"/>
          <p:cNvSpPr/>
          <p:nvPr/>
        </p:nvSpPr>
        <p:spPr>
          <a:xfrm rot="5400000">
            <a:off x="1519063" y="3154039"/>
            <a:ext cx="685802" cy="218728"/>
          </a:xfrm>
          <a:prstGeom prst="triangle">
            <a:avLst>
              <a:gd name="adj" fmla="val 5112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US" sz="900" dirty="0"/>
          </a:p>
        </p:txBody>
      </p:sp>
      <p:sp>
        <p:nvSpPr>
          <p:cNvPr id="31" name="Text Placeholder 2"/>
          <p:cNvSpPr>
            <a:spLocks noGrp="1"/>
          </p:cNvSpPr>
          <p:nvPr>
            <p:ph type="body" sz="quarter" idx="13"/>
          </p:nvPr>
        </p:nvSpPr>
        <p:spPr>
          <a:xfrm>
            <a:off x="261571" y="1205401"/>
            <a:ext cx="1329454" cy="685800"/>
          </a:xfrm>
          <a:solidFill>
            <a:srgbClr val="409DAD"/>
          </a:solidFill>
        </p:spPr>
        <p:txBody>
          <a:bodyPr anchor="ctr"/>
          <a:lstStyle/>
          <a:p>
            <a:pPr algn="ctr"/>
            <a:r>
              <a:rPr lang="en-US" dirty="0" smtClean="0">
                <a:solidFill>
                  <a:schemeClr val="bg1"/>
                </a:solidFill>
              </a:rPr>
              <a:t>Declining portfolio </a:t>
            </a:r>
            <a:r>
              <a:rPr lang="en-US" dirty="0">
                <a:solidFill>
                  <a:schemeClr val="bg1"/>
                </a:solidFill>
              </a:rPr>
              <a:t>y</a:t>
            </a:r>
            <a:r>
              <a:rPr lang="en-US" dirty="0" smtClean="0">
                <a:solidFill>
                  <a:schemeClr val="bg1"/>
                </a:solidFill>
              </a:rPr>
              <a:t>ields</a:t>
            </a:r>
            <a:endParaRPr lang="en-US" dirty="0">
              <a:solidFill>
                <a:schemeClr val="bg1"/>
              </a:solidFill>
            </a:endParaRPr>
          </a:p>
        </p:txBody>
      </p:sp>
      <p:sp>
        <p:nvSpPr>
          <p:cNvPr id="32" name="Isosceles Triangle 31"/>
          <p:cNvSpPr/>
          <p:nvPr/>
        </p:nvSpPr>
        <p:spPr>
          <a:xfrm rot="5400000">
            <a:off x="1531659" y="1438938"/>
            <a:ext cx="685802" cy="218728"/>
          </a:xfrm>
          <a:prstGeom prst="triangle">
            <a:avLst>
              <a:gd name="adj" fmla="val 5112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US" sz="900" dirty="0"/>
          </a:p>
        </p:txBody>
      </p:sp>
      <p:sp>
        <p:nvSpPr>
          <p:cNvPr id="33" name="Text Placeholder 1"/>
          <p:cNvSpPr txBox="1">
            <a:spLocks/>
          </p:cNvSpPr>
          <p:nvPr/>
        </p:nvSpPr>
        <p:spPr bwMode="gray">
          <a:xfrm>
            <a:off x="2133253" y="1112289"/>
            <a:ext cx="6690630" cy="912625"/>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600"/>
              </a:spcBef>
              <a:buFont typeface="Arial" pitchFamily="34" charset="0"/>
              <a:buNone/>
              <a:defRPr lang="en-US" sz="900" b="1" kern="1200" noProof="0" dirty="0" smtClean="0">
                <a:solidFill>
                  <a:srgbClr val="00338D"/>
                </a:solidFill>
                <a:latin typeface="Arial"/>
                <a:ea typeface="+mn-ea"/>
                <a:cs typeface="Arial" pitchFamily="34" charset="0"/>
              </a:defRPr>
            </a:lvl1pPr>
            <a:lvl2pPr marL="0" indent="0" algn="l" defTabSz="914400" rtl="0" eaLnBrk="1" latinLnBrk="0" hangingPunct="1">
              <a:lnSpc>
                <a:spcPct val="100000"/>
              </a:lnSpc>
              <a:spcBef>
                <a:spcPts val="600"/>
              </a:spcBef>
              <a:buFont typeface="Arial" pitchFamily="34" charset="0"/>
              <a:buNone/>
              <a:defRPr lang="en-US" sz="900" b="0" kern="1200" noProof="0" dirty="0" smtClean="0">
                <a:solidFill>
                  <a:schemeClr val="tx1"/>
                </a:solidFill>
                <a:latin typeface="Arial"/>
                <a:ea typeface="+mn-ea"/>
                <a:cs typeface="Arial" pitchFamily="34" charset="0"/>
              </a:defRPr>
            </a:lvl2pPr>
            <a:lvl3pPr marL="177800" indent="-177800" algn="l" defTabSz="914400" rtl="0" eaLnBrk="1" latinLnBrk="0" hangingPunct="1">
              <a:lnSpc>
                <a:spcPct val="100000"/>
              </a:lnSpc>
              <a:spcBef>
                <a:spcPts val="600"/>
              </a:spcBef>
              <a:buClr>
                <a:srgbClr val="97989A"/>
              </a:buClr>
              <a:buFont typeface="Arial" pitchFamily="34" charset="0"/>
              <a:buChar char="■"/>
              <a:defRPr lang="en-US" sz="900" b="0" kern="1200" noProof="0" dirty="0" smtClean="0">
                <a:solidFill>
                  <a:schemeClr val="tx1"/>
                </a:solidFill>
                <a:latin typeface="Arial"/>
                <a:ea typeface="+mn-ea"/>
                <a:cs typeface="Arial" pitchFamily="34" charset="0"/>
              </a:defRPr>
            </a:lvl3pPr>
            <a:lvl4pPr marL="355600" indent="-177800" algn="l" defTabSz="914400" rtl="0" eaLnBrk="1" latinLnBrk="0" hangingPunct="1">
              <a:lnSpc>
                <a:spcPct val="100000"/>
              </a:lnSpc>
              <a:spcBef>
                <a:spcPts val="600"/>
              </a:spcBef>
              <a:buClr>
                <a:srgbClr val="97989A"/>
              </a:buClr>
              <a:buFont typeface="Arial" pitchFamily="34" charset="0"/>
              <a:buChar char="–"/>
              <a:defRPr lang="en-US" sz="900" b="0" kern="1200" noProof="0" dirty="0" smtClean="0">
                <a:solidFill>
                  <a:schemeClr val="tx1"/>
                </a:solidFill>
                <a:latin typeface="Arial"/>
                <a:ea typeface="+mn-ea"/>
                <a:cs typeface="Arial" pitchFamily="34" charset="0"/>
              </a:defRPr>
            </a:lvl4pPr>
            <a:lvl5pPr marL="534988" indent="-174625" algn="l" defTabSz="914400" rtl="0" eaLnBrk="1" latinLnBrk="0" hangingPunct="1">
              <a:lnSpc>
                <a:spcPct val="100000"/>
              </a:lnSpc>
              <a:spcBef>
                <a:spcPts val="600"/>
              </a:spcBef>
              <a:buClr>
                <a:srgbClr val="97989A"/>
              </a:buClr>
              <a:buFont typeface="Arial" pitchFamily="34" charset="0"/>
              <a:buChar char="■"/>
              <a:defRPr lang="en-GB" sz="900" b="0" kern="1200" baseline="0" noProof="0" dirty="0" smtClean="0">
                <a:solidFill>
                  <a:schemeClr val="tx1"/>
                </a:solidFill>
                <a:latin typeface="Arial"/>
                <a:ea typeface="+mn-ea"/>
                <a:cs typeface="Arial" pitchFamily="34" charset="0"/>
              </a:defRPr>
            </a:lvl5pPr>
            <a:lvl6pPr marL="720725" indent="-185738" algn="l" defTabSz="914400" rtl="0" eaLnBrk="1" latinLnBrk="0" hangingPunct="1">
              <a:lnSpc>
                <a:spcPct val="110000"/>
              </a:lnSpc>
              <a:spcBef>
                <a:spcPts val="600"/>
              </a:spcBef>
              <a:buClr>
                <a:srgbClr val="97989A"/>
              </a:buClr>
              <a:buFont typeface="Arial" pitchFamily="34" charset="0"/>
              <a:buChar char="–"/>
              <a:defRPr lang="en-GB" sz="900" kern="1200" dirty="0" smtClean="0">
                <a:solidFill>
                  <a:schemeClr val="tx1"/>
                </a:solidFill>
                <a:latin typeface="Arial" pitchFamily="34" charset="0"/>
                <a:ea typeface="+mn-ea"/>
                <a:cs typeface="Arial" pitchFamily="34" charset="0"/>
              </a:defRPr>
            </a:lvl6pPr>
            <a:lvl7pPr marL="895350" indent="-174625" algn="l" defTabSz="914400" rtl="0" eaLnBrk="1" latinLnBrk="0" hangingPunct="1">
              <a:lnSpc>
                <a:spcPct val="110000"/>
              </a:lnSpc>
              <a:spcBef>
                <a:spcPts val="600"/>
              </a:spcBef>
              <a:buClr>
                <a:srgbClr val="97989A"/>
              </a:buClr>
              <a:buFont typeface="Arial" pitchFamily="34" charset="0"/>
              <a:buChar char="■"/>
              <a:defRPr lang="en-GB" sz="900" kern="1200" baseline="0" dirty="0" smtClean="0">
                <a:solidFill>
                  <a:schemeClr val="tx1"/>
                </a:solidFill>
                <a:latin typeface="Arial" pitchFamily="34" charset="0"/>
                <a:ea typeface="+mn-ea"/>
                <a:cs typeface="Arial" pitchFamily="34" charset="0"/>
              </a:defRPr>
            </a:lvl7pPr>
            <a:lvl8pPr marL="1081088" indent="-185738" algn="l" defTabSz="914400" rtl="0" eaLnBrk="1" latinLnBrk="0" hangingPunct="1">
              <a:lnSpc>
                <a:spcPct val="110000"/>
              </a:lnSpc>
              <a:spcBef>
                <a:spcPts val="600"/>
              </a:spcBef>
              <a:buClr>
                <a:srgbClr val="97989A"/>
              </a:buClr>
              <a:buFont typeface="Arial" pitchFamily="34" charset="0"/>
              <a:buChar char="–"/>
              <a:defRPr lang="en-GB" sz="900" kern="1200" baseline="0" dirty="0" smtClean="0">
                <a:solidFill>
                  <a:schemeClr val="tx1"/>
                </a:solidFill>
                <a:latin typeface="Arial" pitchFamily="34" charset="0"/>
                <a:ea typeface="+mn-ea"/>
                <a:cs typeface="+mn-cs"/>
              </a:defRPr>
            </a:lvl8pPr>
            <a:lvl9pPr marL="1255713" indent="-174625" algn="l" defTabSz="914400" rtl="0" eaLnBrk="1" latinLnBrk="0" hangingPunct="1">
              <a:lnSpc>
                <a:spcPct val="110000"/>
              </a:lnSpc>
              <a:spcBef>
                <a:spcPts val="600"/>
              </a:spcBef>
              <a:buClr>
                <a:srgbClr val="97989A"/>
              </a:buClr>
              <a:buFont typeface="Arial" pitchFamily="34" charset="0"/>
              <a:buChar char="■"/>
              <a:defRPr lang="en-GB" sz="900" kern="1200" baseline="0" dirty="0" smtClean="0">
                <a:solidFill>
                  <a:schemeClr val="tx1"/>
                </a:solidFill>
                <a:latin typeface="Arial" pitchFamily="34" charset="0"/>
                <a:ea typeface="+mn-ea"/>
                <a:cs typeface="Arial" pitchFamily="34" charset="0"/>
              </a:defRPr>
            </a:lvl9pPr>
          </a:lstStyle>
          <a:p>
            <a:pPr marL="0" lvl="2" indent="0">
              <a:buNone/>
              <a:defRPr/>
            </a:pPr>
            <a:r>
              <a:rPr lang="en-US" dirty="0" smtClean="0"/>
              <a:t>On a portfolio basis, yields </a:t>
            </a:r>
            <a:r>
              <a:rPr lang="en-US" dirty="0"/>
              <a:t>have been decreasing </a:t>
            </a:r>
            <a:r>
              <a:rPr lang="en-US" dirty="0" smtClean="0"/>
              <a:t>and </a:t>
            </a:r>
            <a:r>
              <a:rPr lang="en-US" dirty="0"/>
              <a:t>are </a:t>
            </a:r>
            <a:r>
              <a:rPr lang="en-US" dirty="0" smtClean="0"/>
              <a:t>forecasted to </a:t>
            </a:r>
            <a:r>
              <a:rPr lang="en-US" dirty="0"/>
              <a:t>decrease further in the </a:t>
            </a:r>
            <a:r>
              <a:rPr lang="en-US" dirty="0" smtClean="0"/>
              <a:t>near-term. </a:t>
            </a:r>
            <a:r>
              <a:rPr lang="en-US" dirty="0"/>
              <a:t>This decline is driven by the run-off of high-yield loans underwritten post-crisis and the replacement of these loans by new </a:t>
            </a:r>
            <a:r>
              <a:rPr lang="en-US" dirty="0" smtClean="0"/>
              <a:t>lower-yielding on-book volume. </a:t>
            </a:r>
            <a:r>
              <a:rPr lang="en-US" dirty="0"/>
              <a:t>As well, the growth of the SSLP and MMGP programs (which are priced lower due to the lower risk associated with these loans) as a proportion of the total portfolio is </a:t>
            </a:r>
            <a:r>
              <a:rPr lang="en-US" dirty="0" smtClean="0"/>
              <a:t>exerting </a:t>
            </a:r>
            <a:r>
              <a:rPr lang="en-US" dirty="0"/>
              <a:t>downward pressure on overall portfolio yields. As such, the potential upside from projected asset growth should be viewed in conjunction with the concurrent downside from narrower net interest margins. </a:t>
            </a:r>
          </a:p>
        </p:txBody>
      </p:sp>
      <p:sp>
        <p:nvSpPr>
          <p:cNvPr id="34" name="Text Placeholder 1"/>
          <p:cNvSpPr txBox="1">
            <a:spLocks/>
          </p:cNvSpPr>
          <p:nvPr/>
        </p:nvSpPr>
        <p:spPr bwMode="gray">
          <a:xfrm>
            <a:off x="2103317" y="3742780"/>
            <a:ext cx="6690630" cy="753020"/>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600"/>
              </a:spcBef>
              <a:buFont typeface="Arial" pitchFamily="34" charset="0"/>
              <a:buNone/>
              <a:defRPr lang="en-US" sz="900" b="1" kern="1200" noProof="0" dirty="0" smtClean="0">
                <a:solidFill>
                  <a:srgbClr val="00338D"/>
                </a:solidFill>
                <a:latin typeface="Arial"/>
                <a:ea typeface="+mn-ea"/>
                <a:cs typeface="Arial" pitchFamily="34" charset="0"/>
              </a:defRPr>
            </a:lvl1pPr>
            <a:lvl2pPr marL="0" indent="0" algn="l" defTabSz="914400" rtl="0" eaLnBrk="1" latinLnBrk="0" hangingPunct="1">
              <a:lnSpc>
                <a:spcPct val="100000"/>
              </a:lnSpc>
              <a:spcBef>
                <a:spcPts val="600"/>
              </a:spcBef>
              <a:buFont typeface="Arial" pitchFamily="34" charset="0"/>
              <a:buNone/>
              <a:defRPr lang="en-US" sz="900" b="0" kern="1200" noProof="0" dirty="0" smtClean="0">
                <a:solidFill>
                  <a:schemeClr val="tx1"/>
                </a:solidFill>
                <a:latin typeface="Arial"/>
                <a:ea typeface="+mn-ea"/>
                <a:cs typeface="Arial" pitchFamily="34" charset="0"/>
              </a:defRPr>
            </a:lvl2pPr>
            <a:lvl3pPr marL="177800" indent="-177800" algn="l" defTabSz="914400" rtl="0" eaLnBrk="1" latinLnBrk="0" hangingPunct="1">
              <a:lnSpc>
                <a:spcPct val="100000"/>
              </a:lnSpc>
              <a:spcBef>
                <a:spcPts val="600"/>
              </a:spcBef>
              <a:buClr>
                <a:srgbClr val="97989A"/>
              </a:buClr>
              <a:buFont typeface="Arial" pitchFamily="34" charset="0"/>
              <a:buChar char="■"/>
              <a:defRPr lang="en-US" sz="900" b="0" kern="1200" noProof="0" dirty="0" smtClean="0">
                <a:solidFill>
                  <a:schemeClr val="tx1"/>
                </a:solidFill>
                <a:latin typeface="Arial"/>
                <a:ea typeface="+mn-ea"/>
                <a:cs typeface="Arial" pitchFamily="34" charset="0"/>
              </a:defRPr>
            </a:lvl3pPr>
            <a:lvl4pPr marL="355600" indent="-177800" algn="l" defTabSz="914400" rtl="0" eaLnBrk="1" latinLnBrk="0" hangingPunct="1">
              <a:lnSpc>
                <a:spcPct val="100000"/>
              </a:lnSpc>
              <a:spcBef>
                <a:spcPts val="600"/>
              </a:spcBef>
              <a:buClr>
                <a:srgbClr val="97989A"/>
              </a:buClr>
              <a:buFont typeface="Arial" pitchFamily="34" charset="0"/>
              <a:buChar char="–"/>
              <a:defRPr lang="en-US" sz="900" b="0" kern="1200" noProof="0" dirty="0" smtClean="0">
                <a:solidFill>
                  <a:schemeClr val="tx1"/>
                </a:solidFill>
                <a:latin typeface="Arial"/>
                <a:ea typeface="+mn-ea"/>
                <a:cs typeface="Arial" pitchFamily="34" charset="0"/>
              </a:defRPr>
            </a:lvl4pPr>
            <a:lvl5pPr marL="534988" indent="-174625" algn="l" defTabSz="914400" rtl="0" eaLnBrk="1" latinLnBrk="0" hangingPunct="1">
              <a:lnSpc>
                <a:spcPct val="100000"/>
              </a:lnSpc>
              <a:spcBef>
                <a:spcPts val="600"/>
              </a:spcBef>
              <a:buClr>
                <a:srgbClr val="97989A"/>
              </a:buClr>
              <a:buFont typeface="Arial" pitchFamily="34" charset="0"/>
              <a:buChar char="■"/>
              <a:defRPr lang="en-GB" sz="900" b="0" kern="1200" baseline="0" noProof="0" dirty="0" smtClean="0">
                <a:solidFill>
                  <a:schemeClr val="tx1"/>
                </a:solidFill>
                <a:latin typeface="Arial"/>
                <a:ea typeface="+mn-ea"/>
                <a:cs typeface="Arial" pitchFamily="34" charset="0"/>
              </a:defRPr>
            </a:lvl5pPr>
            <a:lvl6pPr marL="720725" indent="-185738" algn="l" defTabSz="914400" rtl="0" eaLnBrk="1" latinLnBrk="0" hangingPunct="1">
              <a:lnSpc>
                <a:spcPct val="110000"/>
              </a:lnSpc>
              <a:spcBef>
                <a:spcPts val="600"/>
              </a:spcBef>
              <a:buClr>
                <a:srgbClr val="97989A"/>
              </a:buClr>
              <a:buFont typeface="Arial" pitchFamily="34" charset="0"/>
              <a:buChar char="–"/>
              <a:defRPr lang="en-GB" sz="900" kern="1200" dirty="0" smtClean="0">
                <a:solidFill>
                  <a:schemeClr val="tx1"/>
                </a:solidFill>
                <a:latin typeface="Arial" pitchFamily="34" charset="0"/>
                <a:ea typeface="+mn-ea"/>
                <a:cs typeface="Arial" pitchFamily="34" charset="0"/>
              </a:defRPr>
            </a:lvl6pPr>
            <a:lvl7pPr marL="895350" indent="-174625" algn="l" defTabSz="914400" rtl="0" eaLnBrk="1" latinLnBrk="0" hangingPunct="1">
              <a:lnSpc>
                <a:spcPct val="110000"/>
              </a:lnSpc>
              <a:spcBef>
                <a:spcPts val="600"/>
              </a:spcBef>
              <a:buClr>
                <a:srgbClr val="97989A"/>
              </a:buClr>
              <a:buFont typeface="Arial" pitchFamily="34" charset="0"/>
              <a:buChar char="■"/>
              <a:defRPr lang="en-GB" sz="900" kern="1200" baseline="0" dirty="0" smtClean="0">
                <a:solidFill>
                  <a:schemeClr val="tx1"/>
                </a:solidFill>
                <a:latin typeface="Arial" pitchFamily="34" charset="0"/>
                <a:ea typeface="+mn-ea"/>
                <a:cs typeface="Arial" pitchFamily="34" charset="0"/>
              </a:defRPr>
            </a:lvl7pPr>
            <a:lvl8pPr marL="1081088" indent="-185738" algn="l" defTabSz="914400" rtl="0" eaLnBrk="1" latinLnBrk="0" hangingPunct="1">
              <a:lnSpc>
                <a:spcPct val="110000"/>
              </a:lnSpc>
              <a:spcBef>
                <a:spcPts val="600"/>
              </a:spcBef>
              <a:buClr>
                <a:srgbClr val="97989A"/>
              </a:buClr>
              <a:buFont typeface="Arial" pitchFamily="34" charset="0"/>
              <a:buChar char="–"/>
              <a:defRPr lang="en-GB" sz="900" kern="1200" baseline="0" dirty="0" smtClean="0">
                <a:solidFill>
                  <a:schemeClr val="tx1"/>
                </a:solidFill>
                <a:latin typeface="Arial" pitchFamily="34" charset="0"/>
                <a:ea typeface="+mn-ea"/>
                <a:cs typeface="+mn-cs"/>
              </a:defRPr>
            </a:lvl8pPr>
            <a:lvl9pPr marL="1255713" indent="-174625" algn="l" defTabSz="914400" rtl="0" eaLnBrk="1" latinLnBrk="0" hangingPunct="1">
              <a:lnSpc>
                <a:spcPct val="110000"/>
              </a:lnSpc>
              <a:spcBef>
                <a:spcPts val="600"/>
              </a:spcBef>
              <a:buClr>
                <a:srgbClr val="97989A"/>
              </a:buClr>
              <a:buFont typeface="Arial" pitchFamily="34" charset="0"/>
              <a:buChar char="■"/>
              <a:defRPr lang="en-GB" sz="900" kern="1200" baseline="0" dirty="0" smtClean="0">
                <a:solidFill>
                  <a:schemeClr val="tx1"/>
                </a:solidFill>
                <a:latin typeface="Arial" pitchFamily="34" charset="0"/>
                <a:ea typeface="+mn-ea"/>
                <a:cs typeface="Arial" pitchFamily="34" charset="0"/>
              </a:defRPr>
            </a:lvl9pPr>
          </a:lstStyle>
          <a:p>
            <a:pPr marL="0" lvl="2" indent="0">
              <a:buNone/>
              <a:defRPr/>
            </a:pPr>
            <a:r>
              <a:rPr lang="en-US" dirty="0" smtClean="0"/>
              <a:t>Target currently utilizes between $1 billion and $3 billion of liquidity from GE Corporate Treasury to fund loan commitments under the current business strategy. Management has estimated normal cash needs on a go-forward basis is approximately $2.5 billion. </a:t>
            </a:r>
            <a:r>
              <a:rPr lang="en-US" dirty="0"/>
              <a:t>Additionally, Target has significant unfunded </a:t>
            </a:r>
            <a:r>
              <a:rPr lang="en-US" dirty="0" smtClean="0"/>
              <a:t>commitments </a:t>
            </a:r>
            <a:r>
              <a:rPr lang="en-US" dirty="0"/>
              <a:t>given the magnitude and nature of certain product </a:t>
            </a:r>
            <a:r>
              <a:rPr lang="en-US" dirty="0" smtClean="0"/>
              <a:t>offerings; however, utilization </a:t>
            </a:r>
            <a:r>
              <a:rPr lang="en-US" dirty="0"/>
              <a:t>has been fairly consistent over the historical period being </a:t>
            </a:r>
            <a:r>
              <a:rPr lang="en-US" dirty="0" smtClean="0"/>
              <a:t>analyzed. Liquidity needs and risk </a:t>
            </a:r>
            <a:r>
              <a:rPr lang="en-US" dirty="0"/>
              <a:t>should be considered in your transaction </a:t>
            </a:r>
            <a:r>
              <a:rPr lang="en-US" dirty="0" smtClean="0"/>
              <a:t>model as you contemplate the future business strategy.</a:t>
            </a:r>
            <a:endParaRPr lang="en-US" dirty="0"/>
          </a:p>
        </p:txBody>
      </p:sp>
      <p:cxnSp>
        <p:nvCxnSpPr>
          <p:cNvPr id="39" name="Straight Connector 38"/>
          <p:cNvCxnSpPr/>
          <p:nvPr/>
        </p:nvCxnSpPr>
        <p:spPr>
          <a:xfrm>
            <a:off x="2123728" y="1981200"/>
            <a:ext cx="6690630" cy="20536"/>
          </a:xfrm>
          <a:prstGeom prst="line">
            <a:avLst/>
          </a:prstGeom>
          <a:ln w="3175">
            <a:solidFill>
              <a:srgbClr val="747678"/>
            </a:solidFill>
            <a:prstDash val="lgDash"/>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2123728" y="2819400"/>
            <a:ext cx="6690630" cy="20536"/>
          </a:xfrm>
          <a:prstGeom prst="line">
            <a:avLst/>
          </a:prstGeom>
          <a:ln w="3175">
            <a:solidFill>
              <a:srgbClr val="747678"/>
            </a:solidFill>
            <a:prstDash val="lgDash"/>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2123728" y="3710255"/>
            <a:ext cx="6690630" cy="20536"/>
          </a:xfrm>
          <a:prstGeom prst="line">
            <a:avLst/>
          </a:prstGeom>
          <a:ln w="3175">
            <a:solidFill>
              <a:srgbClr val="747678"/>
            </a:solidFill>
            <a:prstDash val="lgDash"/>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2123728" y="4495800"/>
            <a:ext cx="6690630" cy="20536"/>
          </a:xfrm>
          <a:prstGeom prst="line">
            <a:avLst/>
          </a:prstGeom>
          <a:ln w="3175">
            <a:solidFill>
              <a:srgbClr val="747678"/>
            </a:solidFill>
            <a:prstDash val="lgDash"/>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2162789" y="5398397"/>
            <a:ext cx="6690630" cy="20536"/>
          </a:xfrm>
          <a:prstGeom prst="line">
            <a:avLst/>
          </a:prstGeom>
          <a:ln w="3175">
            <a:solidFill>
              <a:srgbClr val="747678"/>
            </a:solidFill>
            <a:prstDash val="lgDash"/>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2212736" y="6084197"/>
            <a:ext cx="6690630" cy="20536"/>
          </a:xfrm>
          <a:prstGeom prst="line">
            <a:avLst/>
          </a:prstGeom>
          <a:ln w="3175">
            <a:solidFill>
              <a:srgbClr val="747678"/>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863415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3"/>
          <p:cNvGraphicFramePr>
            <a:graphicFrameLocks noGrp="1"/>
          </p:cNvGraphicFramePr>
          <p:nvPr>
            <p:extLst>
              <p:ext uri="{D42A27DB-BD31-4B8C-83A1-F6EECF244321}">
                <p14:modId xmlns:p14="http://schemas.microsoft.com/office/powerpoint/2010/main" val="3173384553"/>
              </p:ext>
            </p:extLst>
          </p:nvPr>
        </p:nvGraphicFramePr>
        <p:xfrm>
          <a:off x="252046" y="1219200"/>
          <a:ext cx="8663354" cy="3125520"/>
        </p:xfrm>
        <a:graphic>
          <a:graphicData uri="http://schemas.openxmlformats.org/drawingml/2006/table">
            <a:tbl>
              <a:tblPr/>
              <a:tblGrid>
                <a:gridCol w="1043354"/>
                <a:gridCol w="6629400"/>
                <a:gridCol w="990600"/>
              </a:tblGrid>
              <a:tr h="381000">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1000" b="1" i="0" u="none" strike="noStrike" cap="none" normalizeH="0" baseline="0" dirty="0" smtClean="0">
                          <a:ln>
                            <a:noFill/>
                          </a:ln>
                          <a:solidFill>
                            <a:schemeClr val="bg1"/>
                          </a:solidFill>
                          <a:effectLst/>
                          <a:latin typeface="Arial"/>
                          <a:cs typeface="Arial" pitchFamily="34" charset="0"/>
                        </a:rPr>
                        <a:t>Finding</a:t>
                      </a:r>
                      <a:endParaRPr kumimoji="0" lang="en-US" sz="900" b="1" i="0" u="none" strike="noStrike" cap="none" normalizeH="0" baseline="0" dirty="0" smtClean="0">
                        <a:ln>
                          <a:noFill/>
                        </a:ln>
                        <a:solidFill>
                          <a:schemeClr val="bg1"/>
                        </a:solidFill>
                        <a:effectLst/>
                        <a:latin typeface="Arial"/>
                        <a:cs typeface="Arial" pitchFamily="34" charset="0"/>
                      </a:endParaRP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Summary observations</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Reference</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r>
              <a:tr h="1474040">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900" b="1" i="0" u="none" strike="noStrike" cap="none" normalizeH="0" baseline="0" dirty="0" smtClean="0">
                          <a:ln>
                            <a:noFill/>
                          </a:ln>
                          <a:solidFill>
                            <a:schemeClr val="accent4"/>
                          </a:solidFill>
                          <a:effectLst/>
                          <a:latin typeface="Arial"/>
                          <a:cs typeface="Arial" pitchFamily="34" charset="0"/>
                        </a:rPr>
                        <a:t>Financial information</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kumimoji="0" lang="en-US" sz="900" b="0" i="0" u="none" strike="noStrike" kern="1200" cap="none" spc="0" normalizeH="0" baseline="0" dirty="0" smtClean="0">
                          <a:ln>
                            <a:noFill/>
                          </a:ln>
                          <a:solidFill>
                            <a:srgbClr val="000000"/>
                          </a:solidFill>
                          <a:effectLst/>
                          <a:uLnTx/>
                          <a:uFillTx/>
                          <a:latin typeface="+mn-lt"/>
                          <a:ea typeface="+mn-ea"/>
                          <a:cs typeface="Arial" pitchFamily="34" charset="0"/>
                        </a:rPr>
                        <a:t>The activities of the business for sale are recorded in the books and records of a number of legal entities directly or indirectly owned by GE Capital or its subsidiaries. Individual detailed trial balances are not maintained for each component included in the transaction perimeter. Additionally, financial records for each component were not separately identifiable (i.e., distinct profit center identification) within the books and records of the related legal entity prior to 2013. Due to these system limitations, the financial statements and underlying financial information of Target were prepared using a combination of system-generated reports, quarterly management reporting to the Parent and management judgment.</a:t>
                      </a:r>
                    </a:p>
                    <a:p>
                      <a:pPr marL="347663" marR="0" lvl="2" indent="-173038"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dirty="0" smtClean="0">
                          <a:solidFill>
                            <a:schemeClr val="tx1"/>
                          </a:solidFill>
                          <a:latin typeface="+mn-lt"/>
                          <a:ea typeface="+mn-ea"/>
                          <a:cs typeface="Arial" pitchFamily="34" charset="0"/>
                        </a:rPr>
                        <a:t>During fieldwork, Management have stated that additional investment may be required to improve financial reporting.</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kumimoji="0" lang="en-US" sz="900" b="0" i="0" u="none" strike="noStrike" kern="1200" cap="none" spc="0" normalizeH="0" baseline="0" dirty="0" smtClean="0">
                          <a:ln>
                            <a:noFill/>
                          </a:ln>
                          <a:solidFill>
                            <a:srgbClr val="000000"/>
                          </a:solidFill>
                          <a:effectLst/>
                          <a:uLnTx/>
                          <a:uFillTx/>
                          <a:latin typeface="+mn-lt"/>
                          <a:ea typeface="+mn-ea"/>
                          <a:cs typeface="Arial" pitchFamily="34" charset="0"/>
                        </a:rPr>
                        <a:t>To </a:t>
                      </a:r>
                      <a:r>
                        <a:rPr kumimoji="0" lang="en-US" sz="900" b="0" i="0" u="none" strike="noStrike" kern="1200" cap="none" spc="0" normalizeH="0" baseline="0" dirty="0" smtClean="0">
                          <a:ln>
                            <a:noFill/>
                          </a:ln>
                          <a:solidFill>
                            <a:srgbClr val="000000"/>
                          </a:solidFill>
                          <a:effectLst/>
                          <a:uLnTx/>
                          <a:uFillTx/>
                          <a:latin typeface="Arial" panose="020B0604020202020204" pitchFamily="34" charset="0"/>
                          <a:ea typeface="+mn-ea"/>
                          <a:cs typeface="Arial" panose="020B0604020202020204" pitchFamily="34" charset="0"/>
                        </a:rPr>
                        <a:t>understand the process undertaken by management to prepare the financial information provided over the historical period used in the course of due diligence, we met with Target management to understand the process to generate the financial information and to agree it to underlying source documentation. Our focus was on the detailed financial statements provided by Management (any summary financial statements or other financial information provided as part of this sale process were reconciled back to the detailed financial statements).</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kumimoji="0" lang="en-US" sz="900" b="0" i="0" u="none" strike="noStrike" kern="1200" cap="none" spc="0" normalizeH="0" baseline="0" dirty="0" smtClean="0">
                          <a:ln>
                            <a:noFill/>
                          </a:ln>
                          <a:solidFill>
                            <a:srgbClr val="000000"/>
                          </a:solidFill>
                          <a:effectLst/>
                          <a:uLnTx/>
                          <a:uFillTx/>
                          <a:latin typeface="Arial" panose="020B0604020202020204" pitchFamily="34" charset="0"/>
                          <a:ea typeface="+mn-ea"/>
                          <a:cs typeface="Arial" panose="020B0604020202020204" pitchFamily="34" charset="0"/>
                        </a:rPr>
                        <a:t>The financial information provided in the dataroom would represent the financial performance and position of Target after giving consideration to the adjustments made by Management to the underlying accounting records.</a:t>
                      </a:r>
                    </a:p>
                    <a:p>
                      <a:pPr marL="347663" marR="0" lvl="2" indent="-173038"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dirty="0" smtClean="0">
                          <a:solidFill>
                            <a:schemeClr val="tx1"/>
                          </a:solidFill>
                          <a:latin typeface="+mn-lt"/>
                          <a:ea typeface="+mn-ea"/>
                          <a:cs typeface="Arial" pitchFamily="34" charset="0"/>
                        </a:rPr>
                        <a:t>We recommend that during post-announcement pre-close, carve-out financial statements of the acquired business for the year-ending December 31, 2014 and quarter-ending March 31, 2015 are prepared and subjected to appropriate closing due diligence procedures.</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Appendix 2</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r>
            </a:tbl>
          </a:graphicData>
        </a:graphic>
      </p:graphicFrame>
      <p:sp>
        <p:nvSpPr>
          <p:cNvPr id="13" name="Title 3"/>
          <p:cNvSpPr>
            <a:spLocks noGrp="1"/>
          </p:cNvSpPr>
          <p:nvPr>
            <p:ph type="title"/>
          </p:nvPr>
        </p:nvSpPr>
        <p:spPr>
          <a:xfrm>
            <a:off x="2123728" y="116632"/>
            <a:ext cx="6768752" cy="576064"/>
          </a:xfrm>
        </p:spPr>
        <p:txBody>
          <a:bodyPr/>
          <a:lstStyle/>
          <a:p>
            <a:r>
              <a:rPr lang="en-US" sz="1400" b="0" dirty="0">
                <a:solidFill>
                  <a:srgbClr val="747678"/>
                </a:solidFill>
              </a:rPr>
              <a:t>Executive summary</a:t>
            </a:r>
            <a:r>
              <a:rPr lang="en-US" dirty="0" smtClean="0"/>
              <a:t/>
            </a:r>
            <a:br>
              <a:rPr lang="en-US" dirty="0" smtClean="0"/>
            </a:br>
            <a:r>
              <a:rPr lang="en-US" dirty="0" smtClean="0"/>
              <a:t>Key findings: financial</a:t>
            </a:r>
            <a:endParaRPr lang="en-US" dirty="0"/>
          </a:p>
        </p:txBody>
      </p:sp>
    </p:spTree>
    <p:extLst>
      <p:ext uri="{BB962C8B-B14F-4D97-AF65-F5344CB8AC3E}">
        <p14:creationId xmlns:p14="http://schemas.microsoft.com/office/powerpoint/2010/main" val="238996233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3"/>
          <p:cNvGraphicFramePr>
            <a:graphicFrameLocks noGrp="1"/>
          </p:cNvGraphicFramePr>
          <p:nvPr>
            <p:extLst>
              <p:ext uri="{D42A27DB-BD31-4B8C-83A1-F6EECF244321}">
                <p14:modId xmlns:p14="http://schemas.microsoft.com/office/powerpoint/2010/main" val="3198303128"/>
              </p:ext>
            </p:extLst>
          </p:nvPr>
        </p:nvGraphicFramePr>
        <p:xfrm>
          <a:off x="252046" y="1219200"/>
          <a:ext cx="8663354" cy="3868266"/>
        </p:xfrm>
        <a:graphic>
          <a:graphicData uri="http://schemas.openxmlformats.org/drawingml/2006/table">
            <a:tbl>
              <a:tblPr/>
              <a:tblGrid>
                <a:gridCol w="1043354"/>
                <a:gridCol w="6629400"/>
                <a:gridCol w="990600"/>
              </a:tblGrid>
              <a:tr h="376986">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1000" b="1" i="0" u="none" strike="noStrike" cap="none" normalizeH="0" baseline="0" dirty="0" smtClean="0">
                          <a:ln>
                            <a:noFill/>
                          </a:ln>
                          <a:solidFill>
                            <a:schemeClr val="bg1"/>
                          </a:solidFill>
                          <a:effectLst/>
                          <a:latin typeface="Arial"/>
                          <a:cs typeface="Arial" pitchFamily="34" charset="0"/>
                        </a:rPr>
                        <a:t>Finding</a:t>
                      </a:r>
                      <a:endParaRPr kumimoji="0" lang="en-US" sz="900" b="1" i="0" u="none" strike="noStrike" cap="none" normalizeH="0" baseline="0" dirty="0" smtClean="0">
                        <a:ln>
                          <a:noFill/>
                        </a:ln>
                        <a:solidFill>
                          <a:schemeClr val="bg1"/>
                        </a:solidFill>
                        <a:effectLst/>
                        <a:latin typeface="Arial"/>
                        <a:cs typeface="Arial" pitchFamily="34" charset="0"/>
                      </a:endParaRP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Summary observations</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Reference</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r>
              <a:tr h="1474040">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900" b="1" i="0" u="none" strike="noStrike" cap="none" normalizeH="0" baseline="0" dirty="0" smtClean="0">
                          <a:ln>
                            <a:noFill/>
                          </a:ln>
                          <a:solidFill>
                            <a:schemeClr val="accent4"/>
                          </a:solidFill>
                          <a:effectLst/>
                          <a:latin typeface="Arial"/>
                          <a:cs typeface="Arial" pitchFamily="34" charset="0"/>
                        </a:rPr>
                        <a:t>People matters</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aseline="0" dirty="0" smtClean="0">
                          <a:cs typeface="Arial" pitchFamily="34" charset="0"/>
                        </a:rPr>
                        <a:t>Compensation and benefit expense is </a:t>
                      </a:r>
                      <a:r>
                        <a:rPr lang="en-US" sz="900" dirty="0" smtClean="0">
                          <a:cs typeface="Arial" pitchFamily="34" charset="0"/>
                        </a:rPr>
                        <a:t>Target’s largest expense, comprising</a:t>
                      </a:r>
                      <a:r>
                        <a:rPr lang="en-US" sz="900" baseline="0" dirty="0" smtClean="0">
                          <a:cs typeface="Arial" pitchFamily="34" charset="0"/>
                        </a:rPr>
                        <a:t> </a:t>
                      </a:r>
                      <a:r>
                        <a:rPr lang="en-US" sz="900" dirty="0" smtClean="0">
                          <a:cs typeface="Arial" pitchFamily="34" charset="0"/>
                        </a:rPr>
                        <a:t>71% and 69% of SG&amp;A expense in 2013 and 2014, respectively. It includes a base component and a profit-driven variable non-deferred cash bonus paid</a:t>
                      </a:r>
                      <a:r>
                        <a:rPr lang="en-US" sz="900" baseline="0" dirty="0" smtClean="0">
                          <a:cs typeface="Arial" pitchFamily="34" charset="0"/>
                        </a:rPr>
                        <a:t> annually</a:t>
                      </a:r>
                      <a:r>
                        <a:rPr lang="en-US" sz="900" dirty="0" smtClean="0">
                          <a:cs typeface="Arial" pitchFamily="34" charset="0"/>
                        </a:rPr>
                        <a:t>. </a:t>
                      </a:r>
                    </a:p>
                    <a:p>
                      <a:pPr marL="177800" lvl="2" indent="-177800">
                        <a:spcBef>
                          <a:spcPts val="600"/>
                        </a:spcBef>
                        <a:buClr>
                          <a:srgbClr val="97989A"/>
                        </a:buClr>
                        <a:buFont typeface="Arial" pitchFamily="34" charset="0"/>
                        <a:buChar char="■"/>
                        <a:defRPr/>
                      </a:pPr>
                      <a:r>
                        <a:rPr lang="en-US" sz="900" dirty="0" smtClean="0">
                          <a:cs typeface="Arial" pitchFamily="34" charset="0"/>
                        </a:rPr>
                        <a:t>Compensation and benefit expense increased</a:t>
                      </a:r>
                      <a:r>
                        <a:rPr lang="en-US" sz="900" baseline="0" dirty="0" smtClean="0">
                          <a:cs typeface="Arial" pitchFamily="34" charset="0"/>
                        </a:rPr>
                        <a:t> from </a:t>
                      </a:r>
                      <a:r>
                        <a:rPr lang="en-US" sz="900" dirty="0" smtClean="0">
                          <a:cs typeface="Arial" pitchFamily="34" charset="0"/>
                        </a:rPr>
                        <a:t>$140.6 million</a:t>
                      </a:r>
                      <a:r>
                        <a:rPr lang="en-US" sz="900" baseline="0" dirty="0" smtClean="0">
                          <a:cs typeface="Arial" pitchFamily="34" charset="0"/>
                        </a:rPr>
                        <a:t> in 2013 to $151.8 million in 2014, primarily due to an 18% year-over-year increase in headcount. The additions were substantially in </a:t>
                      </a:r>
                      <a:r>
                        <a:rPr lang="en-US" sz="900" dirty="0" smtClean="0">
                          <a:cs typeface="Arial" pitchFamily="34" charset="0"/>
                        </a:rPr>
                        <a:t>Commercial, at the direction of GE to drive volume growth, and Risk, in response to the evolving regulatory environment.</a:t>
                      </a:r>
                      <a:endParaRPr lang="en-US" sz="900" baseline="0" dirty="0" smtClean="0">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i="0" baseline="0" dirty="0" smtClean="0">
                          <a:cs typeface="Arial" pitchFamily="34" charset="0"/>
                        </a:rPr>
                        <a:t>Variable compensation makes up a significant portion of total compensation in all functions. The proportion is particularly high in income-generating functions such as Commercial and Capital Markets, where variable compensation represents an average of 55% and 43%, respectively, of total employee compensation.</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i="0" baseline="0" dirty="0" smtClean="0">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i="0" baseline="0" dirty="0" smtClean="0">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i="0" baseline="0" dirty="0" smtClean="0">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i="0" baseline="0" dirty="0" smtClean="0">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i="0" baseline="0" dirty="0" smtClean="0">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baseline="0" dirty="0" smtClean="0">
                        <a:cs typeface="Arial" pitchFamily="34" charset="0"/>
                      </a:endParaRPr>
                    </a:p>
                    <a:p>
                      <a:pPr marL="177800" lvl="2" indent="-177800">
                        <a:spcBef>
                          <a:spcPts val="600"/>
                        </a:spcBef>
                        <a:buClr>
                          <a:srgbClr val="97989A"/>
                        </a:buClr>
                        <a:buFont typeface="Arial" pitchFamily="34" charset="0"/>
                        <a:buChar char="■"/>
                        <a:defRPr/>
                      </a:pPr>
                      <a:endParaRPr lang="en-US" sz="900" baseline="0" dirty="0" smtClean="0">
                        <a:cs typeface="Arial" pitchFamily="34" charset="0"/>
                      </a:endParaRPr>
                    </a:p>
                    <a:p>
                      <a:pPr marL="177800" lvl="2" indent="-177800">
                        <a:spcBef>
                          <a:spcPts val="600"/>
                        </a:spcBef>
                        <a:buClr>
                          <a:srgbClr val="97989A"/>
                        </a:buClr>
                        <a:buFont typeface="Arial" pitchFamily="34" charset="0"/>
                        <a:buChar char="■"/>
                        <a:defRPr/>
                      </a:pPr>
                      <a:endParaRPr lang="en-US" sz="900" baseline="0" dirty="0" smtClean="0">
                        <a:cs typeface="Arial" pitchFamily="34" charset="0"/>
                      </a:endParaRPr>
                    </a:p>
                    <a:p>
                      <a:pPr marL="177800" lvl="2" indent="-177800">
                        <a:spcBef>
                          <a:spcPts val="600"/>
                        </a:spcBef>
                        <a:buClr>
                          <a:srgbClr val="97989A"/>
                        </a:buClr>
                        <a:buFont typeface="Arial" pitchFamily="34" charset="0"/>
                        <a:buChar char="■"/>
                        <a:defRPr/>
                      </a:pPr>
                      <a:endParaRPr lang="en-US" sz="900" baseline="0" dirty="0" smtClean="0">
                        <a:cs typeface="Arial" pitchFamily="34" charset="0"/>
                      </a:endParaRPr>
                    </a:p>
                    <a:p>
                      <a:pPr marL="177800" lvl="2" indent="-177800">
                        <a:spcBef>
                          <a:spcPts val="600"/>
                        </a:spcBef>
                        <a:buClr>
                          <a:srgbClr val="97989A"/>
                        </a:buClr>
                        <a:buFont typeface="Arial" pitchFamily="34" charset="0"/>
                        <a:buChar char="■"/>
                        <a:defRPr/>
                      </a:pPr>
                      <a:endParaRPr lang="en-US" sz="900" baseline="0" dirty="0" smtClean="0">
                        <a:cs typeface="Arial" pitchFamily="34" charset="0"/>
                      </a:endParaRP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Appendix 3</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r>
            </a:tbl>
          </a:graphicData>
        </a:graphic>
      </p:graphicFrame>
      <p:sp>
        <p:nvSpPr>
          <p:cNvPr id="13" name="Title 3"/>
          <p:cNvSpPr>
            <a:spLocks noGrp="1"/>
          </p:cNvSpPr>
          <p:nvPr>
            <p:ph type="title"/>
          </p:nvPr>
        </p:nvSpPr>
        <p:spPr>
          <a:xfrm>
            <a:off x="2123728" y="116632"/>
            <a:ext cx="6768752" cy="576064"/>
          </a:xfrm>
        </p:spPr>
        <p:txBody>
          <a:bodyPr/>
          <a:lstStyle/>
          <a:p>
            <a:r>
              <a:rPr lang="en-US" sz="1400" b="0" dirty="0">
                <a:solidFill>
                  <a:srgbClr val="747678"/>
                </a:solidFill>
              </a:rPr>
              <a:t>Executive summary</a:t>
            </a:r>
            <a:r>
              <a:rPr lang="en-US" dirty="0" smtClean="0"/>
              <a:t/>
            </a:r>
            <a:br>
              <a:rPr lang="en-US" dirty="0" smtClean="0"/>
            </a:br>
            <a:r>
              <a:rPr lang="en-US" dirty="0" smtClean="0"/>
              <a:t>Key findings: financial (2)</a:t>
            </a:r>
            <a:endParaRPr lang="en-US" dirty="0"/>
          </a:p>
        </p:txBody>
      </p:sp>
      <p:pic>
        <p:nvPicPr>
          <p:cNvPr id="4" name="Picture 3"/>
          <p:cNvPicPr>
            <a:picLocks noChangeAspect="1"/>
          </p:cNvPicPr>
          <p:nvPr/>
        </p:nvPicPr>
        <p:blipFill>
          <a:blip r:embed="rId4"/>
          <a:stretch>
            <a:fillRect/>
          </a:stretch>
        </p:blipFill>
        <p:spPr>
          <a:xfrm>
            <a:off x="3352800" y="2992314"/>
            <a:ext cx="2613660" cy="1665645"/>
          </a:xfrm>
          <a:prstGeom prst="rect">
            <a:avLst/>
          </a:prstGeom>
        </p:spPr>
      </p:pic>
      <p:sp>
        <p:nvSpPr>
          <p:cNvPr id="6" name="Text Box 8"/>
          <p:cNvSpPr txBox="1">
            <a:spLocks noChangeArrowheads="1"/>
          </p:cNvSpPr>
          <p:nvPr>
            <p:custDataLst>
              <p:tags r:id="rId1"/>
            </p:custDataLst>
          </p:nvPr>
        </p:nvSpPr>
        <p:spPr bwMode="gray">
          <a:xfrm>
            <a:off x="3482340" y="4495388"/>
            <a:ext cx="3755866" cy="305212"/>
          </a:xfrm>
          <a:prstGeom prst="rect">
            <a:avLst/>
          </a:prstGeom>
          <a:noFill/>
          <a:ln w="6350">
            <a:noFill/>
            <a:miter lim="800000"/>
            <a:headEnd type="none" w="sm" len="sm"/>
            <a:tailEnd type="none" w="sm" len="sm"/>
          </a:ln>
          <a:effectLst/>
        </p:spPr>
        <p:txBody>
          <a:bodyPr wrap="square" lIns="0" tIns="0" rIns="0" bIns="0" anchor="b">
            <a:spAutoFit/>
          </a:bodyPr>
          <a:lstStyle/>
          <a:p>
            <a:pPr marL="534988" indent="-534988" defTabSz="762000" eaLnBrk="0" hangingPunct="0">
              <a:spcBef>
                <a:spcPts val="200"/>
              </a:spcBef>
              <a:tabLst>
                <a:tab pos="355600" algn="l"/>
              </a:tabLst>
            </a:pPr>
            <a:r>
              <a:rPr lang="en-US" sz="550" i="1" dirty="0" smtClean="0">
                <a:latin typeface="Arial"/>
                <a:cs typeface="Arial" pitchFamily="34" charset="0"/>
              </a:rPr>
              <a:t>Source:	6.5.2 Expense Detail.xlsx</a:t>
            </a:r>
          </a:p>
          <a:p>
            <a:pPr marL="534988" indent="-534988" defTabSz="762000" eaLnBrk="0" hangingPunct="0">
              <a:spcBef>
                <a:spcPts val="200"/>
              </a:spcBef>
              <a:tabLst>
                <a:tab pos="355600" algn="l"/>
              </a:tabLst>
            </a:pPr>
            <a:r>
              <a:rPr lang="en-US" sz="550" dirty="0" smtClean="0">
                <a:latin typeface="Arial"/>
                <a:cs typeface="Arial" pitchFamily="34" charset="0"/>
              </a:rPr>
              <a:t>(1) Base includes benefits such as 401k, pension, healthcare, training &amp; education</a:t>
            </a:r>
          </a:p>
          <a:p>
            <a:pPr marL="534988" indent="-534988" defTabSz="762000" eaLnBrk="0" hangingPunct="0">
              <a:spcBef>
                <a:spcPts val="200"/>
              </a:spcBef>
              <a:tabLst>
                <a:tab pos="355600" algn="l"/>
              </a:tabLst>
            </a:pPr>
            <a:r>
              <a:rPr lang="en-US" sz="550" dirty="0" smtClean="0">
                <a:latin typeface="Arial"/>
                <a:cs typeface="Arial" pitchFamily="34" charset="0"/>
              </a:rPr>
              <a:t>(2) Other includes legal, marketing, finance and HR</a:t>
            </a:r>
            <a:endParaRPr lang="en-US" sz="550" dirty="0">
              <a:latin typeface="Arial"/>
              <a:cs typeface="Arial" pitchFamily="34" charset="0"/>
            </a:endParaRPr>
          </a:p>
        </p:txBody>
      </p:sp>
    </p:spTree>
    <p:extLst>
      <p:ext uri="{BB962C8B-B14F-4D97-AF65-F5344CB8AC3E}">
        <p14:creationId xmlns:p14="http://schemas.microsoft.com/office/powerpoint/2010/main" val="210461041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3"/>
          <p:cNvGraphicFramePr>
            <a:graphicFrameLocks noGrp="1"/>
          </p:cNvGraphicFramePr>
          <p:nvPr>
            <p:extLst>
              <p:ext uri="{D42A27DB-BD31-4B8C-83A1-F6EECF244321}">
                <p14:modId xmlns:p14="http://schemas.microsoft.com/office/powerpoint/2010/main" val="569472949"/>
              </p:ext>
            </p:extLst>
          </p:nvPr>
        </p:nvGraphicFramePr>
        <p:xfrm>
          <a:off x="252046" y="1219200"/>
          <a:ext cx="8663354" cy="4919826"/>
        </p:xfrm>
        <a:graphic>
          <a:graphicData uri="http://schemas.openxmlformats.org/drawingml/2006/table">
            <a:tbl>
              <a:tblPr/>
              <a:tblGrid>
                <a:gridCol w="1043354"/>
                <a:gridCol w="6629400"/>
                <a:gridCol w="990600"/>
              </a:tblGrid>
              <a:tr h="376986">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1000" b="1" i="0" u="none" strike="noStrike" cap="none" normalizeH="0" baseline="0" dirty="0" smtClean="0">
                          <a:ln>
                            <a:noFill/>
                          </a:ln>
                          <a:solidFill>
                            <a:schemeClr val="bg1"/>
                          </a:solidFill>
                          <a:effectLst/>
                          <a:latin typeface="Arial"/>
                          <a:cs typeface="Arial" pitchFamily="34" charset="0"/>
                        </a:rPr>
                        <a:t>Finding</a:t>
                      </a:r>
                      <a:endParaRPr kumimoji="0" lang="en-US" sz="900" b="1" i="0" u="none" strike="noStrike" cap="none" normalizeH="0" baseline="0" dirty="0" smtClean="0">
                        <a:ln>
                          <a:noFill/>
                        </a:ln>
                        <a:solidFill>
                          <a:schemeClr val="bg1"/>
                        </a:solidFill>
                        <a:effectLst/>
                        <a:latin typeface="Arial"/>
                        <a:cs typeface="Arial" pitchFamily="34" charset="0"/>
                      </a:endParaRP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Summary observations</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Reference</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r>
              <a:tr h="1474040">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900" b="1" i="0" u="none" strike="noStrike" cap="none" normalizeH="0" baseline="0" dirty="0" smtClean="0">
                          <a:ln>
                            <a:noFill/>
                          </a:ln>
                          <a:solidFill>
                            <a:schemeClr val="accent4"/>
                          </a:solidFill>
                          <a:effectLst/>
                          <a:latin typeface="Arial"/>
                          <a:cs typeface="Arial" pitchFamily="34" charset="0"/>
                        </a:rPr>
                        <a:t>People matters (continued)</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0" marR="0" lvl="2"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lang="en-US" sz="900" i="1" baseline="0" dirty="0" smtClean="0">
                          <a:cs typeface="Arial" pitchFamily="34" charset="0"/>
                        </a:rPr>
                        <a:t>Commercial Team</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aseline="0" dirty="0" smtClean="0">
                          <a:cs typeface="Arial" pitchFamily="34" charset="0"/>
                        </a:rPr>
                        <a:t>The average and total compensation in the Commercial function is significantly higher relative to other functions (Commercial comprised approximately 50% of total compensation in 2013 and 2014) due to its relative importance in driving volume and maintaining client relationships. A strong commercial team is necessary to drive both new loan originations and </a:t>
                      </a:r>
                      <a:r>
                        <a:rPr lang="en-US" sz="900" baseline="0" dirty="0" err="1" smtClean="0">
                          <a:cs typeface="Arial" pitchFamily="34" charset="0"/>
                        </a:rPr>
                        <a:t>refinancings</a:t>
                      </a:r>
                      <a:r>
                        <a:rPr lang="en-US" sz="900" baseline="0" dirty="0" smtClean="0">
                          <a:cs typeface="Arial" pitchFamily="34" charset="0"/>
                        </a:rPr>
                        <a:t> in order to replenish a loan portfolio that, by its nature, has a relatively short expected life. Average origination volume per FTE in the </a:t>
                      </a:r>
                      <a:r>
                        <a:rPr lang="en-US" sz="900" baseline="0" dirty="0" smtClean="0">
                          <a:solidFill>
                            <a:schemeClr val="tx1"/>
                          </a:solidFill>
                          <a:cs typeface="Arial" pitchFamily="34" charset="0"/>
                        </a:rPr>
                        <a:t>Commercial function was $205 million in 2013 and $172 million</a:t>
                      </a:r>
                      <a:r>
                        <a:rPr lang="en-US" sz="900" baseline="0" dirty="0" smtClean="0">
                          <a:cs typeface="Arial" pitchFamily="34" charset="0"/>
                        </a:rPr>
                        <a:t> in 2014.</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aseline="0" dirty="0" smtClean="0">
                          <a:cs typeface="Arial" pitchFamily="34" charset="0"/>
                        </a:rPr>
                        <a:t>Bonuses awarded to the Commercial team are primarily based on profits earned over the term of a loan and involve a discretionary component based on the development of client relationships. Within the Commercial function, senior employees (SVP and above) on average earn more than 50% and up to 75% of their total compensation in the form of variable compensation. The compensation structure is intended to reflect volume generated and depth of client relationships maintained. </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aseline="0" dirty="0" smtClean="0">
                          <a:cs typeface="Arial" pitchFamily="34" charset="0"/>
                        </a:rPr>
                        <a:t>Given the importance of the Commercial function to Target’s ability to generate earnings, we recommend that you consider whether the current compensation structure with no bonus deferral mechanism provides key employees with sufficient and adequate incentives to continue with the business in the longer term. As well, given that a vast majority of deals are sourced from existing customers (76% and 74% in 2013 and 2014, respectively), we recommend that you consider whether the total compensation package offered to top-performing originators is sufficient to retain those with long-standing client relationships. </a:t>
                      </a:r>
                      <a:endParaRPr lang="en-US" sz="900" i="1" dirty="0" smtClean="0">
                        <a:cs typeface="Arial" pitchFamily="34" charset="0"/>
                      </a:endParaRPr>
                    </a:p>
                    <a:p>
                      <a:pPr marL="0" lvl="2" indent="0">
                        <a:spcBef>
                          <a:spcPts val="600"/>
                        </a:spcBef>
                        <a:buClr>
                          <a:srgbClr val="97989A"/>
                        </a:buClr>
                        <a:buFont typeface="Arial" pitchFamily="34" charset="0"/>
                        <a:buNone/>
                        <a:defRPr/>
                      </a:pPr>
                      <a:r>
                        <a:rPr lang="en-US" sz="900" i="1" dirty="0" smtClean="0">
                          <a:cs typeface="Arial" pitchFamily="34" charset="0"/>
                        </a:rPr>
                        <a:t>Other</a:t>
                      </a:r>
                    </a:p>
                    <a:p>
                      <a:pPr marL="177800" lvl="2" indent="-177800">
                        <a:spcBef>
                          <a:spcPts val="600"/>
                        </a:spcBef>
                        <a:buClr>
                          <a:srgbClr val="97989A"/>
                        </a:buClr>
                        <a:buFont typeface="Arial" pitchFamily="34" charset="0"/>
                        <a:buChar char="■"/>
                        <a:defRPr/>
                      </a:pPr>
                      <a:r>
                        <a:rPr lang="en-US" sz="900" dirty="0" smtClean="0">
                          <a:cs typeface="Arial" pitchFamily="34" charset="0"/>
                        </a:rPr>
                        <a:t>As a result of the proposed transaction, which may</a:t>
                      </a:r>
                      <a:r>
                        <a:rPr lang="en-US" sz="900" baseline="0" dirty="0" smtClean="0">
                          <a:cs typeface="Arial" pitchFamily="34" charset="0"/>
                        </a:rPr>
                        <a:t> involve moving to an unregulated ownership model, Target is projecting a reduction of 88 FTEs (50 in Risk, 32 in Commercial and 6 in other functions); these FTEs represent 27% of the headcount as at March 31, 2015. The headcount reduction is expected to generate annual savings of approximately $33 million. Management indicated that a portion of these savings would need to be redirected towards retention of key remaining employees. There have been significant headcount additions over the course of 2014 (an increase of approximately 50 FTEs or </a:t>
                      </a:r>
                      <a:r>
                        <a:rPr lang="en-US" sz="900" baseline="0" dirty="0" smtClean="0">
                          <a:solidFill>
                            <a:schemeClr val="tx1"/>
                          </a:solidFill>
                          <a:cs typeface="Arial" pitchFamily="34" charset="0"/>
                        </a:rPr>
                        <a:t>18</a:t>
                      </a:r>
                      <a:r>
                        <a:rPr lang="en-US" sz="900" baseline="0" dirty="0" smtClean="0">
                          <a:cs typeface="Arial" pitchFamily="34" charset="0"/>
                        </a:rPr>
                        <a:t>%), primarily to enhance regulatory compliance but also to drive asset and income growth. You should consider whether the projected cost savings to be achieved from these previously discussed headcount reductions would be sustainable if forecasted asset growth is to be achieved, particularly if the achievement of such growth requires Target to move to new sectors and/or larger deals where relevant experience would be required and which management indicated Target may not currently have. We understand that you have engaged with advisors to analyze this matter further.</a:t>
                      </a:r>
                      <a:endParaRPr lang="en-US" sz="900" dirty="0" smtClean="0">
                        <a:cs typeface="Arial" pitchFamily="34" charset="0"/>
                      </a:endParaRPr>
                    </a:p>
                    <a:p>
                      <a:pPr marL="177800" lvl="2" indent="-177800">
                        <a:spcBef>
                          <a:spcPts val="600"/>
                        </a:spcBef>
                        <a:buClr>
                          <a:srgbClr val="97989A"/>
                        </a:buClr>
                        <a:buFont typeface="Arial" pitchFamily="34" charset="0"/>
                        <a:buChar char="■"/>
                        <a:defRPr/>
                      </a:pPr>
                      <a:r>
                        <a:rPr lang="en-US" sz="900" baseline="0" dirty="0" smtClean="0">
                          <a:cs typeface="Arial" pitchFamily="34" charset="0"/>
                        </a:rPr>
                        <a:t>You should also consider the timing and quantum of, and responsibility for, any potential severance payments as a negotiation point between you and the seller.</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Appendix 3</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r>
            </a:tbl>
          </a:graphicData>
        </a:graphic>
      </p:graphicFrame>
      <p:sp>
        <p:nvSpPr>
          <p:cNvPr id="13" name="Title 3"/>
          <p:cNvSpPr>
            <a:spLocks noGrp="1"/>
          </p:cNvSpPr>
          <p:nvPr>
            <p:ph type="title"/>
          </p:nvPr>
        </p:nvSpPr>
        <p:spPr>
          <a:xfrm>
            <a:off x="2123728" y="116632"/>
            <a:ext cx="6768752" cy="576064"/>
          </a:xfrm>
        </p:spPr>
        <p:txBody>
          <a:bodyPr/>
          <a:lstStyle/>
          <a:p>
            <a:r>
              <a:rPr lang="en-US" sz="1400" b="0" dirty="0">
                <a:solidFill>
                  <a:srgbClr val="747678"/>
                </a:solidFill>
              </a:rPr>
              <a:t>Executive summary</a:t>
            </a:r>
            <a:r>
              <a:rPr lang="en-US" dirty="0" smtClean="0"/>
              <a:t/>
            </a:r>
            <a:br>
              <a:rPr lang="en-US" dirty="0" smtClean="0"/>
            </a:br>
            <a:r>
              <a:rPr lang="en-US" dirty="0" smtClean="0"/>
              <a:t>Key findings: financial (3)</a:t>
            </a:r>
            <a:endParaRPr lang="en-US" dirty="0"/>
          </a:p>
        </p:txBody>
      </p:sp>
    </p:spTree>
    <p:extLst>
      <p:ext uri="{BB962C8B-B14F-4D97-AF65-F5344CB8AC3E}">
        <p14:creationId xmlns:p14="http://schemas.microsoft.com/office/powerpoint/2010/main" val="193372560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3"/>
          <p:cNvGraphicFramePr>
            <a:graphicFrameLocks noGrp="1"/>
          </p:cNvGraphicFramePr>
          <p:nvPr>
            <p:extLst>
              <p:ext uri="{D42A27DB-BD31-4B8C-83A1-F6EECF244321}">
                <p14:modId xmlns:p14="http://schemas.microsoft.com/office/powerpoint/2010/main" val="1172481109"/>
              </p:ext>
            </p:extLst>
          </p:nvPr>
        </p:nvGraphicFramePr>
        <p:xfrm>
          <a:off x="252046" y="1191768"/>
          <a:ext cx="8663354" cy="4904586"/>
        </p:xfrm>
        <a:graphic>
          <a:graphicData uri="http://schemas.openxmlformats.org/drawingml/2006/table">
            <a:tbl>
              <a:tblPr/>
              <a:tblGrid>
                <a:gridCol w="1043354"/>
                <a:gridCol w="6629400"/>
                <a:gridCol w="990600"/>
              </a:tblGrid>
              <a:tr h="376986">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1000" b="1" i="0" u="none" strike="noStrike" cap="none" normalizeH="0" baseline="0" dirty="0" smtClean="0">
                          <a:ln>
                            <a:noFill/>
                          </a:ln>
                          <a:solidFill>
                            <a:schemeClr val="bg1"/>
                          </a:solidFill>
                          <a:effectLst/>
                          <a:latin typeface="Arial"/>
                          <a:cs typeface="Arial" pitchFamily="34" charset="0"/>
                        </a:rPr>
                        <a:t>Finding</a:t>
                      </a:r>
                      <a:endParaRPr kumimoji="0" lang="en-US" sz="900" b="1" i="0" u="none" strike="noStrike" cap="none" normalizeH="0" baseline="0" dirty="0" smtClean="0">
                        <a:ln>
                          <a:noFill/>
                        </a:ln>
                        <a:solidFill>
                          <a:schemeClr val="bg1"/>
                        </a:solidFill>
                        <a:effectLst/>
                        <a:latin typeface="Arial"/>
                        <a:cs typeface="Arial" pitchFamily="34" charset="0"/>
                      </a:endParaRP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Summary observations</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Reference</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r>
              <a:tr h="1474040">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900" b="1" i="0" u="none" strike="noStrike" cap="none" normalizeH="0" baseline="0" dirty="0" smtClean="0">
                          <a:ln>
                            <a:noFill/>
                          </a:ln>
                          <a:solidFill>
                            <a:schemeClr val="accent4"/>
                          </a:solidFill>
                          <a:effectLst/>
                          <a:latin typeface="Arial"/>
                          <a:cs typeface="Arial" pitchFamily="34" charset="0"/>
                        </a:rPr>
                        <a:t>Quality of earnings and cash flow</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lvl="2" indent="-177800">
                        <a:spcBef>
                          <a:spcPts val="600"/>
                        </a:spcBef>
                        <a:buClr>
                          <a:srgbClr val="97989A"/>
                        </a:buClr>
                        <a:buFont typeface="Arial" pitchFamily="34" charset="0"/>
                        <a:buChar char="■"/>
                        <a:defRPr/>
                      </a:pPr>
                      <a:endParaRPr lang="en-US" sz="900" kern="1200" dirty="0" smtClean="0">
                        <a:solidFill>
                          <a:schemeClr val="tx1"/>
                        </a:solidFill>
                        <a:effectLst/>
                        <a:latin typeface="Arial" panose="020B0604020202020204" pitchFamily="34" charset="0"/>
                        <a:ea typeface="+mn-ea"/>
                        <a:cs typeface="Arial" panose="020B0604020202020204" pitchFamily="34" charset="0"/>
                      </a:endParaRPr>
                    </a:p>
                    <a:p>
                      <a:pPr marL="177800" lvl="2" indent="-177800">
                        <a:spcBef>
                          <a:spcPts val="600"/>
                        </a:spcBef>
                        <a:buClr>
                          <a:srgbClr val="97989A"/>
                        </a:buClr>
                        <a:buFont typeface="Arial" pitchFamily="34" charset="0"/>
                        <a:buChar char="■"/>
                        <a:defRPr/>
                      </a:pPr>
                      <a:endParaRPr lang="en-US" sz="900" kern="1200" dirty="0" smtClean="0">
                        <a:solidFill>
                          <a:schemeClr val="tx1"/>
                        </a:solidFill>
                        <a:effectLst/>
                        <a:latin typeface="Arial" panose="020B0604020202020204" pitchFamily="34" charset="0"/>
                        <a:ea typeface="+mn-ea"/>
                        <a:cs typeface="Arial" panose="020B0604020202020204" pitchFamily="34" charset="0"/>
                      </a:endParaRPr>
                    </a:p>
                    <a:p>
                      <a:pPr marL="177800" lvl="2" indent="-177800">
                        <a:spcBef>
                          <a:spcPts val="600"/>
                        </a:spcBef>
                        <a:buClr>
                          <a:srgbClr val="97989A"/>
                        </a:buClr>
                        <a:buFont typeface="Arial" pitchFamily="34" charset="0"/>
                        <a:buChar char="■"/>
                        <a:defRPr/>
                      </a:pPr>
                      <a:endParaRPr lang="en-US" sz="900" kern="1200" dirty="0" smtClean="0">
                        <a:solidFill>
                          <a:schemeClr val="tx1"/>
                        </a:solidFill>
                        <a:effectLst/>
                        <a:latin typeface="Arial" panose="020B0604020202020204" pitchFamily="34" charset="0"/>
                        <a:ea typeface="+mn-ea"/>
                        <a:cs typeface="Arial" panose="020B0604020202020204" pitchFamily="34" charset="0"/>
                      </a:endParaRPr>
                    </a:p>
                    <a:p>
                      <a:pPr marL="177800" lvl="2" indent="-177800">
                        <a:spcBef>
                          <a:spcPts val="600"/>
                        </a:spcBef>
                        <a:buClr>
                          <a:srgbClr val="97989A"/>
                        </a:buClr>
                        <a:buFont typeface="Arial" pitchFamily="34" charset="0"/>
                        <a:buChar char="■"/>
                        <a:defRPr/>
                      </a:pPr>
                      <a:endParaRPr lang="en-US" sz="900" kern="1200" dirty="0" smtClean="0">
                        <a:solidFill>
                          <a:schemeClr val="tx1"/>
                        </a:solidFill>
                        <a:effectLst/>
                        <a:latin typeface="Arial" panose="020B0604020202020204" pitchFamily="34" charset="0"/>
                        <a:ea typeface="+mn-ea"/>
                        <a:cs typeface="Arial" panose="020B0604020202020204" pitchFamily="34" charset="0"/>
                      </a:endParaRPr>
                    </a:p>
                    <a:p>
                      <a:pPr marL="177800" lvl="2" indent="-177800">
                        <a:spcBef>
                          <a:spcPts val="600"/>
                        </a:spcBef>
                        <a:buClr>
                          <a:srgbClr val="97989A"/>
                        </a:buClr>
                        <a:buFont typeface="Arial" pitchFamily="34" charset="0"/>
                        <a:buChar char="■"/>
                        <a:defRPr/>
                      </a:pPr>
                      <a:endParaRPr lang="en-US" sz="900" kern="1200" dirty="0" smtClean="0">
                        <a:solidFill>
                          <a:schemeClr val="tx1"/>
                        </a:solidFill>
                        <a:effectLst/>
                        <a:latin typeface="Arial" panose="020B0604020202020204" pitchFamily="34" charset="0"/>
                        <a:ea typeface="+mn-ea"/>
                        <a:cs typeface="Arial" panose="020B0604020202020204" pitchFamily="34" charset="0"/>
                      </a:endParaRPr>
                    </a:p>
                    <a:p>
                      <a:pPr marL="177800" lvl="2" indent="-177800">
                        <a:spcBef>
                          <a:spcPts val="600"/>
                        </a:spcBef>
                        <a:buClr>
                          <a:srgbClr val="97989A"/>
                        </a:buClr>
                        <a:buFont typeface="Arial" pitchFamily="34" charset="0"/>
                        <a:buChar char="■"/>
                        <a:defRPr/>
                      </a:pPr>
                      <a:endParaRPr lang="en-US" sz="900" kern="1200" dirty="0" smtClean="0">
                        <a:solidFill>
                          <a:schemeClr val="tx1"/>
                        </a:solidFill>
                        <a:effectLst/>
                        <a:latin typeface="Arial" panose="020B0604020202020204" pitchFamily="34" charset="0"/>
                        <a:ea typeface="+mn-ea"/>
                        <a:cs typeface="Arial" panose="020B0604020202020204" pitchFamily="34" charset="0"/>
                      </a:endParaRPr>
                    </a:p>
                    <a:p>
                      <a:pPr marL="177800" lvl="2" indent="-177800">
                        <a:spcBef>
                          <a:spcPts val="600"/>
                        </a:spcBef>
                        <a:buClr>
                          <a:srgbClr val="97989A"/>
                        </a:buClr>
                        <a:buFont typeface="Arial" pitchFamily="34" charset="0"/>
                        <a:buChar char="■"/>
                        <a:defRPr/>
                      </a:pPr>
                      <a:endParaRPr lang="en-US" sz="900" kern="1200" dirty="0" smtClean="0">
                        <a:solidFill>
                          <a:schemeClr val="tx1"/>
                        </a:solidFill>
                        <a:effectLst/>
                        <a:latin typeface="Arial" panose="020B0604020202020204" pitchFamily="34" charset="0"/>
                        <a:ea typeface="+mn-ea"/>
                        <a:cs typeface="Arial" panose="020B0604020202020204" pitchFamily="34" charset="0"/>
                      </a:endParaRPr>
                    </a:p>
                    <a:p>
                      <a:pPr marL="177800" lvl="2" indent="-177800">
                        <a:spcBef>
                          <a:spcPts val="600"/>
                        </a:spcBef>
                        <a:buClr>
                          <a:srgbClr val="97989A"/>
                        </a:buClr>
                        <a:buFont typeface="Arial" pitchFamily="34" charset="0"/>
                        <a:buChar char="■"/>
                        <a:defRPr/>
                      </a:pPr>
                      <a:r>
                        <a:rPr lang="en-US" sz="900" kern="1200" dirty="0" smtClean="0">
                          <a:solidFill>
                            <a:schemeClr val="tx1"/>
                          </a:solidFill>
                          <a:effectLst/>
                          <a:latin typeface="Arial" panose="020B0604020202020204" pitchFamily="34" charset="0"/>
                          <a:ea typeface="+mn-ea"/>
                          <a:cs typeface="Arial" panose="020B0604020202020204" pitchFamily="34" charset="0"/>
                        </a:rPr>
                        <a:t>The table above presents the reported pre-tax</a:t>
                      </a:r>
                      <a:r>
                        <a:rPr lang="en-US" sz="900" kern="1200" baseline="0" dirty="0" smtClean="0">
                          <a:solidFill>
                            <a:schemeClr val="tx1"/>
                          </a:solidFill>
                          <a:effectLst/>
                          <a:latin typeface="Arial" panose="020B0604020202020204" pitchFamily="34" charset="0"/>
                          <a:ea typeface="+mn-ea"/>
                          <a:cs typeface="Arial" panose="020B0604020202020204" pitchFamily="34" charset="0"/>
                        </a:rPr>
                        <a:t> </a:t>
                      </a:r>
                      <a:r>
                        <a:rPr lang="en-US" sz="900" kern="1200" dirty="0" smtClean="0">
                          <a:solidFill>
                            <a:schemeClr val="tx1"/>
                          </a:solidFill>
                          <a:effectLst/>
                          <a:latin typeface="Arial" panose="020B0604020202020204" pitchFamily="34" charset="0"/>
                          <a:ea typeface="+mn-ea"/>
                          <a:cs typeface="Arial" panose="020B0604020202020204" pitchFamily="34" charset="0"/>
                        </a:rPr>
                        <a:t>earnings for Target and BLG, together with proposed</a:t>
                      </a:r>
                      <a:r>
                        <a:rPr lang="en-US" sz="900" kern="1200" baseline="0" dirty="0" smtClean="0">
                          <a:solidFill>
                            <a:schemeClr val="tx1"/>
                          </a:solidFill>
                          <a:effectLst/>
                          <a:latin typeface="Arial" panose="020B0604020202020204" pitchFamily="34" charset="0"/>
                          <a:ea typeface="+mn-ea"/>
                          <a:cs typeface="Arial" panose="020B0604020202020204" pitchFamily="34" charset="0"/>
                        </a:rPr>
                        <a:t> adjustments to derive core activities and BLG’s earnings and pre-tax cash flow available to service debt.  </a:t>
                      </a:r>
                    </a:p>
                    <a:p>
                      <a:pPr marL="341313" marR="0" lvl="2" indent="-174625"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dirty="0" smtClean="0">
                          <a:solidFill>
                            <a:schemeClr val="tx1"/>
                          </a:solidFill>
                          <a:latin typeface="+mn-lt"/>
                          <a:ea typeface="+mn-ea"/>
                          <a:cs typeface="Arial" pitchFamily="34" charset="0"/>
                        </a:rPr>
                        <a:t>“core activities” are Target’s activities understood to be the subject of your contemplated acquisition proposal, although these exclude net gains realized on equity tags as we understand these to be peripheral to the “core” lending activities;</a:t>
                      </a:r>
                    </a:p>
                    <a:p>
                      <a:pPr marL="341313" marR="0" lvl="2" indent="-174625"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dirty="0" smtClean="0">
                          <a:solidFill>
                            <a:schemeClr val="tx1"/>
                          </a:solidFill>
                          <a:latin typeface="+mn-lt"/>
                          <a:ea typeface="+mn-ea"/>
                          <a:cs typeface="Arial" pitchFamily="34" charset="0"/>
                        </a:rPr>
                        <a:t>“BLG” are earnings from BLG before cost of funds and SG&amp;A costs - we understand you propose acquiring the asset portfolio essentially for run-off purposes and will retain neither the personnel nor the cost base.  These earnings are on total assets of </a:t>
                      </a:r>
                      <a:r>
                        <a:rPr lang="en-US" sz="900" baseline="0" dirty="0" smtClean="0"/>
                        <a:t>$3.6 billion as at December 2014 (2013: $4.4 billion).</a:t>
                      </a:r>
                      <a:endParaRPr lang="en-US" sz="900" b="0" kern="1200" baseline="0" dirty="0" smtClean="0">
                        <a:solidFill>
                          <a:schemeClr val="tx1"/>
                        </a:solidFill>
                        <a:latin typeface="+mn-lt"/>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kern="1200" baseline="0" dirty="0" smtClean="0">
                          <a:solidFill>
                            <a:schemeClr val="tx1"/>
                          </a:solidFill>
                          <a:effectLst/>
                          <a:latin typeface="Arial" panose="020B0604020202020204" pitchFamily="34" charset="0"/>
                          <a:ea typeface="+mn-ea"/>
                          <a:cs typeface="Arial" panose="020B0604020202020204" pitchFamily="34" charset="0"/>
                        </a:rPr>
                        <a:t>Reported net income available to service debt includes an add-back of cost of funds. </a:t>
                      </a:r>
                      <a:r>
                        <a:rPr lang="en-US" sz="900" b="0" kern="1200" baseline="0" dirty="0" smtClean="0">
                          <a:solidFill>
                            <a:schemeClr val="tx1"/>
                          </a:solidFill>
                          <a:latin typeface="+mn-lt"/>
                          <a:ea typeface="+mn-ea"/>
                          <a:cs typeface="Arial" pitchFamily="34" charset="0"/>
                        </a:rPr>
                        <a:t>We understand that the cost of funding post-transaction may differ from the funding costs charged by GE Corporate Treasury. Accordingly, funding costs have been excluded to provide a view on total cash flows available to service debt post-transaction. </a:t>
                      </a:r>
                    </a:p>
                    <a:p>
                      <a:pPr marL="177800" lvl="2" indent="-177800">
                        <a:spcBef>
                          <a:spcPts val="600"/>
                        </a:spcBef>
                        <a:buClr>
                          <a:srgbClr val="97989A"/>
                        </a:buClr>
                        <a:buFont typeface="Arial" pitchFamily="34" charset="0"/>
                        <a:buChar char="■"/>
                        <a:defRPr/>
                      </a:pPr>
                      <a:r>
                        <a:rPr lang="en-US" sz="900" kern="1200" baseline="0" dirty="0" smtClean="0">
                          <a:solidFill>
                            <a:schemeClr val="tx1"/>
                          </a:solidFill>
                          <a:effectLst/>
                          <a:latin typeface="Arial" panose="020B0604020202020204" pitchFamily="34" charset="0"/>
                          <a:ea typeface="+mn-ea"/>
                          <a:cs typeface="Arial" panose="020B0604020202020204" pitchFamily="34" charset="0"/>
                        </a:rPr>
                        <a:t>Potential adjustments to Target’s reported net income available to service debt include:</a:t>
                      </a:r>
                    </a:p>
                    <a:p>
                      <a:pPr marL="341313" marR="0" lvl="2" indent="-174625"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dirty="0" smtClean="0">
                          <a:solidFill>
                            <a:schemeClr val="tx1"/>
                          </a:solidFill>
                          <a:latin typeface="+mn-lt"/>
                          <a:ea typeface="+mn-ea"/>
                          <a:cs typeface="Arial" pitchFamily="34" charset="0"/>
                        </a:rPr>
                        <a:t>Revenue from excluded assets: We understand that certain assets, including the MMGP / SSLP senior debt, the ABL portfolio and the </a:t>
                      </a:r>
                      <a:r>
                        <a:rPr lang="en-US" sz="900" b="0" kern="1200" baseline="0" dirty="0" err="1" smtClean="0">
                          <a:solidFill>
                            <a:schemeClr val="tx1"/>
                          </a:solidFill>
                          <a:latin typeface="+mn-lt"/>
                          <a:ea typeface="+mn-ea"/>
                          <a:cs typeface="Arial" pitchFamily="34" charset="0"/>
                        </a:rPr>
                        <a:t>Mubadala</a:t>
                      </a:r>
                      <a:r>
                        <a:rPr lang="en-US" sz="900" b="0" kern="1200" baseline="0" dirty="0" smtClean="0">
                          <a:solidFill>
                            <a:schemeClr val="tx1"/>
                          </a:solidFill>
                          <a:latin typeface="+mn-lt"/>
                          <a:ea typeface="+mn-ea"/>
                          <a:cs typeface="Arial" pitchFamily="34" charset="0"/>
                        </a:rPr>
                        <a:t> JV, are to be excluded from the perimeter of the transaction. Interest and fee income from these assets have been excluded from earnings to reflect the revenue profile post-transaction (although interest on the equity/junior notes and the management fees on the portfolio were retained as they are understood to continue). At this time, we are unable to quantify expenses associated with excluded assets, particularly if these costs are to be eliminated. </a:t>
                      </a:r>
                    </a:p>
                    <a:p>
                      <a:pPr marL="341313" marR="0" lvl="2" indent="-174625"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dirty="0" smtClean="0">
                          <a:solidFill>
                            <a:schemeClr val="tx1"/>
                          </a:solidFill>
                          <a:latin typeface="+mn-lt"/>
                          <a:ea typeface="+mn-ea"/>
                          <a:cs typeface="Arial" pitchFamily="34" charset="0"/>
                        </a:rPr>
                        <a:t>Equity tags (or co-investments), as they represent an activity that is peripheral to Target’s core business activities. Accordingly, we have excluded the income (net of marks and impairments) from these investments.</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Pages 36 to 38</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r>
            </a:tbl>
          </a:graphicData>
        </a:graphic>
      </p:graphicFrame>
      <p:sp>
        <p:nvSpPr>
          <p:cNvPr id="13" name="Title 3"/>
          <p:cNvSpPr>
            <a:spLocks noGrp="1"/>
          </p:cNvSpPr>
          <p:nvPr>
            <p:ph type="title"/>
          </p:nvPr>
        </p:nvSpPr>
        <p:spPr>
          <a:xfrm>
            <a:off x="2123728" y="116632"/>
            <a:ext cx="6768752" cy="576064"/>
          </a:xfrm>
        </p:spPr>
        <p:txBody>
          <a:bodyPr/>
          <a:lstStyle/>
          <a:p>
            <a:r>
              <a:rPr lang="en-US" sz="1400" b="0" dirty="0">
                <a:solidFill>
                  <a:srgbClr val="747678"/>
                </a:solidFill>
              </a:rPr>
              <a:t>Executive summary</a:t>
            </a:r>
            <a:r>
              <a:rPr lang="en-US" dirty="0" smtClean="0"/>
              <a:t/>
            </a:r>
            <a:br>
              <a:rPr lang="en-US" dirty="0" smtClean="0"/>
            </a:br>
            <a:r>
              <a:rPr lang="en-US" dirty="0" smtClean="0"/>
              <a:t>Key findings: financial (4)</a:t>
            </a:r>
            <a:endParaRPr lang="en-US" dirty="0"/>
          </a:p>
        </p:txBody>
      </p:sp>
      <p:pic>
        <p:nvPicPr>
          <p:cNvPr id="3" name="Picture 2"/>
          <p:cNvPicPr>
            <a:picLocks noChangeAspect="1"/>
          </p:cNvPicPr>
          <p:nvPr/>
        </p:nvPicPr>
        <p:blipFill>
          <a:blip r:embed="rId5"/>
          <a:stretch>
            <a:fillRect/>
          </a:stretch>
        </p:blipFill>
        <p:spPr>
          <a:xfrm>
            <a:off x="1420409" y="1625601"/>
            <a:ext cx="6275791" cy="1363980"/>
          </a:xfrm>
          <a:prstGeom prst="rect">
            <a:avLst/>
          </a:prstGeom>
        </p:spPr>
      </p:pic>
      <p:sp>
        <p:nvSpPr>
          <p:cNvPr id="7" name="Rounded Rectangle 6"/>
          <p:cNvSpPr/>
          <p:nvPr>
            <p:custDataLst>
              <p:tags r:id="rId1"/>
            </p:custDataLst>
          </p:nvPr>
        </p:nvSpPr>
        <p:spPr bwMode="gray">
          <a:xfrm rot="5400000">
            <a:off x="4038599" y="304804"/>
            <a:ext cx="1143001" cy="6781800"/>
          </a:xfrm>
          <a:prstGeom prst="roundRect">
            <a:avLst>
              <a:gd name="adj" fmla="val 26588"/>
            </a:avLst>
          </a:prstGeom>
          <a:noFill/>
          <a:ln w="12700">
            <a:solidFill>
              <a:srgbClr val="9E303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dirty="0"/>
          </a:p>
        </p:txBody>
      </p:sp>
      <p:sp>
        <p:nvSpPr>
          <p:cNvPr id="6" name="Text Box 8"/>
          <p:cNvSpPr txBox="1">
            <a:spLocks noChangeArrowheads="1"/>
          </p:cNvSpPr>
          <p:nvPr>
            <p:custDataLst>
              <p:tags r:id="rId2"/>
            </p:custDataLst>
          </p:nvPr>
        </p:nvSpPr>
        <p:spPr bwMode="gray">
          <a:xfrm>
            <a:off x="1447800" y="2971800"/>
            <a:ext cx="3505200" cy="92333"/>
          </a:xfrm>
          <a:prstGeom prst="rect">
            <a:avLst/>
          </a:prstGeom>
          <a:noFill/>
          <a:ln w="6350">
            <a:noFill/>
            <a:miter lim="800000"/>
            <a:headEnd type="none" w="sm" len="sm"/>
            <a:tailEnd type="none" w="sm" len="sm"/>
          </a:ln>
          <a:effectLst/>
        </p:spPr>
        <p:txBody>
          <a:bodyPr wrap="square" lIns="0" tIns="0" rIns="0" bIns="0" anchor="b">
            <a:spAutoFit/>
          </a:bodyPr>
          <a:lstStyle/>
          <a:p>
            <a:pPr marL="534988" indent="-534988" defTabSz="762000" eaLnBrk="0" hangingPunct="0">
              <a:spcBef>
                <a:spcPts val="200"/>
              </a:spcBef>
              <a:tabLst>
                <a:tab pos="355600" algn="l"/>
              </a:tabLst>
            </a:pPr>
            <a:r>
              <a:rPr lang="en-US" sz="600" dirty="0" smtClean="0">
                <a:latin typeface="Arial"/>
                <a:cs typeface="Arial" pitchFamily="34" charset="0"/>
              </a:rPr>
              <a:t>Source:	Information provided by Management; 6.5.1 Atlas Detailed Financials; GE Quarterly Package</a:t>
            </a:r>
            <a:endParaRPr lang="en-US" sz="600" dirty="0">
              <a:latin typeface="Arial"/>
              <a:cs typeface="Arial" pitchFamily="34" charset="0"/>
            </a:endParaRPr>
          </a:p>
        </p:txBody>
      </p:sp>
    </p:spTree>
    <p:extLst>
      <p:ext uri="{BB962C8B-B14F-4D97-AF65-F5344CB8AC3E}">
        <p14:creationId xmlns:p14="http://schemas.microsoft.com/office/powerpoint/2010/main" val="28104506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3"/>
          <p:cNvGraphicFramePr>
            <a:graphicFrameLocks noGrp="1"/>
          </p:cNvGraphicFramePr>
          <p:nvPr>
            <p:extLst>
              <p:ext uri="{D42A27DB-BD31-4B8C-83A1-F6EECF244321}">
                <p14:modId xmlns:p14="http://schemas.microsoft.com/office/powerpoint/2010/main" val="1796667507"/>
              </p:ext>
            </p:extLst>
          </p:nvPr>
        </p:nvGraphicFramePr>
        <p:xfrm>
          <a:off x="252046" y="1219200"/>
          <a:ext cx="8663354" cy="4234026"/>
        </p:xfrm>
        <a:graphic>
          <a:graphicData uri="http://schemas.openxmlformats.org/drawingml/2006/table">
            <a:tbl>
              <a:tblPr/>
              <a:tblGrid>
                <a:gridCol w="1043354"/>
                <a:gridCol w="6629400"/>
                <a:gridCol w="990600"/>
              </a:tblGrid>
              <a:tr h="376986">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1000" b="1" i="0" u="none" strike="noStrike" cap="none" normalizeH="0" baseline="0" dirty="0" smtClean="0">
                          <a:ln>
                            <a:noFill/>
                          </a:ln>
                          <a:solidFill>
                            <a:schemeClr val="bg1"/>
                          </a:solidFill>
                          <a:effectLst/>
                          <a:latin typeface="Arial"/>
                          <a:cs typeface="Arial" pitchFamily="34" charset="0"/>
                        </a:rPr>
                        <a:t>Finding</a:t>
                      </a:r>
                      <a:endParaRPr kumimoji="0" lang="en-US" sz="900" b="1" i="0" u="none" strike="noStrike" cap="none" normalizeH="0" baseline="0" dirty="0" smtClean="0">
                        <a:ln>
                          <a:noFill/>
                        </a:ln>
                        <a:solidFill>
                          <a:schemeClr val="bg1"/>
                        </a:solidFill>
                        <a:effectLst/>
                        <a:latin typeface="Arial"/>
                        <a:cs typeface="Arial" pitchFamily="34" charset="0"/>
                      </a:endParaRP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Summary observations</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Reference</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r>
              <a:tr h="1474040">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900" b="1" i="0" u="none" strike="noStrike" cap="none" normalizeH="0" baseline="0" dirty="0" smtClean="0">
                          <a:ln>
                            <a:noFill/>
                          </a:ln>
                          <a:solidFill>
                            <a:schemeClr val="accent4"/>
                          </a:solidFill>
                          <a:effectLst/>
                          <a:latin typeface="Arial"/>
                          <a:cs typeface="Arial" pitchFamily="34" charset="0"/>
                        </a:rPr>
                        <a:t>Employee retention arrangements</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Under the GE Capital Disposition Retention Program (the “Retention Program”), Target has retention agreements in place with certain employees across various functions who have been identified as critical to the success of the business post-transaction. </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Under these arrangements, eligible employees earn a retention award equal to a contractually-stated percentage of their annual base salary in effect on April 1, 2015. The cumulative retention award across all functions is $51 million. The first 70% of this award will be earned upon the close of sale and the remaining 30% will be earned upon the six-month anniversary of the employees’ direct transfer to the buyer (the “70-30 arrangement”). Both amounts will be paid within 60 days of being earned. The Retention Program covers approximately 90% of the senior leadership team, between 10 and 20 originators, an unspecified percentage of other Commercial employees, approximately 45% of Risk and Capital Markets employees, and approximately 25% of all other employees. </a:t>
                      </a:r>
                    </a:p>
                    <a:p>
                      <a:pPr marL="341313" marR="0" lvl="2" indent="-174625"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We recommend you consider whether this payout structure provides key employees with a sufficiently long-term incentive to continue their employment with the business post-acquisition.</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Approximately 40% of the top originators have been offered enrollment in a Guaranteed Sales Incentive Compensation Program (the “GSP”). The regular-way Sales Incentive Compensation (“SIC”) plan is a bonus plan that rewards originators based on sales volumes, net deal profit and sponsor / customer relationships. Under the GSP, originators are guaranteed a minimum SIC payment amount even if their normal SIC payments calculates to a lower amount. Payments totaling $18.9 million (in aggregate) have been guaranteed for 2015 under the GSP.</a:t>
                      </a:r>
                    </a:p>
                    <a:p>
                      <a:pPr marL="341313"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We recommend that you consider whether the GSP sufficiently incentivizes top performers to remain with the business given the central role originators play in driving new business.</a:t>
                      </a:r>
                      <a:endParaRPr lang="en-US" sz="900" b="0" kern="1200" baseline="0" dirty="0" smtClean="0">
                        <a:solidFill>
                          <a:schemeClr val="tx1"/>
                        </a:solidFill>
                        <a:latin typeface="+mn-lt"/>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In addition to the above, approximately 25 executives spread over various functions will receive advance vesting of their supplemental pension plan upon closing of sale and continued employment with a successor employer. The aggregate net present value of the benefit payable when the executives reach age 60 is approximately $102.7 million. </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It is our understanding that all retention awards and payments pursuant to advance vesting of the supplementary pension plan are the Parent’s obligation.</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Appendix 4</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r>
            </a:tbl>
          </a:graphicData>
        </a:graphic>
      </p:graphicFrame>
      <p:sp>
        <p:nvSpPr>
          <p:cNvPr id="13" name="Title 3"/>
          <p:cNvSpPr>
            <a:spLocks noGrp="1"/>
          </p:cNvSpPr>
          <p:nvPr>
            <p:ph type="title"/>
          </p:nvPr>
        </p:nvSpPr>
        <p:spPr>
          <a:xfrm>
            <a:off x="2123728" y="116632"/>
            <a:ext cx="6768752" cy="576064"/>
          </a:xfrm>
        </p:spPr>
        <p:txBody>
          <a:bodyPr/>
          <a:lstStyle/>
          <a:p>
            <a:r>
              <a:rPr lang="en-US" sz="1400" b="0" dirty="0">
                <a:solidFill>
                  <a:srgbClr val="747678"/>
                </a:solidFill>
              </a:rPr>
              <a:t>Executive summary</a:t>
            </a:r>
            <a:r>
              <a:rPr lang="en-US" dirty="0" smtClean="0"/>
              <a:t/>
            </a:r>
            <a:br>
              <a:rPr lang="en-US" dirty="0" smtClean="0"/>
            </a:br>
            <a:r>
              <a:rPr lang="en-US" dirty="0" smtClean="0"/>
              <a:t>Key findings: financial (5)</a:t>
            </a:r>
            <a:endParaRPr lang="en-US" dirty="0"/>
          </a:p>
        </p:txBody>
      </p:sp>
    </p:spTree>
    <p:extLst>
      <p:ext uri="{BB962C8B-B14F-4D97-AF65-F5344CB8AC3E}">
        <p14:creationId xmlns:p14="http://schemas.microsoft.com/office/powerpoint/2010/main" val="178903472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3"/>
          <p:cNvGraphicFramePr>
            <a:graphicFrameLocks noGrp="1"/>
          </p:cNvGraphicFramePr>
          <p:nvPr>
            <p:extLst>
              <p:ext uri="{D42A27DB-BD31-4B8C-83A1-F6EECF244321}">
                <p14:modId xmlns:p14="http://schemas.microsoft.com/office/powerpoint/2010/main" val="237647474"/>
              </p:ext>
            </p:extLst>
          </p:nvPr>
        </p:nvGraphicFramePr>
        <p:xfrm>
          <a:off x="252046" y="1219200"/>
          <a:ext cx="8663354" cy="4797906"/>
        </p:xfrm>
        <a:graphic>
          <a:graphicData uri="http://schemas.openxmlformats.org/drawingml/2006/table">
            <a:tbl>
              <a:tblPr/>
              <a:tblGrid>
                <a:gridCol w="1043354"/>
                <a:gridCol w="6629400"/>
                <a:gridCol w="990600"/>
              </a:tblGrid>
              <a:tr h="376986">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1000" b="1" i="0" u="none" strike="noStrike" cap="none" normalizeH="0" baseline="0" dirty="0" smtClean="0">
                          <a:ln>
                            <a:noFill/>
                          </a:ln>
                          <a:solidFill>
                            <a:schemeClr val="bg1"/>
                          </a:solidFill>
                          <a:effectLst/>
                          <a:latin typeface="Arial"/>
                          <a:cs typeface="Arial" pitchFamily="34" charset="0"/>
                        </a:rPr>
                        <a:t>Finding</a:t>
                      </a:r>
                      <a:endParaRPr kumimoji="0" lang="en-US" sz="900" b="1" i="0" u="none" strike="noStrike" cap="none" normalizeH="0" baseline="0" dirty="0" smtClean="0">
                        <a:ln>
                          <a:noFill/>
                        </a:ln>
                        <a:solidFill>
                          <a:schemeClr val="bg1"/>
                        </a:solidFill>
                        <a:effectLst/>
                        <a:latin typeface="Arial"/>
                        <a:cs typeface="Arial" pitchFamily="34" charset="0"/>
                      </a:endParaRP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Summary observations</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Reference</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r>
              <a:tr h="1474040">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900" b="1" i="0" u="none" strike="noStrike" cap="none" normalizeH="0" baseline="0" dirty="0" smtClean="0">
                          <a:ln>
                            <a:noFill/>
                          </a:ln>
                          <a:solidFill>
                            <a:schemeClr val="accent4"/>
                          </a:solidFill>
                          <a:effectLst/>
                          <a:latin typeface="Arial"/>
                          <a:cs typeface="Arial" pitchFamily="34" charset="0"/>
                        </a:rPr>
                        <a:t>Carve-out / shared services</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A number of back-office support functions </a:t>
                      </a:r>
                      <a:r>
                        <a:rPr lang="en-US" sz="900" b="0" kern="1200" baseline="0" dirty="0" smtClean="0">
                          <a:solidFill>
                            <a:schemeClr val="tx1"/>
                          </a:solidFill>
                          <a:latin typeface="+mn-lt"/>
                          <a:ea typeface="+mn-ea"/>
                          <a:cs typeface="Arial" pitchFamily="34" charset="0"/>
                        </a:rPr>
                        <a:t>– IT, operations, finance, legal, marketing, HR – </a:t>
                      </a:r>
                      <a:r>
                        <a:rPr lang="en-US" sz="900" b="0" kern="1200" baseline="0" noProof="0" dirty="0" smtClean="0">
                          <a:solidFill>
                            <a:schemeClr val="tx1"/>
                          </a:solidFill>
                          <a:latin typeface="+mn-lt"/>
                          <a:ea typeface="+mn-ea"/>
                          <a:cs typeface="Arial" pitchFamily="34" charset="0"/>
                        </a:rPr>
                        <a:t>are provided to Target via shared services </a:t>
                      </a:r>
                      <a:r>
                        <a:rPr lang="en-US" sz="900" dirty="0" smtClean="0"/>
                        <a:t>centers. These centers are necessary to the </a:t>
                      </a:r>
                      <a:r>
                        <a:rPr lang="en-US" sz="900" b="0" kern="1200" baseline="0" noProof="0" dirty="0" smtClean="0">
                          <a:solidFill>
                            <a:schemeClr val="tx1"/>
                          </a:solidFill>
                          <a:latin typeface="+mn-lt"/>
                          <a:ea typeface="+mn-ea"/>
                          <a:cs typeface="Arial" pitchFamily="34" charset="0"/>
                        </a:rPr>
                        <a:t>operation of Target’s business activities, and services provided by these centers will need to be performed in-house or outsourced to third-party vendors post-transaction. We recommend you consider potential incremental costs, both one-time and recurring, associated with the separation from the Parent and subsequently establishing these functions </a:t>
                      </a:r>
                      <a:r>
                        <a:rPr lang="en-US" sz="900" b="0" kern="1200" baseline="0" dirty="0" smtClean="0">
                          <a:solidFill>
                            <a:schemeClr val="tx1"/>
                          </a:solidFill>
                          <a:latin typeface="+mn-lt"/>
                          <a:ea typeface="+mn-ea"/>
                          <a:cs typeface="Arial" pitchFamily="34" charset="0"/>
                        </a:rPr>
                        <a:t>in order for Target to operate as a stand-alone entity.</a:t>
                      </a:r>
                      <a:r>
                        <a:rPr lang="en-US" sz="900" b="0" kern="1200" baseline="0" noProof="0" dirty="0" smtClean="0">
                          <a:solidFill>
                            <a:schemeClr val="tx1"/>
                          </a:solidFill>
                          <a:latin typeface="+mn-lt"/>
                          <a:ea typeface="+mn-ea"/>
                          <a:cs typeface="Arial" pitchFamily="34" charset="0"/>
                        </a:rPr>
                        <a:t> We acknowledge you are working with advisors on the potential one-time costs and synergies from the proposed transaction.</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dirty="0" smtClean="0"/>
                        <a:t>In</a:t>
                      </a:r>
                      <a:r>
                        <a:rPr lang="en-US" sz="900" baseline="0" dirty="0" smtClean="0"/>
                        <a:t> 2014, Target recognized a total of $41 million of costs </a:t>
                      </a:r>
                      <a:r>
                        <a:rPr lang="en-US" sz="900" kern="1200" dirty="0" smtClean="0">
                          <a:solidFill>
                            <a:schemeClr val="tx1"/>
                          </a:solidFill>
                          <a:effectLst/>
                          <a:latin typeface="+mn-lt"/>
                          <a:ea typeface="+mn-ea"/>
                          <a:cs typeface="+mn-cs"/>
                        </a:rPr>
                        <a:t>allocated by the Parent to Target for</a:t>
                      </a:r>
                      <a:r>
                        <a:rPr lang="en-US" sz="900" kern="1200" baseline="0" dirty="0" smtClean="0">
                          <a:solidFill>
                            <a:schemeClr val="tx1"/>
                          </a:solidFill>
                          <a:effectLst/>
                          <a:latin typeface="+mn-lt"/>
                          <a:ea typeface="+mn-ea"/>
                          <a:cs typeface="+mn-cs"/>
                        </a:rPr>
                        <a:t> centrally-provided services, up from $38 million in 2013</a:t>
                      </a:r>
                      <a:r>
                        <a:rPr lang="en-US" sz="900" baseline="0" dirty="0" smtClean="0"/>
                        <a:t>. These charges accounted for 19% of SG&amp;A costs in both 2013 and 2014. </a:t>
                      </a:r>
                      <a:r>
                        <a:rPr lang="en-US" sz="900" kern="1200" dirty="0" smtClean="0">
                          <a:solidFill>
                            <a:schemeClr val="tx1"/>
                          </a:solidFill>
                          <a:effectLst/>
                          <a:latin typeface="+mn-lt"/>
                          <a:ea typeface="+mn-ea"/>
                          <a:cs typeface="+mn-cs"/>
                        </a:rPr>
                        <a:t>They relate primarily to IT (the maintenance and provision of centrally-managed IT systems), Operations (transaction processing and ancillary services to support sales and execution), and Capital Markets (support services relating to loan distribution and associated capital markets activities). Management</a:t>
                      </a:r>
                      <a:r>
                        <a:rPr lang="en-US" sz="900" kern="1200" baseline="0" dirty="0" smtClean="0">
                          <a:solidFill>
                            <a:schemeClr val="tx1"/>
                          </a:solidFill>
                          <a:effectLst/>
                          <a:latin typeface="+mn-lt"/>
                          <a:ea typeface="+mn-ea"/>
                          <a:cs typeface="+mn-cs"/>
                        </a:rPr>
                        <a:t> indicated they have not been provided transparency by Parent as to the basis of allocation of these costs.</a:t>
                      </a:r>
                      <a:endParaRPr lang="en-US" sz="900" kern="1200" dirty="0" smtClean="0">
                        <a:solidFill>
                          <a:schemeClr val="tx1"/>
                        </a:solidFill>
                        <a:effectLst/>
                        <a:latin typeface="+mn-lt"/>
                        <a:ea typeface="+mn-ea"/>
                        <a:cs typeface="+mn-cs"/>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kern="1200" dirty="0" smtClean="0">
                          <a:solidFill>
                            <a:schemeClr val="tx1"/>
                          </a:solidFill>
                          <a:effectLst/>
                          <a:latin typeface="+mn-lt"/>
                          <a:ea typeface="+mn-ea"/>
                          <a:cs typeface="+mn-cs"/>
                        </a:rPr>
                        <a:t>Management has noted that the current IT platform is inefficient and the optimization of this platform will yield cost savings. We recommend that you consider the following:</a:t>
                      </a:r>
                    </a:p>
                    <a:p>
                      <a:pPr marL="395288" marR="0" lvl="3"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kern="1200" dirty="0" smtClean="0">
                          <a:solidFill>
                            <a:schemeClr val="tx1"/>
                          </a:solidFill>
                          <a:effectLst/>
                          <a:latin typeface="+mn-lt"/>
                          <a:ea typeface="+mn-ea"/>
                          <a:cs typeface="+mn-cs"/>
                        </a:rPr>
                        <a:t>IT platform optimization will involve</a:t>
                      </a:r>
                      <a:r>
                        <a:rPr lang="en-US" sz="900" kern="1200" baseline="0" dirty="0" smtClean="0">
                          <a:solidFill>
                            <a:schemeClr val="tx1"/>
                          </a:solidFill>
                          <a:effectLst/>
                          <a:latin typeface="+mn-lt"/>
                          <a:ea typeface="+mn-ea"/>
                          <a:cs typeface="+mn-cs"/>
                        </a:rPr>
                        <a:t> one-time </a:t>
                      </a:r>
                      <a:r>
                        <a:rPr lang="en-US" sz="900" kern="1200" dirty="0" smtClean="0">
                          <a:solidFill>
                            <a:schemeClr val="tx1"/>
                          </a:solidFill>
                          <a:effectLst/>
                          <a:latin typeface="+mn-lt"/>
                          <a:ea typeface="+mn-ea"/>
                          <a:cs typeface="+mn-cs"/>
                        </a:rPr>
                        <a:t>setup costs; </a:t>
                      </a:r>
                    </a:p>
                    <a:p>
                      <a:pPr marL="395288" marR="0" lvl="3"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kern="1200" dirty="0" smtClean="0">
                          <a:solidFill>
                            <a:schemeClr val="tx1"/>
                          </a:solidFill>
                          <a:effectLst/>
                          <a:latin typeface="+mn-lt"/>
                          <a:ea typeface="+mn-ea"/>
                          <a:cs typeface="+mn-cs"/>
                        </a:rPr>
                        <a:t>Applications developed specifically for Target will be transferred as</a:t>
                      </a:r>
                      <a:r>
                        <a:rPr lang="en-US" sz="900" kern="1200" baseline="0" dirty="0" smtClean="0">
                          <a:solidFill>
                            <a:schemeClr val="tx1"/>
                          </a:solidFill>
                          <a:effectLst/>
                          <a:latin typeface="+mn-lt"/>
                          <a:ea typeface="+mn-ea"/>
                          <a:cs typeface="+mn-cs"/>
                        </a:rPr>
                        <a:t> part of the separation</a:t>
                      </a:r>
                      <a:r>
                        <a:rPr lang="en-US" sz="900" kern="1200" dirty="0" smtClean="0">
                          <a:solidFill>
                            <a:schemeClr val="tx1"/>
                          </a:solidFill>
                          <a:effectLst/>
                          <a:latin typeface="+mn-lt"/>
                          <a:ea typeface="+mn-ea"/>
                          <a:cs typeface="+mn-cs"/>
                        </a:rPr>
                        <a:t> based on a perpetual license. Diligence is suggested</a:t>
                      </a:r>
                      <a:r>
                        <a:rPr lang="en-US" sz="900" kern="1200" baseline="0" dirty="0" smtClean="0">
                          <a:solidFill>
                            <a:schemeClr val="tx1"/>
                          </a:solidFill>
                          <a:effectLst/>
                          <a:latin typeface="+mn-lt"/>
                          <a:ea typeface="+mn-ea"/>
                          <a:cs typeface="+mn-cs"/>
                        </a:rPr>
                        <a:t> on the</a:t>
                      </a:r>
                      <a:r>
                        <a:rPr lang="en-US" sz="900" kern="1200" dirty="0" smtClean="0">
                          <a:solidFill>
                            <a:schemeClr val="tx1"/>
                          </a:solidFill>
                          <a:effectLst/>
                          <a:latin typeface="+mn-lt"/>
                          <a:ea typeface="+mn-ea"/>
                          <a:cs typeface="+mn-cs"/>
                        </a:rPr>
                        <a:t> knowledge transfer, flight risk and quality of existing/planned documentation; and</a:t>
                      </a:r>
                    </a:p>
                    <a:p>
                      <a:pPr marL="395288" marR="0" lvl="3"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kern="1200" dirty="0" smtClean="0">
                          <a:solidFill>
                            <a:schemeClr val="tx1"/>
                          </a:solidFill>
                          <a:effectLst/>
                          <a:latin typeface="+mn-lt"/>
                          <a:ea typeface="+mn-ea"/>
                          <a:cs typeface="+mn-cs"/>
                        </a:rPr>
                        <a:t>Target will have to make decisions around whether to transfer over existing shared IT staff or to recruit new personnel to replicate services provided by such staff. </a:t>
                      </a:r>
                      <a:r>
                        <a:rPr lang="en-US" sz="900" b="0" kern="1200" dirty="0" smtClean="0">
                          <a:solidFill>
                            <a:schemeClr val="tx1"/>
                          </a:solidFill>
                          <a:effectLst/>
                          <a:latin typeface="+mn-lt"/>
                          <a:ea typeface="+mn-ea"/>
                          <a:cs typeface="+mn-cs"/>
                        </a:rPr>
                        <a:t>Compensation and benefits made up 38%</a:t>
                      </a:r>
                      <a:r>
                        <a:rPr lang="en-US" sz="900" b="0" kern="1200" baseline="0" dirty="0" smtClean="0">
                          <a:solidFill>
                            <a:schemeClr val="tx1"/>
                          </a:solidFill>
                          <a:effectLst/>
                          <a:latin typeface="+mn-lt"/>
                          <a:ea typeface="+mn-ea"/>
                          <a:cs typeface="+mn-cs"/>
                        </a:rPr>
                        <a:t> of </a:t>
                      </a:r>
                      <a:r>
                        <a:rPr lang="en-US" sz="900" b="0" kern="1200" dirty="0" smtClean="0">
                          <a:solidFill>
                            <a:schemeClr val="tx1"/>
                          </a:solidFill>
                          <a:effectLst/>
                          <a:latin typeface="+mn-lt"/>
                          <a:ea typeface="+mn-ea"/>
                          <a:cs typeface="+mn-cs"/>
                        </a:rPr>
                        <a:t>IT costs in 2014. </a:t>
                      </a:r>
                      <a:endParaRPr lang="en-US" sz="900" kern="1200" dirty="0" smtClean="0">
                        <a:solidFill>
                          <a:schemeClr val="tx1"/>
                        </a:solidFill>
                        <a:effectLst/>
                        <a:latin typeface="+mn-lt"/>
                        <a:ea typeface="+mn-ea"/>
                        <a:cs typeface="+mn-cs"/>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kern="1200" dirty="0" smtClean="0">
                          <a:solidFill>
                            <a:schemeClr val="tx1"/>
                          </a:solidFill>
                          <a:effectLst/>
                          <a:latin typeface="+mn-lt"/>
                          <a:ea typeface="+mn-ea"/>
                          <a:cs typeface="+mn-cs"/>
                        </a:rPr>
                        <a:t>Management has also noted that there are potential savings from downsizing the Operations support team (not yet quantified) and other shared services functions (accounting and legal support, with projected annual savings of approximately</a:t>
                      </a:r>
                      <a:r>
                        <a:rPr lang="en-US" sz="900" kern="1200" baseline="0" dirty="0" smtClean="0">
                          <a:solidFill>
                            <a:schemeClr val="tx1"/>
                          </a:solidFill>
                          <a:effectLst/>
                          <a:latin typeface="+mn-lt"/>
                          <a:ea typeface="+mn-ea"/>
                          <a:cs typeface="+mn-cs"/>
                        </a:rPr>
                        <a:t> </a:t>
                      </a:r>
                      <a:r>
                        <a:rPr lang="en-US" sz="900" kern="1200" dirty="0" smtClean="0">
                          <a:solidFill>
                            <a:schemeClr val="tx1"/>
                          </a:solidFill>
                          <a:effectLst/>
                          <a:latin typeface="+mn-lt"/>
                          <a:ea typeface="+mn-ea"/>
                          <a:cs typeface="+mn-cs"/>
                        </a:rPr>
                        <a:t>$3 million). </a:t>
                      </a:r>
                    </a:p>
                    <a:p>
                      <a:pPr marL="395288" marR="0" lvl="3"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kern="1200" dirty="0" smtClean="0">
                          <a:solidFill>
                            <a:schemeClr val="tx1"/>
                          </a:solidFill>
                          <a:effectLst/>
                          <a:latin typeface="+mn-lt"/>
                          <a:ea typeface="+mn-ea"/>
                          <a:cs typeface="+mn-cs"/>
                        </a:rPr>
                        <a:t>We recommend that you consider whether a downsized Operations team will have the capacity to handle back-end processes to support the growth in deal flow forecasted by Management. </a:t>
                      </a:r>
                    </a:p>
                    <a:p>
                      <a:pPr marL="395288" marR="0" lvl="3"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kern="1200" dirty="0" smtClean="0">
                          <a:solidFill>
                            <a:schemeClr val="tx1"/>
                          </a:solidFill>
                          <a:effectLst/>
                          <a:latin typeface="+mn-lt"/>
                          <a:ea typeface="+mn-ea"/>
                          <a:cs typeface="+mn-cs"/>
                        </a:rPr>
                        <a:t>More information is required as to the specific accounting and legal support provided by the Parent. Pending such information, we recommend that you consider the experience, competence and current commitments of the existing core legal and accounting teams as well as their ability to absorb additional responsibilities without headcount additions.</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Appendix 5</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r>
            </a:tbl>
          </a:graphicData>
        </a:graphic>
      </p:graphicFrame>
      <p:sp>
        <p:nvSpPr>
          <p:cNvPr id="13" name="Title 3"/>
          <p:cNvSpPr>
            <a:spLocks noGrp="1"/>
          </p:cNvSpPr>
          <p:nvPr>
            <p:ph type="title"/>
          </p:nvPr>
        </p:nvSpPr>
        <p:spPr>
          <a:xfrm>
            <a:off x="2123728" y="116632"/>
            <a:ext cx="6768752" cy="576064"/>
          </a:xfrm>
        </p:spPr>
        <p:txBody>
          <a:bodyPr/>
          <a:lstStyle/>
          <a:p>
            <a:r>
              <a:rPr lang="en-US" sz="1400" b="0" dirty="0">
                <a:solidFill>
                  <a:srgbClr val="747678"/>
                </a:solidFill>
              </a:rPr>
              <a:t>Executive summary</a:t>
            </a:r>
            <a:r>
              <a:rPr lang="en-US" dirty="0" smtClean="0"/>
              <a:t/>
            </a:r>
            <a:br>
              <a:rPr lang="en-US" dirty="0" smtClean="0"/>
            </a:br>
            <a:r>
              <a:rPr lang="en-US" dirty="0" smtClean="0"/>
              <a:t>Key findings: financial (6)</a:t>
            </a:r>
            <a:endParaRPr lang="en-US" dirty="0"/>
          </a:p>
        </p:txBody>
      </p:sp>
    </p:spTree>
    <p:extLst>
      <p:ext uri="{BB962C8B-B14F-4D97-AF65-F5344CB8AC3E}">
        <p14:creationId xmlns:p14="http://schemas.microsoft.com/office/powerpoint/2010/main" val="35216663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3"/>
          <p:cNvGraphicFramePr>
            <a:graphicFrameLocks noGrp="1"/>
          </p:cNvGraphicFramePr>
          <p:nvPr>
            <p:extLst>
              <p:ext uri="{D42A27DB-BD31-4B8C-83A1-F6EECF244321}">
                <p14:modId xmlns:p14="http://schemas.microsoft.com/office/powerpoint/2010/main" val="3403400865"/>
              </p:ext>
            </p:extLst>
          </p:nvPr>
        </p:nvGraphicFramePr>
        <p:xfrm>
          <a:off x="252046" y="1219200"/>
          <a:ext cx="8663354" cy="4508346"/>
        </p:xfrm>
        <a:graphic>
          <a:graphicData uri="http://schemas.openxmlformats.org/drawingml/2006/table">
            <a:tbl>
              <a:tblPr/>
              <a:tblGrid>
                <a:gridCol w="1043354"/>
                <a:gridCol w="6629400"/>
                <a:gridCol w="990600"/>
              </a:tblGrid>
              <a:tr h="376986">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1000" b="1" i="0" u="none" strike="noStrike" cap="none" normalizeH="0" baseline="0" dirty="0" smtClean="0">
                          <a:ln>
                            <a:noFill/>
                          </a:ln>
                          <a:solidFill>
                            <a:schemeClr val="bg1"/>
                          </a:solidFill>
                          <a:effectLst/>
                          <a:latin typeface="Arial"/>
                          <a:cs typeface="Arial" pitchFamily="34" charset="0"/>
                        </a:rPr>
                        <a:t>Finding</a:t>
                      </a:r>
                      <a:endParaRPr kumimoji="0" lang="en-US" sz="900" b="1" i="0" u="none" strike="noStrike" cap="none" normalizeH="0" baseline="0" dirty="0" smtClean="0">
                        <a:ln>
                          <a:noFill/>
                        </a:ln>
                        <a:solidFill>
                          <a:schemeClr val="bg1"/>
                        </a:solidFill>
                        <a:effectLst/>
                        <a:latin typeface="Arial"/>
                        <a:cs typeface="Arial" pitchFamily="34" charset="0"/>
                      </a:endParaRP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Summary observations</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Reference</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r>
              <a:tr h="1474040">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900" b="1" i="0" u="none" strike="noStrike" cap="none" normalizeH="0" baseline="0" dirty="0" smtClean="0">
                          <a:ln>
                            <a:noFill/>
                          </a:ln>
                          <a:solidFill>
                            <a:schemeClr val="accent4"/>
                          </a:solidFill>
                          <a:effectLst/>
                          <a:latin typeface="Arial"/>
                          <a:cs typeface="Arial" pitchFamily="34" charset="0"/>
                        </a:rPr>
                        <a:t>Originations</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0" lvl="2" indent="0">
                        <a:spcBef>
                          <a:spcPts val="600"/>
                        </a:spcBef>
                        <a:buClr>
                          <a:srgbClr val="97989A"/>
                        </a:buClr>
                        <a:buFont typeface="Arial" pitchFamily="34" charset="0"/>
                        <a:buNone/>
                        <a:defRPr/>
                      </a:pPr>
                      <a:r>
                        <a:rPr lang="en-US" sz="900" i="1" kern="1200" dirty="0" smtClean="0">
                          <a:solidFill>
                            <a:schemeClr val="tx1"/>
                          </a:solidFill>
                          <a:effectLst/>
                          <a:latin typeface="Arial" panose="020B0604020202020204" pitchFamily="34" charset="0"/>
                          <a:ea typeface="+mn-ea"/>
                          <a:cs typeface="Arial" panose="020B0604020202020204" pitchFamily="34" charset="0"/>
                        </a:rPr>
                        <a:t>Origination,</a:t>
                      </a:r>
                      <a:r>
                        <a:rPr lang="en-US" sz="900" i="1" kern="1200" baseline="0" dirty="0" smtClean="0">
                          <a:solidFill>
                            <a:schemeClr val="tx1"/>
                          </a:solidFill>
                          <a:effectLst/>
                          <a:latin typeface="Arial" panose="020B0604020202020204" pitchFamily="34" charset="0"/>
                          <a:ea typeface="+mn-ea"/>
                          <a:cs typeface="Arial" panose="020B0604020202020204" pitchFamily="34" charset="0"/>
                        </a:rPr>
                        <a:t> Syndication and New Business Returns</a:t>
                      </a:r>
                      <a:endParaRPr lang="en-US" sz="900" i="1" kern="1200" dirty="0" smtClean="0">
                        <a:solidFill>
                          <a:schemeClr val="tx1"/>
                        </a:solidFill>
                        <a:effectLst/>
                        <a:latin typeface="Arial" panose="020B0604020202020204" pitchFamily="34" charset="0"/>
                        <a:ea typeface="+mn-ea"/>
                        <a:cs typeface="Arial" panose="020B0604020202020204" pitchFamily="34" charset="0"/>
                      </a:endParaRPr>
                    </a:p>
                    <a:p>
                      <a:pPr marL="177800" lvl="2" indent="-177800">
                        <a:spcBef>
                          <a:spcPts val="600"/>
                        </a:spcBef>
                        <a:buClr>
                          <a:srgbClr val="97989A"/>
                        </a:buClr>
                        <a:buFont typeface="Arial" pitchFamily="34" charset="0"/>
                        <a:buChar char="■"/>
                        <a:defRPr/>
                      </a:pPr>
                      <a:r>
                        <a:rPr lang="en-US" sz="900" kern="1200" dirty="0" smtClean="0">
                          <a:solidFill>
                            <a:schemeClr val="tx1"/>
                          </a:solidFill>
                          <a:effectLst/>
                          <a:latin typeface="Arial" panose="020B0604020202020204" pitchFamily="34" charset="0"/>
                          <a:ea typeface="+mn-ea"/>
                          <a:cs typeface="Arial" panose="020B0604020202020204" pitchFamily="34" charset="0"/>
                        </a:rPr>
                        <a:t>O</a:t>
                      </a:r>
                      <a:r>
                        <a:rPr lang="en-US" sz="900" kern="1200" baseline="0" dirty="0" smtClean="0">
                          <a:solidFill>
                            <a:schemeClr val="tx1"/>
                          </a:solidFill>
                          <a:effectLst/>
                          <a:latin typeface="Arial" panose="020B0604020202020204" pitchFamily="34" charset="0"/>
                          <a:ea typeface="+mn-ea"/>
                          <a:cs typeface="Arial" panose="020B0604020202020204" pitchFamily="34" charset="0"/>
                        </a:rPr>
                        <a:t>riginations in 2014 totaled $17 billion, compared to $18.2 billion in 2013. Management has attributed declining origination volumes to Parent’s conservative interpretation of new leverage lending guidelines issued by banking regulators and a general slowdown in middle-market M&amp;A activity, particularly in Q1’14. </a:t>
                      </a:r>
                    </a:p>
                    <a:p>
                      <a:pPr marL="177800" lvl="2" indent="-177800">
                        <a:spcBef>
                          <a:spcPts val="600"/>
                        </a:spcBef>
                        <a:buClr>
                          <a:srgbClr val="97989A"/>
                        </a:buClr>
                        <a:buFont typeface="Arial" pitchFamily="34" charset="0"/>
                        <a:buChar char="■"/>
                        <a:defRPr/>
                      </a:pPr>
                      <a:r>
                        <a:rPr lang="en-US" sz="900" kern="1200" baseline="0" dirty="0" smtClean="0">
                          <a:solidFill>
                            <a:schemeClr val="tx1"/>
                          </a:solidFill>
                          <a:effectLst/>
                          <a:latin typeface="Arial" panose="020B0604020202020204" pitchFamily="34" charset="0"/>
                          <a:ea typeface="+mn-ea"/>
                          <a:cs typeface="Arial" panose="020B0604020202020204" pitchFamily="34" charset="0"/>
                        </a:rPr>
                        <a:t>Of the volume originated in 2014, 50%, or $8.5 billion, was syndicated, as compared to 43%, or $8.0 billion, in 2013. The increase in syndication volume drove higher upfront / skim fees for the year ($172 million in 2014 versus $158 million in 2013). During 2014, syndication volume was relatively consistent from Q1 to Q3 and higher in Q4, resulting in higher upfront / skim fees in the latter part of the year.</a:t>
                      </a:r>
                    </a:p>
                    <a:p>
                      <a:pPr marL="0" lvl="2" indent="0">
                        <a:spcBef>
                          <a:spcPts val="600"/>
                        </a:spcBef>
                        <a:buClr>
                          <a:srgbClr val="97989A"/>
                        </a:buClr>
                        <a:buFont typeface="Arial" pitchFamily="34" charset="0"/>
                        <a:buNone/>
                        <a:defRPr/>
                      </a:pPr>
                      <a:r>
                        <a:rPr lang="en-US" sz="900" b="0" kern="1200" baseline="0" dirty="0" smtClean="0">
                          <a:solidFill>
                            <a:schemeClr val="tx1"/>
                          </a:solidFill>
                          <a:effectLst/>
                          <a:latin typeface="Arial" panose="020B0604020202020204" pitchFamily="34" charset="0"/>
                          <a:ea typeface="+mn-ea"/>
                          <a:cs typeface="Arial" panose="020B0604020202020204" pitchFamily="34" charset="0"/>
                        </a:rPr>
                        <a:t>                                                                                                     </a:t>
                      </a:r>
                      <a:endParaRPr lang="en-US" sz="900" b="1" kern="1200" baseline="0" dirty="0" smtClean="0">
                        <a:solidFill>
                          <a:srgbClr val="414A8B"/>
                        </a:solidFill>
                        <a:effectLst/>
                        <a:latin typeface="Arial" panose="020B0604020202020204" pitchFamily="34" charset="0"/>
                        <a:ea typeface="+mn-ea"/>
                        <a:cs typeface="Arial" panose="020B0604020202020204" pitchFamily="34" charset="0"/>
                      </a:endParaRPr>
                    </a:p>
                    <a:p>
                      <a:pPr marL="177800" lvl="2" indent="-177800">
                        <a:spcBef>
                          <a:spcPts val="600"/>
                        </a:spcBef>
                        <a:buClr>
                          <a:srgbClr val="97989A"/>
                        </a:buClr>
                        <a:buFont typeface="Arial" pitchFamily="34" charset="0"/>
                        <a:buChar char="■"/>
                        <a:defRPr/>
                      </a:pPr>
                      <a:endParaRPr lang="en-US" sz="900" kern="1200" baseline="0" dirty="0" smtClean="0">
                        <a:solidFill>
                          <a:schemeClr val="tx1"/>
                        </a:solidFill>
                        <a:effectLst/>
                        <a:latin typeface="Arial" panose="020B0604020202020204" pitchFamily="34" charset="0"/>
                        <a:ea typeface="+mn-ea"/>
                        <a:cs typeface="Arial" panose="020B0604020202020204" pitchFamily="34" charset="0"/>
                      </a:endParaRPr>
                    </a:p>
                    <a:p>
                      <a:pPr marL="177800" lvl="2" indent="-177800">
                        <a:spcBef>
                          <a:spcPts val="600"/>
                        </a:spcBef>
                        <a:buClr>
                          <a:srgbClr val="97989A"/>
                        </a:buClr>
                        <a:buFont typeface="Arial" pitchFamily="34" charset="0"/>
                        <a:buChar char="■"/>
                        <a:defRPr/>
                      </a:pPr>
                      <a:endParaRPr lang="en-US" sz="900" kern="1200" baseline="0" dirty="0" smtClean="0">
                        <a:solidFill>
                          <a:schemeClr val="tx1"/>
                        </a:solidFill>
                        <a:effectLst/>
                        <a:latin typeface="Arial" panose="020B0604020202020204" pitchFamily="34" charset="0"/>
                        <a:ea typeface="+mn-ea"/>
                        <a:cs typeface="Arial" panose="020B0604020202020204" pitchFamily="34" charset="0"/>
                      </a:endParaRPr>
                    </a:p>
                    <a:p>
                      <a:pPr marL="177800" lvl="2" indent="-177800">
                        <a:spcBef>
                          <a:spcPts val="600"/>
                        </a:spcBef>
                        <a:buClr>
                          <a:srgbClr val="97989A"/>
                        </a:buClr>
                        <a:buFont typeface="Arial" pitchFamily="34" charset="0"/>
                        <a:buChar char="■"/>
                        <a:defRPr/>
                      </a:pPr>
                      <a:endParaRPr lang="en-US" sz="900" kern="1200" baseline="0" dirty="0" smtClean="0">
                        <a:solidFill>
                          <a:schemeClr val="tx1"/>
                        </a:solidFill>
                        <a:effectLst/>
                        <a:latin typeface="Arial" panose="020B0604020202020204" pitchFamily="34" charset="0"/>
                        <a:ea typeface="+mn-ea"/>
                        <a:cs typeface="Arial" panose="020B0604020202020204" pitchFamily="34" charset="0"/>
                      </a:endParaRPr>
                    </a:p>
                    <a:p>
                      <a:pPr marL="177800" lvl="2" indent="-177800">
                        <a:spcBef>
                          <a:spcPts val="600"/>
                        </a:spcBef>
                        <a:buClr>
                          <a:srgbClr val="97989A"/>
                        </a:buClr>
                        <a:buFont typeface="Arial" pitchFamily="34" charset="0"/>
                        <a:buChar char="■"/>
                        <a:defRPr/>
                      </a:pPr>
                      <a:endParaRPr lang="en-US" sz="900" kern="1200" dirty="0" smtClean="0">
                        <a:solidFill>
                          <a:schemeClr val="tx1"/>
                        </a:solidFill>
                        <a:effectLst/>
                        <a:latin typeface="Arial" panose="020B0604020202020204" pitchFamily="34" charset="0"/>
                        <a:ea typeface="+mn-ea"/>
                        <a:cs typeface="Arial" panose="020B0604020202020204" pitchFamily="34" charset="0"/>
                      </a:endParaRPr>
                    </a:p>
                    <a:p>
                      <a:pPr marL="177800" lvl="2" indent="-177800">
                        <a:spcBef>
                          <a:spcPts val="600"/>
                        </a:spcBef>
                        <a:buClr>
                          <a:srgbClr val="97989A"/>
                        </a:buClr>
                        <a:buFont typeface="Arial" pitchFamily="34" charset="0"/>
                        <a:buChar char="■"/>
                        <a:defRPr/>
                      </a:pPr>
                      <a:endParaRPr lang="en-US" sz="900" kern="1200" baseline="0" dirty="0" smtClean="0">
                        <a:solidFill>
                          <a:schemeClr val="tx1"/>
                        </a:solidFill>
                        <a:effectLst/>
                        <a:latin typeface="Arial" panose="020B0604020202020204" pitchFamily="34" charset="0"/>
                        <a:ea typeface="+mn-ea"/>
                        <a:cs typeface="Arial" panose="020B0604020202020204" pitchFamily="34" charset="0"/>
                      </a:endParaRPr>
                    </a:p>
                    <a:p>
                      <a:pPr marL="177800" lvl="2" indent="-177800">
                        <a:spcBef>
                          <a:spcPts val="600"/>
                        </a:spcBef>
                        <a:buClr>
                          <a:srgbClr val="97989A"/>
                        </a:buClr>
                        <a:buFont typeface="Arial" pitchFamily="34" charset="0"/>
                        <a:buChar char="■"/>
                        <a:defRPr/>
                      </a:pPr>
                      <a:endParaRPr lang="en-US" sz="900" kern="1200" baseline="0" dirty="0" smtClean="0">
                        <a:solidFill>
                          <a:schemeClr val="tx1"/>
                        </a:solidFill>
                        <a:effectLst/>
                        <a:latin typeface="Arial" panose="020B0604020202020204" pitchFamily="34" charset="0"/>
                        <a:ea typeface="+mn-ea"/>
                        <a:cs typeface="Arial" panose="020B0604020202020204" pitchFamily="34" charset="0"/>
                      </a:endParaRPr>
                    </a:p>
                    <a:p>
                      <a:pPr marL="177800" lvl="2" indent="-177800">
                        <a:spcBef>
                          <a:spcPts val="600"/>
                        </a:spcBef>
                        <a:buClr>
                          <a:srgbClr val="97989A"/>
                        </a:buClr>
                        <a:buFont typeface="Arial" pitchFamily="34" charset="0"/>
                        <a:buChar char="■"/>
                        <a:defRPr/>
                      </a:pPr>
                      <a:endParaRPr lang="en-US" sz="900" kern="1200" baseline="0" dirty="0" smtClean="0">
                        <a:solidFill>
                          <a:schemeClr val="tx1"/>
                        </a:solidFill>
                        <a:effectLst/>
                        <a:latin typeface="Arial" panose="020B0604020202020204" pitchFamily="34" charset="0"/>
                        <a:ea typeface="+mn-ea"/>
                        <a:cs typeface="Arial" panose="020B0604020202020204" pitchFamily="34" charset="0"/>
                      </a:endParaRPr>
                    </a:p>
                    <a:p>
                      <a:pPr marL="177800" lvl="2" indent="-177800">
                        <a:spcBef>
                          <a:spcPts val="600"/>
                        </a:spcBef>
                        <a:buClr>
                          <a:srgbClr val="97989A"/>
                        </a:buClr>
                        <a:buFont typeface="Arial" pitchFamily="34" charset="0"/>
                        <a:buChar char="■"/>
                        <a:defRPr/>
                      </a:pPr>
                      <a:endParaRPr lang="en-US" sz="900" kern="1200" baseline="0" dirty="0" smtClean="0">
                        <a:solidFill>
                          <a:schemeClr val="tx1"/>
                        </a:solidFill>
                        <a:effectLst/>
                        <a:latin typeface="Arial" panose="020B0604020202020204" pitchFamily="34" charset="0"/>
                        <a:ea typeface="+mn-ea"/>
                        <a:cs typeface="Arial" panose="020B0604020202020204" pitchFamily="34" charset="0"/>
                      </a:endParaRPr>
                    </a:p>
                    <a:p>
                      <a:pPr marL="177800" lvl="2" indent="-177800">
                        <a:spcBef>
                          <a:spcPts val="600"/>
                        </a:spcBef>
                        <a:buClr>
                          <a:srgbClr val="97989A"/>
                        </a:buClr>
                        <a:buFont typeface="Arial" pitchFamily="34" charset="0"/>
                        <a:buChar char="■"/>
                        <a:defRPr/>
                      </a:pPr>
                      <a:endParaRPr lang="en-US" sz="900" kern="1200" baseline="0" dirty="0" smtClean="0">
                        <a:solidFill>
                          <a:schemeClr val="tx1"/>
                        </a:solidFill>
                        <a:effectLst/>
                        <a:latin typeface="Arial" panose="020B0604020202020204" pitchFamily="34" charset="0"/>
                        <a:ea typeface="+mn-ea"/>
                        <a:cs typeface="Arial" panose="020B0604020202020204" pitchFamily="34" charset="0"/>
                      </a:endParaRPr>
                    </a:p>
                    <a:p>
                      <a:pPr marL="177800" lvl="2" indent="-177800">
                        <a:spcBef>
                          <a:spcPts val="600"/>
                        </a:spcBef>
                        <a:buClr>
                          <a:srgbClr val="97989A"/>
                        </a:buClr>
                        <a:buFont typeface="Arial" pitchFamily="34" charset="0"/>
                        <a:buChar char="■"/>
                        <a:defRPr/>
                      </a:pPr>
                      <a:endParaRPr lang="en-US" sz="900" kern="1200" baseline="0" dirty="0" smtClean="0">
                        <a:solidFill>
                          <a:schemeClr val="tx1"/>
                        </a:solidFill>
                        <a:effectLst/>
                        <a:latin typeface="Arial" panose="020B0604020202020204" pitchFamily="34" charset="0"/>
                        <a:ea typeface="+mn-ea"/>
                        <a:cs typeface="Arial" panose="020B0604020202020204" pitchFamily="34" charset="0"/>
                      </a:endParaRPr>
                    </a:p>
                    <a:p>
                      <a:pPr marL="177800" lvl="2" indent="-177800">
                        <a:spcBef>
                          <a:spcPts val="600"/>
                        </a:spcBef>
                        <a:buClr>
                          <a:srgbClr val="97989A"/>
                        </a:buClr>
                        <a:buFont typeface="Arial" pitchFamily="34" charset="0"/>
                        <a:buChar char="■"/>
                        <a:defRPr/>
                      </a:pPr>
                      <a:endParaRPr lang="en-US" sz="900" kern="1200" baseline="0" dirty="0" smtClean="0">
                        <a:solidFill>
                          <a:schemeClr val="tx1"/>
                        </a:solidFill>
                        <a:effectLst/>
                        <a:latin typeface="Arial" panose="020B0604020202020204" pitchFamily="34" charset="0"/>
                        <a:ea typeface="+mn-ea"/>
                        <a:cs typeface="Arial" panose="020B0604020202020204" pitchFamily="34" charset="0"/>
                      </a:endParaRPr>
                    </a:p>
                    <a:p>
                      <a:pPr marL="177800" lvl="2" indent="-177800">
                        <a:spcBef>
                          <a:spcPts val="600"/>
                        </a:spcBef>
                        <a:buClr>
                          <a:srgbClr val="97989A"/>
                        </a:buClr>
                        <a:buFont typeface="Arial" pitchFamily="34" charset="0"/>
                        <a:buChar char="■"/>
                        <a:defRPr/>
                      </a:pPr>
                      <a:endParaRPr lang="en-US" sz="900" kern="1200" baseline="0" dirty="0" smtClean="0">
                        <a:solidFill>
                          <a:schemeClr val="tx1"/>
                        </a:solidFill>
                        <a:effectLst/>
                        <a:latin typeface="Arial" panose="020B0604020202020204" pitchFamily="34" charset="0"/>
                        <a:ea typeface="+mn-ea"/>
                        <a:cs typeface="Arial" panose="020B0604020202020204" pitchFamily="34" charset="0"/>
                      </a:endParaRP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Appendix 6</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r>
            </a:tbl>
          </a:graphicData>
        </a:graphic>
      </p:graphicFrame>
      <p:sp>
        <p:nvSpPr>
          <p:cNvPr id="13" name="Title 3"/>
          <p:cNvSpPr>
            <a:spLocks noGrp="1"/>
          </p:cNvSpPr>
          <p:nvPr>
            <p:ph type="title"/>
          </p:nvPr>
        </p:nvSpPr>
        <p:spPr>
          <a:xfrm>
            <a:off x="2123728" y="116632"/>
            <a:ext cx="6768752" cy="576064"/>
          </a:xfrm>
        </p:spPr>
        <p:txBody>
          <a:bodyPr/>
          <a:lstStyle/>
          <a:p>
            <a:r>
              <a:rPr lang="en-US" sz="1400" b="0" dirty="0">
                <a:solidFill>
                  <a:srgbClr val="747678"/>
                </a:solidFill>
              </a:rPr>
              <a:t>Executive summary</a:t>
            </a:r>
            <a:r>
              <a:rPr lang="en-US" dirty="0" smtClean="0"/>
              <a:t/>
            </a:r>
            <a:br>
              <a:rPr lang="en-US" dirty="0" smtClean="0"/>
            </a:br>
            <a:r>
              <a:rPr lang="en-US" dirty="0" smtClean="0"/>
              <a:t>Key findings: financial (7)</a:t>
            </a:r>
            <a:endParaRPr lang="en-US" dirty="0"/>
          </a:p>
        </p:txBody>
      </p:sp>
      <p:pic>
        <p:nvPicPr>
          <p:cNvPr id="4" name="Picture 3"/>
          <p:cNvPicPr>
            <a:picLocks noChangeAspect="1"/>
          </p:cNvPicPr>
          <p:nvPr/>
        </p:nvPicPr>
        <p:blipFill>
          <a:blip r:embed="rId3"/>
          <a:stretch>
            <a:fillRect/>
          </a:stretch>
        </p:blipFill>
        <p:spPr>
          <a:xfrm>
            <a:off x="1336954" y="2835288"/>
            <a:ext cx="4545149" cy="3641712"/>
          </a:xfrm>
          <a:prstGeom prst="rect">
            <a:avLst/>
          </a:prstGeom>
        </p:spPr>
      </p:pic>
      <p:sp>
        <p:nvSpPr>
          <p:cNvPr id="7" name="TextBox 6"/>
          <p:cNvSpPr txBox="1"/>
          <p:nvPr/>
        </p:nvSpPr>
        <p:spPr>
          <a:xfrm>
            <a:off x="1411427" y="5440680"/>
            <a:ext cx="2857500" cy="152399"/>
          </a:xfrm>
          <a:prstGeom prst="rect">
            <a:avLst/>
          </a:prstGeom>
          <a:noFill/>
        </p:spPr>
        <p:txBody>
          <a:bodyPr wrap="square" lIns="54000" tIns="54000" rIns="54000" bIns="54000" rtlCol="0">
            <a:noAutofit/>
          </a:bodyPr>
          <a:lstStyle/>
          <a:p>
            <a:r>
              <a:rPr lang="en-US" sz="600" i="1" dirty="0" smtClean="0">
                <a:latin typeface="Arial" pitchFamily="34" charset="0"/>
                <a:cs typeface="Arial" pitchFamily="34" charset="0"/>
              </a:rPr>
              <a:t>Source: 6.6.1-6.6.6 Quarterly Close Packages; KPMG analysis</a:t>
            </a:r>
          </a:p>
        </p:txBody>
      </p:sp>
      <p:sp>
        <p:nvSpPr>
          <p:cNvPr id="8" name="TextBox 7"/>
          <p:cNvSpPr txBox="1"/>
          <p:nvPr/>
        </p:nvSpPr>
        <p:spPr>
          <a:xfrm>
            <a:off x="4417873" y="5445760"/>
            <a:ext cx="2857500" cy="152399"/>
          </a:xfrm>
          <a:prstGeom prst="rect">
            <a:avLst/>
          </a:prstGeom>
          <a:noFill/>
        </p:spPr>
        <p:txBody>
          <a:bodyPr wrap="square" lIns="54000" tIns="54000" rIns="54000" bIns="54000" rtlCol="0">
            <a:noAutofit/>
          </a:bodyPr>
          <a:lstStyle/>
          <a:p>
            <a:r>
              <a:rPr lang="en-US" sz="600" i="1" dirty="0" smtClean="0">
                <a:latin typeface="Arial" pitchFamily="34" charset="0"/>
                <a:cs typeface="Arial" pitchFamily="34" charset="0"/>
              </a:rPr>
              <a:t>Source: 6.6.1-6.6.6 Quarterly Close Packages. </a:t>
            </a:r>
          </a:p>
        </p:txBody>
      </p:sp>
      <p:pic>
        <p:nvPicPr>
          <p:cNvPr id="2" name="Picture 1"/>
          <p:cNvPicPr>
            <a:picLocks noChangeAspect="1"/>
          </p:cNvPicPr>
          <p:nvPr/>
        </p:nvPicPr>
        <p:blipFill>
          <a:blip r:embed="rId4"/>
          <a:stretch>
            <a:fillRect/>
          </a:stretch>
        </p:blipFill>
        <p:spPr>
          <a:xfrm>
            <a:off x="4405708" y="2819400"/>
            <a:ext cx="3671492" cy="3701062"/>
          </a:xfrm>
          <a:prstGeom prst="rect">
            <a:avLst/>
          </a:prstGeom>
        </p:spPr>
      </p:pic>
    </p:spTree>
    <p:extLst>
      <p:ext uri="{BB962C8B-B14F-4D97-AF65-F5344CB8AC3E}">
        <p14:creationId xmlns:p14="http://schemas.microsoft.com/office/powerpoint/2010/main" val="40485319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3"/>
          <p:cNvGraphicFramePr>
            <a:graphicFrameLocks noGrp="1"/>
          </p:cNvGraphicFramePr>
          <p:nvPr>
            <p:extLst>
              <p:ext uri="{D42A27DB-BD31-4B8C-83A1-F6EECF244321}">
                <p14:modId xmlns:p14="http://schemas.microsoft.com/office/powerpoint/2010/main" val="157739767"/>
              </p:ext>
            </p:extLst>
          </p:nvPr>
        </p:nvGraphicFramePr>
        <p:xfrm>
          <a:off x="252046" y="1219200"/>
          <a:ext cx="8663354" cy="4919826"/>
        </p:xfrm>
        <a:graphic>
          <a:graphicData uri="http://schemas.openxmlformats.org/drawingml/2006/table">
            <a:tbl>
              <a:tblPr/>
              <a:tblGrid>
                <a:gridCol w="1043354"/>
                <a:gridCol w="6629400"/>
                <a:gridCol w="990600"/>
              </a:tblGrid>
              <a:tr h="376986">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1000" b="1" i="0" u="none" strike="noStrike" cap="none" normalizeH="0" baseline="0" dirty="0" smtClean="0">
                          <a:ln>
                            <a:noFill/>
                          </a:ln>
                          <a:solidFill>
                            <a:schemeClr val="bg1"/>
                          </a:solidFill>
                          <a:effectLst/>
                          <a:latin typeface="Arial"/>
                          <a:cs typeface="Arial" pitchFamily="34" charset="0"/>
                        </a:rPr>
                        <a:t>Finding</a:t>
                      </a:r>
                      <a:endParaRPr kumimoji="0" lang="en-US" sz="900" b="1" i="0" u="none" strike="noStrike" cap="none" normalizeH="0" baseline="0" dirty="0" smtClean="0">
                        <a:ln>
                          <a:noFill/>
                        </a:ln>
                        <a:solidFill>
                          <a:schemeClr val="bg1"/>
                        </a:solidFill>
                        <a:effectLst/>
                        <a:latin typeface="Arial"/>
                        <a:cs typeface="Arial" pitchFamily="34" charset="0"/>
                      </a:endParaRP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Summary observations</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Reference</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r>
              <a:tr h="1474040">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900" b="1" i="0" u="none" strike="noStrike" cap="none" normalizeH="0" baseline="0" dirty="0" smtClean="0">
                          <a:ln>
                            <a:noFill/>
                          </a:ln>
                          <a:solidFill>
                            <a:schemeClr val="accent4"/>
                          </a:solidFill>
                          <a:effectLst/>
                          <a:latin typeface="Arial"/>
                          <a:cs typeface="Arial" pitchFamily="34" charset="0"/>
                        </a:rPr>
                        <a:t>Originations (continued)</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0" marR="0" lvl="2"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lang="en-US" sz="900" i="1" kern="1200" dirty="0" smtClean="0">
                          <a:solidFill>
                            <a:schemeClr val="tx1"/>
                          </a:solidFill>
                          <a:effectLst/>
                          <a:latin typeface="Arial" panose="020B0604020202020204" pitchFamily="34" charset="0"/>
                          <a:ea typeface="+mn-ea"/>
                          <a:cs typeface="Arial" panose="020B0604020202020204" pitchFamily="34" charset="0"/>
                        </a:rPr>
                        <a:t>Origination,</a:t>
                      </a:r>
                      <a:r>
                        <a:rPr lang="en-US" sz="900" i="1" kern="1200" baseline="0" dirty="0" smtClean="0">
                          <a:solidFill>
                            <a:schemeClr val="tx1"/>
                          </a:solidFill>
                          <a:effectLst/>
                          <a:latin typeface="Arial" panose="020B0604020202020204" pitchFamily="34" charset="0"/>
                          <a:ea typeface="+mn-ea"/>
                          <a:cs typeface="Arial" panose="020B0604020202020204" pitchFamily="34" charset="0"/>
                        </a:rPr>
                        <a:t> Syndication and New Business Returns (continued)</a:t>
                      </a:r>
                      <a:endParaRPr lang="en-US" sz="900" i="1" kern="1200" dirty="0" smtClean="0">
                        <a:solidFill>
                          <a:schemeClr val="tx1"/>
                        </a:solidFill>
                        <a:effectLst/>
                        <a:latin typeface="Arial" panose="020B0604020202020204" pitchFamily="34" charset="0"/>
                        <a:ea typeface="+mn-ea"/>
                        <a:cs typeface="Arial" panose="020B0604020202020204" pitchFamily="34" charset="0"/>
                      </a:endParaRPr>
                    </a:p>
                    <a:p>
                      <a:pPr marL="177800" lvl="2" indent="-177800">
                        <a:spcBef>
                          <a:spcPts val="600"/>
                        </a:spcBef>
                        <a:buClr>
                          <a:srgbClr val="97989A"/>
                        </a:buClr>
                        <a:buFont typeface="Arial" pitchFamily="34" charset="0"/>
                        <a:buChar char="■"/>
                        <a:defRPr/>
                      </a:pPr>
                      <a:r>
                        <a:rPr lang="en-US" sz="900" kern="1200" dirty="0" smtClean="0">
                          <a:solidFill>
                            <a:schemeClr val="tx1"/>
                          </a:solidFill>
                          <a:effectLst/>
                          <a:latin typeface="Arial" panose="020B0604020202020204" pitchFamily="34" charset="0"/>
                          <a:ea typeface="+mn-ea"/>
                          <a:cs typeface="Arial" panose="020B0604020202020204" pitchFamily="34" charset="0"/>
                        </a:rPr>
                        <a:t>Target has experienced a gradual decline in NBM (defined as net interest</a:t>
                      </a:r>
                      <a:r>
                        <a:rPr lang="en-US" sz="900" kern="1200" baseline="0" dirty="0" smtClean="0">
                          <a:solidFill>
                            <a:schemeClr val="tx1"/>
                          </a:solidFill>
                          <a:effectLst/>
                          <a:latin typeface="Arial" panose="020B0604020202020204" pitchFamily="34" charset="0"/>
                          <a:ea typeface="+mn-ea"/>
                          <a:cs typeface="Arial" panose="020B0604020202020204" pitchFamily="34" charset="0"/>
                        </a:rPr>
                        <a:t> margin on new business divided by average net investment), from 4.61% in Q1’12 to 3.40% in Q1’15, with a corresponding decline in overall ROI. This decline is consistent with the shift toward lower-priced SSLP/MMGP loans (CFL NBM has been essentially flat). The exception to this trend was in Q1’14, when NBM increased 81 bps quarter-over-quarter (from 3.46% in Q4’13 to 4.27% in Q1’14). Management stated that this break was due to unusually low volumes in Q1’14 and the distorting impact of a few deals that were pricing outliers. Given that the quarter had the lowest origination volume of any quarter over the historical period ($2.2 billion, with $0.7 billion of on-book volume), the impact of this spike on portfolio ROI was minimal (an increase of 4 basis points).</a:t>
                      </a:r>
                    </a:p>
                    <a:p>
                      <a:pPr marL="177800" lvl="2" indent="-177800">
                        <a:spcBef>
                          <a:spcPts val="600"/>
                        </a:spcBef>
                        <a:buClr>
                          <a:srgbClr val="97989A"/>
                        </a:buClr>
                        <a:buFont typeface="Arial" pitchFamily="34" charset="0"/>
                        <a:buChar char="■"/>
                        <a:defRPr/>
                      </a:pPr>
                      <a:endParaRPr lang="en-US" sz="900" kern="1200" baseline="0" dirty="0" smtClean="0">
                        <a:solidFill>
                          <a:schemeClr val="tx1"/>
                        </a:solidFill>
                        <a:effectLst/>
                        <a:latin typeface="Arial" panose="020B0604020202020204" pitchFamily="34" charset="0"/>
                        <a:ea typeface="+mn-ea"/>
                        <a:cs typeface="Arial" panose="020B0604020202020204" pitchFamily="34" charset="0"/>
                      </a:endParaRPr>
                    </a:p>
                    <a:p>
                      <a:pPr marL="177800" lvl="2" indent="-177800">
                        <a:spcBef>
                          <a:spcPts val="600"/>
                        </a:spcBef>
                        <a:buClr>
                          <a:srgbClr val="97989A"/>
                        </a:buClr>
                        <a:buFont typeface="Arial" pitchFamily="34" charset="0"/>
                        <a:buChar char="■"/>
                        <a:defRPr/>
                      </a:pPr>
                      <a:endParaRPr lang="en-US" sz="900" kern="1200" baseline="0" dirty="0" smtClean="0">
                        <a:solidFill>
                          <a:schemeClr val="tx1"/>
                        </a:solidFill>
                        <a:effectLst/>
                        <a:latin typeface="Arial" panose="020B0604020202020204" pitchFamily="34" charset="0"/>
                        <a:ea typeface="+mn-ea"/>
                        <a:cs typeface="Arial" panose="020B0604020202020204" pitchFamily="34" charset="0"/>
                      </a:endParaRPr>
                    </a:p>
                    <a:p>
                      <a:pPr marL="177800" lvl="2" indent="-177800">
                        <a:spcBef>
                          <a:spcPts val="600"/>
                        </a:spcBef>
                        <a:buClr>
                          <a:srgbClr val="97989A"/>
                        </a:buClr>
                        <a:buFont typeface="Arial" pitchFamily="34" charset="0"/>
                        <a:buChar char="■"/>
                        <a:defRPr/>
                      </a:pPr>
                      <a:endParaRPr lang="en-US" sz="900" kern="1200" baseline="0" dirty="0" smtClean="0">
                        <a:solidFill>
                          <a:schemeClr val="tx1"/>
                        </a:solidFill>
                        <a:effectLst/>
                        <a:latin typeface="Arial" panose="020B0604020202020204" pitchFamily="34" charset="0"/>
                        <a:ea typeface="+mn-ea"/>
                        <a:cs typeface="Arial" panose="020B0604020202020204" pitchFamily="34" charset="0"/>
                      </a:endParaRPr>
                    </a:p>
                    <a:p>
                      <a:pPr marL="177800" lvl="2" indent="-177800">
                        <a:spcBef>
                          <a:spcPts val="600"/>
                        </a:spcBef>
                        <a:buClr>
                          <a:srgbClr val="97989A"/>
                        </a:buClr>
                        <a:buFont typeface="Arial" pitchFamily="34" charset="0"/>
                        <a:buChar char="■"/>
                        <a:defRPr/>
                      </a:pPr>
                      <a:endParaRPr lang="en-US" sz="900" kern="1200" baseline="0" dirty="0" smtClean="0">
                        <a:solidFill>
                          <a:schemeClr val="tx1"/>
                        </a:solidFill>
                        <a:effectLst/>
                        <a:latin typeface="Arial" panose="020B0604020202020204" pitchFamily="34" charset="0"/>
                        <a:ea typeface="+mn-ea"/>
                        <a:cs typeface="Arial" panose="020B0604020202020204" pitchFamily="34" charset="0"/>
                      </a:endParaRPr>
                    </a:p>
                    <a:p>
                      <a:pPr marL="177800" lvl="2" indent="-177800">
                        <a:spcBef>
                          <a:spcPts val="600"/>
                        </a:spcBef>
                        <a:buClr>
                          <a:srgbClr val="97989A"/>
                        </a:buClr>
                        <a:buFont typeface="Arial" pitchFamily="34" charset="0"/>
                        <a:buChar char="■"/>
                        <a:defRPr/>
                      </a:pPr>
                      <a:endParaRPr lang="en-US" sz="900" kern="1200" baseline="0" dirty="0" smtClean="0">
                        <a:solidFill>
                          <a:schemeClr val="tx1"/>
                        </a:solidFill>
                        <a:effectLst/>
                        <a:latin typeface="Arial" panose="020B0604020202020204" pitchFamily="34" charset="0"/>
                        <a:ea typeface="+mn-ea"/>
                        <a:cs typeface="Arial" panose="020B0604020202020204" pitchFamily="34" charset="0"/>
                      </a:endParaRPr>
                    </a:p>
                    <a:p>
                      <a:pPr marL="177800" lvl="2" indent="-177800">
                        <a:spcBef>
                          <a:spcPts val="600"/>
                        </a:spcBef>
                        <a:buClr>
                          <a:srgbClr val="97989A"/>
                        </a:buClr>
                        <a:buFont typeface="Arial" pitchFamily="34" charset="0"/>
                        <a:buChar char="■"/>
                        <a:defRPr/>
                      </a:pPr>
                      <a:endParaRPr lang="en-US" sz="900" kern="1200" baseline="0" dirty="0" smtClean="0">
                        <a:solidFill>
                          <a:schemeClr val="tx1"/>
                        </a:solidFill>
                        <a:effectLst/>
                        <a:latin typeface="Arial" panose="020B0604020202020204" pitchFamily="34" charset="0"/>
                        <a:ea typeface="+mn-ea"/>
                        <a:cs typeface="Arial" panose="020B0604020202020204" pitchFamily="34" charset="0"/>
                      </a:endParaRPr>
                    </a:p>
                    <a:p>
                      <a:pPr marL="177800" lvl="2" indent="-177800">
                        <a:spcBef>
                          <a:spcPts val="600"/>
                        </a:spcBef>
                        <a:buClr>
                          <a:srgbClr val="97989A"/>
                        </a:buClr>
                        <a:buFont typeface="Arial" pitchFamily="34" charset="0"/>
                        <a:buChar char="■"/>
                        <a:defRPr/>
                      </a:pPr>
                      <a:endParaRPr lang="en-US" sz="900" kern="1200" baseline="0" dirty="0" smtClean="0">
                        <a:solidFill>
                          <a:schemeClr val="tx1"/>
                        </a:solidFill>
                        <a:effectLst/>
                        <a:latin typeface="Arial" panose="020B0604020202020204" pitchFamily="34" charset="0"/>
                        <a:ea typeface="+mn-ea"/>
                        <a:cs typeface="Arial" panose="020B0604020202020204" pitchFamily="34" charset="0"/>
                      </a:endParaRPr>
                    </a:p>
                    <a:p>
                      <a:pPr marL="177800" lvl="2" indent="-177800">
                        <a:spcBef>
                          <a:spcPts val="600"/>
                        </a:spcBef>
                        <a:buClr>
                          <a:srgbClr val="97989A"/>
                        </a:buClr>
                        <a:buFont typeface="Arial" pitchFamily="34" charset="0"/>
                        <a:buChar char="■"/>
                        <a:defRPr/>
                      </a:pPr>
                      <a:endParaRPr lang="en-US" sz="900" kern="1200" baseline="0" dirty="0" smtClean="0">
                        <a:solidFill>
                          <a:schemeClr val="tx1"/>
                        </a:solidFill>
                        <a:effectLst/>
                        <a:latin typeface="Arial" panose="020B0604020202020204" pitchFamily="34" charset="0"/>
                        <a:ea typeface="+mn-ea"/>
                        <a:cs typeface="Arial" panose="020B0604020202020204" pitchFamily="34" charset="0"/>
                      </a:endParaRPr>
                    </a:p>
                    <a:p>
                      <a:pPr marL="177800" lvl="2" indent="-177800">
                        <a:spcBef>
                          <a:spcPts val="600"/>
                        </a:spcBef>
                        <a:buClr>
                          <a:srgbClr val="97989A"/>
                        </a:buClr>
                        <a:buFont typeface="Arial" pitchFamily="34" charset="0"/>
                        <a:buChar char="■"/>
                        <a:defRPr/>
                      </a:pPr>
                      <a:endParaRPr lang="en-US" sz="900" kern="1200" baseline="0" dirty="0" smtClean="0">
                        <a:solidFill>
                          <a:schemeClr val="tx1"/>
                        </a:solidFill>
                        <a:effectLst/>
                        <a:latin typeface="Arial" panose="020B0604020202020204" pitchFamily="34" charset="0"/>
                        <a:ea typeface="+mn-ea"/>
                        <a:cs typeface="Arial" panose="020B0604020202020204" pitchFamily="34" charset="0"/>
                      </a:endParaRPr>
                    </a:p>
                    <a:p>
                      <a:pPr marL="177800" lvl="2" indent="-177800">
                        <a:spcBef>
                          <a:spcPts val="600"/>
                        </a:spcBef>
                        <a:buClr>
                          <a:srgbClr val="97989A"/>
                        </a:buClr>
                        <a:buFont typeface="Arial" pitchFamily="34" charset="0"/>
                        <a:buChar char="■"/>
                        <a:defRPr/>
                      </a:pPr>
                      <a:endParaRPr lang="en-US" sz="900" kern="1200" baseline="0" dirty="0" smtClean="0">
                        <a:solidFill>
                          <a:schemeClr val="tx1"/>
                        </a:solidFill>
                        <a:effectLst/>
                        <a:latin typeface="Arial" panose="020B0604020202020204" pitchFamily="34" charset="0"/>
                        <a:ea typeface="+mn-ea"/>
                        <a:cs typeface="Arial" panose="020B0604020202020204" pitchFamily="34" charset="0"/>
                      </a:endParaRPr>
                    </a:p>
                    <a:p>
                      <a:pPr marL="177800" lvl="2" indent="-177800">
                        <a:spcBef>
                          <a:spcPts val="600"/>
                        </a:spcBef>
                        <a:buClr>
                          <a:srgbClr val="97989A"/>
                        </a:buClr>
                        <a:buFont typeface="Arial" pitchFamily="34" charset="0"/>
                        <a:buChar char="■"/>
                        <a:defRPr/>
                      </a:pPr>
                      <a:endParaRPr lang="en-US" sz="900" kern="1200" baseline="0" dirty="0" smtClean="0">
                        <a:solidFill>
                          <a:schemeClr val="tx1"/>
                        </a:solidFill>
                        <a:effectLst/>
                        <a:latin typeface="Arial" panose="020B0604020202020204" pitchFamily="34" charset="0"/>
                        <a:ea typeface="+mn-ea"/>
                        <a:cs typeface="Arial" panose="020B0604020202020204" pitchFamily="34" charset="0"/>
                      </a:endParaRPr>
                    </a:p>
                    <a:p>
                      <a:pPr marL="177800" lvl="2" indent="-177800">
                        <a:spcBef>
                          <a:spcPts val="600"/>
                        </a:spcBef>
                        <a:buClr>
                          <a:srgbClr val="97989A"/>
                        </a:buClr>
                        <a:buFont typeface="Arial" pitchFamily="34" charset="0"/>
                        <a:buChar char="■"/>
                        <a:defRPr/>
                      </a:pPr>
                      <a:endParaRPr lang="en-US" sz="900" kern="1200" baseline="0" dirty="0" smtClean="0">
                        <a:solidFill>
                          <a:schemeClr val="tx1"/>
                        </a:solidFill>
                        <a:effectLst/>
                        <a:latin typeface="Arial" panose="020B0604020202020204" pitchFamily="34" charset="0"/>
                        <a:ea typeface="+mn-ea"/>
                        <a:cs typeface="Arial" panose="020B0604020202020204" pitchFamily="34" charset="0"/>
                      </a:endParaRPr>
                    </a:p>
                    <a:p>
                      <a:pPr marL="177800" lvl="2" indent="-177800">
                        <a:spcBef>
                          <a:spcPts val="600"/>
                        </a:spcBef>
                        <a:buClr>
                          <a:srgbClr val="97989A"/>
                        </a:buClr>
                        <a:buFont typeface="Arial" pitchFamily="34" charset="0"/>
                        <a:buChar char="■"/>
                        <a:defRPr/>
                      </a:pPr>
                      <a:endParaRPr lang="en-US" sz="900" kern="1200" baseline="0" dirty="0" smtClean="0">
                        <a:solidFill>
                          <a:schemeClr val="tx1"/>
                        </a:solidFill>
                        <a:effectLst/>
                        <a:latin typeface="Arial" panose="020B0604020202020204" pitchFamily="34" charset="0"/>
                        <a:ea typeface="+mn-ea"/>
                        <a:cs typeface="Arial" panose="020B0604020202020204" pitchFamily="34" charset="0"/>
                      </a:endParaRPr>
                    </a:p>
                    <a:p>
                      <a:pPr marL="177800" lvl="2" indent="-177800">
                        <a:spcBef>
                          <a:spcPts val="600"/>
                        </a:spcBef>
                        <a:buClr>
                          <a:srgbClr val="97989A"/>
                        </a:buClr>
                        <a:buFont typeface="Arial" pitchFamily="34" charset="0"/>
                        <a:buChar char="■"/>
                        <a:defRPr/>
                      </a:pPr>
                      <a:r>
                        <a:rPr lang="en-US" sz="900" kern="1200" baseline="0" dirty="0" smtClean="0">
                          <a:solidFill>
                            <a:schemeClr val="tx1"/>
                          </a:solidFill>
                          <a:effectLst/>
                          <a:latin typeface="Arial" panose="020B0604020202020204" pitchFamily="34" charset="0"/>
                          <a:ea typeface="+mn-ea"/>
                          <a:cs typeface="Arial" panose="020B0604020202020204" pitchFamily="34" charset="0"/>
                        </a:rPr>
                        <a:t>In determining the profit-maximizing split between on-book volume and syndication on a go-forward basis, we recommend that in addition to the credit risk associated with retaining commitments on-book, you consider the fact that while yields are declining, they represent an ongoing source of revenue compared to one-time skim / upfront fees on syndications.</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Appendix 6</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r>
            </a:tbl>
          </a:graphicData>
        </a:graphic>
      </p:graphicFrame>
      <p:sp>
        <p:nvSpPr>
          <p:cNvPr id="13" name="Title 3"/>
          <p:cNvSpPr>
            <a:spLocks noGrp="1"/>
          </p:cNvSpPr>
          <p:nvPr>
            <p:ph type="title"/>
          </p:nvPr>
        </p:nvSpPr>
        <p:spPr>
          <a:xfrm>
            <a:off x="2123728" y="116632"/>
            <a:ext cx="6768752" cy="576064"/>
          </a:xfrm>
        </p:spPr>
        <p:txBody>
          <a:bodyPr/>
          <a:lstStyle/>
          <a:p>
            <a:r>
              <a:rPr lang="en-US" sz="1400" b="0" dirty="0">
                <a:solidFill>
                  <a:srgbClr val="747678"/>
                </a:solidFill>
              </a:rPr>
              <a:t>Executive summary</a:t>
            </a:r>
            <a:r>
              <a:rPr lang="en-US" dirty="0" smtClean="0"/>
              <a:t/>
            </a:r>
            <a:br>
              <a:rPr lang="en-US" dirty="0" smtClean="0"/>
            </a:br>
            <a:r>
              <a:rPr lang="en-US" dirty="0" smtClean="0"/>
              <a:t>Key findings: financial (</a:t>
            </a:r>
            <a:r>
              <a:rPr lang="en-US" dirty="0"/>
              <a:t>8</a:t>
            </a:r>
            <a:r>
              <a:rPr lang="en-US" dirty="0" smtClean="0"/>
              <a:t>)</a:t>
            </a:r>
            <a:endParaRPr lang="en-US" dirty="0"/>
          </a:p>
        </p:txBody>
      </p:sp>
      <p:sp>
        <p:nvSpPr>
          <p:cNvPr id="6" name="TextBox 5"/>
          <p:cNvSpPr txBox="1"/>
          <p:nvPr/>
        </p:nvSpPr>
        <p:spPr>
          <a:xfrm>
            <a:off x="2286000" y="5562600"/>
            <a:ext cx="1805940" cy="215133"/>
          </a:xfrm>
          <a:prstGeom prst="rect">
            <a:avLst/>
          </a:prstGeom>
          <a:noFill/>
        </p:spPr>
        <p:txBody>
          <a:bodyPr wrap="square" lIns="54000" tIns="54000" rIns="54000" bIns="54000" rtlCol="0">
            <a:noAutofit/>
          </a:bodyPr>
          <a:lstStyle/>
          <a:p>
            <a:r>
              <a:rPr lang="en-US" sz="600" i="1" dirty="0" smtClean="0">
                <a:latin typeface="Arial" pitchFamily="34" charset="0"/>
                <a:cs typeface="Arial" pitchFamily="34" charset="0"/>
              </a:rPr>
              <a:t>Source: 6.6.1-6.6.6 Quarterly Close Packages. </a:t>
            </a:r>
          </a:p>
        </p:txBody>
      </p:sp>
      <p:pic>
        <p:nvPicPr>
          <p:cNvPr id="2" name="Picture 1"/>
          <p:cNvPicPr>
            <a:picLocks noChangeAspect="1"/>
          </p:cNvPicPr>
          <p:nvPr/>
        </p:nvPicPr>
        <p:blipFill>
          <a:blip r:embed="rId3"/>
          <a:stretch>
            <a:fillRect/>
          </a:stretch>
        </p:blipFill>
        <p:spPr>
          <a:xfrm>
            <a:off x="2139324" y="2897771"/>
            <a:ext cx="4539050" cy="3640190"/>
          </a:xfrm>
          <a:prstGeom prst="rect">
            <a:avLst/>
          </a:prstGeom>
        </p:spPr>
      </p:pic>
    </p:spTree>
    <p:extLst>
      <p:ext uri="{BB962C8B-B14F-4D97-AF65-F5344CB8AC3E}">
        <p14:creationId xmlns:p14="http://schemas.microsoft.com/office/powerpoint/2010/main" val="377003065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3"/>
          <p:cNvGraphicFramePr>
            <a:graphicFrameLocks noGrp="1"/>
          </p:cNvGraphicFramePr>
          <p:nvPr>
            <p:extLst>
              <p:ext uri="{D42A27DB-BD31-4B8C-83A1-F6EECF244321}">
                <p14:modId xmlns:p14="http://schemas.microsoft.com/office/powerpoint/2010/main" val="3775582604"/>
              </p:ext>
            </p:extLst>
          </p:nvPr>
        </p:nvGraphicFramePr>
        <p:xfrm>
          <a:off x="252046" y="1219200"/>
          <a:ext cx="8663354" cy="4645506"/>
        </p:xfrm>
        <a:graphic>
          <a:graphicData uri="http://schemas.openxmlformats.org/drawingml/2006/table">
            <a:tbl>
              <a:tblPr/>
              <a:tblGrid>
                <a:gridCol w="1043354"/>
                <a:gridCol w="6629400"/>
                <a:gridCol w="990600"/>
              </a:tblGrid>
              <a:tr h="376986">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1000" b="1" i="0" u="none" strike="noStrike" cap="none" normalizeH="0" baseline="0" dirty="0" smtClean="0">
                          <a:ln>
                            <a:noFill/>
                          </a:ln>
                          <a:solidFill>
                            <a:schemeClr val="bg1"/>
                          </a:solidFill>
                          <a:effectLst/>
                          <a:latin typeface="Arial"/>
                          <a:cs typeface="Arial" pitchFamily="34" charset="0"/>
                        </a:rPr>
                        <a:t>Finding</a:t>
                      </a:r>
                      <a:endParaRPr kumimoji="0" lang="en-US" sz="900" b="1" i="0" u="none" strike="noStrike" cap="none" normalizeH="0" baseline="0" dirty="0" smtClean="0">
                        <a:ln>
                          <a:noFill/>
                        </a:ln>
                        <a:solidFill>
                          <a:schemeClr val="bg1"/>
                        </a:solidFill>
                        <a:effectLst/>
                        <a:latin typeface="Arial"/>
                        <a:cs typeface="Arial" pitchFamily="34" charset="0"/>
                      </a:endParaRP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Summary observations</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Reference</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r>
              <a:tr h="1474040">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900" b="1" i="0" u="none" strike="noStrike" cap="none" normalizeH="0" baseline="0" dirty="0" smtClean="0">
                          <a:ln>
                            <a:noFill/>
                          </a:ln>
                          <a:solidFill>
                            <a:schemeClr val="accent4"/>
                          </a:solidFill>
                          <a:effectLst/>
                          <a:latin typeface="Arial"/>
                          <a:cs typeface="Arial" pitchFamily="34" charset="0"/>
                        </a:rPr>
                        <a:t>Originations (continued)</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0" lvl="2" indent="0">
                        <a:spcBef>
                          <a:spcPts val="600"/>
                        </a:spcBef>
                        <a:buClr>
                          <a:srgbClr val="97989A"/>
                        </a:buClr>
                        <a:buFont typeface="Arial" pitchFamily="34" charset="0"/>
                        <a:buNone/>
                        <a:defRPr/>
                      </a:pPr>
                      <a:r>
                        <a:rPr lang="en-US" sz="900" i="1" kern="1200" baseline="0" dirty="0" smtClean="0">
                          <a:solidFill>
                            <a:schemeClr val="tx1"/>
                          </a:solidFill>
                          <a:effectLst/>
                          <a:latin typeface="Arial" panose="020B0604020202020204" pitchFamily="34" charset="0"/>
                          <a:ea typeface="+mn-ea"/>
                          <a:cs typeface="Arial" panose="020B0604020202020204" pitchFamily="34" charset="0"/>
                        </a:rPr>
                        <a:t>New On-book Volume and NBMs by Product</a:t>
                      </a:r>
                    </a:p>
                    <a:p>
                      <a:pPr marL="177800" lvl="2" indent="-177800">
                        <a:spcBef>
                          <a:spcPts val="600"/>
                        </a:spcBef>
                        <a:buClr>
                          <a:srgbClr val="97989A"/>
                        </a:buClr>
                        <a:buFont typeface="Arial" pitchFamily="34" charset="0"/>
                        <a:buChar char="■"/>
                        <a:defRPr/>
                      </a:pPr>
                      <a:r>
                        <a:rPr lang="en-US" sz="900" kern="1200" baseline="0" dirty="0" smtClean="0">
                          <a:solidFill>
                            <a:schemeClr val="tx1"/>
                          </a:solidFill>
                          <a:effectLst/>
                          <a:latin typeface="Arial" panose="020B0604020202020204" pitchFamily="34" charset="0"/>
                          <a:ea typeface="+mn-ea"/>
                          <a:cs typeface="Arial" panose="020B0604020202020204" pitchFamily="34" charset="0"/>
                        </a:rPr>
                        <a:t>Target classifies on-book volume into the following categories: SSLP, MMGP, CFL, Upper Mid Cap and ABL. In general, NBM on SSLP and MMGP loans is lower (between 2.0% and 3.0%) than NBM on CFL and Upper Mid Cap loans (between 4.0% and 5.5%). There has been a general shift away from Upper Mid Cap loans and towards SSLP and MMGP loans, which has reduced portfolio-wide yields. The shift can also be seen in the change in revenue mix from 2013 (when Core made up 70% of total revenue and SSLP/MMGP 21%) to 2014 (Core: 66% of total revenue, SSLP/MMGP: 24%). ABL loans, on which NBM varies quarter-to-quarter based on non-market-specific factors (such as borrower and collateral credit quality), made up an insignificant proportion of new on-book volume in 2014.</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kern="1200" baseline="0" dirty="0" smtClean="0">
                          <a:solidFill>
                            <a:schemeClr val="tx1"/>
                          </a:solidFill>
                          <a:effectLst/>
                          <a:latin typeface="Arial" panose="020B0604020202020204" pitchFamily="34" charset="0"/>
                          <a:ea typeface="+mn-ea"/>
                          <a:cs typeface="Arial" panose="020B0604020202020204" pitchFamily="34" charset="0"/>
                        </a:rPr>
                        <a:t>We recommend that, in addition to market-based considerations such as receptiveness to and growth opportunities associated with certain product types, you consider the NBM associated with each product type in determining a target asset mix post-transaction.</a:t>
                      </a:r>
                    </a:p>
                    <a:p>
                      <a:pPr marL="0" lvl="2" indent="0">
                        <a:spcBef>
                          <a:spcPts val="600"/>
                        </a:spcBef>
                        <a:buClr>
                          <a:srgbClr val="97989A"/>
                        </a:buClr>
                        <a:buFont typeface="Arial" pitchFamily="34" charset="0"/>
                        <a:buNone/>
                        <a:defRPr/>
                      </a:pPr>
                      <a:r>
                        <a:rPr lang="en-US" sz="900" i="1" kern="1200" baseline="0" dirty="0" smtClean="0">
                          <a:solidFill>
                            <a:schemeClr val="tx1"/>
                          </a:solidFill>
                          <a:effectLst/>
                          <a:latin typeface="Arial" panose="020B0604020202020204" pitchFamily="34" charset="0"/>
                          <a:ea typeface="+mn-ea"/>
                          <a:cs typeface="Arial" panose="020B0604020202020204" pitchFamily="34" charset="0"/>
                        </a:rPr>
                        <a:t>New On-book Volume and NBMs by Deal Type</a:t>
                      </a:r>
                    </a:p>
                    <a:p>
                      <a:pPr marL="177800" lvl="2" indent="-177800">
                        <a:spcBef>
                          <a:spcPts val="600"/>
                        </a:spcBef>
                        <a:buClr>
                          <a:srgbClr val="97989A"/>
                        </a:buClr>
                        <a:buFont typeface="Arial" pitchFamily="34" charset="0"/>
                        <a:buChar char="■"/>
                        <a:defRPr/>
                      </a:pPr>
                      <a:r>
                        <a:rPr lang="en-US" sz="900" kern="1200" baseline="0" dirty="0" smtClean="0">
                          <a:solidFill>
                            <a:schemeClr val="tx1"/>
                          </a:solidFill>
                          <a:effectLst/>
                          <a:latin typeface="Arial" panose="020B0604020202020204" pitchFamily="34" charset="0"/>
                          <a:ea typeface="+mn-ea"/>
                          <a:cs typeface="Arial" panose="020B0604020202020204" pitchFamily="34" charset="0"/>
                        </a:rPr>
                        <a:t>New on-book volume has been driven largely by new deals (&gt;50% of total on-book volume in 2014), followed by </a:t>
                      </a:r>
                      <a:r>
                        <a:rPr lang="en-US" sz="900" kern="1200" baseline="0" dirty="0" err="1" smtClean="0">
                          <a:solidFill>
                            <a:schemeClr val="tx1"/>
                          </a:solidFill>
                          <a:effectLst/>
                          <a:latin typeface="Arial" panose="020B0604020202020204" pitchFamily="34" charset="0"/>
                          <a:ea typeface="+mn-ea"/>
                          <a:cs typeface="Arial" panose="020B0604020202020204" pitchFamily="34" charset="0"/>
                        </a:rPr>
                        <a:t>refinancings</a:t>
                      </a:r>
                      <a:r>
                        <a:rPr lang="en-US" sz="900" kern="1200" baseline="0" dirty="0" smtClean="0">
                          <a:solidFill>
                            <a:schemeClr val="tx1"/>
                          </a:solidFill>
                          <a:effectLst/>
                          <a:latin typeface="Arial" panose="020B0604020202020204" pitchFamily="34" charset="0"/>
                          <a:ea typeface="+mn-ea"/>
                          <a:cs typeface="Arial" panose="020B0604020202020204" pitchFamily="34" charset="0"/>
                        </a:rPr>
                        <a:t> (&gt;25% of total on-book volume in 2014) and line increases (&lt;20%). Top-ups, which are infrequent (less than $100 million in 2014), make up the remainder. There are exceptions in this trend from quarter-to-quarter; for example, </a:t>
                      </a:r>
                      <a:r>
                        <a:rPr lang="en-US" sz="900" kern="1200" baseline="0" dirty="0" err="1" smtClean="0">
                          <a:solidFill>
                            <a:schemeClr val="tx1"/>
                          </a:solidFill>
                          <a:effectLst/>
                          <a:latin typeface="Arial" panose="020B0604020202020204" pitchFamily="34" charset="0"/>
                          <a:ea typeface="+mn-ea"/>
                          <a:cs typeface="Arial" panose="020B0604020202020204" pitchFamily="34" charset="0"/>
                        </a:rPr>
                        <a:t>refinancings</a:t>
                      </a:r>
                      <a:r>
                        <a:rPr lang="en-US" sz="900" kern="1200" baseline="0" dirty="0" smtClean="0">
                          <a:solidFill>
                            <a:schemeClr val="tx1"/>
                          </a:solidFill>
                          <a:effectLst/>
                          <a:latin typeface="Arial" panose="020B0604020202020204" pitchFamily="34" charset="0"/>
                          <a:ea typeface="+mn-ea"/>
                          <a:cs typeface="Arial" panose="020B0604020202020204" pitchFamily="34" charset="0"/>
                        </a:rPr>
                        <a:t> drove more than 50% of new on-book volume in Q2’14. NBM for line increases tends to be the highest, presumably because such line increases are on original loans that are older and therefore priced higher. New deals have the lowest NBM given the lower interest rates currently prevalent in the credit markets. NBM for </a:t>
                      </a:r>
                      <a:r>
                        <a:rPr lang="en-US" sz="900" kern="1200" baseline="0" dirty="0" err="1" smtClean="0">
                          <a:solidFill>
                            <a:schemeClr val="tx1"/>
                          </a:solidFill>
                          <a:effectLst/>
                          <a:latin typeface="Arial" panose="020B0604020202020204" pitchFamily="34" charset="0"/>
                          <a:ea typeface="+mn-ea"/>
                          <a:cs typeface="Arial" panose="020B0604020202020204" pitchFamily="34" charset="0"/>
                        </a:rPr>
                        <a:t>refinancings</a:t>
                      </a:r>
                      <a:r>
                        <a:rPr lang="en-US" sz="900" kern="1200" baseline="0" dirty="0" smtClean="0">
                          <a:solidFill>
                            <a:schemeClr val="tx1"/>
                          </a:solidFill>
                          <a:effectLst/>
                          <a:latin typeface="Arial" panose="020B0604020202020204" pitchFamily="34" charset="0"/>
                          <a:ea typeface="+mn-ea"/>
                          <a:cs typeface="Arial" panose="020B0604020202020204" pitchFamily="34" charset="0"/>
                        </a:rPr>
                        <a:t> trends between line increases and new trends. </a:t>
                      </a:r>
                    </a:p>
                    <a:p>
                      <a:pPr marL="177800" lvl="2" indent="-177800">
                        <a:spcBef>
                          <a:spcPts val="600"/>
                        </a:spcBef>
                        <a:buClr>
                          <a:srgbClr val="97989A"/>
                        </a:buClr>
                        <a:buFont typeface="Arial" pitchFamily="34" charset="0"/>
                        <a:buChar char="■"/>
                        <a:defRPr/>
                      </a:pPr>
                      <a:r>
                        <a:rPr lang="en-US" sz="900" kern="1200" baseline="0" dirty="0" smtClean="0">
                          <a:solidFill>
                            <a:schemeClr val="tx1"/>
                          </a:solidFill>
                          <a:effectLst/>
                          <a:latin typeface="Arial" panose="020B0604020202020204" pitchFamily="34" charset="0"/>
                          <a:ea typeface="+mn-ea"/>
                          <a:cs typeface="Arial" panose="020B0604020202020204" pitchFamily="34" charset="0"/>
                        </a:rPr>
                        <a:t>After a period of decline from 2011 to 2013, when new deals as a percentage of all deals decreased from 70% to 59%, new deals as a percentage of all deals rose sharply to 76% in 2014. While this trend is consistent between SSLP and non-SSLP deals, in general, new deals make up a higher proportion of all SSLP deals (77% on average over the past 5 years) than non-SSLP deals (58% on average over the past 5 years).</a:t>
                      </a:r>
                    </a:p>
                    <a:p>
                      <a:pPr marL="177800" lvl="2" indent="-177800">
                        <a:spcBef>
                          <a:spcPts val="600"/>
                        </a:spcBef>
                        <a:buClr>
                          <a:srgbClr val="97989A"/>
                        </a:buClr>
                        <a:buFont typeface="Arial" pitchFamily="34" charset="0"/>
                        <a:buChar char="■"/>
                        <a:defRPr/>
                      </a:pPr>
                      <a:r>
                        <a:rPr lang="en-US" sz="900" kern="1200" baseline="0" dirty="0" smtClean="0">
                          <a:solidFill>
                            <a:schemeClr val="tx1"/>
                          </a:solidFill>
                          <a:effectLst/>
                          <a:latin typeface="Arial" panose="020B0604020202020204" pitchFamily="34" charset="0"/>
                          <a:ea typeface="+mn-ea"/>
                          <a:cs typeface="Arial" panose="020B0604020202020204" pitchFamily="34" charset="0"/>
                        </a:rPr>
                        <a:t>In addition to factors discussed elsewhere, the predominance of new deals (which command the lowest NBM) as a source of new on-book volume has depressed portfolio-wide yield. We recommend that, in addition to considering the strategic focus and expertise of the origination team, you consider the impact on portfolio yield in determining a strategic direction with respect to sources of new on-book volume.</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Appendix 6</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r>
            </a:tbl>
          </a:graphicData>
        </a:graphic>
      </p:graphicFrame>
      <p:sp>
        <p:nvSpPr>
          <p:cNvPr id="13" name="Title 3"/>
          <p:cNvSpPr>
            <a:spLocks noGrp="1"/>
          </p:cNvSpPr>
          <p:nvPr>
            <p:ph type="title"/>
          </p:nvPr>
        </p:nvSpPr>
        <p:spPr>
          <a:xfrm>
            <a:off x="2123728" y="116632"/>
            <a:ext cx="6768752" cy="576064"/>
          </a:xfrm>
        </p:spPr>
        <p:txBody>
          <a:bodyPr/>
          <a:lstStyle/>
          <a:p>
            <a:r>
              <a:rPr lang="en-US" sz="1400" b="0" dirty="0">
                <a:solidFill>
                  <a:srgbClr val="747678"/>
                </a:solidFill>
              </a:rPr>
              <a:t>Executive summary</a:t>
            </a:r>
            <a:r>
              <a:rPr lang="en-US" dirty="0" smtClean="0"/>
              <a:t/>
            </a:r>
            <a:br>
              <a:rPr lang="en-US" dirty="0" smtClean="0"/>
            </a:br>
            <a:r>
              <a:rPr lang="en-US" dirty="0" smtClean="0"/>
              <a:t>Key findings: financial (9)</a:t>
            </a:r>
            <a:endParaRPr lang="en-US" dirty="0"/>
          </a:p>
        </p:txBody>
      </p:sp>
    </p:spTree>
    <p:extLst>
      <p:ext uri="{BB962C8B-B14F-4D97-AF65-F5344CB8AC3E}">
        <p14:creationId xmlns:p14="http://schemas.microsoft.com/office/powerpoint/2010/main" val="85691982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3"/>
          <p:cNvGraphicFramePr>
            <a:graphicFrameLocks noGrp="1"/>
          </p:cNvGraphicFramePr>
          <p:nvPr>
            <p:extLst>
              <p:ext uri="{D42A27DB-BD31-4B8C-83A1-F6EECF244321}">
                <p14:modId xmlns:p14="http://schemas.microsoft.com/office/powerpoint/2010/main" val="2134615678"/>
              </p:ext>
            </p:extLst>
          </p:nvPr>
        </p:nvGraphicFramePr>
        <p:xfrm>
          <a:off x="252046" y="1219200"/>
          <a:ext cx="8663354" cy="2420466"/>
        </p:xfrm>
        <a:graphic>
          <a:graphicData uri="http://schemas.openxmlformats.org/drawingml/2006/table">
            <a:tbl>
              <a:tblPr/>
              <a:tblGrid>
                <a:gridCol w="1043354"/>
                <a:gridCol w="6629400"/>
                <a:gridCol w="990600"/>
              </a:tblGrid>
              <a:tr h="376986">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1000" b="1" i="0" u="none" strike="noStrike" cap="none" normalizeH="0" baseline="0" dirty="0" smtClean="0">
                          <a:ln>
                            <a:noFill/>
                          </a:ln>
                          <a:solidFill>
                            <a:schemeClr val="bg1"/>
                          </a:solidFill>
                          <a:effectLst/>
                          <a:latin typeface="Arial"/>
                          <a:cs typeface="Arial" pitchFamily="34" charset="0"/>
                        </a:rPr>
                        <a:t>Finding</a:t>
                      </a:r>
                      <a:endParaRPr kumimoji="0" lang="en-US" sz="900" b="1" i="0" u="none" strike="noStrike" cap="none" normalizeH="0" baseline="0" dirty="0" smtClean="0">
                        <a:ln>
                          <a:noFill/>
                        </a:ln>
                        <a:solidFill>
                          <a:schemeClr val="bg1"/>
                        </a:solidFill>
                        <a:effectLst/>
                        <a:latin typeface="Arial"/>
                        <a:cs typeface="Arial" pitchFamily="34" charset="0"/>
                      </a:endParaRP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Summary observations</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Reference</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r>
              <a:tr h="1474040">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900" b="1" i="0" u="none" strike="noStrike" cap="none" normalizeH="0" baseline="0" dirty="0" smtClean="0">
                          <a:ln>
                            <a:noFill/>
                          </a:ln>
                          <a:solidFill>
                            <a:schemeClr val="accent4"/>
                          </a:solidFill>
                          <a:effectLst/>
                          <a:latin typeface="Arial"/>
                          <a:cs typeface="Arial" pitchFamily="34" charset="0"/>
                        </a:rPr>
                        <a:t>Originations (continued)</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0" lvl="2" indent="0">
                        <a:spcBef>
                          <a:spcPts val="600"/>
                        </a:spcBef>
                        <a:buClr>
                          <a:srgbClr val="97989A"/>
                        </a:buClr>
                        <a:buFont typeface="Arial" pitchFamily="34" charset="0"/>
                        <a:buNone/>
                        <a:defRPr/>
                      </a:pPr>
                      <a:r>
                        <a:rPr lang="en-US" sz="900" i="1" kern="1200" baseline="0" dirty="0" smtClean="0">
                          <a:solidFill>
                            <a:schemeClr val="tx1"/>
                          </a:solidFill>
                          <a:effectLst/>
                          <a:latin typeface="Arial" panose="020B0604020202020204" pitchFamily="34" charset="0"/>
                          <a:ea typeface="+mn-ea"/>
                          <a:cs typeface="Arial" panose="020B0604020202020204" pitchFamily="34" charset="0"/>
                        </a:rPr>
                        <a:t>CV% by Product and Deal Type</a:t>
                      </a:r>
                    </a:p>
                    <a:p>
                      <a:pPr marL="177800" lvl="2" indent="-177800">
                        <a:spcBef>
                          <a:spcPts val="600"/>
                        </a:spcBef>
                        <a:buClr>
                          <a:srgbClr val="97989A"/>
                        </a:buClr>
                        <a:buFont typeface="Arial" pitchFamily="34" charset="0"/>
                        <a:buChar char="■"/>
                        <a:defRPr/>
                      </a:pPr>
                      <a:r>
                        <a:rPr lang="en-US" sz="900" kern="1200" baseline="0" dirty="0" smtClean="0">
                          <a:solidFill>
                            <a:schemeClr val="tx1"/>
                          </a:solidFill>
                          <a:effectLst/>
                          <a:latin typeface="Arial" panose="020B0604020202020204" pitchFamily="34" charset="0"/>
                          <a:ea typeface="+mn-ea"/>
                          <a:cs typeface="Arial" panose="020B0604020202020204" pitchFamily="34" charset="0"/>
                        </a:rPr>
                        <a:t>CV%, which represents CV (contribution value, defined as total interest, fee and other income less interest expense) divided by average earning assets (that is, financing receivables including SSLP receivables), is a key metric tracked by management. CV% on CFL is consistently higher than CV% on SSLP / MMGP loans, primarily because the additional fee income earned on SSLP / MMGP loans is more than offset by the higher interest income yields on CFL relative to SSLP / MMGP. Consistent with the recommendations above, we recommend that you consider the benefit from growth in the SSLP / MMGP portfolios concurrently with the lower CV profile of these assets. </a:t>
                      </a:r>
                    </a:p>
                    <a:p>
                      <a:pPr marL="177800" lvl="2" indent="-177800">
                        <a:spcBef>
                          <a:spcPts val="600"/>
                        </a:spcBef>
                        <a:buClr>
                          <a:srgbClr val="97989A"/>
                        </a:buClr>
                        <a:buFont typeface="Arial" pitchFamily="34" charset="0"/>
                        <a:buChar char="■"/>
                        <a:defRPr/>
                      </a:pPr>
                      <a:r>
                        <a:rPr lang="en-US" sz="900" kern="1200" baseline="0" dirty="0" smtClean="0">
                          <a:solidFill>
                            <a:schemeClr val="tx1"/>
                          </a:solidFill>
                          <a:effectLst/>
                          <a:latin typeface="Arial" panose="020B0604020202020204" pitchFamily="34" charset="0"/>
                          <a:ea typeface="+mn-ea"/>
                          <a:cs typeface="Arial" panose="020B0604020202020204" pitchFamily="34" charset="0"/>
                        </a:rPr>
                        <a:t>CV% on line increases and refinancing tend to trend together, whereas CV% of new deals tends to fluctuate above or below the percentages for line increases and refinancing. While NBM for new deals was considerably lower than NBM for line increases and refinancing, the differential is reduced for CV% because new deals generate significant fee income through syndications which makes up for the shortfall in interest income yield. We note, however, that the CV% for new deals is contingent on the continuing ability to assume lead arranger roles in syndications, whereas the CV% for line increases and refinancing is driven primarily by higher interest income yield.</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Appendix 6</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r>
            </a:tbl>
          </a:graphicData>
        </a:graphic>
      </p:graphicFrame>
      <p:sp>
        <p:nvSpPr>
          <p:cNvPr id="13" name="Title 3"/>
          <p:cNvSpPr>
            <a:spLocks noGrp="1"/>
          </p:cNvSpPr>
          <p:nvPr>
            <p:ph type="title"/>
          </p:nvPr>
        </p:nvSpPr>
        <p:spPr>
          <a:xfrm>
            <a:off x="2123728" y="116632"/>
            <a:ext cx="6768752" cy="576064"/>
          </a:xfrm>
        </p:spPr>
        <p:txBody>
          <a:bodyPr/>
          <a:lstStyle/>
          <a:p>
            <a:r>
              <a:rPr lang="en-US" sz="1400" b="0" dirty="0">
                <a:solidFill>
                  <a:srgbClr val="747678"/>
                </a:solidFill>
              </a:rPr>
              <a:t>Executive summary</a:t>
            </a:r>
            <a:r>
              <a:rPr lang="en-US" dirty="0" smtClean="0"/>
              <a:t/>
            </a:r>
            <a:br>
              <a:rPr lang="en-US" dirty="0" smtClean="0"/>
            </a:br>
            <a:r>
              <a:rPr lang="en-US" dirty="0" smtClean="0"/>
              <a:t>Key findings: financial (10)</a:t>
            </a:r>
            <a:endParaRPr lang="en-US" dirty="0"/>
          </a:p>
        </p:txBody>
      </p:sp>
    </p:spTree>
    <p:extLst>
      <p:ext uri="{BB962C8B-B14F-4D97-AF65-F5344CB8AC3E}">
        <p14:creationId xmlns:p14="http://schemas.microsoft.com/office/powerpoint/2010/main" val="300352677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3"/>
          <p:cNvGraphicFramePr>
            <a:graphicFrameLocks noGrp="1"/>
          </p:cNvGraphicFramePr>
          <p:nvPr>
            <p:extLst>
              <p:ext uri="{D42A27DB-BD31-4B8C-83A1-F6EECF244321}">
                <p14:modId xmlns:p14="http://schemas.microsoft.com/office/powerpoint/2010/main" val="3901647115"/>
              </p:ext>
            </p:extLst>
          </p:nvPr>
        </p:nvGraphicFramePr>
        <p:xfrm>
          <a:off x="252046" y="1219200"/>
          <a:ext cx="8663354" cy="5105400"/>
        </p:xfrm>
        <a:graphic>
          <a:graphicData uri="http://schemas.openxmlformats.org/drawingml/2006/table">
            <a:tbl>
              <a:tblPr/>
              <a:tblGrid>
                <a:gridCol w="1043354"/>
                <a:gridCol w="6629400"/>
                <a:gridCol w="990600"/>
              </a:tblGrid>
              <a:tr h="363088">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1000" b="1" i="0" u="none" strike="noStrike" cap="none" normalizeH="0" baseline="0" dirty="0" smtClean="0">
                          <a:ln>
                            <a:noFill/>
                          </a:ln>
                          <a:solidFill>
                            <a:schemeClr val="bg1"/>
                          </a:solidFill>
                          <a:effectLst/>
                          <a:latin typeface="Arial"/>
                          <a:cs typeface="Arial" pitchFamily="34" charset="0"/>
                        </a:rPr>
                        <a:t>Finding</a:t>
                      </a:r>
                      <a:endParaRPr kumimoji="0" lang="en-US" sz="900" b="1" i="0" u="none" strike="noStrike" cap="none" normalizeH="0" baseline="0" dirty="0" smtClean="0">
                        <a:ln>
                          <a:noFill/>
                        </a:ln>
                        <a:solidFill>
                          <a:schemeClr val="bg1"/>
                        </a:solidFill>
                        <a:effectLst/>
                        <a:latin typeface="Arial"/>
                        <a:cs typeface="Arial" pitchFamily="34" charset="0"/>
                      </a:endParaRP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Summary observations</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Reference</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r>
              <a:tr h="4742312">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900" b="1" i="0" u="none" strike="noStrike" cap="none" normalizeH="0" baseline="0" dirty="0" smtClean="0">
                          <a:ln>
                            <a:noFill/>
                          </a:ln>
                          <a:solidFill>
                            <a:schemeClr val="accent4"/>
                          </a:solidFill>
                          <a:effectLst/>
                          <a:latin typeface="Arial"/>
                          <a:cs typeface="Arial" pitchFamily="34" charset="0"/>
                        </a:rPr>
                        <a:t>Fee income</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kern="1200" dirty="0" smtClean="0">
                        <a:solidFill>
                          <a:schemeClr val="tx1"/>
                        </a:solidFill>
                        <a:effectLst/>
                        <a:latin typeface="Arial" panose="020B0604020202020204" pitchFamily="34" charset="0"/>
                        <a:ea typeface="+mn-ea"/>
                        <a:cs typeface="Arial" panose="020B0604020202020204"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kern="1200" dirty="0" smtClean="0">
                        <a:solidFill>
                          <a:schemeClr val="tx1"/>
                        </a:solidFill>
                        <a:effectLst/>
                        <a:latin typeface="Arial" panose="020B0604020202020204" pitchFamily="34" charset="0"/>
                        <a:ea typeface="+mn-ea"/>
                        <a:cs typeface="Arial" panose="020B0604020202020204"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kern="1200" dirty="0" smtClean="0">
                        <a:solidFill>
                          <a:schemeClr val="tx1"/>
                        </a:solidFill>
                        <a:effectLst/>
                        <a:latin typeface="Arial" panose="020B0604020202020204" pitchFamily="34" charset="0"/>
                        <a:ea typeface="+mn-ea"/>
                        <a:cs typeface="Arial" panose="020B0604020202020204"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kern="1200" dirty="0" smtClean="0">
                        <a:solidFill>
                          <a:schemeClr val="tx1"/>
                        </a:solidFill>
                        <a:effectLst/>
                        <a:latin typeface="Arial" panose="020B0604020202020204" pitchFamily="34" charset="0"/>
                        <a:ea typeface="+mn-ea"/>
                        <a:cs typeface="Arial" panose="020B0604020202020204"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kern="1200" dirty="0" smtClean="0">
                        <a:solidFill>
                          <a:schemeClr val="tx1"/>
                        </a:solidFill>
                        <a:effectLst/>
                        <a:latin typeface="Arial" panose="020B0604020202020204" pitchFamily="34" charset="0"/>
                        <a:ea typeface="+mn-ea"/>
                        <a:cs typeface="Arial" panose="020B0604020202020204"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kern="1200" dirty="0" smtClean="0">
                        <a:solidFill>
                          <a:schemeClr val="tx1"/>
                        </a:solidFill>
                        <a:effectLst/>
                        <a:latin typeface="Arial" panose="020B0604020202020204" pitchFamily="34" charset="0"/>
                        <a:ea typeface="+mn-ea"/>
                        <a:cs typeface="Arial" panose="020B0604020202020204"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kern="1200" dirty="0" smtClean="0">
                        <a:solidFill>
                          <a:schemeClr val="tx1"/>
                        </a:solidFill>
                        <a:effectLst/>
                        <a:latin typeface="Arial" panose="020B0604020202020204" pitchFamily="34" charset="0"/>
                        <a:ea typeface="+mn-ea"/>
                        <a:cs typeface="Arial" panose="020B0604020202020204"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kern="1200" dirty="0" smtClean="0">
                        <a:solidFill>
                          <a:schemeClr val="tx1"/>
                        </a:solidFill>
                        <a:effectLst/>
                        <a:latin typeface="Arial" panose="020B0604020202020204" pitchFamily="34" charset="0"/>
                        <a:ea typeface="+mn-ea"/>
                        <a:cs typeface="Arial" panose="020B0604020202020204"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kern="1200" dirty="0" smtClean="0">
                        <a:solidFill>
                          <a:schemeClr val="tx1"/>
                        </a:solidFill>
                        <a:effectLst/>
                        <a:latin typeface="Arial" panose="020B0604020202020204" pitchFamily="34" charset="0"/>
                        <a:ea typeface="+mn-ea"/>
                        <a:cs typeface="Arial" panose="020B0604020202020204"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kern="1200" dirty="0" smtClean="0">
                        <a:solidFill>
                          <a:schemeClr val="tx1"/>
                        </a:solidFill>
                        <a:effectLst/>
                        <a:latin typeface="Arial" panose="020B0604020202020204" pitchFamily="34" charset="0"/>
                        <a:ea typeface="+mn-ea"/>
                        <a:cs typeface="Arial" panose="020B0604020202020204"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kern="1200" dirty="0" smtClean="0">
                        <a:solidFill>
                          <a:schemeClr val="tx1"/>
                        </a:solidFill>
                        <a:effectLst/>
                        <a:latin typeface="Arial" panose="020B0604020202020204" pitchFamily="34" charset="0"/>
                        <a:ea typeface="+mn-ea"/>
                        <a:cs typeface="Arial" panose="020B0604020202020204"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kern="1200" dirty="0" smtClean="0">
                        <a:solidFill>
                          <a:schemeClr val="tx1"/>
                        </a:solidFill>
                        <a:effectLst/>
                        <a:latin typeface="Arial" panose="020B0604020202020204" pitchFamily="34" charset="0"/>
                        <a:ea typeface="+mn-ea"/>
                        <a:cs typeface="Arial" panose="020B0604020202020204"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kern="1200" dirty="0" smtClean="0">
                        <a:solidFill>
                          <a:schemeClr val="tx1"/>
                        </a:solidFill>
                        <a:effectLst/>
                        <a:latin typeface="Arial" panose="020B0604020202020204" pitchFamily="34" charset="0"/>
                        <a:ea typeface="+mn-ea"/>
                        <a:cs typeface="Arial" panose="020B0604020202020204"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kern="1200" dirty="0" smtClean="0">
                        <a:solidFill>
                          <a:schemeClr val="tx1"/>
                        </a:solidFill>
                        <a:effectLst/>
                        <a:latin typeface="Arial" panose="020B0604020202020204" pitchFamily="34" charset="0"/>
                        <a:ea typeface="+mn-ea"/>
                        <a:cs typeface="Arial" panose="020B0604020202020204"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kern="1200" dirty="0" smtClean="0">
                        <a:solidFill>
                          <a:schemeClr val="tx1"/>
                        </a:solidFill>
                        <a:effectLst/>
                        <a:latin typeface="Arial" panose="020B0604020202020204" pitchFamily="34" charset="0"/>
                        <a:ea typeface="+mn-ea"/>
                        <a:cs typeface="Arial" panose="020B0604020202020204"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kern="1200" dirty="0" smtClean="0">
                        <a:solidFill>
                          <a:schemeClr val="tx1"/>
                        </a:solidFill>
                        <a:effectLst/>
                        <a:latin typeface="Arial" panose="020B0604020202020204" pitchFamily="34" charset="0"/>
                        <a:ea typeface="+mn-ea"/>
                        <a:cs typeface="Arial" panose="020B0604020202020204"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kern="1200" dirty="0" smtClean="0">
                        <a:solidFill>
                          <a:schemeClr val="tx1"/>
                        </a:solidFill>
                        <a:effectLst/>
                        <a:latin typeface="Arial" panose="020B0604020202020204" pitchFamily="34" charset="0"/>
                        <a:ea typeface="+mn-ea"/>
                        <a:cs typeface="Arial" panose="020B0604020202020204"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kern="1200" dirty="0" smtClean="0">
                        <a:solidFill>
                          <a:schemeClr val="tx1"/>
                        </a:solidFill>
                        <a:effectLst/>
                        <a:latin typeface="Arial" panose="020B0604020202020204" pitchFamily="34" charset="0"/>
                        <a:ea typeface="+mn-ea"/>
                        <a:cs typeface="Arial" panose="020B0604020202020204" pitchFamily="34" charset="0"/>
                      </a:endParaRPr>
                    </a:p>
                    <a:p>
                      <a:pPr marL="0" marR="0" lvl="2"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endParaRPr lang="en-US" sz="900" kern="1200" dirty="0" smtClean="0">
                        <a:solidFill>
                          <a:schemeClr val="tx1"/>
                        </a:solidFill>
                        <a:effectLst/>
                        <a:latin typeface="Arial" panose="020B0604020202020204" pitchFamily="34" charset="0"/>
                        <a:ea typeface="+mn-ea"/>
                        <a:cs typeface="Arial" panose="020B0604020202020204"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dirty="0" smtClean="0">
                          <a:solidFill>
                            <a:srgbClr val="000000"/>
                          </a:solidFill>
                          <a:cs typeface="Arial" pitchFamily="34" charset="0"/>
                        </a:rPr>
                        <a:t>The determination of the quantum of cash fees recognized upfront versus the quantum of fees deferred and amortized over the loan term is based on the accounting distinction between “Loan Syndications” and “Loan Participations”. Appendix 6 details the basis of this determination; we note that the accounting distinction is predicated on the legal form / structure of the transaction and not on its substance or commercial interpretation.</a:t>
                      </a:r>
                      <a:endParaRPr lang="en-US" sz="900" dirty="0" smtClean="0"/>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Appendix 7</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r>
            </a:tbl>
          </a:graphicData>
        </a:graphic>
      </p:graphicFrame>
      <p:sp>
        <p:nvSpPr>
          <p:cNvPr id="13" name="Title 3"/>
          <p:cNvSpPr>
            <a:spLocks noGrp="1"/>
          </p:cNvSpPr>
          <p:nvPr>
            <p:ph type="title"/>
          </p:nvPr>
        </p:nvSpPr>
        <p:spPr>
          <a:xfrm>
            <a:off x="2123728" y="116632"/>
            <a:ext cx="6768752" cy="576064"/>
          </a:xfrm>
        </p:spPr>
        <p:txBody>
          <a:bodyPr/>
          <a:lstStyle/>
          <a:p>
            <a:r>
              <a:rPr lang="en-US" sz="1400" b="0" dirty="0">
                <a:solidFill>
                  <a:srgbClr val="747678"/>
                </a:solidFill>
              </a:rPr>
              <a:t>Executive summary</a:t>
            </a:r>
            <a:r>
              <a:rPr lang="en-US" dirty="0" smtClean="0"/>
              <a:t/>
            </a:r>
            <a:br>
              <a:rPr lang="en-US" dirty="0" smtClean="0"/>
            </a:br>
            <a:r>
              <a:rPr lang="en-US" dirty="0" smtClean="0"/>
              <a:t>Key findings: financial (11)</a:t>
            </a:r>
            <a:endParaRPr lang="en-US" dirty="0"/>
          </a:p>
        </p:txBody>
      </p:sp>
      <p:sp>
        <p:nvSpPr>
          <p:cNvPr id="14" name="Text Box 8"/>
          <p:cNvSpPr txBox="1">
            <a:spLocks noChangeArrowheads="1"/>
          </p:cNvSpPr>
          <p:nvPr>
            <p:custDataLst>
              <p:tags r:id="rId1"/>
            </p:custDataLst>
          </p:nvPr>
        </p:nvSpPr>
        <p:spPr bwMode="gray">
          <a:xfrm>
            <a:off x="1371600" y="1676400"/>
            <a:ext cx="3352800" cy="3962400"/>
          </a:xfrm>
          <a:prstGeom prst="rect">
            <a:avLst/>
          </a:prstGeom>
          <a:noFill/>
          <a:ln w="6350">
            <a:noFill/>
            <a:miter lim="800000"/>
            <a:headEnd type="none" w="sm" len="sm"/>
            <a:tailEnd type="none" w="sm" len="sm"/>
          </a:ln>
          <a:effectLst/>
        </p:spPr>
        <p:txBody>
          <a:bodyPr wrap="square" lIns="0" tIns="0" rIns="0" bIns="0" anchor="t" anchorCtr="0">
            <a:noAutofit/>
          </a:bodyPr>
          <a:lstStyle/>
          <a:p>
            <a:r>
              <a:rPr lang="en-US" sz="900" b="1" dirty="0" smtClean="0">
                <a:latin typeface="Arial" panose="020B0604020202020204" pitchFamily="34" charset="0"/>
                <a:cs typeface="Arial" panose="020B0604020202020204" pitchFamily="34" charset="0"/>
              </a:rPr>
              <a:t>Unused Commitment Fees</a:t>
            </a:r>
            <a:endParaRPr lang="en-US" sz="900" dirty="0">
              <a:latin typeface="Arial" panose="020B0604020202020204" pitchFamily="34" charset="0"/>
              <a:cs typeface="Arial" panose="020B0604020202020204" pitchFamily="34" charset="0"/>
            </a:endParaRPr>
          </a:p>
          <a:p>
            <a:pPr marL="177800" lvl="2" indent="-177800">
              <a:spcBef>
                <a:spcPts val="600"/>
              </a:spcBef>
              <a:buClr>
                <a:srgbClr val="97989A"/>
              </a:buClr>
              <a:buFont typeface="Arial" pitchFamily="34" charset="0"/>
              <a:buChar char="■"/>
              <a:defRPr/>
            </a:pPr>
            <a:r>
              <a:rPr lang="en-US" sz="900" dirty="0" smtClean="0">
                <a:solidFill>
                  <a:srgbClr val="000000"/>
                </a:solidFill>
                <a:cs typeface="Arial" pitchFamily="34" charset="0"/>
              </a:rPr>
              <a:t>Unused commitment fees are assessed on the unused portion of terms loans or revolvers and are calculated as a contractually-stated percentage of the unused portion of such facilities. Such fees are a means to partially recover the costs associated with standby liquidity facilities that allow Target to fund additional draws on a timely basis.</a:t>
            </a:r>
          </a:p>
          <a:p>
            <a:pPr marL="177800" lvl="2" indent="-177800">
              <a:spcBef>
                <a:spcPts val="600"/>
              </a:spcBef>
              <a:buClr>
                <a:srgbClr val="97989A"/>
              </a:buClr>
              <a:buFont typeface="Arial" pitchFamily="34" charset="0"/>
              <a:buChar char="■"/>
              <a:defRPr/>
            </a:pPr>
            <a:r>
              <a:rPr lang="en-US" sz="900" dirty="0" smtClean="0">
                <a:solidFill>
                  <a:srgbClr val="000000"/>
                </a:solidFill>
                <a:latin typeface="Arial" panose="020B0604020202020204" pitchFamily="34" charset="0"/>
                <a:cs typeface="Arial" pitchFamily="34" charset="0"/>
              </a:rPr>
              <a:t>Commitment fees have remained relatively flat over the historical period. Since 2008, annual unused commitment fees have averaged $24 million, with a maximum of $28 million (2010) and a minimum of $20 million (2008). Fees are a product of unfunded commitments, which have been relatively flat over the historical period (refer to discussion on “Unfunded and funded commitments”). In general, utilization of revolvers tends to decrease (that is, unfunded amounts tend to increase) in times of strong economic growth and excess liquidity. </a:t>
            </a:r>
            <a:endParaRPr lang="en-US" sz="900" dirty="0" smtClean="0">
              <a:solidFill>
                <a:srgbClr val="FF0000"/>
              </a:solidFill>
              <a:latin typeface="Arial" panose="020B0604020202020204" pitchFamily="34" charset="0"/>
              <a:cs typeface="Arial" panose="020B0604020202020204" pitchFamily="34" charset="0"/>
            </a:endParaRPr>
          </a:p>
          <a:p>
            <a:endParaRPr lang="en-US" sz="900" b="1" dirty="0" smtClean="0">
              <a:solidFill>
                <a:srgbClr val="FF0000"/>
              </a:solidFill>
              <a:latin typeface="Arial" panose="020B0604020202020204" pitchFamily="34" charset="0"/>
              <a:cs typeface="Arial" panose="020B0604020202020204" pitchFamily="34" charset="0"/>
            </a:endParaRPr>
          </a:p>
          <a:p>
            <a:endParaRPr lang="en-US" sz="900" b="1" dirty="0" smtClean="0">
              <a:latin typeface="Arial" panose="020B0604020202020204" pitchFamily="34" charset="0"/>
              <a:cs typeface="Arial" panose="020B0604020202020204" pitchFamily="34" charset="0"/>
            </a:endParaRPr>
          </a:p>
          <a:p>
            <a:r>
              <a:rPr lang="en-US" sz="900" b="1" dirty="0" smtClean="0">
                <a:latin typeface="Arial" panose="020B0604020202020204" pitchFamily="34" charset="0"/>
                <a:cs typeface="Arial" panose="020B0604020202020204" pitchFamily="34" charset="0"/>
              </a:rPr>
              <a:t>Syndication Fees</a:t>
            </a:r>
            <a:endParaRPr lang="en-US" sz="900" dirty="0">
              <a:latin typeface="Arial" panose="020B0604020202020204" pitchFamily="34" charset="0"/>
              <a:cs typeface="Arial" panose="020B0604020202020204" pitchFamily="34" charset="0"/>
            </a:endParaRPr>
          </a:p>
          <a:p>
            <a:pPr marL="177800" lvl="2" indent="-177800">
              <a:spcBef>
                <a:spcPts val="600"/>
              </a:spcBef>
              <a:buClr>
                <a:srgbClr val="97989A"/>
              </a:buClr>
              <a:buFont typeface="Arial" pitchFamily="34" charset="0"/>
              <a:buChar char="■"/>
              <a:defRPr/>
            </a:pPr>
            <a:r>
              <a:rPr lang="en-US" sz="900" dirty="0" smtClean="0">
                <a:solidFill>
                  <a:srgbClr val="000000"/>
                </a:solidFill>
                <a:cs typeface="Arial" pitchFamily="34" charset="0"/>
              </a:rPr>
              <a:t>Syndication fees are earned from borrowers on syndicated loans originated by Target and for which Target acts in the capacity of lead arranger. Of the cash fees received, a portion is recognized upfront in income (“Upfront Fees”) and the residual amount is deferred and amortized into income over the term of the loan (“Deferred Fees”). If and when a loan prepays or is refinanced, any unamortized deferred fees relating to that loan are “swept” into income (“Sweeps”).</a:t>
            </a:r>
            <a:endParaRPr lang="en-US" sz="900" dirty="0"/>
          </a:p>
        </p:txBody>
      </p:sp>
      <p:sp>
        <p:nvSpPr>
          <p:cNvPr id="11" name="Text Box 8"/>
          <p:cNvSpPr txBox="1">
            <a:spLocks noChangeArrowheads="1"/>
          </p:cNvSpPr>
          <p:nvPr>
            <p:custDataLst>
              <p:tags r:id="rId2"/>
            </p:custDataLst>
          </p:nvPr>
        </p:nvSpPr>
        <p:spPr bwMode="gray">
          <a:xfrm>
            <a:off x="4800604" y="5029200"/>
            <a:ext cx="3048000" cy="210314"/>
          </a:xfrm>
          <a:prstGeom prst="rect">
            <a:avLst/>
          </a:prstGeom>
          <a:noFill/>
          <a:ln w="6350">
            <a:noFill/>
            <a:miter lim="800000"/>
            <a:headEnd type="none" w="sm" len="sm"/>
            <a:tailEnd type="none" w="sm" len="sm"/>
          </a:ln>
          <a:effectLst/>
        </p:spPr>
        <p:txBody>
          <a:bodyPr wrap="square" lIns="0" tIns="0" rIns="0" bIns="0" anchor="b">
            <a:spAutoFit/>
          </a:bodyPr>
          <a:lstStyle/>
          <a:p>
            <a:pPr marL="534988" indent="-534988" defTabSz="762000" eaLnBrk="0" hangingPunct="0">
              <a:spcBef>
                <a:spcPts val="200"/>
              </a:spcBef>
              <a:tabLst>
                <a:tab pos="355600" algn="l"/>
              </a:tabLst>
            </a:pPr>
            <a:r>
              <a:rPr lang="en-US" sz="600" i="1" dirty="0" smtClean="0">
                <a:latin typeface="Arial"/>
                <a:cs typeface="Arial" pitchFamily="34" charset="0"/>
              </a:rPr>
              <a:t>Source:	6.5.1 Atlas Detailed Financials, Historical Platform Yield Analysis</a:t>
            </a:r>
          </a:p>
          <a:p>
            <a:pPr marL="534988" indent="-534988" defTabSz="762000" eaLnBrk="0" hangingPunct="0">
              <a:spcBef>
                <a:spcPts val="200"/>
              </a:spcBef>
              <a:tabLst>
                <a:tab pos="355600" algn="l"/>
              </a:tabLst>
            </a:pPr>
            <a:r>
              <a:rPr lang="en-US" sz="600" i="1" dirty="0" smtClean="0">
                <a:latin typeface="Arial"/>
                <a:cs typeface="Arial" pitchFamily="34" charset="0"/>
              </a:rPr>
              <a:t>*Amount calculated using 6.5.11 Interest Income Overview.</a:t>
            </a:r>
            <a:endParaRPr lang="en-US" sz="600" i="1" dirty="0">
              <a:latin typeface="Arial"/>
              <a:cs typeface="Arial" pitchFamily="34" charset="0"/>
            </a:endParaRPr>
          </a:p>
        </p:txBody>
      </p:sp>
      <p:pic>
        <p:nvPicPr>
          <p:cNvPr id="4" name="Picture 3"/>
          <p:cNvPicPr>
            <a:picLocks noChangeAspect="1"/>
          </p:cNvPicPr>
          <p:nvPr/>
        </p:nvPicPr>
        <p:blipFill>
          <a:blip r:embed="rId5"/>
          <a:stretch>
            <a:fillRect/>
          </a:stretch>
        </p:blipFill>
        <p:spPr>
          <a:xfrm>
            <a:off x="4800604" y="1676400"/>
            <a:ext cx="2815953" cy="3239298"/>
          </a:xfrm>
          <a:prstGeom prst="rect">
            <a:avLst/>
          </a:prstGeom>
        </p:spPr>
      </p:pic>
    </p:spTree>
    <p:extLst>
      <p:ext uri="{BB962C8B-B14F-4D97-AF65-F5344CB8AC3E}">
        <p14:creationId xmlns:p14="http://schemas.microsoft.com/office/powerpoint/2010/main" val="105814981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3"/>
          <p:cNvGraphicFramePr>
            <a:graphicFrameLocks noGrp="1"/>
          </p:cNvGraphicFramePr>
          <p:nvPr>
            <p:extLst>
              <p:ext uri="{D42A27DB-BD31-4B8C-83A1-F6EECF244321}">
                <p14:modId xmlns:p14="http://schemas.microsoft.com/office/powerpoint/2010/main" val="4155779778"/>
              </p:ext>
            </p:extLst>
          </p:nvPr>
        </p:nvGraphicFramePr>
        <p:xfrm>
          <a:off x="252046" y="1219200"/>
          <a:ext cx="8663354" cy="5105400"/>
        </p:xfrm>
        <a:graphic>
          <a:graphicData uri="http://schemas.openxmlformats.org/drawingml/2006/table">
            <a:tbl>
              <a:tblPr/>
              <a:tblGrid>
                <a:gridCol w="1043354"/>
                <a:gridCol w="6629400"/>
                <a:gridCol w="990600"/>
              </a:tblGrid>
              <a:tr h="401147">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1000" b="1" i="0" u="none" strike="noStrike" cap="none" normalizeH="0" baseline="0" dirty="0" smtClean="0">
                          <a:ln>
                            <a:noFill/>
                          </a:ln>
                          <a:solidFill>
                            <a:schemeClr val="bg1"/>
                          </a:solidFill>
                          <a:effectLst/>
                          <a:latin typeface="Arial"/>
                          <a:cs typeface="Arial" pitchFamily="34" charset="0"/>
                        </a:rPr>
                        <a:t>Finding</a:t>
                      </a:r>
                      <a:endParaRPr kumimoji="0" lang="en-US" sz="900" b="1" i="0" u="none" strike="noStrike" cap="none" normalizeH="0" baseline="0" dirty="0" smtClean="0">
                        <a:ln>
                          <a:noFill/>
                        </a:ln>
                        <a:solidFill>
                          <a:schemeClr val="bg1"/>
                        </a:solidFill>
                        <a:effectLst/>
                        <a:latin typeface="Arial"/>
                        <a:cs typeface="Arial" pitchFamily="34" charset="0"/>
                      </a:endParaRP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Summary observations</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Reference</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r>
              <a:tr h="4704253">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900" b="1" i="0" u="none" strike="noStrike" cap="none" normalizeH="0" baseline="0" dirty="0" smtClean="0">
                          <a:ln>
                            <a:noFill/>
                          </a:ln>
                          <a:solidFill>
                            <a:schemeClr val="accent4"/>
                          </a:solidFill>
                          <a:effectLst/>
                          <a:latin typeface="Arial"/>
                          <a:cs typeface="Arial" pitchFamily="34" charset="0"/>
                        </a:rPr>
                        <a:t>Fee income (continued)</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0" lvl="2" indent="0">
                        <a:spcBef>
                          <a:spcPts val="600"/>
                        </a:spcBef>
                        <a:buClr>
                          <a:srgbClr val="97989A"/>
                        </a:buClr>
                        <a:buFont typeface="Arial" pitchFamily="34" charset="0"/>
                        <a:buNone/>
                        <a:defRPr/>
                      </a:pPr>
                      <a:r>
                        <a:rPr lang="en-US" sz="900" i="1" dirty="0" smtClean="0">
                          <a:solidFill>
                            <a:srgbClr val="000000"/>
                          </a:solidFill>
                          <a:cs typeface="Arial" pitchFamily="34" charset="0"/>
                        </a:rPr>
                        <a:t>Upfront Fees</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dirty="0" smtClean="0">
                          <a:solidFill>
                            <a:srgbClr val="000000"/>
                          </a:solidFill>
                          <a:cs typeface="Arial" pitchFamily="34" charset="0"/>
                        </a:rPr>
                        <a:t>Fees relating to the portion of the total commitment funded by (or “sold down” to) syndication participants, regardless of whether the syndicated transaction is classified as a “Loan Syndication” or a “Loan Participation” for accounting purposes, are recognized upfront (i.e. when cash is received). As well, fees from transactions classified as “Loan Syndications” that represent “above-market” fees earned on the portion of the total commitment retained by Target are also recognized upfront.</a:t>
                      </a:r>
                    </a:p>
                    <a:p>
                      <a:pPr marL="177800" lvl="2" indent="-177800">
                        <a:spcBef>
                          <a:spcPts val="600"/>
                        </a:spcBef>
                        <a:buClr>
                          <a:srgbClr val="97989A"/>
                        </a:buClr>
                        <a:buFont typeface="Arial" pitchFamily="34" charset="0"/>
                        <a:buChar char="■"/>
                        <a:defRPr/>
                      </a:pPr>
                      <a:r>
                        <a:rPr lang="en-US" sz="900" dirty="0" smtClean="0">
                          <a:solidFill>
                            <a:srgbClr val="000000"/>
                          </a:solidFill>
                          <a:cs typeface="Arial" pitchFamily="34" charset="0"/>
                        </a:rPr>
                        <a:t>In 2014, upfront fees totaled $172 million, up from $158 million in 2013 due to higher syndication volumes in the year ($8.5 billion, versus $8.0 billion in 2013). In both 2013 and 2014, 80% of total upfront fees related to the Core portfolio (including Franchise but excluding the SSLP and MMGP portfolios). In Q1’15, the ratio</a:t>
                      </a:r>
                      <a:r>
                        <a:rPr lang="en-US" sz="900" baseline="0" dirty="0" smtClean="0">
                          <a:solidFill>
                            <a:srgbClr val="000000"/>
                          </a:solidFill>
                          <a:cs typeface="Arial" pitchFamily="34" charset="0"/>
                        </a:rPr>
                        <a:t> </a:t>
                      </a:r>
                      <a:r>
                        <a:rPr lang="en-US" sz="900" dirty="0" smtClean="0">
                          <a:solidFill>
                            <a:srgbClr val="000000"/>
                          </a:solidFill>
                          <a:cs typeface="Arial" pitchFamily="34" charset="0"/>
                        </a:rPr>
                        <a:t>fell to 69%, primarily due to the growth of the SSLP and MMGP portfolios relative to the Core portfolio. </a:t>
                      </a:r>
                    </a:p>
                    <a:p>
                      <a:pPr marL="177800" lvl="2" indent="-177800">
                        <a:spcBef>
                          <a:spcPts val="600"/>
                        </a:spcBef>
                        <a:buClr>
                          <a:srgbClr val="97989A"/>
                        </a:buClr>
                        <a:buFont typeface="Arial" pitchFamily="34" charset="0"/>
                        <a:buChar char="■"/>
                        <a:defRPr/>
                      </a:pPr>
                      <a:r>
                        <a:rPr lang="en-US" sz="900" dirty="0" smtClean="0">
                          <a:solidFill>
                            <a:srgbClr val="000000"/>
                          </a:solidFill>
                          <a:cs typeface="Arial" pitchFamily="34" charset="0"/>
                        </a:rPr>
                        <a:t>Within the Core portfolio, cash-flow loan (“CFL”) syndications constitute the majority of the total balance syndicated (of the $8.5 billion syndicated in 2014, $8.4 billion related to the Core portfolio; of this $8.4 billion, $8.3 billion related to CFLs), with asset-based loan (“ABL”) syndications making up the remainder. While this is in part driven by the fact that CFLs make up most of the Core portfolio volume originated (96% in 2014), we note that a greater proportion of CFLs originated are syndicated by Target (65%, compared to 25% of ABL loans). This is because ABLs tend to command higher yields (providing an incentive to increase the “hold” on these loans) and because, in a recovering economy, capital markets are more receptive to CFLs than ABLs. We recommend that you consider these trends and relationships as part of your valuation model.</a:t>
                      </a:r>
                    </a:p>
                    <a:p>
                      <a:pPr marL="177800" lvl="2" indent="-177800">
                        <a:spcBef>
                          <a:spcPts val="600"/>
                        </a:spcBef>
                        <a:buClr>
                          <a:srgbClr val="97989A"/>
                        </a:buClr>
                        <a:buFont typeface="Arial" pitchFamily="34" charset="0"/>
                        <a:buChar char="■"/>
                        <a:defRPr/>
                      </a:pPr>
                      <a:r>
                        <a:rPr lang="en-US" sz="900" dirty="0" smtClean="0">
                          <a:solidFill>
                            <a:srgbClr val="000000"/>
                          </a:solidFill>
                          <a:cs typeface="Arial" pitchFamily="34" charset="0"/>
                        </a:rPr>
                        <a:t>Upfront fees earned closely</a:t>
                      </a:r>
                      <a:r>
                        <a:rPr lang="en-US" sz="900" baseline="0" dirty="0" smtClean="0">
                          <a:solidFill>
                            <a:srgbClr val="000000"/>
                          </a:solidFill>
                          <a:cs typeface="Arial" pitchFamily="34" charset="0"/>
                        </a:rPr>
                        <a:t> track syndication volumes. From 2010 to 2012, volumes syndicated increased from $3.4 billion to $8.1 billion, driven both by an increase in total volume originated (from $9.6 billion in 2010 to $18.8 billion in 2012) and an increase in the percentage of total originated volume that was syndicated (from approximately 36% in 2010 to approximately 43% in 2012). Originated and syndication volumes were relatively flat in 2012 and 2013. In 2014, while volume originated decreased by $1.4 billion relative to 2013, volume syndicated increased by $0.5 billion (from 43% of total volume in 2013 to 50% of total volume in 2014). Upfront fees have followed the same trend – an increase from 2010 ($82 million) to 2012 ($159 million), a flattening out from 2012 to 2013 ($158 million) and a further increase in 2014 ($172 million).</a:t>
                      </a:r>
                    </a:p>
                    <a:p>
                      <a:pPr marL="177800" lvl="2" indent="-177800">
                        <a:spcBef>
                          <a:spcPts val="600"/>
                        </a:spcBef>
                        <a:buClr>
                          <a:srgbClr val="97989A"/>
                        </a:buClr>
                        <a:buFont typeface="Arial" pitchFamily="34" charset="0"/>
                        <a:buChar char="■"/>
                        <a:defRPr/>
                      </a:pPr>
                      <a:endParaRPr lang="en-US" sz="900" baseline="0" dirty="0" smtClean="0">
                        <a:solidFill>
                          <a:srgbClr val="000000"/>
                        </a:solidFill>
                        <a:cs typeface="Arial" pitchFamily="34" charset="0"/>
                      </a:endParaRPr>
                    </a:p>
                    <a:p>
                      <a:pPr marL="177800" lvl="2" indent="-177800">
                        <a:spcBef>
                          <a:spcPts val="600"/>
                        </a:spcBef>
                        <a:buClr>
                          <a:srgbClr val="97989A"/>
                        </a:buClr>
                        <a:buFont typeface="Arial" pitchFamily="34" charset="0"/>
                        <a:buChar char="■"/>
                        <a:defRPr/>
                      </a:pPr>
                      <a:endParaRPr lang="en-US" sz="900" baseline="0" dirty="0" smtClean="0">
                        <a:solidFill>
                          <a:srgbClr val="000000"/>
                        </a:solidFill>
                        <a:cs typeface="Arial" pitchFamily="34" charset="0"/>
                      </a:endParaRPr>
                    </a:p>
                    <a:p>
                      <a:pPr marL="177800" lvl="2" indent="-177800">
                        <a:spcBef>
                          <a:spcPts val="600"/>
                        </a:spcBef>
                        <a:buClr>
                          <a:srgbClr val="97989A"/>
                        </a:buClr>
                        <a:buFont typeface="Arial" pitchFamily="34" charset="0"/>
                        <a:buChar char="■"/>
                        <a:defRPr/>
                      </a:pPr>
                      <a:endParaRPr lang="en-US" sz="900" baseline="0" dirty="0" smtClean="0">
                        <a:solidFill>
                          <a:srgbClr val="000000"/>
                        </a:solidFill>
                        <a:cs typeface="Arial" pitchFamily="34" charset="0"/>
                      </a:endParaRPr>
                    </a:p>
                    <a:p>
                      <a:pPr marL="177800" lvl="2" indent="-177800">
                        <a:spcBef>
                          <a:spcPts val="600"/>
                        </a:spcBef>
                        <a:buClr>
                          <a:srgbClr val="97989A"/>
                        </a:buClr>
                        <a:buFont typeface="Arial" pitchFamily="34" charset="0"/>
                        <a:buChar char="■"/>
                        <a:defRPr/>
                      </a:pPr>
                      <a:endParaRPr lang="en-US" sz="900" baseline="0" dirty="0" smtClean="0">
                        <a:solidFill>
                          <a:srgbClr val="000000"/>
                        </a:solidFill>
                        <a:cs typeface="Arial" pitchFamily="34" charset="0"/>
                      </a:endParaRP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Appendix 7</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r>
            </a:tbl>
          </a:graphicData>
        </a:graphic>
      </p:graphicFrame>
      <p:sp>
        <p:nvSpPr>
          <p:cNvPr id="13" name="Title 3"/>
          <p:cNvSpPr>
            <a:spLocks noGrp="1"/>
          </p:cNvSpPr>
          <p:nvPr>
            <p:ph type="title"/>
          </p:nvPr>
        </p:nvSpPr>
        <p:spPr>
          <a:xfrm>
            <a:off x="2123728" y="116632"/>
            <a:ext cx="6768752" cy="576064"/>
          </a:xfrm>
        </p:spPr>
        <p:txBody>
          <a:bodyPr/>
          <a:lstStyle/>
          <a:p>
            <a:r>
              <a:rPr lang="en-US" sz="1400" b="0" dirty="0">
                <a:solidFill>
                  <a:srgbClr val="747678"/>
                </a:solidFill>
              </a:rPr>
              <a:t>Executive summary</a:t>
            </a:r>
            <a:r>
              <a:rPr lang="en-US" dirty="0" smtClean="0"/>
              <a:t/>
            </a:r>
            <a:br>
              <a:rPr lang="en-US" dirty="0" smtClean="0"/>
            </a:br>
            <a:r>
              <a:rPr lang="en-US" dirty="0" smtClean="0"/>
              <a:t>Key findings: financial (12)</a:t>
            </a:r>
            <a:endParaRPr lang="en-US" dirty="0"/>
          </a:p>
        </p:txBody>
      </p:sp>
      <p:pic>
        <p:nvPicPr>
          <p:cNvPr id="4" name="Picture 3"/>
          <p:cNvPicPr>
            <a:picLocks noChangeAspect="1"/>
          </p:cNvPicPr>
          <p:nvPr/>
        </p:nvPicPr>
        <p:blipFill>
          <a:blip r:embed="rId4"/>
          <a:stretch>
            <a:fillRect/>
          </a:stretch>
        </p:blipFill>
        <p:spPr>
          <a:xfrm>
            <a:off x="2732890" y="5181602"/>
            <a:ext cx="3256485" cy="932918"/>
          </a:xfrm>
          <a:prstGeom prst="rect">
            <a:avLst/>
          </a:prstGeom>
        </p:spPr>
      </p:pic>
      <p:sp>
        <p:nvSpPr>
          <p:cNvPr id="7" name="Text Box 8"/>
          <p:cNvSpPr txBox="1">
            <a:spLocks noChangeArrowheads="1"/>
          </p:cNvSpPr>
          <p:nvPr>
            <p:custDataLst>
              <p:tags r:id="rId1"/>
            </p:custDataLst>
          </p:nvPr>
        </p:nvSpPr>
        <p:spPr bwMode="gray">
          <a:xfrm>
            <a:off x="2732890" y="6172200"/>
            <a:ext cx="3323492" cy="92333"/>
          </a:xfrm>
          <a:prstGeom prst="rect">
            <a:avLst/>
          </a:prstGeom>
          <a:noFill/>
          <a:ln w="6350">
            <a:noFill/>
            <a:miter lim="800000"/>
            <a:headEnd type="none" w="sm" len="sm"/>
            <a:tailEnd type="none" w="sm" len="sm"/>
          </a:ln>
          <a:effectLst/>
        </p:spPr>
        <p:txBody>
          <a:bodyPr wrap="square" lIns="0" tIns="0" rIns="0" bIns="0" anchor="b">
            <a:spAutoFit/>
          </a:bodyPr>
          <a:lstStyle/>
          <a:p>
            <a:pPr marL="534988" indent="-534988" defTabSz="762000" eaLnBrk="0" hangingPunct="0">
              <a:spcBef>
                <a:spcPts val="200"/>
              </a:spcBef>
              <a:tabLst>
                <a:tab pos="355600" algn="l"/>
              </a:tabLst>
            </a:pPr>
            <a:r>
              <a:rPr lang="en-US" sz="600" i="1" dirty="0" smtClean="0">
                <a:latin typeface="Arial"/>
                <a:cs typeface="Arial" pitchFamily="34" charset="0"/>
              </a:rPr>
              <a:t>Source:	6.5.12 Quarterly Fee and Volume Breakout, Historical Platform Yield Analysis</a:t>
            </a:r>
            <a:endParaRPr lang="en-US" sz="600" i="1" dirty="0">
              <a:latin typeface="Arial"/>
              <a:cs typeface="Arial" pitchFamily="34" charset="0"/>
            </a:endParaRPr>
          </a:p>
        </p:txBody>
      </p:sp>
    </p:spTree>
    <p:extLst>
      <p:ext uri="{BB962C8B-B14F-4D97-AF65-F5344CB8AC3E}">
        <p14:creationId xmlns:p14="http://schemas.microsoft.com/office/powerpoint/2010/main" val="428977902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3"/>
          <p:cNvGraphicFramePr>
            <a:graphicFrameLocks noGrp="1"/>
          </p:cNvGraphicFramePr>
          <p:nvPr>
            <p:extLst>
              <p:ext uri="{D42A27DB-BD31-4B8C-83A1-F6EECF244321}">
                <p14:modId xmlns:p14="http://schemas.microsoft.com/office/powerpoint/2010/main" val="1306312829"/>
              </p:ext>
            </p:extLst>
          </p:nvPr>
        </p:nvGraphicFramePr>
        <p:xfrm>
          <a:off x="252046" y="1143000"/>
          <a:ext cx="8663354" cy="4234026"/>
        </p:xfrm>
        <a:graphic>
          <a:graphicData uri="http://schemas.openxmlformats.org/drawingml/2006/table">
            <a:tbl>
              <a:tblPr/>
              <a:tblGrid>
                <a:gridCol w="1043354"/>
                <a:gridCol w="6629400"/>
                <a:gridCol w="990600"/>
              </a:tblGrid>
              <a:tr h="376986">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1000" b="1" i="0" u="none" strike="noStrike" cap="none" normalizeH="0" baseline="0" dirty="0" smtClean="0">
                          <a:ln>
                            <a:noFill/>
                          </a:ln>
                          <a:solidFill>
                            <a:schemeClr val="bg1"/>
                          </a:solidFill>
                          <a:effectLst/>
                          <a:latin typeface="Arial"/>
                          <a:cs typeface="Arial" pitchFamily="34" charset="0"/>
                        </a:rPr>
                        <a:t>Finding</a:t>
                      </a:r>
                      <a:endParaRPr kumimoji="0" lang="en-US" sz="900" b="1" i="0" u="none" strike="noStrike" cap="none" normalizeH="0" baseline="0" dirty="0" smtClean="0">
                        <a:ln>
                          <a:noFill/>
                        </a:ln>
                        <a:solidFill>
                          <a:schemeClr val="bg1"/>
                        </a:solidFill>
                        <a:effectLst/>
                        <a:latin typeface="Arial"/>
                        <a:cs typeface="Arial" pitchFamily="34" charset="0"/>
                      </a:endParaRP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Summary observations</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Reference</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r>
              <a:tr h="1474040">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900" b="1" i="0" u="none" strike="noStrike" cap="none" normalizeH="0" baseline="0" smtClean="0">
                          <a:ln>
                            <a:noFill/>
                          </a:ln>
                          <a:solidFill>
                            <a:schemeClr val="accent4"/>
                          </a:solidFill>
                          <a:effectLst/>
                          <a:latin typeface="Arial"/>
                          <a:cs typeface="Arial" pitchFamily="34" charset="0"/>
                        </a:rPr>
                        <a:t>Fee income (continued)</a:t>
                      </a:r>
                      <a:endParaRPr kumimoji="0" lang="en-US" sz="900" b="1" i="0" u="none" strike="noStrike" cap="none" normalizeH="0" baseline="0" dirty="0" smtClean="0">
                        <a:ln>
                          <a:noFill/>
                        </a:ln>
                        <a:solidFill>
                          <a:schemeClr val="accent4"/>
                        </a:solidFill>
                        <a:effectLst/>
                        <a:latin typeface="Arial"/>
                        <a:cs typeface="Arial" pitchFamily="34" charset="0"/>
                      </a:endParaRP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0" marR="0" lvl="2"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lang="en-US" sz="900" i="1" kern="1200" dirty="0" smtClean="0">
                          <a:solidFill>
                            <a:schemeClr val="tx1"/>
                          </a:solidFill>
                          <a:effectLst/>
                          <a:latin typeface="Arial" panose="020B0604020202020204" pitchFamily="34" charset="0"/>
                          <a:ea typeface="+mn-ea"/>
                          <a:cs typeface="Arial" panose="020B0604020202020204" pitchFamily="34" charset="0"/>
                        </a:rPr>
                        <a:t>Upfront Fees (continued)</a:t>
                      </a:r>
                      <a:endParaRPr lang="en-US" sz="900" dirty="0" smtClean="0"/>
                    </a:p>
                    <a:p>
                      <a:pPr marL="177800" lvl="2" indent="-177800">
                        <a:spcBef>
                          <a:spcPts val="600"/>
                        </a:spcBef>
                        <a:buClr>
                          <a:srgbClr val="97989A"/>
                        </a:buClr>
                        <a:buFont typeface="Arial" pitchFamily="34" charset="0"/>
                        <a:buChar char="■"/>
                        <a:defRPr/>
                      </a:pPr>
                      <a:r>
                        <a:rPr lang="en-US" sz="900" baseline="0" dirty="0" smtClean="0">
                          <a:solidFill>
                            <a:srgbClr val="000000"/>
                          </a:solidFill>
                          <a:cs typeface="Arial" pitchFamily="34" charset="0"/>
                        </a:rPr>
                        <a:t>Given that Target’s ability to generate upfront fees is predicated on the ability to lead syndications, we recommend that you consider Target’s ability to syndicate and to continue to assume lead arranger roles on these syndications post-transaction. This ability is driven by the total volume originated, the depth of Target’s sponsor relationships and the strength of its capital markets team. We note further that leading syndications affords a number of ancillary benefits, such as the ability to control asset portfolio quality and the forging of client / investor relationships, that generate incremental revenue or cost savings in the longer term.</a:t>
                      </a:r>
                      <a:endParaRPr lang="en-US" sz="900" i="1" kern="1200" dirty="0" smtClean="0">
                        <a:solidFill>
                          <a:schemeClr val="tx1"/>
                        </a:solidFill>
                        <a:effectLst/>
                        <a:latin typeface="Arial" panose="020B0604020202020204" pitchFamily="34" charset="0"/>
                        <a:ea typeface="+mn-ea"/>
                        <a:cs typeface="Arial" panose="020B0604020202020204" pitchFamily="34" charset="0"/>
                      </a:endParaRPr>
                    </a:p>
                    <a:p>
                      <a:pPr marL="0" marR="0" lvl="2"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lang="en-US" sz="900" i="1" kern="1200" dirty="0" smtClean="0">
                          <a:solidFill>
                            <a:schemeClr val="tx1"/>
                          </a:solidFill>
                          <a:effectLst/>
                          <a:latin typeface="Arial" panose="020B0604020202020204" pitchFamily="34" charset="0"/>
                          <a:ea typeface="+mn-ea"/>
                          <a:cs typeface="Arial" panose="020B0604020202020204" pitchFamily="34" charset="0"/>
                        </a:rPr>
                        <a:t>Deferred Fee Amortization</a:t>
                      </a:r>
                      <a:endParaRPr lang="en-US" sz="900" dirty="0" smtClean="0"/>
                    </a:p>
                    <a:p>
                      <a:pPr marL="177800" lvl="2" indent="-177800">
                        <a:spcBef>
                          <a:spcPts val="600"/>
                        </a:spcBef>
                        <a:buClr>
                          <a:srgbClr val="97989A"/>
                        </a:buClr>
                        <a:buFont typeface="Arial" pitchFamily="34" charset="0"/>
                        <a:buChar char="■"/>
                        <a:defRPr/>
                      </a:pPr>
                      <a:r>
                        <a:rPr lang="en-US" sz="900" kern="1200" dirty="0" smtClean="0">
                          <a:solidFill>
                            <a:schemeClr val="tx1"/>
                          </a:solidFill>
                          <a:effectLst/>
                          <a:latin typeface="Arial" panose="020B0604020202020204" pitchFamily="34" charset="0"/>
                          <a:ea typeface="+mn-ea"/>
                          <a:cs typeface="Arial" panose="020B0604020202020204" pitchFamily="34" charset="0"/>
                        </a:rPr>
                        <a:t>Deferred</a:t>
                      </a:r>
                      <a:r>
                        <a:rPr lang="en-US" sz="900" kern="1200" baseline="0" dirty="0" smtClean="0">
                          <a:solidFill>
                            <a:schemeClr val="tx1"/>
                          </a:solidFill>
                          <a:effectLst/>
                          <a:latin typeface="Arial" panose="020B0604020202020204" pitchFamily="34" charset="0"/>
                          <a:ea typeface="+mn-ea"/>
                          <a:cs typeface="Arial" panose="020B0604020202020204" pitchFamily="34" charset="0"/>
                        </a:rPr>
                        <a:t> fee amortization includes both syndication fees and closing fees deferred and amortized into interest income over the stated life of the loan facility. </a:t>
                      </a:r>
                      <a:endParaRPr lang="en-US" sz="900" kern="1200" dirty="0" smtClean="0">
                        <a:solidFill>
                          <a:schemeClr val="tx1"/>
                        </a:solidFill>
                        <a:effectLst/>
                        <a:latin typeface="Arial" panose="020B0604020202020204" pitchFamily="34" charset="0"/>
                        <a:ea typeface="+mn-ea"/>
                        <a:cs typeface="Arial" panose="020B0604020202020204" pitchFamily="34" charset="0"/>
                      </a:endParaRPr>
                    </a:p>
                    <a:p>
                      <a:pPr marL="177800" lvl="2" indent="-177800">
                        <a:spcBef>
                          <a:spcPts val="600"/>
                        </a:spcBef>
                        <a:buClr>
                          <a:srgbClr val="97989A"/>
                        </a:buClr>
                        <a:buFont typeface="Arial" pitchFamily="34" charset="0"/>
                        <a:buChar char="■"/>
                        <a:defRPr/>
                      </a:pPr>
                      <a:r>
                        <a:rPr lang="en-US" sz="900" kern="1200" dirty="0" smtClean="0">
                          <a:solidFill>
                            <a:schemeClr val="tx1"/>
                          </a:solidFill>
                          <a:effectLst/>
                          <a:latin typeface="Arial" panose="020B0604020202020204" pitchFamily="34" charset="0"/>
                          <a:ea typeface="+mn-ea"/>
                          <a:cs typeface="Arial" panose="020B0604020202020204" pitchFamily="34" charset="0"/>
                        </a:rPr>
                        <a:t>Deferred syndication fees are fees received from borrowers in syndicated transactions that relate to the portion of the total commitment retained by Target (excluding</a:t>
                      </a:r>
                      <a:r>
                        <a:rPr lang="en-US" sz="900" kern="1200" baseline="0" dirty="0" smtClean="0">
                          <a:solidFill>
                            <a:schemeClr val="tx1"/>
                          </a:solidFill>
                          <a:effectLst/>
                          <a:latin typeface="Arial" panose="020B0604020202020204" pitchFamily="34" charset="0"/>
                          <a:ea typeface="+mn-ea"/>
                          <a:cs typeface="Arial" panose="020B0604020202020204" pitchFamily="34" charset="0"/>
                        </a:rPr>
                        <a:t> any “above-market” fees, which are recognized upfront as noted above), </a:t>
                      </a:r>
                      <a:r>
                        <a:rPr lang="en-US" sz="900" dirty="0" smtClean="0">
                          <a:solidFill>
                            <a:srgbClr val="000000"/>
                          </a:solidFill>
                          <a:cs typeface="Arial" pitchFamily="34" charset="0"/>
                        </a:rPr>
                        <a:t>regardless of whether the syndicated transaction is classified as a “Loan Syndication” or a “Loan Participation” for accounting purposes.</a:t>
                      </a:r>
                      <a:endParaRPr lang="en-US" sz="900" kern="1200" dirty="0" smtClean="0">
                        <a:solidFill>
                          <a:schemeClr val="tx1"/>
                        </a:solidFill>
                        <a:latin typeface="+mn-lt"/>
                        <a:ea typeface="+mn-ea"/>
                        <a:cs typeface="+mn-cs"/>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kern="1200" dirty="0" smtClean="0">
                          <a:solidFill>
                            <a:schemeClr val="tx1"/>
                          </a:solidFill>
                          <a:effectLst/>
                          <a:latin typeface="Arial" panose="020B0604020202020204" pitchFamily="34" charset="0"/>
                          <a:ea typeface="+mn-ea"/>
                          <a:cs typeface="Arial" panose="020B0604020202020204" pitchFamily="34" charset="0"/>
                        </a:rPr>
                        <a:t>Total deferred fees amortized into interest income in 2014 decreased $3 million, from $61 million in 2013 to $58 million in 2014. Deferred fees generally correlate with “hold” sizes (that is, the amount</a:t>
                      </a:r>
                      <a:r>
                        <a:rPr lang="en-US" sz="900" kern="1200" baseline="0" dirty="0" smtClean="0">
                          <a:solidFill>
                            <a:schemeClr val="tx1"/>
                          </a:solidFill>
                          <a:effectLst/>
                          <a:latin typeface="Arial" panose="020B0604020202020204" pitchFamily="34" charset="0"/>
                          <a:ea typeface="+mn-ea"/>
                          <a:cs typeface="Arial" panose="020B0604020202020204" pitchFamily="34" charset="0"/>
                        </a:rPr>
                        <a:t> of total volume retained on Target’s books). Since 2010, hold sizes have been decreasing (from 64% of volume originated in 2010 to 50% in 2014). The decline from 2013 to 2014 is driven primarily by a decrease in the percentage of originated volume retained from 57% to 50%. </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kern="1200" baseline="0" dirty="0" smtClean="0">
                          <a:solidFill>
                            <a:schemeClr val="tx1"/>
                          </a:solidFill>
                          <a:effectLst/>
                          <a:latin typeface="Arial" panose="020B0604020202020204" pitchFamily="34" charset="0"/>
                          <a:ea typeface="+mn-ea"/>
                          <a:cs typeface="Arial" panose="020B0604020202020204" pitchFamily="34" charset="0"/>
                        </a:rPr>
                        <a:t>We note that the distinction between syndication fees recognized upfront and fees deferred is essentially an accounting distinction. To the extent that cash fees deferred (both syndication fees and closing fees) in any given period approximate deferred fees amortized to income in the same period, it is useful to think of total fees in a given period as equal to the sum of amounts recognized upfront and deferred amounts amortized into income in the same period. In the absence of data relating to cash receipts and deferrals, we are unable to ascertain if fees deferred in a period do indeed approximate deferred fees amortized to income in the period.</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Appendix 7</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r>
            </a:tbl>
          </a:graphicData>
        </a:graphic>
      </p:graphicFrame>
      <p:sp>
        <p:nvSpPr>
          <p:cNvPr id="13" name="Title 3"/>
          <p:cNvSpPr>
            <a:spLocks noGrp="1"/>
          </p:cNvSpPr>
          <p:nvPr>
            <p:ph type="title"/>
          </p:nvPr>
        </p:nvSpPr>
        <p:spPr>
          <a:xfrm>
            <a:off x="2123728" y="116632"/>
            <a:ext cx="6768752" cy="576064"/>
          </a:xfrm>
        </p:spPr>
        <p:txBody>
          <a:bodyPr/>
          <a:lstStyle/>
          <a:p>
            <a:r>
              <a:rPr lang="en-US" sz="1400" b="0" dirty="0">
                <a:solidFill>
                  <a:srgbClr val="747678"/>
                </a:solidFill>
              </a:rPr>
              <a:t>Executive summary</a:t>
            </a:r>
            <a:r>
              <a:rPr lang="en-US" dirty="0" smtClean="0"/>
              <a:t/>
            </a:r>
            <a:br>
              <a:rPr lang="en-US" dirty="0" smtClean="0"/>
            </a:br>
            <a:r>
              <a:rPr lang="en-US" dirty="0" smtClean="0"/>
              <a:t>Key findings: financial (13)</a:t>
            </a:r>
            <a:endParaRPr lang="en-US" dirty="0"/>
          </a:p>
        </p:txBody>
      </p:sp>
    </p:spTree>
    <p:extLst>
      <p:ext uri="{BB962C8B-B14F-4D97-AF65-F5344CB8AC3E}">
        <p14:creationId xmlns:p14="http://schemas.microsoft.com/office/powerpoint/2010/main" val="251670497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3"/>
          <p:cNvGraphicFramePr>
            <a:graphicFrameLocks noGrp="1"/>
          </p:cNvGraphicFramePr>
          <p:nvPr>
            <p:extLst>
              <p:ext uri="{D42A27DB-BD31-4B8C-83A1-F6EECF244321}">
                <p14:modId xmlns:p14="http://schemas.microsoft.com/office/powerpoint/2010/main" val="2616457123"/>
              </p:ext>
            </p:extLst>
          </p:nvPr>
        </p:nvGraphicFramePr>
        <p:xfrm>
          <a:off x="252046" y="1219200"/>
          <a:ext cx="8663354" cy="5148426"/>
        </p:xfrm>
        <a:graphic>
          <a:graphicData uri="http://schemas.openxmlformats.org/drawingml/2006/table">
            <a:tbl>
              <a:tblPr/>
              <a:tblGrid>
                <a:gridCol w="1043354"/>
                <a:gridCol w="6629400"/>
                <a:gridCol w="990600"/>
              </a:tblGrid>
              <a:tr h="376986">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1000" b="1" i="0" u="none" strike="noStrike" cap="none" normalizeH="0" baseline="0" dirty="0" smtClean="0">
                          <a:ln>
                            <a:noFill/>
                          </a:ln>
                          <a:solidFill>
                            <a:schemeClr val="bg1"/>
                          </a:solidFill>
                          <a:effectLst/>
                          <a:latin typeface="Arial"/>
                          <a:cs typeface="Arial" pitchFamily="34" charset="0"/>
                        </a:rPr>
                        <a:t>Finding</a:t>
                      </a:r>
                      <a:endParaRPr kumimoji="0" lang="en-US" sz="900" b="1" i="0" u="none" strike="noStrike" cap="none" normalizeH="0" baseline="0" dirty="0" smtClean="0">
                        <a:ln>
                          <a:noFill/>
                        </a:ln>
                        <a:solidFill>
                          <a:schemeClr val="bg1"/>
                        </a:solidFill>
                        <a:effectLst/>
                        <a:latin typeface="Arial"/>
                        <a:cs typeface="Arial" pitchFamily="34" charset="0"/>
                      </a:endParaRP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Summary observations</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Reference</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r>
              <a:tr h="1474040">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900" b="1" i="0" u="none" strike="noStrike" cap="none" normalizeH="0" baseline="0" smtClean="0">
                          <a:ln>
                            <a:noFill/>
                          </a:ln>
                          <a:solidFill>
                            <a:schemeClr val="accent4"/>
                          </a:solidFill>
                          <a:effectLst/>
                          <a:latin typeface="Arial"/>
                          <a:cs typeface="Arial" pitchFamily="34" charset="0"/>
                        </a:rPr>
                        <a:t>Fee income (continued)</a:t>
                      </a:r>
                      <a:endParaRPr kumimoji="0" lang="en-US" sz="900" b="1" i="0" u="none" strike="noStrike" cap="none" normalizeH="0" baseline="0" dirty="0" smtClean="0">
                        <a:ln>
                          <a:noFill/>
                        </a:ln>
                        <a:solidFill>
                          <a:schemeClr val="accent4"/>
                        </a:solidFill>
                        <a:effectLst/>
                        <a:latin typeface="Arial"/>
                        <a:cs typeface="Arial" pitchFamily="34" charset="0"/>
                      </a:endParaRP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0" marR="0" lvl="2"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lang="en-US" sz="900" b="1" i="0" kern="1200" dirty="0" smtClean="0">
                          <a:solidFill>
                            <a:schemeClr val="tx1"/>
                          </a:solidFill>
                          <a:effectLst/>
                          <a:latin typeface="Arial" panose="020B0604020202020204" pitchFamily="34" charset="0"/>
                          <a:ea typeface="+mn-ea"/>
                          <a:cs typeface="Arial" panose="020B0604020202020204" pitchFamily="34" charset="0"/>
                        </a:rPr>
                        <a:t>Management Fees</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dirty="0" smtClean="0">
                          <a:solidFill>
                            <a:srgbClr val="000000"/>
                          </a:solidFill>
                          <a:latin typeface="+mn-lt"/>
                          <a:cs typeface="Arial" pitchFamily="34" charset="0"/>
                        </a:rPr>
                        <a:t>Management fees are paid by partners in SIPs to compensate Target for sourcing and servicing loans in these programs. These fees are driven by the volume</a:t>
                      </a:r>
                      <a:r>
                        <a:rPr lang="en-US" sz="900" baseline="0" dirty="0" smtClean="0">
                          <a:solidFill>
                            <a:srgbClr val="000000"/>
                          </a:solidFill>
                          <a:latin typeface="+mn-lt"/>
                          <a:cs typeface="Arial" pitchFamily="34" charset="0"/>
                        </a:rPr>
                        <a:t> of </a:t>
                      </a:r>
                      <a:r>
                        <a:rPr lang="en-US" sz="900" dirty="0" smtClean="0">
                          <a:solidFill>
                            <a:srgbClr val="000000"/>
                          </a:solidFill>
                          <a:latin typeface="+mn-lt"/>
                          <a:cs typeface="Arial" pitchFamily="34" charset="0"/>
                        </a:rPr>
                        <a:t>assets being managed on behalf of strategic investors and the agreed fee rate.</a:t>
                      </a:r>
                      <a:r>
                        <a:rPr lang="en-US" sz="900" baseline="0" dirty="0" smtClean="0">
                          <a:solidFill>
                            <a:srgbClr val="000000"/>
                          </a:solidFill>
                          <a:latin typeface="+mn-lt"/>
                          <a:cs typeface="Arial" pitchFamily="34" charset="0"/>
                        </a:rPr>
                        <a:t> </a:t>
                      </a:r>
                      <a:r>
                        <a:rPr lang="en-US" sz="900" dirty="0" smtClean="0">
                          <a:solidFill>
                            <a:srgbClr val="000000"/>
                          </a:solidFill>
                          <a:latin typeface="+mn-lt"/>
                          <a:cs typeface="Arial" pitchFamily="34" charset="0"/>
                        </a:rPr>
                        <a:t>Management fees increased from $54 million in 2013 to $70 million in 2014. The increase was driven by</a:t>
                      </a:r>
                      <a:r>
                        <a:rPr lang="en-US" sz="900" baseline="0" dirty="0" smtClean="0">
                          <a:solidFill>
                            <a:srgbClr val="000000"/>
                          </a:solidFill>
                          <a:latin typeface="+mn-lt"/>
                          <a:cs typeface="Arial" pitchFamily="34" charset="0"/>
                        </a:rPr>
                        <a:t> the</a:t>
                      </a:r>
                      <a:r>
                        <a:rPr lang="en-US" sz="900" dirty="0" smtClean="0">
                          <a:solidFill>
                            <a:srgbClr val="000000"/>
                          </a:solidFill>
                          <a:latin typeface="+mn-lt"/>
                          <a:cs typeface="Arial" pitchFamily="34" charset="0"/>
                        </a:rPr>
                        <a:t> increase in assets in the SSLP program (which contributed an additional</a:t>
                      </a:r>
                      <a:r>
                        <a:rPr lang="en-US" sz="900" baseline="0" dirty="0" smtClean="0">
                          <a:solidFill>
                            <a:srgbClr val="000000"/>
                          </a:solidFill>
                          <a:latin typeface="+mn-lt"/>
                          <a:cs typeface="Arial" pitchFamily="34" charset="0"/>
                        </a:rPr>
                        <a:t> $11 million of fees), the MMGP program (an additional $1 million of fees) and other SIPs excluding </a:t>
                      </a:r>
                      <a:r>
                        <a:rPr lang="en-US" sz="900" baseline="0" dirty="0" err="1" smtClean="0">
                          <a:solidFill>
                            <a:srgbClr val="000000"/>
                          </a:solidFill>
                          <a:latin typeface="+mn-lt"/>
                          <a:cs typeface="Arial" pitchFamily="34" charset="0"/>
                        </a:rPr>
                        <a:t>Mubadala</a:t>
                      </a:r>
                      <a:r>
                        <a:rPr lang="en-US" sz="900" baseline="0" dirty="0" smtClean="0">
                          <a:solidFill>
                            <a:srgbClr val="000000"/>
                          </a:solidFill>
                          <a:latin typeface="+mn-lt"/>
                          <a:cs typeface="Arial" pitchFamily="34" charset="0"/>
                        </a:rPr>
                        <a:t> ($4 million in incremental fees)</a:t>
                      </a:r>
                      <a:r>
                        <a:rPr lang="en-US" sz="900" dirty="0" smtClean="0">
                          <a:solidFill>
                            <a:srgbClr val="000000"/>
                          </a:solidFill>
                          <a:latin typeface="+mn-lt"/>
                          <a:cs typeface="Arial" pitchFamily="34" charset="0"/>
                        </a:rPr>
                        <a:t>.</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dirty="0" smtClean="0">
                          <a:solidFill>
                            <a:srgbClr val="000000"/>
                          </a:solidFill>
                          <a:latin typeface="+mn-lt"/>
                          <a:cs typeface="Arial" pitchFamily="34" charset="0"/>
                        </a:rPr>
                        <a:t>Management fee rates (charged</a:t>
                      </a:r>
                      <a:r>
                        <a:rPr lang="en-US" sz="900" baseline="0" dirty="0" smtClean="0">
                          <a:solidFill>
                            <a:srgbClr val="000000"/>
                          </a:solidFill>
                          <a:latin typeface="+mn-lt"/>
                          <a:cs typeface="Arial" pitchFamily="34" charset="0"/>
                        </a:rPr>
                        <a:t> on assets under management) are 50 bps for SSLP and </a:t>
                      </a:r>
                      <a:r>
                        <a:rPr lang="en-US" sz="900" baseline="0" dirty="0" err="1" smtClean="0">
                          <a:solidFill>
                            <a:srgbClr val="000000"/>
                          </a:solidFill>
                          <a:latin typeface="+mn-lt"/>
                          <a:cs typeface="Arial" pitchFamily="34" charset="0"/>
                        </a:rPr>
                        <a:t>Mubadala</a:t>
                      </a:r>
                      <a:r>
                        <a:rPr lang="en-US" sz="900" baseline="0" dirty="0" smtClean="0">
                          <a:solidFill>
                            <a:srgbClr val="000000"/>
                          </a:solidFill>
                          <a:latin typeface="+mn-lt"/>
                          <a:cs typeface="Arial" pitchFamily="34" charset="0"/>
                        </a:rPr>
                        <a:t> assets, 37.5 bps for MMGP and between 25 and 50 bps on other SIPs. </a:t>
                      </a:r>
                      <a:r>
                        <a:rPr lang="en-US" sz="900" dirty="0" smtClean="0">
                          <a:solidFill>
                            <a:srgbClr val="000000"/>
                          </a:solidFill>
                          <a:latin typeface="+mn-lt"/>
                          <a:cs typeface="Arial" pitchFamily="34" charset="0"/>
                        </a:rPr>
                        <a:t>Management stated that there are growth opportunities in existing programs (MMGP; potential increase in SSLP capacity) and further opportunities (GSAM</a:t>
                      </a:r>
                      <a:r>
                        <a:rPr lang="en-US" sz="900" baseline="0" dirty="0" smtClean="0">
                          <a:solidFill>
                            <a:srgbClr val="000000"/>
                          </a:solidFill>
                          <a:latin typeface="+mn-lt"/>
                          <a:cs typeface="Arial" pitchFamily="34" charset="0"/>
                        </a:rPr>
                        <a:t> SIP, new revolver-only programs with a sovereign wealth fund and a state pension plan</a:t>
                      </a:r>
                      <a:r>
                        <a:rPr lang="en-US" sz="900" dirty="0" smtClean="0">
                          <a:solidFill>
                            <a:srgbClr val="000000"/>
                          </a:solidFill>
                          <a:latin typeface="+mn-lt"/>
                          <a:cs typeface="Arial" pitchFamily="34" charset="0"/>
                        </a:rPr>
                        <a:t>) are being negotiated.</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aseline="0" dirty="0" smtClean="0">
                          <a:solidFill>
                            <a:srgbClr val="000000"/>
                          </a:solidFill>
                          <a:latin typeface="+mn-lt"/>
                          <a:cs typeface="Arial" pitchFamily="34" charset="0"/>
                        </a:rPr>
                        <a:t>To the extent that certain SIPs are excluded from the contemplated transaction (i.e., Golden Hill CLO I, LLC), management fees from these SIPs will no longer be earned. We recommend that you consider this as part of your valuation model.</a:t>
                      </a:r>
                      <a:endParaRPr lang="en-US" sz="900" b="1" i="0" kern="1200" dirty="0" smtClean="0">
                        <a:solidFill>
                          <a:schemeClr val="tx1"/>
                        </a:solidFill>
                        <a:effectLst/>
                        <a:latin typeface="Arial" panose="020B0604020202020204" pitchFamily="34" charset="0"/>
                        <a:ea typeface="+mn-ea"/>
                        <a:cs typeface="Arial" panose="020B0604020202020204" pitchFamily="34" charset="0"/>
                      </a:endParaRPr>
                    </a:p>
                    <a:p>
                      <a:pPr marL="0" marR="0" lvl="2"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lang="en-US" sz="900" b="1" i="0" kern="1200" dirty="0" smtClean="0">
                          <a:solidFill>
                            <a:schemeClr val="tx1"/>
                          </a:solidFill>
                          <a:effectLst/>
                          <a:latin typeface="Arial" panose="020B0604020202020204" pitchFamily="34" charset="0"/>
                          <a:ea typeface="+mn-ea"/>
                          <a:cs typeface="Arial" panose="020B0604020202020204" pitchFamily="34" charset="0"/>
                        </a:rPr>
                        <a:t>Other Fees</a:t>
                      </a:r>
                      <a:endParaRPr lang="en-US" sz="900" b="1" i="0" dirty="0" smtClean="0"/>
                    </a:p>
                    <a:p>
                      <a:pPr marL="177800" lvl="2" indent="-177800">
                        <a:spcBef>
                          <a:spcPts val="600"/>
                        </a:spcBef>
                        <a:buClr>
                          <a:srgbClr val="97989A"/>
                        </a:buClr>
                        <a:buFont typeface="Arial" pitchFamily="34" charset="0"/>
                        <a:buChar char="■"/>
                        <a:defRPr/>
                      </a:pPr>
                      <a:r>
                        <a:rPr lang="en-US" sz="900" kern="1200" dirty="0" smtClean="0">
                          <a:solidFill>
                            <a:schemeClr val="tx1"/>
                          </a:solidFill>
                          <a:effectLst/>
                          <a:latin typeface="Arial" panose="020B0604020202020204" pitchFamily="34" charset="0"/>
                          <a:ea typeface="+mn-ea"/>
                          <a:cs typeface="Arial" panose="020B0604020202020204" pitchFamily="34" charset="0"/>
                        </a:rPr>
                        <a:t>Other fees principally include customer service fees (primarily annual</a:t>
                      </a:r>
                      <a:r>
                        <a:rPr lang="en-US" sz="900" kern="1200" baseline="0" dirty="0" smtClean="0">
                          <a:solidFill>
                            <a:schemeClr val="tx1"/>
                          </a:solidFill>
                          <a:effectLst/>
                          <a:latin typeface="Arial" panose="020B0604020202020204" pitchFamily="34" charset="0"/>
                          <a:ea typeface="+mn-ea"/>
                          <a:cs typeface="Arial" panose="020B0604020202020204" pitchFamily="34" charset="0"/>
                        </a:rPr>
                        <a:t> administrative fees, a set amount for each loan and typically $50,000 per year, but also fees charged to borrowers for re-pricing, waivers and amendments) and letter of credit fees (fees charged by Target to compensate Target for off-balance-sheet guarantees). Customer service fees, which are primarily a product of total on-book volume, have been relatively flat from 2013 ($29 million) to 2014 ($26 million), reflecting the relatively flat on-book volume over the period. Letter of credit fees have also been flat over the same period ($16 million and $17 million, respectively), presumably due to a flat notional amount relating to letters of credit provided (notional amount was $0.3 billion as at March 31, 2015).</a:t>
                      </a:r>
                    </a:p>
                    <a:p>
                      <a:pPr marL="177800" lvl="2" indent="-177800">
                        <a:spcBef>
                          <a:spcPts val="600"/>
                        </a:spcBef>
                        <a:buClr>
                          <a:srgbClr val="97989A"/>
                        </a:buClr>
                        <a:buFont typeface="Arial" pitchFamily="34" charset="0"/>
                        <a:buChar char="■"/>
                        <a:defRPr/>
                      </a:pPr>
                      <a:r>
                        <a:rPr lang="en-US" sz="900" kern="1200" baseline="0" dirty="0" smtClean="0">
                          <a:solidFill>
                            <a:schemeClr val="tx1"/>
                          </a:solidFill>
                          <a:effectLst/>
                          <a:latin typeface="Arial" panose="020B0604020202020204" pitchFamily="34" charset="0"/>
                          <a:ea typeface="+mn-ea"/>
                          <a:cs typeface="Arial" panose="020B0604020202020204" pitchFamily="34" charset="0"/>
                        </a:rPr>
                        <a:t>Due to system limitations, Management has been unable to provide data on these fees prior to 2012.</a:t>
                      </a:r>
                      <a:endParaRPr lang="en-US" sz="900" kern="1200" dirty="0" smtClean="0">
                        <a:solidFill>
                          <a:schemeClr val="tx1"/>
                        </a:solidFill>
                        <a:latin typeface="+mn-lt"/>
                        <a:ea typeface="+mn-ea"/>
                        <a:cs typeface="+mn-cs"/>
                      </a:endParaRPr>
                    </a:p>
                    <a:p>
                      <a:pPr marL="0" marR="0" lvl="2"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lang="en-US" sz="900" b="1" i="0" kern="1200" dirty="0" smtClean="0">
                          <a:solidFill>
                            <a:schemeClr val="tx1"/>
                          </a:solidFill>
                          <a:effectLst/>
                          <a:latin typeface="Arial" panose="020B0604020202020204" pitchFamily="34" charset="0"/>
                          <a:ea typeface="+mn-ea"/>
                          <a:cs typeface="Arial" panose="020B0604020202020204" pitchFamily="34" charset="0"/>
                        </a:rPr>
                        <a:t>Sweeps</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kern="1200" dirty="0" smtClean="0">
                          <a:solidFill>
                            <a:schemeClr val="tx1"/>
                          </a:solidFill>
                          <a:effectLst/>
                          <a:latin typeface="Arial" panose="020B0604020202020204" pitchFamily="34" charset="0"/>
                          <a:ea typeface="+mn-ea"/>
                          <a:cs typeface="Arial" panose="020B0604020202020204" pitchFamily="34" charset="0"/>
                        </a:rPr>
                        <a:t>Sweeps represent</a:t>
                      </a:r>
                      <a:r>
                        <a:rPr lang="en-US" sz="900" kern="1200" baseline="0" dirty="0" smtClean="0">
                          <a:solidFill>
                            <a:schemeClr val="tx1"/>
                          </a:solidFill>
                          <a:effectLst/>
                          <a:latin typeface="Arial" panose="020B0604020202020204" pitchFamily="34" charset="0"/>
                          <a:ea typeface="+mn-ea"/>
                          <a:cs typeface="Arial" panose="020B0604020202020204" pitchFamily="34" charset="0"/>
                        </a:rPr>
                        <a:t> </a:t>
                      </a:r>
                      <a:r>
                        <a:rPr lang="en-US" sz="900" kern="1200" dirty="0" smtClean="0">
                          <a:solidFill>
                            <a:schemeClr val="tx1"/>
                          </a:solidFill>
                          <a:effectLst/>
                          <a:latin typeface="Arial" panose="020B0604020202020204" pitchFamily="34" charset="0"/>
                          <a:ea typeface="+mn-ea"/>
                          <a:cs typeface="Arial" panose="020B0604020202020204" pitchFamily="34" charset="0"/>
                        </a:rPr>
                        <a:t>unamortized deferred fees that are “swept” into interest income typically when a loan prepays, or in certain cases when it is refinanced / restructured in a manner that represents a “more than only minor” modification under relevant</a:t>
                      </a:r>
                      <a:r>
                        <a:rPr lang="en-US" sz="900" kern="1200" baseline="0" dirty="0" smtClean="0">
                          <a:solidFill>
                            <a:schemeClr val="tx1"/>
                          </a:solidFill>
                          <a:effectLst/>
                          <a:latin typeface="Arial" panose="020B0604020202020204" pitchFamily="34" charset="0"/>
                          <a:ea typeface="+mn-ea"/>
                          <a:cs typeface="Arial" panose="020B0604020202020204" pitchFamily="34" charset="0"/>
                        </a:rPr>
                        <a:t> accounting standards</a:t>
                      </a:r>
                      <a:r>
                        <a:rPr lang="en-US" sz="900" kern="1200" dirty="0" smtClean="0">
                          <a:solidFill>
                            <a:schemeClr val="tx1"/>
                          </a:solidFill>
                          <a:effectLst/>
                          <a:latin typeface="Arial" panose="020B0604020202020204" pitchFamily="34" charset="0"/>
                          <a:ea typeface="+mn-ea"/>
                          <a:cs typeface="Arial" panose="020B0604020202020204" pitchFamily="34" charset="0"/>
                        </a:rPr>
                        <a:t>. In general, a modification to an existing loan is consider “more than only minor” if the</a:t>
                      </a:r>
                      <a:r>
                        <a:rPr lang="en-US" sz="900" kern="1200" baseline="0" dirty="0" smtClean="0">
                          <a:solidFill>
                            <a:schemeClr val="tx1"/>
                          </a:solidFill>
                          <a:effectLst/>
                          <a:latin typeface="Arial" panose="020B0604020202020204" pitchFamily="34" charset="0"/>
                          <a:ea typeface="+mn-ea"/>
                          <a:cs typeface="Arial" panose="020B0604020202020204" pitchFamily="34" charset="0"/>
                        </a:rPr>
                        <a:t> cash flows associated with a loan change substantially (&gt; 10% compared to the original loan). </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kern="1200" dirty="0" smtClean="0">
                          <a:solidFill>
                            <a:schemeClr val="tx1"/>
                          </a:solidFill>
                          <a:effectLst/>
                          <a:latin typeface="Arial" panose="020B0604020202020204" pitchFamily="34" charset="0"/>
                          <a:ea typeface="+mn-ea"/>
                          <a:cs typeface="Arial" panose="020B0604020202020204" pitchFamily="34" charset="0"/>
                        </a:rPr>
                        <a:t>Unamortized amounts swept</a:t>
                      </a:r>
                      <a:r>
                        <a:rPr lang="en-US" sz="900" kern="1200" baseline="0" dirty="0" smtClean="0">
                          <a:solidFill>
                            <a:schemeClr val="tx1"/>
                          </a:solidFill>
                          <a:effectLst/>
                          <a:latin typeface="Arial" panose="020B0604020202020204" pitchFamily="34" charset="0"/>
                          <a:ea typeface="+mn-ea"/>
                          <a:cs typeface="Arial" panose="020B0604020202020204" pitchFamily="34" charset="0"/>
                        </a:rPr>
                        <a:t> into interest income </a:t>
                      </a:r>
                      <a:r>
                        <a:rPr lang="en-US" sz="900" kern="1200" dirty="0" smtClean="0">
                          <a:solidFill>
                            <a:schemeClr val="tx1"/>
                          </a:solidFill>
                          <a:effectLst/>
                          <a:latin typeface="Arial" panose="020B0604020202020204" pitchFamily="34" charset="0"/>
                          <a:ea typeface="+mn-ea"/>
                          <a:cs typeface="Arial" panose="020B0604020202020204" pitchFamily="34" charset="0"/>
                        </a:rPr>
                        <a:t>increased from $29 million in 2013 to $42 million in 2014. Refinancing</a:t>
                      </a:r>
                      <a:r>
                        <a:rPr lang="en-US" sz="900" kern="1200" baseline="0" dirty="0" smtClean="0">
                          <a:solidFill>
                            <a:schemeClr val="tx1"/>
                          </a:solidFill>
                          <a:effectLst/>
                          <a:latin typeface="Arial" panose="020B0604020202020204" pitchFamily="34" charset="0"/>
                          <a:ea typeface="+mn-ea"/>
                          <a:cs typeface="Arial" panose="020B0604020202020204" pitchFamily="34" charset="0"/>
                        </a:rPr>
                        <a:t> / restructuring of loans is more prevalent during times of declining interest rates, when borrowers can derive considerable benefit from renegotiating loan terms. </a:t>
                      </a:r>
                      <a:endParaRPr lang="en-US" sz="900" kern="1200" dirty="0" smtClean="0">
                        <a:solidFill>
                          <a:schemeClr val="tx1"/>
                        </a:solidFill>
                        <a:effectLst/>
                        <a:latin typeface="Arial" panose="020B0604020202020204" pitchFamily="34" charset="0"/>
                        <a:ea typeface="+mn-ea"/>
                        <a:cs typeface="Arial" panose="020B0604020202020204" pitchFamily="34" charset="0"/>
                      </a:endParaRP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Appendix 7</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r>
            </a:tbl>
          </a:graphicData>
        </a:graphic>
      </p:graphicFrame>
      <p:sp>
        <p:nvSpPr>
          <p:cNvPr id="13" name="Title 3"/>
          <p:cNvSpPr>
            <a:spLocks noGrp="1"/>
          </p:cNvSpPr>
          <p:nvPr>
            <p:ph type="title"/>
          </p:nvPr>
        </p:nvSpPr>
        <p:spPr>
          <a:xfrm>
            <a:off x="2123728" y="116632"/>
            <a:ext cx="6768752" cy="576064"/>
          </a:xfrm>
        </p:spPr>
        <p:txBody>
          <a:bodyPr/>
          <a:lstStyle/>
          <a:p>
            <a:r>
              <a:rPr lang="en-US" sz="1400" b="0" dirty="0">
                <a:solidFill>
                  <a:srgbClr val="747678"/>
                </a:solidFill>
              </a:rPr>
              <a:t>Executive summary</a:t>
            </a:r>
            <a:r>
              <a:rPr lang="en-US" dirty="0" smtClean="0"/>
              <a:t/>
            </a:r>
            <a:br>
              <a:rPr lang="en-US" dirty="0" smtClean="0"/>
            </a:br>
            <a:r>
              <a:rPr lang="en-US" dirty="0" smtClean="0"/>
              <a:t>Key findings: financial (14)</a:t>
            </a:r>
            <a:endParaRPr lang="en-US" dirty="0"/>
          </a:p>
        </p:txBody>
      </p:sp>
    </p:spTree>
    <p:extLst>
      <p:ext uri="{BB962C8B-B14F-4D97-AF65-F5344CB8AC3E}">
        <p14:creationId xmlns:p14="http://schemas.microsoft.com/office/powerpoint/2010/main" val="409710022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3"/>
          <p:cNvGraphicFramePr>
            <a:graphicFrameLocks noGrp="1"/>
          </p:cNvGraphicFramePr>
          <p:nvPr>
            <p:extLst>
              <p:ext uri="{D42A27DB-BD31-4B8C-83A1-F6EECF244321}">
                <p14:modId xmlns:p14="http://schemas.microsoft.com/office/powerpoint/2010/main" val="2484293892"/>
              </p:ext>
            </p:extLst>
          </p:nvPr>
        </p:nvGraphicFramePr>
        <p:xfrm>
          <a:off x="252046" y="1219200"/>
          <a:ext cx="8663354" cy="5056986"/>
        </p:xfrm>
        <a:graphic>
          <a:graphicData uri="http://schemas.openxmlformats.org/drawingml/2006/table">
            <a:tbl>
              <a:tblPr/>
              <a:tblGrid>
                <a:gridCol w="1043354"/>
                <a:gridCol w="6629400"/>
                <a:gridCol w="990600"/>
              </a:tblGrid>
              <a:tr h="376986">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1000" b="1" i="0" u="none" strike="noStrike" cap="none" normalizeH="0" baseline="0" dirty="0" smtClean="0">
                          <a:ln>
                            <a:noFill/>
                          </a:ln>
                          <a:solidFill>
                            <a:schemeClr val="bg1"/>
                          </a:solidFill>
                          <a:effectLst/>
                          <a:latin typeface="Arial"/>
                          <a:cs typeface="Arial" pitchFamily="34" charset="0"/>
                        </a:rPr>
                        <a:t>Finding</a:t>
                      </a:r>
                      <a:endParaRPr kumimoji="0" lang="en-US" sz="900" b="1" i="0" u="none" strike="noStrike" cap="none" normalizeH="0" baseline="0" dirty="0" smtClean="0">
                        <a:ln>
                          <a:noFill/>
                        </a:ln>
                        <a:solidFill>
                          <a:schemeClr val="bg1"/>
                        </a:solidFill>
                        <a:effectLst/>
                        <a:latin typeface="Arial"/>
                        <a:cs typeface="Arial" pitchFamily="34" charset="0"/>
                      </a:endParaRP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Summary observations</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Reference</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r>
              <a:tr h="1474040">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900" b="1" i="0" u="none" strike="noStrike" cap="none" normalizeH="0" baseline="0" dirty="0" smtClean="0">
                          <a:ln>
                            <a:noFill/>
                          </a:ln>
                          <a:solidFill>
                            <a:schemeClr val="accent4"/>
                          </a:solidFill>
                          <a:effectLst/>
                          <a:latin typeface="Arial"/>
                          <a:cs typeface="Arial" pitchFamily="34" charset="0"/>
                        </a:rPr>
                        <a:t>Equity co-investments</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Target has made equity investments in 168</a:t>
                      </a:r>
                      <a:r>
                        <a:rPr lang="en-US" sz="900" b="1" kern="1200" baseline="0" noProof="0" dirty="0" smtClean="0">
                          <a:solidFill>
                            <a:srgbClr val="FF0000"/>
                          </a:solidFill>
                          <a:latin typeface="+mn-lt"/>
                          <a:ea typeface="+mn-ea"/>
                          <a:cs typeface="Arial" pitchFamily="34" charset="0"/>
                        </a:rPr>
                        <a:t> </a:t>
                      </a:r>
                      <a:r>
                        <a:rPr lang="en-US" sz="900" b="0" kern="1200" baseline="0" noProof="0" dirty="0" smtClean="0">
                          <a:solidFill>
                            <a:schemeClr val="tx1"/>
                          </a:solidFill>
                          <a:latin typeface="+mn-lt"/>
                          <a:ea typeface="+mn-ea"/>
                          <a:cs typeface="Arial" pitchFamily="34" charset="0"/>
                        </a:rPr>
                        <a:t>borrowers totaling $475 million as at March 31, 2015 to provide another source of income and help facilitate client relationships. These investments are diversified across various sectors such that there is minimal industry concentration risk.</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The typical equity investment is between $3 and $7 million, and generally represents an ownership interest between 0.5% and 3.0%. The average investment amount and ownership interest across the portfolio is $2.5 million and 2.3%, respectively. </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b="0" kern="1200" baseline="0" noProof="0" dirty="0" smtClean="0">
                        <a:solidFill>
                          <a:schemeClr val="tx1"/>
                        </a:solidFill>
                        <a:latin typeface="+mn-lt"/>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b="0" kern="1200" baseline="0" noProof="0" dirty="0" smtClean="0">
                        <a:solidFill>
                          <a:schemeClr val="tx1"/>
                        </a:solidFill>
                        <a:latin typeface="+mn-lt"/>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b="0" kern="1200" baseline="0" noProof="0" dirty="0" smtClean="0">
                        <a:solidFill>
                          <a:schemeClr val="tx1"/>
                        </a:solidFill>
                        <a:latin typeface="+mn-lt"/>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b="0" kern="1200" baseline="0" noProof="0" dirty="0" smtClean="0">
                        <a:solidFill>
                          <a:schemeClr val="tx1"/>
                        </a:solidFill>
                        <a:latin typeface="+mn-lt"/>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b="0" kern="1200" baseline="0" noProof="0" dirty="0" smtClean="0">
                        <a:solidFill>
                          <a:schemeClr val="tx1"/>
                        </a:solidFill>
                        <a:latin typeface="+mn-lt"/>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b="0" kern="1200" baseline="0" noProof="0" dirty="0" smtClean="0">
                        <a:solidFill>
                          <a:schemeClr val="tx1"/>
                        </a:solidFill>
                        <a:latin typeface="+mn-lt"/>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b="0" kern="1200" baseline="0" noProof="0" dirty="0" smtClean="0">
                        <a:solidFill>
                          <a:schemeClr val="tx1"/>
                        </a:solidFill>
                        <a:latin typeface="+mn-lt"/>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b="0" kern="1200" baseline="0" noProof="0" dirty="0" smtClean="0">
                        <a:solidFill>
                          <a:schemeClr val="tx1"/>
                        </a:solidFill>
                        <a:latin typeface="+mn-lt"/>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b="0" kern="1200" baseline="0" noProof="0" dirty="0" smtClean="0">
                        <a:solidFill>
                          <a:schemeClr val="tx1"/>
                        </a:solidFill>
                        <a:latin typeface="+mn-lt"/>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b="0" kern="1200" baseline="0" noProof="0" dirty="0" smtClean="0">
                        <a:solidFill>
                          <a:schemeClr val="tx1"/>
                        </a:solidFill>
                        <a:latin typeface="+mn-lt"/>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b="0" kern="1200" baseline="0" noProof="0" dirty="0" smtClean="0">
                        <a:solidFill>
                          <a:schemeClr val="tx1"/>
                        </a:solidFill>
                        <a:latin typeface="+mn-lt"/>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Of the 168 equity investments as at March 31, 2015, only 2 had an ownership stake greater than 10%; the largest of which is a 20.5% interest (valued at $13 million) in a trucking company. The majority of larger investments result from troubled loan workouts. </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Approximately 62% of equity investments have been valued with an EBITDA multiple of between 9.0-12.0x. EBITDA multiples within industries / sub-industries are fairly consistent with the industry / sub-industry average.</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Gains from equity investments, which are recognized upon sale of the investment, over the past nine quarters have ranged from $17 million (in Q1’14) to $44 million in (Q4’14). </a:t>
                      </a:r>
                      <a:r>
                        <a:rPr kumimoji="0" lang="en-US" sz="900" b="0" i="0" u="none" strike="noStrike" kern="1200" cap="none" spc="0" normalizeH="0" baseline="0" dirty="0" smtClean="0">
                          <a:ln>
                            <a:noFill/>
                          </a:ln>
                          <a:solidFill>
                            <a:schemeClr val="tx1"/>
                          </a:solidFill>
                          <a:effectLst/>
                          <a:uLnTx/>
                          <a:uFillTx/>
                          <a:latin typeface="+mn-lt"/>
                          <a:ea typeface="+mn-ea"/>
                          <a:cs typeface="Arial" pitchFamily="34" charset="0"/>
                        </a:rPr>
                        <a:t>Management </a:t>
                      </a:r>
                      <a:r>
                        <a:rPr kumimoji="0" lang="en-US" sz="900" b="0" i="0" u="none" strike="noStrike" kern="1200" cap="none" spc="0" normalizeH="0" baseline="0" dirty="0" smtClean="0">
                          <a:ln>
                            <a:noFill/>
                          </a:ln>
                          <a:solidFill>
                            <a:srgbClr val="000000"/>
                          </a:solidFill>
                          <a:effectLst/>
                          <a:uLnTx/>
                          <a:uFillTx/>
                          <a:latin typeface="+mn-lt"/>
                          <a:ea typeface="+mn-ea"/>
                          <a:cs typeface="Arial" pitchFamily="34" charset="0"/>
                        </a:rPr>
                        <a:t>stated they believe the existing portfolio currently has approximately $300 million of embedded gains that are forecasted to be recognized to earnings as the investments are sold over the next three years.</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Appendix 10</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r>
            </a:tbl>
          </a:graphicData>
        </a:graphic>
      </p:graphicFrame>
      <p:sp>
        <p:nvSpPr>
          <p:cNvPr id="13" name="Title 3"/>
          <p:cNvSpPr>
            <a:spLocks noGrp="1"/>
          </p:cNvSpPr>
          <p:nvPr>
            <p:ph type="title"/>
          </p:nvPr>
        </p:nvSpPr>
        <p:spPr>
          <a:xfrm>
            <a:off x="2123728" y="116632"/>
            <a:ext cx="6768752" cy="576064"/>
          </a:xfrm>
        </p:spPr>
        <p:txBody>
          <a:bodyPr/>
          <a:lstStyle/>
          <a:p>
            <a:r>
              <a:rPr lang="en-US" sz="1400" b="0" dirty="0">
                <a:solidFill>
                  <a:srgbClr val="747678"/>
                </a:solidFill>
              </a:rPr>
              <a:t>Executive summary</a:t>
            </a:r>
            <a:r>
              <a:rPr lang="en-US" dirty="0" smtClean="0"/>
              <a:t/>
            </a:r>
            <a:br>
              <a:rPr lang="en-US" dirty="0" smtClean="0"/>
            </a:br>
            <a:r>
              <a:rPr lang="en-US" dirty="0" smtClean="0"/>
              <a:t>Key findings: financial (15)</a:t>
            </a:r>
            <a:endParaRPr lang="en-US" dirty="0"/>
          </a:p>
        </p:txBody>
      </p:sp>
      <p:pic>
        <p:nvPicPr>
          <p:cNvPr id="4" name="Picture 3"/>
          <p:cNvPicPr>
            <a:picLocks noChangeAspect="1"/>
          </p:cNvPicPr>
          <p:nvPr/>
        </p:nvPicPr>
        <p:blipFill>
          <a:blip r:embed="rId5"/>
          <a:stretch>
            <a:fillRect/>
          </a:stretch>
        </p:blipFill>
        <p:spPr>
          <a:xfrm>
            <a:off x="4694908" y="2390585"/>
            <a:ext cx="3915692" cy="2456401"/>
          </a:xfrm>
          <a:prstGeom prst="rect">
            <a:avLst/>
          </a:prstGeom>
        </p:spPr>
      </p:pic>
      <p:sp>
        <p:nvSpPr>
          <p:cNvPr id="6" name="Text Box 8"/>
          <p:cNvSpPr txBox="1">
            <a:spLocks noChangeArrowheads="1"/>
          </p:cNvSpPr>
          <p:nvPr>
            <p:custDataLst>
              <p:tags r:id="rId1"/>
            </p:custDataLst>
          </p:nvPr>
        </p:nvSpPr>
        <p:spPr bwMode="gray">
          <a:xfrm>
            <a:off x="4932697" y="4650544"/>
            <a:ext cx="4211303" cy="92333"/>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cs typeface="Arial" pitchFamily="34" charset="0"/>
              </a:rPr>
              <a:t>Source</a:t>
            </a:r>
            <a:r>
              <a:rPr lang="en-US" sz="600" i="1" dirty="0">
                <a:cs typeface="Arial" pitchFamily="34" charset="0"/>
              </a:rPr>
              <a:t>: </a:t>
            </a:r>
            <a:r>
              <a:rPr lang="en-US" sz="600" i="1" dirty="0" smtClean="0">
                <a:cs typeface="Arial" pitchFamily="34" charset="0"/>
              </a:rPr>
              <a:t> A.6 </a:t>
            </a:r>
            <a:r>
              <a:rPr lang="en-US" sz="600" i="1" dirty="0">
                <a:cs typeface="Arial" pitchFamily="34" charset="0"/>
              </a:rPr>
              <a:t>Atlas Equity Data Tape.xlsx</a:t>
            </a:r>
            <a:endParaRPr lang="en-US" sz="600" i="1" dirty="0" smtClean="0">
              <a:latin typeface="Arial"/>
              <a:cs typeface="Arial" pitchFamily="34" charset="0"/>
            </a:endParaRPr>
          </a:p>
        </p:txBody>
      </p:sp>
      <p:pic>
        <p:nvPicPr>
          <p:cNvPr id="7" name="Picture 6"/>
          <p:cNvPicPr>
            <a:picLocks noChangeAspect="1"/>
          </p:cNvPicPr>
          <p:nvPr/>
        </p:nvPicPr>
        <p:blipFill>
          <a:blip r:embed="rId6"/>
          <a:stretch>
            <a:fillRect/>
          </a:stretch>
        </p:blipFill>
        <p:spPr>
          <a:xfrm>
            <a:off x="1600200" y="2362200"/>
            <a:ext cx="3915692" cy="2456401"/>
          </a:xfrm>
          <a:prstGeom prst="rect">
            <a:avLst/>
          </a:prstGeom>
        </p:spPr>
      </p:pic>
      <p:sp>
        <p:nvSpPr>
          <p:cNvPr id="8" name="Text Box 8"/>
          <p:cNvSpPr txBox="1">
            <a:spLocks noChangeArrowheads="1"/>
          </p:cNvSpPr>
          <p:nvPr>
            <p:custDataLst>
              <p:tags r:id="rId2"/>
            </p:custDataLst>
          </p:nvPr>
        </p:nvSpPr>
        <p:spPr bwMode="gray">
          <a:xfrm>
            <a:off x="1574906" y="4648200"/>
            <a:ext cx="4211303" cy="92333"/>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cs typeface="Arial" pitchFamily="34" charset="0"/>
              </a:rPr>
              <a:t>Source</a:t>
            </a:r>
            <a:r>
              <a:rPr lang="en-US" sz="600" i="1" dirty="0">
                <a:cs typeface="Arial" pitchFamily="34" charset="0"/>
              </a:rPr>
              <a:t>: </a:t>
            </a:r>
            <a:r>
              <a:rPr lang="en-US" sz="600" i="1" dirty="0" smtClean="0">
                <a:cs typeface="Arial" pitchFamily="34" charset="0"/>
              </a:rPr>
              <a:t> A.6 </a:t>
            </a:r>
            <a:r>
              <a:rPr lang="en-US" sz="600" i="1" dirty="0">
                <a:cs typeface="Arial" pitchFamily="34" charset="0"/>
              </a:rPr>
              <a:t>Atlas Equity Data Tape.xlsx</a:t>
            </a:r>
            <a:endParaRPr lang="en-US" sz="600" i="1" dirty="0" smtClean="0">
              <a:latin typeface="Arial"/>
              <a:cs typeface="Arial" pitchFamily="34" charset="0"/>
            </a:endParaRPr>
          </a:p>
        </p:txBody>
      </p:sp>
    </p:spTree>
    <p:extLst>
      <p:ext uri="{BB962C8B-B14F-4D97-AF65-F5344CB8AC3E}">
        <p14:creationId xmlns:p14="http://schemas.microsoft.com/office/powerpoint/2010/main" val="224372400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3"/>
          <p:cNvGraphicFramePr>
            <a:graphicFrameLocks noGrp="1"/>
          </p:cNvGraphicFramePr>
          <p:nvPr>
            <p:extLst>
              <p:ext uri="{D42A27DB-BD31-4B8C-83A1-F6EECF244321}">
                <p14:modId xmlns:p14="http://schemas.microsoft.com/office/powerpoint/2010/main" val="47259045"/>
              </p:ext>
            </p:extLst>
          </p:nvPr>
        </p:nvGraphicFramePr>
        <p:xfrm>
          <a:off x="252046" y="1219200"/>
          <a:ext cx="8663354" cy="4432146"/>
        </p:xfrm>
        <a:graphic>
          <a:graphicData uri="http://schemas.openxmlformats.org/drawingml/2006/table">
            <a:tbl>
              <a:tblPr/>
              <a:tblGrid>
                <a:gridCol w="1043354"/>
                <a:gridCol w="6629400"/>
                <a:gridCol w="990600"/>
              </a:tblGrid>
              <a:tr h="376986">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1000" b="1" i="0" u="none" strike="noStrike" cap="none" normalizeH="0" baseline="0" dirty="0" smtClean="0">
                          <a:ln>
                            <a:noFill/>
                          </a:ln>
                          <a:solidFill>
                            <a:schemeClr val="bg1"/>
                          </a:solidFill>
                          <a:effectLst/>
                          <a:latin typeface="Arial"/>
                          <a:cs typeface="Arial" pitchFamily="34" charset="0"/>
                        </a:rPr>
                        <a:t>Finding</a:t>
                      </a:r>
                      <a:endParaRPr kumimoji="0" lang="en-US" sz="900" b="1" i="0" u="none" strike="noStrike" cap="none" normalizeH="0" baseline="0" dirty="0" smtClean="0">
                        <a:ln>
                          <a:noFill/>
                        </a:ln>
                        <a:solidFill>
                          <a:schemeClr val="bg1"/>
                        </a:solidFill>
                        <a:effectLst/>
                        <a:latin typeface="Arial"/>
                        <a:cs typeface="Arial" pitchFamily="34" charset="0"/>
                      </a:endParaRP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Summary observations</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Reference</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r>
              <a:tr h="1474040">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900" b="1" i="0" u="none" strike="noStrike" cap="none" normalizeH="0" baseline="0" dirty="0" smtClean="0">
                          <a:ln>
                            <a:noFill/>
                          </a:ln>
                          <a:solidFill>
                            <a:schemeClr val="accent4"/>
                          </a:solidFill>
                          <a:effectLst/>
                          <a:latin typeface="Arial"/>
                          <a:cs typeface="Arial" pitchFamily="34" charset="0"/>
                        </a:rPr>
                        <a:t>Portfolio yield</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dirty="0" smtClean="0">
                          <a:solidFill>
                            <a:schemeClr val="tx1"/>
                          </a:solidFill>
                          <a:latin typeface="+mn-lt"/>
                          <a:ea typeface="+mn-ea"/>
                          <a:cs typeface="Arial" pitchFamily="34" charset="0"/>
                        </a:rPr>
                        <a:t>On a portfolio basis, yields have decreased over the historical period analyzed. Interest income yield in Q1’15 was 4.78%, compared to 4.95% in 2014 and 5.53% in 2013. Management’s yield calculations include the amortization of deferred fees (i.e., closing fees). The differential is directionally consistent but larger (62 bps from 2013 to 2014, and another 58 bps from 2014 to Q1’15) when such amortization is included in yield calculations. </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dirty="0" smtClean="0">
                          <a:solidFill>
                            <a:schemeClr val="tx1"/>
                          </a:solidFill>
                          <a:latin typeface="+mn-lt"/>
                          <a:ea typeface="+mn-ea"/>
                          <a:cs typeface="Arial" pitchFamily="34" charset="0"/>
                        </a:rPr>
                        <a:t>The primary driver for this decline is the replacement of high-yield loans underwritten post-crisis by new or refinanced loans priced lower. Management states that this trend is expected to persist into 2017. We recommend that you consider how projected portfolio run-offs and the replenishment of the portfolio with lower-priced loans will impact yields over the forecast period, including if and when yields on new loans can be expected to stabilize.</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dirty="0" smtClean="0">
                          <a:solidFill>
                            <a:schemeClr val="tx1"/>
                          </a:solidFill>
                          <a:latin typeface="+mn-lt"/>
                          <a:ea typeface="+mn-ea"/>
                          <a:cs typeface="Arial" pitchFamily="34" charset="0"/>
                        </a:rPr>
                        <a:t>Further contributing to this decrease is the growth in the SSLP and MMGP strategic investor programs. Interest income yield (excluding amortization of discounts) on SSLP loans is significantly lower than the corresponding portfolio-wide yield. Interest income yield on SSLP loans was 3.98% in 2013 versus 5.40% for the entire portfolio; in 2014, SSLP yield was 3.85% compared to 4.91% for the entire portfolio. These lower yields reflect the lower risk associated with these programs as a result of pooled first-loss mechanisms and other protection mechanisms that are built into the programs. The growth of these programs as a proportion of the total portfolio has exerted downward pressure on overall yield. It is our understanding SSLP and MMGP senior debt will not be included in your bid. Excluding the SSLP loans, the interest income yield on the portfolio was 6.10% in 2013 and 5.55% in 2014.</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dirty="0" smtClean="0">
                          <a:solidFill>
                            <a:schemeClr val="tx1"/>
                          </a:solidFill>
                          <a:latin typeface="+mn-lt"/>
                          <a:ea typeface="+mn-ea"/>
                          <a:cs typeface="Arial" pitchFamily="34" charset="0"/>
                        </a:rPr>
                        <a:t>Fee income yield has been relatively flat from 2013 (2.84%) to 2014 (2.86%). While we have calculated fee income yield using average receivables as a base in order to provide a view on fee income that you can expect to generate from a given investment in funded assets, we note here that fee income is generated primarily through syndication and assets under management, not average receivables. With a given average receivables base, a decrease in volume syndicated or in assets under management post-transaction will result in lower fee income and lower fee income yields.</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dirty="0" smtClean="0">
                          <a:solidFill>
                            <a:schemeClr val="tx1"/>
                          </a:solidFill>
                          <a:latin typeface="+mn-lt"/>
                          <a:ea typeface="+mn-ea"/>
                          <a:cs typeface="Arial" pitchFamily="34" charset="0"/>
                        </a:rPr>
                        <a:t>Total revenue yield on the portfolio, which includes interest income, fee income and other income (and is calculated with average receivables as a base), decreased 86 bps, from 9.43% in 2013 to 8.56% in 2014. The decrease is driven primarily by the decrease in interest income yields. Contributing further to this decrease is the decline in equity gains and the increase in FAS 91 expense allocations (due to a change in allocation policy / methodology over the historical period). </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dirty="0" smtClean="0">
                          <a:solidFill>
                            <a:schemeClr val="tx1"/>
                          </a:solidFill>
                          <a:latin typeface="+mn-lt"/>
                          <a:ea typeface="+mn-ea"/>
                          <a:cs typeface="Arial" pitchFamily="34" charset="0"/>
                        </a:rPr>
                        <a:t>Refer to Appendix 11 for an illustrative example of income and fees (and the related accounting) for a typical cash-flow loan.</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Appendix 11 and 12</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r>
            </a:tbl>
          </a:graphicData>
        </a:graphic>
      </p:graphicFrame>
      <p:sp>
        <p:nvSpPr>
          <p:cNvPr id="13" name="Title 3"/>
          <p:cNvSpPr>
            <a:spLocks noGrp="1"/>
          </p:cNvSpPr>
          <p:nvPr>
            <p:ph type="title"/>
          </p:nvPr>
        </p:nvSpPr>
        <p:spPr>
          <a:xfrm>
            <a:off x="2123728" y="116632"/>
            <a:ext cx="6768752" cy="576064"/>
          </a:xfrm>
        </p:spPr>
        <p:txBody>
          <a:bodyPr/>
          <a:lstStyle/>
          <a:p>
            <a:r>
              <a:rPr lang="en-US" sz="1400" b="0" dirty="0">
                <a:solidFill>
                  <a:srgbClr val="747678"/>
                </a:solidFill>
              </a:rPr>
              <a:t>Executive summary</a:t>
            </a:r>
            <a:r>
              <a:rPr lang="en-US" dirty="0" smtClean="0"/>
              <a:t/>
            </a:r>
            <a:br>
              <a:rPr lang="en-US" dirty="0" smtClean="0"/>
            </a:br>
            <a:r>
              <a:rPr lang="en-US" dirty="0" smtClean="0"/>
              <a:t>Key findings: financial (16)</a:t>
            </a:r>
            <a:endParaRPr lang="en-US" dirty="0"/>
          </a:p>
        </p:txBody>
      </p:sp>
    </p:spTree>
    <p:extLst>
      <p:ext uri="{BB962C8B-B14F-4D97-AF65-F5344CB8AC3E}">
        <p14:creationId xmlns:p14="http://schemas.microsoft.com/office/powerpoint/2010/main" val="406537172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3"/>
          <p:cNvGraphicFramePr>
            <a:graphicFrameLocks noGrp="1"/>
          </p:cNvGraphicFramePr>
          <p:nvPr>
            <p:extLst>
              <p:ext uri="{D42A27DB-BD31-4B8C-83A1-F6EECF244321}">
                <p14:modId xmlns:p14="http://schemas.microsoft.com/office/powerpoint/2010/main" val="2415680683"/>
              </p:ext>
            </p:extLst>
          </p:nvPr>
        </p:nvGraphicFramePr>
        <p:xfrm>
          <a:off x="252046" y="1219200"/>
          <a:ext cx="8663354" cy="4416906"/>
        </p:xfrm>
        <a:graphic>
          <a:graphicData uri="http://schemas.openxmlformats.org/drawingml/2006/table">
            <a:tbl>
              <a:tblPr/>
              <a:tblGrid>
                <a:gridCol w="1043354"/>
                <a:gridCol w="6629400"/>
                <a:gridCol w="990600"/>
              </a:tblGrid>
              <a:tr h="376986">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1000" b="1" i="0" u="none" strike="noStrike" cap="none" normalizeH="0" baseline="0" dirty="0" smtClean="0">
                          <a:ln>
                            <a:noFill/>
                          </a:ln>
                          <a:solidFill>
                            <a:schemeClr val="bg1"/>
                          </a:solidFill>
                          <a:effectLst/>
                          <a:latin typeface="Arial"/>
                          <a:cs typeface="Arial" pitchFamily="34" charset="0"/>
                        </a:rPr>
                        <a:t>Finding</a:t>
                      </a:r>
                      <a:endParaRPr kumimoji="0" lang="en-US" sz="900" b="1" i="0" u="none" strike="noStrike" cap="none" normalizeH="0" baseline="0" dirty="0" smtClean="0">
                        <a:ln>
                          <a:noFill/>
                        </a:ln>
                        <a:solidFill>
                          <a:schemeClr val="bg1"/>
                        </a:solidFill>
                        <a:effectLst/>
                        <a:latin typeface="Arial"/>
                        <a:cs typeface="Arial" pitchFamily="34" charset="0"/>
                      </a:endParaRP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Summary observations</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Reference</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r>
              <a:tr h="1474040">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900" b="1" i="0" u="none" strike="noStrike" cap="none" normalizeH="0" baseline="0" dirty="0" smtClean="0">
                          <a:ln>
                            <a:noFill/>
                          </a:ln>
                          <a:solidFill>
                            <a:schemeClr val="accent4"/>
                          </a:solidFill>
                          <a:effectLst/>
                          <a:latin typeface="Arial"/>
                          <a:cs typeface="Arial" pitchFamily="34" charset="0"/>
                        </a:rPr>
                        <a:t>Cash requirements</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0" marR="0" lvl="2"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endParaRPr lang="en-US" sz="900" b="0" kern="1200" baseline="0" noProof="0" dirty="0" smtClean="0">
                        <a:solidFill>
                          <a:schemeClr val="tx1"/>
                        </a:solidFill>
                        <a:latin typeface="+mn-lt"/>
                        <a:ea typeface="+mn-ea"/>
                        <a:cs typeface="Arial" pitchFamily="34" charset="0"/>
                      </a:endParaRPr>
                    </a:p>
                    <a:p>
                      <a:pPr marL="0" marR="0" lvl="2"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endParaRPr lang="en-US" sz="900" b="0" kern="1200" baseline="0" noProof="0" dirty="0" smtClean="0">
                        <a:solidFill>
                          <a:schemeClr val="tx1"/>
                        </a:solidFill>
                        <a:latin typeface="+mn-lt"/>
                        <a:ea typeface="+mn-ea"/>
                        <a:cs typeface="Arial" pitchFamily="34" charset="0"/>
                      </a:endParaRPr>
                    </a:p>
                    <a:p>
                      <a:pPr marL="0" marR="0" lvl="2"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endParaRPr lang="en-US" sz="900" b="0" kern="1200" baseline="0" noProof="0" dirty="0" smtClean="0">
                        <a:solidFill>
                          <a:schemeClr val="tx1"/>
                        </a:solidFill>
                        <a:latin typeface="+mn-lt"/>
                        <a:ea typeface="+mn-ea"/>
                        <a:cs typeface="Arial" pitchFamily="34" charset="0"/>
                      </a:endParaRPr>
                    </a:p>
                    <a:p>
                      <a:pPr marL="0" marR="0" lvl="2"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endParaRPr lang="en-US" sz="900" b="0" kern="1200" baseline="0" noProof="0" dirty="0" smtClean="0">
                        <a:solidFill>
                          <a:schemeClr val="tx1"/>
                        </a:solidFill>
                        <a:latin typeface="+mn-lt"/>
                        <a:ea typeface="+mn-ea"/>
                        <a:cs typeface="Arial" pitchFamily="34" charset="0"/>
                      </a:endParaRPr>
                    </a:p>
                    <a:p>
                      <a:pPr marL="0" marR="0" lvl="2"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endParaRPr lang="en-US" sz="900" b="0" kern="1200" baseline="0" noProof="0" dirty="0" smtClean="0">
                        <a:solidFill>
                          <a:schemeClr val="tx1"/>
                        </a:solidFill>
                        <a:latin typeface="+mn-lt"/>
                        <a:ea typeface="+mn-ea"/>
                        <a:cs typeface="Arial" pitchFamily="34" charset="0"/>
                      </a:endParaRPr>
                    </a:p>
                    <a:p>
                      <a:pPr marL="0" marR="0" lvl="2"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endParaRPr lang="en-US" sz="900" b="0" kern="1200" baseline="0" noProof="0" dirty="0" smtClean="0">
                        <a:solidFill>
                          <a:schemeClr val="tx1"/>
                        </a:solidFill>
                        <a:latin typeface="+mn-lt"/>
                        <a:ea typeface="+mn-ea"/>
                        <a:cs typeface="Arial" pitchFamily="34" charset="0"/>
                      </a:endParaRPr>
                    </a:p>
                    <a:p>
                      <a:pPr marL="0" marR="0" lvl="2"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endParaRPr lang="en-US" sz="900" b="0" kern="1200" baseline="0" noProof="0" dirty="0" smtClean="0">
                        <a:solidFill>
                          <a:schemeClr val="tx1"/>
                        </a:solidFill>
                        <a:latin typeface="+mn-lt"/>
                        <a:ea typeface="+mn-ea"/>
                        <a:cs typeface="Arial" pitchFamily="34" charset="0"/>
                      </a:endParaRPr>
                    </a:p>
                    <a:p>
                      <a:pPr marL="0" lvl="2" indent="0">
                        <a:spcBef>
                          <a:spcPts val="600"/>
                        </a:spcBef>
                        <a:buClr>
                          <a:srgbClr val="97989A"/>
                        </a:buClr>
                        <a:buFont typeface="Arial" pitchFamily="34" charset="0"/>
                        <a:buNone/>
                        <a:defRPr/>
                      </a:pPr>
                      <a:endParaRPr lang="en-US" sz="900" dirty="0" smtClean="0">
                        <a:solidFill>
                          <a:srgbClr val="000000"/>
                        </a:solidFill>
                        <a:cs typeface="Arial" pitchFamily="34" charset="0"/>
                      </a:endParaRPr>
                    </a:p>
                    <a:p>
                      <a:pPr marL="0" lvl="2" indent="0">
                        <a:spcBef>
                          <a:spcPts val="600"/>
                        </a:spcBef>
                        <a:buClr>
                          <a:srgbClr val="97989A"/>
                        </a:buClr>
                        <a:buFont typeface="Arial" pitchFamily="34" charset="0"/>
                        <a:buNone/>
                        <a:defRPr/>
                      </a:pPr>
                      <a:endParaRPr lang="en-US" sz="900" dirty="0" smtClean="0">
                        <a:solidFill>
                          <a:srgbClr val="000000"/>
                        </a:solidFill>
                        <a:cs typeface="Arial" pitchFamily="34" charset="0"/>
                      </a:endParaRPr>
                    </a:p>
                    <a:p>
                      <a:pPr marL="173038" lvl="2" indent="0">
                        <a:spcBef>
                          <a:spcPts val="600"/>
                        </a:spcBef>
                        <a:buClr>
                          <a:srgbClr val="97989A"/>
                        </a:buClr>
                        <a:buFont typeface="Arial" pitchFamily="34" charset="0"/>
                        <a:buNone/>
                        <a:defRPr/>
                      </a:pPr>
                      <a:r>
                        <a:rPr lang="en-US" sz="900" dirty="0" smtClean="0">
                          <a:solidFill>
                            <a:srgbClr val="000000"/>
                          </a:solidFill>
                          <a:latin typeface="Arial" panose="020B0604020202020204" pitchFamily="34" charset="0"/>
                          <a:cs typeface="Arial" pitchFamily="34" charset="0"/>
                        </a:rPr>
                        <a:t>for normal requirements are based on asset</a:t>
                      </a:r>
                      <a:r>
                        <a:rPr lang="en-US" sz="900" baseline="0" dirty="0" smtClean="0">
                          <a:solidFill>
                            <a:srgbClr val="000000"/>
                          </a:solidFill>
                          <a:latin typeface="Arial" panose="020B0604020202020204" pitchFamily="34" charset="0"/>
                          <a:cs typeface="Arial" pitchFamily="34" charset="0"/>
                        </a:rPr>
                        <a:t> growth forecasts in Management’s budget and the stress case assumes 33% less asset growth than forecast.</a:t>
                      </a:r>
                    </a:p>
                    <a:p>
                      <a:pPr marL="177800" lvl="2" indent="-177800">
                        <a:spcBef>
                          <a:spcPts val="600"/>
                        </a:spcBef>
                        <a:buClr>
                          <a:srgbClr val="97989A"/>
                        </a:buClr>
                        <a:buFont typeface="Arial" pitchFamily="34" charset="0"/>
                        <a:buChar char="■"/>
                        <a:defRPr/>
                      </a:pPr>
                      <a:r>
                        <a:rPr lang="en-US" sz="900" dirty="0" smtClean="0"/>
                        <a:t>Management’s estimate of</a:t>
                      </a:r>
                      <a:r>
                        <a:rPr lang="en-US" sz="900" baseline="0" dirty="0" smtClean="0"/>
                        <a:t> cash requirements relating to additional hung pipeline transactions is based on the three-year high of $3 billion for backlog transactions, of which management believes 60% can be sold down based on its experience in Q1’14. This assumption on syndication volumes is not consistent with historical experience. In 2004, syndications were 50% of originations and 55% in Q1’15. Based on this historical experience, estimated cash requirement would increase between $100 million and $250 million.</a:t>
                      </a:r>
                    </a:p>
                    <a:p>
                      <a:pPr marL="177800" lvl="2" indent="-177800">
                        <a:spcBef>
                          <a:spcPts val="600"/>
                        </a:spcBef>
                        <a:buClr>
                          <a:srgbClr val="97989A"/>
                        </a:buClr>
                        <a:buFont typeface="Arial" pitchFamily="34" charset="0"/>
                        <a:buChar char="■"/>
                        <a:defRPr/>
                      </a:pPr>
                      <a:r>
                        <a:rPr lang="en-US" sz="900" baseline="0" dirty="0" smtClean="0"/>
                        <a:t>Incremental cash commitments for unfunded revolvers under the normal scenario assume a 10% increase in draws; the stress case assumes a 20% increase in draws. We note that the revolver utilization as at Q1’15 of 34% is consistent with the average quarterly utilization since Q1’08. The normal-case delayed draw term loan requirement assumes draws at the 3-year historical average; the stress-case requirement assumes draws at the 3-year high of $270 million in Q2’13.</a:t>
                      </a:r>
                    </a:p>
                    <a:p>
                      <a:pPr marL="177800" lvl="2" indent="-177800">
                        <a:spcBef>
                          <a:spcPts val="600"/>
                        </a:spcBef>
                        <a:buClr>
                          <a:srgbClr val="97989A"/>
                        </a:buClr>
                        <a:buFont typeface="Arial" pitchFamily="34" charset="0"/>
                        <a:buChar char="■"/>
                        <a:defRPr/>
                      </a:pPr>
                      <a:r>
                        <a:rPr lang="en-US" sz="900" b="0" kern="1200" baseline="0" noProof="0" dirty="0" smtClean="0">
                          <a:solidFill>
                            <a:schemeClr val="tx1"/>
                          </a:solidFill>
                          <a:latin typeface="+mn-lt"/>
                          <a:ea typeface="+mn-ea"/>
                          <a:cs typeface="Arial" pitchFamily="34" charset="0"/>
                        </a:rPr>
                        <a:t>The cash commitment for distressed purchases is Management’s estimate of opportunity buys in a stressed environment. We note that such cash outlays are discretionary and peripheral to Target’s core business.</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Appendix 13</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r>
            </a:tbl>
          </a:graphicData>
        </a:graphic>
      </p:graphicFrame>
      <p:sp>
        <p:nvSpPr>
          <p:cNvPr id="13" name="Title 3"/>
          <p:cNvSpPr>
            <a:spLocks noGrp="1"/>
          </p:cNvSpPr>
          <p:nvPr>
            <p:ph type="title"/>
          </p:nvPr>
        </p:nvSpPr>
        <p:spPr>
          <a:xfrm>
            <a:off x="2123728" y="116632"/>
            <a:ext cx="6768752" cy="576064"/>
          </a:xfrm>
        </p:spPr>
        <p:txBody>
          <a:bodyPr/>
          <a:lstStyle/>
          <a:p>
            <a:r>
              <a:rPr lang="en-US" sz="1400" b="0" dirty="0">
                <a:solidFill>
                  <a:srgbClr val="747678"/>
                </a:solidFill>
              </a:rPr>
              <a:t>Executive summary</a:t>
            </a:r>
            <a:r>
              <a:rPr lang="en-US" dirty="0" smtClean="0"/>
              <a:t/>
            </a:r>
            <a:br>
              <a:rPr lang="en-US" dirty="0" smtClean="0"/>
            </a:br>
            <a:r>
              <a:rPr lang="en-US" dirty="0" smtClean="0"/>
              <a:t>Key findings: financial (17)</a:t>
            </a:r>
            <a:endParaRPr lang="en-US" dirty="0"/>
          </a:p>
        </p:txBody>
      </p:sp>
      <p:sp>
        <p:nvSpPr>
          <p:cNvPr id="4" name="Text Box 8"/>
          <p:cNvSpPr txBox="1">
            <a:spLocks noChangeArrowheads="1"/>
          </p:cNvSpPr>
          <p:nvPr>
            <p:custDataLst>
              <p:tags r:id="rId1"/>
            </p:custDataLst>
          </p:nvPr>
        </p:nvSpPr>
        <p:spPr bwMode="gray">
          <a:xfrm>
            <a:off x="1353312" y="1630680"/>
            <a:ext cx="3505200" cy="2026920"/>
          </a:xfrm>
          <a:prstGeom prst="rect">
            <a:avLst/>
          </a:prstGeom>
          <a:noFill/>
          <a:ln w="6350">
            <a:noFill/>
            <a:miter lim="800000"/>
            <a:headEnd type="none" w="sm" len="sm"/>
            <a:tailEnd type="none" w="sm" len="sm"/>
          </a:ln>
          <a:effectLst/>
        </p:spPr>
        <p:txBody>
          <a:bodyPr wrap="square" lIns="0" tIns="0" rIns="0" bIns="0" anchor="t" anchorCtr="0">
            <a:noAutofit/>
          </a:bodyPr>
          <a:lstStyle/>
          <a:p>
            <a:pPr marL="177800" lvl="2" indent="-177800">
              <a:spcBef>
                <a:spcPts val="600"/>
              </a:spcBef>
              <a:buClr>
                <a:srgbClr val="97989A"/>
              </a:buClr>
              <a:buFont typeface="Arial" pitchFamily="34" charset="0"/>
              <a:buChar char="■"/>
              <a:defRPr/>
            </a:pPr>
            <a:r>
              <a:rPr lang="en-US" sz="900" dirty="0" smtClean="0">
                <a:solidFill>
                  <a:srgbClr val="000000"/>
                </a:solidFill>
                <a:cs typeface="Arial" pitchFamily="34" charset="0"/>
              </a:rPr>
              <a:t>The table aside presents Management’s estimate of incremental cash requirements to fund projected </a:t>
            </a:r>
            <a:r>
              <a:rPr lang="en-US" sz="900" dirty="0">
                <a:solidFill>
                  <a:srgbClr val="000000"/>
                </a:solidFill>
                <a:cs typeface="Arial" pitchFamily="34" charset="0"/>
              </a:rPr>
              <a:t>business </a:t>
            </a:r>
            <a:r>
              <a:rPr lang="en-US" sz="900" dirty="0" smtClean="0">
                <a:solidFill>
                  <a:srgbClr val="000000"/>
                </a:solidFill>
                <a:cs typeface="Arial" pitchFamily="34" charset="0"/>
              </a:rPr>
              <a:t>activities in </a:t>
            </a:r>
            <a:r>
              <a:rPr lang="en-US" sz="900" dirty="0">
                <a:solidFill>
                  <a:srgbClr val="000000"/>
                </a:solidFill>
                <a:cs typeface="Arial" pitchFamily="34" charset="0"/>
              </a:rPr>
              <a:t>the year following transaction close . </a:t>
            </a:r>
            <a:endParaRPr lang="en-US" sz="900" dirty="0" smtClean="0">
              <a:solidFill>
                <a:srgbClr val="000000"/>
              </a:solidFill>
              <a:cs typeface="Arial" pitchFamily="34" charset="0"/>
            </a:endParaRPr>
          </a:p>
          <a:p>
            <a:pPr marL="177800" lvl="2" indent="-177800">
              <a:spcBef>
                <a:spcPts val="600"/>
              </a:spcBef>
              <a:buClr>
                <a:srgbClr val="97989A"/>
              </a:buClr>
              <a:buFont typeface="Arial" pitchFamily="34" charset="0"/>
              <a:buChar char="■"/>
              <a:defRPr/>
            </a:pPr>
            <a:r>
              <a:rPr lang="en-US" sz="900" dirty="0" smtClean="0">
                <a:solidFill>
                  <a:srgbClr val="000000"/>
                </a:solidFill>
                <a:cs typeface="Arial" pitchFamily="34" charset="0"/>
              </a:rPr>
              <a:t>Post-close syndication completion requirements relate to the cash commitment required to carry held-for-sale assets on Target’s books until they are sold down to syndication partners. </a:t>
            </a:r>
            <a:r>
              <a:rPr lang="en-US" sz="900" dirty="0">
                <a:cs typeface="Arial" pitchFamily="34" charset="0"/>
              </a:rPr>
              <a:t>These </a:t>
            </a:r>
            <a:r>
              <a:rPr lang="en-US" sz="900" dirty="0" smtClean="0">
                <a:cs typeface="Arial" pitchFamily="34" charset="0"/>
              </a:rPr>
              <a:t>assets </a:t>
            </a:r>
            <a:r>
              <a:rPr lang="en-US" sz="900" dirty="0">
                <a:cs typeface="Arial" pitchFamily="34" charset="0"/>
              </a:rPr>
              <a:t>are typically sold within 30 </a:t>
            </a:r>
            <a:r>
              <a:rPr lang="en-US" sz="900" dirty="0" smtClean="0">
                <a:cs typeface="Arial" pitchFamily="34" charset="0"/>
              </a:rPr>
              <a:t>days according to Management. The normal scenario is based on the highest balance on the books since Q1 2013 ($483 million as at the end of Q4 2014). The stress scenario is based on the all-time maximum balance of $834 million in Q4 2012.</a:t>
            </a:r>
          </a:p>
          <a:p>
            <a:pPr marL="177800" lvl="2" indent="-177800">
              <a:spcBef>
                <a:spcPts val="600"/>
              </a:spcBef>
              <a:buClr>
                <a:srgbClr val="97989A"/>
              </a:buClr>
              <a:buFont typeface="Arial" pitchFamily="34" charset="0"/>
              <a:buChar char="■"/>
              <a:defRPr/>
            </a:pPr>
            <a:r>
              <a:rPr lang="en-US" sz="900" dirty="0">
                <a:solidFill>
                  <a:srgbClr val="000000"/>
                </a:solidFill>
                <a:latin typeface="Arial" panose="020B0604020202020204" pitchFamily="34" charset="0"/>
                <a:cs typeface="Arial" pitchFamily="34" charset="0"/>
              </a:rPr>
              <a:t>Incremental funded assets requirements relate to year-over-year growth in funded assets. We note that Management’s estimates </a:t>
            </a:r>
            <a:endParaRPr lang="en-US" sz="900" dirty="0" smtClean="0">
              <a:cs typeface="Arial" pitchFamily="34" charset="0"/>
            </a:endParaRPr>
          </a:p>
        </p:txBody>
      </p:sp>
      <p:pic>
        <p:nvPicPr>
          <p:cNvPr id="3" name="Picture 2"/>
          <p:cNvPicPr>
            <a:picLocks noChangeAspect="1"/>
          </p:cNvPicPr>
          <p:nvPr/>
        </p:nvPicPr>
        <p:blipFill>
          <a:blip r:embed="rId5"/>
          <a:stretch>
            <a:fillRect/>
          </a:stretch>
        </p:blipFill>
        <p:spPr>
          <a:xfrm>
            <a:off x="4953006" y="1733388"/>
            <a:ext cx="2461799" cy="1347548"/>
          </a:xfrm>
          <a:prstGeom prst="rect">
            <a:avLst/>
          </a:prstGeom>
        </p:spPr>
      </p:pic>
      <p:sp>
        <p:nvSpPr>
          <p:cNvPr id="7" name="Text Box 8"/>
          <p:cNvSpPr txBox="1">
            <a:spLocks noChangeArrowheads="1"/>
          </p:cNvSpPr>
          <p:nvPr>
            <p:custDataLst>
              <p:tags r:id="rId2"/>
            </p:custDataLst>
          </p:nvPr>
        </p:nvSpPr>
        <p:spPr bwMode="gray">
          <a:xfrm>
            <a:off x="4953000" y="3108067"/>
            <a:ext cx="2743200" cy="92333"/>
          </a:xfrm>
          <a:prstGeom prst="rect">
            <a:avLst/>
          </a:prstGeom>
          <a:noFill/>
          <a:ln w="6350">
            <a:noFill/>
            <a:miter lim="800000"/>
            <a:headEnd type="none" w="sm" len="sm"/>
            <a:tailEnd type="none" w="sm" len="sm"/>
          </a:ln>
          <a:effectLst/>
        </p:spPr>
        <p:txBody>
          <a:bodyPr wrap="square" lIns="0" tIns="0" rIns="0" bIns="0" anchor="b">
            <a:spAutoFit/>
          </a:bodyPr>
          <a:lstStyle/>
          <a:p>
            <a:pPr marL="534988" indent="-534988" defTabSz="762000" eaLnBrk="0" hangingPunct="0">
              <a:spcBef>
                <a:spcPts val="200"/>
              </a:spcBef>
              <a:tabLst>
                <a:tab pos="355600" algn="l"/>
              </a:tabLst>
            </a:pPr>
            <a:r>
              <a:rPr lang="en-US" sz="600" i="1" dirty="0" smtClean="0">
                <a:latin typeface="Arial"/>
                <a:cs typeface="Arial" pitchFamily="34" charset="0"/>
              </a:rPr>
              <a:t>Source:	6.6.18 Estimated Cash Requirements</a:t>
            </a:r>
          </a:p>
        </p:txBody>
      </p:sp>
    </p:spTree>
    <p:extLst>
      <p:ext uri="{BB962C8B-B14F-4D97-AF65-F5344CB8AC3E}">
        <p14:creationId xmlns:p14="http://schemas.microsoft.com/office/powerpoint/2010/main" val="105024123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3"/>
          <p:cNvGraphicFramePr>
            <a:graphicFrameLocks noGrp="1"/>
          </p:cNvGraphicFramePr>
          <p:nvPr>
            <p:extLst>
              <p:ext uri="{D42A27DB-BD31-4B8C-83A1-F6EECF244321}">
                <p14:modId xmlns:p14="http://schemas.microsoft.com/office/powerpoint/2010/main" val="4138250422"/>
              </p:ext>
            </p:extLst>
          </p:nvPr>
        </p:nvGraphicFramePr>
        <p:xfrm>
          <a:off x="252046" y="1219200"/>
          <a:ext cx="8663354" cy="4706466"/>
        </p:xfrm>
        <a:graphic>
          <a:graphicData uri="http://schemas.openxmlformats.org/drawingml/2006/table">
            <a:tbl>
              <a:tblPr/>
              <a:tblGrid>
                <a:gridCol w="1043354"/>
                <a:gridCol w="6629400"/>
                <a:gridCol w="990600"/>
              </a:tblGrid>
              <a:tr h="376986">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1000" b="1" i="0" u="none" strike="noStrike" cap="none" normalizeH="0" baseline="0" dirty="0" smtClean="0">
                          <a:ln>
                            <a:noFill/>
                          </a:ln>
                          <a:solidFill>
                            <a:schemeClr val="bg1"/>
                          </a:solidFill>
                          <a:effectLst/>
                          <a:latin typeface="Arial"/>
                          <a:cs typeface="Arial" pitchFamily="34" charset="0"/>
                        </a:rPr>
                        <a:t>Finding</a:t>
                      </a:r>
                      <a:endParaRPr kumimoji="0" lang="en-US" sz="900" b="1" i="0" u="none" strike="noStrike" cap="none" normalizeH="0" baseline="0" dirty="0" smtClean="0">
                        <a:ln>
                          <a:noFill/>
                        </a:ln>
                        <a:solidFill>
                          <a:schemeClr val="bg1"/>
                        </a:solidFill>
                        <a:effectLst/>
                        <a:latin typeface="Arial"/>
                        <a:cs typeface="Arial" pitchFamily="34" charset="0"/>
                      </a:endParaRP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Summary observations</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Reference</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r>
              <a:tr h="1474040">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900" b="1" i="0" u="none" strike="noStrike" cap="none" normalizeH="0" baseline="0" dirty="0" smtClean="0">
                          <a:ln>
                            <a:noFill/>
                          </a:ln>
                          <a:solidFill>
                            <a:schemeClr val="accent4"/>
                          </a:solidFill>
                          <a:effectLst/>
                          <a:latin typeface="Arial"/>
                          <a:cs typeface="Arial" pitchFamily="34" charset="0"/>
                        </a:rPr>
                        <a:t>Unfunded and funded commitments</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dirty="0" smtClean="0">
                          <a:solidFill>
                            <a:schemeClr val="tx1"/>
                          </a:solidFill>
                          <a:latin typeface="+mn-lt"/>
                          <a:ea typeface="+mn-ea"/>
                          <a:cs typeface="Arial" pitchFamily="34" charset="0"/>
                        </a:rPr>
                        <a:t>Target has significant unfunded commitments ($4.5 billion as at March 31, 2015) given the magnitude and nature of certain product offerings, specifically cash flow revolver loans and asset-backed revolver loans. Since Q1’08, utilization of revolvers has averaged at 34% of total revolver limit, with maximum and minimum utilization percentages of 28% (Q4’12) and 42% (Q1’09), respectively. Funding risk associated with these unfunded commitments should be considered in your transaction model.</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dirty="0" smtClean="0">
                          <a:solidFill>
                            <a:schemeClr val="tx1"/>
                          </a:solidFill>
                          <a:latin typeface="+mn-lt"/>
                          <a:ea typeface="+mn-ea"/>
                          <a:cs typeface="Arial" pitchFamily="34" charset="0"/>
                        </a:rPr>
                        <a:t>Unfunded commitments have steadily decreased from $5.8 billion as at December 31, 2012 to $4.5 billion as at March 31, 2015. Over the same period, the percentage of unfunded assets to total commitments steadily decreased from 78% to 72%. The increase in usage is due to the mix shift to SSLP and MMGP, which have higher usage rates as compared to the cash-flow and asset-backed revolver loans. From Q1’13 to Q1’15, SSLP and MMGP revolver utilizations have averaged 41% and 64%, respectively, compared to a 31% utilization rate for non-SSLP/MMGP revolvers over the same period.</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b="0" kern="1200" baseline="0" dirty="0" smtClean="0">
                        <a:solidFill>
                          <a:schemeClr val="tx1"/>
                        </a:solidFill>
                        <a:latin typeface="+mn-lt"/>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b="0" kern="1200" baseline="0" dirty="0" smtClean="0">
                        <a:solidFill>
                          <a:schemeClr val="tx1"/>
                        </a:solidFill>
                        <a:latin typeface="+mn-lt"/>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b="0" kern="1200" baseline="0" dirty="0" smtClean="0">
                        <a:solidFill>
                          <a:schemeClr val="tx1"/>
                        </a:solidFill>
                        <a:latin typeface="+mn-lt"/>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b="0" kern="1200" baseline="0" dirty="0" smtClean="0">
                        <a:solidFill>
                          <a:schemeClr val="tx1"/>
                        </a:solidFill>
                        <a:latin typeface="+mn-lt"/>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b="0" kern="1200" baseline="0" dirty="0" smtClean="0">
                        <a:solidFill>
                          <a:schemeClr val="tx1"/>
                        </a:solidFill>
                        <a:latin typeface="+mn-lt"/>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b="0" kern="1200" baseline="0" dirty="0" smtClean="0">
                        <a:solidFill>
                          <a:schemeClr val="tx1"/>
                        </a:solidFill>
                        <a:latin typeface="+mn-lt"/>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b="0" kern="1200" baseline="0" dirty="0" smtClean="0">
                        <a:solidFill>
                          <a:schemeClr val="tx1"/>
                        </a:solidFill>
                        <a:latin typeface="+mn-lt"/>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b="0" kern="1200" baseline="0" dirty="0" smtClean="0">
                        <a:solidFill>
                          <a:schemeClr val="tx1"/>
                        </a:solidFill>
                        <a:latin typeface="+mn-lt"/>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b="0" kern="1200" baseline="0" dirty="0" smtClean="0">
                        <a:solidFill>
                          <a:schemeClr val="tx1"/>
                        </a:solidFill>
                        <a:latin typeface="+mn-lt"/>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b="0" kern="1200" baseline="0" dirty="0" smtClean="0">
                        <a:solidFill>
                          <a:schemeClr val="tx1"/>
                        </a:solidFill>
                        <a:latin typeface="+mn-lt"/>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b="0" kern="1200" baseline="0" dirty="0" smtClean="0">
                        <a:solidFill>
                          <a:schemeClr val="tx1"/>
                        </a:solidFill>
                        <a:latin typeface="+mn-lt"/>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b="0" kern="1200" baseline="0" dirty="0" smtClean="0">
                        <a:solidFill>
                          <a:schemeClr val="tx1"/>
                        </a:solidFill>
                        <a:latin typeface="+mn-lt"/>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b="0" kern="1200" baseline="0" dirty="0" smtClean="0">
                        <a:solidFill>
                          <a:schemeClr val="tx1"/>
                        </a:solidFill>
                        <a:latin typeface="+mn-lt"/>
                        <a:ea typeface="+mn-ea"/>
                        <a:cs typeface="Arial" pitchFamily="34" charset="0"/>
                      </a:endParaRP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Appendix 13</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r>
            </a:tbl>
          </a:graphicData>
        </a:graphic>
      </p:graphicFrame>
      <p:sp>
        <p:nvSpPr>
          <p:cNvPr id="13" name="Title 3"/>
          <p:cNvSpPr>
            <a:spLocks noGrp="1"/>
          </p:cNvSpPr>
          <p:nvPr>
            <p:ph type="title"/>
          </p:nvPr>
        </p:nvSpPr>
        <p:spPr>
          <a:xfrm>
            <a:off x="2123728" y="116632"/>
            <a:ext cx="6768752" cy="576064"/>
          </a:xfrm>
        </p:spPr>
        <p:txBody>
          <a:bodyPr/>
          <a:lstStyle/>
          <a:p>
            <a:r>
              <a:rPr lang="en-US" sz="1400" b="0" dirty="0">
                <a:solidFill>
                  <a:srgbClr val="747678"/>
                </a:solidFill>
              </a:rPr>
              <a:t>Executive summary</a:t>
            </a:r>
            <a:r>
              <a:rPr lang="en-US" dirty="0" smtClean="0"/>
              <a:t/>
            </a:r>
            <a:br>
              <a:rPr lang="en-US" dirty="0" smtClean="0"/>
            </a:br>
            <a:r>
              <a:rPr lang="en-US" dirty="0" smtClean="0"/>
              <a:t>Key findings: financial (18)</a:t>
            </a:r>
            <a:endParaRPr lang="en-US" dirty="0"/>
          </a:p>
        </p:txBody>
      </p:sp>
      <p:pic>
        <p:nvPicPr>
          <p:cNvPr id="6" name="Picture 5"/>
          <p:cNvPicPr>
            <a:picLocks noChangeAspect="1"/>
          </p:cNvPicPr>
          <p:nvPr/>
        </p:nvPicPr>
        <p:blipFill>
          <a:blip r:embed="rId4"/>
          <a:stretch>
            <a:fillRect/>
          </a:stretch>
        </p:blipFill>
        <p:spPr>
          <a:xfrm>
            <a:off x="1371600" y="3124200"/>
            <a:ext cx="6934200" cy="2693293"/>
          </a:xfrm>
          <a:prstGeom prst="rect">
            <a:avLst/>
          </a:prstGeom>
        </p:spPr>
      </p:pic>
      <p:sp>
        <p:nvSpPr>
          <p:cNvPr id="7" name="Text Box 8"/>
          <p:cNvSpPr txBox="1">
            <a:spLocks noChangeArrowheads="1"/>
          </p:cNvSpPr>
          <p:nvPr>
            <p:custDataLst>
              <p:tags r:id="rId1"/>
            </p:custDataLst>
          </p:nvPr>
        </p:nvSpPr>
        <p:spPr bwMode="gray">
          <a:xfrm>
            <a:off x="1656097" y="5791200"/>
            <a:ext cx="4211303" cy="92333"/>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latin typeface="Arial"/>
                <a:cs typeface="Arial" pitchFamily="34" charset="0"/>
              </a:rPr>
              <a:t> Source: 4.4.14 Historical Revolver Utilization</a:t>
            </a:r>
          </a:p>
        </p:txBody>
      </p:sp>
    </p:spTree>
    <p:extLst>
      <p:ext uri="{BB962C8B-B14F-4D97-AF65-F5344CB8AC3E}">
        <p14:creationId xmlns:p14="http://schemas.microsoft.com/office/powerpoint/2010/main" val="84085118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3"/>
          <p:cNvGraphicFramePr>
            <a:graphicFrameLocks noGrp="1"/>
          </p:cNvGraphicFramePr>
          <p:nvPr>
            <p:extLst>
              <p:ext uri="{D42A27DB-BD31-4B8C-83A1-F6EECF244321}">
                <p14:modId xmlns:p14="http://schemas.microsoft.com/office/powerpoint/2010/main" val="2874135580"/>
              </p:ext>
            </p:extLst>
          </p:nvPr>
        </p:nvGraphicFramePr>
        <p:xfrm>
          <a:off x="252046" y="1219200"/>
          <a:ext cx="8663354" cy="2770986"/>
        </p:xfrm>
        <a:graphic>
          <a:graphicData uri="http://schemas.openxmlformats.org/drawingml/2006/table">
            <a:tbl>
              <a:tblPr/>
              <a:tblGrid>
                <a:gridCol w="1043354"/>
                <a:gridCol w="6629400"/>
                <a:gridCol w="990600"/>
              </a:tblGrid>
              <a:tr h="376986">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1000" b="1" i="0" u="none" strike="noStrike" cap="none" normalizeH="0" baseline="0" dirty="0" smtClean="0">
                          <a:ln>
                            <a:noFill/>
                          </a:ln>
                          <a:solidFill>
                            <a:schemeClr val="bg1"/>
                          </a:solidFill>
                          <a:effectLst/>
                          <a:latin typeface="Arial"/>
                          <a:cs typeface="Arial" pitchFamily="34" charset="0"/>
                        </a:rPr>
                        <a:t>Finding</a:t>
                      </a:r>
                      <a:endParaRPr kumimoji="0" lang="en-US" sz="900" b="1" i="0" u="none" strike="noStrike" cap="none" normalizeH="0" baseline="0" dirty="0" smtClean="0">
                        <a:ln>
                          <a:noFill/>
                        </a:ln>
                        <a:solidFill>
                          <a:schemeClr val="bg1"/>
                        </a:solidFill>
                        <a:effectLst/>
                        <a:latin typeface="Arial"/>
                        <a:cs typeface="Arial" pitchFamily="34" charset="0"/>
                      </a:endParaRP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Summary observations</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Reference</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r>
              <a:tr h="1474040">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900" b="1" i="0" u="none" strike="noStrike" cap="none" normalizeH="0" baseline="0" dirty="0" smtClean="0">
                          <a:ln>
                            <a:noFill/>
                          </a:ln>
                          <a:solidFill>
                            <a:schemeClr val="accent4"/>
                          </a:solidFill>
                          <a:effectLst/>
                          <a:latin typeface="Arial"/>
                          <a:cs typeface="Arial" pitchFamily="34" charset="0"/>
                        </a:rPr>
                        <a:t>Unfunded and funded commitments (continued)</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dirty="0" smtClean="0">
                          <a:solidFill>
                            <a:schemeClr val="tx1"/>
                          </a:solidFill>
                          <a:latin typeface="+mn-lt"/>
                          <a:ea typeface="+mn-ea"/>
                          <a:cs typeface="Arial" pitchFamily="34" charset="0"/>
                        </a:rPr>
                        <a:t>Average funded assets have increased from $14.6 billion in 2012 to $16.0 billion during Q1’15, primarily due to the growth in the SSLP and MMGP programs (from an aggregate of $4.1 billion as at December 31, 2012 to $6.0 billion as at March 31, 2015). The launch of the MMGP joint venture in 2014 added $0.4 billion to the portfolio during the year, with forecasts of continued ramp-up of the program in 2015. </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dirty="0" smtClean="0">
                          <a:solidFill>
                            <a:schemeClr val="tx1"/>
                          </a:solidFill>
                          <a:latin typeface="+mn-lt"/>
                          <a:ea typeface="+mn-ea"/>
                          <a:cs typeface="Arial" pitchFamily="34" charset="0"/>
                        </a:rPr>
                        <a:t>Growth in the SSLP and MMGP programs was offset by a $1.9 billion decline from 2012 to 2014 in the Core portfolio origination volume. Management stated that the decrease was due to the conservative interpretation of new leveraged lending guidelines issued by banking regulators and a slowdown in middle-market M&amp;A activity in 2014. On a portfolio-wide basis, originations decreased from $18.8 billion in 2012 to $17.0 billion in 2014. During Q1’15, the SSLP portfolio remained flat, the MMGP portfolio increased by $0.1 billion, and the Core portfolio increased by $0.2 billion. </a:t>
                      </a:r>
                    </a:p>
                    <a:p>
                      <a:pPr marL="347663" marR="0" lvl="2" indent="-173038"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dirty="0" smtClean="0">
                          <a:solidFill>
                            <a:schemeClr val="tx1"/>
                          </a:solidFill>
                          <a:latin typeface="+mn-lt"/>
                          <a:ea typeface="+mn-ea"/>
                          <a:cs typeface="Arial" pitchFamily="34" charset="0"/>
                        </a:rPr>
                        <a:t>Any expansion of the hold size in Target’s current core market or into new sectors post-transaction as contemplated by Management will require additional sources of funding to meet larger commitments. </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dirty="0" smtClean="0">
                          <a:solidFill>
                            <a:schemeClr val="tx1"/>
                          </a:solidFill>
                          <a:latin typeface="+mn-lt"/>
                          <a:ea typeface="+mn-ea"/>
                          <a:cs typeface="Arial" pitchFamily="34" charset="0"/>
                        </a:rPr>
                        <a:t>Assets held-for-sale are loans held temporarily on Target’s books until they are sold down to syndication partners. These assets, which are carried at the lower of cost or fair value, can take between 30 and 90 days to sell, but are typically sold within 30 days. Over the historical period being analyzed, the highest quarter-end balance held by Target was $0.5 billion (as at December 31, 2014). You should consider the short-term working capital needs associated with these held-for-sale assets.</a:t>
                      </a:r>
                      <a:endParaRPr lang="en-US" sz="900" b="0" kern="1200" baseline="0" noProof="0" dirty="0" smtClean="0">
                        <a:solidFill>
                          <a:schemeClr val="tx1"/>
                        </a:solidFill>
                        <a:latin typeface="+mn-lt"/>
                        <a:ea typeface="+mn-ea"/>
                        <a:cs typeface="Arial" pitchFamily="34" charset="0"/>
                      </a:endParaRP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Appendix 13</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r>
            </a:tbl>
          </a:graphicData>
        </a:graphic>
      </p:graphicFrame>
      <p:sp>
        <p:nvSpPr>
          <p:cNvPr id="13" name="Title 3"/>
          <p:cNvSpPr>
            <a:spLocks noGrp="1"/>
          </p:cNvSpPr>
          <p:nvPr>
            <p:ph type="title"/>
          </p:nvPr>
        </p:nvSpPr>
        <p:spPr>
          <a:xfrm>
            <a:off x="2123728" y="116632"/>
            <a:ext cx="6768752" cy="576064"/>
          </a:xfrm>
        </p:spPr>
        <p:txBody>
          <a:bodyPr/>
          <a:lstStyle/>
          <a:p>
            <a:r>
              <a:rPr lang="en-US" sz="1400" b="0" dirty="0">
                <a:solidFill>
                  <a:srgbClr val="747678"/>
                </a:solidFill>
              </a:rPr>
              <a:t>Executive summary</a:t>
            </a:r>
            <a:r>
              <a:rPr lang="en-US" dirty="0" smtClean="0"/>
              <a:t/>
            </a:r>
            <a:br>
              <a:rPr lang="en-US" dirty="0" smtClean="0"/>
            </a:br>
            <a:r>
              <a:rPr lang="en-US" dirty="0" smtClean="0"/>
              <a:t>Key findings: financial (19)</a:t>
            </a:r>
            <a:endParaRPr lang="en-US" dirty="0"/>
          </a:p>
        </p:txBody>
      </p:sp>
    </p:spTree>
    <p:extLst>
      <p:ext uri="{BB962C8B-B14F-4D97-AF65-F5344CB8AC3E}">
        <p14:creationId xmlns:p14="http://schemas.microsoft.com/office/powerpoint/2010/main" val="333300479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3"/>
          <p:cNvGraphicFramePr>
            <a:graphicFrameLocks noGrp="1"/>
          </p:cNvGraphicFramePr>
          <p:nvPr>
            <p:extLst>
              <p:ext uri="{D42A27DB-BD31-4B8C-83A1-F6EECF244321}">
                <p14:modId xmlns:p14="http://schemas.microsoft.com/office/powerpoint/2010/main" val="1743393846"/>
              </p:ext>
            </p:extLst>
          </p:nvPr>
        </p:nvGraphicFramePr>
        <p:xfrm>
          <a:off x="252046" y="1143000"/>
          <a:ext cx="8663354" cy="5178906"/>
        </p:xfrm>
        <a:graphic>
          <a:graphicData uri="http://schemas.openxmlformats.org/drawingml/2006/table">
            <a:tbl>
              <a:tblPr/>
              <a:tblGrid>
                <a:gridCol w="1043354"/>
                <a:gridCol w="6629400"/>
                <a:gridCol w="990600"/>
              </a:tblGrid>
              <a:tr h="376986">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1000" b="1" i="0" u="none" strike="noStrike" cap="none" normalizeH="0" baseline="0" dirty="0" smtClean="0">
                          <a:ln>
                            <a:noFill/>
                          </a:ln>
                          <a:solidFill>
                            <a:schemeClr val="bg1"/>
                          </a:solidFill>
                          <a:effectLst/>
                          <a:latin typeface="Arial"/>
                          <a:cs typeface="Arial" pitchFamily="34" charset="0"/>
                        </a:rPr>
                        <a:t>Finding</a:t>
                      </a:r>
                      <a:endParaRPr kumimoji="0" lang="en-US" sz="900" b="1" i="0" u="none" strike="noStrike" cap="none" normalizeH="0" baseline="0" dirty="0" smtClean="0">
                        <a:ln>
                          <a:noFill/>
                        </a:ln>
                        <a:solidFill>
                          <a:schemeClr val="bg1"/>
                        </a:solidFill>
                        <a:effectLst/>
                        <a:latin typeface="Arial"/>
                        <a:cs typeface="Arial" pitchFamily="34" charset="0"/>
                      </a:endParaRP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Summary observations</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Reference</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r>
              <a:tr h="1474040">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900" b="1" i="0" u="none" strike="noStrike" cap="none" normalizeH="0" baseline="0" dirty="0" smtClean="0">
                          <a:ln>
                            <a:noFill/>
                          </a:ln>
                          <a:solidFill>
                            <a:schemeClr val="accent4"/>
                          </a:solidFill>
                          <a:effectLst/>
                          <a:latin typeface="Arial"/>
                          <a:cs typeface="Arial" pitchFamily="34" charset="0"/>
                        </a:rPr>
                        <a:t>Asset quality</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Loans in non-accrual status have steadily decreased from $743 million as at December 31, 2010 to $216 million as at March 31, 2015. Net charge-offs have also declined from 122 bps to 32 bps over the same period. Management attributes the higher net charge-offs in 2010 and 2011 to the economic downturn and industry changes within the TMT portfolio (specifically the impact of the internet on paper-based media companies). Target experienced significant recoveries during 2013 and more are projected for 2015 from long charged-off accounts.</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lang="en-US" sz="900" b="0" kern="1200" baseline="0" noProof="0" dirty="0" smtClean="0">
                        <a:solidFill>
                          <a:schemeClr val="tx1"/>
                        </a:solidFill>
                        <a:latin typeface="+mn-lt"/>
                        <a:ea typeface="+mn-ea"/>
                        <a:cs typeface="Arial" pitchFamily="34" charset="0"/>
                      </a:endParaRPr>
                    </a:p>
                    <a:p>
                      <a:pPr marL="0" marR="0" lvl="2"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endParaRPr lang="en-US" sz="900" b="0" kern="1200" baseline="0" noProof="0" dirty="0" smtClean="0">
                        <a:solidFill>
                          <a:schemeClr val="tx1"/>
                        </a:solidFill>
                        <a:latin typeface="+mn-lt"/>
                        <a:ea typeface="+mn-ea"/>
                        <a:cs typeface="Arial" pitchFamily="34" charset="0"/>
                      </a:endParaRPr>
                    </a:p>
                    <a:p>
                      <a:pPr marL="0" marR="0" lvl="2"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endParaRPr lang="en-US" sz="900" b="0" kern="1200" baseline="0" noProof="0" dirty="0" smtClean="0">
                        <a:solidFill>
                          <a:schemeClr val="tx1"/>
                        </a:solidFill>
                        <a:latin typeface="+mn-lt"/>
                        <a:ea typeface="+mn-ea"/>
                        <a:cs typeface="Arial" pitchFamily="34" charset="0"/>
                      </a:endParaRPr>
                    </a:p>
                    <a:p>
                      <a:pPr marL="0" marR="0" lvl="2"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endParaRPr lang="en-US" sz="900" b="0" kern="1200" baseline="0" noProof="0" dirty="0" smtClean="0">
                        <a:solidFill>
                          <a:schemeClr val="tx1"/>
                        </a:solidFill>
                        <a:latin typeface="+mn-lt"/>
                        <a:ea typeface="+mn-ea"/>
                        <a:cs typeface="Arial" pitchFamily="34" charset="0"/>
                      </a:endParaRPr>
                    </a:p>
                    <a:p>
                      <a:pPr marL="0" marR="0" lvl="2"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endParaRPr lang="en-US" sz="900" b="0" kern="1200" baseline="0" noProof="0" dirty="0" smtClean="0">
                        <a:solidFill>
                          <a:schemeClr val="tx1"/>
                        </a:solidFill>
                        <a:latin typeface="+mn-lt"/>
                        <a:ea typeface="+mn-ea"/>
                        <a:cs typeface="Arial" pitchFamily="34" charset="0"/>
                      </a:endParaRPr>
                    </a:p>
                    <a:p>
                      <a:pPr marL="0" marR="0" lvl="2"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endParaRPr lang="en-US" sz="900" b="0" kern="1200" baseline="0" noProof="0" dirty="0" smtClean="0">
                        <a:solidFill>
                          <a:schemeClr val="tx1"/>
                        </a:solidFill>
                        <a:latin typeface="+mn-lt"/>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dirty="0" smtClean="0">
                        <a:ln>
                          <a:noFill/>
                        </a:ln>
                        <a:solidFill>
                          <a:srgbClr val="000000"/>
                        </a:solidFill>
                        <a:effectLst/>
                        <a:uLnTx/>
                        <a:uFillTx/>
                        <a:latin typeface="+mn-lt"/>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dirty="0" smtClean="0">
                        <a:ln>
                          <a:noFill/>
                        </a:ln>
                        <a:solidFill>
                          <a:srgbClr val="000000"/>
                        </a:solidFill>
                        <a:effectLst/>
                        <a:uLnTx/>
                        <a:uFillTx/>
                        <a:latin typeface="+mn-lt"/>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endParaRPr kumimoji="0" lang="en-US" sz="900" b="0" i="0" u="none" strike="noStrike" kern="1200" cap="none" spc="0" normalizeH="0" baseline="0" dirty="0" smtClean="0">
                        <a:ln>
                          <a:noFill/>
                        </a:ln>
                        <a:solidFill>
                          <a:srgbClr val="000000"/>
                        </a:solidFill>
                        <a:effectLst/>
                        <a:uLnTx/>
                        <a:uFillTx/>
                        <a:latin typeface="+mn-lt"/>
                        <a:ea typeface="+mn-ea"/>
                        <a:cs typeface="Arial" pitchFamily="34" charset="0"/>
                      </a:endParaRPr>
                    </a:p>
                    <a:p>
                      <a:pPr marL="0" marR="0" lvl="2"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endParaRPr kumimoji="0" lang="en-US" sz="900" b="0" i="0" u="none" strike="noStrike" kern="1200" cap="none" spc="0" normalizeH="0" baseline="0" dirty="0" smtClean="0">
                        <a:ln>
                          <a:noFill/>
                        </a:ln>
                        <a:solidFill>
                          <a:srgbClr val="000000"/>
                        </a:solidFill>
                        <a:effectLst/>
                        <a:uLnTx/>
                        <a:uFillTx/>
                        <a:latin typeface="+mn-lt"/>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kumimoji="0" lang="en-US" sz="900" b="0" i="0" u="none" strike="noStrike" kern="1200" cap="none" spc="0" normalizeH="0" baseline="0" dirty="0" smtClean="0">
                          <a:ln>
                            <a:noFill/>
                          </a:ln>
                          <a:solidFill>
                            <a:srgbClr val="000000"/>
                          </a:solidFill>
                          <a:effectLst/>
                          <a:uLnTx/>
                          <a:uFillTx/>
                          <a:latin typeface="+mn-lt"/>
                          <a:ea typeface="+mn-ea"/>
                          <a:cs typeface="Arial" pitchFamily="34" charset="0"/>
                        </a:rPr>
                        <a:t>In 2014, Target changed its loan charge-off policy whereby loans are written off when deemed uncollectible within the quarter identified based on management judgment and evaluation of available data. Previously, loans were written off within the year identified. The change in policy had no impact to earnings. For financing receivables previously subject to a write-off, the written off amount may not be adjusted up to the original loan balance for any recoveries. Instead, recoveries are recorded as an offset to charge-offs and therefore reduce additions to the provision.</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kumimoji="0" lang="en-US" sz="900" b="0" i="0" u="none" strike="noStrike" kern="1200" cap="none" spc="0" normalizeH="0" baseline="0" dirty="0" smtClean="0">
                          <a:ln>
                            <a:noFill/>
                          </a:ln>
                          <a:solidFill>
                            <a:srgbClr val="000000"/>
                          </a:solidFill>
                          <a:effectLst/>
                          <a:uLnTx/>
                          <a:uFillTx/>
                          <a:latin typeface="+mn-lt"/>
                          <a:ea typeface="+mn-ea"/>
                          <a:cs typeface="Arial" pitchFamily="34" charset="0"/>
                        </a:rPr>
                        <a:t>Examples of items considered by management when determining whether or not an account should be written off include: liquidation proceedings substantially concluded; collateral securing loan has been repossessed/sold; collection costs exceed the collectable amount; fraud or deceased borrower. Bankruptcy does not trigger an automatic charge-off.</a:t>
                      </a:r>
                      <a:endParaRPr kumimoji="0" lang="en-US" sz="900" b="0" i="0" u="none" strike="noStrike" kern="1200" cap="none" spc="0" normalizeH="0" baseline="0" dirty="0" smtClean="0">
                        <a:ln>
                          <a:noFill/>
                        </a:ln>
                        <a:solidFill>
                          <a:schemeClr val="tx1"/>
                        </a:solidFill>
                        <a:effectLst/>
                        <a:uLnTx/>
                        <a:uFillTx/>
                        <a:latin typeface="+mn-lt"/>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Loans are evaluated for impairment collectively (e.g. general reserve) and individually (e.g. specific reserve) on a monthly basis. If </a:t>
                      </a:r>
                      <a:r>
                        <a:rPr lang="en-US" sz="900" dirty="0" smtClean="0">
                          <a:solidFill>
                            <a:srgbClr val="000000"/>
                          </a:solidFill>
                          <a:latin typeface="+mn-lt"/>
                          <a:cs typeface="Arial" pitchFamily="34" charset="0"/>
                        </a:rPr>
                        <a:t>a loan is determined to be impaired, a</a:t>
                      </a:r>
                      <a:r>
                        <a:rPr lang="en-US" sz="900" baseline="0" dirty="0" smtClean="0">
                          <a:solidFill>
                            <a:srgbClr val="000000"/>
                          </a:solidFill>
                          <a:latin typeface="+mn-lt"/>
                          <a:cs typeface="Arial" pitchFamily="34" charset="0"/>
                        </a:rPr>
                        <a:t> </a:t>
                      </a:r>
                      <a:r>
                        <a:rPr lang="en-US" sz="900" dirty="0" smtClean="0">
                          <a:solidFill>
                            <a:srgbClr val="000000"/>
                          </a:solidFill>
                          <a:latin typeface="+mn-lt"/>
                          <a:cs typeface="Arial" pitchFamily="34" charset="0"/>
                        </a:rPr>
                        <a:t>charge to earnings</a:t>
                      </a:r>
                      <a:r>
                        <a:rPr lang="en-US" sz="900" baseline="0" dirty="0" smtClean="0">
                          <a:solidFill>
                            <a:srgbClr val="000000"/>
                          </a:solidFill>
                          <a:latin typeface="+mn-lt"/>
                          <a:cs typeface="Arial" pitchFamily="34" charset="0"/>
                        </a:rPr>
                        <a:t> </a:t>
                      </a:r>
                      <a:r>
                        <a:rPr lang="en-US" sz="900" dirty="0" smtClean="0">
                          <a:solidFill>
                            <a:srgbClr val="000000"/>
                          </a:solidFill>
                          <a:latin typeface="+mn-lt"/>
                          <a:cs typeface="Arial" pitchFamily="34" charset="0"/>
                        </a:rPr>
                        <a:t>is calculated as the difference between the recorded book value and the estimated recoverable amount. Target uses a</a:t>
                      </a:r>
                      <a:r>
                        <a:rPr lang="en-US" sz="900" baseline="0" dirty="0" smtClean="0">
                          <a:solidFill>
                            <a:srgbClr val="000000"/>
                          </a:solidFill>
                          <a:latin typeface="+mn-lt"/>
                          <a:cs typeface="Arial" pitchFamily="34" charset="0"/>
                        </a:rPr>
                        <a:t> </a:t>
                      </a:r>
                      <a:r>
                        <a:rPr lang="en-US" sz="900" dirty="0" smtClean="0">
                          <a:solidFill>
                            <a:srgbClr val="000000"/>
                          </a:solidFill>
                          <a:latin typeface="+mn-lt"/>
                          <a:cs typeface="Arial" pitchFamily="34" charset="0"/>
                        </a:rPr>
                        <a:t>DCF Model, fair value of collateral, BEV Model, and observable market price in determining an estimated recoverable amount.</a:t>
                      </a:r>
                      <a:endParaRPr lang="en-US" sz="900" b="0" kern="1200" baseline="0" noProof="0" dirty="0" smtClean="0">
                        <a:solidFill>
                          <a:schemeClr val="tx1"/>
                        </a:solidFill>
                        <a:latin typeface="+mn-lt"/>
                        <a:ea typeface="+mn-ea"/>
                        <a:cs typeface="Arial" pitchFamily="34" charset="0"/>
                      </a:endParaRP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Appendix 14</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r>
            </a:tbl>
          </a:graphicData>
        </a:graphic>
      </p:graphicFrame>
      <p:sp>
        <p:nvSpPr>
          <p:cNvPr id="13" name="Title 3"/>
          <p:cNvSpPr>
            <a:spLocks noGrp="1"/>
          </p:cNvSpPr>
          <p:nvPr>
            <p:ph type="title"/>
          </p:nvPr>
        </p:nvSpPr>
        <p:spPr>
          <a:xfrm>
            <a:off x="2123728" y="116632"/>
            <a:ext cx="6768752" cy="576064"/>
          </a:xfrm>
        </p:spPr>
        <p:txBody>
          <a:bodyPr/>
          <a:lstStyle/>
          <a:p>
            <a:r>
              <a:rPr lang="en-US" sz="1400" b="0" dirty="0">
                <a:solidFill>
                  <a:srgbClr val="747678"/>
                </a:solidFill>
              </a:rPr>
              <a:t>Executive summary</a:t>
            </a:r>
            <a:r>
              <a:rPr lang="en-US" dirty="0" smtClean="0"/>
              <a:t/>
            </a:r>
            <a:br>
              <a:rPr lang="en-US" dirty="0" smtClean="0"/>
            </a:br>
            <a:r>
              <a:rPr lang="en-US" dirty="0" smtClean="0"/>
              <a:t>Key findings: financial (20)</a:t>
            </a:r>
            <a:endParaRPr lang="en-US" dirty="0"/>
          </a:p>
        </p:txBody>
      </p:sp>
      <p:pic>
        <p:nvPicPr>
          <p:cNvPr id="7" name="Picture 6"/>
          <p:cNvPicPr>
            <a:picLocks noChangeAspect="1"/>
          </p:cNvPicPr>
          <p:nvPr/>
        </p:nvPicPr>
        <p:blipFill>
          <a:blip r:embed="rId3"/>
          <a:stretch>
            <a:fillRect/>
          </a:stretch>
        </p:blipFill>
        <p:spPr>
          <a:xfrm>
            <a:off x="1219200" y="2362200"/>
            <a:ext cx="4021797" cy="2049603"/>
          </a:xfrm>
          <a:prstGeom prst="rect">
            <a:avLst/>
          </a:prstGeom>
        </p:spPr>
      </p:pic>
      <p:pic>
        <p:nvPicPr>
          <p:cNvPr id="2" name="Picture 1"/>
          <p:cNvPicPr>
            <a:picLocks noChangeAspect="1"/>
          </p:cNvPicPr>
          <p:nvPr/>
        </p:nvPicPr>
        <p:blipFill>
          <a:blip r:embed="rId4"/>
          <a:stretch>
            <a:fillRect/>
          </a:stretch>
        </p:blipFill>
        <p:spPr>
          <a:xfrm>
            <a:off x="4577045" y="2370596"/>
            <a:ext cx="3881155" cy="2125204"/>
          </a:xfrm>
          <a:prstGeom prst="rect">
            <a:avLst/>
          </a:prstGeom>
        </p:spPr>
      </p:pic>
    </p:spTree>
    <p:extLst>
      <p:ext uri="{BB962C8B-B14F-4D97-AF65-F5344CB8AC3E}">
        <p14:creationId xmlns:p14="http://schemas.microsoft.com/office/powerpoint/2010/main" val="170506078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3"/>
          <p:cNvGraphicFramePr>
            <a:graphicFrameLocks noGrp="1"/>
          </p:cNvGraphicFramePr>
          <p:nvPr>
            <p:extLst>
              <p:ext uri="{D42A27DB-BD31-4B8C-83A1-F6EECF244321}">
                <p14:modId xmlns:p14="http://schemas.microsoft.com/office/powerpoint/2010/main" val="4163847742"/>
              </p:ext>
            </p:extLst>
          </p:nvPr>
        </p:nvGraphicFramePr>
        <p:xfrm>
          <a:off x="76200" y="1066800"/>
          <a:ext cx="8991600" cy="5361786"/>
        </p:xfrm>
        <a:graphic>
          <a:graphicData uri="http://schemas.openxmlformats.org/drawingml/2006/table">
            <a:tbl>
              <a:tblPr/>
              <a:tblGrid>
                <a:gridCol w="1082886"/>
                <a:gridCol w="6880581"/>
                <a:gridCol w="1028133"/>
              </a:tblGrid>
              <a:tr h="376986">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1000" b="1" i="0" u="none" strike="noStrike" cap="none" normalizeH="0" baseline="0" dirty="0" smtClean="0">
                          <a:ln>
                            <a:noFill/>
                          </a:ln>
                          <a:solidFill>
                            <a:schemeClr val="bg1"/>
                          </a:solidFill>
                          <a:effectLst/>
                          <a:latin typeface="Arial"/>
                          <a:cs typeface="Arial" pitchFamily="34" charset="0"/>
                        </a:rPr>
                        <a:t>Finding</a:t>
                      </a:r>
                      <a:endParaRPr kumimoji="0" lang="en-US" sz="900" b="1" i="0" u="none" strike="noStrike" cap="none" normalizeH="0" baseline="0" dirty="0" smtClean="0">
                        <a:ln>
                          <a:noFill/>
                        </a:ln>
                        <a:solidFill>
                          <a:schemeClr val="bg1"/>
                        </a:solidFill>
                        <a:effectLst/>
                        <a:latin typeface="Arial"/>
                        <a:cs typeface="Arial" pitchFamily="34" charset="0"/>
                      </a:endParaRP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Summary observations</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Reference</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r>
              <a:tr h="1474040">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900" b="1" i="0" u="none" strike="noStrike" cap="none" normalizeH="0" baseline="0" dirty="0" smtClean="0">
                          <a:ln>
                            <a:noFill/>
                          </a:ln>
                          <a:solidFill>
                            <a:schemeClr val="accent4"/>
                          </a:solidFill>
                          <a:effectLst/>
                          <a:latin typeface="Arial"/>
                          <a:cs typeface="Arial" pitchFamily="34" charset="0"/>
                        </a:rPr>
                        <a:t>Budgets and projections</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dirty="0" smtClean="0">
                          <a:solidFill>
                            <a:schemeClr val="tx1"/>
                          </a:solidFill>
                          <a:latin typeface="+mn-lt"/>
                          <a:ea typeface="+mn-ea"/>
                          <a:cs typeface="Arial" pitchFamily="34" charset="0"/>
                        </a:rPr>
                        <a:t>Target utilizes a bottom-up approach to developing its budget that combines historical trends with go-forward assumptions to arrive at pro-forma financial results. The forecasting process is lead by the Financial Planning &amp; Analytics team in collaboration with the front and back office teams. A base case forecast is initially developed, then subjected to various levels of management review for refinement. Financial forecasts are submitted to Parent for aggregation, analysis, and reporting.</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dirty="0" smtClean="0">
                          <a:solidFill>
                            <a:schemeClr val="tx1"/>
                          </a:solidFill>
                          <a:latin typeface="+mn-lt"/>
                          <a:ea typeface="+mn-ea"/>
                          <a:cs typeface="Arial" pitchFamily="34" charset="0"/>
                        </a:rPr>
                        <a:t>Pre-tax income in 2014 was $118 million behind budget, due to lower-than-expected interest and fee income ($133 million and $51 million behind budget, respectively). These negative budget-to-actual variances were driven by the following:</a:t>
                      </a:r>
                    </a:p>
                    <a:p>
                      <a:pPr marL="40005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dirty="0" smtClean="0">
                          <a:solidFill>
                            <a:schemeClr val="tx1"/>
                          </a:solidFill>
                          <a:latin typeface="+mn-lt"/>
                          <a:ea typeface="+mn-ea"/>
                          <a:cs typeface="Arial" pitchFamily="34" charset="0"/>
                        </a:rPr>
                        <a:t>On-book volume additions were $1.5 billion behind plan as the Core (non-SSLP/MMGP) portfolio shrank during the year as run-offs outpaced additions and as GE adopted a conservative view of the leveraged lending guidelines.</a:t>
                      </a:r>
                    </a:p>
                    <a:p>
                      <a:pPr marL="40005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dirty="0" smtClean="0">
                          <a:solidFill>
                            <a:schemeClr val="tx1"/>
                          </a:solidFill>
                          <a:latin typeface="+mn-lt"/>
                          <a:ea typeface="+mn-ea"/>
                          <a:cs typeface="Arial" pitchFamily="34" charset="0"/>
                        </a:rPr>
                        <a:t>Lower yields due to shift in volume mix towards SSLP and MMGP programs, which generate lower yields in part due to pooled “first-loss” protection mechanism (for example, yield on SSLP loans was 3.85% in 2014, as compared to 5.40% for the entire portfolio loans). These programs grew at a faster rate than budgeted, while the higher-yielding Core portfolio shrank. </a:t>
                      </a:r>
                    </a:p>
                    <a:p>
                      <a:pPr marL="222250" marR="0" lvl="2"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lang="en-US" sz="900" b="0" kern="1200" baseline="0" dirty="0" smtClean="0">
                          <a:solidFill>
                            <a:schemeClr val="tx1"/>
                          </a:solidFill>
                          <a:latin typeface="+mn-lt"/>
                          <a:ea typeface="+mn-ea"/>
                          <a:cs typeface="Arial" pitchFamily="34" charset="0"/>
                        </a:rPr>
                        <a:t>These negative variances were partially offset by stronger-than-expected growth in the SSLP and MMGP portfolios (with associated management fees and skim fees ahead of budget) and higher-than-anticipated recoveries.</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Target management’s forecasts for 2015, 2016 and 2017, prepared on the basis that it will continue to operate under current ownership, were driven by the following key assumptions:</a:t>
                      </a:r>
                    </a:p>
                    <a:p>
                      <a:pPr marL="400050" marR="0" lvl="2" indent="-171450" algn="l" defTabSz="914400" rtl="0" eaLnBrk="1" fontAlgn="auto" latinLnBrk="0" hangingPunct="1">
                        <a:lnSpc>
                          <a:spcPct val="100000"/>
                        </a:lnSpc>
                        <a:spcBef>
                          <a:spcPts val="600"/>
                        </a:spcBef>
                        <a:spcAft>
                          <a:spcPts val="0"/>
                        </a:spcAft>
                        <a:buClr>
                          <a:srgbClr val="97989A"/>
                        </a:buClr>
                        <a:buSzTx/>
                        <a:buFont typeface="Arial" pitchFamily="34" charset="0"/>
                        <a:buChar char="‒"/>
                        <a:tabLst>
                          <a:tab pos="400050" algn="l"/>
                        </a:tabLst>
                        <a:defRPr/>
                      </a:pPr>
                      <a:r>
                        <a:rPr lang="en-US" sz="900" b="1" kern="1200" baseline="0" noProof="0" dirty="0" smtClean="0">
                          <a:solidFill>
                            <a:schemeClr val="tx1"/>
                          </a:solidFill>
                          <a:latin typeface="+mn-lt"/>
                          <a:ea typeface="+mn-ea"/>
                          <a:cs typeface="Arial" pitchFamily="34" charset="0"/>
                        </a:rPr>
                        <a:t>Volume: </a:t>
                      </a:r>
                      <a:r>
                        <a:rPr lang="en-US" sz="900" b="0" kern="1200" baseline="0" noProof="0" dirty="0" smtClean="0">
                          <a:solidFill>
                            <a:schemeClr val="tx1"/>
                          </a:solidFill>
                          <a:latin typeface="+mn-lt"/>
                          <a:ea typeface="+mn-ea"/>
                          <a:cs typeface="Arial" pitchFamily="34" charset="0"/>
                        </a:rPr>
                        <a:t>overall increase in total volume driven by expected harmonization and higher M&amp;A activity; volume growth primarily focused within the SSLP and MMGP programs; assumed average total commitment and funded amount per deal in line with recent trends; and 60% of total volume commitment is syndicated for Core deals consistent with 2014. Given the recent slowdown in M&amp;A sector, we recommend that you consider whether the M&amp;A activity pickup assumption is reasonable.</a:t>
                      </a:r>
                    </a:p>
                    <a:p>
                      <a:pPr marL="400050" marR="0" lvl="2" indent="-171450" algn="l" defTabSz="914400" rtl="0" eaLnBrk="1" fontAlgn="auto" latinLnBrk="0" hangingPunct="1">
                        <a:lnSpc>
                          <a:spcPct val="100000"/>
                        </a:lnSpc>
                        <a:spcBef>
                          <a:spcPts val="600"/>
                        </a:spcBef>
                        <a:spcAft>
                          <a:spcPts val="0"/>
                        </a:spcAft>
                        <a:buClr>
                          <a:srgbClr val="97989A"/>
                        </a:buClr>
                        <a:buSzTx/>
                        <a:buFont typeface="Arial" pitchFamily="34" charset="0"/>
                        <a:buChar char="‒"/>
                        <a:tabLst>
                          <a:tab pos="400050" algn="l"/>
                        </a:tabLst>
                        <a:defRPr/>
                      </a:pPr>
                      <a:r>
                        <a:rPr lang="en-US" sz="900" b="1" kern="1200" baseline="0" noProof="0" dirty="0" smtClean="0">
                          <a:solidFill>
                            <a:schemeClr val="tx1"/>
                          </a:solidFill>
                          <a:latin typeface="+mn-lt"/>
                          <a:ea typeface="+mn-ea"/>
                          <a:cs typeface="Arial" pitchFamily="34" charset="0"/>
                        </a:rPr>
                        <a:t>Asset yield: </a:t>
                      </a:r>
                      <a:r>
                        <a:rPr lang="en-US" sz="900" b="0" kern="1200" baseline="0" noProof="0" dirty="0" smtClean="0">
                          <a:solidFill>
                            <a:schemeClr val="tx1"/>
                          </a:solidFill>
                          <a:latin typeface="+mn-lt"/>
                          <a:ea typeface="+mn-ea"/>
                          <a:cs typeface="Arial" pitchFamily="34" charset="0"/>
                        </a:rPr>
                        <a:t>yield compression through 2017 driven by shift in volume mix towards lower yielding SSLP and MMGP programs and LIBOR held flat based on Q1’15. As a result, interest income declines then stabilizes due to lower yield partially offset by greater assets. Yields (including discount and deferred fee amortization) in 2015 are projected at 4.94%, as compared to 5.98% and 5.36% in 2013 and 2014, respectively.</a:t>
                      </a:r>
                    </a:p>
                    <a:p>
                      <a:pPr marL="400050" marR="0" lvl="2" indent="-171450" algn="l" defTabSz="914400" rtl="0" eaLnBrk="1" fontAlgn="auto" latinLnBrk="0" hangingPunct="1">
                        <a:lnSpc>
                          <a:spcPct val="100000"/>
                        </a:lnSpc>
                        <a:spcBef>
                          <a:spcPts val="600"/>
                        </a:spcBef>
                        <a:spcAft>
                          <a:spcPts val="0"/>
                        </a:spcAft>
                        <a:buClr>
                          <a:srgbClr val="97989A"/>
                        </a:buClr>
                        <a:buSzTx/>
                        <a:buFont typeface="Arial" pitchFamily="34" charset="0"/>
                        <a:buChar char="‒"/>
                        <a:tabLst>
                          <a:tab pos="400050" algn="l"/>
                        </a:tabLst>
                        <a:defRPr/>
                      </a:pPr>
                      <a:r>
                        <a:rPr lang="en-US" sz="900" b="1" kern="1200" baseline="0" noProof="0" dirty="0" smtClean="0">
                          <a:solidFill>
                            <a:schemeClr val="tx1"/>
                          </a:solidFill>
                          <a:latin typeface="+mn-lt"/>
                          <a:ea typeface="+mn-ea"/>
                          <a:cs typeface="Arial" pitchFamily="34" charset="0"/>
                        </a:rPr>
                        <a:t>Fee income: </a:t>
                      </a:r>
                      <a:r>
                        <a:rPr lang="en-US" sz="900" b="0" kern="1200" baseline="0" noProof="0" dirty="0" smtClean="0">
                          <a:solidFill>
                            <a:schemeClr val="tx1"/>
                          </a:solidFill>
                          <a:latin typeface="+mn-lt"/>
                          <a:ea typeface="+mn-ea"/>
                          <a:cs typeface="Arial" pitchFamily="34" charset="0"/>
                        </a:rPr>
                        <a:t>upfront fees and management fees consistent with historical rates; as a result, fee income growth driven by higher volume and AUM, respectively. Given recent experience with loss of lead left positions, we recommend that you consider whether the assumption of growth in syndicated volume is reasonable.</a:t>
                      </a:r>
                    </a:p>
                    <a:p>
                      <a:pPr marL="400050" marR="0" lvl="2" indent="-171450" algn="l" defTabSz="914400" rtl="0" eaLnBrk="1" fontAlgn="auto" latinLnBrk="0" hangingPunct="1">
                        <a:lnSpc>
                          <a:spcPct val="100000"/>
                        </a:lnSpc>
                        <a:spcBef>
                          <a:spcPts val="600"/>
                        </a:spcBef>
                        <a:spcAft>
                          <a:spcPts val="0"/>
                        </a:spcAft>
                        <a:buClr>
                          <a:srgbClr val="97989A"/>
                        </a:buClr>
                        <a:buSzTx/>
                        <a:buFont typeface="Arial" pitchFamily="34" charset="0"/>
                        <a:buChar char="‒"/>
                        <a:tabLst>
                          <a:tab pos="400050" algn="l"/>
                        </a:tabLst>
                        <a:defRPr/>
                      </a:pPr>
                      <a:r>
                        <a:rPr lang="en-US" sz="900" b="1" kern="1200" baseline="0" noProof="0" dirty="0" smtClean="0">
                          <a:solidFill>
                            <a:schemeClr val="tx1"/>
                          </a:solidFill>
                          <a:latin typeface="+mn-lt"/>
                          <a:ea typeface="+mn-ea"/>
                          <a:cs typeface="Arial" pitchFamily="34" charset="0"/>
                        </a:rPr>
                        <a:t>Loan losses: </a:t>
                      </a:r>
                      <a:r>
                        <a:rPr lang="en-US" sz="900" b="0" kern="1200" baseline="0" noProof="0" dirty="0" smtClean="0">
                          <a:solidFill>
                            <a:schemeClr val="tx1"/>
                          </a:solidFill>
                          <a:latin typeface="+mn-lt"/>
                          <a:ea typeface="+mn-ea"/>
                          <a:cs typeface="Arial" pitchFamily="34" charset="0"/>
                        </a:rPr>
                        <a:t>conducted a deal-by-deal analysis to project losses/recoveries in 2015; assumed $50 million, or 30 bps, of losses in 2016 and 2017. Target has historically experienced loan loss rates between 45-123 bps.</a:t>
                      </a:r>
                    </a:p>
                    <a:p>
                      <a:pPr marL="400050" marR="0" lvl="2" indent="-171450" algn="l" defTabSz="914400" rtl="0" eaLnBrk="1" fontAlgn="auto" latinLnBrk="0" hangingPunct="1">
                        <a:lnSpc>
                          <a:spcPct val="100000"/>
                        </a:lnSpc>
                        <a:spcBef>
                          <a:spcPts val="600"/>
                        </a:spcBef>
                        <a:spcAft>
                          <a:spcPts val="0"/>
                        </a:spcAft>
                        <a:buClr>
                          <a:srgbClr val="97989A"/>
                        </a:buClr>
                        <a:buSzTx/>
                        <a:buFont typeface="Arial" pitchFamily="34" charset="0"/>
                        <a:buChar char="‒"/>
                        <a:tabLst>
                          <a:tab pos="400050" algn="l"/>
                        </a:tabLst>
                        <a:defRPr/>
                      </a:pPr>
                      <a:r>
                        <a:rPr lang="en-US" sz="900" b="1" kern="1200" baseline="0" noProof="0" dirty="0" smtClean="0">
                          <a:solidFill>
                            <a:schemeClr val="tx1"/>
                          </a:solidFill>
                          <a:latin typeface="+mn-lt"/>
                          <a:ea typeface="+mn-ea"/>
                          <a:cs typeface="Arial" pitchFamily="34" charset="0"/>
                        </a:rPr>
                        <a:t>Operating expenses: </a:t>
                      </a:r>
                      <a:r>
                        <a:rPr lang="en-US" sz="900" b="0" kern="1200" baseline="0" noProof="0" dirty="0" smtClean="0">
                          <a:solidFill>
                            <a:schemeClr val="tx1"/>
                          </a:solidFill>
                          <a:latin typeface="+mn-lt"/>
                          <a:ea typeface="+mn-ea"/>
                          <a:cs typeface="Arial" pitchFamily="34" charset="0"/>
                        </a:rPr>
                        <a:t>held flat in projection periods. You should consider the potential incremental costs post-transaction to establish the back-office support functions currently provided by the Parent.</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Appendix 15</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r>
            </a:tbl>
          </a:graphicData>
        </a:graphic>
      </p:graphicFrame>
      <p:sp>
        <p:nvSpPr>
          <p:cNvPr id="13" name="Title 3"/>
          <p:cNvSpPr>
            <a:spLocks noGrp="1"/>
          </p:cNvSpPr>
          <p:nvPr>
            <p:ph type="title"/>
          </p:nvPr>
        </p:nvSpPr>
        <p:spPr>
          <a:xfrm>
            <a:off x="2123728" y="116632"/>
            <a:ext cx="6768752" cy="576064"/>
          </a:xfrm>
        </p:spPr>
        <p:txBody>
          <a:bodyPr/>
          <a:lstStyle/>
          <a:p>
            <a:r>
              <a:rPr lang="en-US" sz="1400" b="0" dirty="0">
                <a:solidFill>
                  <a:srgbClr val="747678"/>
                </a:solidFill>
              </a:rPr>
              <a:t>Executive summary</a:t>
            </a:r>
            <a:r>
              <a:rPr lang="en-US" dirty="0" smtClean="0"/>
              <a:t/>
            </a:r>
            <a:br>
              <a:rPr lang="en-US" dirty="0" smtClean="0"/>
            </a:br>
            <a:r>
              <a:rPr lang="en-US" dirty="0" smtClean="0"/>
              <a:t>Key findings: financial (21)</a:t>
            </a:r>
            <a:endParaRPr lang="en-US" dirty="0"/>
          </a:p>
        </p:txBody>
      </p:sp>
    </p:spTree>
    <p:extLst>
      <p:ext uri="{BB962C8B-B14F-4D97-AF65-F5344CB8AC3E}">
        <p14:creationId xmlns:p14="http://schemas.microsoft.com/office/powerpoint/2010/main" val="362929060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3"/>
          <p:cNvGraphicFramePr>
            <a:graphicFrameLocks noGrp="1"/>
          </p:cNvGraphicFramePr>
          <p:nvPr>
            <p:extLst>
              <p:ext uri="{D42A27DB-BD31-4B8C-83A1-F6EECF244321}">
                <p14:modId xmlns:p14="http://schemas.microsoft.com/office/powerpoint/2010/main" val="3190446561"/>
              </p:ext>
            </p:extLst>
          </p:nvPr>
        </p:nvGraphicFramePr>
        <p:xfrm>
          <a:off x="252046" y="1219200"/>
          <a:ext cx="8663354" cy="4371186"/>
        </p:xfrm>
        <a:graphic>
          <a:graphicData uri="http://schemas.openxmlformats.org/drawingml/2006/table">
            <a:tbl>
              <a:tblPr/>
              <a:tblGrid>
                <a:gridCol w="1043354"/>
                <a:gridCol w="6629400"/>
                <a:gridCol w="990600"/>
              </a:tblGrid>
              <a:tr h="376986">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1000" b="1" i="0" u="none" strike="noStrike" cap="none" normalizeH="0" baseline="0" dirty="0" smtClean="0">
                          <a:ln>
                            <a:noFill/>
                          </a:ln>
                          <a:solidFill>
                            <a:schemeClr val="bg1"/>
                          </a:solidFill>
                          <a:effectLst/>
                          <a:latin typeface="Arial"/>
                          <a:cs typeface="Arial" pitchFamily="34" charset="0"/>
                        </a:rPr>
                        <a:t>Finding</a:t>
                      </a:r>
                      <a:endParaRPr kumimoji="0" lang="en-US" sz="900" b="1" i="0" u="none" strike="noStrike" cap="none" normalizeH="0" baseline="0" dirty="0" smtClean="0">
                        <a:ln>
                          <a:noFill/>
                        </a:ln>
                        <a:solidFill>
                          <a:schemeClr val="bg1"/>
                        </a:solidFill>
                        <a:effectLst/>
                        <a:latin typeface="Arial"/>
                        <a:cs typeface="Arial" pitchFamily="34" charset="0"/>
                      </a:endParaRP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Summary observations</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Reference</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r>
              <a:tr h="1474040">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900" b="1" i="0" u="none" strike="noStrike" cap="none" normalizeH="0" baseline="0" dirty="0" smtClean="0">
                          <a:ln>
                            <a:noFill/>
                          </a:ln>
                          <a:solidFill>
                            <a:schemeClr val="accent4"/>
                          </a:solidFill>
                          <a:effectLst/>
                          <a:latin typeface="Arial"/>
                          <a:cs typeface="Arial" pitchFamily="34" charset="0"/>
                        </a:rPr>
                        <a:t>Purchase accounting adjustments</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kumimoji="0" lang="en-US" sz="900" b="0" i="0" u="none" strike="noStrike" kern="1200" cap="none" spc="0" normalizeH="0" baseline="0" dirty="0" smtClean="0">
                          <a:ln>
                            <a:noFill/>
                          </a:ln>
                          <a:solidFill>
                            <a:srgbClr val="000000"/>
                          </a:solidFill>
                          <a:effectLst/>
                          <a:uLnTx/>
                          <a:uFillTx/>
                          <a:latin typeface="+mn-lt"/>
                          <a:ea typeface="+mn-ea"/>
                          <a:cs typeface="Arial" pitchFamily="34" charset="0"/>
                        </a:rPr>
                        <a:t>We understand that an AcquirorCo would be set up to effect the acquisition of Target. The proposed transaction would be considered a business combination in the accounting records of AcquirorCo; therefore, the acquired assets and any assumed liabilities will be adjusted to their respective fair market values at the acquisition date. The difference between the purchase price and the fair value of the net tangible and other intangible assets (i.e., customer relationships) is attributed to goodwill. The application of push-down accounting would not be applicable as AcquirorCo would be acquiring specific assets rather than shares of a legal entity.</a:t>
                      </a:r>
                    </a:p>
                    <a:p>
                      <a:pPr marL="347663" marR="0" lvl="2" indent="-173038"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kumimoji="0" lang="en-US" sz="900" b="0" i="0" u="none" strike="noStrike" kern="1200" cap="none" spc="0" normalizeH="0" baseline="0" dirty="0" smtClean="0">
                          <a:ln>
                            <a:noFill/>
                          </a:ln>
                          <a:solidFill>
                            <a:srgbClr val="000000"/>
                          </a:solidFill>
                          <a:effectLst/>
                          <a:uLnTx/>
                          <a:uFillTx/>
                          <a:latin typeface="+mn-lt"/>
                          <a:ea typeface="+mn-ea"/>
                          <a:cs typeface="Arial" pitchFamily="34" charset="0"/>
                        </a:rPr>
                        <a:t>It is our understanding there is a chance that CII 4 consolidates </a:t>
                      </a:r>
                      <a:r>
                        <a:rPr kumimoji="0" lang="en-US" sz="900" b="0" i="0" u="none" strike="noStrike" kern="1200" cap="none" spc="0" normalizeH="0" baseline="0" dirty="0" err="1" smtClean="0">
                          <a:ln>
                            <a:noFill/>
                          </a:ln>
                          <a:solidFill>
                            <a:srgbClr val="000000"/>
                          </a:solidFill>
                          <a:effectLst/>
                          <a:uLnTx/>
                          <a:uFillTx/>
                          <a:latin typeface="+mn-lt"/>
                          <a:ea typeface="+mn-ea"/>
                          <a:cs typeface="Arial" pitchFamily="34" charset="0"/>
                        </a:rPr>
                        <a:t>AcquirorCo</a:t>
                      </a:r>
                      <a:r>
                        <a:rPr kumimoji="0" lang="en-US" sz="900" b="0" i="0" u="none" strike="noStrike" kern="1200" cap="none" spc="0" normalizeH="0" baseline="0" dirty="0" smtClean="0">
                          <a:ln>
                            <a:noFill/>
                          </a:ln>
                          <a:solidFill>
                            <a:srgbClr val="000000"/>
                          </a:solidFill>
                          <a:effectLst/>
                          <a:uLnTx/>
                          <a:uFillTx/>
                          <a:latin typeface="+mn-lt"/>
                          <a:ea typeface="+mn-ea"/>
                          <a:cs typeface="Arial" pitchFamily="34" charset="0"/>
                        </a:rPr>
                        <a:t>. If it does not, then it would account for its investment in </a:t>
                      </a:r>
                      <a:r>
                        <a:rPr kumimoji="0" lang="en-US" sz="900" b="0" i="0" u="none" strike="noStrike" kern="1200" cap="none" spc="0" normalizeH="0" baseline="0" dirty="0" err="1" smtClean="0">
                          <a:ln>
                            <a:noFill/>
                          </a:ln>
                          <a:solidFill>
                            <a:srgbClr val="000000"/>
                          </a:solidFill>
                          <a:effectLst/>
                          <a:uLnTx/>
                          <a:uFillTx/>
                          <a:latin typeface="+mn-lt"/>
                          <a:ea typeface="+mn-ea"/>
                          <a:cs typeface="Arial" pitchFamily="34" charset="0"/>
                        </a:rPr>
                        <a:t>AcquirorCo</a:t>
                      </a:r>
                      <a:r>
                        <a:rPr kumimoji="0" lang="en-US" sz="900" b="0" i="0" u="none" strike="noStrike" kern="1200" cap="none" spc="0" normalizeH="0" baseline="0" dirty="0" smtClean="0">
                          <a:ln>
                            <a:noFill/>
                          </a:ln>
                          <a:solidFill>
                            <a:srgbClr val="000000"/>
                          </a:solidFill>
                          <a:effectLst/>
                          <a:uLnTx/>
                          <a:uFillTx/>
                          <a:latin typeface="+mn-lt"/>
                          <a:ea typeface="+mn-ea"/>
                          <a:cs typeface="Arial" pitchFamily="34" charset="0"/>
                        </a:rPr>
                        <a:t> under the equity-method accounting (assuming significant influence, but lack of control) for its proportionate share of income/loss, and its initial investment would be recorded at fair market value as part of purchase accounting.</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kumimoji="0" lang="en-US" sz="900" b="0" i="0" u="none" strike="noStrike" kern="1200" cap="none" spc="0" normalizeH="0" baseline="0" dirty="0" smtClean="0">
                          <a:ln>
                            <a:noFill/>
                          </a:ln>
                          <a:solidFill>
                            <a:srgbClr val="000000"/>
                          </a:solidFill>
                          <a:effectLst/>
                          <a:uLnTx/>
                          <a:uFillTx/>
                          <a:latin typeface="+mn-lt"/>
                          <a:ea typeface="+mn-ea"/>
                          <a:cs typeface="Arial" pitchFamily="34" charset="0"/>
                        </a:rPr>
                        <a:t>Goodwill is not amortized, but is subject to annual evaluation for impairment. Other intangible assets are amortized to earnings on a straight-line basis over their expected useful life. The impact of the amortization expense associated with the value assigned to Target’s customer relationships should be considered in your transaction model.</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kumimoji="0" lang="en-US" sz="900" b="0" i="0" u="none" strike="noStrike" kern="1200" cap="none" spc="0" normalizeH="0" baseline="0" dirty="0" smtClean="0">
                          <a:ln>
                            <a:noFill/>
                          </a:ln>
                          <a:solidFill>
                            <a:srgbClr val="000000"/>
                          </a:solidFill>
                          <a:effectLst/>
                          <a:uLnTx/>
                          <a:uFillTx/>
                          <a:latin typeface="+mn-lt"/>
                          <a:ea typeface="+mn-ea"/>
                          <a:cs typeface="Arial" pitchFamily="34" charset="0"/>
                        </a:rPr>
                        <a:t>Equity investments will be revalued to their respective fair market values and subsequently accounted for under the cost- or equity-method based on its level of influence, consistent with historical practice.</a:t>
                      </a:r>
                    </a:p>
                    <a:p>
                      <a:pPr marL="347663" marR="0" lvl="2" indent="-173038"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kumimoji="0" lang="en-US" sz="900" b="0" i="0" u="none" strike="noStrike" kern="1200" cap="none" spc="0" normalizeH="0" baseline="0" dirty="0" smtClean="0">
                          <a:ln>
                            <a:noFill/>
                          </a:ln>
                          <a:solidFill>
                            <a:srgbClr val="000000"/>
                          </a:solidFill>
                          <a:effectLst/>
                          <a:uLnTx/>
                          <a:uFillTx/>
                          <a:latin typeface="+mn-lt"/>
                          <a:ea typeface="+mn-ea"/>
                          <a:cs typeface="Arial" pitchFamily="34" charset="0"/>
                        </a:rPr>
                        <a:t>As a result of the purchase accounting adjustments, the expected positive mark-to-market adjustment to the equity co-investments will result in a decline in future gains on the existing portfolio as reported on the income statement of AcquirorCo for a period of time and an increased potential for impairment charges. Management stated that the existing portfolio currently has approximately $300 million of embedded gains that are forecasted to be recognized in earnings as the investments are sold over the next three years. </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kumimoji="0" lang="en-US" sz="900" b="0" i="0" u="none" strike="noStrike" kern="1200" cap="none" spc="0" normalizeH="0" baseline="0" dirty="0" smtClean="0">
                          <a:ln>
                            <a:noFill/>
                          </a:ln>
                          <a:solidFill>
                            <a:srgbClr val="000000"/>
                          </a:solidFill>
                          <a:effectLst/>
                          <a:uLnTx/>
                          <a:uFillTx/>
                          <a:latin typeface="+mn-lt"/>
                          <a:ea typeface="+mn-ea"/>
                          <a:cs typeface="Arial" pitchFamily="34" charset="0"/>
                        </a:rPr>
                        <a:t>Also as a result of purchase accounting, any deferred fees and costs will be included in the post-transaction cost base of the associated loans acquired once they are revalued to fair value in the books of AcquirorCo (but will remain in Target’s books). Existing deferred amounts will therefore no longer be amortized into income.</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kumimoji="0" lang="en-US" sz="900" b="0" i="0" u="none" strike="noStrike" kern="1200" cap="none" spc="0" normalizeH="0" baseline="0" dirty="0" smtClean="0">
                          <a:ln>
                            <a:noFill/>
                          </a:ln>
                          <a:solidFill>
                            <a:srgbClr val="000000"/>
                          </a:solidFill>
                          <a:effectLst/>
                          <a:uLnTx/>
                          <a:uFillTx/>
                          <a:latin typeface="+mn-lt"/>
                          <a:ea typeface="+mn-ea"/>
                          <a:cs typeface="Arial" pitchFamily="34" charset="0"/>
                        </a:rPr>
                        <a:t>Target’s allowance for loan losses does not carry over in the acquisition in the book of AcquirorCo (yet to remain in Target’s books). Instead, all acquired loans shall initially be recorded at fair value without a reserve.</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N/A</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r>
            </a:tbl>
          </a:graphicData>
        </a:graphic>
      </p:graphicFrame>
      <p:sp>
        <p:nvSpPr>
          <p:cNvPr id="13" name="Title 3"/>
          <p:cNvSpPr>
            <a:spLocks noGrp="1"/>
          </p:cNvSpPr>
          <p:nvPr>
            <p:ph type="title"/>
          </p:nvPr>
        </p:nvSpPr>
        <p:spPr>
          <a:xfrm>
            <a:off x="2123728" y="116632"/>
            <a:ext cx="6768752" cy="576064"/>
          </a:xfrm>
        </p:spPr>
        <p:txBody>
          <a:bodyPr/>
          <a:lstStyle/>
          <a:p>
            <a:r>
              <a:rPr lang="en-US" sz="1400" b="0" dirty="0">
                <a:solidFill>
                  <a:srgbClr val="747678"/>
                </a:solidFill>
              </a:rPr>
              <a:t>Executive summary</a:t>
            </a:r>
            <a:r>
              <a:rPr lang="en-US" dirty="0" smtClean="0"/>
              <a:t/>
            </a:r>
            <a:br>
              <a:rPr lang="en-US" dirty="0" smtClean="0"/>
            </a:br>
            <a:r>
              <a:rPr lang="en-US" dirty="0" smtClean="0"/>
              <a:t>Key findings: financial (22)</a:t>
            </a:r>
            <a:endParaRPr lang="en-US" dirty="0"/>
          </a:p>
        </p:txBody>
      </p:sp>
    </p:spTree>
    <p:extLst>
      <p:ext uri="{BB962C8B-B14F-4D97-AF65-F5344CB8AC3E}">
        <p14:creationId xmlns:p14="http://schemas.microsoft.com/office/powerpoint/2010/main" val="102104663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3"/>
          <p:cNvGraphicFramePr>
            <a:graphicFrameLocks noGrp="1"/>
          </p:cNvGraphicFramePr>
          <p:nvPr>
            <p:extLst>
              <p:ext uri="{D42A27DB-BD31-4B8C-83A1-F6EECF244321}">
                <p14:modId xmlns:p14="http://schemas.microsoft.com/office/powerpoint/2010/main" val="1434325947"/>
              </p:ext>
            </p:extLst>
          </p:nvPr>
        </p:nvGraphicFramePr>
        <p:xfrm>
          <a:off x="252046" y="1219200"/>
          <a:ext cx="8663354" cy="3639666"/>
        </p:xfrm>
        <a:graphic>
          <a:graphicData uri="http://schemas.openxmlformats.org/drawingml/2006/table">
            <a:tbl>
              <a:tblPr/>
              <a:tblGrid>
                <a:gridCol w="1043354"/>
                <a:gridCol w="6629400"/>
                <a:gridCol w="990600"/>
              </a:tblGrid>
              <a:tr h="376986">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1000" b="1" i="0" u="none" strike="noStrike" cap="none" normalizeH="0" baseline="0" dirty="0" smtClean="0">
                          <a:ln>
                            <a:noFill/>
                          </a:ln>
                          <a:solidFill>
                            <a:schemeClr val="bg1"/>
                          </a:solidFill>
                          <a:effectLst/>
                          <a:latin typeface="Arial"/>
                          <a:cs typeface="Arial" pitchFamily="34" charset="0"/>
                        </a:rPr>
                        <a:t>Finding</a:t>
                      </a:r>
                      <a:endParaRPr kumimoji="0" lang="en-US" sz="900" b="1" i="0" u="none" strike="noStrike" cap="none" normalizeH="0" baseline="0" dirty="0" smtClean="0">
                        <a:ln>
                          <a:noFill/>
                        </a:ln>
                        <a:solidFill>
                          <a:schemeClr val="bg1"/>
                        </a:solidFill>
                        <a:effectLst/>
                        <a:latin typeface="Arial"/>
                        <a:cs typeface="Arial" pitchFamily="34" charset="0"/>
                      </a:endParaRP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Summary observations</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Reference</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r>
              <a:tr h="1474040">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900" b="1" i="0" u="none" strike="noStrike" cap="none" normalizeH="0" baseline="0" dirty="0" smtClean="0">
                          <a:ln>
                            <a:noFill/>
                          </a:ln>
                          <a:solidFill>
                            <a:schemeClr val="accent4"/>
                          </a:solidFill>
                          <a:effectLst/>
                          <a:latin typeface="Arial"/>
                          <a:cs typeface="Arial" pitchFamily="34" charset="0"/>
                        </a:rPr>
                        <a:t>Bank Loan Group</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The Bank Loan Group, or BLG, is a business unit of GE Capital Corporation that in</a:t>
                      </a:r>
                      <a:r>
                        <a:rPr lang="en-US" sz="900" b="0" kern="1200" baseline="0" dirty="0" smtClean="0">
                          <a:solidFill>
                            <a:schemeClr val="tx1"/>
                          </a:solidFill>
                          <a:latin typeface="+mn-lt"/>
                          <a:ea typeface="+mn-ea"/>
                          <a:cs typeface="Arial" pitchFamily="34" charset="0"/>
                        </a:rPr>
                        <a:t>vests primarily in non-investment-grade, broadly syndicated bank loans, typically greater than $150 million in size. The business had earnings of $82 million in 2014, with assets yielding 4.5% and loan losses of 130 bps during the period.</a:t>
                      </a:r>
                      <a:endParaRPr lang="en-US" sz="900" b="0" kern="1200" baseline="0" noProof="0" dirty="0" smtClean="0">
                        <a:solidFill>
                          <a:schemeClr val="tx1"/>
                        </a:solidFill>
                        <a:latin typeface="+mn-lt"/>
                        <a:ea typeface="+mn-ea"/>
                        <a:cs typeface="Arial" pitchFamily="34" charset="0"/>
                      </a:endParaRP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dirty="0" smtClean="0">
                          <a:solidFill>
                            <a:schemeClr val="tx1"/>
                          </a:solidFill>
                          <a:latin typeface="+mn-lt"/>
                          <a:ea typeface="+mn-ea"/>
                          <a:cs typeface="Arial" pitchFamily="34" charset="0"/>
                        </a:rPr>
                        <a:t>BLG, which is managed together with Target, invests in U.S. syndicated bank loan deals in the primary and secondary market with the following characteristics:</a:t>
                      </a:r>
                    </a:p>
                    <a:p>
                      <a:pPr marL="403225" marR="0" lvl="2" indent="-174625"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dirty="0" smtClean="0">
                          <a:solidFill>
                            <a:schemeClr val="tx1"/>
                          </a:solidFill>
                          <a:latin typeface="+mn-lt"/>
                          <a:ea typeface="+mn-ea"/>
                          <a:cs typeface="Arial" pitchFamily="34" charset="0"/>
                        </a:rPr>
                        <a:t>Non-investment grade, broadly syndicated, senior bank loans</a:t>
                      </a:r>
                    </a:p>
                    <a:p>
                      <a:pPr marL="403225" marR="0" lvl="2" indent="-174625"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dirty="0" smtClean="0">
                          <a:solidFill>
                            <a:schemeClr val="tx1"/>
                          </a:solidFill>
                          <a:latin typeface="+mn-lt"/>
                          <a:ea typeface="+mn-ea"/>
                          <a:cs typeface="Arial" pitchFamily="34" charset="0"/>
                        </a:rPr>
                        <a:t>More than $250mm typical deal size with ~$150mm average EBITDA</a:t>
                      </a:r>
                    </a:p>
                    <a:p>
                      <a:pPr marL="403225" marR="0" lvl="2" indent="-174625"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dirty="0" smtClean="0">
                          <a:solidFill>
                            <a:schemeClr val="tx1"/>
                          </a:solidFill>
                          <a:latin typeface="+mn-lt"/>
                          <a:ea typeface="+mn-ea"/>
                          <a:cs typeface="Arial" pitchFamily="34" charset="0"/>
                        </a:rPr>
                        <a:t>For business expansions, acquisitions, recapitalization, LBOs, and general refinancing</a:t>
                      </a:r>
                    </a:p>
                    <a:p>
                      <a:pPr marL="403225" marR="0" lvl="2" indent="-174625"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dirty="0" smtClean="0">
                          <a:solidFill>
                            <a:schemeClr val="tx1"/>
                          </a:solidFill>
                          <a:latin typeface="+mn-lt"/>
                          <a:ea typeface="+mn-ea"/>
                          <a:cs typeface="Arial" pitchFamily="34" charset="0"/>
                        </a:rPr>
                        <a:t>Trade exposures approximate $20 million</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dirty="0" smtClean="0">
                          <a:solidFill>
                            <a:schemeClr val="tx1"/>
                          </a:solidFill>
                          <a:latin typeface="+mn-lt"/>
                          <a:ea typeface="+mn-ea"/>
                          <a:cs typeface="Arial" pitchFamily="34" charset="0"/>
                        </a:rPr>
                        <a:t>Management stated BLG’s ability to generate earnings has been adversely affected by GE’s conservative investment strategy coming out of the financial crisis and interpretation of the new leverage lending guidelines issued in 2013. </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dirty="0" smtClean="0">
                          <a:solidFill>
                            <a:schemeClr val="tx1"/>
                          </a:solidFill>
                          <a:latin typeface="+mn-lt"/>
                          <a:ea typeface="+mn-ea"/>
                          <a:cs typeface="Arial" pitchFamily="34" charset="0"/>
                        </a:rPr>
                        <a:t>In 2008, the business had $16.7 billion of funded assets and 96 employees, as compared to $3.3 billion of funded assets and 46 employees as at March 31, 2015. </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dirty="0" smtClean="0">
                          <a:solidFill>
                            <a:schemeClr val="tx1"/>
                          </a:solidFill>
                          <a:latin typeface="+mn-lt"/>
                          <a:ea typeface="+mn-ea"/>
                          <a:cs typeface="Arial" pitchFamily="34" charset="0"/>
                        </a:rPr>
                        <a:t>Management stated that the current team can be scalable in respect to investments in senior secured credit facilities; however, expertise would be necessary to meaningfully grow the distressed debt portfolio. Additionally, BLG does not currently invest within the health care and energy sectors. Expansion into the those sectors would require investment to obtain the necessary specialized expertise.</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Our due diligence procedures on BLG are based on the limited data on BLG received to date.</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Appendix 16</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r>
            </a:tbl>
          </a:graphicData>
        </a:graphic>
      </p:graphicFrame>
      <p:sp>
        <p:nvSpPr>
          <p:cNvPr id="13" name="Title 3"/>
          <p:cNvSpPr>
            <a:spLocks noGrp="1"/>
          </p:cNvSpPr>
          <p:nvPr>
            <p:ph type="title"/>
          </p:nvPr>
        </p:nvSpPr>
        <p:spPr>
          <a:xfrm>
            <a:off x="2123728" y="116632"/>
            <a:ext cx="6768752" cy="576064"/>
          </a:xfrm>
        </p:spPr>
        <p:txBody>
          <a:bodyPr/>
          <a:lstStyle/>
          <a:p>
            <a:r>
              <a:rPr lang="en-US" sz="1400" b="0" dirty="0">
                <a:solidFill>
                  <a:srgbClr val="747678"/>
                </a:solidFill>
              </a:rPr>
              <a:t>Executive summary</a:t>
            </a:r>
            <a:r>
              <a:rPr lang="en-US" dirty="0" smtClean="0"/>
              <a:t/>
            </a:r>
            <a:br>
              <a:rPr lang="en-US" dirty="0" smtClean="0"/>
            </a:br>
            <a:r>
              <a:rPr lang="en-US" dirty="0" smtClean="0"/>
              <a:t>Key findings: financial (23)</a:t>
            </a:r>
            <a:endParaRPr lang="en-US" dirty="0"/>
          </a:p>
        </p:txBody>
      </p:sp>
    </p:spTree>
    <p:extLst>
      <p:ext uri="{BB962C8B-B14F-4D97-AF65-F5344CB8AC3E}">
        <p14:creationId xmlns:p14="http://schemas.microsoft.com/office/powerpoint/2010/main" val="291444046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3"/>
          <p:cNvGraphicFramePr>
            <a:graphicFrameLocks noGrp="1"/>
          </p:cNvGraphicFramePr>
          <p:nvPr>
            <p:extLst>
              <p:ext uri="{D42A27DB-BD31-4B8C-83A1-F6EECF244321}">
                <p14:modId xmlns:p14="http://schemas.microsoft.com/office/powerpoint/2010/main" val="1708883145"/>
              </p:ext>
            </p:extLst>
          </p:nvPr>
        </p:nvGraphicFramePr>
        <p:xfrm>
          <a:off x="252046" y="1219200"/>
          <a:ext cx="8663354" cy="3395826"/>
        </p:xfrm>
        <a:graphic>
          <a:graphicData uri="http://schemas.openxmlformats.org/drawingml/2006/table">
            <a:tbl>
              <a:tblPr/>
              <a:tblGrid>
                <a:gridCol w="1043354"/>
                <a:gridCol w="6629400"/>
                <a:gridCol w="990600"/>
              </a:tblGrid>
              <a:tr h="376986">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1000" b="1" i="0" u="none" strike="noStrike" cap="none" normalizeH="0" baseline="0" dirty="0" smtClean="0">
                          <a:ln>
                            <a:noFill/>
                          </a:ln>
                          <a:solidFill>
                            <a:schemeClr val="bg1"/>
                          </a:solidFill>
                          <a:effectLst/>
                          <a:latin typeface="Arial"/>
                          <a:cs typeface="Arial" pitchFamily="34" charset="0"/>
                        </a:rPr>
                        <a:t>Finding</a:t>
                      </a:r>
                      <a:endParaRPr kumimoji="0" lang="en-US" sz="900" b="1" i="0" u="none" strike="noStrike" cap="none" normalizeH="0" baseline="0" dirty="0" smtClean="0">
                        <a:ln>
                          <a:noFill/>
                        </a:ln>
                        <a:solidFill>
                          <a:schemeClr val="bg1"/>
                        </a:solidFill>
                        <a:effectLst/>
                        <a:latin typeface="Arial"/>
                        <a:cs typeface="Arial" pitchFamily="34" charset="0"/>
                      </a:endParaRP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Summary observations</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Reference</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r>
              <a:tr h="1474040">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900" b="1" i="0" u="none" strike="noStrike" cap="none" normalizeH="0" baseline="0" dirty="0" smtClean="0">
                          <a:ln>
                            <a:noFill/>
                          </a:ln>
                          <a:solidFill>
                            <a:schemeClr val="accent4"/>
                          </a:solidFill>
                          <a:effectLst/>
                          <a:latin typeface="Arial"/>
                          <a:cs typeface="Arial" pitchFamily="34" charset="0"/>
                        </a:rPr>
                        <a:t>Other matters</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1" kern="1200" baseline="0" noProof="0" dirty="0" smtClean="0">
                          <a:solidFill>
                            <a:schemeClr val="tx1"/>
                          </a:solidFill>
                          <a:latin typeface="+mn-lt"/>
                          <a:ea typeface="+mn-ea"/>
                          <a:cs typeface="Arial" pitchFamily="34" charset="0"/>
                        </a:rPr>
                        <a:t>Leases:  </a:t>
                      </a:r>
                      <a:r>
                        <a:rPr lang="en-US" sz="900" b="0" kern="1200" baseline="0" noProof="0" dirty="0" smtClean="0">
                          <a:solidFill>
                            <a:schemeClr val="tx1"/>
                          </a:solidFill>
                          <a:latin typeface="+mn-lt"/>
                          <a:ea typeface="+mn-ea"/>
                          <a:cs typeface="Arial" pitchFamily="34" charset="0"/>
                        </a:rPr>
                        <a:t>Target has employees located in eight offices throughout the U.S; six of which are colocations with other GE businesses and two are dedicated to them as single occupants. Leases expire between 2017 and 2027. You should consider costs associated with early lease termination for office space determined no longer necessary or potential rent increases related to expiring leases.</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1" kern="1200" baseline="0" noProof="0" dirty="0" smtClean="0">
                          <a:solidFill>
                            <a:schemeClr val="tx1"/>
                          </a:solidFill>
                          <a:latin typeface="+mn-lt"/>
                          <a:ea typeface="+mn-ea"/>
                          <a:cs typeface="Arial" pitchFamily="34" charset="0"/>
                        </a:rPr>
                        <a:t>Internal audit findings: </a:t>
                      </a:r>
                      <a:r>
                        <a:rPr lang="en-US" sz="900" b="0" kern="1200" baseline="0" noProof="0" dirty="0" smtClean="0">
                          <a:solidFill>
                            <a:schemeClr val="tx1"/>
                          </a:solidFill>
                          <a:latin typeface="+mn-lt"/>
                          <a:ea typeface="+mn-ea"/>
                          <a:cs typeface="Arial" pitchFamily="34" charset="0"/>
                        </a:rPr>
                        <a:t>In 2014, internal audit reviewed the process and controls around the financing receivables balances within GE Capital Americas, which includes Target and BLG. Specific focus was on strategic partner programs, loan modifications, and loan revenue recognition. Based on the audit work performed, the underlying controls were deemed to effective, with the exception of the quarterly exception reporting and the loan modification process that existed in minor breakdowns. Additionally, no significant exceptions to the business’ compliance with U.S. GAAP or business specific accounting polices were observed. A “Satisfactory” audit opinion was issued, based on the existence of effective controls.</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1" kern="1200" baseline="0" noProof="0" dirty="0" smtClean="0">
                          <a:solidFill>
                            <a:schemeClr val="tx1"/>
                          </a:solidFill>
                          <a:latin typeface="+mn-lt"/>
                          <a:ea typeface="+mn-ea"/>
                          <a:cs typeface="Arial" pitchFamily="34" charset="0"/>
                        </a:rPr>
                        <a:t>Off-balance sheet exposure: </a:t>
                      </a:r>
                      <a:r>
                        <a:rPr lang="en-US" sz="900" b="0" kern="1200" baseline="0" noProof="0" dirty="0" smtClean="0">
                          <a:solidFill>
                            <a:schemeClr val="tx1"/>
                          </a:solidFill>
                          <a:latin typeface="+mn-lt"/>
                          <a:ea typeface="+mn-ea"/>
                          <a:cs typeface="Arial" pitchFamily="34" charset="0"/>
                        </a:rPr>
                        <a:t>A standby letter of credit or guarantee is offered by Target to certain borrowers under normal course of business. Target had $321 million of standby letters of credit as at March 31, 2015. Borrower-level detail on standby letters of credit has not been provided as of the date of this report. At March 31, 2015, Target has $4.5 billion of unfunded commitments.</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1" kern="1200" baseline="0" noProof="0" dirty="0" smtClean="0">
                          <a:solidFill>
                            <a:schemeClr val="tx1"/>
                          </a:solidFill>
                          <a:latin typeface="+mn-lt"/>
                          <a:ea typeface="+mn-ea"/>
                          <a:cs typeface="Arial" pitchFamily="34" charset="0"/>
                        </a:rPr>
                        <a:t>Litigation:</a:t>
                      </a:r>
                      <a:r>
                        <a:rPr lang="en-US" sz="900" b="0" kern="1200" baseline="0" noProof="0" dirty="0" smtClean="0">
                          <a:solidFill>
                            <a:schemeClr val="tx1"/>
                          </a:solidFill>
                          <a:latin typeface="+mn-lt"/>
                          <a:ea typeface="+mn-ea"/>
                          <a:cs typeface="Arial" pitchFamily="34" charset="0"/>
                        </a:rPr>
                        <a:t> Target indicated that it has no material outstanding or threatened litigation claims, regulatory proceedings, or other governmental investigations or inquires.</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1" kern="1200" baseline="0" noProof="0" dirty="0" smtClean="0">
                          <a:solidFill>
                            <a:schemeClr val="tx1"/>
                          </a:solidFill>
                          <a:latin typeface="+mn-lt"/>
                          <a:ea typeface="+mn-ea"/>
                          <a:cs typeface="Arial" pitchFamily="34" charset="0"/>
                        </a:rPr>
                        <a:t>Purchasing Power:</a:t>
                      </a:r>
                      <a:r>
                        <a:rPr lang="en-US" sz="900" b="0" kern="1200" baseline="0" noProof="0" dirty="0" smtClean="0">
                          <a:solidFill>
                            <a:schemeClr val="tx1"/>
                          </a:solidFill>
                          <a:latin typeface="+mn-lt"/>
                          <a:ea typeface="+mn-ea"/>
                          <a:cs typeface="Arial" pitchFamily="34" charset="0"/>
                        </a:rPr>
                        <a:t> Target may have been able to benefit from better pricing for certain services (i.e., employee health benefits, third-party vendors, etc.) due to being a part of a large multinational corporation. You should consider the financial implications of losing that potential benefit post-transaction in your transaction model.</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N/A</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r>
            </a:tbl>
          </a:graphicData>
        </a:graphic>
      </p:graphicFrame>
      <p:sp>
        <p:nvSpPr>
          <p:cNvPr id="13" name="Title 3"/>
          <p:cNvSpPr>
            <a:spLocks noGrp="1"/>
          </p:cNvSpPr>
          <p:nvPr>
            <p:ph type="title"/>
          </p:nvPr>
        </p:nvSpPr>
        <p:spPr>
          <a:xfrm>
            <a:off x="2123728" y="116632"/>
            <a:ext cx="6768752" cy="576064"/>
          </a:xfrm>
        </p:spPr>
        <p:txBody>
          <a:bodyPr/>
          <a:lstStyle/>
          <a:p>
            <a:r>
              <a:rPr lang="en-US" sz="1400" b="0" dirty="0">
                <a:solidFill>
                  <a:srgbClr val="747678"/>
                </a:solidFill>
              </a:rPr>
              <a:t>Executive summary</a:t>
            </a:r>
            <a:r>
              <a:rPr lang="en-US" dirty="0" smtClean="0"/>
              <a:t/>
            </a:r>
            <a:br>
              <a:rPr lang="en-US" dirty="0" smtClean="0"/>
            </a:br>
            <a:r>
              <a:rPr lang="en-US" dirty="0" smtClean="0"/>
              <a:t>Key findings: financial (24)</a:t>
            </a:r>
            <a:endParaRPr lang="en-US" dirty="0"/>
          </a:p>
        </p:txBody>
      </p:sp>
    </p:spTree>
    <p:extLst>
      <p:ext uri="{BB962C8B-B14F-4D97-AF65-F5344CB8AC3E}">
        <p14:creationId xmlns:p14="http://schemas.microsoft.com/office/powerpoint/2010/main" val="156219587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pPr lvl="0"/>
            <a:r>
              <a:rPr lang="en-US" dirty="0" smtClean="0"/>
              <a:t>We </a:t>
            </a:r>
            <a:r>
              <a:rPr lang="en-US" dirty="0"/>
              <a:t>have adjusted </a:t>
            </a:r>
            <a:r>
              <a:rPr lang="en-US" dirty="0" smtClean="0"/>
              <a:t>Target’s pre-tax income </a:t>
            </a:r>
            <a:r>
              <a:rPr lang="en-US" dirty="0"/>
              <a:t>by normalizing for one-time / non-recurring items. We have also made pro-forma adjustments to reflect the income / expense profile on a go-forward basis. Finally, we have made adjustments to bring reported </a:t>
            </a:r>
            <a:r>
              <a:rPr lang="en-US" dirty="0" smtClean="0"/>
              <a:t>pre-tax income </a:t>
            </a:r>
            <a:r>
              <a:rPr lang="en-US" dirty="0"/>
              <a:t>to </a:t>
            </a:r>
            <a:r>
              <a:rPr lang="en-US" dirty="0" smtClean="0"/>
              <a:t>pre-tax cash </a:t>
            </a:r>
            <a:r>
              <a:rPr lang="en-US" dirty="0"/>
              <a:t>flows available to service debt</a:t>
            </a:r>
            <a:r>
              <a:rPr lang="en-US" b="0" dirty="0">
                <a:solidFill>
                  <a:schemeClr val="accent4"/>
                </a:solidFill>
              </a:rPr>
              <a:t>. </a:t>
            </a:r>
            <a:endParaRPr lang="en-US" b="0" dirty="0" smtClean="0">
              <a:solidFill>
                <a:schemeClr val="accent4"/>
              </a:solidFill>
            </a:endParaRPr>
          </a:p>
          <a:p>
            <a:pPr lvl="0"/>
            <a:endParaRPr lang="en-US" b="0" dirty="0">
              <a:solidFill>
                <a:schemeClr val="accent4"/>
              </a:solidFill>
            </a:endParaRPr>
          </a:p>
          <a:p>
            <a:endParaRPr lang="en-US" dirty="0"/>
          </a:p>
        </p:txBody>
      </p:sp>
      <p:sp>
        <p:nvSpPr>
          <p:cNvPr id="3" name="Text Placeholder 2"/>
          <p:cNvSpPr>
            <a:spLocks noGrp="1"/>
          </p:cNvSpPr>
          <p:nvPr>
            <p:ph type="body" sz="quarter" idx="13"/>
          </p:nvPr>
        </p:nvSpPr>
        <p:spPr>
          <a:xfrm>
            <a:off x="1979225" y="4343401"/>
            <a:ext cx="3457352" cy="1476958"/>
          </a:xfrm>
        </p:spPr>
        <p:txBody>
          <a:bodyPr/>
          <a:lstStyle/>
          <a:p>
            <a:endParaRPr lang="en-US" dirty="0" smtClean="0"/>
          </a:p>
          <a:p>
            <a:r>
              <a:rPr lang="en-US" dirty="0" smtClean="0"/>
              <a:t>Basis of presentation</a:t>
            </a:r>
          </a:p>
          <a:p>
            <a:pPr lvl="2">
              <a:defRPr/>
            </a:pPr>
            <a:r>
              <a:rPr lang="en-US" dirty="0" smtClean="0"/>
              <a:t>The </a:t>
            </a:r>
            <a:r>
              <a:rPr lang="en-US" dirty="0"/>
              <a:t>table presented above includes </a:t>
            </a:r>
            <a:r>
              <a:rPr lang="en-US" dirty="0" smtClean="0"/>
              <a:t>potential adjustments to pre-tax income and to pre-tax cash flows available to service debt noted </a:t>
            </a:r>
            <a:r>
              <a:rPr lang="en-US" dirty="0"/>
              <a:t>during the course of our due diligence. These potential adjustments are based on information </a:t>
            </a:r>
            <a:r>
              <a:rPr lang="en-US" dirty="0" smtClean="0"/>
              <a:t>provided </a:t>
            </a:r>
            <a:r>
              <a:rPr lang="en-US" dirty="0"/>
              <a:t>by </a:t>
            </a:r>
            <a:r>
              <a:rPr lang="en-US" dirty="0" smtClean="0"/>
              <a:t>you and by Management </a:t>
            </a:r>
            <a:r>
              <a:rPr lang="en-US" dirty="0"/>
              <a:t>as of the date of this report. Further discussion with </a:t>
            </a:r>
            <a:r>
              <a:rPr lang="en-US" dirty="0" smtClean="0"/>
              <a:t>Management </a:t>
            </a:r>
            <a:r>
              <a:rPr lang="en-US" dirty="0"/>
              <a:t>or additional procedures performed or information obtained could identify additional or different potential </a:t>
            </a:r>
            <a:r>
              <a:rPr lang="en-US" dirty="0" smtClean="0"/>
              <a:t>adjustments.</a:t>
            </a:r>
            <a:endParaRPr lang="en-US" dirty="0"/>
          </a:p>
          <a:p>
            <a:pPr marL="0" lvl="2" indent="0">
              <a:buClrTx/>
              <a:buNone/>
            </a:pPr>
            <a:endParaRPr lang="en-US" dirty="0"/>
          </a:p>
          <a:p>
            <a:endParaRPr lang="en-US" dirty="0"/>
          </a:p>
        </p:txBody>
      </p:sp>
      <p:sp>
        <p:nvSpPr>
          <p:cNvPr id="4" name="Text Placeholder 3"/>
          <p:cNvSpPr>
            <a:spLocks noGrp="1"/>
          </p:cNvSpPr>
          <p:nvPr>
            <p:ph type="body" sz="quarter" idx="14"/>
          </p:nvPr>
        </p:nvSpPr>
        <p:spPr>
          <a:xfrm>
            <a:off x="5580112" y="1196753"/>
            <a:ext cx="3411488" cy="4896072"/>
          </a:xfrm>
        </p:spPr>
        <p:txBody>
          <a:bodyPr/>
          <a:lstStyle/>
          <a:p>
            <a:r>
              <a:rPr lang="en-US" dirty="0" smtClean="0"/>
              <a:t>Potential adjustments</a:t>
            </a:r>
          </a:p>
          <a:p>
            <a:pPr marL="228600" lvl="2" indent="-228600">
              <a:buAutoNum type="arabicParenR"/>
              <a:defRPr/>
            </a:pPr>
            <a:r>
              <a:rPr lang="en-US" b="1" dirty="0" smtClean="0"/>
              <a:t>Cost </a:t>
            </a:r>
            <a:r>
              <a:rPr lang="en-US" b="1" dirty="0"/>
              <a:t>of funds: </a:t>
            </a:r>
            <a:r>
              <a:rPr lang="en-US" dirty="0"/>
              <a:t>Target’s source of funds is </a:t>
            </a:r>
            <a:r>
              <a:rPr lang="en-US" dirty="0" smtClean="0"/>
              <a:t>from GE’s Corporate Treasury. </a:t>
            </a:r>
            <a:r>
              <a:rPr lang="en-US" dirty="0"/>
              <a:t>We understand that </a:t>
            </a:r>
            <a:r>
              <a:rPr lang="en-US" dirty="0" smtClean="0"/>
              <a:t>funding availability and </a:t>
            </a:r>
            <a:r>
              <a:rPr lang="en-US" dirty="0"/>
              <a:t>costs post-transaction may be materially different. Accordingly, we have </a:t>
            </a:r>
            <a:r>
              <a:rPr lang="en-US" dirty="0" smtClean="0"/>
              <a:t>excluded cost </a:t>
            </a:r>
            <a:r>
              <a:rPr lang="en-US" dirty="0"/>
              <a:t>of funds </a:t>
            </a:r>
            <a:r>
              <a:rPr lang="en-US" dirty="0" smtClean="0"/>
              <a:t>from pre-tax income in </a:t>
            </a:r>
            <a:r>
              <a:rPr lang="en-US" dirty="0"/>
              <a:t>order to arrive at cash flows available to service any funding liability upon acquisition.</a:t>
            </a:r>
          </a:p>
          <a:p>
            <a:pPr marL="228600" lvl="2" indent="-228600">
              <a:buFontTx/>
              <a:buAutoNum type="arabicParenR"/>
              <a:defRPr/>
            </a:pPr>
            <a:r>
              <a:rPr lang="en-US" b="1" dirty="0" smtClean="0"/>
              <a:t>Revenue from excluded portfolios: </a:t>
            </a:r>
          </a:p>
          <a:p>
            <a:pPr lvl="3">
              <a:defRPr/>
            </a:pPr>
            <a:r>
              <a:rPr lang="en-US" dirty="0"/>
              <a:t>We understand </a:t>
            </a:r>
            <a:r>
              <a:rPr lang="en-US" dirty="0" smtClean="0"/>
              <a:t>that </a:t>
            </a:r>
            <a:r>
              <a:rPr lang="en-US" dirty="0"/>
              <a:t>Target’s SSLP and MMGP </a:t>
            </a:r>
            <a:r>
              <a:rPr lang="en-US" dirty="0" smtClean="0"/>
              <a:t>senior debt, </a:t>
            </a:r>
            <a:r>
              <a:rPr lang="en-US" dirty="0"/>
              <a:t>loans related to the </a:t>
            </a:r>
            <a:r>
              <a:rPr lang="en-US" dirty="0" err="1"/>
              <a:t>Mubadala</a:t>
            </a:r>
            <a:r>
              <a:rPr lang="en-US" dirty="0"/>
              <a:t> </a:t>
            </a:r>
            <a:r>
              <a:rPr lang="en-US" dirty="0" smtClean="0"/>
              <a:t>JV </a:t>
            </a:r>
            <a:r>
              <a:rPr lang="en-US" dirty="0"/>
              <a:t>and ABL facilities within the Core loan portfolio are not included in the proposed transaction. Accordingly, the adjustment proposes to adjust 2013 </a:t>
            </a:r>
            <a:r>
              <a:rPr lang="en-US" dirty="0" smtClean="0"/>
              <a:t>and </a:t>
            </a:r>
            <a:r>
              <a:rPr lang="en-US" dirty="0"/>
              <a:t>2014 </a:t>
            </a:r>
            <a:r>
              <a:rPr lang="en-US" dirty="0" smtClean="0"/>
              <a:t>pre-tax income </a:t>
            </a:r>
            <a:r>
              <a:rPr lang="en-US" dirty="0"/>
              <a:t>to exclude revenue associated with these </a:t>
            </a:r>
            <a:r>
              <a:rPr lang="en-US" dirty="0" smtClean="0"/>
              <a:t>segments of </a:t>
            </a:r>
            <a:r>
              <a:rPr lang="en-US" dirty="0"/>
              <a:t>Target’s earnings. </a:t>
            </a:r>
            <a:endParaRPr lang="en-US" dirty="0" smtClean="0"/>
          </a:p>
          <a:p>
            <a:endParaRPr lang="en-US" dirty="0"/>
          </a:p>
        </p:txBody>
      </p:sp>
      <p:sp>
        <p:nvSpPr>
          <p:cNvPr id="6" name="Title 3"/>
          <p:cNvSpPr>
            <a:spLocks noGrp="1"/>
          </p:cNvSpPr>
          <p:nvPr>
            <p:ph type="title"/>
          </p:nvPr>
        </p:nvSpPr>
        <p:spPr>
          <a:xfrm>
            <a:off x="2123728" y="116632"/>
            <a:ext cx="6768752" cy="576064"/>
          </a:xfrm>
        </p:spPr>
        <p:txBody>
          <a:bodyPr/>
          <a:lstStyle/>
          <a:p>
            <a:r>
              <a:rPr lang="en-US" sz="1400" b="0" dirty="0">
                <a:solidFill>
                  <a:srgbClr val="747678"/>
                </a:solidFill>
              </a:rPr>
              <a:t>Executive summary</a:t>
            </a:r>
            <a:r>
              <a:rPr lang="en-US" dirty="0" smtClean="0"/>
              <a:t/>
            </a:r>
            <a:br>
              <a:rPr lang="en-US" dirty="0" smtClean="0"/>
            </a:br>
            <a:r>
              <a:rPr lang="en-US" dirty="0" smtClean="0"/>
              <a:t>Quality of earnings and cash flow</a:t>
            </a:r>
            <a:endParaRPr lang="en-US" dirty="0"/>
          </a:p>
        </p:txBody>
      </p:sp>
      <p:sp>
        <p:nvSpPr>
          <p:cNvPr id="7" name="Text Box 8"/>
          <p:cNvSpPr txBox="1">
            <a:spLocks noChangeArrowheads="1"/>
          </p:cNvSpPr>
          <p:nvPr>
            <p:custDataLst>
              <p:tags r:id="rId1"/>
            </p:custDataLst>
          </p:nvPr>
        </p:nvSpPr>
        <p:spPr bwMode="gray">
          <a:xfrm>
            <a:off x="1986459" y="4267200"/>
            <a:ext cx="3323492" cy="92333"/>
          </a:xfrm>
          <a:prstGeom prst="rect">
            <a:avLst/>
          </a:prstGeom>
          <a:noFill/>
          <a:ln w="6350">
            <a:noFill/>
            <a:miter lim="800000"/>
            <a:headEnd type="none" w="sm" len="sm"/>
            <a:tailEnd type="none" w="sm" len="sm"/>
          </a:ln>
          <a:effectLst/>
        </p:spPr>
        <p:txBody>
          <a:bodyPr wrap="square" lIns="0" tIns="0" rIns="0" bIns="0" anchor="b">
            <a:spAutoFit/>
          </a:bodyPr>
          <a:lstStyle/>
          <a:p>
            <a:pPr marL="534988" indent="-534988" defTabSz="762000" eaLnBrk="0" hangingPunct="0">
              <a:spcBef>
                <a:spcPts val="200"/>
              </a:spcBef>
              <a:tabLst>
                <a:tab pos="355600" algn="l"/>
              </a:tabLst>
            </a:pPr>
            <a:r>
              <a:rPr lang="en-US" sz="600" dirty="0" smtClean="0">
                <a:latin typeface="Arial"/>
                <a:cs typeface="Arial" pitchFamily="34" charset="0"/>
              </a:rPr>
              <a:t>Source:	Information provided by Management; 6.5.1 Atlas Detailed Financials</a:t>
            </a:r>
            <a:endParaRPr lang="en-US" sz="600" dirty="0">
              <a:latin typeface="Arial"/>
              <a:cs typeface="Arial" pitchFamily="34" charset="0"/>
            </a:endParaRPr>
          </a:p>
        </p:txBody>
      </p:sp>
      <p:sp>
        <p:nvSpPr>
          <p:cNvPr id="9" name="Text Box 8"/>
          <p:cNvSpPr txBox="1">
            <a:spLocks noChangeArrowheads="1"/>
          </p:cNvSpPr>
          <p:nvPr>
            <p:custDataLst>
              <p:tags r:id="rId2"/>
            </p:custDataLst>
          </p:nvPr>
        </p:nvSpPr>
        <p:spPr bwMode="gray">
          <a:xfrm>
            <a:off x="5943600" y="5820359"/>
            <a:ext cx="2948354" cy="487313"/>
          </a:xfrm>
          <a:prstGeom prst="rect">
            <a:avLst/>
          </a:prstGeom>
          <a:noFill/>
          <a:ln w="6350">
            <a:noFill/>
            <a:miter lim="800000"/>
            <a:headEnd type="none" w="sm" len="sm"/>
            <a:tailEnd type="none" w="sm" len="sm"/>
          </a:ln>
          <a:effectLst/>
        </p:spPr>
        <p:txBody>
          <a:bodyPr wrap="square" lIns="0" tIns="0" rIns="0" bIns="0" anchor="b">
            <a:spAutoFit/>
          </a:bodyPr>
          <a:lstStyle/>
          <a:p>
            <a:pPr marL="534988" indent="-534988" defTabSz="762000" eaLnBrk="0" hangingPunct="0">
              <a:spcBef>
                <a:spcPts val="200"/>
              </a:spcBef>
              <a:tabLst>
                <a:tab pos="355600" algn="l"/>
              </a:tabLst>
            </a:pPr>
            <a:r>
              <a:rPr lang="en-US" sz="600" dirty="0" smtClean="0">
                <a:latin typeface="Arial"/>
                <a:cs typeface="Arial" pitchFamily="34" charset="0"/>
              </a:rPr>
              <a:t>Source:	6.5.1 Atlas Detailed Financials</a:t>
            </a:r>
          </a:p>
          <a:p>
            <a:pPr marL="342900" indent="-342900" defTabSz="762000" eaLnBrk="0" hangingPunct="0">
              <a:spcBef>
                <a:spcPts val="200"/>
              </a:spcBef>
              <a:tabLst>
                <a:tab pos="355600" algn="l"/>
              </a:tabLst>
            </a:pPr>
            <a:r>
              <a:rPr lang="en-US" sz="600" dirty="0" smtClean="0">
                <a:latin typeface="Arial"/>
                <a:cs typeface="Arial" pitchFamily="34" charset="0"/>
              </a:rPr>
              <a:t>Note:	1 – After consultation with Management, we were unable to calculate upfront fees in 2013 and 2014 on ABL facilities  due to data limitations; however, amounts are expected to be immaterial given the volume of ABL facilities issued in 2013 and 2014</a:t>
            </a:r>
            <a:endParaRPr lang="en-US" sz="600" dirty="0">
              <a:latin typeface="Arial"/>
              <a:cs typeface="Arial" pitchFamily="34" charset="0"/>
            </a:endParaRPr>
          </a:p>
        </p:txBody>
      </p:sp>
      <p:pic>
        <p:nvPicPr>
          <p:cNvPr id="11" name="Picture 10"/>
          <p:cNvPicPr>
            <a:picLocks noChangeAspect="1"/>
          </p:cNvPicPr>
          <p:nvPr/>
        </p:nvPicPr>
        <p:blipFill>
          <a:blip r:embed="rId4"/>
          <a:stretch>
            <a:fillRect/>
          </a:stretch>
        </p:blipFill>
        <p:spPr>
          <a:xfrm>
            <a:off x="1986459" y="1195200"/>
            <a:ext cx="3305729" cy="3038532"/>
          </a:xfrm>
          <a:prstGeom prst="rect">
            <a:avLst/>
          </a:prstGeom>
        </p:spPr>
      </p:pic>
      <p:pic>
        <p:nvPicPr>
          <p:cNvPr id="12" name="Picture 11"/>
          <p:cNvPicPr>
            <a:picLocks noChangeAspect="1"/>
          </p:cNvPicPr>
          <p:nvPr/>
        </p:nvPicPr>
        <p:blipFill>
          <a:blip r:embed="rId5"/>
          <a:stretch>
            <a:fillRect/>
          </a:stretch>
        </p:blipFill>
        <p:spPr>
          <a:xfrm>
            <a:off x="6350048" y="3396290"/>
            <a:ext cx="1871615" cy="2411877"/>
          </a:xfrm>
          <a:prstGeom prst="rect">
            <a:avLst/>
          </a:prstGeom>
        </p:spPr>
      </p:pic>
    </p:spTree>
    <p:extLst>
      <p:ext uri="{BB962C8B-B14F-4D97-AF65-F5344CB8AC3E}">
        <p14:creationId xmlns:p14="http://schemas.microsoft.com/office/powerpoint/2010/main" val="32703285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3"/>
          <p:cNvSpPr>
            <a:spLocks noGrp="1"/>
          </p:cNvSpPr>
          <p:nvPr>
            <p:ph type="body" sz="quarter" idx="14"/>
          </p:nvPr>
        </p:nvSpPr>
        <p:spPr>
          <a:xfrm>
            <a:off x="2172867" y="1117378"/>
            <a:ext cx="3311842" cy="4975447"/>
          </a:xfrm>
        </p:spPr>
        <p:txBody>
          <a:bodyPr/>
          <a:lstStyle/>
          <a:p>
            <a:r>
              <a:rPr lang="en-US" dirty="0"/>
              <a:t>Potential adjustments (continued</a:t>
            </a:r>
            <a:r>
              <a:rPr lang="en-US" dirty="0" smtClean="0"/>
              <a:t>)</a:t>
            </a:r>
            <a:endParaRPr lang="en-US" dirty="0"/>
          </a:p>
          <a:p>
            <a:pPr marL="228600" lvl="2" indent="-228600">
              <a:buFont typeface="+mj-lt"/>
              <a:buAutoNum type="arabicParenR" startAt="2"/>
              <a:defRPr/>
            </a:pPr>
            <a:r>
              <a:rPr lang="en-US" b="1" dirty="0"/>
              <a:t>Revenue from excluded </a:t>
            </a:r>
            <a:r>
              <a:rPr lang="en-US" b="1" dirty="0" smtClean="0"/>
              <a:t>portfolios (continued): </a:t>
            </a:r>
            <a:endParaRPr lang="en-US" b="1" dirty="0"/>
          </a:p>
          <a:p>
            <a:pPr lvl="3">
              <a:defRPr/>
            </a:pPr>
            <a:r>
              <a:rPr lang="en-US" dirty="0" smtClean="0"/>
              <a:t>Reported </a:t>
            </a:r>
            <a:r>
              <a:rPr lang="en-US" dirty="0"/>
              <a:t>and adjusted amounts however include income on the junior debt and management fees as these are understood to </a:t>
            </a:r>
            <a:r>
              <a:rPr lang="en-US" dirty="0" smtClean="0"/>
              <a:t>recur.</a:t>
            </a:r>
          </a:p>
          <a:p>
            <a:pPr lvl="3">
              <a:defRPr/>
            </a:pPr>
            <a:endParaRPr lang="en-US" dirty="0" smtClean="0"/>
          </a:p>
          <a:p>
            <a:pPr lvl="3">
              <a:defRPr/>
            </a:pPr>
            <a:endParaRPr lang="en-US" dirty="0"/>
          </a:p>
          <a:p>
            <a:pPr lvl="3">
              <a:defRPr/>
            </a:pPr>
            <a:endParaRPr lang="en-US" dirty="0" smtClean="0"/>
          </a:p>
          <a:p>
            <a:pPr lvl="3">
              <a:defRPr/>
            </a:pPr>
            <a:endParaRPr lang="en-US" dirty="0"/>
          </a:p>
          <a:p>
            <a:pPr lvl="3">
              <a:defRPr/>
            </a:pPr>
            <a:endParaRPr lang="en-US" dirty="0" smtClean="0"/>
          </a:p>
          <a:p>
            <a:pPr lvl="3">
              <a:defRPr/>
            </a:pPr>
            <a:endParaRPr lang="en-US" dirty="0"/>
          </a:p>
          <a:p>
            <a:pPr marL="177800" lvl="3" indent="0">
              <a:buNone/>
              <a:defRPr/>
            </a:pPr>
            <a:endParaRPr lang="en-US" dirty="0" smtClean="0"/>
          </a:p>
          <a:p>
            <a:pPr marL="177800" lvl="3" indent="0">
              <a:buNone/>
              <a:defRPr/>
            </a:pPr>
            <a:endParaRPr lang="en-US" dirty="0" smtClean="0"/>
          </a:p>
          <a:p>
            <a:pPr lvl="3">
              <a:defRPr/>
            </a:pPr>
            <a:r>
              <a:rPr lang="en-US" dirty="0" smtClean="0"/>
              <a:t>The tables on </a:t>
            </a:r>
            <a:r>
              <a:rPr lang="en-US" dirty="0"/>
              <a:t>the following page </a:t>
            </a:r>
            <a:r>
              <a:rPr lang="en-US" dirty="0" smtClean="0"/>
              <a:t>do </a:t>
            </a:r>
            <a:r>
              <a:rPr lang="en-US" dirty="0"/>
              <a:t>not include the financial performance of BLG.  We understand that you will acquire the asset portfolio, but will not retain the employees or the cost base.  For informational purposes, BLG generated net revenue (after provision for credit costs but before interest expense and SG&amp;A costs) of $313 million in 2013 and $209 million in 2014.  Consideration may be given to its inclusion/exclusion from the Quality of Earnings and Cash Flows table. </a:t>
            </a:r>
            <a:endParaRPr lang="en-US" b="1" dirty="0" smtClean="0"/>
          </a:p>
          <a:p>
            <a:pPr marL="228600" lvl="2" indent="-228600">
              <a:buFont typeface="+mj-lt"/>
              <a:buAutoNum type="arabicParenR" startAt="3"/>
              <a:defRPr/>
            </a:pPr>
            <a:r>
              <a:rPr lang="en-US" b="1" dirty="0" smtClean="0"/>
              <a:t>Expenses </a:t>
            </a:r>
            <a:r>
              <a:rPr lang="en-US" b="1" dirty="0"/>
              <a:t>relating to excluded portfolios: </a:t>
            </a:r>
            <a:r>
              <a:rPr lang="en-US" dirty="0"/>
              <a:t>We note that with the exclusion of revenue from the SSLP and MMGP debt interests, the ABL portfolio and the </a:t>
            </a:r>
            <a:r>
              <a:rPr lang="en-US" dirty="0" err="1"/>
              <a:t>Mubadala</a:t>
            </a:r>
            <a:r>
              <a:rPr lang="en-US" dirty="0"/>
              <a:t> JV, any related SG&amp;A and other miscellaneous expenses </a:t>
            </a:r>
            <a:r>
              <a:rPr lang="en-US" dirty="0" smtClean="0"/>
              <a:t>could </a:t>
            </a:r>
            <a:r>
              <a:rPr lang="en-US" dirty="0"/>
              <a:t>be </a:t>
            </a:r>
            <a:r>
              <a:rPr lang="en-US" dirty="0" smtClean="0"/>
              <a:t>added back to pre-tax income.</a:t>
            </a:r>
          </a:p>
        </p:txBody>
      </p:sp>
      <p:sp>
        <p:nvSpPr>
          <p:cNvPr id="4" name="Text Placeholder 3"/>
          <p:cNvSpPr>
            <a:spLocks noGrp="1"/>
          </p:cNvSpPr>
          <p:nvPr>
            <p:ph type="body" sz="quarter" idx="14"/>
          </p:nvPr>
        </p:nvSpPr>
        <p:spPr>
          <a:xfrm>
            <a:off x="5609213" y="1117378"/>
            <a:ext cx="3311842" cy="5131022"/>
          </a:xfrm>
        </p:spPr>
        <p:txBody>
          <a:bodyPr/>
          <a:lstStyle/>
          <a:p>
            <a:r>
              <a:rPr lang="en-US" dirty="0"/>
              <a:t>Potential adjustments (continued)</a:t>
            </a:r>
          </a:p>
          <a:p>
            <a:pPr marL="228600" lvl="2" indent="-228600">
              <a:buFont typeface="+mj-lt"/>
              <a:buAutoNum type="arabicParenR" startAt="3"/>
              <a:defRPr/>
            </a:pPr>
            <a:r>
              <a:rPr lang="en-US" b="1" dirty="0" smtClean="0"/>
              <a:t>Expenses relating to excluded portfolios (continued): </a:t>
            </a:r>
            <a:r>
              <a:rPr lang="en-US" dirty="0" smtClean="0"/>
              <a:t>At this time, we do not have a breakdown of SG&amp;A by program type and we are accordingly unable to quantify the necessary adjustment. However, we understand that it is possible that the SSLP and MMGP programs would be continued, albeit with fresh senior notes and, consequently, potential SG&amp;A cost savings may not be a factor (refer to item #9).</a:t>
            </a:r>
          </a:p>
          <a:p>
            <a:pPr marL="228600" lvl="2" indent="-228600">
              <a:buFont typeface="+mj-lt"/>
              <a:buAutoNum type="arabicParenR" startAt="3"/>
              <a:defRPr/>
            </a:pPr>
            <a:r>
              <a:rPr lang="en-US" b="1" dirty="0" smtClean="0"/>
              <a:t>Non-core activities</a:t>
            </a:r>
            <a:r>
              <a:rPr lang="en-US" dirty="0" smtClean="0"/>
              <a:t>: Tag-along equity investments represent an activity that is peripheral to Target’s core business activities. Accordingly, we have removed the income from these investments (net of marks and impairments) from reported pre-tax income.</a:t>
            </a:r>
          </a:p>
          <a:p>
            <a:pPr marL="228600" lvl="2" indent="-228600">
              <a:buFont typeface="+mj-lt"/>
              <a:buAutoNum type="arabicParenR" startAt="3"/>
              <a:defRPr/>
            </a:pPr>
            <a:endParaRPr lang="en-US" b="1" dirty="0"/>
          </a:p>
          <a:p>
            <a:pPr marL="228600" lvl="2" indent="-228600">
              <a:buFont typeface="+mj-lt"/>
              <a:buAutoNum type="arabicParenR" startAt="3"/>
              <a:defRPr/>
            </a:pPr>
            <a:endParaRPr lang="en-US" b="1" dirty="0" smtClean="0"/>
          </a:p>
          <a:p>
            <a:pPr marL="228600" lvl="2" indent="-228600">
              <a:buFont typeface="+mj-lt"/>
              <a:buAutoNum type="arabicParenR" startAt="3"/>
              <a:defRPr/>
            </a:pPr>
            <a:endParaRPr lang="en-US" b="1" dirty="0"/>
          </a:p>
          <a:p>
            <a:pPr marL="0" lvl="2" indent="0">
              <a:buNone/>
              <a:defRPr/>
            </a:pPr>
            <a:endParaRPr lang="en-US" b="1" dirty="0"/>
          </a:p>
          <a:p>
            <a:pPr marL="0" lvl="2" indent="0">
              <a:buNone/>
              <a:defRPr/>
            </a:pPr>
            <a:endParaRPr lang="en-US" b="1" dirty="0" smtClean="0"/>
          </a:p>
          <a:p>
            <a:pPr marL="228600" lvl="2" indent="-228600">
              <a:buFont typeface="+mj-lt"/>
              <a:buAutoNum type="arabicParenR" startAt="5"/>
              <a:defRPr/>
            </a:pPr>
            <a:r>
              <a:rPr lang="en-US" b="1" dirty="0" smtClean="0"/>
              <a:t>FAS </a:t>
            </a:r>
            <a:r>
              <a:rPr lang="en-US" b="1" dirty="0"/>
              <a:t>91 adjustment for preceding years: </a:t>
            </a:r>
            <a:r>
              <a:rPr lang="en-US" dirty="0"/>
              <a:t>FAS 91 requires direct loan origination fees and costs to be deferred and amortized to interest income over the term of each loan. Target began deferring and amortizing these costs in 2013 (the deferrals were historically made at the Parent-entity level) </a:t>
            </a:r>
            <a:r>
              <a:rPr lang="en-US" dirty="0" smtClean="0"/>
              <a:t>on a prospective basis and</a:t>
            </a:r>
            <a:r>
              <a:rPr lang="en-US" dirty="0"/>
              <a:t>, as a result, the amortization amount reported in Target’s books is not reflective of the true earnings impact. We are unable to quantify this adjustment in the absence of information relating to amounts deferred; however, if the 2015 forecast is used as a proxy for normal annual amortization, the adjustments to reflect the retroactive adoption of FAS 91 would be a $46 million reduction to interest income in 2013 and a $22 million reduction to interest income in 2014.</a:t>
            </a:r>
          </a:p>
          <a:p>
            <a:pPr marL="228600" lvl="2" indent="-228600">
              <a:buFont typeface="+mj-lt"/>
              <a:buAutoNum type="arabicParenR" startAt="5"/>
              <a:defRPr/>
            </a:pPr>
            <a:endParaRPr lang="en-US" b="1" dirty="0" smtClean="0"/>
          </a:p>
        </p:txBody>
      </p:sp>
      <p:sp>
        <p:nvSpPr>
          <p:cNvPr id="6" name="Title 3"/>
          <p:cNvSpPr>
            <a:spLocks noGrp="1"/>
          </p:cNvSpPr>
          <p:nvPr>
            <p:ph type="title"/>
          </p:nvPr>
        </p:nvSpPr>
        <p:spPr>
          <a:xfrm>
            <a:off x="2123728" y="116632"/>
            <a:ext cx="6768752" cy="576064"/>
          </a:xfrm>
        </p:spPr>
        <p:txBody>
          <a:bodyPr/>
          <a:lstStyle/>
          <a:p>
            <a:r>
              <a:rPr lang="en-US" sz="1400" b="0" dirty="0">
                <a:solidFill>
                  <a:srgbClr val="747678"/>
                </a:solidFill>
              </a:rPr>
              <a:t>Executive summary</a:t>
            </a:r>
            <a:r>
              <a:rPr lang="en-US" dirty="0" smtClean="0"/>
              <a:t/>
            </a:r>
            <a:br>
              <a:rPr lang="en-US" dirty="0" smtClean="0"/>
            </a:br>
            <a:r>
              <a:rPr lang="en-US" dirty="0" smtClean="0"/>
              <a:t>Quality of earnings and cash flow (2)</a:t>
            </a:r>
            <a:endParaRPr lang="en-US" dirty="0"/>
          </a:p>
        </p:txBody>
      </p:sp>
      <p:pic>
        <p:nvPicPr>
          <p:cNvPr id="2" name="Picture 1"/>
          <p:cNvPicPr>
            <a:picLocks noChangeAspect="1"/>
          </p:cNvPicPr>
          <p:nvPr/>
        </p:nvPicPr>
        <p:blipFill>
          <a:blip r:embed="rId4"/>
          <a:stretch>
            <a:fillRect/>
          </a:stretch>
        </p:blipFill>
        <p:spPr>
          <a:xfrm>
            <a:off x="5848150" y="3266975"/>
            <a:ext cx="2172176" cy="914625"/>
          </a:xfrm>
          <a:prstGeom prst="rect">
            <a:avLst/>
          </a:prstGeom>
        </p:spPr>
      </p:pic>
      <p:sp>
        <p:nvSpPr>
          <p:cNvPr id="9" name="Text Box 8"/>
          <p:cNvSpPr txBox="1">
            <a:spLocks noChangeArrowheads="1"/>
          </p:cNvSpPr>
          <p:nvPr>
            <p:custDataLst>
              <p:tags r:id="rId1"/>
            </p:custDataLst>
          </p:nvPr>
        </p:nvSpPr>
        <p:spPr bwMode="gray">
          <a:xfrm>
            <a:off x="2533101" y="3489067"/>
            <a:ext cx="2496099" cy="92333"/>
          </a:xfrm>
          <a:prstGeom prst="rect">
            <a:avLst/>
          </a:prstGeom>
          <a:noFill/>
          <a:ln w="6350">
            <a:noFill/>
            <a:miter lim="800000"/>
            <a:headEnd type="none" w="sm" len="sm"/>
            <a:tailEnd type="none" w="sm" len="sm"/>
          </a:ln>
          <a:effectLst/>
        </p:spPr>
        <p:txBody>
          <a:bodyPr wrap="square" lIns="0" tIns="0" rIns="0" bIns="0" anchor="b">
            <a:spAutoFit/>
          </a:bodyPr>
          <a:lstStyle/>
          <a:p>
            <a:pPr marL="534988" indent="-534988" defTabSz="762000" eaLnBrk="0" hangingPunct="0">
              <a:spcBef>
                <a:spcPts val="200"/>
              </a:spcBef>
              <a:tabLst>
                <a:tab pos="355600" algn="l"/>
              </a:tabLst>
            </a:pPr>
            <a:r>
              <a:rPr lang="en-US" sz="600" dirty="0" smtClean="0">
                <a:latin typeface="Arial"/>
                <a:cs typeface="Arial" pitchFamily="34" charset="0"/>
              </a:rPr>
              <a:t>Source:	6.5.1 Atlas Detailed Financials</a:t>
            </a:r>
          </a:p>
        </p:txBody>
      </p:sp>
      <p:sp>
        <p:nvSpPr>
          <p:cNvPr id="10" name="Text Box 8"/>
          <p:cNvSpPr txBox="1">
            <a:spLocks noChangeArrowheads="1"/>
          </p:cNvSpPr>
          <p:nvPr>
            <p:custDataLst>
              <p:tags r:id="rId2"/>
            </p:custDataLst>
          </p:nvPr>
        </p:nvSpPr>
        <p:spPr bwMode="gray">
          <a:xfrm>
            <a:off x="5848150" y="4181600"/>
            <a:ext cx="1524000" cy="92333"/>
          </a:xfrm>
          <a:prstGeom prst="rect">
            <a:avLst/>
          </a:prstGeom>
          <a:noFill/>
          <a:ln w="6350">
            <a:noFill/>
            <a:miter lim="800000"/>
            <a:headEnd type="none" w="sm" len="sm"/>
            <a:tailEnd type="none" w="sm" len="sm"/>
          </a:ln>
          <a:effectLst/>
        </p:spPr>
        <p:txBody>
          <a:bodyPr wrap="square" lIns="0" tIns="0" rIns="0" bIns="0" anchor="b">
            <a:spAutoFit/>
          </a:bodyPr>
          <a:lstStyle/>
          <a:p>
            <a:pPr marL="534988" indent="-534988" defTabSz="762000" eaLnBrk="0" hangingPunct="0">
              <a:spcBef>
                <a:spcPts val="200"/>
              </a:spcBef>
              <a:tabLst>
                <a:tab pos="355600" algn="l"/>
              </a:tabLst>
            </a:pPr>
            <a:r>
              <a:rPr lang="en-US" sz="600" dirty="0" smtClean="0">
                <a:latin typeface="Arial"/>
                <a:cs typeface="Arial" pitchFamily="34" charset="0"/>
              </a:rPr>
              <a:t>Source:	6.5.1 Atlas Detailed Financials</a:t>
            </a:r>
            <a:endParaRPr lang="en-US" sz="600" dirty="0">
              <a:latin typeface="Arial"/>
              <a:cs typeface="Arial" pitchFamily="34" charset="0"/>
            </a:endParaRPr>
          </a:p>
        </p:txBody>
      </p:sp>
      <p:pic>
        <p:nvPicPr>
          <p:cNvPr id="12" name="Picture 11"/>
          <p:cNvPicPr>
            <a:picLocks noChangeAspect="1"/>
          </p:cNvPicPr>
          <p:nvPr/>
        </p:nvPicPr>
        <p:blipFill>
          <a:blip r:embed="rId5"/>
          <a:stretch>
            <a:fillRect/>
          </a:stretch>
        </p:blipFill>
        <p:spPr>
          <a:xfrm>
            <a:off x="2533070" y="1981200"/>
            <a:ext cx="2414351" cy="1463040"/>
          </a:xfrm>
          <a:prstGeom prst="rect">
            <a:avLst/>
          </a:prstGeom>
        </p:spPr>
      </p:pic>
    </p:spTree>
    <p:extLst>
      <p:ext uri="{BB962C8B-B14F-4D97-AF65-F5344CB8AC3E}">
        <p14:creationId xmlns:p14="http://schemas.microsoft.com/office/powerpoint/2010/main" val="21679776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4"/>
          </p:nvPr>
        </p:nvSpPr>
        <p:spPr>
          <a:xfrm>
            <a:off x="1905000" y="1196753"/>
            <a:ext cx="3311842" cy="4896072"/>
          </a:xfrm>
        </p:spPr>
        <p:txBody>
          <a:bodyPr/>
          <a:lstStyle/>
          <a:p>
            <a:pPr marL="0" lvl="2" indent="0">
              <a:buNone/>
              <a:defRPr/>
            </a:pPr>
            <a:r>
              <a:rPr lang="en-US" b="1" dirty="0">
                <a:solidFill>
                  <a:srgbClr val="00338D"/>
                </a:solidFill>
              </a:rPr>
              <a:t>Potential adjustments (continued)</a:t>
            </a:r>
          </a:p>
          <a:p>
            <a:pPr marL="228600" lvl="2" indent="-228600">
              <a:buFont typeface="+mj-lt"/>
              <a:buAutoNum type="arabicParenR" startAt="6"/>
              <a:defRPr/>
            </a:pPr>
            <a:r>
              <a:rPr lang="en-US" b="1" dirty="0" smtClean="0"/>
              <a:t>Amortization adjustment: </a:t>
            </a:r>
            <a:r>
              <a:rPr lang="en-US" dirty="0" smtClean="0"/>
              <a:t>Various </a:t>
            </a:r>
            <a:r>
              <a:rPr lang="en-US" dirty="0"/>
              <a:t>fees (such as closing fees, a portion of upfront fees and original issue discounts) and certain loan origination costs are deferred and amortized into income over the stated life of the loan and not reflective of actual cash flows. In addition to regular-way amortization of such deferred amounts, any unamortized fees and costs are “swept” into income when a loan prepays or is refinanced. In order to arrive at true cash flows, these amortized amounts should be removed from </a:t>
            </a:r>
            <a:r>
              <a:rPr lang="en-US" dirty="0" smtClean="0"/>
              <a:t>pre-tax income </a:t>
            </a:r>
            <a:r>
              <a:rPr lang="en-US" dirty="0"/>
              <a:t>and replaced with the net cash flows in a given year. The table below </a:t>
            </a:r>
            <a:r>
              <a:rPr lang="en-US" dirty="0" smtClean="0"/>
              <a:t>shows the adjustment made.</a:t>
            </a:r>
            <a:endParaRPr lang="en-US" dirty="0"/>
          </a:p>
          <a:p>
            <a:pPr marL="0" lvl="2" indent="0">
              <a:buNone/>
              <a:defRPr/>
            </a:pPr>
            <a:endParaRPr lang="en-US" b="1" dirty="0"/>
          </a:p>
          <a:p>
            <a:pPr marL="0" lvl="2" indent="0">
              <a:buNone/>
              <a:defRPr/>
            </a:pPr>
            <a:endParaRPr lang="en-US" dirty="0" smtClean="0"/>
          </a:p>
          <a:p>
            <a:pPr marL="0" lvl="2" indent="0">
              <a:buNone/>
              <a:defRPr/>
            </a:pPr>
            <a:endParaRPr lang="en-US" dirty="0"/>
          </a:p>
          <a:p>
            <a:pPr marL="0" lvl="2" indent="0">
              <a:buNone/>
              <a:defRPr/>
            </a:pPr>
            <a:endParaRPr lang="en-US" dirty="0" smtClean="0"/>
          </a:p>
          <a:p>
            <a:pPr marL="0" lvl="2" indent="0">
              <a:buNone/>
              <a:defRPr/>
            </a:pPr>
            <a:endParaRPr lang="en-US" dirty="0"/>
          </a:p>
          <a:p>
            <a:pPr marL="0" lvl="2" indent="0">
              <a:buNone/>
              <a:defRPr/>
            </a:pPr>
            <a:endParaRPr lang="en-US" dirty="0" smtClean="0"/>
          </a:p>
          <a:p>
            <a:pPr marL="0" lvl="2" indent="0">
              <a:buNone/>
              <a:defRPr/>
            </a:pPr>
            <a:endParaRPr lang="en-US" dirty="0"/>
          </a:p>
          <a:p>
            <a:pPr marL="0" lvl="2" indent="0">
              <a:buNone/>
              <a:defRPr/>
            </a:pPr>
            <a:endParaRPr lang="en-US" dirty="0" smtClean="0"/>
          </a:p>
        </p:txBody>
      </p:sp>
      <p:sp>
        <p:nvSpPr>
          <p:cNvPr id="3" name="Text Placeholder 2"/>
          <p:cNvSpPr>
            <a:spLocks noGrp="1"/>
          </p:cNvSpPr>
          <p:nvPr>
            <p:ph type="body" sz="quarter" idx="13"/>
          </p:nvPr>
        </p:nvSpPr>
        <p:spPr>
          <a:xfrm>
            <a:off x="5562600" y="1196753"/>
            <a:ext cx="3312848" cy="4896072"/>
          </a:xfrm>
        </p:spPr>
        <p:txBody>
          <a:bodyPr/>
          <a:lstStyle/>
          <a:p>
            <a:r>
              <a:rPr lang="en-US" dirty="0"/>
              <a:t>Other </a:t>
            </a:r>
            <a:r>
              <a:rPr lang="en-US" dirty="0" smtClean="0"/>
              <a:t>considerations</a:t>
            </a:r>
          </a:p>
          <a:p>
            <a:pPr marL="228600" lvl="2" indent="-228600">
              <a:buFont typeface="+mj-lt"/>
              <a:buAutoNum type="arabicParenR" startAt="7"/>
              <a:defRPr/>
            </a:pPr>
            <a:r>
              <a:rPr lang="en-US" b="1" dirty="0" smtClean="0"/>
              <a:t>Allocation </a:t>
            </a:r>
            <a:r>
              <a:rPr lang="en-US" b="1" dirty="0"/>
              <a:t>of treasury function costs: </a:t>
            </a:r>
            <a:r>
              <a:rPr lang="en-US" dirty="0"/>
              <a:t>Management noted that the allocation of the operational costs associated with GE’s Corporate Treasury function is not reflected within earnings. Costs incurred under new ownership would include those associated with providing funding and liquidity, cash management, capital management and treasury services. To the extent that these costs are not captured in shared services expense allocations, an adjustment would have to be made which would </a:t>
            </a:r>
            <a:r>
              <a:rPr lang="en-US" dirty="0" smtClean="0"/>
              <a:t>reduce pre-tax income and pre-tax cash flows </a:t>
            </a:r>
            <a:r>
              <a:rPr lang="en-US" dirty="0"/>
              <a:t>available to service debt</a:t>
            </a:r>
            <a:r>
              <a:rPr lang="en-US" dirty="0" smtClean="0"/>
              <a:t>.</a:t>
            </a:r>
          </a:p>
          <a:p>
            <a:pPr marL="228600" lvl="2" indent="-228600">
              <a:buFont typeface="+mj-lt"/>
              <a:buAutoNum type="arabicParenR" startAt="7"/>
              <a:defRPr/>
            </a:pPr>
            <a:r>
              <a:rPr lang="en-US" b="1" dirty="0" smtClean="0"/>
              <a:t>Future state of SSLP / MMGP programs: </a:t>
            </a:r>
            <a:r>
              <a:rPr lang="en-US" dirty="0" smtClean="0"/>
              <a:t>We understand that, over time, it is your intention to rebuild the SSLP and MMGP portfolios through new originations. Given the difficulties inherent in projecting both the timing of this build-up and pricing for these new loans, we have not added back the incremental income benefit from such a build-up. We note that loan originations in these programs in 2013 and 2014 totaled $4.1 billion and $3.1 billion, respectively.  </a:t>
            </a:r>
            <a:endParaRPr lang="en-US" b="1" dirty="0" smtClean="0"/>
          </a:p>
          <a:p>
            <a:pPr marL="228600" lvl="2" indent="-228600">
              <a:buFont typeface="+mj-lt"/>
              <a:buAutoNum type="arabicParenR" startAt="7"/>
              <a:defRPr/>
            </a:pPr>
            <a:r>
              <a:rPr lang="en-US" b="1" dirty="0" smtClean="0"/>
              <a:t>Standalone </a:t>
            </a:r>
            <a:r>
              <a:rPr lang="en-US" b="1" dirty="0"/>
              <a:t>/ employment matters:</a:t>
            </a:r>
            <a:r>
              <a:rPr lang="en-US" dirty="0"/>
              <a:t> Target expects to realize cost savings from staff reductions post-transaction (forecasted by Target to be $33 million annually). </a:t>
            </a:r>
            <a:r>
              <a:rPr lang="en-US" dirty="0" smtClean="0"/>
              <a:t>As </a:t>
            </a:r>
            <a:r>
              <a:rPr lang="en-US" dirty="0"/>
              <a:t>part of the transition to new ownership, Target may incur incremental costs to retain key personnel, costs associated with third-party vendor relationships that involve non-GE pricing, costs associated with back-office support functions that may be needed to replace shared services support currently provided by the Parent and costs for external / internal audit and other professional services. We understand that you are working with advisors to determine incremental costs and savings post-transaction.</a:t>
            </a:r>
          </a:p>
          <a:p>
            <a:endParaRPr lang="en-US" dirty="0"/>
          </a:p>
        </p:txBody>
      </p:sp>
      <p:sp>
        <p:nvSpPr>
          <p:cNvPr id="8" name="Title 3"/>
          <p:cNvSpPr>
            <a:spLocks noGrp="1"/>
          </p:cNvSpPr>
          <p:nvPr>
            <p:ph type="title"/>
          </p:nvPr>
        </p:nvSpPr>
        <p:spPr>
          <a:xfrm>
            <a:off x="2123728" y="116632"/>
            <a:ext cx="6768752" cy="576064"/>
          </a:xfrm>
        </p:spPr>
        <p:txBody>
          <a:bodyPr/>
          <a:lstStyle/>
          <a:p>
            <a:r>
              <a:rPr lang="en-US" sz="1400" b="0" dirty="0">
                <a:solidFill>
                  <a:srgbClr val="747678"/>
                </a:solidFill>
              </a:rPr>
              <a:t>Executive summary</a:t>
            </a:r>
            <a:r>
              <a:rPr lang="en-US" dirty="0" smtClean="0"/>
              <a:t/>
            </a:r>
            <a:br>
              <a:rPr lang="en-US" dirty="0" smtClean="0"/>
            </a:br>
            <a:r>
              <a:rPr lang="en-US" dirty="0" smtClean="0"/>
              <a:t>Quality of earnings and cash flow (3)</a:t>
            </a:r>
            <a:endParaRPr lang="en-US" dirty="0"/>
          </a:p>
        </p:txBody>
      </p:sp>
      <p:sp>
        <p:nvSpPr>
          <p:cNvPr id="7" name="Text Box 8"/>
          <p:cNvSpPr txBox="1">
            <a:spLocks noChangeArrowheads="1"/>
          </p:cNvSpPr>
          <p:nvPr>
            <p:custDataLst>
              <p:tags r:id="rId1"/>
            </p:custDataLst>
          </p:nvPr>
        </p:nvSpPr>
        <p:spPr bwMode="gray">
          <a:xfrm>
            <a:off x="2131348" y="4422646"/>
            <a:ext cx="2210285" cy="210314"/>
          </a:xfrm>
          <a:prstGeom prst="rect">
            <a:avLst/>
          </a:prstGeom>
          <a:noFill/>
          <a:ln w="6350">
            <a:noFill/>
            <a:miter lim="800000"/>
            <a:headEnd type="none" w="sm" len="sm"/>
            <a:tailEnd type="none" w="sm" len="sm"/>
          </a:ln>
          <a:effectLst/>
        </p:spPr>
        <p:txBody>
          <a:bodyPr wrap="square" lIns="0" tIns="0" rIns="0" bIns="0" anchor="b">
            <a:spAutoFit/>
          </a:bodyPr>
          <a:lstStyle/>
          <a:p>
            <a:pPr marL="534988" indent="-534988" defTabSz="762000" eaLnBrk="0" hangingPunct="0">
              <a:spcBef>
                <a:spcPts val="200"/>
              </a:spcBef>
              <a:tabLst>
                <a:tab pos="355600" algn="l"/>
              </a:tabLst>
            </a:pPr>
            <a:r>
              <a:rPr lang="en-US" sz="600" dirty="0" smtClean="0">
                <a:latin typeface="Arial"/>
                <a:cs typeface="Arial" pitchFamily="34" charset="0"/>
              </a:rPr>
              <a:t>Source:</a:t>
            </a:r>
            <a:r>
              <a:rPr lang="en-US" sz="600" dirty="0">
                <a:latin typeface="Arial"/>
                <a:cs typeface="Arial" pitchFamily="34" charset="0"/>
              </a:rPr>
              <a:t>	</a:t>
            </a:r>
            <a:r>
              <a:rPr lang="en-US" sz="600" dirty="0" smtClean="0">
                <a:latin typeface="Arial"/>
                <a:cs typeface="Arial" pitchFamily="34" charset="0"/>
              </a:rPr>
              <a:t>6.5.1 Atlas Detailed Financials,</a:t>
            </a:r>
          </a:p>
          <a:p>
            <a:pPr marL="534988" indent="-534988" defTabSz="762000" eaLnBrk="0" hangingPunct="0">
              <a:spcBef>
                <a:spcPts val="200"/>
              </a:spcBef>
              <a:tabLst>
                <a:tab pos="355600" algn="l"/>
              </a:tabLst>
            </a:pPr>
            <a:r>
              <a:rPr lang="en-US" sz="600" dirty="0">
                <a:latin typeface="Arial"/>
                <a:cs typeface="Arial" pitchFamily="34" charset="0"/>
              </a:rPr>
              <a:t>	</a:t>
            </a:r>
            <a:r>
              <a:rPr lang="en-US" sz="600" dirty="0" smtClean="0">
                <a:latin typeface="Arial"/>
                <a:cs typeface="Arial" pitchFamily="34" charset="0"/>
              </a:rPr>
              <a:t>6.6.27 Deferred Fees </a:t>
            </a:r>
            <a:r>
              <a:rPr lang="en-US" sz="600" dirty="0" err="1" smtClean="0">
                <a:latin typeface="Arial"/>
                <a:cs typeface="Arial" pitchFamily="34" charset="0"/>
              </a:rPr>
              <a:t>Rollforward</a:t>
            </a:r>
            <a:endParaRPr lang="en-US" sz="600" dirty="0">
              <a:latin typeface="Arial"/>
              <a:cs typeface="Arial" pitchFamily="34" charset="0"/>
            </a:endParaRPr>
          </a:p>
        </p:txBody>
      </p:sp>
      <p:pic>
        <p:nvPicPr>
          <p:cNvPr id="2" name="Picture 1"/>
          <p:cNvPicPr>
            <a:picLocks noChangeAspect="1"/>
          </p:cNvPicPr>
          <p:nvPr/>
        </p:nvPicPr>
        <p:blipFill>
          <a:blip r:embed="rId3"/>
          <a:stretch>
            <a:fillRect/>
          </a:stretch>
        </p:blipFill>
        <p:spPr>
          <a:xfrm>
            <a:off x="2131348" y="3025140"/>
            <a:ext cx="2317938" cy="1389886"/>
          </a:xfrm>
          <a:prstGeom prst="rect">
            <a:avLst/>
          </a:prstGeom>
        </p:spPr>
      </p:pic>
    </p:spTree>
    <p:extLst>
      <p:ext uri="{BB962C8B-B14F-4D97-AF65-F5344CB8AC3E}">
        <p14:creationId xmlns:p14="http://schemas.microsoft.com/office/powerpoint/2010/main" val="32836645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3"/>
          <p:cNvGraphicFramePr>
            <a:graphicFrameLocks noGrp="1"/>
          </p:cNvGraphicFramePr>
          <p:nvPr>
            <p:extLst>
              <p:ext uri="{D42A27DB-BD31-4B8C-83A1-F6EECF244321}">
                <p14:modId xmlns:p14="http://schemas.microsoft.com/office/powerpoint/2010/main" val="232288939"/>
              </p:ext>
            </p:extLst>
          </p:nvPr>
        </p:nvGraphicFramePr>
        <p:xfrm>
          <a:off x="252046" y="1219200"/>
          <a:ext cx="8663354" cy="5015280"/>
        </p:xfrm>
        <a:graphic>
          <a:graphicData uri="http://schemas.openxmlformats.org/drawingml/2006/table">
            <a:tbl>
              <a:tblPr/>
              <a:tblGrid>
                <a:gridCol w="1195754"/>
                <a:gridCol w="6477000"/>
                <a:gridCol w="990600"/>
              </a:tblGrid>
              <a:tr h="376986">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1000" b="1" i="0" u="none" strike="noStrike" cap="none" normalizeH="0" baseline="0" dirty="0" smtClean="0">
                          <a:ln>
                            <a:noFill/>
                          </a:ln>
                          <a:solidFill>
                            <a:schemeClr val="bg1"/>
                          </a:solidFill>
                          <a:effectLst/>
                          <a:latin typeface="Arial"/>
                          <a:cs typeface="Arial" pitchFamily="34" charset="0"/>
                        </a:rPr>
                        <a:t>Finding</a:t>
                      </a:r>
                      <a:endParaRPr kumimoji="0" lang="en-US" sz="900" b="1" i="0" u="none" strike="noStrike" cap="none" normalizeH="0" baseline="0" dirty="0" smtClean="0">
                        <a:ln>
                          <a:noFill/>
                        </a:ln>
                        <a:solidFill>
                          <a:schemeClr val="bg1"/>
                        </a:solidFill>
                        <a:effectLst/>
                        <a:latin typeface="Arial"/>
                        <a:cs typeface="Arial" pitchFamily="34" charset="0"/>
                      </a:endParaRP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Summary observations</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Reference</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r>
              <a:tr h="1299414">
                <a:tc>
                  <a:txBody>
                    <a:bodyPr/>
                    <a:lstStyle/>
                    <a:p>
                      <a:pPr marL="0" marR="0" lvl="0" indent="0" algn="l" defTabSz="762000" rtl="0" eaLnBrk="1" fontAlgn="base" latinLnBrk="0" hangingPunct="1">
                        <a:lnSpc>
                          <a:spcPct val="100000"/>
                        </a:lnSpc>
                        <a:spcBef>
                          <a:spcPts val="600"/>
                        </a:spcBef>
                        <a:spcAft>
                          <a:spcPct val="0"/>
                        </a:spcAft>
                        <a:buClrTx/>
                        <a:buSzTx/>
                        <a:buFontTx/>
                        <a:buNone/>
                        <a:tabLst/>
                        <a:defRPr/>
                      </a:pPr>
                      <a:r>
                        <a:rPr kumimoji="0" lang="en-US" sz="900" b="1" i="0" u="none" strike="noStrike" cap="none" normalizeH="0" baseline="0" dirty="0" smtClean="0">
                          <a:ln>
                            <a:noFill/>
                          </a:ln>
                          <a:solidFill>
                            <a:schemeClr val="accent4"/>
                          </a:solidFill>
                          <a:effectLst/>
                          <a:latin typeface="+mn-lt"/>
                          <a:cs typeface="Arial" pitchFamily="34" charset="0"/>
                        </a:rPr>
                        <a:t>Go forward structure</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228600" marR="0" lvl="2" indent="-228600" algn="l" defTabSz="914400" rtl="0" eaLnBrk="1" fontAlgn="auto" latinLnBrk="0" hangingPunct="1">
                        <a:lnSpc>
                          <a:spcPct val="100000"/>
                        </a:lnSpc>
                        <a:spcBef>
                          <a:spcPts val="600"/>
                        </a:spcBef>
                        <a:spcAft>
                          <a:spcPts val="0"/>
                        </a:spcAft>
                        <a:buClr>
                          <a:srgbClr val="97989A"/>
                        </a:buClr>
                        <a:buSzTx/>
                        <a:buFont typeface="+mj-lt"/>
                        <a:buAutoNum type="arabicPeriod"/>
                        <a:tabLst/>
                        <a:defRPr/>
                      </a:pPr>
                      <a:r>
                        <a:rPr lang="en-US" sz="900" kern="1200" noProof="0" dirty="0" smtClean="0">
                          <a:solidFill>
                            <a:schemeClr val="tx1"/>
                          </a:solidFill>
                          <a:latin typeface="+mn-lt"/>
                          <a:ea typeface="+mn-ea"/>
                          <a:cs typeface="Arial" pitchFamily="34" charset="0"/>
                        </a:rPr>
                        <a:t>The operational guidelines set forth in KPMG’s Structure Slides of May 21, 2015 are intended to mitigate the risks of:</a:t>
                      </a:r>
                    </a:p>
                    <a:p>
                      <a:pPr marL="685800" marR="0" lvl="3" indent="-228600" algn="l" defTabSz="914400" rtl="0" eaLnBrk="1" fontAlgn="auto" latinLnBrk="0" hangingPunct="1">
                        <a:lnSpc>
                          <a:spcPct val="100000"/>
                        </a:lnSpc>
                        <a:spcBef>
                          <a:spcPts val="600"/>
                        </a:spcBef>
                        <a:spcAft>
                          <a:spcPts val="0"/>
                        </a:spcAft>
                        <a:buClr>
                          <a:srgbClr val="97989A"/>
                        </a:buClr>
                        <a:buSzTx/>
                        <a:buFont typeface="+mj-lt"/>
                        <a:buAutoNum type="alphaLcPeriod"/>
                        <a:tabLst/>
                        <a:defRPr/>
                      </a:pPr>
                      <a:r>
                        <a:rPr lang="en-US" sz="900" kern="1200" noProof="0" dirty="0" smtClean="0">
                          <a:solidFill>
                            <a:schemeClr val="tx1"/>
                          </a:solidFill>
                          <a:latin typeface="+mn-lt"/>
                          <a:ea typeface="+mn-ea"/>
                          <a:cs typeface="Arial" pitchFamily="34" charset="0"/>
                        </a:rPr>
                        <a:t>CII 4 establishing a PE in the U.S., which would otherwise result in an annual tax return filing requirement in the US and payment of tax on net income and gains; and </a:t>
                      </a:r>
                    </a:p>
                    <a:p>
                      <a:pPr marL="685800" marR="0" lvl="3" indent="-228600" algn="l" defTabSz="914400" rtl="0" eaLnBrk="1" fontAlgn="auto" latinLnBrk="0" hangingPunct="1">
                        <a:lnSpc>
                          <a:spcPct val="100000"/>
                        </a:lnSpc>
                        <a:spcBef>
                          <a:spcPts val="600"/>
                        </a:spcBef>
                        <a:spcAft>
                          <a:spcPts val="0"/>
                        </a:spcAft>
                        <a:buClr>
                          <a:srgbClr val="97989A"/>
                        </a:buClr>
                        <a:buSzTx/>
                        <a:buFont typeface="+mj-lt"/>
                        <a:buAutoNum type="alphaLcPeriod"/>
                        <a:tabLst/>
                        <a:defRPr/>
                      </a:pPr>
                      <a:r>
                        <a:rPr lang="en-US" sz="900" kern="1200" noProof="0" dirty="0" smtClean="0">
                          <a:solidFill>
                            <a:schemeClr val="tx1"/>
                          </a:solidFill>
                          <a:latin typeface="+mn-lt"/>
                          <a:ea typeface="+mn-ea"/>
                          <a:cs typeface="Arial" pitchFamily="34" charset="0"/>
                        </a:rPr>
                        <a:t>CPPIB from being attributed a commercial activity for purposes of section 892, which could eliminate the benefits available to CPPIB and certain of its Canadian subsidiaries under Section 892. </a:t>
                      </a:r>
                    </a:p>
                    <a:p>
                      <a:pPr marL="228600" marR="0" lvl="2" indent="-228600" algn="l" defTabSz="914400" rtl="0" eaLnBrk="1" fontAlgn="auto" latinLnBrk="0" hangingPunct="1">
                        <a:lnSpc>
                          <a:spcPct val="100000"/>
                        </a:lnSpc>
                        <a:spcBef>
                          <a:spcPts val="600"/>
                        </a:spcBef>
                        <a:spcAft>
                          <a:spcPts val="0"/>
                        </a:spcAft>
                        <a:buClr>
                          <a:srgbClr val="97989A"/>
                        </a:buClr>
                        <a:buSzTx/>
                        <a:buFont typeface="+mj-lt"/>
                        <a:buAutoNum type="arabicPeriod"/>
                        <a:tabLst/>
                        <a:defRPr/>
                      </a:pPr>
                      <a:r>
                        <a:rPr lang="en-US" sz="900" kern="1200" noProof="0" dirty="0" smtClean="0">
                          <a:solidFill>
                            <a:schemeClr val="tx1"/>
                          </a:solidFill>
                          <a:latin typeface="+mn-lt"/>
                          <a:ea typeface="+mn-ea"/>
                          <a:cs typeface="Arial" pitchFamily="34" charset="0"/>
                        </a:rPr>
                        <a:t>The key risk of this acquisition is primarily related to the maintenance of the structure going forward and the compliance with those guidelines.</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N/A</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r>
              <a:tr h="762000">
                <a:tc>
                  <a:txBody>
                    <a:bodyPr/>
                    <a:lstStyle/>
                    <a:p>
                      <a:pPr marL="0" marR="0" lvl="0" indent="0" algn="l" defTabSz="762000" rtl="0" eaLnBrk="1" fontAlgn="base" latinLnBrk="0" hangingPunct="1">
                        <a:lnSpc>
                          <a:spcPct val="100000"/>
                        </a:lnSpc>
                        <a:spcBef>
                          <a:spcPts val="600"/>
                        </a:spcBef>
                        <a:spcAft>
                          <a:spcPct val="0"/>
                        </a:spcAft>
                        <a:buClrTx/>
                        <a:buSzTx/>
                        <a:buFontTx/>
                        <a:buNone/>
                        <a:tabLst/>
                        <a:defRPr/>
                      </a:pPr>
                      <a:r>
                        <a:rPr kumimoji="0" lang="en-US" sz="900" b="1" i="0" u="none" strike="noStrike" cap="none" normalizeH="0" baseline="0" dirty="0" smtClean="0">
                          <a:ln>
                            <a:noFill/>
                          </a:ln>
                          <a:solidFill>
                            <a:schemeClr val="accent4"/>
                          </a:solidFill>
                          <a:effectLst/>
                          <a:latin typeface="+mn-lt"/>
                          <a:cs typeface="Arial" pitchFamily="34" charset="0"/>
                        </a:rPr>
                        <a:t>Structure of the proposed transaction</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228600" marR="0" lvl="2" indent="-228600" algn="l" defTabSz="914400" rtl="0" eaLnBrk="1" fontAlgn="auto" latinLnBrk="0" hangingPunct="1">
                        <a:lnSpc>
                          <a:spcPct val="100000"/>
                        </a:lnSpc>
                        <a:spcBef>
                          <a:spcPts val="600"/>
                        </a:spcBef>
                        <a:spcAft>
                          <a:spcPts val="0"/>
                        </a:spcAft>
                        <a:buClr>
                          <a:srgbClr val="97989A"/>
                        </a:buClr>
                        <a:buSzTx/>
                        <a:buFont typeface="+mj-lt"/>
                        <a:buAutoNum type="arabicPeriod"/>
                        <a:tabLst/>
                        <a:defRPr/>
                      </a:pPr>
                      <a:r>
                        <a:rPr lang="en-US" sz="900" b="0" kern="1200" noProof="0" dirty="0" smtClean="0">
                          <a:solidFill>
                            <a:schemeClr val="tx1"/>
                          </a:solidFill>
                          <a:latin typeface="+mn-lt"/>
                          <a:ea typeface="+mn-ea"/>
                          <a:cs typeface="Arial" pitchFamily="34" charset="0"/>
                        </a:rPr>
                        <a:t>The majority of the assets acquired</a:t>
                      </a:r>
                      <a:r>
                        <a:rPr lang="en-US" sz="900" b="0" kern="1200" baseline="0" noProof="0" dirty="0" smtClean="0">
                          <a:solidFill>
                            <a:schemeClr val="tx1"/>
                          </a:solidFill>
                          <a:latin typeface="+mn-lt"/>
                          <a:ea typeface="+mn-ea"/>
                          <a:cs typeface="Arial" pitchFamily="34" charset="0"/>
                        </a:rPr>
                        <a:t> in this transaction are directly owned by GECC or its subsidiaries (“the Assets”).  </a:t>
                      </a:r>
                      <a:endParaRPr lang="en-US" sz="900" b="0" kern="1200" noProof="0" dirty="0" smtClean="0">
                        <a:solidFill>
                          <a:schemeClr val="tx1"/>
                        </a:solidFill>
                        <a:latin typeface="+mn-lt"/>
                        <a:ea typeface="+mn-ea"/>
                        <a:cs typeface="Arial" pitchFamily="34" charset="0"/>
                      </a:endParaRPr>
                    </a:p>
                    <a:p>
                      <a:pPr marL="685800" marR="0" lvl="3" indent="-228600" algn="l" defTabSz="914400" rtl="0" eaLnBrk="1" fontAlgn="auto" latinLnBrk="0" hangingPunct="1">
                        <a:lnSpc>
                          <a:spcPct val="100000"/>
                        </a:lnSpc>
                        <a:spcBef>
                          <a:spcPts val="600"/>
                        </a:spcBef>
                        <a:spcAft>
                          <a:spcPts val="0"/>
                        </a:spcAft>
                        <a:buClr>
                          <a:srgbClr val="97989A"/>
                        </a:buClr>
                        <a:buSzTx/>
                        <a:buFont typeface="+mj-lt"/>
                        <a:buAutoNum type="alphaLcPeriod"/>
                        <a:tabLst/>
                        <a:defRPr/>
                      </a:pPr>
                      <a:r>
                        <a:rPr lang="en-US" sz="900" b="0" kern="1200" noProof="0" dirty="0" smtClean="0">
                          <a:solidFill>
                            <a:schemeClr val="tx1"/>
                          </a:solidFill>
                          <a:latin typeface="+mn-lt"/>
                          <a:ea typeface="+mn-ea"/>
                          <a:cs typeface="Arial" pitchFamily="34" charset="0"/>
                        </a:rPr>
                        <a:t>If CII 4 is not able to acquire a California lending license prior to closing,</a:t>
                      </a:r>
                      <a:r>
                        <a:rPr lang="en-US" sz="900" b="0" kern="1200" baseline="0" noProof="0" dirty="0" smtClean="0">
                          <a:solidFill>
                            <a:schemeClr val="tx1"/>
                          </a:solidFill>
                          <a:latin typeface="+mn-lt"/>
                          <a:ea typeface="+mn-ea"/>
                          <a:cs typeface="Arial" pitchFamily="34" charset="0"/>
                        </a:rPr>
                        <a:t> it is proposed that:</a:t>
                      </a:r>
                      <a:endParaRPr lang="en-US" sz="900" b="0" kern="1200" noProof="0" dirty="0" smtClean="0">
                        <a:solidFill>
                          <a:schemeClr val="tx1"/>
                        </a:solidFill>
                        <a:latin typeface="+mn-lt"/>
                        <a:ea typeface="+mn-ea"/>
                        <a:cs typeface="Arial" pitchFamily="34" charset="0"/>
                      </a:endParaRPr>
                    </a:p>
                    <a:p>
                      <a:pPr marL="1200150" marR="0" lvl="4" indent="-285750" algn="l" defTabSz="914400" rtl="0" eaLnBrk="1" fontAlgn="auto" latinLnBrk="0" hangingPunct="1">
                        <a:lnSpc>
                          <a:spcPct val="100000"/>
                        </a:lnSpc>
                        <a:spcBef>
                          <a:spcPts val="600"/>
                        </a:spcBef>
                        <a:spcAft>
                          <a:spcPts val="0"/>
                        </a:spcAft>
                        <a:buClr>
                          <a:srgbClr val="97989A"/>
                        </a:buClr>
                        <a:buSzTx/>
                        <a:buFont typeface="+mj-lt"/>
                        <a:buAutoNum type="romanLcPeriod"/>
                        <a:tabLst/>
                        <a:defRPr/>
                      </a:pPr>
                      <a:r>
                        <a:rPr lang="en-US" sz="900" b="0" kern="1200" noProof="0" dirty="0" smtClean="0">
                          <a:solidFill>
                            <a:schemeClr val="tx1"/>
                          </a:solidFill>
                          <a:latin typeface="+mn-lt"/>
                          <a:ea typeface="+mn-ea"/>
                          <a:cs typeface="Arial" pitchFamily="34" charset="0"/>
                        </a:rPr>
                        <a:t>Bidco will acquire 100%</a:t>
                      </a:r>
                      <a:r>
                        <a:rPr lang="en-US" sz="900" b="0" kern="1200" baseline="0" noProof="0" dirty="0" smtClean="0">
                          <a:solidFill>
                            <a:schemeClr val="tx1"/>
                          </a:solidFill>
                          <a:latin typeface="+mn-lt"/>
                          <a:ea typeface="+mn-ea"/>
                          <a:cs typeface="Arial" pitchFamily="34" charset="0"/>
                        </a:rPr>
                        <a:t> of the shares of Garrison, which will hold any assets that cannot be transferred to a Transfer Vehicle for legal or regulatory reasons.</a:t>
                      </a:r>
                    </a:p>
                    <a:p>
                      <a:pPr marL="1200150" marR="0" lvl="4" indent="-285750" algn="l" defTabSz="914400" rtl="0" eaLnBrk="1" fontAlgn="auto" latinLnBrk="0" hangingPunct="1">
                        <a:lnSpc>
                          <a:spcPct val="100000"/>
                        </a:lnSpc>
                        <a:spcBef>
                          <a:spcPts val="600"/>
                        </a:spcBef>
                        <a:spcAft>
                          <a:spcPts val="0"/>
                        </a:spcAft>
                        <a:buClr>
                          <a:srgbClr val="97989A"/>
                        </a:buClr>
                        <a:buSzTx/>
                        <a:buFont typeface="+mj-lt"/>
                        <a:buAutoNum type="romanLcPeriod"/>
                        <a:tabLst/>
                        <a:defRPr/>
                      </a:pPr>
                      <a:r>
                        <a:rPr lang="en-US" sz="900" b="0" kern="1200" baseline="0" noProof="0" dirty="0" smtClean="0">
                          <a:solidFill>
                            <a:schemeClr val="tx1"/>
                          </a:solidFill>
                          <a:latin typeface="+mn-lt"/>
                          <a:ea typeface="+mn-ea"/>
                          <a:cs typeface="Arial" pitchFamily="34" charset="0"/>
                        </a:rPr>
                        <a:t>Holdco or the SPVs will acquire 100% of the interests in the Transfer Vehicle(s) which will hold the broader Antares loan portfolio, the interests in relevant joint ventures, and Borrower Equity Co-Invests.</a:t>
                      </a:r>
                    </a:p>
                    <a:p>
                      <a:pPr marL="1200150" marR="0" lvl="4" indent="-285750" algn="l" defTabSz="914400" rtl="0" eaLnBrk="1" fontAlgn="auto" latinLnBrk="0" hangingPunct="1">
                        <a:lnSpc>
                          <a:spcPct val="100000"/>
                        </a:lnSpc>
                        <a:spcBef>
                          <a:spcPts val="600"/>
                        </a:spcBef>
                        <a:spcAft>
                          <a:spcPts val="0"/>
                        </a:spcAft>
                        <a:buClr>
                          <a:srgbClr val="97989A"/>
                        </a:buClr>
                        <a:buSzTx/>
                        <a:buFont typeface="+mj-lt"/>
                        <a:buAutoNum type="romanLcPeriod"/>
                        <a:tabLst/>
                        <a:defRPr/>
                      </a:pPr>
                      <a:r>
                        <a:rPr lang="en-US" sz="900" b="0" kern="1200" baseline="0" noProof="0" dirty="0" smtClean="0">
                          <a:solidFill>
                            <a:schemeClr val="tx1"/>
                          </a:solidFill>
                          <a:latin typeface="+mn-lt"/>
                          <a:ea typeface="+mn-ea"/>
                          <a:cs typeface="Arial" pitchFamily="34" charset="0"/>
                        </a:rPr>
                        <a:t>Blocker will acquire Equity Tags in portfolio companies that are structured as LLCs or partnerships, and that are engaged in a U.S. trade or business through a PE, as well as other non-loan assets that give rise to PE concerns (“Blocker Assets”).</a:t>
                      </a:r>
                    </a:p>
                    <a:p>
                      <a:pPr marL="1200150" marR="0" lvl="4" indent="-285750" algn="l" defTabSz="914400" rtl="0" eaLnBrk="1" fontAlgn="auto" latinLnBrk="0" hangingPunct="1">
                        <a:lnSpc>
                          <a:spcPct val="100000"/>
                        </a:lnSpc>
                        <a:spcBef>
                          <a:spcPts val="600"/>
                        </a:spcBef>
                        <a:spcAft>
                          <a:spcPts val="0"/>
                        </a:spcAft>
                        <a:buClr>
                          <a:srgbClr val="97989A"/>
                        </a:buClr>
                        <a:buSzTx/>
                        <a:buFont typeface="+mj-lt"/>
                        <a:buAutoNum type="romanLcPeriod"/>
                        <a:tabLst/>
                        <a:defRPr/>
                      </a:pPr>
                      <a:r>
                        <a:rPr lang="en-US" sz="900" b="0" kern="1200" baseline="0" noProof="0" dirty="0" smtClean="0">
                          <a:solidFill>
                            <a:schemeClr val="tx1"/>
                          </a:solidFill>
                          <a:latin typeface="+mn-lt"/>
                          <a:ea typeface="+mn-ea"/>
                          <a:cs typeface="Arial" pitchFamily="34" charset="0"/>
                        </a:rPr>
                        <a:t>Garrison will retain the revolving credit facilities and will continue to originate new loans for which a California lending license is necessary until CII 4 obtains its own license.</a:t>
                      </a:r>
                    </a:p>
                    <a:p>
                      <a:pPr marL="685800" marR="0" lvl="3" indent="-228600" algn="l" defTabSz="914400" rtl="0" eaLnBrk="1" fontAlgn="auto" latinLnBrk="0" hangingPunct="1">
                        <a:lnSpc>
                          <a:spcPct val="100000"/>
                        </a:lnSpc>
                        <a:spcBef>
                          <a:spcPts val="600"/>
                        </a:spcBef>
                        <a:spcAft>
                          <a:spcPts val="0"/>
                        </a:spcAft>
                        <a:buClr>
                          <a:srgbClr val="97989A"/>
                        </a:buClr>
                        <a:buSzTx/>
                        <a:buFont typeface="+mj-lt"/>
                        <a:buAutoNum type="alphaLcPeriod"/>
                        <a:tabLst/>
                        <a:defRPr/>
                      </a:pPr>
                      <a:r>
                        <a:rPr lang="en-US" sz="900" b="0" kern="1200" baseline="0" noProof="0" dirty="0" smtClean="0">
                          <a:solidFill>
                            <a:schemeClr val="tx1"/>
                          </a:solidFill>
                          <a:latin typeface="+mn-lt"/>
                          <a:ea typeface="+mn-ea"/>
                          <a:cs typeface="Arial" pitchFamily="34" charset="0"/>
                        </a:rPr>
                        <a:t>If CII 4 is able to acquire a California lending license prior to closing:</a:t>
                      </a:r>
                    </a:p>
                    <a:p>
                      <a:pPr marL="1200150" marR="0" lvl="4" indent="-285750" algn="l" defTabSz="914400" rtl="0" eaLnBrk="1" fontAlgn="auto" latinLnBrk="0" hangingPunct="1">
                        <a:lnSpc>
                          <a:spcPct val="100000"/>
                        </a:lnSpc>
                        <a:spcBef>
                          <a:spcPts val="600"/>
                        </a:spcBef>
                        <a:spcAft>
                          <a:spcPts val="0"/>
                        </a:spcAft>
                        <a:buClr>
                          <a:srgbClr val="97989A"/>
                        </a:buClr>
                        <a:buSzTx/>
                        <a:buFont typeface="+mj-lt"/>
                        <a:buAutoNum type="romanLcPeriod"/>
                        <a:tabLst/>
                        <a:defRPr/>
                      </a:pPr>
                      <a:r>
                        <a:rPr lang="en-US" sz="900" b="0" kern="1200" baseline="0" noProof="0" dirty="0" smtClean="0">
                          <a:solidFill>
                            <a:schemeClr val="tx1"/>
                          </a:solidFill>
                          <a:latin typeface="+mn-lt"/>
                          <a:ea typeface="+mn-ea"/>
                          <a:cs typeface="Arial" pitchFamily="34" charset="0"/>
                        </a:rPr>
                        <a:t>CII 4 will acquire 100% of the shares of Garrison.</a:t>
                      </a:r>
                    </a:p>
                    <a:p>
                      <a:pPr marL="1200150" marR="0" lvl="4" indent="-285750" algn="l" defTabSz="914400" rtl="0" eaLnBrk="1" fontAlgn="auto" latinLnBrk="0" hangingPunct="1">
                        <a:lnSpc>
                          <a:spcPct val="100000"/>
                        </a:lnSpc>
                        <a:spcBef>
                          <a:spcPts val="600"/>
                        </a:spcBef>
                        <a:spcAft>
                          <a:spcPts val="0"/>
                        </a:spcAft>
                        <a:buClr>
                          <a:srgbClr val="97989A"/>
                        </a:buClr>
                        <a:buSzTx/>
                        <a:buFont typeface="+mj-lt"/>
                        <a:buAutoNum type="romanLcPeriod"/>
                        <a:tabLst/>
                        <a:defRPr/>
                      </a:pPr>
                      <a:r>
                        <a:rPr lang="en-US" sz="900" b="0" kern="1200" baseline="0" noProof="0" dirty="0" smtClean="0">
                          <a:solidFill>
                            <a:schemeClr val="tx1"/>
                          </a:solidFill>
                          <a:latin typeface="+mn-lt"/>
                          <a:ea typeface="+mn-ea"/>
                          <a:cs typeface="Arial" pitchFamily="34" charset="0"/>
                        </a:rPr>
                        <a:t>Holdco or the SPVs will acquire 100% of the interests in the Transfer Vehicle(s).</a:t>
                      </a:r>
                    </a:p>
                    <a:p>
                      <a:pPr marL="1200150" marR="0" lvl="4" indent="-285750" algn="l" defTabSz="914400" rtl="0" eaLnBrk="1" fontAlgn="auto" latinLnBrk="0" hangingPunct="1">
                        <a:lnSpc>
                          <a:spcPct val="100000"/>
                        </a:lnSpc>
                        <a:spcBef>
                          <a:spcPts val="600"/>
                        </a:spcBef>
                        <a:spcAft>
                          <a:spcPts val="0"/>
                        </a:spcAft>
                        <a:buClr>
                          <a:srgbClr val="97989A"/>
                        </a:buClr>
                        <a:buSzTx/>
                        <a:buFont typeface="+mj-lt"/>
                        <a:buAutoNum type="romanLcPeriod"/>
                        <a:tabLst/>
                        <a:defRPr/>
                      </a:pPr>
                      <a:r>
                        <a:rPr lang="en-US" sz="900" b="0" kern="1200" baseline="0" noProof="0" dirty="0" smtClean="0">
                          <a:solidFill>
                            <a:schemeClr val="tx1"/>
                          </a:solidFill>
                          <a:latin typeface="+mn-lt"/>
                          <a:ea typeface="+mn-ea"/>
                          <a:cs typeface="Arial" pitchFamily="34" charset="0"/>
                        </a:rPr>
                        <a:t>Blocker will acquire the Blocker Assets.</a:t>
                      </a:r>
                    </a:p>
                    <a:p>
                      <a:pPr marL="1200150" marR="0" lvl="4" indent="-285750" algn="l" defTabSz="914400" rtl="0" eaLnBrk="1" fontAlgn="auto" latinLnBrk="0" hangingPunct="1">
                        <a:lnSpc>
                          <a:spcPct val="100000"/>
                        </a:lnSpc>
                        <a:spcBef>
                          <a:spcPts val="600"/>
                        </a:spcBef>
                        <a:spcAft>
                          <a:spcPts val="0"/>
                        </a:spcAft>
                        <a:buClr>
                          <a:srgbClr val="97989A"/>
                        </a:buClr>
                        <a:buSzTx/>
                        <a:buFont typeface="+mj-lt"/>
                        <a:buAutoNum type="romanLcPeriod"/>
                        <a:tabLst/>
                        <a:defRPr/>
                      </a:pPr>
                      <a:r>
                        <a:rPr lang="en-US" sz="900" b="0" kern="1200" baseline="0" noProof="0" dirty="0" smtClean="0">
                          <a:solidFill>
                            <a:schemeClr val="tx1"/>
                          </a:solidFill>
                          <a:latin typeface="+mn-lt"/>
                          <a:ea typeface="+mn-ea"/>
                          <a:cs typeface="Arial" pitchFamily="34" charset="0"/>
                        </a:rPr>
                        <a:t>From and after closing, all loan origination activity is undertaken by CII 4. Garrison will identify and source loans on behalf of CII 4 subject to operational guidelines. </a:t>
                      </a:r>
                      <a:endParaRPr lang="en-US" sz="900" b="0" kern="1200" noProof="0" dirty="0" smtClean="0">
                        <a:solidFill>
                          <a:schemeClr val="tx1"/>
                        </a:solidFill>
                        <a:latin typeface="+mn-lt"/>
                        <a:ea typeface="+mn-ea"/>
                        <a:cs typeface="Arial" pitchFamily="34" charset="0"/>
                      </a:endParaRP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Appendix 18</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r>
            </a:tbl>
          </a:graphicData>
        </a:graphic>
      </p:graphicFrame>
      <p:sp>
        <p:nvSpPr>
          <p:cNvPr id="13" name="Title 3"/>
          <p:cNvSpPr>
            <a:spLocks noGrp="1"/>
          </p:cNvSpPr>
          <p:nvPr>
            <p:ph type="title"/>
          </p:nvPr>
        </p:nvSpPr>
        <p:spPr>
          <a:xfrm>
            <a:off x="2123728" y="116632"/>
            <a:ext cx="6768752" cy="576064"/>
          </a:xfrm>
        </p:spPr>
        <p:txBody>
          <a:bodyPr/>
          <a:lstStyle/>
          <a:p>
            <a:r>
              <a:rPr lang="en-US" sz="1400" b="0" dirty="0">
                <a:solidFill>
                  <a:srgbClr val="747678"/>
                </a:solidFill>
              </a:rPr>
              <a:t>Executive summary</a:t>
            </a:r>
            <a:r>
              <a:rPr lang="en-US" dirty="0" smtClean="0"/>
              <a:t/>
            </a:r>
            <a:br>
              <a:rPr lang="en-US" dirty="0" smtClean="0"/>
            </a:br>
            <a:r>
              <a:rPr lang="en-US" dirty="0" smtClean="0"/>
              <a:t>Key findings: tax</a:t>
            </a:r>
            <a:endParaRPr lang="en-US" dirty="0"/>
          </a:p>
        </p:txBody>
      </p:sp>
    </p:spTree>
    <p:extLst>
      <p:ext uri="{BB962C8B-B14F-4D97-AF65-F5344CB8AC3E}">
        <p14:creationId xmlns:p14="http://schemas.microsoft.com/office/powerpoint/2010/main" val="45007393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3"/>
          <p:cNvGraphicFramePr>
            <a:graphicFrameLocks noGrp="1"/>
          </p:cNvGraphicFramePr>
          <p:nvPr>
            <p:extLst>
              <p:ext uri="{D42A27DB-BD31-4B8C-83A1-F6EECF244321}">
                <p14:modId xmlns:p14="http://schemas.microsoft.com/office/powerpoint/2010/main" val="578870718"/>
              </p:ext>
            </p:extLst>
          </p:nvPr>
        </p:nvGraphicFramePr>
        <p:xfrm>
          <a:off x="252046" y="1219200"/>
          <a:ext cx="8663354" cy="3732426"/>
        </p:xfrm>
        <a:graphic>
          <a:graphicData uri="http://schemas.openxmlformats.org/drawingml/2006/table">
            <a:tbl>
              <a:tblPr/>
              <a:tblGrid>
                <a:gridCol w="1195754"/>
                <a:gridCol w="6477000"/>
                <a:gridCol w="990600"/>
              </a:tblGrid>
              <a:tr h="376986">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1000" b="1" i="0" u="none" strike="noStrike" cap="none" normalizeH="0" baseline="0" dirty="0" smtClean="0">
                          <a:ln>
                            <a:noFill/>
                          </a:ln>
                          <a:solidFill>
                            <a:schemeClr val="bg1"/>
                          </a:solidFill>
                          <a:effectLst/>
                          <a:latin typeface="Arial"/>
                          <a:cs typeface="Arial" pitchFamily="34" charset="0"/>
                        </a:rPr>
                        <a:t>Finding</a:t>
                      </a:r>
                      <a:endParaRPr kumimoji="0" lang="en-US" sz="900" b="1" i="0" u="none" strike="noStrike" cap="none" normalizeH="0" baseline="0" dirty="0" smtClean="0">
                        <a:ln>
                          <a:noFill/>
                        </a:ln>
                        <a:solidFill>
                          <a:schemeClr val="bg1"/>
                        </a:solidFill>
                        <a:effectLst/>
                        <a:latin typeface="Arial"/>
                        <a:cs typeface="Arial" pitchFamily="34" charset="0"/>
                      </a:endParaRP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Summary observations</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Reference</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r>
              <a:tr h="1474040">
                <a:tc>
                  <a:txBody>
                    <a:bodyPr/>
                    <a:lstStyle/>
                    <a:p>
                      <a:pPr marL="0" marR="0" lvl="0" indent="0" algn="l" defTabSz="762000" rtl="0" eaLnBrk="1" fontAlgn="base" latinLnBrk="0" hangingPunct="1">
                        <a:lnSpc>
                          <a:spcPct val="100000"/>
                        </a:lnSpc>
                        <a:spcBef>
                          <a:spcPts val="600"/>
                        </a:spcBef>
                        <a:spcAft>
                          <a:spcPct val="0"/>
                        </a:spcAft>
                        <a:buClrTx/>
                        <a:buSzTx/>
                        <a:buFontTx/>
                        <a:buNone/>
                        <a:tabLst/>
                        <a:defRPr/>
                      </a:pPr>
                      <a:r>
                        <a:rPr kumimoji="0" lang="en-US" sz="900" b="1" i="0" u="none" strike="noStrike" cap="none" normalizeH="0" baseline="0" dirty="0" smtClean="0">
                          <a:ln>
                            <a:noFill/>
                          </a:ln>
                          <a:solidFill>
                            <a:schemeClr val="accent4"/>
                          </a:solidFill>
                          <a:effectLst/>
                          <a:latin typeface="+mn-lt"/>
                          <a:cs typeface="Arial" pitchFamily="34" charset="0"/>
                        </a:rPr>
                        <a:t>Historical tax exposure</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228600" marR="0" lvl="2" indent="-228600" algn="l" defTabSz="914400" rtl="0" eaLnBrk="1" fontAlgn="auto" latinLnBrk="0" hangingPunct="1">
                        <a:lnSpc>
                          <a:spcPct val="100000"/>
                        </a:lnSpc>
                        <a:spcBef>
                          <a:spcPts val="600"/>
                        </a:spcBef>
                        <a:spcAft>
                          <a:spcPts val="0"/>
                        </a:spcAft>
                        <a:buClr>
                          <a:srgbClr val="97989A"/>
                        </a:buClr>
                        <a:buSzTx/>
                        <a:buFont typeface="+mj-lt"/>
                        <a:buAutoNum type="arabicPeriod"/>
                        <a:tabLst/>
                        <a:defRPr/>
                      </a:pPr>
                      <a:r>
                        <a:rPr lang="en-US" sz="900" kern="1200" noProof="0" dirty="0" smtClean="0">
                          <a:solidFill>
                            <a:schemeClr val="tx1"/>
                          </a:solidFill>
                          <a:latin typeface="+mn-lt"/>
                          <a:ea typeface="+mn-ea"/>
                          <a:cs typeface="Arial" pitchFamily="34" charset="0"/>
                        </a:rPr>
                        <a:t>The quantum of historical tax exposures is likely to be small because the Target has been relatively dormant during the extended statute period, i.e., </a:t>
                      </a:r>
                    </a:p>
                    <a:p>
                      <a:pPr marL="685800" marR="0" lvl="3" indent="-228600" algn="l" defTabSz="914400" rtl="0" eaLnBrk="1" fontAlgn="auto" latinLnBrk="0" hangingPunct="1">
                        <a:lnSpc>
                          <a:spcPct val="100000"/>
                        </a:lnSpc>
                        <a:spcBef>
                          <a:spcPts val="600"/>
                        </a:spcBef>
                        <a:spcAft>
                          <a:spcPts val="0"/>
                        </a:spcAft>
                        <a:buClr>
                          <a:srgbClr val="97989A"/>
                        </a:buClr>
                        <a:buSzTx/>
                        <a:buFont typeface="+mj-lt"/>
                        <a:buAutoNum type="alphaLcPeriod"/>
                        <a:tabLst/>
                        <a:defRPr/>
                      </a:pPr>
                      <a:r>
                        <a:rPr lang="en-US" sz="900" kern="1200" noProof="0" dirty="0" smtClean="0">
                          <a:solidFill>
                            <a:schemeClr val="tx1"/>
                          </a:solidFill>
                          <a:latin typeface="+mn-lt"/>
                          <a:ea typeface="+mn-ea"/>
                          <a:cs typeface="Arial" pitchFamily="34" charset="0"/>
                        </a:rPr>
                        <a:t>The Target only holds $25-50 million in assets (the remaining debt and equity assets of the “Antares platform” are owned by GECC or its subsidiaries), and </a:t>
                      </a:r>
                    </a:p>
                    <a:p>
                      <a:pPr marL="685800" marR="0" lvl="3" indent="-228600" algn="l" defTabSz="914400" rtl="0" eaLnBrk="1" fontAlgn="auto" latinLnBrk="0" hangingPunct="1">
                        <a:lnSpc>
                          <a:spcPct val="100000"/>
                        </a:lnSpc>
                        <a:spcBef>
                          <a:spcPts val="600"/>
                        </a:spcBef>
                        <a:spcAft>
                          <a:spcPts val="0"/>
                        </a:spcAft>
                        <a:buClr>
                          <a:srgbClr val="97989A"/>
                        </a:buClr>
                        <a:buSzTx/>
                        <a:buFont typeface="+mj-lt"/>
                        <a:buAutoNum type="alphaLcPeriod"/>
                        <a:tabLst/>
                        <a:defRPr/>
                      </a:pPr>
                      <a:r>
                        <a:rPr lang="en-US" sz="900" kern="1200" noProof="0" dirty="0" smtClean="0">
                          <a:solidFill>
                            <a:schemeClr val="tx1"/>
                          </a:solidFill>
                          <a:latin typeface="+mn-lt"/>
                          <a:ea typeface="+mn-ea"/>
                          <a:cs typeface="Arial" pitchFamily="34" charset="0"/>
                        </a:rPr>
                        <a:t>The</a:t>
                      </a:r>
                      <a:r>
                        <a:rPr lang="en-US" sz="900" kern="1200" baseline="0" noProof="0" dirty="0" smtClean="0">
                          <a:solidFill>
                            <a:schemeClr val="tx1"/>
                          </a:solidFill>
                          <a:latin typeface="+mn-lt"/>
                          <a:ea typeface="+mn-ea"/>
                          <a:cs typeface="Arial" pitchFamily="34" charset="0"/>
                        </a:rPr>
                        <a:t> </a:t>
                      </a:r>
                      <a:r>
                        <a:rPr lang="en-US" sz="900" kern="1200" noProof="0" dirty="0" smtClean="0">
                          <a:solidFill>
                            <a:schemeClr val="tx1"/>
                          </a:solidFill>
                          <a:latin typeface="+mn-lt"/>
                          <a:ea typeface="+mn-ea"/>
                          <a:cs typeface="Arial" pitchFamily="34" charset="0"/>
                        </a:rPr>
                        <a:t>Target has approx. 25 employees who assist in back office functions, including tax general compliance and financial reporting (the remaining individuals who work within the Antares platform are employed by GECC. </a:t>
                      </a:r>
                    </a:p>
                    <a:p>
                      <a:pPr marL="228600" marR="0" lvl="2" indent="-228600" algn="l" defTabSz="914400" rtl="0" eaLnBrk="1" fontAlgn="auto" latinLnBrk="0" hangingPunct="1">
                        <a:lnSpc>
                          <a:spcPct val="100000"/>
                        </a:lnSpc>
                        <a:spcBef>
                          <a:spcPts val="600"/>
                        </a:spcBef>
                        <a:spcAft>
                          <a:spcPts val="0"/>
                        </a:spcAft>
                        <a:buClr>
                          <a:srgbClr val="97989A"/>
                        </a:buClr>
                        <a:buSzTx/>
                        <a:buFont typeface="+mj-lt"/>
                        <a:buAutoNum type="arabicPeriod"/>
                        <a:tabLst/>
                        <a:defRPr/>
                      </a:pPr>
                      <a:r>
                        <a:rPr lang="en-US" sz="900" kern="1200" noProof="0" dirty="0" smtClean="0">
                          <a:solidFill>
                            <a:schemeClr val="tx1"/>
                          </a:solidFill>
                          <a:latin typeface="+mn-lt"/>
                          <a:ea typeface="+mn-ea"/>
                          <a:cs typeface="Arial" pitchFamily="34" charset="0"/>
                        </a:rPr>
                        <a:t>Moreover, Target Management has also stated that GE and GECC do not carry any tax reserves (FIN 48 or FAS 5) on their financial statements that pertain to Target.</a:t>
                      </a:r>
                    </a:p>
                    <a:p>
                      <a:pPr marL="228600" marR="0" lvl="2" indent="-228600" algn="l" defTabSz="914400" rtl="0" eaLnBrk="1" fontAlgn="auto" latinLnBrk="0" hangingPunct="1">
                        <a:lnSpc>
                          <a:spcPct val="100000"/>
                        </a:lnSpc>
                        <a:spcBef>
                          <a:spcPts val="600"/>
                        </a:spcBef>
                        <a:spcAft>
                          <a:spcPts val="0"/>
                        </a:spcAft>
                        <a:buClr>
                          <a:srgbClr val="97989A"/>
                        </a:buClr>
                        <a:buSzTx/>
                        <a:buFont typeface="+mj-lt"/>
                        <a:buAutoNum type="arabicPeriod"/>
                        <a:tabLst/>
                        <a:defRPr/>
                      </a:pPr>
                      <a:r>
                        <a:rPr lang="en-US" sz="900" kern="1200" noProof="0" dirty="0" smtClean="0">
                          <a:solidFill>
                            <a:schemeClr val="tx1"/>
                          </a:solidFill>
                          <a:latin typeface="+mn-lt"/>
                          <a:ea typeface="+mn-ea"/>
                          <a:cs typeface="Arial" pitchFamily="34" charset="0"/>
                        </a:rPr>
                        <a:t>We asked for </a:t>
                      </a:r>
                      <a:r>
                        <a:rPr lang="en-US" sz="900" b="0" kern="1200" noProof="0" dirty="0" smtClean="0">
                          <a:solidFill>
                            <a:schemeClr val="tx1"/>
                          </a:solidFill>
                          <a:latin typeface="+mn-lt"/>
                          <a:ea typeface="+mn-ea"/>
                          <a:cs typeface="Arial" pitchFamily="34" charset="0"/>
                        </a:rPr>
                        <a:t>Target’s tax provision and</a:t>
                      </a:r>
                      <a:r>
                        <a:rPr lang="en-US" sz="900" b="0" kern="1200" baseline="0" noProof="0" dirty="0" smtClean="0">
                          <a:solidFill>
                            <a:schemeClr val="tx1"/>
                          </a:solidFill>
                          <a:latin typeface="+mn-lt"/>
                          <a:ea typeface="+mn-ea"/>
                          <a:cs typeface="Arial" pitchFamily="34" charset="0"/>
                        </a:rPr>
                        <a:t> state apportionment calculations </a:t>
                      </a:r>
                      <a:r>
                        <a:rPr lang="en-US" sz="900" b="0" kern="1200" noProof="0" dirty="0" smtClean="0">
                          <a:solidFill>
                            <a:schemeClr val="tx1"/>
                          </a:solidFill>
                          <a:latin typeface="+mn-lt"/>
                          <a:ea typeface="+mn-ea"/>
                          <a:cs typeface="Arial" pitchFamily="34" charset="0"/>
                        </a:rPr>
                        <a:t>for purposes of confirming the statement’s of Target Management</a:t>
                      </a:r>
                      <a:r>
                        <a:rPr lang="en-US" sz="900" b="0" kern="1200" baseline="0" noProof="0" dirty="0" smtClean="0">
                          <a:solidFill>
                            <a:schemeClr val="tx1"/>
                          </a:solidFill>
                          <a:latin typeface="+mn-lt"/>
                          <a:ea typeface="+mn-ea"/>
                          <a:cs typeface="Arial" pitchFamily="34" charset="0"/>
                        </a:rPr>
                        <a:t> but have been told that separately stated calculations for Target do not exist.</a:t>
                      </a:r>
                      <a:endParaRPr lang="en-US" sz="900" b="0" kern="1200" noProof="0" dirty="0" smtClean="0">
                        <a:solidFill>
                          <a:schemeClr val="tx1"/>
                        </a:solidFill>
                        <a:latin typeface="+mn-lt"/>
                        <a:ea typeface="+mn-ea"/>
                        <a:cs typeface="Arial" pitchFamily="34" charset="0"/>
                      </a:endParaRP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Appendix 18</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r>
              <a:tr h="1474040">
                <a:tc>
                  <a:txBody>
                    <a:bodyPr/>
                    <a:lstStyle/>
                    <a:p>
                      <a:pPr marL="0" marR="0" lvl="0" indent="0" algn="l" defTabSz="762000" rtl="0" eaLnBrk="1" fontAlgn="base" latinLnBrk="0" hangingPunct="1">
                        <a:lnSpc>
                          <a:spcPct val="100000"/>
                        </a:lnSpc>
                        <a:spcBef>
                          <a:spcPts val="600"/>
                        </a:spcBef>
                        <a:spcAft>
                          <a:spcPct val="0"/>
                        </a:spcAft>
                        <a:buClrTx/>
                        <a:buSzTx/>
                        <a:buFontTx/>
                        <a:buNone/>
                        <a:tabLst/>
                        <a:defRPr/>
                      </a:pPr>
                      <a:r>
                        <a:rPr kumimoji="0" lang="en-US" sz="900" b="1" i="0" u="none" strike="noStrike" cap="none" normalizeH="0" baseline="0" dirty="0" smtClean="0">
                          <a:ln>
                            <a:noFill/>
                          </a:ln>
                          <a:solidFill>
                            <a:schemeClr val="accent4"/>
                          </a:solidFill>
                          <a:effectLst/>
                          <a:latin typeface="+mn-lt"/>
                          <a:cs typeface="Arial" pitchFamily="34" charset="0"/>
                        </a:rPr>
                        <a:t>Tax attributes &amp; deconsolidation</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228600" marR="0" lvl="2" indent="-228600" algn="l" defTabSz="914400" rtl="0" eaLnBrk="1" fontAlgn="auto" latinLnBrk="0" hangingPunct="1">
                        <a:lnSpc>
                          <a:spcPct val="100000"/>
                        </a:lnSpc>
                        <a:spcBef>
                          <a:spcPts val="600"/>
                        </a:spcBef>
                        <a:spcAft>
                          <a:spcPts val="0"/>
                        </a:spcAft>
                        <a:buClr>
                          <a:srgbClr val="97989A"/>
                        </a:buClr>
                        <a:buSzTx/>
                        <a:buFont typeface="+mj-lt"/>
                        <a:buAutoNum type="arabicPeriod"/>
                        <a:tabLst/>
                        <a:defRPr/>
                      </a:pPr>
                      <a:r>
                        <a:rPr lang="en-US" sz="900" kern="1200" dirty="0" smtClean="0">
                          <a:solidFill>
                            <a:schemeClr val="tx1"/>
                          </a:solidFill>
                          <a:latin typeface="+mn-lt"/>
                          <a:ea typeface="+mn-ea"/>
                          <a:cs typeface="Arial" pitchFamily="34" charset="0"/>
                        </a:rPr>
                        <a:t>Upon the acquisition of Target, Target will cease to be a member of the GE US tax consolidated group.  As a result, the tax attributes of the group, including group losses, should be distributed back to individual group members. </a:t>
                      </a:r>
                    </a:p>
                    <a:p>
                      <a:pPr marL="228600" marR="0" lvl="2" indent="-228600" algn="l" defTabSz="914400" rtl="0" eaLnBrk="1" fontAlgn="auto" latinLnBrk="0" hangingPunct="1">
                        <a:lnSpc>
                          <a:spcPct val="100000"/>
                        </a:lnSpc>
                        <a:spcBef>
                          <a:spcPts val="600"/>
                        </a:spcBef>
                        <a:spcAft>
                          <a:spcPts val="0"/>
                        </a:spcAft>
                        <a:buClr>
                          <a:srgbClr val="97989A"/>
                        </a:buClr>
                        <a:buSzTx/>
                        <a:buFont typeface="+mj-lt"/>
                        <a:buAutoNum type="arabicPeriod"/>
                        <a:tabLst/>
                        <a:defRPr/>
                      </a:pPr>
                      <a:r>
                        <a:rPr lang="en-US" sz="900" kern="1200" dirty="0" smtClean="0">
                          <a:solidFill>
                            <a:schemeClr val="tx1"/>
                          </a:solidFill>
                          <a:latin typeface="+mn-lt"/>
                          <a:ea typeface="+mn-ea"/>
                          <a:cs typeface="Arial" pitchFamily="34" charset="0"/>
                        </a:rPr>
                        <a:t>A determination of tax attributes separately allocable to Target post-acquisition will need to be made.  Although Target Management has represented that Target has no federal NOL carryovers, a small state NOL balance,</a:t>
                      </a:r>
                      <a:r>
                        <a:rPr lang="en-US" sz="900" kern="1200" baseline="0" dirty="0" smtClean="0">
                          <a:solidFill>
                            <a:schemeClr val="tx1"/>
                          </a:solidFill>
                          <a:latin typeface="+mn-lt"/>
                          <a:ea typeface="+mn-ea"/>
                          <a:cs typeface="Arial" pitchFamily="34" charset="0"/>
                        </a:rPr>
                        <a:t> no</a:t>
                      </a:r>
                      <a:r>
                        <a:rPr lang="en-US" sz="900" kern="1200" dirty="0" smtClean="0">
                          <a:solidFill>
                            <a:schemeClr val="tx1"/>
                          </a:solidFill>
                          <a:latin typeface="+mn-lt"/>
                          <a:ea typeface="+mn-ea"/>
                          <a:cs typeface="Arial" pitchFamily="34" charset="0"/>
                        </a:rPr>
                        <a:t> capital loss carryovers, and accumulated E&amp;P</a:t>
                      </a:r>
                      <a:r>
                        <a:rPr lang="en-US" sz="900" kern="1200" baseline="0" dirty="0" smtClean="0">
                          <a:solidFill>
                            <a:schemeClr val="tx1"/>
                          </a:solidFill>
                          <a:latin typeface="+mn-lt"/>
                          <a:ea typeface="+mn-ea"/>
                          <a:cs typeface="Arial" pitchFamily="34" charset="0"/>
                        </a:rPr>
                        <a:t> as at 12/31/14 of $19M, </a:t>
                      </a:r>
                      <a:r>
                        <a:rPr lang="en-US" sz="900" kern="1200" dirty="0" smtClean="0">
                          <a:solidFill>
                            <a:schemeClr val="tx1"/>
                          </a:solidFill>
                          <a:latin typeface="+mn-lt"/>
                          <a:ea typeface="+mn-ea"/>
                          <a:cs typeface="Arial" pitchFamily="34" charset="0"/>
                        </a:rPr>
                        <a:t>these representations should be confirmed prior to signing.</a:t>
                      </a:r>
                    </a:p>
                    <a:p>
                      <a:pPr marL="228600" marR="0" lvl="2" indent="-228600" algn="l" defTabSz="914400" rtl="0" eaLnBrk="1" fontAlgn="auto" latinLnBrk="0" hangingPunct="1">
                        <a:lnSpc>
                          <a:spcPct val="100000"/>
                        </a:lnSpc>
                        <a:spcBef>
                          <a:spcPts val="600"/>
                        </a:spcBef>
                        <a:spcAft>
                          <a:spcPts val="0"/>
                        </a:spcAft>
                        <a:buClr>
                          <a:srgbClr val="97989A"/>
                        </a:buClr>
                        <a:buSzTx/>
                        <a:buFont typeface="+mj-lt"/>
                        <a:buAutoNum type="arabicPeriod"/>
                        <a:tabLst/>
                        <a:defRPr/>
                      </a:pPr>
                      <a:r>
                        <a:rPr lang="en-US" sz="900" kern="1200" dirty="0" smtClean="0">
                          <a:solidFill>
                            <a:schemeClr val="tx1"/>
                          </a:solidFill>
                          <a:latin typeface="+mn-lt"/>
                          <a:ea typeface="+mn-ea"/>
                          <a:cs typeface="Arial" pitchFamily="34" charset="0"/>
                        </a:rPr>
                        <a:t>Target will be required to file a short-year tax return for federal and potentially state tax purposes for the period following its deconsolidation from the GE US tax consolidated group.</a:t>
                      </a:r>
                    </a:p>
                    <a:p>
                      <a:pPr marL="228600" marR="0" lvl="2" indent="-228600" algn="l" defTabSz="914400" rtl="0" eaLnBrk="1" fontAlgn="auto" latinLnBrk="0" hangingPunct="1">
                        <a:lnSpc>
                          <a:spcPct val="100000"/>
                        </a:lnSpc>
                        <a:spcBef>
                          <a:spcPts val="600"/>
                        </a:spcBef>
                        <a:spcAft>
                          <a:spcPts val="0"/>
                        </a:spcAft>
                        <a:buClr>
                          <a:srgbClr val="97989A"/>
                        </a:buClr>
                        <a:buSzTx/>
                        <a:buFont typeface="+mj-lt"/>
                        <a:buAutoNum type="arabicPeriod"/>
                        <a:tabLst/>
                        <a:defRPr/>
                      </a:pPr>
                      <a:r>
                        <a:rPr lang="en-US" sz="900" kern="1200" dirty="0" smtClean="0">
                          <a:solidFill>
                            <a:schemeClr val="tx1"/>
                          </a:solidFill>
                          <a:latin typeface="+mn-lt"/>
                          <a:ea typeface="+mn-ea"/>
                          <a:cs typeface="Arial" pitchFamily="34" charset="0"/>
                        </a:rPr>
                        <a:t>Target will remain liable for tax liabilities which relate to tax years in which Target was a member of the GE US consolidated tax group.  As discussed above, however, the quantum of historical tax exposures is likely to be small.</a:t>
                      </a:r>
                      <a:endParaRPr lang="en-US" sz="900" kern="1200" noProof="0" dirty="0" smtClean="0">
                        <a:solidFill>
                          <a:schemeClr val="tx1"/>
                        </a:solidFill>
                        <a:latin typeface="+mn-lt"/>
                        <a:ea typeface="+mn-ea"/>
                        <a:cs typeface="Arial" pitchFamily="34" charset="0"/>
                      </a:endParaRP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Appendix 18</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r>
            </a:tbl>
          </a:graphicData>
        </a:graphic>
      </p:graphicFrame>
      <p:sp>
        <p:nvSpPr>
          <p:cNvPr id="13" name="Title 3"/>
          <p:cNvSpPr>
            <a:spLocks noGrp="1"/>
          </p:cNvSpPr>
          <p:nvPr>
            <p:ph type="title"/>
          </p:nvPr>
        </p:nvSpPr>
        <p:spPr>
          <a:xfrm>
            <a:off x="2123728" y="116632"/>
            <a:ext cx="6768752" cy="576064"/>
          </a:xfrm>
        </p:spPr>
        <p:txBody>
          <a:bodyPr/>
          <a:lstStyle/>
          <a:p>
            <a:r>
              <a:rPr lang="en-US" sz="1400" b="0" dirty="0">
                <a:solidFill>
                  <a:srgbClr val="747678"/>
                </a:solidFill>
              </a:rPr>
              <a:t>Executive summary</a:t>
            </a:r>
            <a:r>
              <a:rPr lang="en-US" dirty="0" smtClean="0"/>
              <a:t/>
            </a:r>
            <a:br>
              <a:rPr lang="en-US" dirty="0" smtClean="0"/>
            </a:br>
            <a:r>
              <a:rPr lang="en-US" dirty="0" smtClean="0"/>
              <a:t>Key findings: tax (2)</a:t>
            </a:r>
            <a:endParaRPr lang="en-US" dirty="0"/>
          </a:p>
        </p:txBody>
      </p:sp>
    </p:spTree>
    <p:extLst>
      <p:ext uri="{BB962C8B-B14F-4D97-AF65-F5344CB8AC3E}">
        <p14:creationId xmlns:p14="http://schemas.microsoft.com/office/powerpoint/2010/main" val="283429186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3"/>
          <p:cNvGraphicFramePr>
            <a:graphicFrameLocks noGrp="1"/>
          </p:cNvGraphicFramePr>
          <p:nvPr>
            <p:extLst>
              <p:ext uri="{D42A27DB-BD31-4B8C-83A1-F6EECF244321}">
                <p14:modId xmlns:p14="http://schemas.microsoft.com/office/powerpoint/2010/main" val="2059422861"/>
              </p:ext>
            </p:extLst>
          </p:nvPr>
        </p:nvGraphicFramePr>
        <p:xfrm>
          <a:off x="252046" y="1219201"/>
          <a:ext cx="8663354" cy="4422013"/>
        </p:xfrm>
        <a:graphic>
          <a:graphicData uri="http://schemas.openxmlformats.org/drawingml/2006/table">
            <a:tbl>
              <a:tblPr/>
              <a:tblGrid>
                <a:gridCol w="1043354"/>
                <a:gridCol w="6629400"/>
                <a:gridCol w="990600"/>
              </a:tblGrid>
              <a:tr h="319813">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1000" b="1" i="0" u="none" strike="noStrike" cap="none" normalizeH="0" baseline="0" dirty="0" smtClean="0">
                          <a:ln>
                            <a:noFill/>
                          </a:ln>
                          <a:solidFill>
                            <a:schemeClr val="bg1"/>
                          </a:solidFill>
                          <a:effectLst/>
                          <a:latin typeface="Arial"/>
                          <a:cs typeface="Arial" pitchFamily="34" charset="0"/>
                        </a:rPr>
                        <a:t>Finding</a:t>
                      </a:r>
                      <a:endParaRPr kumimoji="0" lang="en-US" sz="900" b="1" i="0" u="none" strike="noStrike" cap="none" normalizeH="0" baseline="0" dirty="0" smtClean="0">
                        <a:ln>
                          <a:noFill/>
                        </a:ln>
                        <a:solidFill>
                          <a:schemeClr val="bg1"/>
                        </a:solidFill>
                        <a:effectLst/>
                        <a:latin typeface="Arial"/>
                        <a:cs typeface="Arial" pitchFamily="34" charset="0"/>
                      </a:endParaRP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Summary observations</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Reference</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r>
              <a:tr h="1527138">
                <a:tc>
                  <a:txBody>
                    <a:bodyPr/>
                    <a:lstStyle/>
                    <a:p>
                      <a:pPr marL="0" marR="0" lvl="0" indent="0" algn="l" defTabSz="762000" rtl="0" eaLnBrk="1" fontAlgn="base" latinLnBrk="0" hangingPunct="1">
                        <a:lnSpc>
                          <a:spcPct val="100000"/>
                        </a:lnSpc>
                        <a:spcBef>
                          <a:spcPts val="600"/>
                        </a:spcBef>
                        <a:spcAft>
                          <a:spcPct val="0"/>
                        </a:spcAft>
                        <a:buClrTx/>
                        <a:buSzTx/>
                        <a:buFontTx/>
                        <a:buNone/>
                        <a:tabLst/>
                        <a:defRPr/>
                      </a:pPr>
                      <a:r>
                        <a:rPr kumimoji="0" lang="en-US" sz="900" b="1" i="0" u="none" strike="noStrike" cap="none" normalizeH="0" baseline="0" dirty="0" smtClean="0">
                          <a:ln>
                            <a:noFill/>
                          </a:ln>
                          <a:solidFill>
                            <a:schemeClr val="accent4"/>
                          </a:solidFill>
                          <a:effectLst/>
                          <a:latin typeface="+mn-lt"/>
                          <a:cs typeface="Arial" pitchFamily="34" charset="0"/>
                        </a:rPr>
                        <a:t>Tax function &amp; transition services agreement </a:t>
                      </a:r>
                    </a:p>
                    <a:p>
                      <a:pPr marL="0" marR="0" lvl="0" indent="0" algn="l" defTabSz="762000" rtl="0" eaLnBrk="1" fontAlgn="base" latinLnBrk="0" hangingPunct="1">
                        <a:lnSpc>
                          <a:spcPct val="100000"/>
                        </a:lnSpc>
                        <a:spcBef>
                          <a:spcPts val="600"/>
                        </a:spcBef>
                        <a:spcAft>
                          <a:spcPct val="0"/>
                        </a:spcAft>
                        <a:buClrTx/>
                        <a:buSzTx/>
                        <a:buFontTx/>
                        <a:buNone/>
                        <a:tabLst/>
                        <a:defRPr/>
                      </a:pPr>
                      <a:endParaRPr kumimoji="0" lang="en-US" sz="900" b="1" i="0" u="none" strike="noStrike" cap="none" normalizeH="0" baseline="0" dirty="0" smtClean="0">
                        <a:ln>
                          <a:noFill/>
                        </a:ln>
                        <a:solidFill>
                          <a:schemeClr val="accent4"/>
                        </a:solidFill>
                        <a:effectLst/>
                        <a:latin typeface="+mn-lt"/>
                        <a:cs typeface="Arial" pitchFamily="34" charset="0"/>
                      </a:endParaRP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228600" marR="0" lvl="2" indent="-228600" algn="l" defTabSz="914400" rtl="0" eaLnBrk="1" fontAlgn="auto" latinLnBrk="0" hangingPunct="1">
                        <a:lnSpc>
                          <a:spcPct val="100000"/>
                        </a:lnSpc>
                        <a:spcBef>
                          <a:spcPts val="600"/>
                        </a:spcBef>
                        <a:spcAft>
                          <a:spcPts val="0"/>
                        </a:spcAft>
                        <a:buClr>
                          <a:srgbClr val="97989A"/>
                        </a:buClr>
                        <a:buSzTx/>
                        <a:buFont typeface="+mj-lt"/>
                        <a:buAutoNum type="arabicPeriod"/>
                        <a:tabLst/>
                        <a:defRPr/>
                      </a:pPr>
                      <a:r>
                        <a:rPr kumimoji="0" lang="en-US" sz="900" b="0" i="0" u="none" strike="noStrike" kern="1200" cap="none" spc="0" normalizeH="0" baseline="0" noProof="0" dirty="0" smtClean="0">
                          <a:ln>
                            <a:noFill/>
                          </a:ln>
                          <a:solidFill>
                            <a:schemeClr val="tx1"/>
                          </a:solidFill>
                          <a:effectLst/>
                          <a:uLnTx/>
                          <a:uFillTx/>
                          <a:latin typeface="+mn-lt"/>
                          <a:ea typeface="+mn-ea"/>
                          <a:cs typeface="Arial" pitchFamily="34" charset="0"/>
                        </a:rPr>
                        <a:t>Although the Target has approx. 25 back office professionals that include individuals that assist with tax compliance, these individuals focus primarily on federal income tax issues.  Affiliates of GECC provide the tax compliance and reporting support to the Target in areas such as state income and franchise taxes; indirect state taxes, payroll taxes, and withholding taxes and information reporting.</a:t>
                      </a:r>
                    </a:p>
                    <a:p>
                      <a:pPr marL="228600" marR="0" lvl="2" indent="-228600" algn="l" defTabSz="914400" rtl="0" eaLnBrk="1" fontAlgn="auto" latinLnBrk="0" hangingPunct="1">
                        <a:lnSpc>
                          <a:spcPct val="100000"/>
                        </a:lnSpc>
                        <a:spcBef>
                          <a:spcPts val="600"/>
                        </a:spcBef>
                        <a:spcAft>
                          <a:spcPts val="0"/>
                        </a:spcAft>
                        <a:buClr>
                          <a:srgbClr val="97989A"/>
                        </a:buClr>
                        <a:buSzTx/>
                        <a:buFont typeface="+mj-lt"/>
                        <a:buAutoNum type="arabicPeriod"/>
                        <a:tabLst/>
                        <a:defRPr/>
                      </a:pPr>
                      <a:r>
                        <a:rPr kumimoji="0" lang="en-US" sz="900" b="0" i="0" u="none" strike="noStrike" kern="1200" cap="none" spc="0" normalizeH="0" baseline="0" noProof="0" dirty="0" smtClean="0">
                          <a:ln>
                            <a:noFill/>
                          </a:ln>
                          <a:solidFill>
                            <a:schemeClr val="tx1"/>
                          </a:solidFill>
                          <a:effectLst/>
                          <a:uLnTx/>
                          <a:uFillTx/>
                          <a:latin typeface="+mn-lt"/>
                          <a:ea typeface="+mn-ea"/>
                          <a:cs typeface="Arial" pitchFamily="34" charset="0"/>
                        </a:rPr>
                        <a:t>Until suitable internal or external resources can be located, it will be critical to the smooth transition of this acquisition that a transition services agreement covering the full profile of tax compliance and reporting functions not available within the Target is negotiated and concluded.</a:t>
                      </a:r>
                    </a:p>
                    <a:p>
                      <a:pPr marL="228600" marR="0" lvl="2" indent="-228600" algn="l" defTabSz="914400" rtl="0" eaLnBrk="1" fontAlgn="auto" latinLnBrk="0" hangingPunct="1">
                        <a:lnSpc>
                          <a:spcPct val="100000"/>
                        </a:lnSpc>
                        <a:spcBef>
                          <a:spcPts val="600"/>
                        </a:spcBef>
                        <a:spcAft>
                          <a:spcPts val="0"/>
                        </a:spcAft>
                        <a:buClr>
                          <a:srgbClr val="97989A"/>
                        </a:buClr>
                        <a:buSzTx/>
                        <a:buFont typeface="+mj-lt"/>
                        <a:buAutoNum type="arabicPeriod"/>
                        <a:tabLst/>
                        <a:defRPr/>
                      </a:pPr>
                      <a:r>
                        <a:rPr kumimoji="0" lang="en-US" sz="900" b="0" i="0" u="none" strike="noStrike" kern="1200" cap="none" spc="0" normalizeH="0" baseline="0" noProof="0" dirty="0" smtClean="0">
                          <a:ln>
                            <a:noFill/>
                          </a:ln>
                          <a:solidFill>
                            <a:schemeClr val="tx1"/>
                          </a:solidFill>
                          <a:effectLst/>
                          <a:uLnTx/>
                          <a:uFillTx/>
                          <a:latin typeface="+mn-lt"/>
                          <a:ea typeface="+mn-ea"/>
                          <a:cs typeface="Arial" pitchFamily="34" charset="0"/>
                        </a:rPr>
                        <a:t>The transition services agreement should also cover the quantum of historical information CPPIB will receive at acquisition and sufficient access to historical records and resources within GE, GECC, or their affiliates to support any defense of an income or indirect tax audit for federal and state tax purposes.</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Appendix 18</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r>
              <a:tr h="1626963">
                <a:tc>
                  <a:txBody>
                    <a:bodyPr/>
                    <a:lstStyle/>
                    <a:p>
                      <a:pPr marL="0" marR="0" lvl="0" indent="0" algn="l" defTabSz="762000" rtl="0" eaLnBrk="1" fontAlgn="base" latinLnBrk="0" hangingPunct="1">
                        <a:lnSpc>
                          <a:spcPct val="100000"/>
                        </a:lnSpc>
                        <a:spcBef>
                          <a:spcPts val="600"/>
                        </a:spcBef>
                        <a:spcAft>
                          <a:spcPct val="0"/>
                        </a:spcAft>
                        <a:buClrTx/>
                        <a:buSzTx/>
                        <a:buFontTx/>
                        <a:buNone/>
                        <a:tabLst/>
                        <a:defRPr/>
                      </a:pPr>
                      <a:r>
                        <a:rPr kumimoji="0" lang="en-US" sz="900" b="1" i="0" u="none" strike="noStrike" cap="none" normalizeH="0" baseline="0" dirty="0" smtClean="0">
                          <a:ln>
                            <a:noFill/>
                          </a:ln>
                          <a:solidFill>
                            <a:schemeClr val="accent4"/>
                          </a:solidFill>
                          <a:effectLst/>
                          <a:latin typeface="+mn-lt"/>
                          <a:cs typeface="Arial" pitchFamily="34" charset="0"/>
                        </a:rPr>
                        <a:t>Debt/Equity and FIRPTA</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228600" marR="0" lvl="3" indent="-228600" algn="l" defTabSz="914400" rtl="0" eaLnBrk="1" fontAlgn="auto" latinLnBrk="0" hangingPunct="1">
                        <a:lnSpc>
                          <a:spcPct val="100000"/>
                        </a:lnSpc>
                        <a:spcBef>
                          <a:spcPts val="600"/>
                        </a:spcBef>
                        <a:spcAft>
                          <a:spcPts val="0"/>
                        </a:spcAft>
                        <a:buClr>
                          <a:srgbClr val="97989A"/>
                        </a:buClr>
                        <a:buSzTx/>
                        <a:buFont typeface="+mj-lt"/>
                        <a:buAutoNum type="arabicPeriod"/>
                        <a:tabLst/>
                        <a:defRPr/>
                      </a:pPr>
                      <a:r>
                        <a:rPr kumimoji="0" lang="en-US" sz="900" b="0" i="0" u="none" strike="noStrike" kern="1200" cap="none" spc="0" normalizeH="0" baseline="0" noProof="0" dirty="0" smtClean="0">
                          <a:ln>
                            <a:noFill/>
                          </a:ln>
                          <a:solidFill>
                            <a:schemeClr val="tx1"/>
                          </a:solidFill>
                          <a:effectLst/>
                          <a:uLnTx/>
                          <a:uFillTx/>
                          <a:latin typeface="+mn-lt"/>
                          <a:ea typeface="+mn-ea"/>
                          <a:cs typeface="Arial" pitchFamily="34" charset="0"/>
                        </a:rPr>
                        <a:t>If CII 4 or Holdco were to purchase debt investments that were treated as equity for US tax purposes and that equity was held in a partnership that was engaged in a US trade or business (“USTB”), CII 4 would be subject to tax on income from that investment in the US on a net basis.  </a:t>
                      </a:r>
                    </a:p>
                    <a:p>
                      <a:pPr marL="228600" marR="0" lvl="3" indent="-228600" algn="l" defTabSz="914400" rtl="0" eaLnBrk="1" fontAlgn="auto" latinLnBrk="0" hangingPunct="1">
                        <a:lnSpc>
                          <a:spcPct val="100000"/>
                        </a:lnSpc>
                        <a:spcBef>
                          <a:spcPts val="600"/>
                        </a:spcBef>
                        <a:spcAft>
                          <a:spcPts val="0"/>
                        </a:spcAft>
                        <a:buClr>
                          <a:srgbClr val="97989A"/>
                        </a:buClr>
                        <a:buSzTx/>
                        <a:buFont typeface="+mj-lt"/>
                        <a:buAutoNum type="arabicPeriod"/>
                        <a:tabLst/>
                        <a:defRPr/>
                      </a:pPr>
                      <a:r>
                        <a:rPr kumimoji="0" lang="en-US" sz="900" b="0" i="0" u="none" strike="noStrike" kern="1200" cap="none" spc="0" normalizeH="0" baseline="0" noProof="0" dirty="0" smtClean="0">
                          <a:ln>
                            <a:noFill/>
                          </a:ln>
                          <a:solidFill>
                            <a:schemeClr val="tx1"/>
                          </a:solidFill>
                          <a:effectLst/>
                          <a:uLnTx/>
                          <a:uFillTx/>
                          <a:latin typeface="+mn-lt"/>
                          <a:ea typeface="+mn-ea"/>
                          <a:cs typeface="Arial" pitchFamily="34" charset="0"/>
                        </a:rPr>
                        <a:t>In addition, if the interest on any loans is tied to the profits or appreciation in value of US real estate the loan should be treated as a FIRPTA asset and US net basis taxation may result on any gain on sale or modification of the debt.   </a:t>
                      </a:r>
                    </a:p>
                    <a:p>
                      <a:pPr marL="228600" marR="0" lvl="3" indent="-228600" algn="l" defTabSz="914400" rtl="0" eaLnBrk="1" fontAlgn="auto" latinLnBrk="0" hangingPunct="1">
                        <a:lnSpc>
                          <a:spcPct val="100000"/>
                        </a:lnSpc>
                        <a:spcBef>
                          <a:spcPts val="600"/>
                        </a:spcBef>
                        <a:spcAft>
                          <a:spcPts val="0"/>
                        </a:spcAft>
                        <a:buClr>
                          <a:srgbClr val="97989A"/>
                        </a:buClr>
                        <a:buSzTx/>
                        <a:buFont typeface="+mj-lt"/>
                        <a:buAutoNum type="arabicPeriod"/>
                        <a:tabLst/>
                        <a:defRPr/>
                      </a:pPr>
                      <a:r>
                        <a:rPr kumimoji="0" lang="en-US" sz="900" b="0" i="0" u="none" strike="noStrike" kern="1200" cap="none" spc="0" normalizeH="0" baseline="0" noProof="0" dirty="0" smtClean="0">
                          <a:ln>
                            <a:noFill/>
                          </a:ln>
                          <a:solidFill>
                            <a:schemeClr val="tx1"/>
                          </a:solidFill>
                          <a:effectLst/>
                          <a:uLnTx/>
                          <a:uFillTx/>
                          <a:latin typeface="+mn-lt"/>
                          <a:ea typeface="+mn-ea"/>
                          <a:cs typeface="Arial" pitchFamily="34" charset="0"/>
                        </a:rPr>
                        <a:t>If such loans are to be purchased, it may be more suitable to have them be purchased by a new US C Corporation (“Blocker”) to mitigate any risk to CII 4. </a:t>
                      </a:r>
                    </a:p>
                    <a:p>
                      <a:pPr marL="228600" marR="0" lvl="3" indent="-228600" algn="l" defTabSz="914400" rtl="0" eaLnBrk="1" fontAlgn="auto" latinLnBrk="0" hangingPunct="1">
                        <a:lnSpc>
                          <a:spcPct val="100000"/>
                        </a:lnSpc>
                        <a:spcBef>
                          <a:spcPts val="600"/>
                        </a:spcBef>
                        <a:spcAft>
                          <a:spcPts val="0"/>
                        </a:spcAft>
                        <a:buClr>
                          <a:srgbClr val="97989A"/>
                        </a:buClr>
                        <a:buSzTx/>
                        <a:buFont typeface="+mj-lt"/>
                        <a:buAutoNum type="arabicPeriod"/>
                        <a:tabLst/>
                        <a:defRPr/>
                      </a:pPr>
                      <a:r>
                        <a:rPr kumimoji="0" lang="en-US" sz="900" b="0" i="0" u="none" strike="noStrike" kern="1200" cap="none" spc="0" normalizeH="0" baseline="0" noProof="0" dirty="0" smtClean="0">
                          <a:ln>
                            <a:noFill/>
                          </a:ln>
                          <a:solidFill>
                            <a:schemeClr val="tx1"/>
                          </a:solidFill>
                          <a:effectLst/>
                          <a:uLnTx/>
                          <a:uFillTx/>
                          <a:latin typeface="+mn-lt"/>
                          <a:ea typeface="+mn-ea"/>
                          <a:cs typeface="Arial" pitchFamily="34" charset="0"/>
                        </a:rPr>
                        <a:t>Based on our review, the nature of the debt investments to be acquired are unlikely to cause a concern that such investments should be treated as equity for US federal income tax purposes. In addition, the nature and quantum of the debt investments do not appear to create any material FIRPTA risk, e.g., </a:t>
                      </a:r>
                      <a:r>
                        <a:rPr lang="en-US" sz="900" dirty="0" smtClean="0">
                          <a:cs typeface="Arial" pitchFamily="34" charset="0"/>
                        </a:rPr>
                        <a:t>approx. 0.8% of the Target’s investment portfolio (debt and equity) relates to investments in finance, insurance, and real estate combined.  </a:t>
                      </a:r>
                    </a:p>
                    <a:p>
                      <a:pPr marL="228600" marR="0" lvl="3" indent="-228600" algn="l" defTabSz="914400" rtl="0" eaLnBrk="1" fontAlgn="auto" latinLnBrk="0" hangingPunct="1">
                        <a:lnSpc>
                          <a:spcPct val="100000"/>
                        </a:lnSpc>
                        <a:spcBef>
                          <a:spcPts val="600"/>
                        </a:spcBef>
                        <a:spcAft>
                          <a:spcPts val="0"/>
                        </a:spcAft>
                        <a:buClr>
                          <a:srgbClr val="97989A"/>
                        </a:buClr>
                        <a:buSzTx/>
                        <a:buFont typeface="+mj-lt"/>
                        <a:buAutoNum type="arabicPeriod"/>
                        <a:tabLst/>
                        <a:defRPr/>
                      </a:pPr>
                      <a:r>
                        <a:rPr kumimoji="0" lang="en-US" sz="900" b="0" i="0" u="none" strike="noStrike" kern="1200" cap="none" spc="0" normalizeH="0" baseline="0" noProof="0" dirty="0" smtClean="0">
                          <a:ln>
                            <a:noFill/>
                          </a:ln>
                          <a:solidFill>
                            <a:schemeClr val="tx1"/>
                          </a:solidFill>
                          <a:effectLst/>
                          <a:uLnTx/>
                          <a:uFillTx/>
                          <a:latin typeface="+mn-lt"/>
                          <a:ea typeface="+mn-ea"/>
                          <a:cs typeface="Arial" pitchFamily="34" charset="0"/>
                        </a:rPr>
                        <a:t>Target Management has represented that none of the targeted debt investments contain terms that may cause the investment to be at risk of not being treated as debt for US tax purposes.  Moreover, Target Management has represented that to the best of its knowledge, none of the debt investments provide a right to share in appreciation of or profits from US real estate.  We recommend that these representations be confirmed prior to signing.   </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Appendices 9 and 18</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r>
            </a:tbl>
          </a:graphicData>
        </a:graphic>
      </p:graphicFrame>
      <p:sp>
        <p:nvSpPr>
          <p:cNvPr id="13" name="Title 3"/>
          <p:cNvSpPr>
            <a:spLocks noGrp="1"/>
          </p:cNvSpPr>
          <p:nvPr>
            <p:ph type="title"/>
          </p:nvPr>
        </p:nvSpPr>
        <p:spPr>
          <a:xfrm>
            <a:off x="2123728" y="116632"/>
            <a:ext cx="6768752" cy="576064"/>
          </a:xfrm>
        </p:spPr>
        <p:txBody>
          <a:bodyPr/>
          <a:lstStyle/>
          <a:p>
            <a:r>
              <a:rPr lang="en-US" sz="1400" b="0" dirty="0">
                <a:solidFill>
                  <a:srgbClr val="747678"/>
                </a:solidFill>
              </a:rPr>
              <a:t>Executive summary</a:t>
            </a:r>
            <a:r>
              <a:rPr lang="en-US" dirty="0" smtClean="0"/>
              <a:t/>
            </a:r>
            <a:br>
              <a:rPr lang="en-US" dirty="0" smtClean="0"/>
            </a:br>
            <a:r>
              <a:rPr lang="en-US" dirty="0" smtClean="0"/>
              <a:t>Key findings: tax (3)</a:t>
            </a:r>
            <a:endParaRPr lang="en-US" dirty="0"/>
          </a:p>
        </p:txBody>
      </p:sp>
    </p:spTree>
    <p:extLst>
      <p:ext uri="{BB962C8B-B14F-4D97-AF65-F5344CB8AC3E}">
        <p14:creationId xmlns:p14="http://schemas.microsoft.com/office/powerpoint/2010/main" val="125247059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3"/>
          <p:cNvGraphicFramePr>
            <a:graphicFrameLocks noGrp="1"/>
          </p:cNvGraphicFramePr>
          <p:nvPr>
            <p:extLst>
              <p:ext uri="{D42A27DB-BD31-4B8C-83A1-F6EECF244321}">
                <p14:modId xmlns:p14="http://schemas.microsoft.com/office/powerpoint/2010/main" val="2612656906"/>
              </p:ext>
            </p:extLst>
          </p:nvPr>
        </p:nvGraphicFramePr>
        <p:xfrm>
          <a:off x="252046" y="1079627"/>
          <a:ext cx="8663354" cy="5168773"/>
        </p:xfrm>
        <a:graphic>
          <a:graphicData uri="http://schemas.openxmlformats.org/drawingml/2006/table">
            <a:tbl>
              <a:tblPr/>
              <a:tblGrid>
                <a:gridCol w="1043354"/>
                <a:gridCol w="6629400"/>
                <a:gridCol w="990600"/>
              </a:tblGrid>
              <a:tr h="318029">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1000" b="1" i="0" u="none" strike="noStrike" cap="none" normalizeH="0" baseline="0" dirty="0" smtClean="0">
                          <a:ln>
                            <a:noFill/>
                          </a:ln>
                          <a:solidFill>
                            <a:schemeClr val="bg1"/>
                          </a:solidFill>
                          <a:effectLst/>
                          <a:latin typeface="Arial"/>
                          <a:cs typeface="Arial" pitchFamily="34" charset="0"/>
                        </a:rPr>
                        <a:t>Finding</a:t>
                      </a:r>
                      <a:endParaRPr kumimoji="0" lang="en-US" sz="900" b="1" i="0" u="none" strike="noStrike" cap="none" normalizeH="0" baseline="0" dirty="0" smtClean="0">
                        <a:ln>
                          <a:noFill/>
                        </a:ln>
                        <a:solidFill>
                          <a:schemeClr val="bg1"/>
                        </a:solidFill>
                        <a:effectLst/>
                        <a:latin typeface="Arial"/>
                        <a:cs typeface="Arial" pitchFamily="34" charset="0"/>
                      </a:endParaRP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Summary observations</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1000" b="1" i="0" u="none" strike="noStrike" kern="1200" cap="none" spc="0" normalizeH="0" baseline="0" noProof="0" dirty="0" smtClean="0">
                          <a:ln>
                            <a:noFill/>
                          </a:ln>
                          <a:solidFill>
                            <a:schemeClr val="bg1"/>
                          </a:solidFill>
                          <a:effectLst/>
                          <a:uLnTx/>
                          <a:uFillTx/>
                          <a:latin typeface="Arial"/>
                          <a:ea typeface="+mn-ea"/>
                          <a:cs typeface="Arial" pitchFamily="34" charset="0"/>
                        </a:rPr>
                        <a:t>Reference</a:t>
                      </a:r>
                    </a:p>
                  </a:txBody>
                  <a:tcPr marL="54000" marR="54000" marT="54000" marB="54000" anchor="ctr"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r>
              <a:tr h="2456417">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900" b="1" i="0" u="none" strike="noStrike" cap="none" normalizeH="0" baseline="0" dirty="0" smtClean="0">
                          <a:ln>
                            <a:noFill/>
                          </a:ln>
                          <a:solidFill>
                            <a:schemeClr val="accent4"/>
                          </a:solidFill>
                          <a:effectLst/>
                          <a:latin typeface="+mn-lt"/>
                          <a:cs typeface="Arial" pitchFamily="34" charset="0"/>
                        </a:rPr>
                        <a:t>Equity investments</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228600" marR="0" lvl="3" indent="-228600" algn="l" defTabSz="914400" rtl="0" eaLnBrk="1" fontAlgn="auto" latinLnBrk="0" hangingPunct="1">
                        <a:lnSpc>
                          <a:spcPct val="100000"/>
                        </a:lnSpc>
                        <a:spcBef>
                          <a:spcPts val="600"/>
                        </a:spcBef>
                        <a:spcAft>
                          <a:spcPts val="0"/>
                        </a:spcAft>
                        <a:buClr>
                          <a:srgbClr val="97989A"/>
                        </a:buClr>
                        <a:buSzTx/>
                        <a:buFont typeface="+mj-lt"/>
                        <a:buAutoNum type="arabicPeriod"/>
                        <a:tabLst/>
                        <a:defRPr/>
                      </a:pPr>
                      <a:r>
                        <a:rPr kumimoji="0" lang="en-US" sz="900" b="0" i="0" u="none" strike="noStrike" kern="1200" cap="none" spc="0" normalizeH="0" baseline="0" noProof="0" dirty="0" smtClean="0">
                          <a:ln>
                            <a:noFill/>
                          </a:ln>
                          <a:solidFill>
                            <a:schemeClr val="tx1"/>
                          </a:solidFill>
                          <a:effectLst/>
                          <a:uLnTx/>
                          <a:uFillTx/>
                          <a:latin typeface="+mn-lt"/>
                          <a:ea typeface="+mn-ea"/>
                          <a:cs typeface="Arial" pitchFamily="34" charset="0"/>
                        </a:rPr>
                        <a:t>GECC and its affiliates sometimes acquire equity investments (i.e., “Equity Tags”) in connection with loans that they originate to portfolio companies.  The Equity Tags typically represent a very small stake in the portfolio company, but as noted in the VDR, some may exceed 30% of the company’s equity.</a:t>
                      </a:r>
                    </a:p>
                    <a:p>
                      <a:pPr marL="228600" marR="0" lvl="3" indent="-228600" algn="l" defTabSz="914400" rtl="0" eaLnBrk="1" fontAlgn="auto" latinLnBrk="0" hangingPunct="1">
                        <a:lnSpc>
                          <a:spcPct val="100000"/>
                        </a:lnSpc>
                        <a:spcBef>
                          <a:spcPts val="600"/>
                        </a:spcBef>
                        <a:spcAft>
                          <a:spcPts val="0"/>
                        </a:spcAft>
                        <a:buClr>
                          <a:srgbClr val="97989A"/>
                        </a:buClr>
                        <a:buSzTx/>
                        <a:buFont typeface="+mj-lt"/>
                        <a:buAutoNum type="arabicPeriod"/>
                        <a:tabLst/>
                        <a:defRPr/>
                      </a:pPr>
                      <a:r>
                        <a:rPr kumimoji="0" lang="en-US" sz="900" b="0" i="0" u="none" strike="noStrike" kern="1200" cap="none" spc="0" normalizeH="0" baseline="0" noProof="0" dirty="0" smtClean="0">
                          <a:ln>
                            <a:noFill/>
                          </a:ln>
                          <a:solidFill>
                            <a:schemeClr val="tx1"/>
                          </a:solidFill>
                          <a:effectLst/>
                          <a:uLnTx/>
                          <a:uFillTx/>
                          <a:latin typeface="+mn-lt"/>
                          <a:ea typeface="+mn-ea"/>
                          <a:cs typeface="Arial" pitchFamily="34" charset="0"/>
                        </a:rPr>
                        <a:t>To the extent that any Equity Tag is in a company that is a partnership (i.e., pass-through) for US tax purposes which could give rise to US PE concerns for CII and CII 4, then such Equity Tags should be sold to Blocker, a US corporation, which will prevent attribution of the activities of the portfolio company to CII and CII 4.</a:t>
                      </a:r>
                    </a:p>
                    <a:p>
                      <a:pPr marL="228600" marR="0" lvl="3" indent="-228600" algn="l" defTabSz="914400" rtl="0" eaLnBrk="1" fontAlgn="auto" latinLnBrk="0" hangingPunct="1">
                        <a:lnSpc>
                          <a:spcPct val="100000"/>
                        </a:lnSpc>
                        <a:spcBef>
                          <a:spcPts val="600"/>
                        </a:spcBef>
                        <a:spcAft>
                          <a:spcPts val="0"/>
                        </a:spcAft>
                        <a:buClr>
                          <a:srgbClr val="97989A"/>
                        </a:buClr>
                        <a:buSzTx/>
                        <a:buFont typeface="+mj-lt"/>
                        <a:buAutoNum type="arabicPeriod"/>
                        <a:tabLst/>
                        <a:defRPr/>
                      </a:pPr>
                      <a:r>
                        <a:rPr kumimoji="0" lang="en-US" sz="900" b="0" i="0" u="none" strike="noStrike" kern="1200" cap="none" spc="0" normalizeH="0" baseline="0" noProof="0" dirty="0" smtClean="0">
                          <a:ln>
                            <a:noFill/>
                          </a:ln>
                          <a:solidFill>
                            <a:schemeClr val="tx1"/>
                          </a:solidFill>
                          <a:effectLst/>
                          <a:uLnTx/>
                          <a:uFillTx/>
                          <a:latin typeface="+mn-lt"/>
                          <a:ea typeface="+mn-ea"/>
                          <a:cs typeface="Arial" pitchFamily="34" charset="0"/>
                        </a:rPr>
                        <a:t>To the extent that the Equity Tags represent a 30% or greater interest in a portfolio company, appropriate structuring will be required to ensure that CPPIB complies with the 30% rule.</a:t>
                      </a:r>
                    </a:p>
                    <a:p>
                      <a:pPr marL="228600" marR="0" lvl="3" indent="-228600" algn="l" defTabSz="914400" rtl="0" eaLnBrk="1" fontAlgn="auto" latinLnBrk="0" hangingPunct="1">
                        <a:lnSpc>
                          <a:spcPct val="100000"/>
                        </a:lnSpc>
                        <a:spcBef>
                          <a:spcPts val="600"/>
                        </a:spcBef>
                        <a:spcAft>
                          <a:spcPts val="0"/>
                        </a:spcAft>
                        <a:buClr>
                          <a:srgbClr val="97989A"/>
                        </a:buClr>
                        <a:buSzTx/>
                        <a:buFont typeface="+mj-lt"/>
                        <a:buAutoNum type="arabicPeriod"/>
                        <a:tabLst/>
                        <a:defRPr/>
                      </a:pPr>
                      <a:r>
                        <a:rPr kumimoji="0" lang="en-US" sz="900" b="0" i="0" u="none" strike="noStrike" kern="1200" cap="none" spc="0" normalizeH="0" baseline="0" noProof="0" dirty="0" smtClean="0">
                          <a:ln>
                            <a:noFill/>
                          </a:ln>
                          <a:solidFill>
                            <a:schemeClr val="tx1"/>
                          </a:solidFill>
                          <a:effectLst/>
                          <a:uLnTx/>
                          <a:uFillTx/>
                          <a:latin typeface="+mn-lt"/>
                          <a:ea typeface="+mn-ea"/>
                          <a:cs typeface="Arial" pitchFamily="34" charset="0"/>
                        </a:rPr>
                        <a:t>Based on the foregoing, confirmatory due diligence procedures should be performed in order to determine the percentage ownership and ownership structure relevant to the acquired Equity Tags.  According to the due diligence tracker dated May 20, 2015, Target Management is currently updating the VDR for this information.</a:t>
                      </a:r>
                    </a:p>
                    <a:p>
                      <a:pPr marL="228600" marR="0" lvl="3" indent="-228600" algn="l" defTabSz="914400" rtl="0" eaLnBrk="1" fontAlgn="auto" latinLnBrk="0" hangingPunct="1">
                        <a:lnSpc>
                          <a:spcPct val="100000"/>
                        </a:lnSpc>
                        <a:spcBef>
                          <a:spcPts val="600"/>
                        </a:spcBef>
                        <a:spcAft>
                          <a:spcPts val="0"/>
                        </a:spcAft>
                        <a:buClr>
                          <a:srgbClr val="97989A"/>
                        </a:buClr>
                        <a:buSzTx/>
                        <a:buFont typeface="+mj-lt"/>
                        <a:buAutoNum type="arabicPeriod"/>
                        <a:tabLst/>
                        <a:defRPr/>
                      </a:pPr>
                      <a:r>
                        <a:rPr kumimoji="0" lang="en-US" sz="900" b="0" i="0" u="none" strike="noStrike" kern="1200" cap="none" spc="0" normalizeH="0" baseline="0" noProof="0" dirty="0" smtClean="0">
                          <a:ln>
                            <a:noFill/>
                          </a:ln>
                          <a:solidFill>
                            <a:schemeClr val="tx1"/>
                          </a:solidFill>
                          <a:effectLst/>
                          <a:uLnTx/>
                          <a:uFillTx/>
                          <a:latin typeface="+mn-lt"/>
                          <a:ea typeface="+mn-ea"/>
                          <a:cs typeface="Arial" pitchFamily="34" charset="0"/>
                        </a:rPr>
                        <a:t>Management has represented that Target has an equity interest in two Canadian partnerships that generate foreign source income. If following the acquisition, these partnerships are held directly or indirectly by Garrison, the US corporation, consideration should be given to whether Garrison has established a PE in Canada. In addition, if Garrison were to dispose of the foreign partnerships after the acquisition, consideration should be given to the sourcing of the gain on sale, if any.</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Appendix 10 and 18</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r>
              <a:tr h="1850218">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900" b="1" i="0" u="none" strike="noStrike" cap="none" normalizeH="0" baseline="0" dirty="0" smtClean="0">
                          <a:ln>
                            <a:noFill/>
                          </a:ln>
                          <a:solidFill>
                            <a:schemeClr val="accent4"/>
                          </a:solidFill>
                          <a:effectLst/>
                          <a:latin typeface="+mn-lt"/>
                          <a:cs typeface="Arial" pitchFamily="34" charset="0"/>
                        </a:rPr>
                        <a:t>Pre-Signing Procedures</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228600" marR="0" lvl="2" indent="-228600" algn="l" defTabSz="914400" rtl="0" eaLnBrk="1" fontAlgn="auto" latinLnBrk="0" hangingPunct="1">
                        <a:lnSpc>
                          <a:spcPct val="100000"/>
                        </a:lnSpc>
                        <a:spcBef>
                          <a:spcPts val="600"/>
                        </a:spcBef>
                        <a:spcAft>
                          <a:spcPts val="0"/>
                        </a:spcAft>
                        <a:buClr>
                          <a:srgbClr val="97989A"/>
                        </a:buClr>
                        <a:buSzTx/>
                        <a:buFont typeface="+mj-lt"/>
                        <a:buAutoNum type="arabicPeriod"/>
                        <a:tabLst/>
                        <a:defRPr/>
                      </a:pPr>
                      <a:r>
                        <a:rPr kumimoji="0" lang="en-US" sz="900" b="0" i="0" u="none" strike="noStrike" kern="1200" cap="none" spc="0" normalizeH="0" baseline="0" noProof="0" dirty="0" smtClean="0">
                          <a:ln>
                            <a:noFill/>
                          </a:ln>
                          <a:solidFill>
                            <a:schemeClr val="tx1"/>
                          </a:solidFill>
                          <a:effectLst/>
                          <a:uLnTx/>
                          <a:uFillTx/>
                          <a:latin typeface="+mn-lt"/>
                          <a:ea typeface="+mn-ea"/>
                          <a:cs typeface="Arial" pitchFamily="34" charset="0"/>
                        </a:rPr>
                        <a:t>As noted above, prior to signing the following steps are recommended:</a:t>
                      </a:r>
                    </a:p>
                    <a:p>
                      <a:pPr marL="685800" marR="0" lvl="3" indent="-228600" algn="l" defTabSz="914400" rtl="0" eaLnBrk="1" fontAlgn="auto" latinLnBrk="0" hangingPunct="1">
                        <a:lnSpc>
                          <a:spcPct val="100000"/>
                        </a:lnSpc>
                        <a:spcBef>
                          <a:spcPts val="600"/>
                        </a:spcBef>
                        <a:spcAft>
                          <a:spcPts val="0"/>
                        </a:spcAft>
                        <a:buClr>
                          <a:srgbClr val="97989A"/>
                        </a:buClr>
                        <a:buSzTx/>
                        <a:buFont typeface="+mj-lt"/>
                        <a:buAutoNum type="alphaLcPeriod"/>
                        <a:tabLst/>
                        <a:defRPr/>
                      </a:pPr>
                      <a:r>
                        <a:rPr kumimoji="0" lang="en-US" sz="900" b="0" i="0" u="none" strike="noStrike" kern="1200" cap="none" spc="0" normalizeH="0" baseline="0" noProof="0" dirty="0" smtClean="0">
                          <a:ln>
                            <a:noFill/>
                          </a:ln>
                          <a:solidFill>
                            <a:schemeClr val="tx1"/>
                          </a:solidFill>
                          <a:effectLst/>
                          <a:uLnTx/>
                          <a:uFillTx/>
                          <a:latin typeface="+mn-lt"/>
                          <a:ea typeface="+mn-ea"/>
                          <a:cs typeface="Arial" pitchFamily="34" charset="0"/>
                        </a:rPr>
                        <a:t>Review the equity investments of the Antares platform that are held outside the Target, including to:</a:t>
                      </a:r>
                    </a:p>
                    <a:p>
                      <a:pPr marL="1200150" marR="0" lvl="4" indent="-285750" algn="l" defTabSz="914400" rtl="0" eaLnBrk="1" fontAlgn="auto" latinLnBrk="0" hangingPunct="1">
                        <a:lnSpc>
                          <a:spcPct val="100000"/>
                        </a:lnSpc>
                        <a:spcBef>
                          <a:spcPts val="600"/>
                        </a:spcBef>
                        <a:spcAft>
                          <a:spcPts val="0"/>
                        </a:spcAft>
                        <a:buClr>
                          <a:srgbClr val="97989A"/>
                        </a:buClr>
                        <a:buSzTx/>
                        <a:buFont typeface="+mj-lt"/>
                        <a:buAutoNum type="romanLcPeriod"/>
                        <a:tabLst/>
                        <a:defRPr/>
                      </a:pPr>
                      <a:r>
                        <a:rPr kumimoji="0" lang="en-US" sz="900" b="0" i="0" u="none" strike="noStrike" kern="1200" cap="none" spc="0" normalizeH="0" baseline="0" noProof="0" dirty="0" smtClean="0">
                          <a:ln>
                            <a:noFill/>
                          </a:ln>
                          <a:solidFill>
                            <a:schemeClr val="tx1"/>
                          </a:solidFill>
                          <a:effectLst/>
                          <a:uLnTx/>
                          <a:uFillTx/>
                          <a:latin typeface="+mn-lt"/>
                          <a:ea typeface="+mn-ea"/>
                          <a:cs typeface="Arial" pitchFamily="34" charset="0"/>
                        </a:rPr>
                        <a:t>Determine the existing tax structure of the investment and the need to hold said investments via a taxable US C Corporation (to “block” effectively connected income); and</a:t>
                      </a:r>
                    </a:p>
                    <a:p>
                      <a:pPr marL="1200150" marR="0" lvl="4" indent="-285750" algn="l" defTabSz="914400" rtl="0" eaLnBrk="1" fontAlgn="auto" latinLnBrk="0" hangingPunct="1">
                        <a:lnSpc>
                          <a:spcPct val="100000"/>
                        </a:lnSpc>
                        <a:spcBef>
                          <a:spcPts val="600"/>
                        </a:spcBef>
                        <a:spcAft>
                          <a:spcPts val="0"/>
                        </a:spcAft>
                        <a:buClr>
                          <a:srgbClr val="97989A"/>
                        </a:buClr>
                        <a:buSzTx/>
                        <a:buFont typeface="+mj-lt"/>
                        <a:buAutoNum type="romanLcPeriod"/>
                        <a:tabLst/>
                        <a:defRPr/>
                      </a:pPr>
                      <a:r>
                        <a:rPr kumimoji="0" lang="en-US" sz="900" b="0" i="0" u="none" strike="noStrike" kern="1200" cap="none" spc="0" normalizeH="0" baseline="0" noProof="0" dirty="0" smtClean="0">
                          <a:ln>
                            <a:noFill/>
                          </a:ln>
                          <a:solidFill>
                            <a:schemeClr val="tx1"/>
                          </a:solidFill>
                          <a:effectLst/>
                          <a:uLnTx/>
                          <a:uFillTx/>
                          <a:latin typeface="+mn-lt"/>
                          <a:ea typeface="+mn-ea"/>
                          <a:cs typeface="Arial" pitchFamily="34" charset="0"/>
                        </a:rPr>
                        <a:t>Confirm compliance with the 30 percent rule.</a:t>
                      </a:r>
                    </a:p>
                    <a:p>
                      <a:pPr marL="685800" marR="0" lvl="3" indent="-228600" algn="l" defTabSz="914400" rtl="0" eaLnBrk="1" fontAlgn="auto" latinLnBrk="0" hangingPunct="1">
                        <a:lnSpc>
                          <a:spcPct val="100000"/>
                        </a:lnSpc>
                        <a:spcBef>
                          <a:spcPts val="600"/>
                        </a:spcBef>
                        <a:spcAft>
                          <a:spcPts val="0"/>
                        </a:spcAft>
                        <a:buClr>
                          <a:srgbClr val="97989A"/>
                        </a:buClr>
                        <a:buSzTx/>
                        <a:buFont typeface="+mj-lt"/>
                        <a:buAutoNum type="alphaLcPeriod"/>
                        <a:tabLst/>
                        <a:defRPr/>
                      </a:pPr>
                      <a:r>
                        <a:rPr lang="en-US" sz="900" baseline="0" dirty="0" smtClean="0">
                          <a:cs typeface="Arial" pitchFamily="34" charset="0"/>
                        </a:rPr>
                        <a:t>Confirmation of the quantum, if any, of T</a:t>
                      </a:r>
                      <a:r>
                        <a:rPr lang="en-US" sz="900" dirty="0" smtClean="0">
                          <a:cs typeface="Arial" pitchFamily="34" charset="0"/>
                        </a:rPr>
                        <a:t>arget’s NOL carryovers, capital loss carryovers, or current and accumulated E&amp;P.</a:t>
                      </a:r>
                    </a:p>
                    <a:p>
                      <a:pPr marL="685800" marR="0" lvl="3" indent="-228600" algn="l" defTabSz="914400" rtl="0" eaLnBrk="1" fontAlgn="auto" latinLnBrk="0" hangingPunct="1">
                        <a:lnSpc>
                          <a:spcPct val="100000"/>
                        </a:lnSpc>
                        <a:spcBef>
                          <a:spcPts val="600"/>
                        </a:spcBef>
                        <a:spcAft>
                          <a:spcPts val="0"/>
                        </a:spcAft>
                        <a:buClr>
                          <a:srgbClr val="97989A"/>
                        </a:buClr>
                        <a:buSzTx/>
                        <a:buFont typeface="+mj-lt"/>
                        <a:buAutoNum type="alphaLcPeriod"/>
                        <a:tabLst/>
                        <a:defRPr/>
                      </a:pPr>
                      <a:r>
                        <a:rPr kumimoji="0" lang="en-US" sz="900" b="0" i="0" u="none" strike="noStrike" kern="1200" cap="none" spc="0" normalizeH="0" baseline="0" noProof="0" dirty="0" smtClean="0">
                          <a:ln>
                            <a:noFill/>
                          </a:ln>
                          <a:solidFill>
                            <a:schemeClr val="tx1"/>
                          </a:solidFill>
                          <a:effectLst/>
                          <a:uLnTx/>
                          <a:uFillTx/>
                          <a:latin typeface="+mn-lt"/>
                          <a:ea typeface="+mn-ea"/>
                          <a:cs typeface="Arial" pitchFamily="34" charset="0"/>
                        </a:rPr>
                        <a:t>Review of the transition services agreement to ensure CPPIB will receive the necessary historical information at acquisition and sufficient post-acquisition access to historical records and resources within GE, GECC, or their affiliates.</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N/A</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r>
              <a:tr h="519944">
                <a:tc>
                  <a:txBody>
                    <a:bodyPr/>
                    <a:lstStyle/>
                    <a:p>
                      <a:pPr marL="0" marR="0" lvl="0" indent="0" algn="l" defTabSz="762000" rtl="0" eaLnBrk="1" fontAlgn="base" latinLnBrk="0" hangingPunct="1">
                        <a:lnSpc>
                          <a:spcPct val="100000"/>
                        </a:lnSpc>
                        <a:spcBef>
                          <a:spcPts val="600"/>
                        </a:spcBef>
                        <a:spcAft>
                          <a:spcPct val="0"/>
                        </a:spcAft>
                        <a:buClrTx/>
                        <a:buSzTx/>
                        <a:buFontTx/>
                        <a:buNone/>
                        <a:tabLst/>
                        <a:defRPr/>
                      </a:pPr>
                      <a:r>
                        <a:rPr kumimoji="0" lang="en-US" sz="900" b="1" i="0" u="none" strike="noStrike" cap="none" normalizeH="0" baseline="0" dirty="0" smtClean="0">
                          <a:ln>
                            <a:noFill/>
                          </a:ln>
                          <a:solidFill>
                            <a:schemeClr val="accent4"/>
                          </a:solidFill>
                          <a:effectLst/>
                          <a:latin typeface="+mn-lt"/>
                          <a:cs typeface="Arial" pitchFamily="34" charset="0"/>
                        </a:rPr>
                        <a:t>Additional Data Outstanding</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228600" marR="0" lvl="2" indent="-228600" algn="l" defTabSz="914400" rtl="0" eaLnBrk="1" fontAlgn="auto" latinLnBrk="0" hangingPunct="1">
                        <a:lnSpc>
                          <a:spcPct val="100000"/>
                        </a:lnSpc>
                        <a:spcBef>
                          <a:spcPts val="600"/>
                        </a:spcBef>
                        <a:spcAft>
                          <a:spcPts val="0"/>
                        </a:spcAft>
                        <a:buClr>
                          <a:srgbClr val="97989A"/>
                        </a:buClr>
                        <a:buSzTx/>
                        <a:buFont typeface="+mj-lt"/>
                        <a:buAutoNum type="arabicPeriod"/>
                        <a:tabLst/>
                        <a:defRPr/>
                      </a:pPr>
                      <a:r>
                        <a:rPr kumimoji="0" lang="en-US" sz="900" b="0" i="0" u="none" strike="noStrike" kern="1200" cap="none" spc="0" normalizeH="0" baseline="0" noProof="0" dirty="0" smtClean="0">
                          <a:ln>
                            <a:noFill/>
                          </a:ln>
                          <a:solidFill>
                            <a:schemeClr val="tx1"/>
                          </a:solidFill>
                          <a:effectLst/>
                          <a:uLnTx/>
                          <a:uFillTx/>
                          <a:latin typeface="+mn-lt"/>
                          <a:ea typeface="+mn-ea"/>
                          <a:cs typeface="Arial" pitchFamily="34" charset="0"/>
                        </a:rPr>
                        <a:t>A detailed schedule of equity investments including information on their tax structure. Management has indicated they will update the data tape to reflect tax classifications and potential ECI, however we have not yet received this revised schedule.</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baseline="0" noProof="0" dirty="0" smtClean="0">
                          <a:solidFill>
                            <a:schemeClr val="tx1"/>
                          </a:solidFill>
                          <a:latin typeface="+mn-lt"/>
                          <a:ea typeface="+mn-ea"/>
                          <a:cs typeface="Arial" pitchFamily="34" charset="0"/>
                        </a:rPr>
                        <a:t>N/A</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r>
            </a:tbl>
          </a:graphicData>
        </a:graphic>
      </p:graphicFrame>
      <p:sp>
        <p:nvSpPr>
          <p:cNvPr id="13" name="Title 3"/>
          <p:cNvSpPr>
            <a:spLocks noGrp="1"/>
          </p:cNvSpPr>
          <p:nvPr>
            <p:ph type="title"/>
          </p:nvPr>
        </p:nvSpPr>
        <p:spPr>
          <a:xfrm>
            <a:off x="2123728" y="116632"/>
            <a:ext cx="6768752" cy="576064"/>
          </a:xfrm>
        </p:spPr>
        <p:txBody>
          <a:bodyPr/>
          <a:lstStyle/>
          <a:p>
            <a:r>
              <a:rPr lang="en-US" sz="1400" b="0" dirty="0">
                <a:solidFill>
                  <a:srgbClr val="747678"/>
                </a:solidFill>
              </a:rPr>
              <a:t>Executive summary</a:t>
            </a:r>
            <a:r>
              <a:rPr lang="en-US" dirty="0" smtClean="0"/>
              <a:t/>
            </a:r>
            <a:br>
              <a:rPr lang="en-US" dirty="0" smtClean="0"/>
            </a:br>
            <a:r>
              <a:rPr lang="en-US" dirty="0" smtClean="0"/>
              <a:t>Key findings: tax (4)</a:t>
            </a:r>
            <a:endParaRPr lang="en-US" dirty="0"/>
          </a:p>
        </p:txBody>
      </p:sp>
    </p:spTree>
    <p:extLst>
      <p:ext uri="{BB962C8B-B14F-4D97-AF65-F5344CB8AC3E}">
        <p14:creationId xmlns:p14="http://schemas.microsoft.com/office/powerpoint/2010/main" val="388481936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a:rPr>
              <a:t>Appendices</a:t>
            </a:r>
            <a:endParaRPr lang="en-US" dirty="0">
              <a:latin typeface="Arial"/>
            </a:endParaRPr>
          </a:p>
        </p:txBody>
      </p:sp>
      <p:graphicFrame>
        <p:nvGraphicFramePr>
          <p:cNvPr id="4" name="Group 2"/>
          <p:cNvGraphicFramePr>
            <a:graphicFrameLocks noGrp="1"/>
          </p:cNvGraphicFramePr>
          <p:nvPr>
            <p:extLst>
              <p:ext uri="{D42A27DB-BD31-4B8C-83A1-F6EECF244321}">
                <p14:modId xmlns:p14="http://schemas.microsoft.com/office/powerpoint/2010/main" val="3851789368"/>
              </p:ext>
            </p:extLst>
          </p:nvPr>
        </p:nvGraphicFramePr>
        <p:xfrm>
          <a:off x="5577840" y="472440"/>
          <a:ext cx="3262063" cy="5784000"/>
        </p:xfrm>
        <a:graphic>
          <a:graphicData uri="http://schemas.openxmlformats.org/drawingml/2006/table">
            <a:tbl>
              <a:tblPr/>
              <a:tblGrid>
                <a:gridCol w="2530911"/>
                <a:gridCol w="731152"/>
              </a:tblGrid>
              <a:tr h="196081">
                <a:tc>
                  <a:txBody>
                    <a:bodyPr/>
                    <a:lstStyle/>
                    <a:p>
                      <a:pPr marL="0" marR="0" lvl="0" indent="0" algn="l" defTabSz="762000" rtl="0" eaLnBrk="1" fontAlgn="base" latinLnBrk="0" hangingPunct="1">
                        <a:lnSpc>
                          <a:spcPct val="100000"/>
                        </a:lnSpc>
                        <a:spcBef>
                          <a:spcPct val="40000"/>
                        </a:spcBef>
                        <a:spcAft>
                          <a:spcPct val="0"/>
                        </a:spcAft>
                        <a:buClrTx/>
                        <a:buSzTx/>
                        <a:buFontTx/>
                        <a:buNone/>
                        <a:tabLst/>
                      </a:pPr>
                      <a:r>
                        <a:rPr lang="en-US" sz="1000" b="1" kern="1200" noProof="0" dirty="0" smtClean="0">
                          <a:solidFill>
                            <a:srgbClr val="00338D"/>
                          </a:solidFill>
                          <a:latin typeface="Arial"/>
                          <a:ea typeface="+mn-ea"/>
                          <a:cs typeface="Arial" pitchFamily="34" charset="0"/>
                        </a:rPr>
                        <a:t>Appendices</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187325" marR="0" lvl="1" indent="-185738" algn="r" defTabSz="762000" rtl="0" eaLnBrk="1" fontAlgn="base" latinLnBrk="0" hangingPunct="1">
                        <a:lnSpc>
                          <a:spcPct val="100000"/>
                        </a:lnSpc>
                        <a:spcBef>
                          <a:spcPct val="40000"/>
                        </a:spcBef>
                        <a:spcAft>
                          <a:spcPct val="0"/>
                        </a:spcAft>
                        <a:buClr>
                          <a:schemeClr val="tx2"/>
                        </a:buClr>
                        <a:buSzPct val="85000"/>
                        <a:buFont typeface="Wingdings" pitchFamily="2" charset="2"/>
                        <a:buNone/>
                        <a:tabLst/>
                      </a:pPr>
                      <a:r>
                        <a:rPr lang="en-US" sz="1000" b="1" kern="1200" noProof="0" dirty="0" smtClean="0">
                          <a:solidFill>
                            <a:srgbClr val="00338D"/>
                          </a:solidFill>
                          <a:latin typeface="Arial"/>
                          <a:ea typeface="+mn-ea"/>
                          <a:cs typeface="Arial" pitchFamily="34" charset="0"/>
                        </a:rPr>
                        <a:t>Page</a:t>
                      </a:r>
                    </a:p>
                  </a:txBody>
                  <a:tcPr marL="72000" marR="72000" marT="72000" marB="72000" anchor="ctr" horzOverflow="overflow">
                    <a:lnL>
                      <a:noFill/>
                    </a:lnL>
                    <a:lnR cap="flat">
                      <a:noFill/>
                    </a:lnR>
                    <a:lnT>
                      <a:noFill/>
                    </a:lnT>
                    <a:lnB>
                      <a:noFill/>
                    </a:lnB>
                    <a:lnTlToBr>
                      <a:noFill/>
                    </a:lnTlToBr>
                    <a:lnBlToTr>
                      <a:noFill/>
                    </a:lnBlToTr>
                    <a:noFill/>
                  </a:tcPr>
                </a:tc>
              </a:tr>
              <a:tr h="196081">
                <a:tc>
                  <a:txBody>
                    <a:bodyPr/>
                    <a:lstStyle/>
                    <a:p>
                      <a:pPr marL="228600" marR="0" lvl="2" indent="-228600" algn="l" defTabSz="914400" rtl="0" eaLnBrk="1" fontAlgn="base" latinLnBrk="0" hangingPunct="1">
                        <a:lnSpc>
                          <a:spcPct val="100000"/>
                        </a:lnSpc>
                        <a:spcBef>
                          <a:spcPts val="600"/>
                        </a:spcBef>
                        <a:spcAft>
                          <a:spcPct val="0"/>
                        </a:spcAft>
                        <a:buClr>
                          <a:srgbClr val="97989A"/>
                        </a:buClr>
                        <a:buSzPct val="100000"/>
                        <a:buFont typeface="+mj-lt"/>
                        <a:buAutoNum type="arabicPeriod"/>
                        <a:tabLst/>
                      </a:pPr>
                      <a:r>
                        <a:rPr lang="en-US" sz="1000" b="0" kern="1200" noProof="0" dirty="0" smtClean="0">
                          <a:solidFill>
                            <a:schemeClr val="tx1"/>
                          </a:solidFill>
                          <a:latin typeface="+mn-lt"/>
                          <a:ea typeface="+mn-ea"/>
                          <a:cs typeface="Arial" pitchFamily="34" charset="0"/>
                        </a:rPr>
                        <a:t>Scope</a:t>
                      </a:r>
                      <a:r>
                        <a:rPr lang="en-US" sz="1000" b="0" kern="1200" baseline="0" noProof="0" dirty="0" smtClean="0">
                          <a:solidFill>
                            <a:schemeClr val="tx1"/>
                          </a:solidFill>
                          <a:latin typeface="+mn-lt"/>
                          <a:ea typeface="+mn-ea"/>
                          <a:cs typeface="Arial" pitchFamily="34" charset="0"/>
                        </a:rPr>
                        <a:t> of work</a:t>
                      </a:r>
                      <a:endParaRPr lang="en-US" sz="1000" b="0" kern="1200" noProof="0" dirty="0" smtClean="0">
                        <a:solidFill>
                          <a:schemeClr val="tx1"/>
                        </a:solidFill>
                        <a:latin typeface="+mn-lt"/>
                        <a:ea typeface="+mn-ea"/>
                        <a:cs typeface="Arial" pitchFamily="34" charset="0"/>
                      </a:endParaRP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230187" marR="0" lvl="1" indent="-228600" algn="r" defTabSz="762000" rtl="0" eaLnBrk="1" fontAlgn="base" latinLnBrk="0" hangingPunct="1">
                        <a:lnSpc>
                          <a:spcPct val="100000"/>
                        </a:lnSpc>
                        <a:spcBef>
                          <a:spcPct val="40000"/>
                        </a:spcBef>
                        <a:spcAft>
                          <a:spcPct val="0"/>
                        </a:spcAft>
                        <a:buClr>
                          <a:schemeClr val="tx2"/>
                        </a:buClr>
                        <a:buSzPct val="85000"/>
                        <a:buFont typeface="+mj-lt"/>
                        <a:buNone/>
                        <a:tabLst/>
                      </a:pPr>
                      <a:r>
                        <a:rPr lang="en-US" sz="1000" b="0" kern="1200" noProof="0" dirty="0" smtClean="0">
                          <a:solidFill>
                            <a:schemeClr val="tx1"/>
                          </a:solidFill>
                          <a:latin typeface="Arial"/>
                          <a:ea typeface="+mn-ea"/>
                          <a:cs typeface="Arial" pitchFamily="34" charset="0"/>
                        </a:rPr>
                        <a:t>44</a:t>
                      </a:r>
                    </a:p>
                  </a:txBody>
                  <a:tcPr marL="72000" marR="72000" marT="72000" marB="72000" anchor="ctr" horzOverflow="overflow">
                    <a:lnL>
                      <a:noFill/>
                    </a:lnL>
                    <a:lnR cap="flat">
                      <a:noFill/>
                    </a:lnR>
                    <a:lnT>
                      <a:noFill/>
                    </a:lnT>
                    <a:lnB>
                      <a:noFill/>
                    </a:lnB>
                    <a:lnTlToBr>
                      <a:noFill/>
                    </a:lnTlToBr>
                    <a:lnBlToTr>
                      <a:noFill/>
                    </a:lnBlToTr>
                    <a:noFill/>
                  </a:tcPr>
                </a:tc>
              </a:tr>
              <a:tr h="0">
                <a:tc>
                  <a:txBody>
                    <a:bodyPr/>
                    <a:lstStyle/>
                    <a:p>
                      <a:pPr marL="228600" marR="0" lvl="2" indent="-228600" algn="l" defTabSz="914400" rtl="0" eaLnBrk="1" fontAlgn="base" latinLnBrk="0" hangingPunct="1">
                        <a:lnSpc>
                          <a:spcPct val="100000"/>
                        </a:lnSpc>
                        <a:spcBef>
                          <a:spcPts val="600"/>
                        </a:spcBef>
                        <a:spcAft>
                          <a:spcPct val="0"/>
                        </a:spcAft>
                        <a:buClr>
                          <a:srgbClr val="97989A"/>
                        </a:buClr>
                        <a:buSzPct val="100000"/>
                        <a:buFont typeface="+mj-lt"/>
                        <a:buAutoNum type="arabicPeriod" startAt="2"/>
                        <a:tabLst/>
                        <a:defRPr/>
                      </a:pPr>
                      <a:r>
                        <a:rPr lang="en-US" sz="1000" b="0" kern="1200" noProof="0" dirty="0" smtClean="0">
                          <a:solidFill>
                            <a:schemeClr val="tx1"/>
                          </a:solidFill>
                          <a:latin typeface="+mn-lt"/>
                          <a:ea typeface="+mn-ea"/>
                          <a:cs typeface="Arial" pitchFamily="34" charset="0"/>
                        </a:rPr>
                        <a:t>Financial information</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230187" marR="0" lvl="1" indent="-228600" algn="r" defTabSz="762000" rtl="0" eaLnBrk="1" fontAlgn="base" latinLnBrk="0" hangingPunct="1">
                        <a:lnSpc>
                          <a:spcPct val="100000"/>
                        </a:lnSpc>
                        <a:spcBef>
                          <a:spcPct val="40000"/>
                        </a:spcBef>
                        <a:spcAft>
                          <a:spcPct val="0"/>
                        </a:spcAft>
                        <a:buClr>
                          <a:schemeClr val="tx2"/>
                        </a:buClr>
                        <a:buSzPct val="85000"/>
                        <a:buFont typeface="+mj-lt"/>
                        <a:buNone/>
                        <a:tabLst/>
                      </a:pPr>
                      <a:r>
                        <a:rPr lang="en-US" sz="1000" b="0" kern="1200" noProof="0" dirty="0" smtClean="0">
                          <a:solidFill>
                            <a:schemeClr val="tx1"/>
                          </a:solidFill>
                          <a:latin typeface="Arial"/>
                          <a:ea typeface="+mn-ea"/>
                          <a:cs typeface="Arial" pitchFamily="34" charset="0"/>
                        </a:rPr>
                        <a:t>48</a:t>
                      </a:r>
                    </a:p>
                  </a:txBody>
                  <a:tcPr marL="72000" marR="72000" marT="72000" marB="72000" anchor="ctr" horzOverflow="overflow">
                    <a:lnL>
                      <a:noFill/>
                    </a:lnL>
                    <a:lnR cap="flat">
                      <a:noFill/>
                    </a:lnR>
                    <a:lnT>
                      <a:noFill/>
                    </a:lnT>
                    <a:lnB>
                      <a:noFill/>
                    </a:lnB>
                    <a:lnTlToBr>
                      <a:noFill/>
                    </a:lnTlToBr>
                    <a:lnBlToTr>
                      <a:noFill/>
                    </a:lnBlToTr>
                    <a:noFill/>
                  </a:tcPr>
                </a:tc>
              </a:tr>
              <a:tr h="0">
                <a:tc>
                  <a:txBody>
                    <a:bodyPr/>
                    <a:lstStyle/>
                    <a:p>
                      <a:pPr marL="228600" marR="0" lvl="2" indent="-228600" algn="l" defTabSz="914400" rtl="0" eaLnBrk="1" fontAlgn="base" latinLnBrk="0" hangingPunct="1">
                        <a:lnSpc>
                          <a:spcPct val="100000"/>
                        </a:lnSpc>
                        <a:spcBef>
                          <a:spcPts val="600"/>
                        </a:spcBef>
                        <a:spcAft>
                          <a:spcPct val="0"/>
                        </a:spcAft>
                        <a:buClr>
                          <a:srgbClr val="97989A"/>
                        </a:buClr>
                        <a:buSzPct val="100000"/>
                        <a:buFont typeface="+mj-lt"/>
                        <a:buAutoNum type="arabicPeriod" startAt="3"/>
                        <a:tabLst/>
                        <a:defRPr/>
                      </a:pPr>
                      <a:r>
                        <a:rPr lang="en-US" sz="1000" b="0" kern="1200" noProof="0" dirty="0" smtClean="0">
                          <a:solidFill>
                            <a:schemeClr val="tx1"/>
                          </a:solidFill>
                          <a:latin typeface="+mn-lt"/>
                          <a:ea typeface="+mn-ea"/>
                          <a:cs typeface="Arial" pitchFamily="34" charset="0"/>
                        </a:rPr>
                        <a:t>People matters</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230187" marR="0" lvl="1" indent="-228600" algn="r" defTabSz="762000" rtl="0" eaLnBrk="1" fontAlgn="base" latinLnBrk="0" hangingPunct="1">
                        <a:lnSpc>
                          <a:spcPct val="100000"/>
                        </a:lnSpc>
                        <a:spcBef>
                          <a:spcPct val="40000"/>
                        </a:spcBef>
                        <a:spcAft>
                          <a:spcPct val="0"/>
                        </a:spcAft>
                        <a:buClr>
                          <a:schemeClr val="tx2"/>
                        </a:buClr>
                        <a:buSzPct val="85000"/>
                        <a:buFont typeface="+mj-lt"/>
                        <a:buNone/>
                        <a:tabLst/>
                      </a:pPr>
                      <a:r>
                        <a:rPr lang="en-US" sz="1000" b="0" kern="1200" noProof="0" dirty="0" smtClean="0">
                          <a:solidFill>
                            <a:schemeClr val="tx1"/>
                          </a:solidFill>
                          <a:latin typeface="Arial"/>
                          <a:ea typeface="+mn-ea"/>
                          <a:cs typeface="Arial" pitchFamily="34" charset="0"/>
                        </a:rPr>
                        <a:t>51</a:t>
                      </a:r>
                    </a:p>
                  </a:txBody>
                  <a:tcPr marL="72000" marR="72000" marT="72000" marB="72000" anchor="ctr" horzOverflow="overflow">
                    <a:lnL>
                      <a:noFill/>
                    </a:lnL>
                    <a:lnR cap="flat">
                      <a:noFill/>
                    </a:lnR>
                    <a:lnT>
                      <a:noFill/>
                    </a:lnT>
                    <a:lnB>
                      <a:noFill/>
                    </a:lnB>
                    <a:lnTlToBr>
                      <a:noFill/>
                    </a:lnTlToBr>
                    <a:lnBlToTr>
                      <a:noFill/>
                    </a:lnBlToTr>
                    <a:noFill/>
                  </a:tcPr>
                </a:tc>
              </a:tr>
              <a:tr h="196081">
                <a:tc>
                  <a:txBody>
                    <a:bodyPr/>
                    <a:lstStyle/>
                    <a:p>
                      <a:pPr marL="228600" marR="0" lvl="2" indent="-228600" algn="l" defTabSz="914400" rtl="0" eaLnBrk="1" fontAlgn="base" latinLnBrk="0" hangingPunct="1">
                        <a:lnSpc>
                          <a:spcPct val="100000"/>
                        </a:lnSpc>
                        <a:spcBef>
                          <a:spcPts val="600"/>
                        </a:spcBef>
                        <a:spcAft>
                          <a:spcPct val="0"/>
                        </a:spcAft>
                        <a:buClr>
                          <a:srgbClr val="97989A"/>
                        </a:buClr>
                        <a:buSzPct val="100000"/>
                        <a:buFont typeface="+mj-lt"/>
                        <a:buAutoNum type="arabicPeriod" startAt="4"/>
                        <a:tabLst/>
                        <a:defRPr/>
                      </a:pPr>
                      <a:r>
                        <a:rPr lang="en-US" sz="1000" b="0" kern="1200" noProof="0" dirty="0" smtClean="0">
                          <a:solidFill>
                            <a:schemeClr val="tx1"/>
                          </a:solidFill>
                          <a:latin typeface="+mn-lt"/>
                          <a:ea typeface="+mn-ea"/>
                          <a:cs typeface="Arial" pitchFamily="34" charset="0"/>
                        </a:rPr>
                        <a:t>Employee</a:t>
                      </a:r>
                      <a:r>
                        <a:rPr lang="en-US" sz="1000" b="0" kern="1200" baseline="0" noProof="0" dirty="0" smtClean="0">
                          <a:solidFill>
                            <a:schemeClr val="tx1"/>
                          </a:solidFill>
                          <a:latin typeface="+mn-lt"/>
                          <a:ea typeface="+mn-ea"/>
                          <a:cs typeface="Arial" pitchFamily="34" charset="0"/>
                        </a:rPr>
                        <a:t> retention arrangements</a:t>
                      </a:r>
                      <a:endParaRPr lang="en-US" sz="1000" b="0" kern="1200" noProof="0" dirty="0" smtClean="0">
                        <a:solidFill>
                          <a:schemeClr val="tx1"/>
                        </a:solidFill>
                        <a:latin typeface="+mn-lt"/>
                        <a:ea typeface="+mn-ea"/>
                        <a:cs typeface="Arial" pitchFamily="34" charset="0"/>
                      </a:endParaRP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230187" marR="0" lvl="1" indent="-228600" algn="r" defTabSz="762000" rtl="0" eaLnBrk="1" fontAlgn="base" latinLnBrk="0" hangingPunct="1">
                        <a:lnSpc>
                          <a:spcPct val="100000"/>
                        </a:lnSpc>
                        <a:spcBef>
                          <a:spcPct val="40000"/>
                        </a:spcBef>
                        <a:spcAft>
                          <a:spcPct val="0"/>
                        </a:spcAft>
                        <a:buClr>
                          <a:schemeClr val="tx2"/>
                        </a:buClr>
                        <a:buSzPct val="85000"/>
                        <a:buFont typeface="+mj-lt"/>
                        <a:buNone/>
                        <a:tabLst/>
                      </a:pPr>
                      <a:r>
                        <a:rPr lang="en-US" sz="1000" b="0" kern="1200" noProof="0" dirty="0" smtClean="0">
                          <a:solidFill>
                            <a:schemeClr val="tx1"/>
                          </a:solidFill>
                          <a:latin typeface="Arial"/>
                          <a:ea typeface="+mn-ea"/>
                          <a:cs typeface="Arial" pitchFamily="34" charset="0"/>
                        </a:rPr>
                        <a:t>53</a:t>
                      </a:r>
                    </a:p>
                  </a:txBody>
                  <a:tcPr marL="72000" marR="72000" marT="72000" marB="72000" anchor="ctr" horzOverflow="overflow">
                    <a:lnL>
                      <a:noFill/>
                    </a:lnL>
                    <a:lnR cap="flat">
                      <a:noFill/>
                    </a:lnR>
                    <a:lnT>
                      <a:noFill/>
                    </a:lnT>
                    <a:lnB>
                      <a:noFill/>
                    </a:lnB>
                    <a:lnTlToBr>
                      <a:noFill/>
                    </a:lnTlToBr>
                    <a:lnBlToTr>
                      <a:noFill/>
                    </a:lnBlToTr>
                    <a:noFill/>
                  </a:tcPr>
                </a:tc>
              </a:tr>
              <a:tr h="196081">
                <a:tc>
                  <a:txBody>
                    <a:bodyPr/>
                    <a:lstStyle/>
                    <a:p>
                      <a:pPr marL="228600" marR="0" lvl="2" indent="-228600" algn="l" defTabSz="914400" rtl="0" eaLnBrk="1" fontAlgn="base" latinLnBrk="0" hangingPunct="1">
                        <a:lnSpc>
                          <a:spcPct val="100000"/>
                        </a:lnSpc>
                        <a:spcBef>
                          <a:spcPts val="600"/>
                        </a:spcBef>
                        <a:spcAft>
                          <a:spcPct val="0"/>
                        </a:spcAft>
                        <a:buClr>
                          <a:srgbClr val="97989A"/>
                        </a:buClr>
                        <a:buSzPct val="100000"/>
                        <a:buFont typeface="+mj-lt"/>
                        <a:buAutoNum type="arabicPeriod" startAt="5"/>
                        <a:tabLst/>
                        <a:defRPr/>
                      </a:pPr>
                      <a:r>
                        <a:rPr lang="en-US" sz="1000" b="0" kern="1200" noProof="0" dirty="0" smtClean="0">
                          <a:solidFill>
                            <a:schemeClr val="tx1"/>
                          </a:solidFill>
                          <a:latin typeface="+mn-lt"/>
                          <a:ea typeface="+mn-ea"/>
                          <a:cs typeface="Arial" pitchFamily="34" charset="0"/>
                        </a:rPr>
                        <a:t>SG&amp;A costs and carve-out / shared services</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230187" marR="0" lvl="1" indent="-228600" algn="r" defTabSz="762000" rtl="0" eaLnBrk="1" fontAlgn="base" latinLnBrk="0" hangingPunct="1">
                        <a:lnSpc>
                          <a:spcPct val="100000"/>
                        </a:lnSpc>
                        <a:spcBef>
                          <a:spcPct val="40000"/>
                        </a:spcBef>
                        <a:spcAft>
                          <a:spcPct val="0"/>
                        </a:spcAft>
                        <a:buClr>
                          <a:schemeClr val="tx2"/>
                        </a:buClr>
                        <a:buSzPct val="85000"/>
                        <a:buFont typeface="+mj-lt"/>
                        <a:buNone/>
                        <a:tabLst/>
                      </a:pPr>
                      <a:r>
                        <a:rPr lang="en-US" sz="1000" b="0" kern="1200" noProof="0" dirty="0" smtClean="0">
                          <a:solidFill>
                            <a:schemeClr val="tx1"/>
                          </a:solidFill>
                          <a:latin typeface="Arial"/>
                          <a:ea typeface="+mn-ea"/>
                          <a:cs typeface="Arial" pitchFamily="34" charset="0"/>
                        </a:rPr>
                        <a:t>54</a:t>
                      </a:r>
                    </a:p>
                  </a:txBody>
                  <a:tcPr marL="72000" marR="72000" marT="72000" marB="72000" anchor="ctr" horzOverflow="overflow">
                    <a:lnL>
                      <a:noFill/>
                    </a:lnL>
                    <a:lnR cap="flat">
                      <a:noFill/>
                    </a:lnR>
                    <a:lnT>
                      <a:noFill/>
                    </a:lnT>
                    <a:lnB>
                      <a:noFill/>
                    </a:lnB>
                    <a:lnTlToBr>
                      <a:noFill/>
                    </a:lnTlToBr>
                    <a:lnBlToTr>
                      <a:noFill/>
                    </a:lnBlToTr>
                    <a:noFill/>
                  </a:tcPr>
                </a:tc>
              </a:tr>
              <a:tr h="196081">
                <a:tc>
                  <a:txBody>
                    <a:bodyPr/>
                    <a:lstStyle/>
                    <a:p>
                      <a:pPr marL="228600" marR="0" lvl="2" indent="-228600" algn="l" defTabSz="914400" rtl="0" eaLnBrk="1" fontAlgn="base" latinLnBrk="0" hangingPunct="1">
                        <a:lnSpc>
                          <a:spcPct val="100000"/>
                        </a:lnSpc>
                        <a:spcBef>
                          <a:spcPts val="600"/>
                        </a:spcBef>
                        <a:spcAft>
                          <a:spcPct val="0"/>
                        </a:spcAft>
                        <a:buClr>
                          <a:srgbClr val="97989A"/>
                        </a:buClr>
                        <a:buSzPct val="100000"/>
                        <a:buFont typeface="+mj-lt"/>
                        <a:buAutoNum type="arabicPeriod" startAt="6"/>
                        <a:tabLst/>
                        <a:defRPr/>
                      </a:pPr>
                      <a:r>
                        <a:rPr lang="en-US" sz="1000" b="0" kern="1200" noProof="0" dirty="0" smtClean="0">
                          <a:solidFill>
                            <a:schemeClr val="tx1"/>
                          </a:solidFill>
                          <a:latin typeface="+mn-lt"/>
                          <a:ea typeface="+mn-ea"/>
                          <a:cs typeface="Arial" pitchFamily="34" charset="0"/>
                        </a:rPr>
                        <a:t>Originations</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230187" marR="0" lvl="1" indent="-228600" algn="r" defTabSz="762000" rtl="0" eaLnBrk="1" fontAlgn="base" latinLnBrk="0" hangingPunct="1">
                        <a:lnSpc>
                          <a:spcPct val="100000"/>
                        </a:lnSpc>
                        <a:spcBef>
                          <a:spcPct val="40000"/>
                        </a:spcBef>
                        <a:spcAft>
                          <a:spcPct val="0"/>
                        </a:spcAft>
                        <a:buClr>
                          <a:schemeClr val="tx2"/>
                        </a:buClr>
                        <a:buSzPct val="85000"/>
                        <a:buFont typeface="+mj-lt"/>
                        <a:buNone/>
                        <a:tabLst/>
                      </a:pPr>
                      <a:r>
                        <a:rPr lang="en-US" sz="1000" b="0" kern="1200" noProof="0" dirty="0" smtClean="0">
                          <a:solidFill>
                            <a:schemeClr val="tx1"/>
                          </a:solidFill>
                          <a:latin typeface="Arial"/>
                          <a:ea typeface="+mn-ea"/>
                          <a:cs typeface="Arial" pitchFamily="34" charset="0"/>
                        </a:rPr>
                        <a:t>55</a:t>
                      </a:r>
                    </a:p>
                  </a:txBody>
                  <a:tcPr marL="72000" marR="72000" marT="72000" marB="72000" anchor="ctr" horzOverflow="overflow">
                    <a:lnL>
                      <a:noFill/>
                    </a:lnL>
                    <a:lnR cap="flat">
                      <a:noFill/>
                    </a:lnR>
                    <a:lnT>
                      <a:noFill/>
                    </a:lnT>
                    <a:lnB>
                      <a:noFill/>
                    </a:lnB>
                    <a:lnTlToBr>
                      <a:noFill/>
                    </a:lnTlToBr>
                    <a:lnBlToTr>
                      <a:noFill/>
                    </a:lnBlToTr>
                    <a:noFill/>
                  </a:tcPr>
                </a:tc>
              </a:tr>
              <a:tr h="196081">
                <a:tc>
                  <a:txBody>
                    <a:bodyPr/>
                    <a:lstStyle/>
                    <a:p>
                      <a:pPr marL="228600" marR="0" lvl="2" indent="-228600" algn="l" defTabSz="914400" rtl="0" eaLnBrk="1" fontAlgn="base" latinLnBrk="0" hangingPunct="1">
                        <a:lnSpc>
                          <a:spcPct val="100000"/>
                        </a:lnSpc>
                        <a:spcBef>
                          <a:spcPts val="600"/>
                        </a:spcBef>
                        <a:spcAft>
                          <a:spcPct val="0"/>
                        </a:spcAft>
                        <a:buClr>
                          <a:srgbClr val="97989A"/>
                        </a:buClr>
                        <a:buSzPct val="100000"/>
                        <a:buFont typeface="+mj-lt"/>
                        <a:buAutoNum type="arabicPeriod" startAt="7"/>
                        <a:tabLst/>
                        <a:defRPr/>
                      </a:pPr>
                      <a:r>
                        <a:rPr lang="en-US" sz="1000" b="0" kern="1200" noProof="0" dirty="0" smtClean="0">
                          <a:solidFill>
                            <a:schemeClr val="tx1"/>
                          </a:solidFill>
                          <a:latin typeface="+mn-lt"/>
                          <a:ea typeface="+mn-ea"/>
                          <a:cs typeface="Arial" pitchFamily="34" charset="0"/>
                        </a:rPr>
                        <a:t>Fee income</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230187" marR="0" lvl="1" indent="-228600" algn="r" defTabSz="762000" rtl="0" eaLnBrk="1" fontAlgn="base" latinLnBrk="0" hangingPunct="1">
                        <a:lnSpc>
                          <a:spcPct val="100000"/>
                        </a:lnSpc>
                        <a:spcBef>
                          <a:spcPct val="40000"/>
                        </a:spcBef>
                        <a:spcAft>
                          <a:spcPct val="0"/>
                        </a:spcAft>
                        <a:buClr>
                          <a:schemeClr val="tx2"/>
                        </a:buClr>
                        <a:buSzPct val="85000"/>
                        <a:buFont typeface="+mj-lt"/>
                        <a:buNone/>
                        <a:tabLst/>
                      </a:pPr>
                      <a:r>
                        <a:rPr lang="en-US" sz="1000" b="0" kern="1200" noProof="0" dirty="0" smtClean="0">
                          <a:solidFill>
                            <a:schemeClr val="tx1"/>
                          </a:solidFill>
                          <a:latin typeface="Arial"/>
                          <a:ea typeface="+mn-ea"/>
                          <a:cs typeface="Arial" pitchFamily="34" charset="0"/>
                        </a:rPr>
                        <a:t>61</a:t>
                      </a:r>
                    </a:p>
                  </a:txBody>
                  <a:tcPr marL="72000" marR="72000" marT="72000" marB="72000" anchor="ctr" horzOverflow="overflow">
                    <a:lnL>
                      <a:noFill/>
                    </a:lnL>
                    <a:lnR cap="flat">
                      <a:noFill/>
                    </a:lnR>
                    <a:lnT>
                      <a:noFill/>
                    </a:lnT>
                    <a:lnB>
                      <a:noFill/>
                    </a:lnB>
                    <a:lnTlToBr>
                      <a:noFill/>
                    </a:lnTlToBr>
                    <a:lnBlToTr>
                      <a:noFill/>
                    </a:lnBlToTr>
                    <a:noFill/>
                  </a:tcPr>
                </a:tc>
              </a:tr>
              <a:tr h="196081">
                <a:tc>
                  <a:txBody>
                    <a:bodyPr/>
                    <a:lstStyle/>
                    <a:p>
                      <a:pPr marL="228600" marR="0" lvl="2" indent="-228600" algn="l" defTabSz="914400" rtl="0" eaLnBrk="1" fontAlgn="base" latinLnBrk="0" hangingPunct="1">
                        <a:lnSpc>
                          <a:spcPct val="100000"/>
                        </a:lnSpc>
                        <a:spcBef>
                          <a:spcPts val="600"/>
                        </a:spcBef>
                        <a:spcAft>
                          <a:spcPct val="0"/>
                        </a:spcAft>
                        <a:buClr>
                          <a:srgbClr val="97989A"/>
                        </a:buClr>
                        <a:buSzPct val="100000"/>
                        <a:buFont typeface="+mj-lt"/>
                        <a:buAutoNum type="arabicPeriod" startAt="8"/>
                        <a:tabLst/>
                        <a:defRPr/>
                      </a:pPr>
                      <a:r>
                        <a:rPr lang="en-US" sz="1000" b="0" kern="1200" noProof="0" dirty="0" smtClean="0">
                          <a:solidFill>
                            <a:schemeClr val="tx1"/>
                          </a:solidFill>
                          <a:latin typeface="+mn-lt"/>
                          <a:ea typeface="+mn-ea"/>
                          <a:cs typeface="Arial" pitchFamily="34" charset="0"/>
                        </a:rPr>
                        <a:t>Quarterly balance sheet</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230187" marR="0" lvl="1" indent="-228600" algn="r" defTabSz="762000" rtl="0" eaLnBrk="1" fontAlgn="base" latinLnBrk="0" hangingPunct="1">
                        <a:lnSpc>
                          <a:spcPct val="100000"/>
                        </a:lnSpc>
                        <a:spcBef>
                          <a:spcPct val="40000"/>
                        </a:spcBef>
                        <a:spcAft>
                          <a:spcPct val="0"/>
                        </a:spcAft>
                        <a:buClr>
                          <a:schemeClr val="tx2"/>
                        </a:buClr>
                        <a:buSzPct val="85000"/>
                        <a:buFont typeface="+mj-lt"/>
                        <a:buNone/>
                        <a:tabLst/>
                      </a:pPr>
                      <a:r>
                        <a:rPr lang="en-US" sz="1000" b="0" kern="1200" noProof="0" dirty="0" smtClean="0">
                          <a:solidFill>
                            <a:schemeClr val="tx1"/>
                          </a:solidFill>
                          <a:latin typeface="Arial"/>
                          <a:ea typeface="+mn-ea"/>
                          <a:cs typeface="Arial" pitchFamily="34" charset="0"/>
                        </a:rPr>
                        <a:t>63</a:t>
                      </a:r>
                    </a:p>
                  </a:txBody>
                  <a:tcPr marL="72000" marR="72000" marT="72000" marB="72000" anchor="ctr" horzOverflow="overflow">
                    <a:lnL>
                      <a:noFill/>
                    </a:lnL>
                    <a:lnR cap="flat">
                      <a:noFill/>
                    </a:lnR>
                    <a:lnT>
                      <a:noFill/>
                    </a:lnT>
                    <a:lnB>
                      <a:noFill/>
                    </a:lnB>
                    <a:lnTlToBr>
                      <a:noFill/>
                    </a:lnTlToBr>
                    <a:lnBlToTr>
                      <a:noFill/>
                    </a:lnBlToTr>
                    <a:noFill/>
                  </a:tcPr>
                </a:tc>
              </a:tr>
              <a:tr h="196081">
                <a:tc>
                  <a:txBody>
                    <a:bodyPr/>
                    <a:lstStyle/>
                    <a:p>
                      <a:pPr marL="228600" marR="0" lvl="2" indent="-228600" algn="l" defTabSz="914400" rtl="0" eaLnBrk="1" fontAlgn="base" latinLnBrk="0" hangingPunct="1">
                        <a:lnSpc>
                          <a:spcPct val="100000"/>
                        </a:lnSpc>
                        <a:spcBef>
                          <a:spcPts val="600"/>
                        </a:spcBef>
                        <a:spcAft>
                          <a:spcPct val="0"/>
                        </a:spcAft>
                        <a:buClr>
                          <a:srgbClr val="97989A"/>
                        </a:buClr>
                        <a:buSzPct val="100000"/>
                        <a:buFont typeface="+mj-lt"/>
                        <a:buAutoNum type="arabicPeriod" startAt="9"/>
                        <a:tabLst/>
                        <a:defRPr/>
                      </a:pPr>
                      <a:r>
                        <a:rPr lang="en-US" sz="1000" b="0" kern="1200" noProof="0" dirty="0" smtClean="0">
                          <a:solidFill>
                            <a:schemeClr val="tx1"/>
                          </a:solidFill>
                          <a:latin typeface="+mn-lt"/>
                          <a:ea typeface="+mn-ea"/>
                          <a:cs typeface="Arial" pitchFamily="34" charset="0"/>
                        </a:rPr>
                        <a:t>Debt portfolio</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230187" marR="0" lvl="1" indent="-228600" algn="r" defTabSz="762000" rtl="0" eaLnBrk="1" fontAlgn="base" latinLnBrk="0" hangingPunct="1">
                        <a:lnSpc>
                          <a:spcPct val="100000"/>
                        </a:lnSpc>
                        <a:spcBef>
                          <a:spcPct val="40000"/>
                        </a:spcBef>
                        <a:spcAft>
                          <a:spcPct val="0"/>
                        </a:spcAft>
                        <a:buClr>
                          <a:schemeClr val="tx2"/>
                        </a:buClr>
                        <a:buSzPct val="85000"/>
                        <a:buFont typeface="+mj-lt"/>
                        <a:buNone/>
                        <a:tabLst/>
                      </a:pPr>
                      <a:r>
                        <a:rPr lang="en-US" sz="1000" b="0" kern="1200" noProof="0" dirty="0" smtClean="0">
                          <a:solidFill>
                            <a:schemeClr val="tx1"/>
                          </a:solidFill>
                          <a:latin typeface="Arial"/>
                          <a:ea typeface="+mn-ea"/>
                          <a:cs typeface="Arial" pitchFamily="34" charset="0"/>
                        </a:rPr>
                        <a:t>64</a:t>
                      </a:r>
                    </a:p>
                  </a:txBody>
                  <a:tcPr marL="72000" marR="72000" marT="72000" marB="72000" anchor="ctr" horzOverflow="overflow">
                    <a:lnL>
                      <a:noFill/>
                    </a:lnL>
                    <a:lnR cap="flat">
                      <a:noFill/>
                    </a:lnR>
                    <a:lnT>
                      <a:noFill/>
                    </a:lnT>
                    <a:lnB>
                      <a:noFill/>
                    </a:lnB>
                    <a:lnTlToBr>
                      <a:noFill/>
                    </a:lnTlToBr>
                    <a:lnBlToTr>
                      <a:noFill/>
                    </a:lnBlToTr>
                    <a:noFill/>
                  </a:tcPr>
                </a:tc>
              </a:tr>
              <a:tr h="196081">
                <a:tc>
                  <a:txBody>
                    <a:bodyPr/>
                    <a:lstStyle/>
                    <a:p>
                      <a:pPr marL="228600" marR="0" lvl="2" indent="-228600" algn="l" defTabSz="914400" rtl="0" eaLnBrk="1" fontAlgn="base" latinLnBrk="0" hangingPunct="1">
                        <a:lnSpc>
                          <a:spcPct val="100000"/>
                        </a:lnSpc>
                        <a:spcBef>
                          <a:spcPts val="600"/>
                        </a:spcBef>
                        <a:spcAft>
                          <a:spcPct val="0"/>
                        </a:spcAft>
                        <a:buClr>
                          <a:srgbClr val="97989A"/>
                        </a:buClr>
                        <a:buSzPct val="100000"/>
                        <a:buFont typeface="+mj-lt"/>
                        <a:buAutoNum type="arabicPeriod" startAt="10"/>
                        <a:tabLst/>
                        <a:defRPr/>
                      </a:pPr>
                      <a:r>
                        <a:rPr lang="en-US" sz="1000" b="0" kern="1200" noProof="0" dirty="0" smtClean="0">
                          <a:solidFill>
                            <a:schemeClr val="tx1"/>
                          </a:solidFill>
                          <a:latin typeface="+mn-lt"/>
                          <a:ea typeface="+mn-ea"/>
                          <a:cs typeface="Arial" pitchFamily="34" charset="0"/>
                        </a:rPr>
                        <a:t>Equity co-investments</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230187" marR="0" lvl="1" indent="-228600" algn="r" defTabSz="762000" rtl="0" eaLnBrk="1" fontAlgn="base" latinLnBrk="0" hangingPunct="1">
                        <a:lnSpc>
                          <a:spcPct val="100000"/>
                        </a:lnSpc>
                        <a:spcBef>
                          <a:spcPct val="40000"/>
                        </a:spcBef>
                        <a:spcAft>
                          <a:spcPct val="0"/>
                        </a:spcAft>
                        <a:buClr>
                          <a:schemeClr val="tx2"/>
                        </a:buClr>
                        <a:buSzPct val="85000"/>
                        <a:buFont typeface="+mj-lt"/>
                        <a:buNone/>
                        <a:tabLst/>
                      </a:pPr>
                      <a:r>
                        <a:rPr lang="en-US" sz="1000" b="0" kern="1200" noProof="0" dirty="0" smtClean="0">
                          <a:solidFill>
                            <a:schemeClr val="tx1"/>
                          </a:solidFill>
                          <a:latin typeface="Arial"/>
                          <a:ea typeface="+mn-ea"/>
                          <a:cs typeface="Arial" pitchFamily="34" charset="0"/>
                        </a:rPr>
                        <a:t>68</a:t>
                      </a:r>
                    </a:p>
                  </a:txBody>
                  <a:tcPr marL="72000" marR="72000" marT="72000" marB="72000" anchor="ctr" horzOverflow="overflow">
                    <a:lnL>
                      <a:noFill/>
                    </a:lnL>
                    <a:lnR cap="flat">
                      <a:noFill/>
                    </a:lnR>
                    <a:lnT>
                      <a:noFill/>
                    </a:lnT>
                    <a:lnB>
                      <a:noFill/>
                    </a:lnB>
                    <a:lnTlToBr>
                      <a:noFill/>
                    </a:lnTlToBr>
                    <a:lnBlToTr>
                      <a:noFill/>
                    </a:lnBlToTr>
                    <a:noFill/>
                  </a:tcPr>
                </a:tc>
              </a:tr>
              <a:tr h="196081">
                <a:tc>
                  <a:txBody>
                    <a:bodyPr/>
                    <a:lstStyle/>
                    <a:p>
                      <a:pPr marL="228600" marR="0" lvl="2" indent="-228600" algn="l" defTabSz="914400" rtl="0" eaLnBrk="1" fontAlgn="base" latinLnBrk="0" hangingPunct="1">
                        <a:lnSpc>
                          <a:spcPct val="100000"/>
                        </a:lnSpc>
                        <a:spcBef>
                          <a:spcPts val="600"/>
                        </a:spcBef>
                        <a:spcAft>
                          <a:spcPct val="0"/>
                        </a:spcAft>
                        <a:buClr>
                          <a:srgbClr val="97989A"/>
                        </a:buClr>
                        <a:buSzPct val="100000"/>
                        <a:buFont typeface="+mj-lt"/>
                        <a:buAutoNum type="arabicPeriod" startAt="11"/>
                        <a:tabLst/>
                        <a:defRPr/>
                      </a:pPr>
                      <a:r>
                        <a:rPr lang="en-US" sz="1000" b="0" kern="1200" noProof="0" dirty="0" smtClean="0">
                          <a:solidFill>
                            <a:schemeClr val="tx1"/>
                          </a:solidFill>
                          <a:latin typeface="+mn-lt"/>
                          <a:ea typeface="+mn-ea"/>
                          <a:cs typeface="Arial" pitchFamily="34" charset="0"/>
                        </a:rPr>
                        <a:t>Portfolio yield</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230187" marR="0" lvl="1" indent="-228600" algn="r" defTabSz="762000" rtl="0" eaLnBrk="1" fontAlgn="base" latinLnBrk="0" hangingPunct="1">
                        <a:lnSpc>
                          <a:spcPct val="100000"/>
                        </a:lnSpc>
                        <a:spcBef>
                          <a:spcPct val="40000"/>
                        </a:spcBef>
                        <a:spcAft>
                          <a:spcPct val="0"/>
                        </a:spcAft>
                        <a:buClr>
                          <a:schemeClr val="tx2"/>
                        </a:buClr>
                        <a:buSzPct val="85000"/>
                        <a:buFont typeface="+mj-lt"/>
                        <a:buNone/>
                        <a:tabLst/>
                      </a:pPr>
                      <a:r>
                        <a:rPr lang="en-US" sz="1000" b="0" kern="1200" noProof="0" dirty="0" smtClean="0">
                          <a:solidFill>
                            <a:schemeClr val="tx1"/>
                          </a:solidFill>
                          <a:latin typeface="Arial"/>
                          <a:ea typeface="+mn-ea"/>
                          <a:cs typeface="Arial" pitchFamily="34" charset="0"/>
                        </a:rPr>
                        <a:t>70</a:t>
                      </a:r>
                    </a:p>
                  </a:txBody>
                  <a:tcPr marL="72000" marR="72000" marT="72000" marB="72000" anchor="ctr" horzOverflow="overflow">
                    <a:lnL>
                      <a:noFill/>
                    </a:lnL>
                    <a:lnR cap="flat">
                      <a:noFill/>
                    </a:lnR>
                    <a:lnT>
                      <a:noFill/>
                    </a:lnT>
                    <a:lnB>
                      <a:noFill/>
                    </a:lnB>
                    <a:lnTlToBr>
                      <a:noFill/>
                    </a:lnTlToBr>
                    <a:lnBlToTr>
                      <a:noFill/>
                    </a:lnBlToTr>
                    <a:noFill/>
                  </a:tcPr>
                </a:tc>
              </a:tr>
              <a:tr h="196081">
                <a:tc>
                  <a:txBody>
                    <a:bodyPr/>
                    <a:lstStyle/>
                    <a:p>
                      <a:pPr marL="228600" marR="0" lvl="2" indent="-228600" algn="l" defTabSz="914400" rtl="0" eaLnBrk="1" fontAlgn="base" latinLnBrk="0" hangingPunct="1">
                        <a:lnSpc>
                          <a:spcPct val="100000"/>
                        </a:lnSpc>
                        <a:spcBef>
                          <a:spcPts val="600"/>
                        </a:spcBef>
                        <a:spcAft>
                          <a:spcPct val="0"/>
                        </a:spcAft>
                        <a:buClr>
                          <a:srgbClr val="97989A"/>
                        </a:buClr>
                        <a:buSzPct val="100000"/>
                        <a:buFont typeface="+mj-lt"/>
                        <a:buAutoNum type="arabicPeriod" startAt="12"/>
                        <a:tabLst/>
                        <a:defRPr/>
                      </a:pPr>
                      <a:r>
                        <a:rPr lang="en-US" sz="1000" b="0" kern="1200" noProof="0" dirty="0" smtClean="0">
                          <a:solidFill>
                            <a:schemeClr val="tx1"/>
                          </a:solidFill>
                          <a:latin typeface="+mn-lt"/>
                          <a:ea typeface="+mn-ea"/>
                          <a:cs typeface="Arial" pitchFamily="34" charset="0"/>
                        </a:rPr>
                        <a:t>Illustrative</a:t>
                      </a:r>
                      <a:r>
                        <a:rPr lang="en-US" sz="1000" b="0" kern="1200" baseline="0" noProof="0" dirty="0" smtClean="0">
                          <a:solidFill>
                            <a:schemeClr val="tx1"/>
                          </a:solidFill>
                          <a:latin typeface="+mn-lt"/>
                          <a:ea typeface="+mn-ea"/>
                          <a:cs typeface="Arial" pitchFamily="34" charset="0"/>
                        </a:rPr>
                        <a:t> loan economics</a:t>
                      </a:r>
                      <a:endParaRPr lang="en-US" sz="1000" b="0" kern="1200" noProof="0" dirty="0" smtClean="0">
                        <a:solidFill>
                          <a:schemeClr val="tx1"/>
                        </a:solidFill>
                        <a:latin typeface="+mn-lt"/>
                        <a:ea typeface="+mn-ea"/>
                        <a:cs typeface="Arial" pitchFamily="34" charset="0"/>
                      </a:endParaRP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230187" marR="0" lvl="1" indent="-228600" algn="r" defTabSz="762000" rtl="0" eaLnBrk="1" fontAlgn="base" latinLnBrk="0" hangingPunct="1">
                        <a:lnSpc>
                          <a:spcPct val="100000"/>
                        </a:lnSpc>
                        <a:spcBef>
                          <a:spcPct val="40000"/>
                        </a:spcBef>
                        <a:spcAft>
                          <a:spcPct val="0"/>
                        </a:spcAft>
                        <a:buClr>
                          <a:schemeClr val="tx2"/>
                        </a:buClr>
                        <a:buSzPct val="85000"/>
                        <a:buFont typeface="+mj-lt"/>
                        <a:buNone/>
                        <a:tabLst/>
                      </a:pPr>
                      <a:r>
                        <a:rPr lang="en-US" sz="1000" b="0" kern="1200" noProof="0" dirty="0" smtClean="0">
                          <a:solidFill>
                            <a:schemeClr val="tx1"/>
                          </a:solidFill>
                          <a:latin typeface="Arial"/>
                          <a:ea typeface="+mn-ea"/>
                          <a:cs typeface="Arial" pitchFamily="34" charset="0"/>
                        </a:rPr>
                        <a:t>74</a:t>
                      </a:r>
                    </a:p>
                  </a:txBody>
                  <a:tcPr marL="72000" marR="72000" marT="72000" marB="72000" anchor="ctr" horzOverflow="overflow">
                    <a:lnL>
                      <a:noFill/>
                    </a:lnL>
                    <a:lnR cap="flat">
                      <a:noFill/>
                    </a:lnR>
                    <a:lnT>
                      <a:noFill/>
                    </a:lnT>
                    <a:lnB>
                      <a:noFill/>
                    </a:lnB>
                    <a:lnTlToBr>
                      <a:noFill/>
                    </a:lnTlToBr>
                    <a:lnBlToTr>
                      <a:noFill/>
                    </a:lnBlToTr>
                    <a:noFill/>
                  </a:tcPr>
                </a:tc>
              </a:tr>
              <a:tr h="196081">
                <a:tc>
                  <a:txBody>
                    <a:bodyPr/>
                    <a:lstStyle/>
                    <a:p>
                      <a:pPr marL="228600" marR="0" lvl="2" indent="-228600" algn="l" defTabSz="914400" rtl="0" eaLnBrk="1" fontAlgn="base" latinLnBrk="0" hangingPunct="1">
                        <a:lnSpc>
                          <a:spcPct val="100000"/>
                        </a:lnSpc>
                        <a:spcBef>
                          <a:spcPts val="600"/>
                        </a:spcBef>
                        <a:spcAft>
                          <a:spcPct val="0"/>
                        </a:spcAft>
                        <a:buClr>
                          <a:srgbClr val="97989A"/>
                        </a:buClr>
                        <a:buSzPct val="100000"/>
                        <a:buFont typeface="+mj-lt"/>
                        <a:buAutoNum type="arabicPeriod" startAt="13"/>
                        <a:tabLst/>
                        <a:defRPr/>
                      </a:pPr>
                      <a:r>
                        <a:rPr lang="en-US" sz="1000" b="0" kern="1200" noProof="0" dirty="0" smtClean="0">
                          <a:solidFill>
                            <a:schemeClr val="tx1"/>
                          </a:solidFill>
                          <a:latin typeface="+mn-lt"/>
                          <a:ea typeface="+mn-ea"/>
                          <a:cs typeface="Arial" pitchFamily="34" charset="0"/>
                        </a:rPr>
                        <a:t>Unfunded</a:t>
                      </a:r>
                      <a:r>
                        <a:rPr lang="en-US" sz="1000" b="0" kern="1200" baseline="0" noProof="0" dirty="0" smtClean="0">
                          <a:solidFill>
                            <a:schemeClr val="tx1"/>
                          </a:solidFill>
                          <a:latin typeface="+mn-lt"/>
                          <a:ea typeface="+mn-ea"/>
                          <a:cs typeface="Arial" pitchFamily="34" charset="0"/>
                        </a:rPr>
                        <a:t> and </a:t>
                      </a:r>
                      <a:r>
                        <a:rPr lang="en-US" sz="1000" b="0" kern="1200" noProof="0" dirty="0" smtClean="0">
                          <a:solidFill>
                            <a:schemeClr val="tx1"/>
                          </a:solidFill>
                          <a:latin typeface="+mn-lt"/>
                          <a:ea typeface="+mn-ea"/>
                          <a:cs typeface="Arial" pitchFamily="34" charset="0"/>
                        </a:rPr>
                        <a:t>funded commitments</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230187" marR="0" lvl="1" indent="-228600" algn="r" defTabSz="762000" rtl="0" eaLnBrk="1" fontAlgn="base" latinLnBrk="0" hangingPunct="1">
                        <a:lnSpc>
                          <a:spcPct val="100000"/>
                        </a:lnSpc>
                        <a:spcBef>
                          <a:spcPct val="40000"/>
                        </a:spcBef>
                        <a:spcAft>
                          <a:spcPct val="0"/>
                        </a:spcAft>
                        <a:buClr>
                          <a:schemeClr val="tx2"/>
                        </a:buClr>
                        <a:buSzPct val="85000"/>
                        <a:buFont typeface="+mj-lt"/>
                        <a:buNone/>
                        <a:tabLst/>
                      </a:pPr>
                      <a:r>
                        <a:rPr lang="en-US" sz="1000" b="0" kern="1200" noProof="0" dirty="0" smtClean="0">
                          <a:solidFill>
                            <a:schemeClr val="tx1"/>
                          </a:solidFill>
                          <a:latin typeface="Arial"/>
                          <a:ea typeface="+mn-ea"/>
                          <a:cs typeface="Arial" pitchFamily="34" charset="0"/>
                        </a:rPr>
                        <a:t>75</a:t>
                      </a:r>
                    </a:p>
                  </a:txBody>
                  <a:tcPr marL="72000" marR="72000" marT="72000" marB="72000" anchor="ctr" horzOverflow="overflow">
                    <a:lnL>
                      <a:noFill/>
                    </a:lnL>
                    <a:lnR cap="flat">
                      <a:noFill/>
                    </a:lnR>
                    <a:lnT>
                      <a:noFill/>
                    </a:lnT>
                    <a:lnB>
                      <a:noFill/>
                    </a:lnB>
                    <a:lnTlToBr>
                      <a:noFill/>
                    </a:lnTlToBr>
                    <a:lnBlToTr>
                      <a:noFill/>
                    </a:lnBlToTr>
                    <a:noFill/>
                  </a:tcPr>
                </a:tc>
              </a:tr>
              <a:tr h="196081">
                <a:tc>
                  <a:txBody>
                    <a:bodyPr/>
                    <a:lstStyle/>
                    <a:p>
                      <a:pPr marL="228600" marR="0" lvl="2" indent="-228600" algn="l" defTabSz="914400" rtl="0" eaLnBrk="1" fontAlgn="base" latinLnBrk="0" hangingPunct="1">
                        <a:lnSpc>
                          <a:spcPct val="100000"/>
                        </a:lnSpc>
                        <a:spcBef>
                          <a:spcPts val="600"/>
                        </a:spcBef>
                        <a:spcAft>
                          <a:spcPct val="0"/>
                        </a:spcAft>
                        <a:buClr>
                          <a:srgbClr val="97989A"/>
                        </a:buClr>
                        <a:buSzPct val="100000"/>
                        <a:buFont typeface="+mj-lt"/>
                        <a:buAutoNum type="arabicPeriod" startAt="14"/>
                        <a:tabLst/>
                        <a:defRPr/>
                      </a:pPr>
                      <a:r>
                        <a:rPr lang="en-US" sz="1000" b="0" kern="1200" noProof="0" dirty="0" smtClean="0">
                          <a:solidFill>
                            <a:schemeClr val="tx1"/>
                          </a:solidFill>
                          <a:latin typeface="+mn-lt"/>
                          <a:ea typeface="+mn-ea"/>
                          <a:cs typeface="Arial" pitchFamily="34" charset="0"/>
                        </a:rPr>
                        <a:t>Asset quality</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230187" marR="0" lvl="1" indent="-228600" algn="r" defTabSz="762000" rtl="0" eaLnBrk="1" fontAlgn="base" latinLnBrk="0" hangingPunct="1">
                        <a:lnSpc>
                          <a:spcPct val="100000"/>
                        </a:lnSpc>
                        <a:spcBef>
                          <a:spcPct val="40000"/>
                        </a:spcBef>
                        <a:spcAft>
                          <a:spcPct val="0"/>
                        </a:spcAft>
                        <a:buClr>
                          <a:schemeClr val="tx2"/>
                        </a:buClr>
                        <a:buSzPct val="85000"/>
                        <a:buFont typeface="+mj-lt"/>
                        <a:buNone/>
                        <a:tabLst/>
                      </a:pPr>
                      <a:r>
                        <a:rPr lang="en-US" sz="1000" b="0" kern="1200" noProof="0" dirty="0" smtClean="0">
                          <a:solidFill>
                            <a:schemeClr val="tx1"/>
                          </a:solidFill>
                          <a:latin typeface="Arial"/>
                          <a:ea typeface="+mn-ea"/>
                          <a:cs typeface="Arial" pitchFamily="34" charset="0"/>
                        </a:rPr>
                        <a:t>76</a:t>
                      </a:r>
                    </a:p>
                  </a:txBody>
                  <a:tcPr marL="72000" marR="72000" marT="72000" marB="72000" anchor="ctr" horzOverflow="overflow">
                    <a:lnL>
                      <a:noFill/>
                    </a:lnL>
                    <a:lnR cap="flat">
                      <a:noFill/>
                    </a:lnR>
                    <a:lnT>
                      <a:noFill/>
                    </a:lnT>
                    <a:lnB>
                      <a:noFill/>
                    </a:lnB>
                    <a:lnTlToBr>
                      <a:noFill/>
                    </a:lnTlToBr>
                    <a:lnBlToTr>
                      <a:noFill/>
                    </a:lnBlToTr>
                    <a:noFill/>
                  </a:tcPr>
                </a:tc>
              </a:tr>
              <a:tr h="196081">
                <a:tc>
                  <a:txBody>
                    <a:bodyPr/>
                    <a:lstStyle/>
                    <a:p>
                      <a:pPr marL="228600" marR="0" lvl="2" indent="-228600" algn="l" defTabSz="914400" rtl="0" eaLnBrk="1" fontAlgn="base" latinLnBrk="0" hangingPunct="1">
                        <a:lnSpc>
                          <a:spcPct val="100000"/>
                        </a:lnSpc>
                        <a:spcBef>
                          <a:spcPts val="600"/>
                        </a:spcBef>
                        <a:spcAft>
                          <a:spcPct val="0"/>
                        </a:spcAft>
                        <a:buClr>
                          <a:srgbClr val="97989A"/>
                        </a:buClr>
                        <a:buSzPct val="100000"/>
                        <a:buFont typeface="+mj-lt"/>
                        <a:buAutoNum type="arabicPeriod" startAt="15"/>
                        <a:tabLst/>
                        <a:defRPr/>
                      </a:pPr>
                      <a:r>
                        <a:rPr lang="en-US" sz="1000" b="0" kern="1200" noProof="0" dirty="0" smtClean="0">
                          <a:solidFill>
                            <a:schemeClr val="tx1"/>
                          </a:solidFill>
                          <a:latin typeface="+mn-lt"/>
                          <a:ea typeface="+mn-ea"/>
                          <a:cs typeface="Arial" pitchFamily="34" charset="0"/>
                        </a:rPr>
                        <a:t>Budgets</a:t>
                      </a:r>
                      <a:r>
                        <a:rPr lang="en-US" sz="1000" b="0" kern="1200" baseline="0" noProof="0" dirty="0" smtClean="0">
                          <a:solidFill>
                            <a:schemeClr val="tx1"/>
                          </a:solidFill>
                          <a:latin typeface="+mn-lt"/>
                          <a:ea typeface="+mn-ea"/>
                          <a:cs typeface="Arial" pitchFamily="34" charset="0"/>
                        </a:rPr>
                        <a:t> and projections</a:t>
                      </a:r>
                      <a:endParaRPr lang="en-US" sz="1000" b="0" kern="1200" noProof="0" dirty="0" smtClean="0">
                        <a:solidFill>
                          <a:schemeClr val="tx1"/>
                        </a:solidFill>
                        <a:latin typeface="+mn-lt"/>
                        <a:ea typeface="+mn-ea"/>
                        <a:cs typeface="Arial" pitchFamily="34" charset="0"/>
                      </a:endParaRP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230187" marR="0" lvl="1" indent="-228600" algn="r" defTabSz="762000" rtl="0" eaLnBrk="1" fontAlgn="base" latinLnBrk="0" hangingPunct="1">
                        <a:lnSpc>
                          <a:spcPct val="100000"/>
                        </a:lnSpc>
                        <a:spcBef>
                          <a:spcPct val="40000"/>
                        </a:spcBef>
                        <a:spcAft>
                          <a:spcPct val="0"/>
                        </a:spcAft>
                        <a:buClr>
                          <a:schemeClr val="tx2"/>
                        </a:buClr>
                        <a:buSzPct val="85000"/>
                        <a:buFont typeface="+mj-lt"/>
                        <a:buNone/>
                        <a:tabLst/>
                      </a:pPr>
                      <a:r>
                        <a:rPr lang="en-US" sz="1000" b="0" kern="1200" noProof="0" dirty="0" smtClean="0">
                          <a:solidFill>
                            <a:schemeClr val="tx1"/>
                          </a:solidFill>
                          <a:latin typeface="Arial"/>
                          <a:ea typeface="+mn-ea"/>
                          <a:cs typeface="Arial" pitchFamily="34" charset="0"/>
                        </a:rPr>
                        <a:t>77</a:t>
                      </a:r>
                    </a:p>
                  </a:txBody>
                  <a:tcPr marL="72000" marR="72000" marT="72000" marB="72000" anchor="ctr" horzOverflow="overflow">
                    <a:lnL>
                      <a:noFill/>
                    </a:lnL>
                    <a:lnR cap="flat">
                      <a:noFill/>
                    </a:lnR>
                    <a:lnT>
                      <a:noFill/>
                    </a:lnT>
                    <a:lnB>
                      <a:noFill/>
                    </a:lnB>
                    <a:lnTlToBr>
                      <a:noFill/>
                    </a:lnTlToBr>
                    <a:lnBlToTr>
                      <a:noFill/>
                    </a:lnBlToTr>
                    <a:noFill/>
                  </a:tcPr>
                </a:tc>
              </a:tr>
              <a:tr h="0">
                <a:tc>
                  <a:txBody>
                    <a:bodyPr/>
                    <a:lstStyle/>
                    <a:p>
                      <a:pPr marL="228600" marR="0" lvl="2" indent="-228600" algn="l" defTabSz="914400" rtl="0" eaLnBrk="1" fontAlgn="base" latinLnBrk="0" hangingPunct="1">
                        <a:lnSpc>
                          <a:spcPct val="100000"/>
                        </a:lnSpc>
                        <a:spcBef>
                          <a:spcPts val="600"/>
                        </a:spcBef>
                        <a:spcAft>
                          <a:spcPct val="0"/>
                        </a:spcAft>
                        <a:buClr>
                          <a:srgbClr val="97989A"/>
                        </a:buClr>
                        <a:buSzPct val="100000"/>
                        <a:buFont typeface="+mj-lt"/>
                        <a:buAutoNum type="arabicPeriod" startAt="16"/>
                        <a:tabLst/>
                        <a:defRPr/>
                      </a:pPr>
                      <a:r>
                        <a:rPr lang="en-US" sz="1000" b="0" kern="1200" noProof="0" dirty="0" smtClean="0">
                          <a:solidFill>
                            <a:schemeClr val="tx1"/>
                          </a:solidFill>
                          <a:latin typeface="+mn-lt"/>
                          <a:ea typeface="+mn-ea"/>
                          <a:cs typeface="Arial" pitchFamily="34" charset="0"/>
                        </a:rPr>
                        <a:t>Bank Loan Group</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230187" marR="0" lvl="1" indent="-228600" algn="r" defTabSz="762000" rtl="0" eaLnBrk="1" fontAlgn="base" latinLnBrk="0" hangingPunct="1">
                        <a:lnSpc>
                          <a:spcPct val="100000"/>
                        </a:lnSpc>
                        <a:spcBef>
                          <a:spcPct val="40000"/>
                        </a:spcBef>
                        <a:spcAft>
                          <a:spcPct val="0"/>
                        </a:spcAft>
                        <a:buClr>
                          <a:schemeClr val="tx2"/>
                        </a:buClr>
                        <a:buSzPct val="85000"/>
                        <a:buFont typeface="+mj-lt"/>
                        <a:buNone/>
                        <a:tabLst/>
                      </a:pPr>
                      <a:r>
                        <a:rPr lang="en-US" sz="1000" b="0" kern="1200" noProof="0" dirty="0" smtClean="0">
                          <a:solidFill>
                            <a:schemeClr val="tx1"/>
                          </a:solidFill>
                          <a:latin typeface="Arial"/>
                          <a:ea typeface="+mn-ea"/>
                          <a:cs typeface="Arial" pitchFamily="34" charset="0"/>
                        </a:rPr>
                        <a:t>79</a:t>
                      </a:r>
                    </a:p>
                  </a:txBody>
                  <a:tcPr marL="72000" marR="72000" marT="72000" marB="72000" anchor="ctr" horzOverflow="overflow">
                    <a:lnL>
                      <a:noFill/>
                    </a:lnL>
                    <a:lnR cap="flat">
                      <a:noFill/>
                    </a:lnR>
                    <a:lnT>
                      <a:noFill/>
                    </a:lnT>
                    <a:lnB>
                      <a:noFill/>
                    </a:lnB>
                    <a:lnTlToBr>
                      <a:noFill/>
                    </a:lnTlToBr>
                    <a:lnBlToTr>
                      <a:noFill/>
                    </a:lnBlToTr>
                    <a:noFill/>
                  </a:tcPr>
                </a:tc>
              </a:tr>
              <a:tr h="0">
                <a:tc>
                  <a:txBody>
                    <a:bodyPr/>
                    <a:lstStyle/>
                    <a:p>
                      <a:pPr marL="1587" marR="0" lvl="1" indent="0" algn="l" defTabSz="762000" rtl="0" eaLnBrk="1" fontAlgn="base" latinLnBrk="0" hangingPunct="1">
                        <a:lnSpc>
                          <a:spcPct val="100000"/>
                        </a:lnSpc>
                        <a:spcBef>
                          <a:spcPct val="40000"/>
                        </a:spcBef>
                        <a:spcAft>
                          <a:spcPct val="0"/>
                        </a:spcAft>
                        <a:buClr>
                          <a:schemeClr val="tx2"/>
                        </a:buClr>
                        <a:buSzPct val="85000"/>
                        <a:buFont typeface="+mj-lt"/>
                        <a:buNone/>
                        <a:tabLst/>
                      </a:pPr>
                      <a:r>
                        <a:rPr lang="en-US" sz="1000" b="0" kern="1200" noProof="0" dirty="0" smtClean="0">
                          <a:solidFill>
                            <a:schemeClr val="bg1">
                              <a:lumMod val="65000"/>
                            </a:schemeClr>
                          </a:solidFill>
                          <a:latin typeface="Arial"/>
                          <a:ea typeface="+mn-ea"/>
                          <a:cs typeface="Arial" pitchFamily="34" charset="0"/>
                        </a:rPr>
                        <a:t>17.</a:t>
                      </a:r>
                      <a:r>
                        <a:rPr lang="en-US" sz="1000" b="0" kern="1200" noProof="0" dirty="0" smtClean="0">
                          <a:solidFill>
                            <a:schemeClr val="tx1"/>
                          </a:solidFill>
                          <a:latin typeface="Arial"/>
                          <a:ea typeface="+mn-ea"/>
                          <a:cs typeface="Arial" pitchFamily="34" charset="0"/>
                        </a:rPr>
                        <a:t> ENI bridges</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230187" marR="0" lvl="1" indent="-228600" algn="r" defTabSz="762000" rtl="0" eaLnBrk="1" fontAlgn="base" latinLnBrk="0" hangingPunct="1">
                        <a:lnSpc>
                          <a:spcPct val="100000"/>
                        </a:lnSpc>
                        <a:spcBef>
                          <a:spcPct val="40000"/>
                        </a:spcBef>
                        <a:spcAft>
                          <a:spcPct val="0"/>
                        </a:spcAft>
                        <a:buClr>
                          <a:schemeClr val="tx2"/>
                        </a:buClr>
                        <a:buSzPct val="85000"/>
                        <a:buFont typeface="+mj-lt"/>
                        <a:buNone/>
                        <a:tabLst/>
                      </a:pPr>
                      <a:r>
                        <a:rPr lang="en-US" sz="1000" b="0" kern="1200" noProof="0" dirty="0" smtClean="0">
                          <a:solidFill>
                            <a:schemeClr val="tx1"/>
                          </a:solidFill>
                          <a:latin typeface="Arial"/>
                          <a:ea typeface="+mn-ea"/>
                          <a:cs typeface="Arial" pitchFamily="34" charset="0"/>
                        </a:rPr>
                        <a:t>80</a:t>
                      </a:r>
                    </a:p>
                  </a:txBody>
                  <a:tcPr marL="72000" marR="72000" marT="72000" marB="72000" anchor="ctr" horzOverflow="overflow">
                    <a:lnL>
                      <a:noFill/>
                    </a:lnL>
                    <a:lnR cap="flat">
                      <a:noFill/>
                    </a:lnR>
                    <a:lnT>
                      <a:noFill/>
                    </a:lnT>
                    <a:lnB>
                      <a:noFill/>
                    </a:lnB>
                    <a:lnTlToBr>
                      <a:noFill/>
                    </a:lnTlToBr>
                    <a:lnBlToTr>
                      <a:noFill/>
                    </a:lnBlToTr>
                    <a:noFill/>
                  </a:tcPr>
                </a:tc>
              </a:tr>
              <a:tr h="0">
                <a:tc>
                  <a:txBody>
                    <a:bodyPr/>
                    <a:lstStyle/>
                    <a:p>
                      <a:pPr marL="0" marR="0" lvl="2" indent="0" algn="l" defTabSz="914400" rtl="0" eaLnBrk="1" fontAlgn="base" latinLnBrk="0" hangingPunct="1">
                        <a:lnSpc>
                          <a:spcPct val="100000"/>
                        </a:lnSpc>
                        <a:spcBef>
                          <a:spcPts val="600"/>
                        </a:spcBef>
                        <a:spcAft>
                          <a:spcPct val="0"/>
                        </a:spcAft>
                        <a:buClr>
                          <a:srgbClr val="97989A"/>
                        </a:buClr>
                        <a:buSzPct val="100000"/>
                        <a:buFont typeface="+mj-lt"/>
                        <a:buNone/>
                        <a:tabLst/>
                        <a:defRPr/>
                      </a:pPr>
                      <a:r>
                        <a:rPr lang="en-US" sz="1000" b="0" kern="1200" noProof="0" dirty="0" smtClean="0">
                          <a:solidFill>
                            <a:schemeClr val="bg1">
                              <a:lumMod val="65000"/>
                            </a:schemeClr>
                          </a:solidFill>
                          <a:latin typeface="+mn-lt"/>
                          <a:ea typeface="+mn-ea"/>
                          <a:cs typeface="Arial" pitchFamily="34" charset="0"/>
                        </a:rPr>
                        <a:t>18.</a:t>
                      </a:r>
                      <a:r>
                        <a:rPr lang="en-US" sz="1000" b="0" kern="1200" noProof="0" dirty="0" smtClean="0">
                          <a:solidFill>
                            <a:schemeClr val="tx1"/>
                          </a:solidFill>
                          <a:latin typeface="+mn-lt"/>
                          <a:ea typeface="+mn-ea"/>
                          <a:cs typeface="Arial" pitchFamily="34" charset="0"/>
                        </a:rPr>
                        <a:t> Supporting analysis of tax key findings</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230187" marR="0" lvl="1" indent="-228600" algn="r" defTabSz="762000" rtl="0" eaLnBrk="1" fontAlgn="base" latinLnBrk="0" hangingPunct="1">
                        <a:lnSpc>
                          <a:spcPct val="100000"/>
                        </a:lnSpc>
                        <a:spcBef>
                          <a:spcPct val="40000"/>
                        </a:spcBef>
                        <a:spcAft>
                          <a:spcPct val="0"/>
                        </a:spcAft>
                        <a:buClr>
                          <a:schemeClr val="tx2"/>
                        </a:buClr>
                        <a:buSzPct val="85000"/>
                        <a:buFont typeface="+mj-lt"/>
                        <a:buNone/>
                        <a:tabLst/>
                      </a:pPr>
                      <a:r>
                        <a:rPr lang="en-US" sz="1000" b="0" kern="1200" noProof="0" dirty="0" smtClean="0">
                          <a:solidFill>
                            <a:schemeClr val="tx1"/>
                          </a:solidFill>
                          <a:latin typeface="Arial"/>
                          <a:ea typeface="+mn-ea"/>
                          <a:cs typeface="Arial" pitchFamily="34" charset="0"/>
                        </a:rPr>
                        <a:t>81</a:t>
                      </a:r>
                    </a:p>
                  </a:txBody>
                  <a:tcPr marL="72000" marR="72000" marT="72000" marB="72000" anchor="ctr" horzOverflow="overflow">
                    <a:lnL>
                      <a:noFill/>
                    </a:lnL>
                    <a:lnR cap="flat">
                      <a:noFill/>
                    </a:lnR>
                    <a:lnT>
                      <a:noFill/>
                    </a:lnT>
                    <a:lnB>
                      <a:noFill/>
                    </a:lnB>
                    <a:lnTlToBr>
                      <a:noFill/>
                    </a:lnTlToBr>
                    <a:lnBlToTr>
                      <a:noFill/>
                    </a:lnBlToTr>
                    <a:noFill/>
                  </a:tcPr>
                </a:tc>
              </a:tr>
            </a:tbl>
          </a:graphicData>
        </a:graphic>
      </p:graphicFrame>
    </p:spTree>
    <p:extLst>
      <p:ext uri="{BB962C8B-B14F-4D97-AF65-F5344CB8AC3E}">
        <p14:creationId xmlns:p14="http://schemas.microsoft.com/office/powerpoint/2010/main" val="44540584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400" b="0" dirty="0" smtClean="0">
                <a:solidFill>
                  <a:srgbClr val="747678"/>
                </a:solidFill>
              </a:rPr>
              <a:t>Appendix 1</a:t>
            </a:r>
            <a:r>
              <a:rPr lang="en-US" dirty="0" smtClean="0"/>
              <a:t/>
            </a:r>
            <a:br>
              <a:rPr lang="en-US" dirty="0" smtClean="0"/>
            </a:br>
            <a:r>
              <a:rPr lang="en-US" dirty="0" smtClean="0"/>
              <a:t>Scope of work</a:t>
            </a:r>
            <a:endParaRPr lang="en-US" dirty="0"/>
          </a:p>
        </p:txBody>
      </p:sp>
      <p:graphicFrame>
        <p:nvGraphicFramePr>
          <p:cNvPr id="6" name="Object 5"/>
          <p:cNvGraphicFramePr>
            <a:graphicFrameLocks noChangeAspect="1"/>
          </p:cNvGraphicFramePr>
          <p:nvPr>
            <p:extLst/>
          </p:nvPr>
        </p:nvGraphicFramePr>
        <p:xfrm>
          <a:off x="5206177" y="1148756"/>
          <a:ext cx="3674639" cy="4777592"/>
        </p:xfrm>
        <a:graphic>
          <a:graphicData uri="http://schemas.openxmlformats.org/presentationml/2006/ole">
            <mc:AlternateContent xmlns:mc="http://schemas.openxmlformats.org/markup-compatibility/2006">
              <mc:Choice xmlns:v="urn:schemas-microsoft-com:vml" Requires="v">
                <p:oleObj spid="_x0000_s1278" name="Document" r:id="rId4" imgW="5956042" imgH="7744574" progId="Word.Document.12">
                  <p:embed/>
                </p:oleObj>
              </mc:Choice>
              <mc:Fallback>
                <p:oleObj name="Document" r:id="rId4" imgW="5956042" imgH="7744574" progId="Word.Document.12">
                  <p:embed/>
                  <p:pic>
                    <p:nvPicPr>
                      <p:cNvPr id="0" name=""/>
                      <p:cNvPicPr/>
                      <p:nvPr/>
                    </p:nvPicPr>
                    <p:blipFill>
                      <a:blip r:embed="rId5"/>
                      <a:stretch>
                        <a:fillRect/>
                      </a:stretch>
                    </p:blipFill>
                    <p:spPr>
                      <a:xfrm>
                        <a:off x="5206177" y="1148756"/>
                        <a:ext cx="3674639" cy="4777592"/>
                      </a:xfrm>
                      <a:prstGeom prst="rect">
                        <a:avLst/>
                      </a:prstGeom>
                    </p:spPr>
                  </p:pic>
                </p:oleObj>
              </mc:Fallback>
            </mc:AlternateContent>
          </a:graphicData>
        </a:graphic>
      </p:graphicFrame>
      <p:graphicFrame>
        <p:nvGraphicFramePr>
          <p:cNvPr id="5" name="Object 4"/>
          <p:cNvGraphicFramePr>
            <a:graphicFrameLocks noChangeAspect="1"/>
          </p:cNvGraphicFramePr>
          <p:nvPr/>
        </p:nvGraphicFramePr>
        <p:xfrm>
          <a:off x="304800" y="1219200"/>
          <a:ext cx="3657600" cy="4954210"/>
        </p:xfrm>
        <a:graphic>
          <a:graphicData uri="http://schemas.openxmlformats.org/presentationml/2006/ole">
            <mc:AlternateContent xmlns:mc="http://schemas.openxmlformats.org/markup-compatibility/2006">
              <mc:Choice xmlns:v="urn:schemas-microsoft-com:vml" Requires="v">
                <p:oleObj spid="_x0000_s1279" name="Document" r:id="rId7" imgW="6230937" imgH="8439203" progId="Word.Document.12">
                  <p:embed/>
                </p:oleObj>
              </mc:Choice>
              <mc:Fallback>
                <p:oleObj name="Document" r:id="rId7" imgW="6230937" imgH="8439203" progId="Word.Document.12">
                  <p:embed/>
                  <p:pic>
                    <p:nvPicPr>
                      <p:cNvPr id="0" name=""/>
                      <p:cNvPicPr/>
                      <p:nvPr/>
                    </p:nvPicPr>
                    <p:blipFill>
                      <a:blip r:embed="rId8"/>
                      <a:stretch>
                        <a:fillRect/>
                      </a:stretch>
                    </p:blipFill>
                    <p:spPr>
                      <a:xfrm>
                        <a:off x="304800" y="1219200"/>
                        <a:ext cx="3657600" cy="4954210"/>
                      </a:xfrm>
                      <a:prstGeom prst="rect">
                        <a:avLst/>
                      </a:prstGeom>
                    </p:spPr>
                  </p:pic>
                </p:oleObj>
              </mc:Fallback>
            </mc:AlternateContent>
          </a:graphicData>
        </a:graphic>
      </p:graphicFrame>
    </p:spTree>
    <p:extLst>
      <p:ext uri="{BB962C8B-B14F-4D97-AF65-F5344CB8AC3E}">
        <p14:creationId xmlns:p14="http://schemas.microsoft.com/office/powerpoint/2010/main" val="183960377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400" b="0" dirty="0" smtClean="0">
                <a:solidFill>
                  <a:srgbClr val="747678"/>
                </a:solidFill>
              </a:rPr>
              <a:t>Appendix 1</a:t>
            </a:r>
            <a:r>
              <a:rPr lang="en-US" dirty="0" smtClean="0"/>
              <a:t/>
            </a:r>
            <a:br>
              <a:rPr lang="en-US" dirty="0" smtClean="0"/>
            </a:br>
            <a:r>
              <a:rPr lang="en-US" dirty="0" smtClean="0"/>
              <a:t>Scope of work (2)</a:t>
            </a:r>
            <a:endParaRPr lang="en-US" dirty="0"/>
          </a:p>
        </p:txBody>
      </p:sp>
      <p:graphicFrame>
        <p:nvGraphicFramePr>
          <p:cNvPr id="3" name="Object 2"/>
          <p:cNvGraphicFramePr>
            <a:graphicFrameLocks noChangeAspect="1"/>
          </p:cNvGraphicFramePr>
          <p:nvPr>
            <p:extLst/>
          </p:nvPr>
        </p:nvGraphicFramePr>
        <p:xfrm>
          <a:off x="293301" y="1082618"/>
          <a:ext cx="3598075" cy="4960191"/>
        </p:xfrm>
        <a:graphic>
          <a:graphicData uri="http://schemas.openxmlformats.org/presentationml/2006/ole">
            <mc:AlternateContent xmlns:mc="http://schemas.openxmlformats.org/markup-compatibility/2006">
              <mc:Choice xmlns:v="urn:schemas-microsoft-com:vml" Requires="v">
                <p:oleObj spid="_x0000_s2300" name="Document" r:id="rId4" imgW="5956042" imgH="8211020" progId="Word.Document.12">
                  <p:embed/>
                </p:oleObj>
              </mc:Choice>
              <mc:Fallback>
                <p:oleObj name="Document" r:id="rId4" imgW="5956042" imgH="8211020" progId="Word.Document.12">
                  <p:embed/>
                  <p:pic>
                    <p:nvPicPr>
                      <p:cNvPr id="0" name=""/>
                      <p:cNvPicPr/>
                      <p:nvPr/>
                    </p:nvPicPr>
                    <p:blipFill>
                      <a:blip r:embed="rId5"/>
                      <a:stretch>
                        <a:fillRect/>
                      </a:stretch>
                    </p:blipFill>
                    <p:spPr>
                      <a:xfrm>
                        <a:off x="293301" y="1082618"/>
                        <a:ext cx="3598075" cy="4960191"/>
                      </a:xfrm>
                      <a:prstGeom prst="rect">
                        <a:avLst/>
                      </a:prstGeom>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1199967715"/>
              </p:ext>
            </p:extLst>
          </p:nvPr>
        </p:nvGraphicFramePr>
        <p:xfrm>
          <a:off x="5234940" y="1201947"/>
          <a:ext cx="3750447" cy="2030159"/>
        </p:xfrm>
        <a:graphic>
          <a:graphicData uri="http://schemas.openxmlformats.org/presentationml/2006/ole">
            <mc:AlternateContent xmlns:mc="http://schemas.openxmlformats.org/markup-compatibility/2006">
              <mc:Choice xmlns:v="urn:schemas-microsoft-com:vml" Requires="v">
                <p:oleObj spid="_x0000_s2301" name="Document" r:id="rId7" imgW="5956042" imgH="3224806" progId="Word.Document.12">
                  <p:embed/>
                </p:oleObj>
              </mc:Choice>
              <mc:Fallback>
                <p:oleObj name="Document" r:id="rId7" imgW="5956042" imgH="3224806" progId="Word.Document.12">
                  <p:embed/>
                  <p:pic>
                    <p:nvPicPr>
                      <p:cNvPr id="0" name=""/>
                      <p:cNvPicPr/>
                      <p:nvPr/>
                    </p:nvPicPr>
                    <p:blipFill>
                      <a:blip r:embed="rId8"/>
                      <a:stretch>
                        <a:fillRect/>
                      </a:stretch>
                    </p:blipFill>
                    <p:spPr>
                      <a:xfrm>
                        <a:off x="5234940" y="1201947"/>
                        <a:ext cx="3750447" cy="2030159"/>
                      </a:xfrm>
                      <a:prstGeom prst="rect">
                        <a:avLst/>
                      </a:prstGeom>
                    </p:spPr>
                  </p:pic>
                </p:oleObj>
              </mc:Fallback>
            </mc:AlternateContent>
          </a:graphicData>
        </a:graphic>
      </p:graphicFrame>
    </p:spTree>
    <p:extLst>
      <p:ext uri="{BB962C8B-B14F-4D97-AF65-F5344CB8AC3E}">
        <p14:creationId xmlns:p14="http://schemas.microsoft.com/office/powerpoint/2010/main" val="103634505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400" b="0" dirty="0" smtClean="0">
                <a:solidFill>
                  <a:srgbClr val="747678"/>
                </a:solidFill>
              </a:rPr>
              <a:t>Appendix 1</a:t>
            </a:r>
            <a:r>
              <a:rPr lang="en-US" dirty="0" smtClean="0"/>
              <a:t/>
            </a:r>
            <a:br>
              <a:rPr lang="en-US" dirty="0" smtClean="0"/>
            </a:br>
            <a:r>
              <a:rPr lang="en-US" dirty="0" smtClean="0"/>
              <a:t>Scope of work (3)</a:t>
            </a:r>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160466669"/>
              </p:ext>
            </p:extLst>
          </p:nvPr>
        </p:nvGraphicFramePr>
        <p:xfrm>
          <a:off x="294131" y="1188719"/>
          <a:ext cx="3340609" cy="4867364"/>
        </p:xfrm>
        <a:graphic>
          <a:graphicData uri="http://schemas.openxmlformats.org/presentationml/2006/ole">
            <mc:AlternateContent xmlns:mc="http://schemas.openxmlformats.org/markup-compatibility/2006">
              <mc:Choice xmlns:v="urn:schemas-microsoft-com:vml" Requires="v">
                <p:oleObj spid="_x0000_s3222" name="Document" r:id="rId5" imgW="5497885" imgH="8012708" progId="Word.Document.12">
                  <p:embed/>
                </p:oleObj>
              </mc:Choice>
              <mc:Fallback>
                <p:oleObj name="Document" r:id="rId5" imgW="5497885" imgH="8012708" progId="Word.Document.12">
                  <p:embed/>
                  <p:pic>
                    <p:nvPicPr>
                      <p:cNvPr id="0" name=""/>
                      <p:cNvPicPr/>
                      <p:nvPr/>
                    </p:nvPicPr>
                    <p:blipFill>
                      <a:blip r:embed="rId6"/>
                      <a:stretch>
                        <a:fillRect/>
                      </a:stretch>
                    </p:blipFill>
                    <p:spPr>
                      <a:xfrm>
                        <a:off x="294131" y="1188719"/>
                        <a:ext cx="3340609" cy="4867364"/>
                      </a:xfrm>
                      <a:prstGeom prst="rect">
                        <a:avLst/>
                      </a:prstGeom>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2503024789"/>
              </p:ext>
            </p:extLst>
          </p:nvPr>
        </p:nvGraphicFramePr>
        <p:xfrm>
          <a:off x="5227320" y="1188718"/>
          <a:ext cx="3391944" cy="4867363"/>
        </p:xfrm>
        <a:graphic>
          <a:graphicData uri="http://schemas.openxmlformats.org/presentationml/2006/ole">
            <mc:AlternateContent xmlns:mc="http://schemas.openxmlformats.org/markup-compatibility/2006">
              <mc:Choice xmlns:v="urn:schemas-microsoft-com:vml" Requires="v">
                <p:oleObj spid="_x0000_s3223" name="Document" r:id="rId8" imgW="5497885" imgH="7888899" progId="Word.Document.12">
                  <p:embed/>
                </p:oleObj>
              </mc:Choice>
              <mc:Fallback>
                <p:oleObj name="Document" r:id="rId8" imgW="5497885" imgH="7888899" progId="Word.Document.12">
                  <p:embed/>
                  <p:pic>
                    <p:nvPicPr>
                      <p:cNvPr id="0" name=""/>
                      <p:cNvPicPr/>
                      <p:nvPr/>
                    </p:nvPicPr>
                    <p:blipFill>
                      <a:blip r:embed="rId9"/>
                      <a:stretch>
                        <a:fillRect/>
                      </a:stretch>
                    </p:blipFill>
                    <p:spPr>
                      <a:xfrm>
                        <a:off x="5227320" y="1188718"/>
                        <a:ext cx="3391944" cy="4867363"/>
                      </a:xfrm>
                      <a:prstGeom prst="rect">
                        <a:avLst/>
                      </a:prstGeom>
                    </p:spPr>
                  </p:pic>
                </p:oleObj>
              </mc:Fallback>
            </mc:AlternateContent>
          </a:graphicData>
        </a:graphic>
      </p:graphicFrame>
    </p:spTree>
    <p:extLst>
      <p:ext uri="{BB962C8B-B14F-4D97-AF65-F5344CB8AC3E}">
        <p14:creationId xmlns:p14="http://schemas.microsoft.com/office/powerpoint/2010/main" val="256746909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400" b="0" dirty="0" smtClean="0">
                <a:solidFill>
                  <a:srgbClr val="747678"/>
                </a:solidFill>
              </a:rPr>
              <a:t>Appendix 1</a:t>
            </a:r>
            <a:r>
              <a:rPr lang="en-US" dirty="0" smtClean="0"/>
              <a:t/>
            </a:r>
            <a:br>
              <a:rPr lang="en-US" dirty="0" smtClean="0"/>
            </a:br>
            <a:r>
              <a:rPr lang="en-US" dirty="0" smtClean="0"/>
              <a:t>Scope of work (4)</a:t>
            </a:r>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2002548340"/>
              </p:ext>
            </p:extLst>
          </p:nvPr>
        </p:nvGraphicFramePr>
        <p:xfrm>
          <a:off x="297180" y="1219200"/>
          <a:ext cx="3208020" cy="4850876"/>
        </p:xfrm>
        <a:graphic>
          <a:graphicData uri="http://schemas.openxmlformats.org/presentationml/2006/ole">
            <mc:AlternateContent xmlns:mc="http://schemas.openxmlformats.org/markup-compatibility/2006">
              <mc:Choice xmlns:v="urn:schemas-microsoft-com:vml" Requires="v">
                <p:oleObj spid="_x0000_s4246" name="Document" r:id="rId4" imgW="5497885" imgH="8309995" progId="Word.Document.12">
                  <p:embed/>
                </p:oleObj>
              </mc:Choice>
              <mc:Fallback>
                <p:oleObj name="Document" r:id="rId4" imgW="5497885" imgH="8309995" progId="Word.Document.12">
                  <p:embed/>
                  <p:pic>
                    <p:nvPicPr>
                      <p:cNvPr id="0" name=""/>
                      <p:cNvPicPr/>
                      <p:nvPr/>
                    </p:nvPicPr>
                    <p:blipFill>
                      <a:blip r:embed="rId5"/>
                      <a:stretch>
                        <a:fillRect/>
                      </a:stretch>
                    </p:blipFill>
                    <p:spPr>
                      <a:xfrm>
                        <a:off x="297180" y="1219200"/>
                        <a:ext cx="3208020" cy="4850876"/>
                      </a:xfrm>
                      <a:prstGeom prst="rect">
                        <a:avLst/>
                      </a:prstGeom>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195459662"/>
              </p:ext>
            </p:extLst>
          </p:nvPr>
        </p:nvGraphicFramePr>
        <p:xfrm>
          <a:off x="5218335" y="1211580"/>
          <a:ext cx="3658905" cy="1740172"/>
        </p:xfrm>
        <a:graphic>
          <a:graphicData uri="http://schemas.openxmlformats.org/presentationml/2006/ole">
            <mc:AlternateContent xmlns:mc="http://schemas.openxmlformats.org/markup-compatibility/2006">
              <mc:Choice xmlns:v="urn:schemas-microsoft-com:vml" Requires="v">
                <p:oleObj spid="_x0000_s4247" name="Document" r:id="rId7" imgW="5497885" imgH="2614037" progId="Word.Document.12">
                  <p:embed/>
                </p:oleObj>
              </mc:Choice>
              <mc:Fallback>
                <p:oleObj name="Document" r:id="rId7" imgW="5497885" imgH="2614037" progId="Word.Document.12">
                  <p:embed/>
                  <p:pic>
                    <p:nvPicPr>
                      <p:cNvPr id="0" name=""/>
                      <p:cNvPicPr/>
                      <p:nvPr/>
                    </p:nvPicPr>
                    <p:blipFill>
                      <a:blip r:embed="rId8"/>
                      <a:stretch>
                        <a:fillRect/>
                      </a:stretch>
                    </p:blipFill>
                    <p:spPr>
                      <a:xfrm>
                        <a:off x="5218335" y="1211580"/>
                        <a:ext cx="3658905" cy="1740172"/>
                      </a:xfrm>
                      <a:prstGeom prst="rect">
                        <a:avLst/>
                      </a:prstGeom>
                    </p:spPr>
                  </p:pic>
                </p:oleObj>
              </mc:Fallback>
            </mc:AlternateContent>
          </a:graphicData>
        </a:graphic>
      </p:graphicFrame>
    </p:spTree>
    <p:extLst>
      <p:ext uri="{BB962C8B-B14F-4D97-AF65-F5344CB8AC3E}">
        <p14:creationId xmlns:p14="http://schemas.microsoft.com/office/powerpoint/2010/main" val="255433180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3"/>
          <p:cNvSpPr>
            <a:spLocks noGrp="1"/>
          </p:cNvSpPr>
          <p:nvPr>
            <p:ph type="title"/>
          </p:nvPr>
        </p:nvSpPr>
        <p:spPr>
          <a:xfrm>
            <a:off x="2123728" y="116632"/>
            <a:ext cx="6768752" cy="576064"/>
          </a:xfrm>
        </p:spPr>
        <p:txBody>
          <a:bodyPr/>
          <a:lstStyle/>
          <a:p>
            <a:r>
              <a:rPr lang="en-US" sz="1400" b="0" dirty="0" smtClean="0">
                <a:solidFill>
                  <a:srgbClr val="747678"/>
                </a:solidFill>
              </a:rPr>
              <a:t>Appendix 2</a:t>
            </a:r>
            <a:r>
              <a:rPr lang="en-US" dirty="0" smtClean="0"/>
              <a:t/>
            </a:r>
            <a:br>
              <a:rPr lang="en-US" dirty="0" smtClean="0"/>
            </a:br>
            <a:r>
              <a:rPr lang="en-US" dirty="0" smtClean="0"/>
              <a:t>Financial information</a:t>
            </a:r>
            <a:endParaRPr lang="en-US" dirty="0"/>
          </a:p>
        </p:txBody>
      </p:sp>
      <p:sp>
        <p:nvSpPr>
          <p:cNvPr id="2" name="TextBox 1"/>
          <p:cNvSpPr txBox="1"/>
          <p:nvPr/>
        </p:nvSpPr>
        <p:spPr>
          <a:xfrm>
            <a:off x="251520" y="1143000"/>
            <a:ext cx="8740080" cy="5257800"/>
          </a:xfrm>
          <a:prstGeom prst="rect">
            <a:avLst/>
          </a:prstGeom>
          <a:noFill/>
        </p:spPr>
        <p:txBody>
          <a:bodyPr wrap="square" lIns="54000" tIns="54000" rIns="54000" bIns="54000" rtlCol="0">
            <a:noAutofit/>
          </a:bodyPr>
          <a:lstStyle/>
          <a:p>
            <a:pPr marL="0" lvl="2">
              <a:spcBef>
                <a:spcPts val="600"/>
              </a:spcBef>
              <a:buClr>
                <a:srgbClr val="97989A"/>
              </a:buClr>
              <a:defRPr/>
            </a:pPr>
            <a:r>
              <a:rPr lang="en-US" sz="900" b="1" dirty="0">
                <a:solidFill>
                  <a:srgbClr val="000000"/>
                </a:solidFill>
                <a:latin typeface="Arial" panose="020B0604020202020204" pitchFamily="34" charset="0"/>
                <a:cs typeface="Arial" panose="020B0604020202020204" pitchFamily="34" charset="0"/>
              </a:rPr>
              <a:t>Financial Reporting Systems / Infrastructure</a:t>
            </a:r>
          </a:p>
          <a:p>
            <a:pPr marL="0" lvl="2">
              <a:spcBef>
                <a:spcPts val="600"/>
              </a:spcBef>
              <a:buClr>
                <a:srgbClr val="97989A"/>
              </a:buClr>
              <a:defRPr/>
            </a:pPr>
            <a:r>
              <a:rPr lang="en-US" sz="900" i="1" dirty="0">
                <a:solidFill>
                  <a:srgbClr val="000000"/>
                </a:solidFill>
                <a:latin typeface="Arial" panose="020B0604020202020204" pitchFamily="34" charset="0"/>
                <a:cs typeface="Arial" panose="020B0604020202020204" pitchFamily="34" charset="0"/>
              </a:rPr>
              <a:t>Source Systems</a:t>
            </a:r>
            <a:endParaRPr lang="en-US" sz="900" dirty="0">
              <a:solidFill>
                <a:srgbClr val="000000"/>
              </a:solidFill>
              <a:latin typeface="Arial" panose="020B0604020202020204" pitchFamily="34" charset="0"/>
              <a:cs typeface="Arial" panose="020B0604020202020204" pitchFamily="34" charset="0"/>
            </a:endParaRPr>
          </a:p>
          <a:p>
            <a:pPr marL="177800" lvl="2" indent="-177800">
              <a:spcBef>
                <a:spcPts val="600"/>
              </a:spcBef>
              <a:buClr>
                <a:srgbClr val="97989A"/>
              </a:buClr>
              <a:buFont typeface="Arial" pitchFamily="34" charset="0"/>
              <a:buChar char="■"/>
              <a:defRPr/>
            </a:pPr>
            <a:r>
              <a:rPr lang="en-US" sz="900" dirty="0">
                <a:latin typeface="Arial" panose="020B0604020202020204" pitchFamily="34" charset="0"/>
                <a:cs typeface="Arial" panose="020B0604020202020204" pitchFamily="34" charset="0"/>
              </a:rPr>
              <a:t>Source systems used by Target to record loans and other transactions include ACBS (a vendor-supplied and customizable loan recording / accounting system used in the industry), Venture (to record equity investments), AP (payables), TE (to record travel and entertainment expenses) and </a:t>
            </a:r>
            <a:r>
              <a:rPr lang="en-US" sz="900" dirty="0" err="1">
                <a:latin typeface="Arial" panose="020B0604020202020204" pitchFamily="34" charset="0"/>
                <a:cs typeface="Arial" panose="020B0604020202020204" pitchFamily="34" charset="0"/>
              </a:rPr>
              <a:t>Cognos</a:t>
            </a:r>
            <a:r>
              <a:rPr lang="en-US" sz="900" dirty="0">
                <a:latin typeface="Arial" panose="020B0604020202020204" pitchFamily="34" charset="0"/>
                <a:cs typeface="Arial" panose="020B0604020202020204" pitchFamily="34" charset="0"/>
              </a:rPr>
              <a:t> (to record miscellaneous expenses and treasury-related activities). These systems interface directly with Target’s Oracle-based general ledger system.</a:t>
            </a:r>
          </a:p>
          <a:p>
            <a:pPr marL="0" lvl="2">
              <a:spcBef>
                <a:spcPts val="600"/>
              </a:spcBef>
              <a:buClr>
                <a:srgbClr val="97989A"/>
              </a:buClr>
              <a:defRPr/>
            </a:pPr>
            <a:r>
              <a:rPr lang="en-US" sz="900" i="1" dirty="0">
                <a:latin typeface="Arial" panose="020B0604020202020204" pitchFamily="34" charset="0"/>
                <a:cs typeface="Arial" panose="020B0604020202020204" pitchFamily="34" charset="0"/>
              </a:rPr>
              <a:t>Manual Journal Entries</a:t>
            </a:r>
            <a:endParaRPr lang="en-US" sz="900" dirty="0">
              <a:solidFill>
                <a:srgbClr val="000000"/>
              </a:solidFill>
              <a:latin typeface="Arial" panose="020B0604020202020204" pitchFamily="34" charset="0"/>
              <a:cs typeface="Arial" panose="020B0604020202020204" pitchFamily="34" charset="0"/>
            </a:endParaRPr>
          </a:p>
          <a:p>
            <a:pPr marL="177800" lvl="2" indent="-177800">
              <a:spcBef>
                <a:spcPts val="600"/>
              </a:spcBef>
              <a:buClr>
                <a:srgbClr val="97989A"/>
              </a:buClr>
              <a:buFont typeface="Arial" pitchFamily="34" charset="0"/>
              <a:buChar char="■"/>
              <a:defRPr/>
            </a:pPr>
            <a:r>
              <a:rPr lang="en-US" sz="900" dirty="0">
                <a:latin typeface="Arial" panose="020B0604020202020204" pitchFamily="34" charset="0"/>
                <a:cs typeface="Arial" panose="020B0604020202020204" pitchFamily="34" charset="0"/>
              </a:rPr>
              <a:t>Within the GL system, manual journal entries (“MJEs”) are posted to balances from source systems in order to ensure that reported balances are consistent with accrual-based accounting guidelines. Major classes of MJEs include:</a:t>
            </a:r>
          </a:p>
          <a:p>
            <a:pPr marL="347663" lvl="3" indent="-177800">
              <a:spcBef>
                <a:spcPts val="600"/>
              </a:spcBef>
              <a:buClr>
                <a:srgbClr val="97989A"/>
              </a:buClr>
              <a:buFontTx/>
              <a:buChar char="‒"/>
              <a:defRPr/>
            </a:pPr>
            <a:r>
              <a:rPr lang="en-US" sz="900" dirty="0">
                <a:latin typeface="Arial" panose="020B0604020202020204" pitchFamily="34" charset="0"/>
                <a:cs typeface="Arial" panose="020B0604020202020204" pitchFamily="34" charset="0"/>
              </a:rPr>
              <a:t>Volume accruals: There is usually a lag between the execution of a transaction and the time it is input into the ACBS system as loans underwritten on or close to the last day of the period are sometimes not entered into ACBS by the Operations team until after period end. To ensure these transactions are reflected in the financial records for the period, manual entries are made to account for the loans (both on the balance sheet and related income statement accounts). These entries are based on source documentation (such as loan agreements). Management has stated that it was not aware of instances when the amounts accrued via an MJE were inconsistent with the amount subsequently determined by ACBS once Operations has input the transaction data into ACBS.</a:t>
            </a:r>
          </a:p>
          <a:p>
            <a:pPr marL="347663" lvl="3" indent="-177800">
              <a:spcBef>
                <a:spcPts val="600"/>
              </a:spcBef>
              <a:buClr>
                <a:srgbClr val="97989A"/>
              </a:buClr>
              <a:buFontTx/>
              <a:buChar char="‒"/>
              <a:defRPr/>
            </a:pPr>
            <a:r>
              <a:rPr lang="en-US" sz="900" dirty="0">
                <a:latin typeface="Arial" panose="020B0604020202020204" pitchFamily="34" charset="0"/>
                <a:cs typeface="Arial" panose="020B0604020202020204" pitchFamily="34" charset="0"/>
              </a:rPr>
              <a:t>Expense accruals: Accruals for expenses incurred, but not paid in a given reporting period.</a:t>
            </a:r>
          </a:p>
          <a:p>
            <a:pPr marL="347663" lvl="3" indent="-177800">
              <a:spcBef>
                <a:spcPts val="600"/>
              </a:spcBef>
              <a:buClr>
                <a:srgbClr val="97989A"/>
              </a:buClr>
              <a:buFontTx/>
              <a:buChar char="‒"/>
              <a:defRPr/>
            </a:pPr>
            <a:r>
              <a:rPr lang="en-US" sz="900" dirty="0">
                <a:latin typeface="Arial" panose="020B0604020202020204" pitchFamily="34" charset="0"/>
                <a:cs typeface="Arial" panose="020B0604020202020204" pitchFamily="34" charset="0"/>
              </a:rPr>
              <a:t>ALLL-related entries: Subsequent to the determination by a dedicated ALLL COE team that specific assets are to be classified as non-earning, an adjustment must be made within ACBS to ensure that interest income is no longer being accrued on these assets and, if applicable, interest payments are being applied to principal reduction. When this determination is made on or close to period end, ACBS is typically not updated until after period-end. Manual entries are made to the general ledger to reflect these changes. According to Management, subsequent to the ACBS update, an ACBS report listing non-earning assets is compared to both the original ALLL COE list and the journal entries to ensure consistency.</a:t>
            </a:r>
          </a:p>
          <a:p>
            <a:pPr marL="347663" lvl="3" indent="-177800">
              <a:spcBef>
                <a:spcPts val="600"/>
              </a:spcBef>
              <a:buClr>
                <a:srgbClr val="97989A"/>
              </a:buClr>
              <a:buFontTx/>
              <a:buChar char="‒"/>
              <a:defRPr/>
            </a:pPr>
            <a:r>
              <a:rPr lang="en-US" sz="900" dirty="0">
                <a:latin typeface="Arial" panose="020B0604020202020204" pitchFamily="34" charset="0"/>
                <a:cs typeface="Arial" panose="020B0604020202020204" pitchFamily="34" charset="0"/>
              </a:rPr>
              <a:t>Unapplied cash: Cash received on or close to the last day of the period is not applied to loans until after period end date. An entry is made to apply this cash. At the same time, an offsetting entry is made to an off-book suspense account. When received cash is applied to loans post-period-end by the ACBS system, the off-book suspense account is cleared. We noted that, except for stale balances that are not significant in nature or amount, the historical balances in this suspense account are cleared shortly after period end.</a:t>
            </a:r>
          </a:p>
          <a:p>
            <a:pPr marL="347663" lvl="3" indent="-177800">
              <a:spcBef>
                <a:spcPts val="600"/>
              </a:spcBef>
              <a:buClr>
                <a:srgbClr val="97989A"/>
              </a:buClr>
              <a:buFontTx/>
              <a:buChar char="‒"/>
              <a:defRPr/>
            </a:pPr>
            <a:r>
              <a:rPr lang="en-US" sz="900" dirty="0">
                <a:latin typeface="Arial" panose="020B0604020202020204" pitchFamily="34" charset="0"/>
                <a:cs typeface="Arial" panose="020B0604020202020204" pitchFamily="34" charset="0"/>
              </a:rPr>
              <a:t>Provision for credit losses: Provisions are booked to the GL on an asset-by-asset basis. See below for specific procedures performed on reported provision amounts.</a:t>
            </a:r>
            <a:endParaRPr lang="en-US" sz="900" dirty="0">
              <a:solidFill>
                <a:srgbClr val="000000"/>
              </a:solidFill>
              <a:cs typeface="Arial" pitchFamily="34" charset="0"/>
            </a:endParaRPr>
          </a:p>
          <a:p>
            <a:pPr marL="0" lvl="2">
              <a:spcBef>
                <a:spcPts val="600"/>
              </a:spcBef>
              <a:buClr>
                <a:srgbClr val="97989A"/>
              </a:buClr>
              <a:defRPr/>
            </a:pPr>
            <a:r>
              <a:rPr lang="en-US" sz="900" i="1" dirty="0">
                <a:solidFill>
                  <a:srgbClr val="000000"/>
                </a:solidFill>
                <a:cs typeface="Arial" pitchFamily="34" charset="0"/>
              </a:rPr>
              <a:t>Hyperion</a:t>
            </a:r>
          </a:p>
          <a:p>
            <a:pPr marL="177800" lvl="2" indent="-177800">
              <a:spcBef>
                <a:spcPts val="600"/>
              </a:spcBef>
              <a:buClr>
                <a:srgbClr val="97989A"/>
              </a:buClr>
              <a:buFont typeface="Arial" pitchFamily="34" charset="0"/>
              <a:buChar char="■"/>
              <a:defRPr/>
            </a:pPr>
            <a:r>
              <a:rPr lang="en-US" sz="900" dirty="0">
                <a:latin typeface="Arial" panose="020B0604020202020204" pitchFamily="34" charset="0"/>
                <a:cs typeface="Arial" panose="020B0604020202020204" pitchFamily="34" charset="0"/>
              </a:rPr>
              <a:t>Hyperion is a financial reporting tool that sits on top of the GL and is used by Target management to prepare financial records for financial planning and analysis and legal entity reporting to the Parent. Hyperion has the functional capability to assign “BSLA” tags to specific accounts and/or deals. These tags are used to differentiate between SF and non-SF balances/deals, and are the key means by which SF balances are aggregated for financial reporting purposes</a:t>
            </a:r>
            <a:r>
              <a:rPr lang="en-US" sz="900" dirty="0" smtClean="0">
                <a:latin typeface="Arial" panose="020B0604020202020204" pitchFamily="34" charset="0"/>
                <a:cs typeface="Arial" panose="020B0604020202020204" pitchFamily="34" charset="0"/>
              </a:rPr>
              <a:t>.</a:t>
            </a:r>
          </a:p>
          <a:p>
            <a:pPr marL="177800" lvl="2" indent="-177800">
              <a:spcBef>
                <a:spcPts val="600"/>
              </a:spcBef>
              <a:buClr>
                <a:srgbClr val="97989A"/>
              </a:buClr>
              <a:buFont typeface="Arial" pitchFamily="34" charset="0"/>
              <a:buChar char="■"/>
              <a:defRPr/>
            </a:pPr>
            <a:endParaRPr lang="en-US" sz="9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3225132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3"/>
          <p:cNvSpPr>
            <a:spLocks noGrp="1"/>
          </p:cNvSpPr>
          <p:nvPr>
            <p:ph type="title"/>
          </p:nvPr>
        </p:nvSpPr>
        <p:spPr>
          <a:xfrm>
            <a:off x="2123728" y="116632"/>
            <a:ext cx="6768752" cy="576064"/>
          </a:xfrm>
        </p:spPr>
        <p:txBody>
          <a:bodyPr/>
          <a:lstStyle/>
          <a:p>
            <a:r>
              <a:rPr lang="en-US" sz="1400" b="0" dirty="0" smtClean="0">
                <a:solidFill>
                  <a:srgbClr val="747678"/>
                </a:solidFill>
              </a:rPr>
              <a:t>Appendix 2</a:t>
            </a:r>
            <a:r>
              <a:rPr lang="en-US" dirty="0" smtClean="0"/>
              <a:t/>
            </a:r>
            <a:br>
              <a:rPr lang="en-US" dirty="0" smtClean="0"/>
            </a:br>
            <a:r>
              <a:rPr lang="en-US" dirty="0" smtClean="0"/>
              <a:t>Financial information (2)</a:t>
            </a:r>
            <a:endParaRPr lang="en-US" dirty="0"/>
          </a:p>
        </p:txBody>
      </p:sp>
      <p:sp>
        <p:nvSpPr>
          <p:cNvPr id="2" name="TextBox 1"/>
          <p:cNvSpPr txBox="1"/>
          <p:nvPr/>
        </p:nvSpPr>
        <p:spPr>
          <a:xfrm>
            <a:off x="251520" y="1143000"/>
            <a:ext cx="8740080" cy="5257800"/>
          </a:xfrm>
          <a:prstGeom prst="rect">
            <a:avLst/>
          </a:prstGeom>
          <a:noFill/>
        </p:spPr>
        <p:txBody>
          <a:bodyPr wrap="square" lIns="54000" tIns="54000" rIns="54000" bIns="54000" rtlCol="0">
            <a:noAutofit/>
          </a:bodyPr>
          <a:lstStyle/>
          <a:p>
            <a:pPr lvl="0">
              <a:defRPr/>
            </a:pPr>
            <a:r>
              <a:rPr lang="en-US" sz="900" b="1" dirty="0">
                <a:solidFill>
                  <a:srgbClr val="000000"/>
                </a:solidFill>
                <a:latin typeface="Arial" panose="020B0604020202020204" pitchFamily="34" charset="0"/>
                <a:cs typeface="Arial" panose="020B0604020202020204" pitchFamily="34" charset="0"/>
              </a:rPr>
              <a:t>Financial Reporting Systems / Infrastructure (continued)</a:t>
            </a:r>
          </a:p>
          <a:p>
            <a:pPr marL="0" lvl="2">
              <a:spcBef>
                <a:spcPts val="600"/>
              </a:spcBef>
              <a:buClr>
                <a:srgbClr val="97989A"/>
              </a:buClr>
              <a:defRPr/>
            </a:pPr>
            <a:r>
              <a:rPr lang="en-US" sz="900" i="1" dirty="0">
                <a:solidFill>
                  <a:srgbClr val="000000"/>
                </a:solidFill>
                <a:cs typeface="Arial" pitchFamily="34" charset="0"/>
              </a:rPr>
              <a:t>Hyperion (continued):</a:t>
            </a:r>
            <a:endParaRPr lang="en-US" sz="900" b="1" dirty="0">
              <a:latin typeface="Arial" panose="020B0604020202020204" pitchFamily="34" charset="0"/>
              <a:cs typeface="Arial" panose="020B0604020202020204" pitchFamily="34" charset="0"/>
            </a:endParaRPr>
          </a:p>
          <a:p>
            <a:pPr marL="177800" lvl="2" indent="-177800">
              <a:spcBef>
                <a:spcPts val="600"/>
              </a:spcBef>
              <a:buClr>
                <a:srgbClr val="97989A"/>
              </a:buClr>
              <a:buFont typeface="Arial" pitchFamily="34" charset="0"/>
              <a:buChar char="■"/>
              <a:defRPr/>
            </a:pPr>
            <a:r>
              <a:rPr lang="en-US" sz="900" dirty="0">
                <a:latin typeface="Arial" panose="020B0604020202020204" pitchFamily="34" charset="0"/>
                <a:cs typeface="Arial" panose="020B0604020202020204" pitchFamily="34" charset="0"/>
              </a:rPr>
              <a:t>Management stated any deals not assigned a “BSLA” tag are aggregated in an “unallocated balance” within Hyperion, which is monitored by the FP&amp;A group at the Parent. The Parent-level FP&amp;A group works closely with their business-level counterparts to clear the unallocated balance on a weekly basis. In addition, weekly management meetings are held at the business level to discuss both on-book deals and deals in the pipeline. These meetings are attended by the originations team and are intended, in part, to ensure that all closed deals are accurately reflected in Target’s financial records.</a:t>
            </a:r>
          </a:p>
          <a:p>
            <a:pPr marL="0" lvl="2">
              <a:spcBef>
                <a:spcPts val="600"/>
              </a:spcBef>
              <a:buClr>
                <a:srgbClr val="97989A"/>
              </a:buClr>
              <a:defRPr/>
            </a:pPr>
            <a:r>
              <a:rPr lang="en-US" sz="900" b="1" dirty="0">
                <a:latin typeface="Arial" panose="020B0604020202020204" pitchFamily="34" charset="0"/>
                <a:cs typeface="Arial" panose="020B0604020202020204" pitchFamily="34" charset="0"/>
              </a:rPr>
              <a:t>Tie-out of Financial Information</a:t>
            </a:r>
            <a:endParaRPr lang="en-US" sz="900" dirty="0">
              <a:latin typeface="Arial" panose="020B0604020202020204" pitchFamily="34" charset="0"/>
              <a:cs typeface="Arial" panose="020B0604020202020204" pitchFamily="34" charset="0"/>
            </a:endParaRPr>
          </a:p>
          <a:p>
            <a:pPr marL="177800" lvl="2" indent="-177800">
              <a:spcBef>
                <a:spcPts val="600"/>
              </a:spcBef>
              <a:buClr>
                <a:srgbClr val="97989A"/>
              </a:buClr>
              <a:buFont typeface="Arial" pitchFamily="34" charset="0"/>
              <a:buChar char="■"/>
              <a:defRPr/>
            </a:pPr>
            <a:r>
              <a:rPr lang="en-US" sz="900" dirty="0">
                <a:latin typeface="Arial" panose="020B0604020202020204" pitchFamily="34" charset="0"/>
                <a:cs typeface="Arial" panose="020B0604020202020204" pitchFamily="34" charset="0"/>
              </a:rPr>
              <a:t>In 2012 and 2013, changes to GL account usage and chart of accounts mapping were introduced. GL account usage was improved by separately recording various balances that were historically aggregated in a single general ledger account. Hyperion is a dynamic system in which mapping and account usage changes implemented in the present are retrospectively applied to historical balances. Given that historical balances (2007 to 2011) were often aggregated, this retrospective application reduced the reliability of historical balances as reported in Hyperion reports. Accordingly, management presentations and / or management judgment were relied upon to determine certain balances in 2007 through 2011. </a:t>
            </a:r>
          </a:p>
          <a:p>
            <a:pPr marL="177800" lvl="2" indent="-177800">
              <a:spcBef>
                <a:spcPts val="600"/>
              </a:spcBef>
              <a:buClr>
                <a:srgbClr val="97989A"/>
              </a:buClr>
              <a:buFont typeface="Arial" pitchFamily="34" charset="0"/>
              <a:buChar char="■"/>
              <a:defRPr/>
            </a:pPr>
            <a:r>
              <a:rPr lang="en-US" sz="900" dirty="0">
                <a:latin typeface="Arial" panose="020B0604020202020204" pitchFamily="34" charset="0"/>
                <a:cs typeface="Arial" panose="020B0604020202020204" pitchFamily="34" charset="0"/>
              </a:rPr>
              <a:t>Balances relating to the SSLP / MMGP portfolio and the </a:t>
            </a:r>
            <a:r>
              <a:rPr lang="en-US" sz="900" dirty="0" err="1">
                <a:latin typeface="Arial" panose="020B0604020202020204" pitchFamily="34" charset="0"/>
                <a:cs typeface="Arial" panose="020B0604020202020204" pitchFamily="34" charset="0"/>
              </a:rPr>
              <a:t>Mubadala</a:t>
            </a:r>
            <a:r>
              <a:rPr lang="en-US" sz="900" dirty="0">
                <a:latin typeface="Arial" panose="020B0604020202020204" pitchFamily="34" charset="0"/>
                <a:cs typeface="Arial" panose="020B0604020202020204" pitchFamily="34" charset="0"/>
              </a:rPr>
              <a:t> JV are prepared by dedicated controllership teams for these portfolios and submitted to Target management. These submissions form the basis of the split between the Core-portfolio balances and those relating to these portfolios. Within the Core-portfolio, ABL balances were calculated using the ABL asset base (which was extracted from Hyperion) and ABL spreads for each period in question.</a:t>
            </a:r>
          </a:p>
          <a:p>
            <a:pPr marL="177800" lvl="2" indent="-177800">
              <a:spcBef>
                <a:spcPts val="600"/>
              </a:spcBef>
              <a:buClr>
                <a:srgbClr val="97989A"/>
              </a:buClr>
              <a:buFont typeface="Arial" pitchFamily="34" charset="0"/>
              <a:buChar char="■"/>
              <a:defRPr/>
            </a:pPr>
            <a:r>
              <a:rPr lang="en-US" sz="900" dirty="0">
                <a:latin typeface="Arial" panose="020B0604020202020204" pitchFamily="34" charset="0"/>
                <a:cs typeface="Arial" panose="020B0604020202020204" pitchFamily="34" charset="0"/>
              </a:rPr>
              <a:t>Specific procedures performed over Target’s financial information are as follows:</a:t>
            </a:r>
          </a:p>
          <a:p>
            <a:pPr marL="0" lvl="2">
              <a:spcBef>
                <a:spcPts val="600"/>
              </a:spcBef>
              <a:buClr>
                <a:srgbClr val="97989A"/>
              </a:buClr>
              <a:defRPr/>
            </a:pPr>
            <a:r>
              <a:rPr lang="en-US" sz="900" i="1" dirty="0">
                <a:latin typeface="Arial" panose="020B0604020202020204" pitchFamily="34" charset="0"/>
                <a:cs typeface="Arial" panose="020B0604020202020204" pitchFamily="34" charset="0"/>
              </a:rPr>
              <a:t>2012 to 2014</a:t>
            </a:r>
          </a:p>
          <a:p>
            <a:pPr marL="347663" lvl="2" indent="-177800">
              <a:spcBef>
                <a:spcPts val="600"/>
              </a:spcBef>
              <a:buClr>
                <a:srgbClr val="97989A"/>
              </a:buClr>
              <a:buFont typeface="Arial" pitchFamily="34" charset="0"/>
              <a:buChar char="‒"/>
              <a:defRPr/>
            </a:pPr>
            <a:r>
              <a:rPr lang="en-US" sz="900" dirty="0">
                <a:latin typeface="Arial" panose="020B0604020202020204" pitchFamily="34" charset="0"/>
                <a:cs typeface="Arial" panose="020B0604020202020204" pitchFamily="34" charset="0"/>
              </a:rPr>
              <a:t>Target management extracted live versions of Hyperion system-generated reports for the years 2012 through 2014. We were able to agree reported balances as per Target’s detailed financial statements directly to Hyperion system-generated reports (including the ABL / non-ABL asset base split) with the following minor adjustments:</a:t>
            </a:r>
          </a:p>
          <a:p>
            <a:pPr marL="576263" lvl="3" indent="-173038">
              <a:spcBef>
                <a:spcPts val="600"/>
              </a:spcBef>
              <a:buClr>
                <a:srgbClr val="97989A"/>
              </a:buClr>
              <a:buFont typeface="Arial" pitchFamily="34" charset="0"/>
              <a:buChar char="■"/>
              <a:defRPr/>
            </a:pPr>
            <a:r>
              <a:rPr lang="en-US" sz="900" dirty="0">
                <a:latin typeface="Arial" panose="020B0604020202020204" pitchFamily="34" charset="0"/>
                <a:cs typeface="Arial" panose="020B0604020202020204" pitchFamily="34" charset="0"/>
              </a:rPr>
              <a:t>LIBOR floors on certain assets provide an income benefit in periods when the LIBOR on these assets is lower than the floor. This income benefit, which is tracked separately for internal management reporting purposes, is included in “Other Income” in the Hyperion reports. This amount was reclassified from “Other Income” to “Interest Income” in Target’s reported financial information. The amounts reclassified were less than $2 million in any given year. We were able to agree the adjustment to the specific GL account in which the balance resides</a:t>
            </a:r>
            <a:r>
              <a:rPr lang="en-US" sz="900" dirty="0" smtClean="0">
                <a:latin typeface="Arial" panose="020B0604020202020204" pitchFamily="34" charset="0"/>
                <a:cs typeface="Arial" panose="020B0604020202020204" pitchFamily="34" charset="0"/>
              </a:rPr>
              <a:t>.</a:t>
            </a:r>
          </a:p>
          <a:p>
            <a:pPr marL="576263" lvl="3" indent="-173038">
              <a:spcBef>
                <a:spcPts val="600"/>
              </a:spcBef>
              <a:buClr>
                <a:srgbClr val="97989A"/>
              </a:buClr>
              <a:buFont typeface="Arial" pitchFamily="34" charset="0"/>
              <a:buChar char="■"/>
              <a:defRPr/>
            </a:pPr>
            <a:r>
              <a:rPr lang="en-US" sz="900" dirty="0">
                <a:latin typeface="Arial" panose="020B0604020202020204" pitchFamily="34" charset="0"/>
                <a:cs typeface="Arial" panose="020B0604020202020204" pitchFamily="34" charset="0"/>
              </a:rPr>
              <a:t>Certain upfront fees are reported as part of “Other Income” for regulatory purposes since such fees do not meet the definition of upfront fees for regulatory purposes. To ensure that reported upfront fees are consistent with the accounting definition of such fees (as opposed to the regulatory definition), these amounts reported in “Other Income” were reclassified to “Upfront Fees”. The amounts reclassified were $1 million in 2012 and 2013 and $22 million in 2014. We were able to agree the adjustment to the specific GL accounts in which the balance resides.</a:t>
            </a:r>
          </a:p>
          <a:p>
            <a:pPr marL="576263" lvl="3" indent="-173038">
              <a:spcBef>
                <a:spcPts val="600"/>
              </a:spcBef>
              <a:buClr>
                <a:srgbClr val="97989A"/>
              </a:buClr>
              <a:buFont typeface="Arial" pitchFamily="34" charset="0"/>
              <a:buChar char="■"/>
              <a:defRPr/>
            </a:pPr>
            <a:endParaRPr lang="en-US" sz="900" dirty="0" smtClean="0">
              <a:latin typeface="Arial" pitchFamily="34" charset="0"/>
              <a:cs typeface="Arial" pitchFamily="34" charset="0"/>
            </a:endParaRPr>
          </a:p>
        </p:txBody>
      </p:sp>
    </p:spTree>
    <p:extLst>
      <p:ext uri="{BB962C8B-B14F-4D97-AF65-F5344CB8AC3E}">
        <p14:creationId xmlns:p14="http://schemas.microsoft.com/office/powerpoint/2010/main" val="184679229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3"/>
          <p:cNvSpPr>
            <a:spLocks noGrp="1"/>
          </p:cNvSpPr>
          <p:nvPr>
            <p:ph type="title"/>
          </p:nvPr>
        </p:nvSpPr>
        <p:spPr>
          <a:xfrm>
            <a:off x="2123728" y="116632"/>
            <a:ext cx="6768752" cy="576064"/>
          </a:xfrm>
        </p:spPr>
        <p:txBody>
          <a:bodyPr/>
          <a:lstStyle/>
          <a:p>
            <a:r>
              <a:rPr lang="en-US" sz="1400" b="0" dirty="0" smtClean="0">
                <a:solidFill>
                  <a:srgbClr val="747678"/>
                </a:solidFill>
              </a:rPr>
              <a:t>Appendix 2</a:t>
            </a:r>
            <a:r>
              <a:rPr lang="en-US" dirty="0" smtClean="0"/>
              <a:t/>
            </a:r>
            <a:br>
              <a:rPr lang="en-US" dirty="0" smtClean="0"/>
            </a:br>
            <a:r>
              <a:rPr lang="en-US" dirty="0" smtClean="0"/>
              <a:t>Financial information (3)</a:t>
            </a:r>
            <a:endParaRPr lang="en-US" dirty="0"/>
          </a:p>
        </p:txBody>
      </p:sp>
      <p:sp>
        <p:nvSpPr>
          <p:cNvPr id="2" name="TextBox 1"/>
          <p:cNvSpPr txBox="1"/>
          <p:nvPr/>
        </p:nvSpPr>
        <p:spPr>
          <a:xfrm>
            <a:off x="251520" y="1143000"/>
            <a:ext cx="8740080" cy="5257800"/>
          </a:xfrm>
          <a:prstGeom prst="rect">
            <a:avLst/>
          </a:prstGeom>
          <a:noFill/>
        </p:spPr>
        <p:txBody>
          <a:bodyPr wrap="square" lIns="54000" tIns="54000" rIns="54000" bIns="54000" rtlCol="0">
            <a:noAutofit/>
          </a:bodyPr>
          <a:lstStyle/>
          <a:p>
            <a:pPr marL="0" lvl="2">
              <a:spcBef>
                <a:spcPts val="600"/>
              </a:spcBef>
              <a:buClr>
                <a:srgbClr val="97989A"/>
              </a:buClr>
              <a:defRPr/>
            </a:pPr>
            <a:r>
              <a:rPr lang="en-US" sz="900" b="1" dirty="0">
                <a:latin typeface="Arial" panose="020B0604020202020204" pitchFamily="34" charset="0"/>
                <a:cs typeface="Arial" panose="020B0604020202020204" pitchFamily="34" charset="0"/>
              </a:rPr>
              <a:t>Tie-out of Financial </a:t>
            </a:r>
            <a:r>
              <a:rPr lang="en-US" sz="900" b="1" dirty="0" smtClean="0">
                <a:latin typeface="Arial" panose="020B0604020202020204" pitchFamily="34" charset="0"/>
                <a:cs typeface="Arial" panose="020B0604020202020204" pitchFamily="34" charset="0"/>
              </a:rPr>
              <a:t>Information</a:t>
            </a:r>
            <a:r>
              <a:rPr lang="en-US" sz="900" dirty="0" smtClean="0">
                <a:latin typeface="Arial" panose="020B0604020202020204" pitchFamily="34" charset="0"/>
                <a:cs typeface="Arial" panose="020B0604020202020204" pitchFamily="34" charset="0"/>
              </a:rPr>
              <a:t> (continued)</a:t>
            </a:r>
            <a:endParaRPr lang="en-US" sz="900" i="1" dirty="0" smtClean="0">
              <a:latin typeface="Arial" panose="020B0604020202020204" pitchFamily="34" charset="0"/>
              <a:cs typeface="Arial" panose="020B0604020202020204" pitchFamily="34" charset="0"/>
            </a:endParaRPr>
          </a:p>
          <a:p>
            <a:pPr marL="0" lvl="2">
              <a:spcBef>
                <a:spcPts val="600"/>
              </a:spcBef>
              <a:buClr>
                <a:srgbClr val="97989A"/>
              </a:buClr>
              <a:defRPr/>
            </a:pPr>
            <a:r>
              <a:rPr lang="en-US" sz="900" i="1" dirty="0" smtClean="0">
                <a:latin typeface="Arial" panose="020B0604020202020204" pitchFamily="34" charset="0"/>
                <a:cs typeface="Arial" panose="020B0604020202020204" pitchFamily="34" charset="0"/>
              </a:rPr>
              <a:t>2007 </a:t>
            </a:r>
            <a:r>
              <a:rPr lang="en-US" sz="900" i="1" dirty="0">
                <a:latin typeface="Arial" panose="020B0604020202020204" pitchFamily="34" charset="0"/>
                <a:cs typeface="Arial" panose="020B0604020202020204" pitchFamily="34" charset="0"/>
              </a:rPr>
              <a:t>to 2011</a:t>
            </a:r>
          </a:p>
          <a:p>
            <a:pPr marL="347663" lvl="2" indent="-177800">
              <a:spcBef>
                <a:spcPts val="600"/>
              </a:spcBef>
              <a:buClr>
                <a:srgbClr val="97989A"/>
              </a:buClr>
              <a:buFont typeface="Arial" pitchFamily="34" charset="0"/>
              <a:buChar char="‒"/>
              <a:defRPr/>
            </a:pPr>
            <a:r>
              <a:rPr lang="en-US" sz="900" dirty="0">
                <a:latin typeface="Arial" panose="020B0604020202020204" pitchFamily="34" charset="0"/>
                <a:cs typeface="Arial" panose="020B0604020202020204" pitchFamily="34" charset="0"/>
              </a:rPr>
              <a:t>We were able to agree aggregate balances (Total Revenue, Net Revenue and Net Income) from Target’s reported financial information to Hyperion system-generated reports. For specific line items, we were able to agree reported information to Hyperion reports except as noted below. We note that for some balances, such as Letter of Credit fees and Admin Fees, the amounts were agreed to GL accounts that were only used pre-2012 and have nil balances in 2012 and after (i.e., the equivalent balances are recorded in alternative accounts 2012 onwards). These accounts were kept within Hyperion to allow historical comparisons to be made. We read the account descriptions and noted that the descriptions were consistent with the nature of the balances being reported.</a:t>
            </a:r>
          </a:p>
          <a:p>
            <a:pPr marL="347663" lvl="2" indent="-177800">
              <a:spcBef>
                <a:spcPts val="600"/>
              </a:spcBef>
              <a:buClr>
                <a:srgbClr val="97989A"/>
              </a:buClr>
              <a:buFont typeface="Arial" pitchFamily="34" charset="0"/>
              <a:buChar char="‒"/>
              <a:tabLst>
                <a:tab pos="347663" algn="l"/>
              </a:tabLst>
              <a:defRPr/>
            </a:pPr>
            <a:r>
              <a:rPr lang="en-US" sz="900" dirty="0">
                <a:latin typeface="Arial" panose="020B0604020202020204" pitchFamily="34" charset="0"/>
                <a:cs typeface="Arial" panose="020B0604020202020204" pitchFamily="34" charset="0"/>
              </a:rPr>
              <a:t>The following adjustments were made to 2007-2011 Hyperion reports to arrive at reported financial information:</a:t>
            </a:r>
          </a:p>
          <a:p>
            <a:pPr marL="576263" lvl="3" indent="-177800">
              <a:spcBef>
                <a:spcPts val="600"/>
              </a:spcBef>
              <a:buClr>
                <a:srgbClr val="97989A"/>
              </a:buClr>
              <a:buFont typeface="Arial" pitchFamily="34" charset="0"/>
              <a:buChar char="■"/>
              <a:defRPr/>
            </a:pPr>
            <a:r>
              <a:rPr lang="en-US" sz="900" dirty="0">
                <a:latin typeface="Arial" panose="020B0604020202020204" pitchFamily="34" charset="0"/>
                <a:cs typeface="Arial" panose="020B0604020202020204" pitchFamily="34" charset="0"/>
              </a:rPr>
              <a:t>SG&amp;A (2008): </a:t>
            </a:r>
            <a:r>
              <a:rPr lang="en-US" sz="900" dirty="0" smtClean="0">
                <a:latin typeface="Arial" panose="020B0604020202020204" pitchFamily="34" charset="0"/>
                <a:cs typeface="Arial" panose="020B0604020202020204" pitchFamily="34" charset="0"/>
              </a:rPr>
              <a:t>Management asserts that the 2008 </a:t>
            </a:r>
            <a:r>
              <a:rPr lang="en-US" sz="900" dirty="0">
                <a:latin typeface="Arial" panose="020B0604020202020204" pitchFamily="34" charset="0"/>
                <a:cs typeface="Arial" panose="020B0604020202020204" pitchFamily="34" charset="0"/>
              </a:rPr>
              <a:t>SG&amp;A amount per </a:t>
            </a:r>
            <a:r>
              <a:rPr lang="en-US" sz="900" dirty="0" smtClean="0">
                <a:latin typeface="Arial" panose="020B0604020202020204" pitchFamily="34" charset="0"/>
                <a:cs typeface="Arial" panose="020B0604020202020204" pitchFamily="34" charset="0"/>
              </a:rPr>
              <a:t>Hyperion, $</a:t>
            </a:r>
            <a:r>
              <a:rPr lang="en-US" sz="900" dirty="0">
                <a:latin typeface="Arial" panose="020B0604020202020204" pitchFamily="34" charset="0"/>
                <a:cs typeface="Arial" panose="020B0604020202020204" pitchFamily="34" charset="0"/>
              </a:rPr>
              <a:t>176 </a:t>
            </a:r>
            <a:r>
              <a:rPr lang="en-US" sz="900" dirty="0" smtClean="0">
                <a:latin typeface="Arial" panose="020B0604020202020204" pitchFamily="34" charset="0"/>
                <a:cs typeface="Arial" panose="020B0604020202020204" pitchFamily="34" charset="0"/>
              </a:rPr>
              <a:t>million, was </a:t>
            </a:r>
            <a:r>
              <a:rPr lang="en-US" sz="900" dirty="0">
                <a:latin typeface="Arial" panose="020B0604020202020204" pitchFamily="34" charset="0"/>
                <a:cs typeface="Arial" panose="020B0604020202020204" pitchFamily="34" charset="0"/>
              </a:rPr>
              <a:t>incorrect since such a balance would imply that SG&amp;A decreased in 2009 despite an increase in headcount. Accordingly, Management used the $137 million SG&amp;A amount per quarterly management close packages from </a:t>
            </a:r>
            <a:r>
              <a:rPr lang="en-US" sz="900" dirty="0" smtClean="0">
                <a:latin typeface="Arial" panose="020B0604020202020204" pitchFamily="34" charset="0"/>
                <a:cs typeface="Arial" panose="020B0604020202020204" pitchFamily="34" charset="0"/>
              </a:rPr>
              <a:t>2008. An </a:t>
            </a:r>
            <a:r>
              <a:rPr lang="en-US" sz="900" dirty="0">
                <a:latin typeface="Arial" panose="020B0604020202020204" pitchFamily="34" charset="0"/>
                <a:cs typeface="Arial" panose="020B0604020202020204" pitchFamily="34" charset="0"/>
              </a:rPr>
              <a:t>offset equal to the difference ($39 million) was made to “Other Income” to ensure </a:t>
            </a:r>
            <a:r>
              <a:rPr lang="en-US" sz="900" dirty="0" smtClean="0">
                <a:latin typeface="Arial" panose="020B0604020202020204" pitchFamily="34" charset="0"/>
                <a:cs typeface="Arial" panose="020B0604020202020204" pitchFamily="34" charset="0"/>
              </a:rPr>
              <a:t>reported </a:t>
            </a:r>
            <a:r>
              <a:rPr lang="en-US" sz="900" dirty="0">
                <a:latin typeface="Arial" panose="020B0604020202020204" pitchFamily="34" charset="0"/>
                <a:cs typeface="Arial" panose="020B0604020202020204" pitchFamily="34" charset="0"/>
              </a:rPr>
              <a:t>net income </a:t>
            </a:r>
            <a:r>
              <a:rPr lang="en-US" sz="900" dirty="0" smtClean="0">
                <a:latin typeface="Arial" panose="020B0604020202020204" pitchFamily="34" charset="0"/>
                <a:cs typeface="Arial" panose="020B0604020202020204" pitchFamily="34" charset="0"/>
              </a:rPr>
              <a:t>was </a:t>
            </a:r>
            <a:r>
              <a:rPr lang="en-US" sz="900" dirty="0">
                <a:latin typeface="Arial" panose="020B0604020202020204" pitchFamily="34" charset="0"/>
                <a:cs typeface="Arial" panose="020B0604020202020204" pitchFamily="34" charset="0"/>
              </a:rPr>
              <a:t>consistent </a:t>
            </a:r>
            <a:r>
              <a:rPr lang="en-US" sz="900" dirty="0" smtClean="0">
                <a:latin typeface="Arial" panose="020B0604020202020204" pitchFamily="34" charset="0"/>
                <a:cs typeface="Arial" panose="020B0604020202020204" pitchFamily="34" charset="0"/>
              </a:rPr>
              <a:t>with Hyperion. </a:t>
            </a:r>
            <a:endParaRPr lang="en-US" sz="900" dirty="0">
              <a:latin typeface="Arial" panose="020B0604020202020204" pitchFamily="34" charset="0"/>
              <a:cs typeface="Arial" panose="020B0604020202020204" pitchFamily="34" charset="0"/>
            </a:endParaRPr>
          </a:p>
          <a:p>
            <a:pPr marL="576263" lvl="3" indent="-177800">
              <a:spcBef>
                <a:spcPts val="600"/>
              </a:spcBef>
              <a:buClr>
                <a:srgbClr val="97989A"/>
              </a:buClr>
              <a:buFont typeface="Arial" pitchFamily="34" charset="0"/>
              <a:buChar char="■"/>
              <a:defRPr/>
            </a:pPr>
            <a:r>
              <a:rPr lang="en-US" sz="900" dirty="0">
                <a:latin typeface="Arial" panose="020B0604020202020204" pitchFamily="34" charset="0"/>
                <a:cs typeface="Arial" panose="020B0604020202020204" pitchFamily="34" charset="0"/>
              </a:rPr>
              <a:t>Yield Income (2010 and 2011): In 2010 and 2011, reported yield income was reduced by $40 million and $32 million, respectively, to exclude income on securitized assets that were brought on-book pursuant to a change in accounting standards. While we were able to agree these amounts to the specific GL accounts used to accumulate income on these securitized assets, we note that this adjustment is not made to correct Hyperion balances and is instead a “normalization” adjustment made by Management to allow like-for-like comparisons with the current income profile. According to Management, assets are not regularly securitized (within the portfolio as at March 31, 2015 portfolio, only $250 million of ABL loans have been securitized</a:t>
            </a:r>
            <a:r>
              <a:rPr lang="en-US" sz="900" dirty="0" smtClean="0">
                <a:latin typeface="Arial" panose="020B0604020202020204" pitchFamily="34" charset="0"/>
                <a:cs typeface="Arial" panose="020B0604020202020204" pitchFamily="34" charset="0"/>
              </a:rPr>
              <a:t>).</a:t>
            </a:r>
          </a:p>
          <a:p>
            <a:pPr marL="576263" lvl="3" indent="-177800">
              <a:spcBef>
                <a:spcPts val="600"/>
              </a:spcBef>
              <a:buClr>
                <a:srgbClr val="97989A"/>
              </a:buClr>
              <a:buFont typeface="Arial" pitchFamily="34" charset="0"/>
              <a:buChar char="■"/>
              <a:defRPr/>
            </a:pPr>
            <a:r>
              <a:rPr lang="en-US" sz="900" dirty="0">
                <a:latin typeface="Arial" panose="020B0604020202020204" pitchFamily="34" charset="0"/>
                <a:cs typeface="Arial" panose="020B0604020202020204" pitchFamily="34" charset="0"/>
              </a:rPr>
              <a:t>Yield Income (2007): Reported yield income for 2007 was reduced by $49 million to remove the income from a held-for-sale debt security (“</a:t>
            </a:r>
            <a:r>
              <a:rPr lang="en-US" sz="900" dirty="0" err="1">
                <a:latin typeface="Arial" panose="020B0604020202020204" pitchFamily="34" charset="0"/>
                <a:cs typeface="Arial" panose="020B0604020202020204" pitchFamily="34" charset="0"/>
              </a:rPr>
              <a:t>Momentive</a:t>
            </a:r>
            <a:r>
              <a:rPr lang="en-US" sz="900" dirty="0">
                <a:latin typeface="Arial" panose="020B0604020202020204" pitchFamily="34" charset="0"/>
                <a:cs typeface="Arial" panose="020B0604020202020204" pitchFamily="34" charset="0"/>
              </a:rPr>
              <a:t> Performance”). Although income was accrued on this asset, management indicated that it was never received. The security was subsequently converted into an equity security and written down. We agreed the amount to a specific GL account in Hyperion set up to accumulate income from this asset.</a:t>
            </a:r>
          </a:p>
          <a:p>
            <a:pPr marL="576263" lvl="3" indent="-177800">
              <a:spcBef>
                <a:spcPts val="600"/>
              </a:spcBef>
              <a:buClr>
                <a:srgbClr val="97989A"/>
              </a:buClr>
              <a:buFont typeface="Arial" pitchFamily="34" charset="0"/>
              <a:buChar char="■"/>
              <a:defRPr/>
            </a:pPr>
            <a:r>
              <a:rPr lang="en-US" sz="900" dirty="0">
                <a:latin typeface="Arial" panose="020B0604020202020204" pitchFamily="34" charset="0"/>
                <a:cs typeface="Arial" panose="020B0604020202020204" pitchFamily="34" charset="0"/>
              </a:rPr>
              <a:t>Sweeps (2007 – 2011): Pre-2012, sweeps were aggregated with a number of other balances in the GL. </a:t>
            </a:r>
            <a:r>
              <a:rPr lang="en-US" sz="900" dirty="0" smtClean="0">
                <a:latin typeface="Arial" panose="020B0604020202020204" pitchFamily="34" charset="0"/>
                <a:cs typeface="Arial" panose="020B0604020202020204" pitchFamily="34" charset="0"/>
              </a:rPr>
              <a:t>For </a:t>
            </a:r>
            <a:r>
              <a:rPr lang="en-US" sz="900" dirty="0">
                <a:latin typeface="Arial" panose="020B0604020202020204" pitchFamily="34" charset="0"/>
                <a:cs typeface="Arial" panose="020B0604020202020204" pitchFamily="34" charset="0"/>
              </a:rPr>
              <a:t>2007 and 2008, the separate amounts swept into income were determined using quarterly management close packages, and we were able to agree these amounts back to the close </a:t>
            </a:r>
            <a:r>
              <a:rPr lang="en-US" sz="900" dirty="0" smtClean="0">
                <a:latin typeface="Arial" panose="020B0604020202020204" pitchFamily="34" charset="0"/>
                <a:cs typeface="Arial" panose="020B0604020202020204" pitchFamily="34" charset="0"/>
              </a:rPr>
              <a:t>packages. </a:t>
            </a:r>
            <a:r>
              <a:rPr lang="en-US" sz="900" dirty="0">
                <a:latin typeface="Arial" panose="020B0604020202020204" pitchFamily="34" charset="0"/>
                <a:cs typeface="Arial" panose="020B0604020202020204" pitchFamily="34" charset="0"/>
              </a:rPr>
              <a:t>In 2009-2011, these amounts were not reported in </a:t>
            </a:r>
            <a:r>
              <a:rPr lang="en-US" sz="900" dirty="0" smtClean="0">
                <a:latin typeface="Arial" panose="020B0604020202020204" pitchFamily="34" charset="0"/>
                <a:cs typeface="Arial" panose="020B0604020202020204" pitchFamily="34" charset="0"/>
              </a:rPr>
              <a:t>close packages. Management </a:t>
            </a:r>
            <a:r>
              <a:rPr lang="en-US" sz="900" dirty="0">
                <a:latin typeface="Arial" panose="020B0604020202020204" pitchFamily="34" charset="0"/>
                <a:cs typeface="Arial" panose="020B0604020202020204" pitchFamily="34" charset="0"/>
              </a:rPr>
              <a:t>determined these amounts by calculating the year-over-year difference in amounts amortized to earnings. We inspected the calculation and note that while the year-over-year difference in amortized amounts is, in part, driven by differences </a:t>
            </a:r>
            <a:r>
              <a:rPr lang="en-US" sz="900" dirty="0" smtClean="0">
                <a:latin typeface="Arial" panose="020B0604020202020204" pitchFamily="34" charset="0"/>
                <a:cs typeface="Arial" panose="020B0604020202020204" pitchFamily="34" charset="0"/>
              </a:rPr>
              <a:t>in yearly additions </a:t>
            </a:r>
            <a:r>
              <a:rPr lang="en-US" sz="900" dirty="0">
                <a:latin typeface="Arial" panose="020B0604020202020204" pitchFamily="34" charset="0"/>
                <a:cs typeface="Arial" panose="020B0604020202020204" pitchFamily="34" charset="0"/>
              </a:rPr>
              <a:t>to the unamortized </a:t>
            </a:r>
            <a:r>
              <a:rPr lang="en-US" sz="900" dirty="0" smtClean="0">
                <a:latin typeface="Arial" panose="020B0604020202020204" pitchFamily="34" charset="0"/>
                <a:cs typeface="Arial" panose="020B0604020202020204" pitchFamily="34" charset="0"/>
              </a:rPr>
              <a:t>balance, </a:t>
            </a:r>
            <a:r>
              <a:rPr lang="en-US" sz="900" dirty="0">
                <a:latin typeface="Arial" panose="020B0604020202020204" pitchFamily="34" charset="0"/>
                <a:cs typeface="Arial" panose="020B0604020202020204" pitchFamily="34" charset="0"/>
              </a:rPr>
              <a:t>the impact of this can be expected to </a:t>
            </a:r>
            <a:r>
              <a:rPr lang="en-US" sz="900" dirty="0" smtClean="0">
                <a:latin typeface="Arial" panose="020B0604020202020204" pitchFamily="34" charset="0"/>
                <a:cs typeface="Arial" panose="020B0604020202020204" pitchFamily="34" charset="0"/>
              </a:rPr>
              <a:t>minimal; Management’s </a:t>
            </a:r>
            <a:r>
              <a:rPr lang="en-US" sz="900" dirty="0">
                <a:latin typeface="Arial" panose="020B0604020202020204" pitchFamily="34" charset="0"/>
                <a:cs typeface="Arial" panose="020B0604020202020204" pitchFamily="34" charset="0"/>
              </a:rPr>
              <a:t>methodology appears </a:t>
            </a:r>
            <a:r>
              <a:rPr lang="en-US" sz="900" dirty="0" smtClean="0">
                <a:latin typeface="Arial" panose="020B0604020202020204" pitchFamily="34" charset="0"/>
                <a:cs typeface="Arial" panose="020B0604020202020204" pitchFamily="34" charset="0"/>
              </a:rPr>
              <a:t>materially reasonable.</a:t>
            </a:r>
            <a:endParaRPr lang="en-US" sz="900" dirty="0">
              <a:latin typeface="Arial" panose="020B0604020202020204" pitchFamily="34" charset="0"/>
              <a:cs typeface="Arial" panose="020B0604020202020204" pitchFamily="34" charset="0"/>
            </a:endParaRPr>
          </a:p>
          <a:p>
            <a:pPr marL="576263" lvl="3" indent="-177800">
              <a:spcBef>
                <a:spcPts val="600"/>
              </a:spcBef>
              <a:buClr>
                <a:srgbClr val="97989A"/>
              </a:buClr>
              <a:buFont typeface="Arial" pitchFamily="34" charset="0"/>
              <a:buChar char="■"/>
              <a:defRPr/>
            </a:pPr>
            <a:r>
              <a:rPr lang="en-US" sz="900" dirty="0">
                <a:latin typeface="Arial" panose="020B0604020202020204" pitchFamily="34" charset="0"/>
                <a:cs typeface="Arial" panose="020B0604020202020204" pitchFamily="34" charset="0"/>
              </a:rPr>
              <a:t>Upfront Fees, Management Fees and Equity Gains (2007-2011): These balances are co-mingled with a number of other balances in the GL. Accordingly, Target management used quarterly management close packages to determine these amounts for each year. We agreed the reported sub-total amounts of these </a:t>
            </a:r>
            <a:r>
              <a:rPr lang="en-US" sz="900" dirty="0" smtClean="0">
                <a:latin typeface="Arial" panose="020B0604020202020204" pitchFamily="34" charset="0"/>
                <a:cs typeface="Arial" panose="020B0604020202020204" pitchFamily="34" charset="0"/>
              </a:rPr>
              <a:t>co-mingled </a:t>
            </a:r>
            <a:r>
              <a:rPr lang="en-US" sz="900" dirty="0">
                <a:latin typeface="Arial" panose="020B0604020202020204" pitchFamily="34" charset="0"/>
                <a:cs typeface="Arial" panose="020B0604020202020204" pitchFamily="34" charset="0"/>
              </a:rPr>
              <a:t>accounts to management close packages.</a:t>
            </a:r>
            <a:endParaRPr lang="en-US" sz="900" dirty="0">
              <a:solidFill>
                <a:srgbClr val="FF0000"/>
              </a:solidFill>
              <a:latin typeface="Arial" panose="020B0604020202020204" pitchFamily="34" charset="0"/>
              <a:cs typeface="Arial" panose="020B0604020202020204" pitchFamily="34" charset="0"/>
            </a:endParaRPr>
          </a:p>
          <a:p>
            <a:pPr marL="0" lvl="2">
              <a:spcBef>
                <a:spcPts val="600"/>
              </a:spcBef>
              <a:buClr>
                <a:srgbClr val="97989A"/>
              </a:buClr>
              <a:defRPr/>
            </a:pPr>
            <a:r>
              <a:rPr lang="en-US" sz="900" i="1" dirty="0">
                <a:latin typeface="Arial" panose="020B0604020202020204" pitchFamily="34" charset="0"/>
                <a:cs typeface="Arial" panose="020B0604020202020204" pitchFamily="34" charset="0"/>
              </a:rPr>
              <a:t>Provision for Credit Losses (2008 to 2014)</a:t>
            </a:r>
          </a:p>
          <a:p>
            <a:pPr marL="347663" lvl="2" indent="-177800">
              <a:spcBef>
                <a:spcPts val="600"/>
              </a:spcBef>
              <a:buClr>
                <a:srgbClr val="97989A"/>
              </a:buClr>
              <a:buFont typeface="Arial" pitchFamily="34" charset="0"/>
              <a:buChar char="‒"/>
              <a:defRPr/>
            </a:pPr>
            <a:r>
              <a:rPr lang="en-US" sz="900" dirty="0">
                <a:latin typeface="Arial" panose="020B0604020202020204" pitchFamily="34" charset="0"/>
                <a:cs typeface="Arial" panose="020B0604020202020204" pitchFamily="34" charset="0"/>
              </a:rPr>
              <a:t>The provision for credit losses is booked to the GL via manual journal entries on an asset-by-asset basis. We obtained a document, redacted for borrower names, showing the quarterly and annual provision amounts, both by borrower and in aggregate. The total provision amount per this document agreed to the total reported provision amounts for each of 2008 through 2014. We compared this document to a Hyperion system-generated report pulled by management and verified that both the individual and total amounts per this source document agreed with the amounts per Hyperion.</a:t>
            </a:r>
            <a:endParaRPr lang="en-US" sz="900" dirty="0" smtClean="0">
              <a:latin typeface="Arial" pitchFamily="34" charset="0"/>
              <a:cs typeface="Arial" pitchFamily="34" charset="0"/>
            </a:endParaRPr>
          </a:p>
        </p:txBody>
      </p:sp>
    </p:spTree>
    <p:extLst>
      <p:ext uri="{BB962C8B-B14F-4D97-AF65-F5344CB8AC3E}">
        <p14:creationId xmlns:p14="http://schemas.microsoft.com/office/powerpoint/2010/main" val="160637052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3"/>
          <p:cNvSpPr>
            <a:spLocks noGrp="1"/>
          </p:cNvSpPr>
          <p:nvPr>
            <p:ph type="title"/>
          </p:nvPr>
        </p:nvSpPr>
        <p:spPr>
          <a:xfrm>
            <a:off x="2123728" y="116632"/>
            <a:ext cx="6768752" cy="576064"/>
          </a:xfrm>
        </p:spPr>
        <p:txBody>
          <a:bodyPr/>
          <a:lstStyle/>
          <a:p>
            <a:r>
              <a:rPr lang="en-US" sz="1400" b="0" dirty="0" smtClean="0">
                <a:solidFill>
                  <a:srgbClr val="747678"/>
                </a:solidFill>
              </a:rPr>
              <a:t>Appendix 3</a:t>
            </a:r>
            <a:r>
              <a:rPr lang="en-US" dirty="0" smtClean="0"/>
              <a:t/>
            </a:r>
            <a:br>
              <a:rPr lang="en-US" dirty="0" smtClean="0"/>
            </a:br>
            <a:r>
              <a:rPr lang="en-US" dirty="0" smtClean="0"/>
              <a:t>People matters</a:t>
            </a:r>
            <a:endParaRPr lang="en-US" dirty="0"/>
          </a:p>
        </p:txBody>
      </p:sp>
      <p:pic>
        <p:nvPicPr>
          <p:cNvPr id="12" name="Picture 11"/>
          <p:cNvPicPr>
            <a:picLocks noChangeAspect="1"/>
          </p:cNvPicPr>
          <p:nvPr/>
        </p:nvPicPr>
        <p:blipFill>
          <a:blip r:embed="rId7"/>
          <a:stretch>
            <a:fillRect/>
          </a:stretch>
        </p:blipFill>
        <p:spPr>
          <a:xfrm>
            <a:off x="259080" y="1211580"/>
            <a:ext cx="5063456" cy="1071419"/>
          </a:xfrm>
          <a:prstGeom prst="rect">
            <a:avLst/>
          </a:prstGeom>
        </p:spPr>
      </p:pic>
      <p:sp>
        <p:nvSpPr>
          <p:cNvPr id="15" name="Text Box 8"/>
          <p:cNvSpPr txBox="1">
            <a:spLocks noChangeArrowheads="1"/>
          </p:cNvSpPr>
          <p:nvPr>
            <p:custDataLst>
              <p:tags r:id="rId1"/>
            </p:custDataLst>
          </p:nvPr>
        </p:nvSpPr>
        <p:spPr bwMode="gray">
          <a:xfrm>
            <a:off x="265149" y="2282999"/>
            <a:ext cx="3755866" cy="305212"/>
          </a:xfrm>
          <a:prstGeom prst="rect">
            <a:avLst/>
          </a:prstGeom>
          <a:noFill/>
          <a:ln w="6350">
            <a:noFill/>
            <a:miter lim="800000"/>
            <a:headEnd type="none" w="sm" len="sm"/>
            <a:tailEnd type="none" w="sm" len="sm"/>
          </a:ln>
          <a:effectLst/>
        </p:spPr>
        <p:txBody>
          <a:bodyPr wrap="square" lIns="0" tIns="0" rIns="0" bIns="0" anchor="b">
            <a:spAutoFit/>
          </a:bodyPr>
          <a:lstStyle/>
          <a:p>
            <a:pPr marL="534988" indent="-534988" defTabSz="762000" eaLnBrk="0" hangingPunct="0">
              <a:spcBef>
                <a:spcPts val="200"/>
              </a:spcBef>
              <a:tabLst>
                <a:tab pos="355600" algn="l"/>
              </a:tabLst>
            </a:pPr>
            <a:r>
              <a:rPr lang="en-US" sz="550" i="1" dirty="0" smtClean="0">
                <a:latin typeface="Arial"/>
                <a:cs typeface="Arial" pitchFamily="34" charset="0"/>
              </a:rPr>
              <a:t>Source:	6.5.2 Expense Detail.xlsx</a:t>
            </a:r>
          </a:p>
          <a:p>
            <a:pPr marL="534988" indent="-534988" defTabSz="762000" eaLnBrk="0" hangingPunct="0">
              <a:spcBef>
                <a:spcPts val="200"/>
              </a:spcBef>
              <a:tabLst>
                <a:tab pos="355600" algn="l"/>
              </a:tabLst>
            </a:pPr>
            <a:r>
              <a:rPr lang="en-US" sz="550" dirty="0" smtClean="0">
                <a:latin typeface="Arial"/>
                <a:cs typeface="Arial" pitchFamily="34" charset="0"/>
              </a:rPr>
              <a:t>(1) Base includes benefits such as 401k, pension, healthcare, training &amp; education</a:t>
            </a:r>
          </a:p>
          <a:p>
            <a:pPr marL="534988" indent="-534988" defTabSz="762000" eaLnBrk="0" hangingPunct="0">
              <a:spcBef>
                <a:spcPts val="200"/>
              </a:spcBef>
              <a:tabLst>
                <a:tab pos="355600" algn="l"/>
              </a:tabLst>
            </a:pPr>
            <a:r>
              <a:rPr lang="en-US" sz="550" dirty="0" smtClean="0">
                <a:latin typeface="Arial"/>
                <a:cs typeface="Arial" pitchFamily="34" charset="0"/>
              </a:rPr>
              <a:t>(2) Other includes legal, marketing, finance and HR</a:t>
            </a:r>
            <a:endParaRPr lang="en-US" sz="550" dirty="0">
              <a:latin typeface="Arial"/>
              <a:cs typeface="Arial" pitchFamily="34" charset="0"/>
            </a:endParaRPr>
          </a:p>
        </p:txBody>
      </p:sp>
      <p:sp>
        <p:nvSpPr>
          <p:cNvPr id="8" name="Text Box 8"/>
          <p:cNvSpPr txBox="1">
            <a:spLocks noChangeArrowheads="1"/>
          </p:cNvSpPr>
          <p:nvPr>
            <p:custDataLst>
              <p:tags r:id="rId2"/>
            </p:custDataLst>
          </p:nvPr>
        </p:nvSpPr>
        <p:spPr bwMode="gray">
          <a:xfrm>
            <a:off x="257529" y="3614669"/>
            <a:ext cx="5063342" cy="507831"/>
          </a:xfrm>
          <a:prstGeom prst="rect">
            <a:avLst/>
          </a:prstGeom>
          <a:noFill/>
          <a:ln w="6350">
            <a:noFill/>
            <a:miter lim="800000"/>
            <a:headEnd type="none" w="sm" len="sm"/>
            <a:tailEnd type="none" w="sm" len="sm"/>
          </a:ln>
          <a:effectLst/>
        </p:spPr>
        <p:txBody>
          <a:bodyPr wrap="square" lIns="0" tIns="0" rIns="0" bIns="0" anchor="b">
            <a:spAutoFit/>
          </a:bodyPr>
          <a:lstStyle/>
          <a:p>
            <a:pPr marL="534988" indent="-534988" defTabSz="762000" eaLnBrk="0" hangingPunct="0">
              <a:spcBef>
                <a:spcPts val="200"/>
              </a:spcBef>
              <a:tabLst>
                <a:tab pos="355600" algn="l"/>
              </a:tabLst>
            </a:pPr>
            <a:r>
              <a:rPr lang="en-US" sz="550" i="1" dirty="0" smtClean="0">
                <a:latin typeface="Arial"/>
                <a:cs typeface="Arial" pitchFamily="34" charset="0"/>
              </a:rPr>
              <a:t>Source:</a:t>
            </a:r>
            <a:r>
              <a:rPr lang="en-US" sz="550" i="1" dirty="0">
                <a:latin typeface="Arial"/>
                <a:cs typeface="Arial" pitchFamily="34" charset="0"/>
              </a:rPr>
              <a:t>	</a:t>
            </a:r>
            <a:r>
              <a:rPr lang="en-US" sz="550" i="1" dirty="0" smtClean="0">
                <a:latin typeface="Arial"/>
                <a:cs typeface="Arial" pitchFamily="34" charset="0"/>
              </a:rPr>
              <a:t>B.6.4 Avg Annual Comp by Group and Level</a:t>
            </a:r>
          </a:p>
          <a:p>
            <a:pPr marL="534988" indent="-534988" defTabSz="762000" eaLnBrk="0" hangingPunct="0">
              <a:tabLst>
                <a:tab pos="355600" algn="l"/>
              </a:tabLst>
            </a:pPr>
            <a:r>
              <a:rPr lang="en-US" sz="550" i="1" dirty="0" smtClean="0">
                <a:latin typeface="Arial"/>
                <a:cs typeface="Arial" pitchFamily="34" charset="0"/>
              </a:rPr>
              <a:t>Note: The weighted average compensation by function in this table does not reconcile to the “Compensation and Benefits Breakdown” table above. Per Management,</a:t>
            </a:r>
          </a:p>
          <a:p>
            <a:pPr marL="534988" indent="-534988" defTabSz="762000" eaLnBrk="0" hangingPunct="0">
              <a:tabLst>
                <a:tab pos="355600" algn="l"/>
              </a:tabLst>
            </a:pPr>
            <a:r>
              <a:rPr lang="en-US" sz="550" i="1" dirty="0" smtClean="0">
                <a:latin typeface="Arial"/>
                <a:cs typeface="Arial" pitchFamily="34" charset="0"/>
              </a:rPr>
              <a:t>this is because (a) for internal purposes, certain employees were included in this calculation that were categorized under Shared Services for the purposes of the</a:t>
            </a:r>
          </a:p>
          <a:p>
            <a:pPr marL="534988" indent="-534988" defTabSz="762000" eaLnBrk="0" hangingPunct="0">
              <a:tabLst>
                <a:tab pos="355600" algn="l"/>
              </a:tabLst>
            </a:pPr>
            <a:r>
              <a:rPr lang="en-US" sz="550" i="1" dirty="0" smtClean="0">
                <a:latin typeface="Arial"/>
                <a:cs typeface="Arial" pitchFamily="34" charset="0"/>
              </a:rPr>
              <a:t>“Compensation and Benefits Breakdown” table, and (b) the average calculations in this table are as of May 2015 (vs. the historical calculations in the “Compensation</a:t>
            </a:r>
          </a:p>
          <a:p>
            <a:pPr marL="534988" indent="-534988" defTabSz="762000" eaLnBrk="0" hangingPunct="0">
              <a:tabLst>
                <a:tab pos="355600" algn="l"/>
              </a:tabLst>
            </a:pPr>
            <a:r>
              <a:rPr lang="en-US" sz="550" i="1" dirty="0" smtClean="0">
                <a:latin typeface="Arial"/>
                <a:cs typeface="Arial" pitchFamily="34" charset="0"/>
              </a:rPr>
              <a:t>and Benefits Breakdown” table). Because this view provides greater granularity by employee level and because the averages are directionally consistent between the</a:t>
            </a:r>
          </a:p>
          <a:p>
            <a:pPr marL="534988" indent="-534988" defTabSz="762000" eaLnBrk="0" hangingPunct="0">
              <a:tabLst>
                <a:tab pos="355600" algn="l"/>
              </a:tabLst>
            </a:pPr>
            <a:r>
              <a:rPr lang="en-US" sz="550" i="1" dirty="0" smtClean="0">
                <a:latin typeface="Arial"/>
                <a:cs typeface="Arial" pitchFamily="34" charset="0"/>
              </a:rPr>
              <a:t>two data sources, we have included this analysis for your consideration.</a:t>
            </a:r>
          </a:p>
        </p:txBody>
      </p:sp>
      <p:sp>
        <p:nvSpPr>
          <p:cNvPr id="17" name="Text Box 8"/>
          <p:cNvSpPr txBox="1">
            <a:spLocks noChangeArrowheads="1"/>
          </p:cNvSpPr>
          <p:nvPr>
            <p:custDataLst>
              <p:tags r:id="rId3"/>
            </p:custDataLst>
          </p:nvPr>
        </p:nvSpPr>
        <p:spPr bwMode="gray">
          <a:xfrm>
            <a:off x="257529" y="6019800"/>
            <a:ext cx="3704871" cy="338554"/>
          </a:xfrm>
          <a:prstGeom prst="rect">
            <a:avLst/>
          </a:prstGeom>
          <a:noFill/>
          <a:ln w="6350">
            <a:noFill/>
            <a:miter lim="800000"/>
            <a:headEnd type="none" w="sm" len="sm"/>
            <a:tailEnd type="none" w="sm" len="sm"/>
          </a:ln>
          <a:effectLst/>
        </p:spPr>
        <p:txBody>
          <a:bodyPr wrap="square" lIns="0" tIns="0" rIns="0" bIns="0" anchor="b">
            <a:spAutoFit/>
          </a:bodyPr>
          <a:lstStyle/>
          <a:p>
            <a:pPr marL="534988" indent="-534988" defTabSz="762000" eaLnBrk="0" hangingPunct="0">
              <a:spcBef>
                <a:spcPts val="200"/>
              </a:spcBef>
              <a:tabLst>
                <a:tab pos="355600" algn="l"/>
              </a:tabLst>
            </a:pPr>
            <a:r>
              <a:rPr lang="en-US" sz="550" i="1" dirty="0" smtClean="0">
                <a:latin typeface="Arial"/>
                <a:cs typeface="Arial" pitchFamily="34" charset="0"/>
              </a:rPr>
              <a:t>Source:	6.6.1-6.6.4 Quarterly Close Packages 2014</a:t>
            </a:r>
          </a:p>
          <a:p>
            <a:pPr marL="534988" indent="-534988" defTabSz="762000" eaLnBrk="0" hangingPunct="0">
              <a:tabLst>
                <a:tab pos="355600" algn="l"/>
              </a:tabLst>
            </a:pPr>
            <a:r>
              <a:rPr lang="en-US" sz="550" i="1" dirty="0" smtClean="0">
                <a:latin typeface="Arial"/>
                <a:cs typeface="Arial" pitchFamily="34" charset="0"/>
              </a:rPr>
              <a:t>Note: The above headcount numbers do not reconcile to headcount numbers presented elsewhere in this</a:t>
            </a:r>
          </a:p>
          <a:p>
            <a:pPr marL="534988" indent="-534988" defTabSz="762000" eaLnBrk="0" hangingPunct="0">
              <a:tabLst>
                <a:tab pos="355600" algn="l"/>
              </a:tabLst>
            </a:pPr>
            <a:r>
              <a:rPr lang="en-US" sz="550" i="1" dirty="0" smtClean="0">
                <a:latin typeface="Arial"/>
                <a:cs typeface="Arial" pitchFamily="34" charset="0"/>
              </a:rPr>
              <a:t>appendix because they exclude Franchise employees and Legal/Finance employees allocated from other</a:t>
            </a:r>
          </a:p>
          <a:p>
            <a:pPr marL="534988" indent="-534988" defTabSz="762000" eaLnBrk="0" hangingPunct="0">
              <a:tabLst>
                <a:tab pos="355600" algn="l"/>
              </a:tabLst>
            </a:pPr>
            <a:r>
              <a:rPr lang="en-US" sz="550" i="1" dirty="0" smtClean="0">
                <a:latin typeface="Arial"/>
                <a:cs typeface="Arial" pitchFamily="34" charset="0"/>
              </a:rPr>
              <a:t>functions. The numbers are, however, directionally consistent with the headcount including such employees.</a:t>
            </a:r>
            <a:endParaRPr lang="en-US" sz="550" i="1" dirty="0">
              <a:latin typeface="Arial"/>
              <a:cs typeface="Arial" pitchFamily="34" charset="0"/>
            </a:endParaRPr>
          </a:p>
        </p:txBody>
      </p:sp>
      <p:pic>
        <p:nvPicPr>
          <p:cNvPr id="6" name="Picture 5"/>
          <p:cNvPicPr>
            <a:picLocks noChangeAspect="1"/>
          </p:cNvPicPr>
          <p:nvPr/>
        </p:nvPicPr>
        <p:blipFill>
          <a:blip r:embed="rId8"/>
          <a:stretch>
            <a:fillRect/>
          </a:stretch>
        </p:blipFill>
        <p:spPr>
          <a:xfrm>
            <a:off x="152400" y="4194526"/>
            <a:ext cx="3810000" cy="1999967"/>
          </a:xfrm>
          <a:prstGeom prst="rect">
            <a:avLst/>
          </a:prstGeom>
        </p:spPr>
      </p:pic>
      <p:pic>
        <p:nvPicPr>
          <p:cNvPr id="3" name="Picture 2"/>
          <p:cNvPicPr>
            <a:picLocks noChangeAspect="1"/>
          </p:cNvPicPr>
          <p:nvPr/>
        </p:nvPicPr>
        <p:blipFill>
          <a:blip r:embed="rId9"/>
          <a:stretch>
            <a:fillRect/>
          </a:stretch>
        </p:blipFill>
        <p:spPr>
          <a:xfrm>
            <a:off x="257529" y="2659560"/>
            <a:ext cx="5063342" cy="883759"/>
          </a:xfrm>
          <a:prstGeom prst="rect">
            <a:avLst/>
          </a:prstGeom>
        </p:spPr>
      </p:pic>
      <p:sp>
        <p:nvSpPr>
          <p:cNvPr id="10" name="Rounded Rectangle 9"/>
          <p:cNvSpPr/>
          <p:nvPr>
            <p:custDataLst>
              <p:tags r:id="rId4"/>
            </p:custDataLst>
          </p:nvPr>
        </p:nvSpPr>
        <p:spPr bwMode="gray">
          <a:xfrm rot="5400000">
            <a:off x="2677161" y="-751839"/>
            <a:ext cx="208278" cy="5105402"/>
          </a:xfrm>
          <a:prstGeom prst="roundRect">
            <a:avLst>
              <a:gd name="adj" fmla="val 26588"/>
            </a:avLst>
          </a:prstGeom>
          <a:noFill/>
          <a:ln w="12700">
            <a:solidFill>
              <a:srgbClr val="9E303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dirty="0"/>
          </a:p>
        </p:txBody>
      </p:sp>
    </p:spTree>
    <p:extLst>
      <p:ext uri="{BB962C8B-B14F-4D97-AF65-F5344CB8AC3E}">
        <p14:creationId xmlns:p14="http://schemas.microsoft.com/office/powerpoint/2010/main" val="16807174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3"/>
          <p:cNvSpPr>
            <a:spLocks noGrp="1"/>
          </p:cNvSpPr>
          <p:nvPr>
            <p:ph type="title"/>
          </p:nvPr>
        </p:nvSpPr>
        <p:spPr>
          <a:xfrm>
            <a:off x="2123728" y="116632"/>
            <a:ext cx="6768752" cy="576064"/>
          </a:xfrm>
        </p:spPr>
        <p:txBody>
          <a:bodyPr/>
          <a:lstStyle/>
          <a:p>
            <a:r>
              <a:rPr lang="en-US" sz="1400" b="0" dirty="0" smtClean="0">
                <a:solidFill>
                  <a:srgbClr val="747678"/>
                </a:solidFill>
              </a:rPr>
              <a:t>Appendix 3</a:t>
            </a:r>
            <a:r>
              <a:rPr lang="en-US" dirty="0" smtClean="0"/>
              <a:t/>
            </a:r>
            <a:br>
              <a:rPr lang="en-US" dirty="0" smtClean="0"/>
            </a:br>
            <a:r>
              <a:rPr lang="en-US" dirty="0" smtClean="0"/>
              <a:t>People matters (2)</a:t>
            </a:r>
            <a:endParaRPr lang="en-US" dirty="0"/>
          </a:p>
        </p:txBody>
      </p:sp>
      <p:pic>
        <p:nvPicPr>
          <p:cNvPr id="3" name="Picture 2"/>
          <p:cNvPicPr>
            <a:picLocks noChangeAspect="1"/>
          </p:cNvPicPr>
          <p:nvPr/>
        </p:nvPicPr>
        <p:blipFill>
          <a:blip r:embed="rId6"/>
          <a:stretch>
            <a:fillRect/>
          </a:stretch>
        </p:blipFill>
        <p:spPr>
          <a:xfrm>
            <a:off x="259079" y="1201428"/>
            <a:ext cx="6569778" cy="970026"/>
          </a:xfrm>
          <a:prstGeom prst="rect">
            <a:avLst/>
          </a:prstGeom>
        </p:spPr>
      </p:pic>
      <p:sp>
        <p:nvSpPr>
          <p:cNvPr id="18" name="Text Box 8"/>
          <p:cNvSpPr txBox="1">
            <a:spLocks noChangeArrowheads="1"/>
          </p:cNvSpPr>
          <p:nvPr>
            <p:custDataLst>
              <p:tags r:id="rId1"/>
            </p:custDataLst>
          </p:nvPr>
        </p:nvSpPr>
        <p:spPr bwMode="gray">
          <a:xfrm>
            <a:off x="259080" y="2213990"/>
            <a:ext cx="3991770" cy="84639"/>
          </a:xfrm>
          <a:prstGeom prst="rect">
            <a:avLst/>
          </a:prstGeom>
          <a:noFill/>
          <a:ln w="6350">
            <a:noFill/>
            <a:miter lim="800000"/>
            <a:headEnd type="none" w="sm" len="sm"/>
            <a:tailEnd type="none" w="sm" len="sm"/>
          </a:ln>
          <a:effectLst/>
        </p:spPr>
        <p:txBody>
          <a:bodyPr wrap="square" lIns="0" tIns="0" rIns="0" bIns="0" anchor="b">
            <a:spAutoFit/>
          </a:bodyPr>
          <a:lstStyle/>
          <a:p>
            <a:pPr marL="534988" indent="-534988" defTabSz="762000" eaLnBrk="0" hangingPunct="0">
              <a:spcBef>
                <a:spcPts val="200"/>
              </a:spcBef>
              <a:tabLst>
                <a:tab pos="355600" algn="l"/>
              </a:tabLst>
            </a:pPr>
            <a:r>
              <a:rPr lang="en-US" sz="550" i="1" dirty="0" smtClean="0">
                <a:latin typeface="Arial"/>
                <a:cs typeface="Arial" pitchFamily="34" charset="0"/>
              </a:rPr>
              <a:t>Source:</a:t>
            </a:r>
            <a:r>
              <a:rPr lang="en-US" sz="550" i="1" dirty="0">
                <a:latin typeface="Arial"/>
                <a:cs typeface="Arial" pitchFamily="34" charset="0"/>
              </a:rPr>
              <a:t>	</a:t>
            </a:r>
            <a:r>
              <a:rPr lang="en-US" sz="550" i="1" dirty="0" smtClean="0">
                <a:latin typeface="Arial"/>
                <a:cs typeface="Arial" pitchFamily="34" charset="0"/>
              </a:rPr>
              <a:t>3.4.1.Borrower stickiness</a:t>
            </a:r>
          </a:p>
        </p:txBody>
      </p:sp>
      <p:pic>
        <p:nvPicPr>
          <p:cNvPr id="5" name="Picture 4"/>
          <p:cNvPicPr>
            <a:picLocks noChangeAspect="1"/>
          </p:cNvPicPr>
          <p:nvPr/>
        </p:nvPicPr>
        <p:blipFill>
          <a:blip r:embed="rId7"/>
          <a:stretch>
            <a:fillRect/>
          </a:stretch>
        </p:blipFill>
        <p:spPr>
          <a:xfrm>
            <a:off x="265148" y="3275035"/>
            <a:ext cx="1801624" cy="825246"/>
          </a:xfrm>
          <a:prstGeom prst="rect">
            <a:avLst/>
          </a:prstGeom>
        </p:spPr>
      </p:pic>
      <p:sp>
        <p:nvSpPr>
          <p:cNvPr id="19" name="Text Box 8"/>
          <p:cNvSpPr txBox="1">
            <a:spLocks noChangeArrowheads="1"/>
          </p:cNvSpPr>
          <p:nvPr>
            <p:custDataLst>
              <p:tags r:id="rId2"/>
            </p:custDataLst>
          </p:nvPr>
        </p:nvSpPr>
        <p:spPr bwMode="gray">
          <a:xfrm>
            <a:off x="257529" y="4106361"/>
            <a:ext cx="3755866" cy="84639"/>
          </a:xfrm>
          <a:prstGeom prst="rect">
            <a:avLst/>
          </a:prstGeom>
          <a:noFill/>
          <a:ln w="6350">
            <a:noFill/>
            <a:miter lim="800000"/>
            <a:headEnd type="none" w="sm" len="sm"/>
            <a:tailEnd type="none" w="sm" len="sm"/>
          </a:ln>
          <a:effectLst/>
        </p:spPr>
        <p:txBody>
          <a:bodyPr wrap="square" lIns="0" tIns="0" rIns="0" bIns="0" anchor="b">
            <a:spAutoFit/>
          </a:bodyPr>
          <a:lstStyle/>
          <a:p>
            <a:pPr marL="534988" indent="-534988" defTabSz="762000" eaLnBrk="0" hangingPunct="0">
              <a:spcBef>
                <a:spcPts val="200"/>
              </a:spcBef>
              <a:tabLst>
                <a:tab pos="355600" algn="l"/>
              </a:tabLst>
            </a:pPr>
            <a:r>
              <a:rPr lang="en-US" sz="550" i="1" dirty="0" smtClean="0">
                <a:latin typeface="Arial"/>
                <a:cs typeface="Arial" pitchFamily="34" charset="0"/>
              </a:rPr>
              <a:t>Source:</a:t>
            </a:r>
            <a:r>
              <a:rPr lang="en-US" sz="550" i="1" dirty="0">
                <a:latin typeface="Arial"/>
                <a:cs typeface="Arial" pitchFamily="34" charset="0"/>
              </a:rPr>
              <a:t>	</a:t>
            </a:r>
            <a:r>
              <a:rPr lang="en-US" sz="550" i="1" dirty="0" smtClean="0">
                <a:latin typeface="Arial"/>
                <a:cs typeface="Arial" pitchFamily="34" charset="0"/>
              </a:rPr>
              <a:t>Management presentation</a:t>
            </a:r>
          </a:p>
        </p:txBody>
      </p:sp>
      <p:pic>
        <p:nvPicPr>
          <p:cNvPr id="7" name="Picture 6"/>
          <p:cNvPicPr>
            <a:picLocks noChangeAspect="1"/>
          </p:cNvPicPr>
          <p:nvPr/>
        </p:nvPicPr>
        <p:blipFill>
          <a:blip r:embed="rId8"/>
          <a:stretch>
            <a:fillRect/>
          </a:stretch>
        </p:blipFill>
        <p:spPr>
          <a:xfrm>
            <a:off x="4012604" y="2667000"/>
            <a:ext cx="3360833" cy="2135492"/>
          </a:xfrm>
          <a:prstGeom prst="rect">
            <a:avLst/>
          </a:prstGeom>
        </p:spPr>
      </p:pic>
      <p:sp>
        <p:nvSpPr>
          <p:cNvPr id="8" name="Text Box 8"/>
          <p:cNvSpPr txBox="1">
            <a:spLocks noChangeArrowheads="1"/>
          </p:cNvSpPr>
          <p:nvPr>
            <p:custDataLst>
              <p:tags r:id="rId3"/>
            </p:custDataLst>
          </p:nvPr>
        </p:nvSpPr>
        <p:spPr bwMode="gray">
          <a:xfrm>
            <a:off x="4419600" y="4419600"/>
            <a:ext cx="3755866" cy="84639"/>
          </a:xfrm>
          <a:prstGeom prst="rect">
            <a:avLst/>
          </a:prstGeom>
          <a:noFill/>
          <a:ln w="6350">
            <a:noFill/>
            <a:miter lim="800000"/>
            <a:headEnd type="none" w="sm" len="sm"/>
            <a:tailEnd type="none" w="sm" len="sm"/>
          </a:ln>
          <a:effectLst/>
        </p:spPr>
        <p:txBody>
          <a:bodyPr wrap="square" lIns="0" tIns="0" rIns="0" bIns="0" anchor="b">
            <a:spAutoFit/>
          </a:bodyPr>
          <a:lstStyle/>
          <a:p>
            <a:pPr marL="534988" indent="-534988" defTabSz="762000" eaLnBrk="0" hangingPunct="0">
              <a:spcBef>
                <a:spcPts val="200"/>
              </a:spcBef>
              <a:tabLst>
                <a:tab pos="355600" algn="l"/>
              </a:tabLst>
            </a:pPr>
            <a:r>
              <a:rPr lang="en-US" sz="550" i="1" dirty="0" smtClean="0">
                <a:latin typeface="Arial"/>
                <a:cs typeface="Arial" pitchFamily="34" charset="0"/>
              </a:rPr>
              <a:t>Source:</a:t>
            </a:r>
            <a:r>
              <a:rPr lang="en-US" sz="550" i="1" dirty="0">
                <a:latin typeface="Arial"/>
                <a:cs typeface="Arial" pitchFamily="34" charset="0"/>
              </a:rPr>
              <a:t>	</a:t>
            </a:r>
            <a:r>
              <a:rPr lang="en-US" sz="550" i="1" dirty="0" smtClean="0">
                <a:latin typeface="Arial"/>
                <a:cs typeface="Arial" pitchFamily="34" charset="0"/>
              </a:rPr>
              <a:t>6.5.7 Commercial CB Detail</a:t>
            </a:r>
          </a:p>
        </p:txBody>
      </p:sp>
    </p:spTree>
    <p:extLst>
      <p:ext uri="{BB962C8B-B14F-4D97-AF65-F5344CB8AC3E}">
        <p14:creationId xmlns:p14="http://schemas.microsoft.com/office/powerpoint/2010/main" val="188097223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3"/>
          <p:cNvSpPr>
            <a:spLocks noGrp="1"/>
          </p:cNvSpPr>
          <p:nvPr>
            <p:ph type="title"/>
          </p:nvPr>
        </p:nvSpPr>
        <p:spPr>
          <a:xfrm>
            <a:off x="2123728" y="116632"/>
            <a:ext cx="6768752" cy="576064"/>
          </a:xfrm>
        </p:spPr>
        <p:txBody>
          <a:bodyPr/>
          <a:lstStyle/>
          <a:p>
            <a:r>
              <a:rPr lang="en-US" sz="1400" b="0" dirty="0" smtClean="0">
                <a:solidFill>
                  <a:srgbClr val="747678"/>
                </a:solidFill>
              </a:rPr>
              <a:t>Appendix 4</a:t>
            </a:r>
            <a:r>
              <a:rPr lang="en-US" dirty="0" smtClean="0"/>
              <a:t/>
            </a:r>
            <a:br>
              <a:rPr lang="en-US" dirty="0" smtClean="0"/>
            </a:br>
            <a:r>
              <a:rPr lang="en-US" dirty="0" smtClean="0"/>
              <a:t>Employee retention arrangements</a:t>
            </a:r>
            <a:endParaRPr lang="en-US" dirty="0"/>
          </a:p>
        </p:txBody>
      </p:sp>
      <p:sp>
        <p:nvSpPr>
          <p:cNvPr id="4" name="Text Box 8"/>
          <p:cNvSpPr txBox="1">
            <a:spLocks noChangeArrowheads="1"/>
          </p:cNvSpPr>
          <p:nvPr>
            <p:custDataLst>
              <p:tags r:id="rId1"/>
            </p:custDataLst>
          </p:nvPr>
        </p:nvSpPr>
        <p:spPr bwMode="gray">
          <a:xfrm>
            <a:off x="259080" y="1761042"/>
            <a:ext cx="3185160" cy="92333"/>
          </a:xfrm>
          <a:prstGeom prst="rect">
            <a:avLst/>
          </a:prstGeom>
          <a:noFill/>
          <a:ln w="6350">
            <a:noFill/>
            <a:miter lim="800000"/>
            <a:headEnd type="none" w="sm" len="sm"/>
            <a:tailEnd type="none" w="sm" len="sm"/>
          </a:ln>
          <a:effectLst/>
        </p:spPr>
        <p:txBody>
          <a:bodyPr wrap="square" lIns="0" tIns="0" rIns="0" bIns="0" anchor="b">
            <a:spAutoFit/>
          </a:bodyPr>
          <a:lstStyle/>
          <a:p>
            <a:pPr marL="534988" indent="-534988" defTabSz="762000" eaLnBrk="0" hangingPunct="0">
              <a:spcBef>
                <a:spcPts val="200"/>
              </a:spcBef>
              <a:tabLst>
                <a:tab pos="355600" algn="l"/>
              </a:tabLst>
            </a:pPr>
            <a:r>
              <a:rPr lang="en-US" sz="600" i="1" dirty="0">
                <a:cs typeface="Arial" pitchFamily="34" charset="0"/>
              </a:rPr>
              <a:t>Source: B</a:t>
            </a:r>
            <a:r>
              <a:rPr lang="en-US" sz="600" i="1" dirty="0" smtClean="0">
                <a:cs typeface="Arial" pitchFamily="34" charset="0"/>
              </a:rPr>
              <a:t> 6.3 Employee retention agreements</a:t>
            </a:r>
            <a:endParaRPr lang="en-US" sz="600" dirty="0">
              <a:latin typeface="Arial"/>
              <a:cs typeface="Arial" pitchFamily="34" charset="0"/>
            </a:endParaRPr>
          </a:p>
        </p:txBody>
      </p:sp>
      <p:pic>
        <p:nvPicPr>
          <p:cNvPr id="2" name="Picture 1"/>
          <p:cNvPicPr>
            <a:picLocks noChangeAspect="1"/>
          </p:cNvPicPr>
          <p:nvPr/>
        </p:nvPicPr>
        <p:blipFill>
          <a:blip r:embed="rId4"/>
          <a:stretch>
            <a:fillRect/>
          </a:stretch>
        </p:blipFill>
        <p:spPr>
          <a:xfrm>
            <a:off x="252984" y="1204528"/>
            <a:ext cx="5998178" cy="535686"/>
          </a:xfrm>
          <a:prstGeom prst="rect">
            <a:avLst/>
          </a:prstGeom>
        </p:spPr>
      </p:pic>
    </p:spTree>
    <p:extLst>
      <p:ext uri="{BB962C8B-B14F-4D97-AF65-F5344CB8AC3E}">
        <p14:creationId xmlns:p14="http://schemas.microsoft.com/office/powerpoint/2010/main" val="390919113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3"/>
          <p:cNvSpPr>
            <a:spLocks noGrp="1"/>
          </p:cNvSpPr>
          <p:nvPr>
            <p:ph type="title"/>
          </p:nvPr>
        </p:nvSpPr>
        <p:spPr>
          <a:xfrm>
            <a:off x="2123728" y="116632"/>
            <a:ext cx="6768752" cy="576064"/>
          </a:xfrm>
        </p:spPr>
        <p:txBody>
          <a:bodyPr/>
          <a:lstStyle/>
          <a:p>
            <a:r>
              <a:rPr lang="en-US" sz="1400" b="0" dirty="0" smtClean="0">
                <a:solidFill>
                  <a:srgbClr val="747678"/>
                </a:solidFill>
              </a:rPr>
              <a:t>Appendix 5</a:t>
            </a:r>
            <a:r>
              <a:rPr lang="en-US" dirty="0" smtClean="0"/>
              <a:t/>
            </a:r>
            <a:br>
              <a:rPr lang="en-US" dirty="0" smtClean="0"/>
            </a:br>
            <a:r>
              <a:rPr lang="en-US" dirty="0" smtClean="0"/>
              <a:t>SG&amp;A costs and carve-out / shared services</a:t>
            </a:r>
            <a:endParaRPr lang="en-US" dirty="0"/>
          </a:p>
        </p:txBody>
      </p:sp>
      <p:sp>
        <p:nvSpPr>
          <p:cNvPr id="12" name="Text Box 8"/>
          <p:cNvSpPr txBox="1">
            <a:spLocks noChangeArrowheads="1"/>
          </p:cNvSpPr>
          <p:nvPr>
            <p:custDataLst>
              <p:tags r:id="rId1"/>
            </p:custDataLst>
          </p:nvPr>
        </p:nvSpPr>
        <p:spPr bwMode="gray">
          <a:xfrm>
            <a:off x="4366260" y="2482334"/>
            <a:ext cx="4211303" cy="184666"/>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latin typeface="Arial"/>
                <a:cs typeface="Arial" pitchFamily="34" charset="0"/>
              </a:rPr>
              <a:t>Source:</a:t>
            </a:r>
            <a:r>
              <a:rPr lang="en-US" sz="600" i="1" dirty="0">
                <a:latin typeface="Arial"/>
                <a:cs typeface="Arial" pitchFamily="34" charset="0"/>
              </a:rPr>
              <a:t> </a:t>
            </a:r>
            <a:r>
              <a:rPr lang="en-US" sz="600" i="1" dirty="0" smtClean="0">
                <a:latin typeface="Arial"/>
                <a:cs typeface="Arial" pitchFamily="34" charset="0"/>
              </a:rPr>
              <a:t>Management Presentation (Finance Breakout Session). Note that differences between this table and the management presentation are due to rounding differences.</a:t>
            </a:r>
          </a:p>
        </p:txBody>
      </p:sp>
      <p:pic>
        <p:nvPicPr>
          <p:cNvPr id="2" name="Picture 1"/>
          <p:cNvPicPr>
            <a:picLocks noChangeAspect="1"/>
          </p:cNvPicPr>
          <p:nvPr/>
        </p:nvPicPr>
        <p:blipFill>
          <a:blip r:embed="rId6"/>
          <a:stretch>
            <a:fillRect/>
          </a:stretch>
        </p:blipFill>
        <p:spPr>
          <a:xfrm>
            <a:off x="254905" y="3723894"/>
            <a:ext cx="2308105" cy="1983486"/>
          </a:xfrm>
          <a:prstGeom prst="rect">
            <a:avLst/>
          </a:prstGeom>
        </p:spPr>
      </p:pic>
      <p:sp>
        <p:nvSpPr>
          <p:cNvPr id="6" name="Text Box 8"/>
          <p:cNvSpPr txBox="1">
            <a:spLocks noChangeArrowheads="1"/>
          </p:cNvSpPr>
          <p:nvPr>
            <p:custDataLst>
              <p:tags r:id="rId2"/>
            </p:custDataLst>
          </p:nvPr>
        </p:nvSpPr>
        <p:spPr bwMode="gray">
          <a:xfrm>
            <a:off x="254905" y="5725160"/>
            <a:ext cx="2587984" cy="92333"/>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latin typeface="Arial"/>
                <a:cs typeface="Arial" pitchFamily="34" charset="0"/>
              </a:rPr>
              <a:t> Source: Management presentation</a:t>
            </a:r>
          </a:p>
        </p:txBody>
      </p:sp>
      <p:pic>
        <p:nvPicPr>
          <p:cNvPr id="3" name="Picture 2"/>
          <p:cNvPicPr>
            <a:picLocks noChangeAspect="1"/>
          </p:cNvPicPr>
          <p:nvPr/>
        </p:nvPicPr>
        <p:blipFill>
          <a:blip r:embed="rId7"/>
          <a:stretch>
            <a:fillRect/>
          </a:stretch>
        </p:blipFill>
        <p:spPr>
          <a:xfrm>
            <a:off x="4369308" y="1207715"/>
            <a:ext cx="4458627" cy="1260037"/>
          </a:xfrm>
          <a:prstGeom prst="rect">
            <a:avLst/>
          </a:prstGeom>
        </p:spPr>
      </p:pic>
      <p:pic>
        <p:nvPicPr>
          <p:cNvPr id="4" name="Picture 3"/>
          <p:cNvPicPr>
            <a:picLocks noChangeAspect="1"/>
          </p:cNvPicPr>
          <p:nvPr/>
        </p:nvPicPr>
        <p:blipFill>
          <a:blip r:embed="rId8"/>
          <a:stretch>
            <a:fillRect/>
          </a:stretch>
        </p:blipFill>
        <p:spPr>
          <a:xfrm>
            <a:off x="224425" y="1207715"/>
            <a:ext cx="3798605" cy="1693926"/>
          </a:xfrm>
          <a:prstGeom prst="rect">
            <a:avLst/>
          </a:prstGeom>
        </p:spPr>
      </p:pic>
      <p:sp>
        <p:nvSpPr>
          <p:cNvPr id="10" name="Text Box 8"/>
          <p:cNvSpPr txBox="1">
            <a:spLocks noChangeArrowheads="1"/>
          </p:cNvSpPr>
          <p:nvPr>
            <p:custDataLst>
              <p:tags r:id="rId3"/>
            </p:custDataLst>
          </p:nvPr>
        </p:nvSpPr>
        <p:spPr bwMode="gray">
          <a:xfrm>
            <a:off x="224425" y="2901641"/>
            <a:ext cx="2587984" cy="92333"/>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latin typeface="Arial"/>
                <a:cs typeface="Arial" pitchFamily="34" charset="0"/>
              </a:rPr>
              <a:t> Source: C.2.3 Atlas Finance Breakout Session_05 12 2015.pdf</a:t>
            </a:r>
          </a:p>
        </p:txBody>
      </p:sp>
    </p:spTree>
    <p:extLst>
      <p:ext uri="{BB962C8B-B14F-4D97-AF65-F5344CB8AC3E}">
        <p14:creationId xmlns:p14="http://schemas.microsoft.com/office/powerpoint/2010/main" val="66524645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32460" y="3671067"/>
            <a:ext cx="7520940" cy="519934"/>
          </a:xfrm>
          <a:prstGeom prst="rect">
            <a:avLst/>
          </a:prstGeom>
          <a:noFill/>
        </p:spPr>
        <p:txBody>
          <a:bodyPr wrap="square" lIns="54000" tIns="54000" rIns="54000" bIns="54000" rtlCol="0">
            <a:noAutofit/>
          </a:bodyPr>
          <a:lstStyle/>
          <a:p>
            <a:r>
              <a:rPr lang="en-US" sz="600" i="1" dirty="0" smtClean="0">
                <a:latin typeface="Arial" pitchFamily="34" charset="0"/>
                <a:cs typeface="Arial" pitchFamily="34" charset="0"/>
              </a:rPr>
              <a:t>Source: 6.6.1-6.6.6 Quarterly Close Packages. Syndication volume for Q4-14 was not provided in the Quarterly Close Packages. We have calculated the volume as total syndication volume for 2014 (per May 12, 2015 management presentation) less syndication volume for Q1-Q3 2014 as per the Quarterly Close Packages.</a:t>
            </a:r>
          </a:p>
          <a:p>
            <a:endParaRPr lang="en-US" sz="600" i="1" dirty="0" smtClean="0">
              <a:latin typeface="Arial" pitchFamily="34" charset="0"/>
              <a:cs typeface="Arial" pitchFamily="34" charset="0"/>
            </a:endParaRPr>
          </a:p>
          <a:p>
            <a:r>
              <a:rPr lang="en-US" sz="600" i="1" dirty="0" smtClean="0">
                <a:latin typeface="Arial" pitchFamily="34" charset="0"/>
                <a:cs typeface="Arial" pitchFamily="34" charset="0"/>
              </a:rPr>
              <a:t>Note: The 2013 numbers in the origination volume chart above do not reconcile with the corresponding numbers in the Management Presentation presented on May 12, 2015 because the numbers in the chart above exclude Franchise Finance. For the purposes of our 2013 analysis, we have relied on the Management Presentation and, to the extent that the above numbers are directionally consistent, we have only used them for directional analysis.</a:t>
            </a:r>
          </a:p>
        </p:txBody>
      </p:sp>
      <p:sp>
        <p:nvSpPr>
          <p:cNvPr id="9" name="Title 3"/>
          <p:cNvSpPr>
            <a:spLocks noGrp="1"/>
          </p:cNvSpPr>
          <p:nvPr>
            <p:ph type="title"/>
          </p:nvPr>
        </p:nvSpPr>
        <p:spPr>
          <a:xfrm>
            <a:off x="2123728" y="116632"/>
            <a:ext cx="6768752" cy="576064"/>
          </a:xfrm>
        </p:spPr>
        <p:txBody>
          <a:bodyPr/>
          <a:lstStyle/>
          <a:p>
            <a:r>
              <a:rPr lang="en-US" sz="1400" b="0" dirty="0" smtClean="0">
                <a:solidFill>
                  <a:srgbClr val="747678"/>
                </a:solidFill>
              </a:rPr>
              <a:t>Appendix 6</a:t>
            </a:r>
            <a:r>
              <a:rPr lang="en-US" dirty="0" smtClean="0"/>
              <a:t/>
            </a:r>
            <a:br>
              <a:rPr lang="en-US" dirty="0" smtClean="0"/>
            </a:br>
            <a:r>
              <a:rPr lang="en-US" dirty="0" smtClean="0"/>
              <a:t>Originations</a:t>
            </a:r>
            <a:endParaRPr lang="en-US" dirty="0"/>
          </a:p>
        </p:txBody>
      </p:sp>
      <p:sp>
        <p:nvSpPr>
          <p:cNvPr id="6" name="Rectangle 4"/>
          <p:cNvSpPr txBox="1">
            <a:spLocks noChangeArrowheads="1"/>
          </p:cNvSpPr>
          <p:nvPr>
            <p:custDataLst>
              <p:tags r:id="rId1"/>
            </p:custDataLst>
          </p:nvPr>
        </p:nvSpPr>
        <p:spPr bwMode="gray">
          <a:xfrm>
            <a:off x="681228" y="4495800"/>
            <a:ext cx="2442972" cy="685800"/>
          </a:xfrm>
          <a:prstGeom prst="rect">
            <a:avLst/>
          </a:prstGeom>
          <a:solidFill>
            <a:srgbClr val="F5DB7E"/>
          </a:solidFill>
          <a:ln w="6350">
            <a:solidFill>
              <a:schemeClr val="accent6"/>
            </a:solidFill>
            <a:miter lim="800000"/>
            <a:headEnd/>
            <a:tailEnd/>
          </a:ln>
          <a:effectLst/>
        </p:spPr>
        <p:txBody>
          <a:bodyPr vert="horz" lIns="54000" tIns="54000" rIns="54000" bIns="54000" rtlCol="0" anchor="ctr" anchorCtr="1">
            <a:noAutofit/>
          </a:bodyPr>
          <a:lstStyle/>
          <a:p>
            <a:pPr indent="-114300" algn="ctr" defTabSz="762000" eaLnBrk="0" hangingPunct="0">
              <a:lnSpc>
                <a:spcPct val="90000"/>
              </a:lnSpc>
              <a:spcBef>
                <a:spcPts val="600"/>
              </a:spcBef>
            </a:pPr>
            <a:r>
              <a:rPr lang="en-GB" sz="800" dirty="0" smtClean="0">
                <a:solidFill>
                  <a:schemeClr val="accent4"/>
                </a:solidFill>
              </a:rPr>
              <a:t>Management attributes lower originations to slower markets and the adoption of the leveraged lending guidelines. The lower volume resulted in skewing of new business returns with higher yield loans possibly being weighted higher than the case would be in normal-volume quarters.</a:t>
            </a:r>
            <a:endParaRPr lang="en-GB" sz="800" b="1" dirty="0">
              <a:solidFill>
                <a:srgbClr val="FF0000"/>
              </a:solidFill>
            </a:endParaRPr>
          </a:p>
        </p:txBody>
      </p:sp>
      <p:cxnSp>
        <p:nvCxnSpPr>
          <p:cNvPr id="8" name="Elbow Connector 7"/>
          <p:cNvCxnSpPr/>
          <p:nvPr/>
        </p:nvCxnSpPr>
        <p:spPr>
          <a:xfrm rot="5400000" flipH="1" flipV="1">
            <a:off x="2002168" y="3362847"/>
            <a:ext cx="1322580" cy="997686"/>
          </a:xfrm>
          <a:prstGeom prst="bentConnector3">
            <a:avLst>
              <a:gd name="adj1" fmla="val 11974"/>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Elbow Connector 15"/>
          <p:cNvCxnSpPr>
            <a:stCxn id="6" idx="3"/>
          </p:cNvCxnSpPr>
          <p:nvPr/>
        </p:nvCxnSpPr>
        <p:spPr>
          <a:xfrm flipV="1">
            <a:off x="3124200" y="1676400"/>
            <a:ext cx="4428871" cy="3162300"/>
          </a:xfrm>
          <a:prstGeom prst="bentConnector3">
            <a:avLst>
              <a:gd name="adj1" fmla="val 42086"/>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7" name="Rounded Rectangle 26"/>
          <p:cNvSpPr/>
          <p:nvPr>
            <p:custDataLst>
              <p:tags r:id="rId2"/>
            </p:custDataLst>
          </p:nvPr>
        </p:nvSpPr>
        <p:spPr bwMode="gray">
          <a:xfrm rot="5400000">
            <a:off x="7658100" y="1554480"/>
            <a:ext cx="228599" cy="304800"/>
          </a:xfrm>
          <a:prstGeom prst="roundRect">
            <a:avLst>
              <a:gd name="adj" fmla="val 26588"/>
            </a:avLst>
          </a:prstGeom>
          <a:noFill/>
          <a:ln w="12700">
            <a:solidFill>
              <a:srgbClr val="9E303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dirty="0"/>
          </a:p>
        </p:txBody>
      </p:sp>
      <p:pic>
        <p:nvPicPr>
          <p:cNvPr id="33" name="Picture 32"/>
          <p:cNvPicPr>
            <a:picLocks noChangeAspect="1"/>
          </p:cNvPicPr>
          <p:nvPr/>
        </p:nvPicPr>
        <p:blipFill>
          <a:blip r:embed="rId7"/>
          <a:stretch>
            <a:fillRect/>
          </a:stretch>
        </p:blipFill>
        <p:spPr>
          <a:xfrm>
            <a:off x="5441846" y="4331961"/>
            <a:ext cx="2111225" cy="1408176"/>
          </a:xfrm>
          <a:prstGeom prst="rect">
            <a:avLst/>
          </a:prstGeom>
        </p:spPr>
      </p:pic>
      <p:sp>
        <p:nvSpPr>
          <p:cNvPr id="34" name="Text Box 8"/>
          <p:cNvSpPr txBox="1">
            <a:spLocks noChangeArrowheads="1"/>
          </p:cNvSpPr>
          <p:nvPr>
            <p:custDataLst>
              <p:tags r:id="rId3"/>
            </p:custDataLst>
          </p:nvPr>
        </p:nvSpPr>
        <p:spPr bwMode="gray">
          <a:xfrm>
            <a:off x="5434226" y="5793477"/>
            <a:ext cx="2587984" cy="92333"/>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latin typeface="Arial"/>
                <a:cs typeface="Arial" pitchFamily="34" charset="0"/>
              </a:rPr>
              <a:t> Source: 6.3 Atlas Preliminary Financial Information (05 11 2015)</a:t>
            </a:r>
          </a:p>
        </p:txBody>
      </p:sp>
      <p:pic>
        <p:nvPicPr>
          <p:cNvPr id="2" name="Picture 1"/>
          <p:cNvPicPr>
            <a:picLocks noChangeAspect="1"/>
          </p:cNvPicPr>
          <p:nvPr/>
        </p:nvPicPr>
        <p:blipFill>
          <a:blip r:embed="rId8"/>
          <a:stretch>
            <a:fillRect/>
          </a:stretch>
        </p:blipFill>
        <p:spPr>
          <a:xfrm>
            <a:off x="4894992" y="1025980"/>
            <a:ext cx="4539050" cy="3650842"/>
          </a:xfrm>
          <a:prstGeom prst="rect">
            <a:avLst/>
          </a:prstGeom>
        </p:spPr>
      </p:pic>
      <p:pic>
        <p:nvPicPr>
          <p:cNvPr id="5" name="Picture 4"/>
          <p:cNvPicPr>
            <a:picLocks noChangeAspect="1"/>
          </p:cNvPicPr>
          <p:nvPr/>
        </p:nvPicPr>
        <p:blipFill>
          <a:blip r:embed="rId9"/>
          <a:stretch>
            <a:fillRect/>
          </a:stretch>
        </p:blipFill>
        <p:spPr>
          <a:xfrm>
            <a:off x="97425" y="1041220"/>
            <a:ext cx="4926325" cy="3381481"/>
          </a:xfrm>
          <a:prstGeom prst="rect">
            <a:avLst/>
          </a:prstGeom>
        </p:spPr>
      </p:pic>
      <p:sp>
        <p:nvSpPr>
          <p:cNvPr id="26" name="Rounded Rectangle 25"/>
          <p:cNvSpPr/>
          <p:nvPr>
            <p:custDataLst>
              <p:tags r:id="rId4"/>
            </p:custDataLst>
          </p:nvPr>
        </p:nvSpPr>
        <p:spPr bwMode="gray">
          <a:xfrm rot="5400000">
            <a:off x="2876548" y="2640332"/>
            <a:ext cx="716283" cy="297180"/>
          </a:xfrm>
          <a:prstGeom prst="roundRect">
            <a:avLst>
              <a:gd name="adj" fmla="val 26588"/>
            </a:avLst>
          </a:prstGeom>
          <a:noFill/>
          <a:ln w="12700">
            <a:solidFill>
              <a:srgbClr val="9E303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dirty="0"/>
          </a:p>
        </p:txBody>
      </p:sp>
    </p:spTree>
    <p:extLst>
      <p:ext uri="{BB962C8B-B14F-4D97-AF65-F5344CB8AC3E}">
        <p14:creationId xmlns:p14="http://schemas.microsoft.com/office/powerpoint/2010/main" val="207807343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3"/>
          <p:cNvSpPr>
            <a:spLocks noGrp="1"/>
          </p:cNvSpPr>
          <p:nvPr>
            <p:ph type="title"/>
          </p:nvPr>
        </p:nvSpPr>
        <p:spPr>
          <a:xfrm>
            <a:off x="2123728" y="116632"/>
            <a:ext cx="6768752" cy="576064"/>
          </a:xfrm>
        </p:spPr>
        <p:txBody>
          <a:bodyPr/>
          <a:lstStyle/>
          <a:p>
            <a:r>
              <a:rPr lang="en-US" sz="1400" b="0" dirty="0" smtClean="0">
                <a:solidFill>
                  <a:srgbClr val="747678"/>
                </a:solidFill>
              </a:rPr>
              <a:t>Appendix 6</a:t>
            </a:r>
            <a:r>
              <a:rPr lang="en-US" dirty="0" smtClean="0"/>
              <a:t/>
            </a:r>
            <a:br>
              <a:rPr lang="en-US" dirty="0" smtClean="0"/>
            </a:br>
            <a:r>
              <a:rPr lang="en-US" dirty="0" smtClean="0"/>
              <a:t>Originations (2)</a:t>
            </a:r>
            <a:endParaRPr lang="en-US" dirty="0"/>
          </a:p>
        </p:txBody>
      </p:sp>
      <p:sp>
        <p:nvSpPr>
          <p:cNvPr id="34" name="Text Box 8"/>
          <p:cNvSpPr txBox="1">
            <a:spLocks noChangeArrowheads="1"/>
          </p:cNvSpPr>
          <p:nvPr>
            <p:custDataLst>
              <p:tags r:id="rId1"/>
            </p:custDataLst>
          </p:nvPr>
        </p:nvSpPr>
        <p:spPr bwMode="gray">
          <a:xfrm>
            <a:off x="224904" y="2418808"/>
            <a:ext cx="3200400" cy="92333"/>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latin typeface="Arial"/>
                <a:cs typeface="Arial" pitchFamily="34" charset="0"/>
              </a:rPr>
              <a:t> Source: 6.5.8 Volume Breakdown </a:t>
            </a:r>
            <a:r>
              <a:rPr lang="en-US" sz="600" i="1" dirty="0" err="1" smtClean="0">
                <a:latin typeface="Arial"/>
                <a:cs typeface="Arial" pitchFamily="34" charset="0"/>
              </a:rPr>
              <a:t>excl</a:t>
            </a:r>
            <a:r>
              <a:rPr lang="en-US" sz="600" i="1" dirty="0" smtClean="0">
                <a:latin typeface="Arial"/>
                <a:cs typeface="Arial" pitchFamily="34" charset="0"/>
              </a:rPr>
              <a:t> </a:t>
            </a:r>
            <a:r>
              <a:rPr lang="en-US" sz="600" i="1" dirty="0" err="1" smtClean="0">
                <a:latin typeface="Arial"/>
                <a:cs typeface="Arial" pitchFamily="34" charset="0"/>
              </a:rPr>
              <a:t>Mubadala</a:t>
            </a:r>
            <a:r>
              <a:rPr lang="en-US" sz="600" i="1" dirty="0" smtClean="0">
                <a:latin typeface="Arial"/>
                <a:cs typeface="Arial" pitchFamily="34" charset="0"/>
              </a:rPr>
              <a:t>, 6.5.12 Quarterly Fee and Volume Breakout</a:t>
            </a:r>
          </a:p>
        </p:txBody>
      </p:sp>
      <p:pic>
        <p:nvPicPr>
          <p:cNvPr id="3" name="Picture 2"/>
          <p:cNvPicPr>
            <a:picLocks noChangeAspect="1"/>
          </p:cNvPicPr>
          <p:nvPr/>
        </p:nvPicPr>
        <p:blipFill>
          <a:blip r:embed="rId4"/>
          <a:stretch>
            <a:fillRect/>
          </a:stretch>
        </p:blipFill>
        <p:spPr>
          <a:xfrm>
            <a:off x="255384" y="1201611"/>
            <a:ext cx="8549497" cy="1209053"/>
          </a:xfrm>
          <a:prstGeom prst="rect">
            <a:avLst/>
          </a:prstGeom>
        </p:spPr>
      </p:pic>
    </p:spTree>
    <p:extLst>
      <p:ext uri="{BB962C8B-B14F-4D97-AF65-F5344CB8AC3E}">
        <p14:creationId xmlns:p14="http://schemas.microsoft.com/office/powerpoint/2010/main" val="374698306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203217" y="3633671"/>
            <a:ext cx="5753100" cy="152399"/>
          </a:xfrm>
          <a:prstGeom prst="rect">
            <a:avLst/>
          </a:prstGeom>
          <a:noFill/>
        </p:spPr>
        <p:txBody>
          <a:bodyPr wrap="square" lIns="54000" tIns="54000" rIns="54000" bIns="54000" rtlCol="0">
            <a:noAutofit/>
          </a:bodyPr>
          <a:lstStyle/>
          <a:p>
            <a:r>
              <a:rPr lang="en-US" sz="600" i="1" dirty="0" smtClean="0">
                <a:latin typeface="Arial" pitchFamily="34" charset="0"/>
                <a:cs typeface="Arial" pitchFamily="34" charset="0"/>
              </a:rPr>
              <a:t>Source: 6.6.1-6.6.6 Quarterly Close Packages. </a:t>
            </a:r>
          </a:p>
        </p:txBody>
      </p:sp>
      <p:sp>
        <p:nvSpPr>
          <p:cNvPr id="8" name="Title 3"/>
          <p:cNvSpPr>
            <a:spLocks noGrp="1"/>
          </p:cNvSpPr>
          <p:nvPr>
            <p:ph type="title"/>
          </p:nvPr>
        </p:nvSpPr>
        <p:spPr>
          <a:xfrm>
            <a:off x="2123728" y="116632"/>
            <a:ext cx="6768752" cy="576064"/>
          </a:xfrm>
        </p:spPr>
        <p:txBody>
          <a:bodyPr/>
          <a:lstStyle/>
          <a:p>
            <a:r>
              <a:rPr lang="en-US" sz="1400" b="0" dirty="0" smtClean="0">
                <a:solidFill>
                  <a:srgbClr val="747678"/>
                </a:solidFill>
              </a:rPr>
              <a:t>Appendix 6</a:t>
            </a:r>
            <a:r>
              <a:rPr lang="en-US" dirty="0" smtClean="0"/>
              <a:t/>
            </a:r>
            <a:br>
              <a:rPr lang="en-US" dirty="0" smtClean="0"/>
            </a:br>
            <a:r>
              <a:rPr lang="en-US" dirty="0" smtClean="0"/>
              <a:t>Originations (3)</a:t>
            </a:r>
            <a:endParaRPr lang="en-US" dirty="0"/>
          </a:p>
        </p:txBody>
      </p:sp>
      <p:sp>
        <p:nvSpPr>
          <p:cNvPr id="7" name="TextBox 6"/>
          <p:cNvSpPr txBox="1"/>
          <p:nvPr/>
        </p:nvSpPr>
        <p:spPr>
          <a:xfrm>
            <a:off x="220148" y="6167094"/>
            <a:ext cx="1734312" cy="157577"/>
          </a:xfrm>
          <a:prstGeom prst="rect">
            <a:avLst/>
          </a:prstGeom>
          <a:noFill/>
        </p:spPr>
        <p:txBody>
          <a:bodyPr wrap="square" lIns="54000" tIns="54000" rIns="54000" bIns="54000" rtlCol="0">
            <a:noAutofit/>
          </a:bodyPr>
          <a:lstStyle/>
          <a:p>
            <a:r>
              <a:rPr lang="en-US" sz="600" i="1" dirty="0" smtClean="0">
                <a:latin typeface="Arial" pitchFamily="34" charset="0"/>
                <a:cs typeface="Arial" pitchFamily="34" charset="0"/>
              </a:rPr>
              <a:t>Source: 6.6.1-6.6.6 Quarterly Close Packages. </a:t>
            </a:r>
          </a:p>
        </p:txBody>
      </p:sp>
      <p:pic>
        <p:nvPicPr>
          <p:cNvPr id="2" name="Picture 1"/>
          <p:cNvPicPr>
            <a:picLocks noChangeAspect="1"/>
          </p:cNvPicPr>
          <p:nvPr/>
        </p:nvPicPr>
        <p:blipFill>
          <a:blip r:embed="rId4"/>
          <a:stretch>
            <a:fillRect/>
          </a:stretch>
        </p:blipFill>
        <p:spPr>
          <a:xfrm>
            <a:off x="73913" y="1042271"/>
            <a:ext cx="5564887" cy="3570129"/>
          </a:xfrm>
          <a:prstGeom prst="rect">
            <a:avLst/>
          </a:prstGeom>
        </p:spPr>
      </p:pic>
      <p:pic>
        <p:nvPicPr>
          <p:cNvPr id="4" name="Picture 3"/>
          <p:cNvPicPr>
            <a:picLocks noChangeAspect="1"/>
          </p:cNvPicPr>
          <p:nvPr/>
        </p:nvPicPr>
        <p:blipFill>
          <a:blip r:embed="rId5"/>
          <a:stretch>
            <a:fillRect/>
          </a:stretch>
        </p:blipFill>
        <p:spPr>
          <a:xfrm>
            <a:off x="113042" y="3714518"/>
            <a:ext cx="4205902" cy="3354240"/>
          </a:xfrm>
          <a:prstGeom prst="rect">
            <a:avLst/>
          </a:prstGeom>
        </p:spPr>
      </p:pic>
      <p:pic>
        <p:nvPicPr>
          <p:cNvPr id="5" name="Picture 4"/>
          <p:cNvPicPr>
            <a:picLocks noChangeAspect="1"/>
          </p:cNvPicPr>
          <p:nvPr/>
        </p:nvPicPr>
        <p:blipFill>
          <a:blip r:embed="rId6"/>
          <a:stretch>
            <a:fillRect/>
          </a:stretch>
        </p:blipFill>
        <p:spPr>
          <a:xfrm>
            <a:off x="3086831" y="3709339"/>
            <a:ext cx="4207274" cy="3354240"/>
          </a:xfrm>
          <a:prstGeom prst="rect">
            <a:avLst/>
          </a:prstGeom>
        </p:spPr>
      </p:pic>
      <p:sp>
        <p:nvSpPr>
          <p:cNvPr id="12" name="TextBox 11"/>
          <p:cNvSpPr txBox="1"/>
          <p:nvPr/>
        </p:nvSpPr>
        <p:spPr>
          <a:xfrm>
            <a:off x="3133920" y="6170184"/>
            <a:ext cx="1734312" cy="157577"/>
          </a:xfrm>
          <a:prstGeom prst="rect">
            <a:avLst/>
          </a:prstGeom>
          <a:noFill/>
        </p:spPr>
        <p:txBody>
          <a:bodyPr wrap="square" lIns="54000" tIns="54000" rIns="54000" bIns="54000" rtlCol="0">
            <a:noAutofit/>
          </a:bodyPr>
          <a:lstStyle/>
          <a:p>
            <a:r>
              <a:rPr lang="en-US" sz="600" i="1" dirty="0" smtClean="0">
                <a:latin typeface="Arial" pitchFamily="34" charset="0"/>
                <a:cs typeface="Arial" pitchFamily="34" charset="0"/>
              </a:rPr>
              <a:t>Source: 6.6.1-6.6.6 Quarterly Close Packages. </a:t>
            </a:r>
          </a:p>
        </p:txBody>
      </p:sp>
      <p:sp>
        <p:nvSpPr>
          <p:cNvPr id="9" name="Rectangle 4"/>
          <p:cNvSpPr txBox="1">
            <a:spLocks noChangeArrowheads="1"/>
          </p:cNvSpPr>
          <p:nvPr>
            <p:custDataLst>
              <p:tags r:id="rId1"/>
            </p:custDataLst>
          </p:nvPr>
        </p:nvSpPr>
        <p:spPr bwMode="gray">
          <a:xfrm>
            <a:off x="5956317" y="4419600"/>
            <a:ext cx="1900469" cy="700424"/>
          </a:xfrm>
          <a:prstGeom prst="rect">
            <a:avLst/>
          </a:prstGeom>
          <a:solidFill>
            <a:srgbClr val="F5DB7E"/>
          </a:solidFill>
          <a:ln w="6350">
            <a:solidFill>
              <a:schemeClr val="accent6"/>
            </a:solidFill>
            <a:miter lim="800000"/>
            <a:headEnd/>
            <a:tailEnd/>
          </a:ln>
          <a:effectLst/>
        </p:spPr>
        <p:txBody>
          <a:bodyPr vert="horz" lIns="54000" tIns="54000" rIns="54000" bIns="54000" rtlCol="0" anchor="ctr" anchorCtr="1">
            <a:noAutofit/>
          </a:bodyPr>
          <a:lstStyle/>
          <a:p>
            <a:pPr indent="-114300" algn="ctr" defTabSz="762000" eaLnBrk="0" hangingPunct="0">
              <a:lnSpc>
                <a:spcPct val="90000"/>
              </a:lnSpc>
              <a:spcBef>
                <a:spcPts val="600"/>
              </a:spcBef>
            </a:pPr>
            <a:r>
              <a:rPr lang="en-GB" sz="800" dirty="0" smtClean="0">
                <a:solidFill>
                  <a:schemeClr val="accent4"/>
                </a:solidFill>
              </a:rPr>
              <a:t>ABL NBMs for 2014 have not been shown as ABL on- book originations were insignificant at $70 million in Q2 (NBM 1.96%), $1 million in Q3 (NBM 3.57%) and $7 million in Q4 (NBM 13.3%). </a:t>
            </a:r>
            <a:endParaRPr lang="en-GB" sz="800" b="1" dirty="0">
              <a:solidFill>
                <a:srgbClr val="FF0000"/>
              </a:solidFill>
            </a:endParaRPr>
          </a:p>
        </p:txBody>
      </p:sp>
    </p:spTree>
    <p:extLst>
      <p:ext uri="{BB962C8B-B14F-4D97-AF65-F5344CB8AC3E}">
        <p14:creationId xmlns:p14="http://schemas.microsoft.com/office/powerpoint/2010/main" val="113086391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609600" y="3672840"/>
            <a:ext cx="6248400" cy="518160"/>
          </a:xfrm>
          <a:prstGeom prst="rect">
            <a:avLst/>
          </a:prstGeom>
          <a:noFill/>
        </p:spPr>
        <p:txBody>
          <a:bodyPr wrap="square" lIns="54000" tIns="54000" rIns="54000" bIns="54000" rtlCol="0">
            <a:noAutofit/>
          </a:bodyPr>
          <a:lstStyle/>
          <a:p>
            <a:r>
              <a:rPr lang="en-US" sz="600" i="1" dirty="0" smtClean="0">
                <a:latin typeface="Arial" pitchFamily="34" charset="0"/>
                <a:cs typeface="Arial" pitchFamily="34" charset="0"/>
              </a:rPr>
              <a:t>Source: 6.6.1-6.6.6 Quarterly Close Packages. </a:t>
            </a:r>
          </a:p>
          <a:p>
            <a:endParaRPr lang="en-US" sz="600" i="1" dirty="0" smtClean="0">
              <a:latin typeface="Arial" pitchFamily="34" charset="0"/>
              <a:cs typeface="Arial" pitchFamily="34" charset="0"/>
            </a:endParaRPr>
          </a:p>
          <a:p>
            <a:r>
              <a:rPr lang="en-US" sz="600" i="1" dirty="0" smtClean="0">
                <a:latin typeface="Arial" pitchFamily="34" charset="0"/>
                <a:cs typeface="Arial" pitchFamily="34" charset="0"/>
              </a:rPr>
              <a:t>Note: The figures in the “On-book volume by deal type” chart above do not reconcile with dataroom document 6.5.3 Volume Breakdown because the former exclude Franchise Finance. The ratios of each type of deal to total on-book volume, although close to the ratios in 6.5.3, do not match. For the purposes of our analysis, we have utilized the above data (which is directionally consistent with 6.5.3).</a:t>
            </a:r>
          </a:p>
        </p:txBody>
      </p:sp>
      <p:sp>
        <p:nvSpPr>
          <p:cNvPr id="7" name="Title 3"/>
          <p:cNvSpPr>
            <a:spLocks noGrp="1"/>
          </p:cNvSpPr>
          <p:nvPr>
            <p:ph type="title"/>
          </p:nvPr>
        </p:nvSpPr>
        <p:spPr>
          <a:xfrm>
            <a:off x="2123728" y="116632"/>
            <a:ext cx="6768752" cy="576064"/>
          </a:xfrm>
        </p:spPr>
        <p:txBody>
          <a:bodyPr/>
          <a:lstStyle/>
          <a:p>
            <a:r>
              <a:rPr lang="en-US" sz="1400" b="0" dirty="0" smtClean="0">
                <a:solidFill>
                  <a:srgbClr val="747678"/>
                </a:solidFill>
              </a:rPr>
              <a:t>Appendix 6</a:t>
            </a:r>
            <a:r>
              <a:rPr lang="en-US" dirty="0" smtClean="0"/>
              <a:t/>
            </a:r>
            <a:br>
              <a:rPr lang="en-US" dirty="0" smtClean="0"/>
            </a:br>
            <a:r>
              <a:rPr lang="en-US" dirty="0" smtClean="0"/>
              <a:t>Originations (4)</a:t>
            </a:r>
            <a:endParaRPr lang="en-US" dirty="0"/>
          </a:p>
        </p:txBody>
      </p:sp>
      <p:pic>
        <p:nvPicPr>
          <p:cNvPr id="2" name="Picture 1"/>
          <p:cNvPicPr>
            <a:picLocks noChangeAspect="1"/>
          </p:cNvPicPr>
          <p:nvPr/>
        </p:nvPicPr>
        <p:blipFill>
          <a:blip r:embed="rId3"/>
          <a:stretch>
            <a:fillRect/>
          </a:stretch>
        </p:blipFill>
        <p:spPr>
          <a:xfrm>
            <a:off x="97535" y="1031335"/>
            <a:ext cx="4545149" cy="3582361"/>
          </a:xfrm>
          <a:prstGeom prst="rect">
            <a:avLst/>
          </a:prstGeom>
        </p:spPr>
      </p:pic>
      <p:pic>
        <p:nvPicPr>
          <p:cNvPr id="3" name="Picture 2"/>
          <p:cNvPicPr>
            <a:picLocks noChangeAspect="1"/>
          </p:cNvPicPr>
          <p:nvPr/>
        </p:nvPicPr>
        <p:blipFill>
          <a:blip r:embed="rId4"/>
          <a:stretch>
            <a:fillRect/>
          </a:stretch>
        </p:blipFill>
        <p:spPr>
          <a:xfrm>
            <a:off x="4585059" y="1031335"/>
            <a:ext cx="4673224" cy="3637146"/>
          </a:xfrm>
          <a:prstGeom prst="rect">
            <a:avLst/>
          </a:prstGeom>
        </p:spPr>
      </p:pic>
    </p:spTree>
    <p:extLst>
      <p:ext uri="{BB962C8B-B14F-4D97-AF65-F5344CB8AC3E}">
        <p14:creationId xmlns:p14="http://schemas.microsoft.com/office/powerpoint/2010/main" val="120982201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203488" y="3505200"/>
            <a:ext cx="1905000" cy="154230"/>
          </a:xfrm>
          <a:prstGeom prst="rect">
            <a:avLst/>
          </a:prstGeom>
          <a:noFill/>
        </p:spPr>
        <p:txBody>
          <a:bodyPr wrap="square" lIns="54000" tIns="54000" rIns="54000" bIns="54000" rtlCol="0">
            <a:noAutofit/>
          </a:bodyPr>
          <a:lstStyle/>
          <a:p>
            <a:r>
              <a:rPr lang="en-US" sz="600" i="1" dirty="0" smtClean="0">
                <a:latin typeface="Arial" pitchFamily="34" charset="0"/>
                <a:cs typeface="Arial" pitchFamily="34" charset="0"/>
              </a:rPr>
              <a:t>Source: 6.6.15 SSLP vs. Traditional – New vs. </a:t>
            </a:r>
            <a:r>
              <a:rPr lang="en-US" sz="600" i="1" dirty="0" err="1" smtClean="0">
                <a:latin typeface="Arial" pitchFamily="34" charset="0"/>
                <a:cs typeface="Arial" pitchFamily="34" charset="0"/>
              </a:rPr>
              <a:t>Refi</a:t>
            </a:r>
            <a:endParaRPr lang="en-US" sz="600" i="1" dirty="0" smtClean="0">
              <a:latin typeface="Arial" pitchFamily="34" charset="0"/>
              <a:cs typeface="Arial" pitchFamily="34" charset="0"/>
            </a:endParaRPr>
          </a:p>
        </p:txBody>
      </p:sp>
      <p:sp>
        <p:nvSpPr>
          <p:cNvPr id="7" name="Title 3"/>
          <p:cNvSpPr>
            <a:spLocks noGrp="1"/>
          </p:cNvSpPr>
          <p:nvPr>
            <p:ph type="title"/>
          </p:nvPr>
        </p:nvSpPr>
        <p:spPr>
          <a:xfrm>
            <a:off x="2123728" y="116632"/>
            <a:ext cx="6768752" cy="576064"/>
          </a:xfrm>
        </p:spPr>
        <p:txBody>
          <a:bodyPr/>
          <a:lstStyle/>
          <a:p>
            <a:r>
              <a:rPr lang="en-US" sz="1400" b="0" dirty="0" smtClean="0">
                <a:solidFill>
                  <a:srgbClr val="747678"/>
                </a:solidFill>
              </a:rPr>
              <a:t>Appendix 6</a:t>
            </a:r>
            <a:r>
              <a:rPr lang="en-US" dirty="0" smtClean="0"/>
              <a:t/>
            </a:r>
            <a:br>
              <a:rPr lang="en-US" dirty="0" smtClean="0"/>
            </a:br>
            <a:r>
              <a:rPr lang="en-US" dirty="0" smtClean="0"/>
              <a:t>Originations (5)</a:t>
            </a:r>
            <a:endParaRPr lang="en-US" dirty="0"/>
          </a:p>
        </p:txBody>
      </p:sp>
      <p:pic>
        <p:nvPicPr>
          <p:cNvPr id="2" name="Picture 1"/>
          <p:cNvPicPr>
            <a:picLocks noChangeAspect="1"/>
          </p:cNvPicPr>
          <p:nvPr/>
        </p:nvPicPr>
        <p:blipFill>
          <a:blip r:embed="rId3"/>
          <a:stretch>
            <a:fillRect/>
          </a:stretch>
        </p:blipFill>
        <p:spPr>
          <a:xfrm>
            <a:off x="166828" y="1068015"/>
            <a:ext cx="5045252" cy="2762100"/>
          </a:xfrm>
          <a:prstGeom prst="rect">
            <a:avLst/>
          </a:prstGeom>
        </p:spPr>
      </p:pic>
      <p:sp>
        <p:nvSpPr>
          <p:cNvPr id="8" name="TextBox 7"/>
          <p:cNvSpPr txBox="1"/>
          <p:nvPr/>
        </p:nvSpPr>
        <p:spPr>
          <a:xfrm>
            <a:off x="195868" y="5499421"/>
            <a:ext cx="1905000" cy="154230"/>
          </a:xfrm>
          <a:prstGeom prst="rect">
            <a:avLst/>
          </a:prstGeom>
          <a:noFill/>
        </p:spPr>
        <p:txBody>
          <a:bodyPr wrap="square" lIns="54000" tIns="54000" rIns="54000" bIns="54000" rtlCol="0">
            <a:noAutofit/>
          </a:bodyPr>
          <a:lstStyle/>
          <a:p>
            <a:r>
              <a:rPr lang="en-US" sz="600" i="1" dirty="0" smtClean="0">
                <a:latin typeface="Arial" pitchFamily="34" charset="0"/>
                <a:cs typeface="Arial" pitchFamily="34" charset="0"/>
              </a:rPr>
              <a:t>Source: 6.6.15 SSLP vs. Traditional – New vs. </a:t>
            </a:r>
            <a:r>
              <a:rPr lang="en-US" sz="600" i="1" dirty="0" err="1" smtClean="0">
                <a:latin typeface="Arial" pitchFamily="34" charset="0"/>
                <a:cs typeface="Arial" pitchFamily="34" charset="0"/>
              </a:rPr>
              <a:t>Refi</a:t>
            </a:r>
            <a:endParaRPr lang="en-US" sz="600" i="1" dirty="0" smtClean="0">
              <a:latin typeface="Arial" pitchFamily="34" charset="0"/>
              <a:cs typeface="Arial" pitchFamily="34" charset="0"/>
            </a:endParaRPr>
          </a:p>
        </p:txBody>
      </p:sp>
      <p:pic>
        <p:nvPicPr>
          <p:cNvPr id="5" name="Picture 4"/>
          <p:cNvPicPr>
            <a:picLocks noChangeAspect="1"/>
          </p:cNvPicPr>
          <p:nvPr/>
        </p:nvPicPr>
        <p:blipFill>
          <a:blip r:embed="rId4"/>
          <a:stretch>
            <a:fillRect/>
          </a:stretch>
        </p:blipFill>
        <p:spPr>
          <a:xfrm>
            <a:off x="259080" y="4196072"/>
            <a:ext cx="5973484" cy="1333829"/>
          </a:xfrm>
          <a:prstGeom prst="rect">
            <a:avLst/>
          </a:prstGeom>
        </p:spPr>
      </p:pic>
    </p:spTree>
    <p:extLst>
      <p:ext uri="{BB962C8B-B14F-4D97-AF65-F5344CB8AC3E}">
        <p14:creationId xmlns:p14="http://schemas.microsoft.com/office/powerpoint/2010/main" val="3114990638"/>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3"/>
          <p:cNvSpPr>
            <a:spLocks noGrp="1"/>
          </p:cNvSpPr>
          <p:nvPr>
            <p:ph type="title"/>
          </p:nvPr>
        </p:nvSpPr>
        <p:spPr>
          <a:xfrm>
            <a:off x="2123728" y="116632"/>
            <a:ext cx="6768752" cy="576064"/>
          </a:xfrm>
        </p:spPr>
        <p:txBody>
          <a:bodyPr/>
          <a:lstStyle/>
          <a:p>
            <a:r>
              <a:rPr lang="en-US" sz="1400" b="0" dirty="0" smtClean="0">
                <a:solidFill>
                  <a:srgbClr val="747678"/>
                </a:solidFill>
              </a:rPr>
              <a:t>Appendix 6</a:t>
            </a:r>
            <a:r>
              <a:rPr lang="en-US" dirty="0" smtClean="0"/>
              <a:t/>
            </a:r>
            <a:br>
              <a:rPr lang="en-US" dirty="0" smtClean="0"/>
            </a:br>
            <a:r>
              <a:rPr lang="en-US" dirty="0" smtClean="0"/>
              <a:t>Originations (6)</a:t>
            </a:r>
            <a:endParaRPr lang="en-US" dirty="0"/>
          </a:p>
        </p:txBody>
      </p:sp>
      <p:pic>
        <p:nvPicPr>
          <p:cNvPr id="5" name="Picture 4"/>
          <p:cNvPicPr>
            <a:picLocks noChangeAspect="1"/>
          </p:cNvPicPr>
          <p:nvPr/>
        </p:nvPicPr>
        <p:blipFill>
          <a:blip r:embed="rId4"/>
          <a:stretch>
            <a:fillRect/>
          </a:stretch>
        </p:blipFill>
        <p:spPr>
          <a:xfrm>
            <a:off x="4521201" y="1029063"/>
            <a:ext cx="4674749" cy="3688888"/>
          </a:xfrm>
          <a:prstGeom prst="rect">
            <a:avLst/>
          </a:prstGeom>
        </p:spPr>
      </p:pic>
      <p:sp>
        <p:nvSpPr>
          <p:cNvPr id="9" name="TextBox 8"/>
          <p:cNvSpPr txBox="1"/>
          <p:nvPr/>
        </p:nvSpPr>
        <p:spPr>
          <a:xfrm>
            <a:off x="371208" y="3685544"/>
            <a:ext cx="5753100" cy="152399"/>
          </a:xfrm>
          <a:prstGeom prst="rect">
            <a:avLst/>
          </a:prstGeom>
          <a:noFill/>
        </p:spPr>
        <p:txBody>
          <a:bodyPr wrap="square" lIns="54000" tIns="54000" rIns="54000" bIns="54000" rtlCol="0">
            <a:noAutofit/>
          </a:bodyPr>
          <a:lstStyle/>
          <a:p>
            <a:r>
              <a:rPr lang="en-US" sz="600" i="1" dirty="0" smtClean="0">
                <a:latin typeface="Arial" pitchFamily="34" charset="0"/>
                <a:cs typeface="Arial" pitchFamily="34" charset="0"/>
              </a:rPr>
              <a:t>Source: 6.6.1-6.6.6 Quarterly Close Packages. </a:t>
            </a:r>
          </a:p>
        </p:txBody>
      </p:sp>
      <p:pic>
        <p:nvPicPr>
          <p:cNvPr id="4" name="Picture 3"/>
          <p:cNvPicPr>
            <a:picLocks noChangeAspect="1"/>
          </p:cNvPicPr>
          <p:nvPr/>
        </p:nvPicPr>
        <p:blipFill>
          <a:blip r:embed="rId5"/>
          <a:stretch>
            <a:fillRect/>
          </a:stretch>
        </p:blipFill>
        <p:spPr>
          <a:xfrm>
            <a:off x="112675" y="1021985"/>
            <a:ext cx="4673224" cy="3687366"/>
          </a:xfrm>
          <a:prstGeom prst="rect">
            <a:avLst/>
          </a:prstGeom>
        </p:spPr>
      </p:pic>
      <p:sp>
        <p:nvSpPr>
          <p:cNvPr id="8" name="Rectangle 4"/>
          <p:cNvSpPr txBox="1">
            <a:spLocks noChangeArrowheads="1"/>
          </p:cNvSpPr>
          <p:nvPr>
            <p:custDataLst>
              <p:tags r:id="rId1"/>
            </p:custDataLst>
          </p:nvPr>
        </p:nvSpPr>
        <p:spPr bwMode="gray">
          <a:xfrm>
            <a:off x="262395" y="4797005"/>
            <a:ext cx="3630412" cy="422695"/>
          </a:xfrm>
          <a:prstGeom prst="rect">
            <a:avLst/>
          </a:prstGeom>
          <a:solidFill>
            <a:srgbClr val="F5DB7E"/>
          </a:solidFill>
          <a:ln w="6350">
            <a:solidFill>
              <a:schemeClr val="accent6"/>
            </a:solidFill>
            <a:miter lim="800000"/>
            <a:headEnd/>
            <a:tailEnd/>
          </a:ln>
          <a:effectLst/>
        </p:spPr>
        <p:txBody>
          <a:bodyPr vert="horz" lIns="54000" tIns="54000" rIns="54000" bIns="54000" rtlCol="0" anchor="ctr" anchorCtr="1">
            <a:noAutofit/>
          </a:bodyPr>
          <a:lstStyle/>
          <a:p>
            <a:pPr indent="-114300" algn="ctr" defTabSz="762000" eaLnBrk="0" hangingPunct="0">
              <a:lnSpc>
                <a:spcPct val="90000"/>
              </a:lnSpc>
              <a:spcBef>
                <a:spcPts val="600"/>
              </a:spcBef>
            </a:pPr>
            <a:r>
              <a:rPr lang="en-GB" sz="800" dirty="0" smtClean="0">
                <a:solidFill>
                  <a:schemeClr val="accent4"/>
                </a:solidFill>
              </a:rPr>
              <a:t>Upper mid </a:t>
            </a:r>
            <a:r>
              <a:rPr lang="en-GB" sz="800" dirty="0">
                <a:solidFill>
                  <a:schemeClr val="accent4"/>
                </a:solidFill>
              </a:rPr>
              <a:t>c</a:t>
            </a:r>
            <a:r>
              <a:rPr lang="en-GB" sz="800" dirty="0" smtClean="0">
                <a:solidFill>
                  <a:schemeClr val="accent4"/>
                </a:solidFill>
              </a:rPr>
              <a:t>ap &amp; ABL loans have been excluded from the above analysis as origination volumes for these products have been very low and steadily decreasing during the historical period.</a:t>
            </a:r>
            <a:endParaRPr lang="en-GB" sz="800" b="1" dirty="0">
              <a:solidFill>
                <a:srgbClr val="FF0000"/>
              </a:solidFill>
            </a:endParaRPr>
          </a:p>
        </p:txBody>
      </p:sp>
      <p:pic>
        <p:nvPicPr>
          <p:cNvPr id="11" name="Picture 10"/>
          <p:cNvPicPr>
            <a:picLocks noChangeAspect="1"/>
          </p:cNvPicPr>
          <p:nvPr/>
        </p:nvPicPr>
        <p:blipFill>
          <a:blip r:embed="rId6"/>
          <a:stretch>
            <a:fillRect/>
          </a:stretch>
        </p:blipFill>
        <p:spPr>
          <a:xfrm>
            <a:off x="262394" y="3925597"/>
            <a:ext cx="3630413" cy="796290"/>
          </a:xfrm>
          <a:prstGeom prst="rect">
            <a:avLst/>
          </a:prstGeom>
        </p:spPr>
      </p:pic>
    </p:spTree>
    <p:extLst>
      <p:ext uri="{BB962C8B-B14F-4D97-AF65-F5344CB8AC3E}">
        <p14:creationId xmlns:p14="http://schemas.microsoft.com/office/powerpoint/2010/main" val="295115816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3"/>
          <p:cNvSpPr>
            <a:spLocks noGrp="1"/>
          </p:cNvSpPr>
          <p:nvPr>
            <p:ph type="title"/>
          </p:nvPr>
        </p:nvSpPr>
        <p:spPr>
          <a:xfrm>
            <a:off x="2123728" y="116632"/>
            <a:ext cx="6768752" cy="576064"/>
          </a:xfrm>
        </p:spPr>
        <p:txBody>
          <a:bodyPr/>
          <a:lstStyle/>
          <a:p>
            <a:r>
              <a:rPr lang="en-US" sz="1400" b="0" dirty="0" smtClean="0">
                <a:solidFill>
                  <a:srgbClr val="747678"/>
                </a:solidFill>
              </a:rPr>
              <a:t>Appendix 7</a:t>
            </a:r>
            <a:r>
              <a:rPr lang="en-US" dirty="0" smtClean="0"/>
              <a:t/>
            </a:r>
            <a:br>
              <a:rPr lang="en-US" dirty="0" smtClean="0"/>
            </a:br>
            <a:r>
              <a:rPr lang="en-US" dirty="0" smtClean="0"/>
              <a:t>Fee income</a:t>
            </a:r>
            <a:endParaRPr lang="en-US" dirty="0"/>
          </a:p>
        </p:txBody>
      </p:sp>
      <p:sp>
        <p:nvSpPr>
          <p:cNvPr id="2" name="TextBox 1"/>
          <p:cNvSpPr txBox="1"/>
          <p:nvPr/>
        </p:nvSpPr>
        <p:spPr>
          <a:xfrm>
            <a:off x="152400" y="1295400"/>
            <a:ext cx="8740080" cy="3352800"/>
          </a:xfrm>
          <a:prstGeom prst="rect">
            <a:avLst/>
          </a:prstGeom>
          <a:noFill/>
        </p:spPr>
        <p:txBody>
          <a:bodyPr wrap="square" lIns="54000" tIns="54000" rIns="54000" bIns="54000" rtlCol="0">
            <a:noAutofit/>
          </a:bodyPr>
          <a:lstStyle/>
          <a:p>
            <a:pPr marL="0" lvl="2">
              <a:spcBef>
                <a:spcPts val="600"/>
              </a:spcBef>
              <a:buClr>
                <a:srgbClr val="97989A"/>
              </a:buClr>
              <a:defRPr/>
            </a:pPr>
            <a:r>
              <a:rPr lang="en-US" sz="900" b="1" dirty="0" smtClean="0">
                <a:cs typeface="Arial" pitchFamily="34" charset="0"/>
              </a:rPr>
              <a:t>Accounting for Syndication Fees</a:t>
            </a:r>
            <a:endParaRPr lang="en-US" sz="900" b="1" dirty="0">
              <a:cs typeface="Arial" pitchFamily="34" charset="0"/>
            </a:endParaRPr>
          </a:p>
          <a:p>
            <a:pPr marL="177800" lvl="2" indent="-177800">
              <a:spcBef>
                <a:spcPts val="600"/>
              </a:spcBef>
              <a:buClr>
                <a:srgbClr val="97989A"/>
              </a:buClr>
              <a:buFont typeface="Arial" pitchFamily="34" charset="0"/>
              <a:buChar char="■"/>
              <a:defRPr/>
            </a:pPr>
            <a:r>
              <a:rPr lang="en-US" sz="900" dirty="0">
                <a:latin typeface="Arial" panose="020B0604020202020204" pitchFamily="34" charset="0"/>
                <a:cs typeface="Arial" panose="020B0604020202020204" pitchFamily="34" charset="0"/>
              </a:rPr>
              <a:t>The terms underwriting fees, arrangement fees, syndication fees, documentation fees and upfront fees are used interchangeably or to refer to separate portion of fees received in syndications. For the purposes of this commentary, all such fees are henceforth referred to as “upfront fees”, consistent with the terminology used by Target in its books of record.</a:t>
            </a:r>
          </a:p>
          <a:p>
            <a:pPr marL="177800" lvl="2" indent="-177800">
              <a:spcBef>
                <a:spcPts val="600"/>
              </a:spcBef>
              <a:buClr>
                <a:srgbClr val="97989A"/>
              </a:buClr>
              <a:buFont typeface="Arial" pitchFamily="34" charset="0"/>
              <a:buChar char="■"/>
              <a:defRPr/>
            </a:pPr>
            <a:r>
              <a:rPr lang="en-US" sz="900" dirty="0">
                <a:latin typeface="Arial" panose="020B0604020202020204" pitchFamily="34" charset="0"/>
                <a:cs typeface="Arial" panose="020B0604020202020204" pitchFamily="34" charset="0"/>
              </a:rPr>
              <a:t>Target’s accounting for upfront fees is contingent upon whether a syndicated deal is classified as a “Loan Syndication” or a “Loan Participation”. This is an accounting distinction based on the form and legal structure of the transaction and not on its substance or commercial interpretation. For a transaction to be classified as a “Loan Syndication”, </a:t>
            </a:r>
            <a:r>
              <a:rPr lang="en-US" sz="900" dirty="0" smtClean="0">
                <a:latin typeface="Arial" panose="020B0604020202020204" pitchFamily="34" charset="0"/>
                <a:cs typeface="Arial" panose="020B0604020202020204" pitchFamily="34" charset="0"/>
              </a:rPr>
              <a:t>each </a:t>
            </a:r>
            <a:r>
              <a:rPr lang="en-US" sz="900" dirty="0">
                <a:latin typeface="Arial" panose="020B0604020202020204" pitchFamily="34" charset="0"/>
                <a:cs typeface="Arial" panose="020B0604020202020204" pitchFamily="34" charset="0"/>
              </a:rPr>
              <a:t>of the following conditions must be met:</a:t>
            </a:r>
          </a:p>
          <a:p>
            <a:pPr marL="347663" lvl="2" indent="-177800">
              <a:spcBef>
                <a:spcPts val="600"/>
              </a:spcBef>
              <a:buClr>
                <a:srgbClr val="97989A"/>
              </a:buClr>
              <a:buFont typeface="Arial" panose="020B0604020202020204" pitchFamily="34" charset="0"/>
              <a:buChar char="‒"/>
              <a:defRPr/>
            </a:pPr>
            <a:r>
              <a:rPr lang="en-US" sz="900" dirty="0">
                <a:latin typeface="Arial" panose="020B0604020202020204" pitchFamily="34" charset="0"/>
                <a:cs typeface="Arial" panose="020B0604020202020204" pitchFamily="34" charset="0"/>
              </a:rPr>
              <a:t>Target must be the lead arranger or the joint lead arranger;</a:t>
            </a:r>
          </a:p>
          <a:p>
            <a:pPr marL="347663" lvl="2" indent="-177800">
              <a:spcBef>
                <a:spcPts val="600"/>
              </a:spcBef>
              <a:buClr>
                <a:srgbClr val="97989A"/>
              </a:buClr>
              <a:buFont typeface="Arial" panose="020B0604020202020204" pitchFamily="34" charset="0"/>
              <a:buChar char="‒"/>
              <a:defRPr/>
            </a:pPr>
            <a:r>
              <a:rPr lang="en-US" sz="900" dirty="0">
                <a:latin typeface="Arial" panose="020B0604020202020204" pitchFamily="34" charset="0"/>
                <a:cs typeface="Arial" panose="020B0604020202020204" pitchFamily="34" charset="0"/>
              </a:rPr>
              <a:t>Syndication partners must be committed directly to the borrower on the credit agreement; and</a:t>
            </a:r>
          </a:p>
          <a:p>
            <a:pPr marL="347663" lvl="2" indent="-177800">
              <a:spcBef>
                <a:spcPts val="600"/>
              </a:spcBef>
              <a:buClr>
                <a:srgbClr val="97989A"/>
              </a:buClr>
              <a:buFont typeface="Arial" panose="020B0604020202020204" pitchFamily="34" charset="0"/>
              <a:buChar char="‒"/>
              <a:defRPr/>
            </a:pPr>
            <a:r>
              <a:rPr lang="en-US" sz="900" dirty="0">
                <a:latin typeface="Arial" panose="020B0604020202020204" pitchFamily="34" charset="0"/>
                <a:cs typeface="Arial" panose="020B0604020202020204" pitchFamily="34" charset="0"/>
              </a:rPr>
              <a:t>Syndication partners must fund their commitments on the date of close, either directly to the borrower or to Target</a:t>
            </a:r>
          </a:p>
          <a:p>
            <a:pPr marL="177800" lvl="2" indent="-177800">
              <a:spcBef>
                <a:spcPts val="600"/>
              </a:spcBef>
              <a:buClr>
                <a:srgbClr val="97989A"/>
              </a:buClr>
              <a:buFont typeface="Arial" pitchFamily="34" charset="0"/>
              <a:buChar char="■"/>
              <a:defRPr/>
            </a:pPr>
            <a:r>
              <a:rPr lang="en-US" sz="900" dirty="0">
                <a:latin typeface="Arial" panose="020B0604020202020204" pitchFamily="34" charset="0"/>
                <a:cs typeface="Arial" panose="020B0604020202020204" pitchFamily="34" charset="0"/>
              </a:rPr>
              <a:t>An instance where syndication partners, although committed directly to the borrower on the credit agreement, do not fund their commitments until the day after deal close would result in Target being classified as loan participant. Similarly, in an instance where syndication partners fund their commitments on deal close date, but are not committed to the borrower on the credit agreement, Target would be classified as a loan participant. In both cases, while the transaction is in substance no different from a loan syndication, the accounting treatment is different.</a:t>
            </a:r>
          </a:p>
          <a:p>
            <a:pPr marL="0" lvl="2" indent="0">
              <a:spcBef>
                <a:spcPts val="600"/>
              </a:spcBef>
              <a:buClr>
                <a:srgbClr val="97989A"/>
              </a:buClr>
              <a:buFont typeface="Arial" pitchFamily="34" charset="0"/>
              <a:buNone/>
              <a:defRPr/>
            </a:pPr>
            <a:r>
              <a:rPr lang="en-US" sz="900" i="1" dirty="0">
                <a:cs typeface="Arial" pitchFamily="34" charset="0"/>
              </a:rPr>
              <a:t>Fee Recognition in a Loan Syndication</a:t>
            </a:r>
          </a:p>
          <a:p>
            <a:pPr marL="177800" lvl="2" indent="-177800">
              <a:spcBef>
                <a:spcPts val="600"/>
              </a:spcBef>
              <a:buClr>
                <a:srgbClr val="97989A"/>
              </a:buClr>
              <a:buFont typeface="Arial" pitchFamily="34" charset="0"/>
              <a:buChar char="■"/>
              <a:defRPr/>
            </a:pPr>
            <a:r>
              <a:rPr lang="en-US" sz="900" dirty="0">
                <a:latin typeface="Arial" panose="020B0604020202020204" pitchFamily="34" charset="0"/>
                <a:cs typeface="Arial" panose="020B0604020202020204" pitchFamily="34" charset="0"/>
              </a:rPr>
              <a:t>All fees received are recognized upfront into income unless a portion of the loan is retained on Target’s books (the “hold”). If a portion is retained and the yield on this hold is higher than the average yield to other syndication participants, the fees (referred to as “above-market fees”) are recognized upfront. If the yield on the hold is lower than the average yield to other participants, Target defers a portion of the fees and amortizes these into income over the term of the loan to produce a yield on the hold that is not less than the average yield to other syndication participants.</a:t>
            </a:r>
          </a:p>
          <a:p>
            <a:pPr marL="0" lvl="2" indent="0">
              <a:spcBef>
                <a:spcPts val="600"/>
              </a:spcBef>
              <a:buClr>
                <a:srgbClr val="97989A"/>
              </a:buClr>
              <a:buFont typeface="Arial" pitchFamily="34" charset="0"/>
              <a:buNone/>
              <a:defRPr/>
            </a:pPr>
            <a:r>
              <a:rPr lang="en-US" sz="900" i="1" dirty="0">
                <a:cs typeface="Arial" pitchFamily="34" charset="0"/>
              </a:rPr>
              <a:t>Fee Recognition in a Loan Participation</a:t>
            </a:r>
          </a:p>
          <a:p>
            <a:pPr marL="177800" lvl="2" indent="-177800">
              <a:spcBef>
                <a:spcPts val="600"/>
              </a:spcBef>
              <a:buClr>
                <a:srgbClr val="97989A"/>
              </a:buClr>
              <a:buFont typeface="Arial" pitchFamily="34" charset="0"/>
              <a:buChar char="■"/>
              <a:defRPr/>
            </a:pPr>
            <a:r>
              <a:rPr lang="en-US" sz="900" dirty="0">
                <a:latin typeface="Arial" panose="020B0604020202020204" pitchFamily="34" charset="0"/>
                <a:cs typeface="Arial" panose="020B0604020202020204" pitchFamily="34" charset="0"/>
              </a:rPr>
              <a:t>All fees received are deferred and amortized into income over the term of the loan as an adjustment of yield, unless a portion of the commitment is sold to partners, in which case the deferred fees are amortized into income on a pro-rata basis for the portion of the loan sold. </a:t>
            </a:r>
          </a:p>
          <a:p>
            <a:endParaRPr lang="en-US" sz="900" dirty="0" smtClean="0">
              <a:latin typeface="Arial" pitchFamily="34" charset="0"/>
              <a:cs typeface="Arial" pitchFamily="34" charset="0"/>
            </a:endParaRPr>
          </a:p>
        </p:txBody>
      </p:sp>
    </p:spTree>
    <p:extLst>
      <p:ext uri="{BB962C8B-B14F-4D97-AF65-F5344CB8AC3E}">
        <p14:creationId xmlns:p14="http://schemas.microsoft.com/office/powerpoint/2010/main" val="225656151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3"/>
          <p:cNvSpPr>
            <a:spLocks noGrp="1"/>
          </p:cNvSpPr>
          <p:nvPr>
            <p:ph type="title"/>
          </p:nvPr>
        </p:nvSpPr>
        <p:spPr>
          <a:xfrm>
            <a:off x="2123728" y="116632"/>
            <a:ext cx="6768752" cy="576064"/>
          </a:xfrm>
        </p:spPr>
        <p:txBody>
          <a:bodyPr/>
          <a:lstStyle/>
          <a:p>
            <a:r>
              <a:rPr lang="en-US" sz="1400" b="0" dirty="0" smtClean="0">
                <a:solidFill>
                  <a:srgbClr val="747678"/>
                </a:solidFill>
              </a:rPr>
              <a:t>Appendix 7</a:t>
            </a:r>
            <a:r>
              <a:rPr lang="en-US" dirty="0" smtClean="0"/>
              <a:t/>
            </a:r>
            <a:br>
              <a:rPr lang="en-US" dirty="0" smtClean="0"/>
            </a:br>
            <a:r>
              <a:rPr lang="en-US" dirty="0" smtClean="0"/>
              <a:t>Fee income (2)</a:t>
            </a:r>
            <a:endParaRPr lang="en-US" dirty="0"/>
          </a:p>
        </p:txBody>
      </p:sp>
      <p:pic>
        <p:nvPicPr>
          <p:cNvPr id="4" name="Picture 3"/>
          <p:cNvPicPr>
            <a:picLocks noChangeAspect="1"/>
          </p:cNvPicPr>
          <p:nvPr/>
        </p:nvPicPr>
        <p:blipFill>
          <a:blip r:embed="rId6"/>
          <a:stretch>
            <a:fillRect/>
          </a:stretch>
        </p:blipFill>
        <p:spPr>
          <a:xfrm>
            <a:off x="15240" y="1051560"/>
            <a:ext cx="8687775" cy="2912761"/>
          </a:xfrm>
          <a:prstGeom prst="rect">
            <a:avLst/>
          </a:prstGeom>
        </p:spPr>
      </p:pic>
      <p:pic>
        <p:nvPicPr>
          <p:cNvPr id="8" name="Picture 7"/>
          <p:cNvPicPr>
            <a:picLocks noChangeAspect="1"/>
          </p:cNvPicPr>
          <p:nvPr/>
        </p:nvPicPr>
        <p:blipFill>
          <a:blip r:embed="rId7"/>
          <a:stretch>
            <a:fillRect/>
          </a:stretch>
        </p:blipFill>
        <p:spPr>
          <a:xfrm>
            <a:off x="259080" y="4381246"/>
            <a:ext cx="3591712" cy="1028954"/>
          </a:xfrm>
          <a:prstGeom prst="rect">
            <a:avLst/>
          </a:prstGeom>
        </p:spPr>
      </p:pic>
      <p:pic>
        <p:nvPicPr>
          <p:cNvPr id="9" name="Picture 8"/>
          <p:cNvPicPr>
            <a:picLocks noChangeAspect="1"/>
          </p:cNvPicPr>
          <p:nvPr/>
        </p:nvPicPr>
        <p:blipFill>
          <a:blip r:embed="rId8"/>
          <a:stretch>
            <a:fillRect/>
          </a:stretch>
        </p:blipFill>
        <p:spPr>
          <a:xfrm>
            <a:off x="4114800" y="4381246"/>
            <a:ext cx="3591712" cy="876516"/>
          </a:xfrm>
          <a:prstGeom prst="rect">
            <a:avLst/>
          </a:prstGeom>
        </p:spPr>
      </p:pic>
      <p:sp>
        <p:nvSpPr>
          <p:cNvPr id="11" name="Text Box 8"/>
          <p:cNvSpPr txBox="1">
            <a:spLocks noChangeArrowheads="1"/>
          </p:cNvSpPr>
          <p:nvPr>
            <p:custDataLst>
              <p:tags r:id="rId1"/>
            </p:custDataLst>
          </p:nvPr>
        </p:nvSpPr>
        <p:spPr bwMode="gray">
          <a:xfrm>
            <a:off x="259080" y="3774436"/>
            <a:ext cx="3323492" cy="92333"/>
          </a:xfrm>
          <a:prstGeom prst="rect">
            <a:avLst/>
          </a:prstGeom>
          <a:noFill/>
          <a:ln w="6350">
            <a:noFill/>
            <a:miter lim="800000"/>
            <a:headEnd type="none" w="sm" len="sm"/>
            <a:tailEnd type="none" w="sm" len="sm"/>
          </a:ln>
          <a:effectLst/>
        </p:spPr>
        <p:txBody>
          <a:bodyPr wrap="square" lIns="0" tIns="0" rIns="0" bIns="0" anchor="b">
            <a:spAutoFit/>
          </a:bodyPr>
          <a:lstStyle/>
          <a:p>
            <a:pPr marL="534988" indent="-534988" defTabSz="762000" eaLnBrk="0" hangingPunct="0">
              <a:spcBef>
                <a:spcPts val="200"/>
              </a:spcBef>
              <a:tabLst>
                <a:tab pos="355600" algn="l"/>
              </a:tabLst>
            </a:pPr>
            <a:r>
              <a:rPr lang="en-US" sz="600" i="1" dirty="0" smtClean="0">
                <a:latin typeface="Arial"/>
                <a:cs typeface="Arial" pitchFamily="34" charset="0"/>
              </a:rPr>
              <a:t>Source:	6.5.12 Quarterly Fee and Volume Breakout</a:t>
            </a:r>
            <a:endParaRPr lang="en-US" sz="600" i="1" dirty="0">
              <a:latin typeface="Arial"/>
              <a:cs typeface="Arial" pitchFamily="34" charset="0"/>
            </a:endParaRPr>
          </a:p>
        </p:txBody>
      </p:sp>
      <p:sp>
        <p:nvSpPr>
          <p:cNvPr id="13" name="Text Box 8"/>
          <p:cNvSpPr txBox="1">
            <a:spLocks noChangeArrowheads="1"/>
          </p:cNvSpPr>
          <p:nvPr>
            <p:custDataLst>
              <p:tags r:id="rId2"/>
            </p:custDataLst>
          </p:nvPr>
        </p:nvSpPr>
        <p:spPr bwMode="gray">
          <a:xfrm>
            <a:off x="259080" y="5455920"/>
            <a:ext cx="3323492" cy="92333"/>
          </a:xfrm>
          <a:prstGeom prst="rect">
            <a:avLst/>
          </a:prstGeom>
          <a:noFill/>
          <a:ln w="6350">
            <a:noFill/>
            <a:miter lim="800000"/>
            <a:headEnd type="none" w="sm" len="sm"/>
            <a:tailEnd type="none" w="sm" len="sm"/>
          </a:ln>
          <a:effectLst/>
        </p:spPr>
        <p:txBody>
          <a:bodyPr wrap="square" lIns="0" tIns="0" rIns="0" bIns="0" anchor="b">
            <a:spAutoFit/>
          </a:bodyPr>
          <a:lstStyle/>
          <a:p>
            <a:pPr marL="534988" indent="-534988" defTabSz="762000" eaLnBrk="0" hangingPunct="0">
              <a:spcBef>
                <a:spcPts val="200"/>
              </a:spcBef>
              <a:tabLst>
                <a:tab pos="355600" algn="l"/>
              </a:tabLst>
            </a:pPr>
            <a:r>
              <a:rPr lang="en-US" sz="600" i="1" dirty="0" smtClean="0">
                <a:latin typeface="Arial"/>
                <a:cs typeface="Arial" pitchFamily="34" charset="0"/>
              </a:rPr>
              <a:t>Source:	6.5.12 Quarterly Fee and Volume Breakout, Historical Platform Yield Analysis</a:t>
            </a:r>
            <a:endParaRPr lang="en-US" sz="600" i="1" dirty="0">
              <a:latin typeface="Arial"/>
              <a:cs typeface="Arial" pitchFamily="34" charset="0"/>
            </a:endParaRPr>
          </a:p>
        </p:txBody>
      </p:sp>
      <p:sp>
        <p:nvSpPr>
          <p:cNvPr id="14" name="Text Box 8"/>
          <p:cNvSpPr txBox="1">
            <a:spLocks noChangeArrowheads="1"/>
          </p:cNvSpPr>
          <p:nvPr>
            <p:custDataLst>
              <p:tags r:id="rId3"/>
            </p:custDataLst>
          </p:nvPr>
        </p:nvSpPr>
        <p:spPr bwMode="gray">
          <a:xfrm>
            <a:off x="4114800" y="5283162"/>
            <a:ext cx="3323492" cy="92333"/>
          </a:xfrm>
          <a:prstGeom prst="rect">
            <a:avLst/>
          </a:prstGeom>
          <a:noFill/>
          <a:ln w="6350">
            <a:noFill/>
            <a:miter lim="800000"/>
            <a:headEnd type="none" w="sm" len="sm"/>
            <a:tailEnd type="none" w="sm" len="sm"/>
          </a:ln>
          <a:effectLst/>
        </p:spPr>
        <p:txBody>
          <a:bodyPr wrap="square" lIns="0" tIns="0" rIns="0" bIns="0" anchor="b">
            <a:spAutoFit/>
          </a:bodyPr>
          <a:lstStyle/>
          <a:p>
            <a:pPr marL="534988" indent="-534988" defTabSz="762000" eaLnBrk="0" hangingPunct="0">
              <a:spcBef>
                <a:spcPts val="200"/>
              </a:spcBef>
              <a:tabLst>
                <a:tab pos="355600" algn="l"/>
              </a:tabLst>
            </a:pPr>
            <a:r>
              <a:rPr lang="en-US" sz="600" i="1" dirty="0" smtClean="0">
                <a:latin typeface="Arial"/>
                <a:cs typeface="Arial" pitchFamily="34" charset="0"/>
              </a:rPr>
              <a:t>Source:	6.5.12 Quarterly Fee and Volume Breakout</a:t>
            </a:r>
            <a:endParaRPr lang="en-US" sz="600" i="1" dirty="0">
              <a:latin typeface="Arial"/>
              <a:cs typeface="Arial" pitchFamily="34" charset="0"/>
            </a:endParaRPr>
          </a:p>
        </p:txBody>
      </p:sp>
    </p:spTree>
    <p:extLst>
      <p:ext uri="{BB962C8B-B14F-4D97-AF65-F5344CB8AC3E}">
        <p14:creationId xmlns:p14="http://schemas.microsoft.com/office/powerpoint/2010/main" val="130849501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3"/>
          <p:cNvSpPr>
            <a:spLocks noGrp="1"/>
          </p:cNvSpPr>
          <p:nvPr>
            <p:ph type="title"/>
          </p:nvPr>
        </p:nvSpPr>
        <p:spPr>
          <a:xfrm>
            <a:off x="2123728" y="116632"/>
            <a:ext cx="6768752" cy="576064"/>
          </a:xfrm>
        </p:spPr>
        <p:txBody>
          <a:bodyPr/>
          <a:lstStyle/>
          <a:p>
            <a:r>
              <a:rPr lang="en-US" sz="1400" b="0" dirty="0" smtClean="0">
                <a:solidFill>
                  <a:srgbClr val="747678"/>
                </a:solidFill>
              </a:rPr>
              <a:t>Appendix 8</a:t>
            </a:r>
            <a:r>
              <a:rPr lang="en-US" dirty="0" smtClean="0"/>
              <a:t/>
            </a:r>
            <a:br>
              <a:rPr lang="en-US" dirty="0" smtClean="0"/>
            </a:br>
            <a:r>
              <a:rPr lang="en-US" dirty="0" smtClean="0"/>
              <a:t>Quarterly balance sheet</a:t>
            </a:r>
            <a:endParaRPr lang="en-US" dirty="0"/>
          </a:p>
        </p:txBody>
      </p:sp>
      <p:pic>
        <p:nvPicPr>
          <p:cNvPr id="5" name="Picture 4"/>
          <p:cNvPicPr>
            <a:picLocks noChangeAspect="1"/>
          </p:cNvPicPr>
          <p:nvPr>
            <p:custDataLst>
              <p:tags r:id="rId1"/>
            </p:custDataLst>
          </p:nvPr>
        </p:nvPicPr>
        <p:blipFill>
          <a:blip r:embed="rId6"/>
          <a:stretch>
            <a:fillRect/>
          </a:stretch>
        </p:blipFill>
        <p:spPr>
          <a:xfrm>
            <a:off x="-2793400" y="2410070"/>
            <a:ext cx="1938696" cy="2225233"/>
          </a:xfrm>
          <a:prstGeom prst="rect">
            <a:avLst/>
          </a:prstGeom>
        </p:spPr>
      </p:pic>
      <p:sp>
        <p:nvSpPr>
          <p:cNvPr id="7" name="Text Box 8"/>
          <p:cNvSpPr txBox="1">
            <a:spLocks noChangeArrowheads="1"/>
          </p:cNvSpPr>
          <p:nvPr>
            <p:custDataLst>
              <p:tags r:id="rId2"/>
            </p:custDataLst>
          </p:nvPr>
        </p:nvSpPr>
        <p:spPr bwMode="gray">
          <a:xfrm>
            <a:off x="248920" y="3155692"/>
            <a:ext cx="3323492" cy="92333"/>
          </a:xfrm>
          <a:prstGeom prst="rect">
            <a:avLst/>
          </a:prstGeom>
          <a:noFill/>
          <a:ln w="6350">
            <a:noFill/>
            <a:miter lim="800000"/>
            <a:headEnd type="none" w="sm" len="sm"/>
            <a:tailEnd type="none" w="sm" len="sm"/>
          </a:ln>
          <a:effectLst/>
        </p:spPr>
        <p:txBody>
          <a:bodyPr wrap="square" lIns="0" tIns="0" rIns="0" bIns="0" anchor="b">
            <a:spAutoFit/>
          </a:bodyPr>
          <a:lstStyle/>
          <a:p>
            <a:pPr marL="534988" indent="-534988" defTabSz="762000" eaLnBrk="0" hangingPunct="0">
              <a:spcBef>
                <a:spcPts val="200"/>
              </a:spcBef>
              <a:tabLst>
                <a:tab pos="355600" algn="l"/>
              </a:tabLst>
            </a:pPr>
            <a:r>
              <a:rPr lang="en-US" sz="600" i="1" dirty="0" smtClean="0">
                <a:latin typeface="Arial"/>
                <a:cs typeface="Arial" pitchFamily="34" charset="0"/>
              </a:rPr>
              <a:t>Source:	GE quarterly package</a:t>
            </a:r>
            <a:endParaRPr lang="en-US" sz="600" i="1" dirty="0">
              <a:latin typeface="Arial"/>
              <a:cs typeface="Arial" pitchFamily="34" charset="0"/>
            </a:endParaRPr>
          </a:p>
        </p:txBody>
      </p:sp>
      <p:pic>
        <p:nvPicPr>
          <p:cNvPr id="9" name="Picture 8"/>
          <p:cNvPicPr>
            <a:picLocks noChangeAspect="1"/>
          </p:cNvPicPr>
          <p:nvPr>
            <p:custDataLst>
              <p:tags r:id="rId3"/>
            </p:custDataLst>
          </p:nvPr>
        </p:nvPicPr>
        <p:blipFill>
          <a:blip r:embed="rId7"/>
          <a:stretch>
            <a:fillRect/>
          </a:stretch>
        </p:blipFill>
        <p:spPr>
          <a:xfrm>
            <a:off x="-2793400" y="2683998"/>
            <a:ext cx="1938696" cy="2225233"/>
          </a:xfrm>
          <a:prstGeom prst="rect">
            <a:avLst/>
          </a:prstGeom>
        </p:spPr>
      </p:pic>
      <p:pic>
        <p:nvPicPr>
          <p:cNvPr id="3" name="Picture 2"/>
          <p:cNvPicPr>
            <a:picLocks noChangeAspect="1"/>
          </p:cNvPicPr>
          <p:nvPr/>
        </p:nvPicPr>
        <p:blipFill>
          <a:blip r:embed="rId8"/>
          <a:stretch>
            <a:fillRect/>
          </a:stretch>
        </p:blipFill>
        <p:spPr>
          <a:xfrm>
            <a:off x="248920" y="1187767"/>
            <a:ext cx="3581400" cy="1936433"/>
          </a:xfrm>
          <a:prstGeom prst="rect">
            <a:avLst/>
          </a:prstGeom>
        </p:spPr>
      </p:pic>
    </p:spTree>
    <p:extLst>
      <p:ext uri="{BB962C8B-B14F-4D97-AF65-F5344CB8AC3E}">
        <p14:creationId xmlns:p14="http://schemas.microsoft.com/office/powerpoint/2010/main" val="16480552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6"/>
          <a:stretch>
            <a:fillRect/>
          </a:stretch>
        </p:blipFill>
        <p:spPr>
          <a:xfrm>
            <a:off x="533400" y="1027319"/>
            <a:ext cx="8001000" cy="5373481"/>
          </a:xfrm>
          <a:prstGeom prst="rect">
            <a:avLst/>
          </a:prstGeom>
        </p:spPr>
      </p:pic>
      <p:sp>
        <p:nvSpPr>
          <p:cNvPr id="5" name="Rectangle 2"/>
          <p:cNvSpPr>
            <a:spLocks noGrp="1" noChangeArrowheads="1"/>
          </p:cNvSpPr>
          <p:nvPr>
            <p:ph type="title"/>
          </p:nvPr>
        </p:nvSpPr>
        <p:spPr bwMode="gray">
          <a:xfrm>
            <a:off x="2123728" y="128664"/>
            <a:ext cx="6768226" cy="576064"/>
          </a:xfrm>
        </p:spPr>
        <p:txBody>
          <a:bodyPr>
            <a:normAutofit/>
          </a:bodyPr>
          <a:lstStyle/>
          <a:p>
            <a:r>
              <a:rPr lang="en-US" sz="1400" b="0" dirty="0">
                <a:solidFill>
                  <a:srgbClr val="747678"/>
                </a:solidFill>
              </a:rPr>
              <a:t>Appendix </a:t>
            </a:r>
            <a:r>
              <a:rPr lang="en-US" sz="1400" b="0" dirty="0" smtClean="0">
                <a:solidFill>
                  <a:srgbClr val="747678"/>
                </a:solidFill>
              </a:rPr>
              <a:t>9</a:t>
            </a:r>
            <a:r>
              <a:rPr lang="en-US" dirty="0"/>
              <a:t/>
            </a:r>
            <a:br>
              <a:rPr lang="en-US" dirty="0"/>
            </a:br>
            <a:r>
              <a:rPr lang="en-US" dirty="0" smtClean="0"/>
              <a:t>Debt </a:t>
            </a:r>
            <a:r>
              <a:rPr lang="en-US" dirty="0"/>
              <a:t>p</a:t>
            </a:r>
            <a:r>
              <a:rPr lang="en-US" dirty="0" smtClean="0"/>
              <a:t>ortfolio - Antares</a:t>
            </a:r>
            <a:endParaRPr lang="en-US" dirty="0"/>
          </a:p>
        </p:txBody>
      </p:sp>
      <p:sp>
        <p:nvSpPr>
          <p:cNvPr id="4" name="Text Box 8"/>
          <p:cNvSpPr txBox="1">
            <a:spLocks noChangeArrowheads="1"/>
          </p:cNvSpPr>
          <p:nvPr>
            <p:custDataLst>
              <p:tags r:id="rId1"/>
            </p:custDataLst>
          </p:nvPr>
        </p:nvSpPr>
        <p:spPr bwMode="gray">
          <a:xfrm>
            <a:off x="514350" y="2514600"/>
            <a:ext cx="2587984" cy="92333"/>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latin typeface="Arial"/>
                <a:cs typeface="Arial" pitchFamily="34" charset="0"/>
              </a:rPr>
              <a:t> Source: A.2 Atlas Loan Book </a:t>
            </a:r>
            <a:r>
              <a:rPr lang="en-US" sz="600" i="1" dirty="0" err="1" smtClean="0">
                <a:latin typeface="Arial"/>
                <a:cs typeface="Arial" pitchFamily="34" charset="0"/>
              </a:rPr>
              <a:t>Strats</a:t>
            </a:r>
            <a:endParaRPr lang="en-US" sz="600" i="1" dirty="0" smtClean="0">
              <a:latin typeface="Arial"/>
              <a:cs typeface="Arial" pitchFamily="34" charset="0"/>
            </a:endParaRPr>
          </a:p>
        </p:txBody>
      </p:sp>
      <p:sp>
        <p:nvSpPr>
          <p:cNvPr id="6" name="Text Box 8"/>
          <p:cNvSpPr txBox="1">
            <a:spLocks noChangeArrowheads="1"/>
          </p:cNvSpPr>
          <p:nvPr>
            <p:custDataLst>
              <p:tags r:id="rId2"/>
            </p:custDataLst>
          </p:nvPr>
        </p:nvSpPr>
        <p:spPr bwMode="gray">
          <a:xfrm>
            <a:off x="485775" y="6096000"/>
            <a:ext cx="2587984" cy="92333"/>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latin typeface="Arial"/>
                <a:cs typeface="Arial" pitchFamily="34" charset="0"/>
              </a:rPr>
              <a:t> Source: A.2 Atlas Loan Book </a:t>
            </a:r>
            <a:r>
              <a:rPr lang="en-US" sz="600" i="1" dirty="0" err="1" smtClean="0">
                <a:latin typeface="Arial"/>
                <a:cs typeface="Arial" pitchFamily="34" charset="0"/>
              </a:rPr>
              <a:t>Strats</a:t>
            </a:r>
            <a:endParaRPr lang="en-US" sz="600" i="1" dirty="0" smtClean="0">
              <a:latin typeface="Arial"/>
              <a:cs typeface="Arial" pitchFamily="34" charset="0"/>
            </a:endParaRPr>
          </a:p>
        </p:txBody>
      </p:sp>
      <p:sp>
        <p:nvSpPr>
          <p:cNvPr id="7" name="Text Box 8"/>
          <p:cNvSpPr txBox="1">
            <a:spLocks noChangeArrowheads="1"/>
          </p:cNvSpPr>
          <p:nvPr>
            <p:custDataLst>
              <p:tags r:id="rId3"/>
            </p:custDataLst>
          </p:nvPr>
        </p:nvSpPr>
        <p:spPr bwMode="gray">
          <a:xfrm>
            <a:off x="5029200" y="5486400"/>
            <a:ext cx="2587984" cy="92333"/>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latin typeface="Arial"/>
                <a:cs typeface="Arial" pitchFamily="34" charset="0"/>
              </a:rPr>
              <a:t> Source: A.2 Atlas Loan Book </a:t>
            </a:r>
            <a:r>
              <a:rPr lang="en-US" sz="600" i="1" dirty="0" err="1" smtClean="0">
                <a:latin typeface="Arial"/>
                <a:cs typeface="Arial" pitchFamily="34" charset="0"/>
              </a:rPr>
              <a:t>Strats</a:t>
            </a:r>
            <a:endParaRPr lang="en-US" sz="600" i="1" dirty="0" smtClean="0">
              <a:latin typeface="Arial"/>
              <a:cs typeface="Arial" pitchFamily="34" charset="0"/>
            </a:endParaRPr>
          </a:p>
        </p:txBody>
      </p:sp>
      <p:sp>
        <p:nvSpPr>
          <p:cNvPr id="8" name="Text Box 8"/>
          <p:cNvSpPr txBox="1">
            <a:spLocks noChangeArrowheads="1"/>
          </p:cNvSpPr>
          <p:nvPr>
            <p:custDataLst>
              <p:tags r:id="rId4"/>
            </p:custDataLst>
          </p:nvPr>
        </p:nvSpPr>
        <p:spPr bwMode="gray">
          <a:xfrm>
            <a:off x="5010150" y="3505200"/>
            <a:ext cx="2587984" cy="92333"/>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latin typeface="Arial"/>
                <a:cs typeface="Arial" pitchFamily="34" charset="0"/>
              </a:rPr>
              <a:t> Source: A.2 Atlas Loan Book </a:t>
            </a:r>
            <a:r>
              <a:rPr lang="en-US" sz="600" i="1" dirty="0" err="1" smtClean="0">
                <a:latin typeface="Arial"/>
                <a:cs typeface="Arial" pitchFamily="34" charset="0"/>
              </a:rPr>
              <a:t>Strats</a:t>
            </a:r>
            <a:endParaRPr lang="en-US" sz="600" i="1" dirty="0" smtClean="0">
              <a:latin typeface="Arial"/>
              <a:cs typeface="Arial" pitchFamily="34" charset="0"/>
            </a:endParaRPr>
          </a:p>
        </p:txBody>
      </p:sp>
    </p:spTree>
    <p:extLst>
      <p:ext uri="{BB962C8B-B14F-4D97-AF65-F5344CB8AC3E}">
        <p14:creationId xmlns:p14="http://schemas.microsoft.com/office/powerpoint/2010/main" val="3156891942"/>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76200" y="1143000"/>
            <a:ext cx="8694525" cy="3962400"/>
          </a:xfrm>
          <a:prstGeom prst="rect">
            <a:avLst/>
          </a:prstGeom>
        </p:spPr>
      </p:pic>
      <p:sp>
        <p:nvSpPr>
          <p:cNvPr id="5" name="Rectangle 2"/>
          <p:cNvSpPr>
            <a:spLocks noGrp="1" noChangeArrowheads="1"/>
          </p:cNvSpPr>
          <p:nvPr>
            <p:ph type="title"/>
          </p:nvPr>
        </p:nvSpPr>
        <p:spPr bwMode="gray">
          <a:xfrm>
            <a:off x="2123728" y="128664"/>
            <a:ext cx="6768226" cy="576064"/>
          </a:xfrm>
        </p:spPr>
        <p:txBody>
          <a:bodyPr>
            <a:normAutofit/>
          </a:bodyPr>
          <a:lstStyle/>
          <a:p>
            <a:r>
              <a:rPr lang="en-US" sz="1400" b="0" dirty="0">
                <a:solidFill>
                  <a:srgbClr val="747678"/>
                </a:solidFill>
              </a:rPr>
              <a:t>Appendix </a:t>
            </a:r>
            <a:r>
              <a:rPr lang="en-US" sz="1400" b="0" dirty="0" smtClean="0">
                <a:solidFill>
                  <a:srgbClr val="747678"/>
                </a:solidFill>
              </a:rPr>
              <a:t>9</a:t>
            </a:r>
            <a:r>
              <a:rPr lang="en-US" dirty="0"/>
              <a:t/>
            </a:r>
            <a:br>
              <a:rPr lang="en-US" dirty="0"/>
            </a:br>
            <a:r>
              <a:rPr lang="en-US" dirty="0" smtClean="0"/>
              <a:t>Debt </a:t>
            </a:r>
            <a:r>
              <a:rPr lang="en-US" dirty="0"/>
              <a:t>p</a:t>
            </a:r>
            <a:r>
              <a:rPr lang="en-US" dirty="0" smtClean="0"/>
              <a:t>ortfolio - SSLP (2)</a:t>
            </a:r>
            <a:endParaRPr lang="en-US" dirty="0"/>
          </a:p>
        </p:txBody>
      </p:sp>
      <p:sp>
        <p:nvSpPr>
          <p:cNvPr id="6" name="Text Box 8"/>
          <p:cNvSpPr txBox="1">
            <a:spLocks noChangeArrowheads="1"/>
          </p:cNvSpPr>
          <p:nvPr>
            <p:custDataLst>
              <p:tags r:id="rId1"/>
            </p:custDataLst>
          </p:nvPr>
        </p:nvSpPr>
        <p:spPr bwMode="gray">
          <a:xfrm>
            <a:off x="228600" y="5013067"/>
            <a:ext cx="2587984" cy="92333"/>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latin typeface="Arial"/>
                <a:cs typeface="Arial" pitchFamily="34" charset="0"/>
              </a:rPr>
              <a:t> Source: A.2 Atlas Loan Book </a:t>
            </a:r>
            <a:r>
              <a:rPr lang="en-US" sz="600" i="1" dirty="0" err="1" smtClean="0">
                <a:latin typeface="Arial"/>
                <a:cs typeface="Arial" pitchFamily="34" charset="0"/>
              </a:rPr>
              <a:t>Strats</a:t>
            </a:r>
            <a:r>
              <a:rPr lang="en-US" sz="600" i="1" dirty="0" smtClean="0">
                <a:latin typeface="Arial"/>
                <a:cs typeface="Arial" pitchFamily="34" charset="0"/>
              </a:rPr>
              <a:t> (for all tables)</a:t>
            </a:r>
          </a:p>
        </p:txBody>
      </p:sp>
    </p:spTree>
    <p:extLst>
      <p:ext uri="{BB962C8B-B14F-4D97-AF65-F5344CB8AC3E}">
        <p14:creationId xmlns:p14="http://schemas.microsoft.com/office/powerpoint/2010/main" val="3740433181"/>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76200" y="1066800"/>
            <a:ext cx="8718558" cy="3733800"/>
          </a:xfrm>
          <a:prstGeom prst="rect">
            <a:avLst/>
          </a:prstGeom>
        </p:spPr>
      </p:pic>
      <p:sp>
        <p:nvSpPr>
          <p:cNvPr id="5" name="Rectangle 2"/>
          <p:cNvSpPr>
            <a:spLocks noGrp="1" noChangeArrowheads="1"/>
          </p:cNvSpPr>
          <p:nvPr>
            <p:ph type="title"/>
          </p:nvPr>
        </p:nvSpPr>
        <p:spPr bwMode="gray">
          <a:xfrm>
            <a:off x="2123728" y="128664"/>
            <a:ext cx="6768226" cy="576064"/>
          </a:xfrm>
        </p:spPr>
        <p:txBody>
          <a:bodyPr>
            <a:normAutofit/>
          </a:bodyPr>
          <a:lstStyle/>
          <a:p>
            <a:r>
              <a:rPr lang="en-US" sz="1400" b="0" dirty="0">
                <a:solidFill>
                  <a:srgbClr val="747678"/>
                </a:solidFill>
              </a:rPr>
              <a:t>Appendix </a:t>
            </a:r>
            <a:r>
              <a:rPr lang="en-US" sz="1400" b="0" dirty="0" smtClean="0">
                <a:solidFill>
                  <a:srgbClr val="747678"/>
                </a:solidFill>
              </a:rPr>
              <a:t>9</a:t>
            </a:r>
            <a:r>
              <a:rPr lang="en-US" dirty="0"/>
              <a:t/>
            </a:r>
            <a:br>
              <a:rPr lang="en-US" dirty="0"/>
            </a:br>
            <a:r>
              <a:rPr lang="en-US" dirty="0" smtClean="0"/>
              <a:t>Debt </a:t>
            </a:r>
            <a:r>
              <a:rPr lang="en-US" dirty="0"/>
              <a:t>p</a:t>
            </a:r>
            <a:r>
              <a:rPr lang="en-US" dirty="0" smtClean="0"/>
              <a:t>ortfolio - MMGP (3)</a:t>
            </a:r>
            <a:endParaRPr lang="en-US" dirty="0"/>
          </a:p>
        </p:txBody>
      </p:sp>
      <p:sp>
        <p:nvSpPr>
          <p:cNvPr id="6" name="Text Box 8"/>
          <p:cNvSpPr txBox="1">
            <a:spLocks noChangeArrowheads="1"/>
          </p:cNvSpPr>
          <p:nvPr>
            <p:custDataLst>
              <p:tags r:id="rId1"/>
            </p:custDataLst>
          </p:nvPr>
        </p:nvSpPr>
        <p:spPr bwMode="gray">
          <a:xfrm>
            <a:off x="228600" y="4648200"/>
            <a:ext cx="2587984" cy="92333"/>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latin typeface="Arial"/>
                <a:cs typeface="Arial" pitchFamily="34" charset="0"/>
              </a:rPr>
              <a:t> Source: A.2 Atlas Loan Book </a:t>
            </a:r>
            <a:r>
              <a:rPr lang="en-US" sz="600" i="1" dirty="0" err="1" smtClean="0">
                <a:latin typeface="Arial"/>
                <a:cs typeface="Arial" pitchFamily="34" charset="0"/>
              </a:rPr>
              <a:t>Strats</a:t>
            </a:r>
            <a:r>
              <a:rPr lang="en-US" sz="600" i="1" dirty="0" smtClean="0">
                <a:latin typeface="Arial"/>
                <a:cs typeface="Arial" pitchFamily="34" charset="0"/>
              </a:rPr>
              <a:t> (for all tables)</a:t>
            </a:r>
          </a:p>
        </p:txBody>
      </p:sp>
    </p:spTree>
    <p:extLst>
      <p:ext uri="{BB962C8B-B14F-4D97-AF65-F5344CB8AC3E}">
        <p14:creationId xmlns:p14="http://schemas.microsoft.com/office/powerpoint/2010/main" val="191985848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2123728" y="128664"/>
            <a:ext cx="6768226" cy="576064"/>
          </a:xfrm>
        </p:spPr>
        <p:txBody>
          <a:bodyPr>
            <a:normAutofit/>
          </a:bodyPr>
          <a:lstStyle/>
          <a:p>
            <a:r>
              <a:rPr lang="en-US" sz="1400" b="0" dirty="0">
                <a:solidFill>
                  <a:srgbClr val="747678"/>
                </a:solidFill>
              </a:rPr>
              <a:t>Appendix </a:t>
            </a:r>
            <a:r>
              <a:rPr lang="en-US" sz="1400" b="0" dirty="0" smtClean="0">
                <a:solidFill>
                  <a:srgbClr val="747678"/>
                </a:solidFill>
              </a:rPr>
              <a:t>9</a:t>
            </a:r>
            <a:r>
              <a:rPr lang="en-US" dirty="0"/>
              <a:t/>
            </a:r>
            <a:br>
              <a:rPr lang="en-US" dirty="0"/>
            </a:br>
            <a:r>
              <a:rPr lang="en-US" dirty="0" smtClean="0"/>
              <a:t>Debt </a:t>
            </a:r>
            <a:r>
              <a:rPr lang="en-US" dirty="0"/>
              <a:t>p</a:t>
            </a:r>
            <a:r>
              <a:rPr lang="en-US" dirty="0" smtClean="0"/>
              <a:t>ortfolio – reconciliation (4)</a:t>
            </a:r>
            <a:endParaRPr lang="en-US" dirty="0"/>
          </a:p>
        </p:txBody>
      </p:sp>
      <p:sp>
        <p:nvSpPr>
          <p:cNvPr id="6" name="Text Box 8"/>
          <p:cNvSpPr txBox="1">
            <a:spLocks noChangeArrowheads="1"/>
          </p:cNvSpPr>
          <p:nvPr>
            <p:custDataLst>
              <p:tags r:id="rId1"/>
            </p:custDataLst>
          </p:nvPr>
        </p:nvSpPr>
        <p:spPr bwMode="gray">
          <a:xfrm>
            <a:off x="3352800" y="3277106"/>
            <a:ext cx="2587984" cy="184666"/>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latin typeface="Arial"/>
                <a:cs typeface="Arial" pitchFamily="34" charset="0"/>
              </a:rPr>
              <a:t> Source: A.2 Atlas Loan Book </a:t>
            </a:r>
            <a:r>
              <a:rPr lang="en-US" sz="600" i="1" dirty="0" err="1" smtClean="0">
                <a:latin typeface="Arial"/>
                <a:cs typeface="Arial" pitchFamily="34" charset="0"/>
              </a:rPr>
              <a:t>Strats</a:t>
            </a:r>
            <a:r>
              <a:rPr lang="en-US" sz="600" i="1" dirty="0" smtClean="0">
                <a:latin typeface="Arial"/>
                <a:cs typeface="Arial" pitchFamily="34" charset="0"/>
              </a:rPr>
              <a:t>, 1.1.3 Project Atlas Final Offer Process Letter (05 26 2015)</a:t>
            </a:r>
          </a:p>
        </p:txBody>
      </p:sp>
      <p:pic>
        <p:nvPicPr>
          <p:cNvPr id="3" name="Picture 2"/>
          <p:cNvPicPr>
            <a:picLocks noChangeAspect="1"/>
          </p:cNvPicPr>
          <p:nvPr/>
        </p:nvPicPr>
        <p:blipFill>
          <a:blip r:embed="rId5"/>
          <a:stretch>
            <a:fillRect/>
          </a:stretch>
        </p:blipFill>
        <p:spPr>
          <a:xfrm>
            <a:off x="275684" y="1219200"/>
            <a:ext cx="2467516" cy="1791141"/>
          </a:xfrm>
          <a:prstGeom prst="rect">
            <a:avLst/>
          </a:prstGeom>
        </p:spPr>
      </p:pic>
      <p:pic>
        <p:nvPicPr>
          <p:cNvPr id="4" name="Picture 3"/>
          <p:cNvPicPr>
            <a:picLocks noChangeAspect="1"/>
          </p:cNvPicPr>
          <p:nvPr/>
        </p:nvPicPr>
        <p:blipFill>
          <a:blip r:embed="rId6"/>
          <a:stretch>
            <a:fillRect/>
          </a:stretch>
        </p:blipFill>
        <p:spPr>
          <a:xfrm>
            <a:off x="3352800" y="1219200"/>
            <a:ext cx="2467516" cy="2057906"/>
          </a:xfrm>
          <a:prstGeom prst="rect">
            <a:avLst/>
          </a:prstGeom>
        </p:spPr>
      </p:pic>
      <p:pic>
        <p:nvPicPr>
          <p:cNvPr id="7" name="Picture 6"/>
          <p:cNvPicPr>
            <a:picLocks noChangeAspect="1"/>
          </p:cNvPicPr>
          <p:nvPr/>
        </p:nvPicPr>
        <p:blipFill>
          <a:blip r:embed="rId7"/>
          <a:stretch>
            <a:fillRect/>
          </a:stretch>
        </p:blipFill>
        <p:spPr>
          <a:xfrm>
            <a:off x="6447884" y="1219200"/>
            <a:ext cx="2467516" cy="2057906"/>
          </a:xfrm>
          <a:prstGeom prst="rect">
            <a:avLst/>
          </a:prstGeom>
        </p:spPr>
      </p:pic>
      <p:sp>
        <p:nvSpPr>
          <p:cNvPr id="8" name="Text Box 8"/>
          <p:cNvSpPr txBox="1">
            <a:spLocks noChangeArrowheads="1"/>
          </p:cNvSpPr>
          <p:nvPr>
            <p:custDataLst>
              <p:tags r:id="rId2"/>
            </p:custDataLst>
          </p:nvPr>
        </p:nvSpPr>
        <p:spPr bwMode="gray">
          <a:xfrm>
            <a:off x="307616" y="3010341"/>
            <a:ext cx="2587984" cy="184666"/>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latin typeface="Arial"/>
                <a:cs typeface="Arial" pitchFamily="34" charset="0"/>
              </a:rPr>
              <a:t> Source: A.2 Atlas Loan Book </a:t>
            </a:r>
            <a:r>
              <a:rPr lang="en-US" sz="600" i="1" dirty="0" err="1" smtClean="0">
                <a:latin typeface="Arial"/>
                <a:cs typeface="Arial" pitchFamily="34" charset="0"/>
              </a:rPr>
              <a:t>Strats</a:t>
            </a:r>
            <a:r>
              <a:rPr lang="en-US" sz="600" i="1" dirty="0" smtClean="0">
                <a:latin typeface="Arial"/>
                <a:cs typeface="Arial" pitchFamily="34" charset="0"/>
              </a:rPr>
              <a:t>, 1.1.3 Project Atlas Final Offer Process Letter (05 26 2015)</a:t>
            </a:r>
          </a:p>
        </p:txBody>
      </p:sp>
      <p:sp>
        <p:nvSpPr>
          <p:cNvPr id="9" name="Text Box 8"/>
          <p:cNvSpPr txBox="1">
            <a:spLocks noChangeArrowheads="1"/>
          </p:cNvSpPr>
          <p:nvPr>
            <p:custDataLst>
              <p:tags r:id="rId3"/>
            </p:custDataLst>
          </p:nvPr>
        </p:nvSpPr>
        <p:spPr bwMode="gray">
          <a:xfrm>
            <a:off x="6479816" y="3277106"/>
            <a:ext cx="2587984" cy="184666"/>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latin typeface="Arial"/>
                <a:cs typeface="Arial" pitchFamily="34" charset="0"/>
              </a:rPr>
              <a:t> Source: A.2 Atlas Loan Book </a:t>
            </a:r>
            <a:r>
              <a:rPr lang="en-US" sz="600" i="1" dirty="0" err="1" smtClean="0">
                <a:latin typeface="Arial"/>
                <a:cs typeface="Arial" pitchFamily="34" charset="0"/>
              </a:rPr>
              <a:t>Strats</a:t>
            </a:r>
            <a:r>
              <a:rPr lang="en-US" sz="600" i="1" dirty="0" smtClean="0">
                <a:latin typeface="Arial"/>
                <a:cs typeface="Arial" pitchFamily="34" charset="0"/>
              </a:rPr>
              <a:t>, 1.1.3 Project Atlas Final Offer Process Letter (05 26 2015)</a:t>
            </a:r>
          </a:p>
        </p:txBody>
      </p:sp>
    </p:spTree>
    <p:extLst>
      <p:ext uri="{BB962C8B-B14F-4D97-AF65-F5344CB8AC3E}">
        <p14:creationId xmlns:p14="http://schemas.microsoft.com/office/powerpoint/2010/main" val="4116821165"/>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1"/>
          <a:stretch>
            <a:fillRect/>
          </a:stretch>
        </p:blipFill>
        <p:spPr>
          <a:xfrm>
            <a:off x="4544033" y="3594545"/>
            <a:ext cx="4447567" cy="2791015"/>
          </a:xfrm>
          <a:prstGeom prst="rect">
            <a:avLst/>
          </a:prstGeom>
        </p:spPr>
      </p:pic>
      <p:sp>
        <p:nvSpPr>
          <p:cNvPr id="21" name="Rounded Rectangle 20"/>
          <p:cNvSpPr/>
          <p:nvPr>
            <p:custDataLst>
              <p:tags r:id="rId1"/>
            </p:custDataLst>
          </p:nvPr>
        </p:nvSpPr>
        <p:spPr bwMode="gray">
          <a:xfrm rot="5400000">
            <a:off x="6385248" y="4309885"/>
            <a:ext cx="1161587" cy="840923"/>
          </a:xfrm>
          <a:prstGeom prst="roundRect">
            <a:avLst>
              <a:gd name="adj" fmla="val 26588"/>
            </a:avLst>
          </a:prstGeom>
          <a:noFill/>
          <a:ln w="12700">
            <a:solidFill>
              <a:srgbClr val="9E303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dirty="0"/>
          </a:p>
        </p:txBody>
      </p:sp>
      <p:sp>
        <p:nvSpPr>
          <p:cNvPr id="19" name="Rounded Rectangle 18"/>
          <p:cNvSpPr/>
          <p:nvPr>
            <p:custDataLst>
              <p:tags r:id="rId2"/>
            </p:custDataLst>
          </p:nvPr>
        </p:nvSpPr>
        <p:spPr bwMode="gray">
          <a:xfrm rot="5400000">
            <a:off x="1800650" y="4391839"/>
            <a:ext cx="1159332" cy="664029"/>
          </a:xfrm>
          <a:prstGeom prst="roundRect">
            <a:avLst>
              <a:gd name="adj" fmla="val 26588"/>
            </a:avLst>
          </a:prstGeom>
          <a:noFill/>
          <a:ln w="12700">
            <a:solidFill>
              <a:srgbClr val="9E303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dirty="0"/>
          </a:p>
        </p:txBody>
      </p:sp>
      <p:sp>
        <p:nvSpPr>
          <p:cNvPr id="11" name="Text Box 8"/>
          <p:cNvSpPr txBox="1">
            <a:spLocks noChangeArrowheads="1"/>
          </p:cNvSpPr>
          <p:nvPr>
            <p:custDataLst>
              <p:tags r:id="rId3"/>
            </p:custDataLst>
          </p:nvPr>
        </p:nvSpPr>
        <p:spPr bwMode="gray">
          <a:xfrm>
            <a:off x="2053200" y="1414544"/>
            <a:ext cx="1505340" cy="184666"/>
          </a:xfrm>
          <a:prstGeom prst="rect">
            <a:avLst/>
          </a:prstGeom>
          <a:noFill/>
          <a:ln w="6350">
            <a:noFill/>
            <a:miter lim="800000"/>
            <a:headEnd type="none" w="sm" len="sm"/>
            <a:tailEnd type="none" w="sm" len="sm"/>
          </a:ln>
          <a:effectLst/>
        </p:spPr>
        <p:txBody>
          <a:bodyPr wrap="square" lIns="0" tIns="0" rIns="0" bIns="0" anchor="b">
            <a:spAutoFit/>
          </a:bodyPr>
          <a:lstStyle/>
          <a:p>
            <a:pPr algn="r" defTabSz="762000" eaLnBrk="0" hangingPunct="0">
              <a:spcBef>
                <a:spcPts val="200"/>
              </a:spcBef>
            </a:pPr>
            <a:r>
              <a:rPr lang="en-US" sz="600" i="1" dirty="0" smtClean="0">
                <a:latin typeface="Arial"/>
                <a:cs typeface="Arial" pitchFamily="34" charset="0"/>
              </a:rPr>
              <a:t>Included in Other are Aerospace &amp; Defense and Plant &amp; Forest Products</a:t>
            </a:r>
          </a:p>
        </p:txBody>
      </p:sp>
      <p:pic>
        <p:nvPicPr>
          <p:cNvPr id="9" name="Picture 8"/>
          <p:cNvPicPr>
            <a:picLocks noChangeAspect="1"/>
          </p:cNvPicPr>
          <p:nvPr/>
        </p:nvPicPr>
        <p:blipFill>
          <a:blip r:embed="rId12"/>
          <a:stretch>
            <a:fillRect/>
          </a:stretch>
        </p:blipFill>
        <p:spPr>
          <a:xfrm>
            <a:off x="4542508" y="1066800"/>
            <a:ext cx="4449092" cy="2791015"/>
          </a:xfrm>
          <a:prstGeom prst="rect">
            <a:avLst/>
          </a:prstGeom>
        </p:spPr>
      </p:pic>
      <p:sp>
        <p:nvSpPr>
          <p:cNvPr id="20" name="Rounded Rectangle 19"/>
          <p:cNvSpPr/>
          <p:nvPr>
            <p:custDataLst>
              <p:tags r:id="rId4"/>
            </p:custDataLst>
          </p:nvPr>
        </p:nvSpPr>
        <p:spPr bwMode="gray">
          <a:xfrm rot="5400000">
            <a:off x="5760408" y="1729428"/>
            <a:ext cx="1186077" cy="963386"/>
          </a:xfrm>
          <a:prstGeom prst="roundRect">
            <a:avLst>
              <a:gd name="adj" fmla="val 26588"/>
            </a:avLst>
          </a:prstGeom>
          <a:noFill/>
          <a:ln w="12700">
            <a:solidFill>
              <a:srgbClr val="9E303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dirty="0"/>
          </a:p>
        </p:txBody>
      </p:sp>
      <p:sp>
        <p:nvSpPr>
          <p:cNvPr id="13" name="Title 3"/>
          <p:cNvSpPr>
            <a:spLocks noGrp="1"/>
          </p:cNvSpPr>
          <p:nvPr>
            <p:ph type="title"/>
          </p:nvPr>
        </p:nvSpPr>
        <p:spPr>
          <a:xfrm>
            <a:off x="2123728" y="116632"/>
            <a:ext cx="6768752" cy="576064"/>
          </a:xfrm>
        </p:spPr>
        <p:txBody>
          <a:bodyPr/>
          <a:lstStyle/>
          <a:p>
            <a:r>
              <a:rPr lang="en-US" sz="1400" b="0" dirty="0" smtClean="0">
                <a:solidFill>
                  <a:srgbClr val="747678"/>
                </a:solidFill>
              </a:rPr>
              <a:t>Appendix 10</a:t>
            </a:r>
            <a:r>
              <a:rPr lang="en-US" dirty="0" smtClean="0"/>
              <a:t/>
            </a:r>
            <a:br>
              <a:rPr lang="en-US" dirty="0" smtClean="0"/>
            </a:br>
            <a:r>
              <a:rPr lang="en-US" dirty="0" smtClean="0"/>
              <a:t>Equity co-investments</a:t>
            </a:r>
            <a:endParaRPr lang="en-US" dirty="0"/>
          </a:p>
        </p:txBody>
      </p:sp>
      <p:pic>
        <p:nvPicPr>
          <p:cNvPr id="2" name="Picture 1"/>
          <p:cNvPicPr>
            <a:picLocks noChangeAspect="1"/>
          </p:cNvPicPr>
          <p:nvPr/>
        </p:nvPicPr>
        <p:blipFill>
          <a:blip r:embed="rId13"/>
          <a:stretch>
            <a:fillRect/>
          </a:stretch>
        </p:blipFill>
        <p:spPr>
          <a:xfrm>
            <a:off x="-325257" y="876300"/>
            <a:ext cx="4446043" cy="3535184"/>
          </a:xfrm>
          <a:prstGeom prst="rect">
            <a:avLst/>
          </a:prstGeom>
        </p:spPr>
      </p:pic>
      <p:sp>
        <p:nvSpPr>
          <p:cNvPr id="14" name="Text Box 8"/>
          <p:cNvSpPr txBox="1">
            <a:spLocks noChangeArrowheads="1"/>
          </p:cNvSpPr>
          <p:nvPr>
            <p:custDataLst>
              <p:tags r:id="rId5"/>
            </p:custDataLst>
          </p:nvPr>
        </p:nvSpPr>
        <p:spPr bwMode="gray">
          <a:xfrm>
            <a:off x="241802" y="6093905"/>
            <a:ext cx="4211303" cy="92333"/>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cs typeface="Arial" pitchFamily="34" charset="0"/>
              </a:rPr>
              <a:t>Source</a:t>
            </a:r>
            <a:r>
              <a:rPr lang="en-US" sz="600" i="1" dirty="0">
                <a:cs typeface="Arial" pitchFamily="34" charset="0"/>
              </a:rPr>
              <a:t>: </a:t>
            </a:r>
            <a:r>
              <a:rPr lang="en-US" sz="600" i="1" dirty="0" smtClean="0">
                <a:cs typeface="Arial" pitchFamily="34" charset="0"/>
              </a:rPr>
              <a:t> A.6 </a:t>
            </a:r>
            <a:r>
              <a:rPr lang="en-US" sz="600" i="1" dirty="0">
                <a:cs typeface="Arial" pitchFamily="34" charset="0"/>
              </a:rPr>
              <a:t>Atlas Equity Data Tape.xlsx</a:t>
            </a:r>
            <a:endParaRPr lang="en-US" sz="600" i="1" dirty="0" smtClean="0">
              <a:latin typeface="Arial"/>
              <a:cs typeface="Arial" pitchFamily="34" charset="0"/>
            </a:endParaRPr>
          </a:p>
        </p:txBody>
      </p:sp>
      <p:sp>
        <p:nvSpPr>
          <p:cNvPr id="15" name="Text Box 8"/>
          <p:cNvSpPr txBox="1">
            <a:spLocks noChangeArrowheads="1"/>
          </p:cNvSpPr>
          <p:nvPr>
            <p:custDataLst>
              <p:tags r:id="rId6"/>
            </p:custDataLst>
          </p:nvPr>
        </p:nvSpPr>
        <p:spPr bwMode="gray">
          <a:xfrm>
            <a:off x="4661403" y="3594545"/>
            <a:ext cx="4211303" cy="92333"/>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cs typeface="Arial" pitchFamily="34" charset="0"/>
              </a:rPr>
              <a:t>Source</a:t>
            </a:r>
            <a:r>
              <a:rPr lang="en-US" sz="600" i="1" dirty="0">
                <a:cs typeface="Arial" pitchFamily="34" charset="0"/>
              </a:rPr>
              <a:t>: </a:t>
            </a:r>
            <a:r>
              <a:rPr lang="en-US" sz="600" i="1" dirty="0" smtClean="0">
                <a:cs typeface="Arial" pitchFamily="34" charset="0"/>
              </a:rPr>
              <a:t> A.6 </a:t>
            </a:r>
            <a:r>
              <a:rPr lang="en-US" sz="600" i="1" dirty="0">
                <a:cs typeface="Arial" pitchFamily="34" charset="0"/>
              </a:rPr>
              <a:t>Atlas Equity Data Tape.xlsx</a:t>
            </a:r>
            <a:endParaRPr lang="en-US" sz="600" i="1" dirty="0" smtClean="0">
              <a:latin typeface="Arial"/>
              <a:cs typeface="Arial" pitchFamily="34" charset="0"/>
            </a:endParaRPr>
          </a:p>
        </p:txBody>
      </p:sp>
      <p:sp>
        <p:nvSpPr>
          <p:cNvPr id="16" name="Text Box 8"/>
          <p:cNvSpPr txBox="1">
            <a:spLocks noChangeArrowheads="1"/>
          </p:cNvSpPr>
          <p:nvPr>
            <p:custDataLst>
              <p:tags r:id="rId7"/>
            </p:custDataLst>
          </p:nvPr>
        </p:nvSpPr>
        <p:spPr bwMode="gray">
          <a:xfrm>
            <a:off x="241802" y="3485448"/>
            <a:ext cx="4211303" cy="92333"/>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cs typeface="Arial" pitchFamily="34" charset="0"/>
              </a:rPr>
              <a:t>Source</a:t>
            </a:r>
            <a:r>
              <a:rPr lang="en-US" sz="600" i="1" dirty="0">
                <a:cs typeface="Arial" pitchFamily="34" charset="0"/>
              </a:rPr>
              <a:t>: </a:t>
            </a:r>
            <a:r>
              <a:rPr lang="en-US" sz="600" i="1" dirty="0" smtClean="0">
                <a:cs typeface="Arial" pitchFamily="34" charset="0"/>
              </a:rPr>
              <a:t> A.6 </a:t>
            </a:r>
            <a:r>
              <a:rPr lang="en-US" sz="600" i="1" dirty="0">
                <a:cs typeface="Arial" pitchFamily="34" charset="0"/>
              </a:rPr>
              <a:t>Atlas Equity Data Tape.xlsx</a:t>
            </a:r>
            <a:endParaRPr lang="en-US" sz="600" i="1" dirty="0" smtClean="0">
              <a:latin typeface="Arial"/>
              <a:cs typeface="Arial" pitchFamily="34" charset="0"/>
            </a:endParaRPr>
          </a:p>
        </p:txBody>
      </p:sp>
      <p:sp>
        <p:nvSpPr>
          <p:cNvPr id="17" name="Text Box 8"/>
          <p:cNvSpPr txBox="1">
            <a:spLocks noChangeArrowheads="1"/>
          </p:cNvSpPr>
          <p:nvPr>
            <p:custDataLst>
              <p:tags r:id="rId8"/>
            </p:custDataLst>
          </p:nvPr>
        </p:nvSpPr>
        <p:spPr bwMode="gray">
          <a:xfrm>
            <a:off x="4658355" y="5802183"/>
            <a:ext cx="4211303" cy="92333"/>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cs typeface="Arial" pitchFamily="34" charset="0"/>
              </a:rPr>
              <a:t>Source</a:t>
            </a:r>
            <a:r>
              <a:rPr lang="en-US" sz="600" i="1" dirty="0">
                <a:cs typeface="Arial" pitchFamily="34" charset="0"/>
              </a:rPr>
              <a:t>: </a:t>
            </a:r>
            <a:r>
              <a:rPr lang="en-US" sz="600" i="1" dirty="0" smtClean="0">
                <a:cs typeface="Arial" pitchFamily="34" charset="0"/>
              </a:rPr>
              <a:t> A.6 </a:t>
            </a:r>
            <a:r>
              <a:rPr lang="en-US" sz="600" i="1" dirty="0">
                <a:cs typeface="Arial" pitchFamily="34" charset="0"/>
              </a:rPr>
              <a:t>Atlas Equity Data Tape.xlsx</a:t>
            </a:r>
            <a:endParaRPr lang="en-US" sz="600" i="1" dirty="0" smtClean="0">
              <a:latin typeface="Arial"/>
              <a:cs typeface="Arial" pitchFamily="34" charset="0"/>
            </a:endParaRPr>
          </a:p>
        </p:txBody>
      </p:sp>
      <p:pic>
        <p:nvPicPr>
          <p:cNvPr id="3" name="Picture 2"/>
          <p:cNvPicPr>
            <a:picLocks noChangeAspect="1"/>
          </p:cNvPicPr>
          <p:nvPr/>
        </p:nvPicPr>
        <p:blipFill>
          <a:blip r:embed="rId14"/>
          <a:stretch>
            <a:fillRect/>
          </a:stretch>
        </p:blipFill>
        <p:spPr>
          <a:xfrm>
            <a:off x="123180" y="3587768"/>
            <a:ext cx="4449092" cy="2791015"/>
          </a:xfrm>
          <a:prstGeom prst="rect">
            <a:avLst/>
          </a:prstGeom>
        </p:spPr>
      </p:pic>
    </p:spTree>
    <p:extLst>
      <p:ext uri="{BB962C8B-B14F-4D97-AF65-F5344CB8AC3E}">
        <p14:creationId xmlns:p14="http://schemas.microsoft.com/office/powerpoint/2010/main" val="1847467000"/>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3"/>
          <p:cNvSpPr>
            <a:spLocks noGrp="1"/>
          </p:cNvSpPr>
          <p:nvPr>
            <p:ph type="title"/>
          </p:nvPr>
        </p:nvSpPr>
        <p:spPr>
          <a:xfrm>
            <a:off x="2123728" y="116632"/>
            <a:ext cx="6768752" cy="576064"/>
          </a:xfrm>
        </p:spPr>
        <p:txBody>
          <a:bodyPr/>
          <a:lstStyle/>
          <a:p>
            <a:r>
              <a:rPr lang="en-US" sz="1400" b="0" dirty="0" smtClean="0">
                <a:solidFill>
                  <a:srgbClr val="747678"/>
                </a:solidFill>
              </a:rPr>
              <a:t>Appendix 10</a:t>
            </a:r>
            <a:r>
              <a:rPr lang="en-US" dirty="0" smtClean="0"/>
              <a:t/>
            </a:r>
            <a:br>
              <a:rPr lang="en-US" dirty="0" smtClean="0"/>
            </a:br>
            <a:r>
              <a:rPr lang="en-US" dirty="0" smtClean="0"/>
              <a:t>Equity co-investments (2)</a:t>
            </a:r>
            <a:endParaRPr lang="en-US" dirty="0"/>
          </a:p>
        </p:txBody>
      </p:sp>
      <p:sp>
        <p:nvSpPr>
          <p:cNvPr id="17" name="Text Box 8"/>
          <p:cNvSpPr txBox="1">
            <a:spLocks noChangeArrowheads="1"/>
          </p:cNvSpPr>
          <p:nvPr>
            <p:custDataLst>
              <p:tags r:id="rId1"/>
            </p:custDataLst>
          </p:nvPr>
        </p:nvSpPr>
        <p:spPr bwMode="gray">
          <a:xfrm>
            <a:off x="265690" y="3324741"/>
            <a:ext cx="4211303" cy="92333"/>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cs typeface="Arial" pitchFamily="34" charset="0"/>
              </a:rPr>
              <a:t>Source</a:t>
            </a:r>
            <a:r>
              <a:rPr lang="en-US" sz="600" i="1" dirty="0">
                <a:cs typeface="Arial" pitchFamily="34" charset="0"/>
              </a:rPr>
              <a:t>: </a:t>
            </a:r>
            <a:r>
              <a:rPr lang="en-US" sz="600" i="1" dirty="0" smtClean="0">
                <a:cs typeface="Arial" pitchFamily="34" charset="0"/>
              </a:rPr>
              <a:t> 6.6.9 Equity Co-Investments Gains</a:t>
            </a:r>
            <a:endParaRPr lang="en-US" sz="600" i="1" dirty="0" smtClean="0">
              <a:latin typeface="Arial"/>
              <a:cs typeface="Arial" pitchFamily="34" charset="0"/>
            </a:endParaRPr>
          </a:p>
        </p:txBody>
      </p:sp>
      <p:pic>
        <p:nvPicPr>
          <p:cNvPr id="4" name="Picture 3"/>
          <p:cNvPicPr>
            <a:picLocks noChangeAspect="1"/>
          </p:cNvPicPr>
          <p:nvPr/>
        </p:nvPicPr>
        <p:blipFill>
          <a:blip r:embed="rId4"/>
          <a:stretch>
            <a:fillRect/>
          </a:stretch>
        </p:blipFill>
        <p:spPr>
          <a:xfrm>
            <a:off x="265690" y="1219200"/>
            <a:ext cx="4611110" cy="2096016"/>
          </a:xfrm>
          <a:prstGeom prst="rect">
            <a:avLst/>
          </a:prstGeom>
        </p:spPr>
      </p:pic>
    </p:spTree>
    <p:extLst>
      <p:ext uri="{BB962C8B-B14F-4D97-AF65-F5344CB8AC3E}">
        <p14:creationId xmlns:p14="http://schemas.microsoft.com/office/powerpoint/2010/main" val="1859774067"/>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3"/>
          <p:cNvSpPr>
            <a:spLocks noGrp="1"/>
          </p:cNvSpPr>
          <p:nvPr>
            <p:ph type="title"/>
          </p:nvPr>
        </p:nvSpPr>
        <p:spPr>
          <a:xfrm>
            <a:off x="2123728" y="116632"/>
            <a:ext cx="6768752" cy="576064"/>
          </a:xfrm>
        </p:spPr>
        <p:txBody>
          <a:bodyPr/>
          <a:lstStyle/>
          <a:p>
            <a:r>
              <a:rPr lang="en-US" sz="1400" b="0" dirty="0" smtClean="0">
                <a:solidFill>
                  <a:srgbClr val="747678"/>
                </a:solidFill>
              </a:rPr>
              <a:t>Appendix 11</a:t>
            </a:r>
            <a:r>
              <a:rPr lang="en-US" dirty="0" smtClean="0"/>
              <a:t/>
            </a:r>
            <a:br>
              <a:rPr lang="en-US" dirty="0" smtClean="0"/>
            </a:br>
            <a:r>
              <a:rPr lang="en-US" dirty="0" smtClean="0"/>
              <a:t>Portfolio yield</a:t>
            </a:r>
            <a:endParaRPr lang="en-US" dirty="0"/>
          </a:p>
        </p:txBody>
      </p:sp>
      <p:sp>
        <p:nvSpPr>
          <p:cNvPr id="18" name="Text Box 8"/>
          <p:cNvSpPr txBox="1">
            <a:spLocks noChangeArrowheads="1"/>
          </p:cNvSpPr>
          <p:nvPr>
            <p:custDataLst>
              <p:tags r:id="rId1"/>
            </p:custDataLst>
          </p:nvPr>
        </p:nvSpPr>
        <p:spPr bwMode="gray">
          <a:xfrm>
            <a:off x="228600" y="5486400"/>
            <a:ext cx="7848600" cy="682238"/>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r>
              <a:rPr lang="en-US" sz="600" i="1" dirty="0" smtClean="0">
                <a:latin typeface="Arial"/>
                <a:cs typeface="Arial" pitchFamily="34" charset="0"/>
              </a:rPr>
              <a:t> Source: 6.3 Atlas Preliminary Financial Information (05 11 2015) and Management Presentation (Financial Break-out). </a:t>
            </a:r>
          </a:p>
          <a:p>
            <a:pPr defTabSz="762000" eaLnBrk="0" hangingPunct="0">
              <a:spcBef>
                <a:spcPts val="200"/>
              </a:spcBef>
            </a:pPr>
            <a:r>
              <a:rPr lang="en-US" sz="600" i="1" dirty="0" smtClean="0">
                <a:latin typeface="Arial"/>
                <a:cs typeface="Arial" pitchFamily="34" charset="0"/>
              </a:rPr>
              <a:t>1. As per Management Presentation (Financial Break-out). Calculated as 5-point average.</a:t>
            </a:r>
          </a:p>
          <a:p>
            <a:pPr defTabSz="762000" eaLnBrk="0" hangingPunct="0">
              <a:spcBef>
                <a:spcPts val="200"/>
              </a:spcBef>
            </a:pPr>
            <a:r>
              <a:rPr lang="en-US" sz="600" i="1" dirty="0" smtClean="0">
                <a:latin typeface="Arial"/>
                <a:cs typeface="Arial" pitchFamily="34" charset="0"/>
              </a:rPr>
              <a:t>2. All yields calculated as income or fees divided by average receivables.</a:t>
            </a:r>
          </a:p>
          <a:p>
            <a:pPr defTabSz="762000" eaLnBrk="0" hangingPunct="0">
              <a:spcBef>
                <a:spcPts val="200"/>
              </a:spcBef>
            </a:pPr>
            <a:r>
              <a:rPr lang="en-US" sz="600" i="1" dirty="0" smtClean="0">
                <a:latin typeface="Arial"/>
                <a:cs typeface="Arial" pitchFamily="34" charset="0"/>
              </a:rPr>
              <a:t>3. Corresponds to management yield calculations. Difference of 2 bps due to rounding.</a:t>
            </a:r>
          </a:p>
          <a:p>
            <a:pPr defTabSz="762000" eaLnBrk="0" hangingPunct="0">
              <a:spcBef>
                <a:spcPts val="200"/>
              </a:spcBef>
            </a:pPr>
            <a:r>
              <a:rPr lang="en-US" sz="600" i="1" dirty="0" smtClean="0">
                <a:latin typeface="Arial"/>
                <a:cs typeface="Arial" pitchFamily="34" charset="0"/>
              </a:rPr>
              <a:t>4. Annualized.</a:t>
            </a:r>
          </a:p>
          <a:p>
            <a:pPr defTabSz="762000" eaLnBrk="0" hangingPunct="0">
              <a:spcBef>
                <a:spcPts val="200"/>
              </a:spcBef>
            </a:pPr>
            <a:r>
              <a:rPr lang="en-US" sz="600" i="1" dirty="0" smtClean="0">
                <a:latin typeface="Arial"/>
                <a:cs typeface="Arial" pitchFamily="34" charset="0"/>
              </a:rPr>
              <a:t>*Estimated.</a:t>
            </a:r>
          </a:p>
        </p:txBody>
      </p:sp>
      <p:pic>
        <p:nvPicPr>
          <p:cNvPr id="4" name="Picture 3"/>
          <p:cNvPicPr>
            <a:picLocks noChangeAspect="1"/>
          </p:cNvPicPr>
          <p:nvPr/>
        </p:nvPicPr>
        <p:blipFill>
          <a:blip r:embed="rId4"/>
          <a:stretch>
            <a:fillRect/>
          </a:stretch>
        </p:blipFill>
        <p:spPr>
          <a:xfrm>
            <a:off x="228600" y="1103821"/>
            <a:ext cx="4115702" cy="4382579"/>
          </a:xfrm>
          <a:prstGeom prst="rect">
            <a:avLst/>
          </a:prstGeom>
        </p:spPr>
      </p:pic>
    </p:spTree>
    <p:extLst>
      <p:ext uri="{BB962C8B-B14F-4D97-AF65-F5344CB8AC3E}">
        <p14:creationId xmlns:p14="http://schemas.microsoft.com/office/powerpoint/2010/main" val="168013197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3"/>
          <p:cNvSpPr>
            <a:spLocks noGrp="1"/>
          </p:cNvSpPr>
          <p:nvPr>
            <p:ph type="title"/>
          </p:nvPr>
        </p:nvSpPr>
        <p:spPr>
          <a:xfrm>
            <a:off x="2123728" y="116632"/>
            <a:ext cx="6768752" cy="576064"/>
          </a:xfrm>
        </p:spPr>
        <p:txBody>
          <a:bodyPr/>
          <a:lstStyle/>
          <a:p>
            <a:r>
              <a:rPr lang="en-US" sz="1400" b="0" dirty="0" smtClean="0">
                <a:solidFill>
                  <a:srgbClr val="747678"/>
                </a:solidFill>
              </a:rPr>
              <a:t>Appendix 11</a:t>
            </a:r>
            <a:r>
              <a:rPr lang="en-US" dirty="0" smtClean="0"/>
              <a:t/>
            </a:r>
            <a:br>
              <a:rPr lang="en-US" dirty="0" smtClean="0"/>
            </a:br>
            <a:r>
              <a:rPr lang="en-US" dirty="0" smtClean="0"/>
              <a:t>Portfolio yield (2)</a:t>
            </a:r>
            <a:endParaRPr lang="en-US" dirty="0"/>
          </a:p>
        </p:txBody>
      </p:sp>
      <p:pic>
        <p:nvPicPr>
          <p:cNvPr id="2" name="Picture 1"/>
          <p:cNvPicPr>
            <a:picLocks noChangeAspect="1"/>
          </p:cNvPicPr>
          <p:nvPr/>
        </p:nvPicPr>
        <p:blipFill>
          <a:blip r:embed="rId4"/>
          <a:stretch>
            <a:fillRect/>
          </a:stretch>
        </p:blipFill>
        <p:spPr>
          <a:xfrm>
            <a:off x="-91440" y="904240"/>
            <a:ext cx="6167436" cy="3568664"/>
          </a:xfrm>
          <a:prstGeom prst="rect">
            <a:avLst/>
          </a:prstGeom>
        </p:spPr>
      </p:pic>
      <p:sp>
        <p:nvSpPr>
          <p:cNvPr id="6" name="Text Box 8"/>
          <p:cNvSpPr txBox="1">
            <a:spLocks noChangeArrowheads="1"/>
          </p:cNvSpPr>
          <p:nvPr>
            <p:custDataLst>
              <p:tags r:id="rId1"/>
            </p:custDataLst>
          </p:nvPr>
        </p:nvSpPr>
        <p:spPr bwMode="gray">
          <a:xfrm>
            <a:off x="228600" y="3733800"/>
            <a:ext cx="4211303" cy="92333"/>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cs typeface="Arial" pitchFamily="34" charset="0"/>
              </a:rPr>
              <a:t>Source</a:t>
            </a:r>
            <a:r>
              <a:rPr lang="en-US" sz="600" i="1" dirty="0">
                <a:cs typeface="Arial" pitchFamily="34" charset="0"/>
              </a:rPr>
              <a:t>: </a:t>
            </a:r>
            <a:r>
              <a:rPr lang="en-US" sz="600" i="1" dirty="0" smtClean="0">
                <a:cs typeface="Arial" pitchFamily="34" charset="0"/>
              </a:rPr>
              <a:t> 6.5.13 2014 Yield with Upfront Add-back</a:t>
            </a:r>
            <a:endParaRPr lang="en-US" sz="600" i="1" dirty="0" smtClean="0">
              <a:latin typeface="Arial"/>
              <a:cs typeface="Arial" pitchFamily="34" charset="0"/>
            </a:endParaRPr>
          </a:p>
        </p:txBody>
      </p:sp>
    </p:spTree>
    <p:extLst>
      <p:ext uri="{BB962C8B-B14F-4D97-AF65-F5344CB8AC3E}">
        <p14:creationId xmlns:p14="http://schemas.microsoft.com/office/powerpoint/2010/main" val="1540248047"/>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3"/>
          <p:cNvSpPr>
            <a:spLocks noGrp="1"/>
          </p:cNvSpPr>
          <p:nvPr>
            <p:ph type="title"/>
          </p:nvPr>
        </p:nvSpPr>
        <p:spPr>
          <a:xfrm>
            <a:off x="2123728" y="116632"/>
            <a:ext cx="6768752" cy="576064"/>
          </a:xfrm>
        </p:spPr>
        <p:txBody>
          <a:bodyPr/>
          <a:lstStyle/>
          <a:p>
            <a:r>
              <a:rPr lang="en-US" sz="1400" b="0" dirty="0" smtClean="0">
                <a:solidFill>
                  <a:srgbClr val="747678"/>
                </a:solidFill>
              </a:rPr>
              <a:t>Appendix 11</a:t>
            </a:r>
            <a:r>
              <a:rPr lang="en-US" dirty="0" smtClean="0"/>
              <a:t/>
            </a:r>
            <a:br>
              <a:rPr lang="en-US" dirty="0" smtClean="0"/>
            </a:br>
            <a:r>
              <a:rPr lang="en-US" dirty="0" smtClean="0"/>
              <a:t>Portfolio yield (3)</a:t>
            </a:r>
            <a:endParaRPr lang="en-US" dirty="0"/>
          </a:p>
        </p:txBody>
      </p:sp>
      <p:sp>
        <p:nvSpPr>
          <p:cNvPr id="6" name="Text Box 8"/>
          <p:cNvSpPr txBox="1">
            <a:spLocks noChangeArrowheads="1"/>
          </p:cNvSpPr>
          <p:nvPr>
            <p:custDataLst>
              <p:tags r:id="rId1"/>
            </p:custDataLst>
          </p:nvPr>
        </p:nvSpPr>
        <p:spPr bwMode="gray">
          <a:xfrm>
            <a:off x="76200" y="5365492"/>
            <a:ext cx="4211303" cy="92333"/>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cs typeface="Arial" pitchFamily="34" charset="0"/>
              </a:rPr>
              <a:t>Source</a:t>
            </a:r>
            <a:r>
              <a:rPr lang="en-US" sz="600" i="1" dirty="0">
                <a:cs typeface="Arial" pitchFamily="34" charset="0"/>
              </a:rPr>
              <a:t>: </a:t>
            </a:r>
            <a:r>
              <a:rPr lang="en-US" sz="600" i="1" dirty="0" smtClean="0">
                <a:cs typeface="Arial" pitchFamily="34" charset="0"/>
              </a:rPr>
              <a:t> “Historical Platform Yield (05 28 2015)” and 6.5.1 Atlas Detailed Financials (05 11 2015).</a:t>
            </a:r>
            <a:endParaRPr lang="en-US" sz="600" i="1" dirty="0" smtClean="0">
              <a:latin typeface="Arial"/>
              <a:cs typeface="Arial" pitchFamily="34" charset="0"/>
            </a:endParaRPr>
          </a:p>
        </p:txBody>
      </p:sp>
      <p:pic>
        <p:nvPicPr>
          <p:cNvPr id="2" name="Picture 1"/>
          <p:cNvPicPr>
            <a:picLocks noChangeAspect="1"/>
          </p:cNvPicPr>
          <p:nvPr/>
        </p:nvPicPr>
        <p:blipFill>
          <a:blip r:embed="rId4"/>
          <a:stretch>
            <a:fillRect/>
          </a:stretch>
        </p:blipFill>
        <p:spPr>
          <a:xfrm>
            <a:off x="76200" y="1143000"/>
            <a:ext cx="8963719" cy="4219979"/>
          </a:xfrm>
          <a:prstGeom prst="rect">
            <a:avLst/>
          </a:prstGeom>
        </p:spPr>
      </p:pic>
    </p:spTree>
    <p:extLst>
      <p:ext uri="{BB962C8B-B14F-4D97-AF65-F5344CB8AC3E}">
        <p14:creationId xmlns:p14="http://schemas.microsoft.com/office/powerpoint/2010/main" val="3287657839"/>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3"/>
          <p:cNvSpPr>
            <a:spLocks noGrp="1"/>
          </p:cNvSpPr>
          <p:nvPr>
            <p:ph type="title"/>
          </p:nvPr>
        </p:nvSpPr>
        <p:spPr>
          <a:xfrm>
            <a:off x="2123728" y="116632"/>
            <a:ext cx="6768752" cy="576064"/>
          </a:xfrm>
        </p:spPr>
        <p:txBody>
          <a:bodyPr/>
          <a:lstStyle/>
          <a:p>
            <a:r>
              <a:rPr lang="en-US" sz="1400" b="0" dirty="0" smtClean="0">
                <a:solidFill>
                  <a:srgbClr val="747678"/>
                </a:solidFill>
              </a:rPr>
              <a:t>Appendix 11</a:t>
            </a:r>
            <a:r>
              <a:rPr lang="en-US" dirty="0" smtClean="0"/>
              <a:t/>
            </a:r>
            <a:br>
              <a:rPr lang="en-US" dirty="0" smtClean="0"/>
            </a:br>
            <a:r>
              <a:rPr lang="en-US" dirty="0" smtClean="0"/>
              <a:t>Portfolio yield (4)</a:t>
            </a:r>
            <a:endParaRPr lang="en-US" dirty="0"/>
          </a:p>
        </p:txBody>
      </p:sp>
      <p:pic>
        <p:nvPicPr>
          <p:cNvPr id="2" name="Picture 1"/>
          <p:cNvPicPr>
            <a:picLocks noChangeAspect="1"/>
          </p:cNvPicPr>
          <p:nvPr/>
        </p:nvPicPr>
        <p:blipFill>
          <a:blip r:embed="rId10"/>
          <a:stretch>
            <a:fillRect/>
          </a:stretch>
        </p:blipFill>
        <p:spPr>
          <a:xfrm>
            <a:off x="263981" y="1211036"/>
            <a:ext cx="7531711" cy="2607564"/>
          </a:xfrm>
          <a:prstGeom prst="rect">
            <a:avLst/>
          </a:prstGeom>
        </p:spPr>
      </p:pic>
      <p:sp>
        <p:nvSpPr>
          <p:cNvPr id="5" name="Rectangle 4"/>
          <p:cNvSpPr txBox="1">
            <a:spLocks noChangeArrowheads="1"/>
          </p:cNvSpPr>
          <p:nvPr>
            <p:custDataLst>
              <p:tags r:id="rId1"/>
            </p:custDataLst>
          </p:nvPr>
        </p:nvSpPr>
        <p:spPr bwMode="gray">
          <a:xfrm>
            <a:off x="7848600" y="1446096"/>
            <a:ext cx="990600" cy="304800"/>
          </a:xfrm>
          <a:prstGeom prst="rect">
            <a:avLst/>
          </a:prstGeom>
          <a:solidFill>
            <a:srgbClr val="F5DB7E"/>
          </a:solidFill>
          <a:ln w="6350">
            <a:solidFill>
              <a:schemeClr val="accent6"/>
            </a:solidFill>
            <a:miter lim="800000"/>
            <a:headEnd/>
            <a:tailEnd/>
          </a:ln>
          <a:effectLst/>
        </p:spPr>
        <p:txBody>
          <a:bodyPr vert="horz" lIns="54000" tIns="54000" rIns="54000" bIns="54000" rtlCol="0" anchor="ctr" anchorCtr="1">
            <a:noAutofit/>
          </a:bodyPr>
          <a:lstStyle/>
          <a:p>
            <a:pPr indent="-114300" algn="ctr" defTabSz="762000" eaLnBrk="0" hangingPunct="0">
              <a:lnSpc>
                <a:spcPct val="90000"/>
              </a:lnSpc>
              <a:spcBef>
                <a:spcPts val="600"/>
              </a:spcBef>
            </a:pPr>
            <a:r>
              <a:rPr lang="en-GB" sz="800" dirty="0" smtClean="0">
                <a:solidFill>
                  <a:schemeClr val="accent4"/>
                </a:solidFill>
              </a:rPr>
              <a:t>Yield not defined in source document.</a:t>
            </a:r>
            <a:endParaRPr lang="en-GB" sz="800" b="1" dirty="0">
              <a:solidFill>
                <a:srgbClr val="FF0000"/>
              </a:solidFill>
            </a:endParaRPr>
          </a:p>
        </p:txBody>
      </p:sp>
      <p:sp>
        <p:nvSpPr>
          <p:cNvPr id="9" name="Rounded Rectangle 8"/>
          <p:cNvSpPr/>
          <p:nvPr>
            <p:custDataLst>
              <p:tags r:id="rId2"/>
            </p:custDataLst>
          </p:nvPr>
        </p:nvSpPr>
        <p:spPr bwMode="gray">
          <a:xfrm rot="5400000">
            <a:off x="6927432" y="1509432"/>
            <a:ext cx="172032" cy="615696"/>
          </a:xfrm>
          <a:prstGeom prst="roundRect">
            <a:avLst>
              <a:gd name="adj" fmla="val 26588"/>
            </a:avLst>
          </a:prstGeom>
          <a:noFill/>
          <a:ln w="12700">
            <a:solidFill>
              <a:srgbClr val="9E303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dirty="0"/>
          </a:p>
        </p:txBody>
      </p:sp>
      <p:sp>
        <p:nvSpPr>
          <p:cNvPr id="10" name="Rounded Rectangle 9"/>
          <p:cNvSpPr/>
          <p:nvPr>
            <p:custDataLst>
              <p:tags r:id="rId3"/>
            </p:custDataLst>
          </p:nvPr>
        </p:nvSpPr>
        <p:spPr bwMode="gray">
          <a:xfrm rot="5400000">
            <a:off x="7470648" y="2033016"/>
            <a:ext cx="426720" cy="176784"/>
          </a:xfrm>
          <a:prstGeom prst="roundRect">
            <a:avLst>
              <a:gd name="adj" fmla="val 26588"/>
            </a:avLst>
          </a:prstGeom>
          <a:noFill/>
          <a:ln w="12700">
            <a:solidFill>
              <a:srgbClr val="9E303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dirty="0"/>
          </a:p>
        </p:txBody>
      </p:sp>
      <p:sp>
        <p:nvSpPr>
          <p:cNvPr id="12" name="Text Box 8"/>
          <p:cNvSpPr txBox="1">
            <a:spLocks noChangeArrowheads="1"/>
          </p:cNvSpPr>
          <p:nvPr>
            <p:custDataLst>
              <p:tags r:id="rId4"/>
            </p:custDataLst>
          </p:nvPr>
        </p:nvSpPr>
        <p:spPr bwMode="gray">
          <a:xfrm>
            <a:off x="250451" y="3826753"/>
            <a:ext cx="4211303" cy="92333"/>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cs typeface="Arial" pitchFamily="34" charset="0"/>
              </a:rPr>
              <a:t>Source</a:t>
            </a:r>
            <a:r>
              <a:rPr lang="en-US" sz="600" i="1" dirty="0">
                <a:cs typeface="Arial" pitchFamily="34" charset="0"/>
              </a:rPr>
              <a:t>: </a:t>
            </a:r>
            <a:r>
              <a:rPr lang="en-US" sz="600" i="1" dirty="0" smtClean="0">
                <a:cs typeface="Arial" pitchFamily="34" charset="0"/>
              </a:rPr>
              <a:t> 5.1.1.2 Atlas Core Antares Loan Tape</a:t>
            </a:r>
            <a:endParaRPr lang="en-US" sz="600" i="1" dirty="0" smtClean="0">
              <a:latin typeface="Arial"/>
              <a:cs typeface="Arial" pitchFamily="34" charset="0"/>
            </a:endParaRPr>
          </a:p>
        </p:txBody>
      </p:sp>
      <p:sp>
        <p:nvSpPr>
          <p:cNvPr id="15" name="Rectangle 4"/>
          <p:cNvSpPr txBox="1">
            <a:spLocks noChangeArrowheads="1"/>
          </p:cNvSpPr>
          <p:nvPr>
            <p:custDataLst>
              <p:tags r:id="rId5"/>
            </p:custDataLst>
          </p:nvPr>
        </p:nvSpPr>
        <p:spPr bwMode="gray">
          <a:xfrm>
            <a:off x="7848600" y="2616379"/>
            <a:ext cx="990600" cy="1182942"/>
          </a:xfrm>
          <a:prstGeom prst="rect">
            <a:avLst/>
          </a:prstGeom>
          <a:solidFill>
            <a:srgbClr val="F5DB7E"/>
          </a:solidFill>
          <a:ln w="6350">
            <a:solidFill>
              <a:schemeClr val="accent6"/>
            </a:solidFill>
            <a:miter lim="800000"/>
            <a:headEnd/>
            <a:tailEnd/>
          </a:ln>
          <a:effectLst/>
        </p:spPr>
        <p:txBody>
          <a:bodyPr vert="horz" lIns="54000" tIns="54000" rIns="54000" bIns="54000" rtlCol="0" anchor="ctr" anchorCtr="1">
            <a:noAutofit/>
          </a:bodyPr>
          <a:lstStyle/>
          <a:p>
            <a:pPr indent="-114300" algn="ctr" defTabSz="762000" eaLnBrk="0" hangingPunct="0">
              <a:lnSpc>
                <a:spcPct val="90000"/>
              </a:lnSpc>
              <a:spcBef>
                <a:spcPts val="600"/>
              </a:spcBef>
            </a:pPr>
            <a:r>
              <a:rPr lang="en-GB" sz="800" dirty="0" smtClean="0">
                <a:solidFill>
                  <a:schemeClr val="accent4"/>
                </a:solidFill>
              </a:rPr>
              <a:t>We note that these maturities in the source document are incorrect, possibly because the source document has not been updated for refinancing of these loans.</a:t>
            </a:r>
            <a:endParaRPr lang="en-GB" sz="800" b="1" dirty="0">
              <a:solidFill>
                <a:srgbClr val="FF0000"/>
              </a:solidFill>
            </a:endParaRPr>
          </a:p>
        </p:txBody>
      </p:sp>
      <p:cxnSp>
        <p:nvCxnSpPr>
          <p:cNvPr id="18" name="Elbow Connector 17"/>
          <p:cNvCxnSpPr/>
          <p:nvPr/>
        </p:nvCxnSpPr>
        <p:spPr>
          <a:xfrm rot="10800000" flipV="1">
            <a:off x="7321296" y="1598496"/>
            <a:ext cx="527304" cy="152400"/>
          </a:xfrm>
          <a:prstGeom prst="bentConnector3">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Elbow Connector 23"/>
          <p:cNvCxnSpPr>
            <a:stCxn id="15" idx="0"/>
          </p:cNvCxnSpPr>
          <p:nvPr/>
        </p:nvCxnSpPr>
        <p:spPr>
          <a:xfrm rot="16200000" flipV="1">
            <a:off x="7845593" y="2118072"/>
            <a:ext cx="478023" cy="518592"/>
          </a:xfrm>
          <a:prstGeom prst="bentConnector2">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1" name="Rounded Rectangle 10"/>
          <p:cNvSpPr/>
          <p:nvPr>
            <p:custDataLst>
              <p:tags r:id="rId6"/>
            </p:custDataLst>
          </p:nvPr>
        </p:nvSpPr>
        <p:spPr bwMode="gray">
          <a:xfrm rot="5400000">
            <a:off x="2888832" y="3263735"/>
            <a:ext cx="172032" cy="615696"/>
          </a:xfrm>
          <a:prstGeom prst="roundRect">
            <a:avLst>
              <a:gd name="adj" fmla="val 26588"/>
            </a:avLst>
          </a:prstGeom>
          <a:noFill/>
          <a:ln w="12700">
            <a:solidFill>
              <a:srgbClr val="9E303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dirty="0"/>
          </a:p>
        </p:txBody>
      </p:sp>
      <p:sp>
        <p:nvSpPr>
          <p:cNvPr id="14" name="Rectangle 4"/>
          <p:cNvSpPr txBox="1">
            <a:spLocks noChangeArrowheads="1"/>
          </p:cNvSpPr>
          <p:nvPr>
            <p:custDataLst>
              <p:tags r:id="rId7"/>
            </p:custDataLst>
          </p:nvPr>
        </p:nvSpPr>
        <p:spPr bwMode="gray">
          <a:xfrm>
            <a:off x="2516642" y="4343400"/>
            <a:ext cx="1674358" cy="914400"/>
          </a:xfrm>
          <a:prstGeom prst="rect">
            <a:avLst/>
          </a:prstGeom>
          <a:solidFill>
            <a:srgbClr val="F5DB7E"/>
          </a:solidFill>
          <a:ln w="6350">
            <a:solidFill>
              <a:schemeClr val="accent6"/>
            </a:solidFill>
            <a:miter lim="800000"/>
            <a:headEnd/>
            <a:tailEnd/>
          </a:ln>
          <a:effectLst/>
        </p:spPr>
        <p:txBody>
          <a:bodyPr vert="horz" lIns="54000" tIns="54000" rIns="54000" bIns="54000" rtlCol="0" anchor="ctr" anchorCtr="1">
            <a:noAutofit/>
          </a:bodyPr>
          <a:lstStyle/>
          <a:p>
            <a:pPr indent="-114300" algn="ctr" defTabSz="762000" eaLnBrk="0" hangingPunct="0">
              <a:lnSpc>
                <a:spcPct val="90000"/>
              </a:lnSpc>
              <a:spcBef>
                <a:spcPts val="600"/>
              </a:spcBef>
            </a:pPr>
            <a:r>
              <a:rPr lang="en-GB" sz="800" dirty="0" smtClean="0">
                <a:solidFill>
                  <a:schemeClr val="accent4"/>
                </a:solidFill>
              </a:rPr>
              <a:t>Included within this amount are SSLP and MMGP Senior Debt + Equity and Golden Hill CLO assets. All these assets were erroneously assigned a maturity of 2024 regardless of actual maturity year, giving rise to this large balance. </a:t>
            </a:r>
            <a:endParaRPr lang="en-GB" sz="800" b="1" dirty="0">
              <a:solidFill>
                <a:srgbClr val="FF0000"/>
              </a:solidFill>
            </a:endParaRPr>
          </a:p>
        </p:txBody>
      </p:sp>
      <p:cxnSp>
        <p:nvCxnSpPr>
          <p:cNvPr id="16" name="Elbow Connector 15"/>
          <p:cNvCxnSpPr>
            <a:stCxn id="14" idx="0"/>
          </p:cNvCxnSpPr>
          <p:nvPr/>
        </p:nvCxnSpPr>
        <p:spPr>
          <a:xfrm rot="16200000" flipV="1">
            <a:off x="2926171" y="3915750"/>
            <a:ext cx="703924" cy="151376"/>
          </a:xfrm>
          <a:prstGeom prst="bentConnector3">
            <a:avLst>
              <a:gd name="adj1" fmla="val 50000"/>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2107130"/>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Title 1"/>
          <p:cNvSpPr>
            <a:spLocks noGrp="1"/>
          </p:cNvSpPr>
          <p:nvPr>
            <p:ph type="title"/>
          </p:nvPr>
        </p:nvSpPr>
        <p:spPr>
          <a:xfrm>
            <a:off x="2123728" y="116632"/>
            <a:ext cx="6768226" cy="576064"/>
          </a:xfrm>
        </p:spPr>
        <p:txBody>
          <a:bodyPr/>
          <a:lstStyle/>
          <a:p>
            <a:r>
              <a:rPr lang="en-US" sz="1400" b="0" dirty="0" smtClean="0">
                <a:solidFill>
                  <a:srgbClr val="747678"/>
                </a:solidFill>
              </a:rPr>
              <a:t>Appendix 12</a:t>
            </a:r>
            <a:r>
              <a:rPr lang="en-US" dirty="0" smtClean="0"/>
              <a:t/>
            </a:r>
            <a:br>
              <a:rPr lang="en-US" dirty="0" smtClean="0"/>
            </a:br>
            <a:r>
              <a:rPr lang="en-US" dirty="0" smtClean="0"/>
              <a:t>Illustrative loan economics</a:t>
            </a:r>
            <a:endParaRPr lang="en-US" dirty="0"/>
          </a:p>
        </p:txBody>
      </p:sp>
      <p:graphicFrame>
        <p:nvGraphicFramePr>
          <p:cNvPr id="73" name="Group 3"/>
          <p:cNvGraphicFramePr>
            <a:graphicFrameLocks noGrp="1"/>
          </p:cNvGraphicFramePr>
          <p:nvPr>
            <p:custDataLst>
              <p:tags r:id="rId1"/>
            </p:custDataLst>
            <p:extLst>
              <p:ext uri="{D42A27DB-BD31-4B8C-83A1-F6EECF244321}">
                <p14:modId xmlns:p14="http://schemas.microsoft.com/office/powerpoint/2010/main" val="705140430"/>
              </p:ext>
            </p:extLst>
          </p:nvPr>
        </p:nvGraphicFramePr>
        <p:xfrm>
          <a:off x="228600" y="2737920"/>
          <a:ext cx="8663354" cy="3586680"/>
        </p:xfrm>
        <a:graphic>
          <a:graphicData uri="http://schemas.openxmlformats.org/drawingml/2006/table">
            <a:tbl>
              <a:tblPr/>
              <a:tblGrid>
                <a:gridCol w="1219200"/>
                <a:gridCol w="7444154"/>
              </a:tblGrid>
              <a:tr h="245160">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900" b="1" i="0" u="none" strike="noStrike" cap="none" normalizeH="0" baseline="0" dirty="0" smtClean="0">
                          <a:ln>
                            <a:noFill/>
                          </a:ln>
                          <a:solidFill>
                            <a:schemeClr val="bg1"/>
                          </a:solidFill>
                          <a:effectLst/>
                          <a:latin typeface="Arial"/>
                          <a:cs typeface="Arial" pitchFamily="34" charset="0"/>
                        </a:rPr>
                        <a:t>Event / Period</a:t>
                      </a:r>
                    </a:p>
                  </a:txBody>
                  <a:tcPr marL="54000" marR="54000" marT="54000" marB="54000" anchor="b"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c>
                  <a:txBody>
                    <a:bodyPr/>
                    <a:lstStyle/>
                    <a:p>
                      <a:pPr marL="0" marR="0" lvl="4" indent="0" algn="l" defTabSz="914400" rtl="0" eaLnBrk="1" fontAlgn="auto" latinLnBrk="0" hangingPunct="1">
                        <a:lnSpc>
                          <a:spcPct val="100000"/>
                        </a:lnSpc>
                        <a:spcBef>
                          <a:spcPts val="600"/>
                        </a:spcBef>
                        <a:spcAft>
                          <a:spcPts val="0"/>
                        </a:spcAft>
                        <a:buClr>
                          <a:srgbClr val="97989A"/>
                        </a:buClr>
                        <a:buSzTx/>
                        <a:buFont typeface="Arial" pitchFamily="34" charset="0"/>
                        <a:buNone/>
                        <a:tabLst/>
                        <a:defRPr/>
                      </a:pPr>
                      <a:r>
                        <a:rPr kumimoji="0" lang="en-US" sz="900" b="1" i="0" u="none" strike="noStrike" kern="1200" cap="none" spc="0" normalizeH="0" baseline="0" noProof="0" dirty="0" smtClean="0">
                          <a:ln>
                            <a:noFill/>
                          </a:ln>
                          <a:solidFill>
                            <a:schemeClr val="bg1"/>
                          </a:solidFill>
                          <a:effectLst/>
                          <a:uLnTx/>
                          <a:uFillTx/>
                          <a:latin typeface="Arial"/>
                          <a:ea typeface="+mn-ea"/>
                          <a:cs typeface="Arial" pitchFamily="34" charset="0"/>
                        </a:rPr>
                        <a:t>Accounting  Implications</a:t>
                      </a:r>
                    </a:p>
                  </a:txBody>
                  <a:tcPr marL="54000" marR="54000" marT="54000" marB="54000" anchor="b"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rgbClr val="409DAD"/>
                    </a:solidFill>
                  </a:tcPr>
                </a:tc>
              </a:tr>
              <a:tr h="671880">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900" b="1" i="0" u="none" strike="noStrike" cap="none" normalizeH="0" baseline="0" dirty="0" smtClean="0">
                          <a:ln>
                            <a:noFill/>
                          </a:ln>
                          <a:solidFill>
                            <a:schemeClr val="accent4"/>
                          </a:solidFill>
                          <a:effectLst/>
                          <a:latin typeface="Arial"/>
                          <a:cs typeface="Arial" pitchFamily="34" charset="0"/>
                        </a:rPr>
                        <a:t>January 1, 201x – loan is issued</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kumimoji="0" lang="en-US" sz="900" b="0" i="0" u="none" strike="noStrike" kern="1200" cap="none" spc="0" normalizeH="0" baseline="0" noProof="0" dirty="0" smtClean="0">
                          <a:ln>
                            <a:noFill/>
                          </a:ln>
                          <a:solidFill>
                            <a:srgbClr val="000000"/>
                          </a:solidFill>
                          <a:effectLst/>
                          <a:uLnTx/>
                          <a:uFillTx/>
                          <a:latin typeface="Arial"/>
                          <a:ea typeface="+mn-ea"/>
                          <a:cs typeface="Arial" pitchFamily="34" charset="0"/>
                        </a:rPr>
                        <a:t>Recognize the loan and corresponding cash outlay of $40 million</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kumimoji="0" lang="en-US" sz="900" b="0" i="0" u="none" strike="noStrike" kern="1200" cap="none" spc="0" normalizeH="0" baseline="0" noProof="0" dirty="0" smtClean="0">
                          <a:ln>
                            <a:noFill/>
                          </a:ln>
                          <a:solidFill>
                            <a:srgbClr val="000000"/>
                          </a:solidFill>
                          <a:effectLst/>
                          <a:uLnTx/>
                          <a:uFillTx/>
                          <a:latin typeface="Arial"/>
                          <a:ea typeface="+mn-ea"/>
                          <a:cs typeface="Arial" pitchFamily="34" charset="0"/>
                        </a:rPr>
                        <a:t>Recognize syndication fees of $2 million in “Upfront fees”</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kumimoji="0" lang="en-US" sz="900" b="0" i="0" u="none" strike="noStrike" kern="1200" cap="none" spc="0" normalizeH="0" baseline="0" noProof="0" dirty="0" smtClean="0">
                          <a:ln>
                            <a:noFill/>
                          </a:ln>
                          <a:solidFill>
                            <a:srgbClr val="000000"/>
                          </a:solidFill>
                          <a:effectLst/>
                          <a:uLnTx/>
                          <a:uFillTx/>
                          <a:latin typeface="Arial"/>
                          <a:ea typeface="+mn-ea"/>
                          <a:cs typeface="Arial" pitchFamily="34" charset="0"/>
                        </a:rPr>
                        <a:t>Closing fees received on hold amount ($400,000) and direct loan origination costs paid ($100,000) to be deferred</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r>
              <a:tr h="408840">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900" b="1" i="0" u="none" strike="noStrike" cap="none" normalizeH="0" baseline="0" dirty="0" smtClean="0">
                          <a:ln>
                            <a:noFill/>
                          </a:ln>
                          <a:solidFill>
                            <a:schemeClr val="accent4"/>
                          </a:solidFill>
                          <a:effectLst/>
                          <a:latin typeface="Arial"/>
                          <a:cs typeface="Arial" pitchFamily="34" charset="0"/>
                        </a:rPr>
                        <a:t>December 31, 201x – years 1 and 2</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kumimoji="0" lang="en-US" sz="900" b="0" i="0" u="none" strike="noStrike" kern="1200" cap="none" spc="0" normalizeH="0" baseline="0" noProof="0" dirty="0" smtClean="0">
                          <a:ln>
                            <a:noFill/>
                          </a:ln>
                          <a:solidFill>
                            <a:srgbClr val="000000"/>
                          </a:solidFill>
                          <a:effectLst/>
                          <a:uLnTx/>
                          <a:uFillTx/>
                          <a:latin typeface="Arial"/>
                          <a:ea typeface="+mn-ea"/>
                          <a:cs typeface="Arial" pitchFamily="34" charset="0"/>
                        </a:rPr>
                        <a:t>Recognize interest income ($2.2 million) over the period, and amortization of deferred closing fees ($80,000) and costs ($20,000) associated with the loan against yield</a:t>
                      </a:r>
                    </a:p>
                    <a:p>
                      <a:pPr marL="355600" marR="0" lvl="3"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noProof="0" dirty="0" smtClean="0">
                          <a:solidFill>
                            <a:srgbClr val="000000"/>
                          </a:solidFill>
                          <a:latin typeface="Arial"/>
                          <a:ea typeface="+mn-ea"/>
                          <a:cs typeface="Arial" pitchFamily="34" charset="0"/>
                        </a:rPr>
                        <a:t>Amortization of deferred fees is recorded within “Deferred Fee Amortization”; amortization of deferred costs is recorded within “FAS 91 Expense Amortization” – both components of interest income</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kumimoji="0" lang="en-US" sz="900" b="0" i="0" u="none" strike="noStrike" kern="1200" cap="none" spc="0" normalizeH="0" baseline="0" noProof="0" dirty="0" smtClean="0">
                          <a:ln>
                            <a:noFill/>
                          </a:ln>
                          <a:solidFill>
                            <a:srgbClr val="000000"/>
                          </a:solidFill>
                          <a:effectLst/>
                          <a:uLnTx/>
                          <a:uFillTx/>
                          <a:latin typeface="Arial"/>
                          <a:ea typeface="+mn-ea"/>
                          <a:cs typeface="Arial" pitchFamily="34" charset="0"/>
                        </a:rPr>
                        <a:t>Recognize administration income ($50,000) earned during each year in “Other Fee Income”</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r>
              <a:tr h="1098600">
                <a:tc>
                  <a:txBody>
                    <a:bodyPr/>
                    <a:lstStyle/>
                    <a:p>
                      <a:pPr marL="0" marR="0" lvl="0" indent="0" algn="l" defTabSz="762000" rtl="0" eaLnBrk="1" fontAlgn="base" latinLnBrk="0" hangingPunct="1">
                        <a:lnSpc>
                          <a:spcPct val="100000"/>
                        </a:lnSpc>
                        <a:spcBef>
                          <a:spcPts val="600"/>
                        </a:spcBef>
                        <a:spcAft>
                          <a:spcPct val="0"/>
                        </a:spcAft>
                        <a:buClrTx/>
                        <a:buSzTx/>
                        <a:buFontTx/>
                        <a:buNone/>
                        <a:tabLst/>
                      </a:pPr>
                      <a:r>
                        <a:rPr kumimoji="0" lang="en-US" sz="900" b="1" i="0" u="none" strike="noStrike" cap="none" normalizeH="0" baseline="0" dirty="0" smtClean="0">
                          <a:ln>
                            <a:noFill/>
                          </a:ln>
                          <a:solidFill>
                            <a:schemeClr val="accent4"/>
                          </a:solidFill>
                          <a:effectLst/>
                          <a:latin typeface="Arial"/>
                          <a:cs typeface="Arial" pitchFamily="34" charset="0"/>
                        </a:rPr>
                        <a:t>December 31, 201x – year 3</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kumimoji="0" lang="en-US" sz="900" b="0" i="0" u="none" strike="noStrike" kern="1200" cap="none" spc="0" normalizeH="0" baseline="0" noProof="0" dirty="0" smtClean="0">
                          <a:ln>
                            <a:noFill/>
                          </a:ln>
                          <a:solidFill>
                            <a:srgbClr val="000000"/>
                          </a:solidFill>
                          <a:effectLst/>
                          <a:uLnTx/>
                          <a:uFillTx/>
                          <a:latin typeface="+mn-lt"/>
                          <a:ea typeface="+mn-ea"/>
                          <a:cs typeface="Arial" pitchFamily="34" charset="0"/>
                        </a:rPr>
                        <a:t>Recognize interest income ($2.2 million) over the period, and amortization of closing fees ($80,000) and costs ($20,000) associated with the loan against yield</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kumimoji="0" lang="en-US" sz="900" b="0" i="0" u="none" strike="noStrike" kern="1200" cap="none" spc="0" normalizeH="0" baseline="0" noProof="0" dirty="0" smtClean="0">
                          <a:ln>
                            <a:noFill/>
                          </a:ln>
                          <a:solidFill>
                            <a:srgbClr val="000000"/>
                          </a:solidFill>
                          <a:effectLst/>
                          <a:uLnTx/>
                          <a:uFillTx/>
                          <a:latin typeface="+mn-lt"/>
                          <a:ea typeface="+mn-ea"/>
                          <a:cs typeface="Arial" pitchFamily="34" charset="0"/>
                        </a:rPr>
                        <a:t>Recognize administration income ($50,000) earned during the year</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kumimoji="0" lang="en-US" sz="900" b="0" i="0" u="none" strike="noStrike" kern="1200" cap="none" spc="0" normalizeH="0" baseline="0" noProof="0" dirty="0" smtClean="0">
                          <a:ln>
                            <a:noFill/>
                          </a:ln>
                          <a:solidFill>
                            <a:srgbClr val="000000"/>
                          </a:solidFill>
                          <a:effectLst/>
                          <a:uLnTx/>
                          <a:uFillTx/>
                          <a:latin typeface="Arial"/>
                          <a:ea typeface="+mn-ea"/>
                          <a:cs typeface="Arial" pitchFamily="34" charset="0"/>
                        </a:rPr>
                        <a:t>Recognize cash receipts of $40 million and corresponding extinguishment of the loan</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kumimoji="0" lang="en-US" sz="900" b="0" i="0" u="none" strike="noStrike" kern="1200" cap="none" spc="0" normalizeH="0" baseline="0" noProof="0" dirty="0" smtClean="0">
                          <a:ln>
                            <a:noFill/>
                          </a:ln>
                          <a:solidFill>
                            <a:srgbClr val="000000"/>
                          </a:solidFill>
                          <a:effectLst/>
                          <a:uLnTx/>
                          <a:uFillTx/>
                          <a:latin typeface="+mn-lt"/>
                          <a:ea typeface="+mn-ea"/>
                          <a:cs typeface="Arial" pitchFamily="34" charset="0"/>
                        </a:rPr>
                        <a:t>Recognize unamortized deferred closing fees ($160,000) and costs ($40,000) associated with the loan</a:t>
                      </a:r>
                    </a:p>
                    <a:p>
                      <a:pPr marL="355600" marR="0" lvl="3"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lang="en-US" sz="900" b="0" kern="1200" noProof="0" dirty="0" smtClean="0">
                          <a:solidFill>
                            <a:srgbClr val="000000"/>
                          </a:solidFill>
                          <a:latin typeface="Arial"/>
                          <a:ea typeface="+mn-ea"/>
                          <a:cs typeface="Arial" pitchFamily="34" charset="0"/>
                        </a:rPr>
                        <a:t>Recognition of unamortized deferred fees in “Sweeps”; recognition of unamortized deferred costs in “FAS 91 Expense Amortization” – both components of interest income</a:t>
                      </a:r>
                    </a:p>
                    <a:p>
                      <a:pPr marL="177800" marR="0" lvl="2" indent="-177800" algn="l" defTabSz="914400" rtl="0" eaLnBrk="1" fontAlgn="auto" latinLnBrk="0" hangingPunct="1">
                        <a:lnSpc>
                          <a:spcPct val="100000"/>
                        </a:lnSpc>
                        <a:spcBef>
                          <a:spcPts val="600"/>
                        </a:spcBef>
                        <a:spcAft>
                          <a:spcPts val="0"/>
                        </a:spcAft>
                        <a:buClr>
                          <a:srgbClr val="97989A"/>
                        </a:buClr>
                        <a:buSzTx/>
                        <a:buFont typeface="Arial" pitchFamily="34" charset="0"/>
                        <a:buChar char="■"/>
                        <a:tabLst/>
                        <a:defRPr/>
                      </a:pPr>
                      <a:r>
                        <a:rPr kumimoji="0" lang="en-US" sz="900" b="0" i="0" u="none" strike="noStrike" kern="1200" cap="none" spc="0" normalizeH="0" baseline="0" noProof="0" dirty="0" smtClean="0">
                          <a:ln>
                            <a:noFill/>
                          </a:ln>
                          <a:solidFill>
                            <a:srgbClr val="000000"/>
                          </a:solidFill>
                          <a:effectLst/>
                          <a:uLnTx/>
                          <a:uFillTx/>
                          <a:latin typeface="Arial"/>
                          <a:ea typeface="+mn-ea"/>
                          <a:cs typeface="Arial" pitchFamily="34" charset="0"/>
                        </a:rPr>
                        <a:t>If cash proceeds exceed book value of the loan due to any previously written-off amounts, difference between cash receipts and book value is recognized as a recovery</a:t>
                      </a:r>
                    </a:p>
                  </a:txBody>
                  <a:tcPr marL="54000" marR="54000" marT="54000" marB="54000" horzOverflow="overflow">
                    <a:lnL w="6350" cap="flat" cmpd="sng" algn="ctr">
                      <a:solidFill>
                        <a:srgbClr val="409DAD"/>
                      </a:solidFill>
                      <a:prstDash val="solid"/>
                      <a:round/>
                      <a:headEnd type="none" w="med" len="med"/>
                      <a:tailEnd type="none" w="med" len="med"/>
                    </a:lnL>
                    <a:lnR w="6350" cap="flat" cmpd="sng" algn="ctr">
                      <a:solidFill>
                        <a:srgbClr val="409DAD"/>
                      </a:solidFill>
                      <a:prstDash val="solid"/>
                      <a:round/>
                      <a:headEnd type="none" w="med" len="med"/>
                      <a:tailEnd type="none" w="med" len="med"/>
                    </a:lnR>
                    <a:lnT w="6350" cap="flat" cmpd="sng" algn="ctr">
                      <a:solidFill>
                        <a:srgbClr val="409DAD"/>
                      </a:solidFill>
                      <a:prstDash val="solid"/>
                      <a:round/>
                      <a:headEnd type="none" w="med" len="med"/>
                      <a:tailEnd type="none" w="med" len="med"/>
                    </a:lnT>
                    <a:lnB w="6350" cap="flat" cmpd="sng" algn="ctr">
                      <a:solidFill>
                        <a:srgbClr val="409DAD"/>
                      </a:solidFill>
                      <a:prstDash val="solid"/>
                      <a:round/>
                      <a:headEnd type="none" w="med" len="med"/>
                      <a:tailEnd type="none" w="med" len="med"/>
                    </a:lnB>
                    <a:lnTlToBr>
                      <a:noFill/>
                    </a:lnTlToBr>
                    <a:lnBlToTr>
                      <a:noFill/>
                    </a:lnBlToTr>
                    <a:solidFill>
                      <a:schemeClr val="bg1"/>
                    </a:solidFill>
                  </a:tcPr>
                </a:tc>
              </a:tr>
            </a:tbl>
          </a:graphicData>
        </a:graphic>
      </p:graphicFrame>
      <p:sp>
        <p:nvSpPr>
          <p:cNvPr id="83" name="Text Placeholder 17"/>
          <p:cNvSpPr>
            <a:spLocks noGrp="1"/>
          </p:cNvSpPr>
          <p:nvPr>
            <p:ph type="body" sz="quarter" idx="4294967295"/>
          </p:nvPr>
        </p:nvSpPr>
        <p:spPr>
          <a:xfrm>
            <a:off x="228600" y="1219199"/>
            <a:ext cx="1219200" cy="1407460"/>
          </a:xfrm>
          <a:prstGeom prst="rect">
            <a:avLst/>
          </a:prstGeom>
          <a:solidFill>
            <a:srgbClr val="409DAD"/>
          </a:solidFill>
          <a:ln w="6350">
            <a:solidFill>
              <a:srgbClr val="409DAD"/>
            </a:solidFill>
          </a:ln>
        </p:spPr>
        <p:txBody>
          <a:bodyPr vert="horz" lIns="0" tIns="0" rIns="0" bIns="0" rtlCol="0" anchor="ctr" anchorCtr="1">
            <a:noAutofit/>
          </a:bodyPr>
          <a:lstStyle/>
          <a:p>
            <a:pPr algn="ctr"/>
            <a:r>
              <a:rPr lang="en-US" dirty="0" smtClean="0">
                <a:solidFill>
                  <a:schemeClr val="bg1"/>
                </a:solidFill>
                <a:latin typeface="Arial" pitchFamily="34" charset="0"/>
              </a:rPr>
              <a:t>Fact Pattern of Sample Transaction</a:t>
            </a:r>
            <a:endParaRPr lang="en-US" dirty="0">
              <a:solidFill>
                <a:schemeClr val="bg1"/>
              </a:solidFill>
              <a:latin typeface="Arial" pitchFamily="34" charset="0"/>
            </a:endParaRPr>
          </a:p>
        </p:txBody>
      </p:sp>
      <p:sp>
        <p:nvSpPr>
          <p:cNvPr id="84" name="Text Placeholder 13"/>
          <p:cNvSpPr>
            <a:spLocks noGrp="1"/>
          </p:cNvSpPr>
          <p:nvPr>
            <p:ph type="body" sz="quarter" idx="4294967295"/>
          </p:nvPr>
        </p:nvSpPr>
        <p:spPr>
          <a:xfrm>
            <a:off x="2009775" y="1143000"/>
            <a:ext cx="3323492" cy="1295400"/>
          </a:xfrm>
          <a:prstGeom prst="rect">
            <a:avLst/>
          </a:prstGeom>
          <a:solidFill>
            <a:schemeClr val="bg1"/>
          </a:solidFill>
          <a:ln w="6350">
            <a:solidFill>
              <a:schemeClr val="bg1"/>
            </a:solidFill>
          </a:ln>
        </p:spPr>
        <p:txBody>
          <a:bodyPr vert="horz" lIns="54000" tIns="54000" rIns="54000" bIns="54000" rtlCol="0">
            <a:noAutofit/>
          </a:bodyPr>
          <a:lstStyle/>
          <a:p>
            <a:pPr lvl="2">
              <a:defRPr/>
            </a:pPr>
            <a:r>
              <a:rPr lang="en-US" dirty="0" smtClean="0">
                <a:solidFill>
                  <a:srgbClr val="000000"/>
                </a:solidFill>
              </a:rPr>
              <a:t>Cash-flow loan facility is agreed with customer - $100 million facility, benchmark index 3-month LIBOR (spread 4.5%, LIBOR floor 1.00%), stated term of 60 months, expected term of 36 months</a:t>
            </a:r>
          </a:p>
          <a:p>
            <a:pPr lvl="2">
              <a:defRPr/>
            </a:pPr>
            <a:r>
              <a:rPr lang="en-US" dirty="0" smtClean="0">
                <a:solidFill>
                  <a:srgbClr val="000000"/>
                </a:solidFill>
              </a:rPr>
              <a:t>Target is lead underwriter of the loan, or “left lead lender”</a:t>
            </a:r>
          </a:p>
          <a:p>
            <a:pPr lvl="2">
              <a:defRPr/>
            </a:pPr>
            <a:r>
              <a:rPr lang="en-US" dirty="0" smtClean="0">
                <a:solidFill>
                  <a:srgbClr val="000000"/>
                </a:solidFill>
              </a:rPr>
              <a:t>Syndication fee – 2% ($2 million)</a:t>
            </a:r>
          </a:p>
          <a:p>
            <a:pPr lvl="2">
              <a:defRPr/>
            </a:pPr>
            <a:r>
              <a:rPr lang="en-US" dirty="0" smtClean="0">
                <a:solidFill>
                  <a:srgbClr val="000000"/>
                </a:solidFill>
              </a:rPr>
              <a:t>Closing fee – 1% ($1 million), passed along to syndication participants pro-rata based on committed amounts</a:t>
            </a:r>
          </a:p>
        </p:txBody>
      </p:sp>
      <p:sp>
        <p:nvSpPr>
          <p:cNvPr id="85" name="Text Placeholder 13"/>
          <p:cNvSpPr>
            <a:spLocks noGrp="1"/>
          </p:cNvSpPr>
          <p:nvPr>
            <p:ph type="body" sz="quarter" idx="4294967295"/>
          </p:nvPr>
        </p:nvSpPr>
        <p:spPr>
          <a:xfrm>
            <a:off x="5576521" y="1143001"/>
            <a:ext cx="3323492" cy="1295400"/>
          </a:xfrm>
          <a:prstGeom prst="rect">
            <a:avLst/>
          </a:prstGeom>
          <a:solidFill>
            <a:schemeClr val="bg1"/>
          </a:solidFill>
          <a:ln w="6350">
            <a:solidFill>
              <a:schemeClr val="bg1"/>
            </a:solidFill>
          </a:ln>
        </p:spPr>
        <p:txBody>
          <a:bodyPr vert="horz" lIns="54000" tIns="54000" rIns="54000" bIns="54000" rtlCol="0">
            <a:noAutofit/>
          </a:bodyPr>
          <a:lstStyle/>
          <a:p>
            <a:pPr lvl="2">
              <a:defRPr/>
            </a:pPr>
            <a:r>
              <a:rPr lang="en-US" dirty="0" smtClean="0">
                <a:solidFill>
                  <a:srgbClr val="000000"/>
                </a:solidFill>
              </a:rPr>
              <a:t>Target unreimbursed loan origination costs – $100,000</a:t>
            </a:r>
          </a:p>
          <a:p>
            <a:pPr lvl="2">
              <a:defRPr/>
            </a:pPr>
            <a:r>
              <a:rPr lang="en-US" dirty="0" smtClean="0">
                <a:solidFill>
                  <a:srgbClr val="000000"/>
                </a:solidFill>
              </a:rPr>
              <a:t>Loan administration fee to Target – $50,000 / year</a:t>
            </a:r>
          </a:p>
          <a:p>
            <a:pPr lvl="2">
              <a:defRPr/>
            </a:pPr>
            <a:r>
              <a:rPr lang="en-US" dirty="0" smtClean="0">
                <a:solidFill>
                  <a:srgbClr val="000000"/>
                </a:solidFill>
              </a:rPr>
              <a:t>Amount syndicated to third parties - $60 million</a:t>
            </a:r>
          </a:p>
          <a:p>
            <a:pPr lvl="2">
              <a:defRPr/>
            </a:pPr>
            <a:r>
              <a:rPr lang="en-US" dirty="0" smtClean="0">
                <a:solidFill>
                  <a:srgbClr val="000000"/>
                </a:solidFill>
              </a:rPr>
              <a:t>Target hold &amp; fund - $40 million</a:t>
            </a:r>
          </a:p>
          <a:p>
            <a:pPr lvl="2">
              <a:defRPr/>
            </a:pPr>
            <a:r>
              <a:rPr lang="en-US" dirty="0" smtClean="0">
                <a:solidFill>
                  <a:srgbClr val="000000"/>
                </a:solidFill>
              </a:rPr>
              <a:t>Closing fee on the portion of loan retained must be deferred in order for the yield (exclusive of the syndication fee) to equal to the average yield obtained by syndication participants</a:t>
            </a:r>
          </a:p>
        </p:txBody>
      </p:sp>
      <p:sp>
        <p:nvSpPr>
          <p:cNvPr id="12" name="Isosceles Triangle 11"/>
          <p:cNvSpPr/>
          <p:nvPr/>
        </p:nvSpPr>
        <p:spPr>
          <a:xfrm rot="5400000">
            <a:off x="999046" y="1796908"/>
            <a:ext cx="1407462" cy="252046"/>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US"/>
          </a:p>
        </p:txBody>
      </p:sp>
      <p:sp>
        <p:nvSpPr>
          <p:cNvPr id="87" name="Rectangle 86"/>
          <p:cNvSpPr/>
          <p:nvPr/>
        </p:nvSpPr>
        <p:spPr>
          <a:xfrm>
            <a:off x="1981200" y="1171574"/>
            <a:ext cx="6910754" cy="1495426"/>
          </a:xfrm>
          <a:prstGeom prst="rect">
            <a:avLst/>
          </a:prstGeom>
          <a:noFill/>
          <a:ln w="6350">
            <a:solidFill>
              <a:srgbClr val="409DAD"/>
            </a:solidFill>
          </a:ln>
        </p:spPr>
        <p:txBody>
          <a:bodyPr vert="horz" lIns="54000" tIns="54000" rIns="54000" bIns="54000" rtlCol="0">
            <a:noAutofit/>
          </a:bodyPr>
          <a:lstStyle/>
          <a:p>
            <a:pPr>
              <a:spcBef>
                <a:spcPts val="600"/>
              </a:spcBef>
              <a:buFont typeface="Arial" pitchFamily="34" charset="0"/>
              <a:buNone/>
            </a:pPr>
            <a:endParaRPr lang="en-US" sz="900" b="1">
              <a:solidFill>
                <a:srgbClr val="00338D"/>
              </a:solidFill>
              <a:latin typeface="Arial"/>
              <a:cs typeface="Arial" pitchFamily="34" charset="0"/>
            </a:endParaRPr>
          </a:p>
        </p:txBody>
      </p:sp>
    </p:spTree>
    <p:extLst>
      <p:ext uri="{BB962C8B-B14F-4D97-AF65-F5344CB8AC3E}">
        <p14:creationId xmlns:p14="http://schemas.microsoft.com/office/powerpoint/2010/main" val="173701119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6"/>
          <a:stretch>
            <a:fillRect/>
          </a:stretch>
        </p:blipFill>
        <p:spPr>
          <a:xfrm>
            <a:off x="114300" y="1064388"/>
            <a:ext cx="4182146" cy="2660747"/>
          </a:xfrm>
          <a:prstGeom prst="rect">
            <a:avLst/>
          </a:prstGeom>
        </p:spPr>
      </p:pic>
      <p:sp>
        <p:nvSpPr>
          <p:cNvPr id="13" name="Title 3"/>
          <p:cNvSpPr>
            <a:spLocks noGrp="1"/>
          </p:cNvSpPr>
          <p:nvPr>
            <p:ph type="title"/>
          </p:nvPr>
        </p:nvSpPr>
        <p:spPr>
          <a:xfrm>
            <a:off x="2123728" y="116632"/>
            <a:ext cx="6768752" cy="576064"/>
          </a:xfrm>
        </p:spPr>
        <p:txBody>
          <a:bodyPr/>
          <a:lstStyle/>
          <a:p>
            <a:r>
              <a:rPr lang="en-US" sz="1400" b="0" dirty="0" smtClean="0">
                <a:solidFill>
                  <a:srgbClr val="747678"/>
                </a:solidFill>
              </a:rPr>
              <a:t>Appendix 13</a:t>
            </a:r>
            <a:r>
              <a:rPr lang="en-US" dirty="0" smtClean="0"/>
              <a:t/>
            </a:r>
            <a:br>
              <a:rPr lang="en-US" dirty="0" smtClean="0"/>
            </a:br>
            <a:r>
              <a:rPr lang="en-US" dirty="0"/>
              <a:t>U</a:t>
            </a:r>
            <a:r>
              <a:rPr lang="en-US" dirty="0" smtClean="0"/>
              <a:t>nfunded and funded commitments</a:t>
            </a:r>
            <a:endParaRPr lang="en-US" dirty="0"/>
          </a:p>
        </p:txBody>
      </p:sp>
      <p:sp>
        <p:nvSpPr>
          <p:cNvPr id="14" name="Text Box 8"/>
          <p:cNvSpPr txBox="1">
            <a:spLocks noChangeArrowheads="1"/>
          </p:cNvSpPr>
          <p:nvPr>
            <p:custDataLst>
              <p:tags r:id="rId1"/>
            </p:custDataLst>
          </p:nvPr>
        </p:nvSpPr>
        <p:spPr bwMode="gray">
          <a:xfrm>
            <a:off x="228600" y="3120788"/>
            <a:ext cx="4211303" cy="92333"/>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latin typeface="Arial"/>
                <a:cs typeface="Arial" pitchFamily="34" charset="0"/>
              </a:rPr>
              <a:t> Source:C.2.3 Atlas_Finance Breakout Session_05 12 2015.pdf</a:t>
            </a:r>
          </a:p>
        </p:txBody>
      </p:sp>
      <p:pic>
        <p:nvPicPr>
          <p:cNvPr id="8" name="Picture 7"/>
          <p:cNvPicPr>
            <a:picLocks noChangeAspect="1"/>
          </p:cNvPicPr>
          <p:nvPr/>
        </p:nvPicPr>
        <p:blipFill>
          <a:blip r:embed="rId7"/>
          <a:stretch>
            <a:fillRect/>
          </a:stretch>
        </p:blipFill>
        <p:spPr>
          <a:xfrm>
            <a:off x="3566160" y="1066928"/>
            <a:ext cx="4182146" cy="2660747"/>
          </a:xfrm>
          <a:prstGeom prst="rect">
            <a:avLst/>
          </a:prstGeom>
        </p:spPr>
      </p:pic>
      <p:pic>
        <p:nvPicPr>
          <p:cNvPr id="9" name="Picture 8"/>
          <p:cNvPicPr>
            <a:picLocks noChangeAspect="1"/>
          </p:cNvPicPr>
          <p:nvPr/>
        </p:nvPicPr>
        <p:blipFill>
          <a:blip r:embed="rId8"/>
          <a:stretch>
            <a:fillRect/>
          </a:stretch>
        </p:blipFill>
        <p:spPr>
          <a:xfrm>
            <a:off x="64332" y="3352800"/>
            <a:ext cx="7303342" cy="2836670"/>
          </a:xfrm>
          <a:prstGeom prst="rect">
            <a:avLst/>
          </a:prstGeom>
        </p:spPr>
      </p:pic>
      <p:sp>
        <p:nvSpPr>
          <p:cNvPr id="10" name="Text Box 8"/>
          <p:cNvSpPr txBox="1">
            <a:spLocks noChangeArrowheads="1"/>
          </p:cNvSpPr>
          <p:nvPr>
            <p:custDataLst>
              <p:tags r:id="rId2"/>
            </p:custDataLst>
          </p:nvPr>
        </p:nvSpPr>
        <p:spPr bwMode="gray">
          <a:xfrm>
            <a:off x="228599" y="6052784"/>
            <a:ext cx="4211303" cy="92333"/>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latin typeface="Arial"/>
                <a:cs typeface="Arial" pitchFamily="34" charset="0"/>
              </a:rPr>
              <a:t> Source: 4.4.14 Historical Revolver Utilization</a:t>
            </a:r>
          </a:p>
        </p:txBody>
      </p:sp>
      <p:sp>
        <p:nvSpPr>
          <p:cNvPr id="11" name="Text Box 8"/>
          <p:cNvSpPr txBox="1">
            <a:spLocks noChangeArrowheads="1"/>
          </p:cNvSpPr>
          <p:nvPr>
            <p:custDataLst>
              <p:tags r:id="rId3"/>
            </p:custDataLst>
          </p:nvPr>
        </p:nvSpPr>
        <p:spPr bwMode="gray">
          <a:xfrm>
            <a:off x="3844996" y="3120788"/>
            <a:ext cx="4211303" cy="92333"/>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latin typeface="Arial"/>
                <a:cs typeface="Arial" pitchFamily="34" charset="0"/>
              </a:rPr>
              <a:t> Source:C.2.3 Atlas_Finance Breakout Session_05 12 2015.pdf</a:t>
            </a:r>
          </a:p>
        </p:txBody>
      </p:sp>
    </p:spTree>
    <p:extLst>
      <p:ext uri="{BB962C8B-B14F-4D97-AF65-F5344CB8AC3E}">
        <p14:creationId xmlns:p14="http://schemas.microsoft.com/office/powerpoint/2010/main" val="2642027541"/>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3"/>
          <p:cNvSpPr>
            <a:spLocks noGrp="1"/>
          </p:cNvSpPr>
          <p:nvPr>
            <p:ph type="title"/>
          </p:nvPr>
        </p:nvSpPr>
        <p:spPr>
          <a:xfrm>
            <a:off x="2123728" y="116632"/>
            <a:ext cx="6768752" cy="576064"/>
          </a:xfrm>
        </p:spPr>
        <p:txBody>
          <a:bodyPr/>
          <a:lstStyle/>
          <a:p>
            <a:r>
              <a:rPr lang="en-US" sz="1400" b="0" dirty="0" smtClean="0">
                <a:solidFill>
                  <a:srgbClr val="747678"/>
                </a:solidFill>
              </a:rPr>
              <a:t>Appendix 14</a:t>
            </a:r>
            <a:r>
              <a:rPr lang="en-US" dirty="0" smtClean="0"/>
              <a:t/>
            </a:r>
            <a:br>
              <a:rPr lang="en-US" dirty="0" smtClean="0"/>
            </a:br>
            <a:r>
              <a:rPr lang="en-US" dirty="0" smtClean="0"/>
              <a:t>Asset quality</a:t>
            </a:r>
            <a:endParaRPr lang="en-US" dirty="0"/>
          </a:p>
        </p:txBody>
      </p:sp>
      <p:sp>
        <p:nvSpPr>
          <p:cNvPr id="7" name="Text Box 8"/>
          <p:cNvSpPr txBox="1">
            <a:spLocks noChangeArrowheads="1"/>
          </p:cNvSpPr>
          <p:nvPr>
            <p:custDataLst>
              <p:tags r:id="rId1"/>
            </p:custDataLst>
          </p:nvPr>
        </p:nvSpPr>
        <p:spPr bwMode="gray">
          <a:xfrm>
            <a:off x="228600" y="3845352"/>
            <a:ext cx="4061095" cy="92333"/>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latin typeface="Arial"/>
                <a:cs typeface="Arial" pitchFamily="34" charset="0"/>
              </a:rPr>
              <a:t> Source: 6.7.5 ALLL </a:t>
            </a:r>
            <a:r>
              <a:rPr lang="en-US" sz="600" i="1" dirty="0" err="1" smtClean="0">
                <a:latin typeface="Arial"/>
                <a:cs typeface="Arial" pitchFamily="34" charset="0"/>
              </a:rPr>
              <a:t>Rollforward</a:t>
            </a:r>
            <a:r>
              <a:rPr lang="en-US" sz="600" i="1" dirty="0" smtClean="0">
                <a:latin typeface="Arial"/>
                <a:cs typeface="Arial" pitchFamily="34" charset="0"/>
              </a:rPr>
              <a:t> &amp; 6.7.6 Losses by deal since 2008_Redacted</a:t>
            </a:r>
          </a:p>
        </p:txBody>
      </p:sp>
      <p:sp>
        <p:nvSpPr>
          <p:cNvPr id="8" name="Text Box 8"/>
          <p:cNvSpPr txBox="1">
            <a:spLocks noChangeArrowheads="1"/>
          </p:cNvSpPr>
          <p:nvPr>
            <p:custDataLst>
              <p:tags r:id="rId2"/>
            </p:custDataLst>
          </p:nvPr>
        </p:nvSpPr>
        <p:spPr bwMode="gray">
          <a:xfrm>
            <a:off x="280128" y="5971779"/>
            <a:ext cx="2587984" cy="92333"/>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latin typeface="Arial"/>
                <a:cs typeface="Arial" pitchFamily="34" charset="0"/>
              </a:rPr>
              <a:t> Source: 6.7.2 / 6.7.3 TMT NCOs (1) and (2)</a:t>
            </a:r>
          </a:p>
        </p:txBody>
      </p:sp>
      <p:sp>
        <p:nvSpPr>
          <p:cNvPr id="9" name="Text Box 8"/>
          <p:cNvSpPr txBox="1">
            <a:spLocks noChangeArrowheads="1"/>
          </p:cNvSpPr>
          <p:nvPr>
            <p:custDataLst>
              <p:tags r:id="rId3"/>
            </p:custDataLst>
          </p:nvPr>
        </p:nvSpPr>
        <p:spPr bwMode="gray">
          <a:xfrm>
            <a:off x="4968240" y="5955646"/>
            <a:ext cx="2587984" cy="92333"/>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latin typeface="Arial"/>
                <a:cs typeface="Arial" pitchFamily="34" charset="0"/>
              </a:rPr>
              <a:t> Source: 6.7.2 / 6.7.3 TMT NCOs (1) and (2)</a:t>
            </a:r>
          </a:p>
        </p:txBody>
      </p:sp>
      <p:pic>
        <p:nvPicPr>
          <p:cNvPr id="2" name="Picture 1"/>
          <p:cNvPicPr>
            <a:picLocks noChangeAspect="1"/>
          </p:cNvPicPr>
          <p:nvPr/>
        </p:nvPicPr>
        <p:blipFill>
          <a:blip r:embed="rId6"/>
          <a:stretch>
            <a:fillRect/>
          </a:stretch>
        </p:blipFill>
        <p:spPr>
          <a:xfrm>
            <a:off x="133454" y="3914379"/>
            <a:ext cx="4645017" cy="2484749"/>
          </a:xfrm>
          <a:prstGeom prst="rect">
            <a:avLst/>
          </a:prstGeom>
        </p:spPr>
      </p:pic>
      <p:pic>
        <p:nvPicPr>
          <p:cNvPr id="6" name="Picture 5"/>
          <p:cNvPicPr>
            <a:picLocks noChangeAspect="1"/>
          </p:cNvPicPr>
          <p:nvPr/>
        </p:nvPicPr>
        <p:blipFill>
          <a:blip r:embed="rId7"/>
          <a:stretch>
            <a:fillRect/>
          </a:stretch>
        </p:blipFill>
        <p:spPr>
          <a:xfrm>
            <a:off x="4778472" y="3929619"/>
            <a:ext cx="4646161" cy="2379743"/>
          </a:xfrm>
          <a:prstGeom prst="rect">
            <a:avLst/>
          </a:prstGeom>
        </p:spPr>
      </p:pic>
      <p:pic>
        <p:nvPicPr>
          <p:cNvPr id="4" name="Picture 3"/>
          <p:cNvPicPr>
            <a:picLocks noChangeAspect="1"/>
          </p:cNvPicPr>
          <p:nvPr/>
        </p:nvPicPr>
        <p:blipFill>
          <a:blip r:embed="rId8"/>
          <a:stretch>
            <a:fillRect/>
          </a:stretch>
        </p:blipFill>
        <p:spPr>
          <a:xfrm>
            <a:off x="262629" y="1206508"/>
            <a:ext cx="8622231" cy="2633345"/>
          </a:xfrm>
          <a:prstGeom prst="rect">
            <a:avLst/>
          </a:prstGeom>
        </p:spPr>
      </p:pic>
    </p:spTree>
    <p:extLst>
      <p:ext uri="{BB962C8B-B14F-4D97-AF65-F5344CB8AC3E}">
        <p14:creationId xmlns:p14="http://schemas.microsoft.com/office/powerpoint/2010/main" val="4202450287"/>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3"/>
          <p:cNvSpPr>
            <a:spLocks noGrp="1"/>
          </p:cNvSpPr>
          <p:nvPr>
            <p:ph type="title"/>
          </p:nvPr>
        </p:nvSpPr>
        <p:spPr>
          <a:xfrm>
            <a:off x="2123728" y="116632"/>
            <a:ext cx="6768752" cy="576064"/>
          </a:xfrm>
        </p:spPr>
        <p:txBody>
          <a:bodyPr/>
          <a:lstStyle/>
          <a:p>
            <a:r>
              <a:rPr lang="en-US" sz="1400" b="0" dirty="0" smtClean="0">
                <a:solidFill>
                  <a:srgbClr val="747678"/>
                </a:solidFill>
              </a:rPr>
              <a:t>Appendix 15</a:t>
            </a:r>
            <a:r>
              <a:rPr lang="en-US" dirty="0" smtClean="0"/>
              <a:t/>
            </a:r>
            <a:br>
              <a:rPr lang="en-US" dirty="0" smtClean="0"/>
            </a:br>
            <a:r>
              <a:rPr lang="en-US" dirty="0" smtClean="0"/>
              <a:t>Budgets and projections</a:t>
            </a:r>
            <a:endParaRPr lang="en-US" dirty="0"/>
          </a:p>
        </p:txBody>
      </p:sp>
      <p:pic>
        <p:nvPicPr>
          <p:cNvPr id="2" name="Picture 1"/>
          <p:cNvPicPr>
            <a:picLocks noChangeAspect="1"/>
          </p:cNvPicPr>
          <p:nvPr/>
        </p:nvPicPr>
        <p:blipFill>
          <a:blip r:embed="rId7"/>
          <a:stretch>
            <a:fillRect/>
          </a:stretch>
        </p:blipFill>
        <p:spPr>
          <a:xfrm>
            <a:off x="258901" y="1205956"/>
            <a:ext cx="3048000" cy="3442081"/>
          </a:xfrm>
          <a:prstGeom prst="rect">
            <a:avLst/>
          </a:prstGeom>
        </p:spPr>
      </p:pic>
      <p:sp>
        <p:nvSpPr>
          <p:cNvPr id="6" name="Text Box 8"/>
          <p:cNvSpPr txBox="1">
            <a:spLocks noChangeArrowheads="1"/>
          </p:cNvSpPr>
          <p:nvPr>
            <p:custDataLst>
              <p:tags r:id="rId1"/>
            </p:custDataLst>
          </p:nvPr>
        </p:nvSpPr>
        <p:spPr bwMode="gray">
          <a:xfrm>
            <a:off x="3838848" y="4537924"/>
            <a:ext cx="2587984" cy="92333"/>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latin typeface="Arial"/>
                <a:cs typeface="Arial" pitchFamily="34" charset="0"/>
              </a:rPr>
              <a:t> Source: Management presentation</a:t>
            </a:r>
          </a:p>
        </p:txBody>
      </p:sp>
      <p:sp>
        <p:nvSpPr>
          <p:cNvPr id="7" name="Text Box 8"/>
          <p:cNvSpPr txBox="1">
            <a:spLocks noChangeArrowheads="1"/>
          </p:cNvSpPr>
          <p:nvPr>
            <p:custDataLst>
              <p:tags r:id="rId2"/>
            </p:custDataLst>
          </p:nvPr>
        </p:nvSpPr>
        <p:spPr bwMode="gray">
          <a:xfrm>
            <a:off x="233501" y="4670282"/>
            <a:ext cx="2587984" cy="92333"/>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latin typeface="Arial"/>
                <a:cs typeface="Arial" pitchFamily="34" charset="0"/>
              </a:rPr>
              <a:t> Source: Management presentation</a:t>
            </a:r>
          </a:p>
        </p:txBody>
      </p:sp>
      <p:pic>
        <p:nvPicPr>
          <p:cNvPr id="4" name="Picture 3"/>
          <p:cNvPicPr>
            <a:picLocks noChangeAspect="1"/>
          </p:cNvPicPr>
          <p:nvPr/>
        </p:nvPicPr>
        <p:blipFill>
          <a:blip r:embed="rId8"/>
          <a:stretch>
            <a:fillRect/>
          </a:stretch>
        </p:blipFill>
        <p:spPr>
          <a:xfrm>
            <a:off x="3861602" y="1206078"/>
            <a:ext cx="3099814" cy="3331846"/>
          </a:xfrm>
          <a:prstGeom prst="rect">
            <a:avLst/>
          </a:prstGeom>
        </p:spPr>
      </p:pic>
      <p:sp>
        <p:nvSpPr>
          <p:cNvPr id="8" name="Rectangle 4"/>
          <p:cNvSpPr txBox="1">
            <a:spLocks noChangeArrowheads="1"/>
          </p:cNvSpPr>
          <p:nvPr>
            <p:custDataLst>
              <p:tags r:id="rId3"/>
            </p:custDataLst>
          </p:nvPr>
        </p:nvSpPr>
        <p:spPr bwMode="gray">
          <a:xfrm>
            <a:off x="1790700" y="4953000"/>
            <a:ext cx="1554301" cy="457200"/>
          </a:xfrm>
          <a:prstGeom prst="rect">
            <a:avLst/>
          </a:prstGeom>
          <a:solidFill>
            <a:srgbClr val="F5DB7E"/>
          </a:solidFill>
          <a:ln w="6350">
            <a:solidFill>
              <a:schemeClr val="accent6"/>
            </a:solidFill>
            <a:miter lim="800000"/>
            <a:headEnd/>
            <a:tailEnd/>
          </a:ln>
          <a:effectLst/>
        </p:spPr>
        <p:txBody>
          <a:bodyPr vert="horz" lIns="54000" tIns="54000" rIns="54000" bIns="54000" rtlCol="0" anchor="ctr" anchorCtr="1">
            <a:noAutofit/>
          </a:bodyPr>
          <a:lstStyle/>
          <a:p>
            <a:pPr indent="-114300" algn="ctr" defTabSz="762000" eaLnBrk="0" hangingPunct="0">
              <a:lnSpc>
                <a:spcPct val="90000"/>
              </a:lnSpc>
              <a:spcBef>
                <a:spcPts val="600"/>
              </a:spcBef>
            </a:pPr>
            <a:r>
              <a:rPr lang="en-GB" sz="800" dirty="0" smtClean="0">
                <a:solidFill>
                  <a:schemeClr val="accent4"/>
                </a:solidFill>
              </a:rPr>
              <a:t>Represents recoveries of $ 60 million from two previously charged-off legacy accounts.</a:t>
            </a:r>
            <a:endParaRPr lang="en-GB" sz="800" b="1" dirty="0">
              <a:solidFill>
                <a:srgbClr val="FF0000"/>
              </a:solidFill>
            </a:endParaRPr>
          </a:p>
        </p:txBody>
      </p:sp>
      <p:sp>
        <p:nvSpPr>
          <p:cNvPr id="9" name="Rounded Rectangle 8"/>
          <p:cNvSpPr/>
          <p:nvPr>
            <p:custDataLst>
              <p:tags r:id="rId4"/>
            </p:custDataLst>
          </p:nvPr>
        </p:nvSpPr>
        <p:spPr bwMode="gray">
          <a:xfrm rot="5400000">
            <a:off x="2394201" y="3067818"/>
            <a:ext cx="152405" cy="228600"/>
          </a:xfrm>
          <a:prstGeom prst="roundRect">
            <a:avLst>
              <a:gd name="adj" fmla="val 26588"/>
            </a:avLst>
          </a:prstGeom>
          <a:noFill/>
          <a:ln w="12700">
            <a:solidFill>
              <a:srgbClr val="9E303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dirty="0"/>
          </a:p>
        </p:txBody>
      </p:sp>
      <p:cxnSp>
        <p:nvCxnSpPr>
          <p:cNvPr id="10" name="Elbow Connector 9"/>
          <p:cNvCxnSpPr>
            <a:stCxn id="8" idx="0"/>
          </p:cNvCxnSpPr>
          <p:nvPr/>
        </p:nvCxnSpPr>
        <p:spPr>
          <a:xfrm flipV="1">
            <a:off x="2567851" y="3258321"/>
            <a:ext cx="16853" cy="1694679"/>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6913220"/>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Box 8"/>
          <p:cNvSpPr txBox="1">
            <a:spLocks noChangeArrowheads="1"/>
          </p:cNvSpPr>
          <p:nvPr>
            <p:custDataLst>
              <p:tags r:id="rId1"/>
            </p:custDataLst>
          </p:nvPr>
        </p:nvSpPr>
        <p:spPr bwMode="gray">
          <a:xfrm>
            <a:off x="228298" y="4529003"/>
            <a:ext cx="2587984" cy="92333"/>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latin typeface="Arial"/>
                <a:cs typeface="Arial" pitchFamily="34" charset="0"/>
              </a:rPr>
              <a:t> Source: 6.9.5 Budget vs. Actuals</a:t>
            </a:r>
          </a:p>
        </p:txBody>
      </p:sp>
      <p:pic>
        <p:nvPicPr>
          <p:cNvPr id="6" name="Picture 5"/>
          <p:cNvPicPr>
            <a:picLocks noChangeAspect="1"/>
          </p:cNvPicPr>
          <p:nvPr/>
        </p:nvPicPr>
        <p:blipFill>
          <a:blip r:embed="rId6"/>
          <a:stretch>
            <a:fillRect/>
          </a:stretch>
        </p:blipFill>
        <p:spPr>
          <a:xfrm>
            <a:off x="4501075" y="1203960"/>
            <a:ext cx="3649510" cy="759647"/>
          </a:xfrm>
          <a:prstGeom prst="rect">
            <a:avLst/>
          </a:prstGeom>
        </p:spPr>
      </p:pic>
      <p:pic>
        <p:nvPicPr>
          <p:cNvPr id="10" name="Picture 9"/>
          <p:cNvPicPr>
            <a:picLocks noChangeAspect="1"/>
          </p:cNvPicPr>
          <p:nvPr/>
        </p:nvPicPr>
        <p:blipFill>
          <a:blip r:embed="rId7"/>
          <a:stretch>
            <a:fillRect/>
          </a:stretch>
        </p:blipFill>
        <p:spPr>
          <a:xfrm>
            <a:off x="259080" y="1203960"/>
            <a:ext cx="2839073" cy="3325043"/>
          </a:xfrm>
          <a:prstGeom prst="rect">
            <a:avLst/>
          </a:prstGeom>
        </p:spPr>
      </p:pic>
      <p:sp>
        <p:nvSpPr>
          <p:cNvPr id="12" name="Text Box 8"/>
          <p:cNvSpPr txBox="1">
            <a:spLocks noChangeArrowheads="1"/>
          </p:cNvSpPr>
          <p:nvPr>
            <p:custDataLst>
              <p:tags r:id="rId2"/>
            </p:custDataLst>
          </p:nvPr>
        </p:nvSpPr>
        <p:spPr bwMode="gray">
          <a:xfrm>
            <a:off x="4495801" y="1965960"/>
            <a:ext cx="2587984" cy="92333"/>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latin typeface="Arial"/>
                <a:cs typeface="Arial" pitchFamily="34" charset="0"/>
              </a:rPr>
              <a:t> Source: 6.6.2-6.6.6 Management Quarterly Close Packages</a:t>
            </a:r>
          </a:p>
        </p:txBody>
      </p:sp>
      <p:pic>
        <p:nvPicPr>
          <p:cNvPr id="11" name="Picture 10"/>
          <p:cNvPicPr>
            <a:picLocks noChangeAspect="1"/>
          </p:cNvPicPr>
          <p:nvPr/>
        </p:nvPicPr>
        <p:blipFill>
          <a:blip r:embed="rId8"/>
          <a:stretch>
            <a:fillRect/>
          </a:stretch>
        </p:blipFill>
        <p:spPr>
          <a:xfrm>
            <a:off x="4495801" y="2287389"/>
            <a:ext cx="3740335" cy="891760"/>
          </a:xfrm>
          <a:prstGeom prst="rect">
            <a:avLst/>
          </a:prstGeom>
        </p:spPr>
      </p:pic>
      <p:sp>
        <p:nvSpPr>
          <p:cNvPr id="13" name="Text Box 8"/>
          <p:cNvSpPr txBox="1">
            <a:spLocks noChangeArrowheads="1"/>
          </p:cNvSpPr>
          <p:nvPr>
            <p:custDataLst>
              <p:tags r:id="rId3"/>
            </p:custDataLst>
          </p:nvPr>
        </p:nvSpPr>
        <p:spPr bwMode="gray">
          <a:xfrm>
            <a:off x="4495800" y="3169522"/>
            <a:ext cx="3740335" cy="184666"/>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latin typeface="Arial"/>
                <a:cs typeface="Arial" pitchFamily="34" charset="0"/>
              </a:rPr>
              <a:t> Source: 6.6.2-6.6.6 Management Quarterly Close Packages. Total 2014 net losses off by $1 million due to rounding differences.</a:t>
            </a:r>
          </a:p>
        </p:txBody>
      </p:sp>
      <p:sp>
        <p:nvSpPr>
          <p:cNvPr id="14" name="Title 3"/>
          <p:cNvSpPr>
            <a:spLocks noGrp="1"/>
          </p:cNvSpPr>
          <p:nvPr>
            <p:ph type="title"/>
          </p:nvPr>
        </p:nvSpPr>
        <p:spPr>
          <a:xfrm>
            <a:off x="2123728" y="116632"/>
            <a:ext cx="6768752" cy="576064"/>
          </a:xfrm>
        </p:spPr>
        <p:txBody>
          <a:bodyPr/>
          <a:lstStyle/>
          <a:p>
            <a:r>
              <a:rPr lang="en-US" sz="1400" b="0" dirty="0" smtClean="0">
                <a:solidFill>
                  <a:srgbClr val="747678"/>
                </a:solidFill>
              </a:rPr>
              <a:t>Appendix 15</a:t>
            </a:r>
            <a:r>
              <a:rPr lang="en-US" dirty="0" smtClean="0"/>
              <a:t/>
            </a:r>
            <a:br>
              <a:rPr lang="en-US" dirty="0" smtClean="0"/>
            </a:br>
            <a:r>
              <a:rPr lang="en-US" dirty="0" smtClean="0"/>
              <a:t>Budgets and projections (2)</a:t>
            </a:r>
            <a:endParaRPr lang="en-US" dirty="0"/>
          </a:p>
        </p:txBody>
      </p:sp>
    </p:spTree>
    <p:extLst>
      <p:ext uri="{BB962C8B-B14F-4D97-AF65-F5344CB8AC3E}">
        <p14:creationId xmlns:p14="http://schemas.microsoft.com/office/powerpoint/2010/main" val="2108005892"/>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3"/>
          <p:cNvSpPr>
            <a:spLocks noGrp="1"/>
          </p:cNvSpPr>
          <p:nvPr>
            <p:ph type="title"/>
          </p:nvPr>
        </p:nvSpPr>
        <p:spPr>
          <a:xfrm>
            <a:off x="2123728" y="116632"/>
            <a:ext cx="6768752" cy="576064"/>
          </a:xfrm>
        </p:spPr>
        <p:txBody>
          <a:bodyPr/>
          <a:lstStyle/>
          <a:p>
            <a:r>
              <a:rPr lang="en-US" sz="1400" b="0" dirty="0" smtClean="0">
                <a:solidFill>
                  <a:srgbClr val="747678"/>
                </a:solidFill>
              </a:rPr>
              <a:t>Appendix 16</a:t>
            </a:r>
            <a:r>
              <a:rPr lang="en-US" dirty="0" smtClean="0"/>
              <a:t/>
            </a:r>
            <a:br>
              <a:rPr lang="en-US" dirty="0" smtClean="0"/>
            </a:br>
            <a:r>
              <a:rPr lang="en-US" dirty="0" smtClean="0"/>
              <a:t>Bank Loan Group</a:t>
            </a:r>
            <a:endParaRPr lang="en-US" dirty="0"/>
          </a:p>
        </p:txBody>
      </p:sp>
      <p:sp>
        <p:nvSpPr>
          <p:cNvPr id="12" name="Text Box 8"/>
          <p:cNvSpPr txBox="1">
            <a:spLocks noChangeArrowheads="1"/>
          </p:cNvSpPr>
          <p:nvPr>
            <p:custDataLst>
              <p:tags r:id="rId1"/>
            </p:custDataLst>
          </p:nvPr>
        </p:nvSpPr>
        <p:spPr bwMode="gray">
          <a:xfrm>
            <a:off x="6553200" y="2742748"/>
            <a:ext cx="3185160" cy="92333"/>
          </a:xfrm>
          <a:prstGeom prst="rect">
            <a:avLst/>
          </a:prstGeom>
          <a:noFill/>
          <a:ln w="6350">
            <a:noFill/>
            <a:miter lim="800000"/>
            <a:headEnd type="none" w="sm" len="sm"/>
            <a:tailEnd type="none" w="sm" len="sm"/>
          </a:ln>
          <a:effectLst/>
        </p:spPr>
        <p:txBody>
          <a:bodyPr wrap="square" lIns="0" tIns="0" rIns="0" bIns="0" anchor="b">
            <a:spAutoFit/>
          </a:bodyPr>
          <a:lstStyle/>
          <a:p>
            <a:pPr marL="534988" indent="-534988" defTabSz="762000" eaLnBrk="0" hangingPunct="0">
              <a:spcBef>
                <a:spcPts val="200"/>
              </a:spcBef>
              <a:tabLst>
                <a:tab pos="355600" algn="l"/>
              </a:tabLst>
            </a:pPr>
            <a:r>
              <a:rPr lang="en-US" sz="600" i="1" dirty="0">
                <a:cs typeface="Arial" pitchFamily="34" charset="0"/>
              </a:rPr>
              <a:t>Source: Management Presentation (Finance Breakout Session).</a:t>
            </a:r>
            <a:endParaRPr lang="en-US" sz="600" dirty="0">
              <a:latin typeface="Arial"/>
              <a:cs typeface="Arial" pitchFamily="34" charset="0"/>
            </a:endParaRPr>
          </a:p>
        </p:txBody>
      </p:sp>
      <p:sp>
        <p:nvSpPr>
          <p:cNvPr id="9" name="Text Box 8"/>
          <p:cNvSpPr txBox="1">
            <a:spLocks noChangeArrowheads="1"/>
          </p:cNvSpPr>
          <p:nvPr>
            <p:custDataLst>
              <p:tags r:id="rId2"/>
            </p:custDataLst>
          </p:nvPr>
        </p:nvSpPr>
        <p:spPr bwMode="gray">
          <a:xfrm>
            <a:off x="3733800" y="3057446"/>
            <a:ext cx="3185160" cy="92333"/>
          </a:xfrm>
          <a:prstGeom prst="rect">
            <a:avLst/>
          </a:prstGeom>
          <a:noFill/>
          <a:ln w="6350">
            <a:noFill/>
            <a:miter lim="800000"/>
            <a:headEnd type="none" w="sm" len="sm"/>
            <a:tailEnd type="none" w="sm" len="sm"/>
          </a:ln>
          <a:effectLst/>
        </p:spPr>
        <p:txBody>
          <a:bodyPr wrap="square" lIns="0" tIns="0" rIns="0" bIns="0" anchor="b">
            <a:spAutoFit/>
          </a:bodyPr>
          <a:lstStyle/>
          <a:p>
            <a:pPr marL="534988" indent="-534988" defTabSz="762000" eaLnBrk="0" hangingPunct="0">
              <a:spcBef>
                <a:spcPts val="200"/>
              </a:spcBef>
              <a:tabLst>
                <a:tab pos="355600" algn="l"/>
              </a:tabLst>
            </a:pPr>
            <a:r>
              <a:rPr lang="en-US" sz="600" i="1" dirty="0">
                <a:cs typeface="Arial" pitchFamily="34" charset="0"/>
              </a:rPr>
              <a:t>Source: </a:t>
            </a:r>
            <a:r>
              <a:rPr lang="en-US" sz="600" i="1" dirty="0" smtClean="0">
                <a:cs typeface="Arial" pitchFamily="34" charset="0"/>
              </a:rPr>
              <a:t>GE quarterly package</a:t>
            </a:r>
            <a:endParaRPr lang="en-US" sz="600" dirty="0">
              <a:latin typeface="Arial"/>
              <a:cs typeface="Arial" pitchFamily="34" charset="0"/>
            </a:endParaRPr>
          </a:p>
        </p:txBody>
      </p:sp>
      <p:sp>
        <p:nvSpPr>
          <p:cNvPr id="10" name="Text Box 8"/>
          <p:cNvSpPr txBox="1">
            <a:spLocks noChangeArrowheads="1"/>
          </p:cNvSpPr>
          <p:nvPr>
            <p:custDataLst>
              <p:tags r:id="rId3"/>
            </p:custDataLst>
          </p:nvPr>
        </p:nvSpPr>
        <p:spPr bwMode="gray">
          <a:xfrm>
            <a:off x="264002" y="2462732"/>
            <a:ext cx="3063724" cy="512961"/>
          </a:xfrm>
          <a:prstGeom prst="rect">
            <a:avLst/>
          </a:prstGeom>
          <a:noFill/>
          <a:ln w="6350">
            <a:noFill/>
            <a:miter lim="800000"/>
            <a:headEnd type="none" w="sm" len="sm"/>
            <a:tailEnd type="none" w="sm" len="sm"/>
          </a:ln>
          <a:effectLst/>
        </p:spPr>
        <p:txBody>
          <a:bodyPr wrap="square" lIns="0" tIns="0" rIns="0" bIns="0" anchor="b">
            <a:spAutoFit/>
          </a:bodyPr>
          <a:lstStyle/>
          <a:p>
            <a:pPr marL="534988" indent="-534988" defTabSz="762000" eaLnBrk="0" hangingPunct="0">
              <a:spcBef>
                <a:spcPts val="200"/>
              </a:spcBef>
              <a:tabLst>
                <a:tab pos="355600" algn="l"/>
              </a:tabLst>
            </a:pPr>
            <a:r>
              <a:rPr lang="en-US" sz="600" i="1" dirty="0">
                <a:cs typeface="Arial" pitchFamily="34" charset="0"/>
              </a:rPr>
              <a:t>Source: </a:t>
            </a:r>
            <a:r>
              <a:rPr lang="en-US" sz="600" i="1" dirty="0" smtClean="0">
                <a:cs typeface="Arial" pitchFamily="34" charset="0"/>
              </a:rPr>
              <a:t>GE quarterly package</a:t>
            </a:r>
          </a:p>
          <a:p>
            <a:pPr marL="534988" indent="-534988" defTabSz="762000" eaLnBrk="0" hangingPunct="0">
              <a:spcBef>
                <a:spcPts val="200"/>
              </a:spcBef>
              <a:tabLst>
                <a:tab pos="355600" algn="l"/>
              </a:tabLst>
            </a:pPr>
            <a:r>
              <a:rPr lang="en-US" sz="600" dirty="0" smtClean="0">
                <a:cs typeface="Arial" pitchFamily="34" charset="0"/>
              </a:rPr>
              <a:t>(1) Figures </a:t>
            </a:r>
            <a:r>
              <a:rPr lang="en-US" sz="600" dirty="0">
                <a:cs typeface="Arial" pitchFamily="34" charset="0"/>
              </a:rPr>
              <a:t>have not been calculated as sum of above items. They have been provided </a:t>
            </a:r>
            <a:r>
              <a:rPr lang="en-US" sz="600" dirty="0" smtClean="0">
                <a:cs typeface="Arial" pitchFamily="34" charset="0"/>
              </a:rPr>
              <a:t>as part </a:t>
            </a:r>
            <a:r>
              <a:rPr lang="en-US" sz="600" dirty="0">
                <a:cs typeface="Arial" pitchFamily="34" charset="0"/>
              </a:rPr>
              <a:t>of </a:t>
            </a:r>
            <a:r>
              <a:rPr lang="en-US" sz="600" dirty="0" smtClean="0">
                <a:cs typeface="Arial" pitchFamily="34" charset="0"/>
              </a:rPr>
              <a:t>the quarterly </a:t>
            </a:r>
            <a:r>
              <a:rPr lang="en-US" sz="600" dirty="0">
                <a:cs typeface="Arial" pitchFamily="34" charset="0"/>
              </a:rPr>
              <a:t>package. KPMG is unable to calculate net income based on data provided</a:t>
            </a:r>
            <a:r>
              <a:rPr lang="en-US" sz="600" dirty="0" smtClean="0">
                <a:cs typeface="Arial" pitchFamily="34" charset="0"/>
              </a:rPr>
              <a:t>.</a:t>
            </a:r>
          </a:p>
          <a:p>
            <a:pPr marL="534988" indent="-534988" defTabSz="762000" eaLnBrk="0" hangingPunct="0">
              <a:spcBef>
                <a:spcPts val="200"/>
              </a:spcBef>
              <a:tabLst>
                <a:tab pos="355600" algn="l"/>
              </a:tabLst>
            </a:pPr>
            <a:endParaRPr lang="en-US" sz="600" dirty="0">
              <a:latin typeface="Arial"/>
              <a:cs typeface="Arial" pitchFamily="34" charset="0"/>
            </a:endParaRPr>
          </a:p>
        </p:txBody>
      </p:sp>
      <p:pic>
        <p:nvPicPr>
          <p:cNvPr id="4" name="Picture 3"/>
          <p:cNvPicPr>
            <a:picLocks noChangeAspect="1"/>
          </p:cNvPicPr>
          <p:nvPr/>
        </p:nvPicPr>
        <p:blipFill>
          <a:blip r:embed="rId8"/>
          <a:stretch>
            <a:fillRect/>
          </a:stretch>
        </p:blipFill>
        <p:spPr>
          <a:xfrm>
            <a:off x="6561900" y="1200517"/>
            <a:ext cx="2366750" cy="1494790"/>
          </a:xfrm>
          <a:prstGeom prst="rect">
            <a:avLst/>
          </a:prstGeom>
        </p:spPr>
      </p:pic>
      <p:pic>
        <p:nvPicPr>
          <p:cNvPr id="6" name="Picture 5"/>
          <p:cNvPicPr>
            <a:picLocks noChangeAspect="1"/>
          </p:cNvPicPr>
          <p:nvPr/>
        </p:nvPicPr>
        <p:blipFill>
          <a:blip r:embed="rId9"/>
          <a:stretch>
            <a:fillRect/>
          </a:stretch>
        </p:blipFill>
        <p:spPr>
          <a:xfrm>
            <a:off x="255838" y="1201503"/>
            <a:ext cx="3071888" cy="1285240"/>
          </a:xfrm>
          <a:prstGeom prst="rect">
            <a:avLst/>
          </a:prstGeom>
        </p:spPr>
      </p:pic>
      <p:pic>
        <p:nvPicPr>
          <p:cNvPr id="7" name="Picture 6"/>
          <p:cNvPicPr>
            <a:picLocks noChangeAspect="1"/>
          </p:cNvPicPr>
          <p:nvPr/>
        </p:nvPicPr>
        <p:blipFill>
          <a:blip r:embed="rId10"/>
          <a:stretch>
            <a:fillRect/>
          </a:stretch>
        </p:blipFill>
        <p:spPr>
          <a:xfrm>
            <a:off x="3733800" y="1220375"/>
            <a:ext cx="2108432" cy="1774190"/>
          </a:xfrm>
          <a:prstGeom prst="rect">
            <a:avLst/>
          </a:prstGeom>
        </p:spPr>
      </p:pic>
      <p:pic>
        <p:nvPicPr>
          <p:cNvPr id="11" name="Picture 10"/>
          <p:cNvPicPr>
            <a:picLocks noChangeAspect="1"/>
          </p:cNvPicPr>
          <p:nvPr/>
        </p:nvPicPr>
        <p:blipFill>
          <a:blip r:embed="rId11"/>
          <a:stretch>
            <a:fillRect/>
          </a:stretch>
        </p:blipFill>
        <p:spPr>
          <a:xfrm>
            <a:off x="-304800" y="3747972"/>
            <a:ext cx="4456716" cy="2781884"/>
          </a:xfrm>
          <a:prstGeom prst="rect">
            <a:avLst/>
          </a:prstGeom>
        </p:spPr>
      </p:pic>
      <p:pic>
        <p:nvPicPr>
          <p:cNvPr id="14" name="Picture 13"/>
          <p:cNvPicPr>
            <a:picLocks noChangeAspect="1"/>
          </p:cNvPicPr>
          <p:nvPr/>
        </p:nvPicPr>
        <p:blipFill>
          <a:blip r:embed="rId12"/>
          <a:stretch>
            <a:fillRect/>
          </a:stretch>
        </p:blipFill>
        <p:spPr>
          <a:xfrm>
            <a:off x="3420291" y="3406686"/>
            <a:ext cx="4453666" cy="2956893"/>
          </a:xfrm>
          <a:prstGeom prst="rect">
            <a:avLst/>
          </a:prstGeom>
        </p:spPr>
      </p:pic>
      <p:sp>
        <p:nvSpPr>
          <p:cNvPr id="17" name="Text Box 8"/>
          <p:cNvSpPr txBox="1">
            <a:spLocks noChangeArrowheads="1"/>
          </p:cNvSpPr>
          <p:nvPr>
            <p:custDataLst>
              <p:tags r:id="rId4"/>
            </p:custDataLst>
          </p:nvPr>
        </p:nvSpPr>
        <p:spPr bwMode="gray">
          <a:xfrm>
            <a:off x="233328" y="5867400"/>
            <a:ext cx="4211303" cy="92333"/>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latin typeface="Arial"/>
                <a:cs typeface="Arial" pitchFamily="34" charset="0"/>
              </a:rPr>
              <a:t> Source: 5.2.1.1. Revised Atlas BLG Data tape – Party Names</a:t>
            </a:r>
          </a:p>
        </p:txBody>
      </p:sp>
      <p:sp>
        <p:nvSpPr>
          <p:cNvPr id="18" name="Text Box 8"/>
          <p:cNvSpPr txBox="1">
            <a:spLocks noChangeArrowheads="1"/>
          </p:cNvSpPr>
          <p:nvPr>
            <p:custDataLst>
              <p:tags r:id="rId5"/>
            </p:custDataLst>
          </p:nvPr>
        </p:nvSpPr>
        <p:spPr bwMode="gray">
          <a:xfrm>
            <a:off x="3680071" y="6106295"/>
            <a:ext cx="4211303" cy="92333"/>
          </a:xfrm>
          <a:prstGeom prst="rect">
            <a:avLst/>
          </a:prstGeom>
          <a:noFill/>
          <a:ln w="6350">
            <a:noFill/>
            <a:miter lim="800000"/>
            <a:headEnd type="none" w="sm" len="sm"/>
            <a:tailEnd type="none" w="sm" len="sm"/>
          </a:ln>
          <a:effectLst/>
        </p:spPr>
        <p:txBody>
          <a:bodyPr wrap="square" lIns="0" tIns="0" rIns="0" bIns="0" anchor="b">
            <a:spAutoFit/>
          </a:bodyPr>
          <a:lstStyle/>
          <a:p>
            <a:pPr defTabSz="762000" eaLnBrk="0" hangingPunct="0">
              <a:spcBef>
                <a:spcPts val="200"/>
              </a:spcBef>
            </a:pPr>
            <a:r>
              <a:rPr lang="en-US" sz="600" i="1" dirty="0" smtClean="0">
                <a:latin typeface="Arial"/>
                <a:cs typeface="Arial" pitchFamily="34" charset="0"/>
              </a:rPr>
              <a:t> Source: 5.2.1.1. Revised Atlas BLG Data tape – Party Names</a:t>
            </a:r>
          </a:p>
        </p:txBody>
      </p:sp>
    </p:spTree>
    <p:extLst>
      <p:ext uri="{BB962C8B-B14F-4D97-AF65-F5344CB8AC3E}">
        <p14:creationId xmlns:p14="http://schemas.microsoft.com/office/powerpoint/2010/main" val="4164967047"/>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2123728" y="116632"/>
            <a:ext cx="6768752" cy="576064"/>
          </a:xfrm>
        </p:spPr>
        <p:txBody>
          <a:bodyPr/>
          <a:lstStyle/>
          <a:p>
            <a:r>
              <a:rPr lang="en-US" sz="1400" b="0" dirty="0" smtClean="0">
                <a:solidFill>
                  <a:srgbClr val="747678"/>
                </a:solidFill>
              </a:rPr>
              <a:t>Appendix 17</a:t>
            </a:r>
            <a:r>
              <a:rPr lang="en-US" dirty="0" smtClean="0"/>
              <a:t/>
            </a:r>
            <a:br>
              <a:rPr lang="en-US" dirty="0" smtClean="0"/>
            </a:br>
            <a:r>
              <a:rPr lang="en-US" dirty="0" smtClean="0"/>
              <a:t>ENI bridges</a:t>
            </a:r>
            <a:endParaRPr lang="en-US" dirty="0"/>
          </a:p>
        </p:txBody>
      </p:sp>
      <p:sp>
        <p:nvSpPr>
          <p:cNvPr id="8" name="Text Placeholder 8"/>
          <p:cNvSpPr txBox="1">
            <a:spLocks/>
          </p:cNvSpPr>
          <p:nvPr/>
        </p:nvSpPr>
        <p:spPr bwMode="gray">
          <a:xfrm>
            <a:off x="322367" y="1196382"/>
            <a:ext cx="4320690" cy="138499"/>
          </a:xfrm>
          <a:prstGeom prst="rect">
            <a:avLst/>
          </a:prstGeom>
        </p:spPr>
        <p:txBody>
          <a:bodyPr vert="horz" wrap="square" lIns="0" tIns="0" rIns="0" bIns="0" rtlCol="0">
            <a:spAutoFit/>
          </a:bodyPr>
          <a:lstStyle/>
          <a:p>
            <a:pPr algn="just">
              <a:spcBef>
                <a:spcPts val="600"/>
              </a:spcBef>
            </a:pPr>
            <a:r>
              <a:rPr lang="en-US" sz="900" b="1" dirty="0" smtClean="0">
                <a:solidFill>
                  <a:schemeClr val="accent4"/>
                </a:solidFill>
                <a:latin typeface="Arial"/>
                <a:cs typeface="Arial" pitchFamily="34" charset="0"/>
              </a:rPr>
              <a:t>ENI bridge – Q4-13 to Q4-14</a:t>
            </a:r>
            <a:endParaRPr kumimoji="0" lang="en-US" sz="900" b="0" i="0" u="none" strike="noStrike" kern="1200" cap="none" spc="0" normalizeH="0" baseline="0" noProof="0" dirty="0">
              <a:ln>
                <a:noFill/>
              </a:ln>
              <a:solidFill>
                <a:schemeClr val="tx1"/>
              </a:solidFill>
              <a:effectLst/>
              <a:uLnTx/>
              <a:uFillTx/>
              <a:latin typeface="Arial"/>
              <a:ea typeface="+mn-ea"/>
              <a:cs typeface="Arial" pitchFamily="34" charset="0"/>
            </a:endParaRPr>
          </a:p>
        </p:txBody>
      </p:sp>
      <p:sp>
        <p:nvSpPr>
          <p:cNvPr id="9" name="Text Placeholder 8"/>
          <p:cNvSpPr txBox="1">
            <a:spLocks/>
          </p:cNvSpPr>
          <p:nvPr/>
        </p:nvSpPr>
        <p:spPr bwMode="gray">
          <a:xfrm>
            <a:off x="322367" y="3723029"/>
            <a:ext cx="4320690" cy="138499"/>
          </a:xfrm>
          <a:prstGeom prst="rect">
            <a:avLst/>
          </a:prstGeom>
        </p:spPr>
        <p:txBody>
          <a:bodyPr vert="horz" wrap="square" lIns="0" tIns="0" rIns="0" bIns="0" rtlCol="0">
            <a:spAutoFit/>
          </a:bodyPr>
          <a:lstStyle/>
          <a:p>
            <a:pPr algn="just">
              <a:spcBef>
                <a:spcPts val="600"/>
              </a:spcBef>
            </a:pPr>
            <a:r>
              <a:rPr lang="en-US" sz="900" b="1" dirty="0" smtClean="0">
                <a:solidFill>
                  <a:schemeClr val="accent4"/>
                </a:solidFill>
                <a:latin typeface="Arial"/>
                <a:cs typeface="Arial" pitchFamily="34" charset="0"/>
              </a:rPr>
              <a:t>ENI bridge – Q4-14 to Q1-15</a:t>
            </a:r>
            <a:endParaRPr kumimoji="0" lang="en-US" sz="900" b="0" i="0" u="none" strike="noStrike" kern="1200" cap="none" spc="0" normalizeH="0" baseline="0" noProof="0" dirty="0">
              <a:ln>
                <a:noFill/>
              </a:ln>
              <a:solidFill>
                <a:schemeClr val="tx1"/>
              </a:solidFill>
              <a:effectLst/>
              <a:uLnTx/>
              <a:uFillTx/>
              <a:latin typeface="Arial"/>
              <a:ea typeface="+mn-ea"/>
              <a:cs typeface="Arial" pitchFamily="34" charset="0"/>
            </a:endParaRPr>
          </a:p>
        </p:txBody>
      </p:sp>
      <p:sp>
        <p:nvSpPr>
          <p:cNvPr id="19" name="Text Placeholder 27"/>
          <p:cNvSpPr>
            <a:spLocks noGrp="1"/>
          </p:cNvSpPr>
          <p:nvPr>
            <p:ph type="body" sz="quarter" idx="13"/>
          </p:nvPr>
        </p:nvSpPr>
        <p:spPr>
          <a:xfrm>
            <a:off x="5057776" y="1213617"/>
            <a:ext cx="3834704" cy="4806183"/>
          </a:xfrm>
        </p:spPr>
        <p:txBody>
          <a:bodyPr/>
          <a:lstStyle/>
          <a:p>
            <a:r>
              <a:rPr lang="en-GB" dirty="0" smtClean="0">
                <a:solidFill>
                  <a:schemeClr val="tx1"/>
                </a:solidFill>
              </a:rPr>
              <a:t>Volume:</a:t>
            </a:r>
            <a:r>
              <a:rPr lang="en-GB" b="0" dirty="0" smtClean="0">
                <a:solidFill>
                  <a:schemeClr val="tx1"/>
                </a:solidFill>
              </a:rPr>
              <a:t> includes activities such as new deal origination, line increases, and top-ups. The majority of volume relates to new deal origination which increased starting in Q2 2014 and reached a peak of $1,198 million in Q3 2014. </a:t>
            </a:r>
            <a:r>
              <a:rPr lang="en-US" b="0" dirty="0" smtClean="0">
                <a:solidFill>
                  <a:schemeClr val="tx1"/>
                </a:solidFill>
              </a:rPr>
              <a:t>New volumes </a:t>
            </a:r>
            <a:r>
              <a:rPr lang="en-US" b="0" dirty="0">
                <a:solidFill>
                  <a:schemeClr val="tx1"/>
                </a:solidFill>
              </a:rPr>
              <a:t>may have been achieved through a reduction in NBM for </a:t>
            </a:r>
            <a:r>
              <a:rPr lang="en-US" b="0" dirty="0" smtClean="0">
                <a:solidFill>
                  <a:schemeClr val="tx1"/>
                </a:solidFill>
              </a:rPr>
              <a:t>new deals from 4.59% to 3.15% from Q1 </a:t>
            </a:r>
            <a:r>
              <a:rPr lang="en-US" b="0" dirty="0">
                <a:solidFill>
                  <a:schemeClr val="tx1"/>
                </a:solidFill>
              </a:rPr>
              <a:t>t</a:t>
            </a:r>
            <a:r>
              <a:rPr lang="en-US" b="0" dirty="0" smtClean="0">
                <a:solidFill>
                  <a:schemeClr val="tx1"/>
                </a:solidFill>
              </a:rPr>
              <a:t>o Q2. This would have resulted in more attractive rates for borrowers, thus driving up volumes.</a:t>
            </a:r>
            <a:endParaRPr lang="en-GB" b="0" dirty="0">
              <a:solidFill>
                <a:schemeClr val="tx1"/>
              </a:solidFill>
            </a:endParaRPr>
          </a:p>
          <a:p>
            <a:endParaRPr lang="en-US" b="0" dirty="0" smtClean="0">
              <a:solidFill>
                <a:schemeClr val="tx1"/>
              </a:solidFill>
            </a:endParaRPr>
          </a:p>
          <a:p>
            <a:r>
              <a:rPr lang="en-GB" dirty="0" smtClean="0">
                <a:solidFill>
                  <a:schemeClr val="tx1"/>
                </a:solidFill>
              </a:rPr>
              <a:t>Refinancing volume:</a:t>
            </a:r>
            <a:r>
              <a:rPr lang="en-GB" b="0" dirty="0" smtClean="0">
                <a:solidFill>
                  <a:schemeClr val="tx1"/>
                </a:solidFill>
              </a:rPr>
              <a:t> increased significantly in Q2 2014 as a result of the reduction in NBM from 4.42% to 3.43% from Q1 to Q2. Refinancing volumes after Q2 2014 reverted to an average of approximately $260 million per quarter.</a:t>
            </a:r>
          </a:p>
          <a:p>
            <a:endParaRPr lang="en-GB" dirty="0" smtClean="0">
              <a:solidFill>
                <a:schemeClr val="tx1"/>
              </a:solidFill>
            </a:endParaRPr>
          </a:p>
          <a:p>
            <a:r>
              <a:rPr lang="en-GB" dirty="0" smtClean="0">
                <a:solidFill>
                  <a:schemeClr val="tx1"/>
                </a:solidFill>
              </a:rPr>
              <a:t>Refinancing runoff: </a:t>
            </a:r>
            <a:r>
              <a:rPr lang="en-GB" b="0" dirty="0" smtClean="0">
                <a:solidFill>
                  <a:schemeClr val="tx1"/>
                </a:solidFill>
              </a:rPr>
              <a:t>represents the cash flows foregone as a result of borrowers refinancing their loans with Antares or through another lender. Refinancing volumes and refinancing run-offs broadly off-set each other, therefore most growth in ENI is represented through new customers or line increases.</a:t>
            </a:r>
          </a:p>
          <a:p>
            <a:endParaRPr lang="en-GB" dirty="0">
              <a:solidFill>
                <a:schemeClr val="tx1"/>
              </a:solidFill>
            </a:endParaRPr>
          </a:p>
          <a:p>
            <a:r>
              <a:rPr lang="en-GB" dirty="0" smtClean="0">
                <a:solidFill>
                  <a:schemeClr val="tx1"/>
                </a:solidFill>
              </a:rPr>
              <a:t>Payouts:</a:t>
            </a:r>
            <a:r>
              <a:rPr lang="en-GB" b="0" dirty="0" smtClean="0">
                <a:solidFill>
                  <a:schemeClr val="tx1"/>
                </a:solidFill>
              </a:rPr>
              <a:t> represents payouts of loans by borrowers. Payouts increased from $426 million in Q1 2014 to $1,548M in Q4 2014. Payouts reverted back to $1,030 million in Q1 2015. We note that payouts broadly track new volumes by quarter.</a:t>
            </a:r>
          </a:p>
          <a:p>
            <a:endParaRPr lang="en-GB" dirty="0">
              <a:solidFill>
                <a:schemeClr val="tx1"/>
              </a:solidFill>
            </a:endParaRPr>
          </a:p>
          <a:p>
            <a:r>
              <a:rPr lang="en-GB" dirty="0" smtClean="0">
                <a:solidFill>
                  <a:schemeClr val="tx1"/>
                </a:solidFill>
              </a:rPr>
              <a:t>Other items: </a:t>
            </a:r>
            <a:r>
              <a:rPr lang="en-GB" b="0" dirty="0" smtClean="0">
                <a:solidFill>
                  <a:schemeClr val="tx1"/>
                </a:solidFill>
              </a:rPr>
              <a:t>includes changes during the year related to amortization, held for sale securities, Antares revolvers, taxes payable, and other items. Of note is a deferred tax asset of which increased ENI by $518 million in Q4 2014.</a:t>
            </a:r>
            <a:endParaRPr lang="en-GB" b="0" dirty="0">
              <a:solidFill>
                <a:schemeClr val="tx1"/>
              </a:solidFill>
            </a:endParaRPr>
          </a:p>
        </p:txBody>
      </p:sp>
      <p:sp>
        <p:nvSpPr>
          <p:cNvPr id="22" name="Oval 21"/>
          <p:cNvSpPr>
            <a:spLocks noChangeArrowheads="1"/>
          </p:cNvSpPr>
          <p:nvPr/>
        </p:nvSpPr>
        <p:spPr bwMode="gray">
          <a:xfrm>
            <a:off x="4857881" y="4975247"/>
            <a:ext cx="151442" cy="151441"/>
          </a:xfrm>
          <a:prstGeom prst="ellipse">
            <a:avLst/>
          </a:prstGeom>
          <a:solidFill>
            <a:srgbClr val="BFDEE4"/>
          </a:solidFill>
          <a:ln w="6350">
            <a:noFill/>
            <a:round/>
            <a:headEnd/>
            <a:tailEnd/>
          </a:ln>
          <a:effectLst/>
        </p:spPr>
        <p:txBody>
          <a:bodyPr wrap="none" lIns="0" tIns="0" rIns="0" bIns="0" anchor="ctr"/>
          <a:lstStyle/>
          <a:p>
            <a:pPr algn="ctr"/>
            <a:r>
              <a:rPr lang="en-CA" sz="800" dirty="0" smtClean="0">
                <a:latin typeface="Arial" pitchFamily="34" charset="0"/>
                <a:cs typeface="Arial" pitchFamily="34" charset="0"/>
              </a:rPr>
              <a:t>5</a:t>
            </a:r>
            <a:endParaRPr lang="en-CA" sz="800" dirty="0">
              <a:latin typeface="Arial" pitchFamily="34" charset="0"/>
              <a:cs typeface="Arial" pitchFamily="34" charset="0"/>
            </a:endParaRPr>
          </a:p>
        </p:txBody>
      </p:sp>
      <p:sp>
        <p:nvSpPr>
          <p:cNvPr id="23" name="Oval 15"/>
          <p:cNvSpPr>
            <a:spLocks noChangeArrowheads="1"/>
          </p:cNvSpPr>
          <p:nvPr/>
        </p:nvSpPr>
        <p:spPr bwMode="gray">
          <a:xfrm>
            <a:off x="1482067" y="1629735"/>
            <a:ext cx="151442" cy="151441"/>
          </a:xfrm>
          <a:prstGeom prst="ellipse">
            <a:avLst/>
          </a:prstGeom>
          <a:solidFill>
            <a:srgbClr val="BFDEE4"/>
          </a:solidFill>
          <a:ln w="6350">
            <a:noFill/>
            <a:round/>
            <a:headEnd/>
            <a:tailEnd/>
          </a:ln>
          <a:effectLst/>
        </p:spPr>
        <p:txBody>
          <a:bodyPr wrap="none" lIns="0" tIns="0" rIns="0" bIns="0" anchor="ctr"/>
          <a:lstStyle/>
          <a:p>
            <a:pPr algn="ctr"/>
            <a:r>
              <a:rPr lang="en-CA" sz="800" dirty="0" smtClean="0">
                <a:latin typeface="Arial" pitchFamily="34" charset="0"/>
                <a:cs typeface="Arial" pitchFamily="34" charset="0"/>
              </a:rPr>
              <a:t>1</a:t>
            </a:r>
            <a:endParaRPr lang="en-CA" sz="800" dirty="0">
              <a:latin typeface="Arial" pitchFamily="34" charset="0"/>
              <a:cs typeface="Arial" pitchFamily="34" charset="0"/>
            </a:endParaRPr>
          </a:p>
        </p:txBody>
      </p:sp>
      <p:sp>
        <p:nvSpPr>
          <p:cNvPr id="24" name="Oval 15"/>
          <p:cNvSpPr>
            <a:spLocks noChangeArrowheads="1"/>
          </p:cNvSpPr>
          <p:nvPr/>
        </p:nvSpPr>
        <p:spPr bwMode="gray">
          <a:xfrm>
            <a:off x="2048007" y="1516491"/>
            <a:ext cx="151442" cy="151441"/>
          </a:xfrm>
          <a:prstGeom prst="ellipse">
            <a:avLst/>
          </a:prstGeom>
          <a:solidFill>
            <a:srgbClr val="BFDEE4"/>
          </a:solidFill>
          <a:ln w="6350">
            <a:noFill/>
            <a:round/>
            <a:headEnd/>
            <a:tailEnd/>
          </a:ln>
          <a:effectLst/>
        </p:spPr>
        <p:txBody>
          <a:bodyPr wrap="none" lIns="0" tIns="0" rIns="0" bIns="0" anchor="ctr"/>
          <a:lstStyle/>
          <a:p>
            <a:pPr algn="ctr"/>
            <a:r>
              <a:rPr lang="en-CA" sz="800" dirty="0" smtClean="0">
                <a:latin typeface="Arial" pitchFamily="34" charset="0"/>
                <a:cs typeface="Arial" pitchFamily="34" charset="0"/>
              </a:rPr>
              <a:t>2</a:t>
            </a:r>
            <a:endParaRPr lang="en-CA" sz="800" dirty="0">
              <a:latin typeface="Arial" pitchFamily="34" charset="0"/>
              <a:cs typeface="Arial" pitchFamily="34" charset="0"/>
            </a:endParaRPr>
          </a:p>
        </p:txBody>
      </p:sp>
      <p:sp>
        <p:nvSpPr>
          <p:cNvPr id="25" name="Oval 15"/>
          <p:cNvSpPr>
            <a:spLocks noChangeArrowheads="1"/>
          </p:cNvSpPr>
          <p:nvPr/>
        </p:nvSpPr>
        <p:spPr bwMode="gray">
          <a:xfrm>
            <a:off x="3141069" y="1621570"/>
            <a:ext cx="151442" cy="151441"/>
          </a:xfrm>
          <a:prstGeom prst="ellipse">
            <a:avLst/>
          </a:prstGeom>
          <a:solidFill>
            <a:srgbClr val="BFDEE4"/>
          </a:solidFill>
          <a:ln w="6350">
            <a:noFill/>
            <a:round/>
            <a:headEnd/>
            <a:tailEnd/>
          </a:ln>
          <a:effectLst/>
        </p:spPr>
        <p:txBody>
          <a:bodyPr wrap="none" lIns="0" tIns="0" rIns="0" bIns="0" anchor="ctr"/>
          <a:lstStyle/>
          <a:p>
            <a:pPr algn="ctr"/>
            <a:r>
              <a:rPr lang="en-CA" sz="800" dirty="0" smtClean="0">
                <a:latin typeface="Arial" pitchFamily="34" charset="0"/>
                <a:cs typeface="Arial" pitchFamily="34" charset="0"/>
              </a:rPr>
              <a:t>4</a:t>
            </a:r>
            <a:endParaRPr lang="en-CA" sz="800" dirty="0">
              <a:latin typeface="Arial" pitchFamily="34" charset="0"/>
              <a:cs typeface="Arial" pitchFamily="34" charset="0"/>
            </a:endParaRPr>
          </a:p>
        </p:txBody>
      </p:sp>
      <p:sp>
        <p:nvSpPr>
          <p:cNvPr id="27" name="Oval 15"/>
          <p:cNvSpPr>
            <a:spLocks noChangeArrowheads="1"/>
          </p:cNvSpPr>
          <p:nvPr/>
        </p:nvSpPr>
        <p:spPr bwMode="gray">
          <a:xfrm>
            <a:off x="2613947" y="3938061"/>
            <a:ext cx="151442" cy="151441"/>
          </a:xfrm>
          <a:prstGeom prst="ellipse">
            <a:avLst/>
          </a:prstGeom>
          <a:solidFill>
            <a:srgbClr val="BFDEE4"/>
          </a:solidFill>
          <a:ln w="6350">
            <a:noFill/>
            <a:round/>
            <a:headEnd/>
            <a:tailEnd/>
          </a:ln>
          <a:effectLst/>
        </p:spPr>
        <p:txBody>
          <a:bodyPr wrap="none" lIns="0" tIns="0" rIns="0" bIns="0" anchor="ctr"/>
          <a:lstStyle/>
          <a:p>
            <a:pPr algn="ctr"/>
            <a:r>
              <a:rPr lang="en-CA" sz="800" dirty="0" smtClean="0">
                <a:latin typeface="Arial" pitchFamily="34" charset="0"/>
                <a:cs typeface="Arial" pitchFamily="34" charset="0"/>
              </a:rPr>
              <a:t>3</a:t>
            </a:r>
            <a:endParaRPr lang="en-CA" sz="800" dirty="0">
              <a:latin typeface="Arial" pitchFamily="34" charset="0"/>
              <a:cs typeface="Arial" pitchFamily="34" charset="0"/>
            </a:endParaRPr>
          </a:p>
        </p:txBody>
      </p:sp>
      <p:sp>
        <p:nvSpPr>
          <p:cNvPr id="31" name="Text Box 8"/>
          <p:cNvSpPr txBox="1">
            <a:spLocks noChangeArrowheads="1"/>
          </p:cNvSpPr>
          <p:nvPr>
            <p:custDataLst>
              <p:tags r:id="rId1"/>
            </p:custDataLst>
          </p:nvPr>
        </p:nvSpPr>
        <p:spPr bwMode="gray">
          <a:xfrm>
            <a:off x="245804" y="6019800"/>
            <a:ext cx="3323492" cy="92333"/>
          </a:xfrm>
          <a:prstGeom prst="rect">
            <a:avLst/>
          </a:prstGeom>
          <a:noFill/>
          <a:ln w="6350">
            <a:noFill/>
            <a:miter lim="800000"/>
            <a:headEnd type="none" w="sm" len="sm"/>
            <a:tailEnd type="none" w="sm" len="sm"/>
          </a:ln>
          <a:effectLst/>
        </p:spPr>
        <p:txBody>
          <a:bodyPr wrap="square" lIns="0" tIns="0" rIns="0" bIns="0" anchor="b">
            <a:spAutoFit/>
          </a:bodyPr>
          <a:lstStyle/>
          <a:p>
            <a:pPr marL="284163" lvl="0" indent="-284163" defTabSz="762000" eaLnBrk="0" fontAlgn="base" hangingPunct="0">
              <a:spcAft>
                <a:spcPct val="0"/>
              </a:spcAft>
              <a:tabLst>
                <a:tab pos="357188" algn="l"/>
              </a:tabLst>
            </a:pPr>
            <a:r>
              <a:rPr lang="en-US" sz="600" i="1" dirty="0" smtClean="0"/>
              <a:t>Source: 6.6 Quarterly sponsor </a:t>
            </a:r>
            <a:r>
              <a:rPr lang="en-US" sz="600" i="1" dirty="0"/>
              <a:t>f</a:t>
            </a:r>
            <a:r>
              <a:rPr lang="en-US" sz="600" i="1" dirty="0" smtClean="0"/>
              <a:t>inance </a:t>
            </a:r>
            <a:r>
              <a:rPr lang="en-US" sz="600" i="1" dirty="0"/>
              <a:t>c</a:t>
            </a:r>
            <a:r>
              <a:rPr lang="en-US" sz="600" i="1" dirty="0" smtClean="0"/>
              <a:t>lose package.pdf, KPMG analysis</a:t>
            </a:r>
            <a:endParaRPr lang="en-US" sz="600" i="1" dirty="0"/>
          </a:p>
        </p:txBody>
      </p:sp>
      <p:pic>
        <p:nvPicPr>
          <p:cNvPr id="7" name="Picture 6"/>
          <p:cNvPicPr>
            <a:picLocks noChangeAspect="1"/>
          </p:cNvPicPr>
          <p:nvPr/>
        </p:nvPicPr>
        <p:blipFill>
          <a:blip r:embed="rId4"/>
          <a:stretch>
            <a:fillRect/>
          </a:stretch>
        </p:blipFill>
        <p:spPr>
          <a:xfrm>
            <a:off x="191439" y="1403771"/>
            <a:ext cx="4490657" cy="2126098"/>
          </a:xfrm>
          <a:prstGeom prst="rect">
            <a:avLst/>
          </a:prstGeom>
        </p:spPr>
      </p:pic>
      <p:sp>
        <p:nvSpPr>
          <p:cNvPr id="32" name="Oval 15"/>
          <p:cNvSpPr>
            <a:spLocks noChangeArrowheads="1"/>
          </p:cNvSpPr>
          <p:nvPr/>
        </p:nvSpPr>
        <p:spPr bwMode="gray">
          <a:xfrm>
            <a:off x="4857881" y="1235830"/>
            <a:ext cx="151442" cy="151441"/>
          </a:xfrm>
          <a:prstGeom prst="ellipse">
            <a:avLst/>
          </a:prstGeom>
          <a:solidFill>
            <a:srgbClr val="BFDEE4"/>
          </a:solidFill>
          <a:ln w="6350">
            <a:noFill/>
            <a:round/>
            <a:headEnd/>
            <a:tailEnd/>
          </a:ln>
          <a:effectLst/>
        </p:spPr>
        <p:txBody>
          <a:bodyPr wrap="none" lIns="0" tIns="0" rIns="0" bIns="0" anchor="ctr"/>
          <a:lstStyle/>
          <a:p>
            <a:pPr algn="ctr"/>
            <a:r>
              <a:rPr lang="en-CA" sz="800" dirty="0" smtClean="0">
                <a:latin typeface="Arial" pitchFamily="34" charset="0"/>
                <a:cs typeface="Arial" pitchFamily="34" charset="0"/>
              </a:rPr>
              <a:t>1</a:t>
            </a:r>
            <a:endParaRPr lang="en-CA" sz="800" dirty="0">
              <a:latin typeface="Arial" pitchFamily="34" charset="0"/>
              <a:cs typeface="Arial" pitchFamily="34" charset="0"/>
            </a:endParaRPr>
          </a:p>
        </p:txBody>
      </p:sp>
      <p:sp>
        <p:nvSpPr>
          <p:cNvPr id="33" name="Oval 15"/>
          <p:cNvSpPr>
            <a:spLocks noChangeArrowheads="1"/>
          </p:cNvSpPr>
          <p:nvPr/>
        </p:nvSpPr>
        <p:spPr bwMode="gray">
          <a:xfrm>
            <a:off x="1482067" y="4089503"/>
            <a:ext cx="151442" cy="151441"/>
          </a:xfrm>
          <a:prstGeom prst="ellipse">
            <a:avLst/>
          </a:prstGeom>
          <a:solidFill>
            <a:srgbClr val="BFDEE4"/>
          </a:solidFill>
          <a:ln w="6350">
            <a:noFill/>
            <a:round/>
            <a:headEnd/>
            <a:tailEnd/>
          </a:ln>
          <a:effectLst/>
        </p:spPr>
        <p:txBody>
          <a:bodyPr wrap="none" lIns="0" tIns="0" rIns="0" bIns="0" anchor="ctr"/>
          <a:lstStyle/>
          <a:p>
            <a:pPr algn="ctr"/>
            <a:r>
              <a:rPr lang="en-CA" sz="800" dirty="0" smtClean="0">
                <a:latin typeface="Arial" pitchFamily="34" charset="0"/>
                <a:cs typeface="Arial" pitchFamily="34" charset="0"/>
              </a:rPr>
              <a:t>1</a:t>
            </a:r>
            <a:endParaRPr lang="en-CA" sz="800" dirty="0">
              <a:latin typeface="Arial" pitchFamily="34" charset="0"/>
              <a:cs typeface="Arial" pitchFamily="34" charset="0"/>
            </a:endParaRPr>
          </a:p>
        </p:txBody>
      </p:sp>
      <p:sp>
        <p:nvSpPr>
          <p:cNvPr id="34" name="Oval 15"/>
          <p:cNvSpPr>
            <a:spLocks noChangeArrowheads="1"/>
          </p:cNvSpPr>
          <p:nvPr/>
        </p:nvSpPr>
        <p:spPr bwMode="gray">
          <a:xfrm>
            <a:off x="2048007" y="3938062"/>
            <a:ext cx="151442" cy="151441"/>
          </a:xfrm>
          <a:prstGeom prst="ellipse">
            <a:avLst/>
          </a:prstGeom>
          <a:solidFill>
            <a:srgbClr val="BFDEE4"/>
          </a:solidFill>
          <a:ln w="6350">
            <a:noFill/>
            <a:round/>
            <a:headEnd/>
            <a:tailEnd/>
          </a:ln>
          <a:effectLst/>
        </p:spPr>
        <p:txBody>
          <a:bodyPr wrap="none" lIns="0" tIns="0" rIns="0" bIns="0" anchor="ctr"/>
          <a:lstStyle/>
          <a:p>
            <a:pPr algn="ctr"/>
            <a:r>
              <a:rPr lang="en-CA" sz="800" dirty="0" smtClean="0">
                <a:latin typeface="Arial" pitchFamily="34" charset="0"/>
                <a:cs typeface="Arial" pitchFamily="34" charset="0"/>
              </a:rPr>
              <a:t>2</a:t>
            </a:r>
            <a:endParaRPr lang="en-CA" sz="800" dirty="0">
              <a:latin typeface="Arial" pitchFamily="34" charset="0"/>
              <a:cs typeface="Arial" pitchFamily="34" charset="0"/>
            </a:endParaRPr>
          </a:p>
        </p:txBody>
      </p:sp>
      <p:sp>
        <p:nvSpPr>
          <p:cNvPr id="35" name="Oval 15"/>
          <p:cNvSpPr>
            <a:spLocks noChangeArrowheads="1"/>
          </p:cNvSpPr>
          <p:nvPr/>
        </p:nvSpPr>
        <p:spPr bwMode="gray">
          <a:xfrm>
            <a:off x="4857881" y="2319833"/>
            <a:ext cx="151442" cy="151441"/>
          </a:xfrm>
          <a:prstGeom prst="ellipse">
            <a:avLst/>
          </a:prstGeom>
          <a:solidFill>
            <a:srgbClr val="BFDEE4"/>
          </a:solidFill>
          <a:ln w="6350">
            <a:noFill/>
            <a:round/>
            <a:headEnd/>
            <a:tailEnd/>
          </a:ln>
          <a:effectLst/>
        </p:spPr>
        <p:txBody>
          <a:bodyPr wrap="none" lIns="0" tIns="0" rIns="0" bIns="0" anchor="ctr"/>
          <a:lstStyle/>
          <a:p>
            <a:pPr algn="ctr"/>
            <a:r>
              <a:rPr lang="en-CA" sz="800" dirty="0" smtClean="0">
                <a:latin typeface="Arial" pitchFamily="34" charset="0"/>
                <a:cs typeface="Arial" pitchFamily="34" charset="0"/>
              </a:rPr>
              <a:t>2</a:t>
            </a:r>
            <a:endParaRPr lang="en-CA" sz="800" dirty="0">
              <a:latin typeface="Arial" pitchFamily="34" charset="0"/>
              <a:cs typeface="Arial" pitchFamily="34" charset="0"/>
            </a:endParaRPr>
          </a:p>
        </p:txBody>
      </p:sp>
      <p:sp>
        <p:nvSpPr>
          <p:cNvPr id="36" name="Oval 15"/>
          <p:cNvSpPr>
            <a:spLocks noChangeArrowheads="1"/>
          </p:cNvSpPr>
          <p:nvPr/>
        </p:nvSpPr>
        <p:spPr bwMode="gray">
          <a:xfrm>
            <a:off x="2613947" y="1508326"/>
            <a:ext cx="151442" cy="151441"/>
          </a:xfrm>
          <a:prstGeom prst="ellipse">
            <a:avLst/>
          </a:prstGeom>
          <a:solidFill>
            <a:srgbClr val="BFDEE4"/>
          </a:solidFill>
          <a:ln w="6350">
            <a:noFill/>
            <a:round/>
            <a:headEnd/>
            <a:tailEnd/>
          </a:ln>
          <a:effectLst/>
        </p:spPr>
        <p:txBody>
          <a:bodyPr wrap="none" lIns="0" tIns="0" rIns="0" bIns="0" anchor="ctr"/>
          <a:lstStyle/>
          <a:p>
            <a:pPr algn="ctr"/>
            <a:r>
              <a:rPr lang="en-CA" sz="800" dirty="0" smtClean="0">
                <a:latin typeface="Arial" pitchFamily="34" charset="0"/>
                <a:cs typeface="Arial" pitchFamily="34" charset="0"/>
              </a:rPr>
              <a:t>3</a:t>
            </a:r>
            <a:endParaRPr lang="en-CA" sz="800" dirty="0">
              <a:latin typeface="Arial" pitchFamily="34" charset="0"/>
              <a:cs typeface="Arial" pitchFamily="34" charset="0"/>
            </a:endParaRPr>
          </a:p>
        </p:txBody>
      </p:sp>
      <p:sp>
        <p:nvSpPr>
          <p:cNvPr id="37" name="Oval 15"/>
          <p:cNvSpPr>
            <a:spLocks noChangeArrowheads="1"/>
          </p:cNvSpPr>
          <p:nvPr/>
        </p:nvSpPr>
        <p:spPr bwMode="gray">
          <a:xfrm>
            <a:off x="4867295" y="3172270"/>
            <a:ext cx="151442" cy="151441"/>
          </a:xfrm>
          <a:prstGeom prst="ellipse">
            <a:avLst/>
          </a:prstGeom>
          <a:solidFill>
            <a:srgbClr val="BFDEE4"/>
          </a:solidFill>
          <a:ln w="6350">
            <a:noFill/>
            <a:round/>
            <a:headEnd/>
            <a:tailEnd/>
          </a:ln>
          <a:effectLst/>
        </p:spPr>
        <p:txBody>
          <a:bodyPr wrap="none" lIns="0" tIns="0" rIns="0" bIns="0" anchor="ctr"/>
          <a:lstStyle/>
          <a:p>
            <a:pPr algn="ctr"/>
            <a:r>
              <a:rPr lang="en-CA" sz="800" dirty="0" smtClean="0">
                <a:latin typeface="Arial" pitchFamily="34" charset="0"/>
                <a:cs typeface="Arial" pitchFamily="34" charset="0"/>
              </a:rPr>
              <a:t>3</a:t>
            </a:r>
            <a:endParaRPr lang="en-CA" sz="800" dirty="0">
              <a:latin typeface="Arial" pitchFamily="34" charset="0"/>
              <a:cs typeface="Arial" pitchFamily="34" charset="0"/>
            </a:endParaRPr>
          </a:p>
        </p:txBody>
      </p:sp>
      <p:sp>
        <p:nvSpPr>
          <p:cNvPr id="39" name="Oval 15"/>
          <p:cNvSpPr>
            <a:spLocks noChangeArrowheads="1"/>
          </p:cNvSpPr>
          <p:nvPr/>
        </p:nvSpPr>
        <p:spPr bwMode="gray">
          <a:xfrm>
            <a:off x="4867295" y="4143717"/>
            <a:ext cx="151442" cy="151441"/>
          </a:xfrm>
          <a:prstGeom prst="ellipse">
            <a:avLst/>
          </a:prstGeom>
          <a:solidFill>
            <a:srgbClr val="BFDEE4"/>
          </a:solidFill>
          <a:ln w="6350">
            <a:noFill/>
            <a:round/>
            <a:headEnd/>
            <a:tailEnd/>
          </a:ln>
          <a:effectLst/>
        </p:spPr>
        <p:txBody>
          <a:bodyPr wrap="none" lIns="0" tIns="0" rIns="0" bIns="0" anchor="ctr"/>
          <a:lstStyle/>
          <a:p>
            <a:pPr algn="ctr"/>
            <a:r>
              <a:rPr lang="en-CA" sz="800" dirty="0" smtClean="0">
                <a:latin typeface="Arial" pitchFamily="34" charset="0"/>
                <a:cs typeface="Arial" pitchFamily="34" charset="0"/>
              </a:rPr>
              <a:t>4</a:t>
            </a:r>
            <a:endParaRPr lang="en-CA" sz="800" dirty="0">
              <a:latin typeface="Arial" pitchFamily="34" charset="0"/>
              <a:cs typeface="Arial" pitchFamily="34" charset="0"/>
            </a:endParaRPr>
          </a:p>
        </p:txBody>
      </p:sp>
      <p:sp>
        <p:nvSpPr>
          <p:cNvPr id="41" name="Oval 15"/>
          <p:cNvSpPr>
            <a:spLocks noChangeArrowheads="1"/>
          </p:cNvSpPr>
          <p:nvPr/>
        </p:nvSpPr>
        <p:spPr bwMode="gray">
          <a:xfrm>
            <a:off x="3141069" y="4090788"/>
            <a:ext cx="151442" cy="151441"/>
          </a:xfrm>
          <a:prstGeom prst="ellipse">
            <a:avLst/>
          </a:prstGeom>
          <a:solidFill>
            <a:srgbClr val="BFDEE4"/>
          </a:solidFill>
          <a:ln w="6350">
            <a:noFill/>
            <a:round/>
            <a:headEnd/>
            <a:tailEnd/>
          </a:ln>
          <a:effectLst/>
        </p:spPr>
        <p:txBody>
          <a:bodyPr wrap="none" lIns="0" tIns="0" rIns="0" bIns="0" anchor="ctr"/>
          <a:lstStyle/>
          <a:p>
            <a:pPr algn="ctr"/>
            <a:r>
              <a:rPr lang="en-CA" sz="800" dirty="0" smtClean="0">
                <a:latin typeface="Arial" pitchFamily="34" charset="0"/>
                <a:cs typeface="Arial" pitchFamily="34" charset="0"/>
              </a:rPr>
              <a:t>4</a:t>
            </a:r>
            <a:endParaRPr lang="en-CA" sz="800" dirty="0">
              <a:latin typeface="Arial" pitchFamily="34" charset="0"/>
              <a:cs typeface="Arial" pitchFamily="34" charset="0"/>
            </a:endParaRPr>
          </a:p>
        </p:txBody>
      </p:sp>
      <p:sp>
        <p:nvSpPr>
          <p:cNvPr id="43" name="Oval 42"/>
          <p:cNvSpPr>
            <a:spLocks noChangeArrowheads="1"/>
          </p:cNvSpPr>
          <p:nvPr/>
        </p:nvSpPr>
        <p:spPr bwMode="gray">
          <a:xfrm>
            <a:off x="3733800" y="4724400"/>
            <a:ext cx="151442" cy="151441"/>
          </a:xfrm>
          <a:prstGeom prst="ellipse">
            <a:avLst/>
          </a:prstGeom>
          <a:solidFill>
            <a:srgbClr val="BFDEE4"/>
          </a:solidFill>
          <a:ln w="6350">
            <a:noFill/>
            <a:round/>
            <a:headEnd/>
            <a:tailEnd/>
          </a:ln>
          <a:effectLst/>
        </p:spPr>
        <p:txBody>
          <a:bodyPr wrap="none" lIns="0" tIns="0" rIns="0" bIns="0" anchor="ctr"/>
          <a:lstStyle/>
          <a:p>
            <a:pPr algn="ctr"/>
            <a:r>
              <a:rPr lang="en-CA" sz="800" dirty="0" smtClean="0">
                <a:latin typeface="Arial" pitchFamily="34" charset="0"/>
                <a:cs typeface="Arial" pitchFamily="34" charset="0"/>
              </a:rPr>
              <a:t>5</a:t>
            </a:r>
            <a:endParaRPr lang="en-CA" sz="800" dirty="0">
              <a:latin typeface="Arial" pitchFamily="34" charset="0"/>
              <a:cs typeface="Arial" pitchFamily="34" charset="0"/>
            </a:endParaRPr>
          </a:p>
        </p:txBody>
      </p:sp>
      <p:pic>
        <p:nvPicPr>
          <p:cNvPr id="2" name="Picture 1"/>
          <p:cNvPicPr>
            <a:picLocks noChangeAspect="1"/>
          </p:cNvPicPr>
          <p:nvPr/>
        </p:nvPicPr>
        <p:blipFill>
          <a:blip r:embed="rId5"/>
          <a:stretch>
            <a:fillRect/>
          </a:stretch>
        </p:blipFill>
        <p:spPr>
          <a:xfrm>
            <a:off x="251057" y="3902528"/>
            <a:ext cx="4405091" cy="2296170"/>
          </a:xfrm>
          <a:prstGeom prst="rect">
            <a:avLst/>
          </a:prstGeom>
        </p:spPr>
      </p:pic>
    </p:spTree>
    <p:extLst>
      <p:ext uri="{BB962C8B-B14F-4D97-AF65-F5344CB8AC3E}">
        <p14:creationId xmlns:p14="http://schemas.microsoft.com/office/powerpoint/2010/main" val="2254213470"/>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3"/>
          <p:cNvSpPr>
            <a:spLocks noGrp="1"/>
          </p:cNvSpPr>
          <p:nvPr>
            <p:ph type="title"/>
          </p:nvPr>
        </p:nvSpPr>
        <p:spPr>
          <a:xfrm>
            <a:off x="2123728" y="109736"/>
            <a:ext cx="6768752" cy="576064"/>
          </a:xfrm>
        </p:spPr>
        <p:txBody>
          <a:bodyPr/>
          <a:lstStyle/>
          <a:p>
            <a:r>
              <a:rPr lang="en-US" sz="1400" b="0" dirty="0" smtClean="0">
                <a:solidFill>
                  <a:srgbClr val="747678"/>
                </a:solidFill>
              </a:rPr>
              <a:t>Appendix 18</a:t>
            </a:r>
            <a:r>
              <a:rPr lang="en-US" dirty="0" smtClean="0"/>
              <a:t/>
            </a:r>
            <a:br>
              <a:rPr lang="en-US" dirty="0" smtClean="0"/>
            </a:br>
            <a:r>
              <a:rPr lang="en-US" dirty="0" smtClean="0"/>
              <a:t>Supporting analysis of tax key findings</a:t>
            </a:r>
            <a:endParaRPr lang="en-US" dirty="0"/>
          </a:p>
        </p:txBody>
      </p:sp>
      <p:sp>
        <p:nvSpPr>
          <p:cNvPr id="2" name="TextBox 1"/>
          <p:cNvSpPr txBox="1"/>
          <p:nvPr/>
        </p:nvSpPr>
        <p:spPr>
          <a:xfrm>
            <a:off x="304800" y="1371600"/>
            <a:ext cx="3962400" cy="4800600"/>
          </a:xfrm>
          <a:prstGeom prst="rect">
            <a:avLst/>
          </a:prstGeom>
          <a:noFill/>
        </p:spPr>
        <p:txBody>
          <a:bodyPr wrap="square" lIns="54000" tIns="54000" rIns="54000" bIns="54000" rtlCol="0">
            <a:noAutofit/>
          </a:bodyPr>
          <a:lstStyle/>
          <a:p>
            <a:r>
              <a:rPr lang="en-US" sz="900" b="1" dirty="0" smtClean="0">
                <a:solidFill>
                  <a:schemeClr val="accent4"/>
                </a:solidFill>
                <a:cs typeface="Arial" pitchFamily="34" charset="0"/>
              </a:rPr>
              <a:t>Tax </a:t>
            </a:r>
            <a:r>
              <a:rPr lang="en-US" sz="900" b="1" dirty="0">
                <a:solidFill>
                  <a:schemeClr val="accent4"/>
                </a:solidFill>
                <a:cs typeface="Arial" pitchFamily="34" charset="0"/>
              </a:rPr>
              <a:t>Compliance Profile </a:t>
            </a:r>
          </a:p>
          <a:p>
            <a:pPr marL="228600" indent="-228600">
              <a:spcBef>
                <a:spcPts val="600"/>
              </a:spcBef>
              <a:buClr>
                <a:srgbClr val="97989A"/>
              </a:buClr>
              <a:buFont typeface="+mj-lt"/>
              <a:buAutoNum type="arabicPeriod"/>
              <a:defRPr/>
            </a:pPr>
            <a:r>
              <a:rPr lang="en-US" sz="900" dirty="0">
                <a:cs typeface="Arial" pitchFamily="34" charset="0"/>
              </a:rPr>
              <a:t>General Electric Capital Corporation (“GECC”) is a US corporation that owns multiple US corporate and non-corporate subsidiaries, one of which is Antares Capital Corporation (“Target”).   The Target and GECC are both included in the US federal consolidated tax return of the General Electric Company (“GE”).  GE is a multi-national corporation that is listed on the New York Stock Exchange, and thus, is required to submit to the SEC audited financial statements on an annual basis.</a:t>
            </a:r>
          </a:p>
          <a:p>
            <a:pPr marL="228600" indent="-228600">
              <a:spcBef>
                <a:spcPts val="600"/>
              </a:spcBef>
              <a:buClr>
                <a:srgbClr val="97989A"/>
              </a:buClr>
              <a:buFont typeface="+mj-lt"/>
              <a:buAutoNum type="arabicPeriod"/>
              <a:defRPr/>
            </a:pPr>
            <a:r>
              <a:rPr lang="en-US" sz="900" dirty="0" smtClean="0">
                <a:cs typeface="Arial" pitchFamily="34" charset="0"/>
              </a:rPr>
              <a:t>Management </a:t>
            </a:r>
            <a:r>
              <a:rPr lang="en-US" sz="900" dirty="0">
                <a:cs typeface="Arial" pitchFamily="34" charset="0"/>
              </a:rPr>
              <a:t>indicated that the Target has been relatively inactive during the extended statute period, i.e., the Target only holds $25-50 million in assets.  The remaining debt and equity assets of the “Antares platform” are owned by GECC or its subsidiaries.  The assets being acquired include:</a:t>
            </a:r>
          </a:p>
          <a:p>
            <a:pPr marL="685800" lvl="1" indent="-228600">
              <a:spcBef>
                <a:spcPts val="600"/>
              </a:spcBef>
              <a:buClr>
                <a:srgbClr val="97989A"/>
              </a:buClr>
              <a:buFont typeface="+mj-lt"/>
              <a:buAutoNum type="alphaLcPeriod"/>
              <a:defRPr/>
            </a:pPr>
            <a:r>
              <a:rPr lang="en-US" sz="900" dirty="0" smtClean="0">
                <a:cs typeface="Arial" pitchFamily="34" charset="0"/>
              </a:rPr>
              <a:t>SSLP </a:t>
            </a:r>
            <a:r>
              <a:rPr lang="en-US" sz="900" dirty="0">
                <a:cs typeface="Arial" pitchFamily="34" charset="0"/>
              </a:rPr>
              <a:t>Senior Notes - $5.7B</a:t>
            </a:r>
          </a:p>
          <a:p>
            <a:pPr marL="685800" lvl="1" indent="-228600">
              <a:spcBef>
                <a:spcPts val="600"/>
              </a:spcBef>
              <a:buClr>
                <a:srgbClr val="97989A"/>
              </a:buClr>
              <a:buFont typeface="+mj-lt"/>
              <a:buAutoNum type="alphaLcPeriod"/>
              <a:defRPr/>
            </a:pPr>
            <a:r>
              <a:rPr lang="en-US" sz="900" dirty="0">
                <a:cs typeface="Arial" pitchFamily="34" charset="0"/>
              </a:rPr>
              <a:t>Financing Receivables (Core Antares and MMGP) - $8.6B</a:t>
            </a:r>
          </a:p>
          <a:p>
            <a:pPr marL="685800" lvl="1" indent="-228600">
              <a:spcBef>
                <a:spcPts val="600"/>
              </a:spcBef>
              <a:buClr>
                <a:srgbClr val="97989A"/>
              </a:buClr>
              <a:buFont typeface="+mj-lt"/>
              <a:buAutoNum type="alphaLcPeriod"/>
              <a:defRPr/>
            </a:pPr>
            <a:r>
              <a:rPr lang="en-US" sz="900" dirty="0">
                <a:cs typeface="Arial" pitchFamily="34" charset="0"/>
              </a:rPr>
              <a:t>Bank Loan Group Portfolio - $</a:t>
            </a:r>
            <a:r>
              <a:rPr lang="en-US" sz="900" dirty="0" smtClean="0">
                <a:cs typeface="Arial" pitchFamily="34" charset="0"/>
              </a:rPr>
              <a:t>3.3B</a:t>
            </a:r>
            <a:endParaRPr lang="en-US" sz="900" dirty="0">
              <a:cs typeface="Arial" pitchFamily="34" charset="0"/>
            </a:endParaRPr>
          </a:p>
          <a:p>
            <a:pPr marL="685800" lvl="1" indent="-228600">
              <a:spcBef>
                <a:spcPts val="600"/>
              </a:spcBef>
              <a:buClr>
                <a:srgbClr val="97989A"/>
              </a:buClr>
              <a:buFont typeface="+mj-lt"/>
              <a:buAutoNum type="alphaLcPeriod"/>
              <a:defRPr/>
            </a:pPr>
            <a:r>
              <a:rPr lang="en-US" sz="900" dirty="0">
                <a:cs typeface="Arial" pitchFamily="34" charset="0"/>
              </a:rPr>
              <a:t>Assets Held for Sale - $483M</a:t>
            </a:r>
          </a:p>
          <a:p>
            <a:pPr marL="685800" lvl="1" indent="-228600">
              <a:spcBef>
                <a:spcPts val="600"/>
              </a:spcBef>
              <a:buClr>
                <a:srgbClr val="97989A"/>
              </a:buClr>
              <a:buFont typeface="+mj-lt"/>
              <a:buAutoNum type="alphaLcPeriod"/>
              <a:defRPr/>
            </a:pPr>
            <a:r>
              <a:rPr lang="en-US" sz="900" dirty="0">
                <a:cs typeface="Arial" pitchFamily="34" charset="0"/>
              </a:rPr>
              <a:t>Equity Investments (SSLP &amp; MMGP) and Equity Co-Investments - $537M</a:t>
            </a:r>
          </a:p>
          <a:p>
            <a:pPr marL="685800" lvl="1" indent="-228600">
              <a:spcBef>
                <a:spcPts val="600"/>
              </a:spcBef>
              <a:buClr>
                <a:srgbClr val="97989A"/>
              </a:buClr>
              <a:buFont typeface="+mj-lt"/>
              <a:buAutoNum type="alphaLcPeriod"/>
              <a:defRPr/>
            </a:pPr>
            <a:r>
              <a:rPr lang="en-US" sz="900" dirty="0">
                <a:cs typeface="Arial" pitchFamily="34" charset="0"/>
              </a:rPr>
              <a:t>Other </a:t>
            </a:r>
            <a:r>
              <a:rPr lang="en-US" sz="900" dirty="0" smtClean="0">
                <a:cs typeface="Arial" pitchFamily="34" charset="0"/>
              </a:rPr>
              <a:t>Business Value / Goodwill - </a:t>
            </a:r>
            <a:r>
              <a:rPr lang="en-US" sz="900" dirty="0">
                <a:cs typeface="Arial" pitchFamily="34" charset="0"/>
              </a:rPr>
              <a:t>$</a:t>
            </a:r>
            <a:r>
              <a:rPr lang="en-US" sz="900" dirty="0" smtClean="0">
                <a:cs typeface="Arial" pitchFamily="34" charset="0"/>
              </a:rPr>
              <a:t>1.1B</a:t>
            </a:r>
            <a:endParaRPr lang="en-US" sz="900" dirty="0">
              <a:cs typeface="Arial" pitchFamily="34" charset="0"/>
            </a:endParaRPr>
          </a:p>
          <a:p>
            <a:pPr marL="228600" indent="-228600">
              <a:spcBef>
                <a:spcPts val="600"/>
              </a:spcBef>
              <a:buClr>
                <a:srgbClr val="97989A"/>
              </a:buClr>
              <a:buFont typeface="+mj-lt"/>
              <a:buAutoNum type="arabicPeriod"/>
              <a:defRPr/>
            </a:pPr>
            <a:r>
              <a:rPr lang="en-US" sz="900" dirty="0" smtClean="0">
                <a:cs typeface="Arial" pitchFamily="34" charset="0"/>
              </a:rPr>
              <a:t>Management </a:t>
            </a:r>
            <a:r>
              <a:rPr lang="en-US" sz="900" dirty="0">
                <a:cs typeface="Arial" pitchFamily="34" charset="0"/>
              </a:rPr>
              <a:t>made the following representations with respect to the Target: </a:t>
            </a:r>
          </a:p>
          <a:p>
            <a:pPr marL="685800" lvl="1" indent="-228600">
              <a:spcBef>
                <a:spcPts val="600"/>
              </a:spcBef>
              <a:buClr>
                <a:srgbClr val="97989A"/>
              </a:buClr>
              <a:buFont typeface="+mj-lt"/>
              <a:buAutoNum type="alphaLcPeriod"/>
              <a:defRPr/>
            </a:pPr>
            <a:r>
              <a:rPr lang="en-US" sz="900" dirty="0" smtClean="0">
                <a:cs typeface="Arial" pitchFamily="34" charset="0"/>
              </a:rPr>
              <a:t>It’s </a:t>
            </a:r>
            <a:r>
              <a:rPr lang="en-US" sz="900" dirty="0">
                <a:cs typeface="Arial" pitchFamily="34" charset="0"/>
              </a:rPr>
              <a:t>federal and state income and indirect tax return filings and associated payments are up to date; and</a:t>
            </a:r>
          </a:p>
          <a:p>
            <a:pPr marL="685800" lvl="1" indent="-228600">
              <a:spcBef>
                <a:spcPts val="600"/>
              </a:spcBef>
              <a:buClr>
                <a:srgbClr val="97989A"/>
              </a:buClr>
              <a:buFont typeface="+mj-lt"/>
              <a:buAutoNum type="alphaLcPeriod"/>
              <a:defRPr/>
            </a:pPr>
            <a:r>
              <a:rPr lang="en-US" sz="900" dirty="0" smtClean="0">
                <a:cs typeface="Arial" pitchFamily="34" charset="0"/>
              </a:rPr>
              <a:t>It </a:t>
            </a:r>
            <a:r>
              <a:rPr lang="en-US" sz="900" dirty="0">
                <a:cs typeface="Arial" pitchFamily="34" charset="0"/>
              </a:rPr>
              <a:t>is not subject to any tax indemnity or sharing agreements.</a:t>
            </a:r>
          </a:p>
          <a:p>
            <a:pPr marL="228600" indent="-228600">
              <a:spcBef>
                <a:spcPts val="600"/>
              </a:spcBef>
              <a:buClr>
                <a:srgbClr val="97989A"/>
              </a:buClr>
              <a:buFont typeface="Arial" pitchFamily="34" charset="0"/>
              <a:buChar char="■"/>
              <a:defRPr/>
            </a:pPr>
            <a:endParaRPr lang="en-US" sz="900" dirty="0">
              <a:cs typeface="Arial" pitchFamily="34" charset="0"/>
            </a:endParaRPr>
          </a:p>
        </p:txBody>
      </p:sp>
      <p:sp>
        <p:nvSpPr>
          <p:cNvPr id="4" name="TextBox 3"/>
          <p:cNvSpPr txBox="1"/>
          <p:nvPr/>
        </p:nvSpPr>
        <p:spPr>
          <a:xfrm>
            <a:off x="4876800" y="1371600"/>
            <a:ext cx="3962400" cy="4800600"/>
          </a:xfrm>
          <a:prstGeom prst="rect">
            <a:avLst/>
          </a:prstGeom>
          <a:noFill/>
        </p:spPr>
        <p:txBody>
          <a:bodyPr wrap="square" lIns="54000" tIns="54000" rIns="54000" bIns="54000" rtlCol="0">
            <a:noAutofit/>
          </a:bodyPr>
          <a:lstStyle/>
          <a:p>
            <a:r>
              <a:rPr lang="en-US" sz="900" b="1" dirty="0">
                <a:solidFill>
                  <a:schemeClr val="accent4"/>
                </a:solidFill>
                <a:cs typeface="Arial" pitchFamily="34" charset="0"/>
              </a:rPr>
              <a:t>Tax </a:t>
            </a:r>
            <a:r>
              <a:rPr lang="en-US" sz="900" b="1" dirty="0" smtClean="0">
                <a:solidFill>
                  <a:schemeClr val="accent4"/>
                </a:solidFill>
                <a:cs typeface="Arial" pitchFamily="34" charset="0"/>
              </a:rPr>
              <a:t>Attributes</a:t>
            </a:r>
            <a:endParaRPr lang="en-US" sz="900" dirty="0">
              <a:cs typeface="Arial" pitchFamily="34" charset="0"/>
            </a:endParaRPr>
          </a:p>
          <a:p>
            <a:pPr>
              <a:spcBef>
                <a:spcPts val="600"/>
              </a:spcBef>
              <a:buClr>
                <a:srgbClr val="97989A"/>
              </a:buClr>
              <a:defRPr/>
            </a:pPr>
            <a:r>
              <a:rPr lang="en-US" sz="900" dirty="0" smtClean="0">
                <a:cs typeface="Arial" pitchFamily="34" charset="0"/>
              </a:rPr>
              <a:t>Management </a:t>
            </a:r>
            <a:r>
              <a:rPr lang="en-US" sz="900" dirty="0">
                <a:cs typeface="Arial" pitchFamily="34" charset="0"/>
              </a:rPr>
              <a:t>has represented that Target has the following tax </a:t>
            </a:r>
            <a:r>
              <a:rPr lang="en-US" sz="900" dirty="0" smtClean="0">
                <a:cs typeface="Arial" pitchFamily="34" charset="0"/>
              </a:rPr>
              <a:t>attributes:</a:t>
            </a:r>
          </a:p>
          <a:p>
            <a:pPr marL="228600" indent="-228600">
              <a:spcBef>
                <a:spcPts val="600"/>
              </a:spcBef>
              <a:buClr>
                <a:srgbClr val="97989A"/>
              </a:buClr>
              <a:buFont typeface="+mj-lt"/>
              <a:buAutoNum type="arabicPeriod"/>
              <a:defRPr/>
            </a:pPr>
            <a:r>
              <a:rPr lang="en-US" sz="900" dirty="0" smtClean="0">
                <a:cs typeface="Arial" pitchFamily="34" charset="0"/>
              </a:rPr>
              <a:t>Approx</a:t>
            </a:r>
            <a:r>
              <a:rPr lang="en-US" sz="900" dirty="0">
                <a:cs typeface="Arial" pitchFamily="34" charset="0"/>
              </a:rPr>
              <a:t>. $10M in overall net deferred tax </a:t>
            </a:r>
            <a:r>
              <a:rPr lang="en-US" sz="900" dirty="0" smtClean="0">
                <a:cs typeface="Arial" pitchFamily="34" charset="0"/>
              </a:rPr>
              <a:t>liabilities. The net deferred </a:t>
            </a:r>
            <a:r>
              <a:rPr lang="en-US" sz="900" dirty="0">
                <a:cs typeface="Arial" pitchFamily="34" charset="0"/>
              </a:rPr>
              <a:t>tax </a:t>
            </a:r>
            <a:r>
              <a:rPr lang="en-US" sz="900" dirty="0" smtClean="0">
                <a:cs typeface="Arial" pitchFamily="34" charset="0"/>
              </a:rPr>
              <a:t>liability is due to:</a:t>
            </a:r>
          </a:p>
          <a:p>
            <a:pPr marL="685800" lvl="1" indent="-228600">
              <a:spcBef>
                <a:spcPts val="600"/>
              </a:spcBef>
              <a:buClr>
                <a:srgbClr val="97989A"/>
              </a:buClr>
              <a:buFont typeface="+mj-lt"/>
              <a:buAutoNum type="alphaLcPeriod"/>
              <a:defRPr/>
            </a:pPr>
            <a:r>
              <a:rPr lang="en-US" sz="900" dirty="0" smtClean="0">
                <a:cs typeface="Arial" pitchFamily="34" charset="0"/>
              </a:rPr>
              <a:t>Certain </a:t>
            </a:r>
            <a:r>
              <a:rPr lang="en-US" sz="900" dirty="0">
                <a:cs typeface="Arial" pitchFamily="34" charset="0"/>
              </a:rPr>
              <a:t>fee income that has been </a:t>
            </a:r>
            <a:r>
              <a:rPr lang="en-US" sz="900" dirty="0" smtClean="0">
                <a:cs typeface="Arial" pitchFamily="34" charset="0"/>
              </a:rPr>
              <a:t>recognized </a:t>
            </a:r>
            <a:r>
              <a:rPr lang="en-US" sz="900" dirty="0">
                <a:cs typeface="Arial" pitchFamily="34" charset="0"/>
              </a:rPr>
              <a:t>earlier for GAAP purposes than for tax purposes.  Management stated this likely relates to original issue discount or prepaid fees as tax can defer or adjust the timing or recognition of that </a:t>
            </a:r>
            <a:r>
              <a:rPr lang="en-US" sz="900" dirty="0" smtClean="0">
                <a:cs typeface="Arial" pitchFamily="34" charset="0"/>
              </a:rPr>
              <a:t>income.</a:t>
            </a:r>
          </a:p>
          <a:p>
            <a:pPr marL="685800" lvl="1" indent="-228600">
              <a:spcBef>
                <a:spcPts val="600"/>
              </a:spcBef>
              <a:buClr>
                <a:srgbClr val="97989A"/>
              </a:buClr>
              <a:buFont typeface="+mj-lt"/>
              <a:buAutoNum type="alphaLcPeriod"/>
              <a:defRPr/>
            </a:pPr>
            <a:r>
              <a:rPr lang="en-US" sz="900" dirty="0" smtClean="0">
                <a:cs typeface="Arial" pitchFamily="34" charset="0"/>
              </a:rPr>
              <a:t>The </a:t>
            </a:r>
            <a:r>
              <a:rPr lang="en-US" sz="900" dirty="0">
                <a:cs typeface="Arial" pitchFamily="34" charset="0"/>
              </a:rPr>
              <a:t>“built-in-gain” on the Target’s equity investments, i.e., the excess of GAAP FMV over tax basis.  Given that the Target utilizes the mark to market method of accounting, the deferred tax liability on the equity investments approximates the incremental future tax benefit from a potential basis “step-up” if the equity investments are deemed to be acquired in a taxable transaction, ignoring present values.  We note that GAAP FMV is not likely to equal true FMV for the purpose of the upcoming transaction because GAAP may not have adjusted for the most recent values.  </a:t>
            </a:r>
            <a:endParaRPr lang="en-US" sz="900" dirty="0" smtClean="0">
              <a:cs typeface="Arial" pitchFamily="34" charset="0"/>
            </a:endParaRPr>
          </a:p>
          <a:p>
            <a:pPr marL="685800" lvl="1" indent="-228600">
              <a:spcBef>
                <a:spcPts val="600"/>
              </a:spcBef>
              <a:buClr>
                <a:srgbClr val="97989A"/>
              </a:buClr>
              <a:buFont typeface="+mj-lt"/>
              <a:buAutoNum type="alphaLcPeriod"/>
              <a:defRPr/>
            </a:pPr>
            <a:r>
              <a:rPr lang="en-US" sz="900" dirty="0" smtClean="0">
                <a:cs typeface="Arial" pitchFamily="34" charset="0"/>
              </a:rPr>
              <a:t>Deferred </a:t>
            </a:r>
            <a:r>
              <a:rPr lang="en-US" sz="900" dirty="0">
                <a:cs typeface="Arial" pitchFamily="34" charset="0"/>
              </a:rPr>
              <a:t>tax asset due to treatment of worthless securities.  Management stated that deferred tax assets generally represent section 165(g) deductions for worthless securities being currently </a:t>
            </a:r>
            <a:r>
              <a:rPr lang="en-US" sz="900" dirty="0" smtClean="0">
                <a:cs typeface="Arial" pitchFamily="34" charset="0"/>
              </a:rPr>
              <a:t>expensed </a:t>
            </a:r>
            <a:r>
              <a:rPr lang="en-US" sz="900" dirty="0">
                <a:cs typeface="Arial" pitchFamily="34" charset="0"/>
              </a:rPr>
              <a:t>for GAAP, but not for tax.</a:t>
            </a:r>
          </a:p>
          <a:p>
            <a:pPr marL="228600" indent="-228600">
              <a:spcBef>
                <a:spcPts val="600"/>
              </a:spcBef>
              <a:buClr>
                <a:srgbClr val="97989A"/>
              </a:buClr>
              <a:buFont typeface="+mj-lt"/>
              <a:buAutoNum type="arabicPeriod"/>
              <a:defRPr/>
            </a:pPr>
            <a:r>
              <a:rPr lang="en-US" sz="900" dirty="0" smtClean="0">
                <a:cs typeface="Arial" pitchFamily="34" charset="0"/>
              </a:rPr>
              <a:t>No federal net </a:t>
            </a:r>
            <a:r>
              <a:rPr lang="en-US" sz="900" dirty="0">
                <a:cs typeface="Arial" pitchFamily="34" charset="0"/>
              </a:rPr>
              <a:t>operating loss (“NOL”) </a:t>
            </a:r>
            <a:r>
              <a:rPr lang="en-US" sz="900" dirty="0" smtClean="0">
                <a:cs typeface="Arial" pitchFamily="34" charset="0"/>
              </a:rPr>
              <a:t>carryovers, capital </a:t>
            </a:r>
            <a:r>
              <a:rPr lang="en-US" sz="900" dirty="0">
                <a:cs typeface="Arial" pitchFamily="34" charset="0"/>
              </a:rPr>
              <a:t>loss carryovers</a:t>
            </a:r>
            <a:r>
              <a:rPr lang="en-US" sz="900" dirty="0" smtClean="0">
                <a:cs typeface="Arial" pitchFamily="34" charset="0"/>
              </a:rPr>
              <a:t>, or tax credits or incentives. </a:t>
            </a:r>
          </a:p>
          <a:p>
            <a:pPr marL="228600" indent="-228600">
              <a:spcBef>
                <a:spcPts val="600"/>
              </a:spcBef>
              <a:buClr>
                <a:srgbClr val="97989A"/>
              </a:buClr>
              <a:buFont typeface="+mj-lt"/>
              <a:buAutoNum type="arabicPeriod"/>
              <a:defRPr/>
            </a:pPr>
            <a:r>
              <a:rPr lang="en-US" sz="900" dirty="0" smtClean="0">
                <a:cs typeface="Arial" pitchFamily="34" charset="0"/>
              </a:rPr>
              <a:t>As of tax year ended 2014, accumulated </a:t>
            </a:r>
            <a:r>
              <a:rPr lang="en-US" sz="900" dirty="0">
                <a:cs typeface="Arial" pitchFamily="34" charset="0"/>
              </a:rPr>
              <a:t>earnings and profits (“E&amp;P</a:t>
            </a:r>
            <a:r>
              <a:rPr lang="en-US" sz="900" dirty="0" smtClean="0">
                <a:cs typeface="Arial" pitchFamily="34" charset="0"/>
              </a:rPr>
              <a:t>”) were approximately $19M.</a:t>
            </a:r>
          </a:p>
          <a:p>
            <a:pPr marL="228600" indent="-228600">
              <a:spcBef>
                <a:spcPts val="600"/>
              </a:spcBef>
              <a:buClr>
                <a:srgbClr val="97989A"/>
              </a:buClr>
              <a:buFont typeface="+mj-lt"/>
              <a:buAutoNum type="arabicPeriod"/>
              <a:defRPr/>
            </a:pPr>
            <a:r>
              <a:rPr lang="en-US" sz="900" dirty="0" smtClean="0">
                <a:cs typeface="Arial" pitchFamily="34" charset="0"/>
              </a:rPr>
              <a:t>As of tax year ended 2013, state NOL carryovers were approximately $1M.</a:t>
            </a:r>
            <a:endParaRPr lang="en-US" sz="900" dirty="0">
              <a:cs typeface="Arial" pitchFamily="34" charset="0"/>
            </a:endParaRPr>
          </a:p>
        </p:txBody>
      </p:sp>
    </p:spTree>
    <p:extLst>
      <p:ext uri="{BB962C8B-B14F-4D97-AF65-F5344CB8AC3E}">
        <p14:creationId xmlns:p14="http://schemas.microsoft.com/office/powerpoint/2010/main" val="2342037275"/>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3"/>
          <p:cNvSpPr>
            <a:spLocks noGrp="1"/>
          </p:cNvSpPr>
          <p:nvPr>
            <p:ph type="title"/>
          </p:nvPr>
        </p:nvSpPr>
        <p:spPr>
          <a:xfrm>
            <a:off x="2123728" y="116632"/>
            <a:ext cx="6768752" cy="576064"/>
          </a:xfrm>
        </p:spPr>
        <p:txBody>
          <a:bodyPr/>
          <a:lstStyle/>
          <a:p>
            <a:r>
              <a:rPr lang="en-US" sz="1400" b="0" dirty="0" smtClean="0">
                <a:solidFill>
                  <a:srgbClr val="747678"/>
                </a:solidFill>
              </a:rPr>
              <a:t>Appendix 18</a:t>
            </a:r>
            <a:r>
              <a:rPr lang="en-US" dirty="0" smtClean="0"/>
              <a:t/>
            </a:r>
            <a:br>
              <a:rPr lang="en-US" dirty="0" smtClean="0"/>
            </a:br>
            <a:r>
              <a:rPr lang="en-US" dirty="0" smtClean="0"/>
              <a:t>Supporting analysis of tax key findings (2)</a:t>
            </a:r>
            <a:endParaRPr lang="en-US" dirty="0"/>
          </a:p>
        </p:txBody>
      </p:sp>
      <p:sp>
        <p:nvSpPr>
          <p:cNvPr id="2" name="TextBox 1"/>
          <p:cNvSpPr txBox="1"/>
          <p:nvPr/>
        </p:nvSpPr>
        <p:spPr>
          <a:xfrm>
            <a:off x="304800" y="1371600"/>
            <a:ext cx="3962400" cy="4800600"/>
          </a:xfrm>
          <a:prstGeom prst="rect">
            <a:avLst/>
          </a:prstGeom>
          <a:noFill/>
        </p:spPr>
        <p:txBody>
          <a:bodyPr wrap="square" lIns="54000" tIns="54000" rIns="54000" bIns="54000" rtlCol="0">
            <a:noAutofit/>
          </a:bodyPr>
          <a:lstStyle/>
          <a:p>
            <a:r>
              <a:rPr lang="en-US" sz="900" b="1" dirty="0" smtClean="0">
                <a:solidFill>
                  <a:schemeClr val="accent4"/>
                </a:solidFill>
                <a:cs typeface="Arial" pitchFamily="34" charset="0"/>
              </a:rPr>
              <a:t>Significant Tax Positions and Elections </a:t>
            </a:r>
            <a:endParaRPr lang="en-US" sz="900" b="1" dirty="0">
              <a:solidFill>
                <a:schemeClr val="accent4"/>
              </a:solidFill>
              <a:cs typeface="Arial" pitchFamily="34" charset="0"/>
            </a:endParaRPr>
          </a:p>
          <a:p>
            <a:pPr marL="228600" indent="-228600">
              <a:spcBef>
                <a:spcPts val="600"/>
              </a:spcBef>
              <a:buClr>
                <a:srgbClr val="97989A"/>
              </a:buClr>
              <a:buFont typeface="+mj-lt"/>
              <a:buAutoNum type="arabicPeriod"/>
              <a:defRPr/>
            </a:pPr>
            <a:r>
              <a:rPr lang="en-US" sz="900" dirty="0" smtClean="0">
                <a:cs typeface="Arial" pitchFamily="34" charset="0"/>
              </a:rPr>
              <a:t>Management </a:t>
            </a:r>
            <a:r>
              <a:rPr lang="en-US" sz="900" dirty="0">
                <a:cs typeface="Arial" pitchFamily="34" charset="0"/>
              </a:rPr>
              <a:t>stated that GE and GECC do not carry any reserves for uncertain tax positions under ASC 740-10 (FIN 48) or ASC 450-20 (FAS 5) on their financial statements that pertain to the Target.</a:t>
            </a:r>
          </a:p>
          <a:p>
            <a:pPr marL="228600" indent="-228600">
              <a:spcBef>
                <a:spcPts val="600"/>
              </a:spcBef>
              <a:buClr>
                <a:srgbClr val="97989A"/>
              </a:buClr>
              <a:buFont typeface="+mj-lt"/>
              <a:buAutoNum type="arabicPeriod"/>
              <a:defRPr/>
            </a:pPr>
            <a:r>
              <a:rPr lang="en-US" sz="900" dirty="0" smtClean="0">
                <a:cs typeface="Arial" pitchFamily="34" charset="0"/>
              </a:rPr>
              <a:t>We </a:t>
            </a:r>
            <a:r>
              <a:rPr lang="en-US" sz="900" dirty="0">
                <a:cs typeface="Arial" pitchFamily="34" charset="0"/>
              </a:rPr>
              <a:t>have not received Target’s standalone tax provision </a:t>
            </a:r>
            <a:r>
              <a:rPr lang="en-US" sz="900" dirty="0" smtClean="0">
                <a:cs typeface="Arial" pitchFamily="34" charset="0"/>
              </a:rPr>
              <a:t>or state apportionment work </a:t>
            </a:r>
            <a:r>
              <a:rPr lang="en-US" sz="900" dirty="0">
                <a:cs typeface="Arial" pitchFamily="34" charset="0"/>
              </a:rPr>
              <a:t>papers for any tax year to verify this point.  We recommend </a:t>
            </a:r>
            <a:r>
              <a:rPr lang="en-US" sz="900" dirty="0" smtClean="0">
                <a:cs typeface="Arial" pitchFamily="34" charset="0"/>
              </a:rPr>
              <a:t>these items are received </a:t>
            </a:r>
            <a:r>
              <a:rPr lang="en-US" sz="900" dirty="0">
                <a:cs typeface="Arial" pitchFamily="34" charset="0"/>
              </a:rPr>
              <a:t>and confirmed prior to signing. </a:t>
            </a:r>
          </a:p>
          <a:p>
            <a:pPr marL="228600" indent="-228600">
              <a:spcBef>
                <a:spcPts val="600"/>
              </a:spcBef>
              <a:buClr>
                <a:srgbClr val="97989A"/>
              </a:buClr>
              <a:buFont typeface="+mj-lt"/>
              <a:buAutoNum type="arabicPeriod"/>
              <a:defRPr/>
            </a:pPr>
            <a:r>
              <a:rPr lang="en-US" sz="900" dirty="0" smtClean="0">
                <a:cs typeface="Arial" pitchFamily="34" charset="0"/>
              </a:rPr>
              <a:t>However</a:t>
            </a:r>
            <a:r>
              <a:rPr lang="en-US" sz="900" dirty="0">
                <a:cs typeface="Arial" pitchFamily="34" charset="0"/>
              </a:rPr>
              <a:t>, based on the foregoing points and level of activity, the quantum of historical tax risk exposures are likely to be limited.</a:t>
            </a:r>
          </a:p>
          <a:p>
            <a:pPr marL="228600" indent="-228600">
              <a:spcBef>
                <a:spcPts val="600"/>
              </a:spcBef>
              <a:buClr>
                <a:srgbClr val="97989A"/>
              </a:buClr>
              <a:buFont typeface="+mj-lt"/>
              <a:buAutoNum type="arabicPeriod"/>
              <a:defRPr/>
            </a:pPr>
            <a:r>
              <a:rPr lang="en-US" sz="900" dirty="0" smtClean="0">
                <a:cs typeface="Arial" pitchFamily="34" charset="0"/>
              </a:rPr>
              <a:t>Management </a:t>
            </a:r>
            <a:r>
              <a:rPr lang="en-US" sz="900" dirty="0">
                <a:cs typeface="Arial" pitchFamily="34" charset="0"/>
              </a:rPr>
              <a:t>stated the Target has historically undertaken certain reportable transactions relating to losses incurred on debt instruments.  For example, if a taxpayer claims a loss under section 165 and the loss exceeds a certain threshold (which depends on the U.S. federal tax classification of the entity), then the taxpayer must report the loss on Form 8886</a:t>
            </a:r>
            <a:r>
              <a:rPr lang="en-US" sz="900" dirty="0" smtClean="0">
                <a:cs typeface="Arial" pitchFamily="34" charset="0"/>
              </a:rPr>
              <a:t>.  Management </a:t>
            </a:r>
            <a:r>
              <a:rPr lang="en-US" sz="900" dirty="0">
                <a:cs typeface="Arial" pitchFamily="34" charset="0"/>
              </a:rPr>
              <a:t>has represented that Target had one reportable transaction relating to a loss on the sale of a debt instrument in excess of $10 million.  These transactions are fairly routine for this type of business and the existence of a reportable transaction should not on its own heighten the Target’s tax risk.    </a:t>
            </a:r>
          </a:p>
          <a:p>
            <a:pPr marL="228600" indent="-228600">
              <a:spcBef>
                <a:spcPts val="600"/>
              </a:spcBef>
              <a:buClr>
                <a:srgbClr val="97989A"/>
              </a:buClr>
              <a:buFont typeface="+mj-lt"/>
              <a:buAutoNum type="arabicPeriod"/>
              <a:defRPr/>
            </a:pPr>
            <a:r>
              <a:rPr lang="en-US" sz="900" dirty="0" smtClean="0">
                <a:cs typeface="Arial" pitchFamily="34" charset="0"/>
              </a:rPr>
              <a:t>Management </a:t>
            </a:r>
            <a:r>
              <a:rPr lang="en-US" sz="900" dirty="0">
                <a:cs typeface="Arial" pitchFamily="34" charset="0"/>
              </a:rPr>
              <a:t>stated the Target has not entered in to any listed transactions.</a:t>
            </a:r>
          </a:p>
          <a:p>
            <a:pPr marL="228600" indent="-228600">
              <a:spcBef>
                <a:spcPts val="600"/>
              </a:spcBef>
              <a:buClr>
                <a:srgbClr val="97989A"/>
              </a:buClr>
              <a:buFont typeface="+mj-lt"/>
              <a:buAutoNum type="arabicPeriod"/>
              <a:defRPr/>
            </a:pPr>
            <a:r>
              <a:rPr lang="en-US" sz="900" dirty="0" smtClean="0">
                <a:cs typeface="Arial" pitchFamily="34" charset="0"/>
              </a:rPr>
              <a:t>In </a:t>
            </a:r>
            <a:r>
              <a:rPr lang="en-US" sz="900" dirty="0">
                <a:cs typeface="Arial" pitchFamily="34" charset="0"/>
              </a:rPr>
              <a:t>tax year 2009, the Target, as a dealer in certain securities, elected to recognize gain or loss on certain securities using the mark-to-market method of accounting under section 475.</a:t>
            </a:r>
          </a:p>
        </p:txBody>
      </p:sp>
      <p:sp>
        <p:nvSpPr>
          <p:cNvPr id="4" name="TextBox 3"/>
          <p:cNvSpPr txBox="1"/>
          <p:nvPr/>
        </p:nvSpPr>
        <p:spPr>
          <a:xfrm>
            <a:off x="4876800" y="1371600"/>
            <a:ext cx="3962400" cy="4800600"/>
          </a:xfrm>
          <a:prstGeom prst="rect">
            <a:avLst/>
          </a:prstGeom>
          <a:noFill/>
        </p:spPr>
        <p:txBody>
          <a:bodyPr wrap="square" lIns="54000" tIns="54000" rIns="54000" bIns="54000" rtlCol="0">
            <a:noAutofit/>
          </a:bodyPr>
          <a:lstStyle/>
          <a:p>
            <a:r>
              <a:rPr lang="en-US" sz="900" b="1" dirty="0" smtClean="0">
                <a:solidFill>
                  <a:schemeClr val="accent4"/>
                </a:solidFill>
                <a:cs typeface="Arial" pitchFamily="34" charset="0"/>
              </a:rPr>
              <a:t>Effective Tax Rate</a:t>
            </a:r>
            <a:endParaRPr lang="en-US" sz="900" dirty="0">
              <a:cs typeface="Arial" pitchFamily="34" charset="0"/>
            </a:endParaRPr>
          </a:p>
          <a:p>
            <a:pPr marL="228600" indent="-228600">
              <a:spcBef>
                <a:spcPts val="600"/>
              </a:spcBef>
              <a:buClr>
                <a:srgbClr val="97989A"/>
              </a:buClr>
              <a:buFont typeface="+mj-lt"/>
              <a:buAutoNum type="arabicPeriod"/>
              <a:defRPr/>
            </a:pPr>
            <a:r>
              <a:rPr lang="en-US" sz="900" dirty="0" smtClean="0">
                <a:cs typeface="Arial" pitchFamily="34" charset="0"/>
              </a:rPr>
              <a:t>Management </a:t>
            </a:r>
            <a:r>
              <a:rPr lang="en-US" sz="900" dirty="0">
                <a:cs typeface="Arial" pitchFamily="34" charset="0"/>
              </a:rPr>
              <a:t>has estimated the Target’s ETR to be 38%.  </a:t>
            </a:r>
            <a:r>
              <a:rPr lang="en-US" sz="900" dirty="0" smtClean="0">
                <a:cs typeface="Arial" pitchFamily="34" charset="0"/>
              </a:rPr>
              <a:t>This rate represents a federal tax rate of 35% and a state tax rate of approx. 3%.</a:t>
            </a:r>
            <a:endParaRPr lang="en-US" sz="900" dirty="0">
              <a:cs typeface="Arial" pitchFamily="34" charset="0"/>
            </a:endParaRPr>
          </a:p>
          <a:p>
            <a:pPr marL="228600" indent="-228600">
              <a:spcBef>
                <a:spcPts val="600"/>
              </a:spcBef>
              <a:buClr>
                <a:srgbClr val="97989A"/>
              </a:buClr>
              <a:buFont typeface="+mj-lt"/>
              <a:buAutoNum type="arabicPeriod"/>
              <a:defRPr/>
            </a:pPr>
            <a:r>
              <a:rPr lang="en-US" sz="900" dirty="0" smtClean="0">
                <a:cs typeface="Arial" pitchFamily="34" charset="0"/>
              </a:rPr>
              <a:t>This </a:t>
            </a:r>
            <a:r>
              <a:rPr lang="en-US" sz="900" dirty="0">
                <a:cs typeface="Arial" pitchFamily="34" charset="0"/>
              </a:rPr>
              <a:t>approximate ETR seems slightly low, as we would expect the ETR when combining state and federal taxes to be approximately 40-42%.  </a:t>
            </a:r>
          </a:p>
          <a:p>
            <a:pPr marL="228600" indent="-228600">
              <a:spcBef>
                <a:spcPts val="600"/>
              </a:spcBef>
              <a:buClr>
                <a:srgbClr val="97989A"/>
              </a:buClr>
              <a:buFont typeface="+mj-lt"/>
              <a:buAutoNum type="arabicPeriod"/>
              <a:defRPr/>
            </a:pPr>
            <a:r>
              <a:rPr lang="en-US" sz="900" dirty="0" smtClean="0">
                <a:cs typeface="Arial" pitchFamily="34" charset="0"/>
              </a:rPr>
              <a:t>Management </a:t>
            </a:r>
            <a:r>
              <a:rPr lang="en-US" sz="900" dirty="0">
                <a:cs typeface="Arial" pitchFamily="34" charset="0"/>
              </a:rPr>
              <a:t>noted that this is a rough estimate and that they would provide state apportionment workpapers to assist in solidifying these numbers.  </a:t>
            </a:r>
            <a:endParaRPr lang="en-US" sz="900" dirty="0" smtClean="0">
              <a:cs typeface="Arial" pitchFamily="34" charset="0"/>
            </a:endParaRPr>
          </a:p>
        </p:txBody>
      </p:sp>
    </p:spTree>
    <p:extLst>
      <p:ext uri="{BB962C8B-B14F-4D97-AF65-F5344CB8AC3E}">
        <p14:creationId xmlns:p14="http://schemas.microsoft.com/office/powerpoint/2010/main" val="2616162418"/>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3"/>
          <p:cNvSpPr>
            <a:spLocks noGrp="1"/>
          </p:cNvSpPr>
          <p:nvPr>
            <p:ph type="title"/>
          </p:nvPr>
        </p:nvSpPr>
        <p:spPr>
          <a:xfrm>
            <a:off x="2123728" y="116632"/>
            <a:ext cx="6768752" cy="576064"/>
          </a:xfrm>
        </p:spPr>
        <p:txBody>
          <a:bodyPr/>
          <a:lstStyle/>
          <a:p>
            <a:r>
              <a:rPr lang="en-US" sz="1400" b="0" dirty="0" smtClean="0">
                <a:solidFill>
                  <a:srgbClr val="747678"/>
                </a:solidFill>
              </a:rPr>
              <a:t>Appendix 18</a:t>
            </a:r>
            <a:r>
              <a:rPr lang="en-US" dirty="0" smtClean="0"/>
              <a:t/>
            </a:r>
            <a:br>
              <a:rPr lang="en-US" dirty="0" smtClean="0"/>
            </a:br>
            <a:r>
              <a:rPr lang="en-US" dirty="0" smtClean="0"/>
              <a:t>Supporting analysis of tax key findings (3)</a:t>
            </a:r>
            <a:endParaRPr lang="en-US" dirty="0"/>
          </a:p>
        </p:txBody>
      </p:sp>
      <p:sp>
        <p:nvSpPr>
          <p:cNvPr id="2" name="TextBox 1"/>
          <p:cNvSpPr txBox="1"/>
          <p:nvPr/>
        </p:nvSpPr>
        <p:spPr>
          <a:xfrm>
            <a:off x="304800" y="1371600"/>
            <a:ext cx="3962400" cy="4800600"/>
          </a:xfrm>
          <a:prstGeom prst="rect">
            <a:avLst/>
          </a:prstGeom>
          <a:noFill/>
        </p:spPr>
        <p:txBody>
          <a:bodyPr wrap="square" lIns="54000" tIns="54000" rIns="54000" bIns="54000" rtlCol="0">
            <a:noAutofit/>
          </a:bodyPr>
          <a:lstStyle/>
          <a:p>
            <a:r>
              <a:rPr lang="en-US" sz="900" b="1" dirty="0" smtClean="0">
                <a:solidFill>
                  <a:schemeClr val="accent4"/>
                </a:solidFill>
                <a:cs typeface="Arial" pitchFamily="34" charset="0"/>
              </a:rPr>
              <a:t>Tax Audit Status, Warrants &amp; Liens</a:t>
            </a:r>
            <a:endParaRPr lang="en-US" sz="900" b="1" dirty="0">
              <a:solidFill>
                <a:schemeClr val="accent4"/>
              </a:solidFill>
              <a:cs typeface="Arial" pitchFamily="34" charset="0"/>
            </a:endParaRPr>
          </a:p>
          <a:p>
            <a:pPr marL="228600" indent="-228600">
              <a:spcBef>
                <a:spcPts val="600"/>
              </a:spcBef>
              <a:buClr>
                <a:srgbClr val="97989A"/>
              </a:buClr>
              <a:buFont typeface="+mj-lt"/>
              <a:buAutoNum type="arabicPeriod"/>
              <a:defRPr/>
            </a:pPr>
            <a:r>
              <a:rPr lang="en-US" sz="900" dirty="0" smtClean="0">
                <a:cs typeface="Arial" pitchFamily="34" charset="0"/>
              </a:rPr>
              <a:t>GE </a:t>
            </a:r>
            <a:r>
              <a:rPr lang="en-US" sz="900" dirty="0">
                <a:cs typeface="Arial" pitchFamily="34" charset="0"/>
              </a:rPr>
              <a:t>participates in the IRS’s compliance assurance process (“CAP”) program.  Under the CAP program, GE is subject to ongoing federal examination, and often times significant federal income tax issues are discussed with IRS examiners prior to tax return filing.  Taxable years since 2010 are currently open for audit due to the ongoing audit cycle of GE.  </a:t>
            </a:r>
          </a:p>
          <a:p>
            <a:pPr marL="228600" indent="-228600">
              <a:spcBef>
                <a:spcPts val="600"/>
              </a:spcBef>
              <a:buClr>
                <a:srgbClr val="97989A"/>
              </a:buClr>
              <a:buFont typeface="+mj-lt"/>
              <a:buAutoNum type="arabicPeriod"/>
              <a:defRPr/>
            </a:pPr>
            <a:r>
              <a:rPr lang="en-US" sz="900" dirty="0" smtClean="0">
                <a:cs typeface="Arial" pitchFamily="34" charset="0"/>
              </a:rPr>
              <a:t>Target Management </a:t>
            </a:r>
            <a:r>
              <a:rPr lang="en-US" sz="900" dirty="0">
                <a:cs typeface="Arial" pitchFamily="34" charset="0"/>
              </a:rPr>
              <a:t>has represented that no specific audit issues related to federal tax matters are </a:t>
            </a:r>
            <a:r>
              <a:rPr lang="en-US" sz="900" dirty="0" smtClean="0">
                <a:cs typeface="Arial" pitchFamily="34" charset="0"/>
              </a:rPr>
              <a:t>outstanding and Management is not aware of any federal IDR’s that pertain to Target.</a:t>
            </a:r>
          </a:p>
          <a:p>
            <a:pPr marL="228600" indent="-228600">
              <a:spcBef>
                <a:spcPts val="600"/>
              </a:spcBef>
              <a:buClr>
                <a:srgbClr val="97989A"/>
              </a:buClr>
              <a:buFont typeface="+mj-lt"/>
              <a:buAutoNum type="arabicPeriod"/>
              <a:defRPr/>
            </a:pPr>
            <a:r>
              <a:rPr lang="en-US" sz="900" dirty="0" smtClean="0">
                <a:cs typeface="Arial" pitchFamily="34" charset="0"/>
              </a:rPr>
              <a:t>Target Management has represented that they are not aware of any ongoing state income tax examinations that involve Target. Management has provided a listing of notices and correspondence with state income tax authorities for tax years 2010 through 2013. The notices and correspondence related to immaterial state income and franchise tax adjustments and various information requests. No significant issues were identified.</a:t>
            </a:r>
          </a:p>
          <a:p>
            <a:pPr marL="228600" indent="-228600">
              <a:spcBef>
                <a:spcPts val="600"/>
              </a:spcBef>
              <a:buClr>
                <a:srgbClr val="97989A"/>
              </a:buClr>
              <a:buFont typeface="+mj-lt"/>
              <a:buAutoNum type="arabicPeriod"/>
              <a:defRPr/>
            </a:pPr>
            <a:r>
              <a:rPr lang="en-US" sz="900" dirty="0" smtClean="0">
                <a:cs typeface="Arial" pitchFamily="34" charset="0"/>
              </a:rPr>
              <a:t>Management stated that Target is currently corresponding with the Canadian Revenue Agency to cancel its Canadian Tax ID as it is not required to file tax returns in Canada.</a:t>
            </a:r>
          </a:p>
        </p:txBody>
      </p:sp>
      <p:sp>
        <p:nvSpPr>
          <p:cNvPr id="4" name="TextBox 3"/>
          <p:cNvSpPr txBox="1"/>
          <p:nvPr/>
        </p:nvSpPr>
        <p:spPr>
          <a:xfrm>
            <a:off x="4876800" y="1371600"/>
            <a:ext cx="3962400" cy="4800600"/>
          </a:xfrm>
          <a:prstGeom prst="rect">
            <a:avLst/>
          </a:prstGeom>
          <a:noFill/>
        </p:spPr>
        <p:txBody>
          <a:bodyPr wrap="square" lIns="54000" tIns="54000" rIns="54000" bIns="54000" rtlCol="0">
            <a:noAutofit/>
          </a:bodyPr>
          <a:lstStyle/>
          <a:p>
            <a:r>
              <a:rPr lang="en-US" sz="900" b="1" dirty="0" smtClean="0">
                <a:solidFill>
                  <a:schemeClr val="accent4"/>
                </a:solidFill>
                <a:cs typeface="Arial" pitchFamily="34" charset="0"/>
              </a:rPr>
              <a:t>Related Party Transactions</a:t>
            </a:r>
            <a:endParaRPr lang="en-US" sz="900" dirty="0">
              <a:cs typeface="Arial" pitchFamily="34" charset="0"/>
            </a:endParaRPr>
          </a:p>
          <a:p>
            <a:pPr marL="228600" indent="-228600">
              <a:spcBef>
                <a:spcPts val="600"/>
              </a:spcBef>
              <a:buClr>
                <a:srgbClr val="97989A"/>
              </a:buClr>
              <a:buFont typeface="+mj-lt"/>
              <a:buAutoNum type="arabicPeriod"/>
              <a:defRPr/>
            </a:pPr>
            <a:r>
              <a:rPr lang="en-US" sz="900" dirty="0" smtClean="0">
                <a:cs typeface="Arial" pitchFamily="34" charset="0"/>
              </a:rPr>
              <a:t>The </a:t>
            </a:r>
            <a:r>
              <a:rPr lang="en-US" sz="900" dirty="0">
                <a:cs typeface="Arial" pitchFamily="34" charset="0"/>
              </a:rPr>
              <a:t>Target </a:t>
            </a:r>
            <a:r>
              <a:rPr lang="en-US" sz="900" dirty="0" smtClean="0">
                <a:cs typeface="Arial" pitchFamily="34" charset="0"/>
              </a:rPr>
              <a:t>has entered into (i) a revolving credit agreement with an affiliate of GE and (ii) an omnibus loan agreement between GECC and its subsidiaries for intercompany loans.  Management has stated that both agreements are consistent with GE transfer pricing practices, which attempts to satisfy arm’s length pricing. </a:t>
            </a:r>
          </a:p>
          <a:p>
            <a:pPr marL="685800" lvl="1" indent="-228600">
              <a:spcBef>
                <a:spcPts val="600"/>
              </a:spcBef>
              <a:buClr>
                <a:srgbClr val="97989A"/>
              </a:buClr>
              <a:buFont typeface="+mj-lt"/>
              <a:buAutoNum type="alphaLcPeriod"/>
              <a:defRPr/>
            </a:pPr>
            <a:r>
              <a:rPr lang="en-US" sz="900" dirty="0" smtClean="0">
                <a:cs typeface="Arial" pitchFamily="34" charset="0"/>
              </a:rPr>
              <a:t>As </a:t>
            </a:r>
            <a:r>
              <a:rPr lang="en-US" sz="900" dirty="0">
                <a:cs typeface="Arial" pitchFamily="34" charset="0"/>
              </a:rPr>
              <a:t>of May of 2015, Target has a net intercompany receivable balance of approximately $150 million, which consists of $350 million of intercompany receivables and $200 million of intercompany payables. </a:t>
            </a:r>
          </a:p>
          <a:p>
            <a:pPr marL="228600" indent="-228600">
              <a:spcBef>
                <a:spcPts val="600"/>
              </a:spcBef>
              <a:buClr>
                <a:srgbClr val="97989A"/>
              </a:buClr>
              <a:buFont typeface="+mj-lt"/>
              <a:buAutoNum type="arabicPeriod"/>
              <a:defRPr/>
            </a:pPr>
            <a:r>
              <a:rPr lang="en-US" sz="900" dirty="0" smtClean="0">
                <a:cs typeface="Arial" pitchFamily="34" charset="0"/>
              </a:rPr>
              <a:t>Target has also entered into a master service agreement with GECC for certain services that GECC provides to Target. Management has represented that the agreement is consistent with GE transfer pricing practices.</a:t>
            </a:r>
          </a:p>
          <a:p>
            <a:pPr marL="228600" indent="-228600">
              <a:spcBef>
                <a:spcPts val="600"/>
              </a:spcBef>
              <a:buClr>
                <a:srgbClr val="97989A"/>
              </a:buClr>
              <a:buFont typeface="+mj-lt"/>
              <a:buAutoNum type="arabicPeriod"/>
              <a:defRPr/>
            </a:pPr>
            <a:r>
              <a:rPr lang="en-US" sz="900" dirty="0" smtClean="0">
                <a:cs typeface="Arial" pitchFamily="34" charset="0"/>
              </a:rPr>
              <a:t>Management has represented that with the exception of the revolving credit agreement, the omnibus loan agreement, and the master services agreement, Target has not entered into any other related party transactions.</a:t>
            </a:r>
            <a:endParaRPr lang="en-US" sz="900" dirty="0">
              <a:cs typeface="Arial" pitchFamily="34" charset="0"/>
            </a:endParaRPr>
          </a:p>
          <a:p>
            <a:pPr marL="228600" indent="-228600">
              <a:spcBef>
                <a:spcPts val="600"/>
              </a:spcBef>
              <a:buClr>
                <a:srgbClr val="97989A"/>
              </a:buClr>
              <a:buFont typeface="+mj-lt"/>
              <a:buAutoNum type="arabicPeriod"/>
              <a:defRPr/>
            </a:pPr>
            <a:r>
              <a:rPr lang="en-US" sz="900" dirty="0" smtClean="0">
                <a:cs typeface="Arial" pitchFamily="34" charset="0"/>
              </a:rPr>
              <a:t>As </a:t>
            </a:r>
            <a:r>
              <a:rPr lang="en-US" sz="900" dirty="0">
                <a:cs typeface="Arial" pitchFamily="34" charset="0"/>
              </a:rPr>
              <a:t>these transactions have occurred with other US entities within GE’s tax consolidated group, they are unlikely to have created a material federal tax exposure, even if sufficient transfer pricing documentation has not been maintained.  </a:t>
            </a:r>
          </a:p>
          <a:p>
            <a:pPr marL="228600" indent="-228600">
              <a:spcBef>
                <a:spcPts val="600"/>
              </a:spcBef>
              <a:buClr>
                <a:srgbClr val="97989A"/>
              </a:buClr>
              <a:buFont typeface="+mj-lt"/>
              <a:buAutoNum type="arabicPeriod"/>
              <a:defRPr/>
            </a:pPr>
            <a:r>
              <a:rPr lang="en-US" sz="900" dirty="0" smtClean="0">
                <a:cs typeface="Arial" pitchFamily="34" charset="0"/>
              </a:rPr>
              <a:t>However</a:t>
            </a:r>
            <a:r>
              <a:rPr lang="en-US" sz="900" dirty="0">
                <a:cs typeface="Arial" pitchFamily="34" charset="0"/>
              </a:rPr>
              <a:t>, there is a state tax risk if arm’s length terms have not been applied to these transactions where both parties are not included in the same combined returns for state income tax purposes.  </a:t>
            </a:r>
          </a:p>
        </p:txBody>
      </p:sp>
    </p:spTree>
    <p:extLst>
      <p:ext uri="{BB962C8B-B14F-4D97-AF65-F5344CB8AC3E}">
        <p14:creationId xmlns:p14="http://schemas.microsoft.com/office/powerpoint/2010/main" val="3226106335"/>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3"/>
          <p:cNvSpPr>
            <a:spLocks noGrp="1"/>
          </p:cNvSpPr>
          <p:nvPr>
            <p:ph type="title"/>
          </p:nvPr>
        </p:nvSpPr>
        <p:spPr>
          <a:xfrm>
            <a:off x="2123728" y="116632"/>
            <a:ext cx="6768752" cy="576064"/>
          </a:xfrm>
        </p:spPr>
        <p:txBody>
          <a:bodyPr/>
          <a:lstStyle/>
          <a:p>
            <a:r>
              <a:rPr lang="en-US" sz="1400" b="0" dirty="0" smtClean="0">
                <a:solidFill>
                  <a:srgbClr val="747678"/>
                </a:solidFill>
              </a:rPr>
              <a:t>Appendix 18</a:t>
            </a:r>
            <a:r>
              <a:rPr lang="en-US" dirty="0" smtClean="0"/>
              <a:t/>
            </a:r>
            <a:br>
              <a:rPr lang="en-US" dirty="0" smtClean="0"/>
            </a:br>
            <a:r>
              <a:rPr lang="en-US" dirty="0" smtClean="0"/>
              <a:t>Supporting analysis of tax key findings (4)</a:t>
            </a:r>
            <a:endParaRPr lang="en-US" dirty="0"/>
          </a:p>
        </p:txBody>
      </p:sp>
      <p:sp>
        <p:nvSpPr>
          <p:cNvPr id="2" name="TextBox 1"/>
          <p:cNvSpPr txBox="1"/>
          <p:nvPr/>
        </p:nvSpPr>
        <p:spPr>
          <a:xfrm>
            <a:off x="304800" y="1371600"/>
            <a:ext cx="3962400" cy="4800600"/>
          </a:xfrm>
          <a:prstGeom prst="rect">
            <a:avLst/>
          </a:prstGeom>
          <a:noFill/>
        </p:spPr>
        <p:txBody>
          <a:bodyPr wrap="square" lIns="54000" tIns="54000" rIns="54000" bIns="54000" rtlCol="0">
            <a:noAutofit/>
          </a:bodyPr>
          <a:lstStyle/>
          <a:p>
            <a:r>
              <a:rPr lang="en-US" sz="900" b="1" dirty="0" smtClean="0">
                <a:solidFill>
                  <a:schemeClr val="accent4"/>
                </a:solidFill>
                <a:cs typeface="Arial" pitchFamily="34" charset="0"/>
              </a:rPr>
              <a:t>Tax Function &amp; Transition Consideration</a:t>
            </a:r>
            <a:endParaRPr lang="en-US" sz="900" b="1" dirty="0">
              <a:solidFill>
                <a:schemeClr val="accent4"/>
              </a:solidFill>
              <a:cs typeface="Arial" pitchFamily="34" charset="0"/>
            </a:endParaRPr>
          </a:p>
          <a:p>
            <a:pPr marL="228600" indent="-228600">
              <a:spcBef>
                <a:spcPts val="600"/>
              </a:spcBef>
              <a:buClr>
                <a:srgbClr val="97989A"/>
              </a:buClr>
              <a:buFont typeface="+mj-lt"/>
              <a:buAutoNum type="arabicPeriod"/>
              <a:defRPr/>
            </a:pPr>
            <a:r>
              <a:rPr lang="en-US" sz="900" dirty="0" smtClean="0">
                <a:cs typeface="Arial" pitchFamily="34" charset="0"/>
              </a:rPr>
              <a:t>Although </a:t>
            </a:r>
            <a:r>
              <a:rPr lang="en-US" sz="900" dirty="0">
                <a:cs typeface="Arial" pitchFamily="34" charset="0"/>
              </a:rPr>
              <a:t>the Target has approximately 25 back office professionals that include individuals that assist with tax compliance, these individuals focus primarily on federal income tax issues.  </a:t>
            </a:r>
          </a:p>
          <a:p>
            <a:pPr marL="228600" indent="-228600">
              <a:spcBef>
                <a:spcPts val="600"/>
              </a:spcBef>
              <a:buClr>
                <a:srgbClr val="97989A"/>
              </a:buClr>
              <a:buFont typeface="+mj-lt"/>
              <a:buAutoNum type="arabicPeriod"/>
              <a:defRPr/>
            </a:pPr>
            <a:r>
              <a:rPr lang="en-US" sz="900" dirty="0" smtClean="0">
                <a:cs typeface="Arial" pitchFamily="34" charset="0"/>
              </a:rPr>
              <a:t>Affiliates </a:t>
            </a:r>
            <a:r>
              <a:rPr lang="en-US" sz="900" dirty="0">
                <a:cs typeface="Arial" pitchFamily="34" charset="0"/>
              </a:rPr>
              <a:t>of GECC provide the tax compliance and reporting support to the Target in the following areas:</a:t>
            </a:r>
          </a:p>
          <a:p>
            <a:pPr marL="685800" lvl="1" indent="-228600">
              <a:spcBef>
                <a:spcPts val="600"/>
              </a:spcBef>
              <a:buClr>
                <a:srgbClr val="97989A"/>
              </a:buClr>
              <a:buFont typeface="+mj-lt"/>
              <a:buAutoNum type="alphaLcPeriod"/>
              <a:defRPr/>
            </a:pPr>
            <a:r>
              <a:rPr lang="en-US" sz="900" dirty="0" smtClean="0">
                <a:cs typeface="Arial" pitchFamily="34" charset="0"/>
              </a:rPr>
              <a:t>State </a:t>
            </a:r>
            <a:r>
              <a:rPr lang="en-US" sz="900" dirty="0">
                <a:cs typeface="Arial" pitchFamily="34" charset="0"/>
              </a:rPr>
              <a:t>income and franchise taxes;</a:t>
            </a:r>
          </a:p>
          <a:p>
            <a:pPr marL="685800" lvl="1" indent="-228600">
              <a:spcBef>
                <a:spcPts val="600"/>
              </a:spcBef>
              <a:buClr>
                <a:srgbClr val="97989A"/>
              </a:buClr>
              <a:buFont typeface="+mj-lt"/>
              <a:buAutoNum type="alphaLcPeriod"/>
              <a:defRPr/>
            </a:pPr>
            <a:r>
              <a:rPr lang="en-US" sz="900" dirty="0" smtClean="0">
                <a:cs typeface="Arial" pitchFamily="34" charset="0"/>
              </a:rPr>
              <a:t>Indirect </a:t>
            </a:r>
            <a:r>
              <a:rPr lang="en-US" sz="900" dirty="0">
                <a:cs typeface="Arial" pitchFamily="34" charset="0"/>
              </a:rPr>
              <a:t>state taxes, including sales and use and property taxes (noting that Target Management has stated that Target does not file any personal property tax returns);</a:t>
            </a:r>
          </a:p>
          <a:p>
            <a:pPr marL="685800" lvl="1" indent="-228600">
              <a:spcBef>
                <a:spcPts val="600"/>
              </a:spcBef>
              <a:buClr>
                <a:srgbClr val="97989A"/>
              </a:buClr>
              <a:buFont typeface="+mj-lt"/>
              <a:buAutoNum type="alphaLcPeriod"/>
              <a:defRPr/>
            </a:pPr>
            <a:r>
              <a:rPr lang="en-US" sz="900" dirty="0" smtClean="0">
                <a:cs typeface="Arial" pitchFamily="34" charset="0"/>
              </a:rPr>
              <a:t>Payroll </a:t>
            </a:r>
            <a:r>
              <a:rPr lang="en-US" sz="900" dirty="0">
                <a:cs typeface="Arial" pitchFamily="34" charset="0"/>
              </a:rPr>
              <a:t>taxes (noting that Target Management has stated that Target has not historically had any employees, and therefore no payroll tax return filing requirement); and</a:t>
            </a:r>
          </a:p>
          <a:p>
            <a:pPr marL="685800" lvl="1" indent="-228600">
              <a:spcBef>
                <a:spcPts val="600"/>
              </a:spcBef>
              <a:buClr>
                <a:srgbClr val="97989A"/>
              </a:buClr>
              <a:buFont typeface="+mj-lt"/>
              <a:buAutoNum type="alphaLcPeriod"/>
              <a:defRPr/>
            </a:pPr>
            <a:r>
              <a:rPr lang="en-US" sz="900" dirty="0" smtClean="0">
                <a:cs typeface="Arial" pitchFamily="34" charset="0"/>
              </a:rPr>
              <a:t>Withholding </a:t>
            </a:r>
            <a:r>
              <a:rPr lang="en-US" sz="900" dirty="0">
                <a:cs typeface="Arial" pitchFamily="34" charset="0"/>
              </a:rPr>
              <a:t>taxes and information reporting.</a:t>
            </a:r>
          </a:p>
          <a:p>
            <a:pPr marL="228600" indent="-228600">
              <a:spcBef>
                <a:spcPts val="600"/>
              </a:spcBef>
              <a:buClr>
                <a:srgbClr val="97989A"/>
              </a:buClr>
              <a:buFont typeface="+mj-lt"/>
              <a:buAutoNum type="arabicPeriod"/>
              <a:defRPr/>
            </a:pPr>
            <a:r>
              <a:rPr lang="en-US" sz="900" dirty="0" smtClean="0">
                <a:cs typeface="Arial" pitchFamily="34" charset="0"/>
              </a:rPr>
              <a:t>Until </a:t>
            </a:r>
            <a:r>
              <a:rPr lang="en-US" sz="900" dirty="0">
                <a:cs typeface="Arial" pitchFamily="34" charset="0"/>
              </a:rPr>
              <a:t>suitable internal or external resources can be located, it will be critical to the smooth transition of this acquisition that a transition services agreement covering the full profile of tax compliance and reporting functions not available within the Target is negotiated and concluded.</a:t>
            </a:r>
          </a:p>
          <a:p>
            <a:pPr marL="228600" indent="-228600">
              <a:spcBef>
                <a:spcPts val="600"/>
              </a:spcBef>
              <a:buClr>
                <a:srgbClr val="97989A"/>
              </a:buClr>
              <a:buFont typeface="+mj-lt"/>
              <a:buAutoNum type="arabicPeriod"/>
              <a:defRPr/>
            </a:pPr>
            <a:r>
              <a:rPr lang="en-US" sz="900" dirty="0" smtClean="0">
                <a:cs typeface="Arial" pitchFamily="34" charset="0"/>
              </a:rPr>
              <a:t>That </a:t>
            </a:r>
            <a:r>
              <a:rPr lang="en-US" sz="900" dirty="0">
                <a:cs typeface="Arial" pitchFamily="34" charset="0"/>
              </a:rPr>
              <a:t>agreement should also cover the quantum of historical information CPPIB will receive at acquisition and sufficient access to historical records and resources within GE, GECC, or their affiliates to support any defense of an income or indirect tax audit for federal and state tax purposes.</a:t>
            </a:r>
          </a:p>
        </p:txBody>
      </p:sp>
      <p:sp>
        <p:nvSpPr>
          <p:cNvPr id="4" name="TextBox 3"/>
          <p:cNvSpPr txBox="1"/>
          <p:nvPr/>
        </p:nvSpPr>
        <p:spPr>
          <a:xfrm>
            <a:off x="4876800" y="1371600"/>
            <a:ext cx="3962400" cy="4800600"/>
          </a:xfrm>
          <a:prstGeom prst="rect">
            <a:avLst/>
          </a:prstGeom>
          <a:noFill/>
        </p:spPr>
        <p:txBody>
          <a:bodyPr wrap="square" lIns="54000" tIns="54000" rIns="54000" bIns="54000" rtlCol="0">
            <a:noAutofit/>
          </a:bodyPr>
          <a:lstStyle/>
          <a:p>
            <a:r>
              <a:rPr lang="en-US" sz="900" b="1" dirty="0" smtClean="0">
                <a:solidFill>
                  <a:schemeClr val="accent4"/>
                </a:solidFill>
                <a:cs typeface="Arial" pitchFamily="34" charset="0"/>
              </a:rPr>
              <a:t>Foreign Investment in Real Property Act of 1980 (“FIRPTA”)</a:t>
            </a:r>
            <a:endParaRPr lang="en-US" sz="900" dirty="0">
              <a:cs typeface="Arial" pitchFamily="34" charset="0"/>
            </a:endParaRPr>
          </a:p>
          <a:p>
            <a:pPr marL="228600" indent="-228600">
              <a:spcBef>
                <a:spcPts val="600"/>
              </a:spcBef>
              <a:buClr>
                <a:srgbClr val="97989A"/>
              </a:buClr>
              <a:buFont typeface="+mj-lt"/>
              <a:buAutoNum type="arabicPeriod"/>
              <a:defRPr/>
            </a:pPr>
            <a:r>
              <a:rPr lang="en-US" sz="900" dirty="0" smtClean="0">
                <a:cs typeface="Arial" pitchFamily="34" charset="0"/>
              </a:rPr>
              <a:t>If </a:t>
            </a:r>
            <a:r>
              <a:rPr lang="en-US" sz="900" dirty="0">
                <a:cs typeface="Arial" pitchFamily="34" charset="0"/>
              </a:rPr>
              <a:t>following the acquisition of the Target, Holdco or the SPVs were to dispose of certain </a:t>
            </a:r>
            <a:r>
              <a:rPr lang="en-US" sz="900" dirty="0" smtClean="0">
                <a:cs typeface="Arial" pitchFamily="34" charset="0"/>
              </a:rPr>
              <a:t>loans (which includes making significant modifications to terms) CII </a:t>
            </a:r>
            <a:r>
              <a:rPr lang="en-US" sz="900" dirty="0">
                <a:cs typeface="Arial" pitchFamily="34" charset="0"/>
              </a:rPr>
              <a:t>4 could potentially be subject to US tax on the gain from such disposition under FIRPTA.</a:t>
            </a:r>
          </a:p>
          <a:p>
            <a:pPr marL="228600" indent="-228600">
              <a:spcBef>
                <a:spcPts val="600"/>
              </a:spcBef>
              <a:buClr>
                <a:srgbClr val="97989A"/>
              </a:buClr>
              <a:buFont typeface="+mj-lt"/>
              <a:buAutoNum type="arabicPeriod"/>
              <a:defRPr/>
            </a:pPr>
            <a:r>
              <a:rPr lang="en-US" sz="900" dirty="0" smtClean="0">
                <a:cs typeface="Arial" pitchFamily="34" charset="0"/>
              </a:rPr>
              <a:t>Only </a:t>
            </a:r>
            <a:r>
              <a:rPr lang="en-US" sz="900" dirty="0">
                <a:cs typeface="Arial" pitchFamily="34" charset="0"/>
              </a:rPr>
              <a:t>approximately 0.8% of the Target’s investment portfolio (debt and equity) relates to investments in finance, insurance, and real estate combined. Moreover, Target Management has represented that to the best of its knowledge, none of the debt investments provide a right to share in appreciation of or profits from US real estate.  We recommend that </a:t>
            </a:r>
            <a:r>
              <a:rPr lang="en-US" sz="900" dirty="0" smtClean="0">
                <a:cs typeface="Arial" pitchFamily="34" charset="0"/>
              </a:rPr>
              <a:t>this </a:t>
            </a:r>
            <a:r>
              <a:rPr lang="en-US" sz="900" dirty="0">
                <a:cs typeface="Arial" pitchFamily="34" charset="0"/>
              </a:rPr>
              <a:t>representation be confirmed prior to signing. </a:t>
            </a:r>
          </a:p>
          <a:p>
            <a:pPr marL="228600" indent="-228600">
              <a:spcBef>
                <a:spcPts val="600"/>
              </a:spcBef>
              <a:buClr>
                <a:srgbClr val="97989A"/>
              </a:buClr>
              <a:buFont typeface="+mj-lt"/>
              <a:buAutoNum type="arabicPeriod"/>
              <a:defRPr/>
            </a:pPr>
            <a:r>
              <a:rPr lang="en-US" sz="900" dirty="0" smtClean="0">
                <a:cs typeface="Arial" pitchFamily="34" charset="0"/>
              </a:rPr>
              <a:t>Following the acquisition, we recommend that certain controls are established to minimize the US tax exposure relating to any subsequent dispositions of US real property interests.</a:t>
            </a:r>
            <a:endParaRPr lang="en-US" sz="900" dirty="0">
              <a:cs typeface="Arial" pitchFamily="34" charset="0"/>
            </a:endParaRPr>
          </a:p>
        </p:txBody>
      </p:sp>
    </p:spTree>
    <p:extLst>
      <p:ext uri="{BB962C8B-B14F-4D97-AF65-F5344CB8AC3E}">
        <p14:creationId xmlns:p14="http://schemas.microsoft.com/office/powerpoint/2010/main" val="1378594394"/>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3"/>
          <p:cNvSpPr>
            <a:spLocks noGrp="1"/>
          </p:cNvSpPr>
          <p:nvPr>
            <p:ph type="title"/>
          </p:nvPr>
        </p:nvSpPr>
        <p:spPr>
          <a:xfrm>
            <a:off x="2123728" y="116632"/>
            <a:ext cx="6768752" cy="576064"/>
          </a:xfrm>
        </p:spPr>
        <p:txBody>
          <a:bodyPr/>
          <a:lstStyle/>
          <a:p>
            <a:r>
              <a:rPr lang="en-US" sz="1400" b="0" dirty="0" smtClean="0">
                <a:solidFill>
                  <a:srgbClr val="747678"/>
                </a:solidFill>
              </a:rPr>
              <a:t>Appendix 18</a:t>
            </a:r>
            <a:r>
              <a:rPr lang="en-US" dirty="0" smtClean="0"/>
              <a:t/>
            </a:r>
            <a:br>
              <a:rPr lang="en-US" dirty="0" smtClean="0"/>
            </a:br>
            <a:r>
              <a:rPr lang="en-US" dirty="0" smtClean="0"/>
              <a:t>Supporting analysis of tax key findings (5)</a:t>
            </a:r>
            <a:endParaRPr lang="en-US" dirty="0"/>
          </a:p>
        </p:txBody>
      </p:sp>
      <p:sp>
        <p:nvSpPr>
          <p:cNvPr id="2" name="TextBox 1"/>
          <p:cNvSpPr txBox="1"/>
          <p:nvPr/>
        </p:nvSpPr>
        <p:spPr>
          <a:xfrm>
            <a:off x="304800" y="1371600"/>
            <a:ext cx="3962400" cy="4800600"/>
          </a:xfrm>
          <a:prstGeom prst="rect">
            <a:avLst/>
          </a:prstGeom>
          <a:noFill/>
        </p:spPr>
        <p:txBody>
          <a:bodyPr wrap="square" lIns="54000" tIns="54000" rIns="54000" bIns="54000" rtlCol="0">
            <a:noAutofit/>
          </a:bodyPr>
          <a:lstStyle/>
          <a:p>
            <a:r>
              <a:rPr lang="en-US" sz="900" b="1" dirty="0" smtClean="0">
                <a:solidFill>
                  <a:schemeClr val="accent4"/>
                </a:solidFill>
                <a:cs typeface="Arial" pitchFamily="34" charset="0"/>
              </a:rPr>
              <a:t>Acquisition Structure and Mechanics</a:t>
            </a:r>
            <a:endParaRPr lang="en-US" sz="900" b="1" dirty="0">
              <a:solidFill>
                <a:schemeClr val="accent4"/>
              </a:solidFill>
              <a:cs typeface="Arial" pitchFamily="34" charset="0"/>
            </a:endParaRPr>
          </a:p>
          <a:p>
            <a:pPr>
              <a:spcBef>
                <a:spcPts val="600"/>
              </a:spcBef>
              <a:buClr>
                <a:srgbClr val="97989A"/>
              </a:buClr>
              <a:defRPr/>
            </a:pPr>
            <a:r>
              <a:rPr lang="en-US" sz="900" b="1" i="1" dirty="0" smtClean="0">
                <a:cs typeface="Arial" pitchFamily="34" charset="0"/>
              </a:rPr>
              <a:t>The </a:t>
            </a:r>
            <a:r>
              <a:rPr lang="en-US" sz="900" b="1" i="1" dirty="0">
                <a:cs typeface="Arial" pitchFamily="34" charset="0"/>
              </a:rPr>
              <a:t>Seller’s Proposed Acquisition </a:t>
            </a:r>
            <a:r>
              <a:rPr lang="en-US" sz="900" b="1" i="1" dirty="0" smtClean="0">
                <a:cs typeface="Arial" pitchFamily="34" charset="0"/>
              </a:rPr>
              <a:t>Structure:</a:t>
            </a:r>
            <a:endParaRPr lang="en-US" sz="900" b="1" i="1" dirty="0">
              <a:cs typeface="Arial" pitchFamily="34" charset="0"/>
            </a:endParaRPr>
          </a:p>
          <a:p>
            <a:pPr marL="228600" indent="-228600">
              <a:spcBef>
                <a:spcPts val="600"/>
              </a:spcBef>
              <a:buClr>
                <a:srgbClr val="97989A"/>
              </a:buClr>
              <a:buFont typeface="+mj-lt"/>
              <a:buAutoNum type="arabicPeriod"/>
              <a:defRPr/>
            </a:pPr>
            <a:r>
              <a:rPr lang="en-US" sz="900" dirty="0" smtClean="0">
                <a:cs typeface="Arial" pitchFamily="34" charset="0"/>
              </a:rPr>
              <a:t>Target </a:t>
            </a:r>
            <a:r>
              <a:rPr lang="en-US" sz="900" dirty="0">
                <a:cs typeface="Arial" pitchFamily="34" charset="0"/>
              </a:rPr>
              <a:t>Management suggested that prior to the proposed acquisition of the Target, the targeted assets would be (i) contributed from GECC to Target or (ii) sold by other subsidiaries of GECC to Target prior to the proposed acquisition of Target.  In addition, the targeted employees would be transferred to Target.  </a:t>
            </a:r>
            <a:endParaRPr lang="en-US" sz="900" dirty="0" smtClean="0">
              <a:cs typeface="Arial" pitchFamily="34" charset="0"/>
            </a:endParaRPr>
          </a:p>
          <a:p>
            <a:pPr marL="228600" indent="-228600">
              <a:spcBef>
                <a:spcPts val="600"/>
              </a:spcBef>
              <a:buClr>
                <a:srgbClr val="97989A"/>
              </a:buClr>
              <a:buFont typeface="+mj-lt"/>
              <a:buAutoNum type="arabicPeriod"/>
              <a:defRPr/>
            </a:pPr>
            <a:r>
              <a:rPr lang="en-US" sz="900" dirty="0" smtClean="0">
                <a:cs typeface="Arial" pitchFamily="34" charset="0"/>
              </a:rPr>
              <a:t>Regarding </a:t>
            </a:r>
            <a:r>
              <a:rPr lang="en-US" sz="900" dirty="0">
                <a:cs typeface="Arial" pitchFamily="34" charset="0"/>
              </a:rPr>
              <a:t>the proposed transaction structure, Target Management stated:</a:t>
            </a:r>
          </a:p>
          <a:p>
            <a:pPr marL="511175" indent="-285750">
              <a:spcBef>
                <a:spcPts val="600"/>
              </a:spcBef>
              <a:buClr>
                <a:srgbClr val="97989A"/>
              </a:buClr>
              <a:buFont typeface="+mj-lt"/>
              <a:buAutoNum type="alphaLcPeriod"/>
              <a:defRPr/>
            </a:pPr>
            <a:r>
              <a:rPr lang="en-US" sz="900" dirty="0" smtClean="0">
                <a:cs typeface="Arial" pitchFamily="34" charset="0"/>
              </a:rPr>
              <a:t>The </a:t>
            </a:r>
            <a:r>
              <a:rPr lang="en-US" sz="900" dirty="0">
                <a:cs typeface="Arial" pitchFamily="34" charset="0"/>
              </a:rPr>
              <a:t>Target holds a California lending license and certain of the targeted loans and revolvers must be held by an entity with such a license.  </a:t>
            </a:r>
          </a:p>
          <a:p>
            <a:pPr marL="511175" indent="-285750">
              <a:spcBef>
                <a:spcPts val="600"/>
              </a:spcBef>
              <a:buClr>
                <a:srgbClr val="97989A"/>
              </a:buClr>
              <a:buFont typeface="+mj-lt"/>
              <a:buAutoNum type="alphaLcPeriod"/>
              <a:defRPr/>
            </a:pPr>
            <a:r>
              <a:rPr lang="en-US" sz="900" dirty="0" smtClean="0">
                <a:cs typeface="Arial" pitchFamily="34" charset="0"/>
              </a:rPr>
              <a:t>The </a:t>
            </a:r>
            <a:r>
              <a:rPr lang="en-US" sz="900" dirty="0">
                <a:cs typeface="Arial" pitchFamily="34" charset="0"/>
              </a:rPr>
              <a:t>contribution and sale of the targeted assets to the Target should be a “taxable” transaction to the Seller, and thus, should result in Target having a tax basis in such assets equal their respective fair market values. </a:t>
            </a:r>
            <a:r>
              <a:rPr lang="en-US" sz="900" dirty="0" smtClean="0">
                <a:cs typeface="Arial" pitchFamily="34" charset="0"/>
              </a:rPr>
              <a:t>We believe this should be correct.</a:t>
            </a:r>
            <a:endParaRPr lang="en-US" sz="900" dirty="0">
              <a:cs typeface="Arial" pitchFamily="34" charset="0"/>
            </a:endParaRPr>
          </a:p>
          <a:p>
            <a:pPr>
              <a:spcBef>
                <a:spcPts val="600"/>
              </a:spcBef>
              <a:buClr>
                <a:srgbClr val="97989A"/>
              </a:buClr>
              <a:defRPr/>
            </a:pPr>
            <a:r>
              <a:rPr lang="en-US" sz="900" b="1" i="1" dirty="0" smtClean="0">
                <a:cs typeface="Arial" pitchFamily="34" charset="0"/>
              </a:rPr>
              <a:t>Proposed </a:t>
            </a:r>
            <a:r>
              <a:rPr lang="en-US" sz="900" b="1" i="1" dirty="0">
                <a:cs typeface="Arial" pitchFamily="34" charset="0"/>
              </a:rPr>
              <a:t>Alternative Acquisition Structure</a:t>
            </a:r>
          </a:p>
          <a:p>
            <a:pPr>
              <a:spcBef>
                <a:spcPts val="600"/>
              </a:spcBef>
              <a:buClr>
                <a:srgbClr val="97989A"/>
              </a:buClr>
              <a:defRPr/>
            </a:pPr>
            <a:r>
              <a:rPr lang="en-US" sz="900" dirty="0" smtClean="0">
                <a:cs typeface="Arial" pitchFamily="34" charset="0"/>
              </a:rPr>
              <a:t>Target </a:t>
            </a:r>
            <a:r>
              <a:rPr lang="en-US" sz="900" dirty="0">
                <a:cs typeface="Arial" pitchFamily="34" charset="0"/>
              </a:rPr>
              <a:t>Management stated that the Seller is flexible and open to alternative acquisition structures that may prove beneficial to the </a:t>
            </a:r>
            <a:r>
              <a:rPr lang="en-US" sz="900" dirty="0" smtClean="0">
                <a:cs typeface="Arial" pitchFamily="34" charset="0"/>
              </a:rPr>
              <a:t>parties.  The Structuring Slides provided by Debevoise</a:t>
            </a:r>
            <a:r>
              <a:rPr lang="en-US" sz="900" dirty="0">
                <a:cs typeface="Arial" pitchFamily="34" charset="0"/>
              </a:rPr>
              <a:t> </a:t>
            </a:r>
            <a:r>
              <a:rPr lang="en-US" sz="900" dirty="0" smtClean="0">
                <a:cs typeface="Arial" pitchFamily="34" charset="0"/>
              </a:rPr>
              <a:t>provide significantly more detail on the alternative proposed by CPPIB.  However, it is broadly expected that:</a:t>
            </a:r>
          </a:p>
          <a:p>
            <a:pPr marL="228600" indent="-228600">
              <a:spcBef>
                <a:spcPts val="600"/>
              </a:spcBef>
              <a:buClr>
                <a:srgbClr val="97989A"/>
              </a:buClr>
              <a:buFont typeface="+mj-lt"/>
              <a:buAutoNum type="arabicPeriod"/>
              <a:defRPr/>
            </a:pPr>
            <a:r>
              <a:rPr lang="en-US" sz="900" dirty="0">
                <a:cs typeface="Arial" pitchFamily="34" charset="0"/>
              </a:rPr>
              <a:t>GECC contributes and GECC subsidiaries transfer pursuant to an intercompany sale to the Target any loans and revolvers that must be held by an entity with a California Lenders License.  </a:t>
            </a:r>
          </a:p>
          <a:p>
            <a:pPr marL="228600" indent="-228600">
              <a:spcBef>
                <a:spcPts val="600"/>
              </a:spcBef>
              <a:buClr>
                <a:srgbClr val="97989A"/>
              </a:buClr>
              <a:buFont typeface="+mj-lt"/>
              <a:buAutoNum type="arabicPeriod"/>
              <a:defRPr/>
            </a:pPr>
            <a:r>
              <a:rPr lang="en-US" sz="900" dirty="0">
                <a:cs typeface="Arial" pitchFamily="34" charset="0"/>
              </a:rPr>
              <a:t>GECC also transfers employment of the Target Employees to Garrison.</a:t>
            </a:r>
          </a:p>
          <a:p>
            <a:pPr>
              <a:spcBef>
                <a:spcPts val="600"/>
              </a:spcBef>
              <a:buClr>
                <a:srgbClr val="97989A"/>
              </a:buClr>
              <a:defRPr/>
            </a:pPr>
            <a:endParaRPr lang="en-US" sz="900" dirty="0">
              <a:cs typeface="Arial" pitchFamily="34" charset="0"/>
            </a:endParaRPr>
          </a:p>
        </p:txBody>
      </p:sp>
      <p:sp>
        <p:nvSpPr>
          <p:cNvPr id="4" name="TextBox 3"/>
          <p:cNvSpPr txBox="1"/>
          <p:nvPr/>
        </p:nvSpPr>
        <p:spPr>
          <a:xfrm>
            <a:off x="4876800" y="1371600"/>
            <a:ext cx="3962400" cy="4800600"/>
          </a:xfrm>
          <a:prstGeom prst="rect">
            <a:avLst/>
          </a:prstGeom>
          <a:noFill/>
        </p:spPr>
        <p:txBody>
          <a:bodyPr wrap="square" lIns="54000" tIns="54000" rIns="54000" bIns="54000" rtlCol="0">
            <a:noAutofit/>
          </a:bodyPr>
          <a:lstStyle/>
          <a:p>
            <a:pPr>
              <a:spcBef>
                <a:spcPts val="600"/>
              </a:spcBef>
              <a:buClr>
                <a:srgbClr val="97989A"/>
              </a:buClr>
              <a:defRPr/>
            </a:pPr>
            <a:r>
              <a:rPr lang="en-US" sz="900" b="1" i="1" dirty="0">
                <a:cs typeface="Arial" pitchFamily="34" charset="0"/>
              </a:rPr>
              <a:t>Proposed Alternative Acquisition </a:t>
            </a:r>
            <a:r>
              <a:rPr lang="en-US" sz="900" b="1" i="1" dirty="0" smtClean="0">
                <a:cs typeface="Arial" pitchFamily="34" charset="0"/>
              </a:rPr>
              <a:t>Structure - continued</a:t>
            </a:r>
            <a:endParaRPr lang="en-US" sz="900" b="1" i="1" dirty="0">
              <a:cs typeface="Arial" pitchFamily="34" charset="0"/>
            </a:endParaRPr>
          </a:p>
          <a:p>
            <a:pPr marL="228600" indent="-228600">
              <a:spcBef>
                <a:spcPts val="600"/>
              </a:spcBef>
              <a:buClr>
                <a:srgbClr val="97989A"/>
              </a:buClr>
              <a:buFont typeface="+mj-lt"/>
              <a:buAutoNum type="arabicPeriod" startAt="3"/>
              <a:defRPr/>
            </a:pPr>
            <a:r>
              <a:rPr lang="en-US" sz="900" dirty="0" smtClean="0">
                <a:cs typeface="Arial" pitchFamily="34" charset="0"/>
              </a:rPr>
              <a:t>GECC </a:t>
            </a:r>
            <a:r>
              <a:rPr lang="en-US" sz="900" dirty="0">
                <a:cs typeface="Arial" pitchFamily="34" charset="0"/>
              </a:rPr>
              <a:t>and GECC subsidiaries contribute the remaining targeted assets to one or more Transfer Vehicles, each of which is a US tax-transparent entity (e.g., a Delaware limited </a:t>
            </a:r>
            <a:r>
              <a:rPr lang="en-US" sz="900" dirty="0" smtClean="0">
                <a:cs typeface="Arial" pitchFamily="34" charset="0"/>
              </a:rPr>
              <a:t>partnership or a trust).</a:t>
            </a:r>
            <a:endParaRPr lang="en-US" sz="900" dirty="0">
              <a:cs typeface="Arial" pitchFamily="34" charset="0"/>
            </a:endParaRPr>
          </a:p>
          <a:p>
            <a:pPr marL="228600" indent="-228600">
              <a:spcBef>
                <a:spcPts val="600"/>
              </a:spcBef>
              <a:buClr>
                <a:srgbClr val="97989A"/>
              </a:buClr>
              <a:buFont typeface="+mj-lt"/>
              <a:buAutoNum type="arabicPeriod" startAt="3"/>
              <a:defRPr/>
            </a:pPr>
            <a:r>
              <a:rPr lang="en-US" sz="900" dirty="0">
                <a:cs typeface="Arial" pitchFamily="34" charset="0"/>
              </a:rPr>
              <a:t>If CII 4 does not acquire a California lending license prior to closing: </a:t>
            </a:r>
            <a:endParaRPr lang="en-US" sz="900" dirty="0" smtClean="0">
              <a:cs typeface="Arial" pitchFamily="34" charset="0"/>
            </a:endParaRPr>
          </a:p>
          <a:p>
            <a:pPr marL="511175" indent="-285750">
              <a:spcBef>
                <a:spcPts val="600"/>
              </a:spcBef>
              <a:buClr>
                <a:srgbClr val="97989A"/>
              </a:buClr>
              <a:buFont typeface="+mj-lt"/>
              <a:buAutoNum type="alphaLcPeriod"/>
              <a:defRPr/>
            </a:pPr>
            <a:r>
              <a:rPr lang="en-US" sz="900" dirty="0" smtClean="0">
                <a:cs typeface="Arial" pitchFamily="34" charset="0"/>
              </a:rPr>
              <a:t>GECC </a:t>
            </a:r>
            <a:r>
              <a:rPr lang="en-US" sz="900" dirty="0">
                <a:cs typeface="Arial" pitchFamily="34" charset="0"/>
              </a:rPr>
              <a:t>sells 100% of the shares of Garrison to Bidco and Garrison continues to originate new loans for which a California License is necessary (the “Interim Loans”) until CII 4 obtains its own license, </a:t>
            </a:r>
            <a:endParaRPr lang="en-US" sz="900" dirty="0" smtClean="0">
              <a:cs typeface="Arial" pitchFamily="34" charset="0"/>
            </a:endParaRPr>
          </a:p>
          <a:p>
            <a:pPr marL="511175" indent="-285750">
              <a:spcBef>
                <a:spcPts val="600"/>
              </a:spcBef>
              <a:buClr>
                <a:srgbClr val="97989A"/>
              </a:buClr>
              <a:buFont typeface="+mj-lt"/>
              <a:buAutoNum type="alphaLcPeriod"/>
              <a:defRPr/>
            </a:pPr>
            <a:r>
              <a:rPr lang="en-US" sz="900" dirty="0" smtClean="0">
                <a:cs typeface="Arial" pitchFamily="34" charset="0"/>
              </a:rPr>
              <a:t>GECC </a:t>
            </a:r>
            <a:r>
              <a:rPr lang="en-US" sz="900" dirty="0">
                <a:cs typeface="Arial" pitchFamily="34" charset="0"/>
              </a:rPr>
              <a:t>and the GECC subsidiaries sell interest(s) in Transfer Vehicle(s), as well as term loans originated between signing and closing, to Holdco or the SPVs and equity in portfolio companies that are structured as LLCs or partnerships, and that are engaged in a U.S. trade or business through a permanent establishment, as well as other non-loan assets that give rise to permanent establishment concerns (“Blocker Assets”) to </a:t>
            </a:r>
            <a:r>
              <a:rPr lang="en-US" sz="900" dirty="0" smtClean="0">
                <a:cs typeface="Arial" pitchFamily="34" charset="0"/>
              </a:rPr>
              <a:t>Blocker, and</a:t>
            </a:r>
          </a:p>
          <a:p>
            <a:pPr marL="511175" indent="-285750">
              <a:spcBef>
                <a:spcPts val="600"/>
              </a:spcBef>
              <a:buClr>
                <a:srgbClr val="97989A"/>
              </a:buClr>
              <a:buFont typeface="+mj-lt"/>
              <a:buAutoNum type="alphaLcPeriod"/>
              <a:defRPr/>
            </a:pPr>
            <a:r>
              <a:rPr lang="en-US" sz="900" dirty="0" smtClean="0">
                <a:cs typeface="Arial" pitchFamily="34" charset="0"/>
              </a:rPr>
              <a:t>From that point forward, future loan origination activity is undertaken by CII 4.</a:t>
            </a:r>
            <a:endParaRPr lang="en-US" sz="900" dirty="0">
              <a:cs typeface="Arial" pitchFamily="34" charset="0"/>
            </a:endParaRPr>
          </a:p>
          <a:p>
            <a:pPr marL="228600" indent="-228600">
              <a:spcBef>
                <a:spcPts val="600"/>
              </a:spcBef>
              <a:buClr>
                <a:srgbClr val="97989A"/>
              </a:buClr>
              <a:buFont typeface="+mj-lt"/>
              <a:buAutoNum type="arabicPeriod" startAt="5"/>
              <a:defRPr/>
            </a:pPr>
            <a:r>
              <a:rPr lang="en-US" sz="900" dirty="0">
                <a:cs typeface="Arial" pitchFamily="34" charset="0"/>
              </a:rPr>
              <a:t>If CII 4 does acquire a California lending license prior to </a:t>
            </a:r>
            <a:r>
              <a:rPr lang="en-US" sz="900" dirty="0" smtClean="0">
                <a:cs typeface="Arial" pitchFamily="34" charset="0"/>
              </a:rPr>
              <a:t>closing:</a:t>
            </a:r>
          </a:p>
          <a:p>
            <a:pPr marL="511175" indent="-285750">
              <a:spcBef>
                <a:spcPts val="600"/>
              </a:spcBef>
              <a:buClr>
                <a:srgbClr val="97989A"/>
              </a:buClr>
              <a:buFont typeface="+mj-lt"/>
              <a:buAutoNum type="alphaLcPeriod"/>
              <a:defRPr/>
            </a:pPr>
            <a:r>
              <a:rPr lang="en-US" sz="900" dirty="0" smtClean="0">
                <a:cs typeface="Arial" pitchFamily="34" charset="0"/>
              </a:rPr>
              <a:t>GECC </a:t>
            </a:r>
            <a:r>
              <a:rPr lang="en-US" sz="900" dirty="0">
                <a:cs typeface="Arial" pitchFamily="34" charset="0"/>
              </a:rPr>
              <a:t>sells 100% of the shares of Garrison to CII 4, </a:t>
            </a:r>
          </a:p>
          <a:p>
            <a:pPr marL="511175" indent="-285750">
              <a:spcBef>
                <a:spcPts val="600"/>
              </a:spcBef>
              <a:buClr>
                <a:srgbClr val="97989A"/>
              </a:buClr>
              <a:buFont typeface="+mj-lt"/>
              <a:buAutoNum type="alphaLcPeriod"/>
              <a:defRPr/>
            </a:pPr>
            <a:r>
              <a:rPr lang="en-US" sz="900" dirty="0" smtClean="0">
                <a:cs typeface="Arial" pitchFamily="34" charset="0"/>
              </a:rPr>
              <a:t>GECC </a:t>
            </a:r>
            <a:r>
              <a:rPr lang="en-US" sz="900" dirty="0">
                <a:cs typeface="Arial" pitchFamily="34" charset="0"/>
              </a:rPr>
              <a:t>and the GECC subsidiaries sell their interest(s) in the Transfer Vehicle(s) to Holdco or the SPVs and the Blocker Assets to Blocker, </a:t>
            </a:r>
          </a:p>
          <a:p>
            <a:pPr marL="511175" indent="-285750">
              <a:spcBef>
                <a:spcPts val="600"/>
              </a:spcBef>
              <a:buClr>
                <a:srgbClr val="97989A"/>
              </a:buClr>
              <a:buFont typeface="+mj-lt"/>
              <a:buAutoNum type="alphaLcPeriod"/>
              <a:defRPr/>
            </a:pPr>
            <a:r>
              <a:rPr lang="en-US" sz="900" dirty="0" smtClean="0">
                <a:cs typeface="Arial" pitchFamily="34" charset="0"/>
              </a:rPr>
              <a:t>GECC </a:t>
            </a:r>
            <a:r>
              <a:rPr lang="en-US" sz="900" dirty="0">
                <a:cs typeface="Arial" pitchFamily="34" charset="0"/>
              </a:rPr>
              <a:t>and other GECC subsidiaries sell Interim Loans directly to CII4, Holdco or the SPV(s</a:t>
            </a:r>
            <a:r>
              <a:rPr lang="en-US" sz="900" dirty="0" smtClean="0">
                <a:cs typeface="Arial" pitchFamily="34" charset="0"/>
              </a:rPr>
              <a:t>), and</a:t>
            </a:r>
          </a:p>
          <a:p>
            <a:pPr marL="511175" indent="-285750">
              <a:spcBef>
                <a:spcPts val="600"/>
              </a:spcBef>
              <a:buClr>
                <a:srgbClr val="97989A"/>
              </a:buClr>
              <a:buFont typeface="+mj-lt"/>
              <a:buAutoNum type="alphaLcPeriod"/>
              <a:defRPr/>
            </a:pPr>
            <a:r>
              <a:rPr lang="en-US" sz="900" dirty="0" smtClean="0">
                <a:cs typeface="Arial" pitchFamily="34" charset="0"/>
              </a:rPr>
              <a:t>Under </a:t>
            </a:r>
            <a:r>
              <a:rPr lang="en-US" sz="900" dirty="0">
                <a:cs typeface="Arial" pitchFamily="34" charset="0"/>
              </a:rPr>
              <a:t>this scenario, all future loan origination activity is undertaken by CII 4.  </a:t>
            </a:r>
          </a:p>
        </p:txBody>
      </p:sp>
    </p:spTree>
    <p:extLst>
      <p:ext uri="{BB962C8B-B14F-4D97-AF65-F5344CB8AC3E}">
        <p14:creationId xmlns:p14="http://schemas.microsoft.com/office/powerpoint/2010/main" val="1115810836"/>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3"/>
          <p:cNvSpPr>
            <a:spLocks noGrp="1"/>
          </p:cNvSpPr>
          <p:nvPr>
            <p:ph type="title"/>
          </p:nvPr>
        </p:nvSpPr>
        <p:spPr>
          <a:xfrm>
            <a:off x="2123728" y="116632"/>
            <a:ext cx="6768752" cy="576064"/>
          </a:xfrm>
        </p:spPr>
        <p:txBody>
          <a:bodyPr/>
          <a:lstStyle/>
          <a:p>
            <a:r>
              <a:rPr lang="en-US" sz="1400" b="0" dirty="0" smtClean="0">
                <a:solidFill>
                  <a:srgbClr val="747678"/>
                </a:solidFill>
              </a:rPr>
              <a:t>Appendix 18</a:t>
            </a:r>
            <a:r>
              <a:rPr lang="en-US" dirty="0" smtClean="0"/>
              <a:t/>
            </a:r>
            <a:br>
              <a:rPr lang="en-US" dirty="0" smtClean="0"/>
            </a:br>
            <a:r>
              <a:rPr lang="en-US" dirty="0" smtClean="0"/>
              <a:t>Supporting analysis of tax key findings (6)</a:t>
            </a:r>
            <a:endParaRPr lang="en-US" dirty="0"/>
          </a:p>
        </p:txBody>
      </p:sp>
      <p:sp>
        <p:nvSpPr>
          <p:cNvPr id="2" name="TextBox 1"/>
          <p:cNvSpPr txBox="1"/>
          <p:nvPr/>
        </p:nvSpPr>
        <p:spPr>
          <a:xfrm>
            <a:off x="304800" y="1371600"/>
            <a:ext cx="3962400" cy="4800600"/>
          </a:xfrm>
          <a:prstGeom prst="rect">
            <a:avLst/>
          </a:prstGeom>
          <a:noFill/>
        </p:spPr>
        <p:txBody>
          <a:bodyPr wrap="square" lIns="54000" tIns="54000" rIns="54000" bIns="54000" rtlCol="0">
            <a:noAutofit/>
          </a:bodyPr>
          <a:lstStyle/>
          <a:p>
            <a:r>
              <a:rPr lang="en-US" sz="900" b="1" dirty="0" smtClean="0">
                <a:solidFill>
                  <a:schemeClr val="accent4"/>
                </a:solidFill>
                <a:cs typeface="Arial" pitchFamily="34" charset="0"/>
              </a:rPr>
              <a:t>Acquisition Structure and Mechanics - continued</a:t>
            </a:r>
            <a:endParaRPr lang="en-US" sz="900" b="1" dirty="0">
              <a:solidFill>
                <a:schemeClr val="accent4"/>
              </a:solidFill>
              <a:cs typeface="Arial" pitchFamily="34" charset="0"/>
            </a:endParaRPr>
          </a:p>
          <a:p>
            <a:pPr>
              <a:spcBef>
                <a:spcPts val="600"/>
              </a:spcBef>
              <a:buClr>
                <a:srgbClr val="97989A"/>
              </a:buClr>
              <a:defRPr/>
            </a:pPr>
            <a:r>
              <a:rPr lang="en-US" sz="900" b="1" i="1" dirty="0" smtClean="0">
                <a:cs typeface="Arial" pitchFamily="34" charset="0"/>
              </a:rPr>
              <a:t>Discussion</a:t>
            </a:r>
          </a:p>
          <a:p>
            <a:pPr marL="228600" indent="-228600">
              <a:spcBef>
                <a:spcPts val="600"/>
              </a:spcBef>
              <a:buClr>
                <a:srgbClr val="97989A"/>
              </a:buClr>
              <a:buFont typeface="+mj-lt"/>
              <a:buAutoNum type="arabicPeriod"/>
              <a:defRPr/>
            </a:pPr>
            <a:r>
              <a:rPr lang="en-US" sz="900" dirty="0" smtClean="0">
                <a:cs typeface="Arial" pitchFamily="34" charset="0"/>
              </a:rPr>
              <a:t>The </a:t>
            </a:r>
            <a:r>
              <a:rPr lang="en-US" sz="900" dirty="0">
                <a:cs typeface="Arial" pitchFamily="34" charset="0"/>
              </a:rPr>
              <a:t>proposed alternative acquisition structure should still result in the Target, CII 4, Holdco, and/or the SPVs obtaining a step-up in the tax basis of the acquired assets equal to their respective fair market values.  This alternative, however, materially reduces the need for any post-acquisition transfers of assets from Target to CII 4, Holdco, and/or the SPVs. </a:t>
            </a:r>
          </a:p>
          <a:p>
            <a:pPr marL="228600" indent="-228600">
              <a:spcBef>
                <a:spcPts val="600"/>
              </a:spcBef>
              <a:buClr>
                <a:srgbClr val="97989A"/>
              </a:buClr>
              <a:buFont typeface="+mj-lt"/>
              <a:buAutoNum type="arabicPeriod"/>
              <a:defRPr/>
            </a:pPr>
            <a:r>
              <a:rPr lang="en-US" sz="900" dirty="0">
                <a:cs typeface="Arial" pitchFamily="34" charset="0"/>
              </a:rPr>
              <a:t>We have requested data from the Target to determine the quantum of Blocker Assets and loans/revolvers that must be held by an entity with a California lending license.  We have not received such information as of the date of this report. </a:t>
            </a:r>
          </a:p>
          <a:p>
            <a:pPr marL="228600" indent="-228600">
              <a:spcBef>
                <a:spcPts val="600"/>
              </a:spcBef>
              <a:buClr>
                <a:srgbClr val="97989A"/>
              </a:buClr>
              <a:buFont typeface="+mj-lt"/>
              <a:buAutoNum type="arabicPeriod"/>
              <a:defRPr/>
            </a:pPr>
            <a:r>
              <a:rPr lang="en-US" sz="900" dirty="0">
                <a:cs typeface="Arial" pitchFamily="34" charset="0"/>
              </a:rPr>
              <a:t>With respect to each of the acquisition structures described above, we have raised the possibility of a purchase of the Target inclusive of a section 338(h)(10) election that would eliminate built-in-gains and historical tax attributes</a:t>
            </a:r>
            <a:r>
              <a:rPr lang="en-US" sz="900" dirty="0" smtClean="0">
                <a:cs typeface="Arial" pitchFamily="34" charset="0"/>
              </a:rPr>
              <a:t>. Target Management has stated that if a section 338(h)(10) election is desired, buyer can bid accordingly.</a:t>
            </a:r>
            <a:endParaRPr lang="en-US" sz="900" dirty="0">
              <a:cs typeface="Arial" pitchFamily="34" charset="0"/>
            </a:endParaRPr>
          </a:p>
        </p:txBody>
      </p:sp>
      <p:sp>
        <p:nvSpPr>
          <p:cNvPr id="4" name="TextBox 3"/>
          <p:cNvSpPr txBox="1"/>
          <p:nvPr/>
        </p:nvSpPr>
        <p:spPr>
          <a:xfrm>
            <a:off x="4876800" y="1371600"/>
            <a:ext cx="3962400" cy="4800600"/>
          </a:xfrm>
          <a:prstGeom prst="rect">
            <a:avLst/>
          </a:prstGeom>
          <a:noFill/>
        </p:spPr>
        <p:txBody>
          <a:bodyPr wrap="square" lIns="54000" tIns="54000" rIns="54000" bIns="54000" rtlCol="0">
            <a:noAutofit/>
          </a:bodyPr>
          <a:lstStyle/>
          <a:p>
            <a:r>
              <a:rPr lang="en-US" sz="900" b="1" dirty="0" smtClean="0">
                <a:solidFill>
                  <a:schemeClr val="accent4"/>
                </a:solidFill>
                <a:cs typeface="Arial" pitchFamily="34" charset="0"/>
              </a:rPr>
              <a:t>Impact of Deconsolidation</a:t>
            </a:r>
          </a:p>
          <a:p>
            <a:pPr marL="228600" indent="-228600">
              <a:buFont typeface="+mj-lt"/>
              <a:buAutoNum type="arabicPeriod"/>
            </a:pPr>
            <a:r>
              <a:rPr lang="en-US" sz="900" dirty="0" smtClean="0">
                <a:cs typeface="Arial" pitchFamily="34" charset="0"/>
              </a:rPr>
              <a:t>Generally</a:t>
            </a:r>
            <a:r>
              <a:rPr lang="en-US" sz="900" dirty="0">
                <a:cs typeface="Arial" pitchFamily="34" charset="0"/>
              </a:rPr>
              <a:t>, when members join in filing a consolidated return, the taxable income and losses of group members are combined to arrive at the group’s net taxable income or loss.  However, when deconsolidation occurs, the tax attributes of the group, including group losses, should be distributed back to individual group members.  </a:t>
            </a:r>
          </a:p>
          <a:p>
            <a:pPr marL="228600" indent="-228600">
              <a:buFont typeface="+mj-lt"/>
              <a:buAutoNum type="arabicPeriod"/>
            </a:pPr>
            <a:r>
              <a:rPr lang="en-US" sz="900" dirty="0" smtClean="0">
                <a:cs typeface="Arial" pitchFamily="34" charset="0"/>
              </a:rPr>
              <a:t>As </a:t>
            </a:r>
            <a:r>
              <a:rPr lang="en-US" sz="900" dirty="0">
                <a:cs typeface="Arial" pitchFamily="34" charset="0"/>
              </a:rPr>
              <a:t>Target is currently a member of the GE US tax consolidated group, a determination of tax attributes separately allocable to the Target post-acquisition will need to be made. </a:t>
            </a:r>
          </a:p>
          <a:p>
            <a:pPr marL="228600" indent="-228600">
              <a:buFont typeface="+mj-lt"/>
              <a:buAutoNum type="arabicPeriod"/>
            </a:pPr>
            <a:r>
              <a:rPr lang="en-US" sz="900" dirty="0" smtClean="0">
                <a:cs typeface="Arial" pitchFamily="34" charset="0"/>
              </a:rPr>
              <a:t>Management </a:t>
            </a:r>
            <a:r>
              <a:rPr lang="en-US" sz="900" dirty="0">
                <a:cs typeface="Arial" pitchFamily="34" charset="0"/>
              </a:rPr>
              <a:t>has represented that Target has no </a:t>
            </a:r>
            <a:r>
              <a:rPr lang="en-US" sz="900" dirty="0" smtClean="0">
                <a:cs typeface="Arial" pitchFamily="34" charset="0"/>
              </a:rPr>
              <a:t>federal NOL </a:t>
            </a:r>
            <a:r>
              <a:rPr lang="en-US" sz="900" dirty="0">
                <a:cs typeface="Arial" pitchFamily="34" charset="0"/>
              </a:rPr>
              <a:t>carryovers, a small state NOL balance, no capital loss carryovers, and accumulated E&amp;P as at 12/31/14 of $</a:t>
            </a:r>
            <a:r>
              <a:rPr lang="en-US" sz="900" dirty="0" smtClean="0">
                <a:cs typeface="Arial" pitchFamily="34" charset="0"/>
              </a:rPr>
              <a:t>19M.  These representations are </a:t>
            </a:r>
            <a:r>
              <a:rPr lang="en-US" sz="900" dirty="0">
                <a:cs typeface="Arial" pitchFamily="34" charset="0"/>
              </a:rPr>
              <a:t>subject to confirmatory due diligence. </a:t>
            </a:r>
          </a:p>
          <a:p>
            <a:pPr marL="228600" indent="-228600">
              <a:buFont typeface="+mj-lt"/>
              <a:buAutoNum type="arabicPeriod"/>
            </a:pPr>
            <a:r>
              <a:rPr lang="en-US" sz="900" dirty="0" smtClean="0">
                <a:cs typeface="Arial" pitchFamily="34" charset="0"/>
              </a:rPr>
              <a:t>A </a:t>
            </a:r>
            <a:r>
              <a:rPr lang="en-US" sz="900" dirty="0">
                <a:cs typeface="Arial" pitchFamily="34" charset="0"/>
              </a:rPr>
              <a:t>prescribed calculation will determine the allocation of Target’s pre and post-acquisition taxable income.  Short-year tax return filings for federal and potentially state tax purposes will be made to reflect that allocation.</a:t>
            </a:r>
          </a:p>
          <a:p>
            <a:pPr marL="228600" indent="-228600">
              <a:buFont typeface="+mj-lt"/>
              <a:buAutoNum type="arabicPeriod"/>
            </a:pPr>
            <a:r>
              <a:rPr lang="en-US" sz="900" dirty="0" smtClean="0">
                <a:cs typeface="Arial" pitchFamily="34" charset="0"/>
              </a:rPr>
              <a:t>State </a:t>
            </a:r>
            <a:r>
              <a:rPr lang="en-US" sz="900" dirty="0">
                <a:cs typeface="Arial" pitchFamily="34" charset="0"/>
              </a:rPr>
              <a:t>tax may also apply and we note that treatment of the consolidated group from a state tax perspective may vary from state to state.</a:t>
            </a:r>
          </a:p>
          <a:p>
            <a:pPr marL="228600" indent="-228600">
              <a:buFont typeface="+mj-lt"/>
              <a:buAutoNum type="arabicPeriod"/>
            </a:pPr>
            <a:r>
              <a:rPr lang="en-US" sz="900" dirty="0" smtClean="0">
                <a:cs typeface="Arial" pitchFamily="34" charset="0"/>
              </a:rPr>
              <a:t>Following </a:t>
            </a:r>
            <a:r>
              <a:rPr lang="en-US" sz="900" dirty="0">
                <a:cs typeface="Arial" pitchFamily="34" charset="0"/>
              </a:rPr>
              <a:t>the acquisition and deconsolidation, Target will remain liable for tax liabilities which relate to tax years in which Target was a member of the GE US consolidated tax group.  See Treas. Reg. section 1.1502-6(a).  The Stock and Asset Purchase Agreement negotiation process should ensure the receipt of a suitable level of Target’s background tax information prior to closing, as well as post-acquisition access to personnel, resources and other information to appropriately support a tax audit defense.</a:t>
            </a:r>
          </a:p>
          <a:p>
            <a:endParaRPr lang="en-US" sz="900" dirty="0">
              <a:cs typeface="Arial" pitchFamily="34" charset="0"/>
            </a:endParaRPr>
          </a:p>
        </p:txBody>
      </p:sp>
    </p:spTree>
    <p:extLst>
      <p:ext uri="{BB962C8B-B14F-4D97-AF65-F5344CB8AC3E}">
        <p14:creationId xmlns:p14="http://schemas.microsoft.com/office/powerpoint/2010/main" val="1258319483"/>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bwMode="gray">
          <a:xfrm>
            <a:off x="2123728" y="128664"/>
            <a:ext cx="6768226" cy="576064"/>
          </a:xfrm>
        </p:spPr>
        <p:txBody>
          <a:bodyPr>
            <a:normAutofit/>
          </a:bodyPr>
          <a:lstStyle/>
          <a:p>
            <a:r>
              <a:rPr lang="en-US" sz="1400" b="0" dirty="0">
                <a:solidFill>
                  <a:srgbClr val="747678"/>
                </a:solidFill>
              </a:rPr>
              <a:t>Appendix </a:t>
            </a:r>
            <a:r>
              <a:rPr lang="en-US" sz="1400" b="0" dirty="0" smtClean="0">
                <a:solidFill>
                  <a:srgbClr val="747678"/>
                </a:solidFill>
              </a:rPr>
              <a:t>18</a:t>
            </a:r>
            <a:r>
              <a:rPr lang="en-US" dirty="0"/>
              <a:t/>
            </a:r>
            <a:br>
              <a:rPr lang="en-US" dirty="0"/>
            </a:br>
            <a:r>
              <a:rPr lang="en-US" dirty="0"/>
              <a:t>Supporting analysis of </a:t>
            </a:r>
            <a:r>
              <a:rPr lang="en-US" dirty="0" smtClean="0"/>
              <a:t>tax key findings (7)</a:t>
            </a:r>
            <a:endParaRPr lang="en-US" dirty="0"/>
          </a:p>
        </p:txBody>
      </p:sp>
      <p:pic>
        <p:nvPicPr>
          <p:cNvPr id="2" name="Picture 1"/>
          <p:cNvPicPr>
            <a:picLocks noChangeAspect="1"/>
          </p:cNvPicPr>
          <p:nvPr/>
        </p:nvPicPr>
        <p:blipFill>
          <a:blip r:embed="rId3"/>
          <a:stretch>
            <a:fillRect/>
          </a:stretch>
        </p:blipFill>
        <p:spPr>
          <a:xfrm>
            <a:off x="16440" y="943413"/>
            <a:ext cx="9171102" cy="5457387"/>
          </a:xfrm>
          <a:prstGeom prst="rect">
            <a:avLst/>
          </a:prstGeom>
        </p:spPr>
      </p:pic>
      <p:sp>
        <p:nvSpPr>
          <p:cNvPr id="3" name="TextBox 2"/>
          <p:cNvSpPr txBox="1"/>
          <p:nvPr/>
        </p:nvSpPr>
        <p:spPr>
          <a:xfrm>
            <a:off x="1600200" y="4953000"/>
            <a:ext cx="838200" cy="76200"/>
          </a:xfrm>
          <a:prstGeom prst="rect">
            <a:avLst/>
          </a:prstGeom>
          <a:noFill/>
        </p:spPr>
        <p:txBody>
          <a:bodyPr wrap="square" lIns="54000" tIns="54000" rIns="54000" bIns="54000" rtlCol="0">
            <a:noAutofit/>
          </a:bodyPr>
          <a:lstStyle/>
          <a:p>
            <a:r>
              <a:rPr lang="en-US" sz="900" b="1" dirty="0" smtClean="0">
                <a:latin typeface="Arial" pitchFamily="34" charset="0"/>
                <a:cs typeface="Arial" pitchFamily="34" charset="0"/>
              </a:rPr>
              <a:t>Legend</a:t>
            </a:r>
          </a:p>
        </p:txBody>
      </p:sp>
    </p:spTree>
    <p:extLst>
      <p:ext uri="{BB962C8B-B14F-4D97-AF65-F5344CB8AC3E}">
        <p14:creationId xmlns:p14="http://schemas.microsoft.com/office/powerpoint/2010/main" val="2689001911"/>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p:cNvSpPr>
            <a:spLocks noGrp="1"/>
          </p:cNvSpPr>
          <p:nvPr>
            <p:ph type="body" sz="quarter" idx="10"/>
          </p:nvPr>
        </p:nvSpPr>
        <p:spPr>
          <a:xfrm>
            <a:off x="252414" y="3716338"/>
            <a:ext cx="3971244" cy="2376487"/>
          </a:xfrm>
        </p:spPr>
        <p:txBody>
          <a:bodyPr/>
          <a:lstStyle/>
          <a:p>
            <a:r>
              <a:rPr lang="en-US" dirty="0"/>
              <a:t>© </a:t>
            </a:r>
            <a:r>
              <a:rPr lang="en-US" dirty="0" smtClean="0"/>
              <a:t>2015 </a:t>
            </a:r>
            <a:r>
              <a:rPr lang="en-US" dirty="0"/>
              <a:t>KPMG LLP, a Canadian limited liability partnership and a member firm of the KPMG network of independent member firms affiliated with KPMG International Cooperative (“KPMG International”), a Swiss entity. All rights reserved</a:t>
            </a:r>
            <a:r>
              <a:rPr lang="en-US" dirty="0" smtClean="0"/>
              <a:t>.</a:t>
            </a:r>
          </a:p>
          <a:p>
            <a:r>
              <a:rPr lang="en-US" dirty="0" smtClean="0"/>
              <a:t>The </a:t>
            </a:r>
            <a:r>
              <a:rPr lang="en-US" dirty="0" smtClean="0">
                <a:latin typeface="Arial"/>
              </a:rPr>
              <a:t>KPMG name, logo and “cutting through complexity” are registered trademarks or trademarks of KPMG International Cooperative (“KPMG International”).</a:t>
            </a:r>
            <a:endParaRPr lang="en-US" dirty="0">
              <a:latin typeface="Arial"/>
            </a:endParaRPr>
          </a:p>
        </p:txBody>
      </p:sp>
    </p:spTree>
    <p:extLst>
      <p:ext uri="{BB962C8B-B14F-4D97-AF65-F5344CB8AC3E}">
        <p14:creationId xmlns:p14="http://schemas.microsoft.com/office/powerpoint/2010/main" val="39687500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REATEDBY" val="Global PowerPoint Toolbar"/>
  <p:tag name="TOOLBARVERSION" val="4.04"/>
  <p:tag name="TYPE" val="Report"/>
  <p:tag name="KEYWORD" val="REPORT"/>
  <p:tag name="TEMPLATEVERSION" val="16/01/2013 18:34:20"/>
</p:tagLst>
</file>

<file path=ppt/tags/tag2.xml><?xml version="1.0" encoding="utf-8"?>
<p:tagLst xmlns:a="http://schemas.openxmlformats.org/drawingml/2006/main" xmlns:r="http://schemas.openxmlformats.org/officeDocument/2006/relationships" xmlns:p="http://schemas.openxmlformats.org/presentationml/2006/main">
  <p:tag name="ADV_DRAFT" val="TRUE"/>
</p:tagLst>
</file>

<file path=ppt/tags/tag3.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4.xml><?xml version="1.0" encoding="utf-8"?>
<p:tagLst xmlns:a="http://schemas.openxmlformats.org/drawingml/2006/main" xmlns:r="http://schemas.openxmlformats.org/officeDocument/2006/relationships" xmlns:p="http://schemas.openxmlformats.org/presentationml/2006/main">
  <p:tag name="ADV_TOP" val="253.25"/>
  <p:tag name="ADV_LEFT" val="129.75"/>
  <p:tag name="ADV_HEIGHT" val="17"/>
  <p:tag name="ADV_WIDTH" val="287.7165"/>
</p:tagLst>
</file>

<file path=ppt/tags/tag5.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6.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7.xml><?xml version="1.0" encoding="utf-8"?>
<p:tagLst xmlns:a="http://schemas.openxmlformats.org/drawingml/2006/main" xmlns:r="http://schemas.openxmlformats.org/officeDocument/2006/relationships" xmlns:p="http://schemas.openxmlformats.org/presentationml/2006/main">
  <p:tag name="ADV_TOP" val="84.6374"/>
  <p:tag name="ADV_LEFT" val="176.8177"/>
  <p:tag name="ADV_HEIGHT" val="41.87008"/>
  <p:tag name="ADV_WIDTH" val="22.67992"/>
</p:tagLst>
</file>

<file path=ppt/tags/tag8.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9.xml><?xml version="1.0" encoding="utf-8"?>
<p:tagLst xmlns:a="http://schemas.openxmlformats.org/drawingml/2006/main" xmlns:r="http://schemas.openxmlformats.org/officeDocument/2006/relationships" xmlns:p="http://schemas.openxmlformats.org/presentationml/2006/main">
  <p:tag name="ADV_TOP" val="264.815"/>
  <p:tag name="ADV_LEFT" val="166.3846"/>
  <p:tag name="ADV_HEIGHT" val="16.56016"/>
  <p:tag name="ADV_WIDTH" val="261.6923"/>
</p:tagLst>
</file>

<file path=ppt/tags/tag10.xml><?xml version="1.0" encoding="utf-8"?>
<p:tagLst xmlns:a="http://schemas.openxmlformats.org/drawingml/2006/main" xmlns:r="http://schemas.openxmlformats.org/officeDocument/2006/relationships" xmlns:p="http://schemas.openxmlformats.org/presentationml/2006/main">
  <p:tag name="ADV_TOP" val="264.815"/>
  <p:tag name="ADV_LEFT" val="166.3846"/>
  <p:tag name="ADV_HEIGHT" val="16.56016"/>
  <p:tag name="ADV_WIDTH" val="261.6923"/>
</p:tagLst>
</file>

<file path=ppt/tags/tag11.xml><?xml version="1.0" encoding="utf-8"?>
<p:tagLst xmlns:a="http://schemas.openxmlformats.org/drawingml/2006/main" xmlns:r="http://schemas.openxmlformats.org/officeDocument/2006/relationships" xmlns:p="http://schemas.openxmlformats.org/presentationml/2006/main">
  <p:tag name="ADV_TOP" val="264.815"/>
  <p:tag name="ADV_LEFT" val="166.3846"/>
  <p:tag name="ADV_HEIGHT" val="16.56016"/>
  <p:tag name="ADV_WIDTH" val="261.6923"/>
</p:tagLst>
</file>

<file path=ppt/tags/tag12.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13.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14.xml><?xml version="1.0" encoding="utf-8"?>
<p:tagLst xmlns:a="http://schemas.openxmlformats.org/drawingml/2006/main" xmlns:r="http://schemas.openxmlformats.org/officeDocument/2006/relationships" xmlns:p="http://schemas.openxmlformats.org/presentationml/2006/main">
  <p:tag name="ADV_TOP" val="264.815"/>
  <p:tag name="ADV_LEFT" val="166.3846"/>
  <p:tag name="ADV_HEIGHT" val="16.56016"/>
  <p:tag name="ADV_WIDTH" val="261.6923"/>
</p:tagLst>
</file>

<file path=ppt/tags/tag15.xml><?xml version="1.0" encoding="utf-8"?>
<p:tagLst xmlns:a="http://schemas.openxmlformats.org/drawingml/2006/main" xmlns:r="http://schemas.openxmlformats.org/officeDocument/2006/relationships" xmlns:p="http://schemas.openxmlformats.org/presentationml/2006/main">
  <p:tag name="ADV_TOP" val="264.815"/>
  <p:tag name="ADV_LEFT" val="166.3846"/>
  <p:tag name="ADV_HEIGHT" val="16.56016"/>
  <p:tag name="ADV_WIDTH" val="261.6923"/>
</p:tagLst>
</file>

<file path=ppt/tags/tag16.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17.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18.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19.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20.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21.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22.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23.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24.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25.xml><?xml version="1.0" encoding="utf-8"?>
<p:tagLst xmlns:a="http://schemas.openxmlformats.org/drawingml/2006/main" xmlns:r="http://schemas.openxmlformats.org/officeDocument/2006/relationships" xmlns:p="http://schemas.openxmlformats.org/presentationml/2006/main">
  <p:tag name="ADV_TOP" val="84.6374"/>
  <p:tag name="ADV_LEFT" val="176.8177"/>
  <p:tag name="ADV_HEIGHT" val="41.87008"/>
  <p:tag name="ADV_WIDTH" val="22.67992"/>
</p:tagLst>
</file>

<file path=ppt/tags/tag26.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27.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28.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29.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30.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31.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32.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33.xml><?xml version="1.0" encoding="utf-8"?>
<p:tagLst xmlns:a="http://schemas.openxmlformats.org/drawingml/2006/main" xmlns:r="http://schemas.openxmlformats.org/officeDocument/2006/relationships" xmlns:p="http://schemas.openxmlformats.org/presentationml/2006/main">
  <p:tag name="FASFONT" val="Univers55"/>
</p:tagLst>
</file>

<file path=ppt/tags/tag34.xml><?xml version="1.0" encoding="utf-8"?>
<p:tagLst xmlns:a="http://schemas.openxmlformats.org/drawingml/2006/main" xmlns:r="http://schemas.openxmlformats.org/officeDocument/2006/relationships" xmlns:p="http://schemas.openxmlformats.org/presentationml/2006/main">
  <p:tag name="ADV_TOP" val="84.6374"/>
  <p:tag name="ADV_LEFT" val="176.8177"/>
  <p:tag name="ADV_HEIGHT" val="41.87008"/>
  <p:tag name="ADV_WIDTH" val="22.67992"/>
</p:tagLst>
</file>

<file path=ppt/tags/tag35.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36.xml><?xml version="1.0" encoding="utf-8"?>
<p:tagLst xmlns:a="http://schemas.openxmlformats.org/drawingml/2006/main" xmlns:r="http://schemas.openxmlformats.org/officeDocument/2006/relationships" xmlns:p="http://schemas.openxmlformats.org/presentationml/2006/main">
  <p:tag name="ADV_TOP" val="84.6374"/>
  <p:tag name="ADV_LEFT" val="176.8177"/>
  <p:tag name="ADV_HEIGHT" val="41.87008"/>
  <p:tag name="ADV_WIDTH" val="22.67992"/>
</p:tagLst>
</file>

<file path=ppt/tags/tag37.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38.xml><?xml version="1.0" encoding="utf-8"?>
<p:tagLst xmlns:a="http://schemas.openxmlformats.org/drawingml/2006/main" xmlns:r="http://schemas.openxmlformats.org/officeDocument/2006/relationships" xmlns:p="http://schemas.openxmlformats.org/presentationml/2006/main">
  <p:tag name="FASFONT" val="Univers55"/>
</p:tagLst>
</file>

<file path=ppt/tags/tag39.xml><?xml version="1.0" encoding="utf-8"?>
<p:tagLst xmlns:a="http://schemas.openxmlformats.org/drawingml/2006/main" xmlns:r="http://schemas.openxmlformats.org/officeDocument/2006/relationships" xmlns:p="http://schemas.openxmlformats.org/presentationml/2006/main">
  <p:tag name="FASFONT" val="Univers55"/>
</p:tagLst>
</file>

<file path=ppt/tags/tag40.xml><?xml version="1.0" encoding="utf-8"?>
<p:tagLst xmlns:a="http://schemas.openxmlformats.org/drawingml/2006/main" xmlns:r="http://schemas.openxmlformats.org/officeDocument/2006/relationships" xmlns:p="http://schemas.openxmlformats.org/presentationml/2006/main">
  <p:tag name="ADV_TOP" val="264.815"/>
  <p:tag name="ADV_LEFT" val="166.3846"/>
  <p:tag name="ADV_HEIGHT" val="16.56016"/>
  <p:tag name="ADV_WIDTH" val="261.6923"/>
</p:tagLst>
</file>

<file path=ppt/tags/tag41.xml><?xml version="1.0" encoding="utf-8"?>
<p:tagLst xmlns:a="http://schemas.openxmlformats.org/drawingml/2006/main" xmlns:r="http://schemas.openxmlformats.org/officeDocument/2006/relationships" xmlns:p="http://schemas.openxmlformats.org/presentationml/2006/main">
  <p:tag name="ADV_TOP" val="264.815"/>
  <p:tag name="ADV_LEFT" val="166.3846"/>
  <p:tag name="ADV_HEIGHT" val="16.56016"/>
  <p:tag name="ADV_WIDTH" val="261.6923"/>
</p:tagLst>
</file>

<file path=ppt/tags/tag42.xml><?xml version="1.0" encoding="utf-8"?>
<p:tagLst xmlns:a="http://schemas.openxmlformats.org/drawingml/2006/main" xmlns:r="http://schemas.openxmlformats.org/officeDocument/2006/relationships" xmlns:p="http://schemas.openxmlformats.org/presentationml/2006/main">
  <p:tag name="ADV_TOP" val="264.815"/>
  <p:tag name="ADV_LEFT" val="166.3846"/>
  <p:tag name="ADV_HEIGHT" val="16.56016"/>
  <p:tag name="ADV_WIDTH" val="261.6923"/>
</p:tagLst>
</file>

<file path=ppt/tags/tag43.xml><?xml version="1.0" encoding="utf-8"?>
<p:tagLst xmlns:a="http://schemas.openxmlformats.org/drawingml/2006/main" xmlns:r="http://schemas.openxmlformats.org/officeDocument/2006/relationships" xmlns:p="http://schemas.openxmlformats.org/presentationml/2006/main">
  <p:tag name="XLNAME" val="[C:\Users\rfantham\Desktop\Garrison - SF balance sheet.xlsx]Sheet1!$B$5:$J$20"/>
  <p:tag name="WASTB" val="TRUE"/>
</p:tagLst>
</file>

<file path=ppt/tags/tag44.xml><?xml version="1.0" encoding="utf-8"?>
<p:tagLst xmlns:a="http://schemas.openxmlformats.org/drawingml/2006/main" xmlns:r="http://schemas.openxmlformats.org/officeDocument/2006/relationships" xmlns:p="http://schemas.openxmlformats.org/presentationml/2006/main">
  <p:tag name="ADV_TOP" val="264.815"/>
  <p:tag name="ADV_LEFT" val="166.3846"/>
  <p:tag name="ADV_HEIGHT" val="16.56016"/>
  <p:tag name="ADV_WIDTH" val="261.6923"/>
</p:tagLst>
</file>

<file path=ppt/tags/tag45.xml><?xml version="1.0" encoding="utf-8"?>
<p:tagLst xmlns:a="http://schemas.openxmlformats.org/drawingml/2006/main" xmlns:r="http://schemas.openxmlformats.org/officeDocument/2006/relationships" xmlns:p="http://schemas.openxmlformats.org/presentationml/2006/main">
  <p:tag name="XLNAME" val="[C:\Users\rfantham\Desktop\Garrison - SF balance sheet.xlsx]Sheet1!$B$5:$H$16"/>
  <p:tag name="WASTB" val="TRUE"/>
</p:tagLst>
</file>

<file path=ppt/tags/tag46.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47.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48.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49.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50.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51.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52.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53.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54.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55.xml><?xml version="1.0" encoding="utf-8"?>
<p:tagLst xmlns:a="http://schemas.openxmlformats.org/drawingml/2006/main" xmlns:r="http://schemas.openxmlformats.org/officeDocument/2006/relationships" xmlns:p="http://schemas.openxmlformats.org/presentationml/2006/main">
  <p:tag name="ADV_TOP" val="84.6374"/>
  <p:tag name="ADV_LEFT" val="176.8177"/>
  <p:tag name="ADV_HEIGHT" val="41.87008"/>
  <p:tag name="ADV_WIDTH" val="22.67992"/>
</p:tagLst>
</file>

<file path=ppt/tags/tag56.xml><?xml version="1.0" encoding="utf-8"?>
<p:tagLst xmlns:a="http://schemas.openxmlformats.org/drawingml/2006/main" xmlns:r="http://schemas.openxmlformats.org/officeDocument/2006/relationships" xmlns:p="http://schemas.openxmlformats.org/presentationml/2006/main">
  <p:tag name="ADV_TOP" val="84.6374"/>
  <p:tag name="ADV_LEFT" val="176.8177"/>
  <p:tag name="ADV_HEIGHT" val="41.87008"/>
  <p:tag name="ADV_WIDTH" val="22.67992"/>
</p:tagLst>
</file>

<file path=ppt/tags/tag57.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58.xml><?xml version="1.0" encoding="utf-8"?>
<p:tagLst xmlns:a="http://schemas.openxmlformats.org/drawingml/2006/main" xmlns:r="http://schemas.openxmlformats.org/officeDocument/2006/relationships" xmlns:p="http://schemas.openxmlformats.org/presentationml/2006/main">
  <p:tag name="ADV_TOP" val="84.6374"/>
  <p:tag name="ADV_LEFT" val="176.8177"/>
  <p:tag name="ADV_HEIGHT" val="41.87008"/>
  <p:tag name="ADV_WIDTH" val="22.67992"/>
</p:tagLst>
</file>

<file path=ppt/tags/tag59.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60.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61.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62.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63.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64.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65.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66.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67.xml><?xml version="1.0" encoding="utf-8"?>
<p:tagLst xmlns:a="http://schemas.openxmlformats.org/drawingml/2006/main" xmlns:r="http://schemas.openxmlformats.org/officeDocument/2006/relationships" xmlns:p="http://schemas.openxmlformats.org/presentationml/2006/main">
  <p:tag name="FASFONT" val="Univers55"/>
</p:tagLst>
</file>

<file path=ppt/tags/tag68.xml><?xml version="1.0" encoding="utf-8"?>
<p:tagLst xmlns:a="http://schemas.openxmlformats.org/drawingml/2006/main" xmlns:r="http://schemas.openxmlformats.org/officeDocument/2006/relationships" xmlns:p="http://schemas.openxmlformats.org/presentationml/2006/main">
  <p:tag name="ADV_TOP" val="84.6374"/>
  <p:tag name="ADV_LEFT" val="176.8177"/>
  <p:tag name="ADV_HEIGHT" val="41.87008"/>
  <p:tag name="ADV_WIDTH" val="22.67992"/>
</p:tagLst>
</file>

<file path=ppt/tags/tag69.xml><?xml version="1.0" encoding="utf-8"?>
<p:tagLst xmlns:a="http://schemas.openxmlformats.org/drawingml/2006/main" xmlns:r="http://schemas.openxmlformats.org/officeDocument/2006/relationships" xmlns:p="http://schemas.openxmlformats.org/presentationml/2006/main">
  <p:tag name="ADV_TOP" val="84.6374"/>
  <p:tag name="ADV_LEFT" val="176.8177"/>
  <p:tag name="ADV_HEIGHT" val="41.87008"/>
  <p:tag name="ADV_WIDTH" val="22.67992"/>
</p:tagLst>
</file>

<file path=ppt/tags/tag70.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71.xml><?xml version="1.0" encoding="utf-8"?>
<p:tagLst xmlns:a="http://schemas.openxmlformats.org/drawingml/2006/main" xmlns:r="http://schemas.openxmlformats.org/officeDocument/2006/relationships" xmlns:p="http://schemas.openxmlformats.org/presentationml/2006/main">
  <p:tag name="FASFONT" val="Univers55"/>
</p:tagLst>
</file>

<file path=ppt/tags/tag72.xml><?xml version="1.0" encoding="utf-8"?>
<p:tagLst xmlns:a="http://schemas.openxmlformats.org/drawingml/2006/main" xmlns:r="http://schemas.openxmlformats.org/officeDocument/2006/relationships" xmlns:p="http://schemas.openxmlformats.org/presentationml/2006/main">
  <p:tag name="ADV_TOP" val="84.6374"/>
  <p:tag name="ADV_LEFT" val="176.8177"/>
  <p:tag name="ADV_HEIGHT" val="41.87008"/>
  <p:tag name="ADV_WIDTH" val="22.67992"/>
</p:tagLst>
</file>

<file path=ppt/tags/tag73.xml><?xml version="1.0" encoding="utf-8"?>
<p:tagLst xmlns:a="http://schemas.openxmlformats.org/drawingml/2006/main" xmlns:r="http://schemas.openxmlformats.org/officeDocument/2006/relationships" xmlns:p="http://schemas.openxmlformats.org/presentationml/2006/main">
  <p:tag name="FASFONT" val="Univers55"/>
</p:tagLst>
</file>

<file path=ppt/tags/tag74.xml><?xml version="1.0" encoding="utf-8"?>
<p:tagLst xmlns:a="http://schemas.openxmlformats.org/drawingml/2006/main" xmlns:r="http://schemas.openxmlformats.org/officeDocument/2006/relationships" xmlns:p="http://schemas.openxmlformats.org/presentationml/2006/main">
  <p:tag name="ADV_TOP" val="94.25"/>
  <p:tag name="ADV_LEFT" val="167.2227"/>
  <p:tag name="ADV_HEIGHT" val="298.1197"/>
  <p:tag name="ADV_WIDTH" val="260.8164"/>
</p:tagLst>
</file>

<file path=ppt/tags/tag75.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76.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77.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78.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79.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80.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81.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82.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83.xml><?xml version="1.0" encoding="utf-8"?>
<p:tagLst xmlns:a="http://schemas.openxmlformats.org/drawingml/2006/main" xmlns:r="http://schemas.openxmlformats.org/officeDocument/2006/relationships" xmlns:p="http://schemas.openxmlformats.org/presentationml/2006/main">
  <p:tag name="FASFONT" val="Univers55"/>
</p:tagLst>
</file>

<file path=ppt/tags/tag84.xml><?xml version="1.0" encoding="utf-8"?>
<p:tagLst xmlns:a="http://schemas.openxmlformats.org/drawingml/2006/main" xmlns:r="http://schemas.openxmlformats.org/officeDocument/2006/relationships" xmlns:p="http://schemas.openxmlformats.org/presentationml/2006/main">
  <p:tag name="ADV_TOP" val="84.6374"/>
  <p:tag name="ADV_LEFT" val="176.8177"/>
  <p:tag name="ADV_HEIGHT" val="41.87008"/>
  <p:tag name="ADV_WIDTH" val="22.67992"/>
</p:tagLst>
</file>

<file path=ppt/tags/tag85.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86.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87.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88.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89.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90.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91.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92.xml><?xml version="1.0" encoding="utf-8"?>
<p:tagLst xmlns:a="http://schemas.openxmlformats.org/drawingml/2006/main" xmlns:r="http://schemas.openxmlformats.org/officeDocument/2006/relationships" xmlns:p="http://schemas.openxmlformats.org/presentationml/2006/main">
  <p:tag name="ADV_TOP" val="264.815"/>
  <p:tag name="ADV_LEFT" val="167.25"/>
  <p:tag name="ADV_HEIGHT" val="16.56016"/>
  <p:tag name="ADV_WIDTH" val="261.6923"/>
</p:tagLst>
</file>

<file path=ppt/tags/tag93.xml><?xml version="1.0" encoding="utf-8"?>
<p:tagLst xmlns:a="http://schemas.openxmlformats.org/drawingml/2006/main" xmlns:r="http://schemas.openxmlformats.org/officeDocument/2006/relationships" xmlns:p="http://schemas.openxmlformats.org/presentationml/2006/main">
  <p:tag name="ADV_TOP" val="264.815"/>
  <p:tag name="ADV_LEFT" val="166.3846"/>
  <p:tag name="ADV_HEIGHT" val="16.56016"/>
  <p:tag name="ADV_WIDTH" val="261.6923"/>
</p:tagLst>
</file>

<file path=ppt/theme/theme1.xml><?xml version="1.0" encoding="utf-8"?>
<a:theme xmlns:a="http://schemas.openxmlformats.org/drawingml/2006/main" name="KPMG Report Standard Template">
  <a:themeElements>
    <a:clrScheme name="KPMG Colours">
      <a:dk1>
        <a:srgbClr val="000000"/>
      </a:dk1>
      <a:lt1>
        <a:srgbClr val="FFFFFF"/>
      </a:lt1>
      <a:dk2>
        <a:srgbClr val="007C92"/>
      </a:dk2>
      <a:lt2>
        <a:srgbClr val="747678"/>
      </a:lt2>
      <a:accent1>
        <a:srgbClr val="8E258D"/>
      </a:accent1>
      <a:accent2>
        <a:srgbClr val="A79E70"/>
      </a:accent2>
      <a:accent3>
        <a:srgbClr val="7AB800"/>
      </a:accent3>
      <a:accent4>
        <a:srgbClr val="00338D"/>
      </a:accent4>
      <a:accent5>
        <a:srgbClr val="C84E00"/>
      </a:accent5>
      <a:accent6>
        <a:srgbClr val="EBB700"/>
      </a:accent6>
      <a:hlink>
        <a:srgbClr val="007C92"/>
      </a:hlink>
      <a:folHlink>
        <a:srgbClr val="8E258D"/>
      </a:folHlink>
    </a:clrScheme>
    <a:fontScheme name="KPMG Theme">
      <a:majorFont>
        <a:latin typeface="Arial"/>
        <a:ea typeface=""/>
        <a:cs typeface=""/>
      </a:majorFont>
      <a:minorFont>
        <a:latin typeface="Arial"/>
        <a:ea typeface=""/>
        <a:cs typeface=""/>
      </a:minorFont>
    </a:fontScheme>
    <a:fmtScheme name="KPMG Theme">
      <a:fillStyleLst>
        <a:solidFill>
          <a:schemeClr val="phClr"/>
        </a:solidFill>
        <a:solidFill>
          <a:schemeClr val="phClr">
            <a:tint val="0"/>
          </a:schemeClr>
        </a:solidFill>
        <a:solidFill>
          <a:schemeClr val="phClr"/>
        </a:solidFill>
      </a:fillStyleLst>
      <a:lnStyleLst>
        <a:ln w="6350" cap="rnd" cmpd="sng" algn="ctr">
          <a:solidFill>
            <a:schemeClr val="phClr"/>
          </a:solidFill>
          <a:prstDash val="solid"/>
        </a:ln>
        <a:ln w="12700" cap="rnd" cmpd="sng" algn="ctr">
          <a:solidFill>
            <a:schemeClr val="phClr"/>
          </a:solidFill>
          <a:prstDash val="solid"/>
        </a:ln>
        <a:ln w="19050" cap="rnd"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spDef>
      <a:spPr>
        <a:solidFill>
          <a:schemeClr val="tx2"/>
        </a:solidFill>
        <a:ln>
          <a:noFill/>
        </a:ln>
      </a:spPr>
      <a:bodyPr lIns="54000" tIns="54000" rIns="54000" bIns="54000"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747678"/>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000" tIns="54000" rIns="54000" bIns="54000" rtlCol="0">
        <a:noAutofit/>
      </a:bodyPr>
      <a:lstStyle>
        <a:defPPr>
          <a:defRPr sz="900" dirty="0" smtClean="0">
            <a:latin typeface="Arial" pitchFamily="34" charset="0"/>
            <a:cs typeface="Arial" pitchFamily="34" charset="0"/>
          </a:defRPr>
        </a:defPPr>
      </a:lstStyle>
    </a:txDef>
  </a:objectDefaults>
  <a:extraClrSchemeLst>
    <a:extraClrScheme>
      <a:clrScheme name="KPMG Colours">
        <a:dk1>
          <a:srgbClr val="000000"/>
        </a:dk1>
        <a:lt1>
          <a:srgbClr val="FFFFFF"/>
        </a:lt1>
        <a:dk2>
          <a:srgbClr val="007C92"/>
        </a:dk2>
        <a:lt2>
          <a:srgbClr val="747678"/>
        </a:lt2>
        <a:accent1>
          <a:srgbClr val="8E258D"/>
        </a:accent1>
        <a:accent2>
          <a:srgbClr val="A79E70"/>
        </a:accent2>
        <a:accent3>
          <a:srgbClr val="7AB800"/>
        </a:accent3>
        <a:accent4>
          <a:srgbClr val="00338D"/>
        </a:accent4>
        <a:accent5>
          <a:srgbClr val="C84E00"/>
        </a:accent5>
        <a:accent6>
          <a:srgbClr val="EBB700"/>
        </a:accent6>
        <a:hlink>
          <a:srgbClr val="007C92"/>
        </a:hlink>
        <a:folHlink>
          <a:srgbClr val="8E258D"/>
        </a:folHlink>
      </a:clrScheme>
    </a:extraClrScheme>
  </a:extraClrSchemeLst>
  <a:custClrLst>
    <a:custClr name="Turquoise 100%">
      <a:srgbClr val="007C92"/>
    </a:custClr>
    <a:custClr name="Deep Purple 100%">
      <a:srgbClr val="8E258D"/>
    </a:custClr>
    <a:custClr name="Tan 100%">
      <a:srgbClr val="A79E70"/>
    </a:custClr>
    <a:custClr name="Bright Green 100%">
      <a:srgbClr val="7AB800"/>
    </a:custClr>
    <a:custClr name="Deep Blue 100%">
      <a:srgbClr val="00338D"/>
    </a:custClr>
    <a:custClr name="Orange 100%">
      <a:srgbClr val="C84E00"/>
    </a:custClr>
    <a:custClr name="Bright Yellow 100%">
      <a:srgbClr val="EBB700"/>
    </a:custClr>
    <a:custClr name="Powder Blue 100%">
      <a:srgbClr val="98C6EA"/>
    </a:custClr>
    <a:custClr name="Gray 100%">
      <a:srgbClr val="747678"/>
    </a:custClr>
    <a:custClr name="Red 100%">
      <a:srgbClr val="9E3039"/>
    </a:custClr>
    <a:custClr name="Turquoise 75%">
      <a:srgbClr val="409DAD"/>
    </a:custClr>
    <a:custClr name="Deep Purple 75%">
      <a:srgbClr val="AA5CAA"/>
    </a:custClr>
    <a:custClr name="Tan 75%">
      <a:srgbClr val="BDB694"/>
    </a:custClr>
    <a:custClr name="Bright Green 75%">
      <a:srgbClr val="9BCA40"/>
    </a:custClr>
    <a:custClr name="Deep Blue 75%">
      <a:srgbClr val="4066AA"/>
    </a:custClr>
    <a:custClr name="Orange 75%">
      <a:srgbClr val="D67A40"/>
    </a:custClr>
    <a:custClr name="Bright Yellow 75%">
      <a:srgbClr val="F0C940"/>
    </a:custClr>
    <a:custClr name="Powder Blue 75%">
      <a:srgbClr val="B2D4EF"/>
    </a:custClr>
    <a:custClr name="Gray 75%">
      <a:srgbClr val="97989A"/>
    </a:custClr>
    <a:custClr name="Red 75%">
      <a:srgbClr val="B6646B"/>
    </a:custClr>
    <a:custClr name="Turquoise 50%">
      <a:srgbClr val="80BEC9"/>
    </a:custClr>
    <a:custClr name="Deep Purple 50%">
      <a:srgbClr val="C792C6"/>
    </a:custClr>
    <a:custClr name="Tan 50%">
      <a:srgbClr val="D3CFB8"/>
    </a:custClr>
    <a:custClr name="Bright Green 50%">
      <a:srgbClr val="BDDC80"/>
    </a:custClr>
    <a:custClr name="Deep Blue 50%">
      <a:srgbClr val="8099C6"/>
    </a:custClr>
    <a:custClr name="Orange 50%">
      <a:srgbClr val="E3A780"/>
    </a:custClr>
    <a:custClr name="Bright Yellow 50%">
      <a:srgbClr val="F5DB7E"/>
    </a:custClr>
    <a:custClr name="Powder Blue 50%">
      <a:srgbClr val="CCE3F4"/>
    </a:custClr>
    <a:custClr name="Gray 50%">
      <a:srgbClr val="BABBBC"/>
    </a:custClr>
    <a:custClr name="Red 50%">
      <a:srgbClr val="CF989C"/>
    </a:custClr>
    <a:custClr name="Turquoise 25%">
      <a:srgbClr val="BFDEE4"/>
    </a:custClr>
    <a:custClr name="Deep Purple 25%">
      <a:srgbClr val="E3C9E3"/>
    </a:custClr>
    <a:custClr name="Tan 25%">
      <a:srgbClr val="E9E7DB"/>
    </a:custClr>
    <a:custClr name="Bright Green 25%">
      <a:srgbClr val="DEEDBF"/>
    </a:custClr>
    <a:custClr name="Deep Blue 25%">
      <a:srgbClr val="BFCCE3"/>
    </a:custClr>
    <a:custClr name="Orange 25%">
      <a:srgbClr val="F1D3BF"/>
    </a:custClr>
    <a:custClr name="Bright Yellow 25%">
      <a:srgbClr val="FAEDBF"/>
    </a:custClr>
    <a:custClr name="Powder Blue 25%">
      <a:srgbClr val="E5F1FA"/>
    </a:custClr>
    <a:custClr name="Gray 25%">
      <a:srgbClr val="DCDDDD"/>
    </a:custClr>
    <a:custClr name="Red 25%">
      <a:srgbClr val="E7CBCE"/>
    </a:custClr>
    <a:custClr name="Turquoise 10%">
      <a:srgbClr val="E5F2F4"/>
    </a:custClr>
    <a:custClr name="Deep Purple 10%">
      <a:srgbClr val="F3E9F3"/>
    </a:custClr>
    <a:custClr name="Tan 10%">
      <a:srgbClr val="F6F5F0"/>
    </a:custClr>
    <a:custClr name="Bright Green 10%">
      <a:srgbClr val="F1F8E5"/>
    </a:custClr>
    <a:custClr name="Deep Blue 10%">
      <a:srgbClr val="E5EAF3"/>
    </a:custClr>
    <a:custClr name="Orange 10%">
      <a:srgbClr val="F9EDE5"/>
    </a:custClr>
    <a:custClr name="Bright Yellow 10%">
      <a:srgbClr val="FDF8E5"/>
    </a:custClr>
    <a:custClr name="Powder Blue 10%">
      <a:srgbClr val="F4F9FD"/>
    </a:custClr>
    <a:custClr name="Gray 10%">
      <a:srgbClr val="F1F1F1"/>
    </a:custClr>
    <a:custClr name="Red 10%">
      <a:srgbClr val="F5EAEB"/>
    </a:custClr>
  </a:custClr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50ACECE49572E49B9E2B6EEF15646F3" ma:contentTypeVersion="10" ma:contentTypeDescription="Create a new document." ma:contentTypeScope="" ma:versionID="8fdd78ded99f2352216c5d618f5b216c">
  <xsd:schema xmlns:xsd="http://www.w3.org/2001/XMLSchema" xmlns:xs="http://www.w3.org/2001/XMLSchema" xmlns:p="http://schemas.microsoft.com/office/2006/metadata/properties" xmlns:ns2="30996f19-b754-4f90-98d6-c022be1420b3" xmlns:ns3="ce774d3a-0da9-40f3-b86d-c9c3902288d7" targetNamespace="http://schemas.microsoft.com/office/2006/metadata/properties" ma:root="true" ma:fieldsID="412b5359f0c396b6faa7a13f838c7055" ns2:_="" ns3:_="">
    <xsd:import namespace="30996f19-b754-4f90-98d6-c022be1420b3"/>
    <xsd:import namespace="ce774d3a-0da9-40f3-b86d-c9c3902288d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996f19-b754-4f90-98d6-c022be1420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8883d318-f35c-4577-94aa-4c8e836d27a7"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ce774d3a-0da9-40f3-b86d-c9c3902288d7"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7e5af1eb-79bf-4b24-8cd0-115ead010127}" ma:internalName="TaxCatchAll" ma:showField="CatchAllData" ma:web="ce774d3a-0da9-40f3-b86d-c9c3902288d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0996f19-b754-4f90-98d6-c022be1420b3">
      <Terms xmlns="http://schemas.microsoft.com/office/infopath/2007/PartnerControls"/>
    </lcf76f155ced4ddcb4097134ff3c332f>
    <TaxCatchAll xmlns="ce774d3a-0da9-40f3-b86d-c9c3902288d7" xsi:nil="true"/>
  </documentManagement>
</p:properties>
</file>

<file path=customXml/itemProps1.xml><?xml version="1.0" encoding="utf-8"?>
<ds:datastoreItem xmlns:ds="http://schemas.openxmlformats.org/officeDocument/2006/customXml" ds:itemID="{F17A97F2-1288-4D89-8B7D-8084C8D1EE0C}"/>
</file>

<file path=customXml/itemProps2.xml><?xml version="1.0" encoding="utf-8"?>
<ds:datastoreItem xmlns:ds="http://schemas.openxmlformats.org/officeDocument/2006/customXml" ds:itemID="{CA9B4805-3D13-4745-97B7-07A86F177AC6}"/>
</file>

<file path=customXml/itemProps3.xml><?xml version="1.0" encoding="utf-8"?>
<ds:datastoreItem xmlns:ds="http://schemas.openxmlformats.org/officeDocument/2006/customXml" ds:itemID="{B82CE3CA-7384-4521-B701-B0C36B670CEC}"/>
</file>

<file path=docProps/app.xml><?xml version="1.0" encoding="utf-8"?>
<Properties xmlns="http://schemas.openxmlformats.org/officeDocument/2006/extended-properties" xmlns:vt="http://schemas.openxmlformats.org/officeDocument/2006/docPropsVTypes">
  <Template/>
  <TotalTime>6426</TotalTime>
  <Words>21964</Words>
  <Application>Microsoft Office PowerPoint</Application>
  <PresentationFormat>Letter Paper (8.5x11 in)</PresentationFormat>
  <Paragraphs>1292</Paragraphs>
  <Slides>88</Slides>
  <Notes>68</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88</vt:i4>
      </vt:variant>
    </vt:vector>
  </HeadingPairs>
  <TitlesOfParts>
    <vt:vector size="94" baseType="lpstr">
      <vt:lpstr>Arial</vt:lpstr>
      <vt:lpstr>Calibri</vt:lpstr>
      <vt:lpstr>Times New Roman</vt:lpstr>
      <vt:lpstr>Wingdings</vt:lpstr>
      <vt:lpstr>KPMG Report Standard Template</vt:lpstr>
      <vt:lpstr>Document</vt:lpstr>
      <vt:lpstr>Project Garrison Due diligence assistance   Draft for discussion </vt:lpstr>
      <vt:lpstr>Disclaimer</vt:lpstr>
      <vt:lpstr>PowerPoint Presentation</vt:lpstr>
      <vt:lpstr>Glossary of terms</vt:lpstr>
      <vt:lpstr>Contents</vt:lpstr>
      <vt:lpstr>Executive summary</vt:lpstr>
      <vt:lpstr>Executive summary Business and transaction overview</vt:lpstr>
      <vt:lpstr>Executive summary Business and transaction overview (2)</vt:lpstr>
      <vt:lpstr>Executive summary Business and transaction overview (3)</vt:lpstr>
      <vt:lpstr>Executive summary Earnings bridge – 2013 to 2014</vt:lpstr>
      <vt:lpstr>Executive summary Headlines</vt:lpstr>
      <vt:lpstr>Executive summary Key findings: financial</vt:lpstr>
      <vt:lpstr>Executive summary Key findings: financial (2)</vt:lpstr>
      <vt:lpstr>Executive summary Key findings: financial (3)</vt:lpstr>
      <vt:lpstr>Executive summary Key findings: financial (4)</vt:lpstr>
      <vt:lpstr>Executive summary Key findings: financial (5)</vt:lpstr>
      <vt:lpstr>Executive summary Key findings: financial (6)</vt:lpstr>
      <vt:lpstr>Executive summary Key findings: financial (7)</vt:lpstr>
      <vt:lpstr>Executive summary Key findings: financial (8)</vt:lpstr>
      <vt:lpstr>Executive summary Key findings: financial (9)</vt:lpstr>
      <vt:lpstr>Executive summary Key findings: financial (10)</vt:lpstr>
      <vt:lpstr>Executive summary Key findings: financial (11)</vt:lpstr>
      <vt:lpstr>Executive summary Key findings: financial (12)</vt:lpstr>
      <vt:lpstr>Executive summary Key findings: financial (13)</vt:lpstr>
      <vt:lpstr>Executive summary Key findings: financial (14)</vt:lpstr>
      <vt:lpstr>Executive summary Key findings: financial (15)</vt:lpstr>
      <vt:lpstr>Executive summary Key findings: financial (16)</vt:lpstr>
      <vt:lpstr>Executive summary Key findings: financial (17)</vt:lpstr>
      <vt:lpstr>Executive summary Key findings: financial (18)</vt:lpstr>
      <vt:lpstr>Executive summary Key findings: financial (19)</vt:lpstr>
      <vt:lpstr>Executive summary Key findings: financial (20)</vt:lpstr>
      <vt:lpstr>Executive summary Key findings: financial (21)</vt:lpstr>
      <vt:lpstr>Executive summary Key findings: financial (22)</vt:lpstr>
      <vt:lpstr>Executive summary Key findings: financial (23)</vt:lpstr>
      <vt:lpstr>Executive summary Key findings: financial (24)</vt:lpstr>
      <vt:lpstr>Executive summary Quality of earnings and cash flow</vt:lpstr>
      <vt:lpstr>Executive summary Quality of earnings and cash flow (2)</vt:lpstr>
      <vt:lpstr>Executive summary Quality of earnings and cash flow (3)</vt:lpstr>
      <vt:lpstr>Executive summary Key findings: tax</vt:lpstr>
      <vt:lpstr>Executive summary Key findings: tax (2)</vt:lpstr>
      <vt:lpstr>Executive summary Key findings: tax (3)</vt:lpstr>
      <vt:lpstr>Executive summary Key findings: tax (4)</vt:lpstr>
      <vt:lpstr>Appendices</vt:lpstr>
      <vt:lpstr>Appendix 1 Scope of work</vt:lpstr>
      <vt:lpstr>Appendix 1 Scope of work (2)</vt:lpstr>
      <vt:lpstr>Appendix 1 Scope of work (3)</vt:lpstr>
      <vt:lpstr>Appendix 1 Scope of work (4)</vt:lpstr>
      <vt:lpstr>Appendix 2 Financial information</vt:lpstr>
      <vt:lpstr>Appendix 2 Financial information (2)</vt:lpstr>
      <vt:lpstr>Appendix 2 Financial information (3)</vt:lpstr>
      <vt:lpstr>Appendix 3 People matters</vt:lpstr>
      <vt:lpstr>Appendix 3 People matters (2)</vt:lpstr>
      <vt:lpstr>Appendix 4 Employee retention arrangements</vt:lpstr>
      <vt:lpstr>Appendix 5 SG&amp;A costs and carve-out / shared services</vt:lpstr>
      <vt:lpstr>Appendix 6 Originations</vt:lpstr>
      <vt:lpstr>Appendix 6 Originations (2)</vt:lpstr>
      <vt:lpstr>Appendix 6 Originations (3)</vt:lpstr>
      <vt:lpstr>Appendix 6 Originations (4)</vt:lpstr>
      <vt:lpstr>Appendix 6 Originations (5)</vt:lpstr>
      <vt:lpstr>Appendix 6 Originations (6)</vt:lpstr>
      <vt:lpstr>Appendix 7 Fee income</vt:lpstr>
      <vt:lpstr>Appendix 7 Fee income (2)</vt:lpstr>
      <vt:lpstr>Appendix 8 Quarterly balance sheet</vt:lpstr>
      <vt:lpstr>Appendix 9 Debt portfolio - Antares</vt:lpstr>
      <vt:lpstr>Appendix 9 Debt portfolio - SSLP (2)</vt:lpstr>
      <vt:lpstr>Appendix 9 Debt portfolio - MMGP (3)</vt:lpstr>
      <vt:lpstr>Appendix 9 Debt portfolio – reconciliation (4)</vt:lpstr>
      <vt:lpstr>Appendix 10 Equity co-investments</vt:lpstr>
      <vt:lpstr>Appendix 10 Equity co-investments (2)</vt:lpstr>
      <vt:lpstr>Appendix 11 Portfolio yield</vt:lpstr>
      <vt:lpstr>Appendix 11 Portfolio yield (2)</vt:lpstr>
      <vt:lpstr>Appendix 11 Portfolio yield (3)</vt:lpstr>
      <vt:lpstr>Appendix 11 Portfolio yield (4)</vt:lpstr>
      <vt:lpstr>Appendix 12 Illustrative loan economics</vt:lpstr>
      <vt:lpstr>Appendix 13 Unfunded and funded commitments</vt:lpstr>
      <vt:lpstr>Appendix 14 Asset quality</vt:lpstr>
      <vt:lpstr>Appendix 15 Budgets and projections</vt:lpstr>
      <vt:lpstr>Appendix 15 Budgets and projections (2)</vt:lpstr>
      <vt:lpstr>Appendix 16 Bank Loan Group</vt:lpstr>
      <vt:lpstr>Appendix 17 ENI bridges</vt:lpstr>
      <vt:lpstr>Appendix 18 Supporting analysis of tax key findings</vt:lpstr>
      <vt:lpstr>Appendix 18 Supporting analysis of tax key findings (2)</vt:lpstr>
      <vt:lpstr>Appendix 18 Supporting analysis of tax key findings (3)</vt:lpstr>
      <vt:lpstr>Appendix 18 Supporting analysis of tax key findings (4)</vt:lpstr>
      <vt:lpstr>Appendix 18 Supporting analysis of tax key findings (5)</vt:lpstr>
      <vt:lpstr>Appendix 18 Supporting analysis of tax key findings (6)</vt:lpstr>
      <vt:lpstr>Appendix 18 Supporting analysis of tax key findings (7)</vt:lpstr>
      <vt:lpstr>PowerPoint Presentation</vt:lpstr>
    </vt:vector>
  </TitlesOfParts>
  <Company>KPMG</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georgespigeon</dc:creator>
  <cp:lastModifiedBy>Lorange, Patrick</cp:lastModifiedBy>
  <cp:revision>683</cp:revision>
  <cp:lastPrinted>2015-06-02T19:39:57Z</cp:lastPrinted>
  <dcterms:created xsi:type="dcterms:W3CDTF">2013-11-15T16:22:37Z</dcterms:created>
  <dcterms:modified xsi:type="dcterms:W3CDTF">2020-03-04T22:23:53Z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PMG_LayoutGrid">
    <vt:lpwstr>0</vt:lpwstr>
  </property>
  <property fmtid="{D5CDD505-2E9C-101B-9397-08002B2CF9AE}" pid="3" name="ContentTypeId">
    <vt:lpwstr>0x010100B50ACECE49572E49B9E2B6EEF15646F3</vt:lpwstr>
  </property>
</Properties>
</file>