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3.xml" ContentType="application/vnd.openxmlformats-officedocument.them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ags/tag74.xml" ContentType="application/vnd.openxmlformats-officedocument.presentationml.tags+xml"/>
  <Override PartName="/ppt/notesSlides/notesSlide1.xml" ContentType="application/vnd.openxmlformats-officedocument.presentationml.notesSlide+xml"/>
  <Override PartName="/ppt/comments/modernComment_30F_AA3F095C.xml" ContentType="application/vnd.ms-powerpoint.comments+xml"/>
  <Override PartName="/ppt/comments/modernComment_385_ACE15FF2.xml" ContentType="application/vnd.ms-powerpoint.comment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comments/modernComment_313_7E774330.xml" ContentType="application/vnd.ms-powerpoint.comment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comments/modernComment_7FFFCA65_755BD434.xml" ContentType="application/vnd.ms-powerpoint.comment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comments/modernComment_7FFFCA75_8DB0B776.xml" ContentType="application/vnd.ms-powerpoint.comment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comments/modernComment_7FFFCA84_2DCEEFCE.xml" ContentType="application/vnd.ms-powerpoint.comment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comments/modernComment_7FFFCA85_59958027.xml" ContentType="application/vnd.ms-powerpoint.comment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comments/modernComment_7FFFCA86_5667988F.xml" ContentType="application/vnd.ms-powerpoint.comment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comments/modernComment_7FFFCA87_83CF85EB.xml" ContentType="application/vnd.ms-powerpoint.comment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comments/modernComment_2D4_8D0F1A44.xml" ContentType="application/vnd.ms-powerpoint.comment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comments/modernComment_7FFFCA89_8443EEA1.xml" ContentType="application/vnd.ms-powerpoint.comment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comments/modernComment_7FFFCA83_4E41818B.xml" ContentType="application/vnd.ms-powerpoint.comment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comments/modernComment_2D8_1A686F4A.xml" ContentType="application/vnd.ms-powerpoint.comment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comments/modernComment_7FFFCA7E_CBE29FF5.xml" ContentType="application/vnd.ms-powerpoint.comment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comments/modernComment_7FFFCA8A_F7EA50F0.xml" ContentType="application/vnd.ms-powerpoint.comment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comments/modernComment_7FFFCA8B_CACB43A2.xml" ContentType="application/vnd.ms-powerpoint.comment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comments/modernComment_7FFFCA93_B75446.xml" ContentType="application/vnd.ms-powerpoint.comment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comments/modernComment_7FFFCA8C_2B71E51C.xml" ContentType="application/vnd.ms-powerpoint.comment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comments/modernComment_7FFFCA95_EDF9B490.xml" ContentType="application/vnd.ms-powerpoint.comment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comments/modernComment_2ED_9EA32429.xml" ContentType="application/vnd.ms-powerpoint.comment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comments/modernComment_7FFFCA9E_5B4DFB97.xml" ContentType="application/vnd.ms-powerpoint.comment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comments/modernComment_7FFFCA9F_D7325F40.xml" ContentType="application/vnd.ms-powerpoint.comment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comments/modernComment_2DF_6598BAD2.xml" ContentType="application/vnd.ms-powerpoint.comment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comments/modernComment_7FFFCA96_9AA6F680.xml" ContentType="application/vnd.ms-powerpoint.comment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comments/modernComment_7FFFCA97_4CB39A88.xml" ContentType="application/vnd.ms-powerpoint.comment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comments/modernComment_2D7_D03AC965.xml" ContentType="application/vnd.ms-powerpoint.comment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comments/modernComment_7FFFCA98_217F33B4.xml" ContentType="application/vnd.ms-powerpoint.comment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comments/modernComment_7FFFCA9A_D17E8649.xml" ContentType="application/vnd.ms-powerpoint.comment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comments/modernComment_7FFFCA9B_81CFFE9C.xml" ContentType="application/vnd.ms-powerpoint.comment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comments/modernComment_2D6_A7287103.xml" ContentType="application/vnd.ms-powerpoint.comment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comments/modernComment_7FFFCA9C_7E796DE5.xml" ContentType="application/vnd.ms-powerpoint.comment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comments/modernComment_7FFFCA91_C66098B8.xml" ContentType="application/vnd.ms-powerpoint.comment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comments/modernComment_38D_4C8572F.xml" ContentType="application/vnd.ms-powerpoint.comment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comments/modernComment_7FFFCA6C_5146759F.xml" ContentType="application/vnd.ms-powerpoint.comment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comments/modernComment_7FFFCA79_DE505DDA.xml" ContentType="application/vnd.ms-powerpoint.comment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comments/modernComment_7FFFCA7A_79C1B1AE.xml" ContentType="application/vnd.ms-powerpoint.comment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comments/modernComment_7FFFCA7B_50648817.xml" ContentType="application/vnd.ms-powerpoint.comment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comments/modernComment_7FFFCA7C_584007D8.xml" ContentType="application/vnd.ms-powerpoint.comment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comments/modernComment_7FFFCA5F_4E6A2009.xml" ContentType="application/vnd.ms-powerpoint.comment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comments/modernComment_7FFFCAA1_5E5D6F78.xml" ContentType="application/vnd.ms-powerpoint.comment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comments/modernComment_28B_6598BD62.xml" ContentType="application/vnd.ms-powerpoint.comment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60" r:id="rId4"/>
    <p:sldMasterId id="2147483803" r:id="rId5"/>
    <p:sldMasterId id="2147483869" r:id="rId6"/>
  </p:sldMasterIdLst>
  <p:notesMasterIdLst>
    <p:notesMasterId r:id="rId66"/>
  </p:notesMasterIdLst>
  <p:handoutMasterIdLst>
    <p:handoutMasterId r:id="rId67"/>
  </p:handoutMasterIdLst>
  <p:sldIdLst>
    <p:sldId id="783" r:id="rId7"/>
    <p:sldId id="901" r:id="rId8"/>
    <p:sldId id="790" r:id="rId9"/>
    <p:sldId id="789" r:id="rId10"/>
    <p:sldId id="787" r:id="rId11"/>
    <p:sldId id="2147469925" r:id="rId12"/>
    <p:sldId id="2147469941" r:id="rId13"/>
    <p:sldId id="2147469956" r:id="rId14"/>
    <p:sldId id="2147469957" r:id="rId15"/>
    <p:sldId id="2147469958" r:id="rId16"/>
    <p:sldId id="2147469959" r:id="rId17"/>
    <p:sldId id="2147469934" r:id="rId18"/>
    <p:sldId id="724" r:id="rId19"/>
    <p:sldId id="2147469961" r:id="rId20"/>
    <p:sldId id="2147469955" r:id="rId21"/>
    <p:sldId id="2147469949" r:id="rId22"/>
    <p:sldId id="805" r:id="rId23"/>
    <p:sldId id="728" r:id="rId24"/>
    <p:sldId id="2147469950" r:id="rId25"/>
    <p:sldId id="2147469962" r:id="rId26"/>
    <p:sldId id="2147469963" r:id="rId27"/>
    <p:sldId id="2147469971" r:id="rId28"/>
    <p:sldId id="2147469972" r:id="rId29"/>
    <p:sldId id="2147469964" r:id="rId30"/>
    <p:sldId id="2147469973" r:id="rId31"/>
    <p:sldId id="749" r:id="rId32"/>
    <p:sldId id="2147469982" r:id="rId33"/>
    <p:sldId id="2147469983" r:id="rId34"/>
    <p:sldId id="806" r:id="rId35"/>
    <p:sldId id="735" r:id="rId36"/>
    <p:sldId id="2147469974" r:id="rId37"/>
    <p:sldId id="2147469975" r:id="rId38"/>
    <p:sldId id="727" r:id="rId39"/>
    <p:sldId id="2147469976" r:id="rId40"/>
    <p:sldId id="2147469977" r:id="rId41"/>
    <p:sldId id="2147469978" r:id="rId42"/>
    <p:sldId id="2147469979" r:id="rId43"/>
    <p:sldId id="726" r:id="rId44"/>
    <p:sldId id="2147469980" r:id="rId45"/>
    <p:sldId id="2147469969" r:id="rId46"/>
    <p:sldId id="2147469981" r:id="rId47"/>
    <p:sldId id="808" r:id="rId48"/>
    <p:sldId id="909" r:id="rId49"/>
    <p:sldId id="2147469932" r:id="rId50"/>
    <p:sldId id="2147469945" r:id="rId51"/>
    <p:sldId id="2147469946" r:id="rId52"/>
    <p:sldId id="2147469947" r:id="rId53"/>
    <p:sldId id="2147469948" r:id="rId54"/>
    <p:sldId id="2147469908" r:id="rId55"/>
    <p:sldId id="2147469919" r:id="rId56"/>
    <p:sldId id="2147469984" r:id="rId57"/>
    <p:sldId id="2147469985" r:id="rId58"/>
    <p:sldId id="2147469965" r:id="rId59"/>
    <p:sldId id="651" r:id="rId60"/>
    <p:sldId id="652" r:id="rId61"/>
    <p:sldId id="2147469966" r:id="rId62"/>
    <p:sldId id="2147469967" r:id="rId63"/>
    <p:sldId id="2147469968" r:id="rId64"/>
    <p:sldId id="695" r:id="rId65"/>
  </p:sldIdLst>
  <p:sldSz cx="12192000" cy="6858000"/>
  <p:notesSz cx="6858000" cy="9144000"/>
  <p:custDataLst>
    <p:tags r:id="rId6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A18B807-ABC5-95B2-8636-67E74D52B8AF}" name="Gillard, James" initials="JG" userId="S::jamesgillard@kpmg.ca::da7de9b0-457a-425c-ad27-31bef8662abe" providerId="AD"/>
  <p188:author id="{1D8B8B49-D877-7225-B232-CFDC8C0ACB6F}" name="Bartlett, Deidre" initials="DB" userId="S::deidrebartlett@kpmg.ca::175d7db0-3f17-4050-9468-884991f36355" providerId="AD"/>
  <p188:author id="{5ADEADAD-FF68-A420-89FA-C7961B12B531}" name="Wilshaw, Ian D" initials="IW" userId="S::idwilshaw@kpmg.ca::482ecab7-2ebf-4306-b271-5aedf774a713" providerId="AD"/>
  <p188:author id="{FAED20E5-0035-FA86-DAD3-EFEDF232C9AA}" name="Gladiuk, Andrew J" initials="AG" userId="S::andrewgladiuk@kpmg.ca::58f0a797-1bf5-4479-91c7-a5451a53dfc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White, Catherine" initials="WC" lastIdx="18" clrIdx="0">
    <p:extLst>
      <p:ext uri="{19B8F6BF-5375-455C-9EA6-DF929625EA0E}">
        <p15:presenceInfo xmlns:p15="http://schemas.microsoft.com/office/powerpoint/2012/main" userId="S::cjwhite@kpmg.ca::0dea3d63-dcad-4748-a310-11ef28cac8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varScale="1">
        <p:scale>
          <a:sx n="107" d="100"/>
          <a:sy n="107" d="100"/>
        </p:scale>
        <p:origin x="1280" y="47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notesMaster" Target="notesMasters/notesMaster1.xml"/><Relationship Id="rId74" Type="http://schemas.microsoft.com/office/2018/10/relationships/authors" Target="authors.xml"/><Relationship Id="rId5" Type="http://schemas.openxmlformats.org/officeDocument/2006/relationships/slideMaster" Target="slideMasters/slideMaster2.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commentAuthors" Target="commentAuthors.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handoutMaster" Target="handoutMasters/handoutMaster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 Type="http://schemas.openxmlformats.org/officeDocument/2006/relationships/slide" Target="slides/slide1.xml"/><Relationship Id="rId71" Type="http://schemas.openxmlformats.org/officeDocument/2006/relationships/viewProps" Target="viewProps.xml"/></Relationships>
</file>

<file path=ppt/comments/modernComment_2D4_8D0F1A44.xml><?xml version="1.0" encoding="utf-8"?>
<p188:cmLst xmlns:a="http://schemas.openxmlformats.org/drawingml/2006/main" xmlns:r="http://schemas.openxmlformats.org/officeDocument/2006/relationships" xmlns:p188="http://schemas.microsoft.com/office/powerpoint/2018/8/main">
  <p188:cm id="{1F76C8D5-BFB0-4578-9934-56FBCB121D9F}" authorId="{FA18B807-ABC5-95B2-8636-67E74D52B8AF}" status="resolved" created="2025-06-13T21:30:19.157" complete="100000">
    <ac:txMkLst xmlns:ac="http://schemas.microsoft.com/office/drawing/2013/main/command">
      <pc:docMk xmlns:pc="http://schemas.microsoft.com/office/powerpoint/2013/main/command"/>
      <pc:sldMk xmlns:pc="http://schemas.microsoft.com/office/powerpoint/2013/main/command" cId="2366577220" sldId="724"/>
      <ac:spMk id="30" creationId="{ED9B43DD-09B1-37AB-55A7-5E3BA9E45DF0}"/>
      <ac:txMk cp="448" len="6">
        <ac:context len="550" hash="1621559715"/>
      </ac:txMk>
    </ac:txMkLst>
    <p188:pos x="7005639" y="573087"/>
    <p188:replyLst>
      <p188:reply id="{BE2B82DF-BDB0-4C80-A3FD-8171E63337EB}" authorId="{FAED20E5-0035-FA86-DAD3-EFEDF232C9AA}" created="2025-06-13T22:07:34.532">
        <p188:txBody>
          <a:bodyPr/>
          <a:lstStyle/>
          <a:p>
            <a:r>
              <a:rPr lang="en-US"/>
              <a:t>To discuss</a:t>
            </a:r>
          </a:p>
        </p188:txBody>
      </p188:reply>
    </p188:replyLst>
    <p188:txBody>
      <a:bodyPr/>
      <a:lstStyle/>
      <a:p>
        <a:r>
          <a:rPr lang="en-US"/>
          <a:t>365 days? 12 billing periods?</a:t>
        </a:r>
      </a:p>
    </p188:txBody>
  </p188:cm>
  <p188:cm id="{CE389712-9948-4E9C-A536-C941414573BF}" authorId="{FA18B807-ABC5-95B2-8636-67E74D52B8AF}" status="resolved" created="2025-06-13T21:31:08.053" complete="100000">
    <ac:txMkLst xmlns:ac="http://schemas.microsoft.com/office/drawing/2013/main/command">
      <pc:docMk xmlns:pc="http://schemas.microsoft.com/office/powerpoint/2013/main/command"/>
      <pc:sldMk xmlns:pc="http://schemas.microsoft.com/office/powerpoint/2013/main/command" cId="2366577220" sldId="724"/>
      <ac:spMk id="18" creationId="{880024D9-28EA-B6AC-0187-AC291C9EDBF4}"/>
      <ac:txMk cp="336">
        <ac:context len="1752" hash="223847498"/>
      </ac:txMk>
    </ac:txMkLst>
    <p188:pos x="5452294" y="787241"/>
    <p188:replyLst>
      <p188:reply id="{5EFBF41F-F4C5-4848-8FF1-CE49CCACF406}" authorId="{FAED20E5-0035-FA86-DAD3-EFEDF232C9AA}" created="2025-06-13T22:10:44.122">
        <p188:txBody>
          <a:bodyPr/>
          <a:lstStyle/>
          <a:p>
            <a:r>
              <a:rPr lang="en-US"/>
              <a:t>added</a:t>
            </a:r>
          </a:p>
        </p188:txBody>
      </p188:reply>
    </p188:replyLst>
    <p188:txBody>
      <a:bodyPr/>
      <a:lstStyle/>
      <a:p>
        <a:r>
          <a:rPr lang="en-US"/>
          <a:t>Make this clearer - I infer we are talking about Clio here but how is Vortex done?</a:t>
        </a:r>
      </a:p>
    </p188:txBody>
  </p188:cm>
</p188:cmLst>
</file>

<file path=ppt/comments/modernComment_2D6_A7287103.xml><?xml version="1.0" encoding="utf-8"?>
<p188:cmLst xmlns:a="http://schemas.openxmlformats.org/drawingml/2006/main" xmlns:r="http://schemas.openxmlformats.org/officeDocument/2006/relationships" xmlns:p188="http://schemas.microsoft.com/office/powerpoint/2018/8/main">
  <p188:cm id="{96C1795A-9169-4B01-BE9A-B0AD8A53B06A}" authorId="{FA18B807-ABC5-95B2-8636-67E74D52B8AF}" status="resolved" created="2025-06-14T00:05:38.430" complete="100000">
    <ac:deMkLst xmlns:ac="http://schemas.microsoft.com/office/drawing/2013/main/command">
      <pc:docMk xmlns:pc="http://schemas.microsoft.com/office/powerpoint/2013/main/command"/>
      <pc:sldMk xmlns:pc="http://schemas.microsoft.com/office/powerpoint/2013/main/command" cId="2804445443" sldId="726"/>
      <ac:picMk id="24" creationId="{2AC76113-C9E2-D40D-C10D-4E62E49EEA34}"/>
    </ac:deMkLst>
    <p188:replyLst>
      <p188:reply id="{100F80CC-6A17-4832-9EEF-2F17638847BB}" authorId="{1D8B8B49-D877-7225-B232-CFDC8C0ACB6F}" created="2025-06-14T01:39:58.374">
        <p188:txBody>
          <a:bodyPr/>
          <a:lstStyle/>
          <a:p>
            <a:r>
              <a:rPr lang="en-US"/>
              <a:t>Changed to numbers</a:t>
            </a:r>
          </a:p>
        </p188:txBody>
      </p188:reply>
    </p188:replyLst>
    <p188:txBody>
      <a:bodyPr/>
      <a:lstStyle/>
      <a:p>
        <a:r>
          <a:rPr lang="en-US"/>
          <a:t>Better to number these than have bullets</a:t>
        </a:r>
      </a:p>
    </p188:txBody>
  </p188:cm>
  <p188:cm id="{233DAA71-F80D-4B59-BAEC-DAC7B732EBC2}" authorId="{FA18B807-ABC5-95B2-8636-67E74D52B8AF}" status="resolved" created="2025-06-14T00:06:46.092" complete="100000">
    <ac:txMkLst xmlns:ac="http://schemas.microsoft.com/office/drawing/2013/main/command">
      <pc:docMk xmlns:pc="http://schemas.microsoft.com/office/powerpoint/2013/main/command"/>
      <pc:sldMk xmlns:pc="http://schemas.microsoft.com/office/powerpoint/2013/main/command" cId="2804445443" sldId="726"/>
      <ac:spMk id="7" creationId="{863116BA-8BAE-48BD-8189-4BDC91B115C9}"/>
      <ac:txMk cp="1458">
        <ac:context len="2132" hash="574656318"/>
      </ac:txMk>
    </ac:txMkLst>
    <p188:pos x="6300318" y="2949416"/>
    <p188:replyLst>
      <p188:reply id="{7013C807-DD85-4E2F-94CB-90CF74A493F1}" authorId="{1D8B8B49-D877-7225-B232-CFDC8C0ACB6F}" created="2025-06-14T01:39:53.574">
        <p188:txBody>
          <a:bodyPr/>
          <a:lstStyle/>
          <a:p>
            <a:r>
              <a:rPr lang="en-US"/>
              <a:t>Added in NWC tables</a:t>
            </a:r>
          </a:p>
        </p188:txBody>
      </p188:reply>
    </p188:replyLst>
    <p188:txBody>
      <a:bodyPr/>
      <a:lstStyle/>
      <a:p>
        <a:r>
          <a:rPr lang="en-US"/>
          <a:t>Easier to see what we mean if Dec-24 position is shown in NWC</a:t>
        </a:r>
      </a:p>
    </p188:txBody>
  </p188:cm>
  <p188:cm id="{45AA72F6-B9E2-42D1-964E-EF9EDE59F128}" authorId="{FA18B807-ABC5-95B2-8636-67E74D52B8AF}" status="resolved" created="2025-06-14T00:08:06.038" complete="100000">
    <ac:txMkLst xmlns:ac="http://schemas.microsoft.com/office/drawing/2013/main/command">
      <pc:docMk xmlns:pc="http://schemas.microsoft.com/office/powerpoint/2013/main/command"/>
      <pc:sldMk xmlns:pc="http://schemas.microsoft.com/office/powerpoint/2013/main/command" cId="2804445443" sldId="726"/>
      <ac:spMk id="7" creationId="{863116BA-8BAE-48BD-8189-4BDC91B115C9}"/>
      <ac:txMk cp="1833">
        <ac:context len="2132" hash="574656318"/>
      </ac:txMk>
    </ac:txMkLst>
    <p188:pos x="2461743" y="3739991"/>
    <p188:replyLst>
      <p188:reply id="{EB410123-CF4D-42B8-80DC-2C3C2D54126B}" authorId="{FAED20E5-0035-FA86-DAD3-EFEDF232C9AA}" created="2025-06-14T01:51:29.077">
        <p188:txBody>
          <a:bodyPr/>
          <a:lstStyle/>
          <a:p>
            <a:r>
              <a:rPr lang="en-US"/>
              <a:t>clarified</a:t>
            </a:r>
          </a:p>
        </p188:txBody>
      </p188:reply>
    </p188:replyLst>
    <p188:txBody>
      <a:bodyPr/>
      <a:lstStyle/>
      <a:p>
        <a:r>
          <a:rPr lang="en-US"/>
          <a:t>We are removing an asset (rather than including debt) - can we make this a bit clearer? We are not giving them credit for assets.</a:t>
        </a:r>
      </a:p>
    </p188:txBody>
  </p188:cm>
</p188:cmLst>
</file>

<file path=ppt/comments/modernComment_2D7_D03AC965.xml><?xml version="1.0" encoding="utf-8"?>
<p188:cmLst xmlns:a="http://schemas.openxmlformats.org/drawingml/2006/main" xmlns:r="http://schemas.openxmlformats.org/officeDocument/2006/relationships" xmlns:p188="http://schemas.microsoft.com/office/powerpoint/2018/8/main">
  <p188:cm id="{B099293D-FB5A-43C2-AA4A-3251C2E3616F}" authorId="{FA18B807-ABC5-95B2-8636-67E74D52B8AF}" status="resolved" created="2025-06-13T23:35:04.216" complete="100000">
    <pc:sldMkLst xmlns:pc="http://schemas.microsoft.com/office/powerpoint/2013/main/command">
      <pc:docMk/>
      <pc:sldMk cId="3493513573" sldId="727"/>
    </pc:sldMkLst>
    <p188:replyLst>
      <p188:reply id="{CCF1B45A-4123-4D58-A4F5-8F3EB19D3111}" authorId="{FA18B807-ABC5-95B2-8636-67E74D52B8AF}" created="2025-06-13T23:39:39.662">
        <p188:txBody>
          <a:bodyPr/>
          <a:lstStyle/>
          <a:p>
            <a:r>
              <a:rPr lang="en-US"/>
              <a:t>Otherwise we don't have great visibility on the adjs to NWC of $21,330</a:t>
            </a:r>
          </a:p>
        </p188:txBody>
      </p188:reply>
      <p188:reply id="{C7F4A0F7-EE0A-4C0F-BC91-7A7B11373BE5}" authorId="{1D8B8B49-D877-7225-B232-CFDC8C0ACB6F}" created="2025-06-14T01:23:01.559">
        <p188:txBody>
          <a:bodyPr/>
          <a:lstStyle/>
          <a:p>
            <a:r>
              <a:rPr lang="en-US"/>
              <a:t>added</a:t>
            </a:r>
          </a:p>
        </p188:txBody>
      </p188:reply>
    </p188:replyLst>
    <p188:txBody>
      <a:bodyPr/>
      <a:lstStyle/>
      <a:p>
        <a:r>
          <a:rPr lang="en-US"/>
          <a:t>Is it possible to show Dec-24 in here too, coming down to the locked box amount of $21,330?</a:t>
        </a:r>
      </a:p>
    </p188:txBody>
  </p188:cm>
  <p188:cm id="{B2EAFD2A-2301-444C-92DF-B37981797892}" authorId="{FA18B807-ABC5-95B2-8636-67E74D52B8AF}" status="resolved" created="2025-06-13T23:41:20.831" complete="100000">
    <ac:deMkLst xmlns:ac="http://schemas.microsoft.com/office/drawing/2013/main/command">
      <pc:docMk xmlns:pc="http://schemas.microsoft.com/office/powerpoint/2013/main/command"/>
      <pc:sldMk xmlns:pc="http://schemas.microsoft.com/office/powerpoint/2013/main/command" cId="3493513573" sldId="727"/>
      <ac:picMk id="26" creationId="{F4B5A9D7-6C6B-6C23-96F1-59722EC8A5E4}"/>
    </ac:deMkLst>
    <p188:txBody>
      <a:bodyPr/>
      <a:lstStyle/>
      <a:p>
        <a:r>
          <a:rPr lang="en-US"/>
          <a:t>See comments in the headlines on this table - in particular need the note on the time periods and subheading in the table</a:t>
        </a:r>
      </a:p>
    </p188:txBody>
  </p188:cm>
  <p188:cm id="{54F7C09F-D64A-4CF9-BBA9-6B7D6E9D6B8C}" authorId="{FA18B807-ABC5-95B2-8636-67E74D52B8AF}" status="resolved" created="2025-06-13T23:45:08.715" complete="100000">
    <ac:txMkLst xmlns:ac="http://schemas.microsoft.com/office/drawing/2013/main/command">
      <pc:docMk xmlns:pc="http://schemas.microsoft.com/office/powerpoint/2013/main/command"/>
      <pc:sldMk xmlns:pc="http://schemas.microsoft.com/office/powerpoint/2013/main/command" cId="3493513573" sldId="727"/>
      <ac:spMk id="6" creationId="{6024E5AC-3688-475C-8BDD-5ECC42457A0D}"/>
      <ac:txMk cp="478">
        <ac:context len="1973" hash="2085516966"/>
      </ac:txMk>
    </ac:txMkLst>
    <p188:pos x="3845146" y="1320641"/>
    <p188:txBody>
      <a:bodyPr/>
      <a:lstStyle/>
      <a:p>
        <a:r>
          <a:rPr lang="en-US"/>
          <a:t>As with qoe please include refs to help reader find what we're talking about</a:t>
        </a:r>
      </a:p>
    </p188:txBody>
  </p188:cm>
  <p188:cm id="{29D5EB88-FB47-4A24-9CB3-A9FF5F1DACBC}" authorId="{5ADEADAD-FF68-A420-89FA-C7961B12B531}" status="resolved" created="2025-06-14T15:57:13.519" complete="100000">
    <ac:txMkLst xmlns:ac="http://schemas.microsoft.com/office/drawing/2013/main/command">
      <pc:docMk xmlns:pc="http://schemas.microsoft.com/office/powerpoint/2013/main/command"/>
      <pc:sldMk xmlns:pc="http://schemas.microsoft.com/office/powerpoint/2013/main/command" cId="3493513573" sldId="727"/>
      <ac:spMk id="6" creationId="{6024E5AC-3688-475C-8BDD-5ECC42457A0D}"/>
      <ac:txMk cp="925" len="30">
        <ac:context len="1973" hash="2085516966"/>
      </ac:txMk>
    </ac:txMkLst>
    <p188:pos x="2159387" y="2353731"/>
    <p188:replyLst>
      <p188:reply id="{A1B0DA2A-63E8-4F7E-91CE-895010578F7B}" authorId="{1D8B8B49-D877-7225-B232-CFDC8C0ACB6F}" created="2025-06-14T18:20:01.882">
        <p188:txBody>
          <a:bodyPr/>
          <a:lstStyle/>
          <a:p>
            <a:r>
              <a:rPr lang="en-US"/>
              <a:t>Updated table</a:t>
            </a:r>
          </a:p>
        </p188:txBody>
      </p188:reply>
    </p188:replyLst>
    <p188:txBody>
      <a:bodyPr/>
      <a:lstStyle/>
      <a:p>
        <a:r>
          <a:rPr lang="en-US"/>
          <a:t>Should this title be used in the table?</a:t>
        </a:r>
      </a:p>
    </p188:txBody>
  </p188:cm>
  <p188:cm id="{77BD9B0F-B062-45E6-B17D-7D87E36FF490}" authorId="{5ADEADAD-FF68-A420-89FA-C7961B12B531}" status="resolved" created="2025-06-14T15:58:11.601" complete="100000">
    <ac:txMkLst xmlns:ac="http://schemas.microsoft.com/office/drawing/2013/main/command">
      <pc:docMk xmlns:pc="http://schemas.microsoft.com/office/powerpoint/2013/main/command"/>
      <pc:sldMk xmlns:pc="http://schemas.microsoft.com/office/powerpoint/2013/main/command" cId="3493513573" sldId="727"/>
      <ac:spMk id="6" creationId="{6024E5AC-3688-475C-8BDD-5ECC42457A0D}"/>
      <ac:txMk cp="1177" len="62">
        <ac:context len="1973" hash="2085516966"/>
      </ac:txMk>
    </ac:txMkLst>
    <p188:pos x="2429731" y="2814906"/>
    <p188:replyLst>
      <p188:reply id="{F4D2F6AA-433F-4D82-BAB0-3381EB1EDBDA}" authorId="{FAED20E5-0035-FA86-DAD3-EFEDF232C9AA}" created="2025-06-14T17:39:07.412">
        <p188:txBody>
          <a:bodyPr/>
          <a:lstStyle/>
          <a:p>
            <a:r>
              <a:rPr lang="en-US"/>
              <a:t>Added some more language to clarify</a:t>
            </a:r>
          </a:p>
        </p188:txBody>
      </p188:reply>
    </p188:replyLst>
    <p188:txBody>
      <a:bodyPr/>
      <a:lstStyle/>
      <a:p>
        <a:r>
          <a:rPr lang="en-US"/>
          <a:t>Is this clear how 3 years = 17.5 months?</a:t>
        </a:r>
      </a:p>
    </p188:txBody>
  </p188:cm>
  <p188:cm id="{D9DC8AE6-676F-4AE9-A196-94AFCFABA03B}" authorId="{5ADEADAD-FF68-A420-89FA-C7961B12B531}" status="resolved" created="2025-06-14T16:00:56.437" complete="100000">
    <ac:deMkLst xmlns:ac="http://schemas.microsoft.com/office/drawing/2013/main/command">
      <pc:docMk xmlns:pc="http://schemas.microsoft.com/office/powerpoint/2013/main/command"/>
      <pc:sldMk xmlns:pc="http://schemas.microsoft.com/office/powerpoint/2013/main/command" cId="3493513573" sldId="727"/>
      <ac:spMk id="15" creationId="{84D0B553-1D86-D520-DD45-77B499B4381D}"/>
    </ac:deMkLst>
    <p188:replyLst>
      <p188:reply id="{17029174-83B5-44AE-A125-977BB6498ACF}" authorId="{FAED20E5-0035-FA86-DAD3-EFEDF232C9AA}" created="2025-06-14T17:39:33.055">
        <p188:txBody>
          <a:bodyPr/>
          <a:lstStyle/>
          <a:p>
            <a:r>
              <a:rPr lang="en-US"/>
              <a:t>Explained in footnote</a:t>
            </a:r>
          </a:p>
        </p188:txBody>
      </p188:reply>
    </p188:replyLst>
    <p188:txBody>
      <a:bodyPr/>
      <a:lstStyle/>
      <a:p>
        <a:r>
          <a:rPr lang="en-US"/>
          <a:t>The Dec-24 sell side NWC is $21,330 on page 6 vs $21,347 here?</a:t>
        </a:r>
      </a:p>
    </p188:txBody>
  </p188:cm>
</p188:cmLst>
</file>

<file path=ppt/comments/modernComment_2D8_1A686F4A.xml><?xml version="1.0" encoding="utf-8"?>
<p188:cmLst xmlns:a="http://schemas.openxmlformats.org/drawingml/2006/main" xmlns:r="http://schemas.openxmlformats.org/officeDocument/2006/relationships" xmlns:p188="http://schemas.microsoft.com/office/powerpoint/2018/8/main">
  <p188:cm id="{7D5B90D0-A17C-44C4-BC34-E849D1120F81}" authorId="{FA18B807-ABC5-95B2-8636-67E74D52B8AF}" status="resolved" created="2025-06-13T21:49:32.268" complete="100000">
    <ac:deMkLst xmlns:ac="http://schemas.microsoft.com/office/drawing/2013/main/command">
      <pc:docMk xmlns:pc="http://schemas.microsoft.com/office/powerpoint/2013/main/command"/>
      <pc:sldMk xmlns:pc="http://schemas.microsoft.com/office/powerpoint/2013/main/command" cId="443051850" sldId="728"/>
      <ac:picMk id="18" creationId="{49FA166A-0E2F-B9DA-6B4A-97BF338D7BD7}"/>
    </ac:deMkLst>
    <p188:txBody>
      <a:bodyPr/>
      <a:lstStyle/>
      <a:p>
        <a:r>
          <a:rPr lang="en-US"/>
          <a:t>Review table adjustment columns for missing dashes</a:t>
        </a:r>
      </a:p>
    </p188:txBody>
  </p188:cm>
  <p188:cm id="{98CDB0C6-6376-4DEB-929D-99B78DFF290C}" authorId="{FA18B807-ABC5-95B2-8636-67E74D52B8AF}" status="resolved" created="2025-06-13T21:54:53.269" complete="100000">
    <ac:deMkLst xmlns:ac="http://schemas.microsoft.com/office/drawing/2013/main/command">
      <pc:docMk xmlns:pc="http://schemas.microsoft.com/office/powerpoint/2013/main/command"/>
      <pc:sldMk xmlns:pc="http://schemas.microsoft.com/office/powerpoint/2013/main/command" cId="443051850" sldId="728"/>
      <ac:picMk id="18" creationId="{49FA166A-0E2F-B9DA-6B4A-97BF338D7BD7}"/>
    </ac:deMkLst>
    <p188:replyLst>
      <p188:reply id="{B791C65A-55BB-4EDA-8F57-559DA9CF760A}" authorId="{FA18B807-ABC5-95B2-8636-67E74D52B8AF}" created="2025-06-13T21:57:59.707">
        <p188:txBody>
          <a:bodyPr/>
          <a:lstStyle/>
          <a:p>
            <a:r>
              <a:rPr lang="en-US"/>
              <a:t>Please make sure FY23 and FY24 buy side columns stop at EBITDA, diligence adjusted</a:t>
            </a:r>
          </a:p>
        </p188:txBody>
      </p188:reply>
      <p188:reply id="{6DEFD6A2-F76A-4328-B518-B0A5D59069D7}" authorId="{1D8B8B49-D877-7225-B232-CFDC8C0ACB6F}" created="2025-06-13T23:34:10.782">
        <p188:txBody>
          <a:bodyPr/>
          <a:lstStyle/>
          <a:p>
            <a:r>
              <a:rPr lang="en-US"/>
              <a:t>updated</a:t>
            </a:r>
          </a:p>
        </p188:txBody>
      </p188:reply>
    </p188:replyLst>
    <p188:txBody>
      <a:bodyPr/>
      <a:lstStyle/>
      <a:p>
        <a:r>
          <a:rPr lang="en-US"/>
          <a:t>Table doesn't agree to headline P&amp;L - also I don't understand what is going on on the run rate line</a:t>
        </a:r>
      </a:p>
    </p188:txBody>
  </p188:cm>
  <p188:cm id="{A5E49318-E599-4BF5-9E88-584F10CA281B}" authorId="{FA18B807-ABC5-95B2-8636-67E74D52B8AF}" status="resolved" created="2025-06-13T21:55:16.078" complete="100000">
    <ac:deMkLst xmlns:ac="http://schemas.microsoft.com/office/drawing/2013/main/command">
      <pc:docMk xmlns:pc="http://schemas.microsoft.com/office/powerpoint/2013/main/command"/>
      <pc:sldMk xmlns:pc="http://schemas.microsoft.com/office/powerpoint/2013/main/command" cId="443051850" sldId="728"/>
      <ac:picMk id="18" creationId="{49FA166A-0E2F-B9DA-6B4A-97BF338D7BD7}"/>
    </ac:deMkLst>
    <p188:replyLst>
      <p188:reply id="{D9E73BE2-3D11-4967-833B-96E38F483613}" authorId="{FA18B807-ABC5-95B2-8636-67E74D52B8AF}" created="2025-06-13T21:55:23.812">
        <p188:txBody>
          <a:bodyPr/>
          <a:lstStyle/>
          <a:p>
            <a:r>
              <a:rPr lang="en-US"/>
              <a:t>Synergized vs synergised?</a:t>
            </a:r>
          </a:p>
        </p188:txBody>
      </p188:reply>
      <p188:reply id="{F7468A52-EBC4-4981-924F-8153F89956BF}" authorId="{1D8B8B49-D877-7225-B232-CFDC8C0ACB6F}" created="2025-06-13T23:34:14.401">
        <p188:txBody>
          <a:bodyPr/>
          <a:lstStyle/>
          <a:p>
            <a:r>
              <a:rPr lang="en-US"/>
              <a:t>added</a:t>
            </a:r>
          </a:p>
        </p188:txBody>
      </p188:reply>
    </p188:replyLst>
    <p188:txBody>
      <a:bodyPr/>
      <a:lstStyle/>
      <a:p>
        <a:r>
          <a:rPr lang="en-US"/>
          <a:t>Please grey out adjs and buy side cells for actionable synergies / syngerized EBITDA</a:t>
        </a:r>
      </a:p>
    </p188:txBody>
  </p188:cm>
  <p188:cm id="{62E85875-F3E2-4539-BD88-F34147835B35}" authorId="{FA18B807-ABC5-95B2-8636-67E74D52B8AF}" status="resolved" created="2025-06-13T21:55:50.569" complete="100000">
    <ac:deMkLst xmlns:ac="http://schemas.microsoft.com/office/drawing/2013/main/command">
      <pc:docMk xmlns:pc="http://schemas.microsoft.com/office/powerpoint/2013/main/command"/>
      <pc:sldMk xmlns:pc="http://schemas.microsoft.com/office/powerpoint/2013/main/command" cId="443051850" sldId="728"/>
      <ac:picMk id="18" creationId="{49FA166A-0E2F-B9DA-6B4A-97BF338D7BD7}"/>
    </ac:deMkLst>
    <p188:replyLst>
      <p188:reply id="{BEA8C23B-2427-4D60-917B-E951F4A9692B}" authorId="{1D8B8B49-D877-7225-B232-CFDC8C0ACB6F}" created="2025-06-13T23:34:18.409">
        <p188:txBody>
          <a:bodyPr/>
          <a:lstStyle/>
          <a:p>
            <a:r>
              <a:rPr lang="en-US"/>
              <a:t>fixed</a:t>
            </a:r>
          </a:p>
        </p188:txBody>
      </p188:reply>
    </p188:replyLst>
    <p188:txBody>
      <a:bodyPr/>
      <a:lstStyle/>
      <a:p>
        <a:r>
          <a:rPr lang="en-US"/>
          <a:t>No capitals on deferred commissions / income capitalized in fixed assets</a:t>
        </a:r>
      </a:p>
    </p188:txBody>
  </p188:cm>
  <p188:cm id="{A96B699E-F2F4-4D13-8B90-DC047706F91C}" authorId="{FA18B807-ABC5-95B2-8636-67E74D52B8AF}" status="resolved" created="2025-06-13T21:56:33.140" complete="100000">
    <ac:txMkLst xmlns:ac="http://schemas.microsoft.com/office/drawing/2013/main/command">
      <pc:docMk xmlns:pc="http://schemas.microsoft.com/office/powerpoint/2013/main/command"/>
      <pc:sldMk xmlns:pc="http://schemas.microsoft.com/office/powerpoint/2013/main/command" cId="443051850" sldId="728"/>
      <ac:spMk id="7" creationId="{931FF0A2-2A99-42E4-98E5-50042316ABF7}"/>
      <ac:txMk cp="507">
        <ac:context len="1664" hash="3752287060"/>
      </ac:txMk>
    </ac:txMkLst>
    <p188:pos x="4866639" y="1398799"/>
    <p188:replyLst>
      <p188:reply id="{32AFBEBD-7116-4B4E-8953-670E058FE77D}" authorId="{FA18B807-ABC5-95B2-8636-67E74D52B8AF}" created="2025-06-13T21:57:00.533">
        <p188:txBody>
          <a:bodyPr/>
          <a:lstStyle/>
          <a:p>
            <a:r>
              <a:rPr lang="en-US"/>
              <a:t>Please do this for each bullet (SS diligence adjs / buy side diligence adjs) too </a:t>
            </a:r>
          </a:p>
        </p188:txBody>
      </p188:reply>
      <p188:reply id="{AB210219-E920-4F6D-91D4-11FC405F86D6}" authorId="{1D8B8B49-D877-7225-B232-CFDC8C0ACB6F}" created="2025-06-13T23:34:23.632">
        <p188:txBody>
          <a:bodyPr/>
          <a:lstStyle/>
          <a:p>
            <a:r>
              <a:rPr lang="en-US"/>
              <a:t>added</a:t>
            </a:r>
          </a:p>
        </p188:txBody>
      </p188:reply>
    </p188:replyLst>
    <p188:txBody>
      <a:bodyPr/>
      <a:lstStyle/>
      <a:p>
        <a:r>
          <a:rPr lang="en-US"/>
          <a:t>Include QoE adj refs in the commentary please to help a reader find these on the following pages.</a:t>
        </a:r>
      </a:p>
    </p188:txBody>
  </p188:cm>
  <p188:cm id="{6DB30886-FB5D-45B3-9CE5-A0B63B726C31}" authorId="{5ADEADAD-FF68-A420-89FA-C7961B12B531}" status="resolved" created="2025-06-14T15:18:12.413" complete="100000">
    <ac:txMkLst xmlns:ac="http://schemas.microsoft.com/office/drawing/2013/main/command">
      <pc:docMk xmlns:pc="http://schemas.microsoft.com/office/powerpoint/2013/main/command"/>
      <pc:sldMk xmlns:pc="http://schemas.microsoft.com/office/powerpoint/2013/main/command" cId="443051850" sldId="728"/>
      <ac:spMk id="7" creationId="{931FF0A2-2A99-42E4-98E5-50042316ABF7}"/>
      <ac:txMk cp="47">
        <ac:context len="1664" hash="3752287060"/>
      </ac:txMk>
    </ac:txMkLst>
    <p188:pos x="2050469" y="224574"/>
    <p188:replyLst>
      <p188:reply id="{33E7B41F-9685-4945-A02F-0227732E67EB}" authorId="{FAED20E5-0035-FA86-DAD3-EFEDF232C9AA}" created="2025-06-14T17:33:14.963">
        <p188:txBody>
          <a:bodyPr/>
          <a:lstStyle/>
          <a:p>
            <a:r>
              <a:rPr lang="en-US"/>
              <a:t>noted</a:t>
            </a:r>
          </a:p>
        </p188:txBody>
      </p188:reply>
    </p188:replyLst>
    <p188:txBody>
      <a:bodyPr/>
      <a:lstStyle/>
      <a:p>
        <a:r>
          <a:rPr lang="en-US"/>
          <a:t>shown</a:t>
        </a:r>
      </a:p>
    </p188:txBody>
  </p188:cm>
  <p188:cm id="{A05A718D-F6B8-4D2E-83D0-6E42575B7683}" authorId="{1D8B8B49-D877-7225-B232-CFDC8C0ACB6F}" status="resolved" created="2025-06-14T17:31:36.699" complete="100000">
    <ac:deMkLst xmlns:ac="http://schemas.microsoft.com/office/drawing/2013/main/command">
      <pc:docMk xmlns:pc="http://schemas.microsoft.com/office/powerpoint/2013/main/command"/>
      <pc:sldMk xmlns:pc="http://schemas.microsoft.com/office/powerpoint/2013/main/command" cId="443051850" sldId="728"/>
      <ac:spMk id="7" creationId="{931FF0A2-2A99-42E4-98E5-50042316ABF7}"/>
    </ac:deMkLst>
    <p188:replyLst>
      <p188:reply id="{A6B4D61F-2DB7-45D9-AEE1-58A88480A110}" authorId="{1D8B8B49-D877-7225-B232-CFDC8C0ACB6F}" created="2025-06-14T17:31:46.340">
        <p188:txBody>
          <a:bodyPr/>
          <a:lstStyle/>
          <a:p>
            <a:r>
              <a:rPr lang="en-US"/>
              <a:t>updated</a:t>
            </a:r>
          </a:p>
        </p188:txBody>
      </p188:reply>
    </p188:replyLst>
    <p188:txBody>
      <a:bodyPr/>
      <a:lstStyle/>
      <a:p>
        <a:r>
          <a:rPr lang="en-US"/>
          <a:t>Alex: Shown</a:t>
        </a:r>
      </a:p>
    </p188:txBody>
  </p188:cm>
</p188:cmLst>
</file>

<file path=ppt/comments/modernComment_2DF_6598BAD2.xml><?xml version="1.0" encoding="utf-8"?>
<p188:cmLst xmlns:a="http://schemas.openxmlformats.org/drawingml/2006/main" xmlns:r="http://schemas.openxmlformats.org/officeDocument/2006/relationships" xmlns:p188="http://schemas.microsoft.com/office/powerpoint/2018/8/main">
  <p188:cm id="{9B9C2475-79B2-4074-81E1-531864F26892}" authorId="{FA18B807-ABC5-95B2-8636-67E74D52B8AF}" status="resolved" created="2025-06-13T23:30:10.353" complete="100000">
    <ac:txMkLst xmlns:ac="http://schemas.microsoft.com/office/drawing/2013/main/command">
      <pc:docMk xmlns:pc="http://schemas.microsoft.com/office/powerpoint/2013/main/command"/>
      <pc:sldMk xmlns:pc="http://schemas.microsoft.com/office/powerpoint/2013/main/command" cId="1704508114" sldId="735"/>
      <ac:spMk id="22" creationId="{32447741-916D-472C-8C2F-6676D4D2591A}"/>
      <ac:txMk cp="377">
        <ac:context len="1587" hash="502091152"/>
      </ac:txMk>
    </ac:txMkLst>
    <p188:pos x="4511896" y="1168241"/>
    <p188:txBody>
      <a:bodyPr/>
      <a:lstStyle/>
      <a:p>
        <a:r>
          <a:rPr lang="en-US"/>
          <a:t>Of or in? Who is the qn for? Is it in the tracker? If it's not in the locked box as a cash item I'm guessing it will just roll over (leakage won't allow any disposals)</a:t>
        </a:r>
      </a:p>
    </p188:txBody>
  </p188:cm>
  <p188:cm id="{37368046-C6FE-4319-9651-BF10DD2E9644}" authorId="{FA18B807-ABC5-95B2-8636-67E74D52B8AF}" status="resolved" created="2025-06-13T23:31:41.573" complete="100000">
    <ac:txMkLst xmlns:ac="http://schemas.microsoft.com/office/drawing/2013/main/command">
      <pc:docMk xmlns:pc="http://schemas.microsoft.com/office/powerpoint/2013/main/command"/>
      <pc:sldMk xmlns:pc="http://schemas.microsoft.com/office/powerpoint/2013/main/command" cId="1704508114" sldId="735"/>
      <ac:spMk id="22" creationId="{32447741-916D-472C-8C2F-6676D4D2591A}"/>
      <ac:txMk cp="663">
        <ac:context len="1587" hash="502091152"/>
      </ac:txMk>
    </ac:txMkLst>
    <p188:pos x="3283171" y="2311241"/>
    <p188:txBody>
      <a:bodyPr/>
      <a:lstStyle/>
      <a:p>
        <a:r>
          <a:rPr lang="en-US"/>
          <a:t>What is an arrangement that is not upfront or monthly?</a:t>
        </a:r>
      </a:p>
    </p188:txBody>
  </p188:cm>
  <p188:cm id="{75EDCB90-E942-4D0C-BD68-49F51C6DCF83}" authorId="{5ADEADAD-FF68-A420-89FA-C7961B12B531}" status="resolved" created="2025-06-14T15:48:20.611" complete="100000">
    <ac:txMkLst xmlns:ac="http://schemas.microsoft.com/office/drawing/2013/main/command">
      <pc:docMk xmlns:pc="http://schemas.microsoft.com/office/powerpoint/2013/main/command"/>
      <pc:sldMk xmlns:pc="http://schemas.microsoft.com/office/powerpoint/2013/main/command" cId="1704508114" sldId="735"/>
      <ac:spMk id="22" creationId="{32447741-916D-472C-8C2F-6676D4D2591A}"/>
      <ac:txMk cp="332" len="146">
        <ac:context len="1587" hash="502091152"/>
      </ac:txMk>
    </ac:txMkLst>
    <p188:pos x="5021856" y="1137181"/>
    <p188:replyLst>
      <p188:reply id="{AF94D21F-3D08-4F2E-AFC6-140AF9A4A2F1}" authorId="{FAED20E5-0035-FA86-DAD3-EFEDF232C9AA}" created="2025-06-14T18:04:28.603">
        <p188:txBody>
          <a:bodyPr/>
          <a:lstStyle/>
          <a:p>
            <a:r>
              <a:rPr lang="en-US"/>
              <a:t>Changed</a:t>
            </a:r>
          </a:p>
        </p188:txBody>
      </p188:reply>
    </p188:replyLst>
    <p188:txBody>
      <a:bodyPr/>
      <a:lstStyle/>
      <a:p>
        <a:r>
          <a:rPr lang="en-US"/>
          <a:t>Looks like only $358k in table?</a:t>
        </a:r>
      </a:p>
    </p188:txBody>
  </p188:cm>
  <p188:cm id="{29664C0B-FB35-45B1-9BD8-76B5EFA9ED39}" authorId="{5ADEADAD-FF68-A420-89FA-C7961B12B531}" status="resolved" created="2025-06-14T15:49:09" complete="100000">
    <ac:txMkLst xmlns:ac="http://schemas.microsoft.com/office/drawing/2013/main/command">
      <pc:docMk xmlns:pc="http://schemas.microsoft.com/office/powerpoint/2013/main/command"/>
      <pc:sldMk xmlns:pc="http://schemas.microsoft.com/office/powerpoint/2013/main/command" cId="1704508114" sldId="735"/>
      <ac:spMk id="22" creationId="{32447741-916D-472C-8C2F-6676D4D2591A}"/>
      <ac:txMk cp="1007" len="2">
        <ac:context len="1587" hash="502091152"/>
      </ac:txMk>
    </ac:txMkLst>
    <p188:pos x="513467" y="2886468"/>
    <p188:replyLst>
      <p188:reply id="{EBE70E97-3CEA-47CE-9A65-F645522E40CB}" authorId="{1D8B8B49-D877-7225-B232-CFDC8C0ACB6F}" created="2025-06-14T17:49:42.533">
        <p188:txBody>
          <a:bodyPr/>
          <a:lstStyle/>
          <a:p>
            <a:r>
              <a:rPr lang="en-US"/>
              <a:t>Yes typo, updated</a:t>
            </a:r>
          </a:p>
        </p188:txBody>
      </p188:reply>
    </p188:replyLst>
    <p188:txBody>
      <a:bodyPr/>
      <a:lstStyle/>
      <a:p>
        <a:r>
          <a:rPr lang="en-US"/>
          <a:t>What about ones between 260 and 360 or is this a typo?</a:t>
        </a:r>
      </a:p>
    </p188:txBody>
  </p188:cm>
  <p188:cm id="{36360345-034E-4EB7-AE10-572DA0D10838}" authorId="{1D8B8B49-D877-7225-B232-CFDC8C0ACB6F}" status="resolved" created="2025-06-14T17:33:19.128" complete="100000">
    <ac:txMkLst xmlns:ac="http://schemas.microsoft.com/office/drawing/2013/main/command">
      <pc:docMk xmlns:pc="http://schemas.microsoft.com/office/powerpoint/2013/main/command"/>
      <pc:sldMk xmlns:pc="http://schemas.microsoft.com/office/powerpoint/2013/main/command" cId="1704508114" sldId="735"/>
      <ac:spMk id="22" creationId="{32447741-916D-472C-8C2F-6676D4D2591A}"/>
      <ac:txMk cp="331" len="147">
        <ac:context len="1587" hash="502091152"/>
      </ac:txMk>
    </ac:txMkLst>
    <p188:pos x="5019044" y="1079728"/>
    <p188:replyLst>
      <p188:reply id="{E00BABD0-A920-4577-97ED-14BBFD778555}" authorId="{FAED20E5-0035-FA86-DAD3-EFEDF232C9AA}" created="2025-06-14T18:04:48.082">
        <p188:txBody>
          <a:bodyPr/>
          <a:lstStyle/>
          <a:p>
            <a:r>
              <a:rPr lang="en-US"/>
              <a:t>Text edited</a:t>
            </a:r>
          </a:p>
        </p188:txBody>
      </p188:reply>
    </p188:replyLst>
    <p188:txBody>
      <a:bodyPr/>
      <a:lstStyle/>
      <a:p>
        <a:r>
          <a:rPr lang="en-US"/>
          <a:t>Alex: Is this correct? I don't think they have $65M of financial assets? I think these are eliminated on consolidation right?</a:t>
        </a:r>
      </a:p>
    </p188:txBody>
  </p188:cm>
</p188:cmLst>
</file>

<file path=ppt/comments/modernComment_2ED_9EA32429.xml><?xml version="1.0" encoding="utf-8"?>
<p188:cmLst xmlns:a="http://schemas.openxmlformats.org/drawingml/2006/main" xmlns:r="http://schemas.openxmlformats.org/officeDocument/2006/relationships" xmlns:p188="http://schemas.microsoft.com/office/powerpoint/2018/8/main">
  <p188:cm id="{A40E0AF0-C9C7-4EE8-842D-7D0917F33412}" authorId="{FA18B807-ABC5-95B2-8636-67E74D52B8AF}" status="resolved" created="2025-06-13T22:33:40.947" complete="100000">
    <ac:txMkLst xmlns:ac="http://schemas.microsoft.com/office/drawing/2013/main/command">
      <pc:docMk xmlns:pc="http://schemas.microsoft.com/office/powerpoint/2013/main/command"/>
      <pc:sldMk xmlns:pc="http://schemas.microsoft.com/office/powerpoint/2013/main/command" cId="2661491753" sldId="749"/>
      <ac:spMk id="10" creationId="{062B6174-E1E0-4EFB-BC0C-A23DAA46A121}"/>
      <ac:txMk cp="1119">
        <ac:context len="1377" hash="2183244602"/>
      </ac:txMk>
    </ac:txMkLst>
    <p188:pos x="1501478" y="2882706"/>
    <p188:replyLst>
      <p188:reply id="{520FB0BC-3506-45C5-BE80-203AFC21B72A}" authorId="{1D8B8B49-D877-7225-B232-CFDC8C0ACB6F}" created="2025-06-13T23:50:54.141">
        <p188:txBody>
          <a:bodyPr/>
          <a:lstStyle/>
          <a:p>
            <a:r>
              <a:rPr lang="en-US"/>
              <a:t>Yes, updated</a:t>
            </a:r>
          </a:p>
        </p188:txBody>
      </p188:reply>
    </p188:replyLst>
    <p188:txBody>
      <a:bodyPr/>
      <a:lstStyle/>
      <a:p>
        <a:r>
          <a:rPr lang="en-US"/>
          <a:t>0.6?</a:t>
        </a:r>
      </a:p>
    </p188:txBody>
  </p188:cm>
  <p188:cm id="{30612078-6123-407D-803F-D49E5F40F336}" authorId="{FA18B807-ABC5-95B2-8636-67E74D52B8AF}" status="resolved" created="2025-06-13T22:33:55.800" complete="100000">
    <ac:txMkLst xmlns:ac="http://schemas.microsoft.com/office/drawing/2013/main/command">
      <pc:docMk xmlns:pc="http://schemas.microsoft.com/office/powerpoint/2013/main/command"/>
      <pc:sldMk xmlns:pc="http://schemas.microsoft.com/office/powerpoint/2013/main/command" cId="2661491753" sldId="749"/>
      <ac:spMk id="10" creationId="{062B6174-E1E0-4EFB-BC0C-A23DAA46A121}"/>
      <ac:txMk cp="273">
        <ac:context len="1377" hash="2183244602"/>
      </ac:txMk>
    </ac:txMkLst>
    <p188:pos x="606128" y="901506"/>
    <p188:replyLst>
      <p188:reply id="{69106845-7288-4E09-A38D-52331ABEC420}" authorId="{1D8B8B49-D877-7225-B232-CFDC8C0ACB6F}" created="2025-06-13T23:50:33.659">
        <p188:txBody>
          <a:bodyPr/>
          <a:lstStyle/>
          <a:p>
            <a:r>
              <a:rPr lang="en-US"/>
              <a:t>Yes, updated</a:t>
            </a:r>
          </a:p>
        </p188:txBody>
      </p188:reply>
    </p188:replyLst>
    <p188:txBody>
      <a:bodyPr/>
      <a:lstStyle/>
      <a:p>
        <a:r>
          <a:rPr lang="en-US"/>
          <a:t>0.4?</a:t>
        </a:r>
      </a:p>
    </p188:txBody>
  </p188:cm>
</p188:cmLst>
</file>

<file path=ppt/comments/modernComment_7FFFCA5F_4E6A2009.xml><?xml version="1.0" encoding="utf-8"?>
<p188:cmLst xmlns:a="http://schemas.openxmlformats.org/drawingml/2006/main" xmlns:r="http://schemas.openxmlformats.org/officeDocument/2006/relationships" xmlns:p188="http://schemas.microsoft.com/office/powerpoint/2018/8/main">
  <p188:cm id="{29EDE0EC-BF38-4B5A-BEE2-1A29B800C157}" authorId="{FA18B807-ABC5-95B2-8636-67E74D52B8AF}" status="resolved" created="2025-06-13T22:58:14.171" complete="100000">
    <ac:deMkLst xmlns:ac="http://schemas.microsoft.com/office/drawing/2013/main/command">
      <pc:docMk xmlns:pc="http://schemas.microsoft.com/office/powerpoint/2013/main/command"/>
      <pc:sldMk xmlns:pc="http://schemas.microsoft.com/office/powerpoint/2013/main/command" cId="1315577865" sldId="2147469919"/>
      <ac:spMk id="2" creationId="{E05F8FB9-F001-D9C7-5973-C73F7B07221C}"/>
    </ac:deMkLst>
    <p188:txBody>
      <a:bodyPr/>
      <a:lstStyle/>
      <a:p>
        <a:r>
          <a:rPr lang="en-US"/>
          <a:t>Can you use the notes to explain why a directors report and not audit report was used for FY23?</a:t>
        </a:r>
      </a:p>
    </p188:txBody>
  </p188:cm>
  <p188:cm id="{0131D535-D4F9-46CA-9ACF-BFB29CAA48E3}" authorId="{5ADEADAD-FF68-A420-89FA-C7961B12B531}" status="resolved" created="2025-06-14T16:34:14.290" complete="100000">
    <pc:sldMkLst xmlns:pc="http://schemas.microsoft.com/office/powerpoint/2013/main/command">
      <pc:docMk/>
      <pc:sldMk cId="1315577865" sldId="2147469919"/>
    </pc:sldMkLst>
    <p188:replyLst>
      <p188:reply id="{4B249B6E-2AB2-421D-8AEB-BD0BE479BAE5}" authorId="{FAED20E5-0035-FA86-DAD3-EFEDF232C9AA}" created="2025-06-14T17:47:45.456">
        <p188:txBody>
          <a:bodyPr/>
          <a:lstStyle/>
          <a:p>
            <a:r>
              <a:rPr lang="en-US"/>
              <a:t>Added</a:t>
            </a:r>
          </a:p>
        </p188:txBody>
      </p188:reply>
    </p188:replyLst>
    <p188:txBody>
      <a:bodyPr/>
      <a:lstStyle/>
      <a:p>
        <a:r>
          <a:rPr lang="en-US"/>
          <a:t>Should we comment that the variances are primarily due to mgmt tracking non-recurrent expenses separately in the TB and hence databook which are presented in the relevant costs captions in the audit/directors report??</a:t>
        </a:r>
      </a:p>
    </p188:txBody>
  </p188:cm>
</p188:cmLst>
</file>

<file path=ppt/comments/modernComment_7FFFCA6C_5146759F.xml><?xml version="1.0" encoding="utf-8"?>
<p188:cmLst xmlns:a="http://schemas.openxmlformats.org/drawingml/2006/main" xmlns:r="http://schemas.openxmlformats.org/officeDocument/2006/relationships" xmlns:p188="http://schemas.microsoft.com/office/powerpoint/2018/8/main">
  <p188:cm id="{0097FD9D-4F66-4627-AEFC-035B328042EE}" authorId="{FA18B807-ABC5-95B2-8636-67E74D52B8AF}" status="resolved" created="2025-06-13T22:45:36.255" complete="100000">
    <ac:deMkLst xmlns:ac="http://schemas.microsoft.com/office/drawing/2013/main/command">
      <pc:docMk xmlns:pc="http://schemas.microsoft.com/office/powerpoint/2013/main/command"/>
      <pc:sldMk xmlns:pc="http://schemas.microsoft.com/office/powerpoint/2013/main/command" cId="1363572127" sldId="2147469932"/>
      <ac:picMk id="6" creationId="{310CD9CF-4DE3-B39A-50A2-44DEF3534E96}"/>
    </ac:deMkLst>
    <p188:replyLst>
      <p188:reply id="{BAC62E8A-54F2-460C-9E9B-47756BE3C80E}" authorId="{1D8B8B49-D877-7225-B232-CFDC8C0ACB6F}" created="2025-06-14T01:59:57.368">
        <p188:txBody>
          <a:bodyPr/>
          <a:lstStyle/>
          <a:p>
            <a:r>
              <a:rPr lang="en-US"/>
              <a:t>removed</a:t>
            </a:r>
          </a:p>
        </p188:txBody>
      </p188:reply>
    </p188:replyLst>
    <p188:txBody>
      <a:bodyPr/>
      <a:lstStyle/>
      <a:p>
        <a:r>
          <a:rPr lang="en-US"/>
          <a:t>Comment 'need to confirm if accrual assets are deferred commissions' seems out of date and will raise eyebrows</a:t>
        </a:r>
      </a:p>
    </p188:txBody>
  </p188:cm>
  <p188:cm id="{586AD782-2B5E-467C-B75A-0014A9657481}" authorId="{5ADEADAD-FF68-A420-89FA-C7961B12B531}" status="resolved" created="2025-06-14T16:22:59.303" complete="100000">
    <pc:sldMkLst xmlns:pc="http://schemas.microsoft.com/office/powerpoint/2013/main/command">
      <pc:docMk/>
      <pc:sldMk cId="1363572127" sldId="2147469932"/>
    </pc:sldMkLst>
    <p188:replyLst>
      <p188:reply id="{A348CC71-4B10-4010-9935-52C6D1F31219}" authorId="{1D8B8B49-D877-7225-B232-CFDC8C0ACB6F}" created="2025-06-14T18:28:27.582">
        <p188:txBody>
          <a:bodyPr/>
          <a:lstStyle/>
          <a:p>
            <a:r>
              <a:rPr lang="en-US"/>
              <a:t>updated</a:t>
            </a:r>
          </a:p>
        </p188:txBody>
      </p188:reply>
    </p188:replyLst>
    <p188:txBody>
      <a:bodyPr/>
      <a:lstStyle/>
      <a:p>
        <a:r>
          <a:rPr lang="en-US"/>
          <a:t>Typo "Financince" 9th row down</a:t>
        </a:r>
      </a:p>
    </p188:txBody>
  </p188:cm>
  <p188:cm id="{E6A37B99-DD69-4C40-B5FE-51D1BF22AF63}" authorId="{5ADEADAD-FF68-A420-89FA-C7961B12B531}" status="resolved" created="2025-06-14T16:23:09.659" complete="100000">
    <ac:deMkLst xmlns:ac="http://schemas.microsoft.com/office/drawing/2013/main/command">
      <pc:docMk xmlns:pc="http://schemas.microsoft.com/office/powerpoint/2013/main/command"/>
      <pc:sldMk xmlns:pc="http://schemas.microsoft.com/office/powerpoint/2013/main/command" cId="1363572127" sldId="2147469932"/>
      <ac:picMk id="16" creationId="{A1878531-A4B7-2E4A-6153-55501A3B49D6}"/>
    </ac:deMkLst>
    <p188:replyLst>
      <p188:reply id="{3286852B-2411-45FC-81CF-80E68286975C}" authorId="{1D8B8B49-D877-7225-B232-CFDC8C0ACB6F}" created="2025-06-14T18:28:21.460">
        <p188:txBody>
          <a:bodyPr/>
          <a:lstStyle/>
          <a:p>
            <a:r>
              <a:rPr lang="en-US"/>
              <a:t>updated</a:t>
            </a:r>
          </a:p>
        </p188:txBody>
      </p188:reply>
    </p188:replyLst>
    <p188:txBody>
      <a:bodyPr/>
      <a:lstStyle/>
      <a:p>
        <a:r>
          <a:rPr lang="en-US"/>
          <a:t>Table doesn’t fit on page?</a:t>
        </a:r>
      </a:p>
    </p188:txBody>
  </p188:cm>
  <p188:cm id="{2BEB7C99-3D0F-47C8-B469-E79265B00F1E}" authorId="{1D8B8B49-D877-7225-B232-CFDC8C0ACB6F}" status="resolved" created="2025-06-14T17:36:57.707" complete="100000">
    <ac:deMkLst xmlns:ac="http://schemas.microsoft.com/office/drawing/2013/main/command">
      <pc:docMk xmlns:pc="http://schemas.microsoft.com/office/powerpoint/2013/main/command"/>
      <pc:sldMk xmlns:pc="http://schemas.microsoft.com/office/powerpoint/2013/main/command" cId="1363572127" sldId="2147469932"/>
      <ac:picMk id="16" creationId="{A1878531-A4B7-2E4A-6153-55501A3B49D6}"/>
    </ac:deMkLst>
    <p188:replyLst>
      <p188:reply id="{50E9FE7D-59F9-49BE-B90C-8FD26341B578}" authorId="{1D8B8B49-D877-7225-B232-CFDC8C0ACB6F}" created="2025-06-14T18:40:53.880">
        <p188:txBody>
          <a:bodyPr/>
          <a:lstStyle/>
          <a:p>
            <a:r>
              <a:rPr lang="en-US"/>
              <a:t>Added a comment on bad debt</a:t>
            </a:r>
          </a:p>
        </p188:txBody>
      </p188:reply>
    </p188:replyLst>
    <p188:txBody>
      <a:bodyPr/>
      <a:lstStyle/>
      <a:p>
        <a:r>
          <a:rPr lang="en-US"/>
          <a:t>Alex: I think we should also call out their incorrect treatment of refunds and whatnot as bad debt?</a:t>
        </a:r>
      </a:p>
    </p188:txBody>
  </p188:cm>
</p188:cmLst>
</file>

<file path=ppt/comments/modernComment_7FFFCA7A_79C1B1AE.xml><?xml version="1.0" encoding="utf-8"?>
<p188:cmLst xmlns:a="http://schemas.openxmlformats.org/drawingml/2006/main" xmlns:r="http://schemas.openxmlformats.org/officeDocument/2006/relationships" xmlns:p188="http://schemas.microsoft.com/office/powerpoint/2018/8/main">
  <p188:cm id="{6F0C7B61-0849-4A34-9078-CDD5DA4240DD}" authorId="{5ADEADAD-FF68-A420-89FA-C7961B12B531}" status="resolved" created="2025-05-13T20:59:22.162">
    <ac:deMkLst xmlns:ac="http://schemas.microsoft.com/office/drawing/2013/main/command">
      <pc:docMk xmlns:pc="http://schemas.microsoft.com/office/powerpoint/2013/main/command"/>
      <pc:sldMk xmlns:pc="http://schemas.microsoft.com/office/powerpoint/2013/main/command" cId="2042737070" sldId="2147469939"/>
      <ac:picMk id="17" creationId="{7150C185-179E-D542-DF82-C968E1C6CC89}"/>
    </ac:deMkLst>
    <p188:replyLst>
      <p188:reply id="{455A22DA-5E05-45E3-A829-5C7A9818172E}" authorId="{1D8B8B49-D877-7225-B232-CFDC8C0ACB6F}" created="2025-05-13T21:22:08.602">
        <p188:txBody>
          <a:bodyPr/>
          <a:lstStyle/>
          <a:p>
            <a:r>
              <a:rPr lang="en-US"/>
              <a:t>updated</a:t>
            </a:r>
          </a:p>
        </p188:txBody>
      </p188:reply>
    </p188:replyLst>
    <p188:txBody>
      <a:bodyPr/>
      <a:lstStyle/>
      <a:p>
        <a:r>
          <a:rPr lang="en-US"/>
          <a:t>Cash - para under Post Acquisition - reword "..cash at held bank.." to "..cash held at bank.."?</a:t>
        </a:r>
      </a:p>
    </p188:txBody>
  </p188:cm>
  <p188:cm id="{6D1E80CC-1780-490C-9D5D-97C8077BAE63}" authorId="{FA18B807-ABC5-95B2-8636-67E74D52B8AF}" status="resolved" created="2025-06-13T22:49:19.278" complete="100000">
    <ac:deMkLst xmlns:ac="http://schemas.microsoft.com/office/drawing/2013/main/command">
      <pc:docMk xmlns:pc="http://schemas.microsoft.com/office/powerpoint/2013/main/command"/>
      <pc:sldMk xmlns:pc="http://schemas.microsoft.com/office/powerpoint/2013/main/command" cId="2042737070" sldId="2147469946"/>
      <ac:picMk id="7" creationId="{53C088C2-8D21-217D-9D22-E7BAD390A6B8}"/>
    </ac:deMkLst>
    <p188:replyLst>
      <p188:reply id="{9B1448AC-A46A-4D69-A151-51F88D17105F}" authorId="{1D8B8B49-D877-7225-B232-CFDC8C0ACB6F}" created="2025-06-14T02:06:01.937">
        <p188:txBody>
          <a:bodyPr/>
          <a:lstStyle/>
          <a:p>
            <a:r>
              <a:rPr lang="en-US"/>
              <a:t>removed</a:t>
            </a:r>
          </a:p>
        </p188:txBody>
      </p188:reply>
    </p188:replyLst>
    <p188:txBody>
      <a:bodyPr/>
      <a:lstStyle/>
      <a:p>
        <a:r>
          <a:rPr lang="en-US"/>
          <a:t>Comment 'perhaps want to confirm…' under current accruals should be removed</a:t>
        </a:r>
      </a:p>
    </p188:txBody>
  </p188:cm>
  <p188:cm id="{9A0EE673-0A59-416A-9BEA-3D0EA65AC341}" authorId="{FA18B807-ABC5-95B2-8636-67E74D52B8AF}" status="resolved" created="2025-06-13T22:50:21.246" complete="100000">
    <ac:deMkLst xmlns:ac="http://schemas.microsoft.com/office/drawing/2013/main/command">
      <pc:docMk xmlns:pc="http://schemas.microsoft.com/office/powerpoint/2013/main/command"/>
      <pc:sldMk xmlns:pc="http://schemas.microsoft.com/office/powerpoint/2013/main/command" cId="2042737070" sldId="2147469946"/>
      <ac:picMk id="7" creationId="{53C088C2-8D21-217D-9D22-E7BAD390A6B8}"/>
    </ac:deMkLst>
    <p188:replyLst>
      <p188:reply id="{CDADB142-D3FA-4931-91AB-F97C847AD327}" authorId="{1D8B8B49-D877-7225-B232-CFDC8C0ACB6F}" created="2025-06-14T02:05:58.421">
        <p188:txBody>
          <a:bodyPr/>
          <a:lstStyle/>
          <a:p>
            <a:r>
              <a:rPr lang="en-US"/>
              <a:t>removed</a:t>
            </a:r>
          </a:p>
        </p188:txBody>
      </p188:reply>
    </p188:replyLst>
    <p188:txBody>
      <a:bodyPr/>
      <a:lstStyle/>
      <a:p>
        <a:r>
          <a:rPr lang="en-US"/>
          <a:t>I think commentary around restricted cash can come out - we have asked about this in net debt</a:t>
        </a:r>
      </a:p>
    </p188:txBody>
  </p188:cm>
</p188:cmLst>
</file>

<file path=ppt/comments/modernComment_7FFFCA7B_50648817.xml><?xml version="1.0" encoding="utf-8"?>
<p188:cmLst xmlns:a="http://schemas.openxmlformats.org/drawingml/2006/main" xmlns:r="http://schemas.openxmlformats.org/officeDocument/2006/relationships" xmlns:p188="http://schemas.microsoft.com/office/powerpoint/2018/8/main">
  <p188:cm id="{A77C523E-17B8-4E1F-9440-3D06DA6C41E5}" authorId="{5ADEADAD-FF68-A420-89FA-C7961B12B531}" status="resolved" created="2025-06-14T16:29:36.545" complete="100000">
    <ac:deMkLst xmlns:ac="http://schemas.microsoft.com/office/drawing/2013/main/command">
      <pc:docMk xmlns:pc="http://schemas.microsoft.com/office/powerpoint/2013/main/command"/>
      <pc:sldMk xmlns:pc="http://schemas.microsoft.com/office/powerpoint/2013/main/command" cId="1348765719" sldId="2147469947"/>
      <ac:picMk id="20" creationId="{4B57FCF6-EC49-2ACB-B4B1-37EA4DA5E029}"/>
    </ac:deMkLst>
    <p188:replyLst>
      <p188:reply id="{1482F113-9F83-45A0-9674-9D38A60990BB}" authorId="{1D8B8B49-D877-7225-B232-CFDC8C0ACB6F}" created="2025-06-14T18:33:52.305">
        <p188:txBody>
          <a:bodyPr/>
          <a:lstStyle/>
          <a:p>
            <a:r>
              <a:rPr lang="en-US"/>
              <a:t>Took out short term comment</a:t>
            </a:r>
          </a:p>
        </p188:txBody>
      </p188:reply>
    </p188:replyLst>
    <p188:txBody>
      <a:bodyPr/>
      <a:lstStyle/>
      <a:p>
        <a:r>
          <a:rPr lang="en-US"/>
          <a:t>Non-current accruals - comment says they are short term?</a:t>
        </a:r>
      </a:p>
    </p188:txBody>
  </p188:cm>
</p188:cmLst>
</file>

<file path=ppt/comments/modernComment_7FFFCA7C_584007D8.xml><?xml version="1.0" encoding="utf-8"?>
<p188:cmLst xmlns:a="http://schemas.openxmlformats.org/drawingml/2006/main" xmlns:r="http://schemas.openxmlformats.org/officeDocument/2006/relationships" xmlns:p188="http://schemas.microsoft.com/office/powerpoint/2018/8/main">
  <p188:cm id="{1B5C390A-1B47-4F75-B1F6-BD0F032E03D1}" authorId="{FA18B807-ABC5-95B2-8636-67E74D52B8AF}" status="resolved" created="2025-06-13T22:51:39.411" complete="100000">
    <ac:deMkLst xmlns:ac="http://schemas.microsoft.com/office/drawing/2013/main/command">
      <pc:docMk xmlns:pc="http://schemas.microsoft.com/office/powerpoint/2013/main/command"/>
      <pc:sldMk xmlns:pc="http://schemas.microsoft.com/office/powerpoint/2013/main/command" cId="1480591320" sldId="2147469948"/>
      <ac:picMk id="21" creationId="{2EF12847-DFA9-A4C7-B712-D6C536F41F9A}"/>
    </ac:deMkLst>
    <p188:replyLst>
      <p188:reply id="{FE21CAB2-0FA4-45BF-8D82-9319582865E3}" authorId="{1D8B8B49-D877-7225-B232-CFDC8C0ACB6F}" created="2025-06-14T02:07:11.678">
        <p188:txBody>
          <a:bodyPr/>
          <a:lstStyle/>
          <a:p>
            <a:r>
              <a:rPr lang="en-US"/>
              <a:t>removed</a:t>
            </a:r>
          </a:p>
        </p188:txBody>
      </p188:reply>
    </p188:replyLst>
    <p188:txBody>
      <a:bodyPr/>
      <a:lstStyle/>
      <a:p>
        <a:r>
          <a:rPr lang="en-US"/>
          <a:t>First sentence in 'current provisions' sounds like it can come out</a:t>
        </a:r>
      </a:p>
    </p188:txBody>
  </p188:cm>
  <p188:cm id="{D207A5C9-C97D-4EB9-A56B-71595BA1EA7C}" authorId="{5ADEADAD-FF68-A420-89FA-C7961B12B531}" status="resolved" created="2025-06-14T16:31:43.899" complete="100000">
    <ac:deMkLst xmlns:ac="http://schemas.microsoft.com/office/drawing/2013/main/command">
      <pc:docMk xmlns:pc="http://schemas.microsoft.com/office/powerpoint/2013/main/command"/>
      <pc:sldMk xmlns:pc="http://schemas.microsoft.com/office/powerpoint/2013/main/command" cId="1480591320" sldId="2147469948"/>
      <ac:picMk id="16" creationId="{6B927D48-CDCE-C9BF-8A81-8D020504512B}"/>
    </ac:deMkLst>
    <p188:replyLst>
      <p188:reply id="{BA27F8BD-00F1-4671-A37D-0D1003C48BF2}" authorId="{1D8B8B49-D877-7225-B232-CFDC8C0ACB6F}" created="2025-06-14T18:50:11.569">
        <p188:txBody>
          <a:bodyPr/>
          <a:lstStyle/>
          <a:p>
            <a:r>
              <a:rPr lang="en-US"/>
              <a:t>updated</a:t>
            </a:r>
          </a:p>
        </p188:txBody>
      </p188:reply>
    </p188:replyLst>
    <p188:txBody>
      <a:bodyPr/>
      <a:lstStyle/>
      <a:p>
        <a:r>
          <a:rPr lang="en-US"/>
          <a:t>Other consideration point - delete "are" from "..ROU assets are on the balance sheet .."</a:t>
        </a:r>
      </a:p>
    </p188:txBody>
  </p188:cm>
</p188:cmLst>
</file>

<file path=ppt/comments/modernComment_7FFFCA7E_CBE29FF5.xml><?xml version="1.0" encoding="utf-8"?>
<p188:cmLst xmlns:a="http://schemas.openxmlformats.org/drawingml/2006/main" xmlns:r="http://schemas.openxmlformats.org/officeDocument/2006/relationships" xmlns:p188="http://schemas.microsoft.com/office/powerpoint/2018/8/main">
  <p188:cm id="{52B2104A-EC9A-4B68-A562-99812C9D13B2}" authorId="{FA18B807-ABC5-95B2-8636-67E74D52B8AF}" status="resolved" created="2025-06-13T22:01:14.524" complete="100000">
    <ac:deMkLst xmlns:ac="http://schemas.microsoft.com/office/drawing/2013/main/command">
      <pc:docMk xmlns:pc="http://schemas.microsoft.com/office/powerpoint/2013/main/command"/>
      <pc:sldMk xmlns:pc="http://schemas.microsoft.com/office/powerpoint/2013/main/command" cId="3420626933" sldId="2147469950"/>
      <ac:spMk id="7" creationId="{931FF0A2-2A99-42E4-98E5-50042316ABF7}"/>
    </ac:deMkLst>
    <p188:replyLst>
      <p188:reply id="{3EBB1B8A-13B9-44B5-85B1-A00EAA152E49}" authorId="{1D8B8B49-D877-7225-B232-CFDC8C0ACB6F}" created="2025-06-13T23:34:00.478">
        <p188:txBody>
          <a:bodyPr/>
          <a:lstStyle/>
          <a:p>
            <a:r>
              <a:rPr lang="en-US"/>
              <a:t>added</a:t>
            </a:r>
          </a:p>
        </p188:txBody>
      </p188:reply>
    </p188:replyLst>
    <p188:txBody>
      <a:bodyPr/>
      <a:lstStyle/>
      <a:p>
        <a:r>
          <a:rPr lang="en-US"/>
          <a:t>QoE adj refs for each adjustment called out in the text please</a:t>
        </a:r>
      </a:p>
    </p188:txBody>
  </p188:cm>
  <p188:cm id="{9D9209E2-107A-4F6F-B68F-97FFEAB4E3F5}" authorId="{FA18B807-ABC5-95B2-8636-67E74D52B8AF}" status="resolved" created="2025-06-13T22:02:09.216" complete="100000">
    <ac:deMkLst xmlns:ac="http://schemas.microsoft.com/office/drawing/2013/main/command">
      <pc:docMk xmlns:pc="http://schemas.microsoft.com/office/powerpoint/2013/main/command"/>
      <pc:sldMk xmlns:pc="http://schemas.microsoft.com/office/powerpoint/2013/main/command" cId="3420626933" sldId="2147469950"/>
      <ac:picMk id="6" creationId="{5712DE70-C394-8E0A-025E-1AC538EF6D66}"/>
    </ac:deMkLst>
    <p188:replyLst>
      <p188:reply id="{4E2EAF14-3BA7-4762-90EE-5A2314AB7B41}" authorId="{1D8B8B49-D877-7225-B232-CFDC8C0ACB6F}" created="2025-06-13T23:34:35.622">
        <p188:txBody>
          <a:bodyPr/>
          <a:lstStyle/>
          <a:p>
            <a:r>
              <a:rPr lang="en-US"/>
              <a:t>updated</a:t>
            </a:r>
          </a:p>
        </p188:txBody>
      </p188:reply>
    </p188:replyLst>
    <p188:txBody>
      <a:bodyPr/>
      <a:lstStyle/>
      <a:p>
        <a:r>
          <a:rPr lang="en-US"/>
          <a:t>Table fixes as noted on previous page</a:t>
        </a:r>
      </a:p>
    </p188:txBody>
  </p188:cm>
</p188:cmLst>
</file>

<file path=ppt/comments/modernComment_7FFFCA8A_F7EA50F0.xml><?xml version="1.0" encoding="utf-8"?>
<p188:cmLst xmlns:a="http://schemas.openxmlformats.org/drawingml/2006/main" xmlns:r="http://schemas.openxmlformats.org/officeDocument/2006/relationships" xmlns:p188="http://schemas.microsoft.com/office/powerpoint/2018/8/main">
  <p188:cm id="{F298A2B1-503F-4E3C-8AF2-FF5890BFFCBE}" authorId="{FA18B807-ABC5-95B2-8636-67E74D52B8AF}" status="resolved" created="2025-06-13T22:03:20.668" complete="100000">
    <ac:txMkLst xmlns:ac="http://schemas.microsoft.com/office/drawing/2013/main/command">
      <pc:docMk xmlns:pc="http://schemas.microsoft.com/office/powerpoint/2013/main/command"/>
      <pc:sldMk xmlns:pc="http://schemas.microsoft.com/office/powerpoint/2013/main/command" cId="4159328496" sldId="2147469962"/>
      <ac:spMk id="16" creationId="{27C922A0-712E-D49A-91C8-6325519BB78F}"/>
      <ac:txMk cp="92" len="9">
        <ac:context len="314" hash="3272302381"/>
      </ac:txMk>
    </ac:txMkLst>
    <p188:pos x="6215064" y="230187"/>
    <p188:replyLst>
      <p188:reply id="{6F550CAF-C4FC-4B9F-8755-DD87816EA85E}" authorId="{1D8B8B49-D877-7225-B232-CFDC8C0ACB6F}" created="2025-06-13T23:46:07.261">
        <p188:txBody>
          <a:bodyPr/>
          <a:lstStyle/>
          <a:p>
            <a:r>
              <a:rPr lang="en-US"/>
              <a:t>added</a:t>
            </a:r>
          </a:p>
        </p188:txBody>
      </p188:reply>
    </p188:replyLst>
    <p188:txBody>
      <a:bodyPr/>
      <a:lstStyle/>
      <a:p>
        <a:r>
          <a:rPr lang="en-US"/>
          <a:t>Do like this for all adjs reffed in banner pls - I hate searching for the adjs we are talking about!</a:t>
        </a:r>
      </a:p>
    </p188:txBody>
  </p188:cm>
  <p188:cm id="{3B998A5D-9949-4F98-95DE-3A13399426AD}" authorId="{FA18B807-ABC5-95B2-8636-67E74D52B8AF}" status="resolved" created="2025-06-13T22:04:23.302" complete="100000">
    <ac:txMkLst xmlns:ac="http://schemas.microsoft.com/office/drawing/2013/main/command">
      <pc:docMk xmlns:pc="http://schemas.microsoft.com/office/powerpoint/2013/main/command"/>
      <pc:sldMk xmlns:pc="http://schemas.microsoft.com/office/powerpoint/2013/main/command" cId="4159328496" sldId="2147469962"/>
      <ac:spMk id="22" creationId="{D5A92B42-CF52-0069-8B48-8E3E6E5DA3A2}"/>
      <ac:txMk cp="146">
        <ac:context len="1043" hash="3714502228"/>
      </ac:txMk>
    </ac:txMkLst>
    <p188:pos x="5087466" y="604157"/>
    <p188:replyLst>
      <p188:reply id="{FAD41605-B5C1-4106-A255-CADC6D091265}" authorId="{1D8B8B49-D877-7225-B232-CFDC8C0ACB6F}" created="2025-06-13T23:35:19.466">
        <p188:txBody>
          <a:bodyPr/>
          <a:lstStyle/>
          <a:p>
            <a:r>
              <a:rPr lang="en-US"/>
              <a:t>To discuss</a:t>
            </a:r>
          </a:p>
        </p188:txBody>
      </p188:reply>
    </p188:replyLst>
    <p188:txBody>
      <a:bodyPr/>
      <a:lstStyle/>
      <a:p>
        <a:r>
          <a:rPr lang="en-US"/>
          <a:t>What does this mean? We are starting from EBITDA so if they are presented below EBITDA why are we adding them back? Why is this relevant?</a:t>
        </a:r>
      </a:p>
    </p188:txBody>
  </p188:cm>
  <p188:cm id="{1B741E1B-F224-420B-B5F3-DF68C724CD4C}" authorId="{FA18B807-ABC5-95B2-8636-67E74D52B8AF}" status="resolved" created="2025-06-13T22:05:23.089" complete="100000">
    <ac:deMkLst xmlns:ac="http://schemas.microsoft.com/office/drawing/2013/main/command">
      <pc:docMk xmlns:pc="http://schemas.microsoft.com/office/powerpoint/2013/main/command"/>
      <pc:sldMk xmlns:pc="http://schemas.microsoft.com/office/powerpoint/2013/main/command" cId="4159328496" sldId="2147469962"/>
      <ac:picMk id="19" creationId="{226841B8-138F-5B56-1986-9B5D88775B07}"/>
    </ac:deMkLst>
    <p188:replyLst>
      <p188:reply id="{A77012A8-03C7-4AF0-B7FB-E295384A4A67}" authorId="{1D8B8B49-D877-7225-B232-CFDC8C0ACB6F}" created="2025-06-13T23:35:49.930">
        <p188:txBody>
          <a:bodyPr/>
          <a:lstStyle/>
          <a:p>
            <a:r>
              <a:rPr lang="en-US"/>
              <a:t>updated</a:t>
            </a:r>
          </a:p>
        </p188:txBody>
      </p188:reply>
    </p188:replyLst>
    <p188:txBody>
      <a:bodyPr/>
      <a:lstStyle/>
      <a:p>
        <a:r>
          <a:rPr lang="en-US"/>
          <a:t>Capital on Legal Claim</a:t>
        </a:r>
      </a:p>
    </p188:txBody>
  </p188:cm>
  <p188:cm id="{591707D4-F542-4AD6-80AC-F68B4E6EED62}" authorId="{FA18B807-ABC5-95B2-8636-67E74D52B8AF}" status="resolved" created="2025-06-13T22:24:36.819" complete="100000">
    <ac:deMkLst xmlns:ac="http://schemas.microsoft.com/office/drawing/2013/main/command">
      <pc:docMk xmlns:pc="http://schemas.microsoft.com/office/powerpoint/2013/main/command"/>
      <pc:sldMk xmlns:pc="http://schemas.microsoft.com/office/powerpoint/2013/main/command" cId="4159328496" sldId="2147469962"/>
      <ac:picMk id="18" creationId="{146647FC-E5ED-A0E1-82BB-48E2EE980BAB}"/>
    </ac:deMkLst>
    <p188:replyLst>
      <p188:reply id="{393F5710-1FB6-4B66-AD1F-4812B9A338DE}" authorId="{1D8B8B49-D877-7225-B232-CFDC8C0ACB6F}" created="2025-06-13T23:46:16.789">
        <p188:txBody>
          <a:bodyPr/>
          <a:lstStyle/>
          <a:p>
            <a:r>
              <a:rPr lang="en-US"/>
              <a:t>Updated throughout</a:t>
            </a:r>
          </a:p>
        </p188:txBody>
      </p188:reply>
    </p188:replyLst>
    <p188:txBody>
      <a:bodyPr/>
      <a:lstStyle/>
      <a:p>
        <a:r>
          <a:rPr lang="en-US"/>
          <a:t>Make sure table stops at buy side diligence adjusted for FY23 and FY24 columns</a:t>
        </a:r>
      </a:p>
    </p188:txBody>
  </p188:cm>
  <p188:cm id="{9463ACE7-BBC0-4651-8604-278DE93F82EE}" authorId="{5ADEADAD-FF68-A420-89FA-C7961B12B531}" status="resolved" created="2025-06-14T15:24:47.500" complete="100000">
    <ac:deMkLst xmlns:ac="http://schemas.microsoft.com/office/drawing/2013/main/command">
      <pc:docMk xmlns:pc="http://schemas.microsoft.com/office/powerpoint/2013/main/command"/>
      <pc:sldMk xmlns:pc="http://schemas.microsoft.com/office/powerpoint/2013/main/command" cId="4159328496" sldId="2147469962"/>
      <ac:spMk id="22" creationId="{D5A92B42-CF52-0069-8B48-8E3E6E5DA3A2}"/>
    </ac:deMkLst>
    <p188:replyLst>
      <p188:reply id="{D484332B-AE0A-4B37-B62C-55093F474DAD}" authorId="{FAED20E5-0035-FA86-DAD3-EFEDF232C9AA}" created="2025-06-14T17:34:04.777">
        <p188:txBody>
          <a:bodyPr/>
          <a:lstStyle/>
          <a:p>
            <a:r>
              <a:rPr lang="en-US"/>
              <a:t>Sell side included TTM, but they never gave full support for TTM, just YTD</a:t>
            </a:r>
          </a:p>
        </p188:txBody>
      </p188:reply>
    </p188:replyLst>
    <p188:txBody>
      <a:bodyPr/>
      <a:lstStyle/>
      <a:p>
        <a:r>
          <a:rPr lang="en-US"/>
          <a:t>In a number of places we state YTD Mar-25 adjustments. Did the sell side work not include TTM Mar-25? If not how have we calculated eg the $(2,773) mgmt TTM adj?</a:t>
        </a:r>
      </a:p>
    </p188:txBody>
  </p188:cm>
</p188:cmLst>
</file>

<file path=ppt/comments/modernComment_7FFFCA8B_CACB43A2.xml><?xml version="1.0" encoding="utf-8"?>
<p188:cmLst xmlns:a="http://schemas.openxmlformats.org/drawingml/2006/main" xmlns:r="http://schemas.openxmlformats.org/officeDocument/2006/relationships" xmlns:p188="http://schemas.microsoft.com/office/powerpoint/2018/8/main">
  <p188:cm id="{AA17B6D9-AE7C-43FA-A028-6127FA888FF0}" authorId="{5ADEADAD-FF68-A420-89FA-C7961B12B531}" status="resolved" created="2025-06-14T15:27:12.748" complete="100000">
    <ac:txMkLst xmlns:ac="http://schemas.microsoft.com/office/drawing/2013/main/command">
      <pc:docMk xmlns:pc="http://schemas.microsoft.com/office/powerpoint/2013/main/command"/>
      <pc:sldMk xmlns:pc="http://schemas.microsoft.com/office/powerpoint/2013/main/command" cId="3402318754" sldId="2147469963"/>
      <ac:spMk id="22" creationId="{D5A92B42-CF52-0069-8B48-8E3E6E5DA3A2}"/>
      <ac:txMk cp="257" len="7">
        <ac:context len="1723" hash="4252011205"/>
      </ac:txMk>
    </ac:txMkLst>
    <p188:pos x="3246076" y="756640"/>
    <p188:replyLst>
      <p188:reply id="{0C6BADBC-7E6B-45D2-A848-422E42C519B0}" authorId="{1D8B8B49-D877-7225-B232-CFDC8C0ACB6F}" created="2025-06-14T18:13:59.433">
        <p188:txBody>
          <a:bodyPr/>
          <a:lstStyle/>
          <a:p>
            <a:r>
              <a:rPr lang="en-US"/>
              <a:t>It reverses a release - updated</a:t>
            </a:r>
          </a:p>
        </p188:txBody>
      </p188:reply>
    </p188:replyLst>
    <p188:txBody>
      <a:bodyPr/>
      <a:lstStyle/>
      <a:p>
        <a:r>
          <a:rPr lang="en-US"/>
          <a:t>Does the adj release or reverse a release?</a:t>
        </a:r>
      </a:p>
    </p188:txBody>
  </p188:cm>
</p188:cmLst>
</file>

<file path=ppt/comments/modernComment_7FFFCA8C_2B71E51C.xml><?xml version="1.0" encoding="utf-8"?>
<p188:cmLst xmlns:a="http://schemas.openxmlformats.org/drawingml/2006/main" xmlns:r="http://schemas.openxmlformats.org/officeDocument/2006/relationships" xmlns:p188="http://schemas.microsoft.com/office/powerpoint/2018/8/main">
  <p188:cm id="{F7C30B28-00FF-453A-BFA8-C7E312A5A48C}" authorId="{FA18B807-ABC5-95B2-8636-67E74D52B8AF}" status="resolved" created="2025-06-13T22:26:03.433" complete="100000">
    <ac:txMkLst xmlns:ac="http://schemas.microsoft.com/office/drawing/2013/main/command">
      <pc:docMk xmlns:pc="http://schemas.microsoft.com/office/powerpoint/2013/main/command"/>
      <pc:sldMk xmlns:pc="http://schemas.microsoft.com/office/powerpoint/2013/main/command" cId="728884508" sldId="2147469964"/>
      <ac:spMk id="22" creationId="{D5A92B42-CF52-0069-8B48-8E3E6E5DA3A2}"/>
      <ac:txMk cp="1804">
        <ac:context len="1805" hash="1244891238"/>
      </ac:txMk>
    </ac:txMkLst>
    <p188:pos x="5249391" y="4280807"/>
    <p188:replyLst>
      <p188:reply id="{FC8FA830-9DA2-458C-91A4-764FE1068366}" authorId="{1D8B8B49-D877-7225-B232-CFDC8C0ACB6F}" created="2025-06-13T23:49:32.531">
        <p188:txBody>
          <a:bodyPr/>
          <a:lstStyle/>
          <a:p>
            <a:r>
              <a:rPr lang="en-US"/>
              <a:t>moved</a:t>
            </a:r>
          </a:p>
        </p188:txBody>
      </p188:reply>
    </p188:replyLst>
    <p188:txBody>
      <a:bodyPr/>
      <a:lstStyle/>
      <a:p>
        <a:r>
          <a:rPr lang="en-US"/>
          <a:t>J can go on next page</a:t>
        </a:r>
      </a:p>
    </p188:txBody>
  </p188:cm>
</p188:cmLst>
</file>

<file path=ppt/comments/modernComment_7FFFCA9A_D17E8649.xml><?xml version="1.0" encoding="utf-8"?>
<p188:cmLst xmlns:a="http://schemas.openxmlformats.org/drawingml/2006/main" xmlns:r="http://schemas.openxmlformats.org/officeDocument/2006/relationships" xmlns:p188="http://schemas.microsoft.com/office/powerpoint/2018/8/main">
  <p188:cm id="{1199E092-F259-429E-A5C1-CA2A54BCB46E}" authorId="{FA18B807-ABC5-95B2-8636-67E74D52B8AF}" status="resolved" created="2025-06-13T23:56:13.526" complete="100000">
    <ac:txMkLst xmlns:ac="http://schemas.microsoft.com/office/drawing/2013/main/command">
      <pc:docMk xmlns:pc="http://schemas.microsoft.com/office/powerpoint/2013/main/command"/>
      <pc:sldMk xmlns:pc="http://schemas.microsoft.com/office/powerpoint/2013/main/command" cId="3514730057" sldId="2147469978"/>
      <ac:spMk id="6" creationId="{6024E5AC-3688-475C-8BDD-5ECC42457A0D}"/>
      <ac:txMk cp="1160">
        <ac:context len="1949" hash="2207936920"/>
      </ac:txMk>
    </ac:txMkLst>
    <p188:pos x="1521046" y="3225641"/>
    <p188:replyLst>
      <p188:reply id="{54E1EB63-0DEC-433A-AA48-CAE53A5FFDBC}" authorId="{FA18B807-ABC5-95B2-8636-67E74D52B8AF}" created="2025-06-13T23:57:51.403">
        <p188:txBody>
          <a:bodyPr/>
          <a:lstStyle/>
          <a:p>
            <a:r>
              <a:rPr lang="en-US"/>
              <a:t>It's better to say what proportion of ARR is made up of long term contracts as this is all apples to apples - see mark up to headlines.</a:t>
            </a:r>
          </a:p>
        </p188:txBody>
      </p188:reply>
      <p188:reply id="{4ACA8A2E-96B8-4D06-A899-0167328DBB3E}" authorId="{1D8B8B49-D877-7225-B232-CFDC8C0ACB6F}" created="2025-06-14T01:32:24.146">
        <p188:txBody>
          <a:bodyPr/>
          <a:lstStyle/>
          <a:p>
            <a:r>
              <a:rPr lang="en-US"/>
              <a:t>updated</a:t>
            </a:r>
          </a:p>
        </p188:txBody>
      </p188:reply>
    </p188:replyLst>
    <p188:txBody>
      <a:bodyPr/>
      <a:lstStyle/>
      <a:p>
        <a:r>
          <a:rPr lang="en-US"/>
          <a:t>What is the $10m?</a:t>
        </a:r>
      </a:p>
    </p188:txBody>
  </p188:cm>
  <p188:cm id="{72076816-DE1F-46F3-86A1-25C0EB03D5C7}" authorId="{FA18B807-ABC5-95B2-8636-67E74D52B8AF}" status="resolved" created="2025-06-13T23:58:24.819" complete="100000">
    <ac:txMkLst xmlns:ac="http://schemas.microsoft.com/office/drawing/2013/main/command">
      <pc:docMk xmlns:pc="http://schemas.microsoft.com/office/powerpoint/2013/main/command"/>
      <pc:sldMk xmlns:pc="http://schemas.microsoft.com/office/powerpoint/2013/main/command" cId="3514730057" sldId="2147469978"/>
      <ac:spMk id="6" creationId="{6024E5AC-3688-475C-8BDD-5ECC42457A0D}"/>
      <ac:txMk cp="1938">
        <ac:context len="1949" hash="2207936920"/>
      </ac:txMk>
    </ac:txMkLst>
    <p188:pos x="3959446" y="4444841"/>
    <p188:replyLst>
      <p188:reply id="{A7C8A9AF-6C9E-4E2E-9EEC-D64BC3C4C5BB}" authorId="{1D8B8B49-D877-7225-B232-CFDC8C0ACB6F}" created="2025-06-14T01:33:04.744">
        <p188:txBody>
          <a:bodyPr/>
          <a:lstStyle/>
          <a:p>
            <a:r>
              <a:rPr lang="en-US"/>
              <a:t>added</a:t>
            </a:r>
          </a:p>
        </p188:txBody>
      </p188:reply>
    </p188:replyLst>
    <p188:txBody>
      <a:bodyPr/>
      <a:lstStyle/>
      <a:p>
        <a:r>
          <a:rPr lang="en-US"/>
          <a:t>Sq bracket</a:t>
        </a:r>
      </a:p>
    </p188:txBody>
  </p188:cm>
  <p188:cm id="{E3B1A63D-3586-4A69-99C2-49A0215FAAF1}" authorId="{5ADEADAD-FF68-A420-89FA-C7961B12B531}" status="resolved" created="2025-06-14T16:06:09.341" complete="100000">
    <ac:txMkLst xmlns:ac="http://schemas.microsoft.com/office/drawing/2013/main/command">
      <pc:docMk xmlns:pc="http://schemas.microsoft.com/office/powerpoint/2013/main/command"/>
      <pc:sldMk xmlns:pc="http://schemas.microsoft.com/office/powerpoint/2013/main/command" cId="3514730057" sldId="2147469978"/>
      <ac:spMk id="6" creationId="{6024E5AC-3688-475C-8BDD-5ECC42457A0D}"/>
      <ac:txMk cp="330" len="3">
        <ac:context len="1949" hash="2207936920"/>
      </ac:txMk>
    </ac:txMkLst>
    <p188:pos x="1054155" y="1033814"/>
    <p188:replyLst>
      <p188:reply id="{D9D0E26B-8A6C-4F75-89FA-30407235F6B9}" authorId="{1D8B8B49-D877-7225-B232-CFDC8C0ACB6F}" created="2025-06-14T17:50:31.381">
        <p188:txBody>
          <a:bodyPr/>
          <a:lstStyle/>
          <a:p>
            <a:r>
              <a:rPr lang="en-US"/>
              <a:t>updated</a:t>
            </a:r>
          </a:p>
        </p188:txBody>
      </p188:reply>
    </p188:replyLst>
    <p188:txBody>
      <a:bodyPr/>
      <a:lstStyle/>
      <a:p>
        <a:r>
          <a:rPr lang="en-US"/>
          <a:t>"years" in table</a:t>
        </a:r>
      </a:p>
    </p188:txBody>
  </p188:cm>
  <p188:cm id="{E6E1B577-2FF4-436E-91D3-5355F79D1020}" authorId="{5ADEADAD-FF68-A420-89FA-C7961B12B531}" status="resolved" created="2025-06-14T16:07:22.993" complete="100000">
    <ac:txMkLst xmlns:ac="http://schemas.microsoft.com/office/drawing/2013/main/command">
      <pc:docMk xmlns:pc="http://schemas.microsoft.com/office/powerpoint/2013/main/command"/>
      <pc:sldMk xmlns:pc="http://schemas.microsoft.com/office/powerpoint/2013/main/command" cId="3514730057" sldId="2147469978"/>
      <ac:spMk id="6" creationId="{6024E5AC-3688-475C-8BDD-5ECC42457A0D}"/>
      <ac:txMk cp="1927" len="19">
        <ac:context len="1949" hash="2207936920"/>
      </ac:txMk>
    </ac:txMkLst>
    <p188:pos x="2533098" y="4309752"/>
    <p188:replyLst>
      <p188:reply id="{40334FE5-0B1A-40D8-9616-740C5BA7EAAF}" authorId="{FAED20E5-0035-FA86-DAD3-EFEDF232C9AA}" created="2025-06-14T17:58:27.605">
        <p188:txBody>
          <a:bodyPr/>
          <a:lstStyle/>
          <a:p>
            <a:r>
              <a:rPr lang="en-US"/>
              <a:t>Done</a:t>
            </a:r>
          </a:p>
        </p188:txBody>
      </p188:reply>
    </p188:replyLst>
    <p188:txBody>
      <a:bodyPr/>
      <a:lstStyle/>
      <a:p>
        <a:r>
          <a:rPr lang="en-US"/>
          <a:t>Reword </a:t>
        </a:r>
      </a:p>
    </p188:txBody>
  </p188:cm>
  <p188:cm id="{782208BE-771B-4751-BB23-D2872D2F5B77}" authorId="{1D8B8B49-D877-7225-B232-CFDC8C0ACB6F}" status="resolved" created="2025-06-14T17:35:26.744" complete="100000">
    <ac:txMkLst xmlns:ac="http://schemas.microsoft.com/office/drawing/2013/main/command">
      <pc:docMk xmlns:pc="http://schemas.microsoft.com/office/powerpoint/2013/main/command"/>
      <pc:sldMk xmlns:pc="http://schemas.microsoft.com/office/powerpoint/2013/main/command" cId="3514730057" sldId="2147469978"/>
      <ac:spMk id="6" creationId="{6024E5AC-3688-475C-8BDD-5ECC42457A0D}"/>
      <ac:txMk cp="1459">
        <ac:context len="1949" hash="2207936920"/>
      </ac:txMk>
    </ac:txMkLst>
    <p188:pos x="4327669" y="3337850"/>
    <p188:replyLst>
      <p188:reply id="{9091BB23-9FBA-4E8B-AE66-0A376A320362}" authorId="{1D8B8B49-D877-7225-B232-CFDC8C0ACB6F}" created="2025-06-14T18:48:04.922">
        <p188:txBody>
          <a:bodyPr/>
          <a:lstStyle/>
          <a:p>
            <a:r>
              <a:rPr lang="en-US"/>
              <a:t>Updated comments here</a:t>
            </a:r>
          </a:p>
        </p188:txBody>
      </p188:reply>
    </p188:replyLst>
    <p188:txBody>
      <a:bodyPr/>
      <a:lstStyle/>
      <a:p>
        <a:r>
          <a:rPr lang="en-US"/>
          <a:t>Alex: As before - do we know this to be true, or should we qualify the language ?</a:t>
        </a:r>
      </a:p>
    </p188:txBody>
  </p188:cm>
</p188:cmLst>
</file>

<file path=ppt/comments/modernComment_7FFFCA9B_81CFFE9C.xml><?xml version="1.0" encoding="utf-8"?>
<p188:cmLst xmlns:a="http://schemas.openxmlformats.org/drawingml/2006/main" xmlns:r="http://schemas.openxmlformats.org/officeDocument/2006/relationships" xmlns:p188="http://schemas.microsoft.com/office/powerpoint/2018/8/main">
  <p188:cm id="{0A79DB5A-21FB-4727-91CB-E1A2F239BA72}" authorId="{FA18B807-ABC5-95B2-8636-67E74D52B8AF}" status="resolved" created="2025-06-14T00:01:28.065" complete="100000">
    <ac:txMkLst xmlns:ac="http://schemas.microsoft.com/office/drawing/2013/main/command">
      <pc:docMk xmlns:pc="http://schemas.microsoft.com/office/powerpoint/2013/main/command"/>
      <pc:sldMk xmlns:pc="http://schemas.microsoft.com/office/powerpoint/2013/main/command" cId="2177891996" sldId="2147469979"/>
      <ac:spMk id="11" creationId="{0C7B2154-7CA3-96CF-6AD2-BB45D064C649}"/>
      <ac:txMk cp="335" len="1">
        <ac:context len="337" hash="2883952891"/>
      </ac:txMk>
    </ac:txMkLst>
    <p188:pos x="2509839" y="534987"/>
    <p188:txBody>
      <a:bodyPr/>
      <a:lstStyle/>
      <a:p>
        <a:r>
          <a:rPr lang="en-US"/>
          <a:t>Also fixed assets are super low - less than $100k in total - is it worth mentioning that here? Or are we talking about intangible asset capex?</a:t>
        </a:r>
      </a:p>
    </p188:txBody>
  </p188:cm>
</p188:cmLst>
</file>

<file path=ppt/comments/modernComment_7FFFCA9C_7E796DE5.xml><?xml version="1.0" encoding="utf-8"?>
<p188:cmLst xmlns:a="http://schemas.openxmlformats.org/drawingml/2006/main" xmlns:r="http://schemas.openxmlformats.org/officeDocument/2006/relationships" xmlns:p188="http://schemas.microsoft.com/office/powerpoint/2018/8/main">
  <p188:cm id="{7D8B00CC-1EE5-49DC-B08A-A44D148A6BB3}" authorId="{FA18B807-ABC5-95B2-8636-67E74D52B8AF}" status="resolved" created="2025-06-14T00:08:32.600" complete="100000">
    <ac:deMkLst xmlns:ac="http://schemas.microsoft.com/office/drawing/2013/main/command">
      <pc:docMk xmlns:pc="http://schemas.microsoft.com/office/powerpoint/2013/main/command"/>
      <pc:sldMk xmlns:pc="http://schemas.microsoft.com/office/powerpoint/2013/main/command" cId="2121887205" sldId="2147469980"/>
      <ac:picMk id="23" creationId="{8DA2E803-0A92-F57D-461B-80CE203B3EF0}"/>
    </ac:deMkLst>
    <p188:replyLst>
      <p188:reply id="{39083867-3D22-467D-9933-2CC2CCA263DF}" authorId="{1D8B8B49-D877-7225-B232-CFDC8C0ACB6F}" created="2025-06-14T01:41:11.148">
        <p188:txBody>
          <a:bodyPr/>
          <a:lstStyle/>
          <a:p>
            <a:r>
              <a:rPr lang="en-US"/>
              <a:t>updated</a:t>
            </a:r>
          </a:p>
        </p188:txBody>
      </p188:reply>
    </p188:replyLst>
    <p188:txBody>
      <a:bodyPr/>
      <a:lstStyle/>
      <a:p>
        <a:r>
          <a:rPr lang="en-US"/>
          <a:t>Numbers not bullets (little bubbles easiest at this stage)</a:t>
        </a:r>
      </a:p>
    </p188:txBody>
  </p188:cm>
  <p188:cm id="{2D4F5FB6-124E-4D0D-9F2A-218ABB3614FE}" authorId="{5ADEADAD-FF68-A420-89FA-C7961B12B531}" status="resolved" created="2025-06-14T16:11:46.159" complete="100000">
    <ac:txMkLst xmlns:ac="http://schemas.microsoft.com/office/drawing/2013/main/command">
      <pc:docMk xmlns:pc="http://schemas.microsoft.com/office/powerpoint/2013/main/command"/>
      <pc:sldMk xmlns:pc="http://schemas.microsoft.com/office/powerpoint/2013/main/command" cId="2121887205" sldId="2147469980"/>
      <ac:spMk id="13" creationId="{D225D19F-91F7-BB50-9A4C-C551C3D5129A}"/>
      <ac:txMk cp="251">
        <ac:context len="393" hash="1432848736"/>
      </ac:txMk>
    </ac:txMkLst>
    <p188:pos x="4777286" y="339186"/>
    <p188:replyLst>
      <p188:reply id="{AA3CBA50-B093-4CAE-8916-73E3B991543F}" authorId="{FAED20E5-0035-FA86-DAD3-EFEDF232C9AA}" created="2025-06-14T17:40:42.773">
        <p188:txBody>
          <a:bodyPr/>
          <a:lstStyle/>
          <a:p>
            <a:r>
              <a:rPr lang="en-US"/>
              <a:t>moved</a:t>
            </a:r>
          </a:p>
        </p188:txBody>
      </p188:reply>
    </p188:replyLst>
    <p188:txBody>
      <a:bodyPr/>
      <a:lstStyle/>
      <a:p>
        <a:r>
          <a:rPr lang="en-US"/>
          <a:t>Move adj ref to after divestments</a:t>
        </a:r>
      </a:p>
    </p188:txBody>
  </p188:cm>
  <p188:cm id="{8CFB055A-D689-4055-A681-EC6C62DA1818}" authorId="{5ADEADAD-FF68-A420-89FA-C7961B12B531}" status="resolved" created="2025-06-14T16:12:14.775" complete="100000">
    <ac:txMkLst xmlns:ac="http://schemas.microsoft.com/office/drawing/2013/main/command">
      <pc:docMk xmlns:pc="http://schemas.microsoft.com/office/powerpoint/2013/main/command"/>
      <pc:sldMk xmlns:pc="http://schemas.microsoft.com/office/powerpoint/2013/main/command" cId="2121887205" sldId="2147469980"/>
      <ac:spMk id="7" creationId="{863116BA-8BAE-48BD-8189-4BDC91B115C9}"/>
      <ac:txMk cp="151">
        <ac:context len="1923" hash="3642087918"/>
      </ac:txMk>
    </ac:txMkLst>
    <p188:pos x="1164024" y="604444"/>
    <p188:replyLst>
      <p188:reply id="{A821AA14-CA60-4D51-A598-112CDDC01711}" authorId="{FAED20E5-0035-FA86-DAD3-EFEDF232C9AA}" created="2025-06-14T17:41:15.422">
        <p188:txBody>
          <a:bodyPr/>
          <a:lstStyle/>
          <a:p>
            <a:r>
              <a:rPr lang="en-US"/>
              <a:t>fixed</a:t>
            </a:r>
          </a:p>
        </p188:txBody>
      </p188:reply>
    </p188:replyLst>
    <p188:txBody>
      <a:bodyPr/>
      <a:lstStyle/>
      <a:p>
        <a:r>
          <a:rPr lang="en-US"/>
          <a:t>who vs which?</a:t>
        </a:r>
      </a:p>
    </p188:txBody>
  </p188:cm>
  <p188:cm id="{D4816EBA-4F8A-4676-B63E-C91BA89329F6}" authorId="{5ADEADAD-FF68-A420-89FA-C7961B12B531}" status="resolved" created="2025-06-14T16:13:42.051" complete="100000">
    <ac:txMkLst xmlns:ac="http://schemas.microsoft.com/office/drawing/2013/main/command">
      <pc:docMk xmlns:pc="http://schemas.microsoft.com/office/powerpoint/2013/main/command"/>
      <pc:sldMk xmlns:pc="http://schemas.microsoft.com/office/powerpoint/2013/main/command" cId="2121887205" sldId="2147469980"/>
      <ac:spMk id="7" creationId="{863116BA-8BAE-48BD-8189-4BDC91B115C9}"/>
      <ac:txMk cp="1607" len="18">
        <ac:context len="1923" hash="3642087918"/>
      </ac:txMk>
    </ac:txMkLst>
    <p188:pos x="6046125" y="3347644"/>
    <p188:replyLst>
      <p188:reply id="{B4BC1F0F-EA4A-4FAA-9454-E20846BE8DA8}" authorId="{FAED20E5-0035-FA86-DAD3-EFEDF232C9AA}" created="2025-06-14T17:42:08.647">
        <p188:txBody>
          <a:bodyPr/>
          <a:lstStyle/>
          <a:p>
            <a:r>
              <a:rPr lang="en-US"/>
              <a:t>reworded</a:t>
            </a:r>
          </a:p>
        </p188:txBody>
      </p188:reply>
    </p188:replyLst>
    <p188:txBody>
      <a:bodyPr/>
      <a:lstStyle/>
      <a:p>
        <a:r>
          <a:rPr lang="en-US"/>
          <a:t>Reword please</a:t>
        </a:r>
      </a:p>
    </p188:txBody>
  </p188:cm>
</p188:cmLst>
</file>

<file path=ppt/comments/modernComment_7FFFCA9E_5B4DFB97.xml><?xml version="1.0" encoding="utf-8"?>
<p188:cmLst xmlns:a="http://schemas.openxmlformats.org/drawingml/2006/main" xmlns:r="http://schemas.openxmlformats.org/officeDocument/2006/relationships" xmlns:p188="http://schemas.microsoft.com/office/powerpoint/2018/8/main">
  <p188:cm id="{B46D3630-B6F1-4AD6-973F-239DDE98CF09}" authorId="{FA18B807-ABC5-95B2-8636-67E74D52B8AF}" status="resolved" created="2025-06-13T22:35:59.644" complete="100000">
    <ac:deMkLst xmlns:ac="http://schemas.microsoft.com/office/drawing/2013/main/command">
      <pc:docMk xmlns:pc="http://schemas.microsoft.com/office/powerpoint/2013/main/command"/>
      <pc:sldMk xmlns:pc="http://schemas.microsoft.com/office/powerpoint/2013/main/command" cId="1531837335" sldId="2147469982"/>
      <ac:picMk id="21" creationId="{B5798868-02B1-E5BB-0A17-6CA5C433F11E}"/>
    </ac:deMkLst>
    <p188:replyLst>
      <p188:reply id="{7618AC55-17B0-4E40-BF36-2A54F08FD256}" authorId="{1D8B8B49-D877-7225-B232-CFDC8C0ACB6F}" created="2025-06-13T23:45:18.063">
        <p188:txBody>
          <a:bodyPr/>
          <a:lstStyle/>
          <a:p>
            <a:r>
              <a:rPr lang="en-US"/>
              <a:t>updated</a:t>
            </a:r>
          </a:p>
        </p188:txBody>
      </p188:reply>
    </p188:replyLst>
    <p188:txBody>
      <a:bodyPr/>
      <a:lstStyle/>
      <a:p>
        <a:r>
          <a:rPr lang="en-US"/>
          <a:t>Update table as noted and throughout section</a:t>
        </a:r>
      </a:p>
    </p188:txBody>
  </p188:cm>
</p188:cmLst>
</file>

<file path=ppt/comments/modernComment_7FFFCA9F_D7325F40.xml><?xml version="1.0" encoding="utf-8"?>
<p188:cmLst xmlns:a="http://schemas.openxmlformats.org/drawingml/2006/main" xmlns:r="http://schemas.openxmlformats.org/officeDocument/2006/relationships" xmlns:p188="http://schemas.microsoft.com/office/powerpoint/2018/8/main">
  <p188:cm id="{6C25A5E9-C9AD-4301-A899-07F0DABC5EB0}" authorId="{FA18B807-ABC5-95B2-8636-67E74D52B8AF}" status="resolved" created="2025-06-13T20:26:32.246" complete="100000">
    <ac:deMkLst xmlns:ac="http://schemas.microsoft.com/office/drawing/2013/main/command">
      <pc:docMk xmlns:pc="http://schemas.microsoft.com/office/powerpoint/2013/main/command"/>
      <pc:sldMk xmlns:pc="http://schemas.microsoft.com/office/powerpoint/2013/main/command" cId="3610402624" sldId="2147469983"/>
      <ac:picMk id="23" creationId="{9ECC0362-E55C-C783-F955-E07218846FCF}"/>
    </ac:deMkLst>
    <p188:replyLst>
      <p188:reply id="{16628E00-DB66-403B-99EB-1747C60D3A28}" authorId="{1D8B8B49-D877-7225-B232-CFDC8C0ACB6F}" created="2025-06-13T23:59:30.955">
        <p188:txBody>
          <a:bodyPr/>
          <a:lstStyle/>
          <a:p>
            <a:r>
              <a:rPr lang="en-US"/>
              <a:t>Added a table (reconciles to EBITDA + management adjustments)</a:t>
            </a:r>
          </a:p>
        </p188:txBody>
      </p188:reply>
    </p188:replyLst>
    <p188:txBody>
      <a:bodyPr/>
      <a:lstStyle/>
      <a:p>
        <a:r>
          <a:rPr lang="en-US"/>
          <a:t>Do you have a view of net EBITDA inflow / outflow by currency to show alongside this?</a:t>
        </a:r>
      </a:p>
    </p188:txBody>
  </p188:cm>
  <p188:cm id="{1ECB8D55-76C8-4C70-AA79-2FF5CD4C30A3}" authorId="{FA18B807-ABC5-95B2-8636-67E74D52B8AF}" status="resolved" created="2025-06-13T22:37:25.873" complete="100000">
    <ac:txMkLst xmlns:ac="http://schemas.microsoft.com/office/drawing/2013/main/command">
      <pc:docMk xmlns:pc="http://schemas.microsoft.com/office/powerpoint/2013/main/command"/>
      <pc:sldMk xmlns:pc="http://schemas.microsoft.com/office/powerpoint/2013/main/command" cId="3610402624" sldId="2147469983"/>
      <ac:spMk id="22" creationId="{D5A92B42-CF52-0069-8B48-8E3E6E5DA3A2}"/>
      <ac:txMk cp="526">
        <ac:context len="778" hash="155425063"/>
      </ac:txMk>
    </ac:txMkLst>
    <p188:pos x="5049366" y="1480457"/>
    <p188:txBody>
      <a:bodyPr/>
      <a:lstStyle/>
      <a:p>
        <a:r>
          <a:rPr lang="en-US"/>
          <a:t>Show don't tell...</a:t>
        </a:r>
      </a:p>
    </p188:txBody>
  </p188:cm>
  <p188:cm id="{D1438D96-FF8B-4975-B245-78DFB18861A4}" authorId="{FA18B807-ABC5-95B2-8636-67E74D52B8AF}" status="resolved" created="2025-06-13T22:38:59.245" complete="100000">
    <ac:txMkLst xmlns:ac="http://schemas.microsoft.com/office/drawing/2013/main/command">
      <pc:docMk xmlns:pc="http://schemas.microsoft.com/office/powerpoint/2013/main/command"/>
      <pc:sldMk xmlns:pc="http://schemas.microsoft.com/office/powerpoint/2013/main/command" cId="3610402624" sldId="2147469983"/>
      <ac:spMk id="22" creationId="{D5A92B42-CF52-0069-8B48-8E3E6E5DA3A2}"/>
      <ac:txMk cp="526" len="250">
        <ac:context len="778" hash="155425063"/>
      </ac:txMk>
    </ac:txMkLst>
    <p188:pos x="5297016" y="2166257"/>
    <p188:replyLst>
      <p188:reply id="{30A609CD-6CD1-49F5-8E52-6ED9353F2A9E}" authorId="{1D8B8B49-D877-7225-B232-CFDC8C0ACB6F}" created="2025-06-13T23:59:43.001">
        <p188:txBody>
          <a:bodyPr/>
          <a:lstStyle/>
          <a:p>
            <a:r>
              <a:rPr lang="en-US"/>
              <a:t>Added table</a:t>
            </a:r>
          </a:p>
        </p188:txBody>
      </p188:reply>
    </p188:replyLst>
    <p188:txBody>
      <a:bodyPr/>
      <a:lstStyle/>
      <a:p>
        <a:r>
          <a:rPr lang="en-US"/>
          <a:t>It's hard to know why / whether this makes sense without being able to see the inflows / outflows by currency. A strengthening of the EUR means net EUR inflows?</a:t>
        </a:r>
      </a:p>
    </p188:txBody>
  </p188:cm>
</p188:cmLst>
</file>

<file path=ppt/comments/modernComment_7FFFCA65_755BD434.xml><?xml version="1.0" encoding="utf-8"?>
<p188:cmLst xmlns:a="http://schemas.openxmlformats.org/drawingml/2006/main" xmlns:r="http://schemas.openxmlformats.org/officeDocument/2006/relationships" xmlns:p188="http://schemas.microsoft.com/office/powerpoint/2018/8/main">
  <p188:cm id="{8257DEDB-E159-498D-AD89-07845DF8A301}" authorId="{5ADEADAD-FF68-A420-89FA-C7961B12B531}" status="resolved" created="2025-06-14T14:18:25.632" complete="100000">
    <ac:deMkLst xmlns:ac="http://schemas.microsoft.com/office/drawing/2013/main/command">
      <pc:docMk xmlns:pc="http://schemas.microsoft.com/office/powerpoint/2013/main/command"/>
      <pc:sldMk xmlns:pc="http://schemas.microsoft.com/office/powerpoint/2013/main/command" cId="1968952372" sldId="2147469925"/>
      <ac:picMk id="6" creationId="{FE81C195-F3AF-6E21-2270-139639B29D0F}"/>
    </ac:deMkLst>
    <p188:replyLst>
      <p188:reply id="{055B3525-D22C-49B5-809D-D45AF25AD452}" authorId="{FAED20E5-0035-FA86-DAD3-EFEDF232C9AA}" created="2025-06-14T17:21:09.022">
        <p188:txBody>
          <a:bodyPr/>
          <a:lstStyle/>
          <a:p>
            <a:r>
              <a:rPr lang="en-US"/>
              <a:t>I think this R is there by mistake...</a:t>
            </a:r>
          </a:p>
        </p188:txBody>
      </p188:reply>
      <p188:reply id="{6A8CDCFF-41F0-4AFF-80E7-269E18752CDD}" authorId="{1D8B8B49-D877-7225-B232-CFDC8C0ACB6F}" created="2025-06-14T17:41:18.233">
        <p188:txBody>
          <a:bodyPr/>
          <a:lstStyle/>
          <a:p>
            <a:r>
              <a:rPr lang="en-US"/>
              <a:t>updated</a:t>
            </a:r>
          </a:p>
        </p188:txBody>
      </p188:reply>
    </p188:replyLst>
    <p188:txBody>
      <a:bodyPr/>
      <a:lstStyle/>
      <a:p>
        <a:r>
          <a:rPr lang="en-US"/>
          <a:t>What does WCR stand for ("Trade WCR")?</a:t>
        </a:r>
      </a:p>
    </p188:txBody>
  </p188:cm>
  <p188:cm id="{86070A94-B56F-407F-9BFB-E50B02B3C6CB}" authorId="{5ADEADAD-FF68-A420-89FA-C7961B12B531}" status="resolved" created="2025-06-14T14:19:20.552" complete="100000">
    <ac:deMkLst xmlns:ac="http://schemas.microsoft.com/office/drawing/2013/main/command">
      <pc:docMk xmlns:pc="http://schemas.microsoft.com/office/powerpoint/2013/main/command"/>
      <pc:sldMk xmlns:pc="http://schemas.microsoft.com/office/powerpoint/2013/main/command" cId="1968952372" sldId="2147469925"/>
      <ac:picMk id="6" creationId="{FE81C195-F3AF-6E21-2270-139639B29D0F}"/>
    </ac:deMkLst>
    <p188:replyLst>
      <p188:reply id="{799E9EF0-448A-4A31-9D70-9B34AD1DE670}" authorId="{1D8B8B49-D877-7225-B232-CFDC8C0ACB6F}" created="2025-06-14T17:41:24.517">
        <p188:txBody>
          <a:bodyPr/>
          <a:lstStyle/>
          <a:p>
            <a:r>
              <a:rPr lang="en-US"/>
              <a:t>Added reported</a:t>
            </a:r>
          </a:p>
        </p188:txBody>
      </p188:reply>
    </p188:replyLst>
    <p188:txBody>
      <a:bodyPr/>
      <a:lstStyle/>
      <a:p>
        <a:r>
          <a:rPr lang="en-US"/>
          <a:t>Include "reported" in header for BS?</a:t>
        </a:r>
      </a:p>
    </p188:txBody>
  </p188:cm>
</p188:cmLst>
</file>

<file path=ppt/comments/modernComment_7FFFCA75_8DB0B776.xml><?xml version="1.0" encoding="utf-8"?>
<p188:cmLst xmlns:a="http://schemas.openxmlformats.org/drawingml/2006/main" xmlns:r="http://schemas.openxmlformats.org/officeDocument/2006/relationships" xmlns:p188="http://schemas.microsoft.com/office/powerpoint/2018/8/main">
  <p188:cm id="{449C12C5-2DF6-42D8-805F-5166973D41DF}" authorId="{FA18B807-ABC5-95B2-8636-67E74D52B8AF}" status="resolved" created="2025-06-13T20:32:58.406" complete="100000">
    <ac:deMkLst xmlns:ac="http://schemas.microsoft.com/office/drawing/2013/main/command">
      <pc:docMk xmlns:pc="http://schemas.microsoft.com/office/powerpoint/2013/main/command"/>
      <pc:sldMk xmlns:pc="http://schemas.microsoft.com/office/powerpoint/2013/main/command" cId="2377168758" sldId="2147469941"/>
      <ac:picMk id="8" creationId="{00FFEDB4-E9FD-68D5-CC70-AB5052343A94}"/>
    </ac:deMkLst>
    <p188:replyLst>
      <p188:reply id="{A855848A-5C4F-4BA9-81D0-545732A02179}" authorId="{FAED20E5-0035-FA86-DAD3-EFEDF232C9AA}" created="2025-06-13T22:03:43.499">
        <p188:txBody>
          <a:bodyPr/>
          <a:lstStyle/>
          <a:p>
            <a:r>
              <a:rPr lang="en-US"/>
              <a:t>Taken from the latest proposal AM shared </a:t>
            </a:r>
          </a:p>
        </p188:txBody>
      </p188:reply>
    </p188:replyLst>
    <p188:txBody>
      <a:bodyPr/>
      <a:lstStyle/>
      <a:p>
        <a:r>
          <a:rPr lang="en-US"/>
          <a:t>Are we 100% sure the EV is $1bn?</a:t>
        </a:r>
      </a:p>
    </p188:txBody>
  </p188:cm>
  <p188:cm id="{75748FFC-876B-4400-988E-786A0319F8F1}" authorId="{FA18B807-ABC5-95B2-8636-67E74D52B8AF}" status="resolved" created="2025-06-13T20:39:10.608" complete="100000">
    <ac:txMkLst xmlns:ac="http://schemas.microsoft.com/office/drawing/2013/main/command">
      <pc:docMk xmlns:pc="http://schemas.microsoft.com/office/powerpoint/2013/main/command"/>
      <pc:sldMk xmlns:pc="http://schemas.microsoft.com/office/powerpoint/2013/main/command" cId="2377168758" sldId="2147469941"/>
      <ac:spMk id="31" creationId="{C4640475-478C-4B8A-BF12-F1F89EA54AD9}"/>
      <ac:txMk cp="483">
        <ac:context len="2063" hash="2688514502"/>
      </ac:txMk>
    </ac:txMkLst>
    <p188:pos x="4405312" y="1024163"/>
    <p188:replyLst>
      <p188:reply id="{E648CA7F-F132-4062-A71D-3023A3133B6F}" authorId="{1D8B8B49-D877-7225-B232-CFDC8C0ACB6F}" created="2025-06-13T21:37:37.076">
        <p188:txBody>
          <a:bodyPr/>
          <a:lstStyle/>
          <a:p>
            <a:r>
              <a:rPr lang="en-US"/>
              <a:t>Updated to $0.8 million based on table update but yes</a:t>
            </a:r>
          </a:p>
        </p188:txBody>
      </p188:reply>
    </p188:replyLst>
    <p188:txBody>
      <a:bodyPr/>
      <a:lstStyle/>
      <a:p>
        <a:r>
          <a:rPr lang="en-US"/>
          <a:t>This was $1.3m but I changed to $0.6m which I think is right?</a:t>
        </a:r>
      </a:p>
    </p188:txBody>
  </p188:cm>
  <p188:cm id="{AF1C2C51-541B-4322-ADBA-655BED0FFE82}" authorId="{FA18B807-ABC5-95B2-8636-67E74D52B8AF}" status="resolved" created="2025-06-13T21:24:49.013" complete="100000">
    <ac:deMkLst xmlns:ac="http://schemas.microsoft.com/office/drawing/2013/main/command">
      <pc:docMk xmlns:pc="http://schemas.microsoft.com/office/powerpoint/2013/main/command"/>
      <pc:sldMk xmlns:pc="http://schemas.microsoft.com/office/powerpoint/2013/main/command" cId="2377168758" sldId="2147469941"/>
      <ac:picMk id="8" creationId="{00FFEDB4-E9FD-68D5-CC70-AB5052343A94}"/>
    </ac:deMkLst>
    <p188:replyLst>
      <p188:reply id="{9D17D159-FC76-4BF2-8A0D-CFA81AC6FC01}" authorId="{1D8B8B49-D877-7225-B232-CFDC8C0ACB6F}" created="2025-06-13T21:37:14.807">
        <p188:txBody>
          <a:bodyPr/>
          <a:lstStyle/>
          <a:p>
            <a:r>
              <a:rPr lang="en-US"/>
              <a:t>Updated tables + numbers in text: Debt reclasses align to working capital adjustments (litigation, CRO severance, fastcase sales tax, overdue payables) plus an additional adjustment for short term investments</a:t>
            </a:r>
          </a:p>
        </p188:txBody>
      </p188:reply>
    </p188:replyLst>
    <p188:txBody>
      <a:bodyPr/>
      <a:lstStyle/>
      <a:p>
        <a:r>
          <a:rPr lang="en-US"/>
          <a:t>Team to check this table including whether the BS reclassifications to debt should impact NWC at Dec-24</a:t>
        </a:r>
      </a:p>
    </p188:txBody>
  </p188:cm>
  <p188:cm id="{B8A17F46-5DC6-4E2A-9340-EB47FDA9734A}" authorId="{5ADEADAD-FF68-A420-89FA-C7961B12B531}" status="resolved" created="2025-06-14T14:20:46.439" complete="100000">
    <ac:txMkLst xmlns:ac="http://schemas.microsoft.com/office/drawing/2013/main/command">
      <pc:docMk xmlns:pc="http://schemas.microsoft.com/office/powerpoint/2013/main/command"/>
      <pc:sldMk xmlns:pc="http://schemas.microsoft.com/office/powerpoint/2013/main/command" cId="2377168758" sldId="2147469941"/>
      <ac:spMk id="31" creationId="{C4640475-478C-4B8A-BF12-F1F89EA54AD9}"/>
      <ac:txMk cp="464">
        <ac:context len="2063" hash="2688514502"/>
      </ac:txMk>
    </ac:txMkLst>
    <p188:pos x="2725848" y="963700"/>
    <p188:replyLst>
      <p188:reply id="{5136C703-BDDA-4738-9119-1EE1A8ACBB9D}" authorId="{FAED20E5-0035-FA86-DAD3-EFEDF232C9AA}" created="2025-06-14T17:21:48.527">
        <p188:txBody>
          <a:bodyPr/>
          <a:lstStyle/>
          <a:p>
            <a:r>
              <a:rPr lang="en-US"/>
              <a:t>I think this is supposed to be there.</a:t>
            </a:r>
          </a:p>
        </p188:txBody>
      </p188:reply>
      <p188:reply id="{E309DBDF-E852-4E47-A431-4B1B6F808720}" authorId="{5ADEADAD-FF68-A420-89FA-C7961B12B531}" created="2025-06-14T18:15:25.808">
        <p188:txBody>
          <a:bodyPr/>
          <a:lstStyle/>
          <a:p>
            <a:r>
              <a:rPr lang="en-US"/>
              <a:t>Sorry - i don't see the opening bracket "("?</a:t>
            </a:r>
          </a:p>
        </p188:txBody>
      </p188:reply>
      <p188:reply id="{B4409AD9-7063-47B5-833E-DB9A85A35D1F}" authorId="{1D8B8B49-D877-7225-B232-CFDC8C0ACB6F}" created="2025-06-14T18:42:40.477">
        <p188:txBody>
          <a:bodyPr/>
          <a:lstStyle/>
          <a:p>
            <a:r>
              <a:rPr lang="en-US"/>
              <a:t>Deleted the bracket</a:t>
            </a:r>
          </a:p>
        </p188:txBody>
      </p188:reply>
    </p188:replyLst>
    <p188:txBody>
      <a:bodyPr/>
      <a:lstStyle/>
      <a:p>
        <a:r>
          <a:rPr lang="en-US"/>
          <a:t>Delete ")"</a:t>
        </a:r>
      </a:p>
    </p188:txBody>
  </p188:cm>
  <p188:cm id="{4C5D5D36-3E51-4A3F-9777-9E0D4518E9FA}" authorId="{5ADEADAD-FF68-A420-89FA-C7961B12B531}" status="resolved" created="2025-06-14T14:23:28.788" complete="100000">
    <ac:deMkLst xmlns:ac="http://schemas.microsoft.com/office/drawing/2013/main/command">
      <pc:docMk xmlns:pc="http://schemas.microsoft.com/office/powerpoint/2013/main/command"/>
      <pc:sldMk xmlns:pc="http://schemas.microsoft.com/office/powerpoint/2013/main/command" cId="2377168758" sldId="2147469941"/>
      <ac:spMk id="21" creationId="{B8BFA4B8-C4FF-2648-A4A8-68701F974A46}"/>
    </ac:deMkLst>
    <p188:replyLst>
      <p188:reply id="{3B641837-355D-47AE-A036-D0FD1F81644C}" authorId="{FAED20E5-0035-FA86-DAD3-EFEDF232C9AA}" created="2025-06-14T17:22:01.561">
        <p188:txBody>
          <a:bodyPr/>
          <a:lstStyle/>
          <a:p>
            <a:r>
              <a:rPr lang="en-US"/>
              <a:t>fixed</a:t>
            </a:r>
          </a:p>
        </p188:txBody>
      </p188:reply>
    </p188:replyLst>
    <p188:txBody>
      <a:bodyPr/>
      <a:lstStyle/>
      <a:p>
        <a:r>
          <a:rPr lang="en-US"/>
          <a:t>Align the "3" over the bullet?</a:t>
        </a:r>
      </a:p>
    </p188:txBody>
  </p188:cm>
  <p188:cm id="{566F6E80-17CF-40CC-BACE-4F9A18E4F783}" authorId="{1D8B8B49-D877-7225-B232-CFDC8C0ACB6F}" status="resolved" created="2025-06-14T17:24:27.478" complete="100000">
    <ac:deMkLst xmlns:ac="http://schemas.microsoft.com/office/drawing/2013/main/command">
      <pc:docMk xmlns:pc="http://schemas.microsoft.com/office/powerpoint/2013/main/command"/>
      <pc:sldMk xmlns:pc="http://schemas.microsoft.com/office/powerpoint/2013/main/command" cId="2377168758" sldId="2147469941"/>
      <ac:spMk id="31" creationId="{C4640475-478C-4B8A-BF12-F1F89EA54AD9}"/>
    </ac:deMkLst>
    <p188:replyLst>
      <p188:reply id="{2525A632-E2C5-4ED6-B948-7C36E4B9825C}" authorId="{1D8B8B49-D877-7225-B232-CFDC8C0ACB6F}" created="2025-06-14T17:24:37.512">
        <p188:txBody>
          <a:bodyPr/>
          <a:lstStyle/>
          <a:p>
            <a:r>
              <a:rPr lang="en-US"/>
              <a:t>Updated</a:t>
            </a:r>
          </a:p>
        </p188:txBody>
      </p188:reply>
    </p188:replyLst>
    <p188:txBody>
      <a:bodyPr/>
      <a:lstStyle/>
      <a:p>
        <a:r>
          <a:rPr lang="en-US"/>
          <a:t>Alex: should it be identified?</a:t>
        </a:r>
      </a:p>
    </p188:txBody>
  </p188:cm>
</p188:cmLst>
</file>

<file path=ppt/comments/modernComment_7FFFCA79_DE505DDA.xml><?xml version="1.0" encoding="utf-8"?>
<p188:cmLst xmlns:a="http://schemas.openxmlformats.org/drawingml/2006/main" xmlns:r="http://schemas.openxmlformats.org/officeDocument/2006/relationships" xmlns:p188="http://schemas.microsoft.com/office/powerpoint/2018/8/main">
  <p188:cm id="{F4743B4B-9C2E-43C5-BE27-D39301DC8B24}" authorId="{FA18B807-ABC5-95B2-8636-67E74D52B8AF}" status="resolved" created="2025-06-13T22:47:00.045" complete="100000">
    <ac:deMkLst xmlns:ac="http://schemas.microsoft.com/office/drawing/2013/main/command">
      <pc:docMk xmlns:pc="http://schemas.microsoft.com/office/powerpoint/2013/main/command"/>
      <pc:sldMk xmlns:pc="http://schemas.microsoft.com/office/powerpoint/2013/main/command" cId="3729808858" sldId="2147469945"/>
      <ac:picMk id="16" creationId="{2A2703AF-CD13-1A13-A3F7-57A83D351BE6}"/>
    </ac:deMkLst>
    <p188:replyLst>
      <p188:reply id="{3D2EE416-EB7F-47C4-82C2-BEB514E0A0AA}" authorId="{1D8B8B49-D877-7225-B232-CFDC8C0ACB6F}" created="2025-06-14T02:02:51.783">
        <p188:txBody>
          <a:bodyPr/>
          <a:lstStyle/>
          <a:p>
            <a:r>
              <a:rPr lang="en-US"/>
              <a:t>Removed portion of uncertainty</a:t>
            </a:r>
          </a:p>
        </p188:txBody>
      </p188:reply>
    </p188:replyLst>
    <p188:txBody>
      <a:bodyPr/>
      <a:lstStyle/>
      <a:p>
        <a:r>
          <a:rPr lang="en-US"/>
          <a:t>Comment on non current assets appears to be outdated and should be removed</a:t>
        </a:r>
      </a:p>
    </p188:txBody>
  </p188:cm>
</p188:cmLst>
</file>

<file path=ppt/comments/modernComment_7FFFCA83_4E41818B.xml><?xml version="1.0" encoding="utf-8"?>
<p188:cmLst xmlns:a="http://schemas.openxmlformats.org/drawingml/2006/main" xmlns:r="http://schemas.openxmlformats.org/officeDocument/2006/relationships" xmlns:p188="http://schemas.microsoft.com/office/powerpoint/2018/8/main">
  <p188:cm id="{93F50088-6D8A-4ECB-BD2D-EE0BED4F9827}" authorId="{FA18B807-ABC5-95B2-8636-67E74D52B8AF}" status="resolved" created="2025-06-13T21:43:35.989" complete="100000">
    <ac:deMkLst xmlns:ac="http://schemas.microsoft.com/office/drawing/2013/main/command">
      <pc:docMk xmlns:pc="http://schemas.microsoft.com/office/powerpoint/2013/main/command"/>
      <pc:sldMk xmlns:pc="http://schemas.microsoft.com/office/powerpoint/2013/main/command" cId="1312915851" sldId="2147469955"/>
      <ac:spMk id="7" creationId="{1CA7998A-F9C6-E715-3252-717C481276D5}"/>
    </ac:deMkLst>
    <p188:replyLst>
      <p188:reply id="{BF385403-C392-414F-A092-8F5C1744EB94}" authorId="{FAED20E5-0035-FA86-DAD3-EFEDF232C9AA}" created="2025-06-13T22:16:07.079">
        <p188:txBody>
          <a:bodyPr/>
          <a:lstStyle/>
          <a:p>
            <a:r>
              <a:rPr lang="en-US"/>
              <a:t>Added source</a:t>
            </a:r>
          </a:p>
        </p188:txBody>
      </p188:reply>
    </p188:replyLst>
    <p188:txBody>
      <a:bodyPr/>
      <a:lstStyle/>
      <a:p>
        <a:r>
          <a:rPr lang="en-US"/>
          <a:t>O/s</a:t>
        </a:r>
      </a:p>
    </p188:txBody>
  </p188:cm>
  <p188:cm id="{793C351A-91A1-4084-A64F-03C22E66E136}" authorId="{FA18B807-ABC5-95B2-8636-67E74D52B8AF}" status="resolved" created="2025-06-13T21:45:14.403" complete="100000">
    <ac:txMkLst xmlns:ac="http://schemas.microsoft.com/office/drawing/2013/main/command">
      <pc:docMk xmlns:pc="http://schemas.microsoft.com/office/powerpoint/2013/main/command"/>
      <pc:sldMk xmlns:pc="http://schemas.microsoft.com/office/powerpoint/2013/main/command" cId="1312915851" sldId="2147469955"/>
      <ac:spMk id="4" creationId="{0E3E805A-179B-C3C0-BDE5-E61BB1CBF280}"/>
      <ac:txMk cp="666" len="197">
        <ac:context len="1688" hash="1590993260"/>
      </ac:txMk>
    </ac:txMkLst>
    <p188:pos x="10063162" y="794115"/>
    <p188:replyLst>
      <p188:reply id="{5E399094-7AE3-49E7-8BFA-11CC5DC46F55}" authorId="{FAED20E5-0035-FA86-DAD3-EFEDF232C9AA}" created="2025-06-13T22:17:17.825">
        <p188:txBody>
          <a:bodyPr/>
          <a:lstStyle/>
          <a:p>
            <a:r>
              <a:rPr lang="en-US"/>
              <a:t>Yes, text was wrong - have revised</a:t>
            </a:r>
          </a:p>
        </p188:txBody>
      </p188:reply>
    </p188:replyLst>
    <p188:txBody>
      <a:bodyPr/>
      <a:lstStyle/>
      <a:p>
        <a:r>
          <a:rPr lang="en-US"/>
          <a:t>Don't understand this - why not following month at 50% of MRR?</a:t>
        </a:r>
      </a:p>
    </p188:txBody>
  </p188:cm>
  <p188:cm id="{B54A7A8E-5F38-4A81-8905-8380EAD96778}" authorId="{FA18B807-ABC5-95B2-8636-67E74D52B8AF}" status="resolved" created="2025-06-13T21:45:26.358" complete="100000">
    <ac:txMkLst xmlns:ac="http://schemas.microsoft.com/office/drawing/2013/main/command">
      <pc:docMk xmlns:pc="http://schemas.microsoft.com/office/powerpoint/2013/main/command"/>
      <pc:sldMk xmlns:pc="http://schemas.microsoft.com/office/powerpoint/2013/main/command" cId="1312915851" sldId="2147469955"/>
      <ac:spMk id="4" creationId="{0E3E805A-179B-C3C0-BDE5-E61BB1CBF280}"/>
      <ac:txMk cp="574" len="71">
        <ac:context len="1688" hash="1590993260"/>
      </ac:txMk>
    </ac:txMkLst>
    <p188:pos x="5881687" y="794115"/>
    <p188:replyLst>
      <p188:reply id="{AAA74D24-A405-4EA5-A69B-056016C7DC88}" authorId="{FA18B807-ABC5-95B2-8636-67E74D52B8AF}" created="2025-06-13T21:47:29.571">
        <p188:txBody>
          <a:bodyPr/>
          <a:lstStyle/>
          <a:p>
            <a:r>
              <a:rPr lang="en-US"/>
              <a:t>I'm not sure someone reading this fresh would get what we have are doing here and why with this analysis and the timing differences. I think this whole paragraph needs another shot.</a:t>
            </a:r>
          </a:p>
        </p188:txBody>
      </p188:reply>
      <p188:reply id="{9C490004-4476-4F9A-BB9C-2FF095BBBE3C}" authorId="{FAED20E5-0035-FA86-DAD3-EFEDF232C9AA}" created="2025-06-13T22:48:47.530">
        <p188:txBody>
          <a:bodyPr/>
          <a:lstStyle/>
          <a:p>
            <a:r>
              <a:rPr lang="en-US"/>
              <a:t>Revised</a:t>
            </a:r>
          </a:p>
        </p188:txBody>
      </p188:reply>
    </p188:replyLst>
    <p188:txBody>
      <a:bodyPr/>
      <a:lstStyle/>
      <a:p>
        <a:r>
          <a:rPr lang="en-US"/>
          <a:t>Need to explain what this means</a:t>
        </a:r>
      </a:p>
    </p188:txBody>
  </p188:cm>
  <p188:cm id="{AB1AC090-BB7E-4F83-BCA3-2BCB85C37F64}" authorId="{FA18B807-ABC5-95B2-8636-67E74D52B8AF}" status="resolved" created="2025-06-13T21:46:50.958" complete="100000">
    <ac:txMkLst xmlns:ac="http://schemas.microsoft.com/office/drawing/2013/main/command">
      <pc:docMk xmlns:pc="http://schemas.microsoft.com/office/powerpoint/2013/main/command"/>
      <pc:sldMk xmlns:pc="http://schemas.microsoft.com/office/powerpoint/2013/main/command" cId="1312915851" sldId="2147469955"/>
      <ac:spMk id="4" creationId="{0E3E805A-179B-C3C0-BDE5-E61BB1CBF280}"/>
      <ac:txMk cp="1353" len="1">
        <ac:context len="1688" hash="1590993260"/>
      </ac:txMk>
    </ac:txMkLst>
    <p188:pos x="957262" y="1556115"/>
    <p188:replyLst>
      <p188:reply id="{C63BDCE1-C626-478A-833A-ECA0E9BAAEC7}" authorId="{FAED20E5-0035-FA86-DAD3-EFEDF232C9AA}" created="2025-06-13T22:19:22.138">
        <p188:txBody>
          <a:bodyPr/>
          <a:lstStyle/>
          <a:p>
            <a:r>
              <a:rPr lang="en-US"/>
              <a:t>52, but 50 works better</a:t>
            </a:r>
          </a:p>
        </p188:txBody>
      </p188:reply>
    </p188:replyLst>
    <p188:txBody>
      <a:bodyPr/>
      <a:lstStyle/>
      <a:p>
        <a:r>
          <a:rPr lang="en-US"/>
          <a:t>Sq bracket</a:t>
        </a:r>
      </a:p>
    </p188:txBody>
  </p188:cm>
  <p188:cm id="{AF564571-7421-4FAA-AF38-C68659DD78D3}" authorId="{5ADEADAD-FF68-A420-89FA-C7961B12B531}" status="resolved" created="2025-06-14T15:12:08.484" complete="100000">
    <ac:txMkLst xmlns:ac="http://schemas.microsoft.com/office/drawing/2013/main/command">
      <pc:docMk xmlns:pc="http://schemas.microsoft.com/office/powerpoint/2013/main/command"/>
      <pc:sldMk xmlns:pc="http://schemas.microsoft.com/office/powerpoint/2013/main/command" cId="1312915851" sldId="2147469955"/>
      <ac:spMk id="30" creationId="{ED9B43DD-09B1-37AB-55A7-5E3BA9E45DF0}"/>
      <ac:txMk cp="424">
        <ac:context len="639" hash="3819688013"/>
      </ac:txMk>
    </ac:txMkLst>
    <p188:pos x="5564465" y="490261"/>
    <p188:replyLst>
      <p188:reply id="{8E767AAA-E6CA-4FFE-BE2F-8F5A5D526DAD}" authorId="{FAED20E5-0035-FA86-DAD3-EFEDF232C9AA}" created="2025-06-14T17:32:49.639">
        <p188:txBody>
          <a:bodyPr/>
          <a:lstStyle/>
          <a:p>
            <a:r>
              <a:rPr lang="en-US"/>
              <a:t>done</a:t>
            </a:r>
          </a:p>
        </p188:txBody>
      </p188:reply>
    </p188:replyLst>
    <p188:txBody>
      <a:bodyPr/>
      <a:lstStyle/>
      <a:p>
        <a:r>
          <a:rPr lang="en-US"/>
          <a:t>Delete "a"</a:t>
        </a:r>
      </a:p>
    </p188:txBody>
  </p188:cm>
  <p188:cm id="{DE70C181-9D2B-4B1A-B96E-B2806C4B6718}" authorId="{1D8B8B49-D877-7225-B232-CFDC8C0ACB6F}" status="resolved" created="2025-06-14T17:30:29.184" complete="100000">
    <ac:txMkLst xmlns:ac="http://schemas.microsoft.com/office/drawing/2013/main/command">
      <pc:docMk xmlns:pc="http://schemas.microsoft.com/office/powerpoint/2013/main/command"/>
      <pc:sldMk xmlns:pc="http://schemas.microsoft.com/office/powerpoint/2013/main/command" cId="1312915851" sldId="2147469955"/>
      <ac:spMk id="4" creationId="{0E3E805A-179B-C3C0-BDE5-E61BB1CBF280}"/>
      <ac:txMk cp="919" len="9">
        <ac:context len="1688" hash="1590993260"/>
      </ac:txMk>
    </ac:txMkLst>
    <p188:pos x="2288671" y="1111925"/>
    <p188:replyLst>
      <p188:reply id="{30A26BAD-D799-4E58-A6B8-91A88A5B4EE4}" authorId="{1D8B8B49-D877-7225-B232-CFDC8C0ACB6F}" created="2025-06-14T17:30:47.608">
        <p188:txBody>
          <a:bodyPr/>
          <a:lstStyle/>
          <a:p>
            <a:r>
              <a:rPr lang="en-US"/>
              <a:t>updated</a:t>
            </a:r>
          </a:p>
        </p188:txBody>
      </p188:reply>
    </p188:replyLst>
    <p188:txBody>
      <a:bodyPr/>
      <a:lstStyle/>
      <a:p>
        <a:r>
          <a:rPr lang="en-US"/>
          <a:t>Alex: I think "we" is missing here</a:t>
        </a:r>
      </a:p>
    </p188:txBody>
  </p188:cm>
</p188:cmLst>
</file>

<file path=ppt/comments/modernComment_7FFFCA84_2DCEEFCE.xml><?xml version="1.0" encoding="utf-8"?>
<p188:cmLst xmlns:a="http://schemas.openxmlformats.org/drawingml/2006/main" xmlns:r="http://schemas.openxmlformats.org/officeDocument/2006/relationships" xmlns:p188="http://schemas.microsoft.com/office/powerpoint/2018/8/main">
  <p188:cm id="{5C58104C-9EF0-40AD-BCB1-A9429C5FC7F9}" authorId="{FA18B807-ABC5-95B2-8636-67E74D52B8AF}" status="resolved" created="2025-06-13T21:01:10.942" complete="100000">
    <ac:deMkLst xmlns:ac="http://schemas.microsoft.com/office/drawing/2013/main/command">
      <pc:docMk xmlns:pc="http://schemas.microsoft.com/office/powerpoint/2013/main/command"/>
      <pc:sldMk xmlns:pc="http://schemas.microsoft.com/office/powerpoint/2013/main/command" cId="768536526" sldId="2147469956"/>
      <ac:picMk id="8" creationId="{2227C647-8B13-C7F1-E4F0-E3AAA044AE78}"/>
    </ac:deMkLst>
    <p188:replyLst>
      <p188:reply id="{B336C511-8A9B-4D97-869F-597EBD74E9AF}" authorId="{1D8B8B49-D877-7225-B232-CFDC8C0ACB6F}" created="2025-06-13T22:03:56.821">
        <p188:txBody>
          <a:bodyPr/>
          <a:lstStyle/>
          <a:p>
            <a:r>
              <a:rPr lang="en-US"/>
              <a:t>Added subheading</a:t>
            </a:r>
          </a:p>
        </p188:txBody>
      </p188:reply>
    </p188:replyLst>
    <p188:txBody>
      <a:bodyPr/>
      <a:lstStyle/>
      <a:p>
        <a:r>
          <a:rPr lang="en-US"/>
          <a:t>Table needs a subheading - normal deferred revenue for long term contracts - to explain column A</a:t>
        </a:r>
      </a:p>
    </p188:txBody>
  </p188:cm>
  <p188:cm id="{6D21912F-0B15-4D75-9A57-2FC87BCE0710}" authorId="{FA18B807-ABC5-95B2-8636-67E74D52B8AF}" status="resolved" created="2025-06-13T21:02:28.018" complete="100000">
    <ac:txMkLst xmlns:ac="http://schemas.microsoft.com/office/drawing/2013/main/command">
      <pc:docMk xmlns:pc="http://schemas.microsoft.com/office/powerpoint/2013/main/command"/>
      <pc:sldMk xmlns:pc="http://schemas.microsoft.com/office/powerpoint/2013/main/command" cId="768536526" sldId="2147469956"/>
      <ac:spMk id="31" creationId="{C4640475-478C-4B8A-BF12-F1F89EA54AD9}"/>
      <ac:txMk cp="1683">
        <ac:context len="2138" hash="1103118483"/>
      </ac:txMk>
    </ac:txMkLst>
    <p188:pos x="4510087" y="3881663"/>
    <p188:replyLst>
      <p188:reply id="{C7891D6D-DC8F-4BC9-BF0F-EFD14C584243}" authorId="{1D8B8B49-D877-7225-B232-CFDC8C0ACB6F}" created="2025-06-13T22:05:36.462">
        <p188:txBody>
          <a:bodyPr/>
          <a:lstStyle/>
          <a:p>
            <a:r>
              <a:rPr lang="en-US"/>
              <a:t>Populated - confirmed Mar-25</a:t>
            </a:r>
          </a:p>
        </p188:txBody>
      </p188:reply>
    </p188:replyLst>
    <p188:txBody>
      <a:bodyPr/>
      <a:lstStyle/>
      <a:p>
        <a:r>
          <a:rPr lang="en-US"/>
          <a:t>Populate sq brackets (are we talking about Mar-25 for ARR discussion - or Dec-24? Correct if needed pls) </a:t>
        </a:r>
      </a:p>
    </p188:txBody>
  </p188:cm>
</p188:cmLst>
</file>

<file path=ppt/comments/modernComment_7FFFCA85_59958027.xml><?xml version="1.0" encoding="utf-8"?>
<p188:cmLst xmlns:a="http://schemas.openxmlformats.org/drawingml/2006/main" xmlns:r="http://schemas.openxmlformats.org/officeDocument/2006/relationships" xmlns:p188="http://schemas.microsoft.com/office/powerpoint/2018/8/main">
  <p188:cm id="{6C7766B8-7485-483F-82D3-6FF202B781EE}" authorId="{5ADEADAD-FF68-A420-89FA-C7961B12B531}" status="resolved" created="2025-06-14T14:34:50.263" complete="100000">
    <ac:txMkLst xmlns:ac="http://schemas.microsoft.com/office/drawing/2013/main/command">
      <pc:docMk xmlns:pc="http://schemas.microsoft.com/office/powerpoint/2013/main/command"/>
      <pc:sldMk xmlns:pc="http://schemas.microsoft.com/office/powerpoint/2013/main/command" cId="1502969895" sldId="2147469957"/>
      <ac:spMk id="31" creationId="{C4640475-478C-4B8A-BF12-F1F89EA54AD9}"/>
      <ac:txMk cp="335" len="191">
        <ac:context len="2396" hash="3941663822"/>
      </ac:txMk>
    </ac:txMkLst>
    <p188:pos x="5636026" y="821542"/>
    <p188:replyLst>
      <p188:reply id="{F8C3203D-DE31-4677-87AA-7B102286585D}" authorId="{FAED20E5-0035-FA86-DAD3-EFEDF232C9AA}" created="2025-06-14T17:23:44.655">
        <p188:txBody>
          <a:bodyPr/>
          <a:lstStyle/>
          <a:p>
            <a:r>
              <a:rPr lang="en-US"/>
              <a:t>changed</a:t>
            </a:r>
          </a:p>
        </p188:txBody>
      </p188:reply>
    </p188:replyLst>
    <p188:txBody>
      <a:bodyPr/>
      <a:lstStyle/>
      <a:p>
        <a:r>
          <a:rPr lang="en-US"/>
          <a:t>Consider re wording:
Delete "we have satisfied ourselves through"
Add "supports" between "..(Mar-25), supports that variances .."
</a:t>
        </a:r>
      </a:p>
    </p188:txBody>
  </p188:cm>
  <p188:cm id="{DDBB2B39-EDE5-4242-9BD7-C4D3F91C225E}" authorId="{5ADEADAD-FF68-A420-89FA-C7961B12B531}" status="resolved" created="2025-06-14T14:35:32.776" complete="100000">
    <ac:deMkLst xmlns:ac="http://schemas.microsoft.com/office/drawing/2013/main/command">
      <pc:docMk xmlns:pc="http://schemas.microsoft.com/office/powerpoint/2013/main/command"/>
      <pc:sldMk xmlns:pc="http://schemas.microsoft.com/office/powerpoint/2013/main/command" cId="1502969895" sldId="2147469957"/>
      <ac:picMk id="11" creationId="{6406E2AD-A4CC-33A8-2D9E-AD2AD98D75C9}"/>
    </ac:deMkLst>
    <p188:replyLst>
      <p188:reply id="{92B6AC0D-8658-4054-8DA8-47C6E9CD420B}" authorId="{1D8B8B49-D877-7225-B232-CFDC8C0ACB6F}" created="2025-06-14T18:01:42.187">
        <p188:txBody>
          <a:bodyPr/>
          <a:lstStyle/>
          <a:p>
            <a:r>
              <a:rPr lang="en-US"/>
              <a:t>Yes calculation is correct, they are slightly different (17.755% vs 17.762%) but round to one decimal the same</a:t>
            </a:r>
          </a:p>
        </p188:txBody>
      </p188:reply>
    </p188:replyLst>
    <p188:txBody>
      <a:bodyPr/>
      <a:lstStyle/>
      <a:p>
        <a:r>
          <a:rPr lang="en-US"/>
          <a:t>Should sensitized ARR CAGR and Adj ARR per Mgmt CAGR be the same? 17.8%</a:t>
        </a:r>
      </a:p>
    </p188:txBody>
  </p188:cm>
  <p188:cm id="{9D625352-25B4-4B29-8562-05ED3BBDFE86}" authorId="{1D8B8B49-D877-7225-B232-CFDC8C0ACB6F}" status="resolved" created="2025-06-14T17:27:12.615" complete="100000">
    <ac:txMkLst xmlns:ac="http://schemas.microsoft.com/office/drawing/2013/main/command">
      <pc:docMk xmlns:pc="http://schemas.microsoft.com/office/powerpoint/2013/main/command"/>
      <pc:sldMk xmlns:pc="http://schemas.microsoft.com/office/powerpoint/2013/main/command" cId="1502969895" sldId="2147469957"/>
      <ac:spMk id="31" creationId="{C4640475-478C-4B8A-BF12-F1F89EA54AD9}"/>
      <ac:txMk cp="1613" len="14">
        <ac:context len="2396" hash="3941663822"/>
      </ac:txMk>
    </ac:txMkLst>
    <p188:pos x="5622887" y="2997193"/>
    <p188:replyLst>
      <p188:reply id="{469D3B42-6056-46E1-A411-471021DD5159}" authorId="{1D8B8B49-D877-7225-B232-CFDC8C0ACB6F}" created="2025-06-14T18:03:04.606">
        <p188:txBody>
          <a:bodyPr/>
          <a:lstStyle/>
          <a:p>
            <a:r>
              <a:rPr lang="en-US"/>
              <a:t>Changed to suspects </a:t>
            </a:r>
          </a:p>
        </p188:txBody>
      </p188:reply>
    </p188:replyLst>
    <p188:txBody>
      <a:bodyPr/>
      <a:lstStyle/>
      <a:p>
        <a:r>
          <a:rPr lang="en-US"/>
          <a:t>Alex: Sorry do we actually "know" this - or do we just suspect it?</a:t>
        </a:r>
      </a:p>
    </p188:txBody>
  </p188:cm>
</p188:cmLst>
</file>

<file path=ppt/comments/modernComment_7FFFCA86_5667988F.xml><?xml version="1.0" encoding="utf-8"?>
<p188:cmLst xmlns:a="http://schemas.openxmlformats.org/drawingml/2006/main" xmlns:r="http://schemas.openxmlformats.org/officeDocument/2006/relationships" xmlns:p188="http://schemas.microsoft.com/office/powerpoint/2018/8/main">
  <p188:cm id="{FEC51368-F6FB-40FB-9A57-B2B417226E02}" authorId="{FA18B807-ABC5-95B2-8636-67E74D52B8AF}" status="resolved" created="2025-06-13T21:15:39.055" complete="100000">
    <ac:deMkLst xmlns:ac="http://schemas.microsoft.com/office/drawing/2013/main/command">
      <pc:docMk xmlns:pc="http://schemas.microsoft.com/office/powerpoint/2013/main/command"/>
      <pc:sldMk xmlns:pc="http://schemas.microsoft.com/office/powerpoint/2013/main/command" cId="1449629839" sldId="2147469958"/>
      <ac:picMk id="21" creationId="{362461BA-EE63-677A-5CF3-9B8A53A4CD65}"/>
    </ac:deMkLst>
    <p188:replyLst>
      <p188:reply id="{594907C6-EBCE-47A4-90B2-8BE7B9A69367}" authorId="{1D8B8B49-D877-7225-B232-CFDC8C0ACB6F}" created="2025-06-13T22:16:33.371">
        <p188:txBody>
          <a:bodyPr/>
          <a:lstStyle/>
          <a:p>
            <a:r>
              <a:rPr lang="en-US"/>
              <a:t>updated</a:t>
            </a:r>
          </a:p>
        </p188:txBody>
      </p188:reply>
    </p188:replyLst>
    <p188:txBody>
      <a:bodyPr/>
      <a:lstStyle/>
      <a:p>
        <a:r>
          <a:rPr lang="en-US"/>
          <a:t>Missing some zeros / dashes in the middle column</a:t>
        </a:r>
      </a:p>
    </p188:txBody>
  </p188:cm>
  <p188:cm id="{2C87E99B-2449-42F0-9415-729CCD37D723}" authorId="{FA18B807-ABC5-95B2-8636-67E74D52B8AF}" status="resolved" created="2025-06-13T22:15:34.088" complete="100000">
    <ac:deMkLst xmlns:ac="http://schemas.microsoft.com/office/drawing/2013/main/command">
      <pc:docMk xmlns:pc="http://schemas.microsoft.com/office/powerpoint/2013/main/command"/>
      <pc:sldMk xmlns:pc="http://schemas.microsoft.com/office/powerpoint/2013/main/command" cId="1449629839" sldId="2147469958"/>
      <ac:spMk id="31" creationId="{C4640475-478C-4B8A-BF12-F1F89EA54AD9}"/>
    </ac:deMkLst>
    <p188:replyLst>
      <p188:reply id="{0364D764-7D84-41BA-AFBF-B1854FFF3F74}" authorId="{1D8B8B49-D877-7225-B232-CFDC8C0ACB6F}" created="2025-06-13T22:23:26.367">
        <p188:txBody>
          <a:bodyPr/>
          <a:lstStyle/>
          <a:p>
            <a:r>
              <a:rPr lang="en-US"/>
              <a:t>Updated text</a:t>
            </a:r>
          </a:p>
        </p188:txBody>
      </p188:reply>
    </p188:replyLst>
    <p188:txBody>
      <a:bodyPr/>
      <a:lstStyle/>
      <a:p>
        <a:r>
          <a:rPr lang="en-US"/>
          <a:t>Please check all the text because it has been written by reference to an old table - adjsuted EBITDA is $11.0m not 11.1m?</a:t>
        </a:r>
      </a:p>
    </p188:txBody>
  </p188:cm>
  <p188:cm id="{B0F73730-86FA-41EC-82B6-312A25CB149F}" authorId="{5ADEADAD-FF68-A420-89FA-C7961B12B531}" status="resolved" created="2025-06-14T14:42:40.939" complete="100000">
    <ac:deMkLst xmlns:ac="http://schemas.microsoft.com/office/drawing/2013/main/command">
      <pc:docMk xmlns:pc="http://schemas.microsoft.com/office/powerpoint/2013/main/command"/>
      <pc:sldMk xmlns:pc="http://schemas.microsoft.com/office/powerpoint/2013/main/command" cId="1449629839" sldId="2147469958"/>
      <ac:picMk id="21" creationId="{8526C986-EDF6-6EF7-2B5D-2903007A0E34}"/>
    </ac:deMkLst>
    <p188:replyLst>
      <p188:reply id="{18A98503-0F87-40C9-8F71-8CD2FA2C32E8}" authorId="{1D8B8B49-D877-7225-B232-CFDC8C0ACB6F}" created="2025-06-14T18:06:18.258">
        <p188:txBody>
          <a:bodyPr/>
          <a:lstStyle/>
          <a:p>
            <a:r>
              <a:rPr lang="en-US"/>
              <a:t>Constant currency relates to Management adjusted EBITDA, added a note</a:t>
            </a:r>
          </a:p>
        </p188:txBody>
      </p188:reply>
    </p188:replyLst>
    <p188:txBody>
      <a:bodyPr/>
      <a:lstStyle/>
      <a:p>
        <a:r>
          <a:rPr lang="en-US"/>
          <a:t>The constant currency memo: assume this is the impact on run rate adj EBITDA but should we note?</a:t>
        </a:r>
      </a:p>
    </p188:txBody>
  </p188:cm>
  <p188:cm id="{526BABBE-C10E-49F4-9C44-1FBA863B94FB}" authorId="{5ADEADAD-FF68-A420-89FA-C7961B12B531}" status="resolved" created="2025-06-14T14:43:18.872" complete="100000">
    <ac:deMkLst xmlns:ac="http://schemas.microsoft.com/office/drawing/2013/main/command">
      <pc:docMk xmlns:pc="http://schemas.microsoft.com/office/powerpoint/2013/main/command"/>
      <pc:sldMk xmlns:pc="http://schemas.microsoft.com/office/powerpoint/2013/main/command" cId="1449629839" sldId="2147469958"/>
      <ac:picMk id="21" creationId="{8526C986-EDF6-6EF7-2B5D-2903007A0E34}"/>
    </ac:deMkLst>
    <p188:replyLst>
      <p188:reply id="{E21F6EC8-77C8-4FA5-A746-6CBDDE40B6AA}" authorId="{1D8B8B49-D877-7225-B232-CFDC8C0ACB6F}" created="2025-06-14T18:16:57.382">
        <p188:txBody>
          <a:bodyPr/>
          <a:lstStyle/>
          <a:p>
            <a:r>
              <a:rPr lang="en-US"/>
              <a:t>Updated and specifies it relates to run rate - not TTM</a:t>
            </a:r>
          </a:p>
        </p188:txBody>
      </p188:reply>
    </p188:replyLst>
    <p188:txBody>
      <a:bodyPr/>
      <a:lstStyle/>
      <a:p>
        <a:r>
          <a:rPr lang="en-US"/>
          <a:t>Capitalized costs on page 5 show $12,989 for run rate?</a:t>
        </a:r>
      </a:p>
    </p188:txBody>
  </p188:cm>
  <p188:cm id="{72433DA3-2463-4856-ACBF-0DA9BAE78C53}" authorId="{1D8B8B49-D877-7225-B232-CFDC8C0ACB6F}" status="resolved" created="2025-06-14T17:28:27.993" complete="100000">
    <ac:txMkLst xmlns:ac="http://schemas.microsoft.com/office/drawing/2013/main/command">
      <pc:docMk xmlns:pc="http://schemas.microsoft.com/office/powerpoint/2013/main/command"/>
      <pc:sldMk xmlns:pc="http://schemas.microsoft.com/office/powerpoint/2013/main/command" cId="1449629839" sldId="2147469958"/>
      <ac:spMk id="31" creationId="{C4640475-478C-4B8A-BF12-F1F89EA54AD9}"/>
      <ac:txMk cp="59" len="6">
        <ac:context len="2225" hash="262592007"/>
      </ac:txMk>
    </ac:txMkLst>
    <p188:pos x="4067291" y="133694"/>
    <p188:replyLst>
      <p188:reply id="{C7048B2A-7114-4A2F-93A8-9D1A530E7269}" authorId="{1D8B8B49-D877-7225-B232-CFDC8C0ACB6F}" created="2025-06-14T17:28:45.931">
        <p188:txBody>
          <a:bodyPr/>
          <a:lstStyle/>
          <a:p>
            <a:r>
              <a:rPr lang="en-US"/>
              <a:t>updated</a:t>
            </a:r>
          </a:p>
        </p188:txBody>
      </p188:reply>
    </p188:replyLst>
    <p188:txBody>
      <a:bodyPr/>
      <a:lstStyle/>
      <a:p>
        <a:r>
          <a:rPr lang="en-US"/>
          <a:t>Alex: Spelling</a:t>
        </a:r>
      </a:p>
    </p188:txBody>
  </p188:cm>
</p188:cmLst>
</file>

<file path=ppt/comments/modernComment_7FFFCA87_83CF85EB.xml><?xml version="1.0" encoding="utf-8"?>
<p188:cmLst xmlns:a="http://schemas.openxmlformats.org/drawingml/2006/main" xmlns:r="http://schemas.openxmlformats.org/officeDocument/2006/relationships" xmlns:p188="http://schemas.microsoft.com/office/powerpoint/2018/8/main">
  <p188:cm id="{E3B3B7D7-C436-4A7F-B402-30DF6B958C27}" authorId="{FA18B807-ABC5-95B2-8636-67E74D52B8AF}" status="resolved" created="2025-06-13T21:20:33.419" complete="100000">
    <ac:deMkLst xmlns:ac="http://schemas.microsoft.com/office/drawing/2013/main/command">
      <pc:docMk xmlns:pc="http://schemas.microsoft.com/office/powerpoint/2013/main/command"/>
      <pc:sldMk xmlns:pc="http://schemas.microsoft.com/office/powerpoint/2013/main/command" cId="2211415531" sldId="2147469959"/>
      <ac:spMk id="146" creationId="{B81516F1-61F8-34F6-DAA8-4F668E45FBF1}"/>
    </ac:deMkLst>
    <p188:replyLst>
      <p188:reply id="{C07CFCD7-5F55-4948-8515-391723A6FC63}" authorId="{FAED20E5-0035-FA86-DAD3-EFEDF232C9AA}" created="2025-06-13T22:05:56.044">
        <p188:txBody>
          <a:bodyPr/>
          <a:lstStyle/>
          <a:p>
            <a:r>
              <a:rPr lang="en-US"/>
              <a:t>Took it off as we don't discuss cash flow anywhere else - were you thinking of linking to the BS?</a:t>
            </a:r>
          </a:p>
        </p188:txBody>
      </p188:reply>
    </p188:replyLst>
    <p188:txBody>
      <a:bodyPr/>
      <a:lstStyle/>
      <a:p>
        <a:r>
          <a:rPr lang="en-US"/>
          <a:t>No 'read more' for this page?</a:t>
        </a:r>
      </a:p>
    </p188:txBody>
  </p188:cm>
  <p188:cm id="{B0D4CD0F-7BC6-43ED-AECB-39B5F45CBBE1}" authorId="{FA18B807-ABC5-95B2-8636-67E74D52B8AF}" status="resolved" created="2025-06-13T21:22:32.550" complete="100000">
    <ac:txMkLst xmlns:ac="http://schemas.microsoft.com/office/drawing/2013/main/command">
      <pc:docMk xmlns:pc="http://schemas.microsoft.com/office/powerpoint/2013/main/command"/>
      <pc:sldMk xmlns:pc="http://schemas.microsoft.com/office/powerpoint/2013/main/command" cId="2211415531" sldId="2147469959"/>
      <ac:spMk id="31" creationId="{C4640475-478C-4B8A-BF12-F1F89EA54AD9}"/>
      <ac:txMk cp="235">
        <ac:context len="1571" hash="1497726221"/>
      </ac:txMk>
    </ac:txMkLst>
    <p188:pos x="4976812" y="528864"/>
    <p188:replyLst>
      <p188:reply id="{1AC7F376-B605-420C-9666-C954D88B77B3}" authorId="{FAED20E5-0035-FA86-DAD3-EFEDF232C9AA}" created="2025-06-13T22:06:31.160">
        <p188:txBody>
          <a:bodyPr/>
          <a:lstStyle/>
          <a:p>
            <a:r>
              <a:rPr lang="en-US"/>
              <a:t>Removed</a:t>
            </a:r>
          </a:p>
        </p188:txBody>
      </p188:reply>
    </p188:replyLst>
    <p188:txBody>
      <a:bodyPr/>
      <a:lstStyle/>
      <a:p>
        <a:r>
          <a:rPr lang="en-US"/>
          <a:t>I think this is not relevant is it? EBITDA includes deferred commissions on a cash basis - so our free cash flow includes these cash items - I think there is just nothing to say here.</a:t>
        </a:r>
      </a:p>
    </p188:txBody>
  </p188:cm>
  <p188:cm id="{23B9607E-CA71-41FE-BC5E-BBF28B37B2D9}" authorId="{5ADEADAD-FF68-A420-89FA-C7961B12B531}" status="resolved" created="2025-06-14T14:45:10.212" complete="100000">
    <ac:deMkLst xmlns:ac="http://schemas.microsoft.com/office/drawing/2013/main/command">
      <pc:docMk xmlns:pc="http://schemas.microsoft.com/office/powerpoint/2013/main/command"/>
      <pc:sldMk xmlns:pc="http://schemas.microsoft.com/office/powerpoint/2013/main/command" cId="2211415531" sldId="2147469959"/>
      <ac:picMk id="5" creationId="{273DD5B8-D644-44BD-D6B6-54B954B0BE53}"/>
    </ac:deMkLst>
    <p188:replyLst>
      <p188:reply id="{66B55496-C980-49C2-A1EA-6EF7E68985F4}" authorId="{FAED20E5-0035-FA86-DAD3-EFEDF232C9AA}" created="2025-06-14T17:28:39.239">
        <p188:txBody>
          <a:bodyPr/>
          <a:lstStyle/>
          <a:p>
            <a:r>
              <a:rPr lang="en-US"/>
              <a:t>Yes, table needed updating</a:t>
            </a:r>
          </a:p>
        </p188:txBody>
      </p188:reply>
    </p188:replyLst>
    <p188:txBody>
      <a:bodyPr/>
      <a:lstStyle/>
      <a:p>
        <a:r>
          <a:rPr lang="en-US"/>
          <a:t>TTM adj EBITDA $10,972 on page 9?</a:t>
        </a:r>
      </a:p>
    </p188:txBody>
  </p188:cm>
  <p188:cm id="{A7C33525-FB5E-4C2D-B690-1E9024DCE5B6}" authorId="{5ADEADAD-FF68-A420-89FA-C7961B12B531}" status="resolved" created="2025-06-14T14:48:56.508" complete="100000">
    <ac:deMkLst xmlns:ac="http://schemas.microsoft.com/office/drawing/2013/main/command">
      <pc:docMk xmlns:pc="http://schemas.microsoft.com/office/powerpoint/2013/main/command"/>
      <pc:sldMk xmlns:pc="http://schemas.microsoft.com/office/powerpoint/2013/main/command" cId="2211415531" sldId="2147469959"/>
      <ac:picMk id="5" creationId="{273DD5B8-D644-44BD-D6B6-54B954B0BE53}"/>
    </ac:deMkLst>
    <p188:replyLst>
      <p188:reply id="{03138C38-002F-4B83-A24E-8F50BA9DF150}" authorId="{FAED20E5-0035-FA86-DAD3-EFEDF232C9AA}" created="2025-06-14T17:29:38.775">
        <p188:txBody>
          <a:bodyPr/>
          <a:lstStyle/>
          <a:p>
            <a:r>
              <a:rPr lang="en-US"/>
              <a:t>Yes, it does</a:t>
            </a:r>
          </a:p>
        </p188:txBody>
      </p188:reply>
    </p188:replyLst>
    <p188:txBody>
      <a:bodyPr/>
      <a:lstStyle/>
      <a:p>
        <a:r>
          <a:rPr lang="en-US"/>
          <a:t>Does the "other tangible assets and intangible variations" include the purchased capex (ie the non-internally generated)?</a:t>
        </a:r>
      </a:p>
    </p188:txBody>
  </p188:cm>
  <p188:cm id="{A81B1993-5D26-4087-B3C0-0159C6769997}" authorId="{1D8B8B49-D877-7225-B232-CFDC8C0ACB6F}" status="resolved" created="2025-06-14T17:29:39.468" complete="100000">
    <ac:txMkLst xmlns:ac="http://schemas.microsoft.com/office/drawing/2013/main/command">
      <pc:docMk xmlns:pc="http://schemas.microsoft.com/office/powerpoint/2013/main/command"/>
      <pc:sldMk xmlns:pc="http://schemas.microsoft.com/office/powerpoint/2013/main/command" cId="2211415531" sldId="2147469959"/>
      <ac:spMk id="31" creationId="{C4640475-478C-4B8A-BF12-F1F89EA54AD9}"/>
      <ac:txMk cp="1406" len="160">
        <ac:context len="1567" hash="2292780157"/>
      </ac:txMk>
    </ac:txMkLst>
    <p188:pos x="4808847" y="3334325"/>
    <p188:txBody>
      <a:bodyPr/>
      <a:lstStyle/>
      <a:p>
        <a:r>
          <a:rPr lang="en-US"/>
          <a:t>Alex: Not a comment - just appreciative of this insight. Very helpful</a:t>
        </a:r>
      </a:p>
    </p188:txBody>
  </p188:cm>
</p188:cmLst>
</file>

<file path=ppt/comments/modernComment_7FFFCA89_8443EEA1.xml><?xml version="1.0" encoding="utf-8"?>
<p188:cmLst xmlns:a="http://schemas.openxmlformats.org/drawingml/2006/main" xmlns:r="http://schemas.openxmlformats.org/officeDocument/2006/relationships" xmlns:p188="http://schemas.microsoft.com/office/powerpoint/2018/8/main">
  <p188:cm id="{1E9A278C-9BC8-436A-8B79-CCD49EE3CB4D}" authorId="{FA18B807-ABC5-95B2-8636-67E74D52B8AF}" status="resolved" created="2025-06-13T21:34:41.010" complete="100000">
    <ac:deMkLst xmlns:ac="http://schemas.microsoft.com/office/drawing/2013/main/command">
      <pc:docMk xmlns:pc="http://schemas.microsoft.com/office/powerpoint/2013/main/command"/>
      <pc:sldMk xmlns:pc="http://schemas.microsoft.com/office/powerpoint/2013/main/command" cId="2219044513" sldId="2147469961"/>
      <ac:picMk id="20" creationId="{D649E35C-FA1F-9AF8-C0A0-C6779B2086A5}"/>
    </ac:deMkLst>
    <p188:replyLst>
      <p188:reply id="{570562AE-DF60-4389-B791-9AA8F9CA0CA8}" authorId="{FA18B807-ABC5-95B2-8636-67E74D52B8AF}" created="2025-06-13T21:35:27.289">
        <p188:txBody>
          <a:bodyPr/>
          <a:lstStyle/>
          <a:p>
            <a:r>
              <a:rPr lang="en-US"/>
              <a:t>Should be $2013 at Mar-25?</a:t>
            </a:r>
          </a:p>
        </p188:txBody>
      </p188:reply>
      <p188:reply id="{B4DEFEAB-7234-4E07-932C-7D8ED775D4DF}" authorId="{FAED20E5-0035-FA86-DAD3-EFEDF232C9AA}" created="2025-06-13T23:19:44.220">
        <p188:txBody>
          <a:bodyPr/>
          <a:lstStyle/>
          <a:p>
            <a:r>
              <a:rPr lang="en-US"/>
              <a:t>Added some context  in source and forced total to agree</a:t>
            </a:r>
          </a:p>
        </p188:txBody>
      </p188:reply>
    </p188:replyLst>
    <p188:txBody>
      <a:bodyPr/>
      <a:lstStyle/>
      <a:p>
        <a:r>
          <a:rPr lang="en-US"/>
          <a:t>Why doesn't this agree to the previous page?</a:t>
        </a:r>
      </a:p>
    </p188:txBody>
  </p188:cm>
  <p188:cm id="{EC5094FC-3B75-47E2-B6E8-E3CEF754F3A1}" authorId="{FA18B807-ABC5-95B2-8636-67E74D52B8AF}" status="resolved" created="2025-06-13T21:40:29.468" complete="100000">
    <ac:txMkLst xmlns:ac="http://schemas.microsoft.com/office/drawing/2013/main/command">
      <pc:docMk xmlns:pc="http://schemas.microsoft.com/office/powerpoint/2013/main/command"/>
      <pc:sldMk xmlns:pc="http://schemas.microsoft.com/office/powerpoint/2013/main/command" cId="2219044513" sldId="2147469961"/>
      <ac:spMk id="23" creationId="{D899A74A-0CE7-4119-816E-452637B82DAA}"/>
      <ac:txMk cp="266" len="242">
        <ac:context len="2041" hash="748399087"/>
      </ac:txMk>
    </ac:txMkLst>
    <p188:pos x="5633272" y="939641"/>
    <p188:replyLst>
      <p188:reply id="{636E026C-C983-4EAA-94A3-A65CA6469D59}" authorId="{FAED20E5-0035-FA86-DAD3-EFEDF232C9AA}" created="2025-06-13T22:13:45.408">
        <p188:txBody>
          <a:bodyPr/>
          <a:lstStyle/>
          <a:p>
            <a:r>
              <a:rPr lang="en-US"/>
              <a:t>Breakout contribution from top 100 customers and % of total in memos?</a:t>
            </a:r>
          </a:p>
        </p188:txBody>
      </p188:reply>
    </p188:replyLst>
    <p188:txBody>
      <a:bodyPr/>
      <a:lstStyle/>
      <a:p>
        <a:r>
          <a:rPr lang="en-US"/>
          <a:t>We say this but don't show the analysis - is there anything we can or should show?</a:t>
        </a:r>
      </a:p>
    </p188:txBody>
  </p188:cm>
  <p188:cm id="{A1372359-9979-407B-BFAD-3D786449DDB7}" authorId="{FA18B807-ABC5-95B2-8636-67E74D52B8AF}" status="resolved" created="2025-06-13T21:40:42.067" complete="100000">
    <ac:txMkLst xmlns:ac="http://schemas.microsoft.com/office/drawing/2013/main/command">
      <pc:docMk xmlns:pc="http://schemas.microsoft.com/office/powerpoint/2013/main/command"/>
      <pc:sldMk xmlns:pc="http://schemas.microsoft.com/office/powerpoint/2013/main/command" cId="2219044513" sldId="2147469961"/>
      <ac:spMk id="23" creationId="{D899A74A-0CE7-4119-816E-452637B82DAA}"/>
      <ac:txMk cp="796" len="126">
        <ac:context len="2041" hash="748399087"/>
      </ac:txMk>
    </ac:txMkLst>
    <p188:pos x="4899847" y="1892141"/>
    <p188:replyLst>
      <p188:reply id="{5876210D-A2B9-42FA-AB0A-0C3C78CCDF51}" authorId="{FAED20E5-0035-FA86-DAD3-EFEDF232C9AA}" created="2025-06-14T00:00:51.659">
        <p188:txBody>
          <a:bodyPr/>
          <a:lstStyle/>
          <a:p>
            <a:r>
              <a:rPr lang="en-US"/>
              <a:t>Showed breakdown of offline and online</a:t>
            </a:r>
          </a:p>
        </p188:txBody>
      </p188:reply>
    </p188:replyLst>
    <p188:txBody>
      <a:bodyPr/>
      <a:lstStyle/>
      <a:p>
        <a:r>
          <a:rPr lang="en-US"/>
          <a:t>Same comment as above - anything we can show?</a:t>
        </a:r>
      </a:p>
    </p188:txBody>
  </p188:cm>
  <p188:cm id="{D8DBB1ED-7FB6-4712-869D-DF863004A5A3}" authorId="{FA18B807-ABC5-95B2-8636-67E74D52B8AF}" status="resolved" created="2025-06-13T21:41:44.796" complete="100000">
    <ac:deMkLst xmlns:ac="http://schemas.microsoft.com/office/drawing/2013/main/command">
      <pc:docMk xmlns:pc="http://schemas.microsoft.com/office/powerpoint/2013/main/command"/>
      <pc:sldMk xmlns:pc="http://schemas.microsoft.com/office/powerpoint/2013/main/command" cId="2219044513" sldId="2147469961"/>
      <ac:spMk id="30" creationId="{ED9B43DD-09B1-37AB-55A7-5E3BA9E45DF0}"/>
    </ac:deMkLst>
    <p188:replyLst>
      <p188:reply id="{3DB84E1B-1844-4212-B772-6E7F838DAB53}" authorId="{FAED20E5-0035-FA86-DAD3-EFEDF232C9AA}" created="2025-06-14T00:02:56.344">
        <p188:txBody>
          <a:bodyPr/>
          <a:lstStyle/>
          <a:p>
            <a:r>
              <a:rPr lang="en-US"/>
              <a:t>Added memo and bit to strapline</a:t>
            </a:r>
          </a:p>
        </p188:txBody>
      </p188:reply>
    </p188:replyLst>
    <p188:txBody>
      <a:bodyPr/>
      <a:lstStyle/>
      <a:p>
        <a:r>
          <a:rPr lang="en-US"/>
          <a:t>Is it worth saying that there may be an upside to ARR if you were to look at average reoccurring revenue vs ARR monthly (%) - it would be a higher percent that taking TTM reoccurring revenue vs ARR… so ARR may be higher than stated because reoccurring is a look back? Anything in this idea?</a:t>
        </a:r>
      </a:p>
    </p188:txBody>
  </p188:cm>
  <p188:cm id="{A519D1C9-5F2D-45FA-8763-CD27E899CB8B}" authorId="{5ADEADAD-FF68-A420-89FA-C7961B12B531}" status="resolved" created="2025-06-14T14:54:38.992" complete="100000">
    <ac:txMkLst xmlns:ac="http://schemas.microsoft.com/office/drawing/2013/main/command">
      <pc:docMk xmlns:pc="http://schemas.microsoft.com/office/powerpoint/2013/main/command"/>
      <pc:sldMk xmlns:pc="http://schemas.microsoft.com/office/powerpoint/2013/main/command" cId="2219044513" sldId="2147469961"/>
      <ac:spMk id="30" creationId="{ED9B43DD-09B1-37AB-55A7-5E3BA9E45DF0}"/>
      <ac:txMk cp="638">
        <ac:context len="639" hash="2247260441"/>
      </ac:txMk>
    </ac:txMkLst>
    <p188:pos x="8729084" y="641336"/>
    <p188:replyLst>
      <p188:reply id="{A1732CE7-F260-422F-B9B9-CA06A862F146}" authorId="{FAED20E5-0035-FA86-DAD3-EFEDF232C9AA}" created="2025-06-14T17:31:03.069">
        <p188:txBody>
          <a:bodyPr/>
          <a:lstStyle/>
          <a:p>
            <a:r>
              <a:rPr lang="en-US"/>
              <a:t>Added ( )</a:t>
            </a:r>
          </a:p>
        </p188:txBody>
      </p188:reply>
    </p188:replyLst>
    <p188:txBody>
      <a:bodyPr/>
      <a:lstStyle/>
      <a:p>
        <a:r>
          <a:rPr lang="en-US"/>
          <a:t>Should this be deleted or expanded or in ( )?</a:t>
        </a:r>
      </a:p>
    </p188:txBody>
  </p188:cm>
  <p188:cm id="{201A7D07-BBC0-47CC-8E81-618BB7BDA39C}" authorId="{5ADEADAD-FF68-A420-89FA-C7961B12B531}" status="resolved" created="2025-06-14T14:55:28.953" complete="100000">
    <ac:txMkLst xmlns:ac="http://schemas.microsoft.com/office/drawing/2013/main/command">
      <pc:docMk xmlns:pc="http://schemas.microsoft.com/office/powerpoint/2013/main/command"/>
      <pc:sldMk xmlns:pc="http://schemas.microsoft.com/office/powerpoint/2013/main/command" cId="2219044513" sldId="2147469961"/>
      <ac:spMk id="23" creationId="{D899A74A-0CE7-4119-816E-452637B82DAA}"/>
      <ac:txMk cp="310" len="8">
        <ac:context len="2041" hash="748399087"/>
      </ac:txMk>
    </ac:txMkLst>
    <p188:pos x="5445837" y="881249"/>
    <p188:replyLst>
      <p188:reply id="{DFBB573C-B64C-4D94-84B8-58994451C469}" authorId="{FAED20E5-0035-FA86-DAD3-EFEDF232C9AA}" created="2025-06-14T17:31:40.809">
        <p188:txBody>
          <a:bodyPr/>
          <a:lstStyle/>
          <a:p>
            <a:r>
              <a:rPr lang="en-US"/>
              <a:t>edited</a:t>
            </a:r>
          </a:p>
        </p188:txBody>
      </p188:reply>
    </p188:replyLst>
    <p188:txBody>
      <a:bodyPr/>
      <a:lstStyle/>
      <a:p>
        <a:r>
          <a:rPr lang="en-US"/>
          <a:t>customers</a:t>
        </a:r>
      </a:p>
    </p188:txBody>
  </p188:cm>
  <p188:cm id="{6C2B5A76-BBA0-4554-8C56-D9530CF394A4}" authorId="{5ADEADAD-FF68-A420-89FA-C7961B12B531}" status="resolved" created="2025-06-14T14:56:26.347" complete="100000">
    <ac:txMkLst xmlns:ac="http://schemas.microsoft.com/office/drawing/2013/main/command">
      <pc:docMk xmlns:pc="http://schemas.microsoft.com/office/powerpoint/2013/main/command"/>
      <pc:sldMk xmlns:pc="http://schemas.microsoft.com/office/powerpoint/2013/main/command" cId="2219044513" sldId="2147469961"/>
      <ac:spMk id="23" creationId="{D899A74A-0CE7-4119-816E-452637B82DAA}"/>
      <ac:txMk cp="217" len="13">
        <ac:context len="2041" hash="748399087"/>
      </ac:txMk>
    </ac:txMkLst>
    <p188:pos x="5581009" y="730174"/>
    <p188:replyLst>
      <p188:reply id="{64B32FBF-57FF-49CD-867B-1832F0D26049}" authorId="{FAED20E5-0035-FA86-DAD3-EFEDF232C9AA}" created="2025-06-14T17:32:19.856">
        <p188:txBody>
          <a:bodyPr/>
          <a:lstStyle/>
          <a:p>
            <a:r>
              <a:rPr lang="en-US"/>
              <a:t>added</a:t>
            </a:r>
          </a:p>
        </p188:txBody>
      </p188:reply>
    </p188:replyLst>
    <p188:txBody>
      <a:bodyPr/>
      <a:lstStyle/>
      <a:p>
        <a:r>
          <a:rPr lang="en-US"/>
          <a:t>add-ons that consistently ..?</a:t>
        </a:r>
      </a:p>
    </p188:txBody>
  </p188:cm>
</p188:cmLst>
</file>

<file path=ppt/comments/modernComment_7FFFCA91_C66098B8.xml><?xml version="1.0" encoding="utf-8"?>
<p188:cmLst xmlns:a="http://schemas.openxmlformats.org/drawingml/2006/main" xmlns:r="http://schemas.openxmlformats.org/officeDocument/2006/relationships" xmlns:p188="http://schemas.microsoft.com/office/powerpoint/2018/8/main">
  <p188:cm id="{769F648B-14D8-4E50-AB44-DFF8D8A7CF4F}" authorId="{5ADEADAD-FF68-A420-89FA-C7961B12B531}" status="resolved" created="2025-06-14T16:15:33.026" complete="100000">
    <ac:txMkLst xmlns:ac="http://schemas.microsoft.com/office/drawing/2013/main/command">
      <pc:docMk xmlns:pc="http://schemas.microsoft.com/office/powerpoint/2013/main/command"/>
      <pc:sldMk xmlns:pc="http://schemas.microsoft.com/office/powerpoint/2013/main/command" cId="3328219320" sldId="2147469969"/>
      <ac:spMk id="13" creationId="{D225D19F-91F7-BB50-9A4C-C551C3D5129A}"/>
      <ac:txMk cp="281" len="25">
        <ac:context len="324" hash="620919499"/>
      </ac:txMk>
    </ac:txMkLst>
    <p188:pos x="8244055" y="339186"/>
    <p188:replyLst>
      <p188:reply id="{520A6FDB-85C6-406B-8842-ABF793DAF66B}" authorId="{FAED20E5-0035-FA86-DAD3-EFEDF232C9AA}" created="2025-06-14T17:44:33.872">
        <p188:txBody>
          <a:bodyPr/>
          <a:lstStyle/>
          <a:p>
            <a:r>
              <a:rPr lang="en-US"/>
              <a:t>Yes, because it is in the locked box at nil, with a footnote that it will need to be quantified "[1] We expect that all China-domiciled entities will be divested prior to the closing of this transaction, and thus there will be no employee liability as at the closing date. We note that if the entities are not fully divested by the closing date, then a liability of $90k will be required to be added to the Locked Box in this row"</a:t>
            </a:r>
          </a:p>
        </p188:txBody>
      </p188:reply>
    </p188:replyLst>
    <p188:txBody>
      <a:bodyPr/>
      <a:lstStyle/>
      <a:p>
        <a:r>
          <a:rPr lang="en-US"/>
          <a:t>Is this the same issue as #14 on prior page? IF so should it be included in both places?</a:t>
        </a:r>
      </a:p>
    </p188:txBody>
  </p188:cm>
</p188:cmLst>
</file>

<file path=ppt/comments/modernComment_7FFFCA93_B75446.xml><?xml version="1.0" encoding="utf-8"?>
<p188:cmLst xmlns:a="http://schemas.openxmlformats.org/drawingml/2006/main" xmlns:r="http://schemas.openxmlformats.org/officeDocument/2006/relationships" xmlns:p188="http://schemas.microsoft.com/office/powerpoint/2018/8/main">
  <p188:cm id="{150FBE57-926A-424E-8FF5-6B0B218390F0}" authorId="{FA18B807-ABC5-95B2-8636-67E74D52B8AF}" status="resolved" created="2025-06-13T22:11:51.657" complete="100000">
    <ac:txMkLst xmlns:ac="http://schemas.microsoft.com/office/drawing/2013/main/command">
      <pc:docMk xmlns:pc="http://schemas.microsoft.com/office/powerpoint/2013/main/command"/>
      <pc:sldMk xmlns:pc="http://schemas.microsoft.com/office/powerpoint/2013/main/command" cId="12014662" sldId="2147469971"/>
      <ac:spMk id="22" creationId="{D5A92B42-CF52-0069-8B48-8E3E6E5DA3A2}"/>
      <ac:txMk cp="1328">
        <ac:context len="1791" hash="3747617004"/>
      </ac:txMk>
    </ac:txMkLst>
    <p188:pos x="3658716" y="3490233"/>
    <p188:replyLst>
      <p188:reply id="{2A891749-2329-4C58-A4CD-FECD63BF1F7F}" authorId="{1D8B8B49-D877-7225-B232-CFDC8C0ACB6F}" created="2025-06-13T23:47:32.524">
        <p188:txBody>
          <a:bodyPr/>
          <a:lstStyle/>
          <a:p>
            <a:r>
              <a:rPr lang="en-US"/>
              <a:t>added</a:t>
            </a:r>
          </a:p>
        </p188:txBody>
      </p188:reply>
    </p188:replyLst>
    <p188:txBody>
      <a:bodyPr/>
      <a:lstStyle/>
      <a:p>
        <a:r>
          <a:rPr lang="en-US"/>
          <a:t>Reference?</a:t>
        </a:r>
      </a:p>
    </p188:txBody>
  </p188:cm>
  <p188:cm id="{90A0586E-DC75-4C3F-85DE-37FE48FDC4F8}" authorId="{5ADEADAD-FF68-A420-89FA-C7961B12B531}" status="resolved" created="2025-06-14T15:31:02.845" complete="100000">
    <ac:txMkLst xmlns:ac="http://schemas.microsoft.com/office/drawing/2013/main/command">
      <pc:docMk xmlns:pc="http://schemas.microsoft.com/office/powerpoint/2013/main/command"/>
      <pc:sldMk xmlns:pc="http://schemas.microsoft.com/office/powerpoint/2013/main/command" cId="12014662" sldId="2147469971"/>
      <ac:spMk id="22" creationId="{D5A92B42-CF52-0069-8B48-8E3E6E5DA3A2}"/>
      <ac:txMk cp="1397" len="248">
        <ac:context len="1791" hash="3747617004"/>
      </ac:txMk>
    </ac:txMkLst>
    <p188:pos x="5233903" y="3649176"/>
    <p188:replyLst>
      <p188:reply id="{5418642A-17CE-49C3-9C0E-A89330771C61}" authorId="{FAED20E5-0035-FA86-DAD3-EFEDF232C9AA}" created="2025-06-14T17:35:24.705">
        <p188:txBody>
          <a:bodyPr/>
          <a:lstStyle/>
          <a:p>
            <a:r>
              <a:rPr lang="en-US"/>
              <a:t>Yes, kept language consistent</a:t>
            </a:r>
          </a:p>
        </p188:txBody>
      </p188:reply>
    </p188:replyLst>
    <p188:txBody>
      <a:bodyPr/>
      <a:lstStyle/>
      <a:p>
        <a:r>
          <a:rPr lang="en-US"/>
          <a:t>Presume the wording of the adjustment titles are based on the sell side report eg "implementation pre-attempt" "non-recurrent" ☺️</a:t>
        </a:r>
      </a:p>
    </p188:txBody>
  </p188:cm>
</p188:cmLst>
</file>

<file path=ppt/comments/modernComment_7FFFCA95_EDF9B490.xml><?xml version="1.0" encoding="utf-8"?>
<p188:cmLst xmlns:a="http://schemas.openxmlformats.org/drawingml/2006/main" xmlns:r="http://schemas.openxmlformats.org/officeDocument/2006/relationships" xmlns:p188="http://schemas.microsoft.com/office/powerpoint/2018/8/main">
  <p188:cm id="{E0D028F2-776D-472D-AA64-56F6F5A03E31}" authorId="{FA18B807-ABC5-95B2-8636-67E74D52B8AF}" status="resolved" created="2025-06-13T22:30:51.990" complete="100000">
    <ac:deMkLst xmlns:ac="http://schemas.microsoft.com/office/drawing/2013/main/command">
      <pc:docMk xmlns:pc="http://schemas.microsoft.com/office/powerpoint/2013/main/command"/>
      <pc:sldMk xmlns:pc="http://schemas.microsoft.com/office/powerpoint/2013/main/command" cId="3992564880" sldId="2147469973"/>
      <ac:picMk id="18" creationId="{121F2736-0E9E-D507-16AC-2DD77AF68597}"/>
    </ac:deMkLst>
    <p188:replyLst>
      <p188:reply id="{38B48C81-6B04-47D3-97D0-F5A3F89C475F}" authorId="{1D8B8B49-D877-7225-B232-CFDC8C0ACB6F}" created="2025-06-13T23:44:34.305">
        <p188:txBody>
          <a:bodyPr/>
          <a:lstStyle/>
          <a:p>
            <a:r>
              <a:rPr lang="en-US"/>
              <a:t>Updated - to confirm this is correct</a:t>
            </a:r>
          </a:p>
        </p188:txBody>
      </p188:reply>
    </p188:replyLst>
    <p188:txBody>
      <a:bodyPr/>
      <a:lstStyle/>
      <a:p>
        <a:r>
          <a:rPr lang="en-US"/>
          <a:t>Just show one RR adj to get to $14.448m - buy side RR adjs relating to revenue , cos and opex. You can't see the individual adjustments on the next page and the refs 6, 7, 8 don't refer to anything.</a:t>
        </a:r>
      </a:p>
    </p188:txBody>
  </p188:cm>
  <p188:cm id="{9FB483D0-957E-41D0-9A30-8E1A259E1F4B}" authorId="{FA18B807-ABC5-95B2-8636-67E74D52B8AF}" status="resolved" created="2025-06-13T22:32:10.952" complete="100000">
    <ac:deMkLst xmlns:ac="http://schemas.microsoft.com/office/drawing/2013/main/command">
      <pc:docMk xmlns:pc="http://schemas.microsoft.com/office/powerpoint/2013/main/command"/>
      <pc:sldMk xmlns:pc="http://schemas.microsoft.com/office/powerpoint/2013/main/command" cId="3992564880" sldId="2147469973"/>
      <ac:picMk id="18" creationId="{121F2736-0E9E-D507-16AC-2DD77AF68597}"/>
    </ac:deMkLst>
    <p188:replyLst>
      <p188:reply id="{76EB5623-3685-474C-B68D-5C5C3115C3F7}" authorId="{1D8B8B49-D877-7225-B232-CFDC8C0ACB6F}" created="2025-06-13T23:44:39.123">
        <p188:txBody>
          <a:bodyPr/>
          <a:lstStyle/>
          <a:p>
            <a:r>
              <a:rPr lang="en-US"/>
              <a:t>updated</a:t>
            </a:r>
          </a:p>
        </p188:txBody>
      </p188:reply>
    </p188:replyLst>
    <p188:txBody>
      <a:bodyPr/>
      <a:lstStyle/>
      <a:p>
        <a:r>
          <a:rPr lang="en-US"/>
          <a:t>The $14.448 in the table should be EBITDA, run rate buy side adjusted?</a:t>
        </a:r>
      </a:p>
    </p188:txBody>
  </p188:cm>
</p188:cmLst>
</file>

<file path=ppt/comments/modernComment_7FFFCA96_9AA6F680.xml><?xml version="1.0" encoding="utf-8"?>
<p188:cmLst xmlns:a="http://schemas.openxmlformats.org/drawingml/2006/main" xmlns:r="http://schemas.openxmlformats.org/officeDocument/2006/relationships" xmlns:p188="http://schemas.microsoft.com/office/powerpoint/2018/8/main">
  <p188:cm id="{EFDBD8E8-4C10-4922-A3D0-DF2066FD0669}" authorId="{5ADEADAD-FF68-A420-89FA-C7961B12B531}" status="resolved" created="2025-06-14T15:51:15.906" complete="100000">
    <ac:txMkLst xmlns:ac="http://schemas.microsoft.com/office/drawing/2013/main/command">
      <pc:docMk xmlns:pc="http://schemas.microsoft.com/office/powerpoint/2013/main/command"/>
      <pc:sldMk xmlns:pc="http://schemas.microsoft.com/office/powerpoint/2013/main/command" cId="2594633344" sldId="2147469974"/>
      <ac:spMk id="22" creationId="{32447741-916D-472C-8C2F-6676D4D2591A}"/>
      <ac:txMk cp="1344">
        <ac:context len="1528" hash="4244333444"/>
      </ac:txMk>
    </ac:txMkLst>
    <p188:pos x="783811" y="3578232"/>
    <p188:replyLst>
      <p188:reply id="{B4A02592-2014-4C78-AE4D-1AF1D1D935C6}" authorId="{FAED20E5-0035-FA86-DAD3-EFEDF232C9AA}" created="2025-06-14T17:37:57.386">
        <p188:txBody>
          <a:bodyPr/>
          <a:lstStyle/>
          <a:p>
            <a:r>
              <a:rPr lang="en-US"/>
              <a:t>fixed</a:t>
            </a:r>
          </a:p>
        </p188:txBody>
      </p188:reply>
    </p188:replyLst>
    <p188:txBody>
      <a:bodyPr/>
      <a:lstStyle/>
      <a:p>
        <a:r>
          <a:rPr lang="en-US"/>
          <a:t>Do we use k elsewhere?</a:t>
        </a:r>
      </a:p>
    </p188:txBody>
  </p188:cm>
</p188:cmLst>
</file>

<file path=ppt/comments/modernComment_7FFFCA97_4CB39A88.xml><?xml version="1.0" encoding="utf-8"?>
<p188:cmLst xmlns:a="http://schemas.openxmlformats.org/drawingml/2006/main" xmlns:r="http://schemas.openxmlformats.org/officeDocument/2006/relationships" xmlns:p188="http://schemas.microsoft.com/office/powerpoint/2018/8/main">
  <p188:cm id="{76B564E7-FDB0-466B-A417-2FABF5DB7382}" authorId="{FA18B807-ABC5-95B2-8636-67E74D52B8AF}" status="resolved" created="2025-06-13T23:38:04.505" complete="100000">
    <ac:txMkLst xmlns:ac="http://schemas.microsoft.com/office/drawing/2013/main/command">
      <pc:docMk xmlns:pc="http://schemas.microsoft.com/office/powerpoint/2013/main/command"/>
      <pc:sldMk xmlns:pc="http://schemas.microsoft.com/office/powerpoint/2013/main/command" cId="1286838920" sldId="2147469975"/>
      <ac:spMk id="22" creationId="{32447741-916D-472C-8C2F-6676D4D2591A}"/>
      <ac:txMk cp="423" len="7">
        <ac:context len="604" hash="2594119203"/>
      </ac:txMk>
    </ac:txMkLst>
    <p188:pos x="2378296" y="1396841"/>
    <p188:replyLst>
      <p188:reply id="{B9A432C8-9A8A-4463-8564-9816A3C2F6DC}" authorId="{1D8B8B49-D877-7225-B232-CFDC8C0ACB6F}" created="2025-06-14T01:14:51.441">
        <p188:txBody>
          <a:bodyPr/>
          <a:lstStyle/>
          <a:p>
            <a:r>
              <a:rPr lang="en-US"/>
              <a:t>added</a:t>
            </a:r>
          </a:p>
        </p188:txBody>
      </p188:reply>
    </p188:replyLst>
    <p188:txBody>
      <a:bodyPr/>
      <a:lstStyle/>
      <a:p>
        <a:r>
          <a:rPr lang="en-US"/>
          <a:t>Refer to QoE here</a:t>
        </a:r>
      </a:p>
    </p188:txBody>
  </p188:cm>
  <p188:cm id="{326A03A6-F1BE-4231-835F-A47512B0FEE9}" authorId="{FA18B807-ABC5-95B2-8636-67E74D52B8AF}" status="resolved" created="2025-06-13T23:38:23.018" complete="100000">
    <ac:txMkLst xmlns:ac="http://schemas.microsoft.com/office/drawing/2013/main/command">
      <pc:docMk xmlns:pc="http://schemas.microsoft.com/office/powerpoint/2013/main/command"/>
      <pc:sldMk xmlns:pc="http://schemas.microsoft.com/office/powerpoint/2013/main/command" cId="1286838920" sldId="2147469975"/>
      <ac:spMk id="5" creationId="{E6ED650C-FAD0-C31B-617E-C18EB891DC73}"/>
      <ac:txMk cp="327">
        <ac:context len="331" hash="2266556008"/>
      </ac:txMk>
    </ac:txMkLst>
    <p188:pos x="9418639" y="458787"/>
    <p188:txBody>
      <a:bodyPr/>
      <a:lstStyle/>
      <a:p>
        <a:r>
          <a:rPr lang="en-US"/>
          <a:t>Check all pg numbers</a:t>
        </a:r>
      </a:p>
    </p188:txBody>
  </p188:cm>
</p188:cmLst>
</file>

<file path=ppt/comments/modernComment_7FFFCA98_217F33B4.xml><?xml version="1.0" encoding="utf-8"?>
<p188:cmLst xmlns:a="http://schemas.openxmlformats.org/drawingml/2006/main" xmlns:r="http://schemas.openxmlformats.org/officeDocument/2006/relationships" xmlns:p188="http://schemas.microsoft.com/office/powerpoint/2018/8/main">
  <p188:cm id="{2291B9A5-DE5B-46C3-83BF-DEA089B90D2B}" authorId="{FA18B807-ABC5-95B2-8636-67E74D52B8AF}" status="resolved" created="2025-06-13T23:48:56.355" complete="100000">
    <ac:deMkLst xmlns:ac="http://schemas.microsoft.com/office/drawing/2013/main/command">
      <pc:docMk xmlns:pc="http://schemas.microsoft.com/office/powerpoint/2013/main/command"/>
      <pc:sldMk xmlns:pc="http://schemas.microsoft.com/office/powerpoint/2013/main/command" cId="561984436" sldId="2147469976"/>
      <ac:picMk id="27" creationId="{F294DF0F-8D99-A28D-5CA8-EE3F7FDA2C59}"/>
    </ac:deMkLst>
    <p188:replyLst>
      <p188:reply id="{BFD98909-FFCF-4F63-9FD0-97E550F84A7D}" authorId="{FAED20E5-0035-FA86-DAD3-EFEDF232C9AA}" created="2025-06-14T01:36:53.387">
        <p188:txBody>
          <a:bodyPr/>
          <a:lstStyle/>
          <a:p>
            <a:r>
              <a:rPr lang="en-US"/>
              <a:t>added</a:t>
            </a:r>
          </a:p>
        </p188:txBody>
      </p188:reply>
    </p188:replyLst>
    <p188:txBody>
      <a:bodyPr/>
      <a:lstStyle/>
      <a:p>
        <a:r>
          <a:rPr lang="en-US"/>
          <a:t>See earlier comment about including Dec-24 as a column</a:t>
        </a:r>
      </a:p>
    </p188:txBody>
  </p188:cm>
  <p188:cm id="{1050C6BC-5105-45EF-8B6C-291E178A5E76}" authorId="{FA18B807-ABC5-95B2-8636-67E74D52B8AF}" status="resolved" created="2025-06-13T23:49:13.018" complete="100000">
    <ac:txMkLst xmlns:ac="http://schemas.microsoft.com/office/drawing/2013/main/command">
      <pc:docMk xmlns:pc="http://schemas.microsoft.com/office/powerpoint/2013/main/command"/>
      <pc:sldMk xmlns:pc="http://schemas.microsoft.com/office/powerpoint/2013/main/command" cId="561984436" sldId="2147469976"/>
      <ac:spMk id="11" creationId="{0C7B2154-7CA3-96CF-6AD2-BB45D064C649}"/>
      <ac:txMk cp="43" len="23">
        <ac:context len="287" hash="609210022"/>
      </ac:txMk>
    </ac:txMkLst>
    <p188:pos x="3958697" y="229094"/>
    <p188:replyLst>
      <p188:reply id="{4FC6ADF1-6832-4EA3-9C48-7CED6089EC10}" authorId="{FAED20E5-0035-FA86-DAD3-EFEDF232C9AA}" created="2025-06-14T01:36:46.611">
        <p188:txBody>
          <a:bodyPr/>
          <a:lstStyle/>
          <a:p>
            <a:r>
              <a:rPr lang="en-US"/>
              <a:t>added</a:t>
            </a:r>
          </a:p>
        </p188:txBody>
      </p188:reply>
    </p188:replyLst>
    <p188:txBody>
      <a:bodyPr/>
      <a:lstStyle/>
      <a:p>
        <a:r>
          <a:rPr lang="en-US"/>
          <a:t>As with QoE please include adj refs in banners</a:t>
        </a:r>
      </a:p>
    </p188:txBody>
  </p188:cm>
  <p188:cm id="{BD169902-1727-4E46-B3F5-160EF46B30B0}" authorId="{FA18B807-ABC5-95B2-8636-67E74D52B8AF}" status="resolved" created="2025-06-13T23:50:15.405" complete="100000">
    <ac:txMkLst xmlns:ac="http://schemas.microsoft.com/office/drawing/2013/main/command">
      <pc:docMk xmlns:pc="http://schemas.microsoft.com/office/powerpoint/2013/main/command"/>
      <pc:sldMk xmlns:pc="http://schemas.microsoft.com/office/powerpoint/2013/main/command" cId="561984436" sldId="2147469976"/>
      <ac:spMk id="6" creationId="{6024E5AC-3688-475C-8BDD-5ECC42457A0D}"/>
      <ac:txMk cp="289" len="12">
        <ac:context len="1747" hash="3092918861"/>
      </ac:txMk>
    </ac:txMkLst>
    <p188:pos x="2083021" y="939641"/>
    <p188:replyLst>
      <p188:reply id="{27247972-5043-43FB-A1D7-F18703D583AD}" authorId="{1D8B8B49-D877-7225-B232-CFDC8C0ACB6F}" created="2025-06-14T01:52:29.949">
        <p188:txBody>
          <a:bodyPr/>
          <a:lstStyle/>
          <a:p>
            <a:r>
              <a:rPr lang="en-US"/>
              <a:t>Included #</a:t>
            </a:r>
          </a:p>
        </p188:txBody>
      </p188:reply>
    </p188:replyLst>
    <p188:txBody>
      <a:bodyPr/>
      <a:lstStyle/>
      <a:p>
        <a:r>
          <a:rPr lang="en-US"/>
          <a:t>Preferable if debt adjs are numbered so they can be referred to through the nwc section</a:t>
        </a:r>
      </a:p>
    </p188:txBody>
  </p188:cm>
  <p188:cm id="{DDA7F474-41E3-47F2-A1C5-9D97896EBF43}" authorId="{FA18B807-ABC5-95B2-8636-67E74D52B8AF}" status="resolved" created="2025-06-13T23:51:46.104" complete="100000">
    <ac:txMkLst xmlns:ac="http://schemas.microsoft.com/office/drawing/2013/main/command">
      <pc:docMk xmlns:pc="http://schemas.microsoft.com/office/powerpoint/2013/main/command"/>
      <pc:sldMk xmlns:pc="http://schemas.microsoft.com/office/powerpoint/2013/main/command" cId="561984436" sldId="2147469976"/>
      <ac:spMk id="6" creationId="{6024E5AC-3688-475C-8BDD-5ECC42457A0D}"/>
      <ac:txMk cp="1350">
        <ac:context len="1747" hash="3092918861"/>
      </ac:txMk>
    </ac:txMkLst>
    <p188:pos x="4578571" y="3225641"/>
    <p188:replyLst>
      <p188:reply id="{28F89BA5-5873-466D-9F5F-3189B6954840}" authorId="{1D8B8B49-D877-7225-B232-CFDC8C0ACB6F}" created="2025-06-14T01:52:24.878">
        <p188:txBody>
          <a:bodyPr/>
          <a:lstStyle/>
          <a:p>
            <a:r>
              <a:rPr lang="en-US"/>
              <a:t>Added </a:t>
            </a:r>
          </a:p>
        </p188:txBody>
      </p188:reply>
    </p188:replyLst>
    <p188:txBody>
      <a:bodyPr/>
      <a:lstStyle/>
      <a:p>
        <a:r>
          <a:rPr lang="en-US"/>
          <a:t>Is this the $4k positive number in net debt? The way we explain this is confusing and likely to give rise to qns - can we just be specific?</a:t>
        </a:r>
      </a:p>
    </p188:txBody>
  </p188:cm>
  <p188:cm id="{6A88E009-3A14-4CF1-A225-237E4649C0B9}" authorId="{5ADEADAD-FF68-A420-89FA-C7961B12B531}" status="resolved" created="2025-06-14T16:02:47.726" complete="100000">
    <ac:txMkLst xmlns:ac="http://schemas.microsoft.com/office/drawing/2013/main/command">
      <pc:docMk xmlns:pc="http://schemas.microsoft.com/office/powerpoint/2013/main/command"/>
      <pc:sldMk xmlns:pc="http://schemas.microsoft.com/office/powerpoint/2013/main/command" cId="561984436" sldId="2147469976"/>
      <ac:spMk id="6" creationId="{6024E5AC-3688-475C-8BDD-5ECC42457A0D}"/>
      <ac:txMk cp="840" len="16">
        <ac:context len="1747" hash="3092918861"/>
      </ac:txMk>
    </ac:txMkLst>
    <p188:pos x="4926441" y="2051581"/>
    <p188:replyLst>
      <p188:reply id="{299EF4FD-8AAC-42A5-A78B-600DEC6FA3C4}" authorId="{FAED20E5-0035-FA86-DAD3-EFEDF232C9AA}" created="2025-06-14T17:40:15.890">
        <p188:txBody>
          <a:bodyPr/>
          <a:lstStyle/>
          <a:p>
            <a:r>
              <a:rPr lang="en-US"/>
              <a:t>fixed</a:t>
            </a:r>
          </a:p>
        </p188:txBody>
      </p188:reply>
    </p188:replyLst>
    <p188:txBody>
      <a:bodyPr/>
      <a:lstStyle/>
      <a:p>
        <a:r>
          <a:rPr lang="en-US"/>
          <a:t>included in net </a:t>
        </a:r>
      </a:p>
    </p188:txBody>
  </p188:cm>
  <p188:cm id="{2AADEFF8-5789-4CF4-B160-D8F8B27F7E14}" authorId="{1D8B8B49-D877-7225-B232-CFDC8C0ACB6F}" status="resolved" created="2025-06-14T17:34:16.622" complete="100000">
    <ac:deMkLst xmlns:ac="http://schemas.microsoft.com/office/drawing/2013/main/command">
      <pc:docMk xmlns:pc="http://schemas.microsoft.com/office/powerpoint/2013/main/command"/>
      <pc:sldMk xmlns:pc="http://schemas.microsoft.com/office/powerpoint/2013/main/command" cId="561984436" sldId="2147469976"/>
      <ac:spMk id="10" creationId="{808ED605-6CB2-A7A9-5141-99D4EFFFEA55}"/>
    </ac:deMkLst>
    <p188:replyLst>
      <p188:reply id="{F0F46250-5437-4EF0-A078-7F3E7316C379}" authorId="{1D8B8B49-D877-7225-B232-CFDC8C0ACB6F}" created="2025-06-14T17:34:20.042">
        <p188:txBody>
          <a:bodyPr/>
          <a:lstStyle/>
          <a:p>
            <a:r>
              <a:rPr lang="en-US"/>
              <a:t>fixed</a:t>
            </a:r>
          </a:p>
        </p188:txBody>
      </p188:reply>
    </p188:replyLst>
    <p188:txBody>
      <a:bodyPr/>
      <a:lstStyle/>
      <a:p>
        <a:r>
          <a:rPr lang="en-US"/>
          <a:t>Alex: weird blue bar</a:t>
        </a:r>
      </a:p>
    </p188:txBody>
  </p188:cm>
</p188:cmLst>
</file>

<file path=ppt/comments/modernComment_7FFFCAA1_5E5D6F78.xml><?xml version="1.0" encoding="utf-8"?>
<p188:cmLst xmlns:a="http://schemas.openxmlformats.org/drawingml/2006/main" xmlns:r="http://schemas.openxmlformats.org/officeDocument/2006/relationships" xmlns:p188="http://schemas.microsoft.com/office/powerpoint/2018/8/main">
  <p188:cm id="{99C02871-4A75-4B90-90FE-E95D0E1D72F4}" authorId="{FA18B807-ABC5-95B2-8636-67E74D52B8AF}" status="resolved" created="2025-06-13T20:30:58.115" complete="100000">
    <pc:sldMkLst xmlns:pc="http://schemas.microsoft.com/office/powerpoint/2013/main/command">
      <pc:docMk/>
      <pc:sldMk cId="1583181688" sldId="2147469985"/>
    </pc:sldMkLst>
    <p188:txBody>
      <a:bodyPr/>
      <a:lstStyle/>
      <a:p>
        <a:r>
          <a:rPr lang="en-US"/>
          <a:t>Needs a date</a:t>
        </a:r>
      </a:p>
    </p188:txBody>
  </p188:cm>
  <p188:cm id="{902974A5-9623-4AFE-B59C-94A2C08D95A5}" authorId="{FA18B807-ABC5-95B2-8636-67E74D52B8AF}" status="resolved" created="2025-06-13T20:31:19.503" complete="100000">
    <ac:deMkLst xmlns:ac="http://schemas.microsoft.com/office/drawing/2013/main/command">
      <pc:docMk xmlns:pc="http://schemas.microsoft.com/office/powerpoint/2013/main/command"/>
      <pc:sldMk xmlns:pc="http://schemas.microsoft.com/office/powerpoint/2013/main/command" cId="1583181688" sldId="2147469985"/>
      <ac:picMk id="10" creationId="{F963C585-BE82-43D7-5149-2B17C28FB6E1}"/>
    </ac:deMkLst>
    <p188:replyLst>
      <p188:reply id="{F20FC83D-1019-4FE9-8D35-ADA196056F9B}" authorId="{1D8B8B49-D877-7225-B232-CFDC8C0ACB6F}" created="2025-06-14T01:54:52.571">
        <p188:txBody>
          <a:bodyPr/>
          <a:lstStyle/>
          <a:p>
            <a:r>
              <a:rPr lang="en-US"/>
              <a:t>fixed</a:t>
            </a:r>
          </a:p>
        </p188:txBody>
      </p188:reply>
    </p188:replyLst>
    <p188:txBody>
      <a:bodyPr/>
      <a:lstStyle/>
      <a:p>
        <a:r>
          <a:rPr lang="en-US"/>
          <a:t>Something up with border on the royal blue header (second row)</a:t>
        </a:r>
      </a:p>
    </p188:txBody>
  </p188:cm>
</p188:cmLst>
</file>

<file path=ppt/comments/modernComment_28B_6598BD62.xml><?xml version="1.0" encoding="utf-8"?>
<p188:cmLst xmlns:a="http://schemas.openxmlformats.org/drawingml/2006/main" xmlns:r="http://schemas.openxmlformats.org/officeDocument/2006/relationships" xmlns:p188="http://schemas.microsoft.com/office/powerpoint/2018/8/main">
  <p188:cm id="{8E906E62-789A-4934-875F-4C121B6D1614}" authorId="{5ADEADAD-FF68-A420-89FA-C7961B12B531}" status="resolved" created="2025-06-14T16:37:08.201" complete="100000">
    <ac:txMkLst xmlns:ac="http://schemas.microsoft.com/office/drawing/2013/main/command">
      <pc:docMk xmlns:pc="http://schemas.microsoft.com/office/powerpoint/2013/main/command"/>
      <pc:sldMk xmlns:pc="http://schemas.microsoft.com/office/powerpoint/2013/main/command" cId="1704508770" sldId="651"/>
      <ac:spMk id="9" creationId="{A6C464EB-F12A-400F-9ACA-6DD61F5011F8}"/>
      <ac:txMk cp="620">
        <ac:context len="2984" hash="4027072303"/>
      </ac:txMk>
    </ac:txMkLst>
    <p188:pos x="4277459" y="988348"/>
    <p188:txBody>
      <a:bodyPr/>
      <a:lstStyle/>
      <a:p>
        <a:r>
          <a:rPr lang="en-US"/>
          <a:t>Just a note to remember to update</a:t>
        </a:r>
      </a:p>
    </p188:txBody>
  </p188:cm>
</p188:cmLst>
</file>

<file path=ppt/comments/modernComment_30F_AA3F095C.xml><?xml version="1.0" encoding="utf-8"?>
<p188:cmLst xmlns:a="http://schemas.openxmlformats.org/drawingml/2006/main" xmlns:r="http://schemas.openxmlformats.org/officeDocument/2006/relationships" xmlns:p188="http://schemas.microsoft.com/office/powerpoint/2018/8/main">
  <p188:cm id="{A4FFF28D-54C4-4532-A61D-B36FBF6C59B8}" authorId="{FA18B807-ABC5-95B2-8636-67E74D52B8AF}" status="resolved" created="2025-06-13T20:18:35.492" complete="100000">
    <ac:deMkLst xmlns:ac="http://schemas.microsoft.com/office/drawing/2013/main/command">
      <pc:docMk xmlns:pc="http://schemas.microsoft.com/office/powerpoint/2013/main/command"/>
      <pc:sldMk xmlns:pc="http://schemas.microsoft.com/office/powerpoint/2013/main/command" cId="2856257884" sldId="783"/>
      <ac:spMk id="5" creationId="{3AC9380A-21F5-B0BA-0EE1-301B2D38F649}"/>
    </ac:deMkLst>
    <p188:replyLst>
      <p188:reply id="{35187FF0-0409-41CE-BE7D-03778401FC9E}" authorId="{FAED20E5-0035-FA86-DAD3-EFEDF232C9AA}" created="2025-06-13T20:32:26.382">
        <p188:txBody>
          <a:bodyPr/>
          <a:lstStyle/>
          <a:p>
            <a:r>
              <a:rPr lang="en-US"/>
              <a:t>Added</a:t>
            </a:r>
          </a:p>
        </p188:txBody>
      </p188:reply>
    </p188:replyLst>
    <p188:txBody>
      <a:bodyPr/>
      <a:lstStyle/>
      <a:p>
        <a:r>
          <a:rPr lang="en-US"/>
          <a:t>Yes please include the 2P disclaimer</a:t>
        </a:r>
      </a:p>
    </p188:txBody>
  </p188:cm>
</p188:cmLst>
</file>

<file path=ppt/comments/modernComment_38D_4C8572F.xml><?xml version="1.0" encoding="utf-8"?>
<p188:cmLst xmlns:a="http://schemas.openxmlformats.org/drawingml/2006/main" xmlns:r="http://schemas.openxmlformats.org/officeDocument/2006/relationships" xmlns:p188="http://schemas.microsoft.com/office/powerpoint/2018/8/main">
  <p188:cm id="{EED98D11-B13D-42DA-B158-187EC452B542}" authorId="{FA18B807-ABC5-95B2-8636-67E74D52B8AF}" status="resolved" created="2025-06-13T22:40:41.436" complete="100000">
    <ac:txMkLst xmlns:ac="http://schemas.microsoft.com/office/drawing/2013/main/command">
      <pc:docMk xmlns:pc="http://schemas.microsoft.com/office/powerpoint/2013/main/command"/>
      <pc:sldMk xmlns:pc="http://schemas.microsoft.com/office/powerpoint/2013/main/command" cId="80238383" sldId="909"/>
      <ac:spMk id="45" creationId="{0EB1C149-E77B-1493-83D8-477448A4348C}"/>
      <ac:txMk cp="904">
        <ac:context len="1229" hash="1674785500"/>
      </ac:txMk>
    </ac:txMkLst>
    <p188:pos x="2481264" y="2082640"/>
    <p188:replyLst>
      <p188:reply id="{EB324AA3-4F8A-48EB-8FED-9E06673C9B3A}" authorId="{FAED20E5-0035-FA86-DAD3-EFEDF232C9AA}" created="2025-06-14T01:52:46.051">
        <p188:txBody>
          <a:bodyPr/>
          <a:lstStyle/>
          <a:p>
            <a:r>
              <a:rPr lang="en-US"/>
              <a:t>Updated</a:t>
            </a:r>
          </a:p>
        </p188:txBody>
      </p188:reply>
    </p188:replyLst>
    <p188:txBody>
      <a:bodyPr/>
      <a:lstStyle/>
      <a:p>
        <a:r>
          <a:rPr lang="en-US"/>
          <a:t>Sq brackets</a:t>
        </a:r>
      </a:p>
    </p188:txBody>
  </p188:cm>
  <p188:cm id="{36C47308-AC11-4F5A-ADD0-554F46684FAB}" authorId="{FA18B807-ABC5-95B2-8636-67E74D52B8AF}" status="resolved" created="2025-06-13T22:41:40.856" complete="100000">
    <ac:txMkLst xmlns:ac="http://schemas.microsoft.com/office/drawing/2013/main/command">
      <pc:docMk xmlns:pc="http://schemas.microsoft.com/office/powerpoint/2013/main/command"/>
      <pc:sldMk xmlns:pc="http://schemas.microsoft.com/office/powerpoint/2013/main/command" cId="80238383" sldId="909"/>
      <ac:spMk id="46" creationId="{DDC08349-3736-08DC-3B9B-0E6051DF9E5F}"/>
      <ac:txMk cp="367">
        <ac:context len="909" hash="3711280146"/>
      </ac:txMk>
    </ac:txMkLst>
    <p188:pos x="2054446" y="1092040"/>
    <p188:txBody>
      <a:bodyPr/>
      <a:lstStyle/>
      <a:p>
        <a:r>
          <a:rPr lang="en-US"/>
          <a:t>Monthly at the start of each month for that month? Otherwise it would need to be deferred...</a:t>
        </a:r>
      </a:p>
    </p188:txBody>
  </p188:cm>
  <p188:cm id="{E8B69B94-6A3C-4BC2-BF71-6904A4365717}" authorId="{FA18B807-ABC5-95B2-8636-67E74D52B8AF}" status="resolved" created="2025-06-13T22:42:04.119" complete="100000">
    <ac:txMkLst xmlns:ac="http://schemas.microsoft.com/office/drawing/2013/main/command">
      <pc:docMk xmlns:pc="http://schemas.microsoft.com/office/powerpoint/2013/main/command"/>
      <pc:sldMk xmlns:pc="http://schemas.microsoft.com/office/powerpoint/2013/main/command" cId="80238383" sldId="909"/>
      <ac:spMk id="46" creationId="{DDC08349-3736-08DC-3B9B-0E6051DF9E5F}"/>
      <ac:txMk cp="856">
        <ac:context len="909" hash="3711280146"/>
      </ac:txMk>
    </ac:txMkLst>
    <p188:pos x="3807046" y="2387440"/>
    <p188:replyLst>
      <p188:reply id="{FEE440B1-AE94-4678-B43B-182607A24692}" authorId="{FAED20E5-0035-FA86-DAD3-EFEDF232C9AA}" created="2025-06-14T01:53:16.070">
        <p188:txBody>
          <a:bodyPr/>
          <a:lstStyle/>
          <a:p>
            <a:r>
              <a:rPr lang="en-US"/>
              <a:t>added</a:t>
            </a:r>
          </a:p>
        </p188:txBody>
      </p188:reply>
    </p188:replyLst>
    <p188:txBody>
      <a:bodyPr/>
      <a:lstStyle/>
      <a:p>
        <a:r>
          <a:rPr lang="en-US"/>
          <a:t>[ ]</a:t>
        </a:r>
      </a:p>
    </p188:txBody>
  </p188:cm>
  <p188:cm id="{B6ECADA3-24D8-4270-9697-CB6DB517EC30}" authorId="{5ADEADAD-FF68-A420-89FA-C7961B12B531}" status="resolved" created="2025-06-14T16:20:13.898" complete="100000">
    <ac:txMkLst xmlns:ac="http://schemas.microsoft.com/office/drawing/2013/main/command">
      <pc:docMk xmlns:pc="http://schemas.microsoft.com/office/powerpoint/2013/main/command"/>
      <pc:sldMk xmlns:pc="http://schemas.microsoft.com/office/powerpoint/2013/main/command" cId="80238383" sldId="909"/>
      <ac:spMk id="46" creationId="{DDC08349-3736-08DC-3B9B-0E6051DF9E5F}"/>
      <ac:txMk cp="367" len="30">
        <ac:context len="909" hash="3711280146"/>
      </ac:txMk>
    </ac:txMkLst>
    <p188:pos x="2859101" y="1057667"/>
    <p188:txBody>
      <a:bodyPr/>
      <a:lstStyle/>
      <a:p>
        <a:r>
          <a:rPr lang="en-US"/>
          <a:t>Do we mean for the calendar/current month?</a:t>
        </a:r>
      </a:p>
    </p188:txBody>
  </p188:cm>
  <p188:cm id="{3DBBDA92-E06E-4FBF-B9C3-A614C82F3930}" authorId="{1D8B8B49-D877-7225-B232-CFDC8C0ACB6F}" status="resolved" created="2025-06-14T17:36:17.154" complete="100000">
    <ac:txMkLst xmlns:ac="http://schemas.microsoft.com/office/drawing/2013/main/command">
      <pc:docMk xmlns:pc="http://schemas.microsoft.com/office/powerpoint/2013/main/command"/>
      <pc:sldMk xmlns:pc="http://schemas.microsoft.com/office/powerpoint/2013/main/command" cId="80238383" sldId="909"/>
      <ac:spMk id="45" creationId="{0EB1C149-E77B-1493-83D8-477448A4348C}"/>
      <ac:txMk cp="0" len="1227">
        <ac:context len="1229" hash="1674785500"/>
      </ac:txMk>
    </ac:txMkLst>
    <p188:pos x="5082054" y="165327"/>
    <p188:replyLst>
      <p188:reply id="{86F0B06E-0F86-4204-836A-144498680FCF}" authorId="{1D8B8B49-D877-7225-B232-CFDC8C0ACB6F}" created="2025-06-14T18:49:02.057">
        <p188:txBody>
          <a:bodyPr/>
          <a:lstStyle/>
          <a:p>
            <a:r>
              <a:rPr lang="en-US"/>
              <a:t>Note at the top indicates we did not test / inquire about financial controls - not sure there is anything to add</a:t>
            </a:r>
          </a:p>
        </p188:txBody>
      </p188:reply>
    </p188:replyLst>
    <p188:txBody>
      <a:bodyPr/>
      <a:lstStyle/>
      <a:p>
        <a:r>
          <a:rPr lang="en-US"/>
          <a:t>Alex: Not sure if this was in the scope of your review / conversations or not... did you ask at all about their internal controls over financial reporting? It would be useful to have some commentary if you are in a position to do so</a:t>
        </a:r>
      </a:p>
    </p188:txBody>
  </p188:cm>
</p188:cmLst>
</file>

<file path=ppt/comments/modernComment_313_7E774330.xml><?xml version="1.0" encoding="utf-8"?>
<p188:cmLst xmlns:a="http://schemas.openxmlformats.org/drawingml/2006/main" xmlns:r="http://schemas.openxmlformats.org/officeDocument/2006/relationships" xmlns:p188="http://schemas.microsoft.com/office/powerpoint/2018/8/main">
  <p188:cm id="{A6E77ACC-C1C9-4E17-B056-CB27C1CA4582}" authorId="{FA18B807-ABC5-95B2-8636-67E74D52B8AF}" status="resolved" created="2025-06-13T20:23:38.375" complete="100000">
    <ac:txMkLst xmlns:ac="http://schemas.microsoft.com/office/drawing/2013/main/command">
      <pc:docMk xmlns:pc="http://schemas.microsoft.com/office/powerpoint/2013/main/command"/>
      <pc:sldMk xmlns:pc="http://schemas.microsoft.com/office/powerpoint/2013/main/command" cId="2121745200" sldId="787"/>
      <ac:spMk id="12" creationId="{A4178F1A-BE7E-6C10-1ED7-5970FDE6F4B1}"/>
      <ac:txMk cp="245">
        <ac:context len="584" hash="2864806109"/>
      </ac:txMk>
    </ac:txMkLst>
    <p188:pos x="4875215" y="274285"/>
    <p188:replyLst>
      <p188:reply id="{77243E54-B10B-41B2-A899-3A111A019BD4}" authorId="{FAED20E5-0035-FA86-DAD3-EFEDF232C9AA}" created="2025-06-13T22:02:39.635">
        <p188:txBody>
          <a:bodyPr/>
          <a:lstStyle/>
          <a:p>
            <a:r>
              <a:rPr lang="en-US"/>
              <a:t>Left as sq. in case it was final already, but can remove</a:t>
            </a:r>
          </a:p>
        </p188:txBody>
      </p188:reply>
    </p188:replyLst>
    <p188:txBody>
      <a:bodyPr/>
      <a:lstStyle/>
      <a:p>
        <a:r>
          <a:rPr lang="en-US"/>
          <a:t>I think this is correct - why sq brackets?</a:t>
        </a:r>
      </a:p>
    </p188:txBody>
  </p188:cm>
</p188:cmLst>
</file>

<file path=ppt/comments/modernComment_385_ACE15FF2.xml><?xml version="1.0" encoding="utf-8"?>
<p188:cmLst xmlns:a="http://schemas.openxmlformats.org/drawingml/2006/main" xmlns:r="http://schemas.openxmlformats.org/officeDocument/2006/relationships" xmlns:p188="http://schemas.microsoft.com/office/powerpoint/2018/8/main">
  <p188:cm id="{60BE69E5-62DA-4F07-8B52-8C64868DC579}" authorId="{FA18B807-ABC5-95B2-8636-67E74D52B8AF}" created="2025-06-13T20:18:53.492">
    <ac:txMkLst xmlns:ac="http://schemas.microsoft.com/office/drawing/2013/main/command">
      <pc:docMk xmlns:pc="http://schemas.microsoft.com/office/powerpoint/2013/main/command"/>
      <pc:sldMk xmlns:pc="http://schemas.microsoft.com/office/powerpoint/2013/main/command" cId="2900451314" sldId="901"/>
      <ac:spMk id="7" creationId="{CCE57869-5980-A9ED-4666-C9D7AFF7EA13}"/>
      <ac:txMk cp="0">
        <ac:context len="905" hash="489787442"/>
      </ac:txMk>
    </ac:txMkLst>
    <p188:pos x="5018700" y="224377"/>
    <p188:txBody>
      <a:bodyPr/>
      <a:lstStyle/>
      <a:p>
        <a:r>
          <a:rPr lang="en-US"/>
          <a:t>Note to remove this in future drafts / when complete</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54D5F6-3183-428A-85C8-51C26DD4B50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latin typeface="Arial" panose="020B0604020202020204" pitchFamily="34" charset="0"/>
            </a:endParaRPr>
          </a:p>
        </p:txBody>
      </p:sp>
      <p:sp>
        <p:nvSpPr>
          <p:cNvPr id="3" name="Date Placeholder 2">
            <a:extLst>
              <a:ext uri="{FF2B5EF4-FFF2-40B4-BE49-F238E27FC236}">
                <a16:creationId xmlns:a16="http://schemas.microsoft.com/office/drawing/2014/main" id="{F1608F93-CC89-4063-A187-7B1597877F1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ABA84C-EC3E-4598-9C4D-8CE1D2A956F5}" type="datetimeFigureOut">
              <a:rPr lang="en-GB" smtClean="0">
                <a:latin typeface="Arial" panose="020B0604020202020204" pitchFamily="34" charset="0"/>
              </a:rPr>
              <a:t>12/01/2026</a:t>
            </a:fld>
            <a:endParaRPr lang="en-GB">
              <a:latin typeface="Arial" panose="020B0604020202020204" pitchFamily="34" charset="0"/>
            </a:endParaRPr>
          </a:p>
        </p:txBody>
      </p:sp>
      <p:sp>
        <p:nvSpPr>
          <p:cNvPr id="4" name="Footer Placeholder 3">
            <a:extLst>
              <a:ext uri="{FF2B5EF4-FFF2-40B4-BE49-F238E27FC236}">
                <a16:creationId xmlns:a16="http://schemas.microsoft.com/office/drawing/2014/main" id="{EE24D309-D941-4AA7-AD70-D334F1D592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latin typeface="Arial" panose="020B0604020202020204" pitchFamily="34" charset="0"/>
            </a:endParaRPr>
          </a:p>
        </p:txBody>
      </p:sp>
      <p:sp>
        <p:nvSpPr>
          <p:cNvPr id="5" name="Slide Number Placeholder 4">
            <a:extLst>
              <a:ext uri="{FF2B5EF4-FFF2-40B4-BE49-F238E27FC236}">
                <a16:creationId xmlns:a16="http://schemas.microsoft.com/office/drawing/2014/main" id="{B1E99044-B362-4E47-A054-164531AC8F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0C0F9D0-9E03-483D-AC3B-FCB5CBA393CA}" type="slidenum">
              <a:rPr lang="en-GB" smtClean="0">
                <a:latin typeface="Arial" panose="020B0604020202020204" pitchFamily="34" charset="0"/>
              </a:rPr>
              <a:t>‹#›</a:t>
            </a:fld>
            <a:endParaRPr lang="en-GB">
              <a:latin typeface="Arial" panose="020B0604020202020204" pitchFamily="34" charset="0"/>
            </a:endParaRPr>
          </a:p>
        </p:txBody>
      </p:sp>
    </p:spTree>
    <p:extLst>
      <p:ext uri="{BB962C8B-B14F-4D97-AF65-F5344CB8AC3E}">
        <p14:creationId xmlns:p14="http://schemas.microsoft.com/office/powerpoint/2010/main" val="3754302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3C57A4BF-14E0-48E2-B42F-B29D277000AB}" type="datetimeFigureOut">
              <a:rPr lang="en-GB" smtClean="0"/>
              <a:pPr/>
              <a:t>12/01/2026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9B5D948F-A673-4DC7-A0E9-FA274EAF3634}" type="slidenum">
              <a:rPr lang="en-GB" smtClean="0"/>
              <a:pPr/>
              <a:t>‹#›</a:t>
            </a:fld>
            <a:endParaRPr lang="en-GB"/>
          </a:p>
        </p:txBody>
      </p:sp>
    </p:spTree>
    <p:extLst>
      <p:ext uri="{BB962C8B-B14F-4D97-AF65-F5344CB8AC3E}">
        <p14:creationId xmlns:p14="http://schemas.microsoft.com/office/powerpoint/2010/main" val="3491308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D948F-A673-4DC7-A0E9-FA274EAF3634}" type="slidenum">
              <a:rPr lang="en-GB" smtClean="0"/>
              <a:pPr/>
              <a:t>0</a:t>
            </a:fld>
            <a:endParaRPr lang="en-GB"/>
          </a:p>
        </p:txBody>
      </p:sp>
    </p:spTree>
    <p:extLst>
      <p:ext uri="{BB962C8B-B14F-4D97-AF65-F5344CB8AC3E}">
        <p14:creationId xmlns:p14="http://schemas.microsoft.com/office/powerpoint/2010/main" val="6308121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s/slide3.xml"/></Relationships>
</file>

<file path=ppt/slideLayouts/_rels/slideLayout11.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16.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10.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1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1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12.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13.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slide" Target="../slides/slide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s/slide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slide" Target="../slides/slide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slide" Target="../slides/slide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slide" Target="../slides/slide3.xml"/></Relationships>
</file>

<file path=ppt/slideLayouts/_rels/slideLayout3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14.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hyperlink" Target="http://www.kpmg.com/socialmedia" TargetMode="External"/><Relationship Id="rId4" Type="http://schemas.openxmlformats.org/officeDocument/2006/relationships/image" Target="../media/image9.svg"/><Relationship Id="rId9" Type="http://schemas.openxmlformats.org/officeDocument/2006/relationships/image" Target="../media/image17.png"/></Relationships>
</file>

<file path=ppt/slideLayouts/_rels/slideLayout4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png"/><Relationship Id="rId7"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15.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hyperlink" Target="http://www.kpmg.com/socialmedia" TargetMode="External"/><Relationship Id="rId4" Type="http://schemas.openxmlformats.org/officeDocument/2006/relationships/image" Target="../media/image12.svg"/><Relationship Id="rId9" Type="http://schemas.openxmlformats.org/officeDocument/2006/relationships/image" Target="../media/image17.png"/></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20.svg"/><Relationship Id="rId2" Type="http://schemas.openxmlformats.org/officeDocument/2006/relationships/slideMaster" Target="../slideMasters/slideMaster1.xml"/><Relationship Id="rId1" Type="http://schemas.openxmlformats.org/officeDocument/2006/relationships/tags" Target="../tags/tag16.xml"/><Relationship Id="rId6" Type="http://schemas.openxmlformats.org/officeDocument/2006/relationships/image" Target="../media/image1.png"/><Relationship Id="rId5" Type="http://schemas.openxmlformats.org/officeDocument/2006/relationships/slide" Target="../slides/slide4.xml"/><Relationship Id="rId4" Type="http://schemas.openxmlformats.org/officeDocument/2006/relationships/image" Target="../media/image19.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20.svg"/><Relationship Id="rId2" Type="http://schemas.openxmlformats.org/officeDocument/2006/relationships/slideMaster" Target="../slideMasters/slideMaster1.xml"/><Relationship Id="rId1" Type="http://schemas.openxmlformats.org/officeDocument/2006/relationships/tags" Target="../tags/tag17.xml"/><Relationship Id="rId6" Type="http://schemas.openxmlformats.org/officeDocument/2006/relationships/image" Target="../media/image1.png"/><Relationship Id="rId5" Type="http://schemas.openxmlformats.org/officeDocument/2006/relationships/slide" Target="../slides/slide4.xml"/><Relationship Id="rId4" Type="http://schemas.openxmlformats.org/officeDocument/2006/relationships/image" Target="../media/image19.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3.bin"/><Relationship Id="rId7" Type="http://schemas.openxmlformats.org/officeDocument/2006/relationships/image" Target="../media/image20.svg"/><Relationship Id="rId2" Type="http://schemas.openxmlformats.org/officeDocument/2006/relationships/slideMaster" Target="../slideMasters/slideMaster1.xml"/><Relationship Id="rId1" Type="http://schemas.openxmlformats.org/officeDocument/2006/relationships/tags" Target="../tags/tag18.xml"/><Relationship Id="rId6" Type="http://schemas.openxmlformats.org/officeDocument/2006/relationships/image" Target="../media/image1.png"/><Relationship Id="rId5" Type="http://schemas.openxmlformats.org/officeDocument/2006/relationships/slide" Target="../slides/slide4.xml"/><Relationship Id="rId4" Type="http://schemas.openxmlformats.org/officeDocument/2006/relationships/image" Target="../media/image19.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20.svg"/><Relationship Id="rId2" Type="http://schemas.openxmlformats.org/officeDocument/2006/relationships/slideMaster" Target="../slideMasters/slideMaster1.xml"/><Relationship Id="rId1" Type="http://schemas.openxmlformats.org/officeDocument/2006/relationships/tags" Target="../tags/tag19.xml"/><Relationship Id="rId6" Type="http://schemas.openxmlformats.org/officeDocument/2006/relationships/image" Target="../media/image1.png"/><Relationship Id="rId5" Type="http://schemas.openxmlformats.org/officeDocument/2006/relationships/slide" Target="../slides/slide4.xml"/><Relationship Id="rId4" Type="http://schemas.openxmlformats.org/officeDocument/2006/relationships/image" Target="../media/image19.emf"/></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s/slide4.xml"/><Relationship Id="rId1" Type="http://schemas.openxmlformats.org/officeDocument/2006/relationships/slideMaster" Target="../slideMasters/slideMaster1.xml"/><Relationship Id="rId4" Type="http://schemas.openxmlformats.org/officeDocument/2006/relationships/image" Target="../media/image20.svg"/></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20.svg"/><Relationship Id="rId2" Type="http://schemas.openxmlformats.org/officeDocument/2006/relationships/slideMaster" Target="../slideMasters/slideMaster1.xml"/><Relationship Id="rId1" Type="http://schemas.openxmlformats.org/officeDocument/2006/relationships/tags" Target="../tags/tag20.xml"/><Relationship Id="rId6" Type="http://schemas.openxmlformats.org/officeDocument/2006/relationships/image" Target="../media/image1.png"/><Relationship Id="rId5" Type="http://schemas.openxmlformats.org/officeDocument/2006/relationships/slide" Target="../slides/slide4.xml"/><Relationship Id="rId4" Type="http://schemas.openxmlformats.org/officeDocument/2006/relationships/image" Target="../media/image19.emf"/></Relationships>
</file>

<file path=ppt/slideLayouts/_rels/slideLayout48.xml.rels><?xml version="1.0" encoding="UTF-8" standalone="yes"?>
<Relationships xmlns="http://schemas.openxmlformats.org/package/2006/relationships"><Relationship Id="rId8" Type="http://schemas.openxmlformats.org/officeDocument/2006/relationships/tags" Target="../tags/tag28.xml"/><Relationship Id="rId13" Type="http://schemas.openxmlformats.org/officeDocument/2006/relationships/slideMaster" Target="../slideMasters/slideMaster2.xml"/><Relationship Id="rId3" Type="http://schemas.openxmlformats.org/officeDocument/2006/relationships/tags" Target="../tags/tag23.xml"/><Relationship Id="rId7" Type="http://schemas.openxmlformats.org/officeDocument/2006/relationships/tags" Target="../tags/tag27.xml"/><Relationship Id="rId12" Type="http://schemas.openxmlformats.org/officeDocument/2006/relationships/tags" Target="../tags/tag32.xml"/><Relationship Id="rId2" Type="http://schemas.openxmlformats.org/officeDocument/2006/relationships/tags" Target="../tags/tag22.xml"/><Relationship Id="rId16" Type="http://schemas.openxmlformats.org/officeDocument/2006/relationships/image" Target="../media/image2.svg"/><Relationship Id="rId1" Type="http://schemas.openxmlformats.org/officeDocument/2006/relationships/tags" Target="../tags/tag21.xml"/><Relationship Id="rId6" Type="http://schemas.openxmlformats.org/officeDocument/2006/relationships/tags" Target="../tags/tag26.xml"/><Relationship Id="rId11" Type="http://schemas.openxmlformats.org/officeDocument/2006/relationships/tags" Target="../tags/tag31.xml"/><Relationship Id="rId5" Type="http://schemas.openxmlformats.org/officeDocument/2006/relationships/tags" Target="../tags/tag25.xml"/><Relationship Id="rId15" Type="http://schemas.openxmlformats.org/officeDocument/2006/relationships/image" Target="../media/image1.png"/><Relationship Id="rId10" Type="http://schemas.openxmlformats.org/officeDocument/2006/relationships/tags" Target="../tags/tag30.xml"/><Relationship Id="rId4" Type="http://schemas.openxmlformats.org/officeDocument/2006/relationships/tags" Target="../tags/tag24.xml"/><Relationship Id="rId9" Type="http://schemas.openxmlformats.org/officeDocument/2006/relationships/tags" Target="../tags/tag29.xml"/><Relationship Id="rId14" Type="http://schemas.openxmlformats.org/officeDocument/2006/relationships/slide" Target="../slides/slide3.xml"/></Relationships>
</file>

<file path=ppt/slideLayouts/_rels/slideLayout49.xml.rels><?xml version="1.0" encoding="UTF-8" standalone="yes"?>
<Relationships xmlns="http://schemas.openxmlformats.org/package/2006/relationships"><Relationship Id="rId8" Type="http://schemas.openxmlformats.org/officeDocument/2006/relationships/tags" Target="../tags/tag40.xml"/><Relationship Id="rId3" Type="http://schemas.openxmlformats.org/officeDocument/2006/relationships/tags" Target="../tags/tag35.xml"/><Relationship Id="rId7" Type="http://schemas.openxmlformats.org/officeDocument/2006/relationships/tags" Target="../tags/tag39.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slideMaster" Target="../slideMasters/slideMaster2.xml"/><Relationship Id="rId5" Type="http://schemas.openxmlformats.org/officeDocument/2006/relationships/tags" Target="../tags/tag37.xml"/><Relationship Id="rId10" Type="http://schemas.openxmlformats.org/officeDocument/2006/relationships/tags" Target="../tags/tag42.xml"/><Relationship Id="rId4" Type="http://schemas.openxmlformats.org/officeDocument/2006/relationships/tags" Target="../tags/tag36.xml"/><Relationship Id="rId9" Type="http://schemas.openxmlformats.org/officeDocument/2006/relationships/tags" Target="../tags/tag41.xml"/></Relationships>
</file>

<file path=ppt/slideLayouts/_rels/slideLayout50.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image" Target="../media/image9.svg"/><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image" Target="../media/image6.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slideMaster" Target="../slideMasters/slideMaster2.xml"/><Relationship Id="rId5" Type="http://schemas.openxmlformats.org/officeDocument/2006/relationships/tags" Target="../tags/tag47.xml"/><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4.xml"/><Relationship Id="rId1" Type="http://schemas.openxmlformats.org/officeDocument/2006/relationships/tags" Target="../tags/tag53.xml"/></Relationships>
</file>

<file path=ppt/slideLayouts/_rels/slideLayout52.xml.rels><?xml version="1.0" encoding="UTF-8" standalone="yes"?>
<Relationships xmlns="http://schemas.openxmlformats.org/package/2006/relationships"><Relationship Id="rId3" Type="http://schemas.openxmlformats.org/officeDocument/2006/relationships/hyperlink" Target="https://support.upslide.net/hc/en-us/articles/360020443419" TargetMode="External"/><Relationship Id="rId2" Type="http://schemas.openxmlformats.org/officeDocument/2006/relationships/slideMaster" Target="../slideMasters/slideMaster2.xml"/><Relationship Id="rId1" Type="http://schemas.openxmlformats.org/officeDocument/2006/relationships/tags" Target="../tags/tag55.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jpeg"/><Relationship Id="rId1" Type="http://schemas.openxmlformats.org/officeDocument/2006/relationships/slideMaster" Target="../slideMasters/slideMaster3.xml"/><Relationship Id="rId4" Type="http://schemas.openxmlformats.org/officeDocument/2006/relationships/image" Target="../media/image22.sv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s/slide12.xml"/></Relationships>
</file>

<file path=ppt/slideLayouts/_rels/slideLayout63.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slideMaster" Target="../slideMasters/slideMaster3.xml"/><Relationship Id="rId1" Type="http://schemas.openxmlformats.org/officeDocument/2006/relationships/tags" Target="../tags/tag6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64.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slideMaster" Target="../slideMasters/slideMaster3.xml"/><Relationship Id="rId1" Type="http://schemas.openxmlformats.org/officeDocument/2006/relationships/tags" Target="../tags/tag62.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slideMaster" Target="../slideMasters/slideMaster3.xml"/><Relationship Id="rId1" Type="http://schemas.openxmlformats.org/officeDocument/2006/relationships/tags" Target="../tags/tag63.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68.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slideMaster" Target="../slideMasters/slideMaster3.xml"/><Relationship Id="rId1" Type="http://schemas.openxmlformats.org/officeDocument/2006/relationships/tags" Target="../tags/tag64.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slideMaster" Target="../slideMasters/slideMaster3.xml"/><Relationship Id="rId1" Type="http://schemas.openxmlformats.org/officeDocument/2006/relationships/tags" Target="../tags/tag65.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 Target="../slides/slide12.xml"/><Relationship Id="rId1" Type="http://schemas.openxmlformats.org/officeDocument/2006/relationships/slideMaster" Target="../slideMasters/slideMaster3.xml"/><Relationship Id="rId4" Type="http://schemas.openxmlformats.org/officeDocument/2006/relationships/image" Target="../media/image11.sv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slideMaster" Target="../slideMasters/slideMaster3.xml"/><Relationship Id="rId1" Type="http://schemas.openxmlformats.org/officeDocument/2006/relationships/tags" Target="../tags/tag66.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slideMaster" Target="../slideMasters/slideMaster3.xml"/><Relationship Id="rId1" Type="http://schemas.openxmlformats.org/officeDocument/2006/relationships/tags" Target="../tags/tag67.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slide" Target="../slides/slide12.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3.png"/><Relationship Id="rId1" Type="http://schemas.openxmlformats.org/officeDocument/2006/relationships/slideMaster" Target="../slideMasters/slideMaster3.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s/slide12.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slide" Target="../slides/slide12.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slide" Target="../slides/slide12.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slide" Target="../slides/slide12.xml"/></Relationships>
</file>

<file path=ppt/slideLayouts/_rels/slideLayout9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5.png"/><Relationship Id="rId2" Type="http://schemas.openxmlformats.org/officeDocument/2006/relationships/slideMaster" Target="../slideMasters/slideMaster3.xml"/><Relationship Id="rId1" Type="http://schemas.openxmlformats.org/officeDocument/2006/relationships/tags" Target="../tags/tag68.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hyperlink" Target="http://www.kpmg.com/socialmedia" TargetMode="External"/><Relationship Id="rId4" Type="http://schemas.openxmlformats.org/officeDocument/2006/relationships/image" Target="../media/image7.svg"/><Relationship Id="rId9" Type="http://schemas.openxmlformats.org/officeDocument/2006/relationships/image" Target="../media/image17.png"/></Relationships>
</file>

<file path=ppt/slideLayouts/_rels/slideLayout9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png"/><Relationship Id="rId7" Type="http://schemas.openxmlformats.org/officeDocument/2006/relationships/image" Target="../media/image15.png"/><Relationship Id="rId2" Type="http://schemas.openxmlformats.org/officeDocument/2006/relationships/slideMaster" Target="../slideMasters/slideMaster3.xml"/><Relationship Id="rId1" Type="http://schemas.openxmlformats.org/officeDocument/2006/relationships/tags" Target="../tags/tag69.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hyperlink" Target="http://www.kpmg.com/socialmedia" TargetMode="External"/><Relationship Id="rId4" Type="http://schemas.openxmlformats.org/officeDocument/2006/relationships/image" Target="../media/image22.svg"/><Relationship Id="rId9" Type="http://schemas.openxmlformats.org/officeDocument/2006/relationships/image" Target="../media/image17.png"/></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20.svg"/><Relationship Id="rId2" Type="http://schemas.openxmlformats.org/officeDocument/2006/relationships/slideMaster" Target="../slideMasters/slideMaster3.xml"/><Relationship Id="rId1" Type="http://schemas.openxmlformats.org/officeDocument/2006/relationships/tags" Target="../tags/tag70.xml"/><Relationship Id="rId6" Type="http://schemas.openxmlformats.org/officeDocument/2006/relationships/image" Target="../media/image1.png"/><Relationship Id="rId5" Type="http://schemas.openxmlformats.org/officeDocument/2006/relationships/slide" Target="../slides/slide5.xml"/><Relationship Id="rId4" Type="http://schemas.openxmlformats.org/officeDocument/2006/relationships/image" Target="../media/image19.emf"/></Relationships>
</file>

<file path=ppt/slideLayouts/_rels/slideLayout95.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20.svg"/><Relationship Id="rId2" Type="http://schemas.openxmlformats.org/officeDocument/2006/relationships/slideMaster" Target="../slideMasters/slideMaster3.xml"/><Relationship Id="rId1" Type="http://schemas.openxmlformats.org/officeDocument/2006/relationships/tags" Target="../tags/tag71.xml"/><Relationship Id="rId6" Type="http://schemas.openxmlformats.org/officeDocument/2006/relationships/image" Target="../media/image1.png"/><Relationship Id="rId5" Type="http://schemas.openxmlformats.org/officeDocument/2006/relationships/slide" Target="../slides/slide5.xml"/><Relationship Id="rId4" Type="http://schemas.openxmlformats.org/officeDocument/2006/relationships/image" Target="../media/image19.emf"/></Relationships>
</file>

<file path=ppt/slideLayouts/_rels/slideLayout96.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20.svg"/><Relationship Id="rId2" Type="http://schemas.openxmlformats.org/officeDocument/2006/relationships/slideMaster" Target="../slideMasters/slideMaster3.xml"/><Relationship Id="rId1" Type="http://schemas.openxmlformats.org/officeDocument/2006/relationships/tags" Target="../tags/tag72.xml"/><Relationship Id="rId6" Type="http://schemas.openxmlformats.org/officeDocument/2006/relationships/image" Target="../media/image1.png"/><Relationship Id="rId5" Type="http://schemas.openxmlformats.org/officeDocument/2006/relationships/slide" Target="../slides/slide5.xml"/><Relationship Id="rId4" Type="http://schemas.openxmlformats.org/officeDocument/2006/relationships/image" Target="../media/image19.emf"/></Relationships>
</file>

<file path=ppt/slideLayouts/_rels/slideLayout9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tags" Target="../tags/tag73.xml"/><Relationship Id="rId4" Type="http://schemas.openxmlformats.org/officeDocument/2006/relationships/image" Target="../media/image19.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_KPMG Blue">
    <p:bg>
      <p:bgPr>
        <a:solidFill>
          <a:schemeClr val="accent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998476" y="1470479"/>
            <a:ext cx="6350010" cy="4410949"/>
          </a:xfrm>
          <a:prstGeom prst="rect">
            <a:avLst/>
          </a:prstGeom>
          <a:no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pic>
        <p:nvPicPr>
          <p:cNvPr id="8" name="Graphic 7">
            <a:extLst>
              <a:ext uri="{FF2B5EF4-FFF2-40B4-BE49-F238E27FC236}">
                <a16:creationId xmlns:a16="http://schemas.microsoft.com/office/drawing/2014/main" id="{F680A8EA-2B0E-411E-90AD-02F7AF47674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C31B5000-C399-ABD7-59D3-1DCB8041680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pic>
        <p:nvPicPr>
          <p:cNvPr id="10" name="Picture 9" descr="Black 3D wave patterns">
            <a:extLst>
              <a:ext uri="{FF2B5EF4-FFF2-40B4-BE49-F238E27FC236}">
                <a16:creationId xmlns:a16="http://schemas.microsoft.com/office/drawing/2014/main" id="{610B60BB-235A-2887-863F-5AB5FE7AB3B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4000" y="0"/>
            <a:ext cx="12700000" cy="6858000"/>
          </a:xfrm>
          <a:prstGeom prst="rect">
            <a:avLst/>
          </a:prstGeom>
        </p:spPr>
      </p:pic>
      <p:pic>
        <p:nvPicPr>
          <p:cNvPr id="11" name="Graphic 10">
            <a:extLst>
              <a:ext uri="{FF2B5EF4-FFF2-40B4-BE49-F238E27FC236}">
                <a16:creationId xmlns:a16="http://schemas.microsoft.com/office/drawing/2014/main" id="{35313C28-0000-67CF-18C4-29222170D868}"/>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50876" y="523711"/>
            <a:ext cx="914400" cy="368346"/>
          </a:xfrm>
          <a:prstGeom prst="rect">
            <a:avLst/>
          </a:prstGeom>
        </p:spPr>
      </p:pic>
    </p:spTree>
    <p:extLst>
      <p:ext uri="{BB962C8B-B14F-4D97-AF65-F5344CB8AC3E}">
        <p14:creationId xmlns:p14="http://schemas.microsoft.com/office/powerpoint/2010/main" val="185271779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_KPMG Blue">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F73FA8F-86B4-4B38-9318-B211F1BBAFEB}"/>
              </a:ext>
            </a:extLst>
          </p:cNvPr>
          <p:cNvSpPr>
            <a:spLocks noChangeAspect="1"/>
          </p:cNvSpPr>
          <p:nvPr userDrawn="1"/>
        </p:nvSpPr>
        <p:spPr>
          <a:xfrm>
            <a:off x="998476" y="1470479"/>
            <a:ext cx="3053689"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2487266" cy="2900514"/>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Project Vortex</a:t>
            </a:r>
            <a:endParaRPr lang="en-US"/>
          </a:p>
        </p:txBody>
      </p:sp>
      <p:sp>
        <p:nvSpPr>
          <p:cNvPr id="6" name="Text Placeholder 3"/>
          <p:cNvSpPr>
            <a:spLocks noGrp="1"/>
          </p:cNvSpPr>
          <p:nvPr userDrawn="1">
            <p:ph type="body" sz="quarter" idx="11"/>
          </p:nvPr>
        </p:nvSpPr>
        <p:spPr>
          <a:xfrm>
            <a:off x="1274841" y="4752153"/>
            <a:ext cx="2487267" cy="81577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ACB44795-849A-41CE-8B25-0DE9EB09F9B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4A2D0F4A-24F1-36AB-05D7-E828D00ECC9B}"/>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797359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3405716" y="371311"/>
            <a:ext cx="7794097" cy="5414065"/>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6" name="Text Placeholder 3"/>
          <p:cNvSpPr>
            <a:spLocks noGrp="1"/>
          </p:cNvSpPr>
          <p:nvPr>
            <p:ph type="body" sz="quarter" idx="11"/>
          </p:nvPr>
        </p:nvSpPr>
        <p:spPr>
          <a:xfrm>
            <a:off x="3672180" y="4710484"/>
            <a:ext cx="7260639"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10" name="Title 9">
            <a:extLst>
              <a:ext uri="{FF2B5EF4-FFF2-40B4-BE49-F238E27FC236}">
                <a16:creationId xmlns:a16="http://schemas.microsoft.com/office/drawing/2014/main" id="{BA9E5DDB-2262-4657-AA4F-9CE87AA83B57}"/>
              </a:ext>
            </a:extLst>
          </p:cNvPr>
          <p:cNvSpPr>
            <a:spLocks noGrp="1"/>
          </p:cNvSpPr>
          <p:nvPr>
            <p:ph type="title" hasCustomPrompt="1"/>
          </p:nvPr>
        </p:nvSpPr>
        <p:spPr>
          <a:xfrm>
            <a:off x="3671123" y="636808"/>
            <a:ext cx="7260639" cy="3950972"/>
          </a:xfrm>
        </p:spPr>
        <p:txBody>
          <a:bodyPr/>
          <a:lstStyle>
            <a:lvl1pPr>
              <a:defRPr lang="en-GB" sz="6600" kern="1200" baseline="0" dirty="0">
                <a:solidFill>
                  <a:schemeClr val="bg1"/>
                </a:solidFill>
                <a:latin typeface="+mj-lt"/>
                <a:ea typeface="+mj-ea"/>
                <a:cs typeface="+mj-cs"/>
              </a:defRPr>
            </a:lvl1pPr>
          </a:lstStyle>
          <a:p>
            <a:r>
              <a:rPr lang="en-GB"/>
              <a:t>Title slide text only</a:t>
            </a:r>
          </a:p>
        </p:txBody>
      </p:sp>
      <p:pic>
        <p:nvPicPr>
          <p:cNvPr id="8" name="Graphic 7">
            <a:extLst>
              <a:ext uri="{FF2B5EF4-FFF2-40B4-BE49-F238E27FC236}">
                <a16:creationId xmlns:a16="http://schemas.microsoft.com/office/drawing/2014/main" id="{9F2B47DB-768D-47AE-9D19-E74198AD42C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5C7456D2-AD8B-0E4B-0CD2-B86ACA21193D}"/>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46964759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BC1A25C-9C23-47D0-BC86-BD2474043CD3}"/>
              </a:ext>
            </a:extLst>
          </p:cNvPr>
          <p:cNvGrpSpPr/>
          <p:nvPr userDrawn="1"/>
        </p:nvGrpSpPr>
        <p:grpSpPr>
          <a:xfrm>
            <a:off x="998476" y="0"/>
            <a:ext cx="911399" cy="1485244"/>
            <a:chOff x="1008000" y="0"/>
            <a:chExt cx="911399" cy="1485244"/>
          </a:xfrm>
          <a:solidFill>
            <a:schemeClr val="bg1">
              <a:alpha val="0"/>
            </a:schemeClr>
          </a:solidFill>
        </p:grpSpPr>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1008000" y="0"/>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1008000" y="742622"/>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sp>
          <p:nvSpPr>
            <p:cNvPr id="9" name="Freeform 19">
              <a:extLst>
                <a:ext uri="{FF2B5EF4-FFF2-40B4-BE49-F238E27FC236}">
                  <a16:creationId xmlns:a16="http://schemas.microsoft.com/office/drawing/2014/main" id="{162D722E-1D64-4D54-98B6-8466501BFD3D}"/>
                </a:ext>
              </a:extLst>
            </p:cNvPr>
            <p:cNvSpPr>
              <a:spLocks noChangeAspect="1" noEditPoints="1"/>
            </p:cNvSpPr>
            <p:nvPr userDrawn="1"/>
          </p:nvSpPr>
          <p:spPr bwMode="auto">
            <a:xfrm>
              <a:off x="1008000" y="1113933"/>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grpSp>
      <p:sp>
        <p:nvSpPr>
          <p:cNvPr id="104" name="Rectangle 103">
            <a:extLst>
              <a:ext uri="{FF2B5EF4-FFF2-40B4-BE49-F238E27FC236}">
                <a16:creationId xmlns:a16="http://schemas.microsoft.com/office/drawing/2014/main" id="{6A6246C3-5BC1-4146-9E95-B8B3F1B77C22}"/>
              </a:ext>
            </a:extLst>
          </p:cNvPr>
          <p:cNvSpPr>
            <a:spLocks noChangeAspect="1"/>
          </p:cNvSpPr>
          <p:nvPr userDrawn="1"/>
        </p:nvSpPr>
        <p:spPr>
          <a:xfrm>
            <a:off x="7435789" y="371311"/>
            <a:ext cx="3764024" cy="5415923"/>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06" name="Text Placeholder 3">
            <a:extLst>
              <a:ext uri="{FF2B5EF4-FFF2-40B4-BE49-F238E27FC236}">
                <a16:creationId xmlns:a16="http://schemas.microsoft.com/office/drawing/2014/main" id="{E9A5689E-A0AC-4126-A5A7-5CD8528C6C2E}"/>
              </a:ext>
            </a:extLst>
          </p:cNvPr>
          <p:cNvSpPr>
            <a:spLocks noGrp="1"/>
          </p:cNvSpPr>
          <p:nvPr>
            <p:ph type="body" sz="quarter" idx="12"/>
          </p:nvPr>
        </p:nvSpPr>
        <p:spPr>
          <a:xfrm>
            <a:off x="7702252" y="4710484"/>
            <a:ext cx="3229510"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 name="Title 1"/>
          <p:cNvSpPr>
            <a:spLocks noGrp="1"/>
          </p:cNvSpPr>
          <p:nvPr>
            <p:ph type="ctrTitle" hasCustomPrompt="1"/>
          </p:nvPr>
        </p:nvSpPr>
        <p:spPr>
          <a:xfrm>
            <a:off x="7702252" y="636808"/>
            <a:ext cx="3229510" cy="3950972"/>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pic>
        <p:nvPicPr>
          <p:cNvPr id="10" name="Graphic 9">
            <a:extLst>
              <a:ext uri="{FF2B5EF4-FFF2-40B4-BE49-F238E27FC236}">
                <a16:creationId xmlns:a16="http://schemas.microsoft.com/office/drawing/2014/main" id="{78DFFAD0-690D-40FA-92E3-26DD5F2CF71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4" name="UpSlide Options" descr="{&#10;  &quot;NoBreadcrumb&quot;: true,&#10;  &quot;NoBreadcrumbNorReminder&quot;: true,&#10;  &quot;MinimumUpSlideVersion&quot;: &quot;0.0.0.0&quot;&#10;}" hidden="1">
            <a:extLst>
              <a:ext uri="{FF2B5EF4-FFF2-40B4-BE49-F238E27FC236}">
                <a16:creationId xmlns:a16="http://schemas.microsoft.com/office/drawing/2014/main" id="{6223FAC6-FB1A-2FBC-CF19-EF250E255086}"/>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96993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 Image_KPMG Blue">
    <p:bg>
      <p:bgPr>
        <a:solidFill>
          <a:schemeClr val="accent2"/>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6200E6EA-7AA4-4C98-8E47-F5F83446E051}"/>
              </a:ext>
            </a:extLst>
          </p:cNvPr>
          <p:cNvSpPr>
            <a:spLocks noGrp="1" noChangeAspect="1"/>
          </p:cNvSpPr>
          <p:nvPr>
            <p:ph type="pic" sz="quarter" idx="12"/>
          </p:nvPr>
        </p:nvSpPr>
        <p:spPr>
          <a:xfrm>
            <a:off x="998477" y="1468380"/>
            <a:ext cx="5885053" cy="4087973"/>
          </a:xfrm>
          <a:solidFill>
            <a:schemeClr val="accent1"/>
          </a:solidFill>
        </p:spPr>
        <p:txBody>
          <a:bodyPr anchor="ctr"/>
          <a:lstStyle>
            <a:lvl1pPr algn="ctr">
              <a:defRPr sz="1000" b="0">
                <a:solidFill>
                  <a:schemeClr val="bg1"/>
                </a:solidFill>
              </a:defRPr>
            </a:lvl1pPr>
          </a:lstStyle>
          <a:p>
            <a:r>
              <a:rPr lang="en-US"/>
              <a:t>Click icon to add picture</a:t>
            </a:r>
            <a:endParaRPr lang="en-GB"/>
          </a:p>
        </p:txBody>
      </p:sp>
      <p:sp>
        <p:nvSpPr>
          <p:cNvPr id="2" name="Title 1"/>
          <p:cNvSpPr>
            <a:spLocks noGrp="1"/>
          </p:cNvSpPr>
          <p:nvPr>
            <p:ph type="ctrTitle" hasCustomPrompt="1"/>
          </p:nvPr>
        </p:nvSpPr>
        <p:spPr>
          <a:xfrm>
            <a:off x="7648626" y="1468380"/>
            <a:ext cx="3551186" cy="3098109"/>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7648627"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7648627"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6" name="Text Placeholder 3"/>
          <p:cNvSpPr>
            <a:spLocks noGrp="1"/>
          </p:cNvSpPr>
          <p:nvPr userDrawn="1">
            <p:ph type="body" sz="quarter" idx="11"/>
          </p:nvPr>
        </p:nvSpPr>
        <p:spPr>
          <a:xfrm>
            <a:off x="7648626" y="4746353"/>
            <a:ext cx="355118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9" name="Graphic 8">
            <a:extLst>
              <a:ext uri="{FF2B5EF4-FFF2-40B4-BE49-F238E27FC236}">
                <a16:creationId xmlns:a16="http://schemas.microsoft.com/office/drawing/2014/main" id="{93430CE4-5B69-4517-8F25-A3A23061EE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64734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C39C766E-4498-DBBD-A279-FC5D4C71C771}"/>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4033362024"/>
      </p:ext>
    </p:extLst>
  </p:cSld>
  <p:clrMapOvr>
    <a:masterClrMapping/>
  </p:clrMapOvr>
  <p:extLst>
    <p:ext uri="{DCECCB84-F9BA-43D5-87BE-67443E8EF086}">
      <p15:sldGuideLst xmlns:p15="http://schemas.microsoft.com/office/powerpoint/2012/main">
        <p15:guide id="1" orient="horz" pos="349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 Image_KPMG Blue">
    <p:bg>
      <p:bgPr>
        <a:solidFill>
          <a:schemeClr val="accent2"/>
        </a:solidFill>
        <a:effectLst/>
      </p:bgPr>
    </p:bg>
    <p:spTree>
      <p:nvGrpSpPr>
        <p:cNvPr id="1" name=""/>
        <p:cNvGrpSpPr/>
        <p:nvPr/>
      </p:nvGrpSpPr>
      <p:grpSpPr>
        <a:xfrm>
          <a:off x="0" y="0"/>
          <a:ext cx="0" cy="0"/>
          <a:chOff x="0" y="0"/>
          <a:chExt cx="0" cy="0"/>
        </a:xfrm>
      </p:grpSpPr>
      <p:sp>
        <p:nvSpPr>
          <p:cNvPr id="28" name="Picture Placeholder 3">
            <a:extLst>
              <a:ext uri="{FF2B5EF4-FFF2-40B4-BE49-F238E27FC236}">
                <a16:creationId xmlns:a16="http://schemas.microsoft.com/office/drawing/2014/main" id="{445BA5F7-F13B-4C20-B0E0-112E55400EE4}"/>
              </a:ext>
            </a:extLst>
          </p:cNvPr>
          <p:cNvSpPr>
            <a:spLocks noGrp="1" noChangeAspect="1"/>
          </p:cNvSpPr>
          <p:nvPr>
            <p:ph type="pic" sz="quarter" idx="12"/>
          </p:nvPr>
        </p:nvSpPr>
        <p:spPr>
          <a:xfrm>
            <a:off x="995362" y="371311"/>
            <a:ext cx="3727618" cy="5392264"/>
          </a:xfrm>
          <a:solidFill>
            <a:schemeClr val="accent1"/>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
        <p:nvSpPr>
          <p:cNvPr id="2" name="Title 1"/>
          <p:cNvSpPr>
            <a:spLocks noGrp="1"/>
          </p:cNvSpPr>
          <p:nvPr>
            <p:ph type="ctrTitle" hasCustomPrompt="1"/>
          </p:nvPr>
        </p:nvSpPr>
        <p:spPr>
          <a:xfrm>
            <a:off x="5489910" y="1453783"/>
            <a:ext cx="5301922" cy="344622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4729193"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6" name="Text Placeholder 3"/>
          <p:cNvSpPr>
            <a:spLocks noGrp="1"/>
          </p:cNvSpPr>
          <p:nvPr userDrawn="1">
            <p:ph type="body" sz="quarter" idx="11"/>
          </p:nvPr>
        </p:nvSpPr>
        <p:spPr>
          <a:xfrm>
            <a:off x="5489910" y="4953575"/>
            <a:ext cx="5301922"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7" name="Graphic 6">
            <a:extLst>
              <a:ext uri="{FF2B5EF4-FFF2-40B4-BE49-F238E27FC236}">
                <a16:creationId xmlns:a16="http://schemas.microsoft.com/office/drawing/2014/main" id="{3FEB65A9-A8F4-40C5-AC08-82132F1B1B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491560"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DA9CDCF4-59D0-2017-E14A-4837D0672D90}"/>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2454744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 Image_Cobalt Blue">
    <p:bg>
      <p:bgPr>
        <a:solidFill>
          <a:schemeClr val="accent1"/>
        </a:solidFill>
        <a:effectLst/>
      </p:bgPr>
    </p:bg>
    <p:spTree>
      <p:nvGrpSpPr>
        <p:cNvPr id="1" name=""/>
        <p:cNvGrpSpPr/>
        <p:nvPr/>
      </p:nvGrpSpPr>
      <p:grpSpPr>
        <a:xfrm>
          <a:off x="0" y="0"/>
          <a:ext cx="0" cy="0"/>
          <a:chOff x="0" y="0"/>
          <a:chExt cx="0" cy="0"/>
        </a:xfrm>
      </p:grpSpPr>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28" name="Picture Placeholder 3">
            <a:extLst>
              <a:ext uri="{FF2B5EF4-FFF2-40B4-BE49-F238E27FC236}">
                <a16:creationId xmlns:a16="http://schemas.microsoft.com/office/drawing/2014/main" id="{1D0B9D96-907F-4E37-B5A7-830AD095F223}"/>
              </a:ext>
            </a:extLst>
          </p:cNvPr>
          <p:cNvSpPr>
            <a:spLocks noGrp="1" noChangeAspect="1"/>
          </p:cNvSpPr>
          <p:nvPr>
            <p:ph type="pic" sz="quarter" idx="12"/>
          </p:nvPr>
        </p:nvSpPr>
        <p:spPr>
          <a:xfrm>
            <a:off x="4915965" y="1456388"/>
            <a:ext cx="6283848" cy="4364991"/>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995362" y="1456388"/>
            <a:ext cx="3174866" cy="342774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40" name="Text Placeholder 3">
            <a:extLst>
              <a:ext uri="{FF2B5EF4-FFF2-40B4-BE49-F238E27FC236}">
                <a16:creationId xmlns:a16="http://schemas.microsoft.com/office/drawing/2014/main" id="{423222F2-0E39-45E4-8918-49125CD7C1EA}"/>
              </a:ext>
            </a:extLst>
          </p:cNvPr>
          <p:cNvSpPr>
            <a:spLocks noGrp="1"/>
          </p:cNvSpPr>
          <p:nvPr>
            <p:ph type="body" sz="quarter" idx="11"/>
          </p:nvPr>
        </p:nvSpPr>
        <p:spPr>
          <a:xfrm>
            <a:off x="995362" y="5007010"/>
            <a:ext cx="317486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9" name="Graphic 8">
            <a:extLst>
              <a:ext uri="{FF2B5EF4-FFF2-40B4-BE49-F238E27FC236}">
                <a16:creationId xmlns:a16="http://schemas.microsoft.com/office/drawing/2014/main" id="{323EE304-3FCA-4CF8-84B4-178F6B5C57A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B2D462CE-C2C7-AC32-2349-92B2FD646632}"/>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826175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 Image_Cobalt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95362" y="1456388"/>
            <a:ext cx="5249471" cy="3442681"/>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995362" y="5007009"/>
            <a:ext cx="5249471"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8" name="Picture Placeholder 3">
            <a:extLst>
              <a:ext uri="{FF2B5EF4-FFF2-40B4-BE49-F238E27FC236}">
                <a16:creationId xmlns:a16="http://schemas.microsoft.com/office/drawing/2014/main" id="{13BD1F9C-C7CA-4162-BCD4-0E8701D30076}"/>
              </a:ext>
            </a:extLst>
          </p:cNvPr>
          <p:cNvSpPr>
            <a:spLocks noGrp="1" noChangeAspect="1"/>
          </p:cNvSpPr>
          <p:nvPr>
            <p:ph type="pic" sz="quarter" idx="12"/>
          </p:nvPr>
        </p:nvSpPr>
        <p:spPr>
          <a:xfrm>
            <a:off x="7435255" y="371311"/>
            <a:ext cx="3764557" cy="5445698"/>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pic>
        <p:nvPicPr>
          <p:cNvPr id="9" name="Graphic 8">
            <a:extLst>
              <a:ext uri="{FF2B5EF4-FFF2-40B4-BE49-F238E27FC236}">
                <a16:creationId xmlns:a16="http://schemas.microsoft.com/office/drawing/2014/main" id="{AA9325F0-DADC-43A7-A4FF-97033BB2202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024CB6FE-B419-35D5-F619-0ED688EBE47C}"/>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1948208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86707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Only Alternative">
    <p:bg>
      <p:bgPr>
        <a:solidFill>
          <a:srgbClr val="ACEAFF"/>
        </a:solidFill>
        <a:effectLst/>
      </p:bgPr>
    </p:bg>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553DB233-23E0-7B9E-7AE9-589A27CED889}"/>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ACEAFF"/>
          </a:solidFill>
        </p:spPr>
        <p:txBody>
          <a:bodyPr wrap="square" lIns="0" tIns="0" rIns="0" bIns="0" rtlCol="0">
            <a:noAutofit/>
          </a:bodyPr>
          <a:lstStyle/>
          <a:p>
            <a:endParaRPr sz="1800">
              <a:latin typeface="Arial" panose="020B0604020202020204" pitchFamily="34" charset="0"/>
            </a:endParaRPr>
          </a:p>
        </p:txBody>
      </p: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GB"/>
          </a:p>
        </p:txBody>
      </p:sp>
      <p:sp>
        <p:nvSpPr>
          <p:cNvPr id="10" name="Shape 8">
            <a:extLst>
              <a:ext uri="{FF2B5EF4-FFF2-40B4-BE49-F238E27FC236}">
                <a16:creationId xmlns:a16="http://schemas.microsoft.com/office/drawing/2014/main" id="{BD5EA3DF-EDF9-4AA1-B876-3BB2C2DD6124}"/>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tx2"/>
                </a:solidFill>
                <a:latin typeface="+mn-lt"/>
                <a:ea typeface="Arial"/>
                <a:cs typeface="Arial" panose="020B0604020202020204" pitchFamily="34" charset="0"/>
              </a:rPr>
              <a:pPr algn="r"/>
              <a:t>‹#›</a:t>
            </a:fld>
            <a:endParaRPr lang="en-GB" sz="1000">
              <a:solidFill>
                <a:schemeClr val="tx2"/>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5C647E3E-7387-4F1B-91E4-B27FC18C0158}"/>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rgbClr val="B2B2B2"/>
                </a:solidFill>
                <a:latin typeface="+mn-lt"/>
                <a:ea typeface="+mn-ea"/>
                <a:cs typeface="+mn-cs"/>
              </a:rPr>
              <a:t>Document Classification: KPMG Confidential</a:t>
            </a:r>
          </a:p>
        </p:txBody>
      </p:sp>
      <p:cxnSp>
        <p:nvCxnSpPr>
          <p:cNvPr id="13" name="Straight Connector 12">
            <a:extLst>
              <a:ext uri="{FF2B5EF4-FFF2-40B4-BE49-F238E27FC236}">
                <a16:creationId xmlns:a16="http://schemas.microsoft.com/office/drawing/2014/main" id="{2A927FC7-77D6-449A-B7B3-5F6763D3F3FF}"/>
              </a:ext>
            </a:extLst>
          </p:cNvPr>
          <p:cNvCxnSpPr/>
          <p:nvPr userDrawn="1"/>
        </p:nvCxnSpPr>
        <p:spPr>
          <a:xfrm>
            <a:off x="10928548" y="6266997"/>
            <a:ext cx="0" cy="149412"/>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80623A36-C230-44C2-9A0A-29BBF3F63CC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solidFill>
                <a:schemeClr val="bg1"/>
              </a:solidFill>
            </a:endParaRPr>
          </a:p>
        </p:txBody>
      </p:sp>
      <p:sp>
        <p:nvSpPr>
          <p:cNvPr id="9" name="Isosceles Triangle 8">
            <a:extLst>
              <a:ext uri="{FF2B5EF4-FFF2-40B4-BE49-F238E27FC236}">
                <a16:creationId xmlns:a16="http://schemas.microsoft.com/office/drawing/2014/main" id="{58CFDA59-AFDF-5153-63CD-D0F9A9BF119B}"/>
              </a:ext>
            </a:extLst>
          </p:cNvPr>
          <p:cNvSpPr/>
          <p:nvPr userDrawn="1"/>
        </p:nvSpPr>
        <p:spPr>
          <a:xfrm rot="5400000">
            <a:off x="11914569"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5" name="Isosceles Triangle 14">
            <a:extLst>
              <a:ext uri="{FF2B5EF4-FFF2-40B4-BE49-F238E27FC236}">
                <a16:creationId xmlns:a16="http://schemas.microsoft.com/office/drawing/2014/main" id="{4F414FEC-CF16-CCF1-06EB-022E69608D1F}"/>
              </a:ext>
            </a:extLst>
          </p:cNvPr>
          <p:cNvSpPr/>
          <p:nvPr userDrawn="1"/>
        </p:nvSpPr>
        <p:spPr>
          <a:xfrm rot="16200000" flipH="1">
            <a:off x="11352448"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6" name="Oval 15">
            <a:hlinkClick r:id="" action="ppaction://hlinkshowjump?jump=nextslide"/>
            <a:extLst>
              <a:ext uri="{FF2B5EF4-FFF2-40B4-BE49-F238E27FC236}">
                <a16:creationId xmlns:a16="http://schemas.microsoft.com/office/drawing/2014/main" id="{04FEABC5-C652-B28A-62D6-911D1D16B40B}"/>
              </a:ext>
            </a:extLst>
          </p:cNvPr>
          <p:cNvSpPr/>
          <p:nvPr userDrawn="1"/>
        </p:nvSpPr>
        <p:spPr>
          <a:xfrm>
            <a:off x="11836622"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7" name="Oval 16">
            <a:hlinkClick r:id="" action="ppaction://hlinkshowjump?jump=previousslide"/>
            <a:extLst>
              <a:ext uri="{FF2B5EF4-FFF2-40B4-BE49-F238E27FC236}">
                <a16:creationId xmlns:a16="http://schemas.microsoft.com/office/drawing/2014/main" id="{0D6602F3-A221-0FEF-5995-6641A2D872D6}"/>
              </a:ext>
            </a:extLst>
          </p:cNvPr>
          <p:cNvSpPr/>
          <p:nvPr userDrawn="1"/>
        </p:nvSpPr>
        <p:spPr>
          <a:xfrm flipH="1">
            <a:off x="11292948"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18" name="Graphic 17" descr="Home">
            <a:hlinkClick r:id="rId4" action="ppaction://hlinksldjump"/>
            <a:extLst>
              <a:ext uri="{FF2B5EF4-FFF2-40B4-BE49-F238E27FC236}">
                <a16:creationId xmlns:a16="http://schemas.microsoft.com/office/drawing/2014/main" id="{C9B48440-892F-F99A-CF93-8B0ACA648E73}"/>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3" name="TextBox 2">
            <a:extLst>
              <a:ext uri="{FF2B5EF4-FFF2-40B4-BE49-F238E27FC236}">
                <a16:creationId xmlns:a16="http://schemas.microsoft.com/office/drawing/2014/main" id="{2EF5C99B-E164-CD53-9033-C5EA3AD08C84}"/>
              </a:ext>
              <a:ext uri="{C183D7F6-B498-43B3-948B-1728B52AA6E4}">
                <adec:decorative xmlns:adec="http://schemas.microsoft.com/office/drawing/2017/decorative" val="1"/>
              </a:ext>
            </a:extLst>
          </p:cNvPr>
          <p:cNvSpPr txBox="1">
            <a:spLocks/>
          </p:cNvSpPr>
          <p:nvPr userDrawn="1">
            <p:custDataLst>
              <p:tags r:id="rId2"/>
            </p:custDataLst>
          </p:nvPr>
        </p:nvSpPr>
        <p:spPr>
          <a:xfrm>
            <a:off x="1885683" y="6266997"/>
            <a:ext cx="6673851" cy="184666"/>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srgbClr val="FFFFFF">
                    <a:lumMod val="65000"/>
                  </a:srgbClr>
                </a:solidFill>
                <a:effectLst/>
                <a:uLnTx/>
                <a:uFillTx/>
              </a:rPr>
              <a:t>© 2023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3753666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Only - Dark BG Colour">
    <p:bg>
      <p:bgPr>
        <a:solidFill>
          <a:schemeClr val="accent2"/>
        </a:solidFill>
        <a:effectLst/>
      </p:bgPr>
    </p:bg>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739029EA-FB2C-A885-3247-33F7F011F5D7}"/>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Shape 8">
            <a:extLst>
              <a:ext uri="{FF2B5EF4-FFF2-40B4-BE49-F238E27FC236}">
                <a16:creationId xmlns:a16="http://schemas.microsoft.com/office/drawing/2014/main" id="{BD5EA3DF-EDF9-4AA1-B876-3BB2C2DD6124}"/>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5C647E3E-7387-4F1B-91E4-B27FC18C0158}"/>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13" name="Straight Connector 12">
            <a:extLst>
              <a:ext uri="{FF2B5EF4-FFF2-40B4-BE49-F238E27FC236}">
                <a16:creationId xmlns:a16="http://schemas.microsoft.com/office/drawing/2014/main" id="{2A927FC7-77D6-449A-B7B3-5F6763D3F3FF}"/>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80623A36-C230-44C2-9A0A-29BBF3F63CC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9" name="Isosceles Triangle 8">
            <a:extLst>
              <a:ext uri="{FF2B5EF4-FFF2-40B4-BE49-F238E27FC236}">
                <a16:creationId xmlns:a16="http://schemas.microsoft.com/office/drawing/2014/main" id="{D2D91A27-F3DC-A1B5-33BE-9B387A9177AB}"/>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5" name="Isosceles Triangle 14">
            <a:extLst>
              <a:ext uri="{FF2B5EF4-FFF2-40B4-BE49-F238E27FC236}">
                <a16:creationId xmlns:a16="http://schemas.microsoft.com/office/drawing/2014/main" id="{1AF108A0-5867-42FF-B7CD-EF15195421B0}"/>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6" name="Oval 15">
            <a:hlinkClick r:id="" action="ppaction://hlinkshowjump?jump=nextslide"/>
            <a:extLst>
              <a:ext uri="{FF2B5EF4-FFF2-40B4-BE49-F238E27FC236}">
                <a16:creationId xmlns:a16="http://schemas.microsoft.com/office/drawing/2014/main" id="{EE5802B2-DEA6-1800-2454-3C095ECE9FCB}"/>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7" name="Oval 16">
            <a:hlinkClick r:id="" action="ppaction://hlinkshowjump?jump=previousslide"/>
            <a:extLst>
              <a:ext uri="{FF2B5EF4-FFF2-40B4-BE49-F238E27FC236}">
                <a16:creationId xmlns:a16="http://schemas.microsoft.com/office/drawing/2014/main" id="{C20EC44C-30CF-9DEE-5FA9-42E9D848B121}"/>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18" name="Graphic 17" descr="Home">
            <a:hlinkClick r:id="rId3" action="ppaction://hlinksldjump"/>
            <a:extLst>
              <a:ext uri="{FF2B5EF4-FFF2-40B4-BE49-F238E27FC236}">
                <a16:creationId xmlns:a16="http://schemas.microsoft.com/office/drawing/2014/main" id="{3968077E-330C-A890-A654-F470FFBF76A5}"/>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3" name="TextBox 2">
            <a:extLst>
              <a:ext uri="{FF2B5EF4-FFF2-40B4-BE49-F238E27FC236}">
                <a16:creationId xmlns:a16="http://schemas.microsoft.com/office/drawing/2014/main" id="{253BAAFA-7E49-83F3-0EFF-591964C65BE0}"/>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schemeClr val="bg1"/>
                </a:solidFill>
                <a:effectLst/>
                <a:uLnTx/>
                <a:uFillTx/>
                <a:latin typeface="Arial"/>
                <a:ea typeface="+mn-ea"/>
                <a:cs typeface="+mn-cs"/>
              </a:rPr>
              <a:t>© 2023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1777057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Only - Dark BG Alternative">
    <p:bg>
      <p:bgPr>
        <a:solidFill>
          <a:schemeClr val="accent2"/>
        </a:solidFill>
        <a:effectLst/>
      </p:bgPr>
    </p:bg>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739029EA-FB2C-A885-3247-33F7F011F5D7}"/>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C233C"/>
          </a:solidFill>
        </p:spPr>
        <p:txBody>
          <a:bodyPr wrap="square" lIns="0" tIns="0" rIns="0" bIns="0" rtlCol="0">
            <a:noAutofit/>
          </a:bodyPr>
          <a:lstStyle/>
          <a:p>
            <a:endParaRPr sz="1800">
              <a:latin typeface="Arial" panose="020B0604020202020204" pitchFamily="34" charset="0"/>
            </a:endParaRPr>
          </a:p>
        </p:txBody>
      </p: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Shape 8">
            <a:extLst>
              <a:ext uri="{FF2B5EF4-FFF2-40B4-BE49-F238E27FC236}">
                <a16:creationId xmlns:a16="http://schemas.microsoft.com/office/drawing/2014/main" id="{BD5EA3DF-EDF9-4AA1-B876-3BB2C2DD6124}"/>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5C647E3E-7387-4F1B-91E4-B27FC18C0158}"/>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13" name="Straight Connector 12">
            <a:extLst>
              <a:ext uri="{FF2B5EF4-FFF2-40B4-BE49-F238E27FC236}">
                <a16:creationId xmlns:a16="http://schemas.microsoft.com/office/drawing/2014/main" id="{2A927FC7-77D6-449A-B7B3-5F6763D3F3FF}"/>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80623A36-C230-44C2-9A0A-29BBF3F63CC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3" name="Isosceles Triangle 2">
            <a:extLst>
              <a:ext uri="{FF2B5EF4-FFF2-40B4-BE49-F238E27FC236}">
                <a16:creationId xmlns:a16="http://schemas.microsoft.com/office/drawing/2014/main" id="{3EFDE72B-2E58-5FF5-D898-24D54BAB54B4}"/>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7F229861-BF6F-DBDF-7813-BF867325CF6E}"/>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6466FA29-ECD6-4721-1611-39AB891870AE}"/>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6419FA4A-8421-E209-102C-C3DC3EF49758}"/>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7" name="Graphic 6" descr="Home">
            <a:hlinkClick r:id="rId3" action="ppaction://hlinksldjump"/>
            <a:extLst>
              <a:ext uri="{FF2B5EF4-FFF2-40B4-BE49-F238E27FC236}">
                <a16:creationId xmlns:a16="http://schemas.microsoft.com/office/drawing/2014/main" id="{F2213BCD-C9BB-DECC-A6FA-F1C49A628A3B}"/>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9" name="TextBox 8">
            <a:extLst>
              <a:ext uri="{FF2B5EF4-FFF2-40B4-BE49-F238E27FC236}">
                <a16:creationId xmlns:a16="http://schemas.microsoft.com/office/drawing/2014/main" id="{F37B4772-7DD3-0AFE-11F9-41E7BBF81C80}"/>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2023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4763497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10204451"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043585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 Column Text_double 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5362" y="1700213"/>
            <a:ext cx="10204451" cy="4176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4AFC733E-E364-489F-B7AF-D2002EE59732}"/>
              </a:ext>
            </a:extLst>
          </p:cNvPr>
          <p:cNvSpPr>
            <a:spLocks noGrp="1"/>
          </p:cNvSpPr>
          <p:nvPr>
            <p:ph type="title" hasCustomPrompt="1"/>
          </p:nvPr>
        </p:nvSpPr>
        <p:spPr/>
        <p:txBody>
          <a:bodyPr/>
          <a:lstStyle>
            <a:lvl1pPr>
              <a:defRPr/>
            </a:lvl1pPr>
          </a:lstStyle>
          <a:p>
            <a:r>
              <a:rPr lang="en-US"/>
              <a:t>Click to edit </a:t>
            </a:r>
            <a:br>
              <a:rPr lang="en-US"/>
            </a:br>
            <a:r>
              <a:rPr lang="en-US"/>
              <a:t>Master title style</a:t>
            </a:r>
            <a:endParaRPr lang="en-GB"/>
          </a:p>
        </p:txBody>
      </p:sp>
    </p:spTree>
    <p:extLst>
      <p:ext uri="{BB962C8B-B14F-4D97-AF65-F5344CB8AC3E}">
        <p14:creationId xmlns:p14="http://schemas.microsoft.com/office/powerpoint/2010/main" val="3102394141"/>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One Column Text_double title_KPMG Blue">
    <p:bg>
      <p:bgPr>
        <a:solidFill>
          <a:schemeClr val="accent2"/>
        </a:solidFill>
        <a:effectLst/>
      </p:bgPr>
    </p:bg>
    <p:spTree>
      <p:nvGrpSpPr>
        <p:cNvPr id="1" name=""/>
        <p:cNvGrpSpPr/>
        <p:nvPr/>
      </p:nvGrpSpPr>
      <p:grpSpPr>
        <a:xfrm>
          <a:off x="0" y="0"/>
          <a:ext cx="0" cy="0"/>
          <a:chOff x="0" y="0"/>
          <a:chExt cx="0" cy="0"/>
        </a:xfrm>
      </p:grpSpPr>
      <p:sp>
        <p:nvSpPr>
          <p:cNvPr id="9" name="object 3">
            <a:extLst>
              <a:ext uri="{FF2B5EF4-FFF2-40B4-BE49-F238E27FC236}">
                <a16:creationId xmlns:a16="http://schemas.microsoft.com/office/drawing/2014/main" id="{53CB8F51-FC47-032E-39EA-E99AEA19DA8F}"/>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5362" y="1700213"/>
            <a:ext cx="10204451" cy="4176712"/>
          </a:xfrm>
        </p:spPr>
        <p:txBody>
          <a:bodyPr/>
          <a:lstStyle>
            <a:lvl1pPr>
              <a:defRPr>
                <a:solidFill>
                  <a:schemeClr val="bg1"/>
                </a:solidFill>
              </a:defRPr>
            </a:lvl1pPr>
            <a:lvl2pPr>
              <a:defRPr>
                <a:solidFill>
                  <a:schemeClr val="bg1"/>
                </a:solidFill>
              </a:defRPr>
            </a:lvl2pPr>
            <a:lvl3pPr>
              <a:buClrTx/>
              <a:defRPr>
                <a:solidFill>
                  <a:schemeClr val="bg1"/>
                </a:solidFill>
              </a:defRPr>
            </a:lvl3pPr>
            <a:lvl4pPr marL="361950" indent="-180975">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03AAE32-05EB-420A-97AB-3254804D32FD}"/>
              </a:ext>
            </a:extLst>
          </p:cNvPr>
          <p:cNvSpPr>
            <a:spLocks noGrp="1"/>
          </p:cNvSpPr>
          <p:nvPr>
            <p:ph type="title" hasCustomPrompt="1"/>
          </p:nvPr>
        </p:nvSpPr>
        <p:spPr/>
        <p:txBody>
          <a:bodyPr/>
          <a:lstStyle>
            <a:lvl1pPr>
              <a:defRPr>
                <a:solidFill>
                  <a:schemeClr val="bg1"/>
                </a:solidFill>
              </a:defRPr>
            </a:lvl1pPr>
          </a:lstStyle>
          <a:p>
            <a:r>
              <a:rPr lang="en-US"/>
              <a:t>Click to edit </a:t>
            </a:r>
            <a:br>
              <a:rPr lang="en-US"/>
            </a:br>
            <a:r>
              <a:rPr lang="en-US"/>
              <a:t>Master title style</a:t>
            </a:r>
            <a:endParaRPr lang="en-GB"/>
          </a:p>
        </p:txBody>
      </p:sp>
      <p:sp>
        <p:nvSpPr>
          <p:cNvPr id="11" name="Shape 8">
            <a:extLst>
              <a:ext uri="{FF2B5EF4-FFF2-40B4-BE49-F238E27FC236}">
                <a16:creationId xmlns:a16="http://schemas.microsoft.com/office/drawing/2014/main" id="{0FA61DE2-B620-4E9C-8A3A-7AFDEA676EA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2" name="TextBox 11">
            <a:extLst>
              <a:ext uri="{FF2B5EF4-FFF2-40B4-BE49-F238E27FC236}">
                <a16:creationId xmlns:a16="http://schemas.microsoft.com/office/drawing/2014/main" id="{33976EB0-88A7-4A3D-9B61-047EB36DBFAD}"/>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14" name="Straight Connector 13">
            <a:extLst>
              <a:ext uri="{FF2B5EF4-FFF2-40B4-BE49-F238E27FC236}">
                <a16:creationId xmlns:a16="http://schemas.microsoft.com/office/drawing/2014/main" id="{11AC2AA0-75A2-4DEA-87FE-819C40720997}"/>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Graphic 8">
            <a:extLst>
              <a:ext uri="{FF2B5EF4-FFF2-40B4-BE49-F238E27FC236}">
                <a16:creationId xmlns:a16="http://schemas.microsoft.com/office/drawing/2014/main" id="{6F1E78A9-43D8-4898-8F7E-93F2BB137A73}"/>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3" name="Isosceles Triangle 2">
            <a:extLst>
              <a:ext uri="{FF2B5EF4-FFF2-40B4-BE49-F238E27FC236}">
                <a16:creationId xmlns:a16="http://schemas.microsoft.com/office/drawing/2014/main" id="{B78C91FA-361C-9000-88A2-E77BAECE7450}"/>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Isosceles Triangle 4">
            <a:extLst>
              <a:ext uri="{FF2B5EF4-FFF2-40B4-BE49-F238E27FC236}">
                <a16:creationId xmlns:a16="http://schemas.microsoft.com/office/drawing/2014/main" id="{9B0779B9-7597-EF65-4F93-808394475AF9}"/>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nextslide"/>
            <a:extLst>
              <a:ext uri="{FF2B5EF4-FFF2-40B4-BE49-F238E27FC236}">
                <a16:creationId xmlns:a16="http://schemas.microsoft.com/office/drawing/2014/main" id="{7446527C-98FF-BF88-D1F1-1918541F77F9}"/>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114143F4-2480-6BB1-D38D-5D286C48BC33}"/>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8" name="Graphic 7" descr="Home">
            <a:hlinkClick r:id="rId3" action="ppaction://hlinksldjump"/>
            <a:extLst>
              <a:ext uri="{FF2B5EF4-FFF2-40B4-BE49-F238E27FC236}">
                <a16:creationId xmlns:a16="http://schemas.microsoft.com/office/drawing/2014/main" id="{C3958867-24B7-0056-CA15-E73DA947D029}"/>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10" name="TextBox 9">
            <a:extLst>
              <a:ext uri="{FF2B5EF4-FFF2-40B4-BE49-F238E27FC236}">
                <a16:creationId xmlns:a16="http://schemas.microsoft.com/office/drawing/2014/main" id="{AF10678F-DB28-521E-F53F-A43C52BE2668}"/>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2023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2568224362"/>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One Column Text - Dark BG Colour">
    <p:bg>
      <p:bgPr>
        <a:solidFill>
          <a:schemeClr val="accent2"/>
        </a:solidFill>
        <a:effectLst/>
      </p:bgPr>
    </p:bg>
    <p:spTree>
      <p:nvGrpSpPr>
        <p:cNvPr id="1" name=""/>
        <p:cNvGrpSpPr/>
        <p:nvPr/>
      </p:nvGrpSpPr>
      <p:grpSpPr>
        <a:xfrm>
          <a:off x="0" y="0"/>
          <a:ext cx="0" cy="0"/>
          <a:chOff x="0" y="0"/>
          <a:chExt cx="0" cy="0"/>
        </a:xfrm>
      </p:grpSpPr>
      <p:sp>
        <p:nvSpPr>
          <p:cNvPr id="9" name="object 3">
            <a:extLst>
              <a:ext uri="{FF2B5EF4-FFF2-40B4-BE49-F238E27FC236}">
                <a16:creationId xmlns:a16="http://schemas.microsoft.com/office/drawing/2014/main" id="{BEC585C4-5A52-3420-CE3D-39D59D0EEC1E}"/>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5362" y="1330325"/>
            <a:ext cx="10204451"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893FD8B3-A559-4E34-BA53-32A7F9278785}"/>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Shape 8">
            <a:extLst>
              <a:ext uri="{FF2B5EF4-FFF2-40B4-BE49-F238E27FC236}">
                <a16:creationId xmlns:a16="http://schemas.microsoft.com/office/drawing/2014/main" id="{6502E4F8-9814-4C2D-A8F7-99A0A80E6957}"/>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BA5B3710-FA7A-4F3A-8B8B-1E8684A4E5E2}"/>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13" name="Straight Connector 12">
            <a:extLst>
              <a:ext uri="{FF2B5EF4-FFF2-40B4-BE49-F238E27FC236}">
                <a16:creationId xmlns:a16="http://schemas.microsoft.com/office/drawing/2014/main" id="{E233916D-411B-4E5D-82DB-39F0A54EB44B}"/>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14884550-7E3D-4B9E-B170-1CE44B49781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3" name="Isosceles Triangle 2">
            <a:extLst>
              <a:ext uri="{FF2B5EF4-FFF2-40B4-BE49-F238E27FC236}">
                <a16:creationId xmlns:a16="http://schemas.microsoft.com/office/drawing/2014/main" id="{DDDE8A8F-3CFD-1EE3-3D1B-EDBD57E28440}"/>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7E75B89E-0223-BAE1-89A9-B02D94DF7AEB}"/>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962C870B-5B27-2A00-E3AF-6D868D9910A2}"/>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081EB5EC-1A9D-8A9E-80F2-08FC23C57432}"/>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7" name="Graphic 6" descr="Home">
            <a:hlinkClick r:id="rId3" action="ppaction://hlinksldjump"/>
            <a:extLst>
              <a:ext uri="{FF2B5EF4-FFF2-40B4-BE49-F238E27FC236}">
                <a16:creationId xmlns:a16="http://schemas.microsoft.com/office/drawing/2014/main" id="{A2FC391F-6FBF-CB94-EE4E-0F6DC0FF5C49}"/>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8" name="TextBox 7">
            <a:extLst>
              <a:ext uri="{FF2B5EF4-FFF2-40B4-BE49-F238E27FC236}">
                <a16:creationId xmlns:a16="http://schemas.microsoft.com/office/drawing/2014/main" id="{2CF1EFC8-B7BC-89EC-0292-A48B3004715A}"/>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2023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17993720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6231813"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DF69D30F-5094-425F-A158-0850AE27D36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7609967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wo Column Text - Dark BG Colour">
    <p:bg>
      <p:bgPr>
        <a:solidFill>
          <a:schemeClr val="accent2"/>
        </a:solidFill>
        <a:effectLst/>
      </p:bgPr>
    </p:bg>
    <p:spTree>
      <p:nvGrpSpPr>
        <p:cNvPr id="1" name=""/>
        <p:cNvGrpSpPr/>
        <p:nvPr/>
      </p:nvGrpSpPr>
      <p:grpSpPr>
        <a:xfrm>
          <a:off x="0" y="0"/>
          <a:ext cx="0" cy="0"/>
          <a:chOff x="0" y="0"/>
          <a:chExt cx="0" cy="0"/>
        </a:xfrm>
      </p:grpSpPr>
      <p:sp>
        <p:nvSpPr>
          <p:cNvPr id="10" name="object 3">
            <a:extLst>
              <a:ext uri="{FF2B5EF4-FFF2-40B4-BE49-F238E27FC236}">
                <a16:creationId xmlns:a16="http://schemas.microsoft.com/office/drawing/2014/main" id="{7ED172E9-CFBC-0489-7FE6-431688621520}"/>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5362" y="1330325"/>
            <a:ext cx="4968000"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27">
            <a:extLst>
              <a:ext uri="{FF2B5EF4-FFF2-40B4-BE49-F238E27FC236}">
                <a16:creationId xmlns:a16="http://schemas.microsoft.com/office/drawing/2014/main" id="{6ED3211B-3C86-4413-BA20-A4F81B443BE8}"/>
              </a:ext>
            </a:extLst>
          </p:cNvPr>
          <p:cNvSpPr>
            <a:spLocks noGrp="1"/>
          </p:cNvSpPr>
          <p:nvPr>
            <p:ph type="body" sz="quarter" idx="11"/>
          </p:nvPr>
        </p:nvSpPr>
        <p:spPr>
          <a:xfrm>
            <a:off x="6230938" y="1330126"/>
            <a:ext cx="4968875"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1C918AE-52AC-4531-9640-0D2CA3A28F2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1" name="Shape 8">
            <a:extLst>
              <a:ext uri="{FF2B5EF4-FFF2-40B4-BE49-F238E27FC236}">
                <a16:creationId xmlns:a16="http://schemas.microsoft.com/office/drawing/2014/main" id="{94633614-6108-4A5F-9DF8-275F150438A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2" name="TextBox 11">
            <a:extLst>
              <a:ext uri="{FF2B5EF4-FFF2-40B4-BE49-F238E27FC236}">
                <a16:creationId xmlns:a16="http://schemas.microsoft.com/office/drawing/2014/main" id="{150E3323-7007-4144-A219-C2088B5B672D}"/>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14" name="Straight Connector 13">
            <a:extLst>
              <a:ext uri="{FF2B5EF4-FFF2-40B4-BE49-F238E27FC236}">
                <a16:creationId xmlns:a16="http://schemas.microsoft.com/office/drawing/2014/main" id="{31BED6AC-1D49-4097-9CB9-4CA6C41EC866}"/>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Graphic 8">
            <a:extLst>
              <a:ext uri="{FF2B5EF4-FFF2-40B4-BE49-F238E27FC236}">
                <a16:creationId xmlns:a16="http://schemas.microsoft.com/office/drawing/2014/main" id="{B5ED1770-BE4C-4F59-AB07-14FB76347432}"/>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3" name="Isosceles Triangle 2">
            <a:extLst>
              <a:ext uri="{FF2B5EF4-FFF2-40B4-BE49-F238E27FC236}">
                <a16:creationId xmlns:a16="http://schemas.microsoft.com/office/drawing/2014/main" id="{1A990FC1-EE03-9E79-7ACA-021DFCCA0F4B}"/>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2C3D69DE-DAB1-C8E2-7BAE-296DA1E0E6E5}"/>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0E02D946-0179-3BC7-8E59-25FBD9096EE8}"/>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94827837-F197-476E-56BB-4CC34F3E80A0}"/>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7" name="Graphic 6" descr="Home">
            <a:hlinkClick r:id="rId3" action="ppaction://hlinksldjump"/>
            <a:extLst>
              <a:ext uri="{FF2B5EF4-FFF2-40B4-BE49-F238E27FC236}">
                <a16:creationId xmlns:a16="http://schemas.microsoft.com/office/drawing/2014/main" id="{9A997D05-7A98-5043-BC2B-7968004E686C}"/>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8" name="TextBox 7">
            <a:extLst>
              <a:ext uri="{FF2B5EF4-FFF2-40B4-BE49-F238E27FC236}">
                <a16:creationId xmlns:a16="http://schemas.microsoft.com/office/drawing/2014/main" id="{1335B5E5-10B7-D2DD-2E94-6445FC8E8B20}"/>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2023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535841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4968000" cy="454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3"/>
          </p:nvPr>
        </p:nvSpPr>
        <p:spPr>
          <a:xfrm>
            <a:off x="6231813" y="1330126"/>
            <a:ext cx="4968000" cy="454680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D91C8742-D774-4F89-A78A-3FE2DD10535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4688539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10204451"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1"/>
          </p:nvPr>
        </p:nvSpPr>
        <p:spPr>
          <a:xfrm>
            <a:off x="995362" y="3742126"/>
            <a:ext cx="10204451" cy="213574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02D32ADA-D319-4A1F-BF43-8C0B259FADD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7786615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umn Char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6231813" y="1330126"/>
            <a:ext cx="4968000" cy="4546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995362" y="1330325"/>
            <a:ext cx="4968000" cy="454680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F443F486-864A-4617-9E68-0A1C3CD9BA8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2908272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olumn Chart &amp; Tex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4507546" y="3742126"/>
            <a:ext cx="3187200" cy="2134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995362" y="3742126"/>
            <a:ext cx="3187200" cy="2134800"/>
          </a:xfrm>
        </p:spPr>
        <p:txBody>
          <a:bodyPr anchor="ctr"/>
          <a:lstStyle>
            <a:lvl1pPr algn="ctr">
              <a:defRPr/>
            </a:lvl1pPr>
          </a:lstStyle>
          <a:p>
            <a:r>
              <a:rPr lang="en-US"/>
              <a:t>Click icon to add chart</a:t>
            </a:r>
            <a:endParaRPr lang="en-GB"/>
          </a:p>
        </p:txBody>
      </p:sp>
      <p:sp>
        <p:nvSpPr>
          <p:cNvPr id="7" name="Text Placeholder 8"/>
          <p:cNvSpPr>
            <a:spLocks noGrp="1"/>
          </p:cNvSpPr>
          <p:nvPr>
            <p:ph type="body" sz="quarter" idx="10"/>
          </p:nvPr>
        </p:nvSpPr>
        <p:spPr>
          <a:xfrm>
            <a:off x="995362" y="1330325"/>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hart Placeholder 4"/>
          <p:cNvSpPr>
            <a:spLocks noGrp="1"/>
          </p:cNvSpPr>
          <p:nvPr>
            <p:ph type="chart" sz="quarter" idx="13"/>
          </p:nvPr>
        </p:nvSpPr>
        <p:spPr>
          <a:xfrm>
            <a:off x="8012612" y="3742126"/>
            <a:ext cx="3187200" cy="2134800"/>
          </a:xfrm>
        </p:spPr>
        <p:txBody>
          <a:bodyPr anchor="ctr"/>
          <a:lstStyle>
            <a:lvl1pPr algn="ctr">
              <a:defRPr/>
            </a:lvl1pPr>
          </a:lstStyle>
          <a:p>
            <a:r>
              <a:rPr lang="en-US"/>
              <a:t>Click icon to add chart</a:t>
            </a:r>
            <a:endParaRPr lang="en-GB"/>
          </a:p>
        </p:txBody>
      </p:sp>
      <p:sp>
        <p:nvSpPr>
          <p:cNvPr id="9" name="Text Placeholder 8"/>
          <p:cNvSpPr>
            <a:spLocks noGrp="1"/>
          </p:cNvSpPr>
          <p:nvPr>
            <p:ph type="body" sz="quarter" idx="14"/>
          </p:nvPr>
        </p:nvSpPr>
        <p:spPr>
          <a:xfrm>
            <a:off x="4507546"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8"/>
          <p:cNvSpPr>
            <a:spLocks noGrp="1"/>
          </p:cNvSpPr>
          <p:nvPr>
            <p:ph type="body" sz="quarter" idx="15"/>
          </p:nvPr>
        </p:nvSpPr>
        <p:spPr>
          <a:xfrm>
            <a:off x="8012612"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1993B809-7A30-47BC-953E-AF9FE10FDFBB}"/>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4413369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cess 5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068984"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5134768"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720055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995362" y="1330325"/>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068984"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5134768"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7200552"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1" name="Text Placeholder 12"/>
          <p:cNvSpPr>
            <a:spLocks noGrp="1"/>
          </p:cNvSpPr>
          <p:nvPr>
            <p:ph type="body" sz="quarter" idx="18" hasCustomPrompt="1"/>
          </p:nvPr>
        </p:nvSpPr>
        <p:spPr>
          <a:xfrm>
            <a:off x="9264649"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2" name="Text Placeholder 8"/>
          <p:cNvSpPr>
            <a:spLocks noGrp="1"/>
          </p:cNvSpPr>
          <p:nvPr>
            <p:ph type="body" sz="quarter" idx="19"/>
          </p:nvPr>
        </p:nvSpPr>
        <p:spPr>
          <a:xfrm>
            <a:off x="9266337"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B6F9AD75-9C5D-491A-8EB6-1E4763A9BC3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8775981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rocess 5 Columns - Cobalt Blue">
    <p:spTree>
      <p:nvGrpSpPr>
        <p:cNvPr id="1" name=""/>
        <p:cNvGrpSpPr/>
        <p:nvPr/>
      </p:nvGrpSpPr>
      <p:grpSpPr>
        <a:xfrm>
          <a:off x="0" y="0"/>
          <a:ext cx="0" cy="0"/>
          <a:chOff x="0" y="0"/>
          <a:chExt cx="0" cy="0"/>
        </a:xfrm>
      </p:grpSpPr>
      <p:sp>
        <p:nvSpPr>
          <p:cNvPr id="27" name="Text Placeholder 8">
            <a:extLst>
              <a:ext uri="{FF2B5EF4-FFF2-40B4-BE49-F238E27FC236}">
                <a16:creationId xmlns:a16="http://schemas.microsoft.com/office/drawing/2014/main" id="{A68D3E60-F95F-4250-92C1-89CF93433E23}"/>
              </a:ext>
            </a:extLst>
          </p:cNvPr>
          <p:cNvSpPr>
            <a:spLocks noGrp="1"/>
          </p:cNvSpPr>
          <p:nvPr>
            <p:ph type="body" sz="quarter" idx="10"/>
          </p:nvPr>
        </p:nvSpPr>
        <p:spPr>
          <a:xfrm>
            <a:off x="99536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8" name="Text Placeholder 8">
            <a:extLst>
              <a:ext uri="{FF2B5EF4-FFF2-40B4-BE49-F238E27FC236}">
                <a16:creationId xmlns:a16="http://schemas.microsoft.com/office/drawing/2014/main" id="{8D8E592C-F128-4E4B-970B-BFB5C0F2A492}"/>
              </a:ext>
            </a:extLst>
          </p:cNvPr>
          <p:cNvSpPr>
            <a:spLocks noGrp="1"/>
          </p:cNvSpPr>
          <p:nvPr>
            <p:ph type="body" sz="quarter" idx="11"/>
          </p:nvPr>
        </p:nvSpPr>
        <p:spPr>
          <a:xfrm>
            <a:off x="3068984"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9" name="Text Placeholder 8">
            <a:extLst>
              <a:ext uri="{FF2B5EF4-FFF2-40B4-BE49-F238E27FC236}">
                <a16:creationId xmlns:a16="http://schemas.microsoft.com/office/drawing/2014/main" id="{EE6B17CD-E0EF-40A4-A171-4E4B731CE0D9}"/>
              </a:ext>
            </a:extLst>
          </p:cNvPr>
          <p:cNvSpPr>
            <a:spLocks noGrp="1"/>
          </p:cNvSpPr>
          <p:nvPr>
            <p:ph type="body" sz="quarter" idx="12"/>
          </p:nvPr>
        </p:nvSpPr>
        <p:spPr>
          <a:xfrm>
            <a:off x="5134768"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Text Placeholder 8">
            <a:extLst>
              <a:ext uri="{FF2B5EF4-FFF2-40B4-BE49-F238E27FC236}">
                <a16:creationId xmlns:a16="http://schemas.microsoft.com/office/drawing/2014/main" id="{03C9A44B-2A8F-416D-A76B-F3A018572E3F}"/>
              </a:ext>
            </a:extLst>
          </p:cNvPr>
          <p:cNvSpPr>
            <a:spLocks noGrp="1"/>
          </p:cNvSpPr>
          <p:nvPr>
            <p:ph type="body" sz="quarter" idx="13"/>
          </p:nvPr>
        </p:nvSpPr>
        <p:spPr>
          <a:xfrm>
            <a:off x="720055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12">
            <a:extLst>
              <a:ext uri="{FF2B5EF4-FFF2-40B4-BE49-F238E27FC236}">
                <a16:creationId xmlns:a16="http://schemas.microsoft.com/office/drawing/2014/main" id="{D3A5B3AC-C2E0-40CF-9D31-036461F790D0}"/>
              </a:ext>
            </a:extLst>
          </p:cNvPr>
          <p:cNvSpPr>
            <a:spLocks noGrp="1"/>
          </p:cNvSpPr>
          <p:nvPr>
            <p:ph type="body" sz="quarter" idx="14" hasCustomPrompt="1"/>
          </p:nvPr>
        </p:nvSpPr>
        <p:spPr>
          <a:xfrm>
            <a:off x="995362" y="1330325"/>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2" name="Text Placeholder 12">
            <a:extLst>
              <a:ext uri="{FF2B5EF4-FFF2-40B4-BE49-F238E27FC236}">
                <a16:creationId xmlns:a16="http://schemas.microsoft.com/office/drawing/2014/main" id="{969E3860-942E-40E2-A1C8-AF5DF29675F7}"/>
              </a:ext>
            </a:extLst>
          </p:cNvPr>
          <p:cNvSpPr>
            <a:spLocks noGrp="1"/>
          </p:cNvSpPr>
          <p:nvPr>
            <p:ph type="body" sz="quarter" idx="15" hasCustomPrompt="1"/>
          </p:nvPr>
        </p:nvSpPr>
        <p:spPr>
          <a:xfrm>
            <a:off x="3068984"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3" name="Text Placeholder 12">
            <a:extLst>
              <a:ext uri="{FF2B5EF4-FFF2-40B4-BE49-F238E27FC236}">
                <a16:creationId xmlns:a16="http://schemas.microsoft.com/office/drawing/2014/main" id="{8E580107-2025-4C04-9884-4A6DBB63DE03}"/>
              </a:ext>
            </a:extLst>
          </p:cNvPr>
          <p:cNvSpPr>
            <a:spLocks noGrp="1"/>
          </p:cNvSpPr>
          <p:nvPr>
            <p:ph type="body" sz="quarter" idx="16" hasCustomPrompt="1"/>
          </p:nvPr>
        </p:nvSpPr>
        <p:spPr>
          <a:xfrm>
            <a:off x="5134768"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4" name="Text Placeholder 12">
            <a:extLst>
              <a:ext uri="{FF2B5EF4-FFF2-40B4-BE49-F238E27FC236}">
                <a16:creationId xmlns:a16="http://schemas.microsoft.com/office/drawing/2014/main" id="{BC4D5128-392D-4FC9-A83F-FA43203A40D7}"/>
              </a:ext>
            </a:extLst>
          </p:cNvPr>
          <p:cNvSpPr>
            <a:spLocks noGrp="1"/>
          </p:cNvSpPr>
          <p:nvPr>
            <p:ph type="body" sz="quarter" idx="17" hasCustomPrompt="1"/>
          </p:nvPr>
        </p:nvSpPr>
        <p:spPr>
          <a:xfrm>
            <a:off x="7200552"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5" name="Text Placeholder 12">
            <a:extLst>
              <a:ext uri="{FF2B5EF4-FFF2-40B4-BE49-F238E27FC236}">
                <a16:creationId xmlns:a16="http://schemas.microsoft.com/office/drawing/2014/main" id="{A8EB5529-8601-4864-9983-FBB672B8B9FF}"/>
              </a:ext>
            </a:extLst>
          </p:cNvPr>
          <p:cNvSpPr>
            <a:spLocks noGrp="1"/>
          </p:cNvSpPr>
          <p:nvPr>
            <p:ph type="body" sz="quarter" idx="18" hasCustomPrompt="1"/>
          </p:nvPr>
        </p:nvSpPr>
        <p:spPr>
          <a:xfrm>
            <a:off x="9264649"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6" name="Text Placeholder 8">
            <a:extLst>
              <a:ext uri="{FF2B5EF4-FFF2-40B4-BE49-F238E27FC236}">
                <a16:creationId xmlns:a16="http://schemas.microsoft.com/office/drawing/2014/main" id="{4715BC67-F699-49E6-B5D7-22ED9DFA817E}"/>
              </a:ext>
            </a:extLst>
          </p:cNvPr>
          <p:cNvSpPr>
            <a:spLocks noGrp="1"/>
          </p:cNvSpPr>
          <p:nvPr>
            <p:ph type="body" sz="quarter" idx="19"/>
          </p:nvPr>
        </p:nvSpPr>
        <p:spPr>
          <a:xfrm>
            <a:off x="9266337"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EB51C022-C0B7-4310-BC9F-D7C63034FE3A}"/>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10132584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rocess 6 Colum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580C36-1E70-46DD-9783-AFD66B7DEC90}"/>
              </a:ext>
            </a:extLst>
          </p:cNvPr>
          <p:cNvSpPr/>
          <p:nvPr userDrawn="1"/>
        </p:nvSpPr>
        <p:spPr>
          <a:xfrm>
            <a:off x="0" y="0"/>
            <a:ext cx="12192000" cy="26860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9" name="Text Placeholder 8"/>
          <p:cNvSpPr>
            <a:spLocks noGrp="1"/>
          </p:cNvSpPr>
          <p:nvPr>
            <p:ph type="body" sz="quarter" idx="10"/>
          </p:nvPr>
        </p:nvSpPr>
        <p:spPr>
          <a:xfrm>
            <a:off x="995362"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2716529"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4437696"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6158863"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8"/>
          <p:cNvSpPr>
            <a:spLocks noGrp="1"/>
          </p:cNvSpPr>
          <p:nvPr>
            <p:ph type="body" sz="quarter" idx="19"/>
          </p:nvPr>
        </p:nvSpPr>
        <p:spPr>
          <a:xfrm>
            <a:off x="9601199"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469478F-D315-4922-A7E4-E575455BF352}"/>
              </a:ext>
            </a:extLst>
          </p:cNvPr>
          <p:cNvSpPr>
            <a:spLocks noGrp="1"/>
          </p:cNvSpPr>
          <p:nvPr>
            <p:ph type="body" sz="quarter" idx="20"/>
          </p:nvPr>
        </p:nvSpPr>
        <p:spPr>
          <a:xfrm>
            <a:off x="7880030"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38557E01-A30E-46EA-BAB3-4F33E0992F32}"/>
              </a:ext>
            </a:extLst>
          </p:cNvPr>
          <p:cNvSpPr>
            <a:spLocks noGrp="1"/>
          </p:cNvSpPr>
          <p:nvPr>
            <p:ph type="body" sz="quarter" idx="21"/>
          </p:nvPr>
        </p:nvSpPr>
        <p:spPr>
          <a:xfrm>
            <a:off x="995362" y="1330325"/>
            <a:ext cx="10204451" cy="538609"/>
          </a:xfrm>
        </p:spPr>
        <p:txBody>
          <a:bodyPr>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
        <p:nvSpPr>
          <p:cNvPr id="7" name="Title 6">
            <a:extLst>
              <a:ext uri="{FF2B5EF4-FFF2-40B4-BE49-F238E27FC236}">
                <a16:creationId xmlns:a16="http://schemas.microsoft.com/office/drawing/2014/main" id="{59724627-195E-4BFD-9A60-FFD6EECF128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2" name="Isosceles Triangle 1">
            <a:extLst>
              <a:ext uri="{FF2B5EF4-FFF2-40B4-BE49-F238E27FC236}">
                <a16:creationId xmlns:a16="http://schemas.microsoft.com/office/drawing/2014/main" id="{F45A981A-64C2-BB2D-937F-F1FB77BA6554}"/>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8" name="Isosceles Triangle 7">
            <a:extLst>
              <a:ext uri="{FF2B5EF4-FFF2-40B4-BE49-F238E27FC236}">
                <a16:creationId xmlns:a16="http://schemas.microsoft.com/office/drawing/2014/main" id="{DF618351-2B9B-A166-7F6A-78697FCFD370}"/>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1" name="Oval 10">
            <a:hlinkClick r:id="" action="ppaction://hlinkshowjump?jump=nextslide"/>
            <a:extLst>
              <a:ext uri="{FF2B5EF4-FFF2-40B4-BE49-F238E27FC236}">
                <a16:creationId xmlns:a16="http://schemas.microsoft.com/office/drawing/2014/main" id="{5226AD4E-6252-E4FA-54C2-D7095AFBA49C}"/>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3" name="Oval 12">
            <a:hlinkClick r:id="" action="ppaction://hlinkshowjump?jump=previousslide"/>
            <a:extLst>
              <a:ext uri="{FF2B5EF4-FFF2-40B4-BE49-F238E27FC236}">
                <a16:creationId xmlns:a16="http://schemas.microsoft.com/office/drawing/2014/main" id="{66DF5693-B6C1-E339-2ED5-002E61329F64}"/>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15" name="Graphic 14" descr="Home">
            <a:hlinkClick r:id="rId2" action="ppaction://hlinksldjump"/>
            <a:extLst>
              <a:ext uri="{FF2B5EF4-FFF2-40B4-BE49-F238E27FC236}">
                <a16:creationId xmlns:a16="http://schemas.microsoft.com/office/drawing/2014/main" id="{4DD707EF-DDC2-7626-6258-B699A0013F3B}"/>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71850" y="134089"/>
            <a:ext cx="222478" cy="222478"/>
          </a:xfrm>
          <a:prstGeom prst="rect">
            <a:avLst/>
          </a:prstGeom>
        </p:spPr>
      </p:pic>
    </p:spTree>
    <p:extLst>
      <p:ext uri="{BB962C8B-B14F-4D97-AF65-F5344CB8AC3E}">
        <p14:creationId xmlns:p14="http://schemas.microsoft.com/office/powerpoint/2010/main" val="39499126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rocess 4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593775"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618435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8774926"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995362" y="1330325"/>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593775"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6184350"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8774926"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DE70D7C0-6953-439A-A54E-CED56520F82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838659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rocess 4 Columns - Cobalt Blue">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ABA5FBEF-FE77-4CC8-B2D5-D94327DAF658}"/>
              </a:ext>
            </a:extLst>
          </p:cNvPr>
          <p:cNvSpPr>
            <a:spLocks noGrp="1"/>
          </p:cNvSpPr>
          <p:nvPr>
            <p:ph type="body" sz="quarter" idx="10"/>
          </p:nvPr>
        </p:nvSpPr>
        <p:spPr>
          <a:xfrm>
            <a:off x="995362"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8">
            <a:extLst>
              <a:ext uri="{FF2B5EF4-FFF2-40B4-BE49-F238E27FC236}">
                <a16:creationId xmlns:a16="http://schemas.microsoft.com/office/drawing/2014/main" id="{659D9BAA-2BF4-4A94-BAA4-5D091A296246}"/>
              </a:ext>
            </a:extLst>
          </p:cNvPr>
          <p:cNvSpPr>
            <a:spLocks noGrp="1"/>
          </p:cNvSpPr>
          <p:nvPr>
            <p:ph type="body" sz="quarter" idx="11"/>
          </p:nvPr>
        </p:nvSpPr>
        <p:spPr>
          <a:xfrm>
            <a:off x="3593775"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3D170C1-7106-44D2-A62F-A804F244A090}"/>
              </a:ext>
            </a:extLst>
          </p:cNvPr>
          <p:cNvSpPr>
            <a:spLocks noGrp="1"/>
          </p:cNvSpPr>
          <p:nvPr>
            <p:ph type="body" sz="quarter" idx="12"/>
          </p:nvPr>
        </p:nvSpPr>
        <p:spPr>
          <a:xfrm>
            <a:off x="618435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a:extLst>
              <a:ext uri="{FF2B5EF4-FFF2-40B4-BE49-F238E27FC236}">
                <a16:creationId xmlns:a16="http://schemas.microsoft.com/office/drawing/2014/main" id="{5DDAC4CF-AC2F-4D83-9FB0-DDFB71EE9A2C}"/>
              </a:ext>
            </a:extLst>
          </p:cNvPr>
          <p:cNvSpPr>
            <a:spLocks noGrp="1"/>
          </p:cNvSpPr>
          <p:nvPr>
            <p:ph type="body" sz="quarter" idx="13"/>
          </p:nvPr>
        </p:nvSpPr>
        <p:spPr>
          <a:xfrm>
            <a:off x="8774926"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2">
            <a:extLst>
              <a:ext uri="{FF2B5EF4-FFF2-40B4-BE49-F238E27FC236}">
                <a16:creationId xmlns:a16="http://schemas.microsoft.com/office/drawing/2014/main" id="{3C84B130-9B9F-460C-87A1-4E3012ECEA7A}"/>
              </a:ext>
            </a:extLst>
          </p:cNvPr>
          <p:cNvSpPr>
            <a:spLocks noGrp="1"/>
          </p:cNvSpPr>
          <p:nvPr>
            <p:ph type="body" sz="quarter" idx="14" hasCustomPrompt="1"/>
          </p:nvPr>
        </p:nvSpPr>
        <p:spPr>
          <a:xfrm>
            <a:off x="995362" y="1330325"/>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0" name="Text Placeholder 12">
            <a:extLst>
              <a:ext uri="{FF2B5EF4-FFF2-40B4-BE49-F238E27FC236}">
                <a16:creationId xmlns:a16="http://schemas.microsoft.com/office/drawing/2014/main" id="{FC076374-F8FA-413A-9C7F-81C823512353}"/>
              </a:ext>
            </a:extLst>
          </p:cNvPr>
          <p:cNvSpPr>
            <a:spLocks noGrp="1"/>
          </p:cNvSpPr>
          <p:nvPr>
            <p:ph type="body" sz="quarter" idx="15" hasCustomPrompt="1"/>
          </p:nvPr>
        </p:nvSpPr>
        <p:spPr>
          <a:xfrm>
            <a:off x="3593775"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1" name="Text Placeholder 12">
            <a:extLst>
              <a:ext uri="{FF2B5EF4-FFF2-40B4-BE49-F238E27FC236}">
                <a16:creationId xmlns:a16="http://schemas.microsoft.com/office/drawing/2014/main" id="{92DC24D7-E120-435A-8A2A-98E939AC4C9C}"/>
              </a:ext>
            </a:extLst>
          </p:cNvPr>
          <p:cNvSpPr>
            <a:spLocks noGrp="1"/>
          </p:cNvSpPr>
          <p:nvPr>
            <p:ph type="body" sz="quarter" idx="16" hasCustomPrompt="1"/>
          </p:nvPr>
        </p:nvSpPr>
        <p:spPr>
          <a:xfrm>
            <a:off x="6184350"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2" name="Text Placeholder 12">
            <a:extLst>
              <a:ext uri="{FF2B5EF4-FFF2-40B4-BE49-F238E27FC236}">
                <a16:creationId xmlns:a16="http://schemas.microsoft.com/office/drawing/2014/main" id="{41F15369-328E-43E6-894F-1F86414EB3F0}"/>
              </a:ext>
            </a:extLst>
          </p:cNvPr>
          <p:cNvSpPr>
            <a:spLocks noGrp="1"/>
          </p:cNvSpPr>
          <p:nvPr>
            <p:ph type="body" sz="quarter" idx="17" hasCustomPrompt="1"/>
          </p:nvPr>
        </p:nvSpPr>
        <p:spPr>
          <a:xfrm>
            <a:off x="8774926"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9890D0D6-CEB9-47AA-B0BF-EB213FE3B803}"/>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22733415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ad Box with Icon and Center Text Box">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919862B5-E58D-4F98-8070-F04E6659AC38}"/>
              </a:ext>
            </a:extLst>
          </p:cNvPr>
          <p:cNvSpPr>
            <a:spLocks noGrp="1"/>
          </p:cNvSpPr>
          <p:nvPr>
            <p:ph type="body" sz="quarter" idx="53"/>
          </p:nvPr>
        </p:nvSpPr>
        <p:spPr>
          <a:xfrm>
            <a:off x="995362" y="1330325"/>
            <a:ext cx="4967685" cy="2132614"/>
          </a:xfrm>
          <a:custGeom>
            <a:avLst/>
            <a:gdLst>
              <a:gd name="connsiteX0" fmla="*/ 0 w 4967685"/>
              <a:gd name="connsiteY0" fmla="*/ 0 h 2132614"/>
              <a:gd name="connsiteX1" fmla="*/ 4967685 w 4967685"/>
              <a:gd name="connsiteY1" fmla="*/ 0 h 2132614"/>
              <a:gd name="connsiteX2" fmla="*/ 4967685 w 4967685"/>
              <a:gd name="connsiteY2" fmla="*/ 1013538 h 2132614"/>
              <a:gd name="connsiteX3" fmla="*/ 3364916 w 4967685"/>
              <a:gd name="connsiteY3" fmla="*/ 1013538 h 2132614"/>
              <a:gd name="connsiteX4" fmla="*/ 3364916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4967685" y="0"/>
                </a:lnTo>
                <a:lnTo>
                  <a:pt x="4967685" y="1013538"/>
                </a:lnTo>
                <a:lnTo>
                  <a:pt x="3364916" y="1013538"/>
                </a:lnTo>
                <a:lnTo>
                  <a:pt x="3364916" y="2132614"/>
                </a:lnTo>
                <a:lnTo>
                  <a:pt x="0" y="2132614"/>
                </a:lnTo>
                <a:close/>
              </a:path>
            </a:pathLst>
          </a:custGeom>
          <a:solidFill>
            <a:schemeClr val="accent1">
              <a:lumMod val="20000"/>
              <a:lumOff val="80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AEEBDCDC-F212-4ED4-8D32-7B1BC919EF2D}"/>
              </a:ext>
            </a:extLst>
          </p:cNvPr>
          <p:cNvSpPr>
            <a:spLocks noGrp="1"/>
          </p:cNvSpPr>
          <p:nvPr>
            <p:ph type="body" sz="quarter" idx="55"/>
          </p:nvPr>
        </p:nvSpPr>
        <p:spPr>
          <a:xfrm>
            <a:off x="6232127" y="1330325"/>
            <a:ext cx="4967685" cy="2132614"/>
          </a:xfrm>
          <a:custGeom>
            <a:avLst/>
            <a:gdLst>
              <a:gd name="connsiteX0" fmla="*/ 0 w 4970724"/>
              <a:gd name="connsiteY0" fmla="*/ 0 h 2132614"/>
              <a:gd name="connsiteX1" fmla="*/ 4970724 w 4970724"/>
              <a:gd name="connsiteY1" fmla="*/ 0 h 2132614"/>
              <a:gd name="connsiteX2" fmla="*/ 4970724 w 4970724"/>
              <a:gd name="connsiteY2" fmla="*/ 2132614 h 2132614"/>
              <a:gd name="connsiteX3" fmla="*/ 1602767 w 4970724"/>
              <a:gd name="connsiteY3" fmla="*/ 2132614 h 2132614"/>
              <a:gd name="connsiteX4" fmla="*/ 1602767 w 4970724"/>
              <a:gd name="connsiteY4" fmla="*/ 1013538 h 2132614"/>
              <a:gd name="connsiteX5" fmla="*/ 0 w 4970724"/>
              <a:gd name="connsiteY5" fmla="*/ 1013538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0" y="0"/>
                </a:moveTo>
                <a:lnTo>
                  <a:pt x="4970724" y="0"/>
                </a:lnTo>
                <a:lnTo>
                  <a:pt x="4970724" y="2132614"/>
                </a:lnTo>
                <a:lnTo>
                  <a:pt x="1602767" y="2132614"/>
                </a:lnTo>
                <a:lnTo>
                  <a:pt x="1602767" y="1013538"/>
                </a:lnTo>
                <a:lnTo>
                  <a:pt x="0" y="1013538"/>
                </a:lnTo>
                <a:close/>
              </a:path>
            </a:pathLst>
          </a:custGeom>
          <a:solidFill>
            <a:schemeClr val="accent1">
              <a:lumMod val="20000"/>
              <a:lumOff val="80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19">
            <a:extLst>
              <a:ext uri="{FF2B5EF4-FFF2-40B4-BE49-F238E27FC236}">
                <a16:creationId xmlns:a16="http://schemas.microsoft.com/office/drawing/2014/main" id="{BE0E984E-3A85-42BD-A2C6-26D3EB300D8B}"/>
              </a:ext>
            </a:extLst>
          </p:cNvPr>
          <p:cNvSpPr>
            <a:spLocks noGrp="1"/>
          </p:cNvSpPr>
          <p:nvPr>
            <p:ph type="body" sz="quarter" idx="54"/>
          </p:nvPr>
        </p:nvSpPr>
        <p:spPr>
          <a:xfrm>
            <a:off x="995362" y="3744312"/>
            <a:ext cx="4967685" cy="2132614"/>
          </a:xfrm>
          <a:custGeom>
            <a:avLst/>
            <a:gdLst>
              <a:gd name="connsiteX0" fmla="*/ 0 w 4967685"/>
              <a:gd name="connsiteY0" fmla="*/ 0 h 2132614"/>
              <a:gd name="connsiteX1" fmla="*/ 3364916 w 4967685"/>
              <a:gd name="connsiteY1" fmla="*/ 0 h 2132614"/>
              <a:gd name="connsiteX2" fmla="*/ 3364916 w 4967685"/>
              <a:gd name="connsiteY2" fmla="*/ 1119077 h 2132614"/>
              <a:gd name="connsiteX3" fmla="*/ 4967685 w 4967685"/>
              <a:gd name="connsiteY3" fmla="*/ 1119077 h 2132614"/>
              <a:gd name="connsiteX4" fmla="*/ 4967685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3364916" y="0"/>
                </a:lnTo>
                <a:lnTo>
                  <a:pt x="3364916" y="1119077"/>
                </a:lnTo>
                <a:lnTo>
                  <a:pt x="4967685" y="1119077"/>
                </a:lnTo>
                <a:lnTo>
                  <a:pt x="4967685" y="2132614"/>
                </a:lnTo>
                <a:lnTo>
                  <a:pt x="0" y="2132614"/>
                </a:lnTo>
                <a:close/>
              </a:path>
            </a:pathLst>
          </a:custGeom>
          <a:solidFill>
            <a:schemeClr val="accent1">
              <a:lumMod val="20000"/>
              <a:lumOff val="80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8">
            <a:extLst>
              <a:ext uri="{FF2B5EF4-FFF2-40B4-BE49-F238E27FC236}">
                <a16:creationId xmlns:a16="http://schemas.microsoft.com/office/drawing/2014/main" id="{4DB6DB5B-6EBB-4E77-8ECE-2DE4424BD660}"/>
              </a:ext>
            </a:extLst>
          </p:cNvPr>
          <p:cNvSpPr>
            <a:spLocks noGrp="1"/>
          </p:cNvSpPr>
          <p:nvPr>
            <p:ph type="body" sz="quarter" idx="56"/>
          </p:nvPr>
        </p:nvSpPr>
        <p:spPr>
          <a:xfrm>
            <a:off x="6232127" y="3744312"/>
            <a:ext cx="4967685" cy="2132614"/>
          </a:xfrm>
          <a:custGeom>
            <a:avLst/>
            <a:gdLst>
              <a:gd name="connsiteX0" fmla="*/ 1602767 w 4970724"/>
              <a:gd name="connsiteY0" fmla="*/ 0 h 2132614"/>
              <a:gd name="connsiteX1" fmla="*/ 4970724 w 4970724"/>
              <a:gd name="connsiteY1" fmla="*/ 0 h 2132614"/>
              <a:gd name="connsiteX2" fmla="*/ 4970724 w 4970724"/>
              <a:gd name="connsiteY2" fmla="*/ 2132614 h 2132614"/>
              <a:gd name="connsiteX3" fmla="*/ 0 w 4970724"/>
              <a:gd name="connsiteY3" fmla="*/ 2132614 h 2132614"/>
              <a:gd name="connsiteX4" fmla="*/ 0 w 4970724"/>
              <a:gd name="connsiteY4" fmla="*/ 1119077 h 2132614"/>
              <a:gd name="connsiteX5" fmla="*/ 1602767 w 4970724"/>
              <a:gd name="connsiteY5" fmla="*/ 1119077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1602767" y="0"/>
                </a:moveTo>
                <a:lnTo>
                  <a:pt x="4970724" y="0"/>
                </a:lnTo>
                <a:lnTo>
                  <a:pt x="4970724" y="2132614"/>
                </a:lnTo>
                <a:lnTo>
                  <a:pt x="0" y="2132614"/>
                </a:lnTo>
                <a:lnTo>
                  <a:pt x="0" y="1119077"/>
                </a:lnTo>
                <a:lnTo>
                  <a:pt x="1602767" y="1119077"/>
                </a:lnTo>
                <a:close/>
              </a:path>
            </a:pathLst>
          </a:custGeom>
          <a:solidFill>
            <a:schemeClr val="accent1">
              <a:lumMod val="20000"/>
              <a:lumOff val="80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10"/>
          <p:cNvSpPr>
            <a:spLocks noGrp="1"/>
          </p:cNvSpPr>
          <p:nvPr>
            <p:ph type="body" sz="quarter" idx="21"/>
          </p:nvPr>
        </p:nvSpPr>
        <p:spPr bwMode="gray">
          <a:xfrm>
            <a:off x="4571176" y="2546022"/>
            <a:ext cx="3049649" cy="2118398"/>
          </a:xfrm>
          <a:prstGeom prst="rect">
            <a:avLst/>
          </a:prstGeom>
          <a:solidFill>
            <a:schemeClr val="accent1"/>
          </a:solidFill>
          <a:ln>
            <a:noFill/>
          </a:ln>
        </p:spPr>
        <p:txBody>
          <a:bodyPr lIns="108000" tIns="108000" rIns="108000" bIns="108000" anchor="ctr" anchorCtr="1">
            <a:noAutofit/>
          </a:bodyPr>
          <a:lstStyle>
            <a:lvl1pPr algn="ctr">
              <a:defRPr sz="1400">
                <a:solidFill>
                  <a:schemeClr val="bg1"/>
                </a:solidFill>
                <a:latin typeface="+mn-lt"/>
                <a:cs typeface="Arial" panose="020B0604020202020204" pitchFamily="34" charset="0"/>
              </a:defRPr>
            </a:lvl1pPr>
          </a:lstStyle>
          <a:p>
            <a:pPr lvl="0"/>
            <a:r>
              <a:rPr lang="en-US"/>
              <a:t>Click to edit Master text styles</a:t>
            </a:r>
          </a:p>
        </p:txBody>
      </p:sp>
      <p:sp>
        <p:nvSpPr>
          <p:cNvPr id="3" name="Title 2">
            <a:extLst>
              <a:ext uri="{FF2B5EF4-FFF2-40B4-BE49-F238E27FC236}">
                <a16:creationId xmlns:a16="http://schemas.microsoft.com/office/drawing/2014/main" id="{01CCA206-C726-4930-8059-66751EC1483B}"/>
              </a:ext>
            </a:extLst>
          </p:cNvPr>
          <p:cNvSpPr>
            <a:spLocks noGrp="1"/>
          </p:cNvSpPr>
          <p:nvPr>
            <p:ph type="title"/>
          </p:nvPr>
        </p:nvSpPr>
        <p:spPr>
          <a:xfrm>
            <a:off x="995364" y="431800"/>
            <a:ext cx="10204450" cy="533400"/>
          </a:xfrm>
        </p:spPr>
        <p:txBody>
          <a:bodyPr/>
          <a:lstStyle>
            <a:lvl1pPr>
              <a:defRPr>
                <a:solidFill>
                  <a:schemeClr val="tx2"/>
                </a:solidFill>
              </a:defRPr>
            </a:lvl1pPr>
          </a:lstStyle>
          <a:p>
            <a:r>
              <a:rPr lang="en-US"/>
              <a:t>Click to edit Master title style</a:t>
            </a:r>
            <a:endParaRPr lang="en-GB"/>
          </a:p>
        </p:txBody>
      </p:sp>
    </p:spTree>
    <p:extLst>
      <p:ext uri="{BB962C8B-B14F-4D97-AF65-F5344CB8AC3E}">
        <p14:creationId xmlns:p14="http://schemas.microsoft.com/office/powerpoint/2010/main" val="36958581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Column Blue Heading">
    <p:spTree>
      <p:nvGrpSpPr>
        <p:cNvPr id="1" name=""/>
        <p:cNvGrpSpPr/>
        <p:nvPr/>
      </p:nvGrpSpPr>
      <p:grpSpPr>
        <a:xfrm>
          <a:off x="0" y="0"/>
          <a:ext cx="0" cy="0"/>
          <a:chOff x="0" y="0"/>
          <a:chExt cx="0" cy="0"/>
        </a:xfrm>
      </p:grpSpPr>
      <p:sp>
        <p:nvSpPr>
          <p:cNvPr id="19" name="Text Placeholder 8"/>
          <p:cNvSpPr>
            <a:spLocks noGrp="1"/>
          </p:cNvSpPr>
          <p:nvPr>
            <p:ph type="body" sz="quarter" idx="19"/>
          </p:nvPr>
        </p:nvSpPr>
        <p:spPr>
          <a:xfrm>
            <a:off x="995362" y="1720715"/>
            <a:ext cx="4968000" cy="4156211"/>
          </a:xfrm>
          <a:solidFill>
            <a:schemeClr val="accent1">
              <a:lumMod val="20000"/>
              <a:lumOff val="80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8"/>
          <p:cNvSpPr>
            <a:spLocks noGrp="1"/>
          </p:cNvSpPr>
          <p:nvPr>
            <p:ph type="body" sz="quarter" idx="20"/>
          </p:nvPr>
        </p:nvSpPr>
        <p:spPr>
          <a:xfrm>
            <a:off x="995362" y="1330325"/>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6231813" y="1720715"/>
            <a:ext cx="4968000" cy="4156211"/>
          </a:xfrm>
          <a:solidFill>
            <a:schemeClr val="accent1">
              <a:lumMod val="20000"/>
              <a:lumOff val="80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8"/>
          <p:cNvSpPr>
            <a:spLocks noGrp="1"/>
          </p:cNvSpPr>
          <p:nvPr>
            <p:ph type="body" sz="quarter" idx="22"/>
          </p:nvPr>
        </p:nvSpPr>
        <p:spPr>
          <a:xfrm>
            <a:off x="6231813"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C76913D-77B2-43C9-9A9E-B86D68E16B7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855353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Quad Boxes">
    <p:spTree>
      <p:nvGrpSpPr>
        <p:cNvPr id="1" name=""/>
        <p:cNvGrpSpPr/>
        <p:nvPr/>
      </p:nvGrpSpPr>
      <p:grpSpPr>
        <a:xfrm>
          <a:off x="0" y="0"/>
          <a:ext cx="0" cy="0"/>
          <a:chOff x="0" y="0"/>
          <a:chExt cx="0" cy="0"/>
        </a:xfrm>
      </p:grpSpPr>
      <p:sp>
        <p:nvSpPr>
          <p:cNvPr id="13" name="Text Placeholder 8"/>
          <p:cNvSpPr>
            <a:spLocks noGrp="1"/>
          </p:cNvSpPr>
          <p:nvPr>
            <p:ph type="body" sz="quarter" idx="19"/>
          </p:nvPr>
        </p:nvSpPr>
        <p:spPr>
          <a:xfrm>
            <a:off x="995362" y="1719125"/>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p:cNvSpPr>
            <a:spLocks noGrp="1"/>
          </p:cNvSpPr>
          <p:nvPr>
            <p:ph type="body" sz="quarter" idx="20"/>
          </p:nvPr>
        </p:nvSpPr>
        <p:spPr>
          <a:xfrm>
            <a:off x="995362" y="1330325"/>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5" name="Text Placeholder 8"/>
          <p:cNvSpPr>
            <a:spLocks noGrp="1"/>
          </p:cNvSpPr>
          <p:nvPr>
            <p:ph type="body" sz="quarter" idx="21"/>
          </p:nvPr>
        </p:nvSpPr>
        <p:spPr>
          <a:xfrm>
            <a:off x="6231813" y="1719125"/>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p:cNvSpPr>
            <a:spLocks noGrp="1"/>
          </p:cNvSpPr>
          <p:nvPr>
            <p:ph type="body" sz="quarter" idx="22"/>
          </p:nvPr>
        </p:nvSpPr>
        <p:spPr>
          <a:xfrm>
            <a:off x="6231813" y="1330325"/>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1" name="Text Placeholder 8"/>
          <p:cNvSpPr>
            <a:spLocks noGrp="1"/>
          </p:cNvSpPr>
          <p:nvPr>
            <p:ph type="body" sz="quarter" idx="23"/>
          </p:nvPr>
        </p:nvSpPr>
        <p:spPr>
          <a:xfrm>
            <a:off x="995362" y="4130721"/>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8"/>
          <p:cNvSpPr>
            <a:spLocks noGrp="1"/>
          </p:cNvSpPr>
          <p:nvPr>
            <p:ph type="body" sz="quarter" idx="24"/>
          </p:nvPr>
        </p:nvSpPr>
        <p:spPr>
          <a:xfrm>
            <a:off x="995362"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3" name="Text Placeholder 8"/>
          <p:cNvSpPr>
            <a:spLocks noGrp="1"/>
          </p:cNvSpPr>
          <p:nvPr>
            <p:ph type="body" sz="quarter" idx="25"/>
          </p:nvPr>
        </p:nvSpPr>
        <p:spPr>
          <a:xfrm>
            <a:off x="6231813" y="4130721"/>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Text Placeholder 8"/>
          <p:cNvSpPr>
            <a:spLocks noGrp="1"/>
          </p:cNvSpPr>
          <p:nvPr>
            <p:ph type="body" sz="quarter" idx="26"/>
          </p:nvPr>
        </p:nvSpPr>
        <p:spPr>
          <a:xfrm>
            <a:off x="6231813"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EF8E881-FC4C-4F00-9389-FF3C71D7CB7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9556956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Four Quad Boxes BG Dark Colour">
    <p:bg>
      <p:bgPr>
        <a:solidFill>
          <a:schemeClr val="accent2"/>
        </a:solidFill>
        <a:effectLst/>
      </p:bgPr>
    </p:bg>
    <p:spTree>
      <p:nvGrpSpPr>
        <p:cNvPr id="1" name=""/>
        <p:cNvGrpSpPr/>
        <p:nvPr/>
      </p:nvGrpSpPr>
      <p:grpSpPr>
        <a:xfrm>
          <a:off x="0" y="0"/>
          <a:ext cx="0" cy="0"/>
          <a:chOff x="0" y="0"/>
          <a:chExt cx="0" cy="0"/>
        </a:xfrm>
      </p:grpSpPr>
      <p:sp>
        <p:nvSpPr>
          <p:cNvPr id="17" name="object 3">
            <a:extLst>
              <a:ext uri="{FF2B5EF4-FFF2-40B4-BE49-F238E27FC236}">
                <a16:creationId xmlns:a16="http://schemas.microsoft.com/office/drawing/2014/main" id="{E10C1585-375A-4D46-CC08-32341565B09F}"/>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69" name="Text Placeholder 8">
            <a:extLst>
              <a:ext uri="{FF2B5EF4-FFF2-40B4-BE49-F238E27FC236}">
                <a16:creationId xmlns:a16="http://schemas.microsoft.com/office/drawing/2014/main" id="{2086F202-0162-4310-A956-FCCC9474338A}"/>
              </a:ext>
            </a:extLst>
          </p:cNvPr>
          <p:cNvSpPr>
            <a:spLocks noGrp="1"/>
          </p:cNvSpPr>
          <p:nvPr>
            <p:ph type="body" sz="quarter" idx="19"/>
          </p:nvPr>
        </p:nvSpPr>
        <p:spPr>
          <a:xfrm>
            <a:off x="995362"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0" name="Text Placeholder 8">
            <a:extLst>
              <a:ext uri="{FF2B5EF4-FFF2-40B4-BE49-F238E27FC236}">
                <a16:creationId xmlns:a16="http://schemas.microsoft.com/office/drawing/2014/main" id="{E8B6691E-17EA-480D-B598-F314E1A68EB3}"/>
              </a:ext>
            </a:extLst>
          </p:cNvPr>
          <p:cNvSpPr>
            <a:spLocks noGrp="1"/>
          </p:cNvSpPr>
          <p:nvPr>
            <p:ph type="body" sz="quarter" idx="20"/>
          </p:nvPr>
        </p:nvSpPr>
        <p:spPr>
          <a:xfrm>
            <a:off x="995362" y="1330325"/>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1" name="Text Placeholder 8">
            <a:extLst>
              <a:ext uri="{FF2B5EF4-FFF2-40B4-BE49-F238E27FC236}">
                <a16:creationId xmlns:a16="http://schemas.microsoft.com/office/drawing/2014/main" id="{59F2358C-C167-462D-9F76-6D66B9B409BE}"/>
              </a:ext>
            </a:extLst>
          </p:cNvPr>
          <p:cNvSpPr>
            <a:spLocks noGrp="1"/>
          </p:cNvSpPr>
          <p:nvPr>
            <p:ph type="body" sz="quarter" idx="21"/>
          </p:nvPr>
        </p:nvSpPr>
        <p:spPr>
          <a:xfrm>
            <a:off x="6231813"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2" name="Text Placeholder 8">
            <a:extLst>
              <a:ext uri="{FF2B5EF4-FFF2-40B4-BE49-F238E27FC236}">
                <a16:creationId xmlns:a16="http://schemas.microsoft.com/office/drawing/2014/main" id="{B2FCC9C9-35DE-4F3C-A352-30EE65DD5B86}"/>
              </a:ext>
            </a:extLst>
          </p:cNvPr>
          <p:cNvSpPr>
            <a:spLocks noGrp="1"/>
          </p:cNvSpPr>
          <p:nvPr>
            <p:ph type="body" sz="quarter" idx="22"/>
          </p:nvPr>
        </p:nvSpPr>
        <p:spPr>
          <a:xfrm>
            <a:off x="6231813" y="1330325"/>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3" name="Text Placeholder 8">
            <a:extLst>
              <a:ext uri="{FF2B5EF4-FFF2-40B4-BE49-F238E27FC236}">
                <a16:creationId xmlns:a16="http://schemas.microsoft.com/office/drawing/2014/main" id="{EA017BC0-9170-4186-94F7-40E80F981A05}"/>
              </a:ext>
            </a:extLst>
          </p:cNvPr>
          <p:cNvSpPr>
            <a:spLocks noGrp="1"/>
          </p:cNvSpPr>
          <p:nvPr>
            <p:ph type="body" sz="quarter" idx="23"/>
          </p:nvPr>
        </p:nvSpPr>
        <p:spPr>
          <a:xfrm>
            <a:off x="995362" y="4130721"/>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4" name="Text Placeholder 8">
            <a:extLst>
              <a:ext uri="{FF2B5EF4-FFF2-40B4-BE49-F238E27FC236}">
                <a16:creationId xmlns:a16="http://schemas.microsoft.com/office/drawing/2014/main" id="{0383342E-84C2-404C-8D37-45747A191605}"/>
              </a:ext>
            </a:extLst>
          </p:cNvPr>
          <p:cNvSpPr>
            <a:spLocks noGrp="1"/>
          </p:cNvSpPr>
          <p:nvPr>
            <p:ph type="body" sz="quarter" idx="24"/>
          </p:nvPr>
        </p:nvSpPr>
        <p:spPr>
          <a:xfrm>
            <a:off x="995362" y="3741920"/>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5" name="Text Placeholder 8">
            <a:extLst>
              <a:ext uri="{FF2B5EF4-FFF2-40B4-BE49-F238E27FC236}">
                <a16:creationId xmlns:a16="http://schemas.microsoft.com/office/drawing/2014/main" id="{BE27B3E2-E887-473C-8464-38B061F67EA7}"/>
              </a:ext>
            </a:extLst>
          </p:cNvPr>
          <p:cNvSpPr>
            <a:spLocks noGrp="1"/>
          </p:cNvSpPr>
          <p:nvPr>
            <p:ph type="body" sz="quarter" idx="25"/>
          </p:nvPr>
        </p:nvSpPr>
        <p:spPr>
          <a:xfrm>
            <a:off x="6231813" y="4130721"/>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6" name="Text Placeholder 8">
            <a:extLst>
              <a:ext uri="{FF2B5EF4-FFF2-40B4-BE49-F238E27FC236}">
                <a16:creationId xmlns:a16="http://schemas.microsoft.com/office/drawing/2014/main" id="{4C0C9B8C-19B0-44D7-9F0F-975D45D4007F}"/>
              </a:ext>
            </a:extLst>
          </p:cNvPr>
          <p:cNvSpPr>
            <a:spLocks noGrp="1"/>
          </p:cNvSpPr>
          <p:nvPr>
            <p:ph type="body" sz="quarter" idx="26"/>
          </p:nvPr>
        </p:nvSpPr>
        <p:spPr>
          <a:xfrm>
            <a:off x="6231813" y="3741920"/>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39275135-3A5F-40EA-83D5-8A21BF903978}"/>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6" name="Shape 8">
            <a:extLst>
              <a:ext uri="{FF2B5EF4-FFF2-40B4-BE49-F238E27FC236}">
                <a16:creationId xmlns:a16="http://schemas.microsoft.com/office/drawing/2014/main" id="{318D7EFE-06F8-46EC-AF2B-FEBEADE006DD}"/>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20" name="TextBox 19">
            <a:extLst>
              <a:ext uri="{FF2B5EF4-FFF2-40B4-BE49-F238E27FC236}">
                <a16:creationId xmlns:a16="http://schemas.microsoft.com/office/drawing/2014/main" id="{CCCA1CC0-0581-4B49-8A09-A736B74D9442}"/>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22" name="Straight Connector 21">
            <a:extLst>
              <a:ext uri="{FF2B5EF4-FFF2-40B4-BE49-F238E27FC236}">
                <a16:creationId xmlns:a16="http://schemas.microsoft.com/office/drawing/2014/main" id="{10205052-9F05-4D64-A371-862F0F010529}"/>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Graphic 8">
            <a:extLst>
              <a:ext uri="{FF2B5EF4-FFF2-40B4-BE49-F238E27FC236}">
                <a16:creationId xmlns:a16="http://schemas.microsoft.com/office/drawing/2014/main" id="{3BFC9A3D-C903-4CED-9649-79FB2B13E1A3}"/>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2" name="Isosceles Triangle 1">
            <a:extLst>
              <a:ext uri="{FF2B5EF4-FFF2-40B4-BE49-F238E27FC236}">
                <a16:creationId xmlns:a16="http://schemas.microsoft.com/office/drawing/2014/main" id="{9E02A37C-7E01-AAA6-D697-37AA765BC686}"/>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D8405644-DE73-00EE-D81A-84D70D324818}"/>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A6B6FD82-6C20-895A-27B5-BF3E1E77088E}"/>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8AF59494-7DE4-5E6C-757A-3A14978659D0}"/>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7" name="Graphic 6" descr="Home">
            <a:hlinkClick r:id="rId3" action="ppaction://hlinksldjump"/>
            <a:extLst>
              <a:ext uri="{FF2B5EF4-FFF2-40B4-BE49-F238E27FC236}">
                <a16:creationId xmlns:a16="http://schemas.microsoft.com/office/drawing/2014/main" id="{D8A88469-B583-F54A-E5FB-22DCEF1DD470}"/>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10" name="TextBox 9">
            <a:extLst>
              <a:ext uri="{FF2B5EF4-FFF2-40B4-BE49-F238E27FC236}">
                <a16:creationId xmlns:a16="http://schemas.microsoft.com/office/drawing/2014/main" id="{C13A0519-80AF-706A-5E63-C3A2F21D28DA}"/>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2023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2083640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No Title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216009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No Title Blue">
    <p:bg>
      <p:bgPr>
        <a:solidFill>
          <a:schemeClr val="accent2"/>
        </a:solidFill>
        <a:effectLst/>
      </p:bgPr>
    </p:bg>
    <p:spTree>
      <p:nvGrpSpPr>
        <p:cNvPr id="1" name=""/>
        <p:cNvGrpSpPr/>
        <p:nvPr/>
      </p:nvGrpSpPr>
      <p:grpSpPr>
        <a:xfrm>
          <a:off x="0" y="0"/>
          <a:ext cx="0" cy="0"/>
          <a:chOff x="0" y="0"/>
          <a:chExt cx="0" cy="0"/>
        </a:xfrm>
      </p:grpSpPr>
      <p:sp>
        <p:nvSpPr>
          <p:cNvPr id="10" name="Shape 8">
            <a:extLst>
              <a:ext uri="{FF2B5EF4-FFF2-40B4-BE49-F238E27FC236}">
                <a16:creationId xmlns:a16="http://schemas.microsoft.com/office/drawing/2014/main" id="{BD5EA3DF-EDF9-4AA1-B876-3BB2C2DD6124}"/>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5C647E3E-7387-4F1B-91E4-B27FC18C0158}"/>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13" name="Straight Connector 12">
            <a:extLst>
              <a:ext uri="{FF2B5EF4-FFF2-40B4-BE49-F238E27FC236}">
                <a16:creationId xmlns:a16="http://schemas.microsoft.com/office/drawing/2014/main" id="{2A927FC7-77D6-449A-B7B3-5F6763D3F3FF}"/>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80623A36-C230-44C2-9A0A-29BBF3F63CC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2" name="Isosceles Triangle 1">
            <a:extLst>
              <a:ext uri="{FF2B5EF4-FFF2-40B4-BE49-F238E27FC236}">
                <a16:creationId xmlns:a16="http://schemas.microsoft.com/office/drawing/2014/main" id="{11A2B0A4-3B84-A60F-51A4-EF35D0B4CE23}"/>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3" name="Isosceles Triangle 2">
            <a:extLst>
              <a:ext uri="{FF2B5EF4-FFF2-40B4-BE49-F238E27FC236}">
                <a16:creationId xmlns:a16="http://schemas.microsoft.com/office/drawing/2014/main" id="{50C5DE3C-F53B-362E-7A13-F8013221FC9C}"/>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Oval 3">
            <a:hlinkClick r:id="" action="ppaction://hlinkshowjump?jump=nextslide"/>
            <a:extLst>
              <a:ext uri="{FF2B5EF4-FFF2-40B4-BE49-F238E27FC236}">
                <a16:creationId xmlns:a16="http://schemas.microsoft.com/office/drawing/2014/main" id="{4810C495-58A2-6C56-D9A7-FE2CAC030507}"/>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previousslide"/>
            <a:extLst>
              <a:ext uri="{FF2B5EF4-FFF2-40B4-BE49-F238E27FC236}">
                <a16:creationId xmlns:a16="http://schemas.microsoft.com/office/drawing/2014/main" id="{50F6E80C-3C27-696D-4914-BEE897CAC3D4}"/>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6" name="Graphic 5" descr="Home">
            <a:hlinkClick r:id="rId3" action="ppaction://hlinksldjump"/>
            <a:extLst>
              <a:ext uri="{FF2B5EF4-FFF2-40B4-BE49-F238E27FC236}">
                <a16:creationId xmlns:a16="http://schemas.microsoft.com/office/drawing/2014/main" id="{B3D7EF47-723C-79EE-14DC-FACEA88E451D}"/>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7" name="TextBox 6">
            <a:extLst>
              <a:ext uri="{FF2B5EF4-FFF2-40B4-BE49-F238E27FC236}">
                <a16:creationId xmlns:a16="http://schemas.microsoft.com/office/drawing/2014/main" id="{32298E8B-4DC6-8F11-E51A-3BE4FE71F13D}"/>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2023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39155057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solidFill>
          <a:schemeClr val="accent1"/>
        </a:solidFill>
        <a:effectLst/>
      </p:bgPr>
    </p:bg>
    <p:spTree>
      <p:nvGrpSpPr>
        <p:cNvPr id="1" name=""/>
        <p:cNvGrpSpPr/>
        <p:nvPr/>
      </p:nvGrpSpPr>
      <p:grpSpPr>
        <a:xfrm>
          <a:off x="0" y="0"/>
          <a:ext cx="0" cy="0"/>
          <a:chOff x="0" y="0"/>
          <a:chExt cx="0" cy="0"/>
        </a:xfrm>
      </p:grpSpPr>
      <p:sp>
        <p:nvSpPr>
          <p:cNvPr id="4" name="object 3"/>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11" name="Rectangle 10">
            <a:extLst>
              <a:ext uri="{FF2B5EF4-FFF2-40B4-BE49-F238E27FC236}">
                <a16:creationId xmlns:a16="http://schemas.microsoft.com/office/drawing/2014/main" id="{8D5A6B33-6A03-E3BB-2C29-EAB833EA92E2}"/>
              </a:ext>
            </a:extLst>
          </p:cNvPr>
          <p:cNvSpPr>
            <a:spLocks noChangeAspect="1"/>
          </p:cNvSpPr>
          <p:nvPr userDrawn="1"/>
        </p:nvSpPr>
        <p:spPr>
          <a:xfrm>
            <a:off x="998476" y="1330325"/>
            <a:ext cx="10201337" cy="45466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Espace réservé du numéro de diapositive 1"/>
          <p:cNvSpPr>
            <a:spLocks noGrp="1"/>
          </p:cNvSpPr>
          <p:nvPr>
            <p:ph type="sldNum" sz="quarter" idx="10"/>
          </p:nvPr>
        </p:nvSpPr>
        <p:spPr>
          <a:xfrm>
            <a:off x="0" y="0"/>
            <a:ext cx="0" cy="0"/>
          </a:xfrm>
          <a:prstGeom prst="rect">
            <a:avLst/>
          </a:prstGeom>
          <a:ln>
            <a:solidFill>
              <a:srgbClr val="00338D"/>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fr-FR"/>
          </a:p>
        </p:txBody>
      </p:sp>
      <p:pic>
        <p:nvPicPr>
          <p:cNvPr id="12" name="Graphic 11">
            <a:extLst>
              <a:ext uri="{FF2B5EF4-FFF2-40B4-BE49-F238E27FC236}">
                <a16:creationId xmlns:a16="http://schemas.microsoft.com/office/drawing/2014/main" id="{8D201DF8-8688-B83B-BC19-EA576B519C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8B9B2E45-F797-8C99-08D4-9DA15AA8DE30}"/>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Isosceles Triangle 4">
            <a:extLst>
              <a:ext uri="{FF2B5EF4-FFF2-40B4-BE49-F238E27FC236}">
                <a16:creationId xmlns:a16="http://schemas.microsoft.com/office/drawing/2014/main" id="{048C6BF7-D6A6-A874-7571-562059B61049}"/>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nextslide"/>
            <a:extLst>
              <a:ext uri="{FF2B5EF4-FFF2-40B4-BE49-F238E27FC236}">
                <a16:creationId xmlns:a16="http://schemas.microsoft.com/office/drawing/2014/main" id="{B8FDD03E-077D-636B-3CB7-0042A0B81724}"/>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ECBF5D9C-E8B3-DDEB-3F3C-128404F08F15}"/>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8" name="Graphic 7" descr="Home">
            <a:hlinkClick r:id="rId4" action="ppaction://hlinksldjump"/>
            <a:extLst>
              <a:ext uri="{FF2B5EF4-FFF2-40B4-BE49-F238E27FC236}">
                <a16:creationId xmlns:a16="http://schemas.microsoft.com/office/drawing/2014/main" id="{ADE63953-21BF-6AA9-FD7C-6A3840E2323D}"/>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9" name="UpSlide Options" descr="{&#10;  &quot;NoBreadcrumb&quot;: true,&#10;  &quot;NoBreadcrumbNorReminder&quot;: true,&#10;  &quot;MinimumUpSlideVersion&quot;: &quot;0.0.0.0&quot;&#10;}" hidden="1">
            <a:extLst>
              <a:ext uri="{FF2B5EF4-FFF2-40B4-BE49-F238E27FC236}">
                <a16:creationId xmlns:a16="http://schemas.microsoft.com/office/drawing/2014/main" id="{B3BD9D59-40AF-CF26-139F-038A1F3B68B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14074133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Section Divider Alternativ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9ABACD5-3697-3FC6-A777-F6DF7E1E60D5}"/>
              </a:ext>
            </a:extLst>
          </p:cNvPr>
          <p:cNvSpPr>
            <a:spLocks noChangeAspect="1"/>
          </p:cNvSpPr>
          <p:nvPr userDrawn="1"/>
        </p:nvSpPr>
        <p:spPr>
          <a:xfrm>
            <a:off x="1" y="-1"/>
            <a:ext cx="12192000" cy="6858001"/>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pic>
        <p:nvPicPr>
          <p:cNvPr id="17" name="Graphic 16">
            <a:extLst>
              <a:ext uri="{FF2B5EF4-FFF2-40B4-BE49-F238E27FC236}">
                <a16:creationId xmlns:a16="http://schemas.microsoft.com/office/drawing/2014/main" id="{A51C6BDD-4F02-45D2-886C-4899A473F7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18" name="Rectangle 17">
            <a:extLst>
              <a:ext uri="{FF2B5EF4-FFF2-40B4-BE49-F238E27FC236}">
                <a16:creationId xmlns:a16="http://schemas.microsoft.com/office/drawing/2014/main" id="{135C8D6C-27B2-2FF8-9BCC-DA6140072A0C}"/>
              </a:ext>
            </a:extLst>
          </p:cNvPr>
          <p:cNvSpPr>
            <a:spLocks noChangeAspect="1"/>
          </p:cNvSpPr>
          <p:nvPr userDrawn="1"/>
        </p:nvSpPr>
        <p:spPr>
          <a:xfrm>
            <a:off x="998476" y="1330325"/>
            <a:ext cx="10201337" cy="45466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Isosceles Triangle 1">
            <a:extLst>
              <a:ext uri="{FF2B5EF4-FFF2-40B4-BE49-F238E27FC236}">
                <a16:creationId xmlns:a16="http://schemas.microsoft.com/office/drawing/2014/main" id="{4B495BA8-58E9-E3AA-F9F5-7583D7A2940B}"/>
              </a:ext>
            </a:extLst>
          </p:cNvPr>
          <p:cNvSpPr/>
          <p:nvPr userDrawn="1"/>
        </p:nvSpPr>
        <p:spPr>
          <a:xfrm rot="5400000">
            <a:off x="11914569"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3" name="Isosceles Triangle 2">
            <a:extLst>
              <a:ext uri="{FF2B5EF4-FFF2-40B4-BE49-F238E27FC236}">
                <a16:creationId xmlns:a16="http://schemas.microsoft.com/office/drawing/2014/main" id="{2C4A4DE2-1CAC-209A-3F03-24C51941C072}"/>
              </a:ext>
            </a:extLst>
          </p:cNvPr>
          <p:cNvSpPr/>
          <p:nvPr userDrawn="1"/>
        </p:nvSpPr>
        <p:spPr>
          <a:xfrm rot="16200000" flipH="1">
            <a:off x="11352448"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Oval 3">
            <a:hlinkClick r:id="" action="ppaction://hlinkshowjump?jump=nextslide"/>
            <a:extLst>
              <a:ext uri="{FF2B5EF4-FFF2-40B4-BE49-F238E27FC236}">
                <a16:creationId xmlns:a16="http://schemas.microsoft.com/office/drawing/2014/main" id="{4724609D-0457-12D4-11D6-8750EAF622C5}"/>
              </a:ext>
            </a:extLst>
          </p:cNvPr>
          <p:cNvSpPr/>
          <p:nvPr userDrawn="1"/>
        </p:nvSpPr>
        <p:spPr>
          <a:xfrm>
            <a:off x="11836622"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previousslide"/>
            <a:extLst>
              <a:ext uri="{FF2B5EF4-FFF2-40B4-BE49-F238E27FC236}">
                <a16:creationId xmlns:a16="http://schemas.microsoft.com/office/drawing/2014/main" id="{1F2DCF87-3B8E-C495-3334-965ED0C46291}"/>
              </a:ext>
            </a:extLst>
          </p:cNvPr>
          <p:cNvSpPr/>
          <p:nvPr userDrawn="1"/>
        </p:nvSpPr>
        <p:spPr>
          <a:xfrm flipH="1">
            <a:off x="11292948"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6" name="Graphic 5" descr="Home">
            <a:hlinkClick r:id="rId4" action="ppaction://hlinksldjump"/>
            <a:extLst>
              <a:ext uri="{FF2B5EF4-FFF2-40B4-BE49-F238E27FC236}">
                <a16:creationId xmlns:a16="http://schemas.microsoft.com/office/drawing/2014/main" id="{C7E93D80-572A-1A8C-0C42-5765002E8971}"/>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7" name="UpSlide Options" descr="{&#10;  &quot;NoBreadcrumb&quot;: true,&#10;  &quot;NoBreadcrumbNorReminder&quot;: true,&#10;  &quot;MinimumUpSlideVersion&quot;: &quot;0.0.0.0&quot;&#10;}" hidden="1">
            <a:extLst>
              <a:ext uri="{FF2B5EF4-FFF2-40B4-BE49-F238E27FC236}">
                <a16:creationId xmlns:a16="http://schemas.microsoft.com/office/drawing/2014/main" id="{B480C95C-4464-FF3C-A88E-BD10BC8660B3}"/>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15289120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Subsection Divider">
    <p:bg>
      <p:bgPr>
        <a:solidFill>
          <a:schemeClr val="tx2"/>
        </a:soli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0"/>
          </p:nvPr>
        </p:nvSpPr>
        <p:spPr>
          <a:xfrm>
            <a:off x="0" y="0"/>
            <a:ext cx="0" cy="0"/>
          </a:xfrm>
          <a:prstGeom prst="rect">
            <a:avLst/>
          </a:prstGeom>
          <a:noFill/>
          <a:ln>
            <a:solidFill>
              <a:srgbClr val="6D2077"/>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en-GB"/>
          </a:p>
        </p:txBody>
      </p:sp>
      <p:sp>
        <p:nvSpPr>
          <p:cNvPr id="8" name="Rectangle 7">
            <a:extLst>
              <a:ext uri="{FF2B5EF4-FFF2-40B4-BE49-F238E27FC236}">
                <a16:creationId xmlns:a16="http://schemas.microsoft.com/office/drawing/2014/main" id="{4B9E4C02-6E6B-D256-0591-294D7A7401A8}"/>
              </a:ext>
            </a:extLst>
          </p:cNvPr>
          <p:cNvSpPr>
            <a:spLocks/>
          </p:cNvSpPr>
          <p:nvPr userDrawn="1"/>
        </p:nvSpPr>
        <p:spPr>
          <a:xfrm>
            <a:off x="0" y="0"/>
            <a:ext cx="12192000"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pic>
        <p:nvPicPr>
          <p:cNvPr id="9" name="Graphic 8">
            <a:extLst>
              <a:ext uri="{FF2B5EF4-FFF2-40B4-BE49-F238E27FC236}">
                <a16:creationId xmlns:a16="http://schemas.microsoft.com/office/drawing/2014/main" id="{AA7A40F4-68A4-2E3E-C8D1-9E2D7C3D97C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FBF06BAA-B34F-A402-A5E3-D365A4C3C4D9}"/>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EEE51BD3-7A21-0D52-6714-28D30B1328B2}"/>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957BF9A7-DC28-8EE0-BF29-78170329A485}"/>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4DFF4B78-BB94-DA44-56EA-1AB499A0B0E8}"/>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7" name="Graphic 6" descr="Home">
            <a:hlinkClick r:id="rId4" action="ppaction://hlinksldjump"/>
            <a:extLst>
              <a:ext uri="{FF2B5EF4-FFF2-40B4-BE49-F238E27FC236}">
                <a16:creationId xmlns:a16="http://schemas.microsoft.com/office/drawing/2014/main" id="{94C79EC3-C681-2E4F-2E2C-BF9E374E994E}"/>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10" name="UpSlide Options" descr="{&#10;  &quot;NoBreadcrumb&quot;: true,&#10;  &quot;NoBreadcrumbNorReminder&quot;: true,&#10;  &quot;MinimumUpSlideVersion&quot;: &quot;0.0.0.0&quot;&#10;}" hidden="1">
            <a:extLst>
              <a:ext uri="{FF2B5EF4-FFF2-40B4-BE49-F238E27FC236}">
                <a16:creationId xmlns:a16="http://schemas.microsoft.com/office/drawing/2014/main" id="{85273A99-780A-A81B-2653-E26749654579}"/>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8793461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ivider Alternative">
    <p:bg>
      <p:bgPr>
        <a:solidFill>
          <a:schemeClr val="tx2"/>
        </a:soli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0"/>
          </p:nvPr>
        </p:nvSpPr>
        <p:spPr>
          <a:xfrm>
            <a:off x="0" y="0"/>
            <a:ext cx="0" cy="0"/>
          </a:xfrm>
          <a:prstGeom prst="rect">
            <a:avLst/>
          </a:prstGeom>
          <a:noFill/>
          <a:ln>
            <a:solidFill>
              <a:srgbClr val="6D2077"/>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en-GB"/>
          </a:p>
        </p:txBody>
      </p:sp>
      <p:sp>
        <p:nvSpPr>
          <p:cNvPr id="8" name="Rectangle 7">
            <a:extLst>
              <a:ext uri="{FF2B5EF4-FFF2-40B4-BE49-F238E27FC236}">
                <a16:creationId xmlns:a16="http://schemas.microsoft.com/office/drawing/2014/main" id="{4B9E4C02-6E6B-D256-0591-294D7A7401A8}"/>
              </a:ext>
            </a:extLst>
          </p:cNvPr>
          <p:cNvSpPr>
            <a:spLocks/>
          </p:cNvSpPr>
          <p:nvPr userDrawn="1"/>
        </p:nvSpPr>
        <p:spPr>
          <a:xfrm>
            <a:off x="0" y="0"/>
            <a:ext cx="12192000" cy="68580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pic>
        <p:nvPicPr>
          <p:cNvPr id="9" name="Graphic 8">
            <a:extLst>
              <a:ext uri="{FF2B5EF4-FFF2-40B4-BE49-F238E27FC236}">
                <a16:creationId xmlns:a16="http://schemas.microsoft.com/office/drawing/2014/main" id="{AA7A40F4-68A4-2E3E-C8D1-9E2D7C3D97C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DF85F483-FB89-4CD6-805A-0FE7DD2AB083}"/>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5AD30FA8-6D40-1244-5EB9-61F4FE4244CB}"/>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7F6C01A1-DD2C-BB50-CA81-5E644F042BA2}"/>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1B33194D-050B-5C63-08F9-6CE49F6B1433}"/>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7" name="Graphic 6" descr="Home">
            <a:hlinkClick r:id="rId4" action="ppaction://hlinksldjump"/>
            <a:extLst>
              <a:ext uri="{FF2B5EF4-FFF2-40B4-BE49-F238E27FC236}">
                <a16:creationId xmlns:a16="http://schemas.microsoft.com/office/drawing/2014/main" id="{54683177-A949-CBBC-2924-FEA811F0B442}"/>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10" name="UpSlide Options" descr="{&#10;  &quot;NoBreadcrumb&quot;: true,&#10;  &quot;NoBreadcrumbNorReminder&quot;: true,&#10;  &quot;MinimumUpSlideVersion&quot;: &quot;0.0.0.0&quot;&#10;}" hidden="1">
            <a:extLst>
              <a:ext uri="{FF2B5EF4-FFF2-40B4-BE49-F238E27FC236}">
                <a16:creationId xmlns:a16="http://schemas.microsoft.com/office/drawing/2014/main" id="{281D66AD-5AE3-2960-BFA7-051EDDC366BE}"/>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9933179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Appendix Divider">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5E8EEF-E19D-A7AF-CB4F-25A1D67CA339}"/>
              </a:ext>
            </a:extLst>
          </p:cNvPr>
          <p:cNvSpPr>
            <a:spLocks/>
          </p:cNvSpPr>
          <p:nvPr userDrawn="1"/>
        </p:nvSpPr>
        <p:spPr>
          <a:xfrm>
            <a:off x="0" y="0"/>
            <a:ext cx="12192000"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pic>
        <p:nvPicPr>
          <p:cNvPr id="7" name="Graphic 6">
            <a:extLst>
              <a:ext uri="{FF2B5EF4-FFF2-40B4-BE49-F238E27FC236}">
                <a16:creationId xmlns:a16="http://schemas.microsoft.com/office/drawing/2014/main" id="{E74C124F-B1C9-2395-645F-1179FE5C0E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20" name="Rectangle 19">
            <a:extLst>
              <a:ext uri="{FF2B5EF4-FFF2-40B4-BE49-F238E27FC236}">
                <a16:creationId xmlns:a16="http://schemas.microsoft.com/office/drawing/2014/main" id="{09ABACD5-3697-3FC6-A777-F6DF7E1E60D5}"/>
              </a:ext>
            </a:extLst>
          </p:cNvPr>
          <p:cNvSpPr>
            <a:spLocks noChangeAspect="1"/>
          </p:cNvSpPr>
          <p:nvPr userDrawn="1"/>
        </p:nvSpPr>
        <p:spPr>
          <a:xfrm>
            <a:off x="998476" y="1330325"/>
            <a:ext cx="10201337" cy="4546600"/>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9" name="Text Placeholder 3">
            <a:extLst>
              <a:ext uri="{FF2B5EF4-FFF2-40B4-BE49-F238E27FC236}">
                <a16:creationId xmlns:a16="http://schemas.microsoft.com/office/drawing/2014/main" id="{D61FBFE2-3881-446C-0078-7C292197E38A}"/>
              </a:ext>
            </a:extLst>
          </p:cNvPr>
          <p:cNvSpPr>
            <a:spLocks noGrp="1"/>
          </p:cNvSpPr>
          <p:nvPr>
            <p:ph type="body" sz="quarter" idx="11"/>
          </p:nvPr>
        </p:nvSpPr>
        <p:spPr>
          <a:xfrm>
            <a:off x="1289860" y="5046651"/>
            <a:ext cx="5252400" cy="507831"/>
          </a:xfrm>
        </p:spPr>
        <p:txBody>
          <a:bodyPr wrap="square" anchor="b">
            <a:sp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 name="Isosceles Triangle 1">
            <a:extLst>
              <a:ext uri="{FF2B5EF4-FFF2-40B4-BE49-F238E27FC236}">
                <a16:creationId xmlns:a16="http://schemas.microsoft.com/office/drawing/2014/main" id="{84B4160F-9D48-2425-C5D9-8E033C914ABF}"/>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3" name="Isosceles Triangle 2">
            <a:extLst>
              <a:ext uri="{FF2B5EF4-FFF2-40B4-BE49-F238E27FC236}">
                <a16:creationId xmlns:a16="http://schemas.microsoft.com/office/drawing/2014/main" id="{FEF62274-6A3A-9193-D76D-A3C215B96D7E}"/>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Oval 3">
            <a:hlinkClick r:id="" action="ppaction://hlinkshowjump?jump=nextslide"/>
            <a:extLst>
              <a:ext uri="{FF2B5EF4-FFF2-40B4-BE49-F238E27FC236}">
                <a16:creationId xmlns:a16="http://schemas.microsoft.com/office/drawing/2014/main" id="{B4792726-31CF-FF17-8166-6F86136EF8C7}"/>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previousslide"/>
            <a:extLst>
              <a:ext uri="{FF2B5EF4-FFF2-40B4-BE49-F238E27FC236}">
                <a16:creationId xmlns:a16="http://schemas.microsoft.com/office/drawing/2014/main" id="{E09B03C4-CE17-0CEF-AD56-E372110A0CC8}"/>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8" name="Graphic 7" descr="Home">
            <a:hlinkClick r:id="rId4" action="ppaction://hlinksldjump"/>
            <a:extLst>
              <a:ext uri="{FF2B5EF4-FFF2-40B4-BE49-F238E27FC236}">
                <a16:creationId xmlns:a16="http://schemas.microsoft.com/office/drawing/2014/main" id="{621494FC-A344-946E-5987-392F63E4F065}"/>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9" name="UpSlide Options" descr="{&#10;  &quot;NoBreadcrumb&quot;: true,&#10;  &quot;NoBreadcrumbNorReminder&quot;: true,&#10;  &quot;MinimumUpSlideVersion&quot;: &quot;0.0.0.0&quot;&#10;}" hidden="1">
            <a:extLst>
              <a:ext uri="{FF2B5EF4-FFF2-40B4-BE49-F238E27FC236}">
                <a16:creationId xmlns:a16="http://schemas.microsoft.com/office/drawing/2014/main" id="{C387244A-1970-4B2B-769F-C61419B83C4A}"/>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698062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Back Cover Dark Gradient">
    <p:bg>
      <p:bgPr>
        <a:gradFill>
          <a:gsLst>
            <a:gs pos="100000">
              <a:schemeClr val="accent1"/>
            </a:gs>
            <a:gs pos="0">
              <a:schemeClr val="accent5"/>
            </a:gs>
          </a:gsLst>
          <a:lin ang="0" scaled="0"/>
        </a:gra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30C5252-3419-AB29-3E5A-C61B60D35E12}"/>
              </a:ext>
            </a:extLst>
          </p:cNvPr>
          <p:cNvSpPr>
            <a:spLocks noChangeAspect="1"/>
          </p:cNvSpPr>
          <p:nvPr userDrawn="1"/>
        </p:nvSpPr>
        <p:spPr>
          <a:xfrm>
            <a:off x="0" y="0"/>
            <a:ext cx="12192000" cy="68580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1" name="TextBox 10"/>
          <p:cNvSpPr txBox="1"/>
          <p:nvPr userDrawn="1">
            <p:custDataLst>
              <p:tags r:id="rId1"/>
            </p:custDataLst>
          </p:nvPr>
        </p:nvSpPr>
        <p:spPr>
          <a:xfrm>
            <a:off x="989263" y="5353855"/>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a:solidFill>
                  <a:schemeClr val="bg1"/>
                </a:solidFill>
                <a:latin typeface="+mn-lt"/>
                <a:ea typeface="+mn-ea"/>
                <a:cs typeface="+mn-cs"/>
              </a:rPr>
              <a:t>Document Classification: KPMG Confidential</a:t>
            </a:r>
          </a:p>
        </p:txBody>
      </p:sp>
      <p:sp>
        <p:nvSpPr>
          <p:cNvPr id="3" name="Text Placeholder 2">
            <a:extLst>
              <a:ext uri="{FF2B5EF4-FFF2-40B4-BE49-F238E27FC236}">
                <a16:creationId xmlns:a16="http://schemas.microsoft.com/office/drawing/2014/main" id="{9771E9CC-2A2B-4C75-8522-60824F3AC7F8}"/>
              </a:ext>
            </a:extLst>
          </p:cNvPr>
          <p:cNvSpPr>
            <a:spLocks noGrp="1"/>
          </p:cNvSpPr>
          <p:nvPr>
            <p:ph type="body" sz="quarter" idx="10"/>
          </p:nvPr>
        </p:nvSpPr>
        <p:spPr>
          <a:xfrm>
            <a:off x="989011" y="4410172"/>
            <a:ext cx="10210801" cy="715865"/>
          </a:xfrm>
        </p:spPr>
        <p:txBody>
          <a:bodyPr anchor="b"/>
          <a:lstStyle>
            <a:lvl1pPr>
              <a:spcAft>
                <a:spcPts val="1000"/>
              </a:spcAft>
              <a:defRPr sz="900" b="0">
                <a:solidFill>
                  <a:schemeClr val="bg1"/>
                </a:solidFill>
              </a:defRPr>
            </a:lvl1pPr>
            <a:lvl2pPr>
              <a:spcAft>
                <a:spcPts val="1000"/>
              </a:spcAft>
              <a:defRPr sz="900" b="0">
                <a:solidFill>
                  <a:schemeClr val="bg1"/>
                </a:solidFill>
              </a:defRPr>
            </a:lvl2pPr>
          </a:lstStyle>
          <a:p>
            <a:pPr lvl="0"/>
            <a:r>
              <a:rPr lang="en-US"/>
              <a:t>Click to edit Master text styles</a:t>
            </a:r>
          </a:p>
          <a:p>
            <a:pPr lvl="1"/>
            <a:r>
              <a:rPr lang="en-US"/>
              <a:t>Second level</a:t>
            </a:r>
          </a:p>
        </p:txBody>
      </p:sp>
      <p:pic>
        <p:nvPicPr>
          <p:cNvPr id="19" name="Graphic 18">
            <a:extLst>
              <a:ext uri="{FF2B5EF4-FFF2-40B4-BE49-F238E27FC236}">
                <a16:creationId xmlns:a16="http://schemas.microsoft.com/office/drawing/2014/main" id="{BDA10B50-C087-6AD4-0571-081857C10F3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8476" y="371311"/>
            <a:ext cx="914400" cy="368346"/>
          </a:xfrm>
          <a:prstGeom prst="rect">
            <a:avLst/>
          </a:prstGeom>
        </p:spPr>
      </p:pic>
      <p:grpSp>
        <p:nvGrpSpPr>
          <p:cNvPr id="18" name="Group 17">
            <a:extLst>
              <a:ext uri="{FF2B5EF4-FFF2-40B4-BE49-F238E27FC236}">
                <a16:creationId xmlns:a16="http://schemas.microsoft.com/office/drawing/2014/main" id="{FEDF7C48-0166-8037-82C8-ED5C62DE46FC}"/>
              </a:ext>
            </a:extLst>
          </p:cNvPr>
          <p:cNvGrpSpPr/>
          <p:nvPr userDrawn="1"/>
        </p:nvGrpSpPr>
        <p:grpSpPr>
          <a:xfrm>
            <a:off x="998476" y="4140533"/>
            <a:ext cx="2023200" cy="367957"/>
            <a:chOff x="998476" y="2881529"/>
            <a:chExt cx="2023200" cy="367957"/>
          </a:xfrm>
        </p:grpSpPr>
        <p:sp>
          <p:nvSpPr>
            <p:cNvPr id="23" name="Rectangle 22">
              <a:extLst>
                <a:ext uri="{FF2B5EF4-FFF2-40B4-BE49-F238E27FC236}">
                  <a16:creationId xmlns:a16="http://schemas.microsoft.com/office/drawing/2014/main" id="{AB8A8088-F9D7-3ABA-3019-96B84A9F3344}"/>
                </a:ext>
              </a:extLst>
            </p:cNvPr>
            <p:cNvSpPr/>
            <p:nvPr userDrawn="1"/>
          </p:nvSpPr>
          <p:spPr>
            <a:xfrm>
              <a:off x="1441950" y="2918577"/>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5" name="Rectangle 24">
              <a:extLst>
                <a:ext uri="{FF2B5EF4-FFF2-40B4-BE49-F238E27FC236}">
                  <a16:creationId xmlns:a16="http://schemas.microsoft.com/office/drawing/2014/main" id="{AF12BE05-6145-DAF6-6DB6-64D5E84476B7}"/>
                </a:ext>
              </a:extLst>
            </p:cNvPr>
            <p:cNvSpPr/>
            <p:nvPr userDrawn="1"/>
          </p:nvSpPr>
          <p:spPr>
            <a:xfrm>
              <a:off x="1877844" y="2918577"/>
              <a:ext cx="281156" cy="322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6" name="Rectangle 25">
              <a:extLst>
                <a:ext uri="{FF2B5EF4-FFF2-40B4-BE49-F238E27FC236}">
                  <a16:creationId xmlns:a16="http://schemas.microsoft.com/office/drawing/2014/main" id="{5709A2B5-24E1-5D56-1AF7-9D9553C46436}"/>
                </a:ext>
              </a:extLst>
            </p:cNvPr>
            <p:cNvSpPr/>
            <p:nvPr userDrawn="1"/>
          </p:nvSpPr>
          <p:spPr>
            <a:xfrm>
              <a:off x="2689276" y="2924173"/>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7" name="Rectangle 26">
              <a:extLst>
                <a:ext uri="{FF2B5EF4-FFF2-40B4-BE49-F238E27FC236}">
                  <a16:creationId xmlns:a16="http://schemas.microsoft.com/office/drawing/2014/main" id="{73B78B60-7EBC-C917-0A21-453048E36062}"/>
                </a:ext>
              </a:extLst>
            </p:cNvPr>
            <p:cNvSpPr/>
            <p:nvPr userDrawn="1"/>
          </p:nvSpPr>
          <p:spPr>
            <a:xfrm>
              <a:off x="1025526" y="2924174"/>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pic>
          <p:nvPicPr>
            <p:cNvPr id="28" name="Picture 27">
              <a:extLst>
                <a:ext uri="{FF2B5EF4-FFF2-40B4-BE49-F238E27FC236}">
                  <a16:creationId xmlns:a16="http://schemas.microsoft.com/office/drawing/2014/main" id="{DB0235DB-4424-762A-DCB7-F278B350939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822950" y="2881529"/>
              <a:ext cx="360000" cy="360000"/>
            </a:xfrm>
            <a:prstGeom prst="rect">
              <a:avLst/>
            </a:prstGeom>
          </p:spPr>
        </p:pic>
        <p:pic>
          <p:nvPicPr>
            <p:cNvPr id="29" name="Picture 28" descr="Icon&#10;&#10;Description automatically generated">
              <a:extLst>
                <a:ext uri="{FF2B5EF4-FFF2-40B4-BE49-F238E27FC236}">
                  <a16:creationId xmlns:a16="http://schemas.microsoft.com/office/drawing/2014/main" id="{23CD18A0-5EDE-DB2F-9140-C550CEA7A5D0}"/>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242336" y="2881529"/>
              <a:ext cx="359648" cy="360000"/>
            </a:xfrm>
            <a:prstGeom prst="rect">
              <a:avLst/>
            </a:prstGeom>
          </p:spPr>
        </p:pic>
        <p:pic>
          <p:nvPicPr>
            <p:cNvPr id="30" name="Picture 29" descr="Logo&#10;&#10;Description automatically generated">
              <a:extLst>
                <a:ext uri="{FF2B5EF4-FFF2-40B4-BE49-F238E27FC236}">
                  <a16:creationId xmlns:a16="http://schemas.microsoft.com/office/drawing/2014/main" id="{E3A423FC-5062-59AA-BDA7-1ABC4E915442}"/>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14350" y="2889486"/>
              <a:ext cx="360000" cy="360000"/>
            </a:xfrm>
            <a:prstGeom prst="rect">
              <a:avLst/>
            </a:prstGeom>
          </p:spPr>
        </p:pic>
        <p:pic>
          <p:nvPicPr>
            <p:cNvPr id="31" name="Picture 30" descr="Logo&#10;&#10;Description automatically generated">
              <a:extLst>
                <a:ext uri="{FF2B5EF4-FFF2-40B4-BE49-F238E27FC236}">
                  <a16:creationId xmlns:a16="http://schemas.microsoft.com/office/drawing/2014/main" id="{E3DC9B30-741E-D199-5ADC-29631F506BC3}"/>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98476" y="2884275"/>
              <a:ext cx="360000" cy="360000"/>
            </a:xfrm>
            <a:prstGeom prst="rect">
              <a:avLst/>
            </a:prstGeom>
          </p:spPr>
        </p:pic>
        <p:pic>
          <p:nvPicPr>
            <p:cNvPr id="32" name="Picture 31" descr="Icon&#10;&#10;Description automatically generated">
              <a:extLst>
                <a:ext uri="{FF2B5EF4-FFF2-40B4-BE49-F238E27FC236}">
                  <a16:creationId xmlns:a16="http://schemas.microsoft.com/office/drawing/2014/main" id="{A54799F8-AA21-0AB2-30B2-2E34E343171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2661676" y="2881529"/>
              <a:ext cx="360000" cy="360000"/>
            </a:xfrm>
            <a:prstGeom prst="rect">
              <a:avLst/>
            </a:prstGeom>
          </p:spPr>
        </p:pic>
      </p:grpSp>
      <p:sp>
        <p:nvSpPr>
          <p:cNvPr id="33" name="Rectangle 32">
            <a:hlinkClick r:id="rId10"/>
            <a:extLst>
              <a:ext uri="{FF2B5EF4-FFF2-40B4-BE49-F238E27FC236}">
                <a16:creationId xmlns:a16="http://schemas.microsoft.com/office/drawing/2014/main" id="{A337238C-433B-22AB-E2F3-9AE2C582E2D2}"/>
              </a:ext>
            </a:extLst>
          </p:cNvPr>
          <p:cNvSpPr/>
          <p:nvPr userDrawn="1"/>
        </p:nvSpPr>
        <p:spPr>
          <a:xfrm>
            <a:off x="744852" y="3883332"/>
            <a:ext cx="2706624" cy="1024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500">
              <a:solidFill>
                <a:schemeClr val="bg1"/>
              </a:solidFill>
            </a:endParaRPr>
          </a:p>
        </p:txBody>
      </p:sp>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47D499C7-5C96-0514-69EF-27EA5440FCDA}"/>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26727365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Back Cover Light Gradient">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D71D08D-5E70-C746-0110-3F24193CA835}"/>
              </a:ext>
            </a:extLst>
          </p:cNvPr>
          <p:cNvSpPr>
            <a:spLocks noChangeAspect="1"/>
          </p:cNvSpPr>
          <p:nvPr userDrawn="1"/>
        </p:nvSpPr>
        <p:spPr>
          <a:xfrm>
            <a:off x="1" y="-1"/>
            <a:ext cx="12192000" cy="6858001"/>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1" name="TextBox 10"/>
          <p:cNvSpPr txBox="1"/>
          <p:nvPr userDrawn="1">
            <p:custDataLst>
              <p:tags r:id="rId1"/>
            </p:custDataLst>
          </p:nvPr>
        </p:nvSpPr>
        <p:spPr>
          <a:xfrm>
            <a:off x="989263" y="5750095"/>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a:solidFill>
                  <a:schemeClr val="accent2"/>
                </a:solidFill>
                <a:latin typeface="+mn-lt"/>
                <a:ea typeface="+mn-ea"/>
                <a:cs typeface="+mn-cs"/>
              </a:rPr>
              <a:t>Document Classification: KPMG Confidential</a:t>
            </a:r>
          </a:p>
        </p:txBody>
      </p:sp>
      <p:sp>
        <p:nvSpPr>
          <p:cNvPr id="53" name="Text Placeholder 2">
            <a:extLst>
              <a:ext uri="{FF2B5EF4-FFF2-40B4-BE49-F238E27FC236}">
                <a16:creationId xmlns:a16="http://schemas.microsoft.com/office/drawing/2014/main" id="{A835BAAE-8387-4EE5-AB59-6FBE19144C88}"/>
              </a:ext>
            </a:extLst>
          </p:cNvPr>
          <p:cNvSpPr>
            <a:spLocks noGrp="1"/>
          </p:cNvSpPr>
          <p:nvPr>
            <p:ph type="body" sz="quarter" idx="10"/>
          </p:nvPr>
        </p:nvSpPr>
        <p:spPr>
          <a:xfrm>
            <a:off x="989012" y="3702050"/>
            <a:ext cx="6660000" cy="1843088"/>
          </a:xfrm>
        </p:spPr>
        <p:txBody>
          <a:bodyPr anchor="b"/>
          <a:lstStyle>
            <a:lvl1pPr>
              <a:spcAft>
                <a:spcPts val="1000"/>
              </a:spcAft>
              <a:defRPr sz="900" b="0">
                <a:solidFill>
                  <a:schemeClr val="accent2"/>
                </a:solidFill>
              </a:defRPr>
            </a:lvl1pPr>
            <a:lvl2pPr>
              <a:spcAft>
                <a:spcPts val="1000"/>
              </a:spcAft>
              <a:defRPr sz="900" b="0">
                <a:solidFill>
                  <a:schemeClr val="accent2"/>
                </a:solidFill>
              </a:defRPr>
            </a:lvl2pPr>
          </a:lstStyle>
          <a:p>
            <a:pPr lvl="0"/>
            <a:r>
              <a:rPr lang="en-US"/>
              <a:t>Click to edit Master text styles</a:t>
            </a:r>
          </a:p>
          <a:p>
            <a:pPr lvl="1"/>
            <a:r>
              <a:rPr lang="en-US"/>
              <a:t>Second level</a:t>
            </a:r>
          </a:p>
        </p:txBody>
      </p:sp>
      <p:pic>
        <p:nvPicPr>
          <p:cNvPr id="17" name="Graphic 16">
            <a:extLst>
              <a:ext uri="{FF2B5EF4-FFF2-40B4-BE49-F238E27FC236}">
                <a16:creationId xmlns:a16="http://schemas.microsoft.com/office/drawing/2014/main" id="{A51C6BDD-4F02-45D2-886C-4899A473F7F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8476" y="371311"/>
            <a:ext cx="914400" cy="368346"/>
          </a:xfrm>
          <a:prstGeom prst="rect">
            <a:avLst/>
          </a:prstGeom>
        </p:spPr>
      </p:pic>
      <p:grpSp>
        <p:nvGrpSpPr>
          <p:cNvPr id="18" name="Group 17">
            <a:extLst>
              <a:ext uri="{FF2B5EF4-FFF2-40B4-BE49-F238E27FC236}">
                <a16:creationId xmlns:a16="http://schemas.microsoft.com/office/drawing/2014/main" id="{3EB104DD-8543-B281-DC74-A67A6BE2643A}"/>
              </a:ext>
            </a:extLst>
          </p:cNvPr>
          <p:cNvGrpSpPr/>
          <p:nvPr userDrawn="1"/>
        </p:nvGrpSpPr>
        <p:grpSpPr>
          <a:xfrm>
            <a:off x="998476" y="2881529"/>
            <a:ext cx="2023200" cy="367957"/>
            <a:chOff x="998476" y="2881529"/>
            <a:chExt cx="2023200" cy="367957"/>
          </a:xfrm>
        </p:grpSpPr>
        <p:sp>
          <p:nvSpPr>
            <p:cNvPr id="20" name="Rectangle 19">
              <a:extLst>
                <a:ext uri="{FF2B5EF4-FFF2-40B4-BE49-F238E27FC236}">
                  <a16:creationId xmlns:a16="http://schemas.microsoft.com/office/drawing/2014/main" id="{734260DC-6114-2E41-CEAF-081CD9E116C2}"/>
                </a:ext>
              </a:extLst>
            </p:cNvPr>
            <p:cNvSpPr/>
            <p:nvPr userDrawn="1"/>
          </p:nvSpPr>
          <p:spPr>
            <a:xfrm>
              <a:off x="1441950" y="2918577"/>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1" name="Rectangle 20">
              <a:extLst>
                <a:ext uri="{FF2B5EF4-FFF2-40B4-BE49-F238E27FC236}">
                  <a16:creationId xmlns:a16="http://schemas.microsoft.com/office/drawing/2014/main" id="{BEECBCF3-565A-93DA-D358-FECBA93D255A}"/>
                </a:ext>
              </a:extLst>
            </p:cNvPr>
            <p:cNvSpPr/>
            <p:nvPr userDrawn="1"/>
          </p:nvSpPr>
          <p:spPr>
            <a:xfrm>
              <a:off x="1877844" y="2918577"/>
              <a:ext cx="281156" cy="322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2" name="Rectangle 21">
              <a:extLst>
                <a:ext uri="{FF2B5EF4-FFF2-40B4-BE49-F238E27FC236}">
                  <a16:creationId xmlns:a16="http://schemas.microsoft.com/office/drawing/2014/main" id="{B2E4C412-B230-29B9-F663-0B9D2E974E3D}"/>
                </a:ext>
              </a:extLst>
            </p:cNvPr>
            <p:cNvSpPr/>
            <p:nvPr userDrawn="1"/>
          </p:nvSpPr>
          <p:spPr>
            <a:xfrm>
              <a:off x="2689276" y="2924173"/>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3" name="Rectangle 22">
              <a:extLst>
                <a:ext uri="{FF2B5EF4-FFF2-40B4-BE49-F238E27FC236}">
                  <a16:creationId xmlns:a16="http://schemas.microsoft.com/office/drawing/2014/main" id="{645D1C3C-E48F-BA62-AA51-A46B3B6CC1F1}"/>
                </a:ext>
              </a:extLst>
            </p:cNvPr>
            <p:cNvSpPr/>
            <p:nvPr userDrawn="1"/>
          </p:nvSpPr>
          <p:spPr>
            <a:xfrm>
              <a:off x="1025526" y="2924174"/>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pic>
          <p:nvPicPr>
            <p:cNvPr id="24" name="Picture 23">
              <a:extLst>
                <a:ext uri="{FF2B5EF4-FFF2-40B4-BE49-F238E27FC236}">
                  <a16:creationId xmlns:a16="http://schemas.microsoft.com/office/drawing/2014/main" id="{9F3878E8-DA13-01D5-0607-233EA525629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822950" y="2881529"/>
              <a:ext cx="360000" cy="360000"/>
            </a:xfrm>
            <a:prstGeom prst="rect">
              <a:avLst/>
            </a:prstGeom>
          </p:spPr>
        </p:pic>
        <p:pic>
          <p:nvPicPr>
            <p:cNvPr id="25" name="Picture 24" descr="Icon&#10;&#10;Description automatically generated">
              <a:extLst>
                <a:ext uri="{FF2B5EF4-FFF2-40B4-BE49-F238E27FC236}">
                  <a16:creationId xmlns:a16="http://schemas.microsoft.com/office/drawing/2014/main" id="{56441502-FB49-8FF3-33B6-02D5FB33320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242336" y="2881529"/>
              <a:ext cx="359648" cy="360000"/>
            </a:xfrm>
            <a:prstGeom prst="rect">
              <a:avLst/>
            </a:prstGeom>
          </p:spPr>
        </p:pic>
        <p:pic>
          <p:nvPicPr>
            <p:cNvPr id="26" name="Picture 25" descr="Logo&#10;&#10;Description automatically generated">
              <a:extLst>
                <a:ext uri="{FF2B5EF4-FFF2-40B4-BE49-F238E27FC236}">
                  <a16:creationId xmlns:a16="http://schemas.microsoft.com/office/drawing/2014/main" id="{374EF9AB-D91A-F62E-7F6C-4784B9ADE246}"/>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14350" y="2889486"/>
              <a:ext cx="360000" cy="360000"/>
            </a:xfrm>
            <a:prstGeom prst="rect">
              <a:avLst/>
            </a:prstGeom>
          </p:spPr>
        </p:pic>
        <p:pic>
          <p:nvPicPr>
            <p:cNvPr id="38" name="Picture 37" descr="Logo&#10;&#10;Description automatically generated">
              <a:extLst>
                <a:ext uri="{FF2B5EF4-FFF2-40B4-BE49-F238E27FC236}">
                  <a16:creationId xmlns:a16="http://schemas.microsoft.com/office/drawing/2014/main" id="{A82B7C7A-C977-0C6A-419D-2A18A98B82B6}"/>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98476" y="2884275"/>
              <a:ext cx="360000" cy="360000"/>
            </a:xfrm>
            <a:prstGeom prst="rect">
              <a:avLst/>
            </a:prstGeom>
          </p:spPr>
        </p:pic>
        <p:pic>
          <p:nvPicPr>
            <p:cNvPr id="39" name="Picture 38" descr="Icon&#10;&#10;Description automatically generated">
              <a:extLst>
                <a:ext uri="{FF2B5EF4-FFF2-40B4-BE49-F238E27FC236}">
                  <a16:creationId xmlns:a16="http://schemas.microsoft.com/office/drawing/2014/main" id="{9AE8395D-C36E-6AC4-70AF-0DC5A40EF363}"/>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2661676" y="2881529"/>
              <a:ext cx="360000" cy="360000"/>
            </a:xfrm>
            <a:prstGeom prst="rect">
              <a:avLst/>
            </a:prstGeom>
          </p:spPr>
        </p:pic>
      </p:grpSp>
      <p:sp>
        <p:nvSpPr>
          <p:cNvPr id="42" name="Rectangle 41">
            <a:hlinkClick r:id="rId10"/>
            <a:extLst>
              <a:ext uri="{FF2B5EF4-FFF2-40B4-BE49-F238E27FC236}">
                <a16:creationId xmlns:a16="http://schemas.microsoft.com/office/drawing/2014/main" id="{77C3C8E8-F184-919E-D548-970E37E57AE9}"/>
              </a:ext>
            </a:extLst>
          </p:cNvPr>
          <p:cNvSpPr/>
          <p:nvPr userDrawn="1"/>
        </p:nvSpPr>
        <p:spPr>
          <a:xfrm>
            <a:off x="744852" y="2624328"/>
            <a:ext cx="2706624" cy="1024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500">
              <a:solidFill>
                <a:schemeClr val="bg1"/>
              </a:solidFill>
            </a:endParaRPr>
          </a:p>
        </p:txBody>
      </p:sp>
      <p:sp>
        <p:nvSpPr>
          <p:cNvPr id="43" name="TextBox 42">
            <a:extLst>
              <a:ext uri="{FF2B5EF4-FFF2-40B4-BE49-F238E27FC236}">
                <a16:creationId xmlns:a16="http://schemas.microsoft.com/office/drawing/2014/main" id="{FB762ACD-7C0E-3B26-7E2F-E5EBFD7EED45}"/>
              </a:ext>
            </a:extLst>
          </p:cNvPr>
          <p:cNvSpPr txBox="1"/>
          <p:nvPr userDrawn="1"/>
        </p:nvSpPr>
        <p:spPr>
          <a:xfrm>
            <a:off x="993138" y="3355848"/>
            <a:ext cx="2458338" cy="212390"/>
          </a:xfrm>
          <a:prstGeom prst="rect">
            <a:avLst/>
          </a:prstGeom>
        </p:spPr>
        <p:txBody>
          <a:bodyPr vert="horz" wrap="square" lIns="0" tIns="0" rIns="0" bIns="0" rtlCol="0" anchor="t" anchorCtr="0">
            <a:noAutofit/>
          </a:bodyPr>
          <a:lstStyle/>
          <a:p>
            <a:pPr algn="l">
              <a:spcAft>
                <a:spcPts val="600"/>
              </a:spcAft>
            </a:pPr>
            <a:r>
              <a:rPr lang="en-GB" sz="1200" b="1">
                <a:solidFill>
                  <a:schemeClr val="tx2"/>
                </a:solidFill>
              </a:rPr>
              <a:t>kpmg.com/socialmedia</a:t>
            </a:r>
          </a:p>
        </p:txBody>
      </p:sp>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0C473D10-B2B7-01E5-46B3-8159DFC1D87D}"/>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4478150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ransmittal Letter">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9C82DF-29F9-95C5-18EA-18D6195399BF}"/>
              </a:ext>
            </a:extLst>
          </p:cNvPr>
          <p:cNvPicPr>
            <a:picLocks noChangeAspect="1"/>
          </p:cNvPicPr>
          <p:nvPr userDrawn="1"/>
        </p:nvPicPr>
        <p:blipFill>
          <a:blip r:embed="rId2"/>
          <a:stretch>
            <a:fillRect/>
          </a:stretch>
        </p:blipFill>
        <p:spPr>
          <a:xfrm>
            <a:off x="855784" y="119632"/>
            <a:ext cx="1259272" cy="930232"/>
          </a:xfrm>
          <a:prstGeom prst="rect">
            <a:avLst/>
          </a:prstGeom>
        </p:spPr>
      </p:pic>
      <p:sp>
        <p:nvSpPr>
          <p:cNvPr id="7" name="Text Placeholder 6">
            <a:extLst>
              <a:ext uri="{FF2B5EF4-FFF2-40B4-BE49-F238E27FC236}">
                <a16:creationId xmlns:a16="http://schemas.microsoft.com/office/drawing/2014/main" id="{C93531CD-B4BD-CAF1-877F-6A4CCE0EE125}"/>
              </a:ext>
            </a:extLst>
          </p:cNvPr>
          <p:cNvSpPr>
            <a:spLocks noGrp="1"/>
          </p:cNvSpPr>
          <p:nvPr>
            <p:ph type="body" sz="quarter" idx="11"/>
          </p:nvPr>
        </p:nvSpPr>
        <p:spPr>
          <a:xfrm>
            <a:off x="1003200" y="2345461"/>
            <a:ext cx="4968000" cy="3071557"/>
          </a:xfrm>
        </p:spPr>
        <p:txBody>
          <a:bodyPr/>
          <a:lstStyle>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448612AF-B2C2-EF49-4193-7D1D4CC99946}"/>
              </a:ext>
            </a:extLst>
          </p:cNvPr>
          <p:cNvSpPr>
            <a:spLocks noGrp="1"/>
          </p:cNvSpPr>
          <p:nvPr>
            <p:ph type="body" sz="quarter" idx="12"/>
          </p:nvPr>
        </p:nvSpPr>
        <p:spPr>
          <a:xfrm>
            <a:off x="6220800" y="2345461"/>
            <a:ext cx="4968000" cy="3071557"/>
          </a:xfrm>
        </p:spPr>
        <p:txBody>
          <a:bodyPr/>
          <a:lstStyle>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Box 11">
            <a:extLst>
              <a:ext uri="{FF2B5EF4-FFF2-40B4-BE49-F238E27FC236}">
                <a16:creationId xmlns:a16="http://schemas.microsoft.com/office/drawing/2014/main" id="{23A7D421-36D1-93BD-8032-3A460A87E51F}"/>
              </a:ext>
            </a:extLst>
          </p:cNvPr>
          <p:cNvSpPr txBox="1">
            <a:spLocks/>
          </p:cNvSpPr>
          <p:nvPr userDrawn="1"/>
        </p:nvSpPr>
        <p:spPr>
          <a:xfrm>
            <a:off x="8750300" y="431800"/>
            <a:ext cx="2449007" cy="720197"/>
          </a:xfrm>
          <a:prstGeom prst="rect">
            <a:avLst/>
          </a:prstGeom>
        </p:spPr>
        <p:txBody>
          <a:bodyPr vert="horz" wrap="square" lIns="0" tIns="0" rIns="0" bIns="0" rtlCol="0" anchor="t" anchorCtr="0">
            <a:noAutofit/>
          </a:bodyPr>
          <a:lstStyle/>
          <a:p>
            <a:pPr marL="0" marR="0" lvl="0" indent="0" algn="r" defTabSz="914400" eaLnBrk="1" fontAlgn="auto" latinLnBrk="0" hangingPunct="0">
              <a:lnSpc>
                <a:spcPct val="100000"/>
              </a:lnSpc>
              <a:spcBef>
                <a:spcPts val="0"/>
              </a:spcBef>
              <a:spcAft>
                <a:spcPts val="0"/>
              </a:spcAft>
              <a:buClrTx/>
              <a:buSzTx/>
              <a:buFontTx/>
              <a:buNone/>
              <a:tabLst/>
              <a:defRPr/>
            </a:pPr>
            <a:r>
              <a:rPr kumimoji="0" lang="nl-NL" sz="800" b="1" i="0" u="none" strike="noStrike" kern="0" cap="none" spc="0" normalizeH="0" baseline="0" noProof="0">
                <a:ln>
                  <a:noFill/>
                </a:ln>
                <a:solidFill>
                  <a:srgbClr val="00338D"/>
                </a:solidFill>
                <a:effectLst/>
                <a:uLnTx/>
                <a:uFillTx/>
                <a:cs typeface="Arial" panose="020B0604020202020204" pitchFamily="34" charset="0"/>
              </a:rPr>
              <a:t>KPMG LLP</a:t>
            </a:r>
          </a:p>
          <a:p>
            <a:pPr marL="0" marR="0" lvl="0" indent="0" algn="r" defTabSz="914400" eaLnBrk="1" fontAlgn="auto" latinLnBrk="0" hangingPunct="0">
              <a:lnSpc>
                <a:spcPct val="100000"/>
              </a:lnSpc>
              <a:spcBef>
                <a:spcPts val="0"/>
              </a:spcBef>
              <a:spcAft>
                <a:spcPts val="0"/>
              </a:spcAft>
              <a:buClrTx/>
              <a:buSzTx/>
              <a:buFontTx/>
              <a:buNone/>
              <a:tabLst/>
              <a:defRPr/>
            </a:pPr>
            <a:r>
              <a:rPr kumimoji="0" lang="nl-NL" sz="800" b="0" i="0" u="none" strike="noStrike" kern="0" cap="none" spc="0" normalizeH="0" baseline="0" noProof="0">
                <a:ln>
                  <a:noFill/>
                </a:ln>
                <a:solidFill>
                  <a:srgbClr val="00338D"/>
                </a:solidFill>
                <a:effectLst/>
                <a:uLnTx/>
                <a:uFillTx/>
                <a:cs typeface="Arial" panose="020B0604020202020204" pitchFamily="34" charset="0"/>
              </a:rPr>
              <a:t>777 Dunsmuir Street</a:t>
            </a:r>
          </a:p>
          <a:p>
            <a:pPr marL="0" marR="0" lvl="0" indent="0" algn="r" defTabSz="914400" eaLnBrk="1" fontAlgn="auto" latinLnBrk="0" hangingPunct="0">
              <a:lnSpc>
                <a:spcPct val="100000"/>
              </a:lnSpc>
              <a:spcBef>
                <a:spcPts val="0"/>
              </a:spcBef>
              <a:spcAft>
                <a:spcPts val="0"/>
              </a:spcAft>
              <a:buClrTx/>
              <a:buSzTx/>
              <a:buFontTx/>
              <a:buNone/>
              <a:tabLst/>
              <a:defRPr/>
            </a:pPr>
            <a:r>
              <a:rPr kumimoji="0" lang="nl-NL" sz="800" b="0" i="0" u="none" strike="noStrike" kern="0" cap="none" spc="0" normalizeH="0" baseline="0" noProof="0">
                <a:ln>
                  <a:noFill/>
                </a:ln>
                <a:solidFill>
                  <a:srgbClr val="00338D"/>
                </a:solidFill>
                <a:effectLst/>
                <a:uLnTx/>
                <a:uFillTx/>
                <a:cs typeface="Arial" panose="020B0604020202020204" pitchFamily="34" charset="0"/>
              </a:rPr>
              <a:t>Vancouver BC V7Y 1K3</a:t>
            </a:r>
          </a:p>
          <a:p>
            <a:pPr marL="0" marR="0" lvl="0" indent="0" algn="r" defTabSz="914400" eaLnBrk="1" fontAlgn="auto" latinLnBrk="0" hangingPunct="0">
              <a:lnSpc>
                <a:spcPct val="100000"/>
              </a:lnSpc>
              <a:spcBef>
                <a:spcPts val="0"/>
              </a:spcBef>
              <a:spcAft>
                <a:spcPts val="0"/>
              </a:spcAft>
              <a:buClrTx/>
              <a:buSzTx/>
              <a:buFontTx/>
              <a:buNone/>
              <a:tabLst/>
              <a:defRPr/>
            </a:pPr>
            <a:r>
              <a:rPr kumimoji="0" lang="nl-NL" sz="800" b="0" i="0" u="none" strike="noStrike" kern="0" cap="none" spc="0" normalizeH="0" baseline="0" noProof="0">
                <a:ln>
                  <a:noFill/>
                </a:ln>
                <a:solidFill>
                  <a:srgbClr val="00338D"/>
                </a:solidFill>
                <a:effectLst/>
                <a:uLnTx/>
                <a:uFillTx/>
                <a:cs typeface="Arial" panose="020B0604020202020204" pitchFamily="34" charset="0"/>
              </a:rPr>
              <a:t>Canada</a:t>
            </a:r>
          </a:p>
          <a:p>
            <a:pPr algn="r">
              <a:spcAft>
                <a:spcPts val="600"/>
              </a:spcAft>
            </a:pPr>
            <a:endParaRPr lang="en-US" sz="1500" b="1">
              <a:solidFill>
                <a:schemeClr val="tx2"/>
              </a:solidFill>
            </a:endParaRPr>
          </a:p>
        </p:txBody>
      </p:sp>
    </p:spTree>
    <p:extLst>
      <p:ext uri="{BB962C8B-B14F-4D97-AF65-F5344CB8AC3E}">
        <p14:creationId xmlns:p14="http://schemas.microsoft.com/office/powerpoint/2010/main" val="345007276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Analysis_narrow table+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3671548714"/>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44" name="Chart Placeholder 43">
            <a:extLst>
              <a:ext uri="{FF2B5EF4-FFF2-40B4-BE49-F238E27FC236}">
                <a16:creationId xmlns:a16="http://schemas.microsoft.com/office/drawing/2014/main" id="{323C8984-87DA-4B07-887C-A87C47235EB9}"/>
              </a:ext>
            </a:extLst>
          </p:cNvPr>
          <p:cNvSpPr>
            <a:spLocks noGrp="1"/>
          </p:cNvSpPr>
          <p:nvPr>
            <p:ph type="chart" sz="quarter" idx="12" hasCustomPrompt="1"/>
          </p:nvPr>
        </p:nvSpPr>
        <p:spPr>
          <a:xfrm>
            <a:off x="8717872" y="1179513"/>
            <a:ext cx="2475728" cy="460800"/>
          </a:xfrm>
        </p:spPr>
        <p:txBody>
          <a:bodyPr lIns="72000"/>
          <a:lstStyle>
            <a:lvl1pPr>
              <a:defRPr sz="1000" b="1">
                <a:solidFill>
                  <a:schemeClr val="tx2"/>
                </a:solidFill>
              </a:defRPr>
            </a:lvl1pPr>
          </a:lstStyle>
          <a:p>
            <a:r>
              <a:rPr lang="fi-FI"/>
              <a:t>Add summary chart here</a:t>
            </a:r>
          </a:p>
        </p:txBody>
      </p:sp>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179513"/>
            <a:ext cx="7587923"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noProof="0"/>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a:xfrm>
            <a:off x="998400" y="431800"/>
            <a:ext cx="10195200" cy="533400"/>
          </a:xfrm>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10" name="Text Placeholder 25">
            <a:extLst>
              <a:ext uri="{FF2B5EF4-FFF2-40B4-BE49-F238E27FC236}">
                <a16:creationId xmlns:a16="http://schemas.microsoft.com/office/drawing/2014/main" id="{E93A06B3-57FC-AF33-21C6-49BF9699A2A7}"/>
              </a:ext>
            </a:extLst>
          </p:cNvPr>
          <p:cNvSpPr>
            <a:spLocks noGrp="1"/>
          </p:cNvSpPr>
          <p:nvPr>
            <p:ph type="body" sz="quarter" idx="11" hasCustomPrompt="1"/>
          </p:nvPr>
        </p:nvSpPr>
        <p:spPr>
          <a:xfrm>
            <a:off x="4815356" y="1751584"/>
            <a:ext cx="638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1" name="Table Placeholder 45">
            <a:extLst>
              <a:ext uri="{FF2B5EF4-FFF2-40B4-BE49-F238E27FC236}">
                <a16:creationId xmlns:a16="http://schemas.microsoft.com/office/drawing/2014/main" id="{6189E6B8-7D03-3B14-F3B6-23F93C65A7A7}"/>
              </a:ext>
            </a:extLst>
          </p:cNvPr>
          <p:cNvSpPr>
            <a:spLocks noGrp="1"/>
          </p:cNvSpPr>
          <p:nvPr>
            <p:ph type="tbl" sz="quarter" idx="13" hasCustomPrompt="1"/>
          </p:nvPr>
        </p:nvSpPr>
        <p:spPr>
          <a:xfrm>
            <a:off x="995361" y="1751584"/>
            <a:ext cx="3690499" cy="4116932"/>
          </a:xfrm>
        </p:spPr>
        <p:txBody>
          <a:bodyPr lIns="72000" tIns="36000" rIns="0"/>
          <a:lstStyle>
            <a:lvl1pPr>
              <a:defRPr sz="1000" b="1">
                <a:solidFill>
                  <a:schemeClr val="tx2"/>
                </a:solidFill>
              </a:defRPr>
            </a:lvl1pPr>
          </a:lstStyle>
          <a:p>
            <a:r>
              <a:rPr lang="fi-FI"/>
              <a:t>Add table here</a:t>
            </a:r>
          </a:p>
        </p:txBody>
      </p:sp>
      <p:sp>
        <p:nvSpPr>
          <p:cNvPr id="8" name="Text Placeholder 6">
            <a:extLst>
              <a:ext uri="{FF2B5EF4-FFF2-40B4-BE49-F238E27FC236}">
                <a16:creationId xmlns:a16="http://schemas.microsoft.com/office/drawing/2014/main" id="{DC94CF26-BD86-D737-18DD-4C834B9B5683}"/>
              </a:ext>
            </a:extLst>
          </p:cNvPr>
          <p:cNvSpPr>
            <a:spLocks noGrp="1"/>
          </p:cNvSpPr>
          <p:nvPr>
            <p:ph type="body" sz="quarter" idx="26" hasCustomPrompt="1"/>
          </p:nvPr>
        </p:nvSpPr>
        <p:spPr>
          <a:xfrm>
            <a:off x="4815357" y="2003584"/>
            <a:ext cx="6378244" cy="3864932"/>
          </a:xfrm>
        </p:spPr>
        <p:txBody>
          <a:bodyPr lIns="72000" tIns="36000" rIns="0" bIns="0"/>
          <a:lstStyle>
            <a:lvl1pPr>
              <a:defRPr/>
            </a:lvl1pPr>
          </a:lstStyle>
          <a:p>
            <a:r>
              <a:rPr lang="en-US" sz="1000"/>
              <a:t>Add text here</a:t>
            </a:r>
          </a:p>
          <a:p>
            <a:pPr lvl="1"/>
            <a:endParaRPr lang="en-IN"/>
          </a:p>
        </p:txBody>
      </p:sp>
    </p:spTree>
    <p:extLst>
      <p:ext uri="{BB962C8B-B14F-4D97-AF65-F5344CB8AC3E}">
        <p14:creationId xmlns:p14="http://schemas.microsoft.com/office/powerpoint/2010/main" val="226963531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Analysis_narrow table+2 col text+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3615113804"/>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a:xfrm>
            <a:off x="998400" y="431800"/>
            <a:ext cx="10195200" cy="533400"/>
          </a:xfrm>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13" name="Text Placeholder 25">
            <a:extLst>
              <a:ext uri="{FF2B5EF4-FFF2-40B4-BE49-F238E27FC236}">
                <a16:creationId xmlns:a16="http://schemas.microsoft.com/office/drawing/2014/main" id="{DA153EA3-7B08-EA68-8BB4-1BE14901EB62}"/>
              </a:ext>
            </a:extLst>
          </p:cNvPr>
          <p:cNvSpPr>
            <a:spLocks noGrp="1"/>
          </p:cNvSpPr>
          <p:nvPr>
            <p:ph type="body" sz="quarter" idx="11" hasCustomPrompt="1"/>
          </p:nvPr>
        </p:nvSpPr>
        <p:spPr>
          <a:xfrm>
            <a:off x="4815356" y="1751584"/>
            <a:ext cx="638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8" name="Text Placeholder 6">
            <a:extLst>
              <a:ext uri="{FF2B5EF4-FFF2-40B4-BE49-F238E27FC236}">
                <a16:creationId xmlns:a16="http://schemas.microsoft.com/office/drawing/2014/main" id="{60425087-E0BD-E67F-03AF-685037AD5AE9}"/>
              </a:ext>
            </a:extLst>
          </p:cNvPr>
          <p:cNvSpPr>
            <a:spLocks noGrp="1"/>
          </p:cNvSpPr>
          <p:nvPr>
            <p:ph type="body" sz="quarter" idx="26" hasCustomPrompt="1"/>
          </p:nvPr>
        </p:nvSpPr>
        <p:spPr>
          <a:xfrm>
            <a:off x="4815356" y="2003584"/>
            <a:ext cx="3132000" cy="3864416"/>
          </a:xfrm>
        </p:spPr>
        <p:txBody>
          <a:bodyPr lIns="72000" tIns="36000" rIns="0" bIns="0"/>
          <a:lstStyle>
            <a:lvl1pPr>
              <a:defRPr/>
            </a:lvl1pPr>
          </a:lstStyle>
          <a:p>
            <a:r>
              <a:rPr lang="en-US" sz="1000"/>
              <a:t>Add text here</a:t>
            </a:r>
          </a:p>
          <a:p>
            <a:pPr lvl="1"/>
            <a:endParaRPr lang="en-IN"/>
          </a:p>
        </p:txBody>
      </p:sp>
      <p:sp>
        <p:nvSpPr>
          <p:cNvPr id="19" name="Text Placeholder 6">
            <a:extLst>
              <a:ext uri="{FF2B5EF4-FFF2-40B4-BE49-F238E27FC236}">
                <a16:creationId xmlns:a16="http://schemas.microsoft.com/office/drawing/2014/main" id="{28E3692A-725A-06BF-BB6F-8A8425686929}"/>
              </a:ext>
            </a:extLst>
          </p:cNvPr>
          <p:cNvSpPr>
            <a:spLocks noGrp="1"/>
          </p:cNvSpPr>
          <p:nvPr>
            <p:ph type="body" sz="quarter" idx="27" hasCustomPrompt="1"/>
          </p:nvPr>
        </p:nvSpPr>
        <p:spPr>
          <a:xfrm>
            <a:off x="8067813" y="2003584"/>
            <a:ext cx="3132000" cy="3864416"/>
          </a:xfrm>
        </p:spPr>
        <p:txBody>
          <a:bodyPr lIns="72000" tIns="36000" rIns="0" bIns="0"/>
          <a:lstStyle>
            <a:lvl1pPr>
              <a:defRPr/>
            </a:lvl1pPr>
          </a:lstStyle>
          <a:p>
            <a:r>
              <a:rPr lang="en-US" sz="1000"/>
              <a:t>Add text here</a:t>
            </a:r>
          </a:p>
          <a:p>
            <a:pPr lvl="1"/>
            <a:endParaRPr lang="en-IN"/>
          </a:p>
        </p:txBody>
      </p:sp>
      <p:sp>
        <p:nvSpPr>
          <p:cNvPr id="11" name="Chart Placeholder 43">
            <a:extLst>
              <a:ext uri="{FF2B5EF4-FFF2-40B4-BE49-F238E27FC236}">
                <a16:creationId xmlns:a16="http://schemas.microsoft.com/office/drawing/2014/main" id="{856FE8BE-D902-A644-F4C2-2CAD5D6268FE}"/>
              </a:ext>
            </a:extLst>
          </p:cNvPr>
          <p:cNvSpPr>
            <a:spLocks noGrp="1"/>
          </p:cNvSpPr>
          <p:nvPr>
            <p:ph type="chart" sz="quarter" idx="12" hasCustomPrompt="1"/>
          </p:nvPr>
        </p:nvSpPr>
        <p:spPr>
          <a:xfrm>
            <a:off x="8717873" y="1179513"/>
            <a:ext cx="2475728" cy="460800"/>
          </a:xfrm>
        </p:spPr>
        <p:txBody>
          <a:bodyPr lIns="72000"/>
          <a:lstStyle>
            <a:lvl1pPr>
              <a:defRPr sz="1000" b="1">
                <a:solidFill>
                  <a:schemeClr val="tx2"/>
                </a:solidFill>
              </a:defRPr>
            </a:lvl1pPr>
          </a:lstStyle>
          <a:p>
            <a:r>
              <a:rPr lang="fi-FI"/>
              <a:t>Add summary chart here</a:t>
            </a:r>
          </a:p>
        </p:txBody>
      </p:sp>
      <p:sp>
        <p:nvSpPr>
          <p:cNvPr id="15" name="Text Placeholder 11">
            <a:extLst>
              <a:ext uri="{FF2B5EF4-FFF2-40B4-BE49-F238E27FC236}">
                <a16:creationId xmlns:a16="http://schemas.microsoft.com/office/drawing/2014/main" id="{EDA66AB9-9A15-1FF6-7081-827E8E887381}"/>
              </a:ext>
            </a:extLst>
          </p:cNvPr>
          <p:cNvSpPr>
            <a:spLocks noGrp="1"/>
          </p:cNvSpPr>
          <p:nvPr>
            <p:ph type="body" sz="quarter" idx="10" hasCustomPrompt="1"/>
          </p:nvPr>
        </p:nvSpPr>
        <p:spPr>
          <a:xfrm>
            <a:off x="995361" y="1179513"/>
            <a:ext cx="7587923"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a:t>Use this strapline to summarize the key message — Keep it concise and clear, preferably 1-2 sentences only.</a:t>
            </a:r>
          </a:p>
        </p:txBody>
      </p:sp>
      <p:sp>
        <p:nvSpPr>
          <p:cNvPr id="9" name="Table Placeholder 45">
            <a:extLst>
              <a:ext uri="{FF2B5EF4-FFF2-40B4-BE49-F238E27FC236}">
                <a16:creationId xmlns:a16="http://schemas.microsoft.com/office/drawing/2014/main" id="{1AFC767D-9598-2FFF-8A74-FDEBC1DC934F}"/>
              </a:ext>
            </a:extLst>
          </p:cNvPr>
          <p:cNvSpPr>
            <a:spLocks noGrp="1"/>
          </p:cNvSpPr>
          <p:nvPr>
            <p:ph type="tbl" sz="quarter" idx="13" hasCustomPrompt="1"/>
          </p:nvPr>
        </p:nvSpPr>
        <p:spPr>
          <a:xfrm>
            <a:off x="995361" y="1751584"/>
            <a:ext cx="3690499" cy="4116416"/>
          </a:xfrm>
        </p:spPr>
        <p:txBody>
          <a:bodyPr lIns="72000" tIns="36000" rIns="0"/>
          <a:lstStyle>
            <a:lvl1pPr>
              <a:defRPr sz="1000" b="1">
                <a:solidFill>
                  <a:schemeClr val="tx2"/>
                </a:solidFill>
              </a:defRPr>
            </a:lvl1pPr>
          </a:lstStyle>
          <a:p>
            <a:r>
              <a:rPr lang="fi-FI"/>
              <a:t>Add table here</a:t>
            </a:r>
          </a:p>
        </p:txBody>
      </p:sp>
    </p:spTree>
    <p:extLst>
      <p:ext uri="{BB962C8B-B14F-4D97-AF65-F5344CB8AC3E}">
        <p14:creationId xmlns:p14="http://schemas.microsoft.com/office/powerpoint/2010/main" val="323081507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Analysis_50-50 table+tex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1068415570"/>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179513"/>
            <a:ext cx="10195199"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17" name="Text Placeholder 6">
            <a:extLst>
              <a:ext uri="{FF2B5EF4-FFF2-40B4-BE49-F238E27FC236}">
                <a16:creationId xmlns:a16="http://schemas.microsoft.com/office/drawing/2014/main" id="{1521B4CA-D8BF-DA27-158B-3A18ECF1099F}"/>
              </a:ext>
            </a:extLst>
          </p:cNvPr>
          <p:cNvSpPr>
            <a:spLocks noGrp="1"/>
          </p:cNvSpPr>
          <p:nvPr>
            <p:ph type="body" sz="quarter" idx="24" hasCustomPrompt="1"/>
          </p:nvPr>
        </p:nvSpPr>
        <p:spPr>
          <a:xfrm>
            <a:off x="6165629" y="2003584"/>
            <a:ext cx="5036400" cy="3865371"/>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ext Placeholder 25">
            <a:extLst>
              <a:ext uri="{FF2B5EF4-FFF2-40B4-BE49-F238E27FC236}">
                <a16:creationId xmlns:a16="http://schemas.microsoft.com/office/drawing/2014/main" id="{7C4F6109-E3D9-561F-E5FD-3725E8400904}"/>
              </a:ext>
            </a:extLst>
          </p:cNvPr>
          <p:cNvSpPr>
            <a:spLocks noGrp="1"/>
          </p:cNvSpPr>
          <p:nvPr>
            <p:ph type="body" sz="quarter" idx="11" hasCustomPrompt="1"/>
          </p:nvPr>
        </p:nvSpPr>
        <p:spPr>
          <a:xfrm>
            <a:off x="6165629" y="1751584"/>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0" name="Table Placeholder 45">
            <a:extLst>
              <a:ext uri="{FF2B5EF4-FFF2-40B4-BE49-F238E27FC236}">
                <a16:creationId xmlns:a16="http://schemas.microsoft.com/office/drawing/2014/main" id="{213B86F7-3C0F-4690-E312-92129CBE6128}"/>
              </a:ext>
            </a:extLst>
          </p:cNvPr>
          <p:cNvSpPr>
            <a:spLocks noGrp="1"/>
          </p:cNvSpPr>
          <p:nvPr>
            <p:ph type="tbl" sz="quarter" idx="13" hasCustomPrompt="1"/>
          </p:nvPr>
        </p:nvSpPr>
        <p:spPr>
          <a:xfrm>
            <a:off x="995361" y="1751584"/>
            <a:ext cx="5036400" cy="4117371"/>
          </a:xfrm>
        </p:spPr>
        <p:txBody>
          <a:bodyPr lIns="72000" tIns="36000" rIns="0"/>
          <a:lstStyle>
            <a:lvl1pPr>
              <a:defRPr sz="1000" b="1">
                <a:solidFill>
                  <a:schemeClr val="tx2"/>
                </a:solidFill>
              </a:defRPr>
            </a:lvl1pPr>
          </a:lstStyle>
          <a:p>
            <a:r>
              <a:rPr lang="fi-FI"/>
              <a:t>Add table here</a:t>
            </a:r>
          </a:p>
        </p:txBody>
      </p:sp>
    </p:spTree>
    <p:extLst>
      <p:ext uri="{BB962C8B-B14F-4D97-AF65-F5344CB8AC3E}">
        <p14:creationId xmlns:p14="http://schemas.microsoft.com/office/powerpoint/2010/main" val="30212779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Analysis_50-50 table+text+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1151547198"/>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23" name="Table Placeholder 45">
            <a:extLst>
              <a:ext uri="{FF2B5EF4-FFF2-40B4-BE49-F238E27FC236}">
                <a16:creationId xmlns:a16="http://schemas.microsoft.com/office/drawing/2014/main" id="{C3004401-EE3C-649E-6353-B9164F1C4C80}"/>
              </a:ext>
            </a:extLst>
          </p:cNvPr>
          <p:cNvSpPr>
            <a:spLocks noGrp="1"/>
          </p:cNvSpPr>
          <p:nvPr>
            <p:ph type="tbl" sz="quarter" idx="13" hasCustomPrompt="1"/>
          </p:nvPr>
        </p:nvSpPr>
        <p:spPr>
          <a:xfrm>
            <a:off x="995361" y="1751584"/>
            <a:ext cx="5036400" cy="4117371"/>
          </a:xfrm>
        </p:spPr>
        <p:txBody>
          <a:bodyPr lIns="72000" tIns="36000" rIns="0"/>
          <a:lstStyle>
            <a:lvl1pPr>
              <a:defRPr sz="1000" b="1">
                <a:solidFill>
                  <a:schemeClr val="tx2"/>
                </a:solidFill>
              </a:defRPr>
            </a:lvl1pPr>
          </a:lstStyle>
          <a:p>
            <a:r>
              <a:rPr lang="fi-FI"/>
              <a:t>Add table here</a:t>
            </a:r>
          </a:p>
        </p:txBody>
      </p:sp>
      <p:sp>
        <p:nvSpPr>
          <p:cNvPr id="8" name="Text Placeholder 25">
            <a:extLst>
              <a:ext uri="{FF2B5EF4-FFF2-40B4-BE49-F238E27FC236}">
                <a16:creationId xmlns:a16="http://schemas.microsoft.com/office/drawing/2014/main" id="{AB752ACB-3E96-1341-39F5-971D5B64FD77}"/>
              </a:ext>
            </a:extLst>
          </p:cNvPr>
          <p:cNvSpPr>
            <a:spLocks noGrp="1"/>
          </p:cNvSpPr>
          <p:nvPr>
            <p:ph type="body" sz="quarter" idx="11" hasCustomPrompt="1"/>
          </p:nvPr>
        </p:nvSpPr>
        <p:spPr>
          <a:xfrm>
            <a:off x="6165629" y="1751584"/>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0" name="Chart Placeholder 43">
            <a:extLst>
              <a:ext uri="{FF2B5EF4-FFF2-40B4-BE49-F238E27FC236}">
                <a16:creationId xmlns:a16="http://schemas.microsoft.com/office/drawing/2014/main" id="{DC74134E-DCDE-CA54-AD79-94C972C11A63}"/>
              </a:ext>
            </a:extLst>
          </p:cNvPr>
          <p:cNvSpPr>
            <a:spLocks noGrp="1"/>
          </p:cNvSpPr>
          <p:nvPr>
            <p:ph type="chart" sz="quarter" idx="12" hasCustomPrompt="1"/>
          </p:nvPr>
        </p:nvSpPr>
        <p:spPr>
          <a:xfrm>
            <a:off x="8717873" y="1179513"/>
            <a:ext cx="2475728" cy="460800"/>
          </a:xfrm>
        </p:spPr>
        <p:txBody>
          <a:bodyPr lIns="72000"/>
          <a:lstStyle>
            <a:lvl1pPr>
              <a:defRPr sz="1000" b="1">
                <a:solidFill>
                  <a:schemeClr val="tx2"/>
                </a:solidFill>
              </a:defRPr>
            </a:lvl1pPr>
          </a:lstStyle>
          <a:p>
            <a:r>
              <a:rPr lang="fi-FI"/>
              <a:t>Add summary chart here</a:t>
            </a:r>
          </a:p>
        </p:txBody>
      </p:sp>
      <p:sp>
        <p:nvSpPr>
          <p:cNvPr id="11" name="Text Placeholder 11">
            <a:extLst>
              <a:ext uri="{FF2B5EF4-FFF2-40B4-BE49-F238E27FC236}">
                <a16:creationId xmlns:a16="http://schemas.microsoft.com/office/drawing/2014/main" id="{033A2A19-A8FA-B04D-7F28-5972152079F8}"/>
              </a:ext>
            </a:extLst>
          </p:cNvPr>
          <p:cNvSpPr>
            <a:spLocks noGrp="1"/>
          </p:cNvSpPr>
          <p:nvPr>
            <p:ph type="body" sz="quarter" idx="10" hasCustomPrompt="1"/>
          </p:nvPr>
        </p:nvSpPr>
        <p:spPr>
          <a:xfrm>
            <a:off x="995361" y="1179513"/>
            <a:ext cx="7587923"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00338D"/>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a:t>Use this strapline to summarize the key message — Keep it concise and clear, preferably 1-2 sentences only.</a:t>
            </a:r>
          </a:p>
        </p:txBody>
      </p:sp>
      <p:sp>
        <p:nvSpPr>
          <p:cNvPr id="9" name="Text Placeholder 6">
            <a:extLst>
              <a:ext uri="{FF2B5EF4-FFF2-40B4-BE49-F238E27FC236}">
                <a16:creationId xmlns:a16="http://schemas.microsoft.com/office/drawing/2014/main" id="{5E80CC73-917A-B304-6925-C4C619159D0F}"/>
              </a:ext>
            </a:extLst>
          </p:cNvPr>
          <p:cNvSpPr>
            <a:spLocks noGrp="1"/>
          </p:cNvSpPr>
          <p:nvPr>
            <p:ph type="body" sz="quarter" idx="24" hasCustomPrompt="1"/>
          </p:nvPr>
        </p:nvSpPr>
        <p:spPr>
          <a:xfrm>
            <a:off x="6165629" y="2003584"/>
            <a:ext cx="5036400" cy="3865371"/>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2450918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itle+strapline+4 text box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a:p>
        </p:txBody>
      </p:sp>
      <p:sp>
        <p:nvSpPr>
          <p:cNvPr id="4" name="Isosceles Triangle 3">
            <a:extLst>
              <a:ext uri="{FF2B5EF4-FFF2-40B4-BE49-F238E27FC236}">
                <a16:creationId xmlns:a16="http://schemas.microsoft.com/office/drawing/2014/main" id="{54B4A651-E175-43D5-BDE4-85E7072DAB81}"/>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sp>
        <p:nvSpPr>
          <p:cNvPr id="5" name="Isosceles Triangle 4">
            <a:extLst>
              <a:ext uri="{FF2B5EF4-FFF2-40B4-BE49-F238E27FC236}">
                <a16:creationId xmlns:a16="http://schemas.microsoft.com/office/drawing/2014/main" id="{D8CF9A49-5C98-4020-BAE8-7B5D8165AF38}"/>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sp>
        <p:nvSpPr>
          <p:cNvPr id="6" name="Oval 5">
            <a:hlinkClick r:id="" action="ppaction://hlinkshowjump?jump=nextslide"/>
            <a:extLst>
              <a:ext uri="{FF2B5EF4-FFF2-40B4-BE49-F238E27FC236}">
                <a16:creationId xmlns:a16="http://schemas.microsoft.com/office/drawing/2014/main" id="{E5CB0168-16D5-4ECF-B00D-56062158759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EB610481-3430-44AE-8F86-1BC9315AFE7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pic>
        <p:nvPicPr>
          <p:cNvPr id="8" name="Graphic 7" descr="Home">
            <a:hlinkClick r:id="rId2" action="ppaction://hlinksldjump"/>
            <a:extLst>
              <a:ext uri="{FF2B5EF4-FFF2-40B4-BE49-F238E27FC236}">
                <a16:creationId xmlns:a16="http://schemas.microsoft.com/office/drawing/2014/main" id="{6BE4FE15-C342-4883-86D7-7EBA83A630C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9" cy="222478"/>
          </a:xfrm>
          <a:prstGeom prst="rect">
            <a:avLst/>
          </a:prstGeom>
        </p:spPr>
      </p:pic>
      <p:sp>
        <p:nvSpPr>
          <p:cNvPr id="9" name="Text Placeholder 11">
            <a:extLst>
              <a:ext uri="{FF2B5EF4-FFF2-40B4-BE49-F238E27FC236}">
                <a16:creationId xmlns:a16="http://schemas.microsoft.com/office/drawing/2014/main" id="{1EAB2AC6-386C-4D86-9609-C53DA905626A}"/>
              </a:ext>
            </a:extLst>
          </p:cNvPr>
          <p:cNvSpPr>
            <a:spLocks noGrp="1"/>
          </p:cNvSpPr>
          <p:nvPr>
            <p:ph type="body" sz="quarter" idx="10" hasCustomPrompt="1"/>
          </p:nvPr>
        </p:nvSpPr>
        <p:spPr>
          <a:xfrm>
            <a:off x="995361" y="1179513"/>
            <a:ext cx="10192299"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a:t>Use this strapline to summarize the key message — Keep it concise and clear, preferably 1-2 sentences only.</a:t>
            </a:r>
          </a:p>
        </p:txBody>
      </p:sp>
      <p:sp>
        <p:nvSpPr>
          <p:cNvPr id="17" name="Text Placeholder 6">
            <a:extLst>
              <a:ext uri="{FF2B5EF4-FFF2-40B4-BE49-F238E27FC236}">
                <a16:creationId xmlns:a16="http://schemas.microsoft.com/office/drawing/2014/main" id="{D39B1F28-5BE0-920C-485E-EBD004E6FEE3}"/>
              </a:ext>
            </a:extLst>
          </p:cNvPr>
          <p:cNvSpPr>
            <a:spLocks noGrp="1"/>
          </p:cNvSpPr>
          <p:nvPr>
            <p:ph type="body" sz="quarter" idx="23" hasCustomPrompt="1"/>
          </p:nvPr>
        </p:nvSpPr>
        <p:spPr>
          <a:xfrm>
            <a:off x="995361" y="2003585"/>
            <a:ext cx="5036400" cy="17640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Text Placeholder 6">
            <a:extLst>
              <a:ext uri="{FF2B5EF4-FFF2-40B4-BE49-F238E27FC236}">
                <a16:creationId xmlns:a16="http://schemas.microsoft.com/office/drawing/2014/main" id="{EC545A67-9AFD-8E78-4FC6-F4DDA2F0DC14}"/>
              </a:ext>
            </a:extLst>
          </p:cNvPr>
          <p:cNvSpPr>
            <a:spLocks noGrp="1"/>
          </p:cNvSpPr>
          <p:nvPr>
            <p:ph type="body" sz="quarter" idx="24" hasCustomPrompt="1"/>
          </p:nvPr>
        </p:nvSpPr>
        <p:spPr>
          <a:xfrm>
            <a:off x="6165629" y="2003585"/>
            <a:ext cx="5036400" cy="17640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23" name="Text Placeholder 6">
            <a:extLst>
              <a:ext uri="{FF2B5EF4-FFF2-40B4-BE49-F238E27FC236}">
                <a16:creationId xmlns:a16="http://schemas.microsoft.com/office/drawing/2014/main" id="{110C6C3E-B8AD-8B96-EC03-1CD5078D28AB}"/>
              </a:ext>
            </a:extLst>
          </p:cNvPr>
          <p:cNvSpPr>
            <a:spLocks noGrp="1"/>
          </p:cNvSpPr>
          <p:nvPr>
            <p:ph type="body" sz="quarter" idx="26" hasCustomPrompt="1"/>
          </p:nvPr>
        </p:nvSpPr>
        <p:spPr>
          <a:xfrm>
            <a:off x="995361" y="4110230"/>
            <a:ext cx="5036400" cy="17640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24" name="Text Placeholder 6">
            <a:extLst>
              <a:ext uri="{FF2B5EF4-FFF2-40B4-BE49-F238E27FC236}">
                <a16:creationId xmlns:a16="http://schemas.microsoft.com/office/drawing/2014/main" id="{F783E64C-A4C3-8E54-3103-0BB03066D1BC}"/>
              </a:ext>
            </a:extLst>
          </p:cNvPr>
          <p:cNvSpPr>
            <a:spLocks noGrp="1"/>
          </p:cNvSpPr>
          <p:nvPr>
            <p:ph type="body" sz="quarter" idx="27" hasCustomPrompt="1"/>
          </p:nvPr>
        </p:nvSpPr>
        <p:spPr>
          <a:xfrm>
            <a:off x="6160108" y="4110230"/>
            <a:ext cx="5036400" cy="17640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2" name="Text Placeholder 25">
            <a:extLst>
              <a:ext uri="{FF2B5EF4-FFF2-40B4-BE49-F238E27FC236}">
                <a16:creationId xmlns:a16="http://schemas.microsoft.com/office/drawing/2014/main" id="{807DDDD2-8F00-9FCF-D4F9-BE3A3941D7B5}"/>
              </a:ext>
            </a:extLst>
          </p:cNvPr>
          <p:cNvSpPr>
            <a:spLocks noGrp="1"/>
          </p:cNvSpPr>
          <p:nvPr>
            <p:ph type="body" sz="quarter" idx="11" hasCustomPrompt="1"/>
          </p:nvPr>
        </p:nvSpPr>
        <p:spPr>
          <a:xfrm>
            <a:off x="6165629" y="1751584"/>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0" name="Text Placeholder 25">
            <a:extLst>
              <a:ext uri="{FF2B5EF4-FFF2-40B4-BE49-F238E27FC236}">
                <a16:creationId xmlns:a16="http://schemas.microsoft.com/office/drawing/2014/main" id="{19148179-BB16-C1DF-D153-77ED4B3E9972}"/>
              </a:ext>
            </a:extLst>
          </p:cNvPr>
          <p:cNvSpPr>
            <a:spLocks noGrp="1"/>
          </p:cNvSpPr>
          <p:nvPr>
            <p:ph type="body" sz="quarter" idx="25" hasCustomPrompt="1"/>
          </p:nvPr>
        </p:nvSpPr>
        <p:spPr>
          <a:xfrm>
            <a:off x="995361" y="1751584"/>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1" name="Text Placeholder 25">
            <a:extLst>
              <a:ext uri="{FF2B5EF4-FFF2-40B4-BE49-F238E27FC236}">
                <a16:creationId xmlns:a16="http://schemas.microsoft.com/office/drawing/2014/main" id="{A23192A1-5706-5D97-D3A3-D152925A8F63}"/>
              </a:ext>
            </a:extLst>
          </p:cNvPr>
          <p:cNvSpPr>
            <a:spLocks noGrp="1"/>
          </p:cNvSpPr>
          <p:nvPr>
            <p:ph type="body" sz="quarter" idx="34" hasCustomPrompt="1"/>
          </p:nvPr>
        </p:nvSpPr>
        <p:spPr>
          <a:xfrm>
            <a:off x="6157201" y="3858231"/>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2" name="Text Placeholder 25">
            <a:extLst>
              <a:ext uri="{FF2B5EF4-FFF2-40B4-BE49-F238E27FC236}">
                <a16:creationId xmlns:a16="http://schemas.microsoft.com/office/drawing/2014/main" id="{FC37E04D-55C4-A2F9-AB41-0407BC55D0B5}"/>
              </a:ext>
            </a:extLst>
          </p:cNvPr>
          <p:cNvSpPr>
            <a:spLocks noGrp="1"/>
          </p:cNvSpPr>
          <p:nvPr>
            <p:ph type="body" sz="quarter" idx="35" hasCustomPrompt="1"/>
          </p:nvPr>
        </p:nvSpPr>
        <p:spPr>
          <a:xfrm>
            <a:off x="995361" y="3858231"/>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Tree>
    <p:extLst>
      <p:ext uri="{BB962C8B-B14F-4D97-AF65-F5344CB8AC3E}">
        <p14:creationId xmlns:p14="http://schemas.microsoft.com/office/powerpoint/2010/main" val="73684297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Analysis_2 columns tex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969865134"/>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179513"/>
            <a:ext cx="10195200" cy="460800"/>
          </a:xfrm>
        </p:spPr>
        <p:txBody>
          <a:bodyPr lIns="0" r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8" name="Text Placeholder 25">
            <a:extLst>
              <a:ext uri="{FF2B5EF4-FFF2-40B4-BE49-F238E27FC236}">
                <a16:creationId xmlns:a16="http://schemas.microsoft.com/office/drawing/2014/main" id="{007F8667-B92C-EB98-6B8B-697E85466508}"/>
              </a:ext>
            </a:extLst>
          </p:cNvPr>
          <p:cNvSpPr>
            <a:spLocks noGrp="1"/>
          </p:cNvSpPr>
          <p:nvPr>
            <p:ph type="body" sz="quarter" idx="11" hasCustomPrompt="1"/>
          </p:nvPr>
        </p:nvSpPr>
        <p:spPr>
          <a:xfrm>
            <a:off x="6165629" y="1751584"/>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9" name="Text Placeholder 25">
            <a:extLst>
              <a:ext uri="{FF2B5EF4-FFF2-40B4-BE49-F238E27FC236}">
                <a16:creationId xmlns:a16="http://schemas.microsoft.com/office/drawing/2014/main" id="{73C591D6-8A1C-CA28-41AC-55D37B996B5C}"/>
              </a:ext>
            </a:extLst>
          </p:cNvPr>
          <p:cNvSpPr>
            <a:spLocks noGrp="1"/>
          </p:cNvSpPr>
          <p:nvPr>
            <p:ph type="body" sz="quarter" idx="25" hasCustomPrompt="1"/>
          </p:nvPr>
        </p:nvSpPr>
        <p:spPr>
          <a:xfrm>
            <a:off x="995361" y="1751584"/>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0" name="Text Placeholder 6">
            <a:extLst>
              <a:ext uri="{FF2B5EF4-FFF2-40B4-BE49-F238E27FC236}">
                <a16:creationId xmlns:a16="http://schemas.microsoft.com/office/drawing/2014/main" id="{B126B9F3-EC58-4DE5-9DF6-13120B68EDB2}"/>
              </a:ext>
            </a:extLst>
          </p:cNvPr>
          <p:cNvSpPr>
            <a:spLocks noGrp="1"/>
          </p:cNvSpPr>
          <p:nvPr>
            <p:ph type="body" sz="quarter" idx="24" hasCustomPrompt="1"/>
          </p:nvPr>
        </p:nvSpPr>
        <p:spPr>
          <a:xfrm>
            <a:off x="6165629" y="2003584"/>
            <a:ext cx="5036400" cy="3865371"/>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Text Placeholder 6">
            <a:extLst>
              <a:ext uri="{FF2B5EF4-FFF2-40B4-BE49-F238E27FC236}">
                <a16:creationId xmlns:a16="http://schemas.microsoft.com/office/drawing/2014/main" id="{C6579D5C-8A15-B2E6-E4C1-444BA8155AE0}"/>
              </a:ext>
            </a:extLst>
          </p:cNvPr>
          <p:cNvSpPr>
            <a:spLocks noGrp="1"/>
          </p:cNvSpPr>
          <p:nvPr>
            <p:ph type="body" sz="quarter" idx="26" hasCustomPrompt="1"/>
          </p:nvPr>
        </p:nvSpPr>
        <p:spPr>
          <a:xfrm>
            <a:off x="995361" y="2003584"/>
            <a:ext cx="5036400" cy="3865371"/>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57591793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able of content Storage Layout">
    <p:bg>
      <p:bgPr>
        <a:solidFill>
          <a:schemeClr val="bg2"/>
        </a:solidFill>
        <a:effectLst/>
      </p:bgPr>
    </p:bg>
    <p:spTree>
      <p:nvGrpSpPr>
        <p:cNvPr id="1" name=""/>
        <p:cNvGrpSpPr/>
        <p:nvPr/>
      </p:nvGrpSpPr>
      <p:grpSpPr>
        <a:xfrm>
          <a:off x="0" y="0"/>
          <a:ext cx="0" cy="0"/>
          <a:chOff x="0" y="0"/>
          <a:chExt cx="0" cy="0"/>
        </a:xfrm>
      </p:grpSpPr>
      <p:sp>
        <p:nvSpPr>
          <p:cNvPr id="20" name="TextBox 19">
            <a:hlinkClick r:id="" action="ppaction://noaction"/>
            <a:extLst>
              <a:ext uri="{FF2B5EF4-FFF2-40B4-BE49-F238E27FC236}">
                <a16:creationId xmlns:a16="http://schemas.microsoft.com/office/drawing/2014/main" id="{103DA531-B8F1-3F3E-85FF-33CD8B19D5DB}"/>
              </a:ext>
            </a:extLst>
          </p:cNvPr>
          <p:cNvSpPr txBox="1">
            <a:spLocks/>
          </p:cNvSpPr>
          <p:nvPr userDrawn="1">
            <p:custDataLst>
              <p:tags r:id="rId1"/>
            </p:custDataLst>
          </p:nvPr>
        </p:nvSpPr>
        <p:spPr>
          <a:xfrm>
            <a:off x="10374885" y="1944714"/>
            <a:ext cx="54000" cy="349200"/>
          </a:xfrm>
          <a:prstGeom prst="rect">
            <a:avLst/>
          </a:prstGeom>
          <a:noFill/>
        </p:spPr>
        <p:txBody>
          <a:bodyPr vert="horz" wrap="none" lIns="0" tIns="0" rIns="0" bIns="0" rtlCol="0" anchor="t" anchorCtr="0">
            <a:noAutofit/>
          </a:bodyPr>
          <a:lstStyle/>
          <a:p>
            <a:pPr algn="r"/>
            <a:r>
              <a:rPr lang="en-US" sz="2000" b="0">
                <a:solidFill>
                  <a:schemeClr val="tx2"/>
                </a:solidFill>
                <a:latin typeface="+mj-lt"/>
                <a:cs typeface="Arial" panose="020B0604020202020204" pitchFamily="34" charset="0"/>
              </a:rPr>
              <a:t>4</a:t>
            </a:r>
          </a:p>
        </p:txBody>
      </p:sp>
      <p:sp>
        <p:nvSpPr>
          <p:cNvPr id="13" name="Text Box 4">
            <a:extLst>
              <a:ext uri="{FF2B5EF4-FFF2-40B4-BE49-F238E27FC236}">
                <a16:creationId xmlns:a16="http://schemas.microsoft.com/office/drawing/2014/main" id="{84AFEC93-9419-2C65-316F-7D321D508C78}"/>
              </a:ext>
            </a:extLst>
          </p:cNvPr>
          <p:cNvSpPr txBox="1">
            <a:spLocks noChangeArrowheads="1"/>
          </p:cNvSpPr>
          <p:nvPr userDrawn="1">
            <p:custDataLst>
              <p:tags r:id="rId2"/>
            </p:custDataLst>
          </p:nvPr>
        </p:nvSpPr>
        <p:spPr bwMode="gray">
          <a:xfrm>
            <a:off x="10473613" y="6463890"/>
            <a:ext cx="1570038" cy="357187"/>
          </a:xfrm>
          <a:prstGeom prst="rect">
            <a:avLst/>
          </a:prstGeom>
          <a:noFill/>
          <a:ln w="6350" algn="ctr">
            <a:noFill/>
            <a:miter lim="800000"/>
            <a:headEnd/>
            <a:tailEnd/>
          </a:ln>
          <a:effectLst/>
        </p:spPr>
        <p:txBody>
          <a:bodyPr wrap="square" lIns="0" tIns="36000" rIns="0" bIns="0" anchor="ctr" anchorCtr="0">
            <a:noAutofit/>
          </a:bodyPr>
          <a:lstStyle/>
          <a:p>
            <a:pPr algn="r" defTabSz="762000" eaLnBrk="0" hangingPunct="0">
              <a:lnSpc>
                <a:spcPct val="80000"/>
              </a:lnSpc>
              <a:spcBef>
                <a:spcPct val="20000"/>
              </a:spcBef>
            </a:pPr>
            <a:r>
              <a:rPr lang="en-US" sz="1400" b="1">
                <a:solidFill>
                  <a:schemeClr val="accent6"/>
                </a:solidFill>
              </a:rPr>
              <a:t>DRAFT</a:t>
            </a:r>
          </a:p>
        </p:txBody>
      </p:sp>
      <p:pic>
        <p:nvPicPr>
          <p:cNvPr id="11" name="Graphic 10" descr="Home">
            <a:hlinkClick r:id="rId14" action="ppaction://hlinksldjump"/>
            <a:extLst>
              <a:ext uri="{FF2B5EF4-FFF2-40B4-BE49-F238E27FC236}">
                <a16:creationId xmlns:a16="http://schemas.microsoft.com/office/drawing/2014/main" id="{43CD81CE-8133-23ED-EA21-F00249766457}"/>
              </a:ext>
            </a:extLst>
          </p:cNvPr>
          <p:cNvPicPr>
            <a:picLocks noChangeAspect="1"/>
          </p:cNvPicPr>
          <p:nvPr userDrawn="1"/>
        </p:nvPicPr>
        <p:blipFill>
          <a:blip r:embed="rId15" cstate="screen">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1571850" y="134089"/>
            <a:ext cx="222478" cy="222478"/>
          </a:xfrm>
          <a:prstGeom prst="rect">
            <a:avLst/>
          </a:prstGeom>
        </p:spPr>
      </p:pic>
      <p:sp>
        <p:nvSpPr>
          <p:cNvPr id="10" name="Oval 9">
            <a:hlinkClick r:id="" action="ppaction://hlinkshowjump?jump=previousslide"/>
            <a:extLst>
              <a:ext uri="{FF2B5EF4-FFF2-40B4-BE49-F238E27FC236}">
                <a16:creationId xmlns:a16="http://schemas.microsoft.com/office/drawing/2014/main" id="{3B5027E5-9B09-836C-CB3A-0F369BA6B622}"/>
              </a:ext>
            </a:extLst>
          </p:cNvPr>
          <p:cNvSpPr/>
          <p:nvPr userDrawn="1"/>
        </p:nvSpPr>
        <p:spPr>
          <a:xfrm flipH="1">
            <a:off x="11292948"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9" name="Oval 8">
            <a:hlinkClick r:id="" action="ppaction://hlinkshowjump?jump=nextslide"/>
            <a:extLst>
              <a:ext uri="{FF2B5EF4-FFF2-40B4-BE49-F238E27FC236}">
                <a16:creationId xmlns:a16="http://schemas.microsoft.com/office/drawing/2014/main" id="{414D50E1-8AFB-C3E6-1488-95F62B3AC868}"/>
              </a:ext>
            </a:extLst>
          </p:cNvPr>
          <p:cNvSpPr/>
          <p:nvPr userDrawn="1"/>
        </p:nvSpPr>
        <p:spPr>
          <a:xfrm>
            <a:off x="11836622"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8" name="Isosceles Triangle 7">
            <a:extLst>
              <a:ext uri="{FF2B5EF4-FFF2-40B4-BE49-F238E27FC236}">
                <a16:creationId xmlns:a16="http://schemas.microsoft.com/office/drawing/2014/main" id="{27070D5A-9B57-80F6-826D-F559943C30C8}"/>
              </a:ext>
            </a:extLst>
          </p:cNvPr>
          <p:cNvSpPr/>
          <p:nvPr userDrawn="1"/>
        </p:nvSpPr>
        <p:spPr>
          <a:xfrm rot="16200000" flipH="1">
            <a:off x="11352448"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7" name="Isosceles Triangle 6">
            <a:extLst>
              <a:ext uri="{FF2B5EF4-FFF2-40B4-BE49-F238E27FC236}">
                <a16:creationId xmlns:a16="http://schemas.microsoft.com/office/drawing/2014/main" id="{A52DD552-6D29-75AD-B7B8-C5386BC08FF1}"/>
              </a:ext>
            </a:extLst>
          </p:cNvPr>
          <p:cNvSpPr/>
          <p:nvPr userDrawn="1"/>
        </p:nvSpPr>
        <p:spPr>
          <a:xfrm rot="5400000">
            <a:off x="11914569"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Graphic 8">
            <a:extLst>
              <a:ext uri="{FF2B5EF4-FFF2-40B4-BE49-F238E27FC236}">
                <a16:creationId xmlns:a16="http://schemas.microsoft.com/office/drawing/2014/main" id="{087E6DD2-0A18-F0D9-6121-802EFF8437AD}"/>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cxnSp>
        <p:nvCxnSpPr>
          <p:cNvPr id="5" name="Straight Connector 4">
            <a:extLst>
              <a:ext uri="{FF2B5EF4-FFF2-40B4-BE49-F238E27FC236}">
                <a16:creationId xmlns:a16="http://schemas.microsoft.com/office/drawing/2014/main" id="{62FCF1D0-8D61-3158-1546-2B6008B2C86D}"/>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712A8287-4956-D624-99A1-67CBCBB1CCDC}"/>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2022 KPMG LLP, a UK limited liability partnership and a member firm of the KPMG global organisation of independent member firms affiliated with KPMG International Limited, a private English company limited by guarantee. All rights reserved.</a:t>
            </a:r>
          </a:p>
        </p:txBody>
      </p:sp>
      <p:sp>
        <p:nvSpPr>
          <p:cNvPr id="3" name="TextBox 2">
            <a:extLst>
              <a:ext uri="{FF2B5EF4-FFF2-40B4-BE49-F238E27FC236}">
                <a16:creationId xmlns:a16="http://schemas.microsoft.com/office/drawing/2014/main" id="{539D020B-0A9F-7C79-81F9-8639FA80047E}"/>
              </a:ext>
              <a:ext uri="{C183D7F6-B498-43B3-948B-1728B52AA6E4}">
                <adec:decorative xmlns:adec="http://schemas.microsoft.com/office/drawing/2017/decorative" val="1"/>
              </a:ext>
            </a:extLst>
          </p:cNvPr>
          <p:cNvSpPr txBox="1"/>
          <p:nvPr userDrawn="1">
            <p:custDataLst>
              <p:tags r:id="rId3"/>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2" name="Shape 8">
            <a:extLst>
              <a:ext uri="{FF2B5EF4-FFF2-40B4-BE49-F238E27FC236}">
                <a16:creationId xmlns:a16="http://schemas.microsoft.com/office/drawing/2014/main" id="{8A3F6B51-21DC-2BB9-9227-20B18DE13502}"/>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sp>
        <p:nvSpPr>
          <p:cNvPr id="26" name="TextBox 25">
            <a:hlinkClick r:id="" action="ppaction://noaction"/>
            <a:extLst>
              <a:ext uri="{FF2B5EF4-FFF2-40B4-BE49-F238E27FC236}">
                <a16:creationId xmlns:a16="http://schemas.microsoft.com/office/drawing/2014/main" id="{FDA084D9-C189-24B7-51F3-85144FC9E6FD}"/>
              </a:ext>
            </a:extLst>
          </p:cNvPr>
          <p:cNvSpPr txBox="1">
            <a:spLocks/>
          </p:cNvSpPr>
          <p:nvPr userDrawn="1">
            <p:custDataLst>
              <p:tags r:id="rId4"/>
            </p:custDataLst>
          </p:nvPr>
        </p:nvSpPr>
        <p:spPr>
          <a:xfrm>
            <a:off x="1249681" y="1784193"/>
            <a:ext cx="9107520" cy="126000"/>
          </a:xfrm>
          <a:prstGeom prst="rect">
            <a:avLst/>
          </a:prstGeom>
          <a:noFill/>
        </p:spPr>
        <p:txBody>
          <a:bodyPr vert="horz" wrap="square" lIns="0" tIns="0" rIns="0" bIns="720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Subsection Title (DO NOT DELETE)</a:t>
            </a:r>
          </a:p>
        </p:txBody>
      </p:sp>
      <p:sp>
        <p:nvSpPr>
          <p:cNvPr id="12" name="Subsection number">
            <a:hlinkClick r:id="" action="ppaction://noaction"/>
            <a:extLst>
              <a:ext uri="{FF2B5EF4-FFF2-40B4-BE49-F238E27FC236}">
                <a16:creationId xmlns:a16="http://schemas.microsoft.com/office/drawing/2014/main" id="{2BC0226E-C800-34A0-FC54-8484A9BE76A0}"/>
              </a:ext>
            </a:extLst>
          </p:cNvPr>
          <p:cNvSpPr txBox="1">
            <a:spLocks/>
          </p:cNvSpPr>
          <p:nvPr userDrawn="1">
            <p:custDataLst>
              <p:tags r:id="rId5"/>
            </p:custDataLst>
          </p:nvPr>
        </p:nvSpPr>
        <p:spPr>
          <a:xfrm>
            <a:off x="296316" y="1559983"/>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1</a:t>
            </a:r>
          </a:p>
        </p:txBody>
      </p:sp>
      <p:sp>
        <p:nvSpPr>
          <p:cNvPr id="14" name="ZoneTexte 13">
            <a:extLst>
              <a:ext uri="{FF2B5EF4-FFF2-40B4-BE49-F238E27FC236}">
                <a16:creationId xmlns:a16="http://schemas.microsoft.com/office/drawing/2014/main" id="{3FA0A0E8-2E7C-14D4-35DD-7F97BE85282C}"/>
              </a:ext>
            </a:extLst>
          </p:cNvPr>
          <p:cNvSpPr txBox="1"/>
          <p:nvPr userDrawn="1">
            <p:custDataLst>
              <p:tags r:id="rId6"/>
            </p:custDataLst>
          </p:nvPr>
        </p:nvSpPr>
        <p:spPr>
          <a:xfrm>
            <a:off x="1016318" y="2734004"/>
            <a:ext cx="7106223" cy="307777"/>
          </a:xfrm>
          <a:prstGeom prst="rect">
            <a:avLst/>
          </a:prstGeom>
          <a:noFill/>
        </p:spPr>
        <p:txBody>
          <a:bodyPr wrap="square" rtlCol="0">
            <a:spAutoFit/>
          </a:bodyPr>
          <a:lstStyle/>
          <a:p>
            <a:r>
              <a:rPr lang="en-US" sz="1400" i="1">
                <a:solidFill>
                  <a:schemeClr val="bg1"/>
                </a:solidFill>
                <a:latin typeface="+mn-lt"/>
              </a:rPr>
              <a:t>Slide Title (DO NOT DELETE)</a:t>
            </a:r>
            <a:endParaRPr lang="fr-FR" sz="1400" i="1">
              <a:solidFill>
                <a:schemeClr val="bg1"/>
              </a:solidFill>
              <a:latin typeface="+mn-lt"/>
            </a:endParaRPr>
          </a:p>
        </p:txBody>
      </p:sp>
      <p:sp>
        <p:nvSpPr>
          <p:cNvPr id="16" name="ZoneTexte 14">
            <a:extLst>
              <a:ext uri="{FF2B5EF4-FFF2-40B4-BE49-F238E27FC236}">
                <a16:creationId xmlns:a16="http://schemas.microsoft.com/office/drawing/2014/main" id="{EA2C4DD3-2B36-81FE-270F-545CC1413919}"/>
              </a:ext>
            </a:extLst>
          </p:cNvPr>
          <p:cNvSpPr txBox="1"/>
          <p:nvPr userDrawn="1">
            <p:custDataLst>
              <p:tags r:id="rId7"/>
            </p:custDataLst>
          </p:nvPr>
        </p:nvSpPr>
        <p:spPr>
          <a:xfrm>
            <a:off x="4567362" y="2734004"/>
            <a:ext cx="276038" cy="307777"/>
          </a:xfrm>
          <a:prstGeom prst="rect">
            <a:avLst/>
          </a:prstGeom>
          <a:noFill/>
        </p:spPr>
        <p:txBody>
          <a:bodyPr wrap="none" lIns="0" tIns="0" rIns="0" bIns="0" rtlCol="0" anchor="ctr" anchorCtr="0">
            <a:noAutofit/>
          </a:bodyPr>
          <a:lstStyle/>
          <a:p>
            <a:pPr algn="ctr"/>
            <a:r>
              <a:rPr lang="fr-FR" sz="1400" i="1">
                <a:solidFill>
                  <a:schemeClr val="bg1"/>
                </a:solidFill>
                <a:latin typeface="+mn-lt"/>
              </a:rPr>
              <a:t>1</a:t>
            </a:r>
          </a:p>
        </p:txBody>
      </p:sp>
      <p:sp>
        <p:nvSpPr>
          <p:cNvPr id="17" name="Section number">
            <a:hlinkClick r:id="" action="ppaction://noaction"/>
            <a:extLst>
              <a:ext uri="{FF2B5EF4-FFF2-40B4-BE49-F238E27FC236}">
                <a16:creationId xmlns:a16="http://schemas.microsoft.com/office/drawing/2014/main" id="{198C86B7-A8B9-0D10-1C84-EDD490552A08}"/>
              </a:ext>
            </a:extLst>
          </p:cNvPr>
          <p:cNvSpPr txBox="1">
            <a:spLocks/>
          </p:cNvSpPr>
          <p:nvPr userDrawn="1">
            <p:custDataLst>
              <p:tags r:id="rId8"/>
            </p:custDataLst>
          </p:nvPr>
        </p:nvSpPr>
        <p:spPr>
          <a:xfrm>
            <a:off x="798977" y="1353599"/>
            <a:ext cx="338308" cy="347289"/>
          </a:xfrm>
          <a:prstGeom prst="rect">
            <a:avLst/>
          </a:prstGeom>
          <a:noFill/>
          <a:ln>
            <a:noFill/>
          </a:ln>
        </p:spPr>
        <p:txBody>
          <a:bodyPr vert="horz" wrap="none" lIns="0" tIns="0" rIns="0" bIns="0" rtlCol="0" anchor="t" anchorCtr="0">
            <a:noAutofit/>
          </a:bodyPr>
          <a:lstStyle/>
          <a:p>
            <a:pPr algn="r"/>
            <a:r>
              <a:rPr lang="en-US" sz="2400" b="0">
                <a:ln>
                  <a:noFill/>
                </a:ln>
                <a:solidFill>
                  <a:schemeClr val="tx2"/>
                </a:solidFill>
                <a:latin typeface="+mj-lt"/>
                <a:cs typeface="Arial" panose="020B0604020202020204" pitchFamily="34" charset="0"/>
              </a:rPr>
              <a:t>1</a:t>
            </a:r>
          </a:p>
        </p:txBody>
      </p:sp>
      <p:sp>
        <p:nvSpPr>
          <p:cNvPr id="19" name="TextBox 18">
            <a:hlinkClick r:id="" action="ppaction://noaction"/>
            <a:extLst>
              <a:ext uri="{FF2B5EF4-FFF2-40B4-BE49-F238E27FC236}">
                <a16:creationId xmlns:a16="http://schemas.microsoft.com/office/drawing/2014/main" id="{C31F35AF-52E9-94A5-09C2-A78B342FEC41}"/>
              </a:ext>
            </a:extLst>
          </p:cNvPr>
          <p:cNvSpPr txBox="1">
            <a:spLocks/>
          </p:cNvSpPr>
          <p:nvPr userDrawn="1">
            <p:custDataLst>
              <p:tags r:id="rId9"/>
            </p:custDataLst>
          </p:nvPr>
        </p:nvSpPr>
        <p:spPr>
          <a:xfrm>
            <a:off x="10368217" y="1792315"/>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4</a:t>
            </a:r>
          </a:p>
        </p:txBody>
      </p:sp>
      <p:sp>
        <p:nvSpPr>
          <p:cNvPr id="23" name="Rectangle 22">
            <a:extLst>
              <a:ext uri="{FF2B5EF4-FFF2-40B4-BE49-F238E27FC236}">
                <a16:creationId xmlns:a16="http://schemas.microsoft.com/office/drawing/2014/main" id="{1330EF29-69C1-2F8F-C77D-8C0C7D7B9416}"/>
              </a:ext>
            </a:extLst>
          </p:cNvPr>
          <p:cNvSpPr>
            <a:spLocks/>
          </p:cNvSpPr>
          <p:nvPr userDrawn="1">
            <p:custDataLst>
              <p:tags r:id="rId10"/>
            </p:custDataLst>
          </p:nvPr>
        </p:nvSpPr>
        <p:spPr>
          <a:xfrm>
            <a:off x="997199" y="1229360"/>
            <a:ext cx="9405394" cy="4647566"/>
          </a:xfrm>
          <a:prstGeom prst="rect">
            <a:avLst/>
          </a:prstGeom>
          <a:no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rgbClr val="000000"/>
                </a:solidFill>
                <a:latin typeface="+mj-lt"/>
              </a:rPr>
              <a:t>Workspace (DO NOT DELETE): this shape delimits the vertical space where UpSlide will draw the Agenda.</a:t>
            </a:r>
            <a:endParaRPr lang="en-GB">
              <a:solidFill>
                <a:srgbClr val="000000"/>
              </a:solidFill>
              <a:latin typeface="+mj-lt"/>
            </a:endParaRPr>
          </a:p>
        </p:txBody>
      </p:sp>
      <p:sp>
        <p:nvSpPr>
          <p:cNvPr id="25" name="TextBox 24">
            <a:hlinkClick r:id="" action="ppaction://noaction"/>
            <a:extLst>
              <a:ext uri="{FF2B5EF4-FFF2-40B4-BE49-F238E27FC236}">
                <a16:creationId xmlns:a16="http://schemas.microsoft.com/office/drawing/2014/main" id="{97458F59-479D-8ACC-D1EB-36FDDC4C1E6E}"/>
              </a:ext>
            </a:extLst>
          </p:cNvPr>
          <p:cNvSpPr txBox="1">
            <a:spLocks/>
          </p:cNvSpPr>
          <p:nvPr userDrawn="1">
            <p:custDataLst>
              <p:tags r:id="rId11"/>
            </p:custDataLst>
          </p:nvPr>
        </p:nvSpPr>
        <p:spPr>
          <a:xfrm>
            <a:off x="1249681" y="1353599"/>
            <a:ext cx="9107520" cy="347289"/>
          </a:xfrm>
          <a:prstGeom prst="rect">
            <a:avLst/>
          </a:prstGeom>
          <a:noFill/>
        </p:spPr>
        <p:txBody>
          <a:bodyPr vert="horz" wrap="square"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0" u="none">
                <a:solidFill>
                  <a:schemeClr val="tx2"/>
                </a:solidFill>
                <a:latin typeface="+mj-lt"/>
                <a:cs typeface="Arial" panose="020B0604020202020204" pitchFamily="34" charset="0"/>
              </a:rPr>
              <a:t>Section Title (DO NOT DELETE)</a:t>
            </a:r>
          </a:p>
        </p:txBody>
      </p:sp>
      <p:sp>
        <p:nvSpPr>
          <p:cNvPr id="18" name="Rectangle 17">
            <a:extLst>
              <a:ext uri="{FF2B5EF4-FFF2-40B4-BE49-F238E27FC236}">
                <a16:creationId xmlns:a16="http://schemas.microsoft.com/office/drawing/2014/main" id="{36B54791-C9F3-74B1-5C2D-7DEAE926CCEF}"/>
              </a:ext>
            </a:extLst>
          </p:cNvPr>
          <p:cNvSpPr/>
          <p:nvPr userDrawn="1">
            <p:custDataLst>
              <p:tags r:id="rId12"/>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1600">
              <a:solidFill>
                <a:schemeClr val="bg1"/>
              </a:solidFill>
            </a:endParaRPr>
          </a:p>
        </p:txBody>
      </p:sp>
    </p:spTree>
    <p:extLst>
      <p:ext uri="{BB962C8B-B14F-4D97-AF65-F5344CB8AC3E}">
        <p14:creationId xmlns:p14="http://schemas.microsoft.com/office/powerpoint/2010/main" val="2668854514"/>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ection Divider Storage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239EA8E-438B-268D-C2D0-41582ABDF852}"/>
              </a:ext>
            </a:extLst>
          </p:cNvPr>
          <p:cNvSpPr>
            <a:spLocks noChangeAspect="1"/>
          </p:cNvSpPr>
          <p:nvPr userDrawn="1"/>
        </p:nvSpPr>
        <p:spPr>
          <a:xfrm>
            <a:off x="998476" y="1330325"/>
            <a:ext cx="10202924" cy="45466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7" name="section title">
            <a:hlinkClick r:id="" action="ppaction://noaction"/>
            <a:extLst>
              <a:ext uri="{FF2B5EF4-FFF2-40B4-BE49-F238E27FC236}">
                <a16:creationId xmlns:a16="http://schemas.microsoft.com/office/drawing/2014/main" id="{6CE66D06-AAD4-3162-968D-96422DD5983D}"/>
              </a:ext>
            </a:extLst>
          </p:cNvPr>
          <p:cNvSpPr txBox="1">
            <a:spLocks/>
          </p:cNvSpPr>
          <p:nvPr userDrawn="1">
            <p:custDataLst>
              <p:tags r:id="rId1"/>
            </p:custDataLst>
          </p:nvPr>
        </p:nvSpPr>
        <p:spPr>
          <a:xfrm>
            <a:off x="1289860" y="3617406"/>
            <a:ext cx="9747504" cy="0"/>
          </a:xfrm>
          <a:prstGeom prst="rect">
            <a:avLst/>
          </a:prstGeom>
          <a:noFill/>
        </p:spPr>
        <p:txBody>
          <a:bodyPr vert="horz" wrap="square" lIns="0" tIns="0" rIns="0" bIns="2286000" rtlCol="0">
            <a:noAutofit/>
          </a:bodyPr>
          <a:lstStyle/>
          <a:p>
            <a:pPr>
              <a:lnSpc>
                <a:spcPct val="70000"/>
              </a:lnSpc>
            </a:pPr>
            <a:r>
              <a:rPr lang="en-US" sz="6600">
                <a:solidFill>
                  <a:srgbClr val="FFFFFF"/>
                </a:solidFill>
                <a:latin typeface="+mj-lt"/>
              </a:rPr>
              <a:t>Section title</a:t>
            </a:r>
          </a:p>
        </p:txBody>
      </p:sp>
      <p:sp>
        <p:nvSpPr>
          <p:cNvPr id="13" name="ZoneTexte 19">
            <a:extLst>
              <a:ext uri="{FF2B5EF4-FFF2-40B4-BE49-F238E27FC236}">
                <a16:creationId xmlns:a16="http://schemas.microsoft.com/office/drawing/2014/main" id="{E1EB7D89-468C-377D-8E01-E8D8EE6FCEDA}"/>
              </a:ext>
            </a:extLst>
          </p:cNvPr>
          <p:cNvSpPr txBox="1">
            <a:spLocks/>
          </p:cNvSpPr>
          <p:nvPr userDrawn="1">
            <p:custDataLst>
              <p:tags r:id="rId2"/>
            </p:custDataLst>
          </p:nvPr>
        </p:nvSpPr>
        <p:spPr>
          <a:xfrm>
            <a:off x="1174065" y="5027889"/>
            <a:ext cx="9892129" cy="356616"/>
          </a:xfrm>
          <a:prstGeom prst="rect">
            <a:avLst/>
          </a:prstGeom>
          <a:noFill/>
        </p:spPr>
        <p:txBody>
          <a:bodyPr vert="horz" wrap="square" lIns="0" tIns="0" rIns="0" bIns="0" rtlCol="0" anchor="t" anchorCtr="0">
            <a:noAutofit/>
          </a:bodyPr>
          <a:lstStyle/>
          <a:p>
            <a:r>
              <a:rPr lang="fr-FR" sz="1200" i="0">
                <a:solidFill>
                  <a:schemeClr val="bg1"/>
                </a:solidFill>
                <a:latin typeface="Arial" panose="020B0604020202020204" pitchFamily="34" charset="0"/>
              </a:rPr>
              <a:t>A</a:t>
            </a:r>
          </a:p>
        </p:txBody>
      </p:sp>
      <p:sp>
        <p:nvSpPr>
          <p:cNvPr id="14" name="slide page number">
            <a:extLst>
              <a:ext uri="{FF2B5EF4-FFF2-40B4-BE49-F238E27FC236}">
                <a16:creationId xmlns:a16="http://schemas.microsoft.com/office/drawing/2014/main" id="{0EE227B2-BC76-59B8-60FA-57F408CD615B}"/>
              </a:ext>
            </a:extLst>
          </p:cNvPr>
          <p:cNvSpPr txBox="1">
            <a:spLocks/>
          </p:cNvSpPr>
          <p:nvPr userDrawn="1">
            <p:custDataLst>
              <p:tags r:id="rId3"/>
            </p:custDataLst>
          </p:nvPr>
        </p:nvSpPr>
        <p:spPr>
          <a:xfrm>
            <a:off x="10188234" y="5027889"/>
            <a:ext cx="182880" cy="356616"/>
          </a:xfrm>
          <a:prstGeom prst="rect">
            <a:avLst/>
          </a:prstGeom>
          <a:noFill/>
        </p:spPr>
        <p:txBody>
          <a:bodyPr vert="horz" wrap="square" lIns="0" tIns="0" rIns="0" bIns="0" rtlCol="0" anchor="t" anchorCtr="0">
            <a:noAutofit/>
          </a:bodyPr>
          <a:lstStyle/>
          <a:p>
            <a:pPr algn="ctr"/>
            <a:r>
              <a:rPr lang="fr-FR" sz="1400" i="0">
                <a:solidFill>
                  <a:schemeClr val="bg1"/>
                </a:solidFill>
                <a:latin typeface="+mn-lt"/>
              </a:rPr>
              <a:t>1</a:t>
            </a:r>
          </a:p>
        </p:txBody>
      </p:sp>
      <p:sp>
        <p:nvSpPr>
          <p:cNvPr id="15" name="ZONE?">
            <a:extLst>
              <a:ext uri="{FF2B5EF4-FFF2-40B4-BE49-F238E27FC236}">
                <a16:creationId xmlns:a16="http://schemas.microsoft.com/office/drawing/2014/main" id="{D9F1535F-6DC3-F59D-5DE4-C9748B195A7A}"/>
              </a:ext>
            </a:extLst>
          </p:cNvPr>
          <p:cNvSpPr>
            <a:spLocks/>
          </p:cNvSpPr>
          <p:nvPr userDrawn="1">
            <p:custDataLst>
              <p:tags r:id="rId4"/>
            </p:custDataLst>
          </p:nvPr>
        </p:nvSpPr>
        <p:spPr>
          <a:xfrm>
            <a:off x="1125801" y="3566606"/>
            <a:ext cx="6339869" cy="214308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16" name="subsection number">
            <a:extLst>
              <a:ext uri="{FF2B5EF4-FFF2-40B4-BE49-F238E27FC236}">
                <a16:creationId xmlns:a16="http://schemas.microsoft.com/office/drawing/2014/main" id="{E9ECBCC0-9069-D5A3-766B-8EBF1EA207CC}"/>
              </a:ext>
            </a:extLst>
          </p:cNvPr>
          <p:cNvSpPr txBox="1">
            <a:spLocks noChangeArrowheads="1"/>
          </p:cNvSpPr>
          <p:nvPr userDrawn="1">
            <p:custDataLst>
              <p:tags r:id="rId5"/>
            </p:custDataLst>
          </p:nvPr>
        </p:nvSpPr>
        <p:spPr bwMode="auto">
          <a:xfrm>
            <a:off x="1332373" y="3594256"/>
            <a:ext cx="201168" cy="356616"/>
          </a:xfrm>
          <a:prstGeom prst="rect">
            <a:avLst/>
          </a:prstGeom>
          <a:noFill/>
          <a:ln w="9525">
            <a:noFill/>
            <a:miter lim="800000"/>
            <a:headEnd/>
            <a:tailEnd/>
          </a:ln>
        </p:spPr>
        <p:txBody>
          <a:bodyPr wrap="none" lIns="0" tIns="0" rIns="274320" bIns="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70000"/>
              </a:lnSpc>
            </a:pPr>
            <a:r>
              <a:rPr lang="fr-FR" sz="2400">
                <a:solidFill>
                  <a:schemeClr val="bg1"/>
                </a:solidFill>
                <a:latin typeface="+mj-lt"/>
              </a:rPr>
              <a:t>1.1</a:t>
            </a:r>
          </a:p>
        </p:txBody>
      </p:sp>
      <p:sp>
        <p:nvSpPr>
          <p:cNvPr id="18" name="subsection title">
            <a:hlinkClick r:id="" action="ppaction://noaction"/>
            <a:extLst>
              <a:ext uri="{FF2B5EF4-FFF2-40B4-BE49-F238E27FC236}">
                <a16:creationId xmlns:a16="http://schemas.microsoft.com/office/drawing/2014/main" id="{67ADA6D5-A44C-6AD3-5EE0-73DCA81FB516}"/>
              </a:ext>
            </a:extLst>
          </p:cNvPr>
          <p:cNvSpPr txBox="1">
            <a:spLocks/>
          </p:cNvSpPr>
          <p:nvPr userDrawn="1">
            <p:custDataLst>
              <p:tags r:id="rId6"/>
            </p:custDataLst>
          </p:nvPr>
        </p:nvSpPr>
        <p:spPr>
          <a:xfrm>
            <a:off x="1714809" y="3594256"/>
            <a:ext cx="2504494" cy="356616"/>
          </a:xfrm>
          <a:prstGeom prst="rect">
            <a:avLst/>
          </a:prstGeom>
          <a:noFill/>
        </p:spPr>
        <p:txBody>
          <a:bodyPr vert="horz" wrap="square" lIns="0" tIns="0" rIns="0" bIns="0" rtlCol="0" anchor="t" anchorCtr="0">
            <a:noAutofit/>
          </a:bodyPr>
          <a:lstStyle/>
          <a:p>
            <a:pPr marL="0" indent="0">
              <a:buFont typeface="Arial" panose="020B0604020202020204" pitchFamily="34" charset="0"/>
              <a:buNone/>
            </a:pPr>
            <a:r>
              <a:rPr lang="en-US" sz="1600">
                <a:solidFill>
                  <a:srgbClr val="FFFFFF"/>
                </a:solidFill>
                <a:effectLst/>
                <a:latin typeface="+mn-lt"/>
              </a:rPr>
              <a:t>Subsection Title</a:t>
            </a:r>
          </a:p>
        </p:txBody>
      </p:sp>
      <p:sp>
        <p:nvSpPr>
          <p:cNvPr id="19" name="???">
            <a:hlinkClick r:id="" action="ppaction://noaction"/>
            <a:extLst>
              <a:ext uri="{FF2B5EF4-FFF2-40B4-BE49-F238E27FC236}">
                <a16:creationId xmlns:a16="http://schemas.microsoft.com/office/drawing/2014/main" id="{6EA31614-8248-54E2-75F7-BCE99EDBDAC1}"/>
              </a:ext>
            </a:extLst>
          </p:cNvPr>
          <p:cNvSpPr txBox="1">
            <a:spLocks/>
          </p:cNvSpPr>
          <p:nvPr userDrawn="1">
            <p:custDataLst>
              <p:tags r:id="rId7"/>
            </p:custDataLst>
          </p:nvPr>
        </p:nvSpPr>
        <p:spPr>
          <a:xfrm>
            <a:off x="10931809" y="3594256"/>
            <a:ext cx="0" cy="356616"/>
          </a:xfrm>
          <a:prstGeom prst="rect">
            <a:avLst/>
          </a:prstGeom>
          <a:noFill/>
          <a:ln>
            <a:noFill/>
          </a:ln>
        </p:spPr>
        <p:txBody>
          <a:bodyPr vert="horz" wrap="none" lIns="0" tIns="0" rIns="0" bIns="0" rtlCol="0" anchor="t" anchorCtr="0">
            <a:noAutofit/>
          </a:bodyPr>
          <a:lstStyle/>
          <a:p>
            <a:pPr algn="ctr"/>
            <a:r>
              <a:rPr lang="fr-FR" sz="100">
                <a:ln>
                  <a:noFill/>
                </a:ln>
                <a:noFill/>
                <a:latin typeface="+mj-lt"/>
              </a:rPr>
              <a:t>4</a:t>
            </a:r>
          </a:p>
        </p:txBody>
      </p:sp>
      <p:sp>
        <p:nvSpPr>
          <p:cNvPr id="20" name="subsection page number">
            <a:hlinkClick r:id="" action="ppaction://noaction"/>
            <a:extLst>
              <a:ext uri="{FF2B5EF4-FFF2-40B4-BE49-F238E27FC236}">
                <a16:creationId xmlns:a16="http://schemas.microsoft.com/office/drawing/2014/main" id="{FF1A2828-1104-A597-003B-DABE01462957}"/>
              </a:ext>
            </a:extLst>
          </p:cNvPr>
          <p:cNvSpPr txBox="1">
            <a:spLocks/>
          </p:cNvSpPr>
          <p:nvPr userDrawn="1">
            <p:custDataLst>
              <p:tags r:id="rId8"/>
            </p:custDataLst>
          </p:nvPr>
        </p:nvSpPr>
        <p:spPr>
          <a:xfrm>
            <a:off x="7428269" y="3594256"/>
            <a:ext cx="0" cy="356616"/>
          </a:xfrm>
          <a:prstGeom prst="rect">
            <a:avLst/>
          </a:prstGeom>
          <a:noFill/>
        </p:spPr>
        <p:txBody>
          <a:bodyPr vert="horz" wrap="square" lIns="1005840" tIns="0" rIns="1097280" bIns="0" rtlCol="0" anchor="t" anchorCtr="0">
            <a:noAutofit/>
          </a:bodyPr>
          <a:lstStyle/>
          <a:p>
            <a:pPr marL="0" indent="0" algn="r">
              <a:buFont typeface="Arial" panose="020B0604020202020204" pitchFamily="34" charset="0"/>
              <a:buNone/>
            </a:pPr>
            <a:r>
              <a:rPr lang="fr-FR" sz="1400">
                <a:solidFill>
                  <a:srgbClr val="FFFFFF"/>
                </a:solidFill>
                <a:effectLst/>
                <a:latin typeface="+mn-lt"/>
              </a:rPr>
              <a:t>5</a:t>
            </a:r>
          </a:p>
        </p:txBody>
      </p:sp>
      <p:sp>
        <p:nvSpPr>
          <p:cNvPr id="23" name="section number">
            <a:extLst>
              <a:ext uri="{FF2B5EF4-FFF2-40B4-BE49-F238E27FC236}">
                <a16:creationId xmlns:a16="http://schemas.microsoft.com/office/drawing/2014/main" id="{57EC5908-94D7-C379-C9C3-7740D7A96534}"/>
              </a:ext>
            </a:extLst>
          </p:cNvPr>
          <p:cNvSpPr txBox="1">
            <a:spLocks/>
          </p:cNvSpPr>
          <p:nvPr userDrawn="1">
            <p:custDataLst>
              <p:tags r:id="rId9"/>
            </p:custDataLst>
          </p:nvPr>
        </p:nvSpPr>
        <p:spPr>
          <a:xfrm>
            <a:off x="1289304" y="3617406"/>
            <a:ext cx="3952700" cy="0"/>
          </a:xfrm>
          <a:prstGeom prst="rect">
            <a:avLst/>
          </a:prstGeom>
        </p:spPr>
        <p:txBody>
          <a:bodyPr vert="horz" wrap="square" lIns="0" tIns="0" rIns="0" bIns="4389120" rtlCol="0" anchor="t" anchorCtr="0">
            <a:noAutofit/>
          </a:bodyPr>
          <a:lstStyle/>
          <a:p>
            <a:pPr algn="l">
              <a:lnSpc>
                <a:spcPct val="80000"/>
              </a:lnSpc>
              <a:spcAft>
                <a:spcPts val="600"/>
              </a:spcAft>
            </a:pPr>
            <a:r>
              <a:rPr lang="en-GB" sz="6600" b="1">
                <a:solidFill>
                  <a:srgbClr val="FFFFFF"/>
                </a:solidFill>
                <a:latin typeface="+mj-lt"/>
              </a:rPr>
              <a:t>01</a:t>
            </a:r>
          </a:p>
        </p:txBody>
      </p:sp>
      <p:sp>
        <p:nvSpPr>
          <p:cNvPr id="3" name="Rectangle 2">
            <a:extLst>
              <a:ext uri="{FF2B5EF4-FFF2-40B4-BE49-F238E27FC236}">
                <a16:creationId xmlns:a16="http://schemas.microsoft.com/office/drawing/2014/main" id="{F95C381F-5A08-9BD3-A01C-77E91DEBFF77}"/>
              </a:ext>
            </a:extLst>
          </p:cNvPr>
          <p:cNvSpPr/>
          <p:nvPr userDrawn="1">
            <p:custDataLst>
              <p:tags r:id="rId10"/>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1600">
              <a:solidFill>
                <a:schemeClr val="bg1"/>
              </a:solidFill>
            </a:endParaRPr>
          </a:p>
        </p:txBody>
      </p:sp>
    </p:spTree>
    <p:extLst>
      <p:ext uri="{BB962C8B-B14F-4D97-AF65-F5344CB8AC3E}">
        <p14:creationId xmlns:p14="http://schemas.microsoft.com/office/powerpoint/2010/main" val="23483091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ubSection Divider Storage Layout">
    <p:spTree>
      <p:nvGrpSpPr>
        <p:cNvPr id="1" name=""/>
        <p:cNvGrpSpPr/>
        <p:nvPr/>
      </p:nvGrpSpPr>
      <p:grpSpPr>
        <a:xfrm>
          <a:off x="0" y="0"/>
          <a:ext cx="0" cy="0"/>
          <a:chOff x="0" y="0"/>
          <a:chExt cx="0" cy="0"/>
        </a:xfrm>
      </p:grpSpPr>
      <p:sp>
        <p:nvSpPr>
          <p:cNvPr id="13" name="TextBox 12">
            <a:hlinkClick r:id="" action="ppaction://noaction"/>
            <a:extLst>
              <a:ext uri="{FF2B5EF4-FFF2-40B4-BE49-F238E27FC236}">
                <a16:creationId xmlns:a16="http://schemas.microsoft.com/office/drawing/2014/main" id="{F20B1033-F813-96CD-F7FB-FCD5B8A85B0C}"/>
              </a:ext>
            </a:extLst>
          </p:cNvPr>
          <p:cNvSpPr txBox="1">
            <a:spLocks/>
          </p:cNvSpPr>
          <p:nvPr userDrawn="1">
            <p:custDataLst>
              <p:tags r:id="rId1"/>
            </p:custDataLst>
          </p:nvPr>
        </p:nvSpPr>
        <p:spPr>
          <a:xfrm>
            <a:off x="998475" y="1773835"/>
            <a:ext cx="18000000" cy="2091155"/>
          </a:xfrm>
          <a:prstGeom prst="rect">
            <a:avLst/>
          </a:prstGeom>
          <a:noFill/>
        </p:spPr>
        <p:txBody>
          <a:bodyPr vert="horz" wrap="square" lIns="0" tIns="0" rIns="0" bIns="0" rtlCol="0" anchor="t" anchorCtr="0">
            <a:noAutofit/>
          </a:bodyPr>
          <a:lstStyle>
            <a:defPPr>
              <a:defRPr lang="en-US"/>
            </a:defPPr>
            <a:lvl1pPr>
              <a:lnSpc>
                <a:spcPct val="70000"/>
              </a:lnSpc>
              <a:defRPr sz="11000">
                <a:solidFill>
                  <a:srgbClr val="FFFFFF"/>
                </a:solidFill>
                <a:latin typeface="+mj-lt"/>
              </a:defRPr>
            </a:lvl1pPr>
          </a:lstStyle>
          <a:p>
            <a:pPr lvl="0">
              <a:lnSpc>
                <a:spcPct val="70000"/>
              </a:lnSpc>
            </a:pPr>
            <a:r>
              <a:rPr lang="fr-FR" sz="8000">
                <a:solidFill>
                  <a:srgbClr val="FFFFFF"/>
                </a:solidFill>
                <a:latin typeface="+mj-lt"/>
              </a:rPr>
              <a:t>A</a:t>
            </a:r>
          </a:p>
          <a:p>
            <a:pPr lvl="0">
              <a:lnSpc>
                <a:spcPct val="70000"/>
              </a:lnSpc>
            </a:pPr>
            <a:endParaRPr lang="fr-FR" sz="8000">
              <a:solidFill>
                <a:srgbClr val="FFFFFF"/>
              </a:solidFill>
              <a:latin typeface="+mj-lt"/>
            </a:endParaRPr>
          </a:p>
        </p:txBody>
      </p:sp>
      <p:sp>
        <p:nvSpPr>
          <p:cNvPr id="14" name="TextBox 13">
            <a:hlinkClick r:id="" action="ppaction://noaction"/>
            <a:extLst>
              <a:ext uri="{FF2B5EF4-FFF2-40B4-BE49-F238E27FC236}">
                <a16:creationId xmlns:a16="http://schemas.microsoft.com/office/drawing/2014/main" id="{36F5CEAB-E720-BBEC-C914-44361C9BCF78}"/>
              </a:ext>
            </a:extLst>
          </p:cNvPr>
          <p:cNvSpPr txBox="1"/>
          <p:nvPr userDrawn="1">
            <p:custDataLst>
              <p:tags r:id="rId2"/>
            </p:custDataLst>
          </p:nvPr>
        </p:nvSpPr>
        <p:spPr>
          <a:xfrm>
            <a:off x="2215200" y="3897390"/>
            <a:ext cx="7101897" cy="2518589"/>
          </a:xfrm>
          <a:prstGeom prst="rect">
            <a:avLst/>
          </a:prstGeom>
          <a:noFill/>
        </p:spPr>
        <p:txBody>
          <a:bodyPr vert="horz" wrap="square" lIns="0" tIns="0" rIns="0" bIns="0" rtlCol="0">
            <a:noAutofit/>
          </a:bodyPr>
          <a:lstStyle/>
          <a:p>
            <a:pPr>
              <a:lnSpc>
                <a:spcPct val="70000"/>
              </a:lnSpc>
            </a:pPr>
            <a:r>
              <a:rPr lang="fr-FR" sz="11000">
                <a:solidFill>
                  <a:srgbClr val="FFFFFF"/>
                </a:solidFill>
                <a:latin typeface="+mj-lt"/>
              </a:rPr>
              <a:t>A</a:t>
            </a:r>
          </a:p>
        </p:txBody>
      </p:sp>
      <p:sp>
        <p:nvSpPr>
          <p:cNvPr id="15" name="ZoneTexte 13">
            <a:extLst>
              <a:ext uri="{FF2B5EF4-FFF2-40B4-BE49-F238E27FC236}">
                <a16:creationId xmlns:a16="http://schemas.microsoft.com/office/drawing/2014/main" id="{7BA5E11A-BE89-AA3A-2627-FE8E539C686A}"/>
              </a:ext>
            </a:extLst>
          </p:cNvPr>
          <p:cNvSpPr txBox="1">
            <a:spLocks/>
          </p:cNvSpPr>
          <p:nvPr userDrawn="1">
            <p:custDataLst>
              <p:tags r:id="rId3"/>
            </p:custDataLst>
          </p:nvPr>
        </p:nvSpPr>
        <p:spPr>
          <a:xfrm>
            <a:off x="998476" y="3681056"/>
            <a:ext cx="6336000" cy="252000"/>
          </a:xfrm>
          <a:prstGeom prst="rect">
            <a:avLst/>
          </a:prstGeom>
          <a:noFill/>
        </p:spPr>
        <p:txBody>
          <a:bodyPr wrap="square" lIns="0" tIns="0" rIns="0" bIns="0" rtlCol="0" anchor="t">
            <a:noAutofit/>
          </a:bodyPr>
          <a:lstStyle/>
          <a:p>
            <a:pPr marL="288000" indent="-288000">
              <a:buFont typeface="Arial" panose="020B0604020202020204" pitchFamily="34" charset="0"/>
              <a:buChar char="—"/>
            </a:pPr>
            <a:r>
              <a:rPr lang="fr-FR" sz="1200" i="0">
                <a:solidFill>
                  <a:schemeClr val="bg1"/>
                </a:solidFill>
                <a:latin typeface="Arial" panose="020B0604020202020204" pitchFamily="34" charset="0"/>
              </a:rPr>
              <a:t>A</a:t>
            </a:r>
          </a:p>
        </p:txBody>
      </p:sp>
      <p:sp>
        <p:nvSpPr>
          <p:cNvPr id="16" name="ZoneTexte 14">
            <a:extLst>
              <a:ext uri="{FF2B5EF4-FFF2-40B4-BE49-F238E27FC236}">
                <a16:creationId xmlns:a16="http://schemas.microsoft.com/office/drawing/2014/main" id="{F3F48908-7208-D7D0-AF66-F25A115837F1}"/>
              </a:ext>
            </a:extLst>
          </p:cNvPr>
          <p:cNvSpPr txBox="1">
            <a:spLocks/>
          </p:cNvSpPr>
          <p:nvPr userDrawn="1">
            <p:custDataLst>
              <p:tags r:id="rId4"/>
            </p:custDataLst>
          </p:nvPr>
        </p:nvSpPr>
        <p:spPr>
          <a:xfrm>
            <a:off x="8499630" y="3828990"/>
            <a:ext cx="276038" cy="252000"/>
          </a:xfrm>
          <a:prstGeom prst="rect">
            <a:avLst/>
          </a:prstGeom>
          <a:noFill/>
        </p:spPr>
        <p:txBody>
          <a:bodyPr wrap="square" lIns="0" tIns="0" rIns="0" bIns="0" rtlCol="0" anchor="t" anchorCtr="0">
            <a:noAutofit/>
          </a:bodyPr>
          <a:lstStyle/>
          <a:p>
            <a:pPr algn="r"/>
            <a:r>
              <a:rPr lang="fr-FR" sz="1200" i="0">
                <a:noFill/>
                <a:latin typeface="Arial" panose="020B0604020202020204" pitchFamily="34" charset="0"/>
              </a:rPr>
              <a:t>1</a:t>
            </a:r>
          </a:p>
        </p:txBody>
      </p:sp>
      <p:sp>
        <p:nvSpPr>
          <p:cNvPr id="17" name="Rectangle 16">
            <a:extLst>
              <a:ext uri="{FF2B5EF4-FFF2-40B4-BE49-F238E27FC236}">
                <a16:creationId xmlns:a16="http://schemas.microsoft.com/office/drawing/2014/main" id="{EF612CFF-5EEB-A289-6BF6-5C7ED46C342F}"/>
              </a:ext>
            </a:extLst>
          </p:cNvPr>
          <p:cNvSpPr>
            <a:spLocks/>
          </p:cNvSpPr>
          <p:nvPr userDrawn="1">
            <p:custDataLst>
              <p:tags r:id="rId5"/>
            </p:custDataLst>
          </p:nvPr>
        </p:nvSpPr>
        <p:spPr>
          <a:xfrm>
            <a:off x="2064470" y="1773835"/>
            <a:ext cx="7324627" cy="44667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18" name="TextBox 17">
            <a:hlinkClick r:id="" action="ppaction://noaction"/>
            <a:extLst>
              <a:ext uri="{FF2B5EF4-FFF2-40B4-BE49-F238E27FC236}">
                <a16:creationId xmlns:a16="http://schemas.microsoft.com/office/drawing/2014/main" id="{A43B6DA0-4C35-656A-A587-6C71098827A1}"/>
              </a:ext>
            </a:extLst>
          </p:cNvPr>
          <p:cNvSpPr txBox="1"/>
          <p:nvPr userDrawn="1">
            <p:custDataLst>
              <p:tags r:id="rId6"/>
            </p:custDataLst>
          </p:nvPr>
        </p:nvSpPr>
        <p:spPr bwMode="auto">
          <a:xfrm>
            <a:off x="2064469" y="1346401"/>
            <a:ext cx="36000" cy="36000"/>
          </a:xfrm>
          <a:prstGeom prst="rect">
            <a:avLst/>
          </a:prstGeom>
          <a:noFill/>
          <a:ln w="9525">
            <a:noFill/>
            <a:miter lim="800000"/>
            <a:headEnd/>
            <a:tailEnd/>
          </a:ln>
        </p:spPr>
        <p:txBody>
          <a:bodyPr vert="horz" wrap="none" rtlCol="0" anchor="t" anchorCtr="0">
            <a:noAutofit/>
          </a:bodyPr>
          <a:lstStyle/>
          <a:p>
            <a:r>
              <a:rPr lang="fr-FR" sz="100">
                <a:noFill/>
                <a:latin typeface="+mj-lt"/>
              </a:rPr>
              <a:t>1</a:t>
            </a:r>
          </a:p>
        </p:txBody>
      </p:sp>
      <p:sp>
        <p:nvSpPr>
          <p:cNvPr id="19" name="TextBox 18">
            <a:hlinkClick r:id="" action="ppaction://noaction"/>
            <a:extLst>
              <a:ext uri="{FF2B5EF4-FFF2-40B4-BE49-F238E27FC236}">
                <a16:creationId xmlns:a16="http://schemas.microsoft.com/office/drawing/2014/main" id="{8CB5EC06-318A-B278-374B-89B28B0F27A0}"/>
              </a:ext>
            </a:extLst>
          </p:cNvPr>
          <p:cNvSpPr txBox="1"/>
          <p:nvPr userDrawn="1">
            <p:custDataLst>
              <p:tags r:id="rId7"/>
            </p:custDataLst>
          </p:nvPr>
        </p:nvSpPr>
        <p:spPr>
          <a:xfrm>
            <a:off x="9041059" y="3828990"/>
            <a:ext cx="0" cy="0"/>
          </a:xfrm>
          <a:prstGeom prst="rect">
            <a:avLst/>
          </a:prstGeom>
          <a:noFill/>
        </p:spPr>
        <p:txBody>
          <a:bodyPr vert="horz" wrap="none" lIns="0" tIns="0" rIns="0" bIns="0" rtlCol="0" anchor="ctr" anchorCtr="0">
            <a:noAutofit/>
          </a:bodyPr>
          <a:lstStyle/>
          <a:p>
            <a:pPr algn="ctr"/>
            <a:r>
              <a:rPr lang="fr-FR" sz="100">
                <a:noFill/>
                <a:latin typeface="+mj-lt"/>
              </a:rPr>
              <a:t>5</a:t>
            </a:r>
          </a:p>
        </p:txBody>
      </p:sp>
      <p:sp>
        <p:nvSpPr>
          <p:cNvPr id="20" name="TextBox 19">
            <a:hlinkClick r:id="" action="ppaction://noaction"/>
            <a:extLst>
              <a:ext uri="{FF2B5EF4-FFF2-40B4-BE49-F238E27FC236}">
                <a16:creationId xmlns:a16="http://schemas.microsoft.com/office/drawing/2014/main" id="{ACB70012-30E3-E56E-96C5-A825D1E0F9B5}"/>
              </a:ext>
            </a:extLst>
          </p:cNvPr>
          <p:cNvSpPr txBox="1"/>
          <p:nvPr userDrawn="1">
            <p:custDataLst>
              <p:tags r:id="rId8"/>
            </p:custDataLst>
          </p:nvPr>
        </p:nvSpPr>
        <p:spPr>
          <a:xfrm>
            <a:off x="9041059" y="3879390"/>
            <a:ext cx="0" cy="0"/>
          </a:xfrm>
          <a:prstGeom prst="rect">
            <a:avLst/>
          </a:prstGeom>
          <a:noFill/>
        </p:spPr>
        <p:txBody>
          <a:bodyPr vert="horz" wrap="none" lIns="0" tIns="0" rIns="0" bIns="0" rtlCol="0" anchor="t" anchorCtr="0">
            <a:noAutofit/>
          </a:bodyPr>
          <a:lstStyle/>
          <a:p>
            <a:pPr algn="r"/>
            <a:r>
              <a:rPr lang="fr-FR" sz="100">
                <a:noFill/>
                <a:latin typeface="+mj-lt"/>
              </a:rPr>
              <a:t>6</a:t>
            </a:r>
          </a:p>
        </p:txBody>
      </p:sp>
      <p:sp>
        <p:nvSpPr>
          <p:cNvPr id="30" name="TextBox 29">
            <a:hlinkClick r:id="" action="ppaction://noaction"/>
            <a:extLst>
              <a:ext uri="{FF2B5EF4-FFF2-40B4-BE49-F238E27FC236}">
                <a16:creationId xmlns:a16="http://schemas.microsoft.com/office/drawing/2014/main" id="{935C8FF7-CE79-45E7-6189-593D5B9DC5D9}"/>
              </a:ext>
            </a:extLst>
          </p:cNvPr>
          <p:cNvSpPr txBox="1"/>
          <p:nvPr userDrawn="1">
            <p:custDataLst>
              <p:tags r:id="rId9"/>
            </p:custDataLst>
          </p:nvPr>
        </p:nvSpPr>
        <p:spPr bwMode="auto">
          <a:xfrm>
            <a:off x="2064469" y="3879390"/>
            <a:ext cx="36000" cy="36000"/>
          </a:xfrm>
          <a:prstGeom prst="rect">
            <a:avLst/>
          </a:prstGeom>
          <a:noFill/>
          <a:ln w="9525">
            <a:noFill/>
            <a:miter lim="800000"/>
            <a:headEnd/>
            <a:tailEnd/>
          </a:ln>
        </p:spPr>
        <p:txBody>
          <a:bodyPr vert="horz" wrap="square" lIns="0" tIns="0" rIns="0" bIns="0" rtlCol="0" anchor="t" anchorCtr="0">
            <a:noAutofit/>
          </a:bodyPr>
          <a:lstStyle/>
          <a:p>
            <a:r>
              <a:rPr lang="fr-FR" sz="100">
                <a:noFill/>
              </a:rPr>
              <a:t>1.1</a:t>
            </a:r>
          </a:p>
        </p:txBody>
      </p:sp>
      <p:pic>
        <p:nvPicPr>
          <p:cNvPr id="33" name="Graphic 32">
            <a:extLst>
              <a:ext uri="{FF2B5EF4-FFF2-40B4-BE49-F238E27FC236}">
                <a16:creationId xmlns:a16="http://schemas.microsoft.com/office/drawing/2014/main" id="{11B2BC30-6126-B4D0-B0D9-C18D8A253356}"/>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998476" y="371311"/>
            <a:ext cx="914400" cy="368346"/>
          </a:xfrm>
          <a:prstGeom prst="rect">
            <a:avLst/>
          </a:prstGeom>
        </p:spPr>
      </p:pic>
      <p:sp>
        <p:nvSpPr>
          <p:cNvPr id="3" name="Rectangle 2">
            <a:extLst>
              <a:ext uri="{FF2B5EF4-FFF2-40B4-BE49-F238E27FC236}">
                <a16:creationId xmlns:a16="http://schemas.microsoft.com/office/drawing/2014/main" id="{86C323C8-BB49-C97D-1D90-7811DEBDF395}"/>
              </a:ext>
            </a:extLst>
          </p:cNvPr>
          <p:cNvSpPr/>
          <p:nvPr userDrawn="1">
            <p:custDataLst>
              <p:tags r:id="rId10"/>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1600">
              <a:solidFill>
                <a:schemeClr val="bg1"/>
              </a:solidFill>
            </a:endParaRPr>
          </a:p>
        </p:txBody>
      </p:sp>
    </p:spTree>
    <p:extLst>
      <p:ext uri="{BB962C8B-B14F-4D97-AF65-F5344CB8AC3E}">
        <p14:creationId xmlns:p14="http://schemas.microsoft.com/office/powerpoint/2010/main" val="259874166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Reminder shapes Storage Layout">
    <p:spTree>
      <p:nvGrpSpPr>
        <p:cNvPr id="1" name=""/>
        <p:cNvGrpSpPr/>
        <p:nvPr/>
      </p:nvGrpSpPr>
      <p:grpSpPr>
        <a:xfrm>
          <a:off x="0" y="0"/>
          <a:ext cx="0" cy="0"/>
          <a:chOff x="0" y="0"/>
          <a:chExt cx="0" cy="0"/>
        </a:xfrm>
      </p:grpSpPr>
      <p:sp>
        <p:nvSpPr>
          <p:cNvPr id="4" name="ZoneTexte 11">
            <a:extLst>
              <a:ext uri="{FF2B5EF4-FFF2-40B4-BE49-F238E27FC236}">
                <a16:creationId xmlns:a16="http://schemas.microsoft.com/office/drawing/2014/main" id="{BB3DBFF2-8D2F-D1D7-4EF7-AF89F9F5CE81}"/>
              </a:ext>
            </a:extLst>
          </p:cNvPr>
          <p:cNvSpPr txBox="1">
            <a:spLocks/>
          </p:cNvSpPr>
          <p:nvPr userDrawn="1">
            <p:custDataLst>
              <p:tags r:id="rId1"/>
            </p:custDataLst>
          </p:nvPr>
        </p:nvSpPr>
        <p:spPr>
          <a:xfrm>
            <a:off x="995364" y="188640"/>
            <a:ext cx="10204450"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fr-FR" sz="1200" b="1">
                <a:solidFill>
                  <a:schemeClr val="tx2"/>
                </a:solidFill>
              </a:rPr>
              <a:t>&lt;%SECTIONNAME%&gt;&lt;%SPACEIFINSUBSEC%&gt;&lt;%TIRETIFINSUBSEC%&gt;&lt;%SPACEIFINSUBSEC%&gt;&lt;%SUBSECTIONNAME%&gt;</a:t>
            </a:r>
            <a:endParaRPr lang="en-GB" sz="1200" b="1">
              <a:solidFill>
                <a:schemeClr val="tx2"/>
              </a:solidFill>
            </a:endParaRPr>
          </a:p>
        </p:txBody>
      </p:sp>
      <p:sp>
        <p:nvSpPr>
          <p:cNvPr id="3" name="Rectangle 2">
            <a:extLst>
              <a:ext uri="{FF2B5EF4-FFF2-40B4-BE49-F238E27FC236}">
                <a16:creationId xmlns:a16="http://schemas.microsoft.com/office/drawing/2014/main" id="{7453E74B-B48B-E1EB-E3E0-2BC7C4D66E3E}"/>
              </a:ext>
            </a:extLst>
          </p:cNvPr>
          <p:cNvSpPr/>
          <p:nvPr userDrawn="1">
            <p:custDataLst>
              <p:tags r:id="rId2"/>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1600">
              <a:solidFill>
                <a:schemeClr val="bg1"/>
              </a:solidFill>
            </a:endParaRPr>
          </a:p>
        </p:txBody>
      </p:sp>
    </p:spTree>
    <p:extLst>
      <p:ext uri="{BB962C8B-B14F-4D97-AF65-F5344CB8AC3E}">
        <p14:creationId xmlns:p14="http://schemas.microsoft.com/office/powerpoint/2010/main" val="19999948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UpSlide Breadcrumb">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34BC455-1433-C58D-DD91-76835760EDB7}"/>
              </a:ext>
            </a:extLst>
          </p:cNvPr>
          <p:cNvGrpSpPr/>
          <p:nvPr userDrawn="1"/>
        </p:nvGrpSpPr>
        <p:grpSpPr>
          <a:xfrm>
            <a:off x="712611" y="635732"/>
            <a:ext cx="3126154" cy="1750774"/>
            <a:chOff x="504151" y="381000"/>
            <a:chExt cx="2540000" cy="1750774"/>
          </a:xfrm>
        </p:grpSpPr>
        <p:sp>
          <p:nvSpPr>
            <p:cNvPr id="9" name="TextBox 8">
              <a:extLst>
                <a:ext uri="{FF2B5EF4-FFF2-40B4-BE49-F238E27FC236}">
                  <a16:creationId xmlns:a16="http://schemas.microsoft.com/office/drawing/2014/main" id="{56913A9B-F804-2F35-E8AE-717FC7FB94C9}"/>
                </a:ext>
              </a:extLst>
            </p:cNvPr>
            <p:cNvSpPr txBox="1"/>
            <p:nvPr userDrawn="1"/>
          </p:nvSpPr>
          <p:spPr>
            <a:xfrm>
              <a:off x="504151" y="1270000"/>
              <a:ext cx="2540000" cy="861774"/>
            </a:xfrm>
            <a:prstGeom prst="rect">
              <a:avLst/>
            </a:prstGeom>
            <a:noFill/>
          </p:spPr>
          <p:txBody>
            <a:bodyPr vert="horz" rtlCol="0">
              <a:spAutoFit/>
            </a:bodyPr>
            <a:lstStyle/>
            <a:p>
              <a:r>
                <a:rPr lang="en-US" sz="1000"/>
                <a:t>Edit alt text on the non-current shape for display options.</a:t>
              </a:r>
            </a:p>
            <a:p>
              <a:r>
                <a:rPr lang="en-US" sz="1000" b="1"/>
                <a:t>See </a:t>
              </a:r>
              <a:r>
                <a:rPr lang="en-US" sz="1000" b="1">
                  <a:hlinkClick r:id="rId3"/>
                </a:rPr>
                <a:t>here</a:t>
              </a:r>
              <a:r>
                <a:rPr lang="en-US" sz="1000" b="1"/>
                <a:t> for the options you can apply and other instructions to build a breadcrumb using UpSlide.</a:t>
              </a:r>
              <a:endParaRPr lang="en-SG" sz="1000" b="1"/>
            </a:p>
          </p:txBody>
        </p:sp>
        <p:cxnSp>
          <p:nvCxnSpPr>
            <p:cNvPr id="10" name="Straight Arrow Connector 9">
              <a:extLst>
                <a:ext uri="{FF2B5EF4-FFF2-40B4-BE49-F238E27FC236}">
                  <a16:creationId xmlns:a16="http://schemas.microsoft.com/office/drawing/2014/main" id="{34E7B21E-DFD1-F87D-9F54-2C7B05C30C93}"/>
                </a:ext>
              </a:extLst>
            </p:cNvPr>
            <p:cNvCxnSpPr/>
            <p:nvPr userDrawn="1"/>
          </p:nvCxnSpPr>
          <p:spPr>
            <a:xfrm>
              <a:off x="1016000" y="381000"/>
              <a:ext cx="0" cy="889000"/>
            </a:xfrm>
            <a:prstGeom prst="straightConnector1">
              <a:avLst/>
            </a:prstGeom>
            <a:ln>
              <a:headEnd type="triangle"/>
            </a:ln>
          </p:spPr>
          <p:style>
            <a:lnRef idx="1">
              <a:schemeClr val="accent1"/>
            </a:lnRef>
            <a:fillRef idx="0">
              <a:schemeClr val="accent1"/>
            </a:fillRef>
            <a:effectRef idx="0">
              <a:schemeClr val="accent1"/>
            </a:effectRef>
            <a:fontRef idx="minor">
              <a:schemeClr val="tx1"/>
            </a:fontRef>
          </p:style>
        </p:cxnSp>
      </p:grpSp>
      <p:cxnSp>
        <p:nvCxnSpPr>
          <p:cNvPr id="11" name="Straight Arrow Connector 10">
            <a:extLst>
              <a:ext uri="{FF2B5EF4-FFF2-40B4-BE49-F238E27FC236}">
                <a16:creationId xmlns:a16="http://schemas.microsoft.com/office/drawing/2014/main" id="{BF303829-0945-9D47-C04E-ADBE43696C98}"/>
              </a:ext>
            </a:extLst>
          </p:cNvPr>
          <p:cNvCxnSpPr>
            <a:cxnSpLocks/>
          </p:cNvCxnSpPr>
          <p:nvPr userDrawn="1"/>
        </p:nvCxnSpPr>
        <p:spPr>
          <a:xfrm flipH="1" flipV="1">
            <a:off x="1815635" y="510391"/>
            <a:ext cx="2002223" cy="52934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2D14BFFA-265D-16D0-E3E4-E35FCA558DCB}"/>
              </a:ext>
            </a:extLst>
          </p:cNvPr>
          <p:cNvGrpSpPr/>
          <p:nvPr userDrawn="1"/>
        </p:nvGrpSpPr>
        <p:grpSpPr>
          <a:xfrm>
            <a:off x="289342" y="508732"/>
            <a:ext cx="1140409" cy="807998"/>
            <a:chOff x="0" y="254000"/>
            <a:chExt cx="926582" cy="807998"/>
          </a:xfrm>
        </p:grpSpPr>
        <p:sp>
          <p:nvSpPr>
            <p:cNvPr id="13" name="TextBox 12">
              <a:extLst>
                <a:ext uri="{FF2B5EF4-FFF2-40B4-BE49-F238E27FC236}">
                  <a16:creationId xmlns:a16="http://schemas.microsoft.com/office/drawing/2014/main" id="{37343379-8E0C-CBE0-5A0D-4ADF2281EA91}"/>
                </a:ext>
              </a:extLst>
            </p:cNvPr>
            <p:cNvSpPr txBox="1"/>
            <p:nvPr userDrawn="1"/>
          </p:nvSpPr>
          <p:spPr>
            <a:xfrm>
              <a:off x="0" y="508000"/>
              <a:ext cx="926582" cy="553998"/>
            </a:xfrm>
            <a:prstGeom prst="rect">
              <a:avLst/>
            </a:prstGeom>
            <a:noFill/>
          </p:spPr>
          <p:txBody>
            <a:bodyPr vert="horz" wrap="square" rtlCol="0">
              <a:spAutoFit/>
            </a:bodyPr>
            <a:lstStyle/>
            <a:p>
              <a:r>
                <a:rPr lang="en-SG" sz="1000"/>
                <a:t>First shape </a:t>
              </a:r>
              <a:br>
                <a:rPr lang="en-SG" sz="1000"/>
              </a:br>
              <a:r>
                <a:rPr lang="en-SG" sz="1000"/>
                <a:t>left margin from page</a:t>
              </a:r>
            </a:p>
          </p:txBody>
        </p:sp>
        <p:cxnSp>
          <p:nvCxnSpPr>
            <p:cNvPr id="14" name="Straight Arrow Connector 13">
              <a:extLst>
                <a:ext uri="{FF2B5EF4-FFF2-40B4-BE49-F238E27FC236}">
                  <a16:creationId xmlns:a16="http://schemas.microsoft.com/office/drawing/2014/main" id="{AD1A54CE-B898-FDCB-7BB7-EA78D944330F}"/>
                </a:ext>
              </a:extLst>
            </p:cNvPr>
            <p:cNvCxnSpPr/>
            <p:nvPr userDrawn="1"/>
          </p:nvCxnSpPr>
          <p:spPr>
            <a:xfrm>
              <a:off x="190500" y="254000"/>
              <a:ext cx="0" cy="254000"/>
            </a:xfrm>
            <a:prstGeom prst="straightConnector1">
              <a:avLst/>
            </a:prstGeom>
            <a:ln>
              <a:headEnd type="triangle"/>
            </a:ln>
          </p:spPr>
          <p:style>
            <a:lnRef idx="1">
              <a:schemeClr val="accent1"/>
            </a:lnRef>
            <a:fillRef idx="0">
              <a:schemeClr val="accent1"/>
            </a:fillRef>
            <a:effectRef idx="0">
              <a:schemeClr val="accent1"/>
            </a:effectRef>
            <a:fontRef idx="minor">
              <a:schemeClr val="tx1"/>
            </a:fontRef>
          </p:style>
        </p:cxnSp>
      </p:grpSp>
      <p:sp>
        <p:nvSpPr>
          <p:cNvPr id="7" name="Other Sections" descr="{&#10;  &quot;MinimumUpSlideVersion&quot;: &quot;6.7.4.0&quot;,&#10;  &quot;DisplayMode&quot;: &quot;SectionsOnly&quot;&#10;}">
            <a:extLst>
              <a:ext uri="{FF2B5EF4-FFF2-40B4-BE49-F238E27FC236}">
                <a16:creationId xmlns:a16="http://schemas.microsoft.com/office/drawing/2014/main" id="{8A19844E-D291-CA81-3B22-2B52F21919DA}"/>
              </a:ext>
            </a:extLst>
          </p:cNvPr>
          <p:cNvSpPr>
            <a:spLocks/>
          </p:cNvSpPr>
          <p:nvPr userDrawn="1"/>
        </p:nvSpPr>
        <p:spPr>
          <a:xfrm>
            <a:off x="995364"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p>
            <a:pPr lvl="0"/>
            <a:r>
              <a:rPr lang="en-SG" sz="800">
                <a:solidFill>
                  <a:schemeClr val="bg2">
                    <a:lumMod val="75000"/>
                  </a:schemeClr>
                </a:solidFill>
                <a:latin typeface="Arial" panose="020B0604020202020204" pitchFamily="34" charset="0"/>
                <a:cs typeface="Arial" panose="020B0604020202020204" pitchFamily="34" charset="0"/>
              </a:rPr>
              <a:t>Non-current</a:t>
            </a:r>
          </a:p>
        </p:txBody>
      </p:sp>
      <p:sp>
        <p:nvSpPr>
          <p:cNvPr id="15" name="Current Section">
            <a:extLst>
              <a:ext uri="{FF2B5EF4-FFF2-40B4-BE49-F238E27FC236}">
                <a16:creationId xmlns:a16="http://schemas.microsoft.com/office/drawing/2014/main" id="{89A61135-1F00-E77F-7C78-5FBA241A5742}"/>
              </a:ext>
            </a:extLst>
          </p:cNvPr>
          <p:cNvSpPr>
            <a:spLocks/>
          </p:cNvSpPr>
          <p:nvPr userDrawn="1"/>
        </p:nvSpPr>
        <p:spPr>
          <a:xfrm>
            <a:off x="1684189" y="153170"/>
            <a:ext cx="51570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36000" rIns="72000" bIns="36000" numCol="1" spcCol="0" rtlCol="0" fromWordArt="0" anchor="ctr" anchorCtr="0" forceAA="0" compatLnSpc="1">
            <a:prstTxWarp prst="textNoShape">
              <a:avLst/>
            </a:prstTxWarp>
            <a:spAutoFit/>
          </a:bodyPr>
          <a:lstStyle/>
          <a:p>
            <a:pPr lvl="0"/>
            <a:r>
              <a:rPr lang="en-SG" sz="800" b="1">
                <a:solidFill>
                  <a:schemeClr val="tx2"/>
                </a:solidFill>
                <a:latin typeface="Arial" panose="020B0604020202020204" pitchFamily="34" charset="0"/>
                <a:cs typeface="Arial" panose="020B0604020202020204" pitchFamily="34" charset="0"/>
              </a:rPr>
              <a:t>Current</a:t>
            </a:r>
          </a:p>
        </p:txBody>
      </p:sp>
      <p:sp>
        <p:nvSpPr>
          <p:cNvPr id="17" name="TextBox 16">
            <a:extLst>
              <a:ext uri="{FF2B5EF4-FFF2-40B4-BE49-F238E27FC236}">
                <a16:creationId xmlns:a16="http://schemas.microsoft.com/office/drawing/2014/main" id="{C8AA1B64-1717-3F4E-57F6-9810BA8040A1}"/>
              </a:ext>
            </a:extLst>
          </p:cNvPr>
          <p:cNvSpPr txBox="1"/>
          <p:nvPr userDrawn="1"/>
        </p:nvSpPr>
        <p:spPr>
          <a:xfrm>
            <a:off x="3817858" y="1016732"/>
            <a:ext cx="1563077" cy="246221"/>
          </a:xfrm>
          <a:prstGeom prst="rect">
            <a:avLst/>
          </a:prstGeom>
          <a:noFill/>
        </p:spPr>
        <p:txBody>
          <a:bodyPr vert="horz" rtlCol="0">
            <a:spAutoFit/>
          </a:bodyPr>
          <a:lstStyle/>
          <a:p>
            <a:r>
              <a:rPr lang="en-SG" sz="1000"/>
              <a:t>Margin between shapes</a:t>
            </a:r>
          </a:p>
        </p:txBody>
      </p:sp>
      <p:sp>
        <p:nvSpPr>
          <p:cNvPr id="3" name="Rectangle 2">
            <a:extLst>
              <a:ext uri="{FF2B5EF4-FFF2-40B4-BE49-F238E27FC236}">
                <a16:creationId xmlns:a16="http://schemas.microsoft.com/office/drawing/2014/main" id="{AFDE6243-6148-EC1C-61B7-BFC778746645}"/>
              </a:ext>
            </a:extLst>
          </p:cNvPr>
          <p:cNvSpPr/>
          <p:nvPr userDrawn="1">
            <p:custDataLst>
              <p:tags r:id="rId1"/>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1600">
              <a:solidFill>
                <a:schemeClr val="bg1"/>
              </a:solidFill>
            </a:endParaRPr>
          </a:p>
        </p:txBody>
      </p:sp>
    </p:spTree>
    <p:extLst>
      <p:ext uri="{BB962C8B-B14F-4D97-AF65-F5344CB8AC3E}">
        <p14:creationId xmlns:p14="http://schemas.microsoft.com/office/powerpoint/2010/main" val="337289342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_KPMG Blue">
    <p:bg>
      <p:bgPr>
        <a:solidFill>
          <a:schemeClr val="accent2"/>
        </a:solidFill>
        <a:effectLst/>
      </p:bgPr>
    </p:bg>
    <p:spTree>
      <p:nvGrpSpPr>
        <p:cNvPr id="1" name=""/>
        <p:cNvGrpSpPr/>
        <p:nvPr/>
      </p:nvGrpSpPr>
      <p:grpSpPr>
        <a:xfrm>
          <a:off x="0" y="0"/>
          <a:ext cx="0" cy="0"/>
          <a:chOff x="0" y="0"/>
          <a:chExt cx="0" cy="0"/>
        </a:xfrm>
      </p:grpSpPr>
      <p:pic>
        <p:nvPicPr>
          <p:cNvPr id="5" name="Picture 4" descr="A close-up of a blue and white object">
            <a:extLst>
              <a:ext uri="{FF2B5EF4-FFF2-40B4-BE49-F238E27FC236}">
                <a16:creationId xmlns:a16="http://schemas.microsoft.com/office/drawing/2014/main" id="{861C95B1-1133-E90D-1722-5B35175442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156"/>
            <a:ext cx="12199162" cy="6865156"/>
          </a:xfrm>
          <a:prstGeom prst="rect">
            <a:avLst/>
          </a:prstGeom>
        </p:spPr>
      </p:pic>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998476" y="1470479"/>
            <a:ext cx="6350010" cy="4410949"/>
          </a:xfrm>
          <a:prstGeom prst="rect">
            <a:avLst/>
          </a:prstGeom>
          <a:no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5765982" cy="2903488"/>
          </a:xfrm>
          <a:noFill/>
          <a:ln w="3175">
            <a:noFill/>
            <a:prstDash val="lgDash"/>
          </a:ln>
        </p:spPr>
        <p:txBody>
          <a:bodyPr lIns="0" tIns="0" rIns="0" bIns="0" anchor="t" anchorCtr="0">
            <a:noAutofit/>
          </a:bodyPr>
          <a:lstStyle>
            <a:lvl1pPr algn="l">
              <a:defRPr sz="6600" baseline="0">
                <a:solidFill>
                  <a:schemeClr val="tx2"/>
                </a:solidFill>
              </a:defRPr>
            </a:lvl1pPr>
          </a:lstStyle>
          <a:p>
            <a:r>
              <a:rPr lang="en-GB"/>
              <a:t>Title slide text only</a:t>
            </a:r>
            <a:endParaRPr lang="en-US"/>
          </a:p>
        </p:txBody>
      </p:sp>
      <p:sp>
        <p:nvSpPr>
          <p:cNvPr id="6" name="Text Placeholder 3"/>
          <p:cNvSpPr>
            <a:spLocks noGrp="1"/>
          </p:cNvSpPr>
          <p:nvPr>
            <p:ph type="body" sz="quarter" idx="11"/>
          </p:nvPr>
        </p:nvSpPr>
        <p:spPr>
          <a:xfrm>
            <a:off x="1274841" y="4752153"/>
            <a:ext cx="5765982" cy="816606"/>
          </a:xfrm>
          <a:ln w="3175">
            <a:noFill/>
            <a:prstDash val="lgDash"/>
          </a:ln>
        </p:spPr>
        <p:txBody>
          <a:bodyPr wrap="square" anchor="b">
            <a:noAutofit/>
          </a:bodyPr>
          <a:lstStyle>
            <a:lvl1pPr>
              <a:defRPr sz="1400">
                <a:solidFill>
                  <a:schemeClr val="tx2"/>
                </a:solidFill>
              </a:defRPr>
            </a:lvl1pPr>
            <a:lvl2pPr>
              <a:defRPr sz="1400">
                <a:solidFill>
                  <a:schemeClr val="tx2"/>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F680A8EA-2B0E-411E-90AD-02F7AF47674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C31B5000-C399-ABD7-59D3-1DCB8041680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2384640528"/>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_KPMG Blue">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F73FA8F-86B4-4B38-9318-B211F1BBAFEB}"/>
              </a:ext>
            </a:extLst>
          </p:cNvPr>
          <p:cNvSpPr>
            <a:spLocks noChangeAspect="1"/>
          </p:cNvSpPr>
          <p:nvPr userDrawn="1"/>
        </p:nvSpPr>
        <p:spPr>
          <a:xfrm>
            <a:off x="998476" y="1470479"/>
            <a:ext cx="3053689"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2487266" cy="2900514"/>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userDrawn="1">
            <p:ph type="body" sz="quarter" idx="11"/>
          </p:nvPr>
        </p:nvSpPr>
        <p:spPr>
          <a:xfrm>
            <a:off x="1274841" y="4752153"/>
            <a:ext cx="2487267" cy="81577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ACB44795-849A-41CE-8B25-0DE9EB09F9B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4A2D0F4A-24F1-36AB-05D7-E828D00ECC9B}"/>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66023589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3405716" y="371311"/>
            <a:ext cx="7794097" cy="5414065"/>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6" name="Text Placeholder 3"/>
          <p:cNvSpPr>
            <a:spLocks noGrp="1"/>
          </p:cNvSpPr>
          <p:nvPr>
            <p:ph type="body" sz="quarter" idx="11"/>
          </p:nvPr>
        </p:nvSpPr>
        <p:spPr>
          <a:xfrm>
            <a:off x="3672180" y="4710484"/>
            <a:ext cx="7260639"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10" name="Title 9">
            <a:extLst>
              <a:ext uri="{FF2B5EF4-FFF2-40B4-BE49-F238E27FC236}">
                <a16:creationId xmlns:a16="http://schemas.microsoft.com/office/drawing/2014/main" id="{BA9E5DDB-2262-4657-AA4F-9CE87AA83B57}"/>
              </a:ext>
            </a:extLst>
          </p:cNvPr>
          <p:cNvSpPr>
            <a:spLocks noGrp="1"/>
          </p:cNvSpPr>
          <p:nvPr>
            <p:ph type="title" hasCustomPrompt="1"/>
          </p:nvPr>
        </p:nvSpPr>
        <p:spPr>
          <a:xfrm>
            <a:off x="3671123" y="636808"/>
            <a:ext cx="7260639" cy="3950972"/>
          </a:xfrm>
        </p:spPr>
        <p:txBody>
          <a:bodyPr/>
          <a:lstStyle>
            <a:lvl1pPr>
              <a:defRPr lang="en-GB" sz="6600" kern="1200" baseline="0" dirty="0">
                <a:solidFill>
                  <a:schemeClr val="bg1"/>
                </a:solidFill>
                <a:latin typeface="+mj-lt"/>
                <a:ea typeface="+mj-ea"/>
                <a:cs typeface="+mj-cs"/>
              </a:defRPr>
            </a:lvl1pPr>
          </a:lstStyle>
          <a:p>
            <a:r>
              <a:rPr lang="en-GB"/>
              <a:t>Title slide text only</a:t>
            </a:r>
          </a:p>
        </p:txBody>
      </p:sp>
      <p:pic>
        <p:nvPicPr>
          <p:cNvPr id="8" name="Graphic 7">
            <a:extLst>
              <a:ext uri="{FF2B5EF4-FFF2-40B4-BE49-F238E27FC236}">
                <a16:creationId xmlns:a16="http://schemas.microsoft.com/office/drawing/2014/main" id="{9F2B47DB-768D-47AE-9D19-E74198AD42C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5C7456D2-AD8B-0E4B-0CD2-B86ACA21193D}"/>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585628901"/>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BC1A25C-9C23-47D0-BC86-BD2474043CD3}"/>
              </a:ext>
            </a:extLst>
          </p:cNvPr>
          <p:cNvGrpSpPr/>
          <p:nvPr userDrawn="1"/>
        </p:nvGrpSpPr>
        <p:grpSpPr>
          <a:xfrm>
            <a:off x="998476" y="0"/>
            <a:ext cx="911399" cy="1485244"/>
            <a:chOff x="1008000" y="0"/>
            <a:chExt cx="911399" cy="1485244"/>
          </a:xfrm>
          <a:solidFill>
            <a:schemeClr val="bg1">
              <a:alpha val="0"/>
            </a:schemeClr>
          </a:solidFill>
        </p:grpSpPr>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1008000" y="0"/>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1008000" y="742622"/>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sp>
          <p:nvSpPr>
            <p:cNvPr id="9" name="Freeform 19">
              <a:extLst>
                <a:ext uri="{FF2B5EF4-FFF2-40B4-BE49-F238E27FC236}">
                  <a16:creationId xmlns:a16="http://schemas.microsoft.com/office/drawing/2014/main" id="{162D722E-1D64-4D54-98B6-8466501BFD3D}"/>
                </a:ext>
              </a:extLst>
            </p:cNvPr>
            <p:cNvSpPr>
              <a:spLocks noChangeAspect="1" noEditPoints="1"/>
            </p:cNvSpPr>
            <p:nvPr userDrawn="1"/>
          </p:nvSpPr>
          <p:spPr bwMode="auto">
            <a:xfrm>
              <a:off x="1008000" y="1113933"/>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grpSp>
      <p:sp>
        <p:nvSpPr>
          <p:cNvPr id="104" name="Rectangle 103">
            <a:extLst>
              <a:ext uri="{FF2B5EF4-FFF2-40B4-BE49-F238E27FC236}">
                <a16:creationId xmlns:a16="http://schemas.microsoft.com/office/drawing/2014/main" id="{6A6246C3-5BC1-4146-9E95-B8B3F1B77C22}"/>
              </a:ext>
            </a:extLst>
          </p:cNvPr>
          <p:cNvSpPr>
            <a:spLocks noChangeAspect="1"/>
          </p:cNvSpPr>
          <p:nvPr userDrawn="1"/>
        </p:nvSpPr>
        <p:spPr>
          <a:xfrm>
            <a:off x="7435789" y="371311"/>
            <a:ext cx="3764024" cy="5415923"/>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06" name="Text Placeholder 3">
            <a:extLst>
              <a:ext uri="{FF2B5EF4-FFF2-40B4-BE49-F238E27FC236}">
                <a16:creationId xmlns:a16="http://schemas.microsoft.com/office/drawing/2014/main" id="{E9A5689E-A0AC-4126-A5A7-5CD8528C6C2E}"/>
              </a:ext>
            </a:extLst>
          </p:cNvPr>
          <p:cNvSpPr>
            <a:spLocks noGrp="1"/>
          </p:cNvSpPr>
          <p:nvPr>
            <p:ph type="body" sz="quarter" idx="12"/>
          </p:nvPr>
        </p:nvSpPr>
        <p:spPr>
          <a:xfrm>
            <a:off x="7702252" y="4710484"/>
            <a:ext cx="3229510"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 name="Title 1"/>
          <p:cNvSpPr>
            <a:spLocks noGrp="1"/>
          </p:cNvSpPr>
          <p:nvPr>
            <p:ph type="ctrTitle" hasCustomPrompt="1"/>
          </p:nvPr>
        </p:nvSpPr>
        <p:spPr>
          <a:xfrm>
            <a:off x="7702252" y="636808"/>
            <a:ext cx="3229510" cy="3950972"/>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pic>
        <p:nvPicPr>
          <p:cNvPr id="10" name="Graphic 9">
            <a:extLst>
              <a:ext uri="{FF2B5EF4-FFF2-40B4-BE49-F238E27FC236}">
                <a16:creationId xmlns:a16="http://schemas.microsoft.com/office/drawing/2014/main" id="{78DFFAD0-690D-40FA-92E3-26DD5F2CF71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4" name="UpSlide Options" descr="{&#10;  &quot;NoBreadcrumb&quot;: true,&#10;  &quot;NoBreadcrumbNorReminder&quot;: true,&#10;  &quot;MinimumUpSlideVersion&quot;: &quot;0.0.0.0&quot;&#10;}" hidden="1">
            <a:extLst>
              <a:ext uri="{FF2B5EF4-FFF2-40B4-BE49-F238E27FC236}">
                <a16:creationId xmlns:a16="http://schemas.microsoft.com/office/drawing/2014/main" id="{6223FAC6-FB1A-2FBC-CF19-EF250E255086}"/>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15490091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 Image_KPMG Blue">
    <p:bg>
      <p:bgPr>
        <a:solidFill>
          <a:schemeClr val="accent2"/>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6200E6EA-7AA4-4C98-8E47-F5F83446E051}"/>
              </a:ext>
            </a:extLst>
          </p:cNvPr>
          <p:cNvSpPr>
            <a:spLocks noGrp="1" noChangeAspect="1"/>
          </p:cNvSpPr>
          <p:nvPr>
            <p:ph type="pic" sz="quarter" idx="12"/>
          </p:nvPr>
        </p:nvSpPr>
        <p:spPr>
          <a:xfrm>
            <a:off x="998477" y="1468380"/>
            <a:ext cx="5885053" cy="4087973"/>
          </a:xfrm>
          <a:solidFill>
            <a:schemeClr val="accent1"/>
          </a:solidFill>
        </p:spPr>
        <p:txBody>
          <a:bodyPr anchor="ctr"/>
          <a:lstStyle>
            <a:lvl1pPr algn="ctr">
              <a:defRPr sz="1000" b="0">
                <a:solidFill>
                  <a:schemeClr val="bg1"/>
                </a:solidFill>
              </a:defRPr>
            </a:lvl1pPr>
          </a:lstStyle>
          <a:p>
            <a:r>
              <a:rPr lang="en-US"/>
              <a:t>Click icon to add picture</a:t>
            </a:r>
            <a:endParaRPr lang="en-GB"/>
          </a:p>
        </p:txBody>
      </p:sp>
      <p:sp>
        <p:nvSpPr>
          <p:cNvPr id="2" name="Title 1"/>
          <p:cNvSpPr>
            <a:spLocks noGrp="1"/>
          </p:cNvSpPr>
          <p:nvPr>
            <p:ph type="ctrTitle" hasCustomPrompt="1"/>
          </p:nvPr>
        </p:nvSpPr>
        <p:spPr>
          <a:xfrm>
            <a:off x="7648626" y="1468380"/>
            <a:ext cx="3551186" cy="3098109"/>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7648627"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7648627"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6" name="Text Placeholder 3"/>
          <p:cNvSpPr>
            <a:spLocks noGrp="1"/>
          </p:cNvSpPr>
          <p:nvPr userDrawn="1">
            <p:ph type="body" sz="quarter" idx="11"/>
          </p:nvPr>
        </p:nvSpPr>
        <p:spPr>
          <a:xfrm>
            <a:off x="7648626" y="4746353"/>
            <a:ext cx="355118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9" name="Graphic 8">
            <a:extLst>
              <a:ext uri="{FF2B5EF4-FFF2-40B4-BE49-F238E27FC236}">
                <a16:creationId xmlns:a16="http://schemas.microsoft.com/office/drawing/2014/main" id="{93430CE4-5B69-4517-8F25-A3A23061EE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64734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C39C766E-4498-DBBD-A279-FC5D4C71C771}"/>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1888271083"/>
      </p:ext>
    </p:extLst>
  </p:cSld>
  <p:clrMapOvr>
    <a:masterClrMapping/>
  </p:clrMapOvr>
  <p:extLst>
    <p:ext uri="{DCECCB84-F9BA-43D5-87BE-67443E8EF086}">
      <p15:sldGuideLst xmlns:p15="http://schemas.microsoft.com/office/powerpoint/2012/main">
        <p15:guide id="1" orient="horz" pos="3498">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 Image_KPMG Blue">
    <p:bg>
      <p:bgPr>
        <a:solidFill>
          <a:schemeClr val="accent2"/>
        </a:solidFill>
        <a:effectLst/>
      </p:bgPr>
    </p:bg>
    <p:spTree>
      <p:nvGrpSpPr>
        <p:cNvPr id="1" name=""/>
        <p:cNvGrpSpPr/>
        <p:nvPr/>
      </p:nvGrpSpPr>
      <p:grpSpPr>
        <a:xfrm>
          <a:off x="0" y="0"/>
          <a:ext cx="0" cy="0"/>
          <a:chOff x="0" y="0"/>
          <a:chExt cx="0" cy="0"/>
        </a:xfrm>
      </p:grpSpPr>
      <p:sp>
        <p:nvSpPr>
          <p:cNvPr id="28" name="Picture Placeholder 3">
            <a:extLst>
              <a:ext uri="{FF2B5EF4-FFF2-40B4-BE49-F238E27FC236}">
                <a16:creationId xmlns:a16="http://schemas.microsoft.com/office/drawing/2014/main" id="{445BA5F7-F13B-4C20-B0E0-112E55400EE4}"/>
              </a:ext>
            </a:extLst>
          </p:cNvPr>
          <p:cNvSpPr>
            <a:spLocks noGrp="1" noChangeAspect="1"/>
          </p:cNvSpPr>
          <p:nvPr>
            <p:ph type="pic" sz="quarter" idx="12"/>
          </p:nvPr>
        </p:nvSpPr>
        <p:spPr>
          <a:xfrm>
            <a:off x="995362" y="371311"/>
            <a:ext cx="3727618" cy="5392264"/>
          </a:xfrm>
          <a:solidFill>
            <a:schemeClr val="accent1"/>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
        <p:nvSpPr>
          <p:cNvPr id="2" name="Title 1"/>
          <p:cNvSpPr>
            <a:spLocks noGrp="1"/>
          </p:cNvSpPr>
          <p:nvPr>
            <p:ph type="ctrTitle" hasCustomPrompt="1"/>
          </p:nvPr>
        </p:nvSpPr>
        <p:spPr>
          <a:xfrm>
            <a:off x="5489910" y="1453783"/>
            <a:ext cx="5301922" cy="344622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4729193"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6" name="Text Placeholder 3"/>
          <p:cNvSpPr>
            <a:spLocks noGrp="1"/>
          </p:cNvSpPr>
          <p:nvPr userDrawn="1">
            <p:ph type="body" sz="quarter" idx="11"/>
          </p:nvPr>
        </p:nvSpPr>
        <p:spPr>
          <a:xfrm>
            <a:off x="5489910" y="4953575"/>
            <a:ext cx="5301922"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7" name="Graphic 6">
            <a:extLst>
              <a:ext uri="{FF2B5EF4-FFF2-40B4-BE49-F238E27FC236}">
                <a16:creationId xmlns:a16="http://schemas.microsoft.com/office/drawing/2014/main" id="{3FEB65A9-A8F4-40C5-AC08-82132F1B1B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491560"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DA9CDCF4-59D0-2017-E14A-4837D0672D90}"/>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12780944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 Image_Cobalt Blue">
    <p:bg>
      <p:bgPr>
        <a:solidFill>
          <a:schemeClr val="accent1"/>
        </a:solidFill>
        <a:effectLst/>
      </p:bgPr>
    </p:bg>
    <p:spTree>
      <p:nvGrpSpPr>
        <p:cNvPr id="1" name=""/>
        <p:cNvGrpSpPr/>
        <p:nvPr/>
      </p:nvGrpSpPr>
      <p:grpSpPr>
        <a:xfrm>
          <a:off x="0" y="0"/>
          <a:ext cx="0" cy="0"/>
          <a:chOff x="0" y="0"/>
          <a:chExt cx="0" cy="0"/>
        </a:xfrm>
      </p:grpSpPr>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28" name="Picture Placeholder 3">
            <a:extLst>
              <a:ext uri="{FF2B5EF4-FFF2-40B4-BE49-F238E27FC236}">
                <a16:creationId xmlns:a16="http://schemas.microsoft.com/office/drawing/2014/main" id="{1D0B9D96-907F-4E37-B5A7-830AD095F223}"/>
              </a:ext>
            </a:extLst>
          </p:cNvPr>
          <p:cNvSpPr>
            <a:spLocks noGrp="1" noChangeAspect="1"/>
          </p:cNvSpPr>
          <p:nvPr>
            <p:ph type="pic" sz="quarter" idx="12"/>
          </p:nvPr>
        </p:nvSpPr>
        <p:spPr>
          <a:xfrm>
            <a:off x="4915965" y="1456388"/>
            <a:ext cx="6283848" cy="4364991"/>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995362" y="1456388"/>
            <a:ext cx="3174866" cy="342774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40" name="Text Placeholder 3">
            <a:extLst>
              <a:ext uri="{FF2B5EF4-FFF2-40B4-BE49-F238E27FC236}">
                <a16:creationId xmlns:a16="http://schemas.microsoft.com/office/drawing/2014/main" id="{423222F2-0E39-45E4-8918-49125CD7C1EA}"/>
              </a:ext>
            </a:extLst>
          </p:cNvPr>
          <p:cNvSpPr>
            <a:spLocks noGrp="1"/>
          </p:cNvSpPr>
          <p:nvPr>
            <p:ph type="body" sz="quarter" idx="11"/>
          </p:nvPr>
        </p:nvSpPr>
        <p:spPr>
          <a:xfrm>
            <a:off x="995362" y="5007010"/>
            <a:ext cx="317486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9" name="Graphic 8">
            <a:extLst>
              <a:ext uri="{FF2B5EF4-FFF2-40B4-BE49-F238E27FC236}">
                <a16:creationId xmlns:a16="http://schemas.microsoft.com/office/drawing/2014/main" id="{323EE304-3FCA-4CF8-84B4-178F6B5C57A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B2D462CE-C2C7-AC32-2349-92B2FD646632}"/>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60257592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 Image_Cobalt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95362" y="1456388"/>
            <a:ext cx="5249471" cy="3442681"/>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995362" y="5007009"/>
            <a:ext cx="5249471"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8" name="Picture Placeholder 3">
            <a:extLst>
              <a:ext uri="{FF2B5EF4-FFF2-40B4-BE49-F238E27FC236}">
                <a16:creationId xmlns:a16="http://schemas.microsoft.com/office/drawing/2014/main" id="{13BD1F9C-C7CA-4162-BCD4-0E8701D30076}"/>
              </a:ext>
            </a:extLst>
          </p:cNvPr>
          <p:cNvSpPr>
            <a:spLocks noGrp="1" noChangeAspect="1"/>
          </p:cNvSpPr>
          <p:nvPr>
            <p:ph type="pic" sz="quarter" idx="12"/>
          </p:nvPr>
        </p:nvSpPr>
        <p:spPr>
          <a:xfrm>
            <a:off x="7435255" y="371311"/>
            <a:ext cx="3764557" cy="5445698"/>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pic>
        <p:nvPicPr>
          <p:cNvPr id="9" name="Graphic 8">
            <a:extLst>
              <a:ext uri="{FF2B5EF4-FFF2-40B4-BE49-F238E27FC236}">
                <a16:creationId xmlns:a16="http://schemas.microsoft.com/office/drawing/2014/main" id="{AA9325F0-DADC-43A7-A4FF-97033BB2202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024CB6FE-B419-35D5-F619-0ED688EBE47C}"/>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282012329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53543317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Only Alternative">
    <p:bg>
      <p:bgPr>
        <a:solidFill>
          <a:srgbClr val="ACEAFF"/>
        </a:solidFill>
        <a:effectLst/>
      </p:bgPr>
    </p:bg>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553DB233-23E0-7B9E-7AE9-589A27CED889}"/>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ACEAFF"/>
          </a:solidFill>
        </p:spPr>
        <p:txBody>
          <a:bodyPr wrap="square" lIns="0" tIns="0" rIns="0" bIns="0" rtlCol="0">
            <a:noAutofit/>
          </a:bodyPr>
          <a:lstStyle/>
          <a:p>
            <a:endParaRPr sz="1800">
              <a:latin typeface="Arial" panose="020B0604020202020204" pitchFamily="34" charset="0"/>
            </a:endParaRPr>
          </a:p>
        </p:txBody>
      </p: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GB"/>
          </a:p>
        </p:txBody>
      </p:sp>
      <p:sp>
        <p:nvSpPr>
          <p:cNvPr id="10" name="Shape 8">
            <a:extLst>
              <a:ext uri="{FF2B5EF4-FFF2-40B4-BE49-F238E27FC236}">
                <a16:creationId xmlns:a16="http://schemas.microsoft.com/office/drawing/2014/main" id="{BD5EA3DF-EDF9-4AA1-B876-3BB2C2DD6124}"/>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tx2"/>
                </a:solidFill>
                <a:latin typeface="+mn-lt"/>
                <a:ea typeface="Arial"/>
                <a:cs typeface="Arial" panose="020B0604020202020204" pitchFamily="34" charset="0"/>
              </a:rPr>
              <a:pPr algn="r"/>
              <a:t>‹#›</a:t>
            </a:fld>
            <a:endParaRPr lang="en-GB" sz="1000">
              <a:solidFill>
                <a:schemeClr val="tx2"/>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5C647E3E-7387-4F1B-91E4-B27FC18C0158}"/>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rgbClr val="B2B2B2"/>
                </a:solidFill>
                <a:latin typeface="+mn-lt"/>
                <a:ea typeface="+mn-ea"/>
                <a:cs typeface="+mn-cs"/>
              </a:rPr>
              <a:t>Document Classification: KPMG Confidential</a:t>
            </a:r>
          </a:p>
        </p:txBody>
      </p:sp>
      <p:cxnSp>
        <p:nvCxnSpPr>
          <p:cNvPr id="13" name="Straight Connector 12">
            <a:extLst>
              <a:ext uri="{FF2B5EF4-FFF2-40B4-BE49-F238E27FC236}">
                <a16:creationId xmlns:a16="http://schemas.microsoft.com/office/drawing/2014/main" id="{2A927FC7-77D6-449A-B7B3-5F6763D3F3FF}"/>
              </a:ext>
            </a:extLst>
          </p:cNvPr>
          <p:cNvCxnSpPr/>
          <p:nvPr userDrawn="1"/>
        </p:nvCxnSpPr>
        <p:spPr>
          <a:xfrm>
            <a:off x="10928548" y="6266997"/>
            <a:ext cx="0" cy="149412"/>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80623A36-C230-44C2-9A0A-29BBF3F63CC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solidFill>
                <a:schemeClr val="bg1"/>
              </a:solidFill>
            </a:endParaRPr>
          </a:p>
        </p:txBody>
      </p:sp>
      <p:sp>
        <p:nvSpPr>
          <p:cNvPr id="9" name="Isosceles Triangle 8">
            <a:extLst>
              <a:ext uri="{FF2B5EF4-FFF2-40B4-BE49-F238E27FC236}">
                <a16:creationId xmlns:a16="http://schemas.microsoft.com/office/drawing/2014/main" id="{58CFDA59-AFDF-5153-63CD-D0F9A9BF119B}"/>
              </a:ext>
            </a:extLst>
          </p:cNvPr>
          <p:cNvSpPr/>
          <p:nvPr userDrawn="1"/>
        </p:nvSpPr>
        <p:spPr>
          <a:xfrm rot="5400000">
            <a:off x="11914569"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5" name="Isosceles Triangle 14">
            <a:extLst>
              <a:ext uri="{FF2B5EF4-FFF2-40B4-BE49-F238E27FC236}">
                <a16:creationId xmlns:a16="http://schemas.microsoft.com/office/drawing/2014/main" id="{4F414FEC-CF16-CCF1-06EB-022E69608D1F}"/>
              </a:ext>
            </a:extLst>
          </p:cNvPr>
          <p:cNvSpPr/>
          <p:nvPr userDrawn="1"/>
        </p:nvSpPr>
        <p:spPr>
          <a:xfrm rot="16200000" flipH="1">
            <a:off x="11352448"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6" name="Oval 15">
            <a:hlinkClick r:id="" action="ppaction://hlinkshowjump?jump=nextslide"/>
            <a:extLst>
              <a:ext uri="{FF2B5EF4-FFF2-40B4-BE49-F238E27FC236}">
                <a16:creationId xmlns:a16="http://schemas.microsoft.com/office/drawing/2014/main" id="{04FEABC5-C652-B28A-62D6-911D1D16B40B}"/>
              </a:ext>
            </a:extLst>
          </p:cNvPr>
          <p:cNvSpPr/>
          <p:nvPr userDrawn="1"/>
        </p:nvSpPr>
        <p:spPr>
          <a:xfrm>
            <a:off x="11836622"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7" name="Oval 16">
            <a:hlinkClick r:id="" action="ppaction://hlinkshowjump?jump=previousslide"/>
            <a:extLst>
              <a:ext uri="{FF2B5EF4-FFF2-40B4-BE49-F238E27FC236}">
                <a16:creationId xmlns:a16="http://schemas.microsoft.com/office/drawing/2014/main" id="{0D6602F3-A221-0FEF-5995-6641A2D872D6}"/>
              </a:ext>
            </a:extLst>
          </p:cNvPr>
          <p:cNvSpPr/>
          <p:nvPr userDrawn="1"/>
        </p:nvSpPr>
        <p:spPr>
          <a:xfrm flipH="1">
            <a:off x="11292948"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18" name="Graphic 17" descr="Home">
            <a:hlinkClick r:id="rId4" action="ppaction://hlinksldjump"/>
            <a:extLst>
              <a:ext uri="{FF2B5EF4-FFF2-40B4-BE49-F238E27FC236}">
                <a16:creationId xmlns:a16="http://schemas.microsoft.com/office/drawing/2014/main" id="{C9B48440-892F-F99A-CF93-8B0ACA648E73}"/>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3" name="TextBox 2">
            <a:extLst>
              <a:ext uri="{FF2B5EF4-FFF2-40B4-BE49-F238E27FC236}">
                <a16:creationId xmlns:a16="http://schemas.microsoft.com/office/drawing/2014/main" id="{2EF5C99B-E164-CD53-9033-C5EA3AD08C84}"/>
              </a:ext>
              <a:ext uri="{C183D7F6-B498-43B3-948B-1728B52AA6E4}">
                <adec:decorative xmlns:adec="http://schemas.microsoft.com/office/drawing/2017/decorative" val="1"/>
              </a:ext>
            </a:extLst>
          </p:cNvPr>
          <p:cNvSpPr txBox="1">
            <a:spLocks/>
          </p:cNvSpPr>
          <p:nvPr userDrawn="1">
            <p:custDataLst>
              <p:tags r:id="rId2"/>
            </p:custDataLst>
          </p:nvPr>
        </p:nvSpPr>
        <p:spPr>
          <a:xfrm>
            <a:off x="1885683" y="6266997"/>
            <a:ext cx="6673851" cy="184666"/>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srgbClr val="FFFFFF">
                    <a:lumMod val="65000"/>
                  </a:srgbClr>
                </a:solidFill>
                <a:effectLst/>
                <a:uLnTx/>
                <a:uFillTx/>
              </a:rPr>
              <a:t>© 2023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142444526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Only - Dark BG Colour">
    <p:bg>
      <p:bgPr>
        <a:solidFill>
          <a:schemeClr val="accent2"/>
        </a:solidFill>
        <a:effectLst/>
      </p:bgPr>
    </p:bg>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739029EA-FB2C-A885-3247-33F7F011F5D7}"/>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Shape 8">
            <a:extLst>
              <a:ext uri="{FF2B5EF4-FFF2-40B4-BE49-F238E27FC236}">
                <a16:creationId xmlns:a16="http://schemas.microsoft.com/office/drawing/2014/main" id="{BD5EA3DF-EDF9-4AA1-B876-3BB2C2DD6124}"/>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5C647E3E-7387-4F1B-91E4-B27FC18C0158}"/>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13" name="Straight Connector 12">
            <a:extLst>
              <a:ext uri="{FF2B5EF4-FFF2-40B4-BE49-F238E27FC236}">
                <a16:creationId xmlns:a16="http://schemas.microsoft.com/office/drawing/2014/main" id="{2A927FC7-77D6-449A-B7B3-5F6763D3F3FF}"/>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80623A36-C230-44C2-9A0A-29BBF3F63CC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9" name="Isosceles Triangle 8">
            <a:extLst>
              <a:ext uri="{FF2B5EF4-FFF2-40B4-BE49-F238E27FC236}">
                <a16:creationId xmlns:a16="http://schemas.microsoft.com/office/drawing/2014/main" id="{D2D91A27-F3DC-A1B5-33BE-9B387A9177AB}"/>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5" name="Isosceles Triangle 14">
            <a:extLst>
              <a:ext uri="{FF2B5EF4-FFF2-40B4-BE49-F238E27FC236}">
                <a16:creationId xmlns:a16="http://schemas.microsoft.com/office/drawing/2014/main" id="{1AF108A0-5867-42FF-B7CD-EF15195421B0}"/>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6" name="Oval 15">
            <a:hlinkClick r:id="" action="ppaction://hlinkshowjump?jump=nextslide"/>
            <a:extLst>
              <a:ext uri="{FF2B5EF4-FFF2-40B4-BE49-F238E27FC236}">
                <a16:creationId xmlns:a16="http://schemas.microsoft.com/office/drawing/2014/main" id="{EE5802B2-DEA6-1800-2454-3C095ECE9FCB}"/>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7" name="Oval 16">
            <a:hlinkClick r:id="" action="ppaction://hlinkshowjump?jump=previousslide"/>
            <a:extLst>
              <a:ext uri="{FF2B5EF4-FFF2-40B4-BE49-F238E27FC236}">
                <a16:creationId xmlns:a16="http://schemas.microsoft.com/office/drawing/2014/main" id="{C20EC44C-30CF-9DEE-5FA9-42E9D848B121}"/>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18" name="Graphic 17" descr="Home">
            <a:hlinkClick r:id="rId3" action="ppaction://hlinksldjump"/>
            <a:extLst>
              <a:ext uri="{FF2B5EF4-FFF2-40B4-BE49-F238E27FC236}">
                <a16:creationId xmlns:a16="http://schemas.microsoft.com/office/drawing/2014/main" id="{3968077E-330C-A890-A654-F470FFBF76A5}"/>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3" name="TextBox 2">
            <a:extLst>
              <a:ext uri="{FF2B5EF4-FFF2-40B4-BE49-F238E27FC236}">
                <a16:creationId xmlns:a16="http://schemas.microsoft.com/office/drawing/2014/main" id="{253BAAFA-7E49-83F3-0EFF-591964C65BE0}"/>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schemeClr val="bg1"/>
                </a:solidFill>
                <a:effectLst/>
                <a:uLnTx/>
                <a:uFillTx/>
                <a:latin typeface="Arial"/>
                <a:ea typeface="+mn-ea"/>
                <a:cs typeface="+mn-cs"/>
              </a:rPr>
              <a:t>© 2023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188930179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Only - Dark BG Alternative">
    <p:bg>
      <p:bgPr>
        <a:solidFill>
          <a:schemeClr val="accent2"/>
        </a:solidFill>
        <a:effectLst/>
      </p:bgPr>
    </p:bg>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739029EA-FB2C-A885-3247-33F7F011F5D7}"/>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C233C"/>
          </a:solidFill>
        </p:spPr>
        <p:txBody>
          <a:bodyPr wrap="square" lIns="0" tIns="0" rIns="0" bIns="0" rtlCol="0">
            <a:noAutofit/>
          </a:bodyPr>
          <a:lstStyle/>
          <a:p>
            <a:endParaRPr sz="1800">
              <a:latin typeface="Arial" panose="020B0604020202020204" pitchFamily="34" charset="0"/>
            </a:endParaRPr>
          </a:p>
        </p:txBody>
      </p: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Shape 8">
            <a:extLst>
              <a:ext uri="{FF2B5EF4-FFF2-40B4-BE49-F238E27FC236}">
                <a16:creationId xmlns:a16="http://schemas.microsoft.com/office/drawing/2014/main" id="{BD5EA3DF-EDF9-4AA1-B876-3BB2C2DD6124}"/>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5C647E3E-7387-4F1B-91E4-B27FC18C0158}"/>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13" name="Straight Connector 12">
            <a:extLst>
              <a:ext uri="{FF2B5EF4-FFF2-40B4-BE49-F238E27FC236}">
                <a16:creationId xmlns:a16="http://schemas.microsoft.com/office/drawing/2014/main" id="{2A927FC7-77D6-449A-B7B3-5F6763D3F3FF}"/>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80623A36-C230-44C2-9A0A-29BBF3F63CC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3" name="Isosceles Triangle 2">
            <a:extLst>
              <a:ext uri="{FF2B5EF4-FFF2-40B4-BE49-F238E27FC236}">
                <a16:creationId xmlns:a16="http://schemas.microsoft.com/office/drawing/2014/main" id="{3EFDE72B-2E58-5FF5-D898-24D54BAB54B4}"/>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7F229861-BF6F-DBDF-7813-BF867325CF6E}"/>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6466FA29-ECD6-4721-1611-39AB891870AE}"/>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6419FA4A-8421-E209-102C-C3DC3EF49758}"/>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7" name="Graphic 6" descr="Home">
            <a:hlinkClick r:id="rId3" action="ppaction://hlinksldjump"/>
            <a:extLst>
              <a:ext uri="{FF2B5EF4-FFF2-40B4-BE49-F238E27FC236}">
                <a16:creationId xmlns:a16="http://schemas.microsoft.com/office/drawing/2014/main" id="{F2213BCD-C9BB-DECC-A6FA-F1C49A628A3B}"/>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9" name="TextBox 8">
            <a:extLst>
              <a:ext uri="{FF2B5EF4-FFF2-40B4-BE49-F238E27FC236}">
                <a16:creationId xmlns:a16="http://schemas.microsoft.com/office/drawing/2014/main" id="{F37B4772-7DD3-0AFE-11F9-41E7BBF81C80}"/>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2023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189687093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10204451"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84850597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One Column Text_double 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5362" y="1700213"/>
            <a:ext cx="10204451" cy="4176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4AFC733E-E364-489F-B7AF-D2002EE59732}"/>
              </a:ext>
            </a:extLst>
          </p:cNvPr>
          <p:cNvSpPr>
            <a:spLocks noGrp="1"/>
          </p:cNvSpPr>
          <p:nvPr>
            <p:ph type="title" hasCustomPrompt="1"/>
          </p:nvPr>
        </p:nvSpPr>
        <p:spPr/>
        <p:txBody>
          <a:bodyPr/>
          <a:lstStyle>
            <a:lvl1pPr>
              <a:defRPr/>
            </a:lvl1pPr>
          </a:lstStyle>
          <a:p>
            <a:r>
              <a:rPr lang="en-US"/>
              <a:t>Click to edit </a:t>
            </a:r>
            <a:br>
              <a:rPr lang="en-US"/>
            </a:br>
            <a:r>
              <a:rPr lang="en-US"/>
              <a:t>Master title style</a:t>
            </a:r>
            <a:endParaRPr lang="en-GB"/>
          </a:p>
        </p:txBody>
      </p:sp>
    </p:spTree>
    <p:extLst>
      <p:ext uri="{BB962C8B-B14F-4D97-AF65-F5344CB8AC3E}">
        <p14:creationId xmlns:p14="http://schemas.microsoft.com/office/powerpoint/2010/main" val="2860350868"/>
      </p:ext>
    </p:extLst>
  </p:cSld>
  <p:clrMapOvr>
    <a:masterClrMapping/>
  </p:clrMapOvr>
  <p:extLst>
    <p:ext uri="{DCECCB84-F9BA-43D5-87BE-67443E8EF086}">
      <p15:sldGuideLst xmlns:p15="http://schemas.microsoft.com/office/powerpoint/2012/main">
        <p15:guide id="1" orient="horz" pos="1071">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One Column Text_double title_KPMG Blue">
    <p:bg>
      <p:bgPr>
        <a:solidFill>
          <a:schemeClr val="accent2"/>
        </a:solidFill>
        <a:effectLst/>
      </p:bgPr>
    </p:bg>
    <p:spTree>
      <p:nvGrpSpPr>
        <p:cNvPr id="1" name=""/>
        <p:cNvGrpSpPr/>
        <p:nvPr/>
      </p:nvGrpSpPr>
      <p:grpSpPr>
        <a:xfrm>
          <a:off x="0" y="0"/>
          <a:ext cx="0" cy="0"/>
          <a:chOff x="0" y="0"/>
          <a:chExt cx="0" cy="0"/>
        </a:xfrm>
      </p:grpSpPr>
      <p:sp>
        <p:nvSpPr>
          <p:cNvPr id="9" name="object 3">
            <a:extLst>
              <a:ext uri="{FF2B5EF4-FFF2-40B4-BE49-F238E27FC236}">
                <a16:creationId xmlns:a16="http://schemas.microsoft.com/office/drawing/2014/main" id="{53CB8F51-FC47-032E-39EA-E99AEA19DA8F}"/>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5362" y="1700213"/>
            <a:ext cx="10204451" cy="4176712"/>
          </a:xfrm>
        </p:spPr>
        <p:txBody>
          <a:bodyPr/>
          <a:lstStyle>
            <a:lvl1pPr>
              <a:defRPr>
                <a:solidFill>
                  <a:schemeClr val="bg1"/>
                </a:solidFill>
              </a:defRPr>
            </a:lvl1pPr>
            <a:lvl2pPr>
              <a:defRPr>
                <a:solidFill>
                  <a:schemeClr val="bg1"/>
                </a:solidFill>
              </a:defRPr>
            </a:lvl2pPr>
            <a:lvl3pPr>
              <a:buClrTx/>
              <a:defRPr>
                <a:solidFill>
                  <a:schemeClr val="bg1"/>
                </a:solidFill>
              </a:defRPr>
            </a:lvl3pPr>
            <a:lvl4pPr marL="361950" indent="-180975">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03AAE32-05EB-420A-97AB-3254804D32FD}"/>
              </a:ext>
            </a:extLst>
          </p:cNvPr>
          <p:cNvSpPr>
            <a:spLocks noGrp="1"/>
          </p:cNvSpPr>
          <p:nvPr>
            <p:ph type="title" hasCustomPrompt="1"/>
          </p:nvPr>
        </p:nvSpPr>
        <p:spPr/>
        <p:txBody>
          <a:bodyPr/>
          <a:lstStyle>
            <a:lvl1pPr>
              <a:defRPr>
                <a:solidFill>
                  <a:schemeClr val="bg1"/>
                </a:solidFill>
              </a:defRPr>
            </a:lvl1pPr>
          </a:lstStyle>
          <a:p>
            <a:r>
              <a:rPr lang="en-US"/>
              <a:t>Click to edit </a:t>
            </a:r>
            <a:br>
              <a:rPr lang="en-US"/>
            </a:br>
            <a:r>
              <a:rPr lang="en-US"/>
              <a:t>Master title style</a:t>
            </a:r>
            <a:endParaRPr lang="en-GB"/>
          </a:p>
        </p:txBody>
      </p:sp>
      <p:sp>
        <p:nvSpPr>
          <p:cNvPr id="11" name="Shape 8">
            <a:extLst>
              <a:ext uri="{FF2B5EF4-FFF2-40B4-BE49-F238E27FC236}">
                <a16:creationId xmlns:a16="http://schemas.microsoft.com/office/drawing/2014/main" id="{0FA61DE2-B620-4E9C-8A3A-7AFDEA676EA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2" name="TextBox 11">
            <a:extLst>
              <a:ext uri="{FF2B5EF4-FFF2-40B4-BE49-F238E27FC236}">
                <a16:creationId xmlns:a16="http://schemas.microsoft.com/office/drawing/2014/main" id="{33976EB0-88A7-4A3D-9B61-047EB36DBFAD}"/>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14" name="Straight Connector 13">
            <a:extLst>
              <a:ext uri="{FF2B5EF4-FFF2-40B4-BE49-F238E27FC236}">
                <a16:creationId xmlns:a16="http://schemas.microsoft.com/office/drawing/2014/main" id="{11AC2AA0-75A2-4DEA-87FE-819C40720997}"/>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Graphic 8">
            <a:extLst>
              <a:ext uri="{FF2B5EF4-FFF2-40B4-BE49-F238E27FC236}">
                <a16:creationId xmlns:a16="http://schemas.microsoft.com/office/drawing/2014/main" id="{6F1E78A9-43D8-4898-8F7E-93F2BB137A73}"/>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3" name="Isosceles Triangle 2">
            <a:extLst>
              <a:ext uri="{FF2B5EF4-FFF2-40B4-BE49-F238E27FC236}">
                <a16:creationId xmlns:a16="http://schemas.microsoft.com/office/drawing/2014/main" id="{B78C91FA-361C-9000-88A2-E77BAECE7450}"/>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Isosceles Triangle 4">
            <a:extLst>
              <a:ext uri="{FF2B5EF4-FFF2-40B4-BE49-F238E27FC236}">
                <a16:creationId xmlns:a16="http://schemas.microsoft.com/office/drawing/2014/main" id="{9B0779B9-7597-EF65-4F93-808394475AF9}"/>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nextslide"/>
            <a:extLst>
              <a:ext uri="{FF2B5EF4-FFF2-40B4-BE49-F238E27FC236}">
                <a16:creationId xmlns:a16="http://schemas.microsoft.com/office/drawing/2014/main" id="{7446527C-98FF-BF88-D1F1-1918541F77F9}"/>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114143F4-2480-6BB1-D38D-5D286C48BC33}"/>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8" name="Graphic 7" descr="Home">
            <a:hlinkClick r:id="rId3" action="ppaction://hlinksldjump"/>
            <a:extLst>
              <a:ext uri="{FF2B5EF4-FFF2-40B4-BE49-F238E27FC236}">
                <a16:creationId xmlns:a16="http://schemas.microsoft.com/office/drawing/2014/main" id="{C3958867-24B7-0056-CA15-E73DA947D029}"/>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10" name="TextBox 9">
            <a:extLst>
              <a:ext uri="{FF2B5EF4-FFF2-40B4-BE49-F238E27FC236}">
                <a16:creationId xmlns:a16="http://schemas.microsoft.com/office/drawing/2014/main" id="{AF10678F-DB28-521E-F53F-A43C52BE2668}"/>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2023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2249246341"/>
      </p:ext>
    </p:extLst>
  </p:cSld>
  <p:clrMapOvr>
    <a:masterClrMapping/>
  </p:clrMapOvr>
  <p:extLst>
    <p:ext uri="{DCECCB84-F9BA-43D5-87BE-67443E8EF086}">
      <p15:sldGuideLst xmlns:p15="http://schemas.microsoft.com/office/powerpoint/2012/main">
        <p15:guide id="1" orient="horz" pos="107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One Column Text - Dark BG Colour">
    <p:bg>
      <p:bgPr>
        <a:solidFill>
          <a:schemeClr val="accent2"/>
        </a:solidFill>
        <a:effectLst/>
      </p:bgPr>
    </p:bg>
    <p:spTree>
      <p:nvGrpSpPr>
        <p:cNvPr id="1" name=""/>
        <p:cNvGrpSpPr/>
        <p:nvPr/>
      </p:nvGrpSpPr>
      <p:grpSpPr>
        <a:xfrm>
          <a:off x="0" y="0"/>
          <a:ext cx="0" cy="0"/>
          <a:chOff x="0" y="0"/>
          <a:chExt cx="0" cy="0"/>
        </a:xfrm>
      </p:grpSpPr>
      <p:sp>
        <p:nvSpPr>
          <p:cNvPr id="9" name="object 3">
            <a:extLst>
              <a:ext uri="{FF2B5EF4-FFF2-40B4-BE49-F238E27FC236}">
                <a16:creationId xmlns:a16="http://schemas.microsoft.com/office/drawing/2014/main" id="{BEC585C4-5A52-3420-CE3D-39D59D0EEC1E}"/>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5362" y="1330325"/>
            <a:ext cx="10204451"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893FD8B3-A559-4E34-BA53-32A7F9278785}"/>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Shape 8">
            <a:extLst>
              <a:ext uri="{FF2B5EF4-FFF2-40B4-BE49-F238E27FC236}">
                <a16:creationId xmlns:a16="http://schemas.microsoft.com/office/drawing/2014/main" id="{6502E4F8-9814-4C2D-A8F7-99A0A80E6957}"/>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BA5B3710-FA7A-4F3A-8B8B-1E8684A4E5E2}"/>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13" name="Straight Connector 12">
            <a:extLst>
              <a:ext uri="{FF2B5EF4-FFF2-40B4-BE49-F238E27FC236}">
                <a16:creationId xmlns:a16="http://schemas.microsoft.com/office/drawing/2014/main" id="{E233916D-411B-4E5D-82DB-39F0A54EB44B}"/>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14884550-7E3D-4B9E-B170-1CE44B49781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3" name="Isosceles Triangle 2">
            <a:extLst>
              <a:ext uri="{FF2B5EF4-FFF2-40B4-BE49-F238E27FC236}">
                <a16:creationId xmlns:a16="http://schemas.microsoft.com/office/drawing/2014/main" id="{DDDE8A8F-3CFD-1EE3-3D1B-EDBD57E28440}"/>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7E75B89E-0223-BAE1-89A9-B02D94DF7AEB}"/>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962C870B-5B27-2A00-E3AF-6D868D9910A2}"/>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081EB5EC-1A9D-8A9E-80F2-08FC23C57432}"/>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7" name="Graphic 6" descr="Home">
            <a:hlinkClick r:id="rId3" action="ppaction://hlinksldjump"/>
            <a:extLst>
              <a:ext uri="{FF2B5EF4-FFF2-40B4-BE49-F238E27FC236}">
                <a16:creationId xmlns:a16="http://schemas.microsoft.com/office/drawing/2014/main" id="{A2FC391F-6FBF-CB94-EE4E-0F6DC0FF5C49}"/>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8" name="TextBox 7">
            <a:extLst>
              <a:ext uri="{FF2B5EF4-FFF2-40B4-BE49-F238E27FC236}">
                <a16:creationId xmlns:a16="http://schemas.microsoft.com/office/drawing/2014/main" id="{2CF1EFC8-B7BC-89EC-0292-A48B3004715A}"/>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2023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334459315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6231813"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DF69D30F-5094-425F-A158-0850AE27D36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0038519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Two Column Text - Dark BG Colour">
    <p:bg>
      <p:bgPr>
        <a:solidFill>
          <a:schemeClr val="accent2"/>
        </a:solidFill>
        <a:effectLst/>
      </p:bgPr>
    </p:bg>
    <p:spTree>
      <p:nvGrpSpPr>
        <p:cNvPr id="1" name=""/>
        <p:cNvGrpSpPr/>
        <p:nvPr/>
      </p:nvGrpSpPr>
      <p:grpSpPr>
        <a:xfrm>
          <a:off x="0" y="0"/>
          <a:ext cx="0" cy="0"/>
          <a:chOff x="0" y="0"/>
          <a:chExt cx="0" cy="0"/>
        </a:xfrm>
      </p:grpSpPr>
      <p:sp>
        <p:nvSpPr>
          <p:cNvPr id="10" name="object 3">
            <a:extLst>
              <a:ext uri="{FF2B5EF4-FFF2-40B4-BE49-F238E27FC236}">
                <a16:creationId xmlns:a16="http://schemas.microsoft.com/office/drawing/2014/main" id="{7ED172E9-CFBC-0489-7FE6-431688621520}"/>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5362" y="1330325"/>
            <a:ext cx="4968000"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27">
            <a:extLst>
              <a:ext uri="{FF2B5EF4-FFF2-40B4-BE49-F238E27FC236}">
                <a16:creationId xmlns:a16="http://schemas.microsoft.com/office/drawing/2014/main" id="{6ED3211B-3C86-4413-BA20-A4F81B443BE8}"/>
              </a:ext>
            </a:extLst>
          </p:cNvPr>
          <p:cNvSpPr>
            <a:spLocks noGrp="1"/>
          </p:cNvSpPr>
          <p:nvPr>
            <p:ph type="body" sz="quarter" idx="11"/>
          </p:nvPr>
        </p:nvSpPr>
        <p:spPr>
          <a:xfrm>
            <a:off x="6230938" y="1330126"/>
            <a:ext cx="4968875"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1C918AE-52AC-4531-9640-0D2CA3A28F2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1" name="Shape 8">
            <a:extLst>
              <a:ext uri="{FF2B5EF4-FFF2-40B4-BE49-F238E27FC236}">
                <a16:creationId xmlns:a16="http://schemas.microsoft.com/office/drawing/2014/main" id="{94633614-6108-4A5F-9DF8-275F150438A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2" name="TextBox 11">
            <a:extLst>
              <a:ext uri="{FF2B5EF4-FFF2-40B4-BE49-F238E27FC236}">
                <a16:creationId xmlns:a16="http://schemas.microsoft.com/office/drawing/2014/main" id="{150E3323-7007-4144-A219-C2088B5B672D}"/>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14" name="Straight Connector 13">
            <a:extLst>
              <a:ext uri="{FF2B5EF4-FFF2-40B4-BE49-F238E27FC236}">
                <a16:creationId xmlns:a16="http://schemas.microsoft.com/office/drawing/2014/main" id="{31BED6AC-1D49-4097-9CB9-4CA6C41EC866}"/>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Graphic 8">
            <a:extLst>
              <a:ext uri="{FF2B5EF4-FFF2-40B4-BE49-F238E27FC236}">
                <a16:creationId xmlns:a16="http://schemas.microsoft.com/office/drawing/2014/main" id="{B5ED1770-BE4C-4F59-AB07-14FB76347432}"/>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3" name="Isosceles Triangle 2">
            <a:extLst>
              <a:ext uri="{FF2B5EF4-FFF2-40B4-BE49-F238E27FC236}">
                <a16:creationId xmlns:a16="http://schemas.microsoft.com/office/drawing/2014/main" id="{1A990FC1-EE03-9E79-7ACA-021DFCCA0F4B}"/>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2C3D69DE-DAB1-C8E2-7BAE-296DA1E0E6E5}"/>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0E02D946-0179-3BC7-8E59-25FBD9096EE8}"/>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94827837-F197-476E-56BB-4CC34F3E80A0}"/>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7" name="Graphic 6" descr="Home">
            <a:hlinkClick r:id="rId3" action="ppaction://hlinksldjump"/>
            <a:extLst>
              <a:ext uri="{FF2B5EF4-FFF2-40B4-BE49-F238E27FC236}">
                <a16:creationId xmlns:a16="http://schemas.microsoft.com/office/drawing/2014/main" id="{9A997D05-7A98-5043-BC2B-7968004E686C}"/>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8" name="TextBox 7">
            <a:extLst>
              <a:ext uri="{FF2B5EF4-FFF2-40B4-BE49-F238E27FC236}">
                <a16:creationId xmlns:a16="http://schemas.microsoft.com/office/drawing/2014/main" id="{1335B5E5-10B7-D2DD-2E94-6445FC8E8B20}"/>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2023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346359830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4968000" cy="454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3"/>
          </p:nvPr>
        </p:nvSpPr>
        <p:spPr>
          <a:xfrm>
            <a:off x="6231813" y="1330126"/>
            <a:ext cx="4968000" cy="454680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D91C8742-D774-4F89-A78A-3FE2DD10535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7422525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10204451"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1"/>
          </p:nvPr>
        </p:nvSpPr>
        <p:spPr>
          <a:xfrm>
            <a:off x="995362" y="3742126"/>
            <a:ext cx="10204451" cy="213574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02D32ADA-D319-4A1F-BF43-8C0B259FADD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77744512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2 Column Char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6231813" y="1330126"/>
            <a:ext cx="4968000" cy="4546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995362" y="1330325"/>
            <a:ext cx="4968000" cy="454680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F443F486-864A-4617-9E68-0A1C3CD9BA8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24383244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3 Column Chart &amp; Tex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4507546" y="3742126"/>
            <a:ext cx="3187200" cy="2134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995362" y="3742126"/>
            <a:ext cx="3187200" cy="2134800"/>
          </a:xfrm>
        </p:spPr>
        <p:txBody>
          <a:bodyPr anchor="ctr"/>
          <a:lstStyle>
            <a:lvl1pPr algn="ctr">
              <a:defRPr/>
            </a:lvl1pPr>
          </a:lstStyle>
          <a:p>
            <a:r>
              <a:rPr lang="en-US"/>
              <a:t>Click icon to add chart</a:t>
            </a:r>
            <a:endParaRPr lang="en-GB"/>
          </a:p>
        </p:txBody>
      </p:sp>
      <p:sp>
        <p:nvSpPr>
          <p:cNvPr id="7" name="Text Placeholder 8"/>
          <p:cNvSpPr>
            <a:spLocks noGrp="1"/>
          </p:cNvSpPr>
          <p:nvPr>
            <p:ph type="body" sz="quarter" idx="10"/>
          </p:nvPr>
        </p:nvSpPr>
        <p:spPr>
          <a:xfrm>
            <a:off x="995362" y="1330325"/>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hart Placeholder 4"/>
          <p:cNvSpPr>
            <a:spLocks noGrp="1"/>
          </p:cNvSpPr>
          <p:nvPr>
            <p:ph type="chart" sz="quarter" idx="13"/>
          </p:nvPr>
        </p:nvSpPr>
        <p:spPr>
          <a:xfrm>
            <a:off x="8012612" y="3742126"/>
            <a:ext cx="3187200" cy="2134800"/>
          </a:xfrm>
        </p:spPr>
        <p:txBody>
          <a:bodyPr anchor="ctr"/>
          <a:lstStyle>
            <a:lvl1pPr algn="ctr">
              <a:defRPr/>
            </a:lvl1pPr>
          </a:lstStyle>
          <a:p>
            <a:r>
              <a:rPr lang="en-US"/>
              <a:t>Click icon to add chart</a:t>
            </a:r>
            <a:endParaRPr lang="en-GB"/>
          </a:p>
        </p:txBody>
      </p:sp>
      <p:sp>
        <p:nvSpPr>
          <p:cNvPr id="9" name="Text Placeholder 8"/>
          <p:cNvSpPr>
            <a:spLocks noGrp="1"/>
          </p:cNvSpPr>
          <p:nvPr>
            <p:ph type="body" sz="quarter" idx="14"/>
          </p:nvPr>
        </p:nvSpPr>
        <p:spPr>
          <a:xfrm>
            <a:off x="4507546"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8"/>
          <p:cNvSpPr>
            <a:spLocks noGrp="1"/>
          </p:cNvSpPr>
          <p:nvPr>
            <p:ph type="body" sz="quarter" idx="15"/>
          </p:nvPr>
        </p:nvSpPr>
        <p:spPr>
          <a:xfrm>
            <a:off x="8012612"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1993B809-7A30-47BC-953E-AF9FE10FDFBB}"/>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69080483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Process 5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068984"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5134768"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720055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995362" y="1330325"/>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068984"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5134768"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7200552"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1" name="Text Placeholder 12"/>
          <p:cNvSpPr>
            <a:spLocks noGrp="1"/>
          </p:cNvSpPr>
          <p:nvPr>
            <p:ph type="body" sz="quarter" idx="18" hasCustomPrompt="1"/>
          </p:nvPr>
        </p:nvSpPr>
        <p:spPr>
          <a:xfrm>
            <a:off x="9264649"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2" name="Text Placeholder 8"/>
          <p:cNvSpPr>
            <a:spLocks noGrp="1"/>
          </p:cNvSpPr>
          <p:nvPr>
            <p:ph type="body" sz="quarter" idx="19"/>
          </p:nvPr>
        </p:nvSpPr>
        <p:spPr>
          <a:xfrm>
            <a:off x="9266337"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B6F9AD75-9C5D-491A-8EB6-1E4763A9BC3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64276190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Process 5 Columns - Cobalt Blue">
    <p:spTree>
      <p:nvGrpSpPr>
        <p:cNvPr id="1" name=""/>
        <p:cNvGrpSpPr/>
        <p:nvPr/>
      </p:nvGrpSpPr>
      <p:grpSpPr>
        <a:xfrm>
          <a:off x="0" y="0"/>
          <a:ext cx="0" cy="0"/>
          <a:chOff x="0" y="0"/>
          <a:chExt cx="0" cy="0"/>
        </a:xfrm>
      </p:grpSpPr>
      <p:sp>
        <p:nvSpPr>
          <p:cNvPr id="27" name="Text Placeholder 8">
            <a:extLst>
              <a:ext uri="{FF2B5EF4-FFF2-40B4-BE49-F238E27FC236}">
                <a16:creationId xmlns:a16="http://schemas.microsoft.com/office/drawing/2014/main" id="{A68D3E60-F95F-4250-92C1-89CF93433E23}"/>
              </a:ext>
            </a:extLst>
          </p:cNvPr>
          <p:cNvSpPr>
            <a:spLocks noGrp="1"/>
          </p:cNvSpPr>
          <p:nvPr>
            <p:ph type="body" sz="quarter" idx="10"/>
          </p:nvPr>
        </p:nvSpPr>
        <p:spPr>
          <a:xfrm>
            <a:off x="99536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8" name="Text Placeholder 8">
            <a:extLst>
              <a:ext uri="{FF2B5EF4-FFF2-40B4-BE49-F238E27FC236}">
                <a16:creationId xmlns:a16="http://schemas.microsoft.com/office/drawing/2014/main" id="{8D8E592C-F128-4E4B-970B-BFB5C0F2A492}"/>
              </a:ext>
            </a:extLst>
          </p:cNvPr>
          <p:cNvSpPr>
            <a:spLocks noGrp="1"/>
          </p:cNvSpPr>
          <p:nvPr>
            <p:ph type="body" sz="quarter" idx="11"/>
          </p:nvPr>
        </p:nvSpPr>
        <p:spPr>
          <a:xfrm>
            <a:off x="3068984"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9" name="Text Placeholder 8">
            <a:extLst>
              <a:ext uri="{FF2B5EF4-FFF2-40B4-BE49-F238E27FC236}">
                <a16:creationId xmlns:a16="http://schemas.microsoft.com/office/drawing/2014/main" id="{EE6B17CD-E0EF-40A4-A171-4E4B731CE0D9}"/>
              </a:ext>
            </a:extLst>
          </p:cNvPr>
          <p:cNvSpPr>
            <a:spLocks noGrp="1"/>
          </p:cNvSpPr>
          <p:nvPr>
            <p:ph type="body" sz="quarter" idx="12"/>
          </p:nvPr>
        </p:nvSpPr>
        <p:spPr>
          <a:xfrm>
            <a:off x="5134768"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Text Placeholder 8">
            <a:extLst>
              <a:ext uri="{FF2B5EF4-FFF2-40B4-BE49-F238E27FC236}">
                <a16:creationId xmlns:a16="http://schemas.microsoft.com/office/drawing/2014/main" id="{03C9A44B-2A8F-416D-A76B-F3A018572E3F}"/>
              </a:ext>
            </a:extLst>
          </p:cNvPr>
          <p:cNvSpPr>
            <a:spLocks noGrp="1"/>
          </p:cNvSpPr>
          <p:nvPr>
            <p:ph type="body" sz="quarter" idx="13"/>
          </p:nvPr>
        </p:nvSpPr>
        <p:spPr>
          <a:xfrm>
            <a:off x="720055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12">
            <a:extLst>
              <a:ext uri="{FF2B5EF4-FFF2-40B4-BE49-F238E27FC236}">
                <a16:creationId xmlns:a16="http://schemas.microsoft.com/office/drawing/2014/main" id="{D3A5B3AC-C2E0-40CF-9D31-036461F790D0}"/>
              </a:ext>
            </a:extLst>
          </p:cNvPr>
          <p:cNvSpPr>
            <a:spLocks noGrp="1"/>
          </p:cNvSpPr>
          <p:nvPr>
            <p:ph type="body" sz="quarter" idx="14" hasCustomPrompt="1"/>
          </p:nvPr>
        </p:nvSpPr>
        <p:spPr>
          <a:xfrm>
            <a:off x="995362" y="1330325"/>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2" name="Text Placeholder 12">
            <a:extLst>
              <a:ext uri="{FF2B5EF4-FFF2-40B4-BE49-F238E27FC236}">
                <a16:creationId xmlns:a16="http://schemas.microsoft.com/office/drawing/2014/main" id="{969E3860-942E-40E2-A1C8-AF5DF29675F7}"/>
              </a:ext>
            </a:extLst>
          </p:cNvPr>
          <p:cNvSpPr>
            <a:spLocks noGrp="1"/>
          </p:cNvSpPr>
          <p:nvPr>
            <p:ph type="body" sz="quarter" idx="15" hasCustomPrompt="1"/>
          </p:nvPr>
        </p:nvSpPr>
        <p:spPr>
          <a:xfrm>
            <a:off x="3068984"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3" name="Text Placeholder 12">
            <a:extLst>
              <a:ext uri="{FF2B5EF4-FFF2-40B4-BE49-F238E27FC236}">
                <a16:creationId xmlns:a16="http://schemas.microsoft.com/office/drawing/2014/main" id="{8E580107-2025-4C04-9884-4A6DBB63DE03}"/>
              </a:ext>
            </a:extLst>
          </p:cNvPr>
          <p:cNvSpPr>
            <a:spLocks noGrp="1"/>
          </p:cNvSpPr>
          <p:nvPr>
            <p:ph type="body" sz="quarter" idx="16" hasCustomPrompt="1"/>
          </p:nvPr>
        </p:nvSpPr>
        <p:spPr>
          <a:xfrm>
            <a:off x="5134768"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4" name="Text Placeholder 12">
            <a:extLst>
              <a:ext uri="{FF2B5EF4-FFF2-40B4-BE49-F238E27FC236}">
                <a16:creationId xmlns:a16="http://schemas.microsoft.com/office/drawing/2014/main" id="{BC4D5128-392D-4FC9-A83F-FA43203A40D7}"/>
              </a:ext>
            </a:extLst>
          </p:cNvPr>
          <p:cNvSpPr>
            <a:spLocks noGrp="1"/>
          </p:cNvSpPr>
          <p:nvPr>
            <p:ph type="body" sz="quarter" idx="17" hasCustomPrompt="1"/>
          </p:nvPr>
        </p:nvSpPr>
        <p:spPr>
          <a:xfrm>
            <a:off x="7200552"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5" name="Text Placeholder 12">
            <a:extLst>
              <a:ext uri="{FF2B5EF4-FFF2-40B4-BE49-F238E27FC236}">
                <a16:creationId xmlns:a16="http://schemas.microsoft.com/office/drawing/2014/main" id="{A8EB5529-8601-4864-9983-FBB672B8B9FF}"/>
              </a:ext>
            </a:extLst>
          </p:cNvPr>
          <p:cNvSpPr>
            <a:spLocks noGrp="1"/>
          </p:cNvSpPr>
          <p:nvPr>
            <p:ph type="body" sz="quarter" idx="18" hasCustomPrompt="1"/>
          </p:nvPr>
        </p:nvSpPr>
        <p:spPr>
          <a:xfrm>
            <a:off x="9264649"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6" name="Text Placeholder 8">
            <a:extLst>
              <a:ext uri="{FF2B5EF4-FFF2-40B4-BE49-F238E27FC236}">
                <a16:creationId xmlns:a16="http://schemas.microsoft.com/office/drawing/2014/main" id="{4715BC67-F699-49E6-B5D7-22ED9DFA817E}"/>
              </a:ext>
            </a:extLst>
          </p:cNvPr>
          <p:cNvSpPr>
            <a:spLocks noGrp="1"/>
          </p:cNvSpPr>
          <p:nvPr>
            <p:ph type="body" sz="quarter" idx="19"/>
          </p:nvPr>
        </p:nvSpPr>
        <p:spPr>
          <a:xfrm>
            <a:off x="9266337"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EB51C022-C0B7-4310-BC9F-D7C63034FE3A}"/>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218034447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Process 6 Colum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580C36-1E70-46DD-9783-AFD66B7DEC90}"/>
              </a:ext>
            </a:extLst>
          </p:cNvPr>
          <p:cNvSpPr/>
          <p:nvPr userDrawn="1"/>
        </p:nvSpPr>
        <p:spPr>
          <a:xfrm>
            <a:off x="0" y="0"/>
            <a:ext cx="12192000" cy="26860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9" name="Text Placeholder 8"/>
          <p:cNvSpPr>
            <a:spLocks noGrp="1"/>
          </p:cNvSpPr>
          <p:nvPr>
            <p:ph type="body" sz="quarter" idx="10"/>
          </p:nvPr>
        </p:nvSpPr>
        <p:spPr>
          <a:xfrm>
            <a:off x="995362"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2716529"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4437696"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6158863"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8"/>
          <p:cNvSpPr>
            <a:spLocks noGrp="1"/>
          </p:cNvSpPr>
          <p:nvPr>
            <p:ph type="body" sz="quarter" idx="19"/>
          </p:nvPr>
        </p:nvSpPr>
        <p:spPr>
          <a:xfrm>
            <a:off x="9601199"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469478F-D315-4922-A7E4-E575455BF352}"/>
              </a:ext>
            </a:extLst>
          </p:cNvPr>
          <p:cNvSpPr>
            <a:spLocks noGrp="1"/>
          </p:cNvSpPr>
          <p:nvPr>
            <p:ph type="body" sz="quarter" idx="20"/>
          </p:nvPr>
        </p:nvSpPr>
        <p:spPr>
          <a:xfrm>
            <a:off x="7880030"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38557E01-A30E-46EA-BAB3-4F33E0992F32}"/>
              </a:ext>
            </a:extLst>
          </p:cNvPr>
          <p:cNvSpPr>
            <a:spLocks noGrp="1"/>
          </p:cNvSpPr>
          <p:nvPr>
            <p:ph type="body" sz="quarter" idx="21"/>
          </p:nvPr>
        </p:nvSpPr>
        <p:spPr>
          <a:xfrm>
            <a:off x="995362" y="1330325"/>
            <a:ext cx="10204451" cy="538609"/>
          </a:xfrm>
        </p:spPr>
        <p:txBody>
          <a:bodyPr>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
        <p:nvSpPr>
          <p:cNvPr id="7" name="Title 6">
            <a:extLst>
              <a:ext uri="{FF2B5EF4-FFF2-40B4-BE49-F238E27FC236}">
                <a16:creationId xmlns:a16="http://schemas.microsoft.com/office/drawing/2014/main" id="{59724627-195E-4BFD-9A60-FFD6EECF128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2" name="Isosceles Triangle 1">
            <a:extLst>
              <a:ext uri="{FF2B5EF4-FFF2-40B4-BE49-F238E27FC236}">
                <a16:creationId xmlns:a16="http://schemas.microsoft.com/office/drawing/2014/main" id="{F45A981A-64C2-BB2D-937F-F1FB77BA6554}"/>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8" name="Isosceles Triangle 7">
            <a:extLst>
              <a:ext uri="{FF2B5EF4-FFF2-40B4-BE49-F238E27FC236}">
                <a16:creationId xmlns:a16="http://schemas.microsoft.com/office/drawing/2014/main" id="{DF618351-2B9B-A166-7F6A-78697FCFD370}"/>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1" name="Oval 10">
            <a:hlinkClick r:id="" action="ppaction://hlinkshowjump?jump=nextslide"/>
            <a:extLst>
              <a:ext uri="{FF2B5EF4-FFF2-40B4-BE49-F238E27FC236}">
                <a16:creationId xmlns:a16="http://schemas.microsoft.com/office/drawing/2014/main" id="{5226AD4E-6252-E4FA-54C2-D7095AFBA49C}"/>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3" name="Oval 12">
            <a:hlinkClick r:id="" action="ppaction://hlinkshowjump?jump=previousslide"/>
            <a:extLst>
              <a:ext uri="{FF2B5EF4-FFF2-40B4-BE49-F238E27FC236}">
                <a16:creationId xmlns:a16="http://schemas.microsoft.com/office/drawing/2014/main" id="{66DF5693-B6C1-E339-2ED5-002E61329F64}"/>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15" name="Graphic 14" descr="Home">
            <a:hlinkClick r:id="rId2" action="ppaction://hlinksldjump"/>
            <a:extLst>
              <a:ext uri="{FF2B5EF4-FFF2-40B4-BE49-F238E27FC236}">
                <a16:creationId xmlns:a16="http://schemas.microsoft.com/office/drawing/2014/main" id="{4DD707EF-DDC2-7626-6258-B699A0013F3B}"/>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71850" y="134089"/>
            <a:ext cx="222478" cy="222478"/>
          </a:xfrm>
          <a:prstGeom prst="rect">
            <a:avLst/>
          </a:prstGeom>
        </p:spPr>
      </p:pic>
    </p:spTree>
    <p:extLst>
      <p:ext uri="{BB962C8B-B14F-4D97-AF65-F5344CB8AC3E}">
        <p14:creationId xmlns:p14="http://schemas.microsoft.com/office/powerpoint/2010/main" val="189382376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Process 4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593775"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618435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8774926"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995362" y="1330325"/>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593775"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6184350"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8774926"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DE70D7C0-6953-439A-A54E-CED56520F82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0732795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Process 4 Columns - Cobalt Blue">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ABA5FBEF-FE77-4CC8-B2D5-D94327DAF658}"/>
              </a:ext>
            </a:extLst>
          </p:cNvPr>
          <p:cNvSpPr>
            <a:spLocks noGrp="1"/>
          </p:cNvSpPr>
          <p:nvPr>
            <p:ph type="body" sz="quarter" idx="10"/>
          </p:nvPr>
        </p:nvSpPr>
        <p:spPr>
          <a:xfrm>
            <a:off x="995362"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8">
            <a:extLst>
              <a:ext uri="{FF2B5EF4-FFF2-40B4-BE49-F238E27FC236}">
                <a16:creationId xmlns:a16="http://schemas.microsoft.com/office/drawing/2014/main" id="{659D9BAA-2BF4-4A94-BAA4-5D091A296246}"/>
              </a:ext>
            </a:extLst>
          </p:cNvPr>
          <p:cNvSpPr>
            <a:spLocks noGrp="1"/>
          </p:cNvSpPr>
          <p:nvPr>
            <p:ph type="body" sz="quarter" idx="11"/>
          </p:nvPr>
        </p:nvSpPr>
        <p:spPr>
          <a:xfrm>
            <a:off x="3593775"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3D170C1-7106-44D2-A62F-A804F244A090}"/>
              </a:ext>
            </a:extLst>
          </p:cNvPr>
          <p:cNvSpPr>
            <a:spLocks noGrp="1"/>
          </p:cNvSpPr>
          <p:nvPr>
            <p:ph type="body" sz="quarter" idx="12"/>
          </p:nvPr>
        </p:nvSpPr>
        <p:spPr>
          <a:xfrm>
            <a:off x="618435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a:extLst>
              <a:ext uri="{FF2B5EF4-FFF2-40B4-BE49-F238E27FC236}">
                <a16:creationId xmlns:a16="http://schemas.microsoft.com/office/drawing/2014/main" id="{5DDAC4CF-AC2F-4D83-9FB0-DDFB71EE9A2C}"/>
              </a:ext>
            </a:extLst>
          </p:cNvPr>
          <p:cNvSpPr>
            <a:spLocks noGrp="1"/>
          </p:cNvSpPr>
          <p:nvPr>
            <p:ph type="body" sz="quarter" idx="13"/>
          </p:nvPr>
        </p:nvSpPr>
        <p:spPr>
          <a:xfrm>
            <a:off x="8774926"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2">
            <a:extLst>
              <a:ext uri="{FF2B5EF4-FFF2-40B4-BE49-F238E27FC236}">
                <a16:creationId xmlns:a16="http://schemas.microsoft.com/office/drawing/2014/main" id="{3C84B130-9B9F-460C-87A1-4E3012ECEA7A}"/>
              </a:ext>
            </a:extLst>
          </p:cNvPr>
          <p:cNvSpPr>
            <a:spLocks noGrp="1"/>
          </p:cNvSpPr>
          <p:nvPr>
            <p:ph type="body" sz="quarter" idx="14" hasCustomPrompt="1"/>
          </p:nvPr>
        </p:nvSpPr>
        <p:spPr>
          <a:xfrm>
            <a:off x="995362" y="1330325"/>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0" name="Text Placeholder 12">
            <a:extLst>
              <a:ext uri="{FF2B5EF4-FFF2-40B4-BE49-F238E27FC236}">
                <a16:creationId xmlns:a16="http://schemas.microsoft.com/office/drawing/2014/main" id="{FC076374-F8FA-413A-9C7F-81C823512353}"/>
              </a:ext>
            </a:extLst>
          </p:cNvPr>
          <p:cNvSpPr>
            <a:spLocks noGrp="1"/>
          </p:cNvSpPr>
          <p:nvPr>
            <p:ph type="body" sz="quarter" idx="15" hasCustomPrompt="1"/>
          </p:nvPr>
        </p:nvSpPr>
        <p:spPr>
          <a:xfrm>
            <a:off x="3593775"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1" name="Text Placeholder 12">
            <a:extLst>
              <a:ext uri="{FF2B5EF4-FFF2-40B4-BE49-F238E27FC236}">
                <a16:creationId xmlns:a16="http://schemas.microsoft.com/office/drawing/2014/main" id="{92DC24D7-E120-435A-8A2A-98E939AC4C9C}"/>
              </a:ext>
            </a:extLst>
          </p:cNvPr>
          <p:cNvSpPr>
            <a:spLocks noGrp="1"/>
          </p:cNvSpPr>
          <p:nvPr>
            <p:ph type="body" sz="quarter" idx="16" hasCustomPrompt="1"/>
          </p:nvPr>
        </p:nvSpPr>
        <p:spPr>
          <a:xfrm>
            <a:off x="6184350"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2" name="Text Placeholder 12">
            <a:extLst>
              <a:ext uri="{FF2B5EF4-FFF2-40B4-BE49-F238E27FC236}">
                <a16:creationId xmlns:a16="http://schemas.microsoft.com/office/drawing/2014/main" id="{41F15369-328E-43E6-894F-1F86414EB3F0}"/>
              </a:ext>
            </a:extLst>
          </p:cNvPr>
          <p:cNvSpPr>
            <a:spLocks noGrp="1"/>
          </p:cNvSpPr>
          <p:nvPr>
            <p:ph type="body" sz="quarter" idx="17" hasCustomPrompt="1"/>
          </p:nvPr>
        </p:nvSpPr>
        <p:spPr>
          <a:xfrm>
            <a:off x="8774926"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9890D0D6-CEB9-47AA-B0BF-EB213FE3B803}"/>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303823482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Quad Box with Icon and Center Text Box">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919862B5-E58D-4F98-8070-F04E6659AC38}"/>
              </a:ext>
            </a:extLst>
          </p:cNvPr>
          <p:cNvSpPr>
            <a:spLocks noGrp="1"/>
          </p:cNvSpPr>
          <p:nvPr>
            <p:ph type="body" sz="quarter" idx="53"/>
          </p:nvPr>
        </p:nvSpPr>
        <p:spPr>
          <a:xfrm>
            <a:off x="995362" y="1330325"/>
            <a:ext cx="4967685" cy="2132614"/>
          </a:xfrm>
          <a:custGeom>
            <a:avLst/>
            <a:gdLst>
              <a:gd name="connsiteX0" fmla="*/ 0 w 4967685"/>
              <a:gd name="connsiteY0" fmla="*/ 0 h 2132614"/>
              <a:gd name="connsiteX1" fmla="*/ 4967685 w 4967685"/>
              <a:gd name="connsiteY1" fmla="*/ 0 h 2132614"/>
              <a:gd name="connsiteX2" fmla="*/ 4967685 w 4967685"/>
              <a:gd name="connsiteY2" fmla="*/ 1013538 h 2132614"/>
              <a:gd name="connsiteX3" fmla="*/ 3364916 w 4967685"/>
              <a:gd name="connsiteY3" fmla="*/ 1013538 h 2132614"/>
              <a:gd name="connsiteX4" fmla="*/ 3364916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4967685" y="0"/>
                </a:lnTo>
                <a:lnTo>
                  <a:pt x="4967685" y="1013538"/>
                </a:lnTo>
                <a:lnTo>
                  <a:pt x="3364916" y="1013538"/>
                </a:lnTo>
                <a:lnTo>
                  <a:pt x="3364916" y="2132614"/>
                </a:lnTo>
                <a:lnTo>
                  <a:pt x="0" y="2132614"/>
                </a:lnTo>
                <a:close/>
              </a:path>
            </a:pathLst>
          </a:custGeom>
          <a:solidFill>
            <a:schemeClr val="accent1">
              <a:lumMod val="20000"/>
              <a:lumOff val="80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AEEBDCDC-F212-4ED4-8D32-7B1BC919EF2D}"/>
              </a:ext>
            </a:extLst>
          </p:cNvPr>
          <p:cNvSpPr>
            <a:spLocks noGrp="1"/>
          </p:cNvSpPr>
          <p:nvPr>
            <p:ph type="body" sz="quarter" idx="55"/>
          </p:nvPr>
        </p:nvSpPr>
        <p:spPr>
          <a:xfrm>
            <a:off x="6232127" y="1330325"/>
            <a:ext cx="4967685" cy="2132614"/>
          </a:xfrm>
          <a:custGeom>
            <a:avLst/>
            <a:gdLst>
              <a:gd name="connsiteX0" fmla="*/ 0 w 4970724"/>
              <a:gd name="connsiteY0" fmla="*/ 0 h 2132614"/>
              <a:gd name="connsiteX1" fmla="*/ 4970724 w 4970724"/>
              <a:gd name="connsiteY1" fmla="*/ 0 h 2132614"/>
              <a:gd name="connsiteX2" fmla="*/ 4970724 w 4970724"/>
              <a:gd name="connsiteY2" fmla="*/ 2132614 h 2132614"/>
              <a:gd name="connsiteX3" fmla="*/ 1602767 w 4970724"/>
              <a:gd name="connsiteY3" fmla="*/ 2132614 h 2132614"/>
              <a:gd name="connsiteX4" fmla="*/ 1602767 w 4970724"/>
              <a:gd name="connsiteY4" fmla="*/ 1013538 h 2132614"/>
              <a:gd name="connsiteX5" fmla="*/ 0 w 4970724"/>
              <a:gd name="connsiteY5" fmla="*/ 1013538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0" y="0"/>
                </a:moveTo>
                <a:lnTo>
                  <a:pt x="4970724" y="0"/>
                </a:lnTo>
                <a:lnTo>
                  <a:pt x="4970724" y="2132614"/>
                </a:lnTo>
                <a:lnTo>
                  <a:pt x="1602767" y="2132614"/>
                </a:lnTo>
                <a:lnTo>
                  <a:pt x="1602767" y="1013538"/>
                </a:lnTo>
                <a:lnTo>
                  <a:pt x="0" y="1013538"/>
                </a:lnTo>
                <a:close/>
              </a:path>
            </a:pathLst>
          </a:custGeom>
          <a:solidFill>
            <a:schemeClr val="accent1">
              <a:lumMod val="20000"/>
              <a:lumOff val="80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19">
            <a:extLst>
              <a:ext uri="{FF2B5EF4-FFF2-40B4-BE49-F238E27FC236}">
                <a16:creationId xmlns:a16="http://schemas.microsoft.com/office/drawing/2014/main" id="{BE0E984E-3A85-42BD-A2C6-26D3EB300D8B}"/>
              </a:ext>
            </a:extLst>
          </p:cNvPr>
          <p:cNvSpPr>
            <a:spLocks noGrp="1"/>
          </p:cNvSpPr>
          <p:nvPr>
            <p:ph type="body" sz="quarter" idx="54"/>
          </p:nvPr>
        </p:nvSpPr>
        <p:spPr>
          <a:xfrm>
            <a:off x="995362" y="3744312"/>
            <a:ext cx="4967685" cy="2132614"/>
          </a:xfrm>
          <a:custGeom>
            <a:avLst/>
            <a:gdLst>
              <a:gd name="connsiteX0" fmla="*/ 0 w 4967685"/>
              <a:gd name="connsiteY0" fmla="*/ 0 h 2132614"/>
              <a:gd name="connsiteX1" fmla="*/ 3364916 w 4967685"/>
              <a:gd name="connsiteY1" fmla="*/ 0 h 2132614"/>
              <a:gd name="connsiteX2" fmla="*/ 3364916 w 4967685"/>
              <a:gd name="connsiteY2" fmla="*/ 1119077 h 2132614"/>
              <a:gd name="connsiteX3" fmla="*/ 4967685 w 4967685"/>
              <a:gd name="connsiteY3" fmla="*/ 1119077 h 2132614"/>
              <a:gd name="connsiteX4" fmla="*/ 4967685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3364916" y="0"/>
                </a:lnTo>
                <a:lnTo>
                  <a:pt x="3364916" y="1119077"/>
                </a:lnTo>
                <a:lnTo>
                  <a:pt x="4967685" y="1119077"/>
                </a:lnTo>
                <a:lnTo>
                  <a:pt x="4967685" y="2132614"/>
                </a:lnTo>
                <a:lnTo>
                  <a:pt x="0" y="2132614"/>
                </a:lnTo>
                <a:close/>
              </a:path>
            </a:pathLst>
          </a:custGeom>
          <a:solidFill>
            <a:schemeClr val="accent1">
              <a:lumMod val="20000"/>
              <a:lumOff val="80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8">
            <a:extLst>
              <a:ext uri="{FF2B5EF4-FFF2-40B4-BE49-F238E27FC236}">
                <a16:creationId xmlns:a16="http://schemas.microsoft.com/office/drawing/2014/main" id="{4DB6DB5B-6EBB-4E77-8ECE-2DE4424BD660}"/>
              </a:ext>
            </a:extLst>
          </p:cNvPr>
          <p:cNvSpPr>
            <a:spLocks noGrp="1"/>
          </p:cNvSpPr>
          <p:nvPr>
            <p:ph type="body" sz="quarter" idx="56"/>
          </p:nvPr>
        </p:nvSpPr>
        <p:spPr>
          <a:xfrm>
            <a:off x="6232127" y="3744312"/>
            <a:ext cx="4967685" cy="2132614"/>
          </a:xfrm>
          <a:custGeom>
            <a:avLst/>
            <a:gdLst>
              <a:gd name="connsiteX0" fmla="*/ 1602767 w 4970724"/>
              <a:gd name="connsiteY0" fmla="*/ 0 h 2132614"/>
              <a:gd name="connsiteX1" fmla="*/ 4970724 w 4970724"/>
              <a:gd name="connsiteY1" fmla="*/ 0 h 2132614"/>
              <a:gd name="connsiteX2" fmla="*/ 4970724 w 4970724"/>
              <a:gd name="connsiteY2" fmla="*/ 2132614 h 2132614"/>
              <a:gd name="connsiteX3" fmla="*/ 0 w 4970724"/>
              <a:gd name="connsiteY3" fmla="*/ 2132614 h 2132614"/>
              <a:gd name="connsiteX4" fmla="*/ 0 w 4970724"/>
              <a:gd name="connsiteY4" fmla="*/ 1119077 h 2132614"/>
              <a:gd name="connsiteX5" fmla="*/ 1602767 w 4970724"/>
              <a:gd name="connsiteY5" fmla="*/ 1119077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1602767" y="0"/>
                </a:moveTo>
                <a:lnTo>
                  <a:pt x="4970724" y="0"/>
                </a:lnTo>
                <a:lnTo>
                  <a:pt x="4970724" y="2132614"/>
                </a:lnTo>
                <a:lnTo>
                  <a:pt x="0" y="2132614"/>
                </a:lnTo>
                <a:lnTo>
                  <a:pt x="0" y="1119077"/>
                </a:lnTo>
                <a:lnTo>
                  <a:pt x="1602767" y="1119077"/>
                </a:lnTo>
                <a:close/>
              </a:path>
            </a:pathLst>
          </a:custGeom>
          <a:solidFill>
            <a:schemeClr val="accent1">
              <a:lumMod val="20000"/>
              <a:lumOff val="80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10"/>
          <p:cNvSpPr>
            <a:spLocks noGrp="1"/>
          </p:cNvSpPr>
          <p:nvPr>
            <p:ph type="body" sz="quarter" idx="21"/>
          </p:nvPr>
        </p:nvSpPr>
        <p:spPr bwMode="gray">
          <a:xfrm>
            <a:off x="4571176" y="2546022"/>
            <a:ext cx="3049649" cy="2118398"/>
          </a:xfrm>
          <a:prstGeom prst="rect">
            <a:avLst/>
          </a:prstGeom>
          <a:solidFill>
            <a:schemeClr val="accent1"/>
          </a:solidFill>
          <a:ln>
            <a:noFill/>
          </a:ln>
        </p:spPr>
        <p:txBody>
          <a:bodyPr lIns="108000" tIns="108000" rIns="108000" bIns="108000" anchor="ctr" anchorCtr="1">
            <a:noAutofit/>
          </a:bodyPr>
          <a:lstStyle>
            <a:lvl1pPr algn="ctr">
              <a:defRPr sz="1400">
                <a:solidFill>
                  <a:schemeClr val="bg1"/>
                </a:solidFill>
                <a:latin typeface="+mn-lt"/>
                <a:cs typeface="Arial" panose="020B0604020202020204" pitchFamily="34" charset="0"/>
              </a:defRPr>
            </a:lvl1pPr>
          </a:lstStyle>
          <a:p>
            <a:pPr lvl="0"/>
            <a:r>
              <a:rPr lang="en-US"/>
              <a:t>Click to edit Master text styles</a:t>
            </a:r>
          </a:p>
        </p:txBody>
      </p:sp>
      <p:sp>
        <p:nvSpPr>
          <p:cNvPr id="3" name="Title 2">
            <a:extLst>
              <a:ext uri="{FF2B5EF4-FFF2-40B4-BE49-F238E27FC236}">
                <a16:creationId xmlns:a16="http://schemas.microsoft.com/office/drawing/2014/main" id="{01CCA206-C726-4930-8059-66751EC1483B}"/>
              </a:ext>
            </a:extLst>
          </p:cNvPr>
          <p:cNvSpPr>
            <a:spLocks noGrp="1"/>
          </p:cNvSpPr>
          <p:nvPr>
            <p:ph type="title"/>
          </p:nvPr>
        </p:nvSpPr>
        <p:spPr>
          <a:xfrm>
            <a:off x="995364" y="431800"/>
            <a:ext cx="10204450" cy="533400"/>
          </a:xfrm>
        </p:spPr>
        <p:txBody>
          <a:bodyPr/>
          <a:lstStyle>
            <a:lvl1pPr>
              <a:defRPr>
                <a:solidFill>
                  <a:schemeClr val="tx2"/>
                </a:solidFill>
              </a:defRPr>
            </a:lvl1pPr>
          </a:lstStyle>
          <a:p>
            <a:r>
              <a:rPr lang="en-US"/>
              <a:t>Click to edit Master title style</a:t>
            </a:r>
            <a:endParaRPr lang="en-GB"/>
          </a:p>
        </p:txBody>
      </p:sp>
    </p:spTree>
    <p:extLst>
      <p:ext uri="{BB962C8B-B14F-4D97-AF65-F5344CB8AC3E}">
        <p14:creationId xmlns:p14="http://schemas.microsoft.com/office/powerpoint/2010/main" val="242498844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 Column Blue Heading">
    <p:spTree>
      <p:nvGrpSpPr>
        <p:cNvPr id="1" name=""/>
        <p:cNvGrpSpPr/>
        <p:nvPr/>
      </p:nvGrpSpPr>
      <p:grpSpPr>
        <a:xfrm>
          <a:off x="0" y="0"/>
          <a:ext cx="0" cy="0"/>
          <a:chOff x="0" y="0"/>
          <a:chExt cx="0" cy="0"/>
        </a:xfrm>
      </p:grpSpPr>
      <p:sp>
        <p:nvSpPr>
          <p:cNvPr id="19" name="Text Placeholder 8"/>
          <p:cNvSpPr>
            <a:spLocks noGrp="1"/>
          </p:cNvSpPr>
          <p:nvPr>
            <p:ph type="body" sz="quarter" idx="19"/>
          </p:nvPr>
        </p:nvSpPr>
        <p:spPr>
          <a:xfrm>
            <a:off x="995362" y="1720715"/>
            <a:ext cx="4968000" cy="4156211"/>
          </a:xfrm>
          <a:solidFill>
            <a:schemeClr val="accent1">
              <a:lumMod val="20000"/>
              <a:lumOff val="80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8"/>
          <p:cNvSpPr>
            <a:spLocks noGrp="1"/>
          </p:cNvSpPr>
          <p:nvPr>
            <p:ph type="body" sz="quarter" idx="20"/>
          </p:nvPr>
        </p:nvSpPr>
        <p:spPr>
          <a:xfrm>
            <a:off x="995362" y="1330325"/>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6231813" y="1720715"/>
            <a:ext cx="4968000" cy="4156211"/>
          </a:xfrm>
          <a:solidFill>
            <a:schemeClr val="accent1">
              <a:lumMod val="20000"/>
              <a:lumOff val="80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8"/>
          <p:cNvSpPr>
            <a:spLocks noGrp="1"/>
          </p:cNvSpPr>
          <p:nvPr>
            <p:ph type="body" sz="quarter" idx="22"/>
          </p:nvPr>
        </p:nvSpPr>
        <p:spPr>
          <a:xfrm>
            <a:off x="6231813"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C76913D-77B2-43C9-9A9E-B86D68E16B7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64104265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Four Quad Boxes">
    <p:spTree>
      <p:nvGrpSpPr>
        <p:cNvPr id="1" name=""/>
        <p:cNvGrpSpPr/>
        <p:nvPr/>
      </p:nvGrpSpPr>
      <p:grpSpPr>
        <a:xfrm>
          <a:off x="0" y="0"/>
          <a:ext cx="0" cy="0"/>
          <a:chOff x="0" y="0"/>
          <a:chExt cx="0" cy="0"/>
        </a:xfrm>
      </p:grpSpPr>
      <p:sp>
        <p:nvSpPr>
          <p:cNvPr id="13" name="Text Placeholder 8"/>
          <p:cNvSpPr>
            <a:spLocks noGrp="1"/>
          </p:cNvSpPr>
          <p:nvPr>
            <p:ph type="body" sz="quarter" idx="19"/>
          </p:nvPr>
        </p:nvSpPr>
        <p:spPr>
          <a:xfrm>
            <a:off x="995362" y="1719125"/>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p:cNvSpPr>
            <a:spLocks noGrp="1"/>
          </p:cNvSpPr>
          <p:nvPr>
            <p:ph type="body" sz="quarter" idx="20"/>
          </p:nvPr>
        </p:nvSpPr>
        <p:spPr>
          <a:xfrm>
            <a:off x="995362" y="1330325"/>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5" name="Text Placeholder 8"/>
          <p:cNvSpPr>
            <a:spLocks noGrp="1"/>
          </p:cNvSpPr>
          <p:nvPr>
            <p:ph type="body" sz="quarter" idx="21"/>
          </p:nvPr>
        </p:nvSpPr>
        <p:spPr>
          <a:xfrm>
            <a:off x="6231813" y="1719125"/>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p:cNvSpPr>
            <a:spLocks noGrp="1"/>
          </p:cNvSpPr>
          <p:nvPr>
            <p:ph type="body" sz="quarter" idx="22"/>
          </p:nvPr>
        </p:nvSpPr>
        <p:spPr>
          <a:xfrm>
            <a:off x="6231813" y="1330325"/>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1" name="Text Placeholder 8"/>
          <p:cNvSpPr>
            <a:spLocks noGrp="1"/>
          </p:cNvSpPr>
          <p:nvPr>
            <p:ph type="body" sz="quarter" idx="23"/>
          </p:nvPr>
        </p:nvSpPr>
        <p:spPr>
          <a:xfrm>
            <a:off x="995362" y="4130721"/>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8"/>
          <p:cNvSpPr>
            <a:spLocks noGrp="1"/>
          </p:cNvSpPr>
          <p:nvPr>
            <p:ph type="body" sz="quarter" idx="24"/>
          </p:nvPr>
        </p:nvSpPr>
        <p:spPr>
          <a:xfrm>
            <a:off x="995362"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3" name="Text Placeholder 8"/>
          <p:cNvSpPr>
            <a:spLocks noGrp="1"/>
          </p:cNvSpPr>
          <p:nvPr>
            <p:ph type="body" sz="quarter" idx="25"/>
          </p:nvPr>
        </p:nvSpPr>
        <p:spPr>
          <a:xfrm>
            <a:off x="6231813" y="4130721"/>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Text Placeholder 8"/>
          <p:cNvSpPr>
            <a:spLocks noGrp="1"/>
          </p:cNvSpPr>
          <p:nvPr>
            <p:ph type="body" sz="quarter" idx="26"/>
          </p:nvPr>
        </p:nvSpPr>
        <p:spPr>
          <a:xfrm>
            <a:off x="6231813"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EF8E881-FC4C-4F00-9389-FF3C71D7CB7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88205924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Four Quad Boxes BG Dark Colour">
    <p:bg>
      <p:bgPr>
        <a:solidFill>
          <a:schemeClr val="accent2"/>
        </a:solidFill>
        <a:effectLst/>
      </p:bgPr>
    </p:bg>
    <p:spTree>
      <p:nvGrpSpPr>
        <p:cNvPr id="1" name=""/>
        <p:cNvGrpSpPr/>
        <p:nvPr/>
      </p:nvGrpSpPr>
      <p:grpSpPr>
        <a:xfrm>
          <a:off x="0" y="0"/>
          <a:ext cx="0" cy="0"/>
          <a:chOff x="0" y="0"/>
          <a:chExt cx="0" cy="0"/>
        </a:xfrm>
      </p:grpSpPr>
      <p:sp>
        <p:nvSpPr>
          <p:cNvPr id="17" name="object 3">
            <a:extLst>
              <a:ext uri="{FF2B5EF4-FFF2-40B4-BE49-F238E27FC236}">
                <a16:creationId xmlns:a16="http://schemas.microsoft.com/office/drawing/2014/main" id="{E10C1585-375A-4D46-CC08-32341565B09F}"/>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69" name="Text Placeholder 8">
            <a:extLst>
              <a:ext uri="{FF2B5EF4-FFF2-40B4-BE49-F238E27FC236}">
                <a16:creationId xmlns:a16="http://schemas.microsoft.com/office/drawing/2014/main" id="{2086F202-0162-4310-A956-FCCC9474338A}"/>
              </a:ext>
            </a:extLst>
          </p:cNvPr>
          <p:cNvSpPr>
            <a:spLocks noGrp="1"/>
          </p:cNvSpPr>
          <p:nvPr>
            <p:ph type="body" sz="quarter" idx="19"/>
          </p:nvPr>
        </p:nvSpPr>
        <p:spPr>
          <a:xfrm>
            <a:off x="995362"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0" name="Text Placeholder 8">
            <a:extLst>
              <a:ext uri="{FF2B5EF4-FFF2-40B4-BE49-F238E27FC236}">
                <a16:creationId xmlns:a16="http://schemas.microsoft.com/office/drawing/2014/main" id="{E8B6691E-17EA-480D-B598-F314E1A68EB3}"/>
              </a:ext>
            </a:extLst>
          </p:cNvPr>
          <p:cNvSpPr>
            <a:spLocks noGrp="1"/>
          </p:cNvSpPr>
          <p:nvPr>
            <p:ph type="body" sz="quarter" idx="20"/>
          </p:nvPr>
        </p:nvSpPr>
        <p:spPr>
          <a:xfrm>
            <a:off x="995362" y="1330325"/>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1" name="Text Placeholder 8">
            <a:extLst>
              <a:ext uri="{FF2B5EF4-FFF2-40B4-BE49-F238E27FC236}">
                <a16:creationId xmlns:a16="http://schemas.microsoft.com/office/drawing/2014/main" id="{59F2358C-C167-462D-9F76-6D66B9B409BE}"/>
              </a:ext>
            </a:extLst>
          </p:cNvPr>
          <p:cNvSpPr>
            <a:spLocks noGrp="1"/>
          </p:cNvSpPr>
          <p:nvPr>
            <p:ph type="body" sz="quarter" idx="21"/>
          </p:nvPr>
        </p:nvSpPr>
        <p:spPr>
          <a:xfrm>
            <a:off x="6231813"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2" name="Text Placeholder 8">
            <a:extLst>
              <a:ext uri="{FF2B5EF4-FFF2-40B4-BE49-F238E27FC236}">
                <a16:creationId xmlns:a16="http://schemas.microsoft.com/office/drawing/2014/main" id="{B2FCC9C9-35DE-4F3C-A352-30EE65DD5B86}"/>
              </a:ext>
            </a:extLst>
          </p:cNvPr>
          <p:cNvSpPr>
            <a:spLocks noGrp="1"/>
          </p:cNvSpPr>
          <p:nvPr>
            <p:ph type="body" sz="quarter" idx="22"/>
          </p:nvPr>
        </p:nvSpPr>
        <p:spPr>
          <a:xfrm>
            <a:off x="6231813" y="1330325"/>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3" name="Text Placeholder 8">
            <a:extLst>
              <a:ext uri="{FF2B5EF4-FFF2-40B4-BE49-F238E27FC236}">
                <a16:creationId xmlns:a16="http://schemas.microsoft.com/office/drawing/2014/main" id="{EA017BC0-9170-4186-94F7-40E80F981A05}"/>
              </a:ext>
            </a:extLst>
          </p:cNvPr>
          <p:cNvSpPr>
            <a:spLocks noGrp="1"/>
          </p:cNvSpPr>
          <p:nvPr>
            <p:ph type="body" sz="quarter" idx="23"/>
          </p:nvPr>
        </p:nvSpPr>
        <p:spPr>
          <a:xfrm>
            <a:off x="995362" y="4130721"/>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4" name="Text Placeholder 8">
            <a:extLst>
              <a:ext uri="{FF2B5EF4-FFF2-40B4-BE49-F238E27FC236}">
                <a16:creationId xmlns:a16="http://schemas.microsoft.com/office/drawing/2014/main" id="{0383342E-84C2-404C-8D37-45747A191605}"/>
              </a:ext>
            </a:extLst>
          </p:cNvPr>
          <p:cNvSpPr>
            <a:spLocks noGrp="1"/>
          </p:cNvSpPr>
          <p:nvPr>
            <p:ph type="body" sz="quarter" idx="24"/>
          </p:nvPr>
        </p:nvSpPr>
        <p:spPr>
          <a:xfrm>
            <a:off x="995362" y="3741920"/>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5" name="Text Placeholder 8">
            <a:extLst>
              <a:ext uri="{FF2B5EF4-FFF2-40B4-BE49-F238E27FC236}">
                <a16:creationId xmlns:a16="http://schemas.microsoft.com/office/drawing/2014/main" id="{BE27B3E2-E887-473C-8464-38B061F67EA7}"/>
              </a:ext>
            </a:extLst>
          </p:cNvPr>
          <p:cNvSpPr>
            <a:spLocks noGrp="1"/>
          </p:cNvSpPr>
          <p:nvPr>
            <p:ph type="body" sz="quarter" idx="25"/>
          </p:nvPr>
        </p:nvSpPr>
        <p:spPr>
          <a:xfrm>
            <a:off x="6231813" y="4130721"/>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6" name="Text Placeholder 8">
            <a:extLst>
              <a:ext uri="{FF2B5EF4-FFF2-40B4-BE49-F238E27FC236}">
                <a16:creationId xmlns:a16="http://schemas.microsoft.com/office/drawing/2014/main" id="{4C0C9B8C-19B0-44D7-9F0F-975D45D4007F}"/>
              </a:ext>
            </a:extLst>
          </p:cNvPr>
          <p:cNvSpPr>
            <a:spLocks noGrp="1"/>
          </p:cNvSpPr>
          <p:nvPr>
            <p:ph type="body" sz="quarter" idx="26"/>
          </p:nvPr>
        </p:nvSpPr>
        <p:spPr>
          <a:xfrm>
            <a:off x="6231813" y="3741920"/>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39275135-3A5F-40EA-83D5-8A21BF903978}"/>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6" name="Shape 8">
            <a:extLst>
              <a:ext uri="{FF2B5EF4-FFF2-40B4-BE49-F238E27FC236}">
                <a16:creationId xmlns:a16="http://schemas.microsoft.com/office/drawing/2014/main" id="{318D7EFE-06F8-46EC-AF2B-FEBEADE006DD}"/>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20" name="TextBox 19">
            <a:extLst>
              <a:ext uri="{FF2B5EF4-FFF2-40B4-BE49-F238E27FC236}">
                <a16:creationId xmlns:a16="http://schemas.microsoft.com/office/drawing/2014/main" id="{CCCA1CC0-0581-4B49-8A09-A736B74D9442}"/>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22" name="Straight Connector 21">
            <a:extLst>
              <a:ext uri="{FF2B5EF4-FFF2-40B4-BE49-F238E27FC236}">
                <a16:creationId xmlns:a16="http://schemas.microsoft.com/office/drawing/2014/main" id="{10205052-9F05-4D64-A371-862F0F010529}"/>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Graphic 8">
            <a:extLst>
              <a:ext uri="{FF2B5EF4-FFF2-40B4-BE49-F238E27FC236}">
                <a16:creationId xmlns:a16="http://schemas.microsoft.com/office/drawing/2014/main" id="{3BFC9A3D-C903-4CED-9649-79FB2B13E1A3}"/>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2" name="Isosceles Triangle 1">
            <a:extLst>
              <a:ext uri="{FF2B5EF4-FFF2-40B4-BE49-F238E27FC236}">
                <a16:creationId xmlns:a16="http://schemas.microsoft.com/office/drawing/2014/main" id="{9E02A37C-7E01-AAA6-D697-37AA765BC686}"/>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D8405644-DE73-00EE-D81A-84D70D324818}"/>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A6B6FD82-6C20-895A-27B5-BF3E1E77088E}"/>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8AF59494-7DE4-5E6C-757A-3A14978659D0}"/>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7" name="Graphic 6" descr="Home">
            <a:hlinkClick r:id="rId3" action="ppaction://hlinksldjump"/>
            <a:extLst>
              <a:ext uri="{FF2B5EF4-FFF2-40B4-BE49-F238E27FC236}">
                <a16:creationId xmlns:a16="http://schemas.microsoft.com/office/drawing/2014/main" id="{D8A88469-B583-F54A-E5FB-22DCEF1DD470}"/>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10" name="TextBox 9">
            <a:extLst>
              <a:ext uri="{FF2B5EF4-FFF2-40B4-BE49-F238E27FC236}">
                <a16:creationId xmlns:a16="http://schemas.microsoft.com/office/drawing/2014/main" id="{C13A0519-80AF-706A-5E63-C3A2F21D28DA}"/>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2023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3001281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No Title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933383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No Title Blue">
    <p:bg>
      <p:bgPr>
        <a:solidFill>
          <a:schemeClr val="accent2"/>
        </a:solidFill>
        <a:effectLst/>
      </p:bgPr>
    </p:bg>
    <p:spTree>
      <p:nvGrpSpPr>
        <p:cNvPr id="1" name=""/>
        <p:cNvGrpSpPr/>
        <p:nvPr/>
      </p:nvGrpSpPr>
      <p:grpSpPr>
        <a:xfrm>
          <a:off x="0" y="0"/>
          <a:ext cx="0" cy="0"/>
          <a:chOff x="0" y="0"/>
          <a:chExt cx="0" cy="0"/>
        </a:xfrm>
      </p:grpSpPr>
      <p:sp>
        <p:nvSpPr>
          <p:cNvPr id="10" name="Shape 8">
            <a:extLst>
              <a:ext uri="{FF2B5EF4-FFF2-40B4-BE49-F238E27FC236}">
                <a16:creationId xmlns:a16="http://schemas.microsoft.com/office/drawing/2014/main" id="{BD5EA3DF-EDF9-4AA1-B876-3BB2C2DD6124}"/>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5C647E3E-7387-4F1B-91E4-B27FC18C0158}"/>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13" name="Straight Connector 12">
            <a:extLst>
              <a:ext uri="{FF2B5EF4-FFF2-40B4-BE49-F238E27FC236}">
                <a16:creationId xmlns:a16="http://schemas.microsoft.com/office/drawing/2014/main" id="{2A927FC7-77D6-449A-B7B3-5F6763D3F3FF}"/>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80623A36-C230-44C2-9A0A-29BBF3F63CC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2" name="Isosceles Triangle 1">
            <a:extLst>
              <a:ext uri="{FF2B5EF4-FFF2-40B4-BE49-F238E27FC236}">
                <a16:creationId xmlns:a16="http://schemas.microsoft.com/office/drawing/2014/main" id="{11A2B0A4-3B84-A60F-51A4-EF35D0B4CE23}"/>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3" name="Isosceles Triangle 2">
            <a:extLst>
              <a:ext uri="{FF2B5EF4-FFF2-40B4-BE49-F238E27FC236}">
                <a16:creationId xmlns:a16="http://schemas.microsoft.com/office/drawing/2014/main" id="{50C5DE3C-F53B-362E-7A13-F8013221FC9C}"/>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Oval 3">
            <a:hlinkClick r:id="" action="ppaction://hlinkshowjump?jump=nextslide"/>
            <a:extLst>
              <a:ext uri="{FF2B5EF4-FFF2-40B4-BE49-F238E27FC236}">
                <a16:creationId xmlns:a16="http://schemas.microsoft.com/office/drawing/2014/main" id="{4810C495-58A2-6C56-D9A7-FE2CAC030507}"/>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previousslide"/>
            <a:extLst>
              <a:ext uri="{FF2B5EF4-FFF2-40B4-BE49-F238E27FC236}">
                <a16:creationId xmlns:a16="http://schemas.microsoft.com/office/drawing/2014/main" id="{50F6E80C-3C27-696D-4914-BEE897CAC3D4}"/>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6" name="Graphic 5" descr="Home">
            <a:hlinkClick r:id="rId3" action="ppaction://hlinksldjump"/>
            <a:extLst>
              <a:ext uri="{FF2B5EF4-FFF2-40B4-BE49-F238E27FC236}">
                <a16:creationId xmlns:a16="http://schemas.microsoft.com/office/drawing/2014/main" id="{B3D7EF47-723C-79EE-14DC-FACEA88E451D}"/>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7" name="TextBox 6">
            <a:extLst>
              <a:ext uri="{FF2B5EF4-FFF2-40B4-BE49-F238E27FC236}">
                <a16:creationId xmlns:a16="http://schemas.microsoft.com/office/drawing/2014/main" id="{32298E8B-4DC6-8F11-E51A-3BE4FE71F13D}"/>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2023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17677275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solidFill>
          <a:schemeClr val="accent1"/>
        </a:solidFill>
        <a:effectLst/>
      </p:bgPr>
    </p:bg>
    <p:spTree>
      <p:nvGrpSpPr>
        <p:cNvPr id="1" name=""/>
        <p:cNvGrpSpPr/>
        <p:nvPr/>
      </p:nvGrpSpPr>
      <p:grpSpPr>
        <a:xfrm>
          <a:off x="0" y="0"/>
          <a:ext cx="0" cy="0"/>
          <a:chOff x="0" y="0"/>
          <a:chExt cx="0" cy="0"/>
        </a:xfrm>
      </p:grpSpPr>
      <p:sp>
        <p:nvSpPr>
          <p:cNvPr id="4" name="object 3"/>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11" name="Rectangle 10">
            <a:extLst>
              <a:ext uri="{FF2B5EF4-FFF2-40B4-BE49-F238E27FC236}">
                <a16:creationId xmlns:a16="http://schemas.microsoft.com/office/drawing/2014/main" id="{8D5A6B33-6A03-E3BB-2C29-EAB833EA92E2}"/>
              </a:ext>
            </a:extLst>
          </p:cNvPr>
          <p:cNvSpPr>
            <a:spLocks noChangeAspect="1"/>
          </p:cNvSpPr>
          <p:nvPr userDrawn="1"/>
        </p:nvSpPr>
        <p:spPr>
          <a:xfrm>
            <a:off x="998476" y="1330325"/>
            <a:ext cx="10201337" cy="45466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Espace réservé du numéro de diapositive 1"/>
          <p:cNvSpPr>
            <a:spLocks noGrp="1"/>
          </p:cNvSpPr>
          <p:nvPr>
            <p:ph type="sldNum" sz="quarter" idx="10"/>
          </p:nvPr>
        </p:nvSpPr>
        <p:spPr>
          <a:xfrm>
            <a:off x="0" y="0"/>
            <a:ext cx="0" cy="0"/>
          </a:xfrm>
          <a:prstGeom prst="rect">
            <a:avLst/>
          </a:prstGeom>
          <a:ln>
            <a:solidFill>
              <a:srgbClr val="00338D"/>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fr-FR"/>
          </a:p>
        </p:txBody>
      </p:sp>
      <p:pic>
        <p:nvPicPr>
          <p:cNvPr id="12" name="Graphic 11">
            <a:extLst>
              <a:ext uri="{FF2B5EF4-FFF2-40B4-BE49-F238E27FC236}">
                <a16:creationId xmlns:a16="http://schemas.microsoft.com/office/drawing/2014/main" id="{8D201DF8-8688-B83B-BC19-EA576B519C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8B9B2E45-F797-8C99-08D4-9DA15AA8DE30}"/>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Isosceles Triangle 4">
            <a:extLst>
              <a:ext uri="{FF2B5EF4-FFF2-40B4-BE49-F238E27FC236}">
                <a16:creationId xmlns:a16="http://schemas.microsoft.com/office/drawing/2014/main" id="{048C6BF7-D6A6-A874-7571-562059B61049}"/>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nextslide"/>
            <a:extLst>
              <a:ext uri="{FF2B5EF4-FFF2-40B4-BE49-F238E27FC236}">
                <a16:creationId xmlns:a16="http://schemas.microsoft.com/office/drawing/2014/main" id="{B8FDD03E-077D-636B-3CB7-0042A0B81724}"/>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ECBF5D9C-E8B3-DDEB-3F3C-128404F08F15}"/>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8" name="Graphic 7" descr="Home">
            <a:hlinkClick r:id="rId4" action="ppaction://hlinksldjump"/>
            <a:extLst>
              <a:ext uri="{FF2B5EF4-FFF2-40B4-BE49-F238E27FC236}">
                <a16:creationId xmlns:a16="http://schemas.microsoft.com/office/drawing/2014/main" id="{ADE63953-21BF-6AA9-FD7C-6A3840E2323D}"/>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9" name="UpSlide Options" descr="{&#10;  &quot;NoBreadcrumb&quot;: true,&#10;  &quot;NoBreadcrumbNorReminder&quot;: true,&#10;  &quot;MinimumUpSlideVersion&quot;: &quot;0.0.0.0&quot;&#10;}" hidden="1">
            <a:extLst>
              <a:ext uri="{FF2B5EF4-FFF2-40B4-BE49-F238E27FC236}">
                <a16:creationId xmlns:a16="http://schemas.microsoft.com/office/drawing/2014/main" id="{B3BD9D59-40AF-CF26-139F-038A1F3B68B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125622931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Section Divider Alternativ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9ABACD5-3697-3FC6-A777-F6DF7E1E60D5}"/>
              </a:ext>
            </a:extLst>
          </p:cNvPr>
          <p:cNvSpPr>
            <a:spLocks noChangeAspect="1"/>
          </p:cNvSpPr>
          <p:nvPr userDrawn="1"/>
        </p:nvSpPr>
        <p:spPr>
          <a:xfrm>
            <a:off x="1" y="-1"/>
            <a:ext cx="12192000" cy="6858001"/>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pic>
        <p:nvPicPr>
          <p:cNvPr id="17" name="Graphic 16">
            <a:extLst>
              <a:ext uri="{FF2B5EF4-FFF2-40B4-BE49-F238E27FC236}">
                <a16:creationId xmlns:a16="http://schemas.microsoft.com/office/drawing/2014/main" id="{A51C6BDD-4F02-45D2-886C-4899A473F7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18" name="Rectangle 17">
            <a:extLst>
              <a:ext uri="{FF2B5EF4-FFF2-40B4-BE49-F238E27FC236}">
                <a16:creationId xmlns:a16="http://schemas.microsoft.com/office/drawing/2014/main" id="{135C8D6C-27B2-2FF8-9BCC-DA6140072A0C}"/>
              </a:ext>
            </a:extLst>
          </p:cNvPr>
          <p:cNvSpPr>
            <a:spLocks noChangeAspect="1"/>
          </p:cNvSpPr>
          <p:nvPr userDrawn="1"/>
        </p:nvSpPr>
        <p:spPr>
          <a:xfrm>
            <a:off x="998476" y="1330325"/>
            <a:ext cx="10201337" cy="45466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Isosceles Triangle 1">
            <a:extLst>
              <a:ext uri="{FF2B5EF4-FFF2-40B4-BE49-F238E27FC236}">
                <a16:creationId xmlns:a16="http://schemas.microsoft.com/office/drawing/2014/main" id="{4B495BA8-58E9-E3AA-F9F5-7583D7A2940B}"/>
              </a:ext>
            </a:extLst>
          </p:cNvPr>
          <p:cNvSpPr/>
          <p:nvPr userDrawn="1"/>
        </p:nvSpPr>
        <p:spPr>
          <a:xfrm rot="5400000">
            <a:off x="11914569"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3" name="Isosceles Triangle 2">
            <a:extLst>
              <a:ext uri="{FF2B5EF4-FFF2-40B4-BE49-F238E27FC236}">
                <a16:creationId xmlns:a16="http://schemas.microsoft.com/office/drawing/2014/main" id="{2C4A4DE2-1CAC-209A-3F03-24C51941C072}"/>
              </a:ext>
            </a:extLst>
          </p:cNvPr>
          <p:cNvSpPr/>
          <p:nvPr userDrawn="1"/>
        </p:nvSpPr>
        <p:spPr>
          <a:xfrm rot="16200000" flipH="1">
            <a:off x="11352448"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Oval 3">
            <a:hlinkClick r:id="" action="ppaction://hlinkshowjump?jump=nextslide"/>
            <a:extLst>
              <a:ext uri="{FF2B5EF4-FFF2-40B4-BE49-F238E27FC236}">
                <a16:creationId xmlns:a16="http://schemas.microsoft.com/office/drawing/2014/main" id="{4724609D-0457-12D4-11D6-8750EAF622C5}"/>
              </a:ext>
            </a:extLst>
          </p:cNvPr>
          <p:cNvSpPr/>
          <p:nvPr userDrawn="1"/>
        </p:nvSpPr>
        <p:spPr>
          <a:xfrm>
            <a:off x="11836622"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previousslide"/>
            <a:extLst>
              <a:ext uri="{FF2B5EF4-FFF2-40B4-BE49-F238E27FC236}">
                <a16:creationId xmlns:a16="http://schemas.microsoft.com/office/drawing/2014/main" id="{1F2DCF87-3B8E-C495-3334-965ED0C46291}"/>
              </a:ext>
            </a:extLst>
          </p:cNvPr>
          <p:cNvSpPr/>
          <p:nvPr userDrawn="1"/>
        </p:nvSpPr>
        <p:spPr>
          <a:xfrm flipH="1">
            <a:off x="11292948"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6" name="Graphic 5" descr="Home">
            <a:hlinkClick r:id="rId4" action="ppaction://hlinksldjump"/>
            <a:extLst>
              <a:ext uri="{FF2B5EF4-FFF2-40B4-BE49-F238E27FC236}">
                <a16:creationId xmlns:a16="http://schemas.microsoft.com/office/drawing/2014/main" id="{C7E93D80-572A-1A8C-0C42-5765002E8971}"/>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7" name="UpSlide Options" descr="{&#10;  &quot;NoBreadcrumb&quot;: true,&#10;  &quot;NoBreadcrumbNorReminder&quot;: true,&#10;  &quot;MinimumUpSlideVersion&quot;: &quot;0.0.0.0&quot;&#10;}" hidden="1">
            <a:extLst>
              <a:ext uri="{FF2B5EF4-FFF2-40B4-BE49-F238E27FC236}">
                <a16:creationId xmlns:a16="http://schemas.microsoft.com/office/drawing/2014/main" id="{B480C95C-4464-FF3C-A88E-BD10BC8660B3}"/>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213964664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Subsection Divider">
    <p:bg>
      <p:bgPr>
        <a:solidFill>
          <a:schemeClr val="tx2"/>
        </a:soli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0"/>
          </p:nvPr>
        </p:nvSpPr>
        <p:spPr>
          <a:xfrm>
            <a:off x="0" y="0"/>
            <a:ext cx="0" cy="0"/>
          </a:xfrm>
          <a:prstGeom prst="rect">
            <a:avLst/>
          </a:prstGeom>
          <a:noFill/>
          <a:ln>
            <a:solidFill>
              <a:srgbClr val="6D2077"/>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en-GB"/>
          </a:p>
        </p:txBody>
      </p:sp>
      <p:sp>
        <p:nvSpPr>
          <p:cNvPr id="8" name="Rectangle 7">
            <a:extLst>
              <a:ext uri="{FF2B5EF4-FFF2-40B4-BE49-F238E27FC236}">
                <a16:creationId xmlns:a16="http://schemas.microsoft.com/office/drawing/2014/main" id="{4B9E4C02-6E6B-D256-0591-294D7A7401A8}"/>
              </a:ext>
            </a:extLst>
          </p:cNvPr>
          <p:cNvSpPr>
            <a:spLocks/>
          </p:cNvSpPr>
          <p:nvPr userDrawn="1"/>
        </p:nvSpPr>
        <p:spPr>
          <a:xfrm>
            <a:off x="0" y="0"/>
            <a:ext cx="12192000"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pic>
        <p:nvPicPr>
          <p:cNvPr id="9" name="Graphic 8">
            <a:extLst>
              <a:ext uri="{FF2B5EF4-FFF2-40B4-BE49-F238E27FC236}">
                <a16:creationId xmlns:a16="http://schemas.microsoft.com/office/drawing/2014/main" id="{AA7A40F4-68A4-2E3E-C8D1-9E2D7C3D97C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FBF06BAA-B34F-A402-A5E3-D365A4C3C4D9}"/>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EEE51BD3-7A21-0D52-6714-28D30B1328B2}"/>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957BF9A7-DC28-8EE0-BF29-78170329A485}"/>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4DFF4B78-BB94-DA44-56EA-1AB499A0B0E8}"/>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7" name="Graphic 6" descr="Home">
            <a:hlinkClick r:id="rId4" action="ppaction://hlinksldjump"/>
            <a:extLst>
              <a:ext uri="{FF2B5EF4-FFF2-40B4-BE49-F238E27FC236}">
                <a16:creationId xmlns:a16="http://schemas.microsoft.com/office/drawing/2014/main" id="{94C79EC3-C681-2E4F-2E2C-BF9E374E994E}"/>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10" name="UpSlide Options" descr="{&#10;  &quot;NoBreadcrumb&quot;: true,&#10;  &quot;NoBreadcrumbNorReminder&quot;: true,&#10;  &quot;MinimumUpSlideVersion&quot;: &quot;0.0.0.0&quot;&#10;}" hidden="1">
            <a:extLst>
              <a:ext uri="{FF2B5EF4-FFF2-40B4-BE49-F238E27FC236}">
                <a16:creationId xmlns:a16="http://schemas.microsoft.com/office/drawing/2014/main" id="{85273A99-780A-A81B-2653-E26749654579}"/>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129756766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Divider Alternative">
    <p:bg>
      <p:bgPr>
        <a:solidFill>
          <a:schemeClr val="tx2"/>
        </a:soli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0"/>
          </p:nvPr>
        </p:nvSpPr>
        <p:spPr>
          <a:xfrm>
            <a:off x="0" y="0"/>
            <a:ext cx="0" cy="0"/>
          </a:xfrm>
          <a:prstGeom prst="rect">
            <a:avLst/>
          </a:prstGeom>
          <a:noFill/>
          <a:ln>
            <a:solidFill>
              <a:srgbClr val="6D2077"/>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en-GB"/>
          </a:p>
        </p:txBody>
      </p:sp>
      <p:sp>
        <p:nvSpPr>
          <p:cNvPr id="8" name="Rectangle 7">
            <a:extLst>
              <a:ext uri="{FF2B5EF4-FFF2-40B4-BE49-F238E27FC236}">
                <a16:creationId xmlns:a16="http://schemas.microsoft.com/office/drawing/2014/main" id="{4B9E4C02-6E6B-D256-0591-294D7A7401A8}"/>
              </a:ext>
            </a:extLst>
          </p:cNvPr>
          <p:cNvSpPr>
            <a:spLocks/>
          </p:cNvSpPr>
          <p:nvPr userDrawn="1"/>
        </p:nvSpPr>
        <p:spPr>
          <a:xfrm>
            <a:off x="0" y="0"/>
            <a:ext cx="12192000" cy="68580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pic>
        <p:nvPicPr>
          <p:cNvPr id="9" name="Graphic 8">
            <a:extLst>
              <a:ext uri="{FF2B5EF4-FFF2-40B4-BE49-F238E27FC236}">
                <a16:creationId xmlns:a16="http://schemas.microsoft.com/office/drawing/2014/main" id="{AA7A40F4-68A4-2E3E-C8D1-9E2D7C3D97C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DF85F483-FB89-4CD6-805A-0FE7DD2AB083}"/>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5AD30FA8-6D40-1244-5EB9-61F4FE4244CB}"/>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7F6C01A1-DD2C-BB50-CA81-5E644F042BA2}"/>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1B33194D-050B-5C63-08F9-6CE49F6B1433}"/>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7" name="Graphic 6" descr="Home">
            <a:hlinkClick r:id="rId4" action="ppaction://hlinksldjump"/>
            <a:extLst>
              <a:ext uri="{FF2B5EF4-FFF2-40B4-BE49-F238E27FC236}">
                <a16:creationId xmlns:a16="http://schemas.microsoft.com/office/drawing/2014/main" id="{54683177-A949-CBBC-2924-FEA811F0B442}"/>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10" name="UpSlide Options" descr="{&#10;  &quot;NoBreadcrumb&quot;: true,&#10;  &quot;NoBreadcrumbNorReminder&quot;: true,&#10;  &quot;MinimumUpSlideVersion&quot;: &quot;0.0.0.0&quot;&#10;}" hidden="1">
            <a:extLst>
              <a:ext uri="{FF2B5EF4-FFF2-40B4-BE49-F238E27FC236}">
                <a16:creationId xmlns:a16="http://schemas.microsoft.com/office/drawing/2014/main" id="{281D66AD-5AE3-2960-BFA7-051EDDC366BE}"/>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513674332"/>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Appendix Divider">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5E8EEF-E19D-A7AF-CB4F-25A1D67CA339}"/>
              </a:ext>
            </a:extLst>
          </p:cNvPr>
          <p:cNvSpPr>
            <a:spLocks/>
          </p:cNvSpPr>
          <p:nvPr userDrawn="1"/>
        </p:nvSpPr>
        <p:spPr>
          <a:xfrm>
            <a:off x="0" y="0"/>
            <a:ext cx="12192000"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pic>
        <p:nvPicPr>
          <p:cNvPr id="7" name="Graphic 6">
            <a:extLst>
              <a:ext uri="{FF2B5EF4-FFF2-40B4-BE49-F238E27FC236}">
                <a16:creationId xmlns:a16="http://schemas.microsoft.com/office/drawing/2014/main" id="{E74C124F-B1C9-2395-645F-1179FE5C0E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20" name="Rectangle 19">
            <a:extLst>
              <a:ext uri="{FF2B5EF4-FFF2-40B4-BE49-F238E27FC236}">
                <a16:creationId xmlns:a16="http://schemas.microsoft.com/office/drawing/2014/main" id="{09ABACD5-3697-3FC6-A777-F6DF7E1E60D5}"/>
              </a:ext>
            </a:extLst>
          </p:cNvPr>
          <p:cNvSpPr>
            <a:spLocks noChangeAspect="1"/>
          </p:cNvSpPr>
          <p:nvPr userDrawn="1"/>
        </p:nvSpPr>
        <p:spPr>
          <a:xfrm>
            <a:off x="998476" y="1330325"/>
            <a:ext cx="10201337" cy="4546600"/>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9" name="Text Placeholder 3">
            <a:extLst>
              <a:ext uri="{FF2B5EF4-FFF2-40B4-BE49-F238E27FC236}">
                <a16:creationId xmlns:a16="http://schemas.microsoft.com/office/drawing/2014/main" id="{D61FBFE2-3881-446C-0078-7C292197E38A}"/>
              </a:ext>
            </a:extLst>
          </p:cNvPr>
          <p:cNvSpPr>
            <a:spLocks noGrp="1"/>
          </p:cNvSpPr>
          <p:nvPr>
            <p:ph type="body" sz="quarter" idx="11"/>
          </p:nvPr>
        </p:nvSpPr>
        <p:spPr>
          <a:xfrm>
            <a:off x="1289860" y="5046651"/>
            <a:ext cx="5252400" cy="507831"/>
          </a:xfrm>
        </p:spPr>
        <p:txBody>
          <a:bodyPr wrap="square" anchor="b">
            <a:sp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 name="Isosceles Triangle 1">
            <a:extLst>
              <a:ext uri="{FF2B5EF4-FFF2-40B4-BE49-F238E27FC236}">
                <a16:creationId xmlns:a16="http://schemas.microsoft.com/office/drawing/2014/main" id="{84B4160F-9D48-2425-C5D9-8E033C914ABF}"/>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3" name="Isosceles Triangle 2">
            <a:extLst>
              <a:ext uri="{FF2B5EF4-FFF2-40B4-BE49-F238E27FC236}">
                <a16:creationId xmlns:a16="http://schemas.microsoft.com/office/drawing/2014/main" id="{FEF62274-6A3A-9193-D76D-A3C215B96D7E}"/>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Oval 3">
            <a:hlinkClick r:id="" action="ppaction://hlinkshowjump?jump=nextslide"/>
            <a:extLst>
              <a:ext uri="{FF2B5EF4-FFF2-40B4-BE49-F238E27FC236}">
                <a16:creationId xmlns:a16="http://schemas.microsoft.com/office/drawing/2014/main" id="{B4792726-31CF-FF17-8166-6F86136EF8C7}"/>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previousslide"/>
            <a:extLst>
              <a:ext uri="{FF2B5EF4-FFF2-40B4-BE49-F238E27FC236}">
                <a16:creationId xmlns:a16="http://schemas.microsoft.com/office/drawing/2014/main" id="{E09B03C4-CE17-0CEF-AD56-E372110A0CC8}"/>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8" name="Graphic 7" descr="Home">
            <a:hlinkClick r:id="rId4" action="ppaction://hlinksldjump"/>
            <a:extLst>
              <a:ext uri="{FF2B5EF4-FFF2-40B4-BE49-F238E27FC236}">
                <a16:creationId xmlns:a16="http://schemas.microsoft.com/office/drawing/2014/main" id="{621494FC-A344-946E-5987-392F63E4F065}"/>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9" name="UpSlide Options" descr="{&#10;  &quot;NoBreadcrumb&quot;: true,&#10;  &quot;NoBreadcrumbNorReminder&quot;: true,&#10;  &quot;MinimumUpSlideVersion&quot;: &quot;0.0.0.0&quot;&#10;}" hidden="1">
            <a:extLst>
              <a:ext uri="{FF2B5EF4-FFF2-40B4-BE49-F238E27FC236}">
                <a16:creationId xmlns:a16="http://schemas.microsoft.com/office/drawing/2014/main" id="{C387244A-1970-4B2B-769F-C61419B83C4A}"/>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283303239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Back Cover Dark Gradient">
    <p:bg>
      <p:bgPr>
        <a:gradFill>
          <a:gsLst>
            <a:gs pos="100000">
              <a:schemeClr val="accent1"/>
            </a:gs>
            <a:gs pos="0">
              <a:schemeClr val="accent5"/>
            </a:gs>
          </a:gsLst>
          <a:lin ang="0" scaled="0"/>
        </a:gra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30C5252-3419-AB29-3E5A-C61B60D35E12}"/>
              </a:ext>
            </a:extLst>
          </p:cNvPr>
          <p:cNvSpPr>
            <a:spLocks noChangeAspect="1"/>
          </p:cNvSpPr>
          <p:nvPr userDrawn="1"/>
        </p:nvSpPr>
        <p:spPr>
          <a:xfrm>
            <a:off x="0" y="0"/>
            <a:ext cx="12192000" cy="68580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1" name="TextBox 10"/>
          <p:cNvSpPr txBox="1"/>
          <p:nvPr userDrawn="1">
            <p:custDataLst>
              <p:tags r:id="rId1"/>
            </p:custDataLst>
          </p:nvPr>
        </p:nvSpPr>
        <p:spPr>
          <a:xfrm>
            <a:off x="989263" y="5353855"/>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a:solidFill>
                  <a:schemeClr val="bg1"/>
                </a:solidFill>
                <a:latin typeface="+mn-lt"/>
                <a:ea typeface="+mn-ea"/>
                <a:cs typeface="+mn-cs"/>
              </a:rPr>
              <a:t>Document Classification: KPMG Confidential</a:t>
            </a:r>
          </a:p>
        </p:txBody>
      </p:sp>
      <p:sp>
        <p:nvSpPr>
          <p:cNvPr id="3" name="Text Placeholder 2">
            <a:extLst>
              <a:ext uri="{FF2B5EF4-FFF2-40B4-BE49-F238E27FC236}">
                <a16:creationId xmlns:a16="http://schemas.microsoft.com/office/drawing/2014/main" id="{9771E9CC-2A2B-4C75-8522-60824F3AC7F8}"/>
              </a:ext>
            </a:extLst>
          </p:cNvPr>
          <p:cNvSpPr>
            <a:spLocks noGrp="1"/>
          </p:cNvSpPr>
          <p:nvPr>
            <p:ph type="body" sz="quarter" idx="10"/>
          </p:nvPr>
        </p:nvSpPr>
        <p:spPr>
          <a:xfrm>
            <a:off x="989011" y="4410172"/>
            <a:ext cx="10210801" cy="715865"/>
          </a:xfrm>
        </p:spPr>
        <p:txBody>
          <a:bodyPr anchor="b"/>
          <a:lstStyle>
            <a:lvl1pPr>
              <a:spcAft>
                <a:spcPts val="1000"/>
              </a:spcAft>
              <a:defRPr sz="900" b="0">
                <a:solidFill>
                  <a:schemeClr val="bg1"/>
                </a:solidFill>
              </a:defRPr>
            </a:lvl1pPr>
            <a:lvl2pPr>
              <a:spcAft>
                <a:spcPts val="1000"/>
              </a:spcAft>
              <a:defRPr sz="900" b="0">
                <a:solidFill>
                  <a:schemeClr val="bg1"/>
                </a:solidFill>
              </a:defRPr>
            </a:lvl2pPr>
          </a:lstStyle>
          <a:p>
            <a:pPr lvl="0"/>
            <a:r>
              <a:rPr lang="en-US"/>
              <a:t>Click to edit Master text styles</a:t>
            </a:r>
          </a:p>
          <a:p>
            <a:pPr lvl="1"/>
            <a:r>
              <a:rPr lang="en-US"/>
              <a:t>Second level</a:t>
            </a:r>
          </a:p>
        </p:txBody>
      </p:sp>
      <p:pic>
        <p:nvPicPr>
          <p:cNvPr id="19" name="Graphic 18">
            <a:extLst>
              <a:ext uri="{FF2B5EF4-FFF2-40B4-BE49-F238E27FC236}">
                <a16:creationId xmlns:a16="http://schemas.microsoft.com/office/drawing/2014/main" id="{BDA10B50-C087-6AD4-0571-081857C10F3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8476" y="371311"/>
            <a:ext cx="914400" cy="368346"/>
          </a:xfrm>
          <a:prstGeom prst="rect">
            <a:avLst/>
          </a:prstGeom>
        </p:spPr>
      </p:pic>
      <p:grpSp>
        <p:nvGrpSpPr>
          <p:cNvPr id="18" name="Group 17">
            <a:extLst>
              <a:ext uri="{FF2B5EF4-FFF2-40B4-BE49-F238E27FC236}">
                <a16:creationId xmlns:a16="http://schemas.microsoft.com/office/drawing/2014/main" id="{FEDF7C48-0166-8037-82C8-ED5C62DE46FC}"/>
              </a:ext>
            </a:extLst>
          </p:cNvPr>
          <p:cNvGrpSpPr/>
          <p:nvPr userDrawn="1"/>
        </p:nvGrpSpPr>
        <p:grpSpPr>
          <a:xfrm>
            <a:off x="998476" y="4140533"/>
            <a:ext cx="2023200" cy="367957"/>
            <a:chOff x="998476" y="2881529"/>
            <a:chExt cx="2023200" cy="367957"/>
          </a:xfrm>
        </p:grpSpPr>
        <p:sp>
          <p:nvSpPr>
            <p:cNvPr id="23" name="Rectangle 22">
              <a:extLst>
                <a:ext uri="{FF2B5EF4-FFF2-40B4-BE49-F238E27FC236}">
                  <a16:creationId xmlns:a16="http://schemas.microsoft.com/office/drawing/2014/main" id="{AB8A8088-F9D7-3ABA-3019-96B84A9F3344}"/>
                </a:ext>
              </a:extLst>
            </p:cNvPr>
            <p:cNvSpPr/>
            <p:nvPr userDrawn="1"/>
          </p:nvSpPr>
          <p:spPr>
            <a:xfrm>
              <a:off x="1441950" y="2918577"/>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5" name="Rectangle 24">
              <a:extLst>
                <a:ext uri="{FF2B5EF4-FFF2-40B4-BE49-F238E27FC236}">
                  <a16:creationId xmlns:a16="http://schemas.microsoft.com/office/drawing/2014/main" id="{AF12BE05-6145-DAF6-6DB6-64D5E84476B7}"/>
                </a:ext>
              </a:extLst>
            </p:cNvPr>
            <p:cNvSpPr/>
            <p:nvPr userDrawn="1"/>
          </p:nvSpPr>
          <p:spPr>
            <a:xfrm>
              <a:off x="1877844" y="2918577"/>
              <a:ext cx="281156" cy="322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6" name="Rectangle 25">
              <a:extLst>
                <a:ext uri="{FF2B5EF4-FFF2-40B4-BE49-F238E27FC236}">
                  <a16:creationId xmlns:a16="http://schemas.microsoft.com/office/drawing/2014/main" id="{5709A2B5-24E1-5D56-1AF7-9D9553C46436}"/>
                </a:ext>
              </a:extLst>
            </p:cNvPr>
            <p:cNvSpPr/>
            <p:nvPr userDrawn="1"/>
          </p:nvSpPr>
          <p:spPr>
            <a:xfrm>
              <a:off x="2689276" y="2924173"/>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7" name="Rectangle 26">
              <a:extLst>
                <a:ext uri="{FF2B5EF4-FFF2-40B4-BE49-F238E27FC236}">
                  <a16:creationId xmlns:a16="http://schemas.microsoft.com/office/drawing/2014/main" id="{73B78B60-7EBC-C917-0A21-453048E36062}"/>
                </a:ext>
              </a:extLst>
            </p:cNvPr>
            <p:cNvSpPr/>
            <p:nvPr userDrawn="1"/>
          </p:nvSpPr>
          <p:spPr>
            <a:xfrm>
              <a:off x="1025526" y="2924174"/>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pic>
          <p:nvPicPr>
            <p:cNvPr id="28" name="Picture 27">
              <a:extLst>
                <a:ext uri="{FF2B5EF4-FFF2-40B4-BE49-F238E27FC236}">
                  <a16:creationId xmlns:a16="http://schemas.microsoft.com/office/drawing/2014/main" id="{DB0235DB-4424-762A-DCB7-F278B350939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822950" y="2881529"/>
              <a:ext cx="360000" cy="360000"/>
            </a:xfrm>
            <a:prstGeom prst="rect">
              <a:avLst/>
            </a:prstGeom>
          </p:spPr>
        </p:pic>
        <p:pic>
          <p:nvPicPr>
            <p:cNvPr id="29" name="Picture 28" descr="Icon&#10;&#10;Description automatically generated">
              <a:extLst>
                <a:ext uri="{FF2B5EF4-FFF2-40B4-BE49-F238E27FC236}">
                  <a16:creationId xmlns:a16="http://schemas.microsoft.com/office/drawing/2014/main" id="{23CD18A0-5EDE-DB2F-9140-C550CEA7A5D0}"/>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242336" y="2881529"/>
              <a:ext cx="359648" cy="360000"/>
            </a:xfrm>
            <a:prstGeom prst="rect">
              <a:avLst/>
            </a:prstGeom>
          </p:spPr>
        </p:pic>
        <p:pic>
          <p:nvPicPr>
            <p:cNvPr id="30" name="Picture 29" descr="Logo&#10;&#10;Description automatically generated">
              <a:extLst>
                <a:ext uri="{FF2B5EF4-FFF2-40B4-BE49-F238E27FC236}">
                  <a16:creationId xmlns:a16="http://schemas.microsoft.com/office/drawing/2014/main" id="{E3A423FC-5062-59AA-BDA7-1ABC4E915442}"/>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14350" y="2889486"/>
              <a:ext cx="360000" cy="360000"/>
            </a:xfrm>
            <a:prstGeom prst="rect">
              <a:avLst/>
            </a:prstGeom>
          </p:spPr>
        </p:pic>
        <p:pic>
          <p:nvPicPr>
            <p:cNvPr id="31" name="Picture 30" descr="Logo&#10;&#10;Description automatically generated">
              <a:extLst>
                <a:ext uri="{FF2B5EF4-FFF2-40B4-BE49-F238E27FC236}">
                  <a16:creationId xmlns:a16="http://schemas.microsoft.com/office/drawing/2014/main" id="{E3DC9B30-741E-D199-5ADC-29631F506BC3}"/>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98476" y="2884275"/>
              <a:ext cx="360000" cy="360000"/>
            </a:xfrm>
            <a:prstGeom prst="rect">
              <a:avLst/>
            </a:prstGeom>
          </p:spPr>
        </p:pic>
        <p:pic>
          <p:nvPicPr>
            <p:cNvPr id="32" name="Picture 31" descr="Icon&#10;&#10;Description automatically generated">
              <a:extLst>
                <a:ext uri="{FF2B5EF4-FFF2-40B4-BE49-F238E27FC236}">
                  <a16:creationId xmlns:a16="http://schemas.microsoft.com/office/drawing/2014/main" id="{A54799F8-AA21-0AB2-30B2-2E34E343171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2661676" y="2881529"/>
              <a:ext cx="360000" cy="360000"/>
            </a:xfrm>
            <a:prstGeom prst="rect">
              <a:avLst/>
            </a:prstGeom>
          </p:spPr>
        </p:pic>
      </p:grpSp>
      <p:sp>
        <p:nvSpPr>
          <p:cNvPr id="33" name="Rectangle 32">
            <a:hlinkClick r:id="rId10"/>
            <a:extLst>
              <a:ext uri="{FF2B5EF4-FFF2-40B4-BE49-F238E27FC236}">
                <a16:creationId xmlns:a16="http://schemas.microsoft.com/office/drawing/2014/main" id="{A337238C-433B-22AB-E2F3-9AE2C582E2D2}"/>
              </a:ext>
            </a:extLst>
          </p:cNvPr>
          <p:cNvSpPr/>
          <p:nvPr userDrawn="1"/>
        </p:nvSpPr>
        <p:spPr>
          <a:xfrm>
            <a:off x="744852" y="3883332"/>
            <a:ext cx="2706624" cy="1024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500">
              <a:solidFill>
                <a:schemeClr val="bg1"/>
              </a:solidFill>
            </a:endParaRPr>
          </a:p>
        </p:txBody>
      </p:sp>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47D499C7-5C96-0514-69EF-27EA5440FCDA}"/>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111347912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Back Cover Light Gradient">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D71D08D-5E70-C746-0110-3F24193CA835}"/>
              </a:ext>
            </a:extLst>
          </p:cNvPr>
          <p:cNvSpPr>
            <a:spLocks noChangeAspect="1"/>
          </p:cNvSpPr>
          <p:nvPr userDrawn="1"/>
        </p:nvSpPr>
        <p:spPr>
          <a:xfrm>
            <a:off x="1" y="-1"/>
            <a:ext cx="12192000" cy="6858001"/>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1" name="TextBox 10"/>
          <p:cNvSpPr txBox="1"/>
          <p:nvPr userDrawn="1">
            <p:custDataLst>
              <p:tags r:id="rId1"/>
            </p:custDataLst>
          </p:nvPr>
        </p:nvSpPr>
        <p:spPr>
          <a:xfrm>
            <a:off x="989263" y="5750095"/>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a:solidFill>
                  <a:schemeClr val="accent2"/>
                </a:solidFill>
                <a:latin typeface="+mn-lt"/>
                <a:ea typeface="+mn-ea"/>
                <a:cs typeface="+mn-cs"/>
              </a:rPr>
              <a:t>Document Classification: KPMG Confidential</a:t>
            </a:r>
          </a:p>
        </p:txBody>
      </p:sp>
      <p:sp>
        <p:nvSpPr>
          <p:cNvPr id="53" name="Text Placeholder 2">
            <a:extLst>
              <a:ext uri="{FF2B5EF4-FFF2-40B4-BE49-F238E27FC236}">
                <a16:creationId xmlns:a16="http://schemas.microsoft.com/office/drawing/2014/main" id="{A835BAAE-8387-4EE5-AB59-6FBE19144C88}"/>
              </a:ext>
            </a:extLst>
          </p:cNvPr>
          <p:cNvSpPr>
            <a:spLocks noGrp="1"/>
          </p:cNvSpPr>
          <p:nvPr>
            <p:ph type="body" sz="quarter" idx="10"/>
          </p:nvPr>
        </p:nvSpPr>
        <p:spPr>
          <a:xfrm>
            <a:off x="989012" y="3702050"/>
            <a:ext cx="6660000" cy="1843088"/>
          </a:xfrm>
        </p:spPr>
        <p:txBody>
          <a:bodyPr anchor="b"/>
          <a:lstStyle>
            <a:lvl1pPr>
              <a:spcAft>
                <a:spcPts val="1000"/>
              </a:spcAft>
              <a:defRPr sz="900" b="0">
                <a:solidFill>
                  <a:schemeClr val="accent2"/>
                </a:solidFill>
              </a:defRPr>
            </a:lvl1pPr>
            <a:lvl2pPr>
              <a:spcAft>
                <a:spcPts val="1000"/>
              </a:spcAft>
              <a:defRPr sz="900" b="0">
                <a:solidFill>
                  <a:schemeClr val="accent2"/>
                </a:solidFill>
              </a:defRPr>
            </a:lvl2pPr>
          </a:lstStyle>
          <a:p>
            <a:pPr lvl="0"/>
            <a:r>
              <a:rPr lang="en-US"/>
              <a:t>Click to edit Master text styles</a:t>
            </a:r>
          </a:p>
          <a:p>
            <a:pPr lvl="1"/>
            <a:r>
              <a:rPr lang="en-US"/>
              <a:t>Second level</a:t>
            </a:r>
          </a:p>
        </p:txBody>
      </p:sp>
      <p:pic>
        <p:nvPicPr>
          <p:cNvPr id="17" name="Graphic 16">
            <a:extLst>
              <a:ext uri="{FF2B5EF4-FFF2-40B4-BE49-F238E27FC236}">
                <a16:creationId xmlns:a16="http://schemas.microsoft.com/office/drawing/2014/main" id="{A51C6BDD-4F02-45D2-886C-4899A473F7F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8476" y="371311"/>
            <a:ext cx="914400" cy="368346"/>
          </a:xfrm>
          <a:prstGeom prst="rect">
            <a:avLst/>
          </a:prstGeom>
        </p:spPr>
      </p:pic>
      <p:grpSp>
        <p:nvGrpSpPr>
          <p:cNvPr id="18" name="Group 17">
            <a:extLst>
              <a:ext uri="{FF2B5EF4-FFF2-40B4-BE49-F238E27FC236}">
                <a16:creationId xmlns:a16="http://schemas.microsoft.com/office/drawing/2014/main" id="{3EB104DD-8543-B281-DC74-A67A6BE2643A}"/>
              </a:ext>
            </a:extLst>
          </p:cNvPr>
          <p:cNvGrpSpPr/>
          <p:nvPr userDrawn="1"/>
        </p:nvGrpSpPr>
        <p:grpSpPr>
          <a:xfrm>
            <a:off x="998476" y="2881529"/>
            <a:ext cx="2023200" cy="367957"/>
            <a:chOff x="998476" y="2881529"/>
            <a:chExt cx="2023200" cy="367957"/>
          </a:xfrm>
        </p:grpSpPr>
        <p:sp>
          <p:nvSpPr>
            <p:cNvPr id="20" name="Rectangle 19">
              <a:extLst>
                <a:ext uri="{FF2B5EF4-FFF2-40B4-BE49-F238E27FC236}">
                  <a16:creationId xmlns:a16="http://schemas.microsoft.com/office/drawing/2014/main" id="{734260DC-6114-2E41-CEAF-081CD9E116C2}"/>
                </a:ext>
              </a:extLst>
            </p:cNvPr>
            <p:cNvSpPr/>
            <p:nvPr userDrawn="1"/>
          </p:nvSpPr>
          <p:spPr>
            <a:xfrm>
              <a:off x="1441950" y="2918577"/>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1" name="Rectangle 20">
              <a:extLst>
                <a:ext uri="{FF2B5EF4-FFF2-40B4-BE49-F238E27FC236}">
                  <a16:creationId xmlns:a16="http://schemas.microsoft.com/office/drawing/2014/main" id="{BEECBCF3-565A-93DA-D358-FECBA93D255A}"/>
                </a:ext>
              </a:extLst>
            </p:cNvPr>
            <p:cNvSpPr/>
            <p:nvPr userDrawn="1"/>
          </p:nvSpPr>
          <p:spPr>
            <a:xfrm>
              <a:off x="1877844" y="2918577"/>
              <a:ext cx="281156" cy="322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2" name="Rectangle 21">
              <a:extLst>
                <a:ext uri="{FF2B5EF4-FFF2-40B4-BE49-F238E27FC236}">
                  <a16:creationId xmlns:a16="http://schemas.microsoft.com/office/drawing/2014/main" id="{B2E4C412-B230-29B9-F663-0B9D2E974E3D}"/>
                </a:ext>
              </a:extLst>
            </p:cNvPr>
            <p:cNvSpPr/>
            <p:nvPr userDrawn="1"/>
          </p:nvSpPr>
          <p:spPr>
            <a:xfrm>
              <a:off x="2689276" y="2924173"/>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3" name="Rectangle 22">
              <a:extLst>
                <a:ext uri="{FF2B5EF4-FFF2-40B4-BE49-F238E27FC236}">
                  <a16:creationId xmlns:a16="http://schemas.microsoft.com/office/drawing/2014/main" id="{645D1C3C-E48F-BA62-AA51-A46B3B6CC1F1}"/>
                </a:ext>
              </a:extLst>
            </p:cNvPr>
            <p:cNvSpPr/>
            <p:nvPr userDrawn="1"/>
          </p:nvSpPr>
          <p:spPr>
            <a:xfrm>
              <a:off x="1025526" y="2924174"/>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pic>
          <p:nvPicPr>
            <p:cNvPr id="24" name="Picture 23">
              <a:extLst>
                <a:ext uri="{FF2B5EF4-FFF2-40B4-BE49-F238E27FC236}">
                  <a16:creationId xmlns:a16="http://schemas.microsoft.com/office/drawing/2014/main" id="{9F3878E8-DA13-01D5-0607-233EA525629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822950" y="2881529"/>
              <a:ext cx="360000" cy="360000"/>
            </a:xfrm>
            <a:prstGeom prst="rect">
              <a:avLst/>
            </a:prstGeom>
          </p:spPr>
        </p:pic>
        <p:pic>
          <p:nvPicPr>
            <p:cNvPr id="25" name="Picture 24" descr="Icon&#10;&#10;Description automatically generated">
              <a:extLst>
                <a:ext uri="{FF2B5EF4-FFF2-40B4-BE49-F238E27FC236}">
                  <a16:creationId xmlns:a16="http://schemas.microsoft.com/office/drawing/2014/main" id="{56441502-FB49-8FF3-33B6-02D5FB33320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242336" y="2881529"/>
              <a:ext cx="359648" cy="360000"/>
            </a:xfrm>
            <a:prstGeom prst="rect">
              <a:avLst/>
            </a:prstGeom>
          </p:spPr>
        </p:pic>
        <p:pic>
          <p:nvPicPr>
            <p:cNvPr id="26" name="Picture 25" descr="Logo&#10;&#10;Description automatically generated">
              <a:extLst>
                <a:ext uri="{FF2B5EF4-FFF2-40B4-BE49-F238E27FC236}">
                  <a16:creationId xmlns:a16="http://schemas.microsoft.com/office/drawing/2014/main" id="{374EF9AB-D91A-F62E-7F6C-4784B9ADE246}"/>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14350" y="2889486"/>
              <a:ext cx="360000" cy="360000"/>
            </a:xfrm>
            <a:prstGeom prst="rect">
              <a:avLst/>
            </a:prstGeom>
          </p:spPr>
        </p:pic>
        <p:pic>
          <p:nvPicPr>
            <p:cNvPr id="38" name="Picture 37" descr="Logo&#10;&#10;Description automatically generated">
              <a:extLst>
                <a:ext uri="{FF2B5EF4-FFF2-40B4-BE49-F238E27FC236}">
                  <a16:creationId xmlns:a16="http://schemas.microsoft.com/office/drawing/2014/main" id="{A82B7C7A-C977-0C6A-419D-2A18A98B82B6}"/>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98476" y="2884275"/>
              <a:ext cx="360000" cy="360000"/>
            </a:xfrm>
            <a:prstGeom prst="rect">
              <a:avLst/>
            </a:prstGeom>
          </p:spPr>
        </p:pic>
        <p:pic>
          <p:nvPicPr>
            <p:cNvPr id="39" name="Picture 38" descr="Icon&#10;&#10;Description automatically generated">
              <a:extLst>
                <a:ext uri="{FF2B5EF4-FFF2-40B4-BE49-F238E27FC236}">
                  <a16:creationId xmlns:a16="http://schemas.microsoft.com/office/drawing/2014/main" id="{9AE8395D-C36E-6AC4-70AF-0DC5A40EF363}"/>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2661676" y="2881529"/>
              <a:ext cx="360000" cy="360000"/>
            </a:xfrm>
            <a:prstGeom prst="rect">
              <a:avLst/>
            </a:prstGeom>
          </p:spPr>
        </p:pic>
      </p:grpSp>
      <p:sp>
        <p:nvSpPr>
          <p:cNvPr id="42" name="Rectangle 41">
            <a:hlinkClick r:id="rId10"/>
            <a:extLst>
              <a:ext uri="{FF2B5EF4-FFF2-40B4-BE49-F238E27FC236}">
                <a16:creationId xmlns:a16="http://schemas.microsoft.com/office/drawing/2014/main" id="{77C3C8E8-F184-919E-D548-970E37E57AE9}"/>
              </a:ext>
            </a:extLst>
          </p:cNvPr>
          <p:cNvSpPr/>
          <p:nvPr userDrawn="1"/>
        </p:nvSpPr>
        <p:spPr>
          <a:xfrm>
            <a:off x="744852" y="2624328"/>
            <a:ext cx="2706624" cy="1024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500">
              <a:solidFill>
                <a:schemeClr val="bg1"/>
              </a:solidFill>
            </a:endParaRPr>
          </a:p>
        </p:txBody>
      </p:sp>
      <p:sp>
        <p:nvSpPr>
          <p:cNvPr id="43" name="TextBox 42">
            <a:extLst>
              <a:ext uri="{FF2B5EF4-FFF2-40B4-BE49-F238E27FC236}">
                <a16:creationId xmlns:a16="http://schemas.microsoft.com/office/drawing/2014/main" id="{FB762ACD-7C0E-3B26-7E2F-E5EBFD7EED45}"/>
              </a:ext>
            </a:extLst>
          </p:cNvPr>
          <p:cNvSpPr txBox="1"/>
          <p:nvPr userDrawn="1"/>
        </p:nvSpPr>
        <p:spPr>
          <a:xfrm>
            <a:off x="993138" y="3355848"/>
            <a:ext cx="2458338" cy="212390"/>
          </a:xfrm>
          <a:prstGeom prst="rect">
            <a:avLst/>
          </a:prstGeom>
        </p:spPr>
        <p:txBody>
          <a:bodyPr vert="horz" wrap="square" lIns="0" tIns="0" rIns="0" bIns="0" rtlCol="0" anchor="t" anchorCtr="0">
            <a:noAutofit/>
          </a:bodyPr>
          <a:lstStyle/>
          <a:p>
            <a:pPr algn="l">
              <a:spcAft>
                <a:spcPts val="600"/>
              </a:spcAft>
            </a:pPr>
            <a:r>
              <a:rPr lang="en-GB" sz="1200" b="1">
                <a:solidFill>
                  <a:schemeClr val="tx2"/>
                </a:solidFill>
              </a:rPr>
              <a:t>kpmg.com/socialmedia</a:t>
            </a:r>
          </a:p>
        </p:txBody>
      </p:sp>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0C473D10-B2B7-01E5-46B3-8159DFC1D87D}"/>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95695915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ransmittal Letter">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9C82DF-29F9-95C5-18EA-18D6195399BF}"/>
              </a:ext>
            </a:extLst>
          </p:cNvPr>
          <p:cNvPicPr>
            <a:picLocks noChangeAspect="1"/>
          </p:cNvPicPr>
          <p:nvPr userDrawn="1"/>
        </p:nvPicPr>
        <p:blipFill>
          <a:blip r:embed="rId2"/>
          <a:stretch>
            <a:fillRect/>
          </a:stretch>
        </p:blipFill>
        <p:spPr>
          <a:xfrm>
            <a:off x="855784" y="119632"/>
            <a:ext cx="1259272" cy="930232"/>
          </a:xfrm>
          <a:prstGeom prst="rect">
            <a:avLst/>
          </a:prstGeom>
        </p:spPr>
      </p:pic>
      <p:sp>
        <p:nvSpPr>
          <p:cNvPr id="7" name="Text Placeholder 6">
            <a:extLst>
              <a:ext uri="{FF2B5EF4-FFF2-40B4-BE49-F238E27FC236}">
                <a16:creationId xmlns:a16="http://schemas.microsoft.com/office/drawing/2014/main" id="{C93531CD-B4BD-CAF1-877F-6A4CCE0EE125}"/>
              </a:ext>
            </a:extLst>
          </p:cNvPr>
          <p:cNvSpPr>
            <a:spLocks noGrp="1"/>
          </p:cNvSpPr>
          <p:nvPr>
            <p:ph type="body" sz="quarter" idx="11"/>
          </p:nvPr>
        </p:nvSpPr>
        <p:spPr>
          <a:xfrm>
            <a:off x="1003200" y="2345461"/>
            <a:ext cx="4968000" cy="3071557"/>
          </a:xfrm>
        </p:spPr>
        <p:txBody>
          <a:bodyPr/>
          <a:lstStyle>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448612AF-B2C2-EF49-4193-7D1D4CC99946}"/>
              </a:ext>
            </a:extLst>
          </p:cNvPr>
          <p:cNvSpPr>
            <a:spLocks noGrp="1"/>
          </p:cNvSpPr>
          <p:nvPr>
            <p:ph type="body" sz="quarter" idx="12"/>
          </p:nvPr>
        </p:nvSpPr>
        <p:spPr>
          <a:xfrm>
            <a:off x="6220800" y="2345461"/>
            <a:ext cx="4968000" cy="3071557"/>
          </a:xfrm>
        </p:spPr>
        <p:txBody>
          <a:bodyPr/>
          <a:lstStyle>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Box 11">
            <a:extLst>
              <a:ext uri="{FF2B5EF4-FFF2-40B4-BE49-F238E27FC236}">
                <a16:creationId xmlns:a16="http://schemas.microsoft.com/office/drawing/2014/main" id="{23A7D421-36D1-93BD-8032-3A460A87E51F}"/>
              </a:ext>
            </a:extLst>
          </p:cNvPr>
          <p:cNvSpPr txBox="1">
            <a:spLocks/>
          </p:cNvSpPr>
          <p:nvPr userDrawn="1"/>
        </p:nvSpPr>
        <p:spPr>
          <a:xfrm>
            <a:off x="8750300" y="431800"/>
            <a:ext cx="2449007" cy="720197"/>
          </a:xfrm>
          <a:prstGeom prst="rect">
            <a:avLst/>
          </a:prstGeom>
        </p:spPr>
        <p:txBody>
          <a:bodyPr vert="horz" wrap="square" lIns="0" tIns="0" rIns="0" bIns="0" rtlCol="0" anchor="t" anchorCtr="0">
            <a:noAutofit/>
          </a:bodyPr>
          <a:lstStyle/>
          <a:p>
            <a:pPr algn="r" hangingPunct="0"/>
            <a:r>
              <a:rPr lang="en-US" sz="800" b="0">
                <a:solidFill>
                  <a:srgbClr val="00338D"/>
                </a:solidFill>
                <a:cs typeface="Arial" panose="020B0604020202020204" pitchFamily="34" charset="0"/>
              </a:rPr>
              <a:t>KPMG LLP</a:t>
            </a:r>
          </a:p>
          <a:p>
            <a:pPr algn="r" hangingPunct="0"/>
            <a:r>
              <a:rPr lang="en-US" sz="800">
                <a:solidFill>
                  <a:srgbClr val="00338D"/>
                </a:solidFill>
                <a:cs typeface="Arial" panose="020B0604020202020204" pitchFamily="34" charset="0"/>
              </a:rPr>
              <a:t>Bay Adelaide Centre</a:t>
            </a:r>
          </a:p>
          <a:p>
            <a:pPr algn="r" hangingPunct="0"/>
            <a:r>
              <a:rPr lang="en-US" sz="800">
                <a:solidFill>
                  <a:srgbClr val="00338D"/>
                </a:solidFill>
                <a:cs typeface="Arial" panose="020B0604020202020204" pitchFamily="34" charset="0"/>
              </a:rPr>
              <a:t>333 Bay Street Suite 4600</a:t>
            </a:r>
          </a:p>
          <a:p>
            <a:pPr algn="r" hangingPunct="0"/>
            <a:r>
              <a:rPr lang="en-US" sz="800">
                <a:solidFill>
                  <a:srgbClr val="00338D"/>
                </a:solidFill>
                <a:cs typeface="Arial" panose="020B0604020202020204" pitchFamily="34" charset="0"/>
              </a:rPr>
              <a:t>Toronto, ON, M5H 2S5, Canada</a:t>
            </a:r>
          </a:p>
          <a:p>
            <a:pPr algn="r" hangingPunct="0"/>
            <a:r>
              <a:rPr lang="en-US" sz="800">
                <a:solidFill>
                  <a:srgbClr val="00338D"/>
                </a:solidFill>
                <a:cs typeface="Arial" panose="020B0604020202020204" pitchFamily="34" charset="0"/>
              </a:rPr>
              <a:t>Tel: + 1 416 777 8500</a:t>
            </a:r>
          </a:p>
          <a:p>
            <a:pPr algn="r" hangingPunct="0"/>
            <a:r>
              <a:rPr lang="en-US" sz="800">
                <a:solidFill>
                  <a:srgbClr val="00338D"/>
                </a:solidFill>
                <a:cs typeface="Arial" panose="020B0604020202020204" pitchFamily="34" charset="0"/>
              </a:rPr>
              <a:t>www.kpmg.ca</a:t>
            </a:r>
          </a:p>
          <a:p>
            <a:pPr algn="l">
              <a:spcAft>
                <a:spcPts val="600"/>
              </a:spcAft>
            </a:pPr>
            <a:endParaRPr lang="en-US" sz="1500" b="1">
              <a:solidFill>
                <a:schemeClr val="tx2"/>
              </a:solidFill>
            </a:endParaRPr>
          </a:p>
        </p:txBody>
      </p:sp>
    </p:spTree>
    <p:extLst>
      <p:ext uri="{BB962C8B-B14F-4D97-AF65-F5344CB8AC3E}">
        <p14:creationId xmlns:p14="http://schemas.microsoft.com/office/powerpoint/2010/main" val="109647571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Analysis_narrow table+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3671548714"/>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44" name="Chart Placeholder 43">
            <a:extLst>
              <a:ext uri="{FF2B5EF4-FFF2-40B4-BE49-F238E27FC236}">
                <a16:creationId xmlns:a16="http://schemas.microsoft.com/office/drawing/2014/main" id="{323C8984-87DA-4B07-887C-A87C47235EB9}"/>
              </a:ext>
            </a:extLst>
          </p:cNvPr>
          <p:cNvSpPr>
            <a:spLocks noGrp="1"/>
          </p:cNvSpPr>
          <p:nvPr>
            <p:ph type="chart" sz="quarter" idx="12" hasCustomPrompt="1"/>
          </p:nvPr>
        </p:nvSpPr>
        <p:spPr>
          <a:xfrm>
            <a:off x="8717872" y="1179513"/>
            <a:ext cx="2475728" cy="460800"/>
          </a:xfrm>
        </p:spPr>
        <p:txBody>
          <a:bodyPr lIns="72000"/>
          <a:lstStyle>
            <a:lvl1pPr>
              <a:defRPr sz="1000" b="1">
                <a:solidFill>
                  <a:schemeClr val="tx2"/>
                </a:solidFill>
              </a:defRPr>
            </a:lvl1pPr>
          </a:lstStyle>
          <a:p>
            <a:r>
              <a:rPr lang="fi-FI"/>
              <a:t>Add summary chart here</a:t>
            </a:r>
          </a:p>
        </p:txBody>
      </p:sp>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179513"/>
            <a:ext cx="7587923"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a:xfrm>
            <a:off x="998400" y="431800"/>
            <a:ext cx="10195200" cy="533400"/>
          </a:xfrm>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10" name="Text Placeholder 25">
            <a:extLst>
              <a:ext uri="{FF2B5EF4-FFF2-40B4-BE49-F238E27FC236}">
                <a16:creationId xmlns:a16="http://schemas.microsoft.com/office/drawing/2014/main" id="{E93A06B3-57FC-AF33-21C6-49BF9699A2A7}"/>
              </a:ext>
            </a:extLst>
          </p:cNvPr>
          <p:cNvSpPr>
            <a:spLocks noGrp="1"/>
          </p:cNvSpPr>
          <p:nvPr>
            <p:ph type="body" sz="quarter" idx="11" hasCustomPrompt="1"/>
          </p:nvPr>
        </p:nvSpPr>
        <p:spPr>
          <a:xfrm>
            <a:off x="4815356" y="1751584"/>
            <a:ext cx="638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1" name="Table Placeholder 45">
            <a:extLst>
              <a:ext uri="{FF2B5EF4-FFF2-40B4-BE49-F238E27FC236}">
                <a16:creationId xmlns:a16="http://schemas.microsoft.com/office/drawing/2014/main" id="{6189E6B8-7D03-3B14-F3B6-23F93C65A7A7}"/>
              </a:ext>
            </a:extLst>
          </p:cNvPr>
          <p:cNvSpPr>
            <a:spLocks noGrp="1"/>
          </p:cNvSpPr>
          <p:nvPr>
            <p:ph type="tbl" sz="quarter" idx="13" hasCustomPrompt="1"/>
          </p:nvPr>
        </p:nvSpPr>
        <p:spPr>
          <a:xfrm>
            <a:off x="995361" y="1751584"/>
            <a:ext cx="3690499" cy="4116932"/>
          </a:xfrm>
        </p:spPr>
        <p:txBody>
          <a:bodyPr lIns="72000" tIns="36000" rIns="0"/>
          <a:lstStyle>
            <a:lvl1pPr>
              <a:defRPr sz="1000" b="1">
                <a:solidFill>
                  <a:schemeClr val="tx2"/>
                </a:solidFill>
              </a:defRPr>
            </a:lvl1pPr>
          </a:lstStyle>
          <a:p>
            <a:r>
              <a:rPr lang="fi-FI"/>
              <a:t>Add table here</a:t>
            </a:r>
          </a:p>
        </p:txBody>
      </p:sp>
      <p:sp>
        <p:nvSpPr>
          <p:cNvPr id="8" name="Text Placeholder 6">
            <a:extLst>
              <a:ext uri="{FF2B5EF4-FFF2-40B4-BE49-F238E27FC236}">
                <a16:creationId xmlns:a16="http://schemas.microsoft.com/office/drawing/2014/main" id="{DC94CF26-BD86-D737-18DD-4C834B9B5683}"/>
              </a:ext>
            </a:extLst>
          </p:cNvPr>
          <p:cNvSpPr>
            <a:spLocks noGrp="1"/>
          </p:cNvSpPr>
          <p:nvPr>
            <p:ph type="body" sz="quarter" idx="26" hasCustomPrompt="1"/>
          </p:nvPr>
        </p:nvSpPr>
        <p:spPr>
          <a:xfrm>
            <a:off x="4815357" y="2003584"/>
            <a:ext cx="6378244" cy="3864932"/>
          </a:xfrm>
        </p:spPr>
        <p:txBody>
          <a:bodyPr lIns="72000" tIns="36000" rIns="0" bIns="0"/>
          <a:lstStyle>
            <a:lvl1pPr>
              <a:defRPr/>
            </a:lvl1pPr>
          </a:lstStyle>
          <a:p>
            <a:r>
              <a:rPr lang="en-US" sz="1000"/>
              <a:t>Add text here</a:t>
            </a:r>
          </a:p>
          <a:p>
            <a:pPr lvl="1"/>
            <a:endParaRPr lang="en-IN"/>
          </a:p>
        </p:txBody>
      </p:sp>
    </p:spTree>
    <p:extLst>
      <p:ext uri="{BB962C8B-B14F-4D97-AF65-F5344CB8AC3E}">
        <p14:creationId xmlns:p14="http://schemas.microsoft.com/office/powerpoint/2010/main" val="248105709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Analysis_narrow table+2 col text+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3615113804"/>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a:xfrm>
            <a:off x="998400" y="431800"/>
            <a:ext cx="10195200" cy="533400"/>
          </a:xfrm>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13" name="Text Placeholder 25">
            <a:extLst>
              <a:ext uri="{FF2B5EF4-FFF2-40B4-BE49-F238E27FC236}">
                <a16:creationId xmlns:a16="http://schemas.microsoft.com/office/drawing/2014/main" id="{DA153EA3-7B08-EA68-8BB4-1BE14901EB62}"/>
              </a:ext>
            </a:extLst>
          </p:cNvPr>
          <p:cNvSpPr>
            <a:spLocks noGrp="1"/>
          </p:cNvSpPr>
          <p:nvPr>
            <p:ph type="body" sz="quarter" idx="11" hasCustomPrompt="1"/>
          </p:nvPr>
        </p:nvSpPr>
        <p:spPr>
          <a:xfrm>
            <a:off x="4815356" y="1751584"/>
            <a:ext cx="638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8" name="Text Placeholder 6">
            <a:extLst>
              <a:ext uri="{FF2B5EF4-FFF2-40B4-BE49-F238E27FC236}">
                <a16:creationId xmlns:a16="http://schemas.microsoft.com/office/drawing/2014/main" id="{60425087-E0BD-E67F-03AF-685037AD5AE9}"/>
              </a:ext>
            </a:extLst>
          </p:cNvPr>
          <p:cNvSpPr>
            <a:spLocks noGrp="1"/>
          </p:cNvSpPr>
          <p:nvPr>
            <p:ph type="body" sz="quarter" idx="26" hasCustomPrompt="1"/>
          </p:nvPr>
        </p:nvSpPr>
        <p:spPr>
          <a:xfrm>
            <a:off x="4815356" y="2003584"/>
            <a:ext cx="3132000" cy="3864416"/>
          </a:xfrm>
        </p:spPr>
        <p:txBody>
          <a:bodyPr lIns="72000" tIns="36000" rIns="0" bIns="0"/>
          <a:lstStyle>
            <a:lvl1pPr>
              <a:defRPr/>
            </a:lvl1pPr>
          </a:lstStyle>
          <a:p>
            <a:r>
              <a:rPr lang="en-US" sz="1000"/>
              <a:t>Add text here</a:t>
            </a:r>
          </a:p>
          <a:p>
            <a:pPr lvl="1"/>
            <a:endParaRPr lang="en-IN"/>
          </a:p>
        </p:txBody>
      </p:sp>
      <p:sp>
        <p:nvSpPr>
          <p:cNvPr id="19" name="Text Placeholder 6">
            <a:extLst>
              <a:ext uri="{FF2B5EF4-FFF2-40B4-BE49-F238E27FC236}">
                <a16:creationId xmlns:a16="http://schemas.microsoft.com/office/drawing/2014/main" id="{28E3692A-725A-06BF-BB6F-8A8425686929}"/>
              </a:ext>
            </a:extLst>
          </p:cNvPr>
          <p:cNvSpPr>
            <a:spLocks noGrp="1"/>
          </p:cNvSpPr>
          <p:nvPr>
            <p:ph type="body" sz="quarter" idx="27" hasCustomPrompt="1"/>
          </p:nvPr>
        </p:nvSpPr>
        <p:spPr>
          <a:xfrm>
            <a:off x="8067813" y="2003584"/>
            <a:ext cx="3132000" cy="3864416"/>
          </a:xfrm>
        </p:spPr>
        <p:txBody>
          <a:bodyPr lIns="72000" tIns="36000" rIns="0" bIns="0"/>
          <a:lstStyle>
            <a:lvl1pPr>
              <a:defRPr/>
            </a:lvl1pPr>
          </a:lstStyle>
          <a:p>
            <a:r>
              <a:rPr lang="en-US" sz="1000"/>
              <a:t>Add text here</a:t>
            </a:r>
          </a:p>
          <a:p>
            <a:pPr lvl="1"/>
            <a:endParaRPr lang="en-IN"/>
          </a:p>
        </p:txBody>
      </p:sp>
      <p:sp>
        <p:nvSpPr>
          <p:cNvPr id="11" name="Chart Placeholder 43">
            <a:extLst>
              <a:ext uri="{FF2B5EF4-FFF2-40B4-BE49-F238E27FC236}">
                <a16:creationId xmlns:a16="http://schemas.microsoft.com/office/drawing/2014/main" id="{856FE8BE-D902-A644-F4C2-2CAD5D6268FE}"/>
              </a:ext>
            </a:extLst>
          </p:cNvPr>
          <p:cNvSpPr>
            <a:spLocks noGrp="1"/>
          </p:cNvSpPr>
          <p:nvPr>
            <p:ph type="chart" sz="quarter" idx="12" hasCustomPrompt="1"/>
          </p:nvPr>
        </p:nvSpPr>
        <p:spPr>
          <a:xfrm>
            <a:off x="8717873" y="1179513"/>
            <a:ext cx="2475728" cy="460800"/>
          </a:xfrm>
        </p:spPr>
        <p:txBody>
          <a:bodyPr lIns="72000"/>
          <a:lstStyle>
            <a:lvl1pPr>
              <a:defRPr sz="1000" b="1">
                <a:solidFill>
                  <a:schemeClr val="tx2"/>
                </a:solidFill>
              </a:defRPr>
            </a:lvl1pPr>
          </a:lstStyle>
          <a:p>
            <a:r>
              <a:rPr lang="fi-FI"/>
              <a:t>Add summary chart here</a:t>
            </a:r>
          </a:p>
        </p:txBody>
      </p:sp>
      <p:sp>
        <p:nvSpPr>
          <p:cNvPr id="15" name="Text Placeholder 11">
            <a:extLst>
              <a:ext uri="{FF2B5EF4-FFF2-40B4-BE49-F238E27FC236}">
                <a16:creationId xmlns:a16="http://schemas.microsoft.com/office/drawing/2014/main" id="{EDA66AB9-9A15-1FF6-7081-827E8E887381}"/>
              </a:ext>
            </a:extLst>
          </p:cNvPr>
          <p:cNvSpPr>
            <a:spLocks noGrp="1"/>
          </p:cNvSpPr>
          <p:nvPr>
            <p:ph type="body" sz="quarter" idx="10" hasCustomPrompt="1"/>
          </p:nvPr>
        </p:nvSpPr>
        <p:spPr>
          <a:xfrm>
            <a:off x="995361" y="1179513"/>
            <a:ext cx="7587923"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a:t>Use this strapline to summarize the key message — Keep it concise and clear, preferably 1-2 sentences only.</a:t>
            </a:r>
          </a:p>
        </p:txBody>
      </p:sp>
      <p:sp>
        <p:nvSpPr>
          <p:cNvPr id="9" name="Table Placeholder 45">
            <a:extLst>
              <a:ext uri="{FF2B5EF4-FFF2-40B4-BE49-F238E27FC236}">
                <a16:creationId xmlns:a16="http://schemas.microsoft.com/office/drawing/2014/main" id="{1AFC767D-9598-2FFF-8A74-FDEBC1DC934F}"/>
              </a:ext>
            </a:extLst>
          </p:cNvPr>
          <p:cNvSpPr>
            <a:spLocks noGrp="1"/>
          </p:cNvSpPr>
          <p:nvPr>
            <p:ph type="tbl" sz="quarter" idx="13" hasCustomPrompt="1"/>
          </p:nvPr>
        </p:nvSpPr>
        <p:spPr>
          <a:xfrm>
            <a:off x="995361" y="1751584"/>
            <a:ext cx="3690499" cy="4116416"/>
          </a:xfrm>
        </p:spPr>
        <p:txBody>
          <a:bodyPr lIns="72000" tIns="36000" rIns="0"/>
          <a:lstStyle>
            <a:lvl1pPr>
              <a:defRPr sz="1000" b="1">
                <a:solidFill>
                  <a:schemeClr val="tx2"/>
                </a:solidFill>
              </a:defRPr>
            </a:lvl1pPr>
          </a:lstStyle>
          <a:p>
            <a:r>
              <a:rPr lang="fi-FI"/>
              <a:t>Add table here</a:t>
            </a:r>
          </a:p>
        </p:txBody>
      </p:sp>
    </p:spTree>
    <p:extLst>
      <p:ext uri="{BB962C8B-B14F-4D97-AF65-F5344CB8AC3E}">
        <p14:creationId xmlns:p14="http://schemas.microsoft.com/office/powerpoint/2010/main" val="207395455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Analysis_2 columns tex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969865134"/>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179513"/>
            <a:ext cx="10195200" cy="460800"/>
          </a:xfrm>
        </p:spPr>
        <p:txBody>
          <a:bodyPr lIns="0" r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8" name="Text Placeholder 25">
            <a:extLst>
              <a:ext uri="{FF2B5EF4-FFF2-40B4-BE49-F238E27FC236}">
                <a16:creationId xmlns:a16="http://schemas.microsoft.com/office/drawing/2014/main" id="{007F8667-B92C-EB98-6B8B-697E85466508}"/>
              </a:ext>
            </a:extLst>
          </p:cNvPr>
          <p:cNvSpPr>
            <a:spLocks noGrp="1"/>
          </p:cNvSpPr>
          <p:nvPr>
            <p:ph type="body" sz="quarter" idx="11" hasCustomPrompt="1"/>
          </p:nvPr>
        </p:nvSpPr>
        <p:spPr>
          <a:xfrm>
            <a:off x="6165629" y="1751584"/>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9" name="Text Placeholder 25">
            <a:extLst>
              <a:ext uri="{FF2B5EF4-FFF2-40B4-BE49-F238E27FC236}">
                <a16:creationId xmlns:a16="http://schemas.microsoft.com/office/drawing/2014/main" id="{73C591D6-8A1C-CA28-41AC-55D37B996B5C}"/>
              </a:ext>
            </a:extLst>
          </p:cNvPr>
          <p:cNvSpPr>
            <a:spLocks noGrp="1"/>
          </p:cNvSpPr>
          <p:nvPr>
            <p:ph type="body" sz="quarter" idx="25" hasCustomPrompt="1"/>
          </p:nvPr>
        </p:nvSpPr>
        <p:spPr>
          <a:xfrm>
            <a:off x="995361" y="1751584"/>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0" name="Text Placeholder 6">
            <a:extLst>
              <a:ext uri="{FF2B5EF4-FFF2-40B4-BE49-F238E27FC236}">
                <a16:creationId xmlns:a16="http://schemas.microsoft.com/office/drawing/2014/main" id="{B126B9F3-EC58-4DE5-9DF6-13120B68EDB2}"/>
              </a:ext>
            </a:extLst>
          </p:cNvPr>
          <p:cNvSpPr>
            <a:spLocks noGrp="1"/>
          </p:cNvSpPr>
          <p:nvPr>
            <p:ph type="body" sz="quarter" idx="24" hasCustomPrompt="1"/>
          </p:nvPr>
        </p:nvSpPr>
        <p:spPr>
          <a:xfrm>
            <a:off x="6165629" y="2003584"/>
            <a:ext cx="5036400" cy="3865371"/>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Text Placeholder 6">
            <a:extLst>
              <a:ext uri="{FF2B5EF4-FFF2-40B4-BE49-F238E27FC236}">
                <a16:creationId xmlns:a16="http://schemas.microsoft.com/office/drawing/2014/main" id="{C6579D5C-8A15-B2E6-E4C1-444BA8155AE0}"/>
              </a:ext>
            </a:extLst>
          </p:cNvPr>
          <p:cNvSpPr>
            <a:spLocks noGrp="1"/>
          </p:cNvSpPr>
          <p:nvPr>
            <p:ph type="body" sz="quarter" idx="26" hasCustomPrompt="1"/>
          </p:nvPr>
        </p:nvSpPr>
        <p:spPr>
          <a:xfrm>
            <a:off x="995361" y="2003584"/>
            <a:ext cx="5036400" cy="3865371"/>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06442064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1_HEADLINES">
    <p:spTree>
      <p:nvGrpSpPr>
        <p:cNvPr id="1" name=""/>
        <p:cNvGrpSpPr/>
        <p:nvPr/>
      </p:nvGrpSpPr>
      <p:grpSpPr>
        <a:xfrm>
          <a:off x="0" y="0"/>
          <a:ext cx="0" cy="0"/>
          <a:chOff x="0" y="0"/>
          <a:chExt cx="0" cy="0"/>
        </a:xfrm>
      </p:grpSpPr>
      <p:graphicFrame>
        <p:nvGraphicFramePr>
          <p:cNvPr id="22" name="Object 21" hidden="1">
            <a:extLst>
              <a:ext uri="{FF2B5EF4-FFF2-40B4-BE49-F238E27FC236}">
                <a16:creationId xmlns:a16="http://schemas.microsoft.com/office/drawing/2014/main" id="{FC98976B-C13C-45FB-A9F9-9D4CCFE1027F}"/>
              </a:ext>
            </a:extLst>
          </p:cNvPr>
          <p:cNvGraphicFramePr>
            <a:graphicFrameLocks noChangeAspect="1"/>
          </p:cNvGraphicFramePr>
          <p:nvPr userDrawn="1">
            <p:custDataLst>
              <p:tags r:id="rId1"/>
            </p:custDataLst>
            <p:extLst>
              <p:ext uri="{D42A27DB-BD31-4B8C-83A1-F6EECF244321}">
                <p14:modId xmlns:p14="http://schemas.microsoft.com/office/powerpoint/2010/main" val="10578419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2" name="Object 21" hidden="1">
                        <a:extLst>
                          <a:ext uri="{FF2B5EF4-FFF2-40B4-BE49-F238E27FC236}">
                            <a16:creationId xmlns:a16="http://schemas.microsoft.com/office/drawing/2014/main" id="{FC98976B-C13C-45FB-A9F9-9D4CCFE1027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E578180-BC12-42C5-8E5F-A8957343D3D0}"/>
              </a:ext>
            </a:extLst>
          </p:cNvPr>
          <p:cNvSpPr>
            <a:spLocks noGrp="1"/>
          </p:cNvSpPr>
          <p:nvPr>
            <p:ph type="title"/>
          </p:nvPr>
        </p:nvSpPr>
        <p:spPr/>
        <p:txBody>
          <a:bodyPr vert="horz"/>
          <a:lstStyle/>
          <a:p>
            <a:r>
              <a:rPr lang="en-US"/>
              <a:t>Click to edit Master title style</a:t>
            </a:r>
            <a:endParaRPr lang="fi-FI"/>
          </a:p>
        </p:txBody>
      </p:sp>
    </p:spTree>
    <p:extLst>
      <p:ext uri="{BB962C8B-B14F-4D97-AF65-F5344CB8AC3E}">
        <p14:creationId xmlns:p14="http://schemas.microsoft.com/office/powerpoint/2010/main" val="270353856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ags" Target="../tags/tag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 Target="../slides/slide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tags" Target="../tags/tag4.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0.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theme" Target="../theme/theme2.xml"/><Relationship Id="rId5" Type="http://schemas.openxmlformats.org/officeDocument/2006/relationships/slideLayout" Target="../slideLayouts/slideLayout52.xml"/><Relationship Id="rId4" Type="http://schemas.openxmlformats.org/officeDocument/2006/relationships/slideLayout" Target="../slideLayouts/slideLayout51.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slideLayout" Target="../slideLayouts/slideLayout78.xml"/><Relationship Id="rId39" Type="http://schemas.openxmlformats.org/officeDocument/2006/relationships/slideLayout" Target="../slideLayouts/slideLayout91.xml"/><Relationship Id="rId21" Type="http://schemas.openxmlformats.org/officeDocument/2006/relationships/slideLayout" Target="../slideLayouts/slideLayout73.xml"/><Relationship Id="rId34" Type="http://schemas.openxmlformats.org/officeDocument/2006/relationships/slideLayout" Target="../slideLayouts/slideLayout86.xml"/><Relationship Id="rId42" Type="http://schemas.openxmlformats.org/officeDocument/2006/relationships/slideLayout" Target="../slideLayouts/slideLayout94.xml"/><Relationship Id="rId47" Type="http://schemas.openxmlformats.org/officeDocument/2006/relationships/tags" Target="../tags/tag56.xml"/><Relationship Id="rId50" Type="http://schemas.openxmlformats.org/officeDocument/2006/relationships/slide" Target="../slides/slide12.xml"/><Relationship Id="rId7" Type="http://schemas.openxmlformats.org/officeDocument/2006/relationships/slideLayout" Target="../slideLayouts/slideLayout59.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9" Type="http://schemas.openxmlformats.org/officeDocument/2006/relationships/slideLayout" Target="../slideLayouts/slideLayout81.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32" Type="http://schemas.openxmlformats.org/officeDocument/2006/relationships/slideLayout" Target="../slideLayouts/slideLayout84.xml"/><Relationship Id="rId37" Type="http://schemas.openxmlformats.org/officeDocument/2006/relationships/slideLayout" Target="../slideLayouts/slideLayout89.xml"/><Relationship Id="rId40" Type="http://schemas.openxmlformats.org/officeDocument/2006/relationships/slideLayout" Target="../slideLayouts/slideLayout92.xml"/><Relationship Id="rId45" Type="http://schemas.openxmlformats.org/officeDocument/2006/relationships/slideLayout" Target="../slideLayouts/slideLayout97.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28" Type="http://schemas.openxmlformats.org/officeDocument/2006/relationships/slideLayout" Target="../slideLayouts/slideLayout80.xml"/><Relationship Id="rId36" Type="http://schemas.openxmlformats.org/officeDocument/2006/relationships/slideLayout" Target="../slideLayouts/slideLayout88.xml"/><Relationship Id="rId49" Type="http://schemas.openxmlformats.org/officeDocument/2006/relationships/tags" Target="../tags/tag58.xml"/><Relationship Id="rId10" Type="http://schemas.openxmlformats.org/officeDocument/2006/relationships/slideLayout" Target="../slideLayouts/slideLayout62.xml"/><Relationship Id="rId19" Type="http://schemas.openxmlformats.org/officeDocument/2006/relationships/slideLayout" Target="../slideLayouts/slideLayout71.xml"/><Relationship Id="rId31" Type="http://schemas.openxmlformats.org/officeDocument/2006/relationships/slideLayout" Target="../slideLayouts/slideLayout83.xml"/><Relationship Id="rId44" Type="http://schemas.openxmlformats.org/officeDocument/2006/relationships/slideLayout" Target="../slideLayouts/slideLayout96.xml"/><Relationship Id="rId52" Type="http://schemas.openxmlformats.org/officeDocument/2006/relationships/image" Target="../media/image2.svg"/><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slideLayout" Target="../slideLayouts/slideLayout79.xml"/><Relationship Id="rId30" Type="http://schemas.openxmlformats.org/officeDocument/2006/relationships/slideLayout" Target="../slideLayouts/slideLayout82.xml"/><Relationship Id="rId35" Type="http://schemas.openxmlformats.org/officeDocument/2006/relationships/slideLayout" Target="../slideLayouts/slideLayout87.xml"/><Relationship Id="rId43" Type="http://schemas.openxmlformats.org/officeDocument/2006/relationships/slideLayout" Target="../slideLayouts/slideLayout95.xml"/><Relationship Id="rId48" Type="http://schemas.openxmlformats.org/officeDocument/2006/relationships/tags" Target="../tags/tag57.xml"/><Relationship Id="rId8" Type="http://schemas.openxmlformats.org/officeDocument/2006/relationships/slideLayout" Target="../slideLayouts/slideLayout60.xml"/><Relationship Id="rId51" Type="http://schemas.openxmlformats.org/officeDocument/2006/relationships/image" Target="../media/image1.png"/><Relationship Id="rId3" Type="http://schemas.openxmlformats.org/officeDocument/2006/relationships/slideLayout" Target="../slideLayouts/slideLayout55.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33" Type="http://schemas.openxmlformats.org/officeDocument/2006/relationships/slideLayout" Target="../slideLayouts/slideLayout85.xml"/><Relationship Id="rId38" Type="http://schemas.openxmlformats.org/officeDocument/2006/relationships/slideLayout" Target="../slideLayouts/slideLayout90.xml"/><Relationship Id="rId46" Type="http://schemas.openxmlformats.org/officeDocument/2006/relationships/theme" Target="../theme/theme3.xml"/><Relationship Id="rId20" Type="http://schemas.openxmlformats.org/officeDocument/2006/relationships/slideLayout" Target="../slideLayouts/slideLayout72.xml"/><Relationship Id="rId41" Type="http://schemas.openxmlformats.org/officeDocument/2006/relationships/slideLayout" Target="../slideLayouts/slideLayout93.xml"/><Relationship Id="rId1" Type="http://schemas.openxmlformats.org/officeDocument/2006/relationships/slideLayout" Target="../slideLayouts/slideLayout53.xml"/><Relationship Id="rId6"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2" y="431800"/>
            <a:ext cx="10204452" cy="53975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95362" y="1330325"/>
            <a:ext cx="10204451"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hape 8">
            <a:extLst>
              <a:ext uri="{FF2B5EF4-FFF2-40B4-BE49-F238E27FC236}">
                <a16:creationId xmlns:a16="http://schemas.microsoft.com/office/drawing/2014/main" id="{D31A6846-726B-409A-8453-AF1A92CE50EA}"/>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sp>
        <p:nvSpPr>
          <p:cNvPr id="10" name="TextBox 9">
            <a:extLst>
              <a:ext uri="{FF2B5EF4-FFF2-40B4-BE49-F238E27FC236}">
                <a16:creationId xmlns:a16="http://schemas.microsoft.com/office/drawing/2014/main" id="{C82E24E5-F0BD-4186-A8BF-D63F32BEA34F}"/>
              </a:ext>
              <a:ext uri="{C183D7F6-B498-43B3-948B-1728B52AA6E4}">
                <adec:decorative xmlns:adec="http://schemas.microsoft.com/office/drawing/2017/decorative" val="1"/>
              </a:ext>
            </a:extLst>
          </p:cNvPr>
          <p:cNvSpPr txBox="1"/>
          <p:nvPr userDrawn="1">
            <p:custDataLst>
              <p:tags r:id="rId49"/>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cxnSp>
        <p:nvCxnSpPr>
          <p:cNvPr id="12" name="Straight Connector 11">
            <a:extLst>
              <a:ext uri="{FF2B5EF4-FFF2-40B4-BE49-F238E27FC236}">
                <a16:creationId xmlns:a16="http://schemas.microsoft.com/office/drawing/2014/main" id="{409F1721-7B3F-4E62-8446-919F2C046A08}"/>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Graphic 8">
            <a:extLst>
              <a:ext uri="{FF2B5EF4-FFF2-40B4-BE49-F238E27FC236}">
                <a16:creationId xmlns:a16="http://schemas.microsoft.com/office/drawing/2014/main" id="{74EEEE53-8F80-4E38-AE46-671AE837D862}"/>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4" name="Isosceles Triangle 3">
            <a:extLst>
              <a:ext uri="{FF2B5EF4-FFF2-40B4-BE49-F238E27FC236}">
                <a16:creationId xmlns:a16="http://schemas.microsoft.com/office/drawing/2014/main" id="{08622FF0-0E35-B078-2FD8-0DAFE67AB3D9}"/>
              </a:ext>
            </a:extLst>
          </p:cNvPr>
          <p:cNvSpPr/>
          <p:nvPr userDrawn="1"/>
        </p:nvSpPr>
        <p:spPr>
          <a:xfrm rot="5400000">
            <a:off x="11877175" y="192024"/>
            <a:ext cx="99166"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Isosceles Triangle 4">
            <a:extLst>
              <a:ext uri="{FF2B5EF4-FFF2-40B4-BE49-F238E27FC236}">
                <a16:creationId xmlns:a16="http://schemas.microsoft.com/office/drawing/2014/main" id="{ADC053B4-E914-AFD4-A152-DDCC2DAA96FB}"/>
              </a:ext>
            </a:extLst>
          </p:cNvPr>
          <p:cNvSpPr/>
          <p:nvPr userDrawn="1"/>
        </p:nvSpPr>
        <p:spPr>
          <a:xfrm rot="16200000" flipH="1">
            <a:off x="11315054" y="190622"/>
            <a:ext cx="99166"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nextslide"/>
            <a:extLst>
              <a:ext uri="{FF2B5EF4-FFF2-40B4-BE49-F238E27FC236}">
                <a16:creationId xmlns:a16="http://schemas.microsoft.com/office/drawing/2014/main" id="{85334CBF-72E3-0E1F-3CBD-2D24B9896F6B}"/>
              </a:ext>
            </a:extLst>
          </p:cNvPr>
          <p:cNvSpPr>
            <a:spLocks/>
          </p:cNvSpPr>
          <p:nvPr userDrawn="1"/>
        </p:nvSpPr>
        <p:spPr>
          <a:xfrm>
            <a:off x="11799231" y="103561"/>
            <a:ext cx="236608" cy="236621"/>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01E667A0-063B-7250-F4B9-CCF839CDAC7A}"/>
              </a:ext>
            </a:extLst>
          </p:cNvPr>
          <p:cNvSpPr>
            <a:spLocks/>
          </p:cNvSpPr>
          <p:nvPr userDrawn="1"/>
        </p:nvSpPr>
        <p:spPr>
          <a:xfrm flipH="1">
            <a:off x="11255557" y="103561"/>
            <a:ext cx="236608" cy="236621"/>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8" name="Graphic 7" descr="Home">
            <a:hlinkClick r:id="rId52" action="ppaction://hlinksldjump"/>
            <a:extLst>
              <a:ext uri="{FF2B5EF4-FFF2-40B4-BE49-F238E27FC236}">
                <a16:creationId xmlns:a16="http://schemas.microsoft.com/office/drawing/2014/main" id="{31F1188E-F8DE-4338-11B6-756CB25D0407}"/>
              </a:ext>
            </a:extLst>
          </p:cNvPr>
          <p:cNvPicPr>
            <a:picLocks noChangeAspect="1"/>
          </p:cNvPicPr>
          <p:nvPr userDrawn="1"/>
        </p:nvPicPr>
        <p:blipFill>
          <a:blip r:embed="rId53" cstate="screen">
            <a:extLst>
              <a:ext uri="{28A0092B-C50C-407E-A947-70E740481C1C}">
                <a14:useLocalDpi xmlns:a14="http://schemas.microsoft.com/office/drawing/2010/main"/>
              </a:ext>
              <a:ext uri="{96DAC541-7B7A-43D3-8B79-37D633B846F1}">
                <asvg:svgBlip xmlns:asvg="http://schemas.microsoft.com/office/drawing/2016/SVG/main" r:embed="rId54"/>
              </a:ext>
            </a:extLst>
          </a:blip>
          <a:stretch>
            <a:fillRect/>
          </a:stretch>
        </p:blipFill>
        <p:spPr>
          <a:xfrm>
            <a:off x="11534459" y="103561"/>
            <a:ext cx="222478" cy="222490"/>
          </a:xfrm>
          <a:prstGeom prst="rect">
            <a:avLst/>
          </a:prstGeom>
        </p:spPr>
      </p:pic>
      <p:sp>
        <p:nvSpPr>
          <p:cNvPr id="14" name="Text Box 4">
            <a:extLst>
              <a:ext uri="{FF2B5EF4-FFF2-40B4-BE49-F238E27FC236}">
                <a16:creationId xmlns:a16="http://schemas.microsoft.com/office/drawing/2014/main" id="{DAE9187A-6F09-30FC-E414-4664C082450F}"/>
              </a:ext>
            </a:extLst>
          </p:cNvPr>
          <p:cNvSpPr txBox="1">
            <a:spLocks noChangeArrowheads="1"/>
          </p:cNvSpPr>
          <p:nvPr userDrawn="1">
            <p:custDataLst>
              <p:tags r:id="rId50"/>
            </p:custDataLst>
          </p:nvPr>
        </p:nvSpPr>
        <p:spPr bwMode="gray">
          <a:xfrm>
            <a:off x="10473613" y="6463890"/>
            <a:ext cx="1570038" cy="357187"/>
          </a:xfrm>
          <a:prstGeom prst="rect">
            <a:avLst/>
          </a:prstGeom>
          <a:noFill/>
          <a:ln w="6350" algn="ctr">
            <a:noFill/>
            <a:miter lim="800000"/>
            <a:headEnd/>
            <a:tailEnd/>
          </a:ln>
          <a:effectLst/>
        </p:spPr>
        <p:txBody>
          <a:bodyPr wrap="square" lIns="0" tIns="36000" rIns="0" bIns="0" anchor="ctr" anchorCtr="0">
            <a:noAutofit/>
          </a:bodyPr>
          <a:lstStyle/>
          <a:p>
            <a:pPr algn="r" defTabSz="762000" eaLnBrk="0" hangingPunct="0">
              <a:lnSpc>
                <a:spcPct val="80000"/>
              </a:lnSpc>
              <a:spcBef>
                <a:spcPct val="20000"/>
              </a:spcBef>
            </a:pPr>
            <a:r>
              <a:rPr lang="en-US" sz="1400" b="1">
                <a:solidFill>
                  <a:schemeClr val="accent6"/>
                </a:solidFill>
              </a:rPr>
              <a:t>DRAFT</a:t>
            </a:r>
          </a:p>
        </p:txBody>
      </p:sp>
      <p:sp>
        <p:nvSpPr>
          <p:cNvPr id="15" name="TextBox 14">
            <a:extLst>
              <a:ext uri="{FF2B5EF4-FFF2-40B4-BE49-F238E27FC236}">
                <a16:creationId xmlns:a16="http://schemas.microsoft.com/office/drawing/2014/main" id="{1AC58C50-1B19-87C3-0DF6-F8B8F42CB87D}"/>
              </a:ext>
              <a:ext uri="{C183D7F6-B498-43B3-948B-1728B52AA6E4}">
                <adec:decorative xmlns:adec="http://schemas.microsoft.com/office/drawing/2017/decorative" val="1"/>
              </a:ext>
            </a:extLst>
          </p:cNvPr>
          <p:cNvSpPr txBox="1">
            <a:spLocks/>
          </p:cNvSpPr>
          <p:nvPr userDrawn="1">
            <p:custDataLst>
              <p:tags r:id="rId51"/>
            </p:custDataLst>
          </p:nvPr>
        </p:nvSpPr>
        <p:spPr>
          <a:xfrm>
            <a:off x="1885683" y="6266997"/>
            <a:ext cx="6673851" cy="184666"/>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600" b="0" i="0" u="none" strike="noStrike" kern="0" cap="none" spc="0" normalizeH="0" baseline="0">
                <a:ln>
                  <a:noFill/>
                </a:ln>
                <a:solidFill>
                  <a:srgbClr val="FFFFFF">
                    <a:lumMod val="65000"/>
                  </a:srgbClr>
                </a:solidFill>
                <a:effectLst/>
                <a:uLnTx/>
                <a:uFillTx/>
              </a:defRPr>
            </a:lvl1pPr>
          </a:lstStyle>
          <a:p>
            <a:pPr lvl="0"/>
            <a:r>
              <a:rPr lang="en-US" noProof="0"/>
              <a:t>© 2025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703" r:id="rId1"/>
    <p:sldLayoutId id="2147483783" r:id="rId2"/>
    <p:sldLayoutId id="2147483749" r:id="rId3"/>
    <p:sldLayoutId id="2147483750" r:id="rId4"/>
    <p:sldLayoutId id="2147483767" r:id="rId5"/>
    <p:sldLayoutId id="2147483768" r:id="rId6"/>
    <p:sldLayoutId id="2147483765" r:id="rId7"/>
    <p:sldLayoutId id="2147483766" r:id="rId8"/>
    <p:sldLayoutId id="2147483666" r:id="rId9"/>
    <p:sldLayoutId id="2147483796" r:id="rId10"/>
    <p:sldLayoutId id="2147483712" r:id="rId11"/>
    <p:sldLayoutId id="2147483797" r:id="rId12"/>
    <p:sldLayoutId id="2147483664" r:id="rId13"/>
    <p:sldLayoutId id="2147483769" r:id="rId14"/>
    <p:sldLayoutId id="2147483770" r:id="rId15"/>
    <p:sldLayoutId id="2147483714" r:id="rId16"/>
    <p:sldLayoutId id="2147483689" r:id="rId17"/>
    <p:sldLayoutId id="2147483716" r:id="rId18"/>
    <p:sldLayoutId id="2147483690" r:id="rId19"/>
    <p:sldLayoutId id="2147483692" r:id="rId20"/>
    <p:sldLayoutId id="2147483691" r:id="rId21"/>
    <p:sldLayoutId id="2147483693" r:id="rId22"/>
    <p:sldLayoutId id="2147483701" r:id="rId23"/>
    <p:sldLayoutId id="2147483771" r:id="rId24"/>
    <p:sldLayoutId id="2147483752" r:id="rId25"/>
    <p:sldLayoutId id="2147483697" r:id="rId26"/>
    <p:sldLayoutId id="2147483772" r:id="rId27"/>
    <p:sldLayoutId id="2147483754" r:id="rId28"/>
    <p:sldLayoutId id="2147483699" r:id="rId29"/>
    <p:sldLayoutId id="2147483700" r:id="rId30"/>
    <p:sldLayoutId id="2147483722" r:id="rId31"/>
    <p:sldLayoutId id="2147483792" r:id="rId32"/>
    <p:sldLayoutId id="2147483793" r:id="rId33"/>
    <p:sldLayoutId id="2147483789" r:id="rId34"/>
    <p:sldLayoutId id="2147483791" r:id="rId35"/>
    <p:sldLayoutId id="2147483790" r:id="rId36"/>
    <p:sldLayoutId id="2147483794" r:id="rId37"/>
    <p:sldLayoutId id="2147483795" r:id="rId38"/>
    <p:sldLayoutId id="2147483667" r:id="rId39"/>
    <p:sldLayoutId id="2147483748" r:id="rId40"/>
    <p:sldLayoutId id="2147483853" r:id="rId41"/>
    <p:sldLayoutId id="2147483856" r:id="rId42"/>
    <p:sldLayoutId id="2147483857" r:id="rId43"/>
    <p:sldLayoutId id="2147483860" r:id="rId44"/>
    <p:sldLayoutId id="2147483862" r:id="rId45"/>
    <p:sldLayoutId id="2147483864" r:id="rId46"/>
    <p:sldLayoutId id="2147483868" r:id="rId47"/>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userDrawn="1">
          <p15:clr>
            <a:srgbClr val="F26B43"/>
          </p15:clr>
        </p15:guide>
        <p15:guide id="2" pos="627" userDrawn="1">
          <p15:clr>
            <a:srgbClr val="F26B43"/>
          </p15:clr>
        </p15:guide>
        <p15:guide id="3" pos="7055" userDrawn="1">
          <p15:clr>
            <a:srgbClr val="F26B43"/>
          </p15:clr>
        </p15:guide>
        <p15:guide id="4" orient="horz" pos="838" userDrawn="1">
          <p15:clr>
            <a:srgbClr val="F26B43"/>
          </p15:clr>
        </p15:guide>
        <p15:guide id="5" orient="horz" pos="612" userDrawn="1">
          <p15:clr>
            <a:srgbClr val="F26B43"/>
          </p15:clr>
        </p15:guide>
        <p15:guide id="6" orient="horz" pos="27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5" name="Titre 3">
            <a:extLst>
              <a:ext uri="{FF2B5EF4-FFF2-40B4-BE49-F238E27FC236}">
                <a16:creationId xmlns:a16="http://schemas.microsoft.com/office/drawing/2014/main" id="{370B02A6-4C30-978F-D96F-3CD6602C08D6}"/>
              </a:ext>
            </a:extLst>
          </p:cNvPr>
          <p:cNvSpPr txBox="1">
            <a:spLocks/>
          </p:cNvSpPr>
          <p:nvPr userDrawn="1"/>
        </p:nvSpPr>
        <p:spPr>
          <a:xfrm>
            <a:off x="495064" y="4361380"/>
            <a:ext cx="10900905" cy="2259080"/>
          </a:xfrm>
          <a:prstGeom prst="rect">
            <a:avLst/>
          </a:prstGeom>
        </p:spPr>
        <p:txBody>
          <a:bodyPr wrap="square" lIns="0" rIns="0">
            <a:spAutoFit/>
          </a:bodyPr>
          <a:lstStyle>
            <a:defPPr>
              <a:defRPr lang="fr-FR"/>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23" rtl="0" eaLnBrk="1" fontAlgn="auto" latinLnBrk="0" hangingPunct="1">
              <a:lnSpc>
                <a:spcPct val="90000"/>
              </a:lnSpc>
              <a:spcBef>
                <a:spcPts val="2400"/>
              </a:spcBef>
              <a:spcAft>
                <a:spcPts val="0"/>
              </a:spcAft>
              <a:buClrTx/>
              <a:buSzTx/>
              <a:buFontTx/>
              <a:buNone/>
              <a:tabLst/>
              <a:defRPr/>
            </a:pPr>
            <a:r>
              <a:rPr kumimoji="0" lang="en-US" sz="3200" b="0" i="0" u="none" strike="noStrike" kern="1200" cap="all"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UpSlide Table Of Content Master </a:t>
            </a:r>
          </a:p>
          <a:p>
            <a:pPr marL="0" marR="0" lvl="0" indent="0" algn="l" defTabSz="914423" rtl="0" eaLnBrk="1" fontAlgn="auto" latinLnBrk="0" hangingPunct="1">
              <a:lnSpc>
                <a:spcPct val="90000"/>
              </a:lnSpc>
              <a:spcBef>
                <a:spcPts val="2400"/>
              </a:spcBef>
              <a:spcAft>
                <a:spcPts val="0"/>
              </a:spcAft>
              <a:buClrTx/>
              <a:buSzTx/>
              <a:buFontTx/>
              <a:buNone/>
              <a:tabLst/>
              <a:defRPr/>
            </a:pPr>
            <a:r>
              <a:rPr kumimoji="0" lang="en-US" sz="4000" b="0" i="0" u="none" strike="noStrike" kern="1200" cap="all"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Do not edit</a:t>
            </a:r>
          </a:p>
          <a:p>
            <a:pPr marL="0" marR="0" lvl="0" indent="0" algn="l" defTabSz="914423" rtl="0" eaLnBrk="1" fontAlgn="auto" latinLnBrk="0" hangingPunct="1">
              <a:lnSpc>
                <a:spcPct val="90000"/>
              </a:lnSpc>
              <a:spcBef>
                <a:spcPts val="2400"/>
              </a:spcBef>
              <a:spcAft>
                <a:spcPts val="0"/>
              </a:spcAft>
              <a:buClrTx/>
              <a:buSzTx/>
              <a:buFontTx/>
              <a:buNone/>
              <a:tabLst/>
              <a:defRPr/>
            </a:pPr>
            <a:r>
              <a:rPr kumimoji="0" lang="en-US" sz="4000" b="0" i="0" u="none" strike="noStrike" kern="1200" cap="all"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Do not delete</a:t>
            </a:r>
          </a:p>
        </p:txBody>
      </p:sp>
    </p:spTree>
    <p:extLst>
      <p:ext uri="{BB962C8B-B14F-4D97-AF65-F5344CB8AC3E}">
        <p14:creationId xmlns:p14="http://schemas.microsoft.com/office/powerpoint/2010/main" val="4249051276"/>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4">
          <p15:clr>
            <a:srgbClr val="F26B43"/>
          </p15:clr>
        </p15:guide>
        <p15:guide id="2" pos="624">
          <p15:clr>
            <a:srgbClr val="F26B43"/>
          </p15:clr>
        </p15:guide>
        <p15:guide id="3" pos="7056">
          <p15:clr>
            <a:srgbClr val="F26B43"/>
          </p15:clr>
        </p15:guide>
        <p15:guide id="4" orient="horz" pos="840">
          <p15:clr>
            <a:srgbClr val="F26B43"/>
          </p15:clr>
        </p15:guide>
        <p15:guide id="5" orient="horz" pos="616">
          <p15:clr>
            <a:srgbClr val="F26B43"/>
          </p15:clr>
        </p15:guide>
        <p15:guide id="6" orient="horz" pos="27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2" y="431800"/>
            <a:ext cx="10204452" cy="53975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95362" y="1330325"/>
            <a:ext cx="10204451"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hape 8">
            <a:extLst>
              <a:ext uri="{FF2B5EF4-FFF2-40B4-BE49-F238E27FC236}">
                <a16:creationId xmlns:a16="http://schemas.microsoft.com/office/drawing/2014/main" id="{D31A6846-726B-409A-8453-AF1A92CE50EA}"/>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sp>
        <p:nvSpPr>
          <p:cNvPr id="10" name="TextBox 9">
            <a:extLst>
              <a:ext uri="{FF2B5EF4-FFF2-40B4-BE49-F238E27FC236}">
                <a16:creationId xmlns:a16="http://schemas.microsoft.com/office/drawing/2014/main" id="{C82E24E5-F0BD-4186-A8BF-D63F32BEA34F}"/>
              </a:ext>
              <a:ext uri="{C183D7F6-B498-43B3-948B-1728B52AA6E4}">
                <adec:decorative xmlns:adec="http://schemas.microsoft.com/office/drawing/2017/decorative" val="1"/>
              </a:ext>
            </a:extLst>
          </p:cNvPr>
          <p:cNvSpPr txBox="1"/>
          <p:nvPr userDrawn="1">
            <p:custDataLst>
              <p:tags r:id="rId47"/>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cxnSp>
        <p:nvCxnSpPr>
          <p:cNvPr id="12" name="Straight Connector 11">
            <a:extLst>
              <a:ext uri="{FF2B5EF4-FFF2-40B4-BE49-F238E27FC236}">
                <a16:creationId xmlns:a16="http://schemas.microsoft.com/office/drawing/2014/main" id="{409F1721-7B3F-4E62-8446-919F2C046A08}"/>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Graphic 8">
            <a:extLst>
              <a:ext uri="{FF2B5EF4-FFF2-40B4-BE49-F238E27FC236}">
                <a16:creationId xmlns:a16="http://schemas.microsoft.com/office/drawing/2014/main" id="{74EEEE53-8F80-4E38-AE46-671AE837D862}"/>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4" name="Isosceles Triangle 3">
            <a:extLst>
              <a:ext uri="{FF2B5EF4-FFF2-40B4-BE49-F238E27FC236}">
                <a16:creationId xmlns:a16="http://schemas.microsoft.com/office/drawing/2014/main" id="{08622FF0-0E35-B078-2FD8-0DAFE67AB3D9}"/>
              </a:ext>
            </a:extLst>
          </p:cNvPr>
          <p:cNvSpPr/>
          <p:nvPr userDrawn="1"/>
        </p:nvSpPr>
        <p:spPr>
          <a:xfrm rot="5400000">
            <a:off x="11877175" y="192024"/>
            <a:ext cx="99166"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Isosceles Triangle 4">
            <a:extLst>
              <a:ext uri="{FF2B5EF4-FFF2-40B4-BE49-F238E27FC236}">
                <a16:creationId xmlns:a16="http://schemas.microsoft.com/office/drawing/2014/main" id="{ADC053B4-E914-AFD4-A152-DDCC2DAA96FB}"/>
              </a:ext>
            </a:extLst>
          </p:cNvPr>
          <p:cNvSpPr/>
          <p:nvPr userDrawn="1"/>
        </p:nvSpPr>
        <p:spPr>
          <a:xfrm rot="16200000" flipH="1">
            <a:off x="11315054" y="190622"/>
            <a:ext cx="99166"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nextslide"/>
            <a:extLst>
              <a:ext uri="{FF2B5EF4-FFF2-40B4-BE49-F238E27FC236}">
                <a16:creationId xmlns:a16="http://schemas.microsoft.com/office/drawing/2014/main" id="{85334CBF-72E3-0E1F-3CBD-2D24B9896F6B}"/>
              </a:ext>
            </a:extLst>
          </p:cNvPr>
          <p:cNvSpPr>
            <a:spLocks/>
          </p:cNvSpPr>
          <p:nvPr userDrawn="1"/>
        </p:nvSpPr>
        <p:spPr>
          <a:xfrm>
            <a:off x="11799231" y="103561"/>
            <a:ext cx="236608" cy="236621"/>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01E667A0-063B-7250-F4B9-CCF839CDAC7A}"/>
              </a:ext>
            </a:extLst>
          </p:cNvPr>
          <p:cNvSpPr>
            <a:spLocks/>
          </p:cNvSpPr>
          <p:nvPr userDrawn="1"/>
        </p:nvSpPr>
        <p:spPr>
          <a:xfrm flipH="1">
            <a:off x="11255557" y="103561"/>
            <a:ext cx="236608" cy="236621"/>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8" name="Graphic 7" descr="Home">
            <a:hlinkClick r:id="rId50" action="ppaction://hlinksldjump"/>
            <a:extLst>
              <a:ext uri="{FF2B5EF4-FFF2-40B4-BE49-F238E27FC236}">
                <a16:creationId xmlns:a16="http://schemas.microsoft.com/office/drawing/2014/main" id="{31F1188E-F8DE-4338-11B6-756CB25D0407}"/>
              </a:ext>
            </a:extLst>
          </p:cNvPr>
          <p:cNvPicPr>
            <a:picLocks noChangeAspect="1"/>
          </p:cNvPicPr>
          <p:nvPr userDrawn="1"/>
        </p:nvPicPr>
        <p:blipFill>
          <a:blip r:embed="rId51" cstate="screen">
            <a:extLst>
              <a:ext uri="{28A0092B-C50C-407E-A947-70E740481C1C}">
                <a14:useLocalDpi xmlns:a14="http://schemas.microsoft.com/office/drawing/2010/main"/>
              </a:ext>
              <a:ext uri="{96DAC541-7B7A-43D3-8B79-37D633B846F1}">
                <asvg:svgBlip xmlns:asvg="http://schemas.microsoft.com/office/drawing/2016/SVG/main" r:embed="rId52"/>
              </a:ext>
            </a:extLst>
          </a:blip>
          <a:stretch>
            <a:fillRect/>
          </a:stretch>
        </p:blipFill>
        <p:spPr>
          <a:xfrm>
            <a:off x="11534459" y="103561"/>
            <a:ext cx="222478" cy="222490"/>
          </a:xfrm>
          <a:prstGeom prst="rect">
            <a:avLst/>
          </a:prstGeom>
        </p:spPr>
      </p:pic>
      <p:sp>
        <p:nvSpPr>
          <p:cNvPr id="14" name="Text Box 4">
            <a:extLst>
              <a:ext uri="{FF2B5EF4-FFF2-40B4-BE49-F238E27FC236}">
                <a16:creationId xmlns:a16="http://schemas.microsoft.com/office/drawing/2014/main" id="{DAE9187A-6F09-30FC-E414-4664C082450F}"/>
              </a:ext>
            </a:extLst>
          </p:cNvPr>
          <p:cNvSpPr txBox="1">
            <a:spLocks noChangeArrowheads="1"/>
          </p:cNvSpPr>
          <p:nvPr userDrawn="1">
            <p:custDataLst>
              <p:tags r:id="rId48"/>
            </p:custDataLst>
          </p:nvPr>
        </p:nvSpPr>
        <p:spPr bwMode="gray">
          <a:xfrm>
            <a:off x="10473613" y="6463890"/>
            <a:ext cx="1570038" cy="357187"/>
          </a:xfrm>
          <a:prstGeom prst="rect">
            <a:avLst/>
          </a:prstGeom>
          <a:noFill/>
          <a:ln w="6350" algn="ctr">
            <a:noFill/>
            <a:miter lim="800000"/>
            <a:headEnd/>
            <a:tailEnd/>
          </a:ln>
          <a:effectLst/>
        </p:spPr>
        <p:txBody>
          <a:bodyPr wrap="square" lIns="0" tIns="36000" rIns="0" bIns="0" anchor="ctr" anchorCtr="0">
            <a:noAutofit/>
          </a:bodyPr>
          <a:lstStyle/>
          <a:p>
            <a:pPr algn="r" defTabSz="762000" eaLnBrk="0" hangingPunct="0">
              <a:lnSpc>
                <a:spcPct val="80000"/>
              </a:lnSpc>
              <a:spcBef>
                <a:spcPct val="20000"/>
              </a:spcBef>
            </a:pPr>
            <a:r>
              <a:rPr lang="en-US" sz="1400" b="1">
                <a:solidFill>
                  <a:schemeClr val="accent6"/>
                </a:solidFill>
              </a:rPr>
              <a:t>DRAFT</a:t>
            </a:r>
          </a:p>
        </p:txBody>
      </p:sp>
      <p:sp>
        <p:nvSpPr>
          <p:cNvPr id="15" name="TextBox 14">
            <a:extLst>
              <a:ext uri="{FF2B5EF4-FFF2-40B4-BE49-F238E27FC236}">
                <a16:creationId xmlns:a16="http://schemas.microsoft.com/office/drawing/2014/main" id="{1AC58C50-1B19-87C3-0DF6-F8B8F42CB87D}"/>
              </a:ext>
              <a:ext uri="{C183D7F6-B498-43B3-948B-1728B52AA6E4}">
                <adec:decorative xmlns:adec="http://schemas.microsoft.com/office/drawing/2017/decorative" val="1"/>
              </a:ext>
            </a:extLst>
          </p:cNvPr>
          <p:cNvSpPr txBox="1">
            <a:spLocks/>
          </p:cNvSpPr>
          <p:nvPr userDrawn="1">
            <p:custDataLst>
              <p:tags r:id="rId49"/>
            </p:custDataLst>
          </p:nvPr>
        </p:nvSpPr>
        <p:spPr>
          <a:xfrm>
            <a:off x="1885683" y="6266997"/>
            <a:ext cx="6673851" cy="184666"/>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600" b="0" i="0" u="none" strike="noStrike" kern="0" cap="none" spc="0" normalizeH="0" baseline="0">
                <a:ln>
                  <a:noFill/>
                </a:ln>
                <a:solidFill>
                  <a:srgbClr val="FFFFFF">
                    <a:lumMod val="65000"/>
                  </a:srgbClr>
                </a:solidFill>
                <a:effectLst/>
                <a:uLnTx/>
                <a:uFillTx/>
              </a:defRPr>
            </a:lvl1pPr>
          </a:lstStyle>
          <a:p>
            <a:pPr lvl="0"/>
            <a:r>
              <a:rPr lang="en-US" noProof="0"/>
              <a:t>© 2025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3530186650"/>
      </p:ext>
    </p:extLst>
  </p:cSld>
  <p:clrMap bg1="lt1" tx1="dk1" bg2="lt2" tx2="dk2" accent1="accent1" accent2="accent2" accent3="accent3" accent4="accent4" accent5="accent5" accent6="accent6" hlink="hlink" folHlink="folHlink"/>
  <p:sldLayoutIdLst>
    <p:sldLayoutId id="2147483870" r:id="rId1"/>
    <p:sldLayoutId id="2147483871" r:id="rId2"/>
    <p:sldLayoutId id="2147483872" r:id="rId3"/>
    <p:sldLayoutId id="2147483873" r:id="rId4"/>
    <p:sldLayoutId id="2147483874" r:id="rId5"/>
    <p:sldLayoutId id="2147483875" r:id="rId6"/>
    <p:sldLayoutId id="2147483876" r:id="rId7"/>
    <p:sldLayoutId id="2147483877" r:id="rId8"/>
    <p:sldLayoutId id="2147483878" r:id="rId9"/>
    <p:sldLayoutId id="2147483879" r:id="rId10"/>
    <p:sldLayoutId id="2147483880" r:id="rId11"/>
    <p:sldLayoutId id="2147483881" r:id="rId12"/>
    <p:sldLayoutId id="2147483882" r:id="rId13"/>
    <p:sldLayoutId id="2147483883" r:id="rId14"/>
    <p:sldLayoutId id="2147483884" r:id="rId15"/>
    <p:sldLayoutId id="2147483885" r:id="rId16"/>
    <p:sldLayoutId id="2147483886" r:id="rId17"/>
    <p:sldLayoutId id="2147483887" r:id="rId18"/>
    <p:sldLayoutId id="2147483888" r:id="rId19"/>
    <p:sldLayoutId id="2147483889" r:id="rId20"/>
    <p:sldLayoutId id="2147483890" r:id="rId21"/>
    <p:sldLayoutId id="2147483891" r:id="rId22"/>
    <p:sldLayoutId id="2147483892" r:id="rId23"/>
    <p:sldLayoutId id="2147483893" r:id="rId24"/>
    <p:sldLayoutId id="2147483894" r:id="rId25"/>
    <p:sldLayoutId id="2147483895" r:id="rId26"/>
    <p:sldLayoutId id="2147483896" r:id="rId27"/>
    <p:sldLayoutId id="2147483897" r:id="rId28"/>
    <p:sldLayoutId id="2147483898" r:id="rId29"/>
    <p:sldLayoutId id="2147483899" r:id="rId30"/>
    <p:sldLayoutId id="2147483900" r:id="rId31"/>
    <p:sldLayoutId id="2147483901" r:id="rId32"/>
    <p:sldLayoutId id="2147483902" r:id="rId33"/>
    <p:sldLayoutId id="2147483903" r:id="rId34"/>
    <p:sldLayoutId id="2147483904" r:id="rId35"/>
    <p:sldLayoutId id="2147483905" r:id="rId36"/>
    <p:sldLayoutId id="2147483906" r:id="rId37"/>
    <p:sldLayoutId id="2147483907" r:id="rId38"/>
    <p:sldLayoutId id="2147483908" r:id="rId39"/>
    <p:sldLayoutId id="2147483909" r:id="rId40"/>
    <p:sldLayoutId id="2147483910" r:id="rId41"/>
    <p:sldLayoutId id="2147483911" r:id="rId42"/>
    <p:sldLayoutId id="2147483912" r:id="rId43"/>
    <p:sldLayoutId id="2147483914" r:id="rId44"/>
    <p:sldLayoutId id="2147483915" r:id="rId45"/>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p15:clr>
            <a:srgbClr val="F26B43"/>
          </p15:clr>
        </p15:guide>
        <p15:guide id="2" pos="627">
          <p15:clr>
            <a:srgbClr val="F26B43"/>
          </p15:clr>
        </p15:guide>
        <p15:guide id="3" pos="7055">
          <p15:clr>
            <a:srgbClr val="F26B43"/>
          </p15:clr>
        </p15:guide>
        <p15:guide id="4" orient="horz" pos="838">
          <p15:clr>
            <a:srgbClr val="F26B43"/>
          </p15:clr>
        </p15:guide>
        <p15:guide id="5" orient="horz" pos="612">
          <p15:clr>
            <a:srgbClr val="F26B43"/>
          </p15:clr>
        </p15:guide>
        <p15:guide id="6" orient="horz" pos="27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74.xml"/><Relationship Id="rId6" Type="http://schemas.openxmlformats.org/officeDocument/2006/relationships/image" Target="../media/image19.emf"/><Relationship Id="rId5" Type="http://schemas.openxmlformats.org/officeDocument/2006/relationships/oleObject" Target="../embeddings/oleObject7.bin"/><Relationship Id="rId4" Type="http://schemas.microsoft.com/office/2018/10/relationships/comments" Target="../comments/modernComment_30F_AA3F095C.xml"/></Relationships>
</file>

<file path=ppt/slides/_rels/slide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slide" Target="slide56.xml"/><Relationship Id="rId7" Type="http://schemas.openxmlformats.org/officeDocument/2006/relationships/slide" Target="slide54.xml"/><Relationship Id="rId2" Type="http://schemas.microsoft.com/office/2018/10/relationships/comments" Target="../comments/modernComment_385_ACE15FF2.xml"/><Relationship Id="rId1" Type="http://schemas.openxmlformats.org/officeDocument/2006/relationships/slideLayout" Target="../slideLayouts/slideLayout41.xml"/><Relationship Id="rId6" Type="http://schemas.openxmlformats.org/officeDocument/2006/relationships/image" Target="../media/image25.png"/><Relationship Id="rId5" Type="http://schemas.openxmlformats.org/officeDocument/2006/relationships/slide" Target="slide55.xml"/><Relationship Id="rId4" Type="http://schemas.openxmlformats.org/officeDocument/2006/relationships/image" Target="../media/image24.png"/></Relationships>
</file>

<file path=ppt/slides/_rels/slide3.xml.rels><?xml version="1.0" encoding="UTF-8" standalone="yes"?>
<Relationships xmlns="http://schemas.openxmlformats.org/package/2006/relationships"><Relationship Id="rId26" Type="http://schemas.openxmlformats.org/officeDocument/2006/relationships/tags" Target="../tags/tag100.xml"/><Relationship Id="rId21" Type="http://schemas.openxmlformats.org/officeDocument/2006/relationships/tags" Target="../tags/tag95.xml"/><Relationship Id="rId42" Type="http://schemas.openxmlformats.org/officeDocument/2006/relationships/tags" Target="../tags/tag116.xml"/><Relationship Id="rId47" Type="http://schemas.openxmlformats.org/officeDocument/2006/relationships/tags" Target="../tags/tag121.xml"/><Relationship Id="rId63" Type="http://schemas.openxmlformats.org/officeDocument/2006/relationships/tags" Target="../tags/tag137.xml"/><Relationship Id="rId68" Type="http://schemas.openxmlformats.org/officeDocument/2006/relationships/tags" Target="../tags/tag142.xml"/><Relationship Id="rId84" Type="http://schemas.openxmlformats.org/officeDocument/2006/relationships/slide" Target="slide52.xml"/><Relationship Id="rId89" Type="http://schemas.openxmlformats.org/officeDocument/2006/relationships/slide" Target="slide5.xml"/><Relationship Id="rId112" Type="http://schemas.openxmlformats.org/officeDocument/2006/relationships/slide" Target="slide49.xml"/><Relationship Id="rId16" Type="http://schemas.openxmlformats.org/officeDocument/2006/relationships/tags" Target="../tags/tag90.xml"/><Relationship Id="rId107" Type="http://schemas.openxmlformats.org/officeDocument/2006/relationships/slide" Target="slide54.xml"/><Relationship Id="rId11" Type="http://schemas.openxmlformats.org/officeDocument/2006/relationships/tags" Target="../tags/tag85.xml"/><Relationship Id="rId32" Type="http://schemas.openxmlformats.org/officeDocument/2006/relationships/tags" Target="../tags/tag106.xml"/><Relationship Id="rId37" Type="http://schemas.openxmlformats.org/officeDocument/2006/relationships/tags" Target="../tags/tag111.xml"/><Relationship Id="rId53" Type="http://schemas.openxmlformats.org/officeDocument/2006/relationships/tags" Target="../tags/tag127.xml"/><Relationship Id="rId58" Type="http://schemas.openxmlformats.org/officeDocument/2006/relationships/tags" Target="../tags/tag132.xml"/><Relationship Id="rId74" Type="http://schemas.openxmlformats.org/officeDocument/2006/relationships/tags" Target="../tags/tag148.xml"/><Relationship Id="rId79" Type="http://schemas.openxmlformats.org/officeDocument/2006/relationships/tags" Target="../tags/tag153.xml"/><Relationship Id="rId102" Type="http://schemas.openxmlformats.org/officeDocument/2006/relationships/slide" Target="slide38.xml"/><Relationship Id="rId5" Type="http://schemas.openxmlformats.org/officeDocument/2006/relationships/tags" Target="../tags/tag79.xml"/><Relationship Id="rId90" Type="http://schemas.openxmlformats.org/officeDocument/2006/relationships/slide" Target="slide6.xml"/><Relationship Id="rId95" Type="http://schemas.openxmlformats.org/officeDocument/2006/relationships/slide" Target="slide15.xml"/><Relationship Id="rId22" Type="http://schemas.openxmlformats.org/officeDocument/2006/relationships/tags" Target="../tags/tag96.xml"/><Relationship Id="rId27" Type="http://schemas.openxmlformats.org/officeDocument/2006/relationships/tags" Target="../tags/tag101.xml"/><Relationship Id="rId43" Type="http://schemas.openxmlformats.org/officeDocument/2006/relationships/tags" Target="../tags/tag117.xml"/><Relationship Id="rId48" Type="http://schemas.openxmlformats.org/officeDocument/2006/relationships/tags" Target="../tags/tag122.xml"/><Relationship Id="rId64" Type="http://schemas.openxmlformats.org/officeDocument/2006/relationships/tags" Target="../tags/tag138.xml"/><Relationship Id="rId69" Type="http://schemas.openxmlformats.org/officeDocument/2006/relationships/tags" Target="../tags/tag143.xml"/><Relationship Id="rId80" Type="http://schemas.openxmlformats.org/officeDocument/2006/relationships/tags" Target="../tags/tag154.xml"/><Relationship Id="rId85" Type="http://schemas.openxmlformats.org/officeDocument/2006/relationships/image" Target="../media/image27.jpeg"/><Relationship Id="rId12" Type="http://schemas.openxmlformats.org/officeDocument/2006/relationships/tags" Target="../tags/tag86.xml"/><Relationship Id="rId17" Type="http://schemas.openxmlformats.org/officeDocument/2006/relationships/tags" Target="../tags/tag91.xml"/><Relationship Id="rId33" Type="http://schemas.openxmlformats.org/officeDocument/2006/relationships/tags" Target="../tags/tag107.xml"/><Relationship Id="rId38" Type="http://schemas.openxmlformats.org/officeDocument/2006/relationships/tags" Target="../tags/tag112.xml"/><Relationship Id="rId59" Type="http://schemas.openxmlformats.org/officeDocument/2006/relationships/tags" Target="../tags/tag133.xml"/><Relationship Id="rId103" Type="http://schemas.openxmlformats.org/officeDocument/2006/relationships/slide" Target="slide42.xml"/><Relationship Id="rId108" Type="http://schemas.openxmlformats.org/officeDocument/2006/relationships/slide" Target="slide55.xml"/><Relationship Id="rId54" Type="http://schemas.openxmlformats.org/officeDocument/2006/relationships/tags" Target="../tags/tag128.xml"/><Relationship Id="rId70" Type="http://schemas.openxmlformats.org/officeDocument/2006/relationships/tags" Target="../tags/tag144.xml"/><Relationship Id="rId75" Type="http://schemas.openxmlformats.org/officeDocument/2006/relationships/tags" Target="../tags/tag149.xml"/><Relationship Id="rId91" Type="http://schemas.openxmlformats.org/officeDocument/2006/relationships/slide" Target="slide7.xml"/><Relationship Id="rId96" Type="http://schemas.openxmlformats.org/officeDocument/2006/relationships/slide" Target="slide16.xml"/><Relationship Id="rId1" Type="http://schemas.openxmlformats.org/officeDocument/2006/relationships/tags" Target="../tags/tag75.xml"/><Relationship Id="rId6" Type="http://schemas.openxmlformats.org/officeDocument/2006/relationships/tags" Target="../tags/tag80.xml"/><Relationship Id="rId15" Type="http://schemas.openxmlformats.org/officeDocument/2006/relationships/tags" Target="../tags/tag89.xml"/><Relationship Id="rId23" Type="http://schemas.openxmlformats.org/officeDocument/2006/relationships/tags" Target="../tags/tag97.xml"/><Relationship Id="rId28" Type="http://schemas.openxmlformats.org/officeDocument/2006/relationships/tags" Target="../tags/tag102.xml"/><Relationship Id="rId36" Type="http://schemas.openxmlformats.org/officeDocument/2006/relationships/tags" Target="../tags/tag110.xml"/><Relationship Id="rId49" Type="http://schemas.openxmlformats.org/officeDocument/2006/relationships/tags" Target="../tags/tag123.xml"/><Relationship Id="rId57" Type="http://schemas.openxmlformats.org/officeDocument/2006/relationships/tags" Target="../tags/tag131.xml"/><Relationship Id="rId106" Type="http://schemas.openxmlformats.org/officeDocument/2006/relationships/slide" Target="slide53.xml"/><Relationship Id="rId10" Type="http://schemas.openxmlformats.org/officeDocument/2006/relationships/tags" Target="../tags/tag84.xml"/><Relationship Id="rId31" Type="http://schemas.openxmlformats.org/officeDocument/2006/relationships/tags" Target="../tags/tag105.xml"/><Relationship Id="rId44" Type="http://schemas.openxmlformats.org/officeDocument/2006/relationships/tags" Target="../tags/tag118.xml"/><Relationship Id="rId52" Type="http://schemas.openxmlformats.org/officeDocument/2006/relationships/tags" Target="../tags/tag126.xml"/><Relationship Id="rId60" Type="http://schemas.openxmlformats.org/officeDocument/2006/relationships/tags" Target="../tags/tag134.xml"/><Relationship Id="rId65" Type="http://schemas.openxmlformats.org/officeDocument/2006/relationships/tags" Target="../tags/tag139.xml"/><Relationship Id="rId73" Type="http://schemas.openxmlformats.org/officeDocument/2006/relationships/tags" Target="../tags/tag147.xml"/><Relationship Id="rId78" Type="http://schemas.openxmlformats.org/officeDocument/2006/relationships/tags" Target="../tags/tag152.xml"/><Relationship Id="rId81" Type="http://schemas.openxmlformats.org/officeDocument/2006/relationships/tags" Target="../tags/tag155.xml"/><Relationship Id="rId86" Type="http://schemas.openxmlformats.org/officeDocument/2006/relationships/slide" Target="slide59.xml"/><Relationship Id="rId94" Type="http://schemas.openxmlformats.org/officeDocument/2006/relationships/slide" Target="slide14.xml"/><Relationship Id="rId99" Type="http://schemas.openxmlformats.org/officeDocument/2006/relationships/slide" Target="slide29.xml"/><Relationship Id="rId101" Type="http://schemas.openxmlformats.org/officeDocument/2006/relationships/slide" Target="slide33.xml"/><Relationship Id="rId4" Type="http://schemas.openxmlformats.org/officeDocument/2006/relationships/tags" Target="../tags/tag78.xml"/><Relationship Id="rId9" Type="http://schemas.openxmlformats.org/officeDocument/2006/relationships/tags" Target="../tags/tag83.xml"/><Relationship Id="rId13" Type="http://schemas.openxmlformats.org/officeDocument/2006/relationships/tags" Target="../tags/tag87.xml"/><Relationship Id="rId18" Type="http://schemas.openxmlformats.org/officeDocument/2006/relationships/tags" Target="../tags/tag92.xml"/><Relationship Id="rId39" Type="http://schemas.openxmlformats.org/officeDocument/2006/relationships/tags" Target="../tags/tag113.xml"/><Relationship Id="rId109" Type="http://schemas.openxmlformats.org/officeDocument/2006/relationships/slide" Target="slide56.xml"/><Relationship Id="rId34" Type="http://schemas.openxmlformats.org/officeDocument/2006/relationships/tags" Target="../tags/tag108.xml"/><Relationship Id="rId50" Type="http://schemas.openxmlformats.org/officeDocument/2006/relationships/tags" Target="../tags/tag124.xml"/><Relationship Id="rId55" Type="http://schemas.openxmlformats.org/officeDocument/2006/relationships/tags" Target="../tags/tag129.xml"/><Relationship Id="rId76" Type="http://schemas.openxmlformats.org/officeDocument/2006/relationships/tags" Target="../tags/tag150.xml"/><Relationship Id="rId97" Type="http://schemas.openxmlformats.org/officeDocument/2006/relationships/slide" Target="slide17.xml"/><Relationship Id="rId104" Type="http://schemas.openxmlformats.org/officeDocument/2006/relationships/slide" Target="slide43.xml"/><Relationship Id="rId7" Type="http://schemas.openxmlformats.org/officeDocument/2006/relationships/tags" Target="../tags/tag81.xml"/><Relationship Id="rId71" Type="http://schemas.openxmlformats.org/officeDocument/2006/relationships/tags" Target="../tags/tag145.xml"/><Relationship Id="rId92" Type="http://schemas.openxmlformats.org/officeDocument/2006/relationships/slide" Target="slide12.xml"/><Relationship Id="rId2" Type="http://schemas.openxmlformats.org/officeDocument/2006/relationships/tags" Target="../tags/tag76.xml"/><Relationship Id="rId29" Type="http://schemas.openxmlformats.org/officeDocument/2006/relationships/tags" Target="../tags/tag103.xml"/><Relationship Id="rId24" Type="http://schemas.openxmlformats.org/officeDocument/2006/relationships/tags" Target="../tags/tag98.xml"/><Relationship Id="rId40" Type="http://schemas.openxmlformats.org/officeDocument/2006/relationships/tags" Target="../tags/tag114.xml"/><Relationship Id="rId45" Type="http://schemas.openxmlformats.org/officeDocument/2006/relationships/tags" Target="../tags/tag119.xml"/><Relationship Id="rId66" Type="http://schemas.openxmlformats.org/officeDocument/2006/relationships/tags" Target="../tags/tag140.xml"/><Relationship Id="rId87" Type="http://schemas.openxmlformats.org/officeDocument/2006/relationships/image" Target="../media/image28.jpeg"/><Relationship Id="rId110" Type="http://schemas.openxmlformats.org/officeDocument/2006/relationships/slide" Target="slide50.xml"/><Relationship Id="rId61" Type="http://schemas.openxmlformats.org/officeDocument/2006/relationships/tags" Target="../tags/tag135.xml"/><Relationship Id="rId82" Type="http://schemas.openxmlformats.org/officeDocument/2006/relationships/tags" Target="../tags/tag156.xml"/><Relationship Id="rId19" Type="http://schemas.openxmlformats.org/officeDocument/2006/relationships/tags" Target="../tags/tag93.xml"/><Relationship Id="rId14" Type="http://schemas.openxmlformats.org/officeDocument/2006/relationships/tags" Target="../tags/tag88.xml"/><Relationship Id="rId30" Type="http://schemas.openxmlformats.org/officeDocument/2006/relationships/tags" Target="../tags/tag104.xml"/><Relationship Id="rId35" Type="http://schemas.openxmlformats.org/officeDocument/2006/relationships/tags" Target="../tags/tag109.xml"/><Relationship Id="rId56" Type="http://schemas.openxmlformats.org/officeDocument/2006/relationships/tags" Target="../tags/tag130.xml"/><Relationship Id="rId77" Type="http://schemas.openxmlformats.org/officeDocument/2006/relationships/tags" Target="../tags/tag151.xml"/><Relationship Id="rId100" Type="http://schemas.openxmlformats.org/officeDocument/2006/relationships/slide" Target="slide30.xml"/><Relationship Id="rId105" Type="http://schemas.openxmlformats.org/officeDocument/2006/relationships/slide" Target="slide44.xml"/><Relationship Id="rId8" Type="http://schemas.openxmlformats.org/officeDocument/2006/relationships/tags" Target="../tags/tag82.xml"/><Relationship Id="rId51" Type="http://schemas.openxmlformats.org/officeDocument/2006/relationships/tags" Target="../tags/tag125.xml"/><Relationship Id="rId72" Type="http://schemas.openxmlformats.org/officeDocument/2006/relationships/tags" Target="../tags/tag146.xml"/><Relationship Id="rId93" Type="http://schemas.openxmlformats.org/officeDocument/2006/relationships/slide" Target="slide13.xml"/><Relationship Id="rId98" Type="http://schemas.openxmlformats.org/officeDocument/2006/relationships/slide" Target="slide18.xml"/><Relationship Id="rId3" Type="http://schemas.openxmlformats.org/officeDocument/2006/relationships/tags" Target="../tags/tag77.xml"/><Relationship Id="rId25" Type="http://schemas.openxmlformats.org/officeDocument/2006/relationships/tags" Target="../tags/tag99.xml"/><Relationship Id="rId46" Type="http://schemas.openxmlformats.org/officeDocument/2006/relationships/tags" Target="../tags/tag120.xml"/><Relationship Id="rId67" Type="http://schemas.openxmlformats.org/officeDocument/2006/relationships/tags" Target="../tags/tag141.xml"/><Relationship Id="rId20" Type="http://schemas.openxmlformats.org/officeDocument/2006/relationships/tags" Target="../tags/tag94.xml"/><Relationship Id="rId41" Type="http://schemas.openxmlformats.org/officeDocument/2006/relationships/tags" Target="../tags/tag115.xml"/><Relationship Id="rId62" Type="http://schemas.openxmlformats.org/officeDocument/2006/relationships/tags" Target="../tags/tag136.xml"/><Relationship Id="rId83" Type="http://schemas.openxmlformats.org/officeDocument/2006/relationships/slideLayout" Target="../slideLayouts/slideLayout9.xml"/><Relationship Id="rId88" Type="http://schemas.openxmlformats.org/officeDocument/2006/relationships/slide" Target="slide4.xml"/><Relationship Id="rId111" Type="http://schemas.openxmlformats.org/officeDocument/2006/relationships/slide" Target="slide51.xml"/></Relationships>
</file>

<file path=ppt/slides/_rels/slide4.xml.rels><?xml version="1.0" encoding="UTF-8" standalone="yes"?>
<Relationships xmlns="http://schemas.openxmlformats.org/package/2006/relationships"><Relationship Id="rId8" Type="http://schemas.openxmlformats.org/officeDocument/2006/relationships/tags" Target="../tags/tag164.xml"/><Relationship Id="rId13" Type="http://schemas.openxmlformats.org/officeDocument/2006/relationships/tags" Target="../tags/tag169.xml"/><Relationship Id="rId18" Type="http://schemas.openxmlformats.org/officeDocument/2006/relationships/slide" Target="slide7.xml"/><Relationship Id="rId3" Type="http://schemas.openxmlformats.org/officeDocument/2006/relationships/tags" Target="../tags/tag159.xml"/><Relationship Id="rId7" Type="http://schemas.openxmlformats.org/officeDocument/2006/relationships/tags" Target="../tags/tag163.xml"/><Relationship Id="rId12" Type="http://schemas.openxmlformats.org/officeDocument/2006/relationships/tags" Target="../tags/tag168.xml"/><Relationship Id="rId17" Type="http://schemas.openxmlformats.org/officeDocument/2006/relationships/slide" Target="slide6.xml"/><Relationship Id="rId2" Type="http://schemas.openxmlformats.org/officeDocument/2006/relationships/tags" Target="../tags/tag158.xml"/><Relationship Id="rId16" Type="http://schemas.openxmlformats.org/officeDocument/2006/relationships/slide" Target="slide5.xml"/><Relationship Id="rId1" Type="http://schemas.openxmlformats.org/officeDocument/2006/relationships/tags" Target="../tags/tag157.xml"/><Relationship Id="rId6" Type="http://schemas.openxmlformats.org/officeDocument/2006/relationships/tags" Target="../tags/tag162.xml"/><Relationship Id="rId11" Type="http://schemas.openxmlformats.org/officeDocument/2006/relationships/tags" Target="../tags/tag167.xml"/><Relationship Id="rId5" Type="http://schemas.openxmlformats.org/officeDocument/2006/relationships/tags" Target="../tags/tag161.xml"/><Relationship Id="rId15" Type="http://schemas.openxmlformats.org/officeDocument/2006/relationships/slideLayout" Target="../slideLayouts/slideLayout34.xml"/><Relationship Id="rId10" Type="http://schemas.openxmlformats.org/officeDocument/2006/relationships/tags" Target="../tags/tag166.xml"/><Relationship Id="rId19" Type="http://schemas.openxmlformats.org/officeDocument/2006/relationships/slide" Target="slide4.xml"/><Relationship Id="rId4" Type="http://schemas.openxmlformats.org/officeDocument/2006/relationships/tags" Target="../tags/tag160.xml"/><Relationship Id="rId9" Type="http://schemas.openxmlformats.org/officeDocument/2006/relationships/tags" Target="../tags/tag165.xml"/><Relationship Id="rId14" Type="http://schemas.openxmlformats.org/officeDocument/2006/relationships/tags" Target="../tags/tag170.xml"/></Relationships>
</file>

<file path=ppt/slides/_rels/slide5.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49.xml"/><Relationship Id="rId3" Type="http://schemas.openxmlformats.org/officeDocument/2006/relationships/tags" Target="../tags/tag173.xml"/><Relationship Id="rId7" Type="http://schemas.openxmlformats.org/officeDocument/2006/relationships/image" Target="../media/image19.emf"/><Relationship Id="rId12" Type="http://schemas.openxmlformats.org/officeDocument/2006/relationships/slide" Target="slide42.xml"/><Relationship Id="rId2" Type="http://schemas.openxmlformats.org/officeDocument/2006/relationships/tags" Target="../tags/tag172.xml"/><Relationship Id="rId1" Type="http://schemas.openxmlformats.org/officeDocument/2006/relationships/tags" Target="../tags/tag171.xml"/><Relationship Id="rId6" Type="http://schemas.openxmlformats.org/officeDocument/2006/relationships/oleObject" Target="../embeddings/oleObject8.bin"/><Relationship Id="rId11" Type="http://schemas.openxmlformats.org/officeDocument/2006/relationships/slide" Target="slide29.xml"/><Relationship Id="rId5" Type="http://schemas.microsoft.com/office/2018/10/relationships/comments" Target="../comments/modernComment_313_7E774330.xml"/><Relationship Id="rId10" Type="http://schemas.openxmlformats.org/officeDocument/2006/relationships/slide" Target="slide17.xml"/><Relationship Id="rId4" Type="http://schemas.openxmlformats.org/officeDocument/2006/relationships/slideLayout" Target="../slideLayouts/slideLayout9.xml"/><Relationship Id="rId9" Type="http://schemas.openxmlformats.org/officeDocument/2006/relationships/slide" Target="slide12.xml"/></Relationships>
</file>

<file path=ppt/slides/_rels/slide6.xml.rels><?xml version="1.0" encoding="UTF-8" standalone="yes"?>
<Relationships xmlns="http://schemas.openxmlformats.org/package/2006/relationships"><Relationship Id="rId8" Type="http://schemas.openxmlformats.org/officeDocument/2006/relationships/image" Target="../media/image30.emf"/><Relationship Id="rId13" Type="http://schemas.openxmlformats.org/officeDocument/2006/relationships/slide" Target="slide42.xml"/><Relationship Id="rId3" Type="http://schemas.openxmlformats.org/officeDocument/2006/relationships/tags" Target="../tags/tag176.xml"/><Relationship Id="rId7" Type="http://schemas.openxmlformats.org/officeDocument/2006/relationships/image" Target="../media/image29.emf"/><Relationship Id="rId12" Type="http://schemas.openxmlformats.org/officeDocument/2006/relationships/slide" Target="slide29.xml"/><Relationship Id="rId2" Type="http://schemas.openxmlformats.org/officeDocument/2006/relationships/tags" Target="../tags/tag175.xml"/><Relationship Id="rId1" Type="http://schemas.openxmlformats.org/officeDocument/2006/relationships/tags" Target="../tags/tag174.xml"/><Relationship Id="rId6" Type="http://schemas.microsoft.com/office/2018/10/relationships/comments" Target="../comments/modernComment_7FFFCA65_755BD434.xml"/><Relationship Id="rId11" Type="http://schemas.openxmlformats.org/officeDocument/2006/relationships/slide" Target="slide17.xml"/><Relationship Id="rId5" Type="http://schemas.openxmlformats.org/officeDocument/2006/relationships/slideLayout" Target="../slideLayouts/slideLayout17.xml"/><Relationship Id="rId10" Type="http://schemas.openxmlformats.org/officeDocument/2006/relationships/slide" Target="slide12.xml"/><Relationship Id="rId4" Type="http://schemas.openxmlformats.org/officeDocument/2006/relationships/tags" Target="../tags/tag177.xml"/><Relationship Id="rId9" Type="http://schemas.openxmlformats.org/officeDocument/2006/relationships/slide" Target="slide4.xml"/><Relationship Id="rId14" Type="http://schemas.openxmlformats.org/officeDocument/2006/relationships/slide" Target="slide49.xml"/></Relationships>
</file>

<file path=ppt/slides/_rels/slide7.xml.rels><?xml version="1.0" encoding="UTF-8" standalone="yes"?>
<Relationships xmlns="http://schemas.openxmlformats.org/package/2006/relationships"><Relationship Id="rId8" Type="http://schemas.openxmlformats.org/officeDocument/2006/relationships/image" Target="../media/image19.emf"/><Relationship Id="rId13" Type="http://schemas.openxmlformats.org/officeDocument/2006/relationships/slide" Target="slide17.xml"/><Relationship Id="rId3" Type="http://schemas.openxmlformats.org/officeDocument/2006/relationships/tags" Target="../tags/tag180.xml"/><Relationship Id="rId7" Type="http://schemas.openxmlformats.org/officeDocument/2006/relationships/oleObject" Target="../embeddings/oleObject9.bin"/><Relationship Id="rId12" Type="http://schemas.openxmlformats.org/officeDocument/2006/relationships/slide" Target="slide12.xml"/><Relationship Id="rId2" Type="http://schemas.openxmlformats.org/officeDocument/2006/relationships/tags" Target="../tags/tag179.xml"/><Relationship Id="rId16" Type="http://schemas.openxmlformats.org/officeDocument/2006/relationships/slide" Target="slide49.xml"/><Relationship Id="rId1" Type="http://schemas.openxmlformats.org/officeDocument/2006/relationships/tags" Target="../tags/tag178.xml"/><Relationship Id="rId6" Type="http://schemas.microsoft.com/office/2018/10/relationships/comments" Target="../comments/modernComment_7FFFCA75_8DB0B776.xml"/><Relationship Id="rId11" Type="http://schemas.openxmlformats.org/officeDocument/2006/relationships/slide" Target="slide4.xml"/><Relationship Id="rId5" Type="http://schemas.openxmlformats.org/officeDocument/2006/relationships/slideLayout" Target="../slideLayouts/slideLayout17.xml"/><Relationship Id="rId15" Type="http://schemas.openxmlformats.org/officeDocument/2006/relationships/slide" Target="slide42.xml"/><Relationship Id="rId10" Type="http://schemas.openxmlformats.org/officeDocument/2006/relationships/image" Target="../media/image31.emf"/><Relationship Id="rId4" Type="http://schemas.openxmlformats.org/officeDocument/2006/relationships/tags" Target="../tags/tag181.xml"/><Relationship Id="rId9" Type="http://schemas.openxmlformats.org/officeDocument/2006/relationships/slide" Target="slide38.xml"/><Relationship Id="rId14" Type="http://schemas.openxmlformats.org/officeDocument/2006/relationships/slide" Target="slide29.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slide" Target="slide17.xml"/><Relationship Id="rId3" Type="http://schemas.openxmlformats.org/officeDocument/2006/relationships/tags" Target="../tags/tag184.xml"/><Relationship Id="rId7" Type="http://schemas.openxmlformats.org/officeDocument/2006/relationships/image" Target="../media/image32.emf"/><Relationship Id="rId12" Type="http://schemas.openxmlformats.org/officeDocument/2006/relationships/slide" Target="slide12.xml"/><Relationship Id="rId2" Type="http://schemas.openxmlformats.org/officeDocument/2006/relationships/tags" Target="../tags/tag183.xml"/><Relationship Id="rId16" Type="http://schemas.openxmlformats.org/officeDocument/2006/relationships/slide" Target="slide49.xml"/><Relationship Id="rId1" Type="http://schemas.openxmlformats.org/officeDocument/2006/relationships/tags" Target="../tags/tag182.xml"/><Relationship Id="rId6" Type="http://schemas.microsoft.com/office/2018/10/relationships/comments" Target="../comments/modernComment_7FFFCA84_2DCEEFCE.xml"/><Relationship Id="rId11" Type="http://schemas.openxmlformats.org/officeDocument/2006/relationships/slide" Target="slide4.xml"/><Relationship Id="rId5" Type="http://schemas.openxmlformats.org/officeDocument/2006/relationships/slideLayout" Target="../slideLayouts/slideLayout17.xml"/><Relationship Id="rId15" Type="http://schemas.openxmlformats.org/officeDocument/2006/relationships/slide" Target="slide42.xml"/><Relationship Id="rId10" Type="http://schemas.openxmlformats.org/officeDocument/2006/relationships/slide" Target="slide33.xml"/><Relationship Id="rId4" Type="http://schemas.openxmlformats.org/officeDocument/2006/relationships/tags" Target="../tags/tag185.xml"/><Relationship Id="rId9" Type="http://schemas.openxmlformats.org/officeDocument/2006/relationships/image" Target="../media/image19.emf"/><Relationship Id="rId14" Type="http://schemas.openxmlformats.org/officeDocument/2006/relationships/slide" Target="slide29.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slide" Target="slide17.xml"/><Relationship Id="rId3" Type="http://schemas.openxmlformats.org/officeDocument/2006/relationships/tags" Target="../tags/tag188.xml"/><Relationship Id="rId7" Type="http://schemas.openxmlformats.org/officeDocument/2006/relationships/image" Target="../media/image33.emf"/><Relationship Id="rId12" Type="http://schemas.openxmlformats.org/officeDocument/2006/relationships/slide" Target="slide12.xml"/><Relationship Id="rId2" Type="http://schemas.openxmlformats.org/officeDocument/2006/relationships/tags" Target="../tags/tag187.xml"/><Relationship Id="rId16" Type="http://schemas.openxmlformats.org/officeDocument/2006/relationships/slide" Target="slide49.xml"/><Relationship Id="rId1" Type="http://schemas.openxmlformats.org/officeDocument/2006/relationships/tags" Target="../tags/tag186.xml"/><Relationship Id="rId6" Type="http://schemas.microsoft.com/office/2018/10/relationships/comments" Target="../comments/modernComment_7FFFCA85_59958027.xml"/><Relationship Id="rId11" Type="http://schemas.openxmlformats.org/officeDocument/2006/relationships/slide" Target="slide4.xml"/><Relationship Id="rId5" Type="http://schemas.openxmlformats.org/officeDocument/2006/relationships/slideLayout" Target="../slideLayouts/slideLayout17.xml"/><Relationship Id="rId15" Type="http://schemas.openxmlformats.org/officeDocument/2006/relationships/slide" Target="slide42.xml"/><Relationship Id="rId10" Type="http://schemas.openxmlformats.org/officeDocument/2006/relationships/slide" Target="slide13.xml"/><Relationship Id="rId4" Type="http://schemas.openxmlformats.org/officeDocument/2006/relationships/tags" Target="../tags/tag189.xml"/><Relationship Id="rId9" Type="http://schemas.openxmlformats.org/officeDocument/2006/relationships/image" Target="../media/image19.emf"/><Relationship Id="rId14" Type="http://schemas.openxmlformats.org/officeDocument/2006/relationships/slide" Target="slide29.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slide" Target="slide17.xml"/><Relationship Id="rId3" Type="http://schemas.openxmlformats.org/officeDocument/2006/relationships/tags" Target="../tags/tag192.xml"/><Relationship Id="rId7" Type="http://schemas.openxmlformats.org/officeDocument/2006/relationships/image" Target="../media/image34.emf"/><Relationship Id="rId12" Type="http://schemas.openxmlformats.org/officeDocument/2006/relationships/slide" Target="slide12.xml"/><Relationship Id="rId2" Type="http://schemas.openxmlformats.org/officeDocument/2006/relationships/tags" Target="../tags/tag191.xml"/><Relationship Id="rId16" Type="http://schemas.openxmlformats.org/officeDocument/2006/relationships/slide" Target="slide49.xml"/><Relationship Id="rId1" Type="http://schemas.openxmlformats.org/officeDocument/2006/relationships/tags" Target="../tags/tag190.xml"/><Relationship Id="rId6" Type="http://schemas.microsoft.com/office/2018/10/relationships/comments" Target="../comments/modernComment_7FFFCA86_5667988F.xml"/><Relationship Id="rId11" Type="http://schemas.openxmlformats.org/officeDocument/2006/relationships/slide" Target="slide4.xml"/><Relationship Id="rId5" Type="http://schemas.openxmlformats.org/officeDocument/2006/relationships/slideLayout" Target="../slideLayouts/slideLayout17.xml"/><Relationship Id="rId15" Type="http://schemas.openxmlformats.org/officeDocument/2006/relationships/slide" Target="slide42.xml"/><Relationship Id="rId10" Type="http://schemas.openxmlformats.org/officeDocument/2006/relationships/slide" Target="slide18.xml"/><Relationship Id="rId4" Type="http://schemas.openxmlformats.org/officeDocument/2006/relationships/tags" Target="../tags/tag193.xml"/><Relationship Id="rId9" Type="http://schemas.openxmlformats.org/officeDocument/2006/relationships/image" Target="../media/image19.emf"/><Relationship Id="rId14" Type="http://schemas.openxmlformats.org/officeDocument/2006/relationships/slide" Target="slide29.xml"/></Relationships>
</file>

<file path=ppt/slides/_rels/slide11.xml.rels><?xml version="1.0" encoding="UTF-8" standalone="yes"?>
<Relationships xmlns="http://schemas.openxmlformats.org/package/2006/relationships"><Relationship Id="rId8" Type="http://schemas.openxmlformats.org/officeDocument/2006/relationships/image" Target="../media/image19.emf"/><Relationship Id="rId13" Type="http://schemas.openxmlformats.org/officeDocument/2006/relationships/slide" Target="slide29.xml"/><Relationship Id="rId3" Type="http://schemas.openxmlformats.org/officeDocument/2006/relationships/tags" Target="../tags/tag196.xml"/><Relationship Id="rId7" Type="http://schemas.openxmlformats.org/officeDocument/2006/relationships/oleObject" Target="../embeddings/oleObject9.bin"/><Relationship Id="rId12" Type="http://schemas.openxmlformats.org/officeDocument/2006/relationships/slide" Target="slide17.xml"/><Relationship Id="rId2" Type="http://schemas.openxmlformats.org/officeDocument/2006/relationships/tags" Target="../tags/tag195.xml"/><Relationship Id="rId1" Type="http://schemas.openxmlformats.org/officeDocument/2006/relationships/tags" Target="../tags/tag194.xml"/><Relationship Id="rId6" Type="http://schemas.microsoft.com/office/2018/10/relationships/comments" Target="../comments/modernComment_7FFFCA87_83CF85EB.xml"/><Relationship Id="rId11" Type="http://schemas.openxmlformats.org/officeDocument/2006/relationships/slide" Target="slide12.xml"/><Relationship Id="rId5" Type="http://schemas.openxmlformats.org/officeDocument/2006/relationships/slideLayout" Target="../slideLayouts/slideLayout17.xml"/><Relationship Id="rId15" Type="http://schemas.openxmlformats.org/officeDocument/2006/relationships/slide" Target="slide49.xml"/><Relationship Id="rId10" Type="http://schemas.openxmlformats.org/officeDocument/2006/relationships/slide" Target="slide4.xml"/><Relationship Id="rId4" Type="http://schemas.openxmlformats.org/officeDocument/2006/relationships/tags" Target="../tags/tag197.xml"/><Relationship Id="rId9" Type="http://schemas.openxmlformats.org/officeDocument/2006/relationships/image" Target="../media/image35.emf"/><Relationship Id="rId14" Type="http://schemas.openxmlformats.org/officeDocument/2006/relationships/slide" Target="slide42.xml"/></Relationships>
</file>

<file path=ppt/slides/_rels/slide12.xml.rels><?xml version="1.0" encoding="UTF-8" standalone="yes"?>
<Relationships xmlns="http://schemas.openxmlformats.org/package/2006/relationships"><Relationship Id="rId8" Type="http://schemas.openxmlformats.org/officeDocument/2006/relationships/tags" Target="../tags/tag205.xml"/><Relationship Id="rId13" Type="http://schemas.openxmlformats.org/officeDocument/2006/relationships/tags" Target="../tags/tag210.xml"/><Relationship Id="rId18" Type="http://schemas.openxmlformats.org/officeDocument/2006/relationships/slide" Target="slide12.xml"/><Relationship Id="rId3" Type="http://schemas.openxmlformats.org/officeDocument/2006/relationships/tags" Target="../tags/tag200.xml"/><Relationship Id="rId21" Type="http://schemas.openxmlformats.org/officeDocument/2006/relationships/slide" Target="slide15.xml"/><Relationship Id="rId7" Type="http://schemas.openxmlformats.org/officeDocument/2006/relationships/tags" Target="../tags/tag204.xml"/><Relationship Id="rId12" Type="http://schemas.openxmlformats.org/officeDocument/2006/relationships/tags" Target="../tags/tag209.xml"/><Relationship Id="rId17" Type="http://schemas.openxmlformats.org/officeDocument/2006/relationships/slideLayout" Target="../slideLayouts/slideLayout34.xml"/><Relationship Id="rId2" Type="http://schemas.openxmlformats.org/officeDocument/2006/relationships/tags" Target="../tags/tag199.xml"/><Relationship Id="rId16" Type="http://schemas.openxmlformats.org/officeDocument/2006/relationships/tags" Target="../tags/tag213.xml"/><Relationship Id="rId20" Type="http://schemas.openxmlformats.org/officeDocument/2006/relationships/slide" Target="slide14.xml"/><Relationship Id="rId1" Type="http://schemas.openxmlformats.org/officeDocument/2006/relationships/tags" Target="../tags/tag198.xml"/><Relationship Id="rId6" Type="http://schemas.openxmlformats.org/officeDocument/2006/relationships/tags" Target="../tags/tag203.xml"/><Relationship Id="rId11" Type="http://schemas.openxmlformats.org/officeDocument/2006/relationships/tags" Target="../tags/tag208.xml"/><Relationship Id="rId5" Type="http://schemas.openxmlformats.org/officeDocument/2006/relationships/tags" Target="../tags/tag202.xml"/><Relationship Id="rId15" Type="http://schemas.openxmlformats.org/officeDocument/2006/relationships/tags" Target="../tags/tag212.xml"/><Relationship Id="rId10" Type="http://schemas.openxmlformats.org/officeDocument/2006/relationships/tags" Target="../tags/tag207.xml"/><Relationship Id="rId19" Type="http://schemas.openxmlformats.org/officeDocument/2006/relationships/slide" Target="slide13.xml"/><Relationship Id="rId4" Type="http://schemas.openxmlformats.org/officeDocument/2006/relationships/tags" Target="../tags/tag201.xml"/><Relationship Id="rId9" Type="http://schemas.openxmlformats.org/officeDocument/2006/relationships/tags" Target="../tags/tag206.xml"/><Relationship Id="rId14" Type="http://schemas.openxmlformats.org/officeDocument/2006/relationships/tags" Target="../tags/tag211.xml"/><Relationship Id="rId22" Type="http://schemas.openxmlformats.org/officeDocument/2006/relationships/slide" Target="slide16.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slide" Target="slide17.xml"/><Relationship Id="rId3" Type="http://schemas.openxmlformats.org/officeDocument/2006/relationships/tags" Target="../tags/tag216.xml"/><Relationship Id="rId7" Type="http://schemas.microsoft.com/office/2018/10/relationships/comments" Target="../comments/modernComment_2D4_8D0F1A44.xml"/><Relationship Id="rId12" Type="http://schemas.openxmlformats.org/officeDocument/2006/relationships/slide" Target="slide12.xml"/><Relationship Id="rId2" Type="http://schemas.openxmlformats.org/officeDocument/2006/relationships/tags" Target="../tags/tag215.xml"/><Relationship Id="rId16" Type="http://schemas.openxmlformats.org/officeDocument/2006/relationships/slide" Target="slide49.xml"/><Relationship Id="rId1" Type="http://schemas.openxmlformats.org/officeDocument/2006/relationships/tags" Target="../tags/tag214.xml"/><Relationship Id="rId6" Type="http://schemas.openxmlformats.org/officeDocument/2006/relationships/slideLayout" Target="../slideLayouts/slideLayout42.xml"/><Relationship Id="rId11" Type="http://schemas.openxmlformats.org/officeDocument/2006/relationships/slide" Target="slide4.xml"/><Relationship Id="rId5" Type="http://schemas.openxmlformats.org/officeDocument/2006/relationships/tags" Target="../tags/tag218.xml"/><Relationship Id="rId15" Type="http://schemas.openxmlformats.org/officeDocument/2006/relationships/slide" Target="slide42.xml"/><Relationship Id="rId10" Type="http://schemas.openxmlformats.org/officeDocument/2006/relationships/image" Target="../media/image36.emf"/><Relationship Id="rId4" Type="http://schemas.openxmlformats.org/officeDocument/2006/relationships/tags" Target="../tags/tag217.xml"/><Relationship Id="rId9" Type="http://schemas.openxmlformats.org/officeDocument/2006/relationships/image" Target="../media/image19.emf"/><Relationship Id="rId14" Type="http://schemas.openxmlformats.org/officeDocument/2006/relationships/slide" Target="slide29.xml"/></Relationships>
</file>

<file path=ppt/slides/_rels/slide14.xml.rels><?xml version="1.0" encoding="UTF-8" standalone="yes"?>
<Relationships xmlns="http://schemas.openxmlformats.org/package/2006/relationships"><Relationship Id="rId8" Type="http://schemas.openxmlformats.org/officeDocument/2006/relationships/image" Target="../media/image37.emf"/><Relationship Id="rId13" Type="http://schemas.openxmlformats.org/officeDocument/2006/relationships/slide" Target="slide17.xml"/><Relationship Id="rId3" Type="http://schemas.openxmlformats.org/officeDocument/2006/relationships/tags" Target="../tags/tag221.xml"/><Relationship Id="rId7" Type="http://schemas.microsoft.com/office/2018/10/relationships/comments" Target="../comments/modernComment_7FFFCA89_8443EEA1.xml"/><Relationship Id="rId12" Type="http://schemas.openxmlformats.org/officeDocument/2006/relationships/slide" Target="slide12.xml"/><Relationship Id="rId2" Type="http://schemas.openxmlformats.org/officeDocument/2006/relationships/tags" Target="../tags/tag220.xml"/><Relationship Id="rId16" Type="http://schemas.openxmlformats.org/officeDocument/2006/relationships/slide" Target="slide49.xml"/><Relationship Id="rId1" Type="http://schemas.openxmlformats.org/officeDocument/2006/relationships/tags" Target="../tags/tag219.xml"/><Relationship Id="rId6" Type="http://schemas.openxmlformats.org/officeDocument/2006/relationships/slideLayout" Target="../slideLayouts/slideLayout42.xml"/><Relationship Id="rId11" Type="http://schemas.openxmlformats.org/officeDocument/2006/relationships/slide" Target="slide4.xml"/><Relationship Id="rId5" Type="http://schemas.openxmlformats.org/officeDocument/2006/relationships/tags" Target="../tags/tag223.xml"/><Relationship Id="rId15" Type="http://schemas.openxmlformats.org/officeDocument/2006/relationships/slide" Target="slide42.xml"/><Relationship Id="rId10" Type="http://schemas.openxmlformats.org/officeDocument/2006/relationships/image" Target="../media/image19.emf"/><Relationship Id="rId4" Type="http://schemas.openxmlformats.org/officeDocument/2006/relationships/tags" Target="../tags/tag222.xml"/><Relationship Id="rId9" Type="http://schemas.openxmlformats.org/officeDocument/2006/relationships/oleObject" Target="../embeddings/oleObject10.bin"/><Relationship Id="rId14" Type="http://schemas.openxmlformats.org/officeDocument/2006/relationships/slide" Target="slide29.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slide" Target="slide17.xml"/><Relationship Id="rId3" Type="http://schemas.openxmlformats.org/officeDocument/2006/relationships/tags" Target="../tags/tag226.xml"/><Relationship Id="rId7" Type="http://schemas.microsoft.com/office/2018/10/relationships/comments" Target="../comments/modernComment_7FFFCA83_4E41818B.xml"/><Relationship Id="rId12" Type="http://schemas.openxmlformats.org/officeDocument/2006/relationships/slide" Target="slide12.xml"/><Relationship Id="rId2" Type="http://schemas.openxmlformats.org/officeDocument/2006/relationships/tags" Target="../tags/tag225.xml"/><Relationship Id="rId16" Type="http://schemas.openxmlformats.org/officeDocument/2006/relationships/slide" Target="slide49.xml"/><Relationship Id="rId1" Type="http://schemas.openxmlformats.org/officeDocument/2006/relationships/tags" Target="../tags/tag224.xml"/><Relationship Id="rId6" Type="http://schemas.openxmlformats.org/officeDocument/2006/relationships/slideLayout" Target="../slideLayouts/slideLayout42.xml"/><Relationship Id="rId11" Type="http://schemas.openxmlformats.org/officeDocument/2006/relationships/slide" Target="slide4.xml"/><Relationship Id="rId5" Type="http://schemas.openxmlformats.org/officeDocument/2006/relationships/tags" Target="../tags/tag228.xml"/><Relationship Id="rId15" Type="http://schemas.openxmlformats.org/officeDocument/2006/relationships/slide" Target="slide42.xml"/><Relationship Id="rId10" Type="http://schemas.openxmlformats.org/officeDocument/2006/relationships/image" Target="../media/image38.emf"/><Relationship Id="rId4" Type="http://schemas.openxmlformats.org/officeDocument/2006/relationships/tags" Target="../tags/tag227.xml"/><Relationship Id="rId9" Type="http://schemas.openxmlformats.org/officeDocument/2006/relationships/image" Target="../media/image19.emf"/><Relationship Id="rId14" Type="http://schemas.openxmlformats.org/officeDocument/2006/relationships/slide" Target="slide29.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slide" Target="slide29.xml"/><Relationship Id="rId3" Type="http://schemas.openxmlformats.org/officeDocument/2006/relationships/tags" Target="../tags/tag231.xml"/><Relationship Id="rId7" Type="http://schemas.openxmlformats.org/officeDocument/2006/relationships/image" Target="../media/image39.emf"/><Relationship Id="rId12" Type="http://schemas.openxmlformats.org/officeDocument/2006/relationships/slide" Target="slide17.xml"/><Relationship Id="rId2" Type="http://schemas.openxmlformats.org/officeDocument/2006/relationships/tags" Target="../tags/tag230.xml"/><Relationship Id="rId1" Type="http://schemas.openxmlformats.org/officeDocument/2006/relationships/tags" Target="../tags/tag229.xml"/><Relationship Id="rId6" Type="http://schemas.openxmlformats.org/officeDocument/2006/relationships/slideLayout" Target="../slideLayouts/slideLayout42.xml"/><Relationship Id="rId11" Type="http://schemas.openxmlformats.org/officeDocument/2006/relationships/slide" Target="slide12.xml"/><Relationship Id="rId5" Type="http://schemas.openxmlformats.org/officeDocument/2006/relationships/tags" Target="../tags/tag233.xml"/><Relationship Id="rId15" Type="http://schemas.openxmlformats.org/officeDocument/2006/relationships/slide" Target="slide49.xml"/><Relationship Id="rId10" Type="http://schemas.openxmlformats.org/officeDocument/2006/relationships/slide" Target="slide4.xml"/><Relationship Id="rId4" Type="http://schemas.openxmlformats.org/officeDocument/2006/relationships/tags" Target="../tags/tag232.xml"/><Relationship Id="rId9" Type="http://schemas.openxmlformats.org/officeDocument/2006/relationships/image" Target="../media/image19.emf"/><Relationship Id="rId14" Type="http://schemas.openxmlformats.org/officeDocument/2006/relationships/slide" Target="slide42.xml"/></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tags" Target="../tags/tag236.xml"/><Relationship Id="rId7" Type="http://schemas.openxmlformats.org/officeDocument/2006/relationships/tags" Target="../tags/tag240.xml"/><Relationship Id="rId2" Type="http://schemas.openxmlformats.org/officeDocument/2006/relationships/tags" Target="../tags/tag235.xml"/><Relationship Id="rId1" Type="http://schemas.openxmlformats.org/officeDocument/2006/relationships/tags" Target="../tags/tag234.xml"/><Relationship Id="rId6" Type="http://schemas.openxmlformats.org/officeDocument/2006/relationships/tags" Target="../tags/tag239.xml"/><Relationship Id="rId5" Type="http://schemas.openxmlformats.org/officeDocument/2006/relationships/tags" Target="../tags/tag238.xml"/><Relationship Id="rId10" Type="http://schemas.openxmlformats.org/officeDocument/2006/relationships/slide" Target="slide18.xml"/><Relationship Id="rId4" Type="http://schemas.openxmlformats.org/officeDocument/2006/relationships/tags" Target="../tags/tag237.xml"/><Relationship Id="rId9" Type="http://schemas.openxmlformats.org/officeDocument/2006/relationships/slide" Target="slide17.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slide" Target="slide17.xml"/><Relationship Id="rId3" Type="http://schemas.openxmlformats.org/officeDocument/2006/relationships/tags" Target="../tags/tag243.xml"/><Relationship Id="rId7" Type="http://schemas.microsoft.com/office/2018/10/relationships/comments" Target="../comments/modernComment_2D8_1A686F4A.xml"/><Relationship Id="rId12" Type="http://schemas.openxmlformats.org/officeDocument/2006/relationships/slide" Target="slide12.xml"/><Relationship Id="rId2" Type="http://schemas.openxmlformats.org/officeDocument/2006/relationships/tags" Target="../tags/tag242.xml"/><Relationship Id="rId16" Type="http://schemas.openxmlformats.org/officeDocument/2006/relationships/slide" Target="slide49.xml"/><Relationship Id="rId1" Type="http://schemas.openxmlformats.org/officeDocument/2006/relationships/tags" Target="../tags/tag241.xml"/><Relationship Id="rId6" Type="http://schemas.openxmlformats.org/officeDocument/2006/relationships/slideLayout" Target="../slideLayouts/slideLayout43.xml"/><Relationship Id="rId11" Type="http://schemas.openxmlformats.org/officeDocument/2006/relationships/slide" Target="slide4.xml"/><Relationship Id="rId5" Type="http://schemas.openxmlformats.org/officeDocument/2006/relationships/tags" Target="../tags/tag245.xml"/><Relationship Id="rId15" Type="http://schemas.openxmlformats.org/officeDocument/2006/relationships/slide" Target="slide42.xml"/><Relationship Id="rId10" Type="http://schemas.openxmlformats.org/officeDocument/2006/relationships/image" Target="../media/image40.emf"/><Relationship Id="rId4" Type="http://schemas.openxmlformats.org/officeDocument/2006/relationships/tags" Target="../tags/tag244.xml"/><Relationship Id="rId9" Type="http://schemas.openxmlformats.org/officeDocument/2006/relationships/image" Target="../media/image19.emf"/><Relationship Id="rId14" Type="http://schemas.openxmlformats.org/officeDocument/2006/relationships/slide" Target="slide29.xml"/></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slide" Target="slide17.xml"/><Relationship Id="rId3" Type="http://schemas.openxmlformats.org/officeDocument/2006/relationships/tags" Target="../tags/tag248.xml"/><Relationship Id="rId7" Type="http://schemas.microsoft.com/office/2018/10/relationships/comments" Target="../comments/modernComment_7FFFCA7E_CBE29FF5.xml"/><Relationship Id="rId12" Type="http://schemas.openxmlformats.org/officeDocument/2006/relationships/slide" Target="slide12.xml"/><Relationship Id="rId2" Type="http://schemas.openxmlformats.org/officeDocument/2006/relationships/tags" Target="../tags/tag247.xml"/><Relationship Id="rId16" Type="http://schemas.openxmlformats.org/officeDocument/2006/relationships/slide" Target="slide49.xml"/><Relationship Id="rId1" Type="http://schemas.openxmlformats.org/officeDocument/2006/relationships/tags" Target="../tags/tag246.xml"/><Relationship Id="rId6" Type="http://schemas.openxmlformats.org/officeDocument/2006/relationships/slideLayout" Target="../slideLayouts/slideLayout43.xml"/><Relationship Id="rId11" Type="http://schemas.openxmlformats.org/officeDocument/2006/relationships/slide" Target="slide4.xml"/><Relationship Id="rId5" Type="http://schemas.openxmlformats.org/officeDocument/2006/relationships/tags" Target="../tags/tag250.xml"/><Relationship Id="rId15" Type="http://schemas.openxmlformats.org/officeDocument/2006/relationships/slide" Target="slide42.xml"/><Relationship Id="rId10" Type="http://schemas.openxmlformats.org/officeDocument/2006/relationships/image" Target="../media/image41.emf"/><Relationship Id="rId4" Type="http://schemas.openxmlformats.org/officeDocument/2006/relationships/tags" Target="../tags/tag249.xml"/><Relationship Id="rId9" Type="http://schemas.openxmlformats.org/officeDocument/2006/relationships/image" Target="../media/image19.emf"/><Relationship Id="rId14" Type="http://schemas.openxmlformats.org/officeDocument/2006/relationships/slide" Target="slide29.xml"/></Relationships>
</file>

<file path=ppt/slides/_rels/slide20.xml.rels><?xml version="1.0" encoding="UTF-8" standalone="yes"?>
<Relationships xmlns="http://schemas.openxmlformats.org/package/2006/relationships"><Relationship Id="rId8" Type="http://schemas.microsoft.com/office/2018/10/relationships/comments" Target="../comments/modernComment_7FFFCA8A_F7EA50F0.xml"/><Relationship Id="rId13" Type="http://schemas.openxmlformats.org/officeDocument/2006/relationships/slide" Target="slide4.xml"/><Relationship Id="rId18" Type="http://schemas.openxmlformats.org/officeDocument/2006/relationships/slide" Target="slide49.xml"/><Relationship Id="rId3" Type="http://schemas.openxmlformats.org/officeDocument/2006/relationships/tags" Target="../tags/tag253.xml"/><Relationship Id="rId7" Type="http://schemas.openxmlformats.org/officeDocument/2006/relationships/slideLayout" Target="../slideLayouts/slideLayout43.xml"/><Relationship Id="rId12" Type="http://schemas.openxmlformats.org/officeDocument/2006/relationships/image" Target="../media/image43.emf"/><Relationship Id="rId17" Type="http://schemas.openxmlformats.org/officeDocument/2006/relationships/slide" Target="slide42.xml"/><Relationship Id="rId2" Type="http://schemas.openxmlformats.org/officeDocument/2006/relationships/tags" Target="../tags/tag252.xml"/><Relationship Id="rId16" Type="http://schemas.openxmlformats.org/officeDocument/2006/relationships/slide" Target="slide29.xml"/><Relationship Id="rId1" Type="http://schemas.openxmlformats.org/officeDocument/2006/relationships/tags" Target="../tags/tag251.xml"/><Relationship Id="rId6" Type="http://schemas.openxmlformats.org/officeDocument/2006/relationships/tags" Target="../tags/tag256.xml"/><Relationship Id="rId11" Type="http://schemas.openxmlformats.org/officeDocument/2006/relationships/image" Target="../media/image42.emf"/><Relationship Id="rId5" Type="http://schemas.openxmlformats.org/officeDocument/2006/relationships/tags" Target="../tags/tag255.xml"/><Relationship Id="rId15" Type="http://schemas.openxmlformats.org/officeDocument/2006/relationships/slide" Target="slide17.xml"/><Relationship Id="rId10" Type="http://schemas.openxmlformats.org/officeDocument/2006/relationships/image" Target="../media/image19.emf"/><Relationship Id="rId4" Type="http://schemas.openxmlformats.org/officeDocument/2006/relationships/tags" Target="../tags/tag254.xml"/><Relationship Id="rId9" Type="http://schemas.openxmlformats.org/officeDocument/2006/relationships/oleObject" Target="../embeddings/oleObject11.bin"/><Relationship Id="rId14" Type="http://schemas.openxmlformats.org/officeDocument/2006/relationships/slide" Target="slide12.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slide" Target="slide17.xml"/><Relationship Id="rId3" Type="http://schemas.openxmlformats.org/officeDocument/2006/relationships/tags" Target="../tags/tag259.xml"/><Relationship Id="rId7" Type="http://schemas.microsoft.com/office/2018/10/relationships/comments" Target="../comments/modernComment_7FFFCA8B_CACB43A2.xml"/><Relationship Id="rId12" Type="http://schemas.openxmlformats.org/officeDocument/2006/relationships/slide" Target="slide12.xml"/><Relationship Id="rId2" Type="http://schemas.openxmlformats.org/officeDocument/2006/relationships/tags" Target="../tags/tag258.xml"/><Relationship Id="rId16" Type="http://schemas.openxmlformats.org/officeDocument/2006/relationships/slide" Target="slide49.xml"/><Relationship Id="rId1" Type="http://schemas.openxmlformats.org/officeDocument/2006/relationships/tags" Target="../tags/tag257.xml"/><Relationship Id="rId6" Type="http://schemas.openxmlformats.org/officeDocument/2006/relationships/slideLayout" Target="../slideLayouts/slideLayout43.xml"/><Relationship Id="rId11" Type="http://schemas.openxmlformats.org/officeDocument/2006/relationships/slide" Target="slide4.xml"/><Relationship Id="rId5" Type="http://schemas.openxmlformats.org/officeDocument/2006/relationships/tags" Target="../tags/tag261.xml"/><Relationship Id="rId15" Type="http://schemas.openxmlformats.org/officeDocument/2006/relationships/slide" Target="slide42.xml"/><Relationship Id="rId10" Type="http://schemas.openxmlformats.org/officeDocument/2006/relationships/image" Target="../media/image44.emf"/><Relationship Id="rId4" Type="http://schemas.openxmlformats.org/officeDocument/2006/relationships/tags" Target="../tags/tag260.xml"/><Relationship Id="rId9" Type="http://schemas.openxmlformats.org/officeDocument/2006/relationships/image" Target="../media/image19.emf"/><Relationship Id="rId14" Type="http://schemas.openxmlformats.org/officeDocument/2006/relationships/slide" Target="slide29.xml"/></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slide" Target="slide17.xml"/><Relationship Id="rId3" Type="http://schemas.openxmlformats.org/officeDocument/2006/relationships/tags" Target="../tags/tag264.xml"/><Relationship Id="rId7" Type="http://schemas.microsoft.com/office/2018/10/relationships/comments" Target="../comments/modernComment_7FFFCA93_B75446.xml"/><Relationship Id="rId12" Type="http://schemas.openxmlformats.org/officeDocument/2006/relationships/slide" Target="slide12.xml"/><Relationship Id="rId2" Type="http://schemas.openxmlformats.org/officeDocument/2006/relationships/tags" Target="../tags/tag263.xml"/><Relationship Id="rId16" Type="http://schemas.openxmlformats.org/officeDocument/2006/relationships/slide" Target="slide49.xml"/><Relationship Id="rId1" Type="http://schemas.openxmlformats.org/officeDocument/2006/relationships/tags" Target="../tags/tag262.xml"/><Relationship Id="rId6" Type="http://schemas.openxmlformats.org/officeDocument/2006/relationships/slideLayout" Target="../slideLayouts/slideLayout43.xml"/><Relationship Id="rId11" Type="http://schemas.openxmlformats.org/officeDocument/2006/relationships/slide" Target="slide4.xml"/><Relationship Id="rId5" Type="http://schemas.openxmlformats.org/officeDocument/2006/relationships/tags" Target="../tags/tag266.xml"/><Relationship Id="rId15" Type="http://schemas.openxmlformats.org/officeDocument/2006/relationships/slide" Target="slide42.xml"/><Relationship Id="rId10" Type="http://schemas.openxmlformats.org/officeDocument/2006/relationships/image" Target="../media/image45.emf"/><Relationship Id="rId4" Type="http://schemas.openxmlformats.org/officeDocument/2006/relationships/tags" Target="../tags/tag265.xml"/><Relationship Id="rId9" Type="http://schemas.openxmlformats.org/officeDocument/2006/relationships/image" Target="../media/image19.emf"/><Relationship Id="rId14" Type="http://schemas.openxmlformats.org/officeDocument/2006/relationships/slide" Target="slide29.xml"/></Relationships>
</file>

<file path=ppt/slides/_rels/slide23.xml.rels><?xml version="1.0" encoding="UTF-8" standalone="yes"?>
<Relationships xmlns="http://schemas.openxmlformats.org/package/2006/relationships"><Relationship Id="rId8" Type="http://schemas.openxmlformats.org/officeDocument/2006/relationships/image" Target="../media/image19.emf"/><Relationship Id="rId13" Type="http://schemas.openxmlformats.org/officeDocument/2006/relationships/slide" Target="slide29.xml"/><Relationship Id="rId3" Type="http://schemas.openxmlformats.org/officeDocument/2006/relationships/tags" Target="../tags/tag269.xml"/><Relationship Id="rId7" Type="http://schemas.openxmlformats.org/officeDocument/2006/relationships/oleObject" Target="../embeddings/oleObject11.bin"/><Relationship Id="rId12" Type="http://schemas.openxmlformats.org/officeDocument/2006/relationships/slide" Target="slide17.xml"/><Relationship Id="rId2" Type="http://schemas.openxmlformats.org/officeDocument/2006/relationships/tags" Target="../tags/tag268.xml"/><Relationship Id="rId1" Type="http://schemas.openxmlformats.org/officeDocument/2006/relationships/tags" Target="../tags/tag267.xml"/><Relationship Id="rId6" Type="http://schemas.openxmlformats.org/officeDocument/2006/relationships/slideLayout" Target="../slideLayouts/slideLayout43.xml"/><Relationship Id="rId11" Type="http://schemas.openxmlformats.org/officeDocument/2006/relationships/slide" Target="slide12.xml"/><Relationship Id="rId5" Type="http://schemas.openxmlformats.org/officeDocument/2006/relationships/tags" Target="../tags/tag271.xml"/><Relationship Id="rId15" Type="http://schemas.openxmlformats.org/officeDocument/2006/relationships/slide" Target="slide49.xml"/><Relationship Id="rId10" Type="http://schemas.openxmlformats.org/officeDocument/2006/relationships/slide" Target="slide4.xml"/><Relationship Id="rId4" Type="http://schemas.openxmlformats.org/officeDocument/2006/relationships/tags" Target="../tags/tag270.xml"/><Relationship Id="rId9" Type="http://schemas.openxmlformats.org/officeDocument/2006/relationships/image" Target="../media/image46.emf"/><Relationship Id="rId14" Type="http://schemas.openxmlformats.org/officeDocument/2006/relationships/slide" Target="slide42.xml"/></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slide" Target="slide17.xml"/><Relationship Id="rId3" Type="http://schemas.openxmlformats.org/officeDocument/2006/relationships/tags" Target="../tags/tag274.xml"/><Relationship Id="rId7" Type="http://schemas.microsoft.com/office/2018/10/relationships/comments" Target="../comments/modernComment_7FFFCA8C_2B71E51C.xml"/><Relationship Id="rId12" Type="http://schemas.openxmlformats.org/officeDocument/2006/relationships/slide" Target="slide12.xml"/><Relationship Id="rId2" Type="http://schemas.openxmlformats.org/officeDocument/2006/relationships/tags" Target="../tags/tag273.xml"/><Relationship Id="rId16" Type="http://schemas.openxmlformats.org/officeDocument/2006/relationships/slide" Target="slide49.xml"/><Relationship Id="rId1" Type="http://schemas.openxmlformats.org/officeDocument/2006/relationships/tags" Target="../tags/tag272.xml"/><Relationship Id="rId6" Type="http://schemas.openxmlformats.org/officeDocument/2006/relationships/slideLayout" Target="../slideLayouts/slideLayout43.xml"/><Relationship Id="rId11" Type="http://schemas.openxmlformats.org/officeDocument/2006/relationships/slide" Target="slide4.xml"/><Relationship Id="rId5" Type="http://schemas.openxmlformats.org/officeDocument/2006/relationships/tags" Target="../tags/tag276.xml"/><Relationship Id="rId15" Type="http://schemas.openxmlformats.org/officeDocument/2006/relationships/slide" Target="slide42.xml"/><Relationship Id="rId10" Type="http://schemas.openxmlformats.org/officeDocument/2006/relationships/image" Target="../media/image47.emf"/><Relationship Id="rId4" Type="http://schemas.openxmlformats.org/officeDocument/2006/relationships/tags" Target="../tags/tag275.xml"/><Relationship Id="rId9" Type="http://schemas.openxmlformats.org/officeDocument/2006/relationships/image" Target="../media/image19.emf"/><Relationship Id="rId14" Type="http://schemas.openxmlformats.org/officeDocument/2006/relationships/slide" Target="slide29.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slide" Target="slide17.xml"/><Relationship Id="rId3" Type="http://schemas.openxmlformats.org/officeDocument/2006/relationships/tags" Target="../tags/tag279.xml"/><Relationship Id="rId7" Type="http://schemas.microsoft.com/office/2018/10/relationships/comments" Target="../comments/modernComment_7FFFCA95_EDF9B490.xml"/><Relationship Id="rId12" Type="http://schemas.openxmlformats.org/officeDocument/2006/relationships/slide" Target="slide12.xml"/><Relationship Id="rId2" Type="http://schemas.openxmlformats.org/officeDocument/2006/relationships/tags" Target="../tags/tag278.xml"/><Relationship Id="rId16" Type="http://schemas.openxmlformats.org/officeDocument/2006/relationships/slide" Target="slide49.xml"/><Relationship Id="rId1" Type="http://schemas.openxmlformats.org/officeDocument/2006/relationships/tags" Target="../tags/tag277.xml"/><Relationship Id="rId6" Type="http://schemas.openxmlformats.org/officeDocument/2006/relationships/slideLayout" Target="../slideLayouts/slideLayout43.xml"/><Relationship Id="rId11" Type="http://schemas.openxmlformats.org/officeDocument/2006/relationships/slide" Target="slide4.xml"/><Relationship Id="rId5" Type="http://schemas.openxmlformats.org/officeDocument/2006/relationships/tags" Target="../tags/tag281.xml"/><Relationship Id="rId15" Type="http://schemas.openxmlformats.org/officeDocument/2006/relationships/slide" Target="slide42.xml"/><Relationship Id="rId10" Type="http://schemas.openxmlformats.org/officeDocument/2006/relationships/image" Target="../media/image48.emf"/><Relationship Id="rId4" Type="http://schemas.openxmlformats.org/officeDocument/2006/relationships/tags" Target="../tags/tag280.xml"/><Relationship Id="rId9" Type="http://schemas.openxmlformats.org/officeDocument/2006/relationships/image" Target="../media/image19.emf"/><Relationship Id="rId14" Type="http://schemas.openxmlformats.org/officeDocument/2006/relationships/slide" Target="slide29.xml"/></Relationships>
</file>

<file path=ppt/slides/_rels/slide26.xml.rels><?xml version="1.0" encoding="UTF-8" standalone="yes"?>
<Relationships xmlns="http://schemas.openxmlformats.org/package/2006/relationships"><Relationship Id="rId8" Type="http://schemas.microsoft.com/office/2018/10/relationships/comments" Target="../comments/modernComment_2ED_9EA32429.xml"/><Relationship Id="rId13" Type="http://schemas.openxmlformats.org/officeDocument/2006/relationships/slide" Target="slide4.xml"/><Relationship Id="rId18" Type="http://schemas.openxmlformats.org/officeDocument/2006/relationships/slide" Target="slide49.xml"/><Relationship Id="rId3" Type="http://schemas.openxmlformats.org/officeDocument/2006/relationships/tags" Target="../tags/tag284.xml"/><Relationship Id="rId7" Type="http://schemas.openxmlformats.org/officeDocument/2006/relationships/slideLayout" Target="../slideLayouts/slideLayout44.xml"/><Relationship Id="rId12" Type="http://schemas.openxmlformats.org/officeDocument/2006/relationships/image" Target="../media/image50.emf"/><Relationship Id="rId17" Type="http://schemas.openxmlformats.org/officeDocument/2006/relationships/slide" Target="slide42.xml"/><Relationship Id="rId2" Type="http://schemas.openxmlformats.org/officeDocument/2006/relationships/tags" Target="../tags/tag283.xml"/><Relationship Id="rId16" Type="http://schemas.openxmlformats.org/officeDocument/2006/relationships/slide" Target="slide29.xml"/><Relationship Id="rId1" Type="http://schemas.openxmlformats.org/officeDocument/2006/relationships/tags" Target="../tags/tag282.xml"/><Relationship Id="rId6" Type="http://schemas.openxmlformats.org/officeDocument/2006/relationships/tags" Target="../tags/tag287.xml"/><Relationship Id="rId11" Type="http://schemas.openxmlformats.org/officeDocument/2006/relationships/image" Target="../media/image49.emf"/><Relationship Id="rId5" Type="http://schemas.openxmlformats.org/officeDocument/2006/relationships/tags" Target="../tags/tag286.xml"/><Relationship Id="rId15" Type="http://schemas.openxmlformats.org/officeDocument/2006/relationships/slide" Target="slide17.xml"/><Relationship Id="rId10" Type="http://schemas.openxmlformats.org/officeDocument/2006/relationships/image" Target="../media/image19.emf"/><Relationship Id="rId4" Type="http://schemas.openxmlformats.org/officeDocument/2006/relationships/tags" Target="../tags/tag285.xml"/><Relationship Id="rId9" Type="http://schemas.openxmlformats.org/officeDocument/2006/relationships/oleObject" Target="../embeddings/oleObject12.bin"/><Relationship Id="rId14" Type="http://schemas.openxmlformats.org/officeDocument/2006/relationships/slide" Target="slide12.xml"/></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slide" Target="slide17.xml"/><Relationship Id="rId3" Type="http://schemas.openxmlformats.org/officeDocument/2006/relationships/tags" Target="../tags/tag290.xml"/><Relationship Id="rId7" Type="http://schemas.microsoft.com/office/2018/10/relationships/comments" Target="../comments/modernComment_7FFFCA9E_5B4DFB97.xml"/><Relationship Id="rId12" Type="http://schemas.openxmlformats.org/officeDocument/2006/relationships/slide" Target="slide12.xml"/><Relationship Id="rId2" Type="http://schemas.openxmlformats.org/officeDocument/2006/relationships/tags" Target="../tags/tag289.xml"/><Relationship Id="rId16" Type="http://schemas.openxmlformats.org/officeDocument/2006/relationships/slide" Target="slide49.xml"/><Relationship Id="rId1" Type="http://schemas.openxmlformats.org/officeDocument/2006/relationships/tags" Target="../tags/tag288.xml"/><Relationship Id="rId6" Type="http://schemas.openxmlformats.org/officeDocument/2006/relationships/slideLayout" Target="../slideLayouts/slideLayout43.xml"/><Relationship Id="rId11" Type="http://schemas.openxmlformats.org/officeDocument/2006/relationships/slide" Target="slide4.xml"/><Relationship Id="rId5" Type="http://schemas.openxmlformats.org/officeDocument/2006/relationships/tags" Target="../tags/tag292.xml"/><Relationship Id="rId15" Type="http://schemas.openxmlformats.org/officeDocument/2006/relationships/slide" Target="slide42.xml"/><Relationship Id="rId10" Type="http://schemas.openxmlformats.org/officeDocument/2006/relationships/image" Target="../media/image51.emf"/><Relationship Id="rId4" Type="http://schemas.openxmlformats.org/officeDocument/2006/relationships/tags" Target="../tags/tag291.xml"/><Relationship Id="rId9" Type="http://schemas.openxmlformats.org/officeDocument/2006/relationships/image" Target="../media/image19.emf"/><Relationship Id="rId14" Type="http://schemas.openxmlformats.org/officeDocument/2006/relationships/slide" Target="slide29.xml"/></Relationships>
</file>

<file path=ppt/slides/_rels/slide28.xml.rels><?xml version="1.0" encoding="UTF-8" standalone="yes"?>
<Relationships xmlns="http://schemas.openxmlformats.org/package/2006/relationships"><Relationship Id="rId8" Type="http://schemas.microsoft.com/office/2018/10/relationships/comments" Target="../comments/modernComment_7FFFCA9F_D7325F40.xml"/><Relationship Id="rId13" Type="http://schemas.openxmlformats.org/officeDocument/2006/relationships/slide" Target="slide12.xml"/><Relationship Id="rId18" Type="http://schemas.openxmlformats.org/officeDocument/2006/relationships/image" Target="../media/image53.emf"/><Relationship Id="rId3" Type="http://schemas.openxmlformats.org/officeDocument/2006/relationships/tags" Target="../tags/tag295.xml"/><Relationship Id="rId7" Type="http://schemas.openxmlformats.org/officeDocument/2006/relationships/slideLayout" Target="../slideLayouts/slideLayout43.xml"/><Relationship Id="rId12" Type="http://schemas.openxmlformats.org/officeDocument/2006/relationships/slide" Target="slide4.xml"/><Relationship Id="rId17" Type="http://schemas.openxmlformats.org/officeDocument/2006/relationships/slide" Target="slide49.xml"/><Relationship Id="rId2" Type="http://schemas.openxmlformats.org/officeDocument/2006/relationships/tags" Target="../tags/tag294.xml"/><Relationship Id="rId16" Type="http://schemas.openxmlformats.org/officeDocument/2006/relationships/slide" Target="slide42.xml"/><Relationship Id="rId1" Type="http://schemas.openxmlformats.org/officeDocument/2006/relationships/tags" Target="../tags/tag293.xml"/><Relationship Id="rId6" Type="http://schemas.openxmlformats.org/officeDocument/2006/relationships/tags" Target="../tags/tag298.xml"/><Relationship Id="rId11" Type="http://schemas.openxmlformats.org/officeDocument/2006/relationships/image" Target="../media/image52.emf"/><Relationship Id="rId5" Type="http://schemas.openxmlformats.org/officeDocument/2006/relationships/tags" Target="../tags/tag297.xml"/><Relationship Id="rId15" Type="http://schemas.openxmlformats.org/officeDocument/2006/relationships/slide" Target="slide29.xml"/><Relationship Id="rId10" Type="http://schemas.openxmlformats.org/officeDocument/2006/relationships/image" Target="../media/image19.emf"/><Relationship Id="rId4" Type="http://schemas.openxmlformats.org/officeDocument/2006/relationships/tags" Target="../tags/tag296.xml"/><Relationship Id="rId9" Type="http://schemas.openxmlformats.org/officeDocument/2006/relationships/oleObject" Target="../embeddings/oleObject11.bin"/><Relationship Id="rId14" Type="http://schemas.openxmlformats.org/officeDocument/2006/relationships/slide" Target="slide17.xml"/></Relationships>
</file>

<file path=ppt/slides/_rels/slide29.xml.rels><?xml version="1.0" encoding="UTF-8" standalone="yes"?>
<Relationships xmlns="http://schemas.openxmlformats.org/package/2006/relationships"><Relationship Id="rId8" Type="http://schemas.openxmlformats.org/officeDocument/2006/relationships/tags" Target="../tags/tag306.xml"/><Relationship Id="rId13" Type="http://schemas.openxmlformats.org/officeDocument/2006/relationships/tags" Target="../tags/tag311.xml"/><Relationship Id="rId18" Type="http://schemas.openxmlformats.org/officeDocument/2006/relationships/slide" Target="slide38.xml"/><Relationship Id="rId3" Type="http://schemas.openxmlformats.org/officeDocument/2006/relationships/tags" Target="../tags/tag301.xml"/><Relationship Id="rId7" Type="http://schemas.openxmlformats.org/officeDocument/2006/relationships/tags" Target="../tags/tag305.xml"/><Relationship Id="rId12" Type="http://schemas.openxmlformats.org/officeDocument/2006/relationships/tags" Target="../tags/tag310.xml"/><Relationship Id="rId17" Type="http://schemas.openxmlformats.org/officeDocument/2006/relationships/slide" Target="slide33.xml"/><Relationship Id="rId2" Type="http://schemas.openxmlformats.org/officeDocument/2006/relationships/tags" Target="../tags/tag300.xml"/><Relationship Id="rId16" Type="http://schemas.openxmlformats.org/officeDocument/2006/relationships/slide" Target="slide30.xml"/><Relationship Id="rId1" Type="http://schemas.openxmlformats.org/officeDocument/2006/relationships/tags" Target="../tags/tag299.xml"/><Relationship Id="rId6" Type="http://schemas.openxmlformats.org/officeDocument/2006/relationships/tags" Target="../tags/tag304.xml"/><Relationship Id="rId11" Type="http://schemas.openxmlformats.org/officeDocument/2006/relationships/tags" Target="../tags/tag309.xml"/><Relationship Id="rId5" Type="http://schemas.openxmlformats.org/officeDocument/2006/relationships/tags" Target="../tags/tag303.xml"/><Relationship Id="rId15" Type="http://schemas.openxmlformats.org/officeDocument/2006/relationships/slide" Target="slide29.xml"/><Relationship Id="rId10" Type="http://schemas.openxmlformats.org/officeDocument/2006/relationships/tags" Target="../tags/tag308.xml"/><Relationship Id="rId4" Type="http://schemas.openxmlformats.org/officeDocument/2006/relationships/tags" Target="../tags/tag302.xml"/><Relationship Id="rId9" Type="http://schemas.openxmlformats.org/officeDocument/2006/relationships/tags" Target="../tags/tag307.xml"/><Relationship Id="rId14"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slide" Target="slide17.xml"/><Relationship Id="rId3" Type="http://schemas.openxmlformats.org/officeDocument/2006/relationships/tags" Target="../tags/tag314.xml"/><Relationship Id="rId7" Type="http://schemas.microsoft.com/office/2018/10/relationships/comments" Target="../comments/modernComment_2DF_6598BAD2.xml"/><Relationship Id="rId12" Type="http://schemas.openxmlformats.org/officeDocument/2006/relationships/slide" Target="slide12.xml"/><Relationship Id="rId2" Type="http://schemas.openxmlformats.org/officeDocument/2006/relationships/tags" Target="../tags/tag313.xml"/><Relationship Id="rId16" Type="http://schemas.openxmlformats.org/officeDocument/2006/relationships/slide" Target="slide49.xml"/><Relationship Id="rId1" Type="http://schemas.openxmlformats.org/officeDocument/2006/relationships/tags" Target="../tags/tag312.xml"/><Relationship Id="rId6" Type="http://schemas.openxmlformats.org/officeDocument/2006/relationships/slideLayout" Target="../slideLayouts/slideLayout45.xml"/><Relationship Id="rId11" Type="http://schemas.openxmlformats.org/officeDocument/2006/relationships/slide" Target="slide4.xml"/><Relationship Id="rId5" Type="http://schemas.openxmlformats.org/officeDocument/2006/relationships/tags" Target="../tags/tag316.xml"/><Relationship Id="rId15" Type="http://schemas.openxmlformats.org/officeDocument/2006/relationships/slide" Target="slide42.xml"/><Relationship Id="rId10" Type="http://schemas.openxmlformats.org/officeDocument/2006/relationships/image" Target="../media/image54.emf"/><Relationship Id="rId4" Type="http://schemas.openxmlformats.org/officeDocument/2006/relationships/tags" Target="../tags/tag315.xml"/><Relationship Id="rId9" Type="http://schemas.openxmlformats.org/officeDocument/2006/relationships/image" Target="../media/image19.emf"/><Relationship Id="rId14" Type="http://schemas.openxmlformats.org/officeDocument/2006/relationships/slide" Target="slide29.xml"/></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slide" Target="slide17.xml"/><Relationship Id="rId3" Type="http://schemas.openxmlformats.org/officeDocument/2006/relationships/tags" Target="../tags/tag319.xml"/><Relationship Id="rId7" Type="http://schemas.microsoft.com/office/2018/10/relationships/comments" Target="../comments/modernComment_7FFFCA96_9AA6F680.xml"/><Relationship Id="rId12" Type="http://schemas.openxmlformats.org/officeDocument/2006/relationships/slide" Target="slide12.xml"/><Relationship Id="rId2" Type="http://schemas.openxmlformats.org/officeDocument/2006/relationships/tags" Target="../tags/tag318.xml"/><Relationship Id="rId16" Type="http://schemas.openxmlformats.org/officeDocument/2006/relationships/slide" Target="slide49.xml"/><Relationship Id="rId1" Type="http://schemas.openxmlformats.org/officeDocument/2006/relationships/tags" Target="../tags/tag317.xml"/><Relationship Id="rId6" Type="http://schemas.openxmlformats.org/officeDocument/2006/relationships/slideLayout" Target="../slideLayouts/slideLayout45.xml"/><Relationship Id="rId11" Type="http://schemas.openxmlformats.org/officeDocument/2006/relationships/slide" Target="slide4.xml"/><Relationship Id="rId5" Type="http://schemas.openxmlformats.org/officeDocument/2006/relationships/tags" Target="../tags/tag321.xml"/><Relationship Id="rId15" Type="http://schemas.openxmlformats.org/officeDocument/2006/relationships/slide" Target="slide42.xml"/><Relationship Id="rId10" Type="http://schemas.openxmlformats.org/officeDocument/2006/relationships/image" Target="../media/image54.emf"/><Relationship Id="rId4" Type="http://schemas.openxmlformats.org/officeDocument/2006/relationships/tags" Target="../tags/tag320.xml"/><Relationship Id="rId9" Type="http://schemas.openxmlformats.org/officeDocument/2006/relationships/image" Target="../media/image19.emf"/><Relationship Id="rId14" Type="http://schemas.openxmlformats.org/officeDocument/2006/relationships/slide" Target="slide29.xml"/></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slide" Target="slide17.xml"/><Relationship Id="rId3" Type="http://schemas.openxmlformats.org/officeDocument/2006/relationships/tags" Target="../tags/tag324.xml"/><Relationship Id="rId7" Type="http://schemas.microsoft.com/office/2018/10/relationships/comments" Target="../comments/modernComment_7FFFCA97_4CB39A88.xml"/><Relationship Id="rId12" Type="http://schemas.openxmlformats.org/officeDocument/2006/relationships/slide" Target="slide12.xml"/><Relationship Id="rId2" Type="http://schemas.openxmlformats.org/officeDocument/2006/relationships/tags" Target="../tags/tag323.xml"/><Relationship Id="rId16" Type="http://schemas.openxmlformats.org/officeDocument/2006/relationships/slide" Target="slide49.xml"/><Relationship Id="rId1" Type="http://schemas.openxmlformats.org/officeDocument/2006/relationships/tags" Target="../tags/tag322.xml"/><Relationship Id="rId6" Type="http://schemas.openxmlformats.org/officeDocument/2006/relationships/slideLayout" Target="../slideLayouts/slideLayout45.xml"/><Relationship Id="rId11" Type="http://schemas.openxmlformats.org/officeDocument/2006/relationships/slide" Target="slide4.xml"/><Relationship Id="rId5" Type="http://schemas.openxmlformats.org/officeDocument/2006/relationships/tags" Target="../tags/tag326.xml"/><Relationship Id="rId15" Type="http://schemas.openxmlformats.org/officeDocument/2006/relationships/slide" Target="slide42.xml"/><Relationship Id="rId10" Type="http://schemas.openxmlformats.org/officeDocument/2006/relationships/image" Target="../media/image54.emf"/><Relationship Id="rId4" Type="http://schemas.openxmlformats.org/officeDocument/2006/relationships/tags" Target="../tags/tag325.xml"/><Relationship Id="rId9" Type="http://schemas.openxmlformats.org/officeDocument/2006/relationships/image" Target="../media/image19.emf"/><Relationship Id="rId14" Type="http://schemas.openxmlformats.org/officeDocument/2006/relationships/slide" Target="slide29.xml"/></Relationships>
</file>

<file path=ppt/slides/_rels/slide33.xml.rels><?xml version="1.0" encoding="UTF-8" standalone="yes"?>
<Relationships xmlns="http://schemas.openxmlformats.org/package/2006/relationships"><Relationship Id="rId8" Type="http://schemas.microsoft.com/office/2018/10/relationships/comments" Target="../comments/modernComment_2D7_D03AC965.xml"/><Relationship Id="rId13" Type="http://schemas.openxmlformats.org/officeDocument/2006/relationships/slide" Target="slide4.xml"/><Relationship Id="rId18" Type="http://schemas.openxmlformats.org/officeDocument/2006/relationships/slide" Target="slide49.xml"/><Relationship Id="rId3" Type="http://schemas.openxmlformats.org/officeDocument/2006/relationships/tags" Target="../tags/tag329.xml"/><Relationship Id="rId7" Type="http://schemas.openxmlformats.org/officeDocument/2006/relationships/slideLayout" Target="../slideLayouts/slideLayout45.xml"/><Relationship Id="rId12" Type="http://schemas.openxmlformats.org/officeDocument/2006/relationships/image" Target="../media/image56.emf"/><Relationship Id="rId17" Type="http://schemas.openxmlformats.org/officeDocument/2006/relationships/slide" Target="slide42.xml"/><Relationship Id="rId2" Type="http://schemas.openxmlformats.org/officeDocument/2006/relationships/tags" Target="../tags/tag328.xml"/><Relationship Id="rId16" Type="http://schemas.openxmlformats.org/officeDocument/2006/relationships/slide" Target="slide29.xml"/><Relationship Id="rId1" Type="http://schemas.openxmlformats.org/officeDocument/2006/relationships/tags" Target="../tags/tag327.xml"/><Relationship Id="rId6" Type="http://schemas.openxmlformats.org/officeDocument/2006/relationships/tags" Target="../tags/tag332.xml"/><Relationship Id="rId11" Type="http://schemas.openxmlformats.org/officeDocument/2006/relationships/image" Target="../media/image19.emf"/><Relationship Id="rId5" Type="http://schemas.openxmlformats.org/officeDocument/2006/relationships/tags" Target="../tags/tag331.xml"/><Relationship Id="rId15" Type="http://schemas.openxmlformats.org/officeDocument/2006/relationships/slide" Target="slide17.xml"/><Relationship Id="rId10" Type="http://schemas.openxmlformats.org/officeDocument/2006/relationships/oleObject" Target="../embeddings/oleObject10.bin"/><Relationship Id="rId4" Type="http://schemas.openxmlformats.org/officeDocument/2006/relationships/tags" Target="../tags/tag330.xml"/><Relationship Id="rId9" Type="http://schemas.openxmlformats.org/officeDocument/2006/relationships/image" Target="../media/image55.emf"/><Relationship Id="rId14" Type="http://schemas.openxmlformats.org/officeDocument/2006/relationships/slide" Target="slide12.xml"/></Relationships>
</file>

<file path=ppt/slides/_rels/slide34.xml.rels><?xml version="1.0" encoding="UTF-8" standalone="yes"?>
<Relationships xmlns="http://schemas.openxmlformats.org/package/2006/relationships"><Relationship Id="rId8" Type="http://schemas.openxmlformats.org/officeDocument/2006/relationships/image" Target="../media/image57.emf"/><Relationship Id="rId13" Type="http://schemas.openxmlformats.org/officeDocument/2006/relationships/slide" Target="slide17.xml"/><Relationship Id="rId3" Type="http://schemas.openxmlformats.org/officeDocument/2006/relationships/tags" Target="../tags/tag335.xml"/><Relationship Id="rId7" Type="http://schemas.microsoft.com/office/2018/10/relationships/comments" Target="../comments/modernComment_7FFFCA98_217F33B4.xml"/><Relationship Id="rId12" Type="http://schemas.openxmlformats.org/officeDocument/2006/relationships/slide" Target="slide12.xml"/><Relationship Id="rId2" Type="http://schemas.openxmlformats.org/officeDocument/2006/relationships/tags" Target="../tags/tag334.xml"/><Relationship Id="rId16" Type="http://schemas.openxmlformats.org/officeDocument/2006/relationships/slide" Target="slide49.xml"/><Relationship Id="rId1" Type="http://schemas.openxmlformats.org/officeDocument/2006/relationships/tags" Target="../tags/tag333.xml"/><Relationship Id="rId6" Type="http://schemas.openxmlformats.org/officeDocument/2006/relationships/slideLayout" Target="../slideLayouts/slideLayout45.xml"/><Relationship Id="rId11" Type="http://schemas.openxmlformats.org/officeDocument/2006/relationships/slide" Target="slide4.xml"/><Relationship Id="rId5" Type="http://schemas.openxmlformats.org/officeDocument/2006/relationships/tags" Target="../tags/tag337.xml"/><Relationship Id="rId15" Type="http://schemas.openxmlformats.org/officeDocument/2006/relationships/slide" Target="slide42.xml"/><Relationship Id="rId10" Type="http://schemas.openxmlformats.org/officeDocument/2006/relationships/image" Target="../media/image19.emf"/><Relationship Id="rId4" Type="http://schemas.openxmlformats.org/officeDocument/2006/relationships/tags" Target="../tags/tag336.xml"/><Relationship Id="rId9" Type="http://schemas.openxmlformats.org/officeDocument/2006/relationships/oleObject" Target="../embeddings/oleObject10.bin"/><Relationship Id="rId14" Type="http://schemas.openxmlformats.org/officeDocument/2006/relationships/slide" Target="slide29.xml"/></Relationships>
</file>

<file path=ppt/slides/_rels/slide35.xml.rels><?xml version="1.0" encoding="UTF-8" standalone="yes"?>
<Relationships xmlns="http://schemas.openxmlformats.org/package/2006/relationships"><Relationship Id="rId8" Type="http://schemas.openxmlformats.org/officeDocument/2006/relationships/image" Target="../media/image19.emf"/><Relationship Id="rId13" Type="http://schemas.openxmlformats.org/officeDocument/2006/relationships/slide" Target="slide29.xml"/><Relationship Id="rId3" Type="http://schemas.openxmlformats.org/officeDocument/2006/relationships/tags" Target="../tags/tag340.xml"/><Relationship Id="rId7" Type="http://schemas.openxmlformats.org/officeDocument/2006/relationships/oleObject" Target="../embeddings/oleObject10.bin"/><Relationship Id="rId12" Type="http://schemas.openxmlformats.org/officeDocument/2006/relationships/slide" Target="slide17.xml"/><Relationship Id="rId2" Type="http://schemas.openxmlformats.org/officeDocument/2006/relationships/tags" Target="../tags/tag339.xml"/><Relationship Id="rId1" Type="http://schemas.openxmlformats.org/officeDocument/2006/relationships/tags" Target="../tags/tag338.xml"/><Relationship Id="rId6" Type="http://schemas.openxmlformats.org/officeDocument/2006/relationships/slideLayout" Target="../slideLayouts/slideLayout45.xml"/><Relationship Id="rId11" Type="http://schemas.openxmlformats.org/officeDocument/2006/relationships/slide" Target="slide12.xml"/><Relationship Id="rId5" Type="http://schemas.openxmlformats.org/officeDocument/2006/relationships/tags" Target="../tags/tag342.xml"/><Relationship Id="rId15" Type="http://schemas.openxmlformats.org/officeDocument/2006/relationships/slide" Target="slide49.xml"/><Relationship Id="rId10" Type="http://schemas.openxmlformats.org/officeDocument/2006/relationships/slide" Target="slide4.xml"/><Relationship Id="rId4" Type="http://schemas.openxmlformats.org/officeDocument/2006/relationships/tags" Target="../tags/tag341.xml"/><Relationship Id="rId9" Type="http://schemas.openxmlformats.org/officeDocument/2006/relationships/image" Target="../media/image58.emf"/><Relationship Id="rId14" Type="http://schemas.openxmlformats.org/officeDocument/2006/relationships/slide" Target="slide42.xml"/></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slide" Target="slide17.xml"/><Relationship Id="rId3" Type="http://schemas.openxmlformats.org/officeDocument/2006/relationships/tags" Target="../tags/tag345.xml"/><Relationship Id="rId7" Type="http://schemas.microsoft.com/office/2018/10/relationships/comments" Target="../comments/modernComment_7FFFCA9A_D17E8649.xml"/><Relationship Id="rId12" Type="http://schemas.openxmlformats.org/officeDocument/2006/relationships/slide" Target="slide12.xml"/><Relationship Id="rId2" Type="http://schemas.openxmlformats.org/officeDocument/2006/relationships/tags" Target="../tags/tag344.xml"/><Relationship Id="rId16" Type="http://schemas.openxmlformats.org/officeDocument/2006/relationships/slide" Target="slide49.xml"/><Relationship Id="rId1" Type="http://schemas.openxmlformats.org/officeDocument/2006/relationships/tags" Target="../tags/tag343.xml"/><Relationship Id="rId6" Type="http://schemas.openxmlformats.org/officeDocument/2006/relationships/slideLayout" Target="../slideLayouts/slideLayout45.xml"/><Relationship Id="rId11" Type="http://schemas.openxmlformats.org/officeDocument/2006/relationships/slide" Target="slide4.xml"/><Relationship Id="rId5" Type="http://schemas.openxmlformats.org/officeDocument/2006/relationships/tags" Target="../tags/tag347.xml"/><Relationship Id="rId15" Type="http://schemas.openxmlformats.org/officeDocument/2006/relationships/slide" Target="slide42.xml"/><Relationship Id="rId10" Type="http://schemas.openxmlformats.org/officeDocument/2006/relationships/image" Target="../media/image59.emf"/><Relationship Id="rId4" Type="http://schemas.openxmlformats.org/officeDocument/2006/relationships/tags" Target="../tags/tag346.xml"/><Relationship Id="rId9" Type="http://schemas.openxmlformats.org/officeDocument/2006/relationships/image" Target="../media/image19.emf"/><Relationship Id="rId14" Type="http://schemas.openxmlformats.org/officeDocument/2006/relationships/slide" Target="slide29.xml"/></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slide" Target="slide17.xml"/><Relationship Id="rId3" Type="http://schemas.openxmlformats.org/officeDocument/2006/relationships/tags" Target="../tags/tag350.xml"/><Relationship Id="rId7" Type="http://schemas.microsoft.com/office/2018/10/relationships/comments" Target="../comments/modernComment_7FFFCA9B_81CFFE9C.xml"/><Relationship Id="rId12" Type="http://schemas.openxmlformats.org/officeDocument/2006/relationships/slide" Target="slide12.xml"/><Relationship Id="rId2" Type="http://schemas.openxmlformats.org/officeDocument/2006/relationships/tags" Target="../tags/tag349.xml"/><Relationship Id="rId16" Type="http://schemas.openxmlformats.org/officeDocument/2006/relationships/slide" Target="slide49.xml"/><Relationship Id="rId1" Type="http://schemas.openxmlformats.org/officeDocument/2006/relationships/tags" Target="../tags/tag348.xml"/><Relationship Id="rId6" Type="http://schemas.openxmlformats.org/officeDocument/2006/relationships/slideLayout" Target="../slideLayouts/slideLayout45.xml"/><Relationship Id="rId11" Type="http://schemas.openxmlformats.org/officeDocument/2006/relationships/slide" Target="slide4.xml"/><Relationship Id="rId5" Type="http://schemas.openxmlformats.org/officeDocument/2006/relationships/tags" Target="../tags/tag352.xml"/><Relationship Id="rId15" Type="http://schemas.openxmlformats.org/officeDocument/2006/relationships/slide" Target="slide42.xml"/><Relationship Id="rId10" Type="http://schemas.openxmlformats.org/officeDocument/2006/relationships/image" Target="../media/image60.emf"/><Relationship Id="rId4" Type="http://schemas.openxmlformats.org/officeDocument/2006/relationships/tags" Target="../tags/tag351.xml"/><Relationship Id="rId9" Type="http://schemas.openxmlformats.org/officeDocument/2006/relationships/image" Target="../media/image19.emf"/><Relationship Id="rId14" Type="http://schemas.openxmlformats.org/officeDocument/2006/relationships/slide" Target="slide29.xml"/></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4.bin"/><Relationship Id="rId13" Type="http://schemas.openxmlformats.org/officeDocument/2006/relationships/slide" Target="slide17.xml"/><Relationship Id="rId3" Type="http://schemas.openxmlformats.org/officeDocument/2006/relationships/tags" Target="../tags/tag355.xml"/><Relationship Id="rId7" Type="http://schemas.microsoft.com/office/2018/10/relationships/comments" Target="../comments/modernComment_2D6_A7287103.xml"/><Relationship Id="rId12" Type="http://schemas.openxmlformats.org/officeDocument/2006/relationships/slide" Target="slide12.xml"/><Relationship Id="rId2" Type="http://schemas.openxmlformats.org/officeDocument/2006/relationships/tags" Target="../tags/tag354.xml"/><Relationship Id="rId16" Type="http://schemas.openxmlformats.org/officeDocument/2006/relationships/slide" Target="slide49.xml"/><Relationship Id="rId1" Type="http://schemas.openxmlformats.org/officeDocument/2006/relationships/tags" Target="../tags/tag353.xml"/><Relationship Id="rId6" Type="http://schemas.openxmlformats.org/officeDocument/2006/relationships/slideLayout" Target="../slideLayouts/slideLayout42.xml"/><Relationship Id="rId11" Type="http://schemas.openxmlformats.org/officeDocument/2006/relationships/slide" Target="slide4.xml"/><Relationship Id="rId5" Type="http://schemas.openxmlformats.org/officeDocument/2006/relationships/tags" Target="../tags/tag357.xml"/><Relationship Id="rId15" Type="http://schemas.openxmlformats.org/officeDocument/2006/relationships/slide" Target="slide42.xml"/><Relationship Id="rId10" Type="http://schemas.openxmlformats.org/officeDocument/2006/relationships/image" Target="../media/image61.emf"/><Relationship Id="rId4" Type="http://schemas.openxmlformats.org/officeDocument/2006/relationships/tags" Target="../tags/tag356.xml"/><Relationship Id="rId9" Type="http://schemas.openxmlformats.org/officeDocument/2006/relationships/image" Target="../media/image19.emf"/><Relationship Id="rId14" Type="http://schemas.openxmlformats.org/officeDocument/2006/relationships/slide" Target="slide29.xml"/></Relationships>
</file>

<file path=ppt/slides/_rels/slide39.xml.rels><?xml version="1.0" encoding="UTF-8" standalone="yes"?>
<Relationships xmlns="http://schemas.openxmlformats.org/package/2006/relationships"><Relationship Id="rId8" Type="http://schemas.openxmlformats.org/officeDocument/2006/relationships/image" Target="../media/image62.emf"/><Relationship Id="rId13" Type="http://schemas.openxmlformats.org/officeDocument/2006/relationships/slide" Target="slide17.xml"/><Relationship Id="rId3" Type="http://schemas.openxmlformats.org/officeDocument/2006/relationships/tags" Target="../tags/tag360.xml"/><Relationship Id="rId7" Type="http://schemas.microsoft.com/office/2018/10/relationships/comments" Target="../comments/modernComment_7FFFCA9C_7E796DE5.xml"/><Relationship Id="rId12" Type="http://schemas.openxmlformats.org/officeDocument/2006/relationships/slide" Target="slide12.xml"/><Relationship Id="rId2" Type="http://schemas.openxmlformats.org/officeDocument/2006/relationships/tags" Target="../tags/tag359.xml"/><Relationship Id="rId16" Type="http://schemas.openxmlformats.org/officeDocument/2006/relationships/slide" Target="slide49.xml"/><Relationship Id="rId1" Type="http://schemas.openxmlformats.org/officeDocument/2006/relationships/tags" Target="../tags/tag358.xml"/><Relationship Id="rId6" Type="http://schemas.openxmlformats.org/officeDocument/2006/relationships/slideLayout" Target="../slideLayouts/slideLayout42.xml"/><Relationship Id="rId11" Type="http://schemas.openxmlformats.org/officeDocument/2006/relationships/slide" Target="slide4.xml"/><Relationship Id="rId5" Type="http://schemas.openxmlformats.org/officeDocument/2006/relationships/tags" Target="../tags/tag362.xml"/><Relationship Id="rId15" Type="http://schemas.openxmlformats.org/officeDocument/2006/relationships/slide" Target="slide42.xml"/><Relationship Id="rId10" Type="http://schemas.openxmlformats.org/officeDocument/2006/relationships/image" Target="../media/image19.emf"/><Relationship Id="rId4" Type="http://schemas.openxmlformats.org/officeDocument/2006/relationships/tags" Target="../tags/tag361.xml"/><Relationship Id="rId9" Type="http://schemas.openxmlformats.org/officeDocument/2006/relationships/oleObject" Target="../embeddings/oleObject14.bin"/><Relationship Id="rId14" Type="http://schemas.openxmlformats.org/officeDocument/2006/relationships/slide" Target="slide29.xml"/></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14.bin"/><Relationship Id="rId13" Type="http://schemas.openxmlformats.org/officeDocument/2006/relationships/slide" Target="slide29.xml"/><Relationship Id="rId3" Type="http://schemas.openxmlformats.org/officeDocument/2006/relationships/tags" Target="../tags/tag365.xml"/><Relationship Id="rId7" Type="http://schemas.microsoft.com/office/2018/10/relationships/comments" Target="../comments/modernComment_7FFFCA91_C66098B8.xml"/><Relationship Id="rId12" Type="http://schemas.openxmlformats.org/officeDocument/2006/relationships/slide" Target="slide17.xml"/><Relationship Id="rId2" Type="http://schemas.openxmlformats.org/officeDocument/2006/relationships/tags" Target="../tags/tag364.xml"/><Relationship Id="rId16" Type="http://schemas.openxmlformats.org/officeDocument/2006/relationships/image" Target="../media/image63.emf"/><Relationship Id="rId1" Type="http://schemas.openxmlformats.org/officeDocument/2006/relationships/tags" Target="../tags/tag363.xml"/><Relationship Id="rId6" Type="http://schemas.openxmlformats.org/officeDocument/2006/relationships/slideLayout" Target="../slideLayouts/slideLayout42.xml"/><Relationship Id="rId11" Type="http://schemas.openxmlformats.org/officeDocument/2006/relationships/slide" Target="slide12.xml"/><Relationship Id="rId5" Type="http://schemas.openxmlformats.org/officeDocument/2006/relationships/tags" Target="../tags/tag367.xml"/><Relationship Id="rId15" Type="http://schemas.openxmlformats.org/officeDocument/2006/relationships/slide" Target="slide49.xml"/><Relationship Id="rId10" Type="http://schemas.openxmlformats.org/officeDocument/2006/relationships/slide" Target="slide4.xml"/><Relationship Id="rId4" Type="http://schemas.openxmlformats.org/officeDocument/2006/relationships/tags" Target="../tags/tag366.xml"/><Relationship Id="rId9" Type="http://schemas.openxmlformats.org/officeDocument/2006/relationships/image" Target="../media/image19.emf"/><Relationship Id="rId14" Type="http://schemas.openxmlformats.org/officeDocument/2006/relationships/slide" Target="slide42.xml"/></Relationships>
</file>

<file path=ppt/slides/_rels/slide41.xml.rels><?xml version="1.0" encoding="UTF-8" standalone="yes"?>
<Relationships xmlns="http://schemas.openxmlformats.org/package/2006/relationships"><Relationship Id="rId8" Type="http://schemas.openxmlformats.org/officeDocument/2006/relationships/image" Target="../media/image19.emf"/><Relationship Id="rId13" Type="http://schemas.openxmlformats.org/officeDocument/2006/relationships/slide" Target="slide42.xml"/><Relationship Id="rId3" Type="http://schemas.openxmlformats.org/officeDocument/2006/relationships/tags" Target="../tags/tag370.xml"/><Relationship Id="rId7" Type="http://schemas.openxmlformats.org/officeDocument/2006/relationships/oleObject" Target="../embeddings/oleObject14.bin"/><Relationship Id="rId12" Type="http://schemas.openxmlformats.org/officeDocument/2006/relationships/slide" Target="slide29.xml"/><Relationship Id="rId2" Type="http://schemas.openxmlformats.org/officeDocument/2006/relationships/tags" Target="../tags/tag369.xml"/><Relationship Id="rId1" Type="http://schemas.openxmlformats.org/officeDocument/2006/relationships/tags" Target="../tags/tag368.xml"/><Relationship Id="rId6" Type="http://schemas.openxmlformats.org/officeDocument/2006/relationships/slideLayout" Target="../slideLayouts/slideLayout42.xml"/><Relationship Id="rId11" Type="http://schemas.openxmlformats.org/officeDocument/2006/relationships/slide" Target="slide17.xml"/><Relationship Id="rId5" Type="http://schemas.openxmlformats.org/officeDocument/2006/relationships/tags" Target="../tags/tag372.xml"/><Relationship Id="rId15" Type="http://schemas.openxmlformats.org/officeDocument/2006/relationships/image" Target="../media/image63.emf"/><Relationship Id="rId10" Type="http://schemas.openxmlformats.org/officeDocument/2006/relationships/slide" Target="slide12.xml"/><Relationship Id="rId4" Type="http://schemas.openxmlformats.org/officeDocument/2006/relationships/tags" Target="../tags/tag371.xml"/><Relationship Id="rId9" Type="http://schemas.openxmlformats.org/officeDocument/2006/relationships/slide" Target="slide4.xml"/><Relationship Id="rId14" Type="http://schemas.openxmlformats.org/officeDocument/2006/relationships/slide" Target="slide49.xml"/></Relationships>
</file>

<file path=ppt/slides/_rels/slide42.xml.rels><?xml version="1.0" encoding="UTF-8" standalone="yes"?>
<Relationships xmlns="http://schemas.openxmlformats.org/package/2006/relationships"><Relationship Id="rId8" Type="http://schemas.openxmlformats.org/officeDocument/2006/relationships/tags" Target="../tags/tag380.xml"/><Relationship Id="rId13" Type="http://schemas.openxmlformats.org/officeDocument/2006/relationships/slide" Target="slide43.xml"/><Relationship Id="rId3" Type="http://schemas.openxmlformats.org/officeDocument/2006/relationships/tags" Target="../tags/tag375.xml"/><Relationship Id="rId7" Type="http://schemas.openxmlformats.org/officeDocument/2006/relationships/tags" Target="../tags/tag379.xml"/><Relationship Id="rId12" Type="http://schemas.openxmlformats.org/officeDocument/2006/relationships/slide" Target="slide42.xml"/><Relationship Id="rId2" Type="http://schemas.openxmlformats.org/officeDocument/2006/relationships/tags" Target="../tags/tag374.xml"/><Relationship Id="rId1" Type="http://schemas.openxmlformats.org/officeDocument/2006/relationships/tags" Target="../tags/tag373.xml"/><Relationship Id="rId6" Type="http://schemas.openxmlformats.org/officeDocument/2006/relationships/tags" Target="../tags/tag378.xml"/><Relationship Id="rId11" Type="http://schemas.openxmlformats.org/officeDocument/2006/relationships/slideLayout" Target="../slideLayouts/slideLayout34.xml"/><Relationship Id="rId5" Type="http://schemas.openxmlformats.org/officeDocument/2006/relationships/tags" Target="../tags/tag377.xml"/><Relationship Id="rId10" Type="http://schemas.openxmlformats.org/officeDocument/2006/relationships/tags" Target="../tags/tag382.xml"/><Relationship Id="rId4" Type="http://schemas.openxmlformats.org/officeDocument/2006/relationships/tags" Target="../tags/tag376.xml"/><Relationship Id="rId9" Type="http://schemas.openxmlformats.org/officeDocument/2006/relationships/tags" Target="../tags/tag381.xml"/><Relationship Id="rId14" Type="http://schemas.openxmlformats.org/officeDocument/2006/relationships/slide" Target="slide44.xml"/></Relationships>
</file>

<file path=ppt/slides/_rels/slide43.xml.rels><?xml version="1.0" encoding="UTF-8" standalone="yes"?>
<Relationships xmlns="http://schemas.openxmlformats.org/package/2006/relationships"><Relationship Id="rId8" Type="http://schemas.openxmlformats.org/officeDocument/2006/relationships/image" Target="../media/image19.emf"/><Relationship Id="rId13" Type="http://schemas.openxmlformats.org/officeDocument/2006/relationships/slide" Target="slide42.xml"/><Relationship Id="rId3" Type="http://schemas.openxmlformats.org/officeDocument/2006/relationships/tags" Target="../tags/tag385.xml"/><Relationship Id="rId7" Type="http://schemas.openxmlformats.org/officeDocument/2006/relationships/oleObject" Target="../embeddings/oleObject15.bin"/><Relationship Id="rId12" Type="http://schemas.openxmlformats.org/officeDocument/2006/relationships/slide" Target="slide29.xml"/><Relationship Id="rId2" Type="http://schemas.openxmlformats.org/officeDocument/2006/relationships/tags" Target="../tags/tag384.xml"/><Relationship Id="rId1" Type="http://schemas.openxmlformats.org/officeDocument/2006/relationships/tags" Target="../tags/tag383.xml"/><Relationship Id="rId6" Type="http://schemas.microsoft.com/office/2018/10/relationships/comments" Target="../comments/modernComment_38D_4C8572F.xml"/><Relationship Id="rId11" Type="http://schemas.openxmlformats.org/officeDocument/2006/relationships/slide" Target="slide17.xml"/><Relationship Id="rId5" Type="http://schemas.openxmlformats.org/officeDocument/2006/relationships/slideLayout" Target="../slideLayouts/slideLayout46.xml"/><Relationship Id="rId10" Type="http://schemas.openxmlformats.org/officeDocument/2006/relationships/slide" Target="slide12.xml"/><Relationship Id="rId4" Type="http://schemas.openxmlformats.org/officeDocument/2006/relationships/tags" Target="../tags/tag386.xml"/><Relationship Id="rId9" Type="http://schemas.openxmlformats.org/officeDocument/2006/relationships/slide" Target="slide4.xml"/><Relationship Id="rId14" Type="http://schemas.openxmlformats.org/officeDocument/2006/relationships/slide" Target="slide49.xml"/></Relationships>
</file>

<file path=ppt/slides/_rels/slide44.xml.rels><?xml version="1.0" encoding="UTF-8" standalone="yes"?>
<Relationships xmlns="http://schemas.openxmlformats.org/package/2006/relationships"><Relationship Id="rId8" Type="http://schemas.openxmlformats.org/officeDocument/2006/relationships/image" Target="../media/image64.emf"/><Relationship Id="rId13" Type="http://schemas.openxmlformats.org/officeDocument/2006/relationships/slide" Target="slide17.xml"/><Relationship Id="rId3" Type="http://schemas.openxmlformats.org/officeDocument/2006/relationships/tags" Target="../tags/tag389.xml"/><Relationship Id="rId7" Type="http://schemas.microsoft.com/office/2018/10/relationships/comments" Target="../comments/modernComment_7FFFCA6C_5146759F.xml"/><Relationship Id="rId12" Type="http://schemas.openxmlformats.org/officeDocument/2006/relationships/slide" Target="slide12.xml"/><Relationship Id="rId2" Type="http://schemas.openxmlformats.org/officeDocument/2006/relationships/tags" Target="../tags/tag388.xml"/><Relationship Id="rId16" Type="http://schemas.openxmlformats.org/officeDocument/2006/relationships/slide" Target="slide49.xml"/><Relationship Id="rId1" Type="http://schemas.openxmlformats.org/officeDocument/2006/relationships/tags" Target="../tags/tag387.xml"/><Relationship Id="rId6" Type="http://schemas.openxmlformats.org/officeDocument/2006/relationships/slideLayout" Target="../slideLayouts/slideLayout43.xml"/><Relationship Id="rId11" Type="http://schemas.openxmlformats.org/officeDocument/2006/relationships/slide" Target="slide4.xml"/><Relationship Id="rId5" Type="http://schemas.openxmlformats.org/officeDocument/2006/relationships/tags" Target="../tags/tag391.xml"/><Relationship Id="rId15" Type="http://schemas.openxmlformats.org/officeDocument/2006/relationships/slide" Target="slide42.xml"/><Relationship Id="rId10" Type="http://schemas.openxmlformats.org/officeDocument/2006/relationships/image" Target="../media/image19.emf"/><Relationship Id="rId4" Type="http://schemas.openxmlformats.org/officeDocument/2006/relationships/tags" Target="../tags/tag390.xml"/><Relationship Id="rId9" Type="http://schemas.openxmlformats.org/officeDocument/2006/relationships/oleObject" Target="../embeddings/oleObject11.bin"/><Relationship Id="rId14" Type="http://schemas.openxmlformats.org/officeDocument/2006/relationships/slide" Target="slide29.xml"/></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slide" Target="slide17.xml"/><Relationship Id="rId3" Type="http://schemas.openxmlformats.org/officeDocument/2006/relationships/tags" Target="../tags/tag394.xml"/><Relationship Id="rId7" Type="http://schemas.microsoft.com/office/2018/10/relationships/comments" Target="../comments/modernComment_7FFFCA79_DE505DDA.xml"/><Relationship Id="rId12" Type="http://schemas.openxmlformats.org/officeDocument/2006/relationships/slide" Target="slide12.xml"/><Relationship Id="rId2" Type="http://schemas.openxmlformats.org/officeDocument/2006/relationships/tags" Target="../tags/tag393.xml"/><Relationship Id="rId16" Type="http://schemas.openxmlformats.org/officeDocument/2006/relationships/slide" Target="slide49.xml"/><Relationship Id="rId1" Type="http://schemas.openxmlformats.org/officeDocument/2006/relationships/tags" Target="../tags/tag392.xml"/><Relationship Id="rId6" Type="http://schemas.openxmlformats.org/officeDocument/2006/relationships/slideLayout" Target="../slideLayouts/slideLayout43.xml"/><Relationship Id="rId11" Type="http://schemas.openxmlformats.org/officeDocument/2006/relationships/slide" Target="slide4.xml"/><Relationship Id="rId5" Type="http://schemas.openxmlformats.org/officeDocument/2006/relationships/tags" Target="../tags/tag396.xml"/><Relationship Id="rId15" Type="http://schemas.openxmlformats.org/officeDocument/2006/relationships/slide" Target="slide42.xml"/><Relationship Id="rId10" Type="http://schemas.openxmlformats.org/officeDocument/2006/relationships/image" Target="../media/image65.emf"/><Relationship Id="rId4" Type="http://schemas.openxmlformats.org/officeDocument/2006/relationships/tags" Target="../tags/tag395.xml"/><Relationship Id="rId9" Type="http://schemas.openxmlformats.org/officeDocument/2006/relationships/image" Target="../media/image19.emf"/><Relationship Id="rId14" Type="http://schemas.openxmlformats.org/officeDocument/2006/relationships/slide" Target="slide29.xml"/></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slide" Target="slide17.xml"/><Relationship Id="rId3" Type="http://schemas.openxmlformats.org/officeDocument/2006/relationships/tags" Target="../tags/tag399.xml"/><Relationship Id="rId7" Type="http://schemas.microsoft.com/office/2018/10/relationships/comments" Target="../comments/modernComment_7FFFCA7A_79C1B1AE.xml"/><Relationship Id="rId12" Type="http://schemas.openxmlformats.org/officeDocument/2006/relationships/slide" Target="slide12.xml"/><Relationship Id="rId2" Type="http://schemas.openxmlformats.org/officeDocument/2006/relationships/tags" Target="../tags/tag398.xml"/><Relationship Id="rId16" Type="http://schemas.openxmlformats.org/officeDocument/2006/relationships/slide" Target="slide49.xml"/><Relationship Id="rId1" Type="http://schemas.openxmlformats.org/officeDocument/2006/relationships/tags" Target="../tags/tag397.xml"/><Relationship Id="rId6" Type="http://schemas.openxmlformats.org/officeDocument/2006/relationships/slideLayout" Target="../slideLayouts/slideLayout43.xml"/><Relationship Id="rId11" Type="http://schemas.openxmlformats.org/officeDocument/2006/relationships/slide" Target="slide4.xml"/><Relationship Id="rId5" Type="http://schemas.openxmlformats.org/officeDocument/2006/relationships/tags" Target="../tags/tag401.xml"/><Relationship Id="rId15" Type="http://schemas.openxmlformats.org/officeDocument/2006/relationships/slide" Target="slide42.xml"/><Relationship Id="rId10" Type="http://schemas.openxmlformats.org/officeDocument/2006/relationships/image" Target="../media/image66.emf"/><Relationship Id="rId4" Type="http://schemas.openxmlformats.org/officeDocument/2006/relationships/tags" Target="../tags/tag400.xml"/><Relationship Id="rId9" Type="http://schemas.openxmlformats.org/officeDocument/2006/relationships/image" Target="../media/image19.emf"/><Relationship Id="rId14" Type="http://schemas.openxmlformats.org/officeDocument/2006/relationships/slide" Target="slide29.xml"/></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slide" Target="slide17.xml"/><Relationship Id="rId3" Type="http://schemas.openxmlformats.org/officeDocument/2006/relationships/tags" Target="../tags/tag404.xml"/><Relationship Id="rId7" Type="http://schemas.microsoft.com/office/2018/10/relationships/comments" Target="../comments/modernComment_7FFFCA7B_50648817.xml"/><Relationship Id="rId12" Type="http://schemas.openxmlformats.org/officeDocument/2006/relationships/slide" Target="slide12.xml"/><Relationship Id="rId2" Type="http://schemas.openxmlformats.org/officeDocument/2006/relationships/tags" Target="../tags/tag403.xml"/><Relationship Id="rId16" Type="http://schemas.openxmlformats.org/officeDocument/2006/relationships/slide" Target="slide49.xml"/><Relationship Id="rId1" Type="http://schemas.openxmlformats.org/officeDocument/2006/relationships/tags" Target="../tags/tag402.xml"/><Relationship Id="rId6" Type="http://schemas.openxmlformats.org/officeDocument/2006/relationships/slideLayout" Target="../slideLayouts/slideLayout43.xml"/><Relationship Id="rId11" Type="http://schemas.openxmlformats.org/officeDocument/2006/relationships/slide" Target="slide4.xml"/><Relationship Id="rId5" Type="http://schemas.openxmlformats.org/officeDocument/2006/relationships/tags" Target="../tags/tag406.xml"/><Relationship Id="rId15" Type="http://schemas.openxmlformats.org/officeDocument/2006/relationships/slide" Target="slide42.xml"/><Relationship Id="rId10" Type="http://schemas.openxmlformats.org/officeDocument/2006/relationships/image" Target="../media/image67.emf"/><Relationship Id="rId4" Type="http://schemas.openxmlformats.org/officeDocument/2006/relationships/tags" Target="../tags/tag405.xml"/><Relationship Id="rId9" Type="http://schemas.openxmlformats.org/officeDocument/2006/relationships/image" Target="../media/image19.emf"/><Relationship Id="rId14" Type="http://schemas.openxmlformats.org/officeDocument/2006/relationships/slide" Target="slide29.xml"/></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slide" Target="slide17.xml"/><Relationship Id="rId3" Type="http://schemas.openxmlformats.org/officeDocument/2006/relationships/tags" Target="../tags/tag409.xml"/><Relationship Id="rId7" Type="http://schemas.microsoft.com/office/2018/10/relationships/comments" Target="../comments/modernComment_7FFFCA7C_584007D8.xml"/><Relationship Id="rId12" Type="http://schemas.openxmlformats.org/officeDocument/2006/relationships/slide" Target="slide12.xml"/><Relationship Id="rId2" Type="http://schemas.openxmlformats.org/officeDocument/2006/relationships/tags" Target="../tags/tag408.xml"/><Relationship Id="rId16" Type="http://schemas.openxmlformats.org/officeDocument/2006/relationships/slide" Target="slide49.xml"/><Relationship Id="rId1" Type="http://schemas.openxmlformats.org/officeDocument/2006/relationships/tags" Target="../tags/tag407.xml"/><Relationship Id="rId6" Type="http://schemas.openxmlformats.org/officeDocument/2006/relationships/slideLayout" Target="../slideLayouts/slideLayout43.xml"/><Relationship Id="rId11" Type="http://schemas.openxmlformats.org/officeDocument/2006/relationships/slide" Target="slide4.xml"/><Relationship Id="rId5" Type="http://schemas.openxmlformats.org/officeDocument/2006/relationships/tags" Target="../tags/tag411.xml"/><Relationship Id="rId15" Type="http://schemas.openxmlformats.org/officeDocument/2006/relationships/slide" Target="slide42.xml"/><Relationship Id="rId10" Type="http://schemas.openxmlformats.org/officeDocument/2006/relationships/image" Target="../media/image68.emf"/><Relationship Id="rId4" Type="http://schemas.openxmlformats.org/officeDocument/2006/relationships/tags" Target="../tags/tag410.xml"/><Relationship Id="rId9" Type="http://schemas.openxmlformats.org/officeDocument/2006/relationships/image" Target="../media/image19.emf"/><Relationship Id="rId14" Type="http://schemas.openxmlformats.org/officeDocument/2006/relationships/slide" Target="slide29.xml"/></Relationships>
</file>

<file path=ppt/slides/_rels/slide49.xml.rels><?xml version="1.0" encoding="UTF-8" standalone="yes"?>
<Relationships xmlns="http://schemas.openxmlformats.org/package/2006/relationships"><Relationship Id="rId13" Type="http://schemas.openxmlformats.org/officeDocument/2006/relationships/tags" Target="../tags/tag424.xml"/><Relationship Id="rId18" Type="http://schemas.openxmlformats.org/officeDocument/2006/relationships/tags" Target="../tags/tag429.xml"/><Relationship Id="rId26" Type="http://schemas.openxmlformats.org/officeDocument/2006/relationships/tags" Target="../tags/tag437.xml"/><Relationship Id="rId21" Type="http://schemas.openxmlformats.org/officeDocument/2006/relationships/tags" Target="../tags/tag432.xml"/><Relationship Id="rId34" Type="http://schemas.openxmlformats.org/officeDocument/2006/relationships/slide" Target="slide53.xml"/><Relationship Id="rId7" Type="http://schemas.openxmlformats.org/officeDocument/2006/relationships/tags" Target="../tags/tag418.xml"/><Relationship Id="rId12" Type="http://schemas.openxmlformats.org/officeDocument/2006/relationships/tags" Target="../tags/tag423.xml"/><Relationship Id="rId17" Type="http://schemas.openxmlformats.org/officeDocument/2006/relationships/tags" Target="../tags/tag428.xml"/><Relationship Id="rId25" Type="http://schemas.openxmlformats.org/officeDocument/2006/relationships/tags" Target="../tags/tag436.xml"/><Relationship Id="rId33" Type="http://schemas.openxmlformats.org/officeDocument/2006/relationships/slide" Target="slide52.xml"/><Relationship Id="rId38" Type="http://schemas.openxmlformats.org/officeDocument/2006/relationships/slide" Target="slide59.xml"/><Relationship Id="rId2" Type="http://schemas.openxmlformats.org/officeDocument/2006/relationships/tags" Target="../tags/tag413.xml"/><Relationship Id="rId16" Type="http://schemas.openxmlformats.org/officeDocument/2006/relationships/tags" Target="../tags/tag427.xml"/><Relationship Id="rId20" Type="http://schemas.openxmlformats.org/officeDocument/2006/relationships/tags" Target="../tags/tag431.xml"/><Relationship Id="rId29" Type="http://schemas.openxmlformats.org/officeDocument/2006/relationships/slideLayout" Target="../slideLayouts/slideLayout34.xml"/><Relationship Id="rId1" Type="http://schemas.openxmlformats.org/officeDocument/2006/relationships/tags" Target="../tags/tag412.xml"/><Relationship Id="rId6" Type="http://schemas.openxmlformats.org/officeDocument/2006/relationships/tags" Target="../tags/tag417.xml"/><Relationship Id="rId11" Type="http://schemas.openxmlformats.org/officeDocument/2006/relationships/tags" Target="../tags/tag422.xml"/><Relationship Id="rId24" Type="http://schemas.openxmlformats.org/officeDocument/2006/relationships/tags" Target="../tags/tag435.xml"/><Relationship Id="rId32" Type="http://schemas.openxmlformats.org/officeDocument/2006/relationships/slide" Target="slide51.xml"/><Relationship Id="rId37" Type="http://schemas.openxmlformats.org/officeDocument/2006/relationships/slide" Target="slide56.xml"/><Relationship Id="rId5" Type="http://schemas.openxmlformats.org/officeDocument/2006/relationships/tags" Target="../tags/tag416.xml"/><Relationship Id="rId15" Type="http://schemas.openxmlformats.org/officeDocument/2006/relationships/tags" Target="../tags/tag426.xml"/><Relationship Id="rId23" Type="http://schemas.openxmlformats.org/officeDocument/2006/relationships/tags" Target="../tags/tag434.xml"/><Relationship Id="rId28" Type="http://schemas.openxmlformats.org/officeDocument/2006/relationships/tags" Target="../tags/tag439.xml"/><Relationship Id="rId36" Type="http://schemas.openxmlformats.org/officeDocument/2006/relationships/slide" Target="slide55.xml"/><Relationship Id="rId10" Type="http://schemas.openxmlformats.org/officeDocument/2006/relationships/tags" Target="../tags/tag421.xml"/><Relationship Id="rId19" Type="http://schemas.openxmlformats.org/officeDocument/2006/relationships/tags" Target="../tags/tag430.xml"/><Relationship Id="rId31" Type="http://schemas.openxmlformats.org/officeDocument/2006/relationships/slide" Target="slide50.xml"/><Relationship Id="rId4" Type="http://schemas.openxmlformats.org/officeDocument/2006/relationships/tags" Target="../tags/tag415.xml"/><Relationship Id="rId9" Type="http://schemas.openxmlformats.org/officeDocument/2006/relationships/tags" Target="../tags/tag420.xml"/><Relationship Id="rId14" Type="http://schemas.openxmlformats.org/officeDocument/2006/relationships/tags" Target="../tags/tag425.xml"/><Relationship Id="rId22" Type="http://schemas.openxmlformats.org/officeDocument/2006/relationships/tags" Target="../tags/tag433.xml"/><Relationship Id="rId27" Type="http://schemas.openxmlformats.org/officeDocument/2006/relationships/tags" Target="../tags/tag438.xml"/><Relationship Id="rId30" Type="http://schemas.openxmlformats.org/officeDocument/2006/relationships/slide" Target="slide49.xml"/><Relationship Id="rId35" Type="http://schemas.openxmlformats.org/officeDocument/2006/relationships/slide" Target="slide54.xml"/><Relationship Id="rId8" Type="http://schemas.openxmlformats.org/officeDocument/2006/relationships/tags" Target="../tags/tag419.xml"/><Relationship Id="rId3" Type="http://schemas.openxmlformats.org/officeDocument/2006/relationships/tags" Target="../tags/tag414.xml"/></Relationships>
</file>

<file path=ppt/slides/_rels/slide50.xml.rels><?xml version="1.0" encoding="UTF-8" standalone="yes"?>
<Relationships xmlns="http://schemas.openxmlformats.org/package/2006/relationships"><Relationship Id="rId8" Type="http://schemas.microsoft.com/office/2018/10/relationships/comments" Target="../comments/modernComment_7FFFCA5F_4E6A2009.xml"/><Relationship Id="rId13" Type="http://schemas.openxmlformats.org/officeDocument/2006/relationships/slide" Target="slide4.xml"/><Relationship Id="rId18" Type="http://schemas.openxmlformats.org/officeDocument/2006/relationships/slide" Target="slide49.xml"/><Relationship Id="rId3" Type="http://schemas.openxmlformats.org/officeDocument/2006/relationships/tags" Target="../tags/tag442.xml"/><Relationship Id="rId7" Type="http://schemas.openxmlformats.org/officeDocument/2006/relationships/slideLayout" Target="../slideLayouts/slideLayout47.xml"/><Relationship Id="rId12" Type="http://schemas.openxmlformats.org/officeDocument/2006/relationships/image" Target="../media/image70.emf"/><Relationship Id="rId17" Type="http://schemas.openxmlformats.org/officeDocument/2006/relationships/slide" Target="slide42.xml"/><Relationship Id="rId2" Type="http://schemas.openxmlformats.org/officeDocument/2006/relationships/tags" Target="../tags/tag441.xml"/><Relationship Id="rId16" Type="http://schemas.openxmlformats.org/officeDocument/2006/relationships/slide" Target="slide29.xml"/><Relationship Id="rId1" Type="http://schemas.openxmlformats.org/officeDocument/2006/relationships/tags" Target="../tags/tag440.xml"/><Relationship Id="rId6" Type="http://schemas.openxmlformats.org/officeDocument/2006/relationships/tags" Target="../tags/tag445.xml"/><Relationship Id="rId11" Type="http://schemas.openxmlformats.org/officeDocument/2006/relationships/image" Target="../media/image69.emf"/><Relationship Id="rId5" Type="http://schemas.openxmlformats.org/officeDocument/2006/relationships/tags" Target="../tags/tag444.xml"/><Relationship Id="rId15" Type="http://schemas.openxmlformats.org/officeDocument/2006/relationships/slide" Target="slide17.xml"/><Relationship Id="rId10" Type="http://schemas.openxmlformats.org/officeDocument/2006/relationships/image" Target="../media/image19.emf"/><Relationship Id="rId4" Type="http://schemas.openxmlformats.org/officeDocument/2006/relationships/tags" Target="../tags/tag443.xml"/><Relationship Id="rId9" Type="http://schemas.openxmlformats.org/officeDocument/2006/relationships/oleObject" Target="../embeddings/oleObject16.bin"/><Relationship Id="rId14" Type="http://schemas.openxmlformats.org/officeDocument/2006/relationships/slide" Target="slide12.xml"/></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slide" Target="slide12.xml"/><Relationship Id="rId3" Type="http://schemas.openxmlformats.org/officeDocument/2006/relationships/tags" Target="../tags/tag448.xml"/><Relationship Id="rId7" Type="http://schemas.openxmlformats.org/officeDocument/2006/relationships/slideLayout" Target="../slideLayouts/slideLayout47.xml"/><Relationship Id="rId12" Type="http://schemas.openxmlformats.org/officeDocument/2006/relationships/slide" Target="slide4.xml"/><Relationship Id="rId17" Type="http://schemas.openxmlformats.org/officeDocument/2006/relationships/slide" Target="slide49.xml"/><Relationship Id="rId2" Type="http://schemas.openxmlformats.org/officeDocument/2006/relationships/tags" Target="../tags/tag447.xml"/><Relationship Id="rId16" Type="http://schemas.openxmlformats.org/officeDocument/2006/relationships/slide" Target="slide42.xml"/><Relationship Id="rId1" Type="http://schemas.openxmlformats.org/officeDocument/2006/relationships/tags" Target="../tags/tag446.xml"/><Relationship Id="rId6" Type="http://schemas.openxmlformats.org/officeDocument/2006/relationships/tags" Target="../tags/tag451.xml"/><Relationship Id="rId11" Type="http://schemas.openxmlformats.org/officeDocument/2006/relationships/image" Target="../media/image72.emf"/><Relationship Id="rId5" Type="http://schemas.openxmlformats.org/officeDocument/2006/relationships/tags" Target="../tags/tag450.xml"/><Relationship Id="rId15" Type="http://schemas.openxmlformats.org/officeDocument/2006/relationships/slide" Target="slide29.xml"/><Relationship Id="rId10" Type="http://schemas.openxmlformats.org/officeDocument/2006/relationships/image" Target="../media/image71.emf"/><Relationship Id="rId4" Type="http://schemas.openxmlformats.org/officeDocument/2006/relationships/tags" Target="../tags/tag449.xml"/><Relationship Id="rId9" Type="http://schemas.openxmlformats.org/officeDocument/2006/relationships/image" Target="../media/image19.emf"/><Relationship Id="rId14" Type="http://schemas.openxmlformats.org/officeDocument/2006/relationships/slide" Target="slide17.xml"/></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slide" Target="slide17.xml"/><Relationship Id="rId3" Type="http://schemas.openxmlformats.org/officeDocument/2006/relationships/tags" Target="../tags/tag454.xml"/><Relationship Id="rId7" Type="http://schemas.microsoft.com/office/2018/10/relationships/comments" Target="../comments/modernComment_7FFFCAA1_5E5D6F78.xml"/><Relationship Id="rId12" Type="http://schemas.openxmlformats.org/officeDocument/2006/relationships/slide" Target="slide12.xml"/><Relationship Id="rId2" Type="http://schemas.openxmlformats.org/officeDocument/2006/relationships/tags" Target="../tags/tag453.xml"/><Relationship Id="rId16" Type="http://schemas.openxmlformats.org/officeDocument/2006/relationships/slide" Target="slide49.xml"/><Relationship Id="rId1" Type="http://schemas.openxmlformats.org/officeDocument/2006/relationships/tags" Target="../tags/tag452.xml"/><Relationship Id="rId6" Type="http://schemas.openxmlformats.org/officeDocument/2006/relationships/slideLayout" Target="../slideLayouts/slideLayout47.xml"/><Relationship Id="rId11" Type="http://schemas.openxmlformats.org/officeDocument/2006/relationships/slide" Target="slide4.xml"/><Relationship Id="rId5" Type="http://schemas.openxmlformats.org/officeDocument/2006/relationships/tags" Target="../tags/tag456.xml"/><Relationship Id="rId15" Type="http://schemas.openxmlformats.org/officeDocument/2006/relationships/slide" Target="slide42.xml"/><Relationship Id="rId10" Type="http://schemas.openxmlformats.org/officeDocument/2006/relationships/image" Target="../media/image73.emf"/><Relationship Id="rId4" Type="http://schemas.openxmlformats.org/officeDocument/2006/relationships/tags" Target="../tags/tag455.xml"/><Relationship Id="rId9" Type="http://schemas.openxmlformats.org/officeDocument/2006/relationships/image" Target="../media/image19.emf"/><Relationship Id="rId14" Type="http://schemas.openxmlformats.org/officeDocument/2006/relationships/slide" Target="slide29.xml"/></Relationships>
</file>

<file path=ppt/slides/_rels/slide53.xml.rels><?xml version="1.0" encoding="UTF-8" standalone="yes"?>
<Relationships xmlns="http://schemas.openxmlformats.org/package/2006/relationships"><Relationship Id="rId8" Type="http://schemas.openxmlformats.org/officeDocument/2006/relationships/image" Target="../media/image74.jpeg"/><Relationship Id="rId13" Type="http://schemas.openxmlformats.org/officeDocument/2006/relationships/image" Target="../media/image79.png"/><Relationship Id="rId18" Type="http://schemas.openxmlformats.org/officeDocument/2006/relationships/slide" Target="slide12.xml"/><Relationship Id="rId3" Type="http://schemas.openxmlformats.org/officeDocument/2006/relationships/tags" Target="../tags/tag459.xml"/><Relationship Id="rId21" Type="http://schemas.openxmlformats.org/officeDocument/2006/relationships/slide" Target="slide42.xml"/><Relationship Id="rId7" Type="http://schemas.openxmlformats.org/officeDocument/2006/relationships/image" Target="../media/image19.emf"/><Relationship Id="rId12" Type="http://schemas.openxmlformats.org/officeDocument/2006/relationships/image" Target="../media/image78.png"/><Relationship Id="rId17" Type="http://schemas.openxmlformats.org/officeDocument/2006/relationships/slide" Target="slide4.xml"/><Relationship Id="rId2" Type="http://schemas.openxmlformats.org/officeDocument/2006/relationships/tags" Target="../tags/tag458.xml"/><Relationship Id="rId16" Type="http://schemas.openxmlformats.org/officeDocument/2006/relationships/image" Target="../media/image82.png"/><Relationship Id="rId20" Type="http://schemas.openxmlformats.org/officeDocument/2006/relationships/slide" Target="slide29.xml"/><Relationship Id="rId1" Type="http://schemas.openxmlformats.org/officeDocument/2006/relationships/tags" Target="../tags/tag457.xml"/><Relationship Id="rId6" Type="http://schemas.openxmlformats.org/officeDocument/2006/relationships/oleObject" Target="../embeddings/oleObject16.bin"/><Relationship Id="rId11" Type="http://schemas.openxmlformats.org/officeDocument/2006/relationships/image" Target="../media/image77.png"/><Relationship Id="rId5" Type="http://schemas.openxmlformats.org/officeDocument/2006/relationships/slideLayout" Target="../slideLayouts/slideLayout47.xml"/><Relationship Id="rId15" Type="http://schemas.openxmlformats.org/officeDocument/2006/relationships/image" Target="../media/image81.png"/><Relationship Id="rId10" Type="http://schemas.openxmlformats.org/officeDocument/2006/relationships/image" Target="../media/image76.png"/><Relationship Id="rId19" Type="http://schemas.openxmlformats.org/officeDocument/2006/relationships/slide" Target="slide17.xml"/><Relationship Id="rId4" Type="http://schemas.openxmlformats.org/officeDocument/2006/relationships/tags" Target="../tags/tag460.xml"/><Relationship Id="rId9" Type="http://schemas.openxmlformats.org/officeDocument/2006/relationships/image" Target="../media/image75.png"/><Relationship Id="rId14" Type="http://schemas.openxmlformats.org/officeDocument/2006/relationships/image" Target="../media/image80.png"/><Relationship Id="rId22" Type="http://schemas.openxmlformats.org/officeDocument/2006/relationships/slide" Target="slide49.xml"/></Relationships>
</file>

<file path=ppt/slides/_rels/slide54.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49.xml"/><Relationship Id="rId3" Type="http://schemas.openxmlformats.org/officeDocument/2006/relationships/tags" Target="../tags/tag463.xml"/><Relationship Id="rId7" Type="http://schemas.openxmlformats.org/officeDocument/2006/relationships/image" Target="../media/image19.emf"/><Relationship Id="rId12" Type="http://schemas.openxmlformats.org/officeDocument/2006/relationships/slide" Target="slide42.xml"/><Relationship Id="rId2" Type="http://schemas.openxmlformats.org/officeDocument/2006/relationships/tags" Target="../tags/tag462.xml"/><Relationship Id="rId1" Type="http://schemas.openxmlformats.org/officeDocument/2006/relationships/tags" Target="../tags/tag461.xml"/><Relationship Id="rId6" Type="http://schemas.openxmlformats.org/officeDocument/2006/relationships/oleObject" Target="../embeddings/oleObject17.bin"/><Relationship Id="rId11" Type="http://schemas.openxmlformats.org/officeDocument/2006/relationships/slide" Target="slide29.xml"/><Relationship Id="rId5" Type="http://schemas.microsoft.com/office/2018/10/relationships/comments" Target="../comments/modernComment_28B_6598BD62.xml"/><Relationship Id="rId10" Type="http://schemas.openxmlformats.org/officeDocument/2006/relationships/slide" Target="slide17.xml"/><Relationship Id="rId4" Type="http://schemas.openxmlformats.org/officeDocument/2006/relationships/slideLayout" Target="../slideLayouts/slideLayout17.xml"/><Relationship Id="rId9" Type="http://schemas.openxmlformats.org/officeDocument/2006/relationships/slide" Target="slide12.xml"/></Relationships>
</file>

<file path=ppt/slides/_rels/slide55.xml.rels><?xml version="1.0" encoding="UTF-8" standalone="yes"?>
<Relationships xmlns="http://schemas.openxmlformats.org/package/2006/relationships"><Relationship Id="rId8" Type="http://schemas.openxmlformats.org/officeDocument/2006/relationships/slide" Target="slide29.xml"/><Relationship Id="rId3" Type="http://schemas.openxmlformats.org/officeDocument/2006/relationships/tags" Target="../tags/tag466.xml"/><Relationship Id="rId7" Type="http://schemas.openxmlformats.org/officeDocument/2006/relationships/slide" Target="slide17.xml"/><Relationship Id="rId2" Type="http://schemas.openxmlformats.org/officeDocument/2006/relationships/tags" Target="../tags/tag465.xml"/><Relationship Id="rId1" Type="http://schemas.openxmlformats.org/officeDocument/2006/relationships/tags" Target="../tags/tag464.xml"/><Relationship Id="rId6" Type="http://schemas.openxmlformats.org/officeDocument/2006/relationships/slide" Target="slide12.xml"/><Relationship Id="rId5" Type="http://schemas.openxmlformats.org/officeDocument/2006/relationships/slide" Target="slide4.xml"/><Relationship Id="rId10" Type="http://schemas.openxmlformats.org/officeDocument/2006/relationships/slide" Target="slide49.xml"/><Relationship Id="rId4" Type="http://schemas.openxmlformats.org/officeDocument/2006/relationships/slideLayout" Target="../slideLayouts/slideLayout9.xml"/><Relationship Id="rId9" Type="http://schemas.openxmlformats.org/officeDocument/2006/relationships/slide" Target="slide42.xml"/></Relationships>
</file>

<file path=ppt/slides/_rels/slide56.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49.xml"/><Relationship Id="rId3" Type="http://schemas.openxmlformats.org/officeDocument/2006/relationships/tags" Target="../tags/tag469.xml"/><Relationship Id="rId7" Type="http://schemas.openxmlformats.org/officeDocument/2006/relationships/image" Target="../media/image19.emf"/><Relationship Id="rId12" Type="http://schemas.openxmlformats.org/officeDocument/2006/relationships/slide" Target="slide42.xml"/><Relationship Id="rId2" Type="http://schemas.openxmlformats.org/officeDocument/2006/relationships/tags" Target="../tags/tag468.xml"/><Relationship Id="rId1" Type="http://schemas.openxmlformats.org/officeDocument/2006/relationships/tags" Target="../tags/tag467.xml"/><Relationship Id="rId6" Type="http://schemas.openxmlformats.org/officeDocument/2006/relationships/oleObject" Target="../embeddings/oleObject18.bin"/><Relationship Id="rId11" Type="http://schemas.openxmlformats.org/officeDocument/2006/relationships/slide" Target="slide29.xml"/><Relationship Id="rId5" Type="http://schemas.openxmlformats.org/officeDocument/2006/relationships/slideLayout" Target="../slideLayouts/slideLayout9.xml"/><Relationship Id="rId10" Type="http://schemas.openxmlformats.org/officeDocument/2006/relationships/slide" Target="slide17.xml"/><Relationship Id="rId4" Type="http://schemas.openxmlformats.org/officeDocument/2006/relationships/tags" Target="../tags/tag470.xml"/><Relationship Id="rId9" Type="http://schemas.openxmlformats.org/officeDocument/2006/relationships/slide" Target="slide12.xml"/></Relationships>
</file>

<file path=ppt/slides/_rels/slide57.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49.xml"/><Relationship Id="rId3" Type="http://schemas.openxmlformats.org/officeDocument/2006/relationships/tags" Target="../tags/tag473.xml"/><Relationship Id="rId7" Type="http://schemas.openxmlformats.org/officeDocument/2006/relationships/image" Target="../media/image19.emf"/><Relationship Id="rId12" Type="http://schemas.openxmlformats.org/officeDocument/2006/relationships/slide" Target="slide42.xml"/><Relationship Id="rId2" Type="http://schemas.openxmlformats.org/officeDocument/2006/relationships/tags" Target="../tags/tag472.xml"/><Relationship Id="rId1" Type="http://schemas.openxmlformats.org/officeDocument/2006/relationships/tags" Target="../tags/tag471.xml"/><Relationship Id="rId6" Type="http://schemas.openxmlformats.org/officeDocument/2006/relationships/oleObject" Target="../embeddings/oleObject18.bin"/><Relationship Id="rId11" Type="http://schemas.openxmlformats.org/officeDocument/2006/relationships/slide" Target="slide29.xml"/><Relationship Id="rId5" Type="http://schemas.openxmlformats.org/officeDocument/2006/relationships/slideLayout" Target="../slideLayouts/slideLayout9.xml"/><Relationship Id="rId10" Type="http://schemas.openxmlformats.org/officeDocument/2006/relationships/slide" Target="slide17.xml"/><Relationship Id="rId4" Type="http://schemas.openxmlformats.org/officeDocument/2006/relationships/tags" Target="../tags/tag474.xml"/><Relationship Id="rId9" Type="http://schemas.openxmlformats.org/officeDocument/2006/relationships/slide" Target="slide12.xml"/></Relationships>
</file>

<file path=ppt/slides/_rels/slide58.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49.xml"/><Relationship Id="rId3" Type="http://schemas.openxmlformats.org/officeDocument/2006/relationships/tags" Target="../tags/tag477.xml"/><Relationship Id="rId7" Type="http://schemas.openxmlformats.org/officeDocument/2006/relationships/image" Target="../media/image19.emf"/><Relationship Id="rId12" Type="http://schemas.openxmlformats.org/officeDocument/2006/relationships/slide" Target="slide42.xml"/><Relationship Id="rId2" Type="http://schemas.openxmlformats.org/officeDocument/2006/relationships/tags" Target="../tags/tag476.xml"/><Relationship Id="rId1" Type="http://schemas.openxmlformats.org/officeDocument/2006/relationships/tags" Target="../tags/tag475.xml"/><Relationship Id="rId6" Type="http://schemas.openxmlformats.org/officeDocument/2006/relationships/oleObject" Target="../embeddings/oleObject18.bin"/><Relationship Id="rId11" Type="http://schemas.openxmlformats.org/officeDocument/2006/relationships/slide" Target="slide29.xml"/><Relationship Id="rId5" Type="http://schemas.openxmlformats.org/officeDocument/2006/relationships/slideLayout" Target="../slideLayouts/slideLayout9.xml"/><Relationship Id="rId10" Type="http://schemas.openxmlformats.org/officeDocument/2006/relationships/slide" Target="slide17.xml"/><Relationship Id="rId4" Type="http://schemas.openxmlformats.org/officeDocument/2006/relationships/tags" Target="../tags/tag478.xml"/><Relationship Id="rId9" Type="http://schemas.openxmlformats.org/officeDocument/2006/relationships/slide" Target="slide12.xml"/></Relationships>
</file>

<file path=ppt/slides/_rels/slide59.xml.rels><?xml version="1.0" encoding="UTF-8" standalone="yes"?>
<Relationships xmlns="http://schemas.openxmlformats.org/package/2006/relationships"><Relationship Id="rId3" Type="http://schemas.openxmlformats.org/officeDocument/2006/relationships/hyperlink" Target="kpmg.com/governance" TargetMode="External"/><Relationship Id="rId2" Type="http://schemas.openxmlformats.org/officeDocument/2006/relationships/slideLayout" Target="../slideLayouts/slideLayout39.xml"/><Relationship Id="rId1" Type="http://schemas.openxmlformats.org/officeDocument/2006/relationships/tags" Target="../tags/tag479.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slide" Target="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734895B-4C66-4432-9D15-FA1FA201E29B}"/>
              </a:ext>
            </a:extLst>
          </p:cNvPr>
          <p:cNvGraphicFramePr>
            <a:graphicFrameLocks noChangeAspect="1"/>
          </p:cNvGraphicFramePr>
          <p:nvPr>
            <p:custDataLst>
              <p:tags r:id="rId1"/>
            </p:custDataLst>
            <p:extLst>
              <p:ext uri="{D42A27DB-BD31-4B8C-83A1-F6EECF244321}">
                <p14:modId xmlns:p14="http://schemas.microsoft.com/office/powerpoint/2010/main" val="3141052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3" name="Object 2" hidden="1">
                        <a:extLst>
                          <a:ext uri="{FF2B5EF4-FFF2-40B4-BE49-F238E27FC236}">
                            <a16:creationId xmlns:a16="http://schemas.microsoft.com/office/drawing/2014/main" id="{2734895B-4C66-4432-9D15-FA1FA201E29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idx="4294967295"/>
          </p:nvPr>
        </p:nvSpPr>
        <p:spPr>
          <a:xfrm>
            <a:off x="1274841" y="1759937"/>
            <a:ext cx="5765982" cy="2903488"/>
          </a:xfrm>
        </p:spPr>
        <p:txBody>
          <a:bodyPr vert="horz"/>
          <a:lstStyle/>
          <a:p>
            <a:pPr>
              <a:buClr>
                <a:schemeClr val="dk1">
                  <a:lumMod val="100000"/>
                </a:schemeClr>
              </a:buClr>
            </a:pPr>
            <a:r>
              <a:rPr lang="en-US" sz="6600">
                <a:solidFill>
                  <a:schemeClr val="bg1"/>
                </a:solidFill>
              </a:rPr>
              <a:t>Project Vortex</a:t>
            </a:r>
            <a:br>
              <a:rPr lang="en-US">
                <a:solidFill>
                  <a:schemeClr val="bg1"/>
                </a:solidFill>
              </a:rPr>
            </a:br>
            <a:br>
              <a:rPr lang="en-US" sz="2000">
                <a:solidFill>
                  <a:schemeClr val="bg1"/>
                </a:solidFill>
              </a:rPr>
            </a:br>
            <a:r>
              <a:rPr lang="en-US" sz="4800">
                <a:solidFill>
                  <a:schemeClr val="bg1"/>
                </a:solidFill>
              </a:rPr>
              <a:t>DRAFT</a:t>
            </a:r>
            <a:endParaRPr lang="en-US">
              <a:solidFill>
                <a:schemeClr val="bg1"/>
              </a:solidFill>
            </a:endParaRPr>
          </a:p>
        </p:txBody>
      </p:sp>
      <p:sp>
        <p:nvSpPr>
          <p:cNvPr id="10" name="Text Placeholder 9">
            <a:extLst>
              <a:ext uri="{FF2B5EF4-FFF2-40B4-BE49-F238E27FC236}">
                <a16:creationId xmlns:a16="http://schemas.microsoft.com/office/drawing/2014/main" id="{C96463A5-6E83-4752-917F-F1C4EF67913D}"/>
              </a:ext>
            </a:extLst>
          </p:cNvPr>
          <p:cNvSpPr>
            <a:spLocks noGrp="1"/>
          </p:cNvSpPr>
          <p:nvPr>
            <p:ph type="body" sz="quarter" idx="4294967295"/>
          </p:nvPr>
        </p:nvSpPr>
        <p:spPr>
          <a:xfrm>
            <a:off x="1274841" y="4752153"/>
            <a:ext cx="5765982" cy="816606"/>
          </a:xfrm>
        </p:spPr>
        <p:txBody>
          <a:bodyPr/>
          <a:lstStyle/>
          <a:p>
            <a:pPr lvl="1">
              <a:buClr>
                <a:schemeClr val="dk1">
                  <a:lumMod val="100000"/>
                </a:schemeClr>
              </a:buClr>
            </a:pPr>
            <a:r>
              <a:rPr lang="en-US" sz="1400" dirty="0">
                <a:solidFill>
                  <a:schemeClr val="bg1"/>
                </a:solidFill>
              </a:rPr>
              <a:t>Financial due diligence</a:t>
            </a:r>
          </a:p>
          <a:p>
            <a:pPr lvl="1">
              <a:buClr>
                <a:schemeClr val="dk1">
                  <a:lumMod val="100000"/>
                </a:schemeClr>
              </a:buClr>
            </a:pPr>
            <a:r>
              <a:rPr lang="en-US" sz="1400" noProof="0" dirty="0">
                <a:solidFill>
                  <a:schemeClr val="bg1"/>
                </a:solidFill>
              </a:rPr>
              <a:t>—</a:t>
            </a:r>
          </a:p>
          <a:p>
            <a:pPr lvl="1">
              <a:buClr>
                <a:schemeClr val="dk1">
                  <a:lumMod val="100000"/>
                </a:schemeClr>
              </a:buClr>
            </a:pPr>
            <a:r>
              <a:rPr lang="en-US" sz="1400" noProof="0" dirty="0">
                <a:solidFill>
                  <a:schemeClr val="bg1"/>
                </a:solidFill>
              </a:rPr>
              <a:t>June </a:t>
            </a:r>
            <a:r>
              <a:rPr lang="en-US" sz="1400" dirty="0">
                <a:solidFill>
                  <a:schemeClr val="bg1"/>
                </a:solidFill>
              </a:rPr>
              <a:t>24, 2025</a:t>
            </a:r>
            <a:endParaRPr lang="en-US" sz="1400" noProof="0" dirty="0">
              <a:solidFill>
                <a:schemeClr val="bg1"/>
              </a:solidFill>
            </a:endParaRPr>
          </a:p>
        </p:txBody>
      </p:sp>
    </p:spTree>
    <p:extLst>
      <p:ext uri="{BB962C8B-B14F-4D97-AF65-F5344CB8AC3E}">
        <p14:creationId xmlns:p14="http://schemas.microsoft.com/office/powerpoint/2010/main" val="2856257884"/>
      </p:ext>
    </p:extLst>
  </p:cSld>
  <p:clrMapOvr>
    <a:masterClrMapping/>
  </p:clrMapOvr>
  <p:extLst>
    <p:ext uri="{6950BFC3-D8DA-4A85-94F7-54DA5524770B}">
      <p188:commentRel xmlns:p188="http://schemas.microsoft.com/office/powerpoint/2018/8/main" r:id="rId4"/>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hlinkClick r:id="rId3" action="ppaction://hlinksldjump"/>
            <a:extLst>
              <a:ext uri="{FF2B5EF4-FFF2-40B4-BE49-F238E27FC236}">
                <a16:creationId xmlns:a16="http://schemas.microsoft.com/office/drawing/2014/main" id="{40AE51A1-363D-6345-DF1E-DF743481E95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00938" y="4691739"/>
            <a:ext cx="896112" cy="507244"/>
          </a:xfrm>
          <a:prstGeom prst="rect">
            <a:avLst/>
          </a:prstGeom>
          <a:ln>
            <a:solidFill>
              <a:schemeClr val="tx1"/>
            </a:solidFill>
          </a:ln>
        </p:spPr>
      </p:pic>
      <p:pic>
        <p:nvPicPr>
          <p:cNvPr id="4" name="Picture 3">
            <a:hlinkClick r:id="rId5" action="ppaction://hlinksldjump"/>
            <a:extLst>
              <a:ext uri="{FF2B5EF4-FFF2-40B4-BE49-F238E27FC236}">
                <a16:creationId xmlns:a16="http://schemas.microsoft.com/office/drawing/2014/main" id="{25D0755D-FA92-331B-9497-B3A6B47DB1A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560685" y="4705677"/>
            <a:ext cx="896112" cy="506498"/>
          </a:xfrm>
          <a:prstGeom prst="rect">
            <a:avLst/>
          </a:prstGeom>
          <a:ln>
            <a:solidFill>
              <a:schemeClr val="tx1"/>
            </a:solidFill>
          </a:ln>
        </p:spPr>
      </p:pic>
      <p:sp>
        <p:nvSpPr>
          <p:cNvPr id="6" name="Text Placeholder 5">
            <a:extLst>
              <a:ext uri="{FF2B5EF4-FFF2-40B4-BE49-F238E27FC236}">
                <a16:creationId xmlns:a16="http://schemas.microsoft.com/office/drawing/2014/main" id="{8E90D9C4-2D7B-20FE-6DF6-9B9FED1AD973}"/>
              </a:ext>
            </a:extLst>
          </p:cNvPr>
          <p:cNvSpPr>
            <a:spLocks noGrp="1"/>
          </p:cNvSpPr>
          <p:nvPr>
            <p:ph type="body" sz="quarter" idx="11"/>
          </p:nvPr>
        </p:nvSpPr>
        <p:spPr>
          <a:xfrm>
            <a:off x="1003200" y="2271173"/>
            <a:ext cx="4968000" cy="3987009"/>
          </a:xfrm>
        </p:spPr>
        <p:txBody>
          <a:bodyPr/>
          <a:lstStyle/>
          <a:p>
            <a:r>
              <a:rPr lang="en-US" sz="800" b="0" spc="-20">
                <a:solidFill>
                  <a:schemeClr val="tx1"/>
                </a:solidFill>
              </a:rPr>
              <a:t>Project Vortex — Buy-side Financial due diligence</a:t>
            </a:r>
          </a:p>
          <a:p>
            <a:r>
              <a:rPr lang="en-US" sz="800" b="0" spc="-20">
                <a:solidFill>
                  <a:schemeClr val="tx1"/>
                </a:solidFill>
              </a:rPr>
              <a:t>In accordance with the terms of reference set out in our engagement letter dated  May 7, 2025 (“Engagement Letter”), we enclose a copy of our draft financial due diligence report (“report”) in connection with your prospective investment (the “Transaction”) in Felix Spain Bidco, S.L. (“Target”), based on the scope of work agreed with you and attached herein as Appendix 7. Our work commenced on May 7, 2025 and our fieldwork for this draft report is substantially complete. We have not undertaken to update our report for information received, or for events or circumstances arising after the date of this draft.</a:t>
            </a:r>
            <a:endParaRPr lang="en-US" sz="800" b="0" spc="-20">
              <a:solidFill>
                <a:schemeClr val="tx1"/>
              </a:solidFill>
              <a:cs typeface="Arial"/>
            </a:endParaRPr>
          </a:p>
          <a:p>
            <a:r>
              <a:rPr lang="en-US" sz="800" b="0" spc="-20">
                <a:solidFill>
                  <a:schemeClr val="tx1"/>
                </a:solidFill>
              </a:rPr>
              <a:t>We draw your attention to the following matters:</a:t>
            </a:r>
            <a:endParaRPr lang="en-US" sz="800" b="0" spc="-20">
              <a:solidFill>
                <a:schemeClr val="tx1"/>
              </a:solidFill>
              <a:cs typeface="Arial"/>
            </a:endParaRPr>
          </a:p>
          <a:p>
            <a:pPr marL="170815" indent="-170815">
              <a:buFont typeface="Arial" panose="020B0604020202020204" pitchFamily="34" charset="0"/>
              <a:buChar char="•"/>
            </a:pPr>
            <a:r>
              <a:rPr lang="en-US" sz="800" b="0" spc="-20">
                <a:solidFill>
                  <a:schemeClr val="tx1"/>
                </a:solidFill>
              </a:rPr>
              <a:t>Our work on historical trading comprises the financial years ended December 31, 2023 and 2024, and year-to-date period until March 31, 2025. We have also presented a run rate analysis with a reference date of March 31, 2025.</a:t>
            </a:r>
            <a:endParaRPr lang="en-US" sz="800" b="0" spc="-20">
              <a:solidFill>
                <a:schemeClr val="tx1"/>
              </a:solidFill>
              <a:cs typeface="Arial"/>
            </a:endParaRPr>
          </a:p>
          <a:p>
            <a:pPr marL="170815" indent="-170815">
              <a:buFont typeface="Arial" panose="020B0604020202020204" pitchFamily="34" charset="0"/>
              <a:buChar char="•"/>
            </a:pPr>
            <a:r>
              <a:rPr lang="en-US" sz="800" b="0" spc="-20">
                <a:solidFill>
                  <a:schemeClr val="tx1"/>
                </a:solidFill>
              </a:rPr>
              <a:t>We have only covered the specific financial issues agreed in the scope of work. We have not covered tax, commercial, operational, environmental or legal matters.</a:t>
            </a:r>
            <a:endParaRPr lang="en-US" sz="800" b="0" spc="-20">
              <a:solidFill>
                <a:schemeClr val="tx1"/>
              </a:solidFill>
              <a:cs typeface="Arial"/>
            </a:endParaRPr>
          </a:p>
          <a:p>
            <a:r>
              <a:rPr lang="en-US" sz="800" b="0" spc="-20">
                <a:solidFill>
                  <a:schemeClr val="tx1"/>
                </a:solidFill>
              </a:rPr>
              <a:t>Please review the following documents in the appendices, which set out the basis and limitations of our work performed:</a:t>
            </a:r>
            <a:endParaRPr lang="en-US" sz="800" b="0" spc="-20">
              <a:solidFill>
                <a:schemeClr val="tx1"/>
              </a:solidFill>
              <a:cs typeface="Arial"/>
            </a:endParaRPr>
          </a:p>
          <a:p>
            <a:pPr lvl="0" algn="just">
              <a:lnSpc>
                <a:spcPts val="1100"/>
              </a:lnSpc>
              <a:spcAft>
                <a:spcPts val="300"/>
              </a:spcAft>
            </a:pPr>
            <a:endParaRPr lang="en-US" sz="780" b="0" noProof="0">
              <a:solidFill>
                <a:schemeClr val="tx1"/>
              </a:solidFill>
            </a:endParaRPr>
          </a:p>
        </p:txBody>
      </p:sp>
      <p:sp>
        <p:nvSpPr>
          <p:cNvPr id="7" name="Text Placeholder 6">
            <a:extLst>
              <a:ext uri="{FF2B5EF4-FFF2-40B4-BE49-F238E27FC236}">
                <a16:creationId xmlns:a16="http://schemas.microsoft.com/office/drawing/2014/main" id="{CCE57869-5980-A9ED-4666-C9D7AFF7EA13}"/>
              </a:ext>
            </a:extLst>
          </p:cNvPr>
          <p:cNvSpPr>
            <a:spLocks noGrp="1"/>
          </p:cNvSpPr>
          <p:nvPr>
            <p:ph type="body" sz="quarter" idx="12"/>
          </p:nvPr>
        </p:nvSpPr>
        <p:spPr>
          <a:xfrm>
            <a:off x="6220800" y="2271173"/>
            <a:ext cx="4968000" cy="4219881"/>
          </a:xfrm>
        </p:spPr>
        <p:txBody>
          <a:bodyPr/>
          <a:lstStyle/>
          <a:p>
            <a:pPr>
              <a:defRPr/>
            </a:pPr>
            <a:r>
              <a:rPr lang="en-US" sz="800" b="0" spc="-20" dirty="0">
                <a:solidFill>
                  <a:schemeClr val="tx1"/>
                </a:solidFill>
              </a:rPr>
              <a:t>You should note that our findings do not constitute recommendations to you as to whether or not you should proceed with the proposed transaction.</a:t>
            </a:r>
          </a:p>
          <a:p>
            <a:pPr>
              <a:defRPr/>
            </a:pPr>
            <a:r>
              <a:rPr lang="en-US" sz="800" b="0" spc="-20" dirty="0">
                <a:solidFill>
                  <a:schemeClr val="tx1"/>
                </a:solidFill>
              </a:rPr>
              <a:t>Our report is confidential and is released to you on the basis that it is not to be copied, referred to or disclosed, in whole or in part, to any other party without our prior written consent, except as specifically provided in our Engagement Letter. In accordance with the Engagement Letter, you may disclose our report to your legal and other professional advisors in order to seek advice in relation to our work for you, provided that when doing so you inform them that, to the fullest extent permitted by law, we accept no responsibility or liability to them in connection with our report and our work for you.</a:t>
            </a:r>
          </a:p>
          <a:p>
            <a:pPr>
              <a:defRPr/>
            </a:pPr>
            <a:r>
              <a:rPr lang="en-US" sz="800" b="0" spc="-20" dirty="0">
                <a:solidFill>
                  <a:schemeClr val="tx1"/>
                </a:solidFill>
              </a:rPr>
              <a:t>We would be pleased to receive your observations on our</a:t>
            </a:r>
            <a:r>
              <a:rPr lang="en-US" sz="800" b="0" spc="-20" dirty="0"/>
              <a:t> </a:t>
            </a:r>
            <a:r>
              <a:rPr lang="en-US" sz="800" b="0" spc="-20" dirty="0">
                <a:solidFill>
                  <a:schemeClr val="tx1"/>
                </a:solidFill>
              </a:rPr>
              <a:t>draft report. Please feel free to contact us to discuss.</a:t>
            </a:r>
          </a:p>
          <a:p>
            <a:pPr lvl="1" algn="just" defTabSz="914377"/>
            <a:r>
              <a:rPr lang="en-US" sz="780" dirty="0"/>
              <a:t>Yours sincerely,</a:t>
            </a:r>
          </a:p>
          <a:p>
            <a:pPr lvl="1" algn="just" defTabSz="914377"/>
            <a:r>
              <a:rPr lang="en-US" sz="780" b="1" dirty="0"/>
              <a:t>DRAFT REPORT</a:t>
            </a:r>
            <a:endParaRPr lang="en-US" sz="780" b="1" i="1" spc="-20" dirty="0">
              <a:solidFill>
                <a:schemeClr val="tx1"/>
              </a:solidFill>
            </a:endParaRPr>
          </a:p>
          <a:p>
            <a:endParaRPr lang="en-US" b="0" dirty="0"/>
          </a:p>
        </p:txBody>
      </p:sp>
      <p:sp>
        <p:nvSpPr>
          <p:cNvPr id="8" name="TextBox 7">
            <a:extLst>
              <a:ext uri="{FF2B5EF4-FFF2-40B4-BE49-F238E27FC236}">
                <a16:creationId xmlns:a16="http://schemas.microsoft.com/office/drawing/2014/main" id="{BE2960EA-B639-F002-69D0-9D1830BB631C}"/>
              </a:ext>
            </a:extLst>
          </p:cNvPr>
          <p:cNvSpPr txBox="1">
            <a:spLocks/>
          </p:cNvSpPr>
          <p:nvPr/>
        </p:nvSpPr>
        <p:spPr>
          <a:xfrm>
            <a:off x="999663" y="908501"/>
            <a:ext cx="4961984" cy="1057117"/>
          </a:xfrm>
          <a:prstGeom prst="rect">
            <a:avLst/>
          </a:prstGeom>
        </p:spPr>
        <p:txBody>
          <a:bodyPr vert="horz" wrap="square" lIns="0" tIns="0" rIns="0" bIns="0" rtlCol="0" anchor="t" anchorCtr="0">
            <a:noAutofit/>
          </a:bodyPr>
          <a:lstStyle/>
          <a:p>
            <a:pPr>
              <a:lnSpc>
                <a:spcPts val="1100"/>
              </a:lnSpc>
              <a:spcAft>
                <a:spcPts val="0"/>
              </a:spcAft>
            </a:pPr>
            <a:r>
              <a:rPr lang="en-US" sz="780" b="1">
                <a:solidFill>
                  <a:schemeClr val="tx1"/>
                </a:solidFill>
              </a:rPr>
              <a:t>Private and confidential</a:t>
            </a:r>
          </a:p>
          <a:p>
            <a:pPr>
              <a:lnSpc>
                <a:spcPts val="1100"/>
              </a:lnSpc>
              <a:spcAft>
                <a:spcPts val="0"/>
              </a:spcAft>
            </a:pPr>
            <a:endParaRPr lang="en-US" sz="780" b="0">
              <a:solidFill>
                <a:schemeClr val="tx1"/>
              </a:solidFill>
            </a:endParaRPr>
          </a:p>
          <a:p>
            <a:pPr>
              <a:lnSpc>
                <a:spcPts val="1100"/>
              </a:lnSpc>
              <a:spcAft>
                <a:spcPts val="0"/>
              </a:spcAft>
            </a:pPr>
            <a:endParaRPr lang="en-US" sz="800"/>
          </a:p>
          <a:p>
            <a:pPr>
              <a:lnSpc>
                <a:spcPts val="1100"/>
              </a:lnSpc>
              <a:spcAft>
                <a:spcPts val="0"/>
              </a:spcAft>
            </a:pPr>
            <a:r>
              <a:rPr lang="en-US" sz="800"/>
              <a:t>Themis Solutions Inc. d/b/a Clio</a:t>
            </a:r>
          </a:p>
          <a:p>
            <a:pPr>
              <a:lnSpc>
                <a:spcPts val="1100"/>
              </a:lnSpc>
              <a:spcAft>
                <a:spcPts val="0"/>
              </a:spcAft>
            </a:pPr>
            <a:r>
              <a:rPr lang="en-US" sz="800"/>
              <a:t>300 – 4611 Canada Way</a:t>
            </a:r>
          </a:p>
          <a:p>
            <a:pPr>
              <a:lnSpc>
                <a:spcPts val="1100"/>
              </a:lnSpc>
              <a:spcAft>
                <a:spcPts val="0"/>
              </a:spcAft>
            </a:pPr>
            <a:r>
              <a:rPr lang="en-US" sz="800" b="0">
                <a:solidFill>
                  <a:schemeClr val="tx1"/>
                </a:solidFill>
              </a:rPr>
              <a:t>Burnaby, BC V56 4X3</a:t>
            </a:r>
          </a:p>
          <a:p>
            <a:pPr>
              <a:lnSpc>
                <a:spcPts val="1100"/>
              </a:lnSpc>
              <a:spcAft>
                <a:spcPts val="0"/>
              </a:spcAft>
            </a:pPr>
            <a:r>
              <a:rPr lang="en-US" sz="800" i="1"/>
              <a:t>Attn: Alex MacGillivray, VP Finance</a:t>
            </a:r>
            <a:endParaRPr lang="en-US" sz="800" b="0" i="1">
              <a:solidFill>
                <a:schemeClr val="tx1"/>
              </a:solidFill>
            </a:endParaRPr>
          </a:p>
        </p:txBody>
      </p:sp>
      <p:grpSp>
        <p:nvGrpSpPr>
          <p:cNvPr id="9" name="Group 8">
            <a:extLst>
              <a:ext uri="{FF2B5EF4-FFF2-40B4-BE49-F238E27FC236}">
                <a16:creationId xmlns:a16="http://schemas.microsoft.com/office/drawing/2014/main" id="{172B8BCE-3EBB-970D-B0E7-E1E45DE87A02}"/>
              </a:ext>
            </a:extLst>
          </p:cNvPr>
          <p:cNvGrpSpPr/>
          <p:nvPr/>
        </p:nvGrpSpPr>
        <p:grpSpPr>
          <a:xfrm>
            <a:off x="1003200" y="4502858"/>
            <a:ext cx="4958447" cy="121849"/>
            <a:chOff x="1003200" y="4258670"/>
            <a:chExt cx="4958447" cy="121849"/>
          </a:xfrm>
        </p:grpSpPr>
        <p:sp>
          <p:nvSpPr>
            <p:cNvPr id="10" name="TextBox 9">
              <a:extLst>
                <a:ext uri="{FF2B5EF4-FFF2-40B4-BE49-F238E27FC236}">
                  <a16:creationId xmlns:a16="http://schemas.microsoft.com/office/drawing/2014/main" id="{4697908C-FA87-3001-15B1-CAD9A1B50CC7}"/>
                </a:ext>
              </a:extLst>
            </p:cNvPr>
            <p:cNvSpPr txBox="1">
              <a:spLocks/>
            </p:cNvSpPr>
            <p:nvPr/>
          </p:nvSpPr>
          <p:spPr>
            <a:xfrm>
              <a:off x="1003200" y="4258691"/>
              <a:ext cx="1496000" cy="121828"/>
            </a:xfrm>
            <a:prstGeom prst="rect">
              <a:avLst/>
            </a:prstGeom>
            <a:noFill/>
          </p:spPr>
          <p:txBody>
            <a:bodyPr wrap="square" lIns="0" tIns="0" rIns="0" bIns="0" anchor="t">
              <a:spAutoFit/>
            </a:bodyPr>
            <a:lstStyle/>
            <a:p>
              <a:pPr marL="0" marR="0" lvl="0" indent="0" defTabSz="914400" rtl="0" eaLnBrk="1" fontAlgn="auto" latinLnBrk="0" hangingPunct="1">
                <a:lnSpc>
                  <a:spcPct val="110000"/>
                </a:lnSpc>
                <a:spcBef>
                  <a:spcPts val="0"/>
                </a:spcBef>
                <a:spcAft>
                  <a:spcPts val="600"/>
                </a:spcAft>
                <a:buClrTx/>
                <a:buSzTx/>
                <a:buFontTx/>
                <a:buNone/>
                <a:tabLst/>
                <a:defRPr/>
              </a:pPr>
              <a:r>
                <a:rPr kumimoji="0" lang="en-US" sz="780" b="1" i="0" strike="noStrike" kern="1200" cap="none" spc="0" normalizeH="0" baseline="0" noProof="0">
                  <a:ln>
                    <a:noFill/>
                  </a:ln>
                  <a:solidFill>
                    <a:schemeClr val="dk2">
                      <a:lumMod val="100000"/>
                    </a:schemeClr>
                  </a:solidFill>
                  <a:effectLst/>
                  <a:uLnTx/>
                  <a:uFillTx/>
                  <a:ea typeface="+mn-ea"/>
                  <a:cs typeface="+mn-cs"/>
                </a:rPr>
                <a:t>Important notice</a:t>
              </a:r>
            </a:p>
          </p:txBody>
        </p:sp>
        <p:sp>
          <p:nvSpPr>
            <p:cNvPr id="11" name="TextBox 10">
              <a:extLst>
                <a:ext uri="{FF2B5EF4-FFF2-40B4-BE49-F238E27FC236}">
                  <a16:creationId xmlns:a16="http://schemas.microsoft.com/office/drawing/2014/main" id="{A209C5E2-5BE6-6BFE-AB38-61E4A7EC7BA1}"/>
                </a:ext>
              </a:extLst>
            </p:cNvPr>
            <p:cNvSpPr txBox="1">
              <a:spLocks/>
            </p:cNvSpPr>
            <p:nvPr/>
          </p:nvSpPr>
          <p:spPr>
            <a:xfrm>
              <a:off x="2560685" y="4258670"/>
              <a:ext cx="1495999" cy="121828"/>
            </a:xfrm>
            <a:prstGeom prst="rect">
              <a:avLst/>
            </a:prstGeom>
            <a:noFill/>
          </p:spPr>
          <p:txBody>
            <a:bodyPr wrap="square" lIns="0" tIns="0" rIns="0" bIns="0" anchor="t">
              <a:spAutoFit/>
            </a:bodyPr>
            <a:lstStyle/>
            <a:p>
              <a:pPr marL="0" marR="0" lvl="0" indent="0" defTabSz="914400" rtl="0" eaLnBrk="1" fontAlgn="auto" latinLnBrk="0" hangingPunct="1">
                <a:lnSpc>
                  <a:spcPct val="110000"/>
                </a:lnSpc>
                <a:spcBef>
                  <a:spcPts val="0"/>
                </a:spcBef>
                <a:spcAft>
                  <a:spcPts val="600"/>
                </a:spcAft>
                <a:buClrTx/>
                <a:buSzTx/>
                <a:buFontTx/>
                <a:buNone/>
                <a:tabLst/>
                <a:defRPr/>
              </a:pPr>
              <a:r>
                <a:rPr kumimoji="0" lang="en-US" sz="780" b="1" i="0" strike="noStrike" kern="1200" cap="none" spc="0" normalizeH="0" baseline="0" noProof="0">
                  <a:ln>
                    <a:noFill/>
                  </a:ln>
                  <a:solidFill>
                    <a:schemeClr val="dk2">
                      <a:lumMod val="100000"/>
                    </a:schemeClr>
                  </a:solidFill>
                  <a:effectLst/>
                  <a:uLnTx/>
                  <a:uFillTx/>
                  <a:ea typeface="+mn-ea"/>
                  <a:cs typeface="+mn-cs"/>
                </a:rPr>
                <a:t>Basis of preparation</a:t>
              </a:r>
            </a:p>
          </p:txBody>
        </p:sp>
        <p:sp>
          <p:nvSpPr>
            <p:cNvPr id="12" name="TextBox 11">
              <a:extLst>
                <a:ext uri="{FF2B5EF4-FFF2-40B4-BE49-F238E27FC236}">
                  <a16:creationId xmlns:a16="http://schemas.microsoft.com/office/drawing/2014/main" id="{1AEE4EE6-E0B5-F4DE-A53E-190F4AC54892}"/>
                </a:ext>
              </a:extLst>
            </p:cNvPr>
            <p:cNvSpPr txBox="1">
              <a:spLocks/>
            </p:cNvSpPr>
            <p:nvPr/>
          </p:nvSpPr>
          <p:spPr>
            <a:xfrm>
              <a:off x="4300123" y="4258670"/>
              <a:ext cx="1661524" cy="121828"/>
            </a:xfrm>
            <a:prstGeom prst="rect">
              <a:avLst/>
            </a:prstGeom>
            <a:noFill/>
          </p:spPr>
          <p:txBody>
            <a:bodyPr wrap="square" lIns="0" tIns="0" rIns="0" bIns="0" anchor="t">
              <a:spAutoFit/>
            </a:bodyPr>
            <a:lstStyle/>
            <a:p>
              <a:pPr marL="0" marR="0" lvl="0" indent="0" defTabSz="914400" rtl="0" eaLnBrk="1" fontAlgn="auto" latinLnBrk="0" hangingPunct="1">
                <a:lnSpc>
                  <a:spcPct val="110000"/>
                </a:lnSpc>
                <a:spcBef>
                  <a:spcPts val="0"/>
                </a:spcBef>
                <a:spcAft>
                  <a:spcPts val="600"/>
                </a:spcAft>
                <a:buClrTx/>
                <a:buSzTx/>
                <a:buFontTx/>
                <a:buNone/>
                <a:tabLst/>
                <a:defRPr/>
              </a:pPr>
              <a:r>
                <a:rPr kumimoji="0" lang="en-US" sz="780" b="1" i="0" strike="noStrike" kern="1200" cap="none" spc="0" normalizeH="0" baseline="0" noProof="0">
                  <a:ln>
                    <a:noFill/>
                  </a:ln>
                  <a:solidFill>
                    <a:schemeClr val="dk2">
                      <a:lumMod val="100000"/>
                    </a:schemeClr>
                  </a:solidFill>
                  <a:effectLst/>
                  <a:uLnTx/>
                  <a:uFillTx/>
                  <a:ea typeface="+mn-ea"/>
                  <a:cs typeface="+mn-cs"/>
                </a:rPr>
                <a:t>Scope of work</a:t>
              </a:r>
            </a:p>
          </p:txBody>
        </p:sp>
      </p:grpSp>
      <p:pic>
        <p:nvPicPr>
          <p:cNvPr id="16" name="Picture 15">
            <a:hlinkClick r:id="rId7" action="ppaction://hlinksldjump"/>
            <a:extLst>
              <a:ext uri="{FF2B5EF4-FFF2-40B4-BE49-F238E27FC236}">
                <a16:creationId xmlns:a16="http://schemas.microsoft.com/office/drawing/2014/main" id="{72AC8E70-E8D0-D9A4-AB89-552FAB7E35D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99663" y="4705677"/>
            <a:ext cx="896112" cy="506297"/>
          </a:xfrm>
          <a:prstGeom prst="rect">
            <a:avLst/>
          </a:prstGeom>
          <a:ln>
            <a:solidFill>
              <a:schemeClr val="tx1"/>
            </a:solidFill>
          </a:ln>
        </p:spPr>
      </p:pic>
      <p:sp>
        <p:nvSpPr>
          <p:cNvPr id="2" name="Text Placeholder 2">
            <a:extLst>
              <a:ext uri="{FF2B5EF4-FFF2-40B4-BE49-F238E27FC236}">
                <a16:creationId xmlns:a16="http://schemas.microsoft.com/office/drawing/2014/main" id="{0601A7C9-1E70-ECE2-BD5F-4B6AA5C106CD}"/>
              </a:ext>
            </a:extLst>
          </p:cNvPr>
          <p:cNvSpPr txBox="1">
            <a:spLocks/>
          </p:cNvSpPr>
          <p:nvPr/>
        </p:nvSpPr>
        <p:spPr>
          <a:xfrm>
            <a:off x="8556861" y="1347212"/>
            <a:ext cx="2652442" cy="310198"/>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gn="r"/>
            <a:r>
              <a:rPr lang="en-US" sz="800" b="0" dirty="0">
                <a:solidFill>
                  <a:schemeClr val="tx1"/>
                </a:solidFill>
                <a:latin typeface="Arial" panose="020B0604020202020204" pitchFamily="34" charset="0"/>
                <a:cs typeface="Arial" panose="020B0604020202020204" pitchFamily="34" charset="0"/>
              </a:rPr>
              <a:t>June 24, 2025</a:t>
            </a:r>
          </a:p>
        </p:txBody>
      </p:sp>
    </p:spTree>
    <p:extLst>
      <p:ext uri="{BB962C8B-B14F-4D97-AF65-F5344CB8AC3E}">
        <p14:creationId xmlns:p14="http://schemas.microsoft.com/office/powerpoint/2010/main" val="2900451314"/>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846CA-A18C-068B-3A67-1C9BB6426ACE}"/>
              </a:ext>
            </a:extLst>
          </p:cNvPr>
          <p:cNvSpPr>
            <a:spLocks noGrp="1"/>
          </p:cNvSpPr>
          <p:nvPr>
            <p:ph type="title"/>
          </p:nvPr>
        </p:nvSpPr>
        <p:spPr/>
        <p:txBody>
          <a:bodyPr/>
          <a:lstStyle/>
          <a:p>
            <a:r>
              <a:rPr lang="en-US"/>
              <a:t>Contents</a:t>
            </a:r>
          </a:p>
        </p:txBody>
      </p:sp>
      <p:sp>
        <p:nvSpPr>
          <p:cNvPr id="3634" name="Rectangle 3633">
            <a:extLst>
              <a:ext uri="{FF2B5EF4-FFF2-40B4-BE49-F238E27FC236}">
                <a16:creationId xmlns:a16="http://schemas.microsoft.com/office/drawing/2014/main" id="{8F2D857B-E5D5-71FB-D6C0-ED5525B6C2AD}"/>
              </a:ext>
            </a:extLst>
          </p:cNvPr>
          <p:cNvSpPr/>
          <p:nvPr/>
        </p:nvSpPr>
        <p:spPr>
          <a:xfrm>
            <a:off x="11215923" y="774366"/>
            <a:ext cx="504946" cy="153888"/>
          </a:xfrm>
          <a:prstGeom prst="rect">
            <a:avLst/>
          </a:prstGeom>
        </p:spPr>
        <p:txBody>
          <a:bodyPr wrap="none" lIns="0" tIns="0" rIns="0" bIns="0" anchor="ctr">
            <a:spAutoFit/>
          </a:bodyPr>
          <a:lstStyle/>
          <a:p>
            <a:pPr algn="r"/>
            <a:r>
              <a:rPr lang="en-US" sz="1000" dirty="0">
                <a:solidFill>
                  <a:schemeClr val="tx2"/>
                </a:solidFill>
              </a:rPr>
              <a:t>Glossary</a:t>
            </a:r>
          </a:p>
        </p:txBody>
      </p:sp>
      <p:pic>
        <p:nvPicPr>
          <p:cNvPr id="3637" name="Picture 3636">
            <a:hlinkClick r:id="rId84" action="ppaction://hlinksldjump"/>
            <a:extLst>
              <a:ext uri="{FF2B5EF4-FFF2-40B4-BE49-F238E27FC236}">
                <a16:creationId xmlns:a16="http://schemas.microsoft.com/office/drawing/2014/main" id="{BA210632-D393-17D8-45A0-D12F65EEC20F}"/>
              </a:ext>
            </a:extLst>
          </p:cNvPr>
          <p:cNvPicPr>
            <a:picLocks noChangeAspect="1"/>
          </p:cNvPicPr>
          <p:nvPr/>
        </p:nvPicPr>
        <p:blipFill>
          <a:blip r:embed="rId85"/>
          <a:stretch>
            <a:fillRect/>
          </a:stretch>
        </p:blipFill>
        <p:spPr>
          <a:xfrm>
            <a:off x="11828635" y="716873"/>
            <a:ext cx="254677" cy="254677"/>
          </a:xfrm>
          <a:prstGeom prst="rect">
            <a:avLst/>
          </a:prstGeom>
        </p:spPr>
      </p:pic>
      <p:sp>
        <p:nvSpPr>
          <p:cNvPr id="3635" name="Rectangle 3634">
            <a:extLst>
              <a:ext uri="{FF2B5EF4-FFF2-40B4-BE49-F238E27FC236}">
                <a16:creationId xmlns:a16="http://schemas.microsoft.com/office/drawing/2014/main" id="{4F4BC75C-9AE6-FA29-E21D-622BC49BC288}"/>
              </a:ext>
            </a:extLst>
          </p:cNvPr>
          <p:cNvSpPr/>
          <p:nvPr/>
        </p:nvSpPr>
        <p:spPr>
          <a:xfrm>
            <a:off x="10834408" y="1097077"/>
            <a:ext cx="886461" cy="153888"/>
          </a:xfrm>
          <a:prstGeom prst="rect">
            <a:avLst/>
          </a:prstGeom>
        </p:spPr>
        <p:txBody>
          <a:bodyPr wrap="none" lIns="0" tIns="0" rIns="0" bIns="0" anchor="ctr">
            <a:spAutoFit/>
          </a:bodyPr>
          <a:lstStyle/>
          <a:p>
            <a:pPr algn="r"/>
            <a:r>
              <a:rPr lang="en-US" sz="1000">
                <a:solidFill>
                  <a:schemeClr val="tx2"/>
                </a:solidFill>
              </a:rPr>
              <a:t>KPMG contacts</a:t>
            </a:r>
          </a:p>
        </p:txBody>
      </p:sp>
      <p:pic>
        <p:nvPicPr>
          <p:cNvPr id="3638" name="Picture 3637">
            <a:hlinkClick r:id="rId86" action="ppaction://hlinksldjump"/>
            <a:extLst>
              <a:ext uri="{FF2B5EF4-FFF2-40B4-BE49-F238E27FC236}">
                <a16:creationId xmlns:a16="http://schemas.microsoft.com/office/drawing/2014/main" id="{D75226A7-5802-B6EC-5CDB-4BA803508891}"/>
              </a:ext>
            </a:extLst>
          </p:cNvPr>
          <p:cNvPicPr>
            <a:picLocks noChangeAspect="1"/>
          </p:cNvPicPr>
          <p:nvPr/>
        </p:nvPicPr>
        <p:blipFill>
          <a:blip r:embed="rId87"/>
          <a:stretch>
            <a:fillRect/>
          </a:stretch>
        </p:blipFill>
        <p:spPr>
          <a:xfrm>
            <a:off x="11828635" y="1039584"/>
            <a:ext cx="254677" cy="254677"/>
          </a:xfrm>
          <a:prstGeom prst="rect">
            <a:avLst/>
          </a:prstGeom>
        </p:spPr>
      </p:pic>
      <p:sp>
        <p:nvSpPr>
          <p:cNvPr id="30994" name="TextBox 30993">
            <a:hlinkClick r:id="rId88" action="ppaction://hlinksldjump"/>
            <a:extLst>
              <a:ext uri="{FF2B5EF4-FFF2-40B4-BE49-F238E27FC236}">
                <a16:creationId xmlns:a16="http://schemas.microsoft.com/office/drawing/2014/main" id="{55059917-3B78-8B13-9AC5-0CACF80B0081}"/>
              </a:ext>
            </a:extLst>
          </p:cNvPr>
          <p:cNvSpPr txBox="1"/>
          <p:nvPr>
            <p:custDataLst>
              <p:tags r:id="rId2"/>
            </p:custDataLst>
          </p:nvPr>
        </p:nvSpPr>
        <p:spPr>
          <a:xfrm>
            <a:off x="1249682" y="1229360"/>
            <a:ext cx="3942077" cy="347289"/>
          </a:xfrm>
          <a:prstGeom prst="rect">
            <a:avLst/>
          </a:prstGeom>
          <a:noFill/>
        </p:spPr>
        <p:txBody>
          <a:bodyPr vert="horz" wrap="square" lIns="0" tIns="0" rIns="0" bIns="0" rtlCol="0" anchor="t">
            <a:noAutofit/>
          </a:bodyPr>
          <a:lstStyle/>
          <a:p>
            <a:pPr algn="l"/>
            <a:r>
              <a:rPr lang="en-US" sz="2400" b="0">
                <a:solidFill>
                  <a:schemeClr val="tx2"/>
                </a:solidFill>
                <a:latin typeface="+mj-lt"/>
                <a:cs typeface="Arial" panose="020B0604020202020204" pitchFamily="34" charset="0"/>
              </a:rPr>
              <a:t>Executive summary</a:t>
            </a:r>
          </a:p>
        </p:txBody>
      </p:sp>
      <p:sp>
        <p:nvSpPr>
          <p:cNvPr id="30995" name="TextBox 30994">
            <a:hlinkClick r:id="rId89" action="ppaction://hlinksldjump"/>
            <a:extLst>
              <a:ext uri="{FF2B5EF4-FFF2-40B4-BE49-F238E27FC236}">
                <a16:creationId xmlns:a16="http://schemas.microsoft.com/office/drawing/2014/main" id="{2F4DB303-8FC5-6FDA-EEFA-8D1D02BC581A}"/>
              </a:ext>
            </a:extLst>
          </p:cNvPr>
          <p:cNvSpPr txBox="1"/>
          <p:nvPr>
            <p:custDataLst>
              <p:tags r:id="rId3"/>
            </p:custDataLst>
          </p:nvPr>
        </p:nvSpPr>
        <p:spPr>
          <a:xfrm>
            <a:off x="1249682" y="160782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Company &amp; transaction overview</a:t>
            </a:r>
          </a:p>
        </p:txBody>
      </p:sp>
      <p:sp>
        <p:nvSpPr>
          <p:cNvPr id="30996" name="TextBox 30995">
            <a:hlinkClick r:id="rId90" action="ppaction://hlinksldjump"/>
            <a:extLst>
              <a:ext uri="{FF2B5EF4-FFF2-40B4-BE49-F238E27FC236}">
                <a16:creationId xmlns:a16="http://schemas.microsoft.com/office/drawing/2014/main" id="{B5C15601-BD7C-B2A3-3215-98FEBD5BC783}"/>
              </a:ext>
            </a:extLst>
          </p:cNvPr>
          <p:cNvSpPr txBox="1"/>
          <p:nvPr>
            <p:custDataLst>
              <p:tags r:id="rId4"/>
            </p:custDataLst>
          </p:nvPr>
        </p:nvSpPr>
        <p:spPr>
          <a:xfrm>
            <a:off x="1249682" y="174652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Summary financials</a:t>
            </a:r>
          </a:p>
        </p:txBody>
      </p:sp>
      <p:sp>
        <p:nvSpPr>
          <p:cNvPr id="30997" name="TextBox 30996">
            <a:hlinkClick r:id="rId91" action="ppaction://hlinksldjump"/>
            <a:extLst>
              <a:ext uri="{FF2B5EF4-FFF2-40B4-BE49-F238E27FC236}">
                <a16:creationId xmlns:a16="http://schemas.microsoft.com/office/drawing/2014/main" id="{F2F44C3F-F9F9-C26D-BE8F-E26E1840096C}"/>
              </a:ext>
            </a:extLst>
          </p:cNvPr>
          <p:cNvSpPr txBox="1"/>
          <p:nvPr>
            <p:custDataLst>
              <p:tags r:id="rId5"/>
            </p:custDataLst>
          </p:nvPr>
        </p:nvSpPr>
        <p:spPr>
          <a:xfrm>
            <a:off x="1249682" y="188522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Headlines</a:t>
            </a:r>
          </a:p>
        </p:txBody>
      </p:sp>
      <p:sp>
        <p:nvSpPr>
          <p:cNvPr id="30998" name="TextBox 30997">
            <a:hlinkClick r:id="rId92" action="ppaction://hlinksldjump"/>
            <a:extLst>
              <a:ext uri="{FF2B5EF4-FFF2-40B4-BE49-F238E27FC236}">
                <a16:creationId xmlns:a16="http://schemas.microsoft.com/office/drawing/2014/main" id="{1666127D-6578-2697-06FA-845FE5A8CCC4}"/>
              </a:ext>
            </a:extLst>
          </p:cNvPr>
          <p:cNvSpPr txBox="1"/>
          <p:nvPr>
            <p:custDataLst>
              <p:tags r:id="rId6"/>
            </p:custDataLst>
          </p:nvPr>
        </p:nvSpPr>
        <p:spPr>
          <a:xfrm>
            <a:off x="1249682" y="2074720"/>
            <a:ext cx="3942077" cy="347289"/>
          </a:xfrm>
          <a:prstGeom prst="rect">
            <a:avLst/>
          </a:prstGeom>
          <a:noFill/>
        </p:spPr>
        <p:txBody>
          <a:bodyPr vert="horz" wrap="square" lIns="0" tIns="0" rIns="0" bIns="0" rtlCol="0" anchor="t">
            <a:noAutofit/>
          </a:bodyPr>
          <a:lstStyle/>
          <a:p>
            <a:pPr algn="l"/>
            <a:r>
              <a:rPr lang="en-US" sz="2400" b="0">
                <a:solidFill>
                  <a:schemeClr val="tx2"/>
                </a:solidFill>
                <a:latin typeface="+mj-lt"/>
                <a:cs typeface="Arial" panose="020B0604020202020204" pitchFamily="34" charset="0"/>
              </a:rPr>
              <a:t>Quality of revenue / ARR</a:t>
            </a:r>
          </a:p>
        </p:txBody>
      </p:sp>
      <p:sp>
        <p:nvSpPr>
          <p:cNvPr id="30999" name="TextBox 30998">
            <a:hlinkClick r:id="rId93" action="ppaction://hlinksldjump"/>
            <a:extLst>
              <a:ext uri="{FF2B5EF4-FFF2-40B4-BE49-F238E27FC236}">
                <a16:creationId xmlns:a16="http://schemas.microsoft.com/office/drawing/2014/main" id="{E57AF182-004B-90C0-9B5E-EFCDB4148E12}"/>
              </a:ext>
            </a:extLst>
          </p:cNvPr>
          <p:cNvSpPr txBox="1"/>
          <p:nvPr>
            <p:custDataLst>
              <p:tags r:id="rId7"/>
            </p:custDataLst>
          </p:nvPr>
        </p:nvSpPr>
        <p:spPr>
          <a:xfrm>
            <a:off x="1249682" y="245318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ARR summary</a:t>
            </a:r>
          </a:p>
        </p:txBody>
      </p:sp>
      <p:sp>
        <p:nvSpPr>
          <p:cNvPr id="31000" name="TextBox 30999">
            <a:hlinkClick r:id="rId94" action="ppaction://hlinksldjump"/>
            <a:extLst>
              <a:ext uri="{FF2B5EF4-FFF2-40B4-BE49-F238E27FC236}">
                <a16:creationId xmlns:a16="http://schemas.microsoft.com/office/drawing/2014/main" id="{F067E2D0-CC4C-2F73-629E-681870184973}"/>
              </a:ext>
            </a:extLst>
          </p:cNvPr>
          <p:cNvSpPr txBox="1"/>
          <p:nvPr>
            <p:custDataLst>
              <p:tags r:id="rId8"/>
            </p:custDataLst>
          </p:nvPr>
        </p:nvSpPr>
        <p:spPr>
          <a:xfrm>
            <a:off x="1249682" y="259188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ARR adjustments</a:t>
            </a:r>
          </a:p>
        </p:txBody>
      </p:sp>
      <p:sp>
        <p:nvSpPr>
          <p:cNvPr id="31001" name="TextBox 31000">
            <a:hlinkClick r:id="rId95" action="ppaction://hlinksldjump"/>
            <a:extLst>
              <a:ext uri="{FF2B5EF4-FFF2-40B4-BE49-F238E27FC236}">
                <a16:creationId xmlns:a16="http://schemas.microsoft.com/office/drawing/2014/main" id="{995262CE-5489-512F-3910-4CAA08DA8486}"/>
              </a:ext>
            </a:extLst>
          </p:cNvPr>
          <p:cNvSpPr txBox="1"/>
          <p:nvPr>
            <p:custDataLst>
              <p:tags r:id="rId9"/>
            </p:custDataLst>
          </p:nvPr>
        </p:nvSpPr>
        <p:spPr>
          <a:xfrm>
            <a:off x="1249682" y="273058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MRR to revenue reconciliation</a:t>
            </a:r>
          </a:p>
        </p:txBody>
      </p:sp>
      <p:sp>
        <p:nvSpPr>
          <p:cNvPr id="31002" name="TextBox 31001">
            <a:hlinkClick r:id="rId96" action="ppaction://hlinksldjump"/>
            <a:extLst>
              <a:ext uri="{FF2B5EF4-FFF2-40B4-BE49-F238E27FC236}">
                <a16:creationId xmlns:a16="http://schemas.microsoft.com/office/drawing/2014/main" id="{9088FB6F-B1A4-3031-5EC6-005480112169}"/>
              </a:ext>
            </a:extLst>
          </p:cNvPr>
          <p:cNvSpPr txBox="1"/>
          <p:nvPr>
            <p:custDataLst>
              <p:tags r:id="rId10"/>
            </p:custDataLst>
          </p:nvPr>
        </p:nvSpPr>
        <p:spPr>
          <a:xfrm>
            <a:off x="1249682" y="286928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Revenue to cash reconciliation</a:t>
            </a:r>
          </a:p>
        </p:txBody>
      </p:sp>
      <p:sp>
        <p:nvSpPr>
          <p:cNvPr id="31003" name="TextBox 31002">
            <a:hlinkClick r:id="rId97" action="ppaction://hlinksldjump"/>
            <a:extLst>
              <a:ext uri="{FF2B5EF4-FFF2-40B4-BE49-F238E27FC236}">
                <a16:creationId xmlns:a16="http://schemas.microsoft.com/office/drawing/2014/main" id="{A7C447C6-31D7-650A-7C8A-8A8BC1224EAC}"/>
              </a:ext>
            </a:extLst>
          </p:cNvPr>
          <p:cNvSpPr txBox="1"/>
          <p:nvPr>
            <p:custDataLst>
              <p:tags r:id="rId11"/>
            </p:custDataLst>
          </p:nvPr>
        </p:nvSpPr>
        <p:spPr>
          <a:xfrm>
            <a:off x="1249682" y="3058780"/>
            <a:ext cx="3942077" cy="347289"/>
          </a:xfrm>
          <a:prstGeom prst="rect">
            <a:avLst/>
          </a:prstGeom>
          <a:noFill/>
        </p:spPr>
        <p:txBody>
          <a:bodyPr vert="horz" wrap="square" lIns="0" tIns="0" rIns="0" bIns="0" rtlCol="0" anchor="t">
            <a:noAutofit/>
          </a:bodyPr>
          <a:lstStyle/>
          <a:p>
            <a:pPr algn="l"/>
            <a:r>
              <a:rPr lang="en-US" sz="2400" b="0">
                <a:solidFill>
                  <a:schemeClr val="tx2"/>
                </a:solidFill>
                <a:latin typeface="+mj-lt"/>
                <a:cs typeface="Arial" panose="020B0604020202020204" pitchFamily="34" charset="0"/>
              </a:rPr>
              <a:t>Quality of earnings / run rate</a:t>
            </a:r>
          </a:p>
        </p:txBody>
      </p:sp>
      <p:sp>
        <p:nvSpPr>
          <p:cNvPr id="31004" name="TextBox 31003">
            <a:hlinkClick r:id="rId98" action="ppaction://hlinksldjump"/>
            <a:extLst>
              <a:ext uri="{FF2B5EF4-FFF2-40B4-BE49-F238E27FC236}">
                <a16:creationId xmlns:a16="http://schemas.microsoft.com/office/drawing/2014/main" id="{8101CE5B-1521-F3FA-8959-0B6732981D1A}"/>
              </a:ext>
            </a:extLst>
          </p:cNvPr>
          <p:cNvSpPr txBox="1"/>
          <p:nvPr>
            <p:custDataLst>
              <p:tags r:id="rId12"/>
            </p:custDataLst>
          </p:nvPr>
        </p:nvSpPr>
        <p:spPr>
          <a:xfrm>
            <a:off x="1249682" y="343724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Quality of Earnings</a:t>
            </a:r>
          </a:p>
        </p:txBody>
      </p:sp>
      <p:sp>
        <p:nvSpPr>
          <p:cNvPr id="31005" name="TextBox 31004">
            <a:hlinkClick r:id="rId99" action="ppaction://hlinksldjump"/>
            <a:extLst>
              <a:ext uri="{FF2B5EF4-FFF2-40B4-BE49-F238E27FC236}">
                <a16:creationId xmlns:a16="http://schemas.microsoft.com/office/drawing/2014/main" id="{7A7F1E64-7140-BF26-A533-462DF3CE98D2}"/>
              </a:ext>
            </a:extLst>
          </p:cNvPr>
          <p:cNvSpPr txBox="1"/>
          <p:nvPr>
            <p:custDataLst>
              <p:tags r:id="rId13"/>
            </p:custDataLst>
          </p:nvPr>
        </p:nvSpPr>
        <p:spPr>
          <a:xfrm>
            <a:off x="1249682" y="3626740"/>
            <a:ext cx="3942077" cy="347289"/>
          </a:xfrm>
          <a:prstGeom prst="rect">
            <a:avLst/>
          </a:prstGeom>
          <a:noFill/>
        </p:spPr>
        <p:txBody>
          <a:bodyPr vert="horz" wrap="square" lIns="0" tIns="0" rIns="0" bIns="0" rtlCol="0" anchor="t">
            <a:noAutofit/>
          </a:bodyPr>
          <a:lstStyle/>
          <a:p>
            <a:pPr algn="l"/>
            <a:r>
              <a:rPr lang="en-US" sz="2400" b="0">
                <a:solidFill>
                  <a:schemeClr val="tx2"/>
                </a:solidFill>
                <a:latin typeface="+mj-lt"/>
                <a:cs typeface="Arial" panose="020B0604020202020204" pitchFamily="34" charset="0"/>
              </a:rPr>
              <a:t>Balance sheet</a:t>
            </a:r>
          </a:p>
        </p:txBody>
      </p:sp>
      <p:sp>
        <p:nvSpPr>
          <p:cNvPr id="31006" name="TextBox 31005">
            <a:hlinkClick r:id="rId100" action="ppaction://hlinksldjump"/>
            <a:extLst>
              <a:ext uri="{FF2B5EF4-FFF2-40B4-BE49-F238E27FC236}">
                <a16:creationId xmlns:a16="http://schemas.microsoft.com/office/drawing/2014/main" id="{B3A09E6D-DB87-6FEC-161E-D04DCDA4A9E1}"/>
              </a:ext>
            </a:extLst>
          </p:cNvPr>
          <p:cNvSpPr txBox="1"/>
          <p:nvPr>
            <p:custDataLst>
              <p:tags r:id="rId14"/>
            </p:custDataLst>
          </p:nvPr>
        </p:nvSpPr>
        <p:spPr>
          <a:xfrm>
            <a:off x="1249682" y="400520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Balance sheet overview</a:t>
            </a:r>
          </a:p>
        </p:txBody>
      </p:sp>
      <p:sp>
        <p:nvSpPr>
          <p:cNvPr id="31007" name="TextBox 31006">
            <a:hlinkClick r:id="rId101" action="ppaction://hlinksldjump"/>
            <a:extLst>
              <a:ext uri="{FF2B5EF4-FFF2-40B4-BE49-F238E27FC236}">
                <a16:creationId xmlns:a16="http://schemas.microsoft.com/office/drawing/2014/main" id="{4BE48CFE-0F43-ACC9-22BB-90A15353A65D}"/>
              </a:ext>
            </a:extLst>
          </p:cNvPr>
          <p:cNvSpPr txBox="1"/>
          <p:nvPr>
            <p:custDataLst>
              <p:tags r:id="rId15"/>
            </p:custDataLst>
          </p:nvPr>
        </p:nvSpPr>
        <p:spPr>
          <a:xfrm>
            <a:off x="1249682" y="414390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Net working capital</a:t>
            </a:r>
          </a:p>
        </p:txBody>
      </p:sp>
      <p:sp>
        <p:nvSpPr>
          <p:cNvPr id="31008" name="TextBox 31007">
            <a:hlinkClick r:id="rId102" action="ppaction://hlinksldjump"/>
            <a:extLst>
              <a:ext uri="{FF2B5EF4-FFF2-40B4-BE49-F238E27FC236}">
                <a16:creationId xmlns:a16="http://schemas.microsoft.com/office/drawing/2014/main" id="{DF1CB036-C08B-F396-ABE5-CA77FDA1068C}"/>
              </a:ext>
            </a:extLst>
          </p:cNvPr>
          <p:cNvSpPr txBox="1"/>
          <p:nvPr>
            <p:custDataLst>
              <p:tags r:id="rId16"/>
            </p:custDataLst>
          </p:nvPr>
        </p:nvSpPr>
        <p:spPr>
          <a:xfrm>
            <a:off x="1249682" y="428260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Net debt</a:t>
            </a:r>
          </a:p>
        </p:txBody>
      </p:sp>
      <p:sp>
        <p:nvSpPr>
          <p:cNvPr id="31009" name="TextBox 31008">
            <a:hlinkClick r:id="rId103" action="ppaction://hlinksldjump"/>
            <a:extLst>
              <a:ext uri="{FF2B5EF4-FFF2-40B4-BE49-F238E27FC236}">
                <a16:creationId xmlns:a16="http://schemas.microsoft.com/office/drawing/2014/main" id="{07A4CA21-944B-9678-F360-9BF282ED55B6}"/>
              </a:ext>
            </a:extLst>
          </p:cNvPr>
          <p:cNvSpPr txBox="1"/>
          <p:nvPr>
            <p:custDataLst>
              <p:tags r:id="rId17"/>
            </p:custDataLst>
          </p:nvPr>
        </p:nvSpPr>
        <p:spPr>
          <a:xfrm>
            <a:off x="1249682" y="4472100"/>
            <a:ext cx="3942077" cy="347289"/>
          </a:xfrm>
          <a:prstGeom prst="rect">
            <a:avLst/>
          </a:prstGeom>
          <a:noFill/>
        </p:spPr>
        <p:txBody>
          <a:bodyPr vert="horz" wrap="square" lIns="0" tIns="0" rIns="0" bIns="0" rtlCol="0" anchor="t">
            <a:noAutofit/>
          </a:bodyPr>
          <a:lstStyle/>
          <a:p>
            <a:pPr algn="l"/>
            <a:r>
              <a:rPr lang="en-US" sz="2400" b="0">
                <a:solidFill>
                  <a:schemeClr val="tx2"/>
                </a:solidFill>
                <a:latin typeface="+mj-lt"/>
                <a:cs typeface="Arial" panose="020B0604020202020204" pitchFamily="34" charset="0"/>
              </a:rPr>
              <a:t>Financial reporting &amp; GAAP considerations</a:t>
            </a:r>
          </a:p>
        </p:txBody>
      </p:sp>
      <p:sp>
        <p:nvSpPr>
          <p:cNvPr id="31010" name="TextBox 31009">
            <a:hlinkClick r:id="rId104" action="ppaction://hlinksldjump"/>
            <a:extLst>
              <a:ext uri="{FF2B5EF4-FFF2-40B4-BE49-F238E27FC236}">
                <a16:creationId xmlns:a16="http://schemas.microsoft.com/office/drawing/2014/main" id="{2306772A-273C-8832-4FA7-E54E7464C284}"/>
              </a:ext>
            </a:extLst>
          </p:cNvPr>
          <p:cNvSpPr txBox="1"/>
          <p:nvPr>
            <p:custDataLst>
              <p:tags r:id="rId18"/>
            </p:custDataLst>
          </p:nvPr>
        </p:nvSpPr>
        <p:spPr>
          <a:xfrm>
            <a:off x="1249682" y="485056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Financial reporting environment</a:t>
            </a:r>
          </a:p>
        </p:txBody>
      </p:sp>
      <p:sp>
        <p:nvSpPr>
          <p:cNvPr id="31011" name="TextBox 31010">
            <a:hlinkClick r:id="rId105" action="ppaction://hlinksldjump"/>
            <a:extLst>
              <a:ext uri="{FF2B5EF4-FFF2-40B4-BE49-F238E27FC236}">
                <a16:creationId xmlns:a16="http://schemas.microsoft.com/office/drawing/2014/main" id="{E4D3F4C2-49F6-C188-4766-4C3125E0E1DC}"/>
              </a:ext>
            </a:extLst>
          </p:cNvPr>
          <p:cNvSpPr txBox="1"/>
          <p:nvPr>
            <p:custDataLst>
              <p:tags r:id="rId19"/>
            </p:custDataLst>
          </p:nvPr>
        </p:nvSpPr>
        <p:spPr>
          <a:xfrm>
            <a:off x="1249682" y="498926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GAAP differences</a:t>
            </a:r>
          </a:p>
        </p:txBody>
      </p:sp>
      <p:sp>
        <p:nvSpPr>
          <p:cNvPr id="31015" name="TextBox 31014">
            <a:hlinkClick r:id="rId84" action="ppaction://hlinksldjump"/>
            <a:extLst>
              <a:ext uri="{FF2B5EF4-FFF2-40B4-BE49-F238E27FC236}">
                <a16:creationId xmlns:a16="http://schemas.microsoft.com/office/drawing/2014/main" id="{35F31C6B-8AC9-6883-D877-B204AE50D992}"/>
              </a:ext>
            </a:extLst>
          </p:cNvPr>
          <p:cNvSpPr txBox="1"/>
          <p:nvPr>
            <p:custDataLst>
              <p:tags r:id="rId20"/>
            </p:custDataLst>
          </p:nvPr>
        </p:nvSpPr>
        <p:spPr>
          <a:xfrm>
            <a:off x="5904464" y="1870710"/>
            <a:ext cx="445273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Stratified balance sheet</a:t>
            </a:r>
          </a:p>
        </p:txBody>
      </p:sp>
      <p:sp>
        <p:nvSpPr>
          <p:cNvPr id="31016" name="TextBox 31015">
            <a:hlinkClick r:id="rId106" action="ppaction://hlinksldjump"/>
            <a:extLst>
              <a:ext uri="{FF2B5EF4-FFF2-40B4-BE49-F238E27FC236}">
                <a16:creationId xmlns:a16="http://schemas.microsoft.com/office/drawing/2014/main" id="{8B0AA20C-B321-8A68-5710-4892071CCAB8}"/>
              </a:ext>
            </a:extLst>
          </p:cNvPr>
          <p:cNvSpPr txBox="1"/>
          <p:nvPr>
            <p:custDataLst>
              <p:tags r:id="rId21"/>
            </p:custDataLst>
          </p:nvPr>
        </p:nvSpPr>
        <p:spPr>
          <a:xfrm>
            <a:off x="5904463" y="200941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Corporate chart vLex Group</a:t>
            </a:r>
          </a:p>
        </p:txBody>
      </p:sp>
      <p:sp>
        <p:nvSpPr>
          <p:cNvPr id="31017" name="TextBox 31016">
            <a:hlinkClick r:id="rId107" action="ppaction://hlinksldjump"/>
            <a:extLst>
              <a:ext uri="{FF2B5EF4-FFF2-40B4-BE49-F238E27FC236}">
                <a16:creationId xmlns:a16="http://schemas.microsoft.com/office/drawing/2014/main" id="{11FA073C-F173-BBF3-8FA1-26903B23BC99}"/>
              </a:ext>
            </a:extLst>
          </p:cNvPr>
          <p:cNvSpPr txBox="1"/>
          <p:nvPr>
            <p:custDataLst>
              <p:tags r:id="rId22"/>
            </p:custDataLst>
          </p:nvPr>
        </p:nvSpPr>
        <p:spPr>
          <a:xfrm>
            <a:off x="5904463" y="214811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Important notice</a:t>
            </a:r>
          </a:p>
        </p:txBody>
      </p:sp>
      <p:sp>
        <p:nvSpPr>
          <p:cNvPr id="31018" name="TextBox 31017">
            <a:hlinkClick r:id="rId108" action="ppaction://hlinksldjump"/>
            <a:extLst>
              <a:ext uri="{FF2B5EF4-FFF2-40B4-BE49-F238E27FC236}">
                <a16:creationId xmlns:a16="http://schemas.microsoft.com/office/drawing/2014/main" id="{ACE4A378-4103-BE2A-482E-D870FC8B0A7E}"/>
              </a:ext>
            </a:extLst>
          </p:cNvPr>
          <p:cNvSpPr txBox="1"/>
          <p:nvPr>
            <p:custDataLst>
              <p:tags r:id="rId23"/>
            </p:custDataLst>
          </p:nvPr>
        </p:nvSpPr>
        <p:spPr>
          <a:xfrm>
            <a:off x="5904463" y="228681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Basis of preparation</a:t>
            </a:r>
          </a:p>
        </p:txBody>
      </p:sp>
      <p:sp>
        <p:nvSpPr>
          <p:cNvPr id="31019" name="TextBox 31018">
            <a:hlinkClick r:id="rId109" action="ppaction://hlinksldjump"/>
            <a:extLst>
              <a:ext uri="{FF2B5EF4-FFF2-40B4-BE49-F238E27FC236}">
                <a16:creationId xmlns:a16="http://schemas.microsoft.com/office/drawing/2014/main" id="{28EEC8E5-C437-B0DE-3749-D6D1F8A090A5}"/>
              </a:ext>
            </a:extLst>
          </p:cNvPr>
          <p:cNvSpPr txBox="1"/>
          <p:nvPr>
            <p:custDataLst>
              <p:tags r:id="rId24"/>
            </p:custDataLst>
          </p:nvPr>
        </p:nvSpPr>
        <p:spPr>
          <a:xfrm>
            <a:off x="5904463" y="242551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Scope of work</a:t>
            </a:r>
          </a:p>
        </p:txBody>
      </p:sp>
      <p:sp>
        <p:nvSpPr>
          <p:cNvPr id="31020" name="TextBox 31019">
            <a:hlinkClick r:id="rId86" action="ppaction://hlinksldjump"/>
            <a:extLst>
              <a:ext uri="{FF2B5EF4-FFF2-40B4-BE49-F238E27FC236}">
                <a16:creationId xmlns:a16="http://schemas.microsoft.com/office/drawing/2014/main" id="{AC9B6A14-982D-D605-F478-6D1E860EBC12}"/>
              </a:ext>
            </a:extLst>
          </p:cNvPr>
          <p:cNvSpPr txBox="1"/>
          <p:nvPr>
            <p:custDataLst>
              <p:tags r:id="rId25"/>
            </p:custDataLst>
          </p:nvPr>
        </p:nvSpPr>
        <p:spPr>
          <a:xfrm>
            <a:off x="5904463" y="256421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dirty="0">
                <a:solidFill>
                  <a:schemeClr val="tx2"/>
                </a:solidFill>
                <a:latin typeface="+mn-lt"/>
                <a:cs typeface="Arial" panose="020B0604020202020204" pitchFamily="34" charset="0"/>
              </a:rPr>
              <a:t>Glossary</a:t>
            </a:r>
          </a:p>
        </p:txBody>
      </p:sp>
      <p:sp>
        <p:nvSpPr>
          <p:cNvPr id="31021" name="TextBox 31020">
            <a:hlinkClick r:id="rId88" action="ppaction://hlinksldjump"/>
            <a:extLst>
              <a:ext uri="{FF2B5EF4-FFF2-40B4-BE49-F238E27FC236}">
                <a16:creationId xmlns:a16="http://schemas.microsoft.com/office/drawing/2014/main" id="{A38F3D26-1038-19DE-B269-4D24388B1E99}"/>
              </a:ext>
            </a:extLst>
          </p:cNvPr>
          <p:cNvSpPr txBox="1"/>
          <p:nvPr>
            <p:custDataLst>
              <p:tags r:id="rId26"/>
            </p:custDataLst>
          </p:nvPr>
        </p:nvSpPr>
        <p:spPr>
          <a:xfrm>
            <a:off x="798977" y="1229360"/>
            <a:ext cx="338308" cy="347289"/>
          </a:xfrm>
          <a:prstGeom prst="rect">
            <a:avLst/>
          </a:prstGeom>
          <a:noFill/>
          <a:ln>
            <a:noFill/>
          </a:ln>
        </p:spPr>
        <p:txBody>
          <a:bodyPr vert="horz" wrap="none" lIns="0" tIns="0" rIns="0" bIns="0" rtlCol="0" anchor="t" anchorCtr="0">
            <a:noAutofit/>
          </a:bodyPr>
          <a:lstStyle/>
          <a:p>
            <a:pPr algn="r"/>
            <a:r>
              <a:rPr lang="en-US" sz="2400" b="0">
                <a:ln>
                  <a:noFill/>
                </a:ln>
                <a:solidFill>
                  <a:schemeClr val="tx2"/>
                </a:solidFill>
                <a:latin typeface="+mj-lt"/>
                <a:cs typeface="Arial" panose="020B0604020202020204" pitchFamily="34" charset="0"/>
              </a:rPr>
              <a:t>01</a:t>
            </a:r>
          </a:p>
        </p:txBody>
      </p:sp>
      <p:sp>
        <p:nvSpPr>
          <p:cNvPr id="31022" name="TextBox 31021">
            <a:hlinkClick r:id="rId92" action="ppaction://hlinksldjump"/>
            <a:extLst>
              <a:ext uri="{FF2B5EF4-FFF2-40B4-BE49-F238E27FC236}">
                <a16:creationId xmlns:a16="http://schemas.microsoft.com/office/drawing/2014/main" id="{130C9032-2ED1-D998-28D6-ACD02EEFB9A6}"/>
              </a:ext>
            </a:extLst>
          </p:cNvPr>
          <p:cNvSpPr txBox="1"/>
          <p:nvPr>
            <p:custDataLst>
              <p:tags r:id="rId27"/>
            </p:custDataLst>
          </p:nvPr>
        </p:nvSpPr>
        <p:spPr>
          <a:xfrm>
            <a:off x="798977" y="2074720"/>
            <a:ext cx="338308" cy="347289"/>
          </a:xfrm>
          <a:prstGeom prst="rect">
            <a:avLst/>
          </a:prstGeom>
          <a:noFill/>
          <a:ln>
            <a:noFill/>
          </a:ln>
        </p:spPr>
        <p:txBody>
          <a:bodyPr vert="horz" wrap="none" lIns="0" tIns="0" rIns="0" bIns="0" rtlCol="0" anchor="t" anchorCtr="0">
            <a:noAutofit/>
          </a:bodyPr>
          <a:lstStyle/>
          <a:p>
            <a:pPr algn="r"/>
            <a:r>
              <a:rPr lang="en-US" sz="2400" b="0">
                <a:ln>
                  <a:noFill/>
                </a:ln>
                <a:solidFill>
                  <a:schemeClr val="tx2"/>
                </a:solidFill>
                <a:latin typeface="+mj-lt"/>
                <a:cs typeface="Arial" panose="020B0604020202020204" pitchFamily="34" charset="0"/>
              </a:rPr>
              <a:t>02</a:t>
            </a:r>
          </a:p>
        </p:txBody>
      </p:sp>
      <p:sp>
        <p:nvSpPr>
          <p:cNvPr id="31023" name="TextBox 31022">
            <a:hlinkClick r:id="rId97" action="ppaction://hlinksldjump"/>
            <a:extLst>
              <a:ext uri="{FF2B5EF4-FFF2-40B4-BE49-F238E27FC236}">
                <a16:creationId xmlns:a16="http://schemas.microsoft.com/office/drawing/2014/main" id="{9FD32919-5D29-4CDB-37F6-C45170210B0B}"/>
              </a:ext>
            </a:extLst>
          </p:cNvPr>
          <p:cNvSpPr txBox="1"/>
          <p:nvPr>
            <p:custDataLst>
              <p:tags r:id="rId28"/>
            </p:custDataLst>
          </p:nvPr>
        </p:nvSpPr>
        <p:spPr>
          <a:xfrm>
            <a:off x="798977" y="3058780"/>
            <a:ext cx="338308" cy="347289"/>
          </a:xfrm>
          <a:prstGeom prst="rect">
            <a:avLst/>
          </a:prstGeom>
          <a:noFill/>
          <a:ln>
            <a:noFill/>
          </a:ln>
        </p:spPr>
        <p:txBody>
          <a:bodyPr vert="horz" wrap="none" lIns="0" tIns="0" rIns="0" bIns="0" rtlCol="0" anchor="t" anchorCtr="0">
            <a:noAutofit/>
          </a:bodyPr>
          <a:lstStyle/>
          <a:p>
            <a:pPr algn="r"/>
            <a:r>
              <a:rPr lang="en-US" sz="2400" b="0">
                <a:ln>
                  <a:noFill/>
                </a:ln>
                <a:solidFill>
                  <a:schemeClr val="tx2"/>
                </a:solidFill>
                <a:latin typeface="+mj-lt"/>
                <a:cs typeface="Arial" panose="020B0604020202020204" pitchFamily="34" charset="0"/>
              </a:rPr>
              <a:t>03</a:t>
            </a:r>
          </a:p>
        </p:txBody>
      </p:sp>
      <p:sp>
        <p:nvSpPr>
          <p:cNvPr id="31024" name="TextBox 31023">
            <a:hlinkClick r:id="rId99" action="ppaction://hlinksldjump"/>
            <a:extLst>
              <a:ext uri="{FF2B5EF4-FFF2-40B4-BE49-F238E27FC236}">
                <a16:creationId xmlns:a16="http://schemas.microsoft.com/office/drawing/2014/main" id="{C0C88E0F-DD80-0046-7514-E347E3DFE2CD}"/>
              </a:ext>
            </a:extLst>
          </p:cNvPr>
          <p:cNvSpPr txBox="1"/>
          <p:nvPr>
            <p:custDataLst>
              <p:tags r:id="rId29"/>
            </p:custDataLst>
          </p:nvPr>
        </p:nvSpPr>
        <p:spPr>
          <a:xfrm>
            <a:off x="798977" y="3626740"/>
            <a:ext cx="338308" cy="347289"/>
          </a:xfrm>
          <a:prstGeom prst="rect">
            <a:avLst/>
          </a:prstGeom>
          <a:noFill/>
          <a:ln>
            <a:noFill/>
          </a:ln>
        </p:spPr>
        <p:txBody>
          <a:bodyPr vert="horz" wrap="none" lIns="0" tIns="0" rIns="0" bIns="0" rtlCol="0" anchor="t" anchorCtr="0">
            <a:noAutofit/>
          </a:bodyPr>
          <a:lstStyle/>
          <a:p>
            <a:pPr algn="r"/>
            <a:r>
              <a:rPr lang="en-US" sz="2400" b="0">
                <a:ln>
                  <a:noFill/>
                </a:ln>
                <a:solidFill>
                  <a:schemeClr val="tx2"/>
                </a:solidFill>
                <a:latin typeface="+mj-lt"/>
                <a:cs typeface="Arial" panose="020B0604020202020204" pitchFamily="34" charset="0"/>
              </a:rPr>
              <a:t>04</a:t>
            </a:r>
          </a:p>
        </p:txBody>
      </p:sp>
      <p:sp>
        <p:nvSpPr>
          <p:cNvPr id="31025" name="TextBox 31024">
            <a:hlinkClick r:id="rId103" action="ppaction://hlinksldjump"/>
            <a:extLst>
              <a:ext uri="{FF2B5EF4-FFF2-40B4-BE49-F238E27FC236}">
                <a16:creationId xmlns:a16="http://schemas.microsoft.com/office/drawing/2014/main" id="{7304E36A-7BE3-7F84-0EE3-3ED52162A734}"/>
              </a:ext>
            </a:extLst>
          </p:cNvPr>
          <p:cNvSpPr txBox="1"/>
          <p:nvPr>
            <p:custDataLst>
              <p:tags r:id="rId30"/>
            </p:custDataLst>
          </p:nvPr>
        </p:nvSpPr>
        <p:spPr>
          <a:xfrm>
            <a:off x="798977" y="4472100"/>
            <a:ext cx="338308" cy="347289"/>
          </a:xfrm>
          <a:prstGeom prst="rect">
            <a:avLst/>
          </a:prstGeom>
          <a:noFill/>
          <a:ln>
            <a:noFill/>
          </a:ln>
        </p:spPr>
        <p:txBody>
          <a:bodyPr vert="horz" wrap="none" lIns="0" tIns="0" rIns="0" bIns="0" rtlCol="0" anchor="t" anchorCtr="0">
            <a:noAutofit/>
          </a:bodyPr>
          <a:lstStyle/>
          <a:p>
            <a:pPr algn="r"/>
            <a:r>
              <a:rPr lang="en-US" sz="2400" b="0">
                <a:ln>
                  <a:noFill/>
                </a:ln>
                <a:solidFill>
                  <a:schemeClr val="tx2"/>
                </a:solidFill>
                <a:latin typeface="+mj-lt"/>
                <a:cs typeface="Arial" panose="020B0604020202020204" pitchFamily="34" charset="0"/>
              </a:rPr>
              <a:t>05</a:t>
            </a:r>
          </a:p>
        </p:txBody>
      </p:sp>
      <p:sp>
        <p:nvSpPr>
          <p:cNvPr id="31027" name="TextBox 31026">
            <a:hlinkClick r:id="rId88" action="ppaction://hlinksldjump"/>
            <a:extLst>
              <a:ext uri="{FF2B5EF4-FFF2-40B4-BE49-F238E27FC236}">
                <a16:creationId xmlns:a16="http://schemas.microsoft.com/office/drawing/2014/main" id="{52393288-B2C2-71E2-A08C-06A58D38B590}"/>
              </a:ext>
            </a:extLst>
          </p:cNvPr>
          <p:cNvSpPr txBox="1"/>
          <p:nvPr>
            <p:custDataLst>
              <p:tags r:id="rId31"/>
            </p:custDataLst>
          </p:nvPr>
        </p:nvSpPr>
        <p:spPr>
          <a:xfrm>
            <a:off x="5245758" y="1227449"/>
            <a:ext cx="54000" cy="349200"/>
          </a:xfrm>
          <a:prstGeom prst="rect">
            <a:avLst/>
          </a:prstGeom>
          <a:noFill/>
        </p:spPr>
        <p:txBody>
          <a:bodyPr vert="horz" wrap="none" lIns="0" tIns="0" rIns="0" bIns="0" rtlCol="0" anchor="t" anchorCtr="0">
            <a:noAutofit/>
          </a:bodyPr>
          <a:lstStyle/>
          <a:p>
            <a:pPr algn="r"/>
            <a:r>
              <a:rPr lang="en-US" sz="2000" b="0">
                <a:solidFill>
                  <a:schemeClr val="tx2"/>
                </a:solidFill>
                <a:latin typeface="+mj-lt"/>
                <a:cs typeface="Arial" panose="020B0604020202020204" pitchFamily="34" charset="0"/>
              </a:rPr>
              <a:t>3</a:t>
            </a:r>
          </a:p>
        </p:txBody>
      </p:sp>
      <p:sp>
        <p:nvSpPr>
          <p:cNvPr id="31028" name="TextBox 31027">
            <a:hlinkClick r:id="rId92" action="ppaction://hlinksldjump"/>
            <a:extLst>
              <a:ext uri="{FF2B5EF4-FFF2-40B4-BE49-F238E27FC236}">
                <a16:creationId xmlns:a16="http://schemas.microsoft.com/office/drawing/2014/main" id="{172CA94B-7C7F-40E5-8AEB-7C5990E4FAAE}"/>
              </a:ext>
            </a:extLst>
          </p:cNvPr>
          <p:cNvSpPr txBox="1"/>
          <p:nvPr>
            <p:custDataLst>
              <p:tags r:id="rId32"/>
            </p:custDataLst>
          </p:nvPr>
        </p:nvSpPr>
        <p:spPr>
          <a:xfrm>
            <a:off x="5245758" y="2072809"/>
            <a:ext cx="54000" cy="349200"/>
          </a:xfrm>
          <a:prstGeom prst="rect">
            <a:avLst/>
          </a:prstGeom>
          <a:noFill/>
        </p:spPr>
        <p:txBody>
          <a:bodyPr vert="horz" wrap="none" lIns="0" tIns="0" rIns="0" bIns="0" rtlCol="0" anchor="t" anchorCtr="0">
            <a:noAutofit/>
          </a:bodyPr>
          <a:lstStyle/>
          <a:p>
            <a:pPr algn="r"/>
            <a:r>
              <a:rPr lang="en-US" sz="2000" b="0">
                <a:solidFill>
                  <a:schemeClr val="tx2"/>
                </a:solidFill>
                <a:latin typeface="+mj-lt"/>
                <a:cs typeface="Arial" panose="020B0604020202020204" pitchFamily="34" charset="0"/>
              </a:rPr>
              <a:t>11</a:t>
            </a:r>
          </a:p>
        </p:txBody>
      </p:sp>
      <p:sp>
        <p:nvSpPr>
          <p:cNvPr id="31029" name="TextBox 31028">
            <a:hlinkClick r:id="rId97" action="ppaction://hlinksldjump"/>
            <a:extLst>
              <a:ext uri="{FF2B5EF4-FFF2-40B4-BE49-F238E27FC236}">
                <a16:creationId xmlns:a16="http://schemas.microsoft.com/office/drawing/2014/main" id="{E33AC904-78FA-0F96-41A3-DFE6F2FE5C99}"/>
              </a:ext>
            </a:extLst>
          </p:cNvPr>
          <p:cNvSpPr txBox="1"/>
          <p:nvPr>
            <p:custDataLst>
              <p:tags r:id="rId33"/>
            </p:custDataLst>
          </p:nvPr>
        </p:nvSpPr>
        <p:spPr>
          <a:xfrm>
            <a:off x="5245758" y="3056869"/>
            <a:ext cx="54000" cy="349200"/>
          </a:xfrm>
          <a:prstGeom prst="rect">
            <a:avLst/>
          </a:prstGeom>
          <a:noFill/>
        </p:spPr>
        <p:txBody>
          <a:bodyPr vert="horz" wrap="none" lIns="0" tIns="0" rIns="0" bIns="0" rtlCol="0" anchor="t" anchorCtr="0">
            <a:noAutofit/>
          </a:bodyPr>
          <a:lstStyle/>
          <a:p>
            <a:pPr algn="r"/>
            <a:r>
              <a:rPr lang="en-US" sz="2000" b="0">
                <a:solidFill>
                  <a:schemeClr val="tx2"/>
                </a:solidFill>
                <a:latin typeface="+mj-lt"/>
                <a:cs typeface="Arial" panose="020B0604020202020204" pitchFamily="34" charset="0"/>
              </a:rPr>
              <a:t>16</a:t>
            </a:r>
          </a:p>
        </p:txBody>
      </p:sp>
      <p:sp>
        <p:nvSpPr>
          <p:cNvPr id="31030" name="TextBox 31029">
            <a:hlinkClick r:id="rId99" action="ppaction://hlinksldjump"/>
            <a:extLst>
              <a:ext uri="{FF2B5EF4-FFF2-40B4-BE49-F238E27FC236}">
                <a16:creationId xmlns:a16="http://schemas.microsoft.com/office/drawing/2014/main" id="{3116A431-F32D-6E76-9387-8891E2A90B45}"/>
              </a:ext>
            </a:extLst>
          </p:cNvPr>
          <p:cNvSpPr txBox="1"/>
          <p:nvPr>
            <p:custDataLst>
              <p:tags r:id="rId34"/>
            </p:custDataLst>
          </p:nvPr>
        </p:nvSpPr>
        <p:spPr>
          <a:xfrm>
            <a:off x="5245758" y="3624829"/>
            <a:ext cx="54000" cy="349200"/>
          </a:xfrm>
          <a:prstGeom prst="rect">
            <a:avLst/>
          </a:prstGeom>
          <a:noFill/>
        </p:spPr>
        <p:txBody>
          <a:bodyPr vert="horz" wrap="none" lIns="0" tIns="0" rIns="0" bIns="0" rtlCol="0" anchor="t" anchorCtr="0">
            <a:noAutofit/>
          </a:bodyPr>
          <a:lstStyle/>
          <a:p>
            <a:pPr algn="r"/>
            <a:r>
              <a:rPr lang="en-US" sz="2000" b="0">
                <a:solidFill>
                  <a:schemeClr val="tx2"/>
                </a:solidFill>
                <a:latin typeface="+mj-lt"/>
                <a:cs typeface="Arial" panose="020B0604020202020204" pitchFamily="34" charset="0"/>
              </a:rPr>
              <a:t>28</a:t>
            </a:r>
          </a:p>
        </p:txBody>
      </p:sp>
      <p:sp>
        <p:nvSpPr>
          <p:cNvPr id="31031" name="TextBox 31030">
            <a:hlinkClick r:id="rId103" action="ppaction://hlinksldjump"/>
            <a:extLst>
              <a:ext uri="{FF2B5EF4-FFF2-40B4-BE49-F238E27FC236}">
                <a16:creationId xmlns:a16="http://schemas.microsoft.com/office/drawing/2014/main" id="{620C094A-1040-5365-5DE0-9980CF63B604}"/>
              </a:ext>
            </a:extLst>
          </p:cNvPr>
          <p:cNvSpPr txBox="1"/>
          <p:nvPr>
            <p:custDataLst>
              <p:tags r:id="rId35"/>
            </p:custDataLst>
          </p:nvPr>
        </p:nvSpPr>
        <p:spPr>
          <a:xfrm>
            <a:off x="5245758" y="4470189"/>
            <a:ext cx="54000" cy="349200"/>
          </a:xfrm>
          <a:prstGeom prst="rect">
            <a:avLst/>
          </a:prstGeom>
          <a:noFill/>
        </p:spPr>
        <p:txBody>
          <a:bodyPr vert="horz" wrap="none" lIns="0" tIns="0" rIns="0" bIns="0" rtlCol="0" anchor="t" anchorCtr="0">
            <a:noAutofit/>
          </a:bodyPr>
          <a:lstStyle/>
          <a:p>
            <a:pPr algn="r"/>
            <a:r>
              <a:rPr lang="en-US" sz="2000" b="0">
                <a:solidFill>
                  <a:schemeClr val="tx2"/>
                </a:solidFill>
                <a:latin typeface="+mj-lt"/>
                <a:cs typeface="Arial" panose="020B0604020202020204" pitchFamily="34" charset="0"/>
              </a:rPr>
              <a:t>41</a:t>
            </a:r>
          </a:p>
        </p:txBody>
      </p:sp>
      <p:sp>
        <p:nvSpPr>
          <p:cNvPr id="31033" name="TextBox 31032">
            <a:hlinkClick r:id="rId89" action="ppaction://hlinksldjump"/>
            <a:extLst>
              <a:ext uri="{FF2B5EF4-FFF2-40B4-BE49-F238E27FC236}">
                <a16:creationId xmlns:a16="http://schemas.microsoft.com/office/drawing/2014/main" id="{F86A297D-2547-7AC7-458B-77F5CAF3D1D3}"/>
              </a:ext>
            </a:extLst>
          </p:cNvPr>
          <p:cNvSpPr txBox="1"/>
          <p:nvPr>
            <p:custDataLst>
              <p:tags r:id="rId36"/>
            </p:custDataLst>
          </p:nvPr>
        </p:nvSpPr>
        <p:spPr>
          <a:xfrm>
            <a:off x="296316" y="160782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1.1</a:t>
            </a:r>
          </a:p>
        </p:txBody>
      </p:sp>
      <p:sp>
        <p:nvSpPr>
          <p:cNvPr id="31034" name="TextBox 31033">
            <a:hlinkClick r:id="rId90" action="ppaction://hlinksldjump"/>
            <a:extLst>
              <a:ext uri="{FF2B5EF4-FFF2-40B4-BE49-F238E27FC236}">
                <a16:creationId xmlns:a16="http://schemas.microsoft.com/office/drawing/2014/main" id="{95975F1A-B65F-2A29-B19D-F8F5915AB4FB}"/>
              </a:ext>
            </a:extLst>
          </p:cNvPr>
          <p:cNvSpPr txBox="1"/>
          <p:nvPr>
            <p:custDataLst>
              <p:tags r:id="rId37"/>
            </p:custDataLst>
          </p:nvPr>
        </p:nvSpPr>
        <p:spPr>
          <a:xfrm>
            <a:off x="296316" y="174652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1.2</a:t>
            </a:r>
          </a:p>
        </p:txBody>
      </p:sp>
      <p:sp>
        <p:nvSpPr>
          <p:cNvPr id="31035" name="TextBox 31034">
            <a:hlinkClick r:id="rId91" action="ppaction://hlinksldjump"/>
            <a:extLst>
              <a:ext uri="{FF2B5EF4-FFF2-40B4-BE49-F238E27FC236}">
                <a16:creationId xmlns:a16="http://schemas.microsoft.com/office/drawing/2014/main" id="{8FB97E9A-924C-2F61-8A99-45A9F84C1CCC}"/>
              </a:ext>
            </a:extLst>
          </p:cNvPr>
          <p:cNvSpPr txBox="1"/>
          <p:nvPr>
            <p:custDataLst>
              <p:tags r:id="rId38"/>
            </p:custDataLst>
          </p:nvPr>
        </p:nvSpPr>
        <p:spPr>
          <a:xfrm>
            <a:off x="296316" y="188522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1.3</a:t>
            </a:r>
          </a:p>
        </p:txBody>
      </p:sp>
      <p:sp>
        <p:nvSpPr>
          <p:cNvPr id="31036" name="TextBox 31035">
            <a:hlinkClick r:id="rId93" action="ppaction://hlinksldjump"/>
            <a:extLst>
              <a:ext uri="{FF2B5EF4-FFF2-40B4-BE49-F238E27FC236}">
                <a16:creationId xmlns:a16="http://schemas.microsoft.com/office/drawing/2014/main" id="{27B25251-676B-80D2-0BEC-8B9652BD2975}"/>
              </a:ext>
            </a:extLst>
          </p:cNvPr>
          <p:cNvSpPr txBox="1"/>
          <p:nvPr>
            <p:custDataLst>
              <p:tags r:id="rId39"/>
            </p:custDataLst>
          </p:nvPr>
        </p:nvSpPr>
        <p:spPr>
          <a:xfrm>
            <a:off x="296316" y="245318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2.1</a:t>
            </a:r>
          </a:p>
        </p:txBody>
      </p:sp>
      <p:sp>
        <p:nvSpPr>
          <p:cNvPr id="31037" name="TextBox 31036">
            <a:hlinkClick r:id="rId94" action="ppaction://hlinksldjump"/>
            <a:extLst>
              <a:ext uri="{FF2B5EF4-FFF2-40B4-BE49-F238E27FC236}">
                <a16:creationId xmlns:a16="http://schemas.microsoft.com/office/drawing/2014/main" id="{44B7903C-F53D-36C9-FEE6-F5AAC35C300C}"/>
              </a:ext>
            </a:extLst>
          </p:cNvPr>
          <p:cNvSpPr txBox="1"/>
          <p:nvPr>
            <p:custDataLst>
              <p:tags r:id="rId40"/>
            </p:custDataLst>
          </p:nvPr>
        </p:nvSpPr>
        <p:spPr>
          <a:xfrm>
            <a:off x="296316" y="259188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2.2</a:t>
            </a:r>
          </a:p>
        </p:txBody>
      </p:sp>
      <p:sp>
        <p:nvSpPr>
          <p:cNvPr id="31038" name="TextBox 31037">
            <a:hlinkClick r:id="rId95" action="ppaction://hlinksldjump"/>
            <a:extLst>
              <a:ext uri="{FF2B5EF4-FFF2-40B4-BE49-F238E27FC236}">
                <a16:creationId xmlns:a16="http://schemas.microsoft.com/office/drawing/2014/main" id="{6FE7D55D-67E5-6BD5-537B-D0877BFF6408}"/>
              </a:ext>
            </a:extLst>
          </p:cNvPr>
          <p:cNvSpPr txBox="1"/>
          <p:nvPr>
            <p:custDataLst>
              <p:tags r:id="rId41"/>
            </p:custDataLst>
          </p:nvPr>
        </p:nvSpPr>
        <p:spPr>
          <a:xfrm>
            <a:off x="296316" y="273058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2.3</a:t>
            </a:r>
          </a:p>
        </p:txBody>
      </p:sp>
      <p:sp>
        <p:nvSpPr>
          <p:cNvPr id="31039" name="TextBox 31038">
            <a:hlinkClick r:id="rId96" action="ppaction://hlinksldjump"/>
            <a:extLst>
              <a:ext uri="{FF2B5EF4-FFF2-40B4-BE49-F238E27FC236}">
                <a16:creationId xmlns:a16="http://schemas.microsoft.com/office/drawing/2014/main" id="{4E559A07-964E-06B7-44DC-2D04E6433B99}"/>
              </a:ext>
            </a:extLst>
          </p:cNvPr>
          <p:cNvSpPr txBox="1"/>
          <p:nvPr>
            <p:custDataLst>
              <p:tags r:id="rId42"/>
            </p:custDataLst>
          </p:nvPr>
        </p:nvSpPr>
        <p:spPr>
          <a:xfrm>
            <a:off x="296316" y="286928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2.4</a:t>
            </a:r>
          </a:p>
        </p:txBody>
      </p:sp>
      <p:sp>
        <p:nvSpPr>
          <p:cNvPr id="31040" name="TextBox 31039">
            <a:hlinkClick r:id="rId98" action="ppaction://hlinksldjump"/>
            <a:extLst>
              <a:ext uri="{FF2B5EF4-FFF2-40B4-BE49-F238E27FC236}">
                <a16:creationId xmlns:a16="http://schemas.microsoft.com/office/drawing/2014/main" id="{199C71FB-A571-4109-8DAA-1DFCBEE6C256}"/>
              </a:ext>
            </a:extLst>
          </p:cNvPr>
          <p:cNvSpPr txBox="1"/>
          <p:nvPr>
            <p:custDataLst>
              <p:tags r:id="rId43"/>
            </p:custDataLst>
          </p:nvPr>
        </p:nvSpPr>
        <p:spPr>
          <a:xfrm>
            <a:off x="296316" y="343724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3.1</a:t>
            </a:r>
          </a:p>
        </p:txBody>
      </p:sp>
      <p:sp>
        <p:nvSpPr>
          <p:cNvPr id="31041" name="TextBox 31040">
            <a:hlinkClick r:id="rId100" action="ppaction://hlinksldjump"/>
            <a:extLst>
              <a:ext uri="{FF2B5EF4-FFF2-40B4-BE49-F238E27FC236}">
                <a16:creationId xmlns:a16="http://schemas.microsoft.com/office/drawing/2014/main" id="{1D45D46F-3578-CDD8-D4CD-D4C95E563B0B}"/>
              </a:ext>
            </a:extLst>
          </p:cNvPr>
          <p:cNvSpPr txBox="1"/>
          <p:nvPr>
            <p:custDataLst>
              <p:tags r:id="rId44"/>
            </p:custDataLst>
          </p:nvPr>
        </p:nvSpPr>
        <p:spPr>
          <a:xfrm>
            <a:off x="296316" y="400520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4.1</a:t>
            </a:r>
          </a:p>
        </p:txBody>
      </p:sp>
      <p:sp>
        <p:nvSpPr>
          <p:cNvPr id="31042" name="TextBox 31041">
            <a:hlinkClick r:id="rId101" action="ppaction://hlinksldjump"/>
            <a:extLst>
              <a:ext uri="{FF2B5EF4-FFF2-40B4-BE49-F238E27FC236}">
                <a16:creationId xmlns:a16="http://schemas.microsoft.com/office/drawing/2014/main" id="{A97E52B8-DFB5-4C4D-91B8-DB18FB177ABA}"/>
              </a:ext>
            </a:extLst>
          </p:cNvPr>
          <p:cNvSpPr txBox="1"/>
          <p:nvPr>
            <p:custDataLst>
              <p:tags r:id="rId45"/>
            </p:custDataLst>
          </p:nvPr>
        </p:nvSpPr>
        <p:spPr>
          <a:xfrm>
            <a:off x="296316" y="414390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4.2</a:t>
            </a:r>
          </a:p>
        </p:txBody>
      </p:sp>
      <p:sp>
        <p:nvSpPr>
          <p:cNvPr id="31043" name="TextBox 31042">
            <a:hlinkClick r:id="rId102" action="ppaction://hlinksldjump"/>
            <a:extLst>
              <a:ext uri="{FF2B5EF4-FFF2-40B4-BE49-F238E27FC236}">
                <a16:creationId xmlns:a16="http://schemas.microsoft.com/office/drawing/2014/main" id="{CB2AB000-736F-9E9B-AEAA-D15419531875}"/>
              </a:ext>
            </a:extLst>
          </p:cNvPr>
          <p:cNvSpPr txBox="1"/>
          <p:nvPr>
            <p:custDataLst>
              <p:tags r:id="rId46"/>
            </p:custDataLst>
          </p:nvPr>
        </p:nvSpPr>
        <p:spPr>
          <a:xfrm>
            <a:off x="296316" y="428260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4.3</a:t>
            </a:r>
          </a:p>
        </p:txBody>
      </p:sp>
      <p:sp>
        <p:nvSpPr>
          <p:cNvPr id="31044" name="TextBox 31043">
            <a:hlinkClick r:id="rId104" action="ppaction://hlinksldjump"/>
            <a:extLst>
              <a:ext uri="{FF2B5EF4-FFF2-40B4-BE49-F238E27FC236}">
                <a16:creationId xmlns:a16="http://schemas.microsoft.com/office/drawing/2014/main" id="{453939DC-3AE0-A822-E23E-0B237D5EC4BA}"/>
              </a:ext>
            </a:extLst>
          </p:cNvPr>
          <p:cNvSpPr txBox="1"/>
          <p:nvPr>
            <p:custDataLst>
              <p:tags r:id="rId47"/>
            </p:custDataLst>
          </p:nvPr>
        </p:nvSpPr>
        <p:spPr>
          <a:xfrm>
            <a:off x="296316" y="485056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5.1</a:t>
            </a:r>
          </a:p>
        </p:txBody>
      </p:sp>
      <p:sp>
        <p:nvSpPr>
          <p:cNvPr id="31045" name="TextBox 31044">
            <a:hlinkClick r:id="rId105" action="ppaction://hlinksldjump"/>
            <a:extLst>
              <a:ext uri="{FF2B5EF4-FFF2-40B4-BE49-F238E27FC236}">
                <a16:creationId xmlns:a16="http://schemas.microsoft.com/office/drawing/2014/main" id="{097BBA68-6E5E-6393-F69A-5D966F119BD2}"/>
              </a:ext>
            </a:extLst>
          </p:cNvPr>
          <p:cNvSpPr txBox="1"/>
          <p:nvPr>
            <p:custDataLst>
              <p:tags r:id="rId48"/>
            </p:custDataLst>
          </p:nvPr>
        </p:nvSpPr>
        <p:spPr>
          <a:xfrm>
            <a:off x="296316" y="498926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5.2</a:t>
            </a:r>
          </a:p>
        </p:txBody>
      </p:sp>
      <p:sp>
        <p:nvSpPr>
          <p:cNvPr id="31046" name="TextBox 31045">
            <a:hlinkClick r:id="rId110" action="ppaction://hlinksldjump"/>
            <a:extLst>
              <a:ext uri="{FF2B5EF4-FFF2-40B4-BE49-F238E27FC236}">
                <a16:creationId xmlns:a16="http://schemas.microsoft.com/office/drawing/2014/main" id="{C86770BC-C234-4BD7-B046-514057B73E86}"/>
              </a:ext>
            </a:extLst>
          </p:cNvPr>
          <p:cNvSpPr txBox="1"/>
          <p:nvPr>
            <p:custDataLst>
              <p:tags r:id="rId49"/>
            </p:custDataLst>
          </p:nvPr>
        </p:nvSpPr>
        <p:spPr>
          <a:xfrm>
            <a:off x="296316" y="555722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6.1</a:t>
            </a:r>
          </a:p>
        </p:txBody>
      </p:sp>
      <p:sp>
        <p:nvSpPr>
          <p:cNvPr id="31047" name="TextBox 31046">
            <a:hlinkClick r:id="rId111" action="ppaction://hlinksldjump"/>
            <a:extLst>
              <a:ext uri="{FF2B5EF4-FFF2-40B4-BE49-F238E27FC236}">
                <a16:creationId xmlns:a16="http://schemas.microsoft.com/office/drawing/2014/main" id="{9C55C177-286E-0167-8ED5-F7F5D242A8F1}"/>
              </a:ext>
            </a:extLst>
          </p:cNvPr>
          <p:cNvSpPr txBox="1"/>
          <p:nvPr>
            <p:custDataLst>
              <p:tags r:id="rId50"/>
            </p:custDataLst>
          </p:nvPr>
        </p:nvSpPr>
        <p:spPr>
          <a:xfrm>
            <a:off x="296316" y="569592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6.2</a:t>
            </a:r>
          </a:p>
        </p:txBody>
      </p:sp>
      <p:sp>
        <p:nvSpPr>
          <p:cNvPr id="31048" name="TextBox 31047">
            <a:hlinkClick r:id="rId84" action="ppaction://hlinksldjump"/>
            <a:extLst>
              <a:ext uri="{FF2B5EF4-FFF2-40B4-BE49-F238E27FC236}">
                <a16:creationId xmlns:a16="http://schemas.microsoft.com/office/drawing/2014/main" id="{1A09D05A-6615-887D-3E6B-5EE22889BB2F}"/>
              </a:ext>
            </a:extLst>
          </p:cNvPr>
          <p:cNvSpPr txBox="1"/>
          <p:nvPr>
            <p:custDataLst>
              <p:tags r:id="rId51"/>
            </p:custDataLst>
          </p:nvPr>
        </p:nvSpPr>
        <p:spPr>
          <a:xfrm>
            <a:off x="4951098" y="122936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6.3</a:t>
            </a:r>
          </a:p>
        </p:txBody>
      </p:sp>
      <p:sp>
        <p:nvSpPr>
          <p:cNvPr id="31049" name="TextBox 31048">
            <a:hlinkClick r:id="rId106" action="ppaction://hlinksldjump"/>
            <a:extLst>
              <a:ext uri="{FF2B5EF4-FFF2-40B4-BE49-F238E27FC236}">
                <a16:creationId xmlns:a16="http://schemas.microsoft.com/office/drawing/2014/main" id="{F4AA17C8-3AE6-F9EC-8788-3C5F71C83F4D}"/>
              </a:ext>
            </a:extLst>
          </p:cNvPr>
          <p:cNvSpPr txBox="1"/>
          <p:nvPr>
            <p:custDataLst>
              <p:tags r:id="rId52"/>
            </p:custDataLst>
          </p:nvPr>
        </p:nvSpPr>
        <p:spPr>
          <a:xfrm>
            <a:off x="4951098" y="136806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6.4</a:t>
            </a:r>
          </a:p>
        </p:txBody>
      </p:sp>
      <p:sp>
        <p:nvSpPr>
          <p:cNvPr id="31050" name="TextBox 31049">
            <a:hlinkClick r:id="rId107" action="ppaction://hlinksldjump"/>
            <a:extLst>
              <a:ext uri="{FF2B5EF4-FFF2-40B4-BE49-F238E27FC236}">
                <a16:creationId xmlns:a16="http://schemas.microsoft.com/office/drawing/2014/main" id="{05067CBE-7123-DD7A-416B-BB9DF96D1264}"/>
              </a:ext>
            </a:extLst>
          </p:cNvPr>
          <p:cNvSpPr txBox="1"/>
          <p:nvPr>
            <p:custDataLst>
              <p:tags r:id="rId53"/>
            </p:custDataLst>
          </p:nvPr>
        </p:nvSpPr>
        <p:spPr>
          <a:xfrm>
            <a:off x="4951098" y="150676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6.5</a:t>
            </a:r>
          </a:p>
        </p:txBody>
      </p:sp>
      <p:sp>
        <p:nvSpPr>
          <p:cNvPr id="31051" name="TextBox 31050">
            <a:hlinkClick r:id="rId108" action="ppaction://hlinksldjump"/>
            <a:extLst>
              <a:ext uri="{FF2B5EF4-FFF2-40B4-BE49-F238E27FC236}">
                <a16:creationId xmlns:a16="http://schemas.microsoft.com/office/drawing/2014/main" id="{A22FFAF2-038A-C144-C22A-C64DD6949062}"/>
              </a:ext>
            </a:extLst>
          </p:cNvPr>
          <p:cNvSpPr txBox="1"/>
          <p:nvPr>
            <p:custDataLst>
              <p:tags r:id="rId54"/>
            </p:custDataLst>
          </p:nvPr>
        </p:nvSpPr>
        <p:spPr>
          <a:xfrm>
            <a:off x="4951098" y="164546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6.6</a:t>
            </a:r>
          </a:p>
        </p:txBody>
      </p:sp>
      <p:sp>
        <p:nvSpPr>
          <p:cNvPr id="31052" name="TextBox 31051">
            <a:hlinkClick r:id="rId109" action="ppaction://hlinksldjump"/>
            <a:extLst>
              <a:ext uri="{FF2B5EF4-FFF2-40B4-BE49-F238E27FC236}">
                <a16:creationId xmlns:a16="http://schemas.microsoft.com/office/drawing/2014/main" id="{8B93BF42-FCAE-BD06-03DC-6F15BE115D0C}"/>
              </a:ext>
            </a:extLst>
          </p:cNvPr>
          <p:cNvSpPr txBox="1"/>
          <p:nvPr>
            <p:custDataLst>
              <p:tags r:id="rId55"/>
            </p:custDataLst>
          </p:nvPr>
        </p:nvSpPr>
        <p:spPr>
          <a:xfrm>
            <a:off x="4951098" y="178416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6.7</a:t>
            </a:r>
          </a:p>
        </p:txBody>
      </p:sp>
      <p:sp>
        <p:nvSpPr>
          <p:cNvPr id="31053" name="TextBox 31052">
            <a:hlinkClick r:id="rId86" action="ppaction://hlinksldjump"/>
            <a:extLst>
              <a:ext uri="{FF2B5EF4-FFF2-40B4-BE49-F238E27FC236}">
                <a16:creationId xmlns:a16="http://schemas.microsoft.com/office/drawing/2014/main" id="{7F8F3B7B-0897-390D-AB4B-18C46DBDE7F3}"/>
              </a:ext>
            </a:extLst>
          </p:cNvPr>
          <p:cNvSpPr txBox="1"/>
          <p:nvPr>
            <p:custDataLst>
              <p:tags r:id="rId56"/>
            </p:custDataLst>
          </p:nvPr>
        </p:nvSpPr>
        <p:spPr>
          <a:xfrm>
            <a:off x="4951098" y="192286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6.8</a:t>
            </a:r>
          </a:p>
        </p:txBody>
      </p:sp>
      <p:sp>
        <p:nvSpPr>
          <p:cNvPr id="31054" name="TextBox 31053">
            <a:hlinkClick r:id="rId89" action="ppaction://hlinksldjump"/>
            <a:extLst>
              <a:ext uri="{FF2B5EF4-FFF2-40B4-BE49-F238E27FC236}">
                <a16:creationId xmlns:a16="http://schemas.microsoft.com/office/drawing/2014/main" id="{E310EC1F-0FEE-2B7E-7445-499700874210}"/>
              </a:ext>
            </a:extLst>
          </p:cNvPr>
          <p:cNvSpPr txBox="1"/>
          <p:nvPr>
            <p:custDataLst>
              <p:tags r:id="rId57"/>
            </p:custDataLst>
          </p:nvPr>
        </p:nvSpPr>
        <p:spPr>
          <a:xfrm>
            <a:off x="5245758" y="160782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4</a:t>
            </a:r>
          </a:p>
        </p:txBody>
      </p:sp>
      <p:sp>
        <p:nvSpPr>
          <p:cNvPr id="31055" name="TextBox 31054">
            <a:hlinkClick r:id="rId90" action="ppaction://hlinksldjump"/>
            <a:extLst>
              <a:ext uri="{FF2B5EF4-FFF2-40B4-BE49-F238E27FC236}">
                <a16:creationId xmlns:a16="http://schemas.microsoft.com/office/drawing/2014/main" id="{892E4D2D-9577-2779-DDDC-C577A81C8A7B}"/>
              </a:ext>
            </a:extLst>
          </p:cNvPr>
          <p:cNvSpPr txBox="1"/>
          <p:nvPr>
            <p:custDataLst>
              <p:tags r:id="rId58"/>
            </p:custDataLst>
          </p:nvPr>
        </p:nvSpPr>
        <p:spPr>
          <a:xfrm>
            <a:off x="5245758" y="174652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5</a:t>
            </a:r>
          </a:p>
        </p:txBody>
      </p:sp>
      <p:sp>
        <p:nvSpPr>
          <p:cNvPr id="31056" name="TextBox 31055">
            <a:hlinkClick r:id="rId91" action="ppaction://hlinksldjump"/>
            <a:extLst>
              <a:ext uri="{FF2B5EF4-FFF2-40B4-BE49-F238E27FC236}">
                <a16:creationId xmlns:a16="http://schemas.microsoft.com/office/drawing/2014/main" id="{A624CA89-80E8-CFCB-DB32-C65EF7F2E2E7}"/>
              </a:ext>
            </a:extLst>
          </p:cNvPr>
          <p:cNvSpPr txBox="1"/>
          <p:nvPr>
            <p:custDataLst>
              <p:tags r:id="rId59"/>
            </p:custDataLst>
          </p:nvPr>
        </p:nvSpPr>
        <p:spPr>
          <a:xfrm>
            <a:off x="5245758" y="188522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6</a:t>
            </a:r>
          </a:p>
        </p:txBody>
      </p:sp>
      <p:sp>
        <p:nvSpPr>
          <p:cNvPr id="31057" name="TextBox 31056">
            <a:hlinkClick r:id="rId93" action="ppaction://hlinksldjump"/>
            <a:extLst>
              <a:ext uri="{FF2B5EF4-FFF2-40B4-BE49-F238E27FC236}">
                <a16:creationId xmlns:a16="http://schemas.microsoft.com/office/drawing/2014/main" id="{39FE2C39-88FD-9329-B040-DAE8F322A974}"/>
              </a:ext>
            </a:extLst>
          </p:cNvPr>
          <p:cNvSpPr txBox="1"/>
          <p:nvPr>
            <p:custDataLst>
              <p:tags r:id="rId60"/>
            </p:custDataLst>
          </p:nvPr>
        </p:nvSpPr>
        <p:spPr>
          <a:xfrm>
            <a:off x="5245758" y="245318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12</a:t>
            </a:r>
          </a:p>
        </p:txBody>
      </p:sp>
      <p:sp>
        <p:nvSpPr>
          <p:cNvPr id="31058" name="TextBox 31057">
            <a:hlinkClick r:id="rId94" action="ppaction://hlinksldjump"/>
            <a:extLst>
              <a:ext uri="{FF2B5EF4-FFF2-40B4-BE49-F238E27FC236}">
                <a16:creationId xmlns:a16="http://schemas.microsoft.com/office/drawing/2014/main" id="{BD21CD00-4F0E-C4FE-41E0-10FCCFFF3CAC}"/>
              </a:ext>
            </a:extLst>
          </p:cNvPr>
          <p:cNvSpPr txBox="1"/>
          <p:nvPr>
            <p:custDataLst>
              <p:tags r:id="rId61"/>
            </p:custDataLst>
          </p:nvPr>
        </p:nvSpPr>
        <p:spPr>
          <a:xfrm>
            <a:off x="5245758" y="259188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13</a:t>
            </a:r>
          </a:p>
        </p:txBody>
      </p:sp>
      <p:sp>
        <p:nvSpPr>
          <p:cNvPr id="31059" name="TextBox 31058">
            <a:hlinkClick r:id="rId95" action="ppaction://hlinksldjump"/>
            <a:extLst>
              <a:ext uri="{FF2B5EF4-FFF2-40B4-BE49-F238E27FC236}">
                <a16:creationId xmlns:a16="http://schemas.microsoft.com/office/drawing/2014/main" id="{10958F75-49D4-3CE5-8F8F-F52727BF719F}"/>
              </a:ext>
            </a:extLst>
          </p:cNvPr>
          <p:cNvSpPr txBox="1"/>
          <p:nvPr>
            <p:custDataLst>
              <p:tags r:id="rId62"/>
            </p:custDataLst>
          </p:nvPr>
        </p:nvSpPr>
        <p:spPr>
          <a:xfrm>
            <a:off x="5245758" y="273058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14</a:t>
            </a:r>
          </a:p>
        </p:txBody>
      </p:sp>
      <p:sp>
        <p:nvSpPr>
          <p:cNvPr id="31060" name="TextBox 31059">
            <a:hlinkClick r:id="rId96" action="ppaction://hlinksldjump"/>
            <a:extLst>
              <a:ext uri="{FF2B5EF4-FFF2-40B4-BE49-F238E27FC236}">
                <a16:creationId xmlns:a16="http://schemas.microsoft.com/office/drawing/2014/main" id="{221FD359-6006-2DDC-EA10-467684EC637E}"/>
              </a:ext>
            </a:extLst>
          </p:cNvPr>
          <p:cNvSpPr txBox="1"/>
          <p:nvPr>
            <p:custDataLst>
              <p:tags r:id="rId63"/>
            </p:custDataLst>
          </p:nvPr>
        </p:nvSpPr>
        <p:spPr>
          <a:xfrm>
            <a:off x="5245758" y="286928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15</a:t>
            </a:r>
          </a:p>
        </p:txBody>
      </p:sp>
      <p:sp>
        <p:nvSpPr>
          <p:cNvPr id="31061" name="TextBox 31060">
            <a:hlinkClick r:id="rId98" action="ppaction://hlinksldjump"/>
            <a:extLst>
              <a:ext uri="{FF2B5EF4-FFF2-40B4-BE49-F238E27FC236}">
                <a16:creationId xmlns:a16="http://schemas.microsoft.com/office/drawing/2014/main" id="{3F3740E1-5FBD-4B34-2166-EF7E0784E1AF}"/>
              </a:ext>
            </a:extLst>
          </p:cNvPr>
          <p:cNvSpPr txBox="1"/>
          <p:nvPr>
            <p:custDataLst>
              <p:tags r:id="rId64"/>
            </p:custDataLst>
          </p:nvPr>
        </p:nvSpPr>
        <p:spPr>
          <a:xfrm>
            <a:off x="5245758" y="343724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17</a:t>
            </a:r>
          </a:p>
        </p:txBody>
      </p:sp>
      <p:sp>
        <p:nvSpPr>
          <p:cNvPr id="31062" name="TextBox 31061">
            <a:hlinkClick r:id="rId100" action="ppaction://hlinksldjump"/>
            <a:extLst>
              <a:ext uri="{FF2B5EF4-FFF2-40B4-BE49-F238E27FC236}">
                <a16:creationId xmlns:a16="http://schemas.microsoft.com/office/drawing/2014/main" id="{A6136617-767D-1F43-E787-E22F2476EC67}"/>
              </a:ext>
            </a:extLst>
          </p:cNvPr>
          <p:cNvSpPr txBox="1"/>
          <p:nvPr>
            <p:custDataLst>
              <p:tags r:id="rId65"/>
            </p:custDataLst>
          </p:nvPr>
        </p:nvSpPr>
        <p:spPr>
          <a:xfrm>
            <a:off x="5245758" y="400520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29</a:t>
            </a:r>
          </a:p>
        </p:txBody>
      </p:sp>
      <p:sp>
        <p:nvSpPr>
          <p:cNvPr id="31063" name="TextBox 31062">
            <a:hlinkClick r:id="rId101" action="ppaction://hlinksldjump"/>
            <a:extLst>
              <a:ext uri="{FF2B5EF4-FFF2-40B4-BE49-F238E27FC236}">
                <a16:creationId xmlns:a16="http://schemas.microsoft.com/office/drawing/2014/main" id="{DBFAA1AE-5A95-3761-8C4E-AED911FC5BE0}"/>
              </a:ext>
            </a:extLst>
          </p:cNvPr>
          <p:cNvSpPr txBox="1"/>
          <p:nvPr>
            <p:custDataLst>
              <p:tags r:id="rId66"/>
            </p:custDataLst>
          </p:nvPr>
        </p:nvSpPr>
        <p:spPr>
          <a:xfrm>
            <a:off x="5245758" y="414390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32</a:t>
            </a:r>
          </a:p>
        </p:txBody>
      </p:sp>
      <p:sp>
        <p:nvSpPr>
          <p:cNvPr id="31064" name="TextBox 31063">
            <a:hlinkClick r:id="rId102" action="ppaction://hlinksldjump"/>
            <a:extLst>
              <a:ext uri="{FF2B5EF4-FFF2-40B4-BE49-F238E27FC236}">
                <a16:creationId xmlns:a16="http://schemas.microsoft.com/office/drawing/2014/main" id="{D63F22F3-6B68-43C3-0C7F-DEE7DB86785E}"/>
              </a:ext>
            </a:extLst>
          </p:cNvPr>
          <p:cNvSpPr txBox="1"/>
          <p:nvPr>
            <p:custDataLst>
              <p:tags r:id="rId67"/>
            </p:custDataLst>
          </p:nvPr>
        </p:nvSpPr>
        <p:spPr>
          <a:xfrm>
            <a:off x="5245758" y="428260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37</a:t>
            </a:r>
          </a:p>
        </p:txBody>
      </p:sp>
      <p:sp>
        <p:nvSpPr>
          <p:cNvPr id="31065" name="TextBox 31064">
            <a:hlinkClick r:id="rId104" action="ppaction://hlinksldjump"/>
            <a:extLst>
              <a:ext uri="{FF2B5EF4-FFF2-40B4-BE49-F238E27FC236}">
                <a16:creationId xmlns:a16="http://schemas.microsoft.com/office/drawing/2014/main" id="{EAB7CADA-99C8-7F38-A5AF-6390EDF4A3E7}"/>
              </a:ext>
            </a:extLst>
          </p:cNvPr>
          <p:cNvSpPr txBox="1"/>
          <p:nvPr>
            <p:custDataLst>
              <p:tags r:id="rId68"/>
            </p:custDataLst>
          </p:nvPr>
        </p:nvSpPr>
        <p:spPr>
          <a:xfrm>
            <a:off x="5245758" y="485056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42</a:t>
            </a:r>
          </a:p>
        </p:txBody>
      </p:sp>
      <p:sp>
        <p:nvSpPr>
          <p:cNvPr id="31066" name="TextBox 31065">
            <a:hlinkClick r:id="rId105" action="ppaction://hlinksldjump"/>
            <a:extLst>
              <a:ext uri="{FF2B5EF4-FFF2-40B4-BE49-F238E27FC236}">
                <a16:creationId xmlns:a16="http://schemas.microsoft.com/office/drawing/2014/main" id="{876AD835-B644-A7C1-1827-E1413F1D1358}"/>
              </a:ext>
            </a:extLst>
          </p:cNvPr>
          <p:cNvSpPr txBox="1"/>
          <p:nvPr>
            <p:custDataLst>
              <p:tags r:id="rId69"/>
            </p:custDataLst>
          </p:nvPr>
        </p:nvSpPr>
        <p:spPr>
          <a:xfrm>
            <a:off x="5245758" y="498926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43</a:t>
            </a:r>
          </a:p>
        </p:txBody>
      </p:sp>
      <p:sp>
        <p:nvSpPr>
          <p:cNvPr id="31069" name="TextBox 31068">
            <a:hlinkClick r:id="rId84" action="ppaction://hlinksldjump"/>
            <a:extLst>
              <a:ext uri="{FF2B5EF4-FFF2-40B4-BE49-F238E27FC236}">
                <a16:creationId xmlns:a16="http://schemas.microsoft.com/office/drawing/2014/main" id="{825039F7-8252-1D0C-3F23-61E886751DFD}"/>
              </a:ext>
            </a:extLst>
          </p:cNvPr>
          <p:cNvSpPr txBox="1"/>
          <p:nvPr>
            <p:custDataLst>
              <p:tags r:id="rId70"/>
            </p:custDataLst>
          </p:nvPr>
        </p:nvSpPr>
        <p:spPr>
          <a:xfrm>
            <a:off x="9911335" y="187071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51</a:t>
            </a:r>
          </a:p>
        </p:txBody>
      </p:sp>
      <p:sp>
        <p:nvSpPr>
          <p:cNvPr id="31070" name="TextBox 31069">
            <a:hlinkClick r:id="rId106" action="ppaction://hlinksldjump"/>
            <a:extLst>
              <a:ext uri="{FF2B5EF4-FFF2-40B4-BE49-F238E27FC236}">
                <a16:creationId xmlns:a16="http://schemas.microsoft.com/office/drawing/2014/main" id="{9B8E5BC2-3A03-8192-7DDE-D1FB9B49A366}"/>
              </a:ext>
            </a:extLst>
          </p:cNvPr>
          <p:cNvSpPr txBox="1"/>
          <p:nvPr>
            <p:custDataLst>
              <p:tags r:id="rId71"/>
            </p:custDataLst>
          </p:nvPr>
        </p:nvSpPr>
        <p:spPr>
          <a:xfrm>
            <a:off x="9911335" y="200941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52</a:t>
            </a:r>
          </a:p>
        </p:txBody>
      </p:sp>
      <p:sp>
        <p:nvSpPr>
          <p:cNvPr id="31071" name="TextBox 31070">
            <a:hlinkClick r:id="rId107" action="ppaction://hlinksldjump"/>
            <a:extLst>
              <a:ext uri="{FF2B5EF4-FFF2-40B4-BE49-F238E27FC236}">
                <a16:creationId xmlns:a16="http://schemas.microsoft.com/office/drawing/2014/main" id="{EED52E71-5CA4-F5BA-46FE-6082133E638E}"/>
              </a:ext>
            </a:extLst>
          </p:cNvPr>
          <p:cNvSpPr txBox="1"/>
          <p:nvPr>
            <p:custDataLst>
              <p:tags r:id="rId72"/>
            </p:custDataLst>
          </p:nvPr>
        </p:nvSpPr>
        <p:spPr>
          <a:xfrm>
            <a:off x="9911335" y="214811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53</a:t>
            </a:r>
          </a:p>
        </p:txBody>
      </p:sp>
      <p:sp>
        <p:nvSpPr>
          <p:cNvPr id="31072" name="TextBox 31071">
            <a:hlinkClick r:id="rId108" action="ppaction://hlinksldjump"/>
            <a:extLst>
              <a:ext uri="{FF2B5EF4-FFF2-40B4-BE49-F238E27FC236}">
                <a16:creationId xmlns:a16="http://schemas.microsoft.com/office/drawing/2014/main" id="{9545F3D1-15C0-20A5-9034-6BD69A4A9CE8}"/>
              </a:ext>
            </a:extLst>
          </p:cNvPr>
          <p:cNvSpPr txBox="1"/>
          <p:nvPr>
            <p:custDataLst>
              <p:tags r:id="rId73"/>
            </p:custDataLst>
          </p:nvPr>
        </p:nvSpPr>
        <p:spPr>
          <a:xfrm>
            <a:off x="9911335" y="228681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54</a:t>
            </a:r>
          </a:p>
        </p:txBody>
      </p:sp>
      <p:sp>
        <p:nvSpPr>
          <p:cNvPr id="31073" name="TextBox 31072">
            <a:hlinkClick r:id="rId109" action="ppaction://hlinksldjump"/>
            <a:extLst>
              <a:ext uri="{FF2B5EF4-FFF2-40B4-BE49-F238E27FC236}">
                <a16:creationId xmlns:a16="http://schemas.microsoft.com/office/drawing/2014/main" id="{EF7AFF4C-16B6-CC30-219C-B522ADB98AB9}"/>
              </a:ext>
            </a:extLst>
          </p:cNvPr>
          <p:cNvSpPr txBox="1"/>
          <p:nvPr>
            <p:custDataLst>
              <p:tags r:id="rId74"/>
            </p:custDataLst>
          </p:nvPr>
        </p:nvSpPr>
        <p:spPr>
          <a:xfrm>
            <a:off x="9911335" y="242551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55</a:t>
            </a:r>
          </a:p>
        </p:txBody>
      </p:sp>
      <p:sp>
        <p:nvSpPr>
          <p:cNvPr id="31074" name="TextBox 31073">
            <a:hlinkClick r:id="rId86" action="ppaction://hlinksldjump"/>
            <a:extLst>
              <a:ext uri="{FF2B5EF4-FFF2-40B4-BE49-F238E27FC236}">
                <a16:creationId xmlns:a16="http://schemas.microsoft.com/office/drawing/2014/main" id="{C43F83AE-CA83-4E97-8F59-700C403DD1DE}"/>
              </a:ext>
            </a:extLst>
          </p:cNvPr>
          <p:cNvSpPr txBox="1"/>
          <p:nvPr>
            <p:custDataLst>
              <p:tags r:id="rId75"/>
            </p:custDataLst>
          </p:nvPr>
        </p:nvSpPr>
        <p:spPr>
          <a:xfrm>
            <a:off x="9911335" y="256421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58</a:t>
            </a:r>
          </a:p>
        </p:txBody>
      </p:sp>
      <p:sp>
        <p:nvSpPr>
          <p:cNvPr id="3" name="TextBox 2">
            <a:hlinkClick r:id="rId112" action="ppaction://hlinksldjump"/>
            <a:extLst>
              <a:ext uri="{FF2B5EF4-FFF2-40B4-BE49-F238E27FC236}">
                <a16:creationId xmlns:a16="http://schemas.microsoft.com/office/drawing/2014/main" id="{5CA699E1-7FBF-C841-8F9D-340E02C840F3}"/>
              </a:ext>
            </a:extLst>
          </p:cNvPr>
          <p:cNvSpPr txBox="1"/>
          <p:nvPr>
            <p:custDataLst>
              <p:tags r:id="rId76"/>
            </p:custDataLst>
          </p:nvPr>
        </p:nvSpPr>
        <p:spPr>
          <a:xfrm>
            <a:off x="5904463" y="1211183"/>
            <a:ext cx="3942077" cy="347289"/>
          </a:xfrm>
          <a:prstGeom prst="rect">
            <a:avLst/>
          </a:prstGeom>
          <a:noFill/>
        </p:spPr>
        <p:txBody>
          <a:bodyPr vert="horz" wrap="square" lIns="0" tIns="0" rIns="0" bIns="0" rtlCol="0" anchor="t">
            <a:noAutofit/>
          </a:bodyPr>
          <a:lstStyle/>
          <a:p>
            <a:pPr algn="l"/>
            <a:r>
              <a:rPr lang="en-US" sz="2400" b="0">
                <a:solidFill>
                  <a:schemeClr val="tx2"/>
                </a:solidFill>
                <a:latin typeface="+mj-lt"/>
                <a:cs typeface="Arial" panose="020B0604020202020204" pitchFamily="34" charset="0"/>
              </a:rPr>
              <a:t>Appendices</a:t>
            </a:r>
          </a:p>
        </p:txBody>
      </p:sp>
      <p:sp>
        <p:nvSpPr>
          <p:cNvPr id="4" name="TextBox 3">
            <a:hlinkClick r:id="rId110" action="ppaction://hlinksldjump"/>
            <a:extLst>
              <a:ext uri="{FF2B5EF4-FFF2-40B4-BE49-F238E27FC236}">
                <a16:creationId xmlns:a16="http://schemas.microsoft.com/office/drawing/2014/main" id="{5E123A11-2BF3-F5D2-CDD4-3B5BCA9C56ED}"/>
              </a:ext>
            </a:extLst>
          </p:cNvPr>
          <p:cNvSpPr txBox="1"/>
          <p:nvPr>
            <p:custDataLst>
              <p:tags r:id="rId77"/>
            </p:custDataLst>
          </p:nvPr>
        </p:nvSpPr>
        <p:spPr>
          <a:xfrm>
            <a:off x="5904463" y="1589643"/>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Audit reconciliation</a:t>
            </a:r>
          </a:p>
        </p:txBody>
      </p:sp>
      <p:sp>
        <p:nvSpPr>
          <p:cNvPr id="5" name="TextBox 4">
            <a:hlinkClick r:id="rId111" action="ppaction://hlinksldjump"/>
            <a:extLst>
              <a:ext uri="{FF2B5EF4-FFF2-40B4-BE49-F238E27FC236}">
                <a16:creationId xmlns:a16="http://schemas.microsoft.com/office/drawing/2014/main" id="{3A1F8798-FEF7-F8CE-8F07-F2B5F0080A41}"/>
              </a:ext>
            </a:extLst>
          </p:cNvPr>
          <p:cNvSpPr txBox="1"/>
          <p:nvPr>
            <p:custDataLst>
              <p:tags r:id="rId78"/>
            </p:custDataLst>
          </p:nvPr>
        </p:nvSpPr>
        <p:spPr>
          <a:xfrm>
            <a:off x="5904463" y="1728343"/>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Long term contracts deferred revenue</a:t>
            </a:r>
          </a:p>
        </p:txBody>
      </p:sp>
      <p:sp>
        <p:nvSpPr>
          <p:cNvPr id="6" name="TextBox 5">
            <a:hlinkClick r:id="rId112" action="ppaction://hlinksldjump"/>
            <a:extLst>
              <a:ext uri="{FF2B5EF4-FFF2-40B4-BE49-F238E27FC236}">
                <a16:creationId xmlns:a16="http://schemas.microsoft.com/office/drawing/2014/main" id="{88B700E2-7BD4-DAB1-F7B5-A42DAE82B0B0}"/>
              </a:ext>
            </a:extLst>
          </p:cNvPr>
          <p:cNvSpPr txBox="1"/>
          <p:nvPr>
            <p:custDataLst>
              <p:tags r:id="rId79"/>
            </p:custDataLst>
          </p:nvPr>
        </p:nvSpPr>
        <p:spPr>
          <a:xfrm>
            <a:off x="5453758" y="1211183"/>
            <a:ext cx="338308" cy="347289"/>
          </a:xfrm>
          <a:prstGeom prst="rect">
            <a:avLst/>
          </a:prstGeom>
          <a:noFill/>
          <a:ln>
            <a:noFill/>
          </a:ln>
        </p:spPr>
        <p:txBody>
          <a:bodyPr vert="horz" wrap="none" lIns="0" tIns="0" rIns="0" bIns="0" rtlCol="0" anchor="t" anchorCtr="0">
            <a:noAutofit/>
          </a:bodyPr>
          <a:lstStyle/>
          <a:p>
            <a:pPr algn="r"/>
            <a:r>
              <a:rPr lang="en-US" sz="2400" b="0">
                <a:ln>
                  <a:noFill/>
                </a:ln>
                <a:solidFill>
                  <a:schemeClr val="tx2"/>
                </a:solidFill>
                <a:latin typeface="+mj-lt"/>
                <a:cs typeface="Arial" panose="020B0604020202020204" pitchFamily="34" charset="0"/>
              </a:rPr>
              <a:t>06</a:t>
            </a:r>
          </a:p>
        </p:txBody>
      </p:sp>
      <p:sp>
        <p:nvSpPr>
          <p:cNvPr id="7" name="TextBox 6">
            <a:hlinkClick r:id="rId112" action="ppaction://hlinksldjump"/>
            <a:extLst>
              <a:ext uri="{FF2B5EF4-FFF2-40B4-BE49-F238E27FC236}">
                <a16:creationId xmlns:a16="http://schemas.microsoft.com/office/drawing/2014/main" id="{0F94BAAD-9A14-DA57-620E-B1946E70B039}"/>
              </a:ext>
            </a:extLst>
          </p:cNvPr>
          <p:cNvSpPr txBox="1"/>
          <p:nvPr>
            <p:custDataLst>
              <p:tags r:id="rId80"/>
            </p:custDataLst>
          </p:nvPr>
        </p:nvSpPr>
        <p:spPr>
          <a:xfrm>
            <a:off x="9900539" y="1209272"/>
            <a:ext cx="54000" cy="349200"/>
          </a:xfrm>
          <a:prstGeom prst="rect">
            <a:avLst/>
          </a:prstGeom>
          <a:noFill/>
        </p:spPr>
        <p:txBody>
          <a:bodyPr vert="horz" wrap="none" lIns="0" tIns="0" rIns="0" bIns="0" rtlCol="0" anchor="t" anchorCtr="0">
            <a:noAutofit/>
          </a:bodyPr>
          <a:lstStyle/>
          <a:p>
            <a:pPr algn="r"/>
            <a:r>
              <a:rPr lang="en-US" sz="2000" b="0">
                <a:solidFill>
                  <a:schemeClr val="tx2"/>
                </a:solidFill>
                <a:latin typeface="+mj-lt"/>
                <a:cs typeface="Arial" panose="020B0604020202020204" pitchFamily="34" charset="0"/>
              </a:rPr>
              <a:t>48</a:t>
            </a:r>
          </a:p>
        </p:txBody>
      </p:sp>
      <p:sp>
        <p:nvSpPr>
          <p:cNvPr id="8" name="TextBox 7">
            <a:hlinkClick r:id="rId110" action="ppaction://hlinksldjump"/>
            <a:extLst>
              <a:ext uri="{FF2B5EF4-FFF2-40B4-BE49-F238E27FC236}">
                <a16:creationId xmlns:a16="http://schemas.microsoft.com/office/drawing/2014/main" id="{B164B9EE-A4F9-59D0-DEF4-27E09C265C09}"/>
              </a:ext>
            </a:extLst>
          </p:cNvPr>
          <p:cNvSpPr txBox="1"/>
          <p:nvPr>
            <p:custDataLst>
              <p:tags r:id="rId81"/>
            </p:custDataLst>
          </p:nvPr>
        </p:nvSpPr>
        <p:spPr>
          <a:xfrm>
            <a:off x="9900539" y="1589643"/>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49</a:t>
            </a:r>
          </a:p>
        </p:txBody>
      </p:sp>
      <p:sp>
        <p:nvSpPr>
          <p:cNvPr id="9" name="TextBox 8">
            <a:hlinkClick r:id="rId111" action="ppaction://hlinksldjump"/>
            <a:extLst>
              <a:ext uri="{FF2B5EF4-FFF2-40B4-BE49-F238E27FC236}">
                <a16:creationId xmlns:a16="http://schemas.microsoft.com/office/drawing/2014/main" id="{C256A70C-4666-8BFD-D350-23334FB4493A}"/>
              </a:ext>
            </a:extLst>
          </p:cNvPr>
          <p:cNvSpPr txBox="1"/>
          <p:nvPr>
            <p:custDataLst>
              <p:tags r:id="rId82"/>
            </p:custDataLst>
          </p:nvPr>
        </p:nvSpPr>
        <p:spPr>
          <a:xfrm>
            <a:off x="9900539" y="1709293"/>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50</a:t>
            </a:r>
          </a:p>
        </p:txBody>
      </p:sp>
    </p:spTree>
    <p:custDataLst>
      <p:tags r:id="rId1"/>
    </p:custDataLst>
    <p:extLst>
      <p:ext uri="{BB962C8B-B14F-4D97-AF65-F5344CB8AC3E}">
        <p14:creationId xmlns:p14="http://schemas.microsoft.com/office/powerpoint/2010/main" val="2664181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ZONE?" hidden="1">
            <a:extLst>
              <a:ext uri="{FF2B5EF4-FFF2-40B4-BE49-F238E27FC236}">
                <a16:creationId xmlns:a16="http://schemas.microsoft.com/office/drawing/2014/main" id="{D9F1535F-6DC3-F59D-5DE4-C9748B195A7A}"/>
              </a:ext>
            </a:extLst>
          </p:cNvPr>
          <p:cNvSpPr>
            <a:spLocks/>
          </p:cNvSpPr>
          <p:nvPr/>
        </p:nvSpPr>
        <p:spPr>
          <a:xfrm>
            <a:off x="1125801" y="3566606"/>
            <a:ext cx="6339869" cy="214308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37" name="???" hidden="1">
            <a:hlinkClick r:id="" action="ppaction://noaction"/>
            <a:extLst>
              <a:ext uri="{FF2B5EF4-FFF2-40B4-BE49-F238E27FC236}">
                <a16:creationId xmlns:a16="http://schemas.microsoft.com/office/drawing/2014/main" id="{6EA31614-8248-54E2-75F7-BCE99EDBDAC1}"/>
              </a:ext>
            </a:extLst>
          </p:cNvPr>
          <p:cNvSpPr txBox="1">
            <a:spLocks/>
          </p:cNvSpPr>
          <p:nvPr/>
        </p:nvSpPr>
        <p:spPr>
          <a:xfrm>
            <a:off x="10931809" y="3594256"/>
            <a:ext cx="0" cy="356616"/>
          </a:xfrm>
          <a:prstGeom prst="rect">
            <a:avLst/>
          </a:prstGeom>
          <a:noFill/>
          <a:ln>
            <a:noFill/>
          </a:ln>
        </p:spPr>
        <p:txBody>
          <a:bodyPr vert="horz" wrap="none" lIns="0" tIns="0" rIns="0" bIns="0"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00">
                <a:ln>
                  <a:noFill/>
                </a:ln>
                <a:noFill/>
                <a:latin typeface="+mj-lt"/>
              </a:rPr>
              <a:t>4</a:t>
            </a:r>
          </a:p>
        </p:txBody>
      </p:sp>
      <p:sp>
        <p:nvSpPr>
          <p:cNvPr id="38" name="section number" hidden="1">
            <a:extLst>
              <a:ext uri="{FF2B5EF4-FFF2-40B4-BE49-F238E27FC236}">
                <a16:creationId xmlns:a16="http://schemas.microsoft.com/office/drawing/2014/main" id="{57EC5908-94D7-C379-C9C3-7740D7A96534}"/>
              </a:ext>
            </a:extLst>
          </p:cNvPr>
          <p:cNvSpPr txBox="1">
            <a:spLocks/>
          </p:cNvSpPr>
          <p:nvPr/>
        </p:nvSpPr>
        <p:spPr>
          <a:xfrm>
            <a:off x="1289304" y="3617406"/>
            <a:ext cx="3952700" cy="0"/>
          </a:xfrm>
          <a:prstGeom prst="rect">
            <a:avLst/>
          </a:prstGeom>
        </p:spPr>
        <p:txBody>
          <a:bodyPr vert="horz" wrap="square" lIns="0" tIns="0" rIns="0" bIns="4389120"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80000"/>
              </a:lnSpc>
              <a:spcAft>
                <a:spcPts val="600"/>
              </a:spcAft>
            </a:pPr>
            <a:r>
              <a:rPr lang="en-GB" sz="6600" b="1">
                <a:solidFill>
                  <a:srgbClr val="FFFFFF"/>
                </a:solidFill>
                <a:latin typeface="+mj-lt"/>
              </a:rPr>
              <a:t>01</a:t>
            </a:r>
          </a:p>
        </p:txBody>
      </p:sp>
      <p:sp>
        <p:nvSpPr>
          <p:cNvPr id="39" name="section title" hidden="1">
            <a:hlinkClick r:id="" action="ppaction://noaction"/>
            <a:extLst>
              <a:ext uri="{FF2B5EF4-FFF2-40B4-BE49-F238E27FC236}">
                <a16:creationId xmlns:a16="http://schemas.microsoft.com/office/drawing/2014/main" id="{6CE66D06-AAD4-3162-968D-96422DD5983D}"/>
              </a:ext>
            </a:extLst>
          </p:cNvPr>
          <p:cNvSpPr txBox="1">
            <a:spLocks/>
          </p:cNvSpPr>
          <p:nvPr>
            <p:custDataLst>
              <p:tags r:id="rId2"/>
            </p:custDataLst>
          </p:nvPr>
        </p:nvSpPr>
        <p:spPr>
          <a:xfrm>
            <a:off x="1289860" y="3617406"/>
            <a:ext cx="9747504" cy="0"/>
          </a:xfrm>
          <a:prstGeom prst="rect">
            <a:avLst/>
          </a:prstGeom>
          <a:noFill/>
        </p:spPr>
        <p:txBody>
          <a:bodyPr vert="horz" wrap="square" lIns="0" tIns="0" rIns="0" bIns="228600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70000"/>
              </a:lnSpc>
            </a:pPr>
            <a:r>
              <a:rPr lang="en-US" sz="6600">
                <a:solidFill>
                  <a:srgbClr val="FFFFFF"/>
                </a:solidFill>
                <a:latin typeface="+mj-lt"/>
              </a:rPr>
              <a:t>Executive summary</a:t>
            </a:r>
          </a:p>
        </p:txBody>
      </p:sp>
      <p:sp>
        <p:nvSpPr>
          <p:cNvPr id="40" name="slide page number" hidden="1">
            <a:extLst>
              <a:ext uri="{FF2B5EF4-FFF2-40B4-BE49-F238E27FC236}">
                <a16:creationId xmlns:a16="http://schemas.microsoft.com/office/drawing/2014/main" id="{0EE227B2-BC76-59B8-60FA-57F408CD615B}"/>
              </a:ext>
            </a:extLst>
          </p:cNvPr>
          <p:cNvSpPr txBox="1">
            <a:spLocks/>
          </p:cNvSpPr>
          <p:nvPr/>
        </p:nvSpPr>
        <p:spPr>
          <a:xfrm>
            <a:off x="10188234" y="5027889"/>
            <a:ext cx="182880" cy="356616"/>
          </a:xfrm>
          <a:prstGeom prst="rect">
            <a:avLst/>
          </a:prstGeom>
          <a:noFill/>
        </p:spPr>
        <p:txBody>
          <a:bodyPr vert="horz" wrap="square" lIns="0" tIns="0" rIns="0" bIns="0"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400" i="0">
                <a:solidFill>
                  <a:schemeClr val="bg1"/>
                </a:solidFill>
                <a:latin typeface="+mn-lt"/>
              </a:rPr>
              <a:t>1</a:t>
            </a:r>
          </a:p>
        </p:txBody>
      </p:sp>
      <p:sp>
        <p:nvSpPr>
          <p:cNvPr id="41" name="ZoneTexte 19" hidden="1">
            <a:extLst>
              <a:ext uri="{FF2B5EF4-FFF2-40B4-BE49-F238E27FC236}">
                <a16:creationId xmlns:a16="http://schemas.microsoft.com/office/drawing/2014/main" id="{E1EB7D89-468C-377D-8E01-E8D8EE6FCEDA}"/>
              </a:ext>
            </a:extLst>
          </p:cNvPr>
          <p:cNvSpPr txBox="1">
            <a:spLocks/>
          </p:cNvSpPr>
          <p:nvPr/>
        </p:nvSpPr>
        <p:spPr>
          <a:xfrm>
            <a:off x="1174065" y="5027889"/>
            <a:ext cx="9892129" cy="356616"/>
          </a:xfrm>
          <a:prstGeom prst="rect">
            <a:avLst/>
          </a:prstGeom>
          <a:noFill/>
        </p:spPr>
        <p:txBody>
          <a:bodyPr vert="horz" wrap="square" lIns="0" tIns="0" rIns="0" bIns="0"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200" i="0">
                <a:solidFill>
                  <a:schemeClr val="bg1"/>
                </a:solidFill>
                <a:latin typeface="Arial" panose="020B0604020202020204" pitchFamily="34" charset="0"/>
              </a:rPr>
              <a:t>A</a:t>
            </a:r>
          </a:p>
        </p:txBody>
      </p:sp>
      <p:sp>
        <p:nvSpPr>
          <p:cNvPr id="42" name="subsection page number" hidden="1">
            <a:hlinkClick r:id="" action="ppaction://noaction"/>
            <a:extLst>
              <a:ext uri="{FF2B5EF4-FFF2-40B4-BE49-F238E27FC236}">
                <a16:creationId xmlns:a16="http://schemas.microsoft.com/office/drawing/2014/main" id="{FF1A2828-1104-A597-003B-DABE01462957}"/>
              </a:ext>
            </a:extLst>
          </p:cNvPr>
          <p:cNvSpPr txBox="1">
            <a:spLocks/>
          </p:cNvSpPr>
          <p:nvPr/>
        </p:nvSpPr>
        <p:spPr>
          <a:xfrm>
            <a:off x="7428269" y="3594256"/>
            <a:ext cx="0" cy="356616"/>
          </a:xfrm>
          <a:prstGeom prst="rect">
            <a:avLst/>
          </a:prstGeom>
          <a:noFill/>
        </p:spPr>
        <p:txBody>
          <a:bodyPr vert="horz" wrap="square" lIns="1005840" tIns="0" rIns="1097280" bIns="0"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buFont typeface="Arial" panose="020B0604020202020204" pitchFamily="34" charset="0"/>
              <a:buNone/>
            </a:pPr>
            <a:r>
              <a:rPr lang="fr-FR" sz="1400">
                <a:solidFill>
                  <a:srgbClr val="FFFFFF"/>
                </a:solidFill>
                <a:effectLst/>
                <a:latin typeface="+mn-lt"/>
              </a:rPr>
              <a:t>5</a:t>
            </a:r>
          </a:p>
        </p:txBody>
      </p:sp>
      <p:sp>
        <p:nvSpPr>
          <p:cNvPr id="43" name="subsection number" hidden="1">
            <a:extLst>
              <a:ext uri="{FF2B5EF4-FFF2-40B4-BE49-F238E27FC236}">
                <a16:creationId xmlns:a16="http://schemas.microsoft.com/office/drawing/2014/main" id="{E9ECBCC0-9069-D5A3-766B-8EBF1EA207CC}"/>
              </a:ext>
            </a:extLst>
          </p:cNvPr>
          <p:cNvSpPr txBox="1">
            <a:spLocks noChangeArrowheads="1"/>
          </p:cNvSpPr>
          <p:nvPr/>
        </p:nvSpPr>
        <p:spPr bwMode="auto">
          <a:xfrm>
            <a:off x="1332373" y="3594256"/>
            <a:ext cx="201168" cy="356616"/>
          </a:xfrm>
          <a:prstGeom prst="rect">
            <a:avLst/>
          </a:prstGeom>
          <a:noFill/>
          <a:ln w="9525">
            <a:noFill/>
            <a:miter lim="800000"/>
            <a:headEnd/>
            <a:tailEnd/>
          </a:ln>
        </p:spPr>
        <p:txBody>
          <a:bodyPr wrap="none" lIns="0" tIns="0" rIns="274320" bIns="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70000"/>
              </a:lnSpc>
            </a:pPr>
            <a:r>
              <a:rPr lang="fr-FR" sz="2400">
                <a:solidFill>
                  <a:schemeClr val="bg1"/>
                </a:solidFill>
                <a:latin typeface="+mj-lt"/>
              </a:rPr>
              <a:t>1.1</a:t>
            </a:r>
          </a:p>
        </p:txBody>
      </p:sp>
      <p:sp>
        <p:nvSpPr>
          <p:cNvPr id="44" name="subsection title" hidden="1">
            <a:hlinkClick r:id="" action="ppaction://noaction"/>
            <a:extLst>
              <a:ext uri="{FF2B5EF4-FFF2-40B4-BE49-F238E27FC236}">
                <a16:creationId xmlns:a16="http://schemas.microsoft.com/office/drawing/2014/main" id="{67ADA6D5-A44C-6AD3-5EE0-73DCA81FB516}"/>
              </a:ext>
            </a:extLst>
          </p:cNvPr>
          <p:cNvSpPr txBox="1">
            <a:spLocks/>
          </p:cNvSpPr>
          <p:nvPr>
            <p:custDataLst>
              <p:tags r:id="rId3"/>
            </p:custDataLst>
          </p:nvPr>
        </p:nvSpPr>
        <p:spPr>
          <a:xfrm>
            <a:off x="1714809" y="3594256"/>
            <a:ext cx="2504494" cy="356616"/>
          </a:xfrm>
          <a:prstGeom prst="rect">
            <a:avLst/>
          </a:prstGeom>
          <a:noFill/>
        </p:spPr>
        <p:txBody>
          <a:bodyPr vert="horz" wrap="square" lIns="0" tIns="0" rIns="0" bIns="0"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Font typeface="Arial" panose="020B0604020202020204" pitchFamily="34" charset="0"/>
              <a:buNone/>
            </a:pPr>
            <a:r>
              <a:rPr lang="en-US" sz="1600">
                <a:solidFill>
                  <a:srgbClr val="FFFFFF"/>
                </a:solidFill>
                <a:effectLst/>
                <a:latin typeface="+mn-lt"/>
              </a:rPr>
              <a:t>Subsection Title</a:t>
            </a:r>
          </a:p>
        </p:txBody>
      </p:sp>
      <p:sp>
        <p:nvSpPr>
          <p:cNvPr id="1269" name="TextBox 1268">
            <a:hlinkClick r:id="rId16" action="ppaction://hlinksldjump"/>
            <a:extLst>
              <a:ext uri="{FF2B5EF4-FFF2-40B4-BE49-F238E27FC236}">
                <a16:creationId xmlns:a16="http://schemas.microsoft.com/office/drawing/2014/main" id="{0AB15A08-DB7B-179E-AB60-3B6609A6221E}"/>
              </a:ext>
            </a:extLst>
          </p:cNvPr>
          <p:cNvSpPr txBox="1"/>
          <p:nvPr>
            <p:custDataLst>
              <p:tags r:id="rId4"/>
            </p:custDataLst>
          </p:nvPr>
        </p:nvSpPr>
        <p:spPr>
          <a:xfrm>
            <a:off x="1714809" y="3869882"/>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Company &amp; transaction overview</a:t>
            </a:r>
          </a:p>
        </p:txBody>
      </p:sp>
      <p:sp>
        <p:nvSpPr>
          <p:cNvPr id="1270" name="TextBox 1269">
            <a:hlinkClick r:id="rId17" action="ppaction://hlinksldjump"/>
            <a:extLst>
              <a:ext uri="{FF2B5EF4-FFF2-40B4-BE49-F238E27FC236}">
                <a16:creationId xmlns:a16="http://schemas.microsoft.com/office/drawing/2014/main" id="{C4CB41EC-D21D-EB97-E51E-84D0B9F2CD44}"/>
              </a:ext>
            </a:extLst>
          </p:cNvPr>
          <p:cNvSpPr txBox="1"/>
          <p:nvPr>
            <p:custDataLst>
              <p:tags r:id="rId5"/>
            </p:custDataLst>
          </p:nvPr>
        </p:nvSpPr>
        <p:spPr>
          <a:xfrm>
            <a:off x="1714809" y="4264598"/>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Summary financials</a:t>
            </a:r>
          </a:p>
        </p:txBody>
      </p:sp>
      <p:sp>
        <p:nvSpPr>
          <p:cNvPr id="1271" name="TextBox 1270">
            <a:hlinkClick r:id="rId18" action="ppaction://hlinksldjump"/>
            <a:extLst>
              <a:ext uri="{FF2B5EF4-FFF2-40B4-BE49-F238E27FC236}">
                <a16:creationId xmlns:a16="http://schemas.microsoft.com/office/drawing/2014/main" id="{0F2E306B-B8FF-DE19-1165-1D6B7E1D2D62}"/>
              </a:ext>
            </a:extLst>
          </p:cNvPr>
          <p:cNvSpPr txBox="1"/>
          <p:nvPr>
            <p:custDataLst>
              <p:tags r:id="rId6"/>
            </p:custDataLst>
          </p:nvPr>
        </p:nvSpPr>
        <p:spPr>
          <a:xfrm>
            <a:off x="1714809" y="4659314"/>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Headlines</a:t>
            </a:r>
          </a:p>
        </p:txBody>
      </p:sp>
      <p:sp>
        <p:nvSpPr>
          <p:cNvPr id="1272" name="TextBox 1271">
            <a:hlinkClick r:id="rId19" action="ppaction://hlinksldjump"/>
            <a:extLst>
              <a:ext uri="{FF2B5EF4-FFF2-40B4-BE49-F238E27FC236}">
                <a16:creationId xmlns:a16="http://schemas.microsoft.com/office/drawing/2014/main" id="{B0A541EC-6131-F7B8-F107-0C14C4EA5A61}"/>
              </a:ext>
            </a:extLst>
          </p:cNvPr>
          <p:cNvSpPr txBox="1"/>
          <p:nvPr>
            <p:custDataLst>
              <p:tags r:id="rId7"/>
            </p:custDataLst>
          </p:nvPr>
        </p:nvSpPr>
        <p:spPr>
          <a:xfrm>
            <a:off x="1289304" y="3566606"/>
            <a:ext cx="3952700" cy="0"/>
          </a:xfrm>
          <a:prstGeom prst="rect">
            <a:avLst/>
          </a:prstGeom>
        </p:spPr>
        <p:txBody>
          <a:bodyPr vert="horz" wrap="none" lIns="0" tIns="0" rIns="0" bIns="4389120" rtlCol="0" anchor="t" anchorCtr="0">
            <a:noAutofit/>
          </a:bodyPr>
          <a:lstStyle/>
          <a:p>
            <a:pPr algn="l">
              <a:lnSpc>
                <a:spcPct val="80000"/>
              </a:lnSpc>
              <a:spcAft>
                <a:spcPts val="600"/>
              </a:spcAft>
            </a:pPr>
            <a:r>
              <a:rPr lang="en-US" sz="6600" b="1">
                <a:solidFill>
                  <a:srgbClr val="FFFFFF"/>
                </a:solidFill>
                <a:latin typeface="+mj-lt"/>
              </a:rPr>
              <a:t>01</a:t>
            </a:r>
          </a:p>
        </p:txBody>
      </p:sp>
      <p:sp>
        <p:nvSpPr>
          <p:cNvPr id="1273" name="TextBox 1272">
            <a:hlinkClick r:id="rId19" action="ppaction://hlinksldjump"/>
            <a:extLst>
              <a:ext uri="{FF2B5EF4-FFF2-40B4-BE49-F238E27FC236}">
                <a16:creationId xmlns:a16="http://schemas.microsoft.com/office/drawing/2014/main" id="{9515A24E-3B4F-3F90-6B4A-86370C411BBB}"/>
              </a:ext>
            </a:extLst>
          </p:cNvPr>
          <p:cNvSpPr txBox="1"/>
          <p:nvPr>
            <p:custDataLst>
              <p:tags r:id="rId8"/>
            </p:custDataLst>
          </p:nvPr>
        </p:nvSpPr>
        <p:spPr>
          <a:xfrm>
            <a:off x="6163612" y="3209990"/>
            <a:ext cx="0" cy="356616"/>
          </a:xfrm>
          <a:prstGeom prst="rect">
            <a:avLst/>
          </a:prstGeom>
          <a:noFill/>
          <a:ln>
            <a:noFill/>
          </a:ln>
        </p:spPr>
        <p:txBody>
          <a:bodyPr vert="horz" wrap="none" lIns="0" tIns="0" rIns="0" bIns="0" rtlCol="0" anchor="t" anchorCtr="0">
            <a:noAutofit/>
          </a:bodyPr>
          <a:lstStyle/>
          <a:p>
            <a:pPr algn="ctr"/>
            <a:r>
              <a:rPr lang="en-US" sz="100">
                <a:ln>
                  <a:noFill/>
                </a:ln>
                <a:noFill/>
                <a:latin typeface="+mj-lt"/>
              </a:rPr>
              <a:t>3</a:t>
            </a:r>
          </a:p>
        </p:txBody>
      </p:sp>
      <p:sp>
        <p:nvSpPr>
          <p:cNvPr id="1274" name="TextBox 1273">
            <a:hlinkClick r:id="rId16" action="ppaction://hlinksldjump"/>
            <a:extLst>
              <a:ext uri="{FF2B5EF4-FFF2-40B4-BE49-F238E27FC236}">
                <a16:creationId xmlns:a16="http://schemas.microsoft.com/office/drawing/2014/main" id="{F56DE9F2-1648-2EAE-5255-053570CC448D}"/>
              </a:ext>
            </a:extLst>
          </p:cNvPr>
          <p:cNvSpPr txBox="1"/>
          <p:nvPr>
            <p:custDataLst>
              <p:tags r:id="rId9"/>
            </p:custDataLst>
          </p:nvPr>
        </p:nvSpPr>
        <p:spPr bwMode="auto">
          <a:xfrm>
            <a:off x="1332373" y="3869882"/>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1.1</a:t>
            </a:r>
          </a:p>
        </p:txBody>
      </p:sp>
      <p:sp>
        <p:nvSpPr>
          <p:cNvPr id="1275" name="TextBox 1274">
            <a:hlinkClick r:id="rId17" action="ppaction://hlinksldjump"/>
            <a:extLst>
              <a:ext uri="{FF2B5EF4-FFF2-40B4-BE49-F238E27FC236}">
                <a16:creationId xmlns:a16="http://schemas.microsoft.com/office/drawing/2014/main" id="{A487951A-DB4C-0604-1628-0A72E33D7ACC}"/>
              </a:ext>
            </a:extLst>
          </p:cNvPr>
          <p:cNvSpPr txBox="1"/>
          <p:nvPr>
            <p:custDataLst>
              <p:tags r:id="rId10"/>
            </p:custDataLst>
          </p:nvPr>
        </p:nvSpPr>
        <p:spPr bwMode="auto">
          <a:xfrm>
            <a:off x="1332373" y="4264598"/>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1.2</a:t>
            </a:r>
          </a:p>
        </p:txBody>
      </p:sp>
      <p:sp>
        <p:nvSpPr>
          <p:cNvPr id="1276" name="TextBox 1275">
            <a:hlinkClick r:id="rId18" action="ppaction://hlinksldjump"/>
            <a:extLst>
              <a:ext uri="{FF2B5EF4-FFF2-40B4-BE49-F238E27FC236}">
                <a16:creationId xmlns:a16="http://schemas.microsoft.com/office/drawing/2014/main" id="{581FA8AD-EF14-8483-D442-47EB5B1ED296}"/>
              </a:ext>
            </a:extLst>
          </p:cNvPr>
          <p:cNvSpPr txBox="1"/>
          <p:nvPr>
            <p:custDataLst>
              <p:tags r:id="rId11"/>
            </p:custDataLst>
          </p:nvPr>
        </p:nvSpPr>
        <p:spPr bwMode="auto">
          <a:xfrm>
            <a:off x="1332373" y="4659314"/>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1.3</a:t>
            </a:r>
          </a:p>
        </p:txBody>
      </p:sp>
      <p:sp>
        <p:nvSpPr>
          <p:cNvPr id="1277" name="TextBox 1276">
            <a:hlinkClick r:id="rId16" action="ppaction://hlinksldjump"/>
            <a:extLst>
              <a:ext uri="{FF2B5EF4-FFF2-40B4-BE49-F238E27FC236}">
                <a16:creationId xmlns:a16="http://schemas.microsoft.com/office/drawing/2014/main" id="{0F0D1F08-9D94-EE55-2F00-517988F50004}"/>
              </a:ext>
            </a:extLst>
          </p:cNvPr>
          <p:cNvSpPr txBox="1"/>
          <p:nvPr>
            <p:custDataLst>
              <p:tags r:id="rId12"/>
            </p:custDataLst>
          </p:nvPr>
        </p:nvSpPr>
        <p:spPr>
          <a:xfrm>
            <a:off x="6163612" y="3869882"/>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4</a:t>
            </a:r>
          </a:p>
        </p:txBody>
      </p:sp>
      <p:sp>
        <p:nvSpPr>
          <p:cNvPr id="1278" name="TextBox 1277">
            <a:hlinkClick r:id="rId17" action="ppaction://hlinksldjump"/>
            <a:extLst>
              <a:ext uri="{FF2B5EF4-FFF2-40B4-BE49-F238E27FC236}">
                <a16:creationId xmlns:a16="http://schemas.microsoft.com/office/drawing/2014/main" id="{6E3E9482-CAAB-1DFC-A95F-27557B8792BA}"/>
              </a:ext>
            </a:extLst>
          </p:cNvPr>
          <p:cNvSpPr txBox="1"/>
          <p:nvPr>
            <p:custDataLst>
              <p:tags r:id="rId13"/>
            </p:custDataLst>
          </p:nvPr>
        </p:nvSpPr>
        <p:spPr>
          <a:xfrm>
            <a:off x="6163612" y="4264598"/>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5</a:t>
            </a:r>
          </a:p>
        </p:txBody>
      </p:sp>
      <p:sp>
        <p:nvSpPr>
          <p:cNvPr id="1279" name="TextBox 1278">
            <a:hlinkClick r:id="rId18" action="ppaction://hlinksldjump"/>
            <a:extLst>
              <a:ext uri="{FF2B5EF4-FFF2-40B4-BE49-F238E27FC236}">
                <a16:creationId xmlns:a16="http://schemas.microsoft.com/office/drawing/2014/main" id="{3B4785F1-A4B2-1D1C-B641-2A1D1913E742}"/>
              </a:ext>
            </a:extLst>
          </p:cNvPr>
          <p:cNvSpPr txBox="1"/>
          <p:nvPr>
            <p:custDataLst>
              <p:tags r:id="rId14"/>
            </p:custDataLst>
          </p:nvPr>
        </p:nvSpPr>
        <p:spPr>
          <a:xfrm>
            <a:off x="6163612" y="4659314"/>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6</a:t>
            </a:r>
          </a:p>
        </p:txBody>
      </p:sp>
    </p:spTree>
    <p:custDataLst>
      <p:tags r:id="rId1"/>
    </p:custDataLst>
    <p:extLst>
      <p:ext uri="{BB962C8B-B14F-4D97-AF65-F5344CB8AC3E}">
        <p14:creationId xmlns:p14="http://schemas.microsoft.com/office/powerpoint/2010/main" val="12690482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2">
            <a:extLst>
              <a:ext uri="{FF2B5EF4-FFF2-40B4-BE49-F238E27FC236}">
                <a16:creationId xmlns:a16="http://schemas.microsoft.com/office/drawing/2014/main" id="{A4178F1A-BE7E-6C10-1ED7-5970FDE6F4B1}"/>
              </a:ext>
            </a:extLst>
          </p:cNvPr>
          <p:cNvSpPr txBox="1">
            <a:spLocks/>
          </p:cNvSpPr>
          <p:nvPr/>
        </p:nvSpPr>
        <p:spPr>
          <a:xfrm>
            <a:off x="992185" y="3977675"/>
            <a:ext cx="4854923" cy="57964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indent="-365760" defTabSz="444500" rtl="0">
              <a:spcAft>
                <a:spcPts val="200"/>
              </a:spcAft>
            </a:pPr>
            <a:r>
              <a:rPr lang="en-US" sz="600" b="0">
                <a:solidFill>
                  <a:schemeClr val="tx2"/>
                </a:solidFill>
                <a:latin typeface="Arial" panose="020B0604020202020204" pitchFamily="34" charset="0"/>
              </a:rPr>
              <a:t>Note: 	Fastcase Inc is a sole shareholder of two Chinese entities: Handan Fastcase Software Development CO, LTD* and Qinhuangdao 	Fastcase Software Development CO, LTD. However an </a:t>
            </a:r>
            <a:r>
              <a:rPr lang="en-US" sz="600" b="0">
                <a:solidFill>
                  <a:srgbClr val="00338D"/>
                </a:solidFill>
                <a:latin typeface="Arial" panose="020B0604020202020204" pitchFamily="34" charset="0"/>
              </a:rPr>
              <a:t>agreement was reached for the sale of 100% of those companies. The 	transfer is in process of being registered with the Chinese authorities. When the transfer is completed, these entities will no longer 	form part of the Group. Potential severance and tax liabilities </a:t>
            </a:r>
            <a:r>
              <a:rPr lang="en-US" sz="600" b="0">
                <a:solidFill>
                  <a:schemeClr val="tx2"/>
                </a:solidFill>
                <a:latin typeface="Arial" panose="020B0604020202020204" pitchFamily="34" charset="0"/>
              </a:rPr>
              <a:t>associated with the disposal of the entities are considered in our 	net cash / debt.</a:t>
            </a:r>
          </a:p>
          <a:p>
            <a:pPr indent="-365760" defTabSz="444500" rtl="0">
              <a:spcAft>
                <a:spcPts val="200"/>
              </a:spcAft>
            </a:pPr>
            <a:r>
              <a:rPr lang="en-US" sz="600" b="0">
                <a:solidFill>
                  <a:schemeClr val="tx2"/>
                </a:solidFill>
                <a:latin typeface="Arial" panose="020B0604020202020204" pitchFamily="34" charset="0"/>
              </a:rPr>
              <a:t>Source: 	1.2.1_20250424 Group Corporate Chart.pptx</a:t>
            </a:r>
          </a:p>
        </p:txBody>
      </p:sp>
      <p:graphicFrame>
        <p:nvGraphicFramePr>
          <p:cNvPr id="7" name="Object 6" hidden="1">
            <a:extLst>
              <a:ext uri="{FF2B5EF4-FFF2-40B4-BE49-F238E27FC236}">
                <a16:creationId xmlns:a16="http://schemas.microsoft.com/office/drawing/2014/main" id="{17BDC983-3651-4649-8E2C-9EADB38B53F8}"/>
              </a:ext>
            </a:extLst>
          </p:cNvPr>
          <p:cNvGraphicFramePr>
            <a:graphicFrameLocks noChangeAspect="1"/>
          </p:cNvGraphicFramePr>
          <p:nvPr>
            <p:custDataLst>
              <p:tags r:id="rId1"/>
            </p:custDataLst>
            <p:extLst>
              <p:ext uri="{D42A27DB-BD31-4B8C-83A1-F6EECF244321}">
                <p14:modId xmlns:p14="http://schemas.microsoft.com/office/powerpoint/2010/main" val="809032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7" name="Object 6" hidden="1">
                        <a:extLst>
                          <a:ext uri="{FF2B5EF4-FFF2-40B4-BE49-F238E27FC236}">
                            <a16:creationId xmlns:a16="http://schemas.microsoft.com/office/drawing/2014/main" id="{17BDC983-3651-4649-8E2C-9EADB38B53F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7" name="Title 26">
            <a:extLst>
              <a:ext uri="{FF2B5EF4-FFF2-40B4-BE49-F238E27FC236}">
                <a16:creationId xmlns:a16="http://schemas.microsoft.com/office/drawing/2014/main" id="{061C000C-7977-4446-9E6E-613EE37E9228}"/>
              </a:ext>
            </a:extLst>
          </p:cNvPr>
          <p:cNvSpPr>
            <a:spLocks noGrp="1"/>
          </p:cNvSpPr>
          <p:nvPr>
            <p:ph type="title"/>
          </p:nvPr>
        </p:nvSpPr>
        <p:spPr>
          <a:xfrm>
            <a:off x="995362" y="431800"/>
            <a:ext cx="10204452" cy="539750"/>
          </a:xfrm>
        </p:spPr>
        <p:txBody>
          <a:bodyPr vert="horz"/>
          <a:lstStyle/>
          <a:p>
            <a:pPr>
              <a:buClr>
                <a:schemeClr val="dk1">
                  <a:lumMod val="100000"/>
                </a:schemeClr>
              </a:buClr>
            </a:pPr>
            <a:r>
              <a:rPr lang="en-US"/>
              <a:t>Company &amp; transaction overview</a:t>
            </a:r>
          </a:p>
        </p:txBody>
      </p:sp>
      <p:sp>
        <p:nvSpPr>
          <p:cNvPr id="143" name="Rectangle 142">
            <a:hlinkClick r:id="" action="ppaction://noaction"/>
            <a:extLst>
              <a:ext uri="{FF2B5EF4-FFF2-40B4-BE49-F238E27FC236}">
                <a16:creationId xmlns:a16="http://schemas.microsoft.com/office/drawing/2014/main" id="{15ADAD06-F8A1-4771-98D8-4A9C7B4A85D5}"/>
              </a:ext>
            </a:extLst>
          </p:cNvPr>
          <p:cNvSpPr/>
          <p:nvPr/>
        </p:nvSpPr>
        <p:spPr>
          <a:xfrm>
            <a:off x="6293680" y="-500622"/>
            <a:ext cx="138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
        <p:nvSpPr>
          <p:cNvPr id="3" name="UpSlide SubSection Marker" hidden="1">
            <a:extLst>
              <a:ext uri="{FF2B5EF4-FFF2-40B4-BE49-F238E27FC236}">
                <a16:creationId xmlns:a16="http://schemas.microsoft.com/office/drawing/2014/main" id="{D5C356DB-6399-8A4D-BDCD-312E478D87CD}"/>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Company &amp; transaction overview</a:t>
            </a:r>
          </a:p>
        </p:txBody>
      </p:sp>
      <p:sp>
        <p:nvSpPr>
          <p:cNvPr id="90" name="TextBox 89">
            <a:extLst>
              <a:ext uri="{FF2B5EF4-FFF2-40B4-BE49-F238E27FC236}">
                <a16:creationId xmlns:a16="http://schemas.microsoft.com/office/drawing/2014/main" id="{39A11133-4056-6B60-E6E2-3EC5212309DB}"/>
              </a:ext>
            </a:extLst>
          </p:cNvPr>
          <p:cNvSpPr txBox="1">
            <a:spLocks/>
          </p:cNvSpPr>
          <p:nvPr/>
        </p:nvSpPr>
        <p:spPr>
          <a:xfrm>
            <a:off x="2921606" y="2147713"/>
            <a:ext cx="1011209" cy="308471"/>
          </a:xfrm>
          <a:prstGeom prst="rect">
            <a:avLst/>
          </a:prstGeom>
          <a:solidFill>
            <a:srgbClr val="00B8F5"/>
          </a:solidFill>
        </p:spPr>
        <p:txBody>
          <a:bodyPr wrap="square" lIns="90000" tIns="90000" rIns="90000" bIns="90000" rtlCol="0" anchor="ctr" anchorCtr="0">
            <a:noAutofit/>
          </a:bodyPr>
          <a:lstStyle/>
          <a:p>
            <a:pPr algn="ctr"/>
            <a:r>
              <a:rPr lang="en-US" sz="1000" b="1">
                <a:solidFill>
                  <a:schemeClr val="bg1"/>
                </a:solidFill>
              </a:rPr>
              <a:t>Felix Spain Bidco, S.L.</a:t>
            </a:r>
            <a:endParaRPr lang="en-US" sz="1000">
              <a:solidFill>
                <a:schemeClr val="bg1"/>
              </a:solidFill>
            </a:endParaRPr>
          </a:p>
        </p:txBody>
      </p:sp>
      <p:sp>
        <p:nvSpPr>
          <p:cNvPr id="91" name="TextBox 90">
            <a:extLst>
              <a:ext uri="{FF2B5EF4-FFF2-40B4-BE49-F238E27FC236}">
                <a16:creationId xmlns:a16="http://schemas.microsoft.com/office/drawing/2014/main" id="{A6571380-2E5E-14A3-1E9D-AD386D8DCC77}"/>
              </a:ext>
            </a:extLst>
          </p:cNvPr>
          <p:cNvSpPr txBox="1">
            <a:spLocks/>
          </p:cNvSpPr>
          <p:nvPr/>
        </p:nvSpPr>
        <p:spPr>
          <a:xfrm>
            <a:off x="2312894" y="1580788"/>
            <a:ext cx="2232212" cy="314284"/>
          </a:xfrm>
          <a:prstGeom prst="rect">
            <a:avLst/>
          </a:prstGeom>
          <a:solidFill>
            <a:schemeClr val="tx2"/>
          </a:solidFill>
          <a:ln w="6350">
            <a:noFill/>
          </a:ln>
        </p:spPr>
        <p:txBody>
          <a:bodyPr wrap="square" lIns="90000" tIns="90000" rIns="90000" bIns="90000" rtlCol="0" anchor="ctr" anchorCtr="0">
            <a:noAutofit/>
          </a:bodyPr>
          <a:lstStyle/>
          <a:p>
            <a:pPr algn="ctr"/>
            <a:r>
              <a:rPr lang="en-US" sz="1000" b="1">
                <a:solidFill>
                  <a:schemeClr val="bg1"/>
                </a:solidFill>
              </a:rPr>
              <a:t>Institutional Seller &amp; </a:t>
            </a:r>
          </a:p>
          <a:p>
            <a:pPr algn="ctr"/>
            <a:r>
              <a:rPr lang="en-US" sz="1000" b="1">
                <a:solidFill>
                  <a:schemeClr val="bg1"/>
                </a:solidFill>
              </a:rPr>
              <a:t>Individual Sellers</a:t>
            </a:r>
          </a:p>
        </p:txBody>
      </p:sp>
      <p:cxnSp>
        <p:nvCxnSpPr>
          <p:cNvPr id="92" name="Straight Connector 91">
            <a:extLst>
              <a:ext uri="{FF2B5EF4-FFF2-40B4-BE49-F238E27FC236}">
                <a16:creationId xmlns:a16="http://schemas.microsoft.com/office/drawing/2014/main" id="{8A51DF4C-9314-99DF-FD57-DFA06015E3E1}"/>
              </a:ext>
            </a:extLst>
          </p:cNvPr>
          <p:cNvCxnSpPr>
            <a:cxnSpLocks/>
            <a:stCxn id="90" idx="0"/>
            <a:endCxn id="91" idx="2"/>
          </p:cNvCxnSpPr>
          <p:nvPr/>
        </p:nvCxnSpPr>
        <p:spPr>
          <a:xfrm flipV="1">
            <a:off x="3427211" y="1895072"/>
            <a:ext cx="1789" cy="252641"/>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8F525688-7E9A-265D-7ED1-B39891688E19}"/>
              </a:ext>
            </a:extLst>
          </p:cNvPr>
          <p:cNvSpPr txBox="1"/>
          <p:nvPr/>
        </p:nvSpPr>
        <p:spPr>
          <a:xfrm>
            <a:off x="1731661" y="2648393"/>
            <a:ext cx="1311769" cy="292030"/>
          </a:xfrm>
          <a:prstGeom prst="rect">
            <a:avLst/>
          </a:prstGeom>
          <a:solidFill>
            <a:schemeClr val="accent1"/>
          </a:solidFill>
        </p:spPr>
        <p:txBody>
          <a:bodyPr wrap="square" lIns="90000" tIns="90000" rIns="90000" bIns="90000" rtlCol="0" anchor="ctr" anchorCtr="0">
            <a:noAutofit/>
          </a:bodyPr>
          <a:lstStyle/>
          <a:p>
            <a:pPr algn="ctr"/>
            <a:r>
              <a:rPr lang="en-US" sz="1000" b="1">
                <a:solidFill>
                  <a:schemeClr val="bg1"/>
                </a:solidFill>
              </a:rPr>
              <a:t>Fastcase, Inc.</a:t>
            </a:r>
            <a:endParaRPr lang="en-US" sz="1000">
              <a:solidFill>
                <a:schemeClr val="bg1"/>
              </a:solidFill>
            </a:endParaRPr>
          </a:p>
        </p:txBody>
      </p:sp>
      <p:sp>
        <p:nvSpPr>
          <p:cNvPr id="94" name="TextBox 93">
            <a:extLst>
              <a:ext uri="{FF2B5EF4-FFF2-40B4-BE49-F238E27FC236}">
                <a16:creationId xmlns:a16="http://schemas.microsoft.com/office/drawing/2014/main" id="{16C9C80D-0F94-0F1D-A375-58FC273846F6}"/>
              </a:ext>
            </a:extLst>
          </p:cNvPr>
          <p:cNvSpPr txBox="1"/>
          <p:nvPr/>
        </p:nvSpPr>
        <p:spPr>
          <a:xfrm>
            <a:off x="4051048" y="2648393"/>
            <a:ext cx="1311769" cy="292031"/>
          </a:xfrm>
          <a:prstGeom prst="rect">
            <a:avLst/>
          </a:prstGeom>
          <a:solidFill>
            <a:schemeClr val="accent1"/>
          </a:solidFill>
        </p:spPr>
        <p:txBody>
          <a:bodyPr wrap="square" lIns="90000" tIns="90000" rIns="90000" bIns="90000" rtlCol="0" anchor="ctr" anchorCtr="0">
            <a:noAutofit/>
          </a:bodyPr>
          <a:lstStyle/>
          <a:p>
            <a:pPr algn="ctr"/>
            <a:r>
              <a:rPr lang="en-US" sz="1000" b="1">
                <a:solidFill>
                  <a:schemeClr val="bg1"/>
                </a:solidFill>
              </a:rPr>
              <a:t>vLex Networks S.L.</a:t>
            </a:r>
            <a:endParaRPr lang="en-US" sz="1000">
              <a:solidFill>
                <a:schemeClr val="bg1"/>
              </a:solidFill>
            </a:endParaRPr>
          </a:p>
        </p:txBody>
      </p:sp>
      <p:cxnSp>
        <p:nvCxnSpPr>
          <p:cNvPr id="97" name="Connector: Elbow 96">
            <a:extLst>
              <a:ext uri="{FF2B5EF4-FFF2-40B4-BE49-F238E27FC236}">
                <a16:creationId xmlns:a16="http://schemas.microsoft.com/office/drawing/2014/main" id="{924BE333-7CFE-3A93-34EF-88F4197E1012}"/>
              </a:ext>
            </a:extLst>
          </p:cNvPr>
          <p:cNvCxnSpPr>
            <a:cxnSpLocks/>
            <a:stCxn id="93" idx="0"/>
            <a:endCxn id="90" idx="2"/>
          </p:cNvCxnSpPr>
          <p:nvPr/>
        </p:nvCxnSpPr>
        <p:spPr>
          <a:xfrm rot="5400000" flipH="1" flipV="1">
            <a:off x="2811274" y="2032457"/>
            <a:ext cx="192209" cy="1039665"/>
          </a:xfrm>
          <a:prstGeom prst="bentConnector3">
            <a:avLst>
              <a:gd name="adj1" fmla="val 50000"/>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8" name="Connector: Elbow 97">
            <a:extLst>
              <a:ext uri="{FF2B5EF4-FFF2-40B4-BE49-F238E27FC236}">
                <a16:creationId xmlns:a16="http://schemas.microsoft.com/office/drawing/2014/main" id="{27F38147-B95A-81E4-6C8A-DCD97D23DCAA}"/>
              </a:ext>
            </a:extLst>
          </p:cNvPr>
          <p:cNvCxnSpPr>
            <a:cxnSpLocks/>
            <a:stCxn id="94" idx="0"/>
            <a:endCxn id="90" idx="2"/>
          </p:cNvCxnSpPr>
          <p:nvPr/>
        </p:nvCxnSpPr>
        <p:spPr>
          <a:xfrm rot="16200000" flipV="1">
            <a:off x="3970968" y="1912428"/>
            <a:ext cx="192209" cy="1279722"/>
          </a:xfrm>
          <a:prstGeom prst="bentConnector3">
            <a:avLst>
              <a:gd name="adj1" fmla="val 50000"/>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sp>
        <p:nvSpPr>
          <p:cNvPr id="101" name="Rectangle 100">
            <a:extLst>
              <a:ext uri="{FF2B5EF4-FFF2-40B4-BE49-F238E27FC236}">
                <a16:creationId xmlns:a16="http://schemas.microsoft.com/office/drawing/2014/main" id="{88AA52DD-DB10-A24C-87CA-3884930E7400}"/>
              </a:ext>
            </a:extLst>
          </p:cNvPr>
          <p:cNvSpPr/>
          <p:nvPr/>
        </p:nvSpPr>
        <p:spPr>
          <a:xfrm>
            <a:off x="1006675" y="1994726"/>
            <a:ext cx="4854923" cy="1883295"/>
          </a:xfrm>
          <a:prstGeom prst="rect">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r>
              <a:rPr lang="en-US" sz="1000" b="1">
                <a:solidFill>
                  <a:schemeClr val="tx2"/>
                </a:solidFill>
              </a:rPr>
              <a:t>Transaction perimeter</a:t>
            </a:r>
          </a:p>
        </p:txBody>
      </p:sp>
      <p:sp>
        <p:nvSpPr>
          <p:cNvPr id="102" name="TextBox 101">
            <a:extLst>
              <a:ext uri="{FF2B5EF4-FFF2-40B4-BE49-F238E27FC236}">
                <a16:creationId xmlns:a16="http://schemas.microsoft.com/office/drawing/2014/main" id="{8EBDACA5-D695-5AB5-865E-B96C52D2813A}"/>
              </a:ext>
            </a:extLst>
          </p:cNvPr>
          <p:cNvSpPr txBox="1">
            <a:spLocks/>
          </p:cNvSpPr>
          <p:nvPr/>
        </p:nvSpPr>
        <p:spPr>
          <a:xfrm>
            <a:off x="998401" y="1202688"/>
            <a:ext cx="4219935" cy="295466"/>
          </a:xfrm>
          <a:prstGeom prst="rect">
            <a:avLst/>
          </a:prstGeom>
          <a:noFill/>
        </p:spPr>
        <p:txBody>
          <a:bodyPr wrap="square" lIns="0" tIns="0" rIns="0" bIns="0" anchor="t">
            <a:spAutoFit/>
          </a:bodyPr>
          <a:lstStyle/>
          <a:p>
            <a:pPr>
              <a:lnSpc>
                <a:spcPct val="80000"/>
              </a:lnSpc>
            </a:pPr>
            <a:r>
              <a:rPr lang="en-US" sz="2400">
                <a:solidFill>
                  <a:schemeClr val="accent1"/>
                </a:solidFill>
                <a:latin typeface="+mj-lt"/>
              </a:rPr>
              <a:t>Legal chart</a:t>
            </a:r>
          </a:p>
        </p:txBody>
      </p:sp>
      <p:sp>
        <p:nvSpPr>
          <p:cNvPr id="4" name="TextBox 3">
            <a:extLst>
              <a:ext uri="{FF2B5EF4-FFF2-40B4-BE49-F238E27FC236}">
                <a16:creationId xmlns:a16="http://schemas.microsoft.com/office/drawing/2014/main" id="{932F619B-701A-A912-DCF7-9B1B55AC531A}"/>
              </a:ext>
            </a:extLst>
          </p:cNvPr>
          <p:cNvSpPr txBox="1">
            <a:spLocks/>
          </p:cNvSpPr>
          <p:nvPr/>
        </p:nvSpPr>
        <p:spPr>
          <a:xfrm>
            <a:off x="6224839" y="1576357"/>
            <a:ext cx="4974975" cy="4039567"/>
          </a:xfrm>
          <a:prstGeom prst="rect">
            <a:avLst/>
          </a:prstGeom>
          <a:noFill/>
        </p:spPr>
        <p:txBody>
          <a:bodyPr wrap="square" lIns="0" tIns="0" rIns="0" bIns="0">
            <a:spAutoFit/>
          </a:bodyPr>
          <a:lstStyle/>
          <a:p>
            <a:pPr>
              <a:lnSpc>
                <a:spcPts val="1200"/>
              </a:lnSpc>
              <a:spcAft>
                <a:spcPts val="600"/>
              </a:spcAft>
              <a:defRPr/>
            </a:pPr>
            <a:r>
              <a:rPr lang="en-US" sz="1000">
                <a:latin typeface="Arial"/>
              </a:rPr>
              <a:t>Themis Solutions Inc. (“Clio”) is proposing to acquire 100% of the outstanding shares of Felix Spain Bidco, S.L. (“Vortex”, “Target” or the “Company”) through a combination of cash and shares (the “Proposal”).</a:t>
            </a:r>
          </a:p>
          <a:p>
            <a:pPr>
              <a:lnSpc>
                <a:spcPts val="1200"/>
              </a:lnSpc>
              <a:spcAft>
                <a:spcPts val="600"/>
              </a:spcAft>
              <a:defRPr/>
            </a:pPr>
            <a:r>
              <a:rPr lang="en-US" sz="1000">
                <a:latin typeface="Arial"/>
              </a:rPr>
              <a:t>The proposed acquisition and associated valuation include a number of terms relevant to the analysis in this report – these are summarized below:</a:t>
            </a:r>
          </a:p>
          <a:p>
            <a:pPr marL="171450" indent="-171450">
              <a:lnSpc>
                <a:spcPts val="1200"/>
              </a:lnSpc>
              <a:spcAft>
                <a:spcPts val="600"/>
              </a:spcAft>
              <a:buFont typeface="Arial" panose="020B0604020202020204" pitchFamily="34" charset="0"/>
              <a:buChar char="•"/>
              <a:defRPr/>
            </a:pPr>
            <a:r>
              <a:rPr lang="en-US" sz="1000">
                <a:latin typeface="Arial"/>
              </a:rPr>
              <a:t>The equity value, paid in cash and stock, is based on an enterprise value of $1.0 billion with an adjustment for net cash (debt), and a normalised level of working capital.</a:t>
            </a:r>
          </a:p>
          <a:p>
            <a:pPr marL="171450" indent="-171450">
              <a:lnSpc>
                <a:spcPts val="1200"/>
              </a:lnSpc>
              <a:spcAft>
                <a:spcPts val="600"/>
              </a:spcAft>
              <a:buFont typeface="Arial" panose="020B0604020202020204" pitchFamily="34" charset="0"/>
              <a:buChar char="•"/>
              <a:defRPr/>
            </a:pPr>
            <a:r>
              <a:rPr lang="en-US" sz="1000">
                <a:latin typeface="Arial"/>
              </a:rPr>
              <a:t>The consideration to be paid will be based on a locked box mechanism with a reference date of December 31, 2024 (the ”Locked Box”). Further considerations on the Locked Box include:</a:t>
            </a:r>
          </a:p>
          <a:p>
            <a:pPr marL="347663" lvl="1" indent="-179388">
              <a:lnSpc>
                <a:spcPts val="1200"/>
              </a:lnSpc>
              <a:spcAft>
                <a:spcPts val="300"/>
              </a:spcAft>
              <a:buFont typeface="Arial" panose="020B0604020202020204" pitchFamily="34" charset="0"/>
              <a:buChar char="‒"/>
              <a:defRPr/>
            </a:pPr>
            <a:r>
              <a:rPr lang="en-US" sz="1000">
                <a:latin typeface="Arial"/>
              </a:rPr>
              <a:t>An adjustment between ‘normal’ NWC and NWC at the Locked Box date; and</a:t>
            </a:r>
          </a:p>
          <a:p>
            <a:pPr marL="347663" lvl="1" indent="-179388">
              <a:lnSpc>
                <a:spcPts val="1200"/>
              </a:lnSpc>
              <a:spcAft>
                <a:spcPts val="300"/>
              </a:spcAft>
              <a:buFont typeface="Arial" panose="020B0604020202020204" pitchFamily="34" charset="0"/>
              <a:buChar char="‒"/>
              <a:defRPr/>
            </a:pPr>
            <a:r>
              <a:rPr lang="en-US" sz="1000">
                <a:latin typeface="Arial"/>
              </a:rPr>
              <a:t>An adjustment for net cash (debt) as at the Locked Box date.</a:t>
            </a:r>
          </a:p>
          <a:p>
            <a:pPr marL="171450" indent="-171450">
              <a:lnSpc>
                <a:spcPts val="1200"/>
              </a:lnSpc>
              <a:spcAft>
                <a:spcPts val="300"/>
              </a:spcAft>
              <a:buFont typeface="Arial" panose="020B0604020202020204" pitchFamily="34" charset="0"/>
              <a:buChar char="•"/>
              <a:defRPr/>
            </a:pPr>
            <a:r>
              <a:rPr lang="en-US" sz="1000">
                <a:latin typeface="Arial"/>
              </a:rPr>
              <a:t>Recommendations relating to the Locked Box NWC and cash / debt position, and the target NWC are set out in this report.</a:t>
            </a:r>
          </a:p>
          <a:p>
            <a:pPr marL="171450" indent="-171450">
              <a:lnSpc>
                <a:spcPts val="1200"/>
              </a:lnSpc>
              <a:spcAft>
                <a:spcPts val="300"/>
              </a:spcAft>
              <a:buFont typeface="Arial" panose="020B0604020202020204" pitchFamily="34" charset="0"/>
              <a:buChar char="•"/>
              <a:defRPr/>
            </a:pPr>
            <a:r>
              <a:rPr lang="en-US" sz="1000">
                <a:latin typeface="Arial"/>
              </a:rPr>
              <a:t>Leakage between the Locked Box date and Close will be formally defined/agreed upon by both parties and documented in the SPA.</a:t>
            </a:r>
          </a:p>
          <a:p>
            <a:pPr marL="171450" indent="-171450">
              <a:lnSpc>
                <a:spcPts val="1200"/>
              </a:lnSpc>
              <a:spcAft>
                <a:spcPts val="300"/>
              </a:spcAft>
              <a:buFont typeface="Arial" panose="020B0604020202020204" pitchFamily="34" charset="0"/>
              <a:buChar char="•"/>
              <a:defRPr/>
            </a:pPr>
            <a:r>
              <a:rPr lang="en-US" sz="1000">
                <a:latin typeface="Arial"/>
              </a:rPr>
              <a:t>We understand that some other significant debt-like items are to be considered outside of the Locked Box (through the funds flow) and will be settled out of seller proceeds. Notably, these amounts include paying out phantom shares, and settling earn outs triggered by the proposed transaction.</a:t>
            </a:r>
          </a:p>
          <a:p>
            <a:pPr>
              <a:lnSpc>
                <a:spcPts val="1200"/>
              </a:lnSpc>
              <a:spcAft>
                <a:spcPts val="600"/>
              </a:spcAft>
              <a:defRPr/>
            </a:pPr>
            <a:r>
              <a:rPr lang="en-US" sz="1000">
                <a:latin typeface="Arial"/>
              </a:rPr>
              <a:t> </a:t>
            </a:r>
          </a:p>
        </p:txBody>
      </p:sp>
      <p:sp>
        <p:nvSpPr>
          <p:cNvPr id="11" name="TextBox 10">
            <a:extLst>
              <a:ext uri="{FF2B5EF4-FFF2-40B4-BE49-F238E27FC236}">
                <a16:creationId xmlns:a16="http://schemas.microsoft.com/office/drawing/2014/main" id="{261072FC-FEEC-4498-ECAB-91EE38E50BE3}"/>
              </a:ext>
            </a:extLst>
          </p:cNvPr>
          <p:cNvSpPr txBox="1">
            <a:spLocks/>
          </p:cNvSpPr>
          <p:nvPr/>
        </p:nvSpPr>
        <p:spPr>
          <a:xfrm>
            <a:off x="6218624" y="1202688"/>
            <a:ext cx="4974975" cy="295466"/>
          </a:xfrm>
          <a:prstGeom prst="rect">
            <a:avLst/>
          </a:prstGeom>
          <a:noFill/>
        </p:spPr>
        <p:txBody>
          <a:bodyPr wrap="square" lIns="0" tIns="0" rIns="0" bIns="0" anchor="t">
            <a:spAutoFit/>
          </a:bodyPr>
          <a:lstStyle/>
          <a:p>
            <a:pPr>
              <a:lnSpc>
                <a:spcPct val="80000"/>
              </a:lnSpc>
            </a:pPr>
            <a:r>
              <a:rPr lang="en-US" sz="2400">
                <a:solidFill>
                  <a:schemeClr val="accent1"/>
                </a:solidFill>
                <a:latin typeface="+mj-lt"/>
              </a:rPr>
              <a:t>Transaction overview</a:t>
            </a:r>
          </a:p>
        </p:txBody>
      </p:sp>
      <p:sp>
        <p:nvSpPr>
          <p:cNvPr id="13" name="TextBox 12">
            <a:extLst>
              <a:ext uri="{FF2B5EF4-FFF2-40B4-BE49-F238E27FC236}">
                <a16:creationId xmlns:a16="http://schemas.microsoft.com/office/drawing/2014/main" id="{68577962-641B-28B5-FD4B-934348B44F65}"/>
              </a:ext>
            </a:extLst>
          </p:cNvPr>
          <p:cNvSpPr txBox="1"/>
          <p:nvPr/>
        </p:nvSpPr>
        <p:spPr>
          <a:xfrm>
            <a:off x="1731661" y="3048995"/>
            <a:ext cx="1311768" cy="292030"/>
          </a:xfrm>
          <a:prstGeom prst="rect">
            <a:avLst/>
          </a:prstGeom>
          <a:solidFill>
            <a:schemeClr val="accent1"/>
          </a:solidFill>
        </p:spPr>
        <p:txBody>
          <a:bodyPr wrap="square" lIns="90000" tIns="90000" rIns="90000" bIns="90000" rtlCol="0" anchor="ctr" anchorCtr="0">
            <a:noAutofit/>
          </a:bodyPr>
          <a:lstStyle/>
          <a:p>
            <a:pPr algn="ctr"/>
            <a:r>
              <a:rPr lang="en-US" sz="1000" b="1">
                <a:solidFill>
                  <a:schemeClr val="bg1"/>
                </a:solidFill>
              </a:rPr>
              <a:t>Next chapter, Inc.</a:t>
            </a:r>
            <a:endParaRPr lang="en-US" sz="1000">
              <a:solidFill>
                <a:schemeClr val="bg1"/>
              </a:solidFill>
            </a:endParaRPr>
          </a:p>
        </p:txBody>
      </p:sp>
      <p:sp>
        <p:nvSpPr>
          <p:cNvPr id="57" name="TextBox 56">
            <a:extLst>
              <a:ext uri="{FF2B5EF4-FFF2-40B4-BE49-F238E27FC236}">
                <a16:creationId xmlns:a16="http://schemas.microsoft.com/office/drawing/2014/main" id="{CCB3095D-1E87-5DA2-A47A-505F80047C56}"/>
              </a:ext>
            </a:extLst>
          </p:cNvPr>
          <p:cNvSpPr txBox="1"/>
          <p:nvPr/>
        </p:nvSpPr>
        <p:spPr>
          <a:xfrm>
            <a:off x="4051048" y="3048997"/>
            <a:ext cx="1311769" cy="292030"/>
          </a:xfrm>
          <a:prstGeom prst="rect">
            <a:avLst/>
          </a:prstGeom>
          <a:solidFill>
            <a:schemeClr val="accent1"/>
          </a:solidFill>
        </p:spPr>
        <p:txBody>
          <a:bodyPr wrap="square" lIns="90000" tIns="90000" rIns="90000" bIns="90000" rtlCol="0" anchor="ctr" anchorCtr="0">
            <a:noAutofit/>
          </a:bodyPr>
          <a:lstStyle/>
          <a:p>
            <a:pPr algn="ctr"/>
            <a:r>
              <a:rPr lang="en-US" sz="900" b="1">
                <a:solidFill>
                  <a:schemeClr val="bg1"/>
                </a:solidFill>
              </a:rPr>
              <a:t>Other entities</a:t>
            </a:r>
          </a:p>
          <a:p>
            <a:pPr algn="ctr"/>
            <a:r>
              <a:rPr lang="en-US" sz="900" b="1">
                <a:solidFill>
                  <a:schemeClr val="bg1"/>
                </a:solidFill>
              </a:rPr>
              <a:t>(see Appendix 4).</a:t>
            </a:r>
            <a:endParaRPr lang="en-US" sz="900">
              <a:solidFill>
                <a:schemeClr val="bg1"/>
              </a:solidFill>
            </a:endParaRPr>
          </a:p>
        </p:txBody>
      </p:sp>
      <p:cxnSp>
        <p:nvCxnSpPr>
          <p:cNvPr id="71" name="Straight Connector 70">
            <a:extLst>
              <a:ext uri="{FF2B5EF4-FFF2-40B4-BE49-F238E27FC236}">
                <a16:creationId xmlns:a16="http://schemas.microsoft.com/office/drawing/2014/main" id="{513C3B3F-6D20-56F3-EAD4-648E4CB2A14D}"/>
              </a:ext>
            </a:extLst>
          </p:cNvPr>
          <p:cNvCxnSpPr>
            <a:stCxn id="93" idx="2"/>
            <a:endCxn id="13" idx="0"/>
          </p:cNvCxnSpPr>
          <p:nvPr/>
        </p:nvCxnSpPr>
        <p:spPr>
          <a:xfrm flipH="1">
            <a:off x="2387545" y="2940423"/>
            <a:ext cx="1" cy="108572"/>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2D7E49DE-66B9-5809-BA35-550D6091490F}"/>
              </a:ext>
            </a:extLst>
          </p:cNvPr>
          <p:cNvCxnSpPr>
            <a:stCxn id="94" idx="2"/>
            <a:endCxn id="57" idx="0"/>
          </p:cNvCxnSpPr>
          <p:nvPr/>
        </p:nvCxnSpPr>
        <p:spPr>
          <a:xfrm>
            <a:off x="4706933" y="2940424"/>
            <a:ext cx="0" cy="108573"/>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70" name="Group 69">
            <a:extLst>
              <a:ext uri="{FF2B5EF4-FFF2-40B4-BE49-F238E27FC236}">
                <a16:creationId xmlns:a16="http://schemas.microsoft.com/office/drawing/2014/main" id="{38FF7BF4-50F5-BC8F-4DA5-3A539BA474EC}"/>
              </a:ext>
            </a:extLst>
          </p:cNvPr>
          <p:cNvGrpSpPr/>
          <p:nvPr>
            <p:custDataLst>
              <p:tags r:id="rId3"/>
            </p:custDataLst>
          </p:nvPr>
        </p:nvGrpSpPr>
        <p:grpSpPr>
          <a:xfrm>
            <a:off x="995364" y="153170"/>
            <a:ext cx="7441546" cy="195814"/>
            <a:chOff x="995364" y="153170"/>
            <a:chExt cx="7441546" cy="195814"/>
          </a:xfrm>
        </p:grpSpPr>
        <p:sp>
          <p:nvSpPr>
            <p:cNvPr id="64" name="Current Section1">
              <a:hlinkClick r:id="rId8"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65"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66"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397332"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67"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845980"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68"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647015"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69"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774808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121745200"/>
      </p:ext>
    </p:extLst>
  </p:cSld>
  <p:clrMapOvr>
    <a:masterClrMapping/>
  </p:clrMapOvr>
  <p:extLst>
    <p:ext uri="{6950BFC3-D8DA-4A85-94F7-54DA5524770B}">
      <p188:commentRel xmlns:p188="http://schemas.microsoft.com/office/powerpoint/2018/8/main" r:id="rId5"/>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61B7FFE-0E35-BDC4-EC6D-8686179D73AB}"/>
              </a:ext>
            </a:extLst>
          </p:cNvPr>
          <p:cNvPicPr>
            <a:picLocks noChangeAspect="1"/>
          </p:cNvPicPr>
          <p:nvPr>
            <p:custDataLst>
              <p:tags r:id="rId1"/>
            </p:custDataLst>
          </p:nvPr>
        </p:nvPicPr>
        <p:blipFill>
          <a:blip r:embed="rId7"/>
          <a:stretch>
            <a:fillRect/>
          </a:stretch>
        </p:blipFill>
        <p:spPr>
          <a:xfrm>
            <a:off x="6219653" y="1923174"/>
            <a:ext cx="4976615" cy="3606134"/>
          </a:xfrm>
          <a:prstGeom prst="rect">
            <a:avLst/>
          </a:prstGeom>
        </p:spPr>
      </p:pic>
      <p:sp>
        <p:nvSpPr>
          <p:cNvPr id="4" name="Title 3">
            <a:extLst>
              <a:ext uri="{FF2B5EF4-FFF2-40B4-BE49-F238E27FC236}">
                <a16:creationId xmlns:a16="http://schemas.microsoft.com/office/drawing/2014/main" id="{F0EEC9FA-9870-2F15-3C3E-1BC6EB6CC609}"/>
              </a:ext>
            </a:extLst>
          </p:cNvPr>
          <p:cNvSpPr>
            <a:spLocks noGrp="1"/>
          </p:cNvSpPr>
          <p:nvPr>
            <p:ph type="title"/>
          </p:nvPr>
        </p:nvSpPr>
        <p:spPr/>
        <p:txBody>
          <a:bodyPr/>
          <a:lstStyle/>
          <a:p>
            <a:r>
              <a:rPr lang="en-US"/>
              <a:t>Summary financials – P&amp;L and BS</a:t>
            </a:r>
          </a:p>
        </p:txBody>
      </p:sp>
      <p:sp>
        <p:nvSpPr>
          <p:cNvPr id="7" name="Table Placeholder 45">
            <a:extLst>
              <a:ext uri="{FF2B5EF4-FFF2-40B4-BE49-F238E27FC236}">
                <a16:creationId xmlns:a16="http://schemas.microsoft.com/office/drawing/2014/main" id="{E7A646E7-2339-2CEE-8487-98DBC406DFEE}"/>
              </a:ext>
            </a:extLst>
          </p:cNvPr>
          <p:cNvSpPr txBox="1">
            <a:spLocks/>
          </p:cNvSpPr>
          <p:nvPr/>
        </p:nvSpPr>
        <p:spPr>
          <a:xfrm>
            <a:off x="995360" y="1976846"/>
            <a:ext cx="3528000" cy="3964179"/>
          </a:xfrm>
          <a:prstGeom prst="rect">
            <a:avLst/>
          </a:prstGeom>
        </p:spPr>
        <p:txBody>
          <a:bodyPr/>
          <a:lstStyle>
            <a:lvl1pPr marL="0" indent="0" algn="l" defTabSz="914400" rtl="0" eaLnBrk="1" latinLnBrk="0" hangingPunct="1">
              <a:lnSpc>
                <a:spcPct val="100000"/>
              </a:lnSpc>
              <a:spcBef>
                <a:spcPts val="0"/>
              </a:spcBef>
              <a:spcAft>
                <a:spcPts val="600"/>
              </a:spcAft>
              <a:buFontTx/>
              <a:buNone/>
              <a:defRPr sz="9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Add table here</a:t>
            </a:r>
          </a:p>
        </p:txBody>
      </p:sp>
      <p:sp>
        <p:nvSpPr>
          <p:cNvPr id="10" name="UpSlide SubSection Marker" hidden="1">
            <a:extLst>
              <a:ext uri="{FF2B5EF4-FFF2-40B4-BE49-F238E27FC236}">
                <a16:creationId xmlns:a16="http://schemas.microsoft.com/office/drawing/2014/main" id="{4630A661-4607-C52F-7F59-8739B269D10E}"/>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Summary financials</a:t>
            </a:r>
          </a:p>
        </p:txBody>
      </p:sp>
      <p:sp>
        <p:nvSpPr>
          <p:cNvPr id="11" name="Text Placeholder 2">
            <a:extLst>
              <a:ext uri="{FF2B5EF4-FFF2-40B4-BE49-F238E27FC236}">
                <a16:creationId xmlns:a16="http://schemas.microsoft.com/office/drawing/2014/main" id="{175EB17B-71A9-AADB-56CF-AD0B53DB6AA8}"/>
              </a:ext>
            </a:extLst>
          </p:cNvPr>
          <p:cNvSpPr>
            <a:spLocks noGrp="1"/>
          </p:cNvSpPr>
          <p:nvPr>
            <p:ph type="body" sz="quarter" idx="10"/>
          </p:nvPr>
        </p:nvSpPr>
        <p:spPr>
          <a:xfrm>
            <a:off x="987206" y="966336"/>
            <a:ext cx="10296744" cy="848908"/>
          </a:xfrm>
        </p:spPr>
        <p:txBody>
          <a:bodyPr/>
          <a:lstStyle/>
          <a:p>
            <a:pPr>
              <a:spcAft>
                <a:spcPts val="300"/>
              </a:spcAft>
            </a:pPr>
            <a:r>
              <a:rPr lang="en-US">
                <a:solidFill>
                  <a:schemeClr val="accent2"/>
                </a:solidFill>
              </a:rPr>
              <a:t>The financial information presented below reflects the consolidated financial results of the Company for the years ended December 31, 2023 (“FY23”), 2024 (“FY24”), and the twelve months ended March 31, 2025 (“TTM Mar-25”) (collectively, the “Historical Period”). These financials were extracted from the sell side diligence databook prepared by A&amp;M and are presented in USD, converted from Euro (which is the Company’s reporting currency). Historical and run rate adjustments identified in the course of our work, set out in section 2 of this report, have been overlaid on the A&amp;M analysis; EBITDA as presented by A&amp;M is presented as a memo in the P&amp;L below.</a:t>
            </a:r>
          </a:p>
          <a:p>
            <a:pPr>
              <a:spcAft>
                <a:spcPts val="300"/>
              </a:spcAft>
            </a:pPr>
            <a:r>
              <a:rPr lang="en-US">
                <a:solidFill>
                  <a:schemeClr val="accent2"/>
                </a:solidFill>
              </a:rPr>
              <a:t>The financial statements are prepared in accordance with Spanish GAAP for all periods and are subject to annual audit by KPMG. Refer to Appendix 1 for a reconciliation between the trial balances and the audited financial statements for FY23 and FY24, and section 5 of the report for commentary on potential US GAAP considerations.</a:t>
            </a:r>
          </a:p>
          <a:p>
            <a:endParaRPr lang="en-US"/>
          </a:p>
        </p:txBody>
      </p:sp>
      <p:pic>
        <p:nvPicPr>
          <p:cNvPr id="3" name="Picture 2">
            <a:extLst>
              <a:ext uri="{FF2B5EF4-FFF2-40B4-BE49-F238E27FC236}">
                <a16:creationId xmlns:a16="http://schemas.microsoft.com/office/drawing/2014/main" id="{AECF946E-6878-3FDD-6086-5B815F1FA9EB}"/>
              </a:ext>
            </a:extLst>
          </p:cNvPr>
          <p:cNvPicPr>
            <a:picLocks noChangeAspect="1"/>
          </p:cNvPicPr>
          <p:nvPr>
            <p:custDataLst>
              <p:tags r:id="rId3"/>
            </p:custDataLst>
          </p:nvPr>
        </p:nvPicPr>
        <p:blipFill>
          <a:blip r:embed="rId8"/>
          <a:stretch>
            <a:fillRect/>
          </a:stretch>
        </p:blipFill>
        <p:spPr>
          <a:xfrm>
            <a:off x="995363" y="1936839"/>
            <a:ext cx="4525719" cy="4027976"/>
          </a:xfrm>
          <a:prstGeom prst="rect">
            <a:avLst/>
          </a:prstGeom>
        </p:spPr>
      </p:pic>
      <p:sp>
        <p:nvSpPr>
          <p:cNvPr id="5" name="Text Placeholder 12">
            <a:extLst>
              <a:ext uri="{FF2B5EF4-FFF2-40B4-BE49-F238E27FC236}">
                <a16:creationId xmlns:a16="http://schemas.microsoft.com/office/drawing/2014/main" id="{D2735F16-3DD3-7CBF-9AEF-964DEF0E37B6}"/>
              </a:ext>
            </a:extLst>
          </p:cNvPr>
          <p:cNvSpPr txBox="1">
            <a:spLocks/>
          </p:cNvSpPr>
          <p:nvPr/>
        </p:nvSpPr>
        <p:spPr>
          <a:xfrm>
            <a:off x="6220431" y="5535657"/>
            <a:ext cx="4579566" cy="369332"/>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0"/>
              </a:spcAft>
            </a:pPr>
            <a:r>
              <a:rPr lang="en-US" sz="600" b="0">
                <a:solidFill>
                  <a:schemeClr val="tx2"/>
                </a:solidFill>
                <a:latin typeface="Arial" panose="020B0604020202020204" pitchFamily="34" charset="0"/>
              </a:rPr>
              <a:t>Note:	The balance sheet is presented on a constant  currency basis with reference to January 1, 2025. Further, this is presented 	on a reported basis, refer to Appendix 3 for an adjusted balance sheet inclusive of adjustments to NWC and net debt at 	the Locked Box date (31-Dec-24).</a:t>
            </a:r>
          </a:p>
          <a:p>
            <a:pPr defTabSz="444500" rtl="0">
              <a:spcAft>
                <a:spcPts val="0"/>
              </a:spcAft>
            </a:pPr>
            <a:r>
              <a:rPr lang="en-US" sz="600" b="0">
                <a:solidFill>
                  <a:schemeClr val="tx2"/>
                </a:solidFill>
                <a:latin typeface="Arial" panose="020B0604020202020204" pitchFamily="34" charset="0"/>
              </a:rPr>
              <a:t>Source: 	2.2.2.5_20250515 Project Vortex - Databook - Balance Sheet.xlsb.</a:t>
            </a:r>
          </a:p>
        </p:txBody>
      </p:sp>
      <p:sp>
        <p:nvSpPr>
          <p:cNvPr id="9" name="Text Placeholder 12">
            <a:extLst>
              <a:ext uri="{FF2B5EF4-FFF2-40B4-BE49-F238E27FC236}">
                <a16:creationId xmlns:a16="http://schemas.microsoft.com/office/drawing/2014/main" id="{34728571-4A7C-A4BB-40E0-49E6BBE26FF0}"/>
              </a:ext>
            </a:extLst>
          </p:cNvPr>
          <p:cNvSpPr txBox="1">
            <a:spLocks/>
          </p:cNvSpPr>
          <p:nvPr/>
        </p:nvSpPr>
        <p:spPr>
          <a:xfrm>
            <a:off x="999153" y="5961601"/>
            <a:ext cx="4521928" cy="276999"/>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a:spcAft>
                <a:spcPts val="0"/>
              </a:spcAft>
            </a:pPr>
            <a:r>
              <a:rPr lang="en-US" sz="600" b="0">
                <a:solidFill>
                  <a:schemeClr val="tx2"/>
                </a:solidFill>
                <a:latin typeface="Arial" panose="020B0604020202020204" pitchFamily="34" charset="0"/>
              </a:rPr>
              <a:t>Note:	The adjusted P&amp;L above is stated after considering buy side QoE and run rate adjustments (see page 9 / section 2).</a:t>
            </a:r>
          </a:p>
          <a:p>
            <a:pPr defTabSz="444500" rtl="0">
              <a:spcAft>
                <a:spcPts val="0"/>
              </a:spcAft>
            </a:pPr>
            <a:r>
              <a:rPr lang="en-US" sz="600" b="0">
                <a:solidFill>
                  <a:schemeClr val="tx2"/>
                </a:solidFill>
                <a:latin typeface="Arial" panose="020B0604020202020204" pitchFamily="34" charset="0"/>
              </a:rPr>
              <a:t>Source: 	</a:t>
            </a:r>
            <a:r>
              <a:rPr lang="nl-NL" sz="600" b="0">
                <a:solidFill>
                  <a:schemeClr val="tx2"/>
                </a:solidFill>
                <a:latin typeface="Arial" panose="020B0604020202020204" pitchFamily="34" charset="0"/>
              </a:rPr>
              <a:t>2.2.2.6_20250515 Project Vortex - Databook - PL.xlsx; 2.2_Vortex - External Customer Cube (March 2025).xlsx; KPMG 	analysis.</a:t>
            </a:r>
            <a:endParaRPr lang="en-US" sz="600" b="0">
              <a:solidFill>
                <a:schemeClr val="tx2"/>
              </a:solidFill>
              <a:latin typeface="Arial" panose="020B0604020202020204" pitchFamily="34" charset="0"/>
            </a:endParaRPr>
          </a:p>
        </p:txBody>
      </p:sp>
      <p:grpSp>
        <p:nvGrpSpPr>
          <p:cNvPr id="65" name="Group 64">
            <a:extLst>
              <a:ext uri="{FF2B5EF4-FFF2-40B4-BE49-F238E27FC236}">
                <a16:creationId xmlns:a16="http://schemas.microsoft.com/office/drawing/2014/main" id="{38FF7BF4-50F5-BC8F-4DA5-3A539BA474EC}"/>
              </a:ext>
            </a:extLst>
          </p:cNvPr>
          <p:cNvGrpSpPr/>
          <p:nvPr>
            <p:custDataLst>
              <p:tags r:id="rId4"/>
            </p:custDataLst>
          </p:nvPr>
        </p:nvGrpSpPr>
        <p:grpSpPr>
          <a:xfrm>
            <a:off x="995364" y="153170"/>
            <a:ext cx="7441546" cy="195814"/>
            <a:chOff x="995364" y="153170"/>
            <a:chExt cx="7441546" cy="195814"/>
          </a:xfrm>
        </p:grpSpPr>
        <p:sp>
          <p:nvSpPr>
            <p:cNvPr id="66" name="Current Section1">
              <a:hlinkClick r:id="rId9"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67" name="Other Sections2">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68"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397332"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69"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845980"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70"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647015"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71"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774808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968952372"/>
      </p:ext>
    </p:extLst>
  </p:cSld>
  <p:clrMapOvr>
    <a:masterClrMapping/>
  </p:clrMapOvr>
  <p:extLst>
    <p:ext uri="{6950BFC3-D8DA-4A85-94F7-54DA5524770B}">
      <p188:commentRel xmlns:p188="http://schemas.microsoft.com/office/powerpoint/2018/8/main" r:id="rId6"/>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ED128250-FBE9-4E9B-B55A-21CEAF3F458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0" name="Object 9" hidden="1">
                        <a:extLst>
                          <a:ext uri="{FF2B5EF4-FFF2-40B4-BE49-F238E27FC236}">
                            <a16:creationId xmlns:a16="http://schemas.microsoft.com/office/drawing/2014/main" id="{ED128250-FBE9-4E9B-B55A-21CEAF3F4583}"/>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146" name="Text Placeholder 145">
            <a:extLst>
              <a:ext uri="{FF2B5EF4-FFF2-40B4-BE49-F238E27FC236}">
                <a16:creationId xmlns:a16="http://schemas.microsoft.com/office/drawing/2014/main" id="{B81516F1-61F8-34F6-DAA8-4F668E45FBF1}"/>
              </a:ext>
            </a:extLst>
          </p:cNvPr>
          <p:cNvSpPr>
            <a:spLocks noGrp="1"/>
          </p:cNvSpPr>
          <p:nvPr>
            <p:ph type="body" sz="quarter" idx="10"/>
          </p:nvPr>
        </p:nvSpPr>
        <p:spPr>
          <a:xfrm>
            <a:off x="995362" y="1455639"/>
            <a:ext cx="4968000" cy="4354810"/>
          </a:xfrm>
        </p:spPr>
        <p:txBody>
          <a:bodyPr/>
          <a:lstStyle/>
          <a:p>
            <a:r>
              <a:rPr lang="en-US"/>
              <a:t>Locked box and equity value</a:t>
            </a:r>
          </a:p>
        </p:txBody>
      </p:sp>
      <p:sp>
        <p:nvSpPr>
          <p:cNvPr id="217" name="Title 216">
            <a:extLst>
              <a:ext uri="{FF2B5EF4-FFF2-40B4-BE49-F238E27FC236}">
                <a16:creationId xmlns:a16="http://schemas.microsoft.com/office/drawing/2014/main" id="{D44D8C1B-7095-47BC-AB75-3346CAC9AA91}"/>
              </a:ext>
            </a:extLst>
          </p:cNvPr>
          <p:cNvSpPr>
            <a:spLocks noGrp="1"/>
          </p:cNvSpPr>
          <p:nvPr>
            <p:ph type="title"/>
          </p:nvPr>
        </p:nvSpPr>
        <p:spPr/>
        <p:txBody>
          <a:bodyPr/>
          <a:lstStyle/>
          <a:p>
            <a:r>
              <a:rPr lang="en-US"/>
              <a:t>Headlines (1/5)</a:t>
            </a:r>
          </a:p>
        </p:txBody>
      </p:sp>
      <p:sp>
        <p:nvSpPr>
          <p:cNvPr id="59" name="Rectangle: Rounded Corners 58">
            <a:hlinkClick r:id="rId9" action="ppaction://hlinksldjump"/>
            <a:extLst>
              <a:ext uri="{FF2B5EF4-FFF2-40B4-BE49-F238E27FC236}">
                <a16:creationId xmlns:a16="http://schemas.microsoft.com/office/drawing/2014/main" id="{65EEA60D-E16E-4522-AB08-0A9BA63711EF}"/>
              </a:ext>
            </a:extLst>
          </p:cNvPr>
          <p:cNvSpPr/>
          <p:nvPr/>
        </p:nvSpPr>
        <p:spPr>
          <a:xfrm>
            <a:off x="5273894" y="1452508"/>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Clr>
                <a:schemeClr val="dk1">
                  <a:lumMod val="100000"/>
                </a:schemeClr>
              </a:buClr>
            </a:pPr>
            <a:r>
              <a:rPr lang="en-US" sz="800" b="1">
                <a:solidFill>
                  <a:schemeClr val="bg1"/>
                </a:solidFill>
              </a:rPr>
              <a:t>Read more</a:t>
            </a:r>
          </a:p>
        </p:txBody>
      </p:sp>
      <p:sp>
        <p:nvSpPr>
          <p:cNvPr id="2" name="UpSlide SubSection Marker" hidden="1">
            <a:extLst>
              <a:ext uri="{FF2B5EF4-FFF2-40B4-BE49-F238E27FC236}">
                <a16:creationId xmlns:a16="http://schemas.microsoft.com/office/drawing/2014/main" id="{BA2C3198-1EA4-32E5-6BEE-64C608DF44EA}"/>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Headlines</a:t>
            </a:r>
          </a:p>
        </p:txBody>
      </p:sp>
      <p:sp>
        <p:nvSpPr>
          <p:cNvPr id="3" name="Rectangle 2">
            <a:extLst>
              <a:ext uri="{FF2B5EF4-FFF2-40B4-BE49-F238E27FC236}">
                <a16:creationId xmlns:a16="http://schemas.microsoft.com/office/drawing/2014/main" id="{F5D1568E-C02F-4498-9AE5-095EA8611C31}"/>
              </a:ext>
            </a:extLst>
          </p:cNvPr>
          <p:cNvSpPr/>
          <p:nvPr/>
        </p:nvSpPr>
        <p:spPr>
          <a:xfrm>
            <a:off x="1001486" y="1206426"/>
            <a:ext cx="5251158" cy="183447"/>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r>
              <a:rPr lang="en-US" sz="1000" b="1">
                <a:solidFill>
                  <a:schemeClr val="bg1"/>
                </a:solidFill>
              </a:rPr>
              <a:t>Topic</a:t>
            </a:r>
          </a:p>
        </p:txBody>
      </p:sp>
      <p:sp>
        <p:nvSpPr>
          <p:cNvPr id="4" name="Rectangle 3">
            <a:extLst>
              <a:ext uri="{FF2B5EF4-FFF2-40B4-BE49-F238E27FC236}">
                <a16:creationId xmlns:a16="http://schemas.microsoft.com/office/drawing/2014/main" id="{3C0903F1-0F57-4BFE-8537-BC7E82242BDC}"/>
              </a:ext>
            </a:extLst>
          </p:cNvPr>
          <p:cNvSpPr/>
          <p:nvPr/>
        </p:nvSpPr>
        <p:spPr>
          <a:xfrm>
            <a:off x="6252644" y="1206426"/>
            <a:ext cx="4937872" cy="185828"/>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1000" b="1">
                <a:solidFill>
                  <a:schemeClr val="bg1"/>
                </a:solidFill>
              </a:rPr>
              <a:t>Analysis</a:t>
            </a:r>
          </a:p>
        </p:txBody>
      </p:sp>
      <p:sp>
        <p:nvSpPr>
          <p:cNvPr id="31" name="Text Placeholder 148">
            <a:extLst>
              <a:ext uri="{FF2B5EF4-FFF2-40B4-BE49-F238E27FC236}">
                <a16:creationId xmlns:a16="http://schemas.microsoft.com/office/drawing/2014/main" id="{C4640475-478C-4B8A-BF12-F1F89EA54AD9}"/>
              </a:ext>
            </a:extLst>
          </p:cNvPr>
          <p:cNvSpPr txBox="1">
            <a:spLocks/>
          </p:cNvSpPr>
          <p:nvPr/>
        </p:nvSpPr>
        <p:spPr>
          <a:xfrm>
            <a:off x="995362" y="1699987"/>
            <a:ext cx="5251157" cy="4081688"/>
          </a:xfrm>
          <a:prstGeom prst="rect">
            <a:avLst/>
          </a:prstGeom>
        </p:spPr>
        <p:txBody>
          <a:bodyPr vert="horz" lIns="7200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lang="en-US" sz="1000" kern="1200" dirty="0" smtClean="0">
                <a:solidFill>
                  <a:schemeClr val="tx1"/>
                </a:solidFill>
                <a:latin typeface="+mn-lt"/>
                <a:ea typeface="+mn-ea"/>
                <a:cs typeface="+mn-cs"/>
              </a:defRPr>
            </a:lvl2pPr>
            <a:lvl3pPr marL="0" indent="0" algn="l" defTabSz="914400" rtl="0" eaLnBrk="1" latinLnBrk="0" hangingPunct="1">
              <a:lnSpc>
                <a:spcPct val="100000"/>
              </a:lnSpc>
              <a:spcBef>
                <a:spcPts val="0"/>
              </a:spcBef>
              <a:spcAft>
                <a:spcPts val="600"/>
              </a:spcAft>
              <a:buClrTx/>
              <a:buFont typeface="Arial" panose="020B0604020202020204" pitchFamily="34" charset="0"/>
              <a:buNone/>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Aft>
                <a:spcPts val="100"/>
              </a:spcAft>
            </a:pPr>
            <a:r>
              <a:rPr lang="en-US"/>
              <a:t>We understand you have agreed upon a total Locked Box adjustment to reduce the purchase price by $(40.0) million – representing $(4.4) million from an under-delivery of net working capital and $(35.6) million of adjusted net debt. </a:t>
            </a:r>
          </a:p>
          <a:p>
            <a:pPr lvl="1">
              <a:spcAft>
                <a:spcPts val="100"/>
              </a:spcAft>
            </a:pPr>
            <a:r>
              <a:rPr lang="en-US"/>
              <a:t>The agreed position is $(6.6) million lower than Management's initial position, primarily driven by negotiated changes in the calculation of target net working capital ($(5.7) million), discussed in more detail on the following page. The remaining $(0.9) million of the differences to Management's initial Locked Box relate to debt adjustments including $(0.8) million of reclassifications to align the components of net debt with the preparation of net working capital and $(0.1) million of other (debt) / cash-like items identified during diligence.</a:t>
            </a:r>
          </a:p>
          <a:p>
            <a:pPr marL="171450" lvl="1" indent="-171450">
              <a:spcAft>
                <a:spcPts val="100"/>
              </a:spcAft>
              <a:buFont typeface="Arial" panose="020B0604020202020204" pitchFamily="34" charset="0"/>
              <a:buChar char="•"/>
            </a:pPr>
            <a:r>
              <a:rPr lang="en-US"/>
              <a:t>A number of items are still in the process of being quantified for potential inclusion in the Locked Box, including: </a:t>
            </a:r>
          </a:p>
          <a:p>
            <a:pPr marL="342900" lvl="3" indent="-171450">
              <a:spcAft>
                <a:spcPts val="100"/>
              </a:spcAft>
              <a:buFont typeface="Arial" panose="020B0604020202020204" pitchFamily="34" charset="0"/>
              <a:buChar char="‒"/>
            </a:pPr>
            <a:r>
              <a:rPr lang="en-US"/>
              <a:t>Confirmation of a R&amp;D tax credit to reduce the CIT liability; </a:t>
            </a:r>
          </a:p>
          <a:p>
            <a:pPr marL="342900" lvl="3" indent="-171450">
              <a:spcAft>
                <a:spcPts val="100"/>
              </a:spcAft>
              <a:buFont typeface="Arial" panose="020B0604020202020204" pitchFamily="34" charset="0"/>
              <a:buChar char="‒"/>
            </a:pPr>
            <a:r>
              <a:rPr lang="en-US"/>
              <a:t>A true-up of cash and debt to reflect debt redemption statements, and payments between Locked Box and Close.</a:t>
            </a:r>
          </a:p>
          <a:p>
            <a:pPr marL="342900" lvl="3" indent="-171450">
              <a:spcAft>
                <a:spcPts val="100"/>
              </a:spcAft>
              <a:buFont typeface="Arial" panose="020B0604020202020204" pitchFamily="34" charset="0"/>
              <a:buChar char="‒"/>
            </a:pPr>
            <a:r>
              <a:rPr lang="en-US"/>
              <a:t>True ups for the FX rate impact on payments or cash receipts as part of the Locked Box made in a currency other than USD.</a:t>
            </a:r>
          </a:p>
          <a:p>
            <a:pPr marL="342900" lvl="3" indent="-171450">
              <a:spcAft>
                <a:spcPts val="100"/>
              </a:spcAft>
              <a:buFont typeface="Arial" panose="020B0604020202020204" pitchFamily="34" charset="0"/>
              <a:buChar char="‒"/>
            </a:pPr>
            <a:r>
              <a:rPr lang="en-US"/>
              <a:t>Seller-incurred Transaction Expenses.</a:t>
            </a:r>
          </a:p>
          <a:p>
            <a:pPr marL="164592" lvl="2">
              <a:spcAft>
                <a:spcPts val="100"/>
              </a:spcAft>
            </a:pPr>
            <a:r>
              <a:rPr lang="en-US"/>
              <a:t>These items may be updated in later iterations of the Locked Box, or may be considered as Leakage items.</a:t>
            </a:r>
          </a:p>
          <a:p>
            <a:pPr marL="171450" lvl="2" indent="-171450">
              <a:spcAft>
                <a:spcPts val="100"/>
              </a:spcAft>
              <a:buFont typeface="Arial" panose="020B0604020202020204" pitchFamily="34" charset="0"/>
              <a:buChar char="•"/>
            </a:pPr>
            <a:r>
              <a:rPr lang="en-US"/>
              <a:t>We identified a number of potential debt items during diligence that were not included in the agreed Locked Box position, but may be a cash outflow for you in the future – refer to pages 39-40. </a:t>
            </a:r>
          </a:p>
          <a:p>
            <a:pPr marL="171450" lvl="2" indent="-171450">
              <a:spcAft>
                <a:spcPts val="100"/>
              </a:spcAft>
              <a:buFont typeface="Arial" panose="020B0604020202020204" pitchFamily="34" charset="0"/>
              <a:buChar char="•"/>
            </a:pPr>
            <a:r>
              <a:rPr lang="en-US"/>
              <a:t>Some other significant debt-like items are considered outside of the Locked Box but will be settled by the seller out of proceeds (payout of phantom shares, earnouts). You should consult your legal council to ensure these are accurately included in the funds flow. </a:t>
            </a:r>
          </a:p>
          <a:p>
            <a:pPr lvl="2">
              <a:spcAft>
                <a:spcPts val="100"/>
              </a:spcAft>
            </a:pPr>
            <a:r>
              <a:rPr lang="en-US"/>
              <a:t>Further, as the agreed Locked Box mechanism does not include a profit ticker adjustment for cash profit (loss) from Locked Box date to completion (expected to be a cash outflow). You as the buyer will incur any cash losses from the Locked Box date to closing.</a:t>
            </a:r>
          </a:p>
          <a:p>
            <a:pPr lvl="1">
              <a:spcAft>
                <a:spcPts val="100"/>
              </a:spcAft>
            </a:pPr>
            <a:endParaRPr lang="en-US"/>
          </a:p>
          <a:p>
            <a:pPr lvl="1">
              <a:spcAft>
                <a:spcPts val="100"/>
              </a:spcAft>
            </a:pPr>
            <a:r>
              <a:rPr lang="en-US"/>
              <a:t>.</a:t>
            </a:r>
          </a:p>
        </p:txBody>
      </p:sp>
      <p:sp>
        <p:nvSpPr>
          <p:cNvPr id="5" name="Text Placeholder 12">
            <a:extLst>
              <a:ext uri="{FF2B5EF4-FFF2-40B4-BE49-F238E27FC236}">
                <a16:creationId xmlns:a16="http://schemas.microsoft.com/office/drawing/2014/main" id="{1B58E2AD-D65D-D8FB-2132-3AA690CB1C6D}"/>
              </a:ext>
            </a:extLst>
          </p:cNvPr>
          <p:cNvSpPr txBox="1">
            <a:spLocks/>
          </p:cNvSpPr>
          <p:nvPr/>
        </p:nvSpPr>
        <p:spPr>
          <a:xfrm>
            <a:off x="6518957" y="4351399"/>
            <a:ext cx="3600000" cy="210314"/>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a:t>
            </a:r>
          </a:p>
          <a:p>
            <a:pPr defTabSz="444500" rtl="0">
              <a:spcAft>
                <a:spcPts val="200"/>
              </a:spcAft>
            </a:pPr>
            <a:r>
              <a:rPr lang="en-US" sz="600" b="0">
                <a:solidFill>
                  <a:schemeClr val="tx2"/>
                </a:solidFill>
                <a:latin typeface="Arial" panose="020B0604020202020204" pitchFamily="34" charset="0"/>
              </a:rPr>
              <a:t>Source: 	….</a:t>
            </a:r>
          </a:p>
        </p:txBody>
      </p:sp>
      <p:pic>
        <p:nvPicPr>
          <p:cNvPr id="8" name="Picture 7">
            <a:extLst>
              <a:ext uri="{FF2B5EF4-FFF2-40B4-BE49-F238E27FC236}">
                <a16:creationId xmlns:a16="http://schemas.microsoft.com/office/drawing/2014/main" id="{2DAD6D13-1A93-B136-020D-FC4DC57D58A8}"/>
              </a:ext>
            </a:extLst>
          </p:cNvPr>
          <p:cNvPicPr>
            <a:picLocks noChangeAspect="1"/>
          </p:cNvPicPr>
          <p:nvPr>
            <p:custDataLst>
              <p:tags r:id="rId3"/>
            </p:custDataLst>
          </p:nvPr>
        </p:nvPicPr>
        <p:blipFill>
          <a:blip r:embed="rId10"/>
          <a:stretch>
            <a:fillRect/>
          </a:stretch>
        </p:blipFill>
        <p:spPr>
          <a:xfrm>
            <a:off x="6499974" y="1521557"/>
            <a:ext cx="4479036" cy="3837646"/>
          </a:xfrm>
          <a:prstGeom prst="rect">
            <a:avLst/>
          </a:prstGeom>
        </p:spPr>
      </p:pic>
      <p:sp>
        <p:nvSpPr>
          <p:cNvPr id="18" name="Oval 17">
            <a:extLst>
              <a:ext uri="{FF2B5EF4-FFF2-40B4-BE49-F238E27FC236}">
                <a16:creationId xmlns:a16="http://schemas.microsoft.com/office/drawing/2014/main" id="{7B6A5656-3591-609D-ADAB-BD79A93DC497}"/>
              </a:ext>
            </a:extLst>
          </p:cNvPr>
          <p:cNvSpPr>
            <a:spLocks noChangeAspect="1"/>
          </p:cNvSpPr>
          <p:nvPr/>
        </p:nvSpPr>
        <p:spPr>
          <a:xfrm>
            <a:off x="6385911" y="3928288"/>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1</a:t>
            </a:r>
          </a:p>
        </p:txBody>
      </p:sp>
      <p:sp>
        <p:nvSpPr>
          <p:cNvPr id="19" name="Oval 18">
            <a:extLst>
              <a:ext uri="{FF2B5EF4-FFF2-40B4-BE49-F238E27FC236}">
                <a16:creationId xmlns:a16="http://schemas.microsoft.com/office/drawing/2014/main" id="{43D93FE2-A1FA-A96C-1F4F-EE3F50B9DBC0}"/>
              </a:ext>
            </a:extLst>
          </p:cNvPr>
          <p:cNvSpPr>
            <a:spLocks noChangeAspect="1"/>
          </p:cNvSpPr>
          <p:nvPr/>
        </p:nvSpPr>
        <p:spPr>
          <a:xfrm>
            <a:off x="6381340" y="4452163"/>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2</a:t>
            </a:r>
          </a:p>
        </p:txBody>
      </p:sp>
      <p:sp>
        <p:nvSpPr>
          <p:cNvPr id="20" name="Oval 19">
            <a:extLst>
              <a:ext uri="{FF2B5EF4-FFF2-40B4-BE49-F238E27FC236}">
                <a16:creationId xmlns:a16="http://schemas.microsoft.com/office/drawing/2014/main" id="{F6D4D793-A8EB-D433-150B-4123F54D1590}"/>
              </a:ext>
            </a:extLst>
          </p:cNvPr>
          <p:cNvSpPr>
            <a:spLocks noChangeAspect="1"/>
          </p:cNvSpPr>
          <p:nvPr/>
        </p:nvSpPr>
        <p:spPr>
          <a:xfrm>
            <a:off x="6381340" y="4839463"/>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3</a:t>
            </a:r>
          </a:p>
        </p:txBody>
      </p:sp>
      <p:sp>
        <p:nvSpPr>
          <p:cNvPr id="21" name="Oval 20">
            <a:extLst>
              <a:ext uri="{FF2B5EF4-FFF2-40B4-BE49-F238E27FC236}">
                <a16:creationId xmlns:a16="http://schemas.microsoft.com/office/drawing/2014/main" id="{B8BFA4B8-C4FF-2648-A4A8-68701F974A46}"/>
              </a:ext>
            </a:extLst>
          </p:cNvPr>
          <p:cNvSpPr>
            <a:spLocks noChangeAspect="1"/>
          </p:cNvSpPr>
          <p:nvPr/>
        </p:nvSpPr>
        <p:spPr>
          <a:xfrm>
            <a:off x="1014413" y="5186216"/>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3</a:t>
            </a:r>
          </a:p>
        </p:txBody>
      </p:sp>
      <p:sp>
        <p:nvSpPr>
          <p:cNvPr id="22" name="Oval 21">
            <a:extLst>
              <a:ext uri="{FF2B5EF4-FFF2-40B4-BE49-F238E27FC236}">
                <a16:creationId xmlns:a16="http://schemas.microsoft.com/office/drawing/2014/main" id="{02671B58-0761-FFCC-E77A-AF26D56681D5}"/>
              </a:ext>
            </a:extLst>
          </p:cNvPr>
          <p:cNvSpPr>
            <a:spLocks noChangeAspect="1"/>
          </p:cNvSpPr>
          <p:nvPr/>
        </p:nvSpPr>
        <p:spPr>
          <a:xfrm>
            <a:off x="1014413" y="4751831"/>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2</a:t>
            </a:r>
          </a:p>
        </p:txBody>
      </p:sp>
      <p:sp>
        <p:nvSpPr>
          <p:cNvPr id="23" name="Oval 22">
            <a:extLst>
              <a:ext uri="{FF2B5EF4-FFF2-40B4-BE49-F238E27FC236}">
                <a16:creationId xmlns:a16="http://schemas.microsoft.com/office/drawing/2014/main" id="{03811DC7-E036-A2D3-84D7-250C341E456F}"/>
              </a:ext>
            </a:extLst>
          </p:cNvPr>
          <p:cNvSpPr>
            <a:spLocks noChangeAspect="1"/>
          </p:cNvSpPr>
          <p:nvPr/>
        </p:nvSpPr>
        <p:spPr>
          <a:xfrm>
            <a:off x="1014413" y="3142859"/>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1</a:t>
            </a:r>
          </a:p>
        </p:txBody>
      </p:sp>
      <p:sp>
        <p:nvSpPr>
          <p:cNvPr id="25" name="Text Placeholder 12">
            <a:extLst>
              <a:ext uri="{FF2B5EF4-FFF2-40B4-BE49-F238E27FC236}">
                <a16:creationId xmlns:a16="http://schemas.microsoft.com/office/drawing/2014/main" id="{9D554B9D-37A9-D90F-6FB6-90935B49CCB6}"/>
              </a:ext>
            </a:extLst>
          </p:cNvPr>
          <p:cNvSpPr txBox="1">
            <a:spLocks/>
          </p:cNvSpPr>
          <p:nvPr/>
        </p:nvSpPr>
        <p:spPr>
          <a:xfrm>
            <a:off x="6518956" y="5403184"/>
            <a:ext cx="4460053"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Source: 	2.2.2.4_20250515 Project Vortex - Locked box memo.xlsx; 2.2.2.5_20250515 Project Vortex - Databook - Balance 	Sheet.xlsb; KPMG analysis.</a:t>
            </a:r>
          </a:p>
        </p:txBody>
      </p:sp>
      <p:grpSp>
        <p:nvGrpSpPr>
          <p:cNvPr id="136" name="Group 135">
            <a:extLst>
              <a:ext uri="{FF2B5EF4-FFF2-40B4-BE49-F238E27FC236}">
                <a16:creationId xmlns:a16="http://schemas.microsoft.com/office/drawing/2014/main" id="{38FF7BF4-50F5-BC8F-4DA5-3A539BA474EC}"/>
              </a:ext>
            </a:extLst>
          </p:cNvPr>
          <p:cNvGrpSpPr/>
          <p:nvPr>
            <p:custDataLst>
              <p:tags r:id="rId4"/>
            </p:custDataLst>
          </p:nvPr>
        </p:nvGrpSpPr>
        <p:grpSpPr>
          <a:xfrm>
            <a:off x="995364" y="153170"/>
            <a:ext cx="7441546" cy="195814"/>
            <a:chOff x="995364" y="153170"/>
            <a:chExt cx="7441546" cy="195814"/>
          </a:xfrm>
        </p:grpSpPr>
        <p:sp>
          <p:nvSpPr>
            <p:cNvPr id="137" name="Current Section1">
              <a:hlinkClick r:id="rId11"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138"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139"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397332"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140"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845980"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141"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647015"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142"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774808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377168758"/>
      </p:ext>
    </p:extLst>
  </p:cSld>
  <p:clrMapOvr>
    <a:masterClrMapping/>
  </p:clrMapOvr>
  <p:extLst>
    <p:ext uri="{6950BFC3-D8DA-4A85-94F7-54DA5524770B}">
      <p188:commentRel xmlns:p188="http://schemas.microsoft.com/office/powerpoint/2018/8/main" r:id="rId6"/>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5488D96-986C-A24A-D441-40C63663E500}"/>
              </a:ext>
            </a:extLst>
          </p:cNvPr>
          <p:cNvPicPr>
            <a:picLocks noChangeAspect="1"/>
          </p:cNvPicPr>
          <p:nvPr>
            <p:custDataLst>
              <p:tags r:id="rId1"/>
            </p:custDataLst>
          </p:nvPr>
        </p:nvPicPr>
        <p:blipFill>
          <a:blip r:embed="rId7"/>
          <a:stretch>
            <a:fillRect/>
          </a:stretch>
        </p:blipFill>
        <p:spPr>
          <a:xfrm>
            <a:off x="6493910" y="1519183"/>
            <a:ext cx="4572000" cy="1466411"/>
          </a:xfrm>
          <a:prstGeom prst="rect">
            <a:avLst/>
          </a:prstGeom>
        </p:spPr>
      </p:pic>
      <p:graphicFrame>
        <p:nvGraphicFramePr>
          <p:cNvPr id="10" name="Object 9" hidden="1">
            <a:extLst>
              <a:ext uri="{FF2B5EF4-FFF2-40B4-BE49-F238E27FC236}">
                <a16:creationId xmlns:a16="http://schemas.microsoft.com/office/drawing/2014/main" id="{ED128250-FBE9-4E9B-B55A-21CEAF3F4583}"/>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0" name="Object 9" hidden="1">
                        <a:extLst>
                          <a:ext uri="{FF2B5EF4-FFF2-40B4-BE49-F238E27FC236}">
                            <a16:creationId xmlns:a16="http://schemas.microsoft.com/office/drawing/2014/main" id="{ED128250-FBE9-4E9B-B55A-21CEAF3F4583}"/>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146" name="Text Placeholder 145">
            <a:extLst>
              <a:ext uri="{FF2B5EF4-FFF2-40B4-BE49-F238E27FC236}">
                <a16:creationId xmlns:a16="http://schemas.microsoft.com/office/drawing/2014/main" id="{B81516F1-61F8-34F6-DAA8-4F668E45FBF1}"/>
              </a:ext>
            </a:extLst>
          </p:cNvPr>
          <p:cNvSpPr>
            <a:spLocks noGrp="1"/>
          </p:cNvSpPr>
          <p:nvPr>
            <p:ph type="body" sz="quarter" idx="10"/>
          </p:nvPr>
        </p:nvSpPr>
        <p:spPr>
          <a:xfrm>
            <a:off x="995362" y="1455639"/>
            <a:ext cx="4968000" cy="4354810"/>
          </a:xfrm>
        </p:spPr>
        <p:txBody>
          <a:bodyPr/>
          <a:lstStyle/>
          <a:p>
            <a:r>
              <a:rPr lang="en-US" dirty="0"/>
              <a:t>Net working capital</a:t>
            </a:r>
          </a:p>
        </p:txBody>
      </p:sp>
      <p:sp>
        <p:nvSpPr>
          <p:cNvPr id="217" name="Title 216">
            <a:extLst>
              <a:ext uri="{FF2B5EF4-FFF2-40B4-BE49-F238E27FC236}">
                <a16:creationId xmlns:a16="http://schemas.microsoft.com/office/drawing/2014/main" id="{D44D8C1B-7095-47BC-AB75-3346CAC9AA91}"/>
              </a:ext>
            </a:extLst>
          </p:cNvPr>
          <p:cNvSpPr>
            <a:spLocks noGrp="1"/>
          </p:cNvSpPr>
          <p:nvPr>
            <p:ph type="title"/>
          </p:nvPr>
        </p:nvSpPr>
        <p:spPr/>
        <p:txBody>
          <a:bodyPr/>
          <a:lstStyle/>
          <a:p>
            <a:r>
              <a:rPr lang="en-US"/>
              <a:t>Headlines (2/5)</a:t>
            </a:r>
          </a:p>
        </p:txBody>
      </p:sp>
      <p:sp>
        <p:nvSpPr>
          <p:cNvPr id="2" name="UpSlide SubSection Marker" hidden="1">
            <a:extLst>
              <a:ext uri="{FF2B5EF4-FFF2-40B4-BE49-F238E27FC236}">
                <a16:creationId xmlns:a16="http://schemas.microsoft.com/office/drawing/2014/main" id="{BA2C3198-1EA4-32E5-6BEE-64C608DF44EA}"/>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Headlines</a:t>
            </a:r>
          </a:p>
        </p:txBody>
      </p:sp>
      <p:sp>
        <p:nvSpPr>
          <p:cNvPr id="3" name="Rectangle 2">
            <a:extLst>
              <a:ext uri="{FF2B5EF4-FFF2-40B4-BE49-F238E27FC236}">
                <a16:creationId xmlns:a16="http://schemas.microsoft.com/office/drawing/2014/main" id="{F5D1568E-C02F-4498-9AE5-095EA8611C31}"/>
              </a:ext>
            </a:extLst>
          </p:cNvPr>
          <p:cNvSpPr/>
          <p:nvPr/>
        </p:nvSpPr>
        <p:spPr>
          <a:xfrm>
            <a:off x="1001486" y="1206426"/>
            <a:ext cx="5251158" cy="183447"/>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r>
              <a:rPr lang="en-US" sz="1000" b="1">
                <a:solidFill>
                  <a:schemeClr val="bg1"/>
                </a:solidFill>
              </a:rPr>
              <a:t>Topic</a:t>
            </a:r>
          </a:p>
        </p:txBody>
      </p:sp>
      <p:sp>
        <p:nvSpPr>
          <p:cNvPr id="4" name="Rectangle 3">
            <a:extLst>
              <a:ext uri="{FF2B5EF4-FFF2-40B4-BE49-F238E27FC236}">
                <a16:creationId xmlns:a16="http://schemas.microsoft.com/office/drawing/2014/main" id="{3C0903F1-0F57-4BFE-8537-BC7E82242BDC}"/>
              </a:ext>
            </a:extLst>
          </p:cNvPr>
          <p:cNvSpPr/>
          <p:nvPr/>
        </p:nvSpPr>
        <p:spPr>
          <a:xfrm>
            <a:off x="6252644" y="1206426"/>
            <a:ext cx="4937872" cy="185828"/>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1000" b="1">
                <a:solidFill>
                  <a:schemeClr val="bg1"/>
                </a:solidFill>
              </a:rPr>
              <a:t>Analysis</a:t>
            </a:r>
          </a:p>
        </p:txBody>
      </p:sp>
      <p:sp>
        <p:nvSpPr>
          <p:cNvPr id="31" name="Text Placeholder 148">
            <a:extLst>
              <a:ext uri="{FF2B5EF4-FFF2-40B4-BE49-F238E27FC236}">
                <a16:creationId xmlns:a16="http://schemas.microsoft.com/office/drawing/2014/main" id="{C4640475-478C-4B8A-BF12-F1F89EA54AD9}"/>
              </a:ext>
            </a:extLst>
          </p:cNvPr>
          <p:cNvSpPr txBox="1">
            <a:spLocks/>
          </p:cNvSpPr>
          <p:nvPr/>
        </p:nvSpPr>
        <p:spPr>
          <a:xfrm>
            <a:off x="995362" y="1699986"/>
            <a:ext cx="5100637" cy="4594551"/>
          </a:xfrm>
          <a:prstGeom prst="rect">
            <a:avLst/>
          </a:prstGeom>
        </p:spPr>
        <p:txBody>
          <a:bodyPr vert="horz" lIns="7200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lang="en-US" sz="1000" kern="1200" dirty="0" smtClean="0">
                <a:solidFill>
                  <a:schemeClr val="tx1"/>
                </a:solidFill>
                <a:latin typeface="+mn-lt"/>
                <a:ea typeface="+mn-ea"/>
                <a:cs typeface="+mn-cs"/>
              </a:defRPr>
            </a:lvl2pPr>
            <a:lvl3pPr marL="0" indent="0" algn="l" defTabSz="914400" rtl="0" eaLnBrk="1" latinLnBrk="0" hangingPunct="1">
              <a:lnSpc>
                <a:spcPct val="100000"/>
              </a:lnSpc>
              <a:spcBef>
                <a:spcPts val="0"/>
              </a:spcBef>
              <a:spcAft>
                <a:spcPts val="600"/>
              </a:spcAft>
              <a:buClrTx/>
              <a:buFont typeface="Arial" panose="020B0604020202020204" pitchFamily="34" charset="0"/>
              <a:buNone/>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Aft>
                <a:spcPts val="500"/>
              </a:spcAft>
            </a:pPr>
            <a:r>
              <a:rPr lang="en-US" dirty="0"/>
              <a:t>The $(40.0) Locked Box adjustment includes a NWC target of $(17.0) million based on average NWC for the last 6 months to Mar-25. This target is $(5.7) million lower than Management’s original proposal, resulting in a $(4.4) under delivery of working capital compared to the $1.3 million over delivery originally suggested by Management. </a:t>
            </a:r>
          </a:p>
          <a:p>
            <a:pPr lvl="1">
              <a:spcAft>
                <a:spcPts val="500"/>
              </a:spcAft>
            </a:pPr>
            <a:r>
              <a:rPr lang="en-US" dirty="0"/>
              <a:t>The difference between Management’s original position and the agreed position is driven by two factors; the time period used, and the treatment of deferred revenue on long term contracts paid upfront.</a:t>
            </a:r>
          </a:p>
          <a:p>
            <a:pPr marL="171450" lvl="1" indent="-171450">
              <a:spcAft>
                <a:spcPts val="500"/>
              </a:spcAft>
              <a:buFont typeface="Arial" panose="020B0604020202020204" pitchFamily="34" charset="0"/>
              <a:buChar char="•"/>
            </a:pPr>
            <a:r>
              <a:rPr lang="en-US" b="1" dirty="0"/>
              <a:t>Timing: </a:t>
            </a:r>
            <a:r>
              <a:rPr lang="en-US" dirty="0"/>
              <a:t>Management’s original position is based on </a:t>
            </a:r>
            <a:r>
              <a:rPr lang="en-US" dirty="0" err="1"/>
              <a:t>normalised</a:t>
            </a:r>
            <a:r>
              <a:rPr lang="en-US" dirty="0"/>
              <a:t> NWC for a period of 3 months of actual results and 3 months of forecast to Jun-25, while the agreed position is based on 6 months of actuals to Mar-25. </a:t>
            </a:r>
          </a:p>
          <a:p>
            <a:pPr marL="171450" lvl="1" indent="-171450">
              <a:spcAft>
                <a:spcPts val="500"/>
              </a:spcAft>
              <a:buFont typeface="Arial" panose="020B0604020202020204" pitchFamily="34" charset="0"/>
              <a:buChar char="•"/>
            </a:pPr>
            <a:r>
              <a:rPr lang="en-US" b="1" dirty="0"/>
              <a:t>LT contracts: </a:t>
            </a:r>
            <a:r>
              <a:rPr lang="en-US" dirty="0"/>
              <a:t>Management’s original position included all deferred revenue, including on long-term contracts (prepaid terms of three or more years) in the target. The agreed position </a:t>
            </a:r>
            <a:r>
              <a:rPr lang="en-US" dirty="0" err="1"/>
              <a:t>normalises</a:t>
            </a:r>
            <a:r>
              <a:rPr lang="en-US" dirty="0"/>
              <a:t> this deferred revenue as if all long term contracts had a prepaid term of three years. See page 35 for further discussion on deferred revenue and billing. </a:t>
            </a:r>
          </a:p>
          <a:p>
            <a:pPr marL="171450" lvl="1" indent="-171450">
              <a:spcAft>
                <a:spcPts val="500"/>
              </a:spcAft>
              <a:buFont typeface="Arial" panose="020B0604020202020204" pitchFamily="34" charset="0"/>
              <a:buChar char="•"/>
            </a:pPr>
            <a:r>
              <a:rPr lang="en-US" dirty="0"/>
              <a:t>The sensitivity matrix presented on this page shows the agreed NWC target position ($17.0 million) against various NWC target scenarios based on differing time periods and ‘normal’ levels of long term deferred revenue, and falls approximately mid-way in the range of potential outcomes based on flexing the time period from a Mar-25 TTM to a 3+3 actual and forecast to Jun-25, and flexing the terms of what is a ‘normal’ prepayment term for long term contracts (from 1 year to 5 years). The agreed target is closest to an assumed three-year prepayment for long term contracts. Note that ARR of $51.3 million at Mar-25 includes $3.6 million of long term contracts normalized in this adjustment, including most significantly $2.8 million relating to a contract with CS DISCO, which was prepaid for five years. We understand this contract may not renew at the end of the term, and normal NWC may vary depending on the prepayment term of the contracts that could potentially replace CS DISCO and other long term contracts in the future. </a:t>
            </a:r>
          </a:p>
        </p:txBody>
      </p:sp>
      <p:sp>
        <p:nvSpPr>
          <p:cNvPr id="7" name="Text Placeholder 12">
            <a:extLst>
              <a:ext uri="{FF2B5EF4-FFF2-40B4-BE49-F238E27FC236}">
                <a16:creationId xmlns:a16="http://schemas.microsoft.com/office/drawing/2014/main" id="{1DBC6D14-78BB-2713-17A7-8D1914A63707}"/>
              </a:ext>
            </a:extLst>
          </p:cNvPr>
          <p:cNvSpPr txBox="1">
            <a:spLocks/>
          </p:cNvSpPr>
          <p:nvPr/>
        </p:nvSpPr>
        <p:spPr>
          <a:xfrm>
            <a:off x="6518957" y="2984221"/>
            <a:ext cx="4546951" cy="394980"/>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Source: 	2.2.2.5_20250515 Project Vortex - Databook - Balance Sheet.xlsb; KPMG analysis</a:t>
            </a:r>
          </a:p>
          <a:p>
            <a:pPr defTabSz="444500" rtl="0">
              <a:spcAft>
                <a:spcPts val="200"/>
              </a:spcAft>
            </a:pPr>
            <a:r>
              <a:rPr lang="en-US" sz="600" b="0">
                <a:solidFill>
                  <a:schemeClr val="tx2"/>
                </a:solidFill>
                <a:latin typeface="Arial" panose="020B0604020202020204" pitchFamily="34" charset="0"/>
              </a:rPr>
              <a:t>Note:	The deferred revenue term represents the number of months of a ‘normal’ long term contract, minus one and divided by 	two to calculate the ‘normal’ deferred revenue balance over the life of the contract. The scenarios range from 5.5 	months (1 year / 12 months) to 29.5 months (5 years / 60 months).</a:t>
            </a:r>
          </a:p>
        </p:txBody>
      </p:sp>
      <p:sp>
        <p:nvSpPr>
          <p:cNvPr id="5" name="Rectangle: Rounded Corners 4">
            <a:hlinkClick r:id="rId10" action="ppaction://hlinksldjump"/>
            <a:extLst>
              <a:ext uri="{FF2B5EF4-FFF2-40B4-BE49-F238E27FC236}">
                <a16:creationId xmlns:a16="http://schemas.microsoft.com/office/drawing/2014/main" id="{A5DAA9E6-7275-43CA-3CAC-8892B19E4EE1}"/>
              </a:ext>
            </a:extLst>
          </p:cNvPr>
          <p:cNvSpPr/>
          <p:nvPr/>
        </p:nvSpPr>
        <p:spPr>
          <a:xfrm>
            <a:off x="5273894" y="1452508"/>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Clr>
                <a:schemeClr val="dk1">
                  <a:lumMod val="100000"/>
                </a:schemeClr>
              </a:buClr>
            </a:pPr>
            <a:r>
              <a:rPr lang="en-US" sz="800" b="1">
                <a:solidFill>
                  <a:schemeClr val="bg1"/>
                </a:solidFill>
              </a:rPr>
              <a:t>Read more</a:t>
            </a:r>
          </a:p>
        </p:txBody>
      </p:sp>
      <p:sp>
        <p:nvSpPr>
          <p:cNvPr id="6" name="Rectangle 5">
            <a:extLst>
              <a:ext uri="{FF2B5EF4-FFF2-40B4-BE49-F238E27FC236}">
                <a16:creationId xmlns:a16="http://schemas.microsoft.com/office/drawing/2014/main" id="{F624D292-0346-B3A8-FF43-CAC09AF8577F}"/>
              </a:ext>
            </a:extLst>
          </p:cNvPr>
          <p:cNvSpPr/>
          <p:nvPr/>
        </p:nvSpPr>
        <p:spPr>
          <a:xfrm>
            <a:off x="12607944" y="1795237"/>
            <a:ext cx="2127317" cy="2799015"/>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Matrix table, time periods L3M, L6M, 3+3 and what you assume to be LT contracts, colour code, line underneath saying agreed NWC target – NWC depends on 1) period and 2) how you treat the LT contracts</a:t>
            </a:r>
          </a:p>
          <a:p>
            <a:pPr algn="ctr"/>
            <a:r>
              <a:rPr lang="en-US" sz="900">
                <a:solidFill>
                  <a:schemeClr val="bg1"/>
                </a:solidFill>
              </a:rPr>
              <a:t>Headline – created matrix and agreed falls between the parameters of these options – agreed means a portion of ARR is coming from contracts that have +3yrs prepayment terms, ability to sustain NWC depends on renewing or replacing with similar LT terms in the future.</a:t>
            </a:r>
          </a:p>
        </p:txBody>
      </p:sp>
      <p:sp>
        <p:nvSpPr>
          <p:cNvPr id="22" name="Rectangle: Rounded Corners 21">
            <a:extLst>
              <a:ext uri="{FF2B5EF4-FFF2-40B4-BE49-F238E27FC236}">
                <a16:creationId xmlns:a16="http://schemas.microsoft.com/office/drawing/2014/main" id="{6DC46484-7C27-79E7-6633-A3E5872D7D22}"/>
              </a:ext>
            </a:extLst>
          </p:cNvPr>
          <p:cNvSpPr/>
          <p:nvPr/>
        </p:nvSpPr>
        <p:spPr>
          <a:xfrm>
            <a:off x="6493909" y="2398669"/>
            <a:ext cx="4571999" cy="185828"/>
          </a:xfrm>
          <a:prstGeom prst="roundRect">
            <a:avLst/>
          </a:prstGeom>
          <a:noFill/>
          <a:ln>
            <a:solidFill>
              <a:srgbClr val="FD349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900">
              <a:solidFill>
                <a:schemeClr val="bg1"/>
              </a:solidFill>
            </a:endParaRPr>
          </a:p>
        </p:txBody>
      </p:sp>
      <p:sp>
        <p:nvSpPr>
          <p:cNvPr id="23" name="Oval 22">
            <a:extLst>
              <a:ext uri="{FF2B5EF4-FFF2-40B4-BE49-F238E27FC236}">
                <a16:creationId xmlns:a16="http://schemas.microsoft.com/office/drawing/2014/main" id="{B317E6BC-7AAF-E12B-0BF5-42BB721D0436}"/>
              </a:ext>
            </a:extLst>
          </p:cNvPr>
          <p:cNvSpPr>
            <a:spLocks noChangeAspect="1"/>
          </p:cNvSpPr>
          <p:nvPr/>
        </p:nvSpPr>
        <p:spPr>
          <a:xfrm>
            <a:off x="6379847" y="2406620"/>
            <a:ext cx="108000" cy="13775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1</a:t>
            </a:r>
          </a:p>
        </p:txBody>
      </p:sp>
      <p:sp>
        <p:nvSpPr>
          <p:cNvPr id="24" name="Oval 23">
            <a:extLst>
              <a:ext uri="{FF2B5EF4-FFF2-40B4-BE49-F238E27FC236}">
                <a16:creationId xmlns:a16="http://schemas.microsoft.com/office/drawing/2014/main" id="{94025137-01C9-C769-F5F2-33A151742EED}"/>
              </a:ext>
            </a:extLst>
          </p:cNvPr>
          <p:cNvSpPr>
            <a:spLocks noChangeAspect="1"/>
          </p:cNvSpPr>
          <p:nvPr/>
        </p:nvSpPr>
        <p:spPr>
          <a:xfrm>
            <a:off x="1013061" y="4259656"/>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1</a:t>
            </a:r>
          </a:p>
        </p:txBody>
      </p:sp>
      <p:grpSp>
        <p:nvGrpSpPr>
          <p:cNvPr id="132" name="Group 131">
            <a:extLst>
              <a:ext uri="{FF2B5EF4-FFF2-40B4-BE49-F238E27FC236}">
                <a16:creationId xmlns:a16="http://schemas.microsoft.com/office/drawing/2014/main" id="{38FF7BF4-50F5-BC8F-4DA5-3A539BA474EC}"/>
              </a:ext>
            </a:extLst>
          </p:cNvPr>
          <p:cNvGrpSpPr/>
          <p:nvPr>
            <p:custDataLst>
              <p:tags r:id="rId4"/>
            </p:custDataLst>
          </p:nvPr>
        </p:nvGrpSpPr>
        <p:grpSpPr>
          <a:xfrm>
            <a:off x="995364" y="153170"/>
            <a:ext cx="7441546" cy="195814"/>
            <a:chOff x="995364" y="153170"/>
            <a:chExt cx="7441546" cy="195814"/>
          </a:xfrm>
        </p:grpSpPr>
        <p:sp>
          <p:nvSpPr>
            <p:cNvPr id="133" name="Current Section1">
              <a:hlinkClick r:id="rId11"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134"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135"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397332"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136"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845980"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137"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647015"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138"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774808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768536526"/>
      </p:ext>
    </p:extLst>
  </p:cSld>
  <p:clrMapOvr>
    <a:masterClrMapping/>
  </p:clrMapOvr>
  <p:extLst>
    <p:ext uri="{6950BFC3-D8DA-4A85-94F7-54DA5524770B}">
      <p188:commentRel xmlns:p188="http://schemas.microsoft.com/office/powerpoint/2018/8/main" r:id="rId6"/>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27972BE-C82C-DC45-A42B-7CEC8DFF1BDE}"/>
              </a:ext>
            </a:extLst>
          </p:cNvPr>
          <p:cNvPicPr>
            <a:picLocks noChangeAspect="1"/>
          </p:cNvPicPr>
          <p:nvPr>
            <p:custDataLst>
              <p:tags r:id="rId1"/>
            </p:custDataLst>
          </p:nvPr>
        </p:nvPicPr>
        <p:blipFill>
          <a:blip r:embed="rId7"/>
          <a:stretch>
            <a:fillRect/>
          </a:stretch>
        </p:blipFill>
        <p:spPr>
          <a:xfrm>
            <a:off x="6943318" y="1522307"/>
            <a:ext cx="4066032" cy="2377440"/>
          </a:xfrm>
          <a:prstGeom prst="rect">
            <a:avLst/>
          </a:prstGeom>
        </p:spPr>
      </p:pic>
      <p:graphicFrame>
        <p:nvGraphicFramePr>
          <p:cNvPr id="10" name="Object 9" hidden="1">
            <a:extLst>
              <a:ext uri="{FF2B5EF4-FFF2-40B4-BE49-F238E27FC236}">
                <a16:creationId xmlns:a16="http://schemas.microsoft.com/office/drawing/2014/main" id="{ED128250-FBE9-4E9B-B55A-21CEAF3F4583}"/>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0" name="Object 9" hidden="1">
                        <a:extLst>
                          <a:ext uri="{FF2B5EF4-FFF2-40B4-BE49-F238E27FC236}">
                            <a16:creationId xmlns:a16="http://schemas.microsoft.com/office/drawing/2014/main" id="{ED128250-FBE9-4E9B-B55A-21CEAF3F4583}"/>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146" name="Text Placeholder 145">
            <a:extLst>
              <a:ext uri="{FF2B5EF4-FFF2-40B4-BE49-F238E27FC236}">
                <a16:creationId xmlns:a16="http://schemas.microsoft.com/office/drawing/2014/main" id="{B81516F1-61F8-34F6-DAA8-4F668E45FBF1}"/>
              </a:ext>
            </a:extLst>
          </p:cNvPr>
          <p:cNvSpPr>
            <a:spLocks noGrp="1"/>
          </p:cNvSpPr>
          <p:nvPr>
            <p:ph type="body" sz="quarter" idx="10"/>
          </p:nvPr>
        </p:nvSpPr>
        <p:spPr>
          <a:xfrm>
            <a:off x="995362" y="1448426"/>
            <a:ext cx="4968000" cy="4354810"/>
          </a:xfrm>
        </p:spPr>
        <p:txBody>
          <a:bodyPr/>
          <a:lstStyle/>
          <a:p>
            <a:r>
              <a:rPr lang="en-US"/>
              <a:t>ARR / quality of revenue</a:t>
            </a:r>
          </a:p>
        </p:txBody>
      </p:sp>
      <p:sp>
        <p:nvSpPr>
          <p:cNvPr id="217" name="Title 216">
            <a:extLst>
              <a:ext uri="{FF2B5EF4-FFF2-40B4-BE49-F238E27FC236}">
                <a16:creationId xmlns:a16="http://schemas.microsoft.com/office/drawing/2014/main" id="{D44D8C1B-7095-47BC-AB75-3346CAC9AA91}"/>
              </a:ext>
            </a:extLst>
          </p:cNvPr>
          <p:cNvSpPr>
            <a:spLocks noGrp="1"/>
          </p:cNvSpPr>
          <p:nvPr>
            <p:ph type="title"/>
          </p:nvPr>
        </p:nvSpPr>
        <p:spPr/>
        <p:txBody>
          <a:bodyPr/>
          <a:lstStyle/>
          <a:p>
            <a:r>
              <a:rPr lang="en-US"/>
              <a:t>Headlines (3/5)</a:t>
            </a:r>
          </a:p>
        </p:txBody>
      </p:sp>
      <p:sp>
        <p:nvSpPr>
          <p:cNvPr id="2" name="UpSlide SubSection Marker" hidden="1">
            <a:extLst>
              <a:ext uri="{FF2B5EF4-FFF2-40B4-BE49-F238E27FC236}">
                <a16:creationId xmlns:a16="http://schemas.microsoft.com/office/drawing/2014/main" id="{BA2C3198-1EA4-32E5-6BEE-64C608DF44EA}"/>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Headlines</a:t>
            </a:r>
          </a:p>
        </p:txBody>
      </p:sp>
      <p:sp>
        <p:nvSpPr>
          <p:cNvPr id="3" name="Rectangle 2">
            <a:extLst>
              <a:ext uri="{FF2B5EF4-FFF2-40B4-BE49-F238E27FC236}">
                <a16:creationId xmlns:a16="http://schemas.microsoft.com/office/drawing/2014/main" id="{F5D1568E-C02F-4498-9AE5-095EA8611C31}"/>
              </a:ext>
            </a:extLst>
          </p:cNvPr>
          <p:cNvSpPr/>
          <p:nvPr/>
        </p:nvSpPr>
        <p:spPr>
          <a:xfrm>
            <a:off x="1001486" y="1206426"/>
            <a:ext cx="5657932" cy="183447"/>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r>
              <a:rPr lang="en-US" sz="1000" b="1">
                <a:solidFill>
                  <a:schemeClr val="bg1"/>
                </a:solidFill>
              </a:rPr>
              <a:t>Topic</a:t>
            </a:r>
          </a:p>
        </p:txBody>
      </p:sp>
      <p:sp>
        <p:nvSpPr>
          <p:cNvPr id="4" name="Rectangle 3">
            <a:extLst>
              <a:ext uri="{FF2B5EF4-FFF2-40B4-BE49-F238E27FC236}">
                <a16:creationId xmlns:a16="http://schemas.microsoft.com/office/drawing/2014/main" id="{3C0903F1-0F57-4BFE-8537-BC7E82242BDC}"/>
              </a:ext>
            </a:extLst>
          </p:cNvPr>
          <p:cNvSpPr/>
          <p:nvPr/>
        </p:nvSpPr>
        <p:spPr>
          <a:xfrm>
            <a:off x="6659418" y="1206426"/>
            <a:ext cx="4531098" cy="183447"/>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1000" b="1">
                <a:solidFill>
                  <a:schemeClr val="bg1"/>
                </a:solidFill>
              </a:rPr>
              <a:t>Analysis</a:t>
            </a:r>
          </a:p>
        </p:txBody>
      </p:sp>
      <p:sp>
        <p:nvSpPr>
          <p:cNvPr id="31" name="Text Placeholder 148">
            <a:extLst>
              <a:ext uri="{FF2B5EF4-FFF2-40B4-BE49-F238E27FC236}">
                <a16:creationId xmlns:a16="http://schemas.microsoft.com/office/drawing/2014/main" id="{C4640475-478C-4B8A-BF12-F1F89EA54AD9}"/>
              </a:ext>
            </a:extLst>
          </p:cNvPr>
          <p:cNvSpPr txBox="1">
            <a:spLocks/>
          </p:cNvSpPr>
          <p:nvPr/>
        </p:nvSpPr>
        <p:spPr>
          <a:xfrm>
            <a:off x="995362" y="1680744"/>
            <a:ext cx="5657932" cy="4599368"/>
          </a:xfrm>
          <a:prstGeom prst="rect">
            <a:avLst/>
          </a:prstGeom>
        </p:spPr>
        <p:txBody>
          <a:bodyPr vert="horz" lIns="7200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lang="en-US" sz="1000" kern="1200" dirty="0" smtClean="0">
                <a:solidFill>
                  <a:schemeClr val="tx1"/>
                </a:solidFill>
                <a:latin typeface="+mn-lt"/>
                <a:ea typeface="+mn-ea"/>
                <a:cs typeface="+mn-cs"/>
              </a:defRPr>
            </a:lvl2pPr>
            <a:lvl3pPr marL="0" indent="0" algn="l" defTabSz="914400" rtl="0" eaLnBrk="1" latinLnBrk="0" hangingPunct="1">
              <a:lnSpc>
                <a:spcPct val="100000"/>
              </a:lnSpc>
              <a:spcBef>
                <a:spcPts val="0"/>
              </a:spcBef>
              <a:spcAft>
                <a:spcPts val="600"/>
              </a:spcAft>
              <a:buClrTx/>
              <a:buFont typeface="Arial" panose="020B0604020202020204" pitchFamily="34" charset="0"/>
              <a:buNone/>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defTabSz="914377">
              <a:spcAft>
                <a:spcPts val="200"/>
              </a:spcAft>
              <a:defRPr/>
            </a:pPr>
            <a:r>
              <a:rPr lang="en-US" dirty="0"/>
              <a:t>The table on this page presents adjusted ARR per Management - $51.3 million as at Mar-25 – and potential sensitivities identified during diligence. Refer to page 12 for further detail on the components of Management’s adjusted ARR. </a:t>
            </a:r>
          </a:p>
          <a:p>
            <a:pPr lvl="1" defTabSz="914377">
              <a:spcAft>
                <a:spcPts val="200"/>
              </a:spcAft>
              <a:defRPr/>
            </a:pPr>
            <a:r>
              <a:rPr lang="en-US" dirty="0"/>
              <a:t>Management were unable to provide a full reconciliation between historical revenues and ARR. However, a combination of our own analysis, consideration of supporting details, and discussion with Management, including a full reconciliation of the latest one month period (Mar-25) indicates that variances between reported subscription revenue and MRR are primarily explained by timing (i.e., contracts with mid month start and end dates) and catch ups from delayed renewals. We have reconciled revenues to within ~0.2% of ARR for TTM Mar-25 (see page 14). </a:t>
            </a:r>
          </a:p>
          <a:p>
            <a:pPr lvl="1" defTabSz="914377">
              <a:spcAft>
                <a:spcPts val="200"/>
              </a:spcAft>
              <a:defRPr/>
            </a:pPr>
            <a:r>
              <a:rPr lang="en-US" dirty="0"/>
              <a:t>A more readily available and traceable reconciliation between a ARR and revenue is a potential area of improvement under your ownership.</a:t>
            </a:r>
          </a:p>
          <a:p>
            <a:pPr marL="171450" lvl="1" indent="-171450" defTabSz="914377">
              <a:spcAft>
                <a:spcPts val="200"/>
              </a:spcAft>
              <a:buFont typeface="Arial" panose="020B0604020202020204" pitchFamily="34" charset="0"/>
              <a:buChar char="•"/>
              <a:defRPr/>
            </a:pPr>
            <a:r>
              <a:rPr lang="en-US" dirty="0"/>
              <a:t>Both ARR and reported revenue are overstated, as they exclude the impact of refunds and cancellations. Instead of netting these amounts against revenue, Vortex uses bad debt expense to account for lost revenue due to refunds or cancellations. </a:t>
            </a:r>
          </a:p>
          <a:p>
            <a:pPr marL="171450" lvl="1" defTabSz="914377">
              <a:spcAft>
                <a:spcPts val="200"/>
              </a:spcAft>
              <a:defRPr/>
            </a:pPr>
            <a:r>
              <a:rPr lang="en-US" dirty="0"/>
              <a:t>The sensitivity totals $(0.8) million at Mar-25, assuming the full amount of bad debt expense (1.6% of revenue in TTM Mar-25) relates to refunds and cancellations.</a:t>
            </a:r>
          </a:p>
          <a:p>
            <a:pPr marL="171450" lvl="1" indent="-171450" defTabSz="914377">
              <a:spcAft>
                <a:spcPts val="200"/>
              </a:spcAft>
              <a:buFont typeface="Arial" panose="020B0604020202020204" pitchFamily="34" charset="0"/>
              <a:buChar char="•"/>
              <a:defRPr/>
            </a:pPr>
            <a:r>
              <a:rPr lang="en-US" dirty="0">
                <a:solidFill>
                  <a:srgbClr val="000000"/>
                </a:solidFill>
              </a:rPr>
              <a:t>ARR for the periods presented includes $2.9 million related to contracts that Management explained may not be renewed. $2.8 million of this relates to a 5 year contract with CS DISCO which began in Aug-23, and $0.1 million relates to legacy contracts from Vortex’s acquisition of </a:t>
            </a:r>
            <a:r>
              <a:rPr lang="en-US" dirty="0" err="1">
                <a:solidFill>
                  <a:srgbClr val="000000"/>
                </a:solidFill>
              </a:rPr>
              <a:t>Justis</a:t>
            </a:r>
            <a:r>
              <a:rPr lang="en-US" dirty="0">
                <a:solidFill>
                  <a:srgbClr val="000000"/>
                </a:solidFill>
              </a:rPr>
              <a:t> in 2019. Based on a simple continuation of historical ARR CAGR (17.8%), it would take approximately four months to replace the revenue related to these contracts. As discussed on the previous page, these contracts were paid upfront (i.e., Vortex will not receive any cash for the remainder of the contracts).</a:t>
            </a:r>
          </a:p>
          <a:p>
            <a:pPr lvl="1" defTabSz="914377">
              <a:spcAft>
                <a:spcPts val="200"/>
              </a:spcAft>
              <a:defRPr/>
            </a:pPr>
            <a:r>
              <a:rPr lang="en-US" sz="1000" dirty="0"/>
              <a:t>A reconciliation of revenue to cash was completed for YTD Mar-25 – refer to page 15 for details.</a:t>
            </a:r>
          </a:p>
          <a:p>
            <a:pPr lvl="1" defTabSz="914377">
              <a:spcAft>
                <a:spcPts val="200"/>
              </a:spcAft>
              <a:defRPr/>
            </a:pPr>
            <a:r>
              <a:rPr lang="en-US" dirty="0"/>
              <a:t>Note that ARR per Management includes a portion of reoccurring usage-based revenue using reported TTM revenue. This approach is conservative as there is a lag between TTM reoccurring revenue compared to ARR for the latest month. We present a potential upside to estimate the impact of aligning estimated reoccurring revenue with in-month ARR ($0.1 million at Mar-25).</a:t>
            </a:r>
            <a:endParaRPr lang="en-US" sz="1000" dirty="0"/>
          </a:p>
          <a:p>
            <a:pPr lvl="1">
              <a:spcAft>
                <a:spcPts val="200"/>
              </a:spcAft>
            </a:pPr>
            <a:endParaRPr lang="en-US" sz="1000" dirty="0">
              <a:solidFill>
                <a:srgbClr val="000000"/>
              </a:solidFill>
            </a:endParaRPr>
          </a:p>
          <a:p>
            <a:pPr lvl="1">
              <a:spcAft>
                <a:spcPts val="200"/>
              </a:spcAft>
            </a:pPr>
            <a:endParaRPr lang="en-US" dirty="0"/>
          </a:p>
        </p:txBody>
      </p:sp>
      <p:sp>
        <p:nvSpPr>
          <p:cNvPr id="5" name="Rectangle: Rounded Corners 4">
            <a:hlinkClick r:id="rId10" action="ppaction://hlinksldjump"/>
            <a:extLst>
              <a:ext uri="{FF2B5EF4-FFF2-40B4-BE49-F238E27FC236}">
                <a16:creationId xmlns:a16="http://schemas.microsoft.com/office/drawing/2014/main" id="{CF0D94C6-1DDF-5CB6-C8BE-DEA2BCB80D35}"/>
              </a:ext>
            </a:extLst>
          </p:cNvPr>
          <p:cNvSpPr/>
          <p:nvPr/>
        </p:nvSpPr>
        <p:spPr>
          <a:xfrm>
            <a:off x="5791126" y="1445295"/>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Clr>
                <a:schemeClr val="dk1">
                  <a:lumMod val="100000"/>
                </a:schemeClr>
              </a:buClr>
            </a:pPr>
            <a:r>
              <a:rPr lang="en-US" sz="800" b="1">
                <a:solidFill>
                  <a:schemeClr val="bg1"/>
                </a:solidFill>
              </a:rPr>
              <a:t>Read more</a:t>
            </a:r>
          </a:p>
        </p:txBody>
      </p:sp>
      <p:sp>
        <p:nvSpPr>
          <p:cNvPr id="12" name="Oval 11">
            <a:extLst>
              <a:ext uri="{FF2B5EF4-FFF2-40B4-BE49-F238E27FC236}">
                <a16:creationId xmlns:a16="http://schemas.microsoft.com/office/drawing/2014/main" id="{086F2453-2CF9-7E94-3BF3-2D6C75DF5D79}"/>
              </a:ext>
            </a:extLst>
          </p:cNvPr>
          <p:cNvSpPr>
            <a:spLocks noChangeAspect="1"/>
          </p:cNvSpPr>
          <p:nvPr/>
        </p:nvSpPr>
        <p:spPr>
          <a:xfrm>
            <a:off x="6835317" y="2920767"/>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1</a:t>
            </a:r>
          </a:p>
        </p:txBody>
      </p:sp>
      <p:sp>
        <p:nvSpPr>
          <p:cNvPr id="18" name="Oval 17">
            <a:extLst>
              <a:ext uri="{FF2B5EF4-FFF2-40B4-BE49-F238E27FC236}">
                <a16:creationId xmlns:a16="http://schemas.microsoft.com/office/drawing/2014/main" id="{EB072933-E7B6-8751-D2C5-CC6FEB9E59E7}"/>
              </a:ext>
            </a:extLst>
          </p:cNvPr>
          <p:cNvSpPr>
            <a:spLocks noChangeAspect="1"/>
          </p:cNvSpPr>
          <p:nvPr/>
        </p:nvSpPr>
        <p:spPr>
          <a:xfrm>
            <a:off x="6835317" y="3471485"/>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2</a:t>
            </a:r>
          </a:p>
        </p:txBody>
      </p:sp>
      <p:sp>
        <p:nvSpPr>
          <p:cNvPr id="19" name="Oval 18">
            <a:extLst>
              <a:ext uri="{FF2B5EF4-FFF2-40B4-BE49-F238E27FC236}">
                <a16:creationId xmlns:a16="http://schemas.microsoft.com/office/drawing/2014/main" id="{2BF039C1-7845-5F74-B402-1DD68F9EBAD9}"/>
              </a:ext>
            </a:extLst>
          </p:cNvPr>
          <p:cNvSpPr>
            <a:spLocks noChangeAspect="1"/>
          </p:cNvSpPr>
          <p:nvPr/>
        </p:nvSpPr>
        <p:spPr>
          <a:xfrm>
            <a:off x="1044791" y="3463364"/>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1</a:t>
            </a:r>
          </a:p>
        </p:txBody>
      </p:sp>
      <p:sp>
        <p:nvSpPr>
          <p:cNvPr id="7" name="Oval 6">
            <a:extLst>
              <a:ext uri="{FF2B5EF4-FFF2-40B4-BE49-F238E27FC236}">
                <a16:creationId xmlns:a16="http://schemas.microsoft.com/office/drawing/2014/main" id="{82505F29-8A2F-8B48-7E4D-011303CD6012}"/>
              </a:ext>
            </a:extLst>
          </p:cNvPr>
          <p:cNvSpPr>
            <a:spLocks noChangeAspect="1"/>
          </p:cNvSpPr>
          <p:nvPr/>
        </p:nvSpPr>
        <p:spPr>
          <a:xfrm>
            <a:off x="1044791" y="4272874"/>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2</a:t>
            </a:r>
          </a:p>
        </p:txBody>
      </p:sp>
      <p:sp>
        <p:nvSpPr>
          <p:cNvPr id="8" name="Rectangle 7">
            <a:extLst>
              <a:ext uri="{FF2B5EF4-FFF2-40B4-BE49-F238E27FC236}">
                <a16:creationId xmlns:a16="http://schemas.microsoft.com/office/drawing/2014/main" id="{17480F06-772A-C942-619F-691DF0660276}"/>
              </a:ext>
            </a:extLst>
          </p:cNvPr>
          <p:cNvSpPr/>
          <p:nvPr/>
        </p:nvSpPr>
        <p:spPr>
          <a:xfrm>
            <a:off x="12436220" y="2127281"/>
            <a:ext cx="1851279" cy="2898547"/>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Most big deals happen at month end – up analysis to 90% of new and upsell to account – haircut based on this analysis</a:t>
            </a:r>
          </a:p>
          <a:p>
            <a:pPr algn="ctr"/>
            <a:r>
              <a:rPr lang="en-US" sz="900">
                <a:solidFill>
                  <a:schemeClr val="bg1"/>
                </a:solidFill>
              </a:rPr>
              <a:t>Both revenue and ARR are overstated – use bad debt for cancellation and refunds</a:t>
            </a:r>
          </a:p>
          <a:p>
            <a:pPr algn="ctr"/>
            <a:r>
              <a:rPr lang="en-US" sz="900">
                <a:solidFill>
                  <a:schemeClr val="bg1"/>
                </a:solidFill>
              </a:rPr>
              <a:t>Finding – they can’t reconcile between ARR and revenue by customer (go forward improvement), because of this there is risk ARR may be overstated</a:t>
            </a:r>
          </a:p>
          <a:p>
            <a:pPr algn="ctr"/>
            <a:r>
              <a:rPr lang="en-US" sz="900">
                <a:solidFill>
                  <a:schemeClr val="bg1"/>
                </a:solidFill>
              </a:rPr>
              <a:t> (potential sensitivity</a:t>
            </a:r>
          </a:p>
        </p:txBody>
      </p:sp>
      <p:sp>
        <p:nvSpPr>
          <p:cNvPr id="9" name="Text Placeholder 12">
            <a:extLst>
              <a:ext uri="{FF2B5EF4-FFF2-40B4-BE49-F238E27FC236}">
                <a16:creationId xmlns:a16="http://schemas.microsoft.com/office/drawing/2014/main" id="{AAA7EBF3-BC52-C89A-9FFC-A5250BCE9DEF}"/>
              </a:ext>
            </a:extLst>
          </p:cNvPr>
          <p:cNvSpPr txBox="1">
            <a:spLocks/>
          </p:cNvSpPr>
          <p:nvPr/>
        </p:nvSpPr>
        <p:spPr>
          <a:xfrm>
            <a:off x="6943317" y="3912093"/>
            <a:ext cx="4080477" cy="394980"/>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The potential upside presented above applies TTM reoccurring revenue as a % of average TTM ARR to 	adjusted ARR per Mgmt. at each period end (2.7% in TTM Mar-25 and 2.8% in FY24) – note, due to 	data limitations in FY23 we have used the FY24 % for the Dec-23 upside as well.</a:t>
            </a:r>
          </a:p>
          <a:p>
            <a:pPr defTabSz="444500" rtl="0">
              <a:spcAft>
                <a:spcPts val="200"/>
              </a:spcAft>
            </a:pPr>
            <a:r>
              <a:rPr lang="en-US" sz="600" b="0">
                <a:solidFill>
                  <a:schemeClr val="tx2"/>
                </a:solidFill>
                <a:latin typeface="Arial" panose="020B0604020202020204" pitchFamily="34" charset="0"/>
              </a:rPr>
              <a:t>Source: 	</a:t>
            </a:r>
            <a:r>
              <a:rPr lang="nl-NL" sz="600" b="0">
                <a:solidFill>
                  <a:schemeClr val="tx2"/>
                </a:solidFill>
                <a:latin typeface="Arial" panose="020B0604020202020204" pitchFamily="34" charset="0"/>
              </a:rPr>
              <a:t>2.2_Vortex - External Customer Cube (March 2025).xlsx; KPMG analysis.</a:t>
            </a:r>
            <a:endParaRPr lang="en-US" sz="600" b="0">
              <a:solidFill>
                <a:schemeClr val="tx2"/>
              </a:solidFill>
              <a:latin typeface="Arial" panose="020B0604020202020204" pitchFamily="34" charset="0"/>
            </a:endParaRPr>
          </a:p>
        </p:txBody>
      </p:sp>
      <p:grpSp>
        <p:nvGrpSpPr>
          <p:cNvPr id="133" name="Group 132">
            <a:extLst>
              <a:ext uri="{FF2B5EF4-FFF2-40B4-BE49-F238E27FC236}">
                <a16:creationId xmlns:a16="http://schemas.microsoft.com/office/drawing/2014/main" id="{38FF7BF4-50F5-BC8F-4DA5-3A539BA474EC}"/>
              </a:ext>
            </a:extLst>
          </p:cNvPr>
          <p:cNvGrpSpPr/>
          <p:nvPr>
            <p:custDataLst>
              <p:tags r:id="rId4"/>
            </p:custDataLst>
          </p:nvPr>
        </p:nvGrpSpPr>
        <p:grpSpPr>
          <a:xfrm>
            <a:off x="995364" y="153170"/>
            <a:ext cx="7441546" cy="195814"/>
            <a:chOff x="995364" y="153170"/>
            <a:chExt cx="7441546" cy="195814"/>
          </a:xfrm>
        </p:grpSpPr>
        <p:sp>
          <p:nvSpPr>
            <p:cNvPr id="134" name="Current Section1">
              <a:hlinkClick r:id="rId11"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135"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136"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397332"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137"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845980"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138"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647015"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139"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774808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
        <p:nvSpPr>
          <p:cNvPr id="6" name="Rectangle: Rounded Corners 5">
            <a:extLst>
              <a:ext uri="{FF2B5EF4-FFF2-40B4-BE49-F238E27FC236}">
                <a16:creationId xmlns:a16="http://schemas.microsoft.com/office/drawing/2014/main" id="{7C0D745C-10F4-343B-FE7D-39970FD1A375}"/>
              </a:ext>
            </a:extLst>
          </p:cNvPr>
          <p:cNvSpPr/>
          <p:nvPr/>
        </p:nvSpPr>
        <p:spPr>
          <a:xfrm flipV="1">
            <a:off x="10036923" y="2729229"/>
            <a:ext cx="457200" cy="169535"/>
          </a:xfrm>
          <a:prstGeom prst="roundRect">
            <a:avLst/>
          </a:prstGeom>
          <a:noFill/>
          <a:ln>
            <a:solidFill>
              <a:srgbClr val="FD349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900">
              <a:solidFill>
                <a:schemeClr val="bg1"/>
              </a:solidFill>
            </a:endParaRPr>
          </a:p>
        </p:txBody>
      </p:sp>
    </p:spTree>
    <p:extLst>
      <p:ext uri="{BB962C8B-B14F-4D97-AF65-F5344CB8AC3E}">
        <p14:creationId xmlns:p14="http://schemas.microsoft.com/office/powerpoint/2010/main" val="1502969895"/>
      </p:ext>
    </p:extLst>
  </p:cSld>
  <p:clrMapOvr>
    <a:masterClrMapping/>
  </p:clrMapOvr>
  <p:extLst>
    <p:ext uri="{6950BFC3-D8DA-4A85-94F7-54DA5524770B}">
      <p188:commentRel xmlns:p188="http://schemas.microsoft.com/office/powerpoint/2018/8/main" r:id="rId6"/>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EBA60CB-6E11-1C61-E1FA-93EB5DA93FB9}"/>
              </a:ext>
            </a:extLst>
          </p:cNvPr>
          <p:cNvPicPr>
            <a:picLocks noChangeAspect="1"/>
          </p:cNvPicPr>
          <p:nvPr>
            <p:custDataLst>
              <p:tags r:id="rId1"/>
            </p:custDataLst>
          </p:nvPr>
        </p:nvPicPr>
        <p:blipFill>
          <a:blip r:embed="rId7"/>
          <a:stretch>
            <a:fillRect/>
          </a:stretch>
        </p:blipFill>
        <p:spPr>
          <a:xfrm>
            <a:off x="6499975" y="1522314"/>
            <a:ext cx="4177284" cy="3282260"/>
          </a:xfrm>
          <a:prstGeom prst="rect">
            <a:avLst/>
          </a:prstGeom>
        </p:spPr>
      </p:pic>
      <p:graphicFrame>
        <p:nvGraphicFramePr>
          <p:cNvPr id="10" name="Object 9" hidden="1">
            <a:extLst>
              <a:ext uri="{FF2B5EF4-FFF2-40B4-BE49-F238E27FC236}">
                <a16:creationId xmlns:a16="http://schemas.microsoft.com/office/drawing/2014/main" id="{ED128250-FBE9-4E9B-B55A-21CEAF3F4583}"/>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0" name="Object 9" hidden="1">
                        <a:extLst>
                          <a:ext uri="{FF2B5EF4-FFF2-40B4-BE49-F238E27FC236}">
                            <a16:creationId xmlns:a16="http://schemas.microsoft.com/office/drawing/2014/main" id="{ED128250-FBE9-4E9B-B55A-21CEAF3F4583}"/>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146" name="Text Placeholder 145">
            <a:extLst>
              <a:ext uri="{FF2B5EF4-FFF2-40B4-BE49-F238E27FC236}">
                <a16:creationId xmlns:a16="http://schemas.microsoft.com/office/drawing/2014/main" id="{B81516F1-61F8-34F6-DAA8-4F668E45FBF1}"/>
              </a:ext>
            </a:extLst>
          </p:cNvPr>
          <p:cNvSpPr>
            <a:spLocks noGrp="1"/>
          </p:cNvSpPr>
          <p:nvPr>
            <p:ph type="body" sz="quarter" idx="10"/>
          </p:nvPr>
        </p:nvSpPr>
        <p:spPr>
          <a:xfrm>
            <a:off x="995362" y="1455639"/>
            <a:ext cx="4968000" cy="4354810"/>
          </a:xfrm>
        </p:spPr>
        <p:txBody>
          <a:bodyPr/>
          <a:lstStyle/>
          <a:p>
            <a:r>
              <a:rPr lang="en-US"/>
              <a:t>Quality of earnings &amp; run rate</a:t>
            </a:r>
          </a:p>
        </p:txBody>
      </p:sp>
      <p:sp>
        <p:nvSpPr>
          <p:cNvPr id="217" name="Title 216">
            <a:extLst>
              <a:ext uri="{FF2B5EF4-FFF2-40B4-BE49-F238E27FC236}">
                <a16:creationId xmlns:a16="http://schemas.microsoft.com/office/drawing/2014/main" id="{D44D8C1B-7095-47BC-AB75-3346CAC9AA91}"/>
              </a:ext>
            </a:extLst>
          </p:cNvPr>
          <p:cNvSpPr>
            <a:spLocks noGrp="1"/>
          </p:cNvSpPr>
          <p:nvPr>
            <p:ph type="title"/>
          </p:nvPr>
        </p:nvSpPr>
        <p:spPr/>
        <p:txBody>
          <a:bodyPr/>
          <a:lstStyle/>
          <a:p>
            <a:r>
              <a:rPr lang="en-US"/>
              <a:t>Headlines (4/5)</a:t>
            </a:r>
          </a:p>
        </p:txBody>
      </p:sp>
      <p:sp>
        <p:nvSpPr>
          <p:cNvPr id="2" name="UpSlide SubSection Marker" hidden="1">
            <a:extLst>
              <a:ext uri="{FF2B5EF4-FFF2-40B4-BE49-F238E27FC236}">
                <a16:creationId xmlns:a16="http://schemas.microsoft.com/office/drawing/2014/main" id="{BA2C3198-1EA4-32E5-6BEE-64C608DF44EA}"/>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Headlines</a:t>
            </a:r>
          </a:p>
        </p:txBody>
      </p:sp>
      <p:sp>
        <p:nvSpPr>
          <p:cNvPr id="3" name="Rectangle 2">
            <a:extLst>
              <a:ext uri="{FF2B5EF4-FFF2-40B4-BE49-F238E27FC236}">
                <a16:creationId xmlns:a16="http://schemas.microsoft.com/office/drawing/2014/main" id="{F5D1568E-C02F-4498-9AE5-095EA8611C31}"/>
              </a:ext>
            </a:extLst>
          </p:cNvPr>
          <p:cNvSpPr/>
          <p:nvPr/>
        </p:nvSpPr>
        <p:spPr>
          <a:xfrm>
            <a:off x="1001486" y="1206426"/>
            <a:ext cx="5251158" cy="183447"/>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r>
              <a:rPr lang="en-US" sz="1000" b="1">
                <a:solidFill>
                  <a:schemeClr val="bg1"/>
                </a:solidFill>
              </a:rPr>
              <a:t>Topic</a:t>
            </a:r>
          </a:p>
        </p:txBody>
      </p:sp>
      <p:sp>
        <p:nvSpPr>
          <p:cNvPr id="4" name="Rectangle 3">
            <a:extLst>
              <a:ext uri="{FF2B5EF4-FFF2-40B4-BE49-F238E27FC236}">
                <a16:creationId xmlns:a16="http://schemas.microsoft.com/office/drawing/2014/main" id="{3C0903F1-0F57-4BFE-8537-BC7E82242BDC}"/>
              </a:ext>
            </a:extLst>
          </p:cNvPr>
          <p:cNvSpPr/>
          <p:nvPr/>
        </p:nvSpPr>
        <p:spPr>
          <a:xfrm>
            <a:off x="6252644" y="1206426"/>
            <a:ext cx="4937872" cy="185828"/>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1000" b="1">
                <a:solidFill>
                  <a:schemeClr val="bg1"/>
                </a:solidFill>
              </a:rPr>
              <a:t>Analysis</a:t>
            </a:r>
          </a:p>
        </p:txBody>
      </p:sp>
      <p:sp>
        <p:nvSpPr>
          <p:cNvPr id="31" name="Text Placeholder 148">
            <a:extLst>
              <a:ext uri="{FF2B5EF4-FFF2-40B4-BE49-F238E27FC236}">
                <a16:creationId xmlns:a16="http://schemas.microsoft.com/office/drawing/2014/main" id="{C4640475-478C-4B8A-BF12-F1F89EA54AD9}"/>
              </a:ext>
            </a:extLst>
          </p:cNvPr>
          <p:cNvSpPr txBox="1">
            <a:spLocks/>
          </p:cNvSpPr>
          <p:nvPr/>
        </p:nvSpPr>
        <p:spPr>
          <a:xfrm>
            <a:off x="995363" y="1728560"/>
            <a:ext cx="5125276" cy="4710339"/>
          </a:xfrm>
          <a:prstGeom prst="rect">
            <a:avLst/>
          </a:prstGeom>
        </p:spPr>
        <p:txBody>
          <a:bodyPr vert="horz" lIns="7200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lang="en-US" sz="1000" kern="1200" dirty="0" smtClean="0">
                <a:solidFill>
                  <a:schemeClr val="tx1"/>
                </a:solidFill>
                <a:latin typeface="+mn-lt"/>
                <a:ea typeface="+mn-ea"/>
                <a:cs typeface="+mn-cs"/>
              </a:defRPr>
            </a:lvl2pPr>
            <a:lvl3pPr marL="0" indent="0" algn="l" defTabSz="914400" rtl="0" eaLnBrk="1" latinLnBrk="0" hangingPunct="1">
              <a:lnSpc>
                <a:spcPct val="100000"/>
              </a:lnSpc>
              <a:spcBef>
                <a:spcPts val="0"/>
              </a:spcBef>
              <a:spcAft>
                <a:spcPts val="600"/>
              </a:spcAft>
              <a:buClrTx/>
              <a:buFont typeface="Arial" panose="020B0604020202020204" pitchFamily="34" charset="0"/>
              <a:buNone/>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Aft>
                <a:spcPts val="400"/>
              </a:spcAft>
            </a:pPr>
            <a:r>
              <a:rPr lang="en-US"/>
              <a:t>The analysis on this page compares our TTM Mar-25 adjusted EBITDA to adjusted EBITDA in the sell side diligence report prepared by A&amp;M. Refer to pages 17-27 for further discussion on adjustments for the Historical Period (FY23 to TTM Mar-25).</a:t>
            </a:r>
          </a:p>
          <a:p>
            <a:pPr marL="171450" lvl="1" indent="-171450">
              <a:spcAft>
                <a:spcPts val="400"/>
              </a:spcAft>
              <a:buFont typeface="Arial" panose="020B0604020202020204" pitchFamily="34" charset="0"/>
              <a:buChar char="•"/>
            </a:pPr>
            <a:r>
              <a:rPr lang="en-US"/>
              <a:t>Seller has proposed TTM Mar-25 diligence adjusted EBITDA of $11.4 million ($16.1 million including run rate and pro forma adjustments) in TTM Mar-25. The diligence adjusted EBITDA appears sensible – we identified $(0.4) million of adjustments, mainly relating to year-end adjustments, resulting in an adjusted EBITDA of $11.0 million.</a:t>
            </a:r>
          </a:p>
          <a:p>
            <a:pPr marL="171450" lvl="1" indent="-171450">
              <a:spcAft>
                <a:spcPts val="400"/>
              </a:spcAft>
              <a:buFont typeface="Arial" panose="020B0604020202020204" pitchFamily="34" charset="0"/>
              <a:buChar char="•"/>
            </a:pPr>
            <a:r>
              <a:rPr lang="en-US"/>
              <a:t>The seller’s pro forma adjustments appear reasonable and reflect the full year impact of actioned cost savings. Seller run rate adjusted EBITDA incorporates Mar-25 ARR and applies a margin for direct costs – we have refined this figure to $14.4 million, which includes the $(1.2) million impact of latest trends in direct costs and operating expenses (based on the last three months to Mar-25, which Management later agreed was a sensible approach).</a:t>
            </a:r>
          </a:p>
          <a:p>
            <a:pPr marL="171450" lvl="1" indent="-171450">
              <a:spcAft>
                <a:spcPts val="400"/>
              </a:spcAft>
              <a:buFont typeface="Arial" panose="020B0604020202020204" pitchFamily="34" charset="0"/>
              <a:buChar char="•"/>
            </a:pPr>
            <a:r>
              <a:rPr lang="en-US"/>
              <a:t>Management also present $1.5 million of ‘actionable synergies’ related to various potential software savings and executive restructuring within the existing business. These synergies have not yet been exercised and will need to be implemented post transaction to realize the cost savings. Operational diligence and your input is required to determine the validity of the sell side actionable synergies and any incremental synergies associated with the transaction. Note, actioning the executive synergies would also result in one-time payments for severance. These are not included in the agreed Locked Box debt, as they have not been actioned.</a:t>
            </a:r>
          </a:p>
          <a:p>
            <a:pPr marL="171450" lvl="1" indent="-171450">
              <a:spcAft>
                <a:spcPts val="400"/>
              </a:spcAft>
              <a:buFont typeface="Arial" panose="020B0604020202020204" pitchFamily="34" charset="0"/>
              <a:buChar char="•"/>
            </a:pPr>
            <a:r>
              <a:rPr lang="en-US"/>
              <a:t>Reported EBITDA excludes a significant amount of cash costs related to deferred commissions and capitalized development. Refer to the following page for further discussion on cash flows after considering these expenses. Although we understand your contemplated valuation is not based on EBITDA, you should ensure you model both on a like for like basis (cash-basis). Note that Management excluded deferred commissions from both the target and Locked box balance sheet for the calculation of NWC, consistent with the presentation of adjusted EBITDA. </a:t>
            </a:r>
          </a:p>
          <a:p>
            <a:pPr lvl="1">
              <a:spcAft>
                <a:spcPts val="400"/>
              </a:spcAft>
            </a:pPr>
            <a:endParaRPr lang="en-US"/>
          </a:p>
          <a:p>
            <a:pPr lvl="1">
              <a:spcAft>
                <a:spcPts val="400"/>
              </a:spcAft>
            </a:pPr>
            <a:endParaRPr lang="en-US"/>
          </a:p>
        </p:txBody>
      </p:sp>
      <p:sp>
        <p:nvSpPr>
          <p:cNvPr id="9" name="Text Placeholder 12">
            <a:extLst>
              <a:ext uri="{FF2B5EF4-FFF2-40B4-BE49-F238E27FC236}">
                <a16:creationId xmlns:a16="http://schemas.microsoft.com/office/drawing/2014/main" id="{3E27D74E-6A30-A68D-4545-BF0C65FA0F2C}"/>
              </a:ext>
            </a:extLst>
          </p:cNvPr>
          <p:cNvSpPr txBox="1">
            <a:spLocks/>
          </p:cNvSpPr>
          <p:nvPr/>
        </p:nvSpPr>
        <p:spPr>
          <a:xfrm>
            <a:off x="6551779" y="4847079"/>
            <a:ext cx="4125480" cy="394980"/>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Constant currency presented relates to impact on Management adjusted EBITDA. Vortex FX exposure is 	mainly limited to Euros which are a net positive contributor to EBITDA (see page 27). </a:t>
            </a:r>
          </a:p>
          <a:p>
            <a:pPr defTabSz="444500" rtl="0">
              <a:spcAft>
                <a:spcPts val="200"/>
              </a:spcAft>
            </a:pPr>
            <a:r>
              <a:rPr lang="en-US" sz="600" b="0">
                <a:solidFill>
                  <a:schemeClr val="tx2"/>
                </a:solidFill>
                <a:latin typeface="Arial" panose="020B0604020202020204" pitchFamily="34" charset="0"/>
              </a:rPr>
              <a:t>Source: 	2.2.2.6_20250515 Project Vortex - Databook - PL.xlsx; 2.2_Vortex - External Customer Cube (March 	2025).xlsx; KPMG analysis</a:t>
            </a:r>
          </a:p>
        </p:txBody>
      </p:sp>
      <p:sp>
        <p:nvSpPr>
          <p:cNvPr id="5" name="Rectangle: Rounded Corners 4">
            <a:hlinkClick r:id="rId10" action="ppaction://hlinksldjump"/>
            <a:extLst>
              <a:ext uri="{FF2B5EF4-FFF2-40B4-BE49-F238E27FC236}">
                <a16:creationId xmlns:a16="http://schemas.microsoft.com/office/drawing/2014/main" id="{9586B121-2605-3C98-906D-2BC90AB597D3}"/>
              </a:ext>
            </a:extLst>
          </p:cNvPr>
          <p:cNvSpPr/>
          <p:nvPr/>
        </p:nvSpPr>
        <p:spPr>
          <a:xfrm>
            <a:off x="5273894" y="1452508"/>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Clr>
                <a:schemeClr val="dk1">
                  <a:lumMod val="100000"/>
                </a:schemeClr>
              </a:buClr>
            </a:pPr>
            <a:r>
              <a:rPr lang="en-US" sz="800" b="1">
                <a:solidFill>
                  <a:schemeClr val="bg1"/>
                </a:solidFill>
              </a:rPr>
              <a:t>Read more</a:t>
            </a:r>
          </a:p>
        </p:txBody>
      </p:sp>
      <p:sp>
        <p:nvSpPr>
          <p:cNvPr id="7" name="Oval 6">
            <a:extLst>
              <a:ext uri="{FF2B5EF4-FFF2-40B4-BE49-F238E27FC236}">
                <a16:creationId xmlns:a16="http://schemas.microsoft.com/office/drawing/2014/main" id="{3B5E08F8-34A1-04B8-574E-DD8065ABA3D1}"/>
              </a:ext>
            </a:extLst>
          </p:cNvPr>
          <p:cNvSpPr>
            <a:spLocks noChangeAspect="1"/>
          </p:cNvSpPr>
          <p:nvPr/>
        </p:nvSpPr>
        <p:spPr>
          <a:xfrm>
            <a:off x="6391974" y="2794205"/>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1</a:t>
            </a:r>
          </a:p>
        </p:txBody>
      </p:sp>
      <p:sp>
        <p:nvSpPr>
          <p:cNvPr id="8" name="Oval 7">
            <a:extLst>
              <a:ext uri="{FF2B5EF4-FFF2-40B4-BE49-F238E27FC236}">
                <a16:creationId xmlns:a16="http://schemas.microsoft.com/office/drawing/2014/main" id="{E9857914-A397-950B-9F3C-9C82646F6962}"/>
              </a:ext>
            </a:extLst>
          </p:cNvPr>
          <p:cNvSpPr>
            <a:spLocks noChangeAspect="1"/>
          </p:cNvSpPr>
          <p:nvPr/>
        </p:nvSpPr>
        <p:spPr>
          <a:xfrm>
            <a:off x="6391974" y="3258043"/>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2</a:t>
            </a:r>
          </a:p>
        </p:txBody>
      </p:sp>
      <p:sp>
        <p:nvSpPr>
          <p:cNvPr id="13" name="Oval 12">
            <a:extLst>
              <a:ext uri="{FF2B5EF4-FFF2-40B4-BE49-F238E27FC236}">
                <a16:creationId xmlns:a16="http://schemas.microsoft.com/office/drawing/2014/main" id="{7827FE8A-8177-6493-E523-D5A4B6F2D2E0}"/>
              </a:ext>
            </a:extLst>
          </p:cNvPr>
          <p:cNvSpPr>
            <a:spLocks noChangeAspect="1"/>
          </p:cNvSpPr>
          <p:nvPr/>
        </p:nvSpPr>
        <p:spPr>
          <a:xfrm>
            <a:off x="1044791" y="2250659"/>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1</a:t>
            </a:r>
          </a:p>
        </p:txBody>
      </p:sp>
      <p:sp>
        <p:nvSpPr>
          <p:cNvPr id="14" name="Oval 13">
            <a:extLst>
              <a:ext uri="{FF2B5EF4-FFF2-40B4-BE49-F238E27FC236}">
                <a16:creationId xmlns:a16="http://schemas.microsoft.com/office/drawing/2014/main" id="{7EAE6EA8-3E2E-1ABE-B525-2049AFE15948}"/>
              </a:ext>
            </a:extLst>
          </p:cNvPr>
          <p:cNvSpPr>
            <a:spLocks noChangeAspect="1"/>
          </p:cNvSpPr>
          <p:nvPr/>
        </p:nvSpPr>
        <p:spPr>
          <a:xfrm>
            <a:off x="1044791" y="2947523"/>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2</a:t>
            </a:r>
          </a:p>
        </p:txBody>
      </p:sp>
      <p:sp>
        <p:nvSpPr>
          <p:cNvPr id="15" name="Oval 14">
            <a:extLst>
              <a:ext uri="{FF2B5EF4-FFF2-40B4-BE49-F238E27FC236}">
                <a16:creationId xmlns:a16="http://schemas.microsoft.com/office/drawing/2014/main" id="{83962D1E-FF00-2AC9-C33E-25211FC388A9}"/>
              </a:ext>
            </a:extLst>
          </p:cNvPr>
          <p:cNvSpPr>
            <a:spLocks noChangeAspect="1"/>
          </p:cNvSpPr>
          <p:nvPr/>
        </p:nvSpPr>
        <p:spPr>
          <a:xfrm>
            <a:off x="6391974" y="3565559"/>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3</a:t>
            </a:r>
          </a:p>
        </p:txBody>
      </p:sp>
      <p:sp>
        <p:nvSpPr>
          <p:cNvPr id="16" name="Oval 15">
            <a:extLst>
              <a:ext uri="{FF2B5EF4-FFF2-40B4-BE49-F238E27FC236}">
                <a16:creationId xmlns:a16="http://schemas.microsoft.com/office/drawing/2014/main" id="{310F5169-2CEA-8DA4-A2CE-640C46F58F42}"/>
              </a:ext>
            </a:extLst>
          </p:cNvPr>
          <p:cNvSpPr>
            <a:spLocks noChangeAspect="1"/>
          </p:cNvSpPr>
          <p:nvPr/>
        </p:nvSpPr>
        <p:spPr>
          <a:xfrm>
            <a:off x="1049745" y="3892500"/>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3</a:t>
            </a:r>
          </a:p>
        </p:txBody>
      </p:sp>
      <p:sp>
        <p:nvSpPr>
          <p:cNvPr id="17" name="Oval 16">
            <a:extLst>
              <a:ext uri="{FF2B5EF4-FFF2-40B4-BE49-F238E27FC236}">
                <a16:creationId xmlns:a16="http://schemas.microsoft.com/office/drawing/2014/main" id="{3E39E767-B2DE-2206-3D32-1998D850A41B}"/>
              </a:ext>
            </a:extLst>
          </p:cNvPr>
          <p:cNvSpPr>
            <a:spLocks noChangeAspect="1"/>
          </p:cNvSpPr>
          <p:nvPr/>
        </p:nvSpPr>
        <p:spPr>
          <a:xfrm>
            <a:off x="1044791" y="5146133"/>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4</a:t>
            </a:r>
          </a:p>
        </p:txBody>
      </p:sp>
      <p:sp>
        <p:nvSpPr>
          <p:cNvPr id="18" name="Oval 17">
            <a:extLst>
              <a:ext uri="{FF2B5EF4-FFF2-40B4-BE49-F238E27FC236}">
                <a16:creationId xmlns:a16="http://schemas.microsoft.com/office/drawing/2014/main" id="{04DDC095-1624-7D16-516B-04780DB06E50}"/>
              </a:ext>
            </a:extLst>
          </p:cNvPr>
          <p:cNvSpPr>
            <a:spLocks noChangeAspect="1"/>
          </p:cNvSpPr>
          <p:nvPr/>
        </p:nvSpPr>
        <p:spPr>
          <a:xfrm>
            <a:off x="6391974" y="3862965"/>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4</a:t>
            </a:r>
          </a:p>
        </p:txBody>
      </p:sp>
      <p:grpSp>
        <p:nvGrpSpPr>
          <p:cNvPr id="136" name="Group 135">
            <a:extLst>
              <a:ext uri="{FF2B5EF4-FFF2-40B4-BE49-F238E27FC236}">
                <a16:creationId xmlns:a16="http://schemas.microsoft.com/office/drawing/2014/main" id="{38FF7BF4-50F5-BC8F-4DA5-3A539BA474EC}"/>
              </a:ext>
            </a:extLst>
          </p:cNvPr>
          <p:cNvGrpSpPr/>
          <p:nvPr>
            <p:custDataLst>
              <p:tags r:id="rId4"/>
            </p:custDataLst>
          </p:nvPr>
        </p:nvGrpSpPr>
        <p:grpSpPr>
          <a:xfrm>
            <a:off x="995364" y="153170"/>
            <a:ext cx="7441546" cy="195814"/>
            <a:chOff x="995364" y="153170"/>
            <a:chExt cx="7441546" cy="195814"/>
          </a:xfrm>
        </p:grpSpPr>
        <p:sp>
          <p:nvSpPr>
            <p:cNvPr id="137" name="Current Section1">
              <a:hlinkClick r:id="rId11"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138"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139"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397332"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140"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845980"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141"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647015"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142"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774808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
        <p:nvSpPr>
          <p:cNvPr id="12" name="Rectangle 11">
            <a:extLst>
              <a:ext uri="{FF2B5EF4-FFF2-40B4-BE49-F238E27FC236}">
                <a16:creationId xmlns:a16="http://schemas.microsoft.com/office/drawing/2014/main" id="{20A70690-1F09-F189-8F74-19CB5085B192}"/>
              </a:ext>
            </a:extLst>
          </p:cNvPr>
          <p:cNvSpPr/>
          <p:nvPr/>
        </p:nvSpPr>
        <p:spPr>
          <a:xfrm>
            <a:off x="12584148" y="3506226"/>
            <a:ext cx="1178203" cy="407139"/>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GREY THIS OUT</a:t>
            </a:r>
          </a:p>
        </p:txBody>
      </p:sp>
      <p:sp>
        <p:nvSpPr>
          <p:cNvPr id="19" name="Star: 5 Points 18">
            <a:extLst>
              <a:ext uri="{FF2B5EF4-FFF2-40B4-BE49-F238E27FC236}">
                <a16:creationId xmlns:a16="http://schemas.microsoft.com/office/drawing/2014/main" id="{AE044703-6C22-EAA5-F5C9-CEB6FA2580F1}"/>
              </a:ext>
            </a:extLst>
          </p:cNvPr>
          <p:cNvSpPr/>
          <p:nvPr/>
        </p:nvSpPr>
        <p:spPr>
          <a:xfrm>
            <a:off x="12818920" y="558033"/>
            <a:ext cx="708660" cy="648393"/>
          </a:xfrm>
          <a:prstGeom prst="star5">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900">
              <a:solidFill>
                <a:schemeClr val="bg1"/>
              </a:solidFill>
            </a:endParaRPr>
          </a:p>
        </p:txBody>
      </p:sp>
    </p:spTree>
    <p:extLst>
      <p:ext uri="{BB962C8B-B14F-4D97-AF65-F5344CB8AC3E}">
        <p14:creationId xmlns:p14="http://schemas.microsoft.com/office/powerpoint/2010/main" val="1449629839"/>
      </p:ext>
    </p:extLst>
  </p:cSld>
  <p:clrMapOvr>
    <a:masterClrMapping/>
  </p:clrMapOvr>
  <p:extLst>
    <p:ext uri="{6950BFC3-D8DA-4A85-94F7-54DA5524770B}">
      <p188:commentRel xmlns:p188="http://schemas.microsoft.com/office/powerpoint/2018/8/main" r:id="rId6"/>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ED128250-FBE9-4E9B-B55A-21CEAF3F458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0" name="Object 9" hidden="1">
                        <a:extLst>
                          <a:ext uri="{FF2B5EF4-FFF2-40B4-BE49-F238E27FC236}">
                            <a16:creationId xmlns:a16="http://schemas.microsoft.com/office/drawing/2014/main" id="{ED128250-FBE9-4E9B-B55A-21CEAF3F4583}"/>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146" name="Text Placeholder 145">
            <a:extLst>
              <a:ext uri="{FF2B5EF4-FFF2-40B4-BE49-F238E27FC236}">
                <a16:creationId xmlns:a16="http://schemas.microsoft.com/office/drawing/2014/main" id="{B81516F1-61F8-34F6-DAA8-4F668E45FBF1}"/>
              </a:ext>
            </a:extLst>
          </p:cNvPr>
          <p:cNvSpPr>
            <a:spLocks noGrp="1"/>
          </p:cNvSpPr>
          <p:nvPr>
            <p:ph type="body" sz="quarter" idx="10"/>
          </p:nvPr>
        </p:nvSpPr>
        <p:spPr>
          <a:xfrm>
            <a:off x="995362" y="1522314"/>
            <a:ext cx="4968000" cy="4354810"/>
          </a:xfrm>
        </p:spPr>
        <p:txBody>
          <a:bodyPr/>
          <a:lstStyle/>
          <a:p>
            <a:r>
              <a:rPr lang="en-US"/>
              <a:t>Cash flow</a:t>
            </a:r>
          </a:p>
        </p:txBody>
      </p:sp>
      <p:sp>
        <p:nvSpPr>
          <p:cNvPr id="217" name="Title 216">
            <a:extLst>
              <a:ext uri="{FF2B5EF4-FFF2-40B4-BE49-F238E27FC236}">
                <a16:creationId xmlns:a16="http://schemas.microsoft.com/office/drawing/2014/main" id="{D44D8C1B-7095-47BC-AB75-3346CAC9AA91}"/>
              </a:ext>
            </a:extLst>
          </p:cNvPr>
          <p:cNvSpPr>
            <a:spLocks noGrp="1"/>
          </p:cNvSpPr>
          <p:nvPr>
            <p:ph type="title"/>
          </p:nvPr>
        </p:nvSpPr>
        <p:spPr/>
        <p:txBody>
          <a:bodyPr/>
          <a:lstStyle/>
          <a:p>
            <a:r>
              <a:rPr lang="en-US"/>
              <a:t>Headlines (5/5)</a:t>
            </a:r>
          </a:p>
        </p:txBody>
      </p:sp>
      <p:sp>
        <p:nvSpPr>
          <p:cNvPr id="2" name="UpSlide SubSection Marker" hidden="1">
            <a:extLst>
              <a:ext uri="{FF2B5EF4-FFF2-40B4-BE49-F238E27FC236}">
                <a16:creationId xmlns:a16="http://schemas.microsoft.com/office/drawing/2014/main" id="{BA2C3198-1EA4-32E5-6BEE-64C608DF44EA}"/>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Headlines</a:t>
            </a:r>
          </a:p>
        </p:txBody>
      </p:sp>
      <p:sp>
        <p:nvSpPr>
          <p:cNvPr id="3" name="Rectangle 2">
            <a:extLst>
              <a:ext uri="{FF2B5EF4-FFF2-40B4-BE49-F238E27FC236}">
                <a16:creationId xmlns:a16="http://schemas.microsoft.com/office/drawing/2014/main" id="{F5D1568E-C02F-4498-9AE5-095EA8611C31}"/>
              </a:ext>
            </a:extLst>
          </p:cNvPr>
          <p:cNvSpPr/>
          <p:nvPr/>
        </p:nvSpPr>
        <p:spPr>
          <a:xfrm>
            <a:off x="1001486" y="1206426"/>
            <a:ext cx="5251158" cy="183447"/>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r>
              <a:rPr lang="en-US" sz="1000" b="1">
                <a:solidFill>
                  <a:schemeClr val="bg1"/>
                </a:solidFill>
              </a:rPr>
              <a:t>Topic</a:t>
            </a:r>
          </a:p>
        </p:txBody>
      </p:sp>
      <p:sp>
        <p:nvSpPr>
          <p:cNvPr id="4" name="Rectangle 3">
            <a:extLst>
              <a:ext uri="{FF2B5EF4-FFF2-40B4-BE49-F238E27FC236}">
                <a16:creationId xmlns:a16="http://schemas.microsoft.com/office/drawing/2014/main" id="{3C0903F1-0F57-4BFE-8537-BC7E82242BDC}"/>
              </a:ext>
            </a:extLst>
          </p:cNvPr>
          <p:cNvSpPr/>
          <p:nvPr/>
        </p:nvSpPr>
        <p:spPr>
          <a:xfrm>
            <a:off x="6252644" y="1206426"/>
            <a:ext cx="4937872" cy="185828"/>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1000" b="1">
                <a:solidFill>
                  <a:schemeClr val="bg1"/>
                </a:solidFill>
              </a:rPr>
              <a:t>Analysis</a:t>
            </a:r>
          </a:p>
        </p:txBody>
      </p:sp>
      <p:sp>
        <p:nvSpPr>
          <p:cNvPr id="31" name="Text Placeholder 148">
            <a:extLst>
              <a:ext uri="{FF2B5EF4-FFF2-40B4-BE49-F238E27FC236}">
                <a16:creationId xmlns:a16="http://schemas.microsoft.com/office/drawing/2014/main" id="{C4640475-478C-4B8A-BF12-F1F89EA54AD9}"/>
              </a:ext>
            </a:extLst>
          </p:cNvPr>
          <p:cNvSpPr txBox="1">
            <a:spLocks/>
          </p:cNvSpPr>
          <p:nvPr/>
        </p:nvSpPr>
        <p:spPr>
          <a:xfrm>
            <a:off x="995363" y="1795236"/>
            <a:ext cx="4961936" cy="2338613"/>
          </a:xfrm>
          <a:prstGeom prst="rect">
            <a:avLst/>
          </a:prstGeom>
        </p:spPr>
        <p:txBody>
          <a:bodyPr vert="horz" lIns="7200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lang="en-US" sz="1000" kern="1200" dirty="0" smtClean="0">
                <a:solidFill>
                  <a:schemeClr val="tx1"/>
                </a:solidFill>
                <a:latin typeface="+mn-lt"/>
                <a:ea typeface="+mn-ea"/>
                <a:cs typeface="+mn-cs"/>
              </a:defRPr>
            </a:lvl2pPr>
            <a:lvl3pPr marL="0" indent="0" algn="l" defTabSz="914400" rtl="0" eaLnBrk="1" latinLnBrk="0" hangingPunct="1">
              <a:lnSpc>
                <a:spcPct val="100000"/>
              </a:lnSpc>
              <a:spcBef>
                <a:spcPts val="0"/>
              </a:spcBef>
              <a:spcAft>
                <a:spcPts val="600"/>
              </a:spcAft>
              <a:buClrTx/>
              <a:buFont typeface="Arial" panose="020B0604020202020204" pitchFamily="34" charset="0"/>
              <a:buNone/>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defTabSz="914377">
              <a:defRPr/>
            </a:pPr>
            <a:r>
              <a:rPr lang="en-US"/>
              <a:t>The table on this page presents free cash flow generated by the business for FY24 and TTM Mar-25, derived from buy side diligence adjusted EBITDA and taking into account changes in reported net working capital and capital expenditures.</a:t>
            </a:r>
          </a:p>
          <a:p>
            <a:pPr marL="171450" lvl="1" indent="-171450" defTabSz="914377">
              <a:buFont typeface="Arial" panose="020B0604020202020204" pitchFamily="34" charset="0"/>
              <a:buChar char="•"/>
              <a:defRPr/>
            </a:pPr>
            <a:r>
              <a:rPr lang="en-US"/>
              <a:t>We have separated the cash impact of deferred revenue unwind on notable long term contracts paid upfront to highlight the fact that Vortex generated cash from net working capital (as expected in a growing SaaS-based business). Refer to page 32 for further discussion on the impact of deferred revenue on working capital and page 42 for discussion on accounting.</a:t>
            </a:r>
          </a:p>
          <a:p>
            <a:pPr marL="171450" lvl="1" indent="-171450" defTabSz="914377">
              <a:buFont typeface="Arial" panose="020B0604020202020204" pitchFamily="34" charset="0"/>
              <a:buChar char="•"/>
              <a:defRPr/>
            </a:pPr>
            <a:r>
              <a:rPr lang="en-US"/>
              <a:t>There some minor minimal FX driven differences between capex per the P&amp;L and capex per the balance sheet (which is based on a constant currency with reference to January 1, 2025).</a:t>
            </a:r>
          </a:p>
          <a:p>
            <a:pPr marL="171450" lvl="1" indent="-171450" defTabSz="914377">
              <a:buFont typeface="Arial" panose="020B0604020202020204" pitchFamily="34" charset="0"/>
              <a:buChar char="•"/>
              <a:defRPr/>
            </a:pPr>
            <a:r>
              <a:rPr lang="en-US"/>
              <a:t>Positive cash flows from operations (EBITDA + change in NWC) are consumed by capital expenditures historically, resulting in a free cash outflow of $(3.1) million in FY24 and $(1.5) million in TTM Mar-25. </a:t>
            </a:r>
          </a:p>
          <a:p>
            <a:pPr lvl="1" defTabSz="914377">
              <a:defRPr/>
            </a:pPr>
            <a:r>
              <a:rPr lang="en-US"/>
              <a:t>The Vortex financial model does not include a projected balance sheet or free cash flow to determine when Management believe the Company will become cash generative – however, capex is projected to increase to $12.4 million, $13.4 million and $14.1 million in FY25 to FY27, respectively. Assuming a neutral impact from NWC, which is dependent on the ongoing unwind and replacement of long term deferred revenue contracts, the Company would have to increase EBITDA by a CAGR of greater than 11.1% from FY24-FY27 to be cash generative (before the cash impact of financing activities).</a:t>
            </a:r>
          </a:p>
        </p:txBody>
      </p:sp>
      <p:sp>
        <p:nvSpPr>
          <p:cNvPr id="7" name="Text Placeholder 12">
            <a:extLst>
              <a:ext uri="{FF2B5EF4-FFF2-40B4-BE49-F238E27FC236}">
                <a16:creationId xmlns:a16="http://schemas.microsoft.com/office/drawing/2014/main" id="{32D5374E-92D8-D7D0-9F6A-86439C290768}"/>
              </a:ext>
            </a:extLst>
          </p:cNvPr>
          <p:cNvSpPr txBox="1">
            <a:spLocks/>
          </p:cNvSpPr>
          <p:nvPr/>
        </p:nvSpPr>
        <p:spPr>
          <a:xfrm>
            <a:off x="7063895" y="3796616"/>
            <a:ext cx="3364298"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Source: 	2.2.2.6_20250515 Project Vortex - Databook - PL.xlsx; 2.2.2.5_20250515 Project 	Vortex - Databook - Balance Sheet.xlsb; KPMG analysis</a:t>
            </a:r>
          </a:p>
        </p:txBody>
      </p:sp>
      <p:pic>
        <p:nvPicPr>
          <p:cNvPr id="5" name="Picture 4">
            <a:extLst>
              <a:ext uri="{FF2B5EF4-FFF2-40B4-BE49-F238E27FC236}">
                <a16:creationId xmlns:a16="http://schemas.microsoft.com/office/drawing/2014/main" id="{B28C95A8-9DB3-9999-71B5-E3882C11DEBC}"/>
              </a:ext>
            </a:extLst>
          </p:cNvPr>
          <p:cNvPicPr>
            <a:picLocks noChangeAspect="1"/>
          </p:cNvPicPr>
          <p:nvPr>
            <p:custDataLst>
              <p:tags r:id="rId3"/>
            </p:custDataLst>
          </p:nvPr>
        </p:nvPicPr>
        <p:blipFill>
          <a:blip r:embed="rId9"/>
          <a:stretch>
            <a:fillRect/>
          </a:stretch>
        </p:blipFill>
        <p:spPr>
          <a:xfrm>
            <a:off x="7044913" y="1523826"/>
            <a:ext cx="3383280" cy="2246376"/>
          </a:xfrm>
          <a:prstGeom prst="rect">
            <a:avLst/>
          </a:prstGeom>
        </p:spPr>
      </p:pic>
      <p:sp>
        <p:nvSpPr>
          <p:cNvPr id="8" name="Oval 7">
            <a:extLst>
              <a:ext uri="{FF2B5EF4-FFF2-40B4-BE49-F238E27FC236}">
                <a16:creationId xmlns:a16="http://schemas.microsoft.com/office/drawing/2014/main" id="{9F56728B-1D93-1B4B-0AB9-9B1CEEF023F0}"/>
              </a:ext>
            </a:extLst>
          </p:cNvPr>
          <p:cNvSpPr>
            <a:spLocks noChangeAspect="1"/>
          </p:cNvSpPr>
          <p:nvPr/>
        </p:nvSpPr>
        <p:spPr>
          <a:xfrm>
            <a:off x="6936912" y="2247509"/>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1</a:t>
            </a:r>
          </a:p>
        </p:txBody>
      </p:sp>
      <p:sp>
        <p:nvSpPr>
          <p:cNvPr id="12" name="Oval 11">
            <a:extLst>
              <a:ext uri="{FF2B5EF4-FFF2-40B4-BE49-F238E27FC236}">
                <a16:creationId xmlns:a16="http://schemas.microsoft.com/office/drawing/2014/main" id="{99470E39-0BC2-A0D8-BEBB-67C5235154DC}"/>
              </a:ext>
            </a:extLst>
          </p:cNvPr>
          <p:cNvSpPr>
            <a:spLocks noChangeAspect="1"/>
          </p:cNvSpPr>
          <p:nvPr/>
        </p:nvSpPr>
        <p:spPr>
          <a:xfrm>
            <a:off x="1044791" y="2355434"/>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1</a:t>
            </a:r>
          </a:p>
        </p:txBody>
      </p:sp>
      <p:sp>
        <p:nvSpPr>
          <p:cNvPr id="13" name="Oval 12">
            <a:extLst>
              <a:ext uri="{FF2B5EF4-FFF2-40B4-BE49-F238E27FC236}">
                <a16:creationId xmlns:a16="http://schemas.microsoft.com/office/drawing/2014/main" id="{F9334CA2-AD56-E634-36DC-BDAFFA9A40BF}"/>
              </a:ext>
            </a:extLst>
          </p:cNvPr>
          <p:cNvSpPr>
            <a:spLocks noChangeAspect="1"/>
          </p:cNvSpPr>
          <p:nvPr/>
        </p:nvSpPr>
        <p:spPr>
          <a:xfrm>
            <a:off x="6936912" y="3177592"/>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2</a:t>
            </a:r>
          </a:p>
        </p:txBody>
      </p:sp>
      <p:sp>
        <p:nvSpPr>
          <p:cNvPr id="14" name="Oval 13">
            <a:extLst>
              <a:ext uri="{FF2B5EF4-FFF2-40B4-BE49-F238E27FC236}">
                <a16:creationId xmlns:a16="http://schemas.microsoft.com/office/drawing/2014/main" id="{36B876C4-894F-EA8C-063B-A19CC0C22647}"/>
              </a:ext>
            </a:extLst>
          </p:cNvPr>
          <p:cNvSpPr>
            <a:spLocks noChangeAspect="1"/>
          </p:cNvSpPr>
          <p:nvPr/>
        </p:nvSpPr>
        <p:spPr>
          <a:xfrm>
            <a:off x="1044791" y="3178124"/>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2</a:t>
            </a:r>
          </a:p>
        </p:txBody>
      </p:sp>
      <p:sp>
        <p:nvSpPr>
          <p:cNvPr id="15" name="Oval 14">
            <a:extLst>
              <a:ext uri="{FF2B5EF4-FFF2-40B4-BE49-F238E27FC236}">
                <a16:creationId xmlns:a16="http://schemas.microsoft.com/office/drawing/2014/main" id="{86539499-466C-EB96-28EC-7326CFEF908A}"/>
              </a:ext>
            </a:extLst>
          </p:cNvPr>
          <p:cNvSpPr>
            <a:spLocks noChangeAspect="1"/>
          </p:cNvSpPr>
          <p:nvPr/>
        </p:nvSpPr>
        <p:spPr>
          <a:xfrm>
            <a:off x="6930850" y="3630935"/>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3</a:t>
            </a:r>
          </a:p>
        </p:txBody>
      </p:sp>
      <p:sp>
        <p:nvSpPr>
          <p:cNvPr id="16" name="Oval 15">
            <a:extLst>
              <a:ext uri="{FF2B5EF4-FFF2-40B4-BE49-F238E27FC236}">
                <a16:creationId xmlns:a16="http://schemas.microsoft.com/office/drawing/2014/main" id="{5F660C73-DA81-5576-12EB-C65615BEEC11}"/>
              </a:ext>
            </a:extLst>
          </p:cNvPr>
          <p:cNvSpPr>
            <a:spLocks noChangeAspect="1"/>
          </p:cNvSpPr>
          <p:nvPr/>
        </p:nvSpPr>
        <p:spPr>
          <a:xfrm>
            <a:off x="1044791" y="3711656"/>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3</a:t>
            </a:r>
          </a:p>
        </p:txBody>
      </p:sp>
      <p:grpSp>
        <p:nvGrpSpPr>
          <p:cNvPr id="132" name="Group 131">
            <a:extLst>
              <a:ext uri="{FF2B5EF4-FFF2-40B4-BE49-F238E27FC236}">
                <a16:creationId xmlns:a16="http://schemas.microsoft.com/office/drawing/2014/main" id="{38FF7BF4-50F5-BC8F-4DA5-3A539BA474EC}"/>
              </a:ext>
            </a:extLst>
          </p:cNvPr>
          <p:cNvGrpSpPr/>
          <p:nvPr>
            <p:custDataLst>
              <p:tags r:id="rId4"/>
            </p:custDataLst>
          </p:nvPr>
        </p:nvGrpSpPr>
        <p:grpSpPr>
          <a:xfrm>
            <a:off x="995364" y="153170"/>
            <a:ext cx="7441546" cy="195814"/>
            <a:chOff x="995364" y="153170"/>
            <a:chExt cx="7441546" cy="195814"/>
          </a:xfrm>
        </p:grpSpPr>
        <p:sp>
          <p:nvSpPr>
            <p:cNvPr id="133" name="Current Section1">
              <a:hlinkClick r:id="rId10"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134"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135"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397332"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136"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845980"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137"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647015"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138"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774808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211415531"/>
      </p:ext>
    </p:extLst>
  </p:cSld>
  <p:clrMapOvr>
    <a:masterClrMapping/>
  </p:clrMapOvr>
  <p:extLst>
    <p:ext uri="{6950BFC3-D8DA-4A85-94F7-54DA5524770B}">
      <p188:commentRel xmlns:p188="http://schemas.microsoft.com/office/powerpoint/2018/8/main" r:id="rId6"/>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a:hlinkClick r:id="rId18" action="ppaction://hlinksldjump"/>
            <a:extLst>
              <a:ext uri="{FF2B5EF4-FFF2-40B4-BE49-F238E27FC236}">
                <a16:creationId xmlns:a16="http://schemas.microsoft.com/office/drawing/2014/main" id="{B9A972CF-6AEC-8B57-1A74-F4D4B5E331EF}"/>
              </a:ext>
            </a:extLst>
          </p:cNvPr>
          <p:cNvSpPr txBox="1"/>
          <p:nvPr>
            <p:custDataLst>
              <p:tags r:id="rId2"/>
            </p:custDataLst>
          </p:nvPr>
        </p:nvSpPr>
        <p:spPr>
          <a:xfrm>
            <a:off x="1289860" y="3566606"/>
            <a:ext cx="4873752" cy="0"/>
          </a:xfrm>
          <a:prstGeom prst="rect">
            <a:avLst/>
          </a:prstGeom>
          <a:noFill/>
        </p:spPr>
        <p:txBody>
          <a:bodyPr vert="horz" wrap="square" lIns="0" tIns="0" rIns="0" bIns="2286000" rtlCol="0">
            <a:noAutofit/>
          </a:bodyPr>
          <a:lstStyle/>
          <a:p>
            <a:pPr algn="l">
              <a:lnSpc>
                <a:spcPct val="70000"/>
              </a:lnSpc>
            </a:pPr>
            <a:r>
              <a:rPr lang="en-US" sz="6600">
                <a:solidFill>
                  <a:srgbClr val="FFFFFF"/>
                </a:solidFill>
                <a:latin typeface="+mj-lt"/>
              </a:rPr>
              <a:t>Quality of revenue / ARR</a:t>
            </a:r>
          </a:p>
        </p:txBody>
      </p:sp>
      <p:sp>
        <p:nvSpPr>
          <p:cNvPr id="59" name="TextBox 58">
            <a:hlinkClick r:id="rId19" action="ppaction://hlinksldjump"/>
            <a:extLst>
              <a:ext uri="{FF2B5EF4-FFF2-40B4-BE49-F238E27FC236}">
                <a16:creationId xmlns:a16="http://schemas.microsoft.com/office/drawing/2014/main" id="{537F90F4-D802-4378-6ACD-65B74870BAC9}"/>
              </a:ext>
            </a:extLst>
          </p:cNvPr>
          <p:cNvSpPr txBox="1"/>
          <p:nvPr>
            <p:custDataLst>
              <p:tags r:id="rId3"/>
            </p:custDataLst>
          </p:nvPr>
        </p:nvSpPr>
        <p:spPr>
          <a:xfrm>
            <a:off x="1714809" y="3869882"/>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ARR summary</a:t>
            </a:r>
          </a:p>
        </p:txBody>
      </p:sp>
      <p:sp>
        <p:nvSpPr>
          <p:cNvPr id="60" name="TextBox 59">
            <a:hlinkClick r:id="rId20" action="ppaction://hlinksldjump"/>
            <a:extLst>
              <a:ext uri="{FF2B5EF4-FFF2-40B4-BE49-F238E27FC236}">
                <a16:creationId xmlns:a16="http://schemas.microsoft.com/office/drawing/2014/main" id="{1280A54B-0530-999F-6EBC-F4648DEC1212}"/>
              </a:ext>
            </a:extLst>
          </p:cNvPr>
          <p:cNvSpPr txBox="1"/>
          <p:nvPr>
            <p:custDataLst>
              <p:tags r:id="rId4"/>
            </p:custDataLst>
          </p:nvPr>
        </p:nvSpPr>
        <p:spPr>
          <a:xfrm>
            <a:off x="1714809" y="4264598"/>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ARR adjustments</a:t>
            </a:r>
          </a:p>
        </p:txBody>
      </p:sp>
      <p:sp>
        <p:nvSpPr>
          <p:cNvPr id="61" name="TextBox 60">
            <a:hlinkClick r:id="rId21" action="ppaction://hlinksldjump"/>
            <a:extLst>
              <a:ext uri="{FF2B5EF4-FFF2-40B4-BE49-F238E27FC236}">
                <a16:creationId xmlns:a16="http://schemas.microsoft.com/office/drawing/2014/main" id="{DEBF5D12-31D1-F554-AFEA-E5225BC7715F}"/>
              </a:ext>
            </a:extLst>
          </p:cNvPr>
          <p:cNvSpPr txBox="1"/>
          <p:nvPr>
            <p:custDataLst>
              <p:tags r:id="rId5"/>
            </p:custDataLst>
          </p:nvPr>
        </p:nvSpPr>
        <p:spPr>
          <a:xfrm>
            <a:off x="1714809" y="4659314"/>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MRR to revenue reconciliation</a:t>
            </a:r>
          </a:p>
        </p:txBody>
      </p:sp>
      <p:sp>
        <p:nvSpPr>
          <p:cNvPr id="62" name="TextBox 61">
            <a:hlinkClick r:id="rId22" action="ppaction://hlinksldjump"/>
            <a:extLst>
              <a:ext uri="{FF2B5EF4-FFF2-40B4-BE49-F238E27FC236}">
                <a16:creationId xmlns:a16="http://schemas.microsoft.com/office/drawing/2014/main" id="{66A91318-CE78-7002-109B-703FDA4F8C52}"/>
              </a:ext>
            </a:extLst>
          </p:cNvPr>
          <p:cNvSpPr txBox="1"/>
          <p:nvPr>
            <p:custDataLst>
              <p:tags r:id="rId6"/>
            </p:custDataLst>
          </p:nvPr>
        </p:nvSpPr>
        <p:spPr>
          <a:xfrm>
            <a:off x="1714809" y="5054029"/>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Revenue to cash reconciliation</a:t>
            </a:r>
          </a:p>
        </p:txBody>
      </p:sp>
      <p:sp>
        <p:nvSpPr>
          <p:cNvPr id="63" name="TextBox 62">
            <a:hlinkClick r:id="rId18" action="ppaction://hlinksldjump"/>
            <a:extLst>
              <a:ext uri="{FF2B5EF4-FFF2-40B4-BE49-F238E27FC236}">
                <a16:creationId xmlns:a16="http://schemas.microsoft.com/office/drawing/2014/main" id="{1CF626AD-812E-0D9B-ADB8-AB72BD71FEE2}"/>
              </a:ext>
            </a:extLst>
          </p:cNvPr>
          <p:cNvSpPr txBox="1"/>
          <p:nvPr>
            <p:custDataLst>
              <p:tags r:id="rId7"/>
            </p:custDataLst>
          </p:nvPr>
        </p:nvSpPr>
        <p:spPr>
          <a:xfrm>
            <a:off x="1289304" y="3566606"/>
            <a:ext cx="3952700" cy="0"/>
          </a:xfrm>
          <a:prstGeom prst="rect">
            <a:avLst/>
          </a:prstGeom>
        </p:spPr>
        <p:txBody>
          <a:bodyPr vert="horz" wrap="none" lIns="0" tIns="0" rIns="0" bIns="4389120" rtlCol="0" anchor="t" anchorCtr="0">
            <a:noAutofit/>
          </a:bodyPr>
          <a:lstStyle/>
          <a:p>
            <a:pPr algn="l">
              <a:lnSpc>
                <a:spcPct val="80000"/>
              </a:lnSpc>
              <a:spcAft>
                <a:spcPts val="600"/>
              </a:spcAft>
            </a:pPr>
            <a:r>
              <a:rPr lang="en-US" sz="6600" b="1">
                <a:solidFill>
                  <a:srgbClr val="FFFFFF"/>
                </a:solidFill>
                <a:latin typeface="+mj-lt"/>
              </a:rPr>
              <a:t>02</a:t>
            </a:r>
          </a:p>
        </p:txBody>
      </p:sp>
      <p:sp>
        <p:nvSpPr>
          <p:cNvPr id="64" name="TextBox 63">
            <a:hlinkClick r:id="rId18" action="ppaction://hlinksldjump"/>
            <a:extLst>
              <a:ext uri="{FF2B5EF4-FFF2-40B4-BE49-F238E27FC236}">
                <a16:creationId xmlns:a16="http://schemas.microsoft.com/office/drawing/2014/main" id="{62036829-B490-BAF4-5EDD-A98C1D1FB703}"/>
              </a:ext>
            </a:extLst>
          </p:cNvPr>
          <p:cNvSpPr txBox="1"/>
          <p:nvPr>
            <p:custDataLst>
              <p:tags r:id="rId8"/>
            </p:custDataLst>
          </p:nvPr>
        </p:nvSpPr>
        <p:spPr>
          <a:xfrm>
            <a:off x="6163612" y="3209990"/>
            <a:ext cx="0" cy="356616"/>
          </a:xfrm>
          <a:prstGeom prst="rect">
            <a:avLst/>
          </a:prstGeom>
          <a:noFill/>
          <a:ln>
            <a:noFill/>
          </a:ln>
        </p:spPr>
        <p:txBody>
          <a:bodyPr vert="horz" wrap="none" lIns="0" tIns="0" rIns="0" bIns="0" rtlCol="0" anchor="t" anchorCtr="0">
            <a:noAutofit/>
          </a:bodyPr>
          <a:lstStyle/>
          <a:p>
            <a:pPr algn="ctr"/>
            <a:r>
              <a:rPr lang="en-US" sz="100">
                <a:ln>
                  <a:noFill/>
                </a:ln>
                <a:noFill/>
                <a:latin typeface="+mj-lt"/>
              </a:rPr>
              <a:t>11</a:t>
            </a:r>
          </a:p>
        </p:txBody>
      </p:sp>
      <p:sp>
        <p:nvSpPr>
          <p:cNvPr id="65" name="TextBox 64">
            <a:hlinkClick r:id="rId19" action="ppaction://hlinksldjump"/>
            <a:extLst>
              <a:ext uri="{FF2B5EF4-FFF2-40B4-BE49-F238E27FC236}">
                <a16:creationId xmlns:a16="http://schemas.microsoft.com/office/drawing/2014/main" id="{C3717AB7-5798-28AA-E7FC-30B7EC19513C}"/>
              </a:ext>
            </a:extLst>
          </p:cNvPr>
          <p:cNvSpPr txBox="1"/>
          <p:nvPr>
            <p:custDataLst>
              <p:tags r:id="rId9"/>
            </p:custDataLst>
          </p:nvPr>
        </p:nvSpPr>
        <p:spPr bwMode="auto">
          <a:xfrm>
            <a:off x="1332373" y="3869882"/>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2.1</a:t>
            </a:r>
          </a:p>
        </p:txBody>
      </p:sp>
      <p:sp>
        <p:nvSpPr>
          <p:cNvPr id="66" name="TextBox 65">
            <a:hlinkClick r:id="rId20" action="ppaction://hlinksldjump"/>
            <a:extLst>
              <a:ext uri="{FF2B5EF4-FFF2-40B4-BE49-F238E27FC236}">
                <a16:creationId xmlns:a16="http://schemas.microsoft.com/office/drawing/2014/main" id="{C65C4524-F068-A3E7-8EC5-FFB3254DADF9}"/>
              </a:ext>
            </a:extLst>
          </p:cNvPr>
          <p:cNvSpPr txBox="1"/>
          <p:nvPr>
            <p:custDataLst>
              <p:tags r:id="rId10"/>
            </p:custDataLst>
          </p:nvPr>
        </p:nvSpPr>
        <p:spPr bwMode="auto">
          <a:xfrm>
            <a:off x="1332373" y="4264598"/>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2.2</a:t>
            </a:r>
          </a:p>
        </p:txBody>
      </p:sp>
      <p:sp>
        <p:nvSpPr>
          <p:cNvPr id="67" name="TextBox 66">
            <a:hlinkClick r:id="rId21" action="ppaction://hlinksldjump"/>
            <a:extLst>
              <a:ext uri="{FF2B5EF4-FFF2-40B4-BE49-F238E27FC236}">
                <a16:creationId xmlns:a16="http://schemas.microsoft.com/office/drawing/2014/main" id="{09F58B44-ED8D-E8B9-7938-F95A2C2D1486}"/>
              </a:ext>
            </a:extLst>
          </p:cNvPr>
          <p:cNvSpPr txBox="1"/>
          <p:nvPr>
            <p:custDataLst>
              <p:tags r:id="rId11"/>
            </p:custDataLst>
          </p:nvPr>
        </p:nvSpPr>
        <p:spPr bwMode="auto">
          <a:xfrm>
            <a:off x="1332373" y="4659314"/>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2.3</a:t>
            </a:r>
          </a:p>
        </p:txBody>
      </p:sp>
      <p:sp>
        <p:nvSpPr>
          <p:cNvPr id="68" name="TextBox 67">
            <a:hlinkClick r:id="rId22" action="ppaction://hlinksldjump"/>
            <a:extLst>
              <a:ext uri="{FF2B5EF4-FFF2-40B4-BE49-F238E27FC236}">
                <a16:creationId xmlns:a16="http://schemas.microsoft.com/office/drawing/2014/main" id="{70318F00-28E9-0FAA-02C7-4DA6683E4160}"/>
              </a:ext>
            </a:extLst>
          </p:cNvPr>
          <p:cNvSpPr txBox="1"/>
          <p:nvPr>
            <p:custDataLst>
              <p:tags r:id="rId12"/>
            </p:custDataLst>
          </p:nvPr>
        </p:nvSpPr>
        <p:spPr bwMode="auto">
          <a:xfrm>
            <a:off x="1332373" y="5054029"/>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2.4</a:t>
            </a:r>
          </a:p>
        </p:txBody>
      </p:sp>
      <p:sp>
        <p:nvSpPr>
          <p:cNvPr id="69" name="TextBox 68">
            <a:hlinkClick r:id="rId19" action="ppaction://hlinksldjump"/>
            <a:extLst>
              <a:ext uri="{FF2B5EF4-FFF2-40B4-BE49-F238E27FC236}">
                <a16:creationId xmlns:a16="http://schemas.microsoft.com/office/drawing/2014/main" id="{694BF5A8-2B30-F9F4-92E5-97AE522C325E}"/>
              </a:ext>
            </a:extLst>
          </p:cNvPr>
          <p:cNvSpPr txBox="1"/>
          <p:nvPr>
            <p:custDataLst>
              <p:tags r:id="rId13"/>
            </p:custDataLst>
          </p:nvPr>
        </p:nvSpPr>
        <p:spPr>
          <a:xfrm>
            <a:off x="6163612" y="3869882"/>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12</a:t>
            </a:r>
          </a:p>
        </p:txBody>
      </p:sp>
      <p:sp>
        <p:nvSpPr>
          <p:cNvPr id="70" name="TextBox 69">
            <a:hlinkClick r:id="rId20" action="ppaction://hlinksldjump"/>
            <a:extLst>
              <a:ext uri="{FF2B5EF4-FFF2-40B4-BE49-F238E27FC236}">
                <a16:creationId xmlns:a16="http://schemas.microsoft.com/office/drawing/2014/main" id="{05DD32A0-1E96-96D9-3B81-14C91BC26C1C}"/>
              </a:ext>
            </a:extLst>
          </p:cNvPr>
          <p:cNvSpPr txBox="1"/>
          <p:nvPr>
            <p:custDataLst>
              <p:tags r:id="rId14"/>
            </p:custDataLst>
          </p:nvPr>
        </p:nvSpPr>
        <p:spPr>
          <a:xfrm>
            <a:off x="6163612" y="4264598"/>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13</a:t>
            </a:r>
          </a:p>
        </p:txBody>
      </p:sp>
      <p:sp>
        <p:nvSpPr>
          <p:cNvPr id="71" name="TextBox 70">
            <a:hlinkClick r:id="rId21" action="ppaction://hlinksldjump"/>
            <a:extLst>
              <a:ext uri="{FF2B5EF4-FFF2-40B4-BE49-F238E27FC236}">
                <a16:creationId xmlns:a16="http://schemas.microsoft.com/office/drawing/2014/main" id="{34073B2A-0087-164B-5CEF-763AC3FD3447}"/>
              </a:ext>
            </a:extLst>
          </p:cNvPr>
          <p:cNvSpPr txBox="1"/>
          <p:nvPr>
            <p:custDataLst>
              <p:tags r:id="rId15"/>
            </p:custDataLst>
          </p:nvPr>
        </p:nvSpPr>
        <p:spPr>
          <a:xfrm>
            <a:off x="6163612" y="4659314"/>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14</a:t>
            </a:r>
          </a:p>
        </p:txBody>
      </p:sp>
      <p:sp>
        <p:nvSpPr>
          <p:cNvPr id="72" name="TextBox 71">
            <a:hlinkClick r:id="rId22" action="ppaction://hlinksldjump"/>
            <a:extLst>
              <a:ext uri="{FF2B5EF4-FFF2-40B4-BE49-F238E27FC236}">
                <a16:creationId xmlns:a16="http://schemas.microsoft.com/office/drawing/2014/main" id="{AA5CDC34-EFA3-B46E-AF07-D563CAAD7EBE}"/>
              </a:ext>
            </a:extLst>
          </p:cNvPr>
          <p:cNvSpPr txBox="1"/>
          <p:nvPr>
            <p:custDataLst>
              <p:tags r:id="rId16"/>
            </p:custDataLst>
          </p:nvPr>
        </p:nvSpPr>
        <p:spPr>
          <a:xfrm>
            <a:off x="6163612" y="5054029"/>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15</a:t>
            </a:r>
          </a:p>
        </p:txBody>
      </p:sp>
    </p:spTree>
    <p:custDataLst>
      <p:tags r:id="rId1"/>
    </p:custDataLst>
    <p:extLst>
      <p:ext uri="{BB962C8B-B14F-4D97-AF65-F5344CB8AC3E}">
        <p14:creationId xmlns:p14="http://schemas.microsoft.com/office/powerpoint/2010/main" val="3437714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30" name="Text Placeholder 29">
            <a:extLst>
              <a:ext uri="{FF2B5EF4-FFF2-40B4-BE49-F238E27FC236}">
                <a16:creationId xmlns:a16="http://schemas.microsoft.com/office/drawing/2014/main" id="{ED9B43DD-09B1-37AB-55A7-5E3BA9E45DF0}"/>
              </a:ext>
            </a:extLst>
          </p:cNvPr>
          <p:cNvSpPr>
            <a:spLocks noGrp="1"/>
          </p:cNvSpPr>
          <p:nvPr>
            <p:ph type="body" sz="quarter" idx="10"/>
          </p:nvPr>
        </p:nvSpPr>
        <p:spPr>
          <a:xfrm>
            <a:off x="995361" y="1179513"/>
            <a:ext cx="10195200" cy="460800"/>
          </a:xfrm>
        </p:spPr>
        <p:txBody>
          <a:bodyPr/>
          <a:lstStyle/>
          <a:p>
            <a:r>
              <a:rPr lang="en-US">
                <a:solidFill>
                  <a:srgbClr val="00338D"/>
                </a:solidFill>
              </a:rPr>
              <a:t>Management’s adjusted ARR ($51.3 million at Mar-25) comprises subscription revenue tracked by customer ($44.2 million), revenue from small firms and online sales ($5.7 million), reoccurring transactional revenue ($1.3 million), and adjustments for late renewals ($0.7 million). This is partially offset for known churn ($(0.6) million).  </a:t>
            </a:r>
          </a:p>
          <a:p>
            <a:r>
              <a:rPr lang="en-US">
                <a:solidFill>
                  <a:srgbClr val="00338D"/>
                </a:solidFill>
              </a:rPr>
              <a:t>Billing for subscriptions ranges from monthly to up to 5 years upfront – related ARR is based on the average annual revenue contribution which differs from Clio’s methodology (ARR based on 360 days of revenue).</a:t>
            </a:r>
          </a:p>
        </p:txBody>
      </p:sp>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vert="horz"/>
          <a:lstStyle/>
          <a:p>
            <a:r>
              <a:rPr lang="en-US"/>
              <a:t>ARR summary</a:t>
            </a:r>
          </a:p>
        </p:txBody>
      </p:sp>
      <p:sp>
        <p:nvSpPr>
          <p:cNvPr id="31" name="Text Placeholder 30">
            <a:extLst>
              <a:ext uri="{FF2B5EF4-FFF2-40B4-BE49-F238E27FC236}">
                <a16:creationId xmlns:a16="http://schemas.microsoft.com/office/drawing/2014/main" id="{3BB72BBD-939C-B659-75F5-52DF8322F33D}"/>
              </a:ext>
            </a:extLst>
          </p:cNvPr>
          <p:cNvSpPr>
            <a:spLocks noGrp="1"/>
          </p:cNvSpPr>
          <p:nvPr>
            <p:ph type="body" sz="quarter" idx="11"/>
          </p:nvPr>
        </p:nvSpPr>
        <p:spPr>
          <a:xfrm>
            <a:off x="5463354" y="1865884"/>
            <a:ext cx="5738401" cy="252000"/>
          </a:xfrm>
        </p:spPr>
        <p:txBody>
          <a:bodyPr/>
          <a:lstStyle/>
          <a:p>
            <a:r>
              <a:rPr lang="fi-FI"/>
              <a:t>Adjusted ARR per Management</a:t>
            </a:r>
          </a:p>
        </p:txBody>
      </p:sp>
      <p:sp>
        <p:nvSpPr>
          <p:cNvPr id="3" name="Text Placeholder 7">
            <a:extLst>
              <a:ext uri="{FF2B5EF4-FFF2-40B4-BE49-F238E27FC236}">
                <a16:creationId xmlns:a16="http://schemas.microsoft.com/office/drawing/2014/main" id="{6B11C4E2-33F7-1453-9802-8B4F908F97BA}"/>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0" name="Text Placeholder 12">
            <a:extLst>
              <a:ext uri="{FF2B5EF4-FFF2-40B4-BE49-F238E27FC236}">
                <a16:creationId xmlns:a16="http://schemas.microsoft.com/office/drawing/2014/main" id="{47E7BED4-6C11-4895-CC36-E4C75540EEA3}"/>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1" name="Rounded Rectangle 7">
            <a:extLst>
              <a:ext uri="{FF2B5EF4-FFF2-40B4-BE49-F238E27FC236}">
                <a16:creationId xmlns:a16="http://schemas.microsoft.com/office/drawing/2014/main" id="{47F8B8C1-DA53-7235-C48A-D7D94722EF68}"/>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2" name="Rectangle 11">
            <a:extLst>
              <a:ext uri="{FF2B5EF4-FFF2-40B4-BE49-F238E27FC236}">
                <a16:creationId xmlns:a16="http://schemas.microsoft.com/office/drawing/2014/main" id="{8BD92E56-2271-7AE3-E3C4-ED0150461DF8}"/>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3" name="Straight Arrow Connector 12">
            <a:extLst>
              <a:ext uri="{FF2B5EF4-FFF2-40B4-BE49-F238E27FC236}">
                <a16:creationId xmlns:a16="http://schemas.microsoft.com/office/drawing/2014/main" id="{863D1F7E-2B54-5896-8386-CDD3583E1C1B}"/>
              </a:ext>
            </a:extLst>
          </p:cNvPr>
          <p:cNvCxnSpPr>
            <a:cxnSpLocks/>
            <a:stCxn id="12" idx="2"/>
            <a:endCxn id="11"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9CAD5111-90F9-2C69-98DF-B32EBC9012CD}"/>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15" name="Rectangle 14">
            <a:extLst>
              <a:ext uri="{FF2B5EF4-FFF2-40B4-BE49-F238E27FC236}">
                <a16:creationId xmlns:a16="http://schemas.microsoft.com/office/drawing/2014/main" id="{4BFE13B8-A7CE-A1DA-DE0B-F38B3497D680}"/>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52" name="Rectangle 51">
            <a:extLst>
              <a:ext uri="{FF2B5EF4-FFF2-40B4-BE49-F238E27FC236}">
                <a16:creationId xmlns:a16="http://schemas.microsoft.com/office/drawing/2014/main" id="{800C15CF-F43F-0DE9-CDA1-1AC086BB21F8}"/>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65" name="Rectangle 64">
            <a:extLst>
              <a:ext uri="{FF2B5EF4-FFF2-40B4-BE49-F238E27FC236}">
                <a16:creationId xmlns:a16="http://schemas.microsoft.com/office/drawing/2014/main" id="{7A485F0F-92DB-4C12-9547-BDD7B53E6834}"/>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78" name="Rectangle 77">
            <a:extLst>
              <a:ext uri="{FF2B5EF4-FFF2-40B4-BE49-F238E27FC236}">
                <a16:creationId xmlns:a16="http://schemas.microsoft.com/office/drawing/2014/main" id="{371241B0-ECE6-4019-A275-B1EBB616AAFF}"/>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7" name="Text Placeholder 12">
            <a:extLst>
              <a:ext uri="{FF2B5EF4-FFF2-40B4-BE49-F238E27FC236}">
                <a16:creationId xmlns:a16="http://schemas.microsoft.com/office/drawing/2014/main" id="{1CA7998A-F9C6-E715-3252-717C481276D5}"/>
              </a:ext>
            </a:extLst>
          </p:cNvPr>
          <p:cNvSpPr txBox="1">
            <a:spLocks/>
          </p:cNvSpPr>
          <p:nvPr/>
        </p:nvSpPr>
        <p:spPr>
          <a:xfrm>
            <a:off x="995121" y="5907053"/>
            <a:ext cx="3600000" cy="184666"/>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Source: 	</a:t>
            </a:r>
            <a:r>
              <a:rPr lang="nl-NL" sz="600" b="0">
                <a:solidFill>
                  <a:schemeClr val="tx2"/>
                </a:solidFill>
                <a:latin typeface="Arial" panose="020B0604020202020204" pitchFamily="34" charset="0"/>
              </a:rPr>
              <a:t>2.2_Vortex - External Customer Cube (March 2025).xlsx; 2.18_Project Vortex - Databook - 	Revenue vs 	ARR.xlsb; KPMG analysis.</a:t>
            </a:r>
            <a:endParaRPr lang="en-US" sz="600" b="0">
              <a:solidFill>
                <a:schemeClr val="tx2"/>
              </a:solidFill>
              <a:latin typeface="Arial" panose="020B0604020202020204" pitchFamily="34" charset="0"/>
            </a:endParaRPr>
          </a:p>
        </p:txBody>
      </p:sp>
      <p:sp>
        <p:nvSpPr>
          <p:cNvPr id="8" name="Oval 7">
            <a:extLst>
              <a:ext uri="{FF2B5EF4-FFF2-40B4-BE49-F238E27FC236}">
                <a16:creationId xmlns:a16="http://schemas.microsoft.com/office/drawing/2014/main" id="{C50218A9-BFE6-241E-4966-F72F8D4CDCDE}"/>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6" name="Rectangle 15">
            <a:extLst>
              <a:ext uri="{FF2B5EF4-FFF2-40B4-BE49-F238E27FC236}">
                <a16:creationId xmlns:a16="http://schemas.microsoft.com/office/drawing/2014/main" id="{985EE9C9-DE19-0F73-DD67-15F83529DD59}"/>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7" name="Rectangle 16">
            <a:extLst>
              <a:ext uri="{FF2B5EF4-FFF2-40B4-BE49-F238E27FC236}">
                <a16:creationId xmlns:a16="http://schemas.microsoft.com/office/drawing/2014/main" id="{95C3714E-F0BF-D5E1-A18E-228B40460C47}"/>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9" name="Rectangle 18">
            <a:extLst>
              <a:ext uri="{FF2B5EF4-FFF2-40B4-BE49-F238E27FC236}">
                <a16:creationId xmlns:a16="http://schemas.microsoft.com/office/drawing/2014/main" id="{9ABB6C4A-740A-9708-0C54-9B0F980AF8E3}"/>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5" name="UpSlide SubSection Marker" hidden="1">
            <a:extLst>
              <a:ext uri="{FF2B5EF4-FFF2-40B4-BE49-F238E27FC236}">
                <a16:creationId xmlns:a16="http://schemas.microsoft.com/office/drawing/2014/main" id="{70D01189-ADB4-6166-63F5-7AFDE1F25D27}"/>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ARR summary</a:t>
            </a:r>
          </a:p>
        </p:txBody>
      </p:sp>
      <p:pic>
        <p:nvPicPr>
          <p:cNvPr id="21" name="Picture 20">
            <a:extLst>
              <a:ext uri="{FF2B5EF4-FFF2-40B4-BE49-F238E27FC236}">
                <a16:creationId xmlns:a16="http://schemas.microsoft.com/office/drawing/2014/main" id="{8DE8B6BF-49EB-E523-19D9-62747439BCD0}"/>
              </a:ext>
            </a:extLst>
          </p:cNvPr>
          <p:cNvPicPr>
            <a:picLocks noChangeAspect="1"/>
          </p:cNvPicPr>
          <p:nvPr>
            <p:custDataLst>
              <p:tags r:id="rId4"/>
            </p:custDataLst>
          </p:nvPr>
        </p:nvPicPr>
        <p:blipFill>
          <a:blip r:embed="rId10"/>
          <a:stretch>
            <a:fillRect/>
          </a:stretch>
        </p:blipFill>
        <p:spPr>
          <a:xfrm>
            <a:off x="990243" y="1865884"/>
            <a:ext cx="4245864" cy="3156555"/>
          </a:xfrm>
          <a:prstGeom prst="rect">
            <a:avLst/>
          </a:prstGeom>
        </p:spPr>
      </p:pic>
      <p:sp>
        <p:nvSpPr>
          <p:cNvPr id="18" name="Text Placeholder 22">
            <a:extLst>
              <a:ext uri="{FF2B5EF4-FFF2-40B4-BE49-F238E27FC236}">
                <a16:creationId xmlns:a16="http://schemas.microsoft.com/office/drawing/2014/main" id="{880024D9-28EA-B6AC-0187-AC291C9EDBF4}"/>
              </a:ext>
            </a:extLst>
          </p:cNvPr>
          <p:cNvSpPr txBox="1">
            <a:spLocks/>
          </p:cNvSpPr>
          <p:nvPr/>
        </p:nvSpPr>
        <p:spPr>
          <a:xfrm>
            <a:off x="5463356" y="2117884"/>
            <a:ext cx="5738400" cy="3735065"/>
          </a:xfrm>
          <a:prstGeom prst="rect">
            <a:avLst/>
          </a:prstGeom>
        </p:spPr>
        <p:txBody>
          <a:bodyPr vert="horz" lIns="72000" tIns="36000" rIns="0" bIns="0" rtlCol="0" anchor="t"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defTabSz="914377">
              <a:defRPr/>
            </a:pPr>
            <a:r>
              <a:rPr lang="en-US" b="1">
                <a:solidFill>
                  <a:srgbClr val="00338D"/>
                </a:solidFill>
              </a:rPr>
              <a:t>Basis of preparation</a:t>
            </a:r>
          </a:p>
          <a:p>
            <a:pPr lvl="1" defTabSz="914377">
              <a:defRPr/>
            </a:pPr>
            <a:r>
              <a:rPr lang="en-US">
                <a:solidFill>
                  <a:srgbClr val="000000"/>
                </a:solidFill>
              </a:rPr>
              <a:t>The analysis on this page presents Management’s adjusted ARR ($51.3 million at Mar-25) – Management have separated ARR into various buckets for analytical purposes.</a:t>
            </a:r>
            <a:r>
              <a:rPr lang="en-US"/>
              <a:t> Note, Vortex’s methodology for valuing ARR (based on the average annual revenue contribution) differs to Clio’s methodology (ARR based on 360 days of revenue, with MRR being daily revenue x 30). Vortex’s methodology has been used throughout this report. </a:t>
            </a:r>
            <a:r>
              <a:rPr lang="en-US">
                <a:solidFill>
                  <a:srgbClr val="000000"/>
                </a:solidFill>
              </a:rPr>
              <a:t>Refer to the page 14 for further discussion on the reconciliation of ARR to reported revenue.</a:t>
            </a:r>
          </a:p>
          <a:p>
            <a:pPr marL="171450" lvl="1" indent="-171450" defTabSz="914377">
              <a:buFont typeface="Arial" panose="020B0604020202020204" pitchFamily="34" charset="0"/>
              <a:buChar char="•"/>
              <a:defRPr/>
            </a:pPr>
            <a:r>
              <a:rPr lang="en-US" b="1"/>
              <a:t>ARR per cube, excl. online: </a:t>
            </a:r>
            <a:r>
              <a:rPr lang="en-US"/>
              <a:t>customer level ARR, excluding revenue from online sales. Revenue is deferred automatically in NetSuite and recognized daily over the contract term. ARR is based on the average annual revenue contribution.</a:t>
            </a:r>
          </a:p>
          <a:p>
            <a:pPr marL="171450" lvl="1" indent="-171450" defTabSz="914377">
              <a:buFont typeface="Arial" panose="020B0604020202020204" pitchFamily="34" charset="0"/>
              <a:buChar char="•"/>
              <a:defRPr/>
            </a:pPr>
            <a:r>
              <a:rPr lang="en-US" b="1"/>
              <a:t>Revenue from small firms and online sales:</a:t>
            </a:r>
            <a:r>
              <a:rPr lang="en-US"/>
              <a:t> due to the high volume of customers and the low transaction value, individual revenue entries for small firms and online sales are not all recorded by customer in NetSuite. Management have separated these records from the customer cube for analytical purposes. </a:t>
            </a:r>
          </a:p>
          <a:p>
            <a:pPr marL="171450" lvl="1" indent="-171450" defTabSz="914377">
              <a:buFont typeface="Arial" panose="020B0604020202020204" pitchFamily="34" charset="0"/>
              <a:buChar char="•"/>
              <a:defRPr/>
            </a:pPr>
            <a:r>
              <a:rPr lang="en-US" b="1"/>
              <a:t>Reoccurring &amp; late renewals:</a:t>
            </a:r>
            <a:r>
              <a:rPr lang="en-US"/>
              <a:t> includes TTM actual revenue contribution from reoccurring revenue (Next chapter and DA pacer fees), and an adjustment for late renewals (i.e., customers whose contract renewal occurred after the original end date and was backdated at renewal), typically due to procurement delays, internal approvals, or administrative lags. Refer to page 13 for further detail.</a:t>
            </a:r>
          </a:p>
          <a:p>
            <a:pPr marL="180970" lvl="2" indent="-180970" defTabSz="914377">
              <a:defRPr/>
            </a:pPr>
            <a:r>
              <a:rPr lang="en-US" b="1">
                <a:solidFill>
                  <a:srgbClr val="000000"/>
                </a:solidFill>
              </a:rPr>
              <a:t>Forced churn (</a:t>
            </a:r>
            <a:r>
              <a:rPr lang="en-US" b="1" err="1">
                <a:solidFill>
                  <a:srgbClr val="000000"/>
                </a:solidFill>
              </a:rPr>
              <a:t>Casetext</a:t>
            </a:r>
            <a:r>
              <a:rPr lang="en-US" b="1">
                <a:solidFill>
                  <a:srgbClr val="000000"/>
                </a:solidFill>
              </a:rPr>
              <a:t>): </a:t>
            </a:r>
            <a:r>
              <a:rPr lang="en-US">
                <a:solidFill>
                  <a:srgbClr val="000000"/>
                </a:solidFill>
              </a:rPr>
              <a:t>Management have </a:t>
            </a:r>
            <a:r>
              <a:rPr lang="en-US" err="1">
                <a:solidFill>
                  <a:srgbClr val="000000"/>
                </a:solidFill>
              </a:rPr>
              <a:t>normalised</a:t>
            </a:r>
            <a:r>
              <a:rPr lang="en-US">
                <a:solidFill>
                  <a:srgbClr val="000000"/>
                </a:solidFill>
              </a:rPr>
              <a:t> for a fully anticipated churn due to the acquisition of a customer, </a:t>
            </a:r>
            <a:r>
              <a:rPr lang="en-US" err="1">
                <a:solidFill>
                  <a:srgbClr val="000000"/>
                </a:solidFill>
              </a:rPr>
              <a:t>Casetext</a:t>
            </a:r>
            <a:r>
              <a:rPr lang="en-US">
                <a:solidFill>
                  <a:srgbClr val="000000"/>
                </a:solidFill>
              </a:rPr>
              <a:t>, by a competitor (Thomson Reuters) in Apr-25. Management noted this is contained and acquisition-specific (i.e., no known similar churn in the ARR population).</a:t>
            </a:r>
          </a:p>
        </p:txBody>
      </p:sp>
      <p:grpSp>
        <p:nvGrpSpPr>
          <p:cNvPr id="84" name="Group 83">
            <a:extLst>
              <a:ext uri="{FF2B5EF4-FFF2-40B4-BE49-F238E27FC236}">
                <a16:creationId xmlns:a16="http://schemas.microsoft.com/office/drawing/2014/main" id="{E629A8B9-216A-58D2-B78B-279690B4AD66}"/>
              </a:ext>
            </a:extLst>
          </p:cNvPr>
          <p:cNvGrpSpPr/>
          <p:nvPr>
            <p:custDataLst>
              <p:tags r:id="rId5"/>
            </p:custDataLst>
          </p:nvPr>
        </p:nvGrpSpPr>
        <p:grpSpPr>
          <a:xfrm>
            <a:off x="995364" y="153170"/>
            <a:ext cx="7435134" cy="195814"/>
            <a:chOff x="995364" y="153170"/>
            <a:chExt cx="7435134" cy="195814"/>
          </a:xfrm>
        </p:grpSpPr>
        <p:sp>
          <p:nvSpPr>
            <p:cNvPr id="77"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79" name="Current Section2">
              <a:hlinkClick r:id="rId12"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135246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Quality of revenue / ARR</a:t>
              </a:r>
            </a:p>
          </p:txBody>
        </p:sp>
        <p:sp>
          <p:nvSpPr>
            <p:cNvPr id="80"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390920"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81"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839568"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82"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640603"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83"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774167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366577220"/>
      </p:ext>
    </p:extLst>
  </p:cSld>
  <p:clrMapOvr>
    <a:masterClrMapping/>
  </p:clrMapOvr>
  <p:extLst>
    <p:ext uri="{6950BFC3-D8DA-4A85-94F7-54DA5524770B}">
      <p188:commentRel xmlns:p188="http://schemas.microsoft.com/office/powerpoint/2018/8/main" r:id="rId7"/>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F1592F34-F67B-DE4B-EBA9-691586F7A815}"/>
              </a:ext>
            </a:extLst>
          </p:cNvPr>
          <p:cNvPicPr>
            <a:picLocks noChangeAspect="1"/>
          </p:cNvPicPr>
          <p:nvPr>
            <p:custDataLst>
              <p:tags r:id="rId1"/>
            </p:custDataLst>
          </p:nvPr>
        </p:nvPicPr>
        <p:blipFill>
          <a:blip r:embed="rId8"/>
          <a:stretch>
            <a:fillRect/>
          </a:stretch>
        </p:blipFill>
        <p:spPr>
          <a:xfrm>
            <a:off x="998400" y="1818159"/>
            <a:ext cx="4273295" cy="2873103"/>
          </a:xfrm>
          <a:prstGeom prst="rect">
            <a:avLst/>
          </a:prstGeom>
        </p:spPr>
      </p:pic>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9" imgW="395" imgH="394" progId="TCLayout.ActiveDocument.1">
                  <p:embed/>
                </p:oleObj>
              </mc:Choice>
              <mc:Fallback>
                <p:oleObj name="think-cell Slide" r:id="rId9"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10"/>
                      <a:stretch>
                        <a:fillRect/>
                      </a:stretch>
                    </p:blipFill>
                    <p:spPr>
                      <a:xfrm>
                        <a:off x="1589" y="1589"/>
                        <a:ext cx="1588" cy="1588"/>
                      </a:xfrm>
                      <a:prstGeom prst="rect">
                        <a:avLst/>
                      </a:prstGeom>
                    </p:spPr>
                  </p:pic>
                </p:oleObj>
              </mc:Fallback>
            </mc:AlternateContent>
          </a:graphicData>
        </a:graphic>
      </p:graphicFrame>
      <p:sp>
        <p:nvSpPr>
          <p:cNvPr id="30" name="Text Placeholder 29">
            <a:extLst>
              <a:ext uri="{FF2B5EF4-FFF2-40B4-BE49-F238E27FC236}">
                <a16:creationId xmlns:a16="http://schemas.microsoft.com/office/drawing/2014/main" id="{ED9B43DD-09B1-37AB-55A7-5E3BA9E45DF0}"/>
              </a:ext>
            </a:extLst>
          </p:cNvPr>
          <p:cNvSpPr>
            <a:spLocks noGrp="1"/>
          </p:cNvSpPr>
          <p:nvPr>
            <p:ph type="body" sz="quarter" idx="10"/>
          </p:nvPr>
        </p:nvSpPr>
        <p:spPr>
          <a:xfrm>
            <a:off x="995361" y="1179513"/>
            <a:ext cx="10206395" cy="460800"/>
          </a:xfrm>
        </p:spPr>
        <p:txBody>
          <a:bodyPr/>
          <a:lstStyle/>
          <a:p>
            <a:r>
              <a:rPr lang="en-US">
                <a:solidFill>
                  <a:srgbClr val="00338D"/>
                </a:solidFill>
              </a:rPr>
              <a:t>Management’s adjusted ARR includes TTM revenue from reoccurring sources ($1.3 million at Mar-25) and an adjustment for missing ARR due to late renewals ($0.7 million). The inclusion of reoccurring revenues and late renewals in ARR appears reasonable based on trends in the top 100 customers. Further, Management’s approach to reoccurring revenue is conservative (i.e., using the TTM period creates a lag when compared to subscription ARR based on the latest month) – we present a potential upside on page 8 ($0.1 million at Mar-25) to estimate the impact of this delay based on TTM reoccurring revenue as a proportion of average TTM ARR.</a:t>
            </a:r>
          </a:p>
        </p:txBody>
      </p:sp>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vert="horz"/>
          <a:lstStyle/>
          <a:p>
            <a:r>
              <a:rPr lang="en-US"/>
              <a:t>ARR adjustments</a:t>
            </a:r>
          </a:p>
        </p:txBody>
      </p:sp>
      <p:sp>
        <p:nvSpPr>
          <p:cNvPr id="31" name="Text Placeholder 30">
            <a:extLst>
              <a:ext uri="{FF2B5EF4-FFF2-40B4-BE49-F238E27FC236}">
                <a16:creationId xmlns:a16="http://schemas.microsoft.com/office/drawing/2014/main" id="{3BB72BBD-939C-B659-75F5-52DF8322F33D}"/>
              </a:ext>
            </a:extLst>
          </p:cNvPr>
          <p:cNvSpPr>
            <a:spLocks noGrp="1"/>
          </p:cNvSpPr>
          <p:nvPr>
            <p:ph type="body" sz="quarter" idx="11"/>
          </p:nvPr>
        </p:nvSpPr>
        <p:spPr>
          <a:xfrm>
            <a:off x="5463354" y="1808734"/>
            <a:ext cx="5738402" cy="252000"/>
          </a:xfrm>
        </p:spPr>
        <p:txBody>
          <a:bodyPr/>
          <a:lstStyle/>
          <a:p>
            <a:r>
              <a:rPr lang="fi-FI"/>
              <a:t>ARR adjustments</a:t>
            </a:r>
          </a:p>
        </p:txBody>
      </p:sp>
      <p:sp>
        <p:nvSpPr>
          <p:cNvPr id="23" name="Text Placeholder 22">
            <a:extLst>
              <a:ext uri="{FF2B5EF4-FFF2-40B4-BE49-F238E27FC236}">
                <a16:creationId xmlns:a16="http://schemas.microsoft.com/office/drawing/2014/main" id="{D899A74A-0CE7-4119-816E-452637B82DAA}"/>
              </a:ext>
            </a:extLst>
          </p:cNvPr>
          <p:cNvSpPr>
            <a:spLocks noGrp="1"/>
          </p:cNvSpPr>
          <p:nvPr>
            <p:ph type="body" sz="quarter" idx="26"/>
          </p:nvPr>
        </p:nvSpPr>
        <p:spPr>
          <a:xfrm>
            <a:off x="5463353" y="2060734"/>
            <a:ext cx="5730247" cy="3864932"/>
          </a:xfrm>
        </p:spPr>
        <p:txBody>
          <a:bodyPr/>
          <a:lstStyle/>
          <a:p>
            <a:pPr lvl="1" defTabSz="914377">
              <a:spcAft>
                <a:spcPts val="200"/>
              </a:spcAft>
              <a:defRPr/>
            </a:pPr>
            <a:r>
              <a:rPr lang="en-US" b="1">
                <a:solidFill>
                  <a:srgbClr val="00338D"/>
                </a:solidFill>
              </a:rPr>
              <a:t>Basis of preparation</a:t>
            </a:r>
          </a:p>
          <a:p>
            <a:pPr lvl="1" defTabSz="914377">
              <a:spcAft>
                <a:spcPts val="200"/>
              </a:spcAft>
              <a:defRPr/>
            </a:pPr>
            <a:r>
              <a:rPr lang="en-US">
                <a:solidFill>
                  <a:srgbClr val="000000"/>
                </a:solidFill>
              </a:rPr>
              <a:t>The table at left presents ARR adjustments related to reoccurring revenue and late renewals for the most recent months.</a:t>
            </a:r>
            <a:endParaRPr lang="en-US" sz="1000">
              <a:solidFill>
                <a:srgbClr val="000000"/>
              </a:solidFill>
            </a:endParaRPr>
          </a:p>
          <a:p>
            <a:pPr lvl="2" defTabSz="914377">
              <a:spcAft>
                <a:spcPts val="200"/>
              </a:spcAft>
              <a:defRPr/>
            </a:pPr>
            <a:r>
              <a:rPr lang="en-US" sz="1000" b="1">
                <a:solidFill>
                  <a:srgbClr val="000000"/>
                </a:solidFill>
              </a:rPr>
              <a:t>Next chapter:</a:t>
            </a:r>
            <a:r>
              <a:rPr lang="en-US" sz="1000">
                <a:solidFill>
                  <a:srgbClr val="000000"/>
                </a:solidFill>
              </a:rPr>
              <a:t> includes services like credit reports, Virtual Paralegal, and </a:t>
            </a:r>
            <a:r>
              <a:rPr lang="en-US">
                <a:solidFill>
                  <a:srgbClr val="000000"/>
                </a:solidFill>
              </a:rPr>
              <a:t>a</a:t>
            </a:r>
            <a:r>
              <a:rPr lang="en-US" sz="1000">
                <a:solidFill>
                  <a:srgbClr val="000000"/>
                </a:solidFill>
              </a:rPr>
              <a:t>dd-ons that complement Vortex’s core offerings</a:t>
            </a:r>
            <a:r>
              <a:rPr lang="en-US">
                <a:solidFill>
                  <a:srgbClr val="000000"/>
                </a:solidFill>
              </a:rPr>
              <a:t>. Management provided support for the top 100 customers to demonstrate </a:t>
            </a:r>
            <a:r>
              <a:rPr lang="en-US" sz="1000">
                <a:solidFill>
                  <a:srgbClr val="000000"/>
                </a:solidFill>
              </a:rPr>
              <a:t>stable, repeatable usage patterns across the customer base (approx. $32,000 per month from top customers) – reinforcing their assertion this is a reoccurring revenue stream.</a:t>
            </a:r>
          </a:p>
          <a:p>
            <a:pPr lvl="2" defTabSz="914377">
              <a:spcAft>
                <a:spcPts val="200"/>
              </a:spcAft>
              <a:defRPr/>
            </a:pPr>
            <a:r>
              <a:rPr lang="en-US" b="1">
                <a:solidFill>
                  <a:srgbClr val="000000"/>
                </a:solidFill>
              </a:rPr>
              <a:t>DA Pacer Fees: </a:t>
            </a:r>
            <a:r>
              <a:rPr lang="en-US">
                <a:solidFill>
                  <a:srgbClr val="000000"/>
                </a:solidFill>
              </a:rPr>
              <a:t>Management note that a review of Docket Alarm customers showed they consistently maintain active research subscriptions, with Pacer usage occurring regularly as part of their ongoing workflows. Note that FY23 data is not available due to QuickBooks limitations – however, FY24 tracking post-migration to NetSuite supports a reoccurring pattern (approx. $0.2 million each quarter in FY24 and YTD25).</a:t>
            </a:r>
          </a:p>
          <a:p>
            <a:pPr lvl="2" defTabSz="914377">
              <a:spcAft>
                <a:spcPts val="200"/>
              </a:spcAft>
              <a:defRPr/>
            </a:pPr>
            <a:r>
              <a:rPr lang="en-US" b="1">
                <a:solidFill>
                  <a:srgbClr val="000000"/>
                </a:solidFill>
              </a:rPr>
              <a:t>Late renewals:</a:t>
            </a:r>
            <a:r>
              <a:rPr lang="en-US">
                <a:solidFill>
                  <a:srgbClr val="000000"/>
                </a:solidFill>
              </a:rPr>
              <a:t> Late renewals refer to customers whose contract renewal occurred after the original end date, typically due to procurement delays, internal approvals, or administrative lags. These customers often continue accessing the service during the gap, and are back-billed upon renewal. As renewals happen after the reporting cutoff, ARR is not reflected in prior months. To present a consistent pattern, Management have added adjustments to cover the full lag period of customers who typically renew late (e.g., if a customer renewed two months late, Management have added ARR adjustments for both missing months).</a:t>
            </a:r>
          </a:p>
          <a:p>
            <a:pPr marL="171450" lvl="2" indent="0" defTabSz="914377">
              <a:spcAft>
                <a:spcPts val="200"/>
              </a:spcAft>
              <a:buNone/>
              <a:defRPr/>
            </a:pPr>
            <a:r>
              <a:rPr lang="en-US">
                <a:solidFill>
                  <a:srgbClr val="000000"/>
                </a:solidFill>
              </a:rPr>
              <a:t>The adjustment for Jan-25 through Apr-25 also includes some ARR uplift. Note, this was not built from a bottom-up list of specific contracts, but reflects a top-down estimate based on historical renewal behavior to provide a reasonable and historically supported view of late-period renewal conversion. </a:t>
            </a:r>
          </a:p>
          <a:p>
            <a:pPr lvl="2" defTabSz="914377">
              <a:spcAft>
                <a:spcPts val="200"/>
              </a:spcAft>
              <a:defRPr/>
            </a:pPr>
            <a:r>
              <a:rPr lang="en-US">
                <a:solidFill>
                  <a:srgbClr val="000000"/>
                </a:solidFill>
              </a:rPr>
              <a:t>Recent conversion metrics on missing ARR due to late renewals supports Management’s approach to adjust ARR (e.g., 94% of the $0.9 million adjustment to Jan-25 has been realized as of May-25).</a:t>
            </a:r>
            <a:endParaRPr lang="en-US"/>
          </a:p>
        </p:txBody>
      </p:sp>
      <p:sp>
        <p:nvSpPr>
          <p:cNvPr id="3" name="Text Placeholder 7">
            <a:extLst>
              <a:ext uri="{FF2B5EF4-FFF2-40B4-BE49-F238E27FC236}">
                <a16:creationId xmlns:a16="http://schemas.microsoft.com/office/drawing/2014/main" id="{6B11C4E2-33F7-1453-9802-8B4F908F97BA}"/>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0" name="Text Placeholder 12">
            <a:extLst>
              <a:ext uri="{FF2B5EF4-FFF2-40B4-BE49-F238E27FC236}">
                <a16:creationId xmlns:a16="http://schemas.microsoft.com/office/drawing/2014/main" id="{47E7BED4-6C11-4895-CC36-E4C75540EEA3}"/>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1" name="Rounded Rectangle 7">
            <a:extLst>
              <a:ext uri="{FF2B5EF4-FFF2-40B4-BE49-F238E27FC236}">
                <a16:creationId xmlns:a16="http://schemas.microsoft.com/office/drawing/2014/main" id="{47F8B8C1-DA53-7235-C48A-D7D94722EF68}"/>
              </a:ext>
            </a:extLst>
          </p:cNvPr>
          <p:cNvSpPr/>
          <p:nvPr>
            <p:custDataLst>
              <p:tags r:id="rId3"/>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2" name="Rectangle 11">
            <a:extLst>
              <a:ext uri="{FF2B5EF4-FFF2-40B4-BE49-F238E27FC236}">
                <a16:creationId xmlns:a16="http://schemas.microsoft.com/office/drawing/2014/main" id="{8BD92E56-2271-7AE3-E3C4-ED0150461DF8}"/>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3" name="Straight Arrow Connector 12">
            <a:extLst>
              <a:ext uri="{FF2B5EF4-FFF2-40B4-BE49-F238E27FC236}">
                <a16:creationId xmlns:a16="http://schemas.microsoft.com/office/drawing/2014/main" id="{863D1F7E-2B54-5896-8386-CDD3583E1C1B}"/>
              </a:ext>
            </a:extLst>
          </p:cNvPr>
          <p:cNvCxnSpPr>
            <a:cxnSpLocks/>
            <a:stCxn id="12" idx="2"/>
            <a:endCxn id="11"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9CAD5111-90F9-2C69-98DF-B32EBC9012CD}"/>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15" name="Rectangle 14">
            <a:extLst>
              <a:ext uri="{FF2B5EF4-FFF2-40B4-BE49-F238E27FC236}">
                <a16:creationId xmlns:a16="http://schemas.microsoft.com/office/drawing/2014/main" id="{4BFE13B8-A7CE-A1DA-DE0B-F38B3497D680}"/>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52" name="Rectangle 51">
            <a:extLst>
              <a:ext uri="{FF2B5EF4-FFF2-40B4-BE49-F238E27FC236}">
                <a16:creationId xmlns:a16="http://schemas.microsoft.com/office/drawing/2014/main" id="{800C15CF-F43F-0DE9-CDA1-1AC086BB21F8}"/>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65" name="Rectangle 64">
            <a:extLst>
              <a:ext uri="{FF2B5EF4-FFF2-40B4-BE49-F238E27FC236}">
                <a16:creationId xmlns:a16="http://schemas.microsoft.com/office/drawing/2014/main" id="{7A485F0F-92DB-4C12-9547-BDD7B53E6834}"/>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78" name="Rectangle 77">
            <a:extLst>
              <a:ext uri="{FF2B5EF4-FFF2-40B4-BE49-F238E27FC236}">
                <a16:creationId xmlns:a16="http://schemas.microsoft.com/office/drawing/2014/main" id="{371241B0-ECE6-4019-A275-B1EBB616AAFF}"/>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7" name="Text Placeholder 12">
            <a:extLst>
              <a:ext uri="{FF2B5EF4-FFF2-40B4-BE49-F238E27FC236}">
                <a16:creationId xmlns:a16="http://schemas.microsoft.com/office/drawing/2014/main" id="{1CA7998A-F9C6-E715-3252-717C481276D5}"/>
              </a:ext>
            </a:extLst>
          </p:cNvPr>
          <p:cNvSpPr txBox="1">
            <a:spLocks/>
          </p:cNvSpPr>
          <p:nvPr/>
        </p:nvSpPr>
        <p:spPr>
          <a:xfrm>
            <a:off x="995121" y="5644659"/>
            <a:ext cx="4276574" cy="57964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Management did not provide ARR on a monthly basis. Total reoccurring &amp; late renewals presented above is 	calculated by taking the difference between total ARR presented in file 2.18 and the other sources (e.g., cube, 	small firms &amp; online, and forced churn). This results in a small variance when comparing the total to the detail of 	reoccurring and late renewals provided.</a:t>
            </a:r>
          </a:p>
          <a:p>
            <a:pPr defTabSz="444500" rtl="0">
              <a:spcAft>
                <a:spcPts val="200"/>
              </a:spcAft>
            </a:pPr>
            <a:r>
              <a:rPr lang="en-US" sz="600" b="0">
                <a:solidFill>
                  <a:schemeClr val="tx2"/>
                </a:solidFill>
                <a:latin typeface="Arial" panose="020B0604020202020204" pitchFamily="34" charset="0"/>
              </a:rPr>
              <a:t>Source: 	</a:t>
            </a:r>
            <a:r>
              <a:rPr lang="nl-NL" sz="600" b="0">
                <a:solidFill>
                  <a:schemeClr val="tx2"/>
                </a:solidFill>
                <a:latin typeface="Arial" panose="020B0604020202020204" pitchFamily="34" charset="0"/>
              </a:rPr>
              <a:t>2.2_Vortex - External Customer Cube (March 2025).xlsx; 2.18_Project Vortex - Databook - Revenue vs 	ARR.xlsb; </a:t>
            </a:r>
            <a:r>
              <a:rPr lang="en-US" sz="600" b="0">
                <a:solidFill>
                  <a:schemeClr val="tx2"/>
                </a:solidFill>
                <a:latin typeface="Arial" panose="020B0604020202020204" pitchFamily="34" charset="0"/>
              </a:rPr>
              <a:t>2.42_IRL 4.61 Reoccurring ARR Breakdown by Customer (Apr-25).xlsx;</a:t>
            </a:r>
            <a:r>
              <a:rPr lang="nl-NL" sz="600" b="0">
                <a:solidFill>
                  <a:schemeClr val="tx2"/>
                </a:solidFill>
                <a:latin typeface="Arial" panose="020B0604020202020204" pitchFamily="34" charset="0"/>
              </a:rPr>
              <a:t> KPMG analysis.</a:t>
            </a:r>
            <a:endParaRPr lang="en-US" sz="600" b="0">
              <a:solidFill>
                <a:schemeClr val="tx2"/>
              </a:solidFill>
              <a:latin typeface="Arial" panose="020B0604020202020204" pitchFamily="34" charset="0"/>
            </a:endParaRPr>
          </a:p>
        </p:txBody>
      </p:sp>
      <p:sp>
        <p:nvSpPr>
          <p:cNvPr id="8" name="Oval 7">
            <a:extLst>
              <a:ext uri="{FF2B5EF4-FFF2-40B4-BE49-F238E27FC236}">
                <a16:creationId xmlns:a16="http://schemas.microsoft.com/office/drawing/2014/main" id="{C50218A9-BFE6-241E-4966-F72F8D4CDCDE}"/>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6" name="Rectangle 15">
            <a:extLst>
              <a:ext uri="{FF2B5EF4-FFF2-40B4-BE49-F238E27FC236}">
                <a16:creationId xmlns:a16="http://schemas.microsoft.com/office/drawing/2014/main" id="{985EE9C9-DE19-0F73-DD67-15F83529DD59}"/>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7" name="Rectangle 16">
            <a:extLst>
              <a:ext uri="{FF2B5EF4-FFF2-40B4-BE49-F238E27FC236}">
                <a16:creationId xmlns:a16="http://schemas.microsoft.com/office/drawing/2014/main" id="{95C3714E-F0BF-D5E1-A18E-228B40460C47}"/>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9" name="Rectangle 18">
            <a:extLst>
              <a:ext uri="{FF2B5EF4-FFF2-40B4-BE49-F238E27FC236}">
                <a16:creationId xmlns:a16="http://schemas.microsoft.com/office/drawing/2014/main" id="{9ABB6C4A-740A-9708-0C54-9B0F980AF8E3}"/>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5" name="UpSlide SubSection Marker" hidden="1">
            <a:extLst>
              <a:ext uri="{FF2B5EF4-FFF2-40B4-BE49-F238E27FC236}">
                <a16:creationId xmlns:a16="http://schemas.microsoft.com/office/drawing/2014/main" id="{70D01189-ADB4-6166-63F5-7AFDE1F25D27}"/>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ARR adjustments</a:t>
            </a:r>
          </a:p>
        </p:txBody>
      </p:sp>
      <p:sp>
        <p:nvSpPr>
          <p:cNvPr id="2" name="Oval 1">
            <a:extLst>
              <a:ext uri="{FF2B5EF4-FFF2-40B4-BE49-F238E27FC236}">
                <a16:creationId xmlns:a16="http://schemas.microsoft.com/office/drawing/2014/main" id="{7028121F-850F-DEBD-30E8-A42C070D1806}"/>
              </a:ext>
            </a:extLst>
          </p:cNvPr>
          <p:cNvSpPr>
            <a:spLocks noChangeAspect="1"/>
          </p:cNvSpPr>
          <p:nvPr/>
        </p:nvSpPr>
        <p:spPr>
          <a:xfrm>
            <a:off x="5520502" y="5786387"/>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1</a:t>
            </a:r>
          </a:p>
        </p:txBody>
      </p:sp>
      <p:grpSp>
        <p:nvGrpSpPr>
          <p:cNvPr id="81" name="Group 80">
            <a:extLst>
              <a:ext uri="{FF2B5EF4-FFF2-40B4-BE49-F238E27FC236}">
                <a16:creationId xmlns:a16="http://schemas.microsoft.com/office/drawing/2014/main" id="{E629A8B9-216A-58D2-B78B-279690B4AD66}"/>
              </a:ext>
            </a:extLst>
          </p:cNvPr>
          <p:cNvGrpSpPr/>
          <p:nvPr>
            <p:custDataLst>
              <p:tags r:id="rId5"/>
            </p:custDataLst>
          </p:nvPr>
        </p:nvGrpSpPr>
        <p:grpSpPr>
          <a:xfrm>
            <a:off x="995364" y="153170"/>
            <a:ext cx="7435134" cy="195814"/>
            <a:chOff x="995364" y="153170"/>
            <a:chExt cx="7435134" cy="195814"/>
          </a:xfrm>
        </p:grpSpPr>
        <p:sp>
          <p:nvSpPr>
            <p:cNvPr id="82"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83" name="Current Section2">
              <a:hlinkClick r:id="rId12"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135246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Quality of revenue / ARR</a:t>
              </a:r>
            </a:p>
          </p:txBody>
        </p:sp>
        <p:sp>
          <p:nvSpPr>
            <p:cNvPr id="84"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390920"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85"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839568"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86"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640603"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87"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774167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
        <p:nvSpPr>
          <p:cNvPr id="32" name="Rectangle: Rounded Corners 31">
            <a:extLst>
              <a:ext uri="{FF2B5EF4-FFF2-40B4-BE49-F238E27FC236}">
                <a16:creationId xmlns:a16="http://schemas.microsoft.com/office/drawing/2014/main" id="{A4199B51-7898-CCBF-20D9-A2EF898EE370}"/>
              </a:ext>
            </a:extLst>
          </p:cNvPr>
          <p:cNvSpPr/>
          <p:nvPr/>
        </p:nvSpPr>
        <p:spPr>
          <a:xfrm>
            <a:off x="996231" y="3297774"/>
            <a:ext cx="4281452" cy="297250"/>
          </a:xfrm>
          <a:prstGeom prst="roundRect">
            <a:avLst/>
          </a:prstGeom>
          <a:noFill/>
          <a:ln>
            <a:solidFill>
              <a:srgbClr val="FD349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900">
              <a:solidFill>
                <a:schemeClr val="bg1"/>
              </a:solidFill>
            </a:endParaRPr>
          </a:p>
        </p:txBody>
      </p:sp>
      <p:sp>
        <p:nvSpPr>
          <p:cNvPr id="33" name="Oval 32">
            <a:extLst>
              <a:ext uri="{FF2B5EF4-FFF2-40B4-BE49-F238E27FC236}">
                <a16:creationId xmlns:a16="http://schemas.microsoft.com/office/drawing/2014/main" id="{755183C3-7D23-1F3A-84FC-B0677E815A60}"/>
              </a:ext>
            </a:extLst>
          </p:cNvPr>
          <p:cNvSpPr>
            <a:spLocks noChangeAspect="1"/>
          </p:cNvSpPr>
          <p:nvPr/>
        </p:nvSpPr>
        <p:spPr>
          <a:xfrm>
            <a:off x="5221194" y="3238758"/>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1</a:t>
            </a:r>
          </a:p>
        </p:txBody>
      </p:sp>
    </p:spTree>
    <p:extLst>
      <p:ext uri="{BB962C8B-B14F-4D97-AF65-F5344CB8AC3E}">
        <p14:creationId xmlns:p14="http://schemas.microsoft.com/office/powerpoint/2010/main" val="2219044513"/>
      </p:ext>
    </p:extLst>
  </p:cSld>
  <p:clrMapOvr>
    <a:masterClrMapping/>
  </p:clrMapOvr>
  <p:extLst>
    <p:ext uri="{6950BFC3-D8DA-4A85-94F7-54DA5524770B}">
      <p188:commentRel xmlns:p188="http://schemas.microsoft.com/office/powerpoint/2018/8/main" r:id="rId7"/>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30" name="Text Placeholder 29">
            <a:extLst>
              <a:ext uri="{FF2B5EF4-FFF2-40B4-BE49-F238E27FC236}">
                <a16:creationId xmlns:a16="http://schemas.microsoft.com/office/drawing/2014/main" id="{ED9B43DD-09B1-37AB-55A7-5E3BA9E45DF0}"/>
              </a:ext>
            </a:extLst>
          </p:cNvPr>
          <p:cNvSpPr>
            <a:spLocks noGrp="1"/>
          </p:cNvSpPr>
          <p:nvPr>
            <p:ph type="body" sz="quarter" idx="10"/>
          </p:nvPr>
        </p:nvSpPr>
        <p:spPr>
          <a:xfrm>
            <a:off x="995361" y="1055688"/>
            <a:ext cx="10206395" cy="460800"/>
          </a:xfrm>
        </p:spPr>
        <p:txBody>
          <a:bodyPr/>
          <a:lstStyle/>
          <a:p>
            <a:r>
              <a:rPr lang="en-US" dirty="0">
                <a:solidFill>
                  <a:srgbClr val="00338D"/>
                </a:solidFill>
              </a:rPr>
              <a:t>We performed an analysis of the difference between MRR and reported subscription revenue, taking into account timing differences, with minimal variance (0.2% for TTM Mar-25 and 1.3% for FY24). Management provided detailed reconciliation by customer for the latest month (Mar-25) as a full reconciliation of historical ARR to revenue was not available – however, a more readily available and traceable reconciliation between ARR and revenue is a potential area of improvement under your ownership.</a:t>
            </a:r>
          </a:p>
          <a:p>
            <a:r>
              <a:rPr lang="en-US" dirty="0">
                <a:solidFill>
                  <a:srgbClr val="00338D"/>
                </a:solidFill>
              </a:rPr>
              <a:t>Note that both revenue and ARR are presented gross of refunds and cancellations – see sensitivity of ARR on page 8 ($0.8 million at Mar-25).</a:t>
            </a:r>
          </a:p>
          <a:p>
            <a:endParaRPr lang="en-US" dirty="0">
              <a:solidFill>
                <a:srgbClr val="00338D"/>
              </a:solidFill>
            </a:endParaRPr>
          </a:p>
        </p:txBody>
      </p:sp>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vert="horz"/>
          <a:lstStyle/>
          <a:p>
            <a:r>
              <a:rPr lang="en-US"/>
              <a:t>MRR to revenue reconciliation</a:t>
            </a:r>
          </a:p>
        </p:txBody>
      </p:sp>
      <p:sp>
        <p:nvSpPr>
          <p:cNvPr id="31" name="Text Placeholder 30">
            <a:extLst>
              <a:ext uri="{FF2B5EF4-FFF2-40B4-BE49-F238E27FC236}">
                <a16:creationId xmlns:a16="http://schemas.microsoft.com/office/drawing/2014/main" id="{3BB72BBD-939C-B659-75F5-52DF8322F33D}"/>
              </a:ext>
            </a:extLst>
          </p:cNvPr>
          <p:cNvSpPr>
            <a:spLocks noGrp="1"/>
          </p:cNvSpPr>
          <p:nvPr>
            <p:ph type="body" sz="quarter" idx="11"/>
          </p:nvPr>
        </p:nvSpPr>
        <p:spPr>
          <a:xfrm>
            <a:off x="1003312" y="1751584"/>
            <a:ext cx="10198444" cy="252000"/>
          </a:xfrm>
        </p:spPr>
        <p:txBody>
          <a:bodyPr/>
          <a:lstStyle/>
          <a:p>
            <a:r>
              <a:rPr lang="fi-FI"/>
              <a:t>Reconciliation – MRR to revenue</a:t>
            </a:r>
          </a:p>
        </p:txBody>
      </p:sp>
      <p:sp>
        <p:nvSpPr>
          <p:cNvPr id="3" name="Text Placeholder 7">
            <a:extLst>
              <a:ext uri="{FF2B5EF4-FFF2-40B4-BE49-F238E27FC236}">
                <a16:creationId xmlns:a16="http://schemas.microsoft.com/office/drawing/2014/main" id="{6B11C4E2-33F7-1453-9802-8B4F908F97BA}"/>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0" name="Text Placeholder 12">
            <a:extLst>
              <a:ext uri="{FF2B5EF4-FFF2-40B4-BE49-F238E27FC236}">
                <a16:creationId xmlns:a16="http://schemas.microsoft.com/office/drawing/2014/main" id="{47E7BED4-6C11-4895-CC36-E4C75540EEA3}"/>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1" name="Rounded Rectangle 7">
            <a:extLst>
              <a:ext uri="{FF2B5EF4-FFF2-40B4-BE49-F238E27FC236}">
                <a16:creationId xmlns:a16="http://schemas.microsoft.com/office/drawing/2014/main" id="{47F8B8C1-DA53-7235-C48A-D7D94722EF68}"/>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2" name="Rectangle 11">
            <a:extLst>
              <a:ext uri="{FF2B5EF4-FFF2-40B4-BE49-F238E27FC236}">
                <a16:creationId xmlns:a16="http://schemas.microsoft.com/office/drawing/2014/main" id="{8BD92E56-2271-7AE3-E3C4-ED0150461DF8}"/>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3" name="Straight Arrow Connector 12">
            <a:extLst>
              <a:ext uri="{FF2B5EF4-FFF2-40B4-BE49-F238E27FC236}">
                <a16:creationId xmlns:a16="http://schemas.microsoft.com/office/drawing/2014/main" id="{863D1F7E-2B54-5896-8386-CDD3583E1C1B}"/>
              </a:ext>
            </a:extLst>
          </p:cNvPr>
          <p:cNvCxnSpPr>
            <a:cxnSpLocks/>
            <a:stCxn id="12" idx="2"/>
            <a:endCxn id="11"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9CAD5111-90F9-2C69-98DF-B32EBC9012CD}"/>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15" name="Rectangle 14">
            <a:extLst>
              <a:ext uri="{FF2B5EF4-FFF2-40B4-BE49-F238E27FC236}">
                <a16:creationId xmlns:a16="http://schemas.microsoft.com/office/drawing/2014/main" id="{4BFE13B8-A7CE-A1DA-DE0B-F38B3497D680}"/>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52" name="Rectangle 51">
            <a:extLst>
              <a:ext uri="{FF2B5EF4-FFF2-40B4-BE49-F238E27FC236}">
                <a16:creationId xmlns:a16="http://schemas.microsoft.com/office/drawing/2014/main" id="{800C15CF-F43F-0DE9-CDA1-1AC086BB21F8}"/>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65" name="Rectangle 64">
            <a:extLst>
              <a:ext uri="{FF2B5EF4-FFF2-40B4-BE49-F238E27FC236}">
                <a16:creationId xmlns:a16="http://schemas.microsoft.com/office/drawing/2014/main" id="{7A485F0F-92DB-4C12-9547-BDD7B53E6834}"/>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78" name="Rectangle 77">
            <a:extLst>
              <a:ext uri="{FF2B5EF4-FFF2-40B4-BE49-F238E27FC236}">
                <a16:creationId xmlns:a16="http://schemas.microsoft.com/office/drawing/2014/main" id="{371241B0-ECE6-4019-A275-B1EBB616AAFF}"/>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8" name="Oval 7">
            <a:extLst>
              <a:ext uri="{FF2B5EF4-FFF2-40B4-BE49-F238E27FC236}">
                <a16:creationId xmlns:a16="http://schemas.microsoft.com/office/drawing/2014/main" id="{C50218A9-BFE6-241E-4966-F72F8D4CDCDE}"/>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6" name="Rectangle 15">
            <a:extLst>
              <a:ext uri="{FF2B5EF4-FFF2-40B4-BE49-F238E27FC236}">
                <a16:creationId xmlns:a16="http://schemas.microsoft.com/office/drawing/2014/main" id="{985EE9C9-DE19-0F73-DD67-15F83529DD59}"/>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7" name="Rectangle 16">
            <a:extLst>
              <a:ext uri="{FF2B5EF4-FFF2-40B4-BE49-F238E27FC236}">
                <a16:creationId xmlns:a16="http://schemas.microsoft.com/office/drawing/2014/main" id="{95C3714E-F0BF-D5E1-A18E-228B40460C47}"/>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9" name="Rectangle 18">
            <a:extLst>
              <a:ext uri="{FF2B5EF4-FFF2-40B4-BE49-F238E27FC236}">
                <a16:creationId xmlns:a16="http://schemas.microsoft.com/office/drawing/2014/main" id="{9ABB6C4A-740A-9708-0C54-9B0F980AF8E3}"/>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5" name="UpSlide SubSection Marker" hidden="1">
            <a:extLst>
              <a:ext uri="{FF2B5EF4-FFF2-40B4-BE49-F238E27FC236}">
                <a16:creationId xmlns:a16="http://schemas.microsoft.com/office/drawing/2014/main" id="{70D01189-ADB4-6166-63F5-7AFDE1F25D27}"/>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MRR to revenue reconciliation</a:t>
            </a:r>
          </a:p>
        </p:txBody>
      </p:sp>
      <p:sp>
        <p:nvSpPr>
          <p:cNvPr id="2" name="Rectangle 1">
            <a:extLst>
              <a:ext uri="{FF2B5EF4-FFF2-40B4-BE49-F238E27FC236}">
                <a16:creationId xmlns:a16="http://schemas.microsoft.com/office/drawing/2014/main" id="{E8CBE78C-E098-08B7-28A8-DB3928281FE5}"/>
              </a:ext>
            </a:extLst>
          </p:cNvPr>
          <p:cNvSpPr/>
          <p:nvPr/>
        </p:nvSpPr>
        <p:spPr>
          <a:xfrm>
            <a:off x="1524541" y="2758803"/>
            <a:ext cx="3404699" cy="797698"/>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Monthly chart + 50% of each</a:t>
            </a:r>
          </a:p>
        </p:txBody>
      </p:sp>
      <p:pic>
        <p:nvPicPr>
          <p:cNvPr id="24" name="Picture 23">
            <a:extLst>
              <a:ext uri="{FF2B5EF4-FFF2-40B4-BE49-F238E27FC236}">
                <a16:creationId xmlns:a16="http://schemas.microsoft.com/office/drawing/2014/main" id="{3B588B72-95F8-326A-B0A9-E4BDA6D52A97}"/>
              </a:ext>
            </a:extLst>
          </p:cNvPr>
          <p:cNvPicPr>
            <a:picLocks noChangeAspect="1"/>
          </p:cNvPicPr>
          <p:nvPr>
            <p:custDataLst>
              <p:tags r:id="rId4"/>
            </p:custDataLst>
          </p:nvPr>
        </p:nvPicPr>
        <p:blipFill>
          <a:blip r:embed="rId10"/>
          <a:stretch>
            <a:fillRect/>
          </a:stretch>
        </p:blipFill>
        <p:spPr>
          <a:xfrm>
            <a:off x="995121" y="2037906"/>
            <a:ext cx="10195560" cy="2130505"/>
          </a:xfrm>
          <a:prstGeom prst="rect">
            <a:avLst/>
          </a:prstGeom>
        </p:spPr>
      </p:pic>
      <p:sp>
        <p:nvSpPr>
          <p:cNvPr id="4" name="Text Placeholder 22">
            <a:extLst>
              <a:ext uri="{FF2B5EF4-FFF2-40B4-BE49-F238E27FC236}">
                <a16:creationId xmlns:a16="http://schemas.microsoft.com/office/drawing/2014/main" id="{0E3E805A-179B-C3C0-BDE5-E61BB1CBF280}"/>
              </a:ext>
            </a:extLst>
          </p:cNvPr>
          <p:cNvSpPr txBox="1">
            <a:spLocks/>
          </p:cNvSpPr>
          <p:nvPr/>
        </p:nvSpPr>
        <p:spPr>
          <a:xfrm>
            <a:off x="995363" y="4158885"/>
            <a:ext cx="10195318" cy="1556116"/>
          </a:xfrm>
          <a:prstGeom prst="rect">
            <a:avLst/>
          </a:prstGeom>
        </p:spPr>
        <p:txBody>
          <a:bodyPr vert="horz" lIns="72000" tIns="36000" rIns="0" bIns="0" rtlCol="0" anchor="t"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defTabSz="914377">
              <a:spcAft>
                <a:spcPts val="200"/>
              </a:spcAft>
              <a:defRPr/>
            </a:pPr>
            <a:r>
              <a:rPr lang="en-US" b="1">
                <a:solidFill>
                  <a:srgbClr val="00338D"/>
                </a:solidFill>
              </a:rPr>
              <a:t>Basis of preparation</a:t>
            </a:r>
          </a:p>
          <a:p>
            <a:pPr lvl="1" defTabSz="914377">
              <a:spcAft>
                <a:spcPts val="200"/>
              </a:spcAft>
              <a:defRPr/>
            </a:pPr>
            <a:r>
              <a:rPr lang="en-US">
                <a:solidFill>
                  <a:srgbClr val="000000"/>
                </a:solidFill>
              </a:rPr>
              <a:t>The above table details an alternate approach to reconciling ARR and revenue by estimating the timing of changes (e.g., new, upsell, downsell, etc.) in MRR each month based on discussion with Management. As the typical timing of contract signings (new, reactivation and upsells) is heavily weighted towards month end, reported revenue would only include a few days of revenue while MRR would include a full month. To account for this, we have compared reported revenue to opening MRR, plus in month MRR for new logos, net reactivations and upsells (at 10% to reflect the expected timing of revenue generation), and overlaid downsell and churn at 50% assuming these happen around mid month on average. ARR from small firms &amp; online, reoccurring revenue are more transactional (i.e., behave differently) and are calculated as ARR divided by 12. Late renewals are also calculated as ARR divided by 12 as we do not have this information on a monthly basis for all periods presented.</a:t>
            </a:r>
          </a:p>
          <a:p>
            <a:pPr marL="171450" lvl="1" indent="-171450" defTabSz="914377">
              <a:spcAft>
                <a:spcPts val="200"/>
              </a:spcAft>
              <a:buFont typeface="Arial" panose="020B0604020202020204" pitchFamily="34" charset="0"/>
              <a:buChar char="•"/>
              <a:defRPr/>
            </a:pPr>
            <a:r>
              <a:rPr lang="en-US">
                <a:solidFill>
                  <a:srgbClr val="000000"/>
                </a:solidFill>
              </a:rPr>
              <a:t>Using this approach, the average difference (based on quarter ends) between MRR and reported subscription revenue is minimal (0.2% for TTM Mar-25 and 1.3% for FY24).</a:t>
            </a:r>
          </a:p>
          <a:p>
            <a:pPr lvl="1" defTabSz="914377">
              <a:spcAft>
                <a:spcPts val="200"/>
              </a:spcAft>
              <a:defRPr/>
            </a:pPr>
            <a:r>
              <a:rPr lang="en-US">
                <a:solidFill>
                  <a:srgbClr val="000000"/>
                </a:solidFill>
              </a:rPr>
              <a:t>Note, Management also provided a detailed reconciliation for Mar-25 which explains customer specific drivers of differences between ARR and revenue. Commentary was provided for the top 50 customers, and in each case the difference was due to timing differences.</a:t>
            </a:r>
          </a:p>
          <a:p>
            <a:pPr lvl="1" defTabSz="914377">
              <a:spcAft>
                <a:spcPts val="200"/>
              </a:spcAft>
              <a:defRPr/>
            </a:pPr>
            <a:r>
              <a:rPr lang="en-US">
                <a:solidFill>
                  <a:srgbClr val="000000"/>
                </a:solidFill>
              </a:rPr>
              <a:t>Note also that Management present both revenue and ARR gross of refunds and cancellations (which are presented in the bad debt expense caption). See page 8 for a sensitivity to ARR to account for refunds and cancellations, which should not be included in ARR.</a:t>
            </a:r>
          </a:p>
        </p:txBody>
      </p:sp>
      <p:sp>
        <p:nvSpPr>
          <p:cNvPr id="21" name="Oval 20">
            <a:extLst>
              <a:ext uri="{FF2B5EF4-FFF2-40B4-BE49-F238E27FC236}">
                <a16:creationId xmlns:a16="http://schemas.microsoft.com/office/drawing/2014/main" id="{D418C41D-74C3-6230-CB32-6BFD77C05B16}"/>
              </a:ext>
            </a:extLst>
          </p:cNvPr>
          <p:cNvSpPr>
            <a:spLocks noChangeAspect="1"/>
          </p:cNvSpPr>
          <p:nvPr/>
        </p:nvSpPr>
        <p:spPr>
          <a:xfrm>
            <a:off x="11190681" y="4091181"/>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1</a:t>
            </a:r>
          </a:p>
        </p:txBody>
      </p:sp>
      <p:sp>
        <p:nvSpPr>
          <p:cNvPr id="22" name="Oval 21">
            <a:extLst>
              <a:ext uri="{FF2B5EF4-FFF2-40B4-BE49-F238E27FC236}">
                <a16:creationId xmlns:a16="http://schemas.microsoft.com/office/drawing/2014/main" id="{E36E5B4D-06A0-D6C1-B458-868C63E459FA}"/>
              </a:ext>
            </a:extLst>
          </p:cNvPr>
          <p:cNvSpPr>
            <a:spLocks noChangeAspect="1"/>
          </p:cNvSpPr>
          <p:nvPr/>
        </p:nvSpPr>
        <p:spPr>
          <a:xfrm>
            <a:off x="1041412" y="5320438"/>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1</a:t>
            </a:r>
          </a:p>
        </p:txBody>
      </p:sp>
      <p:grpSp>
        <p:nvGrpSpPr>
          <p:cNvPr id="82" name="Group 81">
            <a:extLst>
              <a:ext uri="{FF2B5EF4-FFF2-40B4-BE49-F238E27FC236}">
                <a16:creationId xmlns:a16="http://schemas.microsoft.com/office/drawing/2014/main" id="{E629A8B9-216A-58D2-B78B-279690B4AD66}"/>
              </a:ext>
            </a:extLst>
          </p:cNvPr>
          <p:cNvGrpSpPr/>
          <p:nvPr>
            <p:custDataLst>
              <p:tags r:id="rId5"/>
            </p:custDataLst>
          </p:nvPr>
        </p:nvGrpSpPr>
        <p:grpSpPr>
          <a:xfrm>
            <a:off x="995364" y="153170"/>
            <a:ext cx="7435134" cy="195814"/>
            <a:chOff x="995364" y="153170"/>
            <a:chExt cx="7435134" cy="195814"/>
          </a:xfrm>
        </p:grpSpPr>
        <p:sp>
          <p:nvSpPr>
            <p:cNvPr id="83"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84" name="Current Section2">
              <a:hlinkClick r:id="rId12"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135246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Quality of revenue / ARR</a:t>
              </a:r>
            </a:p>
          </p:txBody>
        </p:sp>
        <p:sp>
          <p:nvSpPr>
            <p:cNvPr id="85"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390920"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86"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839568"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87"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640603"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88"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774167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
        <p:nvSpPr>
          <p:cNvPr id="18" name="Text Placeholder 12">
            <a:extLst>
              <a:ext uri="{FF2B5EF4-FFF2-40B4-BE49-F238E27FC236}">
                <a16:creationId xmlns:a16="http://schemas.microsoft.com/office/drawing/2014/main" id="{67D6B2CD-09FB-5FD4-4854-03E4630610A6}"/>
              </a:ext>
            </a:extLst>
          </p:cNvPr>
          <p:cNvSpPr txBox="1">
            <a:spLocks/>
          </p:cNvSpPr>
          <p:nvPr/>
        </p:nvSpPr>
        <p:spPr>
          <a:xfrm>
            <a:off x="995120" y="6157878"/>
            <a:ext cx="5597065"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Source: 	</a:t>
            </a:r>
            <a:r>
              <a:rPr lang="nl-NL" sz="600" b="0">
                <a:solidFill>
                  <a:schemeClr val="tx2"/>
                </a:solidFill>
                <a:latin typeface="Arial" panose="020B0604020202020204" pitchFamily="34" charset="0"/>
              </a:rPr>
              <a:t> 2.2_Vortex - External Customer Cube (March 2025).xlsx; 2.18_Project Vortex - Databook - Revenue vs 	ARR.xlsb; KPMG analysis.</a:t>
            </a:r>
            <a:endParaRPr lang="en-US" sz="600" b="0">
              <a:solidFill>
                <a:schemeClr val="tx2"/>
              </a:solidFill>
              <a:latin typeface="Arial" panose="020B0604020202020204" pitchFamily="34" charset="0"/>
            </a:endParaRPr>
          </a:p>
        </p:txBody>
      </p:sp>
      <p:sp>
        <p:nvSpPr>
          <p:cNvPr id="20" name="Text Placeholder 22">
            <a:extLst>
              <a:ext uri="{FF2B5EF4-FFF2-40B4-BE49-F238E27FC236}">
                <a16:creationId xmlns:a16="http://schemas.microsoft.com/office/drawing/2014/main" id="{B4A69FA2-F963-7713-84DF-DD45F89DB48F}"/>
              </a:ext>
            </a:extLst>
          </p:cNvPr>
          <p:cNvSpPr txBox="1">
            <a:spLocks/>
          </p:cNvSpPr>
          <p:nvPr/>
        </p:nvSpPr>
        <p:spPr>
          <a:xfrm>
            <a:off x="-10752137" y="4303590"/>
            <a:ext cx="10195318" cy="1556116"/>
          </a:xfrm>
          <a:prstGeom prst="rect">
            <a:avLst/>
          </a:prstGeom>
        </p:spPr>
        <p:txBody>
          <a:bodyPr vert="horz" lIns="72000" tIns="36000" rIns="0" bIns="0" rtlCol="0" anchor="t"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defTabSz="914377">
              <a:defRPr/>
            </a:pPr>
            <a:r>
              <a:rPr lang="en-US" b="1">
                <a:solidFill>
                  <a:srgbClr val="00338D"/>
                </a:solidFill>
              </a:rPr>
              <a:t>Basis of preparation</a:t>
            </a:r>
          </a:p>
          <a:p>
            <a:pPr lvl="1" defTabSz="914377">
              <a:defRPr/>
            </a:pPr>
            <a:r>
              <a:rPr lang="en-US">
                <a:solidFill>
                  <a:srgbClr val="000000"/>
                </a:solidFill>
              </a:rPr>
              <a:t>The above table details an alternate approach to the reconciliation between ARR and revenue based on discussions with Management to present MRR after the estimated impact of timing differences, most notably the fact that most of the larger renewals and upsells occur towards month end (i.e., revenue would only include a few days of revenue while ARR would include a full month). ARR from new logos, net reactivations and upsells are discounted by 90%, downsell and churn discounted by 50%. ARR from small firms &amp; online, reoccurring and late renewals behave differently and are calculated as ARR divided by 12.</a:t>
            </a:r>
          </a:p>
          <a:p>
            <a:pPr marL="171450" lvl="1" indent="-171450" defTabSz="914377">
              <a:buFont typeface="Arial" panose="020B0604020202020204" pitchFamily="34" charset="0"/>
              <a:buChar char="•"/>
              <a:defRPr/>
            </a:pPr>
            <a:r>
              <a:rPr lang="en-US">
                <a:solidFill>
                  <a:srgbClr val="000000"/>
                </a:solidFill>
              </a:rPr>
              <a:t>Using this approach, the average difference (based on quarter ends) between MRR and reported subscription revenue is minimal (0.2% for TTM Mar-25 and 1.3% for FY24).</a:t>
            </a:r>
          </a:p>
          <a:p>
            <a:pPr lvl="1" defTabSz="914377">
              <a:defRPr/>
            </a:pPr>
            <a:r>
              <a:rPr lang="en-US">
                <a:solidFill>
                  <a:srgbClr val="000000"/>
                </a:solidFill>
              </a:rPr>
              <a:t>Note, Management also provided a detailed reconciliation for Mar-25 which explains customer specific drivers of differences between ARR and revenue. Commentary was provided for the top 50 customers, and in each case the difference was due to timing differences.</a:t>
            </a:r>
          </a:p>
        </p:txBody>
      </p:sp>
    </p:spTree>
    <p:extLst>
      <p:ext uri="{BB962C8B-B14F-4D97-AF65-F5344CB8AC3E}">
        <p14:creationId xmlns:p14="http://schemas.microsoft.com/office/powerpoint/2010/main" val="1312915851"/>
      </p:ext>
    </p:extLst>
  </p:cSld>
  <p:clrMapOvr>
    <a:masterClrMapping/>
  </p:clrMapOvr>
  <p:extLst>
    <p:ext uri="{6950BFC3-D8DA-4A85-94F7-54DA5524770B}">
      <p188:commentRel xmlns:p188="http://schemas.microsoft.com/office/powerpoint/2018/8/main" r:id="rId7"/>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9EE48E-E42E-EC40-0007-080D5AA45EDA}"/>
              </a:ext>
            </a:extLst>
          </p:cNvPr>
          <p:cNvPicPr>
            <a:picLocks noChangeAspect="1"/>
          </p:cNvPicPr>
          <p:nvPr>
            <p:custDataLst>
              <p:tags r:id="rId1"/>
            </p:custDataLst>
          </p:nvPr>
        </p:nvPicPr>
        <p:blipFill>
          <a:blip r:embed="rId7"/>
          <a:stretch>
            <a:fillRect/>
          </a:stretch>
        </p:blipFill>
        <p:spPr>
          <a:xfrm>
            <a:off x="998090" y="1747161"/>
            <a:ext cx="4114800" cy="2699605"/>
          </a:xfrm>
          <a:prstGeom prst="rect">
            <a:avLst/>
          </a:prstGeom>
        </p:spPr>
      </p:pic>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30" name="Text Placeholder 29">
            <a:extLst>
              <a:ext uri="{FF2B5EF4-FFF2-40B4-BE49-F238E27FC236}">
                <a16:creationId xmlns:a16="http://schemas.microsoft.com/office/drawing/2014/main" id="{ED9B43DD-09B1-37AB-55A7-5E3BA9E45DF0}"/>
              </a:ext>
            </a:extLst>
          </p:cNvPr>
          <p:cNvSpPr>
            <a:spLocks noGrp="1"/>
          </p:cNvSpPr>
          <p:nvPr>
            <p:ph type="body" sz="quarter" idx="10"/>
          </p:nvPr>
        </p:nvSpPr>
        <p:spPr>
          <a:xfrm>
            <a:off x="995361" y="1179513"/>
            <a:ext cx="10206394" cy="460800"/>
          </a:xfrm>
        </p:spPr>
        <p:txBody>
          <a:bodyPr/>
          <a:lstStyle/>
          <a:p>
            <a:r>
              <a:rPr lang="en-US" dirty="0">
                <a:solidFill>
                  <a:srgbClr val="00338D"/>
                </a:solidFill>
              </a:rPr>
              <a:t>We have reconciled cash deposits from the Company’s cash management tool to revenue within a variance of 0.6% for the YTD Mar-25 period, which is within the range we typically expect for this type of analysis. </a:t>
            </a:r>
          </a:p>
          <a:p>
            <a:r>
              <a:rPr lang="en-US" dirty="0">
                <a:solidFill>
                  <a:srgbClr val="00338D"/>
                </a:solidFill>
              </a:rPr>
              <a:t>We also reconciled the Jan-25 bank statements to deposits and movements in cash per the cash management tool and the balance sheet.</a:t>
            </a:r>
          </a:p>
        </p:txBody>
      </p:sp>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vert="horz"/>
          <a:lstStyle/>
          <a:p>
            <a:r>
              <a:rPr lang="en-US"/>
              <a:t>Revenue to cash reconciliation</a:t>
            </a:r>
          </a:p>
        </p:txBody>
      </p:sp>
      <p:sp>
        <p:nvSpPr>
          <p:cNvPr id="31" name="Text Placeholder 30">
            <a:extLst>
              <a:ext uri="{FF2B5EF4-FFF2-40B4-BE49-F238E27FC236}">
                <a16:creationId xmlns:a16="http://schemas.microsoft.com/office/drawing/2014/main" id="{3BB72BBD-939C-B659-75F5-52DF8322F33D}"/>
              </a:ext>
            </a:extLst>
          </p:cNvPr>
          <p:cNvSpPr>
            <a:spLocks noGrp="1"/>
          </p:cNvSpPr>
          <p:nvPr>
            <p:ph type="body" sz="quarter" idx="11"/>
          </p:nvPr>
        </p:nvSpPr>
        <p:spPr>
          <a:xfrm>
            <a:off x="5230586" y="1751584"/>
            <a:ext cx="5971169" cy="252000"/>
          </a:xfrm>
        </p:spPr>
        <p:txBody>
          <a:bodyPr/>
          <a:lstStyle/>
          <a:p>
            <a:r>
              <a:rPr lang="fi-FI"/>
              <a:t>Commentary</a:t>
            </a:r>
          </a:p>
        </p:txBody>
      </p:sp>
      <p:sp>
        <p:nvSpPr>
          <p:cNvPr id="23" name="Text Placeholder 22">
            <a:extLst>
              <a:ext uri="{FF2B5EF4-FFF2-40B4-BE49-F238E27FC236}">
                <a16:creationId xmlns:a16="http://schemas.microsoft.com/office/drawing/2014/main" id="{D899A74A-0CE7-4119-816E-452637B82DAA}"/>
              </a:ext>
            </a:extLst>
          </p:cNvPr>
          <p:cNvSpPr>
            <a:spLocks noGrp="1"/>
          </p:cNvSpPr>
          <p:nvPr>
            <p:ph type="body" sz="quarter" idx="26"/>
          </p:nvPr>
        </p:nvSpPr>
        <p:spPr>
          <a:xfrm>
            <a:off x="5230586" y="2042121"/>
            <a:ext cx="5971169" cy="3864932"/>
          </a:xfrm>
        </p:spPr>
        <p:txBody>
          <a:bodyPr/>
          <a:lstStyle/>
          <a:p>
            <a:pPr lvl="1" defTabSz="914377">
              <a:defRPr/>
            </a:pPr>
            <a:r>
              <a:rPr lang="en-US" b="1" dirty="0">
                <a:solidFill>
                  <a:srgbClr val="00338D"/>
                </a:solidFill>
              </a:rPr>
              <a:t>Basis of preparation</a:t>
            </a:r>
          </a:p>
          <a:p>
            <a:pPr lvl="1" defTabSz="914377">
              <a:defRPr/>
            </a:pPr>
            <a:r>
              <a:rPr lang="en-US" dirty="0"/>
              <a:t>The table presented on this page reconciles gross cash deposits (derived from Vortex’s cash management reporting tool) to reported revenue, all prepared on a constant currency basis. The reconciliation takes into account balance sheet movements in deferred revenue and accounts receivable (excluding non-cash movements for bad debt), and estimates the VAT / sales tax included in cash deposits.</a:t>
            </a:r>
          </a:p>
          <a:p>
            <a:pPr marL="171450" lvl="1" indent="-171450" defTabSz="914377">
              <a:buFont typeface="Arial" panose="020B0604020202020204" pitchFamily="34" charset="0"/>
              <a:buChar char="•"/>
              <a:defRPr/>
            </a:pPr>
            <a:r>
              <a:rPr lang="en-US" dirty="0"/>
              <a:t>In order to estimate the VAT / sales tax, Management provided the appliable sales tax / VAT percentage charged per entity based on invoice data from Dec-24 to Mar-25. </a:t>
            </a:r>
          </a:p>
          <a:p>
            <a:pPr lvl="1" defTabSz="914377">
              <a:defRPr/>
            </a:pPr>
            <a:r>
              <a:rPr lang="en-US"/>
              <a:t>The </a:t>
            </a:r>
            <a:r>
              <a:rPr lang="en-US" dirty="0"/>
              <a:t>analysis covers Jan-25 to Mar-25 cash movements, sourced from the company’s cash management system. The cash management tool was implemented in Jan-25, and Management indicated that information to reconcile cash to revenue is unavailable for previous periods.</a:t>
            </a:r>
          </a:p>
          <a:p>
            <a:pPr lvl="1" defTabSz="914377">
              <a:defRPr/>
            </a:pPr>
            <a:r>
              <a:rPr lang="en-US" dirty="0"/>
              <a:t>Management provided physical bank statements for Jan-25 which we have reconciled to deposits and movements in cash per the cash management tool and the balance sheet.</a:t>
            </a:r>
          </a:p>
          <a:p>
            <a:pPr lvl="1" defTabSz="914377">
              <a:defRPr/>
            </a:pPr>
            <a:r>
              <a:rPr lang="en-US" dirty="0"/>
              <a:t>This analysis reconciles cash deposits to revenue with a reconciling variance of 0.6% for YTD Mar-25  which is within the range we typically expect for this type of analysis.</a:t>
            </a:r>
            <a:endParaRPr lang="en-US" sz="1000" dirty="0"/>
          </a:p>
          <a:p>
            <a:pPr lvl="1" defTabSz="914377">
              <a:spcAft>
                <a:spcPts val="400"/>
              </a:spcAft>
              <a:defRPr/>
            </a:pPr>
            <a:endParaRPr lang="en-US" dirty="0"/>
          </a:p>
          <a:p>
            <a:pPr lvl="1" defTabSz="914377">
              <a:spcAft>
                <a:spcPts val="400"/>
              </a:spcAft>
              <a:defRPr/>
            </a:pPr>
            <a:endParaRPr lang="en-US" sz="1000" dirty="0"/>
          </a:p>
          <a:p>
            <a:pPr lvl="1" defTabSz="914377">
              <a:spcAft>
                <a:spcPts val="400"/>
              </a:spcAft>
              <a:defRPr/>
            </a:pPr>
            <a:endParaRPr lang="en-US" dirty="0"/>
          </a:p>
          <a:p>
            <a:pPr lvl="1" defTabSz="914377">
              <a:spcAft>
                <a:spcPts val="400"/>
              </a:spcAft>
              <a:defRPr/>
            </a:pPr>
            <a:endParaRPr lang="en-US" sz="1000" dirty="0"/>
          </a:p>
          <a:p>
            <a:pPr lvl="1" defTabSz="914377">
              <a:spcAft>
                <a:spcPts val="400"/>
              </a:spcAft>
              <a:defRPr/>
            </a:pPr>
            <a:endParaRPr lang="en-US" dirty="0"/>
          </a:p>
          <a:p>
            <a:pPr lvl="1" defTabSz="914377">
              <a:spcAft>
                <a:spcPts val="400"/>
              </a:spcAft>
              <a:defRPr/>
            </a:pPr>
            <a:endParaRPr lang="en-US" sz="1000" dirty="0"/>
          </a:p>
          <a:p>
            <a:pPr lvl="1" defTabSz="914377">
              <a:spcAft>
                <a:spcPts val="400"/>
              </a:spcAft>
              <a:defRPr/>
            </a:pPr>
            <a:endParaRPr lang="en-US" dirty="0"/>
          </a:p>
          <a:p>
            <a:pPr lvl="1" defTabSz="914377">
              <a:spcAft>
                <a:spcPts val="400"/>
              </a:spcAft>
              <a:defRPr/>
            </a:pPr>
            <a:endParaRPr lang="en-US" sz="1000" dirty="0"/>
          </a:p>
        </p:txBody>
      </p:sp>
      <p:sp>
        <p:nvSpPr>
          <p:cNvPr id="3" name="Text Placeholder 7">
            <a:extLst>
              <a:ext uri="{FF2B5EF4-FFF2-40B4-BE49-F238E27FC236}">
                <a16:creationId xmlns:a16="http://schemas.microsoft.com/office/drawing/2014/main" id="{6B11C4E2-33F7-1453-9802-8B4F908F97BA}"/>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0" name="Text Placeholder 12">
            <a:extLst>
              <a:ext uri="{FF2B5EF4-FFF2-40B4-BE49-F238E27FC236}">
                <a16:creationId xmlns:a16="http://schemas.microsoft.com/office/drawing/2014/main" id="{47E7BED4-6C11-4895-CC36-E4C75540EEA3}"/>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1" name="Rounded Rectangle 7">
            <a:extLst>
              <a:ext uri="{FF2B5EF4-FFF2-40B4-BE49-F238E27FC236}">
                <a16:creationId xmlns:a16="http://schemas.microsoft.com/office/drawing/2014/main" id="{47F8B8C1-DA53-7235-C48A-D7D94722EF68}"/>
              </a:ext>
            </a:extLst>
          </p:cNvPr>
          <p:cNvSpPr/>
          <p:nvPr>
            <p:custDataLst>
              <p:tags r:id="rId3"/>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2" name="Rectangle 11">
            <a:extLst>
              <a:ext uri="{FF2B5EF4-FFF2-40B4-BE49-F238E27FC236}">
                <a16:creationId xmlns:a16="http://schemas.microsoft.com/office/drawing/2014/main" id="{8BD92E56-2271-7AE3-E3C4-ED0150461DF8}"/>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3" name="Straight Arrow Connector 12">
            <a:extLst>
              <a:ext uri="{FF2B5EF4-FFF2-40B4-BE49-F238E27FC236}">
                <a16:creationId xmlns:a16="http://schemas.microsoft.com/office/drawing/2014/main" id="{863D1F7E-2B54-5896-8386-CDD3583E1C1B}"/>
              </a:ext>
            </a:extLst>
          </p:cNvPr>
          <p:cNvCxnSpPr>
            <a:cxnSpLocks/>
            <a:stCxn id="12" idx="2"/>
            <a:endCxn id="11"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9CAD5111-90F9-2C69-98DF-B32EBC9012CD}"/>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15" name="Rectangle 14">
            <a:extLst>
              <a:ext uri="{FF2B5EF4-FFF2-40B4-BE49-F238E27FC236}">
                <a16:creationId xmlns:a16="http://schemas.microsoft.com/office/drawing/2014/main" id="{4BFE13B8-A7CE-A1DA-DE0B-F38B3497D680}"/>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52" name="Rectangle 51">
            <a:extLst>
              <a:ext uri="{FF2B5EF4-FFF2-40B4-BE49-F238E27FC236}">
                <a16:creationId xmlns:a16="http://schemas.microsoft.com/office/drawing/2014/main" id="{800C15CF-F43F-0DE9-CDA1-1AC086BB21F8}"/>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65" name="Rectangle 64">
            <a:extLst>
              <a:ext uri="{FF2B5EF4-FFF2-40B4-BE49-F238E27FC236}">
                <a16:creationId xmlns:a16="http://schemas.microsoft.com/office/drawing/2014/main" id="{7A485F0F-92DB-4C12-9547-BDD7B53E6834}"/>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78" name="Rectangle 77">
            <a:extLst>
              <a:ext uri="{FF2B5EF4-FFF2-40B4-BE49-F238E27FC236}">
                <a16:creationId xmlns:a16="http://schemas.microsoft.com/office/drawing/2014/main" id="{371241B0-ECE6-4019-A275-B1EBB616AAFF}"/>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7" name="Text Placeholder 12">
            <a:extLst>
              <a:ext uri="{FF2B5EF4-FFF2-40B4-BE49-F238E27FC236}">
                <a16:creationId xmlns:a16="http://schemas.microsoft.com/office/drawing/2014/main" id="{1CA7998A-F9C6-E715-3252-717C481276D5}"/>
              </a:ext>
            </a:extLst>
          </p:cNvPr>
          <p:cNvSpPr txBox="1">
            <a:spLocks/>
          </p:cNvSpPr>
          <p:nvPr/>
        </p:nvSpPr>
        <p:spPr>
          <a:xfrm>
            <a:off x="995120" y="5888199"/>
            <a:ext cx="10198480" cy="210314"/>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Note:	 Information is presented on a constant  currency basis with reference to January 1, 2025. </a:t>
            </a:r>
          </a:p>
          <a:p>
            <a:pPr defTabSz="444500" rtl="0">
              <a:spcAft>
                <a:spcPts val="200"/>
              </a:spcAft>
            </a:pPr>
            <a:r>
              <a:rPr lang="en-US" sz="600" b="0" dirty="0">
                <a:solidFill>
                  <a:schemeClr val="tx2"/>
                </a:solidFill>
                <a:latin typeface="Arial" panose="020B0604020202020204" pitchFamily="34" charset="0"/>
              </a:rPr>
              <a:t>Source: 	2.2.2.5_20250515 Project Vortex - Databook - Balance Sheet.xlsb, 2.2.2.6_20250515 Project Vortex - Databook -PL.xlsx, 2.48_Cash inflows_ Q1 2025 + April 2025 (from </a:t>
            </a:r>
            <a:r>
              <a:rPr lang="en-US" sz="600" b="0" dirty="0" err="1">
                <a:solidFill>
                  <a:schemeClr val="tx2"/>
                </a:solidFill>
                <a:latin typeface="Arial" panose="020B0604020202020204" pitchFamily="34" charset="0"/>
              </a:rPr>
              <a:t>Embat</a:t>
            </a:r>
            <a:r>
              <a:rPr lang="en-US" sz="600" b="0" dirty="0">
                <a:solidFill>
                  <a:schemeClr val="tx2"/>
                </a:solidFill>
                <a:latin typeface="Arial" panose="020B0604020202020204" pitchFamily="34" charset="0"/>
              </a:rPr>
              <a:t>), 2.48.3 </a:t>
            </a:r>
            <a:r>
              <a:rPr lang="en-US" sz="600" b="0" dirty="0" err="1">
                <a:solidFill>
                  <a:schemeClr val="tx2"/>
                </a:solidFill>
                <a:latin typeface="Arial" panose="020B0604020202020204" pitchFamily="34" charset="0"/>
              </a:rPr>
              <a:t>VAT&amp;Taxes</a:t>
            </a:r>
            <a:r>
              <a:rPr lang="en-US" sz="600" b="0" dirty="0">
                <a:solidFill>
                  <a:schemeClr val="tx2"/>
                </a:solidFill>
                <a:latin typeface="Arial" panose="020B0604020202020204" pitchFamily="34" charset="0"/>
              </a:rPr>
              <a:t>, and KPMG analysis</a:t>
            </a:r>
          </a:p>
        </p:txBody>
      </p:sp>
      <p:sp>
        <p:nvSpPr>
          <p:cNvPr id="8" name="Oval 7">
            <a:extLst>
              <a:ext uri="{FF2B5EF4-FFF2-40B4-BE49-F238E27FC236}">
                <a16:creationId xmlns:a16="http://schemas.microsoft.com/office/drawing/2014/main" id="{C50218A9-BFE6-241E-4966-F72F8D4CDCDE}"/>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6" name="Rectangle 15">
            <a:extLst>
              <a:ext uri="{FF2B5EF4-FFF2-40B4-BE49-F238E27FC236}">
                <a16:creationId xmlns:a16="http://schemas.microsoft.com/office/drawing/2014/main" id="{985EE9C9-DE19-0F73-DD67-15F83529DD59}"/>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7" name="Rectangle 16">
            <a:extLst>
              <a:ext uri="{FF2B5EF4-FFF2-40B4-BE49-F238E27FC236}">
                <a16:creationId xmlns:a16="http://schemas.microsoft.com/office/drawing/2014/main" id="{95C3714E-F0BF-D5E1-A18E-228B40460C47}"/>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9" name="Rectangle 18">
            <a:extLst>
              <a:ext uri="{FF2B5EF4-FFF2-40B4-BE49-F238E27FC236}">
                <a16:creationId xmlns:a16="http://schemas.microsoft.com/office/drawing/2014/main" id="{9ABB6C4A-740A-9708-0C54-9B0F980AF8E3}"/>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5" name="UpSlide SubSection Marker" hidden="1">
            <a:extLst>
              <a:ext uri="{FF2B5EF4-FFF2-40B4-BE49-F238E27FC236}">
                <a16:creationId xmlns:a16="http://schemas.microsoft.com/office/drawing/2014/main" id="{70D01189-ADB4-6166-63F5-7AFDE1F25D27}"/>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Revenue to cash reconciliation</a:t>
            </a:r>
          </a:p>
        </p:txBody>
      </p:sp>
      <p:grpSp>
        <p:nvGrpSpPr>
          <p:cNvPr id="80" name="Group 79">
            <a:extLst>
              <a:ext uri="{FF2B5EF4-FFF2-40B4-BE49-F238E27FC236}">
                <a16:creationId xmlns:a16="http://schemas.microsoft.com/office/drawing/2014/main" id="{E629A8B9-216A-58D2-B78B-279690B4AD66}"/>
              </a:ext>
            </a:extLst>
          </p:cNvPr>
          <p:cNvGrpSpPr/>
          <p:nvPr>
            <p:custDataLst>
              <p:tags r:id="rId5"/>
            </p:custDataLst>
          </p:nvPr>
        </p:nvGrpSpPr>
        <p:grpSpPr>
          <a:xfrm>
            <a:off x="995364" y="153170"/>
            <a:ext cx="7435134" cy="195814"/>
            <a:chOff x="995364" y="153170"/>
            <a:chExt cx="7435134" cy="195814"/>
          </a:xfrm>
        </p:grpSpPr>
        <p:sp>
          <p:nvSpPr>
            <p:cNvPr id="81"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82"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135246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Quality of revenue / ARR</a:t>
              </a:r>
            </a:p>
          </p:txBody>
        </p:sp>
        <p:sp>
          <p:nvSpPr>
            <p:cNvPr id="83"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390920"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84"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839568"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85"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640603"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86"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774167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
        <p:nvSpPr>
          <p:cNvPr id="4" name="Rectangle: Rounded Corners 3">
            <a:extLst>
              <a:ext uri="{FF2B5EF4-FFF2-40B4-BE49-F238E27FC236}">
                <a16:creationId xmlns:a16="http://schemas.microsoft.com/office/drawing/2014/main" id="{C712AAAB-16EE-B025-0E35-8D80ACBD4C8C}"/>
              </a:ext>
            </a:extLst>
          </p:cNvPr>
          <p:cNvSpPr/>
          <p:nvPr/>
        </p:nvSpPr>
        <p:spPr>
          <a:xfrm>
            <a:off x="970445" y="2296574"/>
            <a:ext cx="4152901" cy="118250"/>
          </a:xfrm>
          <a:prstGeom prst="roundRect">
            <a:avLst/>
          </a:prstGeom>
          <a:noFill/>
          <a:ln>
            <a:solidFill>
              <a:srgbClr val="FD349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900">
              <a:solidFill>
                <a:schemeClr val="bg1"/>
              </a:solidFill>
            </a:endParaRPr>
          </a:p>
        </p:txBody>
      </p:sp>
      <p:sp>
        <p:nvSpPr>
          <p:cNvPr id="9" name="Oval 8">
            <a:extLst>
              <a:ext uri="{FF2B5EF4-FFF2-40B4-BE49-F238E27FC236}">
                <a16:creationId xmlns:a16="http://schemas.microsoft.com/office/drawing/2014/main" id="{7301C80E-257C-D1CF-7B46-F4189A8E7175}"/>
              </a:ext>
            </a:extLst>
          </p:cNvPr>
          <p:cNvSpPr>
            <a:spLocks noChangeAspect="1"/>
          </p:cNvSpPr>
          <p:nvPr/>
        </p:nvSpPr>
        <p:spPr>
          <a:xfrm>
            <a:off x="5074789" y="2305317"/>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dirty="0">
                <a:solidFill>
                  <a:schemeClr val="bg1"/>
                </a:solidFill>
              </a:rPr>
              <a:t>1</a:t>
            </a:r>
          </a:p>
        </p:txBody>
      </p:sp>
      <p:sp>
        <p:nvSpPr>
          <p:cNvPr id="21" name="Oval 20">
            <a:extLst>
              <a:ext uri="{FF2B5EF4-FFF2-40B4-BE49-F238E27FC236}">
                <a16:creationId xmlns:a16="http://schemas.microsoft.com/office/drawing/2014/main" id="{ACEEA84B-D67E-67B9-73BB-9111BE6FB7DB}"/>
              </a:ext>
            </a:extLst>
          </p:cNvPr>
          <p:cNvSpPr>
            <a:spLocks noChangeAspect="1"/>
          </p:cNvSpPr>
          <p:nvPr/>
        </p:nvSpPr>
        <p:spPr>
          <a:xfrm>
            <a:off x="5240085" y="3157001"/>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dirty="0">
                <a:solidFill>
                  <a:schemeClr val="bg1"/>
                </a:solidFill>
              </a:rPr>
              <a:t>1</a:t>
            </a:r>
          </a:p>
        </p:txBody>
      </p:sp>
    </p:spTree>
    <p:extLst>
      <p:ext uri="{BB962C8B-B14F-4D97-AF65-F5344CB8AC3E}">
        <p14:creationId xmlns:p14="http://schemas.microsoft.com/office/powerpoint/2010/main" val="34296367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hlinkClick r:id="rId9" action="ppaction://hlinksldjump"/>
            <a:extLst>
              <a:ext uri="{FF2B5EF4-FFF2-40B4-BE49-F238E27FC236}">
                <a16:creationId xmlns:a16="http://schemas.microsoft.com/office/drawing/2014/main" id="{21502DEE-6F67-C932-1833-556F6C6FFDA5}"/>
              </a:ext>
            </a:extLst>
          </p:cNvPr>
          <p:cNvSpPr txBox="1"/>
          <p:nvPr>
            <p:custDataLst>
              <p:tags r:id="rId2"/>
            </p:custDataLst>
          </p:nvPr>
        </p:nvSpPr>
        <p:spPr>
          <a:xfrm>
            <a:off x="1289860" y="3566606"/>
            <a:ext cx="4873752" cy="0"/>
          </a:xfrm>
          <a:prstGeom prst="rect">
            <a:avLst/>
          </a:prstGeom>
          <a:noFill/>
        </p:spPr>
        <p:txBody>
          <a:bodyPr vert="horz" wrap="square" lIns="0" tIns="0" rIns="0" bIns="2286000" rtlCol="0">
            <a:noAutofit/>
          </a:bodyPr>
          <a:lstStyle/>
          <a:p>
            <a:pPr algn="l">
              <a:lnSpc>
                <a:spcPct val="70000"/>
              </a:lnSpc>
            </a:pPr>
            <a:r>
              <a:rPr lang="en-US" sz="6600">
                <a:solidFill>
                  <a:srgbClr val="FFFFFF"/>
                </a:solidFill>
                <a:latin typeface="+mj-lt"/>
              </a:rPr>
              <a:t>Quality of earnings / run rate</a:t>
            </a:r>
          </a:p>
        </p:txBody>
      </p:sp>
      <p:sp>
        <p:nvSpPr>
          <p:cNvPr id="58" name="TextBox 57">
            <a:hlinkClick r:id="rId10" action="ppaction://hlinksldjump"/>
            <a:extLst>
              <a:ext uri="{FF2B5EF4-FFF2-40B4-BE49-F238E27FC236}">
                <a16:creationId xmlns:a16="http://schemas.microsoft.com/office/drawing/2014/main" id="{2F903F82-1A4B-A5B9-1D10-BDB231E517FC}"/>
              </a:ext>
            </a:extLst>
          </p:cNvPr>
          <p:cNvSpPr txBox="1"/>
          <p:nvPr>
            <p:custDataLst>
              <p:tags r:id="rId3"/>
            </p:custDataLst>
          </p:nvPr>
        </p:nvSpPr>
        <p:spPr>
          <a:xfrm>
            <a:off x="1714809" y="3869882"/>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Quality of Earnings</a:t>
            </a:r>
          </a:p>
        </p:txBody>
      </p:sp>
      <p:sp>
        <p:nvSpPr>
          <p:cNvPr id="59" name="TextBox 58">
            <a:hlinkClick r:id="rId9" action="ppaction://hlinksldjump"/>
            <a:extLst>
              <a:ext uri="{FF2B5EF4-FFF2-40B4-BE49-F238E27FC236}">
                <a16:creationId xmlns:a16="http://schemas.microsoft.com/office/drawing/2014/main" id="{CFCCBE9A-A3FB-B58D-6072-399842A70E01}"/>
              </a:ext>
            </a:extLst>
          </p:cNvPr>
          <p:cNvSpPr txBox="1"/>
          <p:nvPr>
            <p:custDataLst>
              <p:tags r:id="rId4"/>
            </p:custDataLst>
          </p:nvPr>
        </p:nvSpPr>
        <p:spPr>
          <a:xfrm>
            <a:off x="1289304" y="3566606"/>
            <a:ext cx="3952700" cy="0"/>
          </a:xfrm>
          <a:prstGeom prst="rect">
            <a:avLst/>
          </a:prstGeom>
        </p:spPr>
        <p:txBody>
          <a:bodyPr vert="horz" wrap="none" lIns="0" tIns="0" rIns="0" bIns="4389120" rtlCol="0" anchor="t" anchorCtr="0">
            <a:noAutofit/>
          </a:bodyPr>
          <a:lstStyle/>
          <a:p>
            <a:pPr algn="l">
              <a:lnSpc>
                <a:spcPct val="80000"/>
              </a:lnSpc>
              <a:spcAft>
                <a:spcPts val="600"/>
              </a:spcAft>
            </a:pPr>
            <a:r>
              <a:rPr lang="en-US" sz="6600" b="1">
                <a:solidFill>
                  <a:srgbClr val="FFFFFF"/>
                </a:solidFill>
                <a:latin typeface="+mj-lt"/>
              </a:rPr>
              <a:t>03</a:t>
            </a:r>
          </a:p>
        </p:txBody>
      </p:sp>
      <p:sp>
        <p:nvSpPr>
          <p:cNvPr id="60" name="TextBox 59">
            <a:hlinkClick r:id="rId9" action="ppaction://hlinksldjump"/>
            <a:extLst>
              <a:ext uri="{FF2B5EF4-FFF2-40B4-BE49-F238E27FC236}">
                <a16:creationId xmlns:a16="http://schemas.microsoft.com/office/drawing/2014/main" id="{C74758C2-7006-317D-E2ED-30803B2EE657}"/>
              </a:ext>
            </a:extLst>
          </p:cNvPr>
          <p:cNvSpPr txBox="1"/>
          <p:nvPr>
            <p:custDataLst>
              <p:tags r:id="rId5"/>
            </p:custDataLst>
          </p:nvPr>
        </p:nvSpPr>
        <p:spPr>
          <a:xfrm>
            <a:off x="6163612" y="3209990"/>
            <a:ext cx="0" cy="356616"/>
          </a:xfrm>
          <a:prstGeom prst="rect">
            <a:avLst/>
          </a:prstGeom>
          <a:noFill/>
          <a:ln>
            <a:noFill/>
          </a:ln>
        </p:spPr>
        <p:txBody>
          <a:bodyPr vert="horz" wrap="none" lIns="0" tIns="0" rIns="0" bIns="0" rtlCol="0" anchor="t" anchorCtr="0">
            <a:noAutofit/>
          </a:bodyPr>
          <a:lstStyle/>
          <a:p>
            <a:pPr algn="ctr"/>
            <a:r>
              <a:rPr lang="en-US" sz="100">
                <a:ln>
                  <a:noFill/>
                </a:ln>
                <a:noFill/>
                <a:latin typeface="+mj-lt"/>
              </a:rPr>
              <a:t>16</a:t>
            </a:r>
          </a:p>
        </p:txBody>
      </p:sp>
      <p:sp>
        <p:nvSpPr>
          <p:cNvPr id="61" name="TextBox 60">
            <a:hlinkClick r:id="rId10" action="ppaction://hlinksldjump"/>
            <a:extLst>
              <a:ext uri="{FF2B5EF4-FFF2-40B4-BE49-F238E27FC236}">
                <a16:creationId xmlns:a16="http://schemas.microsoft.com/office/drawing/2014/main" id="{DA9928AD-2759-BB64-E8D5-9B120C8C8BD3}"/>
              </a:ext>
            </a:extLst>
          </p:cNvPr>
          <p:cNvSpPr txBox="1"/>
          <p:nvPr>
            <p:custDataLst>
              <p:tags r:id="rId6"/>
            </p:custDataLst>
          </p:nvPr>
        </p:nvSpPr>
        <p:spPr bwMode="auto">
          <a:xfrm>
            <a:off x="1332373" y="3869882"/>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3.1</a:t>
            </a:r>
          </a:p>
        </p:txBody>
      </p:sp>
      <p:sp>
        <p:nvSpPr>
          <p:cNvPr id="62" name="TextBox 61">
            <a:hlinkClick r:id="rId10" action="ppaction://hlinksldjump"/>
            <a:extLst>
              <a:ext uri="{FF2B5EF4-FFF2-40B4-BE49-F238E27FC236}">
                <a16:creationId xmlns:a16="http://schemas.microsoft.com/office/drawing/2014/main" id="{A5FC3A09-670C-C4AF-A7C4-C0639EBB14EA}"/>
              </a:ext>
            </a:extLst>
          </p:cNvPr>
          <p:cNvSpPr txBox="1"/>
          <p:nvPr>
            <p:custDataLst>
              <p:tags r:id="rId7"/>
            </p:custDataLst>
          </p:nvPr>
        </p:nvSpPr>
        <p:spPr>
          <a:xfrm>
            <a:off x="6163612" y="3869882"/>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17</a:t>
            </a:r>
          </a:p>
        </p:txBody>
      </p:sp>
    </p:spTree>
    <p:custDataLst>
      <p:tags r:id="rId1"/>
    </p:custDataLst>
    <p:extLst>
      <p:ext uri="{BB962C8B-B14F-4D97-AF65-F5344CB8AC3E}">
        <p14:creationId xmlns:p14="http://schemas.microsoft.com/office/powerpoint/2010/main" val="4101780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a:t>Quality of earnings – overview (1/2)</a:t>
            </a:r>
          </a:p>
        </p:txBody>
      </p:sp>
      <p:sp>
        <p:nvSpPr>
          <p:cNvPr id="17" name="Text Placeholder 16">
            <a:extLst>
              <a:ext uri="{FF2B5EF4-FFF2-40B4-BE49-F238E27FC236}">
                <a16:creationId xmlns:a16="http://schemas.microsoft.com/office/drawing/2014/main" id="{369D0C06-681C-C96C-F751-62A145C0E8D0}"/>
              </a:ext>
            </a:extLst>
          </p:cNvPr>
          <p:cNvSpPr>
            <a:spLocks noGrp="1"/>
          </p:cNvSpPr>
          <p:nvPr>
            <p:ph type="body" sz="quarter" idx="11"/>
          </p:nvPr>
        </p:nvSpPr>
        <p:spPr>
          <a:xfrm>
            <a:off x="6212878" y="1642078"/>
            <a:ext cx="4988877" cy="252000"/>
          </a:xfrm>
        </p:spPr>
        <p:txBody>
          <a:bodyPr/>
          <a:lstStyle/>
          <a:p>
            <a:r>
              <a:rPr lang="fi-FI"/>
              <a:t>Basis of </a:t>
            </a:r>
            <a:r>
              <a:rPr lang="en-US"/>
              <a:t>preparation</a:t>
            </a:r>
          </a:p>
        </p:txBody>
      </p:sp>
      <p:sp>
        <p:nvSpPr>
          <p:cNvPr id="6" name="Text Placeholder 5">
            <a:extLst>
              <a:ext uri="{FF2B5EF4-FFF2-40B4-BE49-F238E27FC236}">
                <a16:creationId xmlns:a16="http://schemas.microsoft.com/office/drawing/2014/main" id="{F3B53448-963E-457A-8B1C-D76AAB9A2B8B}"/>
              </a:ext>
            </a:extLst>
          </p:cNvPr>
          <p:cNvSpPr>
            <a:spLocks noGrp="1"/>
          </p:cNvSpPr>
          <p:nvPr>
            <p:ph type="body" sz="quarter" idx="26"/>
          </p:nvPr>
        </p:nvSpPr>
        <p:spPr/>
        <p:txBody>
          <a:body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7" name="Text Placeholder 6">
            <a:extLst>
              <a:ext uri="{FF2B5EF4-FFF2-40B4-BE49-F238E27FC236}">
                <a16:creationId xmlns:a16="http://schemas.microsoft.com/office/drawing/2014/main" id="{931FF0A2-2A99-42E4-98E5-50042316ABF7}"/>
              </a:ext>
            </a:extLst>
          </p:cNvPr>
          <p:cNvSpPr>
            <a:spLocks noGrp="1"/>
          </p:cNvSpPr>
          <p:nvPr>
            <p:ph type="body" sz="quarter" idx="27"/>
          </p:nvPr>
        </p:nvSpPr>
        <p:spPr>
          <a:xfrm>
            <a:off x="6210936" y="1906376"/>
            <a:ext cx="4988877" cy="3961624"/>
          </a:xfrm>
        </p:spPr>
        <p:txBody>
          <a:bodyPr/>
          <a:lstStyle/>
          <a:p>
            <a:pPr marL="0" lvl="2" indent="0">
              <a:buNone/>
            </a:pPr>
            <a:r>
              <a:rPr lang="en-US" sz="1000"/>
              <a:t>A number of adjustments to reported EBITDA are presented, as set out below.</a:t>
            </a:r>
          </a:p>
          <a:p>
            <a:pPr marL="0" lvl="2" indent="0">
              <a:buNone/>
            </a:pPr>
            <a:r>
              <a:rPr lang="en-US"/>
              <a:t>We present a buy-side diligence adjusted EBITDA for FY23, FY24 and TTM Mar-25, and a run rate adjusted EBITDA, including pro forma and run rate adjustments, for TTM Mar-25.</a:t>
            </a:r>
            <a:endParaRPr lang="en-US" sz="1000"/>
          </a:p>
          <a:p>
            <a:pPr lvl="2"/>
            <a:r>
              <a:rPr lang="en-US" sz="1000" b="1"/>
              <a:t>Reported EBITDA</a:t>
            </a:r>
            <a:r>
              <a:rPr lang="en-US" sz="1000"/>
              <a:t>: Reflects the Company’s reported earnings before tax, interest, foreign exchange, depreciation and amortization charges.</a:t>
            </a:r>
          </a:p>
          <a:p>
            <a:pPr lvl="2"/>
            <a:r>
              <a:rPr lang="en-US" b="1"/>
              <a:t>Management adjustments</a:t>
            </a:r>
            <a:r>
              <a:rPr lang="en-US"/>
              <a:t>: The sell side due diligence </a:t>
            </a:r>
            <a:r>
              <a:rPr lang="en-US" err="1"/>
              <a:t>databook</a:t>
            </a:r>
            <a:r>
              <a:rPr lang="en-US"/>
              <a:t> prepared by A&amp;M presents management adjustments for each period. The most significant adjustments include a non-operating provision reversal (adj. #C) (FY24: $5.1 million; YTD Mar-25: $0.1 million) and add backs for transaction expenses (adj. #A) (FY24: $1.6 million; YTD Mar-25: $0.1 million). Refer to pages 19-20 and the sell side diligence </a:t>
            </a:r>
            <a:r>
              <a:rPr lang="en-US" err="1"/>
              <a:t>databook</a:t>
            </a:r>
            <a:r>
              <a:rPr lang="en-US"/>
              <a:t> for further commentary.</a:t>
            </a:r>
          </a:p>
          <a:p>
            <a:pPr lvl="2"/>
            <a:r>
              <a:rPr lang="en-US" sz="1000" b="1"/>
              <a:t>Sell side diligence adjustments</a:t>
            </a:r>
            <a:r>
              <a:rPr lang="en-US" sz="1000"/>
              <a:t>: Diligence adjustments presented in the sell side diligence </a:t>
            </a:r>
            <a:r>
              <a:rPr lang="en-US" sz="1000" err="1"/>
              <a:t>databook</a:t>
            </a:r>
            <a:r>
              <a:rPr lang="en-US" sz="1000"/>
              <a:t> mainly relate to executive compensation normalizations (adj. #E) (FY24: $0.2 million; TTM Mar-25: $0.1 million) and realized </a:t>
            </a:r>
            <a:r>
              <a:rPr lang="en-US" sz="1000" err="1"/>
              <a:t>Fastcase</a:t>
            </a:r>
            <a:r>
              <a:rPr lang="en-US" sz="1000"/>
              <a:t> synergies (adj. #D) (FY24: $0.1 million) offset by the inclusion of realized transaction FX losse</a:t>
            </a:r>
            <a:r>
              <a:rPr lang="en-US"/>
              <a:t>s </a:t>
            </a:r>
            <a:r>
              <a:rPr lang="en-US" sz="1000"/>
              <a:t>(adj. </a:t>
            </a:r>
            <a:r>
              <a:rPr lang="en-US"/>
              <a:t>#G)</a:t>
            </a:r>
            <a:r>
              <a:rPr lang="en-US" sz="1000"/>
              <a:t> (FY24: $(0.1) million). Refer to pages 20-22 and the sell side diligence </a:t>
            </a:r>
            <a:r>
              <a:rPr lang="en-US" sz="1000" err="1"/>
              <a:t>databook</a:t>
            </a:r>
            <a:r>
              <a:rPr lang="en-US" sz="1000"/>
              <a:t> for further commentary.</a:t>
            </a:r>
          </a:p>
          <a:p>
            <a:pPr lvl="2"/>
            <a:r>
              <a:rPr lang="en-US" b="1"/>
              <a:t>Buy side diligence adjustments: </a:t>
            </a:r>
            <a:r>
              <a:rPr lang="en-US"/>
              <a:t>Reflects refinement of the sell side diligence adjustments presented, including a different approach in </a:t>
            </a:r>
            <a:r>
              <a:rPr lang="en-US" err="1"/>
              <a:t>normalised</a:t>
            </a:r>
            <a:r>
              <a:rPr lang="en-US"/>
              <a:t> bad debt (adj. #1) (FY24: $(0.2) million; TTM Mar-25: $(0.2) million) and additional consideration for year end (Dec-24) adjustments (adj. #4) which impact the TTM Mar-25 period ($(0.2) million). Refer to pages 22-23 for further commentary.</a:t>
            </a:r>
          </a:p>
          <a:p>
            <a:pPr marL="0" lvl="2" indent="0">
              <a:buNone/>
            </a:pPr>
            <a:endParaRPr lang="en-US" sz="1000"/>
          </a:p>
          <a:p>
            <a:pPr lvl="2"/>
            <a:endParaRPr lang="en-US" sz="1000"/>
          </a:p>
        </p:txBody>
      </p:sp>
      <p:sp>
        <p:nvSpPr>
          <p:cNvPr id="16" name="Text Placeholder 15">
            <a:extLst>
              <a:ext uri="{FF2B5EF4-FFF2-40B4-BE49-F238E27FC236}">
                <a16:creationId xmlns:a16="http://schemas.microsoft.com/office/drawing/2014/main" id="{27C922A0-712E-D49A-91C8-6325519BB78F}"/>
              </a:ext>
            </a:extLst>
          </p:cNvPr>
          <p:cNvSpPr>
            <a:spLocks noGrp="1"/>
          </p:cNvSpPr>
          <p:nvPr>
            <p:ph type="body" sz="quarter" idx="10"/>
          </p:nvPr>
        </p:nvSpPr>
        <p:spPr>
          <a:xfrm>
            <a:off x="995361" y="1179513"/>
            <a:ext cx="10204452" cy="460800"/>
          </a:xfrm>
        </p:spPr>
        <p:txBody>
          <a:bodyPr/>
          <a:lstStyle/>
          <a:p>
            <a:r>
              <a:rPr lang="en-US">
                <a:solidFill>
                  <a:srgbClr val="00338D"/>
                </a:solidFill>
              </a:rPr>
              <a:t>Seller has proposed a diligence adjusted EBITDA of $11.4 million. Management’s diligence adjusted EBITDA appears sensible. We identified $(0.4) million of adjustments, mainly relating to year-end adjustments, resulting in a buy side diligence adjusted EBITDA of $11.0 million in TTM Mar-25. </a:t>
            </a:r>
          </a:p>
          <a:p>
            <a:endParaRPr lang="fi-FI">
              <a:solidFill>
                <a:srgbClr val="00338D"/>
              </a:solidFill>
            </a:endParaRP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pic>
        <p:nvPicPr>
          <p:cNvPr id="24" name="Picture 23">
            <a:extLst>
              <a:ext uri="{FF2B5EF4-FFF2-40B4-BE49-F238E27FC236}">
                <a16:creationId xmlns:a16="http://schemas.microsoft.com/office/drawing/2014/main" id="{B70BC2A1-724A-60C5-C220-935AC79510FA}"/>
              </a:ext>
            </a:extLst>
          </p:cNvPr>
          <p:cNvPicPr>
            <a:picLocks noChangeAspect="1"/>
          </p:cNvPicPr>
          <p:nvPr>
            <p:custDataLst>
              <p:tags r:id="rId4"/>
            </p:custDataLst>
          </p:nvPr>
        </p:nvPicPr>
        <p:blipFill>
          <a:blip r:embed="rId10"/>
          <a:stretch>
            <a:fillRect/>
          </a:stretch>
        </p:blipFill>
        <p:spPr>
          <a:xfrm>
            <a:off x="990877" y="1652281"/>
            <a:ext cx="4988877" cy="2653736"/>
          </a:xfrm>
          <a:prstGeom prst="rect">
            <a:avLst/>
          </a:prstGeom>
        </p:spPr>
      </p:pic>
      <p:sp>
        <p:nvSpPr>
          <p:cNvPr id="19" name="Text Placeholder 12">
            <a:extLst>
              <a:ext uri="{FF2B5EF4-FFF2-40B4-BE49-F238E27FC236}">
                <a16:creationId xmlns:a16="http://schemas.microsoft.com/office/drawing/2014/main" id="{CEF706B2-BD54-5D75-60F8-089C576A87BC}"/>
              </a:ext>
            </a:extLst>
          </p:cNvPr>
          <p:cNvSpPr txBox="1">
            <a:spLocks/>
          </p:cNvSpPr>
          <p:nvPr/>
        </p:nvSpPr>
        <p:spPr>
          <a:xfrm>
            <a:off x="998400" y="5868000"/>
            <a:ext cx="4125480"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Source: 	2.2.2.6_20250515 Project Vortex - Databook - PL.xlsx; 2.2_Vortex - External Customer Cube (March 	2025).xlsx; KPMG analysis</a:t>
            </a:r>
          </a:p>
        </p:txBody>
      </p:sp>
      <p:grpSp>
        <p:nvGrpSpPr>
          <p:cNvPr id="81" name="Group 80">
            <a:extLst>
              <a:ext uri="{FF2B5EF4-FFF2-40B4-BE49-F238E27FC236}">
                <a16:creationId xmlns:a16="http://schemas.microsoft.com/office/drawing/2014/main" id="{F1507839-17A7-CE58-1982-3EE45D093E97}"/>
              </a:ext>
            </a:extLst>
          </p:cNvPr>
          <p:cNvGrpSpPr/>
          <p:nvPr>
            <p:custDataLst>
              <p:tags r:id="rId5"/>
            </p:custDataLst>
          </p:nvPr>
        </p:nvGrpSpPr>
        <p:grpSpPr>
          <a:xfrm>
            <a:off x="995364" y="153170"/>
            <a:ext cx="7468796" cy="195814"/>
            <a:chOff x="995364" y="153170"/>
            <a:chExt cx="7468796" cy="195814"/>
          </a:xfrm>
        </p:grpSpPr>
        <p:sp>
          <p:nvSpPr>
            <p:cNvPr id="75"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76"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77" name="Current Section3">
              <a:hlinkClick r:id="rId13" action="ppaction://hlinksldjump"/>
              <a:extLst>
                <a:ext uri="{FF2B5EF4-FFF2-40B4-BE49-F238E27FC236}">
                  <a16:creationId xmlns:a16="http://schemas.microsoft.com/office/drawing/2014/main" id="{89A61135-1F00-E77F-7C78-5FBA241A5742}"/>
                </a:ext>
              </a:extLst>
            </p:cNvPr>
            <p:cNvSpPr>
              <a:spLocks/>
            </p:cNvSpPr>
            <p:nvPr/>
          </p:nvSpPr>
          <p:spPr>
            <a:xfrm>
              <a:off x="3325196" y="153170"/>
              <a:ext cx="154803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b="1">
                  <a:solidFill>
                    <a:schemeClr val="tx2"/>
                  </a:solidFill>
                  <a:latin typeface="Arial" panose="020B0604020202020204" pitchFamily="34" charset="0"/>
                  <a:cs typeface="Arial" panose="020B0604020202020204" pitchFamily="34" charset="0"/>
                </a:rPr>
                <a:t>Quality of earnings / run rate</a:t>
              </a:r>
              <a:endParaRPr lang="en-SG" sz="800" b="1">
                <a:solidFill>
                  <a:schemeClr val="tx2"/>
                </a:solidFill>
                <a:latin typeface="Arial" panose="020B0604020202020204" pitchFamily="34" charset="0"/>
                <a:cs typeface="Arial" panose="020B0604020202020204" pitchFamily="34" charset="0"/>
              </a:endParaRPr>
            </a:p>
          </p:txBody>
        </p:sp>
        <p:sp>
          <p:nvSpPr>
            <p:cNvPr id="78"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873230"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79"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674265"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80"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777533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43051850"/>
      </p:ext>
    </p:extLst>
  </p:cSld>
  <p:clrMapOvr>
    <a:masterClrMapping/>
  </p:clrMapOvr>
  <p:extLst>
    <p:ext uri="{6950BFC3-D8DA-4A85-94F7-54DA5524770B}">
      <p188:commentRel xmlns:p188="http://schemas.microsoft.com/office/powerpoint/2018/8/main" r:id="rId7"/>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a:t>Quality of earnings – overview (2/2)</a:t>
            </a:r>
          </a:p>
        </p:txBody>
      </p:sp>
      <p:sp>
        <p:nvSpPr>
          <p:cNvPr id="17" name="Text Placeholder 16">
            <a:extLst>
              <a:ext uri="{FF2B5EF4-FFF2-40B4-BE49-F238E27FC236}">
                <a16:creationId xmlns:a16="http://schemas.microsoft.com/office/drawing/2014/main" id="{369D0C06-681C-C96C-F751-62A145C0E8D0}"/>
              </a:ext>
            </a:extLst>
          </p:cNvPr>
          <p:cNvSpPr>
            <a:spLocks noGrp="1"/>
          </p:cNvSpPr>
          <p:nvPr>
            <p:ph type="body" sz="quarter" idx="11"/>
          </p:nvPr>
        </p:nvSpPr>
        <p:spPr>
          <a:xfrm>
            <a:off x="6212878" y="1642078"/>
            <a:ext cx="4988877" cy="252000"/>
          </a:xfrm>
        </p:spPr>
        <p:txBody>
          <a:bodyPr/>
          <a:lstStyle/>
          <a:p>
            <a:r>
              <a:rPr lang="fi-FI"/>
              <a:t>Basis of preparation</a:t>
            </a:r>
          </a:p>
        </p:txBody>
      </p:sp>
      <p:sp>
        <p:nvSpPr>
          <p:cNvPr id="7" name="Text Placeholder 6">
            <a:extLst>
              <a:ext uri="{FF2B5EF4-FFF2-40B4-BE49-F238E27FC236}">
                <a16:creationId xmlns:a16="http://schemas.microsoft.com/office/drawing/2014/main" id="{931FF0A2-2A99-42E4-98E5-50042316ABF7}"/>
              </a:ext>
            </a:extLst>
          </p:cNvPr>
          <p:cNvSpPr>
            <a:spLocks noGrp="1"/>
          </p:cNvSpPr>
          <p:nvPr>
            <p:ph type="body" sz="quarter" idx="27"/>
          </p:nvPr>
        </p:nvSpPr>
        <p:spPr>
          <a:xfrm>
            <a:off x="6210936" y="1906376"/>
            <a:ext cx="4988877" cy="3961624"/>
          </a:xfrm>
        </p:spPr>
        <p:txBody>
          <a:bodyPr/>
          <a:lstStyle/>
          <a:p>
            <a:pPr lvl="2"/>
            <a:r>
              <a:rPr lang="en-US" b="1"/>
              <a:t>Sell side pro forma adjustments</a:t>
            </a:r>
            <a:r>
              <a:rPr lang="en-US"/>
              <a:t>: Pro forma adjustments presented in the sell side diligence databook mainly relate to software cost savings (adj, #H) (FY24: $0.3 million; TTM Mar-25: $0.2 million) and incremental lease savings (adj. #I) (FY24: $0.1 million; TTM Mar-25: $0.1 million). These appear reasonable and reflect actioned cost savings. Note that Management present a pro forma adjusted EBITDA for FY23 and FY24 but we only present a pro forma and run rate adjusted EBITDA for TTM Mar-25. Refer to page 23 and the sell side diligence databook for further commentary.</a:t>
            </a:r>
          </a:p>
          <a:p>
            <a:pPr lvl="2"/>
            <a:r>
              <a:rPr lang="en-US" b="1"/>
              <a:t>Sell side run rate adjustments</a:t>
            </a:r>
            <a:r>
              <a:rPr lang="en-US"/>
              <a:t>: Run rate adjustments presented in the sell side diligence databook include increases in subscription revenue to reflect ARR at Dec-23, Dec-24 and Mar-25 with an implied margin for the corresponding period (FY23, FY24 and TTM Mar-25). Refer to page 24 and the sell side diligence databook for further commentary and see below for buy side revisions.</a:t>
            </a:r>
          </a:p>
          <a:p>
            <a:pPr lvl="2"/>
            <a:r>
              <a:rPr lang="en-US" b="1"/>
              <a:t>Buy side run rate adjustments</a:t>
            </a:r>
            <a:r>
              <a:rPr lang="en-US"/>
              <a:t>: Buy side run rate adjustments refine the cost assumptions presented in the sell side diligence databook to reflect the latest trends in direct costs and operating expenses (based on the last three months to Mar-25, which Management later agreed was a sensible approach). Refer to page 25 for further discussion on run rate. </a:t>
            </a:r>
          </a:p>
          <a:p>
            <a:pPr lvl="2"/>
            <a:r>
              <a:rPr lang="en-US" b="1"/>
              <a:t>Sell side actionable synergies</a:t>
            </a:r>
            <a:r>
              <a:rPr lang="en-US"/>
              <a:t>: The sell side databook includes actionable synergies related to potential hosting savings (TTM Mar-25: $0.8 million) and executive restructuring (TTM Mar-25: $0.7 million). These synergies have not yet been exercised and will need to be implemented post transaction to realize the cost savings. Operational diligence and your input is required to determine the validity of the sell side actionable synergies and any incremental synergies associated with the transaction. Please refer to page 26 and the sell side diligence databook for further commentary.</a:t>
            </a:r>
          </a:p>
          <a:p>
            <a:pPr lvl="2"/>
            <a:endParaRPr lang="en-US"/>
          </a:p>
          <a:p>
            <a:pPr marL="0" lvl="2" indent="0">
              <a:buNone/>
            </a:pPr>
            <a:endParaRPr lang="en-US" sz="1000"/>
          </a:p>
          <a:p>
            <a:pPr lvl="2"/>
            <a:endParaRPr lang="en-US" sz="1000"/>
          </a:p>
        </p:txBody>
      </p:sp>
      <p:sp>
        <p:nvSpPr>
          <p:cNvPr id="16" name="Text Placeholder 15">
            <a:extLst>
              <a:ext uri="{FF2B5EF4-FFF2-40B4-BE49-F238E27FC236}">
                <a16:creationId xmlns:a16="http://schemas.microsoft.com/office/drawing/2014/main" id="{27C922A0-712E-D49A-91C8-6325519BB78F}"/>
              </a:ext>
            </a:extLst>
          </p:cNvPr>
          <p:cNvSpPr>
            <a:spLocks noGrp="1"/>
          </p:cNvSpPr>
          <p:nvPr>
            <p:ph type="body" sz="quarter" idx="10"/>
          </p:nvPr>
        </p:nvSpPr>
        <p:spPr>
          <a:xfrm>
            <a:off x="995361" y="1179513"/>
            <a:ext cx="10195200" cy="460800"/>
          </a:xfrm>
        </p:spPr>
        <p:txBody>
          <a:bodyPr/>
          <a:lstStyle/>
          <a:p>
            <a:r>
              <a:rPr lang="en-US">
                <a:solidFill>
                  <a:srgbClr val="00338D"/>
                </a:solidFill>
              </a:rPr>
              <a:t>Sell side run rate adjusted EBITDA of $16.1 million for TTM Mar-25 references Mar-25 ARR at a TTM Mar-25 margin. We have refined Management’s assumptions to present the latest view of Vortex’s cost base (L3M Mar-25 gross margin % and operating expenses) – this results in a run rate adjusted EBITDA of $14.4 million.</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8" name="Text Placeholder 12">
            <a:extLst>
              <a:ext uri="{FF2B5EF4-FFF2-40B4-BE49-F238E27FC236}">
                <a16:creationId xmlns:a16="http://schemas.microsoft.com/office/drawing/2014/main" id="{F1626D58-4C31-7DA0-C658-E1CB34177E45}"/>
              </a:ext>
            </a:extLst>
          </p:cNvPr>
          <p:cNvSpPr txBox="1">
            <a:spLocks/>
          </p:cNvSpPr>
          <p:nvPr/>
        </p:nvSpPr>
        <p:spPr>
          <a:xfrm>
            <a:off x="998400" y="5868000"/>
            <a:ext cx="4125480"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Source: 	2.2.2.6_20250515 Project Vortex - Databook - PL.xlsx; 2.2_Vortex - External Customer Cube (March 	2025).xlsx; KPMG analysis</a:t>
            </a:r>
          </a:p>
        </p:txBody>
      </p:sp>
      <p:pic>
        <p:nvPicPr>
          <p:cNvPr id="21" name="Picture 20">
            <a:extLst>
              <a:ext uri="{FF2B5EF4-FFF2-40B4-BE49-F238E27FC236}">
                <a16:creationId xmlns:a16="http://schemas.microsoft.com/office/drawing/2014/main" id="{BAD19F30-B6CE-D09C-1E61-B6DCE863EA02}"/>
              </a:ext>
            </a:extLst>
          </p:cNvPr>
          <p:cNvPicPr>
            <a:picLocks noChangeAspect="1"/>
          </p:cNvPicPr>
          <p:nvPr>
            <p:custDataLst>
              <p:tags r:id="rId4"/>
            </p:custDataLst>
          </p:nvPr>
        </p:nvPicPr>
        <p:blipFill>
          <a:blip r:embed="rId10"/>
          <a:stretch>
            <a:fillRect/>
          </a:stretch>
        </p:blipFill>
        <p:spPr>
          <a:xfrm>
            <a:off x="990876" y="1652281"/>
            <a:ext cx="4988877" cy="2653736"/>
          </a:xfrm>
          <a:prstGeom prst="rect">
            <a:avLst/>
          </a:prstGeom>
        </p:spPr>
      </p:pic>
      <p:grpSp>
        <p:nvGrpSpPr>
          <p:cNvPr id="74" name="Group 73">
            <a:extLst>
              <a:ext uri="{FF2B5EF4-FFF2-40B4-BE49-F238E27FC236}">
                <a16:creationId xmlns:a16="http://schemas.microsoft.com/office/drawing/2014/main" id="{F1507839-17A7-CE58-1982-3EE45D093E97}"/>
              </a:ext>
            </a:extLst>
          </p:cNvPr>
          <p:cNvGrpSpPr/>
          <p:nvPr>
            <p:custDataLst>
              <p:tags r:id="rId5"/>
            </p:custDataLst>
          </p:nvPr>
        </p:nvGrpSpPr>
        <p:grpSpPr>
          <a:xfrm>
            <a:off x="995364" y="153170"/>
            <a:ext cx="7468796" cy="195814"/>
            <a:chOff x="995364" y="153170"/>
            <a:chExt cx="7468796" cy="195814"/>
          </a:xfrm>
        </p:grpSpPr>
        <p:sp>
          <p:nvSpPr>
            <p:cNvPr id="75"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76"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77" name="Current Section3">
              <a:hlinkClick r:id="rId13" action="ppaction://hlinksldjump"/>
              <a:extLst>
                <a:ext uri="{FF2B5EF4-FFF2-40B4-BE49-F238E27FC236}">
                  <a16:creationId xmlns:a16="http://schemas.microsoft.com/office/drawing/2014/main" id="{89A61135-1F00-E77F-7C78-5FBA241A5742}"/>
                </a:ext>
              </a:extLst>
            </p:cNvPr>
            <p:cNvSpPr>
              <a:spLocks/>
            </p:cNvSpPr>
            <p:nvPr/>
          </p:nvSpPr>
          <p:spPr>
            <a:xfrm>
              <a:off x="3325196" y="153170"/>
              <a:ext cx="154803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b="1">
                  <a:solidFill>
                    <a:schemeClr val="tx2"/>
                  </a:solidFill>
                  <a:latin typeface="Arial" panose="020B0604020202020204" pitchFamily="34" charset="0"/>
                  <a:cs typeface="Arial" panose="020B0604020202020204" pitchFamily="34" charset="0"/>
                </a:rPr>
                <a:t>Quality of earnings / run rate</a:t>
              </a:r>
              <a:endParaRPr lang="en-SG" sz="800" b="1">
                <a:solidFill>
                  <a:schemeClr val="tx2"/>
                </a:solidFill>
                <a:latin typeface="Arial" panose="020B0604020202020204" pitchFamily="34" charset="0"/>
                <a:cs typeface="Arial" panose="020B0604020202020204" pitchFamily="34" charset="0"/>
              </a:endParaRPr>
            </a:p>
          </p:txBody>
        </p:sp>
        <p:sp>
          <p:nvSpPr>
            <p:cNvPr id="78"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873230"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79"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674265"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80"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777533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420626933"/>
      </p:ext>
    </p:extLst>
  </p:cSld>
  <p:clrMapOvr>
    <a:masterClrMapping/>
  </p:clrMapOvr>
  <p:extLst>
    <p:ext uri="{6950BFC3-D8DA-4A85-94F7-54DA5524770B}">
      <p188:commentRel xmlns:p188="http://schemas.microsoft.com/office/powerpoint/2018/8/main" r:id="rId7"/>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9" imgW="395" imgH="394" progId="TCLayout.ActiveDocument.1">
                  <p:embed/>
                </p:oleObj>
              </mc:Choice>
              <mc:Fallback>
                <p:oleObj name="think-cell Slide" r:id="rId9"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10"/>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a:t>Quality of earnings (1/7) </a:t>
            </a:r>
          </a:p>
        </p:txBody>
      </p:sp>
      <p:sp>
        <p:nvSpPr>
          <p:cNvPr id="17" name="Text Placeholder 16">
            <a:extLst>
              <a:ext uri="{FF2B5EF4-FFF2-40B4-BE49-F238E27FC236}">
                <a16:creationId xmlns:a16="http://schemas.microsoft.com/office/drawing/2014/main" id="{369D0C06-681C-C96C-F751-62A145C0E8D0}"/>
              </a:ext>
            </a:extLst>
          </p:cNvPr>
          <p:cNvSpPr>
            <a:spLocks noGrp="1"/>
          </p:cNvSpPr>
          <p:nvPr>
            <p:ph type="body" sz="quarter" idx="11"/>
          </p:nvPr>
        </p:nvSpPr>
        <p:spPr>
          <a:xfrm>
            <a:off x="5963476" y="1727803"/>
            <a:ext cx="5238279" cy="252000"/>
          </a:xfrm>
        </p:spPr>
        <p:txBody>
          <a:bodyPr/>
          <a:lstStyle/>
          <a:p>
            <a:r>
              <a:rPr lang="fi-FI"/>
              <a:t>Commentary</a:t>
            </a:r>
          </a:p>
        </p:txBody>
      </p:sp>
      <p:sp>
        <p:nvSpPr>
          <p:cNvPr id="16" name="Text Placeholder 15">
            <a:extLst>
              <a:ext uri="{FF2B5EF4-FFF2-40B4-BE49-F238E27FC236}">
                <a16:creationId xmlns:a16="http://schemas.microsoft.com/office/drawing/2014/main" id="{27C922A0-712E-D49A-91C8-6325519BB78F}"/>
              </a:ext>
            </a:extLst>
          </p:cNvPr>
          <p:cNvSpPr>
            <a:spLocks noGrp="1"/>
          </p:cNvSpPr>
          <p:nvPr>
            <p:ph type="body" sz="quarter" idx="10"/>
          </p:nvPr>
        </p:nvSpPr>
        <p:spPr>
          <a:xfrm>
            <a:off x="995361" y="1179513"/>
            <a:ext cx="10195200" cy="460800"/>
          </a:xfrm>
        </p:spPr>
        <p:txBody>
          <a:bodyPr/>
          <a:lstStyle/>
          <a:p>
            <a:r>
              <a:rPr lang="en-US">
                <a:solidFill>
                  <a:srgbClr val="00338D"/>
                </a:solidFill>
              </a:rPr>
              <a:t>FY24 adjustments include $1.6 million of transaction expenses related to past M&amp;A processes (adj. #A) and $0.8 million other non-recurring expenses including a one-off legal claim of $0.3 million and non-recurring debt financing of $0.2 million (adj. #B).</a:t>
            </a:r>
          </a:p>
          <a:p>
            <a:r>
              <a:rPr lang="en-US">
                <a:solidFill>
                  <a:srgbClr val="00338D"/>
                </a:solidFill>
              </a:rPr>
              <a:t>Management adjustments total $2.8 million in TTM Mar-25.</a:t>
            </a:r>
          </a:p>
          <a:p>
            <a:endParaRPr lang="en-US">
              <a:solidFill>
                <a:srgbClr val="00338D"/>
              </a:solidFill>
            </a:endParaRP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22" name="Text Placeholder 21">
            <a:extLst>
              <a:ext uri="{FF2B5EF4-FFF2-40B4-BE49-F238E27FC236}">
                <a16:creationId xmlns:a16="http://schemas.microsoft.com/office/drawing/2014/main" id="{D5A92B42-CF52-0069-8B48-8E3E6E5DA3A2}"/>
              </a:ext>
            </a:extLst>
          </p:cNvPr>
          <p:cNvSpPr>
            <a:spLocks noGrp="1"/>
          </p:cNvSpPr>
          <p:nvPr>
            <p:ph type="body" sz="quarter" idx="27"/>
          </p:nvPr>
        </p:nvSpPr>
        <p:spPr>
          <a:xfrm>
            <a:off x="5961534" y="2034268"/>
            <a:ext cx="5238279" cy="3919457"/>
          </a:xfrm>
        </p:spPr>
        <p:txBody>
          <a:bodyPr/>
          <a:lstStyle/>
          <a:p>
            <a:pPr>
              <a:spcAft>
                <a:spcPts val="300"/>
              </a:spcAft>
            </a:pPr>
            <a:r>
              <a:rPr lang="en-US"/>
              <a:t>Management adjustments</a:t>
            </a:r>
          </a:p>
          <a:p>
            <a:pPr>
              <a:spcAft>
                <a:spcPts val="300"/>
              </a:spcAft>
            </a:pPr>
            <a:r>
              <a:rPr lang="en-US" b="0">
                <a:solidFill>
                  <a:schemeClr val="tx1"/>
                </a:solidFill>
              </a:rPr>
              <a:t>Management separately tracks and records non-recurring expenses in specific trial balance accounts according to the nature. The sell side provided the granular categorization of these adjustments for FY23, FY24 and YTD Mar-25, however did not provide for TTM Mar-25 (see notes in Appendix 6). Note we have also maintained consistent nomenclature with the sell-side databook (e.g. </a:t>
            </a:r>
            <a:r>
              <a:rPr lang="en-US" b="0" i="1">
                <a:solidFill>
                  <a:schemeClr val="tx1"/>
                </a:solidFill>
              </a:rPr>
              <a:t>F.iii – non-recurrent Visa expenses</a:t>
            </a:r>
            <a:r>
              <a:rPr lang="en-US" b="0">
                <a:solidFill>
                  <a:schemeClr val="tx1"/>
                </a:solidFill>
              </a:rPr>
              <a:t>). Please refer to the sell side databook for further commentary on management adjustments.</a:t>
            </a:r>
          </a:p>
          <a:p>
            <a:pPr marL="228600" indent="-228600">
              <a:spcAft>
                <a:spcPts val="300"/>
              </a:spcAft>
              <a:buFont typeface="+mj-lt"/>
              <a:buAutoNum type="alphaUcPeriod"/>
            </a:pPr>
            <a:r>
              <a:rPr lang="en-US">
                <a:solidFill>
                  <a:schemeClr val="tx1"/>
                </a:solidFill>
              </a:rPr>
              <a:t>Transaction expenses</a:t>
            </a:r>
            <a:r>
              <a:rPr lang="en-US" b="0">
                <a:solidFill>
                  <a:schemeClr val="tx1"/>
                </a:solidFill>
              </a:rPr>
              <a:t>: Primarily relates to non-recurring expenses for historical M&amp;A processes including the acquisition of Fastcase in FY23 and previous acquisitions performed by Fastcase (Casemaker, NextChapter, Judicata, and Docket Alarm) (FY24: $1.4 million; YTD Mar-25: $0.1 million). Management also adjust for advisory costs related to the Fastcase acquisition and internal restructuring (FY24: $0.2 million; YTD Mar-25: $0.1 million).</a:t>
            </a:r>
          </a:p>
          <a:p>
            <a:pPr marL="228600" indent="-228600">
              <a:spcAft>
                <a:spcPts val="300"/>
              </a:spcAft>
              <a:buFont typeface="+mj-lt"/>
              <a:buAutoNum type="alphaUcPeriod"/>
            </a:pPr>
            <a:r>
              <a:rPr lang="en-US">
                <a:solidFill>
                  <a:schemeClr val="tx1"/>
                </a:solidFill>
              </a:rPr>
              <a:t>Non-recurring expenses</a:t>
            </a:r>
            <a:r>
              <a:rPr lang="en-US" b="0">
                <a:solidFill>
                  <a:schemeClr val="tx1"/>
                </a:solidFill>
              </a:rPr>
              <a:t>: Comprises the following non-recurring items:</a:t>
            </a:r>
          </a:p>
          <a:p>
            <a:endParaRPr lang="en-US" b="0">
              <a:solidFill>
                <a:schemeClr val="tx1"/>
              </a:solidFill>
            </a:endParaRPr>
          </a:p>
        </p:txBody>
      </p:sp>
      <p:pic>
        <p:nvPicPr>
          <p:cNvPr id="19" name="Picture 18">
            <a:extLst>
              <a:ext uri="{FF2B5EF4-FFF2-40B4-BE49-F238E27FC236}">
                <a16:creationId xmlns:a16="http://schemas.microsoft.com/office/drawing/2014/main" id="{89B25F8B-C283-D7F3-568A-43AC6D741EC4}"/>
              </a:ext>
            </a:extLst>
          </p:cNvPr>
          <p:cNvPicPr>
            <a:picLocks noChangeAspect="1"/>
          </p:cNvPicPr>
          <p:nvPr>
            <p:custDataLst>
              <p:tags r:id="rId4"/>
            </p:custDataLst>
          </p:nvPr>
        </p:nvPicPr>
        <p:blipFill>
          <a:blip r:embed="rId11"/>
          <a:stretch>
            <a:fillRect/>
          </a:stretch>
        </p:blipFill>
        <p:spPr>
          <a:xfrm>
            <a:off x="987207" y="1726038"/>
            <a:ext cx="4114800" cy="3103478"/>
          </a:xfrm>
          <a:prstGeom prst="rect">
            <a:avLst/>
          </a:prstGeom>
        </p:spPr>
      </p:pic>
      <p:pic>
        <p:nvPicPr>
          <p:cNvPr id="20" name="Picture 19">
            <a:extLst>
              <a:ext uri="{FF2B5EF4-FFF2-40B4-BE49-F238E27FC236}">
                <a16:creationId xmlns:a16="http://schemas.microsoft.com/office/drawing/2014/main" id="{1250C9FE-8C0B-FC73-2E20-2AEC2A8552CA}"/>
              </a:ext>
            </a:extLst>
          </p:cNvPr>
          <p:cNvPicPr>
            <a:picLocks noChangeAspect="1"/>
          </p:cNvPicPr>
          <p:nvPr>
            <p:custDataLst>
              <p:tags r:id="rId5"/>
            </p:custDataLst>
          </p:nvPr>
        </p:nvPicPr>
        <p:blipFill>
          <a:blip r:embed="rId12"/>
          <a:stretch>
            <a:fillRect/>
          </a:stretch>
        </p:blipFill>
        <p:spPr>
          <a:xfrm>
            <a:off x="6239597" y="4359174"/>
            <a:ext cx="3200400" cy="1842274"/>
          </a:xfrm>
          <a:prstGeom prst="rect">
            <a:avLst/>
          </a:prstGeom>
        </p:spPr>
      </p:pic>
      <p:sp>
        <p:nvSpPr>
          <p:cNvPr id="7" name="Text Placeholder 12">
            <a:extLst>
              <a:ext uri="{FF2B5EF4-FFF2-40B4-BE49-F238E27FC236}">
                <a16:creationId xmlns:a16="http://schemas.microsoft.com/office/drawing/2014/main" id="{AA0A22B9-78BA-3EE3-CE45-370511E2BCEB}"/>
              </a:ext>
            </a:extLst>
          </p:cNvPr>
          <p:cNvSpPr txBox="1">
            <a:spLocks/>
          </p:cNvSpPr>
          <p:nvPr/>
        </p:nvSpPr>
        <p:spPr>
          <a:xfrm>
            <a:off x="998400" y="5868000"/>
            <a:ext cx="4125480"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Source: 	2.2.2.6_20250515 Project Vortex - Databook - PL.xlsx; 2.2_Vortex - External Customer Cube (March 	2025).xlsx; KPMG analysis</a:t>
            </a:r>
          </a:p>
        </p:txBody>
      </p:sp>
      <p:grpSp>
        <p:nvGrpSpPr>
          <p:cNvPr id="74" name="Group 73">
            <a:extLst>
              <a:ext uri="{FF2B5EF4-FFF2-40B4-BE49-F238E27FC236}">
                <a16:creationId xmlns:a16="http://schemas.microsoft.com/office/drawing/2014/main" id="{F1507839-17A7-CE58-1982-3EE45D093E97}"/>
              </a:ext>
            </a:extLst>
          </p:cNvPr>
          <p:cNvGrpSpPr/>
          <p:nvPr>
            <p:custDataLst>
              <p:tags r:id="rId6"/>
            </p:custDataLst>
          </p:nvPr>
        </p:nvGrpSpPr>
        <p:grpSpPr>
          <a:xfrm>
            <a:off x="995364" y="153170"/>
            <a:ext cx="7468796" cy="195814"/>
            <a:chOff x="995364" y="153170"/>
            <a:chExt cx="7468796" cy="195814"/>
          </a:xfrm>
        </p:grpSpPr>
        <p:sp>
          <p:nvSpPr>
            <p:cNvPr id="75" name="Other Sections1">
              <a:hlinkClick r:id="rId13"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76" name="Other Sections2">
              <a:hlinkClick r:id="rId14"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77" name="Current Section3">
              <a:hlinkClick r:id="rId15" action="ppaction://hlinksldjump"/>
              <a:extLst>
                <a:ext uri="{FF2B5EF4-FFF2-40B4-BE49-F238E27FC236}">
                  <a16:creationId xmlns:a16="http://schemas.microsoft.com/office/drawing/2014/main" id="{89A61135-1F00-E77F-7C78-5FBA241A5742}"/>
                </a:ext>
              </a:extLst>
            </p:cNvPr>
            <p:cNvSpPr>
              <a:spLocks/>
            </p:cNvSpPr>
            <p:nvPr/>
          </p:nvSpPr>
          <p:spPr>
            <a:xfrm>
              <a:off x="3325196" y="153170"/>
              <a:ext cx="154803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b="1">
                  <a:solidFill>
                    <a:schemeClr val="tx2"/>
                  </a:solidFill>
                  <a:latin typeface="Arial" panose="020B0604020202020204" pitchFamily="34" charset="0"/>
                  <a:cs typeface="Arial" panose="020B0604020202020204" pitchFamily="34" charset="0"/>
                </a:rPr>
                <a:t>Quality of earnings / run rate</a:t>
              </a:r>
              <a:endParaRPr lang="en-SG" sz="800" b="1">
                <a:solidFill>
                  <a:schemeClr val="tx2"/>
                </a:solidFill>
                <a:latin typeface="Arial" panose="020B0604020202020204" pitchFamily="34" charset="0"/>
                <a:cs typeface="Arial" panose="020B0604020202020204" pitchFamily="34" charset="0"/>
              </a:endParaRPr>
            </a:p>
          </p:txBody>
        </p:sp>
        <p:sp>
          <p:nvSpPr>
            <p:cNvPr id="78" name="Other Sections4">
              <a:hlinkClick r:id="rId16" action="ppaction://hlinksldjump"/>
              <a:extLst>
                <a:ext uri="{FF2B5EF4-FFF2-40B4-BE49-F238E27FC236}">
                  <a16:creationId xmlns:a16="http://schemas.microsoft.com/office/drawing/2014/main" id="{8A19844E-D291-CA81-3B22-2B52F21919DA}"/>
                </a:ext>
              </a:extLst>
            </p:cNvPr>
            <p:cNvSpPr>
              <a:spLocks/>
            </p:cNvSpPr>
            <p:nvPr/>
          </p:nvSpPr>
          <p:spPr>
            <a:xfrm>
              <a:off x="4873230"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79" name="Other Sections5">
              <a:hlinkClick r:id="rId17" action="ppaction://hlinksldjump"/>
              <a:extLst>
                <a:ext uri="{FF2B5EF4-FFF2-40B4-BE49-F238E27FC236}">
                  <a16:creationId xmlns:a16="http://schemas.microsoft.com/office/drawing/2014/main" id="{8A19844E-D291-CA81-3B22-2B52F21919DA}"/>
                </a:ext>
              </a:extLst>
            </p:cNvPr>
            <p:cNvSpPr>
              <a:spLocks/>
            </p:cNvSpPr>
            <p:nvPr/>
          </p:nvSpPr>
          <p:spPr>
            <a:xfrm>
              <a:off x="5674265"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80" name="Other Sections6">
              <a:hlinkClick r:id="rId18" action="ppaction://hlinksldjump"/>
              <a:extLst>
                <a:ext uri="{FF2B5EF4-FFF2-40B4-BE49-F238E27FC236}">
                  <a16:creationId xmlns:a16="http://schemas.microsoft.com/office/drawing/2014/main" id="{8A19844E-D291-CA81-3B22-2B52F21919DA}"/>
                </a:ext>
              </a:extLst>
            </p:cNvPr>
            <p:cNvSpPr>
              <a:spLocks/>
            </p:cNvSpPr>
            <p:nvPr/>
          </p:nvSpPr>
          <p:spPr>
            <a:xfrm>
              <a:off x="777533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159328496"/>
      </p:ext>
    </p:extLst>
  </p:cSld>
  <p:clrMapOvr>
    <a:masterClrMapping/>
  </p:clrMapOvr>
  <p:extLst>
    <p:ext uri="{6950BFC3-D8DA-4A85-94F7-54DA5524770B}">
      <p188:commentRel xmlns:p188="http://schemas.microsoft.com/office/powerpoint/2018/8/main" r:id="rId8"/>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a:t>Quality of earnings (2/7) </a:t>
            </a:r>
          </a:p>
        </p:txBody>
      </p:sp>
      <p:sp>
        <p:nvSpPr>
          <p:cNvPr id="17" name="Text Placeholder 16">
            <a:extLst>
              <a:ext uri="{FF2B5EF4-FFF2-40B4-BE49-F238E27FC236}">
                <a16:creationId xmlns:a16="http://schemas.microsoft.com/office/drawing/2014/main" id="{369D0C06-681C-C96C-F751-62A145C0E8D0}"/>
              </a:ext>
            </a:extLst>
          </p:cNvPr>
          <p:cNvSpPr>
            <a:spLocks noGrp="1"/>
          </p:cNvSpPr>
          <p:nvPr>
            <p:ph type="body" sz="quarter" idx="11"/>
          </p:nvPr>
        </p:nvSpPr>
        <p:spPr>
          <a:xfrm>
            <a:off x="5963476" y="1727803"/>
            <a:ext cx="5238279" cy="252000"/>
          </a:xfrm>
        </p:spPr>
        <p:txBody>
          <a:bodyPr/>
          <a:lstStyle/>
          <a:p>
            <a:r>
              <a:rPr lang="fi-FI"/>
              <a:t>Commentary</a:t>
            </a:r>
          </a:p>
        </p:txBody>
      </p:sp>
      <p:sp>
        <p:nvSpPr>
          <p:cNvPr id="16" name="Text Placeholder 15">
            <a:extLst>
              <a:ext uri="{FF2B5EF4-FFF2-40B4-BE49-F238E27FC236}">
                <a16:creationId xmlns:a16="http://schemas.microsoft.com/office/drawing/2014/main" id="{27C922A0-712E-D49A-91C8-6325519BB78F}"/>
              </a:ext>
            </a:extLst>
          </p:cNvPr>
          <p:cNvSpPr>
            <a:spLocks noGrp="1"/>
          </p:cNvSpPr>
          <p:nvPr>
            <p:ph type="body" sz="quarter" idx="10"/>
          </p:nvPr>
        </p:nvSpPr>
        <p:spPr>
          <a:xfrm>
            <a:off x="995361" y="1179513"/>
            <a:ext cx="10204452" cy="460800"/>
          </a:xfrm>
        </p:spPr>
        <p:txBody>
          <a:bodyPr/>
          <a:lstStyle/>
          <a:p>
            <a:r>
              <a:rPr lang="fi-FI">
                <a:solidFill>
                  <a:srgbClr val="00338D"/>
                </a:solidFill>
              </a:rPr>
              <a:t>Management adjustments include $(5.1) million of non-operating provision reversals in FY24, primarily related to an earnout provision recorded in FY22 which was released when payment was not required (adj. #C).</a:t>
            </a:r>
          </a:p>
          <a:p>
            <a:r>
              <a:rPr lang="fi-FI">
                <a:solidFill>
                  <a:srgbClr val="00338D"/>
                </a:solidFill>
              </a:rPr>
              <a:t>We refine the sell side bonus normalization adjustment in buy side adjustment #2 on page 22.</a:t>
            </a:r>
          </a:p>
          <a:p>
            <a:endParaRPr lang="fi-FI">
              <a:solidFill>
                <a:srgbClr val="00338D"/>
              </a:solidFill>
            </a:endParaRP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22" name="Text Placeholder 21">
            <a:extLst>
              <a:ext uri="{FF2B5EF4-FFF2-40B4-BE49-F238E27FC236}">
                <a16:creationId xmlns:a16="http://schemas.microsoft.com/office/drawing/2014/main" id="{D5A92B42-CF52-0069-8B48-8E3E6E5DA3A2}"/>
              </a:ext>
            </a:extLst>
          </p:cNvPr>
          <p:cNvSpPr>
            <a:spLocks noGrp="1"/>
          </p:cNvSpPr>
          <p:nvPr>
            <p:ph type="body" sz="quarter" idx="27"/>
          </p:nvPr>
        </p:nvSpPr>
        <p:spPr>
          <a:xfrm>
            <a:off x="5961534" y="2034268"/>
            <a:ext cx="5238279" cy="3919457"/>
          </a:xfrm>
        </p:spPr>
        <p:txBody>
          <a:bodyPr/>
          <a:lstStyle/>
          <a:p>
            <a:r>
              <a:rPr lang="en-US"/>
              <a:t>Management adjustments cont.</a:t>
            </a:r>
            <a:endParaRPr lang="en-US">
              <a:solidFill>
                <a:schemeClr val="tx1"/>
              </a:solidFill>
            </a:endParaRPr>
          </a:p>
          <a:p>
            <a:pPr marL="228600" indent="-228600">
              <a:buFont typeface="+mj-lt"/>
              <a:buAutoNum type="alphaUcPeriod" startAt="3"/>
            </a:pPr>
            <a:r>
              <a:rPr lang="en-US">
                <a:solidFill>
                  <a:schemeClr val="tx1"/>
                </a:solidFill>
              </a:rPr>
              <a:t>Non-operating provision reversals</a:t>
            </a:r>
            <a:r>
              <a:rPr lang="en-US" b="0">
                <a:solidFill>
                  <a:schemeClr val="tx1"/>
                </a:solidFill>
              </a:rPr>
              <a:t>: Primarily relates to the reversal of a provision provided for in FY22 related to an earnout which was not required to be paid (FY24: $(4.6) million). Additionally, this adjustment reverses the release of a provision related to a BCG invoice which was recorded twice (FY24: $(0.5) million) and provision releases related to a sales tax provision and legal accrual in YTD Mar-25 ($(0.1) million).</a:t>
            </a:r>
          </a:p>
          <a:p>
            <a:r>
              <a:rPr lang="en-US"/>
              <a:t>Sell side diligence adjustments</a:t>
            </a:r>
          </a:p>
          <a:p>
            <a:pPr marL="228600" indent="-228600">
              <a:buFont typeface="+mj-lt"/>
              <a:buAutoNum type="alphaUcPeriod" startAt="4"/>
            </a:pPr>
            <a:r>
              <a:rPr lang="en-US">
                <a:solidFill>
                  <a:schemeClr val="tx1"/>
                </a:solidFill>
              </a:rPr>
              <a:t>Realized Fastcase synergies</a:t>
            </a:r>
            <a:r>
              <a:rPr lang="en-US" b="0">
                <a:solidFill>
                  <a:schemeClr val="tx1"/>
                </a:solidFill>
              </a:rPr>
              <a:t>: As a result of the acquisition of Fastcase, personnel synergies were realized through the consolidation and elimination of overlapping roles, which were either absorbed by the existing team or deemed redundant. Specifically, positions such as Chief Operating Officer, Head of Finance, Sales Representatives, Data Analytics Lead, and Senior Engineer were absorbed. In this adjustment, the costs related to these individuals are added back with an offsetting consideration for the capitalized component of the salary of the Data Analytics lead and Senior Engineer.</a:t>
            </a:r>
          </a:p>
          <a:p>
            <a:pPr marL="228600" indent="-228600">
              <a:buFont typeface="+mj-lt"/>
              <a:buAutoNum type="alphaUcPeriod" startAt="4"/>
            </a:pPr>
            <a:r>
              <a:rPr lang="en-US">
                <a:solidFill>
                  <a:schemeClr val="tx1"/>
                </a:solidFill>
              </a:rPr>
              <a:t>Expense normalizations</a:t>
            </a:r>
            <a:r>
              <a:rPr lang="en-US" b="0">
                <a:solidFill>
                  <a:schemeClr val="tx1"/>
                </a:solidFill>
              </a:rPr>
              <a:t>: The sell side databook identified </a:t>
            </a:r>
            <a:r>
              <a:rPr lang="en-US" b="0" i="0" strike="noStrike">
                <a:solidFill>
                  <a:srgbClr val="000000"/>
                </a:solidFill>
                <a:effectLst/>
                <a:latin typeface="Arial" panose="020B0604020202020204" pitchFamily="34" charset="0"/>
              </a:rPr>
              <a:t>normali</a:t>
            </a:r>
            <a:r>
              <a:rPr lang="en-US" b="0">
                <a:solidFill>
                  <a:srgbClr val="000000"/>
                </a:solidFill>
                <a:latin typeface="Arial" panose="020B0604020202020204" pitchFamily="34" charset="0"/>
              </a:rPr>
              <a:t>z</a:t>
            </a:r>
            <a:r>
              <a:rPr lang="en-US" b="0" i="0" strike="noStrike">
                <a:solidFill>
                  <a:srgbClr val="000000"/>
                </a:solidFill>
                <a:effectLst/>
                <a:latin typeface="Arial" panose="020B0604020202020204" pitchFamily="34" charset="0"/>
              </a:rPr>
              <a:t>ations related to the following;</a:t>
            </a:r>
          </a:p>
          <a:p>
            <a:pPr marL="285750" indent="-285750">
              <a:buFont typeface="+mj-lt"/>
              <a:buAutoNum type="romanLcPeriod"/>
            </a:pPr>
            <a:r>
              <a:rPr lang="en-US" b="0" i="1">
                <a:solidFill>
                  <a:srgbClr val="000000"/>
                </a:solidFill>
                <a:latin typeface="Arial" panose="020B0604020202020204" pitchFamily="34" charset="0"/>
              </a:rPr>
              <a:t>E</a:t>
            </a:r>
            <a:r>
              <a:rPr lang="en-US" b="0" i="1" strike="noStrike">
                <a:solidFill>
                  <a:srgbClr val="000000"/>
                </a:solidFill>
                <a:effectLst/>
                <a:latin typeface="Arial" panose="020B0604020202020204" pitchFamily="34" charset="0"/>
              </a:rPr>
              <a:t>xecutive compensation normali</a:t>
            </a:r>
            <a:r>
              <a:rPr lang="en-US" b="0" i="1">
                <a:solidFill>
                  <a:srgbClr val="000000"/>
                </a:solidFill>
                <a:latin typeface="Arial" panose="020B0604020202020204" pitchFamily="34" charset="0"/>
              </a:rPr>
              <a:t>z</a:t>
            </a:r>
            <a:r>
              <a:rPr lang="en-US" b="0" i="1" strike="noStrike">
                <a:solidFill>
                  <a:srgbClr val="000000"/>
                </a:solidFill>
                <a:effectLst/>
                <a:latin typeface="Arial" panose="020B0604020202020204" pitchFamily="34" charset="0"/>
              </a:rPr>
              <a:t>ation</a:t>
            </a:r>
            <a:r>
              <a:rPr lang="en-US" b="0" i="0" strike="noStrike">
                <a:solidFill>
                  <a:srgbClr val="000000"/>
                </a:solidFill>
                <a:effectLst/>
                <a:latin typeface="Arial" panose="020B0604020202020204" pitchFamily="34" charset="0"/>
              </a:rPr>
              <a:t>: There wa</a:t>
            </a:r>
            <a:r>
              <a:rPr lang="en-US" b="0">
                <a:solidFill>
                  <a:srgbClr val="000000"/>
                </a:solidFill>
                <a:latin typeface="Arial" panose="020B0604020202020204" pitchFamily="34" charset="0"/>
              </a:rPr>
              <a:t>s a</a:t>
            </a:r>
            <a:r>
              <a:rPr lang="en-US" b="0" i="0" strike="noStrike">
                <a:solidFill>
                  <a:srgbClr val="000000"/>
                </a:solidFill>
                <a:effectLst/>
                <a:latin typeface="Arial" panose="020B0604020202020204" pitchFamily="34" charset="0"/>
              </a:rPr>
              <a:t> duplication of the roles of the CRO and Global CFO during the Historical Period. This adjustment adds back $0.1 million in salaries associated with the duplicate positions in TTM Mar-25. </a:t>
            </a:r>
          </a:p>
          <a:p>
            <a:pPr marL="285750" indent="-285750">
              <a:buFont typeface="+mj-lt"/>
              <a:buAutoNum type="romanLcPeriod"/>
            </a:pPr>
            <a:r>
              <a:rPr lang="en-US" b="0" i="1">
                <a:solidFill>
                  <a:srgbClr val="000000"/>
                </a:solidFill>
                <a:latin typeface="Arial" panose="020B0604020202020204" pitchFamily="34" charset="0"/>
              </a:rPr>
              <a:t>B</a:t>
            </a:r>
            <a:r>
              <a:rPr lang="en-US" b="0" i="1" strike="noStrike">
                <a:solidFill>
                  <a:srgbClr val="000000"/>
                </a:solidFill>
                <a:effectLst/>
                <a:latin typeface="Arial" panose="020B0604020202020204" pitchFamily="34" charset="0"/>
              </a:rPr>
              <a:t>onus normali</a:t>
            </a:r>
            <a:r>
              <a:rPr lang="en-US" b="0" i="1">
                <a:solidFill>
                  <a:srgbClr val="000000"/>
                </a:solidFill>
                <a:latin typeface="Arial" panose="020B0604020202020204" pitchFamily="34" charset="0"/>
              </a:rPr>
              <a:t>z</a:t>
            </a:r>
            <a:r>
              <a:rPr lang="en-US" b="0" i="1" strike="noStrike">
                <a:solidFill>
                  <a:srgbClr val="000000"/>
                </a:solidFill>
                <a:effectLst/>
                <a:latin typeface="Arial" panose="020B0604020202020204" pitchFamily="34" charset="0"/>
              </a:rPr>
              <a:t>ation</a:t>
            </a:r>
            <a:r>
              <a:rPr lang="en-US" b="0">
                <a:solidFill>
                  <a:srgbClr val="000000"/>
                </a:solidFill>
                <a:latin typeface="Arial" panose="020B0604020202020204" pitchFamily="34" charset="0"/>
              </a:rPr>
              <a:t>: Cut-off issues with bonuses paid in FY23 and FY24 in which bonuses related to other periods (FY23: $(46,000); FY24: $5,000; TTM Mar-25: $42,000). This adjustment allocates the bonus cost to the period it relates to. See buy side adjustment #2 for refinement to this adjustment.</a:t>
            </a:r>
            <a:endParaRPr lang="en-US" b="0" i="0" strike="noStrike">
              <a:solidFill>
                <a:srgbClr val="000000"/>
              </a:solidFill>
              <a:effectLst/>
              <a:latin typeface="Arial" panose="020B0604020202020204" pitchFamily="34" charset="0"/>
            </a:endParaRPr>
          </a:p>
          <a:p>
            <a:endParaRPr lang="en-US" b="0">
              <a:solidFill>
                <a:schemeClr val="tx1"/>
              </a:solidFill>
            </a:endParaRPr>
          </a:p>
          <a:p>
            <a:pPr marL="228600" indent="-228600">
              <a:buFont typeface="+mj-lt"/>
              <a:buAutoNum type="alphaUcPeriod" startAt="3"/>
            </a:pPr>
            <a:endParaRPr lang="en-US" b="0">
              <a:solidFill>
                <a:schemeClr val="tx1"/>
              </a:solidFill>
            </a:endParaRPr>
          </a:p>
          <a:p>
            <a:endParaRPr lang="en-US" b="0">
              <a:solidFill>
                <a:schemeClr val="tx1"/>
              </a:solidFill>
            </a:endParaRPr>
          </a:p>
          <a:p>
            <a:endParaRPr lang="en-US" b="0">
              <a:solidFill>
                <a:schemeClr val="tx1"/>
              </a:solidFill>
            </a:endParaRPr>
          </a:p>
        </p:txBody>
      </p:sp>
      <p:pic>
        <p:nvPicPr>
          <p:cNvPr id="19" name="Picture 18">
            <a:extLst>
              <a:ext uri="{FF2B5EF4-FFF2-40B4-BE49-F238E27FC236}">
                <a16:creationId xmlns:a16="http://schemas.microsoft.com/office/drawing/2014/main" id="{B861CD00-75F4-D4F4-F0A4-0453E3A97013}"/>
              </a:ext>
            </a:extLst>
          </p:cNvPr>
          <p:cNvPicPr>
            <a:picLocks noChangeAspect="1"/>
          </p:cNvPicPr>
          <p:nvPr>
            <p:custDataLst>
              <p:tags r:id="rId4"/>
            </p:custDataLst>
          </p:nvPr>
        </p:nvPicPr>
        <p:blipFill>
          <a:blip r:embed="rId10"/>
          <a:stretch>
            <a:fillRect/>
          </a:stretch>
        </p:blipFill>
        <p:spPr>
          <a:xfrm>
            <a:off x="987207" y="1726040"/>
            <a:ext cx="4114800" cy="3798591"/>
          </a:xfrm>
          <a:prstGeom prst="rect">
            <a:avLst/>
          </a:prstGeom>
        </p:spPr>
      </p:pic>
      <p:sp>
        <p:nvSpPr>
          <p:cNvPr id="6" name="Text Placeholder 12">
            <a:extLst>
              <a:ext uri="{FF2B5EF4-FFF2-40B4-BE49-F238E27FC236}">
                <a16:creationId xmlns:a16="http://schemas.microsoft.com/office/drawing/2014/main" id="{027CB2F5-936A-4CC0-141F-4C80677D8DBA}"/>
              </a:ext>
            </a:extLst>
          </p:cNvPr>
          <p:cNvSpPr txBox="1">
            <a:spLocks/>
          </p:cNvSpPr>
          <p:nvPr/>
        </p:nvSpPr>
        <p:spPr>
          <a:xfrm>
            <a:off x="998400" y="5868000"/>
            <a:ext cx="4125480"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Source: 	2.2.2.6_20250515 Project Vortex - Databook - PL.xlsx; 2.2_Vortex - External Customer Cube (March 	2025).xlsx; KPMG analysis</a:t>
            </a:r>
          </a:p>
        </p:txBody>
      </p:sp>
      <p:grpSp>
        <p:nvGrpSpPr>
          <p:cNvPr id="73" name="Group 72">
            <a:extLst>
              <a:ext uri="{FF2B5EF4-FFF2-40B4-BE49-F238E27FC236}">
                <a16:creationId xmlns:a16="http://schemas.microsoft.com/office/drawing/2014/main" id="{F1507839-17A7-CE58-1982-3EE45D093E97}"/>
              </a:ext>
            </a:extLst>
          </p:cNvPr>
          <p:cNvGrpSpPr/>
          <p:nvPr>
            <p:custDataLst>
              <p:tags r:id="rId5"/>
            </p:custDataLst>
          </p:nvPr>
        </p:nvGrpSpPr>
        <p:grpSpPr>
          <a:xfrm>
            <a:off x="995364" y="153170"/>
            <a:ext cx="7468796" cy="195814"/>
            <a:chOff x="995364" y="153170"/>
            <a:chExt cx="7468796" cy="195814"/>
          </a:xfrm>
        </p:grpSpPr>
        <p:sp>
          <p:nvSpPr>
            <p:cNvPr id="74"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75"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76" name="Current Section3">
              <a:hlinkClick r:id="rId13" action="ppaction://hlinksldjump"/>
              <a:extLst>
                <a:ext uri="{FF2B5EF4-FFF2-40B4-BE49-F238E27FC236}">
                  <a16:creationId xmlns:a16="http://schemas.microsoft.com/office/drawing/2014/main" id="{89A61135-1F00-E77F-7C78-5FBA241A5742}"/>
                </a:ext>
              </a:extLst>
            </p:cNvPr>
            <p:cNvSpPr>
              <a:spLocks/>
            </p:cNvSpPr>
            <p:nvPr/>
          </p:nvSpPr>
          <p:spPr>
            <a:xfrm>
              <a:off x="3325196" y="153170"/>
              <a:ext cx="154803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b="1">
                  <a:solidFill>
                    <a:schemeClr val="tx2"/>
                  </a:solidFill>
                  <a:latin typeface="Arial" panose="020B0604020202020204" pitchFamily="34" charset="0"/>
                  <a:cs typeface="Arial" panose="020B0604020202020204" pitchFamily="34" charset="0"/>
                </a:rPr>
                <a:t>Quality of earnings / run rate</a:t>
              </a:r>
              <a:endParaRPr lang="en-SG" sz="800" b="1">
                <a:solidFill>
                  <a:schemeClr val="tx2"/>
                </a:solidFill>
                <a:latin typeface="Arial" panose="020B0604020202020204" pitchFamily="34" charset="0"/>
                <a:cs typeface="Arial" panose="020B0604020202020204" pitchFamily="34" charset="0"/>
              </a:endParaRPr>
            </a:p>
          </p:txBody>
        </p:sp>
        <p:sp>
          <p:nvSpPr>
            <p:cNvPr id="77"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873230"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78"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674265"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79"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777533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402318754"/>
      </p:ext>
    </p:extLst>
  </p:cSld>
  <p:clrMapOvr>
    <a:masterClrMapping/>
  </p:clrMapOvr>
  <p:extLst>
    <p:ext uri="{6950BFC3-D8DA-4A85-94F7-54DA5524770B}">
      <p188:commentRel xmlns:p188="http://schemas.microsoft.com/office/powerpoint/2018/8/main" r:id="rId7"/>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a:t>Quality of earnings (3/7) </a:t>
            </a:r>
          </a:p>
        </p:txBody>
      </p:sp>
      <p:sp>
        <p:nvSpPr>
          <p:cNvPr id="17" name="Text Placeholder 16">
            <a:extLst>
              <a:ext uri="{FF2B5EF4-FFF2-40B4-BE49-F238E27FC236}">
                <a16:creationId xmlns:a16="http://schemas.microsoft.com/office/drawing/2014/main" id="{369D0C06-681C-C96C-F751-62A145C0E8D0}"/>
              </a:ext>
            </a:extLst>
          </p:cNvPr>
          <p:cNvSpPr>
            <a:spLocks noGrp="1"/>
          </p:cNvSpPr>
          <p:nvPr>
            <p:ph type="body" sz="quarter" idx="11"/>
          </p:nvPr>
        </p:nvSpPr>
        <p:spPr>
          <a:xfrm>
            <a:off x="5963476" y="1642078"/>
            <a:ext cx="5238279" cy="252000"/>
          </a:xfrm>
        </p:spPr>
        <p:txBody>
          <a:bodyPr/>
          <a:lstStyle/>
          <a:p>
            <a:r>
              <a:rPr lang="fi-FI"/>
              <a:t>Commentary</a:t>
            </a:r>
          </a:p>
        </p:txBody>
      </p:sp>
      <p:sp>
        <p:nvSpPr>
          <p:cNvPr id="16" name="Text Placeholder 15">
            <a:extLst>
              <a:ext uri="{FF2B5EF4-FFF2-40B4-BE49-F238E27FC236}">
                <a16:creationId xmlns:a16="http://schemas.microsoft.com/office/drawing/2014/main" id="{27C922A0-712E-D49A-91C8-6325519BB78F}"/>
              </a:ext>
            </a:extLst>
          </p:cNvPr>
          <p:cNvSpPr>
            <a:spLocks noGrp="1"/>
          </p:cNvSpPr>
          <p:nvPr>
            <p:ph type="body" sz="quarter" idx="10"/>
          </p:nvPr>
        </p:nvSpPr>
        <p:spPr>
          <a:xfrm>
            <a:off x="995361" y="1179513"/>
            <a:ext cx="10195200" cy="460800"/>
          </a:xfrm>
        </p:spPr>
        <p:txBody>
          <a:bodyPr/>
          <a:lstStyle/>
          <a:p>
            <a:r>
              <a:rPr lang="en-US">
                <a:solidFill>
                  <a:srgbClr val="00338D"/>
                </a:solidFill>
              </a:rPr>
              <a:t>Adjustments discussed on this page include expense normalizations relating to bad debt, Outreach software implementation and audit expenses (adj. #E). </a:t>
            </a:r>
          </a:p>
          <a:p>
            <a:r>
              <a:rPr lang="en-US">
                <a:solidFill>
                  <a:srgbClr val="00338D"/>
                </a:solidFill>
              </a:rPr>
              <a:t>We refine the sell side bad debt normalization in buy side adjustment #1 on page 22. </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22" name="Text Placeholder 21">
            <a:extLst>
              <a:ext uri="{FF2B5EF4-FFF2-40B4-BE49-F238E27FC236}">
                <a16:creationId xmlns:a16="http://schemas.microsoft.com/office/drawing/2014/main" id="{D5A92B42-CF52-0069-8B48-8E3E6E5DA3A2}"/>
              </a:ext>
            </a:extLst>
          </p:cNvPr>
          <p:cNvSpPr>
            <a:spLocks noGrp="1"/>
          </p:cNvSpPr>
          <p:nvPr>
            <p:ph type="body" sz="quarter" idx="27"/>
          </p:nvPr>
        </p:nvSpPr>
        <p:spPr>
          <a:xfrm>
            <a:off x="5961534" y="1948542"/>
            <a:ext cx="5238279" cy="4601983"/>
          </a:xfrm>
        </p:spPr>
        <p:txBody>
          <a:bodyPr/>
          <a:lstStyle/>
          <a:p>
            <a:r>
              <a:rPr lang="en-US"/>
              <a:t>Sell side diligence adjustments cont.</a:t>
            </a:r>
          </a:p>
          <a:p>
            <a:pPr marL="228600" indent="-228600">
              <a:spcAft>
                <a:spcPts val="400"/>
              </a:spcAft>
              <a:buFont typeface="+mj-lt"/>
              <a:buAutoNum type="alphaUcPeriod" startAt="5"/>
            </a:pPr>
            <a:r>
              <a:rPr lang="en-US">
                <a:solidFill>
                  <a:schemeClr val="tx1"/>
                </a:solidFill>
              </a:rPr>
              <a:t>Expense normalizations</a:t>
            </a:r>
            <a:r>
              <a:rPr lang="en-US" b="0">
                <a:solidFill>
                  <a:schemeClr val="tx1"/>
                </a:solidFill>
              </a:rPr>
              <a:t>: cont.</a:t>
            </a:r>
          </a:p>
          <a:p>
            <a:pPr marL="285750" indent="-285750">
              <a:spcAft>
                <a:spcPts val="400"/>
              </a:spcAft>
              <a:buFont typeface="+mj-lt"/>
              <a:buAutoNum type="romanLcPeriod" startAt="3"/>
            </a:pPr>
            <a:r>
              <a:rPr lang="en-US" b="0" i="1">
                <a:solidFill>
                  <a:srgbClr val="000000"/>
                </a:solidFill>
                <a:latin typeface="Arial" panose="020B0604020202020204" pitchFamily="34" charset="0"/>
              </a:rPr>
              <a:t>B</a:t>
            </a:r>
            <a:r>
              <a:rPr lang="en-US" b="0" i="1" strike="noStrike">
                <a:solidFill>
                  <a:srgbClr val="000000"/>
                </a:solidFill>
                <a:effectLst/>
                <a:latin typeface="Arial" panose="020B0604020202020204" pitchFamily="34" charset="0"/>
              </a:rPr>
              <a:t>ad debt normalization</a:t>
            </a:r>
            <a:r>
              <a:rPr lang="en-US" b="0" i="0" strike="noStrike">
                <a:solidFill>
                  <a:srgbClr val="000000"/>
                </a:solidFill>
                <a:effectLst/>
                <a:latin typeface="Arial" panose="020B0604020202020204" pitchFamily="34" charset="0"/>
              </a:rPr>
              <a:t>: The sell side bad debt adjustment normalises FY23 bad debt to align with bad debt as a percentage of revenue at 1.2%, consistent with FY22 and FY24 resulting in an adjustment of $0.4 million in FY23. Please see buy side adjustment #1 for refinement to this methodology. </a:t>
            </a:r>
            <a:endParaRPr lang="en-US" b="0">
              <a:solidFill>
                <a:srgbClr val="000000"/>
              </a:solidFill>
              <a:latin typeface="Arial" panose="020B0604020202020204" pitchFamily="34" charset="0"/>
            </a:endParaRPr>
          </a:p>
          <a:p>
            <a:pPr marL="285750" indent="-285750">
              <a:spcAft>
                <a:spcPts val="400"/>
              </a:spcAft>
              <a:buFont typeface="+mj-lt"/>
              <a:buAutoNum type="romanLcPeriod" startAt="3"/>
            </a:pPr>
            <a:r>
              <a:rPr lang="en-US" b="0" i="1">
                <a:solidFill>
                  <a:srgbClr val="000000"/>
                </a:solidFill>
                <a:latin typeface="Arial" panose="020B0604020202020204" pitchFamily="34" charset="0"/>
              </a:rPr>
              <a:t>Outreach normalization costs</a:t>
            </a:r>
            <a:r>
              <a:rPr lang="en-US" b="0">
                <a:solidFill>
                  <a:srgbClr val="000000"/>
                </a:solidFill>
                <a:latin typeface="Arial" panose="020B0604020202020204" pitchFamily="34" charset="0"/>
              </a:rPr>
              <a:t>: In FY23, Vortex incurred costs related to the implementation of Outreach software. This software was ultimately not deployed. The sell side adjustment adds back $0.1 million of cost in FY23 associated with the implementation and testing of the software.</a:t>
            </a:r>
          </a:p>
          <a:p>
            <a:pPr marL="285750" indent="-285750">
              <a:spcAft>
                <a:spcPts val="400"/>
              </a:spcAft>
              <a:buFont typeface="+mj-lt"/>
              <a:buAutoNum type="romanLcPeriod" startAt="3"/>
            </a:pPr>
            <a:r>
              <a:rPr lang="en-US" b="0" i="1">
                <a:solidFill>
                  <a:srgbClr val="000000"/>
                </a:solidFill>
                <a:latin typeface="Arial" panose="020B0604020202020204" pitchFamily="34" charset="0"/>
              </a:rPr>
              <a:t>Audit expense normalization</a:t>
            </a:r>
            <a:r>
              <a:rPr lang="en-US" b="0">
                <a:solidFill>
                  <a:srgbClr val="000000"/>
                </a:solidFill>
                <a:latin typeface="Arial" panose="020B0604020202020204" pitchFamily="34" charset="0"/>
              </a:rPr>
              <a:t>: According to Management, the audit fee per year amounted to €230k. As a result, a normalization adjustment has been included to adjust the difference between the actual expense recorded each year and the agreed fees (TTM Mar-25: $(23,000)).</a:t>
            </a:r>
            <a:endParaRPr lang="en-US" b="0">
              <a:solidFill>
                <a:schemeClr val="tx1"/>
              </a:solidFill>
            </a:endParaRPr>
          </a:p>
          <a:p>
            <a:pPr marL="228600" indent="-228600">
              <a:spcAft>
                <a:spcPts val="400"/>
              </a:spcAft>
              <a:buFont typeface="+mj-lt"/>
              <a:buAutoNum type="alphaUcPeriod" startAt="6"/>
            </a:pPr>
            <a:r>
              <a:rPr lang="en-US">
                <a:solidFill>
                  <a:schemeClr val="tx1"/>
                </a:solidFill>
              </a:rPr>
              <a:t>Non-recurring expenses</a:t>
            </a:r>
            <a:r>
              <a:rPr lang="en-US" b="0">
                <a:solidFill>
                  <a:schemeClr val="tx1"/>
                </a:solidFill>
              </a:rPr>
              <a:t>: Relate to the following expenses incurred in FY23:</a:t>
            </a:r>
          </a:p>
          <a:p>
            <a:pPr marL="285750" indent="-285750">
              <a:spcAft>
                <a:spcPts val="400"/>
              </a:spcAft>
              <a:buFont typeface="+mj-lt"/>
              <a:buAutoNum type="romanLcPeriod"/>
            </a:pPr>
            <a:r>
              <a:rPr lang="en-US" b="0" i="1">
                <a:solidFill>
                  <a:schemeClr val="tx1"/>
                </a:solidFill>
              </a:rPr>
              <a:t>Sales tax</a:t>
            </a:r>
            <a:r>
              <a:rPr lang="en-US" b="0">
                <a:solidFill>
                  <a:schemeClr val="tx1"/>
                </a:solidFill>
              </a:rPr>
              <a:t>: Between Apr-23 and Dec-23, Vortex did not have a system available in the U.S. to charge sales taxes to customers. In FY24, this system became operational. This adjustment adds back the cost incurred relating to the taxes that were settled by Vortex but not recovered from customers (FY23: $0.2 million). Note, we have also adjusted NWC and net debt for these non-recurring costs (NWC adj. #D).</a:t>
            </a:r>
          </a:p>
          <a:p>
            <a:pPr marL="285750" indent="-285750">
              <a:spcAft>
                <a:spcPts val="400"/>
              </a:spcAft>
              <a:buFont typeface="+mj-lt"/>
              <a:buAutoNum type="romanLcPeriod"/>
            </a:pPr>
            <a:r>
              <a:rPr lang="en-US" b="0" i="1">
                <a:solidFill>
                  <a:schemeClr val="tx1"/>
                </a:solidFill>
              </a:rPr>
              <a:t>NetSuite FC implementation pre-attempt</a:t>
            </a:r>
            <a:r>
              <a:rPr lang="en-US" b="0">
                <a:solidFill>
                  <a:schemeClr val="tx1"/>
                </a:solidFill>
              </a:rPr>
              <a:t>: Post acquisition of Fastcase in FY23, Vortex incurred $0.1 million in one-time NetSuite implementation fees. This adjustment adds back these non-recurring costs to adjusted EBITDA.</a:t>
            </a:r>
          </a:p>
          <a:p>
            <a:pPr marL="285750" indent="-285750">
              <a:spcAft>
                <a:spcPts val="400"/>
              </a:spcAft>
              <a:buFont typeface="+mj-lt"/>
              <a:buAutoNum type="romanLcPeriod"/>
            </a:pPr>
            <a:r>
              <a:rPr lang="en-US" b="0" i="1">
                <a:solidFill>
                  <a:schemeClr val="tx1"/>
                </a:solidFill>
              </a:rPr>
              <a:t>Non-recurrent Visa expenses</a:t>
            </a:r>
            <a:r>
              <a:rPr lang="en-US" b="0">
                <a:solidFill>
                  <a:schemeClr val="tx1"/>
                </a:solidFill>
              </a:rPr>
              <a:t>: Due to the Oakley acquisition, two employees converted their U.S. visas to E-class (FY23: $27,000). This adjustments adds back these costs.</a:t>
            </a:r>
          </a:p>
          <a:p>
            <a:pPr marL="228600" indent="-228600">
              <a:buFont typeface="+mj-lt"/>
              <a:buAutoNum type="alphaUcPeriod" startAt="3"/>
            </a:pPr>
            <a:endParaRPr lang="en-US" b="0">
              <a:solidFill>
                <a:schemeClr val="tx1"/>
              </a:solidFill>
            </a:endParaRPr>
          </a:p>
          <a:p>
            <a:pPr marL="228600" indent="-228600">
              <a:buFont typeface="+mj-lt"/>
              <a:buAutoNum type="alphaUcPeriod" startAt="3"/>
            </a:pPr>
            <a:endParaRPr lang="en-US" b="0">
              <a:solidFill>
                <a:schemeClr val="tx1"/>
              </a:solidFill>
            </a:endParaRPr>
          </a:p>
          <a:p>
            <a:endParaRPr lang="en-US" b="0">
              <a:solidFill>
                <a:schemeClr val="tx1"/>
              </a:solidFill>
            </a:endParaRPr>
          </a:p>
          <a:p>
            <a:endParaRPr lang="en-US" b="0">
              <a:solidFill>
                <a:schemeClr val="tx1"/>
              </a:solidFill>
            </a:endParaRPr>
          </a:p>
        </p:txBody>
      </p:sp>
      <p:pic>
        <p:nvPicPr>
          <p:cNvPr id="18" name="Picture 17">
            <a:extLst>
              <a:ext uri="{FF2B5EF4-FFF2-40B4-BE49-F238E27FC236}">
                <a16:creationId xmlns:a16="http://schemas.microsoft.com/office/drawing/2014/main" id="{C937B6C2-199A-179B-40BB-29AAD1CED060}"/>
              </a:ext>
            </a:extLst>
          </p:cNvPr>
          <p:cNvPicPr>
            <a:picLocks noChangeAspect="1"/>
          </p:cNvPicPr>
          <p:nvPr>
            <p:custDataLst>
              <p:tags r:id="rId4"/>
            </p:custDataLst>
          </p:nvPr>
        </p:nvPicPr>
        <p:blipFill>
          <a:blip r:embed="rId10"/>
          <a:stretch>
            <a:fillRect/>
          </a:stretch>
        </p:blipFill>
        <p:spPr>
          <a:xfrm>
            <a:off x="987207" y="1640315"/>
            <a:ext cx="4114800" cy="3242501"/>
          </a:xfrm>
          <a:prstGeom prst="rect">
            <a:avLst/>
          </a:prstGeom>
        </p:spPr>
      </p:pic>
      <p:sp>
        <p:nvSpPr>
          <p:cNvPr id="20" name="Text Placeholder 12">
            <a:extLst>
              <a:ext uri="{FF2B5EF4-FFF2-40B4-BE49-F238E27FC236}">
                <a16:creationId xmlns:a16="http://schemas.microsoft.com/office/drawing/2014/main" id="{AC533136-DC2C-FB0A-4EC7-B15F55B99BDE}"/>
              </a:ext>
            </a:extLst>
          </p:cNvPr>
          <p:cNvSpPr txBox="1">
            <a:spLocks/>
          </p:cNvSpPr>
          <p:nvPr/>
        </p:nvSpPr>
        <p:spPr>
          <a:xfrm>
            <a:off x="998400" y="5868000"/>
            <a:ext cx="4125480"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Source: 	2.2.2.6_20250515 Project Vortex - Databook - PL.xlsx; 2.2_Vortex - External Customer Cube (March 	2025).xlsx; KPMG analysis</a:t>
            </a:r>
          </a:p>
        </p:txBody>
      </p:sp>
      <p:grpSp>
        <p:nvGrpSpPr>
          <p:cNvPr id="73" name="Group 72">
            <a:extLst>
              <a:ext uri="{FF2B5EF4-FFF2-40B4-BE49-F238E27FC236}">
                <a16:creationId xmlns:a16="http://schemas.microsoft.com/office/drawing/2014/main" id="{F1507839-17A7-CE58-1982-3EE45D093E97}"/>
              </a:ext>
            </a:extLst>
          </p:cNvPr>
          <p:cNvGrpSpPr/>
          <p:nvPr>
            <p:custDataLst>
              <p:tags r:id="rId5"/>
            </p:custDataLst>
          </p:nvPr>
        </p:nvGrpSpPr>
        <p:grpSpPr>
          <a:xfrm>
            <a:off x="995364" y="153170"/>
            <a:ext cx="7468796" cy="195814"/>
            <a:chOff x="995364" y="153170"/>
            <a:chExt cx="7468796" cy="195814"/>
          </a:xfrm>
        </p:grpSpPr>
        <p:sp>
          <p:nvSpPr>
            <p:cNvPr id="74"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75"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76" name="Current Section3">
              <a:hlinkClick r:id="rId13" action="ppaction://hlinksldjump"/>
              <a:extLst>
                <a:ext uri="{FF2B5EF4-FFF2-40B4-BE49-F238E27FC236}">
                  <a16:creationId xmlns:a16="http://schemas.microsoft.com/office/drawing/2014/main" id="{89A61135-1F00-E77F-7C78-5FBA241A5742}"/>
                </a:ext>
              </a:extLst>
            </p:cNvPr>
            <p:cNvSpPr>
              <a:spLocks/>
            </p:cNvSpPr>
            <p:nvPr/>
          </p:nvSpPr>
          <p:spPr>
            <a:xfrm>
              <a:off x="3325196" y="153170"/>
              <a:ext cx="154803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b="1">
                  <a:solidFill>
                    <a:schemeClr val="tx2"/>
                  </a:solidFill>
                  <a:latin typeface="Arial" panose="020B0604020202020204" pitchFamily="34" charset="0"/>
                  <a:cs typeface="Arial" panose="020B0604020202020204" pitchFamily="34" charset="0"/>
                </a:rPr>
                <a:t>Quality of earnings / run rate</a:t>
              </a:r>
              <a:endParaRPr lang="en-SG" sz="800" b="1">
                <a:solidFill>
                  <a:schemeClr val="tx2"/>
                </a:solidFill>
                <a:latin typeface="Arial" panose="020B0604020202020204" pitchFamily="34" charset="0"/>
                <a:cs typeface="Arial" panose="020B0604020202020204" pitchFamily="34" charset="0"/>
              </a:endParaRPr>
            </a:p>
          </p:txBody>
        </p:sp>
        <p:sp>
          <p:nvSpPr>
            <p:cNvPr id="77"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873230"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78"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674265"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79"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777533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2014662"/>
      </p:ext>
    </p:extLst>
  </p:cSld>
  <p:clrMapOvr>
    <a:masterClrMapping/>
  </p:clrMapOvr>
  <p:extLst>
    <p:ext uri="{6950BFC3-D8DA-4A85-94F7-54DA5524770B}">
      <p188:commentRel xmlns:p188="http://schemas.microsoft.com/office/powerpoint/2018/8/main" r:id="rId7"/>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27C922A0-712E-D49A-91C8-6325519BB78F}"/>
              </a:ext>
            </a:extLst>
          </p:cNvPr>
          <p:cNvSpPr>
            <a:spLocks noGrp="1"/>
          </p:cNvSpPr>
          <p:nvPr>
            <p:ph type="body" sz="quarter" idx="10"/>
          </p:nvPr>
        </p:nvSpPr>
        <p:spPr>
          <a:xfrm>
            <a:off x="995363" y="1177695"/>
            <a:ext cx="10195200" cy="460800"/>
          </a:xfrm>
        </p:spPr>
        <p:txBody>
          <a:bodyPr/>
          <a:lstStyle/>
          <a:p>
            <a:r>
              <a:rPr lang="en-US">
                <a:solidFill>
                  <a:srgbClr val="00338D"/>
                </a:solidFill>
              </a:rPr>
              <a:t>Sell side adjusted EBITDA reflects the impact of transactional operations in foreign currencies (adj. #G). These are tracked separately and are operational in nature. </a:t>
            </a:r>
            <a:endParaRPr lang="fi-FI">
              <a:solidFill>
                <a:srgbClr val="00338D"/>
              </a:solidFill>
            </a:endParaRPr>
          </a:p>
          <a:p>
            <a:r>
              <a:rPr lang="fi-FI">
                <a:solidFill>
                  <a:srgbClr val="00338D"/>
                </a:solidFill>
              </a:rPr>
              <a:t>We have refined sell side adjustments to bad debt, reducing EBITDA by $(0.2) million in TTM Mar-25 (adj. #1). We also propose other minimal refinements to the sell side EBITDA $(36,000) in FY24) (adj. #2&amp;3).</a:t>
            </a:r>
          </a:p>
        </p:txBody>
      </p:sp>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a:t>Quality of earnings (4/7) </a:t>
            </a:r>
          </a:p>
        </p:txBody>
      </p:sp>
      <p:sp>
        <p:nvSpPr>
          <p:cNvPr id="17" name="Text Placeholder 16">
            <a:extLst>
              <a:ext uri="{FF2B5EF4-FFF2-40B4-BE49-F238E27FC236}">
                <a16:creationId xmlns:a16="http://schemas.microsoft.com/office/drawing/2014/main" id="{369D0C06-681C-C96C-F751-62A145C0E8D0}"/>
              </a:ext>
            </a:extLst>
          </p:cNvPr>
          <p:cNvSpPr>
            <a:spLocks noGrp="1"/>
          </p:cNvSpPr>
          <p:nvPr>
            <p:ph type="body" sz="quarter" idx="11"/>
          </p:nvPr>
        </p:nvSpPr>
        <p:spPr>
          <a:xfrm>
            <a:off x="5963476" y="1718278"/>
            <a:ext cx="5238279" cy="252000"/>
          </a:xfrm>
        </p:spPr>
        <p:txBody>
          <a:bodyPr/>
          <a:lstStyle/>
          <a:p>
            <a:r>
              <a:rPr lang="fi-FI"/>
              <a:t>Commentary</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22" name="Text Placeholder 21">
            <a:extLst>
              <a:ext uri="{FF2B5EF4-FFF2-40B4-BE49-F238E27FC236}">
                <a16:creationId xmlns:a16="http://schemas.microsoft.com/office/drawing/2014/main" id="{D5A92B42-CF52-0069-8B48-8E3E6E5DA3A2}"/>
              </a:ext>
            </a:extLst>
          </p:cNvPr>
          <p:cNvSpPr>
            <a:spLocks noGrp="1"/>
          </p:cNvSpPr>
          <p:nvPr>
            <p:ph type="body" sz="quarter" idx="27"/>
          </p:nvPr>
        </p:nvSpPr>
        <p:spPr>
          <a:xfrm>
            <a:off x="5961534" y="2024742"/>
            <a:ext cx="5238279" cy="4601983"/>
          </a:xfrm>
        </p:spPr>
        <p:txBody>
          <a:bodyPr/>
          <a:lstStyle/>
          <a:p>
            <a:r>
              <a:rPr lang="en-US"/>
              <a:t>Sell side diligence adjustments cont.</a:t>
            </a:r>
          </a:p>
          <a:p>
            <a:pPr marL="228600" indent="-228600">
              <a:buFont typeface="+mj-lt"/>
              <a:buAutoNum type="alphaUcPeriod" startAt="7"/>
            </a:pPr>
            <a:r>
              <a:rPr lang="en-US">
                <a:solidFill>
                  <a:schemeClr val="tx1"/>
                </a:solidFill>
              </a:rPr>
              <a:t>Realized transactional FX gain / loss</a:t>
            </a:r>
            <a:r>
              <a:rPr lang="en-US" b="0">
                <a:solidFill>
                  <a:schemeClr val="tx1"/>
                </a:solidFill>
              </a:rPr>
              <a:t>: The sell side adjustment reflects the impact of transactional operations in foreign currencies during the Historical Period. These are tracked as specific trial balance accounts which are designated as operational in nature. This adjustment reclassifies this portion of FX gains/losses to be included in adjusted EBITDA.</a:t>
            </a:r>
          </a:p>
          <a:p>
            <a:r>
              <a:rPr lang="en-US"/>
              <a:t>Buy side diligence adjustments</a:t>
            </a:r>
          </a:p>
          <a:p>
            <a:pPr marL="228600" indent="-228600">
              <a:buFont typeface="+mj-lt"/>
              <a:buAutoNum type="arabicPeriod"/>
            </a:pPr>
            <a:r>
              <a:rPr lang="en-US">
                <a:solidFill>
                  <a:schemeClr val="tx1"/>
                </a:solidFill>
              </a:rPr>
              <a:t>Bad debt</a:t>
            </a:r>
            <a:r>
              <a:rPr lang="en-US" b="0">
                <a:solidFill>
                  <a:schemeClr val="tx1"/>
                </a:solidFill>
              </a:rPr>
              <a:t>: A&amp;M’s sell side databook includes an adjustment for bad debt (adj. E) which normalises bad debt in FY23 to an average percent of revenue in FY22 and FY24. However, using this approach does not consider out of period bad debt credits recorded in FY24 ($0.5 million). We recalculated this adjustment to determine bad debt as a % of revenue from Jan-23 to Dec-24 (1.6%) and allocated bad debt expense accordingly, resulting in incremental bad debt cost in each period.</a:t>
            </a:r>
          </a:p>
          <a:p>
            <a:pPr marL="228600" indent="-228600">
              <a:buFont typeface="+mj-lt"/>
              <a:buAutoNum type="arabicPeriod"/>
            </a:pPr>
            <a:r>
              <a:rPr lang="en-US">
                <a:solidFill>
                  <a:schemeClr val="tx1"/>
                </a:solidFill>
              </a:rPr>
              <a:t>Bonus normalization</a:t>
            </a:r>
            <a:r>
              <a:rPr lang="en-US" b="0">
                <a:solidFill>
                  <a:schemeClr val="tx1"/>
                </a:solidFill>
              </a:rPr>
              <a:t>: In support for adj. E provided by Management, A&amp;M noted they discovered additional out of period bonus payments during their roll-forward work ($23,000) but did not wish to restate the previous adjustment. We have included this additional normalization to reflect the support provided.</a:t>
            </a:r>
          </a:p>
          <a:p>
            <a:pPr marL="228600" indent="-228600">
              <a:buFont typeface="+mj-lt"/>
              <a:buAutoNum type="arabicPeriod"/>
            </a:pPr>
            <a:r>
              <a:rPr lang="en-US">
                <a:solidFill>
                  <a:schemeClr val="tx1"/>
                </a:solidFill>
              </a:rPr>
              <a:t>Software cost savings</a:t>
            </a:r>
            <a:r>
              <a:rPr lang="en-US" b="0">
                <a:solidFill>
                  <a:schemeClr val="tx1"/>
                </a:solidFill>
              </a:rPr>
              <a:t>: Similar to above, in support provided by Management, A&amp;M noted refinement to an adjustment for software costs in the roll forward period however did not wish to restate the previous adjustment provided. We have included this additional adjustment to reflect the support provided.</a:t>
            </a:r>
          </a:p>
          <a:p>
            <a:pPr marL="228600" indent="-228600">
              <a:buFont typeface="+mj-lt"/>
              <a:buAutoNum type="alphaUcPeriod" startAt="7"/>
            </a:pPr>
            <a:endParaRPr lang="en-US" b="0">
              <a:solidFill>
                <a:schemeClr val="tx1"/>
              </a:solidFill>
            </a:endParaRPr>
          </a:p>
          <a:p>
            <a:endParaRPr lang="en-US" b="0">
              <a:solidFill>
                <a:schemeClr val="tx1"/>
              </a:solidFill>
            </a:endParaRPr>
          </a:p>
          <a:p>
            <a:endParaRPr lang="en-US" b="0">
              <a:solidFill>
                <a:schemeClr val="tx1"/>
              </a:solidFill>
            </a:endParaRPr>
          </a:p>
        </p:txBody>
      </p:sp>
      <p:pic>
        <p:nvPicPr>
          <p:cNvPr id="18" name="Picture 17">
            <a:extLst>
              <a:ext uri="{FF2B5EF4-FFF2-40B4-BE49-F238E27FC236}">
                <a16:creationId xmlns:a16="http://schemas.microsoft.com/office/drawing/2014/main" id="{98C71B24-94CB-5E9C-2E14-9C0C7A3B0DED}"/>
              </a:ext>
            </a:extLst>
          </p:cNvPr>
          <p:cNvPicPr>
            <a:picLocks noChangeAspect="1"/>
          </p:cNvPicPr>
          <p:nvPr>
            <p:custDataLst>
              <p:tags r:id="rId4"/>
            </p:custDataLst>
          </p:nvPr>
        </p:nvPicPr>
        <p:blipFill>
          <a:blip r:embed="rId9"/>
          <a:stretch>
            <a:fillRect/>
          </a:stretch>
        </p:blipFill>
        <p:spPr>
          <a:xfrm>
            <a:off x="987207" y="1716517"/>
            <a:ext cx="4114800" cy="4076637"/>
          </a:xfrm>
          <a:prstGeom prst="rect">
            <a:avLst/>
          </a:prstGeom>
        </p:spPr>
      </p:pic>
      <p:sp>
        <p:nvSpPr>
          <p:cNvPr id="26" name="Text Placeholder 12">
            <a:extLst>
              <a:ext uri="{FF2B5EF4-FFF2-40B4-BE49-F238E27FC236}">
                <a16:creationId xmlns:a16="http://schemas.microsoft.com/office/drawing/2014/main" id="{73730948-5DB7-BF81-4259-57035C1880F0}"/>
              </a:ext>
            </a:extLst>
          </p:cNvPr>
          <p:cNvSpPr txBox="1">
            <a:spLocks/>
          </p:cNvSpPr>
          <p:nvPr/>
        </p:nvSpPr>
        <p:spPr>
          <a:xfrm>
            <a:off x="998400" y="5868000"/>
            <a:ext cx="4125480"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Source: 	2.2.2.6_20250515 Project Vortex - Databook - PL.xlsx; 2.2_Vortex - External Customer Cube (March 	2025).xlsx; KPMG analysis</a:t>
            </a:r>
          </a:p>
        </p:txBody>
      </p:sp>
      <p:grpSp>
        <p:nvGrpSpPr>
          <p:cNvPr id="73" name="Group 72">
            <a:extLst>
              <a:ext uri="{FF2B5EF4-FFF2-40B4-BE49-F238E27FC236}">
                <a16:creationId xmlns:a16="http://schemas.microsoft.com/office/drawing/2014/main" id="{F1507839-17A7-CE58-1982-3EE45D093E97}"/>
              </a:ext>
            </a:extLst>
          </p:cNvPr>
          <p:cNvGrpSpPr/>
          <p:nvPr>
            <p:custDataLst>
              <p:tags r:id="rId5"/>
            </p:custDataLst>
          </p:nvPr>
        </p:nvGrpSpPr>
        <p:grpSpPr>
          <a:xfrm>
            <a:off x="995364" y="153170"/>
            <a:ext cx="7468796" cy="195814"/>
            <a:chOff x="995364" y="153170"/>
            <a:chExt cx="7468796" cy="195814"/>
          </a:xfrm>
        </p:grpSpPr>
        <p:sp>
          <p:nvSpPr>
            <p:cNvPr id="74"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75"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76" name="Current Section3">
              <a:hlinkClick r:id="rId12" action="ppaction://hlinksldjump"/>
              <a:extLst>
                <a:ext uri="{FF2B5EF4-FFF2-40B4-BE49-F238E27FC236}">
                  <a16:creationId xmlns:a16="http://schemas.microsoft.com/office/drawing/2014/main" id="{89A61135-1F00-E77F-7C78-5FBA241A5742}"/>
                </a:ext>
              </a:extLst>
            </p:cNvPr>
            <p:cNvSpPr>
              <a:spLocks/>
            </p:cNvSpPr>
            <p:nvPr/>
          </p:nvSpPr>
          <p:spPr>
            <a:xfrm>
              <a:off x="3325196" y="153170"/>
              <a:ext cx="154803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b="1">
                  <a:solidFill>
                    <a:schemeClr val="tx2"/>
                  </a:solidFill>
                  <a:latin typeface="Arial" panose="020B0604020202020204" pitchFamily="34" charset="0"/>
                  <a:cs typeface="Arial" panose="020B0604020202020204" pitchFamily="34" charset="0"/>
                </a:rPr>
                <a:t>Quality of earnings / run rate</a:t>
              </a:r>
              <a:endParaRPr lang="en-SG" sz="800" b="1">
                <a:solidFill>
                  <a:schemeClr val="tx2"/>
                </a:solidFill>
                <a:latin typeface="Arial" panose="020B0604020202020204" pitchFamily="34" charset="0"/>
                <a:cs typeface="Arial" panose="020B0604020202020204" pitchFamily="34" charset="0"/>
              </a:endParaRPr>
            </a:p>
          </p:txBody>
        </p:sp>
        <p:sp>
          <p:nvSpPr>
            <p:cNvPr id="77"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873230"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78"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674265"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79"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777533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4751771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a:t>Quality of earnings (5/7) </a:t>
            </a:r>
          </a:p>
        </p:txBody>
      </p:sp>
      <p:sp>
        <p:nvSpPr>
          <p:cNvPr id="17" name="Text Placeholder 16">
            <a:extLst>
              <a:ext uri="{FF2B5EF4-FFF2-40B4-BE49-F238E27FC236}">
                <a16:creationId xmlns:a16="http://schemas.microsoft.com/office/drawing/2014/main" id="{369D0C06-681C-C96C-F751-62A145C0E8D0}"/>
              </a:ext>
            </a:extLst>
          </p:cNvPr>
          <p:cNvSpPr>
            <a:spLocks noGrp="1"/>
          </p:cNvSpPr>
          <p:nvPr>
            <p:ph type="body" sz="quarter" idx="11"/>
          </p:nvPr>
        </p:nvSpPr>
        <p:spPr>
          <a:xfrm>
            <a:off x="5963476" y="1642078"/>
            <a:ext cx="5238279" cy="252000"/>
          </a:xfrm>
        </p:spPr>
        <p:txBody>
          <a:bodyPr/>
          <a:lstStyle/>
          <a:p>
            <a:r>
              <a:rPr lang="fi-FI"/>
              <a:t>Commentary</a:t>
            </a:r>
          </a:p>
        </p:txBody>
      </p:sp>
      <p:sp>
        <p:nvSpPr>
          <p:cNvPr id="16" name="Text Placeholder 15">
            <a:extLst>
              <a:ext uri="{FF2B5EF4-FFF2-40B4-BE49-F238E27FC236}">
                <a16:creationId xmlns:a16="http://schemas.microsoft.com/office/drawing/2014/main" id="{27C922A0-712E-D49A-91C8-6325519BB78F}"/>
              </a:ext>
            </a:extLst>
          </p:cNvPr>
          <p:cNvSpPr>
            <a:spLocks noGrp="1"/>
          </p:cNvSpPr>
          <p:nvPr>
            <p:ph type="body" sz="quarter" idx="10"/>
          </p:nvPr>
        </p:nvSpPr>
        <p:spPr>
          <a:xfrm>
            <a:off x="995361" y="1179513"/>
            <a:ext cx="10204452" cy="460800"/>
          </a:xfrm>
        </p:spPr>
        <p:txBody>
          <a:bodyPr/>
          <a:lstStyle/>
          <a:p>
            <a:r>
              <a:rPr lang="fi-FI">
                <a:solidFill>
                  <a:srgbClr val="00338D"/>
                </a:solidFill>
              </a:rPr>
              <a:t>We include a $(0.2) million adjustment in TTM Mar-25 to allocate the FY24 year end royalties and bonus true up monthly (adj. #4).</a:t>
            </a:r>
          </a:p>
          <a:p>
            <a:r>
              <a:rPr lang="fi-FI">
                <a:solidFill>
                  <a:srgbClr val="00338D"/>
                </a:solidFill>
              </a:rPr>
              <a:t>Sell side pro forma adjustments relate to software cost savings (adj. #H), lease savings (adj. #I) and healthcare savings (adj. #J) ($0.3 million in TTM Mar-25).</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22" name="Text Placeholder 21">
            <a:extLst>
              <a:ext uri="{FF2B5EF4-FFF2-40B4-BE49-F238E27FC236}">
                <a16:creationId xmlns:a16="http://schemas.microsoft.com/office/drawing/2014/main" id="{D5A92B42-CF52-0069-8B48-8E3E6E5DA3A2}"/>
              </a:ext>
            </a:extLst>
          </p:cNvPr>
          <p:cNvSpPr>
            <a:spLocks noGrp="1"/>
          </p:cNvSpPr>
          <p:nvPr>
            <p:ph type="body" sz="quarter" idx="27"/>
          </p:nvPr>
        </p:nvSpPr>
        <p:spPr>
          <a:xfrm>
            <a:off x="5961534" y="1948543"/>
            <a:ext cx="5238279" cy="3919457"/>
          </a:xfrm>
        </p:spPr>
        <p:txBody>
          <a:bodyPr/>
          <a:lstStyle/>
          <a:p>
            <a:pPr>
              <a:spcAft>
                <a:spcPts val="400"/>
              </a:spcAft>
            </a:pPr>
            <a:r>
              <a:rPr lang="en-US"/>
              <a:t>Buy side diligence adjustments cont.</a:t>
            </a:r>
          </a:p>
          <a:p>
            <a:pPr marL="228600" indent="-228600">
              <a:spcAft>
                <a:spcPts val="400"/>
              </a:spcAft>
              <a:buFont typeface="+mj-lt"/>
              <a:buAutoNum type="arabicPeriod" startAt="4"/>
            </a:pPr>
            <a:r>
              <a:rPr lang="en-US">
                <a:solidFill>
                  <a:schemeClr val="tx1"/>
                </a:solidFill>
              </a:rPr>
              <a:t>FY24 year end adjustments</a:t>
            </a:r>
            <a:r>
              <a:rPr lang="en-US" b="0">
                <a:solidFill>
                  <a:schemeClr val="tx1"/>
                </a:solidFill>
              </a:rPr>
              <a:t>: In Dec-24, Management recorded year end adjustments relating to bonus ($0.5 million) and royalties ($0.3 million). In this adjustment we allocate the year end true up monthly during FY24 as a percentage of the corresponding costs. Note, this adjustment is included for consideration of TTM Mar-25 and has no impact on the fiscal years. Refer to NWC adj. #3 for the balance sheet impact.</a:t>
            </a:r>
          </a:p>
          <a:p>
            <a:pPr marL="228600" indent="-228600">
              <a:spcAft>
                <a:spcPts val="400"/>
              </a:spcAft>
              <a:buFont typeface="+mj-lt"/>
              <a:buAutoNum type="arabicPeriod" startAt="4"/>
            </a:pPr>
            <a:r>
              <a:rPr lang="en-US">
                <a:solidFill>
                  <a:schemeClr val="tx1"/>
                </a:solidFill>
              </a:rPr>
              <a:t>Hein licenses</a:t>
            </a:r>
            <a:r>
              <a:rPr lang="en-US" b="0">
                <a:solidFill>
                  <a:schemeClr val="tx1"/>
                </a:solidFill>
              </a:rPr>
              <a:t>: Management recorded true ups relating to Hein software licensing In Dec-24 and Mar-25, which related to the period from Jan-23 to Mar-25. In this adjustment, we allocate the true ups monthly over the Historical Period as a percentage of total cost to reflect the Hein license cost related to each period.</a:t>
            </a:r>
          </a:p>
          <a:p>
            <a:pPr>
              <a:spcAft>
                <a:spcPts val="400"/>
              </a:spcAft>
            </a:pPr>
            <a:r>
              <a:rPr lang="en-US"/>
              <a:t>Sell side pro forma adjustments</a:t>
            </a:r>
          </a:p>
          <a:p>
            <a:pPr>
              <a:spcAft>
                <a:spcPts val="400"/>
              </a:spcAft>
            </a:pPr>
            <a:r>
              <a:rPr lang="en-US" b="0" i="1">
                <a:solidFill>
                  <a:schemeClr val="tx1"/>
                </a:solidFill>
              </a:rPr>
              <a:t>Note that these are presented for FY23, FY24 and TTM Mar-25 in the A&amp;M databook but we only present TTM Mar-25 here for the purposes of presenting a buy side TTM Mar-25 run rate EBITDA. See pages 17-18 for full sell side EBITDA analysis.</a:t>
            </a:r>
          </a:p>
          <a:p>
            <a:pPr marL="228600" indent="-228600">
              <a:spcAft>
                <a:spcPts val="400"/>
              </a:spcAft>
              <a:buFont typeface="+mj-lt"/>
              <a:buAutoNum type="alphaUcPeriod" startAt="8"/>
            </a:pPr>
            <a:r>
              <a:rPr lang="en-US">
                <a:solidFill>
                  <a:schemeClr val="tx1"/>
                </a:solidFill>
              </a:rPr>
              <a:t>Software cost savings</a:t>
            </a:r>
            <a:r>
              <a:rPr lang="en-US" b="0">
                <a:solidFill>
                  <a:schemeClr val="tx1"/>
                </a:solidFill>
              </a:rPr>
              <a:t>: In FY24, Vortex reduced software costs by centralizing initiatives, eliminating redundancies of software tools/solutions and reducing licenses for those who do not require them. The software savings can primarily be attributed to Salesforce, MailChimp, NetSuite and Trusted Tech Team. This adjustment assumes the latest software cost had been in place throughout the Historical Period. </a:t>
            </a:r>
          </a:p>
          <a:p>
            <a:pPr marL="228600" indent="-228600">
              <a:spcAft>
                <a:spcPts val="400"/>
              </a:spcAft>
              <a:buFont typeface="+mj-lt"/>
              <a:buAutoNum type="alphaUcPeriod" startAt="8"/>
            </a:pPr>
            <a:r>
              <a:rPr lang="en-US">
                <a:solidFill>
                  <a:schemeClr val="tx1"/>
                </a:solidFill>
              </a:rPr>
              <a:t>Lease savings</a:t>
            </a:r>
            <a:r>
              <a:rPr lang="en-US" b="0">
                <a:solidFill>
                  <a:schemeClr val="tx1"/>
                </a:solidFill>
              </a:rPr>
              <a:t>: In Feb-25, Vortex signed new contracts for office spaces in Barcelona and Washington resulting in savings of $34,000 and $50,000 respectively, in TTM Mar-25. The sell side databook indicated savings have been realized since Apr-25. This adjustment assumes the current rent agreements had been in place throughout the Historical Period.</a:t>
            </a:r>
          </a:p>
          <a:p>
            <a:pPr marL="228600" indent="-228600">
              <a:buFont typeface="+mj-lt"/>
              <a:buAutoNum type="alphaUcPeriod" startAt="3"/>
            </a:pPr>
            <a:endParaRPr lang="en-US" b="0">
              <a:solidFill>
                <a:schemeClr val="tx1"/>
              </a:solidFill>
            </a:endParaRPr>
          </a:p>
          <a:p>
            <a:endParaRPr lang="en-US" b="0">
              <a:solidFill>
                <a:schemeClr val="tx1"/>
              </a:solidFill>
            </a:endParaRPr>
          </a:p>
          <a:p>
            <a:endParaRPr lang="en-US" b="0">
              <a:solidFill>
                <a:schemeClr val="tx1"/>
              </a:solidFill>
            </a:endParaRPr>
          </a:p>
        </p:txBody>
      </p:sp>
      <p:pic>
        <p:nvPicPr>
          <p:cNvPr id="18" name="Picture 17">
            <a:extLst>
              <a:ext uri="{FF2B5EF4-FFF2-40B4-BE49-F238E27FC236}">
                <a16:creationId xmlns:a16="http://schemas.microsoft.com/office/drawing/2014/main" id="{099AD66B-D791-C93F-F0C9-FB356406577C}"/>
              </a:ext>
            </a:extLst>
          </p:cNvPr>
          <p:cNvPicPr>
            <a:picLocks noChangeAspect="1"/>
          </p:cNvPicPr>
          <p:nvPr>
            <p:custDataLst>
              <p:tags r:id="rId4"/>
            </p:custDataLst>
          </p:nvPr>
        </p:nvPicPr>
        <p:blipFill>
          <a:blip r:embed="rId10"/>
          <a:stretch>
            <a:fillRect/>
          </a:stretch>
        </p:blipFill>
        <p:spPr>
          <a:xfrm>
            <a:off x="987207" y="1640316"/>
            <a:ext cx="4114800" cy="3937614"/>
          </a:xfrm>
          <a:prstGeom prst="rect">
            <a:avLst/>
          </a:prstGeom>
        </p:spPr>
      </p:pic>
      <p:sp>
        <p:nvSpPr>
          <p:cNvPr id="20" name="Text Placeholder 12">
            <a:extLst>
              <a:ext uri="{FF2B5EF4-FFF2-40B4-BE49-F238E27FC236}">
                <a16:creationId xmlns:a16="http://schemas.microsoft.com/office/drawing/2014/main" id="{9161AFC7-54EF-AD39-D832-DF6F93CE28E9}"/>
              </a:ext>
            </a:extLst>
          </p:cNvPr>
          <p:cNvSpPr txBox="1">
            <a:spLocks/>
          </p:cNvSpPr>
          <p:nvPr/>
        </p:nvSpPr>
        <p:spPr>
          <a:xfrm>
            <a:off x="998400" y="5868000"/>
            <a:ext cx="4125480"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Source: 	2.2.2.6_20250515 Project Vortex - Databook - PL.xlsx; 2.2_Vortex - External Customer Cube (March 	2025).xlsx; KPMG analysis</a:t>
            </a:r>
          </a:p>
        </p:txBody>
      </p:sp>
      <p:grpSp>
        <p:nvGrpSpPr>
          <p:cNvPr id="73" name="Group 72">
            <a:extLst>
              <a:ext uri="{FF2B5EF4-FFF2-40B4-BE49-F238E27FC236}">
                <a16:creationId xmlns:a16="http://schemas.microsoft.com/office/drawing/2014/main" id="{F1507839-17A7-CE58-1982-3EE45D093E97}"/>
              </a:ext>
            </a:extLst>
          </p:cNvPr>
          <p:cNvGrpSpPr/>
          <p:nvPr>
            <p:custDataLst>
              <p:tags r:id="rId5"/>
            </p:custDataLst>
          </p:nvPr>
        </p:nvGrpSpPr>
        <p:grpSpPr>
          <a:xfrm>
            <a:off x="995364" y="153170"/>
            <a:ext cx="7468796" cy="195814"/>
            <a:chOff x="995364" y="153170"/>
            <a:chExt cx="7468796" cy="195814"/>
          </a:xfrm>
        </p:grpSpPr>
        <p:sp>
          <p:nvSpPr>
            <p:cNvPr id="74"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75"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76" name="Current Section3">
              <a:hlinkClick r:id="rId13" action="ppaction://hlinksldjump"/>
              <a:extLst>
                <a:ext uri="{FF2B5EF4-FFF2-40B4-BE49-F238E27FC236}">
                  <a16:creationId xmlns:a16="http://schemas.microsoft.com/office/drawing/2014/main" id="{89A61135-1F00-E77F-7C78-5FBA241A5742}"/>
                </a:ext>
              </a:extLst>
            </p:cNvPr>
            <p:cNvSpPr>
              <a:spLocks/>
            </p:cNvSpPr>
            <p:nvPr/>
          </p:nvSpPr>
          <p:spPr>
            <a:xfrm>
              <a:off x="3325196" y="153170"/>
              <a:ext cx="154803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b="1">
                  <a:solidFill>
                    <a:schemeClr val="tx2"/>
                  </a:solidFill>
                  <a:latin typeface="Arial" panose="020B0604020202020204" pitchFamily="34" charset="0"/>
                  <a:cs typeface="Arial" panose="020B0604020202020204" pitchFamily="34" charset="0"/>
                </a:rPr>
                <a:t>Quality of earnings / run rate</a:t>
              </a:r>
              <a:endParaRPr lang="en-SG" sz="800" b="1">
                <a:solidFill>
                  <a:schemeClr val="tx2"/>
                </a:solidFill>
                <a:latin typeface="Arial" panose="020B0604020202020204" pitchFamily="34" charset="0"/>
                <a:cs typeface="Arial" panose="020B0604020202020204" pitchFamily="34" charset="0"/>
              </a:endParaRPr>
            </a:p>
          </p:txBody>
        </p:sp>
        <p:sp>
          <p:nvSpPr>
            <p:cNvPr id="77"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873230"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78"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674265"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79"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777533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728884508"/>
      </p:ext>
    </p:extLst>
  </p:cSld>
  <p:clrMapOvr>
    <a:masterClrMapping/>
  </p:clrMapOvr>
  <p:extLst>
    <p:ext uri="{6950BFC3-D8DA-4A85-94F7-54DA5524770B}">
      <p188:commentRel xmlns:p188="http://schemas.microsoft.com/office/powerpoint/2018/8/main" r:id="rId7"/>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a:t>Quality of earnings (6/7) </a:t>
            </a:r>
          </a:p>
        </p:txBody>
      </p:sp>
      <p:sp>
        <p:nvSpPr>
          <p:cNvPr id="17" name="Text Placeholder 16">
            <a:extLst>
              <a:ext uri="{FF2B5EF4-FFF2-40B4-BE49-F238E27FC236}">
                <a16:creationId xmlns:a16="http://schemas.microsoft.com/office/drawing/2014/main" id="{369D0C06-681C-C96C-F751-62A145C0E8D0}"/>
              </a:ext>
            </a:extLst>
          </p:cNvPr>
          <p:cNvSpPr>
            <a:spLocks noGrp="1"/>
          </p:cNvSpPr>
          <p:nvPr>
            <p:ph type="body" sz="quarter" idx="11"/>
          </p:nvPr>
        </p:nvSpPr>
        <p:spPr>
          <a:xfrm>
            <a:off x="5963476" y="1642078"/>
            <a:ext cx="5238279" cy="252000"/>
          </a:xfrm>
        </p:spPr>
        <p:txBody>
          <a:bodyPr/>
          <a:lstStyle/>
          <a:p>
            <a:r>
              <a:rPr lang="fi-FI"/>
              <a:t>Commentary</a:t>
            </a:r>
          </a:p>
        </p:txBody>
      </p:sp>
      <p:sp>
        <p:nvSpPr>
          <p:cNvPr id="16" name="Text Placeholder 15">
            <a:extLst>
              <a:ext uri="{FF2B5EF4-FFF2-40B4-BE49-F238E27FC236}">
                <a16:creationId xmlns:a16="http://schemas.microsoft.com/office/drawing/2014/main" id="{27C922A0-712E-D49A-91C8-6325519BB78F}"/>
              </a:ext>
            </a:extLst>
          </p:cNvPr>
          <p:cNvSpPr>
            <a:spLocks noGrp="1"/>
          </p:cNvSpPr>
          <p:nvPr>
            <p:ph type="body" sz="quarter" idx="10"/>
          </p:nvPr>
        </p:nvSpPr>
        <p:spPr>
          <a:xfrm>
            <a:off x="995361" y="1179513"/>
            <a:ext cx="10204452" cy="460800"/>
          </a:xfrm>
        </p:spPr>
        <p:txBody>
          <a:bodyPr/>
          <a:lstStyle/>
          <a:p>
            <a:r>
              <a:rPr lang="en-US">
                <a:solidFill>
                  <a:srgbClr val="00338D"/>
                </a:solidFill>
              </a:rPr>
              <a:t>Sell side run rate adjustments reference Mar-25 ARR at a TTM Mar-25 margin. We have refined Management’s assumptions to present an adjustment based on the latest view of Vortex’s cost base (L3M Mar-25 gross margin % and operating expenses) – this results in a run rate adjusted EBITDA of $14.4 million (see following page).</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22" name="Text Placeholder 21">
            <a:extLst>
              <a:ext uri="{FF2B5EF4-FFF2-40B4-BE49-F238E27FC236}">
                <a16:creationId xmlns:a16="http://schemas.microsoft.com/office/drawing/2014/main" id="{D5A92B42-CF52-0069-8B48-8E3E6E5DA3A2}"/>
              </a:ext>
            </a:extLst>
          </p:cNvPr>
          <p:cNvSpPr>
            <a:spLocks noGrp="1"/>
          </p:cNvSpPr>
          <p:nvPr>
            <p:ph type="body" sz="quarter" idx="27"/>
          </p:nvPr>
        </p:nvSpPr>
        <p:spPr>
          <a:xfrm>
            <a:off x="5961534" y="1948543"/>
            <a:ext cx="5238279" cy="3919457"/>
          </a:xfrm>
        </p:spPr>
        <p:txBody>
          <a:bodyPr/>
          <a:lstStyle/>
          <a:p>
            <a:r>
              <a:rPr lang="en-US"/>
              <a:t>Sell side pro forma adjustments cont.</a:t>
            </a:r>
            <a:endParaRPr lang="en-US">
              <a:solidFill>
                <a:schemeClr val="tx1"/>
              </a:solidFill>
            </a:endParaRPr>
          </a:p>
          <a:p>
            <a:pPr marL="228600" indent="-228600">
              <a:buFont typeface="+mj-lt"/>
              <a:buAutoNum type="alphaUcPeriod" startAt="10"/>
            </a:pPr>
            <a:r>
              <a:rPr lang="en-US">
                <a:solidFill>
                  <a:schemeClr val="tx1"/>
                </a:solidFill>
              </a:rPr>
              <a:t>Healthcare savings</a:t>
            </a:r>
            <a:r>
              <a:rPr lang="en-US" b="0">
                <a:solidFill>
                  <a:schemeClr val="tx1"/>
                </a:solidFill>
              </a:rPr>
              <a:t>: Vortex eliminated long-term disability care and gym memberships for Next Chapter employees. Additionally, there was a change in insurance carrier. This adjustment assumes that these healthcare savings had been in effect in FY24 and TTM Mar-25. </a:t>
            </a:r>
            <a:endParaRPr lang="en-US"/>
          </a:p>
          <a:p>
            <a:r>
              <a:rPr lang="en-US"/>
              <a:t>Sell side run rate adjustments</a:t>
            </a:r>
          </a:p>
          <a:p>
            <a:r>
              <a:rPr lang="en-US" b="0" i="1">
                <a:solidFill>
                  <a:schemeClr val="tx1"/>
                </a:solidFill>
              </a:rPr>
              <a:t>Note, run rate adjustments are only considered and presented for TTM Mar-25, although A&amp;M did apply run rate adjustments to previous periods. See pages 17-18 for full sell side analysis. </a:t>
            </a:r>
          </a:p>
          <a:p>
            <a:r>
              <a:rPr lang="en-US" b="0" i="1">
                <a:solidFill>
                  <a:schemeClr val="tx1"/>
                </a:solidFill>
              </a:rPr>
              <a:t>See the following page for buy side run rate commentary (adj. #6).</a:t>
            </a:r>
            <a:endParaRPr lang="en-US">
              <a:solidFill>
                <a:schemeClr val="tx1"/>
              </a:solidFill>
            </a:endParaRPr>
          </a:p>
          <a:p>
            <a:pPr marL="228600" indent="-228600">
              <a:buFont typeface="+mj-lt"/>
              <a:buAutoNum type="alphaUcPeriod" startAt="11"/>
            </a:pPr>
            <a:r>
              <a:rPr lang="en-US">
                <a:solidFill>
                  <a:schemeClr val="tx1"/>
                </a:solidFill>
              </a:rPr>
              <a:t>Run rate ARR adjustment on revenue: </a:t>
            </a:r>
            <a:r>
              <a:rPr lang="en-US" b="0">
                <a:solidFill>
                  <a:schemeClr val="tx1"/>
                </a:solidFill>
              </a:rPr>
              <a:t>The sell side databook includes run rate revenue which is calculated as annualized subscription revenue in Dec-24 ($4.3 million) annualized. This results in ARR of $51.7 million and an incremental revenue adjustment of $5.3 million for run rate purposes. See the following page for discussion of the buy side run rate ARR approach for Mar-25.</a:t>
            </a:r>
            <a:endParaRPr lang="en-US">
              <a:solidFill>
                <a:schemeClr val="tx1"/>
              </a:solidFill>
            </a:endParaRPr>
          </a:p>
          <a:p>
            <a:pPr marL="228600" indent="-228600">
              <a:buFont typeface="+mj-lt"/>
              <a:buAutoNum type="alphaUcPeriod" startAt="11"/>
            </a:pPr>
            <a:r>
              <a:rPr lang="en-US">
                <a:solidFill>
                  <a:schemeClr val="tx1"/>
                </a:solidFill>
              </a:rPr>
              <a:t>Additional costs: </a:t>
            </a:r>
            <a:r>
              <a:rPr lang="en-US" b="0">
                <a:solidFill>
                  <a:schemeClr val="tx1"/>
                </a:solidFill>
              </a:rPr>
              <a:t>The run rate analysis in the sell side databook applies incremental cost of sales associated with revenue noted above ($5.3 million) at a gross margin of 82.2% which is derived from the TTM Mar-25 sell side adjusted margin. See the following page for discussion on the buy side approach to run rate costs. </a:t>
            </a:r>
          </a:p>
          <a:p>
            <a:endParaRPr lang="en-US" b="0">
              <a:solidFill>
                <a:schemeClr val="tx1"/>
              </a:solidFill>
            </a:endParaRPr>
          </a:p>
        </p:txBody>
      </p:sp>
      <p:pic>
        <p:nvPicPr>
          <p:cNvPr id="23" name="Picture 22">
            <a:extLst>
              <a:ext uri="{FF2B5EF4-FFF2-40B4-BE49-F238E27FC236}">
                <a16:creationId xmlns:a16="http://schemas.microsoft.com/office/drawing/2014/main" id="{99EF7843-2D2F-2820-027C-1C8AAACC3481}"/>
              </a:ext>
            </a:extLst>
          </p:cNvPr>
          <p:cNvPicPr>
            <a:picLocks noChangeAspect="1"/>
          </p:cNvPicPr>
          <p:nvPr>
            <p:custDataLst>
              <p:tags r:id="rId4"/>
            </p:custDataLst>
          </p:nvPr>
        </p:nvPicPr>
        <p:blipFill>
          <a:blip r:embed="rId10"/>
          <a:stretch>
            <a:fillRect/>
          </a:stretch>
        </p:blipFill>
        <p:spPr>
          <a:xfrm>
            <a:off x="987207" y="1640319"/>
            <a:ext cx="4114800" cy="3659568"/>
          </a:xfrm>
          <a:prstGeom prst="rect">
            <a:avLst/>
          </a:prstGeom>
        </p:spPr>
      </p:pic>
      <p:sp>
        <p:nvSpPr>
          <p:cNvPr id="19" name="Text Placeholder 12">
            <a:extLst>
              <a:ext uri="{FF2B5EF4-FFF2-40B4-BE49-F238E27FC236}">
                <a16:creationId xmlns:a16="http://schemas.microsoft.com/office/drawing/2014/main" id="{A3A8A6D0-E5FB-AA96-0BE9-316A4380679E}"/>
              </a:ext>
            </a:extLst>
          </p:cNvPr>
          <p:cNvSpPr txBox="1">
            <a:spLocks/>
          </p:cNvSpPr>
          <p:nvPr/>
        </p:nvSpPr>
        <p:spPr>
          <a:xfrm>
            <a:off x="998400" y="5868000"/>
            <a:ext cx="4125480"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Source: 	2.2.2.6_20250515 Project Vortex - Databook - PL.xlsx; 2.2_Vortex - External Customer Cube (March 	2025).xlsx; KPMG analysis</a:t>
            </a:r>
          </a:p>
        </p:txBody>
      </p:sp>
      <p:grpSp>
        <p:nvGrpSpPr>
          <p:cNvPr id="73" name="Group 72">
            <a:extLst>
              <a:ext uri="{FF2B5EF4-FFF2-40B4-BE49-F238E27FC236}">
                <a16:creationId xmlns:a16="http://schemas.microsoft.com/office/drawing/2014/main" id="{F1507839-17A7-CE58-1982-3EE45D093E97}"/>
              </a:ext>
            </a:extLst>
          </p:cNvPr>
          <p:cNvGrpSpPr/>
          <p:nvPr>
            <p:custDataLst>
              <p:tags r:id="rId5"/>
            </p:custDataLst>
          </p:nvPr>
        </p:nvGrpSpPr>
        <p:grpSpPr>
          <a:xfrm>
            <a:off x="995364" y="153170"/>
            <a:ext cx="7468796" cy="195814"/>
            <a:chOff x="995364" y="153170"/>
            <a:chExt cx="7468796" cy="195814"/>
          </a:xfrm>
        </p:grpSpPr>
        <p:sp>
          <p:nvSpPr>
            <p:cNvPr id="74"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75"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76" name="Current Section3">
              <a:hlinkClick r:id="rId13" action="ppaction://hlinksldjump"/>
              <a:extLst>
                <a:ext uri="{FF2B5EF4-FFF2-40B4-BE49-F238E27FC236}">
                  <a16:creationId xmlns:a16="http://schemas.microsoft.com/office/drawing/2014/main" id="{89A61135-1F00-E77F-7C78-5FBA241A5742}"/>
                </a:ext>
              </a:extLst>
            </p:cNvPr>
            <p:cNvSpPr>
              <a:spLocks/>
            </p:cNvSpPr>
            <p:nvPr/>
          </p:nvSpPr>
          <p:spPr>
            <a:xfrm>
              <a:off x="3325196" y="153170"/>
              <a:ext cx="154803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b="1">
                  <a:solidFill>
                    <a:schemeClr val="tx2"/>
                  </a:solidFill>
                  <a:latin typeface="Arial" panose="020B0604020202020204" pitchFamily="34" charset="0"/>
                  <a:cs typeface="Arial" panose="020B0604020202020204" pitchFamily="34" charset="0"/>
                </a:rPr>
                <a:t>Quality of earnings / run rate</a:t>
              </a:r>
              <a:endParaRPr lang="en-SG" sz="800" b="1">
                <a:solidFill>
                  <a:schemeClr val="tx2"/>
                </a:solidFill>
                <a:latin typeface="Arial" panose="020B0604020202020204" pitchFamily="34" charset="0"/>
                <a:cs typeface="Arial" panose="020B0604020202020204" pitchFamily="34" charset="0"/>
              </a:endParaRPr>
            </a:p>
          </p:txBody>
        </p:sp>
        <p:sp>
          <p:nvSpPr>
            <p:cNvPr id="77"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873230"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78"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674265"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79"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777533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992564880"/>
      </p:ext>
    </p:extLst>
  </p:cSld>
  <p:clrMapOvr>
    <a:masterClrMapping/>
  </p:clrMapOvr>
  <p:extLst>
    <p:ext uri="{6950BFC3-D8DA-4A85-94F7-54DA5524770B}">
      <p188:commentRel xmlns:p188="http://schemas.microsoft.com/office/powerpoint/2018/8/main" r:id="rId7"/>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062B6174-E1E0-4EFB-BC0C-A23DAA46A121}"/>
              </a:ext>
            </a:extLst>
          </p:cNvPr>
          <p:cNvSpPr>
            <a:spLocks noGrp="1"/>
          </p:cNvSpPr>
          <p:nvPr>
            <p:ph type="body" sz="quarter" idx="24"/>
          </p:nvPr>
        </p:nvSpPr>
        <p:spPr>
          <a:xfrm>
            <a:off x="5985172" y="1955994"/>
            <a:ext cx="5257789" cy="3865371"/>
          </a:xfrm>
        </p:spPr>
        <p:txBody>
          <a:bodyPr/>
          <a:lstStyle/>
          <a:p>
            <a:pPr lvl="1">
              <a:spcAft>
                <a:spcPts val="300"/>
              </a:spcAft>
              <a:defRPr/>
            </a:pPr>
            <a:r>
              <a:rPr lang="en-US" b="1">
                <a:solidFill>
                  <a:schemeClr val="tx2"/>
                </a:solidFill>
              </a:rPr>
              <a:t>Revenue</a:t>
            </a:r>
          </a:p>
          <a:p>
            <a:pPr marL="171450" lvl="1" indent="-171450" defTabSz="914377">
              <a:spcAft>
                <a:spcPts val="300"/>
              </a:spcAft>
              <a:buFont typeface="Arial" panose="020B0604020202020204" pitchFamily="34" charset="0"/>
              <a:buChar char="•"/>
              <a:defRPr/>
            </a:pPr>
            <a:r>
              <a:rPr lang="en-US">
                <a:solidFill>
                  <a:srgbClr val="000000"/>
                </a:solidFill>
                <a:latin typeface="Arial"/>
              </a:rPr>
              <a:t>Run rate subscription revenue of $51.3 million is consistent with the ARR presented on page 12 calculated as ARR per the customer cube, inclusive of small firms &amp; online and adjustments adjusted for the known churn of Casetext ($0.6 million). This results in a $(0.4) million difference at EBITDA level compared to the sell side’s calculation. We assume non-subscription revenue to be consistent with TTM Mar-25.</a:t>
            </a:r>
          </a:p>
          <a:p>
            <a:pPr lvl="1">
              <a:spcAft>
                <a:spcPts val="300"/>
              </a:spcAft>
              <a:defRPr/>
            </a:pPr>
            <a:r>
              <a:rPr lang="en-US" b="1">
                <a:solidFill>
                  <a:schemeClr val="tx2"/>
                </a:solidFill>
              </a:rPr>
              <a:t>Cost of sales</a:t>
            </a:r>
          </a:p>
          <a:p>
            <a:pPr marL="171450" lvl="1" indent="-171450" defTabSz="914377">
              <a:spcAft>
                <a:spcPts val="300"/>
              </a:spcAft>
              <a:buFont typeface="Arial" panose="020B0604020202020204" pitchFamily="34" charset="0"/>
              <a:buChar char="•"/>
              <a:defRPr/>
            </a:pPr>
            <a:r>
              <a:rPr lang="en-US">
                <a:solidFill>
                  <a:srgbClr val="000000"/>
                </a:solidFill>
                <a:latin typeface="Arial"/>
              </a:rPr>
              <a:t>In order to account for a recent increase in cost base of AI costs (directly related to Vincent AI revenue) partially offset by reductions in royalties and other cost of sales, we have applied an adjusted L3M gross margin on the aggregate of run rate revenue to determine run rate cost of sales. This results in an incremental $(0.2) million cost of sales in comparison to the sell side run rate analysis. Management noted this was a reasonable approach when questioned.</a:t>
            </a:r>
          </a:p>
          <a:p>
            <a:pPr lvl="1" defTabSz="914377">
              <a:spcAft>
                <a:spcPts val="300"/>
              </a:spcAft>
              <a:defRPr/>
            </a:pPr>
            <a:r>
              <a:rPr lang="en-US" b="1">
                <a:solidFill>
                  <a:schemeClr val="tx2"/>
                </a:solidFill>
              </a:rPr>
              <a:t>Operating expenses</a:t>
            </a:r>
          </a:p>
          <a:p>
            <a:pPr marL="171450" lvl="1" indent="-171450" defTabSz="914377">
              <a:spcAft>
                <a:spcPts val="300"/>
              </a:spcAft>
              <a:buFont typeface="Arial" panose="020B0604020202020204" pitchFamily="34" charset="0"/>
              <a:buChar char="•"/>
              <a:defRPr/>
            </a:pPr>
            <a:r>
              <a:rPr lang="en-US">
                <a:solidFill>
                  <a:srgbClr val="000000"/>
                </a:solidFill>
                <a:latin typeface="Arial"/>
              </a:rPr>
              <a:t>Based on recent headcount increases and offsetting software cost savings, we have used adjusted L3M operating expenses for the purpose of our run rate analysis. This results in an incremental $(0.6) million of operating expenses included compared to the sell side run rate analysis which did not consider any impact of recent increases in operating expenses and instead made reference to TTM Mar-25. Management noted our revised approach was sensible.</a:t>
            </a:r>
          </a:p>
        </p:txBody>
      </p:sp>
      <p:graphicFrame>
        <p:nvGraphicFramePr>
          <p:cNvPr id="26" name="Object 25" hidden="1">
            <a:extLst>
              <a:ext uri="{FF2B5EF4-FFF2-40B4-BE49-F238E27FC236}">
                <a16:creationId xmlns:a16="http://schemas.microsoft.com/office/drawing/2014/main" id="{9C8B9D13-AD2A-4261-8033-5C9CCDFEF527}"/>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9" imgW="395" imgH="394" progId="TCLayout.ActiveDocument.1">
                  <p:embed/>
                </p:oleObj>
              </mc:Choice>
              <mc:Fallback>
                <p:oleObj name="think-cell Slide" r:id="rId9" imgW="395" imgH="394" progId="TCLayout.ActiveDocument.1">
                  <p:embed/>
                  <p:pic>
                    <p:nvPicPr>
                      <p:cNvPr id="26" name="Object 25" hidden="1">
                        <a:extLst>
                          <a:ext uri="{FF2B5EF4-FFF2-40B4-BE49-F238E27FC236}">
                            <a16:creationId xmlns:a16="http://schemas.microsoft.com/office/drawing/2014/main" id="{9C8B9D13-AD2A-4261-8033-5C9CCDFEF527}"/>
                          </a:ext>
                        </a:extLst>
                      </p:cNvPr>
                      <p:cNvPicPr/>
                      <p:nvPr/>
                    </p:nvPicPr>
                    <p:blipFill>
                      <a:blip r:embed="rId10"/>
                      <a:stretch>
                        <a:fillRect/>
                      </a:stretch>
                    </p:blipFill>
                    <p:spPr>
                      <a:xfrm>
                        <a:off x="1589" y="1589"/>
                        <a:ext cx="1588" cy="1588"/>
                      </a:xfrm>
                      <a:prstGeom prst="rect">
                        <a:avLst/>
                      </a:prstGeom>
                    </p:spPr>
                  </p:pic>
                </p:oleObj>
              </mc:Fallback>
            </mc:AlternateContent>
          </a:graphicData>
        </a:graphic>
      </p:graphicFrame>
      <p:sp>
        <p:nvSpPr>
          <p:cNvPr id="11" name="Text Placeholder 10">
            <a:extLst>
              <a:ext uri="{FF2B5EF4-FFF2-40B4-BE49-F238E27FC236}">
                <a16:creationId xmlns:a16="http://schemas.microsoft.com/office/drawing/2014/main" id="{643FF106-0884-471B-EE9F-6FEA5179FD41}"/>
              </a:ext>
            </a:extLst>
          </p:cNvPr>
          <p:cNvSpPr>
            <a:spLocks noGrp="1"/>
          </p:cNvSpPr>
          <p:nvPr>
            <p:ph type="body" sz="quarter" idx="10"/>
          </p:nvPr>
        </p:nvSpPr>
        <p:spPr>
          <a:xfrm>
            <a:off x="995361" y="1008063"/>
            <a:ext cx="10195199" cy="460800"/>
          </a:xfrm>
        </p:spPr>
        <p:txBody>
          <a:bodyPr/>
          <a:lstStyle/>
          <a:p>
            <a:r>
              <a:rPr lang="en-US">
                <a:solidFill>
                  <a:srgbClr val="00338D"/>
                </a:solidFill>
              </a:rPr>
              <a:t>Buy side adjusted run rate EBITDA is based off subscription revenue of $51.3 million reflecting ARR at Mar-25. Additionally, we have refined the sell side approach to costs to reflect L3M gross margin and operating expenses to reflect recent increases in AI costs and incremental personnel hires – this results in a buy side run rate adjusted EBITDA of $14.4 million. This is $1.2 million lower than the sell side’s calculation, reflecting the impact of revenues ($0.4 million), margin ($0.2 million) and operating expenses ($0.6 million)</a:t>
            </a:r>
          </a:p>
        </p:txBody>
      </p:sp>
      <p:sp>
        <p:nvSpPr>
          <p:cNvPr id="27" name="Title 26">
            <a:extLst>
              <a:ext uri="{FF2B5EF4-FFF2-40B4-BE49-F238E27FC236}">
                <a16:creationId xmlns:a16="http://schemas.microsoft.com/office/drawing/2014/main" id="{7EAFB3CD-7DBF-4FA1-A9CB-6A3220A4A427}"/>
              </a:ext>
            </a:extLst>
          </p:cNvPr>
          <p:cNvSpPr>
            <a:spLocks noGrp="1"/>
          </p:cNvSpPr>
          <p:nvPr>
            <p:ph type="title"/>
          </p:nvPr>
        </p:nvSpPr>
        <p:spPr/>
        <p:txBody>
          <a:bodyPr vert="horz"/>
          <a:lstStyle/>
          <a:p>
            <a:r>
              <a:rPr lang="en-US"/>
              <a:t>Quality of earnings (7/7) </a:t>
            </a:r>
          </a:p>
        </p:txBody>
      </p:sp>
      <p:sp>
        <p:nvSpPr>
          <p:cNvPr id="68" name="Rectangle 67">
            <a:extLst>
              <a:ext uri="{FF2B5EF4-FFF2-40B4-BE49-F238E27FC236}">
                <a16:creationId xmlns:a16="http://schemas.microsoft.com/office/drawing/2014/main" id="{A034DEB1-C1C2-415D-87FB-4B17A669B8B3}"/>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69" name="Rectangle 68">
            <a:extLst>
              <a:ext uri="{FF2B5EF4-FFF2-40B4-BE49-F238E27FC236}">
                <a16:creationId xmlns:a16="http://schemas.microsoft.com/office/drawing/2014/main" id="{67BE7144-1079-4F05-A635-00039974A6FC}"/>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73" name="Rectangle 72">
            <a:extLst>
              <a:ext uri="{FF2B5EF4-FFF2-40B4-BE49-F238E27FC236}">
                <a16:creationId xmlns:a16="http://schemas.microsoft.com/office/drawing/2014/main" id="{0EC2AE80-83FA-4CCD-835A-F4C37A75A3EE}"/>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74" name="Rectangle 73">
            <a:extLst>
              <a:ext uri="{FF2B5EF4-FFF2-40B4-BE49-F238E27FC236}">
                <a16:creationId xmlns:a16="http://schemas.microsoft.com/office/drawing/2014/main" id="{B5A59C34-6658-4178-8FEB-A9E66327CD62}"/>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75" name="Rectangle 74">
            <a:extLst>
              <a:ext uri="{FF2B5EF4-FFF2-40B4-BE49-F238E27FC236}">
                <a16:creationId xmlns:a16="http://schemas.microsoft.com/office/drawing/2014/main" id="{7048EB9C-9CE3-4F7F-AC41-0B5F6ADCF609}"/>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4" name="Text Placeholder 7">
            <a:extLst>
              <a:ext uri="{FF2B5EF4-FFF2-40B4-BE49-F238E27FC236}">
                <a16:creationId xmlns:a16="http://schemas.microsoft.com/office/drawing/2014/main" id="{06B55218-287F-8FF5-3B8D-8984C29DA194}"/>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5" name="Text Placeholder 12">
            <a:extLst>
              <a:ext uri="{FF2B5EF4-FFF2-40B4-BE49-F238E27FC236}">
                <a16:creationId xmlns:a16="http://schemas.microsoft.com/office/drawing/2014/main" id="{5BCEF092-A8A3-BF41-3A58-0709803B3533}"/>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9" name="Rounded Rectangle 7">
            <a:extLst>
              <a:ext uri="{FF2B5EF4-FFF2-40B4-BE49-F238E27FC236}">
                <a16:creationId xmlns:a16="http://schemas.microsoft.com/office/drawing/2014/main" id="{7214BDCF-9FE7-1B8A-C614-266AE4DDD81E}"/>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4" name="Rectangle 13">
            <a:extLst>
              <a:ext uri="{FF2B5EF4-FFF2-40B4-BE49-F238E27FC236}">
                <a16:creationId xmlns:a16="http://schemas.microsoft.com/office/drawing/2014/main" id="{9EBC2519-EC49-372D-CC8D-605AC2C30FAC}"/>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5" name="Straight Arrow Connector 14">
            <a:extLst>
              <a:ext uri="{FF2B5EF4-FFF2-40B4-BE49-F238E27FC236}">
                <a16:creationId xmlns:a16="http://schemas.microsoft.com/office/drawing/2014/main" id="{D8C8AD4D-BB57-C647-CD6C-3FDCEE05D7EA}"/>
              </a:ext>
            </a:extLst>
          </p:cNvPr>
          <p:cNvCxnSpPr>
            <a:cxnSpLocks/>
            <a:stCxn id="14" idx="2"/>
            <a:endCxn id="9"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B61B5B22-0493-7BE2-48C8-EE1FE8FFE6AB}"/>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6" name="Rectangle 5">
            <a:extLst>
              <a:ext uri="{FF2B5EF4-FFF2-40B4-BE49-F238E27FC236}">
                <a16:creationId xmlns:a16="http://schemas.microsoft.com/office/drawing/2014/main" id="{1D92B301-A1F1-C5D5-1753-AE073C364A51}"/>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8" name="Rectangle 7">
            <a:extLst>
              <a:ext uri="{FF2B5EF4-FFF2-40B4-BE49-F238E27FC236}">
                <a16:creationId xmlns:a16="http://schemas.microsoft.com/office/drawing/2014/main" id="{C493189A-F815-9E19-FE50-789D104A8412}"/>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7" name="Rectangle 16">
            <a:extLst>
              <a:ext uri="{FF2B5EF4-FFF2-40B4-BE49-F238E27FC236}">
                <a16:creationId xmlns:a16="http://schemas.microsoft.com/office/drawing/2014/main" id="{43003494-0C24-01E0-D951-F09A031D8CE3}"/>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20" name="UpSlide SubSection Marker" hidden="1">
            <a:extLst>
              <a:ext uri="{FF2B5EF4-FFF2-40B4-BE49-F238E27FC236}">
                <a16:creationId xmlns:a16="http://schemas.microsoft.com/office/drawing/2014/main" id="{A80A2108-1F66-ED11-E7F9-93FA554FE1F7}"/>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pic>
        <p:nvPicPr>
          <p:cNvPr id="7" name="Picture 6">
            <a:extLst>
              <a:ext uri="{FF2B5EF4-FFF2-40B4-BE49-F238E27FC236}">
                <a16:creationId xmlns:a16="http://schemas.microsoft.com/office/drawing/2014/main" id="{A79C9EB0-FCB7-8A88-7912-138DB380EEAA}"/>
              </a:ext>
            </a:extLst>
          </p:cNvPr>
          <p:cNvPicPr>
            <a:picLocks noChangeAspect="1"/>
          </p:cNvPicPr>
          <p:nvPr>
            <p:custDataLst>
              <p:tags r:id="rId4"/>
            </p:custDataLst>
          </p:nvPr>
        </p:nvPicPr>
        <p:blipFill>
          <a:blip r:embed="rId11"/>
          <a:stretch>
            <a:fillRect/>
          </a:stretch>
        </p:blipFill>
        <p:spPr>
          <a:xfrm>
            <a:off x="995363" y="1659054"/>
            <a:ext cx="3931920" cy="1587266"/>
          </a:xfrm>
          <a:prstGeom prst="rect">
            <a:avLst/>
          </a:prstGeom>
        </p:spPr>
      </p:pic>
      <p:pic>
        <p:nvPicPr>
          <p:cNvPr id="22" name="Picture 21">
            <a:extLst>
              <a:ext uri="{FF2B5EF4-FFF2-40B4-BE49-F238E27FC236}">
                <a16:creationId xmlns:a16="http://schemas.microsoft.com/office/drawing/2014/main" id="{FC848651-72D8-55F9-BCEC-2315B4AF044C}"/>
              </a:ext>
            </a:extLst>
          </p:cNvPr>
          <p:cNvPicPr>
            <a:picLocks noChangeAspect="1"/>
          </p:cNvPicPr>
          <p:nvPr>
            <p:custDataLst>
              <p:tags r:id="rId5"/>
            </p:custDataLst>
          </p:nvPr>
        </p:nvPicPr>
        <p:blipFill>
          <a:blip r:embed="rId12"/>
          <a:stretch>
            <a:fillRect/>
          </a:stretch>
        </p:blipFill>
        <p:spPr>
          <a:xfrm>
            <a:off x="995363" y="3504124"/>
            <a:ext cx="3657600" cy="2223199"/>
          </a:xfrm>
          <a:prstGeom prst="rect">
            <a:avLst/>
          </a:prstGeom>
        </p:spPr>
      </p:pic>
      <p:sp>
        <p:nvSpPr>
          <p:cNvPr id="23" name="Rectangle: Rounded Corners 22">
            <a:extLst>
              <a:ext uri="{FF2B5EF4-FFF2-40B4-BE49-F238E27FC236}">
                <a16:creationId xmlns:a16="http://schemas.microsoft.com/office/drawing/2014/main" id="{386D8E42-3D85-3ED2-B3D4-DBA510A72A36}"/>
              </a:ext>
            </a:extLst>
          </p:cNvPr>
          <p:cNvSpPr/>
          <p:nvPr/>
        </p:nvSpPr>
        <p:spPr>
          <a:xfrm>
            <a:off x="3881880" y="4388932"/>
            <a:ext cx="589978" cy="453581"/>
          </a:xfrm>
          <a:prstGeom prst="roundRect">
            <a:avLst/>
          </a:prstGeom>
          <a:noFill/>
          <a:ln>
            <a:solidFill>
              <a:srgbClr val="FD349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900">
              <a:solidFill>
                <a:schemeClr val="bg1"/>
              </a:solidFill>
            </a:endParaRPr>
          </a:p>
        </p:txBody>
      </p:sp>
      <p:sp>
        <p:nvSpPr>
          <p:cNvPr id="24" name="Oval 23">
            <a:extLst>
              <a:ext uri="{FF2B5EF4-FFF2-40B4-BE49-F238E27FC236}">
                <a16:creationId xmlns:a16="http://schemas.microsoft.com/office/drawing/2014/main" id="{029A8829-D3B1-4BD6-203E-48F00E88A7E0}"/>
              </a:ext>
            </a:extLst>
          </p:cNvPr>
          <p:cNvSpPr>
            <a:spLocks noChangeAspect="1"/>
          </p:cNvSpPr>
          <p:nvPr/>
        </p:nvSpPr>
        <p:spPr>
          <a:xfrm>
            <a:off x="3823028" y="4334932"/>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1</a:t>
            </a:r>
          </a:p>
        </p:txBody>
      </p:sp>
      <p:sp>
        <p:nvSpPr>
          <p:cNvPr id="25" name="Oval 24">
            <a:extLst>
              <a:ext uri="{FF2B5EF4-FFF2-40B4-BE49-F238E27FC236}">
                <a16:creationId xmlns:a16="http://schemas.microsoft.com/office/drawing/2014/main" id="{43955BF9-9E49-43A6-B5D2-9BF91464206F}"/>
              </a:ext>
            </a:extLst>
          </p:cNvPr>
          <p:cNvSpPr>
            <a:spLocks noChangeAspect="1"/>
          </p:cNvSpPr>
          <p:nvPr/>
        </p:nvSpPr>
        <p:spPr>
          <a:xfrm>
            <a:off x="6003748" y="3193948"/>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1</a:t>
            </a:r>
          </a:p>
        </p:txBody>
      </p:sp>
      <p:sp>
        <p:nvSpPr>
          <p:cNvPr id="2" name="Text Placeholder 16">
            <a:extLst>
              <a:ext uri="{FF2B5EF4-FFF2-40B4-BE49-F238E27FC236}">
                <a16:creationId xmlns:a16="http://schemas.microsoft.com/office/drawing/2014/main" id="{9F8E7666-557D-2A90-9F09-4A61DA479794}"/>
              </a:ext>
            </a:extLst>
          </p:cNvPr>
          <p:cNvSpPr txBox="1">
            <a:spLocks/>
          </p:cNvSpPr>
          <p:nvPr/>
        </p:nvSpPr>
        <p:spPr>
          <a:xfrm>
            <a:off x="5963476" y="1642078"/>
            <a:ext cx="5238279" cy="252000"/>
          </a:xfrm>
          <a:prstGeom prst="rect">
            <a:avLst/>
          </a:prstGeom>
          <a:solidFill>
            <a:schemeClr val="tx2"/>
          </a:solidFill>
        </p:spPr>
        <p:txBody>
          <a:bodyPr vert="horz" lIns="72000" tIns="0" rIns="72000" bIns="0" rtlCol="0" anchor="ctr"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fi-FI"/>
              <a:t>Buy side run rate</a:t>
            </a:r>
          </a:p>
        </p:txBody>
      </p:sp>
      <p:sp>
        <p:nvSpPr>
          <p:cNvPr id="19" name="Text Placeholder 12">
            <a:extLst>
              <a:ext uri="{FF2B5EF4-FFF2-40B4-BE49-F238E27FC236}">
                <a16:creationId xmlns:a16="http://schemas.microsoft.com/office/drawing/2014/main" id="{84E00316-DAA7-9C0D-967B-D8C92F3D2CF8}"/>
              </a:ext>
            </a:extLst>
          </p:cNvPr>
          <p:cNvSpPr txBox="1">
            <a:spLocks/>
          </p:cNvSpPr>
          <p:nvPr/>
        </p:nvSpPr>
        <p:spPr>
          <a:xfrm>
            <a:off x="998400" y="5868000"/>
            <a:ext cx="4125480"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Source: 	2.2.2.6_20250515 Project Vortex - Databook - PL.xlsx; 2.2_Vortex - External Customer Cube (March 	2025).xlsx; KPMG analysis</a:t>
            </a:r>
          </a:p>
        </p:txBody>
      </p:sp>
      <p:sp>
        <p:nvSpPr>
          <p:cNvPr id="28" name="Oval 27">
            <a:extLst>
              <a:ext uri="{FF2B5EF4-FFF2-40B4-BE49-F238E27FC236}">
                <a16:creationId xmlns:a16="http://schemas.microsoft.com/office/drawing/2014/main" id="{2954B23D-ACC5-7611-1AF1-1D660A370E9A}"/>
              </a:ext>
            </a:extLst>
          </p:cNvPr>
          <p:cNvSpPr>
            <a:spLocks noChangeAspect="1"/>
          </p:cNvSpPr>
          <p:nvPr/>
        </p:nvSpPr>
        <p:spPr>
          <a:xfrm>
            <a:off x="4898835" y="2855935"/>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1</a:t>
            </a:r>
          </a:p>
        </p:txBody>
      </p:sp>
      <p:grpSp>
        <p:nvGrpSpPr>
          <p:cNvPr id="86" name="Group 85">
            <a:extLst>
              <a:ext uri="{FF2B5EF4-FFF2-40B4-BE49-F238E27FC236}">
                <a16:creationId xmlns:a16="http://schemas.microsoft.com/office/drawing/2014/main" id="{F1507839-17A7-CE58-1982-3EE45D093E97}"/>
              </a:ext>
            </a:extLst>
          </p:cNvPr>
          <p:cNvGrpSpPr/>
          <p:nvPr>
            <p:custDataLst>
              <p:tags r:id="rId6"/>
            </p:custDataLst>
          </p:nvPr>
        </p:nvGrpSpPr>
        <p:grpSpPr>
          <a:xfrm>
            <a:off x="995364" y="153170"/>
            <a:ext cx="7468796" cy="195814"/>
            <a:chOff x="995364" y="153170"/>
            <a:chExt cx="7468796" cy="195814"/>
          </a:xfrm>
        </p:grpSpPr>
        <p:sp>
          <p:nvSpPr>
            <p:cNvPr id="87" name="Other Sections1">
              <a:hlinkClick r:id="rId13"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88" name="Other Sections2">
              <a:hlinkClick r:id="rId14"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89" name="Current Section3">
              <a:hlinkClick r:id="rId15" action="ppaction://hlinksldjump"/>
              <a:extLst>
                <a:ext uri="{FF2B5EF4-FFF2-40B4-BE49-F238E27FC236}">
                  <a16:creationId xmlns:a16="http://schemas.microsoft.com/office/drawing/2014/main" id="{89A61135-1F00-E77F-7C78-5FBA241A5742}"/>
                </a:ext>
              </a:extLst>
            </p:cNvPr>
            <p:cNvSpPr>
              <a:spLocks/>
            </p:cNvSpPr>
            <p:nvPr/>
          </p:nvSpPr>
          <p:spPr>
            <a:xfrm>
              <a:off x="3325196" y="153170"/>
              <a:ext cx="154803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b="1">
                  <a:solidFill>
                    <a:schemeClr val="tx2"/>
                  </a:solidFill>
                  <a:latin typeface="Arial" panose="020B0604020202020204" pitchFamily="34" charset="0"/>
                  <a:cs typeface="Arial" panose="020B0604020202020204" pitchFamily="34" charset="0"/>
                </a:rPr>
                <a:t>Quality of earnings / run rate</a:t>
              </a:r>
              <a:endParaRPr lang="en-SG" sz="800" b="1">
                <a:solidFill>
                  <a:schemeClr val="tx2"/>
                </a:solidFill>
                <a:latin typeface="Arial" panose="020B0604020202020204" pitchFamily="34" charset="0"/>
                <a:cs typeface="Arial" panose="020B0604020202020204" pitchFamily="34" charset="0"/>
              </a:endParaRPr>
            </a:p>
          </p:txBody>
        </p:sp>
        <p:sp>
          <p:nvSpPr>
            <p:cNvPr id="90" name="Other Sections4">
              <a:hlinkClick r:id="rId16" action="ppaction://hlinksldjump"/>
              <a:extLst>
                <a:ext uri="{FF2B5EF4-FFF2-40B4-BE49-F238E27FC236}">
                  <a16:creationId xmlns:a16="http://schemas.microsoft.com/office/drawing/2014/main" id="{8A19844E-D291-CA81-3B22-2B52F21919DA}"/>
                </a:ext>
              </a:extLst>
            </p:cNvPr>
            <p:cNvSpPr>
              <a:spLocks/>
            </p:cNvSpPr>
            <p:nvPr/>
          </p:nvSpPr>
          <p:spPr>
            <a:xfrm>
              <a:off x="4873230"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91" name="Other Sections5">
              <a:hlinkClick r:id="rId17" action="ppaction://hlinksldjump"/>
              <a:extLst>
                <a:ext uri="{FF2B5EF4-FFF2-40B4-BE49-F238E27FC236}">
                  <a16:creationId xmlns:a16="http://schemas.microsoft.com/office/drawing/2014/main" id="{8A19844E-D291-CA81-3B22-2B52F21919DA}"/>
                </a:ext>
              </a:extLst>
            </p:cNvPr>
            <p:cNvSpPr>
              <a:spLocks/>
            </p:cNvSpPr>
            <p:nvPr/>
          </p:nvSpPr>
          <p:spPr>
            <a:xfrm>
              <a:off x="5674265"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92" name="Other Sections6">
              <a:hlinkClick r:id="rId18" action="ppaction://hlinksldjump"/>
              <a:extLst>
                <a:ext uri="{FF2B5EF4-FFF2-40B4-BE49-F238E27FC236}">
                  <a16:creationId xmlns:a16="http://schemas.microsoft.com/office/drawing/2014/main" id="{8A19844E-D291-CA81-3B22-2B52F21919DA}"/>
                </a:ext>
              </a:extLst>
            </p:cNvPr>
            <p:cNvSpPr>
              <a:spLocks/>
            </p:cNvSpPr>
            <p:nvPr/>
          </p:nvSpPr>
          <p:spPr>
            <a:xfrm>
              <a:off x="777533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661491753"/>
      </p:ext>
    </p:extLst>
  </p:cSld>
  <p:clrMapOvr>
    <a:masterClrMapping/>
  </p:clrMapOvr>
  <p:extLst>
    <p:ext uri="{6950BFC3-D8DA-4A85-94F7-54DA5524770B}">
      <p188:commentRel xmlns:p188="http://schemas.microsoft.com/office/powerpoint/2018/8/main" r:id="rId8"/>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a:t>Quality of earnings – actionable synergies </a:t>
            </a:r>
          </a:p>
        </p:txBody>
      </p:sp>
      <p:sp>
        <p:nvSpPr>
          <p:cNvPr id="17" name="Text Placeholder 16">
            <a:extLst>
              <a:ext uri="{FF2B5EF4-FFF2-40B4-BE49-F238E27FC236}">
                <a16:creationId xmlns:a16="http://schemas.microsoft.com/office/drawing/2014/main" id="{369D0C06-681C-C96C-F751-62A145C0E8D0}"/>
              </a:ext>
            </a:extLst>
          </p:cNvPr>
          <p:cNvSpPr>
            <a:spLocks noGrp="1"/>
          </p:cNvSpPr>
          <p:nvPr>
            <p:ph type="body" sz="quarter" idx="11"/>
          </p:nvPr>
        </p:nvSpPr>
        <p:spPr>
          <a:xfrm>
            <a:off x="5963476" y="1642078"/>
            <a:ext cx="5238279" cy="252000"/>
          </a:xfrm>
        </p:spPr>
        <p:txBody>
          <a:bodyPr/>
          <a:lstStyle/>
          <a:p>
            <a:r>
              <a:rPr lang="fi-FI"/>
              <a:t>Commentary</a:t>
            </a:r>
          </a:p>
        </p:txBody>
      </p:sp>
      <p:sp>
        <p:nvSpPr>
          <p:cNvPr id="16" name="Text Placeholder 15">
            <a:extLst>
              <a:ext uri="{FF2B5EF4-FFF2-40B4-BE49-F238E27FC236}">
                <a16:creationId xmlns:a16="http://schemas.microsoft.com/office/drawing/2014/main" id="{27C922A0-712E-D49A-91C8-6325519BB78F}"/>
              </a:ext>
            </a:extLst>
          </p:cNvPr>
          <p:cNvSpPr>
            <a:spLocks noGrp="1"/>
          </p:cNvSpPr>
          <p:nvPr>
            <p:ph type="body" sz="quarter" idx="10"/>
          </p:nvPr>
        </p:nvSpPr>
        <p:spPr>
          <a:xfrm>
            <a:off x="995361" y="1179513"/>
            <a:ext cx="10204452" cy="460800"/>
          </a:xfrm>
        </p:spPr>
        <p:txBody>
          <a:bodyPr/>
          <a:lstStyle/>
          <a:p>
            <a:r>
              <a:rPr lang="fi-FI">
                <a:solidFill>
                  <a:srgbClr val="00338D"/>
                </a:solidFill>
              </a:rPr>
              <a:t>The sell side diligence databook includes actionable synergies in TTM </a:t>
            </a:r>
            <a:r>
              <a:rPr lang="en-US">
                <a:solidFill>
                  <a:srgbClr val="00338D"/>
                </a:solidFill>
              </a:rPr>
              <a:t>Mar-25</a:t>
            </a:r>
            <a:r>
              <a:rPr lang="fi-FI">
                <a:solidFill>
                  <a:srgbClr val="00338D"/>
                </a:solidFill>
              </a:rPr>
              <a:t> related to hosting savings ($0.8 million) and executive restructuring ($0.7 million). </a:t>
            </a:r>
            <a:r>
              <a:rPr lang="en-US">
                <a:solidFill>
                  <a:srgbClr val="00338D"/>
                </a:solidFill>
              </a:rPr>
              <a:t>These synergies have not yet been exercised and will need to be implemented post transaction to realize the cost savings. Operational diligence and your input is required to determine the validity of the sell side actionable synergies and any incremental synergies associated with the transaction</a:t>
            </a:r>
            <a:r>
              <a:rPr lang="fi-FI">
                <a:solidFill>
                  <a:srgbClr val="00338D"/>
                </a:solidFill>
              </a:rPr>
              <a:t>.   </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22" name="Text Placeholder 21">
            <a:extLst>
              <a:ext uri="{FF2B5EF4-FFF2-40B4-BE49-F238E27FC236}">
                <a16:creationId xmlns:a16="http://schemas.microsoft.com/office/drawing/2014/main" id="{D5A92B42-CF52-0069-8B48-8E3E6E5DA3A2}"/>
              </a:ext>
            </a:extLst>
          </p:cNvPr>
          <p:cNvSpPr>
            <a:spLocks noGrp="1"/>
          </p:cNvSpPr>
          <p:nvPr>
            <p:ph type="body" sz="quarter" idx="27"/>
          </p:nvPr>
        </p:nvSpPr>
        <p:spPr>
          <a:xfrm>
            <a:off x="5961534" y="1948543"/>
            <a:ext cx="5238279" cy="3919457"/>
          </a:xfrm>
        </p:spPr>
        <p:txBody>
          <a:bodyPr/>
          <a:lstStyle/>
          <a:p>
            <a:r>
              <a:rPr lang="en-US"/>
              <a:t>Sell side actionable synergies</a:t>
            </a:r>
          </a:p>
          <a:p>
            <a:pPr marL="228600" indent="-228600">
              <a:buFont typeface="+mj-lt"/>
              <a:buAutoNum type="alphaUcPeriod" startAt="13"/>
            </a:pPr>
            <a:r>
              <a:rPr lang="en-US">
                <a:solidFill>
                  <a:schemeClr val="tx1"/>
                </a:solidFill>
              </a:rPr>
              <a:t>Hosting savings: </a:t>
            </a:r>
            <a:r>
              <a:rPr lang="en-US" b="0">
                <a:solidFill>
                  <a:schemeClr val="tx1"/>
                </a:solidFill>
              </a:rPr>
              <a:t>Vortex incurred duplicated expenses in the Historical Period from maintaining Amazon Web Services (AWS) for both Fastcase and vLex. By reducing the number of platforms, Management estimate Vortex could achieve annual cost savings amounting to $0.3 million. In addition, Vortex is currently working on different cost initiatives to reduce hosting expenses (Amazon, Vespa, Google cloud) by moving to a different model. These synergies have not been exercised yet and will need to be implemented post transaction to realize the cost savings.</a:t>
            </a:r>
          </a:p>
          <a:p>
            <a:pPr marL="228600" indent="-228600">
              <a:buFont typeface="+mj-lt"/>
              <a:buAutoNum type="alphaUcPeriod" startAt="13"/>
            </a:pPr>
            <a:r>
              <a:rPr lang="en-US">
                <a:solidFill>
                  <a:schemeClr val="tx1"/>
                </a:solidFill>
              </a:rPr>
              <a:t>Executive restructuring: </a:t>
            </a:r>
            <a:r>
              <a:rPr lang="en-US" b="0">
                <a:solidFill>
                  <a:schemeClr val="tx1"/>
                </a:solidFill>
              </a:rPr>
              <a:t>Vortex added two additional executives as a result of the Fastcase transaction. According to Management, their compensation package as employees remains the same as it was at Fastcase – however, they do not have significant involvement in day-to-day operations, and only one of them has an employee partially reporting to them. Therefore, Management have included this adjustment citing that these positions could be phased out and absorbed by the current team structure. Note, these employees are still currently active and the absorption would need be executed post transaction (including any related costs required to do so).</a:t>
            </a:r>
          </a:p>
        </p:txBody>
      </p:sp>
      <p:pic>
        <p:nvPicPr>
          <p:cNvPr id="9" name="Picture 8">
            <a:extLst>
              <a:ext uri="{FF2B5EF4-FFF2-40B4-BE49-F238E27FC236}">
                <a16:creationId xmlns:a16="http://schemas.microsoft.com/office/drawing/2014/main" id="{1E14CE46-DCE8-7D1B-4E5A-D51F1837450F}"/>
              </a:ext>
            </a:extLst>
          </p:cNvPr>
          <p:cNvPicPr>
            <a:picLocks noChangeAspect="1"/>
          </p:cNvPicPr>
          <p:nvPr>
            <p:custDataLst>
              <p:tags r:id="rId4"/>
            </p:custDataLst>
          </p:nvPr>
        </p:nvPicPr>
        <p:blipFill>
          <a:blip r:embed="rId10"/>
          <a:stretch>
            <a:fillRect/>
          </a:stretch>
        </p:blipFill>
        <p:spPr>
          <a:xfrm>
            <a:off x="996732" y="1649842"/>
            <a:ext cx="4114800" cy="2825432"/>
          </a:xfrm>
          <a:prstGeom prst="rect">
            <a:avLst/>
          </a:prstGeom>
        </p:spPr>
      </p:pic>
      <p:sp>
        <p:nvSpPr>
          <p:cNvPr id="20" name="Text Placeholder 12">
            <a:extLst>
              <a:ext uri="{FF2B5EF4-FFF2-40B4-BE49-F238E27FC236}">
                <a16:creationId xmlns:a16="http://schemas.microsoft.com/office/drawing/2014/main" id="{CB44EE44-D2D5-39BF-871C-34EB2BD0E695}"/>
              </a:ext>
            </a:extLst>
          </p:cNvPr>
          <p:cNvSpPr txBox="1">
            <a:spLocks/>
          </p:cNvSpPr>
          <p:nvPr/>
        </p:nvSpPr>
        <p:spPr>
          <a:xfrm>
            <a:off x="998400" y="5868000"/>
            <a:ext cx="4125480"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Source: 	2.2.2.6_20250515 Project Vortex - Databook - PL.xlsx; 2.2_Vortex - External Customer Cube (March 	2025).xlsx; KPMG analysis</a:t>
            </a:r>
          </a:p>
        </p:txBody>
      </p:sp>
      <p:grpSp>
        <p:nvGrpSpPr>
          <p:cNvPr id="74" name="Group 73">
            <a:extLst>
              <a:ext uri="{FF2B5EF4-FFF2-40B4-BE49-F238E27FC236}">
                <a16:creationId xmlns:a16="http://schemas.microsoft.com/office/drawing/2014/main" id="{F1507839-17A7-CE58-1982-3EE45D093E97}"/>
              </a:ext>
            </a:extLst>
          </p:cNvPr>
          <p:cNvGrpSpPr/>
          <p:nvPr>
            <p:custDataLst>
              <p:tags r:id="rId5"/>
            </p:custDataLst>
          </p:nvPr>
        </p:nvGrpSpPr>
        <p:grpSpPr>
          <a:xfrm>
            <a:off x="995364" y="153170"/>
            <a:ext cx="7468796" cy="195814"/>
            <a:chOff x="995364" y="153170"/>
            <a:chExt cx="7468796" cy="195814"/>
          </a:xfrm>
        </p:grpSpPr>
        <p:sp>
          <p:nvSpPr>
            <p:cNvPr id="75"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76"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77" name="Current Section3">
              <a:hlinkClick r:id="rId13" action="ppaction://hlinksldjump"/>
              <a:extLst>
                <a:ext uri="{FF2B5EF4-FFF2-40B4-BE49-F238E27FC236}">
                  <a16:creationId xmlns:a16="http://schemas.microsoft.com/office/drawing/2014/main" id="{89A61135-1F00-E77F-7C78-5FBA241A5742}"/>
                </a:ext>
              </a:extLst>
            </p:cNvPr>
            <p:cNvSpPr>
              <a:spLocks/>
            </p:cNvSpPr>
            <p:nvPr/>
          </p:nvSpPr>
          <p:spPr>
            <a:xfrm>
              <a:off x="3325196" y="153170"/>
              <a:ext cx="154803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b="1">
                  <a:solidFill>
                    <a:schemeClr val="tx2"/>
                  </a:solidFill>
                  <a:latin typeface="Arial" panose="020B0604020202020204" pitchFamily="34" charset="0"/>
                  <a:cs typeface="Arial" panose="020B0604020202020204" pitchFamily="34" charset="0"/>
                </a:rPr>
                <a:t>Quality of earnings / run rate</a:t>
              </a:r>
              <a:endParaRPr lang="en-SG" sz="800" b="1">
                <a:solidFill>
                  <a:schemeClr val="tx2"/>
                </a:solidFill>
                <a:latin typeface="Arial" panose="020B0604020202020204" pitchFamily="34" charset="0"/>
                <a:cs typeface="Arial" panose="020B0604020202020204" pitchFamily="34" charset="0"/>
              </a:endParaRPr>
            </a:p>
          </p:txBody>
        </p:sp>
        <p:sp>
          <p:nvSpPr>
            <p:cNvPr id="78"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873230"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79"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674265"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80"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777533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531837335"/>
      </p:ext>
    </p:extLst>
  </p:cSld>
  <p:clrMapOvr>
    <a:masterClrMapping/>
  </p:clrMapOvr>
  <p:extLst>
    <p:ext uri="{6950BFC3-D8DA-4A85-94F7-54DA5524770B}">
      <p188:commentRel xmlns:p188="http://schemas.microsoft.com/office/powerpoint/2018/8/main" r:id="rId7"/>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9" imgW="395" imgH="394" progId="TCLayout.ActiveDocument.1">
                  <p:embed/>
                </p:oleObj>
              </mc:Choice>
              <mc:Fallback>
                <p:oleObj name="think-cell Slide" r:id="rId9"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10"/>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a:t>Quality of earnings – other considerations </a:t>
            </a:r>
          </a:p>
        </p:txBody>
      </p:sp>
      <p:sp>
        <p:nvSpPr>
          <p:cNvPr id="17" name="Text Placeholder 16">
            <a:extLst>
              <a:ext uri="{FF2B5EF4-FFF2-40B4-BE49-F238E27FC236}">
                <a16:creationId xmlns:a16="http://schemas.microsoft.com/office/drawing/2014/main" id="{369D0C06-681C-C96C-F751-62A145C0E8D0}"/>
              </a:ext>
            </a:extLst>
          </p:cNvPr>
          <p:cNvSpPr>
            <a:spLocks noGrp="1"/>
          </p:cNvSpPr>
          <p:nvPr>
            <p:ph type="body" sz="quarter" idx="11"/>
          </p:nvPr>
        </p:nvSpPr>
        <p:spPr>
          <a:xfrm>
            <a:off x="5963476" y="1642078"/>
            <a:ext cx="5238279" cy="252000"/>
          </a:xfrm>
        </p:spPr>
        <p:txBody>
          <a:bodyPr/>
          <a:lstStyle/>
          <a:p>
            <a:r>
              <a:rPr lang="fi-FI"/>
              <a:t>Commentary</a:t>
            </a:r>
          </a:p>
        </p:txBody>
      </p:sp>
      <p:sp>
        <p:nvSpPr>
          <p:cNvPr id="16" name="Text Placeholder 15">
            <a:extLst>
              <a:ext uri="{FF2B5EF4-FFF2-40B4-BE49-F238E27FC236}">
                <a16:creationId xmlns:a16="http://schemas.microsoft.com/office/drawing/2014/main" id="{27C922A0-712E-D49A-91C8-6325519BB78F}"/>
              </a:ext>
            </a:extLst>
          </p:cNvPr>
          <p:cNvSpPr>
            <a:spLocks noGrp="1"/>
          </p:cNvSpPr>
          <p:nvPr>
            <p:ph type="body" sz="quarter" idx="10"/>
          </p:nvPr>
        </p:nvSpPr>
        <p:spPr>
          <a:xfrm>
            <a:off x="995361" y="1179513"/>
            <a:ext cx="10204452" cy="460800"/>
          </a:xfrm>
        </p:spPr>
        <p:txBody>
          <a:bodyPr/>
          <a:lstStyle/>
          <a:p>
            <a:r>
              <a:rPr lang="en-US">
                <a:solidFill>
                  <a:srgbClr val="00338D"/>
                </a:solidFill>
              </a:rPr>
              <a:t>Constant currency analysis demonstrates limited exposure in Vortex due to natural hedges between revenue and costs incurred in both USD and Euro. For TTM Mar-25, using the exchange rates at June 1, 2025 results in $0.3 million of incremental reported EBITDA. </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22" name="Text Placeholder 21">
            <a:extLst>
              <a:ext uri="{FF2B5EF4-FFF2-40B4-BE49-F238E27FC236}">
                <a16:creationId xmlns:a16="http://schemas.microsoft.com/office/drawing/2014/main" id="{D5A92B42-CF52-0069-8B48-8E3E6E5DA3A2}"/>
              </a:ext>
            </a:extLst>
          </p:cNvPr>
          <p:cNvSpPr>
            <a:spLocks noGrp="1"/>
          </p:cNvSpPr>
          <p:nvPr>
            <p:ph type="body" sz="quarter" idx="27"/>
          </p:nvPr>
        </p:nvSpPr>
        <p:spPr>
          <a:xfrm>
            <a:off x="5961534" y="1948543"/>
            <a:ext cx="5238279" cy="3919457"/>
          </a:xfrm>
        </p:spPr>
        <p:txBody>
          <a:bodyPr/>
          <a:lstStyle/>
          <a:p>
            <a:r>
              <a:rPr lang="en-US"/>
              <a:t>Other considerations – constant currency</a:t>
            </a:r>
          </a:p>
          <a:p>
            <a:r>
              <a:rPr lang="en-US" b="0">
                <a:solidFill>
                  <a:schemeClr val="tx1"/>
                </a:solidFill>
              </a:rPr>
              <a:t>A&amp;M provided a constant currency analysis over reported EBITDA which includes the source currency of transactions and the impact of using the rate at January 1, 2025 in comparison to the average monthly rate indicating in the system. We updated this analysis to TTM Mar-25 assuming the same currency split between revenue and costs. Additionally, we updated the analysis to demonstrate the impact of using the exchange rate at June 1, 2025 to show the latest constant currency impact.</a:t>
            </a:r>
          </a:p>
          <a:p>
            <a:r>
              <a:rPr lang="en-US" b="0">
                <a:solidFill>
                  <a:schemeClr val="tx1"/>
                </a:solidFill>
              </a:rPr>
              <a:t>The main difference between constant currency at Jun-25 and Jan-25 is the strengthening of the Euro from $0.96 USD to $0.88 USD. The business generates net profit in Euros so this strengthening has a net positive impact of $0.3 million at TTM Mar-25.</a:t>
            </a:r>
          </a:p>
          <a:p>
            <a:endParaRPr lang="en-US" b="0">
              <a:solidFill>
                <a:schemeClr val="tx1"/>
              </a:solidFill>
            </a:endParaRPr>
          </a:p>
        </p:txBody>
      </p:sp>
      <p:pic>
        <p:nvPicPr>
          <p:cNvPr id="9" name="Picture 8">
            <a:extLst>
              <a:ext uri="{FF2B5EF4-FFF2-40B4-BE49-F238E27FC236}">
                <a16:creationId xmlns:a16="http://schemas.microsoft.com/office/drawing/2014/main" id="{7B96B97A-D167-704E-46DB-381EEB2D0612}"/>
              </a:ext>
            </a:extLst>
          </p:cNvPr>
          <p:cNvPicPr>
            <a:picLocks noChangeAspect="1"/>
          </p:cNvPicPr>
          <p:nvPr>
            <p:custDataLst>
              <p:tags r:id="rId4"/>
            </p:custDataLst>
          </p:nvPr>
        </p:nvPicPr>
        <p:blipFill>
          <a:blip r:embed="rId11"/>
          <a:stretch>
            <a:fillRect/>
          </a:stretch>
        </p:blipFill>
        <p:spPr>
          <a:xfrm>
            <a:off x="995363" y="1654411"/>
            <a:ext cx="4114800" cy="3242501"/>
          </a:xfrm>
          <a:prstGeom prst="rect">
            <a:avLst/>
          </a:prstGeom>
        </p:spPr>
      </p:pic>
      <p:sp>
        <p:nvSpPr>
          <p:cNvPr id="21" name="Text Placeholder 12">
            <a:extLst>
              <a:ext uri="{FF2B5EF4-FFF2-40B4-BE49-F238E27FC236}">
                <a16:creationId xmlns:a16="http://schemas.microsoft.com/office/drawing/2014/main" id="{619C6842-4730-3B9C-CA0F-E524B9F04FBC}"/>
              </a:ext>
            </a:extLst>
          </p:cNvPr>
          <p:cNvSpPr txBox="1">
            <a:spLocks/>
          </p:cNvSpPr>
          <p:nvPr/>
        </p:nvSpPr>
        <p:spPr>
          <a:xfrm>
            <a:off x="995363" y="5876925"/>
            <a:ext cx="4125480"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Source: 	2.2.2.6_20250515 Project Vortex - Databook - PL.xlsx; 2.2_Vortex - External Customer Cube (March 	2025).xlsx; KPMG analysis</a:t>
            </a:r>
          </a:p>
        </p:txBody>
      </p:sp>
      <p:grpSp>
        <p:nvGrpSpPr>
          <p:cNvPr id="74" name="Group 73">
            <a:extLst>
              <a:ext uri="{FF2B5EF4-FFF2-40B4-BE49-F238E27FC236}">
                <a16:creationId xmlns:a16="http://schemas.microsoft.com/office/drawing/2014/main" id="{F1507839-17A7-CE58-1982-3EE45D093E97}"/>
              </a:ext>
            </a:extLst>
          </p:cNvPr>
          <p:cNvGrpSpPr/>
          <p:nvPr>
            <p:custDataLst>
              <p:tags r:id="rId5"/>
            </p:custDataLst>
          </p:nvPr>
        </p:nvGrpSpPr>
        <p:grpSpPr>
          <a:xfrm>
            <a:off x="995364" y="153170"/>
            <a:ext cx="7468796" cy="195814"/>
            <a:chOff x="995364" y="153170"/>
            <a:chExt cx="7468796" cy="195814"/>
          </a:xfrm>
        </p:grpSpPr>
        <p:sp>
          <p:nvSpPr>
            <p:cNvPr id="75" name="Other Sections1">
              <a:hlinkClick r:id="rId12"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76" name="Other Sections2">
              <a:hlinkClick r:id="rId13"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77" name="Current Section3">
              <a:hlinkClick r:id="rId14" action="ppaction://hlinksldjump"/>
              <a:extLst>
                <a:ext uri="{FF2B5EF4-FFF2-40B4-BE49-F238E27FC236}">
                  <a16:creationId xmlns:a16="http://schemas.microsoft.com/office/drawing/2014/main" id="{89A61135-1F00-E77F-7C78-5FBA241A5742}"/>
                </a:ext>
              </a:extLst>
            </p:cNvPr>
            <p:cNvSpPr>
              <a:spLocks/>
            </p:cNvSpPr>
            <p:nvPr/>
          </p:nvSpPr>
          <p:spPr>
            <a:xfrm>
              <a:off x="3325196" y="153170"/>
              <a:ext cx="154803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b="1">
                  <a:solidFill>
                    <a:schemeClr val="tx2"/>
                  </a:solidFill>
                  <a:latin typeface="Arial" panose="020B0604020202020204" pitchFamily="34" charset="0"/>
                  <a:cs typeface="Arial" panose="020B0604020202020204" pitchFamily="34" charset="0"/>
                </a:rPr>
                <a:t>Quality of earnings / run rate</a:t>
              </a:r>
              <a:endParaRPr lang="en-SG" sz="800" b="1">
                <a:solidFill>
                  <a:schemeClr val="tx2"/>
                </a:solidFill>
                <a:latin typeface="Arial" panose="020B0604020202020204" pitchFamily="34" charset="0"/>
                <a:cs typeface="Arial" panose="020B0604020202020204" pitchFamily="34" charset="0"/>
              </a:endParaRPr>
            </a:p>
          </p:txBody>
        </p:sp>
        <p:sp>
          <p:nvSpPr>
            <p:cNvPr id="78" name="Other Sections4">
              <a:hlinkClick r:id="rId15" action="ppaction://hlinksldjump"/>
              <a:extLst>
                <a:ext uri="{FF2B5EF4-FFF2-40B4-BE49-F238E27FC236}">
                  <a16:creationId xmlns:a16="http://schemas.microsoft.com/office/drawing/2014/main" id="{8A19844E-D291-CA81-3B22-2B52F21919DA}"/>
                </a:ext>
              </a:extLst>
            </p:cNvPr>
            <p:cNvSpPr>
              <a:spLocks/>
            </p:cNvSpPr>
            <p:nvPr/>
          </p:nvSpPr>
          <p:spPr>
            <a:xfrm>
              <a:off x="4873230"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79" name="Other Sections5">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674265"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80" name="Other Sections6">
              <a:hlinkClick r:id="rId17" action="ppaction://hlinksldjump"/>
              <a:extLst>
                <a:ext uri="{FF2B5EF4-FFF2-40B4-BE49-F238E27FC236}">
                  <a16:creationId xmlns:a16="http://schemas.microsoft.com/office/drawing/2014/main" id="{8A19844E-D291-CA81-3B22-2B52F21919DA}"/>
                </a:ext>
              </a:extLst>
            </p:cNvPr>
            <p:cNvSpPr>
              <a:spLocks/>
            </p:cNvSpPr>
            <p:nvPr/>
          </p:nvSpPr>
          <p:spPr>
            <a:xfrm>
              <a:off x="777533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pic>
        <p:nvPicPr>
          <p:cNvPr id="20" name="Picture 19">
            <a:extLst>
              <a:ext uri="{FF2B5EF4-FFF2-40B4-BE49-F238E27FC236}">
                <a16:creationId xmlns:a16="http://schemas.microsoft.com/office/drawing/2014/main" id="{E00DD664-3AA1-9854-E361-3F74A3E3E5F6}"/>
              </a:ext>
            </a:extLst>
          </p:cNvPr>
          <p:cNvPicPr>
            <a:picLocks noChangeAspect="1"/>
          </p:cNvPicPr>
          <p:nvPr>
            <p:custDataLst>
              <p:tags r:id="rId6"/>
            </p:custDataLst>
          </p:nvPr>
        </p:nvPicPr>
        <p:blipFill>
          <a:blip r:embed="rId18"/>
          <a:stretch>
            <a:fillRect/>
          </a:stretch>
        </p:blipFill>
        <p:spPr>
          <a:xfrm>
            <a:off x="6020353" y="3749903"/>
            <a:ext cx="2286000" cy="1864895"/>
          </a:xfrm>
          <a:prstGeom prst="rect">
            <a:avLst/>
          </a:prstGeom>
        </p:spPr>
      </p:pic>
    </p:spTree>
    <p:extLst>
      <p:ext uri="{BB962C8B-B14F-4D97-AF65-F5344CB8AC3E}">
        <p14:creationId xmlns:p14="http://schemas.microsoft.com/office/powerpoint/2010/main" val="3610402624"/>
      </p:ext>
    </p:extLst>
  </p:cSld>
  <p:clrMapOvr>
    <a:masterClrMapping/>
  </p:clrMapOvr>
  <p:extLst>
    <p:ext uri="{6950BFC3-D8DA-4A85-94F7-54DA5524770B}">
      <p188:commentRel xmlns:p188="http://schemas.microsoft.com/office/powerpoint/2018/8/main" r:id="rId8"/>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hlinkClick r:id="rId15" action="ppaction://hlinksldjump"/>
            <a:extLst>
              <a:ext uri="{FF2B5EF4-FFF2-40B4-BE49-F238E27FC236}">
                <a16:creationId xmlns:a16="http://schemas.microsoft.com/office/drawing/2014/main" id="{8B0BDF8F-E561-6807-F995-BFC60E96F7DC}"/>
              </a:ext>
            </a:extLst>
          </p:cNvPr>
          <p:cNvSpPr txBox="1"/>
          <p:nvPr>
            <p:custDataLst>
              <p:tags r:id="rId2"/>
            </p:custDataLst>
          </p:nvPr>
        </p:nvSpPr>
        <p:spPr>
          <a:xfrm>
            <a:off x="1289860" y="3566606"/>
            <a:ext cx="4873752" cy="0"/>
          </a:xfrm>
          <a:prstGeom prst="rect">
            <a:avLst/>
          </a:prstGeom>
          <a:noFill/>
        </p:spPr>
        <p:txBody>
          <a:bodyPr vert="horz" wrap="square" lIns="0" tIns="0" rIns="0" bIns="2286000" rtlCol="0">
            <a:noAutofit/>
          </a:bodyPr>
          <a:lstStyle/>
          <a:p>
            <a:pPr algn="l">
              <a:lnSpc>
                <a:spcPct val="70000"/>
              </a:lnSpc>
            </a:pPr>
            <a:r>
              <a:rPr lang="en-US" sz="6600">
                <a:solidFill>
                  <a:srgbClr val="FFFFFF"/>
                </a:solidFill>
                <a:latin typeface="+mj-lt"/>
              </a:rPr>
              <a:t>Balance sheet</a:t>
            </a:r>
          </a:p>
        </p:txBody>
      </p:sp>
      <p:sp>
        <p:nvSpPr>
          <p:cNvPr id="35" name="TextBox 34">
            <a:hlinkClick r:id="rId16" action="ppaction://hlinksldjump"/>
            <a:extLst>
              <a:ext uri="{FF2B5EF4-FFF2-40B4-BE49-F238E27FC236}">
                <a16:creationId xmlns:a16="http://schemas.microsoft.com/office/drawing/2014/main" id="{A8D9C342-EA79-FB12-33B5-22E5F5819FB2}"/>
              </a:ext>
            </a:extLst>
          </p:cNvPr>
          <p:cNvSpPr txBox="1"/>
          <p:nvPr>
            <p:custDataLst>
              <p:tags r:id="rId3"/>
            </p:custDataLst>
          </p:nvPr>
        </p:nvSpPr>
        <p:spPr>
          <a:xfrm>
            <a:off x="1714809" y="3604706"/>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Balance sheet overview</a:t>
            </a:r>
          </a:p>
        </p:txBody>
      </p:sp>
      <p:sp>
        <p:nvSpPr>
          <p:cNvPr id="36" name="TextBox 35">
            <a:hlinkClick r:id="rId17" action="ppaction://hlinksldjump"/>
            <a:extLst>
              <a:ext uri="{FF2B5EF4-FFF2-40B4-BE49-F238E27FC236}">
                <a16:creationId xmlns:a16="http://schemas.microsoft.com/office/drawing/2014/main" id="{76F4C53A-2612-6612-68AE-A6794DED69A6}"/>
              </a:ext>
            </a:extLst>
          </p:cNvPr>
          <p:cNvSpPr txBox="1"/>
          <p:nvPr>
            <p:custDataLst>
              <p:tags r:id="rId4"/>
            </p:custDataLst>
          </p:nvPr>
        </p:nvSpPr>
        <p:spPr>
          <a:xfrm>
            <a:off x="1714809" y="3999422"/>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Net working capital</a:t>
            </a:r>
          </a:p>
        </p:txBody>
      </p:sp>
      <p:sp>
        <p:nvSpPr>
          <p:cNvPr id="37" name="TextBox 36">
            <a:hlinkClick r:id="rId18" action="ppaction://hlinksldjump"/>
            <a:extLst>
              <a:ext uri="{FF2B5EF4-FFF2-40B4-BE49-F238E27FC236}">
                <a16:creationId xmlns:a16="http://schemas.microsoft.com/office/drawing/2014/main" id="{98E6B4D0-F21C-209B-5218-F5025F445091}"/>
              </a:ext>
            </a:extLst>
          </p:cNvPr>
          <p:cNvSpPr txBox="1"/>
          <p:nvPr>
            <p:custDataLst>
              <p:tags r:id="rId5"/>
            </p:custDataLst>
          </p:nvPr>
        </p:nvSpPr>
        <p:spPr>
          <a:xfrm>
            <a:off x="1714809" y="4394138"/>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Net debt</a:t>
            </a:r>
          </a:p>
        </p:txBody>
      </p:sp>
      <p:sp>
        <p:nvSpPr>
          <p:cNvPr id="38" name="TextBox 37">
            <a:hlinkClick r:id="rId15" action="ppaction://hlinksldjump"/>
            <a:extLst>
              <a:ext uri="{FF2B5EF4-FFF2-40B4-BE49-F238E27FC236}">
                <a16:creationId xmlns:a16="http://schemas.microsoft.com/office/drawing/2014/main" id="{3CFEDC98-9BC6-34DF-A45D-6089B57E4ADF}"/>
              </a:ext>
            </a:extLst>
          </p:cNvPr>
          <p:cNvSpPr txBox="1"/>
          <p:nvPr>
            <p:custDataLst>
              <p:tags r:id="rId6"/>
            </p:custDataLst>
          </p:nvPr>
        </p:nvSpPr>
        <p:spPr>
          <a:xfrm>
            <a:off x="1289304" y="3566606"/>
            <a:ext cx="3952700" cy="0"/>
          </a:xfrm>
          <a:prstGeom prst="rect">
            <a:avLst/>
          </a:prstGeom>
        </p:spPr>
        <p:txBody>
          <a:bodyPr vert="horz" wrap="none" lIns="0" tIns="0" rIns="0" bIns="4389120" rtlCol="0" anchor="t" anchorCtr="0">
            <a:noAutofit/>
          </a:bodyPr>
          <a:lstStyle/>
          <a:p>
            <a:pPr algn="l">
              <a:lnSpc>
                <a:spcPct val="80000"/>
              </a:lnSpc>
              <a:spcAft>
                <a:spcPts val="600"/>
              </a:spcAft>
            </a:pPr>
            <a:r>
              <a:rPr lang="en-US" sz="6600" b="1">
                <a:solidFill>
                  <a:srgbClr val="FFFFFF"/>
                </a:solidFill>
                <a:latin typeface="+mj-lt"/>
              </a:rPr>
              <a:t>04</a:t>
            </a:r>
          </a:p>
        </p:txBody>
      </p:sp>
      <p:sp>
        <p:nvSpPr>
          <p:cNvPr id="39" name="TextBox 38">
            <a:hlinkClick r:id="rId15" action="ppaction://hlinksldjump"/>
            <a:extLst>
              <a:ext uri="{FF2B5EF4-FFF2-40B4-BE49-F238E27FC236}">
                <a16:creationId xmlns:a16="http://schemas.microsoft.com/office/drawing/2014/main" id="{11DA3C10-B0B1-5F05-3095-880B8DCB83DD}"/>
              </a:ext>
            </a:extLst>
          </p:cNvPr>
          <p:cNvSpPr txBox="1"/>
          <p:nvPr>
            <p:custDataLst>
              <p:tags r:id="rId7"/>
            </p:custDataLst>
          </p:nvPr>
        </p:nvSpPr>
        <p:spPr>
          <a:xfrm>
            <a:off x="6163612" y="3209990"/>
            <a:ext cx="0" cy="356616"/>
          </a:xfrm>
          <a:prstGeom prst="rect">
            <a:avLst/>
          </a:prstGeom>
          <a:noFill/>
          <a:ln>
            <a:noFill/>
          </a:ln>
        </p:spPr>
        <p:txBody>
          <a:bodyPr vert="horz" wrap="none" lIns="0" tIns="0" rIns="0" bIns="0" rtlCol="0" anchor="t" anchorCtr="0">
            <a:noAutofit/>
          </a:bodyPr>
          <a:lstStyle/>
          <a:p>
            <a:pPr algn="ctr"/>
            <a:r>
              <a:rPr lang="en-US" sz="100">
                <a:ln>
                  <a:noFill/>
                </a:ln>
                <a:noFill/>
                <a:latin typeface="+mj-lt"/>
              </a:rPr>
              <a:t>28</a:t>
            </a:r>
          </a:p>
        </p:txBody>
      </p:sp>
      <p:sp>
        <p:nvSpPr>
          <p:cNvPr id="40" name="TextBox 39">
            <a:hlinkClick r:id="rId16" action="ppaction://hlinksldjump"/>
            <a:extLst>
              <a:ext uri="{FF2B5EF4-FFF2-40B4-BE49-F238E27FC236}">
                <a16:creationId xmlns:a16="http://schemas.microsoft.com/office/drawing/2014/main" id="{030E7B04-46F2-4761-A76C-F6F4C34242CC}"/>
              </a:ext>
            </a:extLst>
          </p:cNvPr>
          <p:cNvSpPr txBox="1"/>
          <p:nvPr>
            <p:custDataLst>
              <p:tags r:id="rId8"/>
            </p:custDataLst>
          </p:nvPr>
        </p:nvSpPr>
        <p:spPr bwMode="auto">
          <a:xfrm>
            <a:off x="1332373" y="3604706"/>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4.1</a:t>
            </a:r>
          </a:p>
        </p:txBody>
      </p:sp>
      <p:sp>
        <p:nvSpPr>
          <p:cNvPr id="41" name="TextBox 40">
            <a:hlinkClick r:id="rId17" action="ppaction://hlinksldjump"/>
            <a:extLst>
              <a:ext uri="{FF2B5EF4-FFF2-40B4-BE49-F238E27FC236}">
                <a16:creationId xmlns:a16="http://schemas.microsoft.com/office/drawing/2014/main" id="{7A529039-7BBD-3C47-3223-6B3301A8796E}"/>
              </a:ext>
            </a:extLst>
          </p:cNvPr>
          <p:cNvSpPr txBox="1"/>
          <p:nvPr>
            <p:custDataLst>
              <p:tags r:id="rId9"/>
            </p:custDataLst>
          </p:nvPr>
        </p:nvSpPr>
        <p:spPr bwMode="auto">
          <a:xfrm>
            <a:off x="1332373" y="3999422"/>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4.2</a:t>
            </a:r>
          </a:p>
        </p:txBody>
      </p:sp>
      <p:sp>
        <p:nvSpPr>
          <p:cNvPr id="42" name="TextBox 41">
            <a:hlinkClick r:id="rId18" action="ppaction://hlinksldjump"/>
            <a:extLst>
              <a:ext uri="{FF2B5EF4-FFF2-40B4-BE49-F238E27FC236}">
                <a16:creationId xmlns:a16="http://schemas.microsoft.com/office/drawing/2014/main" id="{8A5E41B0-29DE-9390-38A4-A1AEE3DF8A3D}"/>
              </a:ext>
            </a:extLst>
          </p:cNvPr>
          <p:cNvSpPr txBox="1"/>
          <p:nvPr>
            <p:custDataLst>
              <p:tags r:id="rId10"/>
            </p:custDataLst>
          </p:nvPr>
        </p:nvSpPr>
        <p:spPr bwMode="auto">
          <a:xfrm>
            <a:off x="1332373" y="4394138"/>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4.3</a:t>
            </a:r>
          </a:p>
        </p:txBody>
      </p:sp>
      <p:sp>
        <p:nvSpPr>
          <p:cNvPr id="43" name="TextBox 42">
            <a:hlinkClick r:id="rId16" action="ppaction://hlinksldjump"/>
            <a:extLst>
              <a:ext uri="{FF2B5EF4-FFF2-40B4-BE49-F238E27FC236}">
                <a16:creationId xmlns:a16="http://schemas.microsoft.com/office/drawing/2014/main" id="{BAF161C1-2A0A-4818-0E7F-01C923664E84}"/>
              </a:ext>
            </a:extLst>
          </p:cNvPr>
          <p:cNvSpPr txBox="1"/>
          <p:nvPr>
            <p:custDataLst>
              <p:tags r:id="rId11"/>
            </p:custDataLst>
          </p:nvPr>
        </p:nvSpPr>
        <p:spPr>
          <a:xfrm>
            <a:off x="6163612" y="3604706"/>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29</a:t>
            </a:r>
          </a:p>
        </p:txBody>
      </p:sp>
      <p:sp>
        <p:nvSpPr>
          <p:cNvPr id="44" name="TextBox 43">
            <a:hlinkClick r:id="rId17" action="ppaction://hlinksldjump"/>
            <a:extLst>
              <a:ext uri="{FF2B5EF4-FFF2-40B4-BE49-F238E27FC236}">
                <a16:creationId xmlns:a16="http://schemas.microsoft.com/office/drawing/2014/main" id="{4C177DF3-E253-6520-BF15-10EAA5FF36EB}"/>
              </a:ext>
            </a:extLst>
          </p:cNvPr>
          <p:cNvSpPr txBox="1"/>
          <p:nvPr>
            <p:custDataLst>
              <p:tags r:id="rId12"/>
            </p:custDataLst>
          </p:nvPr>
        </p:nvSpPr>
        <p:spPr>
          <a:xfrm>
            <a:off x="6163612" y="3999422"/>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32</a:t>
            </a:r>
          </a:p>
        </p:txBody>
      </p:sp>
      <p:sp>
        <p:nvSpPr>
          <p:cNvPr id="45" name="TextBox 44">
            <a:hlinkClick r:id="rId18" action="ppaction://hlinksldjump"/>
            <a:extLst>
              <a:ext uri="{FF2B5EF4-FFF2-40B4-BE49-F238E27FC236}">
                <a16:creationId xmlns:a16="http://schemas.microsoft.com/office/drawing/2014/main" id="{1AEBC0E5-F906-08E1-C3F1-F97C263D3A30}"/>
              </a:ext>
            </a:extLst>
          </p:cNvPr>
          <p:cNvSpPr txBox="1"/>
          <p:nvPr>
            <p:custDataLst>
              <p:tags r:id="rId13"/>
            </p:custDataLst>
          </p:nvPr>
        </p:nvSpPr>
        <p:spPr>
          <a:xfrm>
            <a:off x="6163612" y="4394138"/>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37</a:t>
            </a:r>
          </a:p>
        </p:txBody>
      </p:sp>
    </p:spTree>
    <p:custDataLst>
      <p:tags r:id="rId1"/>
    </p:custDataLst>
    <p:extLst>
      <p:ext uri="{BB962C8B-B14F-4D97-AF65-F5344CB8AC3E}">
        <p14:creationId xmlns:p14="http://schemas.microsoft.com/office/powerpoint/2010/main" val="5186805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58260B24-EB1E-499D-A18C-A790E32EB7F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4" name="Object 13" hidden="1">
                        <a:extLst>
                          <a:ext uri="{FF2B5EF4-FFF2-40B4-BE49-F238E27FC236}">
                            <a16:creationId xmlns:a16="http://schemas.microsoft.com/office/drawing/2014/main" id="{58260B24-EB1E-499D-A18C-A790E32EB7F8}"/>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2F3D37F5-54B0-4783-BE57-7263B11FF044}"/>
              </a:ext>
            </a:extLst>
          </p:cNvPr>
          <p:cNvSpPr>
            <a:spLocks noGrp="1"/>
          </p:cNvSpPr>
          <p:nvPr>
            <p:ph type="title"/>
          </p:nvPr>
        </p:nvSpPr>
        <p:spPr/>
        <p:txBody>
          <a:bodyPr vert="horz"/>
          <a:lstStyle/>
          <a:p>
            <a:r>
              <a:rPr lang="en-US"/>
              <a:t>Balance sheet overview (1/3)</a:t>
            </a:r>
          </a:p>
        </p:txBody>
      </p:sp>
      <p:sp>
        <p:nvSpPr>
          <p:cNvPr id="6" name="Text Placeholder 5">
            <a:extLst>
              <a:ext uri="{FF2B5EF4-FFF2-40B4-BE49-F238E27FC236}">
                <a16:creationId xmlns:a16="http://schemas.microsoft.com/office/drawing/2014/main" id="{DBF707A2-3459-FCA4-8A2F-B92096D2BF42}"/>
              </a:ext>
            </a:extLst>
          </p:cNvPr>
          <p:cNvSpPr>
            <a:spLocks noGrp="1"/>
          </p:cNvSpPr>
          <p:nvPr>
            <p:ph type="body" sz="quarter" idx="11"/>
          </p:nvPr>
        </p:nvSpPr>
        <p:spPr/>
        <p:txBody>
          <a:bodyPr/>
          <a:lstStyle/>
          <a:p>
            <a:r>
              <a:rPr lang="fi-FI"/>
              <a:t>Commentary</a:t>
            </a:r>
          </a:p>
        </p:txBody>
      </p:sp>
      <p:sp>
        <p:nvSpPr>
          <p:cNvPr id="5" name="Text Placeholder 4">
            <a:extLst>
              <a:ext uri="{FF2B5EF4-FFF2-40B4-BE49-F238E27FC236}">
                <a16:creationId xmlns:a16="http://schemas.microsoft.com/office/drawing/2014/main" id="{E6ED650C-FAD0-C31B-617E-C18EB891DC73}"/>
              </a:ext>
            </a:extLst>
          </p:cNvPr>
          <p:cNvSpPr>
            <a:spLocks noGrp="1"/>
          </p:cNvSpPr>
          <p:nvPr>
            <p:ph type="body" sz="quarter" idx="10"/>
          </p:nvPr>
        </p:nvSpPr>
        <p:spPr>
          <a:xfrm>
            <a:off x="995361" y="1179513"/>
            <a:ext cx="10198239" cy="460800"/>
          </a:xfrm>
        </p:spPr>
        <p:txBody>
          <a:bodyPr/>
          <a:lstStyle/>
          <a:p>
            <a:r>
              <a:rPr lang="en-US"/>
              <a:t>Reported net assets are $64.2 million at March 31, 2025. Significant balances include intangible assets related to goodwill and capitalized development costs ($118.7 million), cash ($10.7 million), deferred income ($(26.8) million), and long term loans ($(41.8) million). Refer to Appendix 3 for an adjusted balance sheet inclusive of adjustments to reported net assets contemplated in the Locked Box mechanism at December 31, 2024.</a:t>
            </a:r>
          </a:p>
        </p:txBody>
      </p:sp>
      <p:sp>
        <p:nvSpPr>
          <p:cNvPr id="22" name="Text Placeholder 21">
            <a:extLst>
              <a:ext uri="{FF2B5EF4-FFF2-40B4-BE49-F238E27FC236}">
                <a16:creationId xmlns:a16="http://schemas.microsoft.com/office/drawing/2014/main" id="{32447741-916D-472C-8C2F-6676D4D2591A}"/>
              </a:ext>
            </a:extLst>
          </p:cNvPr>
          <p:cNvSpPr>
            <a:spLocks noGrp="1"/>
          </p:cNvSpPr>
          <p:nvPr>
            <p:ph type="body" sz="quarter" idx="24"/>
          </p:nvPr>
        </p:nvSpPr>
        <p:spPr>
          <a:xfrm>
            <a:off x="6165629" y="2003584"/>
            <a:ext cx="5036400" cy="4063841"/>
          </a:xfrm>
        </p:spPr>
        <p:txBody>
          <a:bodyPr/>
          <a:lstStyle/>
          <a:p>
            <a:pPr lvl="1" defTabSz="914377">
              <a:defRPr/>
            </a:pPr>
            <a:r>
              <a:rPr lang="en-US" b="1">
                <a:solidFill>
                  <a:schemeClr val="tx2"/>
                </a:solidFill>
              </a:rPr>
              <a:t>Fixed assets</a:t>
            </a:r>
          </a:p>
          <a:p>
            <a:pPr marL="171450" lvl="1" indent="-171450" defTabSz="914377">
              <a:buFont typeface="Arial" panose="020B0604020202020204" pitchFamily="34" charset="0"/>
              <a:buChar char="•"/>
              <a:defRPr/>
            </a:pPr>
            <a:r>
              <a:rPr lang="en-US" b="1"/>
              <a:t>Intangible assets: </a:t>
            </a:r>
            <a:r>
              <a:rPr lang="en-US"/>
              <a:t>Primarily relates to goodwill (Mar-25: $86.5 million) and capitalized development costs related to content, editorial and software. See the memo on page 9 for discussion of P&amp;L capex associated with R&amp;D. See page 43 for commentary on GAAP considerations related to capitalized R&amp;D.</a:t>
            </a:r>
          </a:p>
          <a:p>
            <a:pPr marL="171450" lvl="1" indent="-171450" defTabSz="914377">
              <a:buFont typeface="Arial" panose="020B0604020202020204" pitchFamily="34" charset="0"/>
              <a:buChar char="•"/>
              <a:defRPr/>
            </a:pPr>
            <a:r>
              <a:rPr lang="en-US" b="1"/>
              <a:t>Financial assets: </a:t>
            </a:r>
            <a:r>
              <a:rPr lang="en-US"/>
              <a:t>Relates to minority financial investment holdings, including Irwing  Law ($0.2 million) and various deposits (e.g., security deposits for leases).</a:t>
            </a:r>
          </a:p>
          <a:p>
            <a:pPr marL="171450" lvl="1" indent="-171450" defTabSz="914377">
              <a:buFont typeface="Arial" panose="020B0604020202020204" pitchFamily="34" charset="0"/>
              <a:buChar char="•"/>
              <a:defRPr/>
            </a:pPr>
            <a:r>
              <a:rPr lang="en-US" b="1"/>
              <a:t>Tangible assets: </a:t>
            </a:r>
            <a:r>
              <a:rPr lang="en-US"/>
              <a:t>Vortex has limited tangible assets related to hardware, equipment, furniture and fixtures at offices.</a:t>
            </a:r>
          </a:p>
          <a:p>
            <a:pPr lvl="1" defTabSz="914377">
              <a:defRPr/>
            </a:pPr>
            <a:r>
              <a:rPr lang="en-US" b="1">
                <a:solidFill>
                  <a:schemeClr val="tx2"/>
                </a:solidFill>
              </a:rPr>
              <a:t>Working capital</a:t>
            </a:r>
          </a:p>
          <a:p>
            <a:pPr marL="171450" lvl="1" indent="-171450" defTabSz="914377">
              <a:buFont typeface="Arial" panose="020B0604020202020204" pitchFamily="34" charset="0"/>
              <a:buChar char="•"/>
              <a:defRPr/>
            </a:pPr>
            <a:r>
              <a:rPr lang="en-US" b="1"/>
              <a:t>Trade receivables: </a:t>
            </a:r>
            <a:r>
              <a:rPr lang="en-US"/>
              <a:t>Customer billing schedules vary from upfront (65% of ARR), monthly (10% of ARR) to various other arrangements (25% of ARR). Typical customer payment terms are 30</a:t>
            </a:r>
            <a:r>
              <a:rPr lang="en-US">
                <a:solidFill>
                  <a:srgbClr val="FF0000"/>
                </a:solidFill>
              </a:rPr>
              <a:t> </a:t>
            </a:r>
            <a:r>
              <a:rPr lang="en-US"/>
              <a:t>days. At Mar-25, 13% of AR was aged over 120 days past due date. Vortex maintains a bad debt provision and fully provides for any amounts exceeding 360 days overdue. Additionally, those overdue between 181 and 360 days are provisioned at 50%. However, for specific clients where an agreement has been reached, these amounts are not provisioned. Mar-25 included a provision of $(0.7) million.</a:t>
            </a:r>
          </a:p>
          <a:p>
            <a:pPr marL="171450" lvl="1" indent="-171450" defTabSz="914377">
              <a:buFont typeface="Arial" panose="020B0604020202020204" pitchFamily="34" charset="0"/>
              <a:buChar char="•"/>
              <a:defRPr/>
            </a:pPr>
            <a:r>
              <a:rPr lang="en-US" b="1"/>
              <a:t>Deferred expenses: </a:t>
            </a:r>
            <a:r>
              <a:rPr lang="en-US"/>
              <a:t>Commissions are capitalized and amortized according to the contract type. Commissions are deferred for new sales based on an average customer lifetime (which Vortex determined is five years). Conversely for renewals, commissions are deferred based on the average contract term (Vortex determined this to be 14 months; supporting calculations for this average were not provided). </a:t>
            </a:r>
            <a:endParaRPr lang="en-US">
              <a:solidFill>
                <a:schemeClr val="tx2"/>
              </a:solidFill>
            </a:endParaRPr>
          </a:p>
          <a:p>
            <a:pPr marL="171450" lvl="1" indent="-171450" defTabSz="914377">
              <a:buFont typeface="Arial" panose="020B0604020202020204" pitchFamily="34" charset="0"/>
              <a:buChar char="•"/>
              <a:defRPr/>
            </a:pPr>
            <a:endParaRPr lang="en-US" b="1"/>
          </a:p>
        </p:txBody>
      </p:sp>
      <p:sp>
        <p:nvSpPr>
          <p:cNvPr id="69" name="Rectangle 68">
            <a:extLst>
              <a:ext uri="{FF2B5EF4-FFF2-40B4-BE49-F238E27FC236}">
                <a16:creationId xmlns:a16="http://schemas.microsoft.com/office/drawing/2014/main" id="{3F8C259A-FCC2-4B0F-985F-E89583E7B062}"/>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70" name="Rectangle 69">
            <a:extLst>
              <a:ext uri="{FF2B5EF4-FFF2-40B4-BE49-F238E27FC236}">
                <a16:creationId xmlns:a16="http://schemas.microsoft.com/office/drawing/2014/main" id="{454F1D45-DC29-4C47-A618-ABA758E9EA7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74" name="Rectangle 73">
            <a:extLst>
              <a:ext uri="{FF2B5EF4-FFF2-40B4-BE49-F238E27FC236}">
                <a16:creationId xmlns:a16="http://schemas.microsoft.com/office/drawing/2014/main" id="{3DEDF8F0-97F8-486C-9F44-939F6D6F396F}"/>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75" name="Rectangle 74">
            <a:extLst>
              <a:ext uri="{FF2B5EF4-FFF2-40B4-BE49-F238E27FC236}">
                <a16:creationId xmlns:a16="http://schemas.microsoft.com/office/drawing/2014/main" id="{39A99CCF-B6AD-4615-8ADB-97A5B8E43BFD}"/>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76" name="Rectangle 75">
            <a:extLst>
              <a:ext uri="{FF2B5EF4-FFF2-40B4-BE49-F238E27FC236}">
                <a16:creationId xmlns:a16="http://schemas.microsoft.com/office/drawing/2014/main" id="{C4A93377-0DDE-4561-8C86-225FB32A6C59}"/>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6" name="Text Placeholder 7">
            <a:extLst>
              <a:ext uri="{FF2B5EF4-FFF2-40B4-BE49-F238E27FC236}">
                <a16:creationId xmlns:a16="http://schemas.microsoft.com/office/drawing/2014/main" id="{3C6D3332-9330-6411-284C-A6C319E8808B}"/>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7" name="Text Placeholder 12">
            <a:extLst>
              <a:ext uri="{FF2B5EF4-FFF2-40B4-BE49-F238E27FC236}">
                <a16:creationId xmlns:a16="http://schemas.microsoft.com/office/drawing/2014/main" id="{4F9A2832-2716-7482-C01A-F03E974EF0F3}"/>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8" name="Rounded Rectangle 7">
            <a:extLst>
              <a:ext uri="{FF2B5EF4-FFF2-40B4-BE49-F238E27FC236}">
                <a16:creationId xmlns:a16="http://schemas.microsoft.com/office/drawing/2014/main" id="{E0BF912F-2DEF-F525-8F12-1807EE146D73}"/>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9" name="Rectangle 18">
            <a:extLst>
              <a:ext uri="{FF2B5EF4-FFF2-40B4-BE49-F238E27FC236}">
                <a16:creationId xmlns:a16="http://schemas.microsoft.com/office/drawing/2014/main" id="{9C0A6B80-8695-3A42-AE08-23F8E6804294}"/>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20" name="Straight Arrow Connector 19">
            <a:extLst>
              <a:ext uri="{FF2B5EF4-FFF2-40B4-BE49-F238E27FC236}">
                <a16:creationId xmlns:a16="http://schemas.microsoft.com/office/drawing/2014/main" id="{5B7F658B-5691-7F5D-AAE4-C3E564149219}"/>
              </a:ext>
            </a:extLst>
          </p:cNvPr>
          <p:cNvCxnSpPr>
            <a:cxnSpLocks/>
            <a:stCxn id="19" idx="2"/>
            <a:endCxn id="18"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6B5F1A99-BECB-4348-9787-346999997712}"/>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2" name="Rectangle 1">
            <a:extLst>
              <a:ext uri="{FF2B5EF4-FFF2-40B4-BE49-F238E27FC236}">
                <a16:creationId xmlns:a16="http://schemas.microsoft.com/office/drawing/2014/main" id="{525F0A5F-520F-220B-D5CB-D4D5467307B3}"/>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4" name="Rectangle 3">
            <a:extLst>
              <a:ext uri="{FF2B5EF4-FFF2-40B4-BE49-F238E27FC236}">
                <a16:creationId xmlns:a16="http://schemas.microsoft.com/office/drawing/2014/main" id="{B2698541-3550-5415-D310-4DB0D71C836A}"/>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 name="Rectangle 8">
            <a:extLst>
              <a:ext uri="{FF2B5EF4-FFF2-40B4-BE49-F238E27FC236}">
                <a16:creationId xmlns:a16="http://schemas.microsoft.com/office/drawing/2014/main" id="{21D89959-A128-F453-4A1B-2F4B781B99E4}"/>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3" name="UpSlide SubSection Marker" hidden="1">
            <a:extLst>
              <a:ext uri="{FF2B5EF4-FFF2-40B4-BE49-F238E27FC236}">
                <a16:creationId xmlns:a16="http://schemas.microsoft.com/office/drawing/2014/main" id="{1A2BFD4C-0D60-8A3D-9733-70796EF3B364}"/>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Balance sheet overview</a:t>
            </a:r>
          </a:p>
        </p:txBody>
      </p:sp>
      <p:pic>
        <p:nvPicPr>
          <p:cNvPr id="11" name="Picture 10">
            <a:extLst>
              <a:ext uri="{FF2B5EF4-FFF2-40B4-BE49-F238E27FC236}">
                <a16:creationId xmlns:a16="http://schemas.microsoft.com/office/drawing/2014/main" id="{C287BD7D-BE61-A43E-7D93-B09EB5EE5498}"/>
              </a:ext>
            </a:extLst>
          </p:cNvPr>
          <p:cNvPicPr>
            <a:picLocks noChangeAspect="1"/>
          </p:cNvPicPr>
          <p:nvPr>
            <p:custDataLst>
              <p:tags r:id="rId4"/>
            </p:custDataLst>
          </p:nvPr>
        </p:nvPicPr>
        <p:blipFill>
          <a:blip r:embed="rId10"/>
          <a:stretch>
            <a:fillRect/>
          </a:stretch>
        </p:blipFill>
        <p:spPr>
          <a:xfrm>
            <a:off x="995362" y="1734166"/>
            <a:ext cx="4976615" cy="3606134"/>
          </a:xfrm>
          <a:prstGeom prst="rect">
            <a:avLst/>
          </a:prstGeom>
        </p:spPr>
      </p:pic>
      <p:sp>
        <p:nvSpPr>
          <p:cNvPr id="10" name="Text Placeholder 12">
            <a:extLst>
              <a:ext uri="{FF2B5EF4-FFF2-40B4-BE49-F238E27FC236}">
                <a16:creationId xmlns:a16="http://schemas.microsoft.com/office/drawing/2014/main" id="{DDF1323A-9E55-12ED-89A1-EF534ED0F446}"/>
              </a:ext>
            </a:extLst>
          </p:cNvPr>
          <p:cNvSpPr txBox="1">
            <a:spLocks/>
          </p:cNvSpPr>
          <p:nvPr/>
        </p:nvSpPr>
        <p:spPr>
          <a:xfrm>
            <a:off x="1083940" y="5876925"/>
            <a:ext cx="4579566" cy="302647"/>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The balance sheet is presented on a constant  currency basis with reference to January 1, 2025. Further, this is presented 	on a reported basis, refer to Appendix 3 for an adjusted balance sheet inclusive of adjustments to NWC and net debt.</a:t>
            </a:r>
          </a:p>
          <a:p>
            <a:pPr defTabSz="444500" rtl="0">
              <a:spcAft>
                <a:spcPts val="200"/>
              </a:spcAft>
            </a:pPr>
            <a:r>
              <a:rPr lang="en-US" sz="600" b="0">
                <a:solidFill>
                  <a:schemeClr val="tx2"/>
                </a:solidFill>
                <a:latin typeface="Arial" panose="020B0604020202020204" pitchFamily="34" charset="0"/>
              </a:rPr>
              <a:t>Source: 	2.2.2.5_20250515 Project Vortex - Databook - Balance Sheet.xlsb.</a:t>
            </a:r>
          </a:p>
        </p:txBody>
      </p:sp>
      <p:grpSp>
        <p:nvGrpSpPr>
          <p:cNvPr id="84" name="Group 83">
            <a:extLst>
              <a:ext uri="{FF2B5EF4-FFF2-40B4-BE49-F238E27FC236}">
                <a16:creationId xmlns:a16="http://schemas.microsoft.com/office/drawing/2014/main" id="{CE65BD84-B31F-4942-E487-D3BE47255EC7}"/>
              </a:ext>
            </a:extLst>
          </p:cNvPr>
          <p:cNvGrpSpPr/>
          <p:nvPr>
            <p:custDataLst>
              <p:tags r:id="rId5"/>
            </p:custDataLst>
          </p:nvPr>
        </p:nvGrpSpPr>
        <p:grpSpPr>
          <a:xfrm>
            <a:off x="995364" y="153170"/>
            <a:ext cx="7407882" cy="195814"/>
            <a:chOff x="995364" y="153170"/>
            <a:chExt cx="7407882" cy="195814"/>
          </a:xfrm>
        </p:grpSpPr>
        <p:sp>
          <p:nvSpPr>
            <p:cNvPr id="78"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79"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80"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325196"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81" name="Current Section4">
              <a:hlinkClick r:id="rId14" action="ppaction://hlinksldjump"/>
              <a:extLst>
                <a:ext uri="{FF2B5EF4-FFF2-40B4-BE49-F238E27FC236}">
                  <a16:creationId xmlns:a16="http://schemas.microsoft.com/office/drawing/2014/main" id="{89A61135-1F00-E77F-7C78-5FBA241A5742}"/>
                </a:ext>
              </a:extLst>
            </p:cNvPr>
            <p:cNvSpPr>
              <a:spLocks/>
            </p:cNvSpPr>
            <p:nvPr/>
          </p:nvSpPr>
          <p:spPr>
            <a:xfrm>
              <a:off x="477384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82"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613351"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83"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771442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704508114"/>
      </p:ext>
    </p:extLst>
  </p:cSld>
  <p:clrMapOvr>
    <a:masterClrMapping/>
  </p:clrMapOvr>
  <p:extLst>
    <p:ext uri="{6950BFC3-D8DA-4A85-94F7-54DA5524770B}">
      <p188:commentRel xmlns:p188="http://schemas.microsoft.com/office/powerpoint/2018/8/main" r:id="rId7"/>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58260B24-EB1E-499D-A18C-A790E32EB7F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4" name="Object 13" hidden="1">
                        <a:extLst>
                          <a:ext uri="{FF2B5EF4-FFF2-40B4-BE49-F238E27FC236}">
                            <a16:creationId xmlns:a16="http://schemas.microsoft.com/office/drawing/2014/main" id="{58260B24-EB1E-499D-A18C-A790E32EB7F8}"/>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2F3D37F5-54B0-4783-BE57-7263B11FF044}"/>
              </a:ext>
            </a:extLst>
          </p:cNvPr>
          <p:cNvSpPr>
            <a:spLocks noGrp="1"/>
          </p:cNvSpPr>
          <p:nvPr>
            <p:ph type="title"/>
          </p:nvPr>
        </p:nvSpPr>
        <p:spPr/>
        <p:txBody>
          <a:bodyPr vert="horz"/>
          <a:lstStyle/>
          <a:p>
            <a:r>
              <a:rPr lang="en-US"/>
              <a:t>Balance sheet overview (2/3)</a:t>
            </a:r>
          </a:p>
        </p:txBody>
      </p:sp>
      <p:sp>
        <p:nvSpPr>
          <p:cNvPr id="6" name="Text Placeholder 5">
            <a:extLst>
              <a:ext uri="{FF2B5EF4-FFF2-40B4-BE49-F238E27FC236}">
                <a16:creationId xmlns:a16="http://schemas.microsoft.com/office/drawing/2014/main" id="{DBF707A2-3459-FCA4-8A2F-B92096D2BF42}"/>
              </a:ext>
            </a:extLst>
          </p:cNvPr>
          <p:cNvSpPr>
            <a:spLocks noGrp="1"/>
          </p:cNvSpPr>
          <p:nvPr>
            <p:ph type="body" sz="quarter" idx="11"/>
          </p:nvPr>
        </p:nvSpPr>
        <p:spPr/>
        <p:txBody>
          <a:bodyPr/>
          <a:lstStyle/>
          <a:p>
            <a:r>
              <a:rPr lang="fi-FI"/>
              <a:t>Commentary</a:t>
            </a:r>
          </a:p>
        </p:txBody>
      </p:sp>
      <p:sp>
        <p:nvSpPr>
          <p:cNvPr id="5" name="Text Placeholder 4">
            <a:extLst>
              <a:ext uri="{FF2B5EF4-FFF2-40B4-BE49-F238E27FC236}">
                <a16:creationId xmlns:a16="http://schemas.microsoft.com/office/drawing/2014/main" id="{E6ED650C-FAD0-C31B-617E-C18EB891DC73}"/>
              </a:ext>
            </a:extLst>
          </p:cNvPr>
          <p:cNvSpPr>
            <a:spLocks noGrp="1"/>
          </p:cNvSpPr>
          <p:nvPr>
            <p:ph type="body" sz="quarter" idx="10"/>
          </p:nvPr>
        </p:nvSpPr>
        <p:spPr>
          <a:xfrm>
            <a:off x="995361" y="1179513"/>
            <a:ext cx="10206668" cy="460800"/>
          </a:xfrm>
        </p:spPr>
        <p:txBody>
          <a:bodyPr/>
          <a:lstStyle/>
          <a:p>
            <a:r>
              <a:rPr lang="fi-FI"/>
              <a:t>Deferred income relates to customers who have paid upfront for their contracts. At Mar-25, $(9.8) million of the $(26.8) million of deferred income relates to seven non-standard long term contracts – refer to NWC adj. #2 on page 35 for further discussion. </a:t>
            </a:r>
          </a:p>
        </p:txBody>
      </p:sp>
      <p:sp>
        <p:nvSpPr>
          <p:cNvPr id="22" name="Text Placeholder 21">
            <a:extLst>
              <a:ext uri="{FF2B5EF4-FFF2-40B4-BE49-F238E27FC236}">
                <a16:creationId xmlns:a16="http://schemas.microsoft.com/office/drawing/2014/main" id="{32447741-916D-472C-8C2F-6676D4D2591A}"/>
              </a:ext>
            </a:extLst>
          </p:cNvPr>
          <p:cNvSpPr>
            <a:spLocks noGrp="1"/>
          </p:cNvSpPr>
          <p:nvPr>
            <p:ph type="body" sz="quarter" idx="24"/>
          </p:nvPr>
        </p:nvSpPr>
        <p:spPr/>
        <p:txBody>
          <a:bodyPr/>
          <a:lstStyle/>
          <a:p>
            <a:pPr lvl="1" defTabSz="914377">
              <a:defRPr/>
            </a:pPr>
            <a:r>
              <a:rPr lang="en-US" b="1">
                <a:solidFill>
                  <a:schemeClr val="tx2"/>
                </a:solidFill>
              </a:rPr>
              <a:t>Working capital cont.</a:t>
            </a:r>
          </a:p>
          <a:p>
            <a:pPr marL="171450" lvl="1" indent="-171450" defTabSz="914377">
              <a:buFont typeface="Arial" panose="020B0604020202020204" pitchFamily="34" charset="0"/>
              <a:buChar char="•"/>
              <a:defRPr/>
            </a:pPr>
            <a:r>
              <a:rPr lang="en-US" b="1"/>
              <a:t>Trade payables: </a:t>
            </a:r>
            <a:r>
              <a:rPr lang="en-US"/>
              <a:t>Standard terms with suppliers vary from 30 to 40 days. Management indicated average DPO for FY24 was calculated at 38 days. At Mar-25, the top 10 suppliers account for 47.8% of purchases. Additionally, 3.0% of AP is aged over 180 days past due date at Mar-25 – however, the agreed Locked Box includes a debit of $4,000 for overdue AP.</a:t>
            </a:r>
          </a:p>
          <a:p>
            <a:pPr marL="171450" lvl="1" indent="-171450" defTabSz="914377">
              <a:buFont typeface="Arial" panose="020B0604020202020204" pitchFamily="34" charset="0"/>
              <a:buChar char="•"/>
              <a:defRPr/>
            </a:pPr>
            <a:r>
              <a:rPr lang="en-US" b="1"/>
              <a:t>Deferred income</a:t>
            </a:r>
            <a:r>
              <a:rPr lang="en-US"/>
              <a:t>: Deferred revenue relates to customers who have paid upfront (which Management noted to be 65% of ARR). Typical contract terms are one year (72% of ARR), two years (11% of ARR) or others (17% of ARR). Certain long term contracts in excess of three years and the corresponding deferred revenue impact are discussed on page 35. At Mar-25, $9.8 million of deferred revenue relates to seven long term contracts with non-standard terms, considered as part of NWC adj #2.</a:t>
            </a:r>
          </a:p>
          <a:p>
            <a:pPr marL="171450" lvl="1" indent="-171450" defTabSz="914377">
              <a:buFont typeface="Arial" panose="020B0604020202020204" pitchFamily="34" charset="0"/>
              <a:buChar char="•"/>
              <a:defRPr/>
            </a:pPr>
            <a:r>
              <a:rPr lang="en-US" b="1"/>
              <a:t>Non-trade working capital</a:t>
            </a:r>
            <a:r>
              <a:rPr lang="en-US"/>
              <a:t>: Primarily relates to sales tax receivable / payable and accrued liabilities relating to royalties, wages, bonus and professional fees. </a:t>
            </a:r>
          </a:p>
          <a:p>
            <a:pPr lvl="1" defTabSz="914377">
              <a:defRPr/>
            </a:pPr>
            <a:r>
              <a:rPr lang="en-US" b="1">
                <a:solidFill>
                  <a:schemeClr val="tx2"/>
                </a:solidFill>
              </a:rPr>
              <a:t>Net financial debt</a:t>
            </a:r>
          </a:p>
          <a:p>
            <a:pPr marL="171450" lvl="1" indent="-171450" defTabSz="914377">
              <a:buFont typeface="Arial" panose="020B0604020202020204" pitchFamily="34" charset="0"/>
              <a:buChar char="•"/>
              <a:defRPr/>
            </a:pPr>
            <a:r>
              <a:rPr lang="en-US" b="1"/>
              <a:t>Cash</a:t>
            </a:r>
            <a:r>
              <a:rPr lang="en-US">
                <a:solidFill>
                  <a:schemeClr val="tx2"/>
                </a:solidFill>
              </a:rPr>
              <a:t>: </a:t>
            </a:r>
            <a:r>
              <a:rPr lang="en-US"/>
              <a:t>Vortex maintains bank accounts in various operating entities. The largest holding is an interest-bearing money market account used to hold excess operating funds for the US subsidiaries (Mar-25: $6.1 million).</a:t>
            </a:r>
          </a:p>
          <a:p>
            <a:pPr marL="171450" lvl="1" indent="-171450" defTabSz="914377">
              <a:buFont typeface="Arial" panose="020B0604020202020204" pitchFamily="34" charset="0"/>
              <a:buChar char="•"/>
              <a:defRPr/>
            </a:pPr>
            <a:r>
              <a:rPr lang="en-US" b="1"/>
              <a:t>Short term investments</a:t>
            </a:r>
            <a:r>
              <a:rPr lang="en-US"/>
              <a:t>: Includes warranties granted to certain clients in LATAM and €14,000 of cash pledged in La Caixa. See net debt adjustments on page 37 for further discussion.</a:t>
            </a:r>
          </a:p>
          <a:p>
            <a:pPr marL="171450" lvl="1" indent="-171450" defTabSz="914377">
              <a:buFont typeface="Arial" panose="020B0604020202020204" pitchFamily="34" charset="0"/>
              <a:buChar char="•"/>
              <a:defRPr/>
            </a:pPr>
            <a:r>
              <a:rPr lang="en-US" b="1"/>
              <a:t>Other short term debt</a:t>
            </a:r>
            <a:r>
              <a:rPr lang="en-US"/>
              <a:t>: Primarily relates to short term Bain interests (Mar-25 $0.5 million). </a:t>
            </a:r>
          </a:p>
        </p:txBody>
      </p:sp>
      <p:sp>
        <p:nvSpPr>
          <p:cNvPr id="69" name="Rectangle 68">
            <a:extLst>
              <a:ext uri="{FF2B5EF4-FFF2-40B4-BE49-F238E27FC236}">
                <a16:creationId xmlns:a16="http://schemas.microsoft.com/office/drawing/2014/main" id="{3F8C259A-FCC2-4B0F-985F-E89583E7B062}"/>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70" name="Rectangle 69">
            <a:extLst>
              <a:ext uri="{FF2B5EF4-FFF2-40B4-BE49-F238E27FC236}">
                <a16:creationId xmlns:a16="http://schemas.microsoft.com/office/drawing/2014/main" id="{454F1D45-DC29-4C47-A618-ABA758E9EA7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74" name="Rectangle 73">
            <a:extLst>
              <a:ext uri="{FF2B5EF4-FFF2-40B4-BE49-F238E27FC236}">
                <a16:creationId xmlns:a16="http://schemas.microsoft.com/office/drawing/2014/main" id="{3DEDF8F0-97F8-486C-9F44-939F6D6F396F}"/>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75" name="Rectangle 74">
            <a:extLst>
              <a:ext uri="{FF2B5EF4-FFF2-40B4-BE49-F238E27FC236}">
                <a16:creationId xmlns:a16="http://schemas.microsoft.com/office/drawing/2014/main" id="{39A99CCF-B6AD-4615-8ADB-97A5B8E43BFD}"/>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76" name="Rectangle 75">
            <a:extLst>
              <a:ext uri="{FF2B5EF4-FFF2-40B4-BE49-F238E27FC236}">
                <a16:creationId xmlns:a16="http://schemas.microsoft.com/office/drawing/2014/main" id="{C4A93377-0DDE-4561-8C86-225FB32A6C59}"/>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6" name="Text Placeholder 7">
            <a:extLst>
              <a:ext uri="{FF2B5EF4-FFF2-40B4-BE49-F238E27FC236}">
                <a16:creationId xmlns:a16="http://schemas.microsoft.com/office/drawing/2014/main" id="{3C6D3332-9330-6411-284C-A6C319E8808B}"/>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7" name="Text Placeholder 12">
            <a:extLst>
              <a:ext uri="{FF2B5EF4-FFF2-40B4-BE49-F238E27FC236}">
                <a16:creationId xmlns:a16="http://schemas.microsoft.com/office/drawing/2014/main" id="{4F9A2832-2716-7482-C01A-F03E974EF0F3}"/>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8" name="Rounded Rectangle 7">
            <a:extLst>
              <a:ext uri="{FF2B5EF4-FFF2-40B4-BE49-F238E27FC236}">
                <a16:creationId xmlns:a16="http://schemas.microsoft.com/office/drawing/2014/main" id="{E0BF912F-2DEF-F525-8F12-1807EE146D73}"/>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9" name="Rectangle 18">
            <a:extLst>
              <a:ext uri="{FF2B5EF4-FFF2-40B4-BE49-F238E27FC236}">
                <a16:creationId xmlns:a16="http://schemas.microsoft.com/office/drawing/2014/main" id="{9C0A6B80-8695-3A42-AE08-23F8E6804294}"/>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20" name="Straight Arrow Connector 19">
            <a:extLst>
              <a:ext uri="{FF2B5EF4-FFF2-40B4-BE49-F238E27FC236}">
                <a16:creationId xmlns:a16="http://schemas.microsoft.com/office/drawing/2014/main" id="{5B7F658B-5691-7F5D-AAE4-C3E564149219}"/>
              </a:ext>
            </a:extLst>
          </p:cNvPr>
          <p:cNvCxnSpPr>
            <a:cxnSpLocks/>
            <a:stCxn id="19" idx="2"/>
            <a:endCxn id="18"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6B5F1A99-BECB-4348-9787-346999997712}"/>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2" name="Rectangle 1">
            <a:extLst>
              <a:ext uri="{FF2B5EF4-FFF2-40B4-BE49-F238E27FC236}">
                <a16:creationId xmlns:a16="http://schemas.microsoft.com/office/drawing/2014/main" id="{525F0A5F-520F-220B-D5CB-D4D5467307B3}"/>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4" name="Rectangle 3">
            <a:extLst>
              <a:ext uri="{FF2B5EF4-FFF2-40B4-BE49-F238E27FC236}">
                <a16:creationId xmlns:a16="http://schemas.microsoft.com/office/drawing/2014/main" id="{B2698541-3550-5415-D310-4DB0D71C836A}"/>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 name="Rectangle 8">
            <a:extLst>
              <a:ext uri="{FF2B5EF4-FFF2-40B4-BE49-F238E27FC236}">
                <a16:creationId xmlns:a16="http://schemas.microsoft.com/office/drawing/2014/main" id="{21D89959-A128-F453-4A1B-2F4B781B99E4}"/>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3" name="UpSlide SubSection Marker" hidden="1">
            <a:extLst>
              <a:ext uri="{FF2B5EF4-FFF2-40B4-BE49-F238E27FC236}">
                <a16:creationId xmlns:a16="http://schemas.microsoft.com/office/drawing/2014/main" id="{1A2BFD4C-0D60-8A3D-9733-70796EF3B364}"/>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Balance sheet overview</a:t>
            </a:r>
          </a:p>
        </p:txBody>
      </p:sp>
      <p:pic>
        <p:nvPicPr>
          <p:cNvPr id="11" name="Picture 10">
            <a:extLst>
              <a:ext uri="{FF2B5EF4-FFF2-40B4-BE49-F238E27FC236}">
                <a16:creationId xmlns:a16="http://schemas.microsoft.com/office/drawing/2014/main" id="{C287BD7D-BE61-A43E-7D93-B09EB5EE5498}"/>
              </a:ext>
            </a:extLst>
          </p:cNvPr>
          <p:cNvPicPr>
            <a:picLocks noChangeAspect="1"/>
          </p:cNvPicPr>
          <p:nvPr>
            <p:custDataLst>
              <p:tags r:id="rId4"/>
            </p:custDataLst>
          </p:nvPr>
        </p:nvPicPr>
        <p:blipFill>
          <a:blip r:embed="rId10"/>
          <a:stretch>
            <a:fillRect/>
          </a:stretch>
        </p:blipFill>
        <p:spPr>
          <a:xfrm>
            <a:off x="995362" y="1734166"/>
            <a:ext cx="4976615" cy="3606134"/>
          </a:xfrm>
          <a:prstGeom prst="rect">
            <a:avLst/>
          </a:prstGeom>
        </p:spPr>
      </p:pic>
      <p:sp>
        <p:nvSpPr>
          <p:cNvPr id="10" name="Text Placeholder 12">
            <a:extLst>
              <a:ext uri="{FF2B5EF4-FFF2-40B4-BE49-F238E27FC236}">
                <a16:creationId xmlns:a16="http://schemas.microsoft.com/office/drawing/2014/main" id="{692B3F29-5B06-3F8B-C11C-F04B75064802}"/>
              </a:ext>
            </a:extLst>
          </p:cNvPr>
          <p:cNvSpPr txBox="1">
            <a:spLocks/>
          </p:cNvSpPr>
          <p:nvPr/>
        </p:nvSpPr>
        <p:spPr>
          <a:xfrm>
            <a:off x="1083940" y="5876925"/>
            <a:ext cx="4579566" cy="302647"/>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The balance sheet is presented on a constant  currency basis with reference to January 1, 2025. Further, this is presented 	on a reported basis, refer to Appendix 3 for an adjusted balance sheet inclusive of adjustments to NWC and net debt.</a:t>
            </a:r>
          </a:p>
          <a:p>
            <a:pPr defTabSz="444500" rtl="0">
              <a:spcAft>
                <a:spcPts val="200"/>
              </a:spcAft>
            </a:pPr>
            <a:r>
              <a:rPr lang="en-US" sz="600" b="0">
                <a:solidFill>
                  <a:schemeClr val="tx2"/>
                </a:solidFill>
                <a:latin typeface="Arial" panose="020B0604020202020204" pitchFamily="34" charset="0"/>
              </a:rPr>
              <a:t>Source: 	2.2.2.5_20250515 Project Vortex - Databook - Balance Sheet.xlsb.</a:t>
            </a:r>
          </a:p>
        </p:txBody>
      </p:sp>
      <p:grpSp>
        <p:nvGrpSpPr>
          <p:cNvPr id="78" name="Group 77">
            <a:extLst>
              <a:ext uri="{FF2B5EF4-FFF2-40B4-BE49-F238E27FC236}">
                <a16:creationId xmlns:a16="http://schemas.microsoft.com/office/drawing/2014/main" id="{CE65BD84-B31F-4942-E487-D3BE47255EC7}"/>
              </a:ext>
            </a:extLst>
          </p:cNvPr>
          <p:cNvGrpSpPr/>
          <p:nvPr>
            <p:custDataLst>
              <p:tags r:id="rId5"/>
            </p:custDataLst>
          </p:nvPr>
        </p:nvGrpSpPr>
        <p:grpSpPr>
          <a:xfrm>
            <a:off x="995364" y="153170"/>
            <a:ext cx="7407882" cy="195814"/>
            <a:chOff x="995364" y="153170"/>
            <a:chExt cx="7407882" cy="195814"/>
          </a:xfrm>
        </p:grpSpPr>
        <p:sp>
          <p:nvSpPr>
            <p:cNvPr id="79"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80"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81"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325196"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82" name="Current Section4">
              <a:hlinkClick r:id="rId14" action="ppaction://hlinksldjump"/>
              <a:extLst>
                <a:ext uri="{FF2B5EF4-FFF2-40B4-BE49-F238E27FC236}">
                  <a16:creationId xmlns:a16="http://schemas.microsoft.com/office/drawing/2014/main" id="{89A61135-1F00-E77F-7C78-5FBA241A5742}"/>
                </a:ext>
              </a:extLst>
            </p:cNvPr>
            <p:cNvSpPr>
              <a:spLocks/>
            </p:cNvSpPr>
            <p:nvPr/>
          </p:nvSpPr>
          <p:spPr>
            <a:xfrm>
              <a:off x="477384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83"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613351"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84"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771442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594633344"/>
      </p:ext>
    </p:extLst>
  </p:cSld>
  <p:clrMapOvr>
    <a:masterClrMapping/>
  </p:clrMapOvr>
  <p:extLst>
    <p:ext uri="{6950BFC3-D8DA-4A85-94F7-54DA5524770B}">
      <p188:commentRel xmlns:p188="http://schemas.microsoft.com/office/powerpoint/2018/8/main" r:id="rId7"/>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58260B24-EB1E-499D-A18C-A790E32EB7F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4" name="Object 13" hidden="1">
                        <a:extLst>
                          <a:ext uri="{FF2B5EF4-FFF2-40B4-BE49-F238E27FC236}">
                            <a16:creationId xmlns:a16="http://schemas.microsoft.com/office/drawing/2014/main" id="{58260B24-EB1E-499D-A18C-A790E32EB7F8}"/>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2F3D37F5-54B0-4783-BE57-7263B11FF044}"/>
              </a:ext>
            </a:extLst>
          </p:cNvPr>
          <p:cNvSpPr>
            <a:spLocks noGrp="1"/>
          </p:cNvSpPr>
          <p:nvPr>
            <p:ph type="title"/>
          </p:nvPr>
        </p:nvSpPr>
        <p:spPr/>
        <p:txBody>
          <a:bodyPr vert="horz"/>
          <a:lstStyle/>
          <a:p>
            <a:r>
              <a:rPr lang="en-US"/>
              <a:t>Balance sheet overview (3/3)</a:t>
            </a:r>
          </a:p>
        </p:txBody>
      </p:sp>
      <p:sp>
        <p:nvSpPr>
          <p:cNvPr id="6" name="Text Placeholder 5">
            <a:extLst>
              <a:ext uri="{FF2B5EF4-FFF2-40B4-BE49-F238E27FC236}">
                <a16:creationId xmlns:a16="http://schemas.microsoft.com/office/drawing/2014/main" id="{DBF707A2-3459-FCA4-8A2F-B92096D2BF42}"/>
              </a:ext>
            </a:extLst>
          </p:cNvPr>
          <p:cNvSpPr>
            <a:spLocks noGrp="1"/>
          </p:cNvSpPr>
          <p:nvPr>
            <p:ph type="body" sz="quarter" idx="11"/>
          </p:nvPr>
        </p:nvSpPr>
        <p:spPr/>
        <p:txBody>
          <a:bodyPr/>
          <a:lstStyle/>
          <a:p>
            <a:r>
              <a:rPr lang="fi-FI"/>
              <a:t>Commentary</a:t>
            </a:r>
          </a:p>
        </p:txBody>
      </p:sp>
      <p:sp>
        <p:nvSpPr>
          <p:cNvPr id="5" name="Text Placeholder 4">
            <a:extLst>
              <a:ext uri="{FF2B5EF4-FFF2-40B4-BE49-F238E27FC236}">
                <a16:creationId xmlns:a16="http://schemas.microsoft.com/office/drawing/2014/main" id="{E6ED650C-FAD0-C31B-617E-C18EB891DC73}"/>
              </a:ext>
            </a:extLst>
          </p:cNvPr>
          <p:cNvSpPr>
            <a:spLocks noGrp="1"/>
          </p:cNvSpPr>
          <p:nvPr>
            <p:ph type="body" sz="quarter" idx="10"/>
          </p:nvPr>
        </p:nvSpPr>
        <p:spPr>
          <a:xfrm>
            <a:off x="995361" y="1179513"/>
            <a:ext cx="10198239" cy="460800"/>
          </a:xfrm>
        </p:spPr>
        <p:txBody>
          <a:bodyPr/>
          <a:lstStyle/>
          <a:p>
            <a:r>
              <a:rPr lang="fi-FI"/>
              <a:t>Financial debt at Mar-25 includes long term loans held with Bain ($(41.8) million) and credit lines held at various instituions ($(0.9) million). Additionally, at Mar-25 provisions related to phantom shares and a previous lease totaled $(34,000). Both these provisions are discussed further in the net debt analysis on page 40).</a:t>
            </a:r>
          </a:p>
        </p:txBody>
      </p:sp>
      <p:sp>
        <p:nvSpPr>
          <p:cNvPr id="22" name="Text Placeholder 21">
            <a:extLst>
              <a:ext uri="{FF2B5EF4-FFF2-40B4-BE49-F238E27FC236}">
                <a16:creationId xmlns:a16="http://schemas.microsoft.com/office/drawing/2014/main" id="{32447741-916D-472C-8C2F-6676D4D2591A}"/>
              </a:ext>
            </a:extLst>
          </p:cNvPr>
          <p:cNvSpPr>
            <a:spLocks noGrp="1"/>
          </p:cNvSpPr>
          <p:nvPr>
            <p:ph type="body" sz="quarter" idx="24"/>
          </p:nvPr>
        </p:nvSpPr>
        <p:spPr/>
        <p:txBody>
          <a:bodyPr/>
          <a:lstStyle/>
          <a:p>
            <a:pPr lvl="1" defTabSz="914377">
              <a:defRPr/>
            </a:pPr>
            <a:r>
              <a:rPr lang="en-US" b="1">
                <a:solidFill>
                  <a:schemeClr val="tx2"/>
                </a:solidFill>
              </a:rPr>
              <a:t>Net debt cont.</a:t>
            </a:r>
          </a:p>
          <a:p>
            <a:pPr marL="171450" lvl="1" indent="-171450" defTabSz="914377">
              <a:buFont typeface="Arial" panose="020B0604020202020204" pitchFamily="34" charset="0"/>
              <a:buChar char="•"/>
              <a:defRPr/>
            </a:pPr>
            <a:r>
              <a:rPr lang="en-US" b="1"/>
              <a:t>Credit lines</a:t>
            </a:r>
            <a:r>
              <a:rPr lang="en-US">
                <a:solidFill>
                  <a:schemeClr val="tx2"/>
                </a:solidFill>
              </a:rPr>
              <a:t>: </a:t>
            </a:r>
            <a:r>
              <a:rPr lang="en-US"/>
              <a:t>Includes lines of credit at Popular, Bankia and CaixaBank.</a:t>
            </a:r>
          </a:p>
          <a:p>
            <a:pPr marL="171450" lvl="1" indent="-171450" defTabSz="914377">
              <a:buFont typeface="Arial" panose="020B0604020202020204" pitchFamily="34" charset="0"/>
              <a:buChar char="•"/>
              <a:defRPr/>
            </a:pPr>
            <a:r>
              <a:rPr lang="en-US" b="1"/>
              <a:t>Long term loans</a:t>
            </a:r>
            <a:r>
              <a:rPr lang="en-US"/>
              <a:t>: Relates to long term debt held with Bain. </a:t>
            </a:r>
          </a:p>
          <a:p>
            <a:pPr marL="171450" lvl="1" indent="-171450" defTabSz="914377">
              <a:buFont typeface="Arial" panose="020B0604020202020204" pitchFamily="34" charset="0"/>
              <a:buChar char="•"/>
              <a:defRPr/>
            </a:pPr>
            <a:r>
              <a:rPr lang="en-US" b="1"/>
              <a:t>Provisions</a:t>
            </a:r>
            <a:r>
              <a:rPr lang="en-US"/>
              <a:t>: At Mar-25, provisions relate to phantom shares to be payable post transaction and a provision related to a previous lease. At Dec-23, a larger provision was related to a potential earn-out provision which was subsequently reversed in FY24 and was not required to be paid (QofE adj. #C). Refer to the net debt analysis on page 40 for further discussion.</a:t>
            </a:r>
          </a:p>
          <a:p>
            <a:pPr marL="171450" lvl="1" indent="-171450" defTabSz="914377">
              <a:buFont typeface="Arial" panose="020B0604020202020204" pitchFamily="34" charset="0"/>
              <a:buChar char="•"/>
              <a:defRPr/>
            </a:pPr>
            <a:r>
              <a:rPr lang="en-US" b="1"/>
              <a:t>DTA / DTL</a:t>
            </a:r>
            <a:r>
              <a:rPr lang="en-US"/>
              <a:t>: Relate to deferred tax assets / liabilities in accordance with Spanish GAAP. </a:t>
            </a:r>
          </a:p>
        </p:txBody>
      </p:sp>
      <p:sp>
        <p:nvSpPr>
          <p:cNvPr id="69" name="Rectangle 68">
            <a:extLst>
              <a:ext uri="{FF2B5EF4-FFF2-40B4-BE49-F238E27FC236}">
                <a16:creationId xmlns:a16="http://schemas.microsoft.com/office/drawing/2014/main" id="{3F8C259A-FCC2-4B0F-985F-E89583E7B062}"/>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70" name="Rectangle 69">
            <a:extLst>
              <a:ext uri="{FF2B5EF4-FFF2-40B4-BE49-F238E27FC236}">
                <a16:creationId xmlns:a16="http://schemas.microsoft.com/office/drawing/2014/main" id="{454F1D45-DC29-4C47-A618-ABA758E9EA7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74" name="Rectangle 73">
            <a:extLst>
              <a:ext uri="{FF2B5EF4-FFF2-40B4-BE49-F238E27FC236}">
                <a16:creationId xmlns:a16="http://schemas.microsoft.com/office/drawing/2014/main" id="{3DEDF8F0-97F8-486C-9F44-939F6D6F396F}"/>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75" name="Rectangle 74">
            <a:extLst>
              <a:ext uri="{FF2B5EF4-FFF2-40B4-BE49-F238E27FC236}">
                <a16:creationId xmlns:a16="http://schemas.microsoft.com/office/drawing/2014/main" id="{39A99CCF-B6AD-4615-8ADB-97A5B8E43BFD}"/>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76" name="Rectangle 75">
            <a:extLst>
              <a:ext uri="{FF2B5EF4-FFF2-40B4-BE49-F238E27FC236}">
                <a16:creationId xmlns:a16="http://schemas.microsoft.com/office/drawing/2014/main" id="{C4A93377-0DDE-4561-8C86-225FB32A6C59}"/>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6" name="Text Placeholder 7">
            <a:extLst>
              <a:ext uri="{FF2B5EF4-FFF2-40B4-BE49-F238E27FC236}">
                <a16:creationId xmlns:a16="http://schemas.microsoft.com/office/drawing/2014/main" id="{3C6D3332-9330-6411-284C-A6C319E8808B}"/>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7" name="Text Placeholder 12">
            <a:extLst>
              <a:ext uri="{FF2B5EF4-FFF2-40B4-BE49-F238E27FC236}">
                <a16:creationId xmlns:a16="http://schemas.microsoft.com/office/drawing/2014/main" id="{4F9A2832-2716-7482-C01A-F03E974EF0F3}"/>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8" name="Rounded Rectangle 7">
            <a:extLst>
              <a:ext uri="{FF2B5EF4-FFF2-40B4-BE49-F238E27FC236}">
                <a16:creationId xmlns:a16="http://schemas.microsoft.com/office/drawing/2014/main" id="{E0BF912F-2DEF-F525-8F12-1807EE146D73}"/>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9" name="Rectangle 18">
            <a:extLst>
              <a:ext uri="{FF2B5EF4-FFF2-40B4-BE49-F238E27FC236}">
                <a16:creationId xmlns:a16="http://schemas.microsoft.com/office/drawing/2014/main" id="{9C0A6B80-8695-3A42-AE08-23F8E6804294}"/>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20" name="Straight Arrow Connector 19">
            <a:extLst>
              <a:ext uri="{FF2B5EF4-FFF2-40B4-BE49-F238E27FC236}">
                <a16:creationId xmlns:a16="http://schemas.microsoft.com/office/drawing/2014/main" id="{5B7F658B-5691-7F5D-AAE4-C3E564149219}"/>
              </a:ext>
            </a:extLst>
          </p:cNvPr>
          <p:cNvCxnSpPr>
            <a:cxnSpLocks/>
            <a:stCxn id="19" idx="2"/>
            <a:endCxn id="18"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6B5F1A99-BECB-4348-9787-346999997712}"/>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2" name="Rectangle 1">
            <a:extLst>
              <a:ext uri="{FF2B5EF4-FFF2-40B4-BE49-F238E27FC236}">
                <a16:creationId xmlns:a16="http://schemas.microsoft.com/office/drawing/2014/main" id="{525F0A5F-520F-220B-D5CB-D4D5467307B3}"/>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4" name="Rectangle 3">
            <a:extLst>
              <a:ext uri="{FF2B5EF4-FFF2-40B4-BE49-F238E27FC236}">
                <a16:creationId xmlns:a16="http://schemas.microsoft.com/office/drawing/2014/main" id="{B2698541-3550-5415-D310-4DB0D71C836A}"/>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 name="Rectangle 8">
            <a:extLst>
              <a:ext uri="{FF2B5EF4-FFF2-40B4-BE49-F238E27FC236}">
                <a16:creationId xmlns:a16="http://schemas.microsoft.com/office/drawing/2014/main" id="{21D89959-A128-F453-4A1B-2F4B781B99E4}"/>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3" name="UpSlide SubSection Marker" hidden="1">
            <a:extLst>
              <a:ext uri="{FF2B5EF4-FFF2-40B4-BE49-F238E27FC236}">
                <a16:creationId xmlns:a16="http://schemas.microsoft.com/office/drawing/2014/main" id="{1A2BFD4C-0D60-8A3D-9733-70796EF3B364}"/>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Balance sheet overview</a:t>
            </a:r>
          </a:p>
        </p:txBody>
      </p:sp>
      <p:pic>
        <p:nvPicPr>
          <p:cNvPr id="11" name="Picture 10">
            <a:extLst>
              <a:ext uri="{FF2B5EF4-FFF2-40B4-BE49-F238E27FC236}">
                <a16:creationId xmlns:a16="http://schemas.microsoft.com/office/drawing/2014/main" id="{C287BD7D-BE61-A43E-7D93-B09EB5EE5498}"/>
              </a:ext>
            </a:extLst>
          </p:cNvPr>
          <p:cNvPicPr>
            <a:picLocks noChangeAspect="1"/>
          </p:cNvPicPr>
          <p:nvPr>
            <p:custDataLst>
              <p:tags r:id="rId4"/>
            </p:custDataLst>
          </p:nvPr>
        </p:nvPicPr>
        <p:blipFill>
          <a:blip r:embed="rId10"/>
          <a:stretch>
            <a:fillRect/>
          </a:stretch>
        </p:blipFill>
        <p:spPr>
          <a:xfrm>
            <a:off x="995362" y="1734166"/>
            <a:ext cx="4976615" cy="3606134"/>
          </a:xfrm>
          <a:prstGeom prst="rect">
            <a:avLst/>
          </a:prstGeom>
        </p:spPr>
      </p:pic>
      <p:sp>
        <p:nvSpPr>
          <p:cNvPr id="10" name="Text Placeholder 12">
            <a:extLst>
              <a:ext uri="{FF2B5EF4-FFF2-40B4-BE49-F238E27FC236}">
                <a16:creationId xmlns:a16="http://schemas.microsoft.com/office/drawing/2014/main" id="{F8FBAA5B-C21C-D0D6-C964-FB0CC620329A}"/>
              </a:ext>
            </a:extLst>
          </p:cNvPr>
          <p:cNvSpPr txBox="1">
            <a:spLocks/>
          </p:cNvSpPr>
          <p:nvPr/>
        </p:nvSpPr>
        <p:spPr>
          <a:xfrm>
            <a:off x="1083940" y="5876925"/>
            <a:ext cx="4579566" cy="302647"/>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The balance sheet is presented on a constant  currency basis with reference to January 1, 2025. Further, this is presented 	on a reported basis, refer to Appendix 3 for an adjusted balance sheet inclusive of adjustments to NWC and net debt.</a:t>
            </a:r>
          </a:p>
          <a:p>
            <a:pPr defTabSz="444500" rtl="0">
              <a:spcAft>
                <a:spcPts val="200"/>
              </a:spcAft>
            </a:pPr>
            <a:r>
              <a:rPr lang="en-US" sz="600" b="0">
                <a:solidFill>
                  <a:schemeClr val="tx2"/>
                </a:solidFill>
                <a:latin typeface="Arial" panose="020B0604020202020204" pitchFamily="34" charset="0"/>
              </a:rPr>
              <a:t>Source: 	2.2.2.5_20250515 Project Vortex - Databook - Balance Sheet.xlsb.</a:t>
            </a:r>
          </a:p>
        </p:txBody>
      </p:sp>
      <p:grpSp>
        <p:nvGrpSpPr>
          <p:cNvPr id="80" name="Group 79">
            <a:extLst>
              <a:ext uri="{FF2B5EF4-FFF2-40B4-BE49-F238E27FC236}">
                <a16:creationId xmlns:a16="http://schemas.microsoft.com/office/drawing/2014/main" id="{CE65BD84-B31F-4942-E487-D3BE47255EC7}"/>
              </a:ext>
            </a:extLst>
          </p:cNvPr>
          <p:cNvGrpSpPr/>
          <p:nvPr>
            <p:custDataLst>
              <p:tags r:id="rId5"/>
            </p:custDataLst>
          </p:nvPr>
        </p:nvGrpSpPr>
        <p:grpSpPr>
          <a:xfrm>
            <a:off x="995364" y="153170"/>
            <a:ext cx="7407882" cy="195814"/>
            <a:chOff x="995364" y="153170"/>
            <a:chExt cx="7407882" cy="195814"/>
          </a:xfrm>
        </p:grpSpPr>
        <p:sp>
          <p:nvSpPr>
            <p:cNvPr id="81"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82"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83"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325196"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84" name="Current Section4">
              <a:hlinkClick r:id="rId14" action="ppaction://hlinksldjump"/>
              <a:extLst>
                <a:ext uri="{FF2B5EF4-FFF2-40B4-BE49-F238E27FC236}">
                  <a16:creationId xmlns:a16="http://schemas.microsoft.com/office/drawing/2014/main" id="{89A61135-1F00-E77F-7C78-5FBA241A5742}"/>
                </a:ext>
              </a:extLst>
            </p:cNvPr>
            <p:cNvSpPr>
              <a:spLocks/>
            </p:cNvSpPr>
            <p:nvPr/>
          </p:nvSpPr>
          <p:spPr>
            <a:xfrm>
              <a:off x="477384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85"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613351"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86"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771442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286838920"/>
      </p:ext>
    </p:extLst>
  </p:cSld>
  <p:clrMapOvr>
    <a:masterClrMapping/>
  </p:clrMapOvr>
  <p:extLst>
    <p:ext uri="{6950BFC3-D8DA-4A85-94F7-54DA5524770B}">
      <p188:commentRel xmlns:p188="http://schemas.microsoft.com/office/powerpoint/2018/8/main" r:id="rId7"/>
    </p:ext>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740AAEC6-8770-FEAF-5047-2827A86E6AAF}"/>
              </a:ext>
            </a:extLst>
          </p:cNvPr>
          <p:cNvPicPr>
            <a:picLocks noChangeAspect="1"/>
          </p:cNvPicPr>
          <p:nvPr>
            <p:custDataLst>
              <p:tags r:id="rId1"/>
            </p:custDataLst>
          </p:nvPr>
        </p:nvPicPr>
        <p:blipFill>
          <a:blip r:embed="rId9"/>
          <a:stretch>
            <a:fillRect/>
          </a:stretch>
        </p:blipFill>
        <p:spPr>
          <a:xfrm>
            <a:off x="975888" y="4394264"/>
            <a:ext cx="4114800" cy="1202205"/>
          </a:xfrm>
          <a:prstGeom prst="rect">
            <a:avLst/>
          </a:prstGeom>
        </p:spPr>
      </p:pic>
      <p:graphicFrame>
        <p:nvGraphicFramePr>
          <p:cNvPr id="14" name="Object 13" hidden="1">
            <a:extLst>
              <a:ext uri="{FF2B5EF4-FFF2-40B4-BE49-F238E27FC236}">
                <a16:creationId xmlns:a16="http://schemas.microsoft.com/office/drawing/2014/main" id="{58260B24-EB1E-499D-A18C-A790E32EB7F8}"/>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10" imgW="395" imgH="394" progId="TCLayout.ActiveDocument.1">
                  <p:embed/>
                </p:oleObj>
              </mc:Choice>
              <mc:Fallback>
                <p:oleObj name="think-cell Slide" r:id="rId10" imgW="395" imgH="394" progId="TCLayout.ActiveDocument.1">
                  <p:embed/>
                  <p:pic>
                    <p:nvPicPr>
                      <p:cNvPr id="14" name="Object 13" hidden="1">
                        <a:extLst>
                          <a:ext uri="{FF2B5EF4-FFF2-40B4-BE49-F238E27FC236}">
                            <a16:creationId xmlns:a16="http://schemas.microsoft.com/office/drawing/2014/main" id="{58260B24-EB1E-499D-A18C-A790E32EB7F8}"/>
                          </a:ext>
                        </a:extLst>
                      </p:cNvPr>
                      <p:cNvPicPr/>
                      <p:nvPr/>
                    </p:nvPicPr>
                    <p:blipFill>
                      <a:blip r:embed="rId11"/>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2F3D37F5-54B0-4783-BE57-7263B11FF044}"/>
              </a:ext>
            </a:extLst>
          </p:cNvPr>
          <p:cNvSpPr>
            <a:spLocks noGrp="1"/>
          </p:cNvSpPr>
          <p:nvPr>
            <p:ph type="title"/>
          </p:nvPr>
        </p:nvSpPr>
        <p:spPr/>
        <p:txBody>
          <a:bodyPr vert="horz"/>
          <a:lstStyle/>
          <a:p>
            <a:r>
              <a:rPr lang="en-US"/>
              <a:t>Net working capital — Overview</a:t>
            </a:r>
          </a:p>
        </p:txBody>
      </p:sp>
      <p:sp>
        <p:nvSpPr>
          <p:cNvPr id="12" name="Text Placeholder 11">
            <a:extLst>
              <a:ext uri="{FF2B5EF4-FFF2-40B4-BE49-F238E27FC236}">
                <a16:creationId xmlns:a16="http://schemas.microsoft.com/office/drawing/2014/main" id="{257CF790-78EB-8B6B-C0D1-EB7C268281C3}"/>
              </a:ext>
            </a:extLst>
          </p:cNvPr>
          <p:cNvSpPr>
            <a:spLocks noGrp="1"/>
          </p:cNvSpPr>
          <p:nvPr>
            <p:ph type="body" sz="quarter" idx="11"/>
          </p:nvPr>
        </p:nvSpPr>
        <p:spPr/>
        <p:txBody>
          <a:bodyPr/>
          <a:lstStyle/>
          <a:p>
            <a:r>
              <a:rPr lang="fi-FI"/>
              <a:t>Basis of preperation</a:t>
            </a:r>
          </a:p>
        </p:txBody>
      </p:sp>
      <p:sp>
        <p:nvSpPr>
          <p:cNvPr id="11" name="Text Placeholder 10">
            <a:extLst>
              <a:ext uri="{FF2B5EF4-FFF2-40B4-BE49-F238E27FC236}">
                <a16:creationId xmlns:a16="http://schemas.microsoft.com/office/drawing/2014/main" id="{0C7B2154-7CA3-96CF-6AD2-BB45D064C649}"/>
              </a:ext>
            </a:extLst>
          </p:cNvPr>
          <p:cNvSpPr>
            <a:spLocks noGrp="1"/>
          </p:cNvSpPr>
          <p:nvPr>
            <p:ph type="body" sz="quarter" idx="10"/>
          </p:nvPr>
        </p:nvSpPr>
        <p:spPr>
          <a:xfrm>
            <a:off x="995361" y="1112838"/>
            <a:ext cx="10206668" cy="460800"/>
          </a:xfrm>
        </p:spPr>
        <p:txBody>
          <a:bodyPr/>
          <a:lstStyle/>
          <a:p>
            <a:r>
              <a:rPr lang="en-US"/>
              <a:t>The agreed target working capital is $(17.0) million. We present a range of potential NWC options depending on the underlying assumptions used for reference period to set the target (from TTM Mar-25 to a 3+3 to Jun-25 considering actual and forecast working capital), and the normalisation of long term deferred revenue (from 1 year to 5 years). The analysis presented speaks mainly to a scenario based on the L6M to Mar-25, and a normalization of long term deferred revenue to an average period of three years, with a resulting NWC target of $(15.8) million, which is comparable to what has been agreed in the context of the overall deal value.</a:t>
            </a:r>
          </a:p>
        </p:txBody>
      </p:sp>
      <p:sp>
        <p:nvSpPr>
          <p:cNvPr id="6" name="Text Placeholder 5">
            <a:extLst>
              <a:ext uri="{FF2B5EF4-FFF2-40B4-BE49-F238E27FC236}">
                <a16:creationId xmlns:a16="http://schemas.microsoft.com/office/drawing/2014/main" id="{6024E5AC-3688-475C-8BDD-5ECC42457A0D}"/>
              </a:ext>
            </a:extLst>
          </p:cNvPr>
          <p:cNvSpPr>
            <a:spLocks noGrp="1"/>
          </p:cNvSpPr>
          <p:nvPr>
            <p:ph type="body" sz="quarter" idx="24"/>
          </p:nvPr>
        </p:nvSpPr>
        <p:spPr>
          <a:xfrm>
            <a:off x="6165629" y="2003584"/>
            <a:ext cx="5088584" cy="3865371"/>
          </a:xfrm>
        </p:spPr>
        <p:txBody>
          <a:bodyPr/>
          <a:lstStyle/>
          <a:p>
            <a:pPr lvl="1" defTabSz="914377">
              <a:spcAft>
                <a:spcPts val="300"/>
              </a:spcAft>
              <a:defRPr/>
            </a:pPr>
            <a:r>
              <a:rPr lang="en-US" sz="1000"/>
              <a:t>The net working capital analysis presents average adjusted working capital for FY23, FY24, TTM Mar-25, L6M Mar-25, L3M Mar-25 and </a:t>
            </a:r>
            <a:r>
              <a:rPr lang="en-US"/>
              <a:t>3+3</a:t>
            </a:r>
            <a:r>
              <a:rPr lang="en-US" sz="1000"/>
              <a:t> Jun-25 (including three months of actuals and 3 months of Management forecast). Adjusted working capital comprises of the following components:</a:t>
            </a:r>
          </a:p>
          <a:p>
            <a:pPr marL="171450" lvl="1" indent="-171450" defTabSz="914377">
              <a:spcAft>
                <a:spcPts val="300"/>
              </a:spcAft>
              <a:buFont typeface="Arial" panose="020B0604020202020204" pitchFamily="34" charset="0"/>
              <a:buChar char="•"/>
              <a:defRPr/>
            </a:pPr>
            <a:r>
              <a:rPr lang="en-US" sz="1000" b="1"/>
              <a:t>Reported working capital</a:t>
            </a:r>
            <a:r>
              <a:rPr lang="en-US" sz="1000"/>
              <a:t>: Discussed further on pages 29-30.</a:t>
            </a:r>
          </a:p>
          <a:p>
            <a:pPr marL="171450" lvl="1" indent="-171450" defTabSz="914377">
              <a:spcAft>
                <a:spcPts val="300"/>
              </a:spcAft>
              <a:buFont typeface="Arial" panose="020B0604020202020204" pitchFamily="34" charset="0"/>
              <a:buChar char="•"/>
              <a:defRPr/>
            </a:pPr>
            <a:r>
              <a:rPr lang="en-US" b="1"/>
              <a:t>Sell side diligence adjustments</a:t>
            </a:r>
            <a:r>
              <a:rPr lang="en-US"/>
              <a:t>: Adjustments in the sell side diligence databook mainly related to Fastcase sales tax payable (adj. #D) (FY24: $0.9 million) and VAT customer invoices (adj. #F) (FY24: $0.1 million). See pages 33-34 and the sell side diligence databook for further commentary.</a:t>
            </a:r>
          </a:p>
          <a:p>
            <a:pPr marL="171450" lvl="1" indent="-171450" defTabSz="914377">
              <a:spcAft>
                <a:spcPts val="300"/>
              </a:spcAft>
              <a:buFont typeface="Arial" panose="020B0604020202020204" pitchFamily="34" charset="0"/>
              <a:buChar char="•"/>
              <a:defRPr/>
            </a:pPr>
            <a:r>
              <a:rPr lang="en-US" sz="1000" b="1"/>
              <a:t>Sell side normaliza</a:t>
            </a:r>
            <a:r>
              <a:rPr lang="en-US" b="1"/>
              <a:t>tions</a:t>
            </a:r>
            <a:r>
              <a:rPr lang="en-US"/>
              <a:t>: Normalizations included in the sell side diligence databook primarily related to deferred commissions (adj. #K) (FY24: $(5.4) million) and former year true ups (adj. #M) (FY24: $0.3 million). See pages 34-35 and the sell side diligence databook for further commentary.</a:t>
            </a:r>
          </a:p>
          <a:p>
            <a:pPr marL="171450" lvl="1" indent="-171450" defTabSz="914377">
              <a:spcAft>
                <a:spcPts val="300"/>
              </a:spcAft>
              <a:buFont typeface="Arial" panose="020B0604020202020204" pitchFamily="34" charset="0"/>
              <a:buChar char="•"/>
              <a:defRPr/>
            </a:pPr>
            <a:r>
              <a:rPr lang="en-US" b="1"/>
              <a:t>Buy side diligence adjustments</a:t>
            </a:r>
            <a:r>
              <a:rPr lang="en-US" b="1">
                <a:solidFill>
                  <a:schemeClr val="tx2"/>
                </a:solidFill>
              </a:rPr>
              <a:t>: </a:t>
            </a:r>
            <a:r>
              <a:rPr lang="en-US"/>
              <a:t>Reflect incremental buy side adjustments primarily related to the normalization of deferred revenue on seven non-standard long term contracts (adj. #2). The analysis presented normalises these contracts to an average of 3 years (resulting an average deferred revenue of 17.5 months over the contract term). Please see pages 35-36 for further commentary.</a:t>
            </a:r>
          </a:p>
          <a:p>
            <a:pPr marL="171450" lvl="1" indent="-171450" defTabSz="914377">
              <a:spcAft>
                <a:spcPts val="300"/>
              </a:spcAft>
              <a:buFont typeface="Arial" panose="020B0604020202020204" pitchFamily="34" charset="0"/>
              <a:buChar char="•"/>
              <a:defRPr/>
            </a:pPr>
            <a:r>
              <a:rPr lang="en-US"/>
              <a:t>The table presented opposite shows various approaches of normalising these long term contracts based on different average contract lengths at each time period. The adjustment is judgmental and all scenarios presented opposite represent potential negotiating positions. The agreed working capital target is within the range of potential outcome assuming a 3 year contract term (including 17.5 months of deferred revenue relating to these contracts – representing the average balance across 3 years) – in reality, future NWC will be driven by the mix of contracts including contracts that replace the long term CS DISCO contract (5 year prepayment – see page 8). </a:t>
            </a:r>
          </a:p>
        </p:txBody>
      </p:sp>
      <p:sp>
        <p:nvSpPr>
          <p:cNvPr id="92" name="Rectangle 91">
            <a:extLst>
              <a:ext uri="{FF2B5EF4-FFF2-40B4-BE49-F238E27FC236}">
                <a16:creationId xmlns:a16="http://schemas.microsoft.com/office/drawing/2014/main" id="{19A56965-3896-4C07-8D46-BEA612878999}"/>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3" name="Rectangle 92">
            <a:extLst>
              <a:ext uri="{FF2B5EF4-FFF2-40B4-BE49-F238E27FC236}">
                <a16:creationId xmlns:a16="http://schemas.microsoft.com/office/drawing/2014/main" id="{8557B302-D1C8-49FB-AB35-71FE1FBF43B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7" name="Rectangle 96">
            <a:extLst>
              <a:ext uri="{FF2B5EF4-FFF2-40B4-BE49-F238E27FC236}">
                <a16:creationId xmlns:a16="http://schemas.microsoft.com/office/drawing/2014/main" id="{5070EC35-3DCA-438A-94EE-EF89862E1E18}"/>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8" name="Rectangle 97">
            <a:extLst>
              <a:ext uri="{FF2B5EF4-FFF2-40B4-BE49-F238E27FC236}">
                <a16:creationId xmlns:a16="http://schemas.microsoft.com/office/drawing/2014/main" id="{B2452758-5690-4808-BB90-31D3E52F94F3}"/>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9" name="Rectangle 98">
            <a:extLst>
              <a:ext uri="{FF2B5EF4-FFF2-40B4-BE49-F238E27FC236}">
                <a16:creationId xmlns:a16="http://schemas.microsoft.com/office/drawing/2014/main" id="{29A51AA6-9EB8-4E68-974C-F99851C51F29}"/>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2" name="Text Placeholder 7">
            <a:extLst>
              <a:ext uri="{FF2B5EF4-FFF2-40B4-BE49-F238E27FC236}">
                <a16:creationId xmlns:a16="http://schemas.microsoft.com/office/drawing/2014/main" id="{66FBA14E-095E-59B3-9E18-9B42DC9A3B19}"/>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EE52680C-CB00-B5E0-94DA-2F70BE9989A7}"/>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37D62885-7267-EDE6-6742-AA0A263D2F48}"/>
              </a:ext>
            </a:extLst>
          </p:cNvPr>
          <p:cNvSpPr/>
          <p:nvPr>
            <p:custDataLst>
              <p:tags r:id="rId3"/>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0D340BF9-DF38-CFF5-41FF-8EBFE556115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6" name="Straight Arrow Connector 15">
            <a:extLst>
              <a:ext uri="{FF2B5EF4-FFF2-40B4-BE49-F238E27FC236}">
                <a16:creationId xmlns:a16="http://schemas.microsoft.com/office/drawing/2014/main" id="{338392EF-4029-4D01-53A7-FDD7D215A914}"/>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D0CA4BAA-8042-3E5E-5EA4-B91FF13FC555}"/>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9" name="Rectangle 8">
            <a:extLst>
              <a:ext uri="{FF2B5EF4-FFF2-40B4-BE49-F238E27FC236}">
                <a16:creationId xmlns:a16="http://schemas.microsoft.com/office/drawing/2014/main" id="{B4C24311-68DE-AC8F-9401-545872576BC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0" name="Rectangle 9">
            <a:extLst>
              <a:ext uri="{FF2B5EF4-FFF2-40B4-BE49-F238E27FC236}">
                <a16:creationId xmlns:a16="http://schemas.microsoft.com/office/drawing/2014/main" id="{808ED605-6CB2-A7A9-5141-99D4EFFFEA55}"/>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8" name="Rectangle 17">
            <a:extLst>
              <a:ext uri="{FF2B5EF4-FFF2-40B4-BE49-F238E27FC236}">
                <a16:creationId xmlns:a16="http://schemas.microsoft.com/office/drawing/2014/main" id="{75CF1E01-2D1A-A52A-344C-4B99E0255C3C}"/>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21" name="UpSlide SubSection Marker" hidden="1">
            <a:extLst>
              <a:ext uri="{FF2B5EF4-FFF2-40B4-BE49-F238E27FC236}">
                <a16:creationId xmlns:a16="http://schemas.microsoft.com/office/drawing/2014/main" id="{64C6078F-2534-8AED-56E5-0EAA986AACBC}"/>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Net working capital</a:t>
            </a:r>
          </a:p>
        </p:txBody>
      </p:sp>
      <p:sp>
        <p:nvSpPr>
          <p:cNvPr id="24" name="Rectangle: Rounded Corners 23">
            <a:extLst>
              <a:ext uri="{FF2B5EF4-FFF2-40B4-BE49-F238E27FC236}">
                <a16:creationId xmlns:a16="http://schemas.microsoft.com/office/drawing/2014/main" id="{DA759FD3-0659-B0ED-9A33-E134831451B1}"/>
              </a:ext>
            </a:extLst>
          </p:cNvPr>
          <p:cNvSpPr/>
          <p:nvPr/>
        </p:nvSpPr>
        <p:spPr>
          <a:xfrm>
            <a:off x="937787" y="5201699"/>
            <a:ext cx="4152901" cy="150886"/>
          </a:xfrm>
          <a:prstGeom prst="roundRect">
            <a:avLst/>
          </a:prstGeom>
          <a:noFill/>
          <a:ln>
            <a:solidFill>
              <a:srgbClr val="FD349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900">
              <a:solidFill>
                <a:schemeClr val="bg1"/>
              </a:solidFill>
            </a:endParaRPr>
          </a:p>
        </p:txBody>
      </p:sp>
      <p:sp>
        <p:nvSpPr>
          <p:cNvPr id="22" name="Text Placeholder 12">
            <a:extLst>
              <a:ext uri="{FF2B5EF4-FFF2-40B4-BE49-F238E27FC236}">
                <a16:creationId xmlns:a16="http://schemas.microsoft.com/office/drawing/2014/main" id="{2BEFD3E5-0187-F1E0-390C-C9F3A8F11765}"/>
              </a:ext>
            </a:extLst>
          </p:cNvPr>
          <p:cNvSpPr txBox="1">
            <a:spLocks/>
          </p:cNvSpPr>
          <p:nvPr/>
        </p:nvSpPr>
        <p:spPr>
          <a:xfrm>
            <a:off x="1003312" y="5910197"/>
            <a:ext cx="3765903"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Source: 	2.2.2.5_20250515 Project Vortex - Databook - Balance Sheet.xlsb; KPMG analysis</a:t>
            </a:r>
          </a:p>
        </p:txBody>
      </p:sp>
      <p:pic>
        <p:nvPicPr>
          <p:cNvPr id="13" name="Picture 12">
            <a:extLst>
              <a:ext uri="{FF2B5EF4-FFF2-40B4-BE49-F238E27FC236}">
                <a16:creationId xmlns:a16="http://schemas.microsoft.com/office/drawing/2014/main" id="{A85327FB-DD3E-EBF6-DCA4-8868A70362AB}"/>
              </a:ext>
            </a:extLst>
          </p:cNvPr>
          <p:cNvPicPr>
            <a:picLocks noChangeAspect="1"/>
          </p:cNvPicPr>
          <p:nvPr>
            <p:custDataLst>
              <p:tags r:id="rId5"/>
            </p:custDataLst>
          </p:nvPr>
        </p:nvPicPr>
        <p:blipFill>
          <a:blip r:embed="rId12"/>
          <a:stretch>
            <a:fillRect/>
          </a:stretch>
        </p:blipFill>
        <p:spPr>
          <a:xfrm>
            <a:off x="989971" y="1751583"/>
            <a:ext cx="4969578" cy="2250702"/>
          </a:xfrm>
          <a:prstGeom prst="rect">
            <a:avLst/>
          </a:prstGeom>
        </p:spPr>
      </p:pic>
      <p:grpSp>
        <p:nvGrpSpPr>
          <p:cNvPr id="135" name="Group 134">
            <a:extLst>
              <a:ext uri="{FF2B5EF4-FFF2-40B4-BE49-F238E27FC236}">
                <a16:creationId xmlns:a16="http://schemas.microsoft.com/office/drawing/2014/main" id="{CE65BD84-B31F-4942-E487-D3BE47255EC7}"/>
              </a:ext>
            </a:extLst>
          </p:cNvPr>
          <p:cNvGrpSpPr/>
          <p:nvPr>
            <p:custDataLst>
              <p:tags r:id="rId6"/>
            </p:custDataLst>
          </p:nvPr>
        </p:nvGrpSpPr>
        <p:grpSpPr>
          <a:xfrm>
            <a:off x="995364" y="153170"/>
            <a:ext cx="7407882" cy="195814"/>
            <a:chOff x="995364" y="153170"/>
            <a:chExt cx="7407882" cy="195814"/>
          </a:xfrm>
        </p:grpSpPr>
        <p:sp>
          <p:nvSpPr>
            <p:cNvPr id="136" name="Other Sections1">
              <a:hlinkClick r:id="rId13"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137" name="Other Sections2">
              <a:hlinkClick r:id="rId14"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138" name="Other Sections3">
              <a:hlinkClick r:id="rId15" action="ppaction://hlinksldjump"/>
              <a:extLst>
                <a:ext uri="{FF2B5EF4-FFF2-40B4-BE49-F238E27FC236}">
                  <a16:creationId xmlns:a16="http://schemas.microsoft.com/office/drawing/2014/main" id="{8A19844E-D291-CA81-3B22-2B52F21919DA}"/>
                </a:ext>
              </a:extLst>
            </p:cNvPr>
            <p:cNvSpPr>
              <a:spLocks/>
            </p:cNvSpPr>
            <p:nvPr/>
          </p:nvSpPr>
          <p:spPr>
            <a:xfrm>
              <a:off x="3325196"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139" name="Current Section4">
              <a:hlinkClick r:id="rId16" action="ppaction://hlinksldjump"/>
              <a:extLst>
                <a:ext uri="{FF2B5EF4-FFF2-40B4-BE49-F238E27FC236}">
                  <a16:creationId xmlns:a16="http://schemas.microsoft.com/office/drawing/2014/main" id="{89A61135-1F00-E77F-7C78-5FBA241A5742}"/>
                </a:ext>
              </a:extLst>
            </p:cNvPr>
            <p:cNvSpPr>
              <a:spLocks/>
            </p:cNvSpPr>
            <p:nvPr/>
          </p:nvSpPr>
          <p:spPr>
            <a:xfrm>
              <a:off x="477384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140" name="Other Sections5">
              <a:hlinkClick r:id="rId17" action="ppaction://hlinksldjump"/>
              <a:extLst>
                <a:ext uri="{FF2B5EF4-FFF2-40B4-BE49-F238E27FC236}">
                  <a16:creationId xmlns:a16="http://schemas.microsoft.com/office/drawing/2014/main" id="{8A19844E-D291-CA81-3B22-2B52F21919DA}"/>
                </a:ext>
              </a:extLst>
            </p:cNvPr>
            <p:cNvSpPr>
              <a:spLocks/>
            </p:cNvSpPr>
            <p:nvPr/>
          </p:nvSpPr>
          <p:spPr>
            <a:xfrm>
              <a:off x="5613351"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141" name="Other Sections6">
              <a:hlinkClick r:id="rId18" action="ppaction://hlinksldjump"/>
              <a:extLst>
                <a:ext uri="{FF2B5EF4-FFF2-40B4-BE49-F238E27FC236}">
                  <a16:creationId xmlns:a16="http://schemas.microsoft.com/office/drawing/2014/main" id="{8A19844E-D291-CA81-3B22-2B52F21919DA}"/>
                </a:ext>
              </a:extLst>
            </p:cNvPr>
            <p:cNvSpPr>
              <a:spLocks/>
            </p:cNvSpPr>
            <p:nvPr/>
          </p:nvSpPr>
          <p:spPr>
            <a:xfrm>
              <a:off x="771442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
        <p:nvSpPr>
          <p:cNvPr id="7" name="Rectangle: Rounded Corners 6">
            <a:extLst>
              <a:ext uri="{FF2B5EF4-FFF2-40B4-BE49-F238E27FC236}">
                <a16:creationId xmlns:a16="http://schemas.microsoft.com/office/drawing/2014/main" id="{EB7C1295-D722-9B71-938D-6B672A8278D1}"/>
              </a:ext>
            </a:extLst>
          </p:cNvPr>
          <p:cNvSpPr/>
          <p:nvPr/>
        </p:nvSpPr>
        <p:spPr>
          <a:xfrm>
            <a:off x="4264140" y="2068192"/>
            <a:ext cx="408222" cy="1934093"/>
          </a:xfrm>
          <a:prstGeom prst="roundRect">
            <a:avLst/>
          </a:prstGeom>
          <a:noFill/>
          <a:ln>
            <a:solidFill>
              <a:srgbClr val="FD349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900">
              <a:solidFill>
                <a:schemeClr val="bg1"/>
              </a:solidFill>
            </a:endParaRPr>
          </a:p>
        </p:txBody>
      </p:sp>
      <p:sp>
        <p:nvSpPr>
          <p:cNvPr id="23" name="Oval 22">
            <a:extLst>
              <a:ext uri="{FF2B5EF4-FFF2-40B4-BE49-F238E27FC236}">
                <a16:creationId xmlns:a16="http://schemas.microsoft.com/office/drawing/2014/main" id="{08B4B0DB-5FA7-C100-A468-434EE3396A3C}"/>
              </a:ext>
            </a:extLst>
          </p:cNvPr>
          <p:cNvSpPr>
            <a:spLocks noChangeAspect="1"/>
          </p:cNvSpPr>
          <p:nvPr/>
        </p:nvSpPr>
        <p:spPr>
          <a:xfrm>
            <a:off x="5074789" y="5223142"/>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1</a:t>
            </a:r>
          </a:p>
        </p:txBody>
      </p:sp>
      <p:sp>
        <p:nvSpPr>
          <p:cNvPr id="25" name="Oval 24">
            <a:extLst>
              <a:ext uri="{FF2B5EF4-FFF2-40B4-BE49-F238E27FC236}">
                <a16:creationId xmlns:a16="http://schemas.microsoft.com/office/drawing/2014/main" id="{1272E2E4-4C19-844A-8FC4-4FDCBE3450E6}"/>
              </a:ext>
            </a:extLst>
          </p:cNvPr>
          <p:cNvSpPr>
            <a:spLocks noChangeAspect="1"/>
          </p:cNvSpPr>
          <p:nvPr/>
        </p:nvSpPr>
        <p:spPr>
          <a:xfrm>
            <a:off x="6223818" y="5003446"/>
            <a:ext cx="108000" cy="108000"/>
          </a:xfrm>
          <a:prstGeom prst="ellips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700">
                <a:solidFill>
                  <a:schemeClr val="bg1"/>
                </a:solidFill>
              </a:rPr>
              <a:t>1</a:t>
            </a:r>
          </a:p>
        </p:txBody>
      </p:sp>
      <p:sp>
        <p:nvSpPr>
          <p:cNvPr id="27" name="Text Placeholder 12">
            <a:extLst>
              <a:ext uri="{FF2B5EF4-FFF2-40B4-BE49-F238E27FC236}">
                <a16:creationId xmlns:a16="http://schemas.microsoft.com/office/drawing/2014/main" id="{4E8EEFCB-350E-F9A5-C5C7-8643811C4609}"/>
              </a:ext>
            </a:extLst>
          </p:cNvPr>
          <p:cNvSpPr txBox="1">
            <a:spLocks/>
          </p:cNvSpPr>
          <p:nvPr/>
        </p:nvSpPr>
        <p:spPr>
          <a:xfrm>
            <a:off x="1003311" y="4087942"/>
            <a:ext cx="4956238"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Sell side normalized working capital differs from Locked Box calculation ($21,330,000) by $17,000 due to different amount included f	or NWC adj. #B in agreed calculation.</a:t>
            </a:r>
          </a:p>
        </p:txBody>
      </p:sp>
      <p:sp>
        <p:nvSpPr>
          <p:cNvPr id="15" name="Rectangle: Rounded Corners 14">
            <a:extLst>
              <a:ext uri="{FF2B5EF4-FFF2-40B4-BE49-F238E27FC236}">
                <a16:creationId xmlns:a16="http://schemas.microsoft.com/office/drawing/2014/main" id="{84D0B553-1D86-D520-DD45-77B499B4381D}"/>
              </a:ext>
            </a:extLst>
          </p:cNvPr>
          <p:cNvSpPr/>
          <p:nvPr/>
        </p:nvSpPr>
        <p:spPr>
          <a:xfrm>
            <a:off x="2770697" y="2745222"/>
            <a:ext cx="408222" cy="159671"/>
          </a:xfrm>
          <a:prstGeom prst="roundRect">
            <a:avLst/>
          </a:prstGeom>
          <a:noFill/>
          <a:ln>
            <a:solidFill>
              <a:srgbClr val="FD349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900">
              <a:solidFill>
                <a:schemeClr val="bg1"/>
              </a:solidFill>
            </a:endParaRPr>
          </a:p>
        </p:txBody>
      </p:sp>
    </p:spTree>
    <p:extLst>
      <p:ext uri="{BB962C8B-B14F-4D97-AF65-F5344CB8AC3E}">
        <p14:creationId xmlns:p14="http://schemas.microsoft.com/office/powerpoint/2010/main" val="3493513573"/>
      </p:ext>
    </p:extLst>
  </p:cSld>
  <p:clrMapOvr>
    <a:masterClrMapping/>
  </p:clrMapOvr>
  <p:extLst>
    <p:ext uri="{6950BFC3-D8DA-4A85-94F7-54DA5524770B}">
      <p188:commentRel xmlns:p188="http://schemas.microsoft.com/office/powerpoint/2018/8/main" r:id="rId8"/>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46AD921-4635-5BFF-B1B5-A5953DBC5E29}"/>
              </a:ext>
            </a:extLst>
          </p:cNvPr>
          <p:cNvPicPr>
            <a:picLocks noChangeAspect="1"/>
          </p:cNvPicPr>
          <p:nvPr>
            <p:custDataLst>
              <p:tags r:id="rId1"/>
            </p:custDataLst>
          </p:nvPr>
        </p:nvPicPr>
        <p:blipFill>
          <a:blip r:embed="rId8"/>
          <a:stretch>
            <a:fillRect/>
          </a:stretch>
        </p:blipFill>
        <p:spPr>
          <a:xfrm>
            <a:off x="1003312" y="1751587"/>
            <a:ext cx="4963960" cy="3483663"/>
          </a:xfrm>
          <a:prstGeom prst="rect">
            <a:avLst/>
          </a:prstGeom>
        </p:spPr>
      </p:pic>
      <p:sp>
        <p:nvSpPr>
          <p:cNvPr id="11" name="Text Placeholder 10">
            <a:extLst>
              <a:ext uri="{FF2B5EF4-FFF2-40B4-BE49-F238E27FC236}">
                <a16:creationId xmlns:a16="http://schemas.microsoft.com/office/drawing/2014/main" id="{0C7B2154-7CA3-96CF-6AD2-BB45D064C649}"/>
              </a:ext>
            </a:extLst>
          </p:cNvPr>
          <p:cNvSpPr>
            <a:spLocks noGrp="1"/>
          </p:cNvSpPr>
          <p:nvPr>
            <p:ph type="body" sz="quarter" idx="10"/>
          </p:nvPr>
        </p:nvSpPr>
        <p:spPr>
          <a:xfrm>
            <a:off x="975253" y="1180606"/>
            <a:ext cx="10204452" cy="460800"/>
          </a:xfrm>
        </p:spPr>
        <p:txBody>
          <a:bodyPr/>
          <a:lstStyle/>
          <a:p>
            <a:r>
              <a:rPr lang="fi-FI"/>
              <a:t>Sell side diligence adjustments include a $1.1 million adjustment for CIT receivables and payables for L6M Mar-25 (adj. #C). Other notable adjustments to L6M Mar-25 relate to an ongoing ligation provision (adj. #A) ($0.2 million) and Fastcase sales tax payable (adj. #D) ($0.2 million).</a:t>
            </a:r>
          </a:p>
        </p:txBody>
      </p:sp>
      <p:graphicFrame>
        <p:nvGraphicFramePr>
          <p:cNvPr id="14" name="Object 13" hidden="1">
            <a:extLst>
              <a:ext uri="{FF2B5EF4-FFF2-40B4-BE49-F238E27FC236}">
                <a16:creationId xmlns:a16="http://schemas.microsoft.com/office/drawing/2014/main" id="{58260B24-EB1E-499D-A18C-A790E32EB7F8}"/>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9" imgW="395" imgH="394" progId="TCLayout.ActiveDocument.1">
                  <p:embed/>
                </p:oleObj>
              </mc:Choice>
              <mc:Fallback>
                <p:oleObj name="think-cell Slide" r:id="rId9" imgW="395" imgH="394" progId="TCLayout.ActiveDocument.1">
                  <p:embed/>
                  <p:pic>
                    <p:nvPicPr>
                      <p:cNvPr id="14" name="Object 13" hidden="1">
                        <a:extLst>
                          <a:ext uri="{FF2B5EF4-FFF2-40B4-BE49-F238E27FC236}">
                            <a16:creationId xmlns:a16="http://schemas.microsoft.com/office/drawing/2014/main" id="{58260B24-EB1E-499D-A18C-A790E32EB7F8}"/>
                          </a:ext>
                        </a:extLst>
                      </p:cNvPr>
                      <p:cNvPicPr/>
                      <p:nvPr/>
                    </p:nvPicPr>
                    <p:blipFill>
                      <a:blip r:embed="rId10"/>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2F3D37F5-54B0-4783-BE57-7263B11FF044}"/>
              </a:ext>
            </a:extLst>
          </p:cNvPr>
          <p:cNvSpPr>
            <a:spLocks noGrp="1"/>
          </p:cNvSpPr>
          <p:nvPr>
            <p:ph type="title"/>
          </p:nvPr>
        </p:nvSpPr>
        <p:spPr/>
        <p:txBody>
          <a:bodyPr vert="horz"/>
          <a:lstStyle/>
          <a:p>
            <a:r>
              <a:rPr lang="en-US"/>
              <a:t>Net working capital (1/4)</a:t>
            </a:r>
          </a:p>
        </p:txBody>
      </p:sp>
      <p:sp>
        <p:nvSpPr>
          <p:cNvPr id="12" name="Text Placeholder 11">
            <a:extLst>
              <a:ext uri="{FF2B5EF4-FFF2-40B4-BE49-F238E27FC236}">
                <a16:creationId xmlns:a16="http://schemas.microsoft.com/office/drawing/2014/main" id="{257CF790-78EB-8B6B-C0D1-EB7C268281C3}"/>
              </a:ext>
            </a:extLst>
          </p:cNvPr>
          <p:cNvSpPr>
            <a:spLocks noGrp="1"/>
          </p:cNvSpPr>
          <p:nvPr>
            <p:ph type="body" sz="quarter" idx="11"/>
          </p:nvPr>
        </p:nvSpPr>
        <p:spPr/>
        <p:txBody>
          <a:bodyPr/>
          <a:lstStyle/>
          <a:p>
            <a:r>
              <a:rPr lang="fi-FI"/>
              <a:t>Commentary</a:t>
            </a:r>
          </a:p>
        </p:txBody>
      </p:sp>
      <p:sp>
        <p:nvSpPr>
          <p:cNvPr id="6" name="Text Placeholder 5">
            <a:extLst>
              <a:ext uri="{FF2B5EF4-FFF2-40B4-BE49-F238E27FC236}">
                <a16:creationId xmlns:a16="http://schemas.microsoft.com/office/drawing/2014/main" id="{6024E5AC-3688-475C-8BDD-5ECC42457A0D}"/>
              </a:ext>
            </a:extLst>
          </p:cNvPr>
          <p:cNvSpPr>
            <a:spLocks noGrp="1"/>
          </p:cNvSpPr>
          <p:nvPr>
            <p:ph type="body" sz="quarter" idx="24"/>
          </p:nvPr>
        </p:nvSpPr>
        <p:spPr>
          <a:xfrm>
            <a:off x="6165629" y="2003584"/>
            <a:ext cx="5036400" cy="4244816"/>
          </a:xfrm>
        </p:spPr>
        <p:txBody>
          <a:bodyPr/>
          <a:lstStyle/>
          <a:p>
            <a:pPr lvl="1" defTabSz="914377">
              <a:defRPr/>
            </a:pPr>
            <a:r>
              <a:rPr lang="en-US" b="1">
                <a:solidFill>
                  <a:schemeClr val="tx2"/>
                </a:solidFill>
              </a:rPr>
              <a:t>Sell side diligence adjustments</a:t>
            </a:r>
          </a:p>
          <a:p>
            <a:pPr marL="228600" lvl="1" indent="-228600" defTabSz="914377">
              <a:spcAft>
                <a:spcPts val="300"/>
              </a:spcAft>
              <a:buFont typeface="+mj-lt"/>
              <a:buAutoNum type="alphaUcPeriod"/>
              <a:defRPr/>
            </a:pPr>
            <a:r>
              <a:rPr lang="en-US" b="1"/>
              <a:t>Ongoing litigation provision</a:t>
            </a:r>
            <a:r>
              <a:rPr lang="en-US"/>
              <a:t>: In FY24, Management recorded a provision amounting to $0.3 million related to a claim against NextChapter presented by a client due to fraud. This adjustment removes this provision from working capital and reclassifies it as a debt balance (net debt adj. #3).</a:t>
            </a:r>
          </a:p>
          <a:p>
            <a:pPr marL="228600" lvl="1" indent="-228600" defTabSz="914377">
              <a:spcAft>
                <a:spcPts val="300"/>
              </a:spcAft>
              <a:buFont typeface="+mj-lt"/>
              <a:buAutoNum type="alphaUcPeriod"/>
              <a:defRPr/>
            </a:pPr>
            <a:r>
              <a:rPr lang="en-US" b="1"/>
              <a:t>CRO severance payment:  </a:t>
            </a:r>
            <a:r>
              <a:rPr lang="en-US"/>
              <a:t>According to Management, there was a duplication of salaries related to CRO functions. This role was eliminated in Oct-24, and its responsibilities were absorbed by the current team. This adjustment relates to the severance payment for the CRO which was recorded in Dec-24 and fully paid in Feb-25. This amount is included in net debt adj. #4.</a:t>
            </a:r>
          </a:p>
          <a:p>
            <a:pPr marL="228600" lvl="1" indent="-228600" defTabSz="914377">
              <a:spcAft>
                <a:spcPts val="300"/>
              </a:spcAft>
              <a:buFont typeface="+mj-lt"/>
              <a:buAutoNum type="alphaUcPeriod"/>
              <a:defRPr/>
            </a:pPr>
            <a:r>
              <a:rPr lang="en-US" b="1"/>
              <a:t>CIT receivables and payables: </a:t>
            </a:r>
            <a:r>
              <a:rPr lang="en-US"/>
              <a:t>Vortex’s accounts receivable and payable related to corporate income tax are excluded from adjusted working capital and included in net debt (net debt adj. #1).</a:t>
            </a:r>
          </a:p>
          <a:p>
            <a:pPr marL="228600" lvl="1" indent="-228600" defTabSz="914377">
              <a:spcAft>
                <a:spcPts val="300"/>
              </a:spcAft>
              <a:buFont typeface="+mj-lt"/>
              <a:buAutoNum type="alphaUcPeriod"/>
              <a:defRPr/>
            </a:pPr>
            <a:r>
              <a:rPr lang="en-US" b="1"/>
              <a:t>Fastcase sales tax payables: </a:t>
            </a:r>
            <a:r>
              <a:rPr lang="en-US"/>
              <a:t>Fastcase did not properly record or pay state sales taxes prior to the acquisition. Post acquisition, this was corrected. This adjustment excludes sales tax penalties and costs related to other periods and leaves a normal level of sales tax in all historical periods. This amount is included in net debt adj. #5.</a:t>
            </a:r>
          </a:p>
          <a:p>
            <a:pPr marL="228600" lvl="1" indent="-228600" defTabSz="914377">
              <a:spcAft>
                <a:spcPts val="300"/>
              </a:spcAft>
              <a:buFont typeface="+mj-lt"/>
              <a:buAutoNum type="alphaUcPeriod"/>
              <a:defRPr/>
            </a:pPr>
            <a:r>
              <a:rPr lang="en-US" b="1"/>
              <a:t>Overdue payables: </a:t>
            </a:r>
            <a:r>
              <a:rPr lang="en-US"/>
              <a:t>Overdue balances exceeding 181 days have been excluded from working capital and reclassified as debt-like items (net debt adj. #6). Note, the included amount in the Locked Box is the FY24 average adjustment ($4,000 asset). </a:t>
            </a:r>
          </a:p>
          <a:p>
            <a:pPr marL="228600" lvl="1" indent="-228600" defTabSz="914377">
              <a:spcAft>
                <a:spcPts val="300"/>
              </a:spcAft>
              <a:buFont typeface="+mj-lt"/>
              <a:buAutoNum type="alphaUcPeriod"/>
              <a:defRPr/>
            </a:pPr>
            <a:r>
              <a:rPr lang="en-US" b="1"/>
              <a:t>VAT customer reinvoices: </a:t>
            </a:r>
            <a:r>
              <a:rPr lang="en-US"/>
              <a:t>In the U.S., during FY21, the Group issued invoices to clients including VAT charges. This item has been considered non-operational in nature and has therefore been removed from NWC – although note that there is no balance at the Locked Box date of Dec-24.</a:t>
            </a:r>
          </a:p>
        </p:txBody>
      </p:sp>
      <p:sp>
        <p:nvSpPr>
          <p:cNvPr id="92" name="Rectangle 91">
            <a:extLst>
              <a:ext uri="{FF2B5EF4-FFF2-40B4-BE49-F238E27FC236}">
                <a16:creationId xmlns:a16="http://schemas.microsoft.com/office/drawing/2014/main" id="{19A56965-3896-4C07-8D46-BEA612878999}"/>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3" name="Rectangle 92">
            <a:extLst>
              <a:ext uri="{FF2B5EF4-FFF2-40B4-BE49-F238E27FC236}">
                <a16:creationId xmlns:a16="http://schemas.microsoft.com/office/drawing/2014/main" id="{8557B302-D1C8-49FB-AB35-71FE1FBF43B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7" name="Rectangle 96">
            <a:extLst>
              <a:ext uri="{FF2B5EF4-FFF2-40B4-BE49-F238E27FC236}">
                <a16:creationId xmlns:a16="http://schemas.microsoft.com/office/drawing/2014/main" id="{5070EC35-3DCA-438A-94EE-EF89862E1E18}"/>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8" name="Rectangle 97">
            <a:extLst>
              <a:ext uri="{FF2B5EF4-FFF2-40B4-BE49-F238E27FC236}">
                <a16:creationId xmlns:a16="http://schemas.microsoft.com/office/drawing/2014/main" id="{B2452758-5690-4808-BB90-31D3E52F94F3}"/>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9" name="Rectangle 98">
            <a:extLst>
              <a:ext uri="{FF2B5EF4-FFF2-40B4-BE49-F238E27FC236}">
                <a16:creationId xmlns:a16="http://schemas.microsoft.com/office/drawing/2014/main" id="{29A51AA6-9EB8-4E68-974C-F99851C51F29}"/>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2" name="Text Placeholder 7">
            <a:extLst>
              <a:ext uri="{FF2B5EF4-FFF2-40B4-BE49-F238E27FC236}">
                <a16:creationId xmlns:a16="http://schemas.microsoft.com/office/drawing/2014/main" id="{66FBA14E-095E-59B3-9E18-9B42DC9A3B19}"/>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EE52680C-CB00-B5E0-94DA-2F70BE9989A7}"/>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37D62885-7267-EDE6-6742-AA0A263D2F48}"/>
              </a:ext>
            </a:extLst>
          </p:cNvPr>
          <p:cNvSpPr/>
          <p:nvPr>
            <p:custDataLst>
              <p:tags r:id="rId3"/>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0D340BF9-DF38-CFF5-41FF-8EBFE556115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6" name="Straight Arrow Connector 15">
            <a:extLst>
              <a:ext uri="{FF2B5EF4-FFF2-40B4-BE49-F238E27FC236}">
                <a16:creationId xmlns:a16="http://schemas.microsoft.com/office/drawing/2014/main" id="{338392EF-4029-4D01-53A7-FDD7D215A914}"/>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D0CA4BAA-8042-3E5E-5EA4-B91FF13FC555}"/>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9" name="Rectangle 8">
            <a:extLst>
              <a:ext uri="{FF2B5EF4-FFF2-40B4-BE49-F238E27FC236}">
                <a16:creationId xmlns:a16="http://schemas.microsoft.com/office/drawing/2014/main" id="{B4C24311-68DE-AC8F-9401-545872576BC0}"/>
              </a:ext>
            </a:extLst>
          </p:cNvPr>
          <p:cNvSpPr/>
          <p:nvPr/>
        </p:nvSpPr>
        <p:spPr>
          <a:xfrm>
            <a:off x="-79607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0" name="Rectangle 9">
            <a:extLst>
              <a:ext uri="{FF2B5EF4-FFF2-40B4-BE49-F238E27FC236}">
                <a16:creationId xmlns:a16="http://schemas.microsoft.com/office/drawing/2014/main" id="{808ED605-6CB2-A7A9-5141-99D4EFFFEA55}"/>
              </a:ext>
            </a:extLst>
          </p:cNvPr>
          <p:cNvSpPr/>
          <p:nvPr/>
        </p:nvSpPr>
        <p:spPr>
          <a:xfrm>
            <a:off x="-2014199" y="1238472"/>
            <a:ext cx="1713116"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8" name="Rectangle 17">
            <a:extLst>
              <a:ext uri="{FF2B5EF4-FFF2-40B4-BE49-F238E27FC236}">
                <a16:creationId xmlns:a16="http://schemas.microsoft.com/office/drawing/2014/main" id="{75CF1E01-2D1A-A52A-344C-4B99E0255C3C}"/>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21" name="UpSlide SubSection Marker" hidden="1">
            <a:extLst>
              <a:ext uri="{FF2B5EF4-FFF2-40B4-BE49-F238E27FC236}">
                <a16:creationId xmlns:a16="http://schemas.microsoft.com/office/drawing/2014/main" id="{64C6078F-2534-8AED-56E5-0EAA986AACBC}"/>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Net working capital</a:t>
            </a:r>
          </a:p>
        </p:txBody>
      </p:sp>
      <p:sp>
        <p:nvSpPr>
          <p:cNvPr id="20" name="Text Placeholder 12">
            <a:extLst>
              <a:ext uri="{FF2B5EF4-FFF2-40B4-BE49-F238E27FC236}">
                <a16:creationId xmlns:a16="http://schemas.microsoft.com/office/drawing/2014/main" id="{E0C32D1D-E1E8-0378-473A-1E39C02A8564}"/>
              </a:ext>
            </a:extLst>
          </p:cNvPr>
          <p:cNvSpPr txBox="1">
            <a:spLocks/>
          </p:cNvSpPr>
          <p:nvPr/>
        </p:nvSpPr>
        <p:spPr>
          <a:xfrm>
            <a:off x="1003312" y="5868955"/>
            <a:ext cx="3765903"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Source: 	2.2.2.5_20250515 Project Vortex - Databook - Balance Sheet.xlsb; KPMG analysis</a:t>
            </a:r>
          </a:p>
        </p:txBody>
      </p:sp>
      <p:grpSp>
        <p:nvGrpSpPr>
          <p:cNvPr id="132" name="Group 131">
            <a:extLst>
              <a:ext uri="{FF2B5EF4-FFF2-40B4-BE49-F238E27FC236}">
                <a16:creationId xmlns:a16="http://schemas.microsoft.com/office/drawing/2014/main" id="{CE65BD84-B31F-4942-E487-D3BE47255EC7}"/>
              </a:ext>
            </a:extLst>
          </p:cNvPr>
          <p:cNvGrpSpPr/>
          <p:nvPr>
            <p:custDataLst>
              <p:tags r:id="rId5"/>
            </p:custDataLst>
          </p:nvPr>
        </p:nvGrpSpPr>
        <p:grpSpPr>
          <a:xfrm>
            <a:off x="995364" y="153170"/>
            <a:ext cx="7407882" cy="195814"/>
            <a:chOff x="995364" y="153170"/>
            <a:chExt cx="7407882" cy="195814"/>
          </a:xfrm>
        </p:grpSpPr>
        <p:sp>
          <p:nvSpPr>
            <p:cNvPr id="133"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134"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135"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325196"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136" name="Current Section4">
              <a:hlinkClick r:id="rId14" action="ppaction://hlinksldjump"/>
              <a:extLst>
                <a:ext uri="{FF2B5EF4-FFF2-40B4-BE49-F238E27FC236}">
                  <a16:creationId xmlns:a16="http://schemas.microsoft.com/office/drawing/2014/main" id="{89A61135-1F00-E77F-7C78-5FBA241A5742}"/>
                </a:ext>
              </a:extLst>
            </p:cNvPr>
            <p:cNvSpPr>
              <a:spLocks/>
            </p:cNvSpPr>
            <p:nvPr/>
          </p:nvSpPr>
          <p:spPr>
            <a:xfrm>
              <a:off x="477384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137"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613351"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138"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771442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
        <p:nvSpPr>
          <p:cNvPr id="7" name="Rectangle: Rounded Corners 6">
            <a:extLst>
              <a:ext uri="{FF2B5EF4-FFF2-40B4-BE49-F238E27FC236}">
                <a16:creationId xmlns:a16="http://schemas.microsoft.com/office/drawing/2014/main" id="{058546D8-3617-04BD-3083-B4CE54206020}"/>
              </a:ext>
            </a:extLst>
          </p:cNvPr>
          <p:cNvSpPr/>
          <p:nvPr/>
        </p:nvSpPr>
        <p:spPr>
          <a:xfrm>
            <a:off x="4269714" y="2065443"/>
            <a:ext cx="440901" cy="3169806"/>
          </a:xfrm>
          <a:prstGeom prst="roundRect">
            <a:avLst/>
          </a:prstGeom>
          <a:noFill/>
          <a:ln>
            <a:solidFill>
              <a:srgbClr val="FD349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900">
              <a:solidFill>
                <a:schemeClr val="bg1"/>
              </a:solidFill>
            </a:endParaRPr>
          </a:p>
        </p:txBody>
      </p:sp>
    </p:spTree>
    <p:extLst>
      <p:ext uri="{BB962C8B-B14F-4D97-AF65-F5344CB8AC3E}">
        <p14:creationId xmlns:p14="http://schemas.microsoft.com/office/powerpoint/2010/main" val="561984436"/>
      </p:ext>
    </p:extLst>
  </p:cSld>
  <p:clrMapOvr>
    <a:masterClrMapping/>
  </p:clrMapOvr>
  <p:extLst>
    <p:ext uri="{6950BFC3-D8DA-4A85-94F7-54DA5524770B}">
      <p188:commentRel xmlns:p188="http://schemas.microsoft.com/office/powerpoint/2018/8/main" r:id="rId7"/>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58260B24-EB1E-499D-A18C-A790E32EB7F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4" name="Object 13" hidden="1">
                        <a:extLst>
                          <a:ext uri="{FF2B5EF4-FFF2-40B4-BE49-F238E27FC236}">
                            <a16:creationId xmlns:a16="http://schemas.microsoft.com/office/drawing/2014/main" id="{58260B24-EB1E-499D-A18C-A790E32EB7F8}"/>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2F3D37F5-54B0-4783-BE57-7263B11FF044}"/>
              </a:ext>
            </a:extLst>
          </p:cNvPr>
          <p:cNvSpPr>
            <a:spLocks noGrp="1"/>
          </p:cNvSpPr>
          <p:nvPr>
            <p:ph type="title"/>
          </p:nvPr>
        </p:nvSpPr>
        <p:spPr/>
        <p:txBody>
          <a:bodyPr vert="horz"/>
          <a:lstStyle/>
          <a:p>
            <a:r>
              <a:rPr lang="en-US"/>
              <a:t>Net working capital (2/4)</a:t>
            </a:r>
          </a:p>
        </p:txBody>
      </p:sp>
      <p:sp>
        <p:nvSpPr>
          <p:cNvPr id="12" name="Text Placeholder 11">
            <a:extLst>
              <a:ext uri="{FF2B5EF4-FFF2-40B4-BE49-F238E27FC236}">
                <a16:creationId xmlns:a16="http://schemas.microsoft.com/office/drawing/2014/main" id="{257CF790-78EB-8B6B-C0D1-EB7C268281C3}"/>
              </a:ext>
            </a:extLst>
          </p:cNvPr>
          <p:cNvSpPr>
            <a:spLocks noGrp="1"/>
          </p:cNvSpPr>
          <p:nvPr>
            <p:ph type="body" sz="quarter" idx="11"/>
          </p:nvPr>
        </p:nvSpPr>
        <p:spPr/>
        <p:txBody>
          <a:bodyPr/>
          <a:lstStyle/>
          <a:p>
            <a:r>
              <a:rPr lang="fi-FI"/>
              <a:t>Commentary</a:t>
            </a:r>
          </a:p>
        </p:txBody>
      </p:sp>
      <p:sp>
        <p:nvSpPr>
          <p:cNvPr id="11" name="Text Placeholder 10">
            <a:extLst>
              <a:ext uri="{FF2B5EF4-FFF2-40B4-BE49-F238E27FC236}">
                <a16:creationId xmlns:a16="http://schemas.microsoft.com/office/drawing/2014/main" id="{0C7B2154-7CA3-96CF-6AD2-BB45D064C649}"/>
              </a:ext>
            </a:extLst>
          </p:cNvPr>
          <p:cNvSpPr>
            <a:spLocks noGrp="1"/>
          </p:cNvSpPr>
          <p:nvPr>
            <p:ph type="body" sz="quarter" idx="10"/>
          </p:nvPr>
        </p:nvSpPr>
        <p:spPr>
          <a:xfrm>
            <a:off x="995361" y="1179513"/>
            <a:ext cx="10198239" cy="460800"/>
          </a:xfrm>
        </p:spPr>
        <p:txBody>
          <a:bodyPr/>
          <a:lstStyle/>
          <a:p>
            <a:r>
              <a:rPr lang="fi-FI"/>
              <a:t>The sell side diligence databook also includes adjustments related to discontinued M&amp;A (adj. #G), a one-time bonus (adj. #H) and Fastcase transaction balances (adj. #I). However, these adjustments do not impact average working capital for the period of L6M Mar-25.</a:t>
            </a:r>
          </a:p>
        </p:txBody>
      </p:sp>
      <p:sp>
        <p:nvSpPr>
          <p:cNvPr id="6" name="Text Placeholder 5">
            <a:extLst>
              <a:ext uri="{FF2B5EF4-FFF2-40B4-BE49-F238E27FC236}">
                <a16:creationId xmlns:a16="http://schemas.microsoft.com/office/drawing/2014/main" id="{6024E5AC-3688-475C-8BDD-5ECC42457A0D}"/>
              </a:ext>
            </a:extLst>
          </p:cNvPr>
          <p:cNvSpPr>
            <a:spLocks noGrp="1"/>
          </p:cNvSpPr>
          <p:nvPr>
            <p:ph type="body" sz="quarter" idx="24"/>
          </p:nvPr>
        </p:nvSpPr>
        <p:spPr>
          <a:xfrm>
            <a:off x="6165629" y="2003584"/>
            <a:ext cx="5036400" cy="3865371"/>
          </a:xfrm>
        </p:spPr>
        <p:txBody>
          <a:bodyPr/>
          <a:lstStyle/>
          <a:p>
            <a:pPr lvl="1" defTabSz="914377">
              <a:defRPr/>
            </a:pPr>
            <a:r>
              <a:rPr lang="en-US" b="1">
                <a:solidFill>
                  <a:schemeClr val="tx2"/>
                </a:solidFill>
              </a:rPr>
              <a:t>Sell side diligence adjustments cont.</a:t>
            </a:r>
          </a:p>
          <a:p>
            <a:pPr marL="228600" lvl="1" indent="-228600" defTabSz="914377">
              <a:buFont typeface="+mj-lt"/>
              <a:buAutoNum type="alphaUcPeriod" startAt="7"/>
              <a:defRPr/>
            </a:pPr>
            <a:r>
              <a:rPr lang="en-US" b="1"/>
              <a:t>Discontinued M&amp;A extraordinary legal fees: </a:t>
            </a:r>
            <a:r>
              <a:rPr lang="en-US"/>
              <a:t>In FY24, a potential M&amp;A process took place, although the transaction ultimately did not proceed. This adjustment removes legal fee accruals related to M&amp;A from working capital due to the non-recurring nature.</a:t>
            </a:r>
          </a:p>
          <a:p>
            <a:pPr marL="228600" lvl="1" indent="-228600" defTabSz="914377">
              <a:buFont typeface="+mj-lt"/>
              <a:buAutoNum type="alphaUcPeriod" startAt="7"/>
              <a:defRPr/>
            </a:pPr>
            <a:r>
              <a:rPr lang="en-US" b="1"/>
              <a:t>DISCO bonus: </a:t>
            </a:r>
            <a:r>
              <a:rPr lang="en-US"/>
              <a:t>Due to the acquisition of the CS DISCO contract, an employee earned a $0.7 million bonus as commission. This bonus was provided in Dec-23 and paid in Jan-24. As it is considered an extraordinary item, it has been excluded from the Group’s normalised working capital, although its impact is nil as of Dec-24.</a:t>
            </a:r>
          </a:p>
          <a:p>
            <a:pPr marL="228600" lvl="1" indent="-228600" defTabSz="914377">
              <a:buFont typeface="+mj-lt"/>
              <a:buAutoNum type="alphaUcPeriod" startAt="7"/>
              <a:defRPr/>
            </a:pPr>
            <a:r>
              <a:rPr lang="en-US" b="1"/>
              <a:t>Fastcase transaction balance: </a:t>
            </a:r>
            <a:r>
              <a:rPr lang="en-US"/>
              <a:t>In Mar-23, due to the acquisition of Fastcase, Vortex recorded extraordinary payables for bonuses, legal fees, etc. These payables were settled in Apr-23 and have been excluded from working capital as they are non-operational in nature.</a:t>
            </a:r>
          </a:p>
          <a:p>
            <a:pPr lvl="1" defTabSz="914377">
              <a:defRPr/>
            </a:pPr>
            <a:r>
              <a:rPr lang="en-US" b="1">
                <a:solidFill>
                  <a:schemeClr val="tx2"/>
                </a:solidFill>
              </a:rPr>
              <a:t>Sell side diligence normalizations</a:t>
            </a:r>
          </a:p>
          <a:p>
            <a:pPr marL="228600" lvl="1" indent="-228600" defTabSz="914377">
              <a:buFont typeface="+mj-lt"/>
              <a:buAutoNum type="alphaUcPeriod" startAt="10"/>
              <a:defRPr/>
            </a:pPr>
            <a:r>
              <a:rPr lang="en-US" b="1"/>
              <a:t>Audit provision: </a:t>
            </a:r>
            <a:r>
              <a:rPr lang="en-US"/>
              <a:t>Audit expenses are provided on a monthly basis and adjusted annually. According to Management, the audit fee per year amounted to €0.2 million per year. See QofE adj E.v. This adjustment reflects an adjusted audit provision.</a:t>
            </a:r>
          </a:p>
          <a:p>
            <a:pPr lvl="1" defTabSz="914377">
              <a:defRPr/>
            </a:pPr>
            <a:endParaRPr lang="en-US"/>
          </a:p>
        </p:txBody>
      </p:sp>
      <p:sp>
        <p:nvSpPr>
          <p:cNvPr id="92" name="Rectangle 91">
            <a:extLst>
              <a:ext uri="{FF2B5EF4-FFF2-40B4-BE49-F238E27FC236}">
                <a16:creationId xmlns:a16="http://schemas.microsoft.com/office/drawing/2014/main" id="{19A56965-3896-4C07-8D46-BEA612878999}"/>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3" name="Rectangle 92">
            <a:extLst>
              <a:ext uri="{FF2B5EF4-FFF2-40B4-BE49-F238E27FC236}">
                <a16:creationId xmlns:a16="http://schemas.microsoft.com/office/drawing/2014/main" id="{8557B302-D1C8-49FB-AB35-71FE1FBF43B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7" name="Rectangle 96">
            <a:extLst>
              <a:ext uri="{FF2B5EF4-FFF2-40B4-BE49-F238E27FC236}">
                <a16:creationId xmlns:a16="http://schemas.microsoft.com/office/drawing/2014/main" id="{5070EC35-3DCA-438A-94EE-EF89862E1E18}"/>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8" name="Rectangle 97">
            <a:extLst>
              <a:ext uri="{FF2B5EF4-FFF2-40B4-BE49-F238E27FC236}">
                <a16:creationId xmlns:a16="http://schemas.microsoft.com/office/drawing/2014/main" id="{B2452758-5690-4808-BB90-31D3E52F94F3}"/>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9" name="Rectangle 98">
            <a:extLst>
              <a:ext uri="{FF2B5EF4-FFF2-40B4-BE49-F238E27FC236}">
                <a16:creationId xmlns:a16="http://schemas.microsoft.com/office/drawing/2014/main" id="{29A51AA6-9EB8-4E68-974C-F99851C51F29}"/>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2" name="Text Placeholder 7">
            <a:extLst>
              <a:ext uri="{FF2B5EF4-FFF2-40B4-BE49-F238E27FC236}">
                <a16:creationId xmlns:a16="http://schemas.microsoft.com/office/drawing/2014/main" id="{66FBA14E-095E-59B3-9E18-9B42DC9A3B19}"/>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EE52680C-CB00-B5E0-94DA-2F70BE9989A7}"/>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37D62885-7267-EDE6-6742-AA0A263D2F48}"/>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0D340BF9-DF38-CFF5-41FF-8EBFE556115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6" name="Straight Arrow Connector 15">
            <a:extLst>
              <a:ext uri="{FF2B5EF4-FFF2-40B4-BE49-F238E27FC236}">
                <a16:creationId xmlns:a16="http://schemas.microsoft.com/office/drawing/2014/main" id="{338392EF-4029-4D01-53A7-FDD7D215A914}"/>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D0CA4BAA-8042-3E5E-5EA4-B91FF13FC555}"/>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9" name="Rectangle 8">
            <a:extLst>
              <a:ext uri="{FF2B5EF4-FFF2-40B4-BE49-F238E27FC236}">
                <a16:creationId xmlns:a16="http://schemas.microsoft.com/office/drawing/2014/main" id="{B4C24311-68DE-AC8F-9401-545872576BC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0" name="Rectangle 9">
            <a:extLst>
              <a:ext uri="{FF2B5EF4-FFF2-40B4-BE49-F238E27FC236}">
                <a16:creationId xmlns:a16="http://schemas.microsoft.com/office/drawing/2014/main" id="{808ED605-6CB2-A7A9-5141-99D4EFFFEA55}"/>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8" name="Rectangle 17">
            <a:extLst>
              <a:ext uri="{FF2B5EF4-FFF2-40B4-BE49-F238E27FC236}">
                <a16:creationId xmlns:a16="http://schemas.microsoft.com/office/drawing/2014/main" id="{75CF1E01-2D1A-A52A-344C-4B99E0255C3C}"/>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21" name="UpSlide SubSection Marker" hidden="1">
            <a:extLst>
              <a:ext uri="{FF2B5EF4-FFF2-40B4-BE49-F238E27FC236}">
                <a16:creationId xmlns:a16="http://schemas.microsoft.com/office/drawing/2014/main" id="{64C6078F-2534-8AED-56E5-0EAA986AACBC}"/>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Net working capital</a:t>
            </a:r>
          </a:p>
        </p:txBody>
      </p:sp>
      <p:sp>
        <p:nvSpPr>
          <p:cNvPr id="23" name="Text Placeholder 12">
            <a:extLst>
              <a:ext uri="{FF2B5EF4-FFF2-40B4-BE49-F238E27FC236}">
                <a16:creationId xmlns:a16="http://schemas.microsoft.com/office/drawing/2014/main" id="{848E1882-1799-A786-EC40-FB8DD558D172}"/>
              </a:ext>
            </a:extLst>
          </p:cNvPr>
          <p:cNvSpPr txBox="1">
            <a:spLocks/>
          </p:cNvSpPr>
          <p:nvPr/>
        </p:nvSpPr>
        <p:spPr>
          <a:xfrm>
            <a:off x="1003312" y="5868955"/>
            <a:ext cx="3765903"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Source: 	2.2.2.5_20250515 Project Vortex - Databook - Balance Sheet.xlsb; KPMG analysis</a:t>
            </a:r>
          </a:p>
        </p:txBody>
      </p:sp>
      <p:pic>
        <p:nvPicPr>
          <p:cNvPr id="13" name="Picture 12">
            <a:extLst>
              <a:ext uri="{FF2B5EF4-FFF2-40B4-BE49-F238E27FC236}">
                <a16:creationId xmlns:a16="http://schemas.microsoft.com/office/drawing/2014/main" id="{434ACBB9-30D7-0831-880B-D055C7DCE617}"/>
              </a:ext>
            </a:extLst>
          </p:cNvPr>
          <p:cNvPicPr>
            <a:picLocks noChangeAspect="1"/>
          </p:cNvPicPr>
          <p:nvPr>
            <p:custDataLst>
              <p:tags r:id="rId4"/>
            </p:custDataLst>
          </p:nvPr>
        </p:nvPicPr>
        <p:blipFill>
          <a:blip r:embed="rId9"/>
          <a:stretch>
            <a:fillRect/>
          </a:stretch>
        </p:blipFill>
        <p:spPr>
          <a:xfrm>
            <a:off x="1020449" y="1764948"/>
            <a:ext cx="4707253" cy="3772153"/>
          </a:xfrm>
          <a:prstGeom prst="rect">
            <a:avLst/>
          </a:prstGeom>
        </p:spPr>
      </p:pic>
      <p:grpSp>
        <p:nvGrpSpPr>
          <p:cNvPr id="129" name="Group 128">
            <a:extLst>
              <a:ext uri="{FF2B5EF4-FFF2-40B4-BE49-F238E27FC236}">
                <a16:creationId xmlns:a16="http://schemas.microsoft.com/office/drawing/2014/main" id="{CE65BD84-B31F-4942-E487-D3BE47255EC7}"/>
              </a:ext>
            </a:extLst>
          </p:cNvPr>
          <p:cNvGrpSpPr/>
          <p:nvPr>
            <p:custDataLst>
              <p:tags r:id="rId5"/>
            </p:custDataLst>
          </p:nvPr>
        </p:nvGrpSpPr>
        <p:grpSpPr>
          <a:xfrm>
            <a:off x="995364" y="153170"/>
            <a:ext cx="7407882" cy="195814"/>
            <a:chOff x="995364" y="153170"/>
            <a:chExt cx="7407882" cy="195814"/>
          </a:xfrm>
        </p:grpSpPr>
        <p:sp>
          <p:nvSpPr>
            <p:cNvPr id="130"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131"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132"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325196"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133" name="Current Section4">
              <a:hlinkClick r:id="rId13" action="ppaction://hlinksldjump"/>
              <a:extLst>
                <a:ext uri="{FF2B5EF4-FFF2-40B4-BE49-F238E27FC236}">
                  <a16:creationId xmlns:a16="http://schemas.microsoft.com/office/drawing/2014/main" id="{89A61135-1F00-E77F-7C78-5FBA241A5742}"/>
                </a:ext>
              </a:extLst>
            </p:cNvPr>
            <p:cNvSpPr>
              <a:spLocks/>
            </p:cNvSpPr>
            <p:nvPr/>
          </p:nvSpPr>
          <p:spPr>
            <a:xfrm>
              <a:off x="477384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134"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613351"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135"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771442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
        <p:nvSpPr>
          <p:cNvPr id="7" name="Rectangle: Rounded Corners 6">
            <a:extLst>
              <a:ext uri="{FF2B5EF4-FFF2-40B4-BE49-F238E27FC236}">
                <a16:creationId xmlns:a16="http://schemas.microsoft.com/office/drawing/2014/main" id="{D8D065BF-CEAF-4462-E671-4AADACB81E9B}"/>
              </a:ext>
            </a:extLst>
          </p:cNvPr>
          <p:cNvSpPr/>
          <p:nvPr/>
        </p:nvSpPr>
        <p:spPr>
          <a:xfrm>
            <a:off x="4137064" y="2071173"/>
            <a:ext cx="390332" cy="3465928"/>
          </a:xfrm>
          <a:prstGeom prst="roundRect">
            <a:avLst/>
          </a:prstGeom>
          <a:noFill/>
          <a:ln>
            <a:solidFill>
              <a:srgbClr val="FD349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900">
              <a:solidFill>
                <a:schemeClr val="bg1"/>
              </a:solidFill>
            </a:endParaRPr>
          </a:p>
        </p:txBody>
      </p:sp>
    </p:spTree>
    <p:extLst>
      <p:ext uri="{BB962C8B-B14F-4D97-AF65-F5344CB8AC3E}">
        <p14:creationId xmlns:p14="http://schemas.microsoft.com/office/powerpoint/2010/main" val="31041800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58260B24-EB1E-499D-A18C-A790E32EB7F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4" name="Object 13" hidden="1">
                        <a:extLst>
                          <a:ext uri="{FF2B5EF4-FFF2-40B4-BE49-F238E27FC236}">
                            <a16:creationId xmlns:a16="http://schemas.microsoft.com/office/drawing/2014/main" id="{58260B24-EB1E-499D-A18C-A790E32EB7F8}"/>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2F3D37F5-54B0-4783-BE57-7263B11FF044}"/>
              </a:ext>
            </a:extLst>
          </p:cNvPr>
          <p:cNvSpPr>
            <a:spLocks noGrp="1"/>
          </p:cNvSpPr>
          <p:nvPr>
            <p:ph type="title"/>
          </p:nvPr>
        </p:nvSpPr>
        <p:spPr/>
        <p:txBody>
          <a:bodyPr vert="horz"/>
          <a:lstStyle/>
          <a:p>
            <a:r>
              <a:rPr lang="en-US"/>
              <a:t>Net working capital (3/4)</a:t>
            </a:r>
          </a:p>
        </p:txBody>
      </p:sp>
      <p:sp>
        <p:nvSpPr>
          <p:cNvPr id="12" name="Text Placeholder 11">
            <a:extLst>
              <a:ext uri="{FF2B5EF4-FFF2-40B4-BE49-F238E27FC236}">
                <a16:creationId xmlns:a16="http://schemas.microsoft.com/office/drawing/2014/main" id="{257CF790-78EB-8B6B-C0D1-EB7C268281C3}"/>
              </a:ext>
            </a:extLst>
          </p:cNvPr>
          <p:cNvSpPr>
            <a:spLocks noGrp="1"/>
          </p:cNvSpPr>
          <p:nvPr>
            <p:ph type="body" sz="quarter" idx="11"/>
          </p:nvPr>
        </p:nvSpPr>
        <p:spPr/>
        <p:txBody>
          <a:bodyPr/>
          <a:lstStyle/>
          <a:p>
            <a:r>
              <a:rPr lang="fi-FI"/>
              <a:t>Commentary</a:t>
            </a:r>
          </a:p>
        </p:txBody>
      </p:sp>
      <p:sp>
        <p:nvSpPr>
          <p:cNvPr id="11" name="Text Placeholder 10">
            <a:extLst>
              <a:ext uri="{FF2B5EF4-FFF2-40B4-BE49-F238E27FC236}">
                <a16:creationId xmlns:a16="http://schemas.microsoft.com/office/drawing/2014/main" id="{0C7B2154-7CA3-96CF-6AD2-BB45D064C649}"/>
              </a:ext>
            </a:extLst>
          </p:cNvPr>
          <p:cNvSpPr>
            <a:spLocks noGrp="1"/>
          </p:cNvSpPr>
          <p:nvPr>
            <p:ph type="body" sz="quarter" idx="10"/>
          </p:nvPr>
        </p:nvSpPr>
        <p:spPr>
          <a:xfrm>
            <a:off x="995361" y="1179513"/>
            <a:ext cx="10206668" cy="460800"/>
          </a:xfrm>
        </p:spPr>
        <p:txBody>
          <a:bodyPr/>
          <a:lstStyle/>
          <a:p>
            <a:r>
              <a:rPr lang="en-US"/>
              <a:t>We have normalised deferred revenue related to seven atypical long term contracts that were billed upfront. Normalised deferred revenue related to these contracts includes 17.5 months of deferred revenue (an average liability over a three year term) in this analysis – but we note that other approaches are possible depending on the expected mix of long term contracts in the future. We present various alternate methodologies to normalise these contracts in Appendix 2. </a:t>
            </a:r>
          </a:p>
        </p:txBody>
      </p:sp>
      <p:sp>
        <p:nvSpPr>
          <p:cNvPr id="6" name="Text Placeholder 5">
            <a:extLst>
              <a:ext uri="{FF2B5EF4-FFF2-40B4-BE49-F238E27FC236}">
                <a16:creationId xmlns:a16="http://schemas.microsoft.com/office/drawing/2014/main" id="{6024E5AC-3688-475C-8BDD-5ECC42457A0D}"/>
              </a:ext>
            </a:extLst>
          </p:cNvPr>
          <p:cNvSpPr>
            <a:spLocks noGrp="1"/>
          </p:cNvSpPr>
          <p:nvPr>
            <p:ph type="body" sz="quarter" idx="24"/>
          </p:nvPr>
        </p:nvSpPr>
        <p:spPr/>
        <p:txBody>
          <a:bodyPr/>
          <a:lstStyle/>
          <a:p>
            <a:pPr lvl="1" defTabSz="914377">
              <a:spcAft>
                <a:spcPts val="200"/>
              </a:spcAft>
              <a:defRPr/>
            </a:pPr>
            <a:r>
              <a:rPr lang="en-US" b="1">
                <a:solidFill>
                  <a:schemeClr val="tx2"/>
                </a:solidFill>
              </a:rPr>
              <a:t>Sell side diligence normalizations</a:t>
            </a:r>
          </a:p>
          <a:p>
            <a:pPr marL="228600" lvl="1" indent="-228600" defTabSz="914377">
              <a:spcAft>
                <a:spcPts val="200"/>
              </a:spcAft>
              <a:buFont typeface="+mj-lt"/>
              <a:buAutoNum type="alphaUcPeriod" startAt="11"/>
              <a:defRPr/>
            </a:pPr>
            <a:r>
              <a:rPr lang="en-US" b="1"/>
              <a:t>Deferred expense normalization: </a:t>
            </a:r>
            <a:r>
              <a:rPr lang="en-US"/>
              <a:t>Deferred commissions refer to payments made to sales representatives for sales or renewals. This adjustment is intended to normalise deferred commissions, as they represent a non-cash component of working capital, arising solely from accounting treatment.</a:t>
            </a:r>
          </a:p>
          <a:p>
            <a:pPr marL="228600" lvl="1" indent="-228600" defTabSz="914377">
              <a:spcAft>
                <a:spcPts val="200"/>
              </a:spcAft>
              <a:buFont typeface="+mj-lt"/>
              <a:buAutoNum type="alphaUcPeriod" startAt="11"/>
              <a:defRPr/>
            </a:pPr>
            <a:r>
              <a:rPr lang="en-US" b="1"/>
              <a:t>Former years true up: </a:t>
            </a:r>
            <a:r>
              <a:rPr lang="en-US"/>
              <a:t>This amount relates to the release of provisions (as of Dec-24) for certain invoices that were recorded in previous years. The main expense involved an invoice from BCG, which had been recorded twice in FY22, totaling €0.3 million. Refer to QofE adj C As a result, this adjustments removes the double-counted payable from working capital.</a:t>
            </a:r>
          </a:p>
          <a:p>
            <a:pPr lvl="1" defTabSz="914377">
              <a:spcAft>
                <a:spcPts val="200"/>
              </a:spcAft>
              <a:defRPr/>
            </a:pPr>
            <a:r>
              <a:rPr lang="en-US" b="1">
                <a:solidFill>
                  <a:schemeClr val="tx2"/>
                </a:solidFill>
              </a:rPr>
              <a:t>Buy side diligence adjustments</a:t>
            </a:r>
          </a:p>
          <a:p>
            <a:pPr marL="228600" lvl="1" indent="-228600" defTabSz="914377">
              <a:spcAft>
                <a:spcPts val="200"/>
              </a:spcAft>
              <a:buFont typeface="+mj-lt"/>
              <a:buAutoNum type="arabicPeriod"/>
              <a:defRPr/>
            </a:pPr>
            <a:r>
              <a:rPr lang="en-US" b="1"/>
              <a:t>Bad debt provision: </a:t>
            </a:r>
            <a:r>
              <a:rPr lang="en-US"/>
              <a:t>We normalize bad debt throughout the Historical Period in QofE adj #1. This adjustment updates the bad debt provision to reflect bad debt expense included in the adjusted P&amp;L. </a:t>
            </a:r>
          </a:p>
          <a:p>
            <a:pPr marL="228600" lvl="1" indent="-228600" defTabSz="914377">
              <a:spcAft>
                <a:spcPts val="200"/>
              </a:spcAft>
              <a:buFont typeface="+mj-lt"/>
              <a:buAutoNum type="arabicPeriod"/>
              <a:defRPr/>
            </a:pPr>
            <a:r>
              <a:rPr lang="en-US" b="1"/>
              <a:t>Deferred revenue for long term contracts: </a:t>
            </a:r>
            <a:r>
              <a:rPr lang="en-US"/>
              <a:t>The majority of Vortex’s contracts are paid between monthly and 2 years up front. At Dec-24, deferred revenue included seven contracts billed in advance over three years in length, most notably CS DISCO ($2.8 million of ARR) which was prepaid for a period of 5 years. There are various approaches at normalising the long term deferred revenue related to these long term contracts. It is likely that the business will generate some level of long term prepaid contracts in the future. The CS DISCO contract may not be renewed when it expires in Aug-28 – so the ‘normal’ level of working capital will depend on the prepayment terms agreed with future customers. We present various scenarios to normalize the long term deferred revenue in Appendix 2. For the purpose of calculating our adjusted working capital, we normalise the deferred revenue for each of the seven contracts to include an average deferred revenue of 17.5 months to reflect the average deferred revenue on a three year contract. </a:t>
            </a:r>
            <a:endParaRPr lang="en-US" b="1">
              <a:solidFill>
                <a:schemeClr val="tx2"/>
              </a:solidFill>
            </a:endParaRPr>
          </a:p>
        </p:txBody>
      </p:sp>
      <p:sp>
        <p:nvSpPr>
          <p:cNvPr id="92" name="Rectangle 91">
            <a:extLst>
              <a:ext uri="{FF2B5EF4-FFF2-40B4-BE49-F238E27FC236}">
                <a16:creationId xmlns:a16="http://schemas.microsoft.com/office/drawing/2014/main" id="{19A56965-3896-4C07-8D46-BEA612878999}"/>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3" name="Rectangle 92">
            <a:extLst>
              <a:ext uri="{FF2B5EF4-FFF2-40B4-BE49-F238E27FC236}">
                <a16:creationId xmlns:a16="http://schemas.microsoft.com/office/drawing/2014/main" id="{8557B302-D1C8-49FB-AB35-71FE1FBF43B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7" name="Rectangle 96">
            <a:extLst>
              <a:ext uri="{FF2B5EF4-FFF2-40B4-BE49-F238E27FC236}">
                <a16:creationId xmlns:a16="http://schemas.microsoft.com/office/drawing/2014/main" id="{5070EC35-3DCA-438A-94EE-EF89862E1E18}"/>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8" name="Rectangle 97">
            <a:extLst>
              <a:ext uri="{FF2B5EF4-FFF2-40B4-BE49-F238E27FC236}">
                <a16:creationId xmlns:a16="http://schemas.microsoft.com/office/drawing/2014/main" id="{B2452758-5690-4808-BB90-31D3E52F94F3}"/>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9" name="Rectangle 98">
            <a:extLst>
              <a:ext uri="{FF2B5EF4-FFF2-40B4-BE49-F238E27FC236}">
                <a16:creationId xmlns:a16="http://schemas.microsoft.com/office/drawing/2014/main" id="{29A51AA6-9EB8-4E68-974C-F99851C51F29}"/>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2" name="Text Placeholder 7">
            <a:extLst>
              <a:ext uri="{FF2B5EF4-FFF2-40B4-BE49-F238E27FC236}">
                <a16:creationId xmlns:a16="http://schemas.microsoft.com/office/drawing/2014/main" id="{66FBA14E-095E-59B3-9E18-9B42DC9A3B19}"/>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EE52680C-CB00-B5E0-94DA-2F70BE9989A7}"/>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37D62885-7267-EDE6-6742-AA0A263D2F48}"/>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0D340BF9-DF38-CFF5-41FF-8EBFE556115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6" name="Straight Arrow Connector 15">
            <a:extLst>
              <a:ext uri="{FF2B5EF4-FFF2-40B4-BE49-F238E27FC236}">
                <a16:creationId xmlns:a16="http://schemas.microsoft.com/office/drawing/2014/main" id="{338392EF-4029-4D01-53A7-FDD7D215A914}"/>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D0CA4BAA-8042-3E5E-5EA4-B91FF13FC555}"/>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9" name="Rectangle 8">
            <a:extLst>
              <a:ext uri="{FF2B5EF4-FFF2-40B4-BE49-F238E27FC236}">
                <a16:creationId xmlns:a16="http://schemas.microsoft.com/office/drawing/2014/main" id="{B4C24311-68DE-AC8F-9401-545872576BC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0" name="Rectangle 9">
            <a:extLst>
              <a:ext uri="{FF2B5EF4-FFF2-40B4-BE49-F238E27FC236}">
                <a16:creationId xmlns:a16="http://schemas.microsoft.com/office/drawing/2014/main" id="{808ED605-6CB2-A7A9-5141-99D4EFFFEA55}"/>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8" name="Rectangle 17">
            <a:extLst>
              <a:ext uri="{FF2B5EF4-FFF2-40B4-BE49-F238E27FC236}">
                <a16:creationId xmlns:a16="http://schemas.microsoft.com/office/drawing/2014/main" id="{75CF1E01-2D1A-A52A-344C-4B99E0255C3C}"/>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21" name="UpSlide SubSection Marker" hidden="1">
            <a:extLst>
              <a:ext uri="{FF2B5EF4-FFF2-40B4-BE49-F238E27FC236}">
                <a16:creationId xmlns:a16="http://schemas.microsoft.com/office/drawing/2014/main" id="{64C6078F-2534-8AED-56E5-0EAA986AACBC}"/>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Net working capital</a:t>
            </a:r>
          </a:p>
        </p:txBody>
      </p:sp>
      <p:sp>
        <p:nvSpPr>
          <p:cNvPr id="20" name="Text Placeholder 12">
            <a:extLst>
              <a:ext uri="{FF2B5EF4-FFF2-40B4-BE49-F238E27FC236}">
                <a16:creationId xmlns:a16="http://schemas.microsoft.com/office/drawing/2014/main" id="{6E092A3D-3BCD-7904-3439-9FB77E95E269}"/>
              </a:ext>
            </a:extLst>
          </p:cNvPr>
          <p:cNvSpPr txBox="1">
            <a:spLocks/>
          </p:cNvSpPr>
          <p:nvPr/>
        </p:nvSpPr>
        <p:spPr>
          <a:xfrm>
            <a:off x="1003312" y="5868955"/>
            <a:ext cx="3765903"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Source: 	2.2.2.5_20250515 Project Vortex - Databook - Balance Sheet.xlsb; KPMG analysis</a:t>
            </a:r>
          </a:p>
        </p:txBody>
      </p:sp>
      <p:pic>
        <p:nvPicPr>
          <p:cNvPr id="13" name="Picture 12">
            <a:extLst>
              <a:ext uri="{FF2B5EF4-FFF2-40B4-BE49-F238E27FC236}">
                <a16:creationId xmlns:a16="http://schemas.microsoft.com/office/drawing/2014/main" id="{26ABEBC4-9D4E-96F5-B6E1-F2A31333CDD9}"/>
              </a:ext>
            </a:extLst>
          </p:cNvPr>
          <p:cNvPicPr>
            <a:picLocks noChangeAspect="1"/>
          </p:cNvPicPr>
          <p:nvPr>
            <p:custDataLst>
              <p:tags r:id="rId4"/>
            </p:custDataLst>
          </p:nvPr>
        </p:nvPicPr>
        <p:blipFill>
          <a:blip r:embed="rId10"/>
          <a:stretch>
            <a:fillRect/>
          </a:stretch>
        </p:blipFill>
        <p:spPr>
          <a:xfrm>
            <a:off x="989971" y="1739607"/>
            <a:ext cx="4974894" cy="3491336"/>
          </a:xfrm>
          <a:prstGeom prst="rect">
            <a:avLst/>
          </a:prstGeom>
        </p:spPr>
      </p:pic>
      <p:grpSp>
        <p:nvGrpSpPr>
          <p:cNvPr id="127" name="Group 126">
            <a:extLst>
              <a:ext uri="{FF2B5EF4-FFF2-40B4-BE49-F238E27FC236}">
                <a16:creationId xmlns:a16="http://schemas.microsoft.com/office/drawing/2014/main" id="{CE65BD84-B31F-4942-E487-D3BE47255EC7}"/>
              </a:ext>
            </a:extLst>
          </p:cNvPr>
          <p:cNvGrpSpPr/>
          <p:nvPr>
            <p:custDataLst>
              <p:tags r:id="rId5"/>
            </p:custDataLst>
          </p:nvPr>
        </p:nvGrpSpPr>
        <p:grpSpPr>
          <a:xfrm>
            <a:off x="995364" y="153170"/>
            <a:ext cx="7407882" cy="195814"/>
            <a:chOff x="995364" y="153170"/>
            <a:chExt cx="7407882" cy="195814"/>
          </a:xfrm>
        </p:grpSpPr>
        <p:sp>
          <p:nvSpPr>
            <p:cNvPr id="128"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129"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130"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325196"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131" name="Current Section4">
              <a:hlinkClick r:id="rId14" action="ppaction://hlinksldjump"/>
              <a:extLst>
                <a:ext uri="{FF2B5EF4-FFF2-40B4-BE49-F238E27FC236}">
                  <a16:creationId xmlns:a16="http://schemas.microsoft.com/office/drawing/2014/main" id="{89A61135-1F00-E77F-7C78-5FBA241A5742}"/>
                </a:ext>
              </a:extLst>
            </p:cNvPr>
            <p:cNvSpPr>
              <a:spLocks/>
            </p:cNvSpPr>
            <p:nvPr/>
          </p:nvSpPr>
          <p:spPr>
            <a:xfrm>
              <a:off x="477384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132"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613351"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133"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771442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
        <p:nvSpPr>
          <p:cNvPr id="7" name="Rectangle: Rounded Corners 6">
            <a:extLst>
              <a:ext uri="{FF2B5EF4-FFF2-40B4-BE49-F238E27FC236}">
                <a16:creationId xmlns:a16="http://schemas.microsoft.com/office/drawing/2014/main" id="{C9AA08E5-DCAE-BAFA-3ED8-04EDFEDF832A}"/>
              </a:ext>
            </a:extLst>
          </p:cNvPr>
          <p:cNvSpPr/>
          <p:nvPr/>
        </p:nvSpPr>
        <p:spPr>
          <a:xfrm>
            <a:off x="4280865" y="2059867"/>
            <a:ext cx="408223" cy="3171076"/>
          </a:xfrm>
          <a:prstGeom prst="roundRect">
            <a:avLst/>
          </a:prstGeom>
          <a:noFill/>
          <a:ln>
            <a:solidFill>
              <a:srgbClr val="FD349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900">
              <a:solidFill>
                <a:schemeClr val="bg1"/>
              </a:solidFill>
            </a:endParaRPr>
          </a:p>
        </p:txBody>
      </p:sp>
    </p:spTree>
    <p:extLst>
      <p:ext uri="{BB962C8B-B14F-4D97-AF65-F5344CB8AC3E}">
        <p14:creationId xmlns:p14="http://schemas.microsoft.com/office/powerpoint/2010/main" val="3514730057"/>
      </p:ext>
    </p:extLst>
  </p:cSld>
  <p:clrMapOvr>
    <a:masterClrMapping/>
  </p:clrMapOvr>
  <p:extLst>
    <p:ext uri="{6950BFC3-D8DA-4A85-94F7-54DA5524770B}">
      <p188:commentRel xmlns:p188="http://schemas.microsoft.com/office/powerpoint/2018/8/main" r:id="rId7"/>
    </p:ext>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58260B24-EB1E-499D-A18C-A790E32EB7F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4" name="Object 13" hidden="1">
                        <a:extLst>
                          <a:ext uri="{FF2B5EF4-FFF2-40B4-BE49-F238E27FC236}">
                            <a16:creationId xmlns:a16="http://schemas.microsoft.com/office/drawing/2014/main" id="{58260B24-EB1E-499D-A18C-A790E32EB7F8}"/>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2F3D37F5-54B0-4783-BE57-7263B11FF044}"/>
              </a:ext>
            </a:extLst>
          </p:cNvPr>
          <p:cNvSpPr>
            <a:spLocks noGrp="1"/>
          </p:cNvSpPr>
          <p:nvPr>
            <p:ph type="title"/>
          </p:nvPr>
        </p:nvSpPr>
        <p:spPr/>
        <p:txBody>
          <a:bodyPr vert="horz"/>
          <a:lstStyle/>
          <a:p>
            <a:r>
              <a:rPr lang="en-US"/>
              <a:t>Net working capital (4/4)</a:t>
            </a:r>
          </a:p>
        </p:txBody>
      </p:sp>
      <p:sp>
        <p:nvSpPr>
          <p:cNvPr id="15" name="Table Placeholder 14">
            <a:extLst>
              <a:ext uri="{FF2B5EF4-FFF2-40B4-BE49-F238E27FC236}">
                <a16:creationId xmlns:a16="http://schemas.microsoft.com/office/drawing/2014/main" id="{68158A40-0BAD-B142-C1B9-448191965CD0}"/>
              </a:ext>
            </a:extLst>
          </p:cNvPr>
          <p:cNvSpPr>
            <a:spLocks noGrp="1"/>
          </p:cNvSpPr>
          <p:nvPr>
            <p:ph type="tbl" sz="quarter" idx="13"/>
          </p:nvPr>
        </p:nvSpPr>
        <p:spPr/>
        <p:txBody>
          <a:bodyPr/>
          <a:lstStyle/>
          <a:p>
            <a:endParaRPr lang="fi-FI"/>
          </a:p>
        </p:txBody>
      </p:sp>
      <p:sp>
        <p:nvSpPr>
          <p:cNvPr id="12" name="Text Placeholder 11">
            <a:extLst>
              <a:ext uri="{FF2B5EF4-FFF2-40B4-BE49-F238E27FC236}">
                <a16:creationId xmlns:a16="http://schemas.microsoft.com/office/drawing/2014/main" id="{257CF790-78EB-8B6B-C0D1-EB7C268281C3}"/>
              </a:ext>
            </a:extLst>
          </p:cNvPr>
          <p:cNvSpPr>
            <a:spLocks noGrp="1"/>
          </p:cNvSpPr>
          <p:nvPr>
            <p:ph type="body" sz="quarter" idx="11"/>
          </p:nvPr>
        </p:nvSpPr>
        <p:spPr/>
        <p:txBody>
          <a:bodyPr/>
          <a:lstStyle/>
          <a:p>
            <a:r>
              <a:rPr lang="fi-FI"/>
              <a:t>Commentary</a:t>
            </a:r>
          </a:p>
        </p:txBody>
      </p:sp>
      <p:sp>
        <p:nvSpPr>
          <p:cNvPr id="11" name="Text Placeholder 10">
            <a:extLst>
              <a:ext uri="{FF2B5EF4-FFF2-40B4-BE49-F238E27FC236}">
                <a16:creationId xmlns:a16="http://schemas.microsoft.com/office/drawing/2014/main" id="{0C7B2154-7CA3-96CF-6AD2-BB45D064C649}"/>
              </a:ext>
            </a:extLst>
          </p:cNvPr>
          <p:cNvSpPr>
            <a:spLocks noGrp="1"/>
          </p:cNvSpPr>
          <p:nvPr>
            <p:ph type="body" sz="quarter" idx="10"/>
          </p:nvPr>
        </p:nvSpPr>
        <p:spPr>
          <a:xfrm>
            <a:off x="995361" y="1179513"/>
            <a:ext cx="10198239" cy="460800"/>
          </a:xfrm>
        </p:spPr>
        <p:txBody>
          <a:bodyPr/>
          <a:lstStyle/>
          <a:p>
            <a:r>
              <a:rPr lang="fi-FI"/>
              <a:t>Buy side net working capital adjustments also reflect the balance sheet impact of quality of earnings adjustments related to year end adjustments and Hein license true ups. Additionally, Management indicated there is some limited capex included in AP – however, we have not quantified this amount as Management noted it is not material.</a:t>
            </a:r>
          </a:p>
        </p:txBody>
      </p:sp>
      <p:sp>
        <p:nvSpPr>
          <p:cNvPr id="6" name="Text Placeholder 5">
            <a:extLst>
              <a:ext uri="{FF2B5EF4-FFF2-40B4-BE49-F238E27FC236}">
                <a16:creationId xmlns:a16="http://schemas.microsoft.com/office/drawing/2014/main" id="{6024E5AC-3688-475C-8BDD-5ECC42457A0D}"/>
              </a:ext>
            </a:extLst>
          </p:cNvPr>
          <p:cNvSpPr>
            <a:spLocks noGrp="1"/>
          </p:cNvSpPr>
          <p:nvPr>
            <p:ph type="body" sz="quarter" idx="24"/>
          </p:nvPr>
        </p:nvSpPr>
        <p:spPr/>
        <p:txBody>
          <a:bodyPr/>
          <a:lstStyle/>
          <a:p>
            <a:pPr lvl="1" defTabSz="914377">
              <a:defRPr/>
            </a:pPr>
            <a:r>
              <a:rPr lang="en-US" b="1">
                <a:solidFill>
                  <a:schemeClr val="tx2"/>
                </a:solidFill>
              </a:rPr>
              <a:t>Buy side diligence adjustments cont.</a:t>
            </a:r>
          </a:p>
          <a:p>
            <a:pPr marL="228600" lvl="1" indent="-228600" defTabSz="914377">
              <a:buFont typeface="+mj-lt"/>
              <a:buAutoNum type="arabicPeriod" startAt="3"/>
              <a:defRPr/>
            </a:pPr>
            <a:r>
              <a:rPr lang="en-US" b="1"/>
              <a:t>Year end adjustment: </a:t>
            </a:r>
            <a:r>
              <a:rPr lang="en-US"/>
              <a:t>Year end adjustments were included at Dec-24 for royalties and bonuses, see QofE adj #4. This adjustment reflects a monthly royalty and bonus accrual accounting for the year end adjustment allocation included in the adjusted P&amp;L.</a:t>
            </a:r>
          </a:p>
          <a:p>
            <a:pPr marL="228600" lvl="1" indent="-228600" defTabSz="914377">
              <a:buFont typeface="+mj-lt"/>
              <a:buAutoNum type="arabicPeriod" startAt="3"/>
              <a:defRPr/>
            </a:pPr>
            <a:r>
              <a:rPr lang="en-US" b="1"/>
              <a:t>Hein licenses: </a:t>
            </a:r>
            <a:r>
              <a:rPr lang="en-US"/>
              <a:t>Similarly, Hein license true ups were included in Dec-24 and Mar-25 see QofE adj #5. This adjustment updates the Hein license accrual in the Historical Period to reflect the impact of the true ups.</a:t>
            </a:r>
          </a:p>
          <a:p>
            <a:pPr marL="228600" lvl="1" indent="-228600" defTabSz="914377">
              <a:buFont typeface="+mj-lt"/>
              <a:buAutoNum type="arabicPeriod" startAt="3"/>
              <a:defRPr/>
            </a:pPr>
            <a:r>
              <a:rPr lang="en-US" b="1"/>
              <a:t>Capex included in AP: </a:t>
            </a:r>
            <a:r>
              <a:rPr lang="en-US"/>
              <a:t>Management indicated there are capex payments included in accounts payable. However, the amount is immaterial and we have not quantified on a monthly basis.</a:t>
            </a:r>
          </a:p>
          <a:p>
            <a:pPr lvl="1" defTabSz="914377">
              <a:defRPr/>
            </a:pPr>
            <a:endParaRPr lang="en-US" b="1">
              <a:solidFill>
                <a:schemeClr val="tx2"/>
              </a:solidFill>
            </a:endParaRPr>
          </a:p>
        </p:txBody>
      </p:sp>
      <p:sp>
        <p:nvSpPr>
          <p:cNvPr id="92" name="Rectangle 91">
            <a:extLst>
              <a:ext uri="{FF2B5EF4-FFF2-40B4-BE49-F238E27FC236}">
                <a16:creationId xmlns:a16="http://schemas.microsoft.com/office/drawing/2014/main" id="{19A56965-3896-4C07-8D46-BEA612878999}"/>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3" name="Rectangle 92">
            <a:extLst>
              <a:ext uri="{FF2B5EF4-FFF2-40B4-BE49-F238E27FC236}">
                <a16:creationId xmlns:a16="http://schemas.microsoft.com/office/drawing/2014/main" id="{8557B302-D1C8-49FB-AB35-71FE1FBF43B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7" name="Rectangle 96">
            <a:extLst>
              <a:ext uri="{FF2B5EF4-FFF2-40B4-BE49-F238E27FC236}">
                <a16:creationId xmlns:a16="http://schemas.microsoft.com/office/drawing/2014/main" id="{5070EC35-3DCA-438A-94EE-EF89862E1E18}"/>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8" name="Rectangle 97">
            <a:extLst>
              <a:ext uri="{FF2B5EF4-FFF2-40B4-BE49-F238E27FC236}">
                <a16:creationId xmlns:a16="http://schemas.microsoft.com/office/drawing/2014/main" id="{B2452758-5690-4808-BB90-31D3E52F94F3}"/>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9" name="Rectangle 98">
            <a:extLst>
              <a:ext uri="{FF2B5EF4-FFF2-40B4-BE49-F238E27FC236}">
                <a16:creationId xmlns:a16="http://schemas.microsoft.com/office/drawing/2014/main" id="{29A51AA6-9EB8-4E68-974C-F99851C51F29}"/>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2" name="Text Placeholder 7">
            <a:extLst>
              <a:ext uri="{FF2B5EF4-FFF2-40B4-BE49-F238E27FC236}">
                <a16:creationId xmlns:a16="http://schemas.microsoft.com/office/drawing/2014/main" id="{66FBA14E-095E-59B3-9E18-9B42DC9A3B19}"/>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EE52680C-CB00-B5E0-94DA-2F70BE9989A7}"/>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37D62885-7267-EDE6-6742-AA0A263D2F48}"/>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0D340BF9-DF38-CFF5-41FF-8EBFE556115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6" name="Straight Arrow Connector 15">
            <a:extLst>
              <a:ext uri="{FF2B5EF4-FFF2-40B4-BE49-F238E27FC236}">
                <a16:creationId xmlns:a16="http://schemas.microsoft.com/office/drawing/2014/main" id="{338392EF-4029-4D01-53A7-FDD7D215A914}"/>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D0CA4BAA-8042-3E5E-5EA4-B91FF13FC555}"/>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9" name="Rectangle 8">
            <a:extLst>
              <a:ext uri="{FF2B5EF4-FFF2-40B4-BE49-F238E27FC236}">
                <a16:creationId xmlns:a16="http://schemas.microsoft.com/office/drawing/2014/main" id="{B4C24311-68DE-AC8F-9401-545872576BC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0" name="Rectangle 9">
            <a:extLst>
              <a:ext uri="{FF2B5EF4-FFF2-40B4-BE49-F238E27FC236}">
                <a16:creationId xmlns:a16="http://schemas.microsoft.com/office/drawing/2014/main" id="{808ED605-6CB2-A7A9-5141-99D4EFFFEA55}"/>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8" name="Rectangle 17">
            <a:extLst>
              <a:ext uri="{FF2B5EF4-FFF2-40B4-BE49-F238E27FC236}">
                <a16:creationId xmlns:a16="http://schemas.microsoft.com/office/drawing/2014/main" id="{75CF1E01-2D1A-A52A-344C-4B99E0255C3C}"/>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21" name="UpSlide SubSection Marker" hidden="1">
            <a:extLst>
              <a:ext uri="{FF2B5EF4-FFF2-40B4-BE49-F238E27FC236}">
                <a16:creationId xmlns:a16="http://schemas.microsoft.com/office/drawing/2014/main" id="{64C6078F-2534-8AED-56E5-0EAA986AACBC}"/>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Net working capital</a:t>
            </a:r>
          </a:p>
        </p:txBody>
      </p:sp>
      <p:sp>
        <p:nvSpPr>
          <p:cNvPr id="19" name="Text Placeholder 12">
            <a:extLst>
              <a:ext uri="{FF2B5EF4-FFF2-40B4-BE49-F238E27FC236}">
                <a16:creationId xmlns:a16="http://schemas.microsoft.com/office/drawing/2014/main" id="{2829719D-6C40-4382-B3FF-512B5D9EA370}"/>
              </a:ext>
            </a:extLst>
          </p:cNvPr>
          <p:cNvSpPr txBox="1">
            <a:spLocks/>
          </p:cNvSpPr>
          <p:nvPr/>
        </p:nvSpPr>
        <p:spPr>
          <a:xfrm>
            <a:off x="1003312" y="5868955"/>
            <a:ext cx="3765903"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Source: 	2.2.2.5_20250515 Project Vortex - Databook - Balance Sheet.xlsb; KPMG analysis</a:t>
            </a:r>
          </a:p>
        </p:txBody>
      </p:sp>
      <p:pic>
        <p:nvPicPr>
          <p:cNvPr id="13" name="Picture 12">
            <a:extLst>
              <a:ext uri="{FF2B5EF4-FFF2-40B4-BE49-F238E27FC236}">
                <a16:creationId xmlns:a16="http://schemas.microsoft.com/office/drawing/2014/main" id="{63D550A1-5EE9-9D88-8722-863955632F22}"/>
              </a:ext>
            </a:extLst>
          </p:cNvPr>
          <p:cNvPicPr>
            <a:picLocks noChangeAspect="1"/>
          </p:cNvPicPr>
          <p:nvPr>
            <p:custDataLst>
              <p:tags r:id="rId4"/>
            </p:custDataLst>
          </p:nvPr>
        </p:nvPicPr>
        <p:blipFill>
          <a:blip r:embed="rId10"/>
          <a:stretch>
            <a:fillRect/>
          </a:stretch>
        </p:blipFill>
        <p:spPr>
          <a:xfrm>
            <a:off x="1003313" y="1751587"/>
            <a:ext cx="4961553" cy="2988011"/>
          </a:xfrm>
          <a:prstGeom prst="rect">
            <a:avLst/>
          </a:prstGeom>
        </p:spPr>
      </p:pic>
      <p:grpSp>
        <p:nvGrpSpPr>
          <p:cNvPr id="127" name="Group 126">
            <a:extLst>
              <a:ext uri="{FF2B5EF4-FFF2-40B4-BE49-F238E27FC236}">
                <a16:creationId xmlns:a16="http://schemas.microsoft.com/office/drawing/2014/main" id="{CE65BD84-B31F-4942-E487-D3BE47255EC7}"/>
              </a:ext>
            </a:extLst>
          </p:cNvPr>
          <p:cNvGrpSpPr/>
          <p:nvPr>
            <p:custDataLst>
              <p:tags r:id="rId5"/>
            </p:custDataLst>
          </p:nvPr>
        </p:nvGrpSpPr>
        <p:grpSpPr>
          <a:xfrm>
            <a:off x="995364" y="153170"/>
            <a:ext cx="7407882" cy="195814"/>
            <a:chOff x="995364" y="153170"/>
            <a:chExt cx="7407882" cy="195814"/>
          </a:xfrm>
        </p:grpSpPr>
        <p:sp>
          <p:nvSpPr>
            <p:cNvPr id="128"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129"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130"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325196"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131" name="Current Section4">
              <a:hlinkClick r:id="rId14" action="ppaction://hlinksldjump"/>
              <a:extLst>
                <a:ext uri="{FF2B5EF4-FFF2-40B4-BE49-F238E27FC236}">
                  <a16:creationId xmlns:a16="http://schemas.microsoft.com/office/drawing/2014/main" id="{89A61135-1F00-E77F-7C78-5FBA241A5742}"/>
                </a:ext>
              </a:extLst>
            </p:cNvPr>
            <p:cNvSpPr>
              <a:spLocks/>
            </p:cNvSpPr>
            <p:nvPr/>
          </p:nvSpPr>
          <p:spPr>
            <a:xfrm>
              <a:off x="477384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132"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613351"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133"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771442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
        <p:nvSpPr>
          <p:cNvPr id="7" name="Rectangle: Rounded Corners 6">
            <a:extLst>
              <a:ext uri="{FF2B5EF4-FFF2-40B4-BE49-F238E27FC236}">
                <a16:creationId xmlns:a16="http://schemas.microsoft.com/office/drawing/2014/main" id="{3135E35A-41A8-98AF-823E-B31D1937D9B2}"/>
              </a:ext>
            </a:extLst>
          </p:cNvPr>
          <p:cNvSpPr/>
          <p:nvPr/>
        </p:nvSpPr>
        <p:spPr>
          <a:xfrm>
            <a:off x="4269715" y="2054291"/>
            <a:ext cx="419374" cy="2729581"/>
          </a:xfrm>
          <a:prstGeom prst="roundRect">
            <a:avLst/>
          </a:prstGeom>
          <a:noFill/>
          <a:ln>
            <a:solidFill>
              <a:srgbClr val="FD349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900">
              <a:solidFill>
                <a:schemeClr val="bg1"/>
              </a:solidFill>
            </a:endParaRPr>
          </a:p>
        </p:txBody>
      </p:sp>
    </p:spTree>
    <p:extLst>
      <p:ext uri="{BB962C8B-B14F-4D97-AF65-F5344CB8AC3E}">
        <p14:creationId xmlns:p14="http://schemas.microsoft.com/office/powerpoint/2010/main" val="2177891996"/>
      </p:ext>
    </p:extLst>
  </p:cSld>
  <p:clrMapOvr>
    <a:masterClrMapping/>
  </p:clrMapOvr>
  <p:extLst>
    <p:ext uri="{6950BFC3-D8DA-4A85-94F7-54DA5524770B}">
      <p188:commentRel xmlns:p188="http://schemas.microsoft.com/office/powerpoint/2018/8/main" r:id="rId7"/>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13" name="Text Placeholder 12">
            <a:extLst>
              <a:ext uri="{FF2B5EF4-FFF2-40B4-BE49-F238E27FC236}">
                <a16:creationId xmlns:a16="http://schemas.microsoft.com/office/drawing/2014/main" id="{D225D19F-91F7-BB50-9A4C-C551C3D5129A}"/>
              </a:ext>
            </a:extLst>
          </p:cNvPr>
          <p:cNvSpPr>
            <a:spLocks noGrp="1"/>
          </p:cNvSpPr>
          <p:nvPr>
            <p:ph type="body" sz="quarter" idx="10"/>
          </p:nvPr>
        </p:nvSpPr>
        <p:spPr>
          <a:xfrm>
            <a:off x="995361" y="1179513"/>
            <a:ext cx="10206395" cy="460800"/>
          </a:xfrm>
        </p:spPr>
        <p:txBody>
          <a:bodyPr/>
          <a:lstStyle/>
          <a:p>
            <a:r>
              <a:rPr lang="en-US">
                <a:solidFill>
                  <a:srgbClr val="00338D"/>
                </a:solidFill>
              </a:rPr>
              <a:t>Net debt presented below is representative of the agreed Locked Box. Adjusted debt includes $(32.5) million of reported net debt, $(3.0) million of balance sheet reclassifications, and $(0.1) million of other debt / cash like items. We also discuss other items not included in the agreed Locked Box, but relevant for your consideration on pages 39-40.</a:t>
            </a:r>
          </a:p>
        </p:txBody>
      </p:sp>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a:lstStyle/>
          <a:p>
            <a:r>
              <a:rPr lang="en-US"/>
              <a:t>Net debt (1/4)</a:t>
            </a:r>
          </a:p>
        </p:txBody>
      </p:sp>
      <p:sp>
        <p:nvSpPr>
          <p:cNvPr id="14" name="Text Placeholder 13">
            <a:extLst>
              <a:ext uri="{FF2B5EF4-FFF2-40B4-BE49-F238E27FC236}">
                <a16:creationId xmlns:a16="http://schemas.microsoft.com/office/drawing/2014/main" id="{99CD2D5C-07E0-983D-981C-61F6C7A38A23}"/>
              </a:ext>
            </a:extLst>
          </p:cNvPr>
          <p:cNvSpPr>
            <a:spLocks noGrp="1"/>
          </p:cNvSpPr>
          <p:nvPr>
            <p:ph type="body" sz="quarter" idx="11"/>
          </p:nvPr>
        </p:nvSpPr>
        <p:spPr/>
        <p:txBody>
          <a:bodyPr/>
          <a:lstStyle/>
          <a:p>
            <a:r>
              <a:rPr lang="fi-FI"/>
              <a:t>Basis of preperation</a:t>
            </a:r>
          </a:p>
        </p:txBody>
      </p:sp>
      <p:sp>
        <p:nvSpPr>
          <p:cNvPr id="16" name="Table Placeholder 15">
            <a:extLst>
              <a:ext uri="{FF2B5EF4-FFF2-40B4-BE49-F238E27FC236}">
                <a16:creationId xmlns:a16="http://schemas.microsoft.com/office/drawing/2014/main" id="{CD275CDB-B58A-7B53-0306-BD47F6CD706D}"/>
              </a:ext>
            </a:extLst>
          </p:cNvPr>
          <p:cNvSpPr>
            <a:spLocks noGrp="1"/>
          </p:cNvSpPr>
          <p:nvPr>
            <p:ph type="tbl" sz="quarter" idx="13"/>
          </p:nvPr>
        </p:nvSpPr>
        <p:spPr/>
        <p:txBody>
          <a:bodyPr/>
          <a:lstStyle/>
          <a:p>
            <a:endParaRPr lang="fi-FI"/>
          </a:p>
        </p:txBody>
      </p:sp>
      <p:sp>
        <p:nvSpPr>
          <p:cNvPr id="7" name="Text Placeholder 6">
            <a:extLst>
              <a:ext uri="{FF2B5EF4-FFF2-40B4-BE49-F238E27FC236}">
                <a16:creationId xmlns:a16="http://schemas.microsoft.com/office/drawing/2014/main" id="{863116BA-8BAE-48BD-8189-4BDC91B115C9}"/>
              </a:ext>
            </a:extLst>
          </p:cNvPr>
          <p:cNvSpPr>
            <a:spLocks noGrp="1"/>
          </p:cNvSpPr>
          <p:nvPr>
            <p:ph type="body" sz="quarter" idx="26"/>
          </p:nvPr>
        </p:nvSpPr>
        <p:spPr/>
        <p:txBody>
          <a:bodyPr/>
          <a:lstStyle/>
          <a:p>
            <a:pPr lvl="1" defTabSz="914377">
              <a:spcAft>
                <a:spcPts val="200"/>
              </a:spcAft>
              <a:defRPr/>
            </a:pPr>
            <a:r>
              <a:rPr lang="en-US" sz="1000"/>
              <a:t>The </a:t>
            </a:r>
            <a:r>
              <a:rPr lang="en-US"/>
              <a:t>net </a:t>
            </a:r>
            <a:r>
              <a:rPr lang="en-US" sz="1000"/>
              <a:t>debt analysis presents adjusted debt consistent with the Locked Box agreed to by both parties. Adjusted net debt comprises of the following</a:t>
            </a:r>
            <a:r>
              <a:rPr lang="en-US"/>
              <a:t>:</a:t>
            </a:r>
            <a:endParaRPr lang="en-US" sz="1000"/>
          </a:p>
          <a:p>
            <a:pPr marL="171450" lvl="1" indent="-171450" defTabSz="914377">
              <a:spcAft>
                <a:spcPts val="200"/>
              </a:spcAft>
              <a:buFont typeface="Arial" panose="020B0604020202020204" pitchFamily="34" charset="0"/>
              <a:buChar char="•"/>
              <a:defRPr/>
            </a:pPr>
            <a:r>
              <a:rPr lang="en-US" b="1"/>
              <a:t>Reported net debt</a:t>
            </a:r>
            <a:r>
              <a:rPr lang="en-US"/>
              <a:t>: Cash and debt items included on the reported balance sheet at December 31, 2024,</a:t>
            </a:r>
          </a:p>
          <a:p>
            <a:pPr marL="171450" lvl="1" indent="-171450" defTabSz="914377">
              <a:spcAft>
                <a:spcPts val="200"/>
              </a:spcAft>
              <a:buFont typeface="Arial" panose="020B0604020202020204" pitchFamily="34" charset="0"/>
              <a:buChar char="•"/>
              <a:defRPr/>
            </a:pPr>
            <a:r>
              <a:rPr lang="en-US" b="1"/>
              <a:t>Balance sheet reclassifications</a:t>
            </a:r>
            <a:r>
              <a:rPr lang="en-US"/>
              <a:t>: Reflect items originally included in working capital which have been reclassified to debt. We also remove $0.1 million of short term investments related to trapped cash.</a:t>
            </a:r>
          </a:p>
          <a:p>
            <a:pPr marL="171450" lvl="1" indent="-171450" defTabSz="914377">
              <a:spcAft>
                <a:spcPts val="200"/>
              </a:spcAft>
              <a:buFont typeface="Arial" panose="020B0604020202020204" pitchFamily="34" charset="0"/>
              <a:buChar char="•"/>
              <a:defRPr/>
            </a:pPr>
            <a:r>
              <a:rPr lang="en-US" b="1"/>
              <a:t>Other (debt)/cash-like adjustments</a:t>
            </a:r>
            <a:r>
              <a:rPr lang="en-US"/>
              <a:t>: Other items identified by both parties as cash / debt like over the course of diligence.</a:t>
            </a:r>
          </a:p>
          <a:p>
            <a:pPr lvl="1" defTabSz="914377">
              <a:spcAft>
                <a:spcPts val="200"/>
              </a:spcAft>
              <a:defRPr/>
            </a:pPr>
            <a:r>
              <a:rPr lang="en-US" b="1">
                <a:solidFill>
                  <a:schemeClr val="tx2"/>
                </a:solidFill>
              </a:rPr>
              <a:t>Balance sheet reclassifications</a:t>
            </a:r>
          </a:p>
          <a:p>
            <a:pPr marL="228600" lvl="1" indent="-228600" defTabSz="914377">
              <a:spcAft>
                <a:spcPts val="200"/>
              </a:spcAft>
              <a:buFont typeface="+mj-lt"/>
              <a:buAutoNum type="arabicPeriod"/>
              <a:defRPr/>
            </a:pPr>
            <a:r>
              <a:rPr lang="en-US" b="1"/>
              <a:t>CIT receivables and payable: </a:t>
            </a:r>
            <a:r>
              <a:rPr lang="en-US"/>
              <a:t>Reclassification from working capital. See working capital adj. #C.</a:t>
            </a:r>
          </a:p>
          <a:p>
            <a:pPr marL="228600" lvl="1" indent="-228600" defTabSz="914377">
              <a:spcAft>
                <a:spcPts val="200"/>
              </a:spcAft>
              <a:buFont typeface="+mj-lt"/>
              <a:buAutoNum type="arabicPeriod"/>
              <a:defRPr/>
            </a:pPr>
            <a:r>
              <a:rPr lang="en-US" b="1"/>
              <a:t>Debt arrangement fees:</a:t>
            </a:r>
            <a:r>
              <a:rPr lang="en-US"/>
              <a:t> Include the costs associated with the structuring, negotiation, and securing of Bain debt financing which have been capitalized as an asset to the balance sheet and are reducing the value of the debt held with Bain. This adjustment removes this asset from debt to reflect the amount actually payable.</a:t>
            </a:r>
          </a:p>
          <a:p>
            <a:pPr marL="228600" lvl="1" indent="-228600" defTabSz="914377">
              <a:spcAft>
                <a:spcPts val="200"/>
              </a:spcAft>
              <a:buFont typeface="+mj-lt"/>
              <a:buAutoNum type="arabicPeriod"/>
              <a:defRPr/>
            </a:pPr>
            <a:r>
              <a:rPr lang="en-US" b="1"/>
              <a:t>Ongoing litigation provisions: </a:t>
            </a:r>
            <a:r>
              <a:rPr lang="en-US"/>
              <a:t>Reclassification from working capital due to the nature of the ongoing legal case. See working capital adj. #A. </a:t>
            </a:r>
          </a:p>
          <a:p>
            <a:pPr marL="228600" lvl="1" indent="-228600" defTabSz="914377">
              <a:spcAft>
                <a:spcPts val="200"/>
              </a:spcAft>
              <a:buFont typeface="+mj-lt"/>
              <a:buAutoNum type="arabicPeriod"/>
              <a:defRPr/>
            </a:pPr>
            <a:r>
              <a:rPr lang="en-US" b="1"/>
              <a:t>CRO severance payment: </a:t>
            </a:r>
            <a:r>
              <a:rPr lang="en-US"/>
              <a:t>Reclassification from working capital. See working capital adj. #B. </a:t>
            </a:r>
            <a:endParaRPr lang="en-US" b="1"/>
          </a:p>
          <a:p>
            <a:pPr marL="228600" lvl="1" indent="-228600" defTabSz="914377">
              <a:spcAft>
                <a:spcPts val="200"/>
              </a:spcAft>
              <a:buFont typeface="+mj-lt"/>
              <a:buAutoNum type="arabicPeriod"/>
              <a:defRPr/>
            </a:pPr>
            <a:r>
              <a:rPr lang="en-US" b="1"/>
              <a:t>Fastcase sales tax payables: </a:t>
            </a:r>
            <a:r>
              <a:rPr lang="en-US"/>
              <a:t>Reclassification from working capital. See working capital adj. #D. </a:t>
            </a:r>
            <a:endParaRPr lang="en-US" b="1"/>
          </a:p>
          <a:p>
            <a:pPr marL="228600" lvl="1" indent="-228600" defTabSz="914377">
              <a:spcAft>
                <a:spcPts val="200"/>
              </a:spcAft>
              <a:buFont typeface="+mj-lt"/>
              <a:buAutoNum type="arabicPeriod"/>
              <a:defRPr/>
            </a:pPr>
            <a:r>
              <a:rPr lang="en-US" b="1"/>
              <a:t>Overdue payables: </a:t>
            </a:r>
            <a:r>
              <a:rPr lang="en-US"/>
              <a:t>Reclassification from working capital. See working capital adj #E. Note, the quantification is inconsistent in the agreed position Locked Box to what we observed in our NWC analysis – however, the impact (~$50,000) is likely immaterial to the valuation. </a:t>
            </a:r>
          </a:p>
          <a:p>
            <a:pPr marL="228600" lvl="1" indent="-228600" defTabSz="914377">
              <a:spcAft>
                <a:spcPts val="200"/>
              </a:spcAft>
              <a:buFont typeface="+mj-lt"/>
              <a:buAutoNum type="arabicPeriod"/>
              <a:defRPr/>
            </a:pPr>
            <a:r>
              <a:rPr lang="en-US" b="1"/>
              <a:t>Short term investments: </a:t>
            </a:r>
            <a:r>
              <a:rPr lang="en-US"/>
              <a:t>Short-term investments recorded under reported net debt include both (i) warranties granted to certain clients in LATAM and (ii) €14k of cash pledged in La Caixa. We have removed this asset from the calculation of net debt as customer warranties are a standard business practice for operating in LATAM, meaning there will always be trapped cash linked to them. Likewise, cash pledged in La Caixa would not be fully available until its related credit facility is settled.</a:t>
            </a:r>
            <a:endParaRPr lang="en-US" b="1">
              <a:solidFill>
                <a:schemeClr val="tx2"/>
              </a:solidFill>
            </a:endParaRPr>
          </a:p>
        </p:txBody>
      </p:sp>
      <p:sp>
        <p:nvSpPr>
          <p:cNvPr id="93" name="Rectangle 92">
            <a:extLst>
              <a:ext uri="{FF2B5EF4-FFF2-40B4-BE49-F238E27FC236}">
                <a16:creationId xmlns:a16="http://schemas.microsoft.com/office/drawing/2014/main" id="{3CE9AAAA-BDE2-42F8-9AD3-3656F54FC814}"/>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4766F920-DE38-4871-9952-5D564E322DA1}"/>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8" name="Rectangle 97">
            <a:extLst>
              <a:ext uri="{FF2B5EF4-FFF2-40B4-BE49-F238E27FC236}">
                <a16:creationId xmlns:a16="http://schemas.microsoft.com/office/drawing/2014/main" id="{0B3589B6-C15F-415C-8595-25AB809A2BF1}"/>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9" name="Rectangle 98">
            <a:extLst>
              <a:ext uri="{FF2B5EF4-FFF2-40B4-BE49-F238E27FC236}">
                <a16:creationId xmlns:a16="http://schemas.microsoft.com/office/drawing/2014/main" id="{79C36FDB-DCEE-4507-A088-75A38B3B84DA}"/>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00" name="Rectangle 99">
            <a:extLst>
              <a:ext uri="{FF2B5EF4-FFF2-40B4-BE49-F238E27FC236}">
                <a16:creationId xmlns:a16="http://schemas.microsoft.com/office/drawing/2014/main" id="{1230C354-3790-478D-918B-AF85B68C49FA}"/>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2" name="Text Placeholder 7">
            <a:extLst>
              <a:ext uri="{FF2B5EF4-FFF2-40B4-BE49-F238E27FC236}">
                <a16:creationId xmlns:a16="http://schemas.microsoft.com/office/drawing/2014/main" id="{9FD228C3-901F-6BE6-0AFD-0C2344252D38}"/>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66F1415B-703E-04D6-A1D4-AE9FEF8CC80C}"/>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AB0A734A-86EB-4443-320E-76E44D47659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70B98DA6-2B6C-2C26-6C60-4A507B70DE4B}"/>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9" name="Straight Arrow Connector 18">
            <a:extLst>
              <a:ext uri="{FF2B5EF4-FFF2-40B4-BE49-F238E27FC236}">
                <a16:creationId xmlns:a16="http://schemas.microsoft.com/office/drawing/2014/main" id="{65A55EA3-413F-6DBE-1BCF-B44A3C505D59}"/>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8FBD071-1256-0286-E7C4-60EC9A63D112}"/>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9" name="Rectangle 8">
            <a:extLst>
              <a:ext uri="{FF2B5EF4-FFF2-40B4-BE49-F238E27FC236}">
                <a16:creationId xmlns:a16="http://schemas.microsoft.com/office/drawing/2014/main" id="{E5716B78-4442-5C21-8571-4361608E6736}"/>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0" name="Rectangle 9">
            <a:extLst>
              <a:ext uri="{FF2B5EF4-FFF2-40B4-BE49-F238E27FC236}">
                <a16:creationId xmlns:a16="http://schemas.microsoft.com/office/drawing/2014/main" id="{6C2ECC21-855D-5D3B-D48C-133F45E63E7A}"/>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1" name="Rectangle 10">
            <a:extLst>
              <a:ext uri="{FF2B5EF4-FFF2-40B4-BE49-F238E27FC236}">
                <a16:creationId xmlns:a16="http://schemas.microsoft.com/office/drawing/2014/main" id="{DCB43E81-067B-57CD-3AE3-78002854F4D1}"/>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8" name="UpSlide SubSection Marker" hidden="1">
            <a:extLst>
              <a:ext uri="{FF2B5EF4-FFF2-40B4-BE49-F238E27FC236}">
                <a16:creationId xmlns:a16="http://schemas.microsoft.com/office/drawing/2014/main" id="{6D93FB3D-4DDF-E55D-AD2A-CC9797A73E75}"/>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Net debt</a:t>
            </a:r>
          </a:p>
        </p:txBody>
      </p:sp>
      <p:pic>
        <p:nvPicPr>
          <p:cNvPr id="12" name="Picture 11">
            <a:extLst>
              <a:ext uri="{FF2B5EF4-FFF2-40B4-BE49-F238E27FC236}">
                <a16:creationId xmlns:a16="http://schemas.microsoft.com/office/drawing/2014/main" id="{B60559FA-9F62-1260-857A-871CAC372526}"/>
              </a:ext>
            </a:extLst>
          </p:cNvPr>
          <p:cNvPicPr>
            <a:picLocks noChangeAspect="1"/>
          </p:cNvPicPr>
          <p:nvPr>
            <p:custDataLst>
              <p:tags r:id="rId4"/>
            </p:custDataLst>
          </p:nvPr>
        </p:nvPicPr>
        <p:blipFill>
          <a:blip r:embed="rId10"/>
          <a:stretch>
            <a:fillRect/>
          </a:stretch>
        </p:blipFill>
        <p:spPr>
          <a:xfrm>
            <a:off x="987206" y="1742059"/>
            <a:ext cx="3360420" cy="3454718"/>
          </a:xfrm>
          <a:prstGeom prst="rect">
            <a:avLst/>
          </a:prstGeom>
        </p:spPr>
      </p:pic>
      <p:grpSp>
        <p:nvGrpSpPr>
          <p:cNvPr id="77" name="Group 76">
            <a:extLst>
              <a:ext uri="{FF2B5EF4-FFF2-40B4-BE49-F238E27FC236}">
                <a16:creationId xmlns:a16="http://schemas.microsoft.com/office/drawing/2014/main" id="{CE65BD84-B31F-4942-E487-D3BE47255EC7}"/>
              </a:ext>
            </a:extLst>
          </p:cNvPr>
          <p:cNvGrpSpPr/>
          <p:nvPr>
            <p:custDataLst>
              <p:tags r:id="rId5"/>
            </p:custDataLst>
          </p:nvPr>
        </p:nvGrpSpPr>
        <p:grpSpPr>
          <a:xfrm>
            <a:off x="995364" y="153170"/>
            <a:ext cx="7407882" cy="195814"/>
            <a:chOff x="995364" y="153170"/>
            <a:chExt cx="7407882" cy="195814"/>
          </a:xfrm>
        </p:grpSpPr>
        <p:sp>
          <p:nvSpPr>
            <p:cNvPr id="78"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79"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80"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325196"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81" name="Current Section4">
              <a:hlinkClick r:id="rId14" action="ppaction://hlinksldjump"/>
              <a:extLst>
                <a:ext uri="{FF2B5EF4-FFF2-40B4-BE49-F238E27FC236}">
                  <a16:creationId xmlns:a16="http://schemas.microsoft.com/office/drawing/2014/main" id="{89A61135-1F00-E77F-7C78-5FBA241A5742}"/>
                </a:ext>
              </a:extLst>
            </p:cNvPr>
            <p:cNvSpPr>
              <a:spLocks/>
            </p:cNvSpPr>
            <p:nvPr/>
          </p:nvSpPr>
          <p:spPr>
            <a:xfrm>
              <a:off x="477384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82"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613351"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83"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771442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
        <p:nvSpPr>
          <p:cNvPr id="15" name="Text Placeholder 12">
            <a:extLst>
              <a:ext uri="{FF2B5EF4-FFF2-40B4-BE49-F238E27FC236}">
                <a16:creationId xmlns:a16="http://schemas.microsoft.com/office/drawing/2014/main" id="{057F9420-3209-AF70-905E-2D9D0B82370F}"/>
              </a:ext>
            </a:extLst>
          </p:cNvPr>
          <p:cNvSpPr txBox="1">
            <a:spLocks/>
          </p:cNvSpPr>
          <p:nvPr/>
        </p:nvSpPr>
        <p:spPr>
          <a:xfrm>
            <a:off x="987206" y="5878041"/>
            <a:ext cx="3372523"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Source: 	2.2.2.4_20250515 Project Vortex - Locked box memo.xlsx; 2.2.2.5_20250515 Project 	Vortex - Databook - Balance Sheet.xlsb; KPMG analysis.</a:t>
            </a:r>
          </a:p>
        </p:txBody>
      </p:sp>
    </p:spTree>
    <p:extLst>
      <p:ext uri="{BB962C8B-B14F-4D97-AF65-F5344CB8AC3E}">
        <p14:creationId xmlns:p14="http://schemas.microsoft.com/office/powerpoint/2010/main" val="2804445443"/>
      </p:ext>
    </p:extLst>
  </p:cSld>
  <p:clrMapOvr>
    <a:masterClrMapping/>
  </p:clrMapOvr>
  <p:extLst>
    <p:ext uri="{6950BFC3-D8DA-4A85-94F7-54DA5524770B}">
      <p188:commentRel xmlns:p188="http://schemas.microsoft.com/office/powerpoint/2018/8/main" r:id="rId7"/>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256F0706-91E7-80D9-9B1C-88DC47DA107D}"/>
              </a:ext>
            </a:extLst>
          </p:cNvPr>
          <p:cNvPicPr>
            <a:picLocks noChangeAspect="1"/>
          </p:cNvPicPr>
          <p:nvPr>
            <p:custDataLst>
              <p:tags r:id="rId1"/>
            </p:custDataLst>
          </p:nvPr>
        </p:nvPicPr>
        <p:blipFill>
          <a:blip r:embed="rId8"/>
          <a:stretch>
            <a:fillRect/>
          </a:stretch>
        </p:blipFill>
        <p:spPr>
          <a:xfrm>
            <a:off x="987206" y="1742059"/>
            <a:ext cx="3384550" cy="2452072"/>
          </a:xfrm>
          <a:prstGeom prst="rect">
            <a:avLst/>
          </a:prstGeom>
        </p:spPr>
      </p:pic>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9" imgW="395" imgH="394" progId="TCLayout.ActiveDocument.1">
                  <p:embed/>
                </p:oleObj>
              </mc:Choice>
              <mc:Fallback>
                <p:oleObj name="think-cell Slide" r:id="rId9"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10"/>
                      <a:stretch>
                        <a:fillRect/>
                      </a:stretch>
                    </p:blipFill>
                    <p:spPr>
                      <a:xfrm>
                        <a:off x="1589" y="1589"/>
                        <a:ext cx="1588" cy="1588"/>
                      </a:xfrm>
                      <a:prstGeom prst="rect">
                        <a:avLst/>
                      </a:prstGeom>
                    </p:spPr>
                  </p:pic>
                </p:oleObj>
              </mc:Fallback>
            </mc:AlternateContent>
          </a:graphicData>
        </a:graphic>
      </p:graphicFrame>
      <p:sp>
        <p:nvSpPr>
          <p:cNvPr id="13" name="Text Placeholder 12">
            <a:extLst>
              <a:ext uri="{FF2B5EF4-FFF2-40B4-BE49-F238E27FC236}">
                <a16:creationId xmlns:a16="http://schemas.microsoft.com/office/drawing/2014/main" id="{D225D19F-91F7-BB50-9A4C-C551C3D5129A}"/>
              </a:ext>
            </a:extLst>
          </p:cNvPr>
          <p:cNvSpPr>
            <a:spLocks noGrp="1"/>
          </p:cNvSpPr>
          <p:nvPr>
            <p:ph type="body" sz="quarter" idx="10"/>
          </p:nvPr>
        </p:nvSpPr>
        <p:spPr>
          <a:xfrm>
            <a:off x="995361" y="1179513"/>
            <a:ext cx="10195200" cy="460800"/>
          </a:xfrm>
        </p:spPr>
        <p:txBody>
          <a:bodyPr/>
          <a:lstStyle/>
          <a:p>
            <a:r>
              <a:rPr lang="fi-FI">
                <a:solidFill>
                  <a:srgbClr val="00338D"/>
                </a:solidFill>
              </a:rPr>
              <a:t>Final quantification of adjustments relating the debt redemption statements (adj. #11), additional transaction costs (post Dec-24) (adj. #12) and the impact of the Fastcase China divestments (adj. #13) have not been quantified in the agreed Locked box. We understand these amounts will either be determined in a later iteration of the Locked Box, or included as known leakage prior to close. </a:t>
            </a:r>
          </a:p>
        </p:txBody>
      </p:sp>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a:lstStyle/>
          <a:p>
            <a:r>
              <a:rPr lang="en-US"/>
              <a:t>Net debt (2/4)</a:t>
            </a:r>
          </a:p>
        </p:txBody>
      </p:sp>
      <p:sp>
        <p:nvSpPr>
          <p:cNvPr id="14" name="Text Placeholder 13">
            <a:extLst>
              <a:ext uri="{FF2B5EF4-FFF2-40B4-BE49-F238E27FC236}">
                <a16:creationId xmlns:a16="http://schemas.microsoft.com/office/drawing/2014/main" id="{99CD2D5C-07E0-983D-981C-61F6C7A38A23}"/>
              </a:ext>
            </a:extLst>
          </p:cNvPr>
          <p:cNvSpPr>
            <a:spLocks noGrp="1"/>
          </p:cNvSpPr>
          <p:nvPr>
            <p:ph type="body" sz="quarter" idx="11"/>
          </p:nvPr>
        </p:nvSpPr>
        <p:spPr/>
        <p:txBody>
          <a:bodyPr/>
          <a:lstStyle/>
          <a:p>
            <a:r>
              <a:rPr lang="fi-FI"/>
              <a:t>Commentary</a:t>
            </a:r>
          </a:p>
        </p:txBody>
      </p:sp>
      <p:sp>
        <p:nvSpPr>
          <p:cNvPr id="7" name="Text Placeholder 6">
            <a:extLst>
              <a:ext uri="{FF2B5EF4-FFF2-40B4-BE49-F238E27FC236}">
                <a16:creationId xmlns:a16="http://schemas.microsoft.com/office/drawing/2014/main" id="{863116BA-8BAE-48BD-8189-4BDC91B115C9}"/>
              </a:ext>
            </a:extLst>
          </p:cNvPr>
          <p:cNvSpPr>
            <a:spLocks noGrp="1"/>
          </p:cNvSpPr>
          <p:nvPr>
            <p:ph type="body" sz="quarter" idx="26"/>
          </p:nvPr>
        </p:nvSpPr>
        <p:spPr/>
        <p:txBody>
          <a:bodyPr/>
          <a:lstStyle/>
          <a:p>
            <a:pPr lvl="1" defTabSz="914377">
              <a:defRPr/>
            </a:pPr>
            <a:r>
              <a:rPr lang="en-US" b="1">
                <a:solidFill>
                  <a:schemeClr val="tx2"/>
                </a:solidFill>
              </a:rPr>
              <a:t>Other (debt) / cash adjustments</a:t>
            </a:r>
          </a:p>
          <a:p>
            <a:pPr marL="228600" lvl="1" indent="-228600" defTabSz="914377">
              <a:buFont typeface="+mj-lt"/>
              <a:buAutoNum type="arabicPeriod" startAt="8"/>
              <a:defRPr/>
            </a:pPr>
            <a:r>
              <a:rPr lang="en-US" b="1"/>
              <a:t>Judicata former shareholder payable</a:t>
            </a:r>
            <a:r>
              <a:rPr lang="en-US"/>
              <a:t>: Relates to an off balance sheet liability owed to a former founder of Judicata who is currently employed in the company.</a:t>
            </a:r>
          </a:p>
          <a:p>
            <a:pPr marL="228600" lvl="1" indent="-228600" defTabSz="914377">
              <a:buFont typeface="+mj-lt"/>
              <a:buAutoNum type="arabicPeriod" startAt="8"/>
              <a:defRPr/>
            </a:pPr>
            <a:r>
              <a:rPr lang="en-US" b="1"/>
              <a:t>Douglas provision: </a:t>
            </a:r>
            <a:r>
              <a:rPr lang="en-US"/>
              <a:t>The Fastcase office was relocated prior to Dec-24, leaving an outstanding debt with previous lessor amounting to $25,000. This item has been considered debt like.</a:t>
            </a:r>
          </a:p>
          <a:p>
            <a:pPr marL="228600" lvl="1" indent="-228600" defTabSz="914377">
              <a:buFont typeface="+mj-lt"/>
              <a:buAutoNum type="arabicPeriod" startAt="8"/>
              <a:defRPr/>
            </a:pPr>
            <a:r>
              <a:rPr lang="en-US" b="1"/>
              <a:t>NextChapter litigation final cash outflow: </a:t>
            </a:r>
            <a:r>
              <a:rPr lang="en-US"/>
              <a:t>Related to the ongoing litigation provision, NextChapter has reached a final agreement of payment of $0.2 million ($0.1 million less than what was original provisioned above). This adjustment adjusts the litigation provision to what will actually be paid based on the agreement.</a:t>
            </a:r>
          </a:p>
          <a:p>
            <a:pPr marL="228600" lvl="1" indent="-228600" defTabSz="914377">
              <a:buFont typeface="+mj-lt"/>
              <a:buAutoNum type="arabicPeriod" startAt="8"/>
              <a:defRPr/>
            </a:pPr>
            <a:r>
              <a:rPr lang="en-US" b="1"/>
              <a:t>True up of debt based on redemption statements: </a:t>
            </a:r>
            <a:r>
              <a:rPr lang="en-US"/>
              <a:t>This adjustment is not quantified at this time however, this accounts for any difference between debt recorded on the balance sheet and the amount paid upon redemption. </a:t>
            </a:r>
          </a:p>
          <a:p>
            <a:pPr marL="228600" lvl="1" indent="-228600" defTabSz="914377">
              <a:buFont typeface="+mj-lt"/>
              <a:buAutoNum type="arabicPeriod" startAt="8"/>
              <a:defRPr/>
            </a:pPr>
            <a:r>
              <a:rPr lang="en-US" b="1"/>
              <a:t>Additional transaction costs (Dec-24 to closing): </a:t>
            </a:r>
            <a:r>
              <a:rPr lang="en-US"/>
              <a:t>This adjustment considers the cost of additional transaction costs paid post locked box date but prior to closing. This amount is not quantified at this time.</a:t>
            </a:r>
            <a:endParaRPr lang="en-US" b="1"/>
          </a:p>
          <a:p>
            <a:pPr marL="228600" lvl="1" indent="-228600" defTabSz="914377">
              <a:buFont typeface="+mj-lt"/>
              <a:buAutoNum type="arabicPeriod" startAt="8"/>
              <a:defRPr/>
            </a:pPr>
            <a:r>
              <a:rPr lang="en-US" b="1"/>
              <a:t>Impact of Handan and Qinhuangdao divestments: </a:t>
            </a:r>
            <a:r>
              <a:rPr lang="en-US"/>
              <a:t>Relates to the disposition of two entities located in China which are in progress. The disposition of these entities may result in additional costs which will be included in later drafts of the Locked Box, or included as a known leakage adjustment.</a:t>
            </a:r>
          </a:p>
          <a:p>
            <a:pPr marL="228600" lvl="1" indent="-228600" defTabSz="914377">
              <a:buFont typeface="+mj-lt"/>
              <a:buAutoNum type="arabicPeriod" startAt="8"/>
              <a:defRPr/>
            </a:pPr>
            <a:r>
              <a:rPr lang="en-US" b="1"/>
              <a:t>Fastcase China severance</a:t>
            </a:r>
            <a:r>
              <a:rPr lang="en-US"/>
              <a:t>: As a result of the disposition of the Fastcase China entities, there is an agreement in place to pay severance to employees should their employment be discontinued. We have quantified this amount as $0.1 million – however Vortex has indicated they plan to continue employment for all individuals and there will be no requirement to pay severance. Therefore, nil has been included for this adjustment. If amounts are incurred, this will be considered as a known leakage adjustment.</a:t>
            </a:r>
          </a:p>
        </p:txBody>
      </p:sp>
      <p:sp>
        <p:nvSpPr>
          <p:cNvPr id="93" name="Rectangle 92">
            <a:extLst>
              <a:ext uri="{FF2B5EF4-FFF2-40B4-BE49-F238E27FC236}">
                <a16:creationId xmlns:a16="http://schemas.microsoft.com/office/drawing/2014/main" id="{3CE9AAAA-BDE2-42F8-9AD3-3656F54FC814}"/>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4766F920-DE38-4871-9952-5D564E322DA1}"/>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8" name="Rectangle 97">
            <a:extLst>
              <a:ext uri="{FF2B5EF4-FFF2-40B4-BE49-F238E27FC236}">
                <a16:creationId xmlns:a16="http://schemas.microsoft.com/office/drawing/2014/main" id="{0B3589B6-C15F-415C-8595-25AB809A2BF1}"/>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9" name="Rectangle 98">
            <a:extLst>
              <a:ext uri="{FF2B5EF4-FFF2-40B4-BE49-F238E27FC236}">
                <a16:creationId xmlns:a16="http://schemas.microsoft.com/office/drawing/2014/main" id="{79C36FDB-DCEE-4507-A088-75A38B3B84DA}"/>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00" name="Rectangle 99">
            <a:extLst>
              <a:ext uri="{FF2B5EF4-FFF2-40B4-BE49-F238E27FC236}">
                <a16:creationId xmlns:a16="http://schemas.microsoft.com/office/drawing/2014/main" id="{1230C354-3790-478D-918B-AF85B68C49FA}"/>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2" name="Text Placeholder 7">
            <a:extLst>
              <a:ext uri="{FF2B5EF4-FFF2-40B4-BE49-F238E27FC236}">
                <a16:creationId xmlns:a16="http://schemas.microsoft.com/office/drawing/2014/main" id="{9FD228C3-901F-6BE6-0AFD-0C2344252D38}"/>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66F1415B-703E-04D6-A1D4-AE9FEF8CC80C}"/>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AB0A734A-86EB-4443-320E-76E44D47659C}"/>
              </a:ext>
            </a:extLst>
          </p:cNvPr>
          <p:cNvSpPr/>
          <p:nvPr>
            <p:custDataLst>
              <p:tags r:id="rId3"/>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70B98DA6-2B6C-2C26-6C60-4A507B70DE4B}"/>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9" name="Straight Arrow Connector 18">
            <a:extLst>
              <a:ext uri="{FF2B5EF4-FFF2-40B4-BE49-F238E27FC236}">
                <a16:creationId xmlns:a16="http://schemas.microsoft.com/office/drawing/2014/main" id="{65A55EA3-413F-6DBE-1BCF-B44A3C505D59}"/>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8FBD071-1256-0286-E7C4-60EC9A63D112}"/>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9" name="Rectangle 8">
            <a:extLst>
              <a:ext uri="{FF2B5EF4-FFF2-40B4-BE49-F238E27FC236}">
                <a16:creationId xmlns:a16="http://schemas.microsoft.com/office/drawing/2014/main" id="{E5716B78-4442-5C21-8571-4361608E6736}"/>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0" name="Rectangle 9">
            <a:extLst>
              <a:ext uri="{FF2B5EF4-FFF2-40B4-BE49-F238E27FC236}">
                <a16:creationId xmlns:a16="http://schemas.microsoft.com/office/drawing/2014/main" id="{6C2ECC21-855D-5D3B-D48C-133F45E63E7A}"/>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1" name="Rectangle 10">
            <a:extLst>
              <a:ext uri="{FF2B5EF4-FFF2-40B4-BE49-F238E27FC236}">
                <a16:creationId xmlns:a16="http://schemas.microsoft.com/office/drawing/2014/main" id="{DCB43E81-067B-57CD-3AE3-78002854F4D1}"/>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8" name="UpSlide SubSection Marker" hidden="1">
            <a:extLst>
              <a:ext uri="{FF2B5EF4-FFF2-40B4-BE49-F238E27FC236}">
                <a16:creationId xmlns:a16="http://schemas.microsoft.com/office/drawing/2014/main" id="{6D93FB3D-4DDF-E55D-AD2A-CC9797A73E75}"/>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Net debt</a:t>
            </a:r>
          </a:p>
        </p:txBody>
      </p:sp>
      <p:grpSp>
        <p:nvGrpSpPr>
          <p:cNvPr id="77" name="Group 76">
            <a:extLst>
              <a:ext uri="{FF2B5EF4-FFF2-40B4-BE49-F238E27FC236}">
                <a16:creationId xmlns:a16="http://schemas.microsoft.com/office/drawing/2014/main" id="{CE65BD84-B31F-4942-E487-D3BE47255EC7}"/>
              </a:ext>
            </a:extLst>
          </p:cNvPr>
          <p:cNvGrpSpPr/>
          <p:nvPr>
            <p:custDataLst>
              <p:tags r:id="rId5"/>
            </p:custDataLst>
          </p:nvPr>
        </p:nvGrpSpPr>
        <p:grpSpPr>
          <a:xfrm>
            <a:off x="995364" y="153170"/>
            <a:ext cx="7407882" cy="195814"/>
            <a:chOff x="995364" y="153170"/>
            <a:chExt cx="7407882" cy="195814"/>
          </a:xfrm>
        </p:grpSpPr>
        <p:sp>
          <p:nvSpPr>
            <p:cNvPr id="78"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79"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80"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325196"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81" name="Current Section4">
              <a:hlinkClick r:id="rId14" action="ppaction://hlinksldjump"/>
              <a:extLst>
                <a:ext uri="{FF2B5EF4-FFF2-40B4-BE49-F238E27FC236}">
                  <a16:creationId xmlns:a16="http://schemas.microsoft.com/office/drawing/2014/main" id="{89A61135-1F00-E77F-7C78-5FBA241A5742}"/>
                </a:ext>
              </a:extLst>
            </p:cNvPr>
            <p:cNvSpPr>
              <a:spLocks/>
            </p:cNvSpPr>
            <p:nvPr/>
          </p:nvSpPr>
          <p:spPr>
            <a:xfrm>
              <a:off x="477384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82"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613351"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83"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771442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
        <p:nvSpPr>
          <p:cNvPr id="25" name="Text Placeholder 12">
            <a:extLst>
              <a:ext uri="{FF2B5EF4-FFF2-40B4-BE49-F238E27FC236}">
                <a16:creationId xmlns:a16="http://schemas.microsoft.com/office/drawing/2014/main" id="{CEB9378B-9BB3-9ABE-4881-7281A041D133}"/>
              </a:ext>
            </a:extLst>
          </p:cNvPr>
          <p:cNvSpPr txBox="1">
            <a:spLocks/>
          </p:cNvSpPr>
          <p:nvPr/>
        </p:nvSpPr>
        <p:spPr>
          <a:xfrm>
            <a:off x="987206" y="5878041"/>
            <a:ext cx="3372523"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Source: 	2.2.2.4_20250515 Project Vortex - Locked box memo.xlsx; 2.2.2.5_20250515 Project 	Vortex - Databook - Balance Sheet.xlsb; KPMG analysis.</a:t>
            </a:r>
          </a:p>
        </p:txBody>
      </p:sp>
    </p:spTree>
    <p:extLst>
      <p:ext uri="{BB962C8B-B14F-4D97-AF65-F5344CB8AC3E}">
        <p14:creationId xmlns:p14="http://schemas.microsoft.com/office/powerpoint/2010/main" val="2121887205"/>
      </p:ext>
    </p:extLst>
  </p:cSld>
  <p:clrMapOvr>
    <a:masterClrMapping/>
  </p:clrMapOvr>
  <p:extLst>
    <p:ext uri="{6950BFC3-D8DA-4A85-94F7-54DA5524770B}">
      <p188:commentRel xmlns:p188="http://schemas.microsoft.com/office/powerpoint/2018/8/main" r:id="rId7"/>
    </p:ext>
  </p:extLs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13" name="Text Placeholder 12">
            <a:extLst>
              <a:ext uri="{FF2B5EF4-FFF2-40B4-BE49-F238E27FC236}">
                <a16:creationId xmlns:a16="http://schemas.microsoft.com/office/drawing/2014/main" id="{D225D19F-91F7-BB50-9A4C-C551C3D5129A}"/>
              </a:ext>
            </a:extLst>
          </p:cNvPr>
          <p:cNvSpPr>
            <a:spLocks noGrp="1"/>
          </p:cNvSpPr>
          <p:nvPr>
            <p:ph type="body" sz="quarter" idx="10"/>
          </p:nvPr>
        </p:nvSpPr>
        <p:spPr>
          <a:xfrm>
            <a:off x="995361" y="1179513"/>
            <a:ext cx="10195200" cy="460800"/>
          </a:xfrm>
        </p:spPr>
        <p:txBody>
          <a:bodyPr/>
          <a:lstStyle/>
          <a:p>
            <a:r>
              <a:rPr lang="fi-FI">
                <a:solidFill>
                  <a:srgbClr val="00338D"/>
                </a:solidFill>
              </a:rPr>
              <a:t>Adjusted net debt of $(35.6) million should be refined during confirmatory diligence for unquantified items in the agreed Locked Box. Note, the agreed Locked Box also excludes certain items identified in diligence relating to potential severance of executives ($(0.3) million) and Fastcase China employees ($(0.1) million).</a:t>
            </a:r>
          </a:p>
        </p:txBody>
      </p:sp>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a:lstStyle/>
          <a:p>
            <a:r>
              <a:rPr lang="en-US"/>
              <a:t>Net debt (3/4)</a:t>
            </a:r>
          </a:p>
        </p:txBody>
      </p:sp>
      <p:sp>
        <p:nvSpPr>
          <p:cNvPr id="14" name="Text Placeholder 13">
            <a:extLst>
              <a:ext uri="{FF2B5EF4-FFF2-40B4-BE49-F238E27FC236}">
                <a16:creationId xmlns:a16="http://schemas.microsoft.com/office/drawing/2014/main" id="{99CD2D5C-07E0-983D-981C-61F6C7A38A23}"/>
              </a:ext>
            </a:extLst>
          </p:cNvPr>
          <p:cNvSpPr>
            <a:spLocks noGrp="1"/>
          </p:cNvSpPr>
          <p:nvPr>
            <p:ph type="body" sz="quarter" idx="11"/>
          </p:nvPr>
        </p:nvSpPr>
        <p:spPr/>
        <p:txBody>
          <a:bodyPr/>
          <a:lstStyle/>
          <a:p>
            <a:r>
              <a:rPr lang="fi-FI"/>
              <a:t>Commentary</a:t>
            </a:r>
          </a:p>
        </p:txBody>
      </p:sp>
      <p:sp>
        <p:nvSpPr>
          <p:cNvPr id="7" name="Text Placeholder 6">
            <a:extLst>
              <a:ext uri="{FF2B5EF4-FFF2-40B4-BE49-F238E27FC236}">
                <a16:creationId xmlns:a16="http://schemas.microsoft.com/office/drawing/2014/main" id="{863116BA-8BAE-48BD-8189-4BDC91B115C9}"/>
              </a:ext>
            </a:extLst>
          </p:cNvPr>
          <p:cNvSpPr>
            <a:spLocks noGrp="1"/>
          </p:cNvSpPr>
          <p:nvPr>
            <p:ph type="body" sz="quarter" idx="26"/>
          </p:nvPr>
        </p:nvSpPr>
        <p:spPr/>
        <p:txBody>
          <a:bodyPr/>
          <a:lstStyle/>
          <a:p>
            <a:pPr lvl="1" defTabSz="914377">
              <a:defRPr/>
            </a:pPr>
            <a:r>
              <a:rPr lang="en-US" b="1">
                <a:solidFill>
                  <a:schemeClr val="tx2"/>
                </a:solidFill>
              </a:rPr>
              <a:t>Items identified during diligence but not included in agreed Locked Box</a:t>
            </a:r>
          </a:p>
          <a:p>
            <a:pPr marL="228600" lvl="1" indent="-228600" defTabSz="914377">
              <a:buFont typeface="Arial" panose="020B0604020202020204" pitchFamily="34" charset="0"/>
              <a:buChar char="•"/>
              <a:defRPr/>
            </a:pPr>
            <a:r>
              <a:rPr lang="en-US" b="1"/>
              <a:t>CSO and CGO potential severance</a:t>
            </a:r>
            <a:r>
              <a:rPr lang="en-US"/>
              <a:t>: In the sell side actionable synergies presented, there is planned executive restructuring which eliminates two positions. We included the cost of severance contracted to these individuals. Ultimately, this item was excluded from adjusted net debt as the positions still exist and the elimination may or may not occur – but if the synergies are carried out as planned, this cash outflow should be considered.</a:t>
            </a:r>
          </a:p>
          <a:p>
            <a:pPr marL="228600" lvl="1" indent="-228600" defTabSz="914377">
              <a:buFont typeface="Arial" panose="020B0604020202020204" pitchFamily="34" charset="0"/>
              <a:buChar char="•"/>
              <a:defRPr/>
            </a:pPr>
            <a:r>
              <a:rPr lang="en-US" b="1"/>
              <a:t>Fastcase China severance: </a:t>
            </a:r>
            <a:r>
              <a:rPr lang="en-US"/>
              <a:t>As part of the ownership transfer of Fastcase China and in exchange for an increased monthly service agreement, Fastcase Inc. agreed to assume 80% of severance payments accrued before Dec 31, 2024, if and when incurred in the future. Severance is only payable in case of dismissals that trigger severance payment (excluding voluntary resignation &amp; justified dismissals). Vortex is potentially liable up to a maximum of $189,000 – note, this was negotiated down to $90,000 as an consideration outside of the Locked Box in the latest version shared. We have not included this in adjusted net debt as we understand there are no plans to eliminate positions in the Fastcase China entities post transaction (see previous page).</a:t>
            </a:r>
            <a:endParaRPr lang="en-US" b="1">
              <a:solidFill>
                <a:schemeClr val="tx2"/>
              </a:solidFill>
            </a:endParaRPr>
          </a:p>
          <a:p>
            <a:pPr lvl="1" defTabSz="914377">
              <a:defRPr/>
            </a:pPr>
            <a:r>
              <a:rPr lang="en-US" b="1">
                <a:solidFill>
                  <a:schemeClr val="tx2"/>
                </a:solidFill>
              </a:rPr>
              <a:t>Items to be refined in confirmatory diligence</a:t>
            </a:r>
          </a:p>
          <a:p>
            <a:pPr marL="228600" lvl="1" indent="-228600" defTabSz="914377">
              <a:buFont typeface="Arial" panose="020B0604020202020204" pitchFamily="34" charset="0"/>
              <a:buChar char="•"/>
              <a:defRPr/>
            </a:pPr>
            <a:r>
              <a:rPr lang="en-US" b="1"/>
              <a:t>True up of debt based on redemption statements: </a:t>
            </a:r>
            <a:r>
              <a:rPr lang="en-US"/>
              <a:t>Remains unquantified in the agreed Locked Box and adjusted debt table. However, debt or leakage should be trued up based on redemption statements to include the full cost of settling outstanding facilities including any other fees, interest and penalties.</a:t>
            </a:r>
          </a:p>
          <a:p>
            <a:pPr marL="228600" lvl="1" indent="-228600" defTabSz="914377">
              <a:buFont typeface="Arial" panose="020B0604020202020204" pitchFamily="34" charset="0"/>
              <a:buChar char="•"/>
              <a:defRPr/>
            </a:pPr>
            <a:r>
              <a:rPr lang="en-US" b="1"/>
              <a:t>Additional transaction costs: </a:t>
            </a:r>
            <a:r>
              <a:rPr lang="en-US"/>
              <a:t>Remains unquantified in the agreed Locked Box and adjusted debt table. For the avoidance of doubt, debt or leakage should include all Seller-incurred Transaction Costs including reverse diligence costs.</a:t>
            </a:r>
            <a:endParaRPr lang="en-US" b="1"/>
          </a:p>
          <a:p>
            <a:pPr marL="228600" lvl="1" indent="-228600" defTabSz="914377">
              <a:buFont typeface="Arial" panose="020B0604020202020204" pitchFamily="34" charset="0"/>
              <a:buChar char="•"/>
              <a:defRPr/>
            </a:pPr>
            <a:r>
              <a:rPr lang="en-US" b="1"/>
              <a:t>Impact of Handan and Qinhuangdao divestments: </a:t>
            </a:r>
            <a:r>
              <a:rPr lang="en-US"/>
              <a:t>Remains unquantified in the agreed Locked Box and adjusted debt analysis – however, the seller should cover any cash outflow impact from the disposal of the Chinese Entities (as well as any tax liabilities) through either a debt or leakage adjustment. </a:t>
            </a:r>
            <a:endParaRPr lang="en-US" b="1">
              <a:solidFill>
                <a:schemeClr val="tx2"/>
              </a:solidFill>
            </a:endParaRPr>
          </a:p>
          <a:p>
            <a:pPr lvl="1" defTabSz="914377">
              <a:defRPr/>
            </a:pPr>
            <a:endParaRPr lang="en-US" b="1">
              <a:solidFill>
                <a:schemeClr val="tx2"/>
              </a:solidFill>
            </a:endParaRPr>
          </a:p>
          <a:p>
            <a:pPr lvl="1" defTabSz="914377">
              <a:defRPr/>
            </a:pPr>
            <a:endParaRPr lang="en-US"/>
          </a:p>
        </p:txBody>
      </p:sp>
      <p:sp>
        <p:nvSpPr>
          <p:cNvPr id="93" name="Rectangle 92">
            <a:extLst>
              <a:ext uri="{FF2B5EF4-FFF2-40B4-BE49-F238E27FC236}">
                <a16:creationId xmlns:a16="http://schemas.microsoft.com/office/drawing/2014/main" id="{3CE9AAAA-BDE2-42F8-9AD3-3656F54FC814}"/>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4766F920-DE38-4871-9952-5D564E322DA1}"/>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8" name="Rectangle 97">
            <a:extLst>
              <a:ext uri="{FF2B5EF4-FFF2-40B4-BE49-F238E27FC236}">
                <a16:creationId xmlns:a16="http://schemas.microsoft.com/office/drawing/2014/main" id="{0B3589B6-C15F-415C-8595-25AB809A2BF1}"/>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9" name="Rectangle 98">
            <a:extLst>
              <a:ext uri="{FF2B5EF4-FFF2-40B4-BE49-F238E27FC236}">
                <a16:creationId xmlns:a16="http://schemas.microsoft.com/office/drawing/2014/main" id="{79C36FDB-DCEE-4507-A088-75A38B3B84DA}"/>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00" name="Rectangle 99">
            <a:extLst>
              <a:ext uri="{FF2B5EF4-FFF2-40B4-BE49-F238E27FC236}">
                <a16:creationId xmlns:a16="http://schemas.microsoft.com/office/drawing/2014/main" id="{1230C354-3790-478D-918B-AF85B68C49FA}"/>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2" name="Text Placeholder 7">
            <a:extLst>
              <a:ext uri="{FF2B5EF4-FFF2-40B4-BE49-F238E27FC236}">
                <a16:creationId xmlns:a16="http://schemas.microsoft.com/office/drawing/2014/main" id="{9FD228C3-901F-6BE6-0AFD-0C2344252D38}"/>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66F1415B-703E-04D6-A1D4-AE9FEF8CC80C}"/>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AB0A734A-86EB-4443-320E-76E44D47659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70B98DA6-2B6C-2C26-6C60-4A507B70DE4B}"/>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9" name="Straight Arrow Connector 18">
            <a:extLst>
              <a:ext uri="{FF2B5EF4-FFF2-40B4-BE49-F238E27FC236}">
                <a16:creationId xmlns:a16="http://schemas.microsoft.com/office/drawing/2014/main" id="{65A55EA3-413F-6DBE-1BCF-B44A3C505D59}"/>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8FBD071-1256-0286-E7C4-60EC9A63D112}"/>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9" name="Rectangle 8">
            <a:extLst>
              <a:ext uri="{FF2B5EF4-FFF2-40B4-BE49-F238E27FC236}">
                <a16:creationId xmlns:a16="http://schemas.microsoft.com/office/drawing/2014/main" id="{E5716B78-4442-5C21-8571-4361608E6736}"/>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0" name="Rectangle 9">
            <a:extLst>
              <a:ext uri="{FF2B5EF4-FFF2-40B4-BE49-F238E27FC236}">
                <a16:creationId xmlns:a16="http://schemas.microsoft.com/office/drawing/2014/main" id="{6C2ECC21-855D-5D3B-D48C-133F45E63E7A}"/>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1" name="Rectangle 10">
            <a:extLst>
              <a:ext uri="{FF2B5EF4-FFF2-40B4-BE49-F238E27FC236}">
                <a16:creationId xmlns:a16="http://schemas.microsoft.com/office/drawing/2014/main" id="{DCB43E81-067B-57CD-3AE3-78002854F4D1}"/>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8" name="UpSlide SubSection Marker" hidden="1">
            <a:extLst>
              <a:ext uri="{FF2B5EF4-FFF2-40B4-BE49-F238E27FC236}">
                <a16:creationId xmlns:a16="http://schemas.microsoft.com/office/drawing/2014/main" id="{6D93FB3D-4DDF-E55D-AD2A-CC9797A73E75}"/>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Net debt</a:t>
            </a:r>
          </a:p>
        </p:txBody>
      </p:sp>
      <p:grpSp>
        <p:nvGrpSpPr>
          <p:cNvPr id="77" name="Group 76">
            <a:extLst>
              <a:ext uri="{FF2B5EF4-FFF2-40B4-BE49-F238E27FC236}">
                <a16:creationId xmlns:a16="http://schemas.microsoft.com/office/drawing/2014/main" id="{CE65BD84-B31F-4942-E487-D3BE47255EC7}"/>
              </a:ext>
            </a:extLst>
          </p:cNvPr>
          <p:cNvGrpSpPr/>
          <p:nvPr>
            <p:custDataLst>
              <p:tags r:id="rId4"/>
            </p:custDataLst>
          </p:nvPr>
        </p:nvGrpSpPr>
        <p:grpSpPr>
          <a:xfrm>
            <a:off x="995364" y="153170"/>
            <a:ext cx="7407882" cy="195814"/>
            <a:chOff x="995364" y="153170"/>
            <a:chExt cx="7407882" cy="195814"/>
          </a:xfrm>
        </p:grpSpPr>
        <p:sp>
          <p:nvSpPr>
            <p:cNvPr id="78"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79"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80"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325196"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81" name="Current Section4">
              <a:hlinkClick r:id="rId13" action="ppaction://hlinksldjump"/>
              <a:extLst>
                <a:ext uri="{FF2B5EF4-FFF2-40B4-BE49-F238E27FC236}">
                  <a16:creationId xmlns:a16="http://schemas.microsoft.com/office/drawing/2014/main" id="{89A61135-1F00-E77F-7C78-5FBA241A5742}"/>
                </a:ext>
              </a:extLst>
            </p:cNvPr>
            <p:cNvSpPr>
              <a:spLocks/>
            </p:cNvSpPr>
            <p:nvPr/>
          </p:nvSpPr>
          <p:spPr>
            <a:xfrm>
              <a:off x="477384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82"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613351"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83"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771442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
        <p:nvSpPr>
          <p:cNvPr id="8" name="Text Placeholder 12">
            <a:extLst>
              <a:ext uri="{FF2B5EF4-FFF2-40B4-BE49-F238E27FC236}">
                <a16:creationId xmlns:a16="http://schemas.microsoft.com/office/drawing/2014/main" id="{CBAF751F-AC70-D2DF-DBF2-F7E876D49E82}"/>
              </a:ext>
            </a:extLst>
          </p:cNvPr>
          <p:cNvSpPr txBox="1">
            <a:spLocks/>
          </p:cNvSpPr>
          <p:nvPr/>
        </p:nvSpPr>
        <p:spPr>
          <a:xfrm>
            <a:off x="987206" y="5878041"/>
            <a:ext cx="3372523"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Source: 	2.2.2.4_20250515 Project Vortex - Locked box memo.xlsx; 2.2.2.5_20250515 Project 	Vortex - Databook - Balance Sheet.xlsb; KPMG analysis.</a:t>
            </a:r>
          </a:p>
        </p:txBody>
      </p:sp>
      <p:pic>
        <p:nvPicPr>
          <p:cNvPr id="15" name="Picture 14">
            <a:extLst>
              <a:ext uri="{FF2B5EF4-FFF2-40B4-BE49-F238E27FC236}">
                <a16:creationId xmlns:a16="http://schemas.microsoft.com/office/drawing/2014/main" id="{B15AEB4D-7051-0AA6-53AD-762AEEEDA2A1}"/>
              </a:ext>
            </a:extLst>
          </p:cNvPr>
          <p:cNvPicPr>
            <a:picLocks noChangeAspect="1"/>
          </p:cNvPicPr>
          <p:nvPr>
            <p:custDataLst>
              <p:tags r:id="rId5"/>
            </p:custDataLst>
          </p:nvPr>
        </p:nvPicPr>
        <p:blipFill>
          <a:blip r:embed="rId16"/>
          <a:stretch>
            <a:fillRect/>
          </a:stretch>
        </p:blipFill>
        <p:spPr>
          <a:xfrm>
            <a:off x="987206" y="1742059"/>
            <a:ext cx="3360420" cy="2871787"/>
          </a:xfrm>
          <a:prstGeom prst="rect">
            <a:avLst/>
          </a:prstGeom>
        </p:spPr>
      </p:pic>
    </p:spTree>
    <p:extLst>
      <p:ext uri="{BB962C8B-B14F-4D97-AF65-F5344CB8AC3E}">
        <p14:creationId xmlns:p14="http://schemas.microsoft.com/office/powerpoint/2010/main" val="3328219320"/>
      </p:ext>
    </p:extLst>
  </p:cSld>
  <p:clrMapOvr>
    <a:masterClrMapping/>
  </p:clrMapOvr>
  <p:extLst>
    <p:ext uri="{6950BFC3-D8DA-4A85-94F7-54DA5524770B}">
      <p188:commentRel xmlns:p188="http://schemas.microsoft.com/office/powerpoint/2018/8/main" r:id="rId7"/>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13" name="Text Placeholder 12">
            <a:extLst>
              <a:ext uri="{FF2B5EF4-FFF2-40B4-BE49-F238E27FC236}">
                <a16:creationId xmlns:a16="http://schemas.microsoft.com/office/drawing/2014/main" id="{D225D19F-91F7-BB50-9A4C-C551C3D5129A}"/>
              </a:ext>
            </a:extLst>
          </p:cNvPr>
          <p:cNvSpPr>
            <a:spLocks noGrp="1"/>
          </p:cNvSpPr>
          <p:nvPr>
            <p:ph type="body" sz="quarter" idx="10"/>
          </p:nvPr>
        </p:nvSpPr>
        <p:spPr>
          <a:xfrm>
            <a:off x="995362" y="1179513"/>
            <a:ext cx="10195200" cy="460800"/>
          </a:xfrm>
        </p:spPr>
        <p:txBody>
          <a:bodyPr/>
          <a:lstStyle/>
          <a:p>
            <a:r>
              <a:rPr lang="fi-FI">
                <a:solidFill>
                  <a:srgbClr val="00338D"/>
                </a:solidFill>
              </a:rPr>
              <a:t>Additional debt items identified over the course of our diligence are treated outside of the Locked Box in the latest draft SPA, including payments related to phantom shares (n.q.), the Oakley earnout ($(15.6) million) and the Fastcase earnout ($(10.0) million). We understand these are excluded from adjusted net debt but will be settled out of proceeds from the transaction.</a:t>
            </a:r>
          </a:p>
        </p:txBody>
      </p:sp>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a:lstStyle/>
          <a:p>
            <a:r>
              <a:rPr lang="en-US"/>
              <a:t>Net debt (4/4)</a:t>
            </a:r>
          </a:p>
        </p:txBody>
      </p:sp>
      <p:sp>
        <p:nvSpPr>
          <p:cNvPr id="14" name="Text Placeholder 13">
            <a:extLst>
              <a:ext uri="{FF2B5EF4-FFF2-40B4-BE49-F238E27FC236}">
                <a16:creationId xmlns:a16="http://schemas.microsoft.com/office/drawing/2014/main" id="{99CD2D5C-07E0-983D-981C-61F6C7A38A23}"/>
              </a:ext>
            </a:extLst>
          </p:cNvPr>
          <p:cNvSpPr>
            <a:spLocks noGrp="1"/>
          </p:cNvSpPr>
          <p:nvPr>
            <p:ph type="body" sz="quarter" idx="11"/>
          </p:nvPr>
        </p:nvSpPr>
        <p:spPr/>
        <p:txBody>
          <a:bodyPr/>
          <a:lstStyle/>
          <a:p>
            <a:r>
              <a:rPr lang="fi-FI"/>
              <a:t>Commentary</a:t>
            </a:r>
          </a:p>
        </p:txBody>
      </p:sp>
      <p:sp>
        <p:nvSpPr>
          <p:cNvPr id="7" name="Text Placeholder 6">
            <a:extLst>
              <a:ext uri="{FF2B5EF4-FFF2-40B4-BE49-F238E27FC236}">
                <a16:creationId xmlns:a16="http://schemas.microsoft.com/office/drawing/2014/main" id="{863116BA-8BAE-48BD-8189-4BDC91B115C9}"/>
              </a:ext>
            </a:extLst>
          </p:cNvPr>
          <p:cNvSpPr>
            <a:spLocks noGrp="1"/>
          </p:cNvSpPr>
          <p:nvPr>
            <p:ph type="body" sz="quarter" idx="26"/>
          </p:nvPr>
        </p:nvSpPr>
        <p:spPr/>
        <p:txBody>
          <a:bodyPr/>
          <a:lstStyle/>
          <a:p>
            <a:pPr lvl="1" defTabSz="914377">
              <a:defRPr/>
            </a:pPr>
            <a:r>
              <a:rPr lang="en-US" b="1">
                <a:solidFill>
                  <a:schemeClr val="tx2"/>
                </a:solidFill>
              </a:rPr>
              <a:t>Other items settled out of proceeds </a:t>
            </a:r>
          </a:p>
          <a:p>
            <a:pPr marL="228600" lvl="1" indent="-228600" defTabSz="914377">
              <a:buFont typeface="Arial" panose="020B0604020202020204" pitchFamily="34" charset="0"/>
              <a:buChar char="•"/>
              <a:defRPr/>
            </a:pPr>
            <a:r>
              <a:rPr lang="en-US" b="1"/>
              <a:t>Phantom shares: </a:t>
            </a:r>
            <a:r>
              <a:rPr lang="en-US"/>
              <a:t>Certain Vortex employees were granted phantom shares as additional remuneration. We understand the cost of settling these liabilities will be paid by the sellers out of the proceeds from this transaction, as shares are transferred and liquidated.</a:t>
            </a:r>
          </a:p>
          <a:p>
            <a:pPr marL="228600" lvl="1" indent="-228600" defTabSz="914377">
              <a:buFont typeface="Arial" panose="020B0604020202020204" pitchFamily="34" charset="0"/>
              <a:buChar char="•"/>
              <a:defRPr/>
            </a:pPr>
            <a:r>
              <a:rPr lang="en-US" b="1"/>
              <a:t>2</a:t>
            </a:r>
            <a:r>
              <a:rPr lang="en-US" b="1" baseline="30000"/>
              <a:t>nd</a:t>
            </a:r>
            <a:r>
              <a:rPr lang="en-US" b="1"/>
              <a:t> Oakley earnout: </a:t>
            </a:r>
            <a:r>
              <a:rPr lang="en-US"/>
              <a:t>As a result of the Oakley's investment in the Group, an earnout was agreed, including a potential cash outflow of €(15.0) million at exit. We understand this amount will be settled by the sellers out of proceeds.</a:t>
            </a:r>
          </a:p>
          <a:p>
            <a:pPr marL="228600" lvl="1" indent="-228600" defTabSz="914377">
              <a:buFont typeface="Arial" panose="020B0604020202020204" pitchFamily="34" charset="0"/>
              <a:buChar char="•"/>
              <a:defRPr/>
            </a:pPr>
            <a:r>
              <a:rPr lang="en-US" b="1"/>
              <a:t>Fastcase earnout: </a:t>
            </a:r>
            <a:r>
              <a:rPr lang="en-US"/>
              <a:t>An earnout related to the previous acquisition of Fastcase is payable for $(10.0) million. This amount will be settled by the sellers out of proceeds of this transaction,</a:t>
            </a:r>
            <a:endParaRPr lang="en-US" b="1"/>
          </a:p>
          <a:p>
            <a:pPr lvl="1" defTabSz="914377">
              <a:defRPr/>
            </a:pPr>
            <a:endParaRPr lang="en-US" b="1">
              <a:solidFill>
                <a:schemeClr val="tx2"/>
              </a:solidFill>
            </a:endParaRPr>
          </a:p>
          <a:p>
            <a:pPr lvl="1" defTabSz="914377">
              <a:defRPr/>
            </a:pPr>
            <a:endParaRPr lang="en-US"/>
          </a:p>
        </p:txBody>
      </p:sp>
      <p:sp>
        <p:nvSpPr>
          <p:cNvPr id="93" name="Rectangle 92">
            <a:extLst>
              <a:ext uri="{FF2B5EF4-FFF2-40B4-BE49-F238E27FC236}">
                <a16:creationId xmlns:a16="http://schemas.microsoft.com/office/drawing/2014/main" id="{3CE9AAAA-BDE2-42F8-9AD3-3656F54FC814}"/>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4766F920-DE38-4871-9952-5D564E322DA1}"/>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8" name="Rectangle 97">
            <a:extLst>
              <a:ext uri="{FF2B5EF4-FFF2-40B4-BE49-F238E27FC236}">
                <a16:creationId xmlns:a16="http://schemas.microsoft.com/office/drawing/2014/main" id="{0B3589B6-C15F-415C-8595-25AB809A2BF1}"/>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9" name="Rectangle 98">
            <a:extLst>
              <a:ext uri="{FF2B5EF4-FFF2-40B4-BE49-F238E27FC236}">
                <a16:creationId xmlns:a16="http://schemas.microsoft.com/office/drawing/2014/main" id="{79C36FDB-DCEE-4507-A088-75A38B3B84DA}"/>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00" name="Rectangle 99">
            <a:extLst>
              <a:ext uri="{FF2B5EF4-FFF2-40B4-BE49-F238E27FC236}">
                <a16:creationId xmlns:a16="http://schemas.microsoft.com/office/drawing/2014/main" id="{1230C354-3790-478D-918B-AF85B68C49FA}"/>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2" name="Text Placeholder 7">
            <a:extLst>
              <a:ext uri="{FF2B5EF4-FFF2-40B4-BE49-F238E27FC236}">
                <a16:creationId xmlns:a16="http://schemas.microsoft.com/office/drawing/2014/main" id="{9FD228C3-901F-6BE6-0AFD-0C2344252D38}"/>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66F1415B-703E-04D6-A1D4-AE9FEF8CC80C}"/>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AB0A734A-86EB-4443-320E-76E44D47659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70B98DA6-2B6C-2C26-6C60-4A507B70DE4B}"/>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9" name="Straight Arrow Connector 18">
            <a:extLst>
              <a:ext uri="{FF2B5EF4-FFF2-40B4-BE49-F238E27FC236}">
                <a16:creationId xmlns:a16="http://schemas.microsoft.com/office/drawing/2014/main" id="{65A55EA3-413F-6DBE-1BCF-B44A3C505D59}"/>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8FBD071-1256-0286-E7C4-60EC9A63D112}"/>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9" name="Rectangle 8">
            <a:extLst>
              <a:ext uri="{FF2B5EF4-FFF2-40B4-BE49-F238E27FC236}">
                <a16:creationId xmlns:a16="http://schemas.microsoft.com/office/drawing/2014/main" id="{E5716B78-4442-5C21-8571-4361608E6736}"/>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0" name="Rectangle 9">
            <a:extLst>
              <a:ext uri="{FF2B5EF4-FFF2-40B4-BE49-F238E27FC236}">
                <a16:creationId xmlns:a16="http://schemas.microsoft.com/office/drawing/2014/main" id="{6C2ECC21-855D-5D3B-D48C-133F45E63E7A}"/>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1" name="Rectangle 10">
            <a:extLst>
              <a:ext uri="{FF2B5EF4-FFF2-40B4-BE49-F238E27FC236}">
                <a16:creationId xmlns:a16="http://schemas.microsoft.com/office/drawing/2014/main" id="{DCB43E81-067B-57CD-3AE3-78002854F4D1}"/>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8" name="UpSlide SubSection Marker" hidden="1">
            <a:extLst>
              <a:ext uri="{FF2B5EF4-FFF2-40B4-BE49-F238E27FC236}">
                <a16:creationId xmlns:a16="http://schemas.microsoft.com/office/drawing/2014/main" id="{6D93FB3D-4DDF-E55D-AD2A-CC9797A73E75}"/>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Net debt</a:t>
            </a:r>
          </a:p>
        </p:txBody>
      </p:sp>
      <p:grpSp>
        <p:nvGrpSpPr>
          <p:cNvPr id="77" name="Group 76">
            <a:extLst>
              <a:ext uri="{FF2B5EF4-FFF2-40B4-BE49-F238E27FC236}">
                <a16:creationId xmlns:a16="http://schemas.microsoft.com/office/drawing/2014/main" id="{CE65BD84-B31F-4942-E487-D3BE47255EC7}"/>
              </a:ext>
            </a:extLst>
          </p:cNvPr>
          <p:cNvGrpSpPr/>
          <p:nvPr>
            <p:custDataLst>
              <p:tags r:id="rId4"/>
            </p:custDataLst>
          </p:nvPr>
        </p:nvGrpSpPr>
        <p:grpSpPr>
          <a:xfrm>
            <a:off x="995364" y="153170"/>
            <a:ext cx="7407882" cy="195814"/>
            <a:chOff x="995364" y="153170"/>
            <a:chExt cx="7407882" cy="195814"/>
          </a:xfrm>
        </p:grpSpPr>
        <p:sp>
          <p:nvSpPr>
            <p:cNvPr id="78"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79" name="Other Sections2">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80"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325196"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81" name="Current Section4">
              <a:hlinkClick r:id="rId12" action="ppaction://hlinksldjump"/>
              <a:extLst>
                <a:ext uri="{FF2B5EF4-FFF2-40B4-BE49-F238E27FC236}">
                  <a16:creationId xmlns:a16="http://schemas.microsoft.com/office/drawing/2014/main" id="{89A61135-1F00-E77F-7C78-5FBA241A5742}"/>
                </a:ext>
              </a:extLst>
            </p:cNvPr>
            <p:cNvSpPr>
              <a:spLocks/>
            </p:cNvSpPr>
            <p:nvPr/>
          </p:nvSpPr>
          <p:spPr>
            <a:xfrm>
              <a:off x="477384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82"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613351"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83"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771442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pic>
        <p:nvPicPr>
          <p:cNvPr id="12" name="Picture 11">
            <a:extLst>
              <a:ext uri="{FF2B5EF4-FFF2-40B4-BE49-F238E27FC236}">
                <a16:creationId xmlns:a16="http://schemas.microsoft.com/office/drawing/2014/main" id="{7BEE03C6-0B7D-C129-1945-768C127FAE8F}"/>
              </a:ext>
            </a:extLst>
          </p:cNvPr>
          <p:cNvPicPr>
            <a:picLocks noChangeAspect="1"/>
          </p:cNvPicPr>
          <p:nvPr>
            <p:custDataLst>
              <p:tags r:id="rId5"/>
            </p:custDataLst>
          </p:nvPr>
        </p:nvPicPr>
        <p:blipFill>
          <a:blip r:embed="rId15"/>
          <a:stretch>
            <a:fillRect/>
          </a:stretch>
        </p:blipFill>
        <p:spPr>
          <a:xfrm>
            <a:off x="987206" y="1742059"/>
            <a:ext cx="3360420" cy="2871787"/>
          </a:xfrm>
          <a:prstGeom prst="rect">
            <a:avLst/>
          </a:prstGeom>
        </p:spPr>
      </p:pic>
      <p:sp>
        <p:nvSpPr>
          <p:cNvPr id="15" name="Text Placeholder 12">
            <a:extLst>
              <a:ext uri="{FF2B5EF4-FFF2-40B4-BE49-F238E27FC236}">
                <a16:creationId xmlns:a16="http://schemas.microsoft.com/office/drawing/2014/main" id="{A6FDFB85-6F63-4B08-9F29-DFADEBB80441}"/>
              </a:ext>
            </a:extLst>
          </p:cNvPr>
          <p:cNvSpPr txBox="1">
            <a:spLocks/>
          </p:cNvSpPr>
          <p:nvPr/>
        </p:nvSpPr>
        <p:spPr>
          <a:xfrm>
            <a:off x="987206" y="5878041"/>
            <a:ext cx="3372523"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Source: 	2.2.2.4_20250515 Project Vortex - Locked box memo.xlsx; 2.2.2.5_20250515 Project 	Vortex - Databook - Balance Sheet.xlsb; KPMG analysis.</a:t>
            </a:r>
          </a:p>
        </p:txBody>
      </p:sp>
    </p:spTree>
    <p:extLst>
      <p:ext uri="{BB962C8B-B14F-4D97-AF65-F5344CB8AC3E}">
        <p14:creationId xmlns:p14="http://schemas.microsoft.com/office/powerpoint/2010/main" val="41867525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Box 35">
            <a:hlinkClick r:id="rId12" action="ppaction://hlinksldjump"/>
            <a:extLst>
              <a:ext uri="{FF2B5EF4-FFF2-40B4-BE49-F238E27FC236}">
                <a16:creationId xmlns:a16="http://schemas.microsoft.com/office/drawing/2014/main" id="{C880CA8B-7D51-6207-B3D5-A403F0137862}"/>
              </a:ext>
            </a:extLst>
          </p:cNvPr>
          <p:cNvSpPr txBox="1"/>
          <p:nvPr>
            <p:custDataLst>
              <p:tags r:id="rId2"/>
            </p:custDataLst>
          </p:nvPr>
        </p:nvSpPr>
        <p:spPr>
          <a:xfrm>
            <a:off x="1289860" y="3566606"/>
            <a:ext cx="4873752" cy="0"/>
          </a:xfrm>
          <a:prstGeom prst="rect">
            <a:avLst/>
          </a:prstGeom>
          <a:noFill/>
        </p:spPr>
        <p:txBody>
          <a:bodyPr vert="horz" wrap="square" lIns="0" tIns="0" rIns="0" bIns="2286000" rtlCol="0">
            <a:noAutofit/>
          </a:bodyPr>
          <a:lstStyle/>
          <a:p>
            <a:pPr algn="l">
              <a:lnSpc>
                <a:spcPct val="70000"/>
              </a:lnSpc>
            </a:pPr>
            <a:r>
              <a:rPr lang="en-US" sz="6600">
                <a:solidFill>
                  <a:srgbClr val="FFFFFF"/>
                </a:solidFill>
                <a:latin typeface="+mj-lt"/>
              </a:rPr>
              <a:t>Financial reporting &amp; GAAP considerations</a:t>
            </a:r>
          </a:p>
        </p:txBody>
      </p:sp>
      <p:sp>
        <p:nvSpPr>
          <p:cNvPr id="37" name="TextBox 36">
            <a:hlinkClick r:id="rId13" action="ppaction://hlinksldjump"/>
            <a:extLst>
              <a:ext uri="{FF2B5EF4-FFF2-40B4-BE49-F238E27FC236}">
                <a16:creationId xmlns:a16="http://schemas.microsoft.com/office/drawing/2014/main" id="{1910E4EC-6431-FBBB-DED5-B43C66CA5F02}"/>
              </a:ext>
            </a:extLst>
          </p:cNvPr>
          <p:cNvSpPr txBox="1"/>
          <p:nvPr>
            <p:custDataLst>
              <p:tags r:id="rId3"/>
            </p:custDataLst>
          </p:nvPr>
        </p:nvSpPr>
        <p:spPr>
          <a:xfrm>
            <a:off x="1714809" y="4573970"/>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Financial reporting environment</a:t>
            </a:r>
          </a:p>
        </p:txBody>
      </p:sp>
      <p:sp>
        <p:nvSpPr>
          <p:cNvPr id="38" name="TextBox 37">
            <a:hlinkClick r:id="rId14" action="ppaction://hlinksldjump"/>
            <a:extLst>
              <a:ext uri="{FF2B5EF4-FFF2-40B4-BE49-F238E27FC236}">
                <a16:creationId xmlns:a16="http://schemas.microsoft.com/office/drawing/2014/main" id="{0AB3D0D5-555D-F2A0-24BE-28786A0E6D2F}"/>
              </a:ext>
            </a:extLst>
          </p:cNvPr>
          <p:cNvSpPr txBox="1"/>
          <p:nvPr>
            <p:custDataLst>
              <p:tags r:id="rId4"/>
            </p:custDataLst>
          </p:nvPr>
        </p:nvSpPr>
        <p:spPr>
          <a:xfrm>
            <a:off x="1714809" y="4968686"/>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GAAP differences</a:t>
            </a:r>
          </a:p>
        </p:txBody>
      </p:sp>
      <p:sp>
        <p:nvSpPr>
          <p:cNvPr id="39" name="TextBox 38">
            <a:hlinkClick r:id="rId12" action="ppaction://hlinksldjump"/>
            <a:extLst>
              <a:ext uri="{FF2B5EF4-FFF2-40B4-BE49-F238E27FC236}">
                <a16:creationId xmlns:a16="http://schemas.microsoft.com/office/drawing/2014/main" id="{C300F568-A7D9-EA52-E810-54D98A6D0474}"/>
              </a:ext>
            </a:extLst>
          </p:cNvPr>
          <p:cNvSpPr txBox="1"/>
          <p:nvPr>
            <p:custDataLst>
              <p:tags r:id="rId5"/>
            </p:custDataLst>
          </p:nvPr>
        </p:nvSpPr>
        <p:spPr>
          <a:xfrm>
            <a:off x="1289304" y="3566606"/>
            <a:ext cx="3952700" cy="0"/>
          </a:xfrm>
          <a:prstGeom prst="rect">
            <a:avLst/>
          </a:prstGeom>
        </p:spPr>
        <p:txBody>
          <a:bodyPr vert="horz" wrap="none" lIns="0" tIns="0" rIns="0" bIns="4389120" rtlCol="0" anchor="t" anchorCtr="0">
            <a:noAutofit/>
          </a:bodyPr>
          <a:lstStyle/>
          <a:p>
            <a:pPr algn="l">
              <a:lnSpc>
                <a:spcPct val="80000"/>
              </a:lnSpc>
              <a:spcAft>
                <a:spcPts val="600"/>
              </a:spcAft>
            </a:pPr>
            <a:r>
              <a:rPr lang="en-US" sz="6600" b="1">
                <a:solidFill>
                  <a:srgbClr val="FFFFFF"/>
                </a:solidFill>
                <a:latin typeface="+mj-lt"/>
              </a:rPr>
              <a:t>05</a:t>
            </a:r>
          </a:p>
        </p:txBody>
      </p:sp>
      <p:sp>
        <p:nvSpPr>
          <p:cNvPr id="40" name="TextBox 39">
            <a:hlinkClick r:id="rId12" action="ppaction://hlinksldjump"/>
            <a:extLst>
              <a:ext uri="{FF2B5EF4-FFF2-40B4-BE49-F238E27FC236}">
                <a16:creationId xmlns:a16="http://schemas.microsoft.com/office/drawing/2014/main" id="{F31174BB-D6EF-927A-57B1-742FD4044898}"/>
              </a:ext>
            </a:extLst>
          </p:cNvPr>
          <p:cNvSpPr txBox="1"/>
          <p:nvPr>
            <p:custDataLst>
              <p:tags r:id="rId6"/>
            </p:custDataLst>
          </p:nvPr>
        </p:nvSpPr>
        <p:spPr>
          <a:xfrm>
            <a:off x="6163612" y="3209990"/>
            <a:ext cx="0" cy="356616"/>
          </a:xfrm>
          <a:prstGeom prst="rect">
            <a:avLst/>
          </a:prstGeom>
          <a:noFill/>
          <a:ln>
            <a:noFill/>
          </a:ln>
        </p:spPr>
        <p:txBody>
          <a:bodyPr vert="horz" wrap="none" lIns="0" tIns="0" rIns="0" bIns="0" rtlCol="0" anchor="t" anchorCtr="0">
            <a:noAutofit/>
          </a:bodyPr>
          <a:lstStyle/>
          <a:p>
            <a:pPr algn="ctr"/>
            <a:r>
              <a:rPr lang="en-US" sz="100">
                <a:ln>
                  <a:noFill/>
                </a:ln>
                <a:noFill/>
                <a:latin typeface="+mj-lt"/>
              </a:rPr>
              <a:t>41</a:t>
            </a:r>
          </a:p>
        </p:txBody>
      </p:sp>
      <p:sp>
        <p:nvSpPr>
          <p:cNvPr id="41" name="TextBox 40">
            <a:hlinkClick r:id="rId13" action="ppaction://hlinksldjump"/>
            <a:extLst>
              <a:ext uri="{FF2B5EF4-FFF2-40B4-BE49-F238E27FC236}">
                <a16:creationId xmlns:a16="http://schemas.microsoft.com/office/drawing/2014/main" id="{0CE2C2B9-5683-89A1-2F52-80623B5FD428}"/>
              </a:ext>
            </a:extLst>
          </p:cNvPr>
          <p:cNvSpPr txBox="1"/>
          <p:nvPr>
            <p:custDataLst>
              <p:tags r:id="rId7"/>
            </p:custDataLst>
          </p:nvPr>
        </p:nvSpPr>
        <p:spPr bwMode="auto">
          <a:xfrm>
            <a:off x="1332373" y="4573970"/>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5.1</a:t>
            </a:r>
          </a:p>
        </p:txBody>
      </p:sp>
      <p:sp>
        <p:nvSpPr>
          <p:cNvPr id="42" name="TextBox 41">
            <a:hlinkClick r:id="rId14" action="ppaction://hlinksldjump"/>
            <a:extLst>
              <a:ext uri="{FF2B5EF4-FFF2-40B4-BE49-F238E27FC236}">
                <a16:creationId xmlns:a16="http://schemas.microsoft.com/office/drawing/2014/main" id="{0C578D5D-20FE-BF90-B828-1E6309352AD4}"/>
              </a:ext>
            </a:extLst>
          </p:cNvPr>
          <p:cNvSpPr txBox="1"/>
          <p:nvPr>
            <p:custDataLst>
              <p:tags r:id="rId8"/>
            </p:custDataLst>
          </p:nvPr>
        </p:nvSpPr>
        <p:spPr bwMode="auto">
          <a:xfrm>
            <a:off x="1332373" y="4968686"/>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5.2</a:t>
            </a:r>
          </a:p>
        </p:txBody>
      </p:sp>
      <p:sp>
        <p:nvSpPr>
          <p:cNvPr id="43" name="TextBox 42">
            <a:hlinkClick r:id="rId13" action="ppaction://hlinksldjump"/>
            <a:extLst>
              <a:ext uri="{FF2B5EF4-FFF2-40B4-BE49-F238E27FC236}">
                <a16:creationId xmlns:a16="http://schemas.microsoft.com/office/drawing/2014/main" id="{C73F2E91-CD17-9978-B99D-0ADFDD4009FC}"/>
              </a:ext>
            </a:extLst>
          </p:cNvPr>
          <p:cNvSpPr txBox="1"/>
          <p:nvPr>
            <p:custDataLst>
              <p:tags r:id="rId9"/>
            </p:custDataLst>
          </p:nvPr>
        </p:nvSpPr>
        <p:spPr>
          <a:xfrm>
            <a:off x="6163612" y="4573970"/>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42</a:t>
            </a:r>
          </a:p>
        </p:txBody>
      </p:sp>
      <p:sp>
        <p:nvSpPr>
          <p:cNvPr id="44" name="TextBox 43">
            <a:hlinkClick r:id="rId14" action="ppaction://hlinksldjump"/>
            <a:extLst>
              <a:ext uri="{FF2B5EF4-FFF2-40B4-BE49-F238E27FC236}">
                <a16:creationId xmlns:a16="http://schemas.microsoft.com/office/drawing/2014/main" id="{79AA1F6E-079C-E5AA-6B96-1C3C937F6878}"/>
              </a:ext>
            </a:extLst>
          </p:cNvPr>
          <p:cNvSpPr txBox="1"/>
          <p:nvPr>
            <p:custDataLst>
              <p:tags r:id="rId10"/>
            </p:custDataLst>
          </p:nvPr>
        </p:nvSpPr>
        <p:spPr>
          <a:xfrm>
            <a:off x="6163612" y="4968686"/>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43</a:t>
            </a:r>
          </a:p>
        </p:txBody>
      </p:sp>
    </p:spTree>
    <p:custDataLst>
      <p:tags r:id="rId1"/>
    </p:custDataLst>
    <p:extLst>
      <p:ext uri="{BB962C8B-B14F-4D97-AF65-F5344CB8AC3E}">
        <p14:creationId xmlns:p14="http://schemas.microsoft.com/office/powerpoint/2010/main" val="33789604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Object 21" hidden="1">
            <a:extLst>
              <a:ext uri="{FF2B5EF4-FFF2-40B4-BE49-F238E27FC236}">
                <a16:creationId xmlns:a16="http://schemas.microsoft.com/office/drawing/2014/main" id="{4C530F15-B193-4930-B36B-D0B201536DD7}"/>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22" name="Object 21" hidden="1">
                        <a:extLst>
                          <a:ext uri="{FF2B5EF4-FFF2-40B4-BE49-F238E27FC236}">
                            <a16:creationId xmlns:a16="http://schemas.microsoft.com/office/drawing/2014/main" id="{4C530F15-B193-4930-B36B-D0B201536DD7}"/>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19" name="Title 18">
            <a:extLst>
              <a:ext uri="{FF2B5EF4-FFF2-40B4-BE49-F238E27FC236}">
                <a16:creationId xmlns:a16="http://schemas.microsoft.com/office/drawing/2014/main" id="{B09E146A-A632-4F87-8843-C427A4E2F63E}"/>
              </a:ext>
            </a:extLst>
          </p:cNvPr>
          <p:cNvSpPr>
            <a:spLocks noGrp="1"/>
          </p:cNvSpPr>
          <p:nvPr>
            <p:ph type="title"/>
          </p:nvPr>
        </p:nvSpPr>
        <p:spPr/>
        <p:txBody>
          <a:bodyPr vert="horz"/>
          <a:lstStyle/>
          <a:p>
            <a:r>
              <a:rPr lang="en-US"/>
              <a:t>Financial reporting environment</a:t>
            </a:r>
          </a:p>
        </p:txBody>
      </p:sp>
      <p:sp>
        <p:nvSpPr>
          <p:cNvPr id="2" name="Text Placeholder 1">
            <a:extLst>
              <a:ext uri="{FF2B5EF4-FFF2-40B4-BE49-F238E27FC236}">
                <a16:creationId xmlns:a16="http://schemas.microsoft.com/office/drawing/2014/main" id="{578C05C5-A3F9-43F8-9E82-D209F52AF3DD}"/>
              </a:ext>
            </a:extLst>
          </p:cNvPr>
          <p:cNvSpPr>
            <a:spLocks noGrp="1"/>
          </p:cNvSpPr>
          <p:nvPr>
            <p:ph type="body" sz="quarter" idx="10"/>
          </p:nvPr>
        </p:nvSpPr>
        <p:spPr/>
        <p:txBody>
          <a:bodyPr/>
          <a:lstStyle/>
          <a:p>
            <a:r>
              <a:rPr lang="en-US">
                <a:solidFill>
                  <a:srgbClr val="00338D"/>
                </a:solidFill>
              </a:rPr>
              <a:t>The information on this page is based on responses from the sell side diligence providers (A&amp;M). We have not performed any testing of systems or controls, and have not performed an audit or review of any financial information.</a:t>
            </a:r>
          </a:p>
        </p:txBody>
      </p:sp>
      <p:sp>
        <p:nvSpPr>
          <p:cNvPr id="47" name="Rectangle 46">
            <a:extLst>
              <a:ext uri="{FF2B5EF4-FFF2-40B4-BE49-F238E27FC236}">
                <a16:creationId xmlns:a16="http://schemas.microsoft.com/office/drawing/2014/main" id="{A1032105-1B78-46B4-BF01-C141FD8D2916}"/>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54" name="Rectangle 53">
            <a:extLst>
              <a:ext uri="{FF2B5EF4-FFF2-40B4-BE49-F238E27FC236}">
                <a16:creationId xmlns:a16="http://schemas.microsoft.com/office/drawing/2014/main" id="{B33AE0E7-8947-42DB-BA0C-31D7230D76B5}"/>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58" name="Rectangle 57">
            <a:extLst>
              <a:ext uri="{FF2B5EF4-FFF2-40B4-BE49-F238E27FC236}">
                <a16:creationId xmlns:a16="http://schemas.microsoft.com/office/drawing/2014/main" id="{AA577B49-FD5B-44AE-B479-9D46A3AB64B7}"/>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59" name="Rectangle 58">
            <a:extLst>
              <a:ext uri="{FF2B5EF4-FFF2-40B4-BE49-F238E27FC236}">
                <a16:creationId xmlns:a16="http://schemas.microsoft.com/office/drawing/2014/main" id="{E50BAE62-72ED-482B-90B7-395AAC54079C}"/>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60" name="Rectangle 59">
            <a:extLst>
              <a:ext uri="{FF2B5EF4-FFF2-40B4-BE49-F238E27FC236}">
                <a16:creationId xmlns:a16="http://schemas.microsoft.com/office/drawing/2014/main" id="{D405B1C2-2FF2-413A-AA0B-06FE77AA8C84}"/>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6" name="Text Placeholder 7">
            <a:extLst>
              <a:ext uri="{FF2B5EF4-FFF2-40B4-BE49-F238E27FC236}">
                <a16:creationId xmlns:a16="http://schemas.microsoft.com/office/drawing/2014/main" id="{9347D54E-E18F-4415-A582-3D3E064141CD}"/>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7" name="Text Placeholder 12">
            <a:extLst>
              <a:ext uri="{FF2B5EF4-FFF2-40B4-BE49-F238E27FC236}">
                <a16:creationId xmlns:a16="http://schemas.microsoft.com/office/drawing/2014/main" id="{D705460B-5775-C4C2-7802-EE939917B1E6}"/>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8" name="Rounded Rectangle 7">
            <a:extLst>
              <a:ext uri="{FF2B5EF4-FFF2-40B4-BE49-F238E27FC236}">
                <a16:creationId xmlns:a16="http://schemas.microsoft.com/office/drawing/2014/main" id="{D971B535-6649-B156-57F6-59CA621C5B1B}"/>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9" name="Rectangle 8">
            <a:extLst>
              <a:ext uri="{FF2B5EF4-FFF2-40B4-BE49-F238E27FC236}">
                <a16:creationId xmlns:a16="http://schemas.microsoft.com/office/drawing/2014/main" id="{A2C75C68-EF93-B0FA-9701-E1AA2B291265}"/>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0" name="Straight Arrow Connector 9">
            <a:extLst>
              <a:ext uri="{FF2B5EF4-FFF2-40B4-BE49-F238E27FC236}">
                <a16:creationId xmlns:a16="http://schemas.microsoft.com/office/drawing/2014/main" id="{7CC966DB-0715-C495-08A4-8034D9C49C92}"/>
              </a:ext>
            </a:extLst>
          </p:cNvPr>
          <p:cNvCxnSpPr>
            <a:cxnSpLocks/>
            <a:stCxn id="9" idx="2"/>
            <a:endCxn id="8"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9CCAF7A7-70ED-AE9F-EA7D-8BF63F3F821C}"/>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4" name="Rectangle 3">
            <a:extLst>
              <a:ext uri="{FF2B5EF4-FFF2-40B4-BE49-F238E27FC236}">
                <a16:creationId xmlns:a16="http://schemas.microsoft.com/office/drawing/2014/main" id="{A0F0BF8F-510C-83A8-8944-352DE566B92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2" name="Rectangle 11">
            <a:extLst>
              <a:ext uri="{FF2B5EF4-FFF2-40B4-BE49-F238E27FC236}">
                <a16:creationId xmlns:a16="http://schemas.microsoft.com/office/drawing/2014/main" id="{7180C6A8-EDDF-320A-3033-E946E2A2089D}"/>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3" name="Rectangle 12">
            <a:extLst>
              <a:ext uri="{FF2B5EF4-FFF2-40B4-BE49-F238E27FC236}">
                <a16:creationId xmlns:a16="http://schemas.microsoft.com/office/drawing/2014/main" id="{33311AA3-A0A5-AE11-3497-9516FC36FA2F}"/>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6" name="UpSlide SubSection Marker" hidden="1">
            <a:extLst>
              <a:ext uri="{FF2B5EF4-FFF2-40B4-BE49-F238E27FC236}">
                <a16:creationId xmlns:a16="http://schemas.microsoft.com/office/drawing/2014/main" id="{01A7DC40-6C99-A443-1402-25576B62D29F}"/>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Financial reporting environment</a:t>
            </a:r>
          </a:p>
        </p:txBody>
      </p:sp>
      <p:sp>
        <p:nvSpPr>
          <p:cNvPr id="45" name="Text Placeholder 25">
            <a:extLst>
              <a:ext uri="{FF2B5EF4-FFF2-40B4-BE49-F238E27FC236}">
                <a16:creationId xmlns:a16="http://schemas.microsoft.com/office/drawing/2014/main" id="{0EB1C149-E77B-1493-83D8-477448A4348C}"/>
              </a:ext>
            </a:extLst>
          </p:cNvPr>
          <p:cNvSpPr>
            <a:spLocks noGrp="1"/>
          </p:cNvSpPr>
          <p:nvPr>
            <p:ph type="body" sz="quarter" idx="23"/>
          </p:nvPr>
        </p:nvSpPr>
        <p:spPr>
          <a:xfrm>
            <a:off x="995361" y="2003585"/>
            <a:ext cx="5036400" cy="1764000"/>
          </a:xfrm>
        </p:spPr>
        <p:txBody>
          <a:bodyPr/>
          <a:lstStyle/>
          <a:p>
            <a:r>
              <a:rPr lang="en-US" b="0">
                <a:solidFill>
                  <a:schemeClr val="tx1"/>
                </a:solidFill>
              </a:rPr>
              <a:t>The financial information presented in this report is primarily based on data contained in the sell side due diligence databook prepared by A&amp;M related to the periods of FY23 and FY24. Reported financial information contained in the sell side due diligence databook was exported from monthly trial balances provided by Management.</a:t>
            </a:r>
          </a:p>
          <a:p>
            <a:r>
              <a:rPr lang="en-US" b="0">
                <a:solidFill>
                  <a:schemeClr val="tx1"/>
                </a:solidFill>
              </a:rPr>
              <a:t>A&amp;M indicated the current finance team is competent and appropriately staffed for the current scale of operations. They describe the team consisting of professionals with strong expertise in finance and knowledge of industry-specific metrics, and a balance between long tenured employees and recent Big Four hires.</a:t>
            </a:r>
          </a:p>
          <a:p>
            <a:r>
              <a:rPr lang="en-US" b="0">
                <a:solidFill>
                  <a:schemeClr val="tx1"/>
                </a:solidFill>
              </a:rPr>
              <a:t>The finance team performs a monthly close of income and expense records. Additionally, the Company conducts more comprehensive quarterly and annual closes, with a particular focus on reviewing accruals such as royalty and annual bonus accruals (refer to QoE adj# 4 and NWC adj. # 3). The finance team also perform analysis of accrued expenses and deferred cost to review matching and completeness.</a:t>
            </a:r>
          </a:p>
          <a:p>
            <a:r>
              <a:rPr lang="en-US" b="0">
                <a:solidFill>
                  <a:schemeClr val="tx1"/>
                </a:solidFill>
              </a:rPr>
              <a:t>There are three levels of group monthly financial review (Finance Manager, Director of Finance and CFO). </a:t>
            </a:r>
          </a:p>
          <a:p>
            <a:r>
              <a:rPr lang="en-US" b="0">
                <a:solidFill>
                  <a:schemeClr val="tx1"/>
                </a:solidFill>
              </a:rPr>
              <a:t>The Company uses NetSuite for financial reporting purposes and to track ARR. </a:t>
            </a:r>
          </a:p>
          <a:p>
            <a:endParaRPr lang="en-US" b="0">
              <a:solidFill>
                <a:schemeClr val="tx1"/>
              </a:solidFill>
            </a:endParaRPr>
          </a:p>
        </p:txBody>
      </p:sp>
      <p:sp>
        <p:nvSpPr>
          <p:cNvPr id="46" name="Text Placeholder 26">
            <a:extLst>
              <a:ext uri="{FF2B5EF4-FFF2-40B4-BE49-F238E27FC236}">
                <a16:creationId xmlns:a16="http://schemas.microsoft.com/office/drawing/2014/main" id="{DDC08349-3736-08DC-3B9B-0E6051DF9E5F}"/>
              </a:ext>
            </a:extLst>
          </p:cNvPr>
          <p:cNvSpPr>
            <a:spLocks noGrp="1"/>
          </p:cNvSpPr>
          <p:nvPr>
            <p:ph type="body" sz="quarter" idx="24"/>
          </p:nvPr>
        </p:nvSpPr>
        <p:spPr>
          <a:xfrm>
            <a:off x="6165629" y="2003585"/>
            <a:ext cx="5036400" cy="3387565"/>
          </a:xfrm>
        </p:spPr>
        <p:txBody>
          <a:bodyPr/>
          <a:lstStyle/>
          <a:p>
            <a:r>
              <a:rPr lang="en-US" b="0">
                <a:solidFill>
                  <a:schemeClr val="tx1"/>
                </a:solidFill>
              </a:rPr>
              <a:t>The key accounting polices applied in preparing the Company’s financial statements are set out below:</a:t>
            </a:r>
          </a:p>
          <a:p>
            <a:pPr marL="171450" indent="-171450">
              <a:buFont typeface="Arial" panose="020B0604020202020204" pitchFamily="34" charset="0"/>
              <a:buChar char="•"/>
            </a:pPr>
            <a:r>
              <a:rPr lang="en-US" b="0">
                <a:solidFill>
                  <a:schemeClr val="tx1"/>
                </a:solidFill>
              </a:rPr>
              <a:t>Subscriptions: Deferred revenue is automatically recognized upon invoicing and managed through NetSuite without manual intervention. Subscription revenue is recognized ratably over the contract term (on a daily basis). Note, many of Vortex’s customers are invoiced monthly for the current month (this revenue is not deferred).</a:t>
            </a:r>
          </a:p>
          <a:p>
            <a:pPr marL="171450" indent="-171450">
              <a:buFont typeface="Arial" panose="020B0604020202020204" pitchFamily="34" charset="0"/>
              <a:buChar char="•"/>
            </a:pPr>
            <a:r>
              <a:rPr lang="en-US" b="0">
                <a:solidFill>
                  <a:schemeClr val="tx1"/>
                </a:solidFill>
              </a:rPr>
              <a:t>Non-subscription: Transactional access to the Vortex and third-party platforms is charged on a pay-per-document basis and recognized at the point in time when the service or transaction is performed. Professional services are also recognized when the service is performed.</a:t>
            </a:r>
          </a:p>
          <a:p>
            <a:pPr marL="171450" indent="-171450">
              <a:buFont typeface="Arial" panose="020B0604020202020204" pitchFamily="34" charset="0"/>
              <a:buChar char="•"/>
            </a:pPr>
            <a:r>
              <a:rPr lang="en-US" b="0">
                <a:solidFill>
                  <a:schemeClr val="tx1"/>
                </a:solidFill>
              </a:rPr>
              <a:t>Self-constructed assets: Internal personnel costs associated with the R&amp;D department are capitalized.</a:t>
            </a:r>
          </a:p>
          <a:p>
            <a:r>
              <a:rPr lang="en-US" b="0">
                <a:solidFill>
                  <a:schemeClr val="tx1"/>
                </a:solidFill>
              </a:rPr>
              <a:t>The Company reports under Spanish GAAP. Please see pages 43-47 for a comparison between GAAP frameworks.</a:t>
            </a:r>
          </a:p>
        </p:txBody>
      </p:sp>
      <p:sp>
        <p:nvSpPr>
          <p:cNvPr id="48" name="Text Placeholder 27">
            <a:extLst>
              <a:ext uri="{FF2B5EF4-FFF2-40B4-BE49-F238E27FC236}">
                <a16:creationId xmlns:a16="http://schemas.microsoft.com/office/drawing/2014/main" id="{5245692B-CBB1-550E-2279-D439FA912E02}"/>
              </a:ext>
            </a:extLst>
          </p:cNvPr>
          <p:cNvSpPr txBox="1">
            <a:spLocks/>
          </p:cNvSpPr>
          <p:nvPr/>
        </p:nvSpPr>
        <p:spPr>
          <a:xfrm>
            <a:off x="6152036" y="4808196"/>
            <a:ext cx="5036400" cy="1068729"/>
          </a:xfrm>
          <a:prstGeom prst="rect">
            <a:avLst/>
          </a:prstGeom>
        </p:spPr>
        <p:txBody>
          <a:bodyPr vert="horz" lIns="72000" tIns="36000" rIns="0" bIns="0" rtlCol="0" anchor="t"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r>
              <a:rPr lang="en-US"/>
              <a:t>The consolidated financial statements of the company are subject to annual audit by KPMG. </a:t>
            </a:r>
          </a:p>
          <a:p>
            <a:pPr lvl="1"/>
            <a:r>
              <a:rPr lang="en-US"/>
              <a:t>Please see Appendix 1 for reconciliation to the audited financial statements for FY23 (for 9 months) and the Directors report for a full 12 months (including the acquisition of Fastcase) and for FY24.</a:t>
            </a:r>
          </a:p>
        </p:txBody>
      </p:sp>
      <p:sp>
        <p:nvSpPr>
          <p:cNvPr id="49" name="Text Placeholder 31">
            <a:extLst>
              <a:ext uri="{FF2B5EF4-FFF2-40B4-BE49-F238E27FC236}">
                <a16:creationId xmlns:a16="http://schemas.microsoft.com/office/drawing/2014/main" id="{C9F20824-07E1-105A-3DFB-BFD8B6BA3E30}"/>
              </a:ext>
            </a:extLst>
          </p:cNvPr>
          <p:cNvSpPr txBox="1">
            <a:spLocks/>
          </p:cNvSpPr>
          <p:nvPr/>
        </p:nvSpPr>
        <p:spPr>
          <a:xfrm>
            <a:off x="6165629" y="1751584"/>
            <a:ext cx="5036400" cy="252000"/>
          </a:xfrm>
          <a:prstGeom prst="rect">
            <a:avLst/>
          </a:prstGeom>
          <a:solidFill>
            <a:schemeClr val="tx2"/>
          </a:solidFill>
        </p:spPr>
        <p:txBody>
          <a:bodyPr vert="horz" lIns="72000" tIns="0" rIns="72000" bIns="0" rtlCol="0" anchor="ctr"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Key policies applied</a:t>
            </a:r>
          </a:p>
        </p:txBody>
      </p:sp>
      <p:sp>
        <p:nvSpPr>
          <p:cNvPr id="50" name="Text Placeholder 32">
            <a:extLst>
              <a:ext uri="{FF2B5EF4-FFF2-40B4-BE49-F238E27FC236}">
                <a16:creationId xmlns:a16="http://schemas.microsoft.com/office/drawing/2014/main" id="{FF567B77-94C2-F70C-A709-DAA24271CB8F}"/>
              </a:ext>
            </a:extLst>
          </p:cNvPr>
          <p:cNvSpPr txBox="1">
            <a:spLocks/>
          </p:cNvSpPr>
          <p:nvPr/>
        </p:nvSpPr>
        <p:spPr>
          <a:xfrm>
            <a:off x="995361" y="1751584"/>
            <a:ext cx="5036400" cy="252000"/>
          </a:xfrm>
          <a:prstGeom prst="rect">
            <a:avLst/>
          </a:prstGeom>
          <a:solidFill>
            <a:schemeClr val="tx2"/>
          </a:solidFill>
        </p:spPr>
        <p:txBody>
          <a:bodyPr vert="horz" lIns="72000" tIns="0" rIns="72000" bIns="0" rtlCol="0" anchor="ctr"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Organization and reporting process</a:t>
            </a:r>
          </a:p>
        </p:txBody>
      </p:sp>
      <p:sp>
        <p:nvSpPr>
          <p:cNvPr id="51" name="Text Placeholder 24">
            <a:extLst>
              <a:ext uri="{FF2B5EF4-FFF2-40B4-BE49-F238E27FC236}">
                <a16:creationId xmlns:a16="http://schemas.microsoft.com/office/drawing/2014/main" id="{E1846DB5-D053-6592-5766-45A16F6CFBFB}"/>
              </a:ext>
            </a:extLst>
          </p:cNvPr>
          <p:cNvSpPr txBox="1">
            <a:spLocks/>
          </p:cNvSpPr>
          <p:nvPr/>
        </p:nvSpPr>
        <p:spPr>
          <a:xfrm>
            <a:off x="6174323" y="4556196"/>
            <a:ext cx="5036400" cy="252000"/>
          </a:xfrm>
          <a:prstGeom prst="rect">
            <a:avLst/>
          </a:prstGeom>
          <a:solidFill>
            <a:schemeClr val="tx2"/>
          </a:solidFill>
        </p:spPr>
        <p:txBody>
          <a:bodyPr vert="horz" lIns="72000" tIns="0" rIns="72000" bIns="0" rtlCol="0" anchor="ctr"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Audit experience</a:t>
            </a:r>
          </a:p>
        </p:txBody>
      </p:sp>
      <p:grpSp>
        <p:nvGrpSpPr>
          <p:cNvPr id="598" name="Group 597">
            <a:extLst>
              <a:ext uri="{FF2B5EF4-FFF2-40B4-BE49-F238E27FC236}">
                <a16:creationId xmlns:a16="http://schemas.microsoft.com/office/drawing/2014/main" id="{15CE7449-3301-5F80-5112-576724D28288}"/>
              </a:ext>
            </a:extLst>
          </p:cNvPr>
          <p:cNvGrpSpPr/>
          <p:nvPr>
            <p:custDataLst>
              <p:tags r:id="rId4"/>
            </p:custDataLst>
          </p:nvPr>
        </p:nvGrpSpPr>
        <p:grpSpPr>
          <a:xfrm>
            <a:off x="995364" y="153170"/>
            <a:ext cx="7529710" cy="195814"/>
            <a:chOff x="995364" y="153170"/>
            <a:chExt cx="7529710" cy="195814"/>
          </a:xfrm>
        </p:grpSpPr>
        <p:sp>
          <p:nvSpPr>
            <p:cNvPr id="592"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593" name="Other Sections2">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594"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325196"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595"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7738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596" name="Current Section5">
              <a:hlinkClick r:id="rId13" action="ppaction://hlinksldjump"/>
              <a:extLst>
                <a:ext uri="{FF2B5EF4-FFF2-40B4-BE49-F238E27FC236}">
                  <a16:creationId xmlns:a16="http://schemas.microsoft.com/office/drawing/2014/main" id="{89A61135-1F00-E77F-7C78-5FBA241A5742}"/>
                </a:ext>
              </a:extLst>
            </p:cNvPr>
            <p:cNvSpPr>
              <a:spLocks/>
            </p:cNvSpPr>
            <p:nvPr/>
          </p:nvSpPr>
          <p:spPr>
            <a:xfrm>
              <a:off x="5574879" y="153170"/>
              <a:ext cx="22613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Financial reporting &amp; GAAP considerations</a:t>
              </a:r>
            </a:p>
          </p:txBody>
        </p:sp>
        <p:sp>
          <p:nvSpPr>
            <p:cNvPr id="597"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783624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80238383"/>
      </p:ext>
    </p:extLst>
  </p:cSld>
  <p:clrMapOvr>
    <a:masterClrMapping/>
  </p:clrMapOvr>
  <p:extLst>
    <p:ext uri="{6950BFC3-D8DA-4A85-94F7-54DA5524770B}">
      <p188:commentRel xmlns:p188="http://schemas.microsoft.com/office/powerpoint/2018/8/main" r:id="rId6"/>
    </p:ext>
  </p:extLs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CC94C280-8564-B45C-F5A6-CDDB9EDF3F05}"/>
              </a:ext>
            </a:extLst>
          </p:cNvPr>
          <p:cNvPicPr>
            <a:picLocks noChangeAspect="1"/>
          </p:cNvPicPr>
          <p:nvPr>
            <p:custDataLst>
              <p:tags r:id="rId1"/>
            </p:custDataLst>
          </p:nvPr>
        </p:nvPicPr>
        <p:blipFill>
          <a:blip r:embed="rId8"/>
          <a:stretch>
            <a:fillRect/>
          </a:stretch>
        </p:blipFill>
        <p:spPr>
          <a:xfrm>
            <a:off x="995366" y="1351557"/>
            <a:ext cx="9682795" cy="4846320"/>
          </a:xfrm>
          <a:prstGeom prst="rect">
            <a:avLst/>
          </a:prstGeom>
        </p:spPr>
      </p:pic>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9" imgW="395" imgH="394" progId="TCLayout.ActiveDocument.1">
                  <p:embed/>
                </p:oleObj>
              </mc:Choice>
              <mc:Fallback>
                <p:oleObj name="think-cell Slide" r:id="rId9"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10"/>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a:t>GAAP differences – P&amp;L</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3"/>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GAAP differences</a:t>
            </a:r>
          </a:p>
        </p:txBody>
      </p:sp>
      <p:sp>
        <p:nvSpPr>
          <p:cNvPr id="29" name="TextBox 28">
            <a:extLst>
              <a:ext uri="{FF2B5EF4-FFF2-40B4-BE49-F238E27FC236}">
                <a16:creationId xmlns:a16="http://schemas.microsoft.com/office/drawing/2014/main" id="{B5C57B66-DE11-EECC-77D2-02FAD5F17877}"/>
              </a:ext>
            </a:extLst>
          </p:cNvPr>
          <p:cNvSpPr txBox="1"/>
          <p:nvPr/>
        </p:nvSpPr>
        <p:spPr>
          <a:xfrm>
            <a:off x="8956810" y="1751584"/>
            <a:ext cx="524963" cy="360996"/>
          </a:xfrm>
          <a:prstGeom prst="rect">
            <a:avLst/>
          </a:prstGeom>
          <a:noFill/>
        </p:spPr>
        <p:txBody>
          <a:bodyPr wrap="square">
            <a:spAutoFit/>
          </a:bodyPr>
          <a:lstStyle/>
          <a:p>
            <a:pPr algn="ctr">
              <a:lnSpc>
                <a:spcPct val="97000"/>
              </a:lnSpc>
              <a:spcBef>
                <a:spcPts val="0"/>
              </a:spcBef>
              <a:spcAft>
                <a:spcPts val="400"/>
              </a:spcAft>
            </a:pPr>
            <a:r>
              <a:rPr lang="en-US" sz="1800">
                <a:solidFill>
                  <a:schemeClr val="accent2"/>
                </a:solidFill>
                <a:sym typeface="Wingdings" panose="05000000000000000000" pitchFamily="2" charset="2"/>
              </a:rPr>
              <a:t></a:t>
            </a:r>
          </a:p>
        </p:txBody>
      </p:sp>
      <p:sp>
        <p:nvSpPr>
          <p:cNvPr id="31" name="TextBox 30">
            <a:extLst>
              <a:ext uri="{FF2B5EF4-FFF2-40B4-BE49-F238E27FC236}">
                <a16:creationId xmlns:a16="http://schemas.microsoft.com/office/drawing/2014/main" id="{6B3597FF-6B19-DD2C-6B67-043DC9B2DAD0}"/>
              </a:ext>
            </a:extLst>
          </p:cNvPr>
          <p:cNvSpPr txBox="1"/>
          <p:nvPr/>
        </p:nvSpPr>
        <p:spPr>
          <a:xfrm>
            <a:off x="10175294" y="1751584"/>
            <a:ext cx="524963" cy="360996"/>
          </a:xfrm>
          <a:prstGeom prst="rect">
            <a:avLst/>
          </a:prstGeom>
          <a:noFill/>
        </p:spPr>
        <p:txBody>
          <a:bodyPr wrap="square">
            <a:spAutoFit/>
          </a:bodyPr>
          <a:lstStyle/>
          <a:p>
            <a:pPr algn="ctr">
              <a:lnSpc>
                <a:spcPct val="97000"/>
              </a:lnSpc>
              <a:spcBef>
                <a:spcPts val="0"/>
              </a:spcBef>
              <a:spcAft>
                <a:spcPts val="400"/>
              </a:spcAft>
            </a:pPr>
            <a:r>
              <a:rPr lang="en-US" sz="1800">
                <a:solidFill>
                  <a:schemeClr val="accent2"/>
                </a:solidFill>
                <a:sym typeface="Wingdings" panose="05000000000000000000" pitchFamily="2" charset="2"/>
              </a:rPr>
              <a:t></a:t>
            </a:r>
          </a:p>
        </p:txBody>
      </p:sp>
      <p:sp>
        <p:nvSpPr>
          <p:cNvPr id="35" name="TextBox 34">
            <a:extLst>
              <a:ext uri="{FF2B5EF4-FFF2-40B4-BE49-F238E27FC236}">
                <a16:creationId xmlns:a16="http://schemas.microsoft.com/office/drawing/2014/main" id="{6A798CD5-A0A8-EB48-8714-BDF85AE99095}"/>
              </a:ext>
            </a:extLst>
          </p:cNvPr>
          <p:cNvSpPr txBox="1"/>
          <p:nvPr/>
        </p:nvSpPr>
        <p:spPr>
          <a:xfrm>
            <a:off x="8956810" y="2385496"/>
            <a:ext cx="524963" cy="360996"/>
          </a:xfrm>
          <a:prstGeom prst="rect">
            <a:avLst/>
          </a:prstGeom>
          <a:noFill/>
        </p:spPr>
        <p:txBody>
          <a:bodyPr wrap="square">
            <a:spAutoFit/>
          </a:bodyPr>
          <a:lstStyle/>
          <a:p>
            <a:pPr algn="ctr">
              <a:lnSpc>
                <a:spcPct val="97000"/>
              </a:lnSpc>
              <a:spcBef>
                <a:spcPts val="0"/>
              </a:spcBef>
              <a:spcAft>
                <a:spcPts val="400"/>
              </a:spcAft>
            </a:pPr>
            <a:r>
              <a:rPr lang="en-US" sz="1800">
                <a:solidFill>
                  <a:schemeClr val="accent2"/>
                </a:solidFill>
                <a:sym typeface="Wingdings" panose="05000000000000000000" pitchFamily="2" charset="2"/>
              </a:rPr>
              <a:t></a:t>
            </a:r>
          </a:p>
        </p:txBody>
      </p:sp>
      <p:sp>
        <p:nvSpPr>
          <p:cNvPr id="36" name="TextBox 35">
            <a:extLst>
              <a:ext uri="{FF2B5EF4-FFF2-40B4-BE49-F238E27FC236}">
                <a16:creationId xmlns:a16="http://schemas.microsoft.com/office/drawing/2014/main" id="{08F46588-F018-1545-013C-F3CB79F1E191}"/>
              </a:ext>
            </a:extLst>
          </p:cNvPr>
          <p:cNvSpPr txBox="1"/>
          <p:nvPr/>
        </p:nvSpPr>
        <p:spPr>
          <a:xfrm>
            <a:off x="9529971" y="2385496"/>
            <a:ext cx="524963" cy="360996"/>
          </a:xfrm>
          <a:prstGeom prst="rect">
            <a:avLst/>
          </a:prstGeom>
          <a:noFill/>
        </p:spPr>
        <p:txBody>
          <a:bodyPr wrap="square">
            <a:spAutoFit/>
          </a:bodyPr>
          <a:lstStyle/>
          <a:p>
            <a:pPr algn="ctr">
              <a:lnSpc>
                <a:spcPct val="97000"/>
              </a:lnSpc>
              <a:spcBef>
                <a:spcPts val="0"/>
              </a:spcBef>
              <a:spcAft>
                <a:spcPts val="400"/>
              </a:spcAft>
            </a:pPr>
            <a:r>
              <a:rPr lang="en-US" sz="1800">
                <a:solidFill>
                  <a:schemeClr val="accent2"/>
                </a:solidFill>
                <a:sym typeface="Wingdings" panose="05000000000000000000" pitchFamily="2" charset="2"/>
              </a:rPr>
              <a:t></a:t>
            </a:r>
          </a:p>
        </p:txBody>
      </p:sp>
      <p:sp>
        <p:nvSpPr>
          <p:cNvPr id="37" name="TextBox 36">
            <a:extLst>
              <a:ext uri="{FF2B5EF4-FFF2-40B4-BE49-F238E27FC236}">
                <a16:creationId xmlns:a16="http://schemas.microsoft.com/office/drawing/2014/main" id="{8E2F5FB0-CABE-C0CB-B306-A2E9AD8E1F14}"/>
              </a:ext>
            </a:extLst>
          </p:cNvPr>
          <p:cNvSpPr txBox="1"/>
          <p:nvPr/>
        </p:nvSpPr>
        <p:spPr>
          <a:xfrm>
            <a:off x="10175293" y="2385496"/>
            <a:ext cx="524963" cy="360996"/>
          </a:xfrm>
          <a:prstGeom prst="rect">
            <a:avLst/>
          </a:prstGeom>
          <a:noFill/>
        </p:spPr>
        <p:txBody>
          <a:bodyPr wrap="square">
            <a:spAutoFit/>
          </a:bodyPr>
          <a:lstStyle/>
          <a:p>
            <a:pPr algn="ctr">
              <a:lnSpc>
                <a:spcPct val="97000"/>
              </a:lnSpc>
              <a:spcBef>
                <a:spcPts val="0"/>
              </a:spcBef>
              <a:spcAft>
                <a:spcPts val="400"/>
              </a:spcAft>
            </a:pPr>
            <a:r>
              <a:rPr lang="en-US" sz="1800">
                <a:solidFill>
                  <a:schemeClr val="accent2"/>
                </a:solidFill>
                <a:sym typeface="Wingdings" panose="05000000000000000000" pitchFamily="2" charset="2"/>
              </a:rPr>
              <a:t></a:t>
            </a:r>
          </a:p>
        </p:txBody>
      </p:sp>
      <p:sp>
        <p:nvSpPr>
          <p:cNvPr id="38" name="TextBox 37">
            <a:extLst>
              <a:ext uri="{FF2B5EF4-FFF2-40B4-BE49-F238E27FC236}">
                <a16:creationId xmlns:a16="http://schemas.microsoft.com/office/drawing/2014/main" id="{CE281FB0-E0AE-7F57-C4C6-DF998A913242}"/>
              </a:ext>
            </a:extLst>
          </p:cNvPr>
          <p:cNvSpPr txBox="1"/>
          <p:nvPr/>
        </p:nvSpPr>
        <p:spPr>
          <a:xfrm>
            <a:off x="10175292" y="3429000"/>
            <a:ext cx="524963" cy="360996"/>
          </a:xfrm>
          <a:prstGeom prst="rect">
            <a:avLst/>
          </a:prstGeom>
          <a:noFill/>
        </p:spPr>
        <p:txBody>
          <a:bodyPr wrap="square">
            <a:spAutoFit/>
          </a:bodyPr>
          <a:lstStyle/>
          <a:p>
            <a:pPr algn="ctr">
              <a:lnSpc>
                <a:spcPct val="97000"/>
              </a:lnSpc>
              <a:spcBef>
                <a:spcPts val="0"/>
              </a:spcBef>
              <a:spcAft>
                <a:spcPts val="400"/>
              </a:spcAft>
            </a:pPr>
            <a:r>
              <a:rPr lang="en-US" sz="1800">
                <a:solidFill>
                  <a:schemeClr val="accent2"/>
                </a:solidFill>
                <a:sym typeface="Wingdings" panose="05000000000000000000" pitchFamily="2" charset="2"/>
              </a:rPr>
              <a:t></a:t>
            </a:r>
          </a:p>
        </p:txBody>
      </p:sp>
      <p:grpSp>
        <p:nvGrpSpPr>
          <p:cNvPr id="75" name="Group 74">
            <a:extLst>
              <a:ext uri="{FF2B5EF4-FFF2-40B4-BE49-F238E27FC236}">
                <a16:creationId xmlns:a16="http://schemas.microsoft.com/office/drawing/2014/main" id="{15CE7449-3301-5F80-5112-576724D28288}"/>
              </a:ext>
            </a:extLst>
          </p:cNvPr>
          <p:cNvGrpSpPr/>
          <p:nvPr>
            <p:custDataLst>
              <p:tags r:id="rId5"/>
            </p:custDataLst>
          </p:nvPr>
        </p:nvGrpSpPr>
        <p:grpSpPr>
          <a:xfrm>
            <a:off x="995364" y="153170"/>
            <a:ext cx="7529710" cy="195814"/>
            <a:chOff x="995364" y="153170"/>
            <a:chExt cx="7529710" cy="195814"/>
          </a:xfrm>
        </p:grpSpPr>
        <p:sp>
          <p:nvSpPr>
            <p:cNvPr id="76"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77"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78"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325196"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79"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7738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80" name="Current Section5">
              <a:hlinkClick r:id="rId15" action="ppaction://hlinksldjump"/>
              <a:extLst>
                <a:ext uri="{FF2B5EF4-FFF2-40B4-BE49-F238E27FC236}">
                  <a16:creationId xmlns:a16="http://schemas.microsoft.com/office/drawing/2014/main" id="{89A61135-1F00-E77F-7C78-5FBA241A5742}"/>
                </a:ext>
              </a:extLst>
            </p:cNvPr>
            <p:cNvSpPr>
              <a:spLocks/>
            </p:cNvSpPr>
            <p:nvPr/>
          </p:nvSpPr>
          <p:spPr>
            <a:xfrm>
              <a:off x="5574879" y="153170"/>
              <a:ext cx="22613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Financial reporting &amp; GAAP considerations</a:t>
              </a:r>
            </a:p>
          </p:txBody>
        </p:sp>
        <p:sp>
          <p:nvSpPr>
            <p:cNvPr id="81"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783624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
        <p:nvSpPr>
          <p:cNvPr id="7" name="Text Placeholder 1">
            <a:extLst>
              <a:ext uri="{FF2B5EF4-FFF2-40B4-BE49-F238E27FC236}">
                <a16:creationId xmlns:a16="http://schemas.microsoft.com/office/drawing/2014/main" id="{52CCA063-E71D-B765-E591-7CA0EFEF4D90}"/>
              </a:ext>
            </a:extLst>
          </p:cNvPr>
          <p:cNvSpPr txBox="1">
            <a:spLocks/>
          </p:cNvSpPr>
          <p:nvPr/>
        </p:nvSpPr>
        <p:spPr>
          <a:xfrm>
            <a:off x="995361" y="990973"/>
            <a:ext cx="10192299" cy="460800"/>
          </a:xfrm>
          <a:prstGeom prst="rect">
            <a:avLst/>
          </a:prstGeom>
        </p:spPr>
        <p:txBody>
          <a:bodyPr vert="horz" lIns="0" tIns="0" rIns="0" bIns="0" rtlCol="0" anchor="t" anchorCtr="0">
            <a:noAutofit/>
          </a:bodyPr>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solidFill>
                  <a:srgbClr val="00338D"/>
                </a:solidFill>
              </a:rPr>
              <a:t>Key Spanish vs US GAAP differences are set out on the following pages. Note that quantification of GAAP differences is not included in this scope of work, and all QoE analysis has been performed in Spanish GAAP. Quantification of differences can be performed at a later stage at your request.</a:t>
            </a:r>
          </a:p>
        </p:txBody>
      </p:sp>
    </p:spTree>
    <p:extLst>
      <p:ext uri="{BB962C8B-B14F-4D97-AF65-F5344CB8AC3E}">
        <p14:creationId xmlns:p14="http://schemas.microsoft.com/office/powerpoint/2010/main" val="1363572127"/>
      </p:ext>
    </p:extLst>
  </p:cSld>
  <p:clrMapOvr>
    <a:masterClrMapping/>
  </p:clrMapOvr>
  <p:extLst>
    <p:ext uri="{6950BFC3-D8DA-4A85-94F7-54DA5524770B}">
      <p188:commentRel xmlns:p188="http://schemas.microsoft.com/office/powerpoint/2018/8/main" r:id="rId7"/>
    </p:ext>
  </p:extLs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a:t>GAAP differences – BS (1/4)</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GAAP differences</a:t>
            </a:r>
          </a:p>
        </p:txBody>
      </p:sp>
      <p:pic>
        <p:nvPicPr>
          <p:cNvPr id="19" name="Picture 18">
            <a:extLst>
              <a:ext uri="{FF2B5EF4-FFF2-40B4-BE49-F238E27FC236}">
                <a16:creationId xmlns:a16="http://schemas.microsoft.com/office/drawing/2014/main" id="{5A3FC692-7DDB-CAE5-8220-B2803EB01135}"/>
              </a:ext>
            </a:extLst>
          </p:cNvPr>
          <p:cNvPicPr>
            <a:picLocks noChangeAspect="1"/>
          </p:cNvPicPr>
          <p:nvPr>
            <p:custDataLst>
              <p:tags r:id="rId4"/>
            </p:custDataLst>
          </p:nvPr>
        </p:nvPicPr>
        <p:blipFill>
          <a:blip r:embed="rId10"/>
          <a:stretch>
            <a:fillRect/>
          </a:stretch>
        </p:blipFill>
        <p:spPr>
          <a:xfrm>
            <a:off x="995121" y="1597915"/>
            <a:ext cx="10195560" cy="4593542"/>
          </a:xfrm>
          <a:prstGeom prst="rect">
            <a:avLst/>
          </a:prstGeom>
        </p:spPr>
      </p:pic>
      <p:sp>
        <p:nvSpPr>
          <p:cNvPr id="6" name="TextBox 5">
            <a:extLst>
              <a:ext uri="{FF2B5EF4-FFF2-40B4-BE49-F238E27FC236}">
                <a16:creationId xmlns:a16="http://schemas.microsoft.com/office/drawing/2014/main" id="{953F6DE9-9A49-DA7F-A978-A38576AFB7B9}"/>
              </a:ext>
            </a:extLst>
          </p:cNvPr>
          <p:cNvSpPr txBox="1"/>
          <p:nvPr/>
        </p:nvSpPr>
        <p:spPr>
          <a:xfrm>
            <a:off x="10607118" y="2577407"/>
            <a:ext cx="524963" cy="360996"/>
          </a:xfrm>
          <a:prstGeom prst="rect">
            <a:avLst/>
          </a:prstGeom>
          <a:noFill/>
        </p:spPr>
        <p:txBody>
          <a:bodyPr wrap="square">
            <a:spAutoFit/>
          </a:bodyPr>
          <a:lstStyle/>
          <a:p>
            <a:pPr algn="ctr">
              <a:lnSpc>
                <a:spcPct val="97000"/>
              </a:lnSpc>
              <a:spcBef>
                <a:spcPts val="0"/>
              </a:spcBef>
              <a:spcAft>
                <a:spcPts val="400"/>
              </a:spcAft>
            </a:pPr>
            <a:r>
              <a:rPr lang="en-US" sz="1800">
                <a:solidFill>
                  <a:schemeClr val="accent2"/>
                </a:solidFill>
                <a:sym typeface="Wingdings" panose="05000000000000000000" pitchFamily="2" charset="2"/>
              </a:rPr>
              <a:t></a:t>
            </a:r>
          </a:p>
        </p:txBody>
      </p:sp>
      <p:sp>
        <p:nvSpPr>
          <p:cNvPr id="7" name="TextBox 6">
            <a:extLst>
              <a:ext uri="{FF2B5EF4-FFF2-40B4-BE49-F238E27FC236}">
                <a16:creationId xmlns:a16="http://schemas.microsoft.com/office/drawing/2014/main" id="{63CFB4BB-9BC8-9BD2-20C3-14CC93307A01}"/>
              </a:ext>
            </a:extLst>
          </p:cNvPr>
          <p:cNvSpPr txBox="1"/>
          <p:nvPr/>
        </p:nvSpPr>
        <p:spPr>
          <a:xfrm>
            <a:off x="10082155" y="2577407"/>
            <a:ext cx="524963" cy="360996"/>
          </a:xfrm>
          <a:prstGeom prst="rect">
            <a:avLst/>
          </a:prstGeom>
          <a:noFill/>
        </p:spPr>
        <p:txBody>
          <a:bodyPr wrap="square">
            <a:spAutoFit/>
          </a:bodyPr>
          <a:lstStyle/>
          <a:p>
            <a:pPr algn="ctr">
              <a:lnSpc>
                <a:spcPct val="97000"/>
              </a:lnSpc>
              <a:spcBef>
                <a:spcPts val="0"/>
              </a:spcBef>
              <a:spcAft>
                <a:spcPts val="400"/>
              </a:spcAft>
            </a:pPr>
            <a:r>
              <a:rPr lang="en-US" sz="1800">
                <a:solidFill>
                  <a:schemeClr val="accent2"/>
                </a:solidFill>
                <a:sym typeface="Wingdings" panose="05000000000000000000" pitchFamily="2" charset="2"/>
              </a:rPr>
              <a:t></a:t>
            </a:r>
          </a:p>
        </p:txBody>
      </p:sp>
      <p:grpSp>
        <p:nvGrpSpPr>
          <p:cNvPr id="71" name="Group 70">
            <a:extLst>
              <a:ext uri="{FF2B5EF4-FFF2-40B4-BE49-F238E27FC236}">
                <a16:creationId xmlns:a16="http://schemas.microsoft.com/office/drawing/2014/main" id="{15CE7449-3301-5F80-5112-576724D28288}"/>
              </a:ext>
            </a:extLst>
          </p:cNvPr>
          <p:cNvGrpSpPr/>
          <p:nvPr>
            <p:custDataLst>
              <p:tags r:id="rId5"/>
            </p:custDataLst>
          </p:nvPr>
        </p:nvGrpSpPr>
        <p:grpSpPr>
          <a:xfrm>
            <a:off x="995364" y="153170"/>
            <a:ext cx="7529710" cy="195814"/>
            <a:chOff x="995364" y="153170"/>
            <a:chExt cx="7529710" cy="195814"/>
          </a:xfrm>
        </p:grpSpPr>
        <p:sp>
          <p:nvSpPr>
            <p:cNvPr id="72"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73"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74"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325196"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75"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7738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76" name="Current Section5">
              <a:hlinkClick r:id="rId15" action="ppaction://hlinksldjump"/>
              <a:extLst>
                <a:ext uri="{FF2B5EF4-FFF2-40B4-BE49-F238E27FC236}">
                  <a16:creationId xmlns:a16="http://schemas.microsoft.com/office/drawing/2014/main" id="{89A61135-1F00-E77F-7C78-5FBA241A5742}"/>
                </a:ext>
              </a:extLst>
            </p:cNvPr>
            <p:cNvSpPr>
              <a:spLocks/>
            </p:cNvSpPr>
            <p:nvPr/>
          </p:nvSpPr>
          <p:spPr>
            <a:xfrm>
              <a:off x="5574879" y="153170"/>
              <a:ext cx="22613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Financial reporting &amp; GAAP considerations</a:t>
              </a:r>
            </a:p>
          </p:txBody>
        </p:sp>
        <p:sp>
          <p:nvSpPr>
            <p:cNvPr id="77"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783624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729808858"/>
      </p:ext>
    </p:extLst>
  </p:cSld>
  <p:clrMapOvr>
    <a:masterClrMapping/>
  </p:clrMapOvr>
  <p:extLst>
    <p:ext uri="{6950BFC3-D8DA-4A85-94F7-54DA5524770B}">
      <p188:commentRel xmlns:p188="http://schemas.microsoft.com/office/powerpoint/2018/8/main" r:id="rId7"/>
    </p:ext>
  </p:extLs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a:t>GAAP differences – BS (2/4)</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GAAP differences</a:t>
            </a:r>
          </a:p>
        </p:txBody>
      </p:sp>
      <p:pic>
        <p:nvPicPr>
          <p:cNvPr id="20" name="Picture 19">
            <a:extLst>
              <a:ext uri="{FF2B5EF4-FFF2-40B4-BE49-F238E27FC236}">
                <a16:creationId xmlns:a16="http://schemas.microsoft.com/office/drawing/2014/main" id="{B4924DE7-6AEA-DD43-2585-EE096C6E39B4}"/>
              </a:ext>
            </a:extLst>
          </p:cNvPr>
          <p:cNvPicPr>
            <a:picLocks noChangeAspect="1"/>
          </p:cNvPicPr>
          <p:nvPr>
            <p:custDataLst>
              <p:tags r:id="rId4"/>
            </p:custDataLst>
          </p:nvPr>
        </p:nvPicPr>
        <p:blipFill>
          <a:blip r:embed="rId10"/>
          <a:stretch>
            <a:fillRect/>
          </a:stretch>
        </p:blipFill>
        <p:spPr>
          <a:xfrm>
            <a:off x="976198" y="1515731"/>
            <a:ext cx="10195560" cy="4739414"/>
          </a:xfrm>
          <a:prstGeom prst="rect">
            <a:avLst/>
          </a:prstGeom>
        </p:spPr>
      </p:pic>
      <p:sp>
        <p:nvSpPr>
          <p:cNvPr id="6" name="TextBox 5">
            <a:extLst>
              <a:ext uri="{FF2B5EF4-FFF2-40B4-BE49-F238E27FC236}">
                <a16:creationId xmlns:a16="http://schemas.microsoft.com/office/drawing/2014/main" id="{7F3B6D05-E76C-9A16-5C6E-3D3F242F9C58}"/>
              </a:ext>
            </a:extLst>
          </p:cNvPr>
          <p:cNvSpPr txBox="1"/>
          <p:nvPr/>
        </p:nvSpPr>
        <p:spPr>
          <a:xfrm>
            <a:off x="10607118" y="2521643"/>
            <a:ext cx="524963" cy="360996"/>
          </a:xfrm>
          <a:prstGeom prst="rect">
            <a:avLst/>
          </a:prstGeom>
          <a:noFill/>
        </p:spPr>
        <p:txBody>
          <a:bodyPr wrap="square">
            <a:spAutoFit/>
          </a:bodyPr>
          <a:lstStyle/>
          <a:p>
            <a:pPr algn="ctr">
              <a:lnSpc>
                <a:spcPct val="97000"/>
              </a:lnSpc>
              <a:spcBef>
                <a:spcPts val="0"/>
              </a:spcBef>
              <a:spcAft>
                <a:spcPts val="400"/>
              </a:spcAft>
            </a:pPr>
            <a:r>
              <a:rPr lang="en-US" sz="1800">
                <a:solidFill>
                  <a:schemeClr val="accent2"/>
                </a:solidFill>
                <a:sym typeface="Wingdings" panose="05000000000000000000" pitchFamily="2" charset="2"/>
              </a:rPr>
              <a:t></a:t>
            </a:r>
          </a:p>
        </p:txBody>
      </p:sp>
      <p:sp>
        <p:nvSpPr>
          <p:cNvPr id="16" name="TextBox 15">
            <a:extLst>
              <a:ext uri="{FF2B5EF4-FFF2-40B4-BE49-F238E27FC236}">
                <a16:creationId xmlns:a16="http://schemas.microsoft.com/office/drawing/2014/main" id="{10933973-B9D7-3BB8-F8FE-76F56B3C43B2}"/>
              </a:ext>
            </a:extLst>
          </p:cNvPr>
          <p:cNvSpPr txBox="1"/>
          <p:nvPr/>
        </p:nvSpPr>
        <p:spPr>
          <a:xfrm>
            <a:off x="10020637" y="2521643"/>
            <a:ext cx="524963" cy="360996"/>
          </a:xfrm>
          <a:prstGeom prst="rect">
            <a:avLst/>
          </a:prstGeom>
          <a:noFill/>
        </p:spPr>
        <p:txBody>
          <a:bodyPr wrap="square">
            <a:spAutoFit/>
          </a:bodyPr>
          <a:lstStyle/>
          <a:p>
            <a:pPr algn="ctr">
              <a:lnSpc>
                <a:spcPct val="97000"/>
              </a:lnSpc>
              <a:spcBef>
                <a:spcPts val="0"/>
              </a:spcBef>
              <a:spcAft>
                <a:spcPts val="400"/>
              </a:spcAft>
            </a:pPr>
            <a:r>
              <a:rPr lang="en-US" sz="1800">
                <a:solidFill>
                  <a:schemeClr val="accent2"/>
                </a:solidFill>
                <a:sym typeface="Wingdings" panose="05000000000000000000" pitchFamily="2" charset="2"/>
              </a:rPr>
              <a:t></a:t>
            </a:r>
          </a:p>
        </p:txBody>
      </p:sp>
      <p:sp>
        <p:nvSpPr>
          <p:cNvPr id="18" name="TextBox 17">
            <a:extLst>
              <a:ext uri="{FF2B5EF4-FFF2-40B4-BE49-F238E27FC236}">
                <a16:creationId xmlns:a16="http://schemas.microsoft.com/office/drawing/2014/main" id="{42FD547D-BC19-E63B-352E-8067D08175C7}"/>
              </a:ext>
            </a:extLst>
          </p:cNvPr>
          <p:cNvSpPr txBox="1"/>
          <p:nvPr/>
        </p:nvSpPr>
        <p:spPr>
          <a:xfrm>
            <a:off x="10607118" y="4617143"/>
            <a:ext cx="524963" cy="360996"/>
          </a:xfrm>
          <a:prstGeom prst="rect">
            <a:avLst/>
          </a:prstGeom>
          <a:noFill/>
        </p:spPr>
        <p:txBody>
          <a:bodyPr wrap="square">
            <a:spAutoFit/>
          </a:bodyPr>
          <a:lstStyle/>
          <a:p>
            <a:pPr algn="ctr">
              <a:lnSpc>
                <a:spcPct val="97000"/>
              </a:lnSpc>
              <a:spcBef>
                <a:spcPts val="0"/>
              </a:spcBef>
              <a:spcAft>
                <a:spcPts val="400"/>
              </a:spcAft>
            </a:pPr>
            <a:r>
              <a:rPr lang="en-US" sz="1800">
                <a:solidFill>
                  <a:schemeClr val="accent2"/>
                </a:solidFill>
                <a:sym typeface="Wingdings" panose="05000000000000000000" pitchFamily="2" charset="2"/>
              </a:rPr>
              <a:t></a:t>
            </a:r>
          </a:p>
        </p:txBody>
      </p:sp>
      <p:sp>
        <p:nvSpPr>
          <p:cNvPr id="19" name="TextBox 18">
            <a:extLst>
              <a:ext uri="{FF2B5EF4-FFF2-40B4-BE49-F238E27FC236}">
                <a16:creationId xmlns:a16="http://schemas.microsoft.com/office/drawing/2014/main" id="{9473AA68-E5D3-7ACD-FAE2-DEF8A4AAFF6A}"/>
              </a:ext>
            </a:extLst>
          </p:cNvPr>
          <p:cNvSpPr txBox="1"/>
          <p:nvPr/>
        </p:nvSpPr>
        <p:spPr>
          <a:xfrm>
            <a:off x="10020637" y="4617143"/>
            <a:ext cx="524963" cy="360996"/>
          </a:xfrm>
          <a:prstGeom prst="rect">
            <a:avLst/>
          </a:prstGeom>
          <a:noFill/>
        </p:spPr>
        <p:txBody>
          <a:bodyPr wrap="square">
            <a:spAutoFit/>
          </a:bodyPr>
          <a:lstStyle/>
          <a:p>
            <a:pPr algn="ctr">
              <a:lnSpc>
                <a:spcPct val="97000"/>
              </a:lnSpc>
              <a:spcBef>
                <a:spcPts val="0"/>
              </a:spcBef>
              <a:spcAft>
                <a:spcPts val="400"/>
              </a:spcAft>
            </a:pPr>
            <a:r>
              <a:rPr lang="en-US" sz="1800">
                <a:solidFill>
                  <a:schemeClr val="accent2"/>
                </a:solidFill>
                <a:sym typeface="Wingdings" panose="05000000000000000000" pitchFamily="2" charset="2"/>
              </a:rPr>
              <a:t></a:t>
            </a:r>
          </a:p>
        </p:txBody>
      </p:sp>
      <p:grpSp>
        <p:nvGrpSpPr>
          <p:cNvPr id="73" name="Group 72">
            <a:extLst>
              <a:ext uri="{FF2B5EF4-FFF2-40B4-BE49-F238E27FC236}">
                <a16:creationId xmlns:a16="http://schemas.microsoft.com/office/drawing/2014/main" id="{15CE7449-3301-5F80-5112-576724D28288}"/>
              </a:ext>
            </a:extLst>
          </p:cNvPr>
          <p:cNvGrpSpPr/>
          <p:nvPr>
            <p:custDataLst>
              <p:tags r:id="rId5"/>
            </p:custDataLst>
          </p:nvPr>
        </p:nvGrpSpPr>
        <p:grpSpPr>
          <a:xfrm>
            <a:off x="995364" y="153170"/>
            <a:ext cx="7529710" cy="195814"/>
            <a:chOff x="995364" y="153170"/>
            <a:chExt cx="7529710" cy="195814"/>
          </a:xfrm>
        </p:grpSpPr>
        <p:sp>
          <p:nvSpPr>
            <p:cNvPr id="74"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75"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76"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325196"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77"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7738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78" name="Current Section5">
              <a:hlinkClick r:id="rId15" action="ppaction://hlinksldjump"/>
              <a:extLst>
                <a:ext uri="{FF2B5EF4-FFF2-40B4-BE49-F238E27FC236}">
                  <a16:creationId xmlns:a16="http://schemas.microsoft.com/office/drawing/2014/main" id="{89A61135-1F00-E77F-7C78-5FBA241A5742}"/>
                </a:ext>
              </a:extLst>
            </p:cNvPr>
            <p:cNvSpPr>
              <a:spLocks/>
            </p:cNvSpPr>
            <p:nvPr/>
          </p:nvSpPr>
          <p:spPr>
            <a:xfrm>
              <a:off x="5574879" y="153170"/>
              <a:ext cx="22613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Financial reporting &amp; GAAP considerations</a:t>
              </a:r>
            </a:p>
          </p:txBody>
        </p:sp>
        <p:sp>
          <p:nvSpPr>
            <p:cNvPr id="79"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783624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042737070"/>
      </p:ext>
    </p:extLst>
  </p:cSld>
  <p:clrMapOvr>
    <a:masterClrMapping/>
  </p:clrMapOvr>
  <p:extLst>
    <p:ext uri="{6950BFC3-D8DA-4A85-94F7-54DA5524770B}">
      <p188:commentRel xmlns:p188="http://schemas.microsoft.com/office/powerpoint/2018/8/main" r:id="rId7"/>
    </p:ext>
  </p:extLs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a:t>GAAP differences – BS (3/4)</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GAAP differences</a:t>
            </a:r>
          </a:p>
        </p:txBody>
      </p:sp>
      <p:pic>
        <p:nvPicPr>
          <p:cNvPr id="9" name="Picture 8">
            <a:extLst>
              <a:ext uri="{FF2B5EF4-FFF2-40B4-BE49-F238E27FC236}">
                <a16:creationId xmlns:a16="http://schemas.microsoft.com/office/drawing/2014/main" id="{0CD43A58-8ED5-4BFD-73DB-49B55565F94D}"/>
              </a:ext>
            </a:extLst>
          </p:cNvPr>
          <p:cNvPicPr>
            <a:picLocks noChangeAspect="1"/>
          </p:cNvPicPr>
          <p:nvPr>
            <p:custDataLst>
              <p:tags r:id="rId4"/>
            </p:custDataLst>
          </p:nvPr>
        </p:nvPicPr>
        <p:blipFill>
          <a:blip r:embed="rId10"/>
          <a:stretch>
            <a:fillRect/>
          </a:stretch>
        </p:blipFill>
        <p:spPr>
          <a:xfrm>
            <a:off x="995121" y="1414687"/>
            <a:ext cx="9417475" cy="4736592"/>
          </a:xfrm>
          <a:prstGeom prst="rect">
            <a:avLst/>
          </a:prstGeom>
        </p:spPr>
      </p:pic>
      <p:sp>
        <p:nvSpPr>
          <p:cNvPr id="6" name="TextBox 5">
            <a:extLst>
              <a:ext uri="{FF2B5EF4-FFF2-40B4-BE49-F238E27FC236}">
                <a16:creationId xmlns:a16="http://schemas.microsoft.com/office/drawing/2014/main" id="{6938EBAC-1820-0F07-9238-E712E2A4C2A8}"/>
              </a:ext>
            </a:extLst>
          </p:cNvPr>
          <p:cNvSpPr txBox="1"/>
          <p:nvPr/>
        </p:nvSpPr>
        <p:spPr>
          <a:xfrm>
            <a:off x="9228895" y="2392789"/>
            <a:ext cx="524963" cy="360996"/>
          </a:xfrm>
          <a:prstGeom prst="rect">
            <a:avLst/>
          </a:prstGeom>
          <a:noFill/>
        </p:spPr>
        <p:txBody>
          <a:bodyPr wrap="square">
            <a:spAutoFit/>
          </a:bodyPr>
          <a:lstStyle/>
          <a:p>
            <a:pPr algn="ctr">
              <a:lnSpc>
                <a:spcPct val="97000"/>
              </a:lnSpc>
              <a:spcBef>
                <a:spcPts val="0"/>
              </a:spcBef>
              <a:spcAft>
                <a:spcPts val="400"/>
              </a:spcAft>
            </a:pPr>
            <a:r>
              <a:rPr lang="en-US" sz="1800">
                <a:solidFill>
                  <a:schemeClr val="accent2"/>
                </a:solidFill>
                <a:sym typeface="Wingdings" panose="05000000000000000000" pitchFamily="2" charset="2"/>
              </a:rPr>
              <a:t></a:t>
            </a:r>
          </a:p>
        </p:txBody>
      </p:sp>
      <p:sp>
        <p:nvSpPr>
          <p:cNvPr id="16" name="TextBox 15">
            <a:extLst>
              <a:ext uri="{FF2B5EF4-FFF2-40B4-BE49-F238E27FC236}">
                <a16:creationId xmlns:a16="http://schemas.microsoft.com/office/drawing/2014/main" id="{FDFB4566-EF20-67ED-85EA-CBEDF5AA32E2}"/>
              </a:ext>
            </a:extLst>
          </p:cNvPr>
          <p:cNvSpPr txBox="1"/>
          <p:nvPr/>
        </p:nvSpPr>
        <p:spPr>
          <a:xfrm>
            <a:off x="9815376" y="4412089"/>
            <a:ext cx="524963" cy="360996"/>
          </a:xfrm>
          <a:prstGeom prst="rect">
            <a:avLst/>
          </a:prstGeom>
          <a:noFill/>
        </p:spPr>
        <p:txBody>
          <a:bodyPr wrap="square">
            <a:spAutoFit/>
          </a:bodyPr>
          <a:lstStyle/>
          <a:p>
            <a:pPr algn="ctr">
              <a:lnSpc>
                <a:spcPct val="97000"/>
              </a:lnSpc>
              <a:spcBef>
                <a:spcPts val="0"/>
              </a:spcBef>
              <a:spcAft>
                <a:spcPts val="400"/>
              </a:spcAft>
            </a:pPr>
            <a:r>
              <a:rPr lang="en-US" sz="1800">
                <a:solidFill>
                  <a:schemeClr val="accent2"/>
                </a:solidFill>
                <a:sym typeface="Wingdings" panose="05000000000000000000" pitchFamily="2" charset="2"/>
              </a:rPr>
              <a:t></a:t>
            </a:r>
          </a:p>
        </p:txBody>
      </p:sp>
      <p:sp>
        <p:nvSpPr>
          <p:cNvPr id="17" name="TextBox 16">
            <a:extLst>
              <a:ext uri="{FF2B5EF4-FFF2-40B4-BE49-F238E27FC236}">
                <a16:creationId xmlns:a16="http://schemas.microsoft.com/office/drawing/2014/main" id="{0E40A95C-B18A-17F6-28AA-FBA965C94654}"/>
              </a:ext>
            </a:extLst>
          </p:cNvPr>
          <p:cNvSpPr txBox="1"/>
          <p:nvPr/>
        </p:nvSpPr>
        <p:spPr>
          <a:xfrm>
            <a:off x="9228895" y="4412089"/>
            <a:ext cx="524963" cy="360996"/>
          </a:xfrm>
          <a:prstGeom prst="rect">
            <a:avLst/>
          </a:prstGeom>
          <a:noFill/>
        </p:spPr>
        <p:txBody>
          <a:bodyPr wrap="square">
            <a:spAutoFit/>
          </a:bodyPr>
          <a:lstStyle/>
          <a:p>
            <a:pPr algn="ctr">
              <a:lnSpc>
                <a:spcPct val="97000"/>
              </a:lnSpc>
              <a:spcBef>
                <a:spcPts val="0"/>
              </a:spcBef>
              <a:spcAft>
                <a:spcPts val="400"/>
              </a:spcAft>
            </a:pPr>
            <a:r>
              <a:rPr lang="en-US" sz="1800">
                <a:solidFill>
                  <a:schemeClr val="accent2"/>
                </a:solidFill>
                <a:sym typeface="Wingdings" panose="05000000000000000000" pitchFamily="2" charset="2"/>
              </a:rPr>
              <a:t></a:t>
            </a:r>
          </a:p>
        </p:txBody>
      </p:sp>
      <p:grpSp>
        <p:nvGrpSpPr>
          <p:cNvPr id="72" name="Group 71">
            <a:extLst>
              <a:ext uri="{FF2B5EF4-FFF2-40B4-BE49-F238E27FC236}">
                <a16:creationId xmlns:a16="http://schemas.microsoft.com/office/drawing/2014/main" id="{15CE7449-3301-5F80-5112-576724D28288}"/>
              </a:ext>
            </a:extLst>
          </p:cNvPr>
          <p:cNvGrpSpPr/>
          <p:nvPr>
            <p:custDataLst>
              <p:tags r:id="rId5"/>
            </p:custDataLst>
          </p:nvPr>
        </p:nvGrpSpPr>
        <p:grpSpPr>
          <a:xfrm>
            <a:off x="995364" y="153170"/>
            <a:ext cx="7529710" cy="195814"/>
            <a:chOff x="995364" y="153170"/>
            <a:chExt cx="7529710" cy="195814"/>
          </a:xfrm>
        </p:grpSpPr>
        <p:sp>
          <p:nvSpPr>
            <p:cNvPr id="73"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74"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75"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325196"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76"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7738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77" name="Current Section5">
              <a:hlinkClick r:id="rId15" action="ppaction://hlinksldjump"/>
              <a:extLst>
                <a:ext uri="{FF2B5EF4-FFF2-40B4-BE49-F238E27FC236}">
                  <a16:creationId xmlns:a16="http://schemas.microsoft.com/office/drawing/2014/main" id="{89A61135-1F00-E77F-7C78-5FBA241A5742}"/>
                </a:ext>
              </a:extLst>
            </p:cNvPr>
            <p:cNvSpPr>
              <a:spLocks/>
            </p:cNvSpPr>
            <p:nvPr/>
          </p:nvSpPr>
          <p:spPr>
            <a:xfrm>
              <a:off x="5574879" y="153170"/>
              <a:ext cx="22613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Financial reporting &amp; GAAP considerations</a:t>
              </a:r>
            </a:p>
          </p:txBody>
        </p:sp>
        <p:sp>
          <p:nvSpPr>
            <p:cNvPr id="78"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783624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348765719"/>
      </p:ext>
    </p:extLst>
  </p:cSld>
  <p:clrMapOvr>
    <a:masterClrMapping/>
  </p:clrMapOvr>
  <p:extLst>
    <p:ext uri="{6950BFC3-D8DA-4A85-94F7-54DA5524770B}">
      <p188:commentRel xmlns:p188="http://schemas.microsoft.com/office/powerpoint/2018/8/main" r:id="rId7"/>
    </p:ext>
  </p:extLs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a:t>GAAP differences – BS (4/4)</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GAAP differences</a:t>
            </a:r>
          </a:p>
        </p:txBody>
      </p:sp>
      <p:pic>
        <p:nvPicPr>
          <p:cNvPr id="9" name="Picture 8">
            <a:extLst>
              <a:ext uri="{FF2B5EF4-FFF2-40B4-BE49-F238E27FC236}">
                <a16:creationId xmlns:a16="http://schemas.microsoft.com/office/drawing/2014/main" id="{E475E72A-816D-2312-3800-421329DE197E}"/>
              </a:ext>
            </a:extLst>
          </p:cNvPr>
          <p:cNvPicPr>
            <a:picLocks noChangeAspect="1"/>
          </p:cNvPicPr>
          <p:nvPr>
            <p:custDataLst>
              <p:tags r:id="rId4"/>
            </p:custDataLst>
          </p:nvPr>
        </p:nvPicPr>
        <p:blipFill>
          <a:blip r:embed="rId10"/>
          <a:stretch>
            <a:fillRect/>
          </a:stretch>
        </p:blipFill>
        <p:spPr>
          <a:xfrm>
            <a:off x="995363" y="1751584"/>
            <a:ext cx="10195560" cy="4118058"/>
          </a:xfrm>
          <a:prstGeom prst="rect">
            <a:avLst/>
          </a:prstGeom>
        </p:spPr>
      </p:pic>
      <p:sp>
        <p:nvSpPr>
          <p:cNvPr id="6" name="TextBox 5">
            <a:extLst>
              <a:ext uri="{FF2B5EF4-FFF2-40B4-BE49-F238E27FC236}">
                <a16:creationId xmlns:a16="http://schemas.microsoft.com/office/drawing/2014/main" id="{17B73D54-5A07-025D-EC00-0393CDD32AFD}"/>
              </a:ext>
            </a:extLst>
          </p:cNvPr>
          <p:cNvSpPr txBox="1"/>
          <p:nvPr/>
        </p:nvSpPr>
        <p:spPr>
          <a:xfrm>
            <a:off x="10607118" y="2310239"/>
            <a:ext cx="524963" cy="360996"/>
          </a:xfrm>
          <a:prstGeom prst="rect">
            <a:avLst/>
          </a:prstGeom>
          <a:noFill/>
        </p:spPr>
        <p:txBody>
          <a:bodyPr wrap="square">
            <a:spAutoFit/>
          </a:bodyPr>
          <a:lstStyle/>
          <a:p>
            <a:pPr algn="ctr">
              <a:lnSpc>
                <a:spcPct val="97000"/>
              </a:lnSpc>
              <a:spcBef>
                <a:spcPts val="0"/>
              </a:spcBef>
              <a:spcAft>
                <a:spcPts val="400"/>
              </a:spcAft>
            </a:pPr>
            <a:r>
              <a:rPr lang="en-US" sz="1800">
                <a:solidFill>
                  <a:schemeClr val="accent2"/>
                </a:solidFill>
                <a:sym typeface="Wingdings" panose="05000000000000000000" pitchFamily="2" charset="2"/>
              </a:rPr>
              <a:t></a:t>
            </a:r>
          </a:p>
        </p:txBody>
      </p:sp>
      <p:sp>
        <p:nvSpPr>
          <p:cNvPr id="7" name="TextBox 6">
            <a:extLst>
              <a:ext uri="{FF2B5EF4-FFF2-40B4-BE49-F238E27FC236}">
                <a16:creationId xmlns:a16="http://schemas.microsoft.com/office/drawing/2014/main" id="{30965571-8AC4-D4B4-AB75-7B5479BA5944}"/>
              </a:ext>
            </a:extLst>
          </p:cNvPr>
          <p:cNvSpPr txBox="1"/>
          <p:nvPr/>
        </p:nvSpPr>
        <p:spPr>
          <a:xfrm>
            <a:off x="10020637" y="2310239"/>
            <a:ext cx="524963" cy="360996"/>
          </a:xfrm>
          <a:prstGeom prst="rect">
            <a:avLst/>
          </a:prstGeom>
          <a:noFill/>
        </p:spPr>
        <p:txBody>
          <a:bodyPr wrap="square">
            <a:spAutoFit/>
          </a:bodyPr>
          <a:lstStyle/>
          <a:p>
            <a:pPr algn="ctr">
              <a:lnSpc>
                <a:spcPct val="97000"/>
              </a:lnSpc>
              <a:spcBef>
                <a:spcPts val="0"/>
              </a:spcBef>
              <a:spcAft>
                <a:spcPts val="400"/>
              </a:spcAft>
            </a:pPr>
            <a:r>
              <a:rPr lang="en-US" sz="1800">
                <a:solidFill>
                  <a:schemeClr val="accent2"/>
                </a:solidFill>
                <a:sym typeface="Wingdings" panose="05000000000000000000" pitchFamily="2" charset="2"/>
              </a:rPr>
              <a:t></a:t>
            </a:r>
          </a:p>
        </p:txBody>
      </p:sp>
      <p:sp>
        <p:nvSpPr>
          <p:cNvPr id="17" name="TextBox 16">
            <a:extLst>
              <a:ext uri="{FF2B5EF4-FFF2-40B4-BE49-F238E27FC236}">
                <a16:creationId xmlns:a16="http://schemas.microsoft.com/office/drawing/2014/main" id="{B01FA129-9638-6C4C-75C6-880AE1773FA5}"/>
              </a:ext>
            </a:extLst>
          </p:cNvPr>
          <p:cNvSpPr txBox="1"/>
          <p:nvPr/>
        </p:nvSpPr>
        <p:spPr>
          <a:xfrm>
            <a:off x="10607118" y="4186766"/>
            <a:ext cx="524963" cy="360996"/>
          </a:xfrm>
          <a:prstGeom prst="rect">
            <a:avLst/>
          </a:prstGeom>
          <a:noFill/>
        </p:spPr>
        <p:txBody>
          <a:bodyPr wrap="square">
            <a:spAutoFit/>
          </a:bodyPr>
          <a:lstStyle/>
          <a:p>
            <a:pPr algn="ctr">
              <a:lnSpc>
                <a:spcPct val="97000"/>
              </a:lnSpc>
              <a:spcBef>
                <a:spcPts val="0"/>
              </a:spcBef>
              <a:spcAft>
                <a:spcPts val="400"/>
              </a:spcAft>
            </a:pPr>
            <a:r>
              <a:rPr lang="en-US" sz="1800">
                <a:solidFill>
                  <a:schemeClr val="accent2"/>
                </a:solidFill>
                <a:sym typeface="Wingdings" panose="05000000000000000000" pitchFamily="2" charset="2"/>
              </a:rPr>
              <a:t></a:t>
            </a:r>
          </a:p>
        </p:txBody>
      </p:sp>
      <p:sp>
        <p:nvSpPr>
          <p:cNvPr id="18" name="TextBox 17">
            <a:extLst>
              <a:ext uri="{FF2B5EF4-FFF2-40B4-BE49-F238E27FC236}">
                <a16:creationId xmlns:a16="http://schemas.microsoft.com/office/drawing/2014/main" id="{708F32AF-E993-A895-DD47-5DCE59071F37}"/>
              </a:ext>
            </a:extLst>
          </p:cNvPr>
          <p:cNvSpPr txBox="1"/>
          <p:nvPr/>
        </p:nvSpPr>
        <p:spPr>
          <a:xfrm>
            <a:off x="10020637" y="4186766"/>
            <a:ext cx="524963" cy="360996"/>
          </a:xfrm>
          <a:prstGeom prst="rect">
            <a:avLst/>
          </a:prstGeom>
          <a:noFill/>
        </p:spPr>
        <p:txBody>
          <a:bodyPr wrap="square">
            <a:spAutoFit/>
          </a:bodyPr>
          <a:lstStyle/>
          <a:p>
            <a:pPr algn="ctr">
              <a:lnSpc>
                <a:spcPct val="97000"/>
              </a:lnSpc>
              <a:spcBef>
                <a:spcPts val="0"/>
              </a:spcBef>
              <a:spcAft>
                <a:spcPts val="400"/>
              </a:spcAft>
            </a:pPr>
            <a:r>
              <a:rPr lang="en-US" sz="1800">
                <a:solidFill>
                  <a:schemeClr val="accent2"/>
                </a:solidFill>
                <a:sym typeface="Wingdings" panose="05000000000000000000" pitchFamily="2" charset="2"/>
              </a:rPr>
              <a:t></a:t>
            </a:r>
          </a:p>
        </p:txBody>
      </p:sp>
      <p:sp>
        <p:nvSpPr>
          <p:cNvPr id="19" name="TextBox 18">
            <a:extLst>
              <a:ext uri="{FF2B5EF4-FFF2-40B4-BE49-F238E27FC236}">
                <a16:creationId xmlns:a16="http://schemas.microsoft.com/office/drawing/2014/main" id="{7C30BB38-0BC4-5004-EFFD-C8C8AF6E4226}"/>
              </a:ext>
            </a:extLst>
          </p:cNvPr>
          <p:cNvSpPr txBox="1"/>
          <p:nvPr/>
        </p:nvSpPr>
        <p:spPr>
          <a:xfrm>
            <a:off x="10607118" y="5335815"/>
            <a:ext cx="524963" cy="360996"/>
          </a:xfrm>
          <a:prstGeom prst="rect">
            <a:avLst/>
          </a:prstGeom>
          <a:noFill/>
        </p:spPr>
        <p:txBody>
          <a:bodyPr wrap="square">
            <a:spAutoFit/>
          </a:bodyPr>
          <a:lstStyle/>
          <a:p>
            <a:pPr algn="ctr">
              <a:lnSpc>
                <a:spcPct val="97000"/>
              </a:lnSpc>
              <a:spcBef>
                <a:spcPts val="0"/>
              </a:spcBef>
              <a:spcAft>
                <a:spcPts val="400"/>
              </a:spcAft>
            </a:pPr>
            <a:r>
              <a:rPr lang="en-US" sz="1800">
                <a:solidFill>
                  <a:schemeClr val="accent2"/>
                </a:solidFill>
                <a:sym typeface="Wingdings" panose="05000000000000000000" pitchFamily="2" charset="2"/>
              </a:rPr>
              <a:t></a:t>
            </a:r>
          </a:p>
        </p:txBody>
      </p:sp>
      <p:sp>
        <p:nvSpPr>
          <p:cNvPr id="20" name="TextBox 19">
            <a:extLst>
              <a:ext uri="{FF2B5EF4-FFF2-40B4-BE49-F238E27FC236}">
                <a16:creationId xmlns:a16="http://schemas.microsoft.com/office/drawing/2014/main" id="{AC9AE083-BFE7-F449-85E0-CECE3C94E771}"/>
              </a:ext>
            </a:extLst>
          </p:cNvPr>
          <p:cNvSpPr txBox="1"/>
          <p:nvPr/>
        </p:nvSpPr>
        <p:spPr>
          <a:xfrm>
            <a:off x="10020637" y="5335815"/>
            <a:ext cx="524963" cy="360996"/>
          </a:xfrm>
          <a:prstGeom prst="rect">
            <a:avLst/>
          </a:prstGeom>
          <a:noFill/>
        </p:spPr>
        <p:txBody>
          <a:bodyPr wrap="square">
            <a:spAutoFit/>
          </a:bodyPr>
          <a:lstStyle/>
          <a:p>
            <a:pPr algn="ctr">
              <a:lnSpc>
                <a:spcPct val="97000"/>
              </a:lnSpc>
              <a:spcBef>
                <a:spcPts val="0"/>
              </a:spcBef>
              <a:spcAft>
                <a:spcPts val="400"/>
              </a:spcAft>
            </a:pPr>
            <a:r>
              <a:rPr lang="en-US" sz="1800">
                <a:solidFill>
                  <a:schemeClr val="accent2"/>
                </a:solidFill>
                <a:sym typeface="Wingdings" panose="05000000000000000000" pitchFamily="2" charset="2"/>
              </a:rPr>
              <a:t></a:t>
            </a:r>
          </a:p>
        </p:txBody>
      </p:sp>
      <p:grpSp>
        <p:nvGrpSpPr>
          <p:cNvPr id="75" name="Group 74">
            <a:extLst>
              <a:ext uri="{FF2B5EF4-FFF2-40B4-BE49-F238E27FC236}">
                <a16:creationId xmlns:a16="http://schemas.microsoft.com/office/drawing/2014/main" id="{15CE7449-3301-5F80-5112-576724D28288}"/>
              </a:ext>
            </a:extLst>
          </p:cNvPr>
          <p:cNvGrpSpPr/>
          <p:nvPr>
            <p:custDataLst>
              <p:tags r:id="rId5"/>
            </p:custDataLst>
          </p:nvPr>
        </p:nvGrpSpPr>
        <p:grpSpPr>
          <a:xfrm>
            <a:off x="995364" y="153170"/>
            <a:ext cx="7529710" cy="195814"/>
            <a:chOff x="995364" y="153170"/>
            <a:chExt cx="7529710" cy="195814"/>
          </a:xfrm>
        </p:grpSpPr>
        <p:sp>
          <p:nvSpPr>
            <p:cNvPr id="76"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77"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78"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325196"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79"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7738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80" name="Current Section5">
              <a:hlinkClick r:id="rId15" action="ppaction://hlinksldjump"/>
              <a:extLst>
                <a:ext uri="{FF2B5EF4-FFF2-40B4-BE49-F238E27FC236}">
                  <a16:creationId xmlns:a16="http://schemas.microsoft.com/office/drawing/2014/main" id="{89A61135-1F00-E77F-7C78-5FBA241A5742}"/>
                </a:ext>
              </a:extLst>
            </p:cNvPr>
            <p:cNvSpPr>
              <a:spLocks/>
            </p:cNvSpPr>
            <p:nvPr/>
          </p:nvSpPr>
          <p:spPr>
            <a:xfrm>
              <a:off x="5574879" y="153170"/>
              <a:ext cx="22613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Financial reporting &amp; GAAP considerations</a:t>
              </a:r>
            </a:p>
          </p:txBody>
        </p:sp>
        <p:sp>
          <p:nvSpPr>
            <p:cNvPr id="81"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783624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480591320"/>
      </p:ext>
    </p:extLst>
  </p:cSld>
  <p:clrMapOvr>
    <a:masterClrMapping/>
  </p:clrMapOvr>
  <p:extLst>
    <p:ext uri="{6950BFC3-D8DA-4A85-94F7-54DA5524770B}">
      <p188:commentRel xmlns:p188="http://schemas.microsoft.com/office/powerpoint/2018/8/main" r:id="rId7"/>
    </p:ext>
  </p:extLs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extBox 104">
            <a:hlinkClick r:id="rId30" action="ppaction://hlinksldjump"/>
            <a:extLst>
              <a:ext uri="{FF2B5EF4-FFF2-40B4-BE49-F238E27FC236}">
                <a16:creationId xmlns:a16="http://schemas.microsoft.com/office/drawing/2014/main" id="{EE9C1AC1-7B34-B833-962B-419470F97170}"/>
              </a:ext>
            </a:extLst>
          </p:cNvPr>
          <p:cNvSpPr txBox="1"/>
          <p:nvPr>
            <p:custDataLst>
              <p:tags r:id="rId2"/>
            </p:custDataLst>
          </p:nvPr>
        </p:nvSpPr>
        <p:spPr>
          <a:xfrm>
            <a:off x="1289860" y="3566606"/>
            <a:ext cx="4873752" cy="0"/>
          </a:xfrm>
          <a:prstGeom prst="rect">
            <a:avLst/>
          </a:prstGeom>
          <a:noFill/>
        </p:spPr>
        <p:txBody>
          <a:bodyPr vert="horz" wrap="square" lIns="0" tIns="0" rIns="0" bIns="2286000" rtlCol="0">
            <a:noAutofit/>
          </a:bodyPr>
          <a:lstStyle/>
          <a:p>
            <a:pPr algn="l">
              <a:lnSpc>
                <a:spcPct val="70000"/>
              </a:lnSpc>
            </a:pPr>
            <a:r>
              <a:rPr lang="en-US" sz="6600">
                <a:solidFill>
                  <a:srgbClr val="FFFFFF"/>
                </a:solidFill>
                <a:latin typeface="+mj-lt"/>
              </a:rPr>
              <a:t>Appendices</a:t>
            </a:r>
          </a:p>
        </p:txBody>
      </p:sp>
      <p:sp>
        <p:nvSpPr>
          <p:cNvPr id="106" name="TextBox 105">
            <a:hlinkClick r:id="rId31" action="ppaction://hlinksldjump"/>
            <a:extLst>
              <a:ext uri="{FF2B5EF4-FFF2-40B4-BE49-F238E27FC236}">
                <a16:creationId xmlns:a16="http://schemas.microsoft.com/office/drawing/2014/main" id="{27B5EDB2-2110-78D6-A3E7-C4DE3F441BB5}"/>
              </a:ext>
            </a:extLst>
          </p:cNvPr>
          <p:cNvSpPr txBox="1"/>
          <p:nvPr>
            <p:custDataLst>
              <p:tags r:id="rId3"/>
            </p:custDataLst>
          </p:nvPr>
        </p:nvSpPr>
        <p:spPr>
          <a:xfrm>
            <a:off x="1714809" y="3604706"/>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Audit reconciliation</a:t>
            </a:r>
          </a:p>
        </p:txBody>
      </p:sp>
      <p:sp>
        <p:nvSpPr>
          <p:cNvPr id="107" name="TextBox 106">
            <a:hlinkClick r:id="rId32" action="ppaction://hlinksldjump"/>
            <a:extLst>
              <a:ext uri="{FF2B5EF4-FFF2-40B4-BE49-F238E27FC236}">
                <a16:creationId xmlns:a16="http://schemas.microsoft.com/office/drawing/2014/main" id="{3E6884B1-1327-99DB-EE47-7FFFE3C94F20}"/>
              </a:ext>
            </a:extLst>
          </p:cNvPr>
          <p:cNvSpPr txBox="1"/>
          <p:nvPr>
            <p:custDataLst>
              <p:tags r:id="rId4"/>
            </p:custDataLst>
          </p:nvPr>
        </p:nvSpPr>
        <p:spPr>
          <a:xfrm>
            <a:off x="1714809" y="3999422"/>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Long term contracts deferred revenue</a:t>
            </a:r>
          </a:p>
        </p:txBody>
      </p:sp>
      <p:sp>
        <p:nvSpPr>
          <p:cNvPr id="108" name="TextBox 107">
            <a:hlinkClick r:id="rId33" action="ppaction://hlinksldjump"/>
            <a:extLst>
              <a:ext uri="{FF2B5EF4-FFF2-40B4-BE49-F238E27FC236}">
                <a16:creationId xmlns:a16="http://schemas.microsoft.com/office/drawing/2014/main" id="{66D6DCE3-1BD5-637A-37F2-212359A65909}"/>
              </a:ext>
            </a:extLst>
          </p:cNvPr>
          <p:cNvSpPr txBox="1"/>
          <p:nvPr>
            <p:custDataLst>
              <p:tags r:id="rId5"/>
            </p:custDataLst>
          </p:nvPr>
        </p:nvSpPr>
        <p:spPr>
          <a:xfrm>
            <a:off x="1714809" y="4394138"/>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Stratified balance sheet</a:t>
            </a:r>
          </a:p>
        </p:txBody>
      </p:sp>
      <p:sp>
        <p:nvSpPr>
          <p:cNvPr id="109" name="TextBox 108">
            <a:hlinkClick r:id="rId34" action="ppaction://hlinksldjump"/>
            <a:extLst>
              <a:ext uri="{FF2B5EF4-FFF2-40B4-BE49-F238E27FC236}">
                <a16:creationId xmlns:a16="http://schemas.microsoft.com/office/drawing/2014/main" id="{9D123283-84A1-7B57-DFCA-25E96203FDF8}"/>
              </a:ext>
            </a:extLst>
          </p:cNvPr>
          <p:cNvSpPr txBox="1"/>
          <p:nvPr>
            <p:custDataLst>
              <p:tags r:id="rId6"/>
            </p:custDataLst>
          </p:nvPr>
        </p:nvSpPr>
        <p:spPr>
          <a:xfrm>
            <a:off x="1714809" y="4788853"/>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Corporate chart vLex Group</a:t>
            </a:r>
          </a:p>
        </p:txBody>
      </p:sp>
      <p:sp>
        <p:nvSpPr>
          <p:cNvPr id="110" name="TextBox 109">
            <a:hlinkClick r:id="rId35" action="ppaction://hlinksldjump"/>
            <a:extLst>
              <a:ext uri="{FF2B5EF4-FFF2-40B4-BE49-F238E27FC236}">
                <a16:creationId xmlns:a16="http://schemas.microsoft.com/office/drawing/2014/main" id="{2944B4C5-BE21-3D14-C5F8-08F9D39204EF}"/>
              </a:ext>
            </a:extLst>
          </p:cNvPr>
          <p:cNvSpPr txBox="1"/>
          <p:nvPr>
            <p:custDataLst>
              <p:tags r:id="rId7"/>
            </p:custDataLst>
          </p:nvPr>
        </p:nvSpPr>
        <p:spPr>
          <a:xfrm>
            <a:off x="1714809" y="5183569"/>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Important notice</a:t>
            </a:r>
          </a:p>
        </p:txBody>
      </p:sp>
      <p:sp>
        <p:nvSpPr>
          <p:cNvPr id="111" name="TextBox 110">
            <a:hlinkClick r:id="rId36" action="ppaction://hlinksldjump"/>
            <a:extLst>
              <a:ext uri="{FF2B5EF4-FFF2-40B4-BE49-F238E27FC236}">
                <a16:creationId xmlns:a16="http://schemas.microsoft.com/office/drawing/2014/main" id="{3553E93C-A0B0-B729-B265-1B39EE67AB61}"/>
              </a:ext>
            </a:extLst>
          </p:cNvPr>
          <p:cNvSpPr txBox="1"/>
          <p:nvPr>
            <p:custDataLst>
              <p:tags r:id="rId8"/>
            </p:custDataLst>
          </p:nvPr>
        </p:nvSpPr>
        <p:spPr>
          <a:xfrm>
            <a:off x="6716117" y="3566606"/>
            <a:ext cx="4321247"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Basis of preparation</a:t>
            </a:r>
          </a:p>
        </p:txBody>
      </p:sp>
      <p:sp>
        <p:nvSpPr>
          <p:cNvPr id="112" name="TextBox 111">
            <a:hlinkClick r:id="rId37" action="ppaction://hlinksldjump"/>
            <a:extLst>
              <a:ext uri="{FF2B5EF4-FFF2-40B4-BE49-F238E27FC236}">
                <a16:creationId xmlns:a16="http://schemas.microsoft.com/office/drawing/2014/main" id="{6BFDB6E4-C17D-87DD-36BF-34640EAAA632}"/>
              </a:ext>
            </a:extLst>
          </p:cNvPr>
          <p:cNvSpPr txBox="1"/>
          <p:nvPr>
            <p:custDataLst>
              <p:tags r:id="rId9"/>
            </p:custDataLst>
          </p:nvPr>
        </p:nvSpPr>
        <p:spPr>
          <a:xfrm>
            <a:off x="6716117" y="3961322"/>
            <a:ext cx="4321247"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Scope of work</a:t>
            </a:r>
          </a:p>
        </p:txBody>
      </p:sp>
      <p:sp>
        <p:nvSpPr>
          <p:cNvPr id="113" name="TextBox 112">
            <a:hlinkClick r:id="rId38" action="ppaction://hlinksldjump"/>
            <a:extLst>
              <a:ext uri="{FF2B5EF4-FFF2-40B4-BE49-F238E27FC236}">
                <a16:creationId xmlns:a16="http://schemas.microsoft.com/office/drawing/2014/main" id="{EC49FFC3-2D43-08E7-6ADB-974D7192D6BC}"/>
              </a:ext>
            </a:extLst>
          </p:cNvPr>
          <p:cNvSpPr txBox="1"/>
          <p:nvPr>
            <p:custDataLst>
              <p:tags r:id="rId10"/>
            </p:custDataLst>
          </p:nvPr>
        </p:nvSpPr>
        <p:spPr>
          <a:xfrm>
            <a:off x="6716117" y="4356038"/>
            <a:ext cx="4321247"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dirty="0">
                <a:solidFill>
                  <a:srgbClr val="FFFFFF"/>
                </a:solidFill>
                <a:effectLst/>
                <a:latin typeface="+mn-lt"/>
              </a:rPr>
              <a:t>Glossary</a:t>
            </a:r>
          </a:p>
        </p:txBody>
      </p:sp>
      <p:sp>
        <p:nvSpPr>
          <p:cNvPr id="114" name="TextBox 113">
            <a:hlinkClick r:id="rId30" action="ppaction://hlinksldjump"/>
            <a:extLst>
              <a:ext uri="{FF2B5EF4-FFF2-40B4-BE49-F238E27FC236}">
                <a16:creationId xmlns:a16="http://schemas.microsoft.com/office/drawing/2014/main" id="{06737505-731D-0C7F-7DC8-7AC7C18F0BBC}"/>
              </a:ext>
            </a:extLst>
          </p:cNvPr>
          <p:cNvSpPr txBox="1"/>
          <p:nvPr>
            <p:custDataLst>
              <p:tags r:id="rId11"/>
            </p:custDataLst>
          </p:nvPr>
        </p:nvSpPr>
        <p:spPr>
          <a:xfrm>
            <a:off x="1289304" y="3566606"/>
            <a:ext cx="3952700" cy="0"/>
          </a:xfrm>
          <a:prstGeom prst="rect">
            <a:avLst/>
          </a:prstGeom>
        </p:spPr>
        <p:txBody>
          <a:bodyPr vert="horz" wrap="none" lIns="0" tIns="0" rIns="0" bIns="4389120" rtlCol="0" anchor="t" anchorCtr="0">
            <a:noAutofit/>
          </a:bodyPr>
          <a:lstStyle/>
          <a:p>
            <a:pPr algn="l">
              <a:lnSpc>
                <a:spcPct val="80000"/>
              </a:lnSpc>
              <a:spcAft>
                <a:spcPts val="600"/>
              </a:spcAft>
            </a:pPr>
            <a:r>
              <a:rPr lang="en-US" sz="6600" b="1">
                <a:solidFill>
                  <a:srgbClr val="FFFFFF"/>
                </a:solidFill>
                <a:latin typeface="+mj-lt"/>
              </a:rPr>
              <a:t>06</a:t>
            </a:r>
          </a:p>
        </p:txBody>
      </p:sp>
      <p:sp>
        <p:nvSpPr>
          <p:cNvPr id="115" name="TextBox 114">
            <a:hlinkClick r:id="rId30" action="ppaction://hlinksldjump"/>
            <a:extLst>
              <a:ext uri="{FF2B5EF4-FFF2-40B4-BE49-F238E27FC236}">
                <a16:creationId xmlns:a16="http://schemas.microsoft.com/office/drawing/2014/main" id="{AC402EAC-85A6-FAC9-7094-38A21C7FA179}"/>
              </a:ext>
            </a:extLst>
          </p:cNvPr>
          <p:cNvSpPr txBox="1"/>
          <p:nvPr>
            <p:custDataLst>
              <p:tags r:id="rId12"/>
            </p:custDataLst>
          </p:nvPr>
        </p:nvSpPr>
        <p:spPr>
          <a:xfrm>
            <a:off x="6163612" y="3209990"/>
            <a:ext cx="0" cy="356616"/>
          </a:xfrm>
          <a:prstGeom prst="rect">
            <a:avLst/>
          </a:prstGeom>
          <a:noFill/>
          <a:ln>
            <a:noFill/>
          </a:ln>
        </p:spPr>
        <p:txBody>
          <a:bodyPr vert="horz" wrap="none" lIns="0" tIns="0" rIns="0" bIns="0" rtlCol="0" anchor="t" anchorCtr="0">
            <a:noAutofit/>
          </a:bodyPr>
          <a:lstStyle/>
          <a:p>
            <a:pPr algn="ctr"/>
            <a:r>
              <a:rPr lang="en-US" sz="100">
                <a:ln>
                  <a:noFill/>
                </a:ln>
                <a:noFill/>
                <a:latin typeface="+mj-lt"/>
              </a:rPr>
              <a:t>48</a:t>
            </a:r>
          </a:p>
        </p:txBody>
      </p:sp>
      <p:sp>
        <p:nvSpPr>
          <p:cNvPr id="116" name="TextBox 115">
            <a:hlinkClick r:id="rId31" action="ppaction://hlinksldjump"/>
            <a:extLst>
              <a:ext uri="{FF2B5EF4-FFF2-40B4-BE49-F238E27FC236}">
                <a16:creationId xmlns:a16="http://schemas.microsoft.com/office/drawing/2014/main" id="{ADCE4431-7339-1910-21E3-F8B2C43B6C50}"/>
              </a:ext>
            </a:extLst>
          </p:cNvPr>
          <p:cNvSpPr txBox="1"/>
          <p:nvPr>
            <p:custDataLst>
              <p:tags r:id="rId13"/>
            </p:custDataLst>
          </p:nvPr>
        </p:nvSpPr>
        <p:spPr bwMode="auto">
          <a:xfrm>
            <a:off x="1332373" y="3604706"/>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6.1</a:t>
            </a:r>
          </a:p>
        </p:txBody>
      </p:sp>
      <p:sp>
        <p:nvSpPr>
          <p:cNvPr id="117" name="TextBox 116">
            <a:hlinkClick r:id="rId32" action="ppaction://hlinksldjump"/>
            <a:extLst>
              <a:ext uri="{FF2B5EF4-FFF2-40B4-BE49-F238E27FC236}">
                <a16:creationId xmlns:a16="http://schemas.microsoft.com/office/drawing/2014/main" id="{E1A5F766-DAAB-1529-3B44-11A5531ED272}"/>
              </a:ext>
            </a:extLst>
          </p:cNvPr>
          <p:cNvSpPr txBox="1"/>
          <p:nvPr>
            <p:custDataLst>
              <p:tags r:id="rId14"/>
            </p:custDataLst>
          </p:nvPr>
        </p:nvSpPr>
        <p:spPr bwMode="auto">
          <a:xfrm>
            <a:off x="1332373" y="3999422"/>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6.2</a:t>
            </a:r>
          </a:p>
        </p:txBody>
      </p:sp>
      <p:sp>
        <p:nvSpPr>
          <p:cNvPr id="118" name="TextBox 117">
            <a:hlinkClick r:id="rId33" action="ppaction://hlinksldjump"/>
            <a:extLst>
              <a:ext uri="{FF2B5EF4-FFF2-40B4-BE49-F238E27FC236}">
                <a16:creationId xmlns:a16="http://schemas.microsoft.com/office/drawing/2014/main" id="{D0321065-04B3-0B01-BF2E-C02C820BA326}"/>
              </a:ext>
            </a:extLst>
          </p:cNvPr>
          <p:cNvSpPr txBox="1"/>
          <p:nvPr>
            <p:custDataLst>
              <p:tags r:id="rId15"/>
            </p:custDataLst>
          </p:nvPr>
        </p:nvSpPr>
        <p:spPr bwMode="auto">
          <a:xfrm>
            <a:off x="1332373" y="4394138"/>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6.3</a:t>
            </a:r>
          </a:p>
        </p:txBody>
      </p:sp>
      <p:sp>
        <p:nvSpPr>
          <p:cNvPr id="119" name="TextBox 118">
            <a:hlinkClick r:id="rId34" action="ppaction://hlinksldjump"/>
            <a:extLst>
              <a:ext uri="{FF2B5EF4-FFF2-40B4-BE49-F238E27FC236}">
                <a16:creationId xmlns:a16="http://schemas.microsoft.com/office/drawing/2014/main" id="{7EF294F0-02FD-DA74-296D-B9DB051418EF}"/>
              </a:ext>
            </a:extLst>
          </p:cNvPr>
          <p:cNvSpPr txBox="1"/>
          <p:nvPr>
            <p:custDataLst>
              <p:tags r:id="rId16"/>
            </p:custDataLst>
          </p:nvPr>
        </p:nvSpPr>
        <p:spPr bwMode="auto">
          <a:xfrm>
            <a:off x="1332373" y="4788853"/>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6.4</a:t>
            </a:r>
          </a:p>
        </p:txBody>
      </p:sp>
      <p:sp>
        <p:nvSpPr>
          <p:cNvPr id="120" name="TextBox 119">
            <a:hlinkClick r:id="rId35" action="ppaction://hlinksldjump"/>
            <a:extLst>
              <a:ext uri="{FF2B5EF4-FFF2-40B4-BE49-F238E27FC236}">
                <a16:creationId xmlns:a16="http://schemas.microsoft.com/office/drawing/2014/main" id="{C6984C89-EBEB-A93E-429A-196CD8BEC90E}"/>
              </a:ext>
            </a:extLst>
          </p:cNvPr>
          <p:cNvSpPr txBox="1"/>
          <p:nvPr>
            <p:custDataLst>
              <p:tags r:id="rId17"/>
            </p:custDataLst>
          </p:nvPr>
        </p:nvSpPr>
        <p:spPr bwMode="auto">
          <a:xfrm>
            <a:off x="1332373" y="5183569"/>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6.5</a:t>
            </a:r>
          </a:p>
        </p:txBody>
      </p:sp>
      <p:sp>
        <p:nvSpPr>
          <p:cNvPr id="121" name="TextBox 120">
            <a:hlinkClick r:id="rId36" action="ppaction://hlinksldjump"/>
            <a:extLst>
              <a:ext uri="{FF2B5EF4-FFF2-40B4-BE49-F238E27FC236}">
                <a16:creationId xmlns:a16="http://schemas.microsoft.com/office/drawing/2014/main" id="{C7FA25C4-808F-8C87-DC20-B79F88C24982}"/>
              </a:ext>
            </a:extLst>
          </p:cNvPr>
          <p:cNvSpPr txBox="1"/>
          <p:nvPr>
            <p:custDataLst>
              <p:tags r:id="rId18"/>
            </p:custDataLst>
          </p:nvPr>
        </p:nvSpPr>
        <p:spPr bwMode="auto">
          <a:xfrm>
            <a:off x="6333681" y="3566606"/>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6.6</a:t>
            </a:r>
          </a:p>
        </p:txBody>
      </p:sp>
      <p:sp>
        <p:nvSpPr>
          <p:cNvPr id="122" name="TextBox 121">
            <a:hlinkClick r:id="rId37" action="ppaction://hlinksldjump"/>
            <a:extLst>
              <a:ext uri="{FF2B5EF4-FFF2-40B4-BE49-F238E27FC236}">
                <a16:creationId xmlns:a16="http://schemas.microsoft.com/office/drawing/2014/main" id="{E67FA48E-C795-404D-43A4-45E9C4E8FCB6}"/>
              </a:ext>
            </a:extLst>
          </p:cNvPr>
          <p:cNvSpPr txBox="1"/>
          <p:nvPr>
            <p:custDataLst>
              <p:tags r:id="rId19"/>
            </p:custDataLst>
          </p:nvPr>
        </p:nvSpPr>
        <p:spPr bwMode="auto">
          <a:xfrm>
            <a:off x="6333681" y="3961322"/>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6.7</a:t>
            </a:r>
          </a:p>
        </p:txBody>
      </p:sp>
      <p:sp>
        <p:nvSpPr>
          <p:cNvPr id="123" name="TextBox 122">
            <a:hlinkClick r:id="rId38" action="ppaction://hlinksldjump"/>
            <a:extLst>
              <a:ext uri="{FF2B5EF4-FFF2-40B4-BE49-F238E27FC236}">
                <a16:creationId xmlns:a16="http://schemas.microsoft.com/office/drawing/2014/main" id="{0E32F3EF-AAAB-320E-2B36-FD9A02B9128F}"/>
              </a:ext>
            </a:extLst>
          </p:cNvPr>
          <p:cNvSpPr txBox="1"/>
          <p:nvPr>
            <p:custDataLst>
              <p:tags r:id="rId20"/>
            </p:custDataLst>
          </p:nvPr>
        </p:nvSpPr>
        <p:spPr bwMode="auto">
          <a:xfrm>
            <a:off x="6333681" y="4356038"/>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6.8</a:t>
            </a:r>
          </a:p>
        </p:txBody>
      </p:sp>
      <p:sp>
        <p:nvSpPr>
          <p:cNvPr id="124" name="TextBox 123">
            <a:hlinkClick r:id="rId31" action="ppaction://hlinksldjump"/>
            <a:extLst>
              <a:ext uri="{FF2B5EF4-FFF2-40B4-BE49-F238E27FC236}">
                <a16:creationId xmlns:a16="http://schemas.microsoft.com/office/drawing/2014/main" id="{6499C4DF-5892-A403-F037-5BE5C4C24F8F}"/>
              </a:ext>
            </a:extLst>
          </p:cNvPr>
          <p:cNvSpPr txBox="1"/>
          <p:nvPr>
            <p:custDataLst>
              <p:tags r:id="rId21"/>
            </p:custDataLst>
          </p:nvPr>
        </p:nvSpPr>
        <p:spPr>
          <a:xfrm>
            <a:off x="6163612" y="3604706"/>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49</a:t>
            </a:r>
          </a:p>
        </p:txBody>
      </p:sp>
      <p:sp>
        <p:nvSpPr>
          <p:cNvPr id="125" name="TextBox 124">
            <a:hlinkClick r:id="rId32" action="ppaction://hlinksldjump"/>
            <a:extLst>
              <a:ext uri="{FF2B5EF4-FFF2-40B4-BE49-F238E27FC236}">
                <a16:creationId xmlns:a16="http://schemas.microsoft.com/office/drawing/2014/main" id="{C18DE4A0-719E-B497-2143-9D97CB27DBA9}"/>
              </a:ext>
            </a:extLst>
          </p:cNvPr>
          <p:cNvSpPr txBox="1"/>
          <p:nvPr>
            <p:custDataLst>
              <p:tags r:id="rId22"/>
            </p:custDataLst>
          </p:nvPr>
        </p:nvSpPr>
        <p:spPr>
          <a:xfrm>
            <a:off x="6163612" y="3999422"/>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50</a:t>
            </a:r>
          </a:p>
        </p:txBody>
      </p:sp>
      <p:sp>
        <p:nvSpPr>
          <p:cNvPr id="126" name="TextBox 125">
            <a:hlinkClick r:id="rId33" action="ppaction://hlinksldjump"/>
            <a:extLst>
              <a:ext uri="{FF2B5EF4-FFF2-40B4-BE49-F238E27FC236}">
                <a16:creationId xmlns:a16="http://schemas.microsoft.com/office/drawing/2014/main" id="{CB5E3EFB-745D-26E5-C0D7-CEE887D23443}"/>
              </a:ext>
            </a:extLst>
          </p:cNvPr>
          <p:cNvSpPr txBox="1"/>
          <p:nvPr>
            <p:custDataLst>
              <p:tags r:id="rId23"/>
            </p:custDataLst>
          </p:nvPr>
        </p:nvSpPr>
        <p:spPr>
          <a:xfrm>
            <a:off x="6163612" y="4394138"/>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51</a:t>
            </a:r>
          </a:p>
        </p:txBody>
      </p:sp>
      <p:sp>
        <p:nvSpPr>
          <p:cNvPr id="127" name="TextBox 126">
            <a:hlinkClick r:id="rId34" action="ppaction://hlinksldjump"/>
            <a:extLst>
              <a:ext uri="{FF2B5EF4-FFF2-40B4-BE49-F238E27FC236}">
                <a16:creationId xmlns:a16="http://schemas.microsoft.com/office/drawing/2014/main" id="{6941769D-570E-9635-CA8B-DF77DF64955A}"/>
              </a:ext>
            </a:extLst>
          </p:cNvPr>
          <p:cNvSpPr txBox="1"/>
          <p:nvPr>
            <p:custDataLst>
              <p:tags r:id="rId24"/>
            </p:custDataLst>
          </p:nvPr>
        </p:nvSpPr>
        <p:spPr>
          <a:xfrm>
            <a:off x="6163612" y="4788853"/>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52</a:t>
            </a:r>
          </a:p>
        </p:txBody>
      </p:sp>
      <p:sp>
        <p:nvSpPr>
          <p:cNvPr id="128" name="TextBox 127">
            <a:hlinkClick r:id="rId35" action="ppaction://hlinksldjump"/>
            <a:extLst>
              <a:ext uri="{FF2B5EF4-FFF2-40B4-BE49-F238E27FC236}">
                <a16:creationId xmlns:a16="http://schemas.microsoft.com/office/drawing/2014/main" id="{83783D7A-541D-2CB2-3040-6D68CC22A2FF}"/>
              </a:ext>
            </a:extLst>
          </p:cNvPr>
          <p:cNvSpPr txBox="1"/>
          <p:nvPr>
            <p:custDataLst>
              <p:tags r:id="rId25"/>
            </p:custDataLst>
          </p:nvPr>
        </p:nvSpPr>
        <p:spPr>
          <a:xfrm>
            <a:off x="6163612" y="5183569"/>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53</a:t>
            </a:r>
          </a:p>
        </p:txBody>
      </p:sp>
      <p:sp>
        <p:nvSpPr>
          <p:cNvPr id="129" name="TextBox 128">
            <a:hlinkClick r:id="rId36" action="ppaction://hlinksldjump"/>
            <a:extLst>
              <a:ext uri="{FF2B5EF4-FFF2-40B4-BE49-F238E27FC236}">
                <a16:creationId xmlns:a16="http://schemas.microsoft.com/office/drawing/2014/main" id="{95F96643-AE7E-0EDC-9753-FDEE18B80CD9}"/>
              </a:ext>
            </a:extLst>
          </p:cNvPr>
          <p:cNvSpPr txBox="1"/>
          <p:nvPr>
            <p:custDataLst>
              <p:tags r:id="rId26"/>
            </p:custDataLst>
          </p:nvPr>
        </p:nvSpPr>
        <p:spPr>
          <a:xfrm>
            <a:off x="10931809" y="3566606"/>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54</a:t>
            </a:r>
          </a:p>
        </p:txBody>
      </p:sp>
      <p:sp>
        <p:nvSpPr>
          <p:cNvPr id="130" name="TextBox 129">
            <a:hlinkClick r:id="rId37" action="ppaction://hlinksldjump"/>
            <a:extLst>
              <a:ext uri="{FF2B5EF4-FFF2-40B4-BE49-F238E27FC236}">
                <a16:creationId xmlns:a16="http://schemas.microsoft.com/office/drawing/2014/main" id="{74206DC4-ECC3-91F5-88DA-7FEF5D3789B1}"/>
              </a:ext>
            </a:extLst>
          </p:cNvPr>
          <p:cNvSpPr txBox="1"/>
          <p:nvPr>
            <p:custDataLst>
              <p:tags r:id="rId27"/>
            </p:custDataLst>
          </p:nvPr>
        </p:nvSpPr>
        <p:spPr>
          <a:xfrm>
            <a:off x="10931809" y="3961322"/>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55</a:t>
            </a:r>
          </a:p>
        </p:txBody>
      </p:sp>
      <p:sp>
        <p:nvSpPr>
          <p:cNvPr id="131" name="TextBox 130">
            <a:hlinkClick r:id="rId38" action="ppaction://hlinksldjump"/>
            <a:extLst>
              <a:ext uri="{FF2B5EF4-FFF2-40B4-BE49-F238E27FC236}">
                <a16:creationId xmlns:a16="http://schemas.microsoft.com/office/drawing/2014/main" id="{8CFD2333-93F9-1FAC-D573-D46C553F013F}"/>
              </a:ext>
            </a:extLst>
          </p:cNvPr>
          <p:cNvSpPr txBox="1"/>
          <p:nvPr>
            <p:custDataLst>
              <p:tags r:id="rId28"/>
            </p:custDataLst>
          </p:nvPr>
        </p:nvSpPr>
        <p:spPr>
          <a:xfrm>
            <a:off x="10931809" y="4356038"/>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58</a:t>
            </a:r>
          </a:p>
        </p:txBody>
      </p:sp>
    </p:spTree>
    <p:custDataLst>
      <p:tags r:id="rId1"/>
    </p:custDataLst>
    <p:extLst>
      <p:ext uri="{BB962C8B-B14F-4D97-AF65-F5344CB8AC3E}">
        <p14:creationId xmlns:p14="http://schemas.microsoft.com/office/powerpoint/2010/main" val="42484339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BCDFE7DA-7B6F-40AE-9A1B-BADC4E876DB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9" imgW="395" imgH="394" progId="TCLayout.ActiveDocument.1">
                  <p:embed/>
                </p:oleObj>
              </mc:Choice>
              <mc:Fallback>
                <p:oleObj name="think-cell Slide" r:id="rId9" imgW="395" imgH="394" progId="TCLayout.ActiveDocument.1">
                  <p:embed/>
                  <p:pic>
                    <p:nvPicPr>
                      <p:cNvPr id="9" name="Object 8" hidden="1">
                        <a:extLst>
                          <a:ext uri="{FF2B5EF4-FFF2-40B4-BE49-F238E27FC236}">
                            <a16:creationId xmlns:a16="http://schemas.microsoft.com/office/drawing/2014/main" id="{BCDFE7DA-7B6F-40AE-9A1B-BADC4E876DB8}"/>
                          </a:ext>
                        </a:extLst>
                      </p:cNvPr>
                      <p:cNvPicPr/>
                      <p:nvPr/>
                    </p:nvPicPr>
                    <p:blipFill>
                      <a:blip r:embed="rId10"/>
                      <a:stretch>
                        <a:fillRect/>
                      </a:stretch>
                    </p:blipFill>
                    <p:spPr>
                      <a:xfrm>
                        <a:off x="1589" y="1589"/>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583AE8F2-6D88-EA64-FBEB-3D7E586BCB2C}"/>
              </a:ext>
            </a:extLst>
          </p:cNvPr>
          <p:cNvSpPr>
            <a:spLocks noGrp="1"/>
          </p:cNvSpPr>
          <p:nvPr>
            <p:ph type="title"/>
          </p:nvPr>
        </p:nvSpPr>
        <p:spPr/>
        <p:txBody>
          <a:bodyPr/>
          <a:lstStyle/>
          <a:p>
            <a:r>
              <a:rPr lang="en-US"/>
              <a:t>1. Trial balance reconciliation to audited financial statements</a:t>
            </a:r>
            <a:endParaRPr lang="fi-FI"/>
          </a:p>
        </p:txBody>
      </p:sp>
      <p:sp>
        <p:nvSpPr>
          <p:cNvPr id="51" name="Rectangle 50">
            <a:extLst>
              <a:ext uri="{FF2B5EF4-FFF2-40B4-BE49-F238E27FC236}">
                <a16:creationId xmlns:a16="http://schemas.microsoft.com/office/drawing/2014/main" id="{884E732E-311D-4F4B-A726-6C757B5A92EB}"/>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52" name="Rectangle 51">
            <a:extLst>
              <a:ext uri="{FF2B5EF4-FFF2-40B4-BE49-F238E27FC236}">
                <a16:creationId xmlns:a16="http://schemas.microsoft.com/office/drawing/2014/main" id="{5E8A13FD-F619-4A6F-8687-0EDD70B9DB40}"/>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56" name="Rectangle 55">
            <a:extLst>
              <a:ext uri="{FF2B5EF4-FFF2-40B4-BE49-F238E27FC236}">
                <a16:creationId xmlns:a16="http://schemas.microsoft.com/office/drawing/2014/main" id="{D3E7F33F-69AA-4951-A835-C1223A8DDCBB}"/>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57" name="Rectangle 56">
            <a:extLst>
              <a:ext uri="{FF2B5EF4-FFF2-40B4-BE49-F238E27FC236}">
                <a16:creationId xmlns:a16="http://schemas.microsoft.com/office/drawing/2014/main" id="{30BB9E86-36AE-4011-BBF8-C8C5B3A18190}"/>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58" name="Rectangle 57">
            <a:extLst>
              <a:ext uri="{FF2B5EF4-FFF2-40B4-BE49-F238E27FC236}">
                <a16:creationId xmlns:a16="http://schemas.microsoft.com/office/drawing/2014/main" id="{EC14A40A-0475-4FA5-A1D0-A238CA4614E8}"/>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41" name="Rectangle 40">
            <a:hlinkClick r:id="" action="ppaction://noaction"/>
            <a:extLst>
              <a:ext uri="{FF2B5EF4-FFF2-40B4-BE49-F238E27FC236}">
                <a16:creationId xmlns:a16="http://schemas.microsoft.com/office/drawing/2014/main" id="{F8650165-DD85-27B3-BEC1-63C991E8C9E5}"/>
              </a:ext>
            </a:extLst>
          </p:cNvPr>
          <p:cNvSpPr/>
          <p:nvPr/>
        </p:nvSpPr>
        <p:spPr>
          <a:xfrm>
            <a:off x="7754295" y="-179542"/>
            <a:ext cx="93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 name="Text Placeholder 12">
            <a:extLst>
              <a:ext uri="{FF2B5EF4-FFF2-40B4-BE49-F238E27FC236}">
                <a16:creationId xmlns:a16="http://schemas.microsoft.com/office/drawing/2014/main" id="{E05F8FB9-F001-D9C7-5973-C73F7B07221C}"/>
              </a:ext>
            </a:extLst>
          </p:cNvPr>
          <p:cNvSpPr txBox="1">
            <a:spLocks/>
          </p:cNvSpPr>
          <p:nvPr/>
        </p:nvSpPr>
        <p:spPr>
          <a:xfrm>
            <a:off x="995120" y="5786403"/>
            <a:ext cx="9486343" cy="302647"/>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We have compared FY23 per the VDD databook to the Directors report (as both include a full year of Fastcase results, whereas the Audited FS only include post acquisition results from Fastcase). We also compare the 9 month results in the table on the right of this 	page. Variances are primarily due to Management tracking non-recurrent expenses separately in the trial balances (Ii.e., not presented in the relevant costs captions in the audit/directors report).</a:t>
            </a:r>
          </a:p>
          <a:p>
            <a:pPr defTabSz="444500" rtl="0">
              <a:spcAft>
                <a:spcPts val="200"/>
              </a:spcAft>
            </a:pPr>
            <a:r>
              <a:rPr lang="en-US" sz="600" b="0">
                <a:solidFill>
                  <a:schemeClr val="tx2"/>
                </a:solidFill>
                <a:latin typeface="Arial" panose="020B0604020202020204" pitchFamily="34" charset="0"/>
              </a:rPr>
              <a:t>Source: 	</a:t>
            </a:r>
            <a:r>
              <a:rPr lang="nl-NL" sz="600" b="0">
                <a:solidFill>
                  <a:schemeClr val="tx2"/>
                </a:solidFill>
                <a:latin typeface="Arial" panose="020B0604020202020204" pitchFamily="34" charset="0"/>
              </a:rPr>
              <a:t>2.2.2.6_20250515 Project Vortex - Databook - PL.xlsx. Audited FS for 2023 and 2024.</a:t>
            </a:r>
            <a:endParaRPr lang="en-US" sz="600" b="0">
              <a:solidFill>
                <a:schemeClr val="tx2"/>
              </a:solidFill>
              <a:latin typeface="Arial" panose="020B0604020202020204" pitchFamily="34" charset="0"/>
            </a:endParaRPr>
          </a:p>
        </p:txBody>
      </p:sp>
      <p:sp>
        <p:nvSpPr>
          <p:cNvPr id="6" name="Text Placeholder 7">
            <a:extLst>
              <a:ext uri="{FF2B5EF4-FFF2-40B4-BE49-F238E27FC236}">
                <a16:creationId xmlns:a16="http://schemas.microsoft.com/office/drawing/2014/main" id="{35858FD9-8F58-9726-D83B-532308C3E343}"/>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8" name="Text Placeholder 12">
            <a:extLst>
              <a:ext uri="{FF2B5EF4-FFF2-40B4-BE49-F238E27FC236}">
                <a16:creationId xmlns:a16="http://schemas.microsoft.com/office/drawing/2014/main" id="{B7670E8E-AD16-C175-0D26-C2945D6B0753}"/>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6" name="Rounded Rectangle 7">
            <a:extLst>
              <a:ext uri="{FF2B5EF4-FFF2-40B4-BE49-F238E27FC236}">
                <a16:creationId xmlns:a16="http://schemas.microsoft.com/office/drawing/2014/main" id="{94B462EF-47A4-D3E1-9C75-6CDAD1E402F2}"/>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66DF6E8F-36F3-9651-53D5-350F6C7B975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CE97F28-D39D-C664-BA48-E54A04A727AD}"/>
              </a:ext>
            </a:extLst>
          </p:cNvPr>
          <p:cNvCxnSpPr>
            <a:cxnSpLocks/>
            <a:stCxn id="17" idx="2"/>
            <a:endCxn id="1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EBE7F5E7-89B4-D9DD-CF89-E585C9FC98E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3" name="Rectangle 2">
            <a:extLst>
              <a:ext uri="{FF2B5EF4-FFF2-40B4-BE49-F238E27FC236}">
                <a16:creationId xmlns:a16="http://schemas.microsoft.com/office/drawing/2014/main" id="{B18D6E26-8260-0F30-3D64-83D9C75649B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2" name="Rectangle 11">
            <a:extLst>
              <a:ext uri="{FF2B5EF4-FFF2-40B4-BE49-F238E27FC236}">
                <a16:creationId xmlns:a16="http://schemas.microsoft.com/office/drawing/2014/main" id="{1506CFCD-0942-23AB-29F5-9AE1286544CC}"/>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3" name="Rectangle 12">
            <a:extLst>
              <a:ext uri="{FF2B5EF4-FFF2-40B4-BE49-F238E27FC236}">
                <a16:creationId xmlns:a16="http://schemas.microsoft.com/office/drawing/2014/main" id="{FE9D54D7-CFE8-0B01-06B3-98283104F14D}"/>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21" name="UpSlide SubSection Marker" hidden="1">
            <a:extLst>
              <a:ext uri="{FF2B5EF4-FFF2-40B4-BE49-F238E27FC236}">
                <a16:creationId xmlns:a16="http://schemas.microsoft.com/office/drawing/2014/main" id="{279B1CC1-AB5F-95F4-AECF-1195010C34C9}"/>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Audit reconciliation</a:t>
            </a:r>
          </a:p>
        </p:txBody>
      </p:sp>
      <p:sp>
        <p:nvSpPr>
          <p:cNvPr id="53" name="Text Placeholder 48">
            <a:extLst>
              <a:ext uri="{FF2B5EF4-FFF2-40B4-BE49-F238E27FC236}">
                <a16:creationId xmlns:a16="http://schemas.microsoft.com/office/drawing/2014/main" id="{8FC8E43F-9476-33F0-CDFC-A05EB7AB2E6D}"/>
              </a:ext>
            </a:extLst>
          </p:cNvPr>
          <p:cNvSpPr txBox="1">
            <a:spLocks/>
          </p:cNvSpPr>
          <p:nvPr/>
        </p:nvSpPr>
        <p:spPr>
          <a:xfrm>
            <a:off x="1001948" y="2077199"/>
            <a:ext cx="5029813" cy="3653904"/>
          </a:xfrm>
          <a:prstGeom prst="rect">
            <a:avLst/>
          </a:prstGeom>
        </p:spPr>
        <p:txBody>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r>
              <a:rPr lang="en-US"/>
              <a:t>Add text here</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F19D8643-FA5A-110D-B6B8-87D48E3D2006}"/>
              </a:ext>
            </a:extLst>
          </p:cNvPr>
          <p:cNvPicPr>
            <a:picLocks noChangeAspect="1"/>
          </p:cNvPicPr>
          <p:nvPr>
            <p:custDataLst>
              <p:tags r:id="rId4"/>
            </p:custDataLst>
          </p:nvPr>
        </p:nvPicPr>
        <p:blipFill>
          <a:blip r:embed="rId11"/>
          <a:stretch>
            <a:fillRect/>
          </a:stretch>
        </p:blipFill>
        <p:spPr>
          <a:xfrm>
            <a:off x="6823864" y="1331681"/>
            <a:ext cx="3657600" cy="3046216"/>
          </a:xfrm>
          <a:prstGeom prst="rect">
            <a:avLst/>
          </a:prstGeom>
        </p:spPr>
      </p:pic>
      <p:pic>
        <p:nvPicPr>
          <p:cNvPr id="14" name="Picture 13">
            <a:extLst>
              <a:ext uri="{FF2B5EF4-FFF2-40B4-BE49-F238E27FC236}">
                <a16:creationId xmlns:a16="http://schemas.microsoft.com/office/drawing/2014/main" id="{3EAAC9FE-A9B8-A2F2-E029-FD9E72F8B929}"/>
              </a:ext>
            </a:extLst>
          </p:cNvPr>
          <p:cNvPicPr>
            <a:picLocks noChangeAspect="1"/>
          </p:cNvPicPr>
          <p:nvPr>
            <p:custDataLst>
              <p:tags r:id="rId5"/>
            </p:custDataLst>
          </p:nvPr>
        </p:nvPicPr>
        <p:blipFill>
          <a:blip r:embed="rId12"/>
          <a:stretch>
            <a:fillRect/>
          </a:stretch>
        </p:blipFill>
        <p:spPr>
          <a:xfrm>
            <a:off x="995121" y="1331681"/>
            <a:ext cx="5029200" cy="3030366"/>
          </a:xfrm>
          <a:prstGeom prst="rect">
            <a:avLst/>
          </a:prstGeom>
        </p:spPr>
      </p:pic>
      <p:grpSp>
        <p:nvGrpSpPr>
          <p:cNvPr id="213" name="Group 212">
            <a:extLst>
              <a:ext uri="{FF2B5EF4-FFF2-40B4-BE49-F238E27FC236}">
                <a16:creationId xmlns:a16="http://schemas.microsoft.com/office/drawing/2014/main" id="{52C6ADF6-914C-A41D-8B0D-F6F62030A9A7}"/>
              </a:ext>
            </a:extLst>
          </p:cNvPr>
          <p:cNvGrpSpPr/>
          <p:nvPr>
            <p:custDataLst>
              <p:tags r:id="rId6"/>
            </p:custDataLst>
          </p:nvPr>
        </p:nvGrpSpPr>
        <p:grpSpPr>
          <a:xfrm>
            <a:off x="995364" y="153170"/>
            <a:ext cx="7409484" cy="195814"/>
            <a:chOff x="995364" y="153170"/>
            <a:chExt cx="7409484" cy="195814"/>
          </a:xfrm>
        </p:grpSpPr>
        <p:sp>
          <p:nvSpPr>
            <p:cNvPr id="207" name="Other Sections1">
              <a:hlinkClick r:id="rId13"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08" name="Other Sections2">
              <a:hlinkClick r:id="rId14"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209" name="Other Sections3">
              <a:hlinkClick r:id="rId15" action="ppaction://hlinksldjump"/>
              <a:extLst>
                <a:ext uri="{FF2B5EF4-FFF2-40B4-BE49-F238E27FC236}">
                  <a16:creationId xmlns:a16="http://schemas.microsoft.com/office/drawing/2014/main" id="{8A19844E-D291-CA81-3B22-2B52F21919DA}"/>
                </a:ext>
              </a:extLst>
            </p:cNvPr>
            <p:cNvSpPr>
              <a:spLocks/>
            </p:cNvSpPr>
            <p:nvPr/>
          </p:nvSpPr>
          <p:spPr>
            <a:xfrm>
              <a:off x="3325196"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210" name="Other Sections4">
              <a:hlinkClick r:id="rId16" action="ppaction://hlinksldjump"/>
              <a:extLst>
                <a:ext uri="{FF2B5EF4-FFF2-40B4-BE49-F238E27FC236}">
                  <a16:creationId xmlns:a16="http://schemas.microsoft.com/office/drawing/2014/main" id="{8A19844E-D291-CA81-3B22-2B52F21919DA}"/>
                </a:ext>
              </a:extLst>
            </p:cNvPr>
            <p:cNvSpPr>
              <a:spLocks/>
            </p:cNvSpPr>
            <p:nvPr/>
          </p:nvSpPr>
          <p:spPr>
            <a:xfrm>
              <a:off x="47738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11" name="Other Sections5">
              <a:hlinkClick r:id="rId17" action="ppaction://hlinksldjump"/>
              <a:extLst>
                <a:ext uri="{FF2B5EF4-FFF2-40B4-BE49-F238E27FC236}">
                  <a16:creationId xmlns:a16="http://schemas.microsoft.com/office/drawing/2014/main" id="{8A19844E-D291-CA81-3B22-2B52F21919DA}"/>
                </a:ext>
              </a:extLst>
            </p:cNvPr>
            <p:cNvSpPr>
              <a:spLocks/>
            </p:cNvSpPr>
            <p:nvPr/>
          </p:nvSpPr>
          <p:spPr>
            <a:xfrm>
              <a:off x="5574879"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212" name="Current Section6">
              <a:hlinkClick r:id="rId18" action="ppaction://hlinksldjump"/>
              <a:extLst>
                <a:ext uri="{FF2B5EF4-FFF2-40B4-BE49-F238E27FC236}">
                  <a16:creationId xmlns:a16="http://schemas.microsoft.com/office/drawing/2014/main" id="{89A61135-1F00-E77F-7C78-5FBA241A5742}"/>
                </a:ext>
              </a:extLst>
            </p:cNvPr>
            <p:cNvSpPr>
              <a:spLocks/>
            </p:cNvSpPr>
            <p:nvPr/>
          </p:nvSpPr>
          <p:spPr>
            <a:xfrm>
              <a:off x="7675949"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315577865"/>
      </p:ext>
    </p:extLst>
  </p:cSld>
  <p:clrMapOvr>
    <a:masterClrMapping/>
  </p:clrMapOvr>
  <p:extLst>
    <p:ext uri="{6950BFC3-D8DA-4A85-94F7-54DA5524770B}">
      <p188:commentRel xmlns:p188="http://schemas.microsoft.com/office/powerpoint/2018/8/main" r:id="rId8"/>
    </p:ext>
  </p:extLs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BCDFE7DA-7B6F-40AE-9A1B-BADC4E876DB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9" name="Object 8" hidden="1">
                        <a:extLst>
                          <a:ext uri="{FF2B5EF4-FFF2-40B4-BE49-F238E27FC236}">
                            <a16:creationId xmlns:a16="http://schemas.microsoft.com/office/drawing/2014/main" id="{BCDFE7DA-7B6F-40AE-9A1B-BADC4E876DB8}"/>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583AE8F2-6D88-EA64-FBEB-3D7E586BCB2C}"/>
              </a:ext>
            </a:extLst>
          </p:cNvPr>
          <p:cNvSpPr>
            <a:spLocks noGrp="1"/>
          </p:cNvSpPr>
          <p:nvPr>
            <p:ph type="title"/>
          </p:nvPr>
        </p:nvSpPr>
        <p:spPr/>
        <p:txBody>
          <a:bodyPr/>
          <a:lstStyle/>
          <a:p>
            <a:r>
              <a:rPr lang="en-US"/>
              <a:t>2. Long term contracts deferred revenue</a:t>
            </a:r>
            <a:endParaRPr lang="fi-FI"/>
          </a:p>
        </p:txBody>
      </p:sp>
      <p:sp>
        <p:nvSpPr>
          <p:cNvPr id="51" name="Rectangle 50">
            <a:extLst>
              <a:ext uri="{FF2B5EF4-FFF2-40B4-BE49-F238E27FC236}">
                <a16:creationId xmlns:a16="http://schemas.microsoft.com/office/drawing/2014/main" id="{884E732E-311D-4F4B-A726-6C757B5A92EB}"/>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52" name="Rectangle 51">
            <a:extLst>
              <a:ext uri="{FF2B5EF4-FFF2-40B4-BE49-F238E27FC236}">
                <a16:creationId xmlns:a16="http://schemas.microsoft.com/office/drawing/2014/main" id="{5E8A13FD-F619-4A6F-8687-0EDD70B9DB40}"/>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56" name="Rectangle 55">
            <a:extLst>
              <a:ext uri="{FF2B5EF4-FFF2-40B4-BE49-F238E27FC236}">
                <a16:creationId xmlns:a16="http://schemas.microsoft.com/office/drawing/2014/main" id="{D3E7F33F-69AA-4951-A835-C1223A8DDCBB}"/>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57" name="Rectangle 56">
            <a:extLst>
              <a:ext uri="{FF2B5EF4-FFF2-40B4-BE49-F238E27FC236}">
                <a16:creationId xmlns:a16="http://schemas.microsoft.com/office/drawing/2014/main" id="{30BB9E86-36AE-4011-BBF8-C8C5B3A18190}"/>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58" name="Rectangle 57">
            <a:extLst>
              <a:ext uri="{FF2B5EF4-FFF2-40B4-BE49-F238E27FC236}">
                <a16:creationId xmlns:a16="http://schemas.microsoft.com/office/drawing/2014/main" id="{EC14A40A-0475-4FA5-A1D0-A238CA4614E8}"/>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41" name="Rectangle 40">
            <a:hlinkClick r:id="" action="ppaction://noaction"/>
            <a:extLst>
              <a:ext uri="{FF2B5EF4-FFF2-40B4-BE49-F238E27FC236}">
                <a16:creationId xmlns:a16="http://schemas.microsoft.com/office/drawing/2014/main" id="{F8650165-DD85-27B3-BEC1-63C991E8C9E5}"/>
              </a:ext>
            </a:extLst>
          </p:cNvPr>
          <p:cNvSpPr/>
          <p:nvPr/>
        </p:nvSpPr>
        <p:spPr>
          <a:xfrm>
            <a:off x="7754295" y="-179542"/>
            <a:ext cx="93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6" name="Text Placeholder 7">
            <a:extLst>
              <a:ext uri="{FF2B5EF4-FFF2-40B4-BE49-F238E27FC236}">
                <a16:creationId xmlns:a16="http://schemas.microsoft.com/office/drawing/2014/main" id="{35858FD9-8F58-9726-D83B-532308C3E343}"/>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8" name="Text Placeholder 12">
            <a:extLst>
              <a:ext uri="{FF2B5EF4-FFF2-40B4-BE49-F238E27FC236}">
                <a16:creationId xmlns:a16="http://schemas.microsoft.com/office/drawing/2014/main" id="{B7670E8E-AD16-C175-0D26-C2945D6B0753}"/>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6" name="Rounded Rectangle 7">
            <a:extLst>
              <a:ext uri="{FF2B5EF4-FFF2-40B4-BE49-F238E27FC236}">
                <a16:creationId xmlns:a16="http://schemas.microsoft.com/office/drawing/2014/main" id="{94B462EF-47A4-D3E1-9C75-6CDAD1E402F2}"/>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66DF6E8F-36F3-9651-53D5-350F6C7B975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CE97F28-D39D-C664-BA48-E54A04A727AD}"/>
              </a:ext>
            </a:extLst>
          </p:cNvPr>
          <p:cNvCxnSpPr>
            <a:cxnSpLocks/>
            <a:stCxn id="17" idx="2"/>
            <a:endCxn id="1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EBE7F5E7-89B4-D9DD-CF89-E585C9FC98E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3" name="Rectangle 2">
            <a:extLst>
              <a:ext uri="{FF2B5EF4-FFF2-40B4-BE49-F238E27FC236}">
                <a16:creationId xmlns:a16="http://schemas.microsoft.com/office/drawing/2014/main" id="{B18D6E26-8260-0F30-3D64-83D9C75649B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2" name="Rectangle 11">
            <a:extLst>
              <a:ext uri="{FF2B5EF4-FFF2-40B4-BE49-F238E27FC236}">
                <a16:creationId xmlns:a16="http://schemas.microsoft.com/office/drawing/2014/main" id="{1506CFCD-0942-23AB-29F5-9AE1286544CC}"/>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3" name="Rectangle 12">
            <a:extLst>
              <a:ext uri="{FF2B5EF4-FFF2-40B4-BE49-F238E27FC236}">
                <a16:creationId xmlns:a16="http://schemas.microsoft.com/office/drawing/2014/main" id="{FE9D54D7-CFE8-0B01-06B3-98283104F14D}"/>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21" name="UpSlide SubSection Marker" hidden="1">
            <a:extLst>
              <a:ext uri="{FF2B5EF4-FFF2-40B4-BE49-F238E27FC236}">
                <a16:creationId xmlns:a16="http://schemas.microsoft.com/office/drawing/2014/main" id="{279B1CC1-AB5F-95F4-AECF-1195010C34C9}"/>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Long term contracts deferred revenue</a:t>
            </a:r>
          </a:p>
        </p:txBody>
      </p:sp>
      <p:sp>
        <p:nvSpPr>
          <p:cNvPr id="53" name="Text Placeholder 48">
            <a:extLst>
              <a:ext uri="{FF2B5EF4-FFF2-40B4-BE49-F238E27FC236}">
                <a16:creationId xmlns:a16="http://schemas.microsoft.com/office/drawing/2014/main" id="{8FC8E43F-9476-33F0-CDFC-A05EB7AB2E6D}"/>
              </a:ext>
            </a:extLst>
          </p:cNvPr>
          <p:cNvSpPr txBox="1">
            <a:spLocks/>
          </p:cNvSpPr>
          <p:nvPr/>
        </p:nvSpPr>
        <p:spPr>
          <a:xfrm>
            <a:off x="6175388" y="3033185"/>
            <a:ext cx="5029813" cy="3653904"/>
          </a:xfrm>
          <a:prstGeom prst="rect">
            <a:avLst/>
          </a:prstGeom>
        </p:spPr>
        <p:txBody>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buNone/>
            </a:pPr>
            <a:r>
              <a:rPr lang="en-US" b="1">
                <a:solidFill>
                  <a:schemeClr val="tx2"/>
                </a:solidFill>
              </a:rPr>
              <a:t>Commentary</a:t>
            </a:r>
          </a:p>
          <a:p>
            <a:pPr lvl="2"/>
            <a:r>
              <a:rPr lang="en-US"/>
              <a:t>Seven long term contracts detailed above were billed upfront and include non-standard terms (over three years). This results in a higher reported deferred revenue (in comparison to typical subscriptions that include monthly payments or advance payments under three years).</a:t>
            </a:r>
          </a:p>
          <a:p>
            <a:pPr lvl="2"/>
            <a:r>
              <a:rPr lang="en-US"/>
              <a:t>The level of ‘normal’ deferred revenue related to these contracts has a substantial impact on the working capital target. This adjustment is subjective and depends on the assumed ‘normal’ term for long-term prepaid contracts. Therefore, we created a sensitivity matrix including various levels of deferred revenue relating to these contracts, ranging from 1 to 5 years (average deferred revenue of 5.5 to 29.5 months). </a:t>
            </a:r>
          </a:p>
          <a:p>
            <a:pPr lvl="2"/>
            <a:r>
              <a:rPr lang="en-US"/>
              <a:t>Additionally, the time period referenced in the average impacts the working capital target. </a:t>
            </a:r>
          </a:p>
          <a:p>
            <a:pPr lvl="2"/>
            <a:r>
              <a:rPr lang="en-US"/>
              <a:t>Ultimately, the agreed working capital target is $(17.0) million which is within the range of the inclusion of 17.5 months of these contracts (reflecting an average liability over a three year contract).  </a:t>
            </a:r>
          </a:p>
        </p:txBody>
      </p:sp>
      <p:pic>
        <p:nvPicPr>
          <p:cNvPr id="5" name="Picture 4">
            <a:extLst>
              <a:ext uri="{FF2B5EF4-FFF2-40B4-BE49-F238E27FC236}">
                <a16:creationId xmlns:a16="http://schemas.microsoft.com/office/drawing/2014/main" id="{31859128-858C-FD53-248F-D48CA92C99CE}"/>
              </a:ext>
            </a:extLst>
          </p:cNvPr>
          <p:cNvPicPr>
            <a:picLocks noChangeAspect="1"/>
          </p:cNvPicPr>
          <p:nvPr>
            <p:custDataLst>
              <p:tags r:id="rId4"/>
            </p:custDataLst>
          </p:nvPr>
        </p:nvPicPr>
        <p:blipFill>
          <a:blip r:embed="rId10"/>
          <a:stretch>
            <a:fillRect/>
          </a:stretch>
        </p:blipFill>
        <p:spPr>
          <a:xfrm>
            <a:off x="984332" y="3033185"/>
            <a:ext cx="3657600" cy="1423974"/>
          </a:xfrm>
          <a:prstGeom prst="rect">
            <a:avLst/>
          </a:prstGeom>
        </p:spPr>
      </p:pic>
      <p:pic>
        <p:nvPicPr>
          <p:cNvPr id="7" name="Picture 6">
            <a:extLst>
              <a:ext uri="{FF2B5EF4-FFF2-40B4-BE49-F238E27FC236}">
                <a16:creationId xmlns:a16="http://schemas.microsoft.com/office/drawing/2014/main" id="{3B7E8CB3-C22D-98E3-715A-7733F008B2B2}"/>
              </a:ext>
            </a:extLst>
          </p:cNvPr>
          <p:cNvPicPr>
            <a:picLocks noChangeAspect="1"/>
          </p:cNvPicPr>
          <p:nvPr>
            <p:custDataLst>
              <p:tags r:id="rId5"/>
            </p:custDataLst>
          </p:nvPr>
        </p:nvPicPr>
        <p:blipFill>
          <a:blip r:embed="rId11"/>
          <a:stretch>
            <a:fillRect/>
          </a:stretch>
        </p:blipFill>
        <p:spPr>
          <a:xfrm>
            <a:off x="995363" y="1323025"/>
            <a:ext cx="7315200" cy="1410851"/>
          </a:xfrm>
          <a:prstGeom prst="rect">
            <a:avLst/>
          </a:prstGeom>
        </p:spPr>
      </p:pic>
      <p:sp>
        <p:nvSpPr>
          <p:cNvPr id="11" name="Text Placeholder 12">
            <a:extLst>
              <a:ext uri="{FF2B5EF4-FFF2-40B4-BE49-F238E27FC236}">
                <a16:creationId xmlns:a16="http://schemas.microsoft.com/office/drawing/2014/main" id="{ED01B5B0-2268-BCAE-6580-CCD080A74631}"/>
              </a:ext>
            </a:extLst>
          </p:cNvPr>
          <p:cNvSpPr txBox="1">
            <a:spLocks/>
          </p:cNvSpPr>
          <p:nvPr/>
        </p:nvSpPr>
        <p:spPr>
          <a:xfrm>
            <a:off x="1067142" y="5876925"/>
            <a:ext cx="3765903"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Source: 	2.2.2.5_20250515 Project Vortex - Databook - Balance Sheet.xlsb; KPMG analysis</a:t>
            </a:r>
          </a:p>
        </p:txBody>
      </p:sp>
      <p:grpSp>
        <p:nvGrpSpPr>
          <p:cNvPr id="209" name="Group 208">
            <a:extLst>
              <a:ext uri="{FF2B5EF4-FFF2-40B4-BE49-F238E27FC236}">
                <a16:creationId xmlns:a16="http://schemas.microsoft.com/office/drawing/2014/main" id="{52C6ADF6-914C-A41D-8B0D-F6F62030A9A7}"/>
              </a:ext>
            </a:extLst>
          </p:cNvPr>
          <p:cNvGrpSpPr/>
          <p:nvPr>
            <p:custDataLst>
              <p:tags r:id="rId6"/>
            </p:custDataLst>
          </p:nvPr>
        </p:nvGrpSpPr>
        <p:grpSpPr>
          <a:xfrm>
            <a:off x="995364" y="153170"/>
            <a:ext cx="7409484" cy="195814"/>
            <a:chOff x="995364" y="153170"/>
            <a:chExt cx="7409484" cy="195814"/>
          </a:xfrm>
        </p:grpSpPr>
        <p:sp>
          <p:nvSpPr>
            <p:cNvPr id="210" name="Other Sections1">
              <a:hlinkClick r:id="rId12"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11" name="Other Sections2">
              <a:hlinkClick r:id="rId13"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212" name="Other Sections3">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325196"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213" name="Other Sections4">
              <a:hlinkClick r:id="rId15" action="ppaction://hlinksldjump"/>
              <a:extLst>
                <a:ext uri="{FF2B5EF4-FFF2-40B4-BE49-F238E27FC236}">
                  <a16:creationId xmlns:a16="http://schemas.microsoft.com/office/drawing/2014/main" id="{8A19844E-D291-CA81-3B22-2B52F21919DA}"/>
                </a:ext>
              </a:extLst>
            </p:cNvPr>
            <p:cNvSpPr>
              <a:spLocks/>
            </p:cNvSpPr>
            <p:nvPr/>
          </p:nvSpPr>
          <p:spPr>
            <a:xfrm>
              <a:off x="47738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14" name="Other Sections5">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574879"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215" name="Current Section6">
              <a:hlinkClick r:id="rId17" action="ppaction://hlinksldjump"/>
              <a:extLst>
                <a:ext uri="{FF2B5EF4-FFF2-40B4-BE49-F238E27FC236}">
                  <a16:creationId xmlns:a16="http://schemas.microsoft.com/office/drawing/2014/main" id="{89A61135-1F00-E77F-7C78-5FBA241A5742}"/>
                </a:ext>
              </a:extLst>
            </p:cNvPr>
            <p:cNvSpPr>
              <a:spLocks/>
            </p:cNvSpPr>
            <p:nvPr/>
          </p:nvSpPr>
          <p:spPr>
            <a:xfrm>
              <a:off x="7675949"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2348080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BCDFE7DA-7B6F-40AE-9A1B-BADC4E876DB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9" name="Object 8" hidden="1">
                        <a:extLst>
                          <a:ext uri="{FF2B5EF4-FFF2-40B4-BE49-F238E27FC236}">
                            <a16:creationId xmlns:a16="http://schemas.microsoft.com/office/drawing/2014/main" id="{BCDFE7DA-7B6F-40AE-9A1B-BADC4E876DB8}"/>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583AE8F2-6D88-EA64-FBEB-3D7E586BCB2C}"/>
              </a:ext>
            </a:extLst>
          </p:cNvPr>
          <p:cNvSpPr>
            <a:spLocks noGrp="1"/>
          </p:cNvSpPr>
          <p:nvPr>
            <p:ph type="title"/>
          </p:nvPr>
        </p:nvSpPr>
        <p:spPr/>
        <p:txBody>
          <a:bodyPr/>
          <a:lstStyle/>
          <a:p>
            <a:r>
              <a:rPr lang="en-US"/>
              <a:t>3. Stratified balance sheet at 31-Dec-24</a:t>
            </a:r>
            <a:endParaRPr lang="fi-FI"/>
          </a:p>
        </p:txBody>
      </p:sp>
      <p:sp>
        <p:nvSpPr>
          <p:cNvPr id="51" name="Rectangle 50">
            <a:extLst>
              <a:ext uri="{FF2B5EF4-FFF2-40B4-BE49-F238E27FC236}">
                <a16:creationId xmlns:a16="http://schemas.microsoft.com/office/drawing/2014/main" id="{884E732E-311D-4F4B-A726-6C757B5A92EB}"/>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52" name="Rectangle 51">
            <a:extLst>
              <a:ext uri="{FF2B5EF4-FFF2-40B4-BE49-F238E27FC236}">
                <a16:creationId xmlns:a16="http://schemas.microsoft.com/office/drawing/2014/main" id="{5E8A13FD-F619-4A6F-8687-0EDD70B9DB40}"/>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56" name="Rectangle 55">
            <a:extLst>
              <a:ext uri="{FF2B5EF4-FFF2-40B4-BE49-F238E27FC236}">
                <a16:creationId xmlns:a16="http://schemas.microsoft.com/office/drawing/2014/main" id="{D3E7F33F-69AA-4951-A835-C1223A8DDCBB}"/>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57" name="Rectangle 56">
            <a:extLst>
              <a:ext uri="{FF2B5EF4-FFF2-40B4-BE49-F238E27FC236}">
                <a16:creationId xmlns:a16="http://schemas.microsoft.com/office/drawing/2014/main" id="{30BB9E86-36AE-4011-BBF8-C8C5B3A18190}"/>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58" name="Rectangle 57">
            <a:extLst>
              <a:ext uri="{FF2B5EF4-FFF2-40B4-BE49-F238E27FC236}">
                <a16:creationId xmlns:a16="http://schemas.microsoft.com/office/drawing/2014/main" id="{EC14A40A-0475-4FA5-A1D0-A238CA4614E8}"/>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41" name="Rectangle 40">
            <a:hlinkClick r:id="" action="ppaction://noaction"/>
            <a:extLst>
              <a:ext uri="{FF2B5EF4-FFF2-40B4-BE49-F238E27FC236}">
                <a16:creationId xmlns:a16="http://schemas.microsoft.com/office/drawing/2014/main" id="{F8650165-DD85-27B3-BEC1-63C991E8C9E5}"/>
              </a:ext>
            </a:extLst>
          </p:cNvPr>
          <p:cNvSpPr/>
          <p:nvPr/>
        </p:nvSpPr>
        <p:spPr>
          <a:xfrm>
            <a:off x="7754295" y="-179542"/>
            <a:ext cx="93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6" name="Text Placeholder 7">
            <a:extLst>
              <a:ext uri="{FF2B5EF4-FFF2-40B4-BE49-F238E27FC236}">
                <a16:creationId xmlns:a16="http://schemas.microsoft.com/office/drawing/2014/main" id="{35858FD9-8F58-9726-D83B-532308C3E343}"/>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8" name="Text Placeholder 12">
            <a:extLst>
              <a:ext uri="{FF2B5EF4-FFF2-40B4-BE49-F238E27FC236}">
                <a16:creationId xmlns:a16="http://schemas.microsoft.com/office/drawing/2014/main" id="{B7670E8E-AD16-C175-0D26-C2945D6B0753}"/>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6" name="Rounded Rectangle 7">
            <a:extLst>
              <a:ext uri="{FF2B5EF4-FFF2-40B4-BE49-F238E27FC236}">
                <a16:creationId xmlns:a16="http://schemas.microsoft.com/office/drawing/2014/main" id="{94B462EF-47A4-D3E1-9C75-6CDAD1E402F2}"/>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66DF6E8F-36F3-9651-53D5-350F6C7B975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CE97F28-D39D-C664-BA48-E54A04A727AD}"/>
              </a:ext>
            </a:extLst>
          </p:cNvPr>
          <p:cNvCxnSpPr>
            <a:cxnSpLocks/>
            <a:stCxn id="17" idx="2"/>
            <a:endCxn id="1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EBE7F5E7-89B4-D9DD-CF89-E585C9FC98E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3" name="Rectangle 2">
            <a:extLst>
              <a:ext uri="{FF2B5EF4-FFF2-40B4-BE49-F238E27FC236}">
                <a16:creationId xmlns:a16="http://schemas.microsoft.com/office/drawing/2014/main" id="{B18D6E26-8260-0F30-3D64-83D9C75649B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2" name="Rectangle 11">
            <a:extLst>
              <a:ext uri="{FF2B5EF4-FFF2-40B4-BE49-F238E27FC236}">
                <a16:creationId xmlns:a16="http://schemas.microsoft.com/office/drawing/2014/main" id="{1506CFCD-0942-23AB-29F5-9AE1286544CC}"/>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3" name="Rectangle 12">
            <a:extLst>
              <a:ext uri="{FF2B5EF4-FFF2-40B4-BE49-F238E27FC236}">
                <a16:creationId xmlns:a16="http://schemas.microsoft.com/office/drawing/2014/main" id="{FE9D54D7-CFE8-0B01-06B3-98283104F14D}"/>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21" name="UpSlide SubSection Marker" hidden="1">
            <a:extLst>
              <a:ext uri="{FF2B5EF4-FFF2-40B4-BE49-F238E27FC236}">
                <a16:creationId xmlns:a16="http://schemas.microsoft.com/office/drawing/2014/main" id="{279B1CC1-AB5F-95F4-AECF-1195010C34C9}"/>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Stratified balance sheet</a:t>
            </a:r>
          </a:p>
        </p:txBody>
      </p:sp>
      <p:pic>
        <p:nvPicPr>
          <p:cNvPr id="5" name="Picture 4">
            <a:extLst>
              <a:ext uri="{FF2B5EF4-FFF2-40B4-BE49-F238E27FC236}">
                <a16:creationId xmlns:a16="http://schemas.microsoft.com/office/drawing/2014/main" id="{FD201CAE-28F9-735A-9161-257E08ED2FBF}"/>
              </a:ext>
            </a:extLst>
          </p:cNvPr>
          <p:cNvPicPr>
            <a:picLocks noChangeAspect="1"/>
          </p:cNvPicPr>
          <p:nvPr>
            <p:custDataLst>
              <p:tags r:id="rId4"/>
            </p:custDataLst>
          </p:nvPr>
        </p:nvPicPr>
        <p:blipFill>
          <a:blip r:embed="rId10"/>
          <a:stretch>
            <a:fillRect/>
          </a:stretch>
        </p:blipFill>
        <p:spPr>
          <a:xfrm>
            <a:off x="1024556" y="1330325"/>
            <a:ext cx="4334844" cy="4550240"/>
          </a:xfrm>
          <a:prstGeom prst="rect">
            <a:avLst/>
          </a:prstGeom>
        </p:spPr>
      </p:pic>
      <p:sp>
        <p:nvSpPr>
          <p:cNvPr id="7" name="Text Placeholder 12">
            <a:extLst>
              <a:ext uri="{FF2B5EF4-FFF2-40B4-BE49-F238E27FC236}">
                <a16:creationId xmlns:a16="http://schemas.microsoft.com/office/drawing/2014/main" id="{114903F4-D663-E56B-4F05-3B0BBFF7633D}"/>
              </a:ext>
            </a:extLst>
          </p:cNvPr>
          <p:cNvSpPr txBox="1">
            <a:spLocks/>
          </p:cNvSpPr>
          <p:nvPr/>
        </p:nvSpPr>
        <p:spPr>
          <a:xfrm>
            <a:off x="1024556" y="5897122"/>
            <a:ext cx="4460053"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Source: 	2.2.2.4_20250515 Project Vortex - Locked box memo.xlsx; 2.2.2.5_20250515 Project Vortex - Databook - Balance 	Sheet.xlsb; KPMG analysis.</a:t>
            </a:r>
          </a:p>
        </p:txBody>
      </p:sp>
      <p:grpSp>
        <p:nvGrpSpPr>
          <p:cNvPr id="208" name="Group 207">
            <a:extLst>
              <a:ext uri="{FF2B5EF4-FFF2-40B4-BE49-F238E27FC236}">
                <a16:creationId xmlns:a16="http://schemas.microsoft.com/office/drawing/2014/main" id="{52C6ADF6-914C-A41D-8B0D-F6F62030A9A7}"/>
              </a:ext>
            </a:extLst>
          </p:cNvPr>
          <p:cNvGrpSpPr/>
          <p:nvPr>
            <p:custDataLst>
              <p:tags r:id="rId5"/>
            </p:custDataLst>
          </p:nvPr>
        </p:nvGrpSpPr>
        <p:grpSpPr>
          <a:xfrm>
            <a:off x="995364" y="153170"/>
            <a:ext cx="7409484" cy="195814"/>
            <a:chOff x="995364" y="153170"/>
            <a:chExt cx="7409484" cy="195814"/>
          </a:xfrm>
        </p:grpSpPr>
        <p:sp>
          <p:nvSpPr>
            <p:cNvPr id="209"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10"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211"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325196"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212"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7738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13"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574879"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214" name="Current Section6">
              <a:hlinkClick r:id="rId16" action="ppaction://hlinksldjump"/>
              <a:extLst>
                <a:ext uri="{FF2B5EF4-FFF2-40B4-BE49-F238E27FC236}">
                  <a16:creationId xmlns:a16="http://schemas.microsoft.com/office/drawing/2014/main" id="{89A61135-1F00-E77F-7C78-5FBA241A5742}"/>
                </a:ext>
              </a:extLst>
            </p:cNvPr>
            <p:cNvSpPr>
              <a:spLocks/>
            </p:cNvSpPr>
            <p:nvPr/>
          </p:nvSpPr>
          <p:spPr>
            <a:xfrm>
              <a:off x="7675949"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583181688"/>
      </p:ext>
    </p:extLst>
  </p:cSld>
  <p:clrMapOvr>
    <a:masterClrMapping/>
  </p:clrMapOvr>
  <p:extLst>
    <p:ext uri="{6950BFC3-D8DA-4A85-94F7-54DA5524770B}">
      <p188:commentRel xmlns:p188="http://schemas.microsoft.com/office/powerpoint/2018/8/main" r:id="rId7"/>
    </p:ext>
  </p:extLs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BCDFE7DA-7B6F-40AE-9A1B-BADC4E876DB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9" name="Object 8" hidden="1">
                        <a:extLst>
                          <a:ext uri="{FF2B5EF4-FFF2-40B4-BE49-F238E27FC236}">
                            <a16:creationId xmlns:a16="http://schemas.microsoft.com/office/drawing/2014/main" id="{BCDFE7DA-7B6F-40AE-9A1B-BADC4E876DB8}"/>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583AE8F2-6D88-EA64-FBEB-3D7E586BCB2C}"/>
              </a:ext>
            </a:extLst>
          </p:cNvPr>
          <p:cNvSpPr>
            <a:spLocks noGrp="1"/>
          </p:cNvSpPr>
          <p:nvPr>
            <p:ph type="title"/>
          </p:nvPr>
        </p:nvSpPr>
        <p:spPr/>
        <p:txBody>
          <a:bodyPr/>
          <a:lstStyle/>
          <a:p>
            <a:r>
              <a:rPr lang="en-US"/>
              <a:t>4. Corporate Chart. vLex Group (as at April 24, 2025)</a:t>
            </a:r>
            <a:endParaRPr lang="fi-FI"/>
          </a:p>
        </p:txBody>
      </p:sp>
      <p:sp>
        <p:nvSpPr>
          <p:cNvPr id="51" name="Rectangle 50">
            <a:extLst>
              <a:ext uri="{FF2B5EF4-FFF2-40B4-BE49-F238E27FC236}">
                <a16:creationId xmlns:a16="http://schemas.microsoft.com/office/drawing/2014/main" id="{884E732E-311D-4F4B-A726-6C757B5A92EB}"/>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52" name="Rectangle 51">
            <a:extLst>
              <a:ext uri="{FF2B5EF4-FFF2-40B4-BE49-F238E27FC236}">
                <a16:creationId xmlns:a16="http://schemas.microsoft.com/office/drawing/2014/main" id="{5E8A13FD-F619-4A6F-8687-0EDD70B9DB40}"/>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56" name="Rectangle 55">
            <a:extLst>
              <a:ext uri="{FF2B5EF4-FFF2-40B4-BE49-F238E27FC236}">
                <a16:creationId xmlns:a16="http://schemas.microsoft.com/office/drawing/2014/main" id="{D3E7F33F-69AA-4951-A835-C1223A8DDCBB}"/>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57" name="Rectangle 56">
            <a:extLst>
              <a:ext uri="{FF2B5EF4-FFF2-40B4-BE49-F238E27FC236}">
                <a16:creationId xmlns:a16="http://schemas.microsoft.com/office/drawing/2014/main" id="{30BB9E86-36AE-4011-BBF8-C8C5B3A18190}"/>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58" name="Rectangle 57">
            <a:extLst>
              <a:ext uri="{FF2B5EF4-FFF2-40B4-BE49-F238E27FC236}">
                <a16:creationId xmlns:a16="http://schemas.microsoft.com/office/drawing/2014/main" id="{EC14A40A-0475-4FA5-A1D0-A238CA4614E8}"/>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41" name="Rectangle 40">
            <a:hlinkClick r:id="" action="ppaction://noaction"/>
            <a:extLst>
              <a:ext uri="{FF2B5EF4-FFF2-40B4-BE49-F238E27FC236}">
                <a16:creationId xmlns:a16="http://schemas.microsoft.com/office/drawing/2014/main" id="{F8650165-DD85-27B3-BEC1-63C991E8C9E5}"/>
              </a:ext>
            </a:extLst>
          </p:cNvPr>
          <p:cNvSpPr/>
          <p:nvPr/>
        </p:nvSpPr>
        <p:spPr>
          <a:xfrm>
            <a:off x="7754295" y="-179542"/>
            <a:ext cx="93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 name="Text Placeholder 12">
            <a:extLst>
              <a:ext uri="{FF2B5EF4-FFF2-40B4-BE49-F238E27FC236}">
                <a16:creationId xmlns:a16="http://schemas.microsoft.com/office/drawing/2014/main" id="{E05F8FB9-F001-D9C7-5973-C73F7B07221C}"/>
              </a:ext>
            </a:extLst>
          </p:cNvPr>
          <p:cNvSpPr txBox="1">
            <a:spLocks/>
          </p:cNvSpPr>
          <p:nvPr/>
        </p:nvSpPr>
        <p:spPr>
          <a:xfrm>
            <a:off x="1003312" y="5518793"/>
            <a:ext cx="10198479" cy="315471"/>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spcAft>
                <a:spcPts val="300"/>
              </a:spcAft>
            </a:pPr>
            <a:r>
              <a:rPr lang="en-US" sz="600" b="0"/>
              <a:t>* Fastcase Inc is a sole shareholder of two Chinese entities: Handan Fastcase Software Development CO, LTD* and Qinhuangdao Fastcase Software Development CO, LTD However an agreement was reached  for the sale of 100 % of those companies. Such transfer is in process of being registered with the Chinese authorities. When the transfer is completed, this entities will no longer form part of the Group. </a:t>
            </a:r>
          </a:p>
          <a:p>
            <a:pPr defTabSz="444500" rtl="0">
              <a:spcAft>
                <a:spcPts val="200"/>
              </a:spcAft>
            </a:pPr>
            <a:r>
              <a:rPr lang="en-US" sz="600" b="0">
                <a:solidFill>
                  <a:schemeClr val="tx2"/>
                </a:solidFill>
                <a:latin typeface="Arial" panose="020B0604020202020204" pitchFamily="34" charset="0"/>
              </a:rPr>
              <a:t>Source: 	1.2.1_20250424 Group Corporate Chart.pptx</a:t>
            </a:r>
          </a:p>
        </p:txBody>
      </p:sp>
      <p:sp>
        <p:nvSpPr>
          <p:cNvPr id="6" name="Text Placeholder 7">
            <a:extLst>
              <a:ext uri="{FF2B5EF4-FFF2-40B4-BE49-F238E27FC236}">
                <a16:creationId xmlns:a16="http://schemas.microsoft.com/office/drawing/2014/main" id="{35858FD9-8F58-9726-D83B-532308C3E343}"/>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8" name="Text Placeholder 12">
            <a:extLst>
              <a:ext uri="{FF2B5EF4-FFF2-40B4-BE49-F238E27FC236}">
                <a16:creationId xmlns:a16="http://schemas.microsoft.com/office/drawing/2014/main" id="{B7670E8E-AD16-C175-0D26-C2945D6B0753}"/>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6" name="Rounded Rectangle 7">
            <a:extLst>
              <a:ext uri="{FF2B5EF4-FFF2-40B4-BE49-F238E27FC236}">
                <a16:creationId xmlns:a16="http://schemas.microsoft.com/office/drawing/2014/main" id="{94B462EF-47A4-D3E1-9C75-6CDAD1E402F2}"/>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66DF6E8F-36F3-9651-53D5-350F6C7B975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CE97F28-D39D-C664-BA48-E54A04A727AD}"/>
              </a:ext>
            </a:extLst>
          </p:cNvPr>
          <p:cNvCxnSpPr>
            <a:cxnSpLocks/>
            <a:stCxn id="17" idx="2"/>
            <a:endCxn id="1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EBE7F5E7-89B4-D9DD-CF89-E585C9FC98E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3" name="Rectangle 2">
            <a:extLst>
              <a:ext uri="{FF2B5EF4-FFF2-40B4-BE49-F238E27FC236}">
                <a16:creationId xmlns:a16="http://schemas.microsoft.com/office/drawing/2014/main" id="{B18D6E26-8260-0F30-3D64-83D9C75649B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2" name="Rectangle 11">
            <a:extLst>
              <a:ext uri="{FF2B5EF4-FFF2-40B4-BE49-F238E27FC236}">
                <a16:creationId xmlns:a16="http://schemas.microsoft.com/office/drawing/2014/main" id="{1506CFCD-0942-23AB-29F5-9AE1286544CC}"/>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3" name="Rectangle 12">
            <a:extLst>
              <a:ext uri="{FF2B5EF4-FFF2-40B4-BE49-F238E27FC236}">
                <a16:creationId xmlns:a16="http://schemas.microsoft.com/office/drawing/2014/main" id="{FE9D54D7-CFE8-0B01-06B3-98283104F14D}"/>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21" name="UpSlide SubSection Marker" hidden="1">
            <a:extLst>
              <a:ext uri="{FF2B5EF4-FFF2-40B4-BE49-F238E27FC236}">
                <a16:creationId xmlns:a16="http://schemas.microsoft.com/office/drawing/2014/main" id="{279B1CC1-AB5F-95F4-AECF-1195010C34C9}"/>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Corporate chart vLex Group</a:t>
            </a:r>
          </a:p>
        </p:txBody>
      </p:sp>
      <p:sp>
        <p:nvSpPr>
          <p:cNvPr id="20" name="Rectangle 19">
            <a:extLst>
              <a:ext uri="{FF2B5EF4-FFF2-40B4-BE49-F238E27FC236}">
                <a16:creationId xmlns:a16="http://schemas.microsoft.com/office/drawing/2014/main" id="{F07A4298-4DB1-32B4-6B61-1E8CAF5D2DDB}"/>
              </a:ext>
            </a:extLst>
          </p:cNvPr>
          <p:cNvSpPr/>
          <p:nvPr/>
        </p:nvSpPr>
        <p:spPr>
          <a:xfrm>
            <a:off x="5424625" y="1127861"/>
            <a:ext cx="1349013" cy="490197"/>
          </a:xfrm>
          <a:prstGeom prst="rect">
            <a:avLst/>
          </a:prstGeom>
          <a:solidFill>
            <a:srgbClr val="00338D"/>
          </a:solidFill>
          <a:ln>
            <a:solidFill>
              <a:srgbClr val="00338D"/>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bg1"/>
                </a:solidFill>
              </a:rPr>
              <a:t>Felix Spain Bidco, S.L.</a:t>
            </a:r>
          </a:p>
        </p:txBody>
      </p:sp>
      <p:sp>
        <p:nvSpPr>
          <p:cNvPr id="23" name="Rectangle 22">
            <a:extLst>
              <a:ext uri="{FF2B5EF4-FFF2-40B4-BE49-F238E27FC236}">
                <a16:creationId xmlns:a16="http://schemas.microsoft.com/office/drawing/2014/main" id="{A7069384-213A-9B0B-33AD-5A91EF6DD0D5}"/>
              </a:ext>
            </a:extLst>
          </p:cNvPr>
          <p:cNvSpPr/>
          <p:nvPr/>
        </p:nvSpPr>
        <p:spPr>
          <a:xfrm>
            <a:off x="8190661" y="2058291"/>
            <a:ext cx="1050303" cy="460615"/>
          </a:xfrm>
          <a:prstGeom prst="rect">
            <a:avLst/>
          </a:prstGeom>
          <a:solidFill>
            <a:srgbClr val="1E49E2"/>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bg1"/>
                </a:solidFill>
              </a:rPr>
              <a:t>vLex Networks, S.L.</a:t>
            </a:r>
          </a:p>
        </p:txBody>
      </p:sp>
      <p:sp>
        <p:nvSpPr>
          <p:cNvPr id="24" name="Rectangle 23">
            <a:extLst>
              <a:ext uri="{FF2B5EF4-FFF2-40B4-BE49-F238E27FC236}">
                <a16:creationId xmlns:a16="http://schemas.microsoft.com/office/drawing/2014/main" id="{1C2A1C74-527C-7ED2-BF4F-658BCF0451B5}"/>
              </a:ext>
            </a:extLst>
          </p:cNvPr>
          <p:cNvSpPr/>
          <p:nvPr/>
        </p:nvSpPr>
        <p:spPr>
          <a:xfrm>
            <a:off x="2950094" y="2058291"/>
            <a:ext cx="1050303" cy="460615"/>
          </a:xfrm>
          <a:prstGeom prst="rect">
            <a:avLst/>
          </a:prstGeom>
          <a:solidFill>
            <a:srgbClr val="1E49E2"/>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bg1"/>
                </a:solidFill>
              </a:rPr>
              <a:t>Fastcase, Inc.*</a:t>
            </a:r>
          </a:p>
        </p:txBody>
      </p:sp>
      <p:sp>
        <p:nvSpPr>
          <p:cNvPr id="25" name="Rectangle 24">
            <a:extLst>
              <a:ext uri="{FF2B5EF4-FFF2-40B4-BE49-F238E27FC236}">
                <a16:creationId xmlns:a16="http://schemas.microsoft.com/office/drawing/2014/main" id="{32E3D6F0-DF02-3467-2E8E-18F5E54E1441}"/>
              </a:ext>
            </a:extLst>
          </p:cNvPr>
          <p:cNvSpPr/>
          <p:nvPr/>
        </p:nvSpPr>
        <p:spPr>
          <a:xfrm>
            <a:off x="9900434" y="3195946"/>
            <a:ext cx="1050303" cy="460615"/>
          </a:xfrm>
          <a:prstGeom prst="rect">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bg1"/>
                </a:solidFill>
              </a:rPr>
              <a:t>Irwin Law</a:t>
            </a:r>
          </a:p>
        </p:txBody>
      </p:sp>
      <p:sp>
        <p:nvSpPr>
          <p:cNvPr id="26" name="Rectangle 25">
            <a:extLst>
              <a:ext uri="{FF2B5EF4-FFF2-40B4-BE49-F238E27FC236}">
                <a16:creationId xmlns:a16="http://schemas.microsoft.com/office/drawing/2014/main" id="{8DA1A09D-BADA-2A8A-C2DB-DB10EAAEFD98}"/>
              </a:ext>
            </a:extLst>
          </p:cNvPr>
          <p:cNvSpPr/>
          <p:nvPr/>
        </p:nvSpPr>
        <p:spPr>
          <a:xfrm>
            <a:off x="7604438" y="3187224"/>
            <a:ext cx="1050303" cy="460615"/>
          </a:xfrm>
          <a:prstGeom prst="rect">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bg1"/>
                </a:solidFill>
              </a:rPr>
              <a:t>Distribuciones Juridicias Chile</a:t>
            </a:r>
          </a:p>
        </p:txBody>
      </p:sp>
      <p:sp>
        <p:nvSpPr>
          <p:cNvPr id="27" name="Rectangle 26">
            <a:extLst>
              <a:ext uri="{FF2B5EF4-FFF2-40B4-BE49-F238E27FC236}">
                <a16:creationId xmlns:a16="http://schemas.microsoft.com/office/drawing/2014/main" id="{37B6B12F-BE10-594E-BE6F-71F6D6BC24C9}"/>
              </a:ext>
            </a:extLst>
          </p:cNvPr>
          <p:cNvSpPr/>
          <p:nvPr/>
        </p:nvSpPr>
        <p:spPr>
          <a:xfrm>
            <a:off x="1424379" y="2821297"/>
            <a:ext cx="1050303" cy="460615"/>
          </a:xfrm>
          <a:prstGeom prst="rect">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bg1"/>
                </a:solidFill>
              </a:rPr>
              <a:t>Nextchapter, Inc.</a:t>
            </a:r>
          </a:p>
        </p:txBody>
      </p:sp>
      <p:sp>
        <p:nvSpPr>
          <p:cNvPr id="28" name="Rectangle 27">
            <a:extLst>
              <a:ext uri="{FF2B5EF4-FFF2-40B4-BE49-F238E27FC236}">
                <a16:creationId xmlns:a16="http://schemas.microsoft.com/office/drawing/2014/main" id="{2FE40CE9-5BA7-60F0-F003-0553D0BBE76C}"/>
              </a:ext>
            </a:extLst>
          </p:cNvPr>
          <p:cNvSpPr/>
          <p:nvPr/>
        </p:nvSpPr>
        <p:spPr>
          <a:xfrm>
            <a:off x="8749864" y="3190746"/>
            <a:ext cx="1050303" cy="460615"/>
          </a:xfrm>
          <a:prstGeom prst="rect">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bg1"/>
                </a:solidFill>
              </a:rPr>
              <a:t>vLex Holdings LTD</a:t>
            </a:r>
          </a:p>
        </p:txBody>
      </p:sp>
      <p:cxnSp>
        <p:nvCxnSpPr>
          <p:cNvPr id="38" name="Straight Arrow Connector 3">
            <a:extLst>
              <a:ext uri="{FF2B5EF4-FFF2-40B4-BE49-F238E27FC236}">
                <a16:creationId xmlns:a16="http://schemas.microsoft.com/office/drawing/2014/main" id="{8DADFC93-87FC-C668-B19F-39360567D169}"/>
              </a:ext>
            </a:extLst>
          </p:cNvPr>
          <p:cNvCxnSpPr>
            <a:cxnSpLocks/>
            <a:stCxn id="20" idx="2"/>
            <a:endCxn id="23" idx="0"/>
          </p:cNvCxnSpPr>
          <p:nvPr/>
        </p:nvCxnSpPr>
        <p:spPr>
          <a:xfrm rot="16200000" flipH="1">
            <a:off x="7187356" y="529833"/>
            <a:ext cx="440233" cy="2616681"/>
          </a:xfrm>
          <a:prstGeom prst="bentConnector3">
            <a:avLst>
              <a:gd name="adj1" fmla="val 50000"/>
            </a:avLst>
          </a:prstGeom>
          <a:ln>
            <a:solidFill>
              <a:srgbClr val="00338D"/>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
            <a:extLst>
              <a:ext uri="{FF2B5EF4-FFF2-40B4-BE49-F238E27FC236}">
                <a16:creationId xmlns:a16="http://schemas.microsoft.com/office/drawing/2014/main" id="{39B75603-212B-E591-78CB-89B57D2F9289}"/>
              </a:ext>
            </a:extLst>
          </p:cNvPr>
          <p:cNvCxnSpPr>
            <a:cxnSpLocks/>
            <a:stCxn id="24" idx="2"/>
            <a:endCxn id="27" idx="0"/>
          </p:cNvCxnSpPr>
          <p:nvPr/>
        </p:nvCxnSpPr>
        <p:spPr>
          <a:xfrm rot="5400000">
            <a:off x="2561194" y="1907244"/>
            <a:ext cx="302391" cy="1525715"/>
          </a:xfrm>
          <a:prstGeom prst="bentConnector3">
            <a:avLst>
              <a:gd name="adj1" fmla="val 50000"/>
            </a:avLst>
          </a:prstGeom>
          <a:ln>
            <a:solidFill>
              <a:srgbClr val="00338D"/>
            </a:solidFill>
            <a:tailEnd type="triangle"/>
          </a:ln>
        </p:spPr>
        <p:style>
          <a:lnRef idx="1">
            <a:schemeClr val="accent1"/>
          </a:lnRef>
          <a:fillRef idx="0">
            <a:schemeClr val="accent1"/>
          </a:fillRef>
          <a:effectRef idx="0">
            <a:schemeClr val="accent1"/>
          </a:effectRef>
          <a:fontRef idx="minor">
            <a:schemeClr val="tx1"/>
          </a:fontRef>
        </p:style>
      </p:cxnSp>
      <p:pic>
        <p:nvPicPr>
          <p:cNvPr id="46" name="Picture 45">
            <a:extLst>
              <a:ext uri="{FF2B5EF4-FFF2-40B4-BE49-F238E27FC236}">
                <a16:creationId xmlns:a16="http://schemas.microsoft.com/office/drawing/2014/main" id="{66935884-8989-276D-4D5B-65B9118BDA1D}"/>
              </a:ext>
            </a:extLst>
          </p:cNvPr>
          <p:cNvPicPr>
            <a:picLocks noChangeAspect="1"/>
          </p:cNvPicPr>
          <p:nvPr/>
        </p:nvPicPr>
        <p:blipFill>
          <a:blip r:embed="rId8"/>
          <a:stretch>
            <a:fillRect/>
          </a:stretch>
        </p:blipFill>
        <p:spPr>
          <a:xfrm>
            <a:off x="1510247" y="2669009"/>
            <a:ext cx="282130" cy="233400"/>
          </a:xfrm>
          <a:prstGeom prst="flowChartConnector">
            <a:avLst/>
          </a:prstGeom>
        </p:spPr>
      </p:pic>
      <p:pic>
        <p:nvPicPr>
          <p:cNvPr id="48" name="Picture 47">
            <a:extLst>
              <a:ext uri="{FF2B5EF4-FFF2-40B4-BE49-F238E27FC236}">
                <a16:creationId xmlns:a16="http://schemas.microsoft.com/office/drawing/2014/main" id="{4B772DD9-8677-F50D-3C0B-D99B8B8E38FF}"/>
              </a:ext>
            </a:extLst>
          </p:cNvPr>
          <p:cNvPicPr>
            <a:picLocks noChangeAspect="1"/>
          </p:cNvPicPr>
          <p:nvPr/>
        </p:nvPicPr>
        <p:blipFill>
          <a:blip r:embed="rId8"/>
          <a:stretch>
            <a:fillRect/>
          </a:stretch>
        </p:blipFill>
        <p:spPr>
          <a:xfrm>
            <a:off x="3019096" y="1909233"/>
            <a:ext cx="282130" cy="233400"/>
          </a:xfrm>
          <a:prstGeom prst="flowChartConnector">
            <a:avLst/>
          </a:prstGeom>
        </p:spPr>
      </p:pic>
      <p:pic>
        <p:nvPicPr>
          <p:cNvPr id="54" name="Picture 53">
            <a:extLst>
              <a:ext uri="{FF2B5EF4-FFF2-40B4-BE49-F238E27FC236}">
                <a16:creationId xmlns:a16="http://schemas.microsoft.com/office/drawing/2014/main" id="{3AD81648-A195-BA0A-3F8B-F50490E2615E}"/>
              </a:ext>
            </a:extLst>
          </p:cNvPr>
          <p:cNvPicPr>
            <a:picLocks noChangeAspect="1"/>
          </p:cNvPicPr>
          <p:nvPr/>
        </p:nvPicPr>
        <p:blipFill>
          <a:blip r:embed="rId9">
            <a:extLst>
              <a:ext uri="{28A0092B-C50C-407E-A947-70E740481C1C}">
                <a14:useLocalDpi xmlns:a14="http://schemas.microsoft.com/office/drawing/2010/main" val="0"/>
              </a:ext>
            </a:extLst>
          </a:blip>
          <a:srcRect l="4849" r="4849"/>
          <a:stretch/>
        </p:blipFill>
        <p:spPr>
          <a:xfrm>
            <a:off x="5236973" y="1041472"/>
            <a:ext cx="318715" cy="233400"/>
          </a:xfrm>
          <a:prstGeom prst="flowChartConnector">
            <a:avLst/>
          </a:prstGeom>
        </p:spPr>
      </p:pic>
      <p:sp>
        <p:nvSpPr>
          <p:cNvPr id="62" name="TextBox 61">
            <a:extLst>
              <a:ext uri="{FF2B5EF4-FFF2-40B4-BE49-F238E27FC236}">
                <a16:creationId xmlns:a16="http://schemas.microsoft.com/office/drawing/2014/main" id="{A55419C7-E7DA-FB91-D7F5-6FD738683A15}"/>
              </a:ext>
            </a:extLst>
          </p:cNvPr>
          <p:cNvSpPr txBox="1"/>
          <p:nvPr/>
        </p:nvSpPr>
        <p:spPr>
          <a:xfrm>
            <a:off x="9280970" y="3005035"/>
            <a:ext cx="444014" cy="134993"/>
          </a:xfrm>
          <a:prstGeom prst="rect">
            <a:avLst/>
          </a:prstGeom>
          <a:noFill/>
        </p:spPr>
        <p:txBody>
          <a:bodyPr wrap="square" lIns="54610" tIns="54610" rIns="54610" bIns="54610" rtlCol="0">
            <a:noAutofit/>
          </a:bodyPr>
          <a:lstStyle/>
          <a:p>
            <a:pPr>
              <a:spcAft>
                <a:spcPts val="600"/>
              </a:spcAft>
            </a:pPr>
            <a:r>
              <a:rPr lang="en-US" sz="700">
                <a:solidFill>
                  <a:srgbClr val="00338D"/>
                </a:solidFill>
              </a:rPr>
              <a:t>100%</a:t>
            </a:r>
          </a:p>
        </p:txBody>
      </p:sp>
      <p:sp>
        <p:nvSpPr>
          <p:cNvPr id="214" name="Rectangle 213">
            <a:extLst>
              <a:ext uri="{FF2B5EF4-FFF2-40B4-BE49-F238E27FC236}">
                <a16:creationId xmlns:a16="http://schemas.microsoft.com/office/drawing/2014/main" id="{F0DEB588-A00D-B1E7-7ADD-4054D9AAD310}"/>
              </a:ext>
            </a:extLst>
          </p:cNvPr>
          <p:cNvSpPr/>
          <p:nvPr/>
        </p:nvSpPr>
        <p:spPr>
          <a:xfrm>
            <a:off x="6453868" y="3196222"/>
            <a:ext cx="1050303" cy="460615"/>
          </a:xfrm>
          <a:prstGeom prst="rect">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bg1"/>
                </a:solidFill>
              </a:rPr>
              <a:t>vLex LLC</a:t>
            </a:r>
          </a:p>
        </p:txBody>
      </p:sp>
      <p:sp>
        <p:nvSpPr>
          <p:cNvPr id="215" name="Rectangle 214">
            <a:extLst>
              <a:ext uri="{FF2B5EF4-FFF2-40B4-BE49-F238E27FC236}">
                <a16:creationId xmlns:a16="http://schemas.microsoft.com/office/drawing/2014/main" id="{78A31012-3A66-C09D-7BAF-5C03675C128F}"/>
              </a:ext>
            </a:extLst>
          </p:cNvPr>
          <p:cNvSpPr/>
          <p:nvPr/>
        </p:nvSpPr>
        <p:spPr>
          <a:xfrm>
            <a:off x="5307626" y="3195946"/>
            <a:ext cx="1050303" cy="460615"/>
          </a:xfrm>
          <a:prstGeom prst="rect">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bg1"/>
                </a:solidFill>
              </a:rPr>
              <a:t>Global Lawyers directory, S.L.</a:t>
            </a:r>
          </a:p>
        </p:txBody>
      </p:sp>
      <p:pic>
        <p:nvPicPr>
          <p:cNvPr id="229" name="Picture 228">
            <a:extLst>
              <a:ext uri="{FF2B5EF4-FFF2-40B4-BE49-F238E27FC236}">
                <a16:creationId xmlns:a16="http://schemas.microsoft.com/office/drawing/2014/main" id="{6CC64A60-C37F-8E89-6924-9B0FCCE5CDC1}"/>
              </a:ext>
            </a:extLst>
          </p:cNvPr>
          <p:cNvPicPr>
            <a:picLocks noChangeAspect="1"/>
          </p:cNvPicPr>
          <p:nvPr/>
        </p:nvPicPr>
        <p:blipFill>
          <a:blip r:embed="rId9">
            <a:extLst>
              <a:ext uri="{28A0092B-C50C-407E-A947-70E740481C1C}">
                <a14:useLocalDpi xmlns:a14="http://schemas.microsoft.com/office/drawing/2010/main" val="0"/>
              </a:ext>
            </a:extLst>
          </a:blip>
          <a:srcRect l="4849" r="4849"/>
          <a:stretch/>
        </p:blipFill>
        <p:spPr>
          <a:xfrm>
            <a:off x="8213523" y="1904131"/>
            <a:ext cx="318715" cy="233400"/>
          </a:xfrm>
          <a:prstGeom prst="flowChartConnector">
            <a:avLst/>
          </a:prstGeom>
        </p:spPr>
      </p:pic>
      <p:cxnSp>
        <p:nvCxnSpPr>
          <p:cNvPr id="230" name="Straight Arrow Connector 3">
            <a:extLst>
              <a:ext uri="{FF2B5EF4-FFF2-40B4-BE49-F238E27FC236}">
                <a16:creationId xmlns:a16="http://schemas.microsoft.com/office/drawing/2014/main" id="{1CE31C06-3B87-CE18-DDB9-3BD4CF7422E7}"/>
              </a:ext>
            </a:extLst>
          </p:cNvPr>
          <p:cNvCxnSpPr>
            <a:cxnSpLocks/>
            <a:stCxn id="20" idx="2"/>
            <a:endCxn id="24" idx="0"/>
          </p:cNvCxnSpPr>
          <p:nvPr/>
        </p:nvCxnSpPr>
        <p:spPr>
          <a:xfrm rot="5400000">
            <a:off x="4567073" y="526231"/>
            <a:ext cx="440233" cy="2623886"/>
          </a:xfrm>
          <a:prstGeom prst="bentConnector3">
            <a:avLst>
              <a:gd name="adj1" fmla="val 50000"/>
            </a:avLst>
          </a:prstGeom>
          <a:ln>
            <a:solidFill>
              <a:srgbClr val="00338D"/>
            </a:solidFill>
            <a:tailEnd type="triangle"/>
          </a:ln>
        </p:spPr>
        <p:style>
          <a:lnRef idx="1">
            <a:schemeClr val="accent1"/>
          </a:lnRef>
          <a:fillRef idx="0">
            <a:schemeClr val="accent1"/>
          </a:fillRef>
          <a:effectRef idx="0">
            <a:schemeClr val="accent1"/>
          </a:effectRef>
          <a:fontRef idx="minor">
            <a:schemeClr val="tx1"/>
          </a:fontRef>
        </p:style>
      </p:cxnSp>
      <p:sp>
        <p:nvSpPr>
          <p:cNvPr id="241" name="Rectangle 240">
            <a:extLst>
              <a:ext uri="{FF2B5EF4-FFF2-40B4-BE49-F238E27FC236}">
                <a16:creationId xmlns:a16="http://schemas.microsoft.com/office/drawing/2014/main" id="{5569B6AF-CCAF-CE79-E375-31E52A8A4885}"/>
              </a:ext>
            </a:extLst>
          </p:cNvPr>
          <p:cNvSpPr/>
          <p:nvPr/>
        </p:nvSpPr>
        <p:spPr>
          <a:xfrm>
            <a:off x="3022580" y="3187224"/>
            <a:ext cx="1050303" cy="460615"/>
          </a:xfrm>
          <a:prstGeom prst="rect">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bg1"/>
                </a:solidFill>
              </a:rPr>
              <a:t>Vcall Services, S.L.</a:t>
            </a:r>
          </a:p>
        </p:txBody>
      </p:sp>
      <p:sp>
        <p:nvSpPr>
          <p:cNvPr id="242" name="Rectangle 241">
            <a:extLst>
              <a:ext uri="{FF2B5EF4-FFF2-40B4-BE49-F238E27FC236}">
                <a16:creationId xmlns:a16="http://schemas.microsoft.com/office/drawing/2014/main" id="{FDA64DCA-4A7D-68A7-5F14-7DE18F97223B}"/>
              </a:ext>
            </a:extLst>
          </p:cNvPr>
          <p:cNvSpPr/>
          <p:nvPr/>
        </p:nvSpPr>
        <p:spPr>
          <a:xfrm>
            <a:off x="4165103" y="3200196"/>
            <a:ext cx="1050303" cy="460615"/>
          </a:xfrm>
          <a:prstGeom prst="rect">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bg1"/>
                </a:solidFill>
              </a:rPr>
              <a:t>Vlex Global, S.L.</a:t>
            </a:r>
          </a:p>
        </p:txBody>
      </p:sp>
      <p:pic>
        <p:nvPicPr>
          <p:cNvPr id="243" name="Picture 242">
            <a:extLst>
              <a:ext uri="{FF2B5EF4-FFF2-40B4-BE49-F238E27FC236}">
                <a16:creationId xmlns:a16="http://schemas.microsoft.com/office/drawing/2014/main" id="{7D2B5EBF-D121-FEB7-B0B0-DAE366E3589A}"/>
              </a:ext>
            </a:extLst>
          </p:cNvPr>
          <p:cNvPicPr>
            <a:picLocks noChangeAspect="1"/>
          </p:cNvPicPr>
          <p:nvPr/>
        </p:nvPicPr>
        <p:blipFill>
          <a:blip r:embed="rId10">
            <a:extLst>
              <a:ext uri="{28A0092B-C50C-407E-A947-70E740481C1C}">
                <a14:useLocalDpi xmlns:a14="http://schemas.microsoft.com/office/drawing/2010/main" val="0"/>
              </a:ext>
            </a:extLst>
          </a:blip>
          <a:srcRect l="4482" r="4482"/>
          <a:stretch/>
        </p:blipFill>
        <p:spPr>
          <a:xfrm>
            <a:off x="7734816" y="3040735"/>
            <a:ext cx="318715" cy="233400"/>
          </a:xfrm>
          <a:prstGeom prst="flowChartConnector">
            <a:avLst/>
          </a:prstGeom>
        </p:spPr>
      </p:pic>
      <p:pic>
        <p:nvPicPr>
          <p:cNvPr id="244" name="Picture 243">
            <a:extLst>
              <a:ext uri="{FF2B5EF4-FFF2-40B4-BE49-F238E27FC236}">
                <a16:creationId xmlns:a16="http://schemas.microsoft.com/office/drawing/2014/main" id="{BA612E39-F5BC-161F-4605-C47E68220078}"/>
              </a:ext>
            </a:extLst>
          </p:cNvPr>
          <p:cNvPicPr>
            <a:picLocks noChangeAspect="1"/>
          </p:cNvPicPr>
          <p:nvPr/>
        </p:nvPicPr>
        <p:blipFill>
          <a:blip r:embed="rId11">
            <a:extLst>
              <a:ext uri="{28A0092B-C50C-407E-A947-70E740481C1C}">
                <a14:useLocalDpi xmlns:a14="http://schemas.microsoft.com/office/drawing/2010/main" val="0"/>
              </a:ext>
            </a:extLst>
          </a:blip>
          <a:srcRect l="5228" r="5228"/>
          <a:stretch/>
        </p:blipFill>
        <p:spPr>
          <a:xfrm>
            <a:off x="8829886" y="3049452"/>
            <a:ext cx="318715" cy="233400"/>
          </a:xfrm>
          <a:prstGeom prst="flowChartConnector">
            <a:avLst/>
          </a:prstGeom>
        </p:spPr>
      </p:pic>
      <p:pic>
        <p:nvPicPr>
          <p:cNvPr id="245" name="Picture 244">
            <a:extLst>
              <a:ext uri="{FF2B5EF4-FFF2-40B4-BE49-F238E27FC236}">
                <a16:creationId xmlns:a16="http://schemas.microsoft.com/office/drawing/2014/main" id="{97F5CBA8-DDFE-5AF9-D9BE-8F2CEE602CD5}"/>
              </a:ext>
            </a:extLst>
          </p:cNvPr>
          <p:cNvPicPr>
            <a:picLocks noChangeAspect="1"/>
          </p:cNvPicPr>
          <p:nvPr/>
        </p:nvPicPr>
        <p:blipFill>
          <a:blip r:embed="rId12">
            <a:extLst>
              <a:ext uri="{28A0092B-C50C-407E-A947-70E740481C1C}">
                <a14:useLocalDpi xmlns:a14="http://schemas.microsoft.com/office/drawing/2010/main" val="0"/>
              </a:ext>
            </a:extLst>
          </a:blip>
          <a:srcRect l="5228" r="5228"/>
          <a:stretch/>
        </p:blipFill>
        <p:spPr>
          <a:xfrm>
            <a:off x="9980456" y="3059991"/>
            <a:ext cx="318715" cy="233400"/>
          </a:xfrm>
          <a:prstGeom prst="flowChartConnector">
            <a:avLst/>
          </a:prstGeom>
        </p:spPr>
      </p:pic>
      <p:pic>
        <p:nvPicPr>
          <p:cNvPr id="246" name="Picture 245">
            <a:extLst>
              <a:ext uri="{FF2B5EF4-FFF2-40B4-BE49-F238E27FC236}">
                <a16:creationId xmlns:a16="http://schemas.microsoft.com/office/drawing/2014/main" id="{DCA451BF-6653-4C1E-ECC7-7C3843BD9BAD}"/>
              </a:ext>
            </a:extLst>
          </p:cNvPr>
          <p:cNvPicPr>
            <a:picLocks noChangeAspect="1"/>
          </p:cNvPicPr>
          <p:nvPr/>
        </p:nvPicPr>
        <p:blipFill>
          <a:blip r:embed="rId8"/>
          <a:stretch>
            <a:fillRect/>
          </a:stretch>
        </p:blipFill>
        <p:spPr>
          <a:xfrm>
            <a:off x="6549881" y="3049310"/>
            <a:ext cx="282130" cy="233400"/>
          </a:xfrm>
          <a:prstGeom prst="flowChartConnector">
            <a:avLst/>
          </a:prstGeom>
        </p:spPr>
      </p:pic>
      <p:pic>
        <p:nvPicPr>
          <p:cNvPr id="247" name="Picture 246">
            <a:extLst>
              <a:ext uri="{FF2B5EF4-FFF2-40B4-BE49-F238E27FC236}">
                <a16:creationId xmlns:a16="http://schemas.microsoft.com/office/drawing/2014/main" id="{B6669B5D-789A-4609-FEDC-176AE31B1749}"/>
              </a:ext>
            </a:extLst>
          </p:cNvPr>
          <p:cNvPicPr>
            <a:picLocks noChangeAspect="1"/>
          </p:cNvPicPr>
          <p:nvPr/>
        </p:nvPicPr>
        <p:blipFill>
          <a:blip r:embed="rId9">
            <a:extLst>
              <a:ext uri="{28A0092B-C50C-407E-A947-70E740481C1C}">
                <a14:useLocalDpi xmlns:a14="http://schemas.microsoft.com/office/drawing/2010/main" val="0"/>
              </a:ext>
            </a:extLst>
          </a:blip>
          <a:srcRect l="4849" r="4849"/>
          <a:stretch/>
        </p:blipFill>
        <p:spPr>
          <a:xfrm>
            <a:off x="5436011" y="3022442"/>
            <a:ext cx="318715" cy="233400"/>
          </a:xfrm>
          <a:prstGeom prst="flowChartConnector">
            <a:avLst/>
          </a:prstGeom>
        </p:spPr>
      </p:pic>
      <p:pic>
        <p:nvPicPr>
          <p:cNvPr id="248" name="Picture 247">
            <a:extLst>
              <a:ext uri="{FF2B5EF4-FFF2-40B4-BE49-F238E27FC236}">
                <a16:creationId xmlns:a16="http://schemas.microsoft.com/office/drawing/2014/main" id="{9AD1FA64-EEF2-8776-D2DF-53A00CD9B17A}"/>
              </a:ext>
            </a:extLst>
          </p:cNvPr>
          <p:cNvPicPr>
            <a:picLocks noChangeAspect="1"/>
          </p:cNvPicPr>
          <p:nvPr/>
        </p:nvPicPr>
        <p:blipFill>
          <a:blip r:embed="rId9">
            <a:extLst>
              <a:ext uri="{28A0092B-C50C-407E-A947-70E740481C1C}">
                <a14:useLocalDpi xmlns:a14="http://schemas.microsoft.com/office/drawing/2010/main" val="0"/>
              </a:ext>
            </a:extLst>
          </a:blip>
          <a:srcRect l="4849" r="4849"/>
          <a:stretch/>
        </p:blipFill>
        <p:spPr>
          <a:xfrm>
            <a:off x="4300077" y="3050274"/>
            <a:ext cx="318715" cy="233400"/>
          </a:xfrm>
          <a:prstGeom prst="flowChartConnector">
            <a:avLst/>
          </a:prstGeom>
        </p:spPr>
      </p:pic>
      <p:pic>
        <p:nvPicPr>
          <p:cNvPr id="249" name="Picture 248">
            <a:extLst>
              <a:ext uri="{FF2B5EF4-FFF2-40B4-BE49-F238E27FC236}">
                <a16:creationId xmlns:a16="http://schemas.microsoft.com/office/drawing/2014/main" id="{500B2919-46F7-DDD3-B4A1-BCEB93FA8415}"/>
              </a:ext>
            </a:extLst>
          </p:cNvPr>
          <p:cNvPicPr>
            <a:picLocks noChangeAspect="1"/>
          </p:cNvPicPr>
          <p:nvPr/>
        </p:nvPicPr>
        <p:blipFill>
          <a:blip r:embed="rId9">
            <a:extLst>
              <a:ext uri="{28A0092B-C50C-407E-A947-70E740481C1C}">
                <a14:useLocalDpi xmlns:a14="http://schemas.microsoft.com/office/drawing/2010/main" val="0"/>
              </a:ext>
            </a:extLst>
          </a:blip>
          <a:srcRect l="4849" r="4849"/>
          <a:stretch/>
        </p:blipFill>
        <p:spPr>
          <a:xfrm>
            <a:off x="3061134" y="3072507"/>
            <a:ext cx="318715" cy="233400"/>
          </a:xfrm>
          <a:prstGeom prst="flowChartConnector">
            <a:avLst/>
          </a:prstGeom>
        </p:spPr>
      </p:pic>
      <p:cxnSp>
        <p:nvCxnSpPr>
          <p:cNvPr id="250" name="Straight Arrow Connector 3">
            <a:extLst>
              <a:ext uri="{FF2B5EF4-FFF2-40B4-BE49-F238E27FC236}">
                <a16:creationId xmlns:a16="http://schemas.microsoft.com/office/drawing/2014/main" id="{6E10DD7A-5C5C-4BCD-19B6-C10036E602D6}"/>
              </a:ext>
            </a:extLst>
          </p:cNvPr>
          <p:cNvCxnSpPr>
            <a:cxnSpLocks/>
            <a:stCxn id="23" idx="2"/>
            <a:endCxn id="241" idx="0"/>
          </p:cNvCxnSpPr>
          <p:nvPr/>
        </p:nvCxnSpPr>
        <p:spPr>
          <a:xfrm rot="5400000">
            <a:off x="5797614" y="269025"/>
            <a:ext cx="668318" cy="5168081"/>
          </a:xfrm>
          <a:prstGeom prst="bentConnector3">
            <a:avLst>
              <a:gd name="adj1" fmla="val 50000"/>
            </a:avLst>
          </a:prstGeom>
          <a:ln>
            <a:solidFill>
              <a:srgbClr val="00338D"/>
            </a:solidFill>
            <a:tailEnd type="triangle"/>
          </a:ln>
        </p:spPr>
        <p:style>
          <a:lnRef idx="1">
            <a:schemeClr val="accent1"/>
          </a:lnRef>
          <a:fillRef idx="0">
            <a:schemeClr val="accent1"/>
          </a:fillRef>
          <a:effectRef idx="0">
            <a:schemeClr val="accent1"/>
          </a:effectRef>
          <a:fontRef idx="minor">
            <a:schemeClr val="tx1"/>
          </a:fontRef>
        </p:style>
      </p:cxnSp>
      <p:cxnSp>
        <p:nvCxnSpPr>
          <p:cNvPr id="256" name="Straight Arrow Connector 3">
            <a:extLst>
              <a:ext uri="{FF2B5EF4-FFF2-40B4-BE49-F238E27FC236}">
                <a16:creationId xmlns:a16="http://schemas.microsoft.com/office/drawing/2014/main" id="{019B586C-C4F3-E399-DB74-4A889CD939BB}"/>
              </a:ext>
            </a:extLst>
          </p:cNvPr>
          <p:cNvCxnSpPr>
            <a:cxnSpLocks/>
            <a:stCxn id="23" idx="2"/>
            <a:endCxn id="242" idx="0"/>
          </p:cNvCxnSpPr>
          <p:nvPr/>
        </p:nvCxnSpPr>
        <p:spPr>
          <a:xfrm rot="5400000">
            <a:off x="6362389" y="846772"/>
            <a:ext cx="681290" cy="4025558"/>
          </a:xfrm>
          <a:prstGeom prst="bentConnector3">
            <a:avLst>
              <a:gd name="adj1" fmla="val 50000"/>
            </a:avLst>
          </a:prstGeom>
          <a:ln>
            <a:solidFill>
              <a:srgbClr val="00338D"/>
            </a:solidFill>
            <a:tailEnd type="triangle"/>
          </a:ln>
        </p:spPr>
        <p:style>
          <a:lnRef idx="1">
            <a:schemeClr val="accent1"/>
          </a:lnRef>
          <a:fillRef idx="0">
            <a:schemeClr val="accent1"/>
          </a:fillRef>
          <a:effectRef idx="0">
            <a:schemeClr val="accent1"/>
          </a:effectRef>
          <a:fontRef idx="minor">
            <a:schemeClr val="tx1"/>
          </a:fontRef>
        </p:style>
      </p:cxnSp>
      <p:cxnSp>
        <p:nvCxnSpPr>
          <p:cNvPr id="259" name="Straight Arrow Connector 3">
            <a:extLst>
              <a:ext uri="{FF2B5EF4-FFF2-40B4-BE49-F238E27FC236}">
                <a16:creationId xmlns:a16="http://schemas.microsoft.com/office/drawing/2014/main" id="{03EDEABF-7B89-EE09-C098-A8CA0C7C9524}"/>
              </a:ext>
            </a:extLst>
          </p:cNvPr>
          <p:cNvCxnSpPr>
            <a:cxnSpLocks/>
            <a:stCxn id="23" idx="2"/>
            <a:endCxn id="215" idx="0"/>
          </p:cNvCxnSpPr>
          <p:nvPr/>
        </p:nvCxnSpPr>
        <p:spPr>
          <a:xfrm rot="5400000">
            <a:off x="6935776" y="1415909"/>
            <a:ext cx="677040" cy="2883035"/>
          </a:xfrm>
          <a:prstGeom prst="bentConnector3">
            <a:avLst>
              <a:gd name="adj1" fmla="val 50000"/>
            </a:avLst>
          </a:prstGeom>
          <a:ln>
            <a:solidFill>
              <a:srgbClr val="00338D"/>
            </a:solidFill>
            <a:tailEnd type="triangle"/>
          </a:ln>
        </p:spPr>
        <p:style>
          <a:lnRef idx="1">
            <a:schemeClr val="accent1"/>
          </a:lnRef>
          <a:fillRef idx="0">
            <a:schemeClr val="accent1"/>
          </a:fillRef>
          <a:effectRef idx="0">
            <a:schemeClr val="accent1"/>
          </a:effectRef>
          <a:fontRef idx="minor">
            <a:schemeClr val="tx1"/>
          </a:fontRef>
        </p:style>
      </p:cxnSp>
      <p:cxnSp>
        <p:nvCxnSpPr>
          <p:cNvPr id="262" name="Straight Arrow Connector 3">
            <a:extLst>
              <a:ext uri="{FF2B5EF4-FFF2-40B4-BE49-F238E27FC236}">
                <a16:creationId xmlns:a16="http://schemas.microsoft.com/office/drawing/2014/main" id="{EB5BDB82-DA47-F4AF-16F6-4FF1E53BDD7A}"/>
              </a:ext>
            </a:extLst>
          </p:cNvPr>
          <p:cNvCxnSpPr>
            <a:cxnSpLocks/>
            <a:stCxn id="23" idx="2"/>
            <a:endCxn id="214" idx="0"/>
          </p:cNvCxnSpPr>
          <p:nvPr/>
        </p:nvCxnSpPr>
        <p:spPr>
          <a:xfrm rot="5400000">
            <a:off x="7508759" y="1989168"/>
            <a:ext cx="677316" cy="1736793"/>
          </a:xfrm>
          <a:prstGeom prst="bentConnector3">
            <a:avLst>
              <a:gd name="adj1" fmla="val 50000"/>
            </a:avLst>
          </a:prstGeom>
          <a:ln>
            <a:solidFill>
              <a:srgbClr val="00338D"/>
            </a:solidFill>
            <a:tailEnd type="triangle"/>
          </a:ln>
        </p:spPr>
        <p:style>
          <a:lnRef idx="1">
            <a:schemeClr val="accent1"/>
          </a:lnRef>
          <a:fillRef idx="0">
            <a:schemeClr val="accent1"/>
          </a:fillRef>
          <a:effectRef idx="0">
            <a:schemeClr val="accent1"/>
          </a:effectRef>
          <a:fontRef idx="minor">
            <a:schemeClr val="tx1"/>
          </a:fontRef>
        </p:style>
      </p:cxnSp>
      <p:cxnSp>
        <p:nvCxnSpPr>
          <p:cNvPr id="265" name="Straight Arrow Connector 3">
            <a:extLst>
              <a:ext uri="{FF2B5EF4-FFF2-40B4-BE49-F238E27FC236}">
                <a16:creationId xmlns:a16="http://schemas.microsoft.com/office/drawing/2014/main" id="{79EBEE0A-9B7A-47D5-EE70-F82F99191BF7}"/>
              </a:ext>
            </a:extLst>
          </p:cNvPr>
          <p:cNvCxnSpPr>
            <a:cxnSpLocks/>
            <a:stCxn id="23" idx="2"/>
            <a:endCxn id="26" idx="0"/>
          </p:cNvCxnSpPr>
          <p:nvPr/>
        </p:nvCxnSpPr>
        <p:spPr>
          <a:xfrm rot="5400000">
            <a:off x="8088543" y="2559954"/>
            <a:ext cx="668318" cy="586223"/>
          </a:xfrm>
          <a:prstGeom prst="bentConnector3">
            <a:avLst>
              <a:gd name="adj1" fmla="val 50000"/>
            </a:avLst>
          </a:prstGeom>
          <a:ln>
            <a:solidFill>
              <a:srgbClr val="00338D"/>
            </a:solidFill>
            <a:tailEnd type="triangle"/>
          </a:ln>
        </p:spPr>
        <p:style>
          <a:lnRef idx="1">
            <a:schemeClr val="accent1"/>
          </a:lnRef>
          <a:fillRef idx="0">
            <a:schemeClr val="accent1"/>
          </a:fillRef>
          <a:effectRef idx="0">
            <a:schemeClr val="accent1"/>
          </a:effectRef>
          <a:fontRef idx="minor">
            <a:schemeClr val="tx1"/>
          </a:fontRef>
        </p:style>
      </p:cxnSp>
      <p:cxnSp>
        <p:nvCxnSpPr>
          <p:cNvPr id="268" name="Straight Arrow Connector 3">
            <a:extLst>
              <a:ext uri="{FF2B5EF4-FFF2-40B4-BE49-F238E27FC236}">
                <a16:creationId xmlns:a16="http://schemas.microsoft.com/office/drawing/2014/main" id="{0AC92309-0B81-DA78-D7DE-3A8B88AFC508}"/>
              </a:ext>
            </a:extLst>
          </p:cNvPr>
          <p:cNvCxnSpPr>
            <a:cxnSpLocks/>
            <a:stCxn id="23" idx="2"/>
            <a:endCxn id="28" idx="0"/>
          </p:cNvCxnSpPr>
          <p:nvPr/>
        </p:nvCxnSpPr>
        <p:spPr>
          <a:xfrm rot="16200000" flipH="1">
            <a:off x="8659494" y="2575224"/>
            <a:ext cx="671840" cy="559203"/>
          </a:xfrm>
          <a:prstGeom prst="bentConnector3">
            <a:avLst>
              <a:gd name="adj1" fmla="val 50000"/>
            </a:avLst>
          </a:prstGeom>
          <a:ln>
            <a:solidFill>
              <a:srgbClr val="00338D"/>
            </a:solidFill>
            <a:tailEnd type="triangle"/>
          </a:ln>
        </p:spPr>
        <p:style>
          <a:lnRef idx="1">
            <a:schemeClr val="accent1"/>
          </a:lnRef>
          <a:fillRef idx="0">
            <a:schemeClr val="accent1"/>
          </a:fillRef>
          <a:effectRef idx="0">
            <a:schemeClr val="accent1"/>
          </a:effectRef>
          <a:fontRef idx="minor">
            <a:schemeClr val="tx1"/>
          </a:fontRef>
        </p:style>
      </p:cxnSp>
      <p:cxnSp>
        <p:nvCxnSpPr>
          <p:cNvPr id="271" name="Straight Arrow Connector 3">
            <a:extLst>
              <a:ext uri="{FF2B5EF4-FFF2-40B4-BE49-F238E27FC236}">
                <a16:creationId xmlns:a16="http://schemas.microsoft.com/office/drawing/2014/main" id="{7B40AC12-D120-8578-5ECE-B76C8FC905B7}"/>
              </a:ext>
            </a:extLst>
          </p:cNvPr>
          <p:cNvCxnSpPr>
            <a:cxnSpLocks/>
            <a:stCxn id="23" idx="2"/>
            <a:endCxn id="25" idx="0"/>
          </p:cNvCxnSpPr>
          <p:nvPr/>
        </p:nvCxnSpPr>
        <p:spPr>
          <a:xfrm rot="16200000" flipH="1">
            <a:off x="9232179" y="2002539"/>
            <a:ext cx="677040" cy="1709773"/>
          </a:xfrm>
          <a:prstGeom prst="bentConnector3">
            <a:avLst>
              <a:gd name="adj1" fmla="val 50000"/>
            </a:avLst>
          </a:prstGeom>
          <a:ln>
            <a:solidFill>
              <a:srgbClr val="00338D"/>
            </a:solidFill>
            <a:tailEnd type="triangle"/>
          </a:ln>
        </p:spPr>
        <p:style>
          <a:lnRef idx="1">
            <a:schemeClr val="accent1"/>
          </a:lnRef>
          <a:fillRef idx="0">
            <a:schemeClr val="accent1"/>
          </a:fillRef>
          <a:effectRef idx="0">
            <a:schemeClr val="accent1"/>
          </a:effectRef>
          <a:fontRef idx="minor">
            <a:schemeClr val="tx1"/>
          </a:fontRef>
        </p:style>
      </p:cxnSp>
      <p:sp>
        <p:nvSpPr>
          <p:cNvPr id="274" name="TextBox 273">
            <a:extLst>
              <a:ext uri="{FF2B5EF4-FFF2-40B4-BE49-F238E27FC236}">
                <a16:creationId xmlns:a16="http://schemas.microsoft.com/office/drawing/2014/main" id="{FB025C10-9EF2-9FD8-B87A-491E07588B56}"/>
              </a:ext>
            </a:extLst>
          </p:cNvPr>
          <p:cNvSpPr txBox="1"/>
          <p:nvPr/>
        </p:nvSpPr>
        <p:spPr>
          <a:xfrm>
            <a:off x="3580907" y="2986594"/>
            <a:ext cx="444014" cy="134993"/>
          </a:xfrm>
          <a:prstGeom prst="rect">
            <a:avLst/>
          </a:prstGeom>
          <a:noFill/>
        </p:spPr>
        <p:txBody>
          <a:bodyPr wrap="square" lIns="54610" tIns="54610" rIns="54610" bIns="54610" rtlCol="0">
            <a:noAutofit/>
          </a:bodyPr>
          <a:lstStyle/>
          <a:p>
            <a:pPr>
              <a:spcAft>
                <a:spcPts val="600"/>
              </a:spcAft>
            </a:pPr>
            <a:r>
              <a:rPr lang="en-US" sz="700">
                <a:solidFill>
                  <a:srgbClr val="00338D"/>
                </a:solidFill>
              </a:rPr>
              <a:t>100%</a:t>
            </a:r>
          </a:p>
        </p:txBody>
      </p:sp>
      <p:sp>
        <p:nvSpPr>
          <p:cNvPr id="275" name="TextBox 274">
            <a:extLst>
              <a:ext uri="{FF2B5EF4-FFF2-40B4-BE49-F238E27FC236}">
                <a16:creationId xmlns:a16="http://schemas.microsoft.com/office/drawing/2014/main" id="{5BC389AF-4676-B96F-F9F0-D95B79933170}"/>
              </a:ext>
            </a:extLst>
          </p:cNvPr>
          <p:cNvSpPr txBox="1"/>
          <p:nvPr/>
        </p:nvSpPr>
        <p:spPr>
          <a:xfrm>
            <a:off x="4721598" y="2971556"/>
            <a:ext cx="444014" cy="134993"/>
          </a:xfrm>
          <a:prstGeom prst="rect">
            <a:avLst/>
          </a:prstGeom>
          <a:noFill/>
        </p:spPr>
        <p:txBody>
          <a:bodyPr wrap="square" lIns="54610" tIns="54610" rIns="54610" bIns="54610" rtlCol="0">
            <a:noAutofit/>
          </a:bodyPr>
          <a:lstStyle/>
          <a:p>
            <a:pPr>
              <a:spcAft>
                <a:spcPts val="600"/>
              </a:spcAft>
            </a:pPr>
            <a:r>
              <a:rPr lang="en-US" sz="700">
                <a:solidFill>
                  <a:srgbClr val="00338D"/>
                </a:solidFill>
              </a:rPr>
              <a:t>100%</a:t>
            </a:r>
          </a:p>
        </p:txBody>
      </p:sp>
      <p:sp>
        <p:nvSpPr>
          <p:cNvPr id="276" name="TextBox 275">
            <a:extLst>
              <a:ext uri="{FF2B5EF4-FFF2-40B4-BE49-F238E27FC236}">
                <a16:creationId xmlns:a16="http://schemas.microsoft.com/office/drawing/2014/main" id="{D6464BE5-A7CE-336B-3F76-FDAC55398337}"/>
              </a:ext>
            </a:extLst>
          </p:cNvPr>
          <p:cNvSpPr txBox="1"/>
          <p:nvPr/>
        </p:nvSpPr>
        <p:spPr>
          <a:xfrm>
            <a:off x="5843704" y="2971556"/>
            <a:ext cx="444014" cy="134993"/>
          </a:xfrm>
          <a:prstGeom prst="rect">
            <a:avLst/>
          </a:prstGeom>
          <a:noFill/>
        </p:spPr>
        <p:txBody>
          <a:bodyPr wrap="square" lIns="54610" tIns="54610" rIns="54610" bIns="54610" rtlCol="0">
            <a:noAutofit/>
          </a:bodyPr>
          <a:lstStyle/>
          <a:p>
            <a:pPr>
              <a:spcAft>
                <a:spcPts val="600"/>
              </a:spcAft>
            </a:pPr>
            <a:r>
              <a:rPr lang="en-US" sz="700">
                <a:solidFill>
                  <a:srgbClr val="00338D"/>
                </a:solidFill>
              </a:rPr>
              <a:t>100%</a:t>
            </a:r>
          </a:p>
        </p:txBody>
      </p:sp>
      <p:sp>
        <p:nvSpPr>
          <p:cNvPr id="277" name="TextBox 276">
            <a:extLst>
              <a:ext uri="{FF2B5EF4-FFF2-40B4-BE49-F238E27FC236}">
                <a16:creationId xmlns:a16="http://schemas.microsoft.com/office/drawing/2014/main" id="{B5E12BBF-CB5E-2D09-1F66-5DF78A354917}"/>
              </a:ext>
            </a:extLst>
          </p:cNvPr>
          <p:cNvSpPr txBox="1"/>
          <p:nvPr/>
        </p:nvSpPr>
        <p:spPr>
          <a:xfrm>
            <a:off x="6996072" y="2993458"/>
            <a:ext cx="444014" cy="134993"/>
          </a:xfrm>
          <a:prstGeom prst="rect">
            <a:avLst/>
          </a:prstGeom>
          <a:noFill/>
        </p:spPr>
        <p:txBody>
          <a:bodyPr wrap="square" lIns="54610" tIns="54610" rIns="54610" bIns="54610" rtlCol="0">
            <a:noAutofit/>
          </a:bodyPr>
          <a:lstStyle/>
          <a:p>
            <a:pPr>
              <a:spcAft>
                <a:spcPts val="600"/>
              </a:spcAft>
            </a:pPr>
            <a:r>
              <a:rPr lang="en-US" sz="700">
                <a:solidFill>
                  <a:srgbClr val="00338D"/>
                </a:solidFill>
              </a:rPr>
              <a:t>100%</a:t>
            </a:r>
          </a:p>
        </p:txBody>
      </p:sp>
      <p:sp>
        <p:nvSpPr>
          <p:cNvPr id="278" name="TextBox 277">
            <a:extLst>
              <a:ext uri="{FF2B5EF4-FFF2-40B4-BE49-F238E27FC236}">
                <a16:creationId xmlns:a16="http://schemas.microsoft.com/office/drawing/2014/main" id="{12E2AEE7-4705-B4B3-D4D3-A390BB8B77F9}"/>
              </a:ext>
            </a:extLst>
          </p:cNvPr>
          <p:cNvSpPr txBox="1"/>
          <p:nvPr/>
        </p:nvSpPr>
        <p:spPr>
          <a:xfrm>
            <a:off x="8167049" y="3004192"/>
            <a:ext cx="444014" cy="134993"/>
          </a:xfrm>
          <a:prstGeom prst="rect">
            <a:avLst/>
          </a:prstGeom>
          <a:noFill/>
        </p:spPr>
        <p:txBody>
          <a:bodyPr wrap="square" lIns="54610" tIns="54610" rIns="54610" bIns="54610" rtlCol="0">
            <a:noAutofit/>
          </a:bodyPr>
          <a:lstStyle/>
          <a:p>
            <a:pPr>
              <a:spcAft>
                <a:spcPts val="600"/>
              </a:spcAft>
            </a:pPr>
            <a:r>
              <a:rPr lang="en-US" sz="700">
                <a:solidFill>
                  <a:srgbClr val="00338D"/>
                </a:solidFill>
              </a:rPr>
              <a:t>100%</a:t>
            </a:r>
          </a:p>
        </p:txBody>
      </p:sp>
      <p:sp>
        <p:nvSpPr>
          <p:cNvPr id="279" name="TextBox 278">
            <a:extLst>
              <a:ext uri="{FF2B5EF4-FFF2-40B4-BE49-F238E27FC236}">
                <a16:creationId xmlns:a16="http://schemas.microsoft.com/office/drawing/2014/main" id="{DDD40E7A-F6A1-D9F2-186D-15BF8A3E0C00}"/>
              </a:ext>
            </a:extLst>
          </p:cNvPr>
          <p:cNvSpPr txBox="1"/>
          <p:nvPr/>
        </p:nvSpPr>
        <p:spPr>
          <a:xfrm>
            <a:off x="10491470" y="3022442"/>
            <a:ext cx="444014" cy="134993"/>
          </a:xfrm>
          <a:prstGeom prst="rect">
            <a:avLst/>
          </a:prstGeom>
          <a:noFill/>
        </p:spPr>
        <p:txBody>
          <a:bodyPr wrap="square" lIns="54610" tIns="54610" rIns="54610" bIns="54610" rtlCol="0">
            <a:noAutofit/>
          </a:bodyPr>
          <a:lstStyle/>
          <a:p>
            <a:pPr>
              <a:spcAft>
                <a:spcPts val="600"/>
              </a:spcAft>
            </a:pPr>
            <a:r>
              <a:rPr lang="en-US" sz="700">
                <a:solidFill>
                  <a:srgbClr val="00338D"/>
                </a:solidFill>
              </a:rPr>
              <a:t>13%</a:t>
            </a:r>
          </a:p>
        </p:txBody>
      </p:sp>
      <p:sp>
        <p:nvSpPr>
          <p:cNvPr id="280" name="Rectangle 279">
            <a:extLst>
              <a:ext uri="{FF2B5EF4-FFF2-40B4-BE49-F238E27FC236}">
                <a16:creationId xmlns:a16="http://schemas.microsoft.com/office/drawing/2014/main" id="{21860B88-863F-1F6D-A044-DD3C13ECAAC3}"/>
              </a:ext>
            </a:extLst>
          </p:cNvPr>
          <p:cNvSpPr/>
          <p:nvPr/>
        </p:nvSpPr>
        <p:spPr>
          <a:xfrm>
            <a:off x="9333611" y="4393242"/>
            <a:ext cx="1050303" cy="460615"/>
          </a:xfrm>
          <a:prstGeom prst="rect">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bg1"/>
                </a:solidFill>
              </a:rPr>
              <a:t>vLex Justis LTD</a:t>
            </a:r>
          </a:p>
        </p:txBody>
      </p:sp>
      <p:sp>
        <p:nvSpPr>
          <p:cNvPr id="281" name="Rectangle 280">
            <a:extLst>
              <a:ext uri="{FF2B5EF4-FFF2-40B4-BE49-F238E27FC236}">
                <a16:creationId xmlns:a16="http://schemas.microsoft.com/office/drawing/2014/main" id="{E3F6F099-1AE8-5920-0E25-407E63C16C56}"/>
              </a:ext>
            </a:extLst>
          </p:cNvPr>
          <p:cNvSpPr/>
          <p:nvPr/>
        </p:nvSpPr>
        <p:spPr>
          <a:xfrm>
            <a:off x="7037615" y="4384520"/>
            <a:ext cx="1050303" cy="460615"/>
          </a:xfrm>
          <a:prstGeom prst="rect">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bg1"/>
                </a:solidFill>
              </a:rPr>
              <a:t>V3 </a:t>
            </a:r>
            <a:r>
              <a:rPr lang="pt-BR" sz="800">
                <a:solidFill>
                  <a:schemeClr val="bg1"/>
                </a:solidFill>
              </a:rPr>
              <a:t>Services Informaçao e Consultoría LTDA</a:t>
            </a:r>
            <a:endParaRPr lang="en-US" sz="800">
              <a:solidFill>
                <a:schemeClr val="bg1"/>
              </a:solidFill>
            </a:endParaRPr>
          </a:p>
        </p:txBody>
      </p:sp>
      <p:sp>
        <p:nvSpPr>
          <p:cNvPr id="282" name="Rectangle 281">
            <a:extLst>
              <a:ext uri="{FF2B5EF4-FFF2-40B4-BE49-F238E27FC236}">
                <a16:creationId xmlns:a16="http://schemas.microsoft.com/office/drawing/2014/main" id="{CC783408-E79F-2A9D-097B-DD1CCD86D65A}"/>
              </a:ext>
            </a:extLst>
          </p:cNvPr>
          <p:cNvSpPr/>
          <p:nvPr/>
        </p:nvSpPr>
        <p:spPr>
          <a:xfrm>
            <a:off x="8183041" y="4388042"/>
            <a:ext cx="1050303" cy="460615"/>
          </a:xfrm>
          <a:prstGeom prst="rect">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bg1"/>
                </a:solidFill>
              </a:rPr>
              <a:t>Colombia Información Legal, SAS</a:t>
            </a:r>
          </a:p>
        </p:txBody>
      </p:sp>
      <p:sp>
        <p:nvSpPr>
          <p:cNvPr id="283" name="TextBox 282">
            <a:extLst>
              <a:ext uri="{FF2B5EF4-FFF2-40B4-BE49-F238E27FC236}">
                <a16:creationId xmlns:a16="http://schemas.microsoft.com/office/drawing/2014/main" id="{3D518C6F-8258-997B-AD95-11DAC53BDED5}"/>
              </a:ext>
            </a:extLst>
          </p:cNvPr>
          <p:cNvSpPr txBox="1"/>
          <p:nvPr/>
        </p:nvSpPr>
        <p:spPr>
          <a:xfrm>
            <a:off x="8714147" y="4202331"/>
            <a:ext cx="444014" cy="134993"/>
          </a:xfrm>
          <a:prstGeom prst="rect">
            <a:avLst/>
          </a:prstGeom>
          <a:noFill/>
        </p:spPr>
        <p:txBody>
          <a:bodyPr wrap="square" lIns="54610" tIns="54610" rIns="54610" bIns="54610" rtlCol="0">
            <a:noAutofit/>
          </a:bodyPr>
          <a:lstStyle/>
          <a:p>
            <a:pPr>
              <a:spcAft>
                <a:spcPts val="600"/>
              </a:spcAft>
            </a:pPr>
            <a:r>
              <a:rPr lang="en-US" sz="700">
                <a:solidFill>
                  <a:srgbClr val="00338D"/>
                </a:solidFill>
              </a:rPr>
              <a:t>100%</a:t>
            </a:r>
          </a:p>
        </p:txBody>
      </p:sp>
      <p:sp>
        <p:nvSpPr>
          <p:cNvPr id="284" name="Rectangle 283">
            <a:extLst>
              <a:ext uri="{FF2B5EF4-FFF2-40B4-BE49-F238E27FC236}">
                <a16:creationId xmlns:a16="http://schemas.microsoft.com/office/drawing/2014/main" id="{C503E36C-4BD3-7872-B9A0-3E3BC67B0725}"/>
              </a:ext>
            </a:extLst>
          </p:cNvPr>
          <p:cNvSpPr/>
          <p:nvPr/>
        </p:nvSpPr>
        <p:spPr>
          <a:xfrm>
            <a:off x="5887045" y="4393518"/>
            <a:ext cx="1050303" cy="460615"/>
          </a:xfrm>
          <a:prstGeom prst="rect">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bg1"/>
                </a:solidFill>
              </a:rPr>
              <a:t>Compass Law</a:t>
            </a:r>
          </a:p>
        </p:txBody>
      </p:sp>
      <p:sp>
        <p:nvSpPr>
          <p:cNvPr id="285" name="Rectangle 284">
            <a:extLst>
              <a:ext uri="{FF2B5EF4-FFF2-40B4-BE49-F238E27FC236}">
                <a16:creationId xmlns:a16="http://schemas.microsoft.com/office/drawing/2014/main" id="{34202BE7-20C9-0B0D-1AED-AF65CEA1DEC5}"/>
              </a:ext>
            </a:extLst>
          </p:cNvPr>
          <p:cNvSpPr/>
          <p:nvPr/>
        </p:nvSpPr>
        <p:spPr>
          <a:xfrm>
            <a:off x="4740803" y="4393242"/>
            <a:ext cx="1050303" cy="460615"/>
          </a:xfrm>
          <a:prstGeom prst="rect">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bg1"/>
                </a:solidFill>
              </a:rPr>
              <a:t>V2 Services S de RL de CV</a:t>
            </a:r>
          </a:p>
        </p:txBody>
      </p:sp>
      <p:sp>
        <p:nvSpPr>
          <p:cNvPr id="286" name="Rectangle 285">
            <a:extLst>
              <a:ext uri="{FF2B5EF4-FFF2-40B4-BE49-F238E27FC236}">
                <a16:creationId xmlns:a16="http://schemas.microsoft.com/office/drawing/2014/main" id="{F6EABB40-4192-0DBF-650A-17D1DC8A07A6}"/>
              </a:ext>
            </a:extLst>
          </p:cNvPr>
          <p:cNvSpPr/>
          <p:nvPr/>
        </p:nvSpPr>
        <p:spPr>
          <a:xfrm>
            <a:off x="2455757" y="4384520"/>
            <a:ext cx="1050303" cy="460615"/>
          </a:xfrm>
          <a:prstGeom prst="rect">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bg1"/>
                </a:solidFill>
              </a:rPr>
              <a:t>Perú Información Legal</a:t>
            </a:r>
          </a:p>
        </p:txBody>
      </p:sp>
      <p:sp>
        <p:nvSpPr>
          <p:cNvPr id="287" name="Rectangle 286">
            <a:extLst>
              <a:ext uri="{FF2B5EF4-FFF2-40B4-BE49-F238E27FC236}">
                <a16:creationId xmlns:a16="http://schemas.microsoft.com/office/drawing/2014/main" id="{E448FBD0-0226-5E20-1A57-630574424C73}"/>
              </a:ext>
            </a:extLst>
          </p:cNvPr>
          <p:cNvSpPr/>
          <p:nvPr/>
        </p:nvSpPr>
        <p:spPr>
          <a:xfrm>
            <a:off x="3598280" y="4397492"/>
            <a:ext cx="1050303" cy="460615"/>
          </a:xfrm>
          <a:prstGeom prst="rect">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bg1"/>
                </a:solidFill>
              </a:rPr>
              <a:t>Vlex Colombia International Services (</a:t>
            </a:r>
            <a:r>
              <a:rPr lang="en-US" sz="800" err="1">
                <a:solidFill>
                  <a:schemeClr val="bg1"/>
                </a:solidFill>
              </a:rPr>
              <a:t>Sucursal</a:t>
            </a:r>
            <a:r>
              <a:rPr lang="en-US" sz="800">
                <a:solidFill>
                  <a:srgbClr val="00338D"/>
                </a:solidFill>
              </a:rPr>
              <a:t>)</a:t>
            </a:r>
          </a:p>
        </p:txBody>
      </p:sp>
      <p:pic>
        <p:nvPicPr>
          <p:cNvPr id="289" name="Picture 288">
            <a:extLst>
              <a:ext uri="{FF2B5EF4-FFF2-40B4-BE49-F238E27FC236}">
                <a16:creationId xmlns:a16="http://schemas.microsoft.com/office/drawing/2014/main" id="{73D1F174-6E94-65CA-4CAE-6DE73C6D106B}"/>
              </a:ext>
            </a:extLst>
          </p:cNvPr>
          <p:cNvPicPr>
            <a:picLocks noChangeAspect="1"/>
          </p:cNvPicPr>
          <p:nvPr/>
        </p:nvPicPr>
        <p:blipFill>
          <a:blip r:embed="rId13">
            <a:extLst>
              <a:ext uri="{28A0092B-C50C-407E-A947-70E740481C1C}">
                <a14:useLocalDpi xmlns:a14="http://schemas.microsoft.com/office/drawing/2010/main" val="0"/>
              </a:ext>
            </a:extLst>
          </a:blip>
          <a:srcRect l="4109" r="4109"/>
          <a:stretch/>
        </p:blipFill>
        <p:spPr>
          <a:xfrm>
            <a:off x="8240869" y="4239586"/>
            <a:ext cx="318715" cy="233400"/>
          </a:xfrm>
          <a:prstGeom prst="flowChartConnector">
            <a:avLst/>
          </a:prstGeom>
        </p:spPr>
      </p:pic>
      <p:pic>
        <p:nvPicPr>
          <p:cNvPr id="292" name="Picture 291">
            <a:extLst>
              <a:ext uri="{FF2B5EF4-FFF2-40B4-BE49-F238E27FC236}">
                <a16:creationId xmlns:a16="http://schemas.microsoft.com/office/drawing/2014/main" id="{2A7F141D-6010-E753-1ADE-D0BFDACA26CF}"/>
              </a:ext>
            </a:extLst>
          </p:cNvPr>
          <p:cNvPicPr>
            <a:picLocks noChangeAspect="1"/>
          </p:cNvPicPr>
          <p:nvPr/>
        </p:nvPicPr>
        <p:blipFill>
          <a:blip r:embed="rId14">
            <a:extLst>
              <a:ext uri="{28A0092B-C50C-407E-A947-70E740481C1C}">
                <a14:useLocalDpi xmlns:a14="http://schemas.microsoft.com/office/drawing/2010/main" val="0"/>
              </a:ext>
            </a:extLst>
          </a:blip>
          <a:srcRect l="4109" r="4109"/>
          <a:stretch/>
        </p:blipFill>
        <p:spPr>
          <a:xfrm>
            <a:off x="4776531" y="4246748"/>
            <a:ext cx="318715" cy="233400"/>
          </a:xfrm>
          <a:prstGeom prst="flowChartConnector">
            <a:avLst/>
          </a:prstGeom>
        </p:spPr>
      </p:pic>
      <p:pic>
        <p:nvPicPr>
          <p:cNvPr id="294" name="Picture 293">
            <a:extLst>
              <a:ext uri="{FF2B5EF4-FFF2-40B4-BE49-F238E27FC236}">
                <a16:creationId xmlns:a16="http://schemas.microsoft.com/office/drawing/2014/main" id="{DA868D0F-382B-5377-F3F6-2A73F0340245}"/>
              </a:ext>
            </a:extLst>
          </p:cNvPr>
          <p:cNvPicPr>
            <a:picLocks noChangeAspect="1"/>
          </p:cNvPicPr>
          <p:nvPr/>
        </p:nvPicPr>
        <p:blipFill>
          <a:blip r:embed="rId15">
            <a:extLst>
              <a:ext uri="{28A0092B-C50C-407E-A947-70E740481C1C}">
                <a14:useLocalDpi xmlns:a14="http://schemas.microsoft.com/office/drawing/2010/main" val="0"/>
              </a:ext>
            </a:extLst>
          </a:blip>
          <a:srcRect l="4109" r="4109"/>
          <a:stretch/>
        </p:blipFill>
        <p:spPr>
          <a:xfrm>
            <a:off x="2500977" y="4240255"/>
            <a:ext cx="318715" cy="233400"/>
          </a:xfrm>
          <a:prstGeom prst="flowChartConnector">
            <a:avLst/>
          </a:prstGeom>
        </p:spPr>
      </p:pic>
      <p:cxnSp>
        <p:nvCxnSpPr>
          <p:cNvPr id="295" name="Straight Arrow Connector 3">
            <a:extLst>
              <a:ext uri="{FF2B5EF4-FFF2-40B4-BE49-F238E27FC236}">
                <a16:creationId xmlns:a16="http://schemas.microsoft.com/office/drawing/2014/main" id="{60236A91-D8EF-20BD-43C2-E5B6BFA7FE5F}"/>
              </a:ext>
            </a:extLst>
          </p:cNvPr>
          <p:cNvCxnSpPr>
            <a:cxnSpLocks/>
            <a:stCxn id="215" idx="2"/>
            <a:endCxn id="285" idx="0"/>
          </p:cNvCxnSpPr>
          <p:nvPr/>
        </p:nvCxnSpPr>
        <p:spPr>
          <a:xfrm rot="5400000">
            <a:off x="5181027" y="3741490"/>
            <a:ext cx="736681" cy="566823"/>
          </a:xfrm>
          <a:prstGeom prst="bentConnector3">
            <a:avLst>
              <a:gd name="adj1" fmla="val 50000"/>
            </a:avLst>
          </a:prstGeom>
          <a:ln>
            <a:solidFill>
              <a:srgbClr val="00338D"/>
            </a:solidFill>
            <a:tailEnd type="triangle"/>
          </a:ln>
        </p:spPr>
        <p:style>
          <a:lnRef idx="1">
            <a:schemeClr val="accent1"/>
          </a:lnRef>
          <a:fillRef idx="0">
            <a:schemeClr val="accent1"/>
          </a:fillRef>
          <a:effectRef idx="0">
            <a:schemeClr val="accent1"/>
          </a:effectRef>
          <a:fontRef idx="minor">
            <a:schemeClr val="tx1"/>
          </a:fontRef>
        </p:style>
      </p:cxnSp>
      <p:cxnSp>
        <p:nvCxnSpPr>
          <p:cNvPr id="297" name="Straight Arrow Connector 3">
            <a:extLst>
              <a:ext uri="{FF2B5EF4-FFF2-40B4-BE49-F238E27FC236}">
                <a16:creationId xmlns:a16="http://schemas.microsoft.com/office/drawing/2014/main" id="{7D45EAC4-4CA3-D832-7943-10643F817914}"/>
              </a:ext>
            </a:extLst>
          </p:cNvPr>
          <p:cNvCxnSpPr>
            <a:cxnSpLocks/>
            <a:stCxn id="23" idx="2"/>
            <a:endCxn id="285" idx="0"/>
          </p:cNvCxnSpPr>
          <p:nvPr/>
        </p:nvCxnSpPr>
        <p:spPr>
          <a:xfrm rot="5400000">
            <a:off x="6053716" y="1731145"/>
            <a:ext cx="1874336" cy="3449858"/>
          </a:xfrm>
          <a:prstGeom prst="bentConnector3">
            <a:avLst>
              <a:gd name="adj1" fmla="val 18184"/>
            </a:avLst>
          </a:prstGeom>
          <a:ln>
            <a:solidFill>
              <a:srgbClr val="00338D"/>
            </a:solidFill>
            <a:tailEnd type="triangle"/>
          </a:ln>
        </p:spPr>
        <p:style>
          <a:lnRef idx="1">
            <a:schemeClr val="accent1"/>
          </a:lnRef>
          <a:fillRef idx="0">
            <a:schemeClr val="accent1"/>
          </a:fillRef>
          <a:effectRef idx="0">
            <a:schemeClr val="accent1"/>
          </a:effectRef>
          <a:fontRef idx="minor">
            <a:schemeClr val="tx1"/>
          </a:fontRef>
        </p:style>
      </p:cxnSp>
      <p:cxnSp>
        <p:nvCxnSpPr>
          <p:cNvPr id="298" name="Straight Arrow Connector 3">
            <a:extLst>
              <a:ext uri="{FF2B5EF4-FFF2-40B4-BE49-F238E27FC236}">
                <a16:creationId xmlns:a16="http://schemas.microsoft.com/office/drawing/2014/main" id="{A26BED24-ED39-310C-4A69-F7BE19FC60A8}"/>
              </a:ext>
            </a:extLst>
          </p:cNvPr>
          <p:cNvCxnSpPr>
            <a:cxnSpLocks/>
            <a:stCxn id="214" idx="2"/>
            <a:endCxn id="284" idx="0"/>
          </p:cNvCxnSpPr>
          <p:nvPr/>
        </p:nvCxnSpPr>
        <p:spPr>
          <a:xfrm rot="5400000">
            <a:off x="6327269" y="3741766"/>
            <a:ext cx="736681" cy="566823"/>
          </a:xfrm>
          <a:prstGeom prst="bentConnector3">
            <a:avLst>
              <a:gd name="adj1" fmla="val 19778"/>
            </a:avLst>
          </a:prstGeom>
          <a:ln>
            <a:solidFill>
              <a:srgbClr val="00338D"/>
            </a:solidFill>
            <a:tailEnd type="triangle"/>
          </a:ln>
        </p:spPr>
        <p:style>
          <a:lnRef idx="1">
            <a:schemeClr val="accent1"/>
          </a:lnRef>
          <a:fillRef idx="0">
            <a:schemeClr val="accent1"/>
          </a:fillRef>
          <a:effectRef idx="0">
            <a:schemeClr val="accent1"/>
          </a:effectRef>
          <a:fontRef idx="minor">
            <a:schemeClr val="tx1"/>
          </a:fontRef>
        </p:style>
      </p:cxnSp>
      <p:cxnSp>
        <p:nvCxnSpPr>
          <p:cNvPr id="299" name="Straight Arrow Connector 3">
            <a:extLst>
              <a:ext uri="{FF2B5EF4-FFF2-40B4-BE49-F238E27FC236}">
                <a16:creationId xmlns:a16="http://schemas.microsoft.com/office/drawing/2014/main" id="{D6EE6191-1C5C-F0EF-9029-EFCD5A56BA37}"/>
              </a:ext>
            </a:extLst>
          </p:cNvPr>
          <p:cNvCxnSpPr>
            <a:cxnSpLocks/>
            <a:stCxn id="215" idx="2"/>
            <a:endCxn id="281" idx="0"/>
          </p:cNvCxnSpPr>
          <p:nvPr/>
        </p:nvCxnSpPr>
        <p:spPr>
          <a:xfrm rot="16200000" flipH="1">
            <a:off x="6333793" y="3155545"/>
            <a:ext cx="727959" cy="1729989"/>
          </a:xfrm>
          <a:prstGeom prst="bentConnector3">
            <a:avLst>
              <a:gd name="adj1" fmla="val 35755"/>
            </a:avLst>
          </a:prstGeom>
          <a:ln>
            <a:solidFill>
              <a:srgbClr val="00338D"/>
            </a:solidFill>
            <a:tailEnd type="triangle"/>
          </a:ln>
        </p:spPr>
        <p:style>
          <a:lnRef idx="1">
            <a:schemeClr val="accent1"/>
          </a:lnRef>
          <a:fillRef idx="0">
            <a:schemeClr val="accent1"/>
          </a:fillRef>
          <a:effectRef idx="0">
            <a:schemeClr val="accent1"/>
          </a:effectRef>
          <a:fontRef idx="minor">
            <a:schemeClr val="tx1"/>
          </a:fontRef>
        </p:style>
      </p:cxnSp>
      <p:cxnSp>
        <p:nvCxnSpPr>
          <p:cNvPr id="300" name="Straight Arrow Connector 3">
            <a:extLst>
              <a:ext uri="{FF2B5EF4-FFF2-40B4-BE49-F238E27FC236}">
                <a16:creationId xmlns:a16="http://schemas.microsoft.com/office/drawing/2014/main" id="{DC6B3F5E-EC7D-0FAD-4045-78F2F9CC2EB6}"/>
              </a:ext>
            </a:extLst>
          </p:cNvPr>
          <p:cNvCxnSpPr>
            <a:cxnSpLocks/>
            <a:stCxn id="23" idx="2"/>
            <a:endCxn id="282" idx="0"/>
          </p:cNvCxnSpPr>
          <p:nvPr/>
        </p:nvCxnSpPr>
        <p:spPr>
          <a:xfrm rot="5400000">
            <a:off x="7777435" y="3449664"/>
            <a:ext cx="1869136" cy="7620"/>
          </a:xfrm>
          <a:prstGeom prst="bentConnector3">
            <a:avLst>
              <a:gd name="adj1" fmla="val 50000"/>
            </a:avLst>
          </a:prstGeom>
          <a:ln>
            <a:solidFill>
              <a:srgbClr val="00338D"/>
            </a:solidFill>
            <a:tailEnd type="triangle"/>
          </a:ln>
        </p:spPr>
        <p:style>
          <a:lnRef idx="1">
            <a:schemeClr val="accent1"/>
          </a:lnRef>
          <a:fillRef idx="0">
            <a:schemeClr val="accent1"/>
          </a:fillRef>
          <a:effectRef idx="0">
            <a:schemeClr val="accent1"/>
          </a:effectRef>
          <a:fontRef idx="minor">
            <a:schemeClr val="tx1"/>
          </a:fontRef>
        </p:style>
      </p:cxnSp>
      <p:cxnSp>
        <p:nvCxnSpPr>
          <p:cNvPr id="301" name="Straight Arrow Connector 3">
            <a:extLst>
              <a:ext uri="{FF2B5EF4-FFF2-40B4-BE49-F238E27FC236}">
                <a16:creationId xmlns:a16="http://schemas.microsoft.com/office/drawing/2014/main" id="{2AEA38E7-4556-2640-6F09-40000927C74D}"/>
              </a:ext>
            </a:extLst>
          </p:cNvPr>
          <p:cNvCxnSpPr>
            <a:cxnSpLocks/>
            <a:stCxn id="28" idx="2"/>
            <a:endCxn id="280" idx="0"/>
          </p:cNvCxnSpPr>
          <p:nvPr/>
        </p:nvCxnSpPr>
        <p:spPr>
          <a:xfrm rot="16200000" flipH="1">
            <a:off x="9195949" y="3730427"/>
            <a:ext cx="741881" cy="583747"/>
          </a:xfrm>
          <a:prstGeom prst="bentConnector3">
            <a:avLst>
              <a:gd name="adj1" fmla="val 50000"/>
            </a:avLst>
          </a:prstGeom>
          <a:ln>
            <a:solidFill>
              <a:srgbClr val="00338D"/>
            </a:solidFill>
            <a:tailEnd type="triangle"/>
          </a:ln>
        </p:spPr>
        <p:style>
          <a:lnRef idx="1">
            <a:schemeClr val="accent1"/>
          </a:lnRef>
          <a:fillRef idx="0">
            <a:schemeClr val="accent1"/>
          </a:fillRef>
          <a:effectRef idx="0">
            <a:schemeClr val="accent1"/>
          </a:effectRef>
          <a:fontRef idx="minor">
            <a:schemeClr val="tx1"/>
          </a:fontRef>
        </p:style>
      </p:cxnSp>
      <p:sp>
        <p:nvSpPr>
          <p:cNvPr id="302" name="TextBox 301">
            <a:extLst>
              <a:ext uri="{FF2B5EF4-FFF2-40B4-BE49-F238E27FC236}">
                <a16:creationId xmlns:a16="http://schemas.microsoft.com/office/drawing/2014/main" id="{E4DD3C52-E0F8-DD7B-4358-DA0EC9430B2A}"/>
              </a:ext>
            </a:extLst>
          </p:cNvPr>
          <p:cNvSpPr txBox="1"/>
          <p:nvPr/>
        </p:nvSpPr>
        <p:spPr>
          <a:xfrm>
            <a:off x="3014084" y="4183890"/>
            <a:ext cx="444014" cy="134993"/>
          </a:xfrm>
          <a:prstGeom prst="rect">
            <a:avLst/>
          </a:prstGeom>
          <a:noFill/>
        </p:spPr>
        <p:txBody>
          <a:bodyPr wrap="square" lIns="54610" tIns="54610" rIns="54610" bIns="54610" rtlCol="0">
            <a:noAutofit/>
          </a:bodyPr>
          <a:lstStyle/>
          <a:p>
            <a:pPr>
              <a:spcAft>
                <a:spcPts val="600"/>
              </a:spcAft>
            </a:pPr>
            <a:r>
              <a:rPr lang="en-US" sz="700">
                <a:solidFill>
                  <a:srgbClr val="00338D"/>
                </a:solidFill>
              </a:rPr>
              <a:t>3%</a:t>
            </a:r>
          </a:p>
        </p:txBody>
      </p:sp>
      <p:sp>
        <p:nvSpPr>
          <p:cNvPr id="303" name="TextBox 302">
            <a:extLst>
              <a:ext uri="{FF2B5EF4-FFF2-40B4-BE49-F238E27FC236}">
                <a16:creationId xmlns:a16="http://schemas.microsoft.com/office/drawing/2014/main" id="{56D6BEE5-B61C-1EE0-1824-03E0A962D91A}"/>
              </a:ext>
            </a:extLst>
          </p:cNvPr>
          <p:cNvSpPr txBox="1"/>
          <p:nvPr/>
        </p:nvSpPr>
        <p:spPr>
          <a:xfrm>
            <a:off x="4154775" y="4168852"/>
            <a:ext cx="444014" cy="134993"/>
          </a:xfrm>
          <a:prstGeom prst="rect">
            <a:avLst/>
          </a:prstGeom>
          <a:noFill/>
        </p:spPr>
        <p:txBody>
          <a:bodyPr wrap="square" lIns="54610" tIns="54610" rIns="54610" bIns="54610" rtlCol="0">
            <a:noAutofit/>
          </a:bodyPr>
          <a:lstStyle/>
          <a:p>
            <a:pPr>
              <a:spcAft>
                <a:spcPts val="600"/>
              </a:spcAft>
            </a:pPr>
            <a:r>
              <a:rPr lang="en-US" sz="700">
                <a:solidFill>
                  <a:srgbClr val="00338D"/>
                </a:solidFill>
              </a:rPr>
              <a:t>100%</a:t>
            </a:r>
          </a:p>
        </p:txBody>
      </p:sp>
      <p:sp>
        <p:nvSpPr>
          <p:cNvPr id="304" name="TextBox 303">
            <a:extLst>
              <a:ext uri="{FF2B5EF4-FFF2-40B4-BE49-F238E27FC236}">
                <a16:creationId xmlns:a16="http://schemas.microsoft.com/office/drawing/2014/main" id="{36EB3575-BF0A-F845-D873-0CBB97AC4824}"/>
              </a:ext>
            </a:extLst>
          </p:cNvPr>
          <p:cNvSpPr txBox="1"/>
          <p:nvPr/>
        </p:nvSpPr>
        <p:spPr>
          <a:xfrm>
            <a:off x="5284449" y="4183890"/>
            <a:ext cx="444014" cy="134993"/>
          </a:xfrm>
          <a:prstGeom prst="rect">
            <a:avLst/>
          </a:prstGeom>
          <a:noFill/>
        </p:spPr>
        <p:txBody>
          <a:bodyPr wrap="square" lIns="54610" tIns="54610" rIns="54610" bIns="54610" rtlCol="0">
            <a:noAutofit/>
          </a:bodyPr>
          <a:lstStyle/>
          <a:p>
            <a:pPr>
              <a:spcAft>
                <a:spcPts val="600"/>
              </a:spcAft>
            </a:pPr>
            <a:r>
              <a:rPr lang="en-US" sz="700">
                <a:solidFill>
                  <a:srgbClr val="00338D"/>
                </a:solidFill>
              </a:rPr>
              <a:t>0.08%</a:t>
            </a:r>
          </a:p>
        </p:txBody>
      </p:sp>
      <p:sp>
        <p:nvSpPr>
          <p:cNvPr id="305" name="TextBox 304">
            <a:extLst>
              <a:ext uri="{FF2B5EF4-FFF2-40B4-BE49-F238E27FC236}">
                <a16:creationId xmlns:a16="http://schemas.microsoft.com/office/drawing/2014/main" id="{B8C13299-FA30-64C5-3FA7-3554725012DE}"/>
              </a:ext>
            </a:extLst>
          </p:cNvPr>
          <p:cNvSpPr txBox="1"/>
          <p:nvPr/>
        </p:nvSpPr>
        <p:spPr>
          <a:xfrm>
            <a:off x="6429249" y="4190754"/>
            <a:ext cx="444014" cy="134993"/>
          </a:xfrm>
          <a:prstGeom prst="rect">
            <a:avLst/>
          </a:prstGeom>
          <a:noFill/>
        </p:spPr>
        <p:txBody>
          <a:bodyPr wrap="square" lIns="54610" tIns="54610" rIns="54610" bIns="54610" rtlCol="0">
            <a:noAutofit/>
          </a:bodyPr>
          <a:lstStyle/>
          <a:p>
            <a:pPr>
              <a:spcAft>
                <a:spcPts val="600"/>
              </a:spcAft>
            </a:pPr>
            <a:r>
              <a:rPr lang="en-US" sz="700">
                <a:solidFill>
                  <a:srgbClr val="00338D"/>
                </a:solidFill>
              </a:rPr>
              <a:t>34%</a:t>
            </a:r>
          </a:p>
        </p:txBody>
      </p:sp>
      <p:sp>
        <p:nvSpPr>
          <p:cNvPr id="306" name="TextBox 305">
            <a:extLst>
              <a:ext uri="{FF2B5EF4-FFF2-40B4-BE49-F238E27FC236}">
                <a16:creationId xmlns:a16="http://schemas.microsoft.com/office/drawing/2014/main" id="{3A559CAC-F60F-7350-ABCE-2043D9F057C0}"/>
              </a:ext>
            </a:extLst>
          </p:cNvPr>
          <p:cNvSpPr txBox="1"/>
          <p:nvPr/>
        </p:nvSpPr>
        <p:spPr>
          <a:xfrm>
            <a:off x="7599645" y="4215345"/>
            <a:ext cx="444014" cy="134993"/>
          </a:xfrm>
          <a:prstGeom prst="rect">
            <a:avLst/>
          </a:prstGeom>
          <a:noFill/>
        </p:spPr>
        <p:txBody>
          <a:bodyPr wrap="square" lIns="54610" tIns="54610" rIns="54610" bIns="54610" rtlCol="0">
            <a:noAutofit/>
          </a:bodyPr>
          <a:lstStyle/>
          <a:p>
            <a:pPr>
              <a:spcAft>
                <a:spcPts val="600"/>
              </a:spcAft>
            </a:pPr>
            <a:r>
              <a:rPr lang="en-US" sz="700">
                <a:solidFill>
                  <a:srgbClr val="00338D"/>
                </a:solidFill>
              </a:rPr>
              <a:t>90%</a:t>
            </a:r>
          </a:p>
        </p:txBody>
      </p:sp>
      <p:sp>
        <p:nvSpPr>
          <p:cNvPr id="307" name="TextBox 306">
            <a:extLst>
              <a:ext uri="{FF2B5EF4-FFF2-40B4-BE49-F238E27FC236}">
                <a16:creationId xmlns:a16="http://schemas.microsoft.com/office/drawing/2014/main" id="{34D12921-0AC1-48F2-A554-D4AC0A3DE522}"/>
              </a:ext>
            </a:extLst>
          </p:cNvPr>
          <p:cNvSpPr txBox="1"/>
          <p:nvPr/>
        </p:nvSpPr>
        <p:spPr>
          <a:xfrm>
            <a:off x="9924647" y="4219738"/>
            <a:ext cx="444014" cy="134993"/>
          </a:xfrm>
          <a:prstGeom prst="rect">
            <a:avLst/>
          </a:prstGeom>
          <a:noFill/>
        </p:spPr>
        <p:txBody>
          <a:bodyPr wrap="square" lIns="54610" tIns="54610" rIns="54610" bIns="54610" rtlCol="0">
            <a:noAutofit/>
          </a:bodyPr>
          <a:lstStyle/>
          <a:p>
            <a:pPr>
              <a:spcAft>
                <a:spcPts val="600"/>
              </a:spcAft>
            </a:pPr>
            <a:r>
              <a:rPr lang="en-US" sz="700">
                <a:solidFill>
                  <a:srgbClr val="00338D"/>
                </a:solidFill>
              </a:rPr>
              <a:t>100%</a:t>
            </a:r>
          </a:p>
        </p:txBody>
      </p:sp>
      <p:pic>
        <p:nvPicPr>
          <p:cNvPr id="309" name="Picture 308">
            <a:extLst>
              <a:ext uri="{FF2B5EF4-FFF2-40B4-BE49-F238E27FC236}">
                <a16:creationId xmlns:a16="http://schemas.microsoft.com/office/drawing/2014/main" id="{10BE5FDF-2BEE-E962-9FA8-6801BDB5C93E}"/>
              </a:ext>
            </a:extLst>
          </p:cNvPr>
          <p:cNvPicPr>
            <a:picLocks noChangeAspect="1"/>
          </p:cNvPicPr>
          <p:nvPr/>
        </p:nvPicPr>
        <p:blipFill>
          <a:blip r:embed="rId11">
            <a:extLst>
              <a:ext uri="{28A0092B-C50C-407E-A947-70E740481C1C}">
                <a14:useLocalDpi xmlns:a14="http://schemas.microsoft.com/office/drawing/2010/main" val="0"/>
              </a:ext>
            </a:extLst>
          </a:blip>
          <a:srcRect l="5228" r="5228"/>
          <a:stretch/>
        </p:blipFill>
        <p:spPr>
          <a:xfrm>
            <a:off x="9395688" y="4255514"/>
            <a:ext cx="318715" cy="233400"/>
          </a:xfrm>
          <a:prstGeom prst="flowChartConnector">
            <a:avLst/>
          </a:prstGeom>
        </p:spPr>
      </p:pic>
      <p:cxnSp>
        <p:nvCxnSpPr>
          <p:cNvPr id="322" name="Straight Arrow Connector 3">
            <a:extLst>
              <a:ext uri="{FF2B5EF4-FFF2-40B4-BE49-F238E27FC236}">
                <a16:creationId xmlns:a16="http://schemas.microsoft.com/office/drawing/2014/main" id="{5BBCC0D8-DDBB-5688-AA51-05A14EC12500}"/>
              </a:ext>
            </a:extLst>
          </p:cNvPr>
          <p:cNvCxnSpPr>
            <a:cxnSpLocks/>
            <a:stCxn id="23" idx="2"/>
            <a:endCxn id="281" idx="0"/>
          </p:cNvCxnSpPr>
          <p:nvPr/>
        </p:nvCxnSpPr>
        <p:spPr>
          <a:xfrm rot="5400000">
            <a:off x="7206483" y="2875190"/>
            <a:ext cx="1865614" cy="1153046"/>
          </a:xfrm>
          <a:prstGeom prst="bentConnector3">
            <a:avLst>
              <a:gd name="adj1" fmla="val 17661"/>
            </a:avLst>
          </a:prstGeom>
          <a:ln>
            <a:solidFill>
              <a:srgbClr val="00338D"/>
            </a:solidFill>
            <a:tailEnd type="triangle"/>
          </a:ln>
        </p:spPr>
        <p:style>
          <a:lnRef idx="1">
            <a:schemeClr val="accent1"/>
          </a:lnRef>
          <a:fillRef idx="0">
            <a:schemeClr val="accent1"/>
          </a:fillRef>
          <a:effectRef idx="0">
            <a:schemeClr val="accent1"/>
          </a:effectRef>
          <a:fontRef idx="minor">
            <a:schemeClr val="tx1"/>
          </a:fontRef>
        </p:style>
      </p:cxnSp>
      <p:sp>
        <p:nvSpPr>
          <p:cNvPr id="332" name="TextBox 331">
            <a:extLst>
              <a:ext uri="{FF2B5EF4-FFF2-40B4-BE49-F238E27FC236}">
                <a16:creationId xmlns:a16="http://schemas.microsoft.com/office/drawing/2014/main" id="{559CFA26-5DDE-8BDD-13DD-1C76D50DA438}"/>
              </a:ext>
            </a:extLst>
          </p:cNvPr>
          <p:cNvSpPr txBox="1"/>
          <p:nvPr/>
        </p:nvSpPr>
        <p:spPr>
          <a:xfrm>
            <a:off x="7282164" y="4215345"/>
            <a:ext cx="444014" cy="134993"/>
          </a:xfrm>
          <a:prstGeom prst="rect">
            <a:avLst/>
          </a:prstGeom>
          <a:noFill/>
        </p:spPr>
        <p:txBody>
          <a:bodyPr wrap="square" lIns="54610" tIns="54610" rIns="54610" bIns="54610" rtlCol="0">
            <a:noAutofit/>
          </a:bodyPr>
          <a:lstStyle/>
          <a:p>
            <a:pPr>
              <a:spcAft>
                <a:spcPts val="600"/>
              </a:spcAft>
            </a:pPr>
            <a:r>
              <a:rPr lang="en-US" sz="700">
                <a:solidFill>
                  <a:srgbClr val="00338D"/>
                </a:solidFill>
              </a:rPr>
              <a:t>10%</a:t>
            </a:r>
          </a:p>
        </p:txBody>
      </p:sp>
      <p:pic>
        <p:nvPicPr>
          <p:cNvPr id="333" name="Picture 332">
            <a:extLst>
              <a:ext uri="{FF2B5EF4-FFF2-40B4-BE49-F238E27FC236}">
                <a16:creationId xmlns:a16="http://schemas.microsoft.com/office/drawing/2014/main" id="{6795A8F4-EF42-FAA1-557C-CCD8575916F1}"/>
              </a:ext>
            </a:extLst>
          </p:cNvPr>
          <p:cNvPicPr>
            <a:picLocks noChangeAspect="1"/>
          </p:cNvPicPr>
          <p:nvPr/>
        </p:nvPicPr>
        <p:blipFill>
          <a:blip r:embed="rId16">
            <a:extLst>
              <a:ext uri="{28A0092B-C50C-407E-A947-70E740481C1C}">
                <a14:useLocalDpi xmlns:a14="http://schemas.microsoft.com/office/drawing/2010/main" val="0"/>
              </a:ext>
            </a:extLst>
          </a:blip>
          <a:srcRect l="4109" r="4109"/>
          <a:stretch/>
        </p:blipFill>
        <p:spPr>
          <a:xfrm>
            <a:off x="6999164" y="4239586"/>
            <a:ext cx="318715" cy="233400"/>
          </a:xfrm>
          <a:prstGeom prst="flowChartConnector">
            <a:avLst/>
          </a:prstGeom>
        </p:spPr>
      </p:pic>
      <p:pic>
        <p:nvPicPr>
          <p:cNvPr id="336" name="Picture 335">
            <a:extLst>
              <a:ext uri="{FF2B5EF4-FFF2-40B4-BE49-F238E27FC236}">
                <a16:creationId xmlns:a16="http://schemas.microsoft.com/office/drawing/2014/main" id="{15F065BD-98F5-12A7-F333-C5649AE1296B}"/>
              </a:ext>
            </a:extLst>
          </p:cNvPr>
          <p:cNvPicPr>
            <a:picLocks noChangeAspect="1"/>
          </p:cNvPicPr>
          <p:nvPr/>
        </p:nvPicPr>
        <p:blipFill>
          <a:blip r:embed="rId12">
            <a:extLst>
              <a:ext uri="{28A0092B-C50C-407E-A947-70E740481C1C}">
                <a14:useLocalDpi xmlns:a14="http://schemas.microsoft.com/office/drawing/2010/main" val="0"/>
              </a:ext>
            </a:extLst>
          </a:blip>
          <a:srcRect l="5228" r="5228"/>
          <a:stretch/>
        </p:blipFill>
        <p:spPr>
          <a:xfrm>
            <a:off x="5969003" y="4239586"/>
            <a:ext cx="318715" cy="233400"/>
          </a:xfrm>
          <a:prstGeom prst="flowChartConnector">
            <a:avLst/>
          </a:prstGeom>
        </p:spPr>
      </p:pic>
      <p:sp>
        <p:nvSpPr>
          <p:cNvPr id="341" name="TextBox 340">
            <a:extLst>
              <a:ext uri="{FF2B5EF4-FFF2-40B4-BE49-F238E27FC236}">
                <a16:creationId xmlns:a16="http://schemas.microsoft.com/office/drawing/2014/main" id="{056BAC71-B1BC-054F-E939-3B9508C6213D}"/>
              </a:ext>
            </a:extLst>
          </p:cNvPr>
          <p:cNvSpPr txBox="1"/>
          <p:nvPr/>
        </p:nvSpPr>
        <p:spPr>
          <a:xfrm>
            <a:off x="4856211" y="4038508"/>
            <a:ext cx="444014" cy="134993"/>
          </a:xfrm>
          <a:prstGeom prst="rect">
            <a:avLst/>
          </a:prstGeom>
          <a:noFill/>
        </p:spPr>
        <p:txBody>
          <a:bodyPr wrap="square" lIns="54610" tIns="54610" rIns="54610" bIns="54610" rtlCol="0">
            <a:noAutofit/>
          </a:bodyPr>
          <a:lstStyle/>
          <a:p>
            <a:pPr>
              <a:spcAft>
                <a:spcPts val="600"/>
              </a:spcAft>
            </a:pPr>
            <a:r>
              <a:rPr lang="en-US" sz="700">
                <a:solidFill>
                  <a:srgbClr val="00338D"/>
                </a:solidFill>
              </a:rPr>
              <a:t>99.92%</a:t>
            </a:r>
          </a:p>
        </p:txBody>
      </p:sp>
      <p:pic>
        <p:nvPicPr>
          <p:cNvPr id="342" name="Picture 341">
            <a:extLst>
              <a:ext uri="{FF2B5EF4-FFF2-40B4-BE49-F238E27FC236}">
                <a16:creationId xmlns:a16="http://schemas.microsoft.com/office/drawing/2014/main" id="{7C4E0D65-081D-512C-46C4-7432FBA64E45}"/>
              </a:ext>
            </a:extLst>
          </p:cNvPr>
          <p:cNvPicPr>
            <a:picLocks noChangeAspect="1"/>
          </p:cNvPicPr>
          <p:nvPr/>
        </p:nvPicPr>
        <p:blipFill>
          <a:blip r:embed="rId13">
            <a:extLst>
              <a:ext uri="{28A0092B-C50C-407E-A947-70E740481C1C}">
                <a14:useLocalDpi xmlns:a14="http://schemas.microsoft.com/office/drawing/2010/main" val="0"/>
              </a:ext>
            </a:extLst>
          </a:blip>
          <a:srcRect l="4109" r="4109"/>
          <a:stretch/>
        </p:blipFill>
        <p:spPr>
          <a:xfrm>
            <a:off x="3582035" y="4194370"/>
            <a:ext cx="318715" cy="233400"/>
          </a:xfrm>
          <a:prstGeom prst="flowChartConnector">
            <a:avLst/>
          </a:prstGeom>
        </p:spPr>
      </p:pic>
      <p:cxnSp>
        <p:nvCxnSpPr>
          <p:cNvPr id="343" name="Straight Arrow Connector 3">
            <a:extLst>
              <a:ext uri="{FF2B5EF4-FFF2-40B4-BE49-F238E27FC236}">
                <a16:creationId xmlns:a16="http://schemas.microsoft.com/office/drawing/2014/main" id="{7F20084D-C063-E55F-0D6B-F5C4FD601432}"/>
              </a:ext>
            </a:extLst>
          </p:cNvPr>
          <p:cNvCxnSpPr>
            <a:cxnSpLocks/>
            <a:stCxn id="242" idx="2"/>
            <a:endCxn id="287" idx="0"/>
          </p:cNvCxnSpPr>
          <p:nvPr/>
        </p:nvCxnSpPr>
        <p:spPr>
          <a:xfrm rot="5400000">
            <a:off x="4038504" y="3745740"/>
            <a:ext cx="736681" cy="566823"/>
          </a:xfrm>
          <a:prstGeom prst="bentConnector3">
            <a:avLst>
              <a:gd name="adj1" fmla="val 50000"/>
            </a:avLst>
          </a:prstGeom>
          <a:ln>
            <a:solidFill>
              <a:srgbClr val="00338D"/>
            </a:solidFill>
            <a:tailEnd type="triangle"/>
          </a:ln>
        </p:spPr>
        <p:style>
          <a:lnRef idx="1">
            <a:schemeClr val="accent1"/>
          </a:lnRef>
          <a:fillRef idx="0">
            <a:schemeClr val="accent1"/>
          </a:fillRef>
          <a:effectRef idx="0">
            <a:schemeClr val="accent1"/>
          </a:effectRef>
          <a:fontRef idx="minor">
            <a:schemeClr val="tx1"/>
          </a:fontRef>
        </p:style>
      </p:cxnSp>
      <p:cxnSp>
        <p:nvCxnSpPr>
          <p:cNvPr id="346" name="Straight Arrow Connector 3">
            <a:extLst>
              <a:ext uri="{FF2B5EF4-FFF2-40B4-BE49-F238E27FC236}">
                <a16:creationId xmlns:a16="http://schemas.microsoft.com/office/drawing/2014/main" id="{1A92F49A-43BF-A01F-CD9D-585AF0FEB78E}"/>
              </a:ext>
            </a:extLst>
          </p:cNvPr>
          <p:cNvCxnSpPr>
            <a:cxnSpLocks/>
            <a:stCxn id="23" idx="2"/>
            <a:endCxn id="286" idx="0"/>
          </p:cNvCxnSpPr>
          <p:nvPr/>
        </p:nvCxnSpPr>
        <p:spPr>
          <a:xfrm rot="5400000">
            <a:off x="4915554" y="584261"/>
            <a:ext cx="1865614" cy="5734904"/>
          </a:xfrm>
          <a:prstGeom prst="bentConnector3">
            <a:avLst>
              <a:gd name="adj1" fmla="val 18035"/>
            </a:avLst>
          </a:prstGeom>
          <a:ln>
            <a:solidFill>
              <a:srgbClr val="00338D"/>
            </a:solidFill>
            <a:tailEnd type="triangle"/>
          </a:ln>
        </p:spPr>
        <p:style>
          <a:lnRef idx="1">
            <a:schemeClr val="accent1"/>
          </a:lnRef>
          <a:fillRef idx="0">
            <a:schemeClr val="accent1"/>
          </a:fillRef>
          <a:effectRef idx="0">
            <a:schemeClr val="accent1"/>
          </a:effectRef>
          <a:fontRef idx="minor">
            <a:schemeClr val="tx1"/>
          </a:fontRef>
        </p:style>
      </p:cxnSp>
      <p:cxnSp>
        <p:nvCxnSpPr>
          <p:cNvPr id="350" name="Straight Arrow Connector 3">
            <a:extLst>
              <a:ext uri="{FF2B5EF4-FFF2-40B4-BE49-F238E27FC236}">
                <a16:creationId xmlns:a16="http://schemas.microsoft.com/office/drawing/2014/main" id="{A70854EF-C387-D4DA-609D-957166514ED0}"/>
              </a:ext>
            </a:extLst>
          </p:cNvPr>
          <p:cNvCxnSpPr>
            <a:cxnSpLocks/>
            <a:stCxn id="241" idx="2"/>
            <a:endCxn id="286" idx="0"/>
          </p:cNvCxnSpPr>
          <p:nvPr/>
        </p:nvCxnSpPr>
        <p:spPr>
          <a:xfrm rot="5400000">
            <a:off x="2895981" y="3732768"/>
            <a:ext cx="736681" cy="566823"/>
          </a:xfrm>
          <a:prstGeom prst="bentConnector3">
            <a:avLst>
              <a:gd name="adj1" fmla="val 50000"/>
            </a:avLst>
          </a:prstGeom>
          <a:ln>
            <a:solidFill>
              <a:srgbClr val="00338D"/>
            </a:solidFill>
            <a:tailEnd type="triangle"/>
          </a:ln>
        </p:spPr>
        <p:style>
          <a:lnRef idx="1">
            <a:schemeClr val="accent1"/>
          </a:lnRef>
          <a:fillRef idx="0">
            <a:schemeClr val="accent1"/>
          </a:fillRef>
          <a:effectRef idx="0">
            <a:schemeClr val="accent1"/>
          </a:effectRef>
          <a:fontRef idx="minor">
            <a:schemeClr val="tx1"/>
          </a:fontRef>
        </p:style>
      </p:cxnSp>
      <p:sp>
        <p:nvSpPr>
          <p:cNvPr id="353" name="TextBox 352">
            <a:extLst>
              <a:ext uri="{FF2B5EF4-FFF2-40B4-BE49-F238E27FC236}">
                <a16:creationId xmlns:a16="http://schemas.microsoft.com/office/drawing/2014/main" id="{574DD07A-FDB7-1152-5661-2DD7BC9D3C3F}"/>
              </a:ext>
            </a:extLst>
          </p:cNvPr>
          <p:cNvSpPr txBox="1"/>
          <p:nvPr/>
        </p:nvSpPr>
        <p:spPr>
          <a:xfrm>
            <a:off x="2652908" y="3998765"/>
            <a:ext cx="444014" cy="134993"/>
          </a:xfrm>
          <a:prstGeom prst="rect">
            <a:avLst/>
          </a:prstGeom>
          <a:noFill/>
        </p:spPr>
        <p:txBody>
          <a:bodyPr wrap="square" lIns="54610" tIns="54610" rIns="54610" bIns="54610" rtlCol="0">
            <a:noAutofit/>
          </a:bodyPr>
          <a:lstStyle/>
          <a:p>
            <a:pPr>
              <a:spcAft>
                <a:spcPts val="600"/>
              </a:spcAft>
            </a:pPr>
            <a:r>
              <a:rPr lang="en-US" sz="700">
                <a:solidFill>
                  <a:srgbClr val="00338D"/>
                </a:solidFill>
              </a:rPr>
              <a:t>97%</a:t>
            </a:r>
          </a:p>
        </p:txBody>
      </p:sp>
      <p:grpSp>
        <p:nvGrpSpPr>
          <p:cNvPr id="218" name="Group 217">
            <a:extLst>
              <a:ext uri="{FF2B5EF4-FFF2-40B4-BE49-F238E27FC236}">
                <a16:creationId xmlns:a16="http://schemas.microsoft.com/office/drawing/2014/main" id="{52C6ADF6-914C-A41D-8B0D-F6F62030A9A7}"/>
              </a:ext>
            </a:extLst>
          </p:cNvPr>
          <p:cNvGrpSpPr/>
          <p:nvPr>
            <p:custDataLst>
              <p:tags r:id="rId4"/>
            </p:custDataLst>
          </p:nvPr>
        </p:nvGrpSpPr>
        <p:grpSpPr>
          <a:xfrm>
            <a:off x="995364" y="153170"/>
            <a:ext cx="7409484" cy="195814"/>
            <a:chOff x="995364" y="153170"/>
            <a:chExt cx="7409484" cy="195814"/>
          </a:xfrm>
        </p:grpSpPr>
        <p:sp>
          <p:nvSpPr>
            <p:cNvPr id="219" name="Other Sections1">
              <a:hlinkClick r:id="rId1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20" name="Other Sections2">
              <a:hlinkClick r:id="rId1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221" name="Other Sections3">
              <a:hlinkClick r:id="rId19" action="ppaction://hlinksldjump"/>
              <a:extLst>
                <a:ext uri="{FF2B5EF4-FFF2-40B4-BE49-F238E27FC236}">
                  <a16:creationId xmlns:a16="http://schemas.microsoft.com/office/drawing/2014/main" id="{8A19844E-D291-CA81-3B22-2B52F21919DA}"/>
                </a:ext>
              </a:extLst>
            </p:cNvPr>
            <p:cNvSpPr>
              <a:spLocks/>
            </p:cNvSpPr>
            <p:nvPr/>
          </p:nvSpPr>
          <p:spPr>
            <a:xfrm>
              <a:off x="3325196"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222" name="Other Sections4">
              <a:hlinkClick r:id="rId20" action="ppaction://hlinksldjump"/>
              <a:extLst>
                <a:ext uri="{FF2B5EF4-FFF2-40B4-BE49-F238E27FC236}">
                  <a16:creationId xmlns:a16="http://schemas.microsoft.com/office/drawing/2014/main" id="{8A19844E-D291-CA81-3B22-2B52F21919DA}"/>
                </a:ext>
              </a:extLst>
            </p:cNvPr>
            <p:cNvSpPr>
              <a:spLocks/>
            </p:cNvSpPr>
            <p:nvPr/>
          </p:nvSpPr>
          <p:spPr>
            <a:xfrm>
              <a:off x="47738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23" name="Other Sections5">
              <a:hlinkClick r:id="rId21" action="ppaction://hlinksldjump"/>
              <a:extLst>
                <a:ext uri="{FF2B5EF4-FFF2-40B4-BE49-F238E27FC236}">
                  <a16:creationId xmlns:a16="http://schemas.microsoft.com/office/drawing/2014/main" id="{8A19844E-D291-CA81-3B22-2B52F21919DA}"/>
                </a:ext>
              </a:extLst>
            </p:cNvPr>
            <p:cNvSpPr>
              <a:spLocks/>
            </p:cNvSpPr>
            <p:nvPr/>
          </p:nvSpPr>
          <p:spPr>
            <a:xfrm>
              <a:off x="5574879"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224" name="Current Section6">
              <a:hlinkClick r:id="rId22" action="ppaction://hlinksldjump"/>
              <a:extLst>
                <a:ext uri="{FF2B5EF4-FFF2-40B4-BE49-F238E27FC236}">
                  <a16:creationId xmlns:a16="http://schemas.microsoft.com/office/drawing/2014/main" id="{89A61135-1F00-E77F-7C78-5FBA241A5742}"/>
                </a:ext>
              </a:extLst>
            </p:cNvPr>
            <p:cNvSpPr>
              <a:spLocks/>
            </p:cNvSpPr>
            <p:nvPr/>
          </p:nvSpPr>
          <p:spPr>
            <a:xfrm>
              <a:off x="7675949"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7903969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20F78EF8-D89E-48B8-AF71-972207512D4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12" name="Object 11" hidden="1">
                        <a:extLst>
                          <a:ext uri="{FF2B5EF4-FFF2-40B4-BE49-F238E27FC236}">
                            <a16:creationId xmlns:a16="http://schemas.microsoft.com/office/drawing/2014/main" id="{20F78EF8-D89E-48B8-AF71-972207512D4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67CDDA0-48F4-4ED8-B64D-52043303CE32}"/>
              </a:ext>
            </a:extLst>
          </p:cNvPr>
          <p:cNvSpPr>
            <a:spLocks noGrp="1"/>
          </p:cNvSpPr>
          <p:nvPr>
            <p:ph type="title"/>
          </p:nvPr>
        </p:nvSpPr>
        <p:spPr>
          <a:xfrm>
            <a:off x="995362" y="431800"/>
            <a:ext cx="10204452" cy="539750"/>
          </a:xfrm>
        </p:spPr>
        <p:txBody>
          <a:bodyPr vert="horz"/>
          <a:lstStyle/>
          <a:p>
            <a:r>
              <a:rPr lang="en-US"/>
              <a:t>5. Important notice</a:t>
            </a:r>
          </a:p>
        </p:txBody>
      </p:sp>
      <p:sp>
        <p:nvSpPr>
          <p:cNvPr id="9" name="Text Placeholder 8">
            <a:extLst>
              <a:ext uri="{FF2B5EF4-FFF2-40B4-BE49-F238E27FC236}">
                <a16:creationId xmlns:a16="http://schemas.microsoft.com/office/drawing/2014/main" id="{A6C464EB-F12A-400F-9ACA-6DD61F5011F8}"/>
              </a:ext>
            </a:extLst>
          </p:cNvPr>
          <p:cNvSpPr>
            <a:spLocks noGrp="1"/>
          </p:cNvSpPr>
          <p:nvPr>
            <p:ph type="body" sz="quarter" idx="10"/>
          </p:nvPr>
        </p:nvSpPr>
        <p:spPr>
          <a:xfrm>
            <a:off x="1003201" y="1000472"/>
            <a:ext cx="4968000" cy="4896503"/>
          </a:xfrm>
          <a:ln>
            <a:noFill/>
          </a:ln>
        </p:spPr>
        <p:txBody>
          <a:bodyPr lIns="91440" tIns="45720" rIns="91440" bIns="45720"/>
          <a:lstStyle/>
          <a:p>
            <a:pPr algn="just">
              <a:lnSpc>
                <a:spcPts val="900"/>
              </a:lnSpc>
              <a:spcAft>
                <a:spcPts val="300"/>
              </a:spcAft>
              <a:defRPr/>
            </a:pPr>
            <a:r>
              <a:rPr lang="en-US" sz="800" spc="-20" dirty="0">
                <a:solidFill>
                  <a:srgbClr val="1E49E2"/>
                </a:solidFill>
                <a:latin typeface="Arial"/>
              </a:rPr>
              <a:t>General</a:t>
            </a:r>
          </a:p>
          <a:p>
            <a:pPr algn="just">
              <a:lnSpc>
                <a:spcPts val="900"/>
              </a:lnSpc>
              <a:spcAft>
                <a:spcPts val="300"/>
              </a:spcAft>
              <a:defRPr/>
            </a:pPr>
            <a:r>
              <a:rPr lang="en-US" sz="800" b="0" spc="-20" dirty="0">
                <a:solidFill>
                  <a:srgbClr val="00338D"/>
                </a:solidFill>
                <a:latin typeface="Arial"/>
              </a:rPr>
              <a:t>Our report is for the benefit and information only of those parties who have accepted the terms and conditions of our Engagement Letter and should not be copied, referred to or disclosed, in whole or in part, without our prior written consent, except as specifically permitted in our Engagement Letter. To the fullest extent permitted by law, we will not accept responsibility or liability to any other party (including those parties’ legal and other professional advisers) in respect of our work or the report.</a:t>
            </a:r>
          </a:p>
          <a:p>
            <a:pPr algn="just">
              <a:lnSpc>
                <a:spcPts val="900"/>
              </a:lnSpc>
              <a:spcAft>
                <a:spcPts val="300"/>
              </a:spcAft>
              <a:defRPr/>
            </a:pPr>
            <a:r>
              <a:rPr lang="en-US" sz="800" b="0" spc="-20" dirty="0">
                <a:solidFill>
                  <a:srgbClr val="00338D"/>
                </a:solidFill>
                <a:latin typeface="Arial"/>
              </a:rPr>
              <a:t>Our work commenced on May 7, 2025 and our fieldwork for this report was completed on June 24, 2025. We have not undertaken to update our report for events or circumstances arising after that date.</a:t>
            </a:r>
          </a:p>
          <a:p>
            <a:pPr algn="just">
              <a:lnSpc>
                <a:spcPts val="900"/>
              </a:lnSpc>
              <a:spcAft>
                <a:spcPts val="300"/>
              </a:spcAft>
              <a:defRPr/>
            </a:pPr>
            <a:r>
              <a:rPr lang="en-US" sz="800" b="0" spc="-20" dirty="0">
                <a:solidFill>
                  <a:srgbClr val="00338D"/>
                </a:solidFill>
                <a:latin typeface="Arial"/>
              </a:rPr>
              <a:t>In preparing our report, our primary source has been Target’s internal management information and representations made to us by Management of Target. We do not accept responsibility for such information which remains the responsibility of Management. Details of our principal information sources are set out in the basis of preparation and we have satisfied ourselves, so far as possible, that the information presented in our report is consistent with other information that was made available to us in the course of our work in accordance with the terms of our Engagement Letter. We have not, however, sought to establish the reliability of the sources by reference to other evidence.</a:t>
            </a:r>
          </a:p>
          <a:p>
            <a:pPr algn="just">
              <a:lnSpc>
                <a:spcPts val="900"/>
              </a:lnSpc>
              <a:spcAft>
                <a:spcPts val="300"/>
              </a:spcAft>
              <a:defRPr/>
            </a:pPr>
            <a:r>
              <a:rPr lang="en-US" sz="800" b="0" spc="-20" dirty="0">
                <a:solidFill>
                  <a:srgbClr val="00338D"/>
                </a:solidFill>
                <a:latin typeface="Arial"/>
              </a:rPr>
              <a:t>This engagement is not an assurance engagement conducted in accordance with any generally accepted assurance standards and consequently no assurance opinion is expressed.</a:t>
            </a:r>
          </a:p>
          <a:p>
            <a:pPr algn="just">
              <a:lnSpc>
                <a:spcPts val="900"/>
              </a:lnSpc>
              <a:spcAft>
                <a:spcPts val="300"/>
              </a:spcAft>
              <a:defRPr/>
            </a:pPr>
            <a:r>
              <a:rPr lang="en-US" sz="800" b="0" spc="-20" dirty="0">
                <a:solidFill>
                  <a:srgbClr val="00338D"/>
                </a:solidFill>
                <a:latin typeface="Arial"/>
              </a:rPr>
              <a:t>The procedures we performed do not constitute an audit, examination or review in accordance with standards established by the Auditing and Assurance Standards Board (“AASB”) in Canada, and we have not otherwise verified the information we obtained or presented in this report. We express no opinion or any other form of assurance on Target’s internal control over financial reporting or on the information presented in our report, and make no representations concerning its accuracy or completeness.</a:t>
            </a:r>
          </a:p>
          <a:p>
            <a:pPr algn="just">
              <a:lnSpc>
                <a:spcPts val="900"/>
              </a:lnSpc>
              <a:spcAft>
                <a:spcPts val="300"/>
              </a:spcAft>
              <a:defRPr/>
            </a:pPr>
            <a:r>
              <a:rPr lang="en-US" sz="800" b="0" spc="-20" dirty="0">
                <a:solidFill>
                  <a:srgbClr val="00338D"/>
                </a:solidFill>
                <a:latin typeface="Arial"/>
              </a:rPr>
              <a:t>We have not compiled, examined, or applied other procedures in accordance with the Assurance and Related Services Guidelines issued by the AASB to prospective information contained in this document and, accordingly, express no opinion or any other form of assurance or representations concerning the accuracy, completeness or presentation format of such prospective information. There will usually be differences between projected and actual results, because events and circumstances frequently do not occur as expected, and those differences may be material.</a:t>
            </a:r>
          </a:p>
          <a:p>
            <a:pPr algn="just">
              <a:lnSpc>
                <a:spcPts val="900"/>
              </a:lnSpc>
              <a:spcAft>
                <a:spcPts val="300"/>
              </a:spcAft>
              <a:defRPr/>
            </a:pPr>
            <a:r>
              <a:rPr lang="en-US" sz="800" b="0" spc="-20" dirty="0">
                <a:solidFill>
                  <a:srgbClr val="00338D"/>
                </a:solidFill>
                <a:latin typeface="Arial"/>
              </a:rPr>
              <a:t>The contents of this report have not been reviewed by the Management of Target and the factual accuracy of this report has not been confirmed by the Management</a:t>
            </a:r>
            <a:r>
              <a:rPr lang="en-US" sz="800" b="0" spc="-20" dirty="0">
                <a:solidFill>
                  <a:schemeClr val="accent6">
                    <a:lumMod val="100000"/>
                  </a:schemeClr>
                </a:solidFill>
                <a:latin typeface="Arial"/>
              </a:rPr>
              <a:t>.</a:t>
            </a:r>
          </a:p>
          <a:p>
            <a:pPr algn="just">
              <a:lnSpc>
                <a:spcPts val="900"/>
              </a:lnSpc>
              <a:spcAft>
                <a:spcPts val="300"/>
              </a:spcAft>
              <a:defRPr/>
            </a:pPr>
            <a:r>
              <a:rPr lang="en-US" sz="800" b="0" spc="-20" dirty="0">
                <a:solidFill>
                  <a:srgbClr val="00338D"/>
                </a:solidFill>
                <a:latin typeface="Arial"/>
              </a:rPr>
              <a:t>We accept no responsibility or liability for the findings or reports of legal and other professional advisers, even though we have referred to their findings and/or reports in our report.</a:t>
            </a:r>
          </a:p>
        </p:txBody>
      </p:sp>
      <p:sp>
        <p:nvSpPr>
          <p:cNvPr id="10" name="Text Placeholder 9">
            <a:extLst>
              <a:ext uri="{FF2B5EF4-FFF2-40B4-BE49-F238E27FC236}">
                <a16:creationId xmlns:a16="http://schemas.microsoft.com/office/drawing/2014/main" id="{8E541D50-C3B5-4BD2-98CB-B9973A410CDF}"/>
              </a:ext>
            </a:extLst>
          </p:cNvPr>
          <p:cNvSpPr>
            <a:spLocks noGrp="1"/>
          </p:cNvSpPr>
          <p:nvPr>
            <p:ph type="body" sz="quarter" idx="11"/>
          </p:nvPr>
        </p:nvSpPr>
        <p:spPr>
          <a:xfrm>
            <a:off x="6220799" y="971550"/>
            <a:ext cx="4968000" cy="4896502"/>
          </a:xfrm>
        </p:spPr>
        <p:txBody>
          <a:bodyPr lIns="91440" tIns="45720" rIns="91440" bIns="45720"/>
          <a:lstStyle/>
          <a:p>
            <a:pPr algn="just">
              <a:lnSpc>
                <a:spcPts val="900"/>
              </a:lnSpc>
              <a:spcAft>
                <a:spcPts val="300"/>
              </a:spcAft>
              <a:defRPr/>
            </a:pPr>
            <a:r>
              <a:rPr lang="en-US" sz="800" spc="-20">
                <a:solidFill>
                  <a:srgbClr val="1E49E2"/>
                </a:solidFill>
                <a:latin typeface="Arial"/>
              </a:rPr>
              <a:t>KPMG approach</a:t>
            </a:r>
          </a:p>
          <a:p>
            <a:pPr algn="just">
              <a:lnSpc>
                <a:spcPts val="900"/>
              </a:lnSpc>
              <a:spcAft>
                <a:spcPts val="300"/>
              </a:spcAft>
              <a:defRPr/>
            </a:pPr>
            <a:r>
              <a:rPr lang="en-US" sz="800" b="0" spc="-20">
                <a:solidFill>
                  <a:srgbClr val="00338D"/>
                </a:solidFill>
                <a:latin typeface="Arial"/>
              </a:rPr>
              <a:t>Our report makes reference to ‘KPMG Analysis’; this indicates only that we have (where specified) undertaken certain analytical activities on the underlying data to arrive at the information presented; we do not accept responsibility for the underlying data.</a:t>
            </a:r>
          </a:p>
          <a:p>
            <a:pPr algn="just">
              <a:lnSpc>
                <a:spcPts val="900"/>
              </a:lnSpc>
              <a:spcAft>
                <a:spcPts val="300"/>
              </a:spcAft>
              <a:defRPr/>
            </a:pPr>
            <a:r>
              <a:rPr lang="en-US" sz="800" b="0" spc="-20">
                <a:solidFill>
                  <a:srgbClr val="00338D"/>
                </a:solidFill>
                <a:latin typeface="Arial"/>
              </a:rPr>
              <a:t>The analysis of 'normalised'/'underlying‘ earnings and working capital is for indicative purposes only. We have sought to illustrate the effect on EBITDA/working capital of adjusting for those items identified in the course of our work that may be considered to be 'non-recurring' or 'exceptional' using criteria established by the Company/Vendors/Target. However the selection and quantification of such adjustments are necessarily judgmental. Because there is no authoritative literature or common standard with respect to the calculation of 'normalised'/'underlying' earnings/working capital, there is no basis to state whether all appropriate and comparable adjustments have been made. In addition, while the adjustments may indeed relate to items which are 'non-recurring' or 'exceptional' or otherwise unrepresentative of the trend, it is possible that earnings/working capital for future periods may be affected by such items, which may be different from the historical items.</a:t>
            </a:r>
          </a:p>
          <a:p>
            <a:pPr algn="just">
              <a:lnSpc>
                <a:spcPts val="900"/>
              </a:lnSpc>
              <a:spcAft>
                <a:spcPts val="300"/>
              </a:spcAft>
              <a:defRPr/>
            </a:pPr>
            <a:r>
              <a:rPr lang="en-US" sz="800" b="0" spc="-20">
                <a:solidFill>
                  <a:srgbClr val="00338D"/>
                </a:solidFill>
                <a:latin typeface="Arial"/>
              </a:rPr>
              <a:t>The trailing twelve months / TTM run rate analysis has been prepared for illustrative purposes. There is no authoritative literature or common standard with respect to the calculation of 'run rate' EBITDA, and therefore there is no basis on which to state whether, in the illustrative analysis of 'run rate‘ EBITDA, all appropriate and comparable adjustments have been made. We have set out in our report the basis on which items have been included in or excluded from the run rate calculations for particular years. It is for you to satisfy yourselves as to whether the items included or excluded are appropriate for your purposes. The decision as to what items should be included in or excluded from the calculation of 'run rate' EBITDA is highly judgmental; you may choose to interpret the information presented differently.</a:t>
            </a:r>
          </a:p>
          <a:p>
            <a:pPr algn="just">
              <a:lnSpc>
                <a:spcPts val="900"/>
              </a:lnSpc>
              <a:spcAft>
                <a:spcPts val="300"/>
              </a:spcAft>
              <a:defRPr/>
            </a:pPr>
            <a:r>
              <a:rPr lang="en-US" sz="800" b="0" spc="-20">
                <a:solidFill>
                  <a:srgbClr val="00338D"/>
                </a:solidFill>
                <a:latin typeface="Arial"/>
              </a:rPr>
              <a:t>The net debt analysis has been prepared to assist in considering those items which may be ‘debt like’. There is no authoritative literature or common standard with respect to the identification of items which may form part of ‘debt’ or ‘net debt’, and the decision as to what items should be included or excluded is highly judgmental. Accordingly, there is no basis on which to state whether in the analysis of net debt, all appropriate and comparable items have been included, and that there are no items that might be judged by some to be inappropriate or that all appropriate adjustments have been made. We have set out in our report the basis on which items have been included, excluded, or adjusted in the net debt analysis. You may choose to analyze the information presented differently.</a:t>
            </a:r>
          </a:p>
          <a:p>
            <a:pPr algn="just">
              <a:lnSpc>
                <a:spcPts val="900"/>
              </a:lnSpc>
              <a:spcAft>
                <a:spcPts val="300"/>
              </a:spcAft>
              <a:defRPr/>
            </a:pPr>
            <a:r>
              <a:rPr lang="en-US" sz="800" b="0" spc="-20">
                <a:solidFill>
                  <a:srgbClr val="00338D"/>
                </a:solidFill>
                <a:latin typeface="Arial"/>
              </a:rPr>
              <a:t>The prospective financial information set out within our report has been prepared by Target; we do not accept responsibility for such information. We must emphasize that the realization of the prospective financial information is dependent on the continuing validity of the assumptions on which it is based. The assumptions will need to be reviewed and revised to reflect any such changes in trading patterns, cost structures or the direction of the business as they emerge. We accept no responsibility for the realization of the prospective financial information. Actual results are likely to be different from those shown in the prospective financial information because events and circumstances frequently do not occur as expected, and the differences may be material.</a:t>
            </a:r>
          </a:p>
          <a:p>
            <a:pPr algn="just">
              <a:spcAft>
                <a:spcPts val="200"/>
              </a:spcAft>
            </a:pPr>
            <a:endParaRPr lang="en-US" sz="800" b="0" spc="-20">
              <a:latin typeface="Arial"/>
            </a:endParaRPr>
          </a:p>
        </p:txBody>
      </p:sp>
      <p:sp>
        <p:nvSpPr>
          <p:cNvPr id="76" name="UpSlide SubSection Marker" hidden="1">
            <a:extLst>
              <a:ext uri="{FF2B5EF4-FFF2-40B4-BE49-F238E27FC236}">
                <a16:creationId xmlns:a16="http://schemas.microsoft.com/office/drawing/2014/main" id="{8790AC6F-5EEB-0E96-BC28-41473ED8738B}"/>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Important notice</a:t>
            </a:r>
          </a:p>
        </p:txBody>
      </p:sp>
      <p:grpSp>
        <p:nvGrpSpPr>
          <p:cNvPr id="60" name="Group 59">
            <a:extLst>
              <a:ext uri="{FF2B5EF4-FFF2-40B4-BE49-F238E27FC236}">
                <a16:creationId xmlns:a16="http://schemas.microsoft.com/office/drawing/2014/main" id="{52C6ADF6-914C-A41D-8B0D-F6F62030A9A7}"/>
              </a:ext>
            </a:extLst>
          </p:cNvPr>
          <p:cNvGrpSpPr/>
          <p:nvPr>
            <p:custDataLst>
              <p:tags r:id="rId3"/>
            </p:custDataLst>
          </p:nvPr>
        </p:nvGrpSpPr>
        <p:grpSpPr>
          <a:xfrm>
            <a:off x="995364" y="153170"/>
            <a:ext cx="7409484" cy="195814"/>
            <a:chOff x="995364" y="153170"/>
            <a:chExt cx="7409484" cy="195814"/>
          </a:xfrm>
        </p:grpSpPr>
        <p:sp>
          <p:nvSpPr>
            <p:cNvPr id="61"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62"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63"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325196"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64"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7738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65"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574879"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66" name="Current Section6">
              <a:hlinkClick r:id="rId13" action="ppaction://hlinksldjump"/>
              <a:extLst>
                <a:ext uri="{FF2B5EF4-FFF2-40B4-BE49-F238E27FC236}">
                  <a16:creationId xmlns:a16="http://schemas.microsoft.com/office/drawing/2014/main" id="{89A61135-1F00-E77F-7C78-5FBA241A5742}"/>
                </a:ext>
              </a:extLst>
            </p:cNvPr>
            <p:cNvSpPr>
              <a:spLocks/>
            </p:cNvSpPr>
            <p:nvPr/>
          </p:nvSpPr>
          <p:spPr>
            <a:xfrm>
              <a:off x="7675949"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704508770"/>
      </p:ext>
    </p:extLst>
  </p:cSld>
  <p:clrMapOvr>
    <a:masterClrMapping/>
  </p:clrMapOvr>
  <p:extLst>
    <p:ext uri="{6950BFC3-D8DA-4A85-94F7-54DA5524770B}">
      <p188:commentRel xmlns:p188="http://schemas.microsoft.com/office/powerpoint/2018/8/main" r:id="rId5"/>
    </p:ext>
  </p:extLs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CDDA0-48F4-4ED8-B64D-52043303CE32}"/>
              </a:ext>
            </a:extLst>
          </p:cNvPr>
          <p:cNvSpPr>
            <a:spLocks noGrp="1"/>
          </p:cNvSpPr>
          <p:nvPr>
            <p:ph type="title"/>
          </p:nvPr>
        </p:nvSpPr>
        <p:spPr>
          <a:xfrm>
            <a:off x="998400" y="431800"/>
            <a:ext cx="10195200" cy="533400"/>
          </a:xfrm>
        </p:spPr>
        <p:txBody>
          <a:bodyPr/>
          <a:lstStyle/>
          <a:p>
            <a:r>
              <a:rPr lang="en-US"/>
              <a:t>6. Basis of preparation</a:t>
            </a:r>
          </a:p>
        </p:txBody>
      </p:sp>
      <p:sp>
        <p:nvSpPr>
          <p:cNvPr id="96" name="UpSlide SubSection Marker" hidden="1">
            <a:extLst>
              <a:ext uri="{FF2B5EF4-FFF2-40B4-BE49-F238E27FC236}">
                <a16:creationId xmlns:a16="http://schemas.microsoft.com/office/drawing/2014/main" id="{DCD4B608-2B7A-E89E-AC22-AFC9E18579F6}"/>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Basis of preparation</a:t>
            </a:r>
          </a:p>
        </p:txBody>
      </p:sp>
      <p:grpSp>
        <p:nvGrpSpPr>
          <p:cNvPr id="72" name="Group 71">
            <a:extLst>
              <a:ext uri="{FF2B5EF4-FFF2-40B4-BE49-F238E27FC236}">
                <a16:creationId xmlns:a16="http://schemas.microsoft.com/office/drawing/2014/main" id="{29B621E3-61D1-201E-CD9E-6C34ABEA0956}"/>
              </a:ext>
            </a:extLst>
          </p:cNvPr>
          <p:cNvGrpSpPr/>
          <p:nvPr/>
        </p:nvGrpSpPr>
        <p:grpSpPr>
          <a:xfrm>
            <a:off x="1000409" y="1562615"/>
            <a:ext cx="2340001" cy="521191"/>
            <a:chOff x="2098102" y="1892689"/>
            <a:chExt cx="2340001" cy="521191"/>
          </a:xfrm>
        </p:grpSpPr>
        <p:sp>
          <p:nvSpPr>
            <p:cNvPr id="73" name="Rectangle: Rounded Corners 72">
              <a:extLst>
                <a:ext uri="{FF2B5EF4-FFF2-40B4-BE49-F238E27FC236}">
                  <a16:creationId xmlns:a16="http://schemas.microsoft.com/office/drawing/2014/main" id="{6E723B00-C023-C3DB-EBCA-50EA442140B5}"/>
                </a:ext>
              </a:extLst>
            </p:cNvPr>
            <p:cNvSpPr/>
            <p:nvPr/>
          </p:nvSpPr>
          <p:spPr>
            <a:xfrm>
              <a:off x="2098103" y="1965217"/>
              <a:ext cx="2340000" cy="159705"/>
            </a:xfrm>
            <a:prstGeom prst="roundRect">
              <a:avLst>
                <a:gd name="adj" fmla="val 50000"/>
              </a:avLst>
            </a:prstGeom>
            <a:solidFill>
              <a:srgbClr val="FFFFFF"/>
            </a:solidFill>
            <a:ln w="12700" cap="flat" cmpd="sng" algn="ctr">
              <a:solidFill>
                <a:srgbClr val="00338D"/>
              </a:solid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b-NO" sz="900" b="0" i="0" u="none" strike="noStrike" kern="0" cap="none" spc="0" normalizeH="0" baseline="0" noProof="0" err="1">
                <a:ln>
                  <a:noFill/>
                </a:ln>
                <a:solidFill>
                  <a:srgbClr val="FFFFFF"/>
                </a:solidFill>
                <a:effectLst/>
                <a:uLnTx/>
                <a:uFillTx/>
                <a:latin typeface="Arial"/>
                <a:ea typeface="+mn-ea"/>
                <a:cs typeface="+mn-cs"/>
              </a:endParaRPr>
            </a:p>
          </p:txBody>
        </p:sp>
        <p:sp>
          <p:nvSpPr>
            <p:cNvPr id="74" name="Text Placeholder 6">
              <a:extLst>
                <a:ext uri="{FF2B5EF4-FFF2-40B4-BE49-F238E27FC236}">
                  <a16:creationId xmlns:a16="http://schemas.microsoft.com/office/drawing/2014/main" id="{F2D60E36-550D-9CFC-38DE-623F283B9855}"/>
                </a:ext>
              </a:extLst>
            </p:cNvPr>
            <p:cNvSpPr txBox="1">
              <a:spLocks/>
            </p:cNvSpPr>
            <p:nvPr/>
          </p:nvSpPr>
          <p:spPr>
            <a:xfrm>
              <a:off x="2098102" y="2259992"/>
              <a:ext cx="447238"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strike="noStrike" kern="1200" cap="none" spc="0" normalizeH="0" baseline="0" noProof="0">
                  <a:ln>
                    <a:noFill/>
                  </a:ln>
                  <a:solidFill>
                    <a:srgbClr val="00338D"/>
                  </a:solidFill>
                  <a:effectLst/>
                  <a:uLnTx/>
                  <a:uFillTx/>
                  <a:latin typeface="Arial"/>
                  <a:ea typeface="+mn-ea"/>
                  <a:cs typeface="+mn-cs"/>
                </a:rPr>
                <a:t>Limited </a:t>
              </a:r>
            </a:p>
          </p:txBody>
        </p:sp>
        <p:sp>
          <p:nvSpPr>
            <p:cNvPr id="75" name="Text Placeholder 6">
              <a:extLst>
                <a:ext uri="{FF2B5EF4-FFF2-40B4-BE49-F238E27FC236}">
                  <a16:creationId xmlns:a16="http://schemas.microsoft.com/office/drawing/2014/main" id="{C7E67A91-0757-59D6-0698-54119D3EAA8C}"/>
                </a:ext>
              </a:extLst>
            </p:cNvPr>
            <p:cNvSpPr txBox="1">
              <a:spLocks/>
            </p:cNvSpPr>
            <p:nvPr/>
          </p:nvSpPr>
          <p:spPr>
            <a:xfrm>
              <a:off x="3867410" y="2259992"/>
              <a:ext cx="553036"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strike="noStrike" kern="1200" cap="none" spc="0" normalizeH="0" baseline="0" noProof="0">
                  <a:ln>
                    <a:noFill/>
                  </a:ln>
                  <a:solidFill>
                    <a:srgbClr val="00338D"/>
                  </a:solidFill>
                  <a:effectLst/>
                  <a:uLnTx/>
                  <a:uFillTx/>
                  <a:latin typeface="Arial"/>
                  <a:ea typeface="+mn-ea"/>
                  <a:cs typeface="+mn-cs"/>
                </a:rPr>
                <a:t>Extensive</a:t>
              </a:r>
            </a:p>
          </p:txBody>
        </p:sp>
        <p:sp>
          <p:nvSpPr>
            <p:cNvPr id="76" name="Oval 75">
              <a:extLst>
                <a:ext uri="{FF2B5EF4-FFF2-40B4-BE49-F238E27FC236}">
                  <a16:creationId xmlns:a16="http://schemas.microsoft.com/office/drawing/2014/main" id="{44835C28-5CE6-6CE9-FBC4-60EC20EB331B}"/>
                </a:ext>
              </a:extLst>
            </p:cNvPr>
            <p:cNvSpPr/>
            <p:nvPr/>
          </p:nvSpPr>
          <p:spPr>
            <a:xfrm>
              <a:off x="3170239" y="1892689"/>
              <a:ext cx="288000" cy="288000"/>
            </a:xfrm>
            <a:prstGeom prst="ellipse">
              <a:avLst/>
            </a:prstGeom>
            <a:solidFill>
              <a:srgbClr val="00338D"/>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b-NO" sz="900" b="0" i="0" u="none" strike="noStrike" kern="0" cap="none" spc="0" normalizeH="0" baseline="0" noProof="0" err="1">
                <a:ln>
                  <a:noFill/>
                </a:ln>
                <a:solidFill>
                  <a:srgbClr val="FFFFFF"/>
                </a:solidFill>
                <a:effectLst/>
                <a:uLnTx/>
                <a:uFillTx/>
                <a:latin typeface="Arial"/>
                <a:ea typeface="+mn-ea"/>
                <a:cs typeface="+mn-cs"/>
              </a:endParaRPr>
            </a:p>
          </p:txBody>
        </p:sp>
      </p:grpSp>
      <p:sp>
        <p:nvSpPr>
          <p:cNvPr id="77" name="Rectangle: Rounded Corners 33">
            <a:extLst>
              <a:ext uri="{FF2B5EF4-FFF2-40B4-BE49-F238E27FC236}">
                <a16:creationId xmlns:a16="http://schemas.microsoft.com/office/drawing/2014/main" id="{C7CF5B90-E6E1-106F-4E81-C13DF57916F6}"/>
              </a:ext>
            </a:extLst>
          </p:cNvPr>
          <p:cNvSpPr/>
          <p:nvPr/>
        </p:nvSpPr>
        <p:spPr>
          <a:xfrm>
            <a:off x="1000411" y="1634804"/>
            <a:ext cx="1297946" cy="144301"/>
          </a:xfrm>
          <a:prstGeom prst="roundRect">
            <a:avLst>
              <a:gd name="adj" fmla="val 50000"/>
            </a:avLst>
          </a:prstGeom>
          <a:solidFill>
            <a:srgbClr val="00338D"/>
          </a:solidFill>
          <a:ln w="12700" cap="flat" cmpd="sng" algn="ctr">
            <a:solidFill>
              <a:srgbClr val="00338D"/>
            </a:solid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b-NO" sz="900" b="0" i="0" u="none" strike="noStrike" kern="0" cap="none" spc="0" normalizeH="0" baseline="0" noProof="0" err="1">
              <a:ln>
                <a:noFill/>
              </a:ln>
              <a:solidFill>
                <a:srgbClr val="FFFFFF"/>
              </a:solidFill>
              <a:effectLst/>
              <a:uLnTx/>
              <a:uFillTx/>
              <a:latin typeface="Arial"/>
              <a:ea typeface="+mn-ea"/>
              <a:cs typeface="+mn-cs"/>
            </a:endParaRPr>
          </a:p>
        </p:txBody>
      </p:sp>
      <p:sp>
        <p:nvSpPr>
          <p:cNvPr id="78" name="Text Placeholder 5">
            <a:extLst>
              <a:ext uri="{FF2B5EF4-FFF2-40B4-BE49-F238E27FC236}">
                <a16:creationId xmlns:a16="http://schemas.microsoft.com/office/drawing/2014/main" id="{92F9C0EB-31B7-3146-99B5-4B19DF8904E9}"/>
              </a:ext>
            </a:extLst>
          </p:cNvPr>
          <p:cNvSpPr txBox="1">
            <a:spLocks/>
          </p:cNvSpPr>
          <p:nvPr/>
        </p:nvSpPr>
        <p:spPr>
          <a:xfrm>
            <a:off x="3683979" y="1158876"/>
            <a:ext cx="7509485" cy="1514475"/>
          </a:xfrm>
          <a:prstGeom prst="rect">
            <a:avLst/>
          </a:prstGeom>
        </p:spPr>
        <p:txBody>
          <a:bodyPr vert="horz" lIns="72000" tIns="0" rIns="72000" bIns="0" rtlCol="0" anchor="t" anchorCtr="0">
            <a:noAutofit/>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latin typeface="Arial"/>
                <a:ea typeface="+mn-ea"/>
                <a:cs typeface="+mn-cs"/>
              </a:rPr>
              <a:t>KPMG LLP (‘KPMG’) has been engaged by Themis Solutions Inc. (‘Client’) prepare a financial due diligence report in connection with the potential acquisition of Felix Spain Bidco, S.L. (‘Target’). The report has been prepared in accordance with our engagement letter dated May 7, 2025. </a:t>
            </a:r>
          </a:p>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latin typeface="Arial"/>
                <a:ea typeface="+mn-ea"/>
                <a:cs typeface="+mn-cs"/>
              </a:rPr>
              <a:t>Our work on historical trading comprises the period </a:t>
            </a:r>
            <a:r>
              <a:rPr lang="en-US">
                <a:solidFill>
                  <a:srgbClr val="000000"/>
                </a:solidFill>
                <a:latin typeface="Arial"/>
              </a:rPr>
              <a:t>January 1, 2023 </a:t>
            </a:r>
            <a:r>
              <a:rPr kumimoji="0" lang="en-US" sz="1000" b="0" i="0" strike="noStrike" kern="1200" cap="none" spc="0" normalizeH="0" baseline="0" noProof="0">
                <a:ln>
                  <a:noFill/>
                </a:ln>
                <a:solidFill>
                  <a:srgbClr val="000000"/>
                </a:solidFill>
                <a:effectLst/>
                <a:uLnTx/>
                <a:uFillTx/>
                <a:latin typeface="Arial"/>
                <a:ea typeface="+mn-ea"/>
                <a:cs typeface="+mn-cs"/>
              </a:rPr>
              <a:t>to March 31, 2025</a:t>
            </a:r>
            <a:r>
              <a:rPr lang="en-US">
                <a:solidFill>
                  <a:srgbClr val="000000"/>
                </a:solidFill>
                <a:latin typeface="Arial"/>
              </a:rPr>
              <a:t>. Our scope of work has been focused on historical quality of earnings,</a:t>
            </a:r>
            <a:r>
              <a:rPr kumimoji="0" lang="en-US" sz="1000" b="0" i="0" strike="noStrike" kern="1200" cap="none" spc="0" normalizeH="0" baseline="0" noProof="0">
                <a:ln>
                  <a:noFill/>
                </a:ln>
                <a:solidFill>
                  <a:srgbClr val="000000"/>
                </a:solidFill>
                <a:effectLst/>
                <a:uLnTx/>
                <a:uFillTx/>
                <a:latin typeface="Arial"/>
                <a:ea typeface="+mn-ea"/>
                <a:cs typeface="+mn-cs"/>
              </a:rPr>
              <a:t> including a run rate analysis with reference to March 31, 2025, as well as consideration of the balance sheet at December 31, 2023 and 2024 and March 31, 2025, and working capital for the period January 31, 2023 to March 31, 2025. Note that our work predominantly focused on considering the nature and reasonableness of the adjustments proposed by the seller and their diligence team at A&amp;M, and identifying additional adjustments or alternative views based on the information made available. We did not perform any analysis of the drivers of underlying profitability, or conduct any other commercial analysis. </a:t>
            </a:r>
          </a:p>
        </p:txBody>
      </p:sp>
      <p:sp>
        <p:nvSpPr>
          <p:cNvPr id="79" name="Text Placeholder 11">
            <a:extLst>
              <a:ext uri="{FF2B5EF4-FFF2-40B4-BE49-F238E27FC236}">
                <a16:creationId xmlns:a16="http://schemas.microsoft.com/office/drawing/2014/main" id="{63D4B6AA-403B-45C1-3F4B-312E981A07E2}"/>
              </a:ext>
            </a:extLst>
          </p:cNvPr>
          <p:cNvSpPr txBox="1">
            <a:spLocks/>
          </p:cNvSpPr>
          <p:nvPr/>
        </p:nvSpPr>
        <p:spPr>
          <a:xfrm>
            <a:off x="3683979" y="2766767"/>
            <a:ext cx="7515836" cy="1514474"/>
          </a:xfrm>
          <a:prstGeom prst="rect">
            <a:avLst/>
          </a:prstGeom>
        </p:spPr>
        <p:txBody>
          <a:bodyPr vert="horz" lIns="72000" tIns="0" rIns="72000" bIns="0" rtlCol="0" anchor="t" anchorCtr="0">
            <a:noAutofit/>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latin typeface="Arial"/>
                <a:ea typeface="+mn-ea"/>
                <a:cs typeface="+mn-cs"/>
              </a:rPr>
              <a:t>During the course of our work our main points of contact have been the Management of Target, represented by Hugo Ruiz Taboada (Global CFO), and Vortex’s financial advisors including J.P. Morgan (‘JPM’) and Alvarez &amp; Marsal (‘A&amp;M’).</a:t>
            </a:r>
          </a:p>
          <a:p>
            <a:pPr>
              <a:defRPr/>
            </a:pPr>
            <a:r>
              <a:rPr kumimoji="0" lang="en-US" sz="1000" b="0" i="0" strike="noStrike" kern="1200" cap="none" spc="0" normalizeH="0" baseline="0" noProof="0">
                <a:ln>
                  <a:noFill/>
                </a:ln>
                <a:effectLst/>
                <a:uLnTx/>
                <a:uFillTx/>
                <a:latin typeface="Arial"/>
                <a:ea typeface="+mn-ea"/>
                <a:cs typeface="+mn-cs"/>
              </a:rPr>
              <a:t>Overall, we have had relatively limited access to Management – however, they have responded to our questions and requests through a virtual </a:t>
            </a:r>
            <a:r>
              <a:rPr kumimoji="0" lang="en-US" sz="1000" b="0" i="0" strike="noStrike" kern="1200" cap="none" spc="0" normalizeH="0" baseline="0" noProof="0" err="1">
                <a:ln>
                  <a:noFill/>
                </a:ln>
                <a:effectLst/>
                <a:uLnTx/>
                <a:uFillTx/>
                <a:latin typeface="Arial"/>
                <a:ea typeface="+mn-ea"/>
                <a:cs typeface="+mn-cs"/>
              </a:rPr>
              <a:t>dataroom</a:t>
            </a:r>
            <a:r>
              <a:rPr kumimoji="0" lang="en-US" sz="1000" b="0" i="0" strike="noStrike" kern="1200" cap="none" spc="0" normalizeH="0" baseline="0" noProof="0">
                <a:ln>
                  <a:noFill/>
                </a:ln>
                <a:effectLst/>
                <a:uLnTx/>
                <a:uFillTx/>
                <a:latin typeface="Arial"/>
                <a:ea typeface="+mn-ea"/>
                <a:cs typeface="+mn-cs"/>
              </a:rPr>
              <a:t> in a timely manner. </a:t>
            </a:r>
            <a:r>
              <a:rPr kumimoji="0" lang="en-US" sz="1000" b="0" i="0" strike="noStrike" kern="1200" cap="none" spc="0" normalizeH="0" baseline="0" noProof="0">
                <a:ln>
                  <a:noFill/>
                </a:ln>
                <a:solidFill>
                  <a:srgbClr val="000000"/>
                </a:solidFill>
                <a:effectLst/>
                <a:uLnTx/>
                <a:uFillTx/>
                <a:latin typeface="Arial"/>
                <a:ea typeface="+mn-ea"/>
                <a:cs typeface="+mn-cs"/>
              </a:rPr>
              <a:t>We attended a meeting with Management on June 10, 2025, and exchanged various communications with Management and their advisors through email throughout the diligence process.</a:t>
            </a:r>
          </a:p>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effectLst/>
                <a:uLnTx/>
                <a:uFillTx/>
                <a:latin typeface="Arial"/>
                <a:ea typeface="+mn-ea"/>
                <a:cs typeface="+mn-cs"/>
              </a:rPr>
              <a:t>The contents of our report have not been reviewed by the Management of Target and the factual accuracy of this report has not been confirmed by the Management.</a:t>
            </a:r>
          </a:p>
        </p:txBody>
      </p:sp>
      <p:sp>
        <p:nvSpPr>
          <p:cNvPr id="80" name="Text Placeholder 12">
            <a:extLst>
              <a:ext uri="{FF2B5EF4-FFF2-40B4-BE49-F238E27FC236}">
                <a16:creationId xmlns:a16="http://schemas.microsoft.com/office/drawing/2014/main" id="{D94C1F1B-1020-A7DD-D421-DAC1E1933B24}"/>
              </a:ext>
            </a:extLst>
          </p:cNvPr>
          <p:cNvSpPr txBox="1">
            <a:spLocks/>
          </p:cNvSpPr>
          <p:nvPr/>
        </p:nvSpPr>
        <p:spPr>
          <a:xfrm>
            <a:off x="3683979" y="4181589"/>
            <a:ext cx="7509484" cy="1183808"/>
          </a:xfrm>
          <a:prstGeom prst="rect">
            <a:avLst/>
          </a:prstGeom>
        </p:spPr>
        <p:txBody>
          <a:bodyPr vert="horz" lIns="72000" tIns="0" rIns="72000" bIns="0" rtlCol="0" anchor="t" anchorCtr="0">
            <a:noAutofit/>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latin typeface="Arial"/>
                <a:ea typeface="+mn-ea"/>
                <a:cs typeface="+mn-cs"/>
              </a:rPr>
              <a:t>The requested information has been provided through the virtual data room. As of the date of this report, all available requested information has been provided in a timely manner.</a:t>
            </a:r>
          </a:p>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latin typeface="Arial"/>
                <a:ea typeface="+mn-ea"/>
                <a:cs typeface="+mn-cs"/>
              </a:rPr>
              <a:t>Our work has relied on certain key sources of information including, but not limited to; (1) the sell side diligence databook (prepared by A&amp;M),</a:t>
            </a:r>
            <a:r>
              <a:rPr kumimoji="0" lang="en-US" sz="1000" b="0" i="0" strike="noStrike" kern="1200" cap="none" spc="0" normalizeH="0" baseline="0" noProof="0">
                <a:ln>
                  <a:noFill/>
                </a:ln>
                <a:solidFill>
                  <a:srgbClr val="FD349C"/>
                </a:solidFill>
                <a:effectLst/>
                <a:uLnTx/>
                <a:uFillTx/>
                <a:latin typeface="Arial"/>
                <a:ea typeface="+mn-ea"/>
                <a:cs typeface="+mn-cs"/>
              </a:rPr>
              <a:t> </a:t>
            </a:r>
            <a:r>
              <a:rPr kumimoji="0" lang="en-US" sz="1000" b="0" i="0" strike="noStrike" kern="1200" cap="none" spc="0" normalizeH="0" baseline="0" noProof="0">
                <a:ln>
                  <a:noFill/>
                </a:ln>
                <a:effectLst/>
                <a:uLnTx/>
                <a:uFillTx/>
                <a:latin typeface="Arial"/>
                <a:ea typeface="+mn-ea"/>
                <a:cs typeface="+mn-cs"/>
              </a:rPr>
              <a:t>(2) Managements’ </a:t>
            </a:r>
            <a:r>
              <a:rPr lang="en-US">
                <a:latin typeface="Arial"/>
              </a:rPr>
              <a:t>c</a:t>
            </a:r>
            <a:r>
              <a:rPr kumimoji="0" lang="en-US" sz="1000" b="0" i="0" strike="noStrike" kern="1200" cap="none" spc="0" normalizeH="0" baseline="0" noProof="0" err="1">
                <a:ln>
                  <a:noFill/>
                </a:ln>
                <a:effectLst/>
                <a:uLnTx/>
                <a:uFillTx/>
                <a:latin typeface="Arial"/>
                <a:ea typeface="+mn-ea"/>
                <a:cs typeface="+mn-cs"/>
              </a:rPr>
              <a:t>ustomer</a:t>
            </a:r>
            <a:r>
              <a:rPr kumimoji="0" lang="en-US" sz="1000" b="0" i="0" strike="noStrike" kern="1200" cap="none" spc="0" normalizeH="0" baseline="0" noProof="0">
                <a:ln>
                  <a:noFill/>
                </a:ln>
                <a:effectLst/>
                <a:uLnTx/>
                <a:uFillTx/>
                <a:latin typeface="Arial"/>
                <a:ea typeface="+mn-ea"/>
                <a:cs typeface="+mn-cs"/>
              </a:rPr>
              <a:t> cube (ARR), and (3) other various sources of revenue (e.g., deferred revenue waterfall, reoccurring revenue, late renewals, etc.)</a:t>
            </a:r>
            <a:r>
              <a:rPr kumimoji="0" lang="en-US" sz="1000" b="0" i="0" strike="noStrike" kern="1200" cap="none" spc="0" normalizeH="0" baseline="0" noProof="0">
                <a:ln>
                  <a:noFill/>
                </a:ln>
                <a:solidFill>
                  <a:srgbClr val="000000"/>
                </a:solidFill>
                <a:effectLst/>
                <a:uLnTx/>
                <a:uFillTx/>
                <a:latin typeface="Arial"/>
                <a:ea typeface="+mn-ea"/>
                <a:cs typeface="+mn-cs"/>
              </a:rPr>
              <a:t>.</a:t>
            </a:r>
          </a:p>
          <a:p>
            <a:pPr marL="0" marR="0" lvl="0" indent="0" algn="l" defTabSz="914377" rtl="0" eaLnBrk="1" fontAlgn="auto" latinLnBrk="0" hangingPunct="1">
              <a:lnSpc>
                <a:spcPct val="100000"/>
              </a:lnSpc>
              <a:spcBef>
                <a:spcPts val="0"/>
              </a:spcBef>
              <a:spcAft>
                <a:spcPts val="600"/>
              </a:spcAft>
              <a:buClrTx/>
              <a:buSzTx/>
              <a:buFontTx/>
              <a:buNone/>
              <a:tabLst/>
              <a:defRPr/>
            </a:pPr>
            <a:r>
              <a:rPr lang="en-US">
                <a:solidFill>
                  <a:srgbClr val="000000"/>
                </a:solidFill>
                <a:latin typeface="Arial"/>
              </a:rPr>
              <a:t>As noted above regarding our scope of work, based on our scope, the access to Management, and the information provided, we </a:t>
            </a:r>
            <a:r>
              <a:rPr kumimoji="0" lang="en-US" sz="1000" b="0" i="0" strike="noStrike" kern="1200" cap="none" spc="0" normalizeH="0" baseline="0" noProof="0">
                <a:ln>
                  <a:noFill/>
                </a:ln>
                <a:solidFill>
                  <a:srgbClr val="000000"/>
                </a:solidFill>
                <a:effectLst/>
                <a:uLnTx/>
                <a:uFillTx/>
                <a:latin typeface="Arial"/>
                <a:ea typeface="+mn-ea"/>
                <a:cs typeface="+mn-cs"/>
              </a:rPr>
              <a:t>focused on the nature and reasonableness of adjustments prepared by the seller. However, we have not performed confirmatory work at the depth of verification of GL / invoice evidence to support adjustments, or had visibility into corresponding balance sheet accounts at a granular level each period end.</a:t>
            </a:r>
          </a:p>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latin typeface="Arial"/>
                <a:ea typeface="+mn-ea"/>
                <a:cs typeface="+mn-cs"/>
              </a:rPr>
              <a:t>In addition, Management provided a high </a:t>
            </a:r>
            <a:r>
              <a:rPr lang="en-US">
                <a:solidFill>
                  <a:srgbClr val="000000"/>
                </a:solidFill>
                <a:latin typeface="Arial"/>
              </a:rPr>
              <a:t>level reconciliation of ARR and revenue as well as a </a:t>
            </a:r>
            <a:r>
              <a:rPr kumimoji="0" lang="en-US" sz="1000" b="0" i="0" strike="noStrike" kern="1200" cap="none" spc="0" normalizeH="0" baseline="0" noProof="0">
                <a:ln>
                  <a:noFill/>
                </a:ln>
                <a:solidFill>
                  <a:srgbClr val="000000"/>
                </a:solidFill>
                <a:effectLst/>
                <a:uLnTx/>
                <a:uFillTx/>
                <a:latin typeface="Arial"/>
                <a:ea typeface="+mn-ea"/>
                <a:cs typeface="+mn-cs"/>
              </a:rPr>
              <a:t>more detailed reconciliation by customer for the latest month (Mar-25) – however, a more readily available and traceable reconciliation between a ARR and revenue is a potential area of improvement under your ownership.</a:t>
            </a:r>
          </a:p>
        </p:txBody>
      </p:sp>
      <p:sp>
        <p:nvSpPr>
          <p:cNvPr id="81" name="Text Placeholder 13">
            <a:extLst>
              <a:ext uri="{FF2B5EF4-FFF2-40B4-BE49-F238E27FC236}">
                <a16:creationId xmlns:a16="http://schemas.microsoft.com/office/drawing/2014/main" id="{FF311E7C-79D6-E071-2529-DF1B38A9EFF3}"/>
              </a:ext>
            </a:extLst>
          </p:cNvPr>
          <p:cNvSpPr txBox="1">
            <a:spLocks/>
          </p:cNvSpPr>
          <p:nvPr/>
        </p:nvSpPr>
        <p:spPr>
          <a:xfrm>
            <a:off x="998401" y="1158874"/>
            <a:ext cx="2576073" cy="433821"/>
          </a:xfrm>
          <a:prstGeom prst="rect">
            <a:avLst/>
          </a:prstGeom>
        </p:spPr>
        <p:txBody>
          <a:bodyPr vert="horz" lIns="0" tIns="0" rIns="0" bIns="0" rtlCol="0" anchor="t" anchorCtr="0">
            <a:noAutofit/>
          </a:bodyPr>
          <a:lstStyle>
            <a:lvl1pPr marL="0" indent="0" algn="l" defTabSz="914377" rtl="0" eaLnBrk="1" latinLnBrk="0" hangingPunct="1">
              <a:lnSpc>
                <a:spcPts val="2600"/>
              </a:lnSpc>
              <a:spcBef>
                <a:spcPts val="0"/>
              </a:spcBef>
              <a:spcAft>
                <a:spcPts val="0"/>
              </a:spcAft>
              <a:buFontTx/>
              <a:buNone/>
              <a:defRPr sz="2800" b="0" kern="1200">
                <a:solidFill>
                  <a:schemeClr val="tx2"/>
                </a:solidFill>
                <a:latin typeface="+mj-lt"/>
                <a:ea typeface="+mn-ea"/>
                <a:cs typeface="+mn-cs"/>
              </a:defRPr>
            </a:lvl1pPr>
            <a:lvl2pPr marL="0" indent="0" algn="l" defTabSz="914377" rtl="0" eaLnBrk="1" latinLnBrk="0" hangingPunct="1">
              <a:lnSpc>
                <a:spcPts val="2600"/>
              </a:lnSpc>
              <a:spcBef>
                <a:spcPts val="0"/>
              </a:spcBef>
              <a:spcAft>
                <a:spcPts val="0"/>
              </a:spcAft>
              <a:buFontTx/>
              <a:buNone/>
              <a:defRPr sz="1000" b="0" kern="1200">
                <a:solidFill>
                  <a:schemeClr val="tx2"/>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ts val="2600"/>
              </a:lnSpc>
              <a:spcBef>
                <a:spcPts val="0"/>
              </a:spcBef>
              <a:spcAft>
                <a:spcPts val="0"/>
              </a:spcAft>
              <a:buClrTx/>
              <a:buSzTx/>
              <a:buFontTx/>
              <a:buNone/>
              <a:tabLst/>
              <a:defRPr/>
            </a:pPr>
            <a:r>
              <a:rPr kumimoji="0" lang="en-IN" sz="2800" b="0" i="0" strike="noStrike" kern="1200" cap="none" spc="0" normalizeH="0" baseline="0" noProof="0">
                <a:ln>
                  <a:noFill/>
                </a:ln>
                <a:solidFill>
                  <a:srgbClr val="00338D"/>
                </a:solidFill>
                <a:effectLst/>
                <a:uLnTx/>
                <a:uFillTx/>
                <a:latin typeface="KPMG Bold"/>
                <a:ea typeface="+mn-ea"/>
                <a:cs typeface="+mn-cs"/>
              </a:rPr>
              <a:t>Scope of work</a:t>
            </a:r>
          </a:p>
        </p:txBody>
      </p:sp>
      <p:sp>
        <p:nvSpPr>
          <p:cNvPr id="82" name="Text Placeholder 14">
            <a:extLst>
              <a:ext uri="{FF2B5EF4-FFF2-40B4-BE49-F238E27FC236}">
                <a16:creationId xmlns:a16="http://schemas.microsoft.com/office/drawing/2014/main" id="{FA15E99B-69C6-8DB2-FB94-6511BBA1FF88}"/>
              </a:ext>
            </a:extLst>
          </p:cNvPr>
          <p:cNvSpPr txBox="1">
            <a:spLocks/>
          </p:cNvSpPr>
          <p:nvPr/>
        </p:nvSpPr>
        <p:spPr>
          <a:xfrm>
            <a:off x="998401" y="2766767"/>
            <a:ext cx="2576073" cy="433821"/>
          </a:xfrm>
          <a:prstGeom prst="rect">
            <a:avLst/>
          </a:prstGeom>
        </p:spPr>
        <p:txBody>
          <a:bodyPr vert="horz" lIns="0" tIns="0" rIns="0" bIns="0" rtlCol="0" anchor="t" anchorCtr="0">
            <a:noAutofit/>
          </a:bodyPr>
          <a:lstStyle>
            <a:lvl1pPr marL="0" indent="0" algn="l" defTabSz="914377" rtl="0" eaLnBrk="1" latinLnBrk="0" hangingPunct="1">
              <a:lnSpc>
                <a:spcPts val="2600"/>
              </a:lnSpc>
              <a:spcBef>
                <a:spcPts val="0"/>
              </a:spcBef>
              <a:spcAft>
                <a:spcPts val="0"/>
              </a:spcAft>
              <a:buFontTx/>
              <a:buNone/>
              <a:defRPr sz="2800" b="0" kern="1200">
                <a:solidFill>
                  <a:schemeClr val="accent4"/>
                </a:solidFill>
                <a:latin typeface="+mj-lt"/>
                <a:ea typeface="+mn-ea"/>
                <a:cs typeface="+mn-cs"/>
              </a:defRPr>
            </a:lvl1pPr>
            <a:lvl2pPr marL="0" indent="0" algn="l" defTabSz="914377" rtl="0" eaLnBrk="1" latinLnBrk="0" hangingPunct="1">
              <a:lnSpc>
                <a:spcPts val="2600"/>
              </a:lnSpc>
              <a:spcBef>
                <a:spcPts val="0"/>
              </a:spcBef>
              <a:spcAft>
                <a:spcPts val="0"/>
              </a:spcAft>
              <a:buFontTx/>
              <a:buNone/>
              <a:defRPr sz="1000" b="0" kern="1200">
                <a:solidFill>
                  <a:schemeClr val="accent4"/>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ts val="2600"/>
              </a:lnSpc>
              <a:spcBef>
                <a:spcPts val="0"/>
              </a:spcBef>
              <a:spcAft>
                <a:spcPts val="0"/>
              </a:spcAft>
              <a:buClrTx/>
              <a:buSzTx/>
              <a:buFontTx/>
              <a:buNone/>
              <a:tabLst/>
              <a:defRPr/>
            </a:pPr>
            <a:r>
              <a:rPr kumimoji="0" lang="en-US" sz="2800" b="0" i="0" strike="noStrike" kern="1200" cap="none" spc="0" normalizeH="0" baseline="0" noProof="0">
                <a:ln>
                  <a:noFill/>
                </a:ln>
                <a:solidFill>
                  <a:srgbClr val="00B8F5"/>
                </a:solidFill>
                <a:effectLst/>
                <a:uLnTx/>
                <a:uFillTx/>
                <a:latin typeface="KPMG Bold"/>
                <a:ea typeface="+mn-ea"/>
                <a:cs typeface="+mn-cs"/>
              </a:rPr>
              <a:t>Access to management</a:t>
            </a:r>
          </a:p>
        </p:txBody>
      </p:sp>
      <p:sp>
        <p:nvSpPr>
          <p:cNvPr id="83" name="Text Placeholder 15">
            <a:extLst>
              <a:ext uri="{FF2B5EF4-FFF2-40B4-BE49-F238E27FC236}">
                <a16:creationId xmlns:a16="http://schemas.microsoft.com/office/drawing/2014/main" id="{231F8A83-990F-466C-B96C-C89489FBEE8B}"/>
              </a:ext>
            </a:extLst>
          </p:cNvPr>
          <p:cNvSpPr txBox="1">
            <a:spLocks/>
          </p:cNvSpPr>
          <p:nvPr/>
        </p:nvSpPr>
        <p:spPr>
          <a:xfrm>
            <a:off x="998401" y="4167556"/>
            <a:ext cx="2576073" cy="433821"/>
          </a:xfrm>
          <a:prstGeom prst="rect">
            <a:avLst/>
          </a:prstGeom>
        </p:spPr>
        <p:txBody>
          <a:bodyPr vert="horz" lIns="0" tIns="0" rIns="0" bIns="0" rtlCol="0" anchor="t" anchorCtr="0">
            <a:noAutofit/>
          </a:bodyPr>
          <a:lstStyle>
            <a:lvl1pPr marL="0" indent="0" algn="l" defTabSz="914377" rtl="0" eaLnBrk="1" latinLnBrk="0" hangingPunct="1">
              <a:lnSpc>
                <a:spcPts val="2600"/>
              </a:lnSpc>
              <a:spcBef>
                <a:spcPts val="0"/>
              </a:spcBef>
              <a:spcAft>
                <a:spcPts val="0"/>
              </a:spcAft>
              <a:buFontTx/>
              <a:buNone/>
              <a:defRPr sz="2800" b="0" kern="1200">
                <a:solidFill>
                  <a:schemeClr val="accent5"/>
                </a:solidFill>
                <a:latin typeface="+mj-lt"/>
                <a:ea typeface="+mn-ea"/>
                <a:cs typeface="+mn-cs"/>
              </a:defRPr>
            </a:lvl1pPr>
            <a:lvl2pPr marL="0" indent="0" algn="l" defTabSz="914377" rtl="0" eaLnBrk="1" latinLnBrk="0" hangingPunct="1">
              <a:lnSpc>
                <a:spcPts val="2600"/>
              </a:lnSpc>
              <a:spcBef>
                <a:spcPts val="0"/>
              </a:spcBef>
              <a:spcAft>
                <a:spcPts val="0"/>
              </a:spcAft>
              <a:buFontTx/>
              <a:buNone/>
              <a:defRPr sz="1000" b="0" kern="1200">
                <a:solidFill>
                  <a:schemeClr val="accent5"/>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ts val="2600"/>
              </a:lnSpc>
              <a:spcBef>
                <a:spcPts val="0"/>
              </a:spcBef>
              <a:spcAft>
                <a:spcPts val="0"/>
              </a:spcAft>
              <a:buClrTx/>
              <a:buSzTx/>
              <a:buFontTx/>
              <a:buNone/>
              <a:tabLst/>
              <a:defRPr/>
            </a:pPr>
            <a:r>
              <a:rPr kumimoji="0" lang="en-US" sz="2800" b="0" i="0" strike="noStrike" kern="1200" cap="none" spc="0" normalizeH="0" baseline="0" noProof="0">
                <a:ln>
                  <a:noFill/>
                </a:ln>
                <a:solidFill>
                  <a:srgbClr val="7213EA"/>
                </a:solidFill>
                <a:effectLst/>
                <a:uLnTx/>
                <a:uFillTx/>
                <a:latin typeface="KPMG Bold"/>
                <a:ea typeface="+mn-ea"/>
                <a:cs typeface="+mn-cs"/>
              </a:rPr>
              <a:t>Quality of information</a:t>
            </a:r>
          </a:p>
        </p:txBody>
      </p:sp>
      <p:grpSp>
        <p:nvGrpSpPr>
          <p:cNvPr id="84" name="Group 83">
            <a:extLst>
              <a:ext uri="{FF2B5EF4-FFF2-40B4-BE49-F238E27FC236}">
                <a16:creationId xmlns:a16="http://schemas.microsoft.com/office/drawing/2014/main" id="{D0418B04-6D70-CD5A-C07D-3F085B8F55E5}"/>
              </a:ext>
            </a:extLst>
          </p:cNvPr>
          <p:cNvGrpSpPr/>
          <p:nvPr/>
        </p:nvGrpSpPr>
        <p:grpSpPr>
          <a:xfrm>
            <a:off x="990905" y="3200588"/>
            <a:ext cx="2340001" cy="506030"/>
            <a:chOff x="2098102" y="3579487"/>
            <a:chExt cx="2340001" cy="506030"/>
          </a:xfrm>
        </p:grpSpPr>
        <p:sp>
          <p:nvSpPr>
            <p:cNvPr id="85" name="Text Placeholder 6">
              <a:extLst>
                <a:ext uri="{FF2B5EF4-FFF2-40B4-BE49-F238E27FC236}">
                  <a16:creationId xmlns:a16="http://schemas.microsoft.com/office/drawing/2014/main" id="{77E3D815-64E3-21E7-BB93-EF51DE319CAA}"/>
                </a:ext>
              </a:extLst>
            </p:cNvPr>
            <p:cNvSpPr txBox="1">
              <a:spLocks/>
            </p:cNvSpPr>
            <p:nvPr/>
          </p:nvSpPr>
          <p:spPr>
            <a:xfrm>
              <a:off x="2098102" y="3931629"/>
              <a:ext cx="447238"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strike="noStrike" kern="1200" cap="none" spc="0" normalizeH="0" baseline="0" noProof="0">
                  <a:ln>
                    <a:noFill/>
                  </a:ln>
                  <a:solidFill>
                    <a:srgbClr val="00B8F5"/>
                  </a:solidFill>
                  <a:effectLst/>
                  <a:uLnTx/>
                  <a:uFillTx/>
                  <a:latin typeface="Arial"/>
                  <a:ea typeface="+mn-ea"/>
                  <a:cs typeface="+mn-cs"/>
                </a:rPr>
                <a:t>Limited </a:t>
              </a:r>
            </a:p>
          </p:txBody>
        </p:sp>
        <p:sp>
          <p:nvSpPr>
            <p:cNvPr id="86" name="Text Placeholder 6">
              <a:extLst>
                <a:ext uri="{FF2B5EF4-FFF2-40B4-BE49-F238E27FC236}">
                  <a16:creationId xmlns:a16="http://schemas.microsoft.com/office/drawing/2014/main" id="{FB22B7F6-AA6E-DEE6-8C68-36695BB18165}"/>
                </a:ext>
              </a:extLst>
            </p:cNvPr>
            <p:cNvSpPr txBox="1">
              <a:spLocks/>
            </p:cNvSpPr>
            <p:nvPr/>
          </p:nvSpPr>
          <p:spPr>
            <a:xfrm>
              <a:off x="3867410" y="3931629"/>
              <a:ext cx="553036"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strike="noStrike" kern="1200" cap="none" spc="0" normalizeH="0" baseline="0" noProof="0">
                  <a:ln>
                    <a:noFill/>
                  </a:ln>
                  <a:solidFill>
                    <a:srgbClr val="00B8F5"/>
                  </a:solidFill>
                  <a:effectLst/>
                  <a:uLnTx/>
                  <a:uFillTx/>
                  <a:latin typeface="Arial"/>
                  <a:ea typeface="+mn-ea"/>
                  <a:cs typeface="+mn-cs"/>
                </a:rPr>
                <a:t>Extensive</a:t>
              </a:r>
            </a:p>
          </p:txBody>
        </p:sp>
        <p:sp>
          <p:nvSpPr>
            <p:cNvPr id="87" name="Rectangle: Rounded Corners 86">
              <a:extLst>
                <a:ext uri="{FF2B5EF4-FFF2-40B4-BE49-F238E27FC236}">
                  <a16:creationId xmlns:a16="http://schemas.microsoft.com/office/drawing/2014/main" id="{175B60C5-45D1-7585-C625-AEED270C965A}"/>
                </a:ext>
              </a:extLst>
            </p:cNvPr>
            <p:cNvSpPr/>
            <p:nvPr/>
          </p:nvSpPr>
          <p:spPr>
            <a:xfrm>
              <a:off x="2098103" y="3636854"/>
              <a:ext cx="2340000" cy="159705"/>
            </a:xfrm>
            <a:prstGeom prst="roundRect">
              <a:avLst>
                <a:gd name="adj" fmla="val 50000"/>
              </a:avLst>
            </a:prstGeom>
            <a:solidFill>
              <a:srgbClr val="FFFFFF"/>
            </a:solidFill>
            <a:ln w="12700" cap="flat" cmpd="sng" algn="ctr">
              <a:solidFill>
                <a:srgbClr val="00B8F5"/>
              </a:solid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b-NO" sz="900" b="0" i="0" u="none" strike="noStrike" kern="0" cap="none" spc="0" normalizeH="0" baseline="0" noProof="0" err="1">
                <a:ln>
                  <a:noFill/>
                </a:ln>
                <a:solidFill>
                  <a:srgbClr val="FFFFFF"/>
                </a:solidFill>
                <a:effectLst/>
                <a:uLnTx/>
                <a:uFillTx/>
                <a:latin typeface="Arial"/>
                <a:ea typeface="+mn-ea"/>
                <a:cs typeface="+mn-cs"/>
              </a:endParaRPr>
            </a:p>
          </p:txBody>
        </p:sp>
        <p:sp>
          <p:nvSpPr>
            <p:cNvPr id="88" name="Oval 87">
              <a:extLst>
                <a:ext uri="{FF2B5EF4-FFF2-40B4-BE49-F238E27FC236}">
                  <a16:creationId xmlns:a16="http://schemas.microsoft.com/office/drawing/2014/main" id="{21572846-DEF8-2DBF-B068-694EC6405D65}"/>
                </a:ext>
              </a:extLst>
            </p:cNvPr>
            <p:cNvSpPr/>
            <p:nvPr/>
          </p:nvSpPr>
          <p:spPr>
            <a:xfrm>
              <a:off x="2785775" y="3579487"/>
              <a:ext cx="288000" cy="288000"/>
            </a:xfrm>
            <a:prstGeom prst="ellipse">
              <a:avLst/>
            </a:prstGeom>
            <a:solidFill>
              <a:srgbClr val="00B8F5"/>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b-NO" sz="900" b="0" i="0" u="none" strike="noStrike" kern="0" cap="none" spc="0" normalizeH="0" baseline="0" noProof="0" err="1">
                <a:ln>
                  <a:noFill/>
                </a:ln>
                <a:solidFill>
                  <a:srgbClr val="FFFFFF"/>
                </a:solidFill>
                <a:effectLst/>
                <a:uLnTx/>
                <a:uFillTx/>
                <a:latin typeface="Arial"/>
                <a:ea typeface="+mn-ea"/>
                <a:cs typeface="+mn-cs"/>
              </a:endParaRPr>
            </a:p>
          </p:txBody>
        </p:sp>
      </p:grpSp>
      <p:grpSp>
        <p:nvGrpSpPr>
          <p:cNvPr id="89" name="Group 88">
            <a:extLst>
              <a:ext uri="{FF2B5EF4-FFF2-40B4-BE49-F238E27FC236}">
                <a16:creationId xmlns:a16="http://schemas.microsoft.com/office/drawing/2014/main" id="{CB8777DF-442D-2E63-BF2C-66E48A6818AE}"/>
              </a:ext>
            </a:extLst>
          </p:cNvPr>
          <p:cNvGrpSpPr/>
          <p:nvPr/>
        </p:nvGrpSpPr>
        <p:grpSpPr>
          <a:xfrm>
            <a:off x="1000824" y="4688042"/>
            <a:ext cx="2340001" cy="512811"/>
            <a:chOff x="2098102" y="5018856"/>
            <a:chExt cx="2340001" cy="512811"/>
          </a:xfrm>
        </p:grpSpPr>
        <p:sp>
          <p:nvSpPr>
            <p:cNvPr id="90" name="Text Placeholder 6">
              <a:extLst>
                <a:ext uri="{FF2B5EF4-FFF2-40B4-BE49-F238E27FC236}">
                  <a16:creationId xmlns:a16="http://schemas.microsoft.com/office/drawing/2014/main" id="{3BEF9EFD-76B4-78C8-BECB-324231CA9668}"/>
                </a:ext>
              </a:extLst>
            </p:cNvPr>
            <p:cNvSpPr txBox="1">
              <a:spLocks/>
            </p:cNvSpPr>
            <p:nvPr/>
          </p:nvSpPr>
          <p:spPr>
            <a:xfrm>
              <a:off x="2098102" y="5377779"/>
              <a:ext cx="234038"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strike="noStrike" kern="1200" cap="none" spc="0" normalizeH="0" baseline="0" noProof="0">
                  <a:ln>
                    <a:noFill/>
                  </a:ln>
                  <a:solidFill>
                    <a:srgbClr val="7213EA"/>
                  </a:solidFill>
                  <a:effectLst/>
                  <a:uLnTx/>
                  <a:uFillTx/>
                  <a:latin typeface="Arial"/>
                  <a:ea typeface="+mn-ea"/>
                  <a:cs typeface="+mn-cs"/>
                </a:rPr>
                <a:t>Low</a:t>
              </a:r>
            </a:p>
          </p:txBody>
        </p:sp>
        <p:sp>
          <p:nvSpPr>
            <p:cNvPr id="91" name="Text Placeholder 6">
              <a:extLst>
                <a:ext uri="{FF2B5EF4-FFF2-40B4-BE49-F238E27FC236}">
                  <a16:creationId xmlns:a16="http://schemas.microsoft.com/office/drawing/2014/main" id="{8E3E8956-810F-D69A-FA71-7011884AC7D6}"/>
                </a:ext>
              </a:extLst>
            </p:cNvPr>
            <p:cNvSpPr txBox="1">
              <a:spLocks/>
            </p:cNvSpPr>
            <p:nvPr/>
          </p:nvSpPr>
          <p:spPr>
            <a:xfrm>
              <a:off x="4157555" y="5377779"/>
              <a:ext cx="262892"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strike="noStrike" kern="1200" cap="none" spc="0" normalizeH="0" baseline="0" noProof="0">
                  <a:ln>
                    <a:noFill/>
                  </a:ln>
                  <a:solidFill>
                    <a:srgbClr val="7213EA"/>
                  </a:solidFill>
                  <a:effectLst/>
                  <a:uLnTx/>
                  <a:uFillTx/>
                  <a:latin typeface="Arial"/>
                  <a:ea typeface="+mn-ea"/>
                  <a:cs typeface="+mn-cs"/>
                </a:rPr>
                <a:t>High</a:t>
              </a:r>
            </a:p>
          </p:txBody>
        </p:sp>
        <p:sp>
          <p:nvSpPr>
            <p:cNvPr id="92" name="Rectangle: Rounded Corners 91">
              <a:extLst>
                <a:ext uri="{FF2B5EF4-FFF2-40B4-BE49-F238E27FC236}">
                  <a16:creationId xmlns:a16="http://schemas.microsoft.com/office/drawing/2014/main" id="{43562CAB-C98C-E4CB-3F4F-B2117295C272}"/>
                </a:ext>
              </a:extLst>
            </p:cNvPr>
            <p:cNvSpPr/>
            <p:nvPr/>
          </p:nvSpPr>
          <p:spPr>
            <a:xfrm>
              <a:off x="2098103" y="5083004"/>
              <a:ext cx="2340000" cy="159705"/>
            </a:xfrm>
            <a:prstGeom prst="roundRect">
              <a:avLst>
                <a:gd name="adj" fmla="val 50000"/>
              </a:avLst>
            </a:prstGeom>
            <a:solidFill>
              <a:srgbClr val="FFFFFF"/>
            </a:solidFill>
            <a:ln w="12700" cap="flat" cmpd="sng" algn="ctr">
              <a:solidFill>
                <a:srgbClr val="7213EA"/>
              </a:solid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b-NO" sz="900" b="0" i="0" u="none" strike="noStrike" kern="0" cap="none" spc="0" normalizeH="0" baseline="0" noProof="0">
                <a:ln>
                  <a:noFill/>
                </a:ln>
                <a:solidFill>
                  <a:srgbClr val="FFFFFF"/>
                </a:solidFill>
                <a:effectLst/>
                <a:uLnTx/>
                <a:uFillTx/>
                <a:latin typeface="Arial"/>
                <a:ea typeface="+mn-ea"/>
                <a:cs typeface="+mn-cs"/>
              </a:endParaRPr>
            </a:p>
          </p:txBody>
        </p:sp>
        <p:sp>
          <p:nvSpPr>
            <p:cNvPr id="93" name="Oval 92">
              <a:extLst>
                <a:ext uri="{FF2B5EF4-FFF2-40B4-BE49-F238E27FC236}">
                  <a16:creationId xmlns:a16="http://schemas.microsoft.com/office/drawing/2014/main" id="{BAFB22FA-182D-022C-04CB-3C41CA7BDB93}"/>
                </a:ext>
              </a:extLst>
            </p:cNvPr>
            <p:cNvSpPr/>
            <p:nvPr/>
          </p:nvSpPr>
          <p:spPr>
            <a:xfrm>
              <a:off x="3268699" y="5018856"/>
              <a:ext cx="288000" cy="288000"/>
            </a:xfrm>
            <a:prstGeom prst="ellipse">
              <a:avLst/>
            </a:prstGeom>
            <a:solidFill>
              <a:srgbClr val="7213EA"/>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b-NO" sz="900" b="0" i="0" u="none" strike="noStrike" kern="0" cap="none" spc="0" normalizeH="0" baseline="0" noProof="0" err="1">
                <a:ln>
                  <a:noFill/>
                </a:ln>
                <a:solidFill>
                  <a:srgbClr val="FFFFFF"/>
                </a:solidFill>
                <a:effectLst/>
                <a:uLnTx/>
                <a:uFillTx/>
                <a:latin typeface="Arial"/>
                <a:ea typeface="+mn-ea"/>
                <a:cs typeface="+mn-cs"/>
              </a:endParaRPr>
            </a:p>
          </p:txBody>
        </p:sp>
      </p:grpSp>
      <p:sp>
        <p:nvSpPr>
          <p:cNvPr id="94" name="Rectangle: Rounded Corners 44">
            <a:extLst>
              <a:ext uri="{FF2B5EF4-FFF2-40B4-BE49-F238E27FC236}">
                <a16:creationId xmlns:a16="http://schemas.microsoft.com/office/drawing/2014/main" id="{39B238ED-99E3-D9CB-A31C-086E12BDD9D3}"/>
              </a:ext>
            </a:extLst>
          </p:cNvPr>
          <p:cNvSpPr/>
          <p:nvPr/>
        </p:nvSpPr>
        <p:spPr>
          <a:xfrm>
            <a:off x="990905" y="3265154"/>
            <a:ext cx="901904" cy="153887"/>
          </a:xfrm>
          <a:prstGeom prst="roundRect">
            <a:avLst>
              <a:gd name="adj" fmla="val 50000"/>
            </a:avLst>
          </a:prstGeom>
          <a:solidFill>
            <a:srgbClr val="00B8F5"/>
          </a:solidFill>
          <a:ln w="12700" cap="flat" cmpd="sng" algn="ctr">
            <a:solidFill>
              <a:srgbClr val="00B8F5"/>
            </a:solid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b-NO" sz="900" b="0" i="0" u="none" strike="noStrike" kern="0" cap="none" spc="0" normalizeH="0" baseline="0" noProof="0" err="1">
              <a:ln>
                <a:noFill/>
              </a:ln>
              <a:solidFill>
                <a:srgbClr val="FFFFFF"/>
              </a:solidFill>
              <a:effectLst/>
              <a:uLnTx/>
              <a:uFillTx/>
              <a:latin typeface="Arial"/>
              <a:ea typeface="+mn-ea"/>
              <a:cs typeface="+mn-cs"/>
            </a:endParaRPr>
          </a:p>
        </p:txBody>
      </p:sp>
      <p:sp>
        <p:nvSpPr>
          <p:cNvPr id="95" name="Rectangle: Rounded Corners 50">
            <a:extLst>
              <a:ext uri="{FF2B5EF4-FFF2-40B4-BE49-F238E27FC236}">
                <a16:creationId xmlns:a16="http://schemas.microsoft.com/office/drawing/2014/main" id="{661408E6-F2D8-6A8C-6CC2-D82F8EE100D0}"/>
              </a:ext>
            </a:extLst>
          </p:cNvPr>
          <p:cNvSpPr/>
          <p:nvPr/>
        </p:nvSpPr>
        <p:spPr>
          <a:xfrm>
            <a:off x="978228" y="4760499"/>
            <a:ext cx="1431340" cy="151396"/>
          </a:xfrm>
          <a:prstGeom prst="roundRect">
            <a:avLst>
              <a:gd name="adj" fmla="val 50000"/>
            </a:avLst>
          </a:prstGeom>
          <a:solidFill>
            <a:srgbClr val="7213EA"/>
          </a:solidFill>
          <a:ln w="12700" cap="flat" cmpd="sng" algn="ctr">
            <a:solidFill>
              <a:srgbClr val="7213EA"/>
            </a:solid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b-NO" sz="900" b="0" i="0" u="none" strike="noStrike" kern="0" cap="none" spc="0" normalizeH="0" baseline="0" noProof="0">
              <a:ln>
                <a:noFill/>
              </a:ln>
              <a:solidFill>
                <a:srgbClr val="FFFFFF"/>
              </a:solidFill>
              <a:effectLst/>
              <a:uLnTx/>
              <a:uFillTx/>
              <a:latin typeface="Arial"/>
              <a:ea typeface="+mn-ea"/>
              <a:cs typeface="+mn-cs"/>
            </a:endParaRPr>
          </a:p>
        </p:txBody>
      </p:sp>
      <p:cxnSp>
        <p:nvCxnSpPr>
          <p:cNvPr id="436" name="Straight Connector 435">
            <a:extLst>
              <a:ext uri="{FF2B5EF4-FFF2-40B4-BE49-F238E27FC236}">
                <a16:creationId xmlns:a16="http://schemas.microsoft.com/office/drawing/2014/main" id="{6A76E5FF-347A-A99C-46E9-DDAB5F517118}"/>
              </a:ext>
            </a:extLst>
          </p:cNvPr>
          <p:cNvCxnSpPr>
            <a:cxnSpLocks/>
          </p:cNvCxnSpPr>
          <p:nvPr/>
        </p:nvCxnSpPr>
        <p:spPr>
          <a:xfrm>
            <a:off x="998400" y="2661191"/>
            <a:ext cx="10195200" cy="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437" name="Straight Connector 436">
            <a:extLst>
              <a:ext uri="{FF2B5EF4-FFF2-40B4-BE49-F238E27FC236}">
                <a16:creationId xmlns:a16="http://schemas.microsoft.com/office/drawing/2014/main" id="{3E96CEE3-FAB5-91E6-A9AB-3BE7C70BC3E7}"/>
              </a:ext>
            </a:extLst>
          </p:cNvPr>
          <p:cNvCxnSpPr>
            <a:cxnSpLocks/>
          </p:cNvCxnSpPr>
          <p:nvPr/>
        </p:nvCxnSpPr>
        <p:spPr>
          <a:xfrm>
            <a:off x="998400" y="4039902"/>
            <a:ext cx="10195200" cy="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grpSp>
        <p:nvGrpSpPr>
          <p:cNvPr id="57" name="Group 56">
            <a:extLst>
              <a:ext uri="{FF2B5EF4-FFF2-40B4-BE49-F238E27FC236}">
                <a16:creationId xmlns:a16="http://schemas.microsoft.com/office/drawing/2014/main" id="{52C6ADF6-914C-A41D-8B0D-F6F62030A9A7}"/>
              </a:ext>
            </a:extLst>
          </p:cNvPr>
          <p:cNvGrpSpPr/>
          <p:nvPr>
            <p:custDataLst>
              <p:tags r:id="rId3"/>
            </p:custDataLst>
          </p:nvPr>
        </p:nvGrpSpPr>
        <p:grpSpPr>
          <a:xfrm>
            <a:off x="995364" y="153170"/>
            <a:ext cx="7409484" cy="195814"/>
            <a:chOff x="995364" y="153170"/>
            <a:chExt cx="7409484" cy="195814"/>
          </a:xfrm>
        </p:grpSpPr>
        <p:sp>
          <p:nvSpPr>
            <p:cNvPr id="58" name="Other Sections1">
              <a:hlinkClick r:id="rId5"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59" name="Other Sections2">
              <a:hlinkClick r:id="rId6"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60" name="Other Sections3">
              <a:hlinkClick r:id="rId7" action="ppaction://hlinksldjump"/>
              <a:extLst>
                <a:ext uri="{FF2B5EF4-FFF2-40B4-BE49-F238E27FC236}">
                  <a16:creationId xmlns:a16="http://schemas.microsoft.com/office/drawing/2014/main" id="{8A19844E-D291-CA81-3B22-2B52F21919DA}"/>
                </a:ext>
              </a:extLst>
            </p:cNvPr>
            <p:cNvSpPr>
              <a:spLocks/>
            </p:cNvSpPr>
            <p:nvPr/>
          </p:nvSpPr>
          <p:spPr>
            <a:xfrm>
              <a:off x="3325196"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61" name="Other Sections4">
              <a:hlinkClick r:id="rId8" action="ppaction://hlinksldjump"/>
              <a:extLst>
                <a:ext uri="{FF2B5EF4-FFF2-40B4-BE49-F238E27FC236}">
                  <a16:creationId xmlns:a16="http://schemas.microsoft.com/office/drawing/2014/main" id="{8A19844E-D291-CA81-3B22-2B52F21919DA}"/>
                </a:ext>
              </a:extLst>
            </p:cNvPr>
            <p:cNvSpPr>
              <a:spLocks/>
            </p:cNvSpPr>
            <p:nvPr/>
          </p:nvSpPr>
          <p:spPr>
            <a:xfrm>
              <a:off x="47738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62" name="Other Sections5">
              <a:hlinkClick r:id="rId9" action="ppaction://hlinksldjump"/>
              <a:extLst>
                <a:ext uri="{FF2B5EF4-FFF2-40B4-BE49-F238E27FC236}">
                  <a16:creationId xmlns:a16="http://schemas.microsoft.com/office/drawing/2014/main" id="{8A19844E-D291-CA81-3B22-2B52F21919DA}"/>
                </a:ext>
              </a:extLst>
            </p:cNvPr>
            <p:cNvSpPr>
              <a:spLocks/>
            </p:cNvSpPr>
            <p:nvPr/>
          </p:nvSpPr>
          <p:spPr>
            <a:xfrm>
              <a:off x="5574879"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63" name="Current Section6">
              <a:hlinkClick r:id="rId10" action="ppaction://hlinksldjump"/>
              <a:extLst>
                <a:ext uri="{FF2B5EF4-FFF2-40B4-BE49-F238E27FC236}">
                  <a16:creationId xmlns:a16="http://schemas.microsoft.com/office/drawing/2014/main" id="{89A61135-1F00-E77F-7C78-5FBA241A5742}"/>
                </a:ext>
              </a:extLst>
            </p:cNvPr>
            <p:cNvSpPr>
              <a:spLocks/>
            </p:cNvSpPr>
            <p:nvPr/>
          </p:nvSpPr>
          <p:spPr>
            <a:xfrm>
              <a:off x="7675949"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21253388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B03A8846-E250-4E84-B454-5D4D5664E615}"/>
              </a:ext>
            </a:extLst>
          </p:cNvPr>
          <p:cNvSpPr/>
          <p:nvPr/>
        </p:nvSpPr>
        <p:spPr>
          <a:xfrm>
            <a:off x="841326" y="1330325"/>
            <a:ext cx="10509347" cy="14827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graphicFrame>
        <p:nvGraphicFramePr>
          <p:cNvPr id="5" name="Table 4">
            <a:extLst>
              <a:ext uri="{FF2B5EF4-FFF2-40B4-BE49-F238E27FC236}">
                <a16:creationId xmlns:a16="http://schemas.microsoft.com/office/drawing/2014/main" id="{13478B40-95D9-4967-9FFF-8AA9D03AF4F2}"/>
              </a:ext>
            </a:extLst>
          </p:cNvPr>
          <p:cNvGraphicFramePr>
            <a:graphicFrameLocks noGrp="1"/>
          </p:cNvGraphicFramePr>
          <p:nvPr>
            <p:custDataLst>
              <p:tags r:id="rId2"/>
            </p:custDataLst>
            <p:extLst>
              <p:ext uri="{D42A27DB-BD31-4B8C-83A1-F6EECF244321}">
                <p14:modId xmlns:p14="http://schemas.microsoft.com/office/powerpoint/2010/main" val="2610926699"/>
              </p:ext>
            </p:extLst>
          </p:nvPr>
        </p:nvGraphicFramePr>
        <p:xfrm>
          <a:off x="951444" y="965200"/>
          <a:ext cx="10289110" cy="5151828"/>
        </p:xfrm>
        <a:graphic>
          <a:graphicData uri="http://schemas.openxmlformats.org/drawingml/2006/table">
            <a:tbl>
              <a:tblPr firstRow="1" bandRow="1">
                <a:tableStyleId>{5C22544A-7EE6-4342-B048-85BDC9FD1C3A}</a:tableStyleId>
              </a:tblPr>
              <a:tblGrid>
                <a:gridCol w="1407314">
                  <a:extLst>
                    <a:ext uri="{9D8B030D-6E8A-4147-A177-3AD203B41FA5}">
                      <a16:colId xmlns:a16="http://schemas.microsoft.com/office/drawing/2014/main" val="20000"/>
                    </a:ext>
                  </a:extLst>
                </a:gridCol>
                <a:gridCol w="6021288">
                  <a:extLst>
                    <a:ext uri="{9D8B030D-6E8A-4147-A177-3AD203B41FA5}">
                      <a16:colId xmlns:a16="http://schemas.microsoft.com/office/drawing/2014/main" val="20001"/>
                    </a:ext>
                  </a:extLst>
                </a:gridCol>
                <a:gridCol w="660300">
                  <a:extLst>
                    <a:ext uri="{9D8B030D-6E8A-4147-A177-3AD203B41FA5}">
                      <a16:colId xmlns:a16="http://schemas.microsoft.com/office/drawing/2014/main" val="20002"/>
                    </a:ext>
                  </a:extLst>
                </a:gridCol>
                <a:gridCol w="2200208">
                  <a:extLst>
                    <a:ext uri="{9D8B030D-6E8A-4147-A177-3AD203B41FA5}">
                      <a16:colId xmlns:a16="http://schemas.microsoft.com/office/drawing/2014/main" val="3738205697"/>
                    </a:ext>
                  </a:extLst>
                </a:gridCol>
              </a:tblGrid>
              <a:tr h="0">
                <a:tc>
                  <a:txBody>
                    <a:bodyPr/>
                    <a:lstStyle/>
                    <a:p>
                      <a:pPr>
                        <a:lnSpc>
                          <a:spcPct val="97000"/>
                        </a:lnSpc>
                        <a:spcBef>
                          <a:spcPts val="0"/>
                        </a:spcBef>
                        <a:spcAft>
                          <a:spcPts val="600"/>
                        </a:spcAft>
                      </a:pPr>
                      <a:r>
                        <a:rPr lang="en-US" sz="1000" b="1" u="none">
                          <a:solidFill>
                            <a:schemeClr val="bg1"/>
                          </a:solidFill>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1" u="none">
                          <a:solidFill>
                            <a:schemeClr val="bg1"/>
                          </a:solidFill>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ct val="97000"/>
                        </a:lnSpc>
                        <a:spcBef>
                          <a:spcPts val="0"/>
                        </a:spcBef>
                        <a:spcAft>
                          <a:spcPts val="600"/>
                        </a:spcAft>
                      </a:pPr>
                      <a:r>
                        <a:rPr lang="en-US" sz="1000" b="1" u="none">
                          <a:solidFill>
                            <a:schemeClr val="bg1"/>
                          </a:solidFill>
                        </a:rPr>
                        <a:t>Status</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lnSpc>
                          <a:spcPct val="97000"/>
                        </a:lnSpc>
                        <a:spcBef>
                          <a:spcPts val="0"/>
                        </a:spcBef>
                        <a:spcAft>
                          <a:spcPts val="600"/>
                        </a:spcAft>
                      </a:pPr>
                      <a:r>
                        <a:rPr lang="en-US" sz="1000" b="1" u="none">
                          <a:solidFill>
                            <a:schemeClr val="bg1"/>
                          </a:solidFill>
                        </a:rPr>
                        <a:t>Comment</a:t>
                      </a:r>
                    </a:p>
                  </a:txBody>
                  <a:tcPr marL="72000" marR="72000" marT="72000" marB="72000" anchor="ctr">
                    <a:lnL w="9525"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1005840">
                <a:tc>
                  <a:txBody>
                    <a:bodyPr/>
                    <a:lstStyle/>
                    <a:p>
                      <a:pPr>
                        <a:lnSpc>
                          <a:spcPct val="100000"/>
                        </a:lnSpc>
                        <a:spcBef>
                          <a:spcPts val="0"/>
                        </a:spcBef>
                        <a:spcAft>
                          <a:spcPts val="600"/>
                        </a:spcAft>
                      </a:pPr>
                      <a:r>
                        <a:rPr lang="en-US" sz="1000" b="1" u="none">
                          <a:solidFill>
                            <a:schemeClr val="tx2"/>
                          </a:solidFill>
                        </a:rPr>
                        <a:t>Business understanding</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28600" marR="0" lvl="2" indent="-228600" algn="l" defTabSz="914400" rtl="0" eaLnBrk="1" fontAlgn="auto" latinLnBrk="0" hangingPunct="1">
                        <a:lnSpc>
                          <a:spcPct val="100000"/>
                        </a:lnSpc>
                        <a:spcBef>
                          <a:spcPts val="0"/>
                        </a:spcBef>
                        <a:spcAft>
                          <a:spcPts val="600"/>
                        </a:spcAft>
                        <a:buClrTx/>
                        <a:buSzTx/>
                        <a:buFont typeface="+mj-lt"/>
                        <a:buAutoNum type="alphaLcParen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Gain an understanding of the business, including:</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Legal and organizational structure;</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Revenue streams;</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Cost base, employee base and infrastructure; and </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Key management team.</a:t>
                      </a:r>
                    </a:p>
                    <a:p>
                      <a:pPr marL="228600" marR="0" lvl="2" indent="-228600" algn="l" defTabSz="914400" rtl="0" eaLnBrk="1" fontAlgn="auto" latinLnBrk="0" hangingPunct="1">
                        <a:lnSpc>
                          <a:spcPct val="100000"/>
                        </a:lnSpc>
                        <a:spcBef>
                          <a:spcPts val="0"/>
                        </a:spcBef>
                        <a:spcAft>
                          <a:spcPts val="600"/>
                        </a:spcAft>
                        <a:buClrTx/>
                        <a:buSzTx/>
                        <a:buFont typeface="+mj-lt"/>
                        <a:buAutoNum type="alphaLcParenR"/>
                        <a:tabLst/>
                        <a:defRPr/>
                      </a:pPr>
                      <a:r>
                        <a:rPr lang="en-US" sz="1000" u="none"/>
                        <a:t>Understand the business’ accounting function, including: </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lang="en-US" sz="1000" u="none"/>
                        <a:t>Key accounting practices, policies, procedures, and methodologies;</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lang="en-US" sz="1000" u="none"/>
                        <a:t>Internal financial controls;</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lang="en-US" sz="1000" u="none"/>
                        <a:t>Financial reporting.</a:t>
                      </a:r>
                      <a:endParaRPr kumimoji="0" lang="en-US" sz="1000" b="0" i="0" u="none" strike="noStrike" kern="1200" cap="none" spc="0" normalizeH="0" baseline="0" noProof="0">
                        <a:ln>
                          <a:noFill/>
                        </a:ln>
                        <a:solidFill>
                          <a:srgbClr val="000000"/>
                        </a:solidFill>
                        <a:effectLst/>
                        <a:uLnTx/>
                        <a:uFillTx/>
                        <a:latin typeface="Arial"/>
                        <a:ea typeface="+mn-ea"/>
                        <a:cs typeface="+mn-cs"/>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u="none">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6377961"/>
                  </a:ext>
                </a:extLst>
              </a:tr>
              <a:tr h="1005840">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1" u="none">
                          <a:solidFill>
                            <a:schemeClr val="tx2"/>
                          </a:solidFill>
                        </a:rPr>
                        <a:t>Quality of revenue</a:t>
                      </a:r>
                    </a:p>
                    <a:p>
                      <a:pPr>
                        <a:lnSpc>
                          <a:spcPct val="100000"/>
                        </a:lnSpc>
                        <a:spcBef>
                          <a:spcPts val="0"/>
                        </a:spcBef>
                        <a:spcAft>
                          <a:spcPts val="600"/>
                        </a:spcAft>
                      </a:pPr>
                      <a:endParaRPr lang="en-US" sz="1000" b="1" u="none">
                        <a:solidFill>
                          <a:schemeClr val="tx2"/>
                        </a:solidFill>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28600" marR="0" lvl="2" indent="-228600" algn="l" defTabSz="914400" rtl="0" eaLnBrk="1" fontAlgn="auto" latinLnBrk="0" hangingPunct="1">
                        <a:lnSpc>
                          <a:spcPct val="100000"/>
                        </a:lnSpc>
                        <a:spcBef>
                          <a:spcPts val="0"/>
                        </a:spcBef>
                        <a:spcAft>
                          <a:spcPts val="600"/>
                        </a:spcAft>
                        <a:buClrTx/>
                        <a:buSzTx/>
                        <a:buFont typeface="+mj-lt"/>
                        <a:buAutoNum type="alphaLcParenR"/>
                        <a:tabLst/>
                        <a:defRPr/>
                      </a:pPr>
                      <a:r>
                        <a:rPr kumimoji="0" lang="en-US" sz="1000" b="0" i="0" u="none" strike="noStrike" kern="1200" cap="none" spc="0" normalizeH="0" baseline="0">
                          <a:ln>
                            <a:noFill/>
                          </a:ln>
                          <a:solidFill>
                            <a:srgbClr val="000000"/>
                          </a:solidFill>
                          <a:effectLst/>
                          <a:uLnTx/>
                          <a:uFillTx/>
                          <a:latin typeface="Arial"/>
                          <a:ea typeface="+mn-ea"/>
                          <a:cs typeface="+mn-cs"/>
                        </a:rPr>
                        <a:t>Understand the business’ revenue streams and related accounting policies and practice. To include understanding of:</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kumimoji="0" lang="en-US" sz="1000" b="0" i="0" u="none" strike="noStrike" kern="1200" cap="none" spc="0" normalizeH="0" baseline="0">
                          <a:ln>
                            <a:noFill/>
                          </a:ln>
                          <a:solidFill>
                            <a:srgbClr val="000000"/>
                          </a:solidFill>
                          <a:effectLst/>
                          <a:uLnTx/>
                          <a:uFillTx/>
                          <a:latin typeface="Arial"/>
                          <a:ea typeface="+mn-ea"/>
                          <a:cs typeface="+mn-cs"/>
                        </a:rPr>
                        <a:t>Cash / billing cycle;</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kumimoji="0" lang="en-US" sz="1000" b="0" i="0" u="none" strike="noStrike" kern="1200" cap="none" spc="0" normalizeH="0" baseline="0">
                          <a:ln>
                            <a:noFill/>
                          </a:ln>
                          <a:solidFill>
                            <a:srgbClr val="000000"/>
                          </a:solidFill>
                          <a:effectLst/>
                          <a:uLnTx/>
                          <a:uFillTx/>
                          <a:latin typeface="Arial"/>
                          <a:ea typeface="+mn-ea"/>
                          <a:cs typeface="+mn-cs"/>
                        </a:rPr>
                        <a:t>Typical contract terms;</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kumimoji="0" lang="en-US" sz="1000" b="0" i="0" u="none" strike="noStrike" kern="1200" cap="none" spc="0" normalizeH="0" baseline="0">
                          <a:ln>
                            <a:noFill/>
                          </a:ln>
                          <a:solidFill>
                            <a:srgbClr val="000000"/>
                          </a:solidFill>
                          <a:effectLst/>
                          <a:uLnTx/>
                          <a:uFillTx/>
                          <a:latin typeface="Arial"/>
                          <a:ea typeface="+mn-ea"/>
                          <a:cs typeface="+mn-cs"/>
                        </a:rPr>
                        <a:t>Timing of price increases; and</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kumimoji="0" lang="en-US" sz="1000" b="0" i="0" u="none" strike="noStrike" kern="1200" cap="none" spc="0" normalizeH="0" baseline="0">
                          <a:ln>
                            <a:noFill/>
                          </a:ln>
                          <a:solidFill>
                            <a:srgbClr val="000000"/>
                          </a:solidFill>
                          <a:effectLst/>
                          <a:uLnTx/>
                          <a:uFillTx/>
                          <a:latin typeface="Arial"/>
                          <a:ea typeface="+mn-ea"/>
                          <a:cs typeface="+mn-cs"/>
                        </a:rPr>
                        <a:t>Calculation of deferred revenue.</a:t>
                      </a:r>
                    </a:p>
                    <a:p>
                      <a:pPr marL="228600" marR="0" lvl="2" indent="-228600" algn="l" defTabSz="914400" rtl="0" eaLnBrk="1" fontAlgn="auto" latinLnBrk="0" hangingPunct="1">
                        <a:lnSpc>
                          <a:spcPct val="100000"/>
                        </a:lnSpc>
                        <a:spcBef>
                          <a:spcPts val="0"/>
                        </a:spcBef>
                        <a:spcAft>
                          <a:spcPts val="600"/>
                        </a:spcAft>
                        <a:buClrTx/>
                        <a:buSzTx/>
                        <a:buFont typeface="+mj-lt"/>
                        <a:buAutoNum type="alphaLcParenR"/>
                        <a:tabLst/>
                        <a:defRPr/>
                      </a:pPr>
                      <a:r>
                        <a:rPr kumimoji="0" lang="en-US" sz="1000" b="0" i="0" u="none" strike="noStrike" kern="1200" cap="none" spc="0" normalizeH="0" baseline="0">
                          <a:ln>
                            <a:noFill/>
                          </a:ln>
                          <a:solidFill>
                            <a:srgbClr val="000000"/>
                          </a:solidFill>
                          <a:effectLst/>
                          <a:uLnTx/>
                          <a:uFillTx/>
                          <a:latin typeface="Arial"/>
                          <a:ea typeface="+mn-ea"/>
                          <a:cs typeface="+mn-cs"/>
                        </a:rPr>
                        <a:t>Understand what work has been performed to reconcile reported revenues, cash income, and ARR.</a:t>
                      </a:r>
                    </a:p>
                    <a:p>
                      <a:pPr marL="228600" marR="0" lvl="2" indent="-228600" algn="l" defTabSz="914400" rtl="0" eaLnBrk="1" fontAlgn="auto" latinLnBrk="0" hangingPunct="1">
                        <a:lnSpc>
                          <a:spcPct val="100000"/>
                        </a:lnSpc>
                        <a:spcBef>
                          <a:spcPts val="0"/>
                        </a:spcBef>
                        <a:spcAft>
                          <a:spcPts val="600"/>
                        </a:spcAft>
                        <a:buClrTx/>
                        <a:buSzTx/>
                        <a:buFont typeface="+mj-lt"/>
                        <a:buAutoNum type="alphaLcParenR"/>
                        <a:tabLst/>
                        <a:defRPr/>
                      </a:pPr>
                      <a:r>
                        <a:rPr kumimoji="0" lang="en-US" sz="1000" b="0" i="0" u="none" strike="noStrike" kern="1200" cap="none" spc="0" normalizeH="0" baseline="0">
                          <a:ln>
                            <a:noFill/>
                          </a:ln>
                          <a:solidFill>
                            <a:srgbClr val="000000"/>
                          </a:solidFill>
                          <a:effectLst/>
                          <a:uLnTx/>
                          <a:uFillTx/>
                          <a:latin typeface="Arial"/>
                          <a:ea typeface="+mn-ea"/>
                          <a:cs typeface="+mn-cs"/>
                        </a:rPr>
                        <a:t>Consider methodology used by the seller in presenting ARR and associated KPIs (upsell, downsell, churn, ARR per license / per logo, key account concentration)</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kumimoji="0" lang="en-US" sz="1000" b="0" i="0" u="none" strike="noStrike" kern="1200" cap="none" spc="0" normalizeH="0" baseline="0">
                          <a:ln>
                            <a:noFill/>
                          </a:ln>
                          <a:solidFill>
                            <a:srgbClr val="000000"/>
                          </a:solidFill>
                          <a:effectLst/>
                          <a:uLnTx/>
                          <a:uFillTx/>
                          <a:latin typeface="Arial"/>
                          <a:ea typeface="+mn-ea"/>
                          <a:cs typeface="+mn-cs"/>
                        </a:rPr>
                        <a:t>Identify key anomalies or items of concern relating to calculation methodology and / or resulting trends.</a:t>
                      </a:r>
                    </a:p>
                    <a:p>
                      <a:pPr marL="228600" marR="0" lvl="2" indent="-228600" algn="l" defTabSz="914400" rtl="0" eaLnBrk="1" fontAlgn="auto" latinLnBrk="0" hangingPunct="1">
                        <a:lnSpc>
                          <a:spcPct val="100000"/>
                        </a:lnSpc>
                        <a:spcBef>
                          <a:spcPts val="0"/>
                        </a:spcBef>
                        <a:spcAft>
                          <a:spcPts val="600"/>
                        </a:spcAft>
                        <a:buClrTx/>
                        <a:buSzTx/>
                        <a:buFont typeface="+mj-lt"/>
                        <a:buAutoNum type="alphaLcParenR"/>
                        <a:tabLst/>
                        <a:defRPr/>
                      </a:pPr>
                      <a:r>
                        <a:rPr kumimoji="0" lang="en-US" sz="1000" b="0" i="0" u="none" strike="noStrike" kern="1200" cap="none" spc="0" normalizeH="0" baseline="0">
                          <a:ln>
                            <a:noFill/>
                          </a:ln>
                          <a:solidFill>
                            <a:srgbClr val="000000"/>
                          </a:solidFill>
                          <a:effectLst/>
                          <a:uLnTx/>
                          <a:uFillTx/>
                          <a:latin typeface="Arial"/>
                          <a:ea typeface="+mn-ea"/>
                          <a:cs typeface="+mn-cs"/>
                        </a:rPr>
                        <a:t>Perform Phase 2 top up due diligence as requested by you (e.g. recalculation of ARR and KPIs using Clio methodology).</a:t>
                      </a:r>
                      <a:endParaRPr kumimoji="0" lang="en-US" sz="1000" b="0" i="0" u="none" strike="noStrike" kern="1200" cap="none" spc="0" normalizeH="0" baseline="0" noProof="0">
                        <a:ln>
                          <a:noFill/>
                        </a:ln>
                        <a:solidFill>
                          <a:srgbClr val="000000"/>
                        </a:solidFill>
                        <a:effectLst/>
                        <a:uLnTx/>
                        <a:uFillTx/>
                        <a:latin typeface="Arial"/>
                        <a:ea typeface="+mn-ea"/>
                        <a:cs typeface="+mn-cs"/>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97000"/>
                        </a:lnSpc>
                        <a:spcBef>
                          <a:spcPts val="0"/>
                        </a:spcBef>
                        <a:spcAft>
                          <a:spcPts val="400"/>
                        </a:spcAft>
                        <a:buClrTx/>
                        <a:buSzTx/>
                        <a:buFontTx/>
                        <a:buNone/>
                        <a:tabLst/>
                        <a:defRPr/>
                      </a:pPr>
                      <a:r>
                        <a:rPr lang="en-US" sz="1100" u="none">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Partially completed/ongoing</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bl>
          </a:graphicData>
        </a:graphic>
      </p:graphicFrame>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a:xfrm>
            <a:off x="998400" y="431800"/>
            <a:ext cx="10195200" cy="533400"/>
          </a:xfrm>
        </p:spPr>
        <p:txBody>
          <a:bodyPr vert="horz"/>
          <a:lstStyle/>
          <a:p>
            <a:r>
              <a:rPr lang="en-US"/>
              <a:t>7. Scope of work (1/3)</a:t>
            </a:r>
          </a:p>
        </p:txBody>
      </p:sp>
      <p:sp>
        <p:nvSpPr>
          <p:cNvPr id="76" name="UpSlide SubSection Marker" hidden="1">
            <a:extLst>
              <a:ext uri="{FF2B5EF4-FFF2-40B4-BE49-F238E27FC236}">
                <a16:creationId xmlns:a16="http://schemas.microsoft.com/office/drawing/2014/main" id="{3E8723D6-CB67-BE1C-855A-42C9A066EFDE}"/>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Scope of work</a:t>
            </a:r>
          </a:p>
        </p:txBody>
      </p:sp>
      <p:grpSp>
        <p:nvGrpSpPr>
          <p:cNvPr id="60" name="Group 59">
            <a:extLst>
              <a:ext uri="{FF2B5EF4-FFF2-40B4-BE49-F238E27FC236}">
                <a16:creationId xmlns:a16="http://schemas.microsoft.com/office/drawing/2014/main" id="{52C6ADF6-914C-A41D-8B0D-F6F62030A9A7}"/>
              </a:ext>
            </a:extLst>
          </p:cNvPr>
          <p:cNvGrpSpPr/>
          <p:nvPr>
            <p:custDataLst>
              <p:tags r:id="rId4"/>
            </p:custDataLst>
          </p:nvPr>
        </p:nvGrpSpPr>
        <p:grpSpPr>
          <a:xfrm>
            <a:off x="995364" y="153170"/>
            <a:ext cx="7409484" cy="195814"/>
            <a:chOff x="995364" y="153170"/>
            <a:chExt cx="7409484" cy="195814"/>
          </a:xfrm>
        </p:grpSpPr>
        <p:sp>
          <p:nvSpPr>
            <p:cNvPr id="61"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62"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63"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325196"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64"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7738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65"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574879"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66" name="Current Section6">
              <a:hlinkClick r:id="rId13" action="ppaction://hlinksldjump"/>
              <a:extLst>
                <a:ext uri="{FF2B5EF4-FFF2-40B4-BE49-F238E27FC236}">
                  <a16:creationId xmlns:a16="http://schemas.microsoft.com/office/drawing/2014/main" id="{89A61135-1F00-E77F-7C78-5FBA241A5742}"/>
                </a:ext>
              </a:extLst>
            </p:cNvPr>
            <p:cNvSpPr>
              <a:spLocks/>
            </p:cNvSpPr>
            <p:nvPr/>
          </p:nvSpPr>
          <p:spPr>
            <a:xfrm>
              <a:off x="7675949"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4183054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B03A8846-E250-4E84-B454-5D4D5664E615}"/>
              </a:ext>
            </a:extLst>
          </p:cNvPr>
          <p:cNvSpPr/>
          <p:nvPr/>
        </p:nvSpPr>
        <p:spPr>
          <a:xfrm>
            <a:off x="841326" y="1330325"/>
            <a:ext cx="10509347" cy="14827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graphicFrame>
        <p:nvGraphicFramePr>
          <p:cNvPr id="5" name="Table 4">
            <a:extLst>
              <a:ext uri="{FF2B5EF4-FFF2-40B4-BE49-F238E27FC236}">
                <a16:creationId xmlns:a16="http://schemas.microsoft.com/office/drawing/2014/main" id="{13478B40-95D9-4967-9FFF-8AA9D03AF4F2}"/>
              </a:ext>
            </a:extLst>
          </p:cNvPr>
          <p:cNvGraphicFramePr>
            <a:graphicFrameLocks noGrp="1"/>
          </p:cNvGraphicFramePr>
          <p:nvPr>
            <p:custDataLst>
              <p:tags r:id="rId2"/>
            </p:custDataLst>
            <p:extLst>
              <p:ext uri="{D42A27DB-BD31-4B8C-83A1-F6EECF244321}">
                <p14:modId xmlns:p14="http://schemas.microsoft.com/office/powerpoint/2010/main" val="305446506"/>
              </p:ext>
            </p:extLst>
          </p:nvPr>
        </p:nvGraphicFramePr>
        <p:xfrm>
          <a:off x="961540" y="970280"/>
          <a:ext cx="10268917" cy="4973320"/>
        </p:xfrm>
        <a:graphic>
          <a:graphicData uri="http://schemas.openxmlformats.org/drawingml/2006/table">
            <a:tbl>
              <a:tblPr firstRow="1" bandRow="1">
                <a:tableStyleId>{5C22544A-7EE6-4342-B048-85BDC9FD1C3A}</a:tableStyleId>
              </a:tblPr>
              <a:tblGrid>
                <a:gridCol w="1404552">
                  <a:extLst>
                    <a:ext uri="{9D8B030D-6E8A-4147-A177-3AD203B41FA5}">
                      <a16:colId xmlns:a16="http://schemas.microsoft.com/office/drawing/2014/main" val="20000"/>
                    </a:ext>
                  </a:extLst>
                </a:gridCol>
                <a:gridCol w="6009471">
                  <a:extLst>
                    <a:ext uri="{9D8B030D-6E8A-4147-A177-3AD203B41FA5}">
                      <a16:colId xmlns:a16="http://schemas.microsoft.com/office/drawing/2014/main" val="20001"/>
                    </a:ext>
                  </a:extLst>
                </a:gridCol>
                <a:gridCol w="659004">
                  <a:extLst>
                    <a:ext uri="{9D8B030D-6E8A-4147-A177-3AD203B41FA5}">
                      <a16:colId xmlns:a16="http://schemas.microsoft.com/office/drawing/2014/main" val="20002"/>
                    </a:ext>
                  </a:extLst>
                </a:gridCol>
                <a:gridCol w="2195890">
                  <a:extLst>
                    <a:ext uri="{9D8B030D-6E8A-4147-A177-3AD203B41FA5}">
                      <a16:colId xmlns:a16="http://schemas.microsoft.com/office/drawing/2014/main" val="3738205697"/>
                    </a:ext>
                  </a:extLst>
                </a:gridCol>
              </a:tblGrid>
              <a:tr h="303680">
                <a:tc>
                  <a:txBody>
                    <a:bodyPr/>
                    <a:lstStyle/>
                    <a:p>
                      <a:pPr>
                        <a:lnSpc>
                          <a:spcPct val="97000"/>
                        </a:lnSpc>
                        <a:spcBef>
                          <a:spcPts val="0"/>
                        </a:spcBef>
                        <a:spcAft>
                          <a:spcPts val="600"/>
                        </a:spcAft>
                      </a:pPr>
                      <a:r>
                        <a:rPr lang="en-US" sz="1000" b="1" u="none">
                          <a:solidFill>
                            <a:schemeClr val="bg1"/>
                          </a:solidFill>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1" u="none">
                          <a:solidFill>
                            <a:schemeClr val="bg1"/>
                          </a:solidFill>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ct val="97000"/>
                        </a:lnSpc>
                        <a:spcBef>
                          <a:spcPts val="0"/>
                        </a:spcBef>
                        <a:spcAft>
                          <a:spcPts val="600"/>
                        </a:spcAft>
                      </a:pPr>
                      <a:r>
                        <a:rPr lang="en-US" sz="1000" b="1" u="none">
                          <a:solidFill>
                            <a:schemeClr val="bg1"/>
                          </a:solidFill>
                        </a:rPr>
                        <a:t>Status</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lnSpc>
                          <a:spcPct val="97000"/>
                        </a:lnSpc>
                        <a:spcBef>
                          <a:spcPts val="0"/>
                        </a:spcBef>
                        <a:spcAft>
                          <a:spcPts val="600"/>
                        </a:spcAft>
                      </a:pPr>
                      <a:r>
                        <a:rPr lang="en-US" sz="1000" b="1" u="none">
                          <a:solidFill>
                            <a:schemeClr val="bg1"/>
                          </a:solidFill>
                        </a:rPr>
                        <a:t>Comment</a:t>
                      </a:r>
                    </a:p>
                  </a:txBody>
                  <a:tcPr marL="72000" marR="72000" marT="72000" marB="72000" anchor="ctr">
                    <a:lnL w="9525"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4669640">
                <a:tc>
                  <a:txBody>
                    <a:bodyPr/>
                    <a:lstStyle/>
                    <a:p>
                      <a:pPr>
                        <a:lnSpc>
                          <a:spcPct val="100000"/>
                        </a:lnSpc>
                        <a:spcBef>
                          <a:spcPts val="0"/>
                        </a:spcBef>
                        <a:spcAft>
                          <a:spcPts val="600"/>
                        </a:spcAft>
                      </a:pPr>
                      <a:r>
                        <a:rPr lang="en-US" sz="1000" b="1" u="none">
                          <a:solidFill>
                            <a:schemeClr val="tx2"/>
                          </a:solidFill>
                        </a:rPr>
                        <a:t>Quality of earnings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28600" marR="0" lvl="2" indent="-228600" algn="l" defTabSz="914400" rtl="0" eaLnBrk="1" fontAlgn="auto" latinLnBrk="0" hangingPunct="1">
                        <a:lnSpc>
                          <a:spcPct val="100000"/>
                        </a:lnSpc>
                        <a:spcBef>
                          <a:spcPts val="0"/>
                        </a:spcBef>
                        <a:spcAft>
                          <a:spcPts val="600"/>
                        </a:spcAft>
                        <a:buClrTx/>
                        <a:buSzTx/>
                        <a:buFont typeface="+mj-lt"/>
                        <a:buAutoNum type="alphaLcParenR"/>
                        <a:tabLst/>
                        <a:defRPr/>
                      </a:pPr>
                      <a:r>
                        <a:rPr lang="en-US" sz="1000" u="none"/>
                        <a:t>Consider the quality of earnings analysis prepared by the sell side. Form a view on seller proposed adjustments, and consider whether other adjustments might be considered, including:</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lang="en-US" sz="1000" u="none"/>
                        <a:t>Capitalized R&amp;D and other internal costs;</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lang="en-US" sz="1000" u="none"/>
                        <a:t>Commissions and contract assets;</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lang="en-US" sz="1000" u="none"/>
                        <a:t>Accounting adjustments;</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lang="en-US" sz="1000" u="none"/>
                        <a:t>One-time items.</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lang="en-US" sz="1000" u="none"/>
                        <a:t>Treatment of FX</a:t>
                      </a:r>
                    </a:p>
                    <a:p>
                      <a:pPr marL="228600" marR="0" lvl="2" indent="-228600" algn="l" defTabSz="914400" rtl="0" eaLnBrk="1" fontAlgn="auto" latinLnBrk="0" hangingPunct="1">
                        <a:lnSpc>
                          <a:spcPct val="100000"/>
                        </a:lnSpc>
                        <a:spcBef>
                          <a:spcPts val="0"/>
                        </a:spcBef>
                        <a:spcAft>
                          <a:spcPts val="600"/>
                        </a:spcAft>
                        <a:buClrTx/>
                        <a:buSzTx/>
                        <a:buFont typeface="+mj-lt"/>
                        <a:buAutoNum type="alphaLcParenR"/>
                        <a:tabLst/>
                        <a:defRPr/>
                      </a:pPr>
                      <a:r>
                        <a:rPr lang="en-US" sz="1000" u="none"/>
                        <a:t>Perform an analysis of adjusted EBITDA compared to free cash flow and set out key considerations in relation to EBITDA to cash flow conversion.</a:t>
                      </a:r>
                    </a:p>
                    <a:p>
                      <a:pPr marL="228600" marR="0" lvl="2" indent="-228600" algn="l" defTabSz="914400" rtl="0" eaLnBrk="1" fontAlgn="auto" latinLnBrk="0" hangingPunct="1">
                        <a:lnSpc>
                          <a:spcPct val="100000"/>
                        </a:lnSpc>
                        <a:spcBef>
                          <a:spcPts val="0"/>
                        </a:spcBef>
                        <a:spcAft>
                          <a:spcPts val="600"/>
                        </a:spcAft>
                        <a:buClrTx/>
                        <a:buSzTx/>
                        <a:buFont typeface="+mj-lt"/>
                        <a:buAutoNum type="alphaLcParenR"/>
                        <a:tabLst/>
                        <a:defRPr/>
                      </a:pPr>
                      <a:r>
                        <a:rPr lang="en-US" sz="1000" u="none"/>
                        <a:t>In support of the quality of earnings analysis, consider: </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lang="en-US" sz="1000" u="none"/>
                        <a:t>Information made available by the seller including vendor due diligence materials, internal and external financial statements or MD&amp;A material, board presentations, management Q&amp;A, and other relevant information provided;</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lang="en-US" sz="1000" u="none"/>
                        <a:t>Monthly trending of income statement captions;</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lang="en-US" sz="1000" u="none"/>
                        <a:t>Balance sheet support provided by the seller; and</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lang="en-US" sz="1000" u="none"/>
                        <a:t>The results of the quality of revenue analysis.</a:t>
                      </a:r>
                    </a:p>
                    <a:p>
                      <a:pPr marL="228600" marR="0" lvl="2" indent="-228600" algn="l" defTabSz="914400" rtl="0" eaLnBrk="1" fontAlgn="auto" latinLnBrk="0" hangingPunct="1">
                        <a:lnSpc>
                          <a:spcPct val="100000"/>
                        </a:lnSpc>
                        <a:spcBef>
                          <a:spcPts val="0"/>
                        </a:spcBef>
                        <a:spcAft>
                          <a:spcPts val="600"/>
                        </a:spcAft>
                        <a:buClrTx/>
                        <a:buSzTx/>
                        <a:buFont typeface="+mj-lt"/>
                        <a:buAutoNum type="alphaLcParenR"/>
                        <a:tabLst/>
                        <a:defRPr/>
                      </a:pPr>
                      <a:r>
                        <a:rPr lang="en-US" sz="1000" u="none"/>
                        <a:t>Consider items with a full year EBITDA impact, and quantify where possible, including: </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lang="en-US" sz="1000" u="none"/>
                        <a:t>Latest ARR (including consideration of churned and booked-not-billed customers); and</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lang="en-US" sz="1000" u="none"/>
                        <a:t>Investment or changes in the cost base of the business.</a:t>
                      </a:r>
                    </a:p>
                    <a:p>
                      <a:pPr marL="228600" marR="0" lvl="2" indent="-228600" algn="l" defTabSz="914400" rtl="0" eaLnBrk="1" fontAlgn="auto" latinLnBrk="0" hangingPunct="1">
                        <a:lnSpc>
                          <a:spcPct val="100000"/>
                        </a:lnSpc>
                        <a:spcBef>
                          <a:spcPts val="0"/>
                        </a:spcBef>
                        <a:spcAft>
                          <a:spcPts val="600"/>
                        </a:spcAft>
                        <a:buClrTx/>
                        <a:buSzTx/>
                        <a:buFont typeface="+mj-lt"/>
                        <a:buAutoNum type="alphaLcParenR"/>
                        <a:tabLst/>
                        <a:defRPr/>
                      </a:pPr>
                      <a:r>
                        <a:rPr lang="en-US" sz="1000" u="none"/>
                        <a:t>Perform other Phase 2 top up due diligence as requested by you (e.g. roll forward of quality of earnings analysis to a more recent date).</a:t>
                      </a:r>
                      <a:endParaRPr kumimoji="0" lang="en-US" sz="1000" b="0" i="0" u="none" strike="noStrike" kern="1200" cap="none" spc="0" normalizeH="0" baseline="0" noProof="0">
                        <a:ln>
                          <a:noFill/>
                        </a:ln>
                        <a:solidFill>
                          <a:srgbClr val="000000"/>
                        </a:solidFill>
                        <a:effectLst/>
                        <a:uLnTx/>
                        <a:uFillTx/>
                        <a:latin typeface="Arial"/>
                        <a:ea typeface="+mn-ea"/>
                        <a:cs typeface="+mn-cs"/>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u="none">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6377961"/>
                  </a:ext>
                </a:extLst>
              </a:tr>
            </a:tbl>
          </a:graphicData>
        </a:graphic>
      </p:graphicFrame>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a:xfrm>
            <a:off x="998400" y="431800"/>
            <a:ext cx="10195200" cy="533400"/>
          </a:xfrm>
        </p:spPr>
        <p:txBody>
          <a:bodyPr vert="horz"/>
          <a:lstStyle/>
          <a:p>
            <a:r>
              <a:rPr lang="en-US"/>
              <a:t>7. Scope of work (2/3)</a:t>
            </a:r>
          </a:p>
        </p:txBody>
      </p:sp>
      <p:sp>
        <p:nvSpPr>
          <p:cNvPr id="76" name="UpSlide SubSection Marker" hidden="1">
            <a:extLst>
              <a:ext uri="{FF2B5EF4-FFF2-40B4-BE49-F238E27FC236}">
                <a16:creationId xmlns:a16="http://schemas.microsoft.com/office/drawing/2014/main" id="{3E8723D6-CB67-BE1C-855A-42C9A066EFDE}"/>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Scope of work</a:t>
            </a:r>
          </a:p>
        </p:txBody>
      </p:sp>
      <p:grpSp>
        <p:nvGrpSpPr>
          <p:cNvPr id="60" name="Group 59">
            <a:extLst>
              <a:ext uri="{FF2B5EF4-FFF2-40B4-BE49-F238E27FC236}">
                <a16:creationId xmlns:a16="http://schemas.microsoft.com/office/drawing/2014/main" id="{52C6ADF6-914C-A41D-8B0D-F6F62030A9A7}"/>
              </a:ext>
            </a:extLst>
          </p:cNvPr>
          <p:cNvGrpSpPr/>
          <p:nvPr>
            <p:custDataLst>
              <p:tags r:id="rId4"/>
            </p:custDataLst>
          </p:nvPr>
        </p:nvGrpSpPr>
        <p:grpSpPr>
          <a:xfrm>
            <a:off x="995364" y="153170"/>
            <a:ext cx="7409484" cy="195814"/>
            <a:chOff x="995364" y="153170"/>
            <a:chExt cx="7409484" cy="195814"/>
          </a:xfrm>
        </p:grpSpPr>
        <p:sp>
          <p:nvSpPr>
            <p:cNvPr id="61"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62"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63"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325196"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64"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7738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65"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574879"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66" name="Current Section6">
              <a:hlinkClick r:id="rId13" action="ppaction://hlinksldjump"/>
              <a:extLst>
                <a:ext uri="{FF2B5EF4-FFF2-40B4-BE49-F238E27FC236}">
                  <a16:creationId xmlns:a16="http://schemas.microsoft.com/office/drawing/2014/main" id="{89A61135-1F00-E77F-7C78-5FBA241A5742}"/>
                </a:ext>
              </a:extLst>
            </p:cNvPr>
            <p:cNvSpPr>
              <a:spLocks/>
            </p:cNvSpPr>
            <p:nvPr/>
          </p:nvSpPr>
          <p:spPr>
            <a:xfrm>
              <a:off x="7675949"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5390813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B03A8846-E250-4E84-B454-5D4D5664E615}"/>
              </a:ext>
            </a:extLst>
          </p:cNvPr>
          <p:cNvSpPr/>
          <p:nvPr/>
        </p:nvSpPr>
        <p:spPr>
          <a:xfrm>
            <a:off x="841326" y="1330325"/>
            <a:ext cx="10509347" cy="14827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graphicFrame>
        <p:nvGraphicFramePr>
          <p:cNvPr id="5" name="Table 4">
            <a:extLst>
              <a:ext uri="{FF2B5EF4-FFF2-40B4-BE49-F238E27FC236}">
                <a16:creationId xmlns:a16="http://schemas.microsoft.com/office/drawing/2014/main" id="{13478B40-95D9-4967-9FFF-8AA9D03AF4F2}"/>
              </a:ext>
            </a:extLst>
          </p:cNvPr>
          <p:cNvGraphicFramePr>
            <a:graphicFrameLocks noGrp="1"/>
          </p:cNvGraphicFramePr>
          <p:nvPr>
            <p:custDataLst>
              <p:tags r:id="rId2"/>
            </p:custDataLst>
            <p:extLst>
              <p:ext uri="{D42A27DB-BD31-4B8C-83A1-F6EECF244321}">
                <p14:modId xmlns:p14="http://schemas.microsoft.com/office/powerpoint/2010/main" val="985268861"/>
              </p:ext>
            </p:extLst>
          </p:nvPr>
        </p:nvGraphicFramePr>
        <p:xfrm>
          <a:off x="951444" y="965200"/>
          <a:ext cx="10289110" cy="5005831"/>
        </p:xfrm>
        <a:graphic>
          <a:graphicData uri="http://schemas.openxmlformats.org/drawingml/2006/table">
            <a:tbl>
              <a:tblPr firstRow="1" bandRow="1">
                <a:tableStyleId>{5C22544A-7EE6-4342-B048-85BDC9FD1C3A}</a:tableStyleId>
              </a:tblPr>
              <a:tblGrid>
                <a:gridCol w="1407314">
                  <a:extLst>
                    <a:ext uri="{9D8B030D-6E8A-4147-A177-3AD203B41FA5}">
                      <a16:colId xmlns:a16="http://schemas.microsoft.com/office/drawing/2014/main" val="20000"/>
                    </a:ext>
                  </a:extLst>
                </a:gridCol>
                <a:gridCol w="6021288">
                  <a:extLst>
                    <a:ext uri="{9D8B030D-6E8A-4147-A177-3AD203B41FA5}">
                      <a16:colId xmlns:a16="http://schemas.microsoft.com/office/drawing/2014/main" val="20001"/>
                    </a:ext>
                  </a:extLst>
                </a:gridCol>
                <a:gridCol w="660300">
                  <a:extLst>
                    <a:ext uri="{9D8B030D-6E8A-4147-A177-3AD203B41FA5}">
                      <a16:colId xmlns:a16="http://schemas.microsoft.com/office/drawing/2014/main" val="20002"/>
                    </a:ext>
                  </a:extLst>
                </a:gridCol>
                <a:gridCol w="2200208">
                  <a:extLst>
                    <a:ext uri="{9D8B030D-6E8A-4147-A177-3AD203B41FA5}">
                      <a16:colId xmlns:a16="http://schemas.microsoft.com/office/drawing/2014/main" val="3738205697"/>
                    </a:ext>
                  </a:extLst>
                </a:gridCol>
              </a:tblGrid>
              <a:tr h="420334">
                <a:tc>
                  <a:txBody>
                    <a:bodyPr/>
                    <a:lstStyle/>
                    <a:p>
                      <a:pPr>
                        <a:lnSpc>
                          <a:spcPct val="97000"/>
                        </a:lnSpc>
                        <a:spcBef>
                          <a:spcPts val="0"/>
                        </a:spcBef>
                        <a:spcAft>
                          <a:spcPts val="600"/>
                        </a:spcAft>
                      </a:pPr>
                      <a:r>
                        <a:rPr lang="en-US" sz="1000" b="1" u="none">
                          <a:solidFill>
                            <a:schemeClr val="bg1"/>
                          </a:solidFill>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1" u="none">
                          <a:solidFill>
                            <a:schemeClr val="bg1"/>
                          </a:solidFill>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ct val="97000"/>
                        </a:lnSpc>
                        <a:spcBef>
                          <a:spcPts val="0"/>
                        </a:spcBef>
                        <a:spcAft>
                          <a:spcPts val="600"/>
                        </a:spcAft>
                      </a:pPr>
                      <a:r>
                        <a:rPr lang="en-US" sz="1000" b="1" u="none">
                          <a:solidFill>
                            <a:schemeClr val="bg1"/>
                          </a:solidFill>
                        </a:rPr>
                        <a:t>Status</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lnSpc>
                          <a:spcPct val="97000"/>
                        </a:lnSpc>
                        <a:spcBef>
                          <a:spcPts val="0"/>
                        </a:spcBef>
                        <a:spcAft>
                          <a:spcPts val="600"/>
                        </a:spcAft>
                      </a:pPr>
                      <a:r>
                        <a:rPr lang="en-US" sz="1000" b="1" u="none">
                          <a:solidFill>
                            <a:schemeClr val="bg1"/>
                          </a:solidFill>
                        </a:rPr>
                        <a:t>Comment</a:t>
                      </a:r>
                    </a:p>
                  </a:txBody>
                  <a:tcPr marL="72000" marR="72000" marT="72000" marB="72000" anchor="ctr">
                    <a:lnL w="9525"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2182994">
                <a:tc>
                  <a:txBody>
                    <a:bodyPr/>
                    <a:lstStyle/>
                    <a:p>
                      <a:pPr>
                        <a:lnSpc>
                          <a:spcPct val="100000"/>
                        </a:lnSpc>
                        <a:spcBef>
                          <a:spcPts val="0"/>
                        </a:spcBef>
                        <a:spcAft>
                          <a:spcPts val="600"/>
                        </a:spcAft>
                      </a:pPr>
                      <a:r>
                        <a:rPr lang="en-US" sz="1000" b="1" u="none">
                          <a:solidFill>
                            <a:schemeClr val="tx2"/>
                          </a:solidFill>
                        </a:rPr>
                        <a:t>Net working capital</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28600" marR="0" lvl="2" indent="-228600" algn="l" defTabSz="914400" rtl="0" eaLnBrk="1" fontAlgn="auto" latinLnBrk="0" hangingPunct="1">
                        <a:lnSpc>
                          <a:spcPct val="100000"/>
                        </a:lnSpc>
                        <a:spcBef>
                          <a:spcPts val="0"/>
                        </a:spcBef>
                        <a:spcAft>
                          <a:spcPts val="600"/>
                        </a:spcAft>
                        <a:buClrTx/>
                        <a:buSzTx/>
                        <a:buFont typeface="+mj-lt"/>
                        <a:buAutoNum type="alphaLcParenR"/>
                        <a:tabLst/>
                        <a:defRPr/>
                      </a:pPr>
                      <a:r>
                        <a:rPr lang="en-US" sz="1000" u="none"/>
                        <a:t>Consider the net working capital analysis provided by the seller, and consider a potential buy-side position. To consider:</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lang="en-US" sz="1000" u="none"/>
                        <a:t>Historical working capital turnover KPIs (e.g. DSO, DPO, deferred revenue days);</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lang="en-US" sz="1000" u="none"/>
                        <a:t>Accounting for key working capital balances including deferred revenue, accounts receivable and accounts payable;</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lang="en-US" sz="1000" u="none"/>
                        <a:t>Completeness of historical accruals and payables; and</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lang="en-US" sz="1000" u="none"/>
                        <a:t>Monthly vs annual accounting for judgmental balances such as bonuses.</a:t>
                      </a:r>
                      <a:endParaRPr kumimoji="0" lang="en-US" sz="1000" b="0" i="0" u="none" strike="noStrike" kern="1200" cap="none" spc="0" normalizeH="0" baseline="0" noProof="0">
                        <a:ln>
                          <a:noFill/>
                        </a:ln>
                        <a:solidFill>
                          <a:srgbClr val="000000"/>
                        </a:solidFill>
                        <a:effectLst/>
                        <a:uLnTx/>
                        <a:uFillTx/>
                        <a:latin typeface="Arial"/>
                        <a:ea typeface="+mn-ea"/>
                        <a:cs typeface="+mn-cs"/>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u="none">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6377961"/>
                  </a:ext>
                </a:extLst>
              </a:tr>
              <a:tr h="2402503">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1" u="none">
                          <a:solidFill>
                            <a:schemeClr val="tx2"/>
                          </a:solidFill>
                        </a:rPr>
                        <a:t>Locked box</a:t>
                      </a:r>
                    </a:p>
                    <a:p>
                      <a:pPr>
                        <a:lnSpc>
                          <a:spcPct val="100000"/>
                        </a:lnSpc>
                        <a:spcBef>
                          <a:spcPts val="0"/>
                        </a:spcBef>
                        <a:spcAft>
                          <a:spcPts val="600"/>
                        </a:spcAft>
                      </a:pPr>
                      <a:endParaRPr lang="en-US" sz="1000" b="1" u="none">
                        <a:solidFill>
                          <a:schemeClr val="tx2"/>
                        </a:solidFill>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28600" marR="0" lvl="2" indent="-228600" algn="l" defTabSz="914400" rtl="0" eaLnBrk="1" fontAlgn="auto" latinLnBrk="0" hangingPunct="1">
                        <a:lnSpc>
                          <a:spcPct val="100000"/>
                        </a:lnSpc>
                        <a:spcBef>
                          <a:spcPts val="0"/>
                        </a:spcBef>
                        <a:spcAft>
                          <a:spcPts val="600"/>
                        </a:spcAft>
                        <a:buClrTx/>
                        <a:buSzTx/>
                        <a:buFont typeface="+mj-lt"/>
                        <a:buAutoNum type="alphaLcParenR"/>
                        <a:tabLst/>
                        <a:defRPr/>
                      </a:pPr>
                      <a:r>
                        <a:rPr lang="en-US" sz="1000" u="none"/>
                        <a:t>Consider the locked box analysis provided by the seller, and consider a potential buy-side position. To consider:</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lang="en-US" sz="1000" u="none"/>
                        <a:t>Adjustments to working capital balances based on quality of earnings and net working capital analysis performed (e.g. calculation of deferred revenue; recoverability of accounts receivable);</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lang="en-US" sz="1000" u="none"/>
                        <a:t>Amounts owed to / owed from shareholders;</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lang="en-US" sz="1000" u="none"/>
                        <a:t>Tax exposures identified by your tax due diligence team; and</a:t>
                      </a:r>
                    </a:p>
                    <a:p>
                      <a:pPr marL="742950" marR="0" lvl="3" indent="-285750" algn="l" defTabSz="914400" rtl="0" eaLnBrk="1" fontAlgn="auto" latinLnBrk="0" hangingPunct="1">
                        <a:lnSpc>
                          <a:spcPct val="100000"/>
                        </a:lnSpc>
                        <a:spcBef>
                          <a:spcPts val="0"/>
                        </a:spcBef>
                        <a:spcAft>
                          <a:spcPts val="600"/>
                        </a:spcAft>
                        <a:buClrTx/>
                        <a:buSzTx/>
                        <a:buFont typeface="+mj-lt"/>
                        <a:buAutoNum type="romanLcPeriod"/>
                        <a:tabLst/>
                        <a:defRPr/>
                      </a:pPr>
                      <a:r>
                        <a:rPr lang="en-US" sz="1000" u="none"/>
                        <a:t>Other debt and debt-like balances that could be included in the locked box.</a:t>
                      </a:r>
                      <a:endParaRPr kumimoji="0" lang="en-US" sz="1000" b="0" i="0" u="none" strike="noStrike" kern="1200" cap="none" spc="0" normalizeH="0" baseline="0" noProof="0">
                        <a:ln>
                          <a:noFill/>
                        </a:ln>
                        <a:solidFill>
                          <a:srgbClr val="000000"/>
                        </a:solidFill>
                        <a:effectLst/>
                        <a:uLnTx/>
                        <a:uFillTx/>
                        <a:latin typeface="Arial"/>
                        <a:ea typeface="+mn-ea"/>
                        <a:cs typeface="+mn-cs"/>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97000"/>
                        </a:lnSpc>
                        <a:spcBef>
                          <a:spcPts val="0"/>
                        </a:spcBef>
                        <a:spcAft>
                          <a:spcPts val="400"/>
                        </a:spcAft>
                        <a:buClrTx/>
                        <a:buSzTx/>
                        <a:buFontTx/>
                        <a:buNone/>
                        <a:tabLst/>
                        <a:defRPr/>
                      </a:pPr>
                      <a:r>
                        <a:rPr lang="en-US" sz="1100" u="none">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Partially completed/ongoing</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bl>
          </a:graphicData>
        </a:graphic>
      </p:graphicFrame>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a:xfrm>
            <a:off x="998400" y="431800"/>
            <a:ext cx="10195200" cy="533400"/>
          </a:xfrm>
        </p:spPr>
        <p:txBody>
          <a:bodyPr vert="horz"/>
          <a:lstStyle/>
          <a:p>
            <a:r>
              <a:rPr lang="en-US"/>
              <a:t>7. Scope of work (3/3)</a:t>
            </a:r>
          </a:p>
        </p:txBody>
      </p:sp>
      <p:sp>
        <p:nvSpPr>
          <p:cNvPr id="76" name="UpSlide SubSection Marker" hidden="1">
            <a:extLst>
              <a:ext uri="{FF2B5EF4-FFF2-40B4-BE49-F238E27FC236}">
                <a16:creationId xmlns:a16="http://schemas.microsoft.com/office/drawing/2014/main" id="{3E8723D6-CB67-BE1C-855A-42C9A066EFDE}"/>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Scope of work</a:t>
            </a:r>
          </a:p>
        </p:txBody>
      </p:sp>
      <p:grpSp>
        <p:nvGrpSpPr>
          <p:cNvPr id="60" name="Group 59">
            <a:extLst>
              <a:ext uri="{FF2B5EF4-FFF2-40B4-BE49-F238E27FC236}">
                <a16:creationId xmlns:a16="http://schemas.microsoft.com/office/drawing/2014/main" id="{52C6ADF6-914C-A41D-8B0D-F6F62030A9A7}"/>
              </a:ext>
            </a:extLst>
          </p:cNvPr>
          <p:cNvGrpSpPr/>
          <p:nvPr>
            <p:custDataLst>
              <p:tags r:id="rId4"/>
            </p:custDataLst>
          </p:nvPr>
        </p:nvGrpSpPr>
        <p:grpSpPr>
          <a:xfrm>
            <a:off x="995364" y="153170"/>
            <a:ext cx="7409484" cy="195814"/>
            <a:chOff x="995364" y="153170"/>
            <a:chExt cx="7409484" cy="195814"/>
          </a:xfrm>
        </p:grpSpPr>
        <p:sp>
          <p:nvSpPr>
            <p:cNvPr id="61"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62"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28674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Quality of revenue / ARR</a:t>
              </a:r>
            </a:p>
          </p:txBody>
        </p:sp>
        <p:sp>
          <p:nvSpPr>
            <p:cNvPr id="63"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325196" y="153170"/>
              <a:ext cx="144864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Quality of earnings / run rate</a:t>
              </a:r>
              <a:endParaRPr lang="en-SG" sz="800">
                <a:solidFill>
                  <a:schemeClr val="bg2">
                    <a:lumMod val="75000"/>
                  </a:schemeClr>
                </a:solidFill>
                <a:latin typeface="Arial" panose="020B0604020202020204" pitchFamily="34" charset="0"/>
                <a:cs typeface="Arial" panose="020B0604020202020204" pitchFamily="34" charset="0"/>
              </a:endParaRPr>
            </a:p>
          </p:txBody>
        </p:sp>
        <p:sp>
          <p:nvSpPr>
            <p:cNvPr id="64"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7738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65"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574879" y="153170"/>
              <a:ext cx="210107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Financial reporting &amp; GAAP considerations</a:t>
              </a:r>
            </a:p>
          </p:txBody>
        </p:sp>
        <p:sp>
          <p:nvSpPr>
            <p:cNvPr id="66" name="Current Section6">
              <a:hlinkClick r:id="rId13" action="ppaction://hlinksldjump"/>
              <a:extLst>
                <a:ext uri="{FF2B5EF4-FFF2-40B4-BE49-F238E27FC236}">
                  <a16:creationId xmlns:a16="http://schemas.microsoft.com/office/drawing/2014/main" id="{89A61135-1F00-E77F-7C78-5FBA241A5742}"/>
                </a:ext>
              </a:extLst>
            </p:cNvPr>
            <p:cNvSpPr>
              <a:spLocks/>
            </p:cNvSpPr>
            <p:nvPr/>
          </p:nvSpPr>
          <p:spPr>
            <a:xfrm>
              <a:off x="7675949"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5338288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Placeholder 26">
            <a:extLst>
              <a:ext uri="{FF2B5EF4-FFF2-40B4-BE49-F238E27FC236}">
                <a16:creationId xmlns:a16="http://schemas.microsoft.com/office/drawing/2014/main" id="{D8EEFE52-F9CD-44AD-9833-B34B83EB9D1B}"/>
              </a:ext>
            </a:extLst>
          </p:cNvPr>
          <p:cNvSpPr>
            <a:spLocks noGrp="1"/>
          </p:cNvSpPr>
          <p:nvPr>
            <p:ph type="body" sz="quarter" idx="10"/>
          </p:nvPr>
        </p:nvSpPr>
        <p:spPr/>
        <p:txBody>
          <a:bodyPr/>
          <a:lstStyle/>
          <a:p>
            <a:pPr lvl="1"/>
            <a:r>
              <a:rPr lang="en-US" altLang="en-US"/>
              <a:t>© 2025 KPMG LLP, an Ontario limited liability partnership and a member firm of the KPMG global organization of independent member firms affiliated with KPMG International Limited is a private English company limited by guarantee and does not provide services to clients. For more detail about our structure please visit </a:t>
            </a:r>
            <a:r>
              <a:rPr lang="en-US" altLang="en-US">
                <a:hlinkClick r:id="rId3" action="ppaction://hlinkfile">
                  <a:extLst>
                    <a:ext uri="{A12FA001-AC4F-418D-AE19-62706E023703}">
                      <ahyp:hlinkClr xmlns:ahyp="http://schemas.microsoft.com/office/drawing/2018/hyperlinkcolor" val="tx"/>
                    </a:ext>
                  </a:extLst>
                </a:hlinkClick>
              </a:rPr>
              <a:t>kpmg.com/governance</a:t>
            </a:r>
            <a:r>
              <a:rPr lang="en-US" altLang="en-US"/>
              <a:t>.</a:t>
            </a:r>
          </a:p>
          <a:p>
            <a:pPr lvl="1"/>
            <a:r>
              <a:rPr lang="en-US" altLang="en-US"/>
              <a:t>The KPMG name and logo are trademarks used under license by the independent member firms of the KPMG global organization.</a:t>
            </a:r>
          </a:p>
        </p:txBody>
      </p:sp>
      <p:sp>
        <p:nvSpPr>
          <p:cNvPr id="46" name="Text Placeholder 12">
            <a:extLst>
              <a:ext uri="{FF2B5EF4-FFF2-40B4-BE49-F238E27FC236}">
                <a16:creationId xmlns:a16="http://schemas.microsoft.com/office/drawing/2014/main" id="{14A7CD99-A3EC-42D3-8374-7920826F32EE}"/>
              </a:ext>
            </a:extLst>
          </p:cNvPr>
          <p:cNvSpPr txBox="1">
            <a:spLocks/>
          </p:cNvSpPr>
          <p:nvPr/>
        </p:nvSpPr>
        <p:spPr>
          <a:xfrm>
            <a:off x="995363" y="1330325"/>
            <a:ext cx="10195199" cy="387798"/>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nSpc>
                <a:spcPct val="70000"/>
              </a:lnSpc>
              <a:spcAft>
                <a:spcPts val="0"/>
              </a:spcAft>
            </a:pPr>
            <a:r>
              <a:rPr lang="en-US" sz="3600" b="0" spc="-20">
                <a:solidFill>
                  <a:schemeClr val="bg1"/>
                </a:solidFill>
                <a:latin typeface="+mj-lt"/>
              </a:rPr>
              <a:t>The contacts at KPMG in connection with this report are:</a:t>
            </a:r>
          </a:p>
        </p:txBody>
      </p:sp>
      <p:sp>
        <p:nvSpPr>
          <p:cNvPr id="45" name="Isosceles Triangle 44">
            <a:extLst>
              <a:ext uri="{FF2B5EF4-FFF2-40B4-BE49-F238E27FC236}">
                <a16:creationId xmlns:a16="http://schemas.microsoft.com/office/drawing/2014/main" id="{8265D0DE-0EE4-4F51-A562-2D6D22119A48}"/>
              </a:ext>
            </a:extLst>
          </p:cNvPr>
          <p:cNvSpPr/>
          <p:nvPr/>
        </p:nvSpPr>
        <p:spPr>
          <a:xfrm rot="5400000">
            <a:off x="11877178" y="179136"/>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7" name="Isosceles Triangle 46">
            <a:extLst>
              <a:ext uri="{FF2B5EF4-FFF2-40B4-BE49-F238E27FC236}">
                <a16:creationId xmlns:a16="http://schemas.microsoft.com/office/drawing/2014/main" id="{37FD5A71-E9A9-4FA6-AED8-54E17ACA5928}"/>
              </a:ext>
            </a:extLst>
          </p:cNvPr>
          <p:cNvSpPr/>
          <p:nvPr/>
        </p:nvSpPr>
        <p:spPr>
          <a:xfrm rot="16200000" flipH="1">
            <a:off x="11315057" y="179136"/>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8" name="Oval 47">
            <a:hlinkClick r:id="" action="ppaction://hlinkshowjump?jump=nextslide"/>
            <a:extLst>
              <a:ext uri="{FF2B5EF4-FFF2-40B4-BE49-F238E27FC236}">
                <a16:creationId xmlns:a16="http://schemas.microsoft.com/office/drawing/2014/main" id="{4F9039CF-00DA-4F4B-82F6-081D6DA86417}"/>
              </a:ext>
            </a:extLst>
          </p:cNvPr>
          <p:cNvSpPr/>
          <p:nvPr/>
        </p:nvSpPr>
        <p:spPr>
          <a:xfrm>
            <a:off x="11799231" y="103574"/>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9" name="Oval 48">
            <a:hlinkClick r:id="" action="ppaction://hlinkshowjump?jump=previousslide"/>
            <a:extLst>
              <a:ext uri="{FF2B5EF4-FFF2-40B4-BE49-F238E27FC236}">
                <a16:creationId xmlns:a16="http://schemas.microsoft.com/office/drawing/2014/main" id="{70B96D97-53AA-4CB7-AB83-DD2A8BEA9F3C}"/>
              </a:ext>
            </a:extLst>
          </p:cNvPr>
          <p:cNvSpPr/>
          <p:nvPr/>
        </p:nvSpPr>
        <p:spPr>
          <a:xfrm flipH="1">
            <a:off x="11255557" y="103574"/>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50" name="Graphic 49" descr="Home">
            <a:hlinkClick r:id="rId4" action="ppaction://hlinksldjump"/>
            <a:extLst>
              <a:ext uri="{FF2B5EF4-FFF2-40B4-BE49-F238E27FC236}">
                <a16:creationId xmlns:a16="http://schemas.microsoft.com/office/drawing/2014/main" id="{225AE20A-E583-452A-837D-35A761E41C05}"/>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34459" y="103561"/>
            <a:ext cx="222478" cy="222478"/>
          </a:xfrm>
          <a:prstGeom prst="rect">
            <a:avLst/>
          </a:prstGeom>
        </p:spPr>
      </p:pic>
      <p:sp>
        <p:nvSpPr>
          <p:cNvPr id="2" name="UpSlide SubSection Marker" hidden="1">
            <a:extLst>
              <a:ext uri="{FF2B5EF4-FFF2-40B4-BE49-F238E27FC236}">
                <a16:creationId xmlns:a16="http://schemas.microsoft.com/office/drawing/2014/main" id="{5598FC92-B2FB-4C55-F412-83CA4B1AF8B0}"/>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Glossary</a:t>
            </a:r>
          </a:p>
        </p:txBody>
      </p:sp>
      <p:sp>
        <p:nvSpPr>
          <p:cNvPr id="4" name="Text Placeholder 23">
            <a:extLst>
              <a:ext uri="{FF2B5EF4-FFF2-40B4-BE49-F238E27FC236}">
                <a16:creationId xmlns:a16="http://schemas.microsoft.com/office/drawing/2014/main" id="{C68F83C7-85B8-8119-6CFE-AA5FD9E6B1C3}"/>
              </a:ext>
            </a:extLst>
          </p:cNvPr>
          <p:cNvSpPr txBox="1">
            <a:spLocks/>
          </p:cNvSpPr>
          <p:nvPr/>
        </p:nvSpPr>
        <p:spPr>
          <a:xfrm>
            <a:off x="6219328" y="2574930"/>
            <a:ext cx="2359251" cy="846386"/>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Andrew Gladiuk</a:t>
            </a:r>
          </a:p>
          <a:p>
            <a:pPr lvl="1">
              <a:spcAft>
                <a:spcPts val="300"/>
              </a:spcAft>
            </a:pPr>
            <a:r>
              <a:rPr lang="en-US" sz="900">
                <a:solidFill>
                  <a:schemeClr val="bg1"/>
                </a:solidFill>
                <a:latin typeface="+mn-lt"/>
              </a:rPr>
              <a:t>Senior Manager, Financial Due Diligence</a:t>
            </a:r>
          </a:p>
          <a:p>
            <a:pPr lvl="1" defTabSz="269868">
              <a:spcAft>
                <a:spcPts val="300"/>
              </a:spcAft>
            </a:pPr>
            <a:r>
              <a:rPr lang="en-US" sz="900" b="1">
                <a:solidFill>
                  <a:schemeClr val="bg1"/>
                </a:solidFill>
                <a:latin typeface="+mn-lt"/>
              </a:rPr>
              <a:t>T: </a:t>
            </a:r>
            <a:r>
              <a:rPr lang="en-US" sz="900">
                <a:solidFill>
                  <a:schemeClr val="bg1"/>
                </a:solidFill>
                <a:latin typeface="+mn-lt"/>
              </a:rPr>
              <a:t>+1 250 244 0839</a:t>
            </a:r>
          </a:p>
          <a:p>
            <a:pPr lvl="1" defTabSz="269868">
              <a:spcAft>
                <a:spcPts val="300"/>
              </a:spcAft>
            </a:pPr>
            <a:r>
              <a:rPr lang="en-US" sz="900" b="1">
                <a:solidFill>
                  <a:schemeClr val="bg1"/>
                </a:solidFill>
                <a:latin typeface="+mn-lt"/>
              </a:rPr>
              <a:t>E: </a:t>
            </a:r>
            <a:r>
              <a:rPr lang="en-US" sz="900">
                <a:solidFill>
                  <a:schemeClr val="bg1"/>
                </a:solidFill>
                <a:latin typeface="+mn-lt"/>
              </a:rPr>
              <a:t>andrewgladiuk@kpmg.ca</a:t>
            </a:r>
          </a:p>
          <a:p>
            <a:pPr>
              <a:spcBef>
                <a:spcPts val="0"/>
              </a:spcBef>
            </a:pPr>
            <a:endParaRPr lang="en-US" sz="900">
              <a:solidFill>
                <a:schemeClr val="bg1"/>
              </a:solidFill>
              <a:latin typeface="+mn-lt"/>
            </a:endParaRPr>
          </a:p>
        </p:txBody>
      </p:sp>
      <p:sp>
        <p:nvSpPr>
          <p:cNvPr id="6" name="Text Placeholder 19">
            <a:extLst>
              <a:ext uri="{FF2B5EF4-FFF2-40B4-BE49-F238E27FC236}">
                <a16:creationId xmlns:a16="http://schemas.microsoft.com/office/drawing/2014/main" id="{1424D3BD-FA1E-E6BF-9A38-565CDECA2D4B}"/>
              </a:ext>
            </a:extLst>
          </p:cNvPr>
          <p:cNvSpPr txBox="1">
            <a:spLocks/>
          </p:cNvSpPr>
          <p:nvPr/>
        </p:nvSpPr>
        <p:spPr>
          <a:xfrm>
            <a:off x="995364" y="2574930"/>
            <a:ext cx="2359251" cy="846386"/>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James Gillard</a:t>
            </a:r>
          </a:p>
          <a:p>
            <a:pPr lvl="1">
              <a:spcAft>
                <a:spcPts val="300"/>
              </a:spcAft>
            </a:pPr>
            <a:r>
              <a:rPr lang="en-US" sz="900">
                <a:solidFill>
                  <a:schemeClr val="bg1"/>
                </a:solidFill>
                <a:latin typeface="+mn-lt"/>
              </a:rPr>
              <a:t>Partner, Financial Due Diligence</a:t>
            </a:r>
          </a:p>
          <a:p>
            <a:pPr lvl="1" defTabSz="269868">
              <a:spcAft>
                <a:spcPts val="300"/>
              </a:spcAft>
            </a:pPr>
            <a:r>
              <a:rPr lang="en-US" sz="900" b="1">
                <a:solidFill>
                  <a:schemeClr val="bg1"/>
                </a:solidFill>
                <a:latin typeface="+mn-lt"/>
              </a:rPr>
              <a:t>T: </a:t>
            </a:r>
            <a:r>
              <a:rPr lang="en-US" sz="900">
                <a:solidFill>
                  <a:schemeClr val="bg1"/>
                </a:solidFill>
                <a:latin typeface="+mn-lt"/>
              </a:rPr>
              <a:t>+1 604 691 3259</a:t>
            </a:r>
          </a:p>
          <a:p>
            <a:pPr lvl="1" defTabSz="269868">
              <a:spcAft>
                <a:spcPts val="300"/>
              </a:spcAft>
            </a:pPr>
            <a:r>
              <a:rPr lang="en-US" sz="900" b="1">
                <a:solidFill>
                  <a:schemeClr val="bg1"/>
                </a:solidFill>
                <a:latin typeface="+mn-lt"/>
              </a:rPr>
              <a:t>E: </a:t>
            </a:r>
            <a:r>
              <a:rPr lang="en-US" sz="900">
                <a:solidFill>
                  <a:schemeClr val="bg1"/>
                </a:solidFill>
                <a:latin typeface="+mn-lt"/>
              </a:rPr>
              <a:t>jamesgillard@kpmg.ca</a:t>
            </a:r>
          </a:p>
          <a:p>
            <a:pPr>
              <a:spcBef>
                <a:spcPts val="0"/>
              </a:spcBef>
            </a:pPr>
            <a:endParaRPr lang="en-US" sz="900">
              <a:solidFill>
                <a:schemeClr val="bg1"/>
              </a:solidFill>
              <a:latin typeface="+mn-lt"/>
            </a:endParaRPr>
          </a:p>
        </p:txBody>
      </p:sp>
      <p:sp>
        <p:nvSpPr>
          <p:cNvPr id="7" name="Text Placeholder 21">
            <a:extLst>
              <a:ext uri="{FF2B5EF4-FFF2-40B4-BE49-F238E27FC236}">
                <a16:creationId xmlns:a16="http://schemas.microsoft.com/office/drawing/2014/main" id="{EE2113E4-E907-46B0-9588-FFEC5307AFA0}"/>
              </a:ext>
            </a:extLst>
          </p:cNvPr>
          <p:cNvSpPr txBox="1">
            <a:spLocks/>
          </p:cNvSpPr>
          <p:nvPr/>
        </p:nvSpPr>
        <p:spPr>
          <a:xfrm>
            <a:off x="3607345" y="2574930"/>
            <a:ext cx="2359251" cy="807913"/>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Ian Wilshaw</a:t>
            </a:r>
          </a:p>
          <a:p>
            <a:pPr lvl="1" defTabSz="269868">
              <a:spcAft>
                <a:spcPts val="300"/>
              </a:spcAft>
            </a:pPr>
            <a:r>
              <a:rPr lang="en-US" sz="900">
                <a:solidFill>
                  <a:schemeClr val="bg1"/>
                </a:solidFill>
                <a:latin typeface="+mn-lt"/>
              </a:rPr>
              <a:t>Partner, Financial Due Diligence</a:t>
            </a:r>
            <a:br>
              <a:rPr lang="en-US" sz="900">
                <a:solidFill>
                  <a:schemeClr val="bg1"/>
                </a:solidFill>
                <a:latin typeface="+mn-lt"/>
              </a:rPr>
            </a:br>
            <a:r>
              <a:rPr lang="en-US" sz="900" b="1">
                <a:solidFill>
                  <a:schemeClr val="bg1"/>
                </a:solidFill>
                <a:latin typeface="+mn-lt"/>
              </a:rPr>
              <a:t>T: </a:t>
            </a:r>
            <a:r>
              <a:rPr lang="en-US" sz="900">
                <a:solidFill>
                  <a:schemeClr val="bg1"/>
                </a:solidFill>
                <a:latin typeface="+mn-lt"/>
              </a:rPr>
              <a:t>+1 604 691 3557</a:t>
            </a:r>
          </a:p>
          <a:p>
            <a:pPr lvl="1" defTabSz="269868">
              <a:spcAft>
                <a:spcPts val="300"/>
              </a:spcAft>
            </a:pPr>
            <a:r>
              <a:rPr lang="en-US" sz="900" b="1">
                <a:solidFill>
                  <a:schemeClr val="bg1"/>
                </a:solidFill>
                <a:latin typeface="+mn-lt"/>
              </a:rPr>
              <a:t>E: </a:t>
            </a:r>
            <a:r>
              <a:rPr lang="en-US" sz="900">
                <a:solidFill>
                  <a:schemeClr val="bg1"/>
                </a:solidFill>
                <a:latin typeface="+mn-lt"/>
              </a:rPr>
              <a:t>idwilshaw@kpmg.ca</a:t>
            </a:r>
          </a:p>
          <a:p>
            <a:pPr>
              <a:spcBef>
                <a:spcPts val="0"/>
              </a:spcBef>
            </a:pPr>
            <a:endParaRPr lang="en-US" sz="900">
              <a:solidFill>
                <a:schemeClr val="bg1"/>
              </a:solidFill>
              <a:latin typeface="+mn-lt"/>
            </a:endParaRPr>
          </a:p>
        </p:txBody>
      </p:sp>
    </p:spTree>
    <p:extLst>
      <p:ext uri="{BB962C8B-B14F-4D97-AF65-F5344CB8AC3E}">
        <p14:creationId xmlns:p14="http://schemas.microsoft.com/office/powerpoint/2010/main" val="31039688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USED" val="KPMGFONT"/>
  <p:tag name="CREATEDBY" val="Global PowerPoint Toolbar"/>
  <p:tag name="TOOLBARVERSION" val="5.30a"/>
  <p:tag name="TYPE" val="ScreenWide"/>
  <p:tag name="KEYWORD" val="SCREENWIDE"/>
  <p:tag name="TEMPLATEVERSION" val="17/07/2017 11:56:04"/>
  <p:tag name="UPSLIDETOCALGOID" val="Standard"/>
  <p:tag name="UPSLIDE" val="KPM02442_Diligence + Template V2_10-05-2023"/>
  <p:tag name="TEMPLATESHORTNAMETAG" val="Diligence+ Template"/>
  <p:tag name="TEMPLATEFULLNAMETAG" val="Diligence+ Template"/>
  <p:tag name="TEMPLATEDETAILSTAG" val="Diligence+ Template"/>
  <p:tag name="UPSLIDEPRINTFACINGPAGESDESIGN" val="KPMG Widescreen - UpSlide"/>
  <p:tag name="UPSLIDEPRINTFACINGPAGESLAYOUT" val="TITLE SLIDE Left Horizontal Window_KPMG Blue"/>
  <p:tag name="UPSLIDEVERSION" val="6.9.1.2"/>
  <p:tag name="UPSLIDEFOOTNOTEOPTIONS" val="{&#10;  &quot;Multiline&quot;: false,&#10;  &quot;Numbering&quot;: 1,&#10;  &quot;SuperscriptFormat&quot;: 0&#10;}"/>
  <p:tag name="UPSLIDETOCOPTIONS" val="&lt;?xml version=&quot;1.0&quot; encoding=&quot;utf-16&quot;?&gt;&#10;&lt;TocContentOptions xmlns:xsd=&quot;http://www.w3.org/2001/XMLSchema&quot; xmlns:xsi=&quot;http://www.w3.org/2001/XMLSchema-instance&quot;&gt;&#10;  &lt;TocSlidesOptions&gt;&#10;    &lt;ContainsSubSectionTitles&gt;true&lt;/ContainsSubSectionTitles&gt;&#10;    &lt;ContainsSlideTitles&gt;false&lt;/ContainsSlideTitles&gt;&#10;    &lt;ContainsParentLessSlidesTitles&gt;false&lt;/ContainsParentLessSlidesTitles&gt;&#10;    &lt;ContainsPrentLessSubsections&gt;false&lt;/ContainsPrentLessSubsections&gt;&#10;    &lt;ContainsAppendix&gt;true&lt;/ContainsAppendix&gt;&#10;    &lt;ContainsUnNumberedSections&gt;false&lt;/ContainsUnNumberedSections&gt;&#10;    &lt;SlideTitle&gt;Contents&lt;/SlideTitle&gt;&#10;  &lt;/TocSlidesOptions&gt;&#10;  &lt;SectionSlideOptions&gt;&#10;    &lt;ContainsOwnSubSection&gt;true&lt;/ContainsOwnSubSection&gt;&#10;    &lt;ContainsOwnSlide&gt;false&lt;/ContainsOwnSlide&gt;&#10;    &lt;ContainsOtherSections&gt;false&lt;/ContainsOtherSections&gt;&#10;    &lt;ContainsOthersSubsection&gt;false&lt;/ContainsOthersSubsection&gt;&#10;    &lt;containsAppendix&gt;true&lt;/containsAppendix&gt;&#10;    &lt;containsUnnumberedSections&gt;false&lt;/containsUnnumberedSections&gt;&#10;    &lt;SlideTitle /&gt;&#10;  &lt;/SectionSlideOptions&gt;&#10;  &lt;SubSectionSlideOptions&gt;&#10;    &lt;ContainsOtherSubsections&gt;false&lt;/ContainsOtherSubsections&gt;&#10;    &lt;ContainsOwnSlides&gt;true&lt;/ContainsOwnSlides&gt;&#10;    &lt;ContainsParentSection&gt;false&lt;/ContainsParentSection&gt;&#10;    &lt;ContainsOtherSections&gt;false&lt;/ContainsOtherSections&gt;&#10;    &lt;containsAppendix&gt;true&lt;/containsAppendix&gt;&#10;    &lt;containsUnnumberedSections&gt;false&lt;/containsUnnumberedSections&gt;&#10;    &lt;SlideTitle /&gt;&#10;  &lt;/SubSectionSlideOptions&gt;&#10;  &lt;UsedSlideLayouts&gt;&#10;    &lt;TocSlidesLayout&gt;&#10;      &lt;DesignName&gt;KPMG Widescreen - UpSlide&lt;/DesignName&gt;&#10;      &lt;LayoutName&gt;Title Only&lt;/LayoutName&gt;&#10;    &lt;/TocSlidesLayout&gt;&#10;    &lt;SectionLayout&gt;&#10;      &lt;DesignName&gt;KPMG Widescreen - UpSlide&lt;/DesignName&gt;&#10;      &lt;LayoutName&gt;Section Divider&lt;/LayoutName&gt;&#10;    &lt;/SectionLayout&gt;&#10;    &lt;SubsectionLayout&gt;&#10;      &lt;DesignName&gt;KPMG Widescreen - UpSlide&lt;/DesignName&gt;&#10;      &lt;LayoutName&gt;Subsection Divider&lt;/LayoutName&gt;&#10;    &lt;/SubsectionLayout&gt;&#10;    &lt;AppendixLayout&gt;&#10;      &lt;DesignName&gt;KPMG Widescreen - UpSlide&lt;/DesignName&gt;&#10;      &lt;LayoutName&gt;Section Divider&lt;/LayoutName&gt;&#10;    &lt;/AppendixLayout&gt;&#10;    &lt;TitleSliLayout&gt;&#10;      &lt;DesignName&gt;KPMG Widescreen - UpSlide&lt;/DesignName&gt;&#10;      &lt;LayoutName&gt;TITLE SLIDE Left Horizontal Window_KPMG Blue&lt;/LayoutName&gt;&#10;    &lt;/TitleSliLayout&gt;&#10;  &lt;/UsedSlideLayouts&gt;&#10;  &lt;ActiveReminders&gt;&#10;    &lt;ReminderScriptList&gt;&#10;      &lt;ReminderScript&gt;&#10;        &lt;Key xsi:type=&quot;xsd:string&quot;&gt;Reminder28/07/2016 10:55:40833312551&lt;/Key&gt;&#10;        &lt;Value xsi:type=&quot;xsd:string&quot;&gt;&amp;lt;%SectionName%&amp;gt;&amp;lt;%SpaceIfInSubSec%&amp;gt;&amp;lt;%TiretIfInSubSec%&amp;gt;&amp;lt;%SpaceIfInSubSec%&amp;gt;&amp;lt;%SubSectionName%&amp;gt;&lt;/Value&gt;&#10;      &lt;/ReminderScript&gt;&#10;    &lt;/ReminderScriptList&gt;&#10;    &lt;MigrationVersion&gt;6.8.8.1&lt;/MigrationVersion&gt;&#10;  &lt;/ActiveReminders&gt;&#10;  &lt;HardRefreshRequired&gt;true&lt;/HardRefreshRequired&gt;&#10;  &lt;CustomAlgoOptions&gt;&#10;    &lt;CustomBaseAlgoOptions&gt;&#10;      &lt;UseSlideTitleAsSubSectionMarker&gt;false&lt;/UseSlideTitleAsSubSectionMarker&gt;&#10;      &lt;SlideTitleAsSectionMarker&gt;&#10;        &lt;UseTitleAsReminder&gt;false&lt;/UseTitleAsReminder&gt;&#10;      &lt;/SlideTitleAsSectionMarker&gt;&#10;      &lt;ShowSectionNums&gt;true&lt;/ShowSectionNums&gt;&#10;      &lt;ShowSlideIndex&gt;true&lt;/ShowSlideIndex&gt;&#10;      &lt;myColorOfNonCurrentItems&gt;&#10;        &lt;UseFixedColor&gt;true&lt;/UseFixedColor&gt;&#10;        &lt;R&gt;140&lt;/R&gt;&#10;        &lt;G&gt;205&lt;/G&gt;&#10;        &lt;B&gt;238&lt;/B&gt;&#10;      &lt;/myColorOfNonCurrentItems&gt;&#10;      &lt;currentItemFormat&gt;&#10;        &lt;UseBanner&gt;false&lt;/UseBanner&gt;&#10;        &lt;BannerFillR&gt;0&lt;/BannerFillR&gt;&#10;        &lt;BannerFillG&gt;0&lt;/BannerFillG&gt;&#10;        &lt;BannerFillB&gt;0&lt;/BannerFillB&gt;&#10;        &lt;ForceBold&gt;false&lt;/ForceBold&gt;&#10;        &lt;ApplyToSubSections&gt;true&lt;/ApplyToSubSections&gt;&#10;        &lt;ApplyToSectionsOnSubSectionDividers&gt;false&lt;/ApplyToSectionsOnSubSectionDividers&gt;&#10;        &lt;UseSubSecSpecificBanner&gt;false&lt;/UseSubSecSpecificBanner&gt;&#10;        &lt;SubSecBannerFillR&gt;0&lt;/SubSecBannerFillR&gt;&#10;        &lt;SubSecBannerFillG&gt;0&lt;/SubSecBannerFillG&gt;&#10;        &lt;SubSecBannerFillB&gt;0&lt;/SubSecBannerFillB&gt;&#10;      &lt;/currentItemFormat&gt;&#10;      &lt;nonCurrentItemAttenuation&gt;&#10;        &lt;Shading&gt;1&lt;/Shading&gt;&#10;      &lt;/nonCurrentItemAttenuation&gt;&#10;      &lt;ForceDisplayTOCOnTwocolumns&gt;true&lt;/ForceDisplayTOCOnTwocolumns&gt;&#10;      &lt;DisplayTOCOnTwocolumns&gt;true&lt;/DisplayTOCOnTwocolumns&gt;&#10;      &lt;AgendaVerticalAlignment&gt;Top&lt;/AgendaVerticalAlignment&gt;&#10;      &lt;Scripts&gt;&#10;        &lt;BeforeSubSecTitle /&gt;&#10;        &lt;BeforeSlideIndex /&gt;&#10;        &lt;AfterSecNum /&gt;&#10;        &lt;BeforeSecNum&gt;0&lt;/BeforeSecNum&gt;&#10;        &lt;ZeroBeforeSecNum&gt;false&lt;/ZeroBeforeSecNum&gt;&#10;        &lt;AfterSubSecNum /&gt;&#10;        &lt;BeforeSubSecNum /&gt;&#10;      &lt;/Scripts&gt;&#10;      &lt;Lines&gt;&#10;        &lt;UseLineBelowSections&gt;false&lt;/UseLineBelowSections&gt;&#10;        &lt;LineBelowSection&gt;&#10;          &lt;XOffset&gt;0&lt;/XOffset&gt;&#10;          &lt;YOffset&gt;0&lt;/YOffset&gt;&#10;          &lt;Weight&gt;0&lt;/Weight&gt;&#10;          &lt;R&gt;0&lt;/R&gt;&#10;          &lt;G&gt;0&lt;/G&gt;&#10;          &lt;B&gt;0&lt;/B&gt;&#10;          &lt;LineStyle&gt;1&lt;/LineStyle&gt;&#10;        &lt;/LineBelowSection&gt;&#10;      &lt;/Lines&gt;&#10;      &lt;ManVerticalSpacing&gt;&#10;        &lt;UseManualSpacing&gt;true&lt;/UseManualSpacing&gt;&#10;        &lt;ManualSpacing&gt;&#10;          &lt;SpaceBeforeSections&gt;5&lt;/SpaceBeforeSections&gt;&#10;          &lt;SpaceBeforeSubSections&gt;1&lt;/SpaceBeforeSubSections&gt;&#10;          &lt;SpaceBeforeSlides&gt;0&lt;/SpaceBeforeSlides&gt;&#10;        &lt;/ManualSpacing&gt;&#10;        &lt;ManualSpacingSections&gt;&#10;          &lt;SpaceBeforeSections&gt;0&lt;/SpaceBeforeSections&gt;&#10;          &lt;SpaceBeforeSubSections&gt;3&lt;/SpaceBeforeSubSections&gt;&#10;          &lt;SpaceBeforeSlides&gt;0&lt;/SpaceBeforeSlides&gt;&#10;        &lt;/ManualSpacingSections&gt;&#10;        &lt;ManualSpacingSubSections&gt;&#10;          &lt;SpaceBeforeSections&gt;17.4750233&lt;/SpaceBeforeSections&gt;&#10;          &lt;SpaceBeforeSubSections&gt;11.6500158&lt;/SpaceBeforeSubSections&gt;&#10;          &lt;SpaceBeforeSlides&gt;5.825008&lt;/SpaceBeforeSlides&gt;&#10;        &lt;/ManualSpacingSubSections&gt;&#10;        &lt;UseSpecificSpacingForSecDivider&gt;true&lt;/UseSpecificSpacingForSecDivider&gt;&#10;        &lt;UseSpecificSpacingForSubSecDivider&gt;false&lt;/UseSpecificSpacingForSubSecDivider&gt;&#10;      &lt;/ManVerticalSpacing&gt;&#10;    &lt;/CustomBaseAlgoOptions&gt;&#10;  &lt;/CustomAlgoOptions&gt;&#10;  &lt;UserPresentationOptions&gt;&#10;    &lt;SubSectionsHaveSlide&gt;false&lt;/SubSectionsHaveSlide&gt;&#10;    &lt;SectionDividersContainOwnSubSections&gt;true&lt;/SectionDividersContainOwnSubSections&gt;&#10;    &lt;SectionDividersContainOwnSlideTitles&gt;true&lt;/SectionDividersContainOwnSlideTitles&gt;&#10;    &lt;SubSectionDividersContainOwnSlideTitles&gt;false&lt;/SubSectionDividersContainOwnSlideTitles&gt;&#10;    &lt;TOCSlidesContainSubsectionTitles xsi:nil=&quot;true&quot; /&gt;&#10;    &lt;TOCSlidesContainSlideTitles xsi:nil=&quot;true&quot; /&gt;&#10;    &lt;DisplayRemindersOnSlides&gt;false&lt;/DisplayRemindersOnSlides&gt;&#10;    &lt;SectionsHaveSlide&gt;true&lt;/SectionsHaveSlide&gt;&#10;    &lt;DoNotCountHiddenSlidesInPagination&gt;false&lt;/DoNotCountHiddenSlidesInPagination&gt;&#10;  &lt;/UserPresentationOptions&gt;&#10;  &lt;XmlSubSectionsHaveSlide&gt;true&lt;/XmlSubSectionsHaveSlide&gt;&#10;  &lt;AllowDuplicateTitleSlides&gt;false&lt;/AllowDuplicateTitleSlides&gt;&#10;  &lt;ShowEmptySlideTitles&gt;false&lt;/ShowEmptySlideTitles&gt;&#10;  &lt;NumberingOption&gt;&#10;    &lt;NumType&gt;FullArabic&lt;/NumType&gt;&#10;  &lt;/NumberingOption&gt;&#10;  &lt;NumberingOptionForAppendix&gt;&#10;    &lt;NumType&gt;FullArabic&lt;/NumType&gt;&#10;  &lt;/NumberingOptionForAppendix&gt;&#10;&lt;/TocContentOptions&gt;"/>
</p:tagLst>
</file>

<file path=ppt/tags/tag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xml><?xml version="1.0" encoding="utf-8"?>
<p:tagLst xmlns:a="http://schemas.openxmlformats.org/drawingml/2006/main" xmlns:r="http://schemas.openxmlformats.org/officeDocument/2006/relationships" xmlns:p="http://schemas.openxmlformats.org/presentationml/2006/main">
  <p:tag name="ADV_DRAFT" val="TRUE"/>
</p:tagLst>
</file>

<file path=ppt/tags/tag4.xml><?xml version="1.0" encoding="utf-8"?>
<p:tagLst xmlns:a="http://schemas.openxmlformats.org/drawingml/2006/main" xmlns:r="http://schemas.openxmlformats.org/officeDocument/2006/relationships" xmlns:p="http://schemas.openxmlformats.org/presentationml/2006/main">
  <p:tag name="ADV_TOP" val="493.4643"/>
  <p:tag name="ADV_LEFT" val="148.479"/>
  <p:tag name="ADV_HEIGHT" val="14.54063"/>
  <p:tag name="ADV_WIDTH" val="499.4646"/>
  <p:tag name="ADV_COPYRIGHT" val="TRUE"/>
</p:tagLst>
</file>

<file path=ppt/tags/tag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xml><?xml version="1.0" encoding="utf-8"?>
<p:tagLst xmlns:a="http://schemas.openxmlformats.org/drawingml/2006/main" xmlns:r="http://schemas.openxmlformats.org/officeDocument/2006/relationships" xmlns:p="http://schemas.openxmlformats.org/presentationml/2006/main">
  <p:tag name="ADV_TOP" val="493.4643"/>
  <p:tag name="ADV_LEFT" val="148.479"/>
  <p:tag name="ADV_HEIGHT" val="14.54063"/>
  <p:tag name="ADV_WIDTH" val="499.4646"/>
  <p:tag name="ADV_COPYRIGHT" val="TRUE"/>
</p:tagLst>
</file>

<file path=ppt/tags/tag7.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9.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1.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OCSHAPE" val="263"/>
  <p:tag name="SLIDEINDEX" val="263"/>
  <p:tag name="NAME" val="SECTIONINDEX"/>
  <p:tag name="TOCTEMPLATESHAPENAME" val="Numéro de slide des sections"/>
  <p:tag name="TOCTEMPLATESHAPEDESCRIPTION" val="Définit le format de la forme contenant les numéros de slides pour les sections."/>
</p:tagLst>
</file>

<file path=ppt/tags/tag22.xml><?xml version="1.0" encoding="utf-8"?>
<p:tagLst xmlns:a="http://schemas.openxmlformats.org/drawingml/2006/main" xmlns:r="http://schemas.openxmlformats.org/officeDocument/2006/relationships" xmlns:p="http://schemas.openxmlformats.org/presentationml/2006/main">
  <p:tag name="ADV_DRAFT" val="TRUE"/>
</p:tagLst>
</file>

<file path=ppt/tags/tag2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4.xml><?xml version="1.0" encoding="utf-8"?>
<p:tagLst xmlns:a="http://schemas.openxmlformats.org/drawingml/2006/main" xmlns:r="http://schemas.openxmlformats.org/officeDocument/2006/relationships" xmlns:p="http://schemas.openxmlformats.org/presentationml/2006/main">
  <p:tag name="TOCSHAPE" val="AA"/>
  <p:tag name="SHAPETYPE" val="SUBSECTIONTITLE"/>
  <p:tag name="NAME" val="SUBSECTIONTITLE"/>
  <p:tag name="TOCTEMPLATESHAPENAME" val="Titre des sous-sections"/>
  <p:tag name="TOCTEMPLATESHAPEDESCRIPTION" val="Définit le format de la forme contenant les titres des sous-sections."/>
</p:tagLst>
</file>

<file path=ppt/tags/tag25.xml><?xml version="1.0" encoding="utf-8"?>
<p:tagLst xmlns:a="http://schemas.openxmlformats.org/drawingml/2006/main" xmlns:r="http://schemas.openxmlformats.org/officeDocument/2006/relationships" xmlns:p="http://schemas.openxmlformats.org/presentationml/2006/main">
  <p:tag name="TOCSHAPE" val="AA"/>
  <p:tag name="NAME" val="SUBSECTIONUM"/>
  <p:tag name="TOCTEMPLATESHAPENAME" val="Index des sous-section"/>
  <p:tag name="TOCTEMPLATESHAPEDESCRIPTION" val="Définit le format de la forme contenant les numéros des sou-sections"/>
</p:tagLst>
</file>

<file path=ppt/tags/tag26.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27.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28.xml><?xml version="1.0" encoding="utf-8"?>
<p:tagLst xmlns:a="http://schemas.openxmlformats.org/drawingml/2006/main" xmlns:r="http://schemas.openxmlformats.org/officeDocument/2006/relationships" xmlns:p="http://schemas.openxmlformats.org/presentationml/2006/main">
  <p:tag name="TOCSHAPE" val="AA"/>
  <p:tag name="NAME" val="SECTIONUM"/>
  <p:tag name="TOCTEMPLATESHAPENAME" val="Numéro de section"/>
  <p:tag name="TOCTEMPLATESHAPEDESCRIPTION" val="Définit le format de la forme contenant les numéros de sections"/>
</p:tagLst>
</file>

<file path=ppt/tags/tag29.xml><?xml version="1.0" encoding="utf-8"?>
<p:tagLst xmlns:a="http://schemas.openxmlformats.org/drawingml/2006/main" xmlns:r="http://schemas.openxmlformats.org/officeDocument/2006/relationships" xmlns:p="http://schemas.openxmlformats.org/presentationml/2006/main">
  <p:tag name="TOCSHAPE" val="263"/>
  <p:tag name="SLIDEINDEX" val="263"/>
  <p:tag name="NAME" val="SUBSECTIONINDEX"/>
  <p:tag name="TOCTEMPLATESHAPENAME" val="Numéro de slide des sous-sections"/>
  <p:tag name="TOCTEMPLATESHAPEDESCRIPTION" val="Définit le format de la forme contenant les numéros de slides des sous-sections."/>
</p:tagLst>
</file>

<file path=ppt/tags/tag30.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31.xml><?xml version="1.0" encoding="utf-8"?>
<p:tagLst xmlns:a="http://schemas.openxmlformats.org/drawingml/2006/main" xmlns:r="http://schemas.openxmlformats.org/officeDocument/2006/relationships" xmlns:p="http://schemas.openxmlformats.org/presentationml/2006/main">
  <p:tag name="TOCSHAPE" val="AA"/>
  <p:tag name="SHAPETYPE" val="SECTIONTITLE"/>
  <p:tag name="NAME" val="SECTIONTITLE"/>
  <p:tag name="TOCTEMPLATESHAPENAME" val="Titre de section"/>
  <p:tag name="TOCTEMPLATESHAPEDESCRIPTION" val="Définit le format de la forme contenant les titres de section"/>
</p:tagLst>
</file>

<file path=ppt/tags/tag32.xml><?xml version="1.0" encoding="utf-8"?>
<p:tagLst xmlns:a="http://schemas.openxmlformats.org/drawingml/2006/main" xmlns:r="http://schemas.openxmlformats.org/officeDocument/2006/relationships" xmlns:p="http://schemas.openxmlformats.org/presentationml/2006/main">
  <p:tag name="HIDETOC" val="true"/>
</p:tagLst>
</file>

<file path=ppt/tags/tag33.xml><?xml version="1.0" encoding="utf-8"?>
<p:tagLst xmlns:a="http://schemas.openxmlformats.org/drawingml/2006/main" xmlns:r="http://schemas.openxmlformats.org/officeDocument/2006/relationships" xmlns:p="http://schemas.openxmlformats.org/presentationml/2006/main">
  <p:tag name="TOCSHAPE" val="AA"/>
  <p:tag name="NAME" val="SECTIONTITLE"/>
  <p:tag name="TOCTEMPLATESHAPENAME" val="Titre de section"/>
  <p:tag name="TOCTEMPLATESHAPEDESCRIPTION" val="Définit le format de la forme contenant les titres de section"/>
</p:tagLst>
</file>

<file path=ppt/tags/tag34.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35.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36.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37.xml><?xml version="1.0" encoding="utf-8"?>
<p:tagLst xmlns:a="http://schemas.openxmlformats.org/drawingml/2006/main" xmlns:r="http://schemas.openxmlformats.org/officeDocument/2006/relationships" xmlns:p="http://schemas.openxmlformats.org/presentationml/2006/main">
  <p:tag name="NAME" val="SUBSECTIONUM"/>
  <p:tag name="TOCTEMPLATESHAPENAME" val="Index des sous-section"/>
  <p:tag name="TOCTEMPLATESHAPEDESCRIPTION" val="Définit le format de la forme contenant les numéros des sou-sections"/>
</p:tagLst>
</file>

<file path=ppt/tags/tag38.xml><?xml version="1.0" encoding="utf-8"?>
<p:tagLst xmlns:a="http://schemas.openxmlformats.org/drawingml/2006/main" xmlns:r="http://schemas.openxmlformats.org/officeDocument/2006/relationships" xmlns:p="http://schemas.openxmlformats.org/presentationml/2006/main">
  <p:tag name="TOCSHAPE" val="AA"/>
  <p:tag name="NAME" val="SUBSECTIONTITLE"/>
  <p:tag name="TOCTEMPLATESHAPENAME" val="Titre des sous-sections"/>
  <p:tag name="TOCTEMPLATESHAPEDESCRIPTION" val="Définit le format de la forme contenant les titres des sous-sections."/>
</p:tagLst>
</file>

<file path=ppt/tags/tag39.xml><?xml version="1.0" encoding="utf-8"?>
<p:tagLst xmlns:a="http://schemas.openxmlformats.org/drawingml/2006/main" xmlns:r="http://schemas.openxmlformats.org/officeDocument/2006/relationships" xmlns:p="http://schemas.openxmlformats.org/presentationml/2006/main">
  <p:tag name="TOCSHAPE" val="344"/>
  <p:tag name="SLIDEINDEX" val="344"/>
  <p:tag name="NAME" val="SECTIONINDEX"/>
  <p:tag name="TOCTEMPLATESHAPENAME" val="Numéro de slide des sections"/>
  <p:tag name="TOCTEMPLATESHAPEDESCRIPTION" val="Définit le format de la forme contenant les numéros de slides pour les sections."/>
</p:tagLst>
</file>

<file path=ppt/tags/tag40.xml><?xml version="1.0" encoding="utf-8"?>
<p:tagLst xmlns:a="http://schemas.openxmlformats.org/drawingml/2006/main" xmlns:r="http://schemas.openxmlformats.org/officeDocument/2006/relationships" xmlns:p="http://schemas.openxmlformats.org/presentationml/2006/main">
  <p:tag name="TOCSHAPE" val="341"/>
  <p:tag name="SLIDEINDEX" val="341"/>
  <p:tag name="NAME" val="SUBSECTIONINDEX"/>
  <p:tag name="TOCTEMPLATESHAPENAME" val="Numéro de slide des sous-sections"/>
  <p:tag name="TOCTEMPLATESHAPEDESCRIPTION" val="Définit le format de la forme contenant les numéros de slides des sous-sections."/>
</p:tagLst>
</file>

<file path=ppt/tags/tag41.xml><?xml version="1.0" encoding="utf-8"?>
<p:tagLst xmlns:a="http://schemas.openxmlformats.org/drawingml/2006/main" xmlns:r="http://schemas.openxmlformats.org/officeDocument/2006/relationships" xmlns:p="http://schemas.openxmlformats.org/presentationml/2006/main">
  <p:tag name="NAME" val="SECTIONUM"/>
  <p:tag name="TOCTEMPLATESHAPENAME" val="Numéro de section"/>
  <p:tag name="TOCTEMPLATESHAPEDESCRIPTION" val="Définit le format de la forme contenant les numéros de sections"/>
</p:tagLst>
</file>

<file path=ppt/tags/tag42.xml><?xml version="1.0" encoding="utf-8"?>
<p:tagLst xmlns:a="http://schemas.openxmlformats.org/drawingml/2006/main" xmlns:r="http://schemas.openxmlformats.org/officeDocument/2006/relationships" xmlns:p="http://schemas.openxmlformats.org/presentationml/2006/main">
  <p:tag name="HIDETOC" val="true"/>
</p:tagLst>
</file>

<file path=ppt/tags/tag43.xml><?xml version="1.0" encoding="utf-8"?>
<p:tagLst xmlns:a="http://schemas.openxmlformats.org/drawingml/2006/main" xmlns:r="http://schemas.openxmlformats.org/officeDocument/2006/relationships" xmlns:p="http://schemas.openxmlformats.org/presentationml/2006/main">
  <p:tag name="TOCSHAPE" val="AA"/>
  <p:tag name="NAME" val="SUBSECTIONTITLE"/>
  <p:tag name="TOCTEMPLATESHAPENAME" val="Titre des sous-sections"/>
  <p:tag name="TOCTEMPLATESHAPEDESCRIPTION" val="Définit le format de la forme contenant les titres des sous-sections."/>
</p:tagLst>
</file>

<file path=ppt/tags/tag44.xml><?xml version="1.0" encoding="utf-8"?>
<p:tagLst xmlns:a="http://schemas.openxmlformats.org/drawingml/2006/main" xmlns:r="http://schemas.openxmlformats.org/officeDocument/2006/relationships" xmlns:p="http://schemas.openxmlformats.org/presentationml/2006/main">
  <p:tag name="TOCSHAPE" val="AA"/>
  <p:tag name="NAME" val="SECTIONTITLE"/>
  <p:tag name="TOCTEMPLATESHAPENAME" val="Titre de section"/>
  <p:tag name="TOCTEMPLATESHAPEDESCRIPTION" val="Définit le format de la forme contenant les titres de section"/>
</p:tagLst>
</file>

<file path=ppt/tags/tag45.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46.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47.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48.xml><?xml version="1.0" encoding="utf-8"?>
<p:tagLst xmlns:a="http://schemas.openxmlformats.org/drawingml/2006/main" xmlns:r="http://schemas.openxmlformats.org/officeDocument/2006/relationships" xmlns:p="http://schemas.openxmlformats.org/presentationml/2006/main">
  <p:tag name="TOCSHAPE" val="AA"/>
  <p:tag name="NAME" val="SECTIONUM"/>
  <p:tag name="TOCTEMPLATESHAPENAME" val="Numéro de section"/>
  <p:tag name="TOCTEMPLATESHAPEDESCRIPTION" val="Définit le format de la forme contenant les numéros de sections"/>
</p:tagLst>
</file>

<file path=ppt/tags/tag49.xml><?xml version="1.0" encoding="utf-8"?>
<p:tagLst xmlns:a="http://schemas.openxmlformats.org/drawingml/2006/main" xmlns:r="http://schemas.openxmlformats.org/officeDocument/2006/relationships" xmlns:p="http://schemas.openxmlformats.org/presentationml/2006/main">
  <p:tag name="TOCSHAPE" val="268"/>
  <p:tag name="SLIDEINDEX" val="268"/>
  <p:tag name="NAME" val="SECTIONINDEX"/>
  <p:tag name="TOCTEMPLATESHAPENAME" val="Numéro de slide des sections"/>
  <p:tag name="TOCTEMPLATESHAPEDESCRIPTION" val="Définit le format de la forme contenant les numéros de slides pour les sections."/>
</p:tagLst>
</file>

<file path=ppt/tags/tag50.xml><?xml version="1.0" encoding="utf-8"?>
<p:tagLst xmlns:a="http://schemas.openxmlformats.org/drawingml/2006/main" xmlns:r="http://schemas.openxmlformats.org/officeDocument/2006/relationships" xmlns:p="http://schemas.openxmlformats.org/presentationml/2006/main">
  <p:tag name="TOCSHAPE" val="269"/>
  <p:tag name="SLIDEINDEX" val="269"/>
  <p:tag name="NAME" val="SUBSECTIONINDEX"/>
  <p:tag name="TOCTEMPLATESHAPENAME" val="Numéro de slide des sous-sections"/>
  <p:tag name="TOCTEMPLATESHAPEDESCRIPTION" val="Définit le format de la forme contenant les numéros de slides des sous-sections."/>
</p:tagLst>
</file>

<file path=ppt/tags/tag51.xml><?xml version="1.0" encoding="utf-8"?>
<p:tagLst xmlns:a="http://schemas.openxmlformats.org/drawingml/2006/main" xmlns:r="http://schemas.openxmlformats.org/officeDocument/2006/relationships" xmlns:p="http://schemas.openxmlformats.org/presentationml/2006/main">
  <p:tag name="TOCSHAPE" val="AA"/>
  <p:tag name="NAME" val="SUBSECTIONUM"/>
  <p:tag name="TOCTEMPLATESHAPENAME" val="Index des sous-section"/>
  <p:tag name="TOCTEMPLATESHAPEDESCRIPTION" val="Définit le format de la forme contenant les numéros des sou-sections"/>
</p:tagLst>
</file>

<file path=ppt/tags/tag52.xml><?xml version="1.0" encoding="utf-8"?>
<p:tagLst xmlns:a="http://schemas.openxmlformats.org/drawingml/2006/main" xmlns:r="http://schemas.openxmlformats.org/officeDocument/2006/relationships" xmlns:p="http://schemas.openxmlformats.org/presentationml/2006/main">
  <p:tag name="HIDETOC" val="true"/>
</p:tagLst>
</file>

<file path=ppt/tags/tag53.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 name="TOCTEMPLATESHAPEDESCRIPTION" val=""/>
</p:tagLst>
</file>

<file path=ppt/tags/tag54.xml><?xml version="1.0" encoding="utf-8"?>
<p:tagLst xmlns:a="http://schemas.openxmlformats.org/drawingml/2006/main" xmlns:r="http://schemas.openxmlformats.org/officeDocument/2006/relationships" xmlns:p="http://schemas.openxmlformats.org/presentationml/2006/main">
  <p:tag name="HIDETOC" val="true"/>
</p:tagLst>
</file>

<file path=ppt/tags/tag55.xml><?xml version="1.0" encoding="utf-8"?>
<p:tagLst xmlns:a="http://schemas.openxmlformats.org/drawingml/2006/main" xmlns:r="http://schemas.openxmlformats.org/officeDocument/2006/relationships" xmlns:p="http://schemas.openxmlformats.org/presentationml/2006/main">
  <p:tag name="HIDETOC" val="true"/>
</p:tagLst>
</file>

<file path=ppt/tags/tag5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57.xml><?xml version="1.0" encoding="utf-8"?>
<p:tagLst xmlns:a="http://schemas.openxmlformats.org/drawingml/2006/main" xmlns:r="http://schemas.openxmlformats.org/officeDocument/2006/relationships" xmlns:p="http://schemas.openxmlformats.org/presentationml/2006/main">
  <p:tag name="ADV_DRAFT" val="TRUE"/>
</p:tagLst>
</file>

<file path=ppt/tags/tag58.xml><?xml version="1.0" encoding="utf-8"?>
<p:tagLst xmlns:a="http://schemas.openxmlformats.org/drawingml/2006/main" xmlns:r="http://schemas.openxmlformats.org/officeDocument/2006/relationships" xmlns:p="http://schemas.openxmlformats.org/presentationml/2006/main">
  <p:tag name="ADV_TOP" val="493.4643"/>
  <p:tag name="ADV_LEFT" val="148.479"/>
  <p:tag name="ADV_HEIGHT" val="14.54063"/>
  <p:tag name="ADV_WIDTH" val="499.4646"/>
  <p:tag name="ADV_COPYRIGHT" val="TRUE"/>
</p:tagLst>
</file>

<file path=ppt/tags/tag59.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0.xml><?xml version="1.0" encoding="utf-8"?>
<p:tagLst xmlns:a="http://schemas.openxmlformats.org/drawingml/2006/main" xmlns:r="http://schemas.openxmlformats.org/officeDocument/2006/relationships" xmlns:p="http://schemas.openxmlformats.org/presentationml/2006/main">
  <p:tag name="ADV_TOP" val="493.4643"/>
  <p:tag name="ADV_LEFT" val="148.479"/>
  <p:tag name="ADV_HEIGHT" val="14.54063"/>
  <p:tag name="ADV_WIDTH" val="499.4646"/>
  <p:tag name="ADV_COPYRIGHT" val="TRUE"/>
</p:tagLst>
</file>

<file path=ppt/tags/tag61.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7.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9.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OCSLIDE" val="1"/>
</p:tagLst>
</file>

<file path=ppt/tags/tag76.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77.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0.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8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5.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8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7.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8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9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91.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9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9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9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9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9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97.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9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9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00.xml><?xml version="1.0" encoding="utf-8"?>
<p:tagLst xmlns:a="http://schemas.openxmlformats.org/drawingml/2006/main" xmlns:r="http://schemas.openxmlformats.org/officeDocument/2006/relationships" xmlns:p="http://schemas.openxmlformats.org/presentationml/2006/main">
  <p:tag name="TOCSHAPE" val="AA"/>
</p:tagLst>
</file>

<file path=ppt/tags/tag101.xml><?xml version="1.0" encoding="utf-8"?>
<p:tagLst xmlns:a="http://schemas.openxmlformats.org/drawingml/2006/main" xmlns:r="http://schemas.openxmlformats.org/officeDocument/2006/relationships" xmlns:p="http://schemas.openxmlformats.org/presentationml/2006/main">
  <p:tag name="TOCSHAPE" val="AA"/>
</p:tagLst>
</file>

<file path=ppt/tags/tag102.xml><?xml version="1.0" encoding="utf-8"?>
<p:tagLst xmlns:a="http://schemas.openxmlformats.org/drawingml/2006/main" xmlns:r="http://schemas.openxmlformats.org/officeDocument/2006/relationships" xmlns:p="http://schemas.openxmlformats.org/presentationml/2006/main">
  <p:tag name="TOCSHAPE" val="AA"/>
</p:tagLst>
</file>

<file path=ppt/tags/tag103.xml><?xml version="1.0" encoding="utf-8"?>
<p:tagLst xmlns:a="http://schemas.openxmlformats.org/drawingml/2006/main" xmlns:r="http://schemas.openxmlformats.org/officeDocument/2006/relationships" xmlns:p="http://schemas.openxmlformats.org/presentationml/2006/main">
  <p:tag name="TOCSHAPE" val="AA"/>
</p:tagLst>
</file>

<file path=ppt/tags/tag104.xml><?xml version="1.0" encoding="utf-8"?>
<p:tagLst xmlns:a="http://schemas.openxmlformats.org/drawingml/2006/main" xmlns:r="http://schemas.openxmlformats.org/officeDocument/2006/relationships" xmlns:p="http://schemas.openxmlformats.org/presentationml/2006/main">
  <p:tag name="TOCSHAPE" val="AA"/>
</p:tagLst>
</file>

<file path=ppt/tags/tag105.xml><?xml version="1.0" encoding="utf-8"?>
<p:tagLst xmlns:a="http://schemas.openxmlformats.org/drawingml/2006/main" xmlns:r="http://schemas.openxmlformats.org/officeDocument/2006/relationships" xmlns:p="http://schemas.openxmlformats.org/presentationml/2006/main">
  <p:tag name="TOCSHAPE" val="789"/>
  <p:tag name="SLIDEINDEX" val="789"/>
</p:tagLst>
</file>

<file path=ppt/tags/tag106.xml><?xml version="1.0" encoding="utf-8"?>
<p:tagLst xmlns:a="http://schemas.openxmlformats.org/drawingml/2006/main" xmlns:r="http://schemas.openxmlformats.org/officeDocument/2006/relationships" xmlns:p="http://schemas.openxmlformats.org/presentationml/2006/main">
  <p:tag name="TOCSHAPE" val="2147469934"/>
  <p:tag name="SLIDEINDEX" val="2147469934"/>
</p:tagLst>
</file>

<file path=ppt/tags/tag107.xml><?xml version="1.0" encoding="utf-8"?>
<p:tagLst xmlns:a="http://schemas.openxmlformats.org/drawingml/2006/main" xmlns:r="http://schemas.openxmlformats.org/officeDocument/2006/relationships" xmlns:p="http://schemas.openxmlformats.org/presentationml/2006/main">
  <p:tag name="TOCSHAPE" val="805"/>
  <p:tag name="SLIDEINDEX" val="805"/>
</p:tagLst>
</file>

<file path=ppt/tags/tag108.xml><?xml version="1.0" encoding="utf-8"?>
<p:tagLst xmlns:a="http://schemas.openxmlformats.org/drawingml/2006/main" xmlns:r="http://schemas.openxmlformats.org/officeDocument/2006/relationships" xmlns:p="http://schemas.openxmlformats.org/presentationml/2006/main">
  <p:tag name="TOCSHAPE" val="806"/>
  <p:tag name="SLIDEINDEX" val="806"/>
</p:tagLst>
</file>

<file path=ppt/tags/tag109.xml><?xml version="1.0" encoding="utf-8"?>
<p:tagLst xmlns:a="http://schemas.openxmlformats.org/drawingml/2006/main" xmlns:r="http://schemas.openxmlformats.org/officeDocument/2006/relationships" xmlns:p="http://schemas.openxmlformats.org/presentationml/2006/main">
  <p:tag name="TOCSHAPE" val="808"/>
  <p:tag name="SLIDEINDEX" val="808"/>
</p:tagLst>
</file>

<file path=ppt/tags/tag110.xml><?xml version="1.0" encoding="utf-8"?>
<p:tagLst xmlns:a="http://schemas.openxmlformats.org/drawingml/2006/main" xmlns:r="http://schemas.openxmlformats.org/officeDocument/2006/relationships" xmlns:p="http://schemas.openxmlformats.org/presentationml/2006/main">
  <p:tag name="TOCSHAPE" val="AA"/>
</p:tagLst>
</file>

<file path=ppt/tags/tag111.xml><?xml version="1.0" encoding="utf-8"?>
<p:tagLst xmlns:a="http://schemas.openxmlformats.org/drawingml/2006/main" xmlns:r="http://schemas.openxmlformats.org/officeDocument/2006/relationships" xmlns:p="http://schemas.openxmlformats.org/presentationml/2006/main">
  <p:tag name="TOCSHAPE" val="AA"/>
</p:tagLst>
</file>

<file path=ppt/tags/tag112.xml><?xml version="1.0" encoding="utf-8"?>
<p:tagLst xmlns:a="http://schemas.openxmlformats.org/drawingml/2006/main" xmlns:r="http://schemas.openxmlformats.org/officeDocument/2006/relationships" xmlns:p="http://schemas.openxmlformats.org/presentationml/2006/main">
  <p:tag name="TOCSHAPE" val="AA"/>
</p:tagLst>
</file>

<file path=ppt/tags/tag113.xml><?xml version="1.0" encoding="utf-8"?>
<p:tagLst xmlns:a="http://schemas.openxmlformats.org/drawingml/2006/main" xmlns:r="http://schemas.openxmlformats.org/officeDocument/2006/relationships" xmlns:p="http://schemas.openxmlformats.org/presentationml/2006/main">
  <p:tag name="TOCSHAPE" val="AA"/>
</p:tagLst>
</file>

<file path=ppt/tags/tag114.xml><?xml version="1.0" encoding="utf-8"?>
<p:tagLst xmlns:a="http://schemas.openxmlformats.org/drawingml/2006/main" xmlns:r="http://schemas.openxmlformats.org/officeDocument/2006/relationships" xmlns:p="http://schemas.openxmlformats.org/presentationml/2006/main">
  <p:tag name="TOCSHAPE" val="AA"/>
</p:tagLst>
</file>

<file path=ppt/tags/tag115.xml><?xml version="1.0" encoding="utf-8"?>
<p:tagLst xmlns:a="http://schemas.openxmlformats.org/drawingml/2006/main" xmlns:r="http://schemas.openxmlformats.org/officeDocument/2006/relationships" xmlns:p="http://schemas.openxmlformats.org/presentationml/2006/main">
  <p:tag name="TOCSHAPE" val="AA"/>
</p:tagLst>
</file>

<file path=ppt/tags/tag116.xml><?xml version="1.0" encoding="utf-8"?>
<p:tagLst xmlns:a="http://schemas.openxmlformats.org/drawingml/2006/main" xmlns:r="http://schemas.openxmlformats.org/officeDocument/2006/relationships" xmlns:p="http://schemas.openxmlformats.org/presentationml/2006/main">
  <p:tag name="TOCSHAPE" val="AA"/>
</p:tagLst>
</file>

<file path=ppt/tags/tag117.xml><?xml version="1.0" encoding="utf-8"?>
<p:tagLst xmlns:a="http://schemas.openxmlformats.org/drawingml/2006/main" xmlns:r="http://schemas.openxmlformats.org/officeDocument/2006/relationships" xmlns:p="http://schemas.openxmlformats.org/presentationml/2006/main">
  <p:tag name="TOCSHAPE" val="AA"/>
</p:tagLst>
</file>

<file path=ppt/tags/tag118.xml><?xml version="1.0" encoding="utf-8"?>
<p:tagLst xmlns:a="http://schemas.openxmlformats.org/drawingml/2006/main" xmlns:r="http://schemas.openxmlformats.org/officeDocument/2006/relationships" xmlns:p="http://schemas.openxmlformats.org/presentationml/2006/main">
  <p:tag name="TOCSHAPE" val="AA"/>
</p:tagLst>
</file>

<file path=ppt/tags/tag119.xml><?xml version="1.0" encoding="utf-8"?>
<p:tagLst xmlns:a="http://schemas.openxmlformats.org/drawingml/2006/main" xmlns:r="http://schemas.openxmlformats.org/officeDocument/2006/relationships" xmlns:p="http://schemas.openxmlformats.org/presentationml/2006/main">
  <p:tag name="TOCSHAPE" val="AA"/>
</p:tagLst>
</file>

<file path=ppt/tags/tag120.xml><?xml version="1.0" encoding="utf-8"?>
<p:tagLst xmlns:a="http://schemas.openxmlformats.org/drawingml/2006/main" xmlns:r="http://schemas.openxmlformats.org/officeDocument/2006/relationships" xmlns:p="http://schemas.openxmlformats.org/presentationml/2006/main">
  <p:tag name="TOCSHAPE" val="AA"/>
</p:tagLst>
</file>

<file path=ppt/tags/tag121.xml><?xml version="1.0" encoding="utf-8"?>
<p:tagLst xmlns:a="http://schemas.openxmlformats.org/drawingml/2006/main" xmlns:r="http://schemas.openxmlformats.org/officeDocument/2006/relationships" xmlns:p="http://schemas.openxmlformats.org/presentationml/2006/main">
  <p:tag name="TOCSHAPE" val="AA"/>
</p:tagLst>
</file>

<file path=ppt/tags/tag122.xml><?xml version="1.0" encoding="utf-8"?>
<p:tagLst xmlns:a="http://schemas.openxmlformats.org/drawingml/2006/main" xmlns:r="http://schemas.openxmlformats.org/officeDocument/2006/relationships" xmlns:p="http://schemas.openxmlformats.org/presentationml/2006/main">
  <p:tag name="TOCSHAPE" val="AA"/>
</p:tagLst>
</file>

<file path=ppt/tags/tag123.xml><?xml version="1.0" encoding="utf-8"?>
<p:tagLst xmlns:a="http://schemas.openxmlformats.org/drawingml/2006/main" xmlns:r="http://schemas.openxmlformats.org/officeDocument/2006/relationships" xmlns:p="http://schemas.openxmlformats.org/presentationml/2006/main">
  <p:tag name="TOCSHAPE" val="AA"/>
</p:tagLst>
</file>

<file path=ppt/tags/tag124.xml><?xml version="1.0" encoding="utf-8"?>
<p:tagLst xmlns:a="http://schemas.openxmlformats.org/drawingml/2006/main" xmlns:r="http://schemas.openxmlformats.org/officeDocument/2006/relationships" xmlns:p="http://schemas.openxmlformats.org/presentationml/2006/main">
  <p:tag name="TOCSHAPE" val="AA"/>
</p:tagLst>
</file>

<file path=ppt/tags/tag125.xml><?xml version="1.0" encoding="utf-8"?>
<p:tagLst xmlns:a="http://schemas.openxmlformats.org/drawingml/2006/main" xmlns:r="http://schemas.openxmlformats.org/officeDocument/2006/relationships" xmlns:p="http://schemas.openxmlformats.org/presentationml/2006/main">
  <p:tag name="TOCSHAPE" val="AA"/>
</p:tagLst>
</file>

<file path=ppt/tags/tag126.xml><?xml version="1.0" encoding="utf-8"?>
<p:tagLst xmlns:a="http://schemas.openxmlformats.org/drawingml/2006/main" xmlns:r="http://schemas.openxmlformats.org/officeDocument/2006/relationships" xmlns:p="http://schemas.openxmlformats.org/presentationml/2006/main">
  <p:tag name="TOCSHAPE" val="AA"/>
</p:tagLst>
</file>

<file path=ppt/tags/tag127.xml><?xml version="1.0" encoding="utf-8"?>
<p:tagLst xmlns:a="http://schemas.openxmlformats.org/drawingml/2006/main" xmlns:r="http://schemas.openxmlformats.org/officeDocument/2006/relationships" xmlns:p="http://schemas.openxmlformats.org/presentationml/2006/main">
  <p:tag name="TOCSHAPE" val="AA"/>
</p:tagLst>
</file>

<file path=ppt/tags/tag128.xml><?xml version="1.0" encoding="utf-8"?>
<p:tagLst xmlns:a="http://schemas.openxmlformats.org/drawingml/2006/main" xmlns:r="http://schemas.openxmlformats.org/officeDocument/2006/relationships" xmlns:p="http://schemas.openxmlformats.org/presentationml/2006/main">
  <p:tag name="TOCSHAPE" val="AA"/>
</p:tagLst>
</file>

<file path=ppt/tags/tag129.xml><?xml version="1.0" encoding="utf-8"?>
<p:tagLst xmlns:a="http://schemas.openxmlformats.org/drawingml/2006/main" xmlns:r="http://schemas.openxmlformats.org/officeDocument/2006/relationships" xmlns:p="http://schemas.openxmlformats.org/presentationml/2006/main">
  <p:tag name="TOCSHAPE" val="AA"/>
</p:tagLst>
</file>

<file path=ppt/tags/tag130.xml><?xml version="1.0" encoding="utf-8"?>
<p:tagLst xmlns:a="http://schemas.openxmlformats.org/drawingml/2006/main" xmlns:r="http://schemas.openxmlformats.org/officeDocument/2006/relationships" xmlns:p="http://schemas.openxmlformats.org/presentationml/2006/main">
  <p:tag name="TOCSHAPE" val="AA"/>
</p:tagLst>
</file>

<file path=ppt/tags/tag131.xml><?xml version="1.0" encoding="utf-8"?>
<p:tagLst xmlns:a="http://schemas.openxmlformats.org/drawingml/2006/main" xmlns:r="http://schemas.openxmlformats.org/officeDocument/2006/relationships" xmlns:p="http://schemas.openxmlformats.org/presentationml/2006/main">
  <p:tag name="TOCSHAPE" val="787"/>
  <p:tag name="SLIDEINDEX" val="787"/>
</p:tagLst>
</file>

<file path=ppt/tags/tag132.xml><?xml version="1.0" encoding="utf-8"?>
<p:tagLst xmlns:a="http://schemas.openxmlformats.org/drawingml/2006/main" xmlns:r="http://schemas.openxmlformats.org/officeDocument/2006/relationships" xmlns:p="http://schemas.openxmlformats.org/presentationml/2006/main">
  <p:tag name="TOCSHAPE" val="2147469925"/>
  <p:tag name="SLIDEINDEX" val="2147469925"/>
</p:tagLst>
</file>

<file path=ppt/tags/tag133.xml><?xml version="1.0" encoding="utf-8"?>
<p:tagLst xmlns:a="http://schemas.openxmlformats.org/drawingml/2006/main" xmlns:r="http://schemas.openxmlformats.org/officeDocument/2006/relationships" xmlns:p="http://schemas.openxmlformats.org/presentationml/2006/main">
  <p:tag name="TOCSHAPE" val="2147469941"/>
  <p:tag name="SLIDEINDEX" val="2147469941"/>
</p:tagLst>
</file>

<file path=ppt/tags/tag134.xml><?xml version="1.0" encoding="utf-8"?>
<p:tagLst xmlns:a="http://schemas.openxmlformats.org/drawingml/2006/main" xmlns:r="http://schemas.openxmlformats.org/officeDocument/2006/relationships" xmlns:p="http://schemas.openxmlformats.org/presentationml/2006/main">
  <p:tag name="TOCSHAPE" val="724"/>
  <p:tag name="SLIDEINDEX" val="724"/>
</p:tagLst>
</file>

<file path=ppt/tags/tag135.xml><?xml version="1.0" encoding="utf-8"?>
<p:tagLst xmlns:a="http://schemas.openxmlformats.org/drawingml/2006/main" xmlns:r="http://schemas.openxmlformats.org/officeDocument/2006/relationships" xmlns:p="http://schemas.openxmlformats.org/presentationml/2006/main">
  <p:tag name="TOCSHAPE" val="2147469961"/>
  <p:tag name="SLIDEINDEX" val="2147469961"/>
</p:tagLst>
</file>

<file path=ppt/tags/tag136.xml><?xml version="1.0" encoding="utf-8"?>
<p:tagLst xmlns:a="http://schemas.openxmlformats.org/drawingml/2006/main" xmlns:r="http://schemas.openxmlformats.org/officeDocument/2006/relationships" xmlns:p="http://schemas.openxmlformats.org/presentationml/2006/main">
  <p:tag name="TOCSHAPE" val="2147469955"/>
  <p:tag name="SLIDEINDEX" val="2147469955"/>
</p:tagLst>
</file>

<file path=ppt/tags/tag137.xml><?xml version="1.0" encoding="utf-8"?>
<p:tagLst xmlns:a="http://schemas.openxmlformats.org/drawingml/2006/main" xmlns:r="http://schemas.openxmlformats.org/officeDocument/2006/relationships" xmlns:p="http://schemas.openxmlformats.org/presentationml/2006/main">
  <p:tag name="TOCSHAPE" val="2147469949"/>
  <p:tag name="SLIDEINDEX" val="2147469949"/>
</p:tagLst>
</file>

<file path=ppt/tags/tag138.xml><?xml version="1.0" encoding="utf-8"?>
<p:tagLst xmlns:a="http://schemas.openxmlformats.org/drawingml/2006/main" xmlns:r="http://schemas.openxmlformats.org/officeDocument/2006/relationships" xmlns:p="http://schemas.openxmlformats.org/presentationml/2006/main">
  <p:tag name="TOCSHAPE" val="728"/>
  <p:tag name="SLIDEINDEX" val="728"/>
</p:tagLst>
</file>

<file path=ppt/tags/tag139.xml><?xml version="1.0" encoding="utf-8"?>
<p:tagLst xmlns:a="http://schemas.openxmlformats.org/drawingml/2006/main" xmlns:r="http://schemas.openxmlformats.org/officeDocument/2006/relationships" xmlns:p="http://schemas.openxmlformats.org/presentationml/2006/main">
  <p:tag name="TOCSHAPE" val="735"/>
  <p:tag name="SLIDEINDEX" val="735"/>
</p:tagLst>
</file>

<file path=ppt/tags/tag140.xml><?xml version="1.0" encoding="utf-8"?>
<p:tagLst xmlns:a="http://schemas.openxmlformats.org/drawingml/2006/main" xmlns:r="http://schemas.openxmlformats.org/officeDocument/2006/relationships" xmlns:p="http://schemas.openxmlformats.org/presentationml/2006/main">
  <p:tag name="TOCSHAPE" val="727"/>
  <p:tag name="SLIDEINDEX" val="727"/>
</p:tagLst>
</file>

<file path=ppt/tags/tag141.xml><?xml version="1.0" encoding="utf-8"?>
<p:tagLst xmlns:a="http://schemas.openxmlformats.org/drawingml/2006/main" xmlns:r="http://schemas.openxmlformats.org/officeDocument/2006/relationships" xmlns:p="http://schemas.openxmlformats.org/presentationml/2006/main">
  <p:tag name="TOCSHAPE" val="726"/>
  <p:tag name="SLIDEINDEX" val="726"/>
</p:tagLst>
</file>

<file path=ppt/tags/tag142.xml><?xml version="1.0" encoding="utf-8"?>
<p:tagLst xmlns:a="http://schemas.openxmlformats.org/drawingml/2006/main" xmlns:r="http://schemas.openxmlformats.org/officeDocument/2006/relationships" xmlns:p="http://schemas.openxmlformats.org/presentationml/2006/main">
  <p:tag name="TOCSHAPE" val="909"/>
  <p:tag name="SLIDEINDEX" val="909"/>
</p:tagLst>
</file>

<file path=ppt/tags/tag143.xml><?xml version="1.0" encoding="utf-8"?>
<p:tagLst xmlns:a="http://schemas.openxmlformats.org/drawingml/2006/main" xmlns:r="http://schemas.openxmlformats.org/officeDocument/2006/relationships" xmlns:p="http://schemas.openxmlformats.org/presentationml/2006/main">
  <p:tag name="TOCSHAPE" val="2147469932"/>
  <p:tag name="SLIDEINDEX" val="2147469932"/>
</p:tagLst>
</file>

<file path=ppt/tags/tag144.xml><?xml version="1.0" encoding="utf-8"?>
<p:tagLst xmlns:a="http://schemas.openxmlformats.org/drawingml/2006/main" xmlns:r="http://schemas.openxmlformats.org/officeDocument/2006/relationships" xmlns:p="http://schemas.openxmlformats.org/presentationml/2006/main">
  <p:tag name="TOCSHAPE" val="2147469985"/>
  <p:tag name="SLIDEINDEX" val="2147469985"/>
</p:tagLst>
</file>

<file path=ppt/tags/tag145.xml><?xml version="1.0" encoding="utf-8"?>
<p:tagLst xmlns:a="http://schemas.openxmlformats.org/drawingml/2006/main" xmlns:r="http://schemas.openxmlformats.org/officeDocument/2006/relationships" xmlns:p="http://schemas.openxmlformats.org/presentationml/2006/main">
  <p:tag name="TOCSHAPE" val="2147469965"/>
  <p:tag name="SLIDEINDEX" val="2147469965"/>
</p:tagLst>
</file>

<file path=ppt/tags/tag146.xml><?xml version="1.0" encoding="utf-8"?>
<p:tagLst xmlns:a="http://schemas.openxmlformats.org/drawingml/2006/main" xmlns:r="http://schemas.openxmlformats.org/officeDocument/2006/relationships" xmlns:p="http://schemas.openxmlformats.org/presentationml/2006/main">
  <p:tag name="TOCSHAPE" val="651"/>
  <p:tag name="SLIDEINDEX" val="651"/>
</p:tagLst>
</file>

<file path=ppt/tags/tag147.xml><?xml version="1.0" encoding="utf-8"?>
<p:tagLst xmlns:a="http://schemas.openxmlformats.org/drawingml/2006/main" xmlns:r="http://schemas.openxmlformats.org/officeDocument/2006/relationships" xmlns:p="http://schemas.openxmlformats.org/presentationml/2006/main">
  <p:tag name="TOCSHAPE" val="652"/>
  <p:tag name="SLIDEINDEX" val="652"/>
</p:tagLst>
</file>

<file path=ppt/tags/tag148.xml><?xml version="1.0" encoding="utf-8"?>
<p:tagLst xmlns:a="http://schemas.openxmlformats.org/drawingml/2006/main" xmlns:r="http://schemas.openxmlformats.org/officeDocument/2006/relationships" xmlns:p="http://schemas.openxmlformats.org/presentationml/2006/main">
  <p:tag name="TOCSHAPE" val="2147469966"/>
  <p:tag name="SLIDEINDEX" val="2147469966"/>
</p:tagLst>
</file>

<file path=ppt/tags/tag149.xml><?xml version="1.0" encoding="utf-8"?>
<p:tagLst xmlns:a="http://schemas.openxmlformats.org/drawingml/2006/main" xmlns:r="http://schemas.openxmlformats.org/officeDocument/2006/relationships" xmlns:p="http://schemas.openxmlformats.org/presentationml/2006/main">
  <p:tag name="TOCSHAPE" val="2147469986"/>
  <p:tag name="SLIDEINDEX" val="2147469986"/>
</p:tagLst>
</file>

<file path=ppt/tags/tag150.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15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5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53.xml><?xml version="1.0" encoding="utf-8"?>
<p:tagLst xmlns:a="http://schemas.openxmlformats.org/drawingml/2006/main" xmlns:r="http://schemas.openxmlformats.org/officeDocument/2006/relationships" xmlns:p="http://schemas.openxmlformats.org/presentationml/2006/main">
  <p:tag name="TOCSHAPE" val="AA"/>
</p:tagLst>
</file>

<file path=ppt/tags/tag154.xml><?xml version="1.0" encoding="utf-8"?>
<p:tagLst xmlns:a="http://schemas.openxmlformats.org/drawingml/2006/main" xmlns:r="http://schemas.openxmlformats.org/officeDocument/2006/relationships" xmlns:p="http://schemas.openxmlformats.org/presentationml/2006/main">
  <p:tag name="TOCSHAPE" val="2147469908"/>
  <p:tag name="SLIDEINDEX" val="2147469908"/>
</p:tagLst>
</file>

<file path=ppt/tags/tag155.xml><?xml version="1.0" encoding="utf-8"?>
<p:tagLst xmlns:a="http://schemas.openxmlformats.org/drawingml/2006/main" xmlns:r="http://schemas.openxmlformats.org/officeDocument/2006/relationships" xmlns:p="http://schemas.openxmlformats.org/presentationml/2006/main">
  <p:tag name="TOCSHAPE" val="2147469919"/>
  <p:tag name="SLIDEINDEX" val="2147469919"/>
</p:tagLst>
</file>

<file path=ppt/tags/tag156.xml><?xml version="1.0" encoding="utf-8"?>
<p:tagLst xmlns:a="http://schemas.openxmlformats.org/drawingml/2006/main" xmlns:r="http://schemas.openxmlformats.org/officeDocument/2006/relationships" xmlns:p="http://schemas.openxmlformats.org/presentationml/2006/main">
  <p:tag name="TOCSHAPE" val="2147469984"/>
  <p:tag name="SLIDEINDEX" val="2147469984"/>
</p:tagLst>
</file>

<file path=ppt/tags/tag157.xml><?xml version="1.0" encoding="utf-8"?>
<p:tagLst xmlns:a="http://schemas.openxmlformats.org/drawingml/2006/main" xmlns:r="http://schemas.openxmlformats.org/officeDocument/2006/relationships" xmlns:p="http://schemas.openxmlformats.org/presentationml/2006/main">
  <p:tag name="CROSSREFGUID" val="d46926f3-4e60-4369-b8b8-4188edaf2f9a"/>
  <p:tag name="SECTION" val="1"/>
  <p:tag name="NAME" val="Executive summary"/>
</p:tagLst>
</file>

<file path=ppt/tags/tag158.xml><?xml version="1.0" encoding="utf-8"?>
<p:tagLst xmlns:a="http://schemas.openxmlformats.org/drawingml/2006/main" xmlns:r="http://schemas.openxmlformats.org/officeDocument/2006/relationships" xmlns:p="http://schemas.openxmlformats.org/presentationml/2006/main">
  <p:tag name="SHAPETYPE" val="SECTIONTITLE"/>
</p:tagLst>
</file>

<file path=ppt/tags/tag159.xml><?xml version="1.0" encoding="utf-8"?>
<p:tagLst xmlns:a="http://schemas.openxmlformats.org/drawingml/2006/main" xmlns:r="http://schemas.openxmlformats.org/officeDocument/2006/relationships" xmlns:p="http://schemas.openxmlformats.org/presentationml/2006/main">
  <p:tag name="SHAPETYPE" val="SUBSECTIONTITLE"/>
</p:tagLst>
</file>

<file path=ppt/tags/tag16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6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6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63.xml><?xml version="1.0" encoding="utf-8"?>
<p:tagLst xmlns:a="http://schemas.openxmlformats.org/drawingml/2006/main" xmlns:r="http://schemas.openxmlformats.org/officeDocument/2006/relationships" xmlns:p="http://schemas.openxmlformats.org/presentationml/2006/main">
  <p:tag name="TOCSHAPE" val="AA"/>
</p:tagLst>
</file>

<file path=ppt/tags/tag164.xml><?xml version="1.0" encoding="utf-8"?>
<p:tagLst xmlns:a="http://schemas.openxmlformats.org/drawingml/2006/main" xmlns:r="http://schemas.openxmlformats.org/officeDocument/2006/relationships" xmlns:p="http://schemas.openxmlformats.org/presentationml/2006/main">
  <p:tag name="TOCSHAPE" val="789"/>
  <p:tag name="SLIDEINDEX" val="789"/>
</p:tagLst>
</file>

<file path=ppt/tags/tag165.xml><?xml version="1.0" encoding="utf-8"?>
<p:tagLst xmlns:a="http://schemas.openxmlformats.org/drawingml/2006/main" xmlns:r="http://schemas.openxmlformats.org/officeDocument/2006/relationships" xmlns:p="http://schemas.openxmlformats.org/presentationml/2006/main">
  <p:tag name="TOCSHAPE" val="AA"/>
</p:tagLst>
</file>

<file path=ppt/tags/tag166.xml><?xml version="1.0" encoding="utf-8"?>
<p:tagLst xmlns:a="http://schemas.openxmlformats.org/drawingml/2006/main" xmlns:r="http://schemas.openxmlformats.org/officeDocument/2006/relationships" xmlns:p="http://schemas.openxmlformats.org/presentationml/2006/main">
  <p:tag name="TOCSHAPE" val="AA"/>
</p:tagLst>
</file>

<file path=ppt/tags/tag167.xml><?xml version="1.0" encoding="utf-8"?>
<p:tagLst xmlns:a="http://schemas.openxmlformats.org/drawingml/2006/main" xmlns:r="http://schemas.openxmlformats.org/officeDocument/2006/relationships" xmlns:p="http://schemas.openxmlformats.org/presentationml/2006/main">
  <p:tag name="TOCSHAPE" val="AA"/>
</p:tagLst>
</file>

<file path=ppt/tags/tag168.xml><?xml version="1.0" encoding="utf-8"?>
<p:tagLst xmlns:a="http://schemas.openxmlformats.org/drawingml/2006/main" xmlns:r="http://schemas.openxmlformats.org/officeDocument/2006/relationships" xmlns:p="http://schemas.openxmlformats.org/presentationml/2006/main">
  <p:tag name="TOCSHAPE" val="787"/>
  <p:tag name="SLIDEINDEX" val="787"/>
</p:tagLst>
</file>

<file path=ppt/tags/tag169.xml><?xml version="1.0" encoding="utf-8"?>
<p:tagLst xmlns:a="http://schemas.openxmlformats.org/drawingml/2006/main" xmlns:r="http://schemas.openxmlformats.org/officeDocument/2006/relationships" xmlns:p="http://schemas.openxmlformats.org/presentationml/2006/main">
  <p:tag name="TOCSHAPE" val="2147469925"/>
  <p:tag name="SLIDEINDEX" val="2147469925"/>
</p:tagLst>
</file>

<file path=ppt/tags/tag170.xml><?xml version="1.0" encoding="utf-8"?>
<p:tagLst xmlns:a="http://schemas.openxmlformats.org/drawingml/2006/main" xmlns:r="http://schemas.openxmlformats.org/officeDocument/2006/relationships" xmlns:p="http://schemas.openxmlformats.org/presentationml/2006/main">
  <p:tag name="TOCSHAPE" val="2147469941"/>
  <p:tag name="SLIDEINDEX" val="2147469941"/>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73.xml><?xml version="1.0" encoding="utf-8"?>
<p:tagLst xmlns:a="http://schemas.openxmlformats.org/drawingml/2006/main" xmlns:r="http://schemas.openxmlformats.org/officeDocument/2006/relationships" xmlns:p="http://schemas.openxmlformats.org/presentationml/2006/main">
  <p:tag name="SHAPETYPE" val="BREADCRUMB"/>
</p:tagLst>
</file>

<file path=ppt/tags/tag174.xml><?xml version="1.0" encoding="utf-8"?>
<p:tagLst xmlns:a="http://schemas.openxmlformats.org/drawingml/2006/main" xmlns:r="http://schemas.openxmlformats.org/officeDocument/2006/relationships" xmlns:p="http://schemas.openxmlformats.org/presentationml/2006/main">
  <p:tag name="LAST UPDATE DATE" val="487622471.084596"/>
  <p:tag name="IMPORTID" val="3469486336335.525594"/>
  <p:tag name="WBLAST" val="https://kpmgcan.sharepoint.com/sites/CA-TS-ProjectVortex/Shared Documents/2. Engagement Delivery and Execution/06_Analysis_and_Working_Papers/Project Vortex - Draft databook (5.8).xlsb"/>
  <p:tag name="USER NAME" val="deidrebartlett"/>
  <p:tag name="TYPE" val="1"/>
  <p:tag name="SOURCENAME" val="Reported balance sheet"/>
  <p:tag name="SHEETID" val="Summary BS"/>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Summary BS&quot;,&#10;    &quot;DateTime&quot;: &quot;2025-06-14T17:41:11.085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andrewgladiuk&quot;,&#10;    &quot;WorkbookName&quot;: &quot;Project Vortex - Draft databook (5.8).xlsb&quot;,&#10;    &quot;WorksheetName&quot;: &quot;Summary BS&quot;,&#10;    &quot;DateTime&quot;: &quot;2025-06-11T01:14:37.539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Summary BS&quot;,&#10;    &quot;DateTime&quot;: &quot;2025-06-10T23:57:27.261Z&quot;,&#10;    &quot;PictureAppearance&quot;: 2,&#10;    &quot;PreserveInitialVisibility&quot;: false,&#10;    &quot;PreserveWidth&quot;: true,&#10;    &quot;ResizeBeforeExport&quot;: false&#10;  }&#10;}"/>
</p:tagLst>
</file>

<file path=ppt/tags/tag17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76.xml><?xml version="1.0" encoding="utf-8"?>
<p:tagLst xmlns:a="http://schemas.openxmlformats.org/drawingml/2006/main" xmlns:r="http://schemas.openxmlformats.org/officeDocument/2006/relationships" xmlns:p="http://schemas.openxmlformats.org/presentationml/2006/main">
  <p:tag name="LAST UPDATE DATE" val="487551656.824773"/>
  <p:tag name="IMPORTID" val="1129487287974.986492"/>
  <p:tag name="WBLAST" val="https://kpmgcan.sharepoint.com/sites/CA-TS-ProjectVortex/Shared Documents/2. Engagement Delivery and Execution/06_Analysis_and_Working_Papers/Project Vortex - Draft databook (5.8).xlsb"/>
  <p:tag name="USER NAME" val="deidrebartlett"/>
  <p:tag name="TYPE" val="1"/>
  <p:tag name="SOURCENAME" val="Adjusted P&amp;L"/>
  <p:tag name="SHEETID" val="Adj P&amp;L (simple)"/>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Adj P&amp;L (simple)&quot;,&#10;    &quot;DateTime&quot;: &quot;2025-06-13T22:00:56.825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Adj P&amp;L (simple)&quot;,&#10;    &quot;DateTime&quot;: &quot;2025-06-12T16:47:58.3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Adj P&amp;L (simple)&quot;,&#10;    &quot;DateTime&quot;: &quot;2025-06-10T20:46:14.986Z&quot;,&#10;    &quot;PictureAppearance&quot;: 2,&#10;    &quot;PreserveInitialVisibility&quot;: false,&#10;    &quot;PreserveWidth&quot;: true,&#10;    &quot;ResizeBeforeExport&quot;: false&#10;  }&#10;}"/>
</p:tagLst>
</file>

<file path=ppt/tags/tag177.xml><?xml version="1.0" encoding="utf-8"?>
<p:tagLst xmlns:a="http://schemas.openxmlformats.org/drawingml/2006/main" xmlns:r="http://schemas.openxmlformats.org/officeDocument/2006/relationships" xmlns:p="http://schemas.openxmlformats.org/presentationml/2006/main">
  <p:tag name="SHAPETYPE" val="BREADCRUMB"/>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80.xml><?xml version="1.0" encoding="utf-8"?>
<p:tagLst xmlns:a="http://schemas.openxmlformats.org/drawingml/2006/main" xmlns:r="http://schemas.openxmlformats.org/officeDocument/2006/relationships" xmlns:p="http://schemas.openxmlformats.org/presentationml/2006/main">
  <p:tag name="LAST UPDATE DATE" val="487646912.347714"/>
  <p:tag name="IMPORTID" val="396487368192.329088"/>
  <p:tag name="WBLAST" val="https://kpmgcan.sharepoint.com/sites/CA-TS-ProjectVortex/Shared Documents/2. Engagement Delivery and Execution/06_Analysis_and_Working_Papers/Project Vortex - Draft databook (5.8).xlsb"/>
  <p:tag name="USER NAME" val="andrewgladiuk"/>
  <p:tag name="TYPE" val="1"/>
  <p:tag name="SOURCENAME" val="Locked Box - December 31, 2024"/>
  <p:tag name="SHEETID" val="Locked box (6.10)"/>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andrewgladiuk&quot;,&#10;    &quot;WorkbookName&quot;: &quot;Project Vortex - Draft databook (5.8).xlsb&quot;,&#10;    &quot;WorksheetName&quot;: &quot;Locked box (6.10)&quot;,&#10;    &quot;DateTime&quot;: &quot;2025-06-15T00:28:32.348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Locked box (6.10)&quot;,&#10;    &quot;DateTime&quot;: &quot;2025-06-13T21:31:56.641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Locked box (6.10)&quot;,&#10;    &quot;DateTime&quot;: &quot;2025-06-11T19:03:12.329Z&quot;,&#10;    &quot;PictureAppearance&quot;: 2,&#10;    &quot;PreserveInitialVisibility&quot;: false,&#10;    &quot;PreserveWidth&quot;: true,&#10;    &quot;ResizeBeforeExport&quot;: false&#10;  }&#10;}"/>
</p:tagLst>
</file>

<file path=ppt/tags/tag181.xml><?xml version="1.0" encoding="utf-8"?>
<p:tagLst xmlns:a="http://schemas.openxmlformats.org/drawingml/2006/main" xmlns:r="http://schemas.openxmlformats.org/officeDocument/2006/relationships" xmlns:p="http://schemas.openxmlformats.org/presentationml/2006/main">
  <p:tag name="SHAPETYPE" val="BREADCRUMB"/>
</p:tagLst>
</file>

<file path=ppt/tags/tag182.xml><?xml version="1.0" encoding="utf-8"?>
<p:tagLst xmlns:a="http://schemas.openxmlformats.org/drawingml/2006/main" xmlns:r="http://schemas.openxmlformats.org/officeDocument/2006/relationships" xmlns:p="http://schemas.openxmlformats.org/presentationml/2006/main">
  <p:tag name="LAST UPDATE DATE" val="487551770.33385"/>
  <p:tag name="IMPORTID" val="4460487382139.643074"/>
  <p:tag name="WBLAST" val="https://kpmgcan.sharepoint.com/sites/CA-TS-ProjectVortex/Shared Documents/2. Engagement Delivery and Execution/06_Analysis_and_Working_Papers/Project Vortex - Draft databook (5.8).xlsb"/>
  <p:tag name="USER NAME" val="deidrebartlett"/>
  <p:tag name="TYPE" val="1"/>
  <p:tag name="SOURCENAME" val="Net working capital target - sensitivity matrix"/>
  <p:tag name="SHEETID" val="Target matrix"/>
  <p:tag name="PICTUREAPPEARANCE" val="xlPrinter"/>
  <p:tag name="NORESIZEONUPDATE" val="False"/>
  <p:tag name="EXPORTANDSETTINGINFO" val="{&#10;  &quot;Last&quot;: {&#10;    &quot;General&quot;: {&#10;      &quot;ExcelInfo&quot;: {&#10;        &quot;Printer&quot;: &quot;Microsoft Print to PDF on Ne02:&quot;,&#10;        &quot;ZoomLevel&quot;: &quot;7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Target matrix&quot;,&#10;    &quot;DateTime&quot;: &quot;2025-06-13T22:02:50.334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Target matrix&quot;,&#10;    &quot;DateTime&quot;: &quot;2025-06-13T00:30:44.59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false,&#10;        &quot;Resolution&quot;: {&#10;          &quot;Width&quot;: 1920,&#10;          &quot;Height&quot;: 1080&#10;        },&#10;        &quot;ResolutionToWorkingAreaRatio&quot;: 1.0&#10;      },&#10;      &quot;ResizeRatio&quot;: 1.0,&#10;      &quot;UndoAutoColor&quot;: false,&#10;      &quot;CustomAutoColor&quot;: false&#10;    },&#10;    &quot;UserName&quot;: &quot;andrewgladiuk&quot;,&#10;    &quot;WorkbookName&quot;: &quot;Project Vortex - Draft databook (5.8).xlsb&quot;,&#10;    &quot;WorksheetName&quot;: &quot;Target matrix&quot;,&#10;    &quot;DateTime&quot;: &quot;2025-06-11T22:55:39.643Z&quot;,&#10;    &quot;PictureAppearance&quot;: 2,&#10;    &quot;PreserveInitialVisibility&quot;: false,&#10;    &quot;PreserveWidth&quot;: true,&#10;    &quot;ResizeBeforeExport&quot;: false&#10;  }&#10;}"/>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85.xml><?xml version="1.0" encoding="utf-8"?>
<p:tagLst xmlns:a="http://schemas.openxmlformats.org/drawingml/2006/main" xmlns:r="http://schemas.openxmlformats.org/officeDocument/2006/relationships" xmlns:p="http://schemas.openxmlformats.org/presentationml/2006/main">
  <p:tag name="SHAPETYPE" val="BREADCRUMB"/>
</p:tagLst>
</file>

<file path=ppt/tags/tag186.xml><?xml version="1.0" encoding="utf-8"?>
<p:tagLst xmlns:a="http://schemas.openxmlformats.org/drawingml/2006/main" xmlns:r="http://schemas.openxmlformats.org/officeDocument/2006/relationships" xmlns:p="http://schemas.openxmlformats.org/presentationml/2006/main">
  <p:tag name="LAST UPDATE DATE" val="488051644.239038"/>
  <p:tag name="IMPORTID" val="9305487271853.719247"/>
  <p:tag name="WBLAST" val="https://kpmgcan.sharepoint.com/sites/CA-TS-ProjectVortex/Shared Documents/2. Engagement Delivery and Execution/06_Analysis_and_Working_Papers/Project Vortex - Draft retention analysis.xlsb.xlsx"/>
  <p:tag name="USER NAME" val="andrewgladiuk"/>
  <p:tag name="TYPE" val="1"/>
  <p:tag name="SOURCENAME" val="ARR"/>
  <p:tag name="SHEETID" val="Report tables"/>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false,&#10;        &quot;Resolution&quot;: {&#10;          &quot;Width&quot;: 1920,&#10;          &quot;Height&quot;: 1080&#10;        },&#10;        &quot;ResolutionToWorkingAreaRatio&quot;: 1.0&#10;      },&#10;      &quot;ResizeRatio&quot;: 1.0,&#10;      &quot;UndoAutoColor&quot;: false,&#10;      &quot;CustomAutoColor&quot;: false&#10;    },&#10;    &quot;UserName&quot;: &quot;andrewgladiuk&quot;,&#10;    &quot;WorkbookName&quot;: &quot;Project Vortex - Draft retention analysis.xlsb.xlsx&quot;,&#10;    &quot;WorksheetName&quot;: &quot;Report tables&quot;,&#10;    &quot;DateTime&quot;: &quot;2025-06-19T16:54:04.239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false,&#10;        &quot;Resolution&quot;: {&#10;          &quot;Width&quot;: 1920,&#10;          &quot;Height&quot;: 1080&#10;        },&#10;        &quot;ResolutionToWorkingAreaRatio&quot;: 1.0&#10;      },&#10;      &quot;ResizeRatio&quot;: 1.0,&#10;      &quot;UndoAutoColor&quot;: false,&#10;      &quot;CustomAutoColor&quot;: false&#10;    },&#10;    &quot;UserName&quot;: &quot;andrewgladiuk&quot;,&#10;    &quot;WorkbookName&quot;: &quot;Project Vortex - Draft retention analysis.xlsb.xlsx&quot;,&#10;    &quot;WorksheetName&quot;: &quot;Report tables&quot;,&#10;    &quot;DateTime&quot;: &quot;2025-06-18T21:37:19.282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0&#10;      },&#10;      &quot;ResizeRatio&quot;: 1.0,&#10;      &quot;UndoAutoColor&quot;: false,&#10;      &quot;CustomAutoColor&quot;: false&#10;    },&#10;    &quot;UserName&quot;: &quot;andrewgladiuk&quot;,&#10;    &quot;WorkbookName&quot;: &quot;Project Vortex - Draft retention analysis.xlsb.xlsx&quot;,&#10;    &quot;WorksheetName&quot;: &quot;Report tables&quot;,&#10;    &quot;DateTime&quot;: &quot;2025-06-10T16:17:33.719Z&quot;,&#10;    &quot;PictureAppearance&quot;: 2,&#10;    &quot;PreserveInitialVisibility&quot;: false,&#10;    &quot;PreserveWidth&quot;: true,&#10;    &quot;ResizeBeforeExport&quot;: false&#10;  }&#10;}"/>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89.xml><?xml version="1.0" encoding="utf-8"?>
<p:tagLst xmlns:a="http://schemas.openxmlformats.org/drawingml/2006/main" xmlns:r="http://schemas.openxmlformats.org/officeDocument/2006/relationships" xmlns:p="http://schemas.openxmlformats.org/presentationml/2006/main">
  <p:tag name="SHAPETYPE" val="BREADCRUMB"/>
</p:tagLst>
</file>

<file path=ppt/tags/tag190.xml><?xml version="1.0" encoding="utf-8"?>
<p:tagLst xmlns:a="http://schemas.openxmlformats.org/drawingml/2006/main" xmlns:r="http://schemas.openxmlformats.org/officeDocument/2006/relationships" xmlns:p="http://schemas.openxmlformats.org/presentationml/2006/main">
  <p:tag name="LAST UPDATE DATE" val="487624599.530875"/>
  <p:tag name="IMPORTID" val="2773487447405.34606"/>
  <p:tag name="WBLAST" val="https://kpmgcan.sharepoint.com/sites/CA-TS-ProjectVortex/Shared Documents/2. Engagement Delivery and Execution/06_Analysis_and_Working_Papers/Project Vortex - Draft databook (5.8).xlsb"/>
  <p:tag name="USER NAME" val="deidrebartlett"/>
  <p:tag name="TYPE" val="1"/>
  <p:tag name="SOURCENAME" val="Quality of earnings"/>
  <p:tag name="SHEETID" val="QofE | Summary (TTM)"/>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Summary (TTM)&quot;,&#10;    &quot;DateTime&quot;: &quot;2025-06-14T18:16:39.531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Summary (TTM)&quot;,&#10;    &quot;DateTime&quot;: &quot;2025-06-14T18:16:09.328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Summary (TTM)&quot;,&#10;    &quot;DateTime&quot;: &quot;2025-06-12T17:03:25.346Z&quot;,&#10;    &quot;PictureAppearance&quot;: 2,&#10;    &quot;PreserveInitialVisibility&quot;: false,&#10;    &quot;PreserveWidth&quot;: true,&#10;    &quot;ResizeBeforeExport&quot;: false&#10;  }&#10;}"/>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93.xml><?xml version="1.0" encoding="utf-8"?>
<p:tagLst xmlns:a="http://schemas.openxmlformats.org/drawingml/2006/main" xmlns:r="http://schemas.openxmlformats.org/officeDocument/2006/relationships" xmlns:p="http://schemas.openxmlformats.org/presentationml/2006/main">
  <p:tag name="SHAPETYPE" val="BREADCRUMB"/>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96.xml><?xml version="1.0" encoding="utf-8"?>
<p:tagLst xmlns:a="http://schemas.openxmlformats.org/drawingml/2006/main" xmlns:r="http://schemas.openxmlformats.org/officeDocument/2006/relationships" xmlns:p="http://schemas.openxmlformats.org/presentationml/2006/main">
  <p:tag name="LAST UPDATE DATE" val="487639224.379208"/>
  <p:tag name="IMPORTID" val="3291487267624.876203"/>
  <p:tag name="WBLAST" val="https://kpmgcan.sharepoint.com/sites/CA-TS-ProjectVortex/Shared Documents/2. Engagement Delivery and Execution/06_Analysis_and_Working_Papers/Project Vortex - Draft databook (5.8).xlsb"/>
  <p:tag name="USER NAME" val="deidrebartlett"/>
  <p:tag name="TYPE" val="1"/>
  <p:tag name="SOURCENAME" val="Free cash flow"/>
  <p:tag name="SHEETID" val="P&amp;L with cash flow"/>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P&amp;L with cash flow&quot;,&#10;    &quot;DateTime&quot;: &quot;2025-06-14T22:20:24.379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andrewgladiuk&quot;,&#10;    &quot;WorkbookName&quot;: &quot;Project Vortex - Draft databook (5.8).xlsb&quot;,&#10;    &quot;WorksheetName&quot;: &quot;P&amp;L with cash flow&quot;,&#10;    &quot;DateTime&quot;: &quot;2025-06-14T17:28:49.319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0&#10;      },&#10;      &quot;ResizeRatio&quot;: 1.0,&#10;      &quot;UndoAutoColor&quot;: false,&#10;      &quot;CustomAutoColor&quot;: false&#10;    },&#10;    &quot;UserName&quot;: &quot;andrewgladiuk&quot;,&#10;    &quot;WorkbookName&quot;: &quot;Project Vortex - Draft databook (5.8).xlsb&quot;,&#10;    &quot;WorksheetName&quot;: &quot;P&amp;L with cash flow&quot;,&#10;    &quot;DateTime&quot;: &quot;2025-06-10T15:07:04.876Z&quot;,&#10;    &quot;PictureAppearance&quot;: 2,&#10;    &quot;PreserveInitialVisibility&quot;: false,&#10;    &quot;PreserveWidth&quot;: true,&#10;    &quot;ResizeBeforeExport&quot;: false&#10;  }&#10;}"/>
</p:tagLst>
</file>

<file path=ppt/tags/tag197.xml><?xml version="1.0" encoding="utf-8"?>
<p:tagLst xmlns:a="http://schemas.openxmlformats.org/drawingml/2006/main" xmlns:r="http://schemas.openxmlformats.org/officeDocument/2006/relationships" xmlns:p="http://schemas.openxmlformats.org/presentationml/2006/main">
  <p:tag name="SHAPETYPE" val="BREADCRUMB"/>
</p:tagLst>
</file>

<file path=ppt/tags/tag198.xml><?xml version="1.0" encoding="utf-8"?>
<p:tagLst xmlns:a="http://schemas.openxmlformats.org/drawingml/2006/main" xmlns:r="http://schemas.openxmlformats.org/officeDocument/2006/relationships" xmlns:p="http://schemas.openxmlformats.org/presentationml/2006/main">
  <p:tag name="SECTION" val="2"/>
  <p:tag name="NAME" val="Quality of revenue / ARR"/>
</p:tagLst>
</file>

<file path=ppt/tags/tag199.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20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20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20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20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204.xml><?xml version="1.0" encoding="utf-8"?>
<p:tagLst xmlns:a="http://schemas.openxmlformats.org/drawingml/2006/main" xmlns:r="http://schemas.openxmlformats.org/officeDocument/2006/relationships" xmlns:p="http://schemas.openxmlformats.org/presentationml/2006/main">
  <p:tag name="TOCSHAPE" val="AA"/>
</p:tagLst>
</file>

<file path=ppt/tags/tag205.xml><?xml version="1.0" encoding="utf-8"?>
<p:tagLst xmlns:a="http://schemas.openxmlformats.org/drawingml/2006/main" xmlns:r="http://schemas.openxmlformats.org/officeDocument/2006/relationships" xmlns:p="http://schemas.openxmlformats.org/presentationml/2006/main">
  <p:tag name="TOCSHAPE" val="2147469934"/>
  <p:tag name="SLIDEINDEX" val="2147469934"/>
</p:tagLst>
</file>

<file path=ppt/tags/tag206.xml><?xml version="1.0" encoding="utf-8"?>
<p:tagLst xmlns:a="http://schemas.openxmlformats.org/drawingml/2006/main" xmlns:r="http://schemas.openxmlformats.org/officeDocument/2006/relationships" xmlns:p="http://schemas.openxmlformats.org/presentationml/2006/main">
  <p:tag name="TOCSHAPE" val="AA"/>
</p:tagLst>
</file>

<file path=ppt/tags/tag207.xml><?xml version="1.0" encoding="utf-8"?>
<p:tagLst xmlns:a="http://schemas.openxmlformats.org/drawingml/2006/main" xmlns:r="http://schemas.openxmlformats.org/officeDocument/2006/relationships" xmlns:p="http://schemas.openxmlformats.org/presentationml/2006/main">
  <p:tag name="TOCSHAPE" val="AA"/>
</p:tagLst>
</file>

<file path=ppt/tags/tag208.xml><?xml version="1.0" encoding="utf-8"?>
<p:tagLst xmlns:a="http://schemas.openxmlformats.org/drawingml/2006/main" xmlns:r="http://schemas.openxmlformats.org/officeDocument/2006/relationships" xmlns:p="http://schemas.openxmlformats.org/presentationml/2006/main">
  <p:tag name="TOCSHAPE" val="AA"/>
</p:tagLst>
</file>

<file path=ppt/tags/tag209.xml><?xml version="1.0" encoding="utf-8"?>
<p:tagLst xmlns:a="http://schemas.openxmlformats.org/drawingml/2006/main" xmlns:r="http://schemas.openxmlformats.org/officeDocument/2006/relationships" xmlns:p="http://schemas.openxmlformats.org/presentationml/2006/main">
  <p:tag name="TOCSHAPE" val="AA"/>
</p:tagLst>
</file>

<file path=ppt/tags/tag210.xml><?xml version="1.0" encoding="utf-8"?>
<p:tagLst xmlns:a="http://schemas.openxmlformats.org/drawingml/2006/main" xmlns:r="http://schemas.openxmlformats.org/officeDocument/2006/relationships" xmlns:p="http://schemas.openxmlformats.org/presentationml/2006/main">
  <p:tag name="TOCSHAPE" val="724"/>
  <p:tag name="SLIDEINDEX" val="724"/>
</p:tagLst>
</file>

<file path=ppt/tags/tag211.xml><?xml version="1.0" encoding="utf-8"?>
<p:tagLst xmlns:a="http://schemas.openxmlformats.org/drawingml/2006/main" xmlns:r="http://schemas.openxmlformats.org/officeDocument/2006/relationships" xmlns:p="http://schemas.openxmlformats.org/presentationml/2006/main">
  <p:tag name="TOCSHAPE" val="2147469961"/>
  <p:tag name="SLIDEINDEX" val="2147469961"/>
</p:tagLst>
</file>

<file path=ppt/tags/tag212.xml><?xml version="1.0" encoding="utf-8"?>
<p:tagLst xmlns:a="http://schemas.openxmlformats.org/drawingml/2006/main" xmlns:r="http://schemas.openxmlformats.org/officeDocument/2006/relationships" xmlns:p="http://schemas.openxmlformats.org/presentationml/2006/main">
  <p:tag name="TOCSHAPE" val="2147469955"/>
  <p:tag name="SLIDEINDEX" val="2147469955"/>
</p:tagLst>
</file>

<file path=ppt/tags/tag213.xml><?xml version="1.0" encoding="utf-8"?>
<p:tagLst xmlns:a="http://schemas.openxmlformats.org/drawingml/2006/main" xmlns:r="http://schemas.openxmlformats.org/officeDocument/2006/relationships" xmlns:p="http://schemas.openxmlformats.org/presentationml/2006/main">
  <p:tag name="TOCSHAPE" val="2147469949"/>
  <p:tag name="SLIDEINDEX" val="2147469949"/>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1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17.xml><?xml version="1.0" encoding="utf-8"?>
<p:tagLst xmlns:a="http://schemas.openxmlformats.org/drawingml/2006/main" xmlns:r="http://schemas.openxmlformats.org/officeDocument/2006/relationships" xmlns:p="http://schemas.openxmlformats.org/presentationml/2006/main">
  <p:tag name="LAST UPDATE DATE" val="487448450.805091"/>
  <p:tag name="IMPORTID" val="2505487309873.626034"/>
  <p:tag name="WBLAST" val="https://kpmgcan.sharepoint.com/sites/CA-TS-ProjectVortex/Shared Documents/2. Engagement Delivery and Execution/06_Analysis_and_Working_Papers/Project Vortex - Draft retention analysis.xlsb.xlsx"/>
  <p:tag name="USER NAME" val="andrewgladiuk"/>
  <p:tag name="TYPE" val="1"/>
  <p:tag name="SOURCENAME" val="Adjusted ARR per Management"/>
  <p:tag name="SHEETID" val="Monthly - Overvew"/>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false,&#10;        &quot;Resolution&quot;: {&#10;          &quot;Width&quot;: 1920,&#10;          &quot;Height&quot;: 1080&#10;        },&#10;        &quot;ResolutionToWorkingAreaRatio&quot;: 1.0&#10;      },&#10;      &quot;ResizeRatio&quot;: 1.0,&#10;      &quot;UndoAutoColor&quot;: false,&#10;      &quot;CustomAutoColor&quot;: false&#10;    },&#10;    &quot;UserName&quot;: &quot;andrewgladiuk&quot;,&#10;    &quot;WorkbookName&quot;: &quot;Project Vortex - Draft retention analysis.xlsb.xlsx&quot;,&#10;    &quot;WorksheetName&quot;: &quot;Monthly - Overvew&quot;,&#10;    &quot;DateTime&quot;: &quot;2025-06-12T17:20:50.805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false,&#10;        &quot;Resolution&quot;: {&#10;          &quot;Width&quot;: 1920,&#10;          &quot;Height&quot;: 1080&#10;        },&#10;        &quot;ResolutionToWorkingAreaRatio&quot;: 1.0&#10;      },&#10;      &quot;ResizeRatio&quot;: 1.0,&#10;      &quot;UndoAutoColor&quot;: false,&#10;      &quot;CustomAutoColor&quot;: false&#10;    },&#10;    &quot;UserName&quot;: &quot;andrewgladiuk&quot;,&#10;    &quot;WorkbookName&quot;: &quot;Project Vortex - Draft retention analysis.xlsb.xlsx&quot;,&#10;    &quot;WorksheetName&quot;: &quot;Monthly - Overvew&quot;,&#10;    &quot;DateTime&quot;: &quot;2025-06-11T16:59:08.015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andrewgladiuk&quot;,&#10;    &quot;WorkbookName&quot;: &quot;Project Vortex - Draft retention analysis.xlsb.xlsx&quot;,&#10;    &quot;WorksheetName&quot;: &quot;Monthly - Overvew&quot;,&#10;    &quot;DateTime&quot;: &quot;2025-06-11T02:51:13.626Z&quot;,&#10;    &quot;PictureAppearance&quot;: 2,&#10;    &quot;PreserveInitialVisibility&quot;: false,&#10;    &quot;PreserveWidth&quot;: true,&#10;    &quot;ResizeBeforeExport&quot;: false&#10;  }&#10;}"/>
</p:tagLst>
</file>

<file path=ppt/tags/tag218.xml><?xml version="1.0" encoding="utf-8"?>
<p:tagLst xmlns:a="http://schemas.openxmlformats.org/drawingml/2006/main" xmlns:r="http://schemas.openxmlformats.org/officeDocument/2006/relationships" xmlns:p="http://schemas.openxmlformats.org/presentationml/2006/main">
  <p:tag name="SHAPETYPE" val="BREADCRUMB"/>
</p:tagLst>
</file>

<file path=ppt/tags/tag219.xml><?xml version="1.0" encoding="utf-8"?>
<p:tagLst xmlns:a="http://schemas.openxmlformats.org/drawingml/2006/main" xmlns:r="http://schemas.openxmlformats.org/officeDocument/2006/relationships" xmlns:p="http://schemas.openxmlformats.org/presentationml/2006/main">
  <p:tag name="LAST UPDATE DATE" val="488052776.986922"/>
  <p:tag name="IMPORTID" val="4910488052284.820906"/>
  <p:tag name="WBLAST" val="https://kpmgcan.sharepoint.com/sites/CA-TS-ProjectVortex/Shared Documents/2. Engagement Delivery and Execution/06_Analysis_and_Working_Papers/Project Vortex - Draft retention analysis.xlsb.xlsx"/>
  <p:tag name="USER NAME" val="andrewgladiuk"/>
  <p:tag name="TYPE" val="1"/>
  <p:tag name="SOURCENAME" val="Adjustments (reoccurring &amp; late renewals)"/>
  <p:tag name="SHEETID" val="Report tables"/>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false,&#10;        &quot;Resolution&quot;: {&#10;          &quot;Width&quot;: 1920,&#10;          &quot;Height&quot;: 1080&#10;        },&#10;        &quot;ResolutionToWorkingAreaRatio&quot;: 1.0&#10;      },&#10;      &quot;ResizeRatio&quot;: 1.0,&#10;      &quot;UndoAutoColor&quot;: false,&#10;      &quot;CustomAutoColor&quot;: false&#10;    },&#10;    &quot;UserName&quot;: &quot;andrewgladiuk&quot;,&#10;    &quot;WorkbookName&quot;: &quot;Project Vortex - Draft retention analysis.xlsb.xlsx&quot;,&#10;    &quot;WorksheetName&quot;: &quot;Report tables&quot;,&#10;    &quot;DateTime&quot;: &quot;2025-06-19T17:12:56.987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false,&#10;        &quot;Resolution&quot;: {&#10;          &quot;Width&quot;: 1920,&#10;          &quot;Height&quot;: 1080&#10;        },&#10;        &quot;ResolutionToWorkingAreaRatio&quot;: 1.0&#10;      },&#10;      &quot;ResizeRatio&quot;: 1.0,&#10;      &quot;UndoAutoColor&quot;: false,&#10;      &quot;CustomAutoColor&quot;: false&#10;    },&#10;    &quot;UserName&quot;: &quot;andrewgladiuk&quot;,&#10;    &quot;WorkbookName&quot;: &quot;Project Vortex - Draft retention analysis.xlsb.xlsx&quot;,&#10;    &quot;WorksheetName&quot;: &quot;Report tables&quot;,&#10;    &quot;DateTime&quot;: &quot;2025-06-19T17:04:44.821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false,&#10;        &quot;Resolution&quot;: {&#10;          &quot;Width&quot;: 1920,&#10;          &quot;Height&quot;: 1080&#10;        },&#10;        &quot;ResolutionToWorkingAreaRatio&quot;: 1.0&#10;      },&#10;      &quot;ResizeRatio&quot;: 1.0,&#10;      &quot;UndoAutoColor&quot;: false,&#10;      &quot;CustomAutoColor&quot;: false&#10;    },&#10;    &quot;UserName&quot;: &quot;andrewgladiuk&quot;,&#10;    &quot;WorkbookName&quot;: &quot;Project Vortex - Draft retention analysis.xlsb.xlsx&quot;,&#10;    &quot;WorksheetName&quot;: &quot;Report tables&quot;,&#10;    &quot;DateTime&quot;: &quot;2025-06-19T17:04:44.821Z&quot;,&#10;    &quot;PictureAppearance&quot;: 2,&#10;    &quot;PreserveInitialVisibility&quot;: false,&#10;    &quot;PreserveWidth&quot;: true,&#10;    &quot;ResizeBeforeExport&quot;: false&#10;  }&#10;}"/>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2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23.xml><?xml version="1.0" encoding="utf-8"?>
<p:tagLst xmlns:a="http://schemas.openxmlformats.org/drawingml/2006/main" xmlns:r="http://schemas.openxmlformats.org/officeDocument/2006/relationships" xmlns:p="http://schemas.openxmlformats.org/presentationml/2006/main">
  <p:tag name="SHAPETYPE" val="BREADCRUMB"/>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2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27.xml><?xml version="1.0" encoding="utf-8"?>
<p:tagLst xmlns:a="http://schemas.openxmlformats.org/drawingml/2006/main" xmlns:r="http://schemas.openxmlformats.org/officeDocument/2006/relationships" xmlns:p="http://schemas.openxmlformats.org/presentationml/2006/main">
  <p:tag name="LAST UPDATE DATE" val="487394530.851413"/>
  <p:tag name="IMPORTID" val="4669487288781.345437"/>
  <p:tag name="WBLAST" val="https://kpmgcan.sharepoint.com/sites/CA-TS-ProjectVortex/Shared Documents/2. Engagement Delivery and Execution/06_Analysis_and_Working_Papers/Project Vortex - Draft retention analysis.xlsb.xlsx"/>
  <p:tag name="USER NAME" val="andrewgladiuk"/>
  <p:tag name="TYPE" val="1"/>
  <p:tag name="SOURCENAME" val="Reconciliation - MRR to revenue"/>
  <p:tag name="SHEETID" val="Monthly - Overvew"/>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false,&#10;        &quot;Resolution&quot;: {&#10;          &quot;Width&quot;: 1920,&#10;          &quot;Height&quot;: 1080&#10;        },&#10;        &quot;ResolutionToWorkingAreaRatio&quot;: 1.0&#10;      },&#10;      &quot;ResizeRatio&quot;: 1.0,&#10;      &quot;UndoAutoColor&quot;: false,&#10;      &quot;CustomAutoColor&quot;: false&#10;    },&#10;    &quot;UserName&quot;: &quot;andrewgladiuk&quot;,&#10;    &quot;WorkbookName&quot;: &quot;Project Vortex - Draft retention analysis.xlsb.xlsx&quot;,&#10;    &quot;WorksheetName&quot;: &quot;Monthly - Overvew&quot;,&#10;    &quot;DateTime&quot;: &quot;2025-06-12T02:22:10.851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false,&#10;        &quot;Resolution&quot;: {&#10;          &quot;Width&quot;: 1920,&#10;          &quot;Height&quot;: 1080&#10;        },&#10;        &quot;ResolutionToWorkingAreaRatio&quot;: 1.0&#10;      },&#10;      &quot;ResizeRatio&quot;: 1.0,&#10;      &quot;UndoAutoColor&quot;: false,&#10;      &quot;CustomAutoColor&quot;: false&#10;    },&#10;    &quot;UserName&quot;: &quot;andrewgladiuk&quot;,&#10;    &quot;WorkbookName&quot;: &quot;Project Vortex - Draft retention analysis.xlsb.xlsx&quot;,&#10;    &quot;WorksheetName&quot;: &quot;Monthly - Overvew&quot;,&#10;    &quot;DateTime&quot;: &quot;2025-06-12T02:20:21.943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retention analysis.xlsb.xlsx&quot;,&#10;    &quot;WorksheetName&quot;: &quot;Monthly - Overvew&quot;,&#10;    &quot;DateTime&quot;: &quot;2025-06-10T21:06:19.421Z&quot;,&#10;    &quot;PictureAppearance&quot;: 2,&#10;    &quot;PreserveInitialVisibility&quot;: false,&#10;    &quot;PreserveWidth&quot;: true,&#10;    &quot;ResizeBeforeExport&quot;: false&#10;  }&#10;}"/>
</p:tagLst>
</file>

<file path=ppt/tags/tag228.xml><?xml version="1.0" encoding="utf-8"?>
<p:tagLst xmlns:a="http://schemas.openxmlformats.org/drawingml/2006/main" xmlns:r="http://schemas.openxmlformats.org/officeDocument/2006/relationships" xmlns:p="http://schemas.openxmlformats.org/presentationml/2006/main">
  <p:tag name="SHAPETYPE" val="BREADCRUMB"/>
</p:tagLst>
</file>

<file path=ppt/tags/tag229.xml><?xml version="1.0" encoding="utf-8"?>
<p:tagLst xmlns:a="http://schemas.openxmlformats.org/drawingml/2006/main" xmlns:r="http://schemas.openxmlformats.org/officeDocument/2006/relationships" xmlns:p="http://schemas.openxmlformats.org/presentationml/2006/main">
  <p:tag name="LAST UPDATE DATE" val="488483421.360028"/>
  <p:tag name="IMPORTID" val="6361488055604.172932"/>
  <p:tag name="WBLAST" val="https://kpmgcan.sharepoint.com/sites/CA-TS-ProjectVortex/Shared Documents/2. Engagement Delivery and Execution/06_Analysis_and_Working_Papers/Project Vortex - Draft databook (5.8).xlsb"/>
  <p:tag name="USER NAME" val="deidrebartlett"/>
  <p:tag name="TYPE" val="1"/>
  <p:tag name="SOURCENAME" val="Reconciliation - cash to revenue"/>
  <p:tag name="SHEETID" val="MRR Rec"/>
  <p:tag name="PICTUREAPPEARANCE" val="xlPrinter"/>
  <p:tag name="NORESIZEONUPDATE" val="False"/>
  <p:tag name="EXPORTANDSETTINGINFO" val="{&#10;  &quot;Last&quot;: {&#10;    &quot;General&quot;: {&#10;      &quot;ExcelInfo&quot;: {&#10;        &quot;Printer&quot;: &quot;Microsoft Print to PDF on Ne02:&quot;,&#10;        &quot;ZoomLevel&quot;: &quot;13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MRR Rec&quot;,&#10;    &quot;DateTime&quot;: &quot;2025-06-24T16:50:21.36Z&quot;,&#10;    &quot;PictureAppearance&quot;: 2,&#10;    &quot;PreserveInitialVisibility&quot;: false,&#10;    &quot;PreserveWidth&quot;: true,&#10;    &quot;ResizeBeforeExport&quot;: false&#10;  },&#10;  &quot;Previous&quot;: null,&#10;  &quot;Initial&quot;: {&#10;    &quot;General&quot;: {&#10;      &quot;ExcelInfo&quot;: {&#10;        &quot;Printer&quot;: &quot;Microsoft Print to PDF on Ne02:&quot;,&#10;        &quot;ZoomLevel&quot;: &quot;13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MRR Rec&quot;,&#10;    &quot;DateTime&quot;: &quot;2025-06-24T16:50:21.36Z&quot;,&#10;    &quot;PictureAppearance&quot;: 2,&#10;    &quot;PreserveInitialVisibility&quot;: false,&#10;    &quot;PreserveWidth&quot;: true,&#10;    &quot;ResizeBeforeExport&quot;: false&#10;  }&#10;}"/>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3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33.xml><?xml version="1.0" encoding="utf-8"?>
<p:tagLst xmlns:a="http://schemas.openxmlformats.org/drawingml/2006/main" xmlns:r="http://schemas.openxmlformats.org/officeDocument/2006/relationships" xmlns:p="http://schemas.openxmlformats.org/presentationml/2006/main">
  <p:tag name="SHAPETYPE" val="BREADCRUMB"/>
</p:tagLst>
</file>

<file path=ppt/tags/tag234.xml><?xml version="1.0" encoding="utf-8"?>
<p:tagLst xmlns:a="http://schemas.openxmlformats.org/drawingml/2006/main" xmlns:r="http://schemas.openxmlformats.org/officeDocument/2006/relationships" xmlns:p="http://schemas.openxmlformats.org/presentationml/2006/main">
  <p:tag name="SECTION" val="3"/>
  <p:tag name="NAME" val="Quality of earnings / run rate"/>
</p:tagLst>
</file>

<file path=ppt/tags/tag235.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23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237.xml><?xml version="1.0" encoding="utf-8"?>
<p:tagLst xmlns:a="http://schemas.openxmlformats.org/drawingml/2006/main" xmlns:r="http://schemas.openxmlformats.org/officeDocument/2006/relationships" xmlns:p="http://schemas.openxmlformats.org/presentationml/2006/main">
  <p:tag name="TOCSHAPE" val="AA"/>
</p:tagLst>
</file>

<file path=ppt/tags/tag238.xml><?xml version="1.0" encoding="utf-8"?>
<p:tagLst xmlns:a="http://schemas.openxmlformats.org/drawingml/2006/main" xmlns:r="http://schemas.openxmlformats.org/officeDocument/2006/relationships" xmlns:p="http://schemas.openxmlformats.org/presentationml/2006/main">
  <p:tag name="TOCSHAPE" val="805"/>
  <p:tag name="SLIDEINDEX" val="805"/>
</p:tagLst>
</file>

<file path=ppt/tags/tag239.xml><?xml version="1.0" encoding="utf-8"?>
<p:tagLst xmlns:a="http://schemas.openxmlformats.org/drawingml/2006/main" xmlns:r="http://schemas.openxmlformats.org/officeDocument/2006/relationships" xmlns:p="http://schemas.openxmlformats.org/presentationml/2006/main">
  <p:tag name="TOCSHAPE" val="AA"/>
</p:tagLst>
</file>

<file path=ppt/tags/tag240.xml><?xml version="1.0" encoding="utf-8"?>
<p:tagLst xmlns:a="http://schemas.openxmlformats.org/drawingml/2006/main" xmlns:r="http://schemas.openxmlformats.org/officeDocument/2006/relationships" xmlns:p="http://schemas.openxmlformats.org/presentationml/2006/main">
  <p:tag name="TOCSHAPE" val="728"/>
  <p:tag name="SLIDEINDEX" val="728"/>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4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44.xml><?xml version="1.0" encoding="utf-8"?>
<p:tagLst xmlns:a="http://schemas.openxmlformats.org/drawingml/2006/main" xmlns:r="http://schemas.openxmlformats.org/officeDocument/2006/relationships" xmlns:p="http://schemas.openxmlformats.org/presentationml/2006/main">
  <p:tag name="LAST UPDATE DATE" val="487562765.213077"/>
  <p:tag name="IMPORTID" val="2304487458814.712358"/>
  <p:tag name="WBLAST" val="https://kpmgcan.sharepoint.com/sites/CA-TS-ProjectVortex/Shared Documents/2. Engagement Delivery and Execution/06_Analysis_and_Working_Papers/Project Vortex - Draft databook (5.8).xlsb"/>
  <p:tag name="USER NAME" val="deidrebartlett"/>
  <p:tag name="TYPE" val="1"/>
  <p:tag name="SOURCENAME" val="Quality of earnings"/>
  <p:tag name="SHEETID" val="QofE | Summary"/>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Summary&quot;,&#10;    &quot;DateTime&quot;: &quot;2025-06-14T01:06:05.213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Summary&quot;,&#10;    &quot;DateTime&quot;: &quot;2025-06-13T23:33:45.223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false,&#10;        &quot;Resolution&quot;: {&#10;          &quot;Width&quot;: 1920,&#10;          &quot;Height&quot;: 1080&#10;        },&#10;        &quot;ResolutionToWorkingAreaRatio&quot;: 1.0&#10;      },&#10;      &quot;ResizeRatio&quot;: 1.0,&#10;      &quot;UndoAutoColor&quot;: false,&#10;      &quot;CustomAutoColor&quot;: false&#10;    },&#10;    &quot;UserName&quot;: &quot;andrewgladiuk&quot;,&#10;    &quot;WorkbookName&quot;: &quot;Project Vortex - Draft databook (5.8).xlsb&quot;,&#10;    &quot;WorksheetName&quot;: &quot;QofE | Summary&quot;,&#10;    &quot;DateTime&quot;: &quot;2025-06-12T20:13:34.712Z&quot;,&#10;    &quot;PictureAppearance&quot;: 2,&#10;    &quot;PreserveInitialVisibility&quot;: false,&#10;    &quot;PreserveWidth&quot;: true,&#10;    &quot;ResizeBeforeExport&quot;: false&#10;  }&#10;}"/>
</p:tagLst>
</file>

<file path=ppt/tags/tag245.xml><?xml version="1.0" encoding="utf-8"?>
<p:tagLst xmlns:a="http://schemas.openxmlformats.org/drawingml/2006/main" xmlns:r="http://schemas.openxmlformats.org/officeDocument/2006/relationships" xmlns:p="http://schemas.openxmlformats.org/presentationml/2006/main">
  <p:tag name="SHAPETYPE" val="BREADCRUMB"/>
</p:tagLst>
</file>

<file path=ppt/tags/tag2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4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49.xml><?xml version="1.0" encoding="utf-8"?>
<p:tagLst xmlns:a="http://schemas.openxmlformats.org/drawingml/2006/main" xmlns:r="http://schemas.openxmlformats.org/officeDocument/2006/relationships" xmlns:p="http://schemas.openxmlformats.org/presentationml/2006/main">
  <p:tag name="LAST UPDATE DATE" val="487562785.383959"/>
  <p:tag name="IMPORTID" val="2304487458814.712358"/>
  <p:tag name="WBLAST" val="https://kpmgcan.sharepoint.com/sites/CA-TS-ProjectVortex/Shared Documents/2. Engagement Delivery and Execution/06_Analysis_and_Working_Papers/Project Vortex - Draft databook (5.8).xlsb"/>
  <p:tag name="USER NAME" val="deidrebartlett"/>
  <p:tag name="TYPE" val="1"/>
  <p:tag name="SOURCENAME" val="Quality of earnings"/>
  <p:tag name="SHEETID" val="QofE | Summary"/>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Summary&quot;,&#10;    &quot;DateTime&quot;: &quot;2025-06-14T01:06:25.384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Summary&quot;,&#10;    &quot;DateTime&quot;: &quot;2025-06-13T23:33:51.707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false,&#10;        &quot;Resolution&quot;: {&#10;          &quot;Width&quot;: 1920,&#10;          &quot;Height&quot;: 1080&#10;        },&#10;        &quot;ResolutionToWorkingAreaRatio&quot;: 1.0&#10;      },&#10;      &quot;ResizeRatio&quot;: 1.0,&#10;      &quot;UndoAutoColor&quot;: false,&#10;      &quot;CustomAutoColor&quot;: false&#10;    },&#10;    &quot;UserName&quot;: &quot;andrewgladiuk&quot;,&#10;    &quot;WorkbookName&quot;: &quot;Project Vortex - Draft databook (5.8).xlsb&quot;,&#10;    &quot;WorksheetName&quot;: &quot;QofE | Summary&quot;,&#10;    &quot;DateTime&quot;: &quot;2025-06-12T20:13:34.712Z&quot;,&#10;    &quot;PictureAppearance&quot;: 2,&#10;    &quot;PreserveInitialVisibility&quot;: false,&#10;    &quot;PreserveWidth&quot;: true,&#10;    &quot;ResizeBeforeExport&quot;: false&#10;  }&#10;}"/>
</p:tagLst>
</file>

<file path=ppt/tags/tag250.xml><?xml version="1.0" encoding="utf-8"?>
<p:tagLst xmlns:a="http://schemas.openxmlformats.org/drawingml/2006/main" xmlns:r="http://schemas.openxmlformats.org/officeDocument/2006/relationships" xmlns:p="http://schemas.openxmlformats.org/presentationml/2006/main">
  <p:tag name="SHAPETYPE" val="BREADCRUMB"/>
</p:tagLst>
</file>

<file path=ppt/tags/tag2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5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54.xml><?xml version="1.0" encoding="utf-8"?>
<p:tagLst xmlns:a="http://schemas.openxmlformats.org/drawingml/2006/main" xmlns:r="http://schemas.openxmlformats.org/officeDocument/2006/relationships" xmlns:p="http://schemas.openxmlformats.org/presentationml/2006/main">
  <p:tag name="LAST UPDATE DATE" val="487562907.083101"/>
  <p:tag name="IMPORTID" val="5648487304326.132584"/>
  <p:tag name="WBLAST" val="https://kpmgcan.sharepoint.com/sites/CA-TS-ProjectVortex/Shared Documents/2. Engagement Delivery and Execution/06_Analysis_and_Working_Papers/Project Vortex - Draft databook (5.8).xlsb"/>
  <p:tag name="USER NAME" val="deidrebartlett"/>
  <p:tag name="TYPE" val="1"/>
  <p:tag name="SOURCENAME" val="Quality of Earnings"/>
  <p:tag name="SHEETID" val="QofE | Detail (2)"/>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Detail (2)&quot;,&#10;    &quot;DateTime&quot;: &quot;2025-06-14T01:08:27.083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Detail (2)&quot;,&#10;    &quot;DateTime&quot;: &quot;2025-06-14T01:08:09.246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Detail (2)&quot;,&#10;    &quot;DateTime&quot;: &quot;2025-06-11T01:18:46.133Z&quot;,&#10;    &quot;PictureAppearance&quot;: 2,&#10;    &quot;PreserveInitialVisibility&quot;: false,&#10;    &quot;PreserveWidth&quot;: true,&#10;    &quot;ResizeBeforeExport&quot;: false&#10;  }&#10;}"/>
</p:tagLst>
</file>

<file path=ppt/tags/tag255.xml><?xml version="1.0" encoding="utf-8"?>
<p:tagLst xmlns:a="http://schemas.openxmlformats.org/drawingml/2006/main" xmlns:r="http://schemas.openxmlformats.org/officeDocument/2006/relationships" xmlns:p="http://schemas.openxmlformats.org/presentationml/2006/main">
  <p:tag name="LAST UPDATE DATE" val="487557343.51106"/>
  <p:tag name="IMPORTID" val="8294487382983.230154"/>
  <p:tag name="WBLAST" val="https://kpmgcan.sharepoint.com/sites/CA-TS-ProjectVortex/Shared Documents/2. Engagement Delivery and Execution/06_Analysis_and_Working_Papers/Project Vortex - Draft databook (5.8).xlsb"/>
  <p:tag name="USER NAME" val="deidrebartlett"/>
  <p:tag name="TYPE" val="1"/>
  <p:tag name="SOURCENAME" val="Non-recurring expenses"/>
  <p:tag name="SHEETID" val="QoE report tables"/>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E report tables&quot;,&#10;    &quot;DateTime&quot;: &quot;2025-06-13T23:35:43.511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E report tables&quot;,&#10;    &quot;DateTime&quot;: &quot;2025-06-11T23:10:36.152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E report tables&quot;,&#10;    &quot;DateTime&quot;: &quot;2025-06-11T23:09:43.23Z&quot;,&#10;    &quot;PictureAppearance&quot;: 2,&#10;    &quot;PreserveInitialVisibility&quot;: false,&#10;    &quot;PreserveWidth&quot;: true,&#10;    &quot;ResizeBeforeExport&quot;: false&#10;  }&#10;}"/>
</p:tagLst>
</file>

<file path=ppt/tags/tag256.xml><?xml version="1.0" encoding="utf-8"?>
<p:tagLst xmlns:a="http://schemas.openxmlformats.org/drawingml/2006/main" xmlns:r="http://schemas.openxmlformats.org/officeDocument/2006/relationships" xmlns:p="http://schemas.openxmlformats.org/presentationml/2006/main">
  <p:tag name="SHAPETYPE" val="BREADCRUMB"/>
</p:tagLst>
</file>

<file path=ppt/tags/tag2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5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60.xml><?xml version="1.0" encoding="utf-8"?>
<p:tagLst xmlns:a="http://schemas.openxmlformats.org/drawingml/2006/main" xmlns:r="http://schemas.openxmlformats.org/officeDocument/2006/relationships" xmlns:p="http://schemas.openxmlformats.org/presentationml/2006/main">
  <p:tag name="LAST UPDATE DATE" val="487562930.200454"/>
  <p:tag name="IMPORTID" val="5648487304326.132584"/>
  <p:tag name="WBLAST" val="https://kpmgcan.sharepoint.com/sites/CA-TS-ProjectVortex/Shared Documents/2. Engagement Delivery and Execution/06_Analysis_and_Working_Papers/Project Vortex - Draft databook (5.8).xlsb"/>
  <p:tag name="USER NAME" val="deidrebartlett"/>
  <p:tag name="TYPE" val="1"/>
  <p:tag name="SOURCENAME" val="Quality of Earnings"/>
  <p:tag name="SHEETID" val="QofE | Detail (2)"/>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Detail (2)&quot;,&#10;    &quot;DateTime&quot;: &quot;2025-06-14T01:08:50.2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Detail (2)&quot;,&#10;    &quot;DateTime&quot;: &quot;2025-06-13T23:38:59.724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Detail (2)&quot;,&#10;    &quot;DateTime&quot;: &quot;2025-06-11T01:18:46.133Z&quot;,&#10;    &quot;PictureAppearance&quot;: 2,&#10;    &quot;PreserveInitialVisibility&quot;: false,&#10;    &quot;PreserveWidth&quot;: true,&#10;    &quot;ResizeBeforeExport&quot;: false&#10;  }&#10;}"/>
</p:tagLst>
</file>

<file path=ppt/tags/tag261.xml><?xml version="1.0" encoding="utf-8"?>
<p:tagLst xmlns:a="http://schemas.openxmlformats.org/drawingml/2006/main" xmlns:r="http://schemas.openxmlformats.org/officeDocument/2006/relationships" xmlns:p="http://schemas.openxmlformats.org/presentationml/2006/main">
  <p:tag name="SHAPETYPE" val="BREADCRUMB"/>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6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65.xml><?xml version="1.0" encoding="utf-8"?>
<p:tagLst xmlns:a="http://schemas.openxmlformats.org/drawingml/2006/main" xmlns:r="http://schemas.openxmlformats.org/officeDocument/2006/relationships" xmlns:p="http://schemas.openxmlformats.org/presentationml/2006/main">
  <p:tag name="LAST UPDATE DATE" val="487562956.163389"/>
  <p:tag name="IMPORTID" val="5648487304326.132584"/>
  <p:tag name="WBLAST" val="https://kpmgcan.sharepoint.com/sites/CA-TS-ProjectVortex/Shared Documents/2. Engagement Delivery and Execution/06_Analysis_and_Working_Papers/Project Vortex - Draft databook (5.8).xlsb"/>
  <p:tag name="USER NAME" val="deidrebartlett"/>
  <p:tag name="TYPE" val="1"/>
  <p:tag name="SOURCENAME" val="Quality of Earnings"/>
  <p:tag name="SHEETID" val="QofE | Detail (2)"/>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Detail (2)&quot;,&#10;    &quot;DateTime&quot;: &quot;2025-06-14T01:09:16.163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Detail (2)&quot;,&#10;    &quot;DateTime&quot;: &quot;2025-06-13T23:39:22.558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Detail (2)&quot;,&#10;    &quot;DateTime&quot;: &quot;2025-06-11T01:18:46.133Z&quot;,&#10;    &quot;PictureAppearance&quot;: 2,&#10;    &quot;PreserveInitialVisibility&quot;: false,&#10;    &quot;PreserveWidth&quot;: true,&#10;    &quot;ResizeBeforeExport&quot;: false&#10;  }&#10;}"/>
</p:tagLst>
</file>

<file path=ppt/tags/tag266.xml><?xml version="1.0" encoding="utf-8"?>
<p:tagLst xmlns:a="http://schemas.openxmlformats.org/drawingml/2006/main" xmlns:r="http://schemas.openxmlformats.org/officeDocument/2006/relationships" xmlns:p="http://schemas.openxmlformats.org/presentationml/2006/main">
  <p:tag name="SHAPETYPE" val="BREADCRUMB"/>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6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70.xml><?xml version="1.0" encoding="utf-8"?>
<p:tagLst xmlns:a="http://schemas.openxmlformats.org/drawingml/2006/main" xmlns:r="http://schemas.openxmlformats.org/officeDocument/2006/relationships" xmlns:p="http://schemas.openxmlformats.org/presentationml/2006/main">
  <p:tag name="LAST UPDATE DATE" val="487562980.109036"/>
  <p:tag name="IMPORTID" val="5648487304326.132584"/>
  <p:tag name="WBLAST" val="https://kpmgcan.sharepoint.com/sites/CA-TS-ProjectVortex/Shared Documents/2. Engagement Delivery and Execution/06_Analysis_and_Working_Papers/Project Vortex - Draft databook (5.8).xlsb"/>
  <p:tag name="USER NAME" val="deidrebartlett"/>
  <p:tag name="TYPE" val="1"/>
  <p:tag name="SOURCENAME" val="Quality of Earnings"/>
  <p:tag name="SHEETID" val="QofE | Detail (2)"/>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Detail (2)&quot;,&#10;    &quot;DateTime&quot;: &quot;2025-06-14T01:09:40.109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Detail (2)&quot;,&#10;    &quot;DateTime&quot;: &quot;2025-06-13T23:39:49.445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Detail (2)&quot;,&#10;    &quot;DateTime&quot;: &quot;2025-06-11T01:18:46.133Z&quot;,&#10;    &quot;PictureAppearance&quot;: 2,&#10;    &quot;PreserveInitialVisibility&quot;: false,&#10;    &quot;PreserveWidth&quot;: true,&#10;    &quot;ResizeBeforeExport&quot;: false&#10;  }&#10;}"/>
</p:tagLst>
</file>

<file path=ppt/tags/tag271.xml><?xml version="1.0" encoding="utf-8"?>
<p:tagLst xmlns:a="http://schemas.openxmlformats.org/drawingml/2006/main" xmlns:r="http://schemas.openxmlformats.org/officeDocument/2006/relationships" xmlns:p="http://schemas.openxmlformats.org/presentationml/2006/main">
  <p:tag name="SHAPETYPE" val="BREADCRUMB"/>
</p:tagLst>
</file>

<file path=ppt/tags/tag2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7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75.xml><?xml version="1.0" encoding="utf-8"?>
<p:tagLst xmlns:a="http://schemas.openxmlformats.org/drawingml/2006/main" xmlns:r="http://schemas.openxmlformats.org/officeDocument/2006/relationships" xmlns:p="http://schemas.openxmlformats.org/presentationml/2006/main">
  <p:tag name="LAST UPDATE DATE" val="487562999.169666"/>
  <p:tag name="IMPORTID" val="5648487304326.132584"/>
  <p:tag name="WBLAST" val="https://kpmgcan.sharepoint.com/sites/CA-TS-ProjectVortex/Shared Documents/2. Engagement Delivery and Execution/06_Analysis_and_Working_Papers/Project Vortex - Draft databook (5.8).xlsb"/>
  <p:tag name="USER NAME" val="deidrebartlett"/>
  <p:tag name="TYPE" val="1"/>
  <p:tag name="SOURCENAME" val="Quality of Earnings"/>
  <p:tag name="SHEETID" val="QofE | Detail (2)"/>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Detail (2)&quot;,&#10;    &quot;DateTime&quot;: &quot;2025-06-14T01:09:59.17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Detail (2)&quot;,&#10;    &quot;DateTime&quot;: &quot;2025-06-13T23:40:08.634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Detail (2)&quot;,&#10;    &quot;DateTime&quot;: &quot;2025-06-11T01:18:46.133Z&quot;,&#10;    &quot;PictureAppearance&quot;: 2,&#10;    &quot;PreserveInitialVisibility&quot;: false,&#10;    &quot;PreserveWidth&quot;: true,&#10;    &quot;ResizeBeforeExport&quot;: false&#10;  }&#10;}"/>
</p:tagLst>
</file>

<file path=ppt/tags/tag276.xml><?xml version="1.0" encoding="utf-8"?>
<p:tagLst xmlns:a="http://schemas.openxmlformats.org/drawingml/2006/main" xmlns:r="http://schemas.openxmlformats.org/officeDocument/2006/relationships" xmlns:p="http://schemas.openxmlformats.org/presentationml/2006/main">
  <p:tag name="SHAPETYPE" val="BREADCRUMB"/>
</p:tagLst>
</file>

<file path=ppt/tags/tag2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7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80.xml><?xml version="1.0" encoding="utf-8"?>
<p:tagLst xmlns:a="http://schemas.openxmlformats.org/drawingml/2006/main" xmlns:r="http://schemas.openxmlformats.org/officeDocument/2006/relationships" xmlns:p="http://schemas.openxmlformats.org/presentationml/2006/main">
  <p:tag name="LAST UPDATE DATE" val="487563030.140296"/>
  <p:tag name="IMPORTID" val="5648487304326.132584"/>
  <p:tag name="WBLAST" val="https://kpmgcan.sharepoint.com/sites/CA-TS-ProjectVortex/Shared Documents/2. Engagement Delivery and Execution/06_Analysis_and_Working_Papers/Project Vortex - Draft databook (5.8).xlsb"/>
  <p:tag name="USER NAME" val="deidrebartlett"/>
  <p:tag name="TYPE" val="1"/>
  <p:tag name="SOURCENAME" val="Quality of Earnings"/>
  <p:tag name="SHEETID" val="QofE | Detail (2)"/>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Detail (2)&quot;,&#10;    &quot;DateTime&quot;: &quot;2025-06-14T01:10:30.14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Detail (2)&quot;,&#10;    &quot;DateTime&quot;: &quot;2025-06-13T23:49:15.483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Detail (2)&quot;,&#10;    &quot;DateTime&quot;: &quot;2025-06-11T01:18:46.133Z&quot;,&#10;    &quot;PictureAppearance&quot;: 2,&#10;    &quot;PreserveInitialVisibility&quot;: false,&#10;    &quot;PreserveWidth&quot;: true,&#10;    &quot;ResizeBeforeExport&quot;: false&#10;  }&#10;}"/>
</p:tagLst>
</file>

<file path=ppt/tags/tag281.xml><?xml version="1.0" encoding="utf-8"?>
<p:tagLst xmlns:a="http://schemas.openxmlformats.org/drawingml/2006/main" xmlns:r="http://schemas.openxmlformats.org/officeDocument/2006/relationships" xmlns:p="http://schemas.openxmlformats.org/presentationml/2006/main">
  <p:tag name="SHAPETYPE" val="BREADCRUMB"/>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8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85.xml><?xml version="1.0" encoding="utf-8"?>
<p:tagLst xmlns:a="http://schemas.openxmlformats.org/drawingml/2006/main" xmlns:r="http://schemas.openxmlformats.org/officeDocument/2006/relationships" xmlns:p="http://schemas.openxmlformats.org/presentationml/2006/main">
  <p:tag name="LAST UPDATE DATE" val="487474189.761277"/>
  <p:tag name="IMPORTID" val="5860487379636.412398"/>
  <p:tag name="WBLAST" val="https://kpmgcan.sharepoint.com/sites/CA-TS-ProjectVortex/Shared Documents/2. Engagement Delivery and Execution/06_Analysis_and_Working_Papers/Project Vortex - Draft databook (5.8).xlsb"/>
  <p:tag name="USER NAME" val="deidrebartlett"/>
  <p:tag name="TYPE" val="1"/>
  <p:tag name="SOURCENAME" val="Run rate"/>
  <p:tag name="SHEETID" val="Adj P&amp;L (simple)"/>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Adj P&amp;L (simple)&quot;,&#10;    &quot;DateTime&quot;: &quot;2025-06-13T00:29:49.761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Adj P&amp;L (simple)&quot;,&#10;    &quot;DateTime&quot;: &quot;2025-06-12T20:33:07.426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Adj P&amp;L (simple)&quot;,&#10;    &quot;DateTime&quot;: &quot;2025-06-11T22:13:56.412Z&quot;,&#10;    &quot;PictureAppearance&quot;: 2,&#10;    &quot;PreserveInitialVisibility&quot;: false,&#10;    &quot;PreserveWidth&quot;: true,&#10;    &quot;ResizeBeforeExport&quot;: false&#10;  }&#10;}"/>
</p:tagLst>
</file>

<file path=ppt/tags/tag286.xml><?xml version="1.0" encoding="utf-8"?>
<p:tagLst xmlns:a="http://schemas.openxmlformats.org/drawingml/2006/main" xmlns:r="http://schemas.openxmlformats.org/officeDocument/2006/relationships" xmlns:p="http://schemas.openxmlformats.org/presentationml/2006/main">
  <p:tag name="LAST UPDATE DATE" val="487390153.236881"/>
  <p:tag name="IMPORTID" val="4303487318863.47959"/>
  <p:tag name="WBLAST" val="https://kpmgcan.sharepoint.com/sites/CA-TS-ProjectVortex/Shared Documents/2. Engagement Delivery and Execution/06_Analysis_and_Working_Papers/Project Vortex - Draft databook (5.8).xlsb"/>
  <p:tag name="USER NAME" val="deidrebartlett"/>
  <p:tag name="TYPE" val="2"/>
  <p:tag name="SOURCENAME" val="Run rate gross margin (Chart 1)"/>
  <p:tag name="SHEETID" val="Run rate (PL)"/>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Run rate (PL)&quot;,&#10;    &quot;DateTime&quot;: &quot;2025-06-12T01:09:13.237Z&quot;,&#10;    &quot;PictureAppearance&quot;: 2,&#10;    &quot;PreserveInitialVisibility&quot;: false,&#10;    &quot;PreserveWidth&quot;: true,&#10;    &quot;ResizeBeforeExport&quot;: false&#10;  },&#10;  &quot;Previous&quot;: null,&#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Run rate (PL)&quot;,&#10;    &quot;DateTime&quot;: &quot;2025-06-12T01:09:13.237Z&quot;,&#10;    &quot;PictureAppearance&quot;: 2,&#10;    &quot;PreserveInitialVisibility&quot;: false,&#10;    &quot;PreserveWidth&quot;: true,&#10;    &quot;ResizeBeforeExport&quot;: false&#10;  }&#10;}"/>
</p:tagLst>
</file>

<file path=ppt/tags/tag287.xml><?xml version="1.0" encoding="utf-8"?>
<p:tagLst xmlns:a="http://schemas.openxmlformats.org/drawingml/2006/main" xmlns:r="http://schemas.openxmlformats.org/officeDocument/2006/relationships" xmlns:p="http://schemas.openxmlformats.org/presentationml/2006/main">
  <p:tag name="SHAPETYPE" val="BREADCRUMB"/>
</p:tagLst>
</file>

<file path=ppt/tags/tag2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9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91.xml><?xml version="1.0" encoding="utf-8"?>
<p:tagLst xmlns:a="http://schemas.openxmlformats.org/drawingml/2006/main" xmlns:r="http://schemas.openxmlformats.org/officeDocument/2006/relationships" xmlns:p="http://schemas.openxmlformats.org/presentationml/2006/main">
  <p:tag name="LAST UPDATE DATE" val="487563056.626055"/>
  <p:tag name="IMPORTID" val="5648487304326.132584"/>
  <p:tag name="WBLAST" val="https://kpmgcan.sharepoint.com/sites/CA-TS-ProjectVortex/Shared Documents/2. Engagement Delivery and Execution/06_Analysis_and_Working_Papers/Project Vortex - Draft databook (5.8).xlsb"/>
  <p:tag name="USER NAME" val="deidrebartlett"/>
  <p:tag name="TYPE" val="1"/>
  <p:tag name="SOURCENAME" val="Quality of Earnings"/>
  <p:tag name="SHEETID" val="QofE | Detail (2)"/>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Detail (2)&quot;,&#10;    &quot;DateTime&quot;: &quot;2025-06-14T01:10:56.626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Detail (2)&quot;,&#10;    &quot;DateTime&quot;: &quot;2025-06-13T23:45:03.683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Detail (2)&quot;,&#10;    &quot;DateTime&quot;: &quot;2025-06-11T01:18:46.133Z&quot;,&#10;    &quot;PictureAppearance&quot;: 2,&#10;    &quot;PreserveInitialVisibility&quot;: false,&#10;    &quot;PreserveWidth&quot;: true,&#10;    &quot;ResizeBeforeExport&quot;: false&#10;  }&#10;}"/>
</p:tagLst>
</file>

<file path=ppt/tags/tag292.xml><?xml version="1.0" encoding="utf-8"?>
<p:tagLst xmlns:a="http://schemas.openxmlformats.org/drawingml/2006/main" xmlns:r="http://schemas.openxmlformats.org/officeDocument/2006/relationships" xmlns:p="http://schemas.openxmlformats.org/presentationml/2006/main">
  <p:tag name="SHAPETYPE" val="BREADCRUMB"/>
</p:tagLst>
</file>

<file path=ppt/tags/tag2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9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96.xml><?xml version="1.0" encoding="utf-8"?>
<p:tagLst xmlns:a="http://schemas.openxmlformats.org/drawingml/2006/main" xmlns:r="http://schemas.openxmlformats.org/officeDocument/2006/relationships" xmlns:p="http://schemas.openxmlformats.org/presentationml/2006/main">
  <p:tag name="LAST UPDATE DATE" val="487563079.402753"/>
  <p:tag name="IMPORTID" val="6166487450849.148072"/>
  <p:tag name="WBLAST" val="https://kpmgcan.sharepoint.com/sites/CA-TS-ProjectVortex/Shared Documents/2. Engagement Delivery and Execution/06_Analysis_and_Working_Papers/Project Vortex - Draft databook (5.8).xlsb"/>
  <p:tag name="USER NAME" val="deidrebartlett"/>
  <p:tag name="TYPE" val="1"/>
  <p:tag name="SOURCENAME" val="Quality of Earnings"/>
  <p:tag name="SHEETID" val="QofE | Detail (2)"/>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Detail (2)&quot;,&#10;    &quot;DateTime&quot;: &quot;2025-06-14T01:11:19.403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Detail (2)&quot;,&#10;    &quot;DateTime&quot;: &quot;2025-06-13T23:45:27.657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fE | Detail (2)&quot;,&#10;    &quot;DateTime&quot;: &quot;2025-06-12T18:00:49.148Z&quot;,&#10;    &quot;PictureAppearance&quot;: 2,&#10;    &quot;PreserveInitialVisibility&quot;: false,&#10;    &quot;PreserveWidth&quot;: true,&#10;    &quot;ResizeBeforeExport&quot;: false&#10;  }&#10;}"/>
</p:tagLst>
</file>

<file path=ppt/tags/tag297.xml><?xml version="1.0" encoding="utf-8"?>
<p:tagLst xmlns:a="http://schemas.openxmlformats.org/drawingml/2006/main" xmlns:r="http://schemas.openxmlformats.org/officeDocument/2006/relationships" xmlns:p="http://schemas.openxmlformats.org/presentationml/2006/main">
  <p:tag name="SHAPETYPE" val="BREADCRUMB"/>
</p:tagLst>
</file>

<file path=ppt/tags/tag298.xml><?xml version="1.0" encoding="utf-8"?>
<p:tagLst xmlns:a="http://schemas.openxmlformats.org/drawingml/2006/main" xmlns:r="http://schemas.openxmlformats.org/officeDocument/2006/relationships" xmlns:p="http://schemas.openxmlformats.org/presentationml/2006/main">
  <p:tag name="LAST UPDATE DATE" val="487563197.366406"/>
  <p:tag name="IMPORTID" val="51487558709.518688"/>
  <p:tag name="WBLAST" val="https://kpmgcan.sharepoint.com/sites/CA-TS-ProjectVortex/Shared Documents/2. Engagement Delivery and Execution/06_Analysis_and_Working_Papers/Project Vortex - Draft databook (5.8).xlsb"/>
  <p:tag name="USER NAME" val="deidrebartlett"/>
  <p:tag name="TYPE" val="1"/>
  <p:tag name="SOURCENAME" val="EBITDA by currency"/>
  <p:tag name="SHEETID" val="QoE report tables"/>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E report tables&quot;,&#10;    &quot;DateTime&quot;: &quot;2025-06-14T01:13:17.366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E report tables&quot;,&#10;    &quot;DateTime&quot;: &quot;2025-06-14T01:12:54.476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QoE report tables&quot;,&#10;    &quot;DateTime&quot;: &quot;2025-06-13T23:58:29.519Z&quot;,&#10;    &quot;PictureAppearance&quot;: 2,&#10;    &quot;PreserveInitialVisibility&quot;: false,&#10;    &quot;PreserveWidth&quot;: true,&#10;    &quot;ResizeBeforeExport&quot;: false&#10;  }&#10;}"/>
</p:tagLst>
</file>

<file path=ppt/tags/tag299.xml><?xml version="1.0" encoding="utf-8"?>
<p:tagLst xmlns:a="http://schemas.openxmlformats.org/drawingml/2006/main" xmlns:r="http://schemas.openxmlformats.org/officeDocument/2006/relationships" xmlns:p="http://schemas.openxmlformats.org/presentationml/2006/main">
  <p:tag name="NAME" val="Balance sheet"/>
  <p:tag name="SECTION" val="4"/>
</p:tagLst>
</file>

<file path=ppt/tags/tag300.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30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30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30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304.xml><?xml version="1.0" encoding="utf-8"?>
<p:tagLst xmlns:a="http://schemas.openxmlformats.org/drawingml/2006/main" xmlns:r="http://schemas.openxmlformats.org/officeDocument/2006/relationships" xmlns:p="http://schemas.openxmlformats.org/presentationml/2006/main">
  <p:tag name="TOCSHAPE" val="AA"/>
</p:tagLst>
</file>

<file path=ppt/tags/tag305.xml><?xml version="1.0" encoding="utf-8"?>
<p:tagLst xmlns:a="http://schemas.openxmlformats.org/drawingml/2006/main" xmlns:r="http://schemas.openxmlformats.org/officeDocument/2006/relationships" xmlns:p="http://schemas.openxmlformats.org/presentationml/2006/main">
  <p:tag name="TOCSHAPE" val="806"/>
  <p:tag name="SLIDEINDEX" val="806"/>
</p:tagLst>
</file>

<file path=ppt/tags/tag306.xml><?xml version="1.0" encoding="utf-8"?>
<p:tagLst xmlns:a="http://schemas.openxmlformats.org/drawingml/2006/main" xmlns:r="http://schemas.openxmlformats.org/officeDocument/2006/relationships" xmlns:p="http://schemas.openxmlformats.org/presentationml/2006/main">
  <p:tag name="TOCSHAPE" val="AA"/>
</p:tagLst>
</file>

<file path=ppt/tags/tag307.xml><?xml version="1.0" encoding="utf-8"?>
<p:tagLst xmlns:a="http://schemas.openxmlformats.org/drawingml/2006/main" xmlns:r="http://schemas.openxmlformats.org/officeDocument/2006/relationships" xmlns:p="http://schemas.openxmlformats.org/presentationml/2006/main">
  <p:tag name="TOCSHAPE" val="AA"/>
</p:tagLst>
</file>

<file path=ppt/tags/tag308.xml><?xml version="1.0" encoding="utf-8"?>
<p:tagLst xmlns:a="http://schemas.openxmlformats.org/drawingml/2006/main" xmlns:r="http://schemas.openxmlformats.org/officeDocument/2006/relationships" xmlns:p="http://schemas.openxmlformats.org/presentationml/2006/main">
  <p:tag name="TOCSHAPE" val="AA"/>
</p:tagLst>
</file>

<file path=ppt/tags/tag309.xml><?xml version="1.0" encoding="utf-8"?>
<p:tagLst xmlns:a="http://schemas.openxmlformats.org/drawingml/2006/main" xmlns:r="http://schemas.openxmlformats.org/officeDocument/2006/relationships" xmlns:p="http://schemas.openxmlformats.org/presentationml/2006/main">
  <p:tag name="TOCSHAPE" val="735"/>
  <p:tag name="SLIDEINDEX" val="735"/>
</p:tagLst>
</file>

<file path=ppt/tags/tag310.xml><?xml version="1.0" encoding="utf-8"?>
<p:tagLst xmlns:a="http://schemas.openxmlformats.org/drawingml/2006/main" xmlns:r="http://schemas.openxmlformats.org/officeDocument/2006/relationships" xmlns:p="http://schemas.openxmlformats.org/presentationml/2006/main">
  <p:tag name="TOCSHAPE" val="727"/>
  <p:tag name="SLIDEINDEX" val="727"/>
</p:tagLst>
</file>

<file path=ppt/tags/tag311.xml><?xml version="1.0" encoding="utf-8"?>
<p:tagLst xmlns:a="http://schemas.openxmlformats.org/drawingml/2006/main" xmlns:r="http://schemas.openxmlformats.org/officeDocument/2006/relationships" xmlns:p="http://schemas.openxmlformats.org/presentationml/2006/main">
  <p:tag name="TOCSHAPE" val="726"/>
  <p:tag name="SLIDEINDEX" val="726"/>
</p:tagLst>
</file>

<file path=ppt/tags/tag3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1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15.xml><?xml version="1.0" encoding="utf-8"?>
<p:tagLst xmlns:a="http://schemas.openxmlformats.org/drawingml/2006/main" xmlns:r="http://schemas.openxmlformats.org/officeDocument/2006/relationships" xmlns:p="http://schemas.openxmlformats.org/presentationml/2006/main">
  <p:tag name="LAST UPDATE DATE" val="487304077.538689"/>
  <p:tag name="IMPORTID" val="3469486336335.525594"/>
  <p:tag name="WBLAST" val="https://kpmgcan.sharepoint.com/sites/CA-TS-ProjectVortex/Shared Documents/2. Engagement Delivery and Execution/06_Analysis_and_Working_Papers/Project Vortex - Draft databook (5.8).xlsb"/>
  <p:tag name="USER NAME" val="andrewgladiuk"/>
  <p:tag name="TYPE" val="1"/>
  <p:tag name="SOURCENAME" val="Summary balance sheet"/>
  <p:tag name="SHEETID" val="Summary BS"/>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andrewgladiuk&quot;,&#10;    &quot;WorkbookName&quot;: &quot;Project Vortex - Draft databook (5.8).xlsb&quot;,&#10;    &quot;WorksheetName&quot;: &quot;Summary BS&quot;,&#10;    &quot;DateTime&quot;: &quot;2025-06-11T01:14:37.539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Summary BS&quot;,&#10;    &quot;DateTime&quot;: &quot;2025-06-10T23:57:27.261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Summary BS&quot;,&#10;    &quot;DateTime&quot;: &quot;2025-06-10T23:57:27.261Z&quot;,&#10;    &quot;PictureAppearance&quot;: 2,&#10;    &quot;PreserveInitialVisibility&quot;: false,&#10;    &quot;PreserveWidth&quot;: true,&#10;    &quot;ResizeBeforeExport&quot;: false&#10;  }&#10;}"/>
</p:tagLst>
</file>

<file path=ppt/tags/tag316.xml><?xml version="1.0" encoding="utf-8"?>
<p:tagLst xmlns:a="http://schemas.openxmlformats.org/drawingml/2006/main" xmlns:r="http://schemas.openxmlformats.org/officeDocument/2006/relationships" xmlns:p="http://schemas.openxmlformats.org/presentationml/2006/main">
  <p:tag name="SHAPETYPE" val="BREADCRUMB"/>
</p:tagLst>
</file>

<file path=ppt/tags/tag3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1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20.xml><?xml version="1.0" encoding="utf-8"?>
<p:tagLst xmlns:a="http://schemas.openxmlformats.org/drawingml/2006/main" xmlns:r="http://schemas.openxmlformats.org/officeDocument/2006/relationships" xmlns:p="http://schemas.openxmlformats.org/presentationml/2006/main">
  <p:tag name="LAST UPDATE DATE" val="487304077.538689"/>
  <p:tag name="IMPORTID" val="3469486336335.525594"/>
  <p:tag name="WBLAST" val="https://kpmgcan.sharepoint.com/sites/CA-TS-ProjectVortex/Shared Documents/2. Engagement Delivery and Execution/06_Analysis_and_Working_Papers/Project Vortex - Draft databook (5.8).xlsb"/>
  <p:tag name="USER NAME" val="andrewgladiuk"/>
  <p:tag name="TYPE" val="1"/>
  <p:tag name="SOURCENAME" val="Summary balance sheet"/>
  <p:tag name="SHEETID" val="Summary BS"/>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andrewgladiuk&quot;,&#10;    &quot;WorkbookName&quot;: &quot;Project Vortex - Draft databook (5.8).xlsb&quot;,&#10;    &quot;WorksheetName&quot;: &quot;Summary BS&quot;,&#10;    &quot;DateTime&quot;: &quot;2025-06-11T01:14:37.539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Summary BS&quot;,&#10;    &quot;DateTime&quot;: &quot;2025-06-10T23:57:27.261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Summary BS&quot;,&#10;    &quot;DateTime&quot;: &quot;2025-06-10T23:57:27.261Z&quot;,&#10;    &quot;PictureAppearance&quot;: 2,&#10;    &quot;PreserveInitialVisibility&quot;: false,&#10;    &quot;PreserveWidth&quot;: true,&#10;    &quot;ResizeBeforeExport&quot;: false&#10;  }&#10;}"/>
</p:tagLst>
</file>

<file path=ppt/tags/tag321.xml><?xml version="1.0" encoding="utf-8"?>
<p:tagLst xmlns:a="http://schemas.openxmlformats.org/drawingml/2006/main" xmlns:r="http://schemas.openxmlformats.org/officeDocument/2006/relationships" xmlns:p="http://schemas.openxmlformats.org/presentationml/2006/main">
  <p:tag name="SHAPETYPE" val="BREADCRUMB"/>
</p:tagLst>
</file>

<file path=ppt/tags/tag3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2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25.xml><?xml version="1.0" encoding="utf-8"?>
<p:tagLst xmlns:a="http://schemas.openxmlformats.org/drawingml/2006/main" xmlns:r="http://schemas.openxmlformats.org/officeDocument/2006/relationships" xmlns:p="http://schemas.openxmlformats.org/presentationml/2006/main">
  <p:tag name="LAST UPDATE DATE" val="487304077.538689"/>
  <p:tag name="IMPORTID" val="3469486336335.525594"/>
  <p:tag name="WBLAST" val="https://kpmgcan.sharepoint.com/sites/CA-TS-ProjectVortex/Shared Documents/2. Engagement Delivery and Execution/06_Analysis_and_Working_Papers/Project Vortex - Draft databook (5.8).xlsb"/>
  <p:tag name="USER NAME" val="andrewgladiuk"/>
  <p:tag name="TYPE" val="1"/>
  <p:tag name="SOURCENAME" val="Summary balance sheet"/>
  <p:tag name="SHEETID" val="Summary BS"/>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andrewgladiuk&quot;,&#10;    &quot;WorkbookName&quot;: &quot;Project Vortex - Draft databook (5.8).xlsb&quot;,&#10;    &quot;WorksheetName&quot;: &quot;Summary BS&quot;,&#10;    &quot;DateTime&quot;: &quot;2025-06-11T01:14:37.539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Summary BS&quot;,&#10;    &quot;DateTime&quot;: &quot;2025-06-10T23:57:27.261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Summary BS&quot;,&#10;    &quot;DateTime&quot;: &quot;2025-06-10T23:57:27.261Z&quot;,&#10;    &quot;PictureAppearance&quot;: 2,&#10;    &quot;PreserveInitialVisibility&quot;: false,&#10;    &quot;PreserveWidth&quot;: true,&#10;    &quot;ResizeBeforeExport&quot;: false&#10;  }&#10;}"/>
</p:tagLst>
</file>

<file path=ppt/tags/tag326.xml><?xml version="1.0" encoding="utf-8"?>
<p:tagLst xmlns:a="http://schemas.openxmlformats.org/drawingml/2006/main" xmlns:r="http://schemas.openxmlformats.org/officeDocument/2006/relationships" xmlns:p="http://schemas.openxmlformats.org/presentationml/2006/main">
  <p:tag name="SHAPETYPE" val="BREADCRUMB"/>
</p:tagLst>
</file>

<file path=ppt/tags/tag327.xml><?xml version="1.0" encoding="utf-8"?>
<p:tagLst xmlns:a="http://schemas.openxmlformats.org/drawingml/2006/main" xmlns:r="http://schemas.openxmlformats.org/officeDocument/2006/relationships" xmlns:p="http://schemas.openxmlformats.org/presentationml/2006/main">
  <p:tag name="LAST UPDATE DATE" val="487564009.30271"/>
  <p:tag name="IMPORTID" val="200487473339.399988"/>
  <p:tag name="WBLAST" val="https://kpmgcan.sharepoint.com/sites/CA-TS-ProjectVortex/Shared Documents/2. Engagement Delivery and Execution/06_Analysis_and_Working_Papers/Project Vortex - Draft databook (5.8).xlsb"/>
  <p:tag name="USER NAME" val="deidrebartlett"/>
  <p:tag name="TYPE" val="1"/>
  <p:tag name="SOURCENAME" val="Net working capital target - sensitivity matrix"/>
  <p:tag name="SHEETID" val="Target matrix"/>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Target matrix&quot;,&#10;    &quot;DateTime&quot;: &quot;2025-06-14T01:26:49.303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Target matrix&quot;,&#10;    &quot;DateTime&quot;: &quot;2025-06-13T00:15:39.4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Target matrix&quot;,&#10;    &quot;DateTime&quot;: &quot;2025-06-13T00:15:39.4Z&quot;,&#10;    &quot;PictureAppearance&quot;: 2,&#10;    &quot;PreserveInitialVisibility&quot;: false,&#10;    &quot;PreserveWidth&quot;: true,&#10;    &quot;ResizeBeforeExport&quot;: false&#10;  }&#10;}"/>
</p:tagLst>
</file>

<file path=ppt/tags/tag3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3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31.xml><?xml version="1.0" encoding="utf-8"?>
<p:tagLst xmlns:a="http://schemas.openxmlformats.org/drawingml/2006/main" xmlns:r="http://schemas.openxmlformats.org/officeDocument/2006/relationships" xmlns:p="http://schemas.openxmlformats.org/presentationml/2006/main">
  <p:tag name="LAST UPDATE DATE" val="487624721.686347"/>
  <p:tag name="IMPORTID" val="7452487473188.187651"/>
  <p:tag name="WBLAST" val="https://kpmgcan.sharepoint.com/sites/CA-TS-ProjectVortex/Shared Documents/2. Engagement Delivery and Execution/06_Analysis_and_Working_Papers/Project Vortex - Draft databook (5.8).xlsb"/>
  <p:tag name="USER NAME" val="deidrebartlett"/>
  <p:tag name="TYPE" val="1"/>
  <p:tag name="SOURCENAME" val="Net working capital"/>
  <p:tag name="SHEETID" val="NWC adj (40m)"/>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NWC adj (40m)&quot;,&#10;    &quot;DateTime&quot;: &quot;2025-06-14T18:18:41.686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NWC adj (40m)&quot;,&#10;    &quot;DateTime&quot;: &quot;2025-06-14T01:19:46.76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NWC adj (40m)&quot;,&#10;    &quot;DateTime&quot;: &quot;2025-06-13T00:13:34.495Z&quot;,&#10;    &quot;PictureAppearance&quot;: 2,&#10;    &quot;PreserveInitialVisibility&quot;: false,&#10;    &quot;PreserveWidth&quot;: true,&#10;    &quot;ResizeBeforeExport&quot;: false&#10;  }&#10;}"/>
</p:tagLst>
</file>

<file path=ppt/tags/tag332.xml><?xml version="1.0" encoding="utf-8"?>
<p:tagLst xmlns:a="http://schemas.openxmlformats.org/drawingml/2006/main" xmlns:r="http://schemas.openxmlformats.org/officeDocument/2006/relationships" xmlns:p="http://schemas.openxmlformats.org/presentationml/2006/main">
  <p:tag name="SHAPETYPE" val="BREADCRUMB"/>
</p:tagLst>
</file>

<file path=ppt/tags/tag333.xml><?xml version="1.0" encoding="utf-8"?>
<p:tagLst xmlns:a="http://schemas.openxmlformats.org/drawingml/2006/main" xmlns:r="http://schemas.openxmlformats.org/officeDocument/2006/relationships" xmlns:p="http://schemas.openxmlformats.org/presentationml/2006/main">
  <p:tag name="LAST UPDATE DATE" val="487624831.247238"/>
  <p:tag name="IMPORTID" val="7452487473188.187651"/>
  <p:tag name="WBLAST" val="https://kpmgcan.sharepoint.com/sites/CA-TS-ProjectVortex/Shared Documents/2. Engagement Delivery and Execution/06_Analysis_and_Working_Papers/Project Vortex - Draft databook (5.8).xlsb"/>
  <p:tag name="USER NAME" val="deidrebartlett"/>
  <p:tag name="TYPE" val="1"/>
  <p:tag name="SOURCENAME" val="Net working capital"/>
  <p:tag name="SHEETID" val="NWC adj (40m)"/>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NWC adj (40m)&quot;,&#10;    &quot;DateTime&quot;: &quot;2025-06-14T18:20:31.247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NWC adj (40m)&quot;,&#10;    &quot;DateTime&quot;: &quot;2025-06-14T01:28:33.358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NWC adj (40m)&quot;,&#10;    &quot;DateTime&quot;: &quot;2025-06-13T00:22:31.386Z&quot;,&#10;    &quot;PictureAppearance&quot;: 2,&#10;    &quot;PreserveInitialVisibility&quot;: false,&#10;    &quot;PreserveWidth&quot;: true,&#10;    &quot;ResizeBeforeExport&quot;: false&#10;  }&#10;}"/>
</p:tagLst>
</file>

<file path=ppt/tags/tag3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3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37.xml><?xml version="1.0" encoding="utf-8"?>
<p:tagLst xmlns:a="http://schemas.openxmlformats.org/drawingml/2006/main" xmlns:r="http://schemas.openxmlformats.org/officeDocument/2006/relationships" xmlns:p="http://schemas.openxmlformats.org/presentationml/2006/main">
  <p:tag name="SHAPETYPE" val="BREADCRUMB"/>
</p:tagLst>
</file>

<file path=ppt/tags/tag3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4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41.xml><?xml version="1.0" encoding="utf-8"?>
<p:tagLst xmlns:a="http://schemas.openxmlformats.org/drawingml/2006/main" xmlns:r="http://schemas.openxmlformats.org/officeDocument/2006/relationships" xmlns:p="http://schemas.openxmlformats.org/presentationml/2006/main">
  <p:tag name="LAST UPDATE DATE" val="487624848.731457"/>
  <p:tag name="IMPORTID" val="7452487473188.187651"/>
  <p:tag name="WBLAST" val="https://kpmgcan.sharepoint.com/sites/CA-TS-ProjectVortex/Shared Documents/2. Engagement Delivery and Execution/06_Analysis_and_Working_Papers/Project Vortex - Draft databook (5.8).xlsb"/>
  <p:tag name="USER NAME" val="deidrebartlett"/>
  <p:tag name="TYPE" val="1"/>
  <p:tag name="SOURCENAME" val="Net working capital"/>
  <p:tag name="SHEETID" val="NWC adj (40m)"/>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NWC adj (40m)&quot;,&#10;    &quot;DateTime&quot;: &quot;2025-06-14T18:20:48.731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NWC adj (40m)&quot;,&#10;    &quot;DateTime&quot;: &quot;2025-06-14T01:30:13.764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NWC adj (40m)&quot;,&#10;    &quot;DateTime&quot;: &quot;2025-06-13T00:23:39.336Z&quot;,&#10;    &quot;PictureAppearance&quot;: 2,&#10;    &quot;PreserveInitialVisibility&quot;: false,&#10;    &quot;PreserveWidth&quot;: true,&#10;    &quot;ResizeBeforeExport&quot;: false&#10;  }&#10;}"/>
</p:tagLst>
</file>

<file path=ppt/tags/tag342.xml><?xml version="1.0" encoding="utf-8"?>
<p:tagLst xmlns:a="http://schemas.openxmlformats.org/drawingml/2006/main" xmlns:r="http://schemas.openxmlformats.org/officeDocument/2006/relationships" xmlns:p="http://schemas.openxmlformats.org/presentationml/2006/main">
  <p:tag name="SHAPETYPE" val="BREADCRUMB"/>
</p:tagLst>
</file>

<file path=ppt/tags/tag3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4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46.xml><?xml version="1.0" encoding="utf-8"?>
<p:tagLst xmlns:a="http://schemas.openxmlformats.org/drawingml/2006/main" xmlns:r="http://schemas.openxmlformats.org/officeDocument/2006/relationships" xmlns:p="http://schemas.openxmlformats.org/presentationml/2006/main">
  <p:tag name="LAST UPDATE DATE" val="487624900.630185"/>
  <p:tag name="IMPORTID" val="7452487473188.187651"/>
  <p:tag name="WBLAST" val="https://kpmgcan.sharepoint.com/sites/CA-TS-ProjectVortex/Shared Documents/2. Engagement Delivery and Execution/06_Analysis_and_Working_Papers/Project Vortex - Draft databook (5.8).xlsb"/>
  <p:tag name="USER NAME" val="deidrebartlett"/>
  <p:tag name="TYPE" val="1"/>
  <p:tag name="SOURCENAME" val="Net working capital"/>
  <p:tag name="SHEETID" val="NWC adj (40m)"/>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NWC adj (40m)&quot;,&#10;    &quot;DateTime&quot;: &quot;2025-06-14T18:21:40.63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NWC adj (40m)&quot;,&#10;    &quot;DateTime&quot;: &quot;2025-06-14T01:33:37.821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NWC adj (40m)&quot;,&#10;    &quot;DateTime&quot;: &quot;2025-06-13T00:24:24.503Z&quot;,&#10;    &quot;PictureAppearance&quot;: 2,&#10;    &quot;PreserveInitialVisibility&quot;: false,&#10;    &quot;PreserveWidth&quot;: true,&#10;    &quot;ResizeBeforeExport&quot;: false&#10;  }&#10;}"/>
</p:tagLst>
</file>

<file path=ppt/tags/tag347.xml><?xml version="1.0" encoding="utf-8"?>
<p:tagLst xmlns:a="http://schemas.openxmlformats.org/drawingml/2006/main" xmlns:r="http://schemas.openxmlformats.org/officeDocument/2006/relationships" xmlns:p="http://schemas.openxmlformats.org/presentationml/2006/main">
  <p:tag name="SHAPETYPE" val="BREADCRUMB"/>
</p:tagLst>
</file>

<file path=ppt/tags/tag3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5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51.xml><?xml version="1.0" encoding="utf-8"?>
<p:tagLst xmlns:a="http://schemas.openxmlformats.org/drawingml/2006/main" xmlns:r="http://schemas.openxmlformats.org/officeDocument/2006/relationships" xmlns:p="http://schemas.openxmlformats.org/presentationml/2006/main">
  <p:tag name="LAST UPDATE DATE" val="487624921.183258"/>
  <p:tag name="IMPORTID" val="7452487473188.187651"/>
  <p:tag name="WBLAST" val="https://kpmgcan.sharepoint.com/sites/CA-TS-ProjectVortex/Shared Documents/2. Engagement Delivery and Execution/06_Analysis_and_Working_Papers/Project Vortex - Draft databook (5.8).xlsb"/>
  <p:tag name="USER NAME" val="deidrebartlett"/>
  <p:tag name="TYPE" val="1"/>
  <p:tag name="SOURCENAME" val="Net working capital"/>
  <p:tag name="SHEETID" val="NWC adj (40m)"/>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NWC adj (40m)&quot;,&#10;    &quot;DateTime&quot;: &quot;2025-06-14T18:22:01.183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NWC adj (40m)&quot;,&#10;    &quot;DateTime&quot;: &quot;2025-06-14T01:34:13.112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NWC adj (40m)&quot;,&#10;    &quot;DateTime&quot;: &quot;2025-06-13T00:24:50.689Z&quot;,&#10;    &quot;PictureAppearance&quot;: 2,&#10;    &quot;PreserveInitialVisibility&quot;: false,&#10;    &quot;PreserveWidth&quot;: true,&#10;    &quot;ResizeBeforeExport&quot;: false&#10;  }&#10;}"/>
</p:tagLst>
</file>

<file path=ppt/tags/tag352.xml><?xml version="1.0" encoding="utf-8"?>
<p:tagLst xmlns:a="http://schemas.openxmlformats.org/drawingml/2006/main" xmlns:r="http://schemas.openxmlformats.org/officeDocument/2006/relationships" xmlns:p="http://schemas.openxmlformats.org/presentationml/2006/main">
  <p:tag name="SHAPETYPE" val="BREADCRUMB"/>
</p:tagLst>
</file>

<file path=ppt/tags/tag3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5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56.xml><?xml version="1.0" encoding="utf-8"?>
<p:tagLst xmlns:a="http://schemas.openxmlformats.org/drawingml/2006/main" xmlns:r="http://schemas.openxmlformats.org/officeDocument/2006/relationships" xmlns:p="http://schemas.openxmlformats.org/presentationml/2006/main">
  <p:tag name="LAST UPDATE DATE" val="487564754.840233"/>
  <p:tag name="IMPORTID" val="5182487378784.843663"/>
  <p:tag name="WBLAST" val="https://kpmgcan.sharepoint.com/sites/CA-TS-ProjectVortex/Shared Documents/2. Engagement Delivery and Execution/06_Analysis_and_Working_Papers/Project Vortex - Draft databook (5.8).xlsb"/>
  <p:tag name="USER NAME" val="deidrebartlett"/>
  <p:tag name="TYPE" val="1"/>
  <p:tag name="SOURCENAME" val="Net debt"/>
  <p:tag name="SHEETID" val="Net debt"/>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Net debt&quot;,&#10;    &quot;DateTime&quot;: &quot;2025-06-14T01:39:14.84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Net debt&quot;,&#10;    &quot;DateTime&quot;: &quot;2025-06-11T22:00:23.693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Net debt&quot;,&#10;    &quot;DateTime&quot;: &quot;2025-06-11T21:59:58.506Z&quot;,&#10;    &quot;PictureAppearance&quot;: 2,&#10;    &quot;PreserveInitialVisibility&quot;: false,&#10;    &quot;PreserveWidth&quot;: true,&#10;    &quot;ResizeBeforeExport&quot;: false&#10;  }&#10;}"/>
</p:tagLst>
</file>

<file path=ppt/tags/tag357.xml><?xml version="1.0" encoding="utf-8"?>
<p:tagLst xmlns:a="http://schemas.openxmlformats.org/drawingml/2006/main" xmlns:r="http://schemas.openxmlformats.org/officeDocument/2006/relationships" xmlns:p="http://schemas.openxmlformats.org/presentationml/2006/main">
  <p:tag name="SHAPETYPE" val="BREADCRUMB"/>
</p:tagLst>
</file>

<file path=ppt/tags/tag358.xml><?xml version="1.0" encoding="utf-8"?>
<p:tagLst xmlns:a="http://schemas.openxmlformats.org/drawingml/2006/main" xmlns:r="http://schemas.openxmlformats.org/officeDocument/2006/relationships" xmlns:p="http://schemas.openxmlformats.org/presentationml/2006/main">
  <p:tag name="LAST UPDATE DATE" val="487564846.460992"/>
  <p:tag name="IMPORTID" val="9260487378862.292729"/>
  <p:tag name="WBLAST" val="https://kpmgcan.sharepoint.com/sites/CA-TS-ProjectVortex/Shared Documents/2. Engagement Delivery and Execution/06_Analysis_and_Working_Papers/Project Vortex - Draft databook (5.8).xlsb"/>
  <p:tag name="USER NAME" val="deidrebartlett"/>
  <p:tag name="TYPE" val="1"/>
  <p:tag name="SOURCENAME" val="Net debt"/>
  <p:tag name="SHEETID" val="Net debt"/>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Net debt&quot;,&#10;    &quot;DateTime&quot;: &quot;2025-06-14T01:40:46.461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andrewgladiuk&quot;,&#10;    &quot;WorkbookName&quot;: &quot;Project Vortex - Draft databook (5.8).xlsb&quot;,&#10;    &quot;WorksheetName&quot;: &quot;Net debt&quot;,&#10;    &quot;DateTime&quot;: &quot;2025-06-13T17:42:58.616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andrewgladiuk&quot;,&#10;    &quot;WorkbookName&quot;: &quot;Project Vortex - Draft databook (5.8).xlsb&quot;,&#10;    &quot;WorksheetName&quot;: &quot;Net debt&quot;,&#10;    &quot;DateTime&quot;: &quot;2025-06-13T17:41:48.979Z&quot;,&#10;    &quot;PictureAppearance&quot;: 2,&#10;    &quot;PreserveInitialVisibility&quot;: false,&#10;    &quot;PreserveWidth&quot;: true,&#10;    &quot;ResizeBeforeExport&quot;: false&#10;  }&#10;}"/>
</p:tagLst>
</file>

<file path=ppt/tags/tag3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6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62.xml><?xml version="1.0" encoding="utf-8"?>
<p:tagLst xmlns:a="http://schemas.openxmlformats.org/drawingml/2006/main" xmlns:r="http://schemas.openxmlformats.org/officeDocument/2006/relationships" xmlns:p="http://schemas.openxmlformats.org/presentationml/2006/main">
  <p:tag name="SHAPETYPE" val="BREADCRUMB"/>
</p:tagLst>
</file>

<file path=ppt/tags/tag3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6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66.xml><?xml version="1.0" encoding="utf-8"?>
<p:tagLst xmlns:a="http://schemas.openxmlformats.org/drawingml/2006/main" xmlns:r="http://schemas.openxmlformats.org/officeDocument/2006/relationships" xmlns:p="http://schemas.openxmlformats.org/presentationml/2006/main">
  <p:tag name="SHAPETYPE" val="BREADCRUMB"/>
</p:tagLst>
</file>

<file path=ppt/tags/tag367.xml><?xml version="1.0" encoding="utf-8"?>
<p:tagLst xmlns:a="http://schemas.openxmlformats.org/drawingml/2006/main" xmlns:r="http://schemas.openxmlformats.org/officeDocument/2006/relationships" xmlns:p="http://schemas.openxmlformats.org/presentationml/2006/main">
  <p:tag name="LAST UPDATE DATE" val="487646754.539549"/>
  <p:tag name="IMPORTID" val="9260487378862.292729"/>
  <p:tag name="WBLAST" val="https://kpmgcan.sharepoint.com/sites/CA-TS-ProjectVortex/Shared Documents/2. Engagement Delivery and Execution/06_Analysis_and_Working_Papers/Project Vortex - Draft databook (5.8).xlsb"/>
  <p:tag name="USER NAME" val="andrewgladiuk"/>
  <p:tag name="TYPE" val="1"/>
  <p:tag name="SOURCENAME" val="Net debt"/>
  <p:tag name="SHEETID" val="Net debt"/>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andrewgladiuk&quot;,&#10;    &quot;WorkbookName&quot;: &quot;Project Vortex - Draft databook (5.8).xlsb&quot;,&#10;    &quot;WorksheetName&quot;: &quot;Net debt&quot;,&#10;    &quot;DateTime&quot;: &quot;2025-06-15T00:25:54.54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Net debt&quot;,&#10;    &quot;DateTime&quot;: &quot;2025-06-14T01:45:50.391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Net debt&quot;,&#10;    &quot;DateTime&quot;: &quot;2025-06-11T22:01:02.293Z&quot;,&#10;    &quot;PictureAppearance&quot;: 2,&#10;    &quot;PreserveInitialVisibility&quot;: false,&#10;    &quot;PreserveWidth&quot;: true,&#10;    &quot;ResizeBeforeExport&quot;: false&#10;  }&#10;}"/>
</p:tagLst>
</file>

<file path=ppt/tags/tag3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7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71.xml><?xml version="1.0" encoding="utf-8"?>
<p:tagLst xmlns:a="http://schemas.openxmlformats.org/drawingml/2006/main" xmlns:r="http://schemas.openxmlformats.org/officeDocument/2006/relationships" xmlns:p="http://schemas.openxmlformats.org/presentationml/2006/main">
  <p:tag name="SHAPETYPE" val="BREADCRUMB"/>
</p:tagLst>
</file>

<file path=ppt/tags/tag372.xml><?xml version="1.0" encoding="utf-8"?>
<p:tagLst xmlns:a="http://schemas.openxmlformats.org/drawingml/2006/main" xmlns:r="http://schemas.openxmlformats.org/officeDocument/2006/relationships" xmlns:p="http://schemas.openxmlformats.org/presentationml/2006/main">
  <p:tag name="LAST UPDATE DATE" val="487646754.539549"/>
  <p:tag name="IMPORTID" val="9260487378862.292729"/>
  <p:tag name="WBLAST" val="https://kpmgcan.sharepoint.com/sites/CA-TS-ProjectVortex/Shared Documents/2. Engagement Delivery and Execution/06_Analysis_and_Working_Papers/Project Vortex - Draft databook (5.8).xlsb"/>
  <p:tag name="USER NAME" val="andrewgladiuk"/>
  <p:tag name="TYPE" val="1"/>
  <p:tag name="SOURCENAME" val="Net debt"/>
  <p:tag name="SHEETID" val="Net debt"/>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andrewgladiuk&quot;,&#10;    &quot;WorkbookName&quot;: &quot;Project Vortex - Draft databook (5.8).xlsb&quot;,&#10;    &quot;WorksheetName&quot;: &quot;Net debt&quot;,&#10;    &quot;DateTime&quot;: &quot;2025-06-15T00:25:54.54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Net debt&quot;,&#10;    &quot;DateTime&quot;: &quot;2025-06-14T01:45:50.391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Net debt&quot;,&#10;    &quot;DateTime&quot;: &quot;2025-06-11T22:01:02.293Z&quot;,&#10;    &quot;PictureAppearance&quot;: 2,&#10;    &quot;PreserveInitialVisibility&quot;: false,&#10;    &quot;PreserveWidth&quot;: true,&#10;    &quot;ResizeBeforeExport&quot;: false&#10;  }&#10;}"/>
</p:tagLst>
</file>

<file path=ppt/tags/tag373.xml><?xml version="1.0" encoding="utf-8"?>
<p:tagLst xmlns:a="http://schemas.openxmlformats.org/drawingml/2006/main" xmlns:r="http://schemas.openxmlformats.org/officeDocument/2006/relationships" xmlns:p="http://schemas.openxmlformats.org/presentationml/2006/main">
  <p:tag name="SECTION" val="5"/>
  <p:tag name="NAME" val="Financial reporting &amp; GAAP considerations"/>
</p:tagLst>
</file>

<file path=ppt/tags/tag374.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37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37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377.xml><?xml version="1.0" encoding="utf-8"?>
<p:tagLst xmlns:a="http://schemas.openxmlformats.org/drawingml/2006/main" xmlns:r="http://schemas.openxmlformats.org/officeDocument/2006/relationships" xmlns:p="http://schemas.openxmlformats.org/presentationml/2006/main">
  <p:tag name="TOCSHAPE" val="AA"/>
</p:tagLst>
</file>

<file path=ppt/tags/tag378.xml><?xml version="1.0" encoding="utf-8"?>
<p:tagLst xmlns:a="http://schemas.openxmlformats.org/drawingml/2006/main" xmlns:r="http://schemas.openxmlformats.org/officeDocument/2006/relationships" xmlns:p="http://schemas.openxmlformats.org/presentationml/2006/main">
  <p:tag name="TOCSHAPE" val="808"/>
  <p:tag name="SLIDEINDEX" val="808"/>
</p:tagLst>
</file>

<file path=ppt/tags/tag379.xml><?xml version="1.0" encoding="utf-8"?>
<p:tagLst xmlns:a="http://schemas.openxmlformats.org/drawingml/2006/main" xmlns:r="http://schemas.openxmlformats.org/officeDocument/2006/relationships" xmlns:p="http://schemas.openxmlformats.org/presentationml/2006/main">
  <p:tag name="TOCSHAPE" val="AA"/>
</p:tagLst>
</file>

<file path=ppt/tags/tag380.xml><?xml version="1.0" encoding="utf-8"?>
<p:tagLst xmlns:a="http://schemas.openxmlformats.org/drawingml/2006/main" xmlns:r="http://schemas.openxmlformats.org/officeDocument/2006/relationships" xmlns:p="http://schemas.openxmlformats.org/presentationml/2006/main">
  <p:tag name="TOCSHAPE" val="AA"/>
</p:tagLst>
</file>

<file path=ppt/tags/tag381.xml><?xml version="1.0" encoding="utf-8"?>
<p:tagLst xmlns:a="http://schemas.openxmlformats.org/drawingml/2006/main" xmlns:r="http://schemas.openxmlformats.org/officeDocument/2006/relationships" xmlns:p="http://schemas.openxmlformats.org/presentationml/2006/main">
  <p:tag name="TOCSHAPE" val="909"/>
  <p:tag name="SLIDEINDEX" val="909"/>
</p:tagLst>
</file>

<file path=ppt/tags/tag382.xml><?xml version="1.0" encoding="utf-8"?>
<p:tagLst xmlns:a="http://schemas.openxmlformats.org/drawingml/2006/main" xmlns:r="http://schemas.openxmlformats.org/officeDocument/2006/relationships" xmlns:p="http://schemas.openxmlformats.org/presentationml/2006/main">
  <p:tag name="TOCSHAPE" val="2147469932"/>
  <p:tag name="SLIDEINDEX" val="2147469932"/>
</p:tagLst>
</file>

<file path=ppt/tags/tag3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8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86.xml><?xml version="1.0" encoding="utf-8"?>
<p:tagLst xmlns:a="http://schemas.openxmlformats.org/drawingml/2006/main" xmlns:r="http://schemas.openxmlformats.org/officeDocument/2006/relationships" xmlns:p="http://schemas.openxmlformats.org/presentationml/2006/main">
  <p:tag name="SHAPETYPE" val="BREADCRUMB"/>
</p:tagLst>
</file>

<file path=ppt/tags/tag387.xml><?xml version="1.0" encoding="utf-8"?>
<p:tagLst xmlns:a="http://schemas.openxmlformats.org/drawingml/2006/main" xmlns:r="http://schemas.openxmlformats.org/officeDocument/2006/relationships" xmlns:p="http://schemas.openxmlformats.org/presentationml/2006/main">
  <p:tag name="LAST UPDATE DATE" val="487625984.970881"/>
  <p:tag name="IMPORTID" val="7726484807497.614703"/>
  <p:tag name="WBLAST" val="https://kpmgcan.sharepoint.com/sites/CA-TS-ProjectVortex/Shared Documents/2. Engagement Delivery and Execution/06_Analysis_and_Working_Papers/GAAP analysis_.xlsx"/>
  <p:tag name="USER NAME" val="deidrebartlett"/>
  <p:tag name="TYPE" val="1"/>
  <p:tag name="SOURCENAME" val="Amounts in 000s"/>
  <p:tag name="SHEETID" val="Income Statement"/>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GAAP analysis_.xlsx&quot;,&#10;    &quot;WorksheetName&quot;: &quot;Income Statement&quot;,&#10;    &quot;DateTime&quot;: &quot;2025-06-14T18:39:44.971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GAAP analysis_.xlsx&quot;,&#10;    &quot;WorksheetName&quot;: &quot;Income Statement&quot;,&#10;    &quot;DateTime&quot;: &quot;2025-06-14T18:26:41.409Z&quot;,&#10;    &quot;PictureAppearance&quot;: 2,&#10;    &quot;PreserveInitialVisibility&quot;: false,&#10;    &quot;PreserveWidth&quot;: true,&#10;    &quot;ResizeBeforeExport&quot;: false&#10;  },&#10;  &quot;Initial&quot;: null&#10;}"/>
</p:tagLst>
</file>

<file path=ppt/tags/tag3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9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91.xml><?xml version="1.0" encoding="utf-8"?>
<p:tagLst xmlns:a="http://schemas.openxmlformats.org/drawingml/2006/main" xmlns:r="http://schemas.openxmlformats.org/officeDocument/2006/relationships" xmlns:p="http://schemas.openxmlformats.org/presentationml/2006/main">
  <p:tag name="SHAPETYPE" val="BREADCRUMB"/>
</p:tagLst>
</file>

<file path=ppt/tags/tag3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9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95.xml><?xml version="1.0" encoding="utf-8"?>
<p:tagLst xmlns:a="http://schemas.openxmlformats.org/drawingml/2006/main" xmlns:r="http://schemas.openxmlformats.org/officeDocument/2006/relationships" xmlns:p="http://schemas.openxmlformats.org/presentationml/2006/main">
  <p:tag name="LAST UPDATE DATE" val="487566189.565627"/>
  <p:tag name="IMPORTID" val="1000484808433.067248"/>
  <p:tag name="WBLAST" val="https://kpmgcan.sharepoint.com/sites/CA-TS-ProjectVortex/Shared Documents/2. Engagement Delivery and Execution/06_Analysis_and_Working_Papers/GAAP analysis_.xlsx"/>
  <p:tag name="USER NAME" val="deidrebartlett"/>
  <p:tag name="TYPE" val="1"/>
  <p:tag name="SOURCENAME" val="Amounts in 000s"/>
  <p:tag name="SHEETID" val="Balance Sheet"/>
  <p:tag name="PICTUREAPPEARANCE" val="xlPrinter"/>
  <p:tag name="NORESIZEONUPDATE" val="False"/>
  <p:tag name="EXPORTANDSETTINGINFO" val="{&#10;  &quot;Last&quot;: {&#10;    &quot;General&quot;: {&#10;      &quot;ExcelInfo&quot;: {&#10;        &quot;Printer&quot;: &quot;Microsoft Print to PDF on Ne02:&quot;,&#10;        &quot;ZoomLevel&quot;: &quot;9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GAAP analysis_.xlsx&quot;,&#10;    &quot;WorksheetName&quot;: &quot;Balance Sheet&quot;,&#10;    &quot;DateTime&quot;: &quot;2025-06-14T02:03:09.566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9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GAAP analysis_.xlsx&quot;,&#10;    &quot;WorksheetName&quot;: &quot;Balance Sheet&quot;,&#10;    &quot;DateTime&quot;: &quot;2025-06-14T02:02:15.285Z&quot;,&#10;    &quot;PictureAppearance&quot;: 2,&#10;    &quot;PreserveInitialVisibility&quot;: false,&#10;    &quot;PreserveWidth&quot;: true,&#10;    &quot;ResizeBeforeExport&quot;: false&#10;  },&#10;  &quot;Initial&quot;: null&#10;}"/>
</p:tagLst>
</file>

<file path=ppt/tags/tag396.xml><?xml version="1.0" encoding="utf-8"?>
<p:tagLst xmlns:a="http://schemas.openxmlformats.org/drawingml/2006/main" xmlns:r="http://schemas.openxmlformats.org/officeDocument/2006/relationships" xmlns:p="http://schemas.openxmlformats.org/presentationml/2006/main">
  <p:tag name="SHAPETYPE" val="BREADCRUMB"/>
</p:tagLst>
</file>

<file path=ppt/tags/tag3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9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00.xml><?xml version="1.0" encoding="utf-8"?>
<p:tagLst xmlns:a="http://schemas.openxmlformats.org/drawingml/2006/main" xmlns:r="http://schemas.openxmlformats.org/officeDocument/2006/relationships" xmlns:p="http://schemas.openxmlformats.org/presentationml/2006/main">
  <p:tag name="LAST UPDATE DATE" val="487566329.147845"/>
  <p:tag name="IMPORTID" val="9745484807742.61342"/>
  <p:tag name="WBLAST" val="https://kpmgcan.sharepoint.com/sites/CA-TS-ProjectVortex/Shared Documents/2. Engagement Delivery and Execution/06_Analysis_and_Working_Papers/GAAP analysis_.xlsx"/>
  <p:tag name="USER NAME" val="deidrebartlett"/>
  <p:tag name="TYPE" val="1"/>
  <p:tag name="SOURCENAME" val="Amounts in 000s"/>
  <p:tag name="SHEETID" val="Balance Sheet"/>
  <p:tag name="PICTUREAPPEARANCE" val="xlPrinter"/>
  <p:tag name="NORESIZEONUPDATE" val="False"/>
  <p:tag name="EXPORTANDSETTINGINFO" val="{&#10;  &quot;Last&quot;: {&#10;    &quot;General&quot;: {&#10;      &quot;ExcelInfo&quot;: {&#10;        &quot;Printer&quot;: &quot;Microsoft Print to PDF on Ne02:&quot;,&#10;        &quot;ZoomLevel&quot;: &quot;9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GAAP analysis_.xlsx&quot;,&#10;    &quot;WorksheetName&quot;: &quot;Balance Sheet&quot;,&#10;    &quot;DateTime&quot;: &quot;2025-06-14T02:05:29.148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9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GAAP analysis_.xlsx&quot;,&#10;    &quot;WorksheetName&quot;: &quot;Balance Sheet&quot;,&#10;    &quot;DateTime&quot;: &quot;2025-06-14T02:05:10.791Z&quot;,&#10;    &quot;PictureAppearance&quot;: 2,&#10;    &quot;PreserveInitialVisibility&quot;: false,&#10;    &quot;PreserveWidth&quot;: true,&#10;    &quot;ResizeBeforeExport&quot;: false&#10;  },&#10;  &quot;Initial&quot;: null&#10;}"/>
</p:tagLst>
</file>

<file path=ppt/tags/tag401.xml><?xml version="1.0" encoding="utf-8"?>
<p:tagLst xmlns:a="http://schemas.openxmlformats.org/drawingml/2006/main" xmlns:r="http://schemas.openxmlformats.org/officeDocument/2006/relationships" xmlns:p="http://schemas.openxmlformats.org/presentationml/2006/main">
  <p:tag name="SHAPETYPE" val="BREADCRUMB"/>
</p:tagLst>
</file>

<file path=ppt/tags/tag4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0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05.xml><?xml version="1.0" encoding="utf-8"?>
<p:tagLst xmlns:a="http://schemas.openxmlformats.org/drawingml/2006/main" xmlns:r="http://schemas.openxmlformats.org/officeDocument/2006/relationships" xmlns:p="http://schemas.openxmlformats.org/presentationml/2006/main">
  <p:tag name="LAST UPDATE DATE" val="487625550.539027"/>
  <p:tag name="IMPORTID" val="5491484808877.017617"/>
  <p:tag name="WBLAST" val="https://kpmgcan.sharepoint.com/sites/CA-TS-ProjectVortex/Shared Documents/2. Engagement Delivery and Execution/06_Analysis_and_Working_Papers/GAAP analysis_.xlsx"/>
  <p:tag name="USER NAME" val="deidrebartlett"/>
  <p:tag name="TYPE" val="1"/>
  <p:tag name="SOURCENAME" val="Amounts in 000s"/>
  <p:tag name="SHEETID" val="Balance Sheet"/>
  <p:tag name="PICTUREAPPEARANCE" val="xlPrinter"/>
  <p:tag name="NORESIZEONUPDATE" val="False"/>
  <p:tag name="EXPORTANDSETTINGINFO" val="{&#10;  &quot;Last&quot;: {&#10;    &quot;General&quot;: {&#10;      &quot;ExcelInfo&quot;: {&#10;        &quot;Printer&quot;: &quot;Microsoft Print to PDF on Ne02:&quot;,&#10;        &quot;ZoomLevel&quot;: &quot;9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GAAP analysis_.xlsx&quot;,&#10;    &quot;WorksheetName&quot;: &quot;Balance Sheet&quot;,&#10;    &quot;DateTime&quot;: &quot;2025-06-14T18:32:30.539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9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GAAP analysis_.xlsx&quot;,&#10;    &quot;WorksheetName&quot;: &quot;Balance Sheet&quot;,&#10;    &quot;DateTime&quot;: &quot;2025-06-14T18:31:26.3Z&quot;,&#10;    &quot;PictureAppearance&quot;: 2,&#10;    &quot;PreserveInitialVisibility&quot;: false,&#10;    &quot;PreserveWidth&quot;: true,&#10;    &quot;ResizeBeforeExport&quot;: false&#10;  },&#10;  &quot;Initial&quot;: null&#10;}"/>
</p:tagLst>
</file>

<file path=ppt/tags/tag406.xml><?xml version="1.0" encoding="utf-8"?>
<p:tagLst xmlns:a="http://schemas.openxmlformats.org/drawingml/2006/main" xmlns:r="http://schemas.openxmlformats.org/officeDocument/2006/relationships" xmlns:p="http://schemas.openxmlformats.org/presentationml/2006/main">
  <p:tag name="SHAPETYPE" val="BREADCRUMB"/>
</p:tagLst>
</file>

<file path=ppt/tags/tag4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0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10.xml><?xml version="1.0" encoding="utf-8"?>
<p:tagLst xmlns:a="http://schemas.openxmlformats.org/drawingml/2006/main" xmlns:r="http://schemas.openxmlformats.org/officeDocument/2006/relationships" xmlns:p="http://schemas.openxmlformats.org/presentationml/2006/main">
  <p:tag name="LAST UPDATE DATE" val="487626604.862504"/>
  <p:tag name="IMPORTID" val="1082484809160.04707"/>
  <p:tag name="WBLAST" val="https://kpmgcan.sharepoint.com/sites/CA-TS-ProjectVortex/Shared Documents/2. Engagement Delivery and Execution/06_Analysis_and_Working_Papers/GAAP analysis_.xlsx"/>
  <p:tag name="USER NAME" val="deidrebartlett"/>
  <p:tag name="TYPE" val="1"/>
  <p:tag name="SOURCENAME" val="Amounts in 000s"/>
  <p:tag name="SHEETID" val="Balance Sheet"/>
  <p:tag name="PICTUREAPPEARANCE" val="xlPrinter"/>
  <p:tag name="NORESIZEONUPDATE" val="False"/>
  <p:tag name="EXPORTANDSETTINGINFO" val="{&#10;  &quot;Last&quot;: {&#10;    &quot;General&quot;: {&#10;      &quot;ExcelInfo&quot;: {&#10;        &quot;Printer&quot;: &quot;Microsoft Print to PDF on Ne02:&quot;,&#10;        &quot;ZoomLevel&quot;: &quot;9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GAAP analysis_.xlsx&quot;,&#10;    &quot;WorksheetName&quot;: &quot;Balance Sheet&quot;,&#10;    &quot;DateTime&quot;: &quot;2025-06-14T18:50:04.863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9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GAAP analysis_.xlsx&quot;,&#10;    &quot;WorksheetName&quot;: &quot;Balance Sheet&quot;,&#10;    &quot;DateTime&quot;: &quot;2025-06-14T02:06:50.902Z&quot;,&#10;    &quot;PictureAppearance&quot;: 2,&#10;    &quot;PreserveInitialVisibility&quot;: false,&#10;    &quot;PreserveWidth&quot;: true,&#10;    &quot;ResizeBeforeExport&quot;: false&#10;  },&#10;  &quot;Initial&quot;: null&#10;}"/>
</p:tagLst>
</file>

<file path=ppt/tags/tag411.xml><?xml version="1.0" encoding="utf-8"?>
<p:tagLst xmlns:a="http://schemas.openxmlformats.org/drawingml/2006/main" xmlns:r="http://schemas.openxmlformats.org/officeDocument/2006/relationships" xmlns:p="http://schemas.openxmlformats.org/presentationml/2006/main">
  <p:tag name="SHAPETYPE" val="BREADCRUMB"/>
</p:tagLst>
</file>

<file path=ppt/tags/tag412.xml><?xml version="1.0" encoding="utf-8"?>
<p:tagLst xmlns:a="http://schemas.openxmlformats.org/drawingml/2006/main" xmlns:r="http://schemas.openxmlformats.org/officeDocument/2006/relationships" xmlns:p="http://schemas.openxmlformats.org/presentationml/2006/main">
  <p:tag name="SECTION" val="6"/>
  <p:tag name="NAME" val="Appendices"/>
</p:tagLst>
</file>

<file path=ppt/tags/tag413.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41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1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1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17.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1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1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2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2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22.xml><?xml version="1.0" encoding="utf-8"?>
<p:tagLst xmlns:a="http://schemas.openxmlformats.org/drawingml/2006/main" xmlns:r="http://schemas.openxmlformats.org/officeDocument/2006/relationships" xmlns:p="http://schemas.openxmlformats.org/presentationml/2006/main">
  <p:tag name="TOCSHAPE" val="AA"/>
</p:tagLst>
</file>

<file path=ppt/tags/tag423.xml><?xml version="1.0" encoding="utf-8"?>
<p:tagLst xmlns:a="http://schemas.openxmlformats.org/drawingml/2006/main" xmlns:r="http://schemas.openxmlformats.org/officeDocument/2006/relationships" xmlns:p="http://schemas.openxmlformats.org/presentationml/2006/main">
  <p:tag name="TOCSHAPE" val="2147469908"/>
  <p:tag name="SLIDEINDEX" val="2147469908"/>
</p:tagLst>
</file>

<file path=ppt/tags/tag424.xml><?xml version="1.0" encoding="utf-8"?>
<p:tagLst xmlns:a="http://schemas.openxmlformats.org/drawingml/2006/main" xmlns:r="http://schemas.openxmlformats.org/officeDocument/2006/relationships" xmlns:p="http://schemas.openxmlformats.org/presentationml/2006/main">
  <p:tag name="TOCSHAPE" val="AA"/>
</p:tagLst>
</file>

<file path=ppt/tags/tag425.xml><?xml version="1.0" encoding="utf-8"?>
<p:tagLst xmlns:a="http://schemas.openxmlformats.org/drawingml/2006/main" xmlns:r="http://schemas.openxmlformats.org/officeDocument/2006/relationships" xmlns:p="http://schemas.openxmlformats.org/presentationml/2006/main">
  <p:tag name="TOCSHAPE" val="AA"/>
</p:tagLst>
</file>

<file path=ppt/tags/tag426.xml><?xml version="1.0" encoding="utf-8"?>
<p:tagLst xmlns:a="http://schemas.openxmlformats.org/drawingml/2006/main" xmlns:r="http://schemas.openxmlformats.org/officeDocument/2006/relationships" xmlns:p="http://schemas.openxmlformats.org/presentationml/2006/main">
  <p:tag name="TOCSHAPE" val="AA"/>
</p:tagLst>
</file>

<file path=ppt/tags/tag427.xml><?xml version="1.0" encoding="utf-8"?>
<p:tagLst xmlns:a="http://schemas.openxmlformats.org/drawingml/2006/main" xmlns:r="http://schemas.openxmlformats.org/officeDocument/2006/relationships" xmlns:p="http://schemas.openxmlformats.org/presentationml/2006/main">
  <p:tag name="TOCSHAPE" val="AA"/>
</p:tagLst>
</file>

<file path=ppt/tags/tag428.xml><?xml version="1.0" encoding="utf-8"?>
<p:tagLst xmlns:a="http://schemas.openxmlformats.org/drawingml/2006/main" xmlns:r="http://schemas.openxmlformats.org/officeDocument/2006/relationships" xmlns:p="http://schemas.openxmlformats.org/presentationml/2006/main">
  <p:tag name="TOCSHAPE" val="AA"/>
</p:tagLst>
</file>

<file path=ppt/tags/tag429.xml><?xml version="1.0" encoding="utf-8"?>
<p:tagLst xmlns:a="http://schemas.openxmlformats.org/drawingml/2006/main" xmlns:r="http://schemas.openxmlformats.org/officeDocument/2006/relationships" xmlns:p="http://schemas.openxmlformats.org/presentationml/2006/main">
  <p:tag name="TOCSHAPE" val="AA"/>
</p:tagLst>
</file>

<file path=ppt/tags/tag430.xml><?xml version="1.0" encoding="utf-8"?>
<p:tagLst xmlns:a="http://schemas.openxmlformats.org/drawingml/2006/main" xmlns:r="http://schemas.openxmlformats.org/officeDocument/2006/relationships" xmlns:p="http://schemas.openxmlformats.org/presentationml/2006/main">
  <p:tag name="TOCSHAPE" val="AA"/>
</p:tagLst>
</file>

<file path=ppt/tags/tag431.xml><?xml version="1.0" encoding="utf-8"?>
<p:tagLst xmlns:a="http://schemas.openxmlformats.org/drawingml/2006/main" xmlns:r="http://schemas.openxmlformats.org/officeDocument/2006/relationships" xmlns:p="http://schemas.openxmlformats.org/presentationml/2006/main">
  <p:tag name="TOCSHAPE" val="AA"/>
</p:tagLst>
</file>

<file path=ppt/tags/tag432.xml><?xml version="1.0" encoding="utf-8"?>
<p:tagLst xmlns:a="http://schemas.openxmlformats.org/drawingml/2006/main" xmlns:r="http://schemas.openxmlformats.org/officeDocument/2006/relationships" xmlns:p="http://schemas.openxmlformats.org/presentationml/2006/main">
  <p:tag name="TOCSHAPE" val="2147469919"/>
  <p:tag name="SLIDEINDEX" val="2147469919"/>
</p:tagLst>
</file>

<file path=ppt/tags/tag433.xml><?xml version="1.0" encoding="utf-8"?>
<p:tagLst xmlns:a="http://schemas.openxmlformats.org/drawingml/2006/main" xmlns:r="http://schemas.openxmlformats.org/officeDocument/2006/relationships" xmlns:p="http://schemas.openxmlformats.org/presentationml/2006/main">
  <p:tag name="TOCSHAPE" val="2147469984"/>
  <p:tag name="SLIDEINDEX" val="2147469984"/>
</p:tagLst>
</file>

<file path=ppt/tags/tag434.xml><?xml version="1.0" encoding="utf-8"?>
<p:tagLst xmlns:a="http://schemas.openxmlformats.org/drawingml/2006/main" xmlns:r="http://schemas.openxmlformats.org/officeDocument/2006/relationships" xmlns:p="http://schemas.openxmlformats.org/presentationml/2006/main">
  <p:tag name="TOCSHAPE" val="2147469985"/>
  <p:tag name="SLIDEINDEX" val="2147469985"/>
</p:tagLst>
</file>

<file path=ppt/tags/tag435.xml><?xml version="1.0" encoding="utf-8"?>
<p:tagLst xmlns:a="http://schemas.openxmlformats.org/drawingml/2006/main" xmlns:r="http://schemas.openxmlformats.org/officeDocument/2006/relationships" xmlns:p="http://schemas.openxmlformats.org/presentationml/2006/main">
  <p:tag name="TOCSHAPE" val="2147469965"/>
  <p:tag name="SLIDEINDEX" val="2147469965"/>
</p:tagLst>
</file>

<file path=ppt/tags/tag436.xml><?xml version="1.0" encoding="utf-8"?>
<p:tagLst xmlns:a="http://schemas.openxmlformats.org/drawingml/2006/main" xmlns:r="http://schemas.openxmlformats.org/officeDocument/2006/relationships" xmlns:p="http://schemas.openxmlformats.org/presentationml/2006/main">
  <p:tag name="TOCSHAPE" val="651"/>
  <p:tag name="SLIDEINDEX" val="651"/>
</p:tagLst>
</file>

<file path=ppt/tags/tag437.xml><?xml version="1.0" encoding="utf-8"?>
<p:tagLst xmlns:a="http://schemas.openxmlformats.org/drawingml/2006/main" xmlns:r="http://schemas.openxmlformats.org/officeDocument/2006/relationships" xmlns:p="http://schemas.openxmlformats.org/presentationml/2006/main">
  <p:tag name="TOCSHAPE" val="652"/>
  <p:tag name="SLIDEINDEX" val="652"/>
</p:tagLst>
</file>

<file path=ppt/tags/tag438.xml><?xml version="1.0" encoding="utf-8"?>
<p:tagLst xmlns:a="http://schemas.openxmlformats.org/drawingml/2006/main" xmlns:r="http://schemas.openxmlformats.org/officeDocument/2006/relationships" xmlns:p="http://schemas.openxmlformats.org/presentationml/2006/main">
  <p:tag name="TOCSHAPE" val="2147469966"/>
  <p:tag name="SLIDEINDEX" val="2147469966"/>
</p:tagLst>
</file>

<file path=ppt/tags/tag439.xml><?xml version="1.0" encoding="utf-8"?>
<p:tagLst xmlns:a="http://schemas.openxmlformats.org/drawingml/2006/main" xmlns:r="http://schemas.openxmlformats.org/officeDocument/2006/relationships" xmlns:p="http://schemas.openxmlformats.org/presentationml/2006/main">
  <p:tag name="TOCSHAPE" val="2147469986"/>
  <p:tag name="SLIDEINDEX" val="2147469986"/>
</p:tagLst>
</file>

<file path=ppt/tags/tag4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4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43.xml><?xml version="1.0" encoding="utf-8"?>
<p:tagLst xmlns:a="http://schemas.openxmlformats.org/drawingml/2006/main" xmlns:r="http://schemas.openxmlformats.org/officeDocument/2006/relationships" xmlns:p="http://schemas.openxmlformats.org/presentationml/2006/main">
  <p:tag name="LAST UPDATE DATE" val="484764454.956516"/>
  <p:tag name="IMPORTID" val="5944484764454.956516"/>
  <p:tag name="WBLAST" val="https://kpmgcan.sharepoint.com/sites/CA-TS-ProjectVortex/Shared Documents/2. Engagement Delivery and Execution/06_Analysis_and_Working_Papers/Project Vortex - Draft databook (5.8).xlsb"/>
  <p:tag name="USER NAME" val="deidrebartlett"/>
  <p:tag name="TYPE" val="1"/>
  <p:tag name="SOURCENAME" val="VDD to Audit reconciliation"/>
  <p:tag name="SHEETID" val="VDD to Audit (9m)"/>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Printer&quot;: &quot;Microsoft Print to PDF on Ne02:&quot;&#10;  }&#10;}"/>
</p:tagLst>
</file>

<file path=ppt/tags/tag444.xml><?xml version="1.0" encoding="utf-8"?>
<p:tagLst xmlns:a="http://schemas.openxmlformats.org/drawingml/2006/main" xmlns:r="http://schemas.openxmlformats.org/officeDocument/2006/relationships" xmlns:p="http://schemas.openxmlformats.org/presentationml/2006/main">
  <p:tag name="LAST UPDATE DATE" val="487454863.811945"/>
  <p:tag name="IMPORTID" val="3436487454863.811945"/>
  <p:tag name="WBLAST" val="https://kpmgcan.sharepoint.com/sites/CA-TS-ProjectVortex/Shared Documents/2. Engagement Delivery and Execution/06_Analysis_and_Working_Papers/Project Vortex - Draft databook (5.8).xlsb"/>
  <p:tag name="USER NAME" val="deidrebartlett"/>
  <p:tag name="TYPE" val="1"/>
  <p:tag name="SOURCENAME" val="VDD to Audit reconciliation"/>
  <p:tag name="SHEETID" val="VDD to Audit (DR)"/>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VDD to Audit (DR)&quot;,&#10;    &quot;DateTime&quot;: &quot;2025-06-12T19:07:43.812Z&quot;,&#10;    &quot;PictureAppearance&quot;: 2,&#10;    &quot;PreserveInitialVisibility&quot;: false,&#10;    &quot;PreserveWidth&quot;: true,&#10;    &quot;ResizeBeforeExport&quot;: false&#10;  },&#10;  &quot;Previous&quot;: null,&#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VDD to Audit (DR)&quot;,&#10;    &quot;DateTime&quot;: &quot;2025-06-12T19:07:43.812Z&quot;,&#10;    &quot;PictureAppearance&quot;: 2,&#10;    &quot;PreserveInitialVisibility&quot;: false,&#10;    &quot;PreserveWidth&quot;: true,&#10;    &quot;ResizeBeforeExport&quot;: false&#10;  }&#10;}"/>
</p:tagLst>
</file>

<file path=ppt/tags/tag445.xml><?xml version="1.0" encoding="utf-8"?>
<p:tagLst xmlns:a="http://schemas.openxmlformats.org/drawingml/2006/main" xmlns:r="http://schemas.openxmlformats.org/officeDocument/2006/relationships" xmlns:p="http://schemas.openxmlformats.org/presentationml/2006/main">
  <p:tag name="SHAPETYPE" val="BREADCRUMB"/>
</p:tagLst>
</file>

<file path=ppt/tags/tag4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4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49.xml><?xml version="1.0" encoding="utf-8"?>
<p:tagLst xmlns:a="http://schemas.openxmlformats.org/drawingml/2006/main" xmlns:r="http://schemas.openxmlformats.org/officeDocument/2006/relationships" xmlns:p="http://schemas.openxmlformats.org/presentationml/2006/main">
  <p:tag name="LAST UPDATE DATE" val="487468611.140455"/>
  <p:tag name="IMPORTID" val="4460487382139.643074"/>
  <p:tag name="WBLAST" val="https://kpmgcan.sharepoint.com/sites/CA-TS-ProjectVortex/Shared Documents/2. Engagement Delivery and Execution/06_Analysis_and_Working_Papers/Project Vortex - Draft databook (5.8).xlsb"/>
  <p:tag name="USER NAME" val="deidrebartlett"/>
  <p:tag name="TYPE" val="1"/>
  <p:tag name="SOURCENAME" val="Net working capital target - sensitivity matrix"/>
  <p:tag name="SHEETID" val="Target matrix"/>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Target matrix&quot;,&#10;    &quot;DateTime&quot;: &quot;2025-06-12T22:56:51.14Z&quot;,&#10;    &quot;PictureAppearance&quot;: 2,&#10;    &quot;PreserveInitialVisibility&quot;: false,&#10;    &quot;PreserveWidth&quot;: true,&#10;    &quot;ResizeBeforeExport&quot;: false&#10;  },&#10;  &quot;Previous&quot;: null,&#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Target matrix&quot;,&#10;    &quot;DateTime&quot;: &quot;2025-06-12T22:56:51.14Z&quot;,&#10;    &quot;PictureAppearance&quot;: 2,&#10;    &quot;PreserveInitialVisibility&quot;: false,&#10;    &quot;PreserveWidth&quot;: true,&#10;    &quot;ResizeBeforeExport&quot;: false&#10;  }&#10;}"/>
</p:tagLst>
</file>

<file path=ppt/tags/tag450.xml><?xml version="1.0" encoding="utf-8"?>
<p:tagLst xmlns:a="http://schemas.openxmlformats.org/drawingml/2006/main" xmlns:r="http://schemas.openxmlformats.org/officeDocument/2006/relationships" xmlns:p="http://schemas.openxmlformats.org/presentationml/2006/main">
  <p:tag name="LAST UPDATE DATE" val="487468728.422511"/>
  <p:tag name="IMPORTID" val="42487468728.422511"/>
  <p:tag name="WBLAST" val="https://kpmgcan.sharepoint.com/sites/CA-TS-ProjectVortex/Shared Documents/2. Engagement Delivery and Execution/06_Analysis_and_Working_Papers/Project Vortex - Draft databook (5.8).xlsb"/>
  <p:tag name="USER NAME" val="deidrebartlett"/>
  <p:tag name="TYPE" val="1"/>
  <p:tag name="SOURCENAME" val="Notable contracts with long term deferred revenue"/>
  <p:tag name="SHEETID" val="LT Contracts (17.5)"/>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LT Contracts (17.5)&quot;,&#10;    &quot;DateTime&quot;: &quot;2025-06-12T22:58:48.423Z&quot;,&#10;    &quot;PictureAppearance&quot;: 2,&#10;    &quot;PreserveInitialVisibility&quot;: false,&#10;    &quot;PreserveWidth&quot;: true,&#10;    &quot;ResizeBeforeExport&quot;: false&#10;  },&#10;  &quot;Previous&quot;: null,&#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LT Contracts (17.5)&quot;,&#10;    &quot;DateTime&quot;: &quot;2025-06-12T22:58:48.423Z&quot;,&#10;    &quot;PictureAppearance&quot;: 2,&#10;    &quot;PreserveInitialVisibility&quot;: false,&#10;    &quot;PreserveWidth&quot;: true,&#10;    &quot;ResizeBeforeExport&quot;: false&#10;  }&#10;}"/>
</p:tagLst>
</file>

<file path=ppt/tags/tag451.xml><?xml version="1.0" encoding="utf-8"?>
<p:tagLst xmlns:a="http://schemas.openxmlformats.org/drawingml/2006/main" xmlns:r="http://schemas.openxmlformats.org/officeDocument/2006/relationships" xmlns:p="http://schemas.openxmlformats.org/presentationml/2006/main">
  <p:tag name="SHAPETYPE" val="BREADCRUMB"/>
</p:tagLst>
</file>

<file path=ppt/tags/tag4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5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55.xml><?xml version="1.0" encoding="utf-8"?>
<p:tagLst xmlns:a="http://schemas.openxmlformats.org/drawingml/2006/main" xmlns:r="http://schemas.openxmlformats.org/officeDocument/2006/relationships" xmlns:p="http://schemas.openxmlformats.org/presentationml/2006/main">
  <p:tag name="LAST UPDATE DATE" val="487646854.902273"/>
  <p:tag name="IMPORTID" val="8610487475416.835373"/>
  <p:tag name="WBLAST" val="https://kpmgcan.sharepoint.com/sites/CA-TS-ProjectVortex/Shared Documents/2. Engagement Delivery and Execution/06_Analysis_and_Working_Papers/Project Vortex - Draft databook (5.8).xlsb"/>
  <p:tag name="USER NAME" val="andrewgladiuk"/>
  <p:tag name="TYPE" val="1"/>
  <p:tag name="SOURCENAME" val="Stratified | BS"/>
  <p:tag name="SHEETID" val="Stratified BS"/>
  <p:tag name="PICTUREAPPEARANCE" val="xlPrinter"/>
  <p:tag name="NORESIZEONUPDATE" val="False"/>
  <p:tag name="EXPORTANDSETTINGINFO" val="{&#10;  &quot;Last&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andrewgladiuk&quot;,&#10;    &quot;WorkbookName&quot;: &quot;Project Vortex - Draft databook (5.8).xlsb&quot;,&#10;    &quot;WorksheetName&quot;: &quot;Stratified BS&quot;,&#10;    &quot;DateTime&quot;: &quot;2025-06-15T00:27:34.902Z&quot;,&#10;    &quot;PictureAppearance&quot;: 2,&#10;    &quot;PreserveInitialVisibility&quot;: false,&#10;    &quot;PreserveWidth&quot;: true,&#10;    &quot;ResizeBeforeExport&quot;: false&#10;  },&#10;  &quot;Previous&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Stratified BS&quot;,&#10;    &quot;DateTime&quot;: &quot;2025-06-14T01:54:46.399Z&quot;,&#10;    &quot;PictureAppearance&quot;: 2,&#10;    &quot;PreserveInitialVisibility&quot;: false,&#10;    &quot;PreserveWidth&quot;: true,&#10;    &quot;ResizeBeforeExport&quot;: false&#10;  },&#10;  &quot;Initial&quot;: {&#10;    &quot;General&quot;: {&#10;      &quot;ExcelInfo&quot;: {&#10;        &quot;Printer&quot;: &quot;Microsoft Print to PDF on Ne02:&quot;,&#10;        &quot;ZoomLevel&quot;: &quot;100&quot;&#10;      },&#10;      &quot;PrimaryDisplay&quot;: {&#10;        &quot;IsDisplay1&quot;: true,&#10;        &quot;Resolution&quot;: {&#10;          &quot;Width&quot;: 1280,&#10;          &quot;Height&quot;: 800&#10;        },&#10;        &quot;ResolutionToWorkingAreaRatio&quot;: 1.5&#10;      },&#10;      &quot;ResizeRatio&quot;: 1.0,&#10;      &quot;UndoAutoColor&quot;: false,&#10;      &quot;CustomAutoColor&quot;: false&#10;    },&#10;    &quot;UserName&quot;: &quot;deidrebartlett&quot;,&#10;    &quot;WorkbookName&quot;: &quot;Project Vortex - Draft databook (5.8).xlsb&quot;,&#10;    &quot;WorksheetName&quot;: &quot;Stratified BS&quot;,&#10;    &quot;DateTime&quot;: &quot;2025-06-13T00:50:16.835Z&quot;,&#10;    &quot;PictureAppearance&quot;: 2,&#10;    &quot;PreserveInitialVisibility&quot;: false,&#10;    &quot;PreserveWidth&quot;: true,&#10;    &quot;ResizeBeforeExport&quot;: false&#10;  }&#10;}"/>
</p:tagLst>
</file>

<file path=ppt/tags/tag456.xml><?xml version="1.0" encoding="utf-8"?>
<p:tagLst xmlns:a="http://schemas.openxmlformats.org/drawingml/2006/main" xmlns:r="http://schemas.openxmlformats.org/officeDocument/2006/relationships" xmlns:p="http://schemas.openxmlformats.org/presentationml/2006/main">
  <p:tag name="SHAPETYPE" val="BREADCRUMB"/>
</p:tagLst>
</file>

<file path=ppt/tags/tag4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5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60.xml><?xml version="1.0" encoding="utf-8"?>
<p:tagLst xmlns:a="http://schemas.openxmlformats.org/drawingml/2006/main" xmlns:r="http://schemas.openxmlformats.org/officeDocument/2006/relationships" xmlns:p="http://schemas.openxmlformats.org/presentationml/2006/main">
  <p:tag name="SHAPETYPE" val="BREADCRUMB"/>
</p:tagLst>
</file>

<file path=ppt/tags/tag4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63.xml><?xml version="1.0" encoding="utf-8"?>
<p:tagLst xmlns:a="http://schemas.openxmlformats.org/drawingml/2006/main" xmlns:r="http://schemas.openxmlformats.org/officeDocument/2006/relationships" xmlns:p="http://schemas.openxmlformats.org/presentationml/2006/main">
  <p:tag name="SHAPETYPE" val="BREADCRUMB"/>
</p:tagLst>
</file>

<file path=ppt/tags/tag464.xml><?xml version="1.0" encoding="utf-8"?>
<p:tagLst xmlns:a="http://schemas.openxmlformats.org/drawingml/2006/main" xmlns:r="http://schemas.openxmlformats.org/officeDocument/2006/relationships" xmlns:p="http://schemas.openxmlformats.org/presentationml/2006/main">
  <p:tag name="CROSSREFGUID" val="ddb72b19-fda2-4358-bb0e-8633705c0354"/>
</p:tagLst>
</file>

<file path=ppt/tags/tag46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66.xml><?xml version="1.0" encoding="utf-8"?>
<p:tagLst xmlns:a="http://schemas.openxmlformats.org/drawingml/2006/main" xmlns:r="http://schemas.openxmlformats.org/officeDocument/2006/relationships" xmlns:p="http://schemas.openxmlformats.org/presentationml/2006/main">
  <p:tag name="SHAPETYPE" val="BREADCRUMB"/>
</p:tagLst>
</file>

<file path=ppt/tags/tag4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8.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ags/tag46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70.xml><?xml version="1.0" encoding="utf-8"?>
<p:tagLst xmlns:a="http://schemas.openxmlformats.org/drawingml/2006/main" xmlns:r="http://schemas.openxmlformats.org/officeDocument/2006/relationships" xmlns:p="http://schemas.openxmlformats.org/presentationml/2006/main">
  <p:tag name="SHAPETYPE" val="BREADCRUMB"/>
</p:tagLst>
</file>

<file path=ppt/tags/tag4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2.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ags/tag47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74.xml><?xml version="1.0" encoding="utf-8"?>
<p:tagLst xmlns:a="http://schemas.openxmlformats.org/drawingml/2006/main" xmlns:r="http://schemas.openxmlformats.org/officeDocument/2006/relationships" xmlns:p="http://schemas.openxmlformats.org/presentationml/2006/main">
  <p:tag name="SHAPETYPE" val="BREADCRUMB"/>
</p:tagLst>
</file>

<file path=ppt/tags/tag4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6.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ags/tag47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78.xml><?xml version="1.0" encoding="utf-8"?>
<p:tagLst xmlns:a="http://schemas.openxmlformats.org/drawingml/2006/main" xmlns:r="http://schemas.openxmlformats.org/officeDocument/2006/relationships" xmlns:p="http://schemas.openxmlformats.org/presentationml/2006/main">
  <p:tag name="SHAPETYPE" val="BREADCRUMB"/>
</p:tagLst>
</file>

<file path=ppt/tags/tag47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heme/theme1.xml><?xml version="1.0" encoding="utf-8"?>
<a:theme xmlns:a="http://schemas.openxmlformats.org/drawingml/2006/main" name="KPMG Widescreen - UpSlide">
  <a:themeElements>
    <a:clrScheme name="KPMG 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ctr">
          <a:defRPr sz="9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olt Blue">
      <a:srgbClr val="1E49E2"/>
    </a:custClr>
    <a:custClr name="Dark Blue">
      <a:srgbClr val="0C233C"/>
    </a:custClr>
    <a:custClr name="Pacific Blue">
      <a:srgbClr val="00B8F5"/>
    </a:custClr>
    <a:custClr name="Blue">
      <a:srgbClr val="76D2FF"/>
    </a:custClr>
    <a:custClr name="Light Blue">
      <a:srgbClr val="ACEAFF"/>
    </a:custClr>
    <a:custClr name="Dark Purple">
      <a:srgbClr val="510DBC"/>
    </a:custClr>
    <a:custClr name="Purple">
      <a:srgbClr val="7213EA"/>
    </a:custClr>
    <a:custClr name="Light Purple">
      <a:srgbClr val="B497FF"/>
    </a:custClr>
    <a:custClr name="Dark Green">
      <a:srgbClr val="008E7E"/>
    </a:custClr>
    <a:custClr name="Green">
      <a:srgbClr val="00C0AE"/>
    </a:custClr>
    <a:custClr name="Light Green">
      <a:srgbClr val="7AFFBD"/>
    </a:custClr>
    <a:custClr name="Dark Pink">
      <a:srgbClr val="AB0D82"/>
    </a:custClr>
    <a:custClr name="Pink">
      <a:srgbClr val="FD349C"/>
    </a:custClr>
    <a:custClr name="Light Pink">
      <a:srgbClr val="FFA3DA"/>
    </a:custClr>
    <a:custClr name="Grey 1">
      <a:srgbClr val="333333"/>
    </a:custClr>
    <a:custClr name="Grey 2">
      <a:srgbClr val="666666"/>
    </a:custClr>
    <a:custClr name="Grey 3">
      <a:srgbClr val="989898"/>
    </a:custClr>
    <a:custClr name="Grey 4">
      <a:srgbClr val="B2B2B2"/>
    </a:custClr>
    <a:custClr name="Grey 5">
      <a:srgbClr val="E5E5E5"/>
    </a:custClr>
  </a:custClrLst>
  <a:extLst>
    <a:ext uri="{05A4C25C-085E-4340-85A3-A5531E510DB2}">
      <thm15:themeFamily xmlns:thm15="http://schemas.microsoft.com/office/thememl/2012/main" name="Diligence+ report template (2025).potx  -  Read-Only" id="{E2D6A7C7-1298-44DA-A23D-E6E2C88579B7}" vid="{ED5181F6-9966-491D-A817-72CF5F2DD9D3}"/>
    </a:ext>
  </a:extLst>
</a:theme>
</file>

<file path=ppt/theme/theme2.xml><?xml version="1.0" encoding="utf-8"?>
<a:theme xmlns:a="http://schemas.openxmlformats.org/drawingml/2006/main" name="UpSlide Table Of Content Master (do not edit)">
  <a:themeElements>
    <a:clrScheme name="KPMG 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l">
          <a:defRPr sz="16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olt Blue">
      <a:srgbClr val="1E49E2"/>
    </a:custClr>
    <a:custClr name="Dark Blue">
      <a:srgbClr val="0C233C"/>
    </a:custClr>
    <a:custClr name="Pacific Blue">
      <a:srgbClr val="00B8F5"/>
    </a:custClr>
    <a:custClr name="Blue">
      <a:srgbClr val="76D2FF"/>
    </a:custClr>
    <a:custClr name="Light Blue">
      <a:srgbClr val="ACEAFF"/>
    </a:custClr>
    <a:custClr name="Dark Purple">
      <a:srgbClr val="510DBC"/>
    </a:custClr>
    <a:custClr name="Purple">
      <a:srgbClr val="7213EA"/>
    </a:custClr>
    <a:custClr name="Light Purple">
      <a:srgbClr val="B497FF"/>
    </a:custClr>
    <a:custClr name="Dark Green">
      <a:srgbClr val="008E7E"/>
    </a:custClr>
    <a:custClr name="Green">
      <a:srgbClr val="00C0AE"/>
    </a:custClr>
    <a:custClr name="Light Green">
      <a:srgbClr val="7AFFBD"/>
    </a:custClr>
    <a:custClr name="Dark Pink">
      <a:srgbClr val="AB0D82"/>
    </a:custClr>
    <a:custClr name="Pink">
      <a:srgbClr val="FD349C"/>
    </a:custClr>
    <a:custClr name="Light Pink">
      <a:srgbClr val="FFA3DA"/>
    </a:custClr>
    <a:custClr name="Grey 1">
      <a:srgbClr val="333333"/>
    </a:custClr>
    <a:custClr name="Grey 2">
      <a:srgbClr val="666666"/>
    </a:custClr>
    <a:custClr name="Grey 3">
      <a:srgbClr val="989898"/>
    </a:custClr>
    <a:custClr name="Grey 4">
      <a:srgbClr val="B2B2B2"/>
    </a:custClr>
    <a:custClr name="Grey 5">
      <a:srgbClr val="E5E5E5"/>
    </a:custClr>
  </a:custClrLst>
  <a:extLst>
    <a:ext uri="{05A4C25C-085E-4340-85A3-A5531E510DB2}">
      <thm15:themeFamily xmlns:thm15="http://schemas.microsoft.com/office/thememl/2012/main" name="Diligence+ report template (2025).potx  -  Read-Only" id="{E2D6A7C7-1298-44DA-A23D-E6E2C88579B7}" vid="{2949C7CA-45ED-450A-A1E1-D429F6A957B9}"/>
    </a:ext>
  </a:extLst>
</a:theme>
</file>

<file path=ppt/theme/theme3.xml><?xml version="1.0" encoding="utf-8"?>
<a:theme xmlns:a="http://schemas.openxmlformats.org/drawingml/2006/main" name="1_KPMG Widescreen - UpSlide">
  <a:themeElements>
    <a:clrScheme name="KPMG 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ctr">
          <a:defRPr sz="9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olt Blue">
      <a:srgbClr val="1E49E2"/>
    </a:custClr>
    <a:custClr name="Dark Blue">
      <a:srgbClr val="0C233C"/>
    </a:custClr>
    <a:custClr name="Pacific Blue">
      <a:srgbClr val="00B8F5"/>
    </a:custClr>
    <a:custClr name="Blue">
      <a:srgbClr val="76D2FF"/>
    </a:custClr>
    <a:custClr name="Light Blue">
      <a:srgbClr val="ACEAFF"/>
    </a:custClr>
    <a:custClr name="Dark Purple">
      <a:srgbClr val="510DBC"/>
    </a:custClr>
    <a:custClr name="Purple">
      <a:srgbClr val="7213EA"/>
    </a:custClr>
    <a:custClr name="Light Purple">
      <a:srgbClr val="B497FF"/>
    </a:custClr>
    <a:custClr name="Dark Green">
      <a:srgbClr val="008E7E"/>
    </a:custClr>
    <a:custClr name="Green">
      <a:srgbClr val="00C0AE"/>
    </a:custClr>
    <a:custClr name="Light Green">
      <a:srgbClr val="7AFFBD"/>
    </a:custClr>
    <a:custClr name="Dark Pink">
      <a:srgbClr val="AB0D82"/>
    </a:custClr>
    <a:custClr name="Pink">
      <a:srgbClr val="FD349C"/>
    </a:custClr>
    <a:custClr name="Light Pink">
      <a:srgbClr val="FFA3DA"/>
    </a:custClr>
    <a:custClr name="Grey 1">
      <a:srgbClr val="333333"/>
    </a:custClr>
    <a:custClr name="Grey 2">
      <a:srgbClr val="666666"/>
    </a:custClr>
    <a:custClr name="Grey 3">
      <a:srgbClr val="989898"/>
    </a:custClr>
    <a:custClr name="Grey 4">
      <a:srgbClr val="B2B2B2"/>
    </a:custClr>
    <a:custClr name="Grey 5">
      <a:srgbClr val="E5E5E5"/>
    </a:custClr>
  </a:custClrLst>
  <a:extLst>
    <a:ext uri="{05A4C25C-085E-4340-85A3-A5531E510DB2}">
      <thm15:themeFamily xmlns:thm15="http://schemas.microsoft.com/office/thememl/2012/main" name="UpSlideTemplate.potx" id="{6455E736-A663-42B3-AE87-CE685C9EE32D}" vid="{0294C8EE-775F-4C6C-A6B7-AA94F8D19227}"/>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50ACECE49572E49B9E2B6EEF15646F3" ma:contentTypeVersion="10" ma:contentTypeDescription="Create a new document." ma:contentTypeScope="" ma:versionID="8fdd78ded99f2352216c5d618f5b216c">
  <xsd:schema xmlns:xsd="http://www.w3.org/2001/XMLSchema" xmlns:xs="http://www.w3.org/2001/XMLSchema" xmlns:p="http://schemas.microsoft.com/office/2006/metadata/properties" xmlns:ns2="30996f19-b754-4f90-98d6-c022be1420b3" xmlns:ns3="ce774d3a-0da9-40f3-b86d-c9c3902288d7" targetNamespace="http://schemas.microsoft.com/office/2006/metadata/properties" ma:root="true" ma:fieldsID="412b5359f0c396b6faa7a13f838c7055" ns2:_="" ns3:_="">
    <xsd:import namespace="30996f19-b754-4f90-98d6-c022be1420b3"/>
    <xsd:import namespace="ce774d3a-0da9-40f3-b86d-c9c3902288d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996f19-b754-4f90-98d6-c022be1420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ce774d3a-0da9-40f3-b86d-c9c3902288d7"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7e5af1eb-79bf-4b24-8cd0-115ead010127}" ma:internalName="TaxCatchAll" ma:showField="CatchAllData" ma:web="ce774d3a-0da9-40f3-b86d-c9c3902288d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0996f19-b754-4f90-98d6-c022be1420b3">
      <Terms xmlns="http://schemas.microsoft.com/office/infopath/2007/PartnerControls"/>
    </lcf76f155ced4ddcb4097134ff3c332f>
    <TaxCatchAll xmlns="ce774d3a-0da9-40f3-b86d-c9c3902288d7" xsi:nil="true"/>
  </documentManagement>
</p:properties>
</file>

<file path=customXml/itemProps1.xml><?xml version="1.0" encoding="utf-8"?>
<ds:datastoreItem xmlns:ds="http://schemas.openxmlformats.org/officeDocument/2006/customXml" ds:itemID="{70F37B8E-AD5C-4989-97BB-97E4A96F2F2D}">
  <ds:schemaRefs>
    <ds:schemaRef ds:uri="http://schemas.microsoft.com/sharepoint/v3/contenttype/forms"/>
  </ds:schemaRefs>
</ds:datastoreItem>
</file>

<file path=customXml/itemProps2.xml><?xml version="1.0" encoding="utf-8"?>
<ds:datastoreItem xmlns:ds="http://schemas.openxmlformats.org/officeDocument/2006/customXml" ds:itemID="{15EFB714-C7F1-44DF-83DB-CE88E48D2D9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0996f19-b754-4f90-98d6-c022be1420b3"/>
    <ds:schemaRef ds:uri="ce774d3a-0da9-40f3-b86d-c9c3902288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0E72566-D19C-46FB-9549-7A2AD2EE2DB9}">
  <ds:schemaRefs>
    <ds:schemaRef ds:uri="http://purl.org/dc/dcmitype/"/>
    <ds:schemaRef ds:uri="http://schemas.openxmlformats.org/package/2006/metadata/core-properties"/>
    <ds:schemaRef ds:uri="http://purl.org/dc/terms/"/>
    <ds:schemaRef ds:uri="http://www.w3.org/XML/1998/namespace"/>
    <ds:schemaRef ds:uri="http://schemas.microsoft.com/office/2006/documentManagement/types"/>
    <ds:schemaRef ds:uri="30996f19-b754-4f90-98d6-c022be1420b3"/>
    <ds:schemaRef ds:uri="http://purl.org/dc/elements/1.1/"/>
    <ds:schemaRef ds:uri="http://schemas.microsoft.com/office/infopath/2007/PartnerControls"/>
    <ds:schemaRef ds:uri="http://schemas.microsoft.com/office/2006/metadata/properties"/>
    <ds:schemaRef ds:uri="ce774d3a-0da9-40f3-b86d-c9c3902288d7"/>
  </ds:schemaRefs>
</ds:datastoreItem>
</file>

<file path=docProps/app.xml><?xml version="1.0" encoding="utf-8"?>
<Properties xmlns="http://schemas.openxmlformats.org/officeDocument/2006/extended-properties" xmlns:vt="http://schemas.openxmlformats.org/officeDocument/2006/docPropsVTypes">
  <Template>Diligence+ report template (2025)</Template>
  <TotalTime>270</TotalTime>
  <Words>20851</Words>
  <Application>Microsoft Macintosh PowerPoint</Application>
  <PresentationFormat>Widescreen</PresentationFormat>
  <Paragraphs>1922</Paragraphs>
  <Slides>59</Slides>
  <Notes>1</Notes>
  <HiddenSlides>0</HiddenSlides>
  <MMClips>0</MMClips>
  <ScaleCrop>false</ScaleCrop>
  <HeadingPairs>
    <vt:vector size="8" baseType="variant">
      <vt:variant>
        <vt:lpstr>Fonts Used</vt:lpstr>
      </vt:variant>
      <vt:variant>
        <vt:i4>3</vt:i4>
      </vt:variant>
      <vt:variant>
        <vt:lpstr>Theme</vt:lpstr>
      </vt:variant>
      <vt:variant>
        <vt:i4>3</vt:i4>
      </vt:variant>
      <vt:variant>
        <vt:lpstr>Embedded OLE Servers</vt:lpstr>
      </vt:variant>
      <vt:variant>
        <vt:i4>1</vt:i4>
      </vt:variant>
      <vt:variant>
        <vt:lpstr>Slide Titles</vt:lpstr>
      </vt:variant>
      <vt:variant>
        <vt:i4>59</vt:i4>
      </vt:variant>
    </vt:vector>
  </HeadingPairs>
  <TitlesOfParts>
    <vt:vector size="66" baseType="lpstr">
      <vt:lpstr>Arial</vt:lpstr>
      <vt:lpstr>KPMG Bold</vt:lpstr>
      <vt:lpstr>Wingdings</vt:lpstr>
      <vt:lpstr>KPMG Widescreen - UpSlide</vt:lpstr>
      <vt:lpstr>UpSlide Table Of Content Master (do not edit)</vt:lpstr>
      <vt:lpstr>1_KPMG Widescreen - UpSlide</vt:lpstr>
      <vt:lpstr>think-cell Slide</vt:lpstr>
      <vt:lpstr>Project Vortex  DRAFT</vt:lpstr>
      <vt:lpstr>PowerPoint Presentation</vt:lpstr>
      <vt:lpstr>Contents</vt:lpstr>
      <vt:lpstr>PowerPoint Presentation</vt:lpstr>
      <vt:lpstr>Company &amp; transaction overview</vt:lpstr>
      <vt:lpstr>Summary financials – P&amp;L and BS</vt:lpstr>
      <vt:lpstr>Headlines (1/5)</vt:lpstr>
      <vt:lpstr>Headlines (2/5)</vt:lpstr>
      <vt:lpstr>Headlines (3/5)</vt:lpstr>
      <vt:lpstr>Headlines (4/5)</vt:lpstr>
      <vt:lpstr>Headlines (5/5)</vt:lpstr>
      <vt:lpstr>PowerPoint Presentation</vt:lpstr>
      <vt:lpstr>ARR summary</vt:lpstr>
      <vt:lpstr>ARR adjustments</vt:lpstr>
      <vt:lpstr>MRR to revenue reconciliation</vt:lpstr>
      <vt:lpstr>Revenue to cash reconciliation</vt:lpstr>
      <vt:lpstr>PowerPoint Presentation</vt:lpstr>
      <vt:lpstr>Quality of earnings – overview (1/2)</vt:lpstr>
      <vt:lpstr>Quality of earnings – overview (2/2)</vt:lpstr>
      <vt:lpstr>Quality of earnings (1/7) </vt:lpstr>
      <vt:lpstr>Quality of earnings (2/7) </vt:lpstr>
      <vt:lpstr>Quality of earnings (3/7) </vt:lpstr>
      <vt:lpstr>Quality of earnings (4/7) </vt:lpstr>
      <vt:lpstr>Quality of earnings (5/7) </vt:lpstr>
      <vt:lpstr>Quality of earnings (6/7) </vt:lpstr>
      <vt:lpstr>Quality of earnings (7/7) </vt:lpstr>
      <vt:lpstr>Quality of earnings – actionable synergies </vt:lpstr>
      <vt:lpstr>Quality of earnings – other considerations </vt:lpstr>
      <vt:lpstr>PowerPoint Presentation</vt:lpstr>
      <vt:lpstr>Balance sheet overview (1/3)</vt:lpstr>
      <vt:lpstr>Balance sheet overview (2/3)</vt:lpstr>
      <vt:lpstr>Balance sheet overview (3/3)</vt:lpstr>
      <vt:lpstr>Net working capital — Overview</vt:lpstr>
      <vt:lpstr>Net working capital (1/4)</vt:lpstr>
      <vt:lpstr>Net working capital (2/4)</vt:lpstr>
      <vt:lpstr>Net working capital (3/4)</vt:lpstr>
      <vt:lpstr>Net working capital (4/4)</vt:lpstr>
      <vt:lpstr>Net debt (1/4)</vt:lpstr>
      <vt:lpstr>Net debt (2/4)</vt:lpstr>
      <vt:lpstr>Net debt (3/4)</vt:lpstr>
      <vt:lpstr>Net debt (4/4)</vt:lpstr>
      <vt:lpstr>PowerPoint Presentation</vt:lpstr>
      <vt:lpstr>Financial reporting environment</vt:lpstr>
      <vt:lpstr>GAAP differences – P&amp;L</vt:lpstr>
      <vt:lpstr>GAAP differences – BS (1/4)</vt:lpstr>
      <vt:lpstr>GAAP differences – BS (2/4)</vt:lpstr>
      <vt:lpstr>GAAP differences – BS (3/4)</vt:lpstr>
      <vt:lpstr>GAAP differences – BS (4/4)</vt:lpstr>
      <vt:lpstr>PowerPoint Presentation</vt:lpstr>
      <vt:lpstr>1. Trial balance reconciliation to audited financial statements</vt:lpstr>
      <vt:lpstr>2. Long term contracts deferred revenue</vt:lpstr>
      <vt:lpstr>3. Stratified balance sheet at 31-Dec-24</vt:lpstr>
      <vt:lpstr>4. Corporate Chart. vLex Group (as at April 24, 2025)</vt:lpstr>
      <vt:lpstr>5. Important notice</vt:lpstr>
      <vt:lpstr>6. Basis of preparation</vt:lpstr>
      <vt:lpstr>7. Scope of work (1/3)</vt:lpstr>
      <vt:lpstr>7. Scope of work (2/3)</vt:lpstr>
      <vt:lpstr>7. Scope of work (3/3)</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slide  DRAFT</dc:title>
  <dc:creator>Weatherill, Tom</dc:creator>
  <cp:lastModifiedBy>Sharma, Rishi</cp:lastModifiedBy>
  <cp:revision>1</cp:revision>
  <cp:lastPrinted>2025-11-24T18:41:15Z</cp:lastPrinted>
  <dcterms:created xsi:type="dcterms:W3CDTF">2025-01-13T17:48:17Z</dcterms:created>
  <dcterms:modified xsi:type="dcterms:W3CDTF">2026-01-12T18:11:32Z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0x010100B50ACECE49572E49B9E2B6EEF15646F3</vt:lpwstr>
  </property>
  <property fmtid="{D5CDD505-2E9C-101B-9397-08002B2CF9AE}" pid="4" name="KPMG_LayoutGrid">
    <vt:lpwstr>0</vt:lpwstr>
  </property>
</Properties>
</file>