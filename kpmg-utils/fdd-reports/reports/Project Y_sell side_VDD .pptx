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comments/modernComment_260_57D0D53F.xml" ContentType="application/vnd.ms-powerpoint.comment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comments/modernComment_2A1_20122999.xml" ContentType="application/vnd.ms-powerpoint.comment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notesSlides/notesSlide1.xml" ContentType="application/vnd.openxmlformats-officedocument.presentationml.notesSlide+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notesSlides/notesSlide2.xml" ContentType="application/vnd.openxmlformats-officedocument.presentationml.notesSlide+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3.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notesSlides/notesSlide4.xml" ContentType="application/vnd.openxmlformats-officedocument.presentationml.notesSlide+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comments/modernComment_3ED_7BFB2FDB.xml" ContentType="application/vnd.ms-powerpoint.comment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notesSlides/notesSlide5.xml" ContentType="application/vnd.openxmlformats-officedocument.presentationml.notesSlide+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notesSlides/notesSlide6.xml" ContentType="application/vnd.openxmlformats-officedocument.presentationml.notesSlide+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notesSlides/notesSlide7.xml" ContentType="application/vnd.openxmlformats-officedocument.presentationml.notesSlide+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notesSlides/notesSlide8.xml" ContentType="application/vnd.openxmlformats-officedocument.presentationml.notesSlide+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notesSlides/notesSlide9.xml" ContentType="application/vnd.openxmlformats-officedocument.presentationml.notesSlide+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notesSlides/notesSlide10.xml" ContentType="application/vnd.openxmlformats-officedocument.presentationml.notesSlide+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comments/modernComment_2D6_A7287103.xml" ContentType="application/vnd.ms-powerpoint.comment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00.xml" ContentType="application/vnd.openxmlformats-officedocument.presentationml.slide+xml"/>
  <Override PartName="/ppt/slides/slide710.xml" ContentType="application/vnd.openxmlformats-officedocument.presentationml.slide+xml"/>
  <Override PartName="/ppt/slides/slide900.xml" ContentType="application/vnd.openxmlformats-officedocument.presentationml.slide+xml"/>
  <Override PartName="/ppt/slides/slide600.xml" ContentType="application/vnd.openxmlformats-officedocument.presentationml.slide+xml"/>
  <Override PartName="/ppt/tags/tag8510.xml" ContentType="application/vnd.openxmlformats-officedocument.presentationml.tags+xml"/>
  <Override PartName="/ppt/slides/slide500.xml" ContentType="application/vnd.openxmlformats-officedocument.presentationml.slide+xml"/>
  <Override PartName="/ppt/tags/tag8410.xml" ContentType="application/vnd.openxmlformats-officedocument.presentationml.tags+xml"/>
  <Override PartName="/ppt/tags/tag8310.xml" ContentType="application/vnd.openxmlformats-officedocument.presentationml.tags+xml"/>
  <Override PartName="/ppt/slideLayouts/slideLayout120.xml" ContentType="application/vnd.openxmlformats-officedocument.presentationml.slideLayout+xml"/>
  <Override PartName="/ppt/slides/slide210.xml" ContentType="application/vnd.openxmlformats-officedocument.presentationml.slide+xml"/>
  <Override PartName="/ppt/slideLayouts/slideLayout370.xml" ContentType="application/vnd.openxmlformats-officedocument.presentationml.slideLayout+xml"/>
  <Override PartName="/ppt/slides/slide310.xml" ContentType="application/vnd.openxmlformats-officedocument.presentationml.slide+xml"/>
  <Override PartName="/ppt/tags/tag9110.xml" ContentType="application/vnd.openxmlformats-officedocument.presentationml.tags+xml"/>
  <Override PartName="/ppt/tags/tag9010.xml" ContentType="application/vnd.openxmlformats-officedocument.presentationml.tags+xml"/>
  <Override PartName="/ppt/tags/tag8910.xml" ContentType="application/vnd.openxmlformats-officedocument.presentationml.tags+xml"/>
  <Override PartName="/ppt/slideLayouts/slideLayout90.xml" ContentType="application/vnd.openxmlformats-officedocument.presentationml.slideLayout+xml"/>
  <Override PartName="/ppt/tags/tag9210.xml" ContentType="application/vnd.openxmlformats-officedocument.presentationml.tags+xml"/>
  <Override PartName="/ppt/tags/tag7410.xml" ContentType="application/vnd.openxmlformats-officedocument.presentationml.tags+xml"/>
  <Override PartName="/ppt/tags/tag7910.xml" ContentType="application/vnd.openxmlformats-officedocument.presentationml.tags+xml"/>
  <Override PartName="/ppt/tags/tag6910.xml" ContentType="application/vnd.openxmlformats-officedocument.presentationml.tags+xml"/>
  <Override PartName="/ppt/tags/tag7310.xml" ContentType="application/vnd.openxmlformats-officedocument.presentationml.tags+xml"/>
  <Override PartName="/ppt/tags/tag7810.xml" ContentType="application/vnd.openxmlformats-officedocument.presentationml.tags+xml"/>
  <Override PartName="/ppt/slideLayouts/slideLayout460.xml" ContentType="application/vnd.openxmlformats-officedocument.presentationml.slideLayout+xml"/>
  <Override PartName="/ppt/tags/tag6810.xml" ContentType="application/vnd.openxmlformats-officedocument.presentationml.tags+xml"/>
  <Override PartName="/ppt/tags/tag8210.xml" ContentType="application/vnd.openxmlformats-officedocument.presentationml.tags+xml"/>
  <Override PartName="/ppt/slides/slide800.xml" ContentType="application/vnd.openxmlformats-officedocument.presentationml.slide+xml"/>
  <Override PartName="/ppt/tags/tag6710.xml" ContentType="application/vnd.openxmlformats-officedocument.presentationml.tags+xml"/>
  <Override PartName="/ppt/tags/tag7210.xml" ContentType="application/vnd.openxmlformats-officedocument.presentationml.tags+xml"/>
  <Override PartName="/ppt/tags/tag7710.xml" ContentType="application/vnd.openxmlformats-officedocument.presentationml.tags+xml"/>
  <Override PartName="/ppt/tags/tag7110.xml" ContentType="application/vnd.openxmlformats-officedocument.presentationml.tags+xml"/>
  <Override PartName="/ppt/tags/tag8110.xml" ContentType="application/vnd.openxmlformats-officedocument.presentationml.tags+xml"/>
  <Override PartName="/ppt/tags/tag7610.xml" ContentType="application/vnd.openxmlformats-officedocument.presentationml.tags+xml"/>
  <Override PartName="/ppt/tags/tag7010.xml" ContentType="application/vnd.openxmlformats-officedocument.presentationml.tags+xml"/>
  <Override PartName="/ppt/tags/tag7510.xml" ContentType="application/vnd.openxmlformats-officedocument.presentationml.tags+xml"/>
  <Override PartName="/ppt/tags/tag8010.xml" ContentType="application/vnd.openxmlformats-officedocument.presentationml.tags+xml"/>
  <Override PartName="/ppt/slides/slide1000.xml" ContentType="application/vnd.openxmlformats-officedocument.presentationml.slide+xml"/>
  <Override PartName="/ppt/tags/tag6610.xml" ContentType="application/vnd.openxmlformats-officedocument.presentationml.tags+xml"/>
  <Override PartName="/ppt/tags/tag6510.xml" ContentType="application/vnd.openxmlformats-officedocument.presentationml.tags+xml"/>
  <Override PartName="/ppt/tags/tag6410.xml" ContentType="application/vnd.openxmlformats-officedocument.presentationml.tags+xml"/>
  <Override PartName="/ppt/slideLayouts/slideLayout430.xml" ContentType="application/vnd.openxmlformats-officedocument.presentationml.slideLayout+xml"/>
  <Override PartName="/ppt/slideMasters/slideMaster10.xml" ContentType="application/vnd.openxmlformats-officedocument.presentationml.slideMaster+xml"/>
  <Override PartName="/ppt/slideLayouts/slideLayout381.xml" ContentType="application/vnd.openxmlformats-officedocument.presentationml.slideLayout+xml"/>
  <Override PartName="/ppt/tags/tag3210.xml" ContentType="application/vnd.openxmlformats-officedocument.presentationml.tags+xml"/>
  <Override PartName="/ppt/slideMasters/slideMaster11.xml" ContentType="application/vnd.openxmlformats-officedocument.presentationml.slideMaster+xml"/>
  <Override PartName="/ppt/tags/tag3310.xml" ContentType="application/vnd.openxmlformats-officedocument.presentationml.tags+xml"/>
  <Override PartName="/ppt/slides/slide400.xml" ContentType="application/vnd.openxmlformats-officedocument.presentationml.slide+xml"/>
  <Override PartName="/ppt/tags/tag8810.xml" ContentType="application/vnd.openxmlformats-officedocument.presentationml.tags+xml"/>
  <Override PartName="/ppt/tags/tag8710.xml" ContentType="application/vnd.openxmlformats-officedocument.presentationml.tags+xml"/>
  <Override PartName="/ppt/tags/tag8610.xml" ContentType="application/vnd.openxmlformats-officedocument.presentationml.tags+xml"/>
  <Override PartName="/ppt/tags/tag9510.xml" ContentType="application/vnd.openxmlformats-officedocument.presentationml.tags+xml"/>
  <Override PartName="/ppt/tags/tag9410.xml" ContentType="application/vnd.openxmlformats-officedocument.presentationml.tags+xml"/>
  <Override PartName="/ppt/tags/tag9310.xml" ContentType="application/vnd.openxmlformats-officedocument.presentationml.tags+xml"/>
  <Override PartName="/ppt/tags/tag1700.xml" ContentType="application/vnd.openxmlformats-officedocument.presentationml.tags+xml"/>
  <Override PartName="/ppt/slideLayouts/slideLayout130.xml" ContentType="application/vnd.openxmlformats-officedocument.presentationml.slideLayout+xml"/>
  <Override PartName="/ppt/slideLayouts/slideLayout180.xml" ContentType="application/vnd.openxmlformats-officedocument.presentationml.slideLayout+xml"/>
  <Override PartName="/ppt/slideLayouts/slideLayout260.xml" ContentType="application/vnd.openxmlformats-officedocument.presentationml.slideLayout+xml"/>
  <Override PartName="/ppt/slideLayouts/slideLayout390.xml" ContentType="application/vnd.openxmlformats-officedocument.presentationml.slideLayout+xml"/>
  <Override PartName="/ppt/slideLayouts/slideLayout210.xml" ContentType="application/vnd.openxmlformats-officedocument.presentationml.slideLayout+xml"/>
  <Override PartName="/ppt/slideLayouts/slideLayout340.xml" ContentType="application/vnd.openxmlformats-officedocument.presentationml.slideLayout+xml"/>
  <Override PartName="/ppt/slideLayouts/slideLayout420.xml" ContentType="application/vnd.openxmlformats-officedocument.presentationml.slideLayout+xml"/>
  <Override PartName="/ppt/slideLayouts/slideLayout470.xml" ContentType="application/vnd.openxmlformats-officedocument.presentationml.slideLayout+xml"/>
  <Override PartName="/ppt/slideLayouts/slideLayout500.xml" ContentType="application/vnd.openxmlformats-officedocument.presentationml.slideLayout+xml"/>
  <Override PartName="/ppt/tags/tag3100.xml" ContentType="application/vnd.openxmlformats-officedocument.presentationml.tags+xml"/>
  <Override PartName="/ppt/slideLayouts/slideLayout70.xml" ContentType="application/vnd.openxmlformats-officedocument.presentationml.slideLayout+xml"/>
  <Override PartName="/ppt/slideLayouts/slideLayout211.xml" ContentType="application/vnd.openxmlformats-officedocument.presentationml.slideLayout+xml"/>
  <Override PartName="/ppt/slideLayouts/slideLayout160.xml" ContentType="application/vnd.openxmlformats-officedocument.presentationml.slideLayout+xml"/>
  <Override PartName="/ppt/slideLayouts/slideLayout290.xml" ContentType="application/vnd.openxmlformats-officedocument.presentationml.slideLayout+xml"/>
  <Override PartName="/ppt/slideLayouts/slideLayout110.xml" ContentType="application/vnd.openxmlformats-officedocument.presentationml.slideLayout+xml"/>
  <Override PartName="/ppt/slideLayouts/slideLayout240.xml" ContentType="application/vnd.openxmlformats-officedocument.presentationml.slideLayout+xml"/>
  <Override PartName="/ppt/slideLayouts/slideLayout320.xml" ContentType="application/vnd.openxmlformats-officedocument.presentationml.slideLayout+xml"/>
  <Override PartName="/ppt/slideLayouts/slideLayout3700.xml" ContentType="application/vnd.openxmlformats-officedocument.presentationml.slideLayout+xml"/>
  <Override PartName="/ppt/slideLayouts/slideLayout400.xml" ContentType="application/vnd.openxmlformats-officedocument.presentationml.slideLayout+xml"/>
  <Override PartName="/ppt/slideLayouts/slideLayout450.xml" ContentType="application/vnd.openxmlformats-officedocument.presentationml.slideLayout+xml"/>
  <Override PartName="/ppt/theme/theme10.xml" ContentType="application/vnd.openxmlformats-officedocument.theme+xml"/>
  <Override PartName="/ppt/slideLayouts/slideLayout530.xml" ContentType="application/vnd.openxmlformats-officedocument.presentationml.slideLayout+xml"/>
  <Override PartName="/ppt/slideLayouts/slideLayout190.xml" ContentType="application/vnd.openxmlformats-officedocument.presentationml.slideLayout+xml"/>
  <Override PartName="/ppt/slideLayouts/slideLayout410.xml" ContentType="application/vnd.openxmlformats-officedocument.presentationml.slideLayout+xml"/>
  <Override PartName="/ppt/slideLayouts/slideLayout140.xml" ContentType="application/vnd.openxmlformats-officedocument.presentationml.slideLayout+xml"/>
  <Override PartName="/ppt/slideLayouts/slideLayout220.xml" ContentType="application/vnd.openxmlformats-officedocument.presentationml.slideLayout+xml"/>
  <Override PartName="/ppt/slideLayouts/slideLayout270.xml" ContentType="application/vnd.openxmlformats-officedocument.presentationml.slideLayout+xml"/>
  <Override PartName="/ppt/slideLayouts/slideLayout300.xml" ContentType="application/vnd.openxmlformats-officedocument.presentationml.slideLayout+xml"/>
  <Override PartName="/ppt/slideLayouts/slideLayout350.xml" ContentType="application/vnd.openxmlformats-officedocument.presentationml.slideLayout+xml"/>
  <Override PartName="/ppt/slideLayouts/slideLayout480.xml" ContentType="application/vnd.openxmlformats-officedocument.presentationml.slideLayout+xml"/>
  <Override PartName="/ppt/slideLayouts/slideLayout80.xml" ContentType="application/vnd.openxmlformats-officedocument.presentationml.slideLayout+xml"/>
  <Override PartName="/ppt/slideLayouts/slideLayout510.xml" ContentType="application/vnd.openxmlformats-officedocument.presentationml.slideLayout+xml"/>
  <Override PartName="/ppt/slideLayouts/slideLayout310.xml" ContentType="application/vnd.openxmlformats-officedocument.presentationml.slideLayout+xml"/>
  <Override PartName="/ppt/slideLayouts/slideLayout170.xml" ContentType="application/vnd.openxmlformats-officedocument.presentationml.slideLayout+xml"/>
  <Override PartName="/ppt/slideLayouts/slideLayout250.xml" ContentType="application/vnd.openxmlformats-officedocument.presentationml.slideLayout+xml"/>
  <Override PartName="/ppt/slideLayouts/slideLayout330.xml" ContentType="application/vnd.openxmlformats-officedocument.presentationml.slideLayout+xml"/>
  <Override PartName="/ppt/slideLayouts/slideLayout380.xml" ContentType="application/vnd.openxmlformats-officedocument.presentationml.slideLayout+xml"/>
  <Override PartName="/ppt/slideLayouts/slideLayout200.xml" ContentType="application/vnd.openxmlformats-officedocument.presentationml.slideLayout+xml"/>
  <Override PartName="/ppt/slideLayouts/slideLayout411.xml" ContentType="application/vnd.openxmlformats-officedocument.presentationml.slideLayout+xml"/>
  <Override PartName="/ppt/tags/tag2100.xml" ContentType="application/vnd.openxmlformats-officedocument.presentationml.tags+xml"/>
  <Override PartName="/ppt/slideLayouts/slideLayout111.xml" ContentType="application/vnd.openxmlformats-officedocument.presentationml.slideLayout+xml"/>
  <Override PartName="/ppt/slideLayouts/slideLayout60.xml" ContentType="application/vnd.openxmlformats-officedocument.presentationml.slideLayout+xml"/>
  <Override PartName="/ppt/slideLayouts/slideLayout150.xml" ContentType="application/vnd.openxmlformats-officedocument.presentationml.slideLayout+xml"/>
  <Override PartName="/ppt/slideLayouts/slideLayout230.xml" ContentType="application/vnd.openxmlformats-officedocument.presentationml.slideLayout+xml"/>
  <Override PartName="/ppt/slideLayouts/slideLayout280.xml" ContentType="application/vnd.openxmlformats-officedocument.presentationml.slideLayout+xml"/>
  <Override PartName="/ppt/slideLayouts/slideLayout360.xml" ContentType="application/vnd.openxmlformats-officedocument.presentationml.slideLayout+xml"/>
  <Override PartName="/ppt/slideLayouts/slideLayout490.xml" ContentType="application/vnd.openxmlformats-officedocument.presentationml.slideLayout+xml"/>
  <Override PartName="/ppt/slideLayouts/slideLayout100.xml" ContentType="application/vnd.openxmlformats-officedocument.presentationml.slideLayout+xml"/>
  <Override PartName="/ppt/slideLayouts/slideLayout311.xml" ContentType="application/vnd.openxmlformats-officedocument.presentationml.slideLayout+xml"/>
  <Override PartName="/ppt/slideLayouts/slideLayout440.xml" ContentType="application/vnd.openxmlformats-officedocument.presentationml.slideLayout+xml"/>
  <Override PartName="/ppt/slideLayouts/slideLayout520.xml" ContentType="application/vnd.openxmlformats-officedocument.presentationml.slideLayout+xml"/>
  <Override PartName="/ppt/tags/tag2910.xml" ContentType="application/vnd.openxmlformats-officedocument.presentationml.tags+xml"/>
  <Override PartName="/ppt/slideLayouts/slideLayout131.xml" ContentType="application/vnd.openxmlformats-officedocument.presentationml.slideLayout+xml"/>
  <Override PartName="/ppt/slideLayouts/slideLayout181.xml" ContentType="application/vnd.openxmlformats-officedocument.presentationml.slideLayout+xml"/>
  <Override PartName="/ppt/slideLayouts/slideLayout261.xml" ContentType="application/vnd.openxmlformats-officedocument.presentationml.slideLayout+xml"/>
  <Override PartName="/ppt/slideLayouts/slideLayout391.xml" ContentType="application/vnd.openxmlformats-officedocument.presentationml.slideLayout+xml"/>
  <Override PartName="/ppt/slideLayouts/slideLayout212.xml" ContentType="application/vnd.openxmlformats-officedocument.presentationml.slideLayout+xml"/>
  <Override PartName="/ppt/slideLayouts/slideLayout341.xml" ContentType="application/vnd.openxmlformats-officedocument.presentationml.slideLayout+xml"/>
  <Override PartName="/ppt/theme/theme11.xml" ContentType="application/vnd.openxmlformats-officedocument.theme+xml"/>
  <Override PartName="/ppt/slideLayouts/slideLayout71.xml" ContentType="application/vnd.openxmlformats-officedocument.presentationml.slideLayout+xml"/>
  <Override PartName="/ppt/slideLayouts/slideLayout213.xml" ContentType="application/vnd.openxmlformats-officedocument.presentationml.slideLayout+xml"/>
  <Override PartName="/ppt/slideLayouts/slideLayout161.xml" ContentType="application/vnd.openxmlformats-officedocument.presentationml.slideLayout+xml"/>
  <Override PartName="/ppt/slideLayouts/slideLayout291.xml" ContentType="application/vnd.openxmlformats-officedocument.presentationml.slideLayout+xml"/>
  <Override PartName="/ppt/slideLayouts/slideLayout112.xml" ContentType="application/vnd.openxmlformats-officedocument.presentationml.slideLayout+xml"/>
  <Override PartName="/ppt/slideLayouts/slideLayout61.xml" ContentType="application/vnd.openxmlformats-officedocument.presentationml.slideLayout+xml"/>
  <Override PartName="/ppt/slideLayouts/slideLayout113.xml" ContentType="application/vnd.openxmlformats-officedocument.presentationml.slideLayout+xml"/>
  <Override PartName="/ppt/slideLayouts/slideLayout241.xml" ContentType="application/vnd.openxmlformats-officedocument.presentationml.slideLayout+xml"/>
  <Override PartName="/ppt/slideLayouts/slideLayout321.xml" ContentType="application/vnd.openxmlformats-officedocument.presentationml.slideLayout+xml"/>
  <Override PartName="/ppt/slideLayouts/slideLayout401.xml" ContentType="application/vnd.openxmlformats-officedocument.presentationml.slideLayout+xml"/>
  <Override PartName="/ppt/tags/tag4100.xml" ContentType="application/vnd.openxmlformats-officedocument.presentationml.tags+xml"/>
  <Override PartName="/ppt/slideLayouts/slideLayout511.xml" ContentType="application/vnd.openxmlformats-officedocument.presentationml.slideLayout+xml"/>
  <Override PartName="/ppt/slideLayouts/slideLayout151.xml" ContentType="application/vnd.openxmlformats-officedocument.presentationml.slideLayout+xml"/>
  <Override PartName="/ppt/slideLayouts/slideLayout231.xml" ContentType="application/vnd.openxmlformats-officedocument.presentationml.slideLayout+xml"/>
  <Override PartName="/ppt/slideLayouts/slideLayout281.xml" ContentType="application/vnd.openxmlformats-officedocument.presentationml.slideLayout+xml"/>
  <Override PartName="/ppt/slideLayouts/slideLayout361.xml" ContentType="application/vnd.openxmlformats-officedocument.presentationml.slideLayout+xml"/>
  <Override PartName="/ppt/slideLayouts/slideLayout101.xml" ContentType="application/vnd.openxmlformats-officedocument.presentationml.slideLayout+xml"/>
  <Override PartName="/ppt/slideLayouts/slideLayout191.xml" ContentType="application/vnd.openxmlformats-officedocument.presentationml.slideLayout+xml"/>
  <Override PartName="/ppt/slideLayouts/slideLayout312.xml" ContentType="application/vnd.openxmlformats-officedocument.presentationml.slideLayout+xml"/>
  <Override PartName="/ppt/tags/tag3101.xml" ContentType="application/vnd.openxmlformats-officedocument.presentationml.tags+xml"/>
  <Override PartName="/ppt/slideLayouts/slideLayout412.xml" ContentType="application/vnd.openxmlformats-officedocument.presentationml.slideLayout+xml"/>
  <Override PartName="/ppt/slideLayouts/slideLayout91.xml" ContentType="application/vnd.openxmlformats-officedocument.presentationml.slideLayout+xml"/>
  <Override PartName="/ppt/slideLayouts/slideLayout141.xml" ContentType="application/vnd.openxmlformats-officedocument.presentationml.slideLayout+xml"/>
  <Override PartName="/ppt/slideLayouts/slideLayout221.xml" ContentType="application/vnd.openxmlformats-officedocument.presentationml.slideLayout+xml"/>
  <Override PartName="/ppt/slideLayouts/slideLayout271.xml" ContentType="application/vnd.openxmlformats-officedocument.presentationml.slideLayout+xml"/>
  <Override PartName="/ppt/slideLayouts/slideLayout301.xml" ContentType="application/vnd.openxmlformats-officedocument.presentationml.slideLayout+xml"/>
  <Override PartName="/ppt/slideLayouts/slideLayout351.xml" ContentType="application/vnd.openxmlformats-officedocument.presentationml.slideLayout+xml"/>
  <Override PartName="/ppt/tags/tag2101.xml" ContentType="application/vnd.openxmlformats-officedocument.presentationml.tags+xml"/>
  <Override PartName="/ppt/slideLayouts/slideLayout81.xml" ContentType="application/vnd.openxmlformats-officedocument.presentationml.slideLayout+xml"/>
  <Override PartName="/ppt/slideLayouts/slideLayout313.xml" ContentType="application/vnd.openxmlformats-officedocument.presentationml.slideLayout+xml"/>
  <Override PartName="/ppt/slideLayouts/slideLayout121.xml" ContentType="application/vnd.openxmlformats-officedocument.presentationml.slideLayout+xml"/>
  <Override PartName="/ppt/slideLayouts/slideLayout171.xml" ContentType="application/vnd.openxmlformats-officedocument.presentationml.slideLayout+xml"/>
  <Override PartName="/ppt/slideLayouts/slideLayout251.xml" ContentType="application/vnd.openxmlformats-officedocument.presentationml.slideLayout+xml"/>
  <Override PartName="/ppt/slideLayouts/slideLayout331.xml" ContentType="application/vnd.openxmlformats-officedocument.presentationml.slideLayout+xml"/>
  <Override PartName="/ppt/tags/tag5100.xml" ContentType="application/vnd.openxmlformats-officedocument.presentationml.tags+xml"/>
  <Override PartName="/ppt/slideLayouts/slideLayout201.xml" ContentType="application/vnd.openxmlformats-officedocument.presentationml.slideLayout+xml"/>
  <Override PartName="/ppt/slideLayouts/slideLayout413.xml" ContentType="application/vnd.openxmlformats-officedocument.presentationml.slideLayout+xml"/>
  <Override PartName="/ppt/tags/tag6310.xml" ContentType="application/vnd.openxmlformats-officedocument.presentationml.tags+xml"/>
  <Override PartName="/ppt/tags/tag6210.xml" ContentType="application/vnd.openxmlformats-officedocument.presentationml.tags+xml"/>
  <Override PartName="/ppt/tags/tag6110.xml" ContentType="application/vnd.openxmlformats-officedocument.presentationml.tags+xml"/>
  <Override PartName="/ppt/tags/tag13010.xml" ContentType="application/vnd.openxmlformats-officedocument.presentationml.tags+xml"/>
  <Override PartName="/ppt/tags/tag8100.xml" ContentType="application/vnd.openxmlformats-officedocument.presentationml.tags+xml"/>
  <Override PartName="/ppt/tags/tag5010.xml" ContentType="application/vnd.openxmlformats-officedocument.presentationml.tags+xml"/>
  <Override PartName="/ppt/tags/tag11010.xml" ContentType="application/vnd.openxmlformats-officedocument.presentationml.tags+xml"/>
  <Override PartName="/ppt/tags/tag1800.xml" ContentType="application/vnd.openxmlformats-officedocument.presentationml.tags+xml"/>
  <Override PartName="/ppt/tags/tag4300.xml" ContentType="application/vnd.openxmlformats-officedocument.presentationml.tags+xml"/>
  <Override PartName="/ppt/tags/tag6010.xml" ContentType="application/vnd.openxmlformats-officedocument.presentationml.tags+xml"/>
  <Override PartName="/ppt/tags/tag9610.xml" ContentType="application/vnd.openxmlformats-officedocument.presentationml.tags+xml"/>
  <Override PartName="/ppt/tags/tag14010.xml" ContentType="application/vnd.openxmlformats-officedocument.presentationml.tags+xml"/>
  <Override PartName="/ppt/tags/tag1900.xml" ContentType="application/vnd.openxmlformats-officedocument.presentationml.tags+xml"/>
  <Override PartName="/ppt/tags/tag12010.xml" ContentType="application/vnd.openxmlformats-officedocument.presentationml.tags+xml"/>
  <Override PartName="/ppt/tags/tag1600.xml" ContentType="application/vnd.openxmlformats-officedocument.presentationml.tags+xml"/>
  <Override PartName="/ppt/tags/tag7100.xml" ContentType="application/vnd.openxmlformats-officedocument.presentationml.tags+xml"/>
  <Override PartName="/ppt/tags/tag1500.xml" ContentType="application/vnd.openxmlformats-officedocument.presentationml.tags+xml"/>
  <Override PartName="/ppt/tags/tag10010.xml" ContentType="application/vnd.openxmlformats-officedocument.presentationml.tags+xml"/>
  <Override PartName="/ppt/tags/tag2000.xml" ContentType="application/vnd.openxmlformats-officedocument.presentationml.tags+xml"/>
  <Override PartName="/ppt/tags/tag11100.xml" ContentType="application/vnd.openxmlformats-officedocument.presentationml.tags+xml"/>
  <Override PartName="/ppt/tags/tag1418.xml" ContentType="application/vnd.openxmlformats-officedocument.presentationml.tags+xml"/>
  <Override PartName="/ppt/tags/tag2210.xml" ContentType="application/vnd.openxmlformats-officedocument.presentationml.tags+xml"/>
  <Override PartName="/ppt/tags/tag3010.xml" ContentType="application/vnd.openxmlformats-officedocument.presentationml.tags+xml"/>
  <Override PartName="/ppt/tags/tag1710.xml" ContentType="application/vnd.openxmlformats-officedocument.presentationml.tags+xml"/>
  <Override PartName="/ppt/tags/tag10100.xml" ContentType="application/vnd.openxmlformats-officedocument.presentationml.tags+xml"/>
  <Override PartName="/ppt/tags/tag12100.xml" ContentType="application/vnd.openxmlformats-officedocument.presentationml.tags+xml"/>
  <Override PartName="/ppt/tags/tag2510.xml" ContentType="application/vnd.openxmlformats-officedocument.presentationml.tags+xml"/>
  <Override PartName="/ppt/tags/tag6100.xml" ContentType="application/vnd.openxmlformats-officedocument.presentationml.tags+xml"/>
  <Override PartName="/ppt/tags/tag9100.xml" ContentType="application/vnd.openxmlformats-officedocument.presentationml.tags+xml"/>
  <Override PartName="/ppt/tags/tag2010.xml" ContentType="application/vnd.openxmlformats-officedocument.presentationml.tags+xml"/>
  <Override PartName="/ppt/tags/tag2710.xml" ContentType="application/vnd.openxmlformats-officedocument.presentationml.tags+xml"/>
  <Override PartName="/ppt/tags/tag8101.xml" ContentType="application/vnd.openxmlformats-officedocument.presentationml.tags+xml"/>
  <Override PartName="/ppt/tags/tag1910.xml" ContentType="application/vnd.openxmlformats-officedocument.presentationml.tags+xml"/>
  <Override PartName="/ppt/tags/tag2410.xml" ContentType="application/vnd.openxmlformats-officedocument.presentationml.tags+xml"/>
  <Override PartName="/ppt/tags/tag2810.xml" ContentType="application/vnd.openxmlformats-officedocument.presentationml.tags+xml"/>
  <Override PartName="/ppt/tags/tag1510.xml" ContentType="application/vnd.openxmlformats-officedocument.presentationml.tags+xml"/>
  <Override PartName="/ppt/tags/tag7101.xml" ContentType="application/vnd.openxmlformats-officedocument.presentationml.tags+xml"/>
  <Override PartName="/ppt/tags/tag1810.xml" ContentType="application/vnd.openxmlformats-officedocument.presentationml.tags+xml"/>
  <Override PartName="/ppt/tags/tag2310.xml" ContentType="application/vnd.openxmlformats-officedocument.presentationml.tags+xml"/>
  <Override PartName="/ppt/tags/tag2610.xml" ContentType="application/vnd.openxmlformats-officedocument.presentationml.tags+xml"/>
  <Override PartName="/ppt/tags/tag13100.xml" ContentType="application/vnd.openxmlformats-officedocument.presentationml.tags+xml"/>
  <Override PartName="/ppt/tags/tag2110.xml" ContentType="application/vnd.openxmlformats-officedocument.presentationml.tags+xml"/>
  <Override PartName="/ppt/tags/tag1610.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03" r:id="rId5"/>
  </p:sldMasterIdLst>
  <p:notesMasterIdLst>
    <p:notesMasterId r:id="rId109"/>
  </p:notesMasterIdLst>
  <p:handoutMasterIdLst>
    <p:handoutMasterId r:id="rId110"/>
  </p:handoutMasterIdLst>
  <p:sldIdLst>
    <p:sldId id="783" r:id="rId6"/>
    <p:sldId id="785" r:id="rId7"/>
    <p:sldId id="790" r:id="rId8"/>
    <p:sldId id="789" r:id="rId9"/>
    <p:sldId id="608" r:id="rId10"/>
    <p:sldId id="843" r:id="rId11"/>
    <p:sldId id="842" r:id="rId12"/>
    <p:sldId id="1000" r:id="rId13"/>
    <p:sldId id="673" r:id="rId14"/>
    <p:sldId id="1015" r:id="rId15"/>
    <p:sldId id="2147469897" r:id="rId16"/>
    <p:sldId id="2147469898" r:id="rId17"/>
    <p:sldId id="2147469899" r:id="rId18"/>
    <p:sldId id="718" r:id="rId19"/>
    <p:sldId id="846" r:id="rId20"/>
    <p:sldId id="859" r:id="rId21"/>
    <p:sldId id="1002" r:id="rId22"/>
    <p:sldId id="803" r:id="rId23"/>
    <p:sldId id="724" r:id="rId24"/>
    <p:sldId id="728" r:id="rId25"/>
    <p:sldId id="847" r:id="rId26"/>
    <p:sldId id="848" r:id="rId27"/>
    <p:sldId id="850" r:id="rId28"/>
    <p:sldId id="851" r:id="rId29"/>
    <p:sldId id="852" r:id="rId30"/>
    <p:sldId id="853" r:id="rId31"/>
    <p:sldId id="740" r:id="rId32"/>
    <p:sldId id="739" r:id="rId33"/>
    <p:sldId id="742" r:id="rId34"/>
    <p:sldId id="865" r:id="rId35"/>
    <p:sldId id="743" r:id="rId36"/>
    <p:sldId id="1004" r:id="rId37"/>
    <p:sldId id="744" r:id="rId38"/>
    <p:sldId id="867" r:id="rId39"/>
    <p:sldId id="868" r:id="rId40"/>
    <p:sldId id="745" r:id="rId41"/>
    <p:sldId id="869" r:id="rId42"/>
    <p:sldId id="870" r:id="rId43"/>
    <p:sldId id="1005" r:id="rId44"/>
    <p:sldId id="872" r:id="rId45"/>
    <p:sldId id="750" r:id="rId46"/>
    <p:sldId id="805" r:id="rId47"/>
    <p:sldId id="749" r:id="rId48"/>
    <p:sldId id="777" r:id="rId49"/>
    <p:sldId id="752" r:id="rId50"/>
    <p:sldId id="753" r:id="rId51"/>
    <p:sldId id="755" r:id="rId52"/>
    <p:sldId id="873" r:id="rId53"/>
    <p:sldId id="874" r:id="rId54"/>
    <p:sldId id="875" r:id="rId55"/>
    <p:sldId id="876" r:id="rId56"/>
    <p:sldId id="806" r:id="rId57"/>
    <p:sldId id="735" r:id="rId58"/>
    <p:sldId id="864" r:id="rId59"/>
    <p:sldId id="727" r:id="rId60"/>
    <p:sldId id="858" r:id="rId61"/>
    <p:sldId id="756" r:id="rId62"/>
    <p:sldId id="726" r:id="rId63"/>
    <p:sldId id="854" r:id="rId64"/>
    <p:sldId id="856" r:id="rId65"/>
    <p:sldId id="962" r:id="rId66"/>
    <p:sldId id="963" r:id="rId67"/>
    <p:sldId id="964" r:id="rId68"/>
    <p:sldId id="966" r:id="rId69"/>
    <p:sldId id="967" r:id="rId70"/>
    <p:sldId id="968" r:id="rId71"/>
    <p:sldId id="969" r:id="rId72"/>
    <p:sldId id="970" r:id="rId73"/>
    <p:sldId id="971" r:id="rId74"/>
    <p:sldId id="972" r:id="rId75"/>
    <p:sldId id="973" r:id="rId76"/>
    <p:sldId id="974" r:id="rId77"/>
    <p:sldId id="807" r:id="rId78"/>
    <p:sldId id="729" r:id="rId79"/>
    <p:sldId id="862" r:id="rId80"/>
    <p:sldId id="863" r:id="rId81"/>
    <p:sldId id="808" r:id="rId82"/>
    <p:sldId id="1006" r:id="rId83"/>
    <p:sldId id="999" r:id="rId84"/>
    <p:sldId id="800" r:id="rId85"/>
    <p:sldId id="871" r:id="rId86"/>
    <p:sldId id="1009" r:id="rId87"/>
    <p:sldId id="651" r:id="rId88"/>
    <p:sldId id="652" r:id="rId89"/>
    <p:sldId id="691" r:id="rId90"/>
    <p:sldId id="990" r:id="rId91"/>
    <p:sldId id="991" r:id="rId92"/>
    <p:sldId id="992" r:id="rId93"/>
    <p:sldId id="993" r:id="rId94"/>
    <p:sldId id="994" r:id="rId95"/>
    <p:sldId id="995" r:id="rId96"/>
    <p:sldId id="1007" r:id="rId97"/>
    <p:sldId id="996" r:id="rId98"/>
    <p:sldId id="694" r:id="rId99"/>
    <p:sldId id="997" r:id="rId100"/>
    <p:sldId id="998" r:id="rId101"/>
    <p:sldId id="909" r:id="rId102"/>
    <p:sldId id="1010" r:id="rId103"/>
    <p:sldId id="1011" r:id="rId104"/>
    <p:sldId id="1012" r:id="rId105"/>
    <p:sldId id="1013" r:id="rId106"/>
    <p:sldId id="1014" r:id="rId107"/>
    <p:sldId id="695" r:id="rId108"/>
  </p:sldIdLst>
  <p:sldSz cx="12192000" cy="6858000"/>
  <p:notesSz cx="6858000" cy="9144000"/>
  <p:custDataLst>
    <p:tags r:id="rId1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A020D35-CC29-CF40-6490-6FC094BD9C5A}" name="Leggett, Jack" initials="LJ" userId="Leggett, Jack" providerId="None"/>
  <p188:author id="{603FE580-7E24-E1A8-E2BB-ADC6C73F05A9}" name="KGS" initials="JM" userId="KGS" providerId="None"/>
  <p188:author id="{5E67A6BC-8C6D-A628-748E-BD3EE779F580}" name="Walker, Abbie" initials="WA" userId="S::Abbie.Walker@kpmg.co.uk::c187f512-165d-4e76-91d1-ded3d2552dd3" providerId="AD"/>
  <p188:author id="{7817B1BE-DFB3-BB1F-6E4F-F17A14B9FBBD}" name="Spiers, Richard" initials="SR" userId="S::Richard.Spiers@KPMG.co.uk::def1008e-8cea-4edc-b002-ae9484e03ae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77" autoAdjust="0"/>
  </p:normalViewPr>
  <p:slideViewPr>
    <p:cSldViewPr snapToGrid="0">
      <p:cViewPr varScale="1">
        <p:scale>
          <a:sx n="62" d="100"/>
          <a:sy n="62" d="100"/>
        </p:scale>
        <p:origin x="828" y="56"/>
      </p:cViewPr>
      <p:guideLst/>
    </p:cSldViewPr>
  </p:slideViewPr>
  <p:outlineViewPr>
    <p:cViewPr>
      <p:scale>
        <a:sx n="33" d="100"/>
        <a:sy n="33" d="100"/>
      </p:scale>
      <p:origin x="0" y="-8152"/>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microsoft.com/office/2018/10/relationships/authors" Target="author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commentAuthors" Target="commentAuthor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presProps" Target="pres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notesMaster" Target="notesMasters/notesMaster1.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handoutMaster" Target="handoutMasters/handoutMaster1.xml"/><Relationship Id="rId115"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tags" Target="tags/tag1.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comments/modernComment_2A1_20122999.xml><?xml version="1.0" encoding="utf-8"?>
<p188:cmLst xmlns:a="http://schemas.openxmlformats.org/drawingml/2006/main" xmlns:r="http://schemas.openxmlformats.org/officeDocument/2006/relationships" xmlns:p188="http://schemas.microsoft.com/office/powerpoint/2018/8/main">
  <p188:cm id="{7D4761FA-62E7-4133-BCF2-39742F07CAA1}" authorId="{603FE580-7E24-E1A8-E2BB-ADC6C73F05A9}" created="2023-12-13T08:54:32.862">
    <pc:sldMkLst xmlns:pc="http://schemas.microsoft.com/office/powerpoint/2013/main/command">
      <pc:docMk/>
      <pc:sldMk cId="538061209" sldId="673"/>
    </pc:sldMkLst>
    <p188:pos x="6521450" y="4025900"/>
    <p188:txBody>
      <a:bodyPr/>
      <a:lstStyle/>
      <a:p>
        <a:r>
          <a:rPr lang="en-US"/>
          <a:t>The graph seems to be revealing the regions served by the entity</a:t>
        </a:r>
      </a:p>
    </p188:txBody>
  </p188:cm>
</p188:cmLst>
</file>

<file path=ppt/comments/modernComment_2D6_A7287103.xml><?xml version="1.0" encoding="utf-8"?>
<p188:cmLst xmlns:a="http://schemas.openxmlformats.org/drawingml/2006/main" xmlns:r="http://schemas.openxmlformats.org/officeDocument/2006/relationships" xmlns:p188="http://schemas.microsoft.com/office/powerpoint/2018/8/main">
  <p188:cm id="{85F274D8-0A73-440E-8AEE-A11444499D78}" authorId="{603FE580-7E24-E1A8-E2BB-ADC6C73F05A9}" created="2023-12-13T08:56:01.091">
    <ac:txMkLst xmlns:ac="http://schemas.microsoft.com/office/drawing/2013/main/command">
      <pc:docMk xmlns:pc="http://schemas.microsoft.com/office/powerpoint/2013/main/command"/>
      <pc:sldMk xmlns:pc="http://schemas.microsoft.com/office/powerpoint/2013/main/command" cId="2804445443" sldId="726"/>
      <ac:spMk id="7" creationId="{228BD8B8-0112-76AA-188F-77847BC06E76}"/>
      <ac:txMk cp="5" len="68">
        <ac:context len="74" hash="407788940"/>
      </ac:txMk>
    </ac:txMkLst>
    <p188:pos x="682625" y="2235200"/>
    <p188:txBody>
      <a:bodyPr/>
      <a:lstStyle/>
      <a:p>
        <a:r>
          <a:rPr lang="en-US"/>
          <a:t>The table seems to be revealing the bank accounts held by the entity</a:t>
        </a:r>
      </a:p>
    </p188:txBody>
  </p188:cm>
</p188:cmLst>
</file>

<file path=ppt/comments/modernComment_3ED_7BFB2FDB.xml><?xml version="1.0" encoding="utf-8"?>
<p188:cmLst xmlns:a="http://schemas.openxmlformats.org/drawingml/2006/main" xmlns:r="http://schemas.openxmlformats.org/officeDocument/2006/relationships" xmlns:p188="http://schemas.microsoft.com/office/powerpoint/2018/8/main">
  <p188:cm id="{5C92D809-2098-4AF9-8D19-3689E83E3575}" authorId="{603FE580-7E24-E1A8-E2BB-ADC6C73F05A9}" created="2023-12-13T08:55:21.355">
    <ac:txMkLst xmlns:ac="http://schemas.microsoft.com/office/drawing/2013/main/command">
      <pc:docMk xmlns:pc="http://schemas.microsoft.com/office/powerpoint/2013/main/command"/>
      <pc:sldMk xmlns:pc="http://schemas.microsoft.com/office/powerpoint/2013/main/command" cId="2080059355" sldId="1005"/>
      <ac:spMk id="10" creationId="{4A131C4E-F7D8-B884-A574-C3FCFBEA00AC}"/>
      <ac:txMk cp="5" len="73">
        <ac:context len="79" hash="2019817125"/>
      </ac:txMk>
    </ac:txMkLst>
    <p188:pos x="692150" y="4032250"/>
    <p188:txBody>
      <a:bodyPr/>
      <a:lstStyle/>
      <a:p>
        <a:r>
          <a:rPr lang="en-US"/>
          <a:t>The table and graph seem to be revealing the regions served by the entity</a:t>
        </a:r>
      </a:p>
    </p188:txBody>
  </p188:cm>
</p188:cmLst>
</file>

<file path=ppt/comments/modernComment_260_57D0D53F.xml><?xml version="1.0" encoding="utf-8"?>
<p188:cmLst xmlns:a="http://schemas.openxmlformats.org/drawingml/2006/main" xmlns:r="http://schemas.openxmlformats.org/officeDocument/2006/relationships" xmlns:p188="http://schemas.microsoft.com/office/powerpoint/2018/8/main">
  <p188:cm id="{4A5E632A-78B8-4799-9A45-D1083812DF4D}" authorId="{603FE580-7E24-E1A8-E2BB-ADC6C73F05A9}" created="2023-12-13T08:54:02.987">
    <ac:txMkLst xmlns:ac="http://schemas.microsoft.com/office/drawing/2013/main/command">
      <pc:docMk xmlns:pc="http://schemas.microsoft.com/office/powerpoint/2013/main/command"/>
      <pc:sldMk xmlns:pc="http://schemas.microsoft.com/office/powerpoint/2013/main/command" cId="1473303871" sldId="608"/>
      <ac:spMk id="6" creationId="{C40A7FBD-6D37-2764-B031-FDAF5BDEFD0E}"/>
      <ac:txMk cp="3" len="64">
        <ac:context len="68" hash="798683721"/>
      </ac:txMk>
    </ac:txMkLst>
    <p188:pos x="9001125" y="2292350"/>
    <p188:txBody>
      <a:bodyPr/>
      <a:lstStyle/>
      <a:p>
        <a:r>
          <a:rPr lang="en-US"/>
          <a:t>The maps seem to be revealing the regions served by the entity</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13/12/2023</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13/12/2023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Equivalent page: 48, with some detail taken from trading headline.</a:t>
            </a:r>
          </a:p>
        </p:txBody>
      </p:sp>
      <p:sp>
        <p:nvSpPr>
          <p:cNvPr id="4" name="Slide Number Placeholder 3"/>
          <p:cNvSpPr>
            <a:spLocks noGrp="1"/>
          </p:cNvSpPr>
          <p:nvPr>
            <p:ph type="sldNum" sz="quarter" idx="5"/>
          </p:nvPr>
        </p:nvSpPr>
        <p:spPr/>
        <p:txBody>
          <a:bodyPr/>
          <a:lstStyle/>
          <a:p>
            <a:fld id="{9B5D948F-A673-4DC7-A0E9-FA274EAF3634}" type="slidenum">
              <a:rPr lang="en-GB" smtClean="0"/>
              <a:pPr/>
              <a:t>19</a:t>
            </a:fld>
            <a:endParaRPr lang="en-GB"/>
          </a:p>
        </p:txBody>
      </p:sp>
    </p:spTree>
    <p:extLst>
      <p:ext uri="{BB962C8B-B14F-4D97-AF65-F5344CB8AC3E}">
        <p14:creationId xmlns:p14="http://schemas.microsoft.com/office/powerpoint/2010/main" val="2057962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pPr/>
              <a:t>25</a:t>
            </a:fld>
            <a:endParaRPr lang="en-GB"/>
          </a:p>
        </p:txBody>
      </p:sp>
    </p:spTree>
    <p:extLst>
      <p:ext uri="{BB962C8B-B14F-4D97-AF65-F5344CB8AC3E}">
        <p14:creationId xmlns:p14="http://schemas.microsoft.com/office/powerpoint/2010/main" val="3778399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pPr/>
              <a:t>26</a:t>
            </a:fld>
            <a:endParaRPr lang="en-GB"/>
          </a:p>
        </p:txBody>
      </p:sp>
    </p:spTree>
    <p:extLst>
      <p:ext uri="{BB962C8B-B14F-4D97-AF65-F5344CB8AC3E}">
        <p14:creationId xmlns:p14="http://schemas.microsoft.com/office/powerpoint/2010/main" val="147369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CL"/>
          </a:p>
        </p:txBody>
      </p:sp>
      <p:sp>
        <p:nvSpPr>
          <p:cNvPr id="4" name="Slide Number Placeholder 3"/>
          <p:cNvSpPr>
            <a:spLocks noGrp="1"/>
          </p:cNvSpPr>
          <p:nvPr>
            <p:ph type="sldNum" sz="quarter" idx="5"/>
          </p:nvPr>
        </p:nvSpPr>
        <p:spPr/>
        <p:txBody>
          <a:bodyPr/>
          <a:lstStyle/>
          <a:p>
            <a:fld id="{9B5D948F-A673-4DC7-A0E9-FA274EAF3634}" type="slidenum">
              <a:rPr lang="en-GB" smtClean="0"/>
              <a:pPr/>
              <a:t>27</a:t>
            </a:fld>
            <a:endParaRPr lang="en-GB"/>
          </a:p>
        </p:txBody>
      </p:sp>
    </p:spTree>
    <p:extLst>
      <p:ext uri="{BB962C8B-B14F-4D97-AF65-F5344CB8AC3E}">
        <p14:creationId xmlns:p14="http://schemas.microsoft.com/office/powerpoint/2010/main" val="2848155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pPr/>
              <a:t>46</a:t>
            </a:fld>
            <a:endParaRPr lang="en-GB"/>
          </a:p>
        </p:txBody>
      </p:sp>
    </p:spTree>
    <p:extLst>
      <p:ext uri="{BB962C8B-B14F-4D97-AF65-F5344CB8AC3E}">
        <p14:creationId xmlns:p14="http://schemas.microsoft.com/office/powerpoint/2010/main" val="2067044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47</a:t>
            </a:fld>
            <a:endParaRPr lang="en-GB"/>
          </a:p>
        </p:txBody>
      </p:sp>
    </p:spTree>
    <p:extLst>
      <p:ext uri="{BB962C8B-B14F-4D97-AF65-F5344CB8AC3E}">
        <p14:creationId xmlns:p14="http://schemas.microsoft.com/office/powerpoint/2010/main" val="168146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48</a:t>
            </a:fld>
            <a:endParaRPr lang="en-GB"/>
          </a:p>
        </p:txBody>
      </p:sp>
    </p:spTree>
    <p:extLst>
      <p:ext uri="{BB962C8B-B14F-4D97-AF65-F5344CB8AC3E}">
        <p14:creationId xmlns:p14="http://schemas.microsoft.com/office/powerpoint/2010/main" val="1541967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49</a:t>
            </a:fld>
            <a:endParaRPr lang="en-GB"/>
          </a:p>
        </p:txBody>
      </p:sp>
    </p:spTree>
    <p:extLst>
      <p:ext uri="{BB962C8B-B14F-4D97-AF65-F5344CB8AC3E}">
        <p14:creationId xmlns:p14="http://schemas.microsoft.com/office/powerpoint/2010/main" val="403504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50</a:t>
            </a:fld>
            <a:endParaRPr lang="en-GB"/>
          </a:p>
        </p:txBody>
      </p:sp>
    </p:spTree>
    <p:extLst>
      <p:ext uri="{BB962C8B-B14F-4D97-AF65-F5344CB8AC3E}">
        <p14:creationId xmlns:p14="http://schemas.microsoft.com/office/powerpoint/2010/main" val="4061374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51</a:t>
            </a:fld>
            <a:endParaRPr lang="en-GB"/>
          </a:p>
        </p:txBody>
      </p:sp>
    </p:spTree>
    <p:extLst>
      <p:ext uri="{BB962C8B-B14F-4D97-AF65-F5344CB8AC3E}">
        <p14:creationId xmlns:p14="http://schemas.microsoft.com/office/powerpoint/2010/main" val="3014201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7.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7.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7.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7.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4.svg"/><Relationship Id="rId9"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12.svg"/><Relationship Id="rId9" Type="http://schemas.openxmlformats.org/officeDocument/2006/relationships/image" Target="../media/image17.png"/></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slide" Target="../slides/slide2.xml"/><Relationship Id="rId4" Type="http://schemas.openxmlformats.org/officeDocument/2006/relationships/image" Target="../media/image7.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7.emf"/></Relationships>
</file>

<file path=ppt/slideLayouts/_rels/slideLayout55.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slideMaster" Target="../slideMasters/slideMaster2.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tags" Target="../tags/tag34.xml"/><Relationship Id="rId2" Type="http://schemas.openxmlformats.org/officeDocument/2006/relationships/tags" Target="../tags/tag24.xml"/><Relationship Id="rId16" Type="http://schemas.openxmlformats.org/officeDocument/2006/relationships/image" Target="../media/image2.sv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image" Target="../media/image1.png"/><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slide" Target="../slides/slide3.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slideMaster" Target="../slideMasters/slideMaster2.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image" Target="../media/image4.svg"/><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image" Target="../media/image3.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slideMaster" Target="../slideMasters/slideMaster2.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tags" Target="../tags/tag55.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5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910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 Id="rId9" Type="http://schemas.openxmlformats.org/officeDocument/2006/relationships/image" Target="../media/image9.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6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010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213.bin"/><Relationship Id="rId7" Type="http://schemas.openxmlformats.org/officeDocument/2006/relationships/image" Target="../media/image11.svg"/><Relationship Id="rId2" Type="http://schemas.openxmlformats.org/officeDocument/2006/relationships/slideMaster" Target="../slideMasters/slideMaster11.xml"/><Relationship Id="rId1" Type="http://schemas.openxmlformats.org/officeDocument/2006/relationships/tags" Target="../tags/tag6100.xml"/><Relationship Id="rId6" Type="http://schemas.openxmlformats.org/officeDocument/2006/relationships/image" Target="../media/image10.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7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110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3" Type="http://schemas.openxmlformats.org/officeDocument/2006/relationships/oleObject" Target="../embeddings/oleObject8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210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9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310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10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418.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1100.bin"/><Relationship Id="rId2" Type="http://schemas.openxmlformats.org/officeDocument/2006/relationships/slideMaster" Target="../slideMasters/slideMaster10.xml"/><Relationship Id="rId1" Type="http://schemas.openxmlformats.org/officeDocument/2006/relationships/tags" Target="../tags/tag4300.xml"/><Relationship Id="rId6" Type="http://schemas.openxmlformats.org/officeDocument/2006/relationships/image" Target="../media/image9.svg"/><Relationship Id="rId5" Type="http://schemas.openxmlformats.org/officeDocument/2006/relationships/image" Target="../media/image80.png"/><Relationship Id="rId4" Type="http://schemas.openxmlformats.org/officeDocument/2006/relationships/image" Target="../media/image7.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1111.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5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12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6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212.xml.rels><?xml version="1.0" encoding="UTF-8" standalone="yes"?>
<Relationships xmlns="http://schemas.openxmlformats.org/package/2006/relationships"><Relationship Id="rId3" Type="http://schemas.openxmlformats.org/officeDocument/2006/relationships/oleObject" Target="../embeddings/oleObject13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7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1.xml.rels><?xml version="1.0" encoding="UTF-8" standalone="yes"?>
<Relationships xmlns="http://schemas.openxmlformats.org/package/2006/relationships"><Relationship Id="rId3" Type="http://schemas.openxmlformats.org/officeDocument/2006/relationships/oleObject" Target="../embeddings/oleObject14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8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3" Type="http://schemas.openxmlformats.org/officeDocument/2006/relationships/oleObject" Target="../embeddings/oleObject15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19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40.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Master" Target="../slideMasters/slideMaster10.xml"/><Relationship Id="rId1" Type="http://schemas.openxmlformats.org/officeDocument/2006/relationships/tags" Target="../tags/tag5010.xml"/><Relationship Id="rId4" Type="http://schemas.openxmlformats.org/officeDocument/2006/relationships/image" Target="../media/image7.emf"/></Relationships>
</file>

<file path=ppt/slideLayouts/_rels/slideLayout241.xml.rels><?xml version="1.0" encoding="UTF-8" standalone="yes"?>
<Relationships xmlns="http://schemas.openxmlformats.org/package/2006/relationships"><Relationship Id="rId3" Type="http://schemas.openxmlformats.org/officeDocument/2006/relationships/oleObject" Target="../embeddings/oleObject16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0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3" Type="http://schemas.openxmlformats.org/officeDocument/2006/relationships/oleObject" Target="../embeddings/oleObject179.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1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3" Type="http://schemas.openxmlformats.org/officeDocument/2006/relationships/oleObject" Target="../embeddings/oleObject181.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2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70.xml.rels><?xml version="1.0" encoding="UTF-8" standalone="yes"?>
<Relationships xmlns="http://schemas.openxmlformats.org/package/2006/relationships"><Relationship Id="rId3" Type="http://schemas.openxmlformats.org/officeDocument/2006/relationships/oleObject" Target="../embeddings/oleObject310.bin"/><Relationship Id="rId2" Type="http://schemas.openxmlformats.org/officeDocument/2006/relationships/slideMaster" Target="../slideMasters/slideMaster10.xml"/><Relationship Id="rId1" Type="http://schemas.openxmlformats.org/officeDocument/2006/relationships/tags" Target="../tags/tag6010.xml"/><Relationship Id="rId4" Type="http://schemas.openxmlformats.org/officeDocument/2006/relationships/image" Target="../media/image7.emf"/></Relationships>
</file>

<file path=ppt/slideLayouts/_rels/slideLayout271.xml.rels><?xml version="1.0" encoding="UTF-8" standalone="yes"?>
<Relationships xmlns="http://schemas.openxmlformats.org/package/2006/relationships"><Relationship Id="rId3" Type="http://schemas.openxmlformats.org/officeDocument/2006/relationships/oleObject" Target="../embeddings/oleObject191.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3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80.xml.rels><?xml version="1.0" encoding="UTF-8" standalone="yes"?>
<Relationships xmlns="http://schemas.openxmlformats.org/package/2006/relationships"><Relationship Id="rId3" Type="http://schemas.openxmlformats.org/officeDocument/2006/relationships/oleObject" Target="../embeddings/oleObject400.bin"/><Relationship Id="rId2" Type="http://schemas.openxmlformats.org/officeDocument/2006/relationships/slideMaster" Target="../slideMasters/slideMaster10.xml"/><Relationship Id="rId1" Type="http://schemas.openxmlformats.org/officeDocument/2006/relationships/tags" Target="../tags/tag7100.xml"/><Relationship Id="rId4" Type="http://schemas.openxmlformats.org/officeDocument/2006/relationships/image" Target="../media/image7.emf"/></Relationships>
</file>

<file path=ppt/slideLayouts/_rels/slideLayout281.xml.rels><?xml version="1.0" encoding="UTF-8" standalone="yes"?>
<Relationships xmlns="http://schemas.openxmlformats.org/package/2006/relationships"><Relationship Id="rId3" Type="http://schemas.openxmlformats.org/officeDocument/2006/relationships/oleObject" Target="../embeddings/oleObject201.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4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290.xml.rels><?xml version="1.0" encoding="UTF-8" standalone="yes"?>
<Relationships xmlns="http://schemas.openxmlformats.org/package/2006/relationships"><Relationship Id="rId3" Type="http://schemas.openxmlformats.org/officeDocument/2006/relationships/oleObject" Target="../embeddings/oleObject500.bin"/><Relationship Id="rId2" Type="http://schemas.openxmlformats.org/officeDocument/2006/relationships/slideMaster" Target="../slideMasters/slideMaster10.xml"/><Relationship Id="rId1" Type="http://schemas.openxmlformats.org/officeDocument/2006/relationships/tags" Target="../tags/tag8100.xml"/><Relationship Id="rId4" Type="http://schemas.openxmlformats.org/officeDocument/2006/relationships/image" Target="../media/image7.emf"/></Relationships>
</file>

<file path=ppt/slideLayouts/_rels/slideLayout291.xml.rels><?xml version="1.0" encoding="UTF-8" standalone="yes"?>
<Relationships xmlns="http://schemas.openxmlformats.org/package/2006/relationships"><Relationship Id="rId3" Type="http://schemas.openxmlformats.org/officeDocument/2006/relationships/oleObject" Target="../embeddings/oleObject212.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5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300.xml.rels><?xml version="1.0" encoding="UTF-8" standalone="yes"?>
<Relationships xmlns="http://schemas.openxmlformats.org/package/2006/relationships"><Relationship Id="rId3" Type="http://schemas.openxmlformats.org/officeDocument/2006/relationships/oleObject" Target="../embeddings/oleObject600.bin"/><Relationship Id="rId2" Type="http://schemas.openxmlformats.org/officeDocument/2006/relationships/slideMaster" Target="../slideMasters/slideMaster10.xml"/><Relationship Id="rId1" Type="http://schemas.openxmlformats.org/officeDocument/2006/relationships/tags" Target="../tags/tag9610.xml"/><Relationship Id="rId4" Type="http://schemas.openxmlformats.org/officeDocument/2006/relationships/image" Target="../media/image7.emf"/></Relationships>
</file>

<file path=ppt/slideLayouts/_rels/slideLayout301.xml.rels><?xml version="1.0" encoding="UTF-8" standalone="yes"?>
<Relationships xmlns="http://schemas.openxmlformats.org/package/2006/relationships"><Relationship Id="rId3" Type="http://schemas.openxmlformats.org/officeDocument/2006/relationships/oleObject" Target="../embeddings/oleObject22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6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311.xml.rels><?xml version="1.0" encoding="UTF-8" standalone="yes"?>
<Relationships xmlns="http://schemas.openxmlformats.org/package/2006/relationships"><Relationship Id="rId3" Type="http://schemas.openxmlformats.org/officeDocument/2006/relationships/oleObject" Target="../embeddings/oleObject700.bin"/><Relationship Id="rId2" Type="http://schemas.openxmlformats.org/officeDocument/2006/relationships/slideMaster" Target="../slideMasters/slideMaster10.xml"/><Relationship Id="rId1" Type="http://schemas.openxmlformats.org/officeDocument/2006/relationships/tags" Target="../tags/tag10010.xml"/><Relationship Id="rId4" Type="http://schemas.openxmlformats.org/officeDocument/2006/relationships/image" Target="../media/image7.emf"/></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20.xml.rels><?xml version="1.0" encoding="UTF-8" standalone="yes"?>
<Relationships xmlns="http://schemas.openxmlformats.org/package/2006/relationships"><Relationship Id="rId3" Type="http://schemas.openxmlformats.org/officeDocument/2006/relationships/oleObject" Target="../embeddings/oleObject800.bin"/><Relationship Id="rId2" Type="http://schemas.openxmlformats.org/officeDocument/2006/relationships/slideMaster" Target="../slideMasters/slideMaster10.xml"/><Relationship Id="rId1" Type="http://schemas.openxmlformats.org/officeDocument/2006/relationships/tags" Target="../tags/tag11010.xml"/><Relationship Id="rId4" Type="http://schemas.openxmlformats.org/officeDocument/2006/relationships/image" Target="../media/image7.emf"/></Relationships>
</file>

<file path=ppt/slideLayouts/_rels/slideLayout321.xml.rels><?xml version="1.0" encoding="UTF-8" standalone="yes"?>
<Relationships xmlns="http://schemas.openxmlformats.org/package/2006/relationships"><Relationship Id="rId3" Type="http://schemas.openxmlformats.org/officeDocument/2006/relationships/oleObject" Target="../embeddings/oleObject23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7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330.xml.rels><?xml version="1.0" encoding="UTF-8" standalone="yes"?>
<Relationships xmlns="http://schemas.openxmlformats.org/package/2006/relationships"><Relationship Id="rId3" Type="http://schemas.openxmlformats.org/officeDocument/2006/relationships/oleObject" Target="../embeddings/oleObject900.bin"/><Relationship Id="rId2" Type="http://schemas.openxmlformats.org/officeDocument/2006/relationships/slideMaster" Target="../slideMasters/slideMaster10.xml"/><Relationship Id="rId1" Type="http://schemas.openxmlformats.org/officeDocument/2006/relationships/tags" Target="../tags/tag12010.xml"/><Relationship Id="rId4" Type="http://schemas.openxmlformats.org/officeDocument/2006/relationships/image" Target="../media/image7.emf"/></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40.xml.rels><?xml version="1.0" encoding="UTF-8" standalone="yes"?>
<Relationships xmlns="http://schemas.openxmlformats.org/package/2006/relationships"><Relationship Id="rId3" Type="http://schemas.openxmlformats.org/officeDocument/2006/relationships/oleObject" Target="../embeddings/oleObject1000.bin"/><Relationship Id="rId2" Type="http://schemas.openxmlformats.org/officeDocument/2006/relationships/slideMaster" Target="../slideMasters/slideMaster10.xml"/><Relationship Id="rId1" Type="http://schemas.openxmlformats.org/officeDocument/2006/relationships/tags" Target="../tags/tag13010.xml"/><Relationship Id="rId4" Type="http://schemas.openxmlformats.org/officeDocument/2006/relationships/image" Target="../media/image7.emf"/></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50.xml.rels><?xml version="1.0" encoding="UTF-8" standalone="yes"?>
<Relationships xmlns="http://schemas.openxmlformats.org/package/2006/relationships"><Relationship Id="rId3" Type="http://schemas.openxmlformats.org/officeDocument/2006/relationships/oleObject" Target="../embeddings/oleObject1110.bin"/><Relationship Id="rId2" Type="http://schemas.openxmlformats.org/officeDocument/2006/relationships/slideMaster" Target="../slideMasters/slideMaster10.xml"/><Relationship Id="rId1" Type="http://schemas.openxmlformats.org/officeDocument/2006/relationships/tags" Target="../tags/tag14010.xml"/><Relationship Id="rId4" Type="http://schemas.openxmlformats.org/officeDocument/2006/relationships/image" Target="../media/image7.emf"/></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60.xml.rels><?xml version="1.0" encoding="UTF-8" standalone="yes"?>
<Relationships xmlns="http://schemas.openxmlformats.org/package/2006/relationships"><Relationship Id="rId3" Type="http://schemas.openxmlformats.org/officeDocument/2006/relationships/oleObject" Target="../embeddings/oleObject1200.bin"/><Relationship Id="rId2" Type="http://schemas.openxmlformats.org/officeDocument/2006/relationships/slideMaster" Target="../slideMasters/slideMaster10.xml"/><Relationship Id="rId1" Type="http://schemas.openxmlformats.org/officeDocument/2006/relationships/tags" Target="../tags/tag1500.xml"/><Relationship Id="rId4" Type="http://schemas.openxmlformats.org/officeDocument/2006/relationships/image" Target="../media/image7.emf"/></Relationships>
</file>

<file path=ppt/slideLayouts/_rels/slideLayout361.xml.rels><?xml version="1.0" encoding="UTF-8" standalone="yes"?>
<Relationships xmlns="http://schemas.openxmlformats.org/package/2006/relationships"><Relationship Id="rId3" Type="http://schemas.openxmlformats.org/officeDocument/2006/relationships/oleObject" Target="../embeddings/oleObject24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8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210.xml"/><Relationship Id="rId1" Type="http://schemas.openxmlformats.org/officeDocument/2006/relationships/slideMaster" Target="../slideMasters/slideMaster11.xml"/><Relationship Id="rId4" Type="http://schemas.openxmlformats.org/officeDocument/2006/relationships/image" Target="../media/image5.svg"/></Relationships>
</file>

<file path=ppt/slideLayouts/_rels/slideLayout380.xml.rels><?xml version="1.0" encoding="UTF-8" standalone="yes"?>
<Relationships xmlns="http://schemas.openxmlformats.org/package/2006/relationships"><Relationship Id="rId3" Type="http://schemas.openxmlformats.org/officeDocument/2006/relationships/oleObject" Target="../embeddings/oleObject1300.bin"/><Relationship Id="rId2" Type="http://schemas.openxmlformats.org/officeDocument/2006/relationships/slideMaster" Target="../slideMasters/slideMaster10.xml"/><Relationship Id="rId1" Type="http://schemas.openxmlformats.org/officeDocument/2006/relationships/tags" Target="../tags/tag1600.xml"/><Relationship Id="rId4" Type="http://schemas.openxmlformats.org/officeDocument/2006/relationships/image" Target="../media/image7.emf"/></Relationships>
</file>

<file path=ppt/slideLayouts/_rels/slideLayout381.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2910.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slideMaster" Target="../slideMasters/slideMaster11.xml"/><Relationship Id="rId1" Type="http://schemas.openxmlformats.org/officeDocument/2006/relationships/tags" Target="../tags/tag30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10.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2.xml.rels><?xml version="1.0" encoding="UTF-8" standalone="yes"?>
<Relationships xmlns="http://schemas.openxmlformats.org/package/2006/relationships"><Relationship Id="rId3" Type="http://schemas.openxmlformats.org/officeDocument/2006/relationships/oleObject" Target="../embeddings/oleObject311.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7101.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0.xml.rels><?xml version="1.0" encoding="UTF-8" standalone="yes"?>
<Relationships xmlns="http://schemas.openxmlformats.org/package/2006/relationships"><Relationship Id="rId3" Type="http://schemas.openxmlformats.org/officeDocument/2006/relationships/oleObject" Target="../embeddings/oleObject1400.bin"/><Relationship Id="rId2" Type="http://schemas.openxmlformats.org/officeDocument/2006/relationships/slideMaster" Target="../slideMasters/slideMaster10.xml"/><Relationship Id="rId1" Type="http://schemas.openxmlformats.org/officeDocument/2006/relationships/tags" Target="../tags/tag1700.xml"/><Relationship Id="rId4" Type="http://schemas.openxmlformats.org/officeDocument/2006/relationships/image" Target="../media/image7.emf"/></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0.xml.rels><?xml version="1.0" encoding="UTF-8" standalone="yes"?>
<Relationships xmlns="http://schemas.openxmlformats.org/package/2006/relationships"><Relationship Id="rId3" Type="http://schemas.openxmlformats.org/officeDocument/2006/relationships/slide" Target="../slides/slide400.xml"/><Relationship Id="rId2" Type="http://schemas.openxmlformats.org/officeDocument/2006/relationships/slideMaster" Target="../slideMasters/slideMaster10.xml"/><Relationship Id="rId1" Type="http://schemas.openxmlformats.org/officeDocument/2006/relationships/tags" Target="../tags/tag1800.xml"/><Relationship Id="rId5" Type="http://schemas.openxmlformats.org/officeDocument/2006/relationships/image" Target="../media/image11.svg"/><Relationship Id="rId4" Type="http://schemas.openxmlformats.org/officeDocument/2006/relationships/image" Target="../media/image100.png"/></Relationships>
</file>

<file path=ppt/slideLayouts/_rels/slideLayout46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 Id="rId6" Type="http://schemas.openxmlformats.org/officeDocument/2006/relationships/image" Target="../media/image11.svg"/><Relationship Id="rId5" Type="http://schemas.openxmlformats.org/officeDocument/2006/relationships/image" Target="../media/image100.png"/><Relationship Id="rId4" Type="http://schemas.openxmlformats.org/officeDocument/2006/relationships/slide" Target="../slides/slide400.xml"/></Relationships>
</file>

<file path=ppt/slideLayouts/_rels/slideLayout470.xml.rels><?xml version="1.0" encoding="UTF-8" standalone="yes"?>
<Relationships xmlns="http://schemas.openxmlformats.org/package/2006/relationships"><Relationship Id="rId3" Type="http://schemas.openxmlformats.org/officeDocument/2006/relationships/image" Target="../media/image120.svg"/><Relationship Id="rId2" Type="http://schemas.openxmlformats.org/officeDocument/2006/relationships/image" Target="../media/image50.png"/><Relationship Id="rId1" Type="http://schemas.openxmlformats.org/officeDocument/2006/relationships/slideMaster" Target="../slideMasters/slideMaster10.xml"/><Relationship Id="rId6" Type="http://schemas.openxmlformats.org/officeDocument/2006/relationships/image" Target="../media/image20.svg"/><Relationship Id="rId5" Type="http://schemas.openxmlformats.org/officeDocument/2006/relationships/image" Target="../media/image110.png"/><Relationship Id="rId4" Type="http://schemas.openxmlformats.org/officeDocument/2006/relationships/slide" Target="../slides/slide400.xml"/></Relationships>
</file>

<file path=ppt/slideLayouts/_rels/slideLayout48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 Id="rId6" Type="http://schemas.openxmlformats.org/officeDocument/2006/relationships/image" Target="../media/image11.svg"/><Relationship Id="rId5" Type="http://schemas.openxmlformats.org/officeDocument/2006/relationships/image" Target="../media/image100.png"/><Relationship Id="rId4" Type="http://schemas.openxmlformats.org/officeDocument/2006/relationships/slide" Target="../slides/slide400.xml"/></Relationships>
</file>

<file path=ppt/slideLayouts/_rels/slideLayout49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 Id="rId6" Type="http://schemas.openxmlformats.org/officeDocument/2006/relationships/image" Target="../media/image11.svg"/><Relationship Id="rId5" Type="http://schemas.openxmlformats.org/officeDocument/2006/relationships/image" Target="../media/image100.png"/><Relationship Id="rId4" Type="http://schemas.openxmlformats.org/officeDocument/2006/relationships/slide" Target="../slides/slide400.xml"/></Relationships>
</file>

<file path=ppt/slideLayouts/_rels/slideLayout50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 Id="rId6" Type="http://schemas.openxmlformats.org/officeDocument/2006/relationships/image" Target="../media/image11.svg"/><Relationship Id="rId5" Type="http://schemas.openxmlformats.org/officeDocument/2006/relationships/image" Target="../media/image100.png"/><Relationship Id="rId4" Type="http://schemas.openxmlformats.org/officeDocument/2006/relationships/slide" Target="../slides/slide400.xml"/></Relationships>
</file>

<file path=ppt/slideLayouts/_rels/slideLayout5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0.png"/><Relationship Id="rId7" Type="http://schemas.openxmlformats.org/officeDocument/2006/relationships/image" Target="../media/image15.png"/><Relationship Id="rId2" Type="http://schemas.openxmlformats.org/officeDocument/2006/relationships/slideMaster" Target="../slideMasters/slideMaster10.xml"/><Relationship Id="rId1" Type="http://schemas.openxmlformats.org/officeDocument/2006/relationships/tags" Target="../tags/tag1900.xml"/><Relationship Id="rId6" Type="http://schemas.openxmlformats.org/officeDocument/2006/relationships/image" Target="../media/image1400.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40.svg"/><Relationship Id="rId9" Type="http://schemas.openxmlformats.org/officeDocument/2006/relationships/image" Target="../media/image17.png"/></Relationships>
</file>

<file path=ppt/slideLayouts/_rels/slideLayout511.xml.rels><?xml version="1.0" encoding="UTF-8" standalone="yes"?>
<Relationships xmlns="http://schemas.openxmlformats.org/package/2006/relationships"><Relationship Id="rId3" Type="http://schemas.openxmlformats.org/officeDocument/2006/relationships/oleObject" Target="../embeddings/oleObject410.bin"/><Relationship Id="rId7" Type="http://schemas.openxmlformats.org/officeDocument/2006/relationships/image" Target="../media/image5.svg"/><Relationship Id="rId2" Type="http://schemas.openxmlformats.org/officeDocument/2006/relationships/slideMaster" Target="../slideMasters/slideMaster11.xml"/><Relationship Id="rId1" Type="http://schemas.openxmlformats.org/officeDocument/2006/relationships/tags" Target="../tags/tag8101.xml"/><Relationship Id="rId6" Type="http://schemas.openxmlformats.org/officeDocument/2006/relationships/image" Target="../media/image4.png"/><Relationship Id="rId5" Type="http://schemas.openxmlformats.org/officeDocument/2006/relationships/slide" Target="../slides/slide210.xml"/><Relationship Id="rId4" Type="http://schemas.openxmlformats.org/officeDocument/2006/relationships/image" Target="../media/image7.emf"/></Relationships>
</file>

<file path=ppt/slideLayouts/_rels/slideLayout5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0.png"/><Relationship Id="rId7" Type="http://schemas.openxmlformats.org/officeDocument/2006/relationships/image" Target="../media/image15.png"/><Relationship Id="rId2" Type="http://schemas.openxmlformats.org/officeDocument/2006/relationships/slideMaster" Target="../slideMasters/slideMaster10.xml"/><Relationship Id="rId1" Type="http://schemas.openxmlformats.org/officeDocument/2006/relationships/tags" Target="../tags/tag2000.xml"/><Relationship Id="rId6" Type="http://schemas.openxmlformats.org/officeDocument/2006/relationships/image" Target="../media/image1400.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120.svg"/><Relationship Id="rId9" Type="http://schemas.openxmlformats.org/officeDocument/2006/relationships/image" Target="../media/image17.png"/></Relationships>
</file>

<file path=ppt/slideLayouts/_rels/slideLayout53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37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UMMARY 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2"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2"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7"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7" name="Rectangle 6">
            <a:extLst>
              <a:ext uri="{FF2B5EF4-FFF2-40B4-BE49-F238E27FC236}">
                <a16:creationId xmlns:a16="http://schemas.microsoft.com/office/drawing/2014/main" id="{B0CD50F2-580F-4CEF-B077-B2CB175648C0}"/>
              </a:ext>
            </a:extLst>
          </p:cNvPr>
          <p:cNvSpPr/>
          <p:nvPr userDrawn="1"/>
        </p:nvSpPr>
        <p:spPr>
          <a:xfrm>
            <a:off x="4427897"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30"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7860430"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0" name="Text Placeholder 9">
            <a:extLst>
              <a:ext uri="{FF2B5EF4-FFF2-40B4-BE49-F238E27FC236}">
                <a16:creationId xmlns:a16="http://schemas.microsoft.com/office/drawing/2014/main" id="{9BD4A4D5-D742-4354-912B-FA7506C97D7D}"/>
              </a:ext>
            </a:extLst>
          </p:cNvPr>
          <p:cNvSpPr>
            <a:spLocks noGrp="1"/>
          </p:cNvSpPr>
          <p:nvPr>
            <p:ph type="body" sz="quarter" idx="10"/>
          </p:nvPr>
        </p:nvSpPr>
        <p:spPr>
          <a:xfrm>
            <a:off x="1022145"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1" name="Text Placeholder 9">
            <a:extLst>
              <a:ext uri="{FF2B5EF4-FFF2-40B4-BE49-F238E27FC236}">
                <a16:creationId xmlns:a16="http://schemas.microsoft.com/office/drawing/2014/main" id="{24ACC3BC-20DE-427C-B9BF-032A57363F7A}"/>
              </a:ext>
            </a:extLst>
          </p:cNvPr>
          <p:cNvSpPr>
            <a:spLocks noGrp="1"/>
          </p:cNvSpPr>
          <p:nvPr>
            <p:ph type="body" sz="quarter" idx="11"/>
          </p:nvPr>
        </p:nvSpPr>
        <p:spPr>
          <a:xfrm>
            <a:off x="4456641"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2" name="Text Placeholder 9">
            <a:extLst>
              <a:ext uri="{FF2B5EF4-FFF2-40B4-BE49-F238E27FC236}">
                <a16:creationId xmlns:a16="http://schemas.microsoft.com/office/drawing/2014/main" id="{EE03C645-2516-4A17-B4AE-E486AB2768F1}"/>
              </a:ext>
            </a:extLst>
          </p:cNvPr>
          <p:cNvSpPr>
            <a:spLocks noGrp="1"/>
          </p:cNvSpPr>
          <p:nvPr>
            <p:ph type="body" sz="quarter" idx="12"/>
          </p:nvPr>
        </p:nvSpPr>
        <p:spPr>
          <a:xfrm>
            <a:off x="7887079"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022145"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4CD4E557-7DAB-44A2-95F3-6B7974AD29BB}"/>
              </a:ext>
            </a:extLst>
          </p:cNvPr>
          <p:cNvSpPr>
            <a:spLocks noGrp="1"/>
          </p:cNvSpPr>
          <p:nvPr>
            <p:ph type="body" sz="quarter" idx="14"/>
          </p:nvPr>
        </p:nvSpPr>
        <p:spPr>
          <a:xfrm>
            <a:off x="4456641"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7887079"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302831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MMARY FINANCIAL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1" y="3652093"/>
            <a:ext cx="5058000"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2"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7"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30"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6141029" y="3652093"/>
            <a:ext cx="5058785"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022145" y="3787341"/>
            <a:ext cx="4500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6176812" y="3787341"/>
            <a:ext cx="4140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3" name="Text Placeholder 9">
            <a:extLst>
              <a:ext uri="{FF2B5EF4-FFF2-40B4-BE49-F238E27FC236}">
                <a16:creationId xmlns:a16="http://schemas.microsoft.com/office/drawing/2014/main" id="{C2511FB1-1959-A7D6-0557-562A80AAD367}"/>
              </a:ext>
            </a:extLst>
          </p:cNvPr>
          <p:cNvSpPr>
            <a:spLocks noGrp="1"/>
          </p:cNvSpPr>
          <p:nvPr>
            <p:ph type="body" sz="quarter" idx="10"/>
          </p:nvPr>
        </p:nvSpPr>
        <p:spPr>
          <a:xfrm>
            <a:off x="1022145"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7" name="Text Placeholder 9">
            <a:extLst>
              <a:ext uri="{FF2B5EF4-FFF2-40B4-BE49-F238E27FC236}">
                <a16:creationId xmlns:a16="http://schemas.microsoft.com/office/drawing/2014/main" id="{411B895E-657E-464C-4FBF-4A939576243B}"/>
              </a:ext>
            </a:extLst>
          </p:cNvPr>
          <p:cNvSpPr>
            <a:spLocks noGrp="1"/>
          </p:cNvSpPr>
          <p:nvPr>
            <p:ph type="body" sz="quarter" idx="11"/>
          </p:nvPr>
        </p:nvSpPr>
        <p:spPr>
          <a:xfrm>
            <a:off x="4456641"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3A803601-D97D-4AC7-5D9D-968D18594BA8}"/>
              </a:ext>
            </a:extLst>
          </p:cNvPr>
          <p:cNvSpPr>
            <a:spLocks noGrp="1"/>
          </p:cNvSpPr>
          <p:nvPr>
            <p:ph type="body" sz="quarter" idx="12"/>
          </p:nvPr>
        </p:nvSpPr>
        <p:spPr>
          <a:xfrm>
            <a:off x="7887079"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262535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Findings 2 value creation">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2A41AFA-A427-44A7-BC26-3367A3DA09A6}"/>
              </a:ext>
            </a:extLst>
          </p:cNvPr>
          <p:cNvGraphicFramePr>
            <a:graphicFrameLocks noChangeAspect="1"/>
          </p:cNvGraphicFramePr>
          <p:nvPr userDrawn="1">
            <p:custDataLst>
              <p:tags r:id="rId1"/>
            </p:custDataLst>
            <p:extLst>
              <p:ext uri="{D42A27DB-BD31-4B8C-83A1-F6EECF244321}">
                <p14:modId xmlns:p14="http://schemas.microsoft.com/office/powerpoint/2010/main" val="102069179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12A41AFA-A427-44A7-BC26-3367A3DA09A6}"/>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dirty="0"/>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3744000" cy="1495431"/>
          </a:xfrm>
        </p:spPr>
        <p:txBody>
          <a:bodyPr lIns="72000" tIns="0" rIns="72000" bIns="0"/>
          <a:lstStyle>
            <a:lvl1pPr>
              <a:defRPr sz="1000" b="1">
                <a:solidFill>
                  <a:schemeClr val="tx2"/>
                </a:solidFill>
              </a:defRPr>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4867057" y="1657989"/>
            <a:ext cx="3744000" cy="1495431"/>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3" name="Rectangle 22">
            <a:extLst>
              <a:ext uri="{FF2B5EF4-FFF2-40B4-BE49-F238E27FC236}">
                <a16:creationId xmlns:a16="http://schemas.microsoft.com/office/drawing/2014/main" id="{DFE03778-EE8F-437F-93A9-872E23AC7363}"/>
              </a:ext>
            </a:extLst>
          </p:cNvPr>
          <p:cNvSpPr/>
          <p:nvPr userDrawn="1"/>
        </p:nvSpPr>
        <p:spPr>
          <a:xfrm flipH="1">
            <a:off x="8739964" y="1330325"/>
            <a:ext cx="3452037" cy="4546600"/>
          </a:xfrm>
          <a:prstGeom prst="rect">
            <a:avLst/>
          </a:prstGeom>
          <a:gradFill>
            <a:gsLst>
              <a:gs pos="0">
                <a:schemeClr val="accent4"/>
              </a:gs>
              <a:gs pos="100000">
                <a:srgbClr val="ACEA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9" name="Rectangle 28">
            <a:extLst>
              <a:ext uri="{FF2B5EF4-FFF2-40B4-BE49-F238E27FC236}">
                <a16:creationId xmlns:a16="http://schemas.microsoft.com/office/drawing/2014/main" id="{054218D8-88BA-411C-9134-CE6A419C383B}"/>
              </a:ext>
            </a:extLst>
          </p:cNvPr>
          <p:cNvSpPr/>
          <p:nvPr userDrawn="1"/>
        </p:nvSpPr>
        <p:spPr>
          <a:xfrm>
            <a:off x="8944519" y="1431927"/>
            <a:ext cx="2255295" cy="121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72000" tIns="54000" rIns="72000" bIns="36000" rtlCol="0" anchor="t" anchorCtr="1"/>
          <a:lstStyle/>
          <a:p>
            <a:pPr algn="ctr">
              <a:spcAft>
                <a:spcPts val="300"/>
              </a:spcAft>
            </a:pPr>
            <a:endParaRPr lang="en-US" sz="1100" b="1">
              <a:solidFill>
                <a:schemeClr val="accent1"/>
              </a:solidFill>
            </a:endParaRPr>
          </a:p>
        </p:txBody>
      </p:sp>
      <p:sp>
        <p:nvSpPr>
          <p:cNvPr id="44" name="Chart Placeholder 43">
            <a:extLst>
              <a:ext uri="{FF2B5EF4-FFF2-40B4-BE49-F238E27FC236}">
                <a16:creationId xmlns:a16="http://schemas.microsoft.com/office/drawing/2014/main" id="{58C61F45-C268-4F8F-B7A6-EEF1FC83A832}"/>
              </a:ext>
            </a:extLst>
          </p:cNvPr>
          <p:cNvSpPr>
            <a:spLocks noGrp="1"/>
          </p:cNvSpPr>
          <p:nvPr>
            <p:ph type="chart" sz="quarter" idx="20" hasCustomPrompt="1"/>
          </p:nvPr>
        </p:nvSpPr>
        <p:spPr>
          <a:xfrm>
            <a:off x="9027152" y="1748169"/>
            <a:ext cx="2082283" cy="792238"/>
          </a:xfrm>
        </p:spPr>
        <p:txBody>
          <a:bodyPr lIns="72000"/>
          <a:lstStyle>
            <a:lvl1pPr>
              <a:defRPr sz="1000"/>
            </a:lvl1pPr>
          </a:lstStyle>
          <a:p>
            <a:r>
              <a:rPr lang="fi-FI" dirty="0"/>
              <a:t>Add chart with upside potential here</a:t>
            </a:r>
          </a:p>
        </p:txBody>
      </p:sp>
      <p:sp>
        <p:nvSpPr>
          <p:cNvPr id="25" name="TextBox 24">
            <a:extLst>
              <a:ext uri="{FF2B5EF4-FFF2-40B4-BE49-F238E27FC236}">
                <a16:creationId xmlns:a16="http://schemas.microsoft.com/office/drawing/2014/main" id="{3D880B26-620E-4209-A7A9-96108571D60B}"/>
              </a:ext>
            </a:extLst>
          </p:cNvPr>
          <p:cNvSpPr txBox="1">
            <a:spLocks/>
          </p:cNvSpPr>
          <p:nvPr userDrawn="1"/>
        </p:nvSpPr>
        <p:spPr>
          <a:xfrm>
            <a:off x="9558478" y="2851794"/>
            <a:ext cx="1695037" cy="590931"/>
          </a:xfrm>
          <a:prstGeom prst="rect">
            <a:avLst/>
          </a:prstGeom>
          <a:noFill/>
        </p:spPr>
        <p:txBody>
          <a:bodyPr wrap="square" lIns="0" tIns="0" rIns="0" bIns="0">
            <a:spAutoFit/>
          </a:bodyPr>
          <a:lstStyle/>
          <a:p>
            <a:pPr>
              <a:lnSpc>
                <a:spcPct val="80000"/>
              </a:lnSpc>
            </a:pPr>
            <a:r>
              <a:rPr lang="en-US" sz="2400">
                <a:solidFill>
                  <a:schemeClr val="tx2"/>
                </a:solidFill>
                <a:latin typeface="+mj-lt"/>
              </a:rPr>
              <a:t>Recommended next steps</a:t>
            </a:r>
          </a:p>
        </p:txBody>
      </p:sp>
      <p:pic>
        <p:nvPicPr>
          <p:cNvPr id="37" name="Graphic 36" descr="Shoe footprints with solid fill">
            <a:extLst>
              <a:ext uri="{FF2B5EF4-FFF2-40B4-BE49-F238E27FC236}">
                <a16:creationId xmlns:a16="http://schemas.microsoft.com/office/drawing/2014/main" id="{16531211-BC88-49C9-9656-429E1DF4140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872151" y="2851793"/>
            <a:ext cx="559999" cy="559998"/>
          </a:xfrm>
          <a:prstGeom prst="rect">
            <a:avLst/>
          </a:prstGeom>
        </p:spPr>
      </p:pic>
      <p:sp>
        <p:nvSpPr>
          <p:cNvPr id="51" name="Text Placeholder 49">
            <a:extLst>
              <a:ext uri="{FF2B5EF4-FFF2-40B4-BE49-F238E27FC236}">
                <a16:creationId xmlns:a16="http://schemas.microsoft.com/office/drawing/2014/main" id="{F50DF00D-7B89-7760-AF5C-1E79B0A47138}"/>
              </a:ext>
            </a:extLst>
          </p:cNvPr>
          <p:cNvSpPr>
            <a:spLocks noGrp="1"/>
          </p:cNvSpPr>
          <p:nvPr>
            <p:ph type="body" sz="quarter" idx="24" hasCustomPrompt="1"/>
          </p:nvPr>
        </p:nvSpPr>
        <p:spPr>
          <a:xfrm>
            <a:off x="995359" y="3229089"/>
            <a:ext cx="3744000" cy="1908000"/>
          </a:xfrm>
        </p:spPr>
        <p:txBody>
          <a:bodyPr lIns="72000" tIns="0" rIns="72000" bIns="0"/>
          <a:lstStyle>
            <a:lvl1pPr>
              <a:defRPr/>
            </a:lvl1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2" name="Text Placeholder 49">
            <a:extLst>
              <a:ext uri="{FF2B5EF4-FFF2-40B4-BE49-F238E27FC236}">
                <a16:creationId xmlns:a16="http://schemas.microsoft.com/office/drawing/2014/main" id="{4469CFB2-5FE4-9EAB-47AC-25D236292C86}"/>
              </a:ext>
            </a:extLst>
          </p:cNvPr>
          <p:cNvSpPr>
            <a:spLocks noGrp="1"/>
          </p:cNvSpPr>
          <p:nvPr>
            <p:ph type="body" sz="quarter" idx="25" hasCustomPrompt="1"/>
          </p:nvPr>
        </p:nvSpPr>
        <p:spPr>
          <a:xfrm>
            <a:off x="4867057" y="3229089"/>
            <a:ext cx="3744000" cy="1908000"/>
          </a:xfrm>
        </p:spPr>
        <p:txBody>
          <a:bodyPr lIns="72000" tIns="0" rIns="72000" bIns="0"/>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9">
            <a:extLst>
              <a:ext uri="{FF2B5EF4-FFF2-40B4-BE49-F238E27FC236}">
                <a16:creationId xmlns:a16="http://schemas.microsoft.com/office/drawing/2014/main" id="{BFCFA09A-9464-4171-43CE-7F5C2D5C7CEE}"/>
              </a:ext>
            </a:extLst>
          </p:cNvPr>
          <p:cNvSpPr>
            <a:spLocks noGrp="1"/>
          </p:cNvSpPr>
          <p:nvPr>
            <p:ph type="body" sz="quarter" idx="28" hasCustomPrompt="1"/>
          </p:nvPr>
        </p:nvSpPr>
        <p:spPr>
          <a:xfrm>
            <a:off x="9027153" y="3587774"/>
            <a:ext cx="2163361" cy="1527339"/>
          </a:xfrm>
        </p:spPr>
        <p:txBody>
          <a:bodyPr lIns="72000" tIns="0" rIns="72000" bIns="0"/>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a:extLst>
              <a:ext uri="{FF2B5EF4-FFF2-40B4-BE49-F238E27FC236}">
                <a16:creationId xmlns:a16="http://schemas.microsoft.com/office/drawing/2014/main" id="{F5479DFB-AFC3-794E-DB0E-59EC39720CF9}"/>
              </a:ext>
            </a:extLst>
          </p:cNvPr>
          <p:cNvSpPr>
            <a:spLocks noGrp="1"/>
          </p:cNvSpPr>
          <p:nvPr>
            <p:ph sz="quarter" idx="30" hasCustomPrompt="1"/>
          </p:nvPr>
        </p:nvSpPr>
        <p:spPr>
          <a:xfrm>
            <a:off x="9026746" y="1479127"/>
            <a:ext cx="2072020" cy="211198"/>
          </a:xfrm>
        </p:spPr>
        <p:txBody>
          <a:bodyPr lIns="72000"/>
          <a:lstStyle>
            <a:lvl1pPr>
              <a:defRPr sz="1000" b="1">
                <a:solidFill>
                  <a:schemeClr val="tx2"/>
                </a:solidFill>
              </a:defRPr>
            </a:lvl1pPr>
          </a:lstStyle>
          <a:p>
            <a:pPr lvl="0"/>
            <a:r>
              <a:rPr lang="en-US" dirty="0"/>
              <a:t>Click to add text</a:t>
            </a:r>
            <a:endParaRPr lang="en-IN" dirty="0"/>
          </a:p>
        </p:txBody>
      </p:sp>
      <p:sp>
        <p:nvSpPr>
          <p:cNvPr id="15" name="Text Placeholder 8">
            <a:extLst>
              <a:ext uri="{FF2B5EF4-FFF2-40B4-BE49-F238E27FC236}">
                <a16:creationId xmlns:a16="http://schemas.microsoft.com/office/drawing/2014/main" id="{FB8EE706-62B6-F755-0CB0-04E5A30D19E9}"/>
              </a:ext>
            </a:extLst>
          </p:cNvPr>
          <p:cNvSpPr>
            <a:spLocks noGrp="1"/>
          </p:cNvSpPr>
          <p:nvPr>
            <p:ph type="body" sz="quarter" idx="55" hasCustomPrompt="1"/>
          </p:nvPr>
        </p:nvSpPr>
        <p:spPr>
          <a:xfrm>
            <a:off x="995360" y="5199303"/>
            <a:ext cx="33012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8">
            <a:extLst>
              <a:ext uri="{FF2B5EF4-FFF2-40B4-BE49-F238E27FC236}">
                <a16:creationId xmlns:a16="http://schemas.microsoft.com/office/drawing/2014/main" id="{051C3FEB-146A-1599-AC81-8CBA8CDE2537}"/>
              </a:ext>
            </a:extLst>
          </p:cNvPr>
          <p:cNvSpPr>
            <a:spLocks noGrp="1"/>
          </p:cNvSpPr>
          <p:nvPr>
            <p:ph type="body" sz="quarter" idx="57" hasCustomPrompt="1"/>
          </p:nvPr>
        </p:nvSpPr>
        <p:spPr>
          <a:xfrm>
            <a:off x="4867057" y="5199303"/>
            <a:ext cx="33012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8" name="Text Placeholder 25">
            <a:extLst>
              <a:ext uri="{FF2B5EF4-FFF2-40B4-BE49-F238E27FC236}">
                <a16:creationId xmlns:a16="http://schemas.microsoft.com/office/drawing/2014/main" id="{AC0BC2CD-008E-ACF3-EA4C-0B2B363ACAD9}"/>
              </a:ext>
            </a:extLst>
          </p:cNvPr>
          <p:cNvSpPr>
            <a:spLocks noGrp="1"/>
          </p:cNvSpPr>
          <p:nvPr>
            <p:ph type="body" sz="quarter" idx="58" hasCustomPrompt="1"/>
          </p:nvPr>
        </p:nvSpPr>
        <p:spPr>
          <a:xfrm>
            <a:off x="995359" y="1335600"/>
            <a:ext cx="3744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46C11BDE-10BC-A579-C939-88073F5CAD80}"/>
              </a:ext>
            </a:extLst>
          </p:cNvPr>
          <p:cNvSpPr>
            <a:spLocks noGrp="1"/>
          </p:cNvSpPr>
          <p:nvPr>
            <p:ph type="body" sz="quarter" idx="59" hasCustomPrompt="1"/>
          </p:nvPr>
        </p:nvSpPr>
        <p:spPr>
          <a:xfrm>
            <a:off x="4866683" y="1335600"/>
            <a:ext cx="3744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4" name="Text Placeholder 11">
            <a:extLst>
              <a:ext uri="{FF2B5EF4-FFF2-40B4-BE49-F238E27FC236}">
                <a16:creationId xmlns:a16="http://schemas.microsoft.com/office/drawing/2014/main" id="{A0BA213D-160A-9DC7-56CE-B2795901C2AC}"/>
              </a:ext>
            </a:extLst>
          </p:cNvPr>
          <p:cNvSpPr>
            <a:spLocks noGrp="1"/>
          </p:cNvSpPr>
          <p:nvPr>
            <p:ph type="body" sz="quarter" idx="54" hasCustomPrompt="1"/>
          </p:nvPr>
        </p:nvSpPr>
        <p:spPr>
          <a:xfrm>
            <a:off x="42965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6" name="Text Placeholder 11">
            <a:extLst>
              <a:ext uri="{FF2B5EF4-FFF2-40B4-BE49-F238E27FC236}">
                <a16:creationId xmlns:a16="http://schemas.microsoft.com/office/drawing/2014/main" id="{748EAB9A-0A97-50AE-1B4C-59AA6BFB8C0E}"/>
              </a:ext>
            </a:extLst>
          </p:cNvPr>
          <p:cNvSpPr>
            <a:spLocks noGrp="1"/>
          </p:cNvSpPr>
          <p:nvPr>
            <p:ph type="body" sz="quarter" idx="56" hasCustomPrompt="1"/>
          </p:nvPr>
        </p:nvSpPr>
        <p:spPr>
          <a:xfrm>
            <a:off x="8168257"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1011207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Key findings_1 text only +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59" y="1335600"/>
            <a:ext cx="10204453"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bwMode="white">
          <a:xfrm>
            <a:off x="995359" y="1335600"/>
            <a:ext cx="10190735" cy="252000"/>
          </a:xfrm>
        </p:spPr>
        <p:txBody>
          <a:bodyPr lIns="72000" tIns="36000" rIns="72000" bIns="36000" anchor="ctr" anchorCtr="0"/>
          <a:lstStyle>
            <a:lvl1pPr>
              <a:defRPr sz="1000" b="1">
                <a:solidFill>
                  <a:schemeClr val="bg1"/>
                </a:solidFill>
              </a:defRPr>
            </a:lvl1pPr>
          </a:lstStyle>
          <a:p>
            <a:pPr lvl="0"/>
            <a:r>
              <a:rPr lang="en-US" dirty="0"/>
              <a:t>Click to add the heading</a:t>
            </a:r>
          </a:p>
        </p:txBody>
      </p:sp>
      <p:sp>
        <p:nvSpPr>
          <p:cNvPr id="6" name="Text Placeholder 11">
            <a:extLst>
              <a:ext uri="{FF2B5EF4-FFF2-40B4-BE49-F238E27FC236}">
                <a16:creationId xmlns:a16="http://schemas.microsoft.com/office/drawing/2014/main" id="{7F43AEEA-3F72-5AB4-98C1-90950442B279}"/>
              </a:ext>
            </a:extLst>
          </p:cNvPr>
          <p:cNvSpPr>
            <a:spLocks noGrp="1"/>
          </p:cNvSpPr>
          <p:nvPr>
            <p:ph type="body" sz="quarter" idx="52" hasCustomPrompt="1"/>
          </p:nvPr>
        </p:nvSpPr>
        <p:spPr>
          <a:xfrm>
            <a:off x="10757012"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9" name="Text Placeholder 8">
            <a:extLst>
              <a:ext uri="{FF2B5EF4-FFF2-40B4-BE49-F238E27FC236}">
                <a16:creationId xmlns:a16="http://schemas.microsoft.com/office/drawing/2014/main" id="{E8ED8361-E94D-B7EA-CBCB-A1B668FA22AA}"/>
              </a:ext>
            </a:extLst>
          </p:cNvPr>
          <p:cNvSpPr>
            <a:spLocks noGrp="1"/>
          </p:cNvSpPr>
          <p:nvPr>
            <p:ph type="body" sz="quarter" idx="53" hasCustomPrompt="1"/>
          </p:nvPr>
        </p:nvSpPr>
        <p:spPr>
          <a:xfrm>
            <a:off x="995359" y="5199303"/>
            <a:ext cx="9761653"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1" name="Text Placeholder 6">
            <a:extLst>
              <a:ext uri="{FF2B5EF4-FFF2-40B4-BE49-F238E27FC236}">
                <a16:creationId xmlns:a16="http://schemas.microsoft.com/office/drawing/2014/main" id="{7EF398C3-DC80-5372-3F76-FD4B56677047}"/>
              </a:ext>
            </a:extLst>
          </p:cNvPr>
          <p:cNvSpPr>
            <a:spLocks noGrp="1"/>
          </p:cNvSpPr>
          <p:nvPr>
            <p:ph type="body" sz="quarter" idx="23" hasCustomPrompt="1"/>
          </p:nvPr>
        </p:nvSpPr>
        <p:spPr>
          <a:xfrm>
            <a:off x="995359" y="1657990"/>
            <a:ext cx="5036400" cy="347142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6">
            <a:extLst>
              <a:ext uri="{FF2B5EF4-FFF2-40B4-BE49-F238E27FC236}">
                <a16:creationId xmlns:a16="http://schemas.microsoft.com/office/drawing/2014/main" id="{2C4F88D1-1CC4-AF86-460C-BB82D868CC07}"/>
              </a:ext>
            </a:extLst>
          </p:cNvPr>
          <p:cNvSpPr>
            <a:spLocks noGrp="1"/>
          </p:cNvSpPr>
          <p:nvPr>
            <p:ph type="body" sz="quarter" idx="24" hasCustomPrompt="1"/>
          </p:nvPr>
        </p:nvSpPr>
        <p:spPr>
          <a:xfrm>
            <a:off x="6149694" y="1657990"/>
            <a:ext cx="5036400" cy="347142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57193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FINDINGS 1_1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Text Placeholder 25">
            <a:extLst>
              <a:ext uri="{FF2B5EF4-FFF2-40B4-BE49-F238E27FC236}">
                <a16:creationId xmlns:a16="http://schemas.microsoft.com/office/drawing/2014/main" id="{0CAE8600-A3D2-0217-D89F-B57022DDE720}"/>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 name="Text Placeholder 8">
            <a:extLst>
              <a:ext uri="{FF2B5EF4-FFF2-40B4-BE49-F238E27FC236}">
                <a16:creationId xmlns:a16="http://schemas.microsoft.com/office/drawing/2014/main" id="{136511E3-EA15-692F-B8C9-1C78FEC96814}"/>
              </a:ext>
            </a:extLst>
          </p:cNvPr>
          <p:cNvSpPr>
            <a:spLocks noGrp="1"/>
          </p:cNvSpPr>
          <p:nvPr>
            <p:ph type="body" sz="quarter" idx="23"/>
          </p:nvPr>
        </p:nvSpPr>
        <p:spPr>
          <a:xfrm>
            <a:off x="995359" y="1657990"/>
            <a:ext cx="5036400" cy="3471628"/>
          </a:xfrm>
        </p:spPr>
        <p:txBody>
          <a:bodyPr lIns="72000"/>
          <a:lstStyle/>
          <a:p>
            <a:pPr lvl="0"/>
            <a:r>
              <a:rPr lang="en-US"/>
              <a:t>Click to edit Master text styles</a:t>
            </a:r>
          </a:p>
        </p:txBody>
      </p:sp>
      <p:sp>
        <p:nvSpPr>
          <p:cNvPr id="5" name="Text Placeholder 8">
            <a:extLst>
              <a:ext uri="{FF2B5EF4-FFF2-40B4-BE49-F238E27FC236}">
                <a16:creationId xmlns:a16="http://schemas.microsoft.com/office/drawing/2014/main" id="{62BCF9FC-1265-ABB8-9BC3-491771E9EB9A}"/>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6" name="Text Placeholder 11">
            <a:extLst>
              <a:ext uri="{FF2B5EF4-FFF2-40B4-BE49-F238E27FC236}">
                <a16:creationId xmlns:a16="http://schemas.microsoft.com/office/drawing/2014/main" id="{E0383586-43A7-5AE6-3CA8-69A5E7E39050}"/>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39831929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FINDINGS 2_chart+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dirty="0"/>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5036400" cy="1494000"/>
          </a:xfrm>
        </p:spPr>
        <p:txBody>
          <a:bodyPr lIns="72000" tIns="0" rIns="72000" bIns="0"/>
          <a:lstStyle>
            <a:lvl1pPr>
              <a:defRPr sz="1000" b="1">
                <a:solidFill>
                  <a:schemeClr val="tx2"/>
                </a:solidFill>
              </a:defRPr>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157200" y="1657989"/>
            <a:ext cx="5036400" cy="1494000"/>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a:t>Insert table or chart here</a:t>
            </a:r>
          </a:p>
        </p:txBody>
      </p:sp>
      <p:sp>
        <p:nvSpPr>
          <p:cNvPr id="7" name="Text Placeholder 6">
            <a:extLst>
              <a:ext uri="{FF2B5EF4-FFF2-40B4-BE49-F238E27FC236}">
                <a16:creationId xmlns:a16="http://schemas.microsoft.com/office/drawing/2014/main" id="{3A753287-E89B-8500-867B-5B448555E895}"/>
              </a:ext>
            </a:extLst>
          </p:cNvPr>
          <p:cNvSpPr>
            <a:spLocks noGrp="1"/>
          </p:cNvSpPr>
          <p:nvPr>
            <p:ph type="body" sz="quarter" idx="23" hasCustomPrompt="1"/>
          </p:nvPr>
        </p:nvSpPr>
        <p:spPr>
          <a:xfrm>
            <a:off x="995359" y="3229089"/>
            <a:ext cx="50364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B222B5FE-0300-89DA-80FA-10373F456EBE}"/>
              </a:ext>
            </a:extLst>
          </p:cNvPr>
          <p:cNvSpPr>
            <a:spLocks noGrp="1"/>
          </p:cNvSpPr>
          <p:nvPr>
            <p:ph type="body" sz="quarter" idx="24" hasCustomPrompt="1"/>
          </p:nvPr>
        </p:nvSpPr>
        <p:spPr>
          <a:xfrm>
            <a:off x="6157200" y="3229089"/>
            <a:ext cx="50364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25">
            <a:extLst>
              <a:ext uri="{FF2B5EF4-FFF2-40B4-BE49-F238E27FC236}">
                <a16:creationId xmlns:a16="http://schemas.microsoft.com/office/drawing/2014/main" id="{921F3564-406E-3EF5-3740-DBE48C9094BA}"/>
              </a:ext>
            </a:extLst>
          </p:cNvPr>
          <p:cNvSpPr>
            <a:spLocks noGrp="1"/>
          </p:cNvSpPr>
          <p:nvPr>
            <p:ph type="body" sz="quarter" idx="11" hasCustomPrompt="1"/>
          </p:nvPr>
        </p:nvSpPr>
        <p:spPr>
          <a:xfrm>
            <a:off x="6157200"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6" name="Text Placeholder 25">
            <a:extLst>
              <a:ext uri="{FF2B5EF4-FFF2-40B4-BE49-F238E27FC236}">
                <a16:creationId xmlns:a16="http://schemas.microsoft.com/office/drawing/2014/main" id="{8EC32F77-3BB3-65CD-9316-211F3E4016DC}"/>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3" name="Text Placeholder 8">
            <a:extLst>
              <a:ext uri="{FF2B5EF4-FFF2-40B4-BE49-F238E27FC236}">
                <a16:creationId xmlns:a16="http://schemas.microsoft.com/office/drawing/2014/main" id="{2D56E2A5-4876-0C93-89D7-7C6809212D2E}"/>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4" name="Text Placeholder 8">
            <a:extLst>
              <a:ext uri="{FF2B5EF4-FFF2-40B4-BE49-F238E27FC236}">
                <a16:creationId xmlns:a16="http://schemas.microsoft.com/office/drawing/2014/main" id="{1828462E-0366-0E0E-9D4F-6DD2F5BD340D}"/>
              </a:ext>
            </a:extLst>
          </p:cNvPr>
          <p:cNvSpPr>
            <a:spLocks noGrp="1"/>
          </p:cNvSpPr>
          <p:nvPr>
            <p:ph type="body" sz="quarter" idx="56" hasCustomPrompt="1"/>
          </p:nvPr>
        </p:nvSpPr>
        <p:spPr>
          <a:xfrm>
            <a:off x="6157200"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9" name="Text Placeholder 11">
            <a:extLst>
              <a:ext uri="{FF2B5EF4-FFF2-40B4-BE49-F238E27FC236}">
                <a16:creationId xmlns:a16="http://schemas.microsoft.com/office/drawing/2014/main" id="{D84AB1C2-6CA0-3C6D-C22D-D8A4EE34819C}"/>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0" name="Text Placeholder 11">
            <a:extLst>
              <a:ext uri="{FF2B5EF4-FFF2-40B4-BE49-F238E27FC236}">
                <a16:creationId xmlns:a16="http://schemas.microsoft.com/office/drawing/2014/main" id="{D1BE9810-3FEB-8052-539E-CBB1F5703B90}"/>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55932092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KEY FINDINGS 2_text only">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C48675D7-6079-FC69-CF9F-EA8E989361A1}"/>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13" name="Text Placeholder 8">
            <a:extLst>
              <a:ext uri="{FF2B5EF4-FFF2-40B4-BE49-F238E27FC236}">
                <a16:creationId xmlns:a16="http://schemas.microsoft.com/office/drawing/2014/main" id="{944F043F-D4C7-2653-D3BF-77B6764CE575}"/>
              </a:ext>
            </a:extLst>
          </p:cNvPr>
          <p:cNvSpPr>
            <a:spLocks noGrp="1"/>
          </p:cNvSpPr>
          <p:nvPr>
            <p:ph type="body" sz="quarter" idx="56" hasCustomPrompt="1"/>
          </p:nvPr>
        </p:nvSpPr>
        <p:spPr>
          <a:xfrm>
            <a:off x="6161606"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5" name="Text Placeholder 6">
            <a:extLst>
              <a:ext uri="{FF2B5EF4-FFF2-40B4-BE49-F238E27FC236}">
                <a16:creationId xmlns:a16="http://schemas.microsoft.com/office/drawing/2014/main" id="{B2EB0A83-0AFB-AFC6-6AE4-69CA3B98BE65}"/>
              </a:ext>
            </a:extLst>
          </p:cNvPr>
          <p:cNvSpPr>
            <a:spLocks noGrp="1"/>
          </p:cNvSpPr>
          <p:nvPr>
            <p:ph type="body" sz="quarter" idx="23" hasCustomPrompt="1"/>
          </p:nvPr>
        </p:nvSpPr>
        <p:spPr>
          <a:xfrm>
            <a:off x="995359" y="1657989"/>
            <a:ext cx="5036400" cy="346848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6">
            <a:extLst>
              <a:ext uri="{FF2B5EF4-FFF2-40B4-BE49-F238E27FC236}">
                <a16:creationId xmlns:a16="http://schemas.microsoft.com/office/drawing/2014/main" id="{47D5E132-AB87-728A-3964-25306B1C7529}"/>
              </a:ext>
            </a:extLst>
          </p:cNvPr>
          <p:cNvSpPr>
            <a:spLocks noGrp="1"/>
          </p:cNvSpPr>
          <p:nvPr>
            <p:ph type="body" sz="quarter" idx="24" hasCustomPrompt="1"/>
          </p:nvPr>
        </p:nvSpPr>
        <p:spPr>
          <a:xfrm>
            <a:off x="6161606" y="1657989"/>
            <a:ext cx="5036400" cy="346848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25">
            <a:extLst>
              <a:ext uri="{FF2B5EF4-FFF2-40B4-BE49-F238E27FC236}">
                <a16:creationId xmlns:a16="http://schemas.microsoft.com/office/drawing/2014/main" id="{85A59295-0494-DBE8-E861-075D3E5B2ADB}"/>
              </a:ext>
            </a:extLst>
          </p:cNvPr>
          <p:cNvSpPr>
            <a:spLocks noGrp="1"/>
          </p:cNvSpPr>
          <p:nvPr>
            <p:ph type="body" sz="quarter" idx="11" hasCustomPrompt="1"/>
          </p:nvPr>
        </p:nvSpPr>
        <p:spPr>
          <a:xfrm>
            <a:off x="6161606"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8" name="Text Placeholder 25">
            <a:extLst>
              <a:ext uri="{FF2B5EF4-FFF2-40B4-BE49-F238E27FC236}">
                <a16:creationId xmlns:a16="http://schemas.microsoft.com/office/drawing/2014/main" id="{1682DD76-2A91-3F5B-9F43-064F1DC69DA6}"/>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11">
            <a:extLst>
              <a:ext uri="{FF2B5EF4-FFF2-40B4-BE49-F238E27FC236}">
                <a16:creationId xmlns:a16="http://schemas.microsoft.com/office/drawing/2014/main" id="{DAAF6AF2-62D4-9ADA-2C92-D42EA21FC6FB}"/>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2" name="Text Placeholder 11">
            <a:extLst>
              <a:ext uri="{FF2B5EF4-FFF2-40B4-BE49-F238E27FC236}">
                <a16:creationId xmlns:a16="http://schemas.microsoft.com/office/drawing/2014/main" id="{F1F21460-9B00-FC5B-5453-8ADF1AFD70A2}"/>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13854416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FINDINGS 3_chart+tex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E65C770-2457-4A1D-87B9-F6DF32654B4F}"/>
              </a:ext>
            </a:extLst>
          </p:cNvPr>
          <p:cNvGraphicFramePr>
            <a:graphicFrameLocks noChangeAspect="1"/>
          </p:cNvGraphicFramePr>
          <p:nvPr userDrawn="1">
            <p:custDataLst>
              <p:tags r:id="rId1"/>
            </p:custDataLst>
            <p:extLst>
              <p:ext uri="{D42A27DB-BD31-4B8C-83A1-F6EECF244321}">
                <p14:modId xmlns:p14="http://schemas.microsoft.com/office/powerpoint/2010/main" val="178126854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E65C770-2457-4A1D-87B9-F6DF32654B4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3312000" cy="1494000"/>
          </a:xfrm>
        </p:spPr>
        <p:txBody>
          <a:bodyPr lIns="72000" tIns="0" rIns="72000" bIns="0"/>
          <a:lstStyle>
            <a:lvl1pPr>
              <a:defRPr sz="1000" b="1">
                <a:solidFill>
                  <a:schemeClr val="tx2"/>
                </a:solidFill>
              </a:defRPr>
            </a:lvl1pPr>
          </a:lstStyle>
          <a:p>
            <a:r>
              <a:rPr lang="fi-FI"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7891413" y="1657989"/>
            <a:ext cx="3312000" cy="1494000"/>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a:t>Insert table or chart here</a:t>
            </a:r>
          </a:p>
        </p:txBody>
      </p:sp>
      <p:sp>
        <p:nvSpPr>
          <p:cNvPr id="29" name="Chart Placeholder 16">
            <a:extLst>
              <a:ext uri="{FF2B5EF4-FFF2-40B4-BE49-F238E27FC236}">
                <a16:creationId xmlns:a16="http://schemas.microsoft.com/office/drawing/2014/main" id="{6BB064CA-A0CE-4B7D-B389-29E7029BFE77}"/>
              </a:ext>
            </a:extLst>
          </p:cNvPr>
          <p:cNvSpPr>
            <a:spLocks noGrp="1"/>
          </p:cNvSpPr>
          <p:nvPr>
            <p:ph type="chart" sz="quarter" idx="21" hasCustomPrompt="1"/>
          </p:nvPr>
        </p:nvSpPr>
        <p:spPr>
          <a:xfrm>
            <a:off x="4443386" y="1657989"/>
            <a:ext cx="3312000" cy="1494000"/>
          </a:xfrm>
        </p:spPr>
        <p:txBody>
          <a:bodyPr lIns="72000" tIns="0" rIns="72000" bIns="0"/>
          <a:lstStyle>
            <a:lvl1pPr>
              <a:defRPr sz="1000" b="1">
                <a:solidFill>
                  <a:schemeClr val="tx2"/>
                </a:solidFill>
              </a:defRPr>
            </a:lvl1pPr>
          </a:lstStyle>
          <a:p>
            <a:r>
              <a:rPr lang="fi-FI" dirty="0"/>
              <a:t>Insert table or chart here</a:t>
            </a:r>
          </a:p>
        </p:txBody>
      </p:sp>
      <p:sp>
        <p:nvSpPr>
          <p:cNvPr id="7" name="Text Placeholder 6">
            <a:extLst>
              <a:ext uri="{FF2B5EF4-FFF2-40B4-BE49-F238E27FC236}">
                <a16:creationId xmlns:a16="http://schemas.microsoft.com/office/drawing/2014/main" id="{6C8BC493-EF52-4A41-E9E0-2D1A17A18364}"/>
              </a:ext>
            </a:extLst>
          </p:cNvPr>
          <p:cNvSpPr>
            <a:spLocks noGrp="1"/>
          </p:cNvSpPr>
          <p:nvPr>
            <p:ph type="body" sz="quarter" idx="25" hasCustomPrompt="1"/>
          </p:nvPr>
        </p:nvSpPr>
        <p:spPr>
          <a:xfrm>
            <a:off x="995359"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A1F0E812-4F5D-D6CF-E794-9BF4B7C1F41C}"/>
              </a:ext>
            </a:extLst>
          </p:cNvPr>
          <p:cNvSpPr>
            <a:spLocks noGrp="1"/>
          </p:cNvSpPr>
          <p:nvPr>
            <p:ph type="body" sz="quarter" idx="26" hasCustomPrompt="1"/>
          </p:nvPr>
        </p:nvSpPr>
        <p:spPr>
          <a:xfrm>
            <a:off x="4443386"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A7EC4B40-5E94-E627-7F64-6A50B22B83F2}"/>
              </a:ext>
            </a:extLst>
          </p:cNvPr>
          <p:cNvSpPr>
            <a:spLocks noGrp="1"/>
          </p:cNvSpPr>
          <p:nvPr>
            <p:ph type="body" sz="quarter" idx="27" hasCustomPrompt="1"/>
          </p:nvPr>
        </p:nvSpPr>
        <p:spPr>
          <a:xfrm>
            <a:off x="7891413"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8">
            <a:extLst>
              <a:ext uri="{FF2B5EF4-FFF2-40B4-BE49-F238E27FC236}">
                <a16:creationId xmlns:a16="http://schemas.microsoft.com/office/drawing/2014/main" id="{2CEEFF99-CF8D-1494-F9AA-AC9EB5DB2F71}"/>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4" name="Text Placeholder 11">
            <a:extLst>
              <a:ext uri="{FF2B5EF4-FFF2-40B4-BE49-F238E27FC236}">
                <a16:creationId xmlns:a16="http://schemas.microsoft.com/office/drawing/2014/main" id="{6DBC38AF-F690-4515-3C08-B950F322FEE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5" name="Text Placeholder 8">
            <a:extLst>
              <a:ext uri="{FF2B5EF4-FFF2-40B4-BE49-F238E27FC236}">
                <a16:creationId xmlns:a16="http://schemas.microsoft.com/office/drawing/2014/main" id="{5D8A3BF5-269F-B54B-B331-77B38BC7238F}"/>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11">
            <a:extLst>
              <a:ext uri="{FF2B5EF4-FFF2-40B4-BE49-F238E27FC236}">
                <a16:creationId xmlns:a16="http://schemas.microsoft.com/office/drawing/2014/main" id="{A81E12A1-B92C-C45A-35CD-6EB3402261B8}"/>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5" name="Text Placeholder 8">
            <a:extLst>
              <a:ext uri="{FF2B5EF4-FFF2-40B4-BE49-F238E27FC236}">
                <a16:creationId xmlns:a16="http://schemas.microsoft.com/office/drawing/2014/main" id="{32FD5C31-DBC9-5675-1003-433F2D23A15B}"/>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7" name="Text Placeholder 11">
            <a:extLst>
              <a:ext uri="{FF2B5EF4-FFF2-40B4-BE49-F238E27FC236}">
                <a16:creationId xmlns:a16="http://schemas.microsoft.com/office/drawing/2014/main" id="{3BE5B118-40E6-A6F1-925B-8E52D87D7299}"/>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39" name="Text Placeholder 25">
            <a:extLst>
              <a:ext uri="{FF2B5EF4-FFF2-40B4-BE49-F238E27FC236}">
                <a16:creationId xmlns:a16="http://schemas.microsoft.com/office/drawing/2014/main" id="{223F8258-A126-F540-A91A-93365138513F}"/>
              </a:ext>
            </a:extLst>
          </p:cNvPr>
          <p:cNvSpPr>
            <a:spLocks noGrp="1"/>
          </p:cNvSpPr>
          <p:nvPr>
            <p:ph type="body" sz="quarter" idx="64"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0" name="Text Placeholder 25">
            <a:extLst>
              <a:ext uri="{FF2B5EF4-FFF2-40B4-BE49-F238E27FC236}">
                <a16:creationId xmlns:a16="http://schemas.microsoft.com/office/drawing/2014/main" id="{9727116C-19F1-AAE0-E75C-3E5EF0A31A24}"/>
              </a:ext>
            </a:extLst>
          </p:cNvPr>
          <p:cNvSpPr>
            <a:spLocks noGrp="1"/>
          </p:cNvSpPr>
          <p:nvPr>
            <p:ph type="body" sz="quarter" idx="65" hasCustomPrompt="1"/>
          </p:nvPr>
        </p:nvSpPr>
        <p:spPr>
          <a:xfrm>
            <a:off x="4442400"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1" name="Text Placeholder 25">
            <a:extLst>
              <a:ext uri="{FF2B5EF4-FFF2-40B4-BE49-F238E27FC236}">
                <a16:creationId xmlns:a16="http://schemas.microsoft.com/office/drawing/2014/main" id="{3C801C07-06B0-0F3E-B1C4-AD95E673867D}"/>
              </a:ext>
            </a:extLst>
          </p:cNvPr>
          <p:cNvSpPr>
            <a:spLocks noGrp="1"/>
          </p:cNvSpPr>
          <p:nvPr>
            <p:ph type="body" sz="quarter" idx="66"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Tree>
    <p:extLst>
      <p:ext uri="{BB962C8B-B14F-4D97-AF65-F5344CB8AC3E}">
        <p14:creationId xmlns:p14="http://schemas.microsoft.com/office/powerpoint/2010/main" val="42545620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FINDINGS 3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13" name="Text Placeholder 6">
            <a:extLst>
              <a:ext uri="{FF2B5EF4-FFF2-40B4-BE49-F238E27FC236}">
                <a16:creationId xmlns:a16="http://schemas.microsoft.com/office/drawing/2014/main" id="{08DBA324-C317-5249-07B6-E16DAD9EF2E7}"/>
              </a:ext>
            </a:extLst>
          </p:cNvPr>
          <p:cNvSpPr>
            <a:spLocks noGrp="1"/>
          </p:cNvSpPr>
          <p:nvPr>
            <p:ph type="body" sz="quarter" idx="25" hasCustomPrompt="1"/>
          </p:nvPr>
        </p:nvSpPr>
        <p:spPr>
          <a:xfrm>
            <a:off x="995359" y="1657990"/>
            <a:ext cx="3312000" cy="3466072"/>
          </a:xfrm>
        </p:spPr>
        <p:txBody>
          <a:bodyPr lIns="72000" tIns="0" rIns="72000" bIns="0"/>
          <a:lstStyle>
            <a:lvl5pPr>
              <a:defRPr/>
            </a:lvl5pPr>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 </a:t>
            </a:r>
            <a:endParaRPr lang="en-IN" dirty="0"/>
          </a:p>
        </p:txBody>
      </p:sp>
      <p:sp>
        <p:nvSpPr>
          <p:cNvPr id="14" name="Text Placeholder 6">
            <a:extLst>
              <a:ext uri="{FF2B5EF4-FFF2-40B4-BE49-F238E27FC236}">
                <a16:creationId xmlns:a16="http://schemas.microsoft.com/office/drawing/2014/main" id="{980D1D3E-9800-C183-99E6-9FDE07F90EB9}"/>
              </a:ext>
            </a:extLst>
          </p:cNvPr>
          <p:cNvSpPr>
            <a:spLocks noGrp="1"/>
          </p:cNvSpPr>
          <p:nvPr>
            <p:ph type="body" sz="quarter" idx="26" hasCustomPrompt="1"/>
          </p:nvPr>
        </p:nvSpPr>
        <p:spPr>
          <a:xfrm>
            <a:off x="4442400" y="1657990"/>
            <a:ext cx="3312000" cy="346607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Text Placeholder 6">
            <a:extLst>
              <a:ext uri="{FF2B5EF4-FFF2-40B4-BE49-F238E27FC236}">
                <a16:creationId xmlns:a16="http://schemas.microsoft.com/office/drawing/2014/main" id="{C9128EB3-1C88-3489-060F-C9D2186EE1D5}"/>
              </a:ext>
            </a:extLst>
          </p:cNvPr>
          <p:cNvSpPr>
            <a:spLocks noGrp="1"/>
          </p:cNvSpPr>
          <p:nvPr>
            <p:ph type="body" sz="quarter" idx="27" hasCustomPrompt="1"/>
          </p:nvPr>
        </p:nvSpPr>
        <p:spPr>
          <a:xfrm>
            <a:off x="7890824" y="1657990"/>
            <a:ext cx="3312589" cy="346607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25">
            <a:extLst>
              <a:ext uri="{FF2B5EF4-FFF2-40B4-BE49-F238E27FC236}">
                <a16:creationId xmlns:a16="http://schemas.microsoft.com/office/drawing/2014/main" id="{066D155A-171C-D9DD-6CEE-84DBA58CFBF1}"/>
              </a:ext>
            </a:extLst>
          </p:cNvPr>
          <p:cNvSpPr>
            <a:spLocks noGrp="1"/>
          </p:cNvSpPr>
          <p:nvPr>
            <p:ph type="body" sz="quarter" idx="64"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6" name="Text Placeholder 25">
            <a:extLst>
              <a:ext uri="{FF2B5EF4-FFF2-40B4-BE49-F238E27FC236}">
                <a16:creationId xmlns:a16="http://schemas.microsoft.com/office/drawing/2014/main" id="{BABE4A9D-78BD-C5FF-F61D-DE5BB4B75399}"/>
              </a:ext>
            </a:extLst>
          </p:cNvPr>
          <p:cNvSpPr>
            <a:spLocks noGrp="1"/>
          </p:cNvSpPr>
          <p:nvPr>
            <p:ph type="body" sz="quarter" idx="66"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5" name="Text Placeholder 25">
            <a:extLst>
              <a:ext uri="{FF2B5EF4-FFF2-40B4-BE49-F238E27FC236}">
                <a16:creationId xmlns:a16="http://schemas.microsoft.com/office/drawing/2014/main" id="{8A277E93-2999-45E6-684B-C25E1BB8A8DE}"/>
              </a:ext>
            </a:extLst>
          </p:cNvPr>
          <p:cNvSpPr>
            <a:spLocks noGrp="1"/>
          </p:cNvSpPr>
          <p:nvPr>
            <p:ph type="body" sz="quarter" idx="65" hasCustomPrompt="1"/>
          </p:nvPr>
        </p:nvSpPr>
        <p:spPr>
          <a:xfrm>
            <a:off x="4442400"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8">
            <a:extLst>
              <a:ext uri="{FF2B5EF4-FFF2-40B4-BE49-F238E27FC236}">
                <a16:creationId xmlns:a16="http://schemas.microsoft.com/office/drawing/2014/main" id="{77C010D4-1862-D147-690F-A9B8A98FE876}"/>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2" name="Text Placeholder 11">
            <a:extLst>
              <a:ext uri="{FF2B5EF4-FFF2-40B4-BE49-F238E27FC236}">
                <a16:creationId xmlns:a16="http://schemas.microsoft.com/office/drawing/2014/main" id="{3043222A-4566-478B-EE7C-854BF6D303C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6" name="Text Placeholder 8">
            <a:extLst>
              <a:ext uri="{FF2B5EF4-FFF2-40B4-BE49-F238E27FC236}">
                <a16:creationId xmlns:a16="http://schemas.microsoft.com/office/drawing/2014/main" id="{D5E9EFD4-163C-3CF3-B5DE-ADEF0C8EB03C}"/>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7" name="Text Placeholder 11">
            <a:extLst>
              <a:ext uri="{FF2B5EF4-FFF2-40B4-BE49-F238E27FC236}">
                <a16:creationId xmlns:a16="http://schemas.microsoft.com/office/drawing/2014/main" id="{9F202F67-7B71-81A8-1665-6A930E3955C1}"/>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8" name="Text Placeholder 8">
            <a:extLst>
              <a:ext uri="{FF2B5EF4-FFF2-40B4-BE49-F238E27FC236}">
                <a16:creationId xmlns:a16="http://schemas.microsoft.com/office/drawing/2014/main" id="{0033DB1B-6496-F3E2-7B44-B642B67979D7}"/>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11">
            <a:extLst>
              <a:ext uri="{FF2B5EF4-FFF2-40B4-BE49-F238E27FC236}">
                <a16:creationId xmlns:a16="http://schemas.microsoft.com/office/drawing/2014/main" id="{92605E5B-73F3-E01C-5599-AA948C5330E0}"/>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65281198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FINDINGS 6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110" name="Text Placeholder 6">
            <a:extLst>
              <a:ext uri="{FF2B5EF4-FFF2-40B4-BE49-F238E27FC236}">
                <a16:creationId xmlns:a16="http://schemas.microsoft.com/office/drawing/2014/main" id="{15C464CC-6A33-CEAE-2AE6-B78E4B028835}"/>
              </a:ext>
            </a:extLst>
          </p:cNvPr>
          <p:cNvSpPr>
            <a:spLocks noGrp="1"/>
          </p:cNvSpPr>
          <p:nvPr>
            <p:ph type="body" sz="quarter" idx="25" hasCustomPrompt="1"/>
          </p:nvPr>
        </p:nvSpPr>
        <p:spPr>
          <a:xfrm>
            <a:off x="995359"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1" name="Text Placeholder 6">
            <a:extLst>
              <a:ext uri="{FF2B5EF4-FFF2-40B4-BE49-F238E27FC236}">
                <a16:creationId xmlns:a16="http://schemas.microsoft.com/office/drawing/2014/main" id="{13FAAF33-2726-F94B-086D-720ED8A1C9E5}"/>
              </a:ext>
            </a:extLst>
          </p:cNvPr>
          <p:cNvSpPr>
            <a:spLocks noGrp="1"/>
          </p:cNvSpPr>
          <p:nvPr>
            <p:ph type="body" sz="quarter" idx="26" hasCustomPrompt="1"/>
          </p:nvPr>
        </p:nvSpPr>
        <p:spPr>
          <a:xfrm>
            <a:off x="4443386"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2" name="Text Placeholder 6">
            <a:extLst>
              <a:ext uri="{FF2B5EF4-FFF2-40B4-BE49-F238E27FC236}">
                <a16:creationId xmlns:a16="http://schemas.microsoft.com/office/drawing/2014/main" id="{D911B967-EB03-B200-2872-DB8F92D80EBB}"/>
              </a:ext>
            </a:extLst>
          </p:cNvPr>
          <p:cNvSpPr>
            <a:spLocks noGrp="1"/>
          </p:cNvSpPr>
          <p:nvPr>
            <p:ph type="body" sz="quarter" idx="27" hasCustomPrompt="1"/>
          </p:nvPr>
        </p:nvSpPr>
        <p:spPr>
          <a:xfrm>
            <a:off x="7891413"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3" name="Text Placeholder 6">
            <a:extLst>
              <a:ext uri="{FF2B5EF4-FFF2-40B4-BE49-F238E27FC236}">
                <a16:creationId xmlns:a16="http://schemas.microsoft.com/office/drawing/2014/main" id="{2F9F379B-EA73-56D4-7BEF-A86EA7A0F5DA}"/>
              </a:ext>
            </a:extLst>
          </p:cNvPr>
          <p:cNvSpPr>
            <a:spLocks noGrp="1"/>
          </p:cNvSpPr>
          <p:nvPr>
            <p:ph type="body" sz="quarter" idx="79" hasCustomPrompt="1"/>
          </p:nvPr>
        </p:nvSpPr>
        <p:spPr>
          <a:xfrm>
            <a:off x="995359"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4" name="Text Placeholder 6">
            <a:extLst>
              <a:ext uri="{FF2B5EF4-FFF2-40B4-BE49-F238E27FC236}">
                <a16:creationId xmlns:a16="http://schemas.microsoft.com/office/drawing/2014/main" id="{6E71EA3F-FFAA-5B10-27C5-0749B6B72F45}"/>
              </a:ext>
            </a:extLst>
          </p:cNvPr>
          <p:cNvSpPr>
            <a:spLocks noGrp="1"/>
          </p:cNvSpPr>
          <p:nvPr>
            <p:ph type="body" sz="quarter" idx="80" hasCustomPrompt="1"/>
          </p:nvPr>
        </p:nvSpPr>
        <p:spPr>
          <a:xfrm>
            <a:off x="4443386"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5" name="Text Placeholder 6">
            <a:extLst>
              <a:ext uri="{FF2B5EF4-FFF2-40B4-BE49-F238E27FC236}">
                <a16:creationId xmlns:a16="http://schemas.microsoft.com/office/drawing/2014/main" id="{C2334E16-6735-FAE0-4EE4-2A84AF3A465D}"/>
              </a:ext>
            </a:extLst>
          </p:cNvPr>
          <p:cNvSpPr>
            <a:spLocks noGrp="1"/>
          </p:cNvSpPr>
          <p:nvPr>
            <p:ph type="body" sz="quarter" idx="81" hasCustomPrompt="1"/>
          </p:nvPr>
        </p:nvSpPr>
        <p:spPr>
          <a:xfrm>
            <a:off x="7891413"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25">
            <a:extLst>
              <a:ext uri="{FF2B5EF4-FFF2-40B4-BE49-F238E27FC236}">
                <a16:creationId xmlns:a16="http://schemas.microsoft.com/office/drawing/2014/main" id="{BD40C928-99C3-C9F7-E205-10580368C3F9}"/>
              </a:ext>
            </a:extLst>
          </p:cNvPr>
          <p:cNvSpPr>
            <a:spLocks noGrp="1"/>
          </p:cNvSpPr>
          <p:nvPr>
            <p:ph type="body" sz="quarter" idx="61"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25">
            <a:extLst>
              <a:ext uri="{FF2B5EF4-FFF2-40B4-BE49-F238E27FC236}">
                <a16:creationId xmlns:a16="http://schemas.microsoft.com/office/drawing/2014/main" id="{0BE70373-6A63-4D4B-DACA-7330B9607764}"/>
              </a:ext>
            </a:extLst>
          </p:cNvPr>
          <p:cNvSpPr>
            <a:spLocks noGrp="1"/>
          </p:cNvSpPr>
          <p:nvPr>
            <p:ph type="body" sz="quarter" idx="62" hasCustomPrompt="1"/>
          </p:nvPr>
        </p:nvSpPr>
        <p:spPr>
          <a:xfrm>
            <a:off x="4442507"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25">
            <a:extLst>
              <a:ext uri="{FF2B5EF4-FFF2-40B4-BE49-F238E27FC236}">
                <a16:creationId xmlns:a16="http://schemas.microsoft.com/office/drawing/2014/main" id="{68375775-4DA2-C098-9E03-F3AFAA905864}"/>
              </a:ext>
            </a:extLst>
          </p:cNvPr>
          <p:cNvSpPr>
            <a:spLocks noGrp="1"/>
          </p:cNvSpPr>
          <p:nvPr>
            <p:ph type="body" sz="quarter" idx="63"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7F7A80F4-125B-342B-DA05-7B3ACBA903E9}"/>
              </a:ext>
            </a:extLst>
          </p:cNvPr>
          <p:cNvSpPr>
            <a:spLocks noGrp="1"/>
          </p:cNvSpPr>
          <p:nvPr>
            <p:ph type="body" sz="quarter" idx="88" hasCustomPrompt="1"/>
          </p:nvPr>
        </p:nvSpPr>
        <p:spPr>
          <a:xfrm>
            <a:off x="995359"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3" name="Text Placeholder 25">
            <a:extLst>
              <a:ext uri="{FF2B5EF4-FFF2-40B4-BE49-F238E27FC236}">
                <a16:creationId xmlns:a16="http://schemas.microsoft.com/office/drawing/2014/main" id="{2C2CE60B-A0A5-B26F-E0EA-621916A2485F}"/>
              </a:ext>
            </a:extLst>
          </p:cNvPr>
          <p:cNvSpPr>
            <a:spLocks noGrp="1"/>
          </p:cNvSpPr>
          <p:nvPr>
            <p:ph type="body" sz="quarter" idx="89" hasCustomPrompt="1"/>
          </p:nvPr>
        </p:nvSpPr>
        <p:spPr>
          <a:xfrm>
            <a:off x="4442507"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4" name="Text Placeholder 25">
            <a:extLst>
              <a:ext uri="{FF2B5EF4-FFF2-40B4-BE49-F238E27FC236}">
                <a16:creationId xmlns:a16="http://schemas.microsoft.com/office/drawing/2014/main" id="{C574A8F0-79A8-C3F1-4B33-632F78BDC1DB}"/>
              </a:ext>
            </a:extLst>
          </p:cNvPr>
          <p:cNvSpPr>
            <a:spLocks noGrp="1"/>
          </p:cNvSpPr>
          <p:nvPr>
            <p:ph type="body" sz="quarter" idx="90" hasCustomPrompt="1"/>
          </p:nvPr>
        </p:nvSpPr>
        <p:spPr>
          <a:xfrm>
            <a:off x="7891413"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5" name="Text Placeholder 8">
            <a:extLst>
              <a:ext uri="{FF2B5EF4-FFF2-40B4-BE49-F238E27FC236}">
                <a16:creationId xmlns:a16="http://schemas.microsoft.com/office/drawing/2014/main" id="{8E6B05F6-768B-3E4F-F110-3E24C0562AF7}"/>
              </a:ext>
            </a:extLst>
          </p:cNvPr>
          <p:cNvSpPr>
            <a:spLocks noGrp="1"/>
          </p:cNvSpPr>
          <p:nvPr>
            <p:ph type="body" sz="quarter" idx="91" hasCustomPrompt="1"/>
          </p:nvPr>
        </p:nvSpPr>
        <p:spPr>
          <a:xfrm>
            <a:off x="995359"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6" name="Text Placeholder 11">
            <a:extLst>
              <a:ext uri="{FF2B5EF4-FFF2-40B4-BE49-F238E27FC236}">
                <a16:creationId xmlns:a16="http://schemas.microsoft.com/office/drawing/2014/main" id="{A8436711-CA4B-A095-80A3-0720ACEA9FE5}"/>
              </a:ext>
            </a:extLst>
          </p:cNvPr>
          <p:cNvSpPr>
            <a:spLocks noGrp="1"/>
          </p:cNvSpPr>
          <p:nvPr>
            <p:ph type="body" sz="quarter" idx="92" hasCustomPrompt="1"/>
          </p:nvPr>
        </p:nvSpPr>
        <p:spPr>
          <a:xfrm>
            <a:off x="3860959"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7" name="Text Placeholder 8">
            <a:extLst>
              <a:ext uri="{FF2B5EF4-FFF2-40B4-BE49-F238E27FC236}">
                <a16:creationId xmlns:a16="http://schemas.microsoft.com/office/drawing/2014/main" id="{F1197BAE-480B-B16E-693D-DFBA683D23BD}"/>
              </a:ext>
            </a:extLst>
          </p:cNvPr>
          <p:cNvSpPr>
            <a:spLocks noGrp="1"/>
          </p:cNvSpPr>
          <p:nvPr>
            <p:ph type="body" sz="quarter" idx="93" hasCustomPrompt="1"/>
          </p:nvPr>
        </p:nvSpPr>
        <p:spPr>
          <a:xfrm>
            <a:off x="4443575"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8" name="Text Placeholder 11">
            <a:extLst>
              <a:ext uri="{FF2B5EF4-FFF2-40B4-BE49-F238E27FC236}">
                <a16:creationId xmlns:a16="http://schemas.microsoft.com/office/drawing/2014/main" id="{87F2F450-DF40-B67C-740F-C21878BCF3CA}"/>
              </a:ext>
            </a:extLst>
          </p:cNvPr>
          <p:cNvSpPr>
            <a:spLocks noGrp="1"/>
          </p:cNvSpPr>
          <p:nvPr>
            <p:ph type="body" sz="quarter" idx="94" hasCustomPrompt="1"/>
          </p:nvPr>
        </p:nvSpPr>
        <p:spPr>
          <a:xfrm>
            <a:off x="7312604"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9" name="Text Placeholder 8">
            <a:extLst>
              <a:ext uri="{FF2B5EF4-FFF2-40B4-BE49-F238E27FC236}">
                <a16:creationId xmlns:a16="http://schemas.microsoft.com/office/drawing/2014/main" id="{23D1977B-6AD1-B850-FA69-E1C7BD9B5C70}"/>
              </a:ext>
            </a:extLst>
          </p:cNvPr>
          <p:cNvSpPr>
            <a:spLocks noGrp="1"/>
          </p:cNvSpPr>
          <p:nvPr>
            <p:ph type="body" sz="quarter" idx="95" hasCustomPrompt="1"/>
          </p:nvPr>
        </p:nvSpPr>
        <p:spPr>
          <a:xfrm>
            <a:off x="7880400"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0" name="Text Placeholder 11">
            <a:extLst>
              <a:ext uri="{FF2B5EF4-FFF2-40B4-BE49-F238E27FC236}">
                <a16:creationId xmlns:a16="http://schemas.microsoft.com/office/drawing/2014/main" id="{54823048-11CE-7055-02DF-0DDD0D1E8AEB}"/>
              </a:ext>
            </a:extLst>
          </p:cNvPr>
          <p:cNvSpPr>
            <a:spLocks noGrp="1"/>
          </p:cNvSpPr>
          <p:nvPr>
            <p:ph type="body" sz="quarter" idx="96" hasCustomPrompt="1"/>
          </p:nvPr>
        </p:nvSpPr>
        <p:spPr>
          <a:xfrm>
            <a:off x="10757013"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1" name="Text Placeholder 8">
            <a:extLst>
              <a:ext uri="{FF2B5EF4-FFF2-40B4-BE49-F238E27FC236}">
                <a16:creationId xmlns:a16="http://schemas.microsoft.com/office/drawing/2014/main" id="{2EBDDEB7-F717-60C2-C610-7A6B84725712}"/>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2" name="Text Placeholder 11">
            <a:extLst>
              <a:ext uri="{FF2B5EF4-FFF2-40B4-BE49-F238E27FC236}">
                <a16:creationId xmlns:a16="http://schemas.microsoft.com/office/drawing/2014/main" id="{5BA193B5-C40F-667A-375F-A76EABC02D9E}"/>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3" name="Text Placeholder 8">
            <a:extLst>
              <a:ext uri="{FF2B5EF4-FFF2-40B4-BE49-F238E27FC236}">
                <a16:creationId xmlns:a16="http://schemas.microsoft.com/office/drawing/2014/main" id="{7148894B-87B0-4D81-F3C5-98DC327CE327}"/>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4" name="Text Placeholder 11">
            <a:extLst>
              <a:ext uri="{FF2B5EF4-FFF2-40B4-BE49-F238E27FC236}">
                <a16:creationId xmlns:a16="http://schemas.microsoft.com/office/drawing/2014/main" id="{47070368-32F6-6F02-EB5F-548B13FE8C53}"/>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5" name="Text Placeholder 8">
            <a:extLst>
              <a:ext uri="{FF2B5EF4-FFF2-40B4-BE49-F238E27FC236}">
                <a16:creationId xmlns:a16="http://schemas.microsoft.com/office/drawing/2014/main" id="{A0F5751C-1AA3-22AB-C30C-5C5B15B81DE5}"/>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6" name="Text Placeholder 11">
            <a:extLst>
              <a:ext uri="{FF2B5EF4-FFF2-40B4-BE49-F238E27FC236}">
                <a16:creationId xmlns:a16="http://schemas.microsoft.com/office/drawing/2014/main" id="{92187354-A4A3-EE1D-D11B-9FE6654AFF88}"/>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4038627649"/>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NALYSIS narrow table">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2367287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200"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8" name="Text Placeholder 6">
            <a:extLst>
              <a:ext uri="{FF2B5EF4-FFF2-40B4-BE49-F238E27FC236}">
                <a16:creationId xmlns:a16="http://schemas.microsoft.com/office/drawing/2014/main" id="{AA8B8A28-94E3-9BCB-D0FE-DFA7BB06EFDE}"/>
              </a:ext>
            </a:extLst>
          </p:cNvPr>
          <p:cNvSpPr>
            <a:spLocks noGrp="1"/>
          </p:cNvSpPr>
          <p:nvPr>
            <p:ph type="body" sz="quarter" idx="26" hasCustomPrompt="1"/>
          </p:nvPr>
        </p:nvSpPr>
        <p:spPr>
          <a:xfrm>
            <a:off x="4815357" y="2235228"/>
            <a:ext cx="6378244" cy="3632172"/>
          </a:xfrm>
        </p:spPr>
        <p:txBody>
          <a:bodyPr lIns="72000" tIns="0" rIns="72000" bIns="0"/>
          <a:lstStyle>
            <a:lvl1pPr>
              <a:defRPr/>
            </a:lvl1pPr>
          </a:lstStyle>
          <a:p>
            <a:r>
              <a:rPr lang="en-US" sz="1000" dirty="0"/>
              <a:t>Add text here</a:t>
            </a:r>
          </a:p>
          <a:p>
            <a:pPr lvl="1"/>
            <a:endParaRPr lang="en-IN" dirty="0"/>
          </a:p>
        </p:txBody>
      </p:sp>
      <p:sp>
        <p:nvSpPr>
          <p:cNvPr id="11" name="Text Placeholder 25">
            <a:extLst>
              <a:ext uri="{FF2B5EF4-FFF2-40B4-BE49-F238E27FC236}">
                <a16:creationId xmlns:a16="http://schemas.microsoft.com/office/drawing/2014/main" id="{D8B94DEE-E368-6880-910B-BC918E65C5C0}"/>
              </a:ext>
            </a:extLst>
          </p:cNvPr>
          <p:cNvSpPr>
            <a:spLocks noGrp="1"/>
          </p:cNvSpPr>
          <p:nvPr>
            <p:ph type="body" sz="quarter" idx="11" hasCustomPrompt="1"/>
          </p:nvPr>
        </p:nvSpPr>
        <p:spPr>
          <a:xfrm>
            <a:off x="4815357" y="1912838"/>
            <a:ext cx="6386044"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3" name="Table Placeholder 45">
            <a:extLst>
              <a:ext uri="{FF2B5EF4-FFF2-40B4-BE49-F238E27FC236}">
                <a16:creationId xmlns:a16="http://schemas.microsoft.com/office/drawing/2014/main" id="{ECC8E682-3A29-B532-ED4A-C10346A9BD49}"/>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37752356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NALYSIS 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5357" y="2235228"/>
            <a:ext cx="6378244" cy="3633288"/>
          </a:xfrm>
        </p:spPr>
        <p:txBody>
          <a:bodyPr lIns="72000" tIns="0" rIns="72000" bIns="0"/>
          <a:lstStyle>
            <a:lvl1pPr>
              <a:defRPr/>
            </a:lvl1pPr>
          </a:lstStyle>
          <a:p>
            <a:r>
              <a:rPr lang="en-US" sz="1000" dirty="0"/>
              <a:t>Add text here</a:t>
            </a:r>
          </a:p>
          <a:p>
            <a:pPr lvl="1"/>
            <a:endParaRPr lang="en-IN" dirty="0"/>
          </a:p>
        </p:txBody>
      </p:sp>
    </p:spTree>
    <p:extLst>
      <p:ext uri="{BB962C8B-B14F-4D97-AF65-F5344CB8AC3E}">
        <p14:creationId xmlns:p14="http://schemas.microsoft.com/office/powerpoint/2010/main" val="13372368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235228"/>
            <a:ext cx="3132000" cy="3632772"/>
          </a:xfrm>
        </p:spPr>
        <p:txBody>
          <a:bodyPr lIns="72000" tIns="0" rIns="72000" bIns="0"/>
          <a:lstStyle>
            <a:lvl1pPr>
              <a:defRPr/>
            </a:lvl1pPr>
          </a:lstStyle>
          <a:p>
            <a:r>
              <a:rPr lang="en-US" sz="1000" dirty="0"/>
              <a:t>Add text here</a:t>
            </a:r>
          </a:p>
          <a:p>
            <a:pPr lvl="1"/>
            <a:endParaRPr lang="en-IN" dirty="0"/>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235228"/>
            <a:ext cx="3132000" cy="3632772"/>
          </a:xfrm>
        </p:spPr>
        <p:txBody>
          <a:bodyPr lIns="72000" tIns="0" rIns="72000" bIns="0"/>
          <a:lstStyle>
            <a:lvl1pPr>
              <a:defRPr/>
            </a:lvl1pPr>
          </a:lstStyle>
          <a:p>
            <a:r>
              <a:rPr lang="en-US" sz="1000" dirty="0"/>
              <a:t>Add text here</a:t>
            </a:r>
          </a:p>
          <a:p>
            <a:pPr lvl="1"/>
            <a:endParaRPr lang="en-IN" dirty="0"/>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340768"/>
            <a:ext cx="10195200"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18462412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 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235228"/>
            <a:ext cx="3132000" cy="3632772"/>
          </a:xfrm>
        </p:spPr>
        <p:txBody>
          <a:bodyPr lIns="72000" tIns="0" rIns="72000" bIns="0"/>
          <a:lstStyle>
            <a:lvl1pPr>
              <a:defRPr/>
            </a:lvl1pPr>
          </a:lstStyle>
          <a:p>
            <a:r>
              <a:rPr lang="en-US" sz="1000" dirty="0"/>
              <a:t>Add text here</a:t>
            </a:r>
          </a:p>
          <a:p>
            <a:pPr lvl="1"/>
            <a:endParaRPr lang="en-IN" dirty="0"/>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235228"/>
            <a:ext cx="3132000" cy="3632772"/>
          </a:xfrm>
        </p:spPr>
        <p:txBody>
          <a:bodyPr lIns="72000" tIns="0" rIns="72000" bIns="0"/>
          <a:lstStyle>
            <a:lvl1pPr>
              <a:defRPr/>
            </a:lvl1pPr>
          </a:lstStyle>
          <a:p>
            <a:r>
              <a:rPr lang="en-US" sz="1000" dirty="0"/>
              <a:t>Add text here</a:t>
            </a:r>
          </a:p>
          <a:p>
            <a:pPr lvl="1"/>
            <a:endParaRPr lang="en-IN" dirty="0"/>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17160681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ALYSIS 50-50_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068415570"/>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1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17" name="Text Placeholder 6">
            <a:extLst>
              <a:ext uri="{FF2B5EF4-FFF2-40B4-BE49-F238E27FC236}">
                <a16:creationId xmlns:a16="http://schemas.microsoft.com/office/drawing/2014/main" id="{1521B4CA-D8BF-DA27-158B-3A18ECF1099F}"/>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25">
            <a:extLst>
              <a:ext uri="{FF2B5EF4-FFF2-40B4-BE49-F238E27FC236}">
                <a16:creationId xmlns:a16="http://schemas.microsoft.com/office/drawing/2014/main" id="{7C4F6109-E3D9-561F-E5FD-3725E8400904}"/>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able Placeholder 45">
            <a:extLst>
              <a:ext uri="{FF2B5EF4-FFF2-40B4-BE49-F238E27FC236}">
                <a16:creationId xmlns:a16="http://schemas.microsoft.com/office/drawing/2014/main" id="{213B86F7-3C0F-4690-E312-92129CBE6128}"/>
              </a:ext>
            </a:extLst>
          </p:cNvPr>
          <p:cNvSpPr>
            <a:spLocks noGrp="1"/>
          </p:cNvSpPr>
          <p:nvPr>
            <p:ph type="tbl" sz="quarter" idx="13" hasCustomPrompt="1"/>
          </p:nvPr>
        </p:nvSpPr>
        <p:spPr>
          <a:xfrm>
            <a:off x="995361" y="1911599"/>
            <a:ext cx="5036400" cy="395580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2303805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NALYSIS 50-50_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23" name="Table Placeholder 45">
            <a:extLst>
              <a:ext uri="{FF2B5EF4-FFF2-40B4-BE49-F238E27FC236}">
                <a16:creationId xmlns:a16="http://schemas.microsoft.com/office/drawing/2014/main" id="{C3004401-EE3C-649E-6353-B9164F1C4C80}"/>
              </a:ext>
            </a:extLst>
          </p:cNvPr>
          <p:cNvSpPr>
            <a:spLocks noGrp="1"/>
          </p:cNvSpPr>
          <p:nvPr>
            <p:ph type="tbl" sz="quarter" idx="13" hasCustomPrompt="1"/>
          </p:nvPr>
        </p:nvSpPr>
        <p:spPr>
          <a:xfrm>
            <a:off x="995361" y="1911599"/>
            <a:ext cx="5036400" cy="3955801"/>
          </a:xfrm>
        </p:spPr>
        <p:txBody>
          <a:bodyPr lIns="72000" rIns="72000"/>
          <a:lstStyle>
            <a:lvl1pPr>
              <a:defRPr sz="1000" b="1">
                <a:solidFill>
                  <a:schemeClr val="tx2"/>
                </a:solidFill>
              </a:defRPr>
            </a:lvl1pPr>
          </a:lstStyle>
          <a:p>
            <a:r>
              <a:rPr lang="fi-FI" dirty="0"/>
              <a:t>Add table here</a:t>
            </a:r>
          </a:p>
        </p:txBody>
      </p:sp>
      <p:sp>
        <p:nvSpPr>
          <p:cNvPr id="8" name="Text Placeholder 25">
            <a:extLst>
              <a:ext uri="{FF2B5EF4-FFF2-40B4-BE49-F238E27FC236}">
                <a16:creationId xmlns:a16="http://schemas.microsoft.com/office/drawing/2014/main" id="{AB752ACB-3E96-1341-39F5-971D5B64FD77}"/>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Chart Placeholder 43">
            <a:extLst>
              <a:ext uri="{FF2B5EF4-FFF2-40B4-BE49-F238E27FC236}">
                <a16:creationId xmlns:a16="http://schemas.microsoft.com/office/drawing/2014/main" id="{DC74134E-DCDE-CA54-AD79-94C972C11A63}"/>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1" name="Text Placeholder 11">
            <a:extLst>
              <a:ext uri="{FF2B5EF4-FFF2-40B4-BE49-F238E27FC236}">
                <a16:creationId xmlns:a16="http://schemas.microsoft.com/office/drawing/2014/main" id="{033A2A19-A8FA-B04D-7F28-5972152079F8}"/>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ext Placeholder 6">
            <a:extLst>
              <a:ext uri="{FF2B5EF4-FFF2-40B4-BE49-F238E27FC236}">
                <a16:creationId xmlns:a16="http://schemas.microsoft.com/office/drawing/2014/main" id="{5E80CC73-917A-B304-6925-C4C619159D0F}"/>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89471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NALYSIS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200" cy="460800"/>
          </a:xfrm>
        </p:spPr>
        <p:txBody>
          <a:bodyPr lIns="0" rIns="7200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146628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ALYSIS 2 col text + 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hart Placeholder 43">
            <a:extLst>
              <a:ext uri="{FF2B5EF4-FFF2-40B4-BE49-F238E27FC236}">
                <a16:creationId xmlns:a16="http://schemas.microsoft.com/office/drawing/2014/main" id="{91C7D5AC-CC1B-453C-BBCC-7368D1A5EA51}"/>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6" name="Text Placeholder 11">
            <a:extLst>
              <a:ext uri="{FF2B5EF4-FFF2-40B4-BE49-F238E27FC236}">
                <a16:creationId xmlns:a16="http://schemas.microsoft.com/office/drawing/2014/main" id="{396E6CF5-2B13-4988-9B42-9CB4769381DB}"/>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33936943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NALYSIS chart on top+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00737340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p:nvPr>
        </p:nvSpPr>
        <p:spPr>
          <a:xfrm>
            <a:off x="995361" y="3893589"/>
            <a:ext cx="5036400" cy="1973811"/>
          </a:xfrm>
        </p:spPr>
        <p:txBody>
          <a:bodyPr lIns="72000" tIns="0" rIns="72000" bIns="0"/>
          <a:lstStyle>
            <a:lvl1pPr>
              <a:defRPr sz="1000" b="1">
                <a:solidFill>
                  <a:schemeClr val="tx2"/>
                </a:solidFill>
              </a:defRPr>
            </a:lvl1pPr>
          </a:lstStyle>
          <a:p>
            <a:r>
              <a:rPr lang="en-US"/>
              <a:t>Click icon to add table</a:t>
            </a:r>
            <a:endParaRPr lang="fi-FI" dirty="0"/>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9" name="Text Placeholder 6">
            <a:extLst>
              <a:ext uri="{FF2B5EF4-FFF2-40B4-BE49-F238E27FC236}">
                <a16:creationId xmlns:a16="http://schemas.microsoft.com/office/drawing/2014/main" id="{195DC088-461C-FD29-4F33-E3386EF9FB40}"/>
              </a:ext>
            </a:extLst>
          </p:cNvPr>
          <p:cNvSpPr>
            <a:spLocks noGrp="1"/>
          </p:cNvSpPr>
          <p:nvPr>
            <p:ph type="body" sz="quarter" idx="24" hasCustomPrompt="1"/>
          </p:nvPr>
        </p:nvSpPr>
        <p:spPr>
          <a:xfrm>
            <a:off x="6167552" y="3893588"/>
            <a:ext cx="5033848" cy="1973812"/>
          </a:xfrm>
        </p:spPr>
        <p:txBody>
          <a:bodyPr lIns="72000" tIns="0" rIns="72000" bIns="0"/>
          <a:lstStyle>
            <a:lvl1pPr>
              <a:defRPr/>
            </a:lvl1pPr>
          </a:lstStyle>
          <a:p>
            <a:r>
              <a:rPr lang="en-US" sz="1000" dirty="0"/>
              <a:t>Add text here</a:t>
            </a:r>
          </a:p>
          <a:p>
            <a:pPr lvl="1"/>
            <a:endParaRPr lang="en-IN" dirty="0"/>
          </a:p>
        </p:txBody>
      </p:sp>
      <p:sp>
        <p:nvSpPr>
          <p:cNvPr id="22" name="Chart Placeholder 43">
            <a:extLst>
              <a:ext uri="{FF2B5EF4-FFF2-40B4-BE49-F238E27FC236}">
                <a16:creationId xmlns:a16="http://schemas.microsoft.com/office/drawing/2014/main" id="{D5A08C12-7DA4-843E-2109-5FED43776676}"/>
              </a:ext>
            </a:extLst>
          </p:cNvPr>
          <p:cNvSpPr>
            <a:spLocks noGrp="1"/>
          </p:cNvSpPr>
          <p:nvPr>
            <p:ph type="chart" sz="quarter" idx="15"/>
          </p:nvPr>
        </p:nvSpPr>
        <p:spPr>
          <a:xfrm>
            <a:off x="995361" y="2235228"/>
            <a:ext cx="10192299" cy="1472920"/>
          </a:xfrm>
        </p:spPr>
        <p:txBody>
          <a:bodyPr lIns="72000" tIns="0" rIns="72000" bIns="0"/>
          <a:lstStyle>
            <a:lvl1pPr>
              <a:defRPr sz="1000" b="1">
                <a:solidFill>
                  <a:schemeClr val="tx2"/>
                </a:solidFill>
              </a:defRPr>
            </a:lvl1pPr>
          </a:lstStyle>
          <a:p>
            <a:r>
              <a:rPr lang="en-US"/>
              <a:t>Click icon to add chart</a:t>
            </a:r>
            <a:endParaRPr lang="fi-FI" dirty="0"/>
          </a:p>
        </p:txBody>
      </p:sp>
      <p:sp>
        <p:nvSpPr>
          <p:cNvPr id="23" name="Rectangle 22">
            <a:extLst>
              <a:ext uri="{FF2B5EF4-FFF2-40B4-BE49-F238E27FC236}">
                <a16:creationId xmlns:a16="http://schemas.microsoft.com/office/drawing/2014/main" id="{06C0486A-3F15-194A-0A91-826E5849F9B6}"/>
              </a:ext>
            </a:extLst>
          </p:cNvPr>
          <p:cNvSpPr>
            <a:spLocks/>
          </p:cNvSpPr>
          <p:nvPr userDrawn="1"/>
        </p:nvSpPr>
        <p:spPr>
          <a:xfrm>
            <a:off x="995361" y="1912838"/>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p>
        </p:txBody>
      </p:sp>
      <p:sp>
        <p:nvSpPr>
          <p:cNvPr id="24" name="Text Placeholder 13">
            <a:extLst>
              <a:ext uri="{FF2B5EF4-FFF2-40B4-BE49-F238E27FC236}">
                <a16:creationId xmlns:a16="http://schemas.microsoft.com/office/drawing/2014/main" id="{A9A157EA-5678-21CC-9C39-8123403A4164}"/>
              </a:ext>
            </a:extLst>
          </p:cNvPr>
          <p:cNvSpPr>
            <a:spLocks noGrp="1"/>
          </p:cNvSpPr>
          <p:nvPr>
            <p:ph type="body" sz="quarter" idx="25" hasCustomPrompt="1"/>
          </p:nvPr>
        </p:nvSpPr>
        <p:spPr>
          <a:xfrm>
            <a:off x="995361" y="1912838"/>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Click to add the heading</a:t>
            </a:r>
          </a:p>
        </p:txBody>
      </p:sp>
      <p:sp>
        <p:nvSpPr>
          <p:cNvPr id="8" name="Chart Placeholder 43">
            <a:extLst>
              <a:ext uri="{FF2B5EF4-FFF2-40B4-BE49-F238E27FC236}">
                <a16:creationId xmlns:a16="http://schemas.microsoft.com/office/drawing/2014/main" id="{47DB99AB-526B-CB6C-C09F-7CDDE0A44C5F}"/>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0" name="Text Placeholder 11">
            <a:extLst>
              <a:ext uri="{FF2B5EF4-FFF2-40B4-BE49-F238E27FC236}">
                <a16:creationId xmlns:a16="http://schemas.microsoft.com/office/drawing/2014/main" id="{8778B5A6-B39D-5C45-C86D-00FE59B08198}"/>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26736946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ALYSIS chart on top_2">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22" name="Rectangle 21">
            <a:extLst>
              <a:ext uri="{FF2B5EF4-FFF2-40B4-BE49-F238E27FC236}">
                <a16:creationId xmlns:a16="http://schemas.microsoft.com/office/drawing/2014/main" id="{A99321D5-C8C0-F0E1-AB2F-9AEC66E6E306}"/>
              </a:ext>
            </a:extLst>
          </p:cNvPr>
          <p:cNvSpPr>
            <a:spLocks/>
          </p:cNvSpPr>
          <p:nvPr userDrawn="1"/>
        </p:nvSpPr>
        <p:spPr>
          <a:xfrm>
            <a:off x="995361" y="1911600"/>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dirty="0"/>
          </a:p>
        </p:txBody>
      </p:sp>
      <p:sp>
        <p:nvSpPr>
          <p:cNvPr id="23" name="Text Placeholder 13">
            <a:extLst>
              <a:ext uri="{FF2B5EF4-FFF2-40B4-BE49-F238E27FC236}">
                <a16:creationId xmlns:a16="http://schemas.microsoft.com/office/drawing/2014/main" id="{7C05D918-B59C-0E58-11A7-9AE1956C9375}"/>
              </a:ext>
            </a:extLst>
          </p:cNvPr>
          <p:cNvSpPr>
            <a:spLocks noGrp="1"/>
          </p:cNvSpPr>
          <p:nvPr>
            <p:ph type="body" sz="quarter" idx="25" hasCustomPrompt="1"/>
          </p:nvPr>
        </p:nvSpPr>
        <p:spPr>
          <a:xfrm>
            <a:off x="995361" y="1911600"/>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Click to add the heading</a:t>
            </a:r>
          </a:p>
        </p:txBody>
      </p:sp>
      <p:sp>
        <p:nvSpPr>
          <p:cNvPr id="8" name="Text Placeholder 8">
            <a:extLst>
              <a:ext uri="{FF2B5EF4-FFF2-40B4-BE49-F238E27FC236}">
                <a16:creationId xmlns:a16="http://schemas.microsoft.com/office/drawing/2014/main" id="{A06C8A57-0198-A7DD-D4E1-019C53DF1780}"/>
              </a:ext>
            </a:extLst>
          </p:cNvPr>
          <p:cNvSpPr>
            <a:spLocks noGrp="1"/>
          </p:cNvSpPr>
          <p:nvPr>
            <p:ph type="body" sz="quarter" idx="18" hasCustomPrompt="1"/>
          </p:nvPr>
        </p:nvSpPr>
        <p:spPr>
          <a:xfrm>
            <a:off x="995361" y="3895199"/>
            <a:ext cx="5036400" cy="1981725"/>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8">
            <a:extLst>
              <a:ext uri="{FF2B5EF4-FFF2-40B4-BE49-F238E27FC236}">
                <a16:creationId xmlns:a16="http://schemas.microsoft.com/office/drawing/2014/main" id="{BF70E529-7FA1-B36A-3BFB-31C98B6A52E0}"/>
              </a:ext>
            </a:extLst>
          </p:cNvPr>
          <p:cNvSpPr>
            <a:spLocks noGrp="1"/>
          </p:cNvSpPr>
          <p:nvPr>
            <p:ph type="body" sz="quarter" idx="19" hasCustomPrompt="1"/>
          </p:nvPr>
        </p:nvSpPr>
        <p:spPr>
          <a:xfrm>
            <a:off x="6175864" y="3895200"/>
            <a:ext cx="5023949" cy="197891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hart Placeholder 43">
            <a:extLst>
              <a:ext uri="{FF2B5EF4-FFF2-40B4-BE49-F238E27FC236}">
                <a16:creationId xmlns:a16="http://schemas.microsoft.com/office/drawing/2014/main" id="{6AB85E31-6BDB-93A2-8B61-DB2292376D21}"/>
              </a:ext>
            </a:extLst>
          </p:cNvPr>
          <p:cNvSpPr>
            <a:spLocks noGrp="1"/>
          </p:cNvSpPr>
          <p:nvPr>
            <p:ph type="chart" sz="quarter" idx="15"/>
          </p:nvPr>
        </p:nvSpPr>
        <p:spPr>
          <a:xfrm>
            <a:off x="995361" y="2235228"/>
            <a:ext cx="10192299" cy="1472920"/>
          </a:xfrm>
        </p:spPr>
        <p:txBody>
          <a:bodyPr lIns="72000" tIns="0" rIns="72000" bIns="0"/>
          <a:lstStyle>
            <a:lvl1pPr>
              <a:defRPr sz="1000" b="1">
                <a:solidFill>
                  <a:schemeClr val="tx2"/>
                </a:solidFill>
              </a:defRPr>
            </a:lvl1pPr>
          </a:lstStyle>
          <a:p>
            <a:r>
              <a:rPr lang="en-US"/>
              <a:t>Click icon to add chart</a:t>
            </a:r>
            <a:endParaRPr lang="fi-FI" dirty="0"/>
          </a:p>
        </p:txBody>
      </p:sp>
    </p:spTree>
    <p:extLst>
      <p:ext uri="{BB962C8B-B14F-4D97-AF65-F5344CB8AC3E}">
        <p14:creationId xmlns:p14="http://schemas.microsoft.com/office/powerpoint/2010/main" val="17678142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ENCHMARKIN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6" name="Chart Placeholder 43">
            <a:extLst>
              <a:ext uri="{FF2B5EF4-FFF2-40B4-BE49-F238E27FC236}">
                <a16:creationId xmlns:a16="http://schemas.microsoft.com/office/drawing/2014/main" id="{A8C25DD9-0649-4FB6-8099-C6E2B474ECF6}"/>
              </a:ext>
            </a:extLst>
          </p:cNvPr>
          <p:cNvSpPr>
            <a:spLocks noGrp="1"/>
          </p:cNvSpPr>
          <p:nvPr>
            <p:ph type="chart" sz="quarter" idx="21"/>
          </p:nvPr>
        </p:nvSpPr>
        <p:spPr>
          <a:xfrm>
            <a:off x="995361" y="2235227"/>
            <a:ext cx="7588388" cy="1620000"/>
          </a:xfrm>
        </p:spPr>
        <p:txBody>
          <a:bodyPr lIns="72000" tIns="0" rIns="72000" bIns="0"/>
          <a:lstStyle>
            <a:lvl1pPr rtl="0">
              <a:defRPr sz="1000" b="1">
                <a:solidFill>
                  <a:schemeClr val="tx2"/>
                </a:solidFill>
              </a:defRPr>
            </a:lvl1pPr>
          </a:lstStyle>
          <a:p>
            <a:r>
              <a:rPr lang="en-US" noProof="0"/>
              <a:t>Click icon to add chart</a:t>
            </a:r>
            <a:endParaRPr lang="en-US" noProof="0" dirty="0"/>
          </a:p>
        </p:txBody>
      </p:sp>
      <p:sp>
        <p:nvSpPr>
          <p:cNvPr id="27" name="Chart Placeholder 43">
            <a:extLst>
              <a:ext uri="{FF2B5EF4-FFF2-40B4-BE49-F238E27FC236}">
                <a16:creationId xmlns:a16="http://schemas.microsoft.com/office/drawing/2014/main" id="{27D8A0D2-8916-4534-AAD0-756AA730E88D}"/>
              </a:ext>
            </a:extLst>
          </p:cNvPr>
          <p:cNvSpPr>
            <a:spLocks noGrp="1"/>
          </p:cNvSpPr>
          <p:nvPr>
            <p:ph type="chart" sz="quarter" idx="22"/>
          </p:nvPr>
        </p:nvSpPr>
        <p:spPr>
          <a:xfrm>
            <a:off x="995361" y="4247400"/>
            <a:ext cx="7588388" cy="1620000"/>
          </a:xfrm>
        </p:spPr>
        <p:txBody>
          <a:bodyPr lIns="72000" tIns="0" rIns="72000" bIns="0"/>
          <a:lstStyle>
            <a:lvl1pPr rtl="0">
              <a:defRPr sz="1000" b="1">
                <a:solidFill>
                  <a:schemeClr val="tx2"/>
                </a:solidFill>
              </a:defRPr>
            </a:lvl1pPr>
          </a:lstStyle>
          <a:p>
            <a:r>
              <a:rPr lang="en-US" noProof="0"/>
              <a:t>Click icon to add chart</a:t>
            </a:r>
            <a:endParaRPr lang="en-US" noProof="0" dirty="0"/>
          </a:p>
        </p:txBody>
      </p:sp>
      <p:sp>
        <p:nvSpPr>
          <p:cNvPr id="2" name="Rectangle 1">
            <a:extLst>
              <a:ext uri="{FF2B5EF4-FFF2-40B4-BE49-F238E27FC236}">
                <a16:creationId xmlns:a16="http://schemas.microsoft.com/office/drawing/2014/main" id="{E7043031-6FB6-9272-EDB3-8392EC354BB3}"/>
              </a:ext>
            </a:extLst>
          </p:cNvPr>
          <p:cNvSpPr>
            <a:spLocks/>
          </p:cNvSpPr>
          <p:nvPr userDrawn="1"/>
        </p:nvSpPr>
        <p:spPr>
          <a:xfrm>
            <a:off x="8715421" y="1911600"/>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endParaRPr lang="en-US" sz="1000" b="0">
              <a:solidFill>
                <a:schemeClr val="bg1"/>
              </a:solidFill>
            </a:endParaRPr>
          </a:p>
        </p:txBody>
      </p:sp>
      <p:sp>
        <p:nvSpPr>
          <p:cNvPr id="12" name="Rectangle 11">
            <a:extLst>
              <a:ext uri="{FF2B5EF4-FFF2-40B4-BE49-F238E27FC236}">
                <a16:creationId xmlns:a16="http://schemas.microsoft.com/office/drawing/2014/main" id="{D95071ED-58F2-F292-70F0-BEF26478A764}"/>
              </a:ext>
            </a:extLst>
          </p:cNvPr>
          <p:cNvSpPr>
            <a:spLocks/>
          </p:cNvSpPr>
          <p:nvPr userDrawn="1"/>
        </p:nvSpPr>
        <p:spPr>
          <a:xfrm>
            <a:off x="8715421" y="3921957"/>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1000" b="0">
              <a:solidFill>
                <a:schemeClr val="bg1"/>
              </a:solidFill>
            </a:endParaRPr>
          </a:p>
        </p:txBody>
      </p:sp>
      <p:sp>
        <p:nvSpPr>
          <p:cNvPr id="13" name="Text Placeholder 25">
            <a:extLst>
              <a:ext uri="{FF2B5EF4-FFF2-40B4-BE49-F238E27FC236}">
                <a16:creationId xmlns:a16="http://schemas.microsoft.com/office/drawing/2014/main" id="{13EF8C75-5242-6208-4796-DC7DEC5567DD}"/>
              </a:ext>
            </a:extLst>
          </p:cNvPr>
          <p:cNvSpPr>
            <a:spLocks noGrp="1"/>
          </p:cNvSpPr>
          <p:nvPr>
            <p:ph type="body" sz="quarter" idx="24" hasCustomPrompt="1"/>
          </p:nvPr>
        </p:nvSpPr>
        <p:spPr bwMode="white">
          <a:xfrm>
            <a:off x="8715421" y="3921957"/>
            <a:ext cx="2484000" cy="252000"/>
          </a:xfrm>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24" name="Text Placeholder 8">
            <a:extLst>
              <a:ext uri="{FF2B5EF4-FFF2-40B4-BE49-F238E27FC236}">
                <a16:creationId xmlns:a16="http://schemas.microsoft.com/office/drawing/2014/main" id="{5D08B599-C1CF-9E58-34C5-0980913BD21C}"/>
              </a:ext>
            </a:extLst>
          </p:cNvPr>
          <p:cNvSpPr>
            <a:spLocks noGrp="1"/>
          </p:cNvSpPr>
          <p:nvPr>
            <p:ph type="body" sz="quarter" idx="25" hasCustomPrompt="1"/>
          </p:nvPr>
        </p:nvSpPr>
        <p:spPr>
          <a:xfrm>
            <a:off x="8715813" y="2235211"/>
            <a:ext cx="2484000" cy="162000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8">
            <a:extLst>
              <a:ext uri="{FF2B5EF4-FFF2-40B4-BE49-F238E27FC236}">
                <a16:creationId xmlns:a16="http://schemas.microsoft.com/office/drawing/2014/main" id="{BFA8B0D2-0FC0-8632-3E49-CCCABEA86B61}"/>
              </a:ext>
            </a:extLst>
          </p:cNvPr>
          <p:cNvSpPr>
            <a:spLocks noGrp="1"/>
          </p:cNvSpPr>
          <p:nvPr>
            <p:ph type="body" sz="quarter" idx="26" hasCustomPrompt="1"/>
          </p:nvPr>
        </p:nvSpPr>
        <p:spPr>
          <a:xfrm>
            <a:off x="8715421" y="4247400"/>
            <a:ext cx="2484000" cy="162000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8" name="Rectangle 27">
            <a:extLst>
              <a:ext uri="{FF2B5EF4-FFF2-40B4-BE49-F238E27FC236}">
                <a16:creationId xmlns:a16="http://schemas.microsoft.com/office/drawing/2014/main" id="{9D75509C-0477-C773-735A-637FDA814F2F}"/>
              </a:ext>
            </a:extLst>
          </p:cNvPr>
          <p:cNvSpPr>
            <a:spLocks/>
          </p:cNvSpPr>
          <p:nvPr userDrawn="1"/>
        </p:nvSpPr>
        <p:spPr>
          <a:xfrm>
            <a:off x="995361" y="1912334"/>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dirty="0"/>
          </a:p>
        </p:txBody>
      </p:sp>
      <p:sp>
        <p:nvSpPr>
          <p:cNvPr id="30" name="Rectangle 29">
            <a:extLst>
              <a:ext uri="{FF2B5EF4-FFF2-40B4-BE49-F238E27FC236}">
                <a16:creationId xmlns:a16="http://schemas.microsoft.com/office/drawing/2014/main" id="{B2926D10-B3EF-2A5C-379D-B9022E76D690}"/>
              </a:ext>
            </a:extLst>
          </p:cNvPr>
          <p:cNvSpPr>
            <a:spLocks/>
          </p:cNvSpPr>
          <p:nvPr userDrawn="1"/>
        </p:nvSpPr>
        <p:spPr>
          <a:xfrm>
            <a:off x="995361" y="3923425"/>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dirty="0"/>
          </a:p>
        </p:txBody>
      </p:sp>
      <p:sp>
        <p:nvSpPr>
          <p:cNvPr id="31" name="Text Placeholder 13">
            <a:extLst>
              <a:ext uri="{FF2B5EF4-FFF2-40B4-BE49-F238E27FC236}">
                <a16:creationId xmlns:a16="http://schemas.microsoft.com/office/drawing/2014/main" id="{1D9A4C3B-AA31-C364-A220-761E4E69085A}"/>
              </a:ext>
            </a:extLst>
          </p:cNvPr>
          <p:cNvSpPr>
            <a:spLocks noGrp="1"/>
          </p:cNvSpPr>
          <p:nvPr>
            <p:ph type="body" sz="quarter" idx="28" hasCustomPrompt="1"/>
          </p:nvPr>
        </p:nvSpPr>
        <p:spPr>
          <a:xfrm>
            <a:off x="995361" y="3924368"/>
            <a:ext cx="7588388" cy="252000"/>
          </a:xfrm>
        </p:spPr>
        <p:txBody>
          <a:bodyPr lIns="72000" rIns="72000" anchor="ctr"/>
          <a:lstStyle>
            <a:lvl1pPr>
              <a:defRPr b="1">
                <a:solidFill>
                  <a:schemeClr val="bg1"/>
                </a:solidFill>
              </a:defRPr>
            </a:lvl1pPr>
          </a:lstStyle>
          <a:p>
            <a:pPr lvl="0"/>
            <a:r>
              <a:rPr lang="en-US" dirty="0"/>
              <a:t>KPI2 (e.g., EBITDA margin)</a:t>
            </a:r>
          </a:p>
        </p:txBody>
      </p:sp>
      <p:sp>
        <p:nvSpPr>
          <p:cNvPr id="10" name="Text Placeholder 25">
            <a:extLst>
              <a:ext uri="{FF2B5EF4-FFF2-40B4-BE49-F238E27FC236}">
                <a16:creationId xmlns:a16="http://schemas.microsoft.com/office/drawing/2014/main" id="{D5E555A8-1BBB-19E7-0D80-5259DC4FEE84}"/>
              </a:ext>
            </a:extLst>
          </p:cNvPr>
          <p:cNvSpPr>
            <a:spLocks noGrp="1"/>
          </p:cNvSpPr>
          <p:nvPr>
            <p:ph type="body" sz="quarter" idx="23" hasCustomPrompt="1"/>
          </p:nvPr>
        </p:nvSpPr>
        <p:spPr bwMode="white">
          <a:xfrm>
            <a:off x="8715421" y="1910779"/>
            <a:ext cx="2484000" cy="252000"/>
          </a:xfrm>
        </p:spPr>
        <p:txBody>
          <a:bodyPr lIns="72000" tIns="36000" rIns="72000" bIns="3600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11" name="Text Placeholder 13">
            <a:extLst>
              <a:ext uri="{FF2B5EF4-FFF2-40B4-BE49-F238E27FC236}">
                <a16:creationId xmlns:a16="http://schemas.microsoft.com/office/drawing/2014/main" id="{9C116C6F-09A6-28D8-6B9E-B3D5BB5F5684}"/>
              </a:ext>
            </a:extLst>
          </p:cNvPr>
          <p:cNvSpPr>
            <a:spLocks noGrp="1"/>
          </p:cNvSpPr>
          <p:nvPr>
            <p:ph type="body" sz="quarter" idx="27" hasCustomPrompt="1"/>
          </p:nvPr>
        </p:nvSpPr>
        <p:spPr>
          <a:xfrm>
            <a:off x="995361" y="1908611"/>
            <a:ext cx="7588388"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KPI1 (e.g., Gross margin)</a:t>
            </a:r>
          </a:p>
        </p:txBody>
      </p:sp>
    </p:spTree>
    <p:extLst>
      <p:ext uri="{BB962C8B-B14F-4D97-AF65-F5344CB8AC3E}">
        <p14:creationId xmlns:p14="http://schemas.microsoft.com/office/powerpoint/2010/main" val="24767093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BB layout">
    <p:spTree>
      <p:nvGrpSpPr>
        <p:cNvPr id="1" name=""/>
        <p:cNvGrpSpPr/>
        <p:nvPr/>
      </p:nvGrpSpPr>
      <p:grpSpPr>
        <a:xfrm>
          <a:off x="0" y="0"/>
          <a:ext cx="0" cy="0"/>
          <a:chOff x="0" y="0"/>
          <a:chExt cx="0" cy="0"/>
        </a:xfrm>
      </p:grpSpPr>
      <p:graphicFrame>
        <p:nvGraphicFramePr>
          <p:cNvPr id="71" name="Object 70" hidden="1">
            <a:extLst>
              <a:ext uri="{FF2B5EF4-FFF2-40B4-BE49-F238E27FC236}">
                <a16:creationId xmlns:a16="http://schemas.microsoft.com/office/drawing/2014/main" id="{682AD4F2-B2C5-4582-B067-1F6D7671BC4B}"/>
              </a:ext>
            </a:extLst>
          </p:cNvPr>
          <p:cNvGraphicFramePr>
            <a:graphicFrameLocks noChangeAspect="1"/>
          </p:cNvGraphicFramePr>
          <p:nvPr userDrawn="1">
            <p:custDataLst>
              <p:tags r:id="rId1"/>
            </p:custDataLst>
            <p:extLst>
              <p:ext uri="{D42A27DB-BD31-4B8C-83A1-F6EECF244321}">
                <p14:modId xmlns:p14="http://schemas.microsoft.com/office/powerpoint/2010/main" val="226340496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1" name="Object 70" hidden="1">
                        <a:extLst>
                          <a:ext uri="{FF2B5EF4-FFF2-40B4-BE49-F238E27FC236}">
                            <a16:creationId xmlns:a16="http://schemas.microsoft.com/office/drawing/2014/main" id="{682AD4F2-B2C5-4582-B067-1F6D7671BC4B}"/>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a:t>Click to edit Master title style</a:t>
            </a:r>
            <a:endParaRPr lang="en-GB"/>
          </a:p>
        </p:txBody>
      </p:sp>
      <p:sp>
        <p:nvSpPr>
          <p:cNvPr id="14" name="Text Placeholder 6">
            <a:extLst>
              <a:ext uri="{FF2B5EF4-FFF2-40B4-BE49-F238E27FC236}">
                <a16:creationId xmlns:a16="http://schemas.microsoft.com/office/drawing/2014/main" id="{61B5A8E0-0613-E4FD-DD38-14AA6929BD13}"/>
              </a:ext>
            </a:extLst>
          </p:cNvPr>
          <p:cNvSpPr>
            <a:spLocks noGrp="1"/>
          </p:cNvSpPr>
          <p:nvPr>
            <p:ph type="body" sz="quarter" idx="24" hasCustomPrompt="1"/>
          </p:nvPr>
        </p:nvSpPr>
        <p:spPr>
          <a:xfrm>
            <a:off x="6165629" y="2235228"/>
            <a:ext cx="5036400" cy="972000"/>
          </a:xfrm>
        </p:spPr>
        <p:txBody>
          <a:bodyPr lIns="72000" tIns="0" rIns="72000" bIns="0"/>
          <a:lstStyle/>
          <a:p>
            <a:r>
              <a:rPr lang="en-US" sz="1000" dirty="0"/>
              <a:t>First level</a:t>
            </a:r>
          </a:p>
          <a:p>
            <a:pPr lvl="1"/>
            <a:endParaRPr lang="en-IN" dirty="0"/>
          </a:p>
        </p:txBody>
      </p:sp>
      <p:sp>
        <p:nvSpPr>
          <p:cNvPr id="2" name="Text Placeholder 6">
            <a:extLst>
              <a:ext uri="{FF2B5EF4-FFF2-40B4-BE49-F238E27FC236}">
                <a16:creationId xmlns:a16="http://schemas.microsoft.com/office/drawing/2014/main" id="{069AFC1B-51F4-D3F9-1B56-C93BB0B2D0FB}"/>
              </a:ext>
            </a:extLst>
          </p:cNvPr>
          <p:cNvSpPr>
            <a:spLocks noGrp="1"/>
          </p:cNvSpPr>
          <p:nvPr>
            <p:ph type="body" sz="quarter" idx="26" hasCustomPrompt="1"/>
          </p:nvPr>
        </p:nvSpPr>
        <p:spPr>
          <a:xfrm>
            <a:off x="6165629" y="3585084"/>
            <a:ext cx="2448000" cy="936000"/>
          </a:xfrm>
        </p:spPr>
        <p:txBody>
          <a:bodyPr lIns="72000" tIns="0" rIns="72000" bIns="0"/>
          <a:lstStyle/>
          <a:p>
            <a:r>
              <a:rPr lang="en-US" sz="1000" dirty="0"/>
              <a:t>First level</a:t>
            </a:r>
          </a:p>
          <a:p>
            <a:pPr lvl="1"/>
            <a:endParaRPr lang="en-IN" dirty="0"/>
          </a:p>
        </p:txBody>
      </p:sp>
      <p:sp>
        <p:nvSpPr>
          <p:cNvPr id="9" name="Rectangle 8">
            <a:extLst>
              <a:ext uri="{FF2B5EF4-FFF2-40B4-BE49-F238E27FC236}">
                <a16:creationId xmlns:a16="http://schemas.microsoft.com/office/drawing/2014/main" id="{489A0136-2FBC-FD4C-34A6-971735548F29}"/>
              </a:ext>
            </a:extLst>
          </p:cNvPr>
          <p:cNvSpPr>
            <a:spLocks/>
          </p:cNvSpPr>
          <p:nvPr userDrawn="1"/>
        </p:nvSpPr>
        <p:spPr>
          <a:xfrm>
            <a:off x="6165629" y="3246555"/>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dirty="0"/>
          </a:p>
        </p:txBody>
      </p:sp>
      <p:sp>
        <p:nvSpPr>
          <p:cNvPr id="10" name="Text Placeholder 14">
            <a:extLst>
              <a:ext uri="{FF2B5EF4-FFF2-40B4-BE49-F238E27FC236}">
                <a16:creationId xmlns:a16="http://schemas.microsoft.com/office/drawing/2014/main" id="{1041EC18-E395-22F7-858D-8E7DBE755584}"/>
              </a:ext>
            </a:extLst>
          </p:cNvPr>
          <p:cNvSpPr>
            <a:spLocks noGrp="1"/>
          </p:cNvSpPr>
          <p:nvPr>
            <p:ph type="body" sz="quarter" idx="27"/>
          </p:nvPr>
        </p:nvSpPr>
        <p:spPr>
          <a:xfrm>
            <a:off x="6168935" y="3260955"/>
            <a:ext cx="5036400"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Click to edit Master text styles</a:t>
            </a:r>
          </a:p>
        </p:txBody>
      </p:sp>
      <p:sp>
        <p:nvSpPr>
          <p:cNvPr id="11" name="Text Placeholder 6">
            <a:extLst>
              <a:ext uri="{FF2B5EF4-FFF2-40B4-BE49-F238E27FC236}">
                <a16:creationId xmlns:a16="http://schemas.microsoft.com/office/drawing/2014/main" id="{21603C95-B46C-CC80-9A8C-CC09FF5D3329}"/>
              </a:ext>
            </a:extLst>
          </p:cNvPr>
          <p:cNvSpPr>
            <a:spLocks noGrp="1"/>
          </p:cNvSpPr>
          <p:nvPr>
            <p:ph type="body" sz="quarter" idx="28" hasCustomPrompt="1"/>
          </p:nvPr>
        </p:nvSpPr>
        <p:spPr>
          <a:xfrm>
            <a:off x="6177516" y="4895400"/>
            <a:ext cx="5016085" cy="972000"/>
          </a:xfrm>
        </p:spPr>
        <p:txBody>
          <a:bodyPr lIns="72000" tIns="0" rIns="72000" bIns="0"/>
          <a:lstStyle/>
          <a:p>
            <a:r>
              <a:rPr lang="en-US" sz="1000" dirty="0"/>
              <a:t>First level</a:t>
            </a:r>
          </a:p>
          <a:p>
            <a:pPr lvl="1"/>
            <a:endParaRPr lang="en-IN" dirty="0"/>
          </a:p>
        </p:txBody>
      </p:sp>
      <p:sp>
        <p:nvSpPr>
          <p:cNvPr id="15" name="Text Placeholder 6">
            <a:extLst>
              <a:ext uri="{FF2B5EF4-FFF2-40B4-BE49-F238E27FC236}">
                <a16:creationId xmlns:a16="http://schemas.microsoft.com/office/drawing/2014/main" id="{83D37FDE-2C3B-6DB1-D933-83B05D727599}"/>
              </a:ext>
            </a:extLst>
          </p:cNvPr>
          <p:cNvSpPr>
            <a:spLocks noGrp="1"/>
          </p:cNvSpPr>
          <p:nvPr>
            <p:ph type="body" sz="quarter" idx="30" hasCustomPrompt="1"/>
          </p:nvPr>
        </p:nvSpPr>
        <p:spPr>
          <a:xfrm>
            <a:off x="8749193" y="3580016"/>
            <a:ext cx="2448000" cy="936000"/>
          </a:xfrm>
        </p:spPr>
        <p:txBody>
          <a:bodyPr lIns="72000" tIns="0" rIns="72000" bIns="0"/>
          <a:lstStyle/>
          <a:p>
            <a:r>
              <a:rPr lang="en-US" sz="1000" dirty="0"/>
              <a:t>First level</a:t>
            </a:r>
          </a:p>
          <a:p>
            <a:pPr lvl="1"/>
            <a:endParaRPr lang="en-IN" dirty="0"/>
          </a:p>
        </p:txBody>
      </p:sp>
      <p:sp>
        <p:nvSpPr>
          <p:cNvPr id="16" name="Text Placeholder 6">
            <a:extLst>
              <a:ext uri="{FF2B5EF4-FFF2-40B4-BE49-F238E27FC236}">
                <a16:creationId xmlns:a16="http://schemas.microsoft.com/office/drawing/2014/main" id="{40DC5772-BBE7-ACA2-B5F6-DBE8682EB3F7}"/>
              </a:ext>
            </a:extLst>
          </p:cNvPr>
          <p:cNvSpPr>
            <a:spLocks noGrp="1"/>
          </p:cNvSpPr>
          <p:nvPr>
            <p:ph type="body" sz="quarter" idx="31" hasCustomPrompt="1"/>
          </p:nvPr>
        </p:nvSpPr>
        <p:spPr>
          <a:xfrm>
            <a:off x="995361" y="2235228"/>
            <a:ext cx="5024925" cy="2174547"/>
          </a:xfrm>
        </p:spPr>
        <p:txBody>
          <a:bodyPr lIns="72000" tIns="0" rIns="72000" bIns="0"/>
          <a:lstStyle/>
          <a:p>
            <a:r>
              <a:rPr lang="en-US" sz="1000" dirty="0"/>
              <a:t>First level</a:t>
            </a:r>
          </a:p>
          <a:p>
            <a:pPr lvl="1"/>
            <a:endParaRPr lang="en-IN" dirty="0"/>
          </a:p>
        </p:txBody>
      </p:sp>
      <p:sp>
        <p:nvSpPr>
          <p:cNvPr id="25" name="Text Placeholder 6">
            <a:extLst>
              <a:ext uri="{FF2B5EF4-FFF2-40B4-BE49-F238E27FC236}">
                <a16:creationId xmlns:a16="http://schemas.microsoft.com/office/drawing/2014/main" id="{EF1A851D-08B8-F802-C488-D5224C1A44FF}"/>
              </a:ext>
            </a:extLst>
          </p:cNvPr>
          <p:cNvSpPr>
            <a:spLocks noGrp="1"/>
          </p:cNvSpPr>
          <p:nvPr>
            <p:ph type="body" sz="quarter" idx="33" hasCustomPrompt="1"/>
          </p:nvPr>
        </p:nvSpPr>
        <p:spPr>
          <a:xfrm>
            <a:off x="995361" y="4895400"/>
            <a:ext cx="5024925" cy="972000"/>
          </a:xfrm>
        </p:spPr>
        <p:txBody>
          <a:bodyPr lIns="72000" tIns="0" rIns="72000" bIns="0"/>
          <a:lstStyle/>
          <a:p>
            <a:r>
              <a:rPr lang="en-US" sz="1000" dirty="0"/>
              <a:t>First level</a:t>
            </a:r>
          </a:p>
          <a:p>
            <a:pPr lvl="1"/>
            <a:endParaRPr lang="en-IN" dirty="0"/>
          </a:p>
        </p:txBody>
      </p:sp>
      <p:sp>
        <p:nvSpPr>
          <p:cNvPr id="26" name="Text Placeholder 25">
            <a:extLst>
              <a:ext uri="{FF2B5EF4-FFF2-40B4-BE49-F238E27FC236}">
                <a16:creationId xmlns:a16="http://schemas.microsoft.com/office/drawing/2014/main" id="{F3207130-1020-3E41-0632-D01092DF76D9}"/>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7" name="Text Placeholder 25">
            <a:extLst>
              <a:ext uri="{FF2B5EF4-FFF2-40B4-BE49-F238E27FC236}">
                <a16:creationId xmlns:a16="http://schemas.microsoft.com/office/drawing/2014/main" id="{2231C0BE-3E55-88F2-9CED-EB5FB2FAB912}"/>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8" name="Text Placeholder 25">
            <a:extLst>
              <a:ext uri="{FF2B5EF4-FFF2-40B4-BE49-F238E27FC236}">
                <a16:creationId xmlns:a16="http://schemas.microsoft.com/office/drawing/2014/main" id="{B8DE051A-5B86-6E8B-577E-C288EC91BE8E}"/>
              </a:ext>
            </a:extLst>
          </p:cNvPr>
          <p:cNvSpPr>
            <a:spLocks noGrp="1"/>
          </p:cNvSpPr>
          <p:nvPr>
            <p:ph type="body" sz="quarter" idx="34" hasCustomPrompt="1"/>
          </p:nvPr>
        </p:nvSpPr>
        <p:spPr>
          <a:xfrm>
            <a:off x="6157201" y="457342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9" name="Text Placeholder 25">
            <a:extLst>
              <a:ext uri="{FF2B5EF4-FFF2-40B4-BE49-F238E27FC236}">
                <a16:creationId xmlns:a16="http://schemas.microsoft.com/office/drawing/2014/main" id="{4FACAA95-0F35-E305-D893-CEEDAB390A78}"/>
              </a:ext>
            </a:extLst>
          </p:cNvPr>
          <p:cNvSpPr>
            <a:spLocks noGrp="1"/>
          </p:cNvSpPr>
          <p:nvPr>
            <p:ph type="body" sz="quarter" idx="35" hasCustomPrompt="1"/>
          </p:nvPr>
        </p:nvSpPr>
        <p:spPr>
          <a:xfrm>
            <a:off x="995361" y="457342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32" name="Chart Placeholder 43">
            <a:extLst>
              <a:ext uri="{FF2B5EF4-FFF2-40B4-BE49-F238E27FC236}">
                <a16:creationId xmlns:a16="http://schemas.microsoft.com/office/drawing/2014/main" id="{937D1BF9-67C4-6EE3-06F4-0EE92767D733}"/>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33" name="Text Placeholder 11">
            <a:extLst>
              <a:ext uri="{FF2B5EF4-FFF2-40B4-BE49-F238E27FC236}">
                <a16:creationId xmlns:a16="http://schemas.microsoft.com/office/drawing/2014/main" id="{DC2328AE-CB9C-8F2E-7F0A-5622F3A3282C}"/>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114356302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strapline_4 colum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7" name="Text Placeholder 6">
            <a:extLst>
              <a:ext uri="{FF2B5EF4-FFF2-40B4-BE49-F238E27FC236}">
                <a16:creationId xmlns:a16="http://schemas.microsoft.com/office/drawing/2014/main" id="{D39B1F28-5BE0-920C-485E-EBD004E6FEE3}"/>
              </a:ext>
            </a:extLst>
          </p:cNvPr>
          <p:cNvSpPr>
            <a:spLocks noGrp="1"/>
          </p:cNvSpPr>
          <p:nvPr>
            <p:ph type="body" sz="quarter" idx="23" hasCustomPrompt="1"/>
          </p:nvPr>
        </p:nvSpPr>
        <p:spPr>
          <a:xfrm>
            <a:off x="995361" y="2235228"/>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6">
            <a:extLst>
              <a:ext uri="{FF2B5EF4-FFF2-40B4-BE49-F238E27FC236}">
                <a16:creationId xmlns:a16="http://schemas.microsoft.com/office/drawing/2014/main" id="{EC545A67-9AFD-8E78-4FC6-F4DDA2F0DC14}"/>
              </a:ext>
            </a:extLst>
          </p:cNvPr>
          <p:cNvSpPr>
            <a:spLocks noGrp="1"/>
          </p:cNvSpPr>
          <p:nvPr>
            <p:ph type="body" sz="quarter" idx="24" hasCustomPrompt="1"/>
          </p:nvPr>
        </p:nvSpPr>
        <p:spPr>
          <a:xfrm>
            <a:off x="6165629" y="2235228"/>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6">
            <a:extLst>
              <a:ext uri="{FF2B5EF4-FFF2-40B4-BE49-F238E27FC236}">
                <a16:creationId xmlns:a16="http://schemas.microsoft.com/office/drawing/2014/main" id="{110C6C3E-B8AD-8B96-EC03-1CD5078D28AB}"/>
              </a:ext>
            </a:extLst>
          </p:cNvPr>
          <p:cNvSpPr>
            <a:spLocks noGrp="1"/>
          </p:cNvSpPr>
          <p:nvPr>
            <p:ph type="body" sz="quarter" idx="26" hasCustomPrompt="1"/>
          </p:nvPr>
        </p:nvSpPr>
        <p:spPr>
          <a:xfrm>
            <a:off x="995361" y="4247400"/>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6">
            <a:extLst>
              <a:ext uri="{FF2B5EF4-FFF2-40B4-BE49-F238E27FC236}">
                <a16:creationId xmlns:a16="http://schemas.microsoft.com/office/drawing/2014/main" id="{F783E64C-A4C3-8E54-3103-0BB03066D1BC}"/>
              </a:ext>
            </a:extLst>
          </p:cNvPr>
          <p:cNvSpPr>
            <a:spLocks noGrp="1"/>
          </p:cNvSpPr>
          <p:nvPr>
            <p:ph type="body" sz="quarter" idx="27" hasCustomPrompt="1"/>
          </p:nvPr>
        </p:nvSpPr>
        <p:spPr>
          <a:xfrm>
            <a:off x="6160108" y="4247400"/>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ext Placeholder 25">
            <a:extLst>
              <a:ext uri="{FF2B5EF4-FFF2-40B4-BE49-F238E27FC236}">
                <a16:creationId xmlns:a16="http://schemas.microsoft.com/office/drawing/2014/main" id="{807DDDD2-8F00-9FCF-D4F9-BE3A3941D7B5}"/>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25">
            <a:extLst>
              <a:ext uri="{FF2B5EF4-FFF2-40B4-BE49-F238E27FC236}">
                <a16:creationId xmlns:a16="http://schemas.microsoft.com/office/drawing/2014/main" id="{19148179-BB16-C1DF-D153-77ED4B3E9972}"/>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25">
            <a:extLst>
              <a:ext uri="{FF2B5EF4-FFF2-40B4-BE49-F238E27FC236}">
                <a16:creationId xmlns:a16="http://schemas.microsoft.com/office/drawing/2014/main" id="{A23192A1-5706-5D97-D3A3-D152925A8F63}"/>
              </a:ext>
            </a:extLst>
          </p:cNvPr>
          <p:cNvSpPr>
            <a:spLocks noGrp="1"/>
          </p:cNvSpPr>
          <p:nvPr>
            <p:ph type="body" sz="quarter" idx="34" hasCustomPrompt="1"/>
          </p:nvPr>
        </p:nvSpPr>
        <p:spPr>
          <a:xfrm>
            <a:off x="6157201" y="3921957"/>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FC37E04D-55C4-A2F9-AB41-0407BC55D0B5}"/>
              </a:ext>
            </a:extLst>
          </p:cNvPr>
          <p:cNvSpPr>
            <a:spLocks noGrp="1"/>
          </p:cNvSpPr>
          <p:nvPr>
            <p:ph type="body" sz="quarter" idx="35" hasCustomPrompt="1"/>
          </p:nvPr>
        </p:nvSpPr>
        <p:spPr>
          <a:xfrm>
            <a:off x="995361" y="3921957"/>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Tree>
    <p:extLst>
      <p:ext uri="{BB962C8B-B14F-4D97-AF65-F5344CB8AC3E}">
        <p14:creationId xmlns:p14="http://schemas.microsoft.com/office/powerpoint/2010/main" val="13350378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strapline only o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21253109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7FEAF4CD-1030-FF42-BDBE-443CA435D646}"/>
              </a:ext>
            </a:extLst>
          </p:cNvPr>
          <p:cNvSpPr>
            <a:spLocks noGrp="1"/>
          </p:cNvSpPr>
          <p:nvPr>
            <p:ph type="body" sz="quarter" idx="10" hasCustomPrompt="1"/>
          </p:nvPr>
        </p:nvSpPr>
        <p:spPr>
          <a:xfrm>
            <a:off x="1004400" y="1335603"/>
            <a:ext cx="10195200" cy="4531798"/>
          </a:xfrm>
        </p:spPr>
        <p:txBody>
          <a:bodyPr lIns="72000" rIns="72000"/>
          <a:lstStyle>
            <a:lvl1pPr>
              <a:defRPr/>
            </a:lvl1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03042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3" name="Text Placeholder 6">
            <a:extLst>
              <a:ext uri="{FF2B5EF4-FFF2-40B4-BE49-F238E27FC236}">
                <a16:creationId xmlns:a16="http://schemas.microsoft.com/office/drawing/2014/main" id="{EB019C80-A7E9-C02F-DC77-46789CBB493E}"/>
              </a:ext>
            </a:extLst>
          </p:cNvPr>
          <p:cNvSpPr>
            <a:spLocks noGrp="1"/>
          </p:cNvSpPr>
          <p:nvPr>
            <p:ph type="body" sz="quarter" idx="23" hasCustomPrompt="1"/>
          </p:nvPr>
        </p:nvSpPr>
        <p:spPr>
          <a:xfrm>
            <a:off x="1004400" y="1335603"/>
            <a:ext cx="5036400" cy="453179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6">
            <a:extLst>
              <a:ext uri="{FF2B5EF4-FFF2-40B4-BE49-F238E27FC236}">
                <a16:creationId xmlns:a16="http://schemas.microsoft.com/office/drawing/2014/main" id="{7722BBDF-7F35-F3E0-D59F-B6773FD3354B}"/>
              </a:ext>
            </a:extLst>
          </p:cNvPr>
          <p:cNvSpPr>
            <a:spLocks noGrp="1"/>
          </p:cNvSpPr>
          <p:nvPr>
            <p:ph type="body" sz="quarter" idx="24" hasCustomPrompt="1"/>
          </p:nvPr>
        </p:nvSpPr>
        <p:spPr>
          <a:xfrm>
            <a:off x="6165629" y="1335603"/>
            <a:ext cx="5036400" cy="453179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536135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 </a:t>
            </a:r>
            <a:r>
              <a:rPr lang="en-US" sz="600" kern="1200" noProof="0" dirty="0" err="1">
                <a:solidFill>
                  <a:schemeClr val="bg1"/>
                </a:solidFill>
                <a:latin typeface="+mn-lt"/>
                <a:ea typeface="+mn-ea"/>
                <a:cs typeface="+mn-cs"/>
              </a:rPr>
              <a:t>yy</a:t>
            </a:r>
            <a:r>
              <a:rPr lang="en-US" sz="600" kern="1200" noProof="0" dirty="0">
                <a:solidFill>
                  <a:schemeClr val="bg1"/>
                </a:solidFill>
                <a:latin typeface="+mn-lt"/>
                <a:ea typeface="+mn-ea"/>
                <a:cs typeface="+mn-cs"/>
              </a:rPr>
              <a:t>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a:t>
            </a:r>
            <a:r>
              <a:rPr lang="en-US" sz="600" kern="1200" noProof="0" dirty="0" err="1">
                <a:solidFill>
                  <a:schemeClr val="bg1"/>
                </a:solidFill>
                <a:latin typeface="+mn-lt"/>
                <a:ea typeface="+mn-ea"/>
                <a:cs typeface="+mn-cs"/>
              </a:rPr>
              <a:t>yy</a:t>
            </a:r>
            <a:r>
              <a:rPr lang="en-US" sz="600" kern="1200" noProof="0" dirty="0">
                <a:solidFill>
                  <a:schemeClr val="bg1"/>
                </a:solidFill>
                <a:latin typeface="+mn-lt"/>
                <a:ea typeface="+mn-ea"/>
                <a:cs typeface="+mn-cs"/>
              </a:rPr>
              <a:t>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155057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706178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8292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DIVIDER SLIDE">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9519861-697E-4A99-B708-B0D82E52602A}"/>
              </a:ext>
            </a:extLst>
          </p:cNvPr>
          <p:cNvGraphicFramePr>
            <a:graphicFrameLocks noChangeAspect="1"/>
          </p:cNvGraphicFramePr>
          <p:nvPr userDrawn="1">
            <p:custDataLst>
              <p:tags r:id="rId1"/>
            </p:custDataLst>
            <p:extLst>
              <p:ext uri="{D42A27DB-BD31-4B8C-83A1-F6EECF244321}">
                <p14:modId xmlns:p14="http://schemas.microsoft.com/office/powerpoint/2010/main" val="161883562"/>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49519861-697E-4A99-B708-B0D82E52602A}"/>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79D65585-570B-4F7D-B4BC-0F7CFAF52BAF}"/>
              </a:ext>
            </a:extLst>
          </p:cNvPr>
          <p:cNvSpPr>
            <a:spLocks/>
          </p:cNvSpPr>
          <p:nvPr userDrawn="1"/>
        </p:nvSpPr>
        <p:spPr>
          <a:xfrm>
            <a:off x="1022539" y="966019"/>
            <a:ext cx="7091424" cy="49259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a:defRPr sz="6600" baseline="0">
                <a:solidFill>
                  <a:schemeClr val="bg1"/>
                </a:solidFill>
              </a:defRPr>
            </a:lvl1pPr>
          </a:lstStyle>
          <a:p>
            <a:r>
              <a:rPr lang="en-GB"/>
              <a:t>Title slide text only</a:t>
            </a:r>
            <a:endParaRPr lang="en-US"/>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bwMode="white">
          <a:xfrm>
            <a:off x="1289861"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28" name="Isosceles Triangle 27">
            <a:extLst>
              <a:ext uri="{FF2B5EF4-FFF2-40B4-BE49-F238E27FC236}">
                <a16:creationId xmlns:a16="http://schemas.microsoft.com/office/drawing/2014/main" id="{05E6E369-0A71-4382-99A8-954ADC20228A}"/>
              </a:ext>
            </a:extLst>
          </p:cNvPr>
          <p:cNvSpPr/>
          <p:nvPr userDrawn="1"/>
        </p:nvSpPr>
        <p:spPr>
          <a:xfrm rot="5400000">
            <a:off x="11877180"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29" name="Isosceles Triangle 28">
            <a:extLst>
              <a:ext uri="{FF2B5EF4-FFF2-40B4-BE49-F238E27FC236}">
                <a16:creationId xmlns:a16="http://schemas.microsoft.com/office/drawing/2014/main" id="{5E6A33DA-B0E2-42D1-8C27-584323B8ECEF}"/>
              </a:ext>
            </a:extLst>
          </p:cNvPr>
          <p:cNvSpPr/>
          <p:nvPr userDrawn="1"/>
        </p:nvSpPr>
        <p:spPr>
          <a:xfrm rot="16200000" flipH="1">
            <a:off x="1131505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CE6F0D98-6569-407B-A90A-5DF22EBEA7AC}"/>
              </a:ext>
            </a:extLst>
          </p:cNvPr>
          <p:cNvSpPr/>
          <p:nvPr userDrawn="1"/>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76D8C698-B4E9-42C2-BD9C-410D7D4B5685}"/>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2" name="Graphic 31" descr="Home">
            <a:hlinkClick r:id="rId5" action="ppaction://hlinksldjump"/>
            <a:extLst>
              <a:ext uri="{FF2B5EF4-FFF2-40B4-BE49-F238E27FC236}">
                <a16:creationId xmlns:a16="http://schemas.microsoft.com/office/drawing/2014/main" id="{D0C3D869-3232-4CD2-B33D-CAEBE83C17EC}"/>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1534459" y="103561"/>
            <a:ext cx="222479" cy="222478"/>
          </a:xfrm>
          <a:prstGeom prst="rect">
            <a:avLst/>
          </a:prstGeom>
        </p:spPr>
      </p:pic>
      <p:sp>
        <p:nvSpPr>
          <p:cNvPr id="24" name="Table Placeholder 23">
            <a:extLst>
              <a:ext uri="{FF2B5EF4-FFF2-40B4-BE49-F238E27FC236}">
                <a16:creationId xmlns:a16="http://schemas.microsoft.com/office/drawing/2014/main" id="{1372FA57-4421-0D88-3041-62B7D6DAB54E}"/>
              </a:ext>
            </a:extLst>
          </p:cNvPr>
          <p:cNvSpPr>
            <a:spLocks noGrp="1"/>
          </p:cNvSpPr>
          <p:nvPr>
            <p:ph type="tbl" sz="quarter" idx="13"/>
          </p:nvPr>
        </p:nvSpPr>
        <p:spPr>
          <a:xfrm>
            <a:off x="1293541" y="3022254"/>
            <a:ext cx="6322742" cy="2720624"/>
          </a:xfrm>
        </p:spPr>
        <p:txBody>
          <a:bodyPr lIns="72000"/>
          <a:lstStyle>
            <a:lvl1pPr>
              <a:defRPr>
                <a:solidFill>
                  <a:schemeClr val="bg1"/>
                </a:solidFill>
              </a:defRPr>
            </a:lvl1pPr>
          </a:lstStyle>
          <a:p>
            <a:endParaRPr lang="en-IN"/>
          </a:p>
        </p:txBody>
      </p:sp>
      <p:graphicFrame>
        <p:nvGraphicFramePr>
          <p:cNvPr id="12" name="Table 4">
            <a:extLst>
              <a:ext uri="{FF2B5EF4-FFF2-40B4-BE49-F238E27FC236}">
                <a16:creationId xmlns:a16="http://schemas.microsoft.com/office/drawing/2014/main" id="{68EA3930-6C47-4292-B19C-3E0E9B99D352}"/>
              </a:ext>
            </a:extLst>
          </p:cNvPr>
          <p:cNvGraphicFramePr>
            <a:graphicFrameLocks/>
          </p:cNvGraphicFramePr>
          <p:nvPr userDrawn="1">
            <p:extLst>
              <p:ext uri="{D42A27DB-BD31-4B8C-83A1-F6EECF244321}">
                <p14:modId xmlns:p14="http://schemas.microsoft.com/office/powerpoint/2010/main" val="4220099917"/>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a:lnSpc>
                          <a:spcPts val="3000"/>
                        </a:lnSpc>
                      </a:pPr>
                      <a:endParaRPr lang="en-IN" sz="3200" b="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a:lnSpc>
                          <a:spcPts val="3000"/>
                        </a:lnSpc>
                      </a:pPr>
                      <a:endParaRPr lang="en-IN" sz="3200" b="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a:lnSpc>
                          <a:spcPts val="3000"/>
                        </a:lnSpc>
                      </a:pPr>
                      <a:endParaRPr lang="en-IN" sz="3200" b="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a:lnSpc>
                          <a:spcPts val="3000"/>
                        </a:lnSpc>
                      </a:pPr>
                      <a:endParaRPr lang="en-IN" sz="3200" b="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a:lnSpc>
                          <a:spcPts val="3000"/>
                        </a:lnSpc>
                      </a:pPr>
                      <a:endParaRPr lang="en-IN" sz="3200" b="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a:lnSpc>
                          <a:spcPts val="3000"/>
                        </a:lnSpc>
                      </a:pPr>
                      <a:endParaRPr lang="en-IN" sz="3200" b="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920"/>
                        </a:lnSpc>
                      </a:pPr>
                      <a:endParaRPr lang="en-IN"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20"/>
                        </a:lnSpc>
                      </a:pPr>
                      <a:endParaRPr lang="en-IN"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Tree>
    <p:extLst>
      <p:ext uri="{BB962C8B-B14F-4D97-AF65-F5344CB8AC3E}">
        <p14:creationId xmlns:p14="http://schemas.microsoft.com/office/powerpoint/2010/main" val="16415544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1278481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404B5F02-6946-4796-B93B-3238A3C22A56}"/>
              </a:ext>
            </a:extLst>
          </p:cNvPr>
          <p:cNvSpPr/>
          <p:nvPr userDrawn="1"/>
        </p:nvSpPr>
        <p:spPr>
          <a:xfrm>
            <a:off x="1810753" y="6271101"/>
            <a:ext cx="5877426" cy="310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kern="1200" noProof="0" dirty="0">
                <a:solidFill>
                  <a:schemeClr val="bg1">
                    <a:lumMod val="65000"/>
                  </a:schemeClr>
                </a:solidFill>
                <a:latin typeface="+mn-lt"/>
                <a:ea typeface="+mn-ea"/>
                <a:cs typeface="+mn-cs"/>
              </a:rPr>
              <a:t>© 2023 KPMG LLP, a </a:t>
            </a:r>
            <a:r>
              <a:rPr lang="en-US" sz="800" kern="1200" noProof="0" dirty="0" err="1">
                <a:solidFill>
                  <a:schemeClr val="bg1">
                    <a:lumMod val="65000"/>
                  </a:schemeClr>
                </a:solidFill>
                <a:latin typeface="+mn-lt"/>
                <a:ea typeface="+mn-ea"/>
                <a:cs typeface="+mn-cs"/>
              </a:rPr>
              <a:t>yy</a:t>
            </a:r>
            <a:r>
              <a:rPr lang="en-US" sz="800" kern="1200" noProof="0" dirty="0">
                <a:solidFill>
                  <a:schemeClr val="bg1">
                    <a:lumMod val="65000"/>
                  </a:schemeClr>
                </a:solidFill>
                <a:latin typeface="+mn-lt"/>
                <a:ea typeface="+mn-ea"/>
                <a:cs typeface="+mn-cs"/>
              </a:rPr>
              <a:t> limited liability partnership and a member firm of the KPMG global organisation of independent member firms affiliated with KPMG International Limited, a private </a:t>
            </a:r>
            <a:r>
              <a:rPr lang="en-US" sz="800" kern="1200" noProof="0" dirty="0" err="1">
                <a:solidFill>
                  <a:schemeClr val="bg1">
                    <a:lumMod val="65000"/>
                  </a:schemeClr>
                </a:solidFill>
                <a:latin typeface="+mn-lt"/>
                <a:ea typeface="+mn-ea"/>
                <a:cs typeface="+mn-cs"/>
              </a:rPr>
              <a:t>yy</a:t>
            </a:r>
            <a:r>
              <a:rPr lang="en-US" sz="800" kern="1200" noProof="0" dirty="0">
                <a:solidFill>
                  <a:schemeClr val="bg1">
                    <a:lumMod val="65000"/>
                  </a:schemeClr>
                </a:solidFill>
                <a:latin typeface="+mn-lt"/>
                <a:ea typeface="+mn-ea"/>
                <a:cs typeface="+mn-cs"/>
              </a:rPr>
              <a:t> company limited by guarantee. All rights reserved</a:t>
            </a:r>
            <a:endParaRPr lang="fi-FI" sz="1500" dirty="0" err="1">
              <a:solidFill>
                <a:schemeClr val="bg1"/>
              </a:solidFill>
            </a:endParaRPr>
          </a:p>
        </p:txBody>
      </p:sp>
      <p:sp>
        <p:nvSpPr>
          <p:cNvPr id="15" name="Text Placeholder 8">
            <a:extLst>
              <a:ext uri="{FF2B5EF4-FFF2-40B4-BE49-F238E27FC236}">
                <a16:creationId xmlns:a16="http://schemas.microsoft.com/office/drawing/2014/main" id="{BAAD9B2C-D98A-43EC-8DB5-925EAC45CB70}"/>
              </a:ext>
            </a:extLst>
          </p:cNvPr>
          <p:cNvSpPr>
            <a:spLocks noGrp="1"/>
          </p:cNvSpPr>
          <p:nvPr>
            <p:ph type="body" sz="quarter" idx="12" hasCustomPrompt="1"/>
          </p:nvPr>
        </p:nvSpPr>
        <p:spPr>
          <a:xfrm>
            <a:off x="1009216" y="1332698"/>
            <a:ext cx="4961984" cy="750665"/>
          </a:xfrm>
        </p:spPr>
        <p:txBody>
          <a:bodyPr/>
          <a:lstStyle/>
          <a:p>
            <a:pPr>
              <a:spcAft>
                <a:spcPts val="300"/>
              </a:spcAft>
            </a:pPr>
            <a:r>
              <a:rPr lang="en-US" sz="900" b="0" spc="-20" dirty="0">
                <a:solidFill>
                  <a:schemeClr val="tx2"/>
                </a:solidFill>
              </a:rPr>
              <a:t>[</a:t>
            </a:r>
            <a:r>
              <a:rPr lang="en-US" sz="900" b="0" spc="-20" dirty="0">
                <a:solidFill>
                  <a:srgbClr val="FD349C"/>
                </a:solidFill>
              </a:rPr>
              <a:t>Company name</a:t>
            </a:r>
            <a:r>
              <a:rPr lang="en-US" sz="900" b="0" spc="-20" dirty="0">
                <a:solidFill>
                  <a:schemeClr val="tx2"/>
                </a:solidFill>
              </a:rPr>
              <a:t>]</a:t>
            </a:r>
          </a:p>
          <a:p>
            <a:pPr>
              <a:spcAft>
                <a:spcPts val="300"/>
              </a:spcAft>
            </a:pPr>
            <a:r>
              <a:rPr lang="en-US" sz="900" b="0" spc="-20" dirty="0" err="1">
                <a:solidFill>
                  <a:schemeClr val="tx2"/>
                </a:solidFill>
              </a:rPr>
              <a:t>Att</a:t>
            </a:r>
            <a:r>
              <a:rPr lang="en-US" sz="900" b="0" spc="-20" dirty="0">
                <a:solidFill>
                  <a:schemeClr val="tx2"/>
                </a:solidFill>
              </a:rPr>
              <a:t>: [</a:t>
            </a:r>
            <a:r>
              <a:rPr lang="en-US" sz="900" b="0" spc="-20" dirty="0">
                <a:solidFill>
                  <a:srgbClr val="FD349C"/>
                </a:solidFill>
              </a:rPr>
              <a:t>client name</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1</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2</a:t>
            </a:r>
            <a:r>
              <a:rPr lang="en-US" sz="900" b="0" spc="-20" dirty="0">
                <a:solidFill>
                  <a:schemeClr val="tx2"/>
                </a:solidFill>
              </a:rPr>
              <a:t>]</a:t>
            </a:r>
            <a:endParaRPr lang="en-US" sz="900" dirty="0">
              <a:solidFill>
                <a:schemeClr val="tx2"/>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7BBB9F2A-97C8-4DBE-BEC7-A74C9B7A7FDA}"/>
              </a:ext>
            </a:extLst>
          </p:cNvPr>
          <p:cNvSpPr>
            <a:spLocks noGrp="1"/>
          </p:cNvSpPr>
          <p:nvPr>
            <p:ph type="body" sz="quarter" idx="10"/>
          </p:nvPr>
        </p:nvSpPr>
        <p:spPr>
          <a:xfrm>
            <a:off x="1003200" y="2345461"/>
            <a:ext cx="4968000" cy="3071557"/>
          </a:xfrm>
        </p:spPr>
        <p:txBody>
          <a:bodyPr/>
          <a:lstStyle/>
          <a:p>
            <a:pPr>
              <a:spcAft>
                <a:spcPts val="300"/>
              </a:spcAft>
            </a:pPr>
            <a:endParaRPr lang="en-US" sz="900" b="0" spc="-20" dirty="0"/>
          </a:p>
        </p:txBody>
      </p:sp>
      <p:sp>
        <p:nvSpPr>
          <p:cNvPr id="12" name="Text Box 32">
            <a:extLst>
              <a:ext uri="{FF2B5EF4-FFF2-40B4-BE49-F238E27FC236}">
                <a16:creationId xmlns:a16="http://schemas.microsoft.com/office/drawing/2014/main" id="{6BD707DD-2562-4C6C-8676-C469CD2B6D79}"/>
              </a:ext>
            </a:extLst>
          </p:cNvPr>
          <p:cNvSpPr txBox="1">
            <a:spLocks noChangeArrowheads="1"/>
          </p:cNvSpPr>
          <p:nvPr userDrawn="1"/>
        </p:nvSpPr>
        <p:spPr bwMode="auto">
          <a:xfrm>
            <a:off x="1012563" y="431800"/>
            <a:ext cx="3234584" cy="830997"/>
          </a:xfrm>
          <a:prstGeom prst="rect">
            <a:avLst/>
          </a:prstGeom>
          <a:noFill/>
          <a:ln w="6350">
            <a:noFill/>
            <a:miter lim="800000"/>
            <a:headEnd/>
            <a:tailEnd/>
          </a:ln>
          <a:effectLst/>
        </p:spPr>
        <p:txBody>
          <a:bodyPr wrap="square" lIns="0" tIns="0" rIns="0" bIns="0">
            <a:spAutoFit/>
          </a:bodyPr>
          <a:lstStyle/>
          <a:p>
            <a:pPr hangingPunct="0"/>
            <a:r>
              <a:rPr lang="en-US" sz="900" b="1" dirty="0">
                <a:solidFill>
                  <a:schemeClr val="tx2"/>
                </a:solidFill>
                <a:latin typeface="Arial" panose="020B0604020202020204" pitchFamily="34" charset="0"/>
                <a:cs typeface="Arial" panose="020B0604020202020204" pitchFamily="34" charset="0"/>
              </a:rPr>
              <a:t>KPMG [</a:t>
            </a:r>
            <a:r>
              <a:rPr lang="en-US" sz="900" spc="-20" dirty="0">
                <a:solidFill>
                  <a:schemeClr val="tx2"/>
                </a:solidFill>
              </a:rPr>
              <a:t>legal name</a:t>
            </a:r>
            <a:r>
              <a:rPr lang="en-US" sz="900" b="1"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chemeClr val="tx2"/>
                </a:solidFill>
              </a:rPr>
              <a:t>Address line 1</a:t>
            </a:r>
            <a:r>
              <a:rPr lang="en-US" sz="900"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chemeClr val="tx2"/>
                </a:solidFill>
              </a:rPr>
              <a:t>Address line 2</a:t>
            </a:r>
            <a:r>
              <a:rPr lang="en-US" sz="900" dirty="0">
                <a:solidFill>
                  <a:schemeClr val="tx2"/>
                </a:solidFill>
                <a:latin typeface="Arial" panose="020B0604020202020204" pitchFamily="34" charset="0"/>
                <a:cs typeface="Arial" panose="020B0604020202020204" pitchFamily="34" charset="0"/>
              </a:rPr>
              <a:t>]</a:t>
            </a:r>
          </a:p>
          <a:p>
            <a:pPr hangingPunct="0"/>
            <a:endParaRPr lang="en-US" sz="900" dirty="0">
              <a:solidFill>
                <a:schemeClr val="tx2"/>
              </a:solidFill>
              <a:latin typeface="Arial" panose="020B0604020202020204" pitchFamily="34" charset="0"/>
              <a:cs typeface="Arial" panose="020B0604020202020204" pitchFamily="34" charset="0"/>
            </a:endParaRPr>
          </a:p>
          <a:p>
            <a:pPr hangingPunct="0"/>
            <a:endParaRPr lang="en-US" sz="900" dirty="0">
              <a:solidFill>
                <a:schemeClr val="tx2"/>
              </a:solidFill>
              <a:latin typeface="Arial" panose="020B0604020202020204" pitchFamily="34" charset="0"/>
              <a:cs typeface="Arial" panose="020B0604020202020204" pitchFamily="34" charset="0"/>
            </a:endParaRPr>
          </a:p>
          <a:p>
            <a:pPr>
              <a:spcAft>
                <a:spcPts val="300"/>
              </a:spcAft>
            </a:pPr>
            <a:r>
              <a:rPr lang="en-US" sz="900" b="1" spc="-20" dirty="0">
                <a:solidFill>
                  <a:schemeClr val="tx2"/>
                </a:solidFill>
              </a:rPr>
              <a:t>Private and confidential</a:t>
            </a:r>
            <a:endParaRPr lang="en-US" sz="900" dirty="0">
              <a:solidFill>
                <a:schemeClr val="tx2"/>
              </a:solidFill>
              <a:latin typeface="Arial" panose="020B0604020202020204" pitchFamily="34" charset="0"/>
              <a:cs typeface="Arial" panose="020B0604020202020204" pitchFamily="34" charset="0"/>
            </a:endParaRPr>
          </a:p>
        </p:txBody>
      </p:sp>
      <p:sp>
        <p:nvSpPr>
          <p:cNvPr id="14" name="Text Placeholder 8">
            <a:extLst>
              <a:ext uri="{FF2B5EF4-FFF2-40B4-BE49-F238E27FC236}">
                <a16:creationId xmlns:a16="http://schemas.microsoft.com/office/drawing/2014/main" id="{78BF920B-FA8C-4998-B2E1-FB28E5B5DBDA}"/>
              </a:ext>
            </a:extLst>
          </p:cNvPr>
          <p:cNvSpPr>
            <a:spLocks noGrp="1"/>
          </p:cNvSpPr>
          <p:nvPr>
            <p:ph type="body" sz="quarter" idx="11"/>
          </p:nvPr>
        </p:nvSpPr>
        <p:spPr>
          <a:xfrm>
            <a:off x="6220800" y="2345461"/>
            <a:ext cx="4968000" cy="3071557"/>
          </a:xfrm>
        </p:spPr>
        <p:txBody>
          <a:bodyPr/>
          <a:lstStyle/>
          <a:p>
            <a:pPr>
              <a:spcAft>
                <a:spcPts val="300"/>
              </a:spcAft>
            </a:pPr>
            <a:endParaRPr lang="en-US" sz="900" b="0" spc="-20" dirty="0"/>
          </a:p>
        </p:txBody>
      </p:sp>
      <p:sp>
        <p:nvSpPr>
          <p:cNvPr id="16" name="Text Placeholder 8">
            <a:extLst>
              <a:ext uri="{FF2B5EF4-FFF2-40B4-BE49-F238E27FC236}">
                <a16:creationId xmlns:a16="http://schemas.microsoft.com/office/drawing/2014/main" id="{157D4C23-DFF6-44ED-8C11-3705951954AD}"/>
              </a:ext>
            </a:extLst>
          </p:cNvPr>
          <p:cNvSpPr>
            <a:spLocks noGrp="1"/>
          </p:cNvSpPr>
          <p:nvPr>
            <p:ph type="body" sz="quarter" idx="14" hasCustomPrompt="1"/>
          </p:nvPr>
        </p:nvSpPr>
        <p:spPr>
          <a:xfrm>
            <a:off x="3318758" y="1332698"/>
            <a:ext cx="2652442" cy="310198"/>
          </a:xfrm>
        </p:spPr>
        <p:txBody>
          <a:bodyPr/>
          <a:lstStyle>
            <a:lvl1pPr algn="r">
              <a:defRPr/>
            </a:lvl1pPr>
          </a:lstStyle>
          <a:p>
            <a:pPr>
              <a:spcAft>
                <a:spcPts val="300"/>
              </a:spcAft>
            </a:pPr>
            <a:r>
              <a:rPr lang="en-US" sz="900" b="0" spc="-20">
                <a:solidFill>
                  <a:schemeClr val="tx2"/>
                </a:solidFill>
              </a:rPr>
              <a:t>[</a:t>
            </a:r>
            <a:r>
              <a:rPr lang="en-US" sz="900" b="0" spc="-20">
                <a:solidFill>
                  <a:srgbClr val="FD349C"/>
                </a:solidFill>
              </a:rPr>
              <a:t>date</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31122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HEADLINES">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237511488"/>
              </p:ext>
            </p:extLst>
          </p:nvPr>
        </p:nvGraphicFramePr>
        <p:xfrm>
          <a:off x="998399" y="1332226"/>
          <a:ext cx="10198240" cy="4274822"/>
        </p:xfrm>
        <a:graphic>
          <a:graphicData uri="http://schemas.openxmlformats.org/drawingml/2006/table">
            <a:tbl>
              <a:tblPr firstRow="1" bandRow="1">
                <a:tableStyleId>{5C22544A-7EE6-4342-B048-85BDC9FD1C3A}</a:tableStyleId>
              </a:tblPr>
              <a:tblGrid>
                <a:gridCol w="6731960">
                  <a:extLst>
                    <a:ext uri="{9D8B030D-6E8A-4147-A177-3AD203B41FA5}">
                      <a16:colId xmlns:a16="http://schemas.microsoft.com/office/drawing/2014/main" val="3484522192"/>
                    </a:ext>
                  </a:extLst>
                </a:gridCol>
                <a:gridCol w="1198179">
                  <a:extLst>
                    <a:ext uri="{9D8B030D-6E8A-4147-A177-3AD203B41FA5}">
                      <a16:colId xmlns:a16="http://schemas.microsoft.com/office/drawing/2014/main" val="2898080812"/>
                    </a:ext>
                  </a:extLst>
                </a:gridCol>
                <a:gridCol w="1198179">
                  <a:extLst>
                    <a:ext uri="{9D8B030D-6E8A-4147-A177-3AD203B41FA5}">
                      <a16:colId xmlns:a16="http://schemas.microsoft.com/office/drawing/2014/main" val="4060292537"/>
                    </a:ext>
                  </a:extLst>
                </a:gridCol>
                <a:gridCol w="1069922">
                  <a:extLst>
                    <a:ext uri="{9D8B030D-6E8A-4147-A177-3AD203B41FA5}">
                      <a16:colId xmlns:a16="http://schemas.microsoft.com/office/drawing/2014/main" val="1277292110"/>
                    </a:ext>
                  </a:extLst>
                </a:gridCol>
              </a:tblGrid>
              <a:tr h="0">
                <a:tc rowSpan="2">
                  <a:txBody>
                    <a:bodyPr/>
                    <a:lstStyle/>
                    <a:p>
                      <a:r>
                        <a:rPr lang="en-US" sz="1000" dirty="0"/>
                        <a:t>Topic</a:t>
                      </a:r>
                    </a:p>
                  </a:txBody>
                  <a:tcPr marL="72000" marR="72000" marT="72000" marB="72000" anchor="ct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000" dirty="0"/>
                        <a:t>Implication</a:t>
                      </a:r>
                    </a:p>
                  </a:txBody>
                  <a:tcPr marL="54864" marR="54864" marT="54864" marB="5486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599696076"/>
                  </a:ext>
                </a:extLst>
              </a:tr>
              <a:tr h="481439">
                <a:tc v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000" b="1" dirty="0">
                          <a:solidFill>
                            <a:schemeClr val="bg1"/>
                          </a:solidFill>
                        </a:rPr>
                        <a:t>Valuation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dirty="0">
                          <a:solidFill>
                            <a:schemeClr val="bg1"/>
                          </a:solidFill>
                        </a:rPr>
                        <a:t>SPA</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dirty="0">
                          <a:solidFill>
                            <a:schemeClr val="bg1"/>
                          </a:solidFill>
                        </a:rPr>
                        <a:t>Other</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r h="1177085">
                <a:tc>
                  <a:txBody>
                    <a:bodyPr/>
                    <a:lstStyle/>
                    <a:p>
                      <a:pPr marL="640080" lvl="0">
                        <a:spcAft>
                          <a:spcPts val="900"/>
                        </a:spcAft>
                      </a:pPr>
                      <a:endParaRPr lang="en-US" sz="1000" kern="1200" dirty="0">
                        <a:solidFill>
                          <a:schemeClr val="accent2"/>
                        </a:solidFill>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1" dirty="0">
                        <a:solidFill>
                          <a:schemeClr val="accent6"/>
                        </a:solidFill>
                        <a:latin typeface="+mn-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716089"/>
                  </a:ext>
                </a:extLst>
              </a:tr>
              <a:tr h="1177085">
                <a:tc>
                  <a:txBody>
                    <a:bodyPr/>
                    <a:lstStyle/>
                    <a:p>
                      <a:pPr marL="640080">
                        <a:spcAft>
                          <a:spcPts val="900"/>
                        </a:spcAft>
                      </a:pPr>
                      <a:endParaRPr lang="en-US" sz="1000" dirty="0">
                        <a:solidFill>
                          <a:schemeClr val="tx2"/>
                        </a:solidFill>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4082819"/>
                  </a:ext>
                </a:extLst>
              </a:tr>
              <a:tr h="1177085">
                <a:tc>
                  <a:txBody>
                    <a:bodyPr/>
                    <a:lstStyle/>
                    <a:p>
                      <a:pPr marL="640080">
                        <a:spcAft>
                          <a:spcPts val="900"/>
                        </a:spcAft>
                      </a:pPr>
                      <a:endParaRPr lang="en-US" sz="1000" dirty="0">
                        <a:solidFill>
                          <a:schemeClr val="tx2"/>
                        </a:solidFill>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403123"/>
                  </a:ext>
                </a:extLst>
              </a:tr>
            </a:tbl>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995362" y="2233794"/>
            <a:ext cx="6708721" cy="267866"/>
          </a:xfrm>
        </p:spPr>
        <p:txBody>
          <a:bodyPr lIns="72000" anchor="ctr"/>
          <a:lstStyle>
            <a:lvl1pPr>
              <a:defRPr sz="1000"/>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995361" y="3411748"/>
            <a:ext cx="6708717" cy="267866"/>
          </a:xfrm>
        </p:spPr>
        <p:txBody>
          <a:bodyPr lIns="72000" anchor="ctr"/>
          <a:lstStyle>
            <a:lvl1pPr>
              <a:defRPr sz="1000"/>
            </a:lvl1pPr>
          </a:lstStyle>
          <a:p>
            <a:pPr lvl="0"/>
            <a:r>
              <a:rPr lang="en-US" dirty="0"/>
              <a:t>Heading (e.g., Supplier contracts)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995362" y="4589702"/>
            <a:ext cx="6708716" cy="267866"/>
          </a:xfrm>
        </p:spPr>
        <p:txBody>
          <a:bodyPr lIns="72000" anchor="ctr"/>
          <a:lstStyle>
            <a:lvl1pPr>
              <a:defRPr sz="1000"/>
            </a:lvl1pPr>
          </a:lstStyle>
          <a:p>
            <a:pPr lvl="0"/>
            <a:r>
              <a:rPr lang="en-US" dirty="0"/>
              <a:t>Heading (e.g., Transitional SLAs)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995362" y="3746410"/>
            <a:ext cx="6708720" cy="665420"/>
          </a:xfrm>
        </p:spPr>
        <p:txBody>
          <a:bodyPr lIns="72000"/>
          <a:lstStyle>
            <a:lvl2pPr>
              <a:defRPr sz="1000" b="0">
                <a:solidFill>
                  <a:schemeClr val="tx1"/>
                </a:solidFill>
              </a:defRPr>
            </a:lvl2pPr>
            <a:lvl3pPr marL="0" indent="0">
              <a:buNone/>
              <a:defRPr sz="1000"/>
            </a:lvl3pPr>
            <a:lvl4pPr>
              <a:defRPr sz="1000"/>
            </a:lvl4pPr>
            <a:lvl5pPr>
              <a:defRPr sz="1000"/>
            </a:lvl5pPr>
          </a:lstStyle>
          <a:p>
            <a:pPr lvl="1"/>
            <a:r>
              <a:rPr lang="en-US"/>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995362" y="4924364"/>
            <a:ext cx="6708720" cy="665420"/>
          </a:xfrm>
        </p:spPr>
        <p:txBody>
          <a:bodyPr lIns="72000"/>
          <a:lstStyle>
            <a:lvl2pPr>
              <a:defRPr sz="1000" b="0">
                <a:solidFill>
                  <a:schemeClr val="tx1"/>
                </a:solidFill>
              </a:defRPr>
            </a:lvl2pPr>
            <a:lvl3pPr marL="0" indent="0">
              <a:buNone/>
              <a:defRPr sz="1000"/>
            </a:lvl3pPr>
            <a:lvl4pPr>
              <a:defRPr sz="1000"/>
            </a:lvl4pPr>
            <a:lvl5pPr>
              <a:defRPr sz="1000"/>
            </a:lvl5pPr>
          </a:lstStyle>
          <a:p>
            <a:pPr lvl="1"/>
            <a:r>
              <a:rPr lang="en-US"/>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995361" y="2567974"/>
            <a:ext cx="6708721" cy="665420"/>
          </a:xfrm>
        </p:spPr>
        <p:txBody>
          <a:bodyPr lIns="72000"/>
          <a:lstStyle>
            <a:lvl2pPr>
              <a:defRPr lang="en-US" sz="1000" kern="1200" dirty="0" smtClean="0">
                <a:solidFill>
                  <a:schemeClr val="tx1"/>
                </a:solidFill>
                <a:latin typeface="+mn-lt"/>
                <a:ea typeface="+mn-ea"/>
                <a:cs typeface="+mn-cs"/>
              </a:defRPr>
            </a:lvl2pPr>
            <a:lvl3pPr marL="0" indent="0">
              <a:buNone/>
              <a:defRPr sz="1000"/>
            </a:lvl3pPr>
            <a:lvl4pPr>
              <a:defRPr sz="1000"/>
            </a:lvl4pPr>
            <a:lvl5pPr>
              <a:defRPr sz="1000"/>
            </a:lvl5pPr>
          </a:lstStyle>
          <a:p>
            <a:pPr marL="0" lvl="1" indent="0" algn="l" defTabSz="914400" rtl="0" eaLnBrk="1" latinLnBrk="0" hangingPunct="1">
              <a:lnSpc>
                <a:spcPct val="100000"/>
              </a:lnSpc>
              <a:spcBef>
                <a:spcPts val="0"/>
              </a:spcBef>
              <a:spcAft>
                <a:spcPts val="600"/>
              </a:spcAft>
              <a:buFontTx/>
              <a:buNone/>
            </a:pPr>
            <a:r>
              <a:rPr lang="en-US" dirty="0"/>
              <a:t>Summary/key message of the topic</a:t>
            </a:r>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8184542"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9314982"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8184542"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9314982"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8184542"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9314982"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10445422"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10445422"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10445422"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Tree>
    <p:extLst>
      <p:ext uri="{BB962C8B-B14F-4D97-AF65-F5344CB8AC3E}">
        <p14:creationId xmlns:p14="http://schemas.microsoft.com/office/powerpoint/2010/main" val="28982371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a:solidFill>
                  <a:schemeClr val="bg1"/>
                </a:solidFill>
                <a:latin typeface="+mn-lt"/>
              </a:rPr>
              <a:t>Slide Title (DO NOT DELETE)</a:t>
            </a:r>
            <a:endParaRPr lang="fr-FR" sz="1400" i="1">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dirty="0">
                <a:solidFill>
                  <a:schemeClr val="tx2"/>
                </a:solidFill>
                <a:latin typeface="+mj-lt"/>
                <a:cs typeface="Arial" panose="020B0604020202020204" pitchFamily="34" charset="0"/>
              </a:rPr>
              <a:t>Section Title (DO NOT DELETE)</a:t>
            </a:r>
          </a:p>
        </p:txBody>
      </p:sp>
      <p:sp>
        <p:nvSpPr>
          <p:cNvPr id="27" name="Rectangle 26">
            <a:extLst>
              <a:ext uri="{FF2B5EF4-FFF2-40B4-BE49-F238E27FC236}">
                <a16:creationId xmlns:a16="http://schemas.microsoft.com/office/drawing/2014/main" id="{A6B5CF53-2F01-4EF9-AD23-D098A848ABC3}"/>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67272804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ZoneTexte 25">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2563791"/>
            <a:ext cx="13104000" cy="1873094"/>
          </a:xfrm>
          <a:prstGeom prst="rect">
            <a:avLst/>
          </a:prstGeom>
          <a:noFill/>
        </p:spPr>
        <p:txBody>
          <a:bodyPr vert="horz" wrap="square" lIns="0" tIns="1008000" rIns="0" bIns="0" rtlCol="0">
            <a:noAutofit/>
          </a:bodyPr>
          <a:lstStyle/>
          <a:p>
            <a:pPr>
              <a:lnSpc>
                <a:spcPct val="70000"/>
              </a:lnSpc>
            </a:pPr>
            <a:r>
              <a:rPr lang="en-US" sz="660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16191" y="4911884"/>
            <a:ext cx="9720000" cy="276999"/>
          </a:xfrm>
          <a:prstGeom prst="rect">
            <a:avLst/>
          </a:prstGeom>
          <a:noFill/>
        </p:spPr>
        <p:txBody>
          <a:bodyPr vert="horz" wrap="square" lIns="0" tIns="0" rIns="0" bIns="0" rtlCol="0" anchor="t" anchorCtr="0">
            <a:noAutofit/>
          </a:bodyPr>
          <a:lstStyle/>
          <a:p>
            <a:r>
              <a:rPr lang="fr-FR" sz="1200" i="0">
                <a:solidFill>
                  <a:schemeClr val="bg1"/>
                </a:solidFill>
                <a:latin typeface="Arial" panose="020B0604020202020204" pitchFamily="34" charset="0"/>
              </a:rPr>
              <a:t>A</a:t>
            </a:r>
          </a:p>
        </p:txBody>
      </p:sp>
      <p:sp>
        <p:nvSpPr>
          <p:cNvPr id="14" name="ZoneTexte 14">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7414762" y="4911884"/>
            <a:ext cx="558000" cy="276999"/>
          </a:xfrm>
          <a:prstGeom prst="rect">
            <a:avLst/>
          </a:prstGeom>
          <a:noFill/>
        </p:spPr>
        <p:txBody>
          <a:bodyPr vert="horz" wrap="square" lIns="0" tIns="0" rIns="0" bIns="0" rtlCol="0" anchor="t" anchorCtr="0">
            <a:noAutofit/>
          </a:bodyPr>
          <a:lstStyle/>
          <a:p>
            <a:pPr algn="ctr"/>
            <a:r>
              <a:rPr lang="fr-FR" sz="1200" i="0">
                <a:solidFill>
                  <a:schemeClr val="bg1"/>
                </a:solidFill>
                <a:latin typeface="Arial" panose="020B0604020202020204" pitchFamily="34" charset="0"/>
              </a:rPr>
              <a:t>1</a:t>
            </a:r>
          </a:p>
        </p:txBody>
      </p:sp>
      <p:sp>
        <p:nvSpPr>
          <p:cNvPr id="15" name="Rectangle 14">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2064470" y="1408252"/>
            <a:ext cx="7324627" cy="46717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TextBox 6">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03409" y="4112885"/>
            <a:ext cx="376801" cy="25200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18" name="ZoneTexte 31">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735454" y="4112884"/>
            <a:ext cx="9274403" cy="252000"/>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rgbClr val="FFFFFF"/>
                </a:solidFill>
                <a:effectLst/>
                <a:latin typeface="+mn-lt"/>
              </a:rPr>
              <a:t>A</a:t>
            </a:r>
          </a:p>
        </p:txBody>
      </p:sp>
      <p:sp>
        <p:nvSpPr>
          <p:cNvPr id="19" name="ZoneTexte 32">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6295994" y="4112884"/>
            <a:ext cx="72000" cy="36000"/>
          </a:xfrm>
          <a:prstGeom prst="rect">
            <a:avLst/>
          </a:prstGeom>
          <a:noFill/>
        </p:spPr>
        <p:txBody>
          <a:bodyPr vert="horz" wrap="none" lIns="0" tIns="0" rIns="0" bIns="0" rtlCol="0" anchor="ctr" anchorCtr="0">
            <a:noAutofit/>
          </a:bodyPr>
          <a:lstStyle/>
          <a:p>
            <a:pPr algn="ctr"/>
            <a:r>
              <a:rPr lang="fr-FR" sz="100">
                <a:noFill/>
                <a:latin typeface="+mj-lt"/>
              </a:rPr>
              <a:t>4</a:t>
            </a:r>
          </a:p>
        </p:txBody>
      </p:sp>
      <p:sp>
        <p:nvSpPr>
          <p:cNvPr id="20" name="ZoneTexte 33">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6367994" y="4112884"/>
            <a:ext cx="558000" cy="252000"/>
          </a:xfrm>
          <a:prstGeom prst="rect">
            <a:avLst/>
          </a:prstGeom>
          <a:noFill/>
        </p:spPr>
        <p:txBody>
          <a:bodyPr vert="horz" wrap="square" lIns="0" tIns="0" rIns="0" bIns="0" rtlCol="0" anchor="t" anchorCtr="0">
            <a:noAutofit/>
          </a:bodyPr>
          <a:lstStyle/>
          <a:p>
            <a:pPr marL="0" indent="0" algn="r">
              <a:buFont typeface="Arial" panose="020B0604020202020204" pitchFamily="34" charset="0"/>
              <a:buNone/>
            </a:pPr>
            <a:r>
              <a:rPr lang="fr-FR" sz="1200">
                <a:solidFill>
                  <a:srgbClr val="FFFFFF"/>
                </a:solidFill>
                <a:effectLst/>
                <a:latin typeface="+mn-lt"/>
              </a:rPr>
              <a:t>5</a:t>
            </a:r>
          </a:p>
        </p:txBody>
      </p:sp>
      <p:sp>
        <p:nvSpPr>
          <p:cNvPr id="23" name="TextBox 22">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860" y="1538062"/>
            <a:ext cx="3952700" cy="1012636"/>
          </a:xfrm>
          <a:prstGeom prst="rect">
            <a:avLst/>
          </a:prstGeom>
        </p:spPr>
        <p:txBody>
          <a:bodyPr vert="horz" wrap="square" lIns="0" tIns="0" rIns="0" bIns="0" rtlCol="0" anchor="t" anchorCtr="0">
            <a:noAutofit/>
          </a:bodyPr>
          <a:lstStyle/>
          <a:p>
            <a:pPr algn="l">
              <a:lnSpc>
                <a:spcPct val="80000"/>
              </a:lnSpc>
              <a:spcAft>
                <a:spcPts val="600"/>
              </a:spcAft>
            </a:pPr>
            <a:r>
              <a:rPr lang="en-GB" sz="6600" b="1">
                <a:solidFill>
                  <a:srgbClr val="FFFFFF"/>
                </a:solidFill>
                <a:latin typeface="+mj-lt"/>
              </a:rPr>
              <a:t>01</a:t>
            </a:r>
          </a:p>
        </p:txBody>
      </p:sp>
      <p:sp>
        <p:nvSpPr>
          <p:cNvPr id="8" name="Rectangle 7">
            <a:extLst>
              <a:ext uri="{FF2B5EF4-FFF2-40B4-BE49-F238E27FC236}">
                <a16:creationId xmlns:a16="http://schemas.microsoft.com/office/drawing/2014/main" id="{8AB1C17B-A9D1-4507-B8FA-BCC6FCD22497}"/>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918829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a:solidFill>
                  <a:srgbClr val="FFFFFF"/>
                </a:solidFill>
                <a:latin typeface="+mj-lt"/>
              </a:rPr>
              <a:t>A</a:t>
            </a:r>
          </a:p>
          <a:p>
            <a:pPr lvl="0">
              <a:lnSpc>
                <a:spcPct val="70000"/>
              </a:lnSpc>
            </a:pPr>
            <a:endParaRPr lang="fr-FR" sz="8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7" name="Rectangle 6">
            <a:extLst>
              <a:ext uri="{FF2B5EF4-FFF2-40B4-BE49-F238E27FC236}">
                <a16:creationId xmlns:a16="http://schemas.microsoft.com/office/drawing/2014/main" id="{8F504BE0-C22C-4E73-9F53-E0A4B8A1E1A6}"/>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2006227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tx2"/>
                </a:solidFill>
              </a:rPr>
              <a:t>&lt;%SECTIONNAME%&gt;&lt;%SPACEIFINSUBSEC%&gt;&lt;%TIRETIFINSUBSEC%&gt;&lt;%SPACEIFINSUBSEC%&gt;&lt;%SUBSECTIONNAME%&gt;</a:t>
            </a:r>
            <a:endParaRPr lang="en-GB" sz="1200" b="1">
              <a:solidFill>
                <a:schemeClr val="tx2"/>
              </a:solidFill>
            </a:endParaRPr>
          </a:p>
        </p:txBody>
      </p:sp>
      <p:sp>
        <p:nvSpPr>
          <p:cNvPr id="8" name="Rectangle 7">
            <a:extLst>
              <a:ext uri="{FF2B5EF4-FFF2-40B4-BE49-F238E27FC236}">
                <a16:creationId xmlns:a16="http://schemas.microsoft.com/office/drawing/2014/main" id="{FBBCEEA7-5FD8-4977-B458-9D787CBE5EFF}"/>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6040930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16" name="Rectangle 15">
            <a:extLst>
              <a:ext uri="{FF2B5EF4-FFF2-40B4-BE49-F238E27FC236}">
                <a16:creationId xmlns:a16="http://schemas.microsoft.com/office/drawing/2014/main" id="{68708C2B-489B-4C0C-AFD1-077959F130C2}"/>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40552850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FINDINGS Value Creation">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2A41AFA-A427-44A7-BC26-3367A3DA09A6}"/>
              </a:ext>
            </a:extLst>
          </p:cNvPr>
          <p:cNvGraphicFramePr>
            <a:graphicFrameLocks noChangeAspect="1"/>
          </p:cNvGraphicFramePr>
          <p:nvPr userDrawn="1">
            <p:custDataLst>
              <p:tags r:id="rId1"/>
            </p:custDataLst>
            <p:extLst>
              <p:ext uri="{D42A27DB-BD31-4B8C-83A1-F6EECF244321}">
                <p14:modId xmlns:p14="http://schemas.microsoft.com/office/powerpoint/2010/main" val="30721935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12A41AFA-A427-44A7-BC26-3367A3DA09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3657434"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4929217" y="1330325"/>
            <a:ext cx="3657434"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3657434"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4929208" y="1330325"/>
            <a:ext cx="3657434"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60" y="1803399"/>
            <a:ext cx="3658483"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4929217" y="1803399"/>
            <a:ext cx="3657434" cy="1440000"/>
          </a:xfrm>
        </p:spPr>
        <p:txBody>
          <a:bodyPr/>
          <a:lstStyle>
            <a:lvl1pPr>
              <a:defRPr sz="90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3477111"/>
            <a:ext cx="3657434"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0" y="5202903"/>
            <a:ext cx="3214634"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7" name="Text Placeholder 25">
            <a:extLst>
              <a:ext uri="{FF2B5EF4-FFF2-40B4-BE49-F238E27FC236}">
                <a16:creationId xmlns:a16="http://schemas.microsoft.com/office/drawing/2014/main" id="{5AE1C3EF-B97B-4307-AD7A-897278838491}"/>
              </a:ext>
            </a:extLst>
          </p:cNvPr>
          <p:cNvSpPr>
            <a:spLocks noGrp="1"/>
          </p:cNvSpPr>
          <p:nvPr>
            <p:ph type="body" sz="quarter" idx="16" hasCustomPrompt="1"/>
          </p:nvPr>
        </p:nvSpPr>
        <p:spPr>
          <a:xfrm>
            <a:off x="4929217" y="5202903"/>
            <a:ext cx="3214634"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4929217" y="3477111"/>
            <a:ext cx="3657434"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4209994"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8143851"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23" name="Rectangle 22">
            <a:extLst>
              <a:ext uri="{FF2B5EF4-FFF2-40B4-BE49-F238E27FC236}">
                <a16:creationId xmlns:a16="http://schemas.microsoft.com/office/drawing/2014/main" id="{DFE03778-EE8F-437F-93A9-872E23AC7363}"/>
              </a:ext>
            </a:extLst>
          </p:cNvPr>
          <p:cNvSpPr/>
          <p:nvPr userDrawn="1"/>
        </p:nvSpPr>
        <p:spPr>
          <a:xfrm flipH="1">
            <a:off x="8844596" y="1330325"/>
            <a:ext cx="3348000" cy="4546600"/>
          </a:xfrm>
          <a:prstGeom prst="rect">
            <a:avLst/>
          </a:prstGeom>
          <a:gradFill>
            <a:gsLst>
              <a:gs pos="0">
                <a:schemeClr val="accent4"/>
              </a:gs>
              <a:gs pos="100000">
                <a:srgbClr val="ACEA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9" name="Rectangle 28">
            <a:extLst>
              <a:ext uri="{FF2B5EF4-FFF2-40B4-BE49-F238E27FC236}">
                <a16:creationId xmlns:a16="http://schemas.microsoft.com/office/drawing/2014/main" id="{054218D8-88BA-411C-9134-CE6A419C383B}"/>
              </a:ext>
            </a:extLst>
          </p:cNvPr>
          <p:cNvSpPr/>
          <p:nvPr userDrawn="1"/>
        </p:nvSpPr>
        <p:spPr>
          <a:xfrm>
            <a:off x="8976049" y="1431925"/>
            <a:ext cx="2225864" cy="121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72000" tIns="54000" rIns="72000" bIns="36000" rtlCol="0" anchor="t" anchorCtr="1"/>
          <a:lstStyle/>
          <a:p>
            <a:pPr algn="ctr">
              <a:spcAft>
                <a:spcPts val="300"/>
              </a:spcAft>
            </a:pPr>
            <a:endParaRPr lang="en-US" sz="1100" b="1" dirty="0">
              <a:solidFill>
                <a:schemeClr val="accent1"/>
              </a:solidFill>
            </a:endParaRPr>
          </a:p>
        </p:txBody>
      </p:sp>
      <p:sp>
        <p:nvSpPr>
          <p:cNvPr id="44" name="Chart Placeholder 43">
            <a:extLst>
              <a:ext uri="{FF2B5EF4-FFF2-40B4-BE49-F238E27FC236}">
                <a16:creationId xmlns:a16="http://schemas.microsoft.com/office/drawing/2014/main" id="{58C61F45-C268-4F8F-B7A6-EEF1FC83A832}"/>
              </a:ext>
            </a:extLst>
          </p:cNvPr>
          <p:cNvSpPr>
            <a:spLocks noGrp="1"/>
          </p:cNvSpPr>
          <p:nvPr>
            <p:ph type="chart" sz="quarter" idx="20" hasCustomPrompt="1"/>
          </p:nvPr>
        </p:nvSpPr>
        <p:spPr>
          <a:xfrm>
            <a:off x="9058682" y="1748169"/>
            <a:ext cx="2062163" cy="792238"/>
          </a:xfrm>
        </p:spPr>
        <p:txBody>
          <a:bodyPr/>
          <a:lstStyle>
            <a:lvl1pPr>
              <a:defRPr sz="900"/>
            </a:lvl1pPr>
          </a:lstStyle>
          <a:p>
            <a:r>
              <a:rPr lang="fi-FI" dirty="0" err="1"/>
              <a:t>Add</a:t>
            </a:r>
            <a:r>
              <a:rPr lang="fi-FI" dirty="0"/>
              <a:t> </a:t>
            </a:r>
            <a:r>
              <a:rPr lang="fi-FI" dirty="0" err="1"/>
              <a:t>chart</a:t>
            </a:r>
            <a:r>
              <a:rPr lang="fi-FI" dirty="0"/>
              <a:t> </a:t>
            </a:r>
            <a:r>
              <a:rPr lang="fi-FI" dirty="0" err="1"/>
              <a:t>with</a:t>
            </a:r>
            <a:r>
              <a:rPr lang="fi-FI" dirty="0"/>
              <a:t> </a:t>
            </a:r>
            <a:r>
              <a:rPr lang="fi-FI" dirty="0" err="1"/>
              <a:t>upside</a:t>
            </a:r>
            <a:r>
              <a:rPr lang="fi-FI" dirty="0"/>
              <a:t> potential </a:t>
            </a:r>
            <a:r>
              <a:rPr lang="fi-FI" dirty="0" err="1"/>
              <a:t>here</a:t>
            </a:r>
            <a:endParaRPr lang="fi-FI" dirty="0"/>
          </a:p>
        </p:txBody>
      </p:sp>
      <p:sp>
        <p:nvSpPr>
          <p:cNvPr id="12" name="Text Placeholder 11">
            <a:extLst>
              <a:ext uri="{FF2B5EF4-FFF2-40B4-BE49-F238E27FC236}">
                <a16:creationId xmlns:a16="http://schemas.microsoft.com/office/drawing/2014/main" id="{9972EAD7-BF0A-43CD-8139-0EA918968446}"/>
              </a:ext>
            </a:extLst>
          </p:cNvPr>
          <p:cNvSpPr>
            <a:spLocks noGrp="1"/>
          </p:cNvSpPr>
          <p:nvPr>
            <p:ph type="body" sz="quarter" idx="21"/>
          </p:nvPr>
        </p:nvSpPr>
        <p:spPr>
          <a:xfrm>
            <a:off x="9058682" y="1488246"/>
            <a:ext cx="2062163" cy="258763"/>
          </a:xfrm>
        </p:spPr>
        <p:txBody>
          <a:bodyP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100" b="1" i="0" u="none" strike="noStrike" kern="1200" cap="none" spc="0" normalizeH="0" baseline="0" noProof="0" dirty="0">
              <a:ln>
                <a:noFill/>
              </a:ln>
              <a:solidFill>
                <a:srgbClr val="1E49E2"/>
              </a:solidFill>
              <a:effectLst/>
              <a:uLnTx/>
              <a:uFillTx/>
              <a:latin typeface="Arial"/>
              <a:ea typeface="+mn-ea"/>
              <a:cs typeface="+mn-cs"/>
            </a:endParaRPr>
          </a:p>
        </p:txBody>
      </p:sp>
      <p:sp>
        <p:nvSpPr>
          <p:cNvPr id="25" name="TextBox 24">
            <a:extLst>
              <a:ext uri="{FF2B5EF4-FFF2-40B4-BE49-F238E27FC236}">
                <a16:creationId xmlns:a16="http://schemas.microsoft.com/office/drawing/2014/main" id="{3D880B26-620E-4209-A7A9-96108571D60B}"/>
              </a:ext>
            </a:extLst>
          </p:cNvPr>
          <p:cNvSpPr txBox="1">
            <a:spLocks/>
          </p:cNvSpPr>
          <p:nvPr userDrawn="1"/>
        </p:nvSpPr>
        <p:spPr>
          <a:xfrm>
            <a:off x="9590007" y="2851793"/>
            <a:ext cx="1695037" cy="590931"/>
          </a:xfrm>
          <a:prstGeom prst="rect">
            <a:avLst/>
          </a:prstGeom>
          <a:noFill/>
        </p:spPr>
        <p:txBody>
          <a:bodyPr wrap="square" lIns="0" tIns="0" rIns="0" bIns="0">
            <a:spAutoFit/>
          </a:bodyPr>
          <a:lstStyle/>
          <a:p>
            <a:pPr>
              <a:lnSpc>
                <a:spcPct val="80000"/>
              </a:lnSpc>
            </a:pPr>
            <a:r>
              <a:rPr lang="en-US" sz="2400" dirty="0">
                <a:solidFill>
                  <a:schemeClr val="tx2"/>
                </a:solidFill>
                <a:latin typeface="+mj-lt"/>
              </a:rPr>
              <a:t>Recommended next steps</a:t>
            </a:r>
          </a:p>
        </p:txBody>
      </p:sp>
      <p:pic>
        <p:nvPicPr>
          <p:cNvPr id="37" name="Graphic 36" descr="Shoe footprints with solid fill">
            <a:extLst>
              <a:ext uri="{FF2B5EF4-FFF2-40B4-BE49-F238E27FC236}">
                <a16:creationId xmlns:a16="http://schemas.microsoft.com/office/drawing/2014/main" id="{16531211-BC88-49C9-9656-429E1DF41406}"/>
              </a:ext>
            </a:extLst>
          </p:cNvPr>
          <p:cNvPicPr>
            <a:picLocks noChangeAspect="1"/>
          </p:cNvPicPr>
          <p:nvPr userDrawn="1"/>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903681" y="2851793"/>
            <a:ext cx="559998" cy="559998"/>
          </a:xfrm>
          <a:prstGeom prst="rect">
            <a:avLst/>
          </a:prstGeom>
        </p:spPr>
      </p:pic>
      <p:sp>
        <p:nvSpPr>
          <p:cNvPr id="38" name="Text Placeholder 19">
            <a:extLst>
              <a:ext uri="{FF2B5EF4-FFF2-40B4-BE49-F238E27FC236}">
                <a16:creationId xmlns:a16="http://schemas.microsoft.com/office/drawing/2014/main" id="{94DD976D-90C3-488B-B9BD-F486CE971852}"/>
              </a:ext>
            </a:extLst>
          </p:cNvPr>
          <p:cNvSpPr>
            <a:spLocks noGrp="1"/>
          </p:cNvSpPr>
          <p:nvPr>
            <p:ph type="body" sz="quarter" idx="22" hasCustomPrompt="1"/>
          </p:nvPr>
        </p:nvSpPr>
        <p:spPr>
          <a:xfrm>
            <a:off x="8976049" y="3623213"/>
            <a:ext cx="2225864" cy="1638000"/>
          </a:xfrm>
        </p:spPr>
        <p:txBody>
          <a:bodyPr lIns="36000"/>
          <a:lstStyle>
            <a:lvl1pPr>
              <a:defRPr sz="900"/>
            </a:lvl1pPr>
            <a:lvl2pPr>
              <a:defRPr sz="900"/>
            </a:lvl2pPr>
            <a:lvl3pPr>
              <a:defRPr sz="900"/>
            </a:lvl3pPr>
            <a:lvl4pPr marL="180975" indent="0">
              <a:buNone/>
              <a:defRPr sz="900"/>
            </a:lvl4pPr>
            <a:lvl5pPr>
              <a:defRPr sz="900"/>
            </a:lvl5pPr>
          </a:lstStyle>
          <a:p>
            <a:pPr lvl="2"/>
            <a:r>
              <a:rPr lang="en-US" sz="900" dirty="0"/>
              <a:t>xxx.</a:t>
            </a:r>
          </a:p>
          <a:p>
            <a:pPr lvl="2"/>
            <a:r>
              <a:rPr lang="en-US" sz="900" dirty="0"/>
              <a:t>xxx.</a:t>
            </a:r>
          </a:p>
          <a:p>
            <a:pPr lvl="2"/>
            <a:r>
              <a:rPr lang="en-US" sz="900" dirty="0"/>
              <a:t>xxx.</a:t>
            </a:r>
          </a:p>
        </p:txBody>
      </p:sp>
    </p:spTree>
    <p:extLst>
      <p:ext uri="{BB962C8B-B14F-4D97-AF65-F5344CB8AC3E}">
        <p14:creationId xmlns:p14="http://schemas.microsoft.com/office/powerpoint/2010/main" val="2397520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KEY FINDINGS 1_chart+tex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EDDCA9C-8341-4847-91ED-7A3551A019D0}"/>
              </a:ext>
            </a:extLst>
          </p:cNvPr>
          <p:cNvGraphicFramePr>
            <a:graphicFrameLocks noChangeAspect="1"/>
          </p:cNvGraphicFramePr>
          <p:nvPr userDrawn="1">
            <p:custDataLst>
              <p:tags r:id="rId1"/>
            </p:custDataLst>
            <p:extLst>
              <p:ext uri="{D42A27DB-BD31-4B8C-83A1-F6EECF244321}">
                <p14:modId xmlns:p14="http://schemas.microsoft.com/office/powerpoint/2010/main" val="3803298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2EDDCA9C-8341-4847-91ED-7A3551A019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59" y="1330325"/>
            <a:ext cx="10190725"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10190724"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60" y="1803399"/>
            <a:ext cx="10190724"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0" y="5202903"/>
            <a:ext cx="9759846"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1075520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5" name="Text Placeholder 19">
            <a:extLst>
              <a:ext uri="{FF2B5EF4-FFF2-40B4-BE49-F238E27FC236}">
                <a16:creationId xmlns:a16="http://schemas.microsoft.com/office/drawing/2014/main" id="{6301CCB6-A147-4508-8944-F66F21EBF88C}"/>
              </a:ext>
            </a:extLst>
          </p:cNvPr>
          <p:cNvSpPr>
            <a:spLocks noGrp="1"/>
          </p:cNvSpPr>
          <p:nvPr>
            <p:ph type="body" sz="quarter" idx="14" hasCustomPrompt="1"/>
          </p:nvPr>
        </p:nvSpPr>
        <p:spPr>
          <a:xfrm>
            <a:off x="995360" y="3477111"/>
            <a:ext cx="49680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16" name="Text Placeholder 19">
            <a:extLst>
              <a:ext uri="{FF2B5EF4-FFF2-40B4-BE49-F238E27FC236}">
                <a16:creationId xmlns:a16="http://schemas.microsoft.com/office/drawing/2014/main" id="{F031F8CE-1D55-4E23-ACA9-1EFA4D4EF22B}"/>
              </a:ext>
            </a:extLst>
          </p:cNvPr>
          <p:cNvSpPr>
            <a:spLocks noGrp="1"/>
          </p:cNvSpPr>
          <p:nvPr>
            <p:ph type="body" sz="quarter" idx="17" hasCustomPrompt="1"/>
          </p:nvPr>
        </p:nvSpPr>
        <p:spPr>
          <a:xfrm>
            <a:off x="6218094" y="3477111"/>
            <a:ext cx="49680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Tree>
    <p:extLst>
      <p:ext uri="{BB962C8B-B14F-4D97-AF65-F5344CB8AC3E}">
        <p14:creationId xmlns:p14="http://schemas.microsoft.com/office/powerpoint/2010/main" val="64111848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KEY FINDINGS 1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10190734"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10190734"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25" name="Text Placeholder 25">
            <a:extLst>
              <a:ext uri="{FF2B5EF4-FFF2-40B4-BE49-F238E27FC236}">
                <a16:creationId xmlns:a16="http://schemas.microsoft.com/office/drawing/2014/main" id="{5EBCA126-474D-4E75-A9E0-538D1A3C9D6D}"/>
              </a:ext>
            </a:extLst>
          </p:cNvPr>
          <p:cNvSpPr>
            <a:spLocks noGrp="1"/>
          </p:cNvSpPr>
          <p:nvPr>
            <p:ph type="body" sz="quarter" idx="15" hasCustomPrompt="1"/>
          </p:nvPr>
        </p:nvSpPr>
        <p:spPr>
          <a:xfrm>
            <a:off x="995360" y="5202903"/>
            <a:ext cx="9759846"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8" name="Text Placeholder 25">
            <a:extLst>
              <a:ext uri="{FF2B5EF4-FFF2-40B4-BE49-F238E27FC236}">
                <a16:creationId xmlns:a16="http://schemas.microsoft.com/office/drawing/2014/main" id="{845DB20F-0F00-40BC-9325-9487DEECA6E0}"/>
              </a:ext>
            </a:extLst>
          </p:cNvPr>
          <p:cNvSpPr>
            <a:spLocks noGrp="1"/>
          </p:cNvSpPr>
          <p:nvPr>
            <p:ph type="body" sz="quarter" idx="19"/>
          </p:nvPr>
        </p:nvSpPr>
        <p:spPr>
          <a:xfrm>
            <a:off x="1075520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13" name="Text Placeholder 19">
            <a:extLst>
              <a:ext uri="{FF2B5EF4-FFF2-40B4-BE49-F238E27FC236}">
                <a16:creationId xmlns:a16="http://schemas.microsoft.com/office/drawing/2014/main" id="{8A22B3CF-7A53-4A09-AC36-59EFD39712E6}"/>
              </a:ext>
            </a:extLst>
          </p:cNvPr>
          <p:cNvSpPr>
            <a:spLocks noGrp="1"/>
          </p:cNvSpPr>
          <p:nvPr>
            <p:ph type="body" sz="quarter" idx="14" hasCustomPrompt="1"/>
          </p:nvPr>
        </p:nvSpPr>
        <p:spPr>
          <a:xfrm>
            <a:off x="995360" y="1803399"/>
            <a:ext cx="49680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14" name="Text Placeholder 19">
            <a:extLst>
              <a:ext uri="{FF2B5EF4-FFF2-40B4-BE49-F238E27FC236}">
                <a16:creationId xmlns:a16="http://schemas.microsoft.com/office/drawing/2014/main" id="{506C06A3-3D44-470D-AD34-ADD0E282861A}"/>
              </a:ext>
            </a:extLst>
          </p:cNvPr>
          <p:cNvSpPr>
            <a:spLocks noGrp="1"/>
          </p:cNvSpPr>
          <p:nvPr>
            <p:ph type="body" sz="quarter" idx="17" hasCustomPrompt="1"/>
          </p:nvPr>
        </p:nvSpPr>
        <p:spPr>
          <a:xfrm>
            <a:off x="6218094" y="1803399"/>
            <a:ext cx="49680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Tree>
    <p:extLst>
      <p:ext uri="{BB962C8B-B14F-4D97-AF65-F5344CB8AC3E}">
        <p14:creationId xmlns:p14="http://schemas.microsoft.com/office/powerpoint/2010/main" val="418477494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EY FINDINGS 1_1_chart+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60" y="1803399"/>
            <a:ext cx="4969425"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3477111"/>
            <a:ext cx="49680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0"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552918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52426313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KEY FINDINGS 1_1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1803399"/>
            <a:ext cx="49680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25" name="Text Placeholder 25">
            <a:extLst>
              <a:ext uri="{FF2B5EF4-FFF2-40B4-BE49-F238E27FC236}">
                <a16:creationId xmlns:a16="http://schemas.microsoft.com/office/drawing/2014/main" id="{5EBCA126-474D-4E75-A9E0-538D1A3C9D6D}"/>
              </a:ext>
            </a:extLst>
          </p:cNvPr>
          <p:cNvSpPr>
            <a:spLocks noGrp="1"/>
          </p:cNvSpPr>
          <p:nvPr>
            <p:ph type="body" sz="quarter" idx="15" hasCustomPrompt="1"/>
          </p:nvPr>
        </p:nvSpPr>
        <p:spPr>
          <a:xfrm>
            <a:off x="995360"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7" name="Text Placeholder 25">
            <a:extLst>
              <a:ext uri="{FF2B5EF4-FFF2-40B4-BE49-F238E27FC236}">
                <a16:creationId xmlns:a16="http://schemas.microsoft.com/office/drawing/2014/main" id="{146C7B7F-676A-4221-B918-D22AA249C2DF}"/>
              </a:ext>
            </a:extLst>
          </p:cNvPr>
          <p:cNvSpPr>
            <a:spLocks noGrp="1"/>
          </p:cNvSpPr>
          <p:nvPr>
            <p:ph type="body" sz="quarter" idx="18"/>
          </p:nvPr>
        </p:nvSpPr>
        <p:spPr>
          <a:xfrm>
            <a:off x="552918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Tree>
    <p:extLst>
      <p:ext uri="{BB962C8B-B14F-4D97-AF65-F5344CB8AC3E}">
        <p14:creationId xmlns:p14="http://schemas.microsoft.com/office/powerpoint/2010/main" val="68515541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9519861-697E-4A99-B708-B0D82E52602A}"/>
              </a:ext>
            </a:extLst>
          </p:cNvPr>
          <p:cNvGraphicFramePr>
            <a:graphicFrameLocks noChangeAspect="1"/>
          </p:cNvGraphicFramePr>
          <p:nvPr userDrawn="1">
            <p:custDataLst>
              <p:tags r:id="rId1"/>
            </p:custDataLst>
            <p:extLst>
              <p:ext uri="{D42A27DB-BD31-4B8C-83A1-F6EECF244321}">
                <p14:modId xmlns:p14="http://schemas.microsoft.com/office/powerpoint/2010/main" val="161883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49519861-697E-4A99-B708-B0D82E5260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79D65585-570B-4F7D-B4BC-0F7CFAF52BAF}"/>
              </a:ext>
            </a:extLst>
          </p:cNvPr>
          <p:cNvSpPr>
            <a:spLocks/>
          </p:cNvSpPr>
          <p:nvPr userDrawn="1"/>
        </p:nvSpPr>
        <p:spPr>
          <a:xfrm>
            <a:off x="1022539" y="966019"/>
            <a:ext cx="7091424" cy="49259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180877"/>
            <a:ext cx="5252400" cy="696782"/>
          </a:xfrm>
          <a:noFill/>
        </p:spPr>
        <p:txBody>
          <a:bodyPr vert="horz" lIns="0" tIns="0" rIns="0" bIns="0" anchor="t" anchorCtr="0"/>
          <a:lstStyle>
            <a:lvl1pPr algn="l">
              <a:defRPr sz="6600" baseline="0">
                <a:solidFill>
                  <a:schemeClr val="bg1"/>
                </a:solidFill>
              </a:defRPr>
            </a:lvl1pPr>
          </a:lstStyle>
          <a:p>
            <a:r>
              <a:rPr lang="en-GB" dirty="0"/>
              <a:t>Title slide text only</a:t>
            </a:r>
            <a:endParaRPr lang="en-US" dirty="0"/>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dirty="0"/>
              <a:t>00</a:t>
            </a:r>
          </a:p>
        </p:txBody>
      </p:sp>
      <p:sp>
        <p:nvSpPr>
          <p:cNvPr id="28" name="Isosceles Triangle 27">
            <a:extLst>
              <a:ext uri="{FF2B5EF4-FFF2-40B4-BE49-F238E27FC236}">
                <a16:creationId xmlns:a16="http://schemas.microsoft.com/office/drawing/2014/main" id="{05E6E369-0A71-4382-99A8-954ADC20228A}"/>
              </a:ext>
            </a:extLst>
          </p:cNvPr>
          <p:cNvSpPr/>
          <p:nvPr userDrawn="1"/>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9" name="Isosceles Triangle 28">
            <a:extLst>
              <a:ext uri="{FF2B5EF4-FFF2-40B4-BE49-F238E27FC236}">
                <a16:creationId xmlns:a16="http://schemas.microsoft.com/office/drawing/2014/main" id="{5E6A33DA-B0E2-42D1-8C27-584323B8ECEF}"/>
              </a:ext>
            </a:extLst>
          </p:cNvPr>
          <p:cNvSpPr/>
          <p:nvPr userDrawn="1"/>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CE6F0D98-6569-407B-A90A-5DF22EBEA7AC}"/>
              </a:ext>
            </a:extLst>
          </p:cNvPr>
          <p:cNvSpPr/>
          <p:nvPr userDrawn="1"/>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76D8C698-B4E9-42C2-BD9C-410D7D4B5685}"/>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2" name="Graphic 31" descr="Home">
            <a:hlinkClick r:id="rId5" action="ppaction://hlinksldjump"/>
            <a:extLst>
              <a:ext uri="{FF2B5EF4-FFF2-40B4-BE49-F238E27FC236}">
                <a16:creationId xmlns:a16="http://schemas.microsoft.com/office/drawing/2014/main" id="{D0C3D869-3232-4CD2-B33D-CAEBE83C17EC}"/>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7" name="Text Placeholder 6">
            <a:extLst>
              <a:ext uri="{FF2B5EF4-FFF2-40B4-BE49-F238E27FC236}">
                <a16:creationId xmlns:a16="http://schemas.microsoft.com/office/drawing/2014/main" id="{12E439A1-F28C-4FC6-A57B-84C8F8FB1A9F}"/>
              </a:ext>
            </a:extLst>
          </p:cNvPr>
          <p:cNvSpPr>
            <a:spLocks noGrp="1"/>
          </p:cNvSpPr>
          <p:nvPr>
            <p:ph type="body" sz="quarter" idx="13" hasCustomPrompt="1"/>
          </p:nvPr>
        </p:nvSpPr>
        <p:spPr>
          <a:xfrm>
            <a:off x="1275348" y="3000734"/>
            <a:ext cx="441310" cy="2787833"/>
          </a:xfrm>
        </p:spPr>
        <p:txBody>
          <a:bodyPr/>
          <a:lstStyle>
            <a:lvl1pPr>
              <a:lnSpc>
                <a:spcPts val="3600"/>
              </a:lnSpc>
              <a:spcAft>
                <a:spcPts val="0"/>
              </a:spcAft>
              <a:defRPr lang="en-US" sz="3200" b="1" u="none" kern="1200" dirty="0" smtClean="0">
                <a:solidFill>
                  <a:schemeClr val="bg1"/>
                </a:solidFill>
                <a:latin typeface="+mj-lt"/>
                <a:ea typeface="+mn-ea"/>
                <a:cs typeface="+mn-cs"/>
              </a:defRPr>
            </a:lvl1pPr>
            <a:lvl2pPr>
              <a:defRPr lang="en-US" sz="3200" b="1" u="none" kern="1200" dirty="0" smtClean="0">
                <a:solidFill>
                  <a:schemeClr val="bg1"/>
                </a:solidFill>
                <a:latin typeface="+mj-lt"/>
                <a:ea typeface="+mn-ea"/>
                <a:cs typeface="+mn-cs"/>
              </a:defRPr>
            </a:lvl2pPr>
            <a:lvl3pPr>
              <a:defRPr lang="en-US" sz="3200" b="1" u="none" kern="1200" dirty="0" smtClean="0">
                <a:solidFill>
                  <a:schemeClr val="bg1"/>
                </a:solidFill>
                <a:latin typeface="+mj-lt"/>
                <a:ea typeface="+mn-ea"/>
                <a:cs typeface="+mn-cs"/>
              </a:defRPr>
            </a:lvl3pPr>
            <a:lvl4pPr>
              <a:defRPr lang="en-US" sz="3200" b="1" u="none" kern="1200" dirty="0" smtClean="0">
                <a:solidFill>
                  <a:schemeClr val="bg1"/>
                </a:solidFill>
                <a:latin typeface="+mj-lt"/>
                <a:ea typeface="+mn-ea"/>
                <a:cs typeface="+mn-cs"/>
              </a:defRPr>
            </a:lvl4pPr>
            <a:lvl5pPr>
              <a:defRPr lang="fi-FI" sz="3200" b="1" u="none" kern="1200" dirty="0">
                <a:solidFill>
                  <a:schemeClr val="bg1"/>
                </a:solidFill>
                <a:latin typeface="+mj-lt"/>
                <a:ea typeface="+mn-ea"/>
                <a:cs typeface="+mn-cs"/>
              </a:defRPr>
            </a:lvl5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endParaRPr lang="fi-FI" dirty="0"/>
          </a:p>
        </p:txBody>
      </p:sp>
      <p:sp>
        <p:nvSpPr>
          <p:cNvPr id="37" name="Text Placeholder 36">
            <a:extLst>
              <a:ext uri="{FF2B5EF4-FFF2-40B4-BE49-F238E27FC236}">
                <a16:creationId xmlns:a16="http://schemas.microsoft.com/office/drawing/2014/main" id="{426728C2-1FA7-474C-AA6C-A80E6E717E25}"/>
              </a:ext>
            </a:extLst>
          </p:cNvPr>
          <p:cNvSpPr>
            <a:spLocks noGrp="1"/>
          </p:cNvSpPr>
          <p:nvPr>
            <p:ph type="body" sz="quarter" idx="14" hasCustomPrompt="1"/>
          </p:nvPr>
        </p:nvSpPr>
        <p:spPr>
          <a:xfrm>
            <a:off x="5903455" y="3043869"/>
            <a:ext cx="638805" cy="2693184"/>
          </a:xfrm>
        </p:spPr>
        <p:txBody>
          <a:bodyPr/>
          <a:lstStyle>
            <a:lvl1pPr marL="0" algn="r" defTabSz="914400" rtl="0" eaLnBrk="1" latinLnBrk="0" hangingPunct="1">
              <a:lnSpc>
                <a:spcPts val="3600"/>
              </a:lnSpc>
              <a:spcAft>
                <a:spcPts val="0"/>
              </a:spcAft>
              <a:defRPr lang="en-US" sz="1600" b="0" u="none" kern="1200" dirty="0" smtClean="0">
                <a:solidFill>
                  <a:schemeClr val="bg1"/>
                </a:solidFill>
                <a:latin typeface="+mn-lt"/>
                <a:ea typeface="+mn-ea"/>
                <a:cs typeface="+mn-cs"/>
              </a:defRPr>
            </a:lvl1pPr>
            <a:lvl2pPr marL="0" algn="r" defTabSz="914400" rtl="0" eaLnBrk="1" latinLnBrk="0" hangingPunct="1">
              <a:defRPr lang="en-US" sz="1600" b="0" u="none" kern="1200" dirty="0" smtClean="0">
                <a:solidFill>
                  <a:schemeClr val="bg1"/>
                </a:solidFill>
                <a:latin typeface="+mn-lt"/>
                <a:ea typeface="+mn-ea"/>
                <a:cs typeface="+mn-cs"/>
              </a:defRPr>
            </a:lvl2pPr>
            <a:lvl3pPr marL="0" algn="r" defTabSz="914400" rtl="0" eaLnBrk="1" latinLnBrk="0" hangingPunct="1">
              <a:defRPr lang="en-US" sz="1600" b="0" u="none" kern="1200" dirty="0" smtClean="0">
                <a:solidFill>
                  <a:schemeClr val="bg1"/>
                </a:solidFill>
                <a:latin typeface="+mn-lt"/>
                <a:ea typeface="+mn-ea"/>
                <a:cs typeface="+mn-cs"/>
              </a:defRPr>
            </a:lvl3pPr>
            <a:lvl4pPr marL="0" algn="r" defTabSz="914400" rtl="0" eaLnBrk="1" latinLnBrk="0" hangingPunct="1">
              <a:defRPr lang="en-US" sz="1600" b="0" u="none" kern="1200" dirty="0" smtClean="0">
                <a:solidFill>
                  <a:schemeClr val="bg1"/>
                </a:solidFill>
                <a:latin typeface="+mn-lt"/>
                <a:ea typeface="+mn-ea"/>
                <a:cs typeface="+mn-cs"/>
              </a:defRPr>
            </a:lvl4pPr>
            <a:lvl5pPr marL="0" algn="r" defTabSz="914400" rtl="0" eaLnBrk="1" latinLnBrk="0" hangingPunct="1">
              <a:defRPr lang="fi-FI" sz="1600" b="0" u="none" kern="1200" dirty="0">
                <a:solidFill>
                  <a:schemeClr val="bg1"/>
                </a:solidFill>
                <a:latin typeface="+mn-lt"/>
                <a:ea typeface="+mn-ea"/>
                <a:cs typeface="+mn-cs"/>
              </a:defRPr>
            </a:lvl5pPr>
          </a:lstStyle>
          <a:p>
            <a:pPr lvl="0"/>
            <a:r>
              <a:rPr lang="en-US" dirty="0" err="1"/>
              <a:t>Xx</a:t>
            </a:r>
            <a:endParaRPr lang="en-US" dirty="0"/>
          </a:p>
          <a:p>
            <a:pPr lvl="0"/>
            <a:r>
              <a:rPr lang="en-US" dirty="0" err="1"/>
              <a:t>Xx</a:t>
            </a:r>
            <a:endParaRPr lang="en-US" dirty="0"/>
          </a:p>
          <a:p>
            <a:pPr lvl="0"/>
            <a:r>
              <a:rPr lang="en-US" dirty="0" err="1"/>
              <a:t>Xx</a:t>
            </a:r>
            <a:endParaRPr lang="en-US" dirty="0"/>
          </a:p>
          <a:p>
            <a:pPr lvl="0"/>
            <a:r>
              <a:rPr lang="en-US" dirty="0" err="1"/>
              <a:t>Xx</a:t>
            </a:r>
            <a:endParaRPr lang="en-US" dirty="0"/>
          </a:p>
          <a:p>
            <a:pPr lvl="0"/>
            <a:r>
              <a:rPr lang="en-US" dirty="0" err="1"/>
              <a:t>Xx</a:t>
            </a:r>
            <a:endParaRPr lang="en-US" dirty="0"/>
          </a:p>
          <a:p>
            <a:pPr lvl="0"/>
            <a:r>
              <a:rPr lang="en-US" dirty="0"/>
              <a:t>xx</a:t>
            </a:r>
            <a:endParaRPr lang="fi-FI" dirty="0"/>
          </a:p>
        </p:txBody>
      </p:sp>
      <p:sp>
        <p:nvSpPr>
          <p:cNvPr id="41" name="Text Placeholder 36">
            <a:extLst>
              <a:ext uri="{FF2B5EF4-FFF2-40B4-BE49-F238E27FC236}">
                <a16:creationId xmlns:a16="http://schemas.microsoft.com/office/drawing/2014/main" id="{AC228847-D572-4A9A-9F18-339D00984D30}"/>
              </a:ext>
            </a:extLst>
          </p:cNvPr>
          <p:cNvSpPr>
            <a:spLocks noGrp="1"/>
          </p:cNvSpPr>
          <p:nvPr>
            <p:ph type="body" sz="quarter" idx="15" hasCustomPrompt="1"/>
          </p:nvPr>
        </p:nvSpPr>
        <p:spPr>
          <a:xfrm>
            <a:off x="1831197" y="3043869"/>
            <a:ext cx="3965754" cy="2693184"/>
          </a:xfrm>
        </p:spPr>
        <p:txBody>
          <a:bodyPr/>
          <a:lstStyle>
            <a:lvl1pPr marL="0" algn="l" defTabSz="914400" rtl="0" eaLnBrk="1" latinLnBrk="0" hangingPunct="1">
              <a:lnSpc>
                <a:spcPts val="3600"/>
              </a:lnSpc>
              <a:spcAft>
                <a:spcPts val="0"/>
              </a:spcAft>
              <a:defRPr lang="en-US" sz="1600" b="0" u="none" kern="1200" dirty="0" smtClean="0">
                <a:solidFill>
                  <a:schemeClr val="bg1"/>
                </a:solidFill>
                <a:latin typeface="+mn-lt"/>
                <a:ea typeface="+mn-ea"/>
                <a:cs typeface="+mn-cs"/>
              </a:defRPr>
            </a:lvl1pPr>
            <a:lvl2pPr marL="0" algn="r" defTabSz="914400" rtl="0" eaLnBrk="1" latinLnBrk="0" hangingPunct="1">
              <a:defRPr lang="en-US" sz="1600" b="0" u="none" kern="1200" dirty="0" smtClean="0">
                <a:solidFill>
                  <a:schemeClr val="bg1"/>
                </a:solidFill>
                <a:latin typeface="+mn-lt"/>
                <a:ea typeface="+mn-ea"/>
                <a:cs typeface="+mn-cs"/>
              </a:defRPr>
            </a:lvl2pPr>
            <a:lvl3pPr marL="0" algn="r" defTabSz="914400" rtl="0" eaLnBrk="1" latinLnBrk="0" hangingPunct="1">
              <a:defRPr lang="en-US" sz="1600" b="0" u="none" kern="1200" dirty="0" smtClean="0">
                <a:solidFill>
                  <a:schemeClr val="bg1"/>
                </a:solidFill>
                <a:latin typeface="+mn-lt"/>
                <a:ea typeface="+mn-ea"/>
                <a:cs typeface="+mn-cs"/>
              </a:defRPr>
            </a:lvl3pPr>
            <a:lvl4pPr marL="0" algn="r" defTabSz="914400" rtl="0" eaLnBrk="1" latinLnBrk="0" hangingPunct="1">
              <a:defRPr lang="en-US" sz="1600" b="0" u="none" kern="1200" dirty="0" smtClean="0">
                <a:solidFill>
                  <a:schemeClr val="bg1"/>
                </a:solidFill>
                <a:latin typeface="+mn-lt"/>
                <a:ea typeface="+mn-ea"/>
                <a:cs typeface="+mn-cs"/>
              </a:defRPr>
            </a:lvl4pPr>
            <a:lvl5pPr marL="0" algn="r" defTabSz="914400" rtl="0" eaLnBrk="1" latinLnBrk="0" hangingPunct="1">
              <a:defRPr lang="fi-FI" sz="1600" b="0" u="none" kern="1200" dirty="0">
                <a:solidFill>
                  <a:schemeClr val="bg1"/>
                </a:solidFill>
                <a:latin typeface="+mn-lt"/>
                <a:ea typeface="+mn-ea"/>
                <a:cs typeface="+mn-cs"/>
              </a:defRPr>
            </a:lvl5pPr>
          </a:lstStyle>
          <a:p>
            <a:pPr lvl="0"/>
            <a:r>
              <a:rPr kumimoji="0" lang="en-US" sz="1600" b="0" i="0" u="none" strike="noStrike" kern="1200" cap="none" spc="0" normalizeH="0" baseline="0" noProof="0" dirty="0" err="1">
                <a:ln>
                  <a:noFill/>
                </a:ln>
                <a:solidFill>
                  <a:srgbClr val="FFFFFF"/>
                </a:solidFill>
                <a:effectLst/>
                <a:uLnTx/>
                <a:uFillTx/>
                <a:latin typeface="+mn-lt"/>
                <a:ea typeface="+mn-ea"/>
                <a:cs typeface="+mn-cs"/>
              </a:rPr>
              <a:t>Xx</a:t>
            </a:r>
            <a:endParaRPr kumimoji="0" lang="en-US" sz="1600" b="0" i="0" u="none" strike="noStrike" kern="1200" cap="none" spc="0" normalizeH="0" baseline="0" noProof="0" dirty="0">
              <a:ln>
                <a:noFill/>
              </a:ln>
              <a:solidFill>
                <a:srgbClr val="FFFFFF"/>
              </a:solidFill>
              <a:effectLst/>
              <a:uLnTx/>
              <a:uFillTx/>
              <a:latin typeface="+mn-lt"/>
              <a:ea typeface="+mn-ea"/>
              <a:cs typeface="+mn-cs"/>
            </a:endParaRPr>
          </a:p>
          <a:p>
            <a:pPr lvl="0"/>
            <a:r>
              <a:rPr kumimoji="0" lang="en-US" sz="1600" b="0" i="0" u="none" strike="noStrike" kern="1200" cap="none" spc="0" normalizeH="0" baseline="0" noProof="0" dirty="0" err="1">
                <a:ln>
                  <a:noFill/>
                </a:ln>
                <a:solidFill>
                  <a:srgbClr val="FFFFFF"/>
                </a:solidFill>
                <a:effectLst/>
                <a:uLnTx/>
                <a:uFillTx/>
                <a:latin typeface="+mn-lt"/>
                <a:ea typeface="+mn-ea"/>
                <a:cs typeface="+mn-cs"/>
              </a:rPr>
              <a:t>Xx</a:t>
            </a:r>
            <a:endParaRPr kumimoji="0" lang="en-US" sz="1600" b="0" i="0" u="none" strike="noStrike" kern="1200" cap="none" spc="0" normalizeH="0" baseline="0" noProof="0" dirty="0">
              <a:ln>
                <a:noFill/>
              </a:ln>
              <a:solidFill>
                <a:srgbClr val="FFFFFF"/>
              </a:solidFill>
              <a:effectLst/>
              <a:uLnTx/>
              <a:uFillTx/>
              <a:latin typeface="+mn-lt"/>
              <a:ea typeface="+mn-ea"/>
              <a:cs typeface="+mn-cs"/>
            </a:endParaRPr>
          </a:p>
          <a:p>
            <a:pPr lvl="0"/>
            <a:r>
              <a:rPr lang="en-US" dirty="0" err="1"/>
              <a:t>Xx</a:t>
            </a:r>
            <a:endParaRPr lang="en-US" dirty="0"/>
          </a:p>
          <a:p>
            <a:pPr lvl="0"/>
            <a:r>
              <a:rPr lang="en-US" dirty="0" err="1"/>
              <a:t>Xx</a:t>
            </a:r>
            <a:endParaRPr lang="en-US" dirty="0"/>
          </a:p>
          <a:p>
            <a:pPr lvl="0"/>
            <a:r>
              <a:rPr lang="en-US" dirty="0" err="1"/>
              <a:t>Xx</a:t>
            </a:r>
            <a:endParaRPr lang="en-US" dirty="0"/>
          </a:p>
          <a:p>
            <a:pPr lvl="0"/>
            <a:r>
              <a:rPr lang="en-US"/>
              <a:t>Xx</a:t>
            </a:r>
            <a:endParaRPr lang="en-US" dirty="0"/>
          </a:p>
        </p:txBody>
      </p:sp>
    </p:spTree>
    <p:extLst>
      <p:ext uri="{BB962C8B-B14F-4D97-AF65-F5344CB8AC3E}">
        <p14:creationId xmlns:p14="http://schemas.microsoft.com/office/powerpoint/2010/main" val="238696112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KEY FINDINGS 2_chart+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6218094"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6218085"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60" y="1803399"/>
            <a:ext cx="4969425"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218094" y="1803399"/>
            <a:ext cx="4968000" cy="1440000"/>
          </a:xfrm>
        </p:spPr>
        <p:txBody>
          <a:bodyPr/>
          <a:lstStyle>
            <a:lvl1pPr>
              <a:defRPr sz="90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3477111"/>
            <a:ext cx="49680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0"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7" name="Text Placeholder 25">
            <a:extLst>
              <a:ext uri="{FF2B5EF4-FFF2-40B4-BE49-F238E27FC236}">
                <a16:creationId xmlns:a16="http://schemas.microsoft.com/office/drawing/2014/main" id="{5AE1C3EF-B97B-4307-AD7A-897278838491}"/>
              </a:ext>
            </a:extLst>
          </p:cNvPr>
          <p:cNvSpPr>
            <a:spLocks noGrp="1"/>
          </p:cNvSpPr>
          <p:nvPr>
            <p:ph type="body" sz="quarter" idx="16" hasCustomPrompt="1"/>
          </p:nvPr>
        </p:nvSpPr>
        <p:spPr>
          <a:xfrm>
            <a:off x="6218094"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6218094" y="3477111"/>
            <a:ext cx="49680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552918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1075520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131844481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EY FINDINGS 2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6218094" y="1330325"/>
            <a:ext cx="49680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6218094" y="1330325"/>
            <a:ext cx="49680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1803399"/>
            <a:ext cx="49680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6218094" y="1803399"/>
            <a:ext cx="49680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25" name="Text Placeholder 25">
            <a:extLst>
              <a:ext uri="{FF2B5EF4-FFF2-40B4-BE49-F238E27FC236}">
                <a16:creationId xmlns:a16="http://schemas.microsoft.com/office/drawing/2014/main" id="{5EBCA126-474D-4E75-A9E0-538D1A3C9D6D}"/>
              </a:ext>
            </a:extLst>
          </p:cNvPr>
          <p:cNvSpPr>
            <a:spLocks noGrp="1"/>
          </p:cNvSpPr>
          <p:nvPr>
            <p:ph type="body" sz="quarter" idx="15" hasCustomPrompt="1"/>
          </p:nvPr>
        </p:nvSpPr>
        <p:spPr>
          <a:xfrm>
            <a:off x="995360"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9" name="Text Placeholder 25">
            <a:extLst>
              <a:ext uri="{FF2B5EF4-FFF2-40B4-BE49-F238E27FC236}">
                <a16:creationId xmlns:a16="http://schemas.microsoft.com/office/drawing/2014/main" id="{13B397A3-0B73-44C8-8F23-8B9C07B7E6A7}"/>
              </a:ext>
            </a:extLst>
          </p:cNvPr>
          <p:cNvSpPr>
            <a:spLocks noGrp="1"/>
          </p:cNvSpPr>
          <p:nvPr>
            <p:ph type="body" sz="quarter" idx="16" hasCustomPrompt="1"/>
          </p:nvPr>
        </p:nvSpPr>
        <p:spPr>
          <a:xfrm>
            <a:off x="6218094" y="5202903"/>
            <a:ext cx="4536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7" name="Text Placeholder 25">
            <a:extLst>
              <a:ext uri="{FF2B5EF4-FFF2-40B4-BE49-F238E27FC236}">
                <a16:creationId xmlns:a16="http://schemas.microsoft.com/office/drawing/2014/main" id="{146C7B7F-676A-4221-B918-D22AA249C2DF}"/>
              </a:ext>
            </a:extLst>
          </p:cNvPr>
          <p:cNvSpPr>
            <a:spLocks noGrp="1"/>
          </p:cNvSpPr>
          <p:nvPr>
            <p:ph type="body" sz="quarter" idx="18"/>
          </p:nvPr>
        </p:nvSpPr>
        <p:spPr>
          <a:xfrm>
            <a:off x="552918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8" name="Text Placeholder 25">
            <a:extLst>
              <a:ext uri="{FF2B5EF4-FFF2-40B4-BE49-F238E27FC236}">
                <a16:creationId xmlns:a16="http://schemas.microsoft.com/office/drawing/2014/main" id="{845DB20F-0F00-40BC-9325-9487DEECA6E0}"/>
              </a:ext>
            </a:extLst>
          </p:cNvPr>
          <p:cNvSpPr>
            <a:spLocks noGrp="1"/>
          </p:cNvSpPr>
          <p:nvPr>
            <p:ph type="body" sz="quarter" idx="19"/>
          </p:nvPr>
        </p:nvSpPr>
        <p:spPr>
          <a:xfrm>
            <a:off x="10755206"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Tree>
    <p:extLst>
      <p:ext uri="{BB962C8B-B14F-4D97-AF65-F5344CB8AC3E}">
        <p14:creationId xmlns:p14="http://schemas.microsoft.com/office/powerpoint/2010/main" val="94464091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KEY FINDINGS 3_chart+tex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E65C770-2457-4A1D-87B9-F6DF32654B4F}"/>
              </a:ext>
            </a:extLst>
          </p:cNvPr>
          <p:cNvGraphicFramePr>
            <a:graphicFrameLocks noChangeAspect="1"/>
          </p:cNvGraphicFramePr>
          <p:nvPr userDrawn="1">
            <p:custDataLst>
              <p:tags r:id="rId1"/>
            </p:custDataLst>
            <p:extLst>
              <p:ext uri="{D42A27DB-BD31-4B8C-83A1-F6EECF244321}">
                <p14:modId xmlns:p14="http://schemas.microsoft.com/office/powerpoint/2010/main" val="1781268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E65C770-2457-4A1D-87B9-F6DF32654B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7903761"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7903761"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60" y="1803399"/>
            <a:ext cx="3286800"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7903761" y="1803399"/>
            <a:ext cx="3286800" cy="1440000"/>
          </a:xfrm>
        </p:spPr>
        <p:txBody>
          <a:bodyPr/>
          <a:lstStyle>
            <a:lvl1pPr>
              <a:defRPr sz="90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3477111"/>
            <a:ext cx="32868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1"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7" name="Text Placeholder 25">
            <a:extLst>
              <a:ext uri="{FF2B5EF4-FFF2-40B4-BE49-F238E27FC236}">
                <a16:creationId xmlns:a16="http://schemas.microsoft.com/office/drawing/2014/main" id="{5AE1C3EF-B97B-4307-AD7A-897278838491}"/>
              </a:ext>
            </a:extLst>
          </p:cNvPr>
          <p:cNvSpPr>
            <a:spLocks noGrp="1"/>
          </p:cNvSpPr>
          <p:nvPr>
            <p:ph type="body" sz="quarter" idx="16" hasCustomPrompt="1"/>
          </p:nvPr>
        </p:nvSpPr>
        <p:spPr>
          <a:xfrm>
            <a:off x="7903761" y="5202903"/>
            <a:ext cx="2844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7903761" y="3477111"/>
            <a:ext cx="32868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383936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1074658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24" name="Rectangle 23">
            <a:extLst>
              <a:ext uri="{FF2B5EF4-FFF2-40B4-BE49-F238E27FC236}">
                <a16:creationId xmlns:a16="http://schemas.microsoft.com/office/drawing/2014/main" id="{1DFFD023-3791-4606-9AB9-BBE3C891C841}"/>
              </a:ext>
            </a:extLst>
          </p:cNvPr>
          <p:cNvSpPr>
            <a:spLocks/>
          </p:cNvSpPr>
          <p:nvPr userDrawn="1"/>
        </p:nvSpPr>
        <p:spPr>
          <a:xfrm>
            <a:off x="4448767"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25" name="Text Placeholder 9">
            <a:extLst>
              <a:ext uri="{FF2B5EF4-FFF2-40B4-BE49-F238E27FC236}">
                <a16:creationId xmlns:a16="http://schemas.microsoft.com/office/drawing/2014/main" id="{A2C2FF05-A5CE-46D8-9983-9BFF6DCDC286}"/>
              </a:ext>
            </a:extLst>
          </p:cNvPr>
          <p:cNvSpPr>
            <a:spLocks noGrp="1"/>
          </p:cNvSpPr>
          <p:nvPr>
            <p:ph type="body" sz="quarter" idx="20" hasCustomPrompt="1"/>
          </p:nvPr>
        </p:nvSpPr>
        <p:spPr>
          <a:xfrm>
            <a:off x="4448767"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29" name="Chart Placeholder 16">
            <a:extLst>
              <a:ext uri="{FF2B5EF4-FFF2-40B4-BE49-F238E27FC236}">
                <a16:creationId xmlns:a16="http://schemas.microsoft.com/office/drawing/2014/main" id="{6BB064CA-A0CE-4B7D-B389-29E7029BFE77}"/>
              </a:ext>
            </a:extLst>
          </p:cNvPr>
          <p:cNvSpPr>
            <a:spLocks noGrp="1"/>
          </p:cNvSpPr>
          <p:nvPr>
            <p:ph type="chart" sz="quarter" idx="21" hasCustomPrompt="1"/>
          </p:nvPr>
        </p:nvSpPr>
        <p:spPr>
          <a:xfrm>
            <a:off x="4448767" y="1803399"/>
            <a:ext cx="3286800" cy="1440000"/>
          </a:xfrm>
        </p:spPr>
        <p:txBody>
          <a:bodyPr/>
          <a:lstStyle>
            <a:lvl1pPr>
              <a:defRPr sz="900"/>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37" name="Text Placeholder 19">
            <a:extLst>
              <a:ext uri="{FF2B5EF4-FFF2-40B4-BE49-F238E27FC236}">
                <a16:creationId xmlns:a16="http://schemas.microsoft.com/office/drawing/2014/main" id="{DBE95EC2-B742-4CDB-B50E-6EE0A7739C8A}"/>
              </a:ext>
            </a:extLst>
          </p:cNvPr>
          <p:cNvSpPr>
            <a:spLocks noGrp="1"/>
          </p:cNvSpPr>
          <p:nvPr>
            <p:ph type="body" sz="quarter" idx="22" hasCustomPrompt="1"/>
          </p:nvPr>
        </p:nvSpPr>
        <p:spPr>
          <a:xfrm>
            <a:off x="4448767" y="3477111"/>
            <a:ext cx="3286800" cy="1638000"/>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8" name="Text Placeholder 25">
            <a:extLst>
              <a:ext uri="{FF2B5EF4-FFF2-40B4-BE49-F238E27FC236}">
                <a16:creationId xmlns:a16="http://schemas.microsoft.com/office/drawing/2014/main" id="{A9E8E38E-F285-4386-B576-F532FE4FE505}"/>
              </a:ext>
            </a:extLst>
          </p:cNvPr>
          <p:cNvSpPr>
            <a:spLocks noGrp="1"/>
          </p:cNvSpPr>
          <p:nvPr>
            <p:ph type="body" sz="quarter" idx="23" hasCustomPrompt="1"/>
          </p:nvPr>
        </p:nvSpPr>
        <p:spPr>
          <a:xfrm>
            <a:off x="4448768"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9" name="Text Placeholder 25">
            <a:extLst>
              <a:ext uri="{FF2B5EF4-FFF2-40B4-BE49-F238E27FC236}">
                <a16:creationId xmlns:a16="http://schemas.microsoft.com/office/drawing/2014/main" id="{BA362B78-B3C9-4A1A-9652-109A88609142}"/>
              </a:ext>
            </a:extLst>
          </p:cNvPr>
          <p:cNvSpPr>
            <a:spLocks noGrp="1"/>
          </p:cNvSpPr>
          <p:nvPr>
            <p:ph type="body" sz="quarter" idx="24"/>
          </p:nvPr>
        </p:nvSpPr>
        <p:spPr>
          <a:xfrm>
            <a:off x="7292767"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Tree>
    <p:extLst>
      <p:ext uri="{BB962C8B-B14F-4D97-AF65-F5344CB8AC3E}">
        <p14:creationId xmlns:p14="http://schemas.microsoft.com/office/powerpoint/2010/main" val="407958223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KEY FINDINGS 3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7903761"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7903761"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1803399"/>
            <a:ext cx="32868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1"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7" name="Text Placeholder 25">
            <a:extLst>
              <a:ext uri="{FF2B5EF4-FFF2-40B4-BE49-F238E27FC236}">
                <a16:creationId xmlns:a16="http://schemas.microsoft.com/office/drawing/2014/main" id="{5AE1C3EF-B97B-4307-AD7A-897278838491}"/>
              </a:ext>
            </a:extLst>
          </p:cNvPr>
          <p:cNvSpPr>
            <a:spLocks noGrp="1"/>
          </p:cNvSpPr>
          <p:nvPr>
            <p:ph type="body" sz="quarter" idx="16" hasCustomPrompt="1"/>
          </p:nvPr>
        </p:nvSpPr>
        <p:spPr>
          <a:xfrm>
            <a:off x="7903761" y="5202903"/>
            <a:ext cx="2844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7903761" y="1803399"/>
            <a:ext cx="32868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383936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1074658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24" name="Rectangle 23">
            <a:extLst>
              <a:ext uri="{FF2B5EF4-FFF2-40B4-BE49-F238E27FC236}">
                <a16:creationId xmlns:a16="http://schemas.microsoft.com/office/drawing/2014/main" id="{1DFFD023-3791-4606-9AB9-BBE3C891C841}"/>
              </a:ext>
            </a:extLst>
          </p:cNvPr>
          <p:cNvSpPr>
            <a:spLocks/>
          </p:cNvSpPr>
          <p:nvPr userDrawn="1"/>
        </p:nvSpPr>
        <p:spPr>
          <a:xfrm>
            <a:off x="4448767"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25" name="Text Placeholder 9">
            <a:extLst>
              <a:ext uri="{FF2B5EF4-FFF2-40B4-BE49-F238E27FC236}">
                <a16:creationId xmlns:a16="http://schemas.microsoft.com/office/drawing/2014/main" id="{A2C2FF05-A5CE-46D8-9983-9BFF6DCDC286}"/>
              </a:ext>
            </a:extLst>
          </p:cNvPr>
          <p:cNvSpPr>
            <a:spLocks noGrp="1"/>
          </p:cNvSpPr>
          <p:nvPr>
            <p:ph type="body" sz="quarter" idx="20" hasCustomPrompt="1"/>
          </p:nvPr>
        </p:nvSpPr>
        <p:spPr>
          <a:xfrm>
            <a:off x="4448767"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37" name="Text Placeholder 19">
            <a:extLst>
              <a:ext uri="{FF2B5EF4-FFF2-40B4-BE49-F238E27FC236}">
                <a16:creationId xmlns:a16="http://schemas.microsoft.com/office/drawing/2014/main" id="{DBE95EC2-B742-4CDB-B50E-6EE0A7739C8A}"/>
              </a:ext>
            </a:extLst>
          </p:cNvPr>
          <p:cNvSpPr>
            <a:spLocks noGrp="1"/>
          </p:cNvSpPr>
          <p:nvPr>
            <p:ph type="body" sz="quarter" idx="22" hasCustomPrompt="1"/>
          </p:nvPr>
        </p:nvSpPr>
        <p:spPr>
          <a:xfrm>
            <a:off x="4448767" y="1803399"/>
            <a:ext cx="3286800" cy="3311712"/>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8" name="Text Placeholder 25">
            <a:extLst>
              <a:ext uri="{FF2B5EF4-FFF2-40B4-BE49-F238E27FC236}">
                <a16:creationId xmlns:a16="http://schemas.microsoft.com/office/drawing/2014/main" id="{A9E8E38E-F285-4386-B576-F532FE4FE505}"/>
              </a:ext>
            </a:extLst>
          </p:cNvPr>
          <p:cNvSpPr>
            <a:spLocks noGrp="1"/>
          </p:cNvSpPr>
          <p:nvPr>
            <p:ph type="body" sz="quarter" idx="23" hasCustomPrompt="1"/>
          </p:nvPr>
        </p:nvSpPr>
        <p:spPr>
          <a:xfrm>
            <a:off x="4448768"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9" name="Text Placeholder 25">
            <a:extLst>
              <a:ext uri="{FF2B5EF4-FFF2-40B4-BE49-F238E27FC236}">
                <a16:creationId xmlns:a16="http://schemas.microsoft.com/office/drawing/2014/main" id="{BA362B78-B3C9-4A1A-9652-109A88609142}"/>
              </a:ext>
            </a:extLst>
          </p:cNvPr>
          <p:cNvSpPr>
            <a:spLocks noGrp="1"/>
          </p:cNvSpPr>
          <p:nvPr>
            <p:ph type="body" sz="quarter" idx="24"/>
          </p:nvPr>
        </p:nvSpPr>
        <p:spPr>
          <a:xfrm>
            <a:off x="7292767"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Tree>
    <p:extLst>
      <p:ext uri="{BB962C8B-B14F-4D97-AF65-F5344CB8AC3E}">
        <p14:creationId xmlns:p14="http://schemas.microsoft.com/office/powerpoint/2010/main" val="389752165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KEY FINDINGS 6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60"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4" name="Rectangle 3">
            <a:extLst>
              <a:ext uri="{FF2B5EF4-FFF2-40B4-BE49-F238E27FC236}">
                <a16:creationId xmlns:a16="http://schemas.microsoft.com/office/drawing/2014/main" id="{24DF3A41-4AB7-4801-98A4-EF21A1218F1D}"/>
              </a:ext>
            </a:extLst>
          </p:cNvPr>
          <p:cNvSpPr>
            <a:spLocks/>
          </p:cNvSpPr>
          <p:nvPr userDrawn="1"/>
        </p:nvSpPr>
        <p:spPr>
          <a:xfrm>
            <a:off x="7903761"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a:xfrm>
            <a:off x="995360"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11" name="Text Placeholder 9">
            <a:extLst>
              <a:ext uri="{FF2B5EF4-FFF2-40B4-BE49-F238E27FC236}">
                <a16:creationId xmlns:a16="http://schemas.microsoft.com/office/drawing/2014/main" id="{841B071B-1005-4A0B-977E-791A23FE6DA8}"/>
              </a:ext>
            </a:extLst>
          </p:cNvPr>
          <p:cNvSpPr>
            <a:spLocks noGrp="1"/>
          </p:cNvSpPr>
          <p:nvPr>
            <p:ph type="body" sz="quarter" idx="11" hasCustomPrompt="1"/>
          </p:nvPr>
        </p:nvSpPr>
        <p:spPr>
          <a:xfrm>
            <a:off x="7903761"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20" name="Text Placeholder 19">
            <a:extLst>
              <a:ext uri="{FF2B5EF4-FFF2-40B4-BE49-F238E27FC236}">
                <a16:creationId xmlns:a16="http://schemas.microsoft.com/office/drawing/2014/main" id="{DF90F984-668C-4228-A8A5-E542C1658D26}"/>
              </a:ext>
            </a:extLst>
          </p:cNvPr>
          <p:cNvSpPr>
            <a:spLocks noGrp="1"/>
          </p:cNvSpPr>
          <p:nvPr>
            <p:ph type="body" sz="quarter" idx="14" hasCustomPrompt="1"/>
          </p:nvPr>
        </p:nvSpPr>
        <p:spPr>
          <a:xfrm>
            <a:off x="995360" y="1803399"/>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26" name="Text Placeholder 25">
            <a:extLst>
              <a:ext uri="{FF2B5EF4-FFF2-40B4-BE49-F238E27FC236}">
                <a16:creationId xmlns:a16="http://schemas.microsoft.com/office/drawing/2014/main" id="{70705D57-5E11-4390-9AE7-255013492702}"/>
              </a:ext>
            </a:extLst>
          </p:cNvPr>
          <p:cNvSpPr>
            <a:spLocks noGrp="1"/>
          </p:cNvSpPr>
          <p:nvPr>
            <p:ph type="body" sz="quarter" idx="15" hasCustomPrompt="1"/>
          </p:nvPr>
        </p:nvSpPr>
        <p:spPr>
          <a:xfrm>
            <a:off x="995361"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7" name="Text Placeholder 25">
            <a:extLst>
              <a:ext uri="{FF2B5EF4-FFF2-40B4-BE49-F238E27FC236}">
                <a16:creationId xmlns:a16="http://schemas.microsoft.com/office/drawing/2014/main" id="{5AE1C3EF-B97B-4307-AD7A-897278838491}"/>
              </a:ext>
            </a:extLst>
          </p:cNvPr>
          <p:cNvSpPr>
            <a:spLocks noGrp="1"/>
          </p:cNvSpPr>
          <p:nvPr>
            <p:ph type="body" sz="quarter" idx="16" hasCustomPrompt="1"/>
          </p:nvPr>
        </p:nvSpPr>
        <p:spPr>
          <a:xfrm>
            <a:off x="7903761" y="5202903"/>
            <a:ext cx="2844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28" name="Text Placeholder 19">
            <a:extLst>
              <a:ext uri="{FF2B5EF4-FFF2-40B4-BE49-F238E27FC236}">
                <a16:creationId xmlns:a16="http://schemas.microsoft.com/office/drawing/2014/main" id="{442EB139-0BC4-498D-A1FD-602091BE8D89}"/>
              </a:ext>
            </a:extLst>
          </p:cNvPr>
          <p:cNvSpPr>
            <a:spLocks noGrp="1"/>
          </p:cNvSpPr>
          <p:nvPr>
            <p:ph type="body" sz="quarter" idx="17" hasCustomPrompt="1"/>
          </p:nvPr>
        </p:nvSpPr>
        <p:spPr>
          <a:xfrm>
            <a:off x="7903761" y="1803399"/>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0" name="Text Placeholder 25">
            <a:extLst>
              <a:ext uri="{FF2B5EF4-FFF2-40B4-BE49-F238E27FC236}">
                <a16:creationId xmlns:a16="http://schemas.microsoft.com/office/drawing/2014/main" id="{F3F05CAD-2809-42FF-9292-244B3AC81CDF}"/>
              </a:ext>
            </a:extLst>
          </p:cNvPr>
          <p:cNvSpPr>
            <a:spLocks noGrp="1"/>
          </p:cNvSpPr>
          <p:nvPr>
            <p:ph type="body" sz="quarter" idx="18"/>
          </p:nvPr>
        </p:nvSpPr>
        <p:spPr>
          <a:xfrm>
            <a:off x="383936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1" name="Text Placeholder 25">
            <a:extLst>
              <a:ext uri="{FF2B5EF4-FFF2-40B4-BE49-F238E27FC236}">
                <a16:creationId xmlns:a16="http://schemas.microsoft.com/office/drawing/2014/main" id="{D478D05C-8BB9-4725-B3D1-A4AFC0CD903A}"/>
              </a:ext>
            </a:extLst>
          </p:cNvPr>
          <p:cNvSpPr>
            <a:spLocks noGrp="1"/>
          </p:cNvSpPr>
          <p:nvPr>
            <p:ph type="body" sz="quarter" idx="19"/>
          </p:nvPr>
        </p:nvSpPr>
        <p:spPr>
          <a:xfrm>
            <a:off x="10746580"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24" name="Rectangle 23">
            <a:extLst>
              <a:ext uri="{FF2B5EF4-FFF2-40B4-BE49-F238E27FC236}">
                <a16:creationId xmlns:a16="http://schemas.microsoft.com/office/drawing/2014/main" id="{1DFFD023-3791-4606-9AB9-BBE3C891C841}"/>
              </a:ext>
            </a:extLst>
          </p:cNvPr>
          <p:cNvSpPr>
            <a:spLocks/>
          </p:cNvSpPr>
          <p:nvPr userDrawn="1"/>
        </p:nvSpPr>
        <p:spPr>
          <a:xfrm>
            <a:off x="4448767" y="13303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25" name="Text Placeholder 9">
            <a:extLst>
              <a:ext uri="{FF2B5EF4-FFF2-40B4-BE49-F238E27FC236}">
                <a16:creationId xmlns:a16="http://schemas.microsoft.com/office/drawing/2014/main" id="{A2C2FF05-A5CE-46D8-9983-9BFF6DCDC286}"/>
              </a:ext>
            </a:extLst>
          </p:cNvPr>
          <p:cNvSpPr>
            <a:spLocks noGrp="1"/>
          </p:cNvSpPr>
          <p:nvPr>
            <p:ph type="body" sz="quarter" idx="20" hasCustomPrompt="1"/>
          </p:nvPr>
        </p:nvSpPr>
        <p:spPr>
          <a:xfrm>
            <a:off x="4448767" y="13303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37" name="Text Placeholder 19">
            <a:extLst>
              <a:ext uri="{FF2B5EF4-FFF2-40B4-BE49-F238E27FC236}">
                <a16:creationId xmlns:a16="http://schemas.microsoft.com/office/drawing/2014/main" id="{DBE95EC2-B742-4CDB-B50E-6EE0A7739C8A}"/>
              </a:ext>
            </a:extLst>
          </p:cNvPr>
          <p:cNvSpPr>
            <a:spLocks noGrp="1"/>
          </p:cNvSpPr>
          <p:nvPr>
            <p:ph type="body" sz="quarter" idx="22" hasCustomPrompt="1"/>
          </p:nvPr>
        </p:nvSpPr>
        <p:spPr>
          <a:xfrm>
            <a:off x="4448767" y="1803399"/>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38" name="Text Placeholder 25">
            <a:extLst>
              <a:ext uri="{FF2B5EF4-FFF2-40B4-BE49-F238E27FC236}">
                <a16:creationId xmlns:a16="http://schemas.microsoft.com/office/drawing/2014/main" id="{A9E8E38E-F285-4386-B576-F532FE4FE505}"/>
              </a:ext>
            </a:extLst>
          </p:cNvPr>
          <p:cNvSpPr>
            <a:spLocks noGrp="1"/>
          </p:cNvSpPr>
          <p:nvPr>
            <p:ph type="body" sz="quarter" idx="23" hasCustomPrompt="1"/>
          </p:nvPr>
        </p:nvSpPr>
        <p:spPr>
          <a:xfrm>
            <a:off x="4448768" y="5202903"/>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39" name="Text Placeholder 25">
            <a:extLst>
              <a:ext uri="{FF2B5EF4-FFF2-40B4-BE49-F238E27FC236}">
                <a16:creationId xmlns:a16="http://schemas.microsoft.com/office/drawing/2014/main" id="{BA362B78-B3C9-4A1A-9652-109A88609142}"/>
              </a:ext>
            </a:extLst>
          </p:cNvPr>
          <p:cNvSpPr>
            <a:spLocks noGrp="1"/>
          </p:cNvSpPr>
          <p:nvPr>
            <p:ph type="body" sz="quarter" idx="24"/>
          </p:nvPr>
        </p:nvSpPr>
        <p:spPr>
          <a:xfrm>
            <a:off x="7292767" y="5202903"/>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45" name="Text Placeholder 25">
            <a:extLst>
              <a:ext uri="{FF2B5EF4-FFF2-40B4-BE49-F238E27FC236}">
                <a16:creationId xmlns:a16="http://schemas.microsoft.com/office/drawing/2014/main" id="{C20E3C5A-B11D-44A1-82E2-F383A32A779A}"/>
              </a:ext>
            </a:extLst>
          </p:cNvPr>
          <p:cNvSpPr>
            <a:spLocks noGrp="1"/>
          </p:cNvSpPr>
          <p:nvPr>
            <p:ph type="body" sz="quarter" idx="25" hasCustomPrompt="1"/>
          </p:nvPr>
        </p:nvSpPr>
        <p:spPr>
          <a:xfrm>
            <a:off x="995361" y="2853558"/>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46" name="Text Placeholder 25">
            <a:extLst>
              <a:ext uri="{FF2B5EF4-FFF2-40B4-BE49-F238E27FC236}">
                <a16:creationId xmlns:a16="http://schemas.microsoft.com/office/drawing/2014/main" id="{4DA3B340-C800-419B-9507-5E99EA147B1E}"/>
              </a:ext>
            </a:extLst>
          </p:cNvPr>
          <p:cNvSpPr>
            <a:spLocks noGrp="1"/>
          </p:cNvSpPr>
          <p:nvPr>
            <p:ph type="body" sz="quarter" idx="26" hasCustomPrompt="1"/>
          </p:nvPr>
        </p:nvSpPr>
        <p:spPr>
          <a:xfrm>
            <a:off x="7903761" y="2853558"/>
            <a:ext cx="2844000"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47" name="Text Placeholder 25">
            <a:extLst>
              <a:ext uri="{FF2B5EF4-FFF2-40B4-BE49-F238E27FC236}">
                <a16:creationId xmlns:a16="http://schemas.microsoft.com/office/drawing/2014/main" id="{53F84B25-1F25-459C-A2D8-B77B3C04C66A}"/>
              </a:ext>
            </a:extLst>
          </p:cNvPr>
          <p:cNvSpPr>
            <a:spLocks noGrp="1"/>
          </p:cNvSpPr>
          <p:nvPr>
            <p:ph type="body" sz="quarter" idx="27"/>
          </p:nvPr>
        </p:nvSpPr>
        <p:spPr>
          <a:xfrm>
            <a:off x="3839360" y="2853558"/>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48" name="Text Placeholder 25">
            <a:extLst>
              <a:ext uri="{FF2B5EF4-FFF2-40B4-BE49-F238E27FC236}">
                <a16:creationId xmlns:a16="http://schemas.microsoft.com/office/drawing/2014/main" id="{ED0A5D25-B249-477C-AA93-1571AD69D8AA}"/>
              </a:ext>
            </a:extLst>
          </p:cNvPr>
          <p:cNvSpPr>
            <a:spLocks noGrp="1"/>
          </p:cNvSpPr>
          <p:nvPr>
            <p:ph type="body" sz="quarter" idx="28"/>
          </p:nvPr>
        </p:nvSpPr>
        <p:spPr>
          <a:xfrm>
            <a:off x="10746580" y="2853558"/>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49" name="Text Placeholder 25">
            <a:extLst>
              <a:ext uri="{FF2B5EF4-FFF2-40B4-BE49-F238E27FC236}">
                <a16:creationId xmlns:a16="http://schemas.microsoft.com/office/drawing/2014/main" id="{5C1ABE3A-A00F-4992-A4B7-56C1DA3EA279}"/>
              </a:ext>
            </a:extLst>
          </p:cNvPr>
          <p:cNvSpPr>
            <a:spLocks noGrp="1"/>
          </p:cNvSpPr>
          <p:nvPr>
            <p:ph type="body" sz="quarter" idx="29" hasCustomPrompt="1"/>
          </p:nvPr>
        </p:nvSpPr>
        <p:spPr>
          <a:xfrm>
            <a:off x="4448768" y="2853558"/>
            <a:ext cx="2843999" cy="673200"/>
          </a:xfrm>
          <a:ln>
            <a:solidFill>
              <a:schemeClr val="tx2"/>
            </a:solidFill>
          </a:ln>
        </p:spPr>
        <p:txBody>
          <a:bodyPr lIns="72000" tIns="72000" rIns="72000" bIns="72000" anchor="ctr" anchorCtr="0"/>
          <a:lstStyle>
            <a:lvl1pPr>
              <a:defRPr sz="900" b="1"/>
            </a:lvl1pPr>
            <a:lvl2pPr>
              <a:defRPr sz="900"/>
            </a:lvl2pPr>
            <a:lvl3pPr>
              <a:defRPr sz="900"/>
            </a:lvl3pPr>
            <a:lvl4pPr>
              <a:defRPr sz="900"/>
            </a:lvl4pPr>
            <a:lvl5pPr>
              <a:defRPr sz="900"/>
            </a:lvl5pPr>
          </a:lstStyle>
          <a:p>
            <a:r>
              <a:rPr lang="en-US" sz="900" dirty="0">
                <a:solidFill>
                  <a:srgbClr val="00338D"/>
                </a:solidFill>
              </a:rPr>
              <a:t>Summary / KPMG recommendation.</a:t>
            </a:r>
          </a:p>
        </p:txBody>
      </p:sp>
      <p:sp>
        <p:nvSpPr>
          <p:cNvPr id="50" name="Text Placeholder 25">
            <a:extLst>
              <a:ext uri="{FF2B5EF4-FFF2-40B4-BE49-F238E27FC236}">
                <a16:creationId xmlns:a16="http://schemas.microsoft.com/office/drawing/2014/main" id="{DF0BCA2F-B82B-4404-82AF-A88D61D000B5}"/>
              </a:ext>
            </a:extLst>
          </p:cNvPr>
          <p:cNvSpPr>
            <a:spLocks noGrp="1"/>
          </p:cNvSpPr>
          <p:nvPr>
            <p:ph type="body" sz="quarter" idx="30"/>
          </p:nvPr>
        </p:nvSpPr>
        <p:spPr>
          <a:xfrm>
            <a:off x="7292767" y="2853558"/>
            <a:ext cx="442800" cy="673200"/>
          </a:xfrm>
          <a:solidFill>
            <a:schemeClr val="bg2"/>
          </a:solidFill>
          <a:ln>
            <a:solidFill>
              <a:schemeClr val="tx2"/>
            </a:solidFill>
          </a:ln>
        </p:spPr>
        <p:txBody>
          <a:bodyPr lIns="0" tIns="0" rIns="0" bIns="0" anchor="ctr" anchorCtr="0"/>
          <a:lstStyle>
            <a:lvl1pPr algn="ctr">
              <a:defRPr sz="900" b="0"/>
            </a:lvl1pPr>
            <a:lvl2pPr>
              <a:defRPr sz="900"/>
            </a:lvl2pPr>
            <a:lvl3pPr>
              <a:defRPr sz="900"/>
            </a:lvl3pPr>
            <a:lvl4pPr>
              <a:defRPr sz="900"/>
            </a:lvl4pPr>
            <a:lvl5pPr>
              <a:defRPr sz="900"/>
            </a:lvl5pPr>
          </a:lstStyle>
          <a:p>
            <a:pPr algn="ctr">
              <a:spcAft>
                <a:spcPts val="300"/>
              </a:spcAft>
            </a:pPr>
            <a:endParaRPr lang="en-US" sz="900" b="1" dirty="0">
              <a:solidFill>
                <a:srgbClr val="B2B2B2"/>
              </a:solidFill>
            </a:endParaRPr>
          </a:p>
        </p:txBody>
      </p:sp>
      <p:sp>
        <p:nvSpPr>
          <p:cNvPr id="51" name="Rectangle 50">
            <a:extLst>
              <a:ext uri="{FF2B5EF4-FFF2-40B4-BE49-F238E27FC236}">
                <a16:creationId xmlns:a16="http://schemas.microsoft.com/office/drawing/2014/main" id="{FF9DDC9F-8B04-4324-8D45-8E37648D04F1}"/>
              </a:ext>
            </a:extLst>
          </p:cNvPr>
          <p:cNvSpPr>
            <a:spLocks/>
          </p:cNvSpPr>
          <p:nvPr userDrawn="1"/>
        </p:nvSpPr>
        <p:spPr>
          <a:xfrm>
            <a:off x="995360" y="36534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52" name="Rectangle 51">
            <a:extLst>
              <a:ext uri="{FF2B5EF4-FFF2-40B4-BE49-F238E27FC236}">
                <a16:creationId xmlns:a16="http://schemas.microsoft.com/office/drawing/2014/main" id="{AA97F2D9-C729-4C3D-8872-9332E9248993}"/>
              </a:ext>
            </a:extLst>
          </p:cNvPr>
          <p:cNvSpPr>
            <a:spLocks/>
          </p:cNvSpPr>
          <p:nvPr userDrawn="1"/>
        </p:nvSpPr>
        <p:spPr>
          <a:xfrm>
            <a:off x="7903761" y="36534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53" name="Text Placeholder 9">
            <a:extLst>
              <a:ext uri="{FF2B5EF4-FFF2-40B4-BE49-F238E27FC236}">
                <a16:creationId xmlns:a16="http://schemas.microsoft.com/office/drawing/2014/main" id="{2A293808-AA13-406E-BFF9-26928A9AC41E}"/>
              </a:ext>
            </a:extLst>
          </p:cNvPr>
          <p:cNvSpPr>
            <a:spLocks noGrp="1"/>
          </p:cNvSpPr>
          <p:nvPr>
            <p:ph type="body" sz="quarter" idx="31" hasCustomPrompt="1"/>
          </p:nvPr>
        </p:nvSpPr>
        <p:spPr>
          <a:xfrm>
            <a:off x="995360" y="36534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54" name="Text Placeholder 9">
            <a:extLst>
              <a:ext uri="{FF2B5EF4-FFF2-40B4-BE49-F238E27FC236}">
                <a16:creationId xmlns:a16="http://schemas.microsoft.com/office/drawing/2014/main" id="{B2A5428F-4DB9-497D-8534-8B2E6E9C7BA6}"/>
              </a:ext>
            </a:extLst>
          </p:cNvPr>
          <p:cNvSpPr>
            <a:spLocks noGrp="1"/>
          </p:cNvSpPr>
          <p:nvPr>
            <p:ph type="body" sz="quarter" idx="32" hasCustomPrompt="1"/>
          </p:nvPr>
        </p:nvSpPr>
        <p:spPr>
          <a:xfrm>
            <a:off x="7903761" y="36534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55" name="Rectangle 54">
            <a:extLst>
              <a:ext uri="{FF2B5EF4-FFF2-40B4-BE49-F238E27FC236}">
                <a16:creationId xmlns:a16="http://schemas.microsoft.com/office/drawing/2014/main" id="{5D29A038-7ED3-4ECB-9824-4F1404AF8627}"/>
              </a:ext>
            </a:extLst>
          </p:cNvPr>
          <p:cNvSpPr>
            <a:spLocks/>
          </p:cNvSpPr>
          <p:nvPr userDrawn="1"/>
        </p:nvSpPr>
        <p:spPr>
          <a:xfrm>
            <a:off x="4448767" y="3653425"/>
            <a:ext cx="3286800"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algn="l"/>
            <a:endParaRPr lang="en-US" sz="1200" b="1" dirty="0">
              <a:solidFill>
                <a:schemeClr val="bg1"/>
              </a:solidFill>
            </a:endParaRPr>
          </a:p>
        </p:txBody>
      </p:sp>
      <p:sp>
        <p:nvSpPr>
          <p:cNvPr id="56" name="Text Placeholder 9">
            <a:extLst>
              <a:ext uri="{FF2B5EF4-FFF2-40B4-BE49-F238E27FC236}">
                <a16:creationId xmlns:a16="http://schemas.microsoft.com/office/drawing/2014/main" id="{311CFB02-37EA-438E-8CBA-C81AAE495E62}"/>
              </a:ext>
            </a:extLst>
          </p:cNvPr>
          <p:cNvSpPr>
            <a:spLocks noGrp="1"/>
          </p:cNvSpPr>
          <p:nvPr>
            <p:ph type="body" sz="quarter" idx="33" hasCustomPrompt="1"/>
          </p:nvPr>
        </p:nvSpPr>
        <p:spPr>
          <a:xfrm>
            <a:off x="4448767" y="3653425"/>
            <a:ext cx="3286800" cy="360000"/>
          </a:xfrm>
        </p:spPr>
        <p:txBody>
          <a:bodyPr lIns="72000" tIns="36000" rIns="72000" bIns="36000" anchor="ctr" anchorCtr="0"/>
          <a:lstStyle>
            <a:lvl1pPr>
              <a:defRPr sz="1200">
                <a:solidFill>
                  <a:schemeClr val="bg1"/>
                </a:solidFill>
              </a:defRPr>
            </a:lvl1pPr>
          </a:lstStyle>
          <a:p>
            <a:pPr lvl="0"/>
            <a:r>
              <a:rPr lang="en-US" dirty="0"/>
              <a:t>Click to add the heading</a:t>
            </a:r>
          </a:p>
        </p:txBody>
      </p:sp>
      <p:sp>
        <p:nvSpPr>
          <p:cNvPr id="57" name="Text Placeholder 19">
            <a:extLst>
              <a:ext uri="{FF2B5EF4-FFF2-40B4-BE49-F238E27FC236}">
                <a16:creationId xmlns:a16="http://schemas.microsoft.com/office/drawing/2014/main" id="{7E973D3C-4484-4EC4-8C5A-15EE9C9F2F00}"/>
              </a:ext>
            </a:extLst>
          </p:cNvPr>
          <p:cNvSpPr>
            <a:spLocks noGrp="1"/>
          </p:cNvSpPr>
          <p:nvPr>
            <p:ph type="body" sz="quarter" idx="34" hasCustomPrompt="1"/>
          </p:nvPr>
        </p:nvSpPr>
        <p:spPr>
          <a:xfrm>
            <a:off x="995360" y="4111111"/>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58" name="Text Placeholder 19">
            <a:extLst>
              <a:ext uri="{FF2B5EF4-FFF2-40B4-BE49-F238E27FC236}">
                <a16:creationId xmlns:a16="http://schemas.microsoft.com/office/drawing/2014/main" id="{CE5DF176-ABDA-43BD-9C2E-22E14BC26DD9}"/>
              </a:ext>
            </a:extLst>
          </p:cNvPr>
          <p:cNvSpPr>
            <a:spLocks noGrp="1"/>
          </p:cNvSpPr>
          <p:nvPr>
            <p:ph type="body" sz="quarter" idx="35" hasCustomPrompt="1"/>
          </p:nvPr>
        </p:nvSpPr>
        <p:spPr>
          <a:xfrm>
            <a:off x="7903761" y="4111111"/>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
        <p:nvSpPr>
          <p:cNvPr id="59" name="Text Placeholder 19">
            <a:extLst>
              <a:ext uri="{FF2B5EF4-FFF2-40B4-BE49-F238E27FC236}">
                <a16:creationId xmlns:a16="http://schemas.microsoft.com/office/drawing/2014/main" id="{D2E969D7-7A82-4B1F-B56D-7A789102FB37}"/>
              </a:ext>
            </a:extLst>
          </p:cNvPr>
          <p:cNvSpPr>
            <a:spLocks noGrp="1"/>
          </p:cNvSpPr>
          <p:nvPr>
            <p:ph type="body" sz="quarter" idx="36" hasCustomPrompt="1"/>
          </p:nvPr>
        </p:nvSpPr>
        <p:spPr>
          <a:xfrm>
            <a:off x="4448767" y="4111111"/>
            <a:ext cx="3286800" cy="1006123"/>
          </a:xfrm>
        </p:spPr>
        <p:txBody>
          <a:bodyPr lIns="72000"/>
          <a:lstStyle>
            <a:lvl1pPr>
              <a:defRPr sz="900"/>
            </a:lvl1pPr>
            <a:lvl2pPr>
              <a:defRPr sz="900"/>
            </a:lvl2pPr>
            <a:lvl3pPr>
              <a:defRPr sz="900"/>
            </a:lvl3pPr>
            <a:lvl4pPr>
              <a:defRPr sz="900"/>
            </a:lvl4pPr>
            <a:lvl5pPr>
              <a:defRPr sz="900"/>
            </a:lvl5pPr>
          </a:lstStyle>
          <a:p>
            <a:r>
              <a:rPr lang="en-US" sz="900" dirty="0"/>
              <a:t>First level</a:t>
            </a:r>
          </a:p>
          <a:p>
            <a:pPr lvl="1"/>
            <a:r>
              <a:rPr lang="en-US" sz="900" dirty="0"/>
              <a:t>Second level</a:t>
            </a:r>
          </a:p>
          <a:p>
            <a:pPr lvl="2"/>
            <a:r>
              <a:rPr lang="en-US" sz="900" dirty="0"/>
              <a:t>Third level</a:t>
            </a:r>
          </a:p>
          <a:p>
            <a:pPr lvl="3"/>
            <a:r>
              <a:rPr lang="en-US" sz="900" dirty="0"/>
              <a:t>Fourth level</a:t>
            </a:r>
          </a:p>
          <a:p>
            <a:pPr lvl="4"/>
            <a:r>
              <a:rPr lang="en-US" sz="900" dirty="0"/>
              <a:t>Fifth level</a:t>
            </a:r>
            <a:endParaRPr lang="en-US" dirty="0"/>
          </a:p>
        </p:txBody>
      </p:sp>
    </p:spTree>
    <p:extLst>
      <p:ext uri="{BB962C8B-B14F-4D97-AF65-F5344CB8AC3E}">
        <p14:creationId xmlns:p14="http://schemas.microsoft.com/office/powerpoint/2010/main" val="227849646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ANALYSIS narrow table">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236728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4785600" y="1912838"/>
            <a:ext cx="640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0" y="1912837"/>
            <a:ext cx="3528000" cy="3973057"/>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2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4785600" y="2223113"/>
            <a:ext cx="6408000" cy="3662782"/>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50565585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UMMARY 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2"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2"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7"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7" name="Rectangle 6">
            <a:extLst>
              <a:ext uri="{FF2B5EF4-FFF2-40B4-BE49-F238E27FC236}">
                <a16:creationId xmlns:a16="http://schemas.microsoft.com/office/drawing/2014/main" id="{B0CD50F2-580F-4CEF-B077-B2CB175648C0}"/>
              </a:ext>
            </a:extLst>
          </p:cNvPr>
          <p:cNvSpPr/>
          <p:nvPr userDrawn="1"/>
        </p:nvSpPr>
        <p:spPr>
          <a:xfrm>
            <a:off x="4427897"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30"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7860430"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0" name="Text Placeholder 9">
            <a:extLst>
              <a:ext uri="{FF2B5EF4-FFF2-40B4-BE49-F238E27FC236}">
                <a16:creationId xmlns:a16="http://schemas.microsoft.com/office/drawing/2014/main" id="{9BD4A4D5-D742-4354-912B-FA7506C97D7D}"/>
              </a:ext>
            </a:extLst>
          </p:cNvPr>
          <p:cNvSpPr>
            <a:spLocks noGrp="1"/>
          </p:cNvSpPr>
          <p:nvPr>
            <p:ph type="body" sz="quarter" idx="10"/>
          </p:nvPr>
        </p:nvSpPr>
        <p:spPr>
          <a:xfrm>
            <a:off x="1022145"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1" name="Text Placeholder 9">
            <a:extLst>
              <a:ext uri="{FF2B5EF4-FFF2-40B4-BE49-F238E27FC236}">
                <a16:creationId xmlns:a16="http://schemas.microsoft.com/office/drawing/2014/main" id="{24ACC3BC-20DE-427C-B9BF-032A57363F7A}"/>
              </a:ext>
            </a:extLst>
          </p:cNvPr>
          <p:cNvSpPr>
            <a:spLocks noGrp="1"/>
          </p:cNvSpPr>
          <p:nvPr>
            <p:ph type="body" sz="quarter" idx="11"/>
          </p:nvPr>
        </p:nvSpPr>
        <p:spPr>
          <a:xfrm>
            <a:off x="4456641"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2" name="Text Placeholder 9">
            <a:extLst>
              <a:ext uri="{FF2B5EF4-FFF2-40B4-BE49-F238E27FC236}">
                <a16:creationId xmlns:a16="http://schemas.microsoft.com/office/drawing/2014/main" id="{EE03C645-2516-4A17-B4AE-E486AB2768F1}"/>
              </a:ext>
            </a:extLst>
          </p:cNvPr>
          <p:cNvSpPr>
            <a:spLocks noGrp="1"/>
          </p:cNvSpPr>
          <p:nvPr>
            <p:ph type="body" sz="quarter" idx="12"/>
          </p:nvPr>
        </p:nvSpPr>
        <p:spPr>
          <a:xfrm>
            <a:off x="7887079"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022145"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4CD4E557-7DAB-44A2-95F3-6B7974AD29BB}"/>
              </a:ext>
            </a:extLst>
          </p:cNvPr>
          <p:cNvSpPr>
            <a:spLocks noGrp="1"/>
          </p:cNvSpPr>
          <p:nvPr>
            <p:ph type="body" sz="quarter" idx="14"/>
          </p:nvPr>
        </p:nvSpPr>
        <p:spPr>
          <a:xfrm>
            <a:off x="4456641"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7887079" y="3787341"/>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30283192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ANALYSIS 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D9E385AF-3572-44B5-8798-98ACD0C0B164}"/>
              </a:ext>
            </a:extLst>
          </p:cNvPr>
          <p:cNvSpPr>
            <a:spLocks/>
          </p:cNvSpPr>
          <p:nvPr userDrawn="1"/>
        </p:nvSpPr>
        <p:spPr>
          <a:xfrm>
            <a:off x="4785600" y="1912838"/>
            <a:ext cx="6408000" cy="245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900" b="1" dirty="0">
              <a:solidFill>
                <a:schemeClr val="bg1"/>
              </a:solidFill>
            </a:endParaRP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1" y="1912838"/>
            <a:ext cx="3528000" cy="3973057"/>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7922"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4785600" y="1912838"/>
            <a:ext cx="6408000" cy="244800"/>
          </a:xfrm>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4785600" y="2223114"/>
            <a:ext cx="6408000" cy="3662782"/>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48344110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SUMMARY FINANCIAL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1" y="3652093"/>
            <a:ext cx="5058000"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2"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7"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30"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6141029" y="3652093"/>
            <a:ext cx="5058785"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022145" y="3787341"/>
            <a:ext cx="4500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6176812" y="3787341"/>
            <a:ext cx="4140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3" name="Text Placeholder 9">
            <a:extLst>
              <a:ext uri="{FF2B5EF4-FFF2-40B4-BE49-F238E27FC236}">
                <a16:creationId xmlns:a16="http://schemas.microsoft.com/office/drawing/2014/main" id="{C2511FB1-1959-A7D6-0557-562A80AAD367}"/>
              </a:ext>
            </a:extLst>
          </p:cNvPr>
          <p:cNvSpPr>
            <a:spLocks noGrp="1"/>
          </p:cNvSpPr>
          <p:nvPr>
            <p:ph type="body" sz="quarter" idx="10"/>
          </p:nvPr>
        </p:nvSpPr>
        <p:spPr>
          <a:xfrm>
            <a:off x="1022145"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7" name="Text Placeholder 9">
            <a:extLst>
              <a:ext uri="{FF2B5EF4-FFF2-40B4-BE49-F238E27FC236}">
                <a16:creationId xmlns:a16="http://schemas.microsoft.com/office/drawing/2014/main" id="{411B895E-657E-464C-4FBF-4A939576243B}"/>
              </a:ext>
            </a:extLst>
          </p:cNvPr>
          <p:cNvSpPr>
            <a:spLocks noGrp="1"/>
          </p:cNvSpPr>
          <p:nvPr>
            <p:ph type="body" sz="quarter" idx="11"/>
          </p:nvPr>
        </p:nvSpPr>
        <p:spPr>
          <a:xfrm>
            <a:off x="4456641"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3A803601-D97D-4AC7-5D9D-968D18594BA8}"/>
              </a:ext>
            </a:extLst>
          </p:cNvPr>
          <p:cNvSpPr>
            <a:spLocks noGrp="1"/>
          </p:cNvSpPr>
          <p:nvPr>
            <p:ph type="body" sz="quarter" idx="12"/>
          </p:nvPr>
        </p:nvSpPr>
        <p:spPr>
          <a:xfrm>
            <a:off x="7887079" y="1464775"/>
            <a:ext cx="2916000" cy="252000"/>
          </a:xfrm>
        </p:spPr>
        <p:txBody>
          <a:bodyPr l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Tree>
    <p:extLst>
      <p:ext uri="{BB962C8B-B14F-4D97-AF65-F5344CB8AC3E}">
        <p14:creationId xmlns:p14="http://schemas.microsoft.com/office/powerpoint/2010/main" val="26253596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8562350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4785600" y="1912838"/>
            <a:ext cx="640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0" y="1912838"/>
            <a:ext cx="3528000" cy="3973057"/>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51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4785600" y="2223113"/>
            <a:ext cx="3132000" cy="3662782"/>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7" name="Text Placeholder 48">
            <a:extLst>
              <a:ext uri="{FF2B5EF4-FFF2-40B4-BE49-F238E27FC236}">
                <a16:creationId xmlns:a16="http://schemas.microsoft.com/office/drawing/2014/main" id="{9EA99D84-8712-4E1D-BDCF-C7C57BD82EC2}"/>
              </a:ext>
            </a:extLst>
          </p:cNvPr>
          <p:cNvSpPr>
            <a:spLocks noGrp="1"/>
          </p:cNvSpPr>
          <p:nvPr>
            <p:ph type="body" sz="quarter" idx="15" hasCustomPrompt="1"/>
          </p:nvPr>
        </p:nvSpPr>
        <p:spPr>
          <a:xfrm>
            <a:off x="8061600" y="2223113"/>
            <a:ext cx="3132000" cy="3662782"/>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251510438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Key Findings 2 value creation">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2A41AFA-A427-44A7-BC26-3367A3DA09A6}"/>
              </a:ext>
            </a:extLst>
          </p:cNvPr>
          <p:cNvGraphicFramePr>
            <a:graphicFrameLocks noChangeAspect="1"/>
          </p:cNvGraphicFramePr>
          <p:nvPr userDrawn="1">
            <p:custDataLst>
              <p:tags r:id="rId1"/>
            </p:custDataLst>
            <p:extLst>
              <p:ext uri="{D42A27DB-BD31-4B8C-83A1-F6EECF244321}">
                <p14:modId xmlns:p14="http://schemas.microsoft.com/office/powerpoint/2010/main" val="102069179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12A41AFA-A427-44A7-BC26-3367A3DA09A6}"/>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dirty="0"/>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3744000" cy="1495431"/>
          </a:xfrm>
        </p:spPr>
        <p:txBody>
          <a:bodyPr lIns="72000" tIns="0" rIns="72000" bIns="0"/>
          <a:lstStyle>
            <a:lvl1pPr>
              <a:defRPr sz="1000" b="1">
                <a:solidFill>
                  <a:schemeClr val="tx2"/>
                </a:solidFill>
              </a:defRPr>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4867057" y="1657989"/>
            <a:ext cx="3744000" cy="1495431"/>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23" name="Rectangle 22">
            <a:extLst>
              <a:ext uri="{FF2B5EF4-FFF2-40B4-BE49-F238E27FC236}">
                <a16:creationId xmlns:a16="http://schemas.microsoft.com/office/drawing/2014/main" id="{DFE03778-EE8F-437F-93A9-872E23AC7363}"/>
              </a:ext>
            </a:extLst>
          </p:cNvPr>
          <p:cNvSpPr/>
          <p:nvPr userDrawn="1"/>
        </p:nvSpPr>
        <p:spPr>
          <a:xfrm flipH="1">
            <a:off x="8739964" y="1330325"/>
            <a:ext cx="3452037" cy="4546600"/>
          </a:xfrm>
          <a:prstGeom prst="rect">
            <a:avLst/>
          </a:prstGeom>
          <a:gradFill>
            <a:gsLst>
              <a:gs pos="0">
                <a:schemeClr val="accent4"/>
              </a:gs>
              <a:gs pos="100000">
                <a:srgbClr val="ACEA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9" name="Rectangle 28">
            <a:extLst>
              <a:ext uri="{FF2B5EF4-FFF2-40B4-BE49-F238E27FC236}">
                <a16:creationId xmlns:a16="http://schemas.microsoft.com/office/drawing/2014/main" id="{054218D8-88BA-411C-9134-CE6A419C383B}"/>
              </a:ext>
            </a:extLst>
          </p:cNvPr>
          <p:cNvSpPr/>
          <p:nvPr userDrawn="1"/>
        </p:nvSpPr>
        <p:spPr>
          <a:xfrm>
            <a:off x="8944519" y="1431927"/>
            <a:ext cx="2255295" cy="121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72000" tIns="54000" rIns="72000" bIns="36000" rtlCol="0" anchor="t" anchorCtr="1"/>
          <a:lstStyle/>
          <a:p>
            <a:pPr algn="ctr">
              <a:spcAft>
                <a:spcPts val="300"/>
              </a:spcAft>
            </a:pPr>
            <a:endParaRPr lang="en-US" sz="1100" b="1">
              <a:solidFill>
                <a:schemeClr val="accent1"/>
              </a:solidFill>
            </a:endParaRPr>
          </a:p>
        </p:txBody>
      </p:sp>
      <p:sp>
        <p:nvSpPr>
          <p:cNvPr id="44" name="Chart Placeholder 43">
            <a:extLst>
              <a:ext uri="{FF2B5EF4-FFF2-40B4-BE49-F238E27FC236}">
                <a16:creationId xmlns:a16="http://schemas.microsoft.com/office/drawing/2014/main" id="{58C61F45-C268-4F8F-B7A6-EEF1FC83A832}"/>
              </a:ext>
            </a:extLst>
          </p:cNvPr>
          <p:cNvSpPr>
            <a:spLocks noGrp="1"/>
          </p:cNvSpPr>
          <p:nvPr>
            <p:ph type="chart" sz="quarter" idx="20" hasCustomPrompt="1"/>
          </p:nvPr>
        </p:nvSpPr>
        <p:spPr>
          <a:xfrm>
            <a:off x="9027152" y="1748169"/>
            <a:ext cx="2082283" cy="792238"/>
          </a:xfrm>
        </p:spPr>
        <p:txBody>
          <a:bodyPr lIns="72000"/>
          <a:lstStyle>
            <a:lvl1pPr>
              <a:defRPr sz="1000"/>
            </a:lvl1pPr>
          </a:lstStyle>
          <a:p>
            <a:r>
              <a:rPr lang="fi-FI" dirty="0"/>
              <a:t>Add chart with upside potential here</a:t>
            </a:r>
          </a:p>
        </p:txBody>
      </p:sp>
      <p:sp>
        <p:nvSpPr>
          <p:cNvPr id="25" name="TextBox 24">
            <a:extLst>
              <a:ext uri="{FF2B5EF4-FFF2-40B4-BE49-F238E27FC236}">
                <a16:creationId xmlns:a16="http://schemas.microsoft.com/office/drawing/2014/main" id="{3D880B26-620E-4209-A7A9-96108571D60B}"/>
              </a:ext>
            </a:extLst>
          </p:cNvPr>
          <p:cNvSpPr txBox="1">
            <a:spLocks/>
          </p:cNvSpPr>
          <p:nvPr userDrawn="1"/>
        </p:nvSpPr>
        <p:spPr>
          <a:xfrm>
            <a:off x="9558478" y="2851794"/>
            <a:ext cx="1695037" cy="590931"/>
          </a:xfrm>
          <a:prstGeom prst="rect">
            <a:avLst/>
          </a:prstGeom>
          <a:noFill/>
        </p:spPr>
        <p:txBody>
          <a:bodyPr wrap="square" lIns="0" tIns="0" rIns="0" bIns="0">
            <a:spAutoFit/>
          </a:bodyPr>
          <a:lstStyle/>
          <a:p>
            <a:pPr>
              <a:lnSpc>
                <a:spcPct val="80000"/>
              </a:lnSpc>
            </a:pPr>
            <a:r>
              <a:rPr lang="en-US" sz="2400">
                <a:solidFill>
                  <a:schemeClr val="tx2"/>
                </a:solidFill>
                <a:latin typeface="+mj-lt"/>
              </a:rPr>
              <a:t>Recommended next steps</a:t>
            </a:r>
          </a:p>
        </p:txBody>
      </p:sp>
      <p:pic>
        <p:nvPicPr>
          <p:cNvPr id="37" name="Graphic 36" descr="Shoe footprints with solid fill">
            <a:extLst>
              <a:ext uri="{FF2B5EF4-FFF2-40B4-BE49-F238E27FC236}">
                <a16:creationId xmlns:a16="http://schemas.microsoft.com/office/drawing/2014/main" id="{16531211-BC88-49C9-9656-429E1DF4140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872151" y="2851793"/>
            <a:ext cx="559999" cy="559998"/>
          </a:xfrm>
          <a:prstGeom prst="rect">
            <a:avLst/>
          </a:prstGeom>
        </p:spPr>
      </p:pic>
      <p:sp>
        <p:nvSpPr>
          <p:cNvPr id="51" name="Text Placeholder 49">
            <a:extLst>
              <a:ext uri="{FF2B5EF4-FFF2-40B4-BE49-F238E27FC236}">
                <a16:creationId xmlns:a16="http://schemas.microsoft.com/office/drawing/2014/main" id="{F50DF00D-7B89-7760-AF5C-1E79B0A47138}"/>
              </a:ext>
            </a:extLst>
          </p:cNvPr>
          <p:cNvSpPr>
            <a:spLocks noGrp="1"/>
          </p:cNvSpPr>
          <p:nvPr>
            <p:ph type="body" sz="quarter" idx="24" hasCustomPrompt="1"/>
          </p:nvPr>
        </p:nvSpPr>
        <p:spPr>
          <a:xfrm>
            <a:off x="995359" y="3229089"/>
            <a:ext cx="3744000" cy="1908000"/>
          </a:xfrm>
        </p:spPr>
        <p:txBody>
          <a:bodyPr lIns="72000" tIns="0" rIns="72000" bIns="0"/>
          <a:lstStyle>
            <a:lvl1pPr>
              <a:defRPr/>
            </a:lvl1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2" name="Text Placeholder 49">
            <a:extLst>
              <a:ext uri="{FF2B5EF4-FFF2-40B4-BE49-F238E27FC236}">
                <a16:creationId xmlns:a16="http://schemas.microsoft.com/office/drawing/2014/main" id="{4469CFB2-5FE4-9EAB-47AC-25D236292C86}"/>
              </a:ext>
            </a:extLst>
          </p:cNvPr>
          <p:cNvSpPr>
            <a:spLocks noGrp="1"/>
          </p:cNvSpPr>
          <p:nvPr>
            <p:ph type="body" sz="quarter" idx="25" hasCustomPrompt="1"/>
          </p:nvPr>
        </p:nvSpPr>
        <p:spPr>
          <a:xfrm>
            <a:off x="4867057" y="3229089"/>
            <a:ext cx="3744000" cy="1908000"/>
          </a:xfrm>
        </p:spPr>
        <p:txBody>
          <a:bodyPr lIns="72000" tIns="0" rIns="72000" bIns="0"/>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9">
            <a:extLst>
              <a:ext uri="{FF2B5EF4-FFF2-40B4-BE49-F238E27FC236}">
                <a16:creationId xmlns:a16="http://schemas.microsoft.com/office/drawing/2014/main" id="{BFCFA09A-9464-4171-43CE-7F5C2D5C7CEE}"/>
              </a:ext>
            </a:extLst>
          </p:cNvPr>
          <p:cNvSpPr>
            <a:spLocks noGrp="1"/>
          </p:cNvSpPr>
          <p:nvPr>
            <p:ph type="body" sz="quarter" idx="28" hasCustomPrompt="1"/>
          </p:nvPr>
        </p:nvSpPr>
        <p:spPr>
          <a:xfrm>
            <a:off x="9027153" y="3587774"/>
            <a:ext cx="2163361" cy="1527339"/>
          </a:xfrm>
        </p:spPr>
        <p:txBody>
          <a:bodyPr lIns="72000" tIns="0" rIns="72000" bIns="0"/>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a:extLst>
              <a:ext uri="{FF2B5EF4-FFF2-40B4-BE49-F238E27FC236}">
                <a16:creationId xmlns:a16="http://schemas.microsoft.com/office/drawing/2014/main" id="{F5479DFB-AFC3-794E-DB0E-59EC39720CF9}"/>
              </a:ext>
            </a:extLst>
          </p:cNvPr>
          <p:cNvSpPr>
            <a:spLocks noGrp="1"/>
          </p:cNvSpPr>
          <p:nvPr>
            <p:ph sz="quarter" idx="30" hasCustomPrompt="1"/>
          </p:nvPr>
        </p:nvSpPr>
        <p:spPr>
          <a:xfrm>
            <a:off x="9026746" y="1479127"/>
            <a:ext cx="2072020" cy="211198"/>
          </a:xfrm>
        </p:spPr>
        <p:txBody>
          <a:bodyPr lIns="72000"/>
          <a:lstStyle>
            <a:lvl1pPr>
              <a:defRPr sz="1000" b="1">
                <a:solidFill>
                  <a:schemeClr val="tx2"/>
                </a:solidFill>
              </a:defRPr>
            </a:lvl1pPr>
          </a:lstStyle>
          <a:p>
            <a:pPr lvl="0"/>
            <a:r>
              <a:rPr lang="en-US" dirty="0"/>
              <a:t>Click to add text</a:t>
            </a:r>
            <a:endParaRPr lang="en-IN" dirty="0"/>
          </a:p>
        </p:txBody>
      </p:sp>
      <p:sp>
        <p:nvSpPr>
          <p:cNvPr id="15" name="Text Placeholder 8">
            <a:extLst>
              <a:ext uri="{FF2B5EF4-FFF2-40B4-BE49-F238E27FC236}">
                <a16:creationId xmlns:a16="http://schemas.microsoft.com/office/drawing/2014/main" id="{FB8EE706-62B6-F755-0CB0-04E5A30D19E9}"/>
              </a:ext>
            </a:extLst>
          </p:cNvPr>
          <p:cNvSpPr>
            <a:spLocks noGrp="1"/>
          </p:cNvSpPr>
          <p:nvPr>
            <p:ph type="body" sz="quarter" idx="55" hasCustomPrompt="1"/>
          </p:nvPr>
        </p:nvSpPr>
        <p:spPr>
          <a:xfrm>
            <a:off x="995360" y="5199303"/>
            <a:ext cx="33012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8">
            <a:extLst>
              <a:ext uri="{FF2B5EF4-FFF2-40B4-BE49-F238E27FC236}">
                <a16:creationId xmlns:a16="http://schemas.microsoft.com/office/drawing/2014/main" id="{051C3FEB-146A-1599-AC81-8CBA8CDE2537}"/>
              </a:ext>
            </a:extLst>
          </p:cNvPr>
          <p:cNvSpPr>
            <a:spLocks noGrp="1"/>
          </p:cNvSpPr>
          <p:nvPr>
            <p:ph type="body" sz="quarter" idx="57" hasCustomPrompt="1"/>
          </p:nvPr>
        </p:nvSpPr>
        <p:spPr>
          <a:xfrm>
            <a:off x="4867057" y="5199303"/>
            <a:ext cx="33012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8" name="Text Placeholder 25">
            <a:extLst>
              <a:ext uri="{FF2B5EF4-FFF2-40B4-BE49-F238E27FC236}">
                <a16:creationId xmlns:a16="http://schemas.microsoft.com/office/drawing/2014/main" id="{AC0BC2CD-008E-ACF3-EA4C-0B2B363ACAD9}"/>
              </a:ext>
            </a:extLst>
          </p:cNvPr>
          <p:cNvSpPr>
            <a:spLocks noGrp="1"/>
          </p:cNvSpPr>
          <p:nvPr>
            <p:ph type="body" sz="quarter" idx="58" hasCustomPrompt="1"/>
          </p:nvPr>
        </p:nvSpPr>
        <p:spPr>
          <a:xfrm>
            <a:off x="995359" y="1335600"/>
            <a:ext cx="3744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46C11BDE-10BC-A579-C939-88073F5CAD80}"/>
              </a:ext>
            </a:extLst>
          </p:cNvPr>
          <p:cNvSpPr>
            <a:spLocks noGrp="1"/>
          </p:cNvSpPr>
          <p:nvPr>
            <p:ph type="body" sz="quarter" idx="59" hasCustomPrompt="1"/>
          </p:nvPr>
        </p:nvSpPr>
        <p:spPr>
          <a:xfrm>
            <a:off x="4866683" y="1335600"/>
            <a:ext cx="3744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4" name="Text Placeholder 11">
            <a:extLst>
              <a:ext uri="{FF2B5EF4-FFF2-40B4-BE49-F238E27FC236}">
                <a16:creationId xmlns:a16="http://schemas.microsoft.com/office/drawing/2014/main" id="{A0BA213D-160A-9DC7-56CE-B2795901C2AC}"/>
              </a:ext>
            </a:extLst>
          </p:cNvPr>
          <p:cNvSpPr>
            <a:spLocks noGrp="1"/>
          </p:cNvSpPr>
          <p:nvPr>
            <p:ph type="body" sz="quarter" idx="54" hasCustomPrompt="1"/>
          </p:nvPr>
        </p:nvSpPr>
        <p:spPr>
          <a:xfrm>
            <a:off x="42965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6" name="Text Placeholder 11">
            <a:extLst>
              <a:ext uri="{FF2B5EF4-FFF2-40B4-BE49-F238E27FC236}">
                <a16:creationId xmlns:a16="http://schemas.microsoft.com/office/drawing/2014/main" id="{748EAB9A-0A97-50AE-1B4C-59AA6BFB8C0E}"/>
              </a:ext>
            </a:extLst>
          </p:cNvPr>
          <p:cNvSpPr>
            <a:spLocks noGrp="1"/>
          </p:cNvSpPr>
          <p:nvPr>
            <p:ph type="body" sz="quarter" idx="56" hasCustomPrompt="1"/>
          </p:nvPr>
        </p:nvSpPr>
        <p:spPr>
          <a:xfrm>
            <a:off x="8168257"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101120737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 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4785600" y="1912838"/>
            <a:ext cx="640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0" y="1912838"/>
            <a:ext cx="3528000" cy="3964179"/>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4785600" y="2223113"/>
            <a:ext cx="3132000" cy="3653904"/>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7" name="Text Placeholder 48">
            <a:extLst>
              <a:ext uri="{FF2B5EF4-FFF2-40B4-BE49-F238E27FC236}">
                <a16:creationId xmlns:a16="http://schemas.microsoft.com/office/drawing/2014/main" id="{9EA99D84-8712-4E1D-BDCF-C7C57BD82EC2}"/>
              </a:ext>
            </a:extLst>
          </p:cNvPr>
          <p:cNvSpPr>
            <a:spLocks noGrp="1"/>
          </p:cNvSpPr>
          <p:nvPr>
            <p:ph type="body" sz="quarter" idx="15" hasCustomPrompt="1"/>
          </p:nvPr>
        </p:nvSpPr>
        <p:spPr>
          <a:xfrm>
            <a:off x="8061600" y="2223113"/>
            <a:ext cx="3132000" cy="3653904"/>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423304259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 Key findings_1 text only +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59" y="1335600"/>
            <a:ext cx="10204453"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t">
            <a:noAutofit/>
          </a:bodyPr>
          <a:lstStyle/>
          <a:p>
            <a:pPr algn="l"/>
            <a:endParaRPr lang="en-US" sz="1200" b="1" dirty="0">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bwMode="white">
          <a:xfrm>
            <a:off x="995359" y="1335600"/>
            <a:ext cx="10190735" cy="252000"/>
          </a:xfrm>
        </p:spPr>
        <p:txBody>
          <a:bodyPr lIns="72000" tIns="36000" rIns="72000" bIns="36000" anchor="ctr" anchorCtr="0"/>
          <a:lstStyle>
            <a:lvl1pPr>
              <a:defRPr sz="1000" b="1">
                <a:solidFill>
                  <a:schemeClr val="bg1"/>
                </a:solidFill>
              </a:defRPr>
            </a:lvl1pPr>
          </a:lstStyle>
          <a:p>
            <a:pPr lvl="0"/>
            <a:r>
              <a:rPr lang="en-US" dirty="0"/>
              <a:t>Click to add the heading</a:t>
            </a:r>
          </a:p>
        </p:txBody>
      </p:sp>
      <p:sp>
        <p:nvSpPr>
          <p:cNvPr id="6" name="Text Placeholder 11">
            <a:extLst>
              <a:ext uri="{FF2B5EF4-FFF2-40B4-BE49-F238E27FC236}">
                <a16:creationId xmlns:a16="http://schemas.microsoft.com/office/drawing/2014/main" id="{7F43AEEA-3F72-5AB4-98C1-90950442B279}"/>
              </a:ext>
            </a:extLst>
          </p:cNvPr>
          <p:cNvSpPr>
            <a:spLocks noGrp="1"/>
          </p:cNvSpPr>
          <p:nvPr>
            <p:ph type="body" sz="quarter" idx="52" hasCustomPrompt="1"/>
          </p:nvPr>
        </p:nvSpPr>
        <p:spPr>
          <a:xfrm>
            <a:off x="10757012"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9" name="Text Placeholder 8">
            <a:extLst>
              <a:ext uri="{FF2B5EF4-FFF2-40B4-BE49-F238E27FC236}">
                <a16:creationId xmlns:a16="http://schemas.microsoft.com/office/drawing/2014/main" id="{E8ED8361-E94D-B7EA-CBCB-A1B668FA22AA}"/>
              </a:ext>
            </a:extLst>
          </p:cNvPr>
          <p:cNvSpPr>
            <a:spLocks noGrp="1"/>
          </p:cNvSpPr>
          <p:nvPr>
            <p:ph type="body" sz="quarter" idx="53" hasCustomPrompt="1"/>
          </p:nvPr>
        </p:nvSpPr>
        <p:spPr>
          <a:xfrm>
            <a:off x="995359" y="5199303"/>
            <a:ext cx="9761653"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1" name="Text Placeholder 6">
            <a:extLst>
              <a:ext uri="{FF2B5EF4-FFF2-40B4-BE49-F238E27FC236}">
                <a16:creationId xmlns:a16="http://schemas.microsoft.com/office/drawing/2014/main" id="{7EF398C3-DC80-5372-3F76-FD4B56677047}"/>
              </a:ext>
            </a:extLst>
          </p:cNvPr>
          <p:cNvSpPr>
            <a:spLocks noGrp="1"/>
          </p:cNvSpPr>
          <p:nvPr>
            <p:ph type="body" sz="quarter" idx="23" hasCustomPrompt="1"/>
          </p:nvPr>
        </p:nvSpPr>
        <p:spPr>
          <a:xfrm>
            <a:off x="995359" y="1657990"/>
            <a:ext cx="5036400" cy="347142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6">
            <a:extLst>
              <a:ext uri="{FF2B5EF4-FFF2-40B4-BE49-F238E27FC236}">
                <a16:creationId xmlns:a16="http://schemas.microsoft.com/office/drawing/2014/main" id="{2C4F88D1-1CC4-AF86-460C-BB82D868CC07}"/>
              </a:ext>
            </a:extLst>
          </p:cNvPr>
          <p:cNvSpPr>
            <a:spLocks noGrp="1"/>
          </p:cNvSpPr>
          <p:nvPr>
            <p:ph type="body" sz="quarter" idx="24" hasCustomPrompt="1"/>
          </p:nvPr>
        </p:nvSpPr>
        <p:spPr>
          <a:xfrm>
            <a:off x="6149694" y="1657990"/>
            <a:ext cx="5036400" cy="347142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57193989"/>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ANALYSIS 50-50_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068415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6227968"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59" y="1912838"/>
            <a:ext cx="4968000" cy="3962485"/>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51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7968" y="2223113"/>
            <a:ext cx="4968000" cy="3652210"/>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349430756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KEY FINDINGS 1_1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Text Placeholder 25">
            <a:extLst>
              <a:ext uri="{FF2B5EF4-FFF2-40B4-BE49-F238E27FC236}">
                <a16:creationId xmlns:a16="http://schemas.microsoft.com/office/drawing/2014/main" id="{0CAE8600-A3D2-0217-D89F-B57022DDE720}"/>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 name="Text Placeholder 8">
            <a:extLst>
              <a:ext uri="{FF2B5EF4-FFF2-40B4-BE49-F238E27FC236}">
                <a16:creationId xmlns:a16="http://schemas.microsoft.com/office/drawing/2014/main" id="{136511E3-EA15-692F-B8C9-1C78FEC96814}"/>
              </a:ext>
            </a:extLst>
          </p:cNvPr>
          <p:cNvSpPr>
            <a:spLocks noGrp="1"/>
          </p:cNvSpPr>
          <p:nvPr>
            <p:ph type="body" sz="quarter" idx="23"/>
          </p:nvPr>
        </p:nvSpPr>
        <p:spPr>
          <a:xfrm>
            <a:off x="995359" y="1657990"/>
            <a:ext cx="5036400" cy="3471628"/>
          </a:xfrm>
        </p:spPr>
        <p:txBody>
          <a:bodyPr lIns="72000"/>
          <a:lstStyle/>
          <a:p>
            <a:pPr lvl="0"/>
            <a:r>
              <a:rPr lang="en-US"/>
              <a:t>Click to edit Master text styles</a:t>
            </a:r>
          </a:p>
        </p:txBody>
      </p:sp>
      <p:sp>
        <p:nvSpPr>
          <p:cNvPr id="5" name="Text Placeholder 8">
            <a:extLst>
              <a:ext uri="{FF2B5EF4-FFF2-40B4-BE49-F238E27FC236}">
                <a16:creationId xmlns:a16="http://schemas.microsoft.com/office/drawing/2014/main" id="{62BCF9FC-1265-ABB8-9BC3-491771E9EB9A}"/>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6" name="Text Placeholder 11">
            <a:extLst>
              <a:ext uri="{FF2B5EF4-FFF2-40B4-BE49-F238E27FC236}">
                <a16:creationId xmlns:a16="http://schemas.microsoft.com/office/drawing/2014/main" id="{E0383586-43A7-5AE6-3CA8-69A5E7E39050}"/>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398319299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ANALYSIS 50-50_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6227968"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59" y="1912838"/>
            <a:ext cx="4968000" cy="3955302"/>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7968" y="2223113"/>
            <a:ext cx="4968000" cy="3645027"/>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124023668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SUMMARY 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1"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1"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5"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7" name="Rectangle 6">
            <a:extLst>
              <a:ext uri="{FF2B5EF4-FFF2-40B4-BE49-F238E27FC236}">
                <a16:creationId xmlns:a16="http://schemas.microsoft.com/office/drawing/2014/main" id="{B0CD50F2-580F-4CEF-B077-B2CB175648C0}"/>
              </a:ext>
            </a:extLst>
          </p:cNvPr>
          <p:cNvSpPr/>
          <p:nvPr userDrawn="1"/>
        </p:nvSpPr>
        <p:spPr>
          <a:xfrm>
            <a:off x="4427895"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29"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7860429"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10" name="Text Placeholder 9">
            <a:extLst>
              <a:ext uri="{FF2B5EF4-FFF2-40B4-BE49-F238E27FC236}">
                <a16:creationId xmlns:a16="http://schemas.microsoft.com/office/drawing/2014/main" id="{9BD4A4D5-D742-4354-912B-FA7506C97D7D}"/>
              </a:ext>
            </a:extLst>
          </p:cNvPr>
          <p:cNvSpPr>
            <a:spLocks noGrp="1"/>
          </p:cNvSpPr>
          <p:nvPr>
            <p:ph type="body" sz="quarter" idx="10"/>
          </p:nvPr>
        </p:nvSpPr>
        <p:spPr>
          <a:xfrm>
            <a:off x="1130300"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1" name="Text Placeholder 9">
            <a:extLst>
              <a:ext uri="{FF2B5EF4-FFF2-40B4-BE49-F238E27FC236}">
                <a16:creationId xmlns:a16="http://schemas.microsoft.com/office/drawing/2014/main" id="{24ACC3BC-20DE-427C-B9BF-032A57363F7A}"/>
              </a:ext>
            </a:extLst>
          </p:cNvPr>
          <p:cNvSpPr>
            <a:spLocks noGrp="1"/>
          </p:cNvSpPr>
          <p:nvPr>
            <p:ph type="body" sz="quarter" idx="11"/>
          </p:nvPr>
        </p:nvSpPr>
        <p:spPr>
          <a:xfrm>
            <a:off x="4564796"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2" name="Text Placeholder 9">
            <a:extLst>
              <a:ext uri="{FF2B5EF4-FFF2-40B4-BE49-F238E27FC236}">
                <a16:creationId xmlns:a16="http://schemas.microsoft.com/office/drawing/2014/main" id="{EE03C645-2516-4A17-B4AE-E486AB2768F1}"/>
              </a:ext>
            </a:extLst>
          </p:cNvPr>
          <p:cNvSpPr>
            <a:spLocks noGrp="1"/>
          </p:cNvSpPr>
          <p:nvPr>
            <p:ph type="body" sz="quarter" idx="12"/>
          </p:nvPr>
        </p:nvSpPr>
        <p:spPr>
          <a:xfrm>
            <a:off x="7995234"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130300" y="3787341"/>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4" name="Text Placeholder 9">
            <a:extLst>
              <a:ext uri="{FF2B5EF4-FFF2-40B4-BE49-F238E27FC236}">
                <a16:creationId xmlns:a16="http://schemas.microsoft.com/office/drawing/2014/main" id="{4CD4E557-7DAB-44A2-95F3-6B7974AD29BB}"/>
              </a:ext>
            </a:extLst>
          </p:cNvPr>
          <p:cNvSpPr>
            <a:spLocks noGrp="1"/>
          </p:cNvSpPr>
          <p:nvPr>
            <p:ph type="body" sz="quarter" idx="14"/>
          </p:nvPr>
        </p:nvSpPr>
        <p:spPr>
          <a:xfrm>
            <a:off x="4564796" y="3787341"/>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7995234" y="3787341"/>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6" name="Isosceles Triangle 15">
            <a:extLst>
              <a:ext uri="{FF2B5EF4-FFF2-40B4-BE49-F238E27FC236}">
                <a16:creationId xmlns:a16="http://schemas.microsoft.com/office/drawing/2014/main" id="{14F9A958-4F28-4EC5-A2F6-A42C21183362}"/>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7" name="Isosceles Triangle 16">
            <a:extLst>
              <a:ext uri="{FF2B5EF4-FFF2-40B4-BE49-F238E27FC236}">
                <a16:creationId xmlns:a16="http://schemas.microsoft.com/office/drawing/2014/main" id="{DBE7F350-8A42-427F-B150-D231525909C0}"/>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8" name="Oval 17">
            <a:hlinkClick r:id="" action="ppaction://hlinkshowjump?jump=nextslide"/>
            <a:extLst>
              <a:ext uri="{FF2B5EF4-FFF2-40B4-BE49-F238E27FC236}">
                <a16:creationId xmlns:a16="http://schemas.microsoft.com/office/drawing/2014/main" id="{82F458B8-5EF5-4369-87E3-2ECE6CF499E3}"/>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9" name="Oval 18">
            <a:hlinkClick r:id="" action="ppaction://hlinkshowjump?jump=previousslide"/>
            <a:extLst>
              <a:ext uri="{FF2B5EF4-FFF2-40B4-BE49-F238E27FC236}">
                <a16:creationId xmlns:a16="http://schemas.microsoft.com/office/drawing/2014/main" id="{A74718CC-9FDD-4458-B4C3-EC2C8BF55AAC}"/>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20" name="Graphic 19" descr="Home">
            <a:hlinkClick r:id="rId2" action="ppaction://hlinksldjump"/>
            <a:extLst>
              <a:ext uri="{FF2B5EF4-FFF2-40B4-BE49-F238E27FC236}">
                <a16:creationId xmlns:a16="http://schemas.microsoft.com/office/drawing/2014/main" id="{E42C6936-EECB-48FF-8E6E-425B3139D49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267578253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KEY FINDINGS 2_chart+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dirty="0"/>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5036400" cy="1494000"/>
          </a:xfrm>
        </p:spPr>
        <p:txBody>
          <a:bodyPr lIns="72000" tIns="0" rIns="72000" bIns="0"/>
          <a:lstStyle>
            <a:lvl1pPr>
              <a:defRPr sz="1000" b="1">
                <a:solidFill>
                  <a:schemeClr val="tx2"/>
                </a:solidFill>
              </a:defRPr>
            </a:lvl1pPr>
          </a:lstStyle>
          <a:p>
            <a:r>
              <a:rPr lang="fi-FI" dirty="0" err="1"/>
              <a:t>Insert</a:t>
            </a:r>
            <a:r>
              <a:rPr lang="fi-FI" dirty="0"/>
              <a:t> </a:t>
            </a:r>
            <a:r>
              <a:rPr lang="fi-FI" dirty="0" err="1"/>
              <a:t>table</a:t>
            </a:r>
            <a:r>
              <a:rPr lang="fi-FI" dirty="0"/>
              <a:t> </a:t>
            </a:r>
            <a:r>
              <a:rPr lang="fi-FI" dirty="0" err="1"/>
              <a:t>or</a:t>
            </a:r>
            <a:r>
              <a:rPr lang="fi-FI" dirty="0"/>
              <a:t> </a:t>
            </a:r>
            <a:r>
              <a:rPr lang="fi-FI" dirty="0" err="1"/>
              <a:t>chart</a:t>
            </a:r>
            <a:r>
              <a:rPr lang="fi-FI" dirty="0"/>
              <a:t> </a:t>
            </a:r>
            <a:r>
              <a:rPr lang="fi-FI" dirty="0" err="1"/>
              <a:t>here</a:t>
            </a:r>
            <a:endParaRPr lang="fi-FI" dirty="0"/>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157200" y="1657989"/>
            <a:ext cx="5036400" cy="1494000"/>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a:t>Insert table or chart here</a:t>
            </a:r>
          </a:p>
        </p:txBody>
      </p:sp>
      <p:sp>
        <p:nvSpPr>
          <p:cNvPr id="7" name="Text Placeholder 6">
            <a:extLst>
              <a:ext uri="{FF2B5EF4-FFF2-40B4-BE49-F238E27FC236}">
                <a16:creationId xmlns:a16="http://schemas.microsoft.com/office/drawing/2014/main" id="{3A753287-E89B-8500-867B-5B448555E895}"/>
              </a:ext>
            </a:extLst>
          </p:cNvPr>
          <p:cNvSpPr>
            <a:spLocks noGrp="1"/>
          </p:cNvSpPr>
          <p:nvPr>
            <p:ph type="body" sz="quarter" idx="23" hasCustomPrompt="1"/>
          </p:nvPr>
        </p:nvSpPr>
        <p:spPr>
          <a:xfrm>
            <a:off x="995359" y="3229089"/>
            <a:ext cx="50364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B222B5FE-0300-89DA-80FA-10373F456EBE}"/>
              </a:ext>
            </a:extLst>
          </p:cNvPr>
          <p:cNvSpPr>
            <a:spLocks noGrp="1"/>
          </p:cNvSpPr>
          <p:nvPr>
            <p:ph type="body" sz="quarter" idx="24" hasCustomPrompt="1"/>
          </p:nvPr>
        </p:nvSpPr>
        <p:spPr>
          <a:xfrm>
            <a:off x="6157200" y="3229089"/>
            <a:ext cx="50364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25">
            <a:extLst>
              <a:ext uri="{FF2B5EF4-FFF2-40B4-BE49-F238E27FC236}">
                <a16:creationId xmlns:a16="http://schemas.microsoft.com/office/drawing/2014/main" id="{921F3564-406E-3EF5-3740-DBE48C9094BA}"/>
              </a:ext>
            </a:extLst>
          </p:cNvPr>
          <p:cNvSpPr>
            <a:spLocks noGrp="1"/>
          </p:cNvSpPr>
          <p:nvPr>
            <p:ph type="body" sz="quarter" idx="11" hasCustomPrompt="1"/>
          </p:nvPr>
        </p:nvSpPr>
        <p:spPr>
          <a:xfrm>
            <a:off x="6157200"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6" name="Text Placeholder 25">
            <a:extLst>
              <a:ext uri="{FF2B5EF4-FFF2-40B4-BE49-F238E27FC236}">
                <a16:creationId xmlns:a16="http://schemas.microsoft.com/office/drawing/2014/main" id="{8EC32F77-3BB3-65CD-9316-211F3E4016DC}"/>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3" name="Text Placeholder 8">
            <a:extLst>
              <a:ext uri="{FF2B5EF4-FFF2-40B4-BE49-F238E27FC236}">
                <a16:creationId xmlns:a16="http://schemas.microsoft.com/office/drawing/2014/main" id="{2D56E2A5-4876-0C93-89D7-7C6809212D2E}"/>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4" name="Text Placeholder 8">
            <a:extLst>
              <a:ext uri="{FF2B5EF4-FFF2-40B4-BE49-F238E27FC236}">
                <a16:creationId xmlns:a16="http://schemas.microsoft.com/office/drawing/2014/main" id="{1828462E-0366-0E0E-9D4F-6DD2F5BD340D}"/>
              </a:ext>
            </a:extLst>
          </p:cNvPr>
          <p:cNvSpPr>
            <a:spLocks noGrp="1"/>
          </p:cNvSpPr>
          <p:nvPr>
            <p:ph type="body" sz="quarter" idx="56" hasCustomPrompt="1"/>
          </p:nvPr>
        </p:nvSpPr>
        <p:spPr>
          <a:xfrm>
            <a:off x="6157200"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9" name="Text Placeholder 11">
            <a:extLst>
              <a:ext uri="{FF2B5EF4-FFF2-40B4-BE49-F238E27FC236}">
                <a16:creationId xmlns:a16="http://schemas.microsoft.com/office/drawing/2014/main" id="{D84AB1C2-6CA0-3C6D-C22D-D8A4EE34819C}"/>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0" name="Text Placeholder 11">
            <a:extLst>
              <a:ext uri="{FF2B5EF4-FFF2-40B4-BE49-F238E27FC236}">
                <a16:creationId xmlns:a16="http://schemas.microsoft.com/office/drawing/2014/main" id="{D1BE9810-3FEB-8052-539E-CBB1F5703B90}"/>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559320928"/>
      </p:ext>
    </p:extLst>
  </p:cSld>
  <p:clrMapOvr>
    <a:masterClrMapping/>
  </p:clrMapOvr>
  <p:extLst>
    <p:ext uri="{DCECCB84-F9BA-43D5-87BE-67443E8EF086}">
      <p15:sldGuideLst xmlns:p15="http://schemas.microsoft.com/office/powerpoint/2012/main"/>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ANALYSIS wide 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8833448" y="1912838"/>
            <a:ext cx="2362519"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59" y="1912838"/>
            <a:ext cx="7588800" cy="3955302"/>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51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8833448" y="2223113"/>
            <a:ext cx="2362519" cy="3645027"/>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827546422"/>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KEY FINDINGS 2_text only">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C48675D7-6079-FC69-CF9F-EA8E989361A1}"/>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13" name="Text Placeholder 8">
            <a:extLst>
              <a:ext uri="{FF2B5EF4-FFF2-40B4-BE49-F238E27FC236}">
                <a16:creationId xmlns:a16="http://schemas.microsoft.com/office/drawing/2014/main" id="{944F043F-D4C7-2653-D3BF-77B6764CE575}"/>
              </a:ext>
            </a:extLst>
          </p:cNvPr>
          <p:cNvSpPr>
            <a:spLocks noGrp="1"/>
          </p:cNvSpPr>
          <p:nvPr>
            <p:ph type="body" sz="quarter" idx="56" hasCustomPrompt="1"/>
          </p:nvPr>
        </p:nvSpPr>
        <p:spPr>
          <a:xfrm>
            <a:off x="6161606"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5" name="Text Placeholder 6">
            <a:extLst>
              <a:ext uri="{FF2B5EF4-FFF2-40B4-BE49-F238E27FC236}">
                <a16:creationId xmlns:a16="http://schemas.microsoft.com/office/drawing/2014/main" id="{B2EB0A83-0AFB-AFC6-6AE4-69CA3B98BE65}"/>
              </a:ext>
            </a:extLst>
          </p:cNvPr>
          <p:cNvSpPr>
            <a:spLocks noGrp="1"/>
          </p:cNvSpPr>
          <p:nvPr>
            <p:ph type="body" sz="quarter" idx="23" hasCustomPrompt="1"/>
          </p:nvPr>
        </p:nvSpPr>
        <p:spPr>
          <a:xfrm>
            <a:off x="995359" y="1657989"/>
            <a:ext cx="5036400" cy="346848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6">
            <a:extLst>
              <a:ext uri="{FF2B5EF4-FFF2-40B4-BE49-F238E27FC236}">
                <a16:creationId xmlns:a16="http://schemas.microsoft.com/office/drawing/2014/main" id="{47D5E132-AB87-728A-3964-25306B1C7529}"/>
              </a:ext>
            </a:extLst>
          </p:cNvPr>
          <p:cNvSpPr>
            <a:spLocks noGrp="1"/>
          </p:cNvSpPr>
          <p:nvPr>
            <p:ph type="body" sz="quarter" idx="24" hasCustomPrompt="1"/>
          </p:nvPr>
        </p:nvSpPr>
        <p:spPr>
          <a:xfrm>
            <a:off x="6161606" y="1657989"/>
            <a:ext cx="5036400" cy="346848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25">
            <a:extLst>
              <a:ext uri="{FF2B5EF4-FFF2-40B4-BE49-F238E27FC236}">
                <a16:creationId xmlns:a16="http://schemas.microsoft.com/office/drawing/2014/main" id="{85A59295-0494-DBE8-E861-075D3E5B2ADB}"/>
              </a:ext>
            </a:extLst>
          </p:cNvPr>
          <p:cNvSpPr>
            <a:spLocks noGrp="1"/>
          </p:cNvSpPr>
          <p:nvPr>
            <p:ph type="body" sz="quarter" idx="11" hasCustomPrompt="1"/>
          </p:nvPr>
        </p:nvSpPr>
        <p:spPr>
          <a:xfrm>
            <a:off x="6161606"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8" name="Text Placeholder 25">
            <a:extLst>
              <a:ext uri="{FF2B5EF4-FFF2-40B4-BE49-F238E27FC236}">
                <a16:creationId xmlns:a16="http://schemas.microsoft.com/office/drawing/2014/main" id="{1682DD76-2A91-3F5B-9F43-064F1DC69DA6}"/>
              </a:ext>
            </a:extLst>
          </p:cNvPr>
          <p:cNvSpPr>
            <a:spLocks noGrp="1"/>
          </p:cNvSpPr>
          <p:nvPr>
            <p:ph type="body" sz="quarter" idx="25" hasCustomPrompt="1"/>
          </p:nvPr>
        </p:nvSpPr>
        <p:spPr>
          <a:xfrm>
            <a:off x="995359" y="1335600"/>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11">
            <a:extLst>
              <a:ext uri="{FF2B5EF4-FFF2-40B4-BE49-F238E27FC236}">
                <a16:creationId xmlns:a16="http://schemas.microsoft.com/office/drawing/2014/main" id="{DAAF6AF2-62D4-9ADA-2C92-D42EA21FC6FB}"/>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2" name="Text Placeholder 11">
            <a:extLst>
              <a:ext uri="{FF2B5EF4-FFF2-40B4-BE49-F238E27FC236}">
                <a16:creationId xmlns:a16="http://schemas.microsoft.com/office/drawing/2014/main" id="{F1F21460-9B00-FC5B-5453-8ADF1AFD70A2}"/>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138544168"/>
      </p:ext>
    </p:extLst>
  </p:cSld>
  <p:clrMapOvr>
    <a:masterClrMapping/>
  </p:clrMapOvr>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ANALYSIS wide 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8833448" y="1912838"/>
            <a:ext cx="2362519"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59" y="1912838"/>
            <a:ext cx="7588800" cy="3955302"/>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8833448" y="2223113"/>
            <a:ext cx="2362519" cy="3645027"/>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311015088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KEY FINDINGS 3_chart+tex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E65C770-2457-4A1D-87B9-F6DF32654B4F}"/>
              </a:ext>
            </a:extLst>
          </p:cNvPr>
          <p:cNvGraphicFramePr>
            <a:graphicFrameLocks noChangeAspect="1"/>
          </p:cNvGraphicFramePr>
          <p:nvPr userDrawn="1">
            <p:custDataLst>
              <p:tags r:id="rId1"/>
            </p:custDataLst>
            <p:extLst>
              <p:ext uri="{D42A27DB-BD31-4B8C-83A1-F6EECF244321}">
                <p14:modId xmlns:p14="http://schemas.microsoft.com/office/powerpoint/2010/main" val="178126854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E65C770-2457-4A1D-87B9-F6DF32654B4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657989"/>
            <a:ext cx="3312000" cy="1494000"/>
          </a:xfrm>
        </p:spPr>
        <p:txBody>
          <a:bodyPr lIns="72000" tIns="0" rIns="72000" bIns="0"/>
          <a:lstStyle>
            <a:lvl1pPr>
              <a:defRPr sz="1000" b="1">
                <a:solidFill>
                  <a:schemeClr val="tx2"/>
                </a:solidFill>
              </a:defRPr>
            </a:lvl1pPr>
          </a:lstStyle>
          <a:p>
            <a:r>
              <a:rPr lang="fi-FI"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7891413" y="1657989"/>
            <a:ext cx="3312000" cy="1494000"/>
          </a:xfrm>
        </p:spPr>
        <p:txBody>
          <a:bodyPr lIns="72000" tIns="0" rIns="7200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dirty="0"/>
              <a:t>Insert table or chart here</a:t>
            </a:r>
          </a:p>
        </p:txBody>
      </p:sp>
      <p:sp>
        <p:nvSpPr>
          <p:cNvPr id="29" name="Chart Placeholder 16">
            <a:extLst>
              <a:ext uri="{FF2B5EF4-FFF2-40B4-BE49-F238E27FC236}">
                <a16:creationId xmlns:a16="http://schemas.microsoft.com/office/drawing/2014/main" id="{6BB064CA-A0CE-4B7D-B389-29E7029BFE77}"/>
              </a:ext>
            </a:extLst>
          </p:cNvPr>
          <p:cNvSpPr>
            <a:spLocks noGrp="1"/>
          </p:cNvSpPr>
          <p:nvPr>
            <p:ph type="chart" sz="quarter" idx="21" hasCustomPrompt="1"/>
          </p:nvPr>
        </p:nvSpPr>
        <p:spPr>
          <a:xfrm>
            <a:off x="4443386" y="1657989"/>
            <a:ext cx="3312000" cy="1494000"/>
          </a:xfrm>
        </p:spPr>
        <p:txBody>
          <a:bodyPr lIns="72000" tIns="0" rIns="72000" bIns="0"/>
          <a:lstStyle>
            <a:lvl1pPr>
              <a:defRPr sz="1000" b="1">
                <a:solidFill>
                  <a:schemeClr val="tx2"/>
                </a:solidFill>
              </a:defRPr>
            </a:lvl1pPr>
          </a:lstStyle>
          <a:p>
            <a:r>
              <a:rPr lang="fi-FI" dirty="0"/>
              <a:t>Insert table or chart here</a:t>
            </a:r>
          </a:p>
        </p:txBody>
      </p:sp>
      <p:sp>
        <p:nvSpPr>
          <p:cNvPr id="7" name="Text Placeholder 6">
            <a:extLst>
              <a:ext uri="{FF2B5EF4-FFF2-40B4-BE49-F238E27FC236}">
                <a16:creationId xmlns:a16="http://schemas.microsoft.com/office/drawing/2014/main" id="{6C8BC493-EF52-4A41-E9E0-2D1A17A18364}"/>
              </a:ext>
            </a:extLst>
          </p:cNvPr>
          <p:cNvSpPr>
            <a:spLocks noGrp="1"/>
          </p:cNvSpPr>
          <p:nvPr>
            <p:ph type="body" sz="quarter" idx="25" hasCustomPrompt="1"/>
          </p:nvPr>
        </p:nvSpPr>
        <p:spPr>
          <a:xfrm>
            <a:off x="995359"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A1F0E812-4F5D-D6CF-E794-9BF4B7C1F41C}"/>
              </a:ext>
            </a:extLst>
          </p:cNvPr>
          <p:cNvSpPr>
            <a:spLocks noGrp="1"/>
          </p:cNvSpPr>
          <p:nvPr>
            <p:ph type="body" sz="quarter" idx="26" hasCustomPrompt="1"/>
          </p:nvPr>
        </p:nvSpPr>
        <p:spPr>
          <a:xfrm>
            <a:off x="4443386"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A7EC4B40-5E94-E627-7F64-6A50B22B83F2}"/>
              </a:ext>
            </a:extLst>
          </p:cNvPr>
          <p:cNvSpPr>
            <a:spLocks noGrp="1"/>
          </p:cNvSpPr>
          <p:nvPr>
            <p:ph type="body" sz="quarter" idx="27" hasCustomPrompt="1"/>
          </p:nvPr>
        </p:nvSpPr>
        <p:spPr>
          <a:xfrm>
            <a:off x="7891413" y="3229089"/>
            <a:ext cx="3312000" cy="1908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8">
            <a:extLst>
              <a:ext uri="{FF2B5EF4-FFF2-40B4-BE49-F238E27FC236}">
                <a16:creationId xmlns:a16="http://schemas.microsoft.com/office/drawing/2014/main" id="{2CEEFF99-CF8D-1494-F9AA-AC9EB5DB2F71}"/>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4" name="Text Placeholder 11">
            <a:extLst>
              <a:ext uri="{FF2B5EF4-FFF2-40B4-BE49-F238E27FC236}">
                <a16:creationId xmlns:a16="http://schemas.microsoft.com/office/drawing/2014/main" id="{6DBC38AF-F690-4515-3C08-B950F322FEE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5" name="Text Placeholder 8">
            <a:extLst>
              <a:ext uri="{FF2B5EF4-FFF2-40B4-BE49-F238E27FC236}">
                <a16:creationId xmlns:a16="http://schemas.microsoft.com/office/drawing/2014/main" id="{5D8A3BF5-269F-B54B-B331-77B38BC7238F}"/>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11">
            <a:extLst>
              <a:ext uri="{FF2B5EF4-FFF2-40B4-BE49-F238E27FC236}">
                <a16:creationId xmlns:a16="http://schemas.microsoft.com/office/drawing/2014/main" id="{A81E12A1-B92C-C45A-35CD-6EB3402261B8}"/>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5" name="Text Placeholder 8">
            <a:extLst>
              <a:ext uri="{FF2B5EF4-FFF2-40B4-BE49-F238E27FC236}">
                <a16:creationId xmlns:a16="http://schemas.microsoft.com/office/drawing/2014/main" id="{32FD5C31-DBC9-5675-1003-433F2D23A15B}"/>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7" name="Text Placeholder 11">
            <a:extLst>
              <a:ext uri="{FF2B5EF4-FFF2-40B4-BE49-F238E27FC236}">
                <a16:creationId xmlns:a16="http://schemas.microsoft.com/office/drawing/2014/main" id="{3BE5B118-40E6-A6F1-925B-8E52D87D7299}"/>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39" name="Text Placeholder 25">
            <a:extLst>
              <a:ext uri="{FF2B5EF4-FFF2-40B4-BE49-F238E27FC236}">
                <a16:creationId xmlns:a16="http://schemas.microsoft.com/office/drawing/2014/main" id="{223F8258-A126-F540-A91A-93365138513F}"/>
              </a:ext>
            </a:extLst>
          </p:cNvPr>
          <p:cNvSpPr>
            <a:spLocks noGrp="1"/>
          </p:cNvSpPr>
          <p:nvPr>
            <p:ph type="body" sz="quarter" idx="64"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0" name="Text Placeholder 25">
            <a:extLst>
              <a:ext uri="{FF2B5EF4-FFF2-40B4-BE49-F238E27FC236}">
                <a16:creationId xmlns:a16="http://schemas.microsoft.com/office/drawing/2014/main" id="{9727116C-19F1-AAE0-E75C-3E5EF0A31A24}"/>
              </a:ext>
            </a:extLst>
          </p:cNvPr>
          <p:cNvSpPr>
            <a:spLocks noGrp="1"/>
          </p:cNvSpPr>
          <p:nvPr>
            <p:ph type="body" sz="quarter" idx="65" hasCustomPrompt="1"/>
          </p:nvPr>
        </p:nvSpPr>
        <p:spPr>
          <a:xfrm>
            <a:off x="4442400"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41" name="Text Placeholder 25">
            <a:extLst>
              <a:ext uri="{FF2B5EF4-FFF2-40B4-BE49-F238E27FC236}">
                <a16:creationId xmlns:a16="http://schemas.microsoft.com/office/drawing/2014/main" id="{3C801C07-06B0-0F3E-B1C4-AD95E673867D}"/>
              </a:ext>
            </a:extLst>
          </p:cNvPr>
          <p:cNvSpPr>
            <a:spLocks noGrp="1"/>
          </p:cNvSpPr>
          <p:nvPr>
            <p:ph type="body" sz="quarter" idx="66"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Tree>
    <p:extLst>
      <p:ext uri="{BB962C8B-B14F-4D97-AF65-F5344CB8AC3E}">
        <p14:creationId xmlns:p14="http://schemas.microsoft.com/office/powerpoint/2010/main" val="4254562028"/>
      </p:ext>
    </p:extLst>
  </p:cSld>
  <p:clrMapOvr>
    <a:masterClrMapping/>
  </p:clrMapOvr>
  <p:extLst>
    <p:ext uri="{DCECCB84-F9BA-43D5-87BE-67443E8EF086}">
      <p15:sldGuideLst xmlns:p15="http://schemas.microsoft.com/office/powerpoint/2012/main"/>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ANALYSIS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25">
            <a:extLst>
              <a:ext uri="{FF2B5EF4-FFF2-40B4-BE49-F238E27FC236}">
                <a16:creationId xmlns:a16="http://schemas.microsoft.com/office/drawing/2014/main" id="{318005CA-DF40-4B58-9133-FF7937D95E0A}"/>
              </a:ext>
            </a:extLst>
          </p:cNvPr>
          <p:cNvSpPr>
            <a:spLocks noGrp="1"/>
          </p:cNvSpPr>
          <p:nvPr>
            <p:ph type="body" sz="quarter" idx="15" hasCustomPrompt="1"/>
          </p:nvPr>
        </p:nvSpPr>
        <p:spPr>
          <a:xfrm>
            <a:off x="995360"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6" name="Text Placeholder 25">
            <a:extLst>
              <a:ext uri="{FF2B5EF4-FFF2-40B4-BE49-F238E27FC236}">
                <a16:creationId xmlns:a16="http://schemas.microsoft.com/office/drawing/2014/main" id="{E2946CE4-DC8D-4067-9240-3C59F44B17D3}"/>
              </a:ext>
            </a:extLst>
          </p:cNvPr>
          <p:cNvSpPr>
            <a:spLocks noGrp="1"/>
          </p:cNvSpPr>
          <p:nvPr>
            <p:ph type="body" sz="quarter" idx="11" hasCustomPrompt="1"/>
          </p:nvPr>
        </p:nvSpPr>
        <p:spPr>
          <a:xfrm>
            <a:off x="6224644"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52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4644" y="2223113"/>
            <a:ext cx="4968000" cy="3653904"/>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7" name="Text Placeholder 48">
            <a:extLst>
              <a:ext uri="{FF2B5EF4-FFF2-40B4-BE49-F238E27FC236}">
                <a16:creationId xmlns:a16="http://schemas.microsoft.com/office/drawing/2014/main" id="{56F4C635-0889-4DB3-A369-184670105026}"/>
              </a:ext>
            </a:extLst>
          </p:cNvPr>
          <p:cNvSpPr>
            <a:spLocks noGrp="1"/>
          </p:cNvSpPr>
          <p:nvPr>
            <p:ph type="body" sz="quarter" idx="16" hasCustomPrompt="1"/>
          </p:nvPr>
        </p:nvSpPr>
        <p:spPr>
          <a:xfrm>
            <a:off x="995360" y="2223113"/>
            <a:ext cx="4968000" cy="3653904"/>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814430121"/>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KEY FINDINGS 3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13" name="Text Placeholder 6">
            <a:extLst>
              <a:ext uri="{FF2B5EF4-FFF2-40B4-BE49-F238E27FC236}">
                <a16:creationId xmlns:a16="http://schemas.microsoft.com/office/drawing/2014/main" id="{08DBA324-C317-5249-07B6-E16DAD9EF2E7}"/>
              </a:ext>
            </a:extLst>
          </p:cNvPr>
          <p:cNvSpPr>
            <a:spLocks noGrp="1"/>
          </p:cNvSpPr>
          <p:nvPr>
            <p:ph type="body" sz="quarter" idx="25" hasCustomPrompt="1"/>
          </p:nvPr>
        </p:nvSpPr>
        <p:spPr>
          <a:xfrm>
            <a:off x="995359" y="1657990"/>
            <a:ext cx="3312000" cy="3466072"/>
          </a:xfrm>
        </p:spPr>
        <p:txBody>
          <a:bodyPr lIns="72000" tIns="0" rIns="72000" bIns="0"/>
          <a:lstStyle>
            <a:lvl5pPr>
              <a:defRPr/>
            </a:lvl5pPr>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 </a:t>
            </a:r>
            <a:endParaRPr lang="en-IN" dirty="0"/>
          </a:p>
        </p:txBody>
      </p:sp>
      <p:sp>
        <p:nvSpPr>
          <p:cNvPr id="14" name="Text Placeholder 6">
            <a:extLst>
              <a:ext uri="{FF2B5EF4-FFF2-40B4-BE49-F238E27FC236}">
                <a16:creationId xmlns:a16="http://schemas.microsoft.com/office/drawing/2014/main" id="{980D1D3E-9800-C183-99E6-9FDE07F90EB9}"/>
              </a:ext>
            </a:extLst>
          </p:cNvPr>
          <p:cNvSpPr>
            <a:spLocks noGrp="1"/>
          </p:cNvSpPr>
          <p:nvPr>
            <p:ph type="body" sz="quarter" idx="26" hasCustomPrompt="1"/>
          </p:nvPr>
        </p:nvSpPr>
        <p:spPr>
          <a:xfrm>
            <a:off x="4442400" y="1657990"/>
            <a:ext cx="3312000" cy="346607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Text Placeholder 6">
            <a:extLst>
              <a:ext uri="{FF2B5EF4-FFF2-40B4-BE49-F238E27FC236}">
                <a16:creationId xmlns:a16="http://schemas.microsoft.com/office/drawing/2014/main" id="{C9128EB3-1C88-3489-060F-C9D2186EE1D5}"/>
              </a:ext>
            </a:extLst>
          </p:cNvPr>
          <p:cNvSpPr>
            <a:spLocks noGrp="1"/>
          </p:cNvSpPr>
          <p:nvPr>
            <p:ph type="body" sz="quarter" idx="27" hasCustomPrompt="1"/>
          </p:nvPr>
        </p:nvSpPr>
        <p:spPr>
          <a:xfrm>
            <a:off x="7890824" y="1657990"/>
            <a:ext cx="3312589" cy="3466072"/>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25">
            <a:extLst>
              <a:ext uri="{FF2B5EF4-FFF2-40B4-BE49-F238E27FC236}">
                <a16:creationId xmlns:a16="http://schemas.microsoft.com/office/drawing/2014/main" id="{066D155A-171C-D9DD-6CEE-84DBA58CFBF1}"/>
              </a:ext>
            </a:extLst>
          </p:cNvPr>
          <p:cNvSpPr>
            <a:spLocks noGrp="1"/>
          </p:cNvSpPr>
          <p:nvPr>
            <p:ph type="body" sz="quarter" idx="64"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6" name="Text Placeholder 25">
            <a:extLst>
              <a:ext uri="{FF2B5EF4-FFF2-40B4-BE49-F238E27FC236}">
                <a16:creationId xmlns:a16="http://schemas.microsoft.com/office/drawing/2014/main" id="{BABE4A9D-78BD-C5FF-F61D-DE5BB4B75399}"/>
              </a:ext>
            </a:extLst>
          </p:cNvPr>
          <p:cNvSpPr>
            <a:spLocks noGrp="1"/>
          </p:cNvSpPr>
          <p:nvPr>
            <p:ph type="body" sz="quarter" idx="66"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5" name="Text Placeholder 25">
            <a:extLst>
              <a:ext uri="{FF2B5EF4-FFF2-40B4-BE49-F238E27FC236}">
                <a16:creationId xmlns:a16="http://schemas.microsoft.com/office/drawing/2014/main" id="{8A277E93-2999-45E6-684B-C25E1BB8A8DE}"/>
              </a:ext>
            </a:extLst>
          </p:cNvPr>
          <p:cNvSpPr>
            <a:spLocks noGrp="1"/>
          </p:cNvSpPr>
          <p:nvPr>
            <p:ph type="body" sz="quarter" idx="65" hasCustomPrompt="1"/>
          </p:nvPr>
        </p:nvSpPr>
        <p:spPr>
          <a:xfrm>
            <a:off x="4442400"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8">
            <a:extLst>
              <a:ext uri="{FF2B5EF4-FFF2-40B4-BE49-F238E27FC236}">
                <a16:creationId xmlns:a16="http://schemas.microsoft.com/office/drawing/2014/main" id="{77C010D4-1862-D147-690F-A9B8A98FE876}"/>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2" name="Text Placeholder 11">
            <a:extLst>
              <a:ext uri="{FF2B5EF4-FFF2-40B4-BE49-F238E27FC236}">
                <a16:creationId xmlns:a16="http://schemas.microsoft.com/office/drawing/2014/main" id="{3043222A-4566-478B-EE7C-854BF6D303C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6" name="Text Placeholder 8">
            <a:extLst>
              <a:ext uri="{FF2B5EF4-FFF2-40B4-BE49-F238E27FC236}">
                <a16:creationId xmlns:a16="http://schemas.microsoft.com/office/drawing/2014/main" id="{D5E9EFD4-163C-3CF3-B5DE-ADEF0C8EB03C}"/>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7" name="Text Placeholder 11">
            <a:extLst>
              <a:ext uri="{FF2B5EF4-FFF2-40B4-BE49-F238E27FC236}">
                <a16:creationId xmlns:a16="http://schemas.microsoft.com/office/drawing/2014/main" id="{9F202F67-7B71-81A8-1665-6A930E3955C1}"/>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8" name="Text Placeholder 8">
            <a:extLst>
              <a:ext uri="{FF2B5EF4-FFF2-40B4-BE49-F238E27FC236}">
                <a16:creationId xmlns:a16="http://schemas.microsoft.com/office/drawing/2014/main" id="{0033DB1B-6496-F3E2-7B44-B642B67979D7}"/>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9" name="Text Placeholder 11">
            <a:extLst>
              <a:ext uri="{FF2B5EF4-FFF2-40B4-BE49-F238E27FC236}">
                <a16:creationId xmlns:a16="http://schemas.microsoft.com/office/drawing/2014/main" id="{92605E5B-73F3-E01C-5599-AA948C5330E0}"/>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652811986"/>
      </p:ext>
    </p:extLst>
  </p:cSld>
  <p:clrMapOvr>
    <a:masterClrMapping/>
  </p:clrMapOvr>
  <p:extLst>
    <p:ext uri="{DCECCB84-F9BA-43D5-87BE-67443E8EF086}">
      <p15:sldGuideLst xmlns:p15="http://schemas.microsoft.com/office/powerpoint/2012/main"/>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NALYSIS chart on top">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0073734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0" y="3896879"/>
            <a:ext cx="4968000" cy="1989016"/>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22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4644" y="3896878"/>
            <a:ext cx="4968000" cy="1989016"/>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5" name="Text Placeholder 25">
            <a:extLst>
              <a:ext uri="{FF2B5EF4-FFF2-40B4-BE49-F238E27FC236}">
                <a16:creationId xmlns:a16="http://schemas.microsoft.com/office/drawing/2014/main" id="{DBAA28D6-D67D-479A-957B-6F545DD1BB07}"/>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6" name="Chart Placeholder 43">
            <a:extLst>
              <a:ext uri="{FF2B5EF4-FFF2-40B4-BE49-F238E27FC236}">
                <a16:creationId xmlns:a16="http://schemas.microsoft.com/office/drawing/2014/main" id="{5F51D10E-DA31-424E-9891-410C288BF9BA}"/>
              </a:ext>
            </a:extLst>
          </p:cNvPr>
          <p:cNvSpPr>
            <a:spLocks noGrp="1"/>
          </p:cNvSpPr>
          <p:nvPr>
            <p:ph type="chart" sz="quarter" idx="15" hasCustomPrompt="1"/>
          </p:nvPr>
        </p:nvSpPr>
        <p:spPr>
          <a:xfrm>
            <a:off x="998262" y="2219827"/>
            <a:ext cx="10192299" cy="1508794"/>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24380155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KEY FINDINGS 6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110" name="Text Placeholder 6">
            <a:extLst>
              <a:ext uri="{FF2B5EF4-FFF2-40B4-BE49-F238E27FC236}">
                <a16:creationId xmlns:a16="http://schemas.microsoft.com/office/drawing/2014/main" id="{15C464CC-6A33-CEAE-2AE6-B78E4B028835}"/>
              </a:ext>
            </a:extLst>
          </p:cNvPr>
          <p:cNvSpPr>
            <a:spLocks noGrp="1"/>
          </p:cNvSpPr>
          <p:nvPr>
            <p:ph type="body" sz="quarter" idx="25" hasCustomPrompt="1"/>
          </p:nvPr>
        </p:nvSpPr>
        <p:spPr>
          <a:xfrm>
            <a:off x="995359"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1" name="Text Placeholder 6">
            <a:extLst>
              <a:ext uri="{FF2B5EF4-FFF2-40B4-BE49-F238E27FC236}">
                <a16:creationId xmlns:a16="http://schemas.microsoft.com/office/drawing/2014/main" id="{13FAAF33-2726-F94B-086D-720ED8A1C9E5}"/>
              </a:ext>
            </a:extLst>
          </p:cNvPr>
          <p:cNvSpPr>
            <a:spLocks noGrp="1"/>
          </p:cNvSpPr>
          <p:nvPr>
            <p:ph type="body" sz="quarter" idx="26" hasCustomPrompt="1"/>
          </p:nvPr>
        </p:nvSpPr>
        <p:spPr>
          <a:xfrm>
            <a:off x="4443386"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2" name="Text Placeholder 6">
            <a:extLst>
              <a:ext uri="{FF2B5EF4-FFF2-40B4-BE49-F238E27FC236}">
                <a16:creationId xmlns:a16="http://schemas.microsoft.com/office/drawing/2014/main" id="{D911B967-EB03-B200-2872-DB8F92D80EBB}"/>
              </a:ext>
            </a:extLst>
          </p:cNvPr>
          <p:cNvSpPr>
            <a:spLocks noGrp="1"/>
          </p:cNvSpPr>
          <p:nvPr>
            <p:ph type="body" sz="quarter" idx="27" hasCustomPrompt="1"/>
          </p:nvPr>
        </p:nvSpPr>
        <p:spPr>
          <a:xfrm>
            <a:off x="7891413" y="1657990"/>
            <a:ext cx="3312000" cy="1162393"/>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3" name="Text Placeholder 6">
            <a:extLst>
              <a:ext uri="{FF2B5EF4-FFF2-40B4-BE49-F238E27FC236}">
                <a16:creationId xmlns:a16="http://schemas.microsoft.com/office/drawing/2014/main" id="{2F9F379B-EA73-56D4-7BEF-A86EA7A0F5DA}"/>
              </a:ext>
            </a:extLst>
          </p:cNvPr>
          <p:cNvSpPr>
            <a:spLocks noGrp="1"/>
          </p:cNvSpPr>
          <p:nvPr>
            <p:ph type="body" sz="quarter" idx="79" hasCustomPrompt="1"/>
          </p:nvPr>
        </p:nvSpPr>
        <p:spPr>
          <a:xfrm>
            <a:off x="995359"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4" name="Text Placeholder 6">
            <a:extLst>
              <a:ext uri="{FF2B5EF4-FFF2-40B4-BE49-F238E27FC236}">
                <a16:creationId xmlns:a16="http://schemas.microsoft.com/office/drawing/2014/main" id="{6E71EA3F-FFAA-5B10-27C5-0749B6B72F45}"/>
              </a:ext>
            </a:extLst>
          </p:cNvPr>
          <p:cNvSpPr>
            <a:spLocks noGrp="1"/>
          </p:cNvSpPr>
          <p:nvPr>
            <p:ph type="body" sz="quarter" idx="80" hasCustomPrompt="1"/>
          </p:nvPr>
        </p:nvSpPr>
        <p:spPr>
          <a:xfrm>
            <a:off x="4443386"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5" name="Text Placeholder 6">
            <a:extLst>
              <a:ext uri="{FF2B5EF4-FFF2-40B4-BE49-F238E27FC236}">
                <a16:creationId xmlns:a16="http://schemas.microsoft.com/office/drawing/2014/main" id="{C2334E16-6735-FAE0-4EE4-2A84AF3A465D}"/>
              </a:ext>
            </a:extLst>
          </p:cNvPr>
          <p:cNvSpPr>
            <a:spLocks noGrp="1"/>
          </p:cNvSpPr>
          <p:nvPr>
            <p:ph type="body" sz="quarter" idx="81" hasCustomPrompt="1"/>
          </p:nvPr>
        </p:nvSpPr>
        <p:spPr>
          <a:xfrm>
            <a:off x="7891413" y="3966895"/>
            <a:ext cx="3312000" cy="11628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25">
            <a:extLst>
              <a:ext uri="{FF2B5EF4-FFF2-40B4-BE49-F238E27FC236}">
                <a16:creationId xmlns:a16="http://schemas.microsoft.com/office/drawing/2014/main" id="{BD40C928-99C3-C9F7-E205-10580368C3F9}"/>
              </a:ext>
            </a:extLst>
          </p:cNvPr>
          <p:cNvSpPr>
            <a:spLocks noGrp="1"/>
          </p:cNvSpPr>
          <p:nvPr>
            <p:ph type="body" sz="quarter" idx="61" hasCustomPrompt="1"/>
          </p:nvPr>
        </p:nvSpPr>
        <p:spPr>
          <a:xfrm>
            <a:off x="995359"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25">
            <a:extLst>
              <a:ext uri="{FF2B5EF4-FFF2-40B4-BE49-F238E27FC236}">
                <a16:creationId xmlns:a16="http://schemas.microsoft.com/office/drawing/2014/main" id="{0BE70373-6A63-4D4B-DACA-7330B9607764}"/>
              </a:ext>
            </a:extLst>
          </p:cNvPr>
          <p:cNvSpPr>
            <a:spLocks noGrp="1"/>
          </p:cNvSpPr>
          <p:nvPr>
            <p:ph type="body" sz="quarter" idx="62" hasCustomPrompt="1"/>
          </p:nvPr>
        </p:nvSpPr>
        <p:spPr>
          <a:xfrm>
            <a:off x="4442507"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25">
            <a:extLst>
              <a:ext uri="{FF2B5EF4-FFF2-40B4-BE49-F238E27FC236}">
                <a16:creationId xmlns:a16="http://schemas.microsoft.com/office/drawing/2014/main" id="{68375775-4DA2-C098-9E03-F3AFAA905864}"/>
              </a:ext>
            </a:extLst>
          </p:cNvPr>
          <p:cNvSpPr>
            <a:spLocks noGrp="1"/>
          </p:cNvSpPr>
          <p:nvPr>
            <p:ph type="body" sz="quarter" idx="63" hasCustomPrompt="1"/>
          </p:nvPr>
        </p:nvSpPr>
        <p:spPr>
          <a:xfrm>
            <a:off x="7891413" y="1335600"/>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7F7A80F4-125B-342B-DA05-7B3ACBA903E9}"/>
              </a:ext>
            </a:extLst>
          </p:cNvPr>
          <p:cNvSpPr>
            <a:spLocks noGrp="1"/>
          </p:cNvSpPr>
          <p:nvPr>
            <p:ph type="body" sz="quarter" idx="88" hasCustomPrompt="1"/>
          </p:nvPr>
        </p:nvSpPr>
        <p:spPr>
          <a:xfrm>
            <a:off x="995359"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3" name="Text Placeholder 25">
            <a:extLst>
              <a:ext uri="{FF2B5EF4-FFF2-40B4-BE49-F238E27FC236}">
                <a16:creationId xmlns:a16="http://schemas.microsoft.com/office/drawing/2014/main" id="{2C2CE60B-A0A5-B26F-E0EA-621916A2485F}"/>
              </a:ext>
            </a:extLst>
          </p:cNvPr>
          <p:cNvSpPr>
            <a:spLocks noGrp="1"/>
          </p:cNvSpPr>
          <p:nvPr>
            <p:ph type="body" sz="quarter" idx="89" hasCustomPrompt="1"/>
          </p:nvPr>
        </p:nvSpPr>
        <p:spPr>
          <a:xfrm>
            <a:off x="4442507"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4" name="Text Placeholder 25">
            <a:extLst>
              <a:ext uri="{FF2B5EF4-FFF2-40B4-BE49-F238E27FC236}">
                <a16:creationId xmlns:a16="http://schemas.microsoft.com/office/drawing/2014/main" id="{C574A8F0-79A8-C3F1-4B33-632F78BDC1DB}"/>
              </a:ext>
            </a:extLst>
          </p:cNvPr>
          <p:cNvSpPr>
            <a:spLocks noGrp="1"/>
          </p:cNvSpPr>
          <p:nvPr>
            <p:ph type="body" sz="quarter" idx="90" hasCustomPrompt="1"/>
          </p:nvPr>
        </p:nvSpPr>
        <p:spPr>
          <a:xfrm>
            <a:off x="7891413" y="364298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5" name="Text Placeholder 8">
            <a:extLst>
              <a:ext uri="{FF2B5EF4-FFF2-40B4-BE49-F238E27FC236}">
                <a16:creationId xmlns:a16="http://schemas.microsoft.com/office/drawing/2014/main" id="{8E6B05F6-768B-3E4F-F110-3E24C0562AF7}"/>
              </a:ext>
            </a:extLst>
          </p:cNvPr>
          <p:cNvSpPr>
            <a:spLocks noGrp="1"/>
          </p:cNvSpPr>
          <p:nvPr>
            <p:ph type="body" sz="quarter" idx="91" hasCustomPrompt="1"/>
          </p:nvPr>
        </p:nvSpPr>
        <p:spPr>
          <a:xfrm>
            <a:off x="995359"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6" name="Text Placeholder 11">
            <a:extLst>
              <a:ext uri="{FF2B5EF4-FFF2-40B4-BE49-F238E27FC236}">
                <a16:creationId xmlns:a16="http://schemas.microsoft.com/office/drawing/2014/main" id="{A8436711-CA4B-A095-80A3-0720ACEA9FE5}"/>
              </a:ext>
            </a:extLst>
          </p:cNvPr>
          <p:cNvSpPr>
            <a:spLocks noGrp="1"/>
          </p:cNvSpPr>
          <p:nvPr>
            <p:ph type="body" sz="quarter" idx="92" hasCustomPrompt="1"/>
          </p:nvPr>
        </p:nvSpPr>
        <p:spPr>
          <a:xfrm>
            <a:off x="3860959"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7" name="Text Placeholder 8">
            <a:extLst>
              <a:ext uri="{FF2B5EF4-FFF2-40B4-BE49-F238E27FC236}">
                <a16:creationId xmlns:a16="http://schemas.microsoft.com/office/drawing/2014/main" id="{F1197BAE-480B-B16E-693D-DFBA683D23BD}"/>
              </a:ext>
            </a:extLst>
          </p:cNvPr>
          <p:cNvSpPr>
            <a:spLocks noGrp="1"/>
          </p:cNvSpPr>
          <p:nvPr>
            <p:ph type="body" sz="quarter" idx="93" hasCustomPrompt="1"/>
          </p:nvPr>
        </p:nvSpPr>
        <p:spPr>
          <a:xfrm>
            <a:off x="4443575"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8" name="Text Placeholder 11">
            <a:extLst>
              <a:ext uri="{FF2B5EF4-FFF2-40B4-BE49-F238E27FC236}">
                <a16:creationId xmlns:a16="http://schemas.microsoft.com/office/drawing/2014/main" id="{87F2F450-DF40-B67C-740F-C21878BCF3CA}"/>
              </a:ext>
            </a:extLst>
          </p:cNvPr>
          <p:cNvSpPr>
            <a:spLocks noGrp="1"/>
          </p:cNvSpPr>
          <p:nvPr>
            <p:ph type="body" sz="quarter" idx="94" hasCustomPrompt="1"/>
          </p:nvPr>
        </p:nvSpPr>
        <p:spPr>
          <a:xfrm>
            <a:off x="7312604"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9" name="Text Placeholder 8">
            <a:extLst>
              <a:ext uri="{FF2B5EF4-FFF2-40B4-BE49-F238E27FC236}">
                <a16:creationId xmlns:a16="http://schemas.microsoft.com/office/drawing/2014/main" id="{23D1977B-6AD1-B850-FA69-E1C7BD9B5C70}"/>
              </a:ext>
            </a:extLst>
          </p:cNvPr>
          <p:cNvSpPr>
            <a:spLocks noGrp="1"/>
          </p:cNvSpPr>
          <p:nvPr>
            <p:ph type="body" sz="quarter" idx="95" hasCustomPrompt="1"/>
          </p:nvPr>
        </p:nvSpPr>
        <p:spPr>
          <a:xfrm>
            <a:off x="7880400" y="2874338"/>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0" name="Text Placeholder 11">
            <a:extLst>
              <a:ext uri="{FF2B5EF4-FFF2-40B4-BE49-F238E27FC236}">
                <a16:creationId xmlns:a16="http://schemas.microsoft.com/office/drawing/2014/main" id="{54823048-11CE-7055-02DF-0DDD0D1E8AEB}"/>
              </a:ext>
            </a:extLst>
          </p:cNvPr>
          <p:cNvSpPr>
            <a:spLocks noGrp="1"/>
          </p:cNvSpPr>
          <p:nvPr>
            <p:ph type="body" sz="quarter" idx="96" hasCustomPrompt="1"/>
          </p:nvPr>
        </p:nvSpPr>
        <p:spPr>
          <a:xfrm>
            <a:off x="10757013" y="2874338"/>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1" name="Text Placeholder 8">
            <a:extLst>
              <a:ext uri="{FF2B5EF4-FFF2-40B4-BE49-F238E27FC236}">
                <a16:creationId xmlns:a16="http://schemas.microsoft.com/office/drawing/2014/main" id="{2EBDDEB7-F717-60C2-C610-7A6B84725712}"/>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2" name="Text Placeholder 11">
            <a:extLst>
              <a:ext uri="{FF2B5EF4-FFF2-40B4-BE49-F238E27FC236}">
                <a16:creationId xmlns:a16="http://schemas.microsoft.com/office/drawing/2014/main" id="{5BA193B5-C40F-667A-375F-A76EABC02D9E}"/>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3" name="Text Placeholder 8">
            <a:extLst>
              <a:ext uri="{FF2B5EF4-FFF2-40B4-BE49-F238E27FC236}">
                <a16:creationId xmlns:a16="http://schemas.microsoft.com/office/drawing/2014/main" id="{7148894B-87B0-4D81-F3C5-98DC327CE327}"/>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4" name="Text Placeholder 11">
            <a:extLst>
              <a:ext uri="{FF2B5EF4-FFF2-40B4-BE49-F238E27FC236}">
                <a16:creationId xmlns:a16="http://schemas.microsoft.com/office/drawing/2014/main" id="{47070368-32F6-6F02-EB5F-548B13FE8C53}"/>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5" name="Text Placeholder 8">
            <a:extLst>
              <a:ext uri="{FF2B5EF4-FFF2-40B4-BE49-F238E27FC236}">
                <a16:creationId xmlns:a16="http://schemas.microsoft.com/office/drawing/2014/main" id="{A0F5751C-1AA3-22AB-C30C-5C5B15B81DE5}"/>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6" name="Text Placeholder 11">
            <a:extLst>
              <a:ext uri="{FF2B5EF4-FFF2-40B4-BE49-F238E27FC236}">
                <a16:creationId xmlns:a16="http://schemas.microsoft.com/office/drawing/2014/main" id="{92187354-A4A3-EE1D-D11B-9FE6654AFF88}"/>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4038627649"/>
      </p:ext>
    </p:extLst>
  </p:cSld>
  <p:clrMapOvr>
    <a:masterClrMapping/>
  </p:clrMapOvr>
  <p:extLst>
    <p:ext uri="{DCECCB84-F9BA-43D5-87BE-67443E8EF086}">
      <p15:sldGuideLst xmlns:p15="http://schemas.microsoft.com/office/powerpoint/2012/main"/>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ANALYSIS chart on top+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0073734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hasCustomPrompt="1"/>
          </p:nvPr>
        </p:nvSpPr>
        <p:spPr>
          <a:xfrm>
            <a:off x="995360" y="3896878"/>
            <a:ext cx="4968000" cy="1971261"/>
          </a:xfrm>
        </p:spPr>
        <p:txBody>
          <a:bodyPr/>
          <a:lstStyle>
            <a:lvl1pPr>
              <a:defRPr sz="900"/>
            </a:lvl1pPr>
          </a:lstStyle>
          <a:p>
            <a:r>
              <a:rPr lang="fi-FI" dirty="0" err="1"/>
              <a:t>Add</a:t>
            </a:r>
            <a:r>
              <a:rPr lang="fi-FI" dirty="0"/>
              <a:t> </a:t>
            </a:r>
            <a:r>
              <a:rPr lang="fi-FI" dirty="0" err="1"/>
              <a:t>table</a:t>
            </a:r>
            <a:r>
              <a:rPr lang="fi-FI" dirty="0"/>
              <a:t> </a:t>
            </a:r>
            <a:r>
              <a:rPr lang="fi-FI" dirty="0" err="1"/>
              <a:t>here</a:t>
            </a:r>
            <a:endParaRPr lang="fi-FI" dirty="0"/>
          </a:p>
        </p:txBody>
      </p:sp>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7" name="Text Placeholder 48">
            <a:extLst>
              <a:ext uri="{FF2B5EF4-FFF2-40B4-BE49-F238E27FC236}">
                <a16:creationId xmlns:a16="http://schemas.microsoft.com/office/drawing/2014/main" id="{0F9161D7-6519-497E-991F-1D66B3372B1C}"/>
              </a:ext>
            </a:extLst>
          </p:cNvPr>
          <p:cNvSpPr>
            <a:spLocks noGrp="1"/>
          </p:cNvSpPr>
          <p:nvPr>
            <p:ph type="body" sz="quarter" idx="14" hasCustomPrompt="1"/>
          </p:nvPr>
        </p:nvSpPr>
        <p:spPr>
          <a:xfrm>
            <a:off x="6224644" y="3896877"/>
            <a:ext cx="4968000" cy="1971261"/>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5" name="Text Placeholder 25">
            <a:extLst>
              <a:ext uri="{FF2B5EF4-FFF2-40B4-BE49-F238E27FC236}">
                <a16:creationId xmlns:a16="http://schemas.microsoft.com/office/drawing/2014/main" id="{EE6B76F7-2D7B-43BF-85CC-6E804A967871}"/>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6" name="Chart Placeholder 43">
            <a:extLst>
              <a:ext uri="{FF2B5EF4-FFF2-40B4-BE49-F238E27FC236}">
                <a16:creationId xmlns:a16="http://schemas.microsoft.com/office/drawing/2014/main" id="{1F161E02-4D9D-4D16-B910-B478AC73FE71}"/>
              </a:ext>
            </a:extLst>
          </p:cNvPr>
          <p:cNvSpPr>
            <a:spLocks noGrp="1"/>
          </p:cNvSpPr>
          <p:nvPr>
            <p:ph type="chart" sz="quarter" idx="15" hasCustomPrompt="1"/>
          </p:nvPr>
        </p:nvSpPr>
        <p:spPr>
          <a:xfrm>
            <a:off x="998262" y="2219827"/>
            <a:ext cx="10192299" cy="1508794"/>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42727792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ANALYSIS narrow table">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2367287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200"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8" name="Text Placeholder 6">
            <a:extLst>
              <a:ext uri="{FF2B5EF4-FFF2-40B4-BE49-F238E27FC236}">
                <a16:creationId xmlns:a16="http://schemas.microsoft.com/office/drawing/2014/main" id="{AA8B8A28-94E3-9BCB-D0FE-DFA7BB06EFDE}"/>
              </a:ext>
            </a:extLst>
          </p:cNvPr>
          <p:cNvSpPr>
            <a:spLocks noGrp="1"/>
          </p:cNvSpPr>
          <p:nvPr>
            <p:ph type="body" sz="quarter" idx="26" hasCustomPrompt="1"/>
          </p:nvPr>
        </p:nvSpPr>
        <p:spPr>
          <a:xfrm>
            <a:off x="4815357" y="2235228"/>
            <a:ext cx="6378244" cy="3632172"/>
          </a:xfrm>
        </p:spPr>
        <p:txBody>
          <a:bodyPr lIns="72000" tIns="0" rIns="72000" bIns="0"/>
          <a:lstStyle>
            <a:lvl1pPr>
              <a:defRPr/>
            </a:lvl1pPr>
          </a:lstStyle>
          <a:p>
            <a:r>
              <a:rPr lang="en-US" sz="1000" dirty="0"/>
              <a:t>Add text here</a:t>
            </a:r>
          </a:p>
          <a:p>
            <a:pPr lvl="1"/>
            <a:endParaRPr lang="en-IN" dirty="0"/>
          </a:p>
        </p:txBody>
      </p:sp>
      <p:sp>
        <p:nvSpPr>
          <p:cNvPr id="11" name="Text Placeholder 25">
            <a:extLst>
              <a:ext uri="{FF2B5EF4-FFF2-40B4-BE49-F238E27FC236}">
                <a16:creationId xmlns:a16="http://schemas.microsoft.com/office/drawing/2014/main" id="{D8B94DEE-E368-6880-910B-BC918E65C5C0}"/>
              </a:ext>
            </a:extLst>
          </p:cNvPr>
          <p:cNvSpPr>
            <a:spLocks noGrp="1"/>
          </p:cNvSpPr>
          <p:nvPr>
            <p:ph type="body" sz="quarter" idx="11" hasCustomPrompt="1"/>
          </p:nvPr>
        </p:nvSpPr>
        <p:spPr>
          <a:xfrm>
            <a:off x="4815357" y="1912838"/>
            <a:ext cx="6386044"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3" name="Table Placeholder 45">
            <a:extLst>
              <a:ext uri="{FF2B5EF4-FFF2-40B4-BE49-F238E27FC236}">
                <a16:creationId xmlns:a16="http://schemas.microsoft.com/office/drawing/2014/main" id="{ECC8E682-3A29-B532-ED4A-C10346A9BD49}"/>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3775235620"/>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ANALYSIS chart on top_2">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0" y="1340768"/>
            <a:ext cx="101922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4644" y="3896878"/>
            <a:ext cx="4968000" cy="1971260"/>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5" name="Text Placeholder 48">
            <a:extLst>
              <a:ext uri="{FF2B5EF4-FFF2-40B4-BE49-F238E27FC236}">
                <a16:creationId xmlns:a16="http://schemas.microsoft.com/office/drawing/2014/main" id="{9A39D05D-443D-4F19-A91D-72F4C43A1244}"/>
              </a:ext>
            </a:extLst>
          </p:cNvPr>
          <p:cNvSpPr>
            <a:spLocks noGrp="1"/>
          </p:cNvSpPr>
          <p:nvPr>
            <p:ph type="body" sz="quarter" idx="17" hasCustomPrompt="1"/>
          </p:nvPr>
        </p:nvSpPr>
        <p:spPr>
          <a:xfrm>
            <a:off x="995360" y="3896878"/>
            <a:ext cx="4968000" cy="1971261"/>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6" name="Text Placeholder 25">
            <a:extLst>
              <a:ext uri="{FF2B5EF4-FFF2-40B4-BE49-F238E27FC236}">
                <a16:creationId xmlns:a16="http://schemas.microsoft.com/office/drawing/2014/main" id="{36762700-B678-4ED3-8AC8-CF07235AF06C}"/>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7" name="Chart Placeholder 43">
            <a:extLst>
              <a:ext uri="{FF2B5EF4-FFF2-40B4-BE49-F238E27FC236}">
                <a16:creationId xmlns:a16="http://schemas.microsoft.com/office/drawing/2014/main" id="{41F25F87-3B73-4D22-8B35-8D95C015D4AD}"/>
              </a:ext>
            </a:extLst>
          </p:cNvPr>
          <p:cNvSpPr>
            <a:spLocks noGrp="1"/>
          </p:cNvSpPr>
          <p:nvPr>
            <p:ph type="chart" sz="quarter" idx="15" hasCustomPrompt="1"/>
          </p:nvPr>
        </p:nvSpPr>
        <p:spPr>
          <a:xfrm>
            <a:off x="998262" y="2219827"/>
            <a:ext cx="10192299" cy="1508794"/>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1693257877"/>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ANALYSIS 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5357" y="2235228"/>
            <a:ext cx="6378244" cy="3633288"/>
          </a:xfrm>
        </p:spPr>
        <p:txBody>
          <a:bodyPr lIns="72000" tIns="0" rIns="72000" bIns="0"/>
          <a:lstStyle>
            <a:lvl1pPr>
              <a:defRPr/>
            </a:lvl1pPr>
          </a:lstStyle>
          <a:p>
            <a:r>
              <a:rPr lang="en-US" sz="1000" dirty="0"/>
              <a:t>Add text here</a:t>
            </a:r>
          </a:p>
          <a:p>
            <a:pPr lvl="1"/>
            <a:endParaRPr lang="en-IN" dirty="0"/>
          </a:p>
        </p:txBody>
      </p:sp>
    </p:spTree>
    <p:extLst>
      <p:ext uri="{BB962C8B-B14F-4D97-AF65-F5344CB8AC3E}">
        <p14:creationId xmlns:p14="http://schemas.microsoft.com/office/powerpoint/2010/main" val="133723680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ANALYSIS chart on top_2+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49" name="Text Placeholder 48">
            <a:extLst>
              <a:ext uri="{FF2B5EF4-FFF2-40B4-BE49-F238E27FC236}">
                <a16:creationId xmlns:a16="http://schemas.microsoft.com/office/drawing/2014/main" id="{31BDF62B-FECF-4CF9-9800-28355664E13C}"/>
              </a:ext>
            </a:extLst>
          </p:cNvPr>
          <p:cNvSpPr>
            <a:spLocks noGrp="1"/>
          </p:cNvSpPr>
          <p:nvPr>
            <p:ph type="body" sz="quarter" idx="14" hasCustomPrompt="1"/>
          </p:nvPr>
        </p:nvSpPr>
        <p:spPr>
          <a:xfrm>
            <a:off x="6224644" y="3896878"/>
            <a:ext cx="4968000" cy="1971260"/>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5" name="Text Placeholder 48">
            <a:extLst>
              <a:ext uri="{FF2B5EF4-FFF2-40B4-BE49-F238E27FC236}">
                <a16:creationId xmlns:a16="http://schemas.microsoft.com/office/drawing/2014/main" id="{9A39D05D-443D-4F19-A91D-72F4C43A1244}"/>
              </a:ext>
            </a:extLst>
          </p:cNvPr>
          <p:cNvSpPr>
            <a:spLocks noGrp="1"/>
          </p:cNvSpPr>
          <p:nvPr>
            <p:ph type="body" sz="quarter" idx="17" hasCustomPrompt="1"/>
          </p:nvPr>
        </p:nvSpPr>
        <p:spPr>
          <a:xfrm>
            <a:off x="995360" y="3896878"/>
            <a:ext cx="4968000" cy="1971261"/>
          </a:xfrm>
        </p:spPr>
        <p:txBody>
          <a:bodyPr/>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6" name="Chart Placeholder 43">
            <a:extLst>
              <a:ext uri="{FF2B5EF4-FFF2-40B4-BE49-F238E27FC236}">
                <a16:creationId xmlns:a16="http://schemas.microsoft.com/office/drawing/2014/main" id="{D311226B-CFD5-4E4E-B12E-290AFED7E5E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7" name="Text Placeholder 11">
            <a:extLst>
              <a:ext uri="{FF2B5EF4-FFF2-40B4-BE49-F238E27FC236}">
                <a16:creationId xmlns:a16="http://schemas.microsoft.com/office/drawing/2014/main" id="{3A337230-9057-4E7F-B335-465803056956}"/>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9" name="Text Placeholder 25">
            <a:extLst>
              <a:ext uri="{FF2B5EF4-FFF2-40B4-BE49-F238E27FC236}">
                <a16:creationId xmlns:a16="http://schemas.microsoft.com/office/drawing/2014/main" id="{3EEC5B31-8216-4215-950A-78AA5CE6B566}"/>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0" name="Chart Placeholder 43">
            <a:extLst>
              <a:ext uri="{FF2B5EF4-FFF2-40B4-BE49-F238E27FC236}">
                <a16:creationId xmlns:a16="http://schemas.microsoft.com/office/drawing/2014/main" id="{E12E92B8-BB06-418F-A278-683EEA6AF914}"/>
              </a:ext>
            </a:extLst>
          </p:cNvPr>
          <p:cNvSpPr>
            <a:spLocks noGrp="1"/>
          </p:cNvSpPr>
          <p:nvPr>
            <p:ph type="chart" sz="quarter" idx="15" hasCustomPrompt="1"/>
          </p:nvPr>
        </p:nvSpPr>
        <p:spPr>
          <a:xfrm>
            <a:off x="998262" y="2219827"/>
            <a:ext cx="10192299" cy="1508794"/>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3041697449"/>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235228"/>
            <a:ext cx="3132000" cy="3632772"/>
          </a:xfrm>
        </p:spPr>
        <p:txBody>
          <a:bodyPr lIns="72000" tIns="0" rIns="72000" bIns="0"/>
          <a:lstStyle>
            <a:lvl1pPr>
              <a:defRPr/>
            </a:lvl1pPr>
          </a:lstStyle>
          <a:p>
            <a:r>
              <a:rPr lang="en-US" sz="1000" dirty="0"/>
              <a:t>Add text here</a:t>
            </a:r>
          </a:p>
          <a:p>
            <a:pPr lvl="1"/>
            <a:endParaRPr lang="en-IN" dirty="0"/>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235228"/>
            <a:ext cx="3132000" cy="3632772"/>
          </a:xfrm>
        </p:spPr>
        <p:txBody>
          <a:bodyPr lIns="72000" tIns="0" rIns="72000" bIns="0"/>
          <a:lstStyle>
            <a:lvl1pPr>
              <a:defRPr/>
            </a:lvl1pPr>
          </a:lstStyle>
          <a:p>
            <a:r>
              <a:rPr lang="en-US" sz="1000" dirty="0"/>
              <a:t>Add text here</a:t>
            </a:r>
          </a:p>
          <a:p>
            <a:pPr lvl="1"/>
            <a:endParaRPr lang="en-IN" dirty="0"/>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340768"/>
            <a:ext cx="10195200"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1846241231"/>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ANALYSIS 3charts">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7" name="Text Placeholder 11">
            <a:extLst>
              <a:ext uri="{FF2B5EF4-FFF2-40B4-BE49-F238E27FC236}">
                <a16:creationId xmlns:a16="http://schemas.microsoft.com/office/drawing/2014/main" id="{3A337230-9057-4E7F-B335-465803056956}"/>
              </a:ext>
            </a:extLst>
          </p:cNvPr>
          <p:cNvSpPr>
            <a:spLocks noGrp="1"/>
          </p:cNvSpPr>
          <p:nvPr>
            <p:ph type="body" sz="quarter" idx="10" hasCustomPrompt="1"/>
          </p:nvPr>
        </p:nvSpPr>
        <p:spPr>
          <a:xfrm>
            <a:off x="995361" y="1340768"/>
            <a:ext cx="10192298"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9" name="Text Placeholder 25">
            <a:extLst>
              <a:ext uri="{FF2B5EF4-FFF2-40B4-BE49-F238E27FC236}">
                <a16:creationId xmlns:a16="http://schemas.microsoft.com/office/drawing/2014/main" id="{640EFCF3-12FD-4D4C-ACE1-DB2C361B3519}"/>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0" name="Chart Placeholder 43">
            <a:extLst>
              <a:ext uri="{FF2B5EF4-FFF2-40B4-BE49-F238E27FC236}">
                <a16:creationId xmlns:a16="http://schemas.microsoft.com/office/drawing/2014/main" id="{18B04F8F-BDFE-4CFC-9915-75A736505B50}"/>
              </a:ext>
            </a:extLst>
          </p:cNvPr>
          <p:cNvSpPr>
            <a:spLocks noGrp="1"/>
          </p:cNvSpPr>
          <p:nvPr>
            <p:ph type="chart" sz="quarter" idx="15" hasCustomPrompt="1"/>
          </p:nvPr>
        </p:nvSpPr>
        <p:spPr>
          <a:xfrm>
            <a:off x="998262" y="2219826"/>
            <a:ext cx="10192299"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
        <p:nvSpPr>
          <p:cNvPr id="18" name="Text Placeholder 25">
            <a:extLst>
              <a:ext uri="{FF2B5EF4-FFF2-40B4-BE49-F238E27FC236}">
                <a16:creationId xmlns:a16="http://schemas.microsoft.com/office/drawing/2014/main" id="{C24D3072-C974-442B-83F9-84E3ECF74D7D}"/>
              </a:ext>
            </a:extLst>
          </p:cNvPr>
          <p:cNvSpPr>
            <a:spLocks noGrp="1"/>
          </p:cNvSpPr>
          <p:nvPr>
            <p:ph type="body" sz="quarter" idx="17" hasCustomPrompt="1"/>
          </p:nvPr>
        </p:nvSpPr>
        <p:spPr>
          <a:xfrm>
            <a:off x="998262" y="3956143"/>
            <a:ext cx="4975417"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1" name="Text Placeholder 25">
            <a:extLst>
              <a:ext uri="{FF2B5EF4-FFF2-40B4-BE49-F238E27FC236}">
                <a16:creationId xmlns:a16="http://schemas.microsoft.com/office/drawing/2014/main" id="{81D5531C-3AD8-41FF-A4F3-7266858E00ED}"/>
              </a:ext>
            </a:extLst>
          </p:cNvPr>
          <p:cNvSpPr>
            <a:spLocks noGrp="1"/>
          </p:cNvSpPr>
          <p:nvPr>
            <p:ph type="body" sz="quarter" idx="18" hasCustomPrompt="1"/>
          </p:nvPr>
        </p:nvSpPr>
        <p:spPr>
          <a:xfrm>
            <a:off x="6215143" y="3956143"/>
            <a:ext cx="4975417"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2" name="Chart Placeholder 43">
            <a:extLst>
              <a:ext uri="{FF2B5EF4-FFF2-40B4-BE49-F238E27FC236}">
                <a16:creationId xmlns:a16="http://schemas.microsoft.com/office/drawing/2014/main" id="{E5ADF2BB-F123-40CE-8E44-682EFB1E2F7A}"/>
              </a:ext>
            </a:extLst>
          </p:cNvPr>
          <p:cNvSpPr>
            <a:spLocks noGrp="1"/>
          </p:cNvSpPr>
          <p:nvPr>
            <p:ph type="chart" sz="quarter" idx="19" hasCustomPrompt="1"/>
          </p:nvPr>
        </p:nvSpPr>
        <p:spPr>
          <a:xfrm>
            <a:off x="998262" y="4263131"/>
            <a:ext cx="4975418"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
        <p:nvSpPr>
          <p:cNvPr id="23" name="Chart Placeholder 43">
            <a:extLst>
              <a:ext uri="{FF2B5EF4-FFF2-40B4-BE49-F238E27FC236}">
                <a16:creationId xmlns:a16="http://schemas.microsoft.com/office/drawing/2014/main" id="{9789C338-A9AF-496F-B073-76E2ED71BDAE}"/>
              </a:ext>
            </a:extLst>
          </p:cNvPr>
          <p:cNvSpPr>
            <a:spLocks noGrp="1"/>
          </p:cNvSpPr>
          <p:nvPr>
            <p:ph type="chart" sz="quarter" idx="20" hasCustomPrompt="1"/>
          </p:nvPr>
        </p:nvSpPr>
        <p:spPr>
          <a:xfrm>
            <a:off x="6215143" y="4263131"/>
            <a:ext cx="4975418"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99152502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ANALYSIS narrow table + 2 col text + 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912838"/>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235228"/>
            <a:ext cx="3132000" cy="3632772"/>
          </a:xfrm>
        </p:spPr>
        <p:txBody>
          <a:bodyPr lIns="72000" tIns="0" rIns="72000" bIns="0"/>
          <a:lstStyle>
            <a:lvl1pPr>
              <a:defRPr/>
            </a:lvl1pPr>
          </a:lstStyle>
          <a:p>
            <a:r>
              <a:rPr lang="en-US" sz="1000" dirty="0"/>
              <a:t>Add text here</a:t>
            </a:r>
          </a:p>
          <a:p>
            <a:pPr lvl="1"/>
            <a:endParaRPr lang="en-IN" dirty="0"/>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235228"/>
            <a:ext cx="3132000" cy="3632772"/>
          </a:xfrm>
        </p:spPr>
        <p:txBody>
          <a:bodyPr lIns="72000" tIns="0" rIns="72000" bIns="0"/>
          <a:lstStyle>
            <a:lvl1pPr>
              <a:defRPr/>
            </a:lvl1pPr>
          </a:lstStyle>
          <a:p>
            <a:r>
              <a:rPr lang="en-US" sz="1000" dirty="0"/>
              <a:t>Add text here</a:t>
            </a:r>
          </a:p>
          <a:p>
            <a:pPr lvl="1"/>
            <a:endParaRPr lang="en-IN" dirty="0"/>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912839"/>
            <a:ext cx="3690499" cy="395456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1716068103"/>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ANALYSIS 3charts+top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6" name="Chart Placeholder 43">
            <a:extLst>
              <a:ext uri="{FF2B5EF4-FFF2-40B4-BE49-F238E27FC236}">
                <a16:creationId xmlns:a16="http://schemas.microsoft.com/office/drawing/2014/main" id="{D311226B-CFD5-4E4E-B12E-290AFED7E5E9}"/>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17" name="Text Placeholder 11">
            <a:extLst>
              <a:ext uri="{FF2B5EF4-FFF2-40B4-BE49-F238E27FC236}">
                <a16:creationId xmlns:a16="http://schemas.microsoft.com/office/drawing/2014/main" id="{3A337230-9057-4E7F-B335-465803056956}"/>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9" name="Text Placeholder 25">
            <a:extLst>
              <a:ext uri="{FF2B5EF4-FFF2-40B4-BE49-F238E27FC236}">
                <a16:creationId xmlns:a16="http://schemas.microsoft.com/office/drawing/2014/main" id="{640EFCF3-12FD-4D4C-ACE1-DB2C361B3519}"/>
              </a:ext>
            </a:extLst>
          </p:cNvPr>
          <p:cNvSpPr>
            <a:spLocks noGrp="1"/>
          </p:cNvSpPr>
          <p:nvPr>
            <p:ph type="body" sz="quarter" idx="16" hasCustomPrompt="1"/>
          </p:nvPr>
        </p:nvSpPr>
        <p:spPr>
          <a:xfrm>
            <a:off x="998262" y="1912838"/>
            <a:ext cx="10192298"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0" name="Chart Placeholder 43">
            <a:extLst>
              <a:ext uri="{FF2B5EF4-FFF2-40B4-BE49-F238E27FC236}">
                <a16:creationId xmlns:a16="http://schemas.microsoft.com/office/drawing/2014/main" id="{18B04F8F-BDFE-4CFC-9915-75A736505B50}"/>
              </a:ext>
            </a:extLst>
          </p:cNvPr>
          <p:cNvSpPr>
            <a:spLocks noGrp="1"/>
          </p:cNvSpPr>
          <p:nvPr>
            <p:ph type="chart" sz="quarter" idx="15" hasCustomPrompt="1"/>
          </p:nvPr>
        </p:nvSpPr>
        <p:spPr>
          <a:xfrm>
            <a:off x="998262" y="2219826"/>
            <a:ext cx="10192299"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
        <p:nvSpPr>
          <p:cNvPr id="18" name="Text Placeholder 25">
            <a:extLst>
              <a:ext uri="{FF2B5EF4-FFF2-40B4-BE49-F238E27FC236}">
                <a16:creationId xmlns:a16="http://schemas.microsoft.com/office/drawing/2014/main" id="{C24D3072-C974-442B-83F9-84E3ECF74D7D}"/>
              </a:ext>
            </a:extLst>
          </p:cNvPr>
          <p:cNvSpPr>
            <a:spLocks noGrp="1"/>
          </p:cNvSpPr>
          <p:nvPr>
            <p:ph type="body" sz="quarter" idx="17" hasCustomPrompt="1"/>
          </p:nvPr>
        </p:nvSpPr>
        <p:spPr>
          <a:xfrm>
            <a:off x="998262" y="3956143"/>
            <a:ext cx="4975417"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1" name="Text Placeholder 25">
            <a:extLst>
              <a:ext uri="{FF2B5EF4-FFF2-40B4-BE49-F238E27FC236}">
                <a16:creationId xmlns:a16="http://schemas.microsoft.com/office/drawing/2014/main" id="{81D5531C-3AD8-41FF-A4F3-7266858E00ED}"/>
              </a:ext>
            </a:extLst>
          </p:cNvPr>
          <p:cNvSpPr>
            <a:spLocks noGrp="1"/>
          </p:cNvSpPr>
          <p:nvPr>
            <p:ph type="body" sz="quarter" idx="18" hasCustomPrompt="1"/>
          </p:nvPr>
        </p:nvSpPr>
        <p:spPr>
          <a:xfrm>
            <a:off x="6215143" y="3956143"/>
            <a:ext cx="4975417"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2" name="Chart Placeholder 43">
            <a:extLst>
              <a:ext uri="{FF2B5EF4-FFF2-40B4-BE49-F238E27FC236}">
                <a16:creationId xmlns:a16="http://schemas.microsoft.com/office/drawing/2014/main" id="{E5ADF2BB-F123-40CE-8E44-682EFB1E2F7A}"/>
              </a:ext>
            </a:extLst>
          </p:cNvPr>
          <p:cNvSpPr>
            <a:spLocks noGrp="1"/>
          </p:cNvSpPr>
          <p:nvPr>
            <p:ph type="chart" sz="quarter" idx="19" hasCustomPrompt="1"/>
          </p:nvPr>
        </p:nvSpPr>
        <p:spPr>
          <a:xfrm>
            <a:off x="998262" y="4263131"/>
            <a:ext cx="4975418"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
        <p:nvSpPr>
          <p:cNvPr id="23" name="Chart Placeholder 43">
            <a:extLst>
              <a:ext uri="{FF2B5EF4-FFF2-40B4-BE49-F238E27FC236}">
                <a16:creationId xmlns:a16="http://schemas.microsoft.com/office/drawing/2014/main" id="{9789C338-A9AF-496F-B073-76E2ED71BDAE}"/>
              </a:ext>
            </a:extLst>
          </p:cNvPr>
          <p:cNvSpPr>
            <a:spLocks noGrp="1"/>
          </p:cNvSpPr>
          <p:nvPr>
            <p:ph type="chart" sz="quarter" idx="20" hasCustomPrompt="1"/>
          </p:nvPr>
        </p:nvSpPr>
        <p:spPr>
          <a:xfrm>
            <a:off x="6215143" y="4263131"/>
            <a:ext cx="4975418" cy="1606215"/>
          </a:xfrm>
        </p:spPr>
        <p:txBody>
          <a:bodyPr/>
          <a:lstStyle>
            <a:lvl1pPr>
              <a:defRPr sz="900"/>
            </a:lvl1pPr>
          </a:lstStyle>
          <a:p>
            <a:r>
              <a:rPr lang="fi-FI" dirty="0" err="1"/>
              <a:t>Add</a:t>
            </a:r>
            <a:r>
              <a:rPr lang="fi-FI" dirty="0"/>
              <a:t> </a:t>
            </a:r>
            <a:r>
              <a:rPr lang="fi-FI" dirty="0" err="1"/>
              <a:t>chart</a:t>
            </a:r>
            <a:r>
              <a:rPr lang="fi-FI" dirty="0"/>
              <a:t> </a:t>
            </a:r>
            <a:r>
              <a:rPr lang="fi-FI" dirty="0" err="1"/>
              <a:t>here</a:t>
            </a:r>
            <a:endParaRPr lang="fi-FI" dirty="0"/>
          </a:p>
        </p:txBody>
      </p:sp>
    </p:spTree>
    <p:extLst>
      <p:ext uri="{BB962C8B-B14F-4D97-AF65-F5344CB8AC3E}">
        <p14:creationId xmlns:p14="http://schemas.microsoft.com/office/powerpoint/2010/main" val="1964219161"/>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ANALYSIS 50-50_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068415570"/>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1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17" name="Text Placeholder 6">
            <a:extLst>
              <a:ext uri="{FF2B5EF4-FFF2-40B4-BE49-F238E27FC236}">
                <a16:creationId xmlns:a16="http://schemas.microsoft.com/office/drawing/2014/main" id="{1521B4CA-D8BF-DA27-158B-3A18ECF1099F}"/>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25">
            <a:extLst>
              <a:ext uri="{FF2B5EF4-FFF2-40B4-BE49-F238E27FC236}">
                <a16:creationId xmlns:a16="http://schemas.microsoft.com/office/drawing/2014/main" id="{7C4F6109-E3D9-561F-E5FD-3725E8400904}"/>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able Placeholder 45">
            <a:extLst>
              <a:ext uri="{FF2B5EF4-FFF2-40B4-BE49-F238E27FC236}">
                <a16:creationId xmlns:a16="http://schemas.microsoft.com/office/drawing/2014/main" id="{213B86F7-3C0F-4690-E312-92129CBE6128}"/>
              </a:ext>
            </a:extLst>
          </p:cNvPr>
          <p:cNvSpPr>
            <a:spLocks noGrp="1"/>
          </p:cNvSpPr>
          <p:nvPr>
            <p:ph type="tbl" sz="quarter" idx="13" hasCustomPrompt="1"/>
          </p:nvPr>
        </p:nvSpPr>
        <p:spPr>
          <a:xfrm>
            <a:off x="995361" y="1911599"/>
            <a:ext cx="5036400" cy="3955801"/>
          </a:xfrm>
        </p:spPr>
        <p:txBody>
          <a:bodyPr lIns="72000" rIns="72000"/>
          <a:lstStyle>
            <a:lvl1pPr>
              <a:defRPr sz="1000" b="1">
                <a:solidFill>
                  <a:schemeClr val="tx2"/>
                </a:solidFill>
              </a:defRPr>
            </a:lvl1pPr>
          </a:lstStyle>
          <a:p>
            <a:r>
              <a:rPr lang="fi-FI" dirty="0"/>
              <a:t>Add table here</a:t>
            </a:r>
          </a:p>
        </p:txBody>
      </p:sp>
    </p:spTree>
    <p:extLst>
      <p:ext uri="{BB962C8B-B14F-4D97-AF65-F5344CB8AC3E}">
        <p14:creationId xmlns:p14="http://schemas.microsoft.com/office/powerpoint/2010/main" val="230380565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BENCHMARKIN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0" y="1340768"/>
            <a:ext cx="101922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1" name="Rectangle 10">
            <a:extLst>
              <a:ext uri="{FF2B5EF4-FFF2-40B4-BE49-F238E27FC236}">
                <a16:creationId xmlns:a16="http://schemas.microsoft.com/office/drawing/2014/main" id="{75D4CCFC-658A-41C9-8908-1E8CDFF5EB84}"/>
              </a:ext>
            </a:extLst>
          </p:cNvPr>
          <p:cNvSpPr>
            <a:spLocks/>
          </p:cNvSpPr>
          <p:nvPr userDrawn="1"/>
        </p:nvSpPr>
        <p:spPr>
          <a:xfrm>
            <a:off x="995362" y="1912131"/>
            <a:ext cx="7591374" cy="245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1000" b="1" dirty="0">
              <a:solidFill>
                <a:schemeClr val="bg1"/>
              </a:solidFill>
            </a:endParaRPr>
          </a:p>
        </p:txBody>
      </p:sp>
      <p:sp>
        <p:nvSpPr>
          <p:cNvPr id="16" name="Text Placeholder 25">
            <a:extLst>
              <a:ext uri="{FF2B5EF4-FFF2-40B4-BE49-F238E27FC236}">
                <a16:creationId xmlns:a16="http://schemas.microsoft.com/office/drawing/2014/main" id="{A4F8ED16-DD7F-44ED-8FB7-CF92820A810A}"/>
              </a:ext>
            </a:extLst>
          </p:cNvPr>
          <p:cNvSpPr>
            <a:spLocks noGrp="1"/>
          </p:cNvSpPr>
          <p:nvPr>
            <p:ph type="body" sz="quarter" idx="15" hasCustomPrompt="1"/>
          </p:nvPr>
        </p:nvSpPr>
        <p:spPr>
          <a:xfrm>
            <a:off x="995359" y="1912838"/>
            <a:ext cx="7591373" cy="244800"/>
          </a:xfrm>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KPI1 (e.g., Gross margin)</a:t>
            </a:r>
          </a:p>
        </p:txBody>
      </p:sp>
      <p:sp>
        <p:nvSpPr>
          <p:cNvPr id="18" name="Text Placeholder 48">
            <a:extLst>
              <a:ext uri="{FF2B5EF4-FFF2-40B4-BE49-F238E27FC236}">
                <a16:creationId xmlns:a16="http://schemas.microsoft.com/office/drawing/2014/main" id="{F3EC6054-77E0-4B3D-8D0D-DB66862A4B8D}"/>
              </a:ext>
            </a:extLst>
          </p:cNvPr>
          <p:cNvSpPr>
            <a:spLocks noGrp="1"/>
          </p:cNvSpPr>
          <p:nvPr>
            <p:ph type="body" sz="quarter" idx="14" hasCustomPrompt="1"/>
          </p:nvPr>
        </p:nvSpPr>
        <p:spPr>
          <a:xfrm>
            <a:off x="8839199" y="2163070"/>
            <a:ext cx="2364637" cy="1708130"/>
          </a:xfrm>
        </p:spPr>
        <p:txBody>
          <a:bodyPr lIns="72000" tIns="36000" rIns="36000" bIns="36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19" name="Rectangle 18">
            <a:extLst>
              <a:ext uri="{FF2B5EF4-FFF2-40B4-BE49-F238E27FC236}">
                <a16:creationId xmlns:a16="http://schemas.microsoft.com/office/drawing/2014/main" id="{51814B3C-666E-431B-B552-3474724BC74A}"/>
              </a:ext>
            </a:extLst>
          </p:cNvPr>
          <p:cNvSpPr>
            <a:spLocks/>
          </p:cNvSpPr>
          <p:nvPr userDrawn="1"/>
        </p:nvSpPr>
        <p:spPr>
          <a:xfrm>
            <a:off x="8839822" y="1912131"/>
            <a:ext cx="2364017" cy="245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r>
              <a:rPr lang="en-US" sz="1000" b="1" dirty="0">
                <a:solidFill>
                  <a:schemeClr val="bg1"/>
                </a:solidFill>
              </a:rPr>
              <a:t>Comments</a:t>
            </a:r>
          </a:p>
        </p:txBody>
      </p:sp>
      <p:sp>
        <p:nvSpPr>
          <p:cNvPr id="21" name="Rectangle 20">
            <a:extLst>
              <a:ext uri="{FF2B5EF4-FFF2-40B4-BE49-F238E27FC236}">
                <a16:creationId xmlns:a16="http://schemas.microsoft.com/office/drawing/2014/main" id="{08B4E202-EB1C-4D58-AC48-7697DF48C954}"/>
              </a:ext>
            </a:extLst>
          </p:cNvPr>
          <p:cNvSpPr>
            <a:spLocks/>
          </p:cNvSpPr>
          <p:nvPr userDrawn="1"/>
        </p:nvSpPr>
        <p:spPr>
          <a:xfrm>
            <a:off x="995362" y="3881148"/>
            <a:ext cx="7591374" cy="245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900" b="1" dirty="0">
              <a:solidFill>
                <a:schemeClr val="bg1"/>
              </a:solidFill>
            </a:endParaRPr>
          </a:p>
        </p:txBody>
      </p:sp>
      <p:sp>
        <p:nvSpPr>
          <p:cNvPr id="22" name="Text Placeholder 25">
            <a:extLst>
              <a:ext uri="{FF2B5EF4-FFF2-40B4-BE49-F238E27FC236}">
                <a16:creationId xmlns:a16="http://schemas.microsoft.com/office/drawing/2014/main" id="{EC2EA1B0-96BA-4CF0-AC2C-DE303D8864E9}"/>
              </a:ext>
            </a:extLst>
          </p:cNvPr>
          <p:cNvSpPr>
            <a:spLocks noGrp="1"/>
          </p:cNvSpPr>
          <p:nvPr>
            <p:ph type="body" sz="quarter" idx="18" hasCustomPrompt="1"/>
          </p:nvPr>
        </p:nvSpPr>
        <p:spPr>
          <a:xfrm>
            <a:off x="995359" y="3881148"/>
            <a:ext cx="7591373" cy="244800"/>
          </a:xfrm>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KPI2 (e.g., EBITDA margin)</a:t>
            </a:r>
          </a:p>
        </p:txBody>
      </p:sp>
      <p:sp>
        <p:nvSpPr>
          <p:cNvPr id="23" name="Text Placeholder 48">
            <a:extLst>
              <a:ext uri="{FF2B5EF4-FFF2-40B4-BE49-F238E27FC236}">
                <a16:creationId xmlns:a16="http://schemas.microsoft.com/office/drawing/2014/main" id="{D703C6DC-331B-4D9E-B888-2A9335A4D3D8}"/>
              </a:ext>
            </a:extLst>
          </p:cNvPr>
          <p:cNvSpPr>
            <a:spLocks noGrp="1"/>
          </p:cNvSpPr>
          <p:nvPr>
            <p:ph type="body" sz="quarter" idx="19" hasCustomPrompt="1"/>
          </p:nvPr>
        </p:nvSpPr>
        <p:spPr>
          <a:xfrm>
            <a:off x="8839199" y="4134574"/>
            <a:ext cx="2364637" cy="1708130"/>
          </a:xfrm>
        </p:spPr>
        <p:txBody>
          <a:bodyPr lIns="72000" tIns="36000" rIns="36000" bIns="36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
        <p:nvSpPr>
          <p:cNvPr id="24" name="Rectangle 23">
            <a:extLst>
              <a:ext uri="{FF2B5EF4-FFF2-40B4-BE49-F238E27FC236}">
                <a16:creationId xmlns:a16="http://schemas.microsoft.com/office/drawing/2014/main" id="{1C20F4F3-033A-4F91-B42E-436DFADBAD77}"/>
              </a:ext>
            </a:extLst>
          </p:cNvPr>
          <p:cNvSpPr>
            <a:spLocks/>
          </p:cNvSpPr>
          <p:nvPr userDrawn="1"/>
        </p:nvSpPr>
        <p:spPr>
          <a:xfrm>
            <a:off x="8839822" y="3881148"/>
            <a:ext cx="2364017" cy="245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r>
              <a:rPr lang="en-US" sz="1000" b="1" dirty="0">
                <a:solidFill>
                  <a:schemeClr val="bg1"/>
                </a:solidFill>
              </a:rPr>
              <a:t>Comments</a:t>
            </a:r>
          </a:p>
        </p:txBody>
      </p:sp>
      <p:sp>
        <p:nvSpPr>
          <p:cNvPr id="26" name="Chart Placeholder 43">
            <a:extLst>
              <a:ext uri="{FF2B5EF4-FFF2-40B4-BE49-F238E27FC236}">
                <a16:creationId xmlns:a16="http://schemas.microsoft.com/office/drawing/2014/main" id="{A8C25DD9-0649-4FB6-8099-C6E2B474ECF6}"/>
              </a:ext>
            </a:extLst>
          </p:cNvPr>
          <p:cNvSpPr>
            <a:spLocks noGrp="1"/>
          </p:cNvSpPr>
          <p:nvPr>
            <p:ph type="chart" sz="quarter" idx="21" hasCustomPrompt="1"/>
          </p:nvPr>
        </p:nvSpPr>
        <p:spPr>
          <a:xfrm>
            <a:off x="998263" y="2163070"/>
            <a:ext cx="7588388" cy="1587612"/>
          </a:xfrm>
        </p:spPr>
        <p:txBody>
          <a:bodyPr/>
          <a:lstStyle>
            <a:lvl1pPr rtl="0">
              <a:defRPr sz="900"/>
            </a:lvl1pPr>
          </a:lstStyle>
          <a:p>
            <a:r>
              <a:rPr lang="en-US" noProof="0"/>
              <a:t>Add chart here</a:t>
            </a:r>
          </a:p>
        </p:txBody>
      </p:sp>
      <p:sp>
        <p:nvSpPr>
          <p:cNvPr id="27" name="Chart Placeholder 43">
            <a:extLst>
              <a:ext uri="{FF2B5EF4-FFF2-40B4-BE49-F238E27FC236}">
                <a16:creationId xmlns:a16="http://schemas.microsoft.com/office/drawing/2014/main" id="{27D8A0D2-8916-4534-AAD0-756AA730E88D}"/>
              </a:ext>
            </a:extLst>
          </p:cNvPr>
          <p:cNvSpPr>
            <a:spLocks noGrp="1"/>
          </p:cNvSpPr>
          <p:nvPr>
            <p:ph type="chart" sz="quarter" idx="22" hasCustomPrompt="1"/>
          </p:nvPr>
        </p:nvSpPr>
        <p:spPr>
          <a:xfrm>
            <a:off x="998262" y="4134574"/>
            <a:ext cx="7588388" cy="1587612"/>
          </a:xfrm>
        </p:spPr>
        <p:txBody>
          <a:bodyPr/>
          <a:lstStyle>
            <a:lvl1pPr rtl="0">
              <a:defRPr sz="900"/>
            </a:lvl1pPr>
          </a:lstStyle>
          <a:p>
            <a:r>
              <a:rPr lang="en-US" noProof="0"/>
              <a:t>Add chart here</a:t>
            </a:r>
          </a:p>
        </p:txBody>
      </p:sp>
    </p:spTree>
    <p:extLst>
      <p:ext uri="{BB962C8B-B14F-4D97-AF65-F5344CB8AC3E}">
        <p14:creationId xmlns:p14="http://schemas.microsoft.com/office/powerpoint/2010/main" val="70497045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SUMMARY FINANCIAL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1" y="3652093"/>
            <a:ext cx="5058000"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1"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27895"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60429"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6141027" y="3652093"/>
            <a:ext cx="5058785"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10" name="Text Placeholder 9">
            <a:extLst>
              <a:ext uri="{FF2B5EF4-FFF2-40B4-BE49-F238E27FC236}">
                <a16:creationId xmlns:a16="http://schemas.microsoft.com/office/drawing/2014/main" id="{9BD4A4D5-D742-4354-912B-FA7506C97D7D}"/>
              </a:ext>
            </a:extLst>
          </p:cNvPr>
          <p:cNvSpPr>
            <a:spLocks noGrp="1"/>
          </p:cNvSpPr>
          <p:nvPr>
            <p:ph type="body" sz="quarter" idx="10"/>
          </p:nvPr>
        </p:nvSpPr>
        <p:spPr>
          <a:xfrm>
            <a:off x="1130300"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1" name="Text Placeholder 9">
            <a:extLst>
              <a:ext uri="{FF2B5EF4-FFF2-40B4-BE49-F238E27FC236}">
                <a16:creationId xmlns:a16="http://schemas.microsoft.com/office/drawing/2014/main" id="{24ACC3BC-20DE-427C-B9BF-032A57363F7A}"/>
              </a:ext>
            </a:extLst>
          </p:cNvPr>
          <p:cNvSpPr>
            <a:spLocks noGrp="1"/>
          </p:cNvSpPr>
          <p:nvPr>
            <p:ph type="body" sz="quarter" idx="11"/>
          </p:nvPr>
        </p:nvSpPr>
        <p:spPr>
          <a:xfrm>
            <a:off x="4564796"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2" name="Text Placeholder 9">
            <a:extLst>
              <a:ext uri="{FF2B5EF4-FFF2-40B4-BE49-F238E27FC236}">
                <a16:creationId xmlns:a16="http://schemas.microsoft.com/office/drawing/2014/main" id="{EE03C645-2516-4A17-B4AE-E486AB2768F1}"/>
              </a:ext>
            </a:extLst>
          </p:cNvPr>
          <p:cNvSpPr>
            <a:spLocks noGrp="1"/>
          </p:cNvSpPr>
          <p:nvPr>
            <p:ph type="body" sz="quarter" idx="12"/>
          </p:nvPr>
        </p:nvSpPr>
        <p:spPr>
          <a:xfrm>
            <a:off x="7995234" y="1464775"/>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1130300" y="3787341"/>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6278411" y="3787341"/>
            <a:ext cx="2941638" cy="252000"/>
          </a:xfrm>
        </p:spPr>
        <p:txBody>
          <a:bodyPr/>
          <a:lstStyle>
            <a:lvl1pPr marL="0" algn="l" defTabSz="914400" rtl="0" eaLnBrk="1" latinLnBrk="0" hangingPunct="1">
              <a:defRPr lang="en-US" sz="1400" b="1" kern="1200" dirty="0" smtClean="0">
                <a:solidFill>
                  <a:schemeClr val="accent1"/>
                </a:solidFill>
                <a:latin typeface="+mn-lt"/>
                <a:ea typeface="+mn-ea"/>
                <a:cs typeface="+mn-cs"/>
              </a:defRPr>
            </a:lvl1pPr>
            <a:lvl2pPr marL="0" algn="l" defTabSz="914400" rtl="0" eaLnBrk="1" latinLnBrk="0" hangingPunct="1">
              <a:defRPr lang="en-US" sz="1400" b="1" kern="1200" dirty="0" smtClean="0">
                <a:solidFill>
                  <a:schemeClr val="accent1"/>
                </a:solidFill>
                <a:latin typeface="+mn-lt"/>
                <a:ea typeface="+mn-ea"/>
                <a:cs typeface="+mn-cs"/>
              </a:defRPr>
            </a:lvl2pPr>
            <a:lvl3pPr marL="0" algn="l" defTabSz="914400" rtl="0" eaLnBrk="1" latinLnBrk="0" hangingPunct="1">
              <a:defRPr lang="en-US" sz="1400" b="1" kern="1200" dirty="0" smtClean="0">
                <a:solidFill>
                  <a:schemeClr val="accent1"/>
                </a:solidFill>
                <a:latin typeface="+mn-lt"/>
                <a:ea typeface="+mn-ea"/>
                <a:cs typeface="+mn-cs"/>
              </a:defRPr>
            </a:lvl3pPr>
            <a:lvl4pPr marL="0" algn="l" defTabSz="914400" rtl="0" eaLnBrk="1" latinLnBrk="0" hangingPunct="1">
              <a:defRPr lang="en-US" sz="1400" b="1" kern="1200" dirty="0" smtClean="0">
                <a:solidFill>
                  <a:schemeClr val="accent1"/>
                </a:solidFill>
                <a:latin typeface="+mn-lt"/>
                <a:ea typeface="+mn-ea"/>
                <a:cs typeface="+mn-cs"/>
              </a:defRPr>
            </a:lvl4pPr>
            <a:lvl5pPr marL="0" algn="l" defTabSz="914400"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6" name="Isosceles Triangle 15">
            <a:extLst>
              <a:ext uri="{FF2B5EF4-FFF2-40B4-BE49-F238E27FC236}">
                <a16:creationId xmlns:a16="http://schemas.microsoft.com/office/drawing/2014/main" id="{14F9A958-4F28-4EC5-A2F6-A42C21183362}"/>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7" name="Isosceles Triangle 16">
            <a:extLst>
              <a:ext uri="{FF2B5EF4-FFF2-40B4-BE49-F238E27FC236}">
                <a16:creationId xmlns:a16="http://schemas.microsoft.com/office/drawing/2014/main" id="{DBE7F350-8A42-427F-B150-D231525909C0}"/>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8" name="Oval 17">
            <a:hlinkClick r:id="" action="ppaction://hlinkshowjump?jump=nextslide"/>
            <a:extLst>
              <a:ext uri="{FF2B5EF4-FFF2-40B4-BE49-F238E27FC236}">
                <a16:creationId xmlns:a16="http://schemas.microsoft.com/office/drawing/2014/main" id="{82F458B8-5EF5-4369-87E3-2ECE6CF499E3}"/>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9" name="Oval 18">
            <a:hlinkClick r:id="" action="ppaction://hlinkshowjump?jump=previousslide"/>
            <a:extLst>
              <a:ext uri="{FF2B5EF4-FFF2-40B4-BE49-F238E27FC236}">
                <a16:creationId xmlns:a16="http://schemas.microsoft.com/office/drawing/2014/main" id="{A74718CC-9FDD-4458-B4C3-EC2C8BF55AAC}"/>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20" name="Graphic 19" descr="Home">
            <a:hlinkClick r:id="rId2" action="ppaction://hlinksldjump"/>
            <a:extLst>
              <a:ext uri="{FF2B5EF4-FFF2-40B4-BE49-F238E27FC236}">
                <a16:creationId xmlns:a16="http://schemas.microsoft.com/office/drawing/2014/main" id="{E42C6936-EECB-48FF-8E6E-425B3139D49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4176030941"/>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ANALYSIS 50-50_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23" name="Table Placeholder 45">
            <a:extLst>
              <a:ext uri="{FF2B5EF4-FFF2-40B4-BE49-F238E27FC236}">
                <a16:creationId xmlns:a16="http://schemas.microsoft.com/office/drawing/2014/main" id="{C3004401-EE3C-649E-6353-B9164F1C4C80}"/>
              </a:ext>
            </a:extLst>
          </p:cNvPr>
          <p:cNvSpPr>
            <a:spLocks noGrp="1"/>
          </p:cNvSpPr>
          <p:nvPr>
            <p:ph type="tbl" sz="quarter" idx="13" hasCustomPrompt="1"/>
          </p:nvPr>
        </p:nvSpPr>
        <p:spPr>
          <a:xfrm>
            <a:off x="995361" y="1911599"/>
            <a:ext cx="5036400" cy="3955801"/>
          </a:xfrm>
        </p:spPr>
        <p:txBody>
          <a:bodyPr lIns="72000" rIns="72000"/>
          <a:lstStyle>
            <a:lvl1pPr>
              <a:defRPr sz="1000" b="1">
                <a:solidFill>
                  <a:schemeClr val="tx2"/>
                </a:solidFill>
              </a:defRPr>
            </a:lvl1pPr>
          </a:lstStyle>
          <a:p>
            <a:r>
              <a:rPr lang="fi-FI" dirty="0"/>
              <a:t>Add table here</a:t>
            </a:r>
          </a:p>
        </p:txBody>
      </p:sp>
      <p:sp>
        <p:nvSpPr>
          <p:cNvPr id="8" name="Text Placeholder 25">
            <a:extLst>
              <a:ext uri="{FF2B5EF4-FFF2-40B4-BE49-F238E27FC236}">
                <a16:creationId xmlns:a16="http://schemas.microsoft.com/office/drawing/2014/main" id="{AB752ACB-3E96-1341-39F5-971D5B64FD77}"/>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Chart Placeholder 43">
            <a:extLst>
              <a:ext uri="{FF2B5EF4-FFF2-40B4-BE49-F238E27FC236}">
                <a16:creationId xmlns:a16="http://schemas.microsoft.com/office/drawing/2014/main" id="{DC74134E-DCDE-CA54-AD79-94C972C11A63}"/>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1" name="Text Placeholder 11">
            <a:extLst>
              <a:ext uri="{FF2B5EF4-FFF2-40B4-BE49-F238E27FC236}">
                <a16:creationId xmlns:a16="http://schemas.microsoft.com/office/drawing/2014/main" id="{033A2A19-A8FA-B04D-7F28-5972152079F8}"/>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ext Placeholder 6">
            <a:extLst>
              <a:ext uri="{FF2B5EF4-FFF2-40B4-BE49-F238E27FC236}">
                <a16:creationId xmlns:a16="http://schemas.microsoft.com/office/drawing/2014/main" id="{5E80CC73-917A-B304-6925-C4C619159D0F}"/>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89471686"/>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ABB layout">
    <p:spTree>
      <p:nvGrpSpPr>
        <p:cNvPr id="1" name=""/>
        <p:cNvGrpSpPr/>
        <p:nvPr/>
      </p:nvGrpSpPr>
      <p:grpSpPr>
        <a:xfrm>
          <a:off x="0" y="0"/>
          <a:ext cx="0" cy="0"/>
          <a:chOff x="0" y="0"/>
          <a:chExt cx="0" cy="0"/>
        </a:xfrm>
      </p:grpSpPr>
      <p:graphicFrame>
        <p:nvGraphicFramePr>
          <p:cNvPr id="71" name="Object 70" hidden="1">
            <a:extLst>
              <a:ext uri="{FF2B5EF4-FFF2-40B4-BE49-F238E27FC236}">
                <a16:creationId xmlns:a16="http://schemas.microsoft.com/office/drawing/2014/main" id="{682AD4F2-B2C5-4582-B067-1F6D7671BC4B}"/>
              </a:ext>
            </a:extLst>
          </p:cNvPr>
          <p:cNvGraphicFramePr>
            <a:graphicFrameLocks noChangeAspect="1"/>
          </p:cNvGraphicFramePr>
          <p:nvPr userDrawn="1">
            <p:custDataLst>
              <p:tags r:id="rId1"/>
            </p:custDataLst>
            <p:extLst>
              <p:ext uri="{D42A27DB-BD31-4B8C-83A1-F6EECF244321}">
                <p14:modId xmlns:p14="http://schemas.microsoft.com/office/powerpoint/2010/main" val="2263404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1" name="Object 70" hidden="1">
                        <a:extLst>
                          <a:ext uri="{FF2B5EF4-FFF2-40B4-BE49-F238E27FC236}">
                            <a16:creationId xmlns:a16="http://schemas.microsoft.com/office/drawing/2014/main" id="{682AD4F2-B2C5-4582-B067-1F6D7671BC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a:t>Click to edit Master title style</a:t>
            </a:r>
            <a:endParaRPr lang="en-GB" dirty="0"/>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20" name="Chart Placeholder 43">
            <a:extLst>
              <a:ext uri="{FF2B5EF4-FFF2-40B4-BE49-F238E27FC236}">
                <a16:creationId xmlns:a16="http://schemas.microsoft.com/office/drawing/2014/main" id="{983015E4-B14F-402C-8A0C-45E02F788C3B}"/>
              </a:ext>
            </a:extLst>
          </p:cNvPr>
          <p:cNvSpPr>
            <a:spLocks noGrp="1"/>
          </p:cNvSpPr>
          <p:nvPr>
            <p:ph type="chart" sz="quarter" idx="12" hasCustomPrompt="1"/>
          </p:nvPr>
        </p:nvSpPr>
        <p:spPr>
          <a:xfrm>
            <a:off x="8833449" y="965200"/>
            <a:ext cx="2360151" cy="890588"/>
          </a:xfrm>
        </p:spPr>
        <p:txBody>
          <a:bodyPr/>
          <a:lstStyle>
            <a:lvl1pPr>
              <a:defRPr sz="900"/>
            </a:lvl1pPr>
          </a:lstStyle>
          <a:p>
            <a:r>
              <a:rPr lang="fi-FI" dirty="0" err="1"/>
              <a:t>Add</a:t>
            </a:r>
            <a:r>
              <a:rPr lang="fi-FI" dirty="0"/>
              <a:t> </a:t>
            </a:r>
            <a:r>
              <a:rPr lang="fi-FI" dirty="0" err="1"/>
              <a:t>summary</a:t>
            </a:r>
            <a:r>
              <a:rPr lang="fi-FI" dirty="0"/>
              <a:t> </a:t>
            </a:r>
            <a:r>
              <a:rPr lang="fi-FI" dirty="0" err="1"/>
              <a:t>chart</a:t>
            </a:r>
            <a:r>
              <a:rPr lang="fi-FI" dirty="0"/>
              <a:t> </a:t>
            </a:r>
            <a:r>
              <a:rPr lang="fi-FI" dirty="0" err="1"/>
              <a:t>here</a:t>
            </a:r>
            <a:endParaRPr lang="fi-FI" dirty="0"/>
          </a:p>
        </p:txBody>
      </p:sp>
      <p:sp>
        <p:nvSpPr>
          <p:cNvPr id="21" name="Text Placeholder 11">
            <a:extLst>
              <a:ext uri="{FF2B5EF4-FFF2-40B4-BE49-F238E27FC236}">
                <a16:creationId xmlns:a16="http://schemas.microsoft.com/office/drawing/2014/main" id="{5ECC29C6-300E-465F-97C8-43E114CAECEE}"/>
              </a:ext>
            </a:extLst>
          </p:cNvPr>
          <p:cNvSpPr>
            <a:spLocks noGrp="1"/>
          </p:cNvSpPr>
          <p:nvPr>
            <p:ph type="body" sz="quarter" idx="10" hasCustomPrompt="1"/>
          </p:nvPr>
        </p:nvSpPr>
        <p:spPr>
          <a:xfrm>
            <a:off x="995361" y="1340768"/>
            <a:ext cx="7588800"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2" name="Text Placeholder 25">
            <a:extLst>
              <a:ext uri="{FF2B5EF4-FFF2-40B4-BE49-F238E27FC236}">
                <a16:creationId xmlns:a16="http://schemas.microsoft.com/office/drawing/2014/main" id="{994EB631-6A2A-45E7-8A0A-FD75B792613D}"/>
              </a:ext>
            </a:extLst>
          </p:cNvPr>
          <p:cNvSpPr>
            <a:spLocks noGrp="1"/>
          </p:cNvSpPr>
          <p:nvPr>
            <p:ph type="body" sz="quarter" idx="15" hasCustomPrompt="1"/>
          </p:nvPr>
        </p:nvSpPr>
        <p:spPr>
          <a:xfrm>
            <a:off x="995360"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3" name="Text Placeholder 25">
            <a:extLst>
              <a:ext uri="{FF2B5EF4-FFF2-40B4-BE49-F238E27FC236}">
                <a16:creationId xmlns:a16="http://schemas.microsoft.com/office/drawing/2014/main" id="{1C963176-ED80-4FDF-80E3-78E8646239CC}"/>
              </a:ext>
            </a:extLst>
          </p:cNvPr>
          <p:cNvSpPr>
            <a:spLocks noGrp="1"/>
          </p:cNvSpPr>
          <p:nvPr>
            <p:ph type="body" sz="quarter" idx="11" hasCustomPrompt="1"/>
          </p:nvPr>
        </p:nvSpPr>
        <p:spPr>
          <a:xfrm>
            <a:off x="6224644" y="1912838"/>
            <a:ext cx="4968000" cy="244800"/>
          </a:xfrm>
          <a:solidFill>
            <a:schemeClr val="tx2"/>
          </a:solidFill>
        </p:spPr>
        <p:txBody>
          <a:bodyPr lIns="72000" tIns="36000" rIns="72000" bIns="36000" anchor="ctr" anchorCtr="0"/>
          <a:lstStyle>
            <a:lvl1pPr>
              <a:defRPr sz="1000">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5" name="Text Placeholder 48">
            <a:extLst>
              <a:ext uri="{FF2B5EF4-FFF2-40B4-BE49-F238E27FC236}">
                <a16:creationId xmlns:a16="http://schemas.microsoft.com/office/drawing/2014/main" id="{A762DC72-EF77-469E-96E1-E9AA418F1D06}"/>
              </a:ext>
            </a:extLst>
          </p:cNvPr>
          <p:cNvSpPr>
            <a:spLocks noGrp="1"/>
          </p:cNvSpPr>
          <p:nvPr>
            <p:ph type="body" sz="quarter" idx="14" hasCustomPrompt="1"/>
          </p:nvPr>
        </p:nvSpPr>
        <p:spPr>
          <a:xfrm>
            <a:off x="6224644" y="2223113"/>
            <a:ext cx="4968956" cy="3662782"/>
          </a:xfrm>
        </p:spPr>
        <p:txBody>
          <a:bodyPr lIns="72000"/>
          <a:lstStyle>
            <a:lvl1pPr>
              <a:defRPr sz="900">
                <a:solidFill>
                  <a:schemeClr val="tx1"/>
                </a:solidFill>
              </a:defRPr>
            </a:lvl1pPr>
            <a:lvl2pPr>
              <a:defRPr sz="1000" b="0">
                <a:solidFill>
                  <a:schemeClr val="tx1"/>
                </a:solidFill>
              </a:defRPr>
            </a:lvl2pPr>
            <a:lvl3pPr>
              <a:defRPr sz="1000" b="0">
                <a:solidFill>
                  <a:schemeClr val="tx1"/>
                </a:solidFill>
              </a:defRPr>
            </a:lvl3pPr>
            <a:lvl4pPr>
              <a:defRPr sz="1000" b="0">
                <a:solidFill>
                  <a:schemeClr val="tx1"/>
                </a:solidFill>
              </a:defRPr>
            </a:lvl4pPr>
            <a:lvl5pPr>
              <a:defRPr sz="1000" b="0">
                <a:solidFill>
                  <a:schemeClr val="tx1"/>
                </a:solidFill>
              </a:defRPr>
            </a:lvl5pPr>
          </a:lstStyle>
          <a:p>
            <a:pPr lvl="1"/>
            <a:r>
              <a:rPr lang="en-US" dirty="0"/>
              <a:t>Add text here</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1112785432"/>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ANALYSIS 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5200" cy="460800"/>
          </a:xfrm>
        </p:spPr>
        <p:txBody>
          <a:bodyPr lIns="0" rIns="7200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14662897"/>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itle and straplin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0" y="1340768"/>
            <a:ext cx="10192299" cy="460800"/>
          </a:xfr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3716888090"/>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ANALYSIS 2 col text + 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235228"/>
            <a:ext cx="5036400" cy="3633727"/>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hart Placeholder 43">
            <a:extLst>
              <a:ext uri="{FF2B5EF4-FFF2-40B4-BE49-F238E27FC236}">
                <a16:creationId xmlns:a16="http://schemas.microsoft.com/office/drawing/2014/main" id="{91C7D5AC-CC1B-453C-BBCC-7368D1A5EA51}"/>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6" name="Text Placeholder 11">
            <a:extLst>
              <a:ext uri="{FF2B5EF4-FFF2-40B4-BE49-F238E27FC236}">
                <a16:creationId xmlns:a16="http://schemas.microsoft.com/office/drawing/2014/main" id="{396E6CF5-2B13-4988-9B42-9CB4769381DB}"/>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339369437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Isosceles Triangle 3">
            <a:extLst>
              <a:ext uri="{FF2B5EF4-FFF2-40B4-BE49-F238E27FC236}">
                <a16:creationId xmlns:a16="http://schemas.microsoft.com/office/drawing/2014/main" id="{B2117C5D-2BB5-4624-B067-7A0F49366CA3}"/>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2154DA59-D996-427B-AE70-AC47E36E8C75}"/>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A591258-82E7-4932-9298-029A18D7D344}"/>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EFCF043-CC58-43AC-95A3-044F0F9CACF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1F8C0E96-565F-4DF7-8426-A02CB603D8C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2604358512"/>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ANALYSIS chart on top+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00737340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p:nvPr>
        </p:nvSpPr>
        <p:spPr>
          <a:xfrm>
            <a:off x="995361" y="3893589"/>
            <a:ext cx="5036400" cy="1973811"/>
          </a:xfrm>
        </p:spPr>
        <p:txBody>
          <a:bodyPr lIns="72000" tIns="0" rIns="72000" bIns="0"/>
          <a:lstStyle>
            <a:lvl1pPr>
              <a:defRPr sz="1000" b="1">
                <a:solidFill>
                  <a:schemeClr val="tx2"/>
                </a:solidFill>
              </a:defRPr>
            </a:lvl1pPr>
          </a:lstStyle>
          <a:p>
            <a:r>
              <a:rPr lang="en-US"/>
              <a:t>Click icon to add table</a:t>
            </a:r>
            <a:endParaRPr lang="fi-FI" dirty="0"/>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9" name="Text Placeholder 6">
            <a:extLst>
              <a:ext uri="{FF2B5EF4-FFF2-40B4-BE49-F238E27FC236}">
                <a16:creationId xmlns:a16="http://schemas.microsoft.com/office/drawing/2014/main" id="{195DC088-461C-FD29-4F33-E3386EF9FB40}"/>
              </a:ext>
            </a:extLst>
          </p:cNvPr>
          <p:cNvSpPr>
            <a:spLocks noGrp="1"/>
          </p:cNvSpPr>
          <p:nvPr>
            <p:ph type="body" sz="quarter" idx="24" hasCustomPrompt="1"/>
          </p:nvPr>
        </p:nvSpPr>
        <p:spPr>
          <a:xfrm>
            <a:off x="6167552" y="3893588"/>
            <a:ext cx="5033848" cy="1973812"/>
          </a:xfrm>
        </p:spPr>
        <p:txBody>
          <a:bodyPr lIns="72000" tIns="0" rIns="72000" bIns="0"/>
          <a:lstStyle>
            <a:lvl1pPr>
              <a:defRPr/>
            </a:lvl1pPr>
          </a:lstStyle>
          <a:p>
            <a:r>
              <a:rPr lang="en-US" sz="1000" dirty="0"/>
              <a:t>Add text here</a:t>
            </a:r>
          </a:p>
          <a:p>
            <a:pPr lvl="1"/>
            <a:endParaRPr lang="en-IN" dirty="0"/>
          </a:p>
        </p:txBody>
      </p:sp>
      <p:sp>
        <p:nvSpPr>
          <p:cNvPr id="22" name="Chart Placeholder 43">
            <a:extLst>
              <a:ext uri="{FF2B5EF4-FFF2-40B4-BE49-F238E27FC236}">
                <a16:creationId xmlns:a16="http://schemas.microsoft.com/office/drawing/2014/main" id="{D5A08C12-7DA4-843E-2109-5FED43776676}"/>
              </a:ext>
            </a:extLst>
          </p:cNvPr>
          <p:cNvSpPr>
            <a:spLocks noGrp="1"/>
          </p:cNvSpPr>
          <p:nvPr>
            <p:ph type="chart" sz="quarter" idx="15"/>
          </p:nvPr>
        </p:nvSpPr>
        <p:spPr>
          <a:xfrm>
            <a:off x="995361" y="2235228"/>
            <a:ext cx="10192299" cy="1472920"/>
          </a:xfrm>
        </p:spPr>
        <p:txBody>
          <a:bodyPr lIns="72000" tIns="0" rIns="72000" bIns="0"/>
          <a:lstStyle>
            <a:lvl1pPr>
              <a:defRPr sz="1000" b="1">
                <a:solidFill>
                  <a:schemeClr val="tx2"/>
                </a:solidFill>
              </a:defRPr>
            </a:lvl1pPr>
          </a:lstStyle>
          <a:p>
            <a:r>
              <a:rPr lang="en-US"/>
              <a:t>Click icon to add chart</a:t>
            </a:r>
            <a:endParaRPr lang="fi-FI" dirty="0"/>
          </a:p>
        </p:txBody>
      </p:sp>
      <p:sp>
        <p:nvSpPr>
          <p:cNvPr id="23" name="Rectangle 22">
            <a:extLst>
              <a:ext uri="{FF2B5EF4-FFF2-40B4-BE49-F238E27FC236}">
                <a16:creationId xmlns:a16="http://schemas.microsoft.com/office/drawing/2014/main" id="{06C0486A-3F15-194A-0A91-826E5849F9B6}"/>
              </a:ext>
            </a:extLst>
          </p:cNvPr>
          <p:cNvSpPr>
            <a:spLocks/>
          </p:cNvSpPr>
          <p:nvPr userDrawn="1"/>
        </p:nvSpPr>
        <p:spPr>
          <a:xfrm>
            <a:off x="995361" y="1912838"/>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p>
        </p:txBody>
      </p:sp>
      <p:sp>
        <p:nvSpPr>
          <p:cNvPr id="24" name="Text Placeholder 13">
            <a:extLst>
              <a:ext uri="{FF2B5EF4-FFF2-40B4-BE49-F238E27FC236}">
                <a16:creationId xmlns:a16="http://schemas.microsoft.com/office/drawing/2014/main" id="{A9A157EA-5678-21CC-9C39-8123403A4164}"/>
              </a:ext>
            </a:extLst>
          </p:cNvPr>
          <p:cNvSpPr>
            <a:spLocks noGrp="1"/>
          </p:cNvSpPr>
          <p:nvPr>
            <p:ph type="body" sz="quarter" idx="25" hasCustomPrompt="1"/>
          </p:nvPr>
        </p:nvSpPr>
        <p:spPr>
          <a:xfrm>
            <a:off x="995361" y="1912838"/>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Click to add the heading</a:t>
            </a:r>
          </a:p>
        </p:txBody>
      </p:sp>
      <p:sp>
        <p:nvSpPr>
          <p:cNvPr id="8" name="Chart Placeholder 43">
            <a:extLst>
              <a:ext uri="{FF2B5EF4-FFF2-40B4-BE49-F238E27FC236}">
                <a16:creationId xmlns:a16="http://schemas.microsoft.com/office/drawing/2014/main" id="{47DB99AB-526B-CB6C-C09F-7CDDE0A44C5F}"/>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10" name="Text Placeholder 11">
            <a:extLst>
              <a:ext uri="{FF2B5EF4-FFF2-40B4-BE49-F238E27FC236}">
                <a16:creationId xmlns:a16="http://schemas.microsoft.com/office/drawing/2014/main" id="{8778B5A6-B39D-5C45-C86D-00FE59B08198}"/>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2673694630"/>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0" y="1330126"/>
            <a:ext cx="4968000" cy="4546800"/>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8"/>
          <p:cNvSpPr>
            <a:spLocks noGrp="1"/>
          </p:cNvSpPr>
          <p:nvPr>
            <p:ph type="body" sz="quarter" idx="11"/>
          </p:nvPr>
        </p:nvSpPr>
        <p:spPr>
          <a:xfrm>
            <a:off x="6220800" y="1330126"/>
            <a:ext cx="4968000" cy="4546800"/>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Isosceles Triangle 4">
            <a:extLst>
              <a:ext uri="{FF2B5EF4-FFF2-40B4-BE49-F238E27FC236}">
                <a16:creationId xmlns:a16="http://schemas.microsoft.com/office/drawing/2014/main" id="{061E71DE-4853-4370-BBAC-6004D16293E3}"/>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Isosceles Triangle 5">
            <a:extLst>
              <a:ext uri="{FF2B5EF4-FFF2-40B4-BE49-F238E27FC236}">
                <a16:creationId xmlns:a16="http://schemas.microsoft.com/office/drawing/2014/main" id="{66429A17-496D-4320-B1B2-EB7CC345A78C}"/>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nextslide"/>
            <a:extLst>
              <a:ext uri="{FF2B5EF4-FFF2-40B4-BE49-F238E27FC236}">
                <a16:creationId xmlns:a16="http://schemas.microsoft.com/office/drawing/2014/main" id="{79F6CC12-59D9-4D22-B8A9-43B9D3E822D1}"/>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8" name="Oval 7">
            <a:hlinkClick r:id="" action="ppaction://hlinkshowjump?jump=previousslide"/>
            <a:extLst>
              <a:ext uri="{FF2B5EF4-FFF2-40B4-BE49-F238E27FC236}">
                <a16:creationId xmlns:a16="http://schemas.microsoft.com/office/drawing/2014/main" id="{C7498531-A76A-4257-ABBC-31CFD1C7B0E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10" name="Graphic 9" descr="Home">
            <a:hlinkClick r:id="rId2" action="ppaction://hlinksldjump"/>
            <a:extLst>
              <a:ext uri="{FF2B5EF4-FFF2-40B4-BE49-F238E27FC236}">
                <a16:creationId xmlns:a16="http://schemas.microsoft.com/office/drawing/2014/main" id="{2171C096-F13F-4E5D-8853-9CE9F0D77B9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760996748"/>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ANALYSIS chart on top_2">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22" name="Rectangle 21">
            <a:extLst>
              <a:ext uri="{FF2B5EF4-FFF2-40B4-BE49-F238E27FC236}">
                <a16:creationId xmlns:a16="http://schemas.microsoft.com/office/drawing/2014/main" id="{A99321D5-C8C0-F0E1-AB2F-9AEC66E6E306}"/>
              </a:ext>
            </a:extLst>
          </p:cNvPr>
          <p:cNvSpPr>
            <a:spLocks/>
          </p:cNvSpPr>
          <p:nvPr userDrawn="1"/>
        </p:nvSpPr>
        <p:spPr>
          <a:xfrm>
            <a:off x="995361" y="1911600"/>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dirty="0"/>
          </a:p>
        </p:txBody>
      </p:sp>
      <p:sp>
        <p:nvSpPr>
          <p:cNvPr id="23" name="Text Placeholder 13">
            <a:extLst>
              <a:ext uri="{FF2B5EF4-FFF2-40B4-BE49-F238E27FC236}">
                <a16:creationId xmlns:a16="http://schemas.microsoft.com/office/drawing/2014/main" id="{7C05D918-B59C-0E58-11A7-9AE1956C9375}"/>
              </a:ext>
            </a:extLst>
          </p:cNvPr>
          <p:cNvSpPr>
            <a:spLocks noGrp="1"/>
          </p:cNvSpPr>
          <p:nvPr>
            <p:ph type="body" sz="quarter" idx="25" hasCustomPrompt="1"/>
          </p:nvPr>
        </p:nvSpPr>
        <p:spPr>
          <a:xfrm>
            <a:off x="995361" y="1911600"/>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Click to add the heading</a:t>
            </a:r>
          </a:p>
        </p:txBody>
      </p:sp>
      <p:sp>
        <p:nvSpPr>
          <p:cNvPr id="8" name="Text Placeholder 8">
            <a:extLst>
              <a:ext uri="{FF2B5EF4-FFF2-40B4-BE49-F238E27FC236}">
                <a16:creationId xmlns:a16="http://schemas.microsoft.com/office/drawing/2014/main" id="{A06C8A57-0198-A7DD-D4E1-019C53DF1780}"/>
              </a:ext>
            </a:extLst>
          </p:cNvPr>
          <p:cNvSpPr>
            <a:spLocks noGrp="1"/>
          </p:cNvSpPr>
          <p:nvPr>
            <p:ph type="body" sz="quarter" idx="18" hasCustomPrompt="1"/>
          </p:nvPr>
        </p:nvSpPr>
        <p:spPr>
          <a:xfrm>
            <a:off x="995361" y="3895199"/>
            <a:ext cx="5036400" cy="1981725"/>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8">
            <a:extLst>
              <a:ext uri="{FF2B5EF4-FFF2-40B4-BE49-F238E27FC236}">
                <a16:creationId xmlns:a16="http://schemas.microsoft.com/office/drawing/2014/main" id="{BF70E529-7FA1-B36A-3BFB-31C98B6A52E0}"/>
              </a:ext>
            </a:extLst>
          </p:cNvPr>
          <p:cNvSpPr>
            <a:spLocks noGrp="1"/>
          </p:cNvSpPr>
          <p:nvPr>
            <p:ph type="body" sz="quarter" idx="19" hasCustomPrompt="1"/>
          </p:nvPr>
        </p:nvSpPr>
        <p:spPr>
          <a:xfrm>
            <a:off x="6175864" y="3895200"/>
            <a:ext cx="5023949" cy="197891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hart Placeholder 43">
            <a:extLst>
              <a:ext uri="{FF2B5EF4-FFF2-40B4-BE49-F238E27FC236}">
                <a16:creationId xmlns:a16="http://schemas.microsoft.com/office/drawing/2014/main" id="{6AB85E31-6BDB-93A2-8B61-DB2292376D21}"/>
              </a:ext>
            </a:extLst>
          </p:cNvPr>
          <p:cNvSpPr>
            <a:spLocks noGrp="1"/>
          </p:cNvSpPr>
          <p:nvPr>
            <p:ph type="chart" sz="quarter" idx="15"/>
          </p:nvPr>
        </p:nvSpPr>
        <p:spPr>
          <a:xfrm>
            <a:off x="995361" y="2235228"/>
            <a:ext cx="10192299" cy="1472920"/>
          </a:xfrm>
        </p:spPr>
        <p:txBody>
          <a:bodyPr lIns="72000" tIns="0" rIns="72000" bIns="0"/>
          <a:lstStyle>
            <a:lvl1pPr>
              <a:defRPr sz="1000" b="1">
                <a:solidFill>
                  <a:schemeClr val="tx2"/>
                </a:solidFill>
              </a:defRPr>
            </a:lvl1pPr>
          </a:lstStyle>
          <a:p>
            <a:r>
              <a:rPr lang="en-US"/>
              <a:t>Click icon to add chart</a:t>
            </a:r>
            <a:endParaRPr lang="fi-FI" dirty="0"/>
          </a:p>
        </p:txBody>
      </p:sp>
    </p:spTree>
    <p:extLst>
      <p:ext uri="{BB962C8B-B14F-4D97-AF65-F5344CB8AC3E}">
        <p14:creationId xmlns:p14="http://schemas.microsoft.com/office/powerpoint/2010/main" val="1767814240"/>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65898EE8-27BC-4254-A1BB-EC9D5B703372}"/>
              </a:ext>
            </a:extLst>
          </p:cNvPr>
          <p:cNvGraphicFramePr>
            <a:graphicFrameLocks noChangeAspect="1"/>
          </p:cNvGraphicFramePr>
          <p:nvPr userDrawn="1">
            <p:custDataLst>
              <p:tags r:id="rId1"/>
            </p:custDataLst>
            <p:extLst>
              <p:ext uri="{D42A27DB-BD31-4B8C-83A1-F6EECF244321}">
                <p14:modId xmlns:p14="http://schemas.microsoft.com/office/powerpoint/2010/main" val="1116882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9" name="Object 8" hidden="1">
                        <a:extLst>
                          <a:ext uri="{FF2B5EF4-FFF2-40B4-BE49-F238E27FC236}">
                            <a16:creationId xmlns:a16="http://schemas.microsoft.com/office/drawing/2014/main" id="{65898EE8-27BC-4254-A1BB-EC9D5B7033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1003200" y="432000"/>
            <a:ext cx="10185600" cy="518400"/>
          </a:xfrm>
        </p:spPr>
        <p:txBody>
          <a:bodyPr vert="horz"/>
          <a:lstStyle/>
          <a:p>
            <a:r>
              <a:rPr lang="en-US"/>
              <a:t>Click to edit Master title style</a:t>
            </a:r>
            <a:endParaRPr lang="en-US" dirty="0"/>
          </a:p>
        </p:txBody>
      </p:sp>
      <p:sp>
        <p:nvSpPr>
          <p:cNvPr id="5" name="Isosceles Triangle 4">
            <a:extLst>
              <a:ext uri="{FF2B5EF4-FFF2-40B4-BE49-F238E27FC236}">
                <a16:creationId xmlns:a16="http://schemas.microsoft.com/office/drawing/2014/main" id="{061E71DE-4853-4370-BBAC-6004D16293E3}"/>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Isosceles Triangle 5">
            <a:extLst>
              <a:ext uri="{FF2B5EF4-FFF2-40B4-BE49-F238E27FC236}">
                <a16:creationId xmlns:a16="http://schemas.microsoft.com/office/drawing/2014/main" id="{66429A17-496D-4320-B1B2-EB7CC345A78C}"/>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nextslide"/>
            <a:extLst>
              <a:ext uri="{FF2B5EF4-FFF2-40B4-BE49-F238E27FC236}">
                <a16:creationId xmlns:a16="http://schemas.microsoft.com/office/drawing/2014/main" id="{79F6CC12-59D9-4D22-B8A9-43B9D3E822D1}"/>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8" name="Oval 7">
            <a:hlinkClick r:id="" action="ppaction://hlinkshowjump?jump=previousslide"/>
            <a:extLst>
              <a:ext uri="{FF2B5EF4-FFF2-40B4-BE49-F238E27FC236}">
                <a16:creationId xmlns:a16="http://schemas.microsoft.com/office/drawing/2014/main" id="{C7498531-A76A-4257-ABBC-31CFD1C7B0E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10" name="Graphic 9" descr="Home">
            <a:hlinkClick r:id="rId5" action="ppaction://hlinksldjump"/>
            <a:extLst>
              <a:ext uri="{FF2B5EF4-FFF2-40B4-BE49-F238E27FC236}">
                <a16:creationId xmlns:a16="http://schemas.microsoft.com/office/drawing/2014/main" id="{2171C096-F13F-4E5D-8853-9CE9F0D77B92}"/>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1" name="Text Placeholder 9">
            <a:extLst>
              <a:ext uri="{FF2B5EF4-FFF2-40B4-BE49-F238E27FC236}">
                <a16:creationId xmlns:a16="http://schemas.microsoft.com/office/drawing/2014/main" id="{9F89903B-ACCC-4301-9952-F6D2F490FB01}"/>
              </a:ext>
            </a:extLst>
          </p:cNvPr>
          <p:cNvSpPr>
            <a:spLocks noGrp="1"/>
          </p:cNvSpPr>
          <p:nvPr>
            <p:ph type="body" sz="quarter" idx="10"/>
          </p:nvPr>
        </p:nvSpPr>
        <p:spPr>
          <a:xfrm>
            <a:off x="995360" y="1340768"/>
            <a:ext cx="3222000" cy="4524627"/>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12" name="Text Placeholder 9">
            <a:extLst>
              <a:ext uri="{FF2B5EF4-FFF2-40B4-BE49-F238E27FC236}">
                <a16:creationId xmlns:a16="http://schemas.microsoft.com/office/drawing/2014/main" id="{F57D78F5-0E95-49C3-937B-C31D36D0E663}"/>
              </a:ext>
            </a:extLst>
          </p:cNvPr>
          <p:cNvSpPr>
            <a:spLocks noGrp="1"/>
          </p:cNvSpPr>
          <p:nvPr>
            <p:ph type="body" sz="quarter" idx="11"/>
          </p:nvPr>
        </p:nvSpPr>
        <p:spPr>
          <a:xfrm>
            <a:off x="4481080" y="1340768"/>
            <a:ext cx="3222000" cy="4524627"/>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13" name="Text Placeholder 9">
            <a:extLst>
              <a:ext uri="{FF2B5EF4-FFF2-40B4-BE49-F238E27FC236}">
                <a16:creationId xmlns:a16="http://schemas.microsoft.com/office/drawing/2014/main" id="{3A196EFD-117B-456B-BBA3-9DF3052363C0}"/>
              </a:ext>
            </a:extLst>
          </p:cNvPr>
          <p:cNvSpPr>
            <a:spLocks noGrp="1"/>
          </p:cNvSpPr>
          <p:nvPr>
            <p:ph type="body" sz="quarter" idx="12"/>
          </p:nvPr>
        </p:nvSpPr>
        <p:spPr>
          <a:xfrm>
            <a:off x="7966800" y="1340768"/>
            <a:ext cx="3222000" cy="4524627"/>
          </a:xfrm>
        </p:spPr>
        <p:txBody>
          <a:bodyPr/>
          <a:lstStyle>
            <a:lvl1pPr>
              <a:defRPr sz="1000"/>
            </a:lvl1pPr>
            <a:lvl2pPr>
              <a:defRPr sz="1000">
                <a:solidFill>
                  <a:schemeClr val="tx1"/>
                </a:solidFill>
              </a:defRPr>
            </a:lvl2pPr>
            <a:lvl3pPr>
              <a:defRPr sz="1000">
                <a:solidFill>
                  <a:schemeClr val="tx1"/>
                </a:solidFill>
              </a:defRPr>
            </a:lvl3pPr>
            <a:lvl4pPr>
              <a:defRPr sz="1000">
                <a:solidFill>
                  <a:schemeClr val="tx1"/>
                </a:solidFill>
              </a:defRPr>
            </a:lvl4pPr>
            <a:lvl5pP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2590864032"/>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1086707192"/>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ABB layout">
    <p:spTree>
      <p:nvGrpSpPr>
        <p:cNvPr id="1" name=""/>
        <p:cNvGrpSpPr/>
        <p:nvPr/>
      </p:nvGrpSpPr>
      <p:grpSpPr>
        <a:xfrm>
          <a:off x="0" y="0"/>
          <a:ext cx="0" cy="0"/>
          <a:chOff x="0" y="0"/>
          <a:chExt cx="0" cy="0"/>
        </a:xfrm>
      </p:grpSpPr>
      <p:graphicFrame>
        <p:nvGraphicFramePr>
          <p:cNvPr id="71" name="Object 70" hidden="1">
            <a:extLst>
              <a:ext uri="{FF2B5EF4-FFF2-40B4-BE49-F238E27FC236}">
                <a16:creationId xmlns:a16="http://schemas.microsoft.com/office/drawing/2014/main" id="{682AD4F2-B2C5-4582-B067-1F6D7671BC4B}"/>
              </a:ext>
            </a:extLst>
          </p:cNvPr>
          <p:cNvGraphicFramePr>
            <a:graphicFrameLocks noChangeAspect="1"/>
          </p:cNvGraphicFramePr>
          <p:nvPr userDrawn="1">
            <p:custDataLst>
              <p:tags r:id="rId1"/>
            </p:custDataLst>
            <p:extLst>
              <p:ext uri="{D42A27DB-BD31-4B8C-83A1-F6EECF244321}">
                <p14:modId xmlns:p14="http://schemas.microsoft.com/office/powerpoint/2010/main" val="226340496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1" name="Object 70" hidden="1">
                        <a:extLst>
                          <a:ext uri="{FF2B5EF4-FFF2-40B4-BE49-F238E27FC236}">
                            <a16:creationId xmlns:a16="http://schemas.microsoft.com/office/drawing/2014/main" id="{682AD4F2-B2C5-4582-B067-1F6D7671BC4B}"/>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a:t>Click to edit Master title style</a:t>
            </a:r>
            <a:endParaRPr lang="en-GB"/>
          </a:p>
        </p:txBody>
      </p:sp>
      <p:sp>
        <p:nvSpPr>
          <p:cNvPr id="14" name="Text Placeholder 6">
            <a:extLst>
              <a:ext uri="{FF2B5EF4-FFF2-40B4-BE49-F238E27FC236}">
                <a16:creationId xmlns:a16="http://schemas.microsoft.com/office/drawing/2014/main" id="{61B5A8E0-0613-E4FD-DD38-14AA6929BD13}"/>
              </a:ext>
            </a:extLst>
          </p:cNvPr>
          <p:cNvSpPr>
            <a:spLocks noGrp="1"/>
          </p:cNvSpPr>
          <p:nvPr>
            <p:ph type="body" sz="quarter" idx="24" hasCustomPrompt="1"/>
          </p:nvPr>
        </p:nvSpPr>
        <p:spPr>
          <a:xfrm>
            <a:off x="6165629" y="2235228"/>
            <a:ext cx="5036400" cy="972000"/>
          </a:xfrm>
        </p:spPr>
        <p:txBody>
          <a:bodyPr lIns="72000" tIns="0" rIns="72000" bIns="0"/>
          <a:lstStyle/>
          <a:p>
            <a:r>
              <a:rPr lang="en-US" sz="1000" dirty="0"/>
              <a:t>First level</a:t>
            </a:r>
          </a:p>
          <a:p>
            <a:pPr lvl="1"/>
            <a:endParaRPr lang="en-IN" dirty="0"/>
          </a:p>
        </p:txBody>
      </p:sp>
      <p:sp>
        <p:nvSpPr>
          <p:cNvPr id="2" name="Text Placeholder 6">
            <a:extLst>
              <a:ext uri="{FF2B5EF4-FFF2-40B4-BE49-F238E27FC236}">
                <a16:creationId xmlns:a16="http://schemas.microsoft.com/office/drawing/2014/main" id="{069AFC1B-51F4-D3F9-1B56-C93BB0B2D0FB}"/>
              </a:ext>
            </a:extLst>
          </p:cNvPr>
          <p:cNvSpPr>
            <a:spLocks noGrp="1"/>
          </p:cNvSpPr>
          <p:nvPr>
            <p:ph type="body" sz="quarter" idx="26" hasCustomPrompt="1"/>
          </p:nvPr>
        </p:nvSpPr>
        <p:spPr>
          <a:xfrm>
            <a:off x="6165629" y="3585084"/>
            <a:ext cx="2448000" cy="936000"/>
          </a:xfrm>
        </p:spPr>
        <p:txBody>
          <a:bodyPr lIns="72000" tIns="0" rIns="72000" bIns="0"/>
          <a:lstStyle/>
          <a:p>
            <a:r>
              <a:rPr lang="en-US" sz="1000" dirty="0"/>
              <a:t>First level</a:t>
            </a:r>
          </a:p>
          <a:p>
            <a:pPr lvl="1"/>
            <a:endParaRPr lang="en-IN" dirty="0"/>
          </a:p>
        </p:txBody>
      </p:sp>
      <p:sp>
        <p:nvSpPr>
          <p:cNvPr id="9" name="Rectangle 8">
            <a:extLst>
              <a:ext uri="{FF2B5EF4-FFF2-40B4-BE49-F238E27FC236}">
                <a16:creationId xmlns:a16="http://schemas.microsoft.com/office/drawing/2014/main" id="{489A0136-2FBC-FD4C-34A6-971735548F29}"/>
              </a:ext>
            </a:extLst>
          </p:cNvPr>
          <p:cNvSpPr>
            <a:spLocks/>
          </p:cNvSpPr>
          <p:nvPr userDrawn="1"/>
        </p:nvSpPr>
        <p:spPr>
          <a:xfrm>
            <a:off x="6165629" y="3246555"/>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dirty="0"/>
          </a:p>
        </p:txBody>
      </p:sp>
      <p:sp>
        <p:nvSpPr>
          <p:cNvPr id="10" name="Text Placeholder 14">
            <a:extLst>
              <a:ext uri="{FF2B5EF4-FFF2-40B4-BE49-F238E27FC236}">
                <a16:creationId xmlns:a16="http://schemas.microsoft.com/office/drawing/2014/main" id="{1041EC18-E395-22F7-858D-8E7DBE755584}"/>
              </a:ext>
            </a:extLst>
          </p:cNvPr>
          <p:cNvSpPr>
            <a:spLocks noGrp="1"/>
          </p:cNvSpPr>
          <p:nvPr>
            <p:ph type="body" sz="quarter" idx="27"/>
          </p:nvPr>
        </p:nvSpPr>
        <p:spPr>
          <a:xfrm>
            <a:off x="6168935" y="3260955"/>
            <a:ext cx="5036400"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Click to edit Master text styles</a:t>
            </a:r>
          </a:p>
        </p:txBody>
      </p:sp>
      <p:sp>
        <p:nvSpPr>
          <p:cNvPr id="11" name="Text Placeholder 6">
            <a:extLst>
              <a:ext uri="{FF2B5EF4-FFF2-40B4-BE49-F238E27FC236}">
                <a16:creationId xmlns:a16="http://schemas.microsoft.com/office/drawing/2014/main" id="{21603C95-B46C-CC80-9A8C-CC09FF5D3329}"/>
              </a:ext>
            </a:extLst>
          </p:cNvPr>
          <p:cNvSpPr>
            <a:spLocks noGrp="1"/>
          </p:cNvSpPr>
          <p:nvPr>
            <p:ph type="body" sz="quarter" idx="28" hasCustomPrompt="1"/>
          </p:nvPr>
        </p:nvSpPr>
        <p:spPr>
          <a:xfrm>
            <a:off x="6177516" y="4895400"/>
            <a:ext cx="5016085" cy="972000"/>
          </a:xfrm>
        </p:spPr>
        <p:txBody>
          <a:bodyPr lIns="72000" tIns="0" rIns="72000" bIns="0"/>
          <a:lstStyle/>
          <a:p>
            <a:r>
              <a:rPr lang="en-US" sz="1000" dirty="0"/>
              <a:t>First level</a:t>
            </a:r>
          </a:p>
          <a:p>
            <a:pPr lvl="1"/>
            <a:endParaRPr lang="en-IN" dirty="0"/>
          </a:p>
        </p:txBody>
      </p:sp>
      <p:sp>
        <p:nvSpPr>
          <p:cNvPr id="15" name="Text Placeholder 6">
            <a:extLst>
              <a:ext uri="{FF2B5EF4-FFF2-40B4-BE49-F238E27FC236}">
                <a16:creationId xmlns:a16="http://schemas.microsoft.com/office/drawing/2014/main" id="{83D37FDE-2C3B-6DB1-D933-83B05D727599}"/>
              </a:ext>
            </a:extLst>
          </p:cNvPr>
          <p:cNvSpPr>
            <a:spLocks noGrp="1"/>
          </p:cNvSpPr>
          <p:nvPr>
            <p:ph type="body" sz="quarter" idx="30" hasCustomPrompt="1"/>
          </p:nvPr>
        </p:nvSpPr>
        <p:spPr>
          <a:xfrm>
            <a:off x="8749193" y="3580016"/>
            <a:ext cx="2448000" cy="936000"/>
          </a:xfrm>
        </p:spPr>
        <p:txBody>
          <a:bodyPr lIns="72000" tIns="0" rIns="72000" bIns="0"/>
          <a:lstStyle/>
          <a:p>
            <a:r>
              <a:rPr lang="en-US" sz="1000" dirty="0"/>
              <a:t>First level</a:t>
            </a:r>
          </a:p>
          <a:p>
            <a:pPr lvl="1"/>
            <a:endParaRPr lang="en-IN" dirty="0"/>
          </a:p>
        </p:txBody>
      </p:sp>
      <p:sp>
        <p:nvSpPr>
          <p:cNvPr id="16" name="Text Placeholder 6">
            <a:extLst>
              <a:ext uri="{FF2B5EF4-FFF2-40B4-BE49-F238E27FC236}">
                <a16:creationId xmlns:a16="http://schemas.microsoft.com/office/drawing/2014/main" id="{40DC5772-BBE7-ACA2-B5F6-DBE8682EB3F7}"/>
              </a:ext>
            </a:extLst>
          </p:cNvPr>
          <p:cNvSpPr>
            <a:spLocks noGrp="1"/>
          </p:cNvSpPr>
          <p:nvPr>
            <p:ph type="body" sz="quarter" idx="31" hasCustomPrompt="1"/>
          </p:nvPr>
        </p:nvSpPr>
        <p:spPr>
          <a:xfrm>
            <a:off x="995361" y="2235228"/>
            <a:ext cx="5024925" cy="2174547"/>
          </a:xfrm>
        </p:spPr>
        <p:txBody>
          <a:bodyPr lIns="72000" tIns="0" rIns="72000" bIns="0"/>
          <a:lstStyle/>
          <a:p>
            <a:r>
              <a:rPr lang="en-US" sz="1000" dirty="0"/>
              <a:t>First level</a:t>
            </a:r>
          </a:p>
          <a:p>
            <a:pPr lvl="1"/>
            <a:endParaRPr lang="en-IN" dirty="0"/>
          </a:p>
        </p:txBody>
      </p:sp>
      <p:sp>
        <p:nvSpPr>
          <p:cNvPr id="25" name="Text Placeholder 6">
            <a:extLst>
              <a:ext uri="{FF2B5EF4-FFF2-40B4-BE49-F238E27FC236}">
                <a16:creationId xmlns:a16="http://schemas.microsoft.com/office/drawing/2014/main" id="{EF1A851D-08B8-F802-C488-D5224C1A44FF}"/>
              </a:ext>
            </a:extLst>
          </p:cNvPr>
          <p:cNvSpPr>
            <a:spLocks noGrp="1"/>
          </p:cNvSpPr>
          <p:nvPr>
            <p:ph type="body" sz="quarter" idx="33" hasCustomPrompt="1"/>
          </p:nvPr>
        </p:nvSpPr>
        <p:spPr>
          <a:xfrm>
            <a:off x="995361" y="4895400"/>
            <a:ext cx="5024925" cy="972000"/>
          </a:xfrm>
        </p:spPr>
        <p:txBody>
          <a:bodyPr lIns="72000" tIns="0" rIns="72000" bIns="0"/>
          <a:lstStyle/>
          <a:p>
            <a:r>
              <a:rPr lang="en-US" sz="1000" dirty="0"/>
              <a:t>First level</a:t>
            </a:r>
          </a:p>
          <a:p>
            <a:pPr lvl="1"/>
            <a:endParaRPr lang="en-IN" dirty="0"/>
          </a:p>
        </p:txBody>
      </p:sp>
      <p:sp>
        <p:nvSpPr>
          <p:cNvPr id="26" name="Text Placeholder 25">
            <a:extLst>
              <a:ext uri="{FF2B5EF4-FFF2-40B4-BE49-F238E27FC236}">
                <a16:creationId xmlns:a16="http://schemas.microsoft.com/office/drawing/2014/main" id="{F3207130-1020-3E41-0632-D01092DF76D9}"/>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7" name="Text Placeholder 25">
            <a:extLst>
              <a:ext uri="{FF2B5EF4-FFF2-40B4-BE49-F238E27FC236}">
                <a16:creationId xmlns:a16="http://schemas.microsoft.com/office/drawing/2014/main" id="{2231C0BE-3E55-88F2-9CED-EB5FB2FAB912}"/>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8" name="Text Placeholder 25">
            <a:extLst>
              <a:ext uri="{FF2B5EF4-FFF2-40B4-BE49-F238E27FC236}">
                <a16:creationId xmlns:a16="http://schemas.microsoft.com/office/drawing/2014/main" id="{B8DE051A-5B86-6E8B-577E-C288EC91BE8E}"/>
              </a:ext>
            </a:extLst>
          </p:cNvPr>
          <p:cNvSpPr>
            <a:spLocks noGrp="1"/>
          </p:cNvSpPr>
          <p:nvPr>
            <p:ph type="body" sz="quarter" idx="34" hasCustomPrompt="1"/>
          </p:nvPr>
        </p:nvSpPr>
        <p:spPr>
          <a:xfrm>
            <a:off x="6157201" y="457342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9" name="Text Placeholder 25">
            <a:extLst>
              <a:ext uri="{FF2B5EF4-FFF2-40B4-BE49-F238E27FC236}">
                <a16:creationId xmlns:a16="http://schemas.microsoft.com/office/drawing/2014/main" id="{4FACAA95-0F35-E305-D893-CEEDAB390A78}"/>
              </a:ext>
            </a:extLst>
          </p:cNvPr>
          <p:cNvSpPr>
            <a:spLocks noGrp="1"/>
          </p:cNvSpPr>
          <p:nvPr>
            <p:ph type="body" sz="quarter" idx="35" hasCustomPrompt="1"/>
          </p:nvPr>
        </p:nvSpPr>
        <p:spPr>
          <a:xfrm>
            <a:off x="995361" y="457342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32" name="Chart Placeholder 43">
            <a:extLst>
              <a:ext uri="{FF2B5EF4-FFF2-40B4-BE49-F238E27FC236}">
                <a16:creationId xmlns:a16="http://schemas.microsoft.com/office/drawing/2014/main" id="{937D1BF9-67C4-6EE3-06F4-0EE92767D733}"/>
              </a:ext>
            </a:extLst>
          </p:cNvPr>
          <p:cNvSpPr>
            <a:spLocks noGrp="1"/>
          </p:cNvSpPr>
          <p:nvPr>
            <p:ph type="chart" sz="quarter" idx="12" hasCustomPrompt="1"/>
          </p:nvPr>
        </p:nvSpPr>
        <p:spPr>
          <a:xfrm>
            <a:off x="8717873" y="1340768"/>
            <a:ext cx="2475728" cy="460800"/>
          </a:xfrm>
        </p:spPr>
        <p:txBody>
          <a:bodyPr lIns="72000"/>
          <a:lstStyle>
            <a:lvl1pPr>
              <a:defRPr sz="1000" b="1">
                <a:solidFill>
                  <a:schemeClr val="tx2"/>
                </a:solidFill>
              </a:defRPr>
            </a:lvl1pPr>
          </a:lstStyle>
          <a:p>
            <a:r>
              <a:rPr lang="fi-FI" dirty="0"/>
              <a:t>Add summary chart here</a:t>
            </a:r>
          </a:p>
        </p:txBody>
      </p:sp>
      <p:sp>
        <p:nvSpPr>
          <p:cNvPr id="33" name="Text Placeholder 11">
            <a:extLst>
              <a:ext uri="{FF2B5EF4-FFF2-40B4-BE49-F238E27FC236}">
                <a16:creationId xmlns:a16="http://schemas.microsoft.com/office/drawing/2014/main" id="{DC2328AE-CB9C-8F2E-7F0A-5622F3A3282C}"/>
              </a:ext>
            </a:extLst>
          </p:cNvPr>
          <p:cNvSpPr>
            <a:spLocks noGrp="1"/>
          </p:cNvSpPr>
          <p:nvPr>
            <p:ph type="body" sz="quarter" idx="10" hasCustomPrompt="1"/>
          </p:nvPr>
        </p:nvSpPr>
        <p:spPr>
          <a:xfrm>
            <a:off x="995361" y="1340768"/>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1143563027"/>
      </p:ext>
    </p:extLst>
  </p:cSld>
  <p:clrMapOvr>
    <a:masterClrMapping/>
  </p:clrMapOvr>
  <p:extLst>
    <p:ext uri="{DCECCB84-F9BA-43D5-87BE-67443E8EF086}">
      <p15:sldGuideLst xmlns:p15="http://schemas.microsoft.com/office/powerpoint/2012/main"/>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userDrawn="1">
  <p:cSld name="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1278481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404B5F02-6946-4796-B93B-3238A3C22A56}"/>
              </a:ext>
            </a:extLst>
          </p:cNvPr>
          <p:cNvSpPr/>
          <p:nvPr userDrawn="1"/>
        </p:nvSpPr>
        <p:spPr>
          <a:xfrm>
            <a:off x="1810753" y="6271101"/>
            <a:ext cx="5877426" cy="310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kern="1200" noProof="0" dirty="0">
                <a:solidFill>
                  <a:schemeClr val="bg1">
                    <a:lumMod val="65000"/>
                  </a:schemeClr>
                </a:solidFill>
                <a:latin typeface="+mn-lt"/>
                <a:ea typeface="+mn-ea"/>
                <a:cs typeface="+mn-cs"/>
              </a:rPr>
              <a:t>© 2023 KPMG LLP, a UK limited liability partnership and a member firm of the KPMG global organisation of independent member firms affiliated with KPMG International Limited, a private English company limited by guarantee. All rights reserved</a:t>
            </a:r>
            <a:endParaRPr lang="fi-FI" sz="1500" dirty="0" err="1">
              <a:solidFill>
                <a:schemeClr val="bg1"/>
              </a:solidFill>
            </a:endParaRPr>
          </a:p>
        </p:txBody>
      </p:sp>
      <p:sp>
        <p:nvSpPr>
          <p:cNvPr id="15" name="Text Placeholder 8">
            <a:extLst>
              <a:ext uri="{FF2B5EF4-FFF2-40B4-BE49-F238E27FC236}">
                <a16:creationId xmlns:a16="http://schemas.microsoft.com/office/drawing/2014/main" id="{BAAD9B2C-D98A-43EC-8DB5-925EAC45CB70}"/>
              </a:ext>
            </a:extLst>
          </p:cNvPr>
          <p:cNvSpPr>
            <a:spLocks noGrp="1"/>
          </p:cNvSpPr>
          <p:nvPr>
            <p:ph type="body" sz="quarter" idx="12" hasCustomPrompt="1"/>
          </p:nvPr>
        </p:nvSpPr>
        <p:spPr>
          <a:xfrm>
            <a:off x="1009216" y="1332698"/>
            <a:ext cx="4961984" cy="750665"/>
          </a:xfrm>
        </p:spPr>
        <p:txBody>
          <a:bodyPr/>
          <a:lstStyle/>
          <a:p>
            <a:pPr>
              <a:spcAft>
                <a:spcPts val="300"/>
              </a:spcAft>
            </a:pPr>
            <a:r>
              <a:rPr lang="en-US" sz="900" b="0" spc="-20" dirty="0">
                <a:solidFill>
                  <a:schemeClr val="tx2"/>
                </a:solidFill>
              </a:rPr>
              <a:t>[</a:t>
            </a:r>
            <a:r>
              <a:rPr lang="en-US" sz="900" b="0" spc="-20" dirty="0">
                <a:solidFill>
                  <a:srgbClr val="FD349C"/>
                </a:solidFill>
              </a:rPr>
              <a:t>Company name</a:t>
            </a:r>
            <a:r>
              <a:rPr lang="en-US" sz="900" b="0" spc="-20" dirty="0">
                <a:solidFill>
                  <a:schemeClr val="tx2"/>
                </a:solidFill>
              </a:rPr>
              <a:t>]</a:t>
            </a:r>
          </a:p>
          <a:p>
            <a:pPr>
              <a:spcAft>
                <a:spcPts val="300"/>
              </a:spcAft>
            </a:pPr>
            <a:r>
              <a:rPr lang="en-US" sz="900" b="0" spc="-20" dirty="0" err="1">
                <a:solidFill>
                  <a:schemeClr val="tx2"/>
                </a:solidFill>
              </a:rPr>
              <a:t>Att</a:t>
            </a:r>
            <a:r>
              <a:rPr lang="en-US" sz="900" b="0" spc="-20" dirty="0">
                <a:solidFill>
                  <a:schemeClr val="tx2"/>
                </a:solidFill>
              </a:rPr>
              <a:t>: [</a:t>
            </a:r>
            <a:r>
              <a:rPr lang="en-US" sz="900" b="0" spc="-20" dirty="0">
                <a:solidFill>
                  <a:srgbClr val="FD349C"/>
                </a:solidFill>
              </a:rPr>
              <a:t>client name</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1</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2</a:t>
            </a:r>
            <a:r>
              <a:rPr lang="en-US" sz="900" b="0" spc="-20" dirty="0">
                <a:solidFill>
                  <a:schemeClr val="tx2"/>
                </a:solidFill>
              </a:rPr>
              <a:t>]</a:t>
            </a:r>
            <a:endParaRPr lang="en-US" sz="900" dirty="0">
              <a:solidFill>
                <a:schemeClr val="tx2"/>
              </a:solidFill>
              <a:latin typeface="Arial" panose="020B0604020202020204" pitchFamily="34" charset="0"/>
              <a:cs typeface="Arial" panose="020B0604020202020204" pitchFamily="34" charset="0"/>
            </a:endParaRPr>
          </a:p>
        </p:txBody>
      </p:sp>
      <p:sp>
        <p:nvSpPr>
          <p:cNvPr id="4" name="Isosceles Triangle 3">
            <a:extLst>
              <a:ext uri="{FF2B5EF4-FFF2-40B4-BE49-F238E27FC236}">
                <a16:creationId xmlns:a16="http://schemas.microsoft.com/office/drawing/2014/main" id="{B2117C5D-2BB5-4624-B067-7A0F49366CA3}"/>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5" name="Isosceles Triangle 4">
            <a:extLst>
              <a:ext uri="{FF2B5EF4-FFF2-40B4-BE49-F238E27FC236}">
                <a16:creationId xmlns:a16="http://schemas.microsoft.com/office/drawing/2014/main" id="{2154DA59-D996-427B-AE70-AC47E36E8C75}"/>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A591258-82E7-4932-9298-029A18D7D344}"/>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EFCF043-CC58-43AC-95A3-044F0F9CACF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1F8C0E96-565F-4DF7-8426-A02CB603D8CF}"/>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10" name="Text Placeholder 8">
            <a:extLst>
              <a:ext uri="{FF2B5EF4-FFF2-40B4-BE49-F238E27FC236}">
                <a16:creationId xmlns:a16="http://schemas.microsoft.com/office/drawing/2014/main" id="{7BBB9F2A-97C8-4DBE-BEC7-A74C9B7A7FDA}"/>
              </a:ext>
            </a:extLst>
          </p:cNvPr>
          <p:cNvSpPr>
            <a:spLocks noGrp="1"/>
          </p:cNvSpPr>
          <p:nvPr>
            <p:ph type="body" sz="quarter" idx="10"/>
          </p:nvPr>
        </p:nvSpPr>
        <p:spPr>
          <a:xfrm>
            <a:off x="1003200" y="2345461"/>
            <a:ext cx="4968000" cy="3071557"/>
          </a:xfrm>
        </p:spPr>
        <p:txBody>
          <a:bodyPr/>
          <a:lstStyle/>
          <a:p>
            <a:pPr>
              <a:spcAft>
                <a:spcPts val="300"/>
              </a:spcAft>
            </a:pPr>
            <a:endParaRPr lang="en-US" sz="900" b="0" spc="-20" dirty="0"/>
          </a:p>
        </p:txBody>
      </p:sp>
      <p:sp>
        <p:nvSpPr>
          <p:cNvPr id="12" name="Text Box 32">
            <a:extLst>
              <a:ext uri="{FF2B5EF4-FFF2-40B4-BE49-F238E27FC236}">
                <a16:creationId xmlns:a16="http://schemas.microsoft.com/office/drawing/2014/main" id="{6BD707DD-2562-4C6C-8676-C469CD2B6D79}"/>
              </a:ext>
            </a:extLst>
          </p:cNvPr>
          <p:cNvSpPr txBox="1">
            <a:spLocks noChangeArrowheads="1"/>
          </p:cNvSpPr>
          <p:nvPr userDrawn="1"/>
        </p:nvSpPr>
        <p:spPr bwMode="auto">
          <a:xfrm>
            <a:off x="1012563" y="431800"/>
            <a:ext cx="3234584" cy="830997"/>
          </a:xfrm>
          <a:prstGeom prst="rect">
            <a:avLst/>
          </a:prstGeom>
          <a:noFill/>
          <a:ln w="6350">
            <a:noFill/>
            <a:miter lim="800000"/>
            <a:headEnd/>
            <a:tailEnd/>
          </a:ln>
          <a:effectLst/>
        </p:spPr>
        <p:txBody>
          <a:bodyPr wrap="square" lIns="0" tIns="0" rIns="0" bIns="0">
            <a:spAutoFit/>
          </a:bodyPr>
          <a:lstStyle/>
          <a:p>
            <a:pPr hangingPunct="0"/>
            <a:r>
              <a:rPr lang="en-US" sz="900" b="1" dirty="0">
                <a:solidFill>
                  <a:schemeClr val="tx2"/>
                </a:solidFill>
                <a:latin typeface="Arial" panose="020B0604020202020204" pitchFamily="34" charset="0"/>
                <a:cs typeface="Arial" panose="020B0604020202020204" pitchFamily="34" charset="0"/>
              </a:rPr>
              <a:t>KPMG [</a:t>
            </a:r>
            <a:r>
              <a:rPr lang="en-US" sz="900" spc="-20" dirty="0">
                <a:solidFill>
                  <a:schemeClr val="tx2"/>
                </a:solidFill>
              </a:rPr>
              <a:t>legal name</a:t>
            </a:r>
            <a:r>
              <a:rPr lang="en-US" sz="900" b="1"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chemeClr val="tx2"/>
                </a:solidFill>
              </a:rPr>
              <a:t>Address line 1</a:t>
            </a:r>
            <a:r>
              <a:rPr lang="en-US" sz="900"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chemeClr val="tx2"/>
                </a:solidFill>
              </a:rPr>
              <a:t>Address line 2</a:t>
            </a:r>
            <a:r>
              <a:rPr lang="en-US" sz="900" dirty="0">
                <a:solidFill>
                  <a:schemeClr val="tx2"/>
                </a:solidFill>
                <a:latin typeface="Arial" panose="020B0604020202020204" pitchFamily="34" charset="0"/>
                <a:cs typeface="Arial" panose="020B0604020202020204" pitchFamily="34" charset="0"/>
              </a:rPr>
              <a:t>]</a:t>
            </a:r>
          </a:p>
          <a:p>
            <a:pPr hangingPunct="0"/>
            <a:endParaRPr lang="en-US" sz="900" dirty="0">
              <a:solidFill>
                <a:schemeClr val="tx2"/>
              </a:solidFill>
              <a:latin typeface="Arial" panose="020B0604020202020204" pitchFamily="34" charset="0"/>
              <a:cs typeface="Arial" panose="020B0604020202020204" pitchFamily="34" charset="0"/>
            </a:endParaRPr>
          </a:p>
          <a:p>
            <a:pPr hangingPunct="0"/>
            <a:endParaRPr lang="en-US" sz="900" dirty="0">
              <a:solidFill>
                <a:schemeClr val="tx2"/>
              </a:solidFill>
              <a:latin typeface="Arial" panose="020B0604020202020204" pitchFamily="34" charset="0"/>
              <a:cs typeface="Arial" panose="020B0604020202020204" pitchFamily="34" charset="0"/>
            </a:endParaRPr>
          </a:p>
          <a:p>
            <a:pPr>
              <a:spcAft>
                <a:spcPts val="300"/>
              </a:spcAft>
            </a:pPr>
            <a:r>
              <a:rPr lang="en-US" sz="900" b="1" spc="-20" dirty="0">
                <a:solidFill>
                  <a:schemeClr val="tx2"/>
                </a:solidFill>
              </a:rPr>
              <a:t>Private and confidential</a:t>
            </a:r>
            <a:endParaRPr lang="en-US" sz="900" dirty="0">
              <a:solidFill>
                <a:schemeClr val="tx2"/>
              </a:solidFill>
              <a:latin typeface="Arial" panose="020B0604020202020204" pitchFamily="34" charset="0"/>
              <a:cs typeface="Arial" panose="020B0604020202020204" pitchFamily="34" charset="0"/>
            </a:endParaRPr>
          </a:p>
        </p:txBody>
      </p:sp>
      <p:sp>
        <p:nvSpPr>
          <p:cNvPr id="14" name="Text Placeholder 8">
            <a:extLst>
              <a:ext uri="{FF2B5EF4-FFF2-40B4-BE49-F238E27FC236}">
                <a16:creationId xmlns:a16="http://schemas.microsoft.com/office/drawing/2014/main" id="{78BF920B-FA8C-4998-B2E1-FB28E5B5DBDA}"/>
              </a:ext>
            </a:extLst>
          </p:cNvPr>
          <p:cNvSpPr>
            <a:spLocks noGrp="1"/>
          </p:cNvSpPr>
          <p:nvPr>
            <p:ph type="body" sz="quarter" idx="11"/>
          </p:nvPr>
        </p:nvSpPr>
        <p:spPr>
          <a:xfrm>
            <a:off x="6220800" y="2345461"/>
            <a:ext cx="4968000" cy="3071557"/>
          </a:xfrm>
        </p:spPr>
        <p:txBody>
          <a:bodyPr/>
          <a:lstStyle/>
          <a:p>
            <a:pPr>
              <a:spcAft>
                <a:spcPts val="300"/>
              </a:spcAft>
            </a:pPr>
            <a:endParaRPr lang="en-US" sz="900" b="0" spc="-20" dirty="0"/>
          </a:p>
        </p:txBody>
      </p:sp>
      <p:sp>
        <p:nvSpPr>
          <p:cNvPr id="16" name="Text Placeholder 8">
            <a:extLst>
              <a:ext uri="{FF2B5EF4-FFF2-40B4-BE49-F238E27FC236}">
                <a16:creationId xmlns:a16="http://schemas.microsoft.com/office/drawing/2014/main" id="{157D4C23-DFF6-44ED-8C11-3705951954AD}"/>
              </a:ext>
            </a:extLst>
          </p:cNvPr>
          <p:cNvSpPr>
            <a:spLocks noGrp="1"/>
          </p:cNvSpPr>
          <p:nvPr>
            <p:ph type="body" sz="quarter" idx="14" hasCustomPrompt="1"/>
          </p:nvPr>
        </p:nvSpPr>
        <p:spPr>
          <a:xfrm>
            <a:off x="3318758" y="1332698"/>
            <a:ext cx="2652442" cy="310198"/>
          </a:xfrm>
        </p:spPr>
        <p:txBody>
          <a:bodyPr/>
          <a:lstStyle>
            <a:lvl1pPr algn="r">
              <a:defRPr/>
            </a:lvl1pPr>
          </a:lstStyle>
          <a:p>
            <a:pPr>
              <a:spcAft>
                <a:spcPts val="300"/>
              </a:spcAft>
            </a:pPr>
            <a:r>
              <a:rPr lang="en-US" sz="900" b="0" spc="-20">
                <a:solidFill>
                  <a:schemeClr val="tx2"/>
                </a:solidFill>
              </a:rPr>
              <a:t>[</a:t>
            </a:r>
            <a:r>
              <a:rPr lang="en-US" sz="900" b="0" spc="-20">
                <a:solidFill>
                  <a:srgbClr val="FD349C"/>
                </a:solidFill>
              </a:rPr>
              <a:t>date</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4967591"/>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Title and strapline_4 colum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7" name="Text Placeholder 6">
            <a:extLst>
              <a:ext uri="{FF2B5EF4-FFF2-40B4-BE49-F238E27FC236}">
                <a16:creationId xmlns:a16="http://schemas.microsoft.com/office/drawing/2014/main" id="{D39B1F28-5BE0-920C-485E-EBD004E6FEE3}"/>
              </a:ext>
            </a:extLst>
          </p:cNvPr>
          <p:cNvSpPr>
            <a:spLocks noGrp="1"/>
          </p:cNvSpPr>
          <p:nvPr>
            <p:ph type="body" sz="quarter" idx="23" hasCustomPrompt="1"/>
          </p:nvPr>
        </p:nvSpPr>
        <p:spPr>
          <a:xfrm>
            <a:off x="995361" y="2235228"/>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6">
            <a:extLst>
              <a:ext uri="{FF2B5EF4-FFF2-40B4-BE49-F238E27FC236}">
                <a16:creationId xmlns:a16="http://schemas.microsoft.com/office/drawing/2014/main" id="{EC545A67-9AFD-8E78-4FC6-F4DDA2F0DC14}"/>
              </a:ext>
            </a:extLst>
          </p:cNvPr>
          <p:cNvSpPr>
            <a:spLocks noGrp="1"/>
          </p:cNvSpPr>
          <p:nvPr>
            <p:ph type="body" sz="quarter" idx="24" hasCustomPrompt="1"/>
          </p:nvPr>
        </p:nvSpPr>
        <p:spPr>
          <a:xfrm>
            <a:off x="6165629" y="2235228"/>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6">
            <a:extLst>
              <a:ext uri="{FF2B5EF4-FFF2-40B4-BE49-F238E27FC236}">
                <a16:creationId xmlns:a16="http://schemas.microsoft.com/office/drawing/2014/main" id="{110C6C3E-B8AD-8B96-EC03-1CD5078D28AB}"/>
              </a:ext>
            </a:extLst>
          </p:cNvPr>
          <p:cNvSpPr>
            <a:spLocks noGrp="1"/>
          </p:cNvSpPr>
          <p:nvPr>
            <p:ph type="body" sz="quarter" idx="26" hasCustomPrompt="1"/>
          </p:nvPr>
        </p:nvSpPr>
        <p:spPr>
          <a:xfrm>
            <a:off x="995361" y="4247400"/>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6">
            <a:extLst>
              <a:ext uri="{FF2B5EF4-FFF2-40B4-BE49-F238E27FC236}">
                <a16:creationId xmlns:a16="http://schemas.microsoft.com/office/drawing/2014/main" id="{F783E64C-A4C3-8E54-3103-0BB03066D1BC}"/>
              </a:ext>
            </a:extLst>
          </p:cNvPr>
          <p:cNvSpPr>
            <a:spLocks noGrp="1"/>
          </p:cNvSpPr>
          <p:nvPr>
            <p:ph type="body" sz="quarter" idx="27" hasCustomPrompt="1"/>
          </p:nvPr>
        </p:nvSpPr>
        <p:spPr>
          <a:xfrm>
            <a:off x="6160108" y="4247400"/>
            <a:ext cx="5036400" cy="1620000"/>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ext Placeholder 25">
            <a:extLst>
              <a:ext uri="{FF2B5EF4-FFF2-40B4-BE49-F238E27FC236}">
                <a16:creationId xmlns:a16="http://schemas.microsoft.com/office/drawing/2014/main" id="{807DDDD2-8F00-9FCF-D4F9-BE3A3941D7B5}"/>
              </a:ext>
            </a:extLst>
          </p:cNvPr>
          <p:cNvSpPr>
            <a:spLocks noGrp="1"/>
          </p:cNvSpPr>
          <p:nvPr>
            <p:ph type="body" sz="quarter" idx="11" hasCustomPrompt="1"/>
          </p:nvPr>
        </p:nvSpPr>
        <p:spPr>
          <a:xfrm>
            <a:off x="6165629"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25">
            <a:extLst>
              <a:ext uri="{FF2B5EF4-FFF2-40B4-BE49-F238E27FC236}">
                <a16:creationId xmlns:a16="http://schemas.microsoft.com/office/drawing/2014/main" id="{19148179-BB16-C1DF-D153-77ED4B3E9972}"/>
              </a:ext>
            </a:extLst>
          </p:cNvPr>
          <p:cNvSpPr>
            <a:spLocks noGrp="1"/>
          </p:cNvSpPr>
          <p:nvPr>
            <p:ph type="body" sz="quarter" idx="25" hasCustomPrompt="1"/>
          </p:nvPr>
        </p:nvSpPr>
        <p:spPr>
          <a:xfrm>
            <a:off x="995361" y="1912838"/>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1" name="Text Placeholder 25">
            <a:extLst>
              <a:ext uri="{FF2B5EF4-FFF2-40B4-BE49-F238E27FC236}">
                <a16:creationId xmlns:a16="http://schemas.microsoft.com/office/drawing/2014/main" id="{A23192A1-5706-5D97-D3A3-D152925A8F63}"/>
              </a:ext>
            </a:extLst>
          </p:cNvPr>
          <p:cNvSpPr>
            <a:spLocks noGrp="1"/>
          </p:cNvSpPr>
          <p:nvPr>
            <p:ph type="body" sz="quarter" idx="34" hasCustomPrompt="1"/>
          </p:nvPr>
        </p:nvSpPr>
        <p:spPr>
          <a:xfrm>
            <a:off x="6157201" y="3921957"/>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2" name="Text Placeholder 25">
            <a:extLst>
              <a:ext uri="{FF2B5EF4-FFF2-40B4-BE49-F238E27FC236}">
                <a16:creationId xmlns:a16="http://schemas.microsoft.com/office/drawing/2014/main" id="{FC37E04D-55C4-A2F9-AB41-0407BC55D0B5}"/>
              </a:ext>
            </a:extLst>
          </p:cNvPr>
          <p:cNvSpPr>
            <a:spLocks noGrp="1"/>
          </p:cNvSpPr>
          <p:nvPr>
            <p:ph type="body" sz="quarter" idx="35" hasCustomPrompt="1"/>
          </p:nvPr>
        </p:nvSpPr>
        <p:spPr>
          <a:xfrm>
            <a:off x="995361" y="3921957"/>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Tree>
    <p:extLst>
      <p:ext uri="{BB962C8B-B14F-4D97-AF65-F5344CB8AC3E}">
        <p14:creationId xmlns:p14="http://schemas.microsoft.com/office/powerpoint/2010/main" val="1335037855"/>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 name="TextBox 18">
            <a:extLst>
              <a:ext uri="{FF2B5EF4-FFF2-40B4-BE49-F238E27FC236}">
                <a16:creationId xmlns:a16="http://schemas.microsoft.com/office/drawing/2014/main" id="{5F7B43C9-6BC3-4452-B3FB-8B4984BD9C3A}"/>
              </a:ext>
            </a:extLst>
          </p:cNvPr>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endParaRPr lang="en-GB" sz="900" b="1" kern="1200" noProof="0" dirty="0">
              <a:solidFill>
                <a:schemeClr val="bg1"/>
              </a:solidFill>
              <a:latin typeface="+mn-lt"/>
              <a:ea typeface="+mn-ea"/>
              <a:cs typeface="+mn-cs"/>
            </a:endParaRPr>
          </a:p>
        </p:txBody>
      </p:sp>
      <p:sp>
        <p:nvSpPr>
          <p:cNvPr id="18" name="Text Placeholder 2">
            <a:extLst>
              <a:ext uri="{FF2B5EF4-FFF2-40B4-BE49-F238E27FC236}">
                <a16:creationId xmlns:a16="http://schemas.microsoft.com/office/drawing/2014/main" id="{9912FAA0-7774-43FD-AD5B-A78801A81347}"/>
              </a:ext>
            </a:extLst>
          </p:cNvPr>
          <p:cNvSpPr>
            <a:spLocks noGrp="1"/>
          </p:cNvSpPr>
          <p:nvPr>
            <p:ph type="body" sz="quarter" idx="11"/>
          </p:nvPr>
        </p:nvSpPr>
        <p:spPr>
          <a:xfrm>
            <a:off x="989012" y="5370529"/>
            <a:ext cx="6660000" cy="138499"/>
          </a:xfrm>
        </p:spPr>
        <p:txBody>
          <a:bodyPr anchor="b">
            <a:spAutoFit/>
          </a:bodyPr>
          <a:lstStyle>
            <a:lvl1pPr>
              <a:spcAft>
                <a:spcPts val="1000"/>
              </a:spcAft>
              <a:defRPr sz="900" b="0">
                <a:solidFill>
                  <a:schemeClr val="bg1"/>
                </a:solidFill>
              </a:defRPr>
            </a:lvl1pPr>
            <a:lvl2pPr>
              <a:spcAft>
                <a:spcPts val="1000"/>
              </a:spcAft>
              <a:defRPr sz="900" b="0">
                <a:solidFill>
                  <a:schemeClr val="bg1"/>
                </a:solidFill>
              </a:defRPr>
            </a:lvl2pPr>
          </a:lstStyle>
          <a:p>
            <a:pPr lvl="0"/>
            <a:endParaRPr lang="en-US" dirty="0"/>
          </a:p>
        </p:txBody>
      </p:sp>
      <p:grpSp>
        <p:nvGrpSpPr>
          <p:cNvPr id="20" name="Group 19">
            <a:extLst>
              <a:ext uri="{FF2B5EF4-FFF2-40B4-BE49-F238E27FC236}">
                <a16:creationId xmlns:a16="http://schemas.microsoft.com/office/drawing/2014/main" id="{B75D6712-C46E-4B3F-9C1A-1E3B6C20BE0C}"/>
              </a:ext>
            </a:extLst>
          </p:cNvPr>
          <p:cNvGrpSpPr/>
          <p:nvPr userDrawn="1"/>
        </p:nvGrpSpPr>
        <p:grpSpPr>
          <a:xfrm>
            <a:off x="998476" y="4501406"/>
            <a:ext cx="2023200" cy="367957"/>
            <a:chOff x="998476" y="4240429"/>
            <a:chExt cx="2023200" cy="367957"/>
          </a:xfrm>
        </p:grpSpPr>
        <p:sp>
          <p:nvSpPr>
            <p:cNvPr id="21" name="Rectangle 20">
              <a:extLst>
                <a:ext uri="{FF2B5EF4-FFF2-40B4-BE49-F238E27FC236}">
                  <a16:creationId xmlns:a16="http://schemas.microsoft.com/office/drawing/2014/main" id="{3FD414CE-5B6D-4579-937D-40296B6F9C4A}"/>
                </a:ext>
              </a:extLst>
            </p:cNvPr>
            <p:cNvSpPr/>
            <p:nvPr userDrawn="1"/>
          </p:nvSpPr>
          <p:spPr>
            <a:xfrm>
              <a:off x="1441950" y="42774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2" name="Rectangle 21">
              <a:extLst>
                <a:ext uri="{FF2B5EF4-FFF2-40B4-BE49-F238E27FC236}">
                  <a16:creationId xmlns:a16="http://schemas.microsoft.com/office/drawing/2014/main" id="{58FC8D41-E780-4BCE-86DA-DB5275426239}"/>
                </a:ext>
              </a:extLst>
            </p:cNvPr>
            <p:cNvSpPr/>
            <p:nvPr userDrawn="1"/>
          </p:nvSpPr>
          <p:spPr>
            <a:xfrm>
              <a:off x="1877844" y="42774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3" name="Rectangle 22">
              <a:extLst>
                <a:ext uri="{FF2B5EF4-FFF2-40B4-BE49-F238E27FC236}">
                  <a16:creationId xmlns:a16="http://schemas.microsoft.com/office/drawing/2014/main" id="{AA16E231-1BC9-439A-B23B-363759FB5A2A}"/>
                </a:ext>
              </a:extLst>
            </p:cNvPr>
            <p:cNvSpPr/>
            <p:nvPr userDrawn="1"/>
          </p:nvSpPr>
          <p:spPr>
            <a:xfrm>
              <a:off x="2689276" y="42830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4" name="Rectangle 23">
              <a:extLst>
                <a:ext uri="{FF2B5EF4-FFF2-40B4-BE49-F238E27FC236}">
                  <a16:creationId xmlns:a16="http://schemas.microsoft.com/office/drawing/2014/main" id="{D958F02F-E728-4203-850B-CC960EDC8A35}"/>
                </a:ext>
              </a:extLst>
            </p:cNvPr>
            <p:cNvSpPr/>
            <p:nvPr userDrawn="1"/>
          </p:nvSpPr>
          <p:spPr>
            <a:xfrm>
              <a:off x="1025526" y="42830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pic>
          <p:nvPicPr>
            <p:cNvPr id="25" name="Picture 24">
              <a:extLst>
                <a:ext uri="{FF2B5EF4-FFF2-40B4-BE49-F238E27FC236}">
                  <a16:creationId xmlns:a16="http://schemas.microsoft.com/office/drawing/2014/main" id="{EE706006-FE55-4C9E-884B-F4C95D57E0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22950" y="4240429"/>
              <a:ext cx="360000" cy="360000"/>
            </a:xfrm>
            <a:prstGeom prst="rect">
              <a:avLst/>
            </a:prstGeom>
          </p:spPr>
        </p:pic>
        <p:pic>
          <p:nvPicPr>
            <p:cNvPr id="26" name="Picture 25" descr="Icon&#10;&#10;Description automatically generated">
              <a:extLst>
                <a:ext uri="{FF2B5EF4-FFF2-40B4-BE49-F238E27FC236}">
                  <a16:creationId xmlns:a16="http://schemas.microsoft.com/office/drawing/2014/main" id="{BAD7D92E-3F0D-4559-A017-29057205ED4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242336" y="4240429"/>
              <a:ext cx="359648" cy="360000"/>
            </a:xfrm>
            <a:prstGeom prst="rect">
              <a:avLst/>
            </a:prstGeom>
          </p:spPr>
        </p:pic>
        <p:pic>
          <p:nvPicPr>
            <p:cNvPr id="27" name="Picture 26" descr="Logo&#10;&#10;Description automatically generated">
              <a:extLst>
                <a:ext uri="{FF2B5EF4-FFF2-40B4-BE49-F238E27FC236}">
                  <a16:creationId xmlns:a16="http://schemas.microsoft.com/office/drawing/2014/main" id="{0674FCA0-BF93-4E70-85E5-623D244AC3C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14350" y="4248386"/>
              <a:ext cx="360000" cy="360000"/>
            </a:xfrm>
            <a:prstGeom prst="rect">
              <a:avLst/>
            </a:prstGeom>
          </p:spPr>
        </p:pic>
        <p:pic>
          <p:nvPicPr>
            <p:cNvPr id="28" name="Picture 27" descr="Logo&#10;&#10;Description automatically generated">
              <a:extLst>
                <a:ext uri="{FF2B5EF4-FFF2-40B4-BE49-F238E27FC236}">
                  <a16:creationId xmlns:a16="http://schemas.microsoft.com/office/drawing/2014/main" id="{0E03F6AD-EF38-48F6-AC73-E59C2072FD1B}"/>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98476" y="4243175"/>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66E4B78D-D846-4BBE-A2D0-6D95F69D26A7}"/>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661676" y="4240429"/>
              <a:ext cx="360000" cy="360000"/>
            </a:xfrm>
            <a:prstGeom prst="rect">
              <a:avLst/>
            </a:prstGeom>
          </p:spPr>
        </p:pic>
      </p:grpSp>
    </p:spTree>
    <p:extLst>
      <p:ext uri="{BB962C8B-B14F-4D97-AF65-F5344CB8AC3E}">
        <p14:creationId xmlns:p14="http://schemas.microsoft.com/office/powerpoint/2010/main" val="3267273653"/>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Title and strapline only o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Tree>
    <p:extLst>
      <p:ext uri="{BB962C8B-B14F-4D97-AF65-F5344CB8AC3E}">
        <p14:creationId xmlns:p14="http://schemas.microsoft.com/office/powerpoint/2010/main" val="2125310950"/>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p:txBody>
          <a:bodyPr/>
          <a:lstStyle/>
          <a:p>
            <a:r>
              <a:rPr lang="en-US"/>
              <a:t>Click to edit Master title style</a:t>
            </a:r>
            <a:endParaRPr lang="en-GB" dirty="0"/>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Primary Colors</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dirty="0"/>
              <a:t>Spectrum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dirty="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dirty="0"/>
              <a:t>Light Blue</a:t>
            </a:r>
          </a:p>
        </p:txBody>
      </p:sp>
      <p:grpSp>
        <p:nvGrpSpPr>
          <p:cNvPr id="17" name="Group 16">
            <a:extLst>
              <a:ext uri="{FF2B5EF4-FFF2-40B4-BE49-F238E27FC236}">
                <a16:creationId xmlns:a16="http://schemas.microsoft.com/office/drawing/2014/main" id="{56B15E2D-58A0-4506-8A15-E27C173174FA}"/>
              </a:ext>
            </a:extLst>
          </p:cNvPr>
          <p:cNvGrpSpPr/>
          <p:nvPr userDrawn="1"/>
        </p:nvGrpSpPr>
        <p:grpSpPr>
          <a:xfrm>
            <a:off x="2999643" y="1731971"/>
            <a:ext cx="2177326" cy="411225"/>
            <a:chOff x="2992848" y="1717717"/>
            <a:chExt cx="2177326" cy="411225"/>
          </a:xfrm>
        </p:grpSpPr>
        <p:sp>
          <p:nvSpPr>
            <p:cNvPr id="8" name="Rectangle 7">
              <a:extLst>
                <a:ext uri="{FF2B5EF4-FFF2-40B4-BE49-F238E27FC236}">
                  <a16:creationId xmlns:a16="http://schemas.microsoft.com/office/drawing/2014/main" id="{A2309040-9C95-48FE-AA99-4757E8328519}"/>
                </a:ext>
              </a:extLst>
            </p:cNvPr>
            <p:cNvSpPr/>
            <p:nvPr userDrawn="1"/>
          </p:nvSpPr>
          <p:spPr>
            <a:xfrm>
              <a:off x="2992848" y="1717717"/>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02518"/>
              <a:ext cx="1253995" cy="237066"/>
            </a:xfrm>
            <a:prstGeom prst="rect">
              <a:avLst/>
            </a:prstGeom>
            <a:noFill/>
          </p:spPr>
          <p:txBody>
            <a:bodyPr wrap="square" lIns="54610" tIns="54610" rIns="54610" bIns="54610" rtlCol="0" anchor="ctr">
              <a:noAutofit/>
            </a:bodyPr>
            <a:lstStyle/>
            <a:p>
              <a:pPr algn="l">
                <a:spcAft>
                  <a:spcPts val="600"/>
                </a:spcAft>
              </a:pPr>
              <a:r>
                <a:rPr lang="en-GB" sz="1000" dirty="0"/>
                <a:t>Blue</a:t>
              </a:r>
            </a:p>
          </p:txBody>
        </p:sp>
      </p:gr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dirty="0"/>
              <a:t>Cobalt Blue</a:t>
            </a:r>
          </a:p>
        </p:txBody>
      </p:sp>
      <p:grpSp>
        <p:nvGrpSpPr>
          <p:cNvPr id="18" name="Group 17">
            <a:extLst>
              <a:ext uri="{FF2B5EF4-FFF2-40B4-BE49-F238E27FC236}">
                <a16:creationId xmlns:a16="http://schemas.microsoft.com/office/drawing/2014/main" id="{2356161F-C4E7-4F32-B00D-D64EBA9D34CA}"/>
              </a:ext>
            </a:extLst>
          </p:cNvPr>
          <p:cNvGrpSpPr/>
          <p:nvPr userDrawn="1"/>
        </p:nvGrpSpPr>
        <p:grpSpPr>
          <a:xfrm>
            <a:off x="998351" y="3783824"/>
            <a:ext cx="2177326" cy="1433953"/>
            <a:chOff x="998351" y="4298384"/>
            <a:chExt cx="2177326" cy="1433953"/>
          </a:xfrm>
        </p:grpSpPr>
        <p:sp>
          <p:nvSpPr>
            <p:cNvPr id="20" name="Rectangle 19">
              <a:extLst>
                <a:ext uri="{FF2B5EF4-FFF2-40B4-BE49-F238E27FC236}">
                  <a16:creationId xmlns:a16="http://schemas.microsoft.com/office/drawing/2014/main" id="{6453D312-00EF-44B5-9D91-290BE0E19654}"/>
                </a:ext>
              </a:extLst>
            </p:cNvPr>
            <p:cNvSpPr/>
            <p:nvPr userDrawn="1"/>
          </p:nvSpPr>
          <p:spPr>
            <a:xfrm>
              <a:off x="998351" y="4298384"/>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812944"/>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5321112"/>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4386074"/>
              <a:ext cx="1253995" cy="237066"/>
            </a:xfrm>
            <a:prstGeom prst="rect">
              <a:avLst/>
            </a:prstGeom>
            <a:noFill/>
          </p:spPr>
          <p:txBody>
            <a:bodyPr wrap="square" lIns="54610" tIns="54610" rIns="54610" bIns="54610" rtlCol="0" anchor="ctr">
              <a:noAutofit/>
            </a:bodyPr>
            <a:lstStyle/>
            <a:p>
              <a:pPr algn="l">
                <a:spcAft>
                  <a:spcPts val="600"/>
                </a:spcAft>
              </a:pPr>
              <a:r>
                <a:rPr lang="en-GB" sz="1000" dirty="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897131"/>
              <a:ext cx="1253995" cy="237066"/>
            </a:xfrm>
            <a:prstGeom prst="rect">
              <a:avLst/>
            </a:prstGeom>
            <a:noFill/>
          </p:spPr>
          <p:txBody>
            <a:bodyPr wrap="square" lIns="54610" tIns="54610" rIns="54610" bIns="54610" rtlCol="0" anchor="ctr">
              <a:noAutofit/>
            </a:bodyPr>
            <a:lstStyle/>
            <a:p>
              <a:pPr algn="l">
                <a:spcAft>
                  <a:spcPts val="600"/>
                </a:spcAft>
              </a:pPr>
              <a:r>
                <a:rPr lang="en-GB" sz="1000" dirty="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5408191"/>
              <a:ext cx="1253995" cy="237066"/>
            </a:xfrm>
            <a:prstGeom prst="rect">
              <a:avLst/>
            </a:prstGeom>
            <a:noFill/>
          </p:spPr>
          <p:txBody>
            <a:bodyPr wrap="square" lIns="54610" tIns="54610" rIns="54610" bIns="54610" rtlCol="0" anchor="ctr">
              <a:noAutofit/>
            </a:bodyPr>
            <a:lstStyle/>
            <a:p>
              <a:pPr algn="l">
                <a:spcAft>
                  <a:spcPts val="600"/>
                </a:spcAft>
              </a:pPr>
              <a:r>
                <a:rPr lang="en-GB" sz="1000" dirty="0"/>
                <a:t>Pink</a:t>
              </a:r>
            </a:p>
          </p:txBody>
        </p:sp>
      </p:gr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Accent Colors for Infographics and charts only</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0139"/>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4701"/>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69262"/>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3824"/>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298384"/>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6552"/>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1112"/>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38957"/>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dirty="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80" y="2852903"/>
            <a:ext cx="714476" cy="237066"/>
          </a:xfrm>
          <a:prstGeom prst="rect">
            <a:avLst/>
          </a:prstGeom>
          <a:noFill/>
        </p:spPr>
        <p:txBody>
          <a:bodyPr wrap="square" lIns="54610" tIns="54610" rIns="54610" bIns="54610" rtlCol="0" anchor="ctr">
            <a:noAutofit/>
          </a:bodyPr>
          <a:lstStyle/>
          <a:p>
            <a:pPr algn="l">
              <a:spcAft>
                <a:spcPts val="600"/>
              </a:spcAft>
            </a:pPr>
            <a:r>
              <a:rPr lang="en-GB" sz="1000" dirty="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80" y="1830789"/>
            <a:ext cx="714476" cy="237066"/>
          </a:xfrm>
          <a:prstGeom prst="rect">
            <a:avLst/>
          </a:prstGeom>
          <a:noFill/>
        </p:spPr>
        <p:txBody>
          <a:bodyPr wrap="square" lIns="54610" tIns="54610" rIns="54610" bIns="54610" rtlCol="0" anchor="ctr">
            <a:noAutofit/>
          </a:bodyPr>
          <a:lstStyle/>
          <a:p>
            <a:pPr algn="l">
              <a:spcAft>
                <a:spcPts val="600"/>
              </a:spcAft>
            </a:pPr>
            <a:r>
              <a:rPr lang="en-GB" sz="1000" dirty="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80" y="3363960"/>
            <a:ext cx="714476" cy="237066"/>
          </a:xfrm>
          <a:prstGeom prst="rect">
            <a:avLst/>
          </a:prstGeom>
          <a:noFill/>
        </p:spPr>
        <p:txBody>
          <a:bodyPr wrap="square" lIns="54610" tIns="54610" rIns="54610" bIns="54610" rtlCol="0" anchor="ctr">
            <a:noAutofit/>
          </a:bodyPr>
          <a:lstStyle/>
          <a:p>
            <a:pPr algn="l">
              <a:spcAft>
                <a:spcPts val="600"/>
              </a:spcAft>
            </a:pPr>
            <a:r>
              <a:rPr lang="en-GB" sz="1000" dirty="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80" y="3875017"/>
            <a:ext cx="714476" cy="237066"/>
          </a:xfrm>
          <a:prstGeom prst="rect">
            <a:avLst/>
          </a:prstGeom>
          <a:noFill/>
        </p:spPr>
        <p:txBody>
          <a:bodyPr wrap="square" lIns="54610" tIns="54610" rIns="54610" bIns="54610" rtlCol="0" anchor="ctr">
            <a:noAutofit/>
          </a:bodyPr>
          <a:lstStyle/>
          <a:p>
            <a:pPr algn="l">
              <a:spcAft>
                <a:spcPts val="600"/>
              </a:spcAft>
            </a:pPr>
            <a:r>
              <a:rPr lang="en-GB" sz="1000" dirty="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80" y="2341846"/>
            <a:ext cx="714476" cy="237066"/>
          </a:xfrm>
          <a:prstGeom prst="rect">
            <a:avLst/>
          </a:prstGeom>
          <a:noFill/>
        </p:spPr>
        <p:txBody>
          <a:bodyPr wrap="square" lIns="54610" tIns="54610" rIns="54610" bIns="54610" rtlCol="0" anchor="ctr">
            <a:noAutofit/>
          </a:bodyPr>
          <a:lstStyle/>
          <a:p>
            <a:pPr algn="l">
              <a:spcAft>
                <a:spcPts val="600"/>
              </a:spcAft>
            </a:pPr>
            <a:r>
              <a:rPr lang="en-GB" sz="1000" dirty="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70083"/>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70083"/>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57773"/>
            <a:ext cx="1568421" cy="237066"/>
          </a:xfrm>
          <a:prstGeom prst="rect">
            <a:avLst/>
          </a:prstGeom>
          <a:noFill/>
        </p:spPr>
        <p:txBody>
          <a:bodyPr wrap="square" lIns="54610" tIns="54610" rIns="54610" bIns="54610" rtlCol="0" anchor="ctr">
            <a:noAutofit/>
          </a:bodyPr>
          <a:lstStyle/>
          <a:p>
            <a:pPr algn="l">
              <a:spcAft>
                <a:spcPts val="600"/>
              </a:spcAft>
            </a:pPr>
            <a:r>
              <a:rPr lang="en-GB" sz="1000" dirty="0"/>
              <a:t>Purple/</a:t>
            </a:r>
            <a:br>
              <a:rPr lang="en-GB" sz="1000" dirty="0"/>
            </a:br>
            <a:r>
              <a:rPr lang="en-GB" sz="1000" dirty="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100206" y="2869887"/>
            <a:ext cx="1709098" cy="237066"/>
          </a:xfrm>
          <a:prstGeom prst="rect">
            <a:avLst/>
          </a:prstGeom>
          <a:noFill/>
        </p:spPr>
        <p:txBody>
          <a:bodyPr wrap="square" lIns="54610" tIns="54610" rIns="54610" bIns="54610" rtlCol="0" anchor="ctr">
            <a:noAutofit/>
          </a:bodyPr>
          <a:lstStyle/>
          <a:p>
            <a:pPr algn="l">
              <a:spcAft>
                <a:spcPts val="600"/>
              </a:spcAft>
            </a:pPr>
            <a:r>
              <a:rPr lang="en-GB" sz="1000" dirty="0"/>
              <a:t>Pacific/</a:t>
            </a:r>
            <a:br>
              <a:rPr lang="en-GB" sz="1000" dirty="0"/>
            </a:br>
            <a:r>
              <a:rPr lang="en-GB" sz="1000" dirty="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dirty="0">
                <a:solidFill>
                  <a:sysClr val="windowText" lastClr="000000"/>
                </a:solidFill>
              </a:rPr>
              <a:t>Gradients</a:t>
            </a:r>
          </a:p>
          <a:p>
            <a:pPr marL="171450" indent="-171450" algn="l">
              <a:spcAft>
                <a:spcPts val="300"/>
              </a:spcAft>
              <a:buFont typeface="Arial" panose="020B0604020202020204" pitchFamily="34" charset="0"/>
              <a:buChar char="•"/>
            </a:pPr>
            <a:r>
              <a:rPr lang="en-GB" sz="1000" b="0" dirty="0">
                <a:solidFill>
                  <a:sysClr val="windowText" lastClr="000000"/>
                </a:solidFill>
              </a:rPr>
              <a:t>The </a:t>
            </a:r>
            <a:r>
              <a:rPr lang="en-GB" sz="1000" b="0" dirty="0" err="1">
                <a:solidFill>
                  <a:sysClr val="windowText" lastClr="000000"/>
                </a:solidFill>
              </a:rPr>
              <a:t>colors</a:t>
            </a:r>
            <a:r>
              <a:rPr lang="en-GB" sz="1000" b="0" dirty="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dirty="0">
                <a:solidFill>
                  <a:sysClr val="windowText" lastClr="000000"/>
                </a:solidFill>
              </a:rPr>
              <a:t>Do not create new gradients; use only the gradients shown here</a:t>
            </a:r>
            <a:endParaRPr lang="en-US" sz="1000" b="0" dirty="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a:spLocks/>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5" y="4389395"/>
            <a:ext cx="714476" cy="237066"/>
          </a:xfrm>
          <a:prstGeom prst="rect">
            <a:avLst/>
          </a:prstGeom>
          <a:noFill/>
        </p:spPr>
        <p:txBody>
          <a:bodyPr wrap="square" lIns="54610" tIns="54610" rIns="54610" bIns="54610" rtlCol="0" anchor="ctr">
            <a:noAutofit/>
          </a:bodyPr>
          <a:lstStyle/>
          <a:p>
            <a:pPr algn="l">
              <a:spcAft>
                <a:spcPts val="600"/>
              </a:spcAft>
            </a:pPr>
            <a:r>
              <a:rPr lang="en-GB" sz="1000" dirty="0"/>
              <a:t>White</a:t>
            </a:r>
          </a:p>
        </p:txBody>
      </p:sp>
      <p:sp>
        <p:nvSpPr>
          <p:cNvPr id="64" name="TextBox 63">
            <a:extLst>
              <a:ext uri="{FF2B5EF4-FFF2-40B4-BE49-F238E27FC236}">
                <a16:creationId xmlns:a16="http://schemas.microsoft.com/office/drawing/2014/main" id="{147E9F40-D028-425F-96B1-C73C59C9C8EF}"/>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dirty="0">
                <a:solidFill>
                  <a:sysClr val="windowText" lastClr="000000"/>
                </a:solidFill>
              </a:rPr>
              <a:t>Traffic Light Palette</a:t>
            </a:r>
            <a:endParaRPr lang="en-US" sz="1000" b="0" dirty="0">
              <a:solidFill>
                <a:sysClr val="windowText" lastClr="000000"/>
              </a:solidFill>
            </a:endParaRPr>
          </a:p>
        </p:txBody>
      </p:sp>
      <p:sp>
        <p:nvSpPr>
          <p:cNvPr id="73" name="Rectangle 72">
            <a:extLst>
              <a:ext uri="{FF2B5EF4-FFF2-40B4-BE49-F238E27FC236}">
                <a16:creationId xmlns:a16="http://schemas.microsoft.com/office/drawing/2014/main" id="{A2E77BBC-829E-4B5B-9C1B-B9C1344A811F}"/>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80" name="Rectangle 79">
            <a:extLst>
              <a:ext uri="{FF2B5EF4-FFF2-40B4-BE49-F238E27FC236}">
                <a16:creationId xmlns:a16="http://schemas.microsoft.com/office/drawing/2014/main" id="{86053ADE-6CEF-4806-8C0F-B8BEED546A81}"/>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81" name="Rectangle 80">
            <a:extLst>
              <a:ext uri="{FF2B5EF4-FFF2-40B4-BE49-F238E27FC236}">
                <a16:creationId xmlns:a16="http://schemas.microsoft.com/office/drawing/2014/main" id="{1FEC18AD-6921-4293-966A-F31741528B23}"/>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88" name="TextBox 87">
            <a:extLst>
              <a:ext uri="{FF2B5EF4-FFF2-40B4-BE49-F238E27FC236}">
                <a16:creationId xmlns:a16="http://schemas.microsoft.com/office/drawing/2014/main" id="{BD3C657F-FD1E-40E0-B00F-F92EC369386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dirty="0">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dirty="0">
                <a:solidFill>
                  <a:sysClr val="windowText" lastClr="000000"/>
                </a:solidFill>
              </a:rPr>
              <a:t>Mix light. mid and dark tones within data sets</a:t>
            </a:r>
          </a:p>
        </p:txBody>
      </p:sp>
      <p:cxnSp>
        <p:nvCxnSpPr>
          <p:cNvPr id="14" name="Straight Connector 13">
            <a:extLst>
              <a:ext uri="{FF2B5EF4-FFF2-40B4-BE49-F238E27FC236}">
                <a16:creationId xmlns:a16="http://schemas.microsoft.com/office/drawing/2014/main" id="{FF87E5F4-3A2B-41F8-A4AA-BA7FFC573394}"/>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8639F51-9F8C-4D36-8737-7A3DAC84F1DA}"/>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B8890E6-18C7-479B-B73B-0C731D264307}"/>
              </a:ext>
            </a:extLst>
          </p:cNvPr>
          <p:cNvGrpSpPr/>
          <p:nvPr userDrawn="1"/>
        </p:nvGrpSpPr>
        <p:grpSpPr>
          <a:xfrm>
            <a:off x="7170486" y="5015319"/>
            <a:ext cx="4023114" cy="868052"/>
            <a:chOff x="6942744" y="5227726"/>
            <a:chExt cx="6397168" cy="1380293"/>
          </a:xfrm>
        </p:grpSpPr>
        <p:sp>
          <p:nvSpPr>
            <p:cNvPr id="89" name="Rectangle 88">
              <a:extLst>
                <a:ext uri="{FF2B5EF4-FFF2-40B4-BE49-F238E27FC236}">
                  <a16:creationId xmlns:a16="http://schemas.microsoft.com/office/drawing/2014/main" id="{D9642345-2D6B-4C6E-A9F2-A02D26D51DDD}"/>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90" name="Rectangle 89">
              <a:extLst>
                <a:ext uri="{FF2B5EF4-FFF2-40B4-BE49-F238E27FC236}">
                  <a16:creationId xmlns:a16="http://schemas.microsoft.com/office/drawing/2014/main" id="{54B75BE9-8F9E-40F1-AE85-B929BD14E4F6}"/>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91" name="Rectangle 90">
              <a:extLst>
                <a:ext uri="{FF2B5EF4-FFF2-40B4-BE49-F238E27FC236}">
                  <a16:creationId xmlns:a16="http://schemas.microsoft.com/office/drawing/2014/main" id="{403512C6-1015-4893-B421-D2CA83BB28B7}"/>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92" name="Rectangle 91">
              <a:extLst>
                <a:ext uri="{FF2B5EF4-FFF2-40B4-BE49-F238E27FC236}">
                  <a16:creationId xmlns:a16="http://schemas.microsoft.com/office/drawing/2014/main" id="{8DF8AA28-67A9-4A84-A80F-52EFDEF62EC4}"/>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93" name="Rectangle 92">
              <a:extLst>
                <a:ext uri="{FF2B5EF4-FFF2-40B4-BE49-F238E27FC236}">
                  <a16:creationId xmlns:a16="http://schemas.microsoft.com/office/drawing/2014/main" id="{96ECD3EF-C613-49EC-B955-C33743E8DAF2}"/>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94" name="Rectangle 93">
              <a:extLst>
                <a:ext uri="{FF2B5EF4-FFF2-40B4-BE49-F238E27FC236}">
                  <a16:creationId xmlns:a16="http://schemas.microsoft.com/office/drawing/2014/main" id="{CEFF0E69-1303-4A97-A554-2617DBE38F85}"/>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95" name="Rectangle 94">
              <a:extLst>
                <a:ext uri="{FF2B5EF4-FFF2-40B4-BE49-F238E27FC236}">
                  <a16:creationId xmlns:a16="http://schemas.microsoft.com/office/drawing/2014/main" id="{D22E2F76-F5F9-4152-8B76-200BB23CF93D}"/>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255</a:t>
              </a:r>
            </a:p>
            <a:p>
              <a:pPr algn="ctr"/>
              <a:r>
                <a:rPr lang="en-GB" sz="800" dirty="0">
                  <a:solidFill>
                    <a:schemeClr val="bg1"/>
                  </a:solidFill>
                </a:rPr>
                <a:t>163</a:t>
              </a:r>
            </a:p>
            <a:p>
              <a:pPr algn="ctr"/>
              <a:r>
                <a:rPr lang="en-GB" sz="800" dirty="0">
                  <a:solidFill>
                    <a:schemeClr val="bg1"/>
                  </a:solidFill>
                </a:rPr>
                <a:t>218</a:t>
              </a:r>
            </a:p>
          </p:txBody>
        </p:sp>
        <p:sp>
          <p:nvSpPr>
            <p:cNvPr id="96" name="Rectangle 95">
              <a:extLst>
                <a:ext uri="{FF2B5EF4-FFF2-40B4-BE49-F238E27FC236}">
                  <a16:creationId xmlns:a16="http://schemas.microsoft.com/office/drawing/2014/main" id="{F294A2C6-DAFC-45CD-86AD-3902D99F3B8E}"/>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97" name="Rectangle 96">
              <a:extLst>
                <a:ext uri="{FF2B5EF4-FFF2-40B4-BE49-F238E27FC236}">
                  <a16:creationId xmlns:a16="http://schemas.microsoft.com/office/drawing/2014/main" id="{E318800B-9E93-4883-840B-696F82170F32}"/>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99</a:t>
              </a:r>
            </a:p>
            <a:p>
              <a:pPr algn="ctr"/>
              <a:r>
                <a:rPr lang="en-GB" sz="800" dirty="0">
                  <a:solidFill>
                    <a:sysClr val="windowText" lastClr="000000"/>
                  </a:solidFill>
                </a:rPr>
                <a:t>235</a:t>
              </a:r>
            </a:p>
            <a:p>
              <a:pPr algn="ctr"/>
              <a:r>
                <a:rPr lang="en-GB" sz="800" dirty="0">
                  <a:solidFill>
                    <a:sysClr val="windowText" lastClr="000000"/>
                  </a:solidFill>
                </a:rPr>
                <a:t>218</a:t>
              </a:r>
            </a:p>
          </p:txBody>
        </p:sp>
        <p:sp>
          <p:nvSpPr>
            <p:cNvPr id="98" name="Rectangle 97">
              <a:extLst>
                <a:ext uri="{FF2B5EF4-FFF2-40B4-BE49-F238E27FC236}">
                  <a16:creationId xmlns:a16="http://schemas.microsoft.com/office/drawing/2014/main" id="{14443132-A6B3-4990-BA37-9E2D3DE1B105}"/>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99" name="Rectangle 98">
              <a:extLst>
                <a:ext uri="{FF2B5EF4-FFF2-40B4-BE49-F238E27FC236}">
                  <a16:creationId xmlns:a16="http://schemas.microsoft.com/office/drawing/2014/main" id="{6C79AFB4-7A51-4309-99F1-4015E9137C5F}"/>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00" name="Rectangle 99">
              <a:extLst>
                <a:ext uri="{FF2B5EF4-FFF2-40B4-BE49-F238E27FC236}">
                  <a16:creationId xmlns:a16="http://schemas.microsoft.com/office/drawing/2014/main" id="{CE4F02C0-8A76-4F89-8E59-9E7549909C2A}"/>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01" name="Rectangle 100">
              <a:extLst>
                <a:ext uri="{FF2B5EF4-FFF2-40B4-BE49-F238E27FC236}">
                  <a16:creationId xmlns:a16="http://schemas.microsoft.com/office/drawing/2014/main" id="{29198175-1C72-4E67-BB92-6595EEDA420A}"/>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p:txBody>
        </p:sp>
        <p:sp>
          <p:nvSpPr>
            <p:cNvPr id="102" name="Rectangle 101">
              <a:extLst>
                <a:ext uri="{FF2B5EF4-FFF2-40B4-BE49-F238E27FC236}">
                  <a16:creationId xmlns:a16="http://schemas.microsoft.com/office/drawing/2014/main" id="{BB592D94-A7C3-4005-BCCE-3C53AAD9574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7FEAF4CD-1030-FF42-BDBE-443CA435D646}"/>
              </a:ext>
            </a:extLst>
          </p:cNvPr>
          <p:cNvSpPr>
            <a:spLocks noGrp="1"/>
          </p:cNvSpPr>
          <p:nvPr>
            <p:ph type="body" sz="quarter" idx="10" hasCustomPrompt="1"/>
          </p:nvPr>
        </p:nvSpPr>
        <p:spPr>
          <a:xfrm>
            <a:off x="1004400" y="1335603"/>
            <a:ext cx="10195200" cy="4531798"/>
          </a:xfrm>
        </p:spPr>
        <p:txBody>
          <a:bodyPr lIns="72000" rIns="72000"/>
          <a:lstStyle>
            <a:lvl1pPr>
              <a:defRPr/>
            </a:lvl1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0304265"/>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HEADLINES">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396878746"/>
              </p:ext>
            </p:extLst>
          </p:nvPr>
        </p:nvGraphicFramePr>
        <p:xfrm>
          <a:off x="998399" y="1332226"/>
          <a:ext cx="10192161" cy="4364103"/>
        </p:xfrm>
        <a:graphic>
          <a:graphicData uri="http://schemas.openxmlformats.org/drawingml/2006/table">
            <a:tbl>
              <a:tblPr firstRow="1" bandRow="1">
                <a:tableStyleId>{5C22544A-7EE6-4342-B048-85BDC9FD1C3A}</a:tableStyleId>
              </a:tblPr>
              <a:tblGrid>
                <a:gridCol w="4808133">
                  <a:extLst>
                    <a:ext uri="{9D8B030D-6E8A-4147-A177-3AD203B41FA5}">
                      <a16:colId xmlns:a16="http://schemas.microsoft.com/office/drawing/2014/main" val="3484522192"/>
                    </a:ext>
                  </a:extLst>
                </a:gridCol>
                <a:gridCol w="953106">
                  <a:extLst>
                    <a:ext uri="{9D8B030D-6E8A-4147-A177-3AD203B41FA5}">
                      <a16:colId xmlns:a16="http://schemas.microsoft.com/office/drawing/2014/main" val="2898080812"/>
                    </a:ext>
                  </a:extLst>
                </a:gridCol>
                <a:gridCol w="953106">
                  <a:extLst>
                    <a:ext uri="{9D8B030D-6E8A-4147-A177-3AD203B41FA5}">
                      <a16:colId xmlns:a16="http://schemas.microsoft.com/office/drawing/2014/main" val="4060292537"/>
                    </a:ext>
                  </a:extLst>
                </a:gridCol>
                <a:gridCol w="953106">
                  <a:extLst>
                    <a:ext uri="{9D8B030D-6E8A-4147-A177-3AD203B41FA5}">
                      <a16:colId xmlns:a16="http://schemas.microsoft.com/office/drawing/2014/main" val="1277292110"/>
                    </a:ext>
                  </a:extLst>
                </a:gridCol>
                <a:gridCol w="1262355">
                  <a:extLst>
                    <a:ext uri="{9D8B030D-6E8A-4147-A177-3AD203B41FA5}">
                      <a16:colId xmlns:a16="http://schemas.microsoft.com/office/drawing/2014/main" val="4096450474"/>
                    </a:ext>
                  </a:extLst>
                </a:gridCol>
                <a:gridCol w="1262355">
                  <a:extLst>
                    <a:ext uri="{9D8B030D-6E8A-4147-A177-3AD203B41FA5}">
                      <a16:colId xmlns:a16="http://schemas.microsoft.com/office/drawing/2014/main" val="3523288619"/>
                    </a:ext>
                  </a:extLst>
                </a:gridCol>
              </a:tblGrid>
              <a:tr h="0">
                <a:tc rowSpan="2">
                  <a:txBody>
                    <a:bodyPr/>
                    <a:lstStyle/>
                    <a:p>
                      <a:r>
                        <a:rPr lang="en-US" sz="1400" dirty="0"/>
                        <a:t>Topic</a:t>
                      </a:r>
                    </a:p>
                  </a:txBody>
                  <a:tcPr marL="72000" marR="72000" marT="72000" marB="72000">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400" dirty="0"/>
                        <a:t>Implication</a:t>
                      </a:r>
                    </a:p>
                  </a:txBody>
                  <a:tcPr marL="54864" marR="54864" marT="54864" marB="5486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gridSpan="2">
                  <a:txBody>
                    <a:bodyPr/>
                    <a:lstStyle/>
                    <a:p>
                      <a:pPr algn="ctr"/>
                      <a:r>
                        <a:rPr lang="en-US" sz="1400" dirty="0"/>
                        <a:t>Value impact</a:t>
                      </a:r>
                    </a:p>
                  </a:txBody>
                  <a:tcPr marL="54864" marR="54864" marT="54864" marB="54864"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599696076"/>
                  </a:ext>
                </a:extLst>
              </a:tr>
              <a:tr h="0">
                <a:tc v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200" b="1" dirty="0">
                          <a:solidFill>
                            <a:schemeClr val="bg1"/>
                          </a:solidFill>
                        </a:rPr>
                        <a:t>Valuation</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dirty="0">
                          <a:solidFill>
                            <a:schemeClr val="bg1"/>
                          </a:solidFill>
                        </a:rPr>
                        <a:t>SPA</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dirty="0">
                          <a:solidFill>
                            <a:schemeClr val="bg1"/>
                          </a:solidFill>
                        </a:rPr>
                        <a:t>Other</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dirty="0">
                          <a:solidFill>
                            <a:schemeClr val="bg1"/>
                          </a:solidFill>
                        </a:rPr>
                        <a:t>Impact</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dirty="0">
                          <a:solidFill>
                            <a:schemeClr val="bg1"/>
                          </a:solidFill>
                        </a:rPr>
                        <a:t>Proposed adjustments</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r h="1177085">
                <a:tc>
                  <a:txBody>
                    <a:bodyPr/>
                    <a:lstStyle/>
                    <a:p>
                      <a:pPr marL="640080">
                        <a:spcAft>
                          <a:spcPts val="900"/>
                        </a:spcAft>
                      </a:pPr>
                      <a:endParaRPr lang="en-US" sz="900" kern="1200" dirty="0">
                        <a:solidFill>
                          <a:schemeClr val="accent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800" b="1" dirty="0">
                        <a:solidFill>
                          <a:schemeClr val="accent6"/>
                        </a:solidFill>
                        <a:latin typeface="+mn-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716089"/>
                  </a:ext>
                </a:extLst>
              </a:tr>
              <a:tr h="1177085">
                <a:tc>
                  <a:txBody>
                    <a:bodyPr/>
                    <a:lstStyle/>
                    <a:p>
                      <a:pPr marL="640080">
                        <a:spcAft>
                          <a:spcPts val="900"/>
                        </a:spcAft>
                      </a:pPr>
                      <a:endParaRPr lang="en-US" sz="1000"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4082819"/>
                  </a:ext>
                </a:extLst>
              </a:tr>
              <a:tr h="1177085">
                <a:tc>
                  <a:txBody>
                    <a:bodyPr/>
                    <a:lstStyle/>
                    <a:p>
                      <a:pPr marL="640080">
                        <a:spcAft>
                          <a:spcPts val="900"/>
                        </a:spcAft>
                      </a:pPr>
                      <a:endParaRPr lang="en-US" sz="1000"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403123"/>
                  </a:ext>
                </a:extLst>
              </a:tr>
            </a:tbl>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7" name="Text Placeholder 6">
            <a:extLst>
              <a:ext uri="{FF2B5EF4-FFF2-40B4-BE49-F238E27FC236}">
                <a16:creationId xmlns:a16="http://schemas.microsoft.com/office/drawing/2014/main" id="{89ACCD68-19FB-4EAB-B33A-F30E928C6EEE}"/>
              </a:ext>
            </a:extLst>
          </p:cNvPr>
          <p:cNvSpPr>
            <a:spLocks noGrp="1"/>
          </p:cNvSpPr>
          <p:nvPr>
            <p:ph type="body" sz="quarter" idx="10" hasCustomPrompt="1"/>
          </p:nvPr>
        </p:nvSpPr>
        <p:spPr>
          <a:xfrm>
            <a:off x="8721311" y="2497122"/>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8" name="Text Placeholder 6">
            <a:extLst>
              <a:ext uri="{FF2B5EF4-FFF2-40B4-BE49-F238E27FC236}">
                <a16:creationId xmlns:a16="http://schemas.microsoft.com/office/drawing/2014/main" id="{A1B65DC5-EFFD-454B-A441-3C65BB9D1E1C}"/>
              </a:ext>
            </a:extLst>
          </p:cNvPr>
          <p:cNvSpPr>
            <a:spLocks noGrp="1"/>
          </p:cNvSpPr>
          <p:nvPr>
            <p:ph type="body" sz="quarter" idx="11" hasCustomPrompt="1"/>
          </p:nvPr>
        </p:nvSpPr>
        <p:spPr>
          <a:xfrm>
            <a:off x="8721311" y="3699207"/>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9" name="Text Placeholder 6">
            <a:extLst>
              <a:ext uri="{FF2B5EF4-FFF2-40B4-BE49-F238E27FC236}">
                <a16:creationId xmlns:a16="http://schemas.microsoft.com/office/drawing/2014/main" id="{3E7D4F57-0A45-4D59-B0BA-C057887627B1}"/>
              </a:ext>
            </a:extLst>
          </p:cNvPr>
          <p:cNvSpPr>
            <a:spLocks noGrp="1"/>
          </p:cNvSpPr>
          <p:nvPr>
            <p:ph type="body" sz="quarter" idx="12" hasCustomPrompt="1"/>
          </p:nvPr>
        </p:nvSpPr>
        <p:spPr>
          <a:xfrm>
            <a:off x="8721311" y="4863771"/>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10" name="Text Placeholder 6">
            <a:extLst>
              <a:ext uri="{FF2B5EF4-FFF2-40B4-BE49-F238E27FC236}">
                <a16:creationId xmlns:a16="http://schemas.microsoft.com/office/drawing/2014/main" id="{FF65A6F2-43C1-4C4E-8DFD-6A751704BF30}"/>
              </a:ext>
            </a:extLst>
          </p:cNvPr>
          <p:cNvSpPr>
            <a:spLocks noGrp="1"/>
          </p:cNvSpPr>
          <p:nvPr>
            <p:ph type="body" sz="quarter" idx="13" hasCustomPrompt="1"/>
          </p:nvPr>
        </p:nvSpPr>
        <p:spPr>
          <a:xfrm>
            <a:off x="9955935" y="2497122"/>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1" name="Text Placeholder 6">
            <a:extLst>
              <a:ext uri="{FF2B5EF4-FFF2-40B4-BE49-F238E27FC236}">
                <a16:creationId xmlns:a16="http://schemas.microsoft.com/office/drawing/2014/main" id="{F3083AC8-DA9F-47BF-8B60-74EB5A2AA03E}"/>
              </a:ext>
            </a:extLst>
          </p:cNvPr>
          <p:cNvSpPr>
            <a:spLocks noGrp="1"/>
          </p:cNvSpPr>
          <p:nvPr>
            <p:ph type="body" sz="quarter" idx="14" hasCustomPrompt="1"/>
          </p:nvPr>
        </p:nvSpPr>
        <p:spPr>
          <a:xfrm>
            <a:off x="9955935" y="3699207"/>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2" name="Text Placeholder 6">
            <a:extLst>
              <a:ext uri="{FF2B5EF4-FFF2-40B4-BE49-F238E27FC236}">
                <a16:creationId xmlns:a16="http://schemas.microsoft.com/office/drawing/2014/main" id="{ABDF267A-E8A4-44D2-A045-E6466541A5A1}"/>
              </a:ext>
            </a:extLst>
          </p:cNvPr>
          <p:cNvSpPr>
            <a:spLocks noGrp="1"/>
          </p:cNvSpPr>
          <p:nvPr>
            <p:ph type="body" sz="quarter" idx="15" hasCustomPrompt="1"/>
          </p:nvPr>
        </p:nvSpPr>
        <p:spPr>
          <a:xfrm>
            <a:off x="9955935" y="4863771"/>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1707589" y="2233794"/>
            <a:ext cx="4011719" cy="267866"/>
          </a:xfrm>
        </p:spPr>
        <p:txBody>
          <a:bodyPr/>
          <a:lstStyle>
            <a:lvl1pPr>
              <a:defRPr sz="1400"/>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1707589" y="3411748"/>
            <a:ext cx="4011718" cy="267866"/>
          </a:xfrm>
        </p:spPr>
        <p:txBody>
          <a:bodyPr/>
          <a:lstStyle>
            <a:lvl1pPr>
              <a:defRPr sz="1400"/>
            </a:lvl1pPr>
          </a:lstStyle>
          <a:p>
            <a:pPr lvl="0"/>
            <a:r>
              <a:rPr lang="en-US" dirty="0"/>
              <a:t>Heading (e.g., Quality of earnings)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1707589" y="4589702"/>
            <a:ext cx="4011717" cy="267866"/>
          </a:xfrm>
        </p:spPr>
        <p:txBody>
          <a:bodyPr/>
          <a:lstStyle>
            <a:lvl1pPr>
              <a:defRPr sz="1400"/>
            </a:lvl1pPr>
          </a:lstStyle>
          <a:p>
            <a:pPr lvl="0"/>
            <a:r>
              <a:rPr lang="en-US" dirty="0"/>
              <a:t>Heading (e.g., Quality of earnings)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1707589" y="3746410"/>
            <a:ext cx="4011720" cy="665420"/>
          </a:xfrm>
        </p:spPr>
        <p:txBody>
          <a:bodyPr/>
          <a:lstStyle>
            <a:lvl2pPr>
              <a:defRPr sz="1000" b="0"/>
            </a:lvl2pPr>
            <a:lvl3pPr marL="0" indent="0">
              <a:buNone/>
              <a:defRPr sz="1000"/>
            </a:lvl3pPr>
            <a:lvl4pPr>
              <a:defRPr sz="1000"/>
            </a:lvl4pPr>
            <a:lvl5pPr>
              <a:defRPr sz="1000"/>
            </a:lvl5pPr>
          </a:lstStyle>
          <a:p>
            <a:pPr lvl="1"/>
            <a:r>
              <a:rPr lang="en-US" dirty="0"/>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1707589" y="4924364"/>
            <a:ext cx="4011720" cy="665420"/>
          </a:xfrm>
        </p:spPr>
        <p:txBody>
          <a:bodyPr/>
          <a:lstStyle>
            <a:lvl2pPr>
              <a:defRPr sz="1000" b="0"/>
            </a:lvl2pPr>
            <a:lvl3pPr marL="0" indent="0">
              <a:buNone/>
              <a:defRPr sz="1000"/>
            </a:lvl3pPr>
            <a:lvl4pPr>
              <a:defRPr sz="1000"/>
            </a:lvl4pPr>
            <a:lvl5pPr>
              <a:defRPr sz="1000"/>
            </a:lvl5pPr>
          </a:lstStyle>
          <a:p>
            <a:pPr lvl="1"/>
            <a:r>
              <a:rPr lang="en-US" dirty="0"/>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1707589" y="2567974"/>
            <a:ext cx="4011720" cy="665420"/>
          </a:xfrm>
        </p:spPr>
        <p:txBody>
          <a:bodyPr/>
          <a:lstStyle>
            <a:lvl2pPr>
              <a:defRPr lang="en-US" sz="1000" kern="1200" dirty="0" smtClean="0">
                <a:solidFill>
                  <a:schemeClr val="accent2"/>
                </a:solidFill>
                <a:latin typeface="+mn-lt"/>
                <a:ea typeface="+mn-ea"/>
                <a:cs typeface="+mn-cs"/>
              </a:defRPr>
            </a:lvl2pPr>
            <a:lvl3pPr marL="0" indent="0">
              <a:buNone/>
              <a:defRPr sz="1000"/>
            </a:lvl3pPr>
            <a:lvl4pPr>
              <a:defRPr sz="1000"/>
            </a:lvl4pPr>
            <a:lvl5pPr>
              <a:defRPr sz="1000"/>
            </a:lvl5pPr>
          </a:lstStyle>
          <a:p>
            <a:pPr marL="0" lvl="1" indent="0" algn="l" defTabSz="914400" rtl="0" eaLnBrk="1" latinLnBrk="0" hangingPunct="1">
              <a:lnSpc>
                <a:spcPct val="100000"/>
              </a:lnSpc>
              <a:spcBef>
                <a:spcPts val="0"/>
              </a:spcBef>
              <a:spcAft>
                <a:spcPts val="600"/>
              </a:spcAft>
              <a:buFontTx/>
              <a:buNone/>
            </a:pPr>
            <a:r>
              <a:rPr lang="en-US" dirty="0"/>
              <a:t>Summary/key message of the topic</a:t>
            </a:r>
          </a:p>
        </p:txBody>
      </p:sp>
      <p:sp>
        <p:nvSpPr>
          <p:cNvPr id="48" name="Picture Placeholder 45">
            <a:extLst>
              <a:ext uri="{FF2B5EF4-FFF2-40B4-BE49-F238E27FC236}">
                <a16:creationId xmlns:a16="http://schemas.microsoft.com/office/drawing/2014/main" id="{1002EA75-32C1-4868-A602-3971BD3F1E9B}"/>
              </a:ext>
            </a:extLst>
          </p:cNvPr>
          <p:cNvSpPr>
            <a:spLocks noGrp="1"/>
          </p:cNvSpPr>
          <p:nvPr>
            <p:ph type="pic" sz="quarter" idx="24" hasCustomPrompt="1"/>
          </p:nvPr>
        </p:nvSpPr>
        <p:spPr>
          <a:xfrm>
            <a:off x="1069997" y="4717920"/>
            <a:ext cx="432000" cy="432000"/>
          </a:xfrm>
        </p:spPr>
        <p:txBody>
          <a:bodyPr/>
          <a:lstStyle>
            <a:lvl1pPr algn="ctr">
              <a:defRPr sz="1100"/>
            </a:lvl1pPr>
          </a:lstStyle>
          <a:p>
            <a:r>
              <a:rPr lang="fi-FI" dirty="0" err="1"/>
              <a:t>Icon</a:t>
            </a:r>
            <a:endParaRPr lang="fi-FI" dirty="0"/>
          </a:p>
        </p:txBody>
      </p:sp>
      <p:sp>
        <p:nvSpPr>
          <p:cNvPr id="49" name="Picture Placeholder 45">
            <a:extLst>
              <a:ext uri="{FF2B5EF4-FFF2-40B4-BE49-F238E27FC236}">
                <a16:creationId xmlns:a16="http://schemas.microsoft.com/office/drawing/2014/main" id="{EAD30F18-B245-43FF-B01F-089DB8F1594D}"/>
              </a:ext>
            </a:extLst>
          </p:cNvPr>
          <p:cNvSpPr>
            <a:spLocks noGrp="1"/>
          </p:cNvSpPr>
          <p:nvPr>
            <p:ph type="pic" sz="quarter" idx="25" hasCustomPrompt="1"/>
          </p:nvPr>
        </p:nvSpPr>
        <p:spPr>
          <a:xfrm>
            <a:off x="1069997" y="3545681"/>
            <a:ext cx="432000" cy="432000"/>
          </a:xfrm>
        </p:spPr>
        <p:txBody>
          <a:bodyPr/>
          <a:lstStyle>
            <a:lvl1pPr algn="ctr">
              <a:defRPr sz="1100"/>
            </a:lvl1pPr>
          </a:lstStyle>
          <a:p>
            <a:r>
              <a:rPr lang="fi-FI" dirty="0" err="1"/>
              <a:t>Icon</a:t>
            </a:r>
            <a:endParaRPr lang="fi-FI" dirty="0"/>
          </a:p>
        </p:txBody>
      </p:sp>
      <p:sp>
        <p:nvSpPr>
          <p:cNvPr id="50" name="Picture Placeholder 45">
            <a:extLst>
              <a:ext uri="{FF2B5EF4-FFF2-40B4-BE49-F238E27FC236}">
                <a16:creationId xmlns:a16="http://schemas.microsoft.com/office/drawing/2014/main" id="{87DD6B53-12AC-4DD3-B996-42C4078235E4}"/>
              </a:ext>
            </a:extLst>
          </p:cNvPr>
          <p:cNvSpPr>
            <a:spLocks noGrp="1"/>
          </p:cNvSpPr>
          <p:nvPr>
            <p:ph type="pic" sz="quarter" idx="26" hasCustomPrompt="1"/>
          </p:nvPr>
        </p:nvSpPr>
        <p:spPr>
          <a:xfrm>
            <a:off x="1069997" y="2367474"/>
            <a:ext cx="432000" cy="432000"/>
          </a:xfrm>
        </p:spPr>
        <p:txBody>
          <a:bodyPr/>
          <a:lstStyle>
            <a:lvl1pPr algn="ctr">
              <a:defRPr sz="1100"/>
            </a:lvl1pPr>
          </a:lstStyle>
          <a:p>
            <a:r>
              <a:rPr lang="fi-FI" dirty="0" err="1"/>
              <a:t>Icon</a:t>
            </a:r>
            <a:endParaRPr lang="fi-FI" dirty="0"/>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6059718"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7021561"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6059718"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7021561"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6059718"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7021561"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7970230"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7970230"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7970230"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3" name="Isosceles Triangle 62">
            <a:extLst>
              <a:ext uri="{FF2B5EF4-FFF2-40B4-BE49-F238E27FC236}">
                <a16:creationId xmlns:a16="http://schemas.microsoft.com/office/drawing/2014/main" id="{E9D1AE06-08EF-481C-8D99-9255EA39D92A}"/>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4" name="Isosceles Triangle 63">
            <a:extLst>
              <a:ext uri="{FF2B5EF4-FFF2-40B4-BE49-F238E27FC236}">
                <a16:creationId xmlns:a16="http://schemas.microsoft.com/office/drawing/2014/main" id="{17C2926F-29C1-4B2E-803B-6EEB424E3143}"/>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5" name="Oval 64">
            <a:hlinkClick r:id="" action="ppaction://hlinkshowjump?jump=nextslide"/>
            <a:extLst>
              <a:ext uri="{FF2B5EF4-FFF2-40B4-BE49-F238E27FC236}">
                <a16:creationId xmlns:a16="http://schemas.microsoft.com/office/drawing/2014/main" id="{EB7F17BD-A802-4148-91A9-ADEFCD47BB96}"/>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6" name="Oval 65">
            <a:hlinkClick r:id="" action="ppaction://hlinkshowjump?jump=previousslide"/>
            <a:extLst>
              <a:ext uri="{FF2B5EF4-FFF2-40B4-BE49-F238E27FC236}">
                <a16:creationId xmlns:a16="http://schemas.microsoft.com/office/drawing/2014/main" id="{7158AE46-3132-42BE-A591-9B94D6F4F43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67" name="Graphic 66" descr="Home">
            <a:hlinkClick r:id="rId5" action="ppaction://hlinksldjump"/>
            <a:extLst>
              <a:ext uri="{FF2B5EF4-FFF2-40B4-BE49-F238E27FC236}">
                <a16:creationId xmlns:a16="http://schemas.microsoft.com/office/drawing/2014/main" id="{98C14409-D58E-48D2-8C6A-E65520A4FB98}"/>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Tree>
    <p:extLst>
      <p:ext uri="{BB962C8B-B14F-4D97-AF65-F5344CB8AC3E}">
        <p14:creationId xmlns:p14="http://schemas.microsoft.com/office/powerpoint/2010/main" val="3610931978"/>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showMasterSp="0" preserve="1"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sp>
        <p:nvSpPr>
          <p:cNvPr id="8" name="Freeform 19">
            <a:extLst>
              <a:ext uri="{FF2B5EF4-FFF2-40B4-BE49-F238E27FC236}">
                <a16:creationId xmlns:a16="http://schemas.microsoft.com/office/drawing/2014/main" id="{457C79FB-C07C-444A-B79A-75D7F59B856B}"/>
              </a:ext>
            </a:extLst>
          </p:cNvPr>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ctrTitle" hasCustomPrompt="1"/>
          </p:nvPr>
        </p:nvSpPr>
        <p:spPr>
          <a:xfrm>
            <a:off x="998476" y="1485243"/>
            <a:ext cx="3600000" cy="3420000"/>
          </a:xfrm>
        </p:spPr>
        <p:txBody>
          <a:bodyPr anchor="t" anchorCtr="0"/>
          <a:lstStyle>
            <a:lvl1pPr algn="l">
              <a:defRPr sz="6600" baseline="0">
                <a:solidFill>
                  <a:schemeClr val="tx2"/>
                </a:solidFill>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defRPr>
            </a:lvl1pPr>
            <a:lvl2pPr>
              <a:defRPr sz="1400">
                <a:solidFill>
                  <a:schemeClr val="tx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646807616"/>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1_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3" name="Text Placeholder 6">
            <a:extLst>
              <a:ext uri="{FF2B5EF4-FFF2-40B4-BE49-F238E27FC236}">
                <a16:creationId xmlns:a16="http://schemas.microsoft.com/office/drawing/2014/main" id="{EB019C80-A7E9-C02F-DC77-46789CBB493E}"/>
              </a:ext>
            </a:extLst>
          </p:cNvPr>
          <p:cNvSpPr>
            <a:spLocks noGrp="1"/>
          </p:cNvSpPr>
          <p:nvPr>
            <p:ph type="body" sz="quarter" idx="23" hasCustomPrompt="1"/>
          </p:nvPr>
        </p:nvSpPr>
        <p:spPr>
          <a:xfrm>
            <a:off x="1004400" y="1335603"/>
            <a:ext cx="5036400" cy="453179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6">
            <a:extLst>
              <a:ext uri="{FF2B5EF4-FFF2-40B4-BE49-F238E27FC236}">
                <a16:creationId xmlns:a16="http://schemas.microsoft.com/office/drawing/2014/main" id="{7722BBDF-7F35-F3E0-D59F-B6773FD3354B}"/>
              </a:ext>
            </a:extLst>
          </p:cNvPr>
          <p:cNvSpPr>
            <a:spLocks noGrp="1"/>
          </p:cNvSpPr>
          <p:nvPr>
            <p:ph type="body" sz="quarter" idx="24" hasCustomPrompt="1"/>
          </p:nvPr>
        </p:nvSpPr>
        <p:spPr>
          <a:xfrm>
            <a:off x="6165629" y="1335603"/>
            <a:ext cx="5036400" cy="4531798"/>
          </a:xfrm>
        </p:spPr>
        <p:txBody>
          <a:bodyPr lIns="72000" tIns="0" rIns="7200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53613562"/>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userDrawn="1">
  <p:cSld name="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1278481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8">
            <a:extLst>
              <a:ext uri="{FF2B5EF4-FFF2-40B4-BE49-F238E27FC236}">
                <a16:creationId xmlns:a16="http://schemas.microsoft.com/office/drawing/2014/main" id="{C6CAF37B-D8C8-48E4-A64E-E50EEA177A38}"/>
              </a:ext>
            </a:extLst>
          </p:cNvPr>
          <p:cNvSpPr>
            <a:spLocks noGrp="1"/>
          </p:cNvSpPr>
          <p:nvPr>
            <p:ph type="body" sz="quarter" idx="13" hasCustomPrompt="1"/>
          </p:nvPr>
        </p:nvSpPr>
        <p:spPr>
          <a:xfrm>
            <a:off x="8556861" y="1116048"/>
            <a:ext cx="2652442" cy="310198"/>
          </a:xfrm>
        </p:spPr>
        <p:txBody>
          <a:bodyPr/>
          <a:lstStyle>
            <a:lvl1pPr algn="r">
              <a:defRPr/>
            </a:lvl1pPr>
          </a:lstStyle>
          <a:p>
            <a:pPr>
              <a:spcAft>
                <a:spcPts val="300"/>
              </a:spcAft>
            </a:pPr>
            <a:r>
              <a:rPr lang="en-US" sz="900" b="0" spc="-20">
                <a:solidFill>
                  <a:schemeClr val="tx2"/>
                </a:solidFill>
              </a:rPr>
              <a:t>[</a:t>
            </a:r>
            <a:r>
              <a:rPr lang="en-US" sz="900" b="0" spc="-20">
                <a:solidFill>
                  <a:srgbClr val="FD349C"/>
                </a:solidFill>
              </a:rPr>
              <a:t>date</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404B5F02-6946-4796-B93B-3238A3C22A56}"/>
              </a:ext>
            </a:extLst>
          </p:cNvPr>
          <p:cNvSpPr/>
          <p:nvPr userDrawn="1"/>
        </p:nvSpPr>
        <p:spPr>
          <a:xfrm>
            <a:off x="1810753" y="6271101"/>
            <a:ext cx="5877426" cy="310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15" name="Text Placeholder 8">
            <a:extLst>
              <a:ext uri="{FF2B5EF4-FFF2-40B4-BE49-F238E27FC236}">
                <a16:creationId xmlns:a16="http://schemas.microsoft.com/office/drawing/2014/main" id="{BAAD9B2C-D98A-43EC-8DB5-925EAC45CB70}"/>
              </a:ext>
            </a:extLst>
          </p:cNvPr>
          <p:cNvSpPr>
            <a:spLocks noGrp="1"/>
          </p:cNvSpPr>
          <p:nvPr>
            <p:ph type="body" sz="quarter" idx="12" hasCustomPrompt="1"/>
          </p:nvPr>
        </p:nvSpPr>
        <p:spPr>
          <a:xfrm>
            <a:off x="1009216" y="1332698"/>
            <a:ext cx="4961984" cy="750665"/>
          </a:xfrm>
        </p:spPr>
        <p:txBody>
          <a:bodyPr/>
          <a:lstStyle>
            <a:lvl1pPr>
              <a:defRPr baseline="0"/>
            </a:lvl1pPr>
          </a:lstStyle>
          <a:p>
            <a:pPr>
              <a:spcAft>
                <a:spcPts val="300"/>
              </a:spcAft>
            </a:pPr>
            <a:r>
              <a:rPr lang="en-US" sz="900" b="0" spc="-20">
                <a:solidFill>
                  <a:schemeClr val="tx2"/>
                </a:solidFill>
              </a:rPr>
              <a:t>[</a:t>
            </a:r>
            <a:r>
              <a:rPr lang="en-US" sz="900" b="0" spc="-20">
                <a:solidFill>
                  <a:srgbClr val="FD349C"/>
                </a:solidFill>
              </a:rPr>
              <a:t>Company name</a:t>
            </a:r>
            <a:r>
              <a:rPr lang="en-US" sz="900" b="0" spc="-20">
                <a:solidFill>
                  <a:schemeClr val="tx2"/>
                </a:solidFill>
              </a:rPr>
              <a:t>]</a:t>
            </a:r>
          </a:p>
          <a:p>
            <a:pPr>
              <a:spcAft>
                <a:spcPts val="300"/>
              </a:spcAft>
            </a:pPr>
            <a:r>
              <a:rPr lang="en-US" sz="900" b="0" spc="-20" err="1">
                <a:solidFill>
                  <a:schemeClr val="tx2"/>
                </a:solidFill>
              </a:rPr>
              <a:t>Att</a:t>
            </a:r>
            <a:r>
              <a:rPr lang="en-US" sz="900" b="0" spc="-20">
                <a:solidFill>
                  <a:schemeClr val="tx2"/>
                </a:solidFill>
              </a:rPr>
              <a:t>: [</a:t>
            </a:r>
            <a:r>
              <a:rPr lang="en-US" sz="900" b="0" spc="-20">
                <a:solidFill>
                  <a:srgbClr val="FD349C"/>
                </a:solidFill>
              </a:rPr>
              <a:t>client name</a:t>
            </a:r>
            <a:r>
              <a:rPr lang="en-US" sz="900" b="0" spc="-20">
                <a:solidFill>
                  <a:schemeClr val="tx2"/>
                </a:solidFill>
              </a:rPr>
              <a:t>]</a:t>
            </a:r>
          </a:p>
          <a:p>
            <a:pPr>
              <a:spcAft>
                <a:spcPts val="300"/>
              </a:spcAft>
            </a:pPr>
            <a:r>
              <a:rPr lang="en-US" sz="900" b="0" spc="-20">
                <a:solidFill>
                  <a:schemeClr val="tx2"/>
                </a:solidFill>
              </a:rPr>
              <a:t>[</a:t>
            </a:r>
            <a:r>
              <a:rPr lang="en-US" sz="900" b="0" spc="-20">
                <a:solidFill>
                  <a:srgbClr val="FD349C"/>
                </a:solidFill>
              </a:rPr>
              <a:t>Address line 1</a:t>
            </a:r>
            <a:r>
              <a:rPr lang="en-US" sz="900" b="0" spc="-20">
                <a:solidFill>
                  <a:schemeClr val="tx2"/>
                </a:solidFill>
              </a:rPr>
              <a:t>]</a:t>
            </a:r>
          </a:p>
          <a:p>
            <a:pPr>
              <a:spcAft>
                <a:spcPts val="300"/>
              </a:spcAft>
            </a:pPr>
            <a:r>
              <a:rPr lang="en-US" sz="900" b="0" spc="-20">
                <a:solidFill>
                  <a:schemeClr val="tx2"/>
                </a:solidFill>
              </a:rPr>
              <a:t>[</a:t>
            </a:r>
            <a:r>
              <a:rPr lang="en-US" sz="900" b="0" spc="-20">
                <a:solidFill>
                  <a:srgbClr val="FD349C"/>
                </a:solidFill>
              </a:rPr>
              <a:t>Address line 2</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7BBB9F2A-97C8-4DBE-BEC7-A74C9B7A7FDA}"/>
              </a:ext>
            </a:extLst>
          </p:cNvPr>
          <p:cNvSpPr>
            <a:spLocks noGrp="1"/>
          </p:cNvSpPr>
          <p:nvPr>
            <p:ph type="body" sz="quarter" idx="10"/>
          </p:nvPr>
        </p:nvSpPr>
        <p:spPr>
          <a:xfrm>
            <a:off x="1003200" y="2345461"/>
            <a:ext cx="4968000" cy="3071557"/>
          </a:xfrm>
        </p:spPr>
        <p:txBody>
          <a:bodyPr/>
          <a:lstStyle>
            <a:lvl1pPr>
              <a:defRPr baseline="0">
                <a:solidFill>
                  <a:schemeClr val="tx1"/>
                </a:solidFill>
              </a:defRPr>
            </a:lvl1pPr>
          </a:lstStyle>
          <a:p>
            <a:pPr lvl="0">
              <a:spcAft>
                <a:spcPts val="300"/>
              </a:spcAft>
            </a:pPr>
            <a:r>
              <a:rPr lang="en-US" sz="900" b="0" spc="-20"/>
              <a:t>Click to edit Master text styles</a:t>
            </a:r>
          </a:p>
        </p:txBody>
      </p:sp>
      <p:sp>
        <p:nvSpPr>
          <p:cNvPr id="12" name="Text Box 32">
            <a:extLst>
              <a:ext uri="{FF2B5EF4-FFF2-40B4-BE49-F238E27FC236}">
                <a16:creationId xmlns:a16="http://schemas.microsoft.com/office/drawing/2014/main" id="{6BD707DD-2562-4C6C-8676-C469CD2B6D79}"/>
              </a:ext>
            </a:extLst>
          </p:cNvPr>
          <p:cNvSpPr txBox="1">
            <a:spLocks noChangeArrowheads="1"/>
          </p:cNvSpPr>
          <p:nvPr userDrawn="1"/>
        </p:nvSpPr>
        <p:spPr bwMode="auto">
          <a:xfrm>
            <a:off x="1012563" y="431800"/>
            <a:ext cx="3234584" cy="692497"/>
          </a:xfrm>
          <a:prstGeom prst="rect">
            <a:avLst/>
          </a:prstGeom>
          <a:noFill/>
          <a:ln w="6350">
            <a:noFill/>
            <a:miter lim="800000"/>
            <a:headEnd/>
            <a:tailEnd/>
          </a:ln>
          <a:effectLst/>
        </p:spPr>
        <p:txBody>
          <a:bodyPr wrap="square" lIns="0" tIns="0" rIns="0" bIns="0">
            <a:spAutoFit/>
          </a:bodyPr>
          <a:lstStyle/>
          <a:p>
            <a:pPr hangingPunct="0"/>
            <a:r>
              <a:rPr lang="en-US" sz="900" b="1">
                <a:solidFill>
                  <a:schemeClr val="tx2"/>
                </a:solidFill>
                <a:latin typeface="Arial" panose="020B0604020202020204" pitchFamily="34" charset="0"/>
                <a:cs typeface="Arial" panose="020B0604020202020204" pitchFamily="34" charset="0"/>
              </a:rPr>
              <a:t>KPMG [</a:t>
            </a:r>
            <a:r>
              <a:rPr lang="en-US" sz="900" spc="-20">
                <a:solidFill>
                  <a:srgbClr val="FD349C"/>
                </a:solidFill>
              </a:rPr>
              <a:t>legal name</a:t>
            </a:r>
            <a:r>
              <a:rPr lang="en-US" sz="900" b="1">
                <a:solidFill>
                  <a:schemeClr val="tx2"/>
                </a:solidFill>
                <a:latin typeface="Arial" panose="020B0604020202020204" pitchFamily="34" charset="0"/>
                <a:cs typeface="Arial" panose="020B0604020202020204" pitchFamily="34" charset="0"/>
              </a:rPr>
              <a:t>]</a:t>
            </a:r>
          </a:p>
          <a:p>
            <a:pPr hangingPunct="0"/>
            <a:r>
              <a:rPr lang="en-US" sz="900">
                <a:solidFill>
                  <a:schemeClr val="tx2"/>
                </a:solidFill>
                <a:latin typeface="Arial" panose="020B0604020202020204" pitchFamily="34" charset="0"/>
                <a:cs typeface="Arial" panose="020B0604020202020204" pitchFamily="34" charset="0"/>
              </a:rPr>
              <a:t>[</a:t>
            </a:r>
            <a:r>
              <a:rPr lang="en-US" sz="900" spc="-20">
                <a:solidFill>
                  <a:srgbClr val="FD349C"/>
                </a:solidFill>
              </a:rPr>
              <a:t>Address line 1</a:t>
            </a:r>
            <a:r>
              <a:rPr lang="en-US" sz="900">
                <a:solidFill>
                  <a:schemeClr val="tx2"/>
                </a:solidFill>
                <a:latin typeface="Arial" panose="020B0604020202020204" pitchFamily="34" charset="0"/>
                <a:cs typeface="Arial" panose="020B0604020202020204" pitchFamily="34" charset="0"/>
              </a:rPr>
              <a:t>]</a:t>
            </a:r>
          </a:p>
          <a:p>
            <a:pPr hangingPunct="0"/>
            <a:r>
              <a:rPr lang="en-US" sz="900">
                <a:solidFill>
                  <a:schemeClr val="tx2"/>
                </a:solidFill>
                <a:latin typeface="Arial" panose="020B0604020202020204" pitchFamily="34" charset="0"/>
                <a:cs typeface="Arial" panose="020B0604020202020204" pitchFamily="34" charset="0"/>
              </a:rPr>
              <a:t>[</a:t>
            </a:r>
            <a:r>
              <a:rPr lang="en-US" sz="900" spc="-20">
                <a:solidFill>
                  <a:srgbClr val="FD349C"/>
                </a:solidFill>
              </a:rPr>
              <a:t>Address line 2</a:t>
            </a:r>
            <a:r>
              <a:rPr lang="en-US" sz="900">
                <a:solidFill>
                  <a:schemeClr val="tx2"/>
                </a:solidFill>
                <a:latin typeface="Arial" panose="020B0604020202020204" pitchFamily="34" charset="0"/>
                <a:cs typeface="Arial" panose="020B0604020202020204" pitchFamily="34" charset="0"/>
              </a:rPr>
              <a:t>]</a:t>
            </a:r>
          </a:p>
          <a:p>
            <a:pPr hangingPunct="0"/>
            <a:endParaRPr lang="en-US" sz="900">
              <a:solidFill>
                <a:schemeClr val="tx2"/>
              </a:solidFill>
              <a:latin typeface="Arial" panose="020B0604020202020204" pitchFamily="34" charset="0"/>
              <a:cs typeface="Arial" panose="020B0604020202020204" pitchFamily="34" charset="0"/>
            </a:endParaRPr>
          </a:p>
          <a:p>
            <a:pPr>
              <a:spcAft>
                <a:spcPts val="300"/>
              </a:spcAft>
            </a:pPr>
            <a:r>
              <a:rPr lang="en-US" sz="900" b="1" spc="-20">
                <a:solidFill>
                  <a:schemeClr val="tx2"/>
                </a:solidFill>
              </a:rPr>
              <a:t>Private and confidential</a:t>
            </a:r>
            <a:endParaRPr lang="en-US" sz="900">
              <a:solidFill>
                <a:schemeClr val="tx2"/>
              </a:solidFill>
              <a:latin typeface="Arial" panose="020B0604020202020204" pitchFamily="34" charset="0"/>
              <a:cs typeface="Arial" panose="020B0604020202020204" pitchFamily="34" charset="0"/>
            </a:endParaRPr>
          </a:p>
        </p:txBody>
      </p:sp>
      <p:sp>
        <p:nvSpPr>
          <p:cNvPr id="13" name="Text Box 33">
            <a:extLst>
              <a:ext uri="{FF2B5EF4-FFF2-40B4-BE49-F238E27FC236}">
                <a16:creationId xmlns:a16="http://schemas.microsoft.com/office/drawing/2014/main" id="{D14C2C1B-677D-4680-9E14-12E705B9BE1A}"/>
              </a:ext>
            </a:extLst>
          </p:cNvPr>
          <p:cNvSpPr txBox="1">
            <a:spLocks noChangeArrowheads="1"/>
          </p:cNvSpPr>
          <p:nvPr userDrawn="1"/>
        </p:nvSpPr>
        <p:spPr bwMode="auto">
          <a:xfrm>
            <a:off x="8760296" y="431800"/>
            <a:ext cx="2449007" cy="415498"/>
          </a:xfrm>
          <a:prstGeom prst="rect">
            <a:avLst/>
          </a:prstGeom>
          <a:noFill/>
          <a:ln w="6350">
            <a:noFill/>
            <a:miter lim="800000"/>
            <a:headEnd/>
            <a:tailEnd/>
          </a:ln>
          <a:effectLst/>
        </p:spPr>
        <p:txBody>
          <a:bodyPr wrap="square" lIns="0" tIns="0" rIns="0" bIns="0">
            <a:spAutoFit/>
          </a:bodyPr>
          <a:lstStyle/>
          <a:p>
            <a:pPr algn="r" hangingPunct="0"/>
            <a:r>
              <a:rPr lang="en-US" sz="900">
                <a:solidFill>
                  <a:schemeClr val="tx2"/>
                </a:solidFill>
                <a:latin typeface="Arial" panose="020B0604020202020204" pitchFamily="34" charset="0"/>
                <a:cs typeface="Arial" panose="020B0604020202020204" pitchFamily="34" charset="0"/>
              </a:rPr>
              <a:t>Visiting address: [</a:t>
            </a:r>
            <a:r>
              <a:rPr lang="en-US" sz="900" spc="-20">
                <a:solidFill>
                  <a:srgbClr val="FD349C"/>
                </a:solidFill>
              </a:rPr>
              <a:t>Address line 1</a:t>
            </a:r>
            <a:r>
              <a:rPr lang="en-US" sz="900">
                <a:solidFill>
                  <a:schemeClr val="tx2"/>
                </a:solidFill>
                <a:latin typeface="Arial" panose="020B0604020202020204" pitchFamily="34" charset="0"/>
                <a:cs typeface="Arial" panose="020B0604020202020204" pitchFamily="34" charset="0"/>
              </a:rPr>
              <a:t>]</a:t>
            </a:r>
          </a:p>
          <a:p>
            <a:pPr algn="r" hangingPunct="0"/>
            <a:r>
              <a:rPr lang="en-US" sz="900">
                <a:solidFill>
                  <a:schemeClr val="tx2"/>
                </a:solidFill>
                <a:latin typeface="Arial" panose="020B0604020202020204" pitchFamily="34" charset="0"/>
                <a:cs typeface="Arial" panose="020B0604020202020204" pitchFamily="34" charset="0"/>
              </a:rPr>
              <a:t>Tel: +[</a:t>
            </a:r>
            <a:r>
              <a:rPr lang="en-US" sz="900">
                <a:solidFill>
                  <a:schemeClr val="accent6"/>
                </a:solidFill>
                <a:latin typeface="Arial" panose="020B0604020202020204" pitchFamily="34" charset="0"/>
                <a:cs typeface="Arial" panose="020B0604020202020204" pitchFamily="34" charset="0"/>
              </a:rPr>
              <a:t>number</a:t>
            </a:r>
            <a:r>
              <a:rPr lang="en-US" sz="900">
                <a:solidFill>
                  <a:schemeClr val="tx2"/>
                </a:solidFill>
                <a:latin typeface="Arial" panose="020B0604020202020204" pitchFamily="34" charset="0"/>
                <a:cs typeface="Arial" panose="020B0604020202020204" pitchFamily="34" charset="0"/>
              </a:rPr>
              <a:t>]</a:t>
            </a:r>
          </a:p>
          <a:p>
            <a:pPr algn="r" hangingPunct="0"/>
            <a:r>
              <a:rPr lang="en-US" sz="900">
                <a:solidFill>
                  <a:schemeClr val="tx2"/>
                </a:solidFill>
                <a:latin typeface="Arial" panose="020B0604020202020204" pitchFamily="34" charset="0"/>
                <a:cs typeface="Arial" panose="020B0604020202020204" pitchFamily="34" charset="0"/>
              </a:rPr>
              <a:t>www.kpmg.[</a:t>
            </a:r>
            <a:r>
              <a:rPr lang="en-US" sz="900">
                <a:solidFill>
                  <a:schemeClr val="accent6"/>
                </a:solidFill>
                <a:latin typeface="Arial" panose="020B0604020202020204" pitchFamily="34" charset="0"/>
                <a:cs typeface="Arial" panose="020B0604020202020204" pitchFamily="34" charset="0"/>
              </a:rPr>
              <a:t>xx</a:t>
            </a:r>
            <a:r>
              <a:rPr lang="en-US" sz="900">
                <a:solidFill>
                  <a:schemeClr val="tx2"/>
                </a:solidFill>
                <a:latin typeface="Arial" panose="020B0604020202020204" pitchFamily="34" charset="0"/>
                <a:cs typeface="Arial" panose="020B0604020202020204" pitchFamily="34" charset="0"/>
              </a:rPr>
              <a:t>]</a:t>
            </a:r>
          </a:p>
        </p:txBody>
      </p:sp>
      <p:sp>
        <p:nvSpPr>
          <p:cNvPr id="14" name="Text Placeholder 8">
            <a:extLst>
              <a:ext uri="{FF2B5EF4-FFF2-40B4-BE49-F238E27FC236}">
                <a16:creationId xmlns:a16="http://schemas.microsoft.com/office/drawing/2014/main" id="{78BF920B-FA8C-4998-B2E1-FB28E5B5DBDA}"/>
              </a:ext>
            </a:extLst>
          </p:cNvPr>
          <p:cNvSpPr>
            <a:spLocks noGrp="1"/>
          </p:cNvSpPr>
          <p:nvPr>
            <p:ph type="body" sz="quarter" idx="11"/>
          </p:nvPr>
        </p:nvSpPr>
        <p:spPr>
          <a:xfrm>
            <a:off x="6220800" y="2345461"/>
            <a:ext cx="4968000" cy="3071557"/>
          </a:xfrm>
        </p:spPr>
        <p:txBody>
          <a:bodyPr/>
          <a:lstStyle>
            <a:lvl1pPr>
              <a:defRPr>
                <a:solidFill>
                  <a:schemeClr val="tx1"/>
                </a:solidFill>
              </a:defRPr>
            </a:lvl1pPr>
          </a:lstStyle>
          <a:p>
            <a:pPr lvl="0">
              <a:spcAft>
                <a:spcPts val="300"/>
              </a:spcAft>
            </a:pPr>
            <a:r>
              <a:rPr lang="en-US" sz="900" b="0" spc="-20"/>
              <a:t>Click to edit Master text styles</a:t>
            </a:r>
          </a:p>
        </p:txBody>
      </p:sp>
      <p:sp>
        <p:nvSpPr>
          <p:cNvPr id="16" name="Rectangle 6">
            <a:extLst>
              <a:ext uri="{FF2B5EF4-FFF2-40B4-BE49-F238E27FC236}">
                <a16:creationId xmlns:a16="http://schemas.microsoft.com/office/drawing/2014/main" id="{A7105EC9-D813-45A3-9963-6B64FECDE587}"/>
              </a:ext>
            </a:extLst>
          </p:cNvPr>
          <p:cNvSpPr>
            <a:spLocks noChangeArrowheads="1"/>
          </p:cNvSpPr>
          <p:nvPr userDrawn="1"/>
        </p:nvSpPr>
        <p:spPr bwMode="gray">
          <a:xfrm>
            <a:off x="1887216" y="6271101"/>
            <a:ext cx="4083984" cy="310198"/>
          </a:xfrm>
          <a:prstGeom prst="rect">
            <a:avLst/>
          </a:prstGeom>
          <a:noFill/>
          <a:ln w="6350">
            <a:noFill/>
            <a:miter lim="800000"/>
            <a:headEnd/>
            <a:tailEnd/>
          </a:ln>
          <a:effectLst/>
        </p:spPr>
        <p:txBody>
          <a:bodyPr lIns="0" tIns="0" rIns="0" bIns="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2023 KPMG LLP, a UK limited liability partnership and a member firm of the KPMG global </a:t>
            </a:r>
            <a:r>
              <a:rPr lang="en-US" sz="600" kern="1200" noProof="0" dirty="0" err="1">
                <a:solidFill>
                  <a:schemeClr val="bg1">
                    <a:lumMod val="65000"/>
                  </a:schemeClr>
                </a:solidFill>
                <a:latin typeface="+mn-lt"/>
                <a:ea typeface="+mn-ea"/>
                <a:cs typeface="+mn-cs"/>
              </a:rPr>
              <a:t>organisation</a:t>
            </a:r>
            <a:r>
              <a:rPr lang="en-US" sz="600" kern="1200" noProof="0" dirty="0">
                <a:solidFill>
                  <a:schemeClr val="bg1">
                    <a:lumMod val="65000"/>
                  </a:schemeClr>
                </a:solidFill>
                <a:latin typeface="+mn-lt"/>
                <a:ea typeface="+mn-ea"/>
                <a:cs typeface="+mn-cs"/>
              </a:rPr>
              <a:t> of independent member firms affiliated with KPMG International Limited, a private English company limited by guarantee. All rights reserved.</a:t>
            </a:r>
          </a:p>
        </p:txBody>
      </p:sp>
      <p:sp>
        <p:nvSpPr>
          <p:cNvPr id="17" name="Rectangle 7">
            <a:extLst>
              <a:ext uri="{FF2B5EF4-FFF2-40B4-BE49-F238E27FC236}">
                <a16:creationId xmlns:a16="http://schemas.microsoft.com/office/drawing/2014/main" id="{7A9A45CD-31A0-497E-98CD-08612E57280A}"/>
              </a:ext>
            </a:extLst>
          </p:cNvPr>
          <p:cNvSpPr>
            <a:spLocks noChangeArrowheads="1"/>
          </p:cNvSpPr>
          <p:nvPr userDrawn="1"/>
        </p:nvSpPr>
        <p:spPr bwMode="gray">
          <a:xfrm>
            <a:off x="6220800" y="6271101"/>
            <a:ext cx="1252610" cy="310198"/>
          </a:xfrm>
          <a:prstGeom prst="rect">
            <a:avLst/>
          </a:prstGeom>
          <a:noFill/>
          <a:ln w="6350">
            <a:noFill/>
            <a:miter lim="800000"/>
            <a:headEnd/>
            <a:tailEnd/>
          </a:ln>
          <a:effectLst/>
        </p:spPr>
        <p:txBody>
          <a:bodyPr lIns="0" tIns="0" rIns="0" bIns="0" anchor="t" anchorCtr="0"/>
          <a:lstStyle/>
          <a:p>
            <a:r>
              <a:rPr lang="en-US" sz="600" dirty="0">
                <a:solidFill>
                  <a:schemeClr val="bg1">
                    <a:lumMod val="65000"/>
                  </a:schemeClr>
                </a:solidFill>
                <a:highlight>
                  <a:srgbClr val="FFFF00"/>
                </a:highlight>
                <a:latin typeface="+mn-lt"/>
                <a:cs typeface="Arial" panose="020B0604020202020204" pitchFamily="34" charset="0"/>
              </a:rPr>
              <a:t>Business ID 1805485-9</a:t>
            </a:r>
          </a:p>
          <a:p>
            <a:r>
              <a:rPr lang="en-US" sz="600" dirty="0">
                <a:solidFill>
                  <a:schemeClr val="bg1">
                    <a:lumMod val="65000"/>
                  </a:schemeClr>
                </a:solidFill>
                <a:highlight>
                  <a:srgbClr val="FFFF00"/>
                </a:highlight>
                <a:latin typeface="+mn-lt"/>
                <a:cs typeface="Arial" panose="020B0604020202020204" pitchFamily="34" charset="0"/>
              </a:rPr>
              <a:t>Registered in Finland</a:t>
            </a:r>
          </a:p>
          <a:p>
            <a:r>
              <a:rPr lang="en-US" sz="600" dirty="0">
                <a:solidFill>
                  <a:schemeClr val="bg1">
                    <a:lumMod val="65000"/>
                  </a:schemeClr>
                </a:solidFill>
                <a:highlight>
                  <a:srgbClr val="FFFF00"/>
                </a:highlight>
                <a:latin typeface="+mn-lt"/>
                <a:cs typeface="Arial" panose="020B0604020202020204" pitchFamily="34" charset="0"/>
              </a:rPr>
              <a:t>Domicile Helsinki</a:t>
            </a:r>
          </a:p>
        </p:txBody>
      </p:sp>
    </p:spTree>
    <p:extLst>
      <p:ext uri="{BB962C8B-B14F-4D97-AF65-F5344CB8AC3E}">
        <p14:creationId xmlns:p14="http://schemas.microsoft.com/office/powerpoint/2010/main" val="1539719356"/>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 UK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English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15505785"/>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706178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8292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userDrawn="1">
  <p:cSld name="HEADLINES_VC_2">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2189571698"/>
              </p:ext>
            </p:extLst>
          </p:nvPr>
        </p:nvGraphicFramePr>
        <p:xfrm>
          <a:off x="998399" y="1332226"/>
          <a:ext cx="10192163" cy="4333623"/>
        </p:xfrm>
        <a:graphic>
          <a:graphicData uri="http://schemas.openxmlformats.org/drawingml/2006/table">
            <a:tbl>
              <a:tblPr firstRow="1" bandRow="1">
                <a:tableStyleId>{5C22544A-7EE6-4342-B048-85BDC9FD1C3A}</a:tableStyleId>
              </a:tblPr>
              <a:tblGrid>
                <a:gridCol w="4540252">
                  <a:extLst>
                    <a:ext uri="{9D8B030D-6E8A-4147-A177-3AD203B41FA5}">
                      <a16:colId xmlns:a16="http://schemas.microsoft.com/office/drawing/2014/main" val="3484522192"/>
                    </a:ext>
                  </a:extLst>
                </a:gridCol>
                <a:gridCol w="818606">
                  <a:extLst>
                    <a:ext uri="{9D8B030D-6E8A-4147-A177-3AD203B41FA5}">
                      <a16:colId xmlns:a16="http://schemas.microsoft.com/office/drawing/2014/main" val="2898080812"/>
                    </a:ext>
                  </a:extLst>
                </a:gridCol>
                <a:gridCol w="696686">
                  <a:extLst>
                    <a:ext uri="{9D8B030D-6E8A-4147-A177-3AD203B41FA5}">
                      <a16:colId xmlns:a16="http://schemas.microsoft.com/office/drawing/2014/main" val="4060292537"/>
                    </a:ext>
                  </a:extLst>
                </a:gridCol>
                <a:gridCol w="714103">
                  <a:extLst>
                    <a:ext uri="{9D8B030D-6E8A-4147-A177-3AD203B41FA5}">
                      <a16:colId xmlns:a16="http://schemas.microsoft.com/office/drawing/2014/main" val="1277292110"/>
                    </a:ext>
                  </a:extLst>
                </a:gridCol>
                <a:gridCol w="766354">
                  <a:extLst>
                    <a:ext uri="{9D8B030D-6E8A-4147-A177-3AD203B41FA5}">
                      <a16:colId xmlns:a16="http://schemas.microsoft.com/office/drawing/2014/main" val="4096450474"/>
                    </a:ext>
                  </a:extLst>
                </a:gridCol>
                <a:gridCol w="1018903">
                  <a:extLst>
                    <a:ext uri="{9D8B030D-6E8A-4147-A177-3AD203B41FA5}">
                      <a16:colId xmlns:a16="http://schemas.microsoft.com/office/drawing/2014/main" val="3523288619"/>
                    </a:ext>
                  </a:extLst>
                </a:gridCol>
                <a:gridCol w="792480">
                  <a:extLst>
                    <a:ext uri="{9D8B030D-6E8A-4147-A177-3AD203B41FA5}">
                      <a16:colId xmlns:a16="http://schemas.microsoft.com/office/drawing/2014/main" val="1392655734"/>
                    </a:ext>
                  </a:extLst>
                </a:gridCol>
                <a:gridCol w="844779">
                  <a:extLst>
                    <a:ext uri="{9D8B030D-6E8A-4147-A177-3AD203B41FA5}">
                      <a16:colId xmlns:a16="http://schemas.microsoft.com/office/drawing/2014/main" val="4217565530"/>
                    </a:ext>
                  </a:extLst>
                </a:gridCol>
              </a:tblGrid>
              <a:tr h="0">
                <a:tc rowSpan="2">
                  <a:txBody>
                    <a:bodyPr/>
                    <a:lstStyle/>
                    <a:p>
                      <a:r>
                        <a:rPr lang="en-US" sz="1400" dirty="0"/>
                        <a:t>Topic</a:t>
                      </a:r>
                    </a:p>
                  </a:txBody>
                  <a:tcPr marL="72000" marR="72000" marT="72000" marB="72000">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400" dirty="0"/>
                        <a:t>Implication</a:t>
                      </a:r>
                    </a:p>
                  </a:txBody>
                  <a:tcPr marL="54864" marR="54864" marT="54864" marB="5486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gridSpan="3">
                  <a:txBody>
                    <a:bodyPr/>
                    <a:lstStyle/>
                    <a:p>
                      <a:pPr algn="ctr"/>
                      <a:r>
                        <a:rPr lang="en-US" sz="1400" dirty="0"/>
                        <a:t>Value impact</a:t>
                      </a:r>
                    </a:p>
                  </a:txBody>
                  <a:tcPr marL="54864" marR="54864" marT="54864" marB="5486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pPr algn="ctr"/>
                      <a:endParaRPr lang="en-US" sz="1400" dirty="0"/>
                    </a:p>
                  </a:txBody>
                  <a:tcPr marL="54864" marR="54864" marT="54864" marB="54864"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rowSpan="2">
                  <a:txBody>
                    <a:bodyPr/>
                    <a:lstStyle/>
                    <a:p>
                      <a:pPr algn="ctr"/>
                      <a:r>
                        <a:rPr lang="en-US" sz="1100" dirty="0"/>
                        <a:t>Timeline to implement</a:t>
                      </a:r>
                    </a:p>
                  </a:txBody>
                  <a:tcPr marL="54864" marR="54864" marT="54864" marB="54864"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noFill/>
                      <a:prstDash val="solid"/>
                      <a:round/>
                      <a:headEnd type="none" w="med" len="med"/>
                      <a:tailEnd type="none" w="med" len="med"/>
                    </a:lnB>
                    <a:solidFill>
                      <a:srgbClr val="00B8F5"/>
                    </a:solidFill>
                  </a:tcPr>
                </a:tc>
                <a:extLst>
                  <a:ext uri="{0D108BD9-81ED-4DB2-BD59-A6C34878D82A}">
                    <a16:rowId xmlns:a16="http://schemas.microsoft.com/office/drawing/2014/main" val="2599696076"/>
                  </a:ext>
                </a:extLst>
              </a:tr>
              <a:tr h="0">
                <a:tc vMerge="1">
                  <a:txBody>
                    <a:bodyPr/>
                    <a:lstStyle/>
                    <a:p>
                      <a:endParaRPr lang="en-US" sz="1400" dirty="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100" b="1" dirty="0">
                          <a:solidFill>
                            <a:schemeClr val="bg1"/>
                          </a:solidFill>
                        </a:rPr>
                        <a:t>Valuation</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1" dirty="0">
                          <a:solidFill>
                            <a:schemeClr val="bg1"/>
                          </a:solidFill>
                        </a:rPr>
                        <a:t>SPA</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1" dirty="0">
                          <a:solidFill>
                            <a:schemeClr val="bg1"/>
                          </a:solidFill>
                        </a:rPr>
                        <a:t>Other</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1" dirty="0">
                          <a:solidFill>
                            <a:schemeClr val="bg1"/>
                          </a:solidFill>
                        </a:rPr>
                        <a:t>Impact</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1" dirty="0">
                          <a:solidFill>
                            <a:schemeClr val="bg1"/>
                          </a:solidFill>
                        </a:rPr>
                        <a:t>Proposed adjustments</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1" dirty="0">
                          <a:solidFill>
                            <a:schemeClr val="bg1"/>
                          </a:solidFill>
                        </a:rPr>
                        <a:t>Upside potential</a:t>
                      </a: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US" sz="1200" b="1" dirty="0">
                        <a:solidFill>
                          <a:schemeClr val="bg1"/>
                        </a:solidFill>
                      </a:endParaRP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r h="1177085">
                <a:tc>
                  <a:txBody>
                    <a:bodyPr/>
                    <a:lstStyle/>
                    <a:p>
                      <a:pPr marL="640080">
                        <a:spcAft>
                          <a:spcPts val="900"/>
                        </a:spcAft>
                      </a:pPr>
                      <a:endParaRPr lang="en-US" sz="900" kern="1200" dirty="0">
                        <a:solidFill>
                          <a:schemeClr val="accent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800" b="1" dirty="0">
                        <a:solidFill>
                          <a:schemeClr val="accent6"/>
                        </a:solidFill>
                        <a:latin typeface="+mn-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716089"/>
                  </a:ext>
                </a:extLst>
              </a:tr>
              <a:tr h="1177085">
                <a:tc>
                  <a:txBody>
                    <a:bodyPr/>
                    <a:lstStyle/>
                    <a:p>
                      <a:pPr marL="640080">
                        <a:spcAft>
                          <a:spcPts val="900"/>
                        </a:spcAft>
                      </a:pPr>
                      <a:endParaRPr lang="en-US" sz="1000"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4082819"/>
                  </a:ext>
                </a:extLst>
              </a:tr>
              <a:tr h="1177085">
                <a:tc>
                  <a:txBody>
                    <a:bodyPr/>
                    <a:lstStyle/>
                    <a:p>
                      <a:pPr marL="640080">
                        <a:spcAft>
                          <a:spcPts val="900"/>
                        </a:spcAft>
                      </a:pPr>
                      <a:endParaRPr lang="en-US" sz="1000"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800" b="1" i="0" u="none" strike="noStrike" kern="1200" cap="none" spc="0" normalizeH="0" baseline="0" noProof="0" dirty="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1" i="0" u="none" strike="noStrike" kern="1200" cap="none" spc="0" normalizeH="0" baseline="0" noProof="0" dirty="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4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26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403123"/>
                  </a:ext>
                </a:extLst>
              </a:tr>
            </a:tbl>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7" name="Text Placeholder 6">
            <a:extLst>
              <a:ext uri="{FF2B5EF4-FFF2-40B4-BE49-F238E27FC236}">
                <a16:creationId xmlns:a16="http://schemas.microsoft.com/office/drawing/2014/main" id="{89ACCD68-19FB-4EAB-B33A-F30E928C6EEE}"/>
              </a:ext>
            </a:extLst>
          </p:cNvPr>
          <p:cNvSpPr>
            <a:spLocks noGrp="1"/>
          </p:cNvSpPr>
          <p:nvPr>
            <p:ph type="body" sz="quarter" idx="10" hasCustomPrompt="1"/>
          </p:nvPr>
        </p:nvSpPr>
        <p:spPr>
          <a:xfrm>
            <a:off x="7607081" y="2490919"/>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8" name="Text Placeholder 6">
            <a:extLst>
              <a:ext uri="{FF2B5EF4-FFF2-40B4-BE49-F238E27FC236}">
                <a16:creationId xmlns:a16="http://schemas.microsoft.com/office/drawing/2014/main" id="{A1B65DC5-EFFD-454B-A441-3C65BB9D1E1C}"/>
              </a:ext>
            </a:extLst>
          </p:cNvPr>
          <p:cNvSpPr>
            <a:spLocks noGrp="1"/>
          </p:cNvSpPr>
          <p:nvPr>
            <p:ph type="body" sz="quarter" idx="11" hasCustomPrompt="1"/>
          </p:nvPr>
        </p:nvSpPr>
        <p:spPr>
          <a:xfrm>
            <a:off x="7607081" y="3693004"/>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9" name="Text Placeholder 6">
            <a:extLst>
              <a:ext uri="{FF2B5EF4-FFF2-40B4-BE49-F238E27FC236}">
                <a16:creationId xmlns:a16="http://schemas.microsoft.com/office/drawing/2014/main" id="{3E7D4F57-0A45-4D59-B0BA-C057887627B1}"/>
              </a:ext>
            </a:extLst>
          </p:cNvPr>
          <p:cNvSpPr>
            <a:spLocks noGrp="1"/>
          </p:cNvSpPr>
          <p:nvPr>
            <p:ph type="body" sz="quarter" idx="12" hasCustomPrompt="1"/>
          </p:nvPr>
        </p:nvSpPr>
        <p:spPr>
          <a:xfrm>
            <a:off x="7607081" y="4857568"/>
            <a:ext cx="1176068"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10" name="Text Placeholder 6">
            <a:extLst>
              <a:ext uri="{FF2B5EF4-FFF2-40B4-BE49-F238E27FC236}">
                <a16:creationId xmlns:a16="http://schemas.microsoft.com/office/drawing/2014/main" id="{FF65A6F2-43C1-4C4E-8DFD-6A751704BF30}"/>
              </a:ext>
            </a:extLst>
          </p:cNvPr>
          <p:cNvSpPr>
            <a:spLocks noGrp="1"/>
          </p:cNvSpPr>
          <p:nvPr>
            <p:ph type="body" sz="quarter" idx="13" hasCustomPrompt="1"/>
          </p:nvPr>
        </p:nvSpPr>
        <p:spPr>
          <a:xfrm>
            <a:off x="8582853" y="2490919"/>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1" name="Text Placeholder 6">
            <a:extLst>
              <a:ext uri="{FF2B5EF4-FFF2-40B4-BE49-F238E27FC236}">
                <a16:creationId xmlns:a16="http://schemas.microsoft.com/office/drawing/2014/main" id="{F3083AC8-DA9F-47BF-8B60-74EB5A2AA03E}"/>
              </a:ext>
            </a:extLst>
          </p:cNvPr>
          <p:cNvSpPr>
            <a:spLocks noGrp="1"/>
          </p:cNvSpPr>
          <p:nvPr>
            <p:ph type="body" sz="quarter" idx="14" hasCustomPrompt="1"/>
          </p:nvPr>
        </p:nvSpPr>
        <p:spPr>
          <a:xfrm>
            <a:off x="8582853" y="3693004"/>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2" name="Text Placeholder 6">
            <a:extLst>
              <a:ext uri="{FF2B5EF4-FFF2-40B4-BE49-F238E27FC236}">
                <a16:creationId xmlns:a16="http://schemas.microsoft.com/office/drawing/2014/main" id="{ABDF267A-E8A4-44D2-A045-E6466541A5A1}"/>
              </a:ext>
            </a:extLst>
          </p:cNvPr>
          <p:cNvSpPr>
            <a:spLocks noGrp="1"/>
          </p:cNvSpPr>
          <p:nvPr>
            <p:ph type="body" sz="quarter" idx="15" hasCustomPrompt="1"/>
          </p:nvPr>
        </p:nvSpPr>
        <p:spPr>
          <a:xfrm>
            <a:off x="8582853" y="4857568"/>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998399" y="2233794"/>
            <a:ext cx="4535591" cy="267866"/>
          </a:xfrm>
        </p:spPr>
        <p:txBody>
          <a:bodyPr/>
          <a:lstStyle>
            <a:lvl1pPr>
              <a:defRPr sz="1400"/>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998399" y="3411748"/>
            <a:ext cx="4535590" cy="267866"/>
          </a:xfrm>
        </p:spPr>
        <p:txBody>
          <a:bodyPr/>
          <a:lstStyle>
            <a:lvl1pPr>
              <a:defRPr sz="1400"/>
            </a:lvl1pPr>
          </a:lstStyle>
          <a:p>
            <a:pPr lvl="0"/>
            <a:r>
              <a:rPr lang="en-US" dirty="0"/>
              <a:t>Heading (e.g., Quality of earnings)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998399" y="4589702"/>
            <a:ext cx="4535587" cy="267866"/>
          </a:xfrm>
        </p:spPr>
        <p:txBody>
          <a:bodyPr/>
          <a:lstStyle>
            <a:lvl1pPr>
              <a:defRPr sz="1400"/>
            </a:lvl1pPr>
          </a:lstStyle>
          <a:p>
            <a:pPr lvl="0"/>
            <a:r>
              <a:rPr lang="en-US" dirty="0"/>
              <a:t>Heading (e.g., Quality of earnings)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998399" y="3746410"/>
            <a:ext cx="4535592" cy="665420"/>
          </a:xfrm>
        </p:spPr>
        <p:txBody>
          <a:bodyPr/>
          <a:lstStyle>
            <a:lvl2pPr>
              <a:defRPr sz="1000" b="0"/>
            </a:lvl2pPr>
            <a:lvl3pPr marL="0" indent="0">
              <a:buNone/>
              <a:defRPr sz="1000"/>
            </a:lvl3pPr>
            <a:lvl4pPr>
              <a:defRPr sz="1000"/>
            </a:lvl4pPr>
            <a:lvl5pPr>
              <a:defRPr sz="1000"/>
            </a:lvl5pPr>
          </a:lstStyle>
          <a:p>
            <a:pPr lvl="1"/>
            <a:r>
              <a:rPr lang="en-US" dirty="0"/>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998399" y="4924364"/>
            <a:ext cx="4535592" cy="665420"/>
          </a:xfrm>
        </p:spPr>
        <p:txBody>
          <a:bodyPr/>
          <a:lstStyle>
            <a:lvl2pPr>
              <a:defRPr sz="1000" b="0"/>
            </a:lvl2pPr>
            <a:lvl3pPr marL="0" indent="0">
              <a:buNone/>
              <a:defRPr sz="1000"/>
            </a:lvl3pPr>
            <a:lvl4pPr>
              <a:defRPr sz="1000"/>
            </a:lvl4pPr>
            <a:lvl5pPr>
              <a:defRPr sz="1000"/>
            </a:lvl5pPr>
          </a:lstStyle>
          <a:p>
            <a:pPr lvl="1"/>
            <a:r>
              <a:rPr lang="en-US" dirty="0"/>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998399" y="2567974"/>
            <a:ext cx="4535592" cy="665420"/>
          </a:xfrm>
        </p:spPr>
        <p:txBody>
          <a:bodyPr/>
          <a:lstStyle>
            <a:lvl2pPr>
              <a:defRPr lang="en-US" sz="1000" kern="1200" dirty="0" smtClean="0">
                <a:solidFill>
                  <a:schemeClr val="accent2"/>
                </a:solidFill>
                <a:latin typeface="+mn-lt"/>
                <a:ea typeface="+mn-ea"/>
                <a:cs typeface="+mn-cs"/>
              </a:defRPr>
            </a:lvl2pPr>
            <a:lvl3pPr marL="0" indent="0">
              <a:buNone/>
              <a:defRPr sz="1000"/>
            </a:lvl3pPr>
            <a:lvl4pPr>
              <a:defRPr sz="1000"/>
            </a:lvl4pPr>
            <a:lvl5pPr>
              <a:defRPr sz="1000"/>
            </a:lvl5pPr>
          </a:lstStyle>
          <a:p>
            <a:pPr marL="0" lvl="1" indent="0" algn="l" defTabSz="914400" rtl="0" eaLnBrk="1" latinLnBrk="0" hangingPunct="1">
              <a:lnSpc>
                <a:spcPct val="100000"/>
              </a:lnSpc>
              <a:spcBef>
                <a:spcPts val="0"/>
              </a:spcBef>
              <a:spcAft>
                <a:spcPts val="600"/>
              </a:spcAft>
              <a:buFontTx/>
              <a:buNone/>
            </a:pPr>
            <a:r>
              <a:rPr lang="en-US" dirty="0"/>
              <a:t>Summary/key message of the topic</a:t>
            </a:r>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5732056" y="2490919"/>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6484488" y="2490919"/>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5732056" y="3693004"/>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6484488" y="3693004"/>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5732056" y="4857568"/>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6484488" y="4857568"/>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7200356" y="2490919"/>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7200356" y="3693004"/>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7200356" y="4857568"/>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63" name="Isosceles Triangle 62">
            <a:extLst>
              <a:ext uri="{FF2B5EF4-FFF2-40B4-BE49-F238E27FC236}">
                <a16:creationId xmlns:a16="http://schemas.microsoft.com/office/drawing/2014/main" id="{E9D1AE06-08EF-481C-8D99-9255EA39D92A}"/>
              </a:ext>
            </a:extLst>
          </p:cNvPr>
          <p:cNvSpPr/>
          <p:nvPr userDrawn="1"/>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4" name="Isosceles Triangle 63">
            <a:extLst>
              <a:ext uri="{FF2B5EF4-FFF2-40B4-BE49-F238E27FC236}">
                <a16:creationId xmlns:a16="http://schemas.microsoft.com/office/drawing/2014/main" id="{17C2926F-29C1-4B2E-803B-6EEB424E3143}"/>
              </a:ext>
            </a:extLst>
          </p:cNvPr>
          <p:cNvSpPr/>
          <p:nvPr userDrawn="1"/>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5" name="Oval 64">
            <a:hlinkClick r:id="" action="ppaction://hlinkshowjump?jump=nextslide"/>
            <a:extLst>
              <a:ext uri="{FF2B5EF4-FFF2-40B4-BE49-F238E27FC236}">
                <a16:creationId xmlns:a16="http://schemas.microsoft.com/office/drawing/2014/main" id="{EB7F17BD-A802-4148-91A9-ADEFCD47BB96}"/>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6" name="Oval 65">
            <a:hlinkClick r:id="" action="ppaction://hlinkshowjump?jump=previousslide"/>
            <a:extLst>
              <a:ext uri="{FF2B5EF4-FFF2-40B4-BE49-F238E27FC236}">
                <a16:creationId xmlns:a16="http://schemas.microsoft.com/office/drawing/2014/main" id="{7158AE46-3132-42BE-A591-9B94D6F4F43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67" name="Graphic 66" descr="Home">
            <a:hlinkClick r:id="rId5" action="ppaction://hlinksldjump"/>
            <a:extLst>
              <a:ext uri="{FF2B5EF4-FFF2-40B4-BE49-F238E27FC236}">
                <a16:creationId xmlns:a16="http://schemas.microsoft.com/office/drawing/2014/main" id="{98C14409-D58E-48D2-8C6A-E65520A4FB98}"/>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8" cy="222478"/>
          </a:xfrm>
          <a:prstGeom prst="rect">
            <a:avLst/>
          </a:prstGeom>
        </p:spPr>
      </p:pic>
      <p:sp>
        <p:nvSpPr>
          <p:cNvPr id="36" name="Text Placeholder 6">
            <a:extLst>
              <a:ext uri="{FF2B5EF4-FFF2-40B4-BE49-F238E27FC236}">
                <a16:creationId xmlns:a16="http://schemas.microsoft.com/office/drawing/2014/main" id="{79FDEBF9-ADD4-4350-B7BB-CCF43750FB5F}"/>
              </a:ext>
            </a:extLst>
          </p:cNvPr>
          <p:cNvSpPr>
            <a:spLocks noGrp="1"/>
          </p:cNvSpPr>
          <p:nvPr>
            <p:ph type="body" sz="quarter" idx="36" hasCustomPrompt="1"/>
          </p:nvPr>
        </p:nvSpPr>
        <p:spPr>
          <a:xfrm>
            <a:off x="9475736" y="2490919"/>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37" name="Text Placeholder 6">
            <a:extLst>
              <a:ext uri="{FF2B5EF4-FFF2-40B4-BE49-F238E27FC236}">
                <a16:creationId xmlns:a16="http://schemas.microsoft.com/office/drawing/2014/main" id="{2004A5DA-0E0C-4245-9CA5-65014084484A}"/>
              </a:ext>
            </a:extLst>
          </p:cNvPr>
          <p:cNvSpPr>
            <a:spLocks noGrp="1"/>
          </p:cNvSpPr>
          <p:nvPr>
            <p:ph type="body" sz="quarter" idx="37" hasCustomPrompt="1"/>
          </p:nvPr>
        </p:nvSpPr>
        <p:spPr>
          <a:xfrm>
            <a:off x="9475736" y="3693004"/>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38" name="Text Placeholder 6">
            <a:extLst>
              <a:ext uri="{FF2B5EF4-FFF2-40B4-BE49-F238E27FC236}">
                <a16:creationId xmlns:a16="http://schemas.microsoft.com/office/drawing/2014/main" id="{DBBE4969-9474-4C52-94AD-E6525D73BA75}"/>
              </a:ext>
            </a:extLst>
          </p:cNvPr>
          <p:cNvSpPr>
            <a:spLocks noGrp="1"/>
          </p:cNvSpPr>
          <p:nvPr>
            <p:ph type="body" sz="quarter" idx="38" hasCustomPrompt="1"/>
          </p:nvPr>
        </p:nvSpPr>
        <p:spPr>
          <a:xfrm>
            <a:off x="9475736" y="4857568"/>
            <a:ext cx="965837" cy="474902"/>
          </a:xfrm>
        </p:spPr>
        <p:txBody>
          <a:bodyP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39" name="Text Placeholder 6">
            <a:extLst>
              <a:ext uri="{FF2B5EF4-FFF2-40B4-BE49-F238E27FC236}">
                <a16:creationId xmlns:a16="http://schemas.microsoft.com/office/drawing/2014/main" id="{EE753D60-9A55-4097-A2D7-1561A045E040}"/>
              </a:ext>
            </a:extLst>
          </p:cNvPr>
          <p:cNvSpPr>
            <a:spLocks noGrp="1"/>
          </p:cNvSpPr>
          <p:nvPr>
            <p:ph type="body" sz="quarter" idx="39" hasCustomPrompt="1"/>
          </p:nvPr>
        </p:nvSpPr>
        <p:spPr>
          <a:xfrm>
            <a:off x="10441573" y="2490919"/>
            <a:ext cx="793566" cy="474902"/>
          </a:xfrm>
        </p:spPr>
        <p:txBody>
          <a:bodyPr anchor="ct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marL="0" marR="0" lvl="0" indent="0" algn="ctr" defTabSz="914400" rtl="0" eaLnBrk="1" fontAlgn="auto" latinLnBrk="0" hangingPunct="1">
              <a:lnSpc>
                <a:spcPts val="24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B8F5"/>
                </a:solidFill>
                <a:effectLst/>
                <a:uLnTx/>
                <a:uFillTx/>
                <a:latin typeface="KPMG Bold"/>
                <a:ea typeface="+mn-ea"/>
                <a:cs typeface="+mn-cs"/>
              </a:rPr>
              <a:t>6-12</a:t>
            </a:r>
            <a:br>
              <a:rPr kumimoji="0" lang="en-US" sz="2400" b="0" i="0" u="none" strike="noStrike" kern="1200" cap="none" spc="0" normalizeH="0" baseline="0" noProof="0" dirty="0">
                <a:ln>
                  <a:noFill/>
                </a:ln>
                <a:solidFill>
                  <a:srgbClr val="00B8F5"/>
                </a:solidFill>
                <a:effectLst/>
                <a:uLnTx/>
                <a:uFillTx/>
                <a:latin typeface="KPMG Bold"/>
                <a:ea typeface="+mn-ea"/>
                <a:cs typeface="+mn-cs"/>
              </a:rPr>
            </a:br>
            <a:r>
              <a:rPr kumimoji="0" lang="en-US" sz="2400" b="0" i="0" u="none" strike="noStrike" kern="1200" cap="none" spc="0" normalizeH="0" baseline="0" noProof="0" dirty="0">
                <a:ln>
                  <a:noFill/>
                </a:ln>
                <a:solidFill>
                  <a:srgbClr val="00B8F5"/>
                </a:solidFill>
                <a:effectLst/>
                <a:uLnTx/>
                <a:uFillTx/>
                <a:latin typeface="KPMG Bold"/>
                <a:ea typeface="+mn-ea"/>
                <a:cs typeface="+mn-cs"/>
              </a:rPr>
              <a:t>months</a:t>
            </a:r>
          </a:p>
        </p:txBody>
      </p:sp>
      <p:sp>
        <p:nvSpPr>
          <p:cNvPr id="40" name="Text Placeholder 6">
            <a:extLst>
              <a:ext uri="{FF2B5EF4-FFF2-40B4-BE49-F238E27FC236}">
                <a16:creationId xmlns:a16="http://schemas.microsoft.com/office/drawing/2014/main" id="{5EC1EC94-DC4D-41F1-A318-2FDE1A7F9D5B}"/>
              </a:ext>
            </a:extLst>
          </p:cNvPr>
          <p:cNvSpPr>
            <a:spLocks noGrp="1"/>
          </p:cNvSpPr>
          <p:nvPr>
            <p:ph type="body" sz="quarter" idx="40" hasCustomPrompt="1"/>
          </p:nvPr>
        </p:nvSpPr>
        <p:spPr>
          <a:xfrm>
            <a:off x="10441573" y="3693004"/>
            <a:ext cx="793566" cy="474902"/>
          </a:xfrm>
        </p:spPr>
        <p:txBody>
          <a:bodyPr anchor="ct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marL="0" marR="0" lvl="0" indent="0" algn="ctr" defTabSz="914400" rtl="0" eaLnBrk="1" fontAlgn="auto" latinLnBrk="0" hangingPunct="1">
              <a:lnSpc>
                <a:spcPts val="24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B8F5"/>
                </a:solidFill>
                <a:effectLst/>
                <a:uLnTx/>
                <a:uFillTx/>
                <a:latin typeface="KPMG Bold"/>
                <a:ea typeface="+mn-ea"/>
                <a:cs typeface="+mn-cs"/>
              </a:rPr>
              <a:t>6-12</a:t>
            </a:r>
            <a:br>
              <a:rPr kumimoji="0" lang="en-US" sz="2400" b="0" i="0" u="none" strike="noStrike" kern="1200" cap="none" spc="0" normalizeH="0" baseline="0" noProof="0" dirty="0">
                <a:ln>
                  <a:noFill/>
                </a:ln>
                <a:solidFill>
                  <a:srgbClr val="00B8F5"/>
                </a:solidFill>
                <a:effectLst/>
                <a:uLnTx/>
                <a:uFillTx/>
                <a:latin typeface="KPMG Bold"/>
                <a:ea typeface="+mn-ea"/>
                <a:cs typeface="+mn-cs"/>
              </a:rPr>
            </a:br>
            <a:r>
              <a:rPr kumimoji="0" lang="en-US" sz="2400" b="0" i="0" u="none" strike="noStrike" kern="1200" cap="none" spc="0" normalizeH="0" baseline="0" noProof="0" dirty="0">
                <a:ln>
                  <a:noFill/>
                </a:ln>
                <a:solidFill>
                  <a:srgbClr val="00B8F5"/>
                </a:solidFill>
                <a:effectLst/>
                <a:uLnTx/>
                <a:uFillTx/>
                <a:latin typeface="KPMG Bold"/>
                <a:ea typeface="+mn-ea"/>
                <a:cs typeface="+mn-cs"/>
              </a:rPr>
              <a:t>months</a:t>
            </a:r>
          </a:p>
        </p:txBody>
      </p:sp>
      <p:sp>
        <p:nvSpPr>
          <p:cNvPr id="41" name="Text Placeholder 6">
            <a:extLst>
              <a:ext uri="{FF2B5EF4-FFF2-40B4-BE49-F238E27FC236}">
                <a16:creationId xmlns:a16="http://schemas.microsoft.com/office/drawing/2014/main" id="{34862E59-4877-4CF5-A709-27FB9D71911C}"/>
              </a:ext>
            </a:extLst>
          </p:cNvPr>
          <p:cNvSpPr>
            <a:spLocks noGrp="1"/>
          </p:cNvSpPr>
          <p:nvPr>
            <p:ph type="body" sz="quarter" idx="41" hasCustomPrompt="1"/>
          </p:nvPr>
        </p:nvSpPr>
        <p:spPr>
          <a:xfrm>
            <a:off x="10441573" y="4857568"/>
            <a:ext cx="793566" cy="474902"/>
          </a:xfrm>
        </p:spPr>
        <p:txBody>
          <a:bodyPr anchor="ctr"/>
          <a:lstStyle>
            <a:lvl1pPr algn="ctr">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marL="0" marR="0" lvl="0" indent="0" algn="ctr" defTabSz="914400" rtl="0" eaLnBrk="1" fontAlgn="auto" latinLnBrk="0" hangingPunct="1">
              <a:lnSpc>
                <a:spcPts val="24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B8F5"/>
                </a:solidFill>
                <a:effectLst/>
                <a:uLnTx/>
                <a:uFillTx/>
                <a:latin typeface="KPMG Bold"/>
                <a:ea typeface="+mn-ea"/>
                <a:cs typeface="+mn-cs"/>
              </a:rPr>
              <a:t>6-12</a:t>
            </a:r>
            <a:br>
              <a:rPr kumimoji="0" lang="en-US" sz="2400" b="0" i="0" u="none" strike="noStrike" kern="1200" cap="none" spc="0" normalizeH="0" baseline="0" noProof="0" dirty="0">
                <a:ln>
                  <a:noFill/>
                </a:ln>
                <a:solidFill>
                  <a:srgbClr val="00B8F5"/>
                </a:solidFill>
                <a:effectLst/>
                <a:uLnTx/>
                <a:uFillTx/>
                <a:latin typeface="KPMG Bold"/>
                <a:ea typeface="+mn-ea"/>
                <a:cs typeface="+mn-cs"/>
              </a:rPr>
            </a:br>
            <a:r>
              <a:rPr kumimoji="0" lang="en-US" sz="2400" b="0" i="0" u="none" strike="noStrike" kern="1200" cap="none" spc="0" normalizeH="0" baseline="0" noProof="0" dirty="0">
                <a:ln>
                  <a:noFill/>
                </a:ln>
                <a:solidFill>
                  <a:srgbClr val="00B8F5"/>
                </a:solidFill>
                <a:effectLst/>
                <a:uLnTx/>
                <a:uFillTx/>
                <a:latin typeface="KPMG Bold"/>
                <a:ea typeface="+mn-ea"/>
                <a:cs typeface="+mn-cs"/>
              </a:rPr>
              <a:t>months</a:t>
            </a:r>
          </a:p>
        </p:txBody>
      </p:sp>
    </p:spTree>
    <p:extLst>
      <p:ext uri="{BB962C8B-B14F-4D97-AF65-F5344CB8AC3E}">
        <p14:creationId xmlns:p14="http://schemas.microsoft.com/office/powerpoint/2010/main" val="3027022646"/>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3700.xml><?xml version="1.0" encoding="utf-8"?>
<p:sldLayout xmlns:a="http://schemas.openxmlformats.org/drawingml/2006/main" xmlns:r="http://schemas.openxmlformats.org/officeDocument/2006/relationships" xmlns:p="http://schemas.openxmlformats.org/presentationml/2006/main" preserve="1" userDrawn="1">
  <p:cSld name="BENCHMARKIN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340768"/>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6" name="Chart Placeholder 43">
            <a:extLst>
              <a:ext uri="{FF2B5EF4-FFF2-40B4-BE49-F238E27FC236}">
                <a16:creationId xmlns:a16="http://schemas.microsoft.com/office/drawing/2014/main" id="{A8C25DD9-0649-4FB6-8099-C6E2B474ECF6}"/>
              </a:ext>
            </a:extLst>
          </p:cNvPr>
          <p:cNvSpPr>
            <a:spLocks noGrp="1"/>
          </p:cNvSpPr>
          <p:nvPr>
            <p:ph type="chart" sz="quarter" idx="21"/>
          </p:nvPr>
        </p:nvSpPr>
        <p:spPr>
          <a:xfrm>
            <a:off x="995361" y="2235227"/>
            <a:ext cx="7588388" cy="1620000"/>
          </a:xfrm>
        </p:spPr>
        <p:txBody>
          <a:bodyPr lIns="72000" tIns="0" rIns="72000" bIns="0"/>
          <a:lstStyle>
            <a:lvl1pPr rtl="0">
              <a:defRPr sz="1000" b="1">
                <a:solidFill>
                  <a:schemeClr val="tx2"/>
                </a:solidFill>
              </a:defRPr>
            </a:lvl1pPr>
          </a:lstStyle>
          <a:p>
            <a:r>
              <a:rPr lang="en-US" noProof="0"/>
              <a:t>Click icon to add chart</a:t>
            </a:r>
            <a:endParaRPr lang="en-US" noProof="0" dirty="0"/>
          </a:p>
        </p:txBody>
      </p:sp>
      <p:sp>
        <p:nvSpPr>
          <p:cNvPr id="27" name="Chart Placeholder 43">
            <a:extLst>
              <a:ext uri="{FF2B5EF4-FFF2-40B4-BE49-F238E27FC236}">
                <a16:creationId xmlns:a16="http://schemas.microsoft.com/office/drawing/2014/main" id="{27D8A0D2-8916-4534-AAD0-756AA730E88D}"/>
              </a:ext>
            </a:extLst>
          </p:cNvPr>
          <p:cNvSpPr>
            <a:spLocks noGrp="1"/>
          </p:cNvSpPr>
          <p:nvPr>
            <p:ph type="chart" sz="quarter" idx="22"/>
          </p:nvPr>
        </p:nvSpPr>
        <p:spPr>
          <a:xfrm>
            <a:off x="995361" y="4247400"/>
            <a:ext cx="7588388" cy="1620000"/>
          </a:xfrm>
        </p:spPr>
        <p:txBody>
          <a:bodyPr lIns="72000" tIns="0" rIns="72000" bIns="0"/>
          <a:lstStyle>
            <a:lvl1pPr rtl="0">
              <a:defRPr sz="1000" b="1">
                <a:solidFill>
                  <a:schemeClr val="tx2"/>
                </a:solidFill>
              </a:defRPr>
            </a:lvl1pPr>
          </a:lstStyle>
          <a:p>
            <a:r>
              <a:rPr lang="en-US" noProof="0"/>
              <a:t>Click icon to add chart</a:t>
            </a:r>
            <a:endParaRPr lang="en-US" noProof="0" dirty="0"/>
          </a:p>
        </p:txBody>
      </p:sp>
      <p:sp>
        <p:nvSpPr>
          <p:cNvPr id="2" name="Rectangle 1">
            <a:extLst>
              <a:ext uri="{FF2B5EF4-FFF2-40B4-BE49-F238E27FC236}">
                <a16:creationId xmlns:a16="http://schemas.microsoft.com/office/drawing/2014/main" id="{E7043031-6FB6-9272-EDB3-8392EC354BB3}"/>
              </a:ext>
            </a:extLst>
          </p:cNvPr>
          <p:cNvSpPr>
            <a:spLocks/>
          </p:cNvSpPr>
          <p:nvPr userDrawn="1"/>
        </p:nvSpPr>
        <p:spPr>
          <a:xfrm>
            <a:off x="8715421" y="1911600"/>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endParaRPr lang="en-US" sz="1000" b="0">
              <a:solidFill>
                <a:schemeClr val="bg1"/>
              </a:solidFill>
            </a:endParaRPr>
          </a:p>
        </p:txBody>
      </p:sp>
      <p:sp>
        <p:nvSpPr>
          <p:cNvPr id="12" name="Rectangle 11">
            <a:extLst>
              <a:ext uri="{FF2B5EF4-FFF2-40B4-BE49-F238E27FC236}">
                <a16:creationId xmlns:a16="http://schemas.microsoft.com/office/drawing/2014/main" id="{D95071ED-58F2-F292-70F0-BEF26478A764}"/>
              </a:ext>
            </a:extLst>
          </p:cNvPr>
          <p:cNvSpPr>
            <a:spLocks/>
          </p:cNvSpPr>
          <p:nvPr userDrawn="1"/>
        </p:nvSpPr>
        <p:spPr>
          <a:xfrm>
            <a:off x="8715421" y="3921957"/>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1000" b="0">
              <a:solidFill>
                <a:schemeClr val="bg1"/>
              </a:solidFill>
            </a:endParaRPr>
          </a:p>
        </p:txBody>
      </p:sp>
      <p:sp>
        <p:nvSpPr>
          <p:cNvPr id="13" name="Text Placeholder 25">
            <a:extLst>
              <a:ext uri="{FF2B5EF4-FFF2-40B4-BE49-F238E27FC236}">
                <a16:creationId xmlns:a16="http://schemas.microsoft.com/office/drawing/2014/main" id="{13EF8C75-5242-6208-4796-DC7DEC5567DD}"/>
              </a:ext>
            </a:extLst>
          </p:cNvPr>
          <p:cNvSpPr>
            <a:spLocks noGrp="1"/>
          </p:cNvSpPr>
          <p:nvPr>
            <p:ph type="body" sz="quarter" idx="24" hasCustomPrompt="1"/>
          </p:nvPr>
        </p:nvSpPr>
        <p:spPr bwMode="white">
          <a:xfrm>
            <a:off x="8715421" y="3921957"/>
            <a:ext cx="2484000" cy="252000"/>
          </a:xfrm>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24" name="Text Placeholder 8">
            <a:extLst>
              <a:ext uri="{FF2B5EF4-FFF2-40B4-BE49-F238E27FC236}">
                <a16:creationId xmlns:a16="http://schemas.microsoft.com/office/drawing/2014/main" id="{5D08B599-C1CF-9E58-34C5-0980913BD21C}"/>
              </a:ext>
            </a:extLst>
          </p:cNvPr>
          <p:cNvSpPr>
            <a:spLocks noGrp="1"/>
          </p:cNvSpPr>
          <p:nvPr>
            <p:ph type="body" sz="quarter" idx="25" hasCustomPrompt="1"/>
          </p:nvPr>
        </p:nvSpPr>
        <p:spPr>
          <a:xfrm>
            <a:off x="8715813" y="2235211"/>
            <a:ext cx="2484000" cy="162000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8">
            <a:extLst>
              <a:ext uri="{FF2B5EF4-FFF2-40B4-BE49-F238E27FC236}">
                <a16:creationId xmlns:a16="http://schemas.microsoft.com/office/drawing/2014/main" id="{BFA8B0D2-0FC0-8632-3E49-CCCABEA86B61}"/>
              </a:ext>
            </a:extLst>
          </p:cNvPr>
          <p:cNvSpPr>
            <a:spLocks noGrp="1"/>
          </p:cNvSpPr>
          <p:nvPr>
            <p:ph type="body" sz="quarter" idx="26" hasCustomPrompt="1"/>
          </p:nvPr>
        </p:nvSpPr>
        <p:spPr>
          <a:xfrm>
            <a:off x="8715421" y="4247400"/>
            <a:ext cx="2484000" cy="1620000"/>
          </a:xfrm>
        </p:spPr>
        <p:txBody>
          <a:bodyPr lIns="72000" tIns="0" rIns="7200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8" name="Rectangle 27">
            <a:extLst>
              <a:ext uri="{FF2B5EF4-FFF2-40B4-BE49-F238E27FC236}">
                <a16:creationId xmlns:a16="http://schemas.microsoft.com/office/drawing/2014/main" id="{9D75509C-0477-C773-735A-637FDA814F2F}"/>
              </a:ext>
            </a:extLst>
          </p:cNvPr>
          <p:cNvSpPr>
            <a:spLocks/>
          </p:cNvSpPr>
          <p:nvPr userDrawn="1"/>
        </p:nvSpPr>
        <p:spPr>
          <a:xfrm>
            <a:off x="995361" y="1912334"/>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dirty="0"/>
          </a:p>
        </p:txBody>
      </p:sp>
      <p:sp>
        <p:nvSpPr>
          <p:cNvPr id="30" name="Rectangle 29">
            <a:extLst>
              <a:ext uri="{FF2B5EF4-FFF2-40B4-BE49-F238E27FC236}">
                <a16:creationId xmlns:a16="http://schemas.microsoft.com/office/drawing/2014/main" id="{B2926D10-B3EF-2A5C-379D-B9022E76D690}"/>
              </a:ext>
            </a:extLst>
          </p:cNvPr>
          <p:cNvSpPr>
            <a:spLocks/>
          </p:cNvSpPr>
          <p:nvPr userDrawn="1"/>
        </p:nvSpPr>
        <p:spPr>
          <a:xfrm>
            <a:off x="995361" y="3923425"/>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dirty="0"/>
          </a:p>
        </p:txBody>
      </p:sp>
      <p:sp>
        <p:nvSpPr>
          <p:cNvPr id="31" name="Text Placeholder 13">
            <a:extLst>
              <a:ext uri="{FF2B5EF4-FFF2-40B4-BE49-F238E27FC236}">
                <a16:creationId xmlns:a16="http://schemas.microsoft.com/office/drawing/2014/main" id="{1D9A4C3B-AA31-C364-A220-761E4E69085A}"/>
              </a:ext>
            </a:extLst>
          </p:cNvPr>
          <p:cNvSpPr>
            <a:spLocks noGrp="1"/>
          </p:cNvSpPr>
          <p:nvPr>
            <p:ph type="body" sz="quarter" idx="28" hasCustomPrompt="1"/>
          </p:nvPr>
        </p:nvSpPr>
        <p:spPr>
          <a:xfrm>
            <a:off x="995361" y="3924368"/>
            <a:ext cx="7588388" cy="252000"/>
          </a:xfrm>
        </p:spPr>
        <p:txBody>
          <a:bodyPr lIns="72000" rIns="72000" anchor="ctr"/>
          <a:lstStyle>
            <a:lvl1pPr>
              <a:defRPr b="1">
                <a:solidFill>
                  <a:schemeClr val="bg1"/>
                </a:solidFill>
              </a:defRPr>
            </a:lvl1pPr>
          </a:lstStyle>
          <a:p>
            <a:pPr lvl="0"/>
            <a:r>
              <a:rPr lang="en-US" dirty="0"/>
              <a:t>KPI2 (e.g., EBITDA margin)</a:t>
            </a:r>
          </a:p>
        </p:txBody>
      </p:sp>
      <p:sp>
        <p:nvSpPr>
          <p:cNvPr id="10" name="Text Placeholder 25">
            <a:extLst>
              <a:ext uri="{FF2B5EF4-FFF2-40B4-BE49-F238E27FC236}">
                <a16:creationId xmlns:a16="http://schemas.microsoft.com/office/drawing/2014/main" id="{D5E555A8-1BBB-19E7-0D80-5259DC4FEE84}"/>
              </a:ext>
            </a:extLst>
          </p:cNvPr>
          <p:cNvSpPr>
            <a:spLocks noGrp="1"/>
          </p:cNvSpPr>
          <p:nvPr>
            <p:ph type="body" sz="quarter" idx="23" hasCustomPrompt="1"/>
          </p:nvPr>
        </p:nvSpPr>
        <p:spPr bwMode="white">
          <a:xfrm>
            <a:off x="8715421" y="1910779"/>
            <a:ext cx="2484000" cy="252000"/>
          </a:xfrm>
        </p:spPr>
        <p:txBody>
          <a:bodyPr lIns="72000" tIns="36000" rIns="72000" bIns="3600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11" name="Text Placeholder 13">
            <a:extLst>
              <a:ext uri="{FF2B5EF4-FFF2-40B4-BE49-F238E27FC236}">
                <a16:creationId xmlns:a16="http://schemas.microsoft.com/office/drawing/2014/main" id="{9C116C6F-09A6-28D8-6B9E-B3D5BB5F5684}"/>
              </a:ext>
            </a:extLst>
          </p:cNvPr>
          <p:cNvSpPr>
            <a:spLocks noGrp="1"/>
          </p:cNvSpPr>
          <p:nvPr>
            <p:ph type="body" sz="quarter" idx="27" hasCustomPrompt="1"/>
          </p:nvPr>
        </p:nvSpPr>
        <p:spPr>
          <a:xfrm>
            <a:off x="995361" y="1908611"/>
            <a:ext cx="7588388"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t>KPI1 (e.g., Gross margin)</a:t>
            </a:r>
          </a:p>
        </p:txBody>
      </p:sp>
    </p:spTree>
    <p:extLst>
      <p:ext uri="{BB962C8B-B14F-4D97-AF65-F5344CB8AC3E}">
        <p14:creationId xmlns:p14="http://schemas.microsoft.com/office/powerpoint/2010/main" val="24767093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 Target="../slides/slide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ags" Target="../tags/tag3.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theme" Target="../theme/theme2.xml"/><Relationship Id="rId5" Type="http://schemas.openxmlformats.org/officeDocument/2006/relationships/slideLayout" Target="../slideLayouts/slideLayout59.xml"/><Relationship Id="rId4" Type="http://schemas.openxmlformats.org/officeDocument/2006/relationships/slideLayout" Target="../slideLayouts/slideLayout58.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130.xml"/><Relationship Id="rId18" Type="http://schemas.openxmlformats.org/officeDocument/2006/relationships/slideLayout" Target="../slideLayouts/slideLayout180.xml"/><Relationship Id="rId26" Type="http://schemas.openxmlformats.org/officeDocument/2006/relationships/slideLayout" Target="../slideLayouts/slideLayout260.xml"/><Relationship Id="rId39" Type="http://schemas.openxmlformats.org/officeDocument/2006/relationships/slideLayout" Target="../slideLayouts/slideLayout390.xml"/><Relationship Id="rId21" Type="http://schemas.openxmlformats.org/officeDocument/2006/relationships/slideLayout" Target="../slideLayouts/slideLayout210.xml"/><Relationship Id="rId34" Type="http://schemas.openxmlformats.org/officeDocument/2006/relationships/slideLayout" Target="../slideLayouts/slideLayout340.xml"/><Relationship Id="rId42" Type="http://schemas.openxmlformats.org/officeDocument/2006/relationships/slideLayout" Target="../slideLayouts/slideLayout420.xml"/><Relationship Id="rId47" Type="http://schemas.openxmlformats.org/officeDocument/2006/relationships/slideLayout" Target="../slideLayouts/slideLayout470.xml"/><Relationship Id="rId50" Type="http://schemas.openxmlformats.org/officeDocument/2006/relationships/slideLayout" Target="../slideLayouts/slideLayout500.xml"/><Relationship Id="rId55" Type="http://schemas.openxmlformats.org/officeDocument/2006/relationships/tags" Target="../tags/tag3100.xml"/><Relationship Id="rId7" Type="http://schemas.openxmlformats.org/officeDocument/2006/relationships/slideLayout" Target="../slideLayouts/slideLayout70.xml"/><Relationship Id="rId2" Type="http://schemas.openxmlformats.org/officeDocument/2006/relationships/slideLayout" Target="../slideLayouts/slideLayout211.xml"/><Relationship Id="rId16" Type="http://schemas.openxmlformats.org/officeDocument/2006/relationships/slideLayout" Target="../slideLayouts/slideLayout160.xml"/><Relationship Id="rId29" Type="http://schemas.openxmlformats.org/officeDocument/2006/relationships/slideLayout" Target="../slideLayouts/slideLayout290.xml"/><Relationship Id="rId11" Type="http://schemas.openxmlformats.org/officeDocument/2006/relationships/slideLayout" Target="../slideLayouts/slideLayout110.xml"/><Relationship Id="rId24" Type="http://schemas.openxmlformats.org/officeDocument/2006/relationships/slideLayout" Target="../slideLayouts/slideLayout240.xml"/><Relationship Id="rId32" Type="http://schemas.openxmlformats.org/officeDocument/2006/relationships/slideLayout" Target="../slideLayouts/slideLayout320.xml"/><Relationship Id="rId37" Type="http://schemas.openxmlformats.org/officeDocument/2006/relationships/slideLayout" Target="../slideLayouts/slideLayout3700.xml"/><Relationship Id="rId40" Type="http://schemas.openxmlformats.org/officeDocument/2006/relationships/slideLayout" Target="../slideLayouts/slideLayout400.xml"/><Relationship Id="rId45" Type="http://schemas.openxmlformats.org/officeDocument/2006/relationships/slideLayout" Target="../slideLayouts/slideLayout450.xml"/><Relationship Id="rId53" Type="http://schemas.openxmlformats.org/officeDocument/2006/relationships/theme" Target="../theme/theme10.xml"/><Relationship Id="rId58" Type="http://schemas.openxmlformats.org/officeDocument/2006/relationships/image" Target="../media/image20.svg"/><Relationship Id="rId5" Type="http://schemas.openxmlformats.org/officeDocument/2006/relationships/slideLayout" Target="../slideLayouts/slideLayout530.xml"/><Relationship Id="rId19" Type="http://schemas.openxmlformats.org/officeDocument/2006/relationships/slideLayout" Target="../slideLayouts/slideLayout190.xml"/><Relationship Id="rId4" Type="http://schemas.openxmlformats.org/officeDocument/2006/relationships/slideLayout" Target="../slideLayouts/slideLayout410.xml"/><Relationship Id="rId9" Type="http://schemas.openxmlformats.org/officeDocument/2006/relationships/slideLayout" Target="../slideLayouts/slideLayout90.xml"/><Relationship Id="rId14" Type="http://schemas.openxmlformats.org/officeDocument/2006/relationships/slideLayout" Target="../slideLayouts/slideLayout140.xml"/><Relationship Id="rId22" Type="http://schemas.openxmlformats.org/officeDocument/2006/relationships/slideLayout" Target="../slideLayouts/slideLayout220.xml"/><Relationship Id="rId27" Type="http://schemas.openxmlformats.org/officeDocument/2006/relationships/slideLayout" Target="../slideLayouts/slideLayout270.xml"/><Relationship Id="rId30" Type="http://schemas.openxmlformats.org/officeDocument/2006/relationships/slideLayout" Target="../slideLayouts/slideLayout300.xml"/><Relationship Id="rId35" Type="http://schemas.openxmlformats.org/officeDocument/2006/relationships/slideLayout" Target="../slideLayouts/slideLayout350.xml"/><Relationship Id="rId43" Type="http://schemas.openxmlformats.org/officeDocument/2006/relationships/slideLayout" Target="../slideLayouts/slideLayout430.xml"/><Relationship Id="rId48" Type="http://schemas.openxmlformats.org/officeDocument/2006/relationships/slideLayout" Target="../slideLayouts/slideLayout480.xml"/><Relationship Id="rId56" Type="http://schemas.openxmlformats.org/officeDocument/2006/relationships/slide" Target="../slides/slide400.xml"/><Relationship Id="rId8" Type="http://schemas.openxmlformats.org/officeDocument/2006/relationships/slideLayout" Target="../slideLayouts/slideLayout80.xml"/><Relationship Id="rId51" Type="http://schemas.openxmlformats.org/officeDocument/2006/relationships/slideLayout" Target="../slideLayouts/slideLayout510.xml"/><Relationship Id="rId3" Type="http://schemas.openxmlformats.org/officeDocument/2006/relationships/slideLayout" Target="../slideLayouts/slideLayout310.xml"/><Relationship Id="rId12" Type="http://schemas.openxmlformats.org/officeDocument/2006/relationships/slideLayout" Target="../slideLayouts/slideLayout120.xml"/><Relationship Id="rId17" Type="http://schemas.openxmlformats.org/officeDocument/2006/relationships/slideLayout" Target="../slideLayouts/slideLayout170.xml"/><Relationship Id="rId25" Type="http://schemas.openxmlformats.org/officeDocument/2006/relationships/slideLayout" Target="../slideLayouts/slideLayout250.xml"/><Relationship Id="rId33" Type="http://schemas.openxmlformats.org/officeDocument/2006/relationships/slideLayout" Target="../slideLayouts/slideLayout330.xml"/><Relationship Id="rId38" Type="http://schemas.openxmlformats.org/officeDocument/2006/relationships/slideLayout" Target="../slideLayouts/slideLayout380.xml"/><Relationship Id="rId46" Type="http://schemas.openxmlformats.org/officeDocument/2006/relationships/slideLayout" Target="../slideLayouts/slideLayout460.xml"/><Relationship Id="rId20" Type="http://schemas.openxmlformats.org/officeDocument/2006/relationships/slideLayout" Target="../slideLayouts/slideLayout200.xml"/><Relationship Id="rId41" Type="http://schemas.openxmlformats.org/officeDocument/2006/relationships/slideLayout" Target="../slideLayouts/slideLayout411.xml"/><Relationship Id="rId54" Type="http://schemas.openxmlformats.org/officeDocument/2006/relationships/tags" Target="../tags/tag2100.xml"/><Relationship Id="rId1" Type="http://schemas.openxmlformats.org/officeDocument/2006/relationships/slideLayout" Target="../slideLayouts/slideLayout111.xml"/><Relationship Id="rId6" Type="http://schemas.openxmlformats.org/officeDocument/2006/relationships/slideLayout" Target="../slideLayouts/slideLayout60.xml"/><Relationship Id="rId15" Type="http://schemas.openxmlformats.org/officeDocument/2006/relationships/slideLayout" Target="../slideLayouts/slideLayout150.xml"/><Relationship Id="rId23" Type="http://schemas.openxmlformats.org/officeDocument/2006/relationships/slideLayout" Target="../slideLayouts/slideLayout230.xml"/><Relationship Id="rId28" Type="http://schemas.openxmlformats.org/officeDocument/2006/relationships/slideLayout" Target="../slideLayouts/slideLayout280.xml"/><Relationship Id="rId36" Type="http://schemas.openxmlformats.org/officeDocument/2006/relationships/slideLayout" Target="../slideLayouts/slideLayout360.xml"/><Relationship Id="rId49" Type="http://schemas.openxmlformats.org/officeDocument/2006/relationships/slideLayout" Target="../slideLayouts/slideLayout490.xml"/><Relationship Id="rId57" Type="http://schemas.openxmlformats.org/officeDocument/2006/relationships/image" Target="../media/image110.png"/><Relationship Id="rId10" Type="http://schemas.openxmlformats.org/officeDocument/2006/relationships/slideLayout" Target="../slideLayouts/slideLayout100.xml"/><Relationship Id="rId31" Type="http://schemas.openxmlformats.org/officeDocument/2006/relationships/slideLayout" Target="../slideLayouts/slideLayout311.xml"/><Relationship Id="rId44" Type="http://schemas.openxmlformats.org/officeDocument/2006/relationships/slideLayout" Target="../slideLayouts/slideLayout440.xml"/><Relationship Id="rId52" Type="http://schemas.openxmlformats.org/officeDocument/2006/relationships/slideLayout" Target="../slideLayouts/slideLayout520.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131.xml"/><Relationship Id="rId18" Type="http://schemas.openxmlformats.org/officeDocument/2006/relationships/slideLayout" Target="../slideLayouts/slideLayout181.xml"/><Relationship Id="rId26" Type="http://schemas.openxmlformats.org/officeDocument/2006/relationships/slideLayout" Target="../slideLayouts/slideLayout261.xml"/><Relationship Id="rId39" Type="http://schemas.openxmlformats.org/officeDocument/2006/relationships/slideLayout" Target="../slideLayouts/slideLayout391.xml"/><Relationship Id="rId21" Type="http://schemas.openxmlformats.org/officeDocument/2006/relationships/slideLayout" Target="../slideLayouts/slideLayout212.xml"/><Relationship Id="rId34" Type="http://schemas.openxmlformats.org/officeDocument/2006/relationships/slideLayout" Target="../slideLayouts/slideLayout341.xml"/><Relationship Id="rId42" Type="http://schemas.openxmlformats.org/officeDocument/2006/relationships/theme" Target="../theme/theme11.xml"/><Relationship Id="rId47" Type="http://schemas.openxmlformats.org/officeDocument/2006/relationships/oleObject" Target="../embeddings/oleObject178.bin"/><Relationship Id="rId7" Type="http://schemas.openxmlformats.org/officeDocument/2006/relationships/slideLayout" Target="../slideLayouts/slideLayout71.xml"/><Relationship Id="rId2" Type="http://schemas.openxmlformats.org/officeDocument/2006/relationships/slideLayout" Target="../slideLayouts/slideLayout213.xml"/><Relationship Id="rId16" Type="http://schemas.openxmlformats.org/officeDocument/2006/relationships/slideLayout" Target="../slideLayouts/slideLayout161.xml"/><Relationship Id="rId29" Type="http://schemas.openxmlformats.org/officeDocument/2006/relationships/slideLayout" Target="../slideLayouts/slideLayout291.xml"/><Relationship Id="rId1" Type="http://schemas.openxmlformats.org/officeDocument/2006/relationships/slideLayout" Target="../slideLayouts/slideLayout112.xml"/><Relationship Id="rId6" Type="http://schemas.openxmlformats.org/officeDocument/2006/relationships/slideLayout" Target="../slideLayouts/slideLayout61.xml"/><Relationship Id="rId11" Type="http://schemas.openxmlformats.org/officeDocument/2006/relationships/slideLayout" Target="../slideLayouts/slideLayout113.xml"/><Relationship Id="rId24" Type="http://schemas.openxmlformats.org/officeDocument/2006/relationships/slideLayout" Target="../slideLayouts/slideLayout241.xml"/><Relationship Id="rId32" Type="http://schemas.openxmlformats.org/officeDocument/2006/relationships/slideLayout" Target="../slideLayouts/slideLayout321.xml"/><Relationship Id="rId37" Type="http://schemas.openxmlformats.org/officeDocument/2006/relationships/slideLayout" Target="../slideLayouts/slideLayout370.xml"/><Relationship Id="rId40" Type="http://schemas.openxmlformats.org/officeDocument/2006/relationships/slideLayout" Target="../slideLayouts/slideLayout401.xml"/><Relationship Id="rId45" Type="http://schemas.openxmlformats.org/officeDocument/2006/relationships/tags" Target="../tags/tag4100.xml"/><Relationship Id="rId5" Type="http://schemas.openxmlformats.org/officeDocument/2006/relationships/slideLayout" Target="../slideLayouts/slideLayout511.xml"/><Relationship Id="rId15" Type="http://schemas.openxmlformats.org/officeDocument/2006/relationships/slideLayout" Target="../slideLayouts/slideLayout151.xml"/><Relationship Id="rId23" Type="http://schemas.openxmlformats.org/officeDocument/2006/relationships/slideLayout" Target="../slideLayouts/slideLayout231.xml"/><Relationship Id="rId28" Type="http://schemas.openxmlformats.org/officeDocument/2006/relationships/slideLayout" Target="../slideLayouts/slideLayout281.xml"/><Relationship Id="rId36" Type="http://schemas.openxmlformats.org/officeDocument/2006/relationships/slideLayout" Target="../slideLayouts/slideLayout361.xml"/><Relationship Id="rId10" Type="http://schemas.openxmlformats.org/officeDocument/2006/relationships/slideLayout" Target="../slideLayouts/slideLayout101.xml"/><Relationship Id="rId19" Type="http://schemas.openxmlformats.org/officeDocument/2006/relationships/slideLayout" Target="../slideLayouts/slideLayout191.xml"/><Relationship Id="rId31" Type="http://schemas.openxmlformats.org/officeDocument/2006/relationships/slideLayout" Target="../slideLayouts/slideLayout312.xml"/><Relationship Id="rId44" Type="http://schemas.openxmlformats.org/officeDocument/2006/relationships/tags" Target="../tags/tag3101.xml"/><Relationship Id="rId4" Type="http://schemas.openxmlformats.org/officeDocument/2006/relationships/slideLayout" Target="../slideLayouts/slideLayout412.xml"/><Relationship Id="rId9" Type="http://schemas.openxmlformats.org/officeDocument/2006/relationships/slideLayout" Target="../slideLayouts/slideLayout91.xml"/><Relationship Id="rId14" Type="http://schemas.openxmlformats.org/officeDocument/2006/relationships/slideLayout" Target="../slideLayouts/slideLayout141.xml"/><Relationship Id="rId22" Type="http://schemas.openxmlformats.org/officeDocument/2006/relationships/slideLayout" Target="../slideLayouts/slideLayout221.xml"/><Relationship Id="rId27" Type="http://schemas.openxmlformats.org/officeDocument/2006/relationships/slideLayout" Target="../slideLayouts/slideLayout271.xml"/><Relationship Id="rId30" Type="http://schemas.openxmlformats.org/officeDocument/2006/relationships/slideLayout" Target="../slideLayouts/slideLayout301.xml"/><Relationship Id="rId35" Type="http://schemas.openxmlformats.org/officeDocument/2006/relationships/slideLayout" Target="../slideLayouts/slideLayout351.xml"/><Relationship Id="rId43" Type="http://schemas.openxmlformats.org/officeDocument/2006/relationships/tags" Target="../tags/tag2101.xml"/><Relationship Id="rId48" Type="http://schemas.openxmlformats.org/officeDocument/2006/relationships/image" Target="../media/image7.emf"/><Relationship Id="rId8" Type="http://schemas.openxmlformats.org/officeDocument/2006/relationships/slideLayout" Target="../slideLayouts/slideLayout81.xml"/><Relationship Id="rId3" Type="http://schemas.openxmlformats.org/officeDocument/2006/relationships/slideLayout" Target="../slideLayouts/slideLayout313.xml"/><Relationship Id="rId12" Type="http://schemas.openxmlformats.org/officeDocument/2006/relationships/slideLayout" Target="../slideLayouts/slideLayout121.xml"/><Relationship Id="rId17" Type="http://schemas.openxmlformats.org/officeDocument/2006/relationships/slideLayout" Target="../slideLayouts/slideLayout171.xml"/><Relationship Id="rId25" Type="http://schemas.openxmlformats.org/officeDocument/2006/relationships/slideLayout" Target="../slideLayouts/slideLayout251.xml"/><Relationship Id="rId33" Type="http://schemas.openxmlformats.org/officeDocument/2006/relationships/slideLayout" Target="../slideLayouts/slideLayout331.xml"/><Relationship Id="rId38" Type="http://schemas.openxmlformats.org/officeDocument/2006/relationships/slideLayout" Target="../slideLayouts/slideLayout381.xml"/><Relationship Id="rId46" Type="http://schemas.openxmlformats.org/officeDocument/2006/relationships/tags" Target="../tags/tag5100.xml"/><Relationship Id="rId20" Type="http://schemas.openxmlformats.org/officeDocument/2006/relationships/slideLayout" Target="../slideLayouts/slideLayout201.xml"/><Relationship Id="rId41" Type="http://schemas.openxmlformats.org/officeDocument/2006/relationships/slideLayout" Target="../slideLayouts/slideLayout4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56"/>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2023 KPMG LLP, a </a:t>
            </a:r>
            <a:r>
              <a:rPr lang="en-US" sz="600" kern="1200" noProof="0" dirty="0" err="1">
                <a:solidFill>
                  <a:schemeClr val="bg1">
                    <a:lumMod val="65000"/>
                  </a:schemeClr>
                </a:solidFill>
                <a:latin typeface="+mn-lt"/>
                <a:ea typeface="+mn-ea"/>
                <a:cs typeface="+mn-cs"/>
              </a:rPr>
              <a:t>yy</a:t>
            </a:r>
            <a:r>
              <a:rPr lang="en-US" sz="600" kern="1200" noProof="0" dirty="0">
                <a:solidFill>
                  <a:schemeClr val="bg1">
                    <a:lumMod val="65000"/>
                  </a:schemeClr>
                </a:solidFill>
                <a:latin typeface="+mn-lt"/>
                <a:ea typeface="+mn-ea"/>
                <a:cs typeface="+mn-cs"/>
              </a:rPr>
              <a:t> limited liability partnership and a member firm of the KPMG global </a:t>
            </a:r>
            <a:r>
              <a:rPr lang="en-US" sz="600" kern="1200" noProof="0" dirty="0" err="1">
                <a:solidFill>
                  <a:schemeClr val="bg1">
                    <a:lumMod val="65000"/>
                  </a:schemeClr>
                </a:solidFill>
                <a:latin typeface="+mn-lt"/>
                <a:ea typeface="+mn-ea"/>
                <a:cs typeface="+mn-cs"/>
              </a:rPr>
              <a:t>organisation</a:t>
            </a:r>
            <a:r>
              <a:rPr lang="en-US" sz="600" kern="1200" noProof="0" dirty="0">
                <a:solidFill>
                  <a:schemeClr val="bg1">
                    <a:lumMod val="65000"/>
                  </a:schemeClr>
                </a:solidFill>
                <a:latin typeface="+mn-lt"/>
                <a:ea typeface="+mn-ea"/>
                <a:cs typeface="+mn-cs"/>
              </a:rPr>
              <a:t> of independent member firms affiliated with KPMG International Limited, a private </a:t>
            </a:r>
            <a:r>
              <a:rPr lang="en-US" sz="600" kern="1200" noProof="0" dirty="0" err="1">
                <a:solidFill>
                  <a:schemeClr val="bg1">
                    <a:lumMod val="65000"/>
                  </a:schemeClr>
                </a:solidFill>
                <a:latin typeface="+mn-lt"/>
                <a:ea typeface="+mn-ea"/>
                <a:cs typeface="+mn-cs"/>
              </a:rPr>
              <a:t>yy</a:t>
            </a:r>
            <a:r>
              <a:rPr lang="en-US" sz="600" kern="1200" noProof="0" dirty="0">
                <a:solidFill>
                  <a:schemeClr val="bg1">
                    <a:lumMod val="65000"/>
                  </a:schemeClr>
                </a:solidFill>
                <a:latin typeface="+mn-lt"/>
                <a:ea typeface="+mn-ea"/>
                <a:cs typeface="+mn-cs"/>
              </a:rPr>
              <a:t> company limited by guarantee. All rights reserved.</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58"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59" cstate="screen">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11571850" y="134089"/>
            <a:ext cx="222478" cy="222478"/>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57"/>
            </p:custDataLst>
          </p:nvPr>
        </p:nvSpPr>
        <p:spPr bwMode="gray">
          <a:xfrm>
            <a:off x="9505950" y="6463890"/>
            <a:ext cx="2537701"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dirty="0">
                <a:solidFill>
                  <a:schemeClr val="accent6"/>
                </a:solidFill>
              </a:rPr>
              <a:t>For illustrative purposes only</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664" r:id="rId10"/>
    <p:sldLayoutId id="2147483769" r:id="rId11"/>
    <p:sldLayoutId id="2147483689" r:id="rId12"/>
    <p:sldLayoutId id="2147483690" r:id="rId13"/>
    <p:sldLayoutId id="2147483692" r:id="rId14"/>
    <p:sldLayoutId id="2147483691" r:id="rId15"/>
    <p:sldLayoutId id="2147483693" r:id="rId16"/>
    <p:sldLayoutId id="2147483853" r:id="rId17"/>
    <p:sldLayoutId id="2147483854"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792" r:id="rId43"/>
    <p:sldLayoutId id="2147483793" r:id="rId44"/>
    <p:sldLayoutId id="2147483789" r:id="rId45"/>
    <p:sldLayoutId id="2147483791" r:id="rId46"/>
    <p:sldLayoutId id="2147483790" r:id="rId47"/>
    <p:sldLayoutId id="2147483794" r:id="rId48"/>
    <p:sldLayoutId id="2147483795" r:id="rId49"/>
    <p:sldLayoutId id="2147483667" r:id="rId50"/>
    <p:sldLayoutId id="2147483748" r:id="rId51"/>
    <p:sldLayoutId id="2147483881" r:id="rId52"/>
    <p:sldLayoutId id="2147483882" r:id="rId53"/>
    <p:sldLayoutId id="2147483883" r:id="rId54"/>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1338162005"/>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userDrawn="1">
          <p15:clr>
            <a:srgbClr val="F26B43"/>
          </p15:clr>
        </p15:guide>
        <p15:guide id="2" pos="624" userDrawn="1">
          <p15:clr>
            <a:srgbClr val="F26B43"/>
          </p15:clr>
        </p15:guide>
        <p15:guide id="3" pos="7056" userDrawn="1">
          <p15:clr>
            <a:srgbClr val="F26B43"/>
          </p15:clr>
        </p15:guide>
        <p15:guide id="4" orient="horz" pos="840" userDrawn="1">
          <p15:clr>
            <a:srgbClr val="F26B43"/>
          </p15:clr>
        </p15:guide>
        <p15:guide id="5" orient="horz" pos="616" userDrawn="1">
          <p15:clr>
            <a:srgbClr val="F26B43"/>
          </p15:clr>
        </p15:guide>
        <p15:guide id="6" orient="horz" pos="272"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54"/>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2023 KPMG LLP, a UK limited liability partnership and a member firm of the KPMG global </a:t>
            </a:r>
            <a:r>
              <a:rPr lang="en-US" sz="600" kern="1200" noProof="0" dirty="0" err="1">
                <a:solidFill>
                  <a:schemeClr val="bg1">
                    <a:lumMod val="65000"/>
                  </a:schemeClr>
                </a:solidFill>
                <a:latin typeface="+mn-lt"/>
                <a:ea typeface="+mn-ea"/>
                <a:cs typeface="+mn-cs"/>
              </a:rPr>
              <a:t>organisation</a:t>
            </a:r>
            <a:r>
              <a:rPr lang="en-US" sz="600" kern="1200" noProof="0" dirty="0">
                <a:solidFill>
                  <a:schemeClr val="bg1">
                    <a:lumMod val="65000"/>
                  </a:schemeClr>
                </a:solidFill>
                <a:latin typeface="+mn-lt"/>
                <a:ea typeface="+mn-ea"/>
                <a:cs typeface="+mn-cs"/>
              </a:rPr>
              <a:t> of independent member firms affiliated with KPMG International Limited, a private English company limited by guarantee. All rights reserved.</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56"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57" cstate="screen">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11571850" y="134089"/>
            <a:ext cx="222478" cy="222478"/>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55"/>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664" r:id="rId10"/>
    <p:sldLayoutId id="2147483769" r:id="rId11"/>
    <p:sldLayoutId id="2147483689" r:id="rId12"/>
    <p:sldLayoutId id="2147483690" r:id="rId13"/>
    <p:sldLayoutId id="2147483692" r:id="rId14"/>
    <p:sldLayoutId id="2147483691" r:id="rId15"/>
    <p:sldLayoutId id="2147483693" r:id="rId16"/>
    <p:sldLayoutId id="2147483853" r:id="rId17"/>
    <p:sldLayoutId id="2147483854"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02" r:id="rId43"/>
    <p:sldLayoutId id="2147483792" r:id="rId44"/>
    <p:sldLayoutId id="2147483793" r:id="rId45"/>
    <p:sldLayoutId id="2147483789" r:id="rId46"/>
    <p:sldLayoutId id="2147483791" r:id="rId47"/>
    <p:sldLayoutId id="2147483790" r:id="rId48"/>
    <p:sldLayoutId id="2147483794" r:id="rId49"/>
    <p:sldLayoutId id="2147483795" r:id="rId50"/>
    <p:sldLayoutId id="2147483667" r:id="rId51"/>
    <p:sldLayoutId id="2147483748" r:id="rId52"/>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01B0996-BFC6-4B32-A8FD-5FB86CF2B6C9}"/>
              </a:ext>
            </a:extLst>
          </p:cNvPr>
          <p:cNvGraphicFramePr>
            <a:graphicFrameLocks noChangeAspect="1"/>
          </p:cNvGraphicFramePr>
          <p:nvPr userDrawn="1">
            <p:custDataLst>
              <p:tags r:id="rId43"/>
            </p:custDataLst>
            <p:extLst>
              <p:ext uri="{D42A27DB-BD31-4B8C-83A1-F6EECF244321}">
                <p14:modId xmlns:p14="http://schemas.microsoft.com/office/powerpoint/2010/main" val="32148332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395" imgH="394" progId="TCLayout.ActiveDocument.1">
                  <p:embed/>
                </p:oleObj>
              </mc:Choice>
              <mc:Fallback>
                <p:oleObj name="think-cell Slide" r:id="rId47" imgW="395" imgH="394" progId="TCLayout.ActiveDocument.1">
                  <p:embed/>
                  <p:pic>
                    <p:nvPicPr>
                      <p:cNvPr id="5" name="Object 4" hidden="1">
                        <a:extLst>
                          <a:ext uri="{FF2B5EF4-FFF2-40B4-BE49-F238E27FC236}">
                            <a16:creationId xmlns:a16="http://schemas.microsoft.com/office/drawing/2014/main" id="{401B0996-BFC6-4B32-A8FD-5FB86CF2B6C9}"/>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1003201" y="1330126"/>
            <a:ext cx="10194470" cy="4546799"/>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accent2"/>
                </a:solidFill>
                <a:latin typeface="+mn-lt"/>
                <a:ea typeface="Arial"/>
                <a:cs typeface="Arial" panose="020B0604020202020204" pitchFamily="34" charset="0"/>
              </a:rPr>
              <a:pPr algn="r"/>
              <a:t>‹#›</a:t>
            </a:fld>
            <a:endParaRPr lang="en-US" sz="1000" dirty="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44"/>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lumMod val="65000"/>
                  </a:schemeClr>
                </a:solidFill>
                <a:latin typeface="+mn-lt"/>
                <a:ea typeface="+mn-ea"/>
                <a:cs typeface="+mn-cs"/>
              </a:rPr>
              <a:t>Document Classification: KPMG Confidential</a:t>
            </a:r>
          </a:p>
        </p:txBody>
      </p:sp>
      <p:sp>
        <p:nvSpPr>
          <p:cNvPr id="26" name="Freeform 19">
            <a:extLst>
              <a:ext uri="{C183D7F6-B498-43B3-948B-1728B52AA6E4}">
                <adec:decorative xmlns:adec="http://schemas.microsoft.com/office/drawing/2017/decorative" val="1"/>
              </a:ext>
            </a:extLst>
          </p:cNvPr>
          <p:cNvSpPr>
            <a:spLocks noEditPoints="1"/>
          </p:cNvSpPr>
          <p:nvPr userDrawn="1"/>
        </p:nvSpPr>
        <p:spPr bwMode="auto">
          <a:xfrm>
            <a:off x="1003201" y="6266997"/>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C183D7F6-B498-43B3-948B-1728B52AA6E4}">
                <adec:decorative xmlns:adec="http://schemas.microsoft.com/office/drawing/2017/decorative" val="1"/>
              </a:ext>
            </a:extLst>
          </p:cNvPr>
          <p:cNvSpPr txBox="1"/>
          <p:nvPr userDrawn="1">
            <p:custDataLst>
              <p:tags r:id="rId45"/>
            </p:custDataLst>
          </p:nvPr>
        </p:nvSpPr>
        <p:spPr>
          <a:xfrm>
            <a:off x="1885684" y="6266997"/>
            <a:ext cx="6343200" cy="9233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2022 Copyright owned by one or more of the KPMG International entities. KPMG International entities provide no services to clients.  All rights reserved.</a:t>
            </a:r>
          </a:p>
        </p:txBody>
      </p:sp>
      <p:sp>
        <p:nvSpPr>
          <p:cNvPr id="36" name="Text Box 4">
            <a:extLst>
              <a:ext uri="{FF2B5EF4-FFF2-40B4-BE49-F238E27FC236}">
                <a16:creationId xmlns:a16="http://schemas.microsoft.com/office/drawing/2014/main" id="{3CAA0478-EB90-42C3-8226-93C0684CF961}"/>
              </a:ext>
            </a:extLst>
          </p:cNvPr>
          <p:cNvSpPr txBox="1">
            <a:spLocks noChangeArrowheads="1"/>
          </p:cNvSpPr>
          <p:nvPr userDrawn="1">
            <p:custDataLst>
              <p:tags r:id="rId46"/>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dirty="0">
                <a:solidFill>
                  <a:schemeClr val="accent6"/>
                </a:solidFill>
              </a:rPr>
              <a:t>DRAFT</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682" r:id="rId1"/>
    <p:sldLayoutId id="2147483841" r:id="rId2"/>
    <p:sldLayoutId id="2147483861" r:id="rId3"/>
    <p:sldLayoutId id="2147483842" r:id="rId4"/>
    <p:sldLayoutId id="2147483860" r:id="rId5"/>
    <p:sldLayoutId id="2147483849" r:id="rId6"/>
    <p:sldLayoutId id="2147483853" r:id="rId7"/>
    <p:sldLayoutId id="2147483854" r:id="rId8"/>
    <p:sldLayoutId id="2147483855" r:id="rId9"/>
    <p:sldLayoutId id="2147483856" r:id="rId10"/>
    <p:sldLayoutId id="2147483820" r:id="rId11"/>
    <p:sldLayoutId id="2147483824" r:id="rId12"/>
    <p:sldLayoutId id="2147483821" r:id="rId13"/>
    <p:sldLayoutId id="2147483822" r:id="rId14"/>
    <p:sldLayoutId id="2147483823" r:id="rId15"/>
    <p:sldLayoutId id="2147483830" r:id="rId16"/>
    <p:sldLayoutId id="2147483825" r:id="rId17"/>
    <p:sldLayoutId id="2147483831" r:id="rId18"/>
    <p:sldLayoutId id="2147483827" r:id="rId19"/>
    <p:sldLayoutId id="2147483832" r:id="rId20"/>
    <p:sldLayoutId id="2147483826" r:id="rId21"/>
    <p:sldLayoutId id="2147483858" r:id="rId22"/>
    <p:sldLayoutId id="2147483857" r:id="rId23"/>
    <p:sldLayoutId id="2147483829" r:id="rId24"/>
    <p:sldLayoutId id="2147483833" r:id="rId25"/>
    <p:sldLayoutId id="2147483828" r:id="rId26"/>
    <p:sldLayoutId id="2147483847" r:id="rId27"/>
    <p:sldLayoutId id="2147483859" r:id="rId28"/>
    <p:sldLayoutId id="2147483865" r:id="rId29"/>
    <p:sldLayoutId id="2147483866" r:id="rId30"/>
    <p:sldLayoutId id="2147483851" r:id="rId31"/>
    <p:sldLayoutId id="2147483850" r:id="rId32"/>
    <p:sldLayoutId id="2147483848" r:id="rId33"/>
    <p:sldLayoutId id="2147483664" r:id="rId34"/>
    <p:sldLayoutId id="2147483689" r:id="rId35"/>
    <p:sldLayoutId id="2147483864" r:id="rId36"/>
    <p:sldLayoutId id="2147483666" r:id="rId37"/>
    <p:sldLayoutId id="2147483862" r:id="rId38"/>
    <p:sldLayoutId id="2147483667" r:id="rId39"/>
    <p:sldLayoutId id="2147483773" r:id="rId40"/>
    <p:sldLayoutId id="2147483846" r:id="rId41"/>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guide id="7" orient="horz" pos="370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58.xml"/><Relationship Id="rId4" Type="http://schemas.openxmlformats.org/officeDocument/2006/relationships/image" Target="../media/image7.emf"/></Relationships>
</file>

<file path=ppt/slides/_rels/slide2.xml.rels><?xml version="1.0" encoding="UTF-8" standalone="yes"?>
<Relationships xmlns="http://schemas.openxmlformats.org/package/2006/relationships"><Relationship Id="rId8" Type="http://schemas.openxmlformats.org/officeDocument/2006/relationships/slide" Target="slide700.xml"/><Relationship Id="rId13" Type="http://schemas.openxmlformats.org/officeDocument/2006/relationships/image" Target="../media/image20.png"/><Relationship Id="rId3" Type="http://schemas.openxmlformats.org/officeDocument/2006/relationships/oleObject" Target="../embeddings/oleObject18.bin"/><Relationship Id="rId12" Type="http://schemas.openxmlformats.org/officeDocument/2006/relationships/image" Target="../media/image140.png"/><Relationship Id="rId2" Type="http://schemas.openxmlformats.org/officeDocument/2006/relationships/slideLayout" Target="../slideLayouts/slideLayout53.xml"/><Relationship Id="rId1" Type="http://schemas.openxmlformats.org/officeDocument/2006/relationships/tags" Target="../tags/tag59.xml"/><Relationship Id="rId11" Type="http://schemas.openxmlformats.org/officeDocument/2006/relationships/slide" Target="slide710.xml"/><Relationship Id="rId5" Type="http://schemas.openxmlformats.org/officeDocument/2006/relationships/image" Target="../media/image18.png"/><Relationship Id="rId15" Type="http://schemas.openxmlformats.org/officeDocument/2006/relationships/image" Target="../media/image200.png"/><Relationship Id="rId10" Type="http://schemas.openxmlformats.org/officeDocument/2006/relationships/image" Target="../media/image19.png"/><Relationship Id="rId4" Type="http://schemas.openxmlformats.org/officeDocument/2006/relationships/image" Target="../media/image7.emf"/><Relationship Id="rId9" Type="http://schemas.openxmlformats.org/officeDocument/2006/relationships/image" Target="../media/image180.png"/><Relationship Id="rId14" Type="http://schemas.openxmlformats.org/officeDocument/2006/relationships/slide" Target="slide900.xml"/></Relationships>
</file>

<file path=ppt/slides/_rels/slide3.xml.rels><?xml version="1.0" encoding="UTF-8" standalone="yes"?>
<Relationships xmlns="http://schemas.openxmlformats.org/package/2006/relationships"><Relationship Id="rId117" Type="http://schemas.openxmlformats.org/officeDocument/2006/relationships/tags" Target="../tags/tag176.xml"/><Relationship Id="rId21" Type="http://schemas.openxmlformats.org/officeDocument/2006/relationships/tags" Target="../tags/tag80.xml"/><Relationship Id="rId42" Type="http://schemas.openxmlformats.org/officeDocument/2006/relationships/tags" Target="../tags/tag101.xml"/><Relationship Id="rId63" Type="http://schemas.openxmlformats.org/officeDocument/2006/relationships/tags" Target="../tags/tag122.xml"/><Relationship Id="rId84" Type="http://schemas.openxmlformats.org/officeDocument/2006/relationships/tags" Target="../tags/tag143.xml"/><Relationship Id="rId138" Type="http://schemas.openxmlformats.org/officeDocument/2006/relationships/slide" Target="slide44.xml"/><Relationship Id="rId159" Type="http://schemas.openxmlformats.org/officeDocument/2006/relationships/slide" Target="slide99.xml"/><Relationship Id="rId107" Type="http://schemas.openxmlformats.org/officeDocument/2006/relationships/tags" Target="../tags/tag166.xml"/><Relationship Id="rId11" Type="http://schemas.openxmlformats.org/officeDocument/2006/relationships/tags" Target="../tags/tag70.xml"/><Relationship Id="rId32" Type="http://schemas.openxmlformats.org/officeDocument/2006/relationships/tags" Target="../tags/tag91.xml"/><Relationship Id="rId53" Type="http://schemas.openxmlformats.org/officeDocument/2006/relationships/tags" Target="../tags/tag112.xml"/><Relationship Id="rId74" Type="http://schemas.openxmlformats.org/officeDocument/2006/relationships/tags" Target="../tags/tag133.xml"/><Relationship Id="rId128" Type="http://schemas.openxmlformats.org/officeDocument/2006/relationships/slide" Target="slide11.xml"/><Relationship Id="rId149" Type="http://schemas.openxmlformats.org/officeDocument/2006/relationships/slide" Target="slide74.xml"/><Relationship Id="rId5" Type="http://schemas.openxmlformats.org/officeDocument/2006/relationships/tags" Target="../tags/tag64.xml"/><Relationship Id="rId95" Type="http://schemas.openxmlformats.org/officeDocument/2006/relationships/tags" Target="../tags/tag154.xml"/><Relationship Id="rId160" Type="http://schemas.openxmlformats.org/officeDocument/2006/relationships/slide" Target="slide100.xml"/><Relationship Id="rId22" Type="http://schemas.openxmlformats.org/officeDocument/2006/relationships/tags" Target="../tags/tag81.xml"/><Relationship Id="rId43" Type="http://schemas.openxmlformats.org/officeDocument/2006/relationships/tags" Target="../tags/tag102.xml"/><Relationship Id="rId64" Type="http://schemas.openxmlformats.org/officeDocument/2006/relationships/tags" Target="../tags/tag123.xml"/><Relationship Id="rId118" Type="http://schemas.openxmlformats.org/officeDocument/2006/relationships/tags" Target="../tags/tag177.xml"/><Relationship Id="rId139" Type="http://schemas.openxmlformats.org/officeDocument/2006/relationships/slide" Target="slide45.xml"/><Relationship Id="rId85" Type="http://schemas.openxmlformats.org/officeDocument/2006/relationships/tags" Target="../tags/tag144.xml"/><Relationship Id="rId150" Type="http://schemas.openxmlformats.org/officeDocument/2006/relationships/slide" Target="slide75.xml"/><Relationship Id="rId12" Type="http://schemas.openxmlformats.org/officeDocument/2006/relationships/tags" Target="../tags/tag71.xml"/><Relationship Id="rId17" Type="http://schemas.openxmlformats.org/officeDocument/2006/relationships/tags" Target="../tags/tag76.xml"/><Relationship Id="rId33" Type="http://schemas.openxmlformats.org/officeDocument/2006/relationships/tags" Target="../tags/tag92.xml"/><Relationship Id="rId38" Type="http://schemas.openxmlformats.org/officeDocument/2006/relationships/tags" Target="../tags/tag97.xml"/><Relationship Id="rId59" Type="http://schemas.openxmlformats.org/officeDocument/2006/relationships/tags" Target="../tags/tag118.xml"/><Relationship Id="rId103" Type="http://schemas.openxmlformats.org/officeDocument/2006/relationships/tags" Target="../tags/tag162.xml"/><Relationship Id="rId108" Type="http://schemas.openxmlformats.org/officeDocument/2006/relationships/tags" Target="../tags/tag167.xml"/><Relationship Id="rId124" Type="http://schemas.openxmlformats.org/officeDocument/2006/relationships/slide" Target="slide4.xml"/><Relationship Id="rId129" Type="http://schemas.openxmlformats.org/officeDocument/2006/relationships/slide" Target="slide14.xml"/><Relationship Id="rId54" Type="http://schemas.openxmlformats.org/officeDocument/2006/relationships/tags" Target="../tags/tag113.xml"/><Relationship Id="rId70" Type="http://schemas.openxmlformats.org/officeDocument/2006/relationships/tags" Target="../tags/tag129.xml"/><Relationship Id="rId75" Type="http://schemas.openxmlformats.org/officeDocument/2006/relationships/tags" Target="../tags/tag134.xml"/><Relationship Id="rId91" Type="http://schemas.openxmlformats.org/officeDocument/2006/relationships/tags" Target="../tags/tag150.xml"/><Relationship Id="rId96" Type="http://schemas.openxmlformats.org/officeDocument/2006/relationships/tags" Target="../tags/tag155.xml"/><Relationship Id="rId140" Type="http://schemas.openxmlformats.org/officeDocument/2006/relationships/slide" Target="slide47.xml"/><Relationship Id="rId145" Type="http://schemas.openxmlformats.org/officeDocument/2006/relationships/slide" Target="slide61.xml"/><Relationship Id="rId161" Type="http://schemas.openxmlformats.org/officeDocument/2006/relationships/slide" Target="slide101.xml"/><Relationship Id="rId1" Type="http://schemas.openxmlformats.org/officeDocument/2006/relationships/tags" Target="../tags/tag60.xml"/><Relationship Id="rId6" Type="http://schemas.openxmlformats.org/officeDocument/2006/relationships/tags" Target="../tags/tag65.xml"/><Relationship Id="rId23" Type="http://schemas.openxmlformats.org/officeDocument/2006/relationships/tags" Target="../tags/tag82.xml"/><Relationship Id="rId28" Type="http://schemas.openxmlformats.org/officeDocument/2006/relationships/tags" Target="../tags/tag87.xml"/><Relationship Id="rId49" Type="http://schemas.openxmlformats.org/officeDocument/2006/relationships/tags" Target="../tags/tag108.xml"/><Relationship Id="rId114" Type="http://schemas.openxmlformats.org/officeDocument/2006/relationships/tags" Target="../tags/tag173.xml"/><Relationship Id="rId119" Type="http://schemas.openxmlformats.org/officeDocument/2006/relationships/slideLayout" Target="../slideLayouts/slideLayout9.xml"/><Relationship Id="rId44" Type="http://schemas.openxmlformats.org/officeDocument/2006/relationships/tags" Target="../tags/tag103.xml"/><Relationship Id="rId60" Type="http://schemas.openxmlformats.org/officeDocument/2006/relationships/tags" Target="../tags/tag119.xml"/><Relationship Id="rId65" Type="http://schemas.openxmlformats.org/officeDocument/2006/relationships/tags" Target="../tags/tag124.xml"/><Relationship Id="rId81" Type="http://schemas.openxmlformats.org/officeDocument/2006/relationships/tags" Target="../tags/tag140.xml"/><Relationship Id="rId86" Type="http://schemas.openxmlformats.org/officeDocument/2006/relationships/tags" Target="../tags/tag145.xml"/><Relationship Id="rId130" Type="http://schemas.openxmlformats.org/officeDocument/2006/relationships/slide" Target="slide18.xml"/><Relationship Id="rId135" Type="http://schemas.openxmlformats.org/officeDocument/2006/relationships/slide" Target="slide41.xml"/><Relationship Id="rId151" Type="http://schemas.openxmlformats.org/officeDocument/2006/relationships/slide" Target="slide76.xml"/><Relationship Id="rId156" Type="http://schemas.openxmlformats.org/officeDocument/2006/relationships/slide" Target="slide82.xml"/><Relationship Id="rId13" Type="http://schemas.openxmlformats.org/officeDocument/2006/relationships/tags" Target="../tags/tag72.xml"/><Relationship Id="rId18" Type="http://schemas.openxmlformats.org/officeDocument/2006/relationships/tags" Target="../tags/tag77.xml"/><Relationship Id="rId39" Type="http://schemas.openxmlformats.org/officeDocument/2006/relationships/tags" Target="../tags/tag98.xml"/><Relationship Id="rId109" Type="http://schemas.openxmlformats.org/officeDocument/2006/relationships/tags" Target="../tags/tag168.xml"/><Relationship Id="rId34" Type="http://schemas.openxmlformats.org/officeDocument/2006/relationships/tags" Target="../tags/tag93.xml"/><Relationship Id="rId50" Type="http://schemas.openxmlformats.org/officeDocument/2006/relationships/tags" Target="../tags/tag109.xml"/><Relationship Id="rId55" Type="http://schemas.openxmlformats.org/officeDocument/2006/relationships/tags" Target="../tags/tag114.xml"/><Relationship Id="rId76" Type="http://schemas.openxmlformats.org/officeDocument/2006/relationships/tags" Target="../tags/tag135.xml"/><Relationship Id="rId97" Type="http://schemas.openxmlformats.org/officeDocument/2006/relationships/tags" Target="../tags/tag156.xml"/><Relationship Id="rId104" Type="http://schemas.openxmlformats.org/officeDocument/2006/relationships/tags" Target="../tags/tag163.xml"/><Relationship Id="rId120" Type="http://schemas.openxmlformats.org/officeDocument/2006/relationships/slide" Target="slide94.xml"/><Relationship Id="rId125" Type="http://schemas.openxmlformats.org/officeDocument/2006/relationships/slide" Target="slide5.xml"/><Relationship Id="rId141" Type="http://schemas.openxmlformats.org/officeDocument/2006/relationships/slide" Target="slide52.xml"/><Relationship Id="rId146" Type="http://schemas.openxmlformats.org/officeDocument/2006/relationships/slide" Target="slide66.xml"/><Relationship Id="rId7" Type="http://schemas.openxmlformats.org/officeDocument/2006/relationships/tags" Target="../tags/tag66.xml"/><Relationship Id="rId71" Type="http://schemas.openxmlformats.org/officeDocument/2006/relationships/tags" Target="../tags/tag130.xml"/><Relationship Id="rId92" Type="http://schemas.openxmlformats.org/officeDocument/2006/relationships/tags" Target="../tags/tag151.xml"/><Relationship Id="rId162" Type="http://schemas.openxmlformats.org/officeDocument/2006/relationships/slide" Target="slide102.xml"/><Relationship Id="rId2" Type="http://schemas.openxmlformats.org/officeDocument/2006/relationships/tags" Target="../tags/tag61.xml"/><Relationship Id="rId29" Type="http://schemas.openxmlformats.org/officeDocument/2006/relationships/tags" Target="../tags/tag88.xml"/><Relationship Id="rId24" Type="http://schemas.openxmlformats.org/officeDocument/2006/relationships/tags" Target="../tags/tag83.xml"/><Relationship Id="rId40" Type="http://schemas.openxmlformats.org/officeDocument/2006/relationships/tags" Target="../tags/tag99.xml"/><Relationship Id="rId45" Type="http://schemas.openxmlformats.org/officeDocument/2006/relationships/tags" Target="../tags/tag104.xml"/><Relationship Id="rId66" Type="http://schemas.openxmlformats.org/officeDocument/2006/relationships/tags" Target="../tags/tag125.xml"/><Relationship Id="rId87" Type="http://schemas.openxmlformats.org/officeDocument/2006/relationships/tags" Target="../tags/tag146.xml"/><Relationship Id="rId110" Type="http://schemas.openxmlformats.org/officeDocument/2006/relationships/tags" Target="../tags/tag169.xml"/><Relationship Id="rId115" Type="http://schemas.openxmlformats.org/officeDocument/2006/relationships/tags" Target="../tags/tag174.xml"/><Relationship Id="rId131" Type="http://schemas.openxmlformats.org/officeDocument/2006/relationships/slide" Target="slide19.xml"/><Relationship Id="rId136" Type="http://schemas.openxmlformats.org/officeDocument/2006/relationships/slide" Target="slide42.xml"/><Relationship Id="rId157" Type="http://schemas.openxmlformats.org/officeDocument/2006/relationships/slide" Target="slide97.xml"/><Relationship Id="rId61" Type="http://schemas.openxmlformats.org/officeDocument/2006/relationships/tags" Target="../tags/tag120.xml"/><Relationship Id="rId82" Type="http://schemas.openxmlformats.org/officeDocument/2006/relationships/tags" Target="../tags/tag141.xml"/><Relationship Id="rId152" Type="http://schemas.openxmlformats.org/officeDocument/2006/relationships/slide" Target="slide77.xml"/><Relationship Id="rId19" Type="http://schemas.openxmlformats.org/officeDocument/2006/relationships/tags" Target="../tags/tag78.xml"/><Relationship Id="rId14" Type="http://schemas.openxmlformats.org/officeDocument/2006/relationships/tags" Target="../tags/tag73.xml"/><Relationship Id="rId30" Type="http://schemas.openxmlformats.org/officeDocument/2006/relationships/tags" Target="../tags/tag89.xml"/><Relationship Id="rId35" Type="http://schemas.openxmlformats.org/officeDocument/2006/relationships/tags" Target="../tags/tag94.xml"/><Relationship Id="rId56" Type="http://schemas.openxmlformats.org/officeDocument/2006/relationships/tags" Target="../tags/tag115.xml"/><Relationship Id="rId77" Type="http://schemas.openxmlformats.org/officeDocument/2006/relationships/tags" Target="../tags/tag136.xml"/><Relationship Id="rId100" Type="http://schemas.openxmlformats.org/officeDocument/2006/relationships/tags" Target="../tags/tag159.xml"/><Relationship Id="rId105" Type="http://schemas.openxmlformats.org/officeDocument/2006/relationships/tags" Target="../tags/tag164.xml"/><Relationship Id="rId126" Type="http://schemas.openxmlformats.org/officeDocument/2006/relationships/slide" Target="slide9.xml"/><Relationship Id="rId147" Type="http://schemas.openxmlformats.org/officeDocument/2006/relationships/slide" Target="slide68.xml"/><Relationship Id="rId8" Type="http://schemas.openxmlformats.org/officeDocument/2006/relationships/tags" Target="../tags/tag67.xml"/><Relationship Id="rId51" Type="http://schemas.openxmlformats.org/officeDocument/2006/relationships/tags" Target="../tags/tag110.xml"/><Relationship Id="rId72" Type="http://schemas.openxmlformats.org/officeDocument/2006/relationships/tags" Target="../tags/tag131.xml"/><Relationship Id="rId93" Type="http://schemas.openxmlformats.org/officeDocument/2006/relationships/tags" Target="../tags/tag152.xml"/><Relationship Id="rId98" Type="http://schemas.openxmlformats.org/officeDocument/2006/relationships/tags" Target="../tags/tag157.xml"/><Relationship Id="rId121" Type="http://schemas.openxmlformats.org/officeDocument/2006/relationships/image" Target="../media/image21.jpeg"/><Relationship Id="rId142" Type="http://schemas.openxmlformats.org/officeDocument/2006/relationships/slide" Target="slide53.xml"/><Relationship Id="rId3" Type="http://schemas.openxmlformats.org/officeDocument/2006/relationships/tags" Target="../tags/tag62.xml"/><Relationship Id="rId25" Type="http://schemas.openxmlformats.org/officeDocument/2006/relationships/tags" Target="../tags/tag84.xml"/><Relationship Id="rId46" Type="http://schemas.openxmlformats.org/officeDocument/2006/relationships/tags" Target="../tags/tag105.xml"/><Relationship Id="rId67" Type="http://schemas.openxmlformats.org/officeDocument/2006/relationships/tags" Target="../tags/tag126.xml"/><Relationship Id="rId116" Type="http://schemas.openxmlformats.org/officeDocument/2006/relationships/tags" Target="../tags/tag175.xml"/><Relationship Id="rId137" Type="http://schemas.openxmlformats.org/officeDocument/2006/relationships/slide" Target="slide43.xml"/><Relationship Id="rId158" Type="http://schemas.openxmlformats.org/officeDocument/2006/relationships/slide" Target="slide98.xml"/><Relationship Id="rId20" Type="http://schemas.openxmlformats.org/officeDocument/2006/relationships/tags" Target="../tags/tag79.xml"/><Relationship Id="rId41" Type="http://schemas.openxmlformats.org/officeDocument/2006/relationships/tags" Target="../tags/tag100.xml"/><Relationship Id="rId62" Type="http://schemas.openxmlformats.org/officeDocument/2006/relationships/tags" Target="../tags/tag121.xml"/><Relationship Id="rId83" Type="http://schemas.openxmlformats.org/officeDocument/2006/relationships/tags" Target="../tags/tag142.xml"/><Relationship Id="rId88" Type="http://schemas.openxmlformats.org/officeDocument/2006/relationships/tags" Target="../tags/tag147.xml"/><Relationship Id="rId111" Type="http://schemas.openxmlformats.org/officeDocument/2006/relationships/tags" Target="../tags/tag170.xml"/><Relationship Id="rId132" Type="http://schemas.openxmlformats.org/officeDocument/2006/relationships/slide" Target="slide20.xml"/><Relationship Id="rId153" Type="http://schemas.openxmlformats.org/officeDocument/2006/relationships/slide" Target="slide78.xml"/><Relationship Id="rId15" Type="http://schemas.openxmlformats.org/officeDocument/2006/relationships/tags" Target="../tags/tag74.xml"/><Relationship Id="rId36" Type="http://schemas.openxmlformats.org/officeDocument/2006/relationships/tags" Target="../tags/tag95.xml"/><Relationship Id="rId57" Type="http://schemas.openxmlformats.org/officeDocument/2006/relationships/tags" Target="../tags/tag116.xml"/><Relationship Id="rId106" Type="http://schemas.openxmlformats.org/officeDocument/2006/relationships/tags" Target="../tags/tag165.xml"/><Relationship Id="rId127" Type="http://schemas.openxmlformats.org/officeDocument/2006/relationships/slide" Target="slide10.xml"/><Relationship Id="rId10" Type="http://schemas.openxmlformats.org/officeDocument/2006/relationships/tags" Target="../tags/tag69.xml"/><Relationship Id="rId31" Type="http://schemas.openxmlformats.org/officeDocument/2006/relationships/tags" Target="../tags/tag90.xml"/><Relationship Id="rId52" Type="http://schemas.openxmlformats.org/officeDocument/2006/relationships/tags" Target="../tags/tag111.xml"/><Relationship Id="rId73" Type="http://schemas.openxmlformats.org/officeDocument/2006/relationships/tags" Target="../tags/tag132.xml"/><Relationship Id="rId78" Type="http://schemas.openxmlformats.org/officeDocument/2006/relationships/tags" Target="../tags/tag137.xml"/><Relationship Id="rId94" Type="http://schemas.openxmlformats.org/officeDocument/2006/relationships/tags" Target="../tags/tag153.xml"/><Relationship Id="rId99" Type="http://schemas.openxmlformats.org/officeDocument/2006/relationships/tags" Target="../tags/tag158.xml"/><Relationship Id="rId101" Type="http://schemas.openxmlformats.org/officeDocument/2006/relationships/tags" Target="../tags/tag160.xml"/><Relationship Id="rId122" Type="http://schemas.openxmlformats.org/officeDocument/2006/relationships/slide" Target="slide103.xml"/><Relationship Id="rId143" Type="http://schemas.openxmlformats.org/officeDocument/2006/relationships/slide" Target="slide55.xml"/><Relationship Id="rId148" Type="http://schemas.openxmlformats.org/officeDocument/2006/relationships/slide" Target="slide73.xml"/><Relationship Id="rId4" Type="http://schemas.openxmlformats.org/officeDocument/2006/relationships/tags" Target="../tags/tag63.xml"/><Relationship Id="rId9" Type="http://schemas.openxmlformats.org/officeDocument/2006/relationships/tags" Target="../tags/tag68.xml"/><Relationship Id="rId26" Type="http://schemas.openxmlformats.org/officeDocument/2006/relationships/tags" Target="../tags/tag85.xml"/><Relationship Id="rId47" Type="http://schemas.openxmlformats.org/officeDocument/2006/relationships/tags" Target="../tags/tag106.xml"/><Relationship Id="rId68" Type="http://schemas.openxmlformats.org/officeDocument/2006/relationships/tags" Target="../tags/tag127.xml"/><Relationship Id="rId89" Type="http://schemas.openxmlformats.org/officeDocument/2006/relationships/tags" Target="../tags/tag148.xml"/><Relationship Id="rId112" Type="http://schemas.openxmlformats.org/officeDocument/2006/relationships/tags" Target="../tags/tag171.xml"/><Relationship Id="rId133" Type="http://schemas.openxmlformats.org/officeDocument/2006/relationships/slide" Target="slide27.xml"/><Relationship Id="rId154" Type="http://schemas.openxmlformats.org/officeDocument/2006/relationships/slide" Target="slide80.xml"/><Relationship Id="rId16" Type="http://schemas.openxmlformats.org/officeDocument/2006/relationships/tags" Target="../tags/tag75.xml"/><Relationship Id="rId37" Type="http://schemas.openxmlformats.org/officeDocument/2006/relationships/tags" Target="../tags/tag96.xml"/><Relationship Id="rId58" Type="http://schemas.openxmlformats.org/officeDocument/2006/relationships/tags" Target="../tags/tag117.xml"/><Relationship Id="rId79" Type="http://schemas.openxmlformats.org/officeDocument/2006/relationships/tags" Target="../tags/tag138.xml"/><Relationship Id="rId102" Type="http://schemas.openxmlformats.org/officeDocument/2006/relationships/tags" Target="../tags/tag161.xml"/><Relationship Id="rId123" Type="http://schemas.openxmlformats.org/officeDocument/2006/relationships/image" Target="../media/image22.jpeg"/><Relationship Id="rId144" Type="http://schemas.openxmlformats.org/officeDocument/2006/relationships/slide" Target="slide58.xml"/><Relationship Id="rId90" Type="http://schemas.openxmlformats.org/officeDocument/2006/relationships/tags" Target="../tags/tag149.xml"/><Relationship Id="rId27" Type="http://schemas.openxmlformats.org/officeDocument/2006/relationships/tags" Target="../tags/tag86.xml"/><Relationship Id="rId48" Type="http://schemas.openxmlformats.org/officeDocument/2006/relationships/tags" Target="../tags/tag107.xml"/><Relationship Id="rId69" Type="http://schemas.openxmlformats.org/officeDocument/2006/relationships/tags" Target="../tags/tag128.xml"/><Relationship Id="rId113" Type="http://schemas.openxmlformats.org/officeDocument/2006/relationships/tags" Target="../tags/tag172.xml"/><Relationship Id="rId134" Type="http://schemas.openxmlformats.org/officeDocument/2006/relationships/slide" Target="slide29.xml"/><Relationship Id="rId80" Type="http://schemas.openxmlformats.org/officeDocument/2006/relationships/tags" Target="../tags/tag139.xml"/><Relationship Id="rId155" Type="http://schemas.openxmlformats.org/officeDocument/2006/relationships/slide" Target="slide81.xml"/></Relationships>
</file>

<file path=ppt/slides/_rels/slide4.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tags" Target="../tags/tag195.xml"/><Relationship Id="rId26" Type="http://schemas.openxmlformats.org/officeDocument/2006/relationships/slide" Target="slide14.xml"/><Relationship Id="rId3" Type="http://schemas.openxmlformats.org/officeDocument/2006/relationships/tags" Target="../tags/tag180.xml"/><Relationship Id="rId21" Type="http://schemas.openxmlformats.org/officeDocument/2006/relationships/slide" Target="slide4.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5" Type="http://schemas.openxmlformats.org/officeDocument/2006/relationships/slide" Target="slide11.xml"/><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slideLayout" Target="../slideLayouts/slideLayout45.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slide" Target="slide10.xml"/><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slide" Target="slide9.xml"/><Relationship Id="rId10" Type="http://schemas.openxmlformats.org/officeDocument/2006/relationships/tags" Target="../tags/tag187.xml"/><Relationship Id="rId19" Type="http://schemas.openxmlformats.org/officeDocument/2006/relationships/tags" Target="../tags/tag196.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slide" Target="slide5.xml"/></Relationships>
</file>

<file path=ppt/slides/_rels/slide5.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3.xml"/><Relationship Id="rId18" Type="http://schemas.openxmlformats.org/officeDocument/2006/relationships/slide" Target="slide42.xml"/><Relationship Id="rId3" Type="http://schemas.openxmlformats.org/officeDocument/2006/relationships/tags" Target="../tags/tag199.xml"/><Relationship Id="rId21" Type="http://schemas.openxmlformats.org/officeDocument/2006/relationships/slide" Target="slide81.xml"/><Relationship Id="rId7" Type="http://schemas.openxmlformats.org/officeDocument/2006/relationships/image" Target="../media/image7.emf"/><Relationship Id="rId12" Type="http://schemas.openxmlformats.org/officeDocument/2006/relationships/slide" Target="slide72.xml"/><Relationship Id="rId17" Type="http://schemas.openxmlformats.org/officeDocument/2006/relationships/slide" Target="slide4.xml"/><Relationship Id="rId2" Type="http://schemas.openxmlformats.org/officeDocument/2006/relationships/tags" Target="../tags/tag198.xml"/><Relationship Id="rId16" Type="http://schemas.openxmlformats.org/officeDocument/2006/relationships/slide" Target="slide77.xml"/><Relationship Id="rId20" Type="http://schemas.openxmlformats.org/officeDocument/2006/relationships/slide" Target="slide73.xml"/><Relationship Id="rId1" Type="http://schemas.openxmlformats.org/officeDocument/2006/relationships/tags" Target="../tags/tag197.xml"/><Relationship Id="rId6" Type="http://schemas.openxmlformats.org/officeDocument/2006/relationships/oleObject" Target="../embeddings/oleObject19.bin"/><Relationship Id="rId11" Type="http://schemas.openxmlformats.org/officeDocument/2006/relationships/slide" Target="slide80.xml"/><Relationship Id="rId5" Type="http://schemas.microsoft.com/office/2018/10/relationships/comments" Target="../comments/modernComment_260_57D0D53F.xml"/><Relationship Id="rId15" Type="http://schemas.openxmlformats.org/officeDocument/2006/relationships/slide" Target="slide76.xml"/><Relationship Id="rId10" Type="http://schemas.openxmlformats.org/officeDocument/2006/relationships/slide" Target="slide58.xml"/><Relationship Id="rId19" Type="http://schemas.openxmlformats.org/officeDocument/2006/relationships/slide" Target="slide52.xml"/><Relationship Id="rId4" Type="http://schemas.openxmlformats.org/officeDocument/2006/relationships/slideLayout" Target="../slideLayouts/slideLayout9.xml"/><Relationship Id="rId9" Type="http://schemas.openxmlformats.org/officeDocument/2006/relationships/slide" Target="slide50.xml"/><Relationship Id="rId14" Type="http://schemas.openxmlformats.org/officeDocument/2006/relationships/slide" Target="slide18.xml"/></Relationships>
</file>

<file path=ppt/slides/_rels/slide6.xml.rels><?xml version="1.0" encoding="UTF-8" standalone="yes"?>
<Relationships xmlns="http://schemas.openxmlformats.org/package/2006/relationships"><Relationship Id="rId8" Type="http://schemas.openxmlformats.org/officeDocument/2006/relationships/tags" Target="../tags/tag207.xml"/><Relationship Id="rId13" Type="http://schemas.openxmlformats.org/officeDocument/2006/relationships/oleObject" Target="../embeddings/oleObject20.bin"/><Relationship Id="rId18" Type="http://schemas.openxmlformats.org/officeDocument/2006/relationships/image" Target="../media/image26.emf"/><Relationship Id="rId26" Type="http://schemas.openxmlformats.org/officeDocument/2006/relationships/slide" Target="slide77.xml"/><Relationship Id="rId3" Type="http://schemas.openxmlformats.org/officeDocument/2006/relationships/tags" Target="../tags/tag202.xml"/><Relationship Id="rId21" Type="http://schemas.openxmlformats.org/officeDocument/2006/relationships/slide" Target="slide4.xml"/><Relationship Id="rId7" Type="http://schemas.openxmlformats.org/officeDocument/2006/relationships/tags" Target="../tags/tag206.xml"/><Relationship Id="rId12" Type="http://schemas.openxmlformats.org/officeDocument/2006/relationships/slideLayout" Target="../slideLayouts/slideLayout9.xml"/><Relationship Id="rId17" Type="http://schemas.openxmlformats.org/officeDocument/2006/relationships/image" Target="../media/image25.emf"/><Relationship Id="rId25" Type="http://schemas.openxmlformats.org/officeDocument/2006/relationships/slide" Target="slide73.xml"/><Relationship Id="rId2" Type="http://schemas.openxmlformats.org/officeDocument/2006/relationships/tags" Target="../tags/tag201.xml"/><Relationship Id="rId16" Type="http://schemas.openxmlformats.org/officeDocument/2006/relationships/image" Target="../media/image24.emf"/><Relationship Id="rId20" Type="http://schemas.openxmlformats.org/officeDocument/2006/relationships/image" Target="../media/image28.emf"/><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tags" Target="../tags/tag210.xml"/><Relationship Id="rId24" Type="http://schemas.openxmlformats.org/officeDocument/2006/relationships/slide" Target="slide52.xml"/><Relationship Id="rId5" Type="http://schemas.openxmlformats.org/officeDocument/2006/relationships/tags" Target="../tags/tag204.xml"/><Relationship Id="rId15" Type="http://schemas.openxmlformats.org/officeDocument/2006/relationships/image" Target="../media/image23.emf"/><Relationship Id="rId23" Type="http://schemas.openxmlformats.org/officeDocument/2006/relationships/slide" Target="slide42.xml"/><Relationship Id="rId10" Type="http://schemas.openxmlformats.org/officeDocument/2006/relationships/tags" Target="../tags/tag209.xml"/><Relationship Id="rId19" Type="http://schemas.openxmlformats.org/officeDocument/2006/relationships/image" Target="../media/image27.emf"/><Relationship Id="rId4" Type="http://schemas.openxmlformats.org/officeDocument/2006/relationships/tags" Target="../tags/tag203.xml"/><Relationship Id="rId9" Type="http://schemas.openxmlformats.org/officeDocument/2006/relationships/tags" Target="../tags/tag208.xml"/><Relationship Id="rId14" Type="http://schemas.openxmlformats.org/officeDocument/2006/relationships/image" Target="../media/image7.emf"/><Relationship Id="rId22" Type="http://schemas.openxmlformats.org/officeDocument/2006/relationships/slide" Target="slide18.xml"/><Relationship Id="rId27" Type="http://schemas.openxmlformats.org/officeDocument/2006/relationships/slide" Target="slide81.xml"/></Relationships>
</file>

<file path=ppt/slides/_rels/slide7.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213.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21.bin"/><Relationship Id="rId10" Type="http://schemas.openxmlformats.org/officeDocument/2006/relationships/slide" Target="slide52.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216.xml"/><Relationship Id="rId7" Type="http://schemas.openxmlformats.org/officeDocument/2006/relationships/slide" Target="slide97.xml"/><Relationship Id="rId12" Type="http://schemas.openxmlformats.org/officeDocument/2006/relationships/slide" Target="slide73.xml"/><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7.emf"/><Relationship Id="rId11" Type="http://schemas.openxmlformats.org/officeDocument/2006/relationships/slide" Target="slide52.xml"/><Relationship Id="rId5" Type="http://schemas.openxmlformats.org/officeDocument/2006/relationships/oleObject" Target="../embeddings/oleObject22.bin"/><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9.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 Target="slide14.xml"/><Relationship Id="rId26" Type="http://schemas.openxmlformats.org/officeDocument/2006/relationships/image" Target="../media/image33.emf"/><Relationship Id="rId3" Type="http://schemas.openxmlformats.org/officeDocument/2006/relationships/tags" Target="../tags/tag219.xml"/><Relationship Id="rId21" Type="http://schemas.openxmlformats.org/officeDocument/2006/relationships/slide" Target="slide36.xml"/><Relationship Id="rId34" Type="http://schemas.openxmlformats.org/officeDocument/2006/relationships/slide" Target="slide81.xml"/><Relationship Id="rId7" Type="http://schemas.openxmlformats.org/officeDocument/2006/relationships/tags" Target="../tags/tag223.xml"/><Relationship Id="rId12" Type="http://schemas.openxmlformats.org/officeDocument/2006/relationships/tags" Target="../tags/tag228.xml"/><Relationship Id="rId17" Type="http://schemas.openxmlformats.org/officeDocument/2006/relationships/image" Target="../media/image7.emf"/><Relationship Id="rId25" Type="http://schemas.openxmlformats.org/officeDocument/2006/relationships/image" Target="../media/image32.emf"/><Relationship Id="rId33" Type="http://schemas.openxmlformats.org/officeDocument/2006/relationships/slide" Target="slide77.xml"/><Relationship Id="rId2" Type="http://schemas.openxmlformats.org/officeDocument/2006/relationships/tags" Target="../tags/tag218.xml"/><Relationship Id="rId16" Type="http://schemas.openxmlformats.org/officeDocument/2006/relationships/oleObject" Target="../embeddings/oleObject23.bin"/><Relationship Id="rId20" Type="http://schemas.openxmlformats.org/officeDocument/2006/relationships/slide" Target="slide27.xml"/><Relationship Id="rId29" Type="http://schemas.openxmlformats.org/officeDocument/2006/relationships/slide" Target="slide18.xml"/><Relationship Id="rId1" Type="http://schemas.openxmlformats.org/officeDocument/2006/relationships/tags" Target="../tags/tag217.xml"/><Relationship Id="rId6" Type="http://schemas.openxmlformats.org/officeDocument/2006/relationships/tags" Target="../tags/tag222.xml"/><Relationship Id="rId11" Type="http://schemas.openxmlformats.org/officeDocument/2006/relationships/tags" Target="../tags/tag227.xml"/><Relationship Id="rId24" Type="http://schemas.openxmlformats.org/officeDocument/2006/relationships/image" Target="../media/image31.emf"/><Relationship Id="rId32" Type="http://schemas.openxmlformats.org/officeDocument/2006/relationships/slide" Target="slide73.xml"/><Relationship Id="rId5" Type="http://schemas.openxmlformats.org/officeDocument/2006/relationships/tags" Target="../tags/tag221.xml"/><Relationship Id="rId15" Type="http://schemas.openxmlformats.org/officeDocument/2006/relationships/image" Target="../media/image29.emf"/><Relationship Id="rId23" Type="http://schemas.openxmlformats.org/officeDocument/2006/relationships/image" Target="../media/image30.emf"/><Relationship Id="rId28" Type="http://schemas.openxmlformats.org/officeDocument/2006/relationships/slide" Target="slide4.xml"/><Relationship Id="rId10" Type="http://schemas.openxmlformats.org/officeDocument/2006/relationships/tags" Target="../tags/tag226.xml"/><Relationship Id="rId19" Type="http://schemas.openxmlformats.org/officeDocument/2006/relationships/slide" Target="slide16.xml"/><Relationship Id="rId31" Type="http://schemas.openxmlformats.org/officeDocument/2006/relationships/slide" Target="slide52.xml"/><Relationship Id="rId4" Type="http://schemas.openxmlformats.org/officeDocument/2006/relationships/tags" Target="../tags/tag220.xml"/><Relationship Id="rId9" Type="http://schemas.openxmlformats.org/officeDocument/2006/relationships/tags" Target="../tags/tag225.xml"/><Relationship Id="rId14" Type="http://schemas.microsoft.com/office/2018/10/relationships/comments" Target="../comments/modernComment_2A1_20122999.xml"/><Relationship Id="rId22" Type="http://schemas.openxmlformats.org/officeDocument/2006/relationships/slide" Target="slide41.xml"/><Relationship Id="rId27" Type="http://schemas.openxmlformats.org/officeDocument/2006/relationships/image" Target="../media/image34.emf"/><Relationship Id="rId30" Type="http://schemas.openxmlformats.org/officeDocument/2006/relationships/slide" Target="slide42.xml"/><Relationship Id="rId8" Type="http://schemas.openxmlformats.org/officeDocument/2006/relationships/tags" Target="../tags/tag224.xml"/></Relationships>
</file>

<file path=ppt/slides/_rels/slide10.xml.rels><?xml version="1.0" encoding="UTF-8" standalone="yes"?>
<Relationships xmlns="http://schemas.openxmlformats.org/package/2006/relationships"><Relationship Id="rId8" Type="http://schemas.openxmlformats.org/officeDocument/2006/relationships/tags" Target="../tags/tag236.xml"/><Relationship Id="rId13" Type="http://schemas.openxmlformats.org/officeDocument/2006/relationships/image" Target="../media/image7.emf"/><Relationship Id="rId18" Type="http://schemas.openxmlformats.org/officeDocument/2006/relationships/slide" Target="slide52.xml"/><Relationship Id="rId3" Type="http://schemas.openxmlformats.org/officeDocument/2006/relationships/tags" Target="../tags/tag231.xml"/><Relationship Id="rId21" Type="http://schemas.openxmlformats.org/officeDocument/2006/relationships/slide" Target="slide81.xml"/><Relationship Id="rId7" Type="http://schemas.openxmlformats.org/officeDocument/2006/relationships/tags" Target="../tags/tag235.xml"/><Relationship Id="rId12" Type="http://schemas.openxmlformats.org/officeDocument/2006/relationships/oleObject" Target="../embeddings/oleObject24.bin"/><Relationship Id="rId17" Type="http://schemas.openxmlformats.org/officeDocument/2006/relationships/slide" Target="slide42.xml"/><Relationship Id="rId2" Type="http://schemas.openxmlformats.org/officeDocument/2006/relationships/tags" Target="../tags/tag230.xml"/><Relationship Id="rId16" Type="http://schemas.openxmlformats.org/officeDocument/2006/relationships/slide" Target="slide18.xml"/><Relationship Id="rId20" Type="http://schemas.openxmlformats.org/officeDocument/2006/relationships/slide" Target="slide77.xml"/><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slideLayout" Target="../slideLayouts/slideLayout9.xml"/><Relationship Id="rId5" Type="http://schemas.openxmlformats.org/officeDocument/2006/relationships/tags" Target="../tags/tag233.xml"/><Relationship Id="rId15" Type="http://schemas.openxmlformats.org/officeDocument/2006/relationships/slide" Target="slide4.xml"/><Relationship Id="rId10" Type="http://schemas.openxmlformats.org/officeDocument/2006/relationships/tags" Target="../tags/tag238.xml"/><Relationship Id="rId19" Type="http://schemas.openxmlformats.org/officeDocument/2006/relationships/slide" Target="slide73.xml"/><Relationship Id="rId4" Type="http://schemas.openxmlformats.org/officeDocument/2006/relationships/tags" Target="../tags/tag232.xml"/><Relationship Id="rId9" Type="http://schemas.openxmlformats.org/officeDocument/2006/relationships/tags" Target="../tags/tag237.xml"/><Relationship Id="rId14" Type="http://schemas.openxmlformats.org/officeDocument/2006/relationships/image" Target="../media/image35.emf"/></Relationships>
</file>

<file path=ppt/slides/_rels/slide11.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slideLayout" Target="../slideLayouts/slideLayout54.xml"/><Relationship Id="rId7" Type="http://schemas.openxmlformats.org/officeDocument/2006/relationships/slide" Target="slide52.xml"/><Relationship Id="rId12" Type="http://schemas.openxmlformats.org/officeDocument/2006/relationships/slide" Target="slide15.xml"/><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slide" Target="slide42.xml"/><Relationship Id="rId11" Type="http://schemas.openxmlformats.org/officeDocument/2006/relationships/slide" Target="slide14.xml"/><Relationship Id="rId5" Type="http://schemas.openxmlformats.org/officeDocument/2006/relationships/slide" Target="slide18.xml"/><Relationship Id="rId10" Type="http://schemas.openxmlformats.org/officeDocument/2006/relationships/slide" Target="slide81.xml"/><Relationship Id="rId4" Type="http://schemas.openxmlformats.org/officeDocument/2006/relationships/slide" Target="slide4.xml"/><Relationship Id="rId9" Type="http://schemas.openxmlformats.org/officeDocument/2006/relationships/slide" Target="slide77.xml"/></Relationships>
</file>

<file path=ppt/slides/_rels/slide12.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slideLayout" Target="../slideLayouts/slideLayout54.xml"/><Relationship Id="rId7" Type="http://schemas.openxmlformats.org/officeDocument/2006/relationships/slide" Target="slide52.xml"/><Relationship Id="rId12" Type="http://schemas.openxmlformats.org/officeDocument/2006/relationships/slide" Target="slide16.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slide" Target="slide42.xml"/><Relationship Id="rId11" Type="http://schemas.openxmlformats.org/officeDocument/2006/relationships/slide" Target="slide15.xml"/><Relationship Id="rId5" Type="http://schemas.openxmlformats.org/officeDocument/2006/relationships/slide" Target="slide18.xml"/><Relationship Id="rId10" Type="http://schemas.openxmlformats.org/officeDocument/2006/relationships/slide" Target="slide81.xml"/><Relationship Id="rId4" Type="http://schemas.openxmlformats.org/officeDocument/2006/relationships/slide" Target="slide4.xml"/><Relationship Id="rId9" Type="http://schemas.openxmlformats.org/officeDocument/2006/relationships/slide" Target="slide77.xml"/></Relationships>
</file>

<file path=ppt/slides/_rels/slide13.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slideLayout" Target="../slideLayouts/slideLayout54.xml"/><Relationship Id="rId7" Type="http://schemas.openxmlformats.org/officeDocument/2006/relationships/slide" Target="slide52.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slide" Target="slide42.xml"/><Relationship Id="rId11" Type="http://schemas.openxmlformats.org/officeDocument/2006/relationships/slide" Target="slide17.xml"/><Relationship Id="rId5" Type="http://schemas.openxmlformats.org/officeDocument/2006/relationships/slide" Target="slide18.xml"/><Relationship Id="rId10" Type="http://schemas.openxmlformats.org/officeDocument/2006/relationships/slide" Target="slide81.xml"/><Relationship Id="rId4" Type="http://schemas.openxmlformats.org/officeDocument/2006/relationships/slide" Target="slide4.xml"/><Relationship Id="rId9" Type="http://schemas.openxmlformats.org/officeDocument/2006/relationships/slide" Target="slide77.xml"/></Relationships>
</file>

<file path=ppt/slides/_rels/slide14.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4.xml"/><Relationship Id="rId18" Type="http://schemas.openxmlformats.org/officeDocument/2006/relationships/slide" Target="slide77.xml"/><Relationship Id="rId3" Type="http://schemas.openxmlformats.org/officeDocument/2006/relationships/tags" Target="../tags/tag247.xml"/><Relationship Id="rId7" Type="http://schemas.openxmlformats.org/officeDocument/2006/relationships/oleObject" Target="../embeddings/oleObject25.bin"/><Relationship Id="rId12" Type="http://schemas.openxmlformats.org/officeDocument/2006/relationships/image" Target="../media/image37.emf"/><Relationship Id="rId17" Type="http://schemas.openxmlformats.org/officeDocument/2006/relationships/slide" Target="slide73.xml"/><Relationship Id="rId2" Type="http://schemas.openxmlformats.org/officeDocument/2006/relationships/tags" Target="../tags/tag246.xml"/><Relationship Id="rId16" Type="http://schemas.openxmlformats.org/officeDocument/2006/relationships/slide" Target="slide52.xml"/><Relationship Id="rId1" Type="http://schemas.openxmlformats.org/officeDocument/2006/relationships/tags" Target="../tags/tag245.xml"/><Relationship Id="rId6" Type="http://schemas.openxmlformats.org/officeDocument/2006/relationships/slideLayout" Target="../slideLayouts/slideLayout22.xml"/><Relationship Id="rId11" Type="http://schemas.openxmlformats.org/officeDocument/2006/relationships/image" Target="../media/image36.emf"/><Relationship Id="rId5" Type="http://schemas.openxmlformats.org/officeDocument/2006/relationships/tags" Target="../tags/tag249.xml"/><Relationship Id="rId15" Type="http://schemas.openxmlformats.org/officeDocument/2006/relationships/slide" Target="slide42.xml"/><Relationship Id="rId10" Type="http://schemas.openxmlformats.org/officeDocument/2006/relationships/slide" Target="slide20.xml"/><Relationship Id="rId19" Type="http://schemas.openxmlformats.org/officeDocument/2006/relationships/slide" Target="slide81.xml"/><Relationship Id="rId4" Type="http://schemas.openxmlformats.org/officeDocument/2006/relationships/tags" Target="../tags/tag248.xml"/><Relationship Id="rId9" Type="http://schemas.openxmlformats.org/officeDocument/2006/relationships/slide" Target="slide19.xml"/><Relationship Id="rId14" Type="http://schemas.openxmlformats.org/officeDocument/2006/relationships/slide" Target="slide18.xml"/></Relationships>
</file>

<file path=ppt/slides/_rels/slide15.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4.xml"/><Relationship Id="rId18" Type="http://schemas.openxmlformats.org/officeDocument/2006/relationships/slide" Target="slide77.xml"/><Relationship Id="rId3" Type="http://schemas.openxmlformats.org/officeDocument/2006/relationships/tags" Target="../tags/tag252.xml"/><Relationship Id="rId7" Type="http://schemas.openxmlformats.org/officeDocument/2006/relationships/oleObject" Target="../embeddings/oleObject26.bin"/><Relationship Id="rId12" Type="http://schemas.openxmlformats.org/officeDocument/2006/relationships/image" Target="../media/image39.emf"/><Relationship Id="rId17" Type="http://schemas.openxmlformats.org/officeDocument/2006/relationships/slide" Target="slide73.xml"/><Relationship Id="rId2" Type="http://schemas.openxmlformats.org/officeDocument/2006/relationships/tags" Target="../tags/tag251.xml"/><Relationship Id="rId16" Type="http://schemas.openxmlformats.org/officeDocument/2006/relationships/slide" Target="slide52.xml"/><Relationship Id="rId1" Type="http://schemas.openxmlformats.org/officeDocument/2006/relationships/tags" Target="../tags/tag250.xml"/><Relationship Id="rId6" Type="http://schemas.openxmlformats.org/officeDocument/2006/relationships/slideLayout" Target="../slideLayouts/slideLayout22.xml"/><Relationship Id="rId11" Type="http://schemas.openxmlformats.org/officeDocument/2006/relationships/image" Target="../media/image38.emf"/><Relationship Id="rId5" Type="http://schemas.openxmlformats.org/officeDocument/2006/relationships/tags" Target="../tags/tag254.xml"/><Relationship Id="rId15" Type="http://schemas.openxmlformats.org/officeDocument/2006/relationships/slide" Target="slide42.xml"/><Relationship Id="rId10" Type="http://schemas.openxmlformats.org/officeDocument/2006/relationships/slide" Target="slide37.xml"/><Relationship Id="rId19" Type="http://schemas.openxmlformats.org/officeDocument/2006/relationships/slide" Target="slide81.xml"/><Relationship Id="rId4" Type="http://schemas.openxmlformats.org/officeDocument/2006/relationships/tags" Target="../tags/tag253.xml"/><Relationship Id="rId9" Type="http://schemas.openxmlformats.org/officeDocument/2006/relationships/slide" Target="slide43.xml"/><Relationship Id="rId14" Type="http://schemas.openxmlformats.org/officeDocument/2006/relationships/slide" Target="slide18.xml"/></Relationships>
</file>

<file path=ppt/slides/_rels/slide16.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20.xml"/><Relationship Id="rId18" Type="http://schemas.openxmlformats.org/officeDocument/2006/relationships/slide" Target="slide73.xml"/><Relationship Id="rId3" Type="http://schemas.openxmlformats.org/officeDocument/2006/relationships/tags" Target="../tags/tag257.xml"/><Relationship Id="rId7" Type="http://schemas.openxmlformats.org/officeDocument/2006/relationships/oleObject" Target="../embeddings/oleObject27.bin"/><Relationship Id="rId12" Type="http://schemas.openxmlformats.org/officeDocument/2006/relationships/slide" Target="slide52.xml"/><Relationship Id="rId17" Type="http://schemas.openxmlformats.org/officeDocument/2006/relationships/slide" Target="slide42.xml"/><Relationship Id="rId2" Type="http://schemas.openxmlformats.org/officeDocument/2006/relationships/tags" Target="../tags/tag256.xml"/><Relationship Id="rId16" Type="http://schemas.openxmlformats.org/officeDocument/2006/relationships/slide" Target="slide18.xml"/><Relationship Id="rId20" Type="http://schemas.openxmlformats.org/officeDocument/2006/relationships/slide" Target="slide81.xml"/><Relationship Id="rId1" Type="http://schemas.openxmlformats.org/officeDocument/2006/relationships/tags" Target="../tags/tag255.xml"/><Relationship Id="rId6" Type="http://schemas.openxmlformats.org/officeDocument/2006/relationships/slideLayout" Target="../slideLayouts/slideLayout22.xml"/><Relationship Id="rId11" Type="http://schemas.openxmlformats.org/officeDocument/2006/relationships/image" Target="../media/image40.emf"/><Relationship Id="rId5" Type="http://schemas.openxmlformats.org/officeDocument/2006/relationships/tags" Target="../tags/tag259.xml"/><Relationship Id="rId15" Type="http://schemas.openxmlformats.org/officeDocument/2006/relationships/slide" Target="slide4.xml"/><Relationship Id="rId10" Type="http://schemas.openxmlformats.org/officeDocument/2006/relationships/slide" Target="slide55.xml"/><Relationship Id="rId19" Type="http://schemas.openxmlformats.org/officeDocument/2006/relationships/slide" Target="slide77.xml"/><Relationship Id="rId4" Type="http://schemas.openxmlformats.org/officeDocument/2006/relationships/tags" Target="../tags/tag258.xml"/><Relationship Id="rId9" Type="http://schemas.openxmlformats.org/officeDocument/2006/relationships/slide" Target="slide58.xml"/><Relationship Id="rId14" Type="http://schemas.openxmlformats.org/officeDocument/2006/relationships/image" Target="../media/image41.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slide" Target="slide4.xml"/><Relationship Id="rId18" Type="http://schemas.openxmlformats.org/officeDocument/2006/relationships/slide" Target="slide81.xml"/><Relationship Id="rId3" Type="http://schemas.openxmlformats.org/officeDocument/2006/relationships/tags" Target="../tags/tag262.xml"/><Relationship Id="rId7" Type="http://schemas.openxmlformats.org/officeDocument/2006/relationships/slide" Target="slide20.xml"/><Relationship Id="rId12" Type="http://schemas.openxmlformats.org/officeDocument/2006/relationships/slide" Target="slide97.xml"/><Relationship Id="rId17" Type="http://schemas.openxmlformats.org/officeDocument/2006/relationships/slide" Target="slide73.xml"/><Relationship Id="rId2" Type="http://schemas.openxmlformats.org/officeDocument/2006/relationships/tags" Target="../tags/tag261.xml"/><Relationship Id="rId16" Type="http://schemas.openxmlformats.org/officeDocument/2006/relationships/slide" Target="slide52.xml"/><Relationship Id="rId1" Type="http://schemas.openxmlformats.org/officeDocument/2006/relationships/tags" Target="../tags/tag260.xml"/><Relationship Id="rId6" Type="http://schemas.openxmlformats.org/officeDocument/2006/relationships/image" Target="../media/image42.emf"/><Relationship Id="rId11" Type="http://schemas.openxmlformats.org/officeDocument/2006/relationships/slide" Target="slide77.xml"/><Relationship Id="rId5" Type="http://schemas.openxmlformats.org/officeDocument/2006/relationships/slideLayout" Target="../slideLayouts/slideLayout22.xml"/><Relationship Id="rId15" Type="http://schemas.openxmlformats.org/officeDocument/2006/relationships/slide" Target="slide42.xml"/><Relationship Id="rId10" Type="http://schemas.openxmlformats.org/officeDocument/2006/relationships/slide" Target="slide74.xml"/><Relationship Id="rId4" Type="http://schemas.openxmlformats.org/officeDocument/2006/relationships/tags" Target="../tags/tag263.xml"/><Relationship Id="rId9" Type="http://schemas.openxmlformats.org/officeDocument/2006/relationships/image" Target="../media/image7.emf"/><Relationship Id="rId14" Type="http://schemas.openxmlformats.org/officeDocument/2006/relationships/slide" Target="slide18.xml"/></Relationships>
</file>

<file path=ppt/slides/_rels/slide18.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18" Type="http://schemas.openxmlformats.org/officeDocument/2006/relationships/tags" Target="../tags/tag281.xml"/><Relationship Id="rId26" Type="http://schemas.openxmlformats.org/officeDocument/2006/relationships/slide" Target="slide41.xml"/><Relationship Id="rId3" Type="http://schemas.openxmlformats.org/officeDocument/2006/relationships/tags" Target="../tags/tag266.xml"/><Relationship Id="rId21" Type="http://schemas.openxmlformats.org/officeDocument/2006/relationships/slide" Target="slide18.xml"/><Relationship Id="rId7" Type="http://schemas.openxmlformats.org/officeDocument/2006/relationships/tags" Target="../tags/tag270.xml"/><Relationship Id="rId12" Type="http://schemas.openxmlformats.org/officeDocument/2006/relationships/tags" Target="../tags/tag275.xml"/><Relationship Id="rId17" Type="http://schemas.openxmlformats.org/officeDocument/2006/relationships/tags" Target="../tags/tag280.xml"/><Relationship Id="rId25" Type="http://schemas.openxmlformats.org/officeDocument/2006/relationships/slide" Target="slide29.xml"/><Relationship Id="rId2" Type="http://schemas.openxmlformats.org/officeDocument/2006/relationships/tags" Target="../tags/tag265.xml"/><Relationship Id="rId16" Type="http://schemas.openxmlformats.org/officeDocument/2006/relationships/tags" Target="../tags/tag279.xml"/><Relationship Id="rId20" Type="http://schemas.openxmlformats.org/officeDocument/2006/relationships/slideLayout" Target="../slideLayouts/slideLayout4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24" Type="http://schemas.openxmlformats.org/officeDocument/2006/relationships/slide" Target="slide27.xml"/><Relationship Id="rId5" Type="http://schemas.openxmlformats.org/officeDocument/2006/relationships/tags" Target="../tags/tag268.xml"/><Relationship Id="rId15" Type="http://schemas.openxmlformats.org/officeDocument/2006/relationships/tags" Target="../tags/tag278.xml"/><Relationship Id="rId23" Type="http://schemas.openxmlformats.org/officeDocument/2006/relationships/slide" Target="slide20.xml"/><Relationship Id="rId10" Type="http://schemas.openxmlformats.org/officeDocument/2006/relationships/tags" Target="../tags/tag273.xml"/><Relationship Id="rId19" Type="http://schemas.openxmlformats.org/officeDocument/2006/relationships/tags" Target="../tags/tag282.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 Id="rId22" Type="http://schemas.openxmlformats.org/officeDocument/2006/relationships/slide" Target="slide19.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slide" Target="slide98.xml"/><Relationship Id="rId18" Type="http://schemas.openxmlformats.org/officeDocument/2006/relationships/slide" Target="slide18.xml"/><Relationship Id="rId3" Type="http://schemas.openxmlformats.org/officeDocument/2006/relationships/tags" Target="../tags/tag285.xml"/><Relationship Id="rId21" Type="http://schemas.openxmlformats.org/officeDocument/2006/relationships/slide" Target="slide73.xml"/><Relationship Id="rId7" Type="http://schemas.openxmlformats.org/officeDocument/2006/relationships/slideLayout" Target="../slideLayouts/slideLayout27.xml"/><Relationship Id="rId12" Type="http://schemas.openxmlformats.org/officeDocument/2006/relationships/slide" Target="slide97.xml"/><Relationship Id="rId17" Type="http://schemas.openxmlformats.org/officeDocument/2006/relationships/slide" Target="slide4.xml"/><Relationship Id="rId2" Type="http://schemas.openxmlformats.org/officeDocument/2006/relationships/tags" Target="../tags/tag284.xml"/><Relationship Id="rId16" Type="http://schemas.openxmlformats.org/officeDocument/2006/relationships/image" Target="../media/image44.emf"/><Relationship Id="rId20" Type="http://schemas.openxmlformats.org/officeDocument/2006/relationships/slide" Target="slide52.xml"/><Relationship Id="rId1" Type="http://schemas.openxmlformats.org/officeDocument/2006/relationships/tags" Target="../tags/tag283.xml"/><Relationship Id="rId6" Type="http://schemas.openxmlformats.org/officeDocument/2006/relationships/tags" Target="../tags/tag288.xml"/><Relationship Id="rId11" Type="http://schemas.openxmlformats.org/officeDocument/2006/relationships/image" Target="../media/image43.emf"/><Relationship Id="rId5" Type="http://schemas.openxmlformats.org/officeDocument/2006/relationships/tags" Target="../tags/tag287.xml"/><Relationship Id="rId15" Type="http://schemas.openxmlformats.org/officeDocument/2006/relationships/slide" Target="slide99.xml"/><Relationship Id="rId23" Type="http://schemas.openxmlformats.org/officeDocument/2006/relationships/slide" Target="slide81.xml"/><Relationship Id="rId10" Type="http://schemas.openxmlformats.org/officeDocument/2006/relationships/image" Target="../media/image7.emf"/><Relationship Id="rId19" Type="http://schemas.openxmlformats.org/officeDocument/2006/relationships/slide" Target="slide42.xml"/><Relationship Id="rId4" Type="http://schemas.openxmlformats.org/officeDocument/2006/relationships/tags" Target="../tags/tag286.xml"/><Relationship Id="rId9" Type="http://schemas.openxmlformats.org/officeDocument/2006/relationships/oleObject" Target="../embeddings/oleObject28.bin"/><Relationship Id="rId14" Type="http://schemas.openxmlformats.org/officeDocument/2006/relationships/slide" Target="slide43.xml"/><Relationship Id="rId22" Type="http://schemas.openxmlformats.org/officeDocument/2006/relationships/slide" Target="slide7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291.xml"/><Relationship Id="rId7" Type="http://schemas.openxmlformats.org/officeDocument/2006/relationships/slideLayout" Target="../slideLayouts/slideLayout30.xml"/><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290.xml"/><Relationship Id="rId16" Type="http://schemas.openxmlformats.org/officeDocument/2006/relationships/slide" Target="slide73.xml"/><Relationship Id="rId1" Type="http://schemas.openxmlformats.org/officeDocument/2006/relationships/tags" Target="../tags/tag289.xml"/><Relationship Id="rId6" Type="http://schemas.openxmlformats.org/officeDocument/2006/relationships/tags" Target="../tags/tag294.xml"/><Relationship Id="rId11" Type="http://schemas.openxmlformats.org/officeDocument/2006/relationships/image" Target="../media/image46.emf"/><Relationship Id="rId5" Type="http://schemas.openxmlformats.org/officeDocument/2006/relationships/tags" Target="../tags/tag293.xml"/><Relationship Id="rId15" Type="http://schemas.openxmlformats.org/officeDocument/2006/relationships/slide" Target="slide52.xml"/><Relationship Id="rId10" Type="http://schemas.openxmlformats.org/officeDocument/2006/relationships/image" Target="../media/image45.emf"/><Relationship Id="rId4" Type="http://schemas.openxmlformats.org/officeDocument/2006/relationships/tags" Target="../tags/tag292.xml"/><Relationship Id="rId9" Type="http://schemas.openxmlformats.org/officeDocument/2006/relationships/image" Target="../media/image7.emf"/><Relationship Id="rId14" Type="http://schemas.openxmlformats.org/officeDocument/2006/relationships/slide" Target="slide42.xml"/></Relationships>
</file>

<file path=ppt/slides/_rels/slide2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297.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oleObject" Target="../embeddings/oleObject29.bin"/><Relationship Id="rId11" Type="http://schemas.openxmlformats.org/officeDocument/2006/relationships/slide" Target="slide52.xml"/><Relationship Id="rId5" Type="http://schemas.openxmlformats.org/officeDocument/2006/relationships/slideLayout" Target="../slideLayouts/slideLayout30.xml"/><Relationship Id="rId10" Type="http://schemas.openxmlformats.org/officeDocument/2006/relationships/slide" Target="slide42.xml"/><Relationship Id="rId4" Type="http://schemas.openxmlformats.org/officeDocument/2006/relationships/tags" Target="../tags/tag298.xml"/><Relationship Id="rId9" Type="http://schemas.openxmlformats.org/officeDocument/2006/relationships/slide" Target="slide18.xml"/><Relationship Id="rId14" Type="http://schemas.openxmlformats.org/officeDocument/2006/relationships/slide" Target="slide81.xml"/></Relationships>
</file>

<file path=ppt/slides/_rels/slide2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0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oleObject" Target="../embeddings/oleObject30.bin"/><Relationship Id="rId11" Type="http://schemas.openxmlformats.org/officeDocument/2006/relationships/slide" Target="slide52.xml"/><Relationship Id="rId5" Type="http://schemas.openxmlformats.org/officeDocument/2006/relationships/slideLayout" Target="../slideLayouts/slideLayout30.xml"/><Relationship Id="rId10" Type="http://schemas.openxmlformats.org/officeDocument/2006/relationships/slide" Target="slide42.xml"/><Relationship Id="rId4" Type="http://schemas.openxmlformats.org/officeDocument/2006/relationships/tags" Target="../tags/tag302.xml"/><Relationship Id="rId9" Type="http://schemas.openxmlformats.org/officeDocument/2006/relationships/slide" Target="slide18.xml"/><Relationship Id="rId14" Type="http://schemas.openxmlformats.org/officeDocument/2006/relationships/slide" Target="slide81.xml"/></Relationships>
</file>

<file path=ppt/slides/_rels/slide23.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05.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oleObject" Target="../embeddings/oleObject31.bin"/><Relationship Id="rId11" Type="http://schemas.openxmlformats.org/officeDocument/2006/relationships/slide" Target="slide52.xml"/><Relationship Id="rId5" Type="http://schemas.openxmlformats.org/officeDocument/2006/relationships/slideLayout" Target="../slideLayouts/slideLayout30.xml"/><Relationship Id="rId10" Type="http://schemas.openxmlformats.org/officeDocument/2006/relationships/slide" Target="slide42.xml"/><Relationship Id="rId4" Type="http://schemas.openxmlformats.org/officeDocument/2006/relationships/tags" Target="../tags/tag306.xml"/><Relationship Id="rId9" Type="http://schemas.openxmlformats.org/officeDocument/2006/relationships/slide" Target="slide18.xml"/><Relationship Id="rId14" Type="http://schemas.openxmlformats.org/officeDocument/2006/relationships/slide" Target="slide81.xml"/></Relationships>
</file>

<file path=ppt/slides/_rels/slide2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09.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oleObject" Target="../embeddings/oleObject32.bin"/><Relationship Id="rId11" Type="http://schemas.openxmlformats.org/officeDocument/2006/relationships/slide" Target="slide52.xml"/><Relationship Id="rId5" Type="http://schemas.openxmlformats.org/officeDocument/2006/relationships/slideLayout" Target="../slideLayouts/slideLayout30.xml"/><Relationship Id="rId10" Type="http://schemas.openxmlformats.org/officeDocument/2006/relationships/slide" Target="slide42.xml"/><Relationship Id="rId4" Type="http://schemas.openxmlformats.org/officeDocument/2006/relationships/tags" Target="../tags/tag310.xml"/><Relationship Id="rId9" Type="http://schemas.openxmlformats.org/officeDocument/2006/relationships/slide" Target="slide18.xml"/><Relationship Id="rId14" Type="http://schemas.openxmlformats.org/officeDocument/2006/relationships/slide" Target="slide81.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slide" Target="slide42.xml"/><Relationship Id="rId3" Type="http://schemas.openxmlformats.org/officeDocument/2006/relationships/tags" Target="../tags/tag313.xml"/><Relationship Id="rId7" Type="http://schemas.openxmlformats.org/officeDocument/2006/relationships/notesSlide" Target="../notesSlides/notesSlide2.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312.xml"/><Relationship Id="rId16" Type="http://schemas.openxmlformats.org/officeDocument/2006/relationships/slide" Target="slide77.xml"/><Relationship Id="rId1" Type="http://schemas.openxmlformats.org/officeDocument/2006/relationships/tags" Target="../tags/tag311.xml"/><Relationship Id="rId6" Type="http://schemas.openxmlformats.org/officeDocument/2006/relationships/slideLayout" Target="../slideLayouts/slideLayout30.xml"/><Relationship Id="rId11" Type="http://schemas.openxmlformats.org/officeDocument/2006/relationships/slide" Target="slide4.xml"/><Relationship Id="rId5" Type="http://schemas.openxmlformats.org/officeDocument/2006/relationships/tags" Target="../tags/tag315.xml"/><Relationship Id="rId15" Type="http://schemas.openxmlformats.org/officeDocument/2006/relationships/slide" Target="slide73.xml"/><Relationship Id="rId10" Type="http://schemas.openxmlformats.org/officeDocument/2006/relationships/image" Target="../media/image47.emf"/><Relationship Id="rId4" Type="http://schemas.openxmlformats.org/officeDocument/2006/relationships/tags" Target="../tags/tag314.xml"/><Relationship Id="rId9" Type="http://schemas.openxmlformats.org/officeDocument/2006/relationships/image" Target="../media/image7.emf"/><Relationship Id="rId14" Type="http://schemas.openxmlformats.org/officeDocument/2006/relationships/slide" Target="slide52.xml"/></Relationships>
</file>

<file path=ppt/slides/_rels/slide26.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73.xml"/><Relationship Id="rId3" Type="http://schemas.openxmlformats.org/officeDocument/2006/relationships/tags" Target="../tags/tag318.xml"/><Relationship Id="rId7" Type="http://schemas.openxmlformats.org/officeDocument/2006/relationships/oleObject" Target="../embeddings/oleObject34.bin"/><Relationship Id="rId12" Type="http://schemas.openxmlformats.org/officeDocument/2006/relationships/slide" Target="slide52.xml"/><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notesSlide" Target="../notesSlides/notesSlide3.xml"/><Relationship Id="rId11" Type="http://schemas.openxmlformats.org/officeDocument/2006/relationships/slide" Target="slide42.xml"/><Relationship Id="rId5" Type="http://schemas.openxmlformats.org/officeDocument/2006/relationships/slideLayout" Target="../slideLayouts/slideLayout30.xml"/><Relationship Id="rId15" Type="http://schemas.openxmlformats.org/officeDocument/2006/relationships/slide" Target="slide81.xml"/><Relationship Id="rId10" Type="http://schemas.openxmlformats.org/officeDocument/2006/relationships/slide" Target="slide18.xml"/><Relationship Id="rId4" Type="http://schemas.openxmlformats.org/officeDocument/2006/relationships/tags" Target="../tags/tag319.xml"/><Relationship Id="rId9" Type="http://schemas.openxmlformats.org/officeDocument/2006/relationships/slide" Target="slide4.xml"/><Relationship Id="rId14" Type="http://schemas.openxmlformats.org/officeDocument/2006/relationships/slide" Target="slide77.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slide" Target="slide98.xml"/><Relationship Id="rId18" Type="http://schemas.openxmlformats.org/officeDocument/2006/relationships/slide" Target="slide73.xml"/><Relationship Id="rId3" Type="http://schemas.openxmlformats.org/officeDocument/2006/relationships/tags" Target="../tags/tag322.xml"/><Relationship Id="rId7" Type="http://schemas.openxmlformats.org/officeDocument/2006/relationships/slideLayout" Target="../slideLayouts/slideLayout36.xml"/><Relationship Id="rId12" Type="http://schemas.openxmlformats.org/officeDocument/2006/relationships/slide" Target="slide97.xml"/><Relationship Id="rId17" Type="http://schemas.openxmlformats.org/officeDocument/2006/relationships/slide" Target="slide52.xml"/><Relationship Id="rId2" Type="http://schemas.openxmlformats.org/officeDocument/2006/relationships/tags" Target="../tags/tag321.xml"/><Relationship Id="rId16" Type="http://schemas.openxmlformats.org/officeDocument/2006/relationships/slide" Target="slide42.xml"/><Relationship Id="rId20" Type="http://schemas.openxmlformats.org/officeDocument/2006/relationships/slide" Target="slide8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image" Target="../media/image48.emf"/><Relationship Id="rId5" Type="http://schemas.openxmlformats.org/officeDocument/2006/relationships/tags" Target="../tags/tag324.xml"/><Relationship Id="rId15" Type="http://schemas.openxmlformats.org/officeDocument/2006/relationships/slide" Target="slide18.xml"/><Relationship Id="rId10" Type="http://schemas.openxmlformats.org/officeDocument/2006/relationships/image" Target="../media/image7.emf"/><Relationship Id="rId19" Type="http://schemas.openxmlformats.org/officeDocument/2006/relationships/slide" Target="slide77.xml"/><Relationship Id="rId4" Type="http://schemas.openxmlformats.org/officeDocument/2006/relationships/tags" Target="../tags/tag323.xml"/><Relationship Id="rId9" Type="http://schemas.openxmlformats.org/officeDocument/2006/relationships/oleObject" Target="../embeddings/oleObject35.bin"/><Relationship Id="rId14" Type="http://schemas.openxmlformats.org/officeDocument/2006/relationships/slide" Target="slide4.xml"/></Relationships>
</file>

<file path=ppt/slides/_rels/slide28.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328.xml"/><Relationship Id="rId7" Type="http://schemas.openxmlformats.org/officeDocument/2006/relationships/oleObject" Target="../embeddings/oleObject36.bin"/><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327.xml"/><Relationship Id="rId16" Type="http://schemas.openxmlformats.org/officeDocument/2006/relationships/slide" Target="slide73.xml"/><Relationship Id="rId1" Type="http://schemas.openxmlformats.org/officeDocument/2006/relationships/tags" Target="../tags/tag326.xml"/><Relationship Id="rId6" Type="http://schemas.openxmlformats.org/officeDocument/2006/relationships/slideLayout" Target="../slideLayouts/slideLayout36.xml"/><Relationship Id="rId11" Type="http://schemas.openxmlformats.org/officeDocument/2006/relationships/slide" Target="slide99.xml"/><Relationship Id="rId5" Type="http://schemas.openxmlformats.org/officeDocument/2006/relationships/tags" Target="../tags/tag330.xml"/><Relationship Id="rId15" Type="http://schemas.openxmlformats.org/officeDocument/2006/relationships/slide" Target="slide52.xml"/><Relationship Id="rId10" Type="http://schemas.openxmlformats.org/officeDocument/2006/relationships/slide" Target="slide29.xml"/><Relationship Id="rId4" Type="http://schemas.openxmlformats.org/officeDocument/2006/relationships/tags" Target="../tags/tag329.xml"/><Relationship Id="rId9" Type="http://schemas.openxmlformats.org/officeDocument/2006/relationships/image" Target="../media/image49.emf"/><Relationship Id="rId14" Type="http://schemas.openxmlformats.org/officeDocument/2006/relationships/slide" Target="slide42.xml"/></Relationships>
</file>

<file path=ppt/slides/_rels/slide29.x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slide" Target="slide98.xml"/><Relationship Id="rId18" Type="http://schemas.openxmlformats.org/officeDocument/2006/relationships/slide" Target="slide73.xml"/><Relationship Id="rId3" Type="http://schemas.openxmlformats.org/officeDocument/2006/relationships/tags" Target="../tags/tag333.xml"/><Relationship Id="rId7" Type="http://schemas.openxmlformats.org/officeDocument/2006/relationships/slideLayout" Target="../slideLayouts/slideLayout27.xml"/><Relationship Id="rId12" Type="http://schemas.openxmlformats.org/officeDocument/2006/relationships/slide" Target="slide97.xml"/><Relationship Id="rId17" Type="http://schemas.openxmlformats.org/officeDocument/2006/relationships/slide" Target="slide52.xml"/><Relationship Id="rId2" Type="http://schemas.openxmlformats.org/officeDocument/2006/relationships/tags" Target="../tags/tag332.xml"/><Relationship Id="rId16" Type="http://schemas.openxmlformats.org/officeDocument/2006/relationships/slide" Target="slide42.xml"/><Relationship Id="rId20" Type="http://schemas.openxmlformats.org/officeDocument/2006/relationships/slide" Target="slide81.xml"/><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image" Target="../media/image51.emf"/><Relationship Id="rId5" Type="http://schemas.openxmlformats.org/officeDocument/2006/relationships/tags" Target="../tags/tag335.xml"/><Relationship Id="rId15" Type="http://schemas.openxmlformats.org/officeDocument/2006/relationships/slide" Target="slide18.xml"/><Relationship Id="rId10" Type="http://schemas.openxmlformats.org/officeDocument/2006/relationships/image" Target="../media/image7.emf"/><Relationship Id="rId19" Type="http://schemas.openxmlformats.org/officeDocument/2006/relationships/slide" Target="slide77.xml"/><Relationship Id="rId4" Type="http://schemas.openxmlformats.org/officeDocument/2006/relationships/tags" Target="../tags/tag334.xml"/><Relationship Id="rId9" Type="http://schemas.openxmlformats.org/officeDocument/2006/relationships/oleObject" Target="../embeddings/oleObject37.bin"/><Relationship Id="rId14" Type="http://schemas.openxmlformats.org/officeDocument/2006/relationships/slide" Target="slide4.xml"/></Relationships>
</file>

<file path=ppt/slides/_rels/slide3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39.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38.xml"/><Relationship Id="rId1" Type="http://schemas.openxmlformats.org/officeDocument/2006/relationships/tags" Target="../tags/tag337.xml"/><Relationship Id="rId6" Type="http://schemas.openxmlformats.org/officeDocument/2006/relationships/oleObject" Target="../embeddings/oleObject38.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340.xml"/><Relationship Id="rId9" Type="http://schemas.openxmlformats.org/officeDocument/2006/relationships/slide" Target="slide18.xml"/><Relationship Id="rId14" Type="http://schemas.openxmlformats.org/officeDocument/2006/relationships/slide" Target="slide81.xml"/></Relationships>
</file>

<file path=ppt/slides/_rels/slide31.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image" Target="../media/image7.emf"/><Relationship Id="rId18" Type="http://schemas.openxmlformats.org/officeDocument/2006/relationships/slide" Target="slide18.xml"/><Relationship Id="rId3" Type="http://schemas.openxmlformats.org/officeDocument/2006/relationships/tags" Target="../tags/tag343.xml"/><Relationship Id="rId21" Type="http://schemas.openxmlformats.org/officeDocument/2006/relationships/slide" Target="slide73.xml"/><Relationship Id="rId7" Type="http://schemas.openxmlformats.org/officeDocument/2006/relationships/tags" Target="../tags/tag347.xml"/><Relationship Id="rId12" Type="http://schemas.openxmlformats.org/officeDocument/2006/relationships/oleObject" Target="../embeddings/oleObject39.bin"/><Relationship Id="rId17" Type="http://schemas.openxmlformats.org/officeDocument/2006/relationships/slide" Target="slide4.xml"/><Relationship Id="rId2" Type="http://schemas.openxmlformats.org/officeDocument/2006/relationships/tags" Target="../tags/tag342.xml"/><Relationship Id="rId16" Type="http://schemas.openxmlformats.org/officeDocument/2006/relationships/image" Target="../media/image54.emf"/><Relationship Id="rId20" Type="http://schemas.openxmlformats.org/officeDocument/2006/relationships/slide" Target="slide52.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slideLayout" Target="../slideLayouts/slideLayout26.xml"/><Relationship Id="rId5" Type="http://schemas.openxmlformats.org/officeDocument/2006/relationships/tags" Target="../tags/tag345.xml"/><Relationship Id="rId15" Type="http://schemas.openxmlformats.org/officeDocument/2006/relationships/image" Target="../media/image53.emf"/><Relationship Id="rId23" Type="http://schemas.openxmlformats.org/officeDocument/2006/relationships/slide" Target="slide81.xml"/><Relationship Id="rId10" Type="http://schemas.openxmlformats.org/officeDocument/2006/relationships/tags" Target="../tags/tag350.xml"/><Relationship Id="rId19" Type="http://schemas.openxmlformats.org/officeDocument/2006/relationships/slide" Target="slide42.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image" Target="../media/image52.emf"/><Relationship Id="rId22" Type="http://schemas.openxmlformats.org/officeDocument/2006/relationships/slide" Target="slide77.xml"/></Relationships>
</file>

<file path=ppt/slides/_rels/slide32.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image" Target="../media/image56.emf"/><Relationship Id="rId18" Type="http://schemas.openxmlformats.org/officeDocument/2006/relationships/slide" Target="slide18.xml"/><Relationship Id="rId3" Type="http://schemas.openxmlformats.org/officeDocument/2006/relationships/tags" Target="../tags/tag353.xml"/><Relationship Id="rId21" Type="http://schemas.openxmlformats.org/officeDocument/2006/relationships/slide" Target="slide73.xml"/><Relationship Id="rId7" Type="http://schemas.openxmlformats.org/officeDocument/2006/relationships/tags" Target="../tags/tag357.xml"/><Relationship Id="rId12" Type="http://schemas.openxmlformats.org/officeDocument/2006/relationships/image" Target="../media/image55.emf"/><Relationship Id="rId17" Type="http://schemas.openxmlformats.org/officeDocument/2006/relationships/slide" Target="slide4.xml"/><Relationship Id="rId2" Type="http://schemas.openxmlformats.org/officeDocument/2006/relationships/tags" Target="../tags/tag352.xml"/><Relationship Id="rId16" Type="http://schemas.openxmlformats.org/officeDocument/2006/relationships/image" Target="../media/image7.emf"/><Relationship Id="rId20" Type="http://schemas.openxmlformats.org/officeDocument/2006/relationships/slide" Target="slide5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slideLayout" Target="../slideLayouts/slideLayout26.xml"/><Relationship Id="rId5" Type="http://schemas.openxmlformats.org/officeDocument/2006/relationships/tags" Target="../tags/tag355.xml"/><Relationship Id="rId15" Type="http://schemas.openxmlformats.org/officeDocument/2006/relationships/oleObject" Target="../embeddings/oleObject40.bin"/><Relationship Id="rId23" Type="http://schemas.openxmlformats.org/officeDocument/2006/relationships/slide" Target="slide81.xml"/><Relationship Id="rId10" Type="http://schemas.openxmlformats.org/officeDocument/2006/relationships/tags" Target="../tags/tag360.xml"/><Relationship Id="rId19" Type="http://schemas.openxmlformats.org/officeDocument/2006/relationships/slide" Target="slide42.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image" Target="../media/image57.emf"/><Relationship Id="rId22" Type="http://schemas.openxmlformats.org/officeDocument/2006/relationships/slide" Target="slide77.xml"/></Relationships>
</file>

<file path=ppt/slides/_rels/slide33.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image" Target="../media/image58.emf"/><Relationship Id="rId18" Type="http://schemas.openxmlformats.org/officeDocument/2006/relationships/slide" Target="slide52.xml"/><Relationship Id="rId3" Type="http://schemas.openxmlformats.org/officeDocument/2006/relationships/tags" Target="../tags/tag363.xml"/><Relationship Id="rId21" Type="http://schemas.openxmlformats.org/officeDocument/2006/relationships/slide" Target="slide81.xml"/><Relationship Id="rId7" Type="http://schemas.openxmlformats.org/officeDocument/2006/relationships/tags" Target="../tags/tag367.xml"/><Relationship Id="rId12" Type="http://schemas.openxmlformats.org/officeDocument/2006/relationships/image" Target="../media/image7.emf"/><Relationship Id="rId17" Type="http://schemas.openxmlformats.org/officeDocument/2006/relationships/slide" Target="slide42.xml"/><Relationship Id="rId2" Type="http://schemas.openxmlformats.org/officeDocument/2006/relationships/tags" Target="../tags/tag362.xml"/><Relationship Id="rId16" Type="http://schemas.openxmlformats.org/officeDocument/2006/relationships/slide" Target="slide18.xml"/><Relationship Id="rId20" Type="http://schemas.openxmlformats.org/officeDocument/2006/relationships/slide" Target="slide77.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oleObject" Target="../embeddings/oleObject41.bin"/><Relationship Id="rId5" Type="http://schemas.openxmlformats.org/officeDocument/2006/relationships/tags" Target="../tags/tag365.xml"/><Relationship Id="rId15" Type="http://schemas.openxmlformats.org/officeDocument/2006/relationships/slide" Target="slide4.xml"/><Relationship Id="rId10" Type="http://schemas.openxmlformats.org/officeDocument/2006/relationships/slideLayout" Target="../slideLayouts/slideLayout27.xml"/><Relationship Id="rId19" Type="http://schemas.openxmlformats.org/officeDocument/2006/relationships/slide" Target="slide73.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image" Target="../media/image59.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slide" Target="slide52.xml"/><Relationship Id="rId3" Type="http://schemas.openxmlformats.org/officeDocument/2006/relationships/tags" Target="../tags/tag372.xml"/><Relationship Id="rId7" Type="http://schemas.openxmlformats.org/officeDocument/2006/relationships/image" Target="../media/image60.emf"/><Relationship Id="rId12" Type="http://schemas.openxmlformats.org/officeDocument/2006/relationships/slide" Target="slide42.xml"/><Relationship Id="rId2" Type="http://schemas.openxmlformats.org/officeDocument/2006/relationships/tags" Target="../tags/tag371.xml"/><Relationship Id="rId16" Type="http://schemas.openxmlformats.org/officeDocument/2006/relationships/slide" Target="slide81.xml"/><Relationship Id="rId1" Type="http://schemas.openxmlformats.org/officeDocument/2006/relationships/tags" Target="../tags/tag370.xml"/><Relationship Id="rId6" Type="http://schemas.openxmlformats.org/officeDocument/2006/relationships/slideLayout" Target="../slideLayouts/slideLayout27.xml"/><Relationship Id="rId11" Type="http://schemas.openxmlformats.org/officeDocument/2006/relationships/slide" Target="slide18.xml"/><Relationship Id="rId5" Type="http://schemas.openxmlformats.org/officeDocument/2006/relationships/tags" Target="../tags/tag374.xml"/><Relationship Id="rId15" Type="http://schemas.openxmlformats.org/officeDocument/2006/relationships/slide" Target="slide77.xml"/><Relationship Id="rId10" Type="http://schemas.openxmlformats.org/officeDocument/2006/relationships/slide" Target="slide4.xml"/><Relationship Id="rId4" Type="http://schemas.openxmlformats.org/officeDocument/2006/relationships/tags" Target="../tags/tag373.xml"/><Relationship Id="rId9" Type="http://schemas.openxmlformats.org/officeDocument/2006/relationships/image" Target="../media/image7.emf"/><Relationship Id="rId14" Type="http://schemas.openxmlformats.org/officeDocument/2006/relationships/slide" Target="slide73.xml"/></Relationships>
</file>

<file path=ppt/slides/_rels/slide35.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77.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76.xml"/><Relationship Id="rId1" Type="http://schemas.openxmlformats.org/officeDocument/2006/relationships/tags" Target="../tags/tag375.xml"/><Relationship Id="rId6" Type="http://schemas.openxmlformats.org/officeDocument/2006/relationships/oleObject" Target="../embeddings/oleObject42.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378.xml"/><Relationship Id="rId9" Type="http://schemas.openxmlformats.org/officeDocument/2006/relationships/slide" Target="slide18.xml"/><Relationship Id="rId14" Type="http://schemas.openxmlformats.org/officeDocument/2006/relationships/slide" Target="slide81.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slide" Target="slide42.xml"/><Relationship Id="rId3" Type="http://schemas.openxmlformats.org/officeDocument/2006/relationships/tags" Target="../tags/tag381.xml"/><Relationship Id="rId7" Type="http://schemas.openxmlformats.org/officeDocument/2006/relationships/slideLayout" Target="../slideLayouts/slideLayout27.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380.xml"/><Relationship Id="rId16" Type="http://schemas.openxmlformats.org/officeDocument/2006/relationships/slide" Target="slide77.xml"/><Relationship Id="rId1" Type="http://schemas.openxmlformats.org/officeDocument/2006/relationships/tags" Target="../tags/tag379.xml"/><Relationship Id="rId6" Type="http://schemas.openxmlformats.org/officeDocument/2006/relationships/tags" Target="../tags/tag384.xml"/><Relationship Id="rId11" Type="http://schemas.openxmlformats.org/officeDocument/2006/relationships/slide" Target="slide4.xml"/><Relationship Id="rId5" Type="http://schemas.openxmlformats.org/officeDocument/2006/relationships/tags" Target="../tags/tag383.xml"/><Relationship Id="rId15" Type="http://schemas.openxmlformats.org/officeDocument/2006/relationships/slide" Target="slide73.xml"/><Relationship Id="rId10" Type="http://schemas.openxmlformats.org/officeDocument/2006/relationships/image" Target="../media/image61.emf"/><Relationship Id="rId4" Type="http://schemas.openxmlformats.org/officeDocument/2006/relationships/tags" Target="../tags/tag382.xml"/><Relationship Id="rId9" Type="http://schemas.openxmlformats.org/officeDocument/2006/relationships/image" Target="../media/image7.emf"/><Relationship Id="rId14" Type="http://schemas.openxmlformats.org/officeDocument/2006/relationships/slide" Target="slide52.xml"/></Relationships>
</file>

<file path=ppt/slides/_rels/slide37.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42.xml"/><Relationship Id="rId3" Type="http://schemas.openxmlformats.org/officeDocument/2006/relationships/tags" Target="../tags/tag387.xml"/><Relationship Id="rId7" Type="http://schemas.openxmlformats.org/officeDocument/2006/relationships/slideLayout" Target="../slideLayouts/slideLayout31.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386.xml"/><Relationship Id="rId16" Type="http://schemas.openxmlformats.org/officeDocument/2006/relationships/slide" Target="slide77.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slide" Target="slide4.xml"/><Relationship Id="rId5" Type="http://schemas.openxmlformats.org/officeDocument/2006/relationships/tags" Target="../tags/tag389.xml"/><Relationship Id="rId15" Type="http://schemas.openxmlformats.org/officeDocument/2006/relationships/slide" Target="slide73.xml"/><Relationship Id="rId10" Type="http://schemas.openxmlformats.org/officeDocument/2006/relationships/image" Target="../media/image7.emf"/><Relationship Id="rId4" Type="http://schemas.openxmlformats.org/officeDocument/2006/relationships/tags" Target="../tags/tag388.xml"/><Relationship Id="rId9" Type="http://schemas.openxmlformats.org/officeDocument/2006/relationships/oleObject" Target="../embeddings/oleObject44.bin"/><Relationship Id="rId14" Type="http://schemas.openxmlformats.org/officeDocument/2006/relationships/slide" Target="slide52.xml"/></Relationships>
</file>

<file path=ppt/slides/_rels/slide3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393.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oleObject" Target="../embeddings/oleObject45.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394.xml"/><Relationship Id="rId9" Type="http://schemas.openxmlformats.org/officeDocument/2006/relationships/slide" Target="slide18.xml"/><Relationship Id="rId14" Type="http://schemas.openxmlformats.org/officeDocument/2006/relationships/slide" Target="slide81.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64.emf"/><Relationship Id="rId18" Type="http://schemas.openxmlformats.org/officeDocument/2006/relationships/slide" Target="slide73.xml"/><Relationship Id="rId3" Type="http://schemas.openxmlformats.org/officeDocument/2006/relationships/tags" Target="../tags/tag397.xml"/><Relationship Id="rId7" Type="http://schemas.openxmlformats.org/officeDocument/2006/relationships/tags" Target="../tags/tag401.xml"/><Relationship Id="rId12" Type="http://schemas.openxmlformats.org/officeDocument/2006/relationships/image" Target="../media/image63.emf"/><Relationship Id="rId17" Type="http://schemas.openxmlformats.org/officeDocument/2006/relationships/slide" Target="slide52.xml"/><Relationship Id="rId2" Type="http://schemas.openxmlformats.org/officeDocument/2006/relationships/tags" Target="../tags/tag396.xml"/><Relationship Id="rId16" Type="http://schemas.openxmlformats.org/officeDocument/2006/relationships/slide" Target="slide42.xml"/><Relationship Id="rId20" Type="http://schemas.openxmlformats.org/officeDocument/2006/relationships/slide" Target="slide81.xml"/><Relationship Id="rId1" Type="http://schemas.openxmlformats.org/officeDocument/2006/relationships/tags" Target="../tags/tag395.xml"/><Relationship Id="rId6" Type="http://schemas.openxmlformats.org/officeDocument/2006/relationships/tags" Target="../tags/tag400.xml"/><Relationship Id="rId11" Type="http://schemas.openxmlformats.org/officeDocument/2006/relationships/image" Target="../media/image7.emf"/><Relationship Id="rId5" Type="http://schemas.openxmlformats.org/officeDocument/2006/relationships/tags" Target="../tags/tag399.xml"/><Relationship Id="rId15" Type="http://schemas.openxmlformats.org/officeDocument/2006/relationships/slide" Target="slide18.xml"/><Relationship Id="rId10" Type="http://schemas.openxmlformats.org/officeDocument/2006/relationships/oleObject" Target="../embeddings/oleObject44.bin"/><Relationship Id="rId19" Type="http://schemas.openxmlformats.org/officeDocument/2006/relationships/slide" Target="slide77.xml"/><Relationship Id="rId4" Type="http://schemas.openxmlformats.org/officeDocument/2006/relationships/tags" Target="../tags/tag398.xml"/><Relationship Id="rId9" Type="http://schemas.microsoft.com/office/2018/10/relationships/comments" Target="../comments/modernComment_3ED_7BFB2FDB.xml"/><Relationship Id="rId14" Type="http://schemas.openxmlformats.org/officeDocument/2006/relationships/slide" Target="slide4.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 Target="slide4.xml"/><Relationship Id="rId18" Type="http://schemas.openxmlformats.org/officeDocument/2006/relationships/slide" Target="slide77.xml"/><Relationship Id="rId3" Type="http://schemas.openxmlformats.org/officeDocument/2006/relationships/tags" Target="../tags/tag404.xml"/><Relationship Id="rId7" Type="http://schemas.openxmlformats.org/officeDocument/2006/relationships/tags" Target="../tags/tag408.xml"/><Relationship Id="rId12" Type="http://schemas.openxmlformats.org/officeDocument/2006/relationships/image" Target="../media/image66.emf"/><Relationship Id="rId17" Type="http://schemas.openxmlformats.org/officeDocument/2006/relationships/slide" Target="slide73.xml"/><Relationship Id="rId2" Type="http://schemas.openxmlformats.org/officeDocument/2006/relationships/tags" Target="../tags/tag403.xml"/><Relationship Id="rId16" Type="http://schemas.openxmlformats.org/officeDocument/2006/relationships/slide" Target="slide52.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image" Target="../media/image7.emf"/><Relationship Id="rId5" Type="http://schemas.openxmlformats.org/officeDocument/2006/relationships/tags" Target="../tags/tag406.xml"/><Relationship Id="rId15" Type="http://schemas.openxmlformats.org/officeDocument/2006/relationships/slide" Target="slide42.xml"/><Relationship Id="rId10" Type="http://schemas.openxmlformats.org/officeDocument/2006/relationships/oleObject" Target="../embeddings/oleObject46.bin"/><Relationship Id="rId19" Type="http://schemas.openxmlformats.org/officeDocument/2006/relationships/slide" Target="slide81.xml"/><Relationship Id="rId4" Type="http://schemas.openxmlformats.org/officeDocument/2006/relationships/tags" Target="../tags/tag405.xml"/><Relationship Id="rId9" Type="http://schemas.openxmlformats.org/officeDocument/2006/relationships/image" Target="../media/image65.emf"/><Relationship Id="rId14" Type="http://schemas.openxmlformats.org/officeDocument/2006/relationships/slide" Target="slide18.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slide" Target="slide52.xml"/><Relationship Id="rId3" Type="http://schemas.openxmlformats.org/officeDocument/2006/relationships/tags" Target="../tags/tag411.xml"/><Relationship Id="rId7" Type="http://schemas.openxmlformats.org/officeDocument/2006/relationships/image" Target="../media/image67.emf"/><Relationship Id="rId12" Type="http://schemas.openxmlformats.org/officeDocument/2006/relationships/slide" Target="slide42.xml"/><Relationship Id="rId2" Type="http://schemas.openxmlformats.org/officeDocument/2006/relationships/tags" Target="../tags/tag410.xml"/><Relationship Id="rId16" Type="http://schemas.openxmlformats.org/officeDocument/2006/relationships/slide" Target="slide81.xml"/><Relationship Id="rId1" Type="http://schemas.openxmlformats.org/officeDocument/2006/relationships/tags" Target="../tags/tag409.xml"/><Relationship Id="rId6" Type="http://schemas.openxmlformats.org/officeDocument/2006/relationships/slideLayout" Target="../slideLayouts/slideLayout27.xml"/><Relationship Id="rId11" Type="http://schemas.openxmlformats.org/officeDocument/2006/relationships/slide" Target="slide18.xml"/><Relationship Id="rId5" Type="http://schemas.openxmlformats.org/officeDocument/2006/relationships/tags" Target="../tags/tag413.xml"/><Relationship Id="rId15" Type="http://schemas.openxmlformats.org/officeDocument/2006/relationships/slide" Target="slide77.xml"/><Relationship Id="rId10" Type="http://schemas.openxmlformats.org/officeDocument/2006/relationships/slide" Target="slide4.xml"/><Relationship Id="rId4" Type="http://schemas.openxmlformats.org/officeDocument/2006/relationships/tags" Target="../tags/tag412.xml"/><Relationship Id="rId9" Type="http://schemas.openxmlformats.org/officeDocument/2006/relationships/image" Target="../media/image7.emf"/><Relationship Id="rId14" Type="http://schemas.openxmlformats.org/officeDocument/2006/relationships/slide" Target="slide73.xml"/></Relationships>
</file>

<file path=ppt/slides/_rels/slide42.xml.rels><?xml version="1.0" encoding="UTF-8" standalone="yes"?>
<Relationships xmlns="http://schemas.openxmlformats.org/package/2006/relationships"><Relationship Id="rId8" Type="http://schemas.openxmlformats.org/officeDocument/2006/relationships/tags" Target="../tags/tag421.xml"/><Relationship Id="rId13" Type="http://schemas.openxmlformats.org/officeDocument/2006/relationships/tags" Target="../tags/tag426.xml"/><Relationship Id="rId18" Type="http://schemas.openxmlformats.org/officeDocument/2006/relationships/slide" Target="slide42.xml"/><Relationship Id="rId3" Type="http://schemas.openxmlformats.org/officeDocument/2006/relationships/tags" Target="../tags/tag416.xml"/><Relationship Id="rId21" Type="http://schemas.openxmlformats.org/officeDocument/2006/relationships/slide" Target="slide45.xml"/><Relationship Id="rId7" Type="http://schemas.openxmlformats.org/officeDocument/2006/relationships/tags" Target="../tags/tag420.xml"/><Relationship Id="rId12" Type="http://schemas.openxmlformats.org/officeDocument/2006/relationships/tags" Target="../tags/tag425.xml"/><Relationship Id="rId17" Type="http://schemas.openxmlformats.org/officeDocument/2006/relationships/slideLayout" Target="../slideLayouts/slideLayout45.xml"/><Relationship Id="rId2" Type="http://schemas.openxmlformats.org/officeDocument/2006/relationships/tags" Target="../tags/tag415.xml"/><Relationship Id="rId16" Type="http://schemas.openxmlformats.org/officeDocument/2006/relationships/tags" Target="../tags/tag429.xml"/><Relationship Id="rId20" Type="http://schemas.openxmlformats.org/officeDocument/2006/relationships/slide" Target="slide44.xml"/><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tags" Target="../tags/tag424.xml"/><Relationship Id="rId5" Type="http://schemas.openxmlformats.org/officeDocument/2006/relationships/tags" Target="../tags/tag418.xml"/><Relationship Id="rId15" Type="http://schemas.openxmlformats.org/officeDocument/2006/relationships/tags" Target="../tags/tag428.xml"/><Relationship Id="rId10" Type="http://schemas.openxmlformats.org/officeDocument/2006/relationships/tags" Target="../tags/tag423.xml"/><Relationship Id="rId19" Type="http://schemas.openxmlformats.org/officeDocument/2006/relationships/slide" Target="slide43.xml"/><Relationship Id="rId4" Type="http://schemas.openxmlformats.org/officeDocument/2006/relationships/tags" Target="../tags/tag417.xml"/><Relationship Id="rId9" Type="http://schemas.openxmlformats.org/officeDocument/2006/relationships/tags" Target="../tags/tag422.xml"/><Relationship Id="rId14" Type="http://schemas.openxmlformats.org/officeDocument/2006/relationships/tags" Target="../tags/tag427.xml"/><Relationship Id="rId22" Type="http://schemas.openxmlformats.org/officeDocument/2006/relationships/slide" Target="slide47.xml"/></Relationships>
</file>

<file path=ppt/slides/_rels/slide43.xml.rels><?xml version="1.0" encoding="UTF-8" standalone="yes"?>
<Relationships xmlns="http://schemas.openxmlformats.org/package/2006/relationships"><Relationship Id="rId8" Type="http://schemas.openxmlformats.org/officeDocument/2006/relationships/tags" Target="../tags/tag437.xml"/><Relationship Id="rId13" Type="http://schemas.openxmlformats.org/officeDocument/2006/relationships/tags" Target="../tags/tag442.xml"/><Relationship Id="rId18" Type="http://schemas.openxmlformats.org/officeDocument/2006/relationships/tags" Target="../tags/tag447.xml"/><Relationship Id="rId26" Type="http://schemas.openxmlformats.org/officeDocument/2006/relationships/slide" Target="slide42.xml"/><Relationship Id="rId3" Type="http://schemas.openxmlformats.org/officeDocument/2006/relationships/tags" Target="../tags/tag432.xml"/><Relationship Id="rId21" Type="http://schemas.openxmlformats.org/officeDocument/2006/relationships/image" Target="../media/image7.emf"/><Relationship Id="rId7" Type="http://schemas.openxmlformats.org/officeDocument/2006/relationships/tags" Target="../tags/tag436.xml"/><Relationship Id="rId12" Type="http://schemas.openxmlformats.org/officeDocument/2006/relationships/tags" Target="../tags/tag441.xml"/><Relationship Id="rId17" Type="http://schemas.openxmlformats.org/officeDocument/2006/relationships/tags" Target="../tags/tag446.xml"/><Relationship Id="rId25" Type="http://schemas.openxmlformats.org/officeDocument/2006/relationships/slide" Target="slide18.xml"/><Relationship Id="rId2" Type="http://schemas.openxmlformats.org/officeDocument/2006/relationships/tags" Target="../tags/tag431.xml"/><Relationship Id="rId16" Type="http://schemas.openxmlformats.org/officeDocument/2006/relationships/tags" Target="../tags/tag445.xml"/><Relationship Id="rId20" Type="http://schemas.openxmlformats.org/officeDocument/2006/relationships/oleObject" Target="../embeddings/oleObject48.bin"/><Relationship Id="rId29" Type="http://schemas.openxmlformats.org/officeDocument/2006/relationships/slide" Target="slide77.xml"/><Relationship Id="rId1" Type="http://schemas.openxmlformats.org/officeDocument/2006/relationships/tags" Target="../tags/tag430.xml"/><Relationship Id="rId6" Type="http://schemas.openxmlformats.org/officeDocument/2006/relationships/tags" Target="../tags/tag435.xml"/><Relationship Id="rId11" Type="http://schemas.openxmlformats.org/officeDocument/2006/relationships/tags" Target="../tags/tag440.xml"/><Relationship Id="rId24" Type="http://schemas.openxmlformats.org/officeDocument/2006/relationships/slide" Target="slide4.xml"/><Relationship Id="rId5" Type="http://schemas.openxmlformats.org/officeDocument/2006/relationships/tags" Target="../tags/tag434.xml"/><Relationship Id="rId15" Type="http://schemas.openxmlformats.org/officeDocument/2006/relationships/tags" Target="../tags/tag444.xml"/><Relationship Id="rId23" Type="http://schemas.openxmlformats.org/officeDocument/2006/relationships/image" Target="../media/image69.emf"/><Relationship Id="rId28" Type="http://schemas.openxmlformats.org/officeDocument/2006/relationships/slide" Target="slide73.xml"/><Relationship Id="rId10" Type="http://schemas.openxmlformats.org/officeDocument/2006/relationships/tags" Target="../tags/tag439.xml"/><Relationship Id="rId19" Type="http://schemas.openxmlformats.org/officeDocument/2006/relationships/slideLayout" Target="../slideLayouts/slideLayout32.xml"/><Relationship Id="rId4" Type="http://schemas.openxmlformats.org/officeDocument/2006/relationships/tags" Target="../tags/tag433.xml"/><Relationship Id="rId9" Type="http://schemas.openxmlformats.org/officeDocument/2006/relationships/tags" Target="../tags/tag438.xml"/><Relationship Id="rId14" Type="http://schemas.openxmlformats.org/officeDocument/2006/relationships/tags" Target="../tags/tag443.xml"/><Relationship Id="rId22" Type="http://schemas.openxmlformats.org/officeDocument/2006/relationships/image" Target="../media/image68.emf"/><Relationship Id="rId27" Type="http://schemas.openxmlformats.org/officeDocument/2006/relationships/slide" Target="slide52.xml"/><Relationship Id="rId30" Type="http://schemas.openxmlformats.org/officeDocument/2006/relationships/slide" Target="slide81.xml"/></Relationships>
</file>

<file path=ppt/slides/_rels/slide44.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42.xml"/><Relationship Id="rId3" Type="http://schemas.openxmlformats.org/officeDocument/2006/relationships/tags" Target="../tags/tag450.xml"/><Relationship Id="rId7" Type="http://schemas.openxmlformats.org/officeDocument/2006/relationships/oleObject" Target="../embeddings/oleObject49.bin"/><Relationship Id="rId12" Type="http://schemas.openxmlformats.org/officeDocument/2006/relationships/slide" Target="slide18.xml"/><Relationship Id="rId2" Type="http://schemas.openxmlformats.org/officeDocument/2006/relationships/tags" Target="../tags/tag449.xml"/><Relationship Id="rId16" Type="http://schemas.openxmlformats.org/officeDocument/2006/relationships/slide" Target="slide81.xml"/><Relationship Id="rId1" Type="http://schemas.openxmlformats.org/officeDocument/2006/relationships/tags" Target="../tags/tag448.xml"/><Relationship Id="rId6" Type="http://schemas.openxmlformats.org/officeDocument/2006/relationships/slideLayout" Target="../slideLayouts/slideLayout40.xml"/><Relationship Id="rId11" Type="http://schemas.openxmlformats.org/officeDocument/2006/relationships/slide" Target="slide4.xml"/><Relationship Id="rId5" Type="http://schemas.openxmlformats.org/officeDocument/2006/relationships/tags" Target="../tags/tag452.xml"/><Relationship Id="rId15" Type="http://schemas.openxmlformats.org/officeDocument/2006/relationships/slide" Target="slide73.xml"/><Relationship Id="rId10" Type="http://schemas.openxmlformats.org/officeDocument/2006/relationships/slide" Target="slide77.xml"/><Relationship Id="rId4" Type="http://schemas.openxmlformats.org/officeDocument/2006/relationships/tags" Target="../tags/tag451.xml"/><Relationship Id="rId9" Type="http://schemas.openxmlformats.org/officeDocument/2006/relationships/image" Target="../media/image70.emf"/><Relationship Id="rId14" Type="http://schemas.openxmlformats.org/officeDocument/2006/relationships/slide" Target="slide52.xml"/></Relationships>
</file>

<file path=ppt/slides/_rels/slide45.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52.xml"/><Relationship Id="rId3" Type="http://schemas.openxmlformats.org/officeDocument/2006/relationships/tags" Target="../tags/tag455.xml"/><Relationship Id="rId7" Type="http://schemas.openxmlformats.org/officeDocument/2006/relationships/oleObject" Target="../embeddings/oleObject50.bin"/><Relationship Id="rId12" Type="http://schemas.openxmlformats.org/officeDocument/2006/relationships/slide" Target="slide42.xml"/><Relationship Id="rId2" Type="http://schemas.openxmlformats.org/officeDocument/2006/relationships/tags" Target="../tags/tag454.xml"/><Relationship Id="rId16" Type="http://schemas.openxmlformats.org/officeDocument/2006/relationships/slide" Target="slide81.xml"/><Relationship Id="rId1" Type="http://schemas.openxmlformats.org/officeDocument/2006/relationships/tags" Target="../tags/tag453.xml"/><Relationship Id="rId6" Type="http://schemas.openxmlformats.org/officeDocument/2006/relationships/slideLayout" Target="../slideLayouts/slideLayout36.xml"/><Relationship Id="rId11" Type="http://schemas.openxmlformats.org/officeDocument/2006/relationships/slide" Target="slide18.xml"/><Relationship Id="rId5" Type="http://schemas.openxmlformats.org/officeDocument/2006/relationships/tags" Target="../tags/tag457.xml"/><Relationship Id="rId15" Type="http://schemas.openxmlformats.org/officeDocument/2006/relationships/slide" Target="slide77.xml"/><Relationship Id="rId10" Type="http://schemas.openxmlformats.org/officeDocument/2006/relationships/slide" Target="slide4.xml"/><Relationship Id="rId4" Type="http://schemas.openxmlformats.org/officeDocument/2006/relationships/tags" Target="../tags/tag456.xml"/><Relationship Id="rId9" Type="http://schemas.openxmlformats.org/officeDocument/2006/relationships/image" Target="../media/image71.emf"/><Relationship Id="rId14" Type="http://schemas.openxmlformats.org/officeDocument/2006/relationships/slide" Target="slide73.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slide" Target="slide42.xml"/><Relationship Id="rId3" Type="http://schemas.openxmlformats.org/officeDocument/2006/relationships/tags" Target="../tags/tag460.xml"/><Relationship Id="rId7" Type="http://schemas.openxmlformats.org/officeDocument/2006/relationships/notesSlide" Target="../notesSlides/notesSlide5.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459.xml"/><Relationship Id="rId16" Type="http://schemas.openxmlformats.org/officeDocument/2006/relationships/slide" Target="slide77.xml"/><Relationship Id="rId1" Type="http://schemas.openxmlformats.org/officeDocument/2006/relationships/tags" Target="../tags/tag458.xml"/><Relationship Id="rId6" Type="http://schemas.openxmlformats.org/officeDocument/2006/relationships/slideLayout" Target="../slideLayouts/slideLayout36.xml"/><Relationship Id="rId11" Type="http://schemas.openxmlformats.org/officeDocument/2006/relationships/slide" Target="slide4.xml"/><Relationship Id="rId5" Type="http://schemas.openxmlformats.org/officeDocument/2006/relationships/tags" Target="../tags/tag462.xml"/><Relationship Id="rId15" Type="http://schemas.openxmlformats.org/officeDocument/2006/relationships/slide" Target="slide73.xml"/><Relationship Id="rId10" Type="http://schemas.openxmlformats.org/officeDocument/2006/relationships/image" Target="../media/image72.emf"/><Relationship Id="rId4" Type="http://schemas.openxmlformats.org/officeDocument/2006/relationships/tags" Target="../tags/tag461.xml"/><Relationship Id="rId9" Type="http://schemas.openxmlformats.org/officeDocument/2006/relationships/image" Target="../media/image7.emf"/><Relationship Id="rId14" Type="http://schemas.openxmlformats.org/officeDocument/2006/relationships/slide" Target="slide52.xml"/></Relationships>
</file>

<file path=ppt/slides/_rels/slide4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465.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oleObject" Target="../embeddings/oleObject52.bin"/><Relationship Id="rId11" Type="http://schemas.openxmlformats.org/officeDocument/2006/relationships/slide" Target="slide52.xml"/><Relationship Id="rId5" Type="http://schemas.openxmlformats.org/officeDocument/2006/relationships/notesSlide" Target="../notesSlides/notesSlide6.xml"/><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4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468.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oleObject" Target="../embeddings/oleObject53.bin"/><Relationship Id="rId11" Type="http://schemas.openxmlformats.org/officeDocument/2006/relationships/slide" Target="slide52.xml"/><Relationship Id="rId5" Type="http://schemas.openxmlformats.org/officeDocument/2006/relationships/notesSlide" Target="../notesSlides/notesSlide7.xml"/><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4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47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470.xml"/><Relationship Id="rId1" Type="http://schemas.openxmlformats.org/officeDocument/2006/relationships/tags" Target="../tags/tag469.xml"/><Relationship Id="rId6" Type="http://schemas.openxmlformats.org/officeDocument/2006/relationships/oleObject" Target="../embeddings/oleObject54.bin"/><Relationship Id="rId11" Type="http://schemas.openxmlformats.org/officeDocument/2006/relationships/slide" Target="slide52.xml"/><Relationship Id="rId5" Type="http://schemas.openxmlformats.org/officeDocument/2006/relationships/notesSlide" Target="../notesSlides/notesSlide8.xml"/><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5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474.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oleObject" Target="../embeddings/oleObject55.bin"/><Relationship Id="rId11" Type="http://schemas.openxmlformats.org/officeDocument/2006/relationships/slide" Target="slide52.xml"/><Relationship Id="rId5" Type="http://schemas.openxmlformats.org/officeDocument/2006/relationships/notesSlide" Target="../notesSlides/notesSlide9.xml"/><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5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477.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oleObject" Target="../embeddings/oleObject56.bin"/><Relationship Id="rId11" Type="http://schemas.openxmlformats.org/officeDocument/2006/relationships/slide" Target="slide52.xml"/><Relationship Id="rId5" Type="http://schemas.openxmlformats.org/officeDocument/2006/relationships/notesSlide" Target="../notesSlides/notesSlide10.xml"/><Relationship Id="rId10" Type="http://schemas.openxmlformats.org/officeDocument/2006/relationships/slide" Target="slide42.xml"/><Relationship Id="rId4" Type="http://schemas.openxmlformats.org/officeDocument/2006/relationships/slideLayout" Target="../slideLayouts/slideLayout40.xml"/><Relationship Id="rId9" Type="http://schemas.openxmlformats.org/officeDocument/2006/relationships/slide" Target="slide18.xml"/><Relationship Id="rId14" Type="http://schemas.openxmlformats.org/officeDocument/2006/relationships/slide" Target="slide81.xml"/></Relationships>
</file>

<file path=ppt/slides/_rels/slide52.xml.rels><?xml version="1.0" encoding="UTF-8" standalone="yes"?>
<Relationships xmlns="http://schemas.openxmlformats.org/package/2006/relationships"><Relationship Id="rId8" Type="http://schemas.openxmlformats.org/officeDocument/2006/relationships/tags" Target="../tags/tag485.xml"/><Relationship Id="rId13" Type="http://schemas.openxmlformats.org/officeDocument/2006/relationships/tags" Target="../tags/tag490.xml"/><Relationship Id="rId18" Type="http://schemas.openxmlformats.org/officeDocument/2006/relationships/tags" Target="../tags/tag495.xml"/><Relationship Id="rId26" Type="http://schemas.openxmlformats.org/officeDocument/2006/relationships/slide" Target="slide55.xml"/><Relationship Id="rId3" Type="http://schemas.openxmlformats.org/officeDocument/2006/relationships/tags" Target="../tags/tag480.xml"/><Relationship Id="rId21" Type="http://schemas.openxmlformats.org/officeDocument/2006/relationships/tags" Target="../tags/tag498.xml"/><Relationship Id="rId7" Type="http://schemas.openxmlformats.org/officeDocument/2006/relationships/tags" Target="../tags/tag484.xml"/><Relationship Id="rId12" Type="http://schemas.openxmlformats.org/officeDocument/2006/relationships/tags" Target="../tags/tag489.xml"/><Relationship Id="rId17" Type="http://schemas.openxmlformats.org/officeDocument/2006/relationships/tags" Target="../tags/tag494.xml"/><Relationship Id="rId25" Type="http://schemas.openxmlformats.org/officeDocument/2006/relationships/slide" Target="slide53.xml"/><Relationship Id="rId2" Type="http://schemas.openxmlformats.org/officeDocument/2006/relationships/tags" Target="../tags/tag479.xml"/><Relationship Id="rId16" Type="http://schemas.openxmlformats.org/officeDocument/2006/relationships/tags" Target="../tags/tag493.xml"/><Relationship Id="rId20" Type="http://schemas.openxmlformats.org/officeDocument/2006/relationships/tags" Target="../tags/tag497.xml"/><Relationship Id="rId29" Type="http://schemas.openxmlformats.org/officeDocument/2006/relationships/slide" Target="slide66.xml"/><Relationship Id="rId1" Type="http://schemas.openxmlformats.org/officeDocument/2006/relationships/tags" Target="../tags/tag478.xml"/><Relationship Id="rId6" Type="http://schemas.openxmlformats.org/officeDocument/2006/relationships/tags" Target="../tags/tag483.xml"/><Relationship Id="rId11" Type="http://schemas.openxmlformats.org/officeDocument/2006/relationships/tags" Target="../tags/tag488.xml"/><Relationship Id="rId24" Type="http://schemas.openxmlformats.org/officeDocument/2006/relationships/slide" Target="slide52.xml"/><Relationship Id="rId5" Type="http://schemas.openxmlformats.org/officeDocument/2006/relationships/tags" Target="../tags/tag482.xml"/><Relationship Id="rId15" Type="http://schemas.openxmlformats.org/officeDocument/2006/relationships/tags" Target="../tags/tag492.xml"/><Relationship Id="rId23" Type="http://schemas.openxmlformats.org/officeDocument/2006/relationships/slideLayout" Target="../slideLayouts/slideLayout45.xml"/><Relationship Id="rId28" Type="http://schemas.openxmlformats.org/officeDocument/2006/relationships/slide" Target="slide61.xml"/><Relationship Id="rId10" Type="http://schemas.openxmlformats.org/officeDocument/2006/relationships/tags" Target="../tags/tag487.xml"/><Relationship Id="rId19" Type="http://schemas.openxmlformats.org/officeDocument/2006/relationships/tags" Target="../tags/tag496.xml"/><Relationship Id="rId4" Type="http://schemas.openxmlformats.org/officeDocument/2006/relationships/tags" Target="../tags/tag481.xml"/><Relationship Id="rId9" Type="http://schemas.openxmlformats.org/officeDocument/2006/relationships/tags" Target="../tags/tag486.xml"/><Relationship Id="rId14" Type="http://schemas.openxmlformats.org/officeDocument/2006/relationships/tags" Target="../tags/tag491.xml"/><Relationship Id="rId22" Type="http://schemas.openxmlformats.org/officeDocument/2006/relationships/tags" Target="../tags/tag499.xml"/><Relationship Id="rId27" Type="http://schemas.openxmlformats.org/officeDocument/2006/relationships/slide" Target="slide58.xml"/><Relationship Id="rId30" Type="http://schemas.openxmlformats.org/officeDocument/2006/relationships/slide" Target="slide68.xml"/></Relationships>
</file>

<file path=ppt/slides/_rels/slide53.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502.xml"/><Relationship Id="rId7" Type="http://schemas.openxmlformats.org/officeDocument/2006/relationships/slideLayout" Target="../slideLayouts/slideLayout27.xml"/><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501.xml"/><Relationship Id="rId16" Type="http://schemas.openxmlformats.org/officeDocument/2006/relationships/slide" Target="slide73.xml"/><Relationship Id="rId1" Type="http://schemas.openxmlformats.org/officeDocument/2006/relationships/tags" Target="../tags/tag500.xml"/><Relationship Id="rId6" Type="http://schemas.openxmlformats.org/officeDocument/2006/relationships/tags" Target="../tags/tag505.xml"/><Relationship Id="rId11" Type="http://schemas.openxmlformats.org/officeDocument/2006/relationships/slide" Target="slide75.xml"/><Relationship Id="rId5" Type="http://schemas.openxmlformats.org/officeDocument/2006/relationships/tags" Target="../tags/tag504.xml"/><Relationship Id="rId15" Type="http://schemas.openxmlformats.org/officeDocument/2006/relationships/slide" Target="slide52.xml"/><Relationship Id="rId10" Type="http://schemas.openxmlformats.org/officeDocument/2006/relationships/image" Target="../media/image7.emf"/><Relationship Id="rId4" Type="http://schemas.openxmlformats.org/officeDocument/2006/relationships/tags" Target="../tags/tag503.xml"/><Relationship Id="rId9" Type="http://schemas.openxmlformats.org/officeDocument/2006/relationships/oleObject" Target="../embeddings/oleObject57.bin"/><Relationship Id="rId14" Type="http://schemas.openxmlformats.org/officeDocument/2006/relationships/slide" Target="slide42.xml"/></Relationships>
</file>

<file path=ppt/slides/_rels/slide5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508.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507.xml"/><Relationship Id="rId1" Type="http://schemas.openxmlformats.org/officeDocument/2006/relationships/tags" Target="../tags/tag506.xml"/><Relationship Id="rId6" Type="http://schemas.openxmlformats.org/officeDocument/2006/relationships/oleObject" Target="../embeddings/oleObject58.bin"/><Relationship Id="rId11" Type="http://schemas.openxmlformats.org/officeDocument/2006/relationships/slide" Target="slide52.xml"/><Relationship Id="rId5" Type="http://schemas.openxmlformats.org/officeDocument/2006/relationships/slide" Target="slide58.xml"/><Relationship Id="rId10" Type="http://schemas.openxmlformats.org/officeDocument/2006/relationships/slide" Target="slide42.xml"/><Relationship Id="rId4" Type="http://schemas.openxmlformats.org/officeDocument/2006/relationships/slideLayout" Target="../slideLayouts/slideLayout33.xml"/><Relationship Id="rId9" Type="http://schemas.openxmlformats.org/officeDocument/2006/relationships/slide" Target="slide18.xml"/><Relationship Id="rId14" Type="http://schemas.openxmlformats.org/officeDocument/2006/relationships/slide" Target="slide81.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511.xml"/><Relationship Id="rId7" Type="http://schemas.openxmlformats.org/officeDocument/2006/relationships/image" Target="../media/image74.emf"/><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510.xml"/><Relationship Id="rId16" Type="http://schemas.openxmlformats.org/officeDocument/2006/relationships/slide" Target="slide73.xml"/><Relationship Id="rId1" Type="http://schemas.openxmlformats.org/officeDocument/2006/relationships/tags" Target="../tags/tag509.xml"/><Relationship Id="rId6" Type="http://schemas.openxmlformats.org/officeDocument/2006/relationships/slideLayout" Target="../slideLayouts/slideLayout32.xml"/><Relationship Id="rId11" Type="http://schemas.openxmlformats.org/officeDocument/2006/relationships/slide" Target="slide58.xml"/><Relationship Id="rId5" Type="http://schemas.openxmlformats.org/officeDocument/2006/relationships/tags" Target="../tags/tag513.xml"/><Relationship Id="rId15" Type="http://schemas.openxmlformats.org/officeDocument/2006/relationships/slide" Target="slide52.xml"/><Relationship Id="rId10" Type="http://schemas.openxmlformats.org/officeDocument/2006/relationships/slide" Target="slide20.xml"/><Relationship Id="rId4" Type="http://schemas.openxmlformats.org/officeDocument/2006/relationships/tags" Target="../tags/tag512.xml"/><Relationship Id="rId9" Type="http://schemas.openxmlformats.org/officeDocument/2006/relationships/image" Target="../media/image7.emf"/><Relationship Id="rId14" Type="http://schemas.openxmlformats.org/officeDocument/2006/relationships/slide" Target="slide4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slide" Target="slide52.xml"/><Relationship Id="rId3" Type="http://schemas.openxmlformats.org/officeDocument/2006/relationships/tags" Target="../tags/tag516.xml"/><Relationship Id="rId7" Type="http://schemas.openxmlformats.org/officeDocument/2006/relationships/image" Target="../media/image74.emf"/><Relationship Id="rId12" Type="http://schemas.openxmlformats.org/officeDocument/2006/relationships/slide" Target="slide42.xml"/><Relationship Id="rId2" Type="http://schemas.openxmlformats.org/officeDocument/2006/relationships/tags" Target="../tags/tag515.xml"/><Relationship Id="rId16" Type="http://schemas.openxmlformats.org/officeDocument/2006/relationships/slide" Target="slide81.xml"/><Relationship Id="rId1" Type="http://schemas.openxmlformats.org/officeDocument/2006/relationships/tags" Target="../tags/tag514.xml"/><Relationship Id="rId6" Type="http://schemas.openxmlformats.org/officeDocument/2006/relationships/slideLayout" Target="../slideLayouts/slideLayout32.xml"/><Relationship Id="rId11" Type="http://schemas.openxmlformats.org/officeDocument/2006/relationships/slide" Target="slide18.xml"/><Relationship Id="rId5" Type="http://schemas.openxmlformats.org/officeDocument/2006/relationships/tags" Target="../tags/tag518.xml"/><Relationship Id="rId15" Type="http://schemas.openxmlformats.org/officeDocument/2006/relationships/slide" Target="slide77.xml"/><Relationship Id="rId10" Type="http://schemas.openxmlformats.org/officeDocument/2006/relationships/slide" Target="slide4.xml"/><Relationship Id="rId4" Type="http://schemas.openxmlformats.org/officeDocument/2006/relationships/tags" Target="../tags/tag517.xml"/><Relationship Id="rId9" Type="http://schemas.openxmlformats.org/officeDocument/2006/relationships/image" Target="../media/image7.emf"/><Relationship Id="rId14" Type="http://schemas.openxmlformats.org/officeDocument/2006/relationships/slide" Target="slide73.xml"/></Relationships>
</file>

<file path=ppt/slides/_rels/slide57.xml.rels><?xml version="1.0" encoding="UTF-8" standalone="yes"?>
<Relationships xmlns="http://schemas.openxmlformats.org/package/2006/relationships"><Relationship Id="rId8" Type="http://schemas.openxmlformats.org/officeDocument/2006/relationships/image" Target="../media/image75.emf"/><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521.xml"/><Relationship Id="rId7" Type="http://schemas.openxmlformats.org/officeDocument/2006/relationships/slideLayout" Target="../slideLayouts/slideLayout35.xml"/><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520.xml"/><Relationship Id="rId16" Type="http://schemas.openxmlformats.org/officeDocument/2006/relationships/slide" Target="slide73.xml"/><Relationship Id="rId1" Type="http://schemas.openxmlformats.org/officeDocument/2006/relationships/tags" Target="../tags/tag519.xml"/><Relationship Id="rId6" Type="http://schemas.openxmlformats.org/officeDocument/2006/relationships/tags" Target="../tags/tag524.xml"/><Relationship Id="rId11" Type="http://schemas.openxmlformats.org/officeDocument/2006/relationships/image" Target="../media/image7.emf"/><Relationship Id="rId5" Type="http://schemas.openxmlformats.org/officeDocument/2006/relationships/tags" Target="../tags/tag523.xml"/><Relationship Id="rId15" Type="http://schemas.openxmlformats.org/officeDocument/2006/relationships/slide" Target="slide52.xml"/><Relationship Id="rId10" Type="http://schemas.openxmlformats.org/officeDocument/2006/relationships/oleObject" Target="../embeddings/oleObject61.bin"/><Relationship Id="rId4" Type="http://schemas.openxmlformats.org/officeDocument/2006/relationships/tags" Target="../tags/tag522.xml"/><Relationship Id="rId9" Type="http://schemas.openxmlformats.org/officeDocument/2006/relationships/image" Target="../media/image76.emf"/><Relationship Id="rId14" Type="http://schemas.openxmlformats.org/officeDocument/2006/relationships/slide" Target="slide42.xml"/></Relationships>
</file>

<file path=ppt/slides/_rels/slide58.xml.rels><?xml version="1.0" encoding="UTF-8" standalone="yes"?>
<Relationships xmlns="http://schemas.openxmlformats.org/package/2006/relationships"><Relationship Id="rId8" Type="http://schemas.openxmlformats.org/officeDocument/2006/relationships/image" Target="../media/image77.emf"/><Relationship Id="rId13" Type="http://schemas.openxmlformats.org/officeDocument/2006/relationships/slide" Target="slide42.xml"/><Relationship Id="rId3" Type="http://schemas.openxmlformats.org/officeDocument/2006/relationships/tags" Target="../tags/tag527.xml"/><Relationship Id="rId7" Type="http://schemas.microsoft.com/office/2018/10/relationships/comments" Target="../comments/modernComment_2D6_A7287103.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526.xml"/><Relationship Id="rId16" Type="http://schemas.openxmlformats.org/officeDocument/2006/relationships/slide" Target="slide77.xml"/><Relationship Id="rId1" Type="http://schemas.openxmlformats.org/officeDocument/2006/relationships/tags" Target="../tags/tag525.xml"/><Relationship Id="rId6" Type="http://schemas.openxmlformats.org/officeDocument/2006/relationships/slideLayout" Target="../slideLayouts/slideLayout27.xml"/><Relationship Id="rId11" Type="http://schemas.openxmlformats.org/officeDocument/2006/relationships/slide" Target="slide4.xml"/><Relationship Id="rId5" Type="http://schemas.openxmlformats.org/officeDocument/2006/relationships/tags" Target="../tags/tag529.xml"/><Relationship Id="rId15" Type="http://schemas.openxmlformats.org/officeDocument/2006/relationships/slide" Target="slide73.xml"/><Relationship Id="rId10" Type="http://schemas.openxmlformats.org/officeDocument/2006/relationships/image" Target="../media/image7.emf"/><Relationship Id="rId4" Type="http://schemas.openxmlformats.org/officeDocument/2006/relationships/tags" Target="../tags/tag528.xml"/><Relationship Id="rId9" Type="http://schemas.openxmlformats.org/officeDocument/2006/relationships/oleObject" Target="../embeddings/oleObject62.bin"/><Relationship Id="rId14" Type="http://schemas.openxmlformats.org/officeDocument/2006/relationships/slide" Target="slide52.xml"/></Relationships>
</file>

<file path=ppt/slides/_rels/slide5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532.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531.xml"/><Relationship Id="rId1" Type="http://schemas.openxmlformats.org/officeDocument/2006/relationships/tags" Target="../tags/tag530.xml"/><Relationship Id="rId6" Type="http://schemas.openxmlformats.org/officeDocument/2006/relationships/oleObject" Target="../embeddings/oleObject63.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533.xml"/><Relationship Id="rId9" Type="http://schemas.openxmlformats.org/officeDocument/2006/relationships/slide" Target="slide18.xml"/><Relationship Id="rId14" Type="http://schemas.openxmlformats.org/officeDocument/2006/relationships/slide" Target="slide81.xml"/></Relationships>
</file>

<file path=ppt/slides/_rels/slide60.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73.xml"/><Relationship Id="rId3" Type="http://schemas.openxmlformats.org/officeDocument/2006/relationships/tags" Target="../tags/tag536.xml"/><Relationship Id="rId7" Type="http://schemas.openxmlformats.org/officeDocument/2006/relationships/image" Target="../media/image7.emf"/><Relationship Id="rId12" Type="http://schemas.openxmlformats.org/officeDocument/2006/relationships/slide" Target="slide52.xml"/><Relationship Id="rId2" Type="http://schemas.openxmlformats.org/officeDocument/2006/relationships/tags" Target="../tags/tag535.xml"/><Relationship Id="rId1" Type="http://schemas.openxmlformats.org/officeDocument/2006/relationships/tags" Target="../tags/tag534.xml"/><Relationship Id="rId6" Type="http://schemas.openxmlformats.org/officeDocument/2006/relationships/oleObject" Target="../embeddings/oleObject64.bin"/><Relationship Id="rId11" Type="http://schemas.openxmlformats.org/officeDocument/2006/relationships/slide" Target="slide42.xml"/><Relationship Id="rId5" Type="http://schemas.openxmlformats.org/officeDocument/2006/relationships/slideLayout" Target="../slideLayouts/slideLayout33.xml"/><Relationship Id="rId15" Type="http://schemas.openxmlformats.org/officeDocument/2006/relationships/slide" Target="slide81.xml"/><Relationship Id="rId10" Type="http://schemas.openxmlformats.org/officeDocument/2006/relationships/slide" Target="slide18.xml"/><Relationship Id="rId4" Type="http://schemas.openxmlformats.org/officeDocument/2006/relationships/tags" Target="../tags/tag537.xml"/><Relationship Id="rId9" Type="http://schemas.openxmlformats.org/officeDocument/2006/relationships/slide" Target="slide4.xml"/><Relationship Id="rId14" Type="http://schemas.openxmlformats.org/officeDocument/2006/relationships/slide" Target="slide77.xml"/></Relationships>
</file>

<file path=ppt/slides/_rels/slide61.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image" Target="../media/image79.emf"/><Relationship Id="rId18" Type="http://schemas.openxmlformats.org/officeDocument/2006/relationships/slide" Target="slide73.xml"/><Relationship Id="rId3" Type="http://schemas.openxmlformats.org/officeDocument/2006/relationships/tags" Target="../tags/tag540.xml"/><Relationship Id="rId7" Type="http://schemas.openxmlformats.org/officeDocument/2006/relationships/tags" Target="../tags/tag544.xml"/><Relationship Id="rId12" Type="http://schemas.openxmlformats.org/officeDocument/2006/relationships/image" Target="../media/image7.emf"/><Relationship Id="rId17" Type="http://schemas.openxmlformats.org/officeDocument/2006/relationships/slide" Target="slide52.xml"/><Relationship Id="rId2" Type="http://schemas.openxmlformats.org/officeDocument/2006/relationships/tags" Target="../tags/tag539.xml"/><Relationship Id="rId16" Type="http://schemas.openxmlformats.org/officeDocument/2006/relationships/slide" Target="slide42.xml"/><Relationship Id="rId20" Type="http://schemas.openxmlformats.org/officeDocument/2006/relationships/slide" Target="slide81.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oleObject" Target="../embeddings/oleObject65.bin"/><Relationship Id="rId5" Type="http://schemas.openxmlformats.org/officeDocument/2006/relationships/tags" Target="../tags/tag542.xml"/><Relationship Id="rId15" Type="http://schemas.openxmlformats.org/officeDocument/2006/relationships/slide" Target="slide18.xml"/><Relationship Id="rId10" Type="http://schemas.openxmlformats.org/officeDocument/2006/relationships/image" Target="../media/image78.emf"/><Relationship Id="rId19" Type="http://schemas.openxmlformats.org/officeDocument/2006/relationships/slide" Target="slide77.xml"/><Relationship Id="rId4" Type="http://schemas.openxmlformats.org/officeDocument/2006/relationships/tags" Target="../tags/tag541.xml"/><Relationship Id="rId9" Type="http://schemas.openxmlformats.org/officeDocument/2006/relationships/slideLayout" Target="../slideLayouts/slideLayout35.xml"/><Relationship Id="rId14" Type="http://schemas.openxmlformats.org/officeDocument/2006/relationships/slide" Target="slide4.xml"/></Relationships>
</file>

<file path=ppt/slides/_rels/slide6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548.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547.xml"/><Relationship Id="rId1" Type="http://schemas.openxmlformats.org/officeDocument/2006/relationships/tags" Target="../tags/tag546.xml"/><Relationship Id="rId6" Type="http://schemas.openxmlformats.org/officeDocument/2006/relationships/oleObject" Target="../embeddings/oleObject66.bin"/><Relationship Id="rId11" Type="http://schemas.openxmlformats.org/officeDocument/2006/relationships/slide" Target="slide52.xml"/><Relationship Id="rId5" Type="http://schemas.openxmlformats.org/officeDocument/2006/relationships/slideLayout" Target="../slideLayouts/slideLayout34.xml"/><Relationship Id="rId10" Type="http://schemas.openxmlformats.org/officeDocument/2006/relationships/slide" Target="slide42.xml"/><Relationship Id="rId4" Type="http://schemas.openxmlformats.org/officeDocument/2006/relationships/tags" Target="../tags/tag549.xml"/><Relationship Id="rId9" Type="http://schemas.openxmlformats.org/officeDocument/2006/relationships/slide" Target="slide18.xml"/><Relationship Id="rId14" Type="http://schemas.openxmlformats.org/officeDocument/2006/relationships/slide" Target="slide81.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 Target="slide4.xml"/><Relationship Id="rId18" Type="http://schemas.openxmlformats.org/officeDocument/2006/relationships/slide" Target="slide77.xml"/><Relationship Id="rId3" Type="http://schemas.openxmlformats.org/officeDocument/2006/relationships/tags" Target="../tags/tag552.xml"/><Relationship Id="rId7" Type="http://schemas.openxmlformats.org/officeDocument/2006/relationships/tags" Target="../tags/tag556.xml"/><Relationship Id="rId12" Type="http://schemas.openxmlformats.org/officeDocument/2006/relationships/slide" Target="slide68.xml"/><Relationship Id="rId17" Type="http://schemas.openxmlformats.org/officeDocument/2006/relationships/slide" Target="slide73.xml"/><Relationship Id="rId2" Type="http://schemas.openxmlformats.org/officeDocument/2006/relationships/tags" Target="../tags/tag551.xml"/><Relationship Id="rId16" Type="http://schemas.openxmlformats.org/officeDocument/2006/relationships/slide" Target="slide52.xml"/><Relationship Id="rId1" Type="http://schemas.openxmlformats.org/officeDocument/2006/relationships/tags" Target="../tags/tag550.xml"/><Relationship Id="rId6" Type="http://schemas.openxmlformats.org/officeDocument/2006/relationships/tags" Target="../tags/tag555.xml"/><Relationship Id="rId11" Type="http://schemas.openxmlformats.org/officeDocument/2006/relationships/image" Target="../media/image80.emf"/><Relationship Id="rId5" Type="http://schemas.openxmlformats.org/officeDocument/2006/relationships/tags" Target="../tags/tag554.xml"/><Relationship Id="rId15" Type="http://schemas.openxmlformats.org/officeDocument/2006/relationships/slide" Target="slide42.xml"/><Relationship Id="rId10" Type="http://schemas.openxmlformats.org/officeDocument/2006/relationships/image" Target="../media/image7.emf"/><Relationship Id="rId19" Type="http://schemas.openxmlformats.org/officeDocument/2006/relationships/slide" Target="slide81.xml"/><Relationship Id="rId4" Type="http://schemas.openxmlformats.org/officeDocument/2006/relationships/tags" Target="../tags/tag553.xml"/><Relationship Id="rId9" Type="http://schemas.openxmlformats.org/officeDocument/2006/relationships/oleObject" Target="../embeddings/oleObject67.bin"/><Relationship Id="rId14" Type="http://schemas.openxmlformats.org/officeDocument/2006/relationships/slide" Target="slide18.xml"/></Relationships>
</file>

<file path=ppt/slides/_rels/slide64.xml.rels><?xml version="1.0" encoding="UTF-8" standalone="yes"?>
<Relationships xmlns="http://schemas.openxmlformats.org/package/2006/relationships"><Relationship Id="rId8" Type="http://schemas.openxmlformats.org/officeDocument/2006/relationships/tags" Target="../tags/tag564.xml"/><Relationship Id="rId13" Type="http://schemas.openxmlformats.org/officeDocument/2006/relationships/slide" Target="slide4.xml"/><Relationship Id="rId18" Type="http://schemas.openxmlformats.org/officeDocument/2006/relationships/slide" Target="slide77.xml"/><Relationship Id="rId3" Type="http://schemas.openxmlformats.org/officeDocument/2006/relationships/tags" Target="../tags/tag559.xml"/><Relationship Id="rId7" Type="http://schemas.openxmlformats.org/officeDocument/2006/relationships/tags" Target="../tags/tag563.xml"/><Relationship Id="rId12" Type="http://schemas.openxmlformats.org/officeDocument/2006/relationships/image" Target="../media/image7.emf"/><Relationship Id="rId17" Type="http://schemas.openxmlformats.org/officeDocument/2006/relationships/slide" Target="slide73.xml"/><Relationship Id="rId2" Type="http://schemas.openxmlformats.org/officeDocument/2006/relationships/tags" Target="../tags/tag558.xml"/><Relationship Id="rId16" Type="http://schemas.openxmlformats.org/officeDocument/2006/relationships/slide" Target="slide52.xml"/><Relationship Id="rId1" Type="http://schemas.openxmlformats.org/officeDocument/2006/relationships/tags" Target="../tags/tag557.xml"/><Relationship Id="rId6" Type="http://schemas.openxmlformats.org/officeDocument/2006/relationships/tags" Target="../tags/tag562.xml"/><Relationship Id="rId11" Type="http://schemas.openxmlformats.org/officeDocument/2006/relationships/oleObject" Target="../embeddings/oleObject68.bin"/><Relationship Id="rId5" Type="http://schemas.openxmlformats.org/officeDocument/2006/relationships/tags" Target="../tags/tag561.xml"/><Relationship Id="rId15" Type="http://schemas.openxmlformats.org/officeDocument/2006/relationships/slide" Target="slide42.xml"/><Relationship Id="rId10" Type="http://schemas.openxmlformats.org/officeDocument/2006/relationships/image" Target="../media/image81.emf"/><Relationship Id="rId19" Type="http://schemas.openxmlformats.org/officeDocument/2006/relationships/slide" Target="slide81.xml"/><Relationship Id="rId4" Type="http://schemas.openxmlformats.org/officeDocument/2006/relationships/tags" Target="../tags/tag560.xml"/><Relationship Id="rId9" Type="http://schemas.openxmlformats.org/officeDocument/2006/relationships/slideLayout" Target="../slideLayouts/slideLayout29.xml"/><Relationship Id="rId14" Type="http://schemas.openxmlformats.org/officeDocument/2006/relationships/slide" Target="slide18.xml"/></Relationships>
</file>

<file path=ppt/slides/_rels/slide65.xml.rels><?xml version="1.0" encoding="UTF-8" standalone="yes"?>
<Relationships xmlns="http://schemas.openxmlformats.org/package/2006/relationships"><Relationship Id="rId8" Type="http://schemas.openxmlformats.org/officeDocument/2006/relationships/image" Target="../media/image82.emf"/><Relationship Id="rId13" Type="http://schemas.openxmlformats.org/officeDocument/2006/relationships/slide" Target="slide18.xml"/><Relationship Id="rId18" Type="http://schemas.openxmlformats.org/officeDocument/2006/relationships/slide" Target="slide81.xml"/><Relationship Id="rId3" Type="http://schemas.openxmlformats.org/officeDocument/2006/relationships/tags" Target="../tags/tag567.xml"/><Relationship Id="rId7" Type="http://schemas.openxmlformats.org/officeDocument/2006/relationships/slideLayout" Target="../slideLayouts/slideLayout29.xml"/><Relationship Id="rId12" Type="http://schemas.openxmlformats.org/officeDocument/2006/relationships/slide" Target="slide4.xml"/><Relationship Id="rId17" Type="http://schemas.openxmlformats.org/officeDocument/2006/relationships/slide" Target="slide77.xml"/><Relationship Id="rId2" Type="http://schemas.openxmlformats.org/officeDocument/2006/relationships/tags" Target="../tags/tag566.xml"/><Relationship Id="rId16" Type="http://schemas.openxmlformats.org/officeDocument/2006/relationships/slide" Target="slide73.xml"/><Relationship Id="rId1" Type="http://schemas.openxmlformats.org/officeDocument/2006/relationships/tags" Target="../tags/tag565.xml"/><Relationship Id="rId6" Type="http://schemas.openxmlformats.org/officeDocument/2006/relationships/tags" Target="../tags/tag570.xml"/><Relationship Id="rId11" Type="http://schemas.openxmlformats.org/officeDocument/2006/relationships/slide" Target="slide20.xml"/><Relationship Id="rId5" Type="http://schemas.openxmlformats.org/officeDocument/2006/relationships/tags" Target="../tags/tag569.xml"/><Relationship Id="rId15" Type="http://schemas.openxmlformats.org/officeDocument/2006/relationships/slide" Target="slide52.xml"/><Relationship Id="rId10" Type="http://schemas.openxmlformats.org/officeDocument/2006/relationships/image" Target="../media/image7.emf"/><Relationship Id="rId4" Type="http://schemas.openxmlformats.org/officeDocument/2006/relationships/tags" Target="../tags/tag568.xml"/><Relationship Id="rId9" Type="http://schemas.openxmlformats.org/officeDocument/2006/relationships/oleObject" Target="../embeddings/oleObject69.bin"/><Relationship Id="rId14" Type="http://schemas.openxmlformats.org/officeDocument/2006/relationships/slide" Target="slide42.xml"/></Relationships>
</file>

<file path=ppt/slides/_rels/slide66.xml.rels><?xml version="1.0" encoding="UTF-8" standalone="yes"?>
<Relationships xmlns="http://schemas.openxmlformats.org/package/2006/relationships"><Relationship Id="rId8" Type="http://schemas.openxmlformats.org/officeDocument/2006/relationships/tags" Target="../tags/tag578.xml"/><Relationship Id="rId13" Type="http://schemas.openxmlformats.org/officeDocument/2006/relationships/image" Target="../media/image84.emf"/><Relationship Id="rId18" Type="http://schemas.openxmlformats.org/officeDocument/2006/relationships/slide" Target="slide73.xml"/><Relationship Id="rId3" Type="http://schemas.openxmlformats.org/officeDocument/2006/relationships/tags" Target="../tags/tag573.xml"/><Relationship Id="rId7" Type="http://schemas.openxmlformats.org/officeDocument/2006/relationships/tags" Target="../tags/tag577.xml"/><Relationship Id="rId12" Type="http://schemas.openxmlformats.org/officeDocument/2006/relationships/image" Target="../media/image7.emf"/><Relationship Id="rId17" Type="http://schemas.openxmlformats.org/officeDocument/2006/relationships/slide" Target="slide52.xml"/><Relationship Id="rId2" Type="http://schemas.openxmlformats.org/officeDocument/2006/relationships/tags" Target="../tags/tag572.xml"/><Relationship Id="rId16" Type="http://schemas.openxmlformats.org/officeDocument/2006/relationships/slide" Target="slide42.xml"/><Relationship Id="rId20" Type="http://schemas.openxmlformats.org/officeDocument/2006/relationships/slide" Target="slide81.xml"/><Relationship Id="rId1" Type="http://schemas.openxmlformats.org/officeDocument/2006/relationships/tags" Target="../tags/tag571.xml"/><Relationship Id="rId6" Type="http://schemas.openxmlformats.org/officeDocument/2006/relationships/tags" Target="../tags/tag576.xml"/><Relationship Id="rId11" Type="http://schemas.openxmlformats.org/officeDocument/2006/relationships/oleObject" Target="../embeddings/oleObject70.bin"/><Relationship Id="rId5" Type="http://schemas.openxmlformats.org/officeDocument/2006/relationships/tags" Target="../tags/tag575.xml"/><Relationship Id="rId15" Type="http://schemas.openxmlformats.org/officeDocument/2006/relationships/slide" Target="slide18.xml"/><Relationship Id="rId10" Type="http://schemas.openxmlformats.org/officeDocument/2006/relationships/image" Target="../media/image83.emf"/><Relationship Id="rId19" Type="http://schemas.openxmlformats.org/officeDocument/2006/relationships/slide" Target="slide77.xml"/><Relationship Id="rId4" Type="http://schemas.openxmlformats.org/officeDocument/2006/relationships/tags" Target="../tags/tag574.xml"/><Relationship Id="rId9" Type="http://schemas.openxmlformats.org/officeDocument/2006/relationships/slideLayout" Target="../slideLayouts/slideLayout35.xml"/><Relationship Id="rId14" Type="http://schemas.openxmlformats.org/officeDocument/2006/relationships/slide" Target="slide4.xml"/></Relationships>
</file>

<file path=ppt/slides/_rels/slide6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58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580.xml"/><Relationship Id="rId1" Type="http://schemas.openxmlformats.org/officeDocument/2006/relationships/tags" Target="../tags/tag579.xml"/><Relationship Id="rId6" Type="http://schemas.openxmlformats.org/officeDocument/2006/relationships/oleObject" Target="../embeddings/oleObject71.bin"/><Relationship Id="rId11" Type="http://schemas.openxmlformats.org/officeDocument/2006/relationships/slide" Target="slide52.xml"/><Relationship Id="rId5" Type="http://schemas.openxmlformats.org/officeDocument/2006/relationships/slideLayout" Target="../slideLayouts/slideLayout34.xml"/><Relationship Id="rId10" Type="http://schemas.openxmlformats.org/officeDocument/2006/relationships/slide" Target="slide42.xml"/><Relationship Id="rId4" Type="http://schemas.openxmlformats.org/officeDocument/2006/relationships/tags" Target="../tags/tag582.xml"/><Relationship Id="rId9" Type="http://schemas.openxmlformats.org/officeDocument/2006/relationships/slide" Target="slide18.xml"/><Relationship Id="rId14" Type="http://schemas.openxmlformats.org/officeDocument/2006/relationships/slide" Target="slide81.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slide" Target="slide42.xml"/><Relationship Id="rId3" Type="http://schemas.openxmlformats.org/officeDocument/2006/relationships/tags" Target="../tags/tag585.xml"/><Relationship Id="rId7" Type="http://schemas.openxmlformats.org/officeDocument/2006/relationships/slideLayout" Target="../slideLayouts/slideLayout29.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584.xml"/><Relationship Id="rId16" Type="http://schemas.openxmlformats.org/officeDocument/2006/relationships/slide" Target="slide77.xml"/><Relationship Id="rId1" Type="http://schemas.openxmlformats.org/officeDocument/2006/relationships/tags" Target="../tags/tag583.xml"/><Relationship Id="rId6" Type="http://schemas.openxmlformats.org/officeDocument/2006/relationships/tags" Target="../tags/tag588.xml"/><Relationship Id="rId11" Type="http://schemas.openxmlformats.org/officeDocument/2006/relationships/slide" Target="slide4.xml"/><Relationship Id="rId5" Type="http://schemas.openxmlformats.org/officeDocument/2006/relationships/tags" Target="../tags/tag587.xml"/><Relationship Id="rId15" Type="http://schemas.openxmlformats.org/officeDocument/2006/relationships/slide" Target="slide73.xml"/><Relationship Id="rId10" Type="http://schemas.openxmlformats.org/officeDocument/2006/relationships/image" Target="../media/image85.emf"/><Relationship Id="rId4" Type="http://schemas.openxmlformats.org/officeDocument/2006/relationships/tags" Target="../tags/tag586.xml"/><Relationship Id="rId9" Type="http://schemas.openxmlformats.org/officeDocument/2006/relationships/image" Target="../media/image7.emf"/><Relationship Id="rId14" Type="http://schemas.openxmlformats.org/officeDocument/2006/relationships/slide" Target="slide52.xml"/></Relationships>
</file>

<file path=ppt/slides/_rels/slide6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59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590.xml"/><Relationship Id="rId1" Type="http://schemas.openxmlformats.org/officeDocument/2006/relationships/tags" Target="../tags/tag589.xml"/><Relationship Id="rId6" Type="http://schemas.openxmlformats.org/officeDocument/2006/relationships/oleObject" Target="../embeddings/oleObject73.bin"/><Relationship Id="rId11" Type="http://schemas.openxmlformats.org/officeDocument/2006/relationships/slide" Target="slide52.xml"/><Relationship Id="rId5" Type="http://schemas.openxmlformats.org/officeDocument/2006/relationships/slideLayout" Target="../slideLayouts/slideLayout34.xml"/><Relationship Id="rId10" Type="http://schemas.openxmlformats.org/officeDocument/2006/relationships/slide" Target="slide42.xml"/><Relationship Id="rId4" Type="http://schemas.openxmlformats.org/officeDocument/2006/relationships/tags" Target="../tags/tag592.xml"/><Relationship Id="rId9" Type="http://schemas.openxmlformats.org/officeDocument/2006/relationships/slide" Target="slide18.xml"/><Relationship Id="rId14" Type="http://schemas.openxmlformats.org/officeDocument/2006/relationships/slide" Target="slide81.xml"/></Relationships>
</file>

<file path=ppt/slides/_rels/slide70.xml.rels><?xml version="1.0" encoding="UTF-8" standalone="yes"?>
<Relationships xmlns="http://schemas.openxmlformats.org/package/2006/relationships"><Relationship Id="rId8" Type="http://schemas.openxmlformats.org/officeDocument/2006/relationships/image" Target="../media/image86.emf"/><Relationship Id="rId13" Type="http://schemas.openxmlformats.org/officeDocument/2006/relationships/slide" Target="slide42.xml"/><Relationship Id="rId3" Type="http://schemas.openxmlformats.org/officeDocument/2006/relationships/tags" Target="../tags/tag595.xml"/><Relationship Id="rId7" Type="http://schemas.openxmlformats.org/officeDocument/2006/relationships/slideLayout" Target="../slideLayouts/slideLayout29.xml"/><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594.xml"/><Relationship Id="rId16" Type="http://schemas.openxmlformats.org/officeDocument/2006/relationships/slide" Target="slide77.xml"/><Relationship Id="rId1" Type="http://schemas.openxmlformats.org/officeDocument/2006/relationships/tags" Target="../tags/tag593.xml"/><Relationship Id="rId6" Type="http://schemas.openxmlformats.org/officeDocument/2006/relationships/tags" Target="../tags/tag598.xml"/><Relationship Id="rId11" Type="http://schemas.openxmlformats.org/officeDocument/2006/relationships/slide" Target="slide4.xml"/><Relationship Id="rId5" Type="http://schemas.openxmlformats.org/officeDocument/2006/relationships/tags" Target="../tags/tag597.xml"/><Relationship Id="rId15" Type="http://schemas.openxmlformats.org/officeDocument/2006/relationships/slide" Target="slide73.xml"/><Relationship Id="rId10" Type="http://schemas.openxmlformats.org/officeDocument/2006/relationships/image" Target="../media/image7.emf"/><Relationship Id="rId4" Type="http://schemas.openxmlformats.org/officeDocument/2006/relationships/tags" Target="../tags/tag596.xml"/><Relationship Id="rId9" Type="http://schemas.openxmlformats.org/officeDocument/2006/relationships/oleObject" Target="../embeddings/oleObject74.bin"/><Relationship Id="rId14" Type="http://schemas.openxmlformats.org/officeDocument/2006/relationships/slide" Target="slide52.xml"/></Relationships>
</file>

<file path=ppt/slides/_rels/slide7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60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600.xml"/><Relationship Id="rId1" Type="http://schemas.openxmlformats.org/officeDocument/2006/relationships/tags" Target="../tags/tag599.xml"/><Relationship Id="rId6" Type="http://schemas.openxmlformats.org/officeDocument/2006/relationships/oleObject" Target="../embeddings/oleObject75.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602.xml"/><Relationship Id="rId9" Type="http://schemas.openxmlformats.org/officeDocument/2006/relationships/slide" Target="slide18.xml"/><Relationship Id="rId14" Type="http://schemas.openxmlformats.org/officeDocument/2006/relationships/slide" Target="slide81.xml"/></Relationships>
</file>

<file path=ppt/slides/_rels/slide7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605.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604.xml"/><Relationship Id="rId1" Type="http://schemas.openxmlformats.org/officeDocument/2006/relationships/tags" Target="../tags/tag603.xml"/><Relationship Id="rId6" Type="http://schemas.openxmlformats.org/officeDocument/2006/relationships/oleObject" Target="../embeddings/oleObject76.bin"/><Relationship Id="rId11" Type="http://schemas.openxmlformats.org/officeDocument/2006/relationships/slide" Target="slide52.xml"/><Relationship Id="rId5" Type="http://schemas.openxmlformats.org/officeDocument/2006/relationships/slideLayout" Target="../slideLayouts/slideLayout33.xml"/><Relationship Id="rId10" Type="http://schemas.openxmlformats.org/officeDocument/2006/relationships/slide" Target="slide42.xml"/><Relationship Id="rId4" Type="http://schemas.openxmlformats.org/officeDocument/2006/relationships/tags" Target="../tags/tag606.xml"/><Relationship Id="rId9" Type="http://schemas.openxmlformats.org/officeDocument/2006/relationships/slide" Target="slide18.xml"/><Relationship Id="rId14" Type="http://schemas.openxmlformats.org/officeDocument/2006/relationships/slide" Target="slide81.xml"/></Relationships>
</file>

<file path=ppt/slides/_rels/slide73.xml.rels><?xml version="1.0" encoding="UTF-8" standalone="yes"?>
<Relationships xmlns="http://schemas.openxmlformats.org/package/2006/relationships"><Relationship Id="rId8" Type="http://schemas.openxmlformats.org/officeDocument/2006/relationships/tags" Target="../tags/tag614.xml"/><Relationship Id="rId13" Type="http://schemas.openxmlformats.org/officeDocument/2006/relationships/tags" Target="../tags/tag619.xml"/><Relationship Id="rId18" Type="http://schemas.openxmlformats.org/officeDocument/2006/relationships/slide" Target="slide76.xml"/><Relationship Id="rId3" Type="http://schemas.openxmlformats.org/officeDocument/2006/relationships/tags" Target="../tags/tag609.xml"/><Relationship Id="rId7" Type="http://schemas.openxmlformats.org/officeDocument/2006/relationships/tags" Target="../tags/tag613.xml"/><Relationship Id="rId12" Type="http://schemas.openxmlformats.org/officeDocument/2006/relationships/tags" Target="../tags/tag618.xml"/><Relationship Id="rId17" Type="http://schemas.openxmlformats.org/officeDocument/2006/relationships/slide" Target="slide75.xml"/><Relationship Id="rId2" Type="http://schemas.openxmlformats.org/officeDocument/2006/relationships/tags" Target="../tags/tag608.xml"/><Relationship Id="rId16" Type="http://schemas.openxmlformats.org/officeDocument/2006/relationships/slide" Target="slide74.xml"/><Relationship Id="rId1" Type="http://schemas.openxmlformats.org/officeDocument/2006/relationships/tags" Target="../tags/tag607.xml"/><Relationship Id="rId6" Type="http://schemas.openxmlformats.org/officeDocument/2006/relationships/tags" Target="../tags/tag612.xml"/><Relationship Id="rId11" Type="http://schemas.openxmlformats.org/officeDocument/2006/relationships/tags" Target="../tags/tag617.xml"/><Relationship Id="rId5" Type="http://schemas.openxmlformats.org/officeDocument/2006/relationships/tags" Target="../tags/tag611.xml"/><Relationship Id="rId15" Type="http://schemas.openxmlformats.org/officeDocument/2006/relationships/slide" Target="slide73.xml"/><Relationship Id="rId10" Type="http://schemas.openxmlformats.org/officeDocument/2006/relationships/tags" Target="../tags/tag616.xml"/><Relationship Id="rId4" Type="http://schemas.openxmlformats.org/officeDocument/2006/relationships/tags" Target="../tags/tag610.xml"/><Relationship Id="rId9" Type="http://schemas.openxmlformats.org/officeDocument/2006/relationships/tags" Target="../tags/tag615.xml"/><Relationship Id="rId14" Type="http://schemas.openxmlformats.org/officeDocument/2006/relationships/slideLayout" Target="../slideLayouts/slideLayout45.xml"/></Relationships>
</file>

<file path=ppt/slides/_rels/slide74.xml.rels><?xml version="1.0" encoding="UTF-8" standalone="yes"?>
<Relationships xmlns="http://schemas.openxmlformats.org/package/2006/relationships"><Relationship Id="rId8" Type="http://schemas.openxmlformats.org/officeDocument/2006/relationships/tags" Target="../tags/tag627.xml"/><Relationship Id="rId13" Type="http://schemas.openxmlformats.org/officeDocument/2006/relationships/image" Target="../media/image87.emf"/><Relationship Id="rId18" Type="http://schemas.openxmlformats.org/officeDocument/2006/relationships/slide" Target="slide42.xml"/><Relationship Id="rId3" Type="http://schemas.openxmlformats.org/officeDocument/2006/relationships/tags" Target="../tags/tag622.xml"/><Relationship Id="rId21" Type="http://schemas.openxmlformats.org/officeDocument/2006/relationships/slide" Target="slide77.xml"/><Relationship Id="rId7" Type="http://schemas.openxmlformats.org/officeDocument/2006/relationships/tags" Target="../tags/tag626.xml"/><Relationship Id="rId12" Type="http://schemas.openxmlformats.org/officeDocument/2006/relationships/slideLayout" Target="../slideLayouts/slideLayout31.xml"/><Relationship Id="rId17" Type="http://schemas.openxmlformats.org/officeDocument/2006/relationships/slide" Target="slide18.xml"/><Relationship Id="rId2" Type="http://schemas.openxmlformats.org/officeDocument/2006/relationships/tags" Target="../tags/tag621.xml"/><Relationship Id="rId16" Type="http://schemas.openxmlformats.org/officeDocument/2006/relationships/slide" Target="slide4.xml"/><Relationship Id="rId20" Type="http://schemas.openxmlformats.org/officeDocument/2006/relationships/slide" Target="slide73.xml"/><Relationship Id="rId1" Type="http://schemas.openxmlformats.org/officeDocument/2006/relationships/tags" Target="../tags/tag620.xml"/><Relationship Id="rId6" Type="http://schemas.openxmlformats.org/officeDocument/2006/relationships/tags" Target="../tags/tag625.xml"/><Relationship Id="rId11" Type="http://schemas.openxmlformats.org/officeDocument/2006/relationships/tags" Target="../tags/tag630.xml"/><Relationship Id="rId5" Type="http://schemas.openxmlformats.org/officeDocument/2006/relationships/tags" Target="../tags/tag624.xml"/><Relationship Id="rId15" Type="http://schemas.openxmlformats.org/officeDocument/2006/relationships/image" Target="../media/image7.emf"/><Relationship Id="rId10" Type="http://schemas.openxmlformats.org/officeDocument/2006/relationships/tags" Target="../tags/tag629.xml"/><Relationship Id="rId19" Type="http://schemas.openxmlformats.org/officeDocument/2006/relationships/slide" Target="slide52.xml"/><Relationship Id="rId4" Type="http://schemas.openxmlformats.org/officeDocument/2006/relationships/tags" Target="../tags/tag623.xml"/><Relationship Id="rId9" Type="http://schemas.openxmlformats.org/officeDocument/2006/relationships/tags" Target="../tags/tag628.xml"/><Relationship Id="rId14" Type="http://schemas.openxmlformats.org/officeDocument/2006/relationships/oleObject" Target="../embeddings/oleObject77.bin"/><Relationship Id="rId22" Type="http://schemas.openxmlformats.org/officeDocument/2006/relationships/slide" Target="slide81.xml"/></Relationships>
</file>

<file path=ppt/slides/_rels/slide75.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73.xml"/><Relationship Id="rId3" Type="http://schemas.openxmlformats.org/officeDocument/2006/relationships/tags" Target="../tags/tag633.xml"/><Relationship Id="rId7" Type="http://schemas.openxmlformats.org/officeDocument/2006/relationships/oleObject" Target="../embeddings/oleObject78.bin"/><Relationship Id="rId12" Type="http://schemas.openxmlformats.org/officeDocument/2006/relationships/slide" Target="slide52.xml"/><Relationship Id="rId2" Type="http://schemas.openxmlformats.org/officeDocument/2006/relationships/tags" Target="../tags/tag632.xml"/><Relationship Id="rId1" Type="http://schemas.openxmlformats.org/officeDocument/2006/relationships/tags" Target="../tags/tag631.xml"/><Relationship Id="rId6" Type="http://schemas.openxmlformats.org/officeDocument/2006/relationships/image" Target="../media/image88.emf"/><Relationship Id="rId11" Type="http://schemas.openxmlformats.org/officeDocument/2006/relationships/slide" Target="slide42.xml"/><Relationship Id="rId5" Type="http://schemas.openxmlformats.org/officeDocument/2006/relationships/slideLayout" Target="../slideLayouts/slideLayout29.xml"/><Relationship Id="rId15" Type="http://schemas.openxmlformats.org/officeDocument/2006/relationships/slide" Target="slide81.xml"/><Relationship Id="rId10" Type="http://schemas.openxmlformats.org/officeDocument/2006/relationships/slide" Target="slide18.xml"/><Relationship Id="rId4" Type="http://schemas.openxmlformats.org/officeDocument/2006/relationships/tags" Target="../tags/tag634.xml"/><Relationship Id="rId9" Type="http://schemas.openxmlformats.org/officeDocument/2006/relationships/slide" Target="slide4.xml"/><Relationship Id="rId14" Type="http://schemas.openxmlformats.org/officeDocument/2006/relationships/slide" Target="slide77.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slide" Target="slide42.xml"/><Relationship Id="rId3" Type="http://schemas.openxmlformats.org/officeDocument/2006/relationships/tags" Target="../tags/tag637.xml"/><Relationship Id="rId7" Type="http://schemas.openxmlformats.org/officeDocument/2006/relationships/image" Target="../media/image89.emf"/><Relationship Id="rId12" Type="http://schemas.openxmlformats.org/officeDocument/2006/relationships/slide" Target="slide18.xml"/><Relationship Id="rId17" Type="http://schemas.openxmlformats.org/officeDocument/2006/relationships/slide" Target="slide81.xml"/><Relationship Id="rId2" Type="http://schemas.openxmlformats.org/officeDocument/2006/relationships/tags" Target="../tags/tag636.xml"/><Relationship Id="rId16" Type="http://schemas.openxmlformats.org/officeDocument/2006/relationships/slide" Target="slide77.xml"/><Relationship Id="rId1" Type="http://schemas.openxmlformats.org/officeDocument/2006/relationships/tags" Target="../tags/tag635.xml"/><Relationship Id="rId6" Type="http://schemas.openxmlformats.org/officeDocument/2006/relationships/slideLayout" Target="../slideLayouts/slideLayout35.xml"/><Relationship Id="rId11" Type="http://schemas.openxmlformats.org/officeDocument/2006/relationships/slide" Target="slide4.xml"/><Relationship Id="rId5" Type="http://schemas.openxmlformats.org/officeDocument/2006/relationships/tags" Target="../tags/tag639.xml"/><Relationship Id="rId15" Type="http://schemas.openxmlformats.org/officeDocument/2006/relationships/slide" Target="slide73.xml"/><Relationship Id="rId10" Type="http://schemas.openxmlformats.org/officeDocument/2006/relationships/image" Target="../media/image90.emf"/><Relationship Id="rId4" Type="http://schemas.openxmlformats.org/officeDocument/2006/relationships/tags" Target="../tags/tag638.xml"/><Relationship Id="rId9" Type="http://schemas.openxmlformats.org/officeDocument/2006/relationships/image" Target="../media/image7.emf"/><Relationship Id="rId14" Type="http://schemas.openxmlformats.org/officeDocument/2006/relationships/slide" Target="slide52.xml"/></Relationships>
</file>

<file path=ppt/slides/_rels/slide77.xml.rels><?xml version="1.0" encoding="UTF-8" standalone="yes"?>
<Relationships xmlns="http://schemas.openxmlformats.org/package/2006/relationships"><Relationship Id="rId8" Type="http://schemas.openxmlformats.org/officeDocument/2006/relationships/tags" Target="../tags/tag647.xml"/><Relationship Id="rId13" Type="http://schemas.openxmlformats.org/officeDocument/2006/relationships/slide" Target="slide78.xml"/><Relationship Id="rId3" Type="http://schemas.openxmlformats.org/officeDocument/2006/relationships/tags" Target="../tags/tag642.xml"/><Relationship Id="rId7" Type="http://schemas.openxmlformats.org/officeDocument/2006/relationships/tags" Target="../tags/tag646.xml"/><Relationship Id="rId12" Type="http://schemas.openxmlformats.org/officeDocument/2006/relationships/slide" Target="slide77.xml"/><Relationship Id="rId2" Type="http://schemas.openxmlformats.org/officeDocument/2006/relationships/tags" Target="../tags/tag641.xml"/><Relationship Id="rId1" Type="http://schemas.openxmlformats.org/officeDocument/2006/relationships/tags" Target="../tags/tag640.xml"/><Relationship Id="rId6" Type="http://schemas.openxmlformats.org/officeDocument/2006/relationships/tags" Target="../tags/tag645.xml"/><Relationship Id="rId11" Type="http://schemas.openxmlformats.org/officeDocument/2006/relationships/slideLayout" Target="../slideLayouts/slideLayout45.xml"/><Relationship Id="rId5" Type="http://schemas.openxmlformats.org/officeDocument/2006/relationships/tags" Target="../tags/tag644.xml"/><Relationship Id="rId10" Type="http://schemas.openxmlformats.org/officeDocument/2006/relationships/tags" Target="../tags/tag649.xml"/><Relationship Id="rId4" Type="http://schemas.openxmlformats.org/officeDocument/2006/relationships/tags" Target="../tags/tag643.xml"/><Relationship Id="rId9" Type="http://schemas.openxmlformats.org/officeDocument/2006/relationships/tags" Target="../tags/tag648.xml"/><Relationship Id="rId14" Type="http://schemas.openxmlformats.org/officeDocument/2006/relationships/slide" Target="slide80.xml"/></Relationships>
</file>

<file path=ppt/slides/_rels/slide78.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652.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651.xml"/><Relationship Id="rId1" Type="http://schemas.openxmlformats.org/officeDocument/2006/relationships/tags" Target="../tags/tag650.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80.bin"/><Relationship Id="rId10" Type="http://schemas.openxmlformats.org/officeDocument/2006/relationships/slide" Target="slide52.xml"/><Relationship Id="rId4" Type="http://schemas.openxmlformats.org/officeDocument/2006/relationships/slideLayout" Target="../slideLayouts/slideLayout39.xml"/><Relationship Id="rId9" Type="http://schemas.openxmlformats.org/officeDocument/2006/relationships/slide" Target="slide42.xml"/></Relationships>
</file>

<file path=ppt/slides/_rels/slide79.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655.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654.xml"/><Relationship Id="rId1" Type="http://schemas.openxmlformats.org/officeDocument/2006/relationships/tags" Target="../tags/tag653.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81.bin"/><Relationship Id="rId10" Type="http://schemas.openxmlformats.org/officeDocument/2006/relationships/slide" Target="slide52.xml"/><Relationship Id="rId4" Type="http://schemas.openxmlformats.org/officeDocument/2006/relationships/slideLayout" Target="../slideLayouts/slideLayout39.xml"/><Relationship Id="rId9" Type="http://schemas.openxmlformats.org/officeDocument/2006/relationships/slide" Target="slide42.xml"/></Relationships>
</file>

<file path=ppt/slides/_rels/slide80.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658.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657.xml"/><Relationship Id="rId1" Type="http://schemas.openxmlformats.org/officeDocument/2006/relationships/tags" Target="../tags/tag656.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78.bin"/><Relationship Id="rId10" Type="http://schemas.openxmlformats.org/officeDocument/2006/relationships/slide" Target="slide52.xml"/><Relationship Id="rId4" Type="http://schemas.openxmlformats.org/officeDocument/2006/relationships/slideLayout" Target="../slideLayouts/slideLayout26.xml"/><Relationship Id="rId9" Type="http://schemas.openxmlformats.org/officeDocument/2006/relationships/slide" Target="slide42.xml"/></Relationships>
</file>

<file path=ppt/slides/_rels/slide81.xml.rels><?xml version="1.0" encoding="UTF-8" standalone="yes"?>
<Relationships xmlns="http://schemas.openxmlformats.org/package/2006/relationships"><Relationship Id="rId13" Type="http://schemas.openxmlformats.org/officeDocument/2006/relationships/tags" Target="../tags/tag671.xml"/><Relationship Id="rId18" Type="http://schemas.openxmlformats.org/officeDocument/2006/relationships/tags" Target="../tags/tag676.xml"/><Relationship Id="rId26" Type="http://schemas.openxmlformats.org/officeDocument/2006/relationships/slideLayout" Target="../slideLayouts/slideLayout45.xml"/><Relationship Id="rId3" Type="http://schemas.openxmlformats.org/officeDocument/2006/relationships/tags" Target="../tags/tag661.xml"/><Relationship Id="rId21" Type="http://schemas.openxmlformats.org/officeDocument/2006/relationships/tags" Target="../tags/tag679.xml"/><Relationship Id="rId34" Type="http://schemas.openxmlformats.org/officeDocument/2006/relationships/slide" Target="slide102.xml"/><Relationship Id="rId7" Type="http://schemas.openxmlformats.org/officeDocument/2006/relationships/tags" Target="../tags/tag665.xml"/><Relationship Id="rId12" Type="http://schemas.openxmlformats.org/officeDocument/2006/relationships/tags" Target="../tags/tag670.xml"/><Relationship Id="rId17" Type="http://schemas.openxmlformats.org/officeDocument/2006/relationships/tags" Target="../tags/tag675.xml"/><Relationship Id="rId25" Type="http://schemas.openxmlformats.org/officeDocument/2006/relationships/tags" Target="../tags/tag683.xml"/><Relationship Id="rId33" Type="http://schemas.openxmlformats.org/officeDocument/2006/relationships/slide" Target="slide101.xml"/><Relationship Id="rId2" Type="http://schemas.openxmlformats.org/officeDocument/2006/relationships/tags" Target="../tags/tag660.xml"/><Relationship Id="rId16" Type="http://schemas.openxmlformats.org/officeDocument/2006/relationships/tags" Target="../tags/tag674.xml"/><Relationship Id="rId20" Type="http://schemas.openxmlformats.org/officeDocument/2006/relationships/tags" Target="../tags/tag678.xml"/><Relationship Id="rId29" Type="http://schemas.openxmlformats.org/officeDocument/2006/relationships/slide" Target="slide97.xml"/><Relationship Id="rId1" Type="http://schemas.openxmlformats.org/officeDocument/2006/relationships/tags" Target="../tags/tag659.xml"/><Relationship Id="rId6" Type="http://schemas.openxmlformats.org/officeDocument/2006/relationships/tags" Target="../tags/tag664.xml"/><Relationship Id="rId11" Type="http://schemas.openxmlformats.org/officeDocument/2006/relationships/tags" Target="../tags/tag669.xml"/><Relationship Id="rId24" Type="http://schemas.openxmlformats.org/officeDocument/2006/relationships/tags" Target="../tags/tag682.xml"/><Relationship Id="rId32" Type="http://schemas.openxmlformats.org/officeDocument/2006/relationships/slide" Target="slide100.xml"/><Relationship Id="rId5" Type="http://schemas.openxmlformats.org/officeDocument/2006/relationships/tags" Target="../tags/tag663.xml"/><Relationship Id="rId15" Type="http://schemas.openxmlformats.org/officeDocument/2006/relationships/tags" Target="../tags/tag673.xml"/><Relationship Id="rId23" Type="http://schemas.openxmlformats.org/officeDocument/2006/relationships/tags" Target="../tags/tag681.xml"/><Relationship Id="rId28" Type="http://schemas.openxmlformats.org/officeDocument/2006/relationships/slide" Target="slide82.xml"/><Relationship Id="rId10" Type="http://schemas.openxmlformats.org/officeDocument/2006/relationships/tags" Target="../tags/tag668.xml"/><Relationship Id="rId19" Type="http://schemas.openxmlformats.org/officeDocument/2006/relationships/tags" Target="../tags/tag677.xml"/><Relationship Id="rId31" Type="http://schemas.openxmlformats.org/officeDocument/2006/relationships/slide" Target="slide99.xml"/><Relationship Id="rId4" Type="http://schemas.openxmlformats.org/officeDocument/2006/relationships/tags" Target="../tags/tag662.xml"/><Relationship Id="rId9" Type="http://schemas.openxmlformats.org/officeDocument/2006/relationships/tags" Target="../tags/tag667.xml"/><Relationship Id="rId14" Type="http://schemas.openxmlformats.org/officeDocument/2006/relationships/tags" Target="../tags/tag672.xml"/><Relationship Id="rId22" Type="http://schemas.openxmlformats.org/officeDocument/2006/relationships/tags" Target="../tags/tag680.xml"/><Relationship Id="rId27" Type="http://schemas.openxmlformats.org/officeDocument/2006/relationships/slide" Target="slide81.xml"/><Relationship Id="rId30" Type="http://schemas.openxmlformats.org/officeDocument/2006/relationships/slide" Target="slide98.xml"/><Relationship Id="rId8" Type="http://schemas.openxmlformats.org/officeDocument/2006/relationships/tags" Target="../tags/tag666.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684.xml"/></Relationships>
</file>

<file path=ppt/slides/_rels/slide83.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687.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686.xml"/><Relationship Id="rId1" Type="http://schemas.openxmlformats.org/officeDocument/2006/relationships/tags" Target="../tags/tag685.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82.bin"/><Relationship Id="rId10" Type="http://schemas.openxmlformats.org/officeDocument/2006/relationships/slide" Target="slide52.xml"/><Relationship Id="rId4" Type="http://schemas.openxmlformats.org/officeDocument/2006/relationships/slideLayout" Target="../slideLayouts/slideLayout42.xml"/><Relationship Id="rId9" Type="http://schemas.openxmlformats.org/officeDocument/2006/relationships/slide" Target="slide42.xml"/></Relationships>
</file>

<file path=ppt/slides/_rels/slide84.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690.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689.xml"/><Relationship Id="rId1" Type="http://schemas.openxmlformats.org/officeDocument/2006/relationships/tags" Target="../tags/tag688.xml"/><Relationship Id="rId6" Type="http://schemas.openxmlformats.org/officeDocument/2006/relationships/slide" Target="slide99.xml"/><Relationship Id="rId11" Type="http://schemas.openxmlformats.org/officeDocument/2006/relationships/slide" Target="slide73.xml"/><Relationship Id="rId5" Type="http://schemas.openxmlformats.org/officeDocument/2006/relationships/slide" Target="slide85.xml"/><Relationship Id="rId10" Type="http://schemas.openxmlformats.org/officeDocument/2006/relationships/slide" Target="slide52.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85.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693.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692.xml"/><Relationship Id="rId1" Type="http://schemas.openxmlformats.org/officeDocument/2006/relationships/tags" Target="../tags/tag691.xml"/><Relationship Id="rId6" Type="http://schemas.openxmlformats.org/officeDocument/2006/relationships/oleObject" Target="../embeddings/oleObject83.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694.xml"/><Relationship Id="rId9" Type="http://schemas.openxmlformats.org/officeDocument/2006/relationships/slide" Target="slide18.xml"/><Relationship Id="rId14" Type="http://schemas.openxmlformats.org/officeDocument/2006/relationships/slide" Target="slide81.xml"/></Relationships>
</file>

<file path=ppt/slides/_rels/slide8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697.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696.xml"/><Relationship Id="rId1" Type="http://schemas.openxmlformats.org/officeDocument/2006/relationships/tags" Target="../tags/tag695.xml"/><Relationship Id="rId6" Type="http://schemas.openxmlformats.org/officeDocument/2006/relationships/oleObject" Target="../embeddings/oleObject84.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698.xml"/><Relationship Id="rId9" Type="http://schemas.openxmlformats.org/officeDocument/2006/relationships/slide" Target="slide18.xml"/><Relationship Id="rId14" Type="http://schemas.openxmlformats.org/officeDocument/2006/relationships/slide" Target="slide81.xml"/></Relationships>
</file>

<file path=ppt/slides/_rels/slide8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0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00.xml"/><Relationship Id="rId1" Type="http://schemas.openxmlformats.org/officeDocument/2006/relationships/tags" Target="../tags/tag699.xml"/><Relationship Id="rId6" Type="http://schemas.openxmlformats.org/officeDocument/2006/relationships/oleObject" Target="../embeddings/oleObject85.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02.xml"/><Relationship Id="rId9" Type="http://schemas.openxmlformats.org/officeDocument/2006/relationships/slide" Target="slide18.xml"/><Relationship Id="rId14" Type="http://schemas.openxmlformats.org/officeDocument/2006/relationships/slide" Target="slide81.xml"/></Relationships>
</file>

<file path=ppt/slides/_rels/slide8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05.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04.xml"/><Relationship Id="rId1" Type="http://schemas.openxmlformats.org/officeDocument/2006/relationships/tags" Target="../tags/tag703.xml"/><Relationship Id="rId6" Type="http://schemas.openxmlformats.org/officeDocument/2006/relationships/oleObject" Target="../embeddings/oleObject86.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06.xml"/><Relationship Id="rId9" Type="http://schemas.openxmlformats.org/officeDocument/2006/relationships/slide" Target="slide18.xml"/><Relationship Id="rId14" Type="http://schemas.openxmlformats.org/officeDocument/2006/relationships/slide" Target="slide81.xml"/></Relationships>
</file>

<file path=ppt/slides/_rels/slide8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09.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08.xml"/><Relationship Id="rId1" Type="http://schemas.openxmlformats.org/officeDocument/2006/relationships/tags" Target="../tags/tag707.xml"/><Relationship Id="rId6" Type="http://schemas.openxmlformats.org/officeDocument/2006/relationships/oleObject" Target="../embeddings/oleObject87.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10.xml"/><Relationship Id="rId9" Type="http://schemas.openxmlformats.org/officeDocument/2006/relationships/slide" Target="slide18.xml"/><Relationship Id="rId14" Type="http://schemas.openxmlformats.org/officeDocument/2006/relationships/slide" Target="slide81.xml"/></Relationships>
</file>

<file path=ppt/slides/_rels/slide9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13.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12.xml"/><Relationship Id="rId1" Type="http://schemas.openxmlformats.org/officeDocument/2006/relationships/tags" Target="../tags/tag711.xml"/><Relationship Id="rId6" Type="http://schemas.openxmlformats.org/officeDocument/2006/relationships/oleObject" Target="../embeddings/oleObject88.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14.xml"/><Relationship Id="rId9" Type="http://schemas.openxmlformats.org/officeDocument/2006/relationships/slide" Target="slide18.xml"/><Relationship Id="rId14" Type="http://schemas.openxmlformats.org/officeDocument/2006/relationships/slide" Target="slide81.xml"/></Relationships>
</file>

<file path=ppt/slides/_rels/slide9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17.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16.xml"/><Relationship Id="rId1" Type="http://schemas.openxmlformats.org/officeDocument/2006/relationships/tags" Target="../tags/tag715.xml"/><Relationship Id="rId6" Type="http://schemas.openxmlformats.org/officeDocument/2006/relationships/oleObject" Target="../embeddings/oleObject89.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18.xml"/><Relationship Id="rId9" Type="http://schemas.openxmlformats.org/officeDocument/2006/relationships/slide" Target="slide18.xml"/><Relationship Id="rId14" Type="http://schemas.openxmlformats.org/officeDocument/2006/relationships/slide" Target="slide81.xml"/></Relationships>
</file>

<file path=ppt/slides/_rels/slide9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77.xml"/><Relationship Id="rId3" Type="http://schemas.openxmlformats.org/officeDocument/2006/relationships/tags" Target="../tags/tag721.xml"/><Relationship Id="rId7" Type="http://schemas.openxmlformats.org/officeDocument/2006/relationships/image" Target="../media/image7.emf"/><Relationship Id="rId12" Type="http://schemas.openxmlformats.org/officeDocument/2006/relationships/slide" Target="slide73.xml"/><Relationship Id="rId2" Type="http://schemas.openxmlformats.org/officeDocument/2006/relationships/tags" Target="../tags/tag720.xml"/><Relationship Id="rId1" Type="http://schemas.openxmlformats.org/officeDocument/2006/relationships/tags" Target="../tags/tag719.xml"/><Relationship Id="rId6" Type="http://schemas.openxmlformats.org/officeDocument/2006/relationships/oleObject" Target="../embeddings/oleObject90.bin"/><Relationship Id="rId11" Type="http://schemas.openxmlformats.org/officeDocument/2006/relationships/slide" Target="slide52.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722.xml"/><Relationship Id="rId9" Type="http://schemas.openxmlformats.org/officeDocument/2006/relationships/slide" Target="slide18.xml"/><Relationship Id="rId14" Type="http://schemas.openxmlformats.org/officeDocument/2006/relationships/slide" Target="slide81.xml"/></Relationships>
</file>

<file path=ppt/slides/_rels/slide93.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slide" Target="slide73.xml"/><Relationship Id="rId3" Type="http://schemas.openxmlformats.org/officeDocument/2006/relationships/tags" Target="../tags/tag725.xml"/><Relationship Id="rId7" Type="http://schemas.openxmlformats.org/officeDocument/2006/relationships/oleObject" Target="../embeddings/oleObject91.bin"/><Relationship Id="rId12" Type="http://schemas.openxmlformats.org/officeDocument/2006/relationships/slide" Target="slide52.xml"/><Relationship Id="rId2" Type="http://schemas.openxmlformats.org/officeDocument/2006/relationships/tags" Target="../tags/tag724.xml"/><Relationship Id="rId1" Type="http://schemas.openxmlformats.org/officeDocument/2006/relationships/tags" Target="../tags/tag723.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727.xml"/><Relationship Id="rId15" Type="http://schemas.openxmlformats.org/officeDocument/2006/relationships/slide" Target="slide81.xml"/><Relationship Id="rId10" Type="http://schemas.openxmlformats.org/officeDocument/2006/relationships/slide" Target="slide18.xml"/><Relationship Id="rId4" Type="http://schemas.openxmlformats.org/officeDocument/2006/relationships/tags" Target="../tags/tag726.xml"/><Relationship Id="rId9" Type="http://schemas.openxmlformats.org/officeDocument/2006/relationships/slide" Target="slide4.xml"/><Relationship Id="rId14" Type="http://schemas.openxmlformats.org/officeDocument/2006/relationships/slide" Target="slide77.xml"/></Relationships>
</file>

<file path=ppt/slides/_rels/slide94.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730.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729.xml"/><Relationship Id="rId1" Type="http://schemas.openxmlformats.org/officeDocument/2006/relationships/tags" Target="../tags/tag728.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92.bin"/><Relationship Id="rId10" Type="http://schemas.openxmlformats.org/officeDocument/2006/relationships/slide" Target="slide52.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95.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81.xml"/><Relationship Id="rId3" Type="http://schemas.openxmlformats.org/officeDocument/2006/relationships/tags" Target="../tags/tag733.xml"/><Relationship Id="rId7" Type="http://schemas.openxmlformats.org/officeDocument/2006/relationships/slide" Target="slide4.xml"/><Relationship Id="rId12" Type="http://schemas.openxmlformats.org/officeDocument/2006/relationships/slide" Target="slide77.xml"/><Relationship Id="rId2" Type="http://schemas.openxmlformats.org/officeDocument/2006/relationships/tags" Target="../tags/tag732.xml"/><Relationship Id="rId1" Type="http://schemas.openxmlformats.org/officeDocument/2006/relationships/tags" Target="../tags/tag731.xml"/><Relationship Id="rId6" Type="http://schemas.openxmlformats.org/officeDocument/2006/relationships/image" Target="../media/image7.emf"/><Relationship Id="rId11" Type="http://schemas.openxmlformats.org/officeDocument/2006/relationships/slide" Target="slide73.xml"/><Relationship Id="rId5" Type="http://schemas.openxmlformats.org/officeDocument/2006/relationships/oleObject" Target="../embeddings/oleObject93.bin"/><Relationship Id="rId10" Type="http://schemas.openxmlformats.org/officeDocument/2006/relationships/slide" Target="slide52.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96.xml.rels><?xml version="1.0" encoding="UTF-8" standalone="yes"?>
<Relationships xmlns="http://schemas.openxmlformats.org/package/2006/relationships"><Relationship Id="rId8" Type="http://schemas.openxmlformats.org/officeDocument/2006/relationships/slide" Target="slide50.xml"/><Relationship Id="rId13" Type="http://schemas.openxmlformats.org/officeDocument/2006/relationships/slide" Target="slide18.xml"/><Relationship Id="rId18" Type="http://schemas.openxmlformats.org/officeDocument/2006/relationships/slide" Target="slide52.xml"/><Relationship Id="rId3" Type="http://schemas.openxmlformats.org/officeDocument/2006/relationships/tags" Target="../tags/tag736.xml"/><Relationship Id="rId7" Type="http://schemas.openxmlformats.org/officeDocument/2006/relationships/slide" Target="slide17.xml"/><Relationship Id="rId12" Type="http://schemas.openxmlformats.org/officeDocument/2006/relationships/slide" Target="slide3.xml"/><Relationship Id="rId17" Type="http://schemas.openxmlformats.org/officeDocument/2006/relationships/slide" Target="slide42.xml"/><Relationship Id="rId2" Type="http://schemas.openxmlformats.org/officeDocument/2006/relationships/tags" Target="../tags/tag735.xml"/><Relationship Id="rId16" Type="http://schemas.openxmlformats.org/officeDocument/2006/relationships/slide" Target="slide4.xml"/><Relationship Id="rId20" Type="http://schemas.openxmlformats.org/officeDocument/2006/relationships/slide" Target="slide81.xml"/><Relationship Id="rId1" Type="http://schemas.openxmlformats.org/officeDocument/2006/relationships/tags" Target="../tags/tag734.xml"/><Relationship Id="rId6" Type="http://schemas.openxmlformats.org/officeDocument/2006/relationships/image" Target="../media/image7.emf"/><Relationship Id="rId11" Type="http://schemas.openxmlformats.org/officeDocument/2006/relationships/slide" Target="slide72.xml"/><Relationship Id="rId5" Type="http://schemas.openxmlformats.org/officeDocument/2006/relationships/oleObject" Target="../embeddings/oleObject94.bin"/><Relationship Id="rId15" Type="http://schemas.openxmlformats.org/officeDocument/2006/relationships/slide" Target="slide77.xml"/><Relationship Id="rId10" Type="http://schemas.openxmlformats.org/officeDocument/2006/relationships/slide" Target="slide80.xml"/><Relationship Id="rId19" Type="http://schemas.openxmlformats.org/officeDocument/2006/relationships/slide" Target="slide73.xml"/><Relationship Id="rId4" Type="http://schemas.openxmlformats.org/officeDocument/2006/relationships/slideLayout" Target="../slideLayouts/slideLayout9.xml"/><Relationship Id="rId9" Type="http://schemas.openxmlformats.org/officeDocument/2006/relationships/slide" Target="slide58.xml"/><Relationship Id="rId14" Type="http://schemas.openxmlformats.org/officeDocument/2006/relationships/slide" Target="slide76.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3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38.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39.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40.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4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742.xml"/></Relationships>
</file>

<file path=ppt/slides/_rels/slide103.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50.xml"/><Relationship Id="rId1" Type="http://schemas.openxmlformats.org/officeDocument/2006/relationships/tags" Target="../tags/tag74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3.xml"/></Relationships>
</file>

<file path=ppt/slides/_rels/slide210.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slide" Target="slide900.xml"/><Relationship Id="rId3" Type="http://schemas.openxmlformats.org/officeDocument/2006/relationships/oleObject" Target="../embeddings/oleObject260.bin"/><Relationship Id="rId7" Type="http://schemas.openxmlformats.org/officeDocument/2006/relationships/slide" Target="slide700.xml"/><Relationship Id="rId12" Type="http://schemas.openxmlformats.org/officeDocument/2006/relationships/image" Target="../media/image150.png"/><Relationship Id="rId2" Type="http://schemas.openxmlformats.org/officeDocument/2006/relationships/slideLayout" Target="../slideLayouts/slideLayout381.xml"/><Relationship Id="rId1" Type="http://schemas.openxmlformats.org/officeDocument/2006/relationships/tags" Target="../tags/tag3210.xml"/><Relationship Id="rId11" Type="http://schemas.openxmlformats.org/officeDocument/2006/relationships/image" Target="../media/image140.png"/><Relationship Id="rId5" Type="http://schemas.openxmlformats.org/officeDocument/2006/relationships/image" Target="../media/image130.png"/><Relationship Id="rId10" Type="http://schemas.openxmlformats.org/officeDocument/2006/relationships/slide" Target="slide710.xml"/><Relationship Id="rId4" Type="http://schemas.openxmlformats.org/officeDocument/2006/relationships/image" Target="../media/image7.emf"/><Relationship Id="rId9" Type="http://schemas.openxmlformats.org/officeDocument/2006/relationships/image" Target="../media/image141.png"/><Relationship Id="rId14" Type="http://schemas.openxmlformats.org/officeDocument/2006/relationships/image" Target="../media/image200.png"/></Relationships>
</file>

<file path=ppt/slides/_rels/slide310.xml.rels><?xml version="1.0" encoding="UTF-8" standalone="yes"?>
<Relationships xmlns="http://schemas.openxmlformats.org/package/2006/relationships"><Relationship Id="rId8" Type="http://schemas.openxmlformats.org/officeDocument/2006/relationships/slide" Target="slide700.xml"/><Relationship Id="rId13" Type="http://schemas.openxmlformats.org/officeDocument/2006/relationships/image" Target="../media/image150.png"/><Relationship Id="rId3" Type="http://schemas.openxmlformats.org/officeDocument/2006/relationships/oleObject" Target="../embeddings/oleObject18.bin"/><Relationship Id="rId12" Type="http://schemas.openxmlformats.org/officeDocument/2006/relationships/image" Target="../media/image140.png"/><Relationship Id="rId2" Type="http://schemas.openxmlformats.org/officeDocument/2006/relationships/slideLayout" Target="../slideLayouts/slideLayout381.xml"/><Relationship Id="rId1" Type="http://schemas.openxmlformats.org/officeDocument/2006/relationships/tags" Target="../tags/tag3310.xml"/><Relationship Id="rId11" Type="http://schemas.openxmlformats.org/officeDocument/2006/relationships/slide" Target="slide710.xml"/><Relationship Id="rId5" Type="http://schemas.openxmlformats.org/officeDocument/2006/relationships/image" Target="../media/image130.png"/><Relationship Id="rId15" Type="http://schemas.openxmlformats.org/officeDocument/2006/relationships/image" Target="../media/image200.png"/><Relationship Id="rId10" Type="http://schemas.openxmlformats.org/officeDocument/2006/relationships/image" Target="../media/image141.png"/><Relationship Id="rId4" Type="http://schemas.openxmlformats.org/officeDocument/2006/relationships/image" Target="../media/image7.emf"/><Relationship Id="rId9" Type="http://schemas.openxmlformats.org/officeDocument/2006/relationships/image" Target="../media/image180.png"/><Relationship Id="rId14" Type="http://schemas.openxmlformats.org/officeDocument/2006/relationships/slide" Target="slide900.xml"/></Relationships>
</file>

<file path=ppt/slides/_rels/slide400.xml.rels><?xml version="1.0" encoding="UTF-8" standalone="yes"?>
<Relationships xmlns="http://schemas.openxmlformats.org/package/2006/relationships"><Relationship Id="rId8" Type="http://schemas.openxmlformats.org/officeDocument/2006/relationships/slide" Target="slide600.xml"/><Relationship Id="rId3" Type="http://schemas.openxmlformats.org/officeDocument/2006/relationships/tags" Target="../tags/tag6310.xml"/><Relationship Id="rId7" Type="http://schemas.openxmlformats.org/officeDocument/2006/relationships/slide" Target="slide500.xml"/><Relationship Id="rId2" Type="http://schemas.openxmlformats.org/officeDocument/2006/relationships/tags" Target="../tags/tag6210.xml"/><Relationship Id="rId1" Type="http://schemas.openxmlformats.org/officeDocument/2006/relationships/tags" Target="../tags/tag6110.xml"/><Relationship Id="rId6" Type="http://schemas.openxmlformats.org/officeDocument/2006/relationships/image" Target="../media/image7.emf"/><Relationship Id="rId5" Type="http://schemas.openxmlformats.org/officeDocument/2006/relationships/oleObject" Target="../embeddings/oleObject1700.bin"/><Relationship Id="rId4" Type="http://schemas.openxmlformats.org/officeDocument/2006/relationships/slideLayout" Target="../slideLayouts/slideLayout430.xml"/></Relationships>
</file>

<file path=ppt/slides/_rels/slide500.xml.rels><?xml version="1.0" encoding="UTF-8" standalone="yes"?>
<Relationships xmlns="http://schemas.openxmlformats.org/package/2006/relationships"><Relationship Id="rId8" Type="http://schemas.openxmlformats.org/officeDocument/2006/relationships/slide" Target="slide700.xml"/><Relationship Id="rId13" Type="http://schemas.openxmlformats.org/officeDocument/2006/relationships/image" Target="../media/image201.png"/><Relationship Id="rId3" Type="http://schemas.openxmlformats.org/officeDocument/2006/relationships/tags" Target="../tags/tag6610.xml"/><Relationship Id="rId7" Type="http://schemas.openxmlformats.org/officeDocument/2006/relationships/image" Target="../media/image181.png"/><Relationship Id="rId12" Type="http://schemas.openxmlformats.org/officeDocument/2006/relationships/image" Target="../media/image190.png"/><Relationship Id="rId17" Type="http://schemas.openxmlformats.org/officeDocument/2006/relationships/slide" Target="slide600.xml"/><Relationship Id="rId2" Type="http://schemas.openxmlformats.org/officeDocument/2006/relationships/tags" Target="../tags/tag6510.xml"/><Relationship Id="rId16" Type="http://schemas.openxmlformats.org/officeDocument/2006/relationships/slide" Target="slide500.xml"/><Relationship Id="rId1" Type="http://schemas.openxmlformats.org/officeDocument/2006/relationships/tags" Target="../tags/tag6410.xml"/><Relationship Id="rId6" Type="http://schemas.openxmlformats.org/officeDocument/2006/relationships/image" Target="../media/image7.emf"/><Relationship Id="rId11" Type="http://schemas.openxmlformats.org/officeDocument/2006/relationships/slide" Target="slide800.xml"/><Relationship Id="rId5" Type="http://schemas.openxmlformats.org/officeDocument/2006/relationships/oleObject" Target="../embeddings/oleObject180.bin"/><Relationship Id="rId15" Type="http://schemas.openxmlformats.org/officeDocument/2006/relationships/image" Target="../media/image200.png"/><Relationship Id="rId10" Type="http://schemas.openxmlformats.org/officeDocument/2006/relationships/image" Target="../media/image191.png"/><Relationship Id="rId4" Type="http://schemas.openxmlformats.org/officeDocument/2006/relationships/slideLayout" Target="../slideLayouts/slideLayout430.xml"/><Relationship Id="rId9" Type="http://schemas.openxmlformats.org/officeDocument/2006/relationships/image" Target="../media/image180.png"/><Relationship Id="rId14" Type="http://schemas.openxmlformats.org/officeDocument/2006/relationships/slide" Target="slide900.xml"/></Relationships>
</file>

<file path=ppt/slides/_rels/slide600.xml.rels><?xml version="1.0" encoding="UTF-8" standalone="yes"?>
<Relationships xmlns="http://schemas.openxmlformats.org/package/2006/relationships"><Relationship Id="rId8" Type="http://schemas.openxmlformats.org/officeDocument/2006/relationships/tags" Target="../tags/tag7410.xml"/><Relationship Id="rId13" Type="http://schemas.openxmlformats.org/officeDocument/2006/relationships/tags" Target="../tags/tag7910.xml"/><Relationship Id="rId18" Type="http://schemas.openxmlformats.org/officeDocument/2006/relationships/slide" Target="slide600.xml"/><Relationship Id="rId3" Type="http://schemas.openxmlformats.org/officeDocument/2006/relationships/tags" Target="../tags/tag6910.xml"/><Relationship Id="rId21" Type="http://schemas.openxmlformats.org/officeDocument/2006/relationships/slide" Target="slide900.xml"/><Relationship Id="rId7" Type="http://schemas.openxmlformats.org/officeDocument/2006/relationships/tags" Target="../tags/tag7310.xml"/><Relationship Id="rId12" Type="http://schemas.openxmlformats.org/officeDocument/2006/relationships/tags" Target="../tags/tag7810.xml"/><Relationship Id="rId17" Type="http://schemas.openxmlformats.org/officeDocument/2006/relationships/slideLayout" Target="../slideLayouts/slideLayout460.xml"/><Relationship Id="rId2" Type="http://schemas.openxmlformats.org/officeDocument/2006/relationships/tags" Target="../tags/tag6810.xml"/><Relationship Id="rId16" Type="http://schemas.openxmlformats.org/officeDocument/2006/relationships/tags" Target="../tags/tag8210.xml"/><Relationship Id="rId20" Type="http://schemas.openxmlformats.org/officeDocument/2006/relationships/slide" Target="slide800.xml"/><Relationship Id="rId1" Type="http://schemas.openxmlformats.org/officeDocument/2006/relationships/tags" Target="../tags/tag6710.xml"/><Relationship Id="rId6" Type="http://schemas.openxmlformats.org/officeDocument/2006/relationships/tags" Target="../tags/tag7210.xml"/><Relationship Id="rId11" Type="http://schemas.openxmlformats.org/officeDocument/2006/relationships/tags" Target="../tags/tag7710.xml"/><Relationship Id="rId5" Type="http://schemas.openxmlformats.org/officeDocument/2006/relationships/tags" Target="../tags/tag7110.xml"/><Relationship Id="rId15" Type="http://schemas.openxmlformats.org/officeDocument/2006/relationships/tags" Target="../tags/tag8110.xml"/><Relationship Id="rId10" Type="http://schemas.openxmlformats.org/officeDocument/2006/relationships/tags" Target="../tags/tag7610.xml"/><Relationship Id="rId19" Type="http://schemas.openxmlformats.org/officeDocument/2006/relationships/slide" Target="slide700.xml"/><Relationship Id="rId4" Type="http://schemas.openxmlformats.org/officeDocument/2006/relationships/tags" Target="../tags/tag7010.xml"/><Relationship Id="rId9" Type="http://schemas.openxmlformats.org/officeDocument/2006/relationships/tags" Target="../tags/tag7510.xml"/><Relationship Id="rId14" Type="http://schemas.openxmlformats.org/officeDocument/2006/relationships/tags" Target="../tags/tag8010.xml"/><Relationship Id="rId22" Type="http://schemas.openxmlformats.org/officeDocument/2006/relationships/slide" Target="slide1000.xml"/></Relationships>
</file>

<file path=ppt/slides/_rels/slide700.xml.rels><?xml version="1.0" encoding="UTF-8" standalone="yes"?>
<Relationships xmlns="http://schemas.openxmlformats.org/package/2006/relationships"><Relationship Id="rId8" Type="http://schemas.openxmlformats.org/officeDocument/2006/relationships/slide" Target="slide600.xml"/><Relationship Id="rId3" Type="http://schemas.openxmlformats.org/officeDocument/2006/relationships/tags" Target="../tags/tag8510.xml"/><Relationship Id="rId7" Type="http://schemas.openxmlformats.org/officeDocument/2006/relationships/slide" Target="slide500.xml"/><Relationship Id="rId2" Type="http://schemas.openxmlformats.org/officeDocument/2006/relationships/tags" Target="../tags/tag8410.xml"/><Relationship Id="rId1" Type="http://schemas.openxmlformats.org/officeDocument/2006/relationships/tags" Target="../tags/tag8310.xml"/><Relationship Id="rId6" Type="http://schemas.openxmlformats.org/officeDocument/2006/relationships/image" Target="../media/image7.emf"/><Relationship Id="rId5" Type="http://schemas.openxmlformats.org/officeDocument/2006/relationships/oleObject" Target="../embeddings/oleObject190.bin"/><Relationship Id="rId4" Type="http://schemas.openxmlformats.org/officeDocument/2006/relationships/slideLayout" Target="../slideLayouts/slideLayout120.xml"/></Relationships>
</file>

<file path=ppt/slides/_rels/slide7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10.xml"/><Relationship Id="rId1" Type="http://schemas.openxmlformats.org/officeDocument/2006/relationships/slideLayout" Target="../slideLayouts/slideLayout370.xml"/><Relationship Id="rId5" Type="http://schemas.openxmlformats.org/officeDocument/2006/relationships/slide" Target="slide310.xml"/><Relationship Id="rId4" Type="http://schemas.openxmlformats.org/officeDocument/2006/relationships/image" Target="../media/image5.svg"/></Relationships>
</file>

<file path=ppt/slides/_rels/slide800.xml.rels><?xml version="1.0" encoding="UTF-8" standalone="yes"?>
<Relationships xmlns="http://schemas.openxmlformats.org/package/2006/relationships"><Relationship Id="rId3" Type="http://schemas.openxmlformats.org/officeDocument/2006/relationships/tags" Target="../tags/tag8810.xml"/><Relationship Id="rId2" Type="http://schemas.openxmlformats.org/officeDocument/2006/relationships/tags" Target="../tags/tag8710.xml"/><Relationship Id="rId1" Type="http://schemas.openxmlformats.org/officeDocument/2006/relationships/tags" Target="../tags/tag8610.xml"/><Relationship Id="rId6" Type="http://schemas.openxmlformats.org/officeDocument/2006/relationships/slide" Target="slide600.xml"/><Relationship Id="rId5" Type="http://schemas.openxmlformats.org/officeDocument/2006/relationships/slide" Target="slide500.xml"/><Relationship Id="rId4" Type="http://schemas.openxmlformats.org/officeDocument/2006/relationships/slideLayout" Target="../slideLayouts/slideLayout90.xml"/></Relationships>
</file>

<file path=ppt/slides/_rels/slide900.xml.rels><?xml version="1.0" encoding="UTF-8" standalone="yes"?>
<Relationships xmlns="http://schemas.openxmlformats.org/package/2006/relationships"><Relationship Id="rId8" Type="http://schemas.openxmlformats.org/officeDocument/2006/relationships/slide" Target="slide500.xml"/><Relationship Id="rId3" Type="http://schemas.openxmlformats.org/officeDocument/2006/relationships/tags" Target="../tags/tag9110.xml"/><Relationship Id="rId7" Type="http://schemas.openxmlformats.org/officeDocument/2006/relationships/image" Target="../media/image7.emf"/><Relationship Id="rId2" Type="http://schemas.openxmlformats.org/officeDocument/2006/relationships/tags" Target="../tags/tag9010.xml"/><Relationship Id="rId1" Type="http://schemas.openxmlformats.org/officeDocument/2006/relationships/tags" Target="../tags/tag8910.xml"/><Relationship Id="rId6" Type="http://schemas.openxmlformats.org/officeDocument/2006/relationships/oleObject" Target="../embeddings/oleObject200.bin"/><Relationship Id="rId5" Type="http://schemas.openxmlformats.org/officeDocument/2006/relationships/slideLayout" Target="../slideLayouts/slideLayout90.xml"/><Relationship Id="rId4" Type="http://schemas.openxmlformats.org/officeDocument/2006/relationships/tags" Target="../tags/tag9210.xml"/><Relationship Id="rId9" Type="http://schemas.openxmlformats.org/officeDocument/2006/relationships/slide" Target="slide600.xml"/></Relationships>
</file>

<file path=ppt/slides/_rels/slide1000.xml.rels><?xml version="1.0" encoding="UTF-8" standalone="yes"?>
<Relationships xmlns="http://schemas.openxmlformats.org/package/2006/relationships"><Relationship Id="rId8" Type="http://schemas.openxmlformats.org/officeDocument/2006/relationships/slide" Target="slide600.xml"/><Relationship Id="rId3" Type="http://schemas.openxmlformats.org/officeDocument/2006/relationships/tags" Target="../tags/tag9510.xml"/><Relationship Id="rId7" Type="http://schemas.openxmlformats.org/officeDocument/2006/relationships/slide" Target="slide500.xml"/><Relationship Id="rId2" Type="http://schemas.openxmlformats.org/officeDocument/2006/relationships/tags" Target="../tags/tag9410.xml"/><Relationship Id="rId1" Type="http://schemas.openxmlformats.org/officeDocument/2006/relationships/tags" Target="../tags/tag9310.xml"/><Relationship Id="rId6" Type="http://schemas.openxmlformats.org/officeDocument/2006/relationships/image" Target="../media/image7.emf"/><Relationship Id="rId5" Type="http://schemas.openxmlformats.org/officeDocument/2006/relationships/oleObject" Target="../embeddings/oleObject210.bin"/><Relationship Id="rId4"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314105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274841" y="1759937"/>
            <a:ext cx="5765982" cy="2903488"/>
          </a:xfrm>
        </p:spPr>
        <p:txBody>
          <a:bodyPr vert="horz"/>
          <a:lstStyle/>
          <a:p>
            <a:pPr>
              <a:buClr>
                <a:schemeClr val="dk1">
                  <a:lumMod val="100000"/>
                </a:schemeClr>
              </a:buClr>
            </a:pPr>
            <a:r>
              <a:rPr lang="en-US" dirty="0"/>
              <a:t>Project Y</a:t>
            </a:r>
            <a:br>
              <a:rPr lang="en-US" sz="2000" dirty="0"/>
            </a:br>
            <a:endParaRPr lang="en-US" dirty="0"/>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1274841" y="4752153"/>
            <a:ext cx="5765982" cy="816606"/>
          </a:xfrm>
        </p:spPr>
        <p:txBody>
          <a:bodyPr/>
          <a:lstStyle/>
          <a:p>
            <a:pPr lvl="1">
              <a:buClr>
                <a:schemeClr val="dk1">
                  <a:lumMod val="100000"/>
                </a:schemeClr>
              </a:buClr>
            </a:pPr>
            <a:r>
              <a:rPr lang="en-US" noProof="0" dirty="0"/>
              <a:t>Diligence</a:t>
            </a:r>
            <a:r>
              <a:rPr lang="en-US" baseline="30000" noProof="0" dirty="0"/>
              <a:t>+</a:t>
            </a:r>
            <a:r>
              <a:rPr lang="en-US" noProof="0" dirty="0"/>
              <a:t> example VDD report</a:t>
            </a:r>
          </a:p>
          <a:p>
            <a:pPr lvl="1">
              <a:buClr>
                <a:schemeClr val="dk1">
                  <a:lumMod val="100000"/>
                </a:schemeClr>
              </a:buClr>
            </a:pPr>
            <a:r>
              <a:rPr lang="en-US" noProof="0" dirty="0"/>
              <a:t>—</a:t>
            </a:r>
            <a:endParaRPr lang="en-US" dirty="0"/>
          </a:p>
          <a:p>
            <a:pPr lvl="1">
              <a:buClr>
                <a:schemeClr val="dk1">
                  <a:lumMod val="100000"/>
                </a:schemeClr>
              </a:buClr>
            </a:pPr>
            <a:r>
              <a:rPr lang="en-US" noProof="0" dirty="0"/>
              <a:t>[ ]</a:t>
            </a:r>
            <a:r>
              <a:rPr lang="en-US" dirty="0"/>
              <a:t> 2023</a:t>
            </a:r>
            <a:endParaRPr lang="en-US" noProof="0" dirty="0"/>
          </a:p>
        </p:txBody>
      </p:sp>
      <p:sp>
        <p:nvSpPr>
          <p:cNvPr id="6" name="TextBox 5">
            <a:extLst>
              <a:ext uri="{FF2B5EF4-FFF2-40B4-BE49-F238E27FC236}">
                <a16:creationId xmlns:a16="http://schemas.microsoft.com/office/drawing/2014/main" id="{DB448C9E-2886-477A-B9AB-15B4D377F42F}"/>
              </a:ext>
            </a:extLst>
          </p:cNvPr>
          <p:cNvSpPr txBox="1"/>
          <p:nvPr/>
        </p:nvSpPr>
        <p:spPr>
          <a:xfrm>
            <a:off x="7648207" y="1501096"/>
            <a:ext cx="3109020" cy="2525337"/>
          </a:xfrm>
          <a:prstGeom prst="rect">
            <a:avLst/>
          </a:prstGeom>
          <a:ln w="38100">
            <a:solidFill>
              <a:schemeClr val="accent6"/>
            </a:solidFill>
          </a:ln>
        </p:spPr>
        <p:txBody>
          <a:bodyPr vert="horz" wrap="square" lIns="0" tIns="0" rIns="0" bIns="0" rtlCol="0" anchor="ctr" anchorCtr="0">
            <a:noAutofit/>
          </a:bodyPr>
          <a:lstStyle/>
          <a:p>
            <a:pPr algn="ctr">
              <a:spcAft>
                <a:spcPts val="600"/>
              </a:spcAft>
            </a:pPr>
            <a:r>
              <a:rPr lang="en-GB" sz="1600" b="1" dirty="0">
                <a:solidFill>
                  <a:schemeClr val="bg1"/>
                </a:solidFill>
              </a:rPr>
              <a:t>Note: This example report has been prepared for illustrative purposes only to showcase the new report style and format. </a:t>
            </a:r>
          </a:p>
          <a:p>
            <a:pPr algn="ctr">
              <a:spcAft>
                <a:spcPts val="600"/>
              </a:spcAft>
            </a:pPr>
            <a:r>
              <a:rPr lang="en-GB" sz="1600" b="1" dirty="0">
                <a:solidFill>
                  <a:schemeClr val="bg1"/>
                </a:solidFill>
              </a:rPr>
              <a:t>For Internal use – please do not share externally.  </a:t>
            </a:r>
          </a:p>
        </p:txBody>
      </p:sp>
    </p:spTree>
    <p:extLst>
      <p:ext uri="{BB962C8B-B14F-4D97-AF65-F5344CB8AC3E}">
        <p14:creationId xmlns:p14="http://schemas.microsoft.com/office/powerpoint/2010/main" val="285625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C5B3AE0C-2954-4477-9877-CB68E1F9EF96}"/>
              </a:ext>
            </a:extLst>
          </p:cNvPr>
          <p:cNvSpPr>
            <a:spLocks noGrp="1"/>
          </p:cNvSpPr>
          <p:nvPr>
            <p:ph type="body" sz="quarter" idx="12"/>
          </p:nvPr>
        </p:nvSpPr>
        <p:spPr>
          <a:xfrm>
            <a:off x="1009215" y="1332698"/>
            <a:ext cx="3945961" cy="750665"/>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The Directors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Purchaser Party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(as defined in the engagement letter dated </a:t>
            </a:r>
            <a:r>
              <a:rPr kumimoji="0" lang="en-US" sz="900" b="0" i="0" u="none" strike="noStrike" kern="1200" cap="none" spc="-20" normalizeH="0" baseline="0" noProof="0" dirty="0">
                <a:ln>
                  <a:noFill/>
                </a:ln>
                <a:solidFill>
                  <a:srgbClr val="000000"/>
                </a:solidFill>
                <a:effectLst/>
                <a:uLnTx/>
                <a:uFillTx/>
                <a:latin typeface="Arial"/>
                <a:ea typeface="+mn-ea"/>
                <a:cs typeface="+mn-cs"/>
              </a:rPr>
              <a:t>[</a:t>
            </a:r>
            <a:r>
              <a:rPr kumimoji="0" lang="en-US" sz="900" b="0" i="0" u="none" strike="noStrike" kern="1200" cap="none" spc="-20" normalizeH="0" baseline="0" noProof="0" dirty="0">
                <a:ln>
                  <a:noFill/>
                </a:ln>
                <a:solidFill>
                  <a:schemeClr val="tx2"/>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a:t>
            </a:r>
            <a:r>
              <a:rPr kumimoji="0" lang="en-US" sz="900" b="0" i="0" u="none" strike="noStrike" kern="1200" cap="none" spc="-20" normalizeH="0" baseline="0" noProof="0" dirty="0">
                <a:ln>
                  <a:noFill/>
                </a:ln>
                <a:solidFill>
                  <a:srgbClr val="00338D"/>
                </a:solidFill>
                <a:effectLst/>
                <a:uLnTx/>
                <a:uFillTx/>
                <a:latin typeface="Arial"/>
                <a:ea typeface="+mn-ea"/>
                <a:cs typeface="+mn-cs"/>
              </a:rPr>
              <a:t>attached in the appendices)</a:t>
            </a:r>
          </a:p>
        </p:txBody>
      </p:sp>
      <p:sp>
        <p:nvSpPr>
          <p:cNvPr id="8" name="Text Placeholder 8">
            <a:extLst>
              <a:ext uri="{FF2B5EF4-FFF2-40B4-BE49-F238E27FC236}">
                <a16:creationId xmlns:a16="http://schemas.microsoft.com/office/drawing/2014/main" id="{8FEE91B1-9277-4A49-B24D-D0DEB8DD7E73}"/>
              </a:ext>
            </a:extLst>
          </p:cNvPr>
          <p:cNvSpPr>
            <a:spLocks noGrp="1"/>
          </p:cNvSpPr>
          <p:nvPr>
            <p:ph type="body" sz="quarter" idx="10"/>
          </p:nvPr>
        </p:nvSpPr>
        <p:spPr/>
        <p:txBody>
          <a:bodyPr/>
          <a:lstStyle/>
          <a:p>
            <a:pPr>
              <a:spcAft>
                <a:spcPts val="300"/>
              </a:spcAft>
            </a:pPr>
            <a:r>
              <a:rPr lang="en-US" sz="900" b="0" spc="-20" dirty="0">
                <a:solidFill>
                  <a:schemeClr val="tx2"/>
                </a:solidFill>
              </a:rPr>
              <a:t>Dear Directors </a:t>
            </a:r>
          </a:p>
          <a:p>
            <a:pPr>
              <a:spcAft>
                <a:spcPts val="300"/>
              </a:spcAft>
            </a:pPr>
            <a:r>
              <a:rPr lang="en-US" sz="900" spc="-20" dirty="0">
                <a:solidFill>
                  <a:schemeClr val="tx2"/>
                </a:solidFill>
              </a:rPr>
              <a:t>Project </a:t>
            </a:r>
            <a:r>
              <a:rPr lang="en-US" sz="900" spc="-20" dirty="0"/>
              <a:t>Y</a:t>
            </a:r>
            <a:r>
              <a:rPr lang="en-US" sz="900" spc="-20" dirty="0">
                <a:solidFill>
                  <a:schemeClr val="tx2"/>
                </a:solidFill>
              </a:rPr>
              <a:t> </a:t>
            </a:r>
          </a:p>
          <a:p>
            <a:r>
              <a:rPr lang="en-US" sz="900" b="0" spc="-20" dirty="0">
                <a:solidFill>
                  <a:schemeClr val="tx2"/>
                </a:solidFill>
              </a:rPr>
              <a:t>In accordance with the terms of reference set out in our engagement letter dated [date] </a:t>
            </a:r>
            <a:r>
              <a:rPr lang="en-GB" sz="900" b="0" spc="-20" dirty="0">
                <a:solidFill>
                  <a:schemeClr val="tx2"/>
                </a:solidFill>
              </a:rPr>
              <a:t>[as modified by our variation letter dated [date]] </a:t>
            </a:r>
            <a:r>
              <a:rPr lang="en-US" sz="900" b="0" spc="-20" dirty="0">
                <a:solidFill>
                  <a:schemeClr val="tx2"/>
                </a:solidFill>
              </a:rPr>
              <a:t>(“Engagement Letter”), we enclose [a copy of our financial and tax due diligence report (“report”) on [Target name] (“Target”)/</a:t>
            </a:r>
            <a:r>
              <a:rPr lang="en-GB" sz="900" b="0" dirty="0">
                <a:solidFill>
                  <a:schemeClr val="tx2"/>
                </a:solidFill>
                <a:latin typeface="+mn-lt"/>
              </a:rPr>
              <a:t>our [addendum]/[update] report on [Target Limited (‘Target’) (the ‘report’). The report should be read together with our confidential report on Target dated [   ] (the ‘Initial report’).</a:t>
            </a:r>
            <a:r>
              <a:rPr lang="en-US" sz="900" b="0" spc="-20" dirty="0">
                <a:solidFill>
                  <a:schemeClr val="tx2"/>
                </a:solidFill>
              </a:rPr>
              <a:t>] The Engagement Letter attached in the appendices to this report sets out the agreed scope of our enquiries as agreed with [Vendor].</a:t>
            </a:r>
          </a:p>
          <a:p>
            <a:r>
              <a:rPr lang="en-US" sz="900" b="0" spc="-20" dirty="0">
                <a:solidFill>
                  <a:schemeClr val="tx2"/>
                </a:solidFill>
              </a:rPr>
              <a:t>Our work [on </a:t>
            </a:r>
            <a:r>
              <a:rPr lang="en-GB" sz="900" b="0" dirty="0">
                <a:solidFill>
                  <a:schemeClr val="tx2"/>
                </a:solidFill>
                <a:latin typeface="+mn-lt"/>
              </a:rPr>
              <a:t>our [addendum]/[update] report</a:t>
            </a:r>
            <a:r>
              <a:rPr lang="en-US" sz="900" b="0" spc="-20" dirty="0">
                <a:solidFill>
                  <a:schemeClr val="tx2"/>
                </a:solidFill>
              </a:rPr>
              <a:t> commenced on [date] and our fieldwork was completed on [date]. We have not undertaken to update our report for events or circumstances arising after that date.</a:t>
            </a:r>
          </a:p>
          <a:p>
            <a:pPr>
              <a:spcAft>
                <a:spcPts val="300"/>
              </a:spcAft>
              <a:defRPr/>
            </a:pPr>
            <a:r>
              <a:rPr lang="en-GB" sz="900" b="0" spc="-20" dirty="0"/>
              <a:t>The contents of our report have been reviewed in detail by the directors of [Company/Target] who have confirmed in writing the factual accuracy of this report. </a:t>
            </a:r>
          </a:p>
          <a:p>
            <a:pPr>
              <a:spcAft>
                <a:spcPts val="300"/>
              </a:spcAft>
              <a:defRPr/>
            </a:pPr>
            <a:endParaRPr lang="en-US" sz="900" b="0" spc="-20" dirty="0"/>
          </a:p>
        </p:txBody>
      </p:sp>
      <p:sp>
        <p:nvSpPr>
          <p:cNvPr id="2" name="Text Placeholder 1">
            <a:extLst>
              <a:ext uri="{FF2B5EF4-FFF2-40B4-BE49-F238E27FC236}">
                <a16:creationId xmlns:a16="http://schemas.microsoft.com/office/drawing/2014/main" id="{34CDC662-C685-459A-B875-05B350D6DD6F}"/>
              </a:ext>
            </a:extLst>
          </p:cNvPr>
          <p:cNvSpPr>
            <a:spLocks noGrp="1"/>
          </p:cNvSpPr>
          <p:nvPr>
            <p:ph type="body" sz="quarter" idx="11"/>
          </p:nvPr>
        </p:nvSpPr>
        <p:spPr>
          <a:xfrm>
            <a:off x="6220800" y="2685336"/>
            <a:ext cx="4968000" cy="2731682"/>
          </a:xfrm>
        </p:spPr>
        <p:txBody>
          <a:bodyPr/>
          <a:lstStyle/>
          <a:p>
            <a:pPr marL="0" marR="0" lvl="0" indent="0" algn="l" defTabSz="914400" rtl="0" eaLnBrk="1" fontAlgn="auto" latinLnBrk="0" hangingPunct="1">
              <a:lnSpc>
                <a:spcPct val="100000"/>
              </a:lnSpc>
              <a:spcBef>
                <a:spcPts val="0"/>
              </a:spcBef>
              <a:buClrTx/>
              <a:buSzTx/>
              <a:buFontTx/>
              <a:buNone/>
              <a:tabLst/>
              <a:defRPr/>
            </a:pPr>
            <a:r>
              <a:rPr lang="en-GB" sz="900" b="0" spc="-20" dirty="0"/>
              <a:t>We draw your attention to the following documents</a:t>
            </a:r>
            <a:r>
              <a:rPr lang="en-US" sz="900" b="0" spc="-20" dirty="0"/>
              <a:t> in the appendices which set out the basis and limitations of our work: / We </a:t>
            </a:r>
            <a:r>
              <a:rPr lang="en-GB" sz="900" b="0" spc="-20" dirty="0"/>
              <a:t>draw your attention to the Important Notice in the appendices of each volume and the Basis of Preparation and Scope of Work in </a:t>
            </a:r>
            <a:r>
              <a:rPr lang="en-US" sz="900" b="0" spc="-20" dirty="0"/>
              <a:t>the appendices of Volume 1 which set out the basis and limitations of our work:</a:t>
            </a:r>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r>
              <a:rPr lang="en-US" sz="900" b="0" spc="-20" dirty="0"/>
              <a:t>You should note that our findings do not constitute recommendations to you as to whether or not you should proceed with the proposed transaction.</a:t>
            </a:r>
          </a:p>
          <a:p>
            <a:pPr marL="0" marR="0" lvl="0" indent="0" algn="l" defTabSz="914400" rtl="0" eaLnBrk="1" fontAlgn="auto" latinLnBrk="0" hangingPunct="1">
              <a:lnSpc>
                <a:spcPct val="100000"/>
              </a:lnSpc>
              <a:spcBef>
                <a:spcPts val="0"/>
              </a:spcBef>
              <a:buClrTx/>
              <a:buSzTx/>
              <a:buFontTx/>
              <a:buNone/>
              <a:tabLst/>
              <a:defRPr/>
            </a:pPr>
            <a:r>
              <a:rPr lang="en-US" sz="900" b="0" spc="-20" dirty="0"/>
              <a:t>Our report is for the benefit and information only of those Purchaser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Purchaser Parties’ legal and other professional advisers) in respect of our work or the report. </a:t>
            </a:r>
          </a:p>
          <a:p>
            <a:pPr marL="0" marR="0" lvl="0" indent="0" algn="l" defTabSz="914400" rtl="0" eaLnBrk="1" fontAlgn="auto" latinLnBrk="0" hangingPunct="1">
              <a:lnSpc>
                <a:spcPct val="100000"/>
              </a:lnSpc>
              <a:spcBef>
                <a:spcPts val="0"/>
              </a:spcBef>
              <a:buClrTx/>
              <a:buSzTx/>
              <a:buFontTx/>
              <a:buNone/>
              <a:tabLst/>
              <a:defRPr/>
            </a:pPr>
            <a:r>
              <a:rPr lang="en-US" sz="900" b="0" spc="-20" dirty="0"/>
              <a:t>Yours faithfully</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KPMG </a:t>
            </a:r>
            <a:r>
              <a:rPr lang="en-US" sz="900" b="0" spc="-20" dirty="0">
                <a:solidFill>
                  <a:schemeClr val="tx2"/>
                </a:solidFill>
              </a:rPr>
              <a:t>[legal name]</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br>
              <a:rPr lang="en-US" sz="900" b="0" spc="-20" dirty="0"/>
            </a:br>
            <a:endParaRPr lang="en-US" sz="900" b="0" spc="-20" dirty="0"/>
          </a:p>
        </p:txBody>
      </p:sp>
      <p:grpSp>
        <p:nvGrpSpPr>
          <p:cNvPr id="17" name="Group 16">
            <a:extLst>
              <a:ext uri="{FF2B5EF4-FFF2-40B4-BE49-F238E27FC236}">
                <a16:creationId xmlns:a16="http://schemas.microsoft.com/office/drawing/2014/main" id="{4F80E9D9-3E8D-470C-B60D-C2EEB42A9D47}"/>
              </a:ext>
            </a:extLst>
          </p:cNvPr>
          <p:cNvGrpSpPr>
            <a:grpSpLocks/>
          </p:cNvGrpSpPr>
          <p:nvPr/>
        </p:nvGrpSpPr>
        <p:grpSpPr>
          <a:xfrm>
            <a:off x="6230224" y="3309544"/>
            <a:ext cx="1116000" cy="720000"/>
            <a:chOff x="1003200" y="5297366"/>
            <a:chExt cx="1116000" cy="720000"/>
          </a:xfrm>
        </p:grpSpPr>
        <p:sp>
          <p:nvSpPr>
            <p:cNvPr id="18" name="TextBox 17">
              <a:extLst>
                <a:ext uri="{FF2B5EF4-FFF2-40B4-BE49-F238E27FC236}">
                  <a16:creationId xmlns:a16="http://schemas.microsoft.com/office/drawing/2014/main" id="{CB2BD3FB-2543-4C8E-AA4A-349817DA00B1}"/>
                </a:ext>
              </a:extLst>
            </p:cNvPr>
            <p:cNvSpPr txBox="1">
              <a:spLocks/>
            </p:cNvSpPr>
            <p:nvPr/>
          </p:nvSpPr>
          <p:spPr>
            <a:xfrm>
              <a:off x="1003200"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Important notice</a:t>
              </a:r>
            </a:p>
          </p:txBody>
        </p:sp>
        <mc:AlternateContent xmlns:mc="http://schemas.openxmlformats.org/markup-compatibility/2006" xmlns:pslz="http://schemas.microsoft.com/office/powerpoint/2016/slidezoom">
          <mc:Choice Requires="pslz">
            <p:graphicFrame>
              <p:nvGraphicFramePr>
                <p:cNvPr id="20" name="Slide Zoom 19">
                  <a:extLst>
                    <a:ext uri="{FF2B5EF4-FFF2-40B4-BE49-F238E27FC236}">
                      <a16:creationId xmlns:a16="http://schemas.microsoft.com/office/drawing/2014/main" id="{402F5AD9-E78B-442B-9906-69F7F5072038}"/>
                    </a:ext>
                  </a:extLst>
                </p:cNvPr>
                <p:cNvGraphicFramePr>
                  <a:graphicFrameLocks noChangeAspect="1"/>
                </p:cNvGraphicFramePr>
                <p:nvPr/>
              </p:nvGraphicFramePr>
              <p:xfrm>
                <a:off x="1003200" y="5465010"/>
                <a:ext cx="1044000" cy="552356"/>
              </p:xfrm>
              <a:graphic>
                <a:graphicData uri="http://schemas.microsoft.com/office/powerpoint/2016/slidezoom">
                  <pslz:sldZm>
                    <pslz:sldZmObj sldId="651" cId="1704508770">
                      <pslz:zmPr id="{F9C56CDC-E3FD-427F-8724-AAFEB9A1587A}" returnToParent="0" transitionDur="1000">
                        <p166:blipFill xmlns:p166="http://schemas.microsoft.com/office/powerpoint/2016/6/main">
                          <a:blip r:embed="rId5"/>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6" name="Slide Zoom 5">
                  <a:hlinkClick r:id="rId8" action="ppaction://hlinksldjump"/>
                  <a:extLst>
                    <a:ext uri="{FF2B5EF4-FFF2-40B4-BE49-F238E27FC236}">
                      <a16:creationId xmlns:a16="http://schemas.microsoft.com/office/drawing/2014/main" id="{0DE640F1-835E-4659-792C-7A2413E0D1D6}"/>
                    </a:ext>
                  </a:extLst>
                </p:cNvPr>
                <p:cNvPicPr>
                  <a:picLocks noGrp="1" noRot="1" noChangeAspect="1" noMove="1" noResize="1" noEditPoints="1" noAdjustHandles="1" noChangeArrowheads="1" noChangeShapeType="1"/>
                </p:cNvPicPr>
                <p:nvPr/>
              </p:nvPicPr>
              <p:blipFill>
                <a:blip r:embed="rId9"/>
                <a:stretch>
                  <a:fillRect/>
                </a:stretch>
              </p:blipFill>
              <p:spPr>
                <a:xfrm>
                  <a:off x="1003200" y="5419290"/>
                  <a:ext cx="1044000" cy="552356"/>
                </a:xfrm>
                <a:prstGeom prst="rect">
                  <a:avLst/>
                </a:prstGeom>
                <a:ln w="12700">
                  <a:solidFill>
                    <a:schemeClr val="tx2"/>
                  </a:solidFill>
                </a:ln>
              </p:spPr>
            </p:pic>
          </mc:Fallback>
        </mc:AlternateContent>
      </p:grpSp>
      <p:grpSp>
        <p:nvGrpSpPr>
          <p:cNvPr id="21" name="Group 20">
            <a:extLst>
              <a:ext uri="{FF2B5EF4-FFF2-40B4-BE49-F238E27FC236}">
                <a16:creationId xmlns:a16="http://schemas.microsoft.com/office/drawing/2014/main" id="{E0E7C37C-FB48-442A-BB65-EC82DAE5E5A1}"/>
              </a:ext>
            </a:extLst>
          </p:cNvPr>
          <p:cNvGrpSpPr/>
          <p:nvPr/>
        </p:nvGrpSpPr>
        <p:grpSpPr>
          <a:xfrm>
            <a:off x="7987782" y="3309544"/>
            <a:ext cx="1116000" cy="720000"/>
            <a:chOff x="2651662" y="5297366"/>
            <a:chExt cx="1116000" cy="720000"/>
          </a:xfrm>
        </p:grpSpPr>
        <p:sp>
          <p:nvSpPr>
            <p:cNvPr id="22" name="TextBox 21">
              <a:extLst>
                <a:ext uri="{FF2B5EF4-FFF2-40B4-BE49-F238E27FC236}">
                  <a16:creationId xmlns:a16="http://schemas.microsoft.com/office/drawing/2014/main" id="{3CF469D7-70CD-4A1A-A829-DD5A394C3572}"/>
                </a:ext>
              </a:extLst>
            </p:cNvPr>
            <p:cNvSpPr txBox="1">
              <a:spLocks/>
            </p:cNvSpPr>
            <p:nvPr/>
          </p:nvSpPr>
          <p:spPr>
            <a:xfrm>
              <a:off x="2651662"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Basis of preparation</a:t>
              </a:r>
            </a:p>
          </p:txBody>
        </p:sp>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D6C6404B-ECCF-41C1-BC75-2E37596EB5E6}"/>
                    </a:ext>
                  </a:extLst>
                </p:cNvPr>
                <p:cNvGraphicFramePr>
                  <a:graphicFrameLocks noChangeAspect="1"/>
                </p:cNvGraphicFramePr>
                <p:nvPr/>
              </p:nvGraphicFramePr>
              <p:xfrm>
                <a:off x="2651662" y="5465010"/>
                <a:ext cx="1044000" cy="552356"/>
              </p:xfrm>
              <a:graphic>
                <a:graphicData uri="http://schemas.microsoft.com/office/powerpoint/2016/slidezoom">
                  <pslz:sldZm>
                    <pslz:sldZmObj sldId="652" cId="2125338827">
                      <pslz:zmPr id="{AF5F6EAF-5FE8-4BA0-A00C-8C47EAD362A5}" returnToParent="0" transitionDur="1000">
                        <p166:blipFill xmlns:p166="http://schemas.microsoft.com/office/powerpoint/2016/6/main">
                          <a:blip r:embed="rId10"/>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23" name="Slide Zoom 22">
                  <a:hlinkClick r:id="rId11" action="ppaction://hlinksldjump"/>
                  <a:extLst>
                    <a:ext uri="{FF2B5EF4-FFF2-40B4-BE49-F238E27FC236}">
                      <a16:creationId xmlns:a16="http://schemas.microsoft.com/office/drawing/2014/main" id="{D6C6404B-ECCF-41C1-BC75-2E37596EB5E6}"/>
                    </a:ext>
                  </a:extLst>
                </p:cNvPr>
                <p:cNvPicPr>
                  <a:picLocks noGrp="1" noRot="1" noChangeAspect="1" noMove="1" noResize="1" noEditPoints="1" noAdjustHandles="1" noChangeArrowheads="1" noChangeShapeType="1"/>
                </p:cNvPicPr>
                <p:nvPr/>
              </p:nvPicPr>
              <p:blipFill>
                <a:blip r:embed="rId12"/>
                <a:stretch>
                  <a:fillRect/>
                </a:stretch>
              </p:blipFill>
              <p:spPr>
                <a:xfrm>
                  <a:off x="2760758" y="4459183"/>
                  <a:ext cx="1044000" cy="552356"/>
                </a:xfrm>
                <a:prstGeom prst="rect">
                  <a:avLst/>
                </a:prstGeom>
                <a:ln w="12700">
                  <a:solidFill>
                    <a:schemeClr val="tx2"/>
                  </a:solidFill>
                </a:ln>
              </p:spPr>
            </p:pic>
          </mc:Fallback>
        </mc:AlternateContent>
      </p:grpSp>
      <p:grpSp>
        <p:nvGrpSpPr>
          <p:cNvPr id="24" name="Group 23">
            <a:extLst>
              <a:ext uri="{FF2B5EF4-FFF2-40B4-BE49-F238E27FC236}">
                <a16:creationId xmlns:a16="http://schemas.microsoft.com/office/drawing/2014/main" id="{71253B94-F6D2-41A4-ACAB-D1F19371A0F9}"/>
              </a:ext>
            </a:extLst>
          </p:cNvPr>
          <p:cNvGrpSpPr/>
          <p:nvPr/>
        </p:nvGrpSpPr>
        <p:grpSpPr>
          <a:xfrm>
            <a:off x="9745340" y="3309544"/>
            <a:ext cx="1116000" cy="720000"/>
            <a:chOff x="4300123" y="5297366"/>
            <a:chExt cx="1116000" cy="720000"/>
          </a:xfrm>
        </p:grpSpPr>
        <p:sp>
          <p:nvSpPr>
            <p:cNvPr id="25" name="TextBox 24">
              <a:extLst>
                <a:ext uri="{FF2B5EF4-FFF2-40B4-BE49-F238E27FC236}">
                  <a16:creationId xmlns:a16="http://schemas.microsoft.com/office/drawing/2014/main" id="{C9D13774-8A61-4F9A-8989-5C0AE1F4F4A3}"/>
                </a:ext>
              </a:extLst>
            </p:cNvPr>
            <p:cNvSpPr txBox="1">
              <a:spLocks/>
            </p:cNvSpPr>
            <p:nvPr/>
          </p:nvSpPr>
          <p:spPr>
            <a:xfrm>
              <a:off x="4300123"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Scope of work</a:t>
              </a:r>
            </a:p>
          </p:txBody>
        </p:sp>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D6CE25A7-09A0-4B0A-B271-1657460A8F7E}"/>
                    </a:ext>
                  </a:extLst>
                </p:cNvPr>
                <p:cNvGraphicFramePr>
                  <a:graphicFrameLocks noChangeAspect="1"/>
                </p:cNvGraphicFramePr>
                <p:nvPr/>
              </p:nvGraphicFramePr>
              <p:xfrm>
                <a:off x="4300123" y="5465010"/>
                <a:ext cx="1044000" cy="552356"/>
              </p:xfrm>
              <a:graphic>
                <a:graphicData uri="http://schemas.microsoft.com/office/powerpoint/2016/slidezoom">
                  <pslz:sldZm>
                    <pslz:sldZmObj sldId="691" cId="4137788745">
                      <pslz:zmPr id="{C41F5FBB-A759-4175-91D4-9D7249D3EE95}" returnToParent="0" transitionDur="1000">
                        <p166:blipFill xmlns:p166="http://schemas.microsoft.com/office/powerpoint/2016/6/main">
                          <a:blip r:embed="rId13"/>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17" name="Slide Zoom 16">
                  <a:hlinkClick r:id="rId14" action="ppaction://hlinksldjump"/>
                  <a:extLst>
                    <a:ext uri="{FF2B5EF4-FFF2-40B4-BE49-F238E27FC236}">
                      <a16:creationId xmlns:a16="http://schemas.microsoft.com/office/drawing/2014/main" id="{8462D4A4-79FA-CAD8-47B5-BFE45774FCC4}"/>
                    </a:ext>
                  </a:extLst>
                </p:cNvPr>
                <p:cNvPicPr>
                  <a:picLocks noGrp="1" noRot="1" noChangeAspect="1" noMove="1" noResize="1" noEditPoints="1" noAdjustHandles="1" noChangeArrowheads="1" noChangeShapeType="1"/>
                </p:cNvPicPr>
                <p:nvPr/>
              </p:nvPicPr>
              <p:blipFill>
                <a:blip r:embed="rId15"/>
                <a:stretch>
                  <a:fillRect/>
                </a:stretch>
              </p:blipFill>
              <p:spPr>
                <a:xfrm>
                  <a:off x="4300123" y="5419290"/>
                  <a:ext cx="1044000" cy="552356"/>
                </a:xfrm>
                <a:prstGeom prst="rect">
                  <a:avLst/>
                </a:prstGeom>
                <a:ln w="12700">
                  <a:solidFill>
                    <a:schemeClr val="tx2"/>
                  </a:solidFill>
                </a:ln>
              </p:spPr>
            </p:pic>
          </mc:Fallback>
        </mc:AlternateContent>
      </p:grpSp>
      <p:sp>
        <p:nvSpPr>
          <p:cNvPr id="29" name="Text Placeholder 1">
            <a:extLst>
              <a:ext uri="{FF2B5EF4-FFF2-40B4-BE49-F238E27FC236}">
                <a16:creationId xmlns:a16="http://schemas.microsoft.com/office/drawing/2014/main" id="{3B06CA25-6C71-4AB8-BD6E-3BD110779692}"/>
              </a:ext>
            </a:extLst>
          </p:cNvPr>
          <p:cNvSpPr txBox="1">
            <a:spLocks/>
          </p:cNvSpPr>
          <p:nvPr/>
        </p:nvSpPr>
        <p:spPr>
          <a:xfrm>
            <a:off x="3318758" y="1332698"/>
            <a:ext cx="2652442" cy="31019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r">
              <a:spcAft>
                <a:spcPts val="300"/>
              </a:spcAft>
              <a:defRPr/>
            </a:pPr>
            <a:r>
              <a:rPr lang="en-US" sz="900" b="0" spc="-20" dirty="0">
                <a:solidFill>
                  <a:srgbClr val="00338D"/>
                </a:solidFill>
                <a:latin typeface="Arial"/>
              </a:rPr>
              <a:t>[</a:t>
            </a:r>
            <a:r>
              <a:rPr lang="en-US" sz="900" b="0" spc="-20" dirty="0">
                <a:solidFill>
                  <a:schemeClr val="tx2"/>
                </a:solidFill>
                <a:latin typeface="Arial"/>
              </a:rPr>
              <a:t>date</a:t>
            </a:r>
            <a:r>
              <a:rPr lang="en-US" sz="900" b="0" spc="-20" dirty="0">
                <a:solidFill>
                  <a:srgbClr val="00338D"/>
                </a:solidFill>
                <a:latin typeface="Arial"/>
              </a:rPr>
              <a:t>]</a:t>
            </a:r>
          </a:p>
        </p:txBody>
      </p:sp>
    </p:spTree>
    <p:extLst>
      <p:ext uri="{BB962C8B-B14F-4D97-AF65-F5344CB8AC3E}">
        <p14:creationId xmlns:p14="http://schemas.microsoft.com/office/powerpoint/2010/main" val="733373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a:t>Contents</a:t>
            </a:r>
            <a:endParaRPr lang="en-US" dirty="0"/>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dirty="0">
                <a:solidFill>
                  <a:schemeClr val="tx2"/>
                </a:solidFill>
              </a:rPr>
              <a:t>Glossary</a:t>
            </a:r>
          </a:p>
        </p:txBody>
      </p:sp>
      <p:pic>
        <p:nvPicPr>
          <p:cNvPr id="3637" name="Picture 3636">
            <a:hlinkClick r:id="rId120"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121"/>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97077"/>
            <a:ext cx="886461" cy="153888"/>
          </a:xfrm>
          <a:prstGeom prst="rect">
            <a:avLst/>
          </a:prstGeom>
        </p:spPr>
        <p:txBody>
          <a:bodyPr wrap="none" lIns="0" tIns="0" rIns="0" bIns="0" anchor="ctr">
            <a:spAutoFit/>
          </a:bodyPr>
          <a:lstStyle/>
          <a:p>
            <a:pPr algn="r"/>
            <a:r>
              <a:rPr lang="en-US" sz="1000" dirty="0">
                <a:solidFill>
                  <a:schemeClr val="tx2"/>
                </a:solidFill>
              </a:rPr>
              <a:t>KPMG contacts</a:t>
            </a:r>
          </a:p>
        </p:txBody>
      </p:sp>
      <p:pic>
        <p:nvPicPr>
          <p:cNvPr id="3638" name="Picture 3637">
            <a:hlinkClick r:id="rId122"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123"/>
          <a:stretch>
            <a:fillRect/>
          </a:stretch>
        </p:blipFill>
        <p:spPr>
          <a:xfrm>
            <a:off x="11828635" y="1039584"/>
            <a:ext cx="254677" cy="254677"/>
          </a:xfrm>
          <a:prstGeom prst="rect">
            <a:avLst/>
          </a:prstGeom>
        </p:spPr>
      </p:pic>
      <p:sp>
        <p:nvSpPr>
          <p:cNvPr id="5" name="TextBox 4">
            <a:hlinkClick r:id="rId124" action="ppaction://hlinksldjump"/>
            <a:extLst>
              <a:ext uri="{FF2B5EF4-FFF2-40B4-BE49-F238E27FC236}">
                <a16:creationId xmlns:a16="http://schemas.microsoft.com/office/drawing/2014/main" id="{37D9AC9B-70F0-49DE-96AE-EFD5C27D972A}"/>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Executive summary</a:t>
            </a:r>
            <a:endParaRPr lang="en-GB" sz="2400" b="0" u="none" dirty="0">
              <a:solidFill>
                <a:schemeClr val="tx2"/>
              </a:solidFill>
              <a:latin typeface="+mj-lt"/>
              <a:cs typeface="Arial" panose="020B0604020202020204" pitchFamily="34" charset="0"/>
            </a:endParaRPr>
          </a:p>
        </p:txBody>
      </p:sp>
      <p:sp>
        <p:nvSpPr>
          <p:cNvPr id="6" name="TextBox 5">
            <a:hlinkClick r:id="rId125" action="ppaction://hlinksldjump"/>
            <a:extLst>
              <a:ext uri="{FF2B5EF4-FFF2-40B4-BE49-F238E27FC236}">
                <a16:creationId xmlns:a16="http://schemas.microsoft.com/office/drawing/2014/main" id="{67976040-39C0-461C-AED4-A2470D516372}"/>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Business overview</a:t>
            </a:r>
            <a:endParaRPr lang="en-GB" sz="900" dirty="0">
              <a:solidFill>
                <a:schemeClr val="tx2"/>
              </a:solidFill>
              <a:latin typeface="+mn-lt"/>
              <a:cs typeface="Arial" panose="020B0604020202020204" pitchFamily="34" charset="0"/>
            </a:endParaRPr>
          </a:p>
        </p:txBody>
      </p:sp>
      <p:sp>
        <p:nvSpPr>
          <p:cNvPr id="7" name="TextBox 6">
            <a:hlinkClick r:id="rId126" action="ppaction://hlinksldjump"/>
            <a:extLst>
              <a:ext uri="{FF2B5EF4-FFF2-40B4-BE49-F238E27FC236}">
                <a16:creationId xmlns:a16="http://schemas.microsoft.com/office/drawing/2014/main" id="{EE7DF45E-F84A-40E3-BC6D-5A944C084CA5}"/>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Summary financials</a:t>
            </a:r>
            <a:endParaRPr lang="en-GB" sz="900" dirty="0">
              <a:solidFill>
                <a:schemeClr val="tx2"/>
              </a:solidFill>
              <a:latin typeface="+mn-lt"/>
              <a:cs typeface="Arial" panose="020B0604020202020204" pitchFamily="34" charset="0"/>
            </a:endParaRPr>
          </a:p>
        </p:txBody>
      </p:sp>
      <p:sp>
        <p:nvSpPr>
          <p:cNvPr id="8" name="TextBox 7">
            <a:hlinkClick r:id="rId127" action="ppaction://hlinksldjump"/>
            <a:extLst>
              <a:ext uri="{FF2B5EF4-FFF2-40B4-BE49-F238E27FC236}">
                <a16:creationId xmlns:a16="http://schemas.microsoft.com/office/drawing/2014/main" id="{69B612CB-0537-48A3-975F-21B626D8C2E0}"/>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Key financial drivers</a:t>
            </a:r>
            <a:endParaRPr lang="en-GB" sz="900" dirty="0">
              <a:solidFill>
                <a:schemeClr val="tx2"/>
              </a:solidFill>
              <a:latin typeface="+mn-lt"/>
              <a:cs typeface="Arial" panose="020B0604020202020204" pitchFamily="34" charset="0"/>
            </a:endParaRPr>
          </a:p>
        </p:txBody>
      </p:sp>
      <p:sp>
        <p:nvSpPr>
          <p:cNvPr id="9" name="TextBox 8">
            <a:hlinkClick r:id="rId128" action="ppaction://hlinksldjump"/>
            <a:extLst>
              <a:ext uri="{FF2B5EF4-FFF2-40B4-BE49-F238E27FC236}">
                <a16:creationId xmlns:a16="http://schemas.microsoft.com/office/drawing/2014/main" id="{E8B98A24-7FCF-448D-8459-8171746F56BA}"/>
              </a:ext>
            </a:extLst>
          </p:cNvPr>
          <p:cNvSpPr txBox="1"/>
          <p:nvPr>
            <p:custDataLst>
              <p:tags r:id="rId6"/>
            </p:custDataLst>
          </p:nvPr>
        </p:nvSpPr>
        <p:spPr>
          <a:xfrm>
            <a:off x="1249682" y="20239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Headlines</a:t>
            </a:r>
            <a:endParaRPr lang="en-GB" sz="900" dirty="0">
              <a:solidFill>
                <a:schemeClr val="tx2"/>
              </a:solidFill>
              <a:latin typeface="+mn-lt"/>
              <a:cs typeface="Arial" panose="020B0604020202020204" pitchFamily="34" charset="0"/>
            </a:endParaRPr>
          </a:p>
        </p:txBody>
      </p:sp>
      <p:sp>
        <p:nvSpPr>
          <p:cNvPr id="10" name="TextBox 9">
            <a:hlinkClick r:id="rId129" action="ppaction://hlinksldjump"/>
            <a:extLst>
              <a:ext uri="{FF2B5EF4-FFF2-40B4-BE49-F238E27FC236}">
                <a16:creationId xmlns:a16="http://schemas.microsoft.com/office/drawing/2014/main" id="{F87E4BEE-7C1D-4958-930E-E753A0D9880F}"/>
              </a:ext>
            </a:extLst>
          </p:cNvPr>
          <p:cNvSpPr txBox="1"/>
          <p:nvPr>
            <p:custDataLst>
              <p:tags r:id="rId7"/>
            </p:custDataLst>
          </p:nvPr>
        </p:nvSpPr>
        <p:spPr>
          <a:xfrm>
            <a:off x="1249682" y="21626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Key findings</a:t>
            </a:r>
            <a:endParaRPr lang="en-GB" sz="900" dirty="0">
              <a:solidFill>
                <a:schemeClr val="tx2"/>
              </a:solidFill>
              <a:latin typeface="+mn-lt"/>
              <a:cs typeface="Arial" panose="020B0604020202020204" pitchFamily="34" charset="0"/>
            </a:endParaRPr>
          </a:p>
        </p:txBody>
      </p:sp>
      <p:sp>
        <p:nvSpPr>
          <p:cNvPr id="11" name="TextBox 10">
            <a:hlinkClick r:id="rId130" action="ppaction://hlinksldjump"/>
            <a:extLst>
              <a:ext uri="{FF2B5EF4-FFF2-40B4-BE49-F238E27FC236}">
                <a16:creationId xmlns:a16="http://schemas.microsoft.com/office/drawing/2014/main" id="{890FBDBA-FDD0-41F0-8BE1-A5FA481CABC7}"/>
              </a:ext>
            </a:extLst>
          </p:cNvPr>
          <p:cNvSpPr txBox="1"/>
          <p:nvPr>
            <p:custDataLst>
              <p:tags r:id="rId8"/>
            </p:custDataLst>
          </p:nvPr>
        </p:nvSpPr>
        <p:spPr>
          <a:xfrm>
            <a:off x="1249682" y="2352120"/>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Historical trading</a:t>
            </a:r>
            <a:endParaRPr lang="en-GB" sz="2400" b="0" u="none" dirty="0">
              <a:solidFill>
                <a:schemeClr val="tx2"/>
              </a:solidFill>
              <a:latin typeface="+mj-lt"/>
              <a:cs typeface="Arial" panose="020B0604020202020204" pitchFamily="34" charset="0"/>
            </a:endParaRPr>
          </a:p>
        </p:txBody>
      </p:sp>
      <p:sp>
        <p:nvSpPr>
          <p:cNvPr id="12" name="TextBox 11">
            <a:hlinkClick r:id="rId131" action="ppaction://hlinksldjump"/>
            <a:extLst>
              <a:ext uri="{FF2B5EF4-FFF2-40B4-BE49-F238E27FC236}">
                <a16:creationId xmlns:a16="http://schemas.microsoft.com/office/drawing/2014/main" id="{1E8E208F-EB62-4BA7-B818-D18BE9D728ED}"/>
              </a:ext>
            </a:extLst>
          </p:cNvPr>
          <p:cNvSpPr txBox="1"/>
          <p:nvPr>
            <p:custDataLst>
              <p:tags r:id="rId9"/>
            </p:custDataLst>
          </p:nvPr>
        </p:nvSpPr>
        <p:spPr>
          <a:xfrm>
            <a:off x="1249682" y="27305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Profit &amp; loss overview</a:t>
            </a:r>
            <a:endParaRPr lang="en-GB" sz="900" dirty="0">
              <a:solidFill>
                <a:schemeClr val="tx2"/>
              </a:solidFill>
              <a:latin typeface="+mn-lt"/>
              <a:cs typeface="Arial" panose="020B0604020202020204" pitchFamily="34" charset="0"/>
            </a:endParaRPr>
          </a:p>
        </p:txBody>
      </p:sp>
      <p:sp>
        <p:nvSpPr>
          <p:cNvPr id="13" name="TextBox 12">
            <a:hlinkClick r:id="rId132" action="ppaction://hlinksldjump"/>
            <a:extLst>
              <a:ext uri="{FF2B5EF4-FFF2-40B4-BE49-F238E27FC236}">
                <a16:creationId xmlns:a16="http://schemas.microsoft.com/office/drawing/2014/main" id="{D9E20466-5B91-4946-AAD9-14A090286C7A}"/>
              </a:ext>
            </a:extLst>
          </p:cNvPr>
          <p:cNvSpPr txBox="1"/>
          <p:nvPr>
            <p:custDataLst>
              <p:tags r:id="rId10"/>
            </p:custDataLst>
          </p:nvPr>
        </p:nvSpPr>
        <p:spPr>
          <a:xfrm>
            <a:off x="1249682" y="28692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Quality of earnings</a:t>
            </a:r>
            <a:endParaRPr lang="en-GB" sz="900" dirty="0">
              <a:solidFill>
                <a:schemeClr val="tx2"/>
              </a:solidFill>
              <a:latin typeface="+mn-lt"/>
              <a:cs typeface="Arial" panose="020B0604020202020204" pitchFamily="34" charset="0"/>
            </a:endParaRPr>
          </a:p>
        </p:txBody>
      </p:sp>
      <p:sp>
        <p:nvSpPr>
          <p:cNvPr id="14" name="TextBox 13">
            <a:hlinkClick r:id="rId133" action="ppaction://hlinksldjump"/>
            <a:extLst>
              <a:ext uri="{FF2B5EF4-FFF2-40B4-BE49-F238E27FC236}">
                <a16:creationId xmlns:a16="http://schemas.microsoft.com/office/drawing/2014/main" id="{3ACBDFB4-7141-4F53-8EE1-DBEDEC70FE5A}"/>
              </a:ext>
            </a:extLst>
          </p:cNvPr>
          <p:cNvSpPr txBox="1"/>
          <p:nvPr>
            <p:custDataLst>
              <p:tags r:id="rId11"/>
            </p:custDataLst>
          </p:nvPr>
        </p:nvSpPr>
        <p:spPr>
          <a:xfrm>
            <a:off x="1249682" y="30079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Revenue and EBITDA bridge</a:t>
            </a:r>
            <a:endParaRPr lang="en-GB" sz="900" dirty="0">
              <a:solidFill>
                <a:schemeClr val="tx2"/>
              </a:solidFill>
              <a:latin typeface="+mn-lt"/>
              <a:cs typeface="Arial" panose="020B0604020202020204" pitchFamily="34" charset="0"/>
            </a:endParaRPr>
          </a:p>
        </p:txBody>
      </p:sp>
      <p:sp>
        <p:nvSpPr>
          <p:cNvPr id="15" name="TextBox 14">
            <a:hlinkClick r:id="rId134" action="ppaction://hlinksldjump"/>
            <a:extLst>
              <a:ext uri="{FF2B5EF4-FFF2-40B4-BE49-F238E27FC236}">
                <a16:creationId xmlns:a16="http://schemas.microsoft.com/office/drawing/2014/main" id="{D71CB651-C7BC-421B-9967-22421F12016E}"/>
              </a:ext>
            </a:extLst>
          </p:cNvPr>
          <p:cNvSpPr txBox="1"/>
          <p:nvPr>
            <p:custDataLst>
              <p:tags r:id="rId12"/>
            </p:custDataLst>
          </p:nvPr>
        </p:nvSpPr>
        <p:spPr>
          <a:xfrm>
            <a:off x="1249682" y="31466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Business drivers</a:t>
            </a:r>
            <a:endParaRPr lang="en-GB" sz="900" dirty="0">
              <a:solidFill>
                <a:schemeClr val="tx2"/>
              </a:solidFill>
              <a:latin typeface="+mn-lt"/>
              <a:cs typeface="Arial" panose="020B0604020202020204" pitchFamily="34" charset="0"/>
            </a:endParaRPr>
          </a:p>
        </p:txBody>
      </p:sp>
      <p:sp>
        <p:nvSpPr>
          <p:cNvPr id="16" name="TextBox 15">
            <a:hlinkClick r:id="rId135" action="ppaction://hlinksldjump"/>
            <a:extLst>
              <a:ext uri="{FF2B5EF4-FFF2-40B4-BE49-F238E27FC236}">
                <a16:creationId xmlns:a16="http://schemas.microsoft.com/office/drawing/2014/main" id="{4FEBE237-CCC1-4C55-8F07-0BFFFE0431EA}"/>
              </a:ext>
            </a:extLst>
          </p:cNvPr>
          <p:cNvSpPr txBox="1"/>
          <p:nvPr>
            <p:custDataLst>
              <p:tags r:id="rId13"/>
            </p:custDataLst>
          </p:nvPr>
        </p:nvSpPr>
        <p:spPr>
          <a:xfrm>
            <a:off x="1249682" y="32853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Cost base overview</a:t>
            </a:r>
            <a:endParaRPr lang="en-GB" sz="900" dirty="0">
              <a:solidFill>
                <a:schemeClr val="tx2"/>
              </a:solidFill>
              <a:latin typeface="+mn-lt"/>
              <a:cs typeface="Arial" panose="020B0604020202020204" pitchFamily="34" charset="0"/>
            </a:endParaRPr>
          </a:p>
        </p:txBody>
      </p:sp>
      <p:sp>
        <p:nvSpPr>
          <p:cNvPr id="17" name="TextBox 16">
            <a:hlinkClick r:id="rId136" action="ppaction://hlinksldjump"/>
            <a:extLst>
              <a:ext uri="{FF2B5EF4-FFF2-40B4-BE49-F238E27FC236}">
                <a16:creationId xmlns:a16="http://schemas.microsoft.com/office/drawing/2014/main" id="{A127BF99-23F0-4B39-A1E5-529E53A45EBD}"/>
              </a:ext>
            </a:extLst>
          </p:cNvPr>
          <p:cNvSpPr txBox="1"/>
          <p:nvPr>
            <p:custDataLst>
              <p:tags r:id="rId14"/>
            </p:custDataLst>
          </p:nvPr>
        </p:nvSpPr>
        <p:spPr>
          <a:xfrm>
            <a:off x="1249682" y="3474881"/>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Forecast trading</a:t>
            </a:r>
            <a:endParaRPr lang="en-GB" sz="2400" b="0" u="none" dirty="0">
              <a:solidFill>
                <a:schemeClr val="tx2"/>
              </a:solidFill>
              <a:latin typeface="+mj-lt"/>
              <a:cs typeface="Arial" panose="020B0604020202020204" pitchFamily="34" charset="0"/>
            </a:endParaRPr>
          </a:p>
        </p:txBody>
      </p:sp>
      <p:sp>
        <p:nvSpPr>
          <p:cNvPr id="18" name="TextBox 17">
            <a:hlinkClick r:id="rId137" action="ppaction://hlinksldjump"/>
            <a:extLst>
              <a:ext uri="{FF2B5EF4-FFF2-40B4-BE49-F238E27FC236}">
                <a16:creationId xmlns:a16="http://schemas.microsoft.com/office/drawing/2014/main" id="{4B90AD3A-CEF7-493C-8F5B-3FC7A197CF87}"/>
              </a:ext>
            </a:extLst>
          </p:cNvPr>
          <p:cNvSpPr txBox="1"/>
          <p:nvPr>
            <p:custDataLst>
              <p:tags r:id="rId15"/>
            </p:custDataLst>
          </p:nvPr>
        </p:nvSpPr>
        <p:spPr>
          <a:xfrm>
            <a:off x="1249682" y="38533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Current trading and run rate</a:t>
            </a:r>
            <a:endParaRPr lang="en-GB" sz="900" dirty="0">
              <a:solidFill>
                <a:schemeClr val="tx2"/>
              </a:solidFill>
              <a:latin typeface="+mn-lt"/>
              <a:cs typeface="Arial" panose="020B0604020202020204" pitchFamily="34" charset="0"/>
            </a:endParaRPr>
          </a:p>
        </p:txBody>
      </p:sp>
      <p:sp>
        <p:nvSpPr>
          <p:cNvPr id="19" name="TextBox 18">
            <a:hlinkClick r:id="rId138" action="ppaction://hlinksldjump"/>
            <a:extLst>
              <a:ext uri="{FF2B5EF4-FFF2-40B4-BE49-F238E27FC236}">
                <a16:creationId xmlns:a16="http://schemas.microsoft.com/office/drawing/2014/main" id="{95258076-E4E5-4862-BD52-41836629F3E6}"/>
              </a:ext>
            </a:extLst>
          </p:cNvPr>
          <p:cNvSpPr txBox="1"/>
          <p:nvPr>
            <p:custDataLst>
              <p:tags r:id="rId16"/>
            </p:custDataLst>
          </p:nvPr>
        </p:nvSpPr>
        <p:spPr>
          <a:xfrm>
            <a:off x="1249682" y="39920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Historical budgeting accuracy</a:t>
            </a:r>
            <a:endParaRPr lang="en-GB" sz="900" dirty="0">
              <a:solidFill>
                <a:schemeClr val="tx2"/>
              </a:solidFill>
              <a:latin typeface="+mn-lt"/>
              <a:cs typeface="Arial" panose="020B0604020202020204" pitchFamily="34" charset="0"/>
            </a:endParaRPr>
          </a:p>
        </p:txBody>
      </p:sp>
      <p:sp>
        <p:nvSpPr>
          <p:cNvPr id="20" name="TextBox 19">
            <a:hlinkClick r:id="rId139" action="ppaction://hlinksldjump"/>
            <a:extLst>
              <a:ext uri="{FF2B5EF4-FFF2-40B4-BE49-F238E27FC236}">
                <a16:creationId xmlns:a16="http://schemas.microsoft.com/office/drawing/2014/main" id="{5DF7A621-F223-49A7-BC19-829C224E3271}"/>
              </a:ext>
            </a:extLst>
          </p:cNvPr>
          <p:cNvSpPr txBox="1"/>
          <p:nvPr>
            <p:custDataLst>
              <p:tags r:id="rId17"/>
            </p:custDataLst>
          </p:nvPr>
        </p:nvSpPr>
        <p:spPr>
          <a:xfrm>
            <a:off x="1249682" y="41307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Forecast revenue and EBITDA bridge</a:t>
            </a:r>
            <a:endParaRPr lang="en-GB" sz="900" dirty="0">
              <a:solidFill>
                <a:schemeClr val="tx2"/>
              </a:solidFill>
              <a:latin typeface="+mn-lt"/>
              <a:cs typeface="Arial" panose="020B0604020202020204" pitchFamily="34" charset="0"/>
            </a:endParaRPr>
          </a:p>
        </p:txBody>
      </p:sp>
      <p:sp>
        <p:nvSpPr>
          <p:cNvPr id="21" name="TextBox 20">
            <a:hlinkClick r:id="rId140" action="ppaction://hlinksldjump"/>
            <a:extLst>
              <a:ext uri="{FF2B5EF4-FFF2-40B4-BE49-F238E27FC236}">
                <a16:creationId xmlns:a16="http://schemas.microsoft.com/office/drawing/2014/main" id="{59EB022F-8D6B-4DD0-8F4A-1027BECA1595}"/>
              </a:ext>
            </a:extLst>
          </p:cNvPr>
          <p:cNvSpPr txBox="1"/>
          <p:nvPr>
            <p:custDataLst>
              <p:tags r:id="rId18"/>
            </p:custDataLst>
          </p:nvPr>
        </p:nvSpPr>
        <p:spPr>
          <a:xfrm>
            <a:off x="1249682" y="42694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Upsides and sensitivities</a:t>
            </a:r>
            <a:endParaRPr lang="en-GB" sz="900" dirty="0">
              <a:solidFill>
                <a:schemeClr val="tx2"/>
              </a:solidFill>
              <a:latin typeface="+mn-lt"/>
              <a:cs typeface="Arial" panose="020B0604020202020204" pitchFamily="34" charset="0"/>
            </a:endParaRPr>
          </a:p>
        </p:txBody>
      </p:sp>
      <p:sp>
        <p:nvSpPr>
          <p:cNvPr id="22" name="TextBox 21">
            <a:hlinkClick r:id="rId141" action="ppaction://hlinksldjump"/>
            <a:extLst>
              <a:ext uri="{FF2B5EF4-FFF2-40B4-BE49-F238E27FC236}">
                <a16:creationId xmlns:a16="http://schemas.microsoft.com/office/drawing/2014/main" id="{49DD875C-B060-408E-85BE-179EAC19A99C}"/>
              </a:ext>
            </a:extLst>
          </p:cNvPr>
          <p:cNvSpPr txBox="1"/>
          <p:nvPr>
            <p:custDataLst>
              <p:tags r:id="rId19"/>
            </p:custDataLst>
          </p:nvPr>
        </p:nvSpPr>
        <p:spPr>
          <a:xfrm>
            <a:off x="1249682" y="4458941"/>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Balance sheet</a:t>
            </a:r>
            <a:endParaRPr lang="en-GB" sz="2400" b="0" u="none" dirty="0">
              <a:solidFill>
                <a:schemeClr val="tx2"/>
              </a:solidFill>
              <a:latin typeface="+mj-lt"/>
              <a:cs typeface="Arial" panose="020B0604020202020204" pitchFamily="34" charset="0"/>
            </a:endParaRPr>
          </a:p>
        </p:txBody>
      </p:sp>
      <p:sp>
        <p:nvSpPr>
          <p:cNvPr id="23" name="TextBox 22">
            <a:hlinkClick r:id="rId142" action="ppaction://hlinksldjump"/>
            <a:extLst>
              <a:ext uri="{FF2B5EF4-FFF2-40B4-BE49-F238E27FC236}">
                <a16:creationId xmlns:a16="http://schemas.microsoft.com/office/drawing/2014/main" id="{0982E412-B605-41C8-B434-41E988E16D80}"/>
              </a:ext>
            </a:extLst>
          </p:cNvPr>
          <p:cNvSpPr txBox="1"/>
          <p:nvPr>
            <p:custDataLst>
              <p:tags r:id="rId20"/>
            </p:custDataLst>
          </p:nvPr>
        </p:nvSpPr>
        <p:spPr>
          <a:xfrm>
            <a:off x="1249682" y="48374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Balance sheet overview</a:t>
            </a:r>
            <a:endParaRPr lang="en-GB" sz="900" dirty="0">
              <a:solidFill>
                <a:schemeClr val="tx2"/>
              </a:solidFill>
              <a:latin typeface="+mn-lt"/>
              <a:cs typeface="Arial" panose="020B0604020202020204" pitchFamily="34" charset="0"/>
            </a:endParaRPr>
          </a:p>
        </p:txBody>
      </p:sp>
      <p:sp>
        <p:nvSpPr>
          <p:cNvPr id="24" name="TextBox 23">
            <a:hlinkClick r:id="rId143" action="ppaction://hlinksldjump"/>
            <a:extLst>
              <a:ext uri="{FF2B5EF4-FFF2-40B4-BE49-F238E27FC236}">
                <a16:creationId xmlns:a16="http://schemas.microsoft.com/office/drawing/2014/main" id="{915B6303-C080-4698-99E0-6594E919AC54}"/>
              </a:ext>
            </a:extLst>
          </p:cNvPr>
          <p:cNvSpPr txBox="1"/>
          <p:nvPr>
            <p:custDataLst>
              <p:tags r:id="rId21"/>
            </p:custDataLst>
          </p:nvPr>
        </p:nvSpPr>
        <p:spPr>
          <a:xfrm>
            <a:off x="1249682" y="49761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Net working capital overview</a:t>
            </a:r>
            <a:endParaRPr lang="en-GB" sz="900" dirty="0">
              <a:solidFill>
                <a:schemeClr val="tx2"/>
              </a:solidFill>
              <a:latin typeface="+mn-lt"/>
              <a:cs typeface="Arial" panose="020B0604020202020204" pitchFamily="34" charset="0"/>
            </a:endParaRPr>
          </a:p>
        </p:txBody>
      </p:sp>
      <p:sp>
        <p:nvSpPr>
          <p:cNvPr id="25" name="TextBox 24">
            <a:hlinkClick r:id="rId144" action="ppaction://hlinksldjump"/>
            <a:extLst>
              <a:ext uri="{FF2B5EF4-FFF2-40B4-BE49-F238E27FC236}">
                <a16:creationId xmlns:a16="http://schemas.microsoft.com/office/drawing/2014/main" id="{AB673CAE-F1CE-41B9-9C45-7192FD40AE63}"/>
              </a:ext>
            </a:extLst>
          </p:cNvPr>
          <p:cNvSpPr txBox="1"/>
          <p:nvPr>
            <p:custDataLst>
              <p:tags r:id="rId22"/>
            </p:custDataLst>
          </p:nvPr>
        </p:nvSpPr>
        <p:spPr>
          <a:xfrm>
            <a:off x="1249682" y="51148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Net cash</a:t>
            </a:r>
            <a:endParaRPr lang="en-GB" sz="900" dirty="0">
              <a:solidFill>
                <a:schemeClr val="tx2"/>
              </a:solidFill>
              <a:latin typeface="+mn-lt"/>
              <a:cs typeface="Arial" panose="020B0604020202020204" pitchFamily="34" charset="0"/>
            </a:endParaRPr>
          </a:p>
        </p:txBody>
      </p:sp>
      <p:sp>
        <p:nvSpPr>
          <p:cNvPr id="26" name="TextBox 25">
            <a:hlinkClick r:id="rId145" action="ppaction://hlinksldjump"/>
            <a:extLst>
              <a:ext uri="{FF2B5EF4-FFF2-40B4-BE49-F238E27FC236}">
                <a16:creationId xmlns:a16="http://schemas.microsoft.com/office/drawing/2014/main" id="{3BBEAD79-7DEE-48B5-B866-8DB8E972D432}"/>
              </a:ext>
            </a:extLst>
          </p:cNvPr>
          <p:cNvSpPr txBox="1"/>
          <p:nvPr>
            <p:custDataLst>
              <p:tags r:id="rId23"/>
            </p:custDataLst>
          </p:nvPr>
        </p:nvSpPr>
        <p:spPr>
          <a:xfrm>
            <a:off x="1249682" y="52535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Stock</a:t>
            </a:r>
            <a:endParaRPr lang="en-GB" sz="900" dirty="0">
              <a:solidFill>
                <a:schemeClr val="tx2"/>
              </a:solidFill>
              <a:latin typeface="+mn-lt"/>
              <a:cs typeface="Arial" panose="020B0604020202020204" pitchFamily="34" charset="0"/>
            </a:endParaRPr>
          </a:p>
        </p:txBody>
      </p:sp>
      <p:sp>
        <p:nvSpPr>
          <p:cNvPr id="27" name="TextBox 26">
            <a:hlinkClick r:id="rId146" action="ppaction://hlinksldjump"/>
            <a:extLst>
              <a:ext uri="{FF2B5EF4-FFF2-40B4-BE49-F238E27FC236}">
                <a16:creationId xmlns:a16="http://schemas.microsoft.com/office/drawing/2014/main" id="{E5AC836E-4C14-47A3-9F1A-304A2DBF6BB4}"/>
              </a:ext>
            </a:extLst>
          </p:cNvPr>
          <p:cNvSpPr txBox="1"/>
          <p:nvPr>
            <p:custDataLst>
              <p:tags r:id="rId24"/>
            </p:custDataLst>
          </p:nvPr>
        </p:nvSpPr>
        <p:spPr>
          <a:xfrm>
            <a:off x="1249682" y="53922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Trade creditors</a:t>
            </a:r>
            <a:endParaRPr lang="en-GB" sz="900" dirty="0">
              <a:solidFill>
                <a:schemeClr val="tx2"/>
              </a:solidFill>
              <a:latin typeface="+mn-lt"/>
              <a:cs typeface="Arial" panose="020B0604020202020204" pitchFamily="34" charset="0"/>
            </a:endParaRPr>
          </a:p>
        </p:txBody>
      </p:sp>
      <p:sp>
        <p:nvSpPr>
          <p:cNvPr id="28" name="TextBox 27">
            <a:hlinkClick r:id="rId147" action="ppaction://hlinksldjump"/>
            <a:extLst>
              <a:ext uri="{FF2B5EF4-FFF2-40B4-BE49-F238E27FC236}">
                <a16:creationId xmlns:a16="http://schemas.microsoft.com/office/drawing/2014/main" id="{5F5F166C-0148-4B89-BF2D-1EE5FE1E21D3}"/>
              </a:ext>
            </a:extLst>
          </p:cNvPr>
          <p:cNvSpPr txBox="1"/>
          <p:nvPr>
            <p:custDataLst>
              <p:tags r:id="rId25"/>
            </p:custDataLst>
          </p:nvPr>
        </p:nvSpPr>
        <p:spPr>
          <a:xfrm>
            <a:off x="1249682" y="55309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Accruals and other creditors</a:t>
            </a:r>
            <a:endParaRPr lang="en-GB" sz="900" dirty="0">
              <a:solidFill>
                <a:schemeClr val="tx2"/>
              </a:solidFill>
              <a:latin typeface="+mn-lt"/>
              <a:cs typeface="Arial" panose="020B0604020202020204" pitchFamily="34" charset="0"/>
            </a:endParaRPr>
          </a:p>
        </p:txBody>
      </p:sp>
      <p:sp>
        <p:nvSpPr>
          <p:cNvPr id="29" name="TextBox 28">
            <a:hlinkClick r:id="rId148" action="ppaction://hlinksldjump"/>
            <a:extLst>
              <a:ext uri="{FF2B5EF4-FFF2-40B4-BE49-F238E27FC236}">
                <a16:creationId xmlns:a16="http://schemas.microsoft.com/office/drawing/2014/main" id="{E6227AC7-CDF8-4E64-832C-DCE77D645446}"/>
              </a:ext>
            </a:extLst>
          </p:cNvPr>
          <p:cNvSpPr txBox="1"/>
          <p:nvPr>
            <p:custDataLst>
              <p:tags r:id="rId26"/>
            </p:custDataLst>
          </p:nvPr>
        </p:nvSpPr>
        <p:spPr>
          <a:xfrm>
            <a:off x="5904464" y="1229360"/>
            <a:ext cx="445273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Cash flows</a:t>
            </a:r>
            <a:endParaRPr lang="en-GB" sz="2400" b="0" u="none" dirty="0">
              <a:solidFill>
                <a:schemeClr val="tx2"/>
              </a:solidFill>
              <a:latin typeface="+mj-lt"/>
              <a:cs typeface="Arial" panose="020B0604020202020204" pitchFamily="34" charset="0"/>
            </a:endParaRPr>
          </a:p>
        </p:txBody>
      </p:sp>
      <p:sp>
        <p:nvSpPr>
          <p:cNvPr id="30" name="TextBox 29">
            <a:hlinkClick r:id="rId149" action="ppaction://hlinksldjump"/>
            <a:extLst>
              <a:ext uri="{FF2B5EF4-FFF2-40B4-BE49-F238E27FC236}">
                <a16:creationId xmlns:a16="http://schemas.microsoft.com/office/drawing/2014/main" id="{D509776F-CDB6-4D83-85EC-095AD6D49AEE}"/>
              </a:ext>
            </a:extLst>
          </p:cNvPr>
          <p:cNvSpPr txBox="1"/>
          <p:nvPr>
            <p:custDataLst>
              <p:tags r:id="rId27"/>
            </p:custDataLst>
          </p:nvPr>
        </p:nvSpPr>
        <p:spPr>
          <a:xfrm>
            <a:off x="5904463" y="16078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Operating cash flow</a:t>
            </a:r>
            <a:endParaRPr lang="en-GB" sz="900" dirty="0">
              <a:solidFill>
                <a:schemeClr val="tx2"/>
              </a:solidFill>
              <a:latin typeface="+mn-lt"/>
              <a:cs typeface="Arial" panose="020B0604020202020204" pitchFamily="34" charset="0"/>
            </a:endParaRPr>
          </a:p>
        </p:txBody>
      </p:sp>
      <p:sp>
        <p:nvSpPr>
          <p:cNvPr id="31" name="TextBox 30">
            <a:hlinkClick r:id="rId150" action="ppaction://hlinksldjump"/>
            <a:extLst>
              <a:ext uri="{FF2B5EF4-FFF2-40B4-BE49-F238E27FC236}">
                <a16:creationId xmlns:a16="http://schemas.microsoft.com/office/drawing/2014/main" id="{FD1770F5-030F-45D2-A688-31A420753BCA}"/>
              </a:ext>
            </a:extLst>
          </p:cNvPr>
          <p:cNvSpPr txBox="1"/>
          <p:nvPr>
            <p:custDataLst>
              <p:tags r:id="rId28"/>
            </p:custDataLst>
          </p:nvPr>
        </p:nvSpPr>
        <p:spPr>
          <a:xfrm>
            <a:off x="5904463" y="17465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Capital expenditure</a:t>
            </a:r>
            <a:endParaRPr lang="en-GB" sz="900" dirty="0">
              <a:solidFill>
                <a:schemeClr val="tx2"/>
              </a:solidFill>
              <a:latin typeface="+mn-lt"/>
              <a:cs typeface="Arial" panose="020B0604020202020204" pitchFamily="34" charset="0"/>
            </a:endParaRPr>
          </a:p>
        </p:txBody>
      </p:sp>
      <p:sp>
        <p:nvSpPr>
          <p:cNvPr id="32" name="TextBox 31">
            <a:hlinkClick r:id="rId151" action="ppaction://hlinksldjump"/>
            <a:extLst>
              <a:ext uri="{FF2B5EF4-FFF2-40B4-BE49-F238E27FC236}">
                <a16:creationId xmlns:a16="http://schemas.microsoft.com/office/drawing/2014/main" id="{AC3EC838-63E6-4007-845C-2744D29A8A39}"/>
              </a:ext>
            </a:extLst>
          </p:cNvPr>
          <p:cNvSpPr txBox="1"/>
          <p:nvPr>
            <p:custDataLst>
              <p:tags r:id="rId29"/>
            </p:custDataLst>
          </p:nvPr>
        </p:nvSpPr>
        <p:spPr>
          <a:xfrm>
            <a:off x="5904463" y="18852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Intra-month cash</a:t>
            </a:r>
            <a:endParaRPr lang="en-GB" sz="900" dirty="0">
              <a:solidFill>
                <a:schemeClr val="tx2"/>
              </a:solidFill>
              <a:latin typeface="+mn-lt"/>
              <a:cs typeface="Arial" panose="020B0604020202020204" pitchFamily="34" charset="0"/>
            </a:endParaRPr>
          </a:p>
        </p:txBody>
      </p:sp>
      <p:sp>
        <p:nvSpPr>
          <p:cNvPr id="33" name="TextBox 32">
            <a:hlinkClick r:id="rId152" action="ppaction://hlinksldjump"/>
            <a:extLst>
              <a:ext uri="{FF2B5EF4-FFF2-40B4-BE49-F238E27FC236}">
                <a16:creationId xmlns:a16="http://schemas.microsoft.com/office/drawing/2014/main" id="{CE3BBDF9-AB0F-4F85-86CC-BC66904A3B3F}"/>
              </a:ext>
            </a:extLst>
          </p:cNvPr>
          <p:cNvSpPr txBox="1"/>
          <p:nvPr>
            <p:custDataLst>
              <p:tags r:id="rId30"/>
            </p:custDataLst>
          </p:nvPr>
        </p:nvSpPr>
        <p:spPr>
          <a:xfrm>
            <a:off x="5904463" y="2074720"/>
            <a:ext cx="4452739"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Reporting environment</a:t>
            </a:r>
            <a:endParaRPr lang="en-GB" sz="2400" b="0" u="none" dirty="0">
              <a:solidFill>
                <a:schemeClr val="tx2"/>
              </a:solidFill>
              <a:latin typeface="+mj-lt"/>
              <a:cs typeface="Arial" panose="020B0604020202020204" pitchFamily="34" charset="0"/>
            </a:endParaRPr>
          </a:p>
        </p:txBody>
      </p:sp>
      <p:sp>
        <p:nvSpPr>
          <p:cNvPr id="34" name="TextBox 33">
            <a:hlinkClick r:id="rId153" action="ppaction://hlinksldjump"/>
            <a:extLst>
              <a:ext uri="{FF2B5EF4-FFF2-40B4-BE49-F238E27FC236}">
                <a16:creationId xmlns:a16="http://schemas.microsoft.com/office/drawing/2014/main" id="{944713E0-DC80-495D-B64A-B61FA0C1CC4F}"/>
              </a:ext>
            </a:extLst>
          </p:cNvPr>
          <p:cNvSpPr txBox="1"/>
          <p:nvPr>
            <p:custDataLst>
              <p:tags r:id="rId31"/>
            </p:custDataLst>
          </p:nvPr>
        </p:nvSpPr>
        <p:spPr>
          <a:xfrm>
            <a:off x="5904463" y="24531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Financial reporting environment</a:t>
            </a:r>
            <a:endParaRPr lang="en-GB" sz="900" dirty="0">
              <a:solidFill>
                <a:schemeClr val="tx2"/>
              </a:solidFill>
              <a:latin typeface="+mn-lt"/>
              <a:cs typeface="Arial" panose="020B0604020202020204" pitchFamily="34" charset="0"/>
            </a:endParaRPr>
          </a:p>
        </p:txBody>
      </p:sp>
      <p:sp>
        <p:nvSpPr>
          <p:cNvPr id="35" name="TextBox 34">
            <a:hlinkClick r:id="rId154" action="ppaction://hlinksldjump"/>
            <a:extLst>
              <a:ext uri="{FF2B5EF4-FFF2-40B4-BE49-F238E27FC236}">
                <a16:creationId xmlns:a16="http://schemas.microsoft.com/office/drawing/2014/main" id="{5E9F9097-5EF2-4F3B-A02F-0F9EDE777579}"/>
              </a:ext>
            </a:extLst>
          </p:cNvPr>
          <p:cNvSpPr txBox="1"/>
          <p:nvPr>
            <p:custDataLst>
              <p:tags r:id="rId32"/>
            </p:custDataLst>
          </p:nvPr>
        </p:nvSpPr>
        <p:spPr>
          <a:xfrm>
            <a:off x="5904463" y="25918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Accounting policies</a:t>
            </a:r>
            <a:endParaRPr lang="en-GB" sz="900" dirty="0">
              <a:solidFill>
                <a:schemeClr val="tx2"/>
              </a:solidFill>
              <a:latin typeface="+mn-lt"/>
              <a:cs typeface="Arial" panose="020B0604020202020204" pitchFamily="34" charset="0"/>
            </a:endParaRPr>
          </a:p>
        </p:txBody>
      </p:sp>
      <p:sp>
        <p:nvSpPr>
          <p:cNvPr id="36" name="TextBox 35">
            <a:hlinkClick r:id="rId155" action="ppaction://hlinksldjump"/>
            <a:extLst>
              <a:ext uri="{FF2B5EF4-FFF2-40B4-BE49-F238E27FC236}">
                <a16:creationId xmlns:a16="http://schemas.microsoft.com/office/drawing/2014/main" id="{90F98C3C-8D5B-4A04-88EB-EB21A94CAD4B}"/>
              </a:ext>
            </a:extLst>
          </p:cNvPr>
          <p:cNvSpPr txBox="1"/>
          <p:nvPr>
            <p:custDataLst>
              <p:tags r:id="rId33"/>
            </p:custDataLst>
          </p:nvPr>
        </p:nvSpPr>
        <p:spPr>
          <a:xfrm>
            <a:off x="5904463" y="2781380"/>
            <a:ext cx="4452739"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Appendices</a:t>
            </a:r>
            <a:endParaRPr lang="en-GB" sz="2400" b="0" u="none" dirty="0">
              <a:solidFill>
                <a:schemeClr val="tx2"/>
              </a:solidFill>
              <a:latin typeface="+mj-lt"/>
              <a:cs typeface="Arial" panose="020B0604020202020204" pitchFamily="34" charset="0"/>
            </a:endParaRPr>
          </a:p>
        </p:txBody>
      </p:sp>
      <p:sp>
        <p:nvSpPr>
          <p:cNvPr id="37" name="TextBox 36">
            <a:hlinkClick r:id="rId156" action="ppaction://hlinksldjump"/>
            <a:extLst>
              <a:ext uri="{FF2B5EF4-FFF2-40B4-BE49-F238E27FC236}">
                <a16:creationId xmlns:a16="http://schemas.microsoft.com/office/drawing/2014/main" id="{88F55532-ABFF-465D-A573-4D87753A4640}"/>
              </a:ext>
            </a:extLst>
          </p:cNvPr>
          <p:cNvSpPr txBox="1"/>
          <p:nvPr>
            <p:custDataLst>
              <p:tags r:id="rId34"/>
            </p:custDataLst>
          </p:nvPr>
        </p:nvSpPr>
        <p:spPr>
          <a:xfrm>
            <a:off x="5904463" y="315984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Engagement &amp; data integrity</a:t>
            </a:r>
            <a:endParaRPr lang="en-GB" sz="900" dirty="0">
              <a:solidFill>
                <a:schemeClr val="tx2"/>
              </a:solidFill>
              <a:latin typeface="+mn-lt"/>
              <a:cs typeface="Arial" panose="020B0604020202020204" pitchFamily="34" charset="0"/>
            </a:endParaRPr>
          </a:p>
        </p:txBody>
      </p:sp>
      <p:sp>
        <p:nvSpPr>
          <p:cNvPr id="38" name="TextBox 37">
            <a:hlinkClick r:id="rId157" action="ppaction://hlinksldjump"/>
            <a:extLst>
              <a:ext uri="{FF2B5EF4-FFF2-40B4-BE49-F238E27FC236}">
                <a16:creationId xmlns:a16="http://schemas.microsoft.com/office/drawing/2014/main" id="{E5D0FACE-C322-4156-B89D-3B2A01535E48}"/>
              </a:ext>
            </a:extLst>
          </p:cNvPr>
          <p:cNvSpPr txBox="1"/>
          <p:nvPr>
            <p:custDataLst>
              <p:tags r:id="rId35"/>
            </p:custDataLst>
          </p:nvPr>
        </p:nvSpPr>
        <p:spPr>
          <a:xfrm>
            <a:off x="5904463" y="32985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Historical trading - online</a:t>
            </a:r>
            <a:endParaRPr lang="en-GB" sz="900" dirty="0">
              <a:solidFill>
                <a:schemeClr val="tx2"/>
              </a:solidFill>
              <a:latin typeface="+mn-lt"/>
              <a:cs typeface="Arial" panose="020B0604020202020204" pitchFamily="34" charset="0"/>
            </a:endParaRPr>
          </a:p>
        </p:txBody>
      </p:sp>
      <p:sp>
        <p:nvSpPr>
          <p:cNvPr id="39" name="TextBox 38">
            <a:hlinkClick r:id="rId158" action="ppaction://hlinksldjump"/>
            <a:extLst>
              <a:ext uri="{FF2B5EF4-FFF2-40B4-BE49-F238E27FC236}">
                <a16:creationId xmlns:a16="http://schemas.microsoft.com/office/drawing/2014/main" id="{6D65DA3B-EC8A-443A-99D9-800477FC7CB3}"/>
              </a:ext>
            </a:extLst>
          </p:cNvPr>
          <p:cNvSpPr txBox="1"/>
          <p:nvPr>
            <p:custDataLst>
              <p:tags r:id="rId36"/>
            </p:custDataLst>
          </p:nvPr>
        </p:nvSpPr>
        <p:spPr>
          <a:xfrm>
            <a:off x="5904463" y="34372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Historical trading - retail</a:t>
            </a:r>
            <a:endParaRPr lang="en-GB" sz="900" dirty="0">
              <a:solidFill>
                <a:schemeClr val="tx2"/>
              </a:solidFill>
              <a:latin typeface="+mn-lt"/>
              <a:cs typeface="Arial" panose="020B0604020202020204" pitchFamily="34" charset="0"/>
            </a:endParaRPr>
          </a:p>
        </p:txBody>
      </p:sp>
      <p:sp>
        <p:nvSpPr>
          <p:cNvPr id="40" name="TextBox 39">
            <a:hlinkClick r:id="rId159" action="ppaction://hlinksldjump"/>
            <a:extLst>
              <a:ext uri="{FF2B5EF4-FFF2-40B4-BE49-F238E27FC236}">
                <a16:creationId xmlns:a16="http://schemas.microsoft.com/office/drawing/2014/main" id="{C4A4E037-DBB2-4BF3-9F04-8989D798DA83}"/>
              </a:ext>
            </a:extLst>
          </p:cNvPr>
          <p:cNvSpPr txBox="1"/>
          <p:nvPr>
            <p:custDataLst>
              <p:tags r:id="rId37"/>
            </p:custDataLst>
          </p:nvPr>
        </p:nvSpPr>
        <p:spPr>
          <a:xfrm>
            <a:off x="5904463" y="35759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Cost base</a:t>
            </a:r>
            <a:endParaRPr lang="en-GB" sz="900" dirty="0">
              <a:solidFill>
                <a:schemeClr val="tx2"/>
              </a:solidFill>
              <a:latin typeface="+mn-lt"/>
              <a:cs typeface="Arial" panose="020B0604020202020204" pitchFamily="34" charset="0"/>
            </a:endParaRPr>
          </a:p>
        </p:txBody>
      </p:sp>
      <p:sp>
        <p:nvSpPr>
          <p:cNvPr id="41" name="TextBox 40">
            <a:hlinkClick r:id="rId160" action="ppaction://hlinksldjump"/>
            <a:extLst>
              <a:ext uri="{FF2B5EF4-FFF2-40B4-BE49-F238E27FC236}">
                <a16:creationId xmlns:a16="http://schemas.microsoft.com/office/drawing/2014/main" id="{E7BE7DDF-06ED-4704-BA63-5C7E0BC48F84}"/>
              </a:ext>
            </a:extLst>
          </p:cNvPr>
          <p:cNvSpPr txBox="1"/>
          <p:nvPr>
            <p:custDataLst>
              <p:tags r:id="rId38"/>
            </p:custDataLst>
          </p:nvPr>
        </p:nvSpPr>
        <p:spPr>
          <a:xfrm>
            <a:off x="5904463" y="37146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Trading - other</a:t>
            </a:r>
            <a:endParaRPr lang="en-GB" sz="900" dirty="0">
              <a:solidFill>
                <a:schemeClr val="tx2"/>
              </a:solidFill>
              <a:latin typeface="+mn-lt"/>
              <a:cs typeface="Arial" panose="020B0604020202020204" pitchFamily="34" charset="0"/>
            </a:endParaRPr>
          </a:p>
        </p:txBody>
      </p:sp>
      <p:sp>
        <p:nvSpPr>
          <p:cNvPr id="42" name="TextBox 41">
            <a:hlinkClick r:id="rId161" action="ppaction://hlinksldjump"/>
            <a:extLst>
              <a:ext uri="{FF2B5EF4-FFF2-40B4-BE49-F238E27FC236}">
                <a16:creationId xmlns:a16="http://schemas.microsoft.com/office/drawing/2014/main" id="{1FBBF590-2C35-4E1E-9A16-D7224C5F189C}"/>
              </a:ext>
            </a:extLst>
          </p:cNvPr>
          <p:cNvSpPr txBox="1"/>
          <p:nvPr>
            <p:custDataLst>
              <p:tags r:id="rId39"/>
            </p:custDataLst>
          </p:nvPr>
        </p:nvSpPr>
        <p:spPr>
          <a:xfrm>
            <a:off x="5904463" y="38533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Balance sheet breakdowns</a:t>
            </a:r>
            <a:endParaRPr lang="en-GB" sz="900" dirty="0">
              <a:solidFill>
                <a:schemeClr val="tx2"/>
              </a:solidFill>
              <a:latin typeface="+mn-lt"/>
              <a:cs typeface="Arial" panose="020B0604020202020204" pitchFamily="34" charset="0"/>
            </a:endParaRPr>
          </a:p>
        </p:txBody>
      </p:sp>
      <p:sp>
        <p:nvSpPr>
          <p:cNvPr id="43" name="TextBox 42">
            <a:hlinkClick r:id="rId162" action="ppaction://hlinksldjump"/>
            <a:extLst>
              <a:ext uri="{FF2B5EF4-FFF2-40B4-BE49-F238E27FC236}">
                <a16:creationId xmlns:a16="http://schemas.microsoft.com/office/drawing/2014/main" id="{F95B3884-6AB4-4AB1-BBF7-8ADCAF8A28A0}"/>
              </a:ext>
            </a:extLst>
          </p:cNvPr>
          <p:cNvSpPr txBox="1"/>
          <p:nvPr>
            <p:custDataLst>
              <p:tags r:id="rId40"/>
            </p:custDataLst>
          </p:nvPr>
        </p:nvSpPr>
        <p:spPr>
          <a:xfrm>
            <a:off x="5904463" y="399204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Forecast assumptions</a:t>
            </a:r>
            <a:endParaRPr lang="en-GB" sz="900" dirty="0">
              <a:solidFill>
                <a:schemeClr val="tx2"/>
              </a:solidFill>
              <a:latin typeface="+mn-lt"/>
              <a:cs typeface="Arial" panose="020B0604020202020204" pitchFamily="34" charset="0"/>
            </a:endParaRPr>
          </a:p>
        </p:txBody>
      </p:sp>
      <p:sp>
        <p:nvSpPr>
          <p:cNvPr id="44" name="TextBox 43">
            <a:hlinkClick r:id="rId124" action="ppaction://hlinksldjump"/>
            <a:extLst>
              <a:ext uri="{FF2B5EF4-FFF2-40B4-BE49-F238E27FC236}">
                <a16:creationId xmlns:a16="http://schemas.microsoft.com/office/drawing/2014/main" id="{4CD051D5-A67B-46FC-A265-0EC8065CA524}"/>
              </a:ext>
            </a:extLst>
          </p:cNvPr>
          <p:cNvSpPr txBox="1"/>
          <p:nvPr>
            <p:custDataLst>
              <p:tags r:id="rId41"/>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1.</a:t>
            </a:r>
            <a:endParaRPr lang="en-GB" sz="2400" b="0" dirty="0">
              <a:ln>
                <a:noFill/>
              </a:ln>
              <a:solidFill>
                <a:schemeClr val="tx2"/>
              </a:solidFill>
              <a:latin typeface="+mj-lt"/>
              <a:cs typeface="Arial" panose="020B0604020202020204" pitchFamily="34" charset="0"/>
            </a:endParaRPr>
          </a:p>
        </p:txBody>
      </p:sp>
      <p:sp>
        <p:nvSpPr>
          <p:cNvPr id="45" name="TextBox 44">
            <a:hlinkClick r:id="rId130" action="ppaction://hlinksldjump"/>
            <a:extLst>
              <a:ext uri="{FF2B5EF4-FFF2-40B4-BE49-F238E27FC236}">
                <a16:creationId xmlns:a16="http://schemas.microsoft.com/office/drawing/2014/main" id="{48D33F59-6A72-4A5B-9978-8913C413ED4A}"/>
              </a:ext>
            </a:extLst>
          </p:cNvPr>
          <p:cNvSpPr txBox="1"/>
          <p:nvPr>
            <p:custDataLst>
              <p:tags r:id="rId42"/>
            </p:custDataLst>
          </p:nvPr>
        </p:nvSpPr>
        <p:spPr>
          <a:xfrm>
            <a:off x="798977" y="235212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2.</a:t>
            </a:r>
            <a:endParaRPr lang="en-GB" sz="2400" b="0" dirty="0">
              <a:ln>
                <a:noFill/>
              </a:ln>
              <a:solidFill>
                <a:schemeClr val="tx2"/>
              </a:solidFill>
              <a:latin typeface="+mj-lt"/>
              <a:cs typeface="Arial" panose="020B0604020202020204" pitchFamily="34" charset="0"/>
            </a:endParaRPr>
          </a:p>
        </p:txBody>
      </p:sp>
      <p:sp>
        <p:nvSpPr>
          <p:cNvPr id="46" name="TextBox 45">
            <a:hlinkClick r:id="rId136" action="ppaction://hlinksldjump"/>
            <a:extLst>
              <a:ext uri="{FF2B5EF4-FFF2-40B4-BE49-F238E27FC236}">
                <a16:creationId xmlns:a16="http://schemas.microsoft.com/office/drawing/2014/main" id="{8ED43508-F6AF-409C-99AE-ACF0315CEF7B}"/>
              </a:ext>
            </a:extLst>
          </p:cNvPr>
          <p:cNvSpPr txBox="1"/>
          <p:nvPr>
            <p:custDataLst>
              <p:tags r:id="rId43"/>
            </p:custDataLst>
          </p:nvPr>
        </p:nvSpPr>
        <p:spPr>
          <a:xfrm>
            <a:off x="798977" y="3474881"/>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3.</a:t>
            </a:r>
            <a:endParaRPr lang="en-GB" sz="2400" b="0" dirty="0">
              <a:ln>
                <a:noFill/>
              </a:ln>
              <a:solidFill>
                <a:schemeClr val="tx2"/>
              </a:solidFill>
              <a:latin typeface="+mj-lt"/>
              <a:cs typeface="Arial" panose="020B0604020202020204" pitchFamily="34" charset="0"/>
            </a:endParaRPr>
          </a:p>
        </p:txBody>
      </p:sp>
      <p:sp>
        <p:nvSpPr>
          <p:cNvPr id="47" name="TextBox 46">
            <a:hlinkClick r:id="rId141" action="ppaction://hlinksldjump"/>
            <a:extLst>
              <a:ext uri="{FF2B5EF4-FFF2-40B4-BE49-F238E27FC236}">
                <a16:creationId xmlns:a16="http://schemas.microsoft.com/office/drawing/2014/main" id="{DC03324A-AB43-4304-B6ED-BB517340D09F}"/>
              </a:ext>
            </a:extLst>
          </p:cNvPr>
          <p:cNvSpPr txBox="1"/>
          <p:nvPr>
            <p:custDataLst>
              <p:tags r:id="rId44"/>
            </p:custDataLst>
          </p:nvPr>
        </p:nvSpPr>
        <p:spPr>
          <a:xfrm>
            <a:off x="798977" y="4458941"/>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4.</a:t>
            </a:r>
            <a:endParaRPr lang="en-GB" sz="2400" b="0" dirty="0">
              <a:ln>
                <a:noFill/>
              </a:ln>
              <a:solidFill>
                <a:schemeClr val="tx2"/>
              </a:solidFill>
              <a:latin typeface="+mj-lt"/>
              <a:cs typeface="Arial" panose="020B0604020202020204" pitchFamily="34" charset="0"/>
            </a:endParaRPr>
          </a:p>
        </p:txBody>
      </p:sp>
      <p:sp>
        <p:nvSpPr>
          <p:cNvPr id="48" name="TextBox 47">
            <a:hlinkClick r:id="rId148" action="ppaction://hlinksldjump"/>
            <a:extLst>
              <a:ext uri="{FF2B5EF4-FFF2-40B4-BE49-F238E27FC236}">
                <a16:creationId xmlns:a16="http://schemas.microsoft.com/office/drawing/2014/main" id="{9E37EFBD-A434-4A40-835B-17816D1A21D7}"/>
              </a:ext>
            </a:extLst>
          </p:cNvPr>
          <p:cNvSpPr txBox="1"/>
          <p:nvPr>
            <p:custDataLst>
              <p:tags r:id="rId45"/>
            </p:custDataLst>
          </p:nvPr>
        </p:nvSpPr>
        <p:spPr>
          <a:xfrm>
            <a:off x="5453759" y="122936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5.</a:t>
            </a:r>
            <a:endParaRPr lang="en-GB" sz="2400" b="0" dirty="0">
              <a:ln>
                <a:noFill/>
              </a:ln>
              <a:solidFill>
                <a:schemeClr val="tx2"/>
              </a:solidFill>
              <a:latin typeface="+mj-lt"/>
              <a:cs typeface="Arial" panose="020B0604020202020204" pitchFamily="34" charset="0"/>
            </a:endParaRPr>
          </a:p>
        </p:txBody>
      </p:sp>
      <p:sp>
        <p:nvSpPr>
          <p:cNvPr id="49" name="TextBox 48">
            <a:hlinkClick r:id="rId152" action="ppaction://hlinksldjump"/>
            <a:extLst>
              <a:ext uri="{FF2B5EF4-FFF2-40B4-BE49-F238E27FC236}">
                <a16:creationId xmlns:a16="http://schemas.microsoft.com/office/drawing/2014/main" id="{57FC806A-5DB3-4032-9473-7E5FA365C59A}"/>
              </a:ext>
            </a:extLst>
          </p:cNvPr>
          <p:cNvSpPr txBox="1"/>
          <p:nvPr>
            <p:custDataLst>
              <p:tags r:id="rId46"/>
            </p:custDataLst>
          </p:nvPr>
        </p:nvSpPr>
        <p:spPr>
          <a:xfrm>
            <a:off x="5453759" y="207472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6.</a:t>
            </a:r>
            <a:endParaRPr lang="en-GB" sz="2400" b="0" dirty="0">
              <a:ln>
                <a:noFill/>
              </a:ln>
              <a:solidFill>
                <a:schemeClr val="tx2"/>
              </a:solidFill>
              <a:latin typeface="+mj-lt"/>
              <a:cs typeface="Arial" panose="020B0604020202020204" pitchFamily="34" charset="0"/>
            </a:endParaRPr>
          </a:p>
        </p:txBody>
      </p:sp>
      <p:sp>
        <p:nvSpPr>
          <p:cNvPr id="50" name="TextBox 49">
            <a:hlinkClick r:id="rId155" action="ppaction://hlinksldjump"/>
            <a:extLst>
              <a:ext uri="{FF2B5EF4-FFF2-40B4-BE49-F238E27FC236}">
                <a16:creationId xmlns:a16="http://schemas.microsoft.com/office/drawing/2014/main" id="{B8197C57-E9F4-4412-992A-8A51584913A5}"/>
              </a:ext>
            </a:extLst>
          </p:cNvPr>
          <p:cNvSpPr txBox="1"/>
          <p:nvPr>
            <p:custDataLst>
              <p:tags r:id="rId47"/>
            </p:custDataLst>
          </p:nvPr>
        </p:nvSpPr>
        <p:spPr>
          <a:xfrm>
            <a:off x="5453759" y="278138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7.</a:t>
            </a:r>
            <a:endParaRPr lang="en-GB" sz="2400" b="0" dirty="0">
              <a:ln>
                <a:noFill/>
              </a:ln>
              <a:solidFill>
                <a:schemeClr val="tx2"/>
              </a:solidFill>
              <a:latin typeface="+mj-lt"/>
              <a:cs typeface="Arial" panose="020B0604020202020204" pitchFamily="34" charset="0"/>
            </a:endParaRPr>
          </a:p>
        </p:txBody>
      </p:sp>
      <p:sp>
        <p:nvSpPr>
          <p:cNvPr id="51" name="TextBox 50">
            <a:hlinkClick r:id="rId124" action="ppaction://hlinksldjump"/>
            <a:extLst>
              <a:ext uri="{FF2B5EF4-FFF2-40B4-BE49-F238E27FC236}">
                <a16:creationId xmlns:a16="http://schemas.microsoft.com/office/drawing/2014/main" id="{153244BA-DC01-412F-9FF7-D84FBD4DEDD4}"/>
              </a:ext>
            </a:extLst>
          </p:cNvPr>
          <p:cNvSpPr txBox="1"/>
          <p:nvPr>
            <p:custDataLst>
              <p:tags r:id="rId48"/>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4</a:t>
            </a:r>
            <a:endParaRPr lang="en-GB" sz="2000" b="0" dirty="0">
              <a:solidFill>
                <a:schemeClr val="tx2"/>
              </a:solidFill>
              <a:latin typeface="+mj-lt"/>
              <a:cs typeface="Arial" panose="020B0604020202020204" pitchFamily="34" charset="0"/>
            </a:endParaRPr>
          </a:p>
        </p:txBody>
      </p:sp>
      <p:sp>
        <p:nvSpPr>
          <p:cNvPr id="52" name="TextBox 51">
            <a:hlinkClick r:id="rId130" action="ppaction://hlinksldjump"/>
            <a:extLst>
              <a:ext uri="{FF2B5EF4-FFF2-40B4-BE49-F238E27FC236}">
                <a16:creationId xmlns:a16="http://schemas.microsoft.com/office/drawing/2014/main" id="{AA59FF20-7D07-42FD-96D1-441E5DAF9917}"/>
              </a:ext>
            </a:extLst>
          </p:cNvPr>
          <p:cNvSpPr txBox="1"/>
          <p:nvPr>
            <p:custDataLst>
              <p:tags r:id="rId49"/>
            </p:custDataLst>
          </p:nvPr>
        </p:nvSpPr>
        <p:spPr>
          <a:xfrm>
            <a:off x="5245758" y="235020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19</a:t>
            </a:r>
            <a:endParaRPr lang="en-GB" sz="2000" b="0" dirty="0">
              <a:solidFill>
                <a:schemeClr val="tx2"/>
              </a:solidFill>
              <a:latin typeface="+mj-lt"/>
              <a:cs typeface="Arial" panose="020B0604020202020204" pitchFamily="34" charset="0"/>
            </a:endParaRPr>
          </a:p>
        </p:txBody>
      </p:sp>
      <p:sp>
        <p:nvSpPr>
          <p:cNvPr id="53" name="TextBox 52">
            <a:hlinkClick r:id="rId136" action="ppaction://hlinksldjump"/>
            <a:extLst>
              <a:ext uri="{FF2B5EF4-FFF2-40B4-BE49-F238E27FC236}">
                <a16:creationId xmlns:a16="http://schemas.microsoft.com/office/drawing/2014/main" id="{7F931DE7-937A-4ECE-9395-5E650E619B96}"/>
              </a:ext>
            </a:extLst>
          </p:cNvPr>
          <p:cNvSpPr txBox="1"/>
          <p:nvPr>
            <p:custDataLst>
              <p:tags r:id="rId50"/>
            </p:custDataLst>
          </p:nvPr>
        </p:nvSpPr>
        <p:spPr>
          <a:xfrm>
            <a:off x="5245758" y="3472970"/>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43</a:t>
            </a:r>
            <a:endParaRPr lang="en-GB" sz="2000" b="0" dirty="0">
              <a:solidFill>
                <a:schemeClr val="tx2"/>
              </a:solidFill>
              <a:latin typeface="+mj-lt"/>
              <a:cs typeface="Arial" panose="020B0604020202020204" pitchFamily="34" charset="0"/>
            </a:endParaRPr>
          </a:p>
        </p:txBody>
      </p:sp>
      <p:sp>
        <p:nvSpPr>
          <p:cNvPr id="54" name="TextBox 53">
            <a:hlinkClick r:id="rId141" action="ppaction://hlinksldjump"/>
            <a:extLst>
              <a:ext uri="{FF2B5EF4-FFF2-40B4-BE49-F238E27FC236}">
                <a16:creationId xmlns:a16="http://schemas.microsoft.com/office/drawing/2014/main" id="{882FD39A-7161-459C-BF03-A405811EF686}"/>
              </a:ext>
            </a:extLst>
          </p:cNvPr>
          <p:cNvSpPr txBox="1"/>
          <p:nvPr>
            <p:custDataLst>
              <p:tags r:id="rId51"/>
            </p:custDataLst>
          </p:nvPr>
        </p:nvSpPr>
        <p:spPr>
          <a:xfrm>
            <a:off x="5245758" y="4457030"/>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53</a:t>
            </a:r>
            <a:endParaRPr lang="en-GB" sz="2000" b="0" dirty="0">
              <a:solidFill>
                <a:schemeClr val="tx2"/>
              </a:solidFill>
              <a:latin typeface="+mj-lt"/>
              <a:cs typeface="Arial" panose="020B0604020202020204" pitchFamily="34" charset="0"/>
            </a:endParaRPr>
          </a:p>
        </p:txBody>
      </p:sp>
      <p:sp>
        <p:nvSpPr>
          <p:cNvPr id="55" name="TextBox 54">
            <a:hlinkClick r:id="rId148" action="ppaction://hlinksldjump"/>
            <a:extLst>
              <a:ext uri="{FF2B5EF4-FFF2-40B4-BE49-F238E27FC236}">
                <a16:creationId xmlns:a16="http://schemas.microsoft.com/office/drawing/2014/main" id="{D1E6AF84-5EE2-4273-8E43-11E10CA41880}"/>
              </a:ext>
            </a:extLst>
          </p:cNvPr>
          <p:cNvSpPr txBox="1"/>
          <p:nvPr>
            <p:custDataLst>
              <p:tags r:id="rId52"/>
            </p:custDataLst>
          </p:nvPr>
        </p:nvSpPr>
        <p:spPr>
          <a:xfrm>
            <a:off x="10374885" y="122744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74</a:t>
            </a:r>
            <a:endParaRPr lang="en-GB" sz="2000" b="0" dirty="0">
              <a:solidFill>
                <a:schemeClr val="tx2"/>
              </a:solidFill>
              <a:latin typeface="+mj-lt"/>
              <a:cs typeface="Arial" panose="020B0604020202020204" pitchFamily="34" charset="0"/>
            </a:endParaRPr>
          </a:p>
        </p:txBody>
      </p:sp>
      <p:sp>
        <p:nvSpPr>
          <p:cNvPr id="56" name="TextBox 55">
            <a:hlinkClick r:id="rId152" action="ppaction://hlinksldjump"/>
            <a:extLst>
              <a:ext uri="{FF2B5EF4-FFF2-40B4-BE49-F238E27FC236}">
                <a16:creationId xmlns:a16="http://schemas.microsoft.com/office/drawing/2014/main" id="{F63B324F-80C9-48D9-88DD-25102438218B}"/>
              </a:ext>
            </a:extLst>
          </p:cNvPr>
          <p:cNvSpPr txBox="1"/>
          <p:nvPr>
            <p:custDataLst>
              <p:tags r:id="rId53"/>
            </p:custDataLst>
          </p:nvPr>
        </p:nvSpPr>
        <p:spPr>
          <a:xfrm>
            <a:off x="10374885" y="207280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78</a:t>
            </a:r>
            <a:endParaRPr lang="en-GB" sz="2000" b="0" dirty="0">
              <a:solidFill>
                <a:schemeClr val="tx2"/>
              </a:solidFill>
              <a:latin typeface="+mj-lt"/>
              <a:cs typeface="Arial" panose="020B0604020202020204" pitchFamily="34" charset="0"/>
            </a:endParaRPr>
          </a:p>
        </p:txBody>
      </p:sp>
      <p:sp>
        <p:nvSpPr>
          <p:cNvPr id="57" name="TextBox 56">
            <a:hlinkClick r:id="rId155" action="ppaction://hlinksldjump"/>
            <a:extLst>
              <a:ext uri="{FF2B5EF4-FFF2-40B4-BE49-F238E27FC236}">
                <a16:creationId xmlns:a16="http://schemas.microsoft.com/office/drawing/2014/main" id="{8B971820-14E8-4A83-8283-1FD067E9CE44}"/>
              </a:ext>
            </a:extLst>
          </p:cNvPr>
          <p:cNvSpPr txBox="1"/>
          <p:nvPr>
            <p:custDataLst>
              <p:tags r:id="rId54"/>
            </p:custDataLst>
          </p:nvPr>
        </p:nvSpPr>
        <p:spPr>
          <a:xfrm>
            <a:off x="10374885" y="277946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82</a:t>
            </a:r>
            <a:endParaRPr lang="en-GB" sz="2000" b="0" dirty="0">
              <a:solidFill>
                <a:schemeClr val="tx2"/>
              </a:solidFill>
              <a:latin typeface="+mj-lt"/>
              <a:cs typeface="Arial" panose="020B0604020202020204" pitchFamily="34" charset="0"/>
            </a:endParaRPr>
          </a:p>
        </p:txBody>
      </p:sp>
      <p:sp>
        <p:nvSpPr>
          <p:cNvPr id="58" name="TextBox 57">
            <a:hlinkClick r:id="rId125" action="ppaction://hlinksldjump"/>
            <a:extLst>
              <a:ext uri="{FF2B5EF4-FFF2-40B4-BE49-F238E27FC236}">
                <a16:creationId xmlns:a16="http://schemas.microsoft.com/office/drawing/2014/main" id="{58D7ABD0-93A0-4B45-AF63-886F8545FEA0}"/>
              </a:ext>
            </a:extLst>
          </p:cNvPr>
          <p:cNvSpPr txBox="1"/>
          <p:nvPr>
            <p:custDataLst>
              <p:tags r:id="rId55"/>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1.1</a:t>
            </a:r>
          </a:p>
        </p:txBody>
      </p:sp>
      <p:sp>
        <p:nvSpPr>
          <p:cNvPr id="59" name="TextBox 58">
            <a:hlinkClick r:id="rId126" action="ppaction://hlinksldjump"/>
            <a:extLst>
              <a:ext uri="{FF2B5EF4-FFF2-40B4-BE49-F238E27FC236}">
                <a16:creationId xmlns:a16="http://schemas.microsoft.com/office/drawing/2014/main" id="{56BBAD47-A27B-4C35-B006-F7F03108E3E0}"/>
              </a:ext>
            </a:extLst>
          </p:cNvPr>
          <p:cNvSpPr txBox="1"/>
          <p:nvPr>
            <p:custDataLst>
              <p:tags r:id="rId56"/>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1.2</a:t>
            </a:r>
          </a:p>
        </p:txBody>
      </p:sp>
      <p:sp>
        <p:nvSpPr>
          <p:cNvPr id="60" name="TextBox 59">
            <a:hlinkClick r:id="rId127" action="ppaction://hlinksldjump"/>
            <a:extLst>
              <a:ext uri="{FF2B5EF4-FFF2-40B4-BE49-F238E27FC236}">
                <a16:creationId xmlns:a16="http://schemas.microsoft.com/office/drawing/2014/main" id="{BBEB713A-662D-4CA3-A326-76EC1F3F1EF7}"/>
              </a:ext>
            </a:extLst>
          </p:cNvPr>
          <p:cNvSpPr txBox="1"/>
          <p:nvPr>
            <p:custDataLst>
              <p:tags r:id="rId57"/>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1.3</a:t>
            </a:r>
          </a:p>
        </p:txBody>
      </p:sp>
      <p:sp>
        <p:nvSpPr>
          <p:cNvPr id="61" name="TextBox 60">
            <a:hlinkClick r:id="rId128" action="ppaction://hlinksldjump"/>
            <a:extLst>
              <a:ext uri="{FF2B5EF4-FFF2-40B4-BE49-F238E27FC236}">
                <a16:creationId xmlns:a16="http://schemas.microsoft.com/office/drawing/2014/main" id="{B093E414-F054-41F2-9C7C-114C656EB38D}"/>
              </a:ext>
            </a:extLst>
          </p:cNvPr>
          <p:cNvSpPr txBox="1"/>
          <p:nvPr>
            <p:custDataLst>
              <p:tags r:id="rId58"/>
            </p:custDataLst>
          </p:nvPr>
        </p:nvSpPr>
        <p:spPr>
          <a:xfrm>
            <a:off x="296316" y="20239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1.4</a:t>
            </a:r>
          </a:p>
        </p:txBody>
      </p:sp>
      <p:sp>
        <p:nvSpPr>
          <p:cNvPr id="62" name="TextBox 61">
            <a:hlinkClick r:id="rId129" action="ppaction://hlinksldjump"/>
            <a:extLst>
              <a:ext uri="{FF2B5EF4-FFF2-40B4-BE49-F238E27FC236}">
                <a16:creationId xmlns:a16="http://schemas.microsoft.com/office/drawing/2014/main" id="{21EA634B-4F3E-457A-9C35-ACB49704E154}"/>
              </a:ext>
            </a:extLst>
          </p:cNvPr>
          <p:cNvSpPr txBox="1"/>
          <p:nvPr>
            <p:custDataLst>
              <p:tags r:id="rId59"/>
            </p:custDataLst>
          </p:nvPr>
        </p:nvSpPr>
        <p:spPr>
          <a:xfrm>
            <a:off x="296316" y="21626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1.5</a:t>
            </a:r>
          </a:p>
        </p:txBody>
      </p:sp>
      <p:sp>
        <p:nvSpPr>
          <p:cNvPr id="63" name="TextBox 62">
            <a:hlinkClick r:id="rId131" action="ppaction://hlinksldjump"/>
            <a:extLst>
              <a:ext uri="{FF2B5EF4-FFF2-40B4-BE49-F238E27FC236}">
                <a16:creationId xmlns:a16="http://schemas.microsoft.com/office/drawing/2014/main" id="{995AE167-C359-4280-A0EF-C8481B4320F2}"/>
              </a:ext>
            </a:extLst>
          </p:cNvPr>
          <p:cNvSpPr txBox="1"/>
          <p:nvPr>
            <p:custDataLst>
              <p:tags r:id="rId60"/>
            </p:custDataLst>
          </p:nvPr>
        </p:nvSpPr>
        <p:spPr>
          <a:xfrm>
            <a:off x="296316" y="27305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2.1</a:t>
            </a:r>
          </a:p>
        </p:txBody>
      </p:sp>
      <p:sp>
        <p:nvSpPr>
          <p:cNvPr id="3584" name="TextBox 3583">
            <a:hlinkClick r:id="rId132" action="ppaction://hlinksldjump"/>
            <a:extLst>
              <a:ext uri="{FF2B5EF4-FFF2-40B4-BE49-F238E27FC236}">
                <a16:creationId xmlns:a16="http://schemas.microsoft.com/office/drawing/2014/main" id="{83BFB68A-37B4-4FAC-A9C6-27252AAFE948}"/>
              </a:ext>
            </a:extLst>
          </p:cNvPr>
          <p:cNvSpPr txBox="1"/>
          <p:nvPr>
            <p:custDataLst>
              <p:tags r:id="rId61"/>
            </p:custDataLst>
          </p:nvPr>
        </p:nvSpPr>
        <p:spPr>
          <a:xfrm>
            <a:off x="296316" y="28692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2.2</a:t>
            </a:r>
          </a:p>
        </p:txBody>
      </p:sp>
      <p:sp>
        <p:nvSpPr>
          <p:cNvPr id="3585" name="TextBox 3584">
            <a:hlinkClick r:id="rId133" action="ppaction://hlinksldjump"/>
            <a:extLst>
              <a:ext uri="{FF2B5EF4-FFF2-40B4-BE49-F238E27FC236}">
                <a16:creationId xmlns:a16="http://schemas.microsoft.com/office/drawing/2014/main" id="{A8600D50-75B8-4EFC-8A00-FBBFDA16B0DD}"/>
              </a:ext>
            </a:extLst>
          </p:cNvPr>
          <p:cNvSpPr txBox="1"/>
          <p:nvPr>
            <p:custDataLst>
              <p:tags r:id="rId62"/>
            </p:custDataLst>
          </p:nvPr>
        </p:nvSpPr>
        <p:spPr>
          <a:xfrm>
            <a:off x="296316" y="30079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2.3</a:t>
            </a:r>
          </a:p>
        </p:txBody>
      </p:sp>
      <p:sp>
        <p:nvSpPr>
          <p:cNvPr id="3586" name="TextBox 3585">
            <a:hlinkClick r:id="rId134" action="ppaction://hlinksldjump"/>
            <a:extLst>
              <a:ext uri="{FF2B5EF4-FFF2-40B4-BE49-F238E27FC236}">
                <a16:creationId xmlns:a16="http://schemas.microsoft.com/office/drawing/2014/main" id="{C1E0A926-A51A-46F5-BAE8-23196FD5D870}"/>
              </a:ext>
            </a:extLst>
          </p:cNvPr>
          <p:cNvSpPr txBox="1"/>
          <p:nvPr>
            <p:custDataLst>
              <p:tags r:id="rId63"/>
            </p:custDataLst>
          </p:nvPr>
        </p:nvSpPr>
        <p:spPr>
          <a:xfrm>
            <a:off x="296316" y="31466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2.4</a:t>
            </a:r>
          </a:p>
        </p:txBody>
      </p:sp>
      <p:sp>
        <p:nvSpPr>
          <p:cNvPr id="3587" name="TextBox 3586">
            <a:hlinkClick r:id="rId135" action="ppaction://hlinksldjump"/>
            <a:extLst>
              <a:ext uri="{FF2B5EF4-FFF2-40B4-BE49-F238E27FC236}">
                <a16:creationId xmlns:a16="http://schemas.microsoft.com/office/drawing/2014/main" id="{2C2A7EBF-06D1-4978-8DEE-CAA807E1D874}"/>
              </a:ext>
            </a:extLst>
          </p:cNvPr>
          <p:cNvSpPr txBox="1"/>
          <p:nvPr>
            <p:custDataLst>
              <p:tags r:id="rId64"/>
            </p:custDataLst>
          </p:nvPr>
        </p:nvSpPr>
        <p:spPr>
          <a:xfrm>
            <a:off x="296316" y="32853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2.5</a:t>
            </a:r>
          </a:p>
        </p:txBody>
      </p:sp>
      <p:sp>
        <p:nvSpPr>
          <p:cNvPr id="3588" name="TextBox 3587">
            <a:hlinkClick r:id="rId137" action="ppaction://hlinksldjump"/>
            <a:extLst>
              <a:ext uri="{FF2B5EF4-FFF2-40B4-BE49-F238E27FC236}">
                <a16:creationId xmlns:a16="http://schemas.microsoft.com/office/drawing/2014/main" id="{7AF51C21-126F-4B12-8070-C4E2F6A999C4}"/>
              </a:ext>
            </a:extLst>
          </p:cNvPr>
          <p:cNvSpPr txBox="1"/>
          <p:nvPr>
            <p:custDataLst>
              <p:tags r:id="rId65"/>
            </p:custDataLst>
          </p:nvPr>
        </p:nvSpPr>
        <p:spPr>
          <a:xfrm>
            <a:off x="296316" y="38533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3.1</a:t>
            </a:r>
          </a:p>
        </p:txBody>
      </p:sp>
      <p:sp>
        <p:nvSpPr>
          <p:cNvPr id="3589" name="TextBox 3588">
            <a:hlinkClick r:id="rId138" action="ppaction://hlinksldjump"/>
            <a:extLst>
              <a:ext uri="{FF2B5EF4-FFF2-40B4-BE49-F238E27FC236}">
                <a16:creationId xmlns:a16="http://schemas.microsoft.com/office/drawing/2014/main" id="{FF100948-07FA-43A2-B07D-D3D7F0C78F36}"/>
              </a:ext>
            </a:extLst>
          </p:cNvPr>
          <p:cNvSpPr txBox="1"/>
          <p:nvPr>
            <p:custDataLst>
              <p:tags r:id="rId66"/>
            </p:custDataLst>
          </p:nvPr>
        </p:nvSpPr>
        <p:spPr>
          <a:xfrm>
            <a:off x="296316" y="39920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3.2</a:t>
            </a:r>
          </a:p>
        </p:txBody>
      </p:sp>
      <p:sp>
        <p:nvSpPr>
          <p:cNvPr id="3590" name="TextBox 3589">
            <a:hlinkClick r:id="rId139" action="ppaction://hlinksldjump"/>
            <a:extLst>
              <a:ext uri="{FF2B5EF4-FFF2-40B4-BE49-F238E27FC236}">
                <a16:creationId xmlns:a16="http://schemas.microsoft.com/office/drawing/2014/main" id="{F655F2D9-5078-4893-B728-2D8B49AEABD5}"/>
              </a:ext>
            </a:extLst>
          </p:cNvPr>
          <p:cNvSpPr txBox="1"/>
          <p:nvPr>
            <p:custDataLst>
              <p:tags r:id="rId67"/>
            </p:custDataLst>
          </p:nvPr>
        </p:nvSpPr>
        <p:spPr>
          <a:xfrm>
            <a:off x="296316" y="41307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3.3</a:t>
            </a:r>
          </a:p>
        </p:txBody>
      </p:sp>
      <p:sp>
        <p:nvSpPr>
          <p:cNvPr id="3591" name="TextBox 3590">
            <a:hlinkClick r:id="rId140" action="ppaction://hlinksldjump"/>
            <a:extLst>
              <a:ext uri="{FF2B5EF4-FFF2-40B4-BE49-F238E27FC236}">
                <a16:creationId xmlns:a16="http://schemas.microsoft.com/office/drawing/2014/main" id="{85ACBBF3-FE5B-4B06-8E1C-5081D2DC0889}"/>
              </a:ext>
            </a:extLst>
          </p:cNvPr>
          <p:cNvSpPr txBox="1"/>
          <p:nvPr>
            <p:custDataLst>
              <p:tags r:id="rId68"/>
            </p:custDataLst>
          </p:nvPr>
        </p:nvSpPr>
        <p:spPr>
          <a:xfrm>
            <a:off x="296316" y="42694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3.4</a:t>
            </a:r>
          </a:p>
        </p:txBody>
      </p:sp>
      <p:sp>
        <p:nvSpPr>
          <p:cNvPr id="3592" name="TextBox 3591">
            <a:hlinkClick r:id="rId142" action="ppaction://hlinksldjump"/>
            <a:extLst>
              <a:ext uri="{FF2B5EF4-FFF2-40B4-BE49-F238E27FC236}">
                <a16:creationId xmlns:a16="http://schemas.microsoft.com/office/drawing/2014/main" id="{3B59B106-3FFF-46B7-A299-DDD81A5D3767}"/>
              </a:ext>
            </a:extLst>
          </p:cNvPr>
          <p:cNvSpPr txBox="1"/>
          <p:nvPr>
            <p:custDataLst>
              <p:tags r:id="rId69"/>
            </p:custDataLst>
          </p:nvPr>
        </p:nvSpPr>
        <p:spPr>
          <a:xfrm>
            <a:off x="296316" y="483740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4.1</a:t>
            </a:r>
          </a:p>
        </p:txBody>
      </p:sp>
      <p:sp>
        <p:nvSpPr>
          <p:cNvPr id="3593" name="TextBox 3592">
            <a:hlinkClick r:id="rId143" action="ppaction://hlinksldjump"/>
            <a:extLst>
              <a:ext uri="{FF2B5EF4-FFF2-40B4-BE49-F238E27FC236}">
                <a16:creationId xmlns:a16="http://schemas.microsoft.com/office/drawing/2014/main" id="{A383A3B3-C1FD-49F2-A6B0-062B31E297EC}"/>
              </a:ext>
            </a:extLst>
          </p:cNvPr>
          <p:cNvSpPr txBox="1"/>
          <p:nvPr>
            <p:custDataLst>
              <p:tags r:id="rId70"/>
            </p:custDataLst>
          </p:nvPr>
        </p:nvSpPr>
        <p:spPr>
          <a:xfrm>
            <a:off x="296316" y="49761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4.2</a:t>
            </a:r>
          </a:p>
        </p:txBody>
      </p:sp>
      <p:sp>
        <p:nvSpPr>
          <p:cNvPr id="3594" name="TextBox 3593">
            <a:hlinkClick r:id="rId144" action="ppaction://hlinksldjump"/>
            <a:extLst>
              <a:ext uri="{FF2B5EF4-FFF2-40B4-BE49-F238E27FC236}">
                <a16:creationId xmlns:a16="http://schemas.microsoft.com/office/drawing/2014/main" id="{A6FC22A1-A078-475B-BA41-8EE6593F0CD3}"/>
              </a:ext>
            </a:extLst>
          </p:cNvPr>
          <p:cNvSpPr txBox="1"/>
          <p:nvPr>
            <p:custDataLst>
              <p:tags r:id="rId71"/>
            </p:custDataLst>
          </p:nvPr>
        </p:nvSpPr>
        <p:spPr>
          <a:xfrm>
            <a:off x="296316" y="51148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4.3</a:t>
            </a:r>
          </a:p>
        </p:txBody>
      </p:sp>
      <p:sp>
        <p:nvSpPr>
          <p:cNvPr id="3595" name="TextBox 3594">
            <a:hlinkClick r:id="rId145" action="ppaction://hlinksldjump"/>
            <a:extLst>
              <a:ext uri="{FF2B5EF4-FFF2-40B4-BE49-F238E27FC236}">
                <a16:creationId xmlns:a16="http://schemas.microsoft.com/office/drawing/2014/main" id="{CEB60EF9-71AD-4BF5-A5F4-12141E3AB5B7}"/>
              </a:ext>
            </a:extLst>
          </p:cNvPr>
          <p:cNvSpPr txBox="1"/>
          <p:nvPr>
            <p:custDataLst>
              <p:tags r:id="rId72"/>
            </p:custDataLst>
          </p:nvPr>
        </p:nvSpPr>
        <p:spPr>
          <a:xfrm>
            <a:off x="296316" y="52535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4.4</a:t>
            </a:r>
          </a:p>
        </p:txBody>
      </p:sp>
      <p:sp>
        <p:nvSpPr>
          <p:cNvPr id="3596" name="TextBox 3595">
            <a:hlinkClick r:id="rId146" action="ppaction://hlinksldjump"/>
            <a:extLst>
              <a:ext uri="{FF2B5EF4-FFF2-40B4-BE49-F238E27FC236}">
                <a16:creationId xmlns:a16="http://schemas.microsoft.com/office/drawing/2014/main" id="{73CFC4BF-C6E9-41FC-BC6B-BB0296645E81}"/>
              </a:ext>
            </a:extLst>
          </p:cNvPr>
          <p:cNvSpPr txBox="1"/>
          <p:nvPr>
            <p:custDataLst>
              <p:tags r:id="rId73"/>
            </p:custDataLst>
          </p:nvPr>
        </p:nvSpPr>
        <p:spPr>
          <a:xfrm>
            <a:off x="296316" y="53922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4.5</a:t>
            </a:r>
          </a:p>
        </p:txBody>
      </p:sp>
      <p:sp>
        <p:nvSpPr>
          <p:cNvPr id="3597" name="TextBox 3596">
            <a:hlinkClick r:id="rId147" action="ppaction://hlinksldjump"/>
            <a:extLst>
              <a:ext uri="{FF2B5EF4-FFF2-40B4-BE49-F238E27FC236}">
                <a16:creationId xmlns:a16="http://schemas.microsoft.com/office/drawing/2014/main" id="{42F77C26-E970-4549-BF9A-6B801DA9E23B}"/>
              </a:ext>
            </a:extLst>
          </p:cNvPr>
          <p:cNvSpPr txBox="1"/>
          <p:nvPr>
            <p:custDataLst>
              <p:tags r:id="rId74"/>
            </p:custDataLst>
          </p:nvPr>
        </p:nvSpPr>
        <p:spPr>
          <a:xfrm>
            <a:off x="296316" y="55309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4.6</a:t>
            </a:r>
          </a:p>
        </p:txBody>
      </p:sp>
      <p:sp>
        <p:nvSpPr>
          <p:cNvPr id="3598" name="TextBox 3597">
            <a:hlinkClick r:id="rId149" action="ppaction://hlinksldjump"/>
            <a:extLst>
              <a:ext uri="{FF2B5EF4-FFF2-40B4-BE49-F238E27FC236}">
                <a16:creationId xmlns:a16="http://schemas.microsoft.com/office/drawing/2014/main" id="{7D6F9A8E-53F5-4C2C-A0BE-3B7B2B4175FA}"/>
              </a:ext>
            </a:extLst>
          </p:cNvPr>
          <p:cNvSpPr txBox="1"/>
          <p:nvPr>
            <p:custDataLst>
              <p:tags r:id="rId75"/>
            </p:custDataLst>
          </p:nvPr>
        </p:nvSpPr>
        <p:spPr>
          <a:xfrm>
            <a:off x="4951098" y="16078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5.1</a:t>
            </a:r>
          </a:p>
        </p:txBody>
      </p:sp>
      <p:sp>
        <p:nvSpPr>
          <p:cNvPr id="3599" name="TextBox 3598">
            <a:hlinkClick r:id="rId150" action="ppaction://hlinksldjump"/>
            <a:extLst>
              <a:ext uri="{FF2B5EF4-FFF2-40B4-BE49-F238E27FC236}">
                <a16:creationId xmlns:a16="http://schemas.microsoft.com/office/drawing/2014/main" id="{1E1ACF00-95AB-474D-AEB6-A7612C489733}"/>
              </a:ext>
            </a:extLst>
          </p:cNvPr>
          <p:cNvSpPr txBox="1"/>
          <p:nvPr>
            <p:custDataLst>
              <p:tags r:id="rId76"/>
            </p:custDataLst>
          </p:nvPr>
        </p:nvSpPr>
        <p:spPr>
          <a:xfrm>
            <a:off x="4951098" y="17465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5.2</a:t>
            </a:r>
          </a:p>
        </p:txBody>
      </p:sp>
      <p:sp>
        <p:nvSpPr>
          <p:cNvPr id="3600" name="TextBox 3599">
            <a:hlinkClick r:id="rId151" action="ppaction://hlinksldjump"/>
            <a:extLst>
              <a:ext uri="{FF2B5EF4-FFF2-40B4-BE49-F238E27FC236}">
                <a16:creationId xmlns:a16="http://schemas.microsoft.com/office/drawing/2014/main" id="{A485BBD1-3DDD-4D43-94A5-8C9ECBFEB218}"/>
              </a:ext>
            </a:extLst>
          </p:cNvPr>
          <p:cNvSpPr txBox="1"/>
          <p:nvPr>
            <p:custDataLst>
              <p:tags r:id="rId77"/>
            </p:custDataLst>
          </p:nvPr>
        </p:nvSpPr>
        <p:spPr>
          <a:xfrm>
            <a:off x="4951098" y="18852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5.3</a:t>
            </a:r>
          </a:p>
        </p:txBody>
      </p:sp>
      <p:sp>
        <p:nvSpPr>
          <p:cNvPr id="3601" name="TextBox 3600">
            <a:hlinkClick r:id="rId153" action="ppaction://hlinksldjump"/>
            <a:extLst>
              <a:ext uri="{FF2B5EF4-FFF2-40B4-BE49-F238E27FC236}">
                <a16:creationId xmlns:a16="http://schemas.microsoft.com/office/drawing/2014/main" id="{D30E3444-4AF7-4A70-A2E9-4D072EA602F7}"/>
              </a:ext>
            </a:extLst>
          </p:cNvPr>
          <p:cNvSpPr txBox="1"/>
          <p:nvPr>
            <p:custDataLst>
              <p:tags r:id="rId78"/>
            </p:custDataLst>
          </p:nvPr>
        </p:nvSpPr>
        <p:spPr>
          <a:xfrm>
            <a:off x="4951098" y="24531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6.1</a:t>
            </a:r>
          </a:p>
        </p:txBody>
      </p:sp>
      <p:sp>
        <p:nvSpPr>
          <p:cNvPr id="3602" name="TextBox 3601">
            <a:hlinkClick r:id="rId154" action="ppaction://hlinksldjump"/>
            <a:extLst>
              <a:ext uri="{FF2B5EF4-FFF2-40B4-BE49-F238E27FC236}">
                <a16:creationId xmlns:a16="http://schemas.microsoft.com/office/drawing/2014/main" id="{6027867C-0FB3-4CAB-808F-32D19B0EB854}"/>
              </a:ext>
            </a:extLst>
          </p:cNvPr>
          <p:cNvSpPr txBox="1"/>
          <p:nvPr>
            <p:custDataLst>
              <p:tags r:id="rId79"/>
            </p:custDataLst>
          </p:nvPr>
        </p:nvSpPr>
        <p:spPr>
          <a:xfrm>
            <a:off x="4951098" y="25918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6.2</a:t>
            </a:r>
          </a:p>
        </p:txBody>
      </p:sp>
      <p:sp>
        <p:nvSpPr>
          <p:cNvPr id="3603" name="TextBox 3602">
            <a:hlinkClick r:id="rId156" action="ppaction://hlinksldjump"/>
            <a:extLst>
              <a:ext uri="{FF2B5EF4-FFF2-40B4-BE49-F238E27FC236}">
                <a16:creationId xmlns:a16="http://schemas.microsoft.com/office/drawing/2014/main" id="{4BDA4B9D-1E02-40E1-B729-664D33C19EBE}"/>
              </a:ext>
            </a:extLst>
          </p:cNvPr>
          <p:cNvSpPr txBox="1"/>
          <p:nvPr>
            <p:custDataLst>
              <p:tags r:id="rId80"/>
            </p:custDataLst>
          </p:nvPr>
        </p:nvSpPr>
        <p:spPr>
          <a:xfrm>
            <a:off x="4951098" y="31598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7.1</a:t>
            </a:r>
          </a:p>
        </p:txBody>
      </p:sp>
      <p:sp>
        <p:nvSpPr>
          <p:cNvPr id="3604" name="TextBox 3603">
            <a:hlinkClick r:id="rId157" action="ppaction://hlinksldjump"/>
            <a:extLst>
              <a:ext uri="{FF2B5EF4-FFF2-40B4-BE49-F238E27FC236}">
                <a16:creationId xmlns:a16="http://schemas.microsoft.com/office/drawing/2014/main" id="{0BAEFB26-6F12-480B-A7C0-88520A579732}"/>
              </a:ext>
            </a:extLst>
          </p:cNvPr>
          <p:cNvSpPr txBox="1"/>
          <p:nvPr>
            <p:custDataLst>
              <p:tags r:id="rId81"/>
            </p:custDataLst>
          </p:nvPr>
        </p:nvSpPr>
        <p:spPr>
          <a:xfrm>
            <a:off x="4951098" y="32985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7.2</a:t>
            </a:r>
          </a:p>
        </p:txBody>
      </p:sp>
      <p:sp>
        <p:nvSpPr>
          <p:cNvPr id="3605" name="TextBox 3604">
            <a:hlinkClick r:id="rId158" action="ppaction://hlinksldjump"/>
            <a:extLst>
              <a:ext uri="{FF2B5EF4-FFF2-40B4-BE49-F238E27FC236}">
                <a16:creationId xmlns:a16="http://schemas.microsoft.com/office/drawing/2014/main" id="{3FC18BD9-65F4-484A-898F-05AAD90B312D}"/>
              </a:ext>
            </a:extLst>
          </p:cNvPr>
          <p:cNvSpPr txBox="1"/>
          <p:nvPr>
            <p:custDataLst>
              <p:tags r:id="rId82"/>
            </p:custDataLst>
          </p:nvPr>
        </p:nvSpPr>
        <p:spPr>
          <a:xfrm>
            <a:off x="4951098" y="34372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7.3</a:t>
            </a:r>
          </a:p>
        </p:txBody>
      </p:sp>
      <p:sp>
        <p:nvSpPr>
          <p:cNvPr id="3606" name="TextBox 3605">
            <a:hlinkClick r:id="rId159" action="ppaction://hlinksldjump"/>
            <a:extLst>
              <a:ext uri="{FF2B5EF4-FFF2-40B4-BE49-F238E27FC236}">
                <a16:creationId xmlns:a16="http://schemas.microsoft.com/office/drawing/2014/main" id="{62042ACA-58F8-4F0C-8905-B2C16694CF50}"/>
              </a:ext>
            </a:extLst>
          </p:cNvPr>
          <p:cNvSpPr txBox="1"/>
          <p:nvPr>
            <p:custDataLst>
              <p:tags r:id="rId83"/>
            </p:custDataLst>
          </p:nvPr>
        </p:nvSpPr>
        <p:spPr>
          <a:xfrm>
            <a:off x="4951098" y="35759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7.4</a:t>
            </a:r>
          </a:p>
        </p:txBody>
      </p:sp>
      <p:sp>
        <p:nvSpPr>
          <p:cNvPr id="3607" name="TextBox 3606">
            <a:hlinkClick r:id="rId160" action="ppaction://hlinksldjump"/>
            <a:extLst>
              <a:ext uri="{FF2B5EF4-FFF2-40B4-BE49-F238E27FC236}">
                <a16:creationId xmlns:a16="http://schemas.microsoft.com/office/drawing/2014/main" id="{6F8C872B-D8E8-4A45-AC78-1850EB035BD9}"/>
              </a:ext>
            </a:extLst>
          </p:cNvPr>
          <p:cNvSpPr txBox="1"/>
          <p:nvPr>
            <p:custDataLst>
              <p:tags r:id="rId84"/>
            </p:custDataLst>
          </p:nvPr>
        </p:nvSpPr>
        <p:spPr>
          <a:xfrm>
            <a:off x="4951098" y="37146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7.5</a:t>
            </a:r>
          </a:p>
        </p:txBody>
      </p:sp>
      <p:sp>
        <p:nvSpPr>
          <p:cNvPr id="3608" name="TextBox 3607">
            <a:hlinkClick r:id="rId161" action="ppaction://hlinksldjump"/>
            <a:extLst>
              <a:ext uri="{FF2B5EF4-FFF2-40B4-BE49-F238E27FC236}">
                <a16:creationId xmlns:a16="http://schemas.microsoft.com/office/drawing/2014/main" id="{04453E32-51CF-48E3-8727-E69A9C51C07A}"/>
              </a:ext>
            </a:extLst>
          </p:cNvPr>
          <p:cNvSpPr txBox="1"/>
          <p:nvPr>
            <p:custDataLst>
              <p:tags r:id="rId85"/>
            </p:custDataLst>
          </p:nvPr>
        </p:nvSpPr>
        <p:spPr>
          <a:xfrm>
            <a:off x="4951098" y="38533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7.6</a:t>
            </a:r>
          </a:p>
        </p:txBody>
      </p:sp>
      <p:sp>
        <p:nvSpPr>
          <p:cNvPr id="3609" name="TextBox 3608">
            <a:hlinkClick r:id="rId162" action="ppaction://hlinksldjump"/>
            <a:extLst>
              <a:ext uri="{FF2B5EF4-FFF2-40B4-BE49-F238E27FC236}">
                <a16:creationId xmlns:a16="http://schemas.microsoft.com/office/drawing/2014/main" id="{8A285C40-5EAA-4AAA-8906-EF766C63E4D8}"/>
              </a:ext>
            </a:extLst>
          </p:cNvPr>
          <p:cNvSpPr txBox="1"/>
          <p:nvPr>
            <p:custDataLst>
              <p:tags r:id="rId86"/>
            </p:custDataLst>
          </p:nvPr>
        </p:nvSpPr>
        <p:spPr>
          <a:xfrm>
            <a:off x="4951098" y="399204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7.7</a:t>
            </a:r>
          </a:p>
        </p:txBody>
      </p:sp>
      <p:sp>
        <p:nvSpPr>
          <p:cNvPr id="3610" name="TextBox 3609">
            <a:hlinkClick r:id="rId125" action="ppaction://hlinksldjump"/>
            <a:extLst>
              <a:ext uri="{FF2B5EF4-FFF2-40B4-BE49-F238E27FC236}">
                <a16:creationId xmlns:a16="http://schemas.microsoft.com/office/drawing/2014/main" id="{3145F9B9-79D0-4AEF-941D-64E618DD29FC}"/>
              </a:ext>
            </a:extLst>
          </p:cNvPr>
          <p:cNvSpPr txBox="1"/>
          <p:nvPr>
            <p:custDataLst>
              <p:tags r:id="rId87"/>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a:t>
            </a:r>
            <a:endParaRPr lang="en-GB" sz="900" b="0" dirty="0">
              <a:solidFill>
                <a:schemeClr val="tx2"/>
              </a:solidFill>
              <a:latin typeface="+mn-lt"/>
              <a:cs typeface="Arial" panose="020B0604020202020204" pitchFamily="34" charset="0"/>
            </a:endParaRPr>
          </a:p>
        </p:txBody>
      </p:sp>
      <p:sp>
        <p:nvSpPr>
          <p:cNvPr id="3611" name="TextBox 3610">
            <a:hlinkClick r:id="rId126" action="ppaction://hlinksldjump"/>
            <a:extLst>
              <a:ext uri="{FF2B5EF4-FFF2-40B4-BE49-F238E27FC236}">
                <a16:creationId xmlns:a16="http://schemas.microsoft.com/office/drawing/2014/main" id="{9BEFD7A3-0E72-4B1C-9D97-E2D9F9ADDDBE}"/>
              </a:ext>
            </a:extLst>
          </p:cNvPr>
          <p:cNvSpPr txBox="1"/>
          <p:nvPr>
            <p:custDataLst>
              <p:tags r:id="rId88"/>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9</a:t>
            </a:r>
            <a:endParaRPr lang="en-GB" sz="900" b="0" dirty="0">
              <a:solidFill>
                <a:schemeClr val="tx2"/>
              </a:solidFill>
              <a:latin typeface="+mn-lt"/>
              <a:cs typeface="Arial" panose="020B0604020202020204" pitchFamily="34" charset="0"/>
            </a:endParaRPr>
          </a:p>
        </p:txBody>
      </p:sp>
      <p:sp>
        <p:nvSpPr>
          <p:cNvPr id="3612" name="TextBox 3611">
            <a:hlinkClick r:id="rId127" action="ppaction://hlinksldjump"/>
            <a:extLst>
              <a:ext uri="{FF2B5EF4-FFF2-40B4-BE49-F238E27FC236}">
                <a16:creationId xmlns:a16="http://schemas.microsoft.com/office/drawing/2014/main" id="{3C217A09-BBBF-4D8B-A150-0863551E373D}"/>
              </a:ext>
            </a:extLst>
          </p:cNvPr>
          <p:cNvSpPr txBox="1"/>
          <p:nvPr>
            <p:custDataLst>
              <p:tags r:id="rId89"/>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10</a:t>
            </a:r>
            <a:endParaRPr lang="en-GB" sz="900" b="0" dirty="0">
              <a:solidFill>
                <a:schemeClr val="tx2"/>
              </a:solidFill>
              <a:latin typeface="+mn-lt"/>
              <a:cs typeface="Arial" panose="020B0604020202020204" pitchFamily="34" charset="0"/>
            </a:endParaRPr>
          </a:p>
        </p:txBody>
      </p:sp>
      <p:sp>
        <p:nvSpPr>
          <p:cNvPr id="3613" name="TextBox 3612">
            <a:hlinkClick r:id="rId128" action="ppaction://hlinksldjump"/>
            <a:extLst>
              <a:ext uri="{FF2B5EF4-FFF2-40B4-BE49-F238E27FC236}">
                <a16:creationId xmlns:a16="http://schemas.microsoft.com/office/drawing/2014/main" id="{BD22CBD9-41EF-40C5-A0C8-7B07EB2DB9E5}"/>
              </a:ext>
            </a:extLst>
          </p:cNvPr>
          <p:cNvSpPr txBox="1"/>
          <p:nvPr>
            <p:custDataLst>
              <p:tags r:id="rId90"/>
            </p:custDataLst>
          </p:nvPr>
        </p:nvSpPr>
        <p:spPr>
          <a:xfrm>
            <a:off x="5245758" y="20239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11</a:t>
            </a:r>
            <a:endParaRPr lang="en-GB" sz="900" b="0" dirty="0">
              <a:solidFill>
                <a:schemeClr val="tx2"/>
              </a:solidFill>
              <a:latin typeface="+mn-lt"/>
              <a:cs typeface="Arial" panose="020B0604020202020204" pitchFamily="34" charset="0"/>
            </a:endParaRPr>
          </a:p>
        </p:txBody>
      </p:sp>
      <p:sp>
        <p:nvSpPr>
          <p:cNvPr id="3614" name="TextBox 3613">
            <a:hlinkClick r:id="rId129" action="ppaction://hlinksldjump"/>
            <a:extLst>
              <a:ext uri="{FF2B5EF4-FFF2-40B4-BE49-F238E27FC236}">
                <a16:creationId xmlns:a16="http://schemas.microsoft.com/office/drawing/2014/main" id="{A7FB1CF0-69AF-4B13-888B-651E058A0A69}"/>
              </a:ext>
            </a:extLst>
          </p:cNvPr>
          <p:cNvSpPr txBox="1"/>
          <p:nvPr>
            <p:custDataLst>
              <p:tags r:id="rId91"/>
            </p:custDataLst>
          </p:nvPr>
        </p:nvSpPr>
        <p:spPr>
          <a:xfrm>
            <a:off x="5245758" y="21626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15</a:t>
            </a:r>
            <a:endParaRPr lang="en-GB" sz="900" b="0" dirty="0">
              <a:solidFill>
                <a:schemeClr val="tx2"/>
              </a:solidFill>
              <a:latin typeface="+mn-lt"/>
              <a:cs typeface="Arial" panose="020B0604020202020204" pitchFamily="34" charset="0"/>
            </a:endParaRPr>
          </a:p>
        </p:txBody>
      </p:sp>
      <p:sp>
        <p:nvSpPr>
          <p:cNvPr id="3615" name="TextBox 3614">
            <a:hlinkClick r:id="rId131" action="ppaction://hlinksldjump"/>
            <a:extLst>
              <a:ext uri="{FF2B5EF4-FFF2-40B4-BE49-F238E27FC236}">
                <a16:creationId xmlns:a16="http://schemas.microsoft.com/office/drawing/2014/main" id="{CC47FDA2-EF7B-4E1D-9BBD-BF96ACDD9360}"/>
              </a:ext>
            </a:extLst>
          </p:cNvPr>
          <p:cNvSpPr txBox="1"/>
          <p:nvPr>
            <p:custDataLst>
              <p:tags r:id="rId92"/>
            </p:custDataLst>
          </p:nvPr>
        </p:nvSpPr>
        <p:spPr>
          <a:xfrm>
            <a:off x="5245758" y="27305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20</a:t>
            </a:r>
            <a:endParaRPr lang="en-GB" sz="900" b="0" dirty="0">
              <a:solidFill>
                <a:schemeClr val="tx2"/>
              </a:solidFill>
              <a:latin typeface="+mn-lt"/>
              <a:cs typeface="Arial" panose="020B0604020202020204" pitchFamily="34" charset="0"/>
            </a:endParaRPr>
          </a:p>
        </p:txBody>
      </p:sp>
      <p:sp>
        <p:nvSpPr>
          <p:cNvPr id="3616" name="TextBox 3615">
            <a:hlinkClick r:id="rId132" action="ppaction://hlinksldjump"/>
            <a:extLst>
              <a:ext uri="{FF2B5EF4-FFF2-40B4-BE49-F238E27FC236}">
                <a16:creationId xmlns:a16="http://schemas.microsoft.com/office/drawing/2014/main" id="{F3883DF9-CF99-4020-BDF9-D22BA0B44339}"/>
              </a:ext>
            </a:extLst>
          </p:cNvPr>
          <p:cNvSpPr txBox="1"/>
          <p:nvPr>
            <p:custDataLst>
              <p:tags r:id="rId93"/>
            </p:custDataLst>
          </p:nvPr>
        </p:nvSpPr>
        <p:spPr>
          <a:xfrm>
            <a:off x="5245758" y="28692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21</a:t>
            </a:r>
            <a:endParaRPr lang="en-GB" sz="900" b="0" dirty="0">
              <a:solidFill>
                <a:schemeClr val="tx2"/>
              </a:solidFill>
              <a:latin typeface="+mn-lt"/>
              <a:cs typeface="Arial" panose="020B0604020202020204" pitchFamily="34" charset="0"/>
            </a:endParaRPr>
          </a:p>
        </p:txBody>
      </p:sp>
      <p:sp>
        <p:nvSpPr>
          <p:cNvPr id="3617" name="TextBox 3616">
            <a:hlinkClick r:id="rId133" action="ppaction://hlinksldjump"/>
            <a:extLst>
              <a:ext uri="{FF2B5EF4-FFF2-40B4-BE49-F238E27FC236}">
                <a16:creationId xmlns:a16="http://schemas.microsoft.com/office/drawing/2014/main" id="{9A484216-E931-4512-82A5-4AD84815D27B}"/>
              </a:ext>
            </a:extLst>
          </p:cNvPr>
          <p:cNvSpPr txBox="1"/>
          <p:nvPr>
            <p:custDataLst>
              <p:tags r:id="rId94"/>
            </p:custDataLst>
          </p:nvPr>
        </p:nvSpPr>
        <p:spPr>
          <a:xfrm>
            <a:off x="5245758" y="30079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28</a:t>
            </a:r>
            <a:endParaRPr lang="en-GB" sz="900" b="0" dirty="0">
              <a:solidFill>
                <a:schemeClr val="tx2"/>
              </a:solidFill>
              <a:latin typeface="+mn-lt"/>
              <a:cs typeface="Arial" panose="020B0604020202020204" pitchFamily="34" charset="0"/>
            </a:endParaRPr>
          </a:p>
        </p:txBody>
      </p:sp>
      <p:sp>
        <p:nvSpPr>
          <p:cNvPr id="3618" name="TextBox 3617">
            <a:hlinkClick r:id="rId134" action="ppaction://hlinksldjump"/>
            <a:extLst>
              <a:ext uri="{FF2B5EF4-FFF2-40B4-BE49-F238E27FC236}">
                <a16:creationId xmlns:a16="http://schemas.microsoft.com/office/drawing/2014/main" id="{2F59E685-B2C3-48BF-A8E4-5C95DB44E681}"/>
              </a:ext>
            </a:extLst>
          </p:cNvPr>
          <p:cNvSpPr txBox="1"/>
          <p:nvPr>
            <p:custDataLst>
              <p:tags r:id="rId95"/>
            </p:custDataLst>
          </p:nvPr>
        </p:nvSpPr>
        <p:spPr>
          <a:xfrm>
            <a:off x="5245758" y="31466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30</a:t>
            </a:r>
            <a:endParaRPr lang="en-GB" sz="900" b="0" dirty="0">
              <a:solidFill>
                <a:schemeClr val="tx2"/>
              </a:solidFill>
              <a:latin typeface="+mn-lt"/>
              <a:cs typeface="Arial" panose="020B0604020202020204" pitchFamily="34" charset="0"/>
            </a:endParaRPr>
          </a:p>
        </p:txBody>
      </p:sp>
      <p:sp>
        <p:nvSpPr>
          <p:cNvPr id="3619" name="TextBox 3618">
            <a:hlinkClick r:id="rId135" action="ppaction://hlinksldjump"/>
            <a:extLst>
              <a:ext uri="{FF2B5EF4-FFF2-40B4-BE49-F238E27FC236}">
                <a16:creationId xmlns:a16="http://schemas.microsoft.com/office/drawing/2014/main" id="{959B0050-9E16-4A5F-8E79-193E42D133F4}"/>
              </a:ext>
            </a:extLst>
          </p:cNvPr>
          <p:cNvSpPr txBox="1"/>
          <p:nvPr>
            <p:custDataLst>
              <p:tags r:id="rId96"/>
            </p:custDataLst>
          </p:nvPr>
        </p:nvSpPr>
        <p:spPr>
          <a:xfrm>
            <a:off x="5245758" y="32853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42</a:t>
            </a:r>
            <a:endParaRPr lang="en-GB" sz="900" b="0" dirty="0">
              <a:solidFill>
                <a:schemeClr val="tx2"/>
              </a:solidFill>
              <a:latin typeface="+mn-lt"/>
              <a:cs typeface="Arial" panose="020B0604020202020204" pitchFamily="34" charset="0"/>
            </a:endParaRPr>
          </a:p>
        </p:txBody>
      </p:sp>
      <p:sp>
        <p:nvSpPr>
          <p:cNvPr id="3620" name="TextBox 3619">
            <a:hlinkClick r:id="rId137" action="ppaction://hlinksldjump"/>
            <a:extLst>
              <a:ext uri="{FF2B5EF4-FFF2-40B4-BE49-F238E27FC236}">
                <a16:creationId xmlns:a16="http://schemas.microsoft.com/office/drawing/2014/main" id="{DE0AF8C8-0816-4180-879E-91800D83302D}"/>
              </a:ext>
            </a:extLst>
          </p:cNvPr>
          <p:cNvSpPr txBox="1"/>
          <p:nvPr>
            <p:custDataLst>
              <p:tags r:id="rId97"/>
            </p:custDataLst>
          </p:nvPr>
        </p:nvSpPr>
        <p:spPr>
          <a:xfrm>
            <a:off x="5245758" y="38533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44</a:t>
            </a:r>
            <a:endParaRPr lang="en-GB" sz="900" b="0" dirty="0">
              <a:solidFill>
                <a:schemeClr val="tx2"/>
              </a:solidFill>
              <a:latin typeface="+mn-lt"/>
              <a:cs typeface="Arial" panose="020B0604020202020204" pitchFamily="34" charset="0"/>
            </a:endParaRPr>
          </a:p>
        </p:txBody>
      </p:sp>
      <p:sp>
        <p:nvSpPr>
          <p:cNvPr id="3621" name="TextBox 3620">
            <a:hlinkClick r:id="rId138" action="ppaction://hlinksldjump"/>
            <a:extLst>
              <a:ext uri="{FF2B5EF4-FFF2-40B4-BE49-F238E27FC236}">
                <a16:creationId xmlns:a16="http://schemas.microsoft.com/office/drawing/2014/main" id="{E8D8125F-42BD-4326-AD14-8AB39D3426F0}"/>
              </a:ext>
            </a:extLst>
          </p:cNvPr>
          <p:cNvSpPr txBox="1"/>
          <p:nvPr>
            <p:custDataLst>
              <p:tags r:id="rId98"/>
            </p:custDataLst>
          </p:nvPr>
        </p:nvSpPr>
        <p:spPr>
          <a:xfrm>
            <a:off x="5245758" y="39920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45</a:t>
            </a:r>
            <a:endParaRPr lang="en-GB" sz="900" b="0" dirty="0">
              <a:solidFill>
                <a:schemeClr val="tx2"/>
              </a:solidFill>
              <a:latin typeface="+mn-lt"/>
              <a:cs typeface="Arial" panose="020B0604020202020204" pitchFamily="34" charset="0"/>
            </a:endParaRPr>
          </a:p>
        </p:txBody>
      </p:sp>
      <p:sp>
        <p:nvSpPr>
          <p:cNvPr id="3622" name="TextBox 3621">
            <a:hlinkClick r:id="rId139" action="ppaction://hlinksldjump"/>
            <a:extLst>
              <a:ext uri="{FF2B5EF4-FFF2-40B4-BE49-F238E27FC236}">
                <a16:creationId xmlns:a16="http://schemas.microsoft.com/office/drawing/2014/main" id="{62DBC469-DE84-40C6-A47A-84F0478DCC61}"/>
              </a:ext>
            </a:extLst>
          </p:cNvPr>
          <p:cNvSpPr txBox="1"/>
          <p:nvPr>
            <p:custDataLst>
              <p:tags r:id="rId99"/>
            </p:custDataLst>
          </p:nvPr>
        </p:nvSpPr>
        <p:spPr>
          <a:xfrm>
            <a:off x="5245758" y="41307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46</a:t>
            </a:r>
            <a:endParaRPr lang="en-GB" sz="900" b="0" dirty="0">
              <a:solidFill>
                <a:schemeClr val="tx2"/>
              </a:solidFill>
              <a:latin typeface="+mn-lt"/>
              <a:cs typeface="Arial" panose="020B0604020202020204" pitchFamily="34" charset="0"/>
            </a:endParaRPr>
          </a:p>
        </p:txBody>
      </p:sp>
      <p:sp>
        <p:nvSpPr>
          <p:cNvPr id="3623" name="TextBox 3622">
            <a:hlinkClick r:id="rId140" action="ppaction://hlinksldjump"/>
            <a:extLst>
              <a:ext uri="{FF2B5EF4-FFF2-40B4-BE49-F238E27FC236}">
                <a16:creationId xmlns:a16="http://schemas.microsoft.com/office/drawing/2014/main" id="{4C100DDC-978F-4696-942C-423323E3BBE9}"/>
              </a:ext>
            </a:extLst>
          </p:cNvPr>
          <p:cNvSpPr txBox="1"/>
          <p:nvPr>
            <p:custDataLst>
              <p:tags r:id="rId100"/>
            </p:custDataLst>
          </p:nvPr>
        </p:nvSpPr>
        <p:spPr>
          <a:xfrm>
            <a:off x="5245758" y="42694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48</a:t>
            </a:r>
            <a:endParaRPr lang="en-GB" sz="900" b="0" dirty="0">
              <a:solidFill>
                <a:schemeClr val="tx2"/>
              </a:solidFill>
              <a:latin typeface="+mn-lt"/>
              <a:cs typeface="Arial" panose="020B0604020202020204" pitchFamily="34" charset="0"/>
            </a:endParaRPr>
          </a:p>
        </p:txBody>
      </p:sp>
      <p:sp>
        <p:nvSpPr>
          <p:cNvPr id="3624" name="TextBox 3623">
            <a:hlinkClick r:id="rId142" action="ppaction://hlinksldjump"/>
            <a:extLst>
              <a:ext uri="{FF2B5EF4-FFF2-40B4-BE49-F238E27FC236}">
                <a16:creationId xmlns:a16="http://schemas.microsoft.com/office/drawing/2014/main" id="{9589E52E-FA76-4CCB-AEF2-2B985B7E8C86}"/>
              </a:ext>
            </a:extLst>
          </p:cNvPr>
          <p:cNvSpPr txBox="1"/>
          <p:nvPr>
            <p:custDataLst>
              <p:tags r:id="rId101"/>
            </p:custDataLst>
          </p:nvPr>
        </p:nvSpPr>
        <p:spPr>
          <a:xfrm>
            <a:off x="5245758" y="483740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54</a:t>
            </a:r>
            <a:endParaRPr lang="en-GB" sz="900" b="0" dirty="0">
              <a:solidFill>
                <a:schemeClr val="tx2"/>
              </a:solidFill>
              <a:latin typeface="+mn-lt"/>
              <a:cs typeface="Arial" panose="020B0604020202020204" pitchFamily="34" charset="0"/>
            </a:endParaRPr>
          </a:p>
        </p:txBody>
      </p:sp>
      <p:sp>
        <p:nvSpPr>
          <p:cNvPr id="3625" name="TextBox 3624">
            <a:hlinkClick r:id="rId143" action="ppaction://hlinksldjump"/>
            <a:extLst>
              <a:ext uri="{FF2B5EF4-FFF2-40B4-BE49-F238E27FC236}">
                <a16:creationId xmlns:a16="http://schemas.microsoft.com/office/drawing/2014/main" id="{30301D70-C59C-4C91-911F-379FB6E5904C}"/>
              </a:ext>
            </a:extLst>
          </p:cNvPr>
          <p:cNvSpPr txBox="1"/>
          <p:nvPr>
            <p:custDataLst>
              <p:tags r:id="rId102"/>
            </p:custDataLst>
          </p:nvPr>
        </p:nvSpPr>
        <p:spPr>
          <a:xfrm>
            <a:off x="5245758" y="49761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56</a:t>
            </a:r>
            <a:endParaRPr lang="en-GB" sz="900" b="0" dirty="0">
              <a:solidFill>
                <a:schemeClr val="tx2"/>
              </a:solidFill>
              <a:latin typeface="+mn-lt"/>
              <a:cs typeface="Arial" panose="020B0604020202020204" pitchFamily="34" charset="0"/>
            </a:endParaRPr>
          </a:p>
        </p:txBody>
      </p:sp>
      <p:sp>
        <p:nvSpPr>
          <p:cNvPr id="3626" name="TextBox 3625">
            <a:hlinkClick r:id="rId144" action="ppaction://hlinksldjump"/>
            <a:extLst>
              <a:ext uri="{FF2B5EF4-FFF2-40B4-BE49-F238E27FC236}">
                <a16:creationId xmlns:a16="http://schemas.microsoft.com/office/drawing/2014/main" id="{CD8D7381-7461-465E-A6F3-A5818058A7AF}"/>
              </a:ext>
            </a:extLst>
          </p:cNvPr>
          <p:cNvSpPr txBox="1"/>
          <p:nvPr>
            <p:custDataLst>
              <p:tags r:id="rId103"/>
            </p:custDataLst>
          </p:nvPr>
        </p:nvSpPr>
        <p:spPr>
          <a:xfrm>
            <a:off x="5245758" y="51148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59</a:t>
            </a:r>
            <a:endParaRPr lang="en-GB" sz="900" b="0" dirty="0">
              <a:solidFill>
                <a:schemeClr val="tx2"/>
              </a:solidFill>
              <a:latin typeface="+mn-lt"/>
              <a:cs typeface="Arial" panose="020B0604020202020204" pitchFamily="34" charset="0"/>
            </a:endParaRPr>
          </a:p>
        </p:txBody>
      </p:sp>
      <p:sp>
        <p:nvSpPr>
          <p:cNvPr id="3627" name="TextBox 3626">
            <a:hlinkClick r:id="rId145" action="ppaction://hlinksldjump"/>
            <a:extLst>
              <a:ext uri="{FF2B5EF4-FFF2-40B4-BE49-F238E27FC236}">
                <a16:creationId xmlns:a16="http://schemas.microsoft.com/office/drawing/2014/main" id="{F7EF4128-C630-40DE-AFEC-44E6F595B193}"/>
              </a:ext>
            </a:extLst>
          </p:cNvPr>
          <p:cNvSpPr txBox="1"/>
          <p:nvPr>
            <p:custDataLst>
              <p:tags r:id="rId104"/>
            </p:custDataLst>
          </p:nvPr>
        </p:nvSpPr>
        <p:spPr>
          <a:xfrm>
            <a:off x="5245758" y="52535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62</a:t>
            </a:r>
            <a:endParaRPr lang="en-GB" sz="900" b="0" dirty="0">
              <a:solidFill>
                <a:schemeClr val="tx2"/>
              </a:solidFill>
              <a:latin typeface="+mn-lt"/>
              <a:cs typeface="Arial" panose="020B0604020202020204" pitchFamily="34" charset="0"/>
            </a:endParaRPr>
          </a:p>
        </p:txBody>
      </p:sp>
      <p:sp>
        <p:nvSpPr>
          <p:cNvPr id="3628" name="TextBox 3627">
            <a:hlinkClick r:id="rId146" action="ppaction://hlinksldjump"/>
            <a:extLst>
              <a:ext uri="{FF2B5EF4-FFF2-40B4-BE49-F238E27FC236}">
                <a16:creationId xmlns:a16="http://schemas.microsoft.com/office/drawing/2014/main" id="{D7B59088-04BF-4BF4-BAFF-02330F14080B}"/>
              </a:ext>
            </a:extLst>
          </p:cNvPr>
          <p:cNvSpPr txBox="1"/>
          <p:nvPr>
            <p:custDataLst>
              <p:tags r:id="rId105"/>
            </p:custDataLst>
          </p:nvPr>
        </p:nvSpPr>
        <p:spPr>
          <a:xfrm>
            <a:off x="5245758" y="53922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67</a:t>
            </a:r>
            <a:endParaRPr lang="en-GB" sz="900" b="0" dirty="0">
              <a:solidFill>
                <a:schemeClr val="tx2"/>
              </a:solidFill>
              <a:latin typeface="+mn-lt"/>
              <a:cs typeface="Arial" panose="020B0604020202020204" pitchFamily="34" charset="0"/>
            </a:endParaRPr>
          </a:p>
        </p:txBody>
      </p:sp>
      <p:sp>
        <p:nvSpPr>
          <p:cNvPr id="3629" name="TextBox 3628">
            <a:hlinkClick r:id="rId147" action="ppaction://hlinksldjump"/>
            <a:extLst>
              <a:ext uri="{FF2B5EF4-FFF2-40B4-BE49-F238E27FC236}">
                <a16:creationId xmlns:a16="http://schemas.microsoft.com/office/drawing/2014/main" id="{492D3746-AB3D-463B-BB3E-F05F9F1EB9CF}"/>
              </a:ext>
            </a:extLst>
          </p:cNvPr>
          <p:cNvSpPr txBox="1"/>
          <p:nvPr>
            <p:custDataLst>
              <p:tags r:id="rId106"/>
            </p:custDataLst>
          </p:nvPr>
        </p:nvSpPr>
        <p:spPr>
          <a:xfrm>
            <a:off x="5245758" y="55309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69</a:t>
            </a:r>
            <a:endParaRPr lang="en-GB" sz="900" b="0" dirty="0">
              <a:solidFill>
                <a:schemeClr val="tx2"/>
              </a:solidFill>
              <a:latin typeface="+mn-lt"/>
              <a:cs typeface="Arial" panose="020B0604020202020204" pitchFamily="34" charset="0"/>
            </a:endParaRPr>
          </a:p>
        </p:txBody>
      </p:sp>
      <p:sp>
        <p:nvSpPr>
          <p:cNvPr id="3630" name="TextBox 3629">
            <a:hlinkClick r:id="rId149" action="ppaction://hlinksldjump"/>
            <a:extLst>
              <a:ext uri="{FF2B5EF4-FFF2-40B4-BE49-F238E27FC236}">
                <a16:creationId xmlns:a16="http://schemas.microsoft.com/office/drawing/2014/main" id="{B14B031C-8C95-4481-BD70-E3D7334A50B6}"/>
              </a:ext>
            </a:extLst>
          </p:cNvPr>
          <p:cNvSpPr txBox="1"/>
          <p:nvPr>
            <p:custDataLst>
              <p:tags r:id="rId107"/>
            </p:custDataLst>
          </p:nvPr>
        </p:nvSpPr>
        <p:spPr>
          <a:xfrm>
            <a:off x="10374885" y="16078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75</a:t>
            </a:r>
            <a:endParaRPr lang="en-GB" sz="900" b="0" dirty="0">
              <a:solidFill>
                <a:schemeClr val="tx2"/>
              </a:solidFill>
              <a:latin typeface="+mn-lt"/>
              <a:cs typeface="Arial" panose="020B0604020202020204" pitchFamily="34" charset="0"/>
            </a:endParaRPr>
          </a:p>
        </p:txBody>
      </p:sp>
      <p:sp>
        <p:nvSpPr>
          <p:cNvPr id="3631" name="TextBox 3630">
            <a:hlinkClick r:id="rId150" action="ppaction://hlinksldjump"/>
            <a:extLst>
              <a:ext uri="{FF2B5EF4-FFF2-40B4-BE49-F238E27FC236}">
                <a16:creationId xmlns:a16="http://schemas.microsoft.com/office/drawing/2014/main" id="{6D41A426-896E-4CB4-B34E-9457CE5762B1}"/>
              </a:ext>
            </a:extLst>
          </p:cNvPr>
          <p:cNvSpPr txBox="1"/>
          <p:nvPr>
            <p:custDataLst>
              <p:tags r:id="rId108"/>
            </p:custDataLst>
          </p:nvPr>
        </p:nvSpPr>
        <p:spPr>
          <a:xfrm>
            <a:off x="10374885" y="17465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76</a:t>
            </a:r>
            <a:endParaRPr lang="en-GB" sz="900" b="0" dirty="0">
              <a:solidFill>
                <a:schemeClr val="tx2"/>
              </a:solidFill>
              <a:latin typeface="+mn-lt"/>
              <a:cs typeface="Arial" panose="020B0604020202020204" pitchFamily="34" charset="0"/>
            </a:endParaRPr>
          </a:p>
        </p:txBody>
      </p:sp>
      <p:sp>
        <p:nvSpPr>
          <p:cNvPr id="3632" name="TextBox 3631">
            <a:hlinkClick r:id="rId151" action="ppaction://hlinksldjump"/>
            <a:extLst>
              <a:ext uri="{FF2B5EF4-FFF2-40B4-BE49-F238E27FC236}">
                <a16:creationId xmlns:a16="http://schemas.microsoft.com/office/drawing/2014/main" id="{D4DE8625-40CA-473F-BCFC-EA89E20071F8}"/>
              </a:ext>
            </a:extLst>
          </p:cNvPr>
          <p:cNvSpPr txBox="1"/>
          <p:nvPr>
            <p:custDataLst>
              <p:tags r:id="rId109"/>
            </p:custDataLst>
          </p:nvPr>
        </p:nvSpPr>
        <p:spPr>
          <a:xfrm>
            <a:off x="10374885" y="18852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77</a:t>
            </a:r>
            <a:endParaRPr lang="en-GB" sz="900" b="0" dirty="0">
              <a:solidFill>
                <a:schemeClr val="tx2"/>
              </a:solidFill>
              <a:latin typeface="+mn-lt"/>
              <a:cs typeface="Arial" panose="020B0604020202020204" pitchFamily="34" charset="0"/>
            </a:endParaRPr>
          </a:p>
        </p:txBody>
      </p:sp>
      <p:sp>
        <p:nvSpPr>
          <p:cNvPr id="3633" name="TextBox 3632">
            <a:hlinkClick r:id="rId153" action="ppaction://hlinksldjump"/>
            <a:extLst>
              <a:ext uri="{FF2B5EF4-FFF2-40B4-BE49-F238E27FC236}">
                <a16:creationId xmlns:a16="http://schemas.microsoft.com/office/drawing/2014/main" id="{42A5D064-03F3-4707-85D9-C71F8102F495}"/>
              </a:ext>
            </a:extLst>
          </p:cNvPr>
          <p:cNvSpPr txBox="1"/>
          <p:nvPr>
            <p:custDataLst>
              <p:tags r:id="rId110"/>
            </p:custDataLst>
          </p:nvPr>
        </p:nvSpPr>
        <p:spPr>
          <a:xfrm>
            <a:off x="10374885" y="24531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79</a:t>
            </a:r>
            <a:endParaRPr lang="en-GB" sz="900" b="0" dirty="0">
              <a:solidFill>
                <a:schemeClr val="tx2"/>
              </a:solidFill>
              <a:latin typeface="+mn-lt"/>
              <a:cs typeface="Arial" panose="020B0604020202020204" pitchFamily="34" charset="0"/>
            </a:endParaRPr>
          </a:p>
        </p:txBody>
      </p:sp>
      <p:sp>
        <p:nvSpPr>
          <p:cNvPr id="3636" name="TextBox 3635">
            <a:hlinkClick r:id="rId154" action="ppaction://hlinksldjump"/>
            <a:extLst>
              <a:ext uri="{FF2B5EF4-FFF2-40B4-BE49-F238E27FC236}">
                <a16:creationId xmlns:a16="http://schemas.microsoft.com/office/drawing/2014/main" id="{BF7D2064-51DD-4C52-BD75-A3D8A0BCB941}"/>
              </a:ext>
            </a:extLst>
          </p:cNvPr>
          <p:cNvSpPr txBox="1"/>
          <p:nvPr>
            <p:custDataLst>
              <p:tags r:id="rId111"/>
            </p:custDataLst>
          </p:nvPr>
        </p:nvSpPr>
        <p:spPr>
          <a:xfrm>
            <a:off x="10374885" y="25918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81</a:t>
            </a:r>
            <a:endParaRPr lang="en-GB" sz="900" b="0" dirty="0">
              <a:solidFill>
                <a:schemeClr val="tx2"/>
              </a:solidFill>
              <a:latin typeface="+mn-lt"/>
              <a:cs typeface="Arial" panose="020B0604020202020204" pitchFamily="34" charset="0"/>
            </a:endParaRPr>
          </a:p>
        </p:txBody>
      </p:sp>
      <p:sp>
        <p:nvSpPr>
          <p:cNvPr id="3639" name="TextBox 3638">
            <a:hlinkClick r:id="rId156" action="ppaction://hlinksldjump"/>
            <a:extLst>
              <a:ext uri="{FF2B5EF4-FFF2-40B4-BE49-F238E27FC236}">
                <a16:creationId xmlns:a16="http://schemas.microsoft.com/office/drawing/2014/main" id="{AA3CAC85-A4B3-4087-A31A-BCAA405FA646}"/>
              </a:ext>
            </a:extLst>
          </p:cNvPr>
          <p:cNvSpPr txBox="1"/>
          <p:nvPr>
            <p:custDataLst>
              <p:tags r:id="rId112"/>
            </p:custDataLst>
          </p:nvPr>
        </p:nvSpPr>
        <p:spPr>
          <a:xfrm>
            <a:off x="10374885" y="31598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83</a:t>
            </a:r>
            <a:endParaRPr lang="en-GB" sz="900" b="0" dirty="0">
              <a:solidFill>
                <a:schemeClr val="tx2"/>
              </a:solidFill>
              <a:latin typeface="+mn-lt"/>
              <a:cs typeface="Arial" panose="020B0604020202020204" pitchFamily="34" charset="0"/>
            </a:endParaRPr>
          </a:p>
        </p:txBody>
      </p:sp>
      <p:sp>
        <p:nvSpPr>
          <p:cNvPr id="3640" name="TextBox 3639">
            <a:hlinkClick r:id="rId157" action="ppaction://hlinksldjump"/>
            <a:extLst>
              <a:ext uri="{FF2B5EF4-FFF2-40B4-BE49-F238E27FC236}">
                <a16:creationId xmlns:a16="http://schemas.microsoft.com/office/drawing/2014/main" id="{79F49C6D-3428-4A1E-B53E-1564AFD6940E}"/>
              </a:ext>
            </a:extLst>
          </p:cNvPr>
          <p:cNvSpPr txBox="1"/>
          <p:nvPr>
            <p:custDataLst>
              <p:tags r:id="rId113"/>
            </p:custDataLst>
          </p:nvPr>
        </p:nvSpPr>
        <p:spPr>
          <a:xfrm>
            <a:off x="10374885" y="32985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98</a:t>
            </a:r>
            <a:endParaRPr lang="en-GB" sz="900" b="0" dirty="0">
              <a:solidFill>
                <a:schemeClr val="tx2"/>
              </a:solidFill>
              <a:latin typeface="+mn-lt"/>
              <a:cs typeface="Arial" panose="020B0604020202020204" pitchFamily="34" charset="0"/>
            </a:endParaRPr>
          </a:p>
        </p:txBody>
      </p:sp>
      <p:sp>
        <p:nvSpPr>
          <p:cNvPr id="3641" name="TextBox 3640">
            <a:hlinkClick r:id="rId158" action="ppaction://hlinksldjump"/>
            <a:extLst>
              <a:ext uri="{FF2B5EF4-FFF2-40B4-BE49-F238E27FC236}">
                <a16:creationId xmlns:a16="http://schemas.microsoft.com/office/drawing/2014/main" id="{F7B2CBDB-8E14-40B8-B65E-4DE465230136}"/>
              </a:ext>
            </a:extLst>
          </p:cNvPr>
          <p:cNvSpPr txBox="1"/>
          <p:nvPr>
            <p:custDataLst>
              <p:tags r:id="rId114"/>
            </p:custDataLst>
          </p:nvPr>
        </p:nvSpPr>
        <p:spPr>
          <a:xfrm>
            <a:off x="10374885" y="34372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99</a:t>
            </a:r>
            <a:endParaRPr lang="en-GB" sz="900" b="0" dirty="0">
              <a:solidFill>
                <a:schemeClr val="tx2"/>
              </a:solidFill>
              <a:latin typeface="+mn-lt"/>
              <a:cs typeface="Arial" panose="020B0604020202020204" pitchFamily="34" charset="0"/>
            </a:endParaRPr>
          </a:p>
        </p:txBody>
      </p:sp>
      <p:sp>
        <p:nvSpPr>
          <p:cNvPr id="3642" name="TextBox 3641">
            <a:hlinkClick r:id="rId159" action="ppaction://hlinksldjump"/>
            <a:extLst>
              <a:ext uri="{FF2B5EF4-FFF2-40B4-BE49-F238E27FC236}">
                <a16:creationId xmlns:a16="http://schemas.microsoft.com/office/drawing/2014/main" id="{C0EF434D-19DA-465C-A445-A3C51535218C}"/>
              </a:ext>
            </a:extLst>
          </p:cNvPr>
          <p:cNvSpPr txBox="1"/>
          <p:nvPr>
            <p:custDataLst>
              <p:tags r:id="rId115"/>
            </p:custDataLst>
          </p:nvPr>
        </p:nvSpPr>
        <p:spPr>
          <a:xfrm>
            <a:off x="10374885" y="35759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100</a:t>
            </a:r>
            <a:endParaRPr lang="en-GB" sz="900" b="0" dirty="0">
              <a:solidFill>
                <a:schemeClr val="tx2"/>
              </a:solidFill>
              <a:latin typeface="+mn-lt"/>
              <a:cs typeface="Arial" panose="020B0604020202020204" pitchFamily="34" charset="0"/>
            </a:endParaRPr>
          </a:p>
        </p:txBody>
      </p:sp>
      <p:sp>
        <p:nvSpPr>
          <p:cNvPr id="3643" name="TextBox 3642">
            <a:hlinkClick r:id="rId160" action="ppaction://hlinksldjump"/>
            <a:extLst>
              <a:ext uri="{FF2B5EF4-FFF2-40B4-BE49-F238E27FC236}">
                <a16:creationId xmlns:a16="http://schemas.microsoft.com/office/drawing/2014/main" id="{FF7029B2-192F-4BCF-98DA-B5F84B8CC5CF}"/>
              </a:ext>
            </a:extLst>
          </p:cNvPr>
          <p:cNvSpPr txBox="1"/>
          <p:nvPr>
            <p:custDataLst>
              <p:tags r:id="rId116"/>
            </p:custDataLst>
          </p:nvPr>
        </p:nvSpPr>
        <p:spPr>
          <a:xfrm>
            <a:off x="10374885" y="37146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101</a:t>
            </a:r>
            <a:endParaRPr lang="en-GB" sz="900" b="0" dirty="0">
              <a:solidFill>
                <a:schemeClr val="tx2"/>
              </a:solidFill>
              <a:latin typeface="+mn-lt"/>
              <a:cs typeface="Arial" panose="020B0604020202020204" pitchFamily="34" charset="0"/>
            </a:endParaRPr>
          </a:p>
        </p:txBody>
      </p:sp>
      <p:sp>
        <p:nvSpPr>
          <p:cNvPr id="3644" name="TextBox 3643">
            <a:hlinkClick r:id="rId161" action="ppaction://hlinksldjump"/>
            <a:extLst>
              <a:ext uri="{FF2B5EF4-FFF2-40B4-BE49-F238E27FC236}">
                <a16:creationId xmlns:a16="http://schemas.microsoft.com/office/drawing/2014/main" id="{B36BD4A8-99D4-4250-8EF9-9F6C292A4132}"/>
              </a:ext>
            </a:extLst>
          </p:cNvPr>
          <p:cNvSpPr txBox="1"/>
          <p:nvPr>
            <p:custDataLst>
              <p:tags r:id="rId117"/>
            </p:custDataLst>
          </p:nvPr>
        </p:nvSpPr>
        <p:spPr>
          <a:xfrm>
            <a:off x="10374885" y="38533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102</a:t>
            </a:r>
            <a:endParaRPr lang="en-GB" sz="900" b="0" dirty="0">
              <a:solidFill>
                <a:schemeClr val="tx2"/>
              </a:solidFill>
              <a:latin typeface="+mn-lt"/>
              <a:cs typeface="Arial" panose="020B0604020202020204" pitchFamily="34" charset="0"/>
            </a:endParaRPr>
          </a:p>
        </p:txBody>
      </p:sp>
      <p:sp>
        <p:nvSpPr>
          <p:cNvPr id="3645" name="TextBox 3644">
            <a:hlinkClick r:id="rId162" action="ppaction://hlinksldjump"/>
            <a:extLst>
              <a:ext uri="{FF2B5EF4-FFF2-40B4-BE49-F238E27FC236}">
                <a16:creationId xmlns:a16="http://schemas.microsoft.com/office/drawing/2014/main" id="{10973D2B-A3DB-4AA8-B0C3-60A1FCF8EA42}"/>
              </a:ext>
            </a:extLst>
          </p:cNvPr>
          <p:cNvSpPr txBox="1"/>
          <p:nvPr>
            <p:custDataLst>
              <p:tags r:id="rId118"/>
            </p:custDataLst>
          </p:nvPr>
        </p:nvSpPr>
        <p:spPr>
          <a:xfrm>
            <a:off x="10374885" y="399204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103</a:t>
            </a:r>
            <a:endParaRPr lang="en-GB" sz="900" b="0" dirty="0">
              <a:solidFill>
                <a:schemeClr val="tx2"/>
              </a:solidFill>
              <a:latin typeface="+mn-lt"/>
              <a:cs typeface="Arial" panose="020B0604020202020204" pitchFamily="34" charset="0"/>
            </a:endParaRP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1" action="ppaction://hlinksldjump"/>
            <a:extLst>
              <a:ext uri="{FF2B5EF4-FFF2-40B4-BE49-F238E27FC236}">
                <a16:creationId xmlns:a16="http://schemas.microsoft.com/office/drawing/2014/main" id="{C9BA0AB0-3A65-4CFC-8B55-CB0F86691A16}"/>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Executive summary</a:t>
            </a:r>
          </a:p>
        </p:txBody>
      </p:sp>
      <p:sp>
        <p:nvSpPr>
          <p:cNvPr id="5" name="TextBox 4">
            <a:hlinkClick r:id="rId22" action="ppaction://hlinksldjump"/>
            <a:extLst>
              <a:ext uri="{FF2B5EF4-FFF2-40B4-BE49-F238E27FC236}">
                <a16:creationId xmlns:a16="http://schemas.microsoft.com/office/drawing/2014/main" id="{365436FB-5EA9-46B3-97A7-46ABEF701057}"/>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Business overview</a:t>
            </a:r>
          </a:p>
        </p:txBody>
      </p:sp>
      <p:sp>
        <p:nvSpPr>
          <p:cNvPr id="6" name="TextBox 5">
            <a:hlinkClick r:id="rId23" action="ppaction://hlinksldjump"/>
            <a:extLst>
              <a:ext uri="{FF2B5EF4-FFF2-40B4-BE49-F238E27FC236}">
                <a16:creationId xmlns:a16="http://schemas.microsoft.com/office/drawing/2014/main" id="{0E6AB38A-F4C6-41F3-B2A0-EF9623FFC399}"/>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Summary financials</a:t>
            </a:r>
          </a:p>
        </p:txBody>
      </p:sp>
      <p:sp>
        <p:nvSpPr>
          <p:cNvPr id="7" name="TextBox 6">
            <a:hlinkClick r:id="rId24" action="ppaction://hlinksldjump"/>
            <a:extLst>
              <a:ext uri="{FF2B5EF4-FFF2-40B4-BE49-F238E27FC236}">
                <a16:creationId xmlns:a16="http://schemas.microsoft.com/office/drawing/2014/main" id="{0ADDE203-62D2-4AC3-A9BA-1729123E6503}"/>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Key financial drivers</a:t>
            </a:r>
          </a:p>
        </p:txBody>
      </p:sp>
      <p:sp>
        <p:nvSpPr>
          <p:cNvPr id="8" name="TextBox 7">
            <a:hlinkClick r:id="rId25" action="ppaction://hlinksldjump"/>
            <a:extLst>
              <a:ext uri="{FF2B5EF4-FFF2-40B4-BE49-F238E27FC236}">
                <a16:creationId xmlns:a16="http://schemas.microsoft.com/office/drawing/2014/main" id="{98594B5B-C917-4C1D-A981-FD7EC327D532}"/>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Headlines</a:t>
            </a:r>
          </a:p>
        </p:txBody>
      </p:sp>
      <p:sp>
        <p:nvSpPr>
          <p:cNvPr id="9" name="TextBox 8">
            <a:hlinkClick r:id="rId26" action="ppaction://hlinksldjump"/>
            <a:extLst>
              <a:ext uri="{FF2B5EF4-FFF2-40B4-BE49-F238E27FC236}">
                <a16:creationId xmlns:a16="http://schemas.microsoft.com/office/drawing/2014/main" id="{CE41DE10-FA77-4CD7-A495-56E38B0CCE39}"/>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Key findings</a:t>
            </a:r>
          </a:p>
        </p:txBody>
      </p:sp>
      <p:sp>
        <p:nvSpPr>
          <p:cNvPr id="10" name="TextBox 9">
            <a:hlinkClick r:id="rId21" action="ppaction://hlinksldjump"/>
            <a:extLst>
              <a:ext uri="{FF2B5EF4-FFF2-40B4-BE49-F238E27FC236}">
                <a16:creationId xmlns:a16="http://schemas.microsoft.com/office/drawing/2014/main" id="{9CFA41CB-A189-4B72-8CF9-2741FE326B03}"/>
              </a:ext>
            </a:extLst>
          </p:cNvPr>
          <p:cNvSpPr txBox="1"/>
          <p:nvPr>
            <p:custDataLst>
              <p:tags r:id="rId8"/>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1.</a:t>
            </a:r>
          </a:p>
        </p:txBody>
      </p:sp>
      <p:sp>
        <p:nvSpPr>
          <p:cNvPr id="11" name="TextBox 10">
            <a:hlinkClick r:id="rId21" action="ppaction://hlinksldjump"/>
            <a:extLst>
              <a:ext uri="{FF2B5EF4-FFF2-40B4-BE49-F238E27FC236}">
                <a16:creationId xmlns:a16="http://schemas.microsoft.com/office/drawing/2014/main" id="{E75630D5-2430-4745-9BD6-2C083610BED9}"/>
              </a:ext>
            </a:extLst>
          </p:cNvPr>
          <p:cNvSpPr txBox="1"/>
          <p:nvPr>
            <p:custDataLst>
              <p:tags r:id="rId9"/>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4</a:t>
            </a:r>
          </a:p>
        </p:txBody>
      </p:sp>
      <p:sp>
        <p:nvSpPr>
          <p:cNvPr id="12" name="TextBox 11">
            <a:hlinkClick r:id="rId22" action="ppaction://hlinksldjump"/>
            <a:extLst>
              <a:ext uri="{FF2B5EF4-FFF2-40B4-BE49-F238E27FC236}">
                <a16:creationId xmlns:a16="http://schemas.microsoft.com/office/drawing/2014/main" id="{986132EF-BCE1-4796-AEAF-5B14A97553D2}"/>
              </a:ext>
            </a:extLst>
          </p:cNvPr>
          <p:cNvSpPr txBox="1"/>
          <p:nvPr>
            <p:custDataLst>
              <p:tags r:id="rId10"/>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1.1</a:t>
            </a:r>
          </a:p>
        </p:txBody>
      </p:sp>
      <p:sp>
        <p:nvSpPr>
          <p:cNvPr id="13" name="TextBox 12">
            <a:hlinkClick r:id="rId23" action="ppaction://hlinksldjump"/>
            <a:extLst>
              <a:ext uri="{FF2B5EF4-FFF2-40B4-BE49-F238E27FC236}">
                <a16:creationId xmlns:a16="http://schemas.microsoft.com/office/drawing/2014/main" id="{8F60A810-1DDD-42C0-8C9C-C6B92DAE14B6}"/>
              </a:ext>
            </a:extLst>
          </p:cNvPr>
          <p:cNvSpPr txBox="1"/>
          <p:nvPr>
            <p:custDataLst>
              <p:tags r:id="rId11"/>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1.2</a:t>
            </a:r>
          </a:p>
        </p:txBody>
      </p:sp>
      <p:sp>
        <p:nvSpPr>
          <p:cNvPr id="14" name="TextBox 13">
            <a:hlinkClick r:id="rId24" action="ppaction://hlinksldjump"/>
            <a:extLst>
              <a:ext uri="{FF2B5EF4-FFF2-40B4-BE49-F238E27FC236}">
                <a16:creationId xmlns:a16="http://schemas.microsoft.com/office/drawing/2014/main" id="{7061F57F-FC5E-4D64-B9A5-FBC9A60059D8}"/>
              </a:ext>
            </a:extLst>
          </p:cNvPr>
          <p:cNvSpPr txBox="1"/>
          <p:nvPr>
            <p:custDataLst>
              <p:tags r:id="rId12"/>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1.3</a:t>
            </a:r>
          </a:p>
        </p:txBody>
      </p:sp>
      <p:sp>
        <p:nvSpPr>
          <p:cNvPr id="15" name="TextBox 14">
            <a:hlinkClick r:id="rId25" action="ppaction://hlinksldjump"/>
            <a:extLst>
              <a:ext uri="{FF2B5EF4-FFF2-40B4-BE49-F238E27FC236}">
                <a16:creationId xmlns:a16="http://schemas.microsoft.com/office/drawing/2014/main" id="{B1147F14-1ABB-4582-B7EE-94897F3ED880}"/>
              </a:ext>
            </a:extLst>
          </p:cNvPr>
          <p:cNvSpPr txBox="1"/>
          <p:nvPr>
            <p:custDataLst>
              <p:tags r:id="rId13"/>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1.4</a:t>
            </a:r>
          </a:p>
        </p:txBody>
      </p:sp>
      <p:sp>
        <p:nvSpPr>
          <p:cNvPr id="16" name="TextBox 15">
            <a:hlinkClick r:id="rId26" action="ppaction://hlinksldjump"/>
            <a:extLst>
              <a:ext uri="{FF2B5EF4-FFF2-40B4-BE49-F238E27FC236}">
                <a16:creationId xmlns:a16="http://schemas.microsoft.com/office/drawing/2014/main" id="{AA64A6C8-FCBA-4D54-8206-7C7952FAA63C}"/>
              </a:ext>
            </a:extLst>
          </p:cNvPr>
          <p:cNvSpPr txBox="1"/>
          <p:nvPr>
            <p:custDataLst>
              <p:tags r:id="rId14"/>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1.5</a:t>
            </a:r>
          </a:p>
        </p:txBody>
      </p:sp>
      <p:sp>
        <p:nvSpPr>
          <p:cNvPr id="17" name="TextBox 16">
            <a:hlinkClick r:id="rId22" action="ppaction://hlinksldjump"/>
            <a:extLst>
              <a:ext uri="{FF2B5EF4-FFF2-40B4-BE49-F238E27FC236}">
                <a16:creationId xmlns:a16="http://schemas.microsoft.com/office/drawing/2014/main" id="{3C15AD2E-9D75-481B-94D6-29EAD0BE71D5}"/>
              </a:ext>
            </a:extLst>
          </p:cNvPr>
          <p:cNvSpPr txBox="1"/>
          <p:nvPr>
            <p:custDataLst>
              <p:tags r:id="rId15"/>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a:t>
            </a:r>
          </a:p>
        </p:txBody>
      </p:sp>
      <p:sp>
        <p:nvSpPr>
          <p:cNvPr id="18" name="TextBox 17">
            <a:hlinkClick r:id="rId23" action="ppaction://hlinksldjump"/>
            <a:extLst>
              <a:ext uri="{FF2B5EF4-FFF2-40B4-BE49-F238E27FC236}">
                <a16:creationId xmlns:a16="http://schemas.microsoft.com/office/drawing/2014/main" id="{1560FC6A-4499-4C70-9814-41D29F3FDA81}"/>
              </a:ext>
            </a:extLst>
          </p:cNvPr>
          <p:cNvSpPr txBox="1"/>
          <p:nvPr>
            <p:custDataLst>
              <p:tags r:id="rId16"/>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9</a:t>
            </a:r>
          </a:p>
        </p:txBody>
      </p:sp>
      <p:sp>
        <p:nvSpPr>
          <p:cNvPr id="19" name="TextBox 18">
            <a:hlinkClick r:id="rId24" action="ppaction://hlinksldjump"/>
            <a:extLst>
              <a:ext uri="{FF2B5EF4-FFF2-40B4-BE49-F238E27FC236}">
                <a16:creationId xmlns:a16="http://schemas.microsoft.com/office/drawing/2014/main" id="{E3278589-6B51-4B03-AE22-59F82F15BD3D}"/>
              </a:ext>
            </a:extLst>
          </p:cNvPr>
          <p:cNvSpPr txBox="1"/>
          <p:nvPr>
            <p:custDataLst>
              <p:tags r:id="rId17"/>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10</a:t>
            </a:r>
          </a:p>
        </p:txBody>
      </p:sp>
      <p:sp>
        <p:nvSpPr>
          <p:cNvPr id="20" name="TextBox 19">
            <a:hlinkClick r:id="rId25" action="ppaction://hlinksldjump"/>
            <a:extLst>
              <a:ext uri="{FF2B5EF4-FFF2-40B4-BE49-F238E27FC236}">
                <a16:creationId xmlns:a16="http://schemas.microsoft.com/office/drawing/2014/main" id="{191E7484-E67E-43A6-B48D-B1BB6A566EF4}"/>
              </a:ext>
            </a:extLst>
          </p:cNvPr>
          <p:cNvSpPr txBox="1"/>
          <p:nvPr>
            <p:custDataLst>
              <p:tags r:id="rId18"/>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11</a:t>
            </a:r>
          </a:p>
        </p:txBody>
      </p:sp>
      <p:sp>
        <p:nvSpPr>
          <p:cNvPr id="21" name="TextBox 20">
            <a:hlinkClick r:id="rId26" action="ppaction://hlinksldjump"/>
            <a:extLst>
              <a:ext uri="{FF2B5EF4-FFF2-40B4-BE49-F238E27FC236}">
                <a16:creationId xmlns:a16="http://schemas.microsoft.com/office/drawing/2014/main" id="{C5D28879-F88D-404B-A67B-CAEF8C8E6F07}"/>
              </a:ext>
            </a:extLst>
          </p:cNvPr>
          <p:cNvSpPr txBox="1"/>
          <p:nvPr>
            <p:custDataLst>
              <p:tags r:id="rId19"/>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15</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B197C69-CFFB-4C0D-904B-9EA03971ADCE}"/>
              </a:ext>
            </a:extLst>
          </p:cNvPr>
          <p:cNvSpPr>
            <a:spLocks noGrp="1"/>
          </p:cNvSpPr>
          <p:nvPr>
            <p:ph type="title"/>
          </p:nvPr>
        </p:nvSpPr>
        <p:spPr/>
        <p:txBody>
          <a:bodyPr vert="horz"/>
          <a:lstStyle/>
          <a:p>
            <a:r>
              <a:rPr lang="en-US"/>
              <a:t>Business overview</a:t>
            </a:r>
          </a:p>
        </p:txBody>
      </p:sp>
      <p:sp>
        <p:nvSpPr>
          <p:cNvPr id="63" name="TextBox 62">
            <a:extLst>
              <a:ext uri="{FF2B5EF4-FFF2-40B4-BE49-F238E27FC236}">
                <a16:creationId xmlns:a16="http://schemas.microsoft.com/office/drawing/2014/main" id="{2DAD1CBE-88C3-4E34-96E7-5EA1FF29A4EB}"/>
              </a:ext>
            </a:extLst>
          </p:cNvPr>
          <p:cNvSpPr txBox="1">
            <a:spLocks/>
          </p:cNvSpPr>
          <p:nvPr/>
        </p:nvSpPr>
        <p:spPr>
          <a:xfrm>
            <a:off x="1000226" y="1565347"/>
            <a:ext cx="5050488" cy="1762021"/>
          </a:xfrm>
          <a:prstGeom prst="rect">
            <a:avLst/>
          </a:prstGeom>
          <a:noFill/>
        </p:spPr>
        <p:txBody>
          <a:bodyPr wrap="square" lIns="0" tIns="0" rIns="0" bIns="0">
            <a:spAutoFit/>
          </a:bodyPr>
          <a:lstStyle/>
          <a:p>
            <a:pPr>
              <a:lnSpc>
                <a:spcPct val="95000"/>
              </a:lnSpc>
              <a:spcAft>
                <a:spcPts val="400"/>
              </a:spcAft>
            </a:pPr>
            <a:r>
              <a:rPr lang="en-GB" sz="1000" b="0" dirty="0">
                <a:solidFill>
                  <a:schemeClr val="tx1"/>
                </a:solidFill>
              </a:rPr>
              <a:t>Y was founded in 2003 as a digitally led retailer of contemporary womenswear. </a:t>
            </a:r>
          </a:p>
          <a:p>
            <a:pPr>
              <a:lnSpc>
                <a:spcPct val="95000"/>
              </a:lnSpc>
              <a:spcAft>
                <a:spcPts val="400"/>
              </a:spcAft>
            </a:pPr>
            <a:r>
              <a:rPr lang="en-GB" sz="1000" b="0" dirty="0">
                <a:solidFill>
                  <a:schemeClr val="tx1"/>
                </a:solidFill>
              </a:rPr>
              <a:t>The brand is sold directly to consumers through three channels: online, boutiques and through concessions at two luxury department stores. The boutiques and concessions are currently principally </a:t>
            </a:r>
            <a:r>
              <a:rPr lang="en-GB" sz="1000" b="0" dirty="0" err="1">
                <a:solidFill>
                  <a:schemeClr val="tx1"/>
                </a:solidFill>
              </a:rPr>
              <a:t>yy</a:t>
            </a:r>
            <a:r>
              <a:rPr lang="en-GB" sz="1000" b="0" dirty="0">
                <a:solidFill>
                  <a:schemeClr val="tx1"/>
                </a:solidFill>
              </a:rPr>
              <a:t> centric, with six boutique stores in the </a:t>
            </a:r>
            <a:r>
              <a:rPr lang="en-GB" sz="1000" b="0" dirty="0" err="1">
                <a:solidFill>
                  <a:schemeClr val="tx1"/>
                </a:solidFill>
              </a:rPr>
              <a:t>yy</a:t>
            </a:r>
            <a:r>
              <a:rPr lang="en-GB" sz="1000" b="0" dirty="0">
                <a:solidFill>
                  <a:schemeClr val="tx1"/>
                </a:solidFill>
              </a:rPr>
              <a:t>.</a:t>
            </a:r>
          </a:p>
          <a:p>
            <a:pPr>
              <a:lnSpc>
                <a:spcPct val="95000"/>
              </a:lnSpc>
              <a:spcAft>
                <a:spcPts val="400"/>
              </a:spcAft>
            </a:pPr>
            <a:r>
              <a:rPr lang="en-GB" sz="1000" b="0" dirty="0">
                <a:solidFill>
                  <a:schemeClr val="tx1"/>
                </a:solidFill>
              </a:rPr>
              <a:t>Y products are targeted at affluent women aged 35 – 55, with a key focus on high quality fabric, versatility and longevity. Products are designed to work across seasons, be dressed up or down and to be worn together in an attempt to increase basket size, AOV, and customer loyalty. </a:t>
            </a:r>
          </a:p>
          <a:p>
            <a:pPr>
              <a:lnSpc>
                <a:spcPct val="95000"/>
              </a:lnSpc>
              <a:spcAft>
                <a:spcPts val="400"/>
              </a:spcAft>
            </a:pPr>
            <a:r>
              <a:rPr lang="en-GB" sz="1000" b="0" dirty="0">
                <a:solidFill>
                  <a:schemeClr val="tx1"/>
                </a:solidFill>
              </a:rPr>
              <a:t>All products are designed in house by a dedicated team and manufactured in </a:t>
            </a:r>
            <a:r>
              <a:rPr lang="en-GB" sz="1000" dirty="0"/>
              <a:t>high precision</a:t>
            </a:r>
            <a:r>
              <a:rPr lang="en-GB" sz="1000" b="0" dirty="0">
                <a:solidFill>
                  <a:schemeClr val="tx1"/>
                </a:solidFill>
              </a:rPr>
              <a:t> factories, with a focus on sustainability throughout the design, manufacturing and packaging process.</a:t>
            </a:r>
          </a:p>
        </p:txBody>
      </p:sp>
      <p:sp>
        <p:nvSpPr>
          <p:cNvPr id="181" name="TextBox 180">
            <a:extLst>
              <a:ext uri="{FF2B5EF4-FFF2-40B4-BE49-F238E27FC236}">
                <a16:creationId xmlns:a16="http://schemas.microsoft.com/office/drawing/2014/main" id="{1F0E33BC-C3A0-427A-8456-1087A81AE95D}"/>
              </a:ext>
            </a:extLst>
          </p:cNvPr>
          <p:cNvSpPr txBox="1">
            <a:spLocks/>
          </p:cNvSpPr>
          <p:nvPr/>
        </p:nvSpPr>
        <p:spPr>
          <a:xfrm>
            <a:off x="992085" y="1114248"/>
            <a:ext cx="497497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Company overview</a:t>
            </a:r>
          </a:p>
        </p:txBody>
      </p:sp>
      <p:sp>
        <p:nvSpPr>
          <p:cNvPr id="18" name="Rectangle 17">
            <a:extLst>
              <a:ext uri="{FF2B5EF4-FFF2-40B4-BE49-F238E27FC236}">
                <a16:creationId xmlns:a16="http://schemas.microsoft.com/office/drawing/2014/main" id="{FC02E9E8-B01C-48E8-85FC-DD221EE97A0A}"/>
              </a:ext>
            </a:extLst>
          </p:cNvPr>
          <p:cNvSpPr/>
          <p:nvPr/>
        </p:nvSpPr>
        <p:spPr>
          <a:xfrm>
            <a:off x="0" y="3735254"/>
            <a:ext cx="12192000" cy="2487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8" name="TextBox 187">
            <a:extLst>
              <a:ext uri="{FF2B5EF4-FFF2-40B4-BE49-F238E27FC236}">
                <a16:creationId xmlns:a16="http://schemas.microsoft.com/office/drawing/2014/main" id="{53F4E75C-C568-450B-8DCC-7F636CADAD42}"/>
              </a:ext>
            </a:extLst>
          </p:cNvPr>
          <p:cNvSpPr txBox="1">
            <a:spLocks/>
          </p:cNvSpPr>
          <p:nvPr/>
        </p:nvSpPr>
        <p:spPr bwMode="white">
          <a:xfrm>
            <a:off x="998401" y="3849038"/>
            <a:ext cx="4219935" cy="295466"/>
          </a:xfrm>
          <a:prstGeom prst="rect">
            <a:avLst/>
          </a:prstGeom>
          <a:noFill/>
        </p:spPr>
        <p:txBody>
          <a:bodyPr wrap="square" lIns="0" tIns="0" rIns="0" bIns="0">
            <a:spAutoFit/>
          </a:bodyPr>
          <a:lstStyle/>
          <a:p>
            <a:pPr>
              <a:lnSpc>
                <a:spcPct val="80000"/>
              </a:lnSpc>
            </a:pPr>
            <a:r>
              <a:rPr lang="en-US" sz="2400">
                <a:solidFill>
                  <a:schemeClr val="bg1"/>
                </a:solidFill>
                <a:latin typeface="+mj-lt"/>
              </a:rPr>
              <a:t>Timeline of key events</a:t>
            </a:r>
          </a:p>
        </p:txBody>
      </p:sp>
      <p:cxnSp>
        <p:nvCxnSpPr>
          <p:cNvPr id="189" name="Straight Connector 188">
            <a:extLst>
              <a:ext uri="{FF2B5EF4-FFF2-40B4-BE49-F238E27FC236}">
                <a16:creationId xmlns:a16="http://schemas.microsoft.com/office/drawing/2014/main" id="{5F2D7564-2224-41F8-9818-19DF365AE480}"/>
              </a:ext>
            </a:extLst>
          </p:cNvPr>
          <p:cNvCxnSpPr>
            <a:cxnSpLocks/>
          </p:cNvCxnSpPr>
          <p:nvPr/>
        </p:nvCxnSpPr>
        <p:spPr bwMode="white">
          <a:xfrm>
            <a:off x="2987737" y="4104976"/>
            <a:ext cx="82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5F39C808-6C7C-4A2F-9AF1-444229DF89DC}"/>
              </a:ext>
            </a:extLst>
          </p:cNvPr>
          <p:cNvCxnSpPr>
            <a:cxnSpLocks/>
          </p:cNvCxnSpPr>
          <p:nvPr/>
        </p:nvCxnSpPr>
        <p:spPr bwMode="white">
          <a:xfrm>
            <a:off x="1024770" y="5179421"/>
            <a:ext cx="10144767" cy="0"/>
          </a:xfrm>
          <a:prstGeom prst="line">
            <a:avLst/>
          </a:prstGeom>
          <a:ln w="19050" cap="sq">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8" name="Group 277">
            <a:extLst>
              <a:ext uri="{FF2B5EF4-FFF2-40B4-BE49-F238E27FC236}">
                <a16:creationId xmlns:a16="http://schemas.microsoft.com/office/drawing/2014/main" id="{78E3D795-2541-45BB-8045-63B7B77317A4}"/>
              </a:ext>
            </a:extLst>
          </p:cNvPr>
          <p:cNvGrpSpPr/>
          <p:nvPr/>
        </p:nvGrpSpPr>
        <p:grpSpPr bwMode="white">
          <a:xfrm>
            <a:off x="1010004" y="4324284"/>
            <a:ext cx="1954819" cy="684803"/>
            <a:chOff x="1054973" y="4183726"/>
            <a:chExt cx="1954819" cy="684803"/>
          </a:xfrm>
        </p:grpSpPr>
        <p:cxnSp>
          <p:nvCxnSpPr>
            <p:cNvPr id="241" name="Straight Connector 240">
              <a:extLst>
                <a:ext uri="{FF2B5EF4-FFF2-40B4-BE49-F238E27FC236}">
                  <a16:creationId xmlns:a16="http://schemas.microsoft.com/office/drawing/2014/main" id="{BDEC7836-EC64-4038-8FA4-AFC4037CE382}"/>
                </a:ext>
              </a:extLst>
            </p:cNvPr>
            <p:cNvCxnSpPr>
              <a:cxnSpLocks/>
            </p:cNvCxnSpPr>
            <p:nvPr/>
          </p:nvCxnSpPr>
          <p:spPr bwMode="white">
            <a:xfrm>
              <a:off x="1054973" y="4183726"/>
              <a:ext cx="0" cy="684803"/>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2" name="TextBox 241">
              <a:extLst>
                <a:ext uri="{FF2B5EF4-FFF2-40B4-BE49-F238E27FC236}">
                  <a16:creationId xmlns:a16="http://schemas.microsoft.com/office/drawing/2014/main" id="{42AB875B-312A-4AFD-B8D1-14E869BE9D18}"/>
                </a:ext>
              </a:extLst>
            </p:cNvPr>
            <p:cNvSpPr txBox="1">
              <a:spLocks/>
            </p:cNvSpPr>
            <p:nvPr/>
          </p:nvSpPr>
          <p:spPr bwMode="white">
            <a:xfrm>
              <a:off x="1192133" y="4183726"/>
              <a:ext cx="1817659" cy="377026"/>
            </a:xfrm>
            <a:prstGeom prst="rect">
              <a:avLst/>
            </a:prstGeom>
            <a:noFill/>
          </p:spPr>
          <p:txBody>
            <a:bodyPr wrap="square" lIns="0" tIns="0" rIns="0" bIns="0" rtlCol="0">
              <a:spAutoFit/>
            </a:bodyPr>
            <a:lstStyle/>
            <a:p>
              <a:pPr defTabSz="914377">
                <a:spcAft>
                  <a:spcPts val="300"/>
                </a:spcAft>
                <a:defRPr/>
              </a:pPr>
              <a:r>
                <a:rPr lang="en-US" sz="1200" b="1" dirty="0">
                  <a:solidFill>
                    <a:schemeClr val="bg1"/>
                  </a:solidFill>
                </a:rPr>
                <a:t>2003</a:t>
              </a:r>
            </a:p>
            <a:p>
              <a:pPr>
                <a:spcAft>
                  <a:spcPts val="300"/>
                </a:spcAft>
                <a:defRPr/>
              </a:pPr>
              <a:r>
                <a:rPr lang="en-US" sz="1000" dirty="0">
                  <a:solidFill>
                    <a:schemeClr val="bg1"/>
                  </a:solidFill>
                </a:rPr>
                <a:t>Business was founded</a:t>
              </a:r>
            </a:p>
          </p:txBody>
        </p:sp>
      </p:grpSp>
      <p:sp>
        <p:nvSpPr>
          <p:cNvPr id="216" name="Oval 215">
            <a:extLst>
              <a:ext uri="{FF2B5EF4-FFF2-40B4-BE49-F238E27FC236}">
                <a16:creationId xmlns:a16="http://schemas.microsoft.com/office/drawing/2014/main" id="{D35ED2BA-54FC-4A8A-B79B-997C97227EA1}"/>
              </a:ext>
            </a:extLst>
          </p:cNvPr>
          <p:cNvSpPr/>
          <p:nvPr/>
        </p:nvSpPr>
        <p:spPr bwMode="white">
          <a:xfrm>
            <a:off x="992793" y="511724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59" name="Oval 258">
            <a:extLst>
              <a:ext uri="{FF2B5EF4-FFF2-40B4-BE49-F238E27FC236}">
                <a16:creationId xmlns:a16="http://schemas.microsoft.com/office/drawing/2014/main" id="{4E5FF1B9-718F-470C-8149-D0E48867B74A}"/>
              </a:ext>
            </a:extLst>
          </p:cNvPr>
          <p:cNvSpPr/>
          <p:nvPr/>
        </p:nvSpPr>
        <p:spPr bwMode="white">
          <a:xfrm>
            <a:off x="3331355" y="511724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63" name="Oval 262">
            <a:extLst>
              <a:ext uri="{FF2B5EF4-FFF2-40B4-BE49-F238E27FC236}">
                <a16:creationId xmlns:a16="http://schemas.microsoft.com/office/drawing/2014/main" id="{D935ACB9-15B4-426D-9383-319015E5610B}"/>
              </a:ext>
            </a:extLst>
          </p:cNvPr>
          <p:cNvSpPr/>
          <p:nvPr/>
        </p:nvSpPr>
        <p:spPr bwMode="white">
          <a:xfrm>
            <a:off x="10119576" y="511724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67" name="Oval 266">
            <a:extLst>
              <a:ext uri="{FF2B5EF4-FFF2-40B4-BE49-F238E27FC236}">
                <a16:creationId xmlns:a16="http://schemas.microsoft.com/office/drawing/2014/main" id="{0F5DF28F-8EE7-4F4B-9AF5-E9CF1F34765D}"/>
              </a:ext>
            </a:extLst>
          </p:cNvPr>
          <p:cNvSpPr/>
          <p:nvPr/>
        </p:nvSpPr>
        <p:spPr bwMode="white">
          <a:xfrm>
            <a:off x="2409724" y="511724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71" name="Oval 270">
            <a:extLst>
              <a:ext uri="{FF2B5EF4-FFF2-40B4-BE49-F238E27FC236}">
                <a16:creationId xmlns:a16="http://schemas.microsoft.com/office/drawing/2014/main" id="{420D8BC0-6681-4743-81C4-361C5FA87D84}"/>
              </a:ext>
            </a:extLst>
          </p:cNvPr>
          <p:cNvSpPr/>
          <p:nvPr/>
        </p:nvSpPr>
        <p:spPr bwMode="white">
          <a:xfrm>
            <a:off x="5910336" y="511724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75" name="Oval 274">
            <a:extLst>
              <a:ext uri="{FF2B5EF4-FFF2-40B4-BE49-F238E27FC236}">
                <a16:creationId xmlns:a16="http://schemas.microsoft.com/office/drawing/2014/main" id="{52911A12-E04B-47E5-9CC2-87022E2E8443}"/>
              </a:ext>
            </a:extLst>
          </p:cNvPr>
          <p:cNvSpPr/>
          <p:nvPr/>
        </p:nvSpPr>
        <p:spPr bwMode="white">
          <a:xfrm>
            <a:off x="8873741" y="5109422"/>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cxnSp>
        <p:nvCxnSpPr>
          <p:cNvPr id="280" name="Straight Connector 279">
            <a:extLst>
              <a:ext uri="{FF2B5EF4-FFF2-40B4-BE49-F238E27FC236}">
                <a16:creationId xmlns:a16="http://schemas.microsoft.com/office/drawing/2014/main" id="{188552AB-EDF1-4E22-A8FB-0229BF69B670}"/>
              </a:ext>
            </a:extLst>
          </p:cNvPr>
          <p:cNvCxnSpPr>
            <a:cxnSpLocks/>
          </p:cNvCxnSpPr>
          <p:nvPr/>
        </p:nvCxnSpPr>
        <p:spPr bwMode="white">
          <a:xfrm>
            <a:off x="3403060" y="4229100"/>
            <a:ext cx="0" cy="779985"/>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1" name="TextBox 280">
            <a:extLst>
              <a:ext uri="{FF2B5EF4-FFF2-40B4-BE49-F238E27FC236}">
                <a16:creationId xmlns:a16="http://schemas.microsoft.com/office/drawing/2014/main" id="{38BDE6FC-32F6-4729-B8D5-F90D53950683}"/>
              </a:ext>
            </a:extLst>
          </p:cNvPr>
          <p:cNvSpPr txBox="1">
            <a:spLocks/>
          </p:cNvSpPr>
          <p:nvPr/>
        </p:nvSpPr>
        <p:spPr bwMode="white">
          <a:xfrm>
            <a:off x="3511645" y="4200458"/>
            <a:ext cx="2135396" cy="761747"/>
          </a:xfrm>
          <a:prstGeom prst="rect">
            <a:avLst/>
          </a:prstGeom>
          <a:noFill/>
        </p:spPr>
        <p:txBody>
          <a:bodyPr wrap="square" lIns="0" tIns="0" rIns="0" bIns="0" rtlCol="0">
            <a:spAutoFit/>
          </a:bodyPr>
          <a:lstStyle/>
          <a:p>
            <a:pPr defTabSz="914377">
              <a:spcAft>
                <a:spcPts val="300"/>
              </a:spcAft>
              <a:defRPr/>
            </a:pPr>
            <a:r>
              <a:rPr lang="en-US" sz="1200" b="1" dirty="0">
                <a:solidFill>
                  <a:schemeClr val="bg1"/>
                </a:solidFill>
              </a:rPr>
              <a:t>2014</a:t>
            </a:r>
          </a:p>
          <a:p>
            <a:pPr>
              <a:spcAft>
                <a:spcPts val="300"/>
              </a:spcAft>
              <a:defRPr/>
            </a:pPr>
            <a:r>
              <a:rPr lang="en-GB" sz="1000" dirty="0">
                <a:solidFill>
                  <a:schemeClr val="bg1"/>
                </a:solidFill>
              </a:rPr>
              <a:t>Y became foundation members of </a:t>
            </a:r>
            <a:r>
              <a:rPr lang="en-GB" sz="1000" dirty="0" err="1">
                <a:solidFill>
                  <a:schemeClr val="bg1"/>
                </a:solidFill>
              </a:rPr>
              <a:t>yy</a:t>
            </a:r>
            <a:r>
              <a:rPr lang="en-GB" sz="1000" dirty="0">
                <a:solidFill>
                  <a:schemeClr val="bg1"/>
                </a:solidFill>
              </a:rPr>
              <a:t>.</a:t>
            </a:r>
          </a:p>
          <a:p>
            <a:pPr>
              <a:spcAft>
                <a:spcPts val="300"/>
              </a:spcAft>
              <a:defRPr/>
            </a:pPr>
            <a:r>
              <a:rPr lang="en-GB" sz="1000" dirty="0">
                <a:solidFill>
                  <a:schemeClr val="bg1"/>
                </a:solidFill>
              </a:rPr>
              <a:t>£x million raised via crowdfunding.</a:t>
            </a:r>
          </a:p>
          <a:p>
            <a:pPr>
              <a:spcAft>
                <a:spcPts val="300"/>
              </a:spcAft>
              <a:defRPr/>
            </a:pPr>
            <a:r>
              <a:rPr lang="en-GB" sz="1000" dirty="0">
                <a:solidFill>
                  <a:schemeClr val="bg1"/>
                </a:solidFill>
              </a:rPr>
              <a:t>Opened Boutiques A, B, C and D</a:t>
            </a:r>
          </a:p>
        </p:txBody>
      </p:sp>
      <p:grpSp>
        <p:nvGrpSpPr>
          <p:cNvPr id="285" name="Group 284">
            <a:extLst>
              <a:ext uri="{FF2B5EF4-FFF2-40B4-BE49-F238E27FC236}">
                <a16:creationId xmlns:a16="http://schemas.microsoft.com/office/drawing/2014/main" id="{A4158321-E865-469F-8BDA-1731DB5C5BBD}"/>
              </a:ext>
            </a:extLst>
          </p:cNvPr>
          <p:cNvGrpSpPr/>
          <p:nvPr/>
        </p:nvGrpSpPr>
        <p:grpSpPr bwMode="white">
          <a:xfrm>
            <a:off x="10162922" y="4324284"/>
            <a:ext cx="1692924" cy="684803"/>
            <a:chOff x="9122997" y="4183726"/>
            <a:chExt cx="1954818" cy="684803"/>
          </a:xfrm>
        </p:grpSpPr>
        <p:cxnSp>
          <p:nvCxnSpPr>
            <p:cNvPr id="283" name="Straight Connector 282">
              <a:extLst>
                <a:ext uri="{FF2B5EF4-FFF2-40B4-BE49-F238E27FC236}">
                  <a16:creationId xmlns:a16="http://schemas.microsoft.com/office/drawing/2014/main" id="{2152AC3A-7003-4418-9D4B-810BB2B427BB}"/>
                </a:ext>
              </a:extLst>
            </p:cNvPr>
            <p:cNvCxnSpPr>
              <a:cxnSpLocks/>
            </p:cNvCxnSpPr>
            <p:nvPr/>
          </p:nvCxnSpPr>
          <p:spPr bwMode="white">
            <a:xfrm>
              <a:off x="9122997" y="4183726"/>
              <a:ext cx="0" cy="684803"/>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993B8D04-EAE9-463A-A397-203124044150}"/>
                </a:ext>
              </a:extLst>
            </p:cNvPr>
            <p:cNvSpPr txBox="1">
              <a:spLocks/>
            </p:cNvSpPr>
            <p:nvPr/>
          </p:nvSpPr>
          <p:spPr bwMode="white">
            <a:xfrm>
              <a:off x="9260156" y="4183726"/>
              <a:ext cx="1817659" cy="530915"/>
            </a:xfrm>
            <a:prstGeom prst="rect">
              <a:avLst/>
            </a:prstGeom>
            <a:noFill/>
          </p:spPr>
          <p:txBody>
            <a:bodyPr wrap="square" lIns="0" tIns="0" rIns="0" bIns="0" rtlCol="0">
              <a:spAutoFit/>
            </a:bodyPr>
            <a:lstStyle/>
            <a:p>
              <a:pPr defTabSz="914377">
                <a:spcAft>
                  <a:spcPts val="300"/>
                </a:spcAft>
                <a:defRPr/>
              </a:pPr>
              <a:r>
                <a:rPr lang="en-US" sz="1200" b="1" dirty="0">
                  <a:solidFill>
                    <a:schemeClr val="bg1"/>
                  </a:solidFill>
                </a:rPr>
                <a:t>2021</a:t>
              </a:r>
            </a:p>
            <a:p>
              <a:pPr>
                <a:spcAft>
                  <a:spcPts val="300"/>
                </a:spcAft>
                <a:defRPr/>
              </a:pPr>
              <a:r>
                <a:rPr lang="en-GB" sz="1000" dirty="0">
                  <a:solidFill>
                    <a:schemeClr val="bg1"/>
                  </a:solidFill>
                </a:rPr>
                <a:t>Opened Department store B </a:t>
              </a:r>
              <a:r>
                <a:rPr lang="en-GB" sz="1000" dirty="0" err="1">
                  <a:solidFill>
                    <a:schemeClr val="bg1"/>
                  </a:solidFill>
                </a:rPr>
                <a:t>yy</a:t>
              </a:r>
              <a:r>
                <a:rPr lang="en-GB" sz="1000" dirty="0">
                  <a:solidFill>
                    <a:schemeClr val="bg1"/>
                  </a:solidFill>
                </a:rPr>
                <a:t> concession.</a:t>
              </a:r>
            </a:p>
          </p:txBody>
        </p:sp>
      </p:grpSp>
      <p:grpSp>
        <p:nvGrpSpPr>
          <p:cNvPr id="290" name="Group 289">
            <a:extLst>
              <a:ext uri="{FF2B5EF4-FFF2-40B4-BE49-F238E27FC236}">
                <a16:creationId xmlns:a16="http://schemas.microsoft.com/office/drawing/2014/main" id="{49CB494B-65BE-4D72-AB25-0D7AEACC7610}"/>
              </a:ext>
            </a:extLst>
          </p:cNvPr>
          <p:cNvGrpSpPr/>
          <p:nvPr/>
        </p:nvGrpSpPr>
        <p:grpSpPr bwMode="white">
          <a:xfrm>
            <a:off x="6877051" y="5294920"/>
            <a:ext cx="2058872" cy="684803"/>
            <a:chOff x="9081126" y="5162214"/>
            <a:chExt cx="2058871" cy="684803"/>
          </a:xfrm>
        </p:grpSpPr>
        <p:cxnSp>
          <p:nvCxnSpPr>
            <p:cNvPr id="288" name="Straight Connector 287">
              <a:extLst>
                <a:ext uri="{FF2B5EF4-FFF2-40B4-BE49-F238E27FC236}">
                  <a16:creationId xmlns:a16="http://schemas.microsoft.com/office/drawing/2014/main" id="{88850207-4665-4B74-8FBE-3F8A31A65631}"/>
                </a:ext>
              </a:extLst>
            </p:cNvPr>
            <p:cNvCxnSpPr>
              <a:cxnSpLocks/>
            </p:cNvCxnSpPr>
            <p:nvPr/>
          </p:nvCxnSpPr>
          <p:spPr bwMode="white">
            <a:xfrm flipH="1">
              <a:off x="11139997" y="5162214"/>
              <a:ext cx="0" cy="684803"/>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9" name="TextBox 288">
              <a:extLst>
                <a:ext uri="{FF2B5EF4-FFF2-40B4-BE49-F238E27FC236}">
                  <a16:creationId xmlns:a16="http://schemas.microsoft.com/office/drawing/2014/main" id="{2ADBA495-8E53-4BE9-B231-1FF20142B1F8}"/>
                </a:ext>
              </a:extLst>
            </p:cNvPr>
            <p:cNvSpPr txBox="1">
              <a:spLocks/>
            </p:cNvSpPr>
            <p:nvPr/>
          </p:nvSpPr>
          <p:spPr bwMode="white">
            <a:xfrm flipH="1">
              <a:off x="9081126" y="5162214"/>
              <a:ext cx="1921712" cy="569387"/>
            </a:xfrm>
            <a:prstGeom prst="rect">
              <a:avLst/>
            </a:prstGeom>
            <a:noFill/>
          </p:spPr>
          <p:txBody>
            <a:bodyPr wrap="square" lIns="0" tIns="0" rIns="0" bIns="0" rtlCol="0">
              <a:spAutoFit/>
            </a:bodyPr>
            <a:lstStyle/>
            <a:p>
              <a:pPr algn="r" defTabSz="914377">
                <a:spcAft>
                  <a:spcPts val="300"/>
                </a:spcAft>
                <a:defRPr/>
              </a:pPr>
              <a:r>
                <a:rPr lang="en-US" sz="1200" b="1">
                  <a:solidFill>
                    <a:schemeClr val="bg1"/>
                  </a:solidFill>
                </a:rPr>
                <a:t>2020</a:t>
              </a:r>
            </a:p>
            <a:p>
              <a:pPr algn="r">
                <a:spcAft>
                  <a:spcPts val="300"/>
                </a:spcAft>
                <a:defRPr/>
              </a:pPr>
              <a:r>
                <a:rPr lang="en-GB" sz="1000">
                  <a:solidFill>
                    <a:schemeClr val="bg1"/>
                  </a:solidFill>
                </a:rPr>
                <a:t>Opened Boutique F </a:t>
              </a:r>
            </a:p>
            <a:p>
              <a:pPr algn="r">
                <a:spcAft>
                  <a:spcPts val="300"/>
                </a:spcAft>
                <a:defRPr/>
              </a:pPr>
              <a:r>
                <a:rPr lang="en-GB" sz="1000">
                  <a:solidFill>
                    <a:schemeClr val="bg1"/>
                  </a:solidFill>
                </a:rPr>
                <a:t>Launched footwear product range</a:t>
              </a:r>
              <a:r>
                <a:rPr lang="en-US" sz="1000">
                  <a:solidFill>
                    <a:schemeClr val="bg1"/>
                  </a:solidFill>
                </a:rPr>
                <a:t>.</a:t>
              </a:r>
            </a:p>
          </p:txBody>
        </p:sp>
      </p:grpSp>
      <p:grpSp>
        <p:nvGrpSpPr>
          <p:cNvPr id="292" name="Group 291">
            <a:extLst>
              <a:ext uri="{FF2B5EF4-FFF2-40B4-BE49-F238E27FC236}">
                <a16:creationId xmlns:a16="http://schemas.microsoft.com/office/drawing/2014/main" id="{74D31282-9665-4F15-800E-0D4ACA12841B}"/>
              </a:ext>
            </a:extLst>
          </p:cNvPr>
          <p:cNvGrpSpPr/>
          <p:nvPr/>
        </p:nvGrpSpPr>
        <p:grpSpPr bwMode="white">
          <a:xfrm>
            <a:off x="3172945" y="5255147"/>
            <a:ext cx="2822189" cy="770528"/>
            <a:chOff x="7241484" y="5076489"/>
            <a:chExt cx="2822188" cy="770528"/>
          </a:xfrm>
        </p:grpSpPr>
        <p:cxnSp>
          <p:nvCxnSpPr>
            <p:cNvPr id="293" name="Straight Connector 292">
              <a:extLst>
                <a:ext uri="{FF2B5EF4-FFF2-40B4-BE49-F238E27FC236}">
                  <a16:creationId xmlns:a16="http://schemas.microsoft.com/office/drawing/2014/main" id="{33D03BBA-0F25-4C25-8EC0-43D5F56340F2}"/>
                </a:ext>
              </a:extLst>
            </p:cNvPr>
            <p:cNvCxnSpPr>
              <a:cxnSpLocks/>
            </p:cNvCxnSpPr>
            <p:nvPr/>
          </p:nvCxnSpPr>
          <p:spPr bwMode="white">
            <a:xfrm flipH="1">
              <a:off x="10063672" y="5162214"/>
              <a:ext cx="0" cy="684803"/>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7CDB6260-EBD8-4A9A-AFFC-78F298861FB7}"/>
                </a:ext>
              </a:extLst>
            </p:cNvPr>
            <p:cNvSpPr txBox="1">
              <a:spLocks/>
            </p:cNvSpPr>
            <p:nvPr/>
          </p:nvSpPr>
          <p:spPr bwMode="white">
            <a:xfrm flipH="1">
              <a:off x="7241484" y="5076489"/>
              <a:ext cx="2761228" cy="761747"/>
            </a:xfrm>
            <a:prstGeom prst="rect">
              <a:avLst/>
            </a:prstGeom>
            <a:noFill/>
          </p:spPr>
          <p:txBody>
            <a:bodyPr wrap="square" lIns="0" tIns="0" rIns="0" bIns="0" rtlCol="0">
              <a:spAutoFit/>
            </a:bodyPr>
            <a:lstStyle/>
            <a:p>
              <a:pPr algn="r" defTabSz="914377">
                <a:spcAft>
                  <a:spcPts val="300"/>
                </a:spcAft>
                <a:defRPr/>
              </a:pPr>
              <a:r>
                <a:rPr lang="en-US" sz="1200" b="1" dirty="0">
                  <a:solidFill>
                    <a:schemeClr val="bg1"/>
                  </a:solidFill>
                </a:rPr>
                <a:t>2016</a:t>
              </a:r>
            </a:p>
            <a:p>
              <a:pPr algn="r">
                <a:spcAft>
                  <a:spcPts val="300"/>
                </a:spcAft>
                <a:defRPr/>
              </a:pPr>
              <a:r>
                <a:rPr lang="en-GB" sz="1000" dirty="0">
                  <a:solidFill>
                    <a:schemeClr val="bg1"/>
                  </a:solidFill>
                </a:rPr>
                <a:t>Opened Department store A </a:t>
              </a:r>
              <a:r>
                <a:rPr lang="en-GB" sz="1000" dirty="0" err="1">
                  <a:solidFill>
                    <a:schemeClr val="bg1"/>
                  </a:solidFill>
                </a:rPr>
                <a:t>yy</a:t>
              </a:r>
              <a:r>
                <a:rPr lang="en-GB" sz="1000" dirty="0">
                  <a:solidFill>
                    <a:schemeClr val="bg1"/>
                  </a:solidFill>
                </a:rPr>
                <a:t> concession.</a:t>
              </a:r>
            </a:p>
            <a:p>
              <a:pPr algn="r">
                <a:spcAft>
                  <a:spcPts val="300"/>
                </a:spcAft>
                <a:defRPr/>
              </a:pPr>
              <a:r>
                <a:rPr lang="en-GB" sz="1000" dirty="0">
                  <a:solidFill>
                    <a:schemeClr val="bg1"/>
                  </a:solidFill>
                </a:rPr>
                <a:t>Launched dresses product range</a:t>
              </a:r>
            </a:p>
            <a:p>
              <a:pPr algn="r">
                <a:spcAft>
                  <a:spcPts val="300"/>
                </a:spcAft>
                <a:defRPr/>
              </a:pPr>
              <a:r>
                <a:rPr lang="en-GB" sz="1000" dirty="0">
                  <a:solidFill>
                    <a:schemeClr val="bg1"/>
                  </a:solidFill>
                </a:rPr>
                <a:t>Current Chairman appointed</a:t>
              </a:r>
            </a:p>
          </p:txBody>
        </p:sp>
      </p:grpSp>
      <p:grpSp>
        <p:nvGrpSpPr>
          <p:cNvPr id="295" name="Group 294">
            <a:extLst>
              <a:ext uri="{FF2B5EF4-FFF2-40B4-BE49-F238E27FC236}">
                <a16:creationId xmlns:a16="http://schemas.microsoft.com/office/drawing/2014/main" id="{2700ED3A-E78C-4A75-8A76-15D9B04D3396}"/>
              </a:ext>
            </a:extLst>
          </p:cNvPr>
          <p:cNvGrpSpPr/>
          <p:nvPr/>
        </p:nvGrpSpPr>
        <p:grpSpPr bwMode="white">
          <a:xfrm>
            <a:off x="532786" y="5302772"/>
            <a:ext cx="1935769" cy="684803"/>
            <a:chOff x="9185179" y="5162214"/>
            <a:chExt cx="1935768" cy="684803"/>
          </a:xfrm>
        </p:grpSpPr>
        <p:cxnSp>
          <p:nvCxnSpPr>
            <p:cNvPr id="296" name="Straight Connector 295">
              <a:extLst>
                <a:ext uri="{FF2B5EF4-FFF2-40B4-BE49-F238E27FC236}">
                  <a16:creationId xmlns:a16="http://schemas.microsoft.com/office/drawing/2014/main" id="{EF275060-B471-4411-8834-47C04B75BC00}"/>
                </a:ext>
              </a:extLst>
            </p:cNvPr>
            <p:cNvCxnSpPr>
              <a:cxnSpLocks/>
            </p:cNvCxnSpPr>
            <p:nvPr/>
          </p:nvCxnSpPr>
          <p:spPr bwMode="white">
            <a:xfrm flipH="1">
              <a:off x="11120947" y="5162214"/>
              <a:ext cx="0" cy="684803"/>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7" name="TextBox 296">
              <a:extLst>
                <a:ext uri="{FF2B5EF4-FFF2-40B4-BE49-F238E27FC236}">
                  <a16:creationId xmlns:a16="http://schemas.microsoft.com/office/drawing/2014/main" id="{9A71F628-61EA-4527-8191-366149FC33C0}"/>
                </a:ext>
              </a:extLst>
            </p:cNvPr>
            <p:cNvSpPr txBox="1">
              <a:spLocks/>
            </p:cNvSpPr>
            <p:nvPr/>
          </p:nvSpPr>
          <p:spPr bwMode="white">
            <a:xfrm flipH="1">
              <a:off x="9185179" y="5162214"/>
              <a:ext cx="1817659" cy="377026"/>
            </a:xfrm>
            <a:prstGeom prst="rect">
              <a:avLst/>
            </a:prstGeom>
            <a:noFill/>
          </p:spPr>
          <p:txBody>
            <a:bodyPr wrap="square" lIns="0" tIns="0" rIns="0" bIns="0" rtlCol="0">
              <a:spAutoFit/>
            </a:bodyPr>
            <a:lstStyle/>
            <a:p>
              <a:pPr algn="r" defTabSz="914377">
                <a:spcAft>
                  <a:spcPts val="300"/>
                </a:spcAft>
                <a:defRPr/>
              </a:pPr>
              <a:r>
                <a:rPr lang="en-US" sz="1200" b="1" dirty="0">
                  <a:solidFill>
                    <a:schemeClr val="bg1"/>
                  </a:solidFill>
                </a:rPr>
                <a:t>2010</a:t>
              </a:r>
            </a:p>
            <a:p>
              <a:pPr algn="r">
                <a:spcAft>
                  <a:spcPts val="300"/>
                </a:spcAft>
                <a:defRPr/>
              </a:pPr>
              <a:r>
                <a:rPr lang="en-US" sz="1000" dirty="0">
                  <a:solidFill>
                    <a:schemeClr val="bg1"/>
                  </a:solidFill>
                </a:rPr>
                <a:t>First boutique opened</a:t>
              </a:r>
            </a:p>
          </p:txBody>
        </p:sp>
      </p:grpSp>
      <p:grpSp>
        <p:nvGrpSpPr>
          <p:cNvPr id="88" name="Group 87">
            <a:extLst>
              <a:ext uri="{FF2B5EF4-FFF2-40B4-BE49-F238E27FC236}">
                <a16:creationId xmlns:a16="http://schemas.microsoft.com/office/drawing/2014/main" id="{6DA4EFAB-EDAF-4094-8546-F739892353BD}"/>
              </a:ext>
            </a:extLst>
          </p:cNvPr>
          <p:cNvGrpSpPr/>
          <p:nvPr/>
        </p:nvGrpSpPr>
        <p:grpSpPr>
          <a:xfrm>
            <a:off x="1027290" y="459216"/>
            <a:ext cx="9566296" cy="162000"/>
            <a:chOff x="1005279" y="366564"/>
            <a:chExt cx="9566296" cy="162000"/>
          </a:xfrm>
        </p:grpSpPr>
        <p:sp>
          <p:nvSpPr>
            <p:cNvPr id="89" name="Rectangle 88">
              <a:hlinkClick r:id="rId8" action="ppaction://hlinksldjump"/>
              <a:extLst>
                <a:ext uri="{FF2B5EF4-FFF2-40B4-BE49-F238E27FC236}">
                  <a16:creationId xmlns:a16="http://schemas.microsoft.com/office/drawing/2014/main" id="{52E8D002-4EED-4DB4-84D0-259174722F4F}"/>
                </a:ext>
              </a:extLst>
            </p:cNvPr>
            <p:cNvSpPr/>
            <p:nvPr/>
          </p:nvSpPr>
          <p:spPr>
            <a:xfrm>
              <a:off x="2271276" y="366564"/>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0" name="Rectangle 89">
              <a:hlinkClick r:id="rId9" action="ppaction://hlinksldjump"/>
              <a:extLst>
                <a:ext uri="{FF2B5EF4-FFF2-40B4-BE49-F238E27FC236}">
                  <a16:creationId xmlns:a16="http://schemas.microsoft.com/office/drawing/2014/main" id="{C88A1BA7-144E-4A89-BC3C-E7EC04640882}"/>
                </a:ext>
              </a:extLst>
            </p:cNvPr>
            <p:cNvSpPr/>
            <p:nvPr/>
          </p:nvSpPr>
          <p:spPr>
            <a:xfrm>
              <a:off x="4475933" y="366564"/>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1" name="Rectangle 90">
              <a:hlinkClick r:id="rId10" action="ppaction://hlinksldjump"/>
              <a:extLst>
                <a:ext uri="{FF2B5EF4-FFF2-40B4-BE49-F238E27FC236}">
                  <a16:creationId xmlns:a16="http://schemas.microsoft.com/office/drawing/2014/main" id="{6F782187-784B-41BB-8EBD-8B4626A753BA}"/>
                </a:ext>
              </a:extLst>
            </p:cNvPr>
            <p:cNvSpPr/>
            <p:nvPr/>
          </p:nvSpPr>
          <p:spPr>
            <a:xfrm>
              <a:off x="7948976" y="366564"/>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2" name="Rectangle 91">
              <a:hlinkClick r:id="rId11" action="ppaction://hlinksldjump"/>
              <a:extLst>
                <a:ext uri="{FF2B5EF4-FFF2-40B4-BE49-F238E27FC236}">
                  <a16:creationId xmlns:a16="http://schemas.microsoft.com/office/drawing/2014/main" id="{6B1793DE-B664-4C65-B820-CD60A2CF42FC}"/>
                </a:ext>
              </a:extLst>
            </p:cNvPr>
            <p:cNvSpPr/>
            <p:nvPr/>
          </p:nvSpPr>
          <p:spPr>
            <a:xfrm>
              <a:off x="9779575" y="366564"/>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3" name="Rectangle 92">
              <a:hlinkClick r:id="rId12" action="ppaction://hlinksldjump"/>
              <a:extLst>
                <a:ext uri="{FF2B5EF4-FFF2-40B4-BE49-F238E27FC236}">
                  <a16:creationId xmlns:a16="http://schemas.microsoft.com/office/drawing/2014/main" id="{62E78A7A-0E92-435A-B186-926A69288EB5}"/>
                </a:ext>
              </a:extLst>
            </p:cNvPr>
            <p:cNvSpPr/>
            <p:nvPr/>
          </p:nvSpPr>
          <p:spPr>
            <a:xfrm>
              <a:off x="5448341" y="366564"/>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4" name="Rectangle 93">
              <a:hlinkClick r:id="rId13" action="ppaction://hlinksldjump"/>
              <a:extLst>
                <a:ext uri="{FF2B5EF4-FFF2-40B4-BE49-F238E27FC236}">
                  <a16:creationId xmlns:a16="http://schemas.microsoft.com/office/drawing/2014/main" id="{F90AFF33-CC96-4485-9D09-8F5C491A059A}"/>
                </a:ext>
              </a:extLst>
            </p:cNvPr>
            <p:cNvSpPr/>
            <p:nvPr/>
          </p:nvSpPr>
          <p:spPr>
            <a:xfrm>
              <a:off x="1005279" y="366564"/>
              <a:ext cx="126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5" name="Rectangle 94">
              <a:hlinkClick r:id="rId14" action="ppaction://hlinksldjump"/>
              <a:extLst>
                <a:ext uri="{FF2B5EF4-FFF2-40B4-BE49-F238E27FC236}">
                  <a16:creationId xmlns:a16="http://schemas.microsoft.com/office/drawing/2014/main" id="{C9489449-85D7-4F14-817A-EFB17C75996F}"/>
                </a:ext>
              </a:extLst>
            </p:cNvPr>
            <p:cNvSpPr/>
            <p:nvPr/>
          </p:nvSpPr>
          <p:spPr>
            <a:xfrm>
              <a:off x="3389690" y="366564"/>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6" name="Rectangle 95">
              <a:hlinkClick r:id="rId15" action="ppaction://hlinksldjump"/>
              <a:extLst>
                <a:ext uri="{FF2B5EF4-FFF2-40B4-BE49-F238E27FC236}">
                  <a16:creationId xmlns:a16="http://schemas.microsoft.com/office/drawing/2014/main" id="{594B710A-4E51-4A27-93F6-681AA163725D}"/>
                </a:ext>
              </a:extLst>
            </p:cNvPr>
            <p:cNvSpPr/>
            <p:nvPr/>
          </p:nvSpPr>
          <p:spPr>
            <a:xfrm>
              <a:off x="6236915" y="366564"/>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7" name="Rectangle 96">
              <a:hlinkClick r:id="rId16" action="ppaction://hlinksldjump"/>
              <a:extLst>
                <a:ext uri="{FF2B5EF4-FFF2-40B4-BE49-F238E27FC236}">
                  <a16:creationId xmlns:a16="http://schemas.microsoft.com/office/drawing/2014/main" id="{ECE6F79A-2055-4F56-8555-5886D2DC7438}"/>
                </a:ext>
              </a:extLst>
            </p:cNvPr>
            <p:cNvSpPr/>
            <p:nvPr/>
          </p:nvSpPr>
          <p:spPr>
            <a:xfrm>
              <a:off x="6969407" y="366564"/>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8" name="Rectangle 97">
              <a:hlinkClick r:id="rId12" action="ppaction://hlinksldjump"/>
              <a:extLst>
                <a:ext uri="{FF2B5EF4-FFF2-40B4-BE49-F238E27FC236}">
                  <a16:creationId xmlns:a16="http://schemas.microsoft.com/office/drawing/2014/main" id="{70BF46EA-EF00-4776-BB75-AD824E90CDA4}"/>
                </a:ext>
              </a:extLst>
            </p:cNvPr>
            <p:cNvSpPr/>
            <p:nvPr/>
          </p:nvSpPr>
          <p:spPr>
            <a:xfrm>
              <a:off x="8603270" y="366564"/>
              <a:ext cx="113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grpSp>
      <p:sp>
        <p:nvSpPr>
          <p:cNvPr id="64" name="Rectangle 63">
            <a:extLst>
              <a:ext uri="{FF2B5EF4-FFF2-40B4-BE49-F238E27FC236}">
                <a16:creationId xmlns:a16="http://schemas.microsoft.com/office/drawing/2014/main" id="{588A18B2-1B05-47CF-89A5-15124A99ECD0}"/>
              </a:ext>
            </a:extLst>
          </p:cNvPr>
          <p:cNvSpPr/>
          <p:nvPr/>
        </p:nvSpPr>
        <p:spPr>
          <a:xfrm>
            <a:off x="6808209" y="1175838"/>
            <a:ext cx="2320990" cy="2380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65" name="TextBox 64">
            <a:extLst>
              <a:ext uri="{FF2B5EF4-FFF2-40B4-BE49-F238E27FC236}">
                <a16:creationId xmlns:a16="http://schemas.microsoft.com/office/drawing/2014/main" id="{F910E0EA-D67D-4BF1-AF5A-079AD6BFEA53}"/>
              </a:ext>
            </a:extLst>
          </p:cNvPr>
          <p:cNvSpPr txBox="1">
            <a:spLocks/>
          </p:cNvSpPr>
          <p:nvPr/>
        </p:nvSpPr>
        <p:spPr bwMode="white">
          <a:xfrm>
            <a:off x="6912107" y="1220011"/>
            <a:ext cx="2180845" cy="320922"/>
          </a:xfrm>
          <a:prstGeom prst="rect">
            <a:avLst/>
          </a:prstGeom>
          <a:noFill/>
        </p:spPr>
        <p:txBody>
          <a:bodyPr wrap="square" lIns="0" tIns="0" rIns="0" bIns="0">
            <a:spAutoFit/>
          </a:bodyPr>
          <a:lstStyle/>
          <a:p>
            <a:pPr>
              <a:lnSpc>
                <a:spcPts val="2880"/>
              </a:lnSpc>
            </a:pPr>
            <a:r>
              <a:rPr lang="en-US" sz="2400" b="1">
                <a:solidFill>
                  <a:schemeClr val="bg1"/>
                </a:solidFill>
                <a:latin typeface="+mj-lt"/>
              </a:rPr>
              <a:t>Geographical footprint</a:t>
            </a:r>
          </a:p>
        </p:txBody>
      </p:sp>
      <p:grpSp>
        <p:nvGrpSpPr>
          <p:cNvPr id="66" name="Group 65">
            <a:extLst>
              <a:ext uri="{FF2B5EF4-FFF2-40B4-BE49-F238E27FC236}">
                <a16:creationId xmlns:a16="http://schemas.microsoft.com/office/drawing/2014/main" id="{EBF9693C-E989-4A94-8336-58C3DC51C2FA}"/>
              </a:ext>
            </a:extLst>
          </p:cNvPr>
          <p:cNvGrpSpPr/>
          <p:nvPr/>
        </p:nvGrpSpPr>
        <p:grpSpPr>
          <a:xfrm>
            <a:off x="7444537" y="1594837"/>
            <a:ext cx="1104275" cy="1767189"/>
            <a:chOff x="7671197" y="1942399"/>
            <a:chExt cx="2356593" cy="3728678"/>
          </a:xfrm>
          <a:solidFill>
            <a:schemeClr val="bg1"/>
          </a:solidFill>
        </p:grpSpPr>
        <p:grpSp>
          <p:nvGrpSpPr>
            <p:cNvPr id="67" name="Group 66">
              <a:extLst>
                <a:ext uri="{FF2B5EF4-FFF2-40B4-BE49-F238E27FC236}">
                  <a16:creationId xmlns:a16="http://schemas.microsoft.com/office/drawing/2014/main" id="{287C53C9-2571-48B9-907A-53A91E2C778C}"/>
                </a:ext>
              </a:extLst>
            </p:cNvPr>
            <p:cNvGrpSpPr/>
            <p:nvPr/>
          </p:nvGrpSpPr>
          <p:grpSpPr>
            <a:xfrm>
              <a:off x="7671197" y="1942399"/>
              <a:ext cx="2356593" cy="3728678"/>
              <a:chOff x="-1830388" y="3668713"/>
              <a:chExt cx="2287588" cy="3619501"/>
            </a:xfrm>
            <a:grpFill/>
          </p:grpSpPr>
          <p:sp>
            <p:nvSpPr>
              <p:cNvPr id="74" name="Freeform 5">
                <a:extLst>
                  <a:ext uri="{FF2B5EF4-FFF2-40B4-BE49-F238E27FC236}">
                    <a16:creationId xmlns:a16="http://schemas.microsoft.com/office/drawing/2014/main" id="{22E0A39F-3376-423B-9A0A-543BDD37E4C4}"/>
                  </a:ext>
                </a:extLst>
              </p:cNvPr>
              <p:cNvSpPr>
                <a:spLocks/>
              </p:cNvSpPr>
              <p:nvPr/>
            </p:nvSpPr>
            <p:spPr bwMode="auto">
              <a:xfrm>
                <a:off x="-612775" y="3668713"/>
                <a:ext cx="14288" cy="19050"/>
              </a:xfrm>
              <a:custGeom>
                <a:avLst/>
                <a:gdLst>
                  <a:gd name="T0" fmla="*/ 2 w 4"/>
                  <a:gd name="T1" fmla="*/ 0 h 5"/>
                  <a:gd name="T2" fmla="*/ 4 w 4"/>
                  <a:gd name="T3" fmla="*/ 0 h 5"/>
                  <a:gd name="T4" fmla="*/ 4 w 4"/>
                  <a:gd name="T5" fmla="*/ 1 h 5"/>
                  <a:gd name="T6" fmla="*/ 4 w 4"/>
                  <a:gd name="T7" fmla="*/ 4 h 5"/>
                  <a:gd name="T8" fmla="*/ 3 w 4"/>
                  <a:gd name="T9" fmla="*/ 5 h 5"/>
                  <a:gd name="T10" fmla="*/ 1 w 4"/>
                  <a:gd name="T11" fmla="*/ 4 h 5"/>
                  <a:gd name="T12" fmla="*/ 0 w 4"/>
                  <a:gd name="T13" fmla="*/ 2 h 5"/>
                  <a:gd name="T14" fmla="*/ 2 w 4"/>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2" y="0"/>
                    </a:moveTo>
                    <a:cubicBezTo>
                      <a:pt x="3" y="0"/>
                      <a:pt x="3" y="0"/>
                      <a:pt x="4" y="0"/>
                    </a:cubicBezTo>
                    <a:cubicBezTo>
                      <a:pt x="4" y="0"/>
                      <a:pt x="4" y="0"/>
                      <a:pt x="4" y="1"/>
                    </a:cubicBezTo>
                    <a:cubicBezTo>
                      <a:pt x="4" y="2"/>
                      <a:pt x="4" y="3"/>
                      <a:pt x="4" y="4"/>
                    </a:cubicBezTo>
                    <a:cubicBezTo>
                      <a:pt x="3" y="4"/>
                      <a:pt x="3" y="4"/>
                      <a:pt x="3" y="5"/>
                    </a:cubicBezTo>
                    <a:cubicBezTo>
                      <a:pt x="2" y="4"/>
                      <a:pt x="2" y="4"/>
                      <a:pt x="1" y="4"/>
                    </a:cubicBezTo>
                    <a:cubicBezTo>
                      <a:pt x="0" y="4"/>
                      <a:pt x="0" y="3"/>
                      <a:pt x="0" y="2"/>
                    </a:cubicBezTo>
                    <a:cubicBezTo>
                      <a:pt x="1" y="1"/>
                      <a:pt x="1" y="0"/>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6" name="Freeform 6">
                <a:extLst>
                  <a:ext uri="{FF2B5EF4-FFF2-40B4-BE49-F238E27FC236}">
                    <a16:creationId xmlns:a16="http://schemas.microsoft.com/office/drawing/2014/main" id="{C90F2AF5-054D-4D47-BD43-C83F881607EB}"/>
                  </a:ext>
                </a:extLst>
              </p:cNvPr>
              <p:cNvSpPr>
                <a:spLocks/>
              </p:cNvSpPr>
              <p:nvPr/>
            </p:nvSpPr>
            <p:spPr bwMode="auto">
              <a:xfrm>
                <a:off x="-703263" y="3676651"/>
                <a:ext cx="7938" cy="22225"/>
              </a:xfrm>
              <a:custGeom>
                <a:avLst/>
                <a:gdLst>
                  <a:gd name="T0" fmla="*/ 1 w 2"/>
                  <a:gd name="T1" fmla="*/ 0 h 6"/>
                  <a:gd name="T2" fmla="*/ 2 w 2"/>
                  <a:gd name="T3" fmla="*/ 0 h 6"/>
                  <a:gd name="T4" fmla="*/ 2 w 2"/>
                  <a:gd name="T5" fmla="*/ 2 h 6"/>
                  <a:gd name="T6" fmla="*/ 2 w 2"/>
                  <a:gd name="T7" fmla="*/ 6 h 6"/>
                  <a:gd name="T8" fmla="*/ 1 w 2"/>
                  <a:gd name="T9" fmla="*/ 6 h 6"/>
                  <a:gd name="T10" fmla="*/ 0 w 2"/>
                  <a:gd name="T11" fmla="*/ 4 h 6"/>
                  <a:gd name="T12" fmla="*/ 1 w 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0"/>
                    </a:moveTo>
                    <a:cubicBezTo>
                      <a:pt x="2" y="0"/>
                      <a:pt x="2" y="0"/>
                      <a:pt x="2" y="0"/>
                    </a:cubicBezTo>
                    <a:cubicBezTo>
                      <a:pt x="2" y="1"/>
                      <a:pt x="2" y="1"/>
                      <a:pt x="2" y="2"/>
                    </a:cubicBezTo>
                    <a:cubicBezTo>
                      <a:pt x="2" y="3"/>
                      <a:pt x="2" y="4"/>
                      <a:pt x="2" y="6"/>
                    </a:cubicBezTo>
                    <a:cubicBezTo>
                      <a:pt x="2" y="6"/>
                      <a:pt x="1" y="6"/>
                      <a:pt x="1" y="6"/>
                    </a:cubicBezTo>
                    <a:cubicBezTo>
                      <a:pt x="0" y="5"/>
                      <a:pt x="0" y="5"/>
                      <a:pt x="0" y="4"/>
                    </a:cubicBezTo>
                    <a:cubicBezTo>
                      <a:pt x="0" y="3"/>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7" name="Freeform 7">
                <a:extLst>
                  <a:ext uri="{FF2B5EF4-FFF2-40B4-BE49-F238E27FC236}">
                    <a16:creationId xmlns:a16="http://schemas.microsoft.com/office/drawing/2014/main" id="{E09EB3CA-24E4-4DFE-B1A5-9D763CCC2951}"/>
                  </a:ext>
                </a:extLst>
              </p:cNvPr>
              <p:cNvSpPr>
                <a:spLocks/>
              </p:cNvSpPr>
              <p:nvPr/>
            </p:nvSpPr>
            <p:spPr bwMode="auto">
              <a:xfrm>
                <a:off x="-733425" y="3684588"/>
                <a:ext cx="49213" cy="47625"/>
              </a:xfrm>
              <a:custGeom>
                <a:avLst/>
                <a:gdLst>
                  <a:gd name="T0" fmla="*/ 0 w 13"/>
                  <a:gd name="T1" fmla="*/ 3 h 13"/>
                  <a:gd name="T2" fmla="*/ 3 w 13"/>
                  <a:gd name="T3" fmla="*/ 3 h 13"/>
                  <a:gd name="T4" fmla="*/ 5 w 13"/>
                  <a:gd name="T5" fmla="*/ 0 h 13"/>
                  <a:gd name="T6" fmla="*/ 6 w 13"/>
                  <a:gd name="T7" fmla="*/ 0 h 13"/>
                  <a:gd name="T8" fmla="*/ 6 w 13"/>
                  <a:gd name="T9" fmla="*/ 3 h 13"/>
                  <a:gd name="T10" fmla="*/ 5 w 13"/>
                  <a:gd name="T11" fmla="*/ 5 h 13"/>
                  <a:gd name="T12" fmla="*/ 13 w 13"/>
                  <a:gd name="T13" fmla="*/ 10 h 13"/>
                  <a:gd name="T14" fmla="*/ 11 w 13"/>
                  <a:gd name="T15" fmla="*/ 13 h 13"/>
                  <a:gd name="T16" fmla="*/ 10 w 13"/>
                  <a:gd name="T17" fmla="*/ 13 h 13"/>
                  <a:gd name="T18" fmla="*/ 10 w 13"/>
                  <a:gd name="T19" fmla="*/ 12 h 13"/>
                  <a:gd name="T20" fmla="*/ 6 w 13"/>
                  <a:gd name="T21" fmla="*/ 9 h 13"/>
                  <a:gd name="T22" fmla="*/ 4 w 13"/>
                  <a:gd name="T23" fmla="*/ 10 h 13"/>
                  <a:gd name="T24" fmla="*/ 2 w 13"/>
                  <a:gd name="T25" fmla="*/ 9 h 13"/>
                  <a:gd name="T26" fmla="*/ 2 w 13"/>
                  <a:gd name="T27" fmla="*/ 7 h 13"/>
                  <a:gd name="T28" fmla="*/ 0 w 13"/>
                  <a:gd name="T29"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13">
                    <a:moveTo>
                      <a:pt x="0" y="3"/>
                    </a:moveTo>
                    <a:cubicBezTo>
                      <a:pt x="1" y="3"/>
                      <a:pt x="1" y="3"/>
                      <a:pt x="3" y="3"/>
                    </a:cubicBezTo>
                    <a:cubicBezTo>
                      <a:pt x="3" y="1"/>
                      <a:pt x="3" y="0"/>
                      <a:pt x="5" y="0"/>
                    </a:cubicBezTo>
                    <a:cubicBezTo>
                      <a:pt x="6" y="0"/>
                      <a:pt x="5" y="0"/>
                      <a:pt x="6" y="0"/>
                    </a:cubicBezTo>
                    <a:cubicBezTo>
                      <a:pt x="6" y="1"/>
                      <a:pt x="6" y="2"/>
                      <a:pt x="6" y="3"/>
                    </a:cubicBezTo>
                    <a:cubicBezTo>
                      <a:pt x="6" y="3"/>
                      <a:pt x="5" y="4"/>
                      <a:pt x="5" y="5"/>
                    </a:cubicBezTo>
                    <a:cubicBezTo>
                      <a:pt x="8" y="5"/>
                      <a:pt x="12" y="8"/>
                      <a:pt x="13" y="10"/>
                    </a:cubicBezTo>
                    <a:cubicBezTo>
                      <a:pt x="12" y="11"/>
                      <a:pt x="11" y="12"/>
                      <a:pt x="11" y="13"/>
                    </a:cubicBezTo>
                    <a:cubicBezTo>
                      <a:pt x="11" y="13"/>
                      <a:pt x="11" y="13"/>
                      <a:pt x="10" y="13"/>
                    </a:cubicBezTo>
                    <a:cubicBezTo>
                      <a:pt x="10" y="13"/>
                      <a:pt x="10" y="13"/>
                      <a:pt x="10" y="12"/>
                    </a:cubicBezTo>
                    <a:cubicBezTo>
                      <a:pt x="9" y="11"/>
                      <a:pt x="9" y="9"/>
                      <a:pt x="6" y="9"/>
                    </a:cubicBezTo>
                    <a:cubicBezTo>
                      <a:pt x="5" y="10"/>
                      <a:pt x="5" y="10"/>
                      <a:pt x="4" y="10"/>
                    </a:cubicBezTo>
                    <a:cubicBezTo>
                      <a:pt x="3" y="10"/>
                      <a:pt x="2" y="9"/>
                      <a:pt x="2" y="9"/>
                    </a:cubicBezTo>
                    <a:cubicBezTo>
                      <a:pt x="2" y="8"/>
                      <a:pt x="2" y="7"/>
                      <a:pt x="2" y="7"/>
                    </a:cubicBezTo>
                    <a:cubicBezTo>
                      <a:pt x="1" y="5"/>
                      <a:pt x="0" y="5"/>
                      <a:pt x="0" y="3"/>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8" name="Freeform 8">
                <a:extLst>
                  <a:ext uri="{FF2B5EF4-FFF2-40B4-BE49-F238E27FC236}">
                    <a16:creationId xmlns:a16="http://schemas.microsoft.com/office/drawing/2014/main" id="{A4F95AC1-C3FA-4904-BB61-266DC2A6547C}"/>
                  </a:ext>
                </a:extLst>
              </p:cNvPr>
              <p:cNvSpPr>
                <a:spLocks/>
              </p:cNvSpPr>
              <p:nvPr/>
            </p:nvSpPr>
            <p:spPr bwMode="auto">
              <a:xfrm>
                <a:off x="-661988" y="3698876"/>
                <a:ext cx="63500" cy="49213"/>
              </a:xfrm>
              <a:custGeom>
                <a:avLst/>
                <a:gdLst>
                  <a:gd name="T0" fmla="*/ 15 w 17"/>
                  <a:gd name="T1" fmla="*/ 0 h 13"/>
                  <a:gd name="T2" fmla="*/ 16 w 17"/>
                  <a:gd name="T3" fmla="*/ 3 h 13"/>
                  <a:gd name="T4" fmla="*/ 16 w 17"/>
                  <a:gd name="T5" fmla="*/ 3 h 13"/>
                  <a:gd name="T6" fmla="*/ 16 w 17"/>
                  <a:gd name="T7" fmla="*/ 4 h 13"/>
                  <a:gd name="T8" fmla="*/ 13 w 17"/>
                  <a:gd name="T9" fmla="*/ 4 h 13"/>
                  <a:gd name="T10" fmla="*/ 9 w 17"/>
                  <a:gd name="T11" fmla="*/ 7 h 13"/>
                  <a:gd name="T12" fmla="*/ 8 w 17"/>
                  <a:gd name="T13" fmla="*/ 9 h 13"/>
                  <a:gd name="T14" fmla="*/ 5 w 17"/>
                  <a:gd name="T15" fmla="*/ 8 h 13"/>
                  <a:gd name="T16" fmla="*/ 2 w 17"/>
                  <a:gd name="T17" fmla="*/ 13 h 13"/>
                  <a:gd name="T18" fmla="*/ 1 w 17"/>
                  <a:gd name="T19" fmla="*/ 13 h 13"/>
                  <a:gd name="T20" fmla="*/ 0 w 17"/>
                  <a:gd name="T21" fmla="*/ 10 h 13"/>
                  <a:gd name="T22" fmla="*/ 5 w 17"/>
                  <a:gd name="T23" fmla="*/ 6 h 13"/>
                  <a:gd name="T24" fmla="*/ 5 w 17"/>
                  <a:gd name="T25" fmla="*/ 3 h 13"/>
                  <a:gd name="T26" fmla="*/ 9 w 17"/>
                  <a:gd name="T27" fmla="*/ 1 h 13"/>
                  <a:gd name="T28" fmla="*/ 10 w 17"/>
                  <a:gd name="T29" fmla="*/ 2 h 13"/>
                  <a:gd name="T30" fmla="*/ 8 w 17"/>
                  <a:gd name="T31" fmla="*/ 4 h 13"/>
                  <a:gd name="T32" fmla="*/ 10 w 17"/>
                  <a:gd name="T33" fmla="*/ 4 h 13"/>
                  <a:gd name="T34" fmla="*/ 15 w 17"/>
                  <a:gd name="T3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3">
                    <a:moveTo>
                      <a:pt x="15" y="0"/>
                    </a:moveTo>
                    <a:cubicBezTo>
                      <a:pt x="17" y="0"/>
                      <a:pt x="16" y="1"/>
                      <a:pt x="16" y="3"/>
                    </a:cubicBezTo>
                    <a:cubicBezTo>
                      <a:pt x="16" y="3"/>
                      <a:pt x="16" y="3"/>
                      <a:pt x="16" y="3"/>
                    </a:cubicBezTo>
                    <a:cubicBezTo>
                      <a:pt x="16" y="3"/>
                      <a:pt x="16" y="3"/>
                      <a:pt x="16" y="4"/>
                    </a:cubicBezTo>
                    <a:cubicBezTo>
                      <a:pt x="15" y="4"/>
                      <a:pt x="14" y="4"/>
                      <a:pt x="13" y="4"/>
                    </a:cubicBezTo>
                    <a:cubicBezTo>
                      <a:pt x="12" y="6"/>
                      <a:pt x="12" y="8"/>
                      <a:pt x="9" y="7"/>
                    </a:cubicBezTo>
                    <a:cubicBezTo>
                      <a:pt x="9" y="8"/>
                      <a:pt x="8" y="9"/>
                      <a:pt x="8" y="9"/>
                    </a:cubicBezTo>
                    <a:cubicBezTo>
                      <a:pt x="7" y="9"/>
                      <a:pt x="7" y="9"/>
                      <a:pt x="5" y="8"/>
                    </a:cubicBezTo>
                    <a:cubicBezTo>
                      <a:pt x="4" y="10"/>
                      <a:pt x="3" y="12"/>
                      <a:pt x="2" y="13"/>
                    </a:cubicBezTo>
                    <a:cubicBezTo>
                      <a:pt x="1" y="13"/>
                      <a:pt x="2" y="13"/>
                      <a:pt x="1" y="13"/>
                    </a:cubicBezTo>
                    <a:cubicBezTo>
                      <a:pt x="0" y="12"/>
                      <a:pt x="0" y="11"/>
                      <a:pt x="0" y="10"/>
                    </a:cubicBezTo>
                    <a:cubicBezTo>
                      <a:pt x="1" y="9"/>
                      <a:pt x="4" y="6"/>
                      <a:pt x="5" y="6"/>
                    </a:cubicBezTo>
                    <a:cubicBezTo>
                      <a:pt x="5" y="5"/>
                      <a:pt x="5" y="4"/>
                      <a:pt x="5" y="3"/>
                    </a:cubicBezTo>
                    <a:cubicBezTo>
                      <a:pt x="5" y="2"/>
                      <a:pt x="7" y="1"/>
                      <a:pt x="9" y="1"/>
                    </a:cubicBezTo>
                    <a:cubicBezTo>
                      <a:pt x="10" y="1"/>
                      <a:pt x="10" y="1"/>
                      <a:pt x="10" y="2"/>
                    </a:cubicBezTo>
                    <a:cubicBezTo>
                      <a:pt x="9" y="2"/>
                      <a:pt x="9" y="3"/>
                      <a:pt x="8" y="4"/>
                    </a:cubicBezTo>
                    <a:cubicBezTo>
                      <a:pt x="9" y="4"/>
                      <a:pt x="9" y="4"/>
                      <a:pt x="10" y="4"/>
                    </a:cubicBezTo>
                    <a:cubicBezTo>
                      <a:pt x="11" y="2"/>
                      <a:pt x="14" y="1"/>
                      <a:pt x="15"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9" name="Freeform 9">
                <a:extLst>
                  <a:ext uri="{FF2B5EF4-FFF2-40B4-BE49-F238E27FC236}">
                    <a16:creationId xmlns:a16="http://schemas.microsoft.com/office/drawing/2014/main" id="{0DB435F6-56D1-41F6-B64C-CC00CEB37597}"/>
                  </a:ext>
                </a:extLst>
              </p:cNvPr>
              <p:cNvSpPr>
                <a:spLocks/>
              </p:cNvSpPr>
              <p:nvPr/>
            </p:nvSpPr>
            <p:spPr bwMode="auto">
              <a:xfrm>
                <a:off x="-688975" y="3721101"/>
                <a:ext cx="23813" cy="46038"/>
              </a:xfrm>
              <a:custGeom>
                <a:avLst/>
                <a:gdLst>
                  <a:gd name="T0" fmla="*/ 3 w 6"/>
                  <a:gd name="T1" fmla="*/ 0 h 12"/>
                  <a:gd name="T2" fmla="*/ 4 w 6"/>
                  <a:gd name="T3" fmla="*/ 0 h 12"/>
                  <a:gd name="T4" fmla="*/ 6 w 6"/>
                  <a:gd name="T5" fmla="*/ 4 h 12"/>
                  <a:gd name="T6" fmla="*/ 5 w 6"/>
                  <a:gd name="T7" fmla="*/ 11 h 12"/>
                  <a:gd name="T8" fmla="*/ 3 w 6"/>
                  <a:gd name="T9" fmla="*/ 12 h 12"/>
                  <a:gd name="T10" fmla="*/ 3 w 6"/>
                  <a:gd name="T11" fmla="*/ 12 h 12"/>
                  <a:gd name="T12" fmla="*/ 0 w 6"/>
                  <a:gd name="T13" fmla="*/ 8 h 12"/>
                  <a:gd name="T14" fmla="*/ 2 w 6"/>
                  <a:gd name="T15" fmla="*/ 5 h 12"/>
                  <a:gd name="T16" fmla="*/ 0 w 6"/>
                  <a:gd name="T17" fmla="*/ 4 h 12"/>
                  <a:gd name="T18" fmla="*/ 3 w 6"/>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2">
                    <a:moveTo>
                      <a:pt x="3" y="0"/>
                    </a:moveTo>
                    <a:cubicBezTo>
                      <a:pt x="3" y="0"/>
                      <a:pt x="4" y="0"/>
                      <a:pt x="4" y="0"/>
                    </a:cubicBezTo>
                    <a:cubicBezTo>
                      <a:pt x="5" y="2"/>
                      <a:pt x="6" y="2"/>
                      <a:pt x="6" y="4"/>
                    </a:cubicBezTo>
                    <a:cubicBezTo>
                      <a:pt x="4" y="7"/>
                      <a:pt x="6" y="10"/>
                      <a:pt x="5" y="11"/>
                    </a:cubicBezTo>
                    <a:cubicBezTo>
                      <a:pt x="5" y="12"/>
                      <a:pt x="4" y="12"/>
                      <a:pt x="3" y="12"/>
                    </a:cubicBezTo>
                    <a:cubicBezTo>
                      <a:pt x="3" y="12"/>
                      <a:pt x="3" y="12"/>
                      <a:pt x="3" y="12"/>
                    </a:cubicBezTo>
                    <a:cubicBezTo>
                      <a:pt x="2" y="11"/>
                      <a:pt x="1" y="10"/>
                      <a:pt x="0" y="8"/>
                    </a:cubicBezTo>
                    <a:cubicBezTo>
                      <a:pt x="2" y="8"/>
                      <a:pt x="2" y="7"/>
                      <a:pt x="2" y="5"/>
                    </a:cubicBezTo>
                    <a:cubicBezTo>
                      <a:pt x="1" y="5"/>
                      <a:pt x="1" y="5"/>
                      <a:pt x="0" y="4"/>
                    </a:cubicBezTo>
                    <a:cubicBezTo>
                      <a:pt x="2" y="3"/>
                      <a:pt x="2" y="2"/>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0" name="Freeform 10">
                <a:extLst>
                  <a:ext uri="{FF2B5EF4-FFF2-40B4-BE49-F238E27FC236}">
                    <a16:creationId xmlns:a16="http://schemas.microsoft.com/office/drawing/2014/main" id="{B748250B-96C0-4D65-A189-1805551C3CCA}"/>
                  </a:ext>
                </a:extLst>
              </p:cNvPr>
              <p:cNvSpPr>
                <a:spLocks/>
              </p:cNvSpPr>
              <p:nvPr/>
            </p:nvSpPr>
            <p:spPr bwMode="auto">
              <a:xfrm>
                <a:off x="-744538" y="3743326"/>
                <a:ext cx="44450" cy="34925"/>
              </a:xfrm>
              <a:custGeom>
                <a:avLst/>
                <a:gdLst>
                  <a:gd name="T0" fmla="*/ 7 w 12"/>
                  <a:gd name="T1" fmla="*/ 0 h 9"/>
                  <a:gd name="T2" fmla="*/ 8 w 12"/>
                  <a:gd name="T3" fmla="*/ 0 h 9"/>
                  <a:gd name="T4" fmla="*/ 12 w 12"/>
                  <a:gd name="T5" fmla="*/ 7 h 9"/>
                  <a:gd name="T6" fmla="*/ 7 w 12"/>
                  <a:gd name="T7" fmla="*/ 9 h 9"/>
                  <a:gd name="T8" fmla="*/ 0 w 12"/>
                  <a:gd name="T9" fmla="*/ 3 h 9"/>
                  <a:gd name="T10" fmla="*/ 0 w 12"/>
                  <a:gd name="T11" fmla="*/ 2 h 9"/>
                  <a:gd name="T12" fmla="*/ 2 w 12"/>
                  <a:gd name="T13" fmla="*/ 0 h 9"/>
                  <a:gd name="T14" fmla="*/ 6 w 12"/>
                  <a:gd name="T15" fmla="*/ 1 h 9"/>
                  <a:gd name="T16" fmla="*/ 7 w 12"/>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9">
                    <a:moveTo>
                      <a:pt x="7" y="0"/>
                    </a:moveTo>
                    <a:cubicBezTo>
                      <a:pt x="7" y="0"/>
                      <a:pt x="7" y="0"/>
                      <a:pt x="8" y="0"/>
                    </a:cubicBezTo>
                    <a:cubicBezTo>
                      <a:pt x="9" y="3"/>
                      <a:pt x="12" y="2"/>
                      <a:pt x="12" y="7"/>
                    </a:cubicBezTo>
                    <a:cubicBezTo>
                      <a:pt x="10" y="8"/>
                      <a:pt x="10" y="9"/>
                      <a:pt x="7" y="9"/>
                    </a:cubicBezTo>
                    <a:cubicBezTo>
                      <a:pt x="4" y="7"/>
                      <a:pt x="1" y="7"/>
                      <a:pt x="0" y="3"/>
                    </a:cubicBezTo>
                    <a:cubicBezTo>
                      <a:pt x="0" y="3"/>
                      <a:pt x="0" y="3"/>
                      <a:pt x="0" y="2"/>
                    </a:cubicBezTo>
                    <a:cubicBezTo>
                      <a:pt x="1" y="2"/>
                      <a:pt x="2" y="1"/>
                      <a:pt x="2" y="0"/>
                    </a:cubicBezTo>
                    <a:cubicBezTo>
                      <a:pt x="4" y="1"/>
                      <a:pt x="5" y="1"/>
                      <a:pt x="6" y="1"/>
                    </a:cubicBezTo>
                    <a:cubicBezTo>
                      <a:pt x="6" y="1"/>
                      <a:pt x="6" y="1"/>
                      <a:pt x="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1" name="Freeform 11">
                <a:extLst>
                  <a:ext uri="{FF2B5EF4-FFF2-40B4-BE49-F238E27FC236}">
                    <a16:creationId xmlns:a16="http://schemas.microsoft.com/office/drawing/2014/main" id="{6029C15B-4518-4804-B4E3-AC3047F76B41}"/>
                  </a:ext>
                </a:extLst>
              </p:cNvPr>
              <p:cNvSpPr>
                <a:spLocks/>
              </p:cNvSpPr>
              <p:nvPr/>
            </p:nvSpPr>
            <p:spPr bwMode="auto">
              <a:xfrm>
                <a:off x="-658813" y="3759201"/>
                <a:ext cx="34925" cy="38100"/>
              </a:xfrm>
              <a:custGeom>
                <a:avLst/>
                <a:gdLst>
                  <a:gd name="T0" fmla="*/ 2 w 9"/>
                  <a:gd name="T1" fmla="*/ 0 h 10"/>
                  <a:gd name="T2" fmla="*/ 6 w 9"/>
                  <a:gd name="T3" fmla="*/ 1 h 10"/>
                  <a:gd name="T4" fmla="*/ 6 w 9"/>
                  <a:gd name="T5" fmla="*/ 3 h 10"/>
                  <a:gd name="T6" fmla="*/ 8 w 9"/>
                  <a:gd name="T7" fmla="*/ 3 h 10"/>
                  <a:gd name="T8" fmla="*/ 9 w 9"/>
                  <a:gd name="T9" fmla="*/ 9 h 10"/>
                  <a:gd name="T10" fmla="*/ 8 w 9"/>
                  <a:gd name="T11" fmla="*/ 9 h 10"/>
                  <a:gd name="T12" fmla="*/ 4 w 9"/>
                  <a:gd name="T13" fmla="*/ 8 h 10"/>
                  <a:gd name="T14" fmla="*/ 1 w 9"/>
                  <a:gd name="T15" fmla="*/ 10 h 10"/>
                  <a:gd name="T16" fmla="*/ 1 w 9"/>
                  <a:gd name="T17" fmla="*/ 9 h 10"/>
                  <a:gd name="T18" fmla="*/ 0 w 9"/>
                  <a:gd name="T19" fmla="*/ 6 h 10"/>
                  <a:gd name="T20" fmla="*/ 3 w 9"/>
                  <a:gd name="T21" fmla="*/ 3 h 10"/>
                  <a:gd name="T22" fmla="*/ 2 w 9"/>
                  <a:gd name="T2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0">
                    <a:moveTo>
                      <a:pt x="2" y="0"/>
                    </a:moveTo>
                    <a:cubicBezTo>
                      <a:pt x="3" y="0"/>
                      <a:pt x="5" y="0"/>
                      <a:pt x="6" y="1"/>
                    </a:cubicBezTo>
                    <a:cubicBezTo>
                      <a:pt x="6" y="1"/>
                      <a:pt x="6" y="2"/>
                      <a:pt x="6" y="3"/>
                    </a:cubicBezTo>
                    <a:cubicBezTo>
                      <a:pt x="6" y="4"/>
                      <a:pt x="7" y="3"/>
                      <a:pt x="8" y="3"/>
                    </a:cubicBezTo>
                    <a:cubicBezTo>
                      <a:pt x="9" y="4"/>
                      <a:pt x="9" y="8"/>
                      <a:pt x="9" y="9"/>
                    </a:cubicBezTo>
                    <a:cubicBezTo>
                      <a:pt x="8" y="9"/>
                      <a:pt x="8" y="9"/>
                      <a:pt x="8" y="9"/>
                    </a:cubicBezTo>
                    <a:cubicBezTo>
                      <a:pt x="7" y="8"/>
                      <a:pt x="6" y="8"/>
                      <a:pt x="4" y="8"/>
                    </a:cubicBezTo>
                    <a:cubicBezTo>
                      <a:pt x="3" y="9"/>
                      <a:pt x="3" y="10"/>
                      <a:pt x="1" y="10"/>
                    </a:cubicBezTo>
                    <a:cubicBezTo>
                      <a:pt x="1" y="9"/>
                      <a:pt x="1" y="10"/>
                      <a:pt x="1" y="9"/>
                    </a:cubicBezTo>
                    <a:cubicBezTo>
                      <a:pt x="1" y="8"/>
                      <a:pt x="1" y="7"/>
                      <a:pt x="0" y="6"/>
                    </a:cubicBezTo>
                    <a:cubicBezTo>
                      <a:pt x="2" y="5"/>
                      <a:pt x="3" y="5"/>
                      <a:pt x="3" y="3"/>
                    </a:cubicBezTo>
                    <a:cubicBezTo>
                      <a:pt x="2" y="2"/>
                      <a:pt x="1" y="1"/>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2" name="Freeform 12">
                <a:extLst>
                  <a:ext uri="{FF2B5EF4-FFF2-40B4-BE49-F238E27FC236}">
                    <a16:creationId xmlns:a16="http://schemas.microsoft.com/office/drawing/2014/main" id="{CFA0C617-02BE-465A-8CC4-A0ED7AC86EB9}"/>
                  </a:ext>
                </a:extLst>
              </p:cNvPr>
              <p:cNvSpPr>
                <a:spLocks/>
              </p:cNvSpPr>
              <p:nvPr/>
            </p:nvSpPr>
            <p:spPr bwMode="auto">
              <a:xfrm>
                <a:off x="-793750" y="3762376"/>
                <a:ext cx="134938" cy="161925"/>
              </a:xfrm>
              <a:custGeom>
                <a:avLst/>
                <a:gdLst>
                  <a:gd name="T0" fmla="*/ 21 w 36"/>
                  <a:gd name="T1" fmla="*/ 42 h 43"/>
                  <a:gd name="T2" fmla="*/ 19 w 36"/>
                  <a:gd name="T3" fmla="*/ 34 h 43"/>
                  <a:gd name="T4" fmla="*/ 20 w 36"/>
                  <a:gd name="T5" fmla="*/ 32 h 43"/>
                  <a:gd name="T6" fmla="*/ 20 w 36"/>
                  <a:gd name="T7" fmla="*/ 30 h 43"/>
                  <a:gd name="T8" fmla="*/ 20 w 36"/>
                  <a:gd name="T9" fmla="*/ 23 h 43"/>
                  <a:gd name="T10" fmla="*/ 17 w 36"/>
                  <a:gd name="T11" fmla="*/ 23 h 43"/>
                  <a:gd name="T12" fmla="*/ 15 w 36"/>
                  <a:gd name="T13" fmla="*/ 25 h 43"/>
                  <a:gd name="T14" fmla="*/ 12 w 36"/>
                  <a:gd name="T15" fmla="*/ 26 h 43"/>
                  <a:gd name="T16" fmla="*/ 9 w 36"/>
                  <a:gd name="T17" fmla="*/ 24 h 43"/>
                  <a:gd name="T18" fmla="*/ 8 w 36"/>
                  <a:gd name="T19" fmla="*/ 18 h 43"/>
                  <a:gd name="T20" fmla="*/ 7 w 36"/>
                  <a:gd name="T21" fmla="*/ 17 h 43"/>
                  <a:gd name="T22" fmla="*/ 4 w 36"/>
                  <a:gd name="T23" fmla="*/ 21 h 43"/>
                  <a:gd name="T24" fmla="*/ 1 w 36"/>
                  <a:gd name="T25" fmla="*/ 20 h 43"/>
                  <a:gd name="T26" fmla="*/ 2 w 36"/>
                  <a:gd name="T27" fmla="*/ 4 h 43"/>
                  <a:gd name="T28" fmla="*/ 11 w 36"/>
                  <a:gd name="T29" fmla="*/ 0 h 43"/>
                  <a:gd name="T30" fmla="*/ 15 w 36"/>
                  <a:gd name="T31" fmla="*/ 2 h 43"/>
                  <a:gd name="T32" fmla="*/ 20 w 36"/>
                  <a:gd name="T33" fmla="*/ 10 h 43"/>
                  <a:gd name="T34" fmla="*/ 16 w 36"/>
                  <a:gd name="T35" fmla="*/ 16 h 43"/>
                  <a:gd name="T36" fmla="*/ 17 w 36"/>
                  <a:gd name="T37" fmla="*/ 16 h 43"/>
                  <a:gd name="T38" fmla="*/ 21 w 36"/>
                  <a:gd name="T39" fmla="*/ 14 h 43"/>
                  <a:gd name="T40" fmla="*/ 28 w 36"/>
                  <a:gd name="T41" fmla="*/ 17 h 43"/>
                  <a:gd name="T42" fmla="*/ 31 w 36"/>
                  <a:gd name="T43" fmla="*/ 16 h 43"/>
                  <a:gd name="T44" fmla="*/ 32 w 36"/>
                  <a:gd name="T45" fmla="*/ 17 h 43"/>
                  <a:gd name="T46" fmla="*/ 30 w 36"/>
                  <a:gd name="T47" fmla="*/ 21 h 43"/>
                  <a:gd name="T48" fmla="*/ 32 w 36"/>
                  <a:gd name="T49" fmla="*/ 22 h 43"/>
                  <a:gd name="T50" fmla="*/ 35 w 36"/>
                  <a:gd name="T51" fmla="*/ 18 h 43"/>
                  <a:gd name="T52" fmla="*/ 35 w 36"/>
                  <a:gd name="T53" fmla="*/ 18 h 43"/>
                  <a:gd name="T54" fmla="*/ 36 w 36"/>
                  <a:gd name="T55" fmla="*/ 24 h 43"/>
                  <a:gd name="T56" fmla="*/ 32 w 36"/>
                  <a:gd name="T57" fmla="*/ 25 h 43"/>
                  <a:gd name="T58" fmla="*/ 27 w 36"/>
                  <a:gd name="T59" fmla="*/ 28 h 43"/>
                  <a:gd name="T60" fmla="*/ 27 w 36"/>
                  <a:gd name="T61" fmla="*/ 28 h 43"/>
                  <a:gd name="T62" fmla="*/ 26 w 36"/>
                  <a:gd name="T63" fmla="*/ 29 h 43"/>
                  <a:gd name="T64" fmla="*/ 28 w 36"/>
                  <a:gd name="T65" fmla="*/ 31 h 43"/>
                  <a:gd name="T66" fmla="*/ 27 w 36"/>
                  <a:gd name="T67" fmla="*/ 34 h 43"/>
                  <a:gd name="T68" fmla="*/ 26 w 36"/>
                  <a:gd name="T69" fmla="*/ 36 h 43"/>
                  <a:gd name="T70" fmla="*/ 26 w 36"/>
                  <a:gd name="T71" fmla="*/ 42 h 43"/>
                  <a:gd name="T72" fmla="*/ 24 w 36"/>
                  <a:gd name="T73" fmla="*/ 43 h 43"/>
                  <a:gd name="T74" fmla="*/ 21 w 36"/>
                  <a:gd name="T75"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43">
                    <a:moveTo>
                      <a:pt x="21" y="42"/>
                    </a:moveTo>
                    <a:cubicBezTo>
                      <a:pt x="21" y="39"/>
                      <a:pt x="19" y="37"/>
                      <a:pt x="19" y="34"/>
                    </a:cubicBezTo>
                    <a:cubicBezTo>
                      <a:pt x="19" y="33"/>
                      <a:pt x="20" y="33"/>
                      <a:pt x="20" y="32"/>
                    </a:cubicBezTo>
                    <a:cubicBezTo>
                      <a:pt x="20" y="31"/>
                      <a:pt x="20" y="31"/>
                      <a:pt x="20" y="30"/>
                    </a:cubicBezTo>
                    <a:cubicBezTo>
                      <a:pt x="20" y="27"/>
                      <a:pt x="20" y="25"/>
                      <a:pt x="20" y="23"/>
                    </a:cubicBezTo>
                    <a:cubicBezTo>
                      <a:pt x="19" y="23"/>
                      <a:pt x="18" y="23"/>
                      <a:pt x="17" y="23"/>
                    </a:cubicBezTo>
                    <a:cubicBezTo>
                      <a:pt x="16" y="24"/>
                      <a:pt x="15" y="24"/>
                      <a:pt x="15" y="25"/>
                    </a:cubicBezTo>
                    <a:cubicBezTo>
                      <a:pt x="14" y="26"/>
                      <a:pt x="16" y="27"/>
                      <a:pt x="12" y="26"/>
                    </a:cubicBezTo>
                    <a:cubicBezTo>
                      <a:pt x="11" y="26"/>
                      <a:pt x="9" y="25"/>
                      <a:pt x="9" y="24"/>
                    </a:cubicBezTo>
                    <a:cubicBezTo>
                      <a:pt x="7" y="22"/>
                      <a:pt x="8" y="20"/>
                      <a:pt x="8" y="18"/>
                    </a:cubicBezTo>
                    <a:cubicBezTo>
                      <a:pt x="8" y="18"/>
                      <a:pt x="8" y="17"/>
                      <a:pt x="7" y="17"/>
                    </a:cubicBezTo>
                    <a:cubicBezTo>
                      <a:pt x="6" y="19"/>
                      <a:pt x="6" y="21"/>
                      <a:pt x="4" y="21"/>
                    </a:cubicBezTo>
                    <a:cubicBezTo>
                      <a:pt x="3" y="21"/>
                      <a:pt x="1" y="20"/>
                      <a:pt x="1" y="20"/>
                    </a:cubicBezTo>
                    <a:cubicBezTo>
                      <a:pt x="0" y="18"/>
                      <a:pt x="1" y="6"/>
                      <a:pt x="2" y="4"/>
                    </a:cubicBezTo>
                    <a:cubicBezTo>
                      <a:pt x="4" y="2"/>
                      <a:pt x="6" y="0"/>
                      <a:pt x="11" y="0"/>
                    </a:cubicBezTo>
                    <a:cubicBezTo>
                      <a:pt x="12" y="1"/>
                      <a:pt x="14" y="1"/>
                      <a:pt x="15" y="2"/>
                    </a:cubicBezTo>
                    <a:cubicBezTo>
                      <a:pt x="17" y="4"/>
                      <a:pt x="20" y="7"/>
                      <a:pt x="20" y="10"/>
                    </a:cubicBezTo>
                    <a:cubicBezTo>
                      <a:pt x="18" y="11"/>
                      <a:pt x="16" y="13"/>
                      <a:pt x="16" y="16"/>
                    </a:cubicBezTo>
                    <a:cubicBezTo>
                      <a:pt x="16" y="16"/>
                      <a:pt x="16" y="16"/>
                      <a:pt x="17" y="16"/>
                    </a:cubicBezTo>
                    <a:cubicBezTo>
                      <a:pt x="18" y="15"/>
                      <a:pt x="20" y="14"/>
                      <a:pt x="21" y="14"/>
                    </a:cubicBezTo>
                    <a:cubicBezTo>
                      <a:pt x="22" y="16"/>
                      <a:pt x="24" y="17"/>
                      <a:pt x="28" y="17"/>
                    </a:cubicBezTo>
                    <a:cubicBezTo>
                      <a:pt x="29" y="16"/>
                      <a:pt x="30" y="16"/>
                      <a:pt x="31" y="16"/>
                    </a:cubicBezTo>
                    <a:cubicBezTo>
                      <a:pt x="32" y="16"/>
                      <a:pt x="32" y="16"/>
                      <a:pt x="32" y="17"/>
                    </a:cubicBezTo>
                    <a:cubicBezTo>
                      <a:pt x="31" y="18"/>
                      <a:pt x="30" y="20"/>
                      <a:pt x="30" y="21"/>
                    </a:cubicBezTo>
                    <a:cubicBezTo>
                      <a:pt x="30" y="21"/>
                      <a:pt x="31" y="22"/>
                      <a:pt x="32" y="22"/>
                    </a:cubicBezTo>
                    <a:cubicBezTo>
                      <a:pt x="32" y="20"/>
                      <a:pt x="34" y="18"/>
                      <a:pt x="35" y="18"/>
                    </a:cubicBezTo>
                    <a:cubicBezTo>
                      <a:pt x="35" y="18"/>
                      <a:pt x="35" y="18"/>
                      <a:pt x="35" y="18"/>
                    </a:cubicBezTo>
                    <a:cubicBezTo>
                      <a:pt x="36" y="19"/>
                      <a:pt x="36" y="22"/>
                      <a:pt x="36" y="24"/>
                    </a:cubicBezTo>
                    <a:cubicBezTo>
                      <a:pt x="35" y="24"/>
                      <a:pt x="33" y="24"/>
                      <a:pt x="32" y="25"/>
                    </a:cubicBezTo>
                    <a:cubicBezTo>
                      <a:pt x="31" y="27"/>
                      <a:pt x="31" y="28"/>
                      <a:pt x="27" y="28"/>
                    </a:cubicBezTo>
                    <a:cubicBezTo>
                      <a:pt x="27" y="27"/>
                      <a:pt x="27" y="28"/>
                      <a:pt x="27" y="28"/>
                    </a:cubicBezTo>
                    <a:cubicBezTo>
                      <a:pt x="26" y="28"/>
                      <a:pt x="26" y="28"/>
                      <a:pt x="26" y="29"/>
                    </a:cubicBezTo>
                    <a:cubicBezTo>
                      <a:pt x="27" y="30"/>
                      <a:pt x="28" y="30"/>
                      <a:pt x="28" y="31"/>
                    </a:cubicBezTo>
                    <a:cubicBezTo>
                      <a:pt x="27" y="32"/>
                      <a:pt x="28" y="33"/>
                      <a:pt x="27" y="34"/>
                    </a:cubicBezTo>
                    <a:cubicBezTo>
                      <a:pt x="27" y="35"/>
                      <a:pt x="26" y="35"/>
                      <a:pt x="26" y="36"/>
                    </a:cubicBezTo>
                    <a:cubicBezTo>
                      <a:pt x="26" y="37"/>
                      <a:pt x="26" y="40"/>
                      <a:pt x="26" y="42"/>
                    </a:cubicBezTo>
                    <a:cubicBezTo>
                      <a:pt x="25" y="42"/>
                      <a:pt x="25" y="43"/>
                      <a:pt x="24" y="43"/>
                    </a:cubicBezTo>
                    <a:cubicBezTo>
                      <a:pt x="23" y="42"/>
                      <a:pt x="23" y="42"/>
                      <a:pt x="21" y="42"/>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3" name="Freeform 13">
                <a:extLst>
                  <a:ext uri="{FF2B5EF4-FFF2-40B4-BE49-F238E27FC236}">
                    <a16:creationId xmlns:a16="http://schemas.microsoft.com/office/drawing/2014/main" id="{D3F3F6BB-4EF7-4D46-BE61-8BAAC3D1C7C7}"/>
                  </a:ext>
                </a:extLst>
              </p:cNvPr>
              <p:cNvSpPr>
                <a:spLocks/>
              </p:cNvSpPr>
              <p:nvPr/>
            </p:nvSpPr>
            <p:spPr bwMode="auto">
              <a:xfrm>
                <a:off x="-703263" y="3789363"/>
                <a:ext cx="38100" cy="25400"/>
              </a:xfrm>
              <a:custGeom>
                <a:avLst/>
                <a:gdLst>
                  <a:gd name="T0" fmla="*/ 4 w 10"/>
                  <a:gd name="T1" fmla="*/ 0 h 7"/>
                  <a:gd name="T2" fmla="*/ 10 w 10"/>
                  <a:gd name="T3" fmla="*/ 6 h 7"/>
                  <a:gd name="T4" fmla="*/ 7 w 10"/>
                  <a:gd name="T5" fmla="*/ 7 h 7"/>
                  <a:gd name="T6" fmla="*/ 5 w 10"/>
                  <a:gd name="T7" fmla="*/ 6 h 7"/>
                  <a:gd name="T8" fmla="*/ 1 w 10"/>
                  <a:gd name="T9" fmla="*/ 6 h 7"/>
                  <a:gd name="T10" fmla="*/ 0 w 10"/>
                  <a:gd name="T11" fmla="*/ 3 h 7"/>
                  <a:gd name="T12" fmla="*/ 1 w 10"/>
                  <a:gd name="T13" fmla="*/ 2 h 7"/>
                  <a:gd name="T14" fmla="*/ 4 w 10"/>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7">
                    <a:moveTo>
                      <a:pt x="4" y="0"/>
                    </a:moveTo>
                    <a:cubicBezTo>
                      <a:pt x="8" y="0"/>
                      <a:pt x="10" y="2"/>
                      <a:pt x="10" y="6"/>
                    </a:cubicBezTo>
                    <a:cubicBezTo>
                      <a:pt x="9" y="6"/>
                      <a:pt x="8" y="7"/>
                      <a:pt x="7" y="7"/>
                    </a:cubicBezTo>
                    <a:cubicBezTo>
                      <a:pt x="6" y="7"/>
                      <a:pt x="6" y="6"/>
                      <a:pt x="5" y="6"/>
                    </a:cubicBezTo>
                    <a:cubicBezTo>
                      <a:pt x="5" y="6"/>
                      <a:pt x="3" y="6"/>
                      <a:pt x="1" y="6"/>
                    </a:cubicBezTo>
                    <a:cubicBezTo>
                      <a:pt x="0" y="5"/>
                      <a:pt x="0" y="5"/>
                      <a:pt x="0" y="3"/>
                    </a:cubicBezTo>
                    <a:cubicBezTo>
                      <a:pt x="0" y="3"/>
                      <a:pt x="0" y="2"/>
                      <a:pt x="1" y="2"/>
                    </a:cubicBezTo>
                    <a:cubicBezTo>
                      <a:pt x="2" y="1"/>
                      <a:pt x="3" y="2"/>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4" name="Freeform 14">
                <a:extLst>
                  <a:ext uri="{FF2B5EF4-FFF2-40B4-BE49-F238E27FC236}">
                    <a16:creationId xmlns:a16="http://schemas.microsoft.com/office/drawing/2014/main" id="{D6EC9E9A-3C29-4505-836F-73E3A209E7BF}"/>
                  </a:ext>
                </a:extLst>
              </p:cNvPr>
              <p:cNvSpPr>
                <a:spLocks/>
              </p:cNvSpPr>
              <p:nvPr/>
            </p:nvSpPr>
            <p:spPr bwMode="auto">
              <a:xfrm>
                <a:off x="-801688" y="3849688"/>
                <a:ext cx="71438" cy="63500"/>
              </a:xfrm>
              <a:custGeom>
                <a:avLst/>
                <a:gdLst>
                  <a:gd name="T0" fmla="*/ 3 w 19"/>
                  <a:gd name="T1" fmla="*/ 0 h 17"/>
                  <a:gd name="T2" fmla="*/ 6 w 19"/>
                  <a:gd name="T3" fmla="*/ 0 h 17"/>
                  <a:gd name="T4" fmla="*/ 10 w 19"/>
                  <a:gd name="T5" fmla="*/ 3 h 17"/>
                  <a:gd name="T6" fmla="*/ 13 w 19"/>
                  <a:gd name="T7" fmla="*/ 8 h 17"/>
                  <a:gd name="T8" fmla="*/ 17 w 19"/>
                  <a:gd name="T9" fmla="*/ 8 h 17"/>
                  <a:gd name="T10" fmla="*/ 19 w 19"/>
                  <a:gd name="T11" fmla="*/ 11 h 17"/>
                  <a:gd name="T12" fmla="*/ 19 w 19"/>
                  <a:gd name="T13" fmla="*/ 11 h 17"/>
                  <a:gd name="T14" fmla="*/ 18 w 19"/>
                  <a:gd name="T15" fmla="*/ 12 h 17"/>
                  <a:gd name="T16" fmla="*/ 16 w 19"/>
                  <a:gd name="T17" fmla="*/ 12 h 17"/>
                  <a:gd name="T18" fmla="*/ 16 w 19"/>
                  <a:gd name="T19" fmla="*/ 14 h 17"/>
                  <a:gd name="T20" fmla="*/ 8 w 19"/>
                  <a:gd name="T21" fmla="*/ 17 h 17"/>
                  <a:gd name="T22" fmla="*/ 5 w 19"/>
                  <a:gd name="T23" fmla="*/ 14 h 17"/>
                  <a:gd name="T24" fmla="*/ 5 w 19"/>
                  <a:gd name="T25" fmla="*/ 12 h 17"/>
                  <a:gd name="T26" fmla="*/ 0 w 19"/>
                  <a:gd name="T27" fmla="*/ 5 h 17"/>
                  <a:gd name="T28" fmla="*/ 0 w 19"/>
                  <a:gd name="T29" fmla="*/ 2 h 17"/>
                  <a:gd name="T30" fmla="*/ 3 w 19"/>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17">
                    <a:moveTo>
                      <a:pt x="3" y="0"/>
                    </a:moveTo>
                    <a:cubicBezTo>
                      <a:pt x="4" y="0"/>
                      <a:pt x="5" y="0"/>
                      <a:pt x="6" y="0"/>
                    </a:cubicBezTo>
                    <a:cubicBezTo>
                      <a:pt x="7" y="1"/>
                      <a:pt x="9" y="2"/>
                      <a:pt x="10" y="3"/>
                    </a:cubicBezTo>
                    <a:cubicBezTo>
                      <a:pt x="11" y="4"/>
                      <a:pt x="12" y="6"/>
                      <a:pt x="13" y="8"/>
                    </a:cubicBezTo>
                    <a:cubicBezTo>
                      <a:pt x="15" y="7"/>
                      <a:pt x="15" y="8"/>
                      <a:pt x="17" y="8"/>
                    </a:cubicBezTo>
                    <a:cubicBezTo>
                      <a:pt x="18" y="9"/>
                      <a:pt x="18" y="9"/>
                      <a:pt x="19" y="11"/>
                    </a:cubicBezTo>
                    <a:cubicBezTo>
                      <a:pt x="19" y="11"/>
                      <a:pt x="19" y="11"/>
                      <a:pt x="19" y="11"/>
                    </a:cubicBezTo>
                    <a:cubicBezTo>
                      <a:pt x="19" y="12"/>
                      <a:pt x="18" y="12"/>
                      <a:pt x="18" y="12"/>
                    </a:cubicBezTo>
                    <a:cubicBezTo>
                      <a:pt x="18" y="12"/>
                      <a:pt x="17" y="12"/>
                      <a:pt x="16" y="12"/>
                    </a:cubicBezTo>
                    <a:cubicBezTo>
                      <a:pt x="16" y="13"/>
                      <a:pt x="16" y="14"/>
                      <a:pt x="16" y="14"/>
                    </a:cubicBezTo>
                    <a:cubicBezTo>
                      <a:pt x="15" y="15"/>
                      <a:pt x="10" y="16"/>
                      <a:pt x="8" y="17"/>
                    </a:cubicBezTo>
                    <a:cubicBezTo>
                      <a:pt x="7" y="16"/>
                      <a:pt x="6" y="15"/>
                      <a:pt x="5" y="14"/>
                    </a:cubicBezTo>
                    <a:cubicBezTo>
                      <a:pt x="5" y="13"/>
                      <a:pt x="5" y="13"/>
                      <a:pt x="5" y="12"/>
                    </a:cubicBezTo>
                    <a:cubicBezTo>
                      <a:pt x="4" y="10"/>
                      <a:pt x="2" y="7"/>
                      <a:pt x="0" y="5"/>
                    </a:cubicBezTo>
                    <a:cubicBezTo>
                      <a:pt x="0" y="4"/>
                      <a:pt x="0" y="3"/>
                      <a:pt x="0" y="2"/>
                    </a:cubicBezTo>
                    <a:cubicBezTo>
                      <a:pt x="1" y="1"/>
                      <a:pt x="3" y="0"/>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5" name="Freeform 15">
                <a:extLst>
                  <a:ext uri="{FF2B5EF4-FFF2-40B4-BE49-F238E27FC236}">
                    <a16:creationId xmlns:a16="http://schemas.microsoft.com/office/drawing/2014/main" id="{5BFA9943-6805-4C88-B962-D71BF17E9C47}"/>
                  </a:ext>
                </a:extLst>
              </p:cNvPr>
              <p:cNvSpPr>
                <a:spLocks/>
              </p:cNvSpPr>
              <p:nvPr/>
            </p:nvSpPr>
            <p:spPr bwMode="auto">
              <a:xfrm>
                <a:off x="-1487488" y="3943351"/>
                <a:ext cx="1944688" cy="3344863"/>
              </a:xfrm>
              <a:custGeom>
                <a:avLst/>
                <a:gdLst>
                  <a:gd name="T0" fmla="*/ 138 w 516"/>
                  <a:gd name="T1" fmla="*/ 85 h 889"/>
                  <a:gd name="T2" fmla="*/ 152 w 516"/>
                  <a:gd name="T3" fmla="*/ 112 h 889"/>
                  <a:gd name="T4" fmla="*/ 277 w 516"/>
                  <a:gd name="T5" fmla="*/ 116 h 889"/>
                  <a:gd name="T6" fmla="*/ 241 w 516"/>
                  <a:gd name="T7" fmla="*/ 202 h 889"/>
                  <a:gd name="T8" fmla="*/ 199 w 516"/>
                  <a:gd name="T9" fmla="*/ 267 h 889"/>
                  <a:gd name="T10" fmla="*/ 259 w 516"/>
                  <a:gd name="T11" fmla="*/ 279 h 889"/>
                  <a:gd name="T12" fmla="*/ 296 w 516"/>
                  <a:gd name="T13" fmla="*/ 344 h 889"/>
                  <a:gd name="T14" fmla="*/ 360 w 516"/>
                  <a:gd name="T15" fmla="*/ 422 h 889"/>
                  <a:gd name="T16" fmla="*/ 357 w 516"/>
                  <a:gd name="T17" fmla="*/ 500 h 889"/>
                  <a:gd name="T18" fmla="*/ 419 w 516"/>
                  <a:gd name="T19" fmla="*/ 589 h 889"/>
                  <a:gd name="T20" fmla="*/ 513 w 516"/>
                  <a:gd name="T21" fmla="*/ 598 h 889"/>
                  <a:gd name="T22" fmla="*/ 491 w 516"/>
                  <a:gd name="T23" fmla="*/ 679 h 889"/>
                  <a:gd name="T24" fmla="*/ 452 w 516"/>
                  <a:gd name="T25" fmla="*/ 718 h 889"/>
                  <a:gd name="T26" fmla="*/ 473 w 516"/>
                  <a:gd name="T27" fmla="*/ 728 h 889"/>
                  <a:gd name="T28" fmla="*/ 501 w 516"/>
                  <a:gd name="T29" fmla="*/ 755 h 889"/>
                  <a:gd name="T30" fmla="*/ 382 w 516"/>
                  <a:gd name="T31" fmla="*/ 796 h 889"/>
                  <a:gd name="T32" fmla="*/ 303 w 516"/>
                  <a:gd name="T33" fmla="*/ 808 h 889"/>
                  <a:gd name="T34" fmla="*/ 246 w 516"/>
                  <a:gd name="T35" fmla="*/ 815 h 889"/>
                  <a:gd name="T36" fmla="*/ 164 w 516"/>
                  <a:gd name="T37" fmla="*/ 855 h 889"/>
                  <a:gd name="T38" fmla="*/ 100 w 516"/>
                  <a:gd name="T39" fmla="*/ 866 h 889"/>
                  <a:gd name="T40" fmla="*/ 65 w 516"/>
                  <a:gd name="T41" fmla="*/ 864 h 889"/>
                  <a:gd name="T42" fmla="*/ 122 w 516"/>
                  <a:gd name="T43" fmla="*/ 795 h 889"/>
                  <a:gd name="T44" fmla="*/ 206 w 516"/>
                  <a:gd name="T45" fmla="*/ 762 h 889"/>
                  <a:gd name="T46" fmla="*/ 213 w 516"/>
                  <a:gd name="T47" fmla="*/ 742 h 889"/>
                  <a:gd name="T48" fmla="*/ 139 w 516"/>
                  <a:gd name="T49" fmla="*/ 721 h 889"/>
                  <a:gd name="T50" fmla="*/ 114 w 516"/>
                  <a:gd name="T51" fmla="*/ 716 h 889"/>
                  <a:gd name="T52" fmla="*/ 84 w 516"/>
                  <a:gd name="T53" fmla="*/ 704 h 889"/>
                  <a:gd name="T54" fmla="*/ 134 w 516"/>
                  <a:gd name="T55" fmla="*/ 659 h 889"/>
                  <a:gd name="T56" fmla="*/ 149 w 516"/>
                  <a:gd name="T57" fmla="*/ 603 h 889"/>
                  <a:gd name="T58" fmla="*/ 124 w 516"/>
                  <a:gd name="T59" fmla="*/ 585 h 889"/>
                  <a:gd name="T60" fmla="*/ 122 w 516"/>
                  <a:gd name="T61" fmla="*/ 543 h 889"/>
                  <a:gd name="T62" fmla="*/ 209 w 516"/>
                  <a:gd name="T63" fmla="*/ 546 h 889"/>
                  <a:gd name="T64" fmla="*/ 218 w 516"/>
                  <a:gd name="T65" fmla="*/ 460 h 889"/>
                  <a:gd name="T66" fmla="*/ 186 w 516"/>
                  <a:gd name="T67" fmla="*/ 437 h 889"/>
                  <a:gd name="T68" fmla="*/ 180 w 516"/>
                  <a:gd name="T69" fmla="*/ 377 h 889"/>
                  <a:gd name="T70" fmla="*/ 135 w 516"/>
                  <a:gd name="T71" fmla="*/ 400 h 889"/>
                  <a:gd name="T72" fmla="*/ 98 w 516"/>
                  <a:gd name="T73" fmla="*/ 405 h 889"/>
                  <a:gd name="T74" fmla="*/ 118 w 516"/>
                  <a:gd name="T75" fmla="*/ 323 h 889"/>
                  <a:gd name="T76" fmla="*/ 108 w 516"/>
                  <a:gd name="T77" fmla="*/ 278 h 889"/>
                  <a:gd name="T78" fmla="*/ 87 w 516"/>
                  <a:gd name="T79" fmla="*/ 294 h 889"/>
                  <a:gd name="T80" fmla="*/ 91 w 516"/>
                  <a:gd name="T81" fmla="*/ 257 h 889"/>
                  <a:gd name="T82" fmla="*/ 62 w 516"/>
                  <a:gd name="T83" fmla="*/ 344 h 889"/>
                  <a:gd name="T84" fmla="*/ 57 w 516"/>
                  <a:gd name="T85" fmla="*/ 284 h 889"/>
                  <a:gd name="T86" fmla="*/ 66 w 516"/>
                  <a:gd name="T87" fmla="*/ 238 h 889"/>
                  <a:gd name="T88" fmla="*/ 72 w 516"/>
                  <a:gd name="T89" fmla="*/ 220 h 889"/>
                  <a:gd name="T90" fmla="*/ 74 w 516"/>
                  <a:gd name="T91" fmla="*/ 209 h 889"/>
                  <a:gd name="T92" fmla="*/ 38 w 516"/>
                  <a:gd name="T93" fmla="*/ 244 h 889"/>
                  <a:gd name="T94" fmla="*/ 39 w 516"/>
                  <a:gd name="T95" fmla="*/ 223 h 889"/>
                  <a:gd name="T96" fmla="*/ 49 w 516"/>
                  <a:gd name="T97" fmla="*/ 206 h 889"/>
                  <a:gd name="T98" fmla="*/ 60 w 516"/>
                  <a:gd name="T99" fmla="*/ 187 h 889"/>
                  <a:gd name="T100" fmla="*/ 59 w 516"/>
                  <a:gd name="T101" fmla="*/ 160 h 889"/>
                  <a:gd name="T102" fmla="*/ 42 w 516"/>
                  <a:gd name="T103" fmla="*/ 153 h 889"/>
                  <a:gd name="T104" fmla="*/ 5 w 516"/>
                  <a:gd name="T105" fmla="*/ 134 h 889"/>
                  <a:gd name="T106" fmla="*/ 22 w 516"/>
                  <a:gd name="T107" fmla="*/ 116 h 889"/>
                  <a:gd name="T108" fmla="*/ 55 w 516"/>
                  <a:gd name="T109" fmla="*/ 144 h 889"/>
                  <a:gd name="T110" fmla="*/ 54 w 516"/>
                  <a:gd name="T111" fmla="*/ 112 h 889"/>
                  <a:gd name="T112" fmla="*/ 66 w 516"/>
                  <a:gd name="T113" fmla="*/ 89 h 889"/>
                  <a:gd name="T114" fmla="*/ 81 w 516"/>
                  <a:gd name="T115" fmla="*/ 73 h 889"/>
                  <a:gd name="T116" fmla="*/ 90 w 516"/>
                  <a:gd name="T117" fmla="*/ 38 h 889"/>
                  <a:gd name="T118" fmla="*/ 118 w 516"/>
                  <a:gd name="T119" fmla="*/ 15 h 889"/>
                  <a:gd name="T120" fmla="*/ 164 w 516"/>
                  <a:gd name="T121" fmla="*/ 1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6" h="889">
                    <a:moveTo>
                      <a:pt x="203" y="2"/>
                    </a:moveTo>
                    <a:cubicBezTo>
                      <a:pt x="203" y="5"/>
                      <a:pt x="204" y="5"/>
                      <a:pt x="204" y="6"/>
                    </a:cubicBezTo>
                    <a:cubicBezTo>
                      <a:pt x="203" y="7"/>
                      <a:pt x="200" y="14"/>
                      <a:pt x="201" y="16"/>
                    </a:cubicBezTo>
                    <a:cubicBezTo>
                      <a:pt x="201" y="19"/>
                      <a:pt x="204" y="23"/>
                      <a:pt x="203" y="27"/>
                    </a:cubicBezTo>
                    <a:cubicBezTo>
                      <a:pt x="201" y="30"/>
                      <a:pt x="195" y="39"/>
                      <a:pt x="193" y="40"/>
                    </a:cubicBezTo>
                    <a:cubicBezTo>
                      <a:pt x="191" y="42"/>
                      <a:pt x="188" y="41"/>
                      <a:pt x="187" y="43"/>
                    </a:cubicBezTo>
                    <a:cubicBezTo>
                      <a:pt x="184" y="45"/>
                      <a:pt x="183" y="49"/>
                      <a:pt x="181" y="52"/>
                    </a:cubicBezTo>
                    <a:cubicBezTo>
                      <a:pt x="179" y="55"/>
                      <a:pt x="172" y="59"/>
                      <a:pt x="170" y="61"/>
                    </a:cubicBezTo>
                    <a:cubicBezTo>
                      <a:pt x="168" y="62"/>
                      <a:pt x="168" y="63"/>
                      <a:pt x="167" y="64"/>
                    </a:cubicBezTo>
                    <a:cubicBezTo>
                      <a:pt x="165" y="65"/>
                      <a:pt x="162" y="66"/>
                      <a:pt x="161" y="68"/>
                    </a:cubicBezTo>
                    <a:cubicBezTo>
                      <a:pt x="160" y="70"/>
                      <a:pt x="158" y="72"/>
                      <a:pt x="157" y="73"/>
                    </a:cubicBezTo>
                    <a:cubicBezTo>
                      <a:pt x="155" y="74"/>
                      <a:pt x="152" y="74"/>
                      <a:pt x="150" y="75"/>
                    </a:cubicBezTo>
                    <a:cubicBezTo>
                      <a:pt x="151" y="77"/>
                      <a:pt x="152" y="79"/>
                      <a:pt x="153" y="82"/>
                    </a:cubicBezTo>
                    <a:cubicBezTo>
                      <a:pt x="152" y="83"/>
                      <a:pt x="152" y="84"/>
                      <a:pt x="150" y="84"/>
                    </a:cubicBezTo>
                    <a:cubicBezTo>
                      <a:pt x="147" y="86"/>
                      <a:pt x="138" y="83"/>
                      <a:pt x="135" y="83"/>
                    </a:cubicBezTo>
                    <a:cubicBezTo>
                      <a:pt x="135" y="83"/>
                      <a:pt x="135" y="83"/>
                      <a:pt x="135" y="84"/>
                    </a:cubicBezTo>
                    <a:cubicBezTo>
                      <a:pt x="136" y="84"/>
                      <a:pt x="136" y="85"/>
                      <a:pt x="138" y="85"/>
                    </a:cubicBezTo>
                    <a:cubicBezTo>
                      <a:pt x="139" y="86"/>
                      <a:pt x="150" y="88"/>
                      <a:pt x="152" y="88"/>
                    </a:cubicBezTo>
                    <a:cubicBezTo>
                      <a:pt x="153" y="87"/>
                      <a:pt x="155" y="86"/>
                      <a:pt x="156" y="86"/>
                    </a:cubicBezTo>
                    <a:cubicBezTo>
                      <a:pt x="157" y="87"/>
                      <a:pt x="156" y="88"/>
                      <a:pt x="159" y="89"/>
                    </a:cubicBezTo>
                    <a:cubicBezTo>
                      <a:pt x="159" y="88"/>
                      <a:pt x="161" y="88"/>
                      <a:pt x="161" y="87"/>
                    </a:cubicBezTo>
                    <a:cubicBezTo>
                      <a:pt x="163" y="85"/>
                      <a:pt x="162" y="84"/>
                      <a:pt x="165" y="84"/>
                    </a:cubicBezTo>
                    <a:cubicBezTo>
                      <a:pt x="165" y="85"/>
                      <a:pt x="166" y="85"/>
                      <a:pt x="166" y="87"/>
                    </a:cubicBezTo>
                    <a:cubicBezTo>
                      <a:pt x="164" y="88"/>
                      <a:pt x="164" y="89"/>
                      <a:pt x="163" y="91"/>
                    </a:cubicBezTo>
                    <a:cubicBezTo>
                      <a:pt x="162" y="93"/>
                      <a:pt x="159" y="95"/>
                      <a:pt x="158" y="97"/>
                    </a:cubicBezTo>
                    <a:cubicBezTo>
                      <a:pt x="157" y="98"/>
                      <a:pt x="157" y="99"/>
                      <a:pt x="156" y="100"/>
                    </a:cubicBezTo>
                    <a:cubicBezTo>
                      <a:pt x="155" y="101"/>
                      <a:pt x="153" y="102"/>
                      <a:pt x="153" y="102"/>
                    </a:cubicBezTo>
                    <a:cubicBezTo>
                      <a:pt x="153" y="103"/>
                      <a:pt x="153" y="104"/>
                      <a:pt x="153" y="104"/>
                    </a:cubicBezTo>
                    <a:cubicBezTo>
                      <a:pt x="153" y="105"/>
                      <a:pt x="151" y="107"/>
                      <a:pt x="150" y="108"/>
                    </a:cubicBezTo>
                    <a:cubicBezTo>
                      <a:pt x="148" y="112"/>
                      <a:pt x="142" y="115"/>
                      <a:pt x="141" y="120"/>
                    </a:cubicBezTo>
                    <a:cubicBezTo>
                      <a:pt x="142" y="121"/>
                      <a:pt x="142" y="121"/>
                      <a:pt x="144" y="121"/>
                    </a:cubicBezTo>
                    <a:cubicBezTo>
                      <a:pt x="145" y="119"/>
                      <a:pt x="147" y="118"/>
                      <a:pt x="149" y="116"/>
                    </a:cubicBezTo>
                    <a:cubicBezTo>
                      <a:pt x="149" y="116"/>
                      <a:pt x="149" y="116"/>
                      <a:pt x="150" y="116"/>
                    </a:cubicBezTo>
                    <a:cubicBezTo>
                      <a:pt x="151" y="114"/>
                      <a:pt x="150" y="113"/>
                      <a:pt x="152" y="112"/>
                    </a:cubicBezTo>
                    <a:cubicBezTo>
                      <a:pt x="154" y="110"/>
                      <a:pt x="157" y="113"/>
                      <a:pt x="160" y="112"/>
                    </a:cubicBezTo>
                    <a:cubicBezTo>
                      <a:pt x="164" y="110"/>
                      <a:pt x="167" y="104"/>
                      <a:pt x="172" y="104"/>
                    </a:cubicBezTo>
                    <a:cubicBezTo>
                      <a:pt x="173" y="104"/>
                      <a:pt x="175" y="104"/>
                      <a:pt x="176" y="104"/>
                    </a:cubicBezTo>
                    <a:cubicBezTo>
                      <a:pt x="177" y="104"/>
                      <a:pt x="179" y="103"/>
                      <a:pt x="179" y="103"/>
                    </a:cubicBezTo>
                    <a:cubicBezTo>
                      <a:pt x="181" y="100"/>
                      <a:pt x="180" y="98"/>
                      <a:pt x="184" y="98"/>
                    </a:cubicBezTo>
                    <a:cubicBezTo>
                      <a:pt x="185" y="97"/>
                      <a:pt x="190" y="97"/>
                      <a:pt x="191" y="97"/>
                    </a:cubicBezTo>
                    <a:cubicBezTo>
                      <a:pt x="194" y="101"/>
                      <a:pt x="200" y="103"/>
                      <a:pt x="207" y="103"/>
                    </a:cubicBezTo>
                    <a:cubicBezTo>
                      <a:pt x="210" y="97"/>
                      <a:pt x="216" y="99"/>
                      <a:pt x="222" y="100"/>
                    </a:cubicBezTo>
                    <a:cubicBezTo>
                      <a:pt x="224" y="100"/>
                      <a:pt x="225" y="100"/>
                      <a:pt x="227" y="100"/>
                    </a:cubicBezTo>
                    <a:cubicBezTo>
                      <a:pt x="228" y="100"/>
                      <a:pt x="229" y="101"/>
                      <a:pt x="230" y="101"/>
                    </a:cubicBezTo>
                    <a:cubicBezTo>
                      <a:pt x="233" y="102"/>
                      <a:pt x="234" y="100"/>
                      <a:pt x="236" y="100"/>
                    </a:cubicBezTo>
                    <a:cubicBezTo>
                      <a:pt x="238" y="101"/>
                      <a:pt x="242" y="102"/>
                      <a:pt x="244" y="101"/>
                    </a:cubicBezTo>
                    <a:cubicBezTo>
                      <a:pt x="244" y="100"/>
                      <a:pt x="245" y="100"/>
                      <a:pt x="245" y="100"/>
                    </a:cubicBezTo>
                    <a:cubicBezTo>
                      <a:pt x="247" y="99"/>
                      <a:pt x="251" y="101"/>
                      <a:pt x="253" y="101"/>
                    </a:cubicBezTo>
                    <a:cubicBezTo>
                      <a:pt x="254" y="98"/>
                      <a:pt x="257" y="98"/>
                      <a:pt x="261" y="98"/>
                    </a:cubicBezTo>
                    <a:cubicBezTo>
                      <a:pt x="262" y="100"/>
                      <a:pt x="264" y="99"/>
                      <a:pt x="266" y="100"/>
                    </a:cubicBezTo>
                    <a:cubicBezTo>
                      <a:pt x="270" y="103"/>
                      <a:pt x="275" y="110"/>
                      <a:pt x="277" y="116"/>
                    </a:cubicBezTo>
                    <a:cubicBezTo>
                      <a:pt x="277" y="117"/>
                      <a:pt x="276" y="120"/>
                      <a:pt x="276" y="122"/>
                    </a:cubicBezTo>
                    <a:cubicBezTo>
                      <a:pt x="276" y="124"/>
                      <a:pt x="276" y="125"/>
                      <a:pt x="275" y="127"/>
                    </a:cubicBezTo>
                    <a:cubicBezTo>
                      <a:pt x="274" y="128"/>
                      <a:pt x="273" y="128"/>
                      <a:pt x="272" y="129"/>
                    </a:cubicBezTo>
                    <a:cubicBezTo>
                      <a:pt x="271" y="130"/>
                      <a:pt x="271" y="131"/>
                      <a:pt x="271" y="132"/>
                    </a:cubicBezTo>
                    <a:cubicBezTo>
                      <a:pt x="269" y="134"/>
                      <a:pt x="266" y="135"/>
                      <a:pt x="264" y="139"/>
                    </a:cubicBezTo>
                    <a:cubicBezTo>
                      <a:pt x="263" y="140"/>
                      <a:pt x="264" y="142"/>
                      <a:pt x="263" y="143"/>
                    </a:cubicBezTo>
                    <a:cubicBezTo>
                      <a:pt x="262" y="146"/>
                      <a:pt x="261" y="149"/>
                      <a:pt x="260" y="152"/>
                    </a:cubicBezTo>
                    <a:cubicBezTo>
                      <a:pt x="259" y="155"/>
                      <a:pt x="262" y="156"/>
                      <a:pt x="261" y="160"/>
                    </a:cubicBezTo>
                    <a:cubicBezTo>
                      <a:pt x="259" y="164"/>
                      <a:pt x="255" y="169"/>
                      <a:pt x="254" y="172"/>
                    </a:cubicBezTo>
                    <a:cubicBezTo>
                      <a:pt x="254" y="173"/>
                      <a:pt x="254" y="174"/>
                      <a:pt x="254" y="175"/>
                    </a:cubicBezTo>
                    <a:cubicBezTo>
                      <a:pt x="255" y="179"/>
                      <a:pt x="254" y="181"/>
                      <a:pt x="252" y="184"/>
                    </a:cubicBezTo>
                    <a:cubicBezTo>
                      <a:pt x="252" y="184"/>
                      <a:pt x="251" y="185"/>
                      <a:pt x="251" y="185"/>
                    </a:cubicBezTo>
                    <a:cubicBezTo>
                      <a:pt x="250" y="187"/>
                      <a:pt x="249" y="190"/>
                      <a:pt x="247" y="191"/>
                    </a:cubicBezTo>
                    <a:cubicBezTo>
                      <a:pt x="246" y="192"/>
                      <a:pt x="244" y="192"/>
                      <a:pt x="244" y="194"/>
                    </a:cubicBezTo>
                    <a:cubicBezTo>
                      <a:pt x="243" y="194"/>
                      <a:pt x="243" y="195"/>
                      <a:pt x="243" y="196"/>
                    </a:cubicBezTo>
                    <a:cubicBezTo>
                      <a:pt x="243" y="197"/>
                      <a:pt x="241" y="198"/>
                      <a:pt x="241" y="199"/>
                    </a:cubicBezTo>
                    <a:cubicBezTo>
                      <a:pt x="241" y="200"/>
                      <a:pt x="241" y="201"/>
                      <a:pt x="241" y="202"/>
                    </a:cubicBezTo>
                    <a:cubicBezTo>
                      <a:pt x="240" y="203"/>
                      <a:pt x="240" y="207"/>
                      <a:pt x="239" y="209"/>
                    </a:cubicBezTo>
                    <a:cubicBezTo>
                      <a:pt x="237" y="214"/>
                      <a:pt x="232" y="217"/>
                      <a:pt x="228" y="220"/>
                    </a:cubicBezTo>
                    <a:cubicBezTo>
                      <a:pt x="226" y="222"/>
                      <a:pt x="226" y="225"/>
                      <a:pt x="223" y="225"/>
                    </a:cubicBezTo>
                    <a:cubicBezTo>
                      <a:pt x="222" y="223"/>
                      <a:pt x="217" y="224"/>
                      <a:pt x="215" y="225"/>
                    </a:cubicBezTo>
                    <a:cubicBezTo>
                      <a:pt x="215" y="225"/>
                      <a:pt x="215" y="226"/>
                      <a:pt x="215" y="226"/>
                    </a:cubicBezTo>
                    <a:cubicBezTo>
                      <a:pt x="216" y="226"/>
                      <a:pt x="218" y="226"/>
                      <a:pt x="219" y="226"/>
                    </a:cubicBezTo>
                    <a:cubicBezTo>
                      <a:pt x="219" y="227"/>
                      <a:pt x="221" y="227"/>
                      <a:pt x="221" y="228"/>
                    </a:cubicBezTo>
                    <a:cubicBezTo>
                      <a:pt x="224" y="231"/>
                      <a:pt x="223" y="236"/>
                      <a:pt x="226" y="238"/>
                    </a:cubicBezTo>
                    <a:cubicBezTo>
                      <a:pt x="228" y="240"/>
                      <a:pt x="232" y="239"/>
                      <a:pt x="233" y="241"/>
                    </a:cubicBezTo>
                    <a:cubicBezTo>
                      <a:pt x="237" y="246"/>
                      <a:pt x="227" y="250"/>
                      <a:pt x="224" y="252"/>
                    </a:cubicBezTo>
                    <a:cubicBezTo>
                      <a:pt x="224" y="253"/>
                      <a:pt x="222" y="254"/>
                      <a:pt x="221" y="254"/>
                    </a:cubicBezTo>
                    <a:cubicBezTo>
                      <a:pt x="220" y="254"/>
                      <a:pt x="219" y="254"/>
                      <a:pt x="219" y="253"/>
                    </a:cubicBezTo>
                    <a:cubicBezTo>
                      <a:pt x="216" y="253"/>
                      <a:pt x="214" y="253"/>
                      <a:pt x="212" y="253"/>
                    </a:cubicBezTo>
                    <a:cubicBezTo>
                      <a:pt x="210" y="256"/>
                      <a:pt x="204" y="258"/>
                      <a:pt x="204" y="262"/>
                    </a:cubicBezTo>
                    <a:cubicBezTo>
                      <a:pt x="204" y="263"/>
                      <a:pt x="204" y="264"/>
                      <a:pt x="204" y="265"/>
                    </a:cubicBezTo>
                    <a:cubicBezTo>
                      <a:pt x="203" y="266"/>
                      <a:pt x="202" y="267"/>
                      <a:pt x="201" y="268"/>
                    </a:cubicBezTo>
                    <a:cubicBezTo>
                      <a:pt x="200" y="267"/>
                      <a:pt x="200" y="267"/>
                      <a:pt x="199" y="267"/>
                    </a:cubicBezTo>
                    <a:cubicBezTo>
                      <a:pt x="199" y="267"/>
                      <a:pt x="199" y="267"/>
                      <a:pt x="199" y="268"/>
                    </a:cubicBezTo>
                    <a:cubicBezTo>
                      <a:pt x="198" y="268"/>
                      <a:pt x="196" y="268"/>
                      <a:pt x="195" y="269"/>
                    </a:cubicBezTo>
                    <a:cubicBezTo>
                      <a:pt x="194" y="270"/>
                      <a:pt x="193" y="271"/>
                      <a:pt x="192" y="272"/>
                    </a:cubicBezTo>
                    <a:cubicBezTo>
                      <a:pt x="192" y="272"/>
                      <a:pt x="192" y="272"/>
                      <a:pt x="192" y="272"/>
                    </a:cubicBezTo>
                    <a:cubicBezTo>
                      <a:pt x="192" y="272"/>
                      <a:pt x="192" y="272"/>
                      <a:pt x="192" y="272"/>
                    </a:cubicBezTo>
                    <a:cubicBezTo>
                      <a:pt x="193" y="273"/>
                      <a:pt x="194" y="273"/>
                      <a:pt x="195" y="274"/>
                    </a:cubicBezTo>
                    <a:cubicBezTo>
                      <a:pt x="194" y="274"/>
                      <a:pt x="193" y="274"/>
                      <a:pt x="194" y="274"/>
                    </a:cubicBezTo>
                    <a:cubicBezTo>
                      <a:pt x="196" y="276"/>
                      <a:pt x="199" y="275"/>
                      <a:pt x="203" y="276"/>
                    </a:cubicBezTo>
                    <a:cubicBezTo>
                      <a:pt x="205" y="276"/>
                      <a:pt x="208" y="278"/>
                      <a:pt x="210" y="277"/>
                    </a:cubicBezTo>
                    <a:cubicBezTo>
                      <a:pt x="211" y="277"/>
                      <a:pt x="211" y="276"/>
                      <a:pt x="212" y="276"/>
                    </a:cubicBezTo>
                    <a:cubicBezTo>
                      <a:pt x="213" y="275"/>
                      <a:pt x="215" y="275"/>
                      <a:pt x="215" y="274"/>
                    </a:cubicBezTo>
                    <a:cubicBezTo>
                      <a:pt x="217" y="271"/>
                      <a:pt x="219" y="266"/>
                      <a:pt x="223" y="266"/>
                    </a:cubicBezTo>
                    <a:cubicBezTo>
                      <a:pt x="225" y="264"/>
                      <a:pt x="230" y="266"/>
                      <a:pt x="232" y="266"/>
                    </a:cubicBezTo>
                    <a:cubicBezTo>
                      <a:pt x="234" y="268"/>
                      <a:pt x="234" y="268"/>
                      <a:pt x="236" y="271"/>
                    </a:cubicBezTo>
                    <a:cubicBezTo>
                      <a:pt x="241" y="271"/>
                      <a:pt x="245" y="274"/>
                      <a:pt x="247" y="276"/>
                    </a:cubicBezTo>
                    <a:cubicBezTo>
                      <a:pt x="248" y="277"/>
                      <a:pt x="249" y="278"/>
                      <a:pt x="250" y="279"/>
                    </a:cubicBezTo>
                    <a:cubicBezTo>
                      <a:pt x="253" y="279"/>
                      <a:pt x="256" y="279"/>
                      <a:pt x="259" y="279"/>
                    </a:cubicBezTo>
                    <a:cubicBezTo>
                      <a:pt x="261" y="281"/>
                      <a:pt x="263" y="283"/>
                      <a:pt x="264" y="284"/>
                    </a:cubicBezTo>
                    <a:cubicBezTo>
                      <a:pt x="264" y="285"/>
                      <a:pt x="264" y="285"/>
                      <a:pt x="264" y="286"/>
                    </a:cubicBezTo>
                    <a:cubicBezTo>
                      <a:pt x="264" y="287"/>
                      <a:pt x="265" y="287"/>
                      <a:pt x="266" y="287"/>
                    </a:cubicBezTo>
                    <a:cubicBezTo>
                      <a:pt x="267" y="289"/>
                      <a:pt x="269" y="292"/>
                      <a:pt x="270" y="293"/>
                    </a:cubicBezTo>
                    <a:cubicBezTo>
                      <a:pt x="270" y="294"/>
                      <a:pt x="271" y="295"/>
                      <a:pt x="271" y="296"/>
                    </a:cubicBezTo>
                    <a:cubicBezTo>
                      <a:pt x="271" y="297"/>
                      <a:pt x="274" y="299"/>
                      <a:pt x="274" y="299"/>
                    </a:cubicBezTo>
                    <a:cubicBezTo>
                      <a:pt x="274" y="299"/>
                      <a:pt x="274" y="300"/>
                      <a:pt x="275" y="301"/>
                    </a:cubicBezTo>
                    <a:cubicBezTo>
                      <a:pt x="276" y="302"/>
                      <a:pt x="277" y="303"/>
                      <a:pt x="279" y="304"/>
                    </a:cubicBezTo>
                    <a:cubicBezTo>
                      <a:pt x="280" y="305"/>
                      <a:pt x="281" y="307"/>
                      <a:pt x="282" y="309"/>
                    </a:cubicBezTo>
                    <a:cubicBezTo>
                      <a:pt x="283" y="310"/>
                      <a:pt x="285" y="309"/>
                      <a:pt x="287" y="310"/>
                    </a:cubicBezTo>
                    <a:cubicBezTo>
                      <a:pt x="288" y="310"/>
                      <a:pt x="290" y="313"/>
                      <a:pt x="291" y="314"/>
                    </a:cubicBezTo>
                    <a:cubicBezTo>
                      <a:pt x="292" y="317"/>
                      <a:pt x="292" y="318"/>
                      <a:pt x="293" y="320"/>
                    </a:cubicBezTo>
                    <a:cubicBezTo>
                      <a:pt x="293" y="321"/>
                      <a:pt x="294" y="322"/>
                      <a:pt x="294" y="322"/>
                    </a:cubicBezTo>
                    <a:cubicBezTo>
                      <a:pt x="295" y="325"/>
                      <a:pt x="295" y="328"/>
                      <a:pt x="295" y="331"/>
                    </a:cubicBezTo>
                    <a:cubicBezTo>
                      <a:pt x="295" y="332"/>
                      <a:pt x="294" y="333"/>
                      <a:pt x="294" y="334"/>
                    </a:cubicBezTo>
                    <a:cubicBezTo>
                      <a:pt x="295" y="336"/>
                      <a:pt x="296" y="338"/>
                      <a:pt x="296" y="340"/>
                    </a:cubicBezTo>
                    <a:cubicBezTo>
                      <a:pt x="296" y="341"/>
                      <a:pt x="296" y="343"/>
                      <a:pt x="296" y="344"/>
                    </a:cubicBezTo>
                    <a:cubicBezTo>
                      <a:pt x="297" y="346"/>
                      <a:pt x="299" y="349"/>
                      <a:pt x="300" y="351"/>
                    </a:cubicBezTo>
                    <a:cubicBezTo>
                      <a:pt x="300" y="353"/>
                      <a:pt x="300" y="354"/>
                      <a:pt x="300" y="355"/>
                    </a:cubicBezTo>
                    <a:cubicBezTo>
                      <a:pt x="300" y="357"/>
                      <a:pt x="302" y="360"/>
                      <a:pt x="302" y="361"/>
                    </a:cubicBezTo>
                    <a:cubicBezTo>
                      <a:pt x="302" y="362"/>
                      <a:pt x="303" y="363"/>
                      <a:pt x="303" y="364"/>
                    </a:cubicBezTo>
                    <a:cubicBezTo>
                      <a:pt x="304" y="367"/>
                      <a:pt x="307" y="370"/>
                      <a:pt x="309" y="372"/>
                    </a:cubicBezTo>
                    <a:cubicBezTo>
                      <a:pt x="310" y="375"/>
                      <a:pt x="310" y="378"/>
                      <a:pt x="310" y="380"/>
                    </a:cubicBezTo>
                    <a:cubicBezTo>
                      <a:pt x="311" y="383"/>
                      <a:pt x="313" y="388"/>
                      <a:pt x="314" y="392"/>
                    </a:cubicBezTo>
                    <a:cubicBezTo>
                      <a:pt x="314" y="393"/>
                      <a:pt x="314" y="394"/>
                      <a:pt x="314" y="394"/>
                    </a:cubicBezTo>
                    <a:cubicBezTo>
                      <a:pt x="315" y="397"/>
                      <a:pt x="319" y="399"/>
                      <a:pt x="321" y="401"/>
                    </a:cubicBezTo>
                    <a:cubicBezTo>
                      <a:pt x="322" y="403"/>
                      <a:pt x="321" y="406"/>
                      <a:pt x="322" y="408"/>
                    </a:cubicBezTo>
                    <a:cubicBezTo>
                      <a:pt x="322" y="408"/>
                      <a:pt x="322" y="408"/>
                      <a:pt x="322" y="408"/>
                    </a:cubicBezTo>
                    <a:cubicBezTo>
                      <a:pt x="324" y="407"/>
                      <a:pt x="329" y="408"/>
                      <a:pt x="332" y="410"/>
                    </a:cubicBezTo>
                    <a:cubicBezTo>
                      <a:pt x="332" y="410"/>
                      <a:pt x="333" y="411"/>
                      <a:pt x="333" y="411"/>
                    </a:cubicBezTo>
                    <a:cubicBezTo>
                      <a:pt x="335" y="411"/>
                      <a:pt x="337" y="411"/>
                      <a:pt x="339" y="411"/>
                    </a:cubicBezTo>
                    <a:cubicBezTo>
                      <a:pt x="343" y="413"/>
                      <a:pt x="349" y="415"/>
                      <a:pt x="353" y="417"/>
                    </a:cubicBezTo>
                    <a:cubicBezTo>
                      <a:pt x="354" y="418"/>
                      <a:pt x="355" y="420"/>
                      <a:pt x="357" y="421"/>
                    </a:cubicBezTo>
                    <a:cubicBezTo>
                      <a:pt x="358" y="421"/>
                      <a:pt x="359" y="421"/>
                      <a:pt x="360" y="422"/>
                    </a:cubicBezTo>
                    <a:cubicBezTo>
                      <a:pt x="362" y="425"/>
                      <a:pt x="366" y="430"/>
                      <a:pt x="367" y="433"/>
                    </a:cubicBezTo>
                    <a:cubicBezTo>
                      <a:pt x="368" y="437"/>
                      <a:pt x="370" y="441"/>
                      <a:pt x="372" y="444"/>
                    </a:cubicBezTo>
                    <a:cubicBezTo>
                      <a:pt x="373" y="445"/>
                      <a:pt x="376" y="445"/>
                      <a:pt x="377" y="446"/>
                    </a:cubicBezTo>
                    <a:cubicBezTo>
                      <a:pt x="379" y="447"/>
                      <a:pt x="379" y="451"/>
                      <a:pt x="381" y="452"/>
                    </a:cubicBezTo>
                    <a:cubicBezTo>
                      <a:pt x="384" y="454"/>
                      <a:pt x="389" y="454"/>
                      <a:pt x="390" y="458"/>
                    </a:cubicBezTo>
                    <a:cubicBezTo>
                      <a:pt x="386" y="460"/>
                      <a:pt x="383" y="462"/>
                      <a:pt x="383" y="467"/>
                    </a:cubicBezTo>
                    <a:cubicBezTo>
                      <a:pt x="386" y="470"/>
                      <a:pt x="384" y="476"/>
                      <a:pt x="387" y="481"/>
                    </a:cubicBezTo>
                    <a:cubicBezTo>
                      <a:pt x="391" y="487"/>
                      <a:pt x="397" y="492"/>
                      <a:pt x="401" y="498"/>
                    </a:cubicBezTo>
                    <a:cubicBezTo>
                      <a:pt x="402" y="499"/>
                      <a:pt x="404" y="500"/>
                      <a:pt x="405" y="501"/>
                    </a:cubicBezTo>
                    <a:cubicBezTo>
                      <a:pt x="406" y="502"/>
                      <a:pt x="406" y="503"/>
                      <a:pt x="407" y="504"/>
                    </a:cubicBezTo>
                    <a:cubicBezTo>
                      <a:pt x="407" y="505"/>
                      <a:pt x="407" y="505"/>
                      <a:pt x="407" y="506"/>
                    </a:cubicBezTo>
                    <a:cubicBezTo>
                      <a:pt x="402" y="506"/>
                      <a:pt x="397" y="505"/>
                      <a:pt x="390" y="505"/>
                    </a:cubicBezTo>
                    <a:cubicBezTo>
                      <a:pt x="388" y="502"/>
                      <a:pt x="381" y="495"/>
                      <a:pt x="376" y="496"/>
                    </a:cubicBezTo>
                    <a:cubicBezTo>
                      <a:pt x="374" y="497"/>
                      <a:pt x="372" y="498"/>
                      <a:pt x="370" y="499"/>
                    </a:cubicBezTo>
                    <a:cubicBezTo>
                      <a:pt x="368" y="499"/>
                      <a:pt x="364" y="499"/>
                      <a:pt x="362" y="499"/>
                    </a:cubicBezTo>
                    <a:cubicBezTo>
                      <a:pt x="360" y="499"/>
                      <a:pt x="359" y="499"/>
                      <a:pt x="357" y="499"/>
                    </a:cubicBezTo>
                    <a:cubicBezTo>
                      <a:pt x="357" y="499"/>
                      <a:pt x="357" y="499"/>
                      <a:pt x="357" y="500"/>
                    </a:cubicBezTo>
                    <a:cubicBezTo>
                      <a:pt x="361" y="500"/>
                      <a:pt x="362" y="502"/>
                      <a:pt x="364" y="502"/>
                    </a:cubicBezTo>
                    <a:cubicBezTo>
                      <a:pt x="370" y="504"/>
                      <a:pt x="376" y="498"/>
                      <a:pt x="379" y="500"/>
                    </a:cubicBezTo>
                    <a:cubicBezTo>
                      <a:pt x="383" y="501"/>
                      <a:pt x="386" y="508"/>
                      <a:pt x="390" y="510"/>
                    </a:cubicBezTo>
                    <a:cubicBezTo>
                      <a:pt x="391" y="511"/>
                      <a:pt x="392" y="511"/>
                      <a:pt x="393" y="512"/>
                    </a:cubicBezTo>
                    <a:cubicBezTo>
                      <a:pt x="396" y="514"/>
                      <a:pt x="399" y="516"/>
                      <a:pt x="402" y="518"/>
                    </a:cubicBezTo>
                    <a:cubicBezTo>
                      <a:pt x="404" y="519"/>
                      <a:pt x="406" y="519"/>
                      <a:pt x="408" y="520"/>
                    </a:cubicBezTo>
                    <a:cubicBezTo>
                      <a:pt x="409" y="521"/>
                      <a:pt x="410" y="523"/>
                      <a:pt x="410" y="524"/>
                    </a:cubicBezTo>
                    <a:cubicBezTo>
                      <a:pt x="411" y="525"/>
                      <a:pt x="413" y="527"/>
                      <a:pt x="414" y="528"/>
                    </a:cubicBezTo>
                    <a:cubicBezTo>
                      <a:pt x="415" y="529"/>
                      <a:pt x="415" y="531"/>
                      <a:pt x="415" y="533"/>
                    </a:cubicBezTo>
                    <a:cubicBezTo>
                      <a:pt x="416" y="535"/>
                      <a:pt x="418" y="537"/>
                      <a:pt x="419" y="539"/>
                    </a:cubicBezTo>
                    <a:cubicBezTo>
                      <a:pt x="421" y="543"/>
                      <a:pt x="425" y="550"/>
                      <a:pt x="423" y="557"/>
                    </a:cubicBezTo>
                    <a:cubicBezTo>
                      <a:pt x="422" y="561"/>
                      <a:pt x="421" y="560"/>
                      <a:pt x="419" y="562"/>
                    </a:cubicBezTo>
                    <a:cubicBezTo>
                      <a:pt x="416" y="566"/>
                      <a:pt x="412" y="570"/>
                      <a:pt x="409" y="574"/>
                    </a:cubicBezTo>
                    <a:cubicBezTo>
                      <a:pt x="408" y="576"/>
                      <a:pt x="406" y="577"/>
                      <a:pt x="405" y="579"/>
                    </a:cubicBezTo>
                    <a:cubicBezTo>
                      <a:pt x="406" y="579"/>
                      <a:pt x="406" y="579"/>
                      <a:pt x="406" y="579"/>
                    </a:cubicBezTo>
                    <a:cubicBezTo>
                      <a:pt x="407" y="580"/>
                      <a:pt x="408" y="579"/>
                      <a:pt x="409" y="580"/>
                    </a:cubicBezTo>
                    <a:cubicBezTo>
                      <a:pt x="413" y="582"/>
                      <a:pt x="416" y="586"/>
                      <a:pt x="419" y="589"/>
                    </a:cubicBezTo>
                    <a:cubicBezTo>
                      <a:pt x="420" y="588"/>
                      <a:pt x="421" y="588"/>
                      <a:pt x="421" y="588"/>
                    </a:cubicBezTo>
                    <a:cubicBezTo>
                      <a:pt x="423" y="587"/>
                      <a:pt x="425" y="589"/>
                      <a:pt x="426" y="589"/>
                    </a:cubicBezTo>
                    <a:cubicBezTo>
                      <a:pt x="427" y="587"/>
                      <a:pt x="428" y="587"/>
                      <a:pt x="429" y="586"/>
                    </a:cubicBezTo>
                    <a:cubicBezTo>
                      <a:pt x="429" y="585"/>
                      <a:pt x="429" y="583"/>
                      <a:pt x="429" y="582"/>
                    </a:cubicBezTo>
                    <a:cubicBezTo>
                      <a:pt x="429" y="581"/>
                      <a:pt x="434" y="572"/>
                      <a:pt x="434" y="571"/>
                    </a:cubicBezTo>
                    <a:cubicBezTo>
                      <a:pt x="435" y="571"/>
                      <a:pt x="438" y="569"/>
                      <a:pt x="438" y="569"/>
                    </a:cubicBezTo>
                    <a:cubicBezTo>
                      <a:pt x="440" y="569"/>
                      <a:pt x="441" y="570"/>
                      <a:pt x="442" y="569"/>
                    </a:cubicBezTo>
                    <a:cubicBezTo>
                      <a:pt x="443" y="569"/>
                      <a:pt x="444" y="567"/>
                      <a:pt x="446" y="568"/>
                    </a:cubicBezTo>
                    <a:cubicBezTo>
                      <a:pt x="447" y="568"/>
                      <a:pt x="450" y="569"/>
                      <a:pt x="452" y="569"/>
                    </a:cubicBezTo>
                    <a:cubicBezTo>
                      <a:pt x="454" y="568"/>
                      <a:pt x="459" y="570"/>
                      <a:pt x="460" y="570"/>
                    </a:cubicBezTo>
                    <a:cubicBezTo>
                      <a:pt x="461" y="569"/>
                      <a:pt x="461" y="568"/>
                      <a:pt x="462" y="568"/>
                    </a:cubicBezTo>
                    <a:cubicBezTo>
                      <a:pt x="464" y="567"/>
                      <a:pt x="467" y="569"/>
                      <a:pt x="468" y="570"/>
                    </a:cubicBezTo>
                    <a:cubicBezTo>
                      <a:pt x="470" y="570"/>
                      <a:pt x="472" y="570"/>
                      <a:pt x="474" y="570"/>
                    </a:cubicBezTo>
                    <a:cubicBezTo>
                      <a:pt x="477" y="571"/>
                      <a:pt x="480" y="571"/>
                      <a:pt x="483" y="572"/>
                    </a:cubicBezTo>
                    <a:cubicBezTo>
                      <a:pt x="484" y="572"/>
                      <a:pt x="486" y="573"/>
                      <a:pt x="487" y="573"/>
                    </a:cubicBezTo>
                    <a:cubicBezTo>
                      <a:pt x="489" y="574"/>
                      <a:pt x="491" y="576"/>
                      <a:pt x="493" y="578"/>
                    </a:cubicBezTo>
                    <a:cubicBezTo>
                      <a:pt x="502" y="584"/>
                      <a:pt x="509" y="587"/>
                      <a:pt x="513" y="598"/>
                    </a:cubicBezTo>
                    <a:cubicBezTo>
                      <a:pt x="513" y="600"/>
                      <a:pt x="513" y="601"/>
                      <a:pt x="514" y="603"/>
                    </a:cubicBezTo>
                    <a:cubicBezTo>
                      <a:pt x="514" y="604"/>
                      <a:pt x="513" y="606"/>
                      <a:pt x="513" y="607"/>
                    </a:cubicBezTo>
                    <a:cubicBezTo>
                      <a:pt x="513" y="609"/>
                      <a:pt x="516" y="613"/>
                      <a:pt x="515" y="615"/>
                    </a:cubicBezTo>
                    <a:cubicBezTo>
                      <a:pt x="515" y="616"/>
                      <a:pt x="514" y="618"/>
                      <a:pt x="514" y="618"/>
                    </a:cubicBezTo>
                    <a:cubicBezTo>
                      <a:pt x="513" y="620"/>
                      <a:pt x="514" y="624"/>
                      <a:pt x="513" y="626"/>
                    </a:cubicBezTo>
                    <a:cubicBezTo>
                      <a:pt x="512" y="629"/>
                      <a:pt x="510" y="633"/>
                      <a:pt x="509" y="637"/>
                    </a:cubicBezTo>
                    <a:cubicBezTo>
                      <a:pt x="509" y="640"/>
                      <a:pt x="509" y="644"/>
                      <a:pt x="509" y="647"/>
                    </a:cubicBezTo>
                    <a:cubicBezTo>
                      <a:pt x="508" y="650"/>
                      <a:pt x="508" y="654"/>
                      <a:pt x="507" y="657"/>
                    </a:cubicBezTo>
                    <a:cubicBezTo>
                      <a:pt x="499" y="657"/>
                      <a:pt x="499" y="670"/>
                      <a:pt x="492" y="672"/>
                    </a:cubicBezTo>
                    <a:cubicBezTo>
                      <a:pt x="491" y="672"/>
                      <a:pt x="491" y="671"/>
                      <a:pt x="490" y="671"/>
                    </a:cubicBezTo>
                    <a:cubicBezTo>
                      <a:pt x="490" y="671"/>
                      <a:pt x="490" y="671"/>
                      <a:pt x="490" y="671"/>
                    </a:cubicBezTo>
                    <a:cubicBezTo>
                      <a:pt x="490" y="672"/>
                      <a:pt x="490" y="673"/>
                      <a:pt x="489" y="674"/>
                    </a:cubicBezTo>
                    <a:cubicBezTo>
                      <a:pt x="489" y="675"/>
                      <a:pt x="487" y="675"/>
                      <a:pt x="487" y="677"/>
                    </a:cubicBezTo>
                    <a:cubicBezTo>
                      <a:pt x="487" y="677"/>
                      <a:pt x="487" y="677"/>
                      <a:pt x="487" y="677"/>
                    </a:cubicBezTo>
                    <a:cubicBezTo>
                      <a:pt x="487" y="677"/>
                      <a:pt x="487" y="677"/>
                      <a:pt x="487" y="677"/>
                    </a:cubicBezTo>
                    <a:cubicBezTo>
                      <a:pt x="488" y="677"/>
                      <a:pt x="489" y="677"/>
                      <a:pt x="490" y="677"/>
                    </a:cubicBezTo>
                    <a:cubicBezTo>
                      <a:pt x="491" y="678"/>
                      <a:pt x="491" y="678"/>
                      <a:pt x="491" y="679"/>
                    </a:cubicBezTo>
                    <a:cubicBezTo>
                      <a:pt x="490" y="680"/>
                      <a:pt x="490" y="681"/>
                      <a:pt x="489" y="683"/>
                    </a:cubicBezTo>
                    <a:cubicBezTo>
                      <a:pt x="486" y="687"/>
                      <a:pt x="482" y="691"/>
                      <a:pt x="474" y="691"/>
                    </a:cubicBezTo>
                    <a:cubicBezTo>
                      <a:pt x="474" y="690"/>
                      <a:pt x="473" y="690"/>
                      <a:pt x="472" y="689"/>
                    </a:cubicBezTo>
                    <a:cubicBezTo>
                      <a:pt x="471" y="690"/>
                      <a:pt x="470" y="691"/>
                      <a:pt x="468" y="691"/>
                    </a:cubicBezTo>
                    <a:cubicBezTo>
                      <a:pt x="468" y="691"/>
                      <a:pt x="467" y="690"/>
                      <a:pt x="467" y="690"/>
                    </a:cubicBezTo>
                    <a:cubicBezTo>
                      <a:pt x="466" y="691"/>
                      <a:pt x="466" y="694"/>
                      <a:pt x="464" y="694"/>
                    </a:cubicBezTo>
                    <a:cubicBezTo>
                      <a:pt x="464" y="694"/>
                      <a:pt x="463" y="693"/>
                      <a:pt x="462" y="693"/>
                    </a:cubicBezTo>
                    <a:cubicBezTo>
                      <a:pt x="460" y="693"/>
                      <a:pt x="456" y="695"/>
                      <a:pt x="456" y="697"/>
                    </a:cubicBezTo>
                    <a:cubicBezTo>
                      <a:pt x="456" y="698"/>
                      <a:pt x="456" y="698"/>
                      <a:pt x="456" y="699"/>
                    </a:cubicBezTo>
                    <a:cubicBezTo>
                      <a:pt x="457" y="699"/>
                      <a:pt x="458" y="699"/>
                      <a:pt x="460" y="699"/>
                    </a:cubicBezTo>
                    <a:cubicBezTo>
                      <a:pt x="461" y="700"/>
                      <a:pt x="468" y="700"/>
                      <a:pt x="470" y="700"/>
                    </a:cubicBezTo>
                    <a:cubicBezTo>
                      <a:pt x="470" y="701"/>
                      <a:pt x="469" y="702"/>
                      <a:pt x="469" y="704"/>
                    </a:cubicBezTo>
                    <a:cubicBezTo>
                      <a:pt x="470" y="705"/>
                      <a:pt x="470" y="706"/>
                      <a:pt x="470" y="707"/>
                    </a:cubicBezTo>
                    <a:cubicBezTo>
                      <a:pt x="470" y="708"/>
                      <a:pt x="470" y="709"/>
                      <a:pt x="469" y="710"/>
                    </a:cubicBezTo>
                    <a:cubicBezTo>
                      <a:pt x="466" y="712"/>
                      <a:pt x="463" y="715"/>
                      <a:pt x="459" y="716"/>
                    </a:cubicBezTo>
                    <a:cubicBezTo>
                      <a:pt x="457" y="717"/>
                      <a:pt x="455" y="715"/>
                      <a:pt x="454" y="716"/>
                    </a:cubicBezTo>
                    <a:cubicBezTo>
                      <a:pt x="453" y="716"/>
                      <a:pt x="453" y="717"/>
                      <a:pt x="452" y="718"/>
                    </a:cubicBezTo>
                    <a:cubicBezTo>
                      <a:pt x="452" y="718"/>
                      <a:pt x="451" y="718"/>
                      <a:pt x="451" y="718"/>
                    </a:cubicBezTo>
                    <a:cubicBezTo>
                      <a:pt x="450" y="718"/>
                      <a:pt x="449" y="719"/>
                      <a:pt x="449" y="719"/>
                    </a:cubicBezTo>
                    <a:cubicBezTo>
                      <a:pt x="448" y="719"/>
                      <a:pt x="447" y="719"/>
                      <a:pt x="446" y="719"/>
                    </a:cubicBezTo>
                    <a:cubicBezTo>
                      <a:pt x="445" y="719"/>
                      <a:pt x="444" y="720"/>
                      <a:pt x="443" y="720"/>
                    </a:cubicBezTo>
                    <a:cubicBezTo>
                      <a:pt x="443" y="720"/>
                      <a:pt x="443" y="721"/>
                      <a:pt x="443" y="721"/>
                    </a:cubicBezTo>
                    <a:cubicBezTo>
                      <a:pt x="444" y="721"/>
                      <a:pt x="444" y="721"/>
                      <a:pt x="444" y="721"/>
                    </a:cubicBezTo>
                    <a:cubicBezTo>
                      <a:pt x="446" y="719"/>
                      <a:pt x="455" y="720"/>
                      <a:pt x="457" y="722"/>
                    </a:cubicBezTo>
                    <a:cubicBezTo>
                      <a:pt x="458" y="722"/>
                      <a:pt x="458" y="723"/>
                      <a:pt x="459" y="723"/>
                    </a:cubicBezTo>
                    <a:cubicBezTo>
                      <a:pt x="458" y="725"/>
                      <a:pt x="457" y="726"/>
                      <a:pt x="455" y="726"/>
                    </a:cubicBezTo>
                    <a:cubicBezTo>
                      <a:pt x="454" y="726"/>
                      <a:pt x="453" y="726"/>
                      <a:pt x="453" y="726"/>
                    </a:cubicBezTo>
                    <a:cubicBezTo>
                      <a:pt x="451" y="727"/>
                      <a:pt x="450" y="729"/>
                      <a:pt x="449" y="730"/>
                    </a:cubicBezTo>
                    <a:cubicBezTo>
                      <a:pt x="449" y="730"/>
                      <a:pt x="449" y="730"/>
                      <a:pt x="449" y="730"/>
                    </a:cubicBezTo>
                    <a:cubicBezTo>
                      <a:pt x="450" y="731"/>
                      <a:pt x="450" y="731"/>
                      <a:pt x="450" y="731"/>
                    </a:cubicBezTo>
                    <a:cubicBezTo>
                      <a:pt x="452" y="730"/>
                      <a:pt x="455" y="731"/>
                      <a:pt x="457" y="730"/>
                    </a:cubicBezTo>
                    <a:cubicBezTo>
                      <a:pt x="458" y="729"/>
                      <a:pt x="459" y="727"/>
                      <a:pt x="460" y="726"/>
                    </a:cubicBezTo>
                    <a:cubicBezTo>
                      <a:pt x="462" y="726"/>
                      <a:pt x="467" y="724"/>
                      <a:pt x="469" y="725"/>
                    </a:cubicBezTo>
                    <a:cubicBezTo>
                      <a:pt x="470" y="725"/>
                      <a:pt x="472" y="727"/>
                      <a:pt x="473" y="728"/>
                    </a:cubicBezTo>
                    <a:cubicBezTo>
                      <a:pt x="474" y="730"/>
                      <a:pt x="472" y="732"/>
                      <a:pt x="471" y="732"/>
                    </a:cubicBezTo>
                    <a:cubicBezTo>
                      <a:pt x="471" y="733"/>
                      <a:pt x="471" y="732"/>
                      <a:pt x="471" y="733"/>
                    </a:cubicBezTo>
                    <a:cubicBezTo>
                      <a:pt x="472" y="733"/>
                      <a:pt x="472" y="733"/>
                      <a:pt x="473" y="733"/>
                    </a:cubicBezTo>
                    <a:cubicBezTo>
                      <a:pt x="474" y="731"/>
                      <a:pt x="474" y="733"/>
                      <a:pt x="476" y="733"/>
                    </a:cubicBezTo>
                    <a:cubicBezTo>
                      <a:pt x="477" y="732"/>
                      <a:pt x="479" y="730"/>
                      <a:pt x="480" y="729"/>
                    </a:cubicBezTo>
                    <a:cubicBezTo>
                      <a:pt x="482" y="729"/>
                      <a:pt x="483" y="729"/>
                      <a:pt x="485" y="729"/>
                    </a:cubicBezTo>
                    <a:cubicBezTo>
                      <a:pt x="485" y="729"/>
                      <a:pt x="485" y="729"/>
                      <a:pt x="486" y="728"/>
                    </a:cubicBezTo>
                    <a:cubicBezTo>
                      <a:pt x="486" y="728"/>
                      <a:pt x="490" y="728"/>
                      <a:pt x="490" y="728"/>
                    </a:cubicBezTo>
                    <a:cubicBezTo>
                      <a:pt x="491" y="728"/>
                      <a:pt x="491" y="729"/>
                      <a:pt x="492" y="728"/>
                    </a:cubicBezTo>
                    <a:cubicBezTo>
                      <a:pt x="493" y="728"/>
                      <a:pt x="496" y="727"/>
                      <a:pt x="496" y="727"/>
                    </a:cubicBezTo>
                    <a:cubicBezTo>
                      <a:pt x="499" y="728"/>
                      <a:pt x="501" y="726"/>
                      <a:pt x="504" y="726"/>
                    </a:cubicBezTo>
                    <a:cubicBezTo>
                      <a:pt x="505" y="727"/>
                      <a:pt x="505" y="727"/>
                      <a:pt x="505" y="728"/>
                    </a:cubicBezTo>
                    <a:cubicBezTo>
                      <a:pt x="507" y="731"/>
                      <a:pt x="502" y="733"/>
                      <a:pt x="502" y="734"/>
                    </a:cubicBezTo>
                    <a:cubicBezTo>
                      <a:pt x="502" y="735"/>
                      <a:pt x="502" y="736"/>
                      <a:pt x="502" y="736"/>
                    </a:cubicBezTo>
                    <a:cubicBezTo>
                      <a:pt x="503" y="738"/>
                      <a:pt x="502" y="739"/>
                      <a:pt x="503" y="741"/>
                    </a:cubicBezTo>
                    <a:cubicBezTo>
                      <a:pt x="503" y="741"/>
                      <a:pt x="504" y="742"/>
                      <a:pt x="504" y="742"/>
                    </a:cubicBezTo>
                    <a:cubicBezTo>
                      <a:pt x="506" y="746"/>
                      <a:pt x="502" y="753"/>
                      <a:pt x="501" y="755"/>
                    </a:cubicBezTo>
                    <a:cubicBezTo>
                      <a:pt x="500" y="756"/>
                      <a:pt x="498" y="755"/>
                      <a:pt x="497" y="756"/>
                    </a:cubicBezTo>
                    <a:cubicBezTo>
                      <a:pt x="496" y="757"/>
                      <a:pt x="495" y="759"/>
                      <a:pt x="493" y="760"/>
                    </a:cubicBezTo>
                    <a:cubicBezTo>
                      <a:pt x="489" y="761"/>
                      <a:pt x="478" y="765"/>
                      <a:pt x="478" y="772"/>
                    </a:cubicBezTo>
                    <a:cubicBezTo>
                      <a:pt x="479" y="773"/>
                      <a:pt x="478" y="776"/>
                      <a:pt x="478" y="777"/>
                    </a:cubicBezTo>
                    <a:cubicBezTo>
                      <a:pt x="478" y="777"/>
                      <a:pt x="477" y="778"/>
                      <a:pt x="477" y="778"/>
                    </a:cubicBezTo>
                    <a:cubicBezTo>
                      <a:pt x="474" y="779"/>
                      <a:pt x="468" y="775"/>
                      <a:pt x="465" y="777"/>
                    </a:cubicBezTo>
                    <a:cubicBezTo>
                      <a:pt x="463" y="779"/>
                      <a:pt x="461" y="781"/>
                      <a:pt x="458" y="783"/>
                    </a:cubicBezTo>
                    <a:cubicBezTo>
                      <a:pt x="457" y="784"/>
                      <a:pt x="456" y="785"/>
                      <a:pt x="455" y="786"/>
                    </a:cubicBezTo>
                    <a:cubicBezTo>
                      <a:pt x="452" y="788"/>
                      <a:pt x="448" y="787"/>
                      <a:pt x="444" y="788"/>
                    </a:cubicBezTo>
                    <a:cubicBezTo>
                      <a:pt x="442" y="788"/>
                      <a:pt x="440" y="790"/>
                      <a:pt x="438" y="791"/>
                    </a:cubicBezTo>
                    <a:cubicBezTo>
                      <a:pt x="436" y="793"/>
                      <a:pt x="436" y="798"/>
                      <a:pt x="432" y="798"/>
                    </a:cubicBezTo>
                    <a:cubicBezTo>
                      <a:pt x="430" y="799"/>
                      <a:pt x="428" y="797"/>
                      <a:pt x="427" y="797"/>
                    </a:cubicBezTo>
                    <a:cubicBezTo>
                      <a:pt x="426" y="797"/>
                      <a:pt x="425" y="797"/>
                      <a:pt x="424" y="797"/>
                    </a:cubicBezTo>
                    <a:cubicBezTo>
                      <a:pt x="424" y="797"/>
                      <a:pt x="423" y="796"/>
                      <a:pt x="422" y="796"/>
                    </a:cubicBezTo>
                    <a:cubicBezTo>
                      <a:pt x="421" y="796"/>
                      <a:pt x="419" y="796"/>
                      <a:pt x="418" y="796"/>
                    </a:cubicBezTo>
                    <a:cubicBezTo>
                      <a:pt x="414" y="795"/>
                      <a:pt x="409" y="791"/>
                      <a:pt x="404" y="792"/>
                    </a:cubicBezTo>
                    <a:cubicBezTo>
                      <a:pt x="396" y="793"/>
                      <a:pt x="389" y="794"/>
                      <a:pt x="382" y="796"/>
                    </a:cubicBezTo>
                    <a:cubicBezTo>
                      <a:pt x="378" y="797"/>
                      <a:pt x="375" y="797"/>
                      <a:pt x="372" y="798"/>
                    </a:cubicBezTo>
                    <a:cubicBezTo>
                      <a:pt x="370" y="799"/>
                      <a:pt x="368" y="802"/>
                      <a:pt x="365" y="802"/>
                    </a:cubicBezTo>
                    <a:cubicBezTo>
                      <a:pt x="364" y="801"/>
                      <a:pt x="361" y="801"/>
                      <a:pt x="359" y="799"/>
                    </a:cubicBezTo>
                    <a:cubicBezTo>
                      <a:pt x="357" y="798"/>
                      <a:pt x="357" y="794"/>
                      <a:pt x="354" y="794"/>
                    </a:cubicBezTo>
                    <a:cubicBezTo>
                      <a:pt x="353" y="794"/>
                      <a:pt x="352" y="794"/>
                      <a:pt x="351" y="795"/>
                    </a:cubicBezTo>
                    <a:cubicBezTo>
                      <a:pt x="350" y="795"/>
                      <a:pt x="350" y="797"/>
                      <a:pt x="349" y="798"/>
                    </a:cubicBezTo>
                    <a:cubicBezTo>
                      <a:pt x="348" y="799"/>
                      <a:pt x="342" y="800"/>
                      <a:pt x="339" y="799"/>
                    </a:cubicBezTo>
                    <a:cubicBezTo>
                      <a:pt x="336" y="797"/>
                      <a:pt x="335" y="794"/>
                      <a:pt x="331" y="793"/>
                    </a:cubicBezTo>
                    <a:cubicBezTo>
                      <a:pt x="331" y="793"/>
                      <a:pt x="331" y="794"/>
                      <a:pt x="331" y="794"/>
                    </a:cubicBezTo>
                    <a:cubicBezTo>
                      <a:pt x="332" y="795"/>
                      <a:pt x="332" y="795"/>
                      <a:pt x="332" y="797"/>
                    </a:cubicBezTo>
                    <a:cubicBezTo>
                      <a:pt x="331" y="797"/>
                      <a:pt x="330" y="799"/>
                      <a:pt x="328" y="800"/>
                    </a:cubicBezTo>
                    <a:cubicBezTo>
                      <a:pt x="328" y="800"/>
                      <a:pt x="327" y="800"/>
                      <a:pt x="326" y="800"/>
                    </a:cubicBezTo>
                    <a:cubicBezTo>
                      <a:pt x="326" y="800"/>
                      <a:pt x="325" y="802"/>
                      <a:pt x="324" y="802"/>
                    </a:cubicBezTo>
                    <a:cubicBezTo>
                      <a:pt x="323" y="803"/>
                      <a:pt x="322" y="803"/>
                      <a:pt x="321" y="804"/>
                    </a:cubicBezTo>
                    <a:cubicBezTo>
                      <a:pt x="319" y="805"/>
                      <a:pt x="319" y="807"/>
                      <a:pt x="316" y="808"/>
                    </a:cubicBezTo>
                    <a:cubicBezTo>
                      <a:pt x="315" y="807"/>
                      <a:pt x="309" y="805"/>
                      <a:pt x="308" y="806"/>
                    </a:cubicBezTo>
                    <a:cubicBezTo>
                      <a:pt x="306" y="806"/>
                      <a:pt x="304" y="808"/>
                      <a:pt x="303" y="808"/>
                    </a:cubicBezTo>
                    <a:cubicBezTo>
                      <a:pt x="301" y="809"/>
                      <a:pt x="301" y="807"/>
                      <a:pt x="300" y="808"/>
                    </a:cubicBezTo>
                    <a:cubicBezTo>
                      <a:pt x="300" y="808"/>
                      <a:pt x="297" y="808"/>
                      <a:pt x="297" y="808"/>
                    </a:cubicBezTo>
                    <a:cubicBezTo>
                      <a:pt x="297" y="809"/>
                      <a:pt x="297" y="809"/>
                      <a:pt x="296" y="809"/>
                    </a:cubicBezTo>
                    <a:cubicBezTo>
                      <a:pt x="293" y="811"/>
                      <a:pt x="292" y="809"/>
                      <a:pt x="292" y="814"/>
                    </a:cubicBezTo>
                    <a:cubicBezTo>
                      <a:pt x="294" y="815"/>
                      <a:pt x="294" y="816"/>
                      <a:pt x="293" y="819"/>
                    </a:cubicBezTo>
                    <a:cubicBezTo>
                      <a:pt x="293" y="819"/>
                      <a:pt x="293" y="819"/>
                      <a:pt x="293" y="819"/>
                    </a:cubicBezTo>
                    <a:cubicBezTo>
                      <a:pt x="292" y="820"/>
                      <a:pt x="291" y="821"/>
                      <a:pt x="290" y="822"/>
                    </a:cubicBezTo>
                    <a:cubicBezTo>
                      <a:pt x="289" y="822"/>
                      <a:pt x="288" y="822"/>
                      <a:pt x="286" y="822"/>
                    </a:cubicBezTo>
                    <a:cubicBezTo>
                      <a:pt x="282" y="822"/>
                      <a:pt x="282" y="821"/>
                      <a:pt x="279" y="820"/>
                    </a:cubicBezTo>
                    <a:cubicBezTo>
                      <a:pt x="277" y="819"/>
                      <a:pt x="275" y="819"/>
                      <a:pt x="273" y="819"/>
                    </a:cubicBezTo>
                    <a:cubicBezTo>
                      <a:pt x="267" y="817"/>
                      <a:pt x="260" y="819"/>
                      <a:pt x="258" y="822"/>
                    </a:cubicBezTo>
                    <a:cubicBezTo>
                      <a:pt x="260" y="824"/>
                      <a:pt x="261" y="825"/>
                      <a:pt x="261" y="827"/>
                    </a:cubicBezTo>
                    <a:cubicBezTo>
                      <a:pt x="261" y="827"/>
                      <a:pt x="260" y="828"/>
                      <a:pt x="260" y="829"/>
                    </a:cubicBezTo>
                    <a:cubicBezTo>
                      <a:pt x="260" y="829"/>
                      <a:pt x="260" y="829"/>
                      <a:pt x="259" y="829"/>
                    </a:cubicBezTo>
                    <a:cubicBezTo>
                      <a:pt x="258" y="827"/>
                      <a:pt x="258" y="825"/>
                      <a:pt x="256" y="823"/>
                    </a:cubicBezTo>
                    <a:cubicBezTo>
                      <a:pt x="255" y="821"/>
                      <a:pt x="252" y="820"/>
                      <a:pt x="249" y="818"/>
                    </a:cubicBezTo>
                    <a:cubicBezTo>
                      <a:pt x="248" y="817"/>
                      <a:pt x="247" y="816"/>
                      <a:pt x="246" y="815"/>
                    </a:cubicBezTo>
                    <a:cubicBezTo>
                      <a:pt x="245" y="815"/>
                      <a:pt x="244" y="815"/>
                      <a:pt x="243" y="814"/>
                    </a:cubicBezTo>
                    <a:cubicBezTo>
                      <a:pt x="242" y="814"/>
                      <a:pt x="241" y="813"/>
                      <a:pt x="241" y="812"/>
                    </a:cubicBezTo>
                    <a:cubicBezTo>
                      <a:pt x="240" y="812"/>
                      <a:pt x="239" y="812"/>
                      <a:pt x="239" y="812"/>
                    </a:cubicBezTo>
                    <a:cubicBezTo>
                      <a:pt x="237" y="812"/>
                      <a:pt x="232" y="808"/>
                      <a:pt x="228" y="810"/>
                    </a:cubicBezTo>
                    <a:cubicBezTo>
                      <a:pt x="227" y="810"/>
                      <a:pt x="225" y="812"/>
                      <a:pt x="223" y="812"/>
                    </a:cubicBezTo>
                    <a:cubicBezTo>
                      <a:pt x="222" y="812"/>
                      <a:pt x="221" y="813"/>
                      <a:pt x="220" y="813"/>
                    </a:cubicBezTo>
                    <a:cubicBezTo>
                      <a:pt x="218" y="813"/>
                      <a:pt x="217" y="814"/>
                      <a:pt x="216" y="815"/>
                    </a:cubicBezTo>
                    <a:cubicBezTo>
                      <a:pt x="213" y="815"/>
                      <a:pt x="210" y="816"/>
                      <a:pt x="207" y="816"/>
                    </a:cubicBezTo>
                    <a:cubicBezTo>
                      <a:pt x="204" y="817"/>
                      <a:pt x="203" y="821"/>
                      <a:pt x="200" y="823"/>
                    </a:cubicBezTo>
                    <a:cubicBezTo>
                      <a:pt x="198" y="823"/>
                      <a:pt x="197" y="823"/>
                      <a:pt x="195" y="824"/>
                    </a:cubicBezTo>
                    <a:cubicBezTo>
                      <a:pt x="194" y="824"/>
                      <a:pt x="191" y="829"/>
                      <a:pt x="191" y="831"/>
                    </a:cubicBezTo>
                    <a:cubicBezTo>
                      <a:pt x="191" y="831"/>
                      <a:pt x="190" y="833"/>
                      <a:pt x="191" y="835"/>
                    </a:cubicBezTo>
                    <a:cubicBezTo>
                      <a:pt x="192" y="839"/>
                      <a:pt x="192" y="846"/>
                      <a:pt x="190" y="849"/>
                    </a:cubicBezTo>
                    <a:cubicBezTo>
                      <a:pt x="188" y="851"/>
                      <a:pt x="184" y="851"/>
                      <a:pt x="183" y="855"/>
                    </a:cubicBezTo>
                    <a:cubicBezTo>
                      <a:pt x="182" y="857"/>
                      <a:pt x="184" y="860"/>
                      <a:pt x="182" y="862"/>
                    </a:cubicBezTo>
                    <a:cubicBezTo>
                      <a:pt x="178" y="865"/>
                      <a:pt x="176" y="863"/>
                      <a:pt x="171" y="863"/>
                    </a:cubicBezTo>
                    <a:cubicBezTo>
                      <a:pt x="170" y="861"/>
                      <a:pt x="166" y="856"/>
                      <a:pt x="164" y="855"/>
                    </a:cubicBezTo>
                    <a:cubicBezTo>
                      <a:pt x="162" y="854"/>
                      <a:pt x="160" y="855"/>
                      <a:pt x="158" y="856"/>
                    </a:cubicBezTo>
                    <a:cubicBezTo>
                      <a:pt x="157" y="856"/>
                      <a:pt x="156" y="855"/>
                      <a:pt x="154" y="855"/>
                    </a:cubicBezTo>
                    <a:cubicBezTo>
                      <a:pt x="153" y="854"/>
                      <a:pt x="152" y="853"/>
                      <a:pt x="151" y="852"/>
                    </a:cubicBezTo>
                    <a:cubicBezTo>
                      <a:pt x="150" y="850"/>
                      <a:pt x="150" y="848"/>
                      <a:pt x="147" y="848"/>
                    </a:cubicBezTo>
                    <a:cubicBezTo>
                      <a:pt x="147" y="848"/>
                      <a:pt x="147" y="848"/>
                      <a:pt x="147" y="848"/>
                    </a:cubicBezTo>
                    <a:cubicBezTo>
                      <a:pt x="147" y="850"/>
                      <a:pt x="147" y="852"/>
                      <a:pt x="145" y="852"/>
                    </a:cubicBezTo>
                    <a:cubicBezTo>
                      <a:pt x="145" y="852"/>
                      <a:pt x="145" y="852"/>
                      <a:pt x="144" y="852"/>
                    </a:cubicBezTo>
                    <a:cubicBezTo>
                      <a:pt x="144" y="851"/>
                      <a:pt x="143" y="851"/>
                      <a:pt x="142" y="850"/>
                    </a:cubicBezTo>
                    <a:cubicBezTo>
                      <a:pt x="140" y="853"/>
                      <a:pt x="135" y="848"/>
                      <a:pt x="131" y="849"/>
                    </a:cubicBezTo>
                    <a:cubicBezTo>
                      <a:pt x="130" y="850"/>
                      <a:pt x="128" y="852"/>
                      <a:pt x="126" y="853"/>
                    </a:cubicBezTo>
                    <a:cubicBezTo>
                      <a:pt x="124" y="854"/>
                      <a:pt x="122" y="853"/>
                      <a:pt x="121" y="852"/>
                    </a:cubicBezTo>
                    <a:cubicBezTo>
                      <a:pt x="119" y="852"/>
                      <a:pt x="117" y="853"/>
                      <a:pt x="116" y="853"/>
                    </a:cubicBezTo>
                    <a:cubicBezTo>
                      <a:pt x="114" y="853"/>
                      <a:pt x="114" y="852"/>
                      <a:pt x="112" y="852"/>
                    </a:cubicBezTo>
                    <a:cubicBezTo>
                      <a:pt x="111" y="853"/>
                      <a:pt x="110" y="854"/>
                      <a:pt x="109" y="855"/>
                    </a:cubicBezTo>
                    <a:cubicBezTo>
                      <a:pt x="108" y="858"/>
                      <a:pt x="109" y="863"/>
                      <a:pt x="105" y="863"/>
                    </a:cubicBezTo>
                    <a:cubicBezTo>
                      <a:pt x="105" y="863"/>
                      <a:pt x="104" y="862"/>
                      <a:pt x="103" y="862"/>
                    </a:cubicBezTo>
                    <a:cubicBezTo>
                      <a:pt x="102" y="863"/>
                      <a:pt x="101" y="865"/>
                      <a:pt x="100" y="866"/>
                    </a:cubicBezTo>
                    <a:cubicBezTo>
                      <a:pt x="99" y="866"/>
                      <a:pt x="98" y="866"/>
                      <a:pt x="97" y="867"/>
                    </a:cubicBezTo>
                    <a:cubicBezTo>
                      <a:pt x="95" y="868"/>
                      <a:pt x="96" y="870"/>
                      <a:pt x="93" y="870"/>
                    </a:cubicBezTo>
                    <a:cubicBezTo>
                      <a:pt x="92" y="869"/>
                      <a:pt x="92" y="869"/>
                      <a:pt x="91" y="869"/>
                    </a:cubicBezTo>
                    <a:cubicBezTo>
                      <a:pt x="90" y="870"/>
                      <a:pt x="88" y="874"/>
                      <a:pt x="88" y="875"/>
                    </a:cubicBezTo>
                    <a:cubicBezTo>
                      <a:pt x="89" y="876"/>
                      <a:pt x="90" y="878"/>
                      <a:pt x="90" y="880"/>
                    </a:cubicBezTo>
                    <a:cubicBezTo>
                      <a:pt x="89" y="882"/>
                      <a:pt x="89" y="884"/>
                      <a:pt x="87" y="884"/>
                    </a:cubicBezTo>
                    <a:cubicBezTo>
                      <a:pt x="86" y="885"/>
                      <a:pt x="84" y="885"/>
                      <a:pt x="84" y="885"/>
                    </a:cubicBezTo>
                    <a:cubicBezTo>
                      <a:pt x="82" y="887"/>
                      <a:pt x="84" y="889"/>
                      <a:pt x="79" y="889"/>
                    </a:cubicBezTo>
                    <a:cubicBezTo>
                      <a:pt x="77" y="887"/>
                      <a:pt x="76" y="885"/>
                      <a:pt x="75" y="883"/>
                    </a:cubicBezTo>
                    <a:cubicBezTo>
                      <a:pt x="75" y="882"/>
                      <a:pt x="75" y="881"/>
                      <a:pt x="75" y="880"/>
                    </a:cubicBezTo>
                    <a:cubicBezTo>
                      <a:pt x="74" y="876"/>
                      <a:pt x="64" y="873"/>
                      <a:pt x="59" y="873"/>
                    </a:cubicBezTo>
                    <a:cubicBezTo>
                      <a:pt x="58" y="876"/>
                      <a:pt x="58" y="878"/>
                      <a:pt x="57" y="880"/>
                    </a:cubicBezTo>
                    <a:cubicBezTo>
                      <a:pt x="51" y="881"/>
                      <a:pt x="50" y="881"/>
                      <a:pt x="46" y="879"/>
                    </a:cubicBezTo>
                    <a:cubicBezTo>
                      <a:pt x="45" y="877"/>
                      <a:pt x="47" y="877"/>
                      <a:pt x="47" y="875"/>
                    </a:cubicBezTo>
                    <a:cubicBezTo>
                      <a:pt x="47" y="873"/>
                      <a:pt x="47" y="872"/>
                      <a:pt x="46" y="871"/>
                    </a:cubicBezTo>
                    <a:cubicBezTo>
                      <a:pt x="47" y="869"/>
                      <a:pt x="56" y="863"/>
                      <a:pt x="58" y="863"/>
                    </a:cubicBezTo>
                    <a:cubicBezTo>
                      <a:pt x="61" y="862"/>
                      <a:pt x="63" y="864"/>
                      <a:pt x="65" y="864"/>
                    </a:cubicBezTo>
                    <a:cubicBezTo>
                      <a:pt x="66" y="862"/>
                      <a:pt x="68" y="862"/>
                      <a:pt x="71" y="860"/>
                    </a:cubicBezTo>
                    <a:cubicBezTo>
                      <a:pt x="73" y="859"/>
                      <a:pt x="74" y="858"/>
                      <a:pt x="76" y="856"/>
                    </a:cubicBezTo>
                    <a:cubicBezTo>
                      <a:pt x="78" y="854"/>
                      <a:pt x="80" y="852"/>
                      <a:pt x="83" y="849"/>
                    </a:cubicBezTo>
                    <a:cubicBezTo>
                      <a:pt x="83" y="848"/>
                      <a:pt x="83" y="845"/>
                      <a:pt x="84" y="844"/>
                    </a:cubicBezTo>
                    <a:cubicBezTo>
                      <a:pt x="85" y="842"/>
                      <a:pt x="88" y="842"/>
                      <a:pt x="89" y="842"/>
                    </a:cubicBezTo>
                    <a:cubicBezTo>
                      <a:pt x="90" y="841"/>
                      <a:pt x="91" y="839"/>
                      <a:pt x="91" y="838"/>
                    </a:cubicBezTo>
                    <a:cubicBezTo>
                      <a:pt x="92" y="835"/>
                      <a:pt x="90" y="832"/>
                      <a:pt x="92" y="830"/>
                    </a:cubicBezTo>
                    <a:cubicBezTo>
                      <a:pt x="93" y="829"/>
                      <a:pt x="94" y="830"/>
                      <a:pt x="95" y="829"/>
                    </a:cubicBezTo>
                    <a:cubicBezTo>
                      <a:pt x="95" y="829"/>
                      <a:pt x="96" y="828"/>
                      <a:pt x="96" y="828"/>
                    </a:cubicBezTo>
                    <a:cubicBezTo>
                      <a:pt x="97" y="827"/>
                      <a:pt x="98" y="828"/>
                      <a:pt x="98" y="828"/>
                    </a:cubicBezTo>
                    <a:cubicBezTo>
                      <a:pt x="99" y="826"/>
                      <a:pt x="98" y="826"/>
                      <a:pt x="99" y="826"/>
                    </a:cubicBezTo>
                    <a:cubicBezTo>
                      <a:pt x="101" y="825"/>
                      <a:pt x="105" y="825"/>
                      <a:pt x="108" y="824"/>
                    </a:cubicBezTo>
                    <a:cubicBezTo>
                      <a:pt x="108" y="821"/>
                      <a:pt x="110" y="820"/>
                      <a:pt x="109" y="817"/>
                    </a:cubicBezTo>
                    <a:cubicBezTo>
                      <a:pt x="111" y="816"/>
                      <a:pt x="114" y="815"/>
                      <a:pt x="115" y="813"/>
                    </a:cubicBezTo>
                    <a:cubicBezTo>
                      <a:pt x="116" y="812"/>
                      <a:pt x="116" y="810"/>
                      <a:pt x="117" y="809"/>
                    </a:cubicBezTo>
                    <a:cubicBezTo>
                      <a:pt x="119" y="808"/>
                      <a:pt x="122" y="806"/>
                      <a:pt x="123" y="804"/>
                    </a:cubicBezTo>
                    <a:cubicBezTo>
                      <a:pt x="124" y="801"/>
                      <a:pt x="122" y="797"/>
                      <a:pt x="122" y="795"/>
                    </a:cubicBezTo>
                    <a:cubicBezTo>
                      <a:pt x="121" y="793"/>
                      <a:pt x="123" y="787"/>
                      <a:pt x="123" y="785"/>
                    </a:cubicBezTo>
                    <a:cubicBezTo>
                      <a:pt x="124" y="783"/>
                      <a:pt x="124" y="782"/>
                      <a:pt x="126" y="781"/>
                    </a:cubicBezTo>
                    <a:cubicBezTo>
                      <a:pt x="127" y="780"/>
                      <a:pt x="134" y="782"/>
                      <a:pt x="137" y="782"/>
                    </a:cubicBezTo>
                    <a:cubicBezTo>
                      <a:pt x="139" y="779"/>
                      <a:pt x="144" y="778"/>
                      <a:pt x="144" y="774"/>
                    </a:cubicBezTo>
                    <a:cubicBezTo>
                      <a:pt x="144" y="773"/>
                      <a:pt x="141" y="769"/>
                      <a:pt x="142" y="768"/>
                    </a:cubicBezTo>
                    <a:cubicBezTo>
                      <a:pt x="142" y="767"/>
                      <a:pt x="143" y="767"/>
                      <a:pt x="143" y="766"/>
                    </a:cubicBezTo>
                    <a:cubicBezTo>
                      <a:pt x="144" y="765"/>
                      <a:pt x="144" y="763"/>
                      <a:pt x="144" y="763"/>
                    </a:cubicBezTo>
                    <a:cubicBezTo>
                      <a:pt x="146" y="762"/>
                      <a:pt x="149" y="761"/>
                      <a:pt x="151" y="760"/>
                    </a:cubicBezTo>
                    <a:cubicBezTo>
                      <a:pt x="153" y="760"/>
                      <a:pt x="155" y="760"/>
                      <a:pt x="158" y="761"/>
                    </a:cubicBezTo>
                    <a:cubicBezTo>
                      <a:pt x="159" y="760"/>
                      <a:pt x="160" y="759"/>
                      <a:pt x="161" y="759"/>
                    </a:cubicBezTo>
                    <a:cubicBezTo>
                      <a:pt x="162" y="759"/>
                      <a:pt x="174" y="758"/>
                      <a:pt x="174" y="758"/>
                    </a:cubicBezTo>
                    <a:cubicBezTo>
                      <a:pt x="176" y="758"/>
                      <a:pt x="178" y="759"/>
                      <a:pt x="179" y="759"/>
                    </a:cubicBezTo>
                    <a:cubicBezTo>
                      <a:pt x="181" y="760"/>
                      <a:pt x="183" y="759"/>
                      <a:pt x="184" y="759"/>
                    </a:cubicBezTo>
                    <a:cubicBezTo>
                      <a:pt x="186" y="759"/>
                      <a:pt x="189" y="759"/>
                      <a:pt x="191" y="760"/>
                    </a:cubicBezTo>
                    <a:cubicBezTo>
                      <a:pt x="194" y="760"/>
                      <a:pt x="195" y="762"/>
                      <a:pt x="198" y="763"/>
                    </a:cubicBezTo>
                    <a:cubicBezTo>
                      <a:pt x="199" y="763"/>
                      <a:pt x="199" y="763"/>
                      <a:pt x="200" y="762"/>
                    </a:cubicBezTo>
                    <a:cubicBezTo>
                      <a:pt x="202" y="762"/>
                      <a:pt x="204" y="763"/>
                      <a:pt x="206" y="762"/>
                    </a:cubicBezTo>
                    <a:cubicBezTo>
                      <a:pt x="207" y="762"/>
                      <a:pt x="209" y="761"/>
                      <a:pt x="210" y="761"/>
                    </a:cubicBezTo>
                    <a:cubicBezTo>
                      <a:pt x="214" y="760"/>
                      <a:pt x="217" y="760"/>
                      <a:pt x="221" y="760"/>
                    </a:cubicBezTo>
                    <a:cubicBezTo>
                      <a:pt x="221" y="753"/>
                      <a:pt x="221" y="746"/>
                      <a:pt x="224" y="742"/>
                    </a:cubicBezTo>
                    <a:cubicBezTo>
                      <a:pt x="225" y="741"/>
                      <a:pt x="226" y="741"/>
                      <a:pt x="227" y="740"/>
                    </a:cubicBezTo>
                    <a:cubicBezTo>
                      <a:pt x="229" y="738"/>
                      <a:pt x="230" y="735"/>
                      <a:pt x="233" y="733"/>
                    </a:cubicBezTo>
                    <a:cubicBezTo>
                      <a:pt x="234" y="732"/>
                      <a:pt x="239" y="731"/>
                      <a:pt x="240" y="729"/>
                    </a:cubicBezTo>
                    <a:cubicBezTo>
                      <a:pt x="240" y="728"/>
                      <a:pt x="241" y="727"/>
                      <a:pt x="242" y="725"/>
                    </a:cubicBezTo>
                    <a:cubicBezTo>
                      <a:pt x="245" y="720"/>
                      <a:pt x="250" y="714"/>
                      <a:pt x="253" y="709"/>
                    </a:cubicBezTo>
                    <a:cubicBezTo>
                      <a:pt x="253" y="708"/>
                      <a:pt x="253" y="709"/>
                      <a:pt x="253" y="708"/>
                    </a:cubicBezTo>
                    <a:cubicBezTo>
                      <a:pt x="250" y="710"/>
                      <a:pt x="246" y="713"/>
                      <a:pt x="244" y="716"/>
                    </a:cubicBezTo>
                    <a:cubicBezTo>
                      <a:pt x="243" y="717"/>
                      <a:pt x="242" y="719"/>
                      <a:pt x="241" y="720"/>
                    </a:cubicBezTo>
                    <a:cubicBezTo>
                      <a:pt x="237" y="724"/>
                      <a:pt x="229" y="725"/>
                      <a:pt x="222" y="726"/>
                    </a:cubicBezTo>
                    <a:cubicBezTo>
                      <a:pt x="221" y="727"/>
                      <a:pt x="219" y="729"/>
                      <a:pt x="218" y="730"/>
                    </a:cubicBezTo>
                    <a:cubicBezTo>
                      <a:pt x="217" y="731"/>
                      <a:pt x="215" y="731"/>
                      <a:pt x="214" y="732"/>
                    </a:cubicBezTo>
                    <a:cubicBezTo>
                      <a:pt x="213" y="733"/>
                      <a:pt x="213" y="735"/>
                      <a:pt x="212" y="735"/>
                    </a:cubicBezTo>
                    <a:cubicBezTo>
                      <a:pt x="212" y="738"/>
                      <a:pt x="214" y="738"/>
                      <a:pt x="214" y="741"/>
                    </a:cubicBezTo>
                    <a:cubicBezTo>
                      <a:pt x="213" y="741"/>
                      <a:pt x="213" y="742"/>
                      <a:pt x="213" y="742"/>
                    </a:cubicBezTo>
                    <a:cubicBezTo>
                      <a:pt x="211" y="743"/>
                      <a:pt x="208" y="741"/>
                      <a:pt x="206" y="742"/>
                    </a:cubicBezTo>
                    <a:cubicBezTo>
                      <a:pt x="205" y="742"/>
                      <a:pt x="204" y="743"/>
                      <a:pt x="204" y="743"/>
                    </a:cubicBezTo>
                    <a:cubicBezTo>
                      <a:pt x="203" y="743"/>
                      <a:pt x="202" y="743"/>
                      <a:pt x="202" y="743"/>
                    </a:cubicBezTo>
                    <a:cubicBezTo>
                      <a:pt x="196" y="745"/>
                      <a:pt x="193" y="744"/>
                      <a:pt x="189" y="742"/>
                    </a:cubicBezTo>
                    <a:cubicBezTo>
                      <a:pt x="188" y="742"/>
                      <a:pt x="187" y="742"/>
                      <a:pt x="186" y="742"/>
                    </a:cubicBezTo>
                    <a:cubicBezTo>
                      <a:pt x="185" y="740"/>
                      <a:pt x="184" y="739"/>
                      <a:pt x="183" y="738"/>
                    </a:cubicBezTo>
                    <a:cubicBezTo>
                      <a:pt x="181" y="736"/>
                      <a:pt x="176" y="736"/>
                      <a:pt x="175" y="734"/>
                    </a:cubicBezTo>
                    <a:cubicBezTo>
                      <a:pt x="174" y="733"/>
                      <a:pt x="172" y="730"/>
                      <a:pt x="172" y="729"/>
                    </a:cubicBezTo>
                    <a:cubicBezTo>
                      <a:pt x="172" y="728"/>
                      <a:pt x="172" y="727"/>
                      <a:pt x="172" y="726"/>
                    </a:cubicBezTo>
                    <a:cubicBezTo>
                      <a:pt x="171" y="724"/>
                      <a:pt x="168" y="722"/>
                      <a:pt x="167" y="719"/>
                    </a:cubicBezTo>
                    <a:cubicBezTo>
                      <a:pt x="164" y="720"/>
                      <a:pt x="159" y="721"/>
                      <a:pt x="158" y="723"/>
                    </a:cubicBezTo>
                    <a:cubicBezTo>
                      <a:pt x="159" y="724"/>
                      <a:pt x="159" y="724"/>
                      <a:pt x="159" y="725"/>
                    </a:cubicBezTo>
                    <a:cubicBezTo>
                      <a:pt x="156" y="728"/>
                      <a:pt x="153" y="725"/>
                      <a:pt x="150" y="726"/>
                    </a:cubicBezTo>
                    <a:cubicBezTo>
                      <a:pt x="150" y="726"/>
                      <a:pt x="149" y="727"/>
                      <a:pt x="149" y="727"/>
                    </a:cubicBezTo>
                    <a:cubicBezTo>
                      <a:pt x="147" y="729"/>
                      <a:pt x="143" y="728"/>
                      <a:pt x="141" y="728"/>
                    </a:cubicBezTo>
                    <a:cubicBezTo>
                      <a:pt x="140" y="727"/>
                      <a:pt x="139" y="727"/>
                      <a:pt x="139" y="724"/>
                    </a:cubicBezTo>
                    <a:cubicBezTo>
                      <a:pt x="139" y="724"/>
                      <a:pt x="139" y="722"/>
                      <a:pt x="139" y="721"/>
                    </a:cubicBezTo>
                    <a:cubicBezTo>
                      <a:pt x="140" y="719"/>
                      <a:pt x="142" y="717"/>
                      <a:pt x="143" y="717"/>
                    </a:cubicBezTo>
                    <a:cubicBezTo>
                      <a:pt x="146" y="720"/>
                      <a:pt x="150" y="716"/>
                      <a:pt x="151" y="717"/>
                    </a:cubicBezTo>
                    <a:cubicBezTo>
                      <a:pt x="152" y="717"/>
                      <a:pt x="152" y="717"/>
                      <a:pt x="152" y="718"/>
                    </a:cubicBezTo>
                    <a:cubicBezTo>
                      <a:pt x="153" y="717"/>
                      <a:pt x="153" y="717"/>
                      <a:pt x="153" y="717"/>
                    </a:cubicBezTo>
                    <a:cubicBezTo>
                      <a:pt x="152" y="716"/>
                      <a:pt x="152" y="715"/>
                      <a:pt x="150" y="715"/>
                    </a:cubicBezTo>
                    <a:cubicBezTo>
                      <a:pt x="148" y="717"/>
                      <a:pt x="146" y="714"/>
                      <a:pt x="144" y="714"/>
                    </a:cubicBezTo>
                    <a:cubicBezTo>
                      <a:pt x="143" y="713"/>
                      <a:pt x="141" y="715"/>
                      <a:pt x="140" y="715"/>
                    </a:cubicBezTo>
                    <a:cubicBezTo>
                      <a:pt x="138" y="716"/>
                      <a:pt x="134" y="711"/>
                      <a:pt x="134" y="709"/>
                    </a:cubicBezTo>
                    <a:cubicBezTo>
                      <a:pt x="135" y="708"/>
                      <a:pt x="134" y="707"/>
                      <a:pt x="134" y="705"/>
                    </a:cubicBezTo>
                    <a:cubicBezTo>
                      <a:pt x="134" y="705"/>
                      <a:pt x="134" y="705"/>
                      <a:pt x="134" y="704"/>
                    </a:cubicBezTo>
                    <a:cubicBezTo>
                      <a:pt x="133" y="704"/>
                      <a:pt x="133" y="704"/>
                      <a:pt x="133" y="704"/>
                    </a:cubicBezTo>
                    <a:cubicBezTo>
                      <a:pt x="133" y="704"/>
                      <a:pt x="133" y="705"/>
                      <a:pt x="133" y="705"/>
                    </a:cubicBezTo>
                    <a:cubicBezTo>
                      <a:pt x="133" y="705"/>
                      <a:pt x="133" y="705"/>
                      <a:pt x="133" y="706"/>
                    </a:cubicBezTo>
                    <a:cubicBezTo>
                      <a:pt x="133" y="706"/>
                      <a:pt x="133" y="706"/>
                      <a:pt x="133" y="707"/>
                    </a:cubicBezTo>
                    <a:cubicBezTo>
                      <a:pt x="133" y="707"/>
                      <a:pt x="132" y="707"/>
                      <a:pt x="132" y="707"/>
                    </a:cubicBezTo>
                    <a:cubicBezTo>
                      <a:pt x="128" y="711"/>
                      <a:pt x="116" y="706"/>
                      <a:pt x="115" y="712"/>
                    </a:cubicBezTo>
                    <a:cubicBezTo>
                      <a:pt x="115" y="713"/>
                      <a:pt x="114" y="714"/>
                      <a:pt x="114" y="716"/>
                    </a:cubicBezTo>
                    <a:cubicBezTo>
                      <a:pt x="113" y="717"/>
                      <a:pt x="113" y="718"/>
                      <a:pt x="110" y="718"/>
                    </a:cubicBezTo>
                    <a:cubicBezTo>
                      <a:pt x="109" y="718"/>
                      <a:pt x="106" y="717"/>
                      <a:pt x="104" y="718"/>
                    </a:cubicBezTo>
                    <a:cubicBezTo>
                      <a:pt x="102" y="718"/>
                      <a:pt x="102" y="720"/>
                      <a:pt x="101" y="721"/>
                    </a:cubicBezTo>
                    <a:cubicBezTo>
                      <a:pt x="98" y="723"/>
                      <a:pt x="91" y="722"/>
                      <a:pt x="92" y="718"/>
                    </a:cubicBezTo>
                    <a:cubicBezTo>
                      <a:pt x="90" y="717"/>
                      <a:pt x="87" y="715"/>
                      <a:pt x="87" y="713"/>
                    </a:cubicBezTo>
                    <a:cubicBezTo>
                      <a:pt x="87" y="713"/>
                      <a:pt x="87" y="713"/>
                      <a:pt x="87" y="713"/>
                    </a:cubicBezTo>
                    <a:cubicBezTo>
                      <a:pt x="87" y="712"/>
                      <a:pt x="87" y="712"/>
                      <a:pt x="87" y="712"/>
                    </a:cubicBezTo>
                    <a:cubicBezTo>
                      <a:pt x="88" y="712"/>
                      <a:pt x="90" y="712"/>
                      <a:pt x="91" y="712"/>
                    </a:cubicBezTo>
                    <a:cubicBezTo>
                      <a:pt x="91" y="712"/>
                      <a:pt x="91" y="712"/>
                      <a:pt x="92" y="711"/>
                    </a:cubicBezTo>
                    <a:cubicBezTo>
                      <a:pt x="91" y="711"/>
                      <a:pt x="91" y="711"/>
                      <a:pt x="91" y="711"/>
                    </a:cubicBezTo>
                    <a:cubicBezTo>
                      <a:pt x="91" y="711"/>
                      <a:pt x="91" y="711"/>
                      <a:pt x="91" y="711"/>
                    </a:cubicBezTo>
                    <a:cubicBezTo>
                      <a:pt x="90" y="711"/>
                      <a:pt x="88" y="711"/>
                      <a:pt x="86" y="711"/>
                    </a:cubicBezTo>
                    <a:cubicBezTo>
                      <a:pt x="85" y="712"/>
                      <a:pt x="85" y="713"/>
                      <a:pt x="83" y="713"/>
                    </a:cubicBezTo>
                    <a:cubicBezTo>
                      <a:pt x="82" y="711"/>
                      <a:pt x="79" y="709"/>
                      <a:pt x="79" y="707"/>
                    </a:cubicBezTo>
                    <a:cubicBezTo>
                      <a:pt x="79" y="707"/>
                      <a:pt x="79" y="707"/>
                      <a:pt x="80" y="707"/>
                    </a:cubicBezTo>
                    <a:cubicBezTo>
                      <a:pt x="81" y="708"/>
                      <a:pt x="80" y="708"/>
                      <a:pt x="81" y="707"/>
                    </a:cubicBezTo>
                    <a:cubicBezTo>
                      <a:pt x="82" y="707"/>
                      <a:pt x="83" y="705"/>
                      <a:pt x="84" y="704"/>
                    </a:cubicBezTo>
                    <a:cubicBezTo>
                      <a:pt x="86" y="703"/>
                      <a:pt x="87" y="706"/>
                      <a:pt x="87" y="701"/>
                    </a:cubicBezTo>
                    <a:cubicBezTo>
                      <a:pt x="85" y="699"/>
                      <a:pt x="85" y="695"/>
                      <a:pt x="82" y="695"/>
                    </a:cubicBezTo>
                    <a:cubicBezTo>
                      <a:pt x="80" y="694"/>
                      <a:pt x="77" y="695"/>
                      <a:pt x="75" y="695"/>
                    </a:cubicBezTo>
                    <a:cubicBezTo>
                      <a:pt x="75" y="694"/>
                      <a:pt x="75" y="693"/>
                      <a:pt x="75" y="692"/>
                    </a:cubicBezTo>
                    <a:cubicBezTo>
                      <a:pt x="75" y="692"/>
                      <a:pt x="75" y="692"/>
                      <a:pt x="75" y="691"/>
                    </a:cubicBezTo>
                    <a:cubicBezTo>
                      <a:pt x="78" y="689"/>
                      <a:pt x="81" y="687"/>
                      <a:pt x="84" y="685"/>
                    </a:cubicBezTo>
                    <a:cubicBezTo>
                      <a:pt x="85" y="685"/>
                      <a:pt x="86" y="685"/>
                      <a:pt x="87" y="685"/>
                    </a:cubicBezTo>
                    <a:cubicBezTo>
                      <a:pt x="89" y="683"/>
                      <a:pt x="88" y="680"/>
                      <a:pt x="90" y="679"/>
                    </a:cubicBezTo>
                    <a:cubicBezTo>
                      <a:pt x="91" y="678"/>
                      <a:pt x="100" y="678"/>
                      <a:pt x="101" y="678"/>
                    </a:cubicBezTo>
                    <a:cubicBezTo>
                      <a:pt x="102" y="678"/>
                      <a:pt x="103" y="679"/>
                      <a:pt x="104" y="679"/>
                    </a:cubicBezTo>
                    <a:cubicBezTo>
                      <a:pt x="104" y="678"/>
                      <a:pt x="104" y="677"/>
                      <a:pt x="104" y="677"/>
                    </a:cubicBezTo>
                    <a:cubicBezTo>
                      <a:pt x="105" y="675"/>
                      <a:pt x="106" y="676"/>
                      <a:pt x="108" y="675"/>
                    </a:cubicBezTo>
                    <a:cubicBezTo>
                      <a:pt x="109" y="674"/>
                      <a:pt x="109" y="672"/>
                      <a:pt x="110" y="671"/>
                    </a:cubicBezTo>
                    <a:cubicBezTo>
                      <a:pt x="112" y="670"/>
                      <a:pt x="115" y="668"/>
                      <a:pt x="117" y="667"/>
                    </a:cubicBezTo>
                    <a:cubicBezTo>
                      <a:pt x="120" y="666"/>
                      <a:pt x="123" y="668"/>
                      <a:pt x="126" y="666"/>
                    </a:cubicBezTo>
                    <a:cubicBezTo>
                      <a:pt x="128" y="665"/>
                      <a:pt x="131" y="662"/>
                      <a:pt x="133" y="660"/>
                    </a:cubicBezTo>
                    <a:cubicBezTo>
                      <a:pt x="133" y="660"/>
                      <a:pt x="133" y="659"/>
                      <a:pt x="134" y="659"/>
                    </a:cubicBezTo>
                    <a:cubicBezTo>
                      <a:pt x="135" y="659"/>
                      <a:pt x="136" y="659"/>
                      <a:pt x="137" y="659"/>
                    </a:cubicBezTo>
                    <a:cubicBezTo>
                      <a:pt x="137" y="658"/>
                      <a:pt x="137" y="658"/>
                      <a:pt x="138" y="657"/>
                    </a:cubicBezTo>
                    <a:cubicBezTo>
                      <a:pt x="138" y="657"/>
                      <a:pt x="139" y="657"/>
                      <a:pt x="140" y="657"/>
                    </a:cubicBezTo>
                    <a:cubicBezTo>
                      <a:pt x="140" y="656"/>
                      <a:pt x="144" y="654"/>
                      <a:pt x="144" y="653"/>
                    </a:cubicBezTo>
                    <a:cubicBezTo>
                      <a:pt x="146" y="650"/>
                      <a:pt x="148" y="645"/>
                      <a:pt x="150" y="641"/>
                    </a:cubicBezTo>
                    <a:cubicBezTo>
                      <a:pt x="150" y="640"/>
                      <a:pt x="149" y="640"/>
                      <a:pt x="150" y="638"/>
                    </a:cubicBezTo>
                    <a:cubicBezTo>
                      <a:pt x="150" y="637"/>
                      <a:pt x="151" y="637"/>
                      <a:pt x="151" y="637"/>
                    </a:cubicBezTo>
                    <a:cubicBezTo>
                      <a:pt x="151" y="636"/>
                      <a:pt x="151" y="635"/>
                      <a:pt x="151" y="634"/>
                    </a:cubicBezTo>
                    <a:cubicBezTo>
                      <a:pt x="152" y="634"/>
                      <a:pt x="153" y="633"/>
                      <a:pt x="153" y="632"/>
                    </a:cubicBezTo>
                    <a:cubicBezTo>
                      <a:pt x="153" y="631"/>
                      <a:pt x="152" y="630"/>
                      <a:pt x="152" y="629"/>
                    </a:cubicBezTo>
                    <a:cubicBezTo>
                      <a:pt x="152" y="629"/>
                      <a:pt x="153" y="629"/>
                      <a:pt x="153" y="628"/>
                    </a:cubicBezTo>
                    <a:cubicBezTo>
                      <a:pt x="152" y="628"/>
                      <a:pt x="150" y="626"/>
                      <a:pt x="150" y="625"/>
                    </a:cubicBezTo>
                    <a:cubicBezTo>
                      <a:pt x="150" y="625"/>
                      <a:pt x="149" y="616"/>
                      <a:pt x="149" y="616"/>
                    </a:cubicBezTo>
                    <a:cubicBezTo>
                      <a:pt x="150" y="613"/>
                      <a:pt x="153" y="612"/>
                      <a:pt x="153" y="609"/>
                    </a:cubicBezTo>
                    <a:cubicBezTo>
                      <a:pt x="152" y="609"/>
                      <a:pt x="151" y="608"/>
                      <a:pt x="150" y="608"/>
                    </a:cubicBezTo>
                    <a:cubicBezTo>
                      <a:pt x="150" y="608"/>
                      <a:pt x="149" y="607"/>
                      <a:pt x="149" y="607"/>
                    </a:cubicBezTo>
                    <a:cubicBezTo>
                      <a:pt x="149" y="606"/>
                      <a:pt x="149" y="604"/>
                      <a:pt x="149" y="603"/>
                    </a:cubicBezTo>
                    <a:cubicBezTo>
                      <a:pt x="148" y="602"/>
                      <a:pt x="147" y="602"/>
                      <a:pt x="147" y="599"/>
                    </a:cubicBezTo>
                    <a:cubicBezTo>
                      <a:pt x="147" y="599"/>
                      <a:pt x="147" y="599"/>
                      <a:pt x="147" y="598"/>
                    </a:cubicBezTo>
                    <a:cubicBezTo>
                      <a:pt x="148" y="598"/>
                      <a:pt x="148" y="598"/>
                      <a:pt x="149" y="598"/>
                    </a:cubicBezTo>
                    <a:cubicBezTo>
                      <a:pt x="149" y="597"/>
                      <a:pt x="149" y="597"/>
                      <a:pt x="149" y="597"/>
                    </a:cubicBezTo>
                    <a:cubicBezTo>
                      <a:pt x="149" y="595"/>
                      <a:pt x="148" y="595"/>
                      <a:pt x="148" y="595"/>
                    </a:cubicBezTo>
                    <a:cubicBezTo>
                      <a:pt x="147" y="593"/>
                      <a:pt x="149" y="589"/>
                      <a:pt x="149" y="589"/>
                    </a:cubicBezTo>
                    <a:cubicBezTo>
                      <a:pt x="148" y="589"/>
                      <a:pt x="148" y="589"/>
                      <a:pt x="147" y="589"/>
                    </a:cubicBezTo>
                    <a:cubicBezTo>
                      <a:pt x="145" y="590"/>
                      <a:pt x="143" y="588"/>
                      <a:pt x="141" y="589"/>
                    </a:cubicBezTo>
                    <a:cubicBezTo>
                      <a:pt x="138" y="589"/>
                      <a:pt x="128" y="593"/>
                      <a:pt x="127" y="596"/>
                    </a:cubicBezTo>
                    <a:cubicBezTo>
                      <a:pt x="127" y="598"/>
                      <a:pt x="127" y="599"/>
                      <a:pt x="127" y="601"/>
                    </a:cubicBezTo>
                    <a:cubicBezTo>
                      <a:pt x="126" y="601"/>
                      <a:pt x="126" y="601"/>
                      <a:pt x="126" y="602"/>
                    </a:cubicBezTo>
                    <a:cubicBezTo>
                      <a:pt x="123" y="601"/>
                      <a:pt x="123" y="599"/>
                      <a:pt x="120" y="599"/>
                    </a:cubicBezTo>
                    <a:cubicBezTo>
                      <a:pt x="118" y="601"/>
                      <a:pt x="113" y="601"/>
                      <a:pt x="110" y="601"/>
                    </a:cubicBezTo>
                    <a:cubicBezTo>
                      <a:pt x="110" y="601"/>
                      <a:pt x="110" y="600"/>
                      <a:pt x="110" y="599"/>
                    </a:cubicBezTo>
                    <a:cubicBezTo>
                      <a:pt x="111" y="598"/>
                      <a:pt x="111" y="596"/>
                      <a:pt x="112" y="594"/>
                    </a:cubicBezTo>
                    <a:cubicBezTo>
                      <a:pt x="113" y="593"/>
                      <a:pt x="118" y="588"/>
                      <a:pt x="120" y="587"/>
                    </a:cubicBezTo>
                    <a:cubicBezTo>
                      <a:pt x="121" y="586"/>
                      <a:pt x="123" y="586"/>
                      <a:pt x="124" y="585"/>
                    </a:cubicBezTo>
                    <a:cubicBezTo>
                      <a:pt x="128" y="583"/>
                      <a:pt x="134" y="577"/>
                      <a:pt x="135" y="573"/>
                    </a:cubicBezTo>
                    <a:cubicBezTo>
                      <a:pt x="135" y="571"/>
                      <a:pt x="135" y="569"/>
                      <a:pt x="135" y="568"/>
                    </a:cubicBezTo>
                    <a:cubicBezTo>
                      <a:pt x="135" y="568"/>
                      <a:pt x="135" y="568"/>
                      <a:pt x="135" y="568"/>
                    </a:cubicBezTo>
                    <a:cubicBezTo>
                      <a:pt x="135" y="567"/>
                      <a:pt x="135" y="567"/>
                      <a:pt x="135" y="567"/>
                    </a:cubicBezTo>
                    <a:cubicBezTo>
                      <a:pt x="134" y="567"/>
                      <a:pt x="132" y="567"/>
                      <a:pt x="132" y="567"/>
                    </a:cubicBezTo>
                    <a:cubicBezTo>
                      <a:pt x="131" y="566"/>
                      <a:pt x="130" y="564"/>
                      <a:pt x="130" y="563"/>
                    </a:cubicBezTo>
                    <a:cubicBezTo>
                      <a:pt x="128" y="562"/>
                      <a:pt x="125" y="561"/>
                      <a:pt x="124" y="559"/>
                    </a:cubicBezTo>
                    <a:cubicBezTo>
                      <a:pt x="123" y="558"/>
                      <a:pt x="124" y="557"/>
                      <a:pt x="124" y="557"/>
                    </a:cubicBezTo>
                    <a:cubicBezTo>
                      <a:pt x="123" y="556"/>
                      <a:pt x="123" y="555"/>
                      <a:pt x="122" y="555"/>
                    </a:cubicBezTo>
                    <a:cubicBezTo>
                      <a:pt x="121" y="555"/>
                      <a:pt x="121" y="555"/>
                      <a:pt x="120" y="555"/>
                    </a:cubicBezTo>
                    <a:cubicBezTo>
                      <a:pt x="119" y="552"/>
                      <a:pt x="118" y="552"/>
                      <a:pt x="115" y="551"/>
                    </a:cubicBezTo>
                    <a:cubicBezTo>
                      <a:pt x="115" y="550"/>
                      <a:pt x="114" y="550"/>
                      <a:pt x="114" y="548"/>
                    </a:cubicBezTo>
                    <a:cubicBezTo>
                      <a:pt x="115" y="548"/>
                      <a:pt x="115" y="546"/>
                      <a:pt x="115" y="546"/>
                    </a:cubicBezTo>
                    <a:cubicBezTo>
                      <a:pt x="117" y="546"/>
                      <a:pt x="118" y="547"/>
                      <a:pt x="121" y="547"/>
                    </a:cubicBezTo>
                    <a:cubicBezTo>
                      <a:pt x="121" y="547"/>
                      <a:pt x="121" y="547"/>
                      <a:pt x="121" y="547"/>
                    </a:cubicBezTo>
                    <a:cubicBezTo>
                      <a:pt x="121" y="547"/>
                      <a:pt x="121" y="547"/>
                      <a:pt x="121" y="547"/>
                    </a:cubicBezTo>
                    <a:cubicBezTo>
                      <a:pt x="121" y="545"/>
                      <a:pt x="122" y="544"/>
                      <a:pt x="122" y="543"/>
                    </a:cubicBezTo>
                    <a:cubicBezTo>
                      <a:pt x="122" y="541"/>
                      <a:pt x="121" y="540"/>
                      <a:pt x="121" y="538"/>
                    </a:cubicBezTo>
                    <a:cubicBezTo>
                      <a:pt x="126" y="535"/>
                      <a:pt x="132" y="536"/>
                      <a:pt x="139" y="537"/>
                    </a:cubicBezTo>
                    <a:cubicBezTo>
                      <a:pt x="140" y="539"/>
                      <a:pt x="143" y="548"/>
                      <a:pt x="145" y="548"/>
                    </a:cubicBezTo>
                    <a:cubicBezTo>
                      <a:pt x="146" y="549"/>
                      <a:pt x="146" y="549"/>
                      <a:pt x="147" y="549"/>
                    </a:cubicBezTo>
                    <a:cubicBezTo>
                      <a:pt x="147" y="547"/>
                      <a:pt x="148" y="547"/>
                      <a:pt x="151" y="547"/>
                    </a:cubicBezTo>
                    <a:cubicBezTo>
                      <a:pt x="151" y="547"/>
                      <a:pt x="153" y="547"/>
                      <a:pt x="153" y="548"/>
                    </a:cubicBezTo>
                    <a:cubicBezTo>
                      <a:pt x="154" y="548"/>
                      <a:pt x="154" y="548"/>
                      <a:pt x="154" y="549"/>
                    </a:cubicBezTo>
                    <a:cubicBezTo>
                      <a:pt x="153" y="549"/>
                      <a:pt x="149" y="555"/>
                      <a:pt x="149" y="556"/>
                    </a:cubicBezTo>
                    <a:cubicBezTo>
                      <a:pt x="149" y="556"/>
                      <a:pt x="150" y="556"/>
                      <a:pt x="150" y="556"/>
                    </a:cubicBezTo>
                    <a:cubicBezTo>
                      <a:pt x="150" y="556"/>
                      <a:pt x="152" y="556"/>
                      <a:pt x="153" y="556"/>
                    </a:cubicBezTo>
                    <a:cubicBezTo>
                      <a:pt x="156" y="553"/>
                      <a:pt x="162" y="551"/>
                      <a:pt x="166" y="549"/>
                    </a:cubicBezTo>
                    <a:cubicBezTo>
                      <a:pt x="166" y="546"/>
                      <a:pt x="166" y="546"/>
                      <a:pt x="169" y="546"/>
                    </a:cubicBezTo>
                    <a:cubicBezTo>
                      <a:pt x="180" y="555"/>
                      <a:pt x="187" y="543"/>
                      <a:pt x="199" y="543"/>
                    </a:cubicBezTo>
                    <a:cubicBezTo>
                      <a:pt x="201" y="546"/>
                      <a:pt x="205" y="548"/>
                      <a:pt x="208" y="550"/>
                    </a:cubicBezTo>
                    <a:cubicBezTo>
                      <a:pt x="208" y="551"/>
                      <a:pt x="210" y="552"/>
                      <a:pt x="210" y="552"/>
                    </a:cubicBezTo>
                    <a:cubicBezTo>
                      <a:pt x="211" y="551"/>
                      <a:pt x="211" y="551"/>
                      <a:pt x="211" y="550"/>
                    </a:cubicBezTo>
                    <a:cubicBezTo>
                      <a:pt x="210" y="549"/>
                      <a:pt x="210" y="548"/>
                      <a:pt x="209" y="546"/>
                    </a:cubicBezTo>
                    <a:cubicBezTo>
                      <a:pt x="208" y="543"/>
                      <a:pt x="205" y="542"/>
                      <a:pt x="205" y="537"/>
                    </a:cubicBezTo>
                    <a:cubicBezTo>
                      <a:pt x="205" y="537"/>
                      <a:pt x="205" y="537"/>
                      <a:pt x="205" y="537"/>
                    </a:cubicBezTo>
                    <a:cubicBezTo>
                      <a:pt x="205" y="537"/>
                      <a:pt x="205" y="537"/>
                      <a:pt x="205" y="537"/>
                    </a:cubicBezTo>
                    <a:cubicBezTo>
                      <a:pt x="208" y="536"/>
                      <a:pt x="210" y="535"/>
                      <a:pt x="212" y="534"/>
                    </a:cubicBezTo>
                    <a:cubicBezTo>
                      <a:pt x="214" y="533"/>
                      <a:pt x="215" y="534"/>
                      <a:pt x="216" y="535"/>
                    </a:cubicBezTo>
                    <a:cubicBezTo>
                      <a:pt x="215" y="529"/>
                      <a:pt x="210" y="526"/>
                      <a:pt x="209" y="521"/>
                    </a:cubicBezTo>
                    <a:cubicBezTo>
                      <a:pt x="210" y="521"/>
                      <a:pt x="216" y="509"/>
                      <a:pt x="216" y="508"/>
                    </a:cubicBezTo>
                    <a:cubicBezTo>
                      <a:pt x="215" y="507"/>
                      <a:pt x="210" y="496"/>
                      <a:pt x="211" y="493"/>
                    </a:cubicBezTo>
                    <a:cubicBezTo>
                      <a:pt x="212" y="492"/>
                      <a:pt x="212" y="492"/>
                      <a:pt x="212" y="492"/>
                    </a:cubicBezTo>
                    <a:cubicBezTo>
                      <a:pt x="213" y="490"/>
                      <a:pt x="211" y="486"/>
                      <a:pt x="212" y="484"/>
                    </a:cubicBezTo>
                    <a:cubicBezTo>
                      <a:pt x="212" y="483"/>
                      <a:pt x="212" y="483"/>
                      <a:pt x="213" y="483"/>
                    </a:cubicBezTo>
                    <a:cubicBezTo>
                      <a:pt x="217" y="480"/>
                      <a:pt x="223" y="482"/>
                      <a:pt x="226" y="476"/>
                    </a:cubicBezTo>
                    <a:cubicBezTo>
                      <a:pt x="224" y="475"/>
                      <a:pt x="222" y="475"/>
                      <a:pt x="221" y="471"/>
                    </a:cubicBezTo>
                    <a:cubicBezTo>
                      <a:pt x="223" y="470"/>
                      <a:pt x="228" y="465"/>
                      <a:pt x="227" y="462"/>
                    </a:cubicBezTo>
                    <a:cubicBezTo>
                      <a:pt x="227" y="460"/>
                      <a:pt x="226" y="458"/>
                      <a:pt x="224" y="457"/>
                    </a:cubicBezTo>
                    <a:cubicBezTo>
                      <a:pt x="224" y="457"/>
                      <a:pt x="222" y="457"/>
                      <a:pt x="221" y="457"/>
                    </a:cubicBezTo>
                    <a:cubicBezTo>
                      <a:pt x="221" y="457"/>
                      <a:pt x="219" y="459"/>
                      <a:pt x="218" y="460"/>
                    </a:cubicBezTo>
                    <a:cubicBezTo>
                      <a:pt x="218" y="460"/>
                      <a:pt x="216" y="461"/>
                      <a:pt x="215" y="461"/>
                    </a:cubicBezTo>
                    <a:cubicBezTo>
                      <a:pt x="214" y="460"/>
                      <a:pt x="214" y="459"/>
                      <a:pt x="213" y="458"/>
                    </a:cubicBezTo>
                    <a:cubicBezTo>
                      <a:pt x="213" y="458"/>
                      <a:pt x="213" y="458"/>
                      <a:pt x="213" y="458"/>
                    </a:cubicBezTo>
                    <a:cubicBezTo>
                      <a:pt x="211" y="460"/>
                      <a:pt x="211" y="463"/>
                      <a:pt x="209" y="465"/>
                    </a:cubicBezTo>
                    <a:cubicBezTo>
                      <a:pt x="209" y="465"/>
                      <a:pt x="207" y="469"/>
                      <a:pt x="207" y="469"/>
                    </a:cubicBezTo>
                    <a:cubicBezTo>
                      <a:pt x="206" y="469"/>
                      <a:pt x="206" y="469"/>
                      <a:pt x="206" y="469"/>
                    </a:cubicBezTo>
                    <a:cubicBezTo>
                      <a:pt x="205" y="470"/>
                      <a:pt x="204" y="471"/>
                      <a:pt x="204" y="471"/>
                    </a:cubicBezTo>
                    <a:cubicBezTo>
                      <a:pt x="201" y="471"/>
                      <a:pt x="198" y="467"/>
                      <a:pt x="198" y="464"/>
                    </a:cubicBezTo>
                    <a:cubicBezTo>
                      <a:pt x="199" y="464"/>
                      <a:pt x="203" y="455"/>
                      <a:pt x="203" y="454"/>
                    </a:cubicBezTo>
                    <a:cubicBezTo>
                      <a:pt x="203" y="453"/>
                      <a:pt x="202" y="451"/>
                      <a:pt x="202" y="451"/>
                    </a:cubicBezTo>
                    <a:cubicBezTo>
                      <a:pt x="202" y="451"/>
                      <a:pt x="201" y="451"/>
                      <a:pt x="201" y="451"/>
                    </a:cubicBezTo>
                    <a:cubicBezTo>
                      <a:pt x="201" y="452"/>
                      <a:pt x="201" y="455"/>
                      <a:pt x="200" y="456"/>
                    </a:cubicBezTo>
                    <a:cubicBezTo>
                      <a:pt x="199" y="457"/>
                      <a:pt x="198" y="457"/>
                      <a:pt x="196" y="458"/>
                    </a:cubicBezTo>
                    <a:cubicBezTo>
                      <a:pt x="195" y="455"/>
                      <a:pt x="192" y="453"/>
                      <a:pt x="191" y="450"/>
                    </a:cubicBezTo>
                    <a:cubicBezTo>
                      <a:pt x="190" y="449"/>
                      <a:pt x="190" y="448"/>
                      <a:pt x="190" y="447"/>
                    </a:cubicBezTo>
                    <a:cubicBezTo>
                      <a:pt x="190" y="446"/>
                      <a:pt x="190" y="444"/>
                      <a:pt x="190" y="443"/>
                    </a:cubicBezTo>
                    <a:cubicBezTo>
                      <a:pt x="189" y="442"/>
                      <a:pt x="187" y="438"/>
                      <a:pt x="186" y="437"/>
                    </a:cubicBezTo>
                    <a:cubicBezTo>
                      <a:pt x="183" y="433"/>
                      <a:pt x="177" y="429"/>
                      <a:pt x="177" y="424"/>
                    </a:cubicBezTo>
                    <a:cubicBezTo>
                      <a:pt x="177" y="423"/>
                      <a:pt x="177" y="422"/>
                      <a:pt x="177" y="421"/>
                    </a:cubicBezTo>
                    <a:cubicBezTo>
                      <a:pt x="178" y="420"/>
                      <a:pt x="179" y="419"/>
                      <a:pt x="180" y="417"/>
                    </a:cubicBezTo>
                    <a:cubicBezTo>
                      <a:pt x="181" y="414"/>
                      <a:pt x="180" y="411"/>
                      <a:pt x="181" y="409"/>
                    </a:cubicBezTo>
                    <a:cubicBezTo>
                      <a:pt x="182" y="404"/>
                      <a:pt x="186" y="402"/>
                      <a:pt x="188" y="398"/>
                    </a:cubicBezTo>
                    <a:cubicBezTo>
                      <a:pt x="189" y="394"/>
                      <a:pt x="189" y="386"/>
                      <a:pt x="192" y="385"/>
                    </a:cubicBezTo>
                    <a:cubicBezTo>
                      <a:pt x="193" y="384"/>
                      <a:pt x="195" y="385"/>
                      <a:pt x="196" y="385"/>
                    </a:cubicBezTo>
                    <a:cubicBezTo>
                      <a:pt x="196" y="384"/>
                      <a:pt x="195" y="384"/>
                      <a:pt x="196" y="383"/>
                    </a:cubicBezTo>
                    <a:cubicBezTo>
                      <a:pt x="196" y="382"/>
                      <a:pt x="198" y="380"/>
                      <a:pt x="199" y="380"/>
                    </a:cubicBezTo>
                    <a:cubicBezTo>
                      <a:pt x="202" y="380"/>
                      <a:pt x="204" y="380"/>
                      <a:pt x="206" y="380"/>
                    </a:cubicBezTo>
                    <a:cubicBezTo>
                      <a:pt x="207" y="380"/>
                      <a:pt x="208" y="379"/>
                      <a:pt x="209" y="379"/>
                    </a:cubicBezTo>
                    <a:cubicBezTo>
                      <a:pt x="209" y="379"/>
                      <a:pt x="209" y="378"/>
                      <a:pt x="209" y="378"/>
                    </a:cubicBezTo>
                    <a:cubicBezTo>
                      <a:pt x="209" y="378"/>
                      <a:pt x="209" y="378"/>
                      <a:pt x="209" y="378"/>
                    </a:cubicBezTo>
                    <a:cubicBezTo>
                      <a:pt x="209" y="378"/>
                      <a:pt x="209" y="378"/>
                      <a:pt x="209" y="378"/>
                    </a:cubicBezTo>
                    <a:cubicBezTo>
                      <a:pt x="206" y="379"/>
                      <a:pt x="201" y="379"/>
                      <a:pt x="196" y="378"/>
                    </a:cubicBezTo>
                    <a:cubicBezTo>
                      <a:pt x="192" y="377"/>
                      <a:pt x="189" y="379"/>
                      <a:pt x="185" y="378"/>
                    </a:cubicBezTo>
                    <a:cubicBezTo>
                      <a:pt x="183" y="378"/>
                      <a:pt x="182" y="377"/>
                      <a:pt x="180" y="377"/>
                    </a:cubicBezTo>
                    <a:cubicBezTo>
                      <a:pt x="181" y="380"/>
                      <a:pt x="181" y="384"/>
                      <a:pt x="181" y="387"/>
                    </a:cubicBezTo>
                    <a:cubicBezTo>
                      <a:pt x="180" y="388"/>
                      <a:pt x="179" y="390"/>
                      <a:pt x="178" y="390"/>
                    </a:cubicBezTo>
                    <a:cubicBezTo>
                      <a:pt x="176" y="391"/>
                      <a:pt x="175" y="388"/>
                      <a:pt x="172" y="389"/>
                    </a:cubicBezTo>
                    <a:cubicBezTo>
                      <a:pt x="172" y="389"/>
                      <a:pt x="171" y="390"/>
                      <a:pt x="171" y="390"/>
                    </a:cubicBezTo>
                    <a:cubicBezTo>
                      <a:pt x="169" y="391"/>
                      <a:pt x="168" y="391"/>
                      <a:pt x="165" y="391"/>
                    </a:cubicBezTo>
                    <a:cubicBezTo>
                      <a:pt x="165" y="392"/>
                      <a:pt x="165" y="393"/>
                      <a:pt x="166" y="394"/>
                    </a:cubicBezTo>
                    <a:cubicBezTo>
                      <a:pt x="162" y="396"/>
                      <a:pt x="161" y="399"/>
                      <a:pt x="155" y="399"/>
                    </a:cubicBezTo>
                    <a:cubicBezTo>
                      <a:pt x="154" y="399"/>
                      <a:pt x="153" y="399"/>
                      <a:pt x="152" y="399"/>
                    </a:cubicBezTo>
                    <a:cubicBezTo>
                      <a:pt x="152" y="399"/>
                      <a:pt x="152" y="399"/>
                      <a:pt x="151" y="398"/>
                    </a:cubicBezTo>
                    <a:cubicBezTo>
                      <a:pt x="150" y="398"/>
                      <a:pt x="149" y="400"/>
                      <a:pt x="147" y="399"/>
                    </a:cubicBezTo>
                    <a:cubicBezTo>
                      <a:pt x="144" y="398"/>
                      <a:pt x="143" y="394"/>
                      <a:pt x="140" y="392"/>
                    </a:cubicBezTo>
                    <a:cubicBezTo>
                      <a:pt x="139" y="391"/>
                      <a:pt x="136" y="391"/>
                      <a:pt x="135" y="390"/>
                    </a:cubicBezTo>
                    <a:cubicBezTo>
                      <a:pt x="133" y="388"/>
                      <a:pt x="134" y="386"/>
                      <a:pt x="132" y="386"/>
                    </a:cubicBezTo>
                    <a:cubicBezTo>
                      <a:pt x="131" y="386"/>
                      <a:pt x="131" y="386"/>
                      <a:pt x="131" y="387"/>
                    </a:cubicBezTo>
                    <a:cubicBezTo>
                      <a:pt x="130" y="388"/>
                      <a:pt x="131" y="390"/>
                      <a:pt x="131" y="392"/>
                    </a:cubicBezTo>
                    <a:cubicBezTo>
                      <a:pt x="133" y="393"/>
                      <a:pt x="135" y="395"/>
                      <a:pt x="135" y="398"/>
                    </a:cubicBezTo>
                    <a:cubicBezTo>
                      <a:pt x="135" y="399"/>
                      <a:pt x="135" y="399"/>
                      <a:pt x="135" y="400"/>
                    </a:cubicBezTo>
                    <a:cubicBezTo>
                      <a:pt x="135" y="401"/>
                      <a:pt x="134" y="402"/>
                      <a:pt x="134" y="403"/>
                    </a:cubicBezTo>
                    <a:cubicBezTo>
                      <a:pt x="135" y="405"/>
                      <a:pt x="136" y="405"/>
                      <a:pt x="134" y="408"/>
                    </a:cubicBezTo>
                    <a:cubicBezTo>
                      <a:pt x="131" y="410"/>
                      <a:pt x="130" y="408"/>
                      <a:pt x="128" y="407"/>
                    </a:cubicBezTo>
                    <a:cubicBezTo>
                      <a:pt x="127" y="406"/>
                      <a:pt x="126" y="407"/>
                      <a:pt x="126" y="406"/>
                    </a:cubicBezTo>
                    <a:cubicBezTo>
                      <a:pt x="123" y="405"/>
                      <a:pt x="123" y="402"/>
                      <a:pt x="121" y="400"/>
                    </a:cubicBezTo>
                    <a:cubicBezTo>
                      <a:pt x="120" y="399"/>
                      <a:pt x="114" y="395"/>
                      <a:pt x="112" y="394"/>
                    </a:cubicBezTo>
                    <a:cubicBezTo>
                      <a:pt x="111" y="394"/>
                      <a:pt x="110" y="394"/>
                      <a:pt x="110" y="394"/>
                    </a:cubicBezTo>
                    <a:cubicBezTo>
                      <a:pt x="108" y="393"/>
                      <a:pt x="108" y="391"/>
                      <a:pt x="106" y="391"/>
                    </a:cubicBezTo>
                    <a:cubicBezTo>
                      <a:pt x="105" y="392"/>
                      <a:pt x="104" y="392"/>
                      <a:pt x="102" y="391"/>
                    </a:cubicBezTo>
                    <a:cubicBezTo>
                      <a:pt x="101" y="393"/>
                      <a:pt x="99" y="394"/>
                      <a:pt x="99" y="397"/>
                    </a:cubicBezTo>
                    <a:cubicBezTo>
                      <a:pt x="101" y="399"/>
                      <a:pt x="101" y="401"/>
                      <a:pt x="101" y="403"/>
                    </a:cubicBezTo>
                    <a:cubicBezTo>
                      <a:pt x="102" y="405"/>
                      <a:pt x="105" y="406"/>
                      <a:pt x="105" y="409"/>
                    </a:cubicBezTo>
                    <a:cubicBezTo>
                      <a:pt x="105" y="410"/>
                      <a:pt x="105" y="412"/>
                      <a:pt x="105" y="413"/>
                    </a:cubicBezTo>
                    <a:cubicBezTo>
                      <a:pt x="105" y="413"/>
                      <a:pt x="104" y="413"/>
                      <a:pt x="104" y="413"/>
                    </a:cubicBezTo>
                    <a:cubicBezTo>
                      <a:pt x="103" y="414"/>
                      <a:pt x="103" y="414"/>
                      <a:pt x="101" y="414"/>
                    </a:cubicBezTo>
                    <a:cubicBezTo>
                      <a:pt x="101" y="413"/>
                      <a:pt x="99" y="412"/>
                      <a:pt x="99" y="412"/>
                    </a:cubicBezTo>
                    <a:cubicBezTo>
                      <a:pt x="97" y="409"/>
                      <a:pt x="98" y="407"/>
                      <a:pt x="98" y="405"/>
                    </a:cubicBezTo>
                    <a:cubicBezTo>
                      <a:pt x="96" y="403"/>
                      <a:pt x="95" y="399"/>
                      <a:pt x="93" y="396"/>
                    </a:cubicBezTo>
                    <a:cubicBezTo>
                      <a:pt x="90" y="393"/>
                      <a:pt x="87" y="391"/>
                      <a:pt x="86" y="387"/>
                    </a:cubicBezTo>
                    <a:cubicBezTo>
                      <a:pt x="85" y="384"/>
                      <a:pt x="84" y="378"/>
                      <a:pt x="86" y="375"/>
                    </a:cubicBezTo>
                    <a:cubicBezTo>
                      <a:pt x="86" y="374"/>
                      <a:pt x="87" y="373"/>
                      <a:pt x="89" y="373"/>
                    </a:cubicBezTo>
                    <a:cubicBezTo>
                      <a:pt x="90" y="373"/>
                      <a:pt x="90" y="373"/>
                      <a:pt x="90" y="373"/>
                    </a:cubicBezTo>
                    <a:cubicBezTo>
                      <a:pt x="91" y="374"/>
                      <a:pt x="92" y="376"/>
                      <a:pt x="93" y="377"/>
                    </a:cubicBezTo>
                    <a:cubicBezTo>
                      <a:pt x="94" y="381"/>
                      <a:pt x="92" y="385"/>
                      <a:pt x="97" y="385"/>
                    </a:cubicBezTo>
                    <a:cubicBezTo>
                      <a:pt x="97" y="379"/>
                      <a:pt x="91" y="375"/>
                      <a:pt x="93" y="369"/>
                    </a:cubicBezTo>
                    <a:cubicBezTo>
                      <a:pt x="94" y="368"/>
                      <a:pt x="95" y="365"/>
                      <a:pt x="95" y="364"/>
                    </a:cubicBezTo>
                    <a:cubicBezTo>
                      <a:pt x="95" y="363"/>
                      <a:pt x="95" y="363"/>
                      <a:pt x="95" y="362"/>
                    </a:cubicBezTo>
                    <a:cubicBezTo>
                      <a:pt x="96" y="361"/>
                      <a:pt x="97" y="360"/>
                      <a:pt x="98" y="360"/>
                    </a:cubicBezTo>
                    <a:cubicBezTo>
                      <a:pt x="100" y="358"/>
                      <a:pt x="103" y="355"/>
                      <a:pt x="104" y="352"/>
                    </a:cubicBezTo>
                    <a:cubicBezTo>
                      <a:pt x="106" y="348"/>
                      <a:pt x="105" y="341"/>
                      <a:pt x="107" y="337"/>
                    </a:cubicBezTo>
                    <a:cubicBezTo>
                      <a:pt x="107" y="337"/>
                      <a:pt x="107" y="337"/>
                      <a:pt x="107" y="337"/>
                    </a:cubicBezTo>
                    <a:cubicBezTo>
                      <a:pt x="108" y="337"/>
                      <a:pt x="110" y="334"/>
                      <a:pt x="110" y="333"/>
                    </a:cubicBezTo>
                    <a:cubicBezTo>
                      <a:pt x="112" y="332"/>
                      <a:pt x="117" y="331"/>
                      <a:pt x="118" y="328"/>
                    </a:cubicBezTo>
                    <a:cubicBezTo>
                      <a:pt x="118" y="327"/>
                      <a:pt x="118" y="325"/>
                      <a:pt x="118" y="323"/>
                    </a:cubicBezTo>
                    <a:cubicBezTo>
                      <a:pt x="115" y="321"/>
                      <a:pt x="116" y="317"/>
                      <a:pt x="114" y="315"/>
                    </a:cubicBezTo>
                    <a:cubicBezTo>
                      <a:pt x="113" y="312"/>
                      <a:pt x="109" y="313"/>
                      <a:pt x="107" y="312"/>
                    </a:cubicBezTo>
                    <a:cubicBezTo>
                      <a:pt x="106" y="311"/>
                      <a:pt x="106" y="309"/>
                      <a:pt x="105" y="308"/>
                    </a:cubicBezTo>
                    <a:cubicBezTo>
                      <a:pt x="104" y="306"/>
                      <a:pt x="99" y="305"/>
                      <a:pt x="98" y="301"/>
                    </a:cubicBezTo>
                    <a:cubicBezTo>
                      <a:pt x="99" y="301"/>
                      <a:pt x="99" y="301"/>
                      <a:pt x="99" y="301"/>
                    </a:cubicBezTo>
                    <a:cubicBezTo>
                      <a:pt x="99" y="301"/>
                      <a:pt x="99" y="301"/>
                      <a:pt x="99" y="301"/>
                    </a:cubicBezTo>
                    <a:cubicBezTo>
                      <a:pt x="99" y="301"/>
                      <a:pt x="99" y="301"/>
                      <a:pt x="99" y="301"/>
                    </a:cubicBezTo>
                    <a:cubicBezTo>
                      <a:pt x="100" y="302"/>
                      <a:pt x="100" y="302"/>
                      <a:pt x="102" y="303"/>
                    </a:cubicBezTo>
                    <a:cubicBezTo>
                      <a:pt x="104" y="299"/>
                      <a:pt x="105" y="301"/>
                      <a:pt x="105" y="295"/>
                    </a:cubicBezTo>
                    <a:cubicBezTo>
                      <a:pt x="101" y="293"/>
                      <a:pt x="101" y="292"/>
                      <a:pt x="101" y="286"/>
                    </a:cubicBezTo>
                    <a:cubicBezTo>
                      <a:pt x="101" y="286"/>
                      <a:pt x="103" y="285"/>
                      <a:pt x="103" y="284"/>
                    </a:cubicBezTo>
                    <a:cubicBezTo>
                      <a:pt x="104" y="284"/>
                      <a:pt x="103" y="281"/>
                      <a:pt x="104" y="280"/>
                    </a:cubicBezTo>
                    <a:cubicBezTo>
                      <a:pt x="106" y="278"/>
                      <a:pt x="108" y="278"/>
                      <a:pt x="111" y="278"/>
                    </a:cubicBezTo>
                    <a:cubicBezTo>
                      <a:pt x="113" y="280"/>
                      <a:pt x="116" y="280"/>
                      <a:pt x="119" y="281"/>
                    </a:cubicBezTo>
                    <a:cubicBezTo>
                      <a:pt x="119" y="281"/>
                      <a:pt x="119" y="280"/>
                      <a:pt x="119" y="280"/>
                    </a:cubicBezTo>
                    <a:cubicBezTo>
                      <a:pt x="119" y="280"/>
                      <a:pt x="118" y="280"/>
                      <a:pt x="118" y="280"/>
                    </a:cubicBezTo>
                    <a:cubicBezTo>
                      <a:pt x="116" y="278"/>
                      <a:pt x="112" y="278"/>
                      <a:pt x="108" y="278"/>
                    </a:cubicBezTo>
                    <a:cubicBezTo>
                      <a:pt x="108" y="277"/>
                      <a:pt x="108" y="277"/>
                      <a:pt x="108" y="276"/>
                    </a:cubicBezTo>
                    <a:cubicBezTo>
                      <a:pt x="107" y="276"/>
                      <a:pt x="106" y="276"/>
                      <a:pt x="105" y="275"/>
                    </a:cubicBezTo>
                    <a:cubicBezTo>
                      <a:pt x="103" y="271"/>
                      <a:pt x="105" y="261"/>
                      <a:pt x="104" y="256"/>
                    </a:cubicBezTo>
                    <a:cubicBezTo>
                      <a:pt x="104" y="256"/>
                      <a:pt x="104" y="256"/>
                      <a:pt x="103" y="256"/>
                    </a:cubicBezTo>
                    <a:cubicBezTo>
                      <a:pt x="103" y="256"/>
                      <a:pt x="103" y="257"/>
                      <a:pt x="103" y="257"/>
                    </a:cubicBezTo>
                    <a:cubicBezTo>
                      <a:pt x="103" y="257"/>
                      <a:pt x="103" y="268"/>
                      <a:pt x="103" y="270"/>
                    </a:cubicBezTo>
                    <a:cubicBezTo>
                      <a:pt x="104" y="271"/>
                      <a:pt x="104" y="274"/>
                      <a:pt x="104" y="275"/>
                    </a:cubicBezTo>
                    <a:cubicBezTo>
                      <a:pt x="104" y="275"/>
                      <a:pt x="103" y="276"/>
                      <a:pt x="102" y="276"/>
                    </a:cubicBezTo>
                    <a:cubicBezTo>
                      <a:pt x="102" y="277"/>
                      <a:pt x="103" y="278"/>
                      <a:pt x="102" y="280"/>
                    </a:cubicBezTo>
                    <a:cubicBezTo>
                      <a:pt x="102" y="282"/>
                      <a:pt x="100" y="284"/>
                      <a:pt x="100" y="286"/>
                    </a:cubicBezTo>
                    <a:cubicBezTo>
                      <a:pt x="94" y="290"/>
                      <a:pt x="96" y="286"/>
                      <a:pt x="94" y="285"/>
                    </a:cubicBezTo>
                    <a:cubicBezTo>
                      <a:pt x="93" y="286"/>
                      <a:pt x="93" y="286"/>
                      <a:pt x="93" y="287"/>
                    </a:cubicBezTo>
                    <a:cubicBezTo>
                      <a:pt x="97" y="292"/>
                      <a:pt x="97" y="296"/>
                      <a:pt x="97" y="302"/>
                    </a:cubicBezTo>
                    <a:cubicBezTo>
                      <a:pt x="96" y="302"/>
                      <a:pt x="96" y="302"/>
                      <a:pt x="96" y="303"/>
                    </a:cubicBezTo>
                    <a:cubicBezTo>
                      <a:pt x="94" y="300"/>
                      <a:pt x="90" y="297"/>
                      <a:pt x="90" y="295"/>
                    </a:cubicBezTo>
                    <a:cubicBezTo>
                      <a:pt x="89" y="295"/>
                      <a:pt x="89" y="296"/>
                      <a:pt x="88" y="296"/>
                    </a:cubicBezTo>
                    <a:cubicBezTo>
                      <a:pt x="87" y="295"/>
                      <a:pt x="87" y="295"/>
                      <a:pt x="87" y="294"/>
                    </a:cubicBezTo>
                    <a:cubicBezTo>
                      <a:pt x="87" y="294"/>
                      <a:pt x="87" y="294"/>
                      <a:pt x="88" y="294"/>
                    </a:cubicBezTo>
                    <a:cubicBezTo>
                      <a:pt x="89" y="294"/>
                      <a:pt x="88" y="294"/>
                      <a:pt x="89" y="294"/>
                    </a:cubicBezTo>
                    <a:cubicBezTo>
                      <a:pt x="89" y="294"/>
                      <a:pt x="89" y="293"/>
                      <a:pt x="89" y="293"/>
                    </a:cubicBezTo>
                    <a:cubicBezTo>
                      <a:pt x="88" y="292"/>
                      <a:pt x="89" y="291"/>
                      <a:pt x="88" y="290"/>
                    </a:cubicBezTo>
                    <a:cubicBezTo>
                      <a:pt x="88" y="289"/>
                      <a:pt x="87" y="289"/>
                      <a:pt x="86" y="288"/>
                    </a:cubicBezTo>
                    <a:cubicBezTo>
                      <a:pt x="86" y="288"/>
                      <a:pt x="86" y="288"/>
                      <a:pt x="86" y="288"/>
                    </a:cubicBezTo>
                    <a:cubicBezTo>
                      <a:pt x="86" y="288"/>
                      <a:pt x="86" y="288"/>
                      <a:pt x="86" y="288"/>
                    </a:cubicBezTo>
                    <a:cubicBezTo>
                      <a:pt x="85" y="289"/>
                      <a:pt x="86" y="290"/>
                      <a:pt x="86" y="291"/>
                    </a:cubicBezTo>
                    <a:cubicBezTo>
                      <a:pt x="85" y="291"/>
                      <a:pt x="84" y="291"/>
                      <a:pt x="83" y="291"/>
                    </a:cubicBezTo>
                    <a:cubicBezTo>
                      <a:pt x="82" y="291"/>
                      <a:pt x="81" y="290"/>
                      <a:pt x="80" y="289"/>
                    </a:cubicBezTo>
                    <a:cubicBezTo>
                      <a:pt x="79" y="288"/>
                      <a:pt x="79" y="287"/>
                      <a:pt x="79" y="286"/>
                    </a:cubicBezTo>
                    <a:cubicBezTo>
                      <a:pt x="78" y="286"/>
                      <a:pt x="78" y="286"/>
                      <a:pt x="78" y="285"/>
                    </a:cubicBezTo>
                    <a:cubicBezTo>
                      <a:pt x="76" y="283"/>
                      <a:pt x="78" y="280"/>
                      <a:pt x="78" y="278"/>
                    </a:cubicBezTo>
                    <a:cubicBezTo>
                      <a:pt x="78" y="277"/>
                      <a:pt x="78" y="275"/>
                      <a:pt x="78" y="274"/>
                    </a:cubicBezTo>
                    <a:cubicBezTo>
                      <a:pt x="79" y="270"/>
                      <a:pt x="85" y="262"/>
                      <a:pt x="87" y="260"/>
                    </a:cubicBezTo>
                    <a:cubicBezTo>
                      <a:pt x="89" y="259"/>
                      <a:pt x="90" y="259"/>
                      <a:pt x="91" y="257"/>
                    </a:cubicBezTo>
                    <a:cubicBezTo>
                      <a:pt x="91" y="257"/>
                      <a:pt x="91" y="257"/>
                      <a:pt x="91" y="257"/>
                    </a:cubicBezTo>
                    <a:cubicBezTo>
                      <a:pt x="91" y="257"/>
                      <a:pt x="91" y="257"/>
                      <a:pt x="91" y="257"/>
                    </a:cubicBezTo>
                    <a:cubicBezTo>
                      <a:pt x="87" y="259"/>
                      <a:pt x="84" y="262"/>
                      <a:pt x="81" y="266"/>
                    </a:cubicBezTo>
                    <a:cubicBezTo>
                      <a:pt x="80" y="268"/>
                      <a:pt x="78" y="272"/>
                      <a:pt x="76" y="273"/>
                    </a:cubicBezTo>
                    <a:cubicBezTo>
                      <a:pt x="75" y="274"/>
                      <a:pt x="74" y="273"/>
                      <a:pt x="73" y="273"/>
                    </a:cubicBezTo>
                    <a:cubicBezTo>
                      <a:pt x="73" y="278"/>
                      <a:pt x="74" y="282"/>
                      <a:pt x="75" y="285"/>
                    </a:cubicBezTo>
                    <a:cubicBezTo>
                      <a:pt x="75" y="286"/>
                      <a:pt x="75" y="287"/>
                      <a:pt x="75" y="288"/>
                    </a:cubicBezTo>
                    <a:cubicBezTo>
                      <a:pt x="77" y="291"/>
                      <a:pt x="79" y="293"/>
                      <a:pt x="80" y="297"/>
                    </a:cubicBezTo>
                    <a:cubicBezTo>
                      <a:pt x="77" y="299"/>
                      <a:pt x="74" y="301"/>
                      <a:pt x="72" y="304"/>
                    </a:cubicBezTo>
                    <a:cubicBezTo>
                      <a:pt x="71" y="306"/>
                      <a:pt x="70" y="310"/>
                      <a:pt x="69" y="311"/>
                    </a:cubicBezTo>
                    <a:cubicBezTo>
                      <a:pt x="69" y="314"/>
                      <a:pt x="72" y="314"/>
                      <a:pt x="71" y="317"/>
                    </a:cubicBezTo>
                    <a:cubicBezTo>
                      <a:pt x="71" y="317"/>
                      <a:pt x="70" y="318"/>
                      <a:pt x="69" y="318"/>
                    </a:cubicBezTo>
                    <a:cubicBezTo>
                      <a:pt x="69" y="319"/>
                      <a:pt x="69" y="321"/>
                      <a:pt x="69" y="322"/>
                    </a:cubicBezTo>
                    <a:cubicBezTo>
                      <a:pt x="69" y="323"/>
                      <a:pt x="67" y="325"/>
                      <a:pt x="67" y="327"/>
                    </a:cubicBezTo>
                    <a:cubicBezTo>
                      <a:pt x="67" y="328"/>
                      <a:pt x="66" y="330"/>
                      <a:pt x="66" y="331"/>
                    </a:cubicBezTo>
                    <a:cubicBezTo>
                      <a:pt x="66" y="332"/>
                      <a:pt x="65" y="332"/>
                      <a:pt x="65" y="332"/>
                    </a:cubicBezTo>
                    <a:cubicBezTo>
                      <a:pt x="65" y="333"/>
                      <a:pt x="68" y="337"/>
                      <a:pt x="67" y="339"/>
                    </a:cubicBezTo>
                    <a:cubicBezTo>
                      <a:pt x="67" y="341"/>
                      <a:pt x="65" y="344"/>
                      <a:pt x="62" y="344"/>
                    </a:cubicBezTo>
                    <a:cubicBezTo>
                      <a:pt x="61" y="345"/>
                      <a:pt x="59" y="344"/>
                      <a:pt x="58" y="344"/>
                    </a:cubicBezTo>
                    <a:cubicBezTo>
                      <a:pt x="56" y="345"/>
                      <a:pt x="54" y="346"/>
                      <a:pt x="52" y="345"/>
                    </a:cubicBezTo>
                    <a:cubicBezTo>
                      <a:pt x="51" y="345"/>
                      <a:pt x="51" y="345"/>
                      <a:pt x="51" y="344"/>
                    </a:cubicBezTo>
                    <a:cubicBezTo>
                      <a:pt x="48" y="341"/>
                      <a:pt x="50" y="335"/>
                      <a:pt x="52" y="333"/>
                    </a:cubicBezTo>
                    <a:cubicBezTo>
                      <a:pt x="53" y="332"/>
                      <a:pt x="54" y="331"/>
                      <a:pt x="55" y="330"/>
                    </a:cubicBezTo>
                    <a:cubicBezTo>
                      <a:pt x="55" y="325"/>
                      <a:pt x="55" y="321"/>
                      <a:pt x="55" y="316"/>
                    </a:cubicBezTo>
                    <a:cubicBezTo>
                      <a:pt x="56" y="314"/>
                      <a:pt x="57" y="312"/>
                      <a:pt x="58" y="310"/>
                    </a:cubicBezTo>
                    <a:cubicBezTo>
                      <a:pt x="58" y="308"/>
                      <a:pt x="57" y="308"/>
                      <a:pt x="58" y="306"/>
                    </a:cubicBezTo>
                    <a:cubicBezTo>
                      <a:pt x="58" y="306"/>
                      <a:pt x="59" y="306"/>
                      <a:pt x="60" y="305"/>
                    </a:cubicBezTo>
                    <a:cubicBezTo>
                      <a:pt x="61" y="304"/>
                      <a:pt x="62" y="301"/>
                      <a:pt x="63" y="299"/>
                    </a:cubicBezTo>
                    <a:cubicBezTo>
                      <a:pt x="63" y="298"/>
                      <a:pt x="60" y="295"/>
                      <a:pt x="59" y="294"/>
                    </a:cubicBezTo>
                    <a:cubicBezTo>
                      <a:pt x="58" y="289"/>
                      <a:pt x="60" y="288"/>
                      <a:pt x="61" y="285"/>
                    </a:cubicBezTo>
                    <a:cubicBezTo>
                      <a:pt x="61" y="285"/>
                      <a:pt x="61" y="285"/>
                      <a:pt x="60" y="285"/>
                    </a:cubicBezTo>
                    <a:cubicBezTo>
                      <a:pt x="60" y="285"/>
                      <a:pt x="60" y="285"/>
                      <a:pt x="60" y="284"/>
                    </a:cubicBezTo>
                    <a:cubicBezTo>
                      <a:pt x="60" y="285"/>
                      <a:pt x="60" y="285"/>
                      <a:pt x="59" y="286"/>
                    </a:cubicBezTo>
                    <a:cubicBezTo>
                      <a:pt x="59" y="286"/>
                      <a:pt x="59" y="286"/>
                      <a:pt x="59" y="285"/>
                    </a:cubicBezTo>
                    <a:cubicBezTo>
                      <a:pt x="58" y="285"/>
                      <a:pt x="58" y="285"/>
                      <a:pt x="57" y="284"/>
                    </a:cubicBezTo>
                    <a:cubicBezTo>
                      <a:pt x="57" y="283"/>
                      <a:pt x="58" y="281"/>
                      <a:pt x="58" y="280"/>
                    </a:cubicBezTo>
                    <a:cubicBezTo>
                      <a:pt x="56" y="274"/>
                      <a:pt x="58" y="274"/>
                      <a:pt x="60" y="270"/>
                    </a:cubicBezTo>
                    <a:cubicBezTo>
                      <a:pt x="61" y="269"/>
                      <a:pt x="61" y="268"/>
                      <a:pt x="61" y="267"/>
                    </a:cubicBezTo>
                    <a:cubicBezTo>
                      <a:pt x="63" y="265"/>
                      <a:pt x="65" y="265"/>
                      <a:pt x="65" y="262"/>
                    </a:cubicBezTo>
                    <a:cubicBezTo>
                      <a:pt x="64" y="262"/>
                      <a:pt x="65" y="261"/>
                      <a:pt x="64" y="260"/>
                    </a:cubicBezTo>
                    <a:cubicBezTo>
                      <a:pt x="64" y="259"/>
                      <a:pt x="63" y="259"/>
                      <a:pt x="63" y="258"/>
                    </a:cubicBezTo>
                    <a:cubicBezTo>
                      <a:pt x="62" y="257"/>
                      <a:pt x="64" y="255"/>
                      <a:pt x="64" y="254"/>
                    </a:cubicBezTo>
                    <a:cubicBezTo>
                      <a:pt x="63" y="253"/>
                      <a:pt x="64" y="253"/>
                      <a:pt x="62" y="253"/>
                    </a:cubicBezTo>
                    <a:cubicBezTo>
                      <a:pt x="62" y="254"/>
                      <a:pt x="62" y="254"/>
                      <a:pt x="61" y="254"/>
                    </a:cubicBezTo>
                    <a:cubicBezTo>
                      <a:pt x="60" y="252"/>
                      <a:pt x="60" y="252"/>
                      <a:pt x="60" y="249"/>
                    </a:cubicBezTo>
                    <a:cubicBezTo>
                      <a:pt x="62" y="247"/>
                      <a:pt x="60" y="245"/>
                      <a:pt x="61" y="241"/>
                    </a:cubicBezTo>
                    <a:cubicBezTo>
                      <a:pt x="62" y="241"/>
                      <a:pt x="62" y="241"/>
                      <a:pt x="63" y="241"/>
                    </a:cubicBezTo>
                    <a:cubicBezTo>
                      <a:pt x="64" y="241"/>
                      <a:pt x="64" y="241"/>
                      <a:pt x="64" y="241"/>
                    </a:cubicBezTo>
                    <a:cubicBezTo>
                      <a:pt x="65" y="240"/>
                      <a:pt x="65" y="239"/>
                      <a:pt x="66" y="238"/>
                    </a:cubicBezTo>
                    <a:cubicBezTo>
                      <a:pt x="66" y="238"/>
                      <a:pt x="66" y="238"/>
                      <a:pt x="66" y="238"/>
                    </a:cubicBezTo>
                    <a:cubicBezTo>
                      <a:pt x="66" y="238"/>
                      <a:pt x="66" y="238"/>
                      <a:pt x="66" y="238"/>
                    </a:cubicBezTo>
                    <a:cubicBezTo>
                      <a:pt x="66" y="238"/>
                      <a:pt x="66" y="238"/>
                      <a:pt x="66" y="238"/>
                    </a:cubicBezTo>
                    <a:cubicBezTo>
                      <a:pt x="67" y="238"/>
                      <a:pt x="67" y="239"/>
                      <a:pt x="67" y="239"/>
                    </a:cubicBezTo>
                    <a:cubicBezTo>
                      <a:pt x="68" y="239"/>
                      <a:pt x="67" y="239"/>
                      <a:pt x="68" y="239"/>
                    </a:cubicBezTo>
                    <a:cubicBezTo>
                      <a:pt x="68" y="239"/>
                      <a:pt x="68" y="239"/>
                      <a:pt x="68" y="238"/>
                    </a:cubicBezTo>
                    <a:cubicBezTo>
                      <a:pt x="68" y="237"/>
                      <a:pt x="67" y="236"/>
                      <a:pt x="67" y="236"/>
                    </a:cubicBezTo>
                    <a:cubicBezTo>
                      <a:pt x="66" y="235"/>
                      <a:pt x="65" y="235"/>
                      <a:pt x="64" y="234"/>
                    </a:cubicBezTo>
                    <a:cubicBezTo>
                      <a:pt x="65" y="234"/>
                      <a:pt x="65" y="233"/>
                      <a:pt x="65" y="232"/>
                    </a:cubicBezTo>
                    <a:cubicBezTo>
                      <a:pt x="65" y="232"/>
                      <a:pt x="65" y="232"/>
                      <a:pt x="66" y="232"/>
                    </a:cubicBezTo>
                    <a:cubicBezTo>
                      <a:pt x="67" y="231"/>
                      <a:pt x="69" y="231"/>
                      <a:pt x="69" y="231"/>
                    </a:cubicBezTo>
                    <a:cubicBezTo>
                      <a:pt x="70" y="231"/>
                      <a:pt x="71" y="229"/>
                      <a:pt x="71" y="228"/>
                    </a:cubicBezTo>
                    <a:cubicBezTo>
                      <a:pt x="74" y="228"/>
                      <a:pt x="74" y="227"/>
                      <a:pt x="77" y="227"/>
                    </a:cubicBezTo>
                    <a:cubicBezTo>
                      <a:pt x="80" y="228"/>
                      <a:pt x="84" y="229"/>
                      <a:pt x="87" y="228"/>
                    </a:cubicBezTo>
                    <a:cubicBezTo>
                      <a:pt x="88" y="226"/>
                      <a:pt x="90" y="224"/>
                      <a:pt x="91" y="222"/>
                    </a:cubicBezTo>
                    <a:cubicBezTo>
                      <a:pt x="91" y="221"/>
                      <a:pt x="91" y="222"/>
                      <a:pt x="91" y="221"/>
                    </a:cubicBezTo>
                    <a:cubicBezTo>
                      <a:pt x="89" y="222"/>
                      <a:pt x="87" y="225"/>
                      <a:pt x="85" y="226"/>
                    </a:cubicBezTo>
                    <a:cubicBezTo>
                      <a:pt x="81" y="227"/>
                      <a:pt x="75" y="226"/>
                      <a:pt x="72" y="225"/>
                    </a:cubicBezTo>
                    <a:cubicBezTo>
                      <a:pt x="72" y="225"/>
                      <a:pt x="71" y="224"/>
                      <a:pt x="71" y="223"/>
                    </a:cubicBezTo>
                    <a:cubicBezTo>
                      <a:pt x="72" y="223"/>
                      <a:pt x="72" y="221"/>
                      <a:pt x="72" y="220"/>
                    </a:cubicBezTo>
                    <a:cubicBezTo>
                      <a:pt x="72" y="220"/>
                      <a:pt x="72" y="220"/>
                      <a:pt x="71" y="220"/>
                    </a:cubicBezTo>
                    <a:cubicBezTo>
                      <a:pt x="70" y="223"/>
                      <a:pt x="67" y="226"/>
                      <a:pt x="63" y="227"/>
                    </a:cubicBezTo>
                    <a:cubicBezTo>
                      <a:pt x="63" y="226"/>
                      <a:pt x="63" y="226"/>
                      <a:pt x="63" y="226"/>
                    </a:cubicBezTo>
                    <a:cubicBezTo>
                      <a:pt x="64" y="225"/>
                      <a:pt x="63" y="225"/>
                      <a:pt x="64" y="224"/>
                    </a:cubicBezTo>
                    <a:cubicBezTo>
                      <a:pt x="65" y="222"/>
                      <a:pt x="67" y="221"/>
                      <a:pt x="68" y="220"/>
                    </a:cubicBezTo>
                    <a:cubicBezTo>
                      <a:pt x="70" y="219"/>
                      <a:pt x="71" y="218"/>
                      <a:pt x="72" y="216"/>
                    </a:cubicBezTo>
                    <a:cubicBezTo>
                      <a:pt x="73" y="217"/>
                      <a:pt x="72" y="216"/>
                      <a:pt x="73" y="217"/>
                    </a:cubicBezTo>
                    <a:cubicBezTo>
                      <a:pt x="73" y="218"/>
                      <a:pt x="73" y="219"/>
                      <a:pt x="73" y="219"/>
                    </a:cubicBezTo>
                    <a:cubicBezTo>
                      <a:pt x="75" y="219"/>
                      <a:pt x="74" y="220"/>
                      <a:pt x="76" y="220"/>
                    </a:cubicBezTo>
                    <a:cubicBezTo>
                      <a:pt x="76" y="218"/>
                      <a:pt x="75" y="218"/>
                      <a:pt x="75" y="216"/>
                    </a:cubicBezTo>
                    <a:cubicBezTo>
                      <a:pt x="77" y="214"/>
                      <a:pt x="77" y="211"/>
                      <a:pt x="79" y="208"/>
                    </a:cubicBezTo>
                    <a:cubicBezTo>
                      <a:pt x="78" y="207"/>
                      <a:pt x="78" y="207"/>
                      <a:pt x="78" y="207"/>
                    </a:cubicBezTo>
                    <a:cubicBezTo>
                      <a:pt x="78" y="207"/>
                      <a:pt x="86" y="203"/>
                      <a:pt x="86" y="203"/>
                    </a:cubicBezTo>
                    <a:cubicBezTo>
                      <a:pt x="85" y="203"/>
                      <a:pt x="85" y="202"/>
                      <a:pt x="85" y="202"/>
                    </a:cubicBezTo>
                    <a:cubicBezTo>
                      <a:pt x="84" y="202"/>
                      <a:pt x="82" y="202"/>
                      <a:pt x="81" y="202"/>
                    </a:cubicBezTo>
                    <a:cubicBezTo>
                      <a:pt x="79" y="203"/>
                      <a:pt x="78" y="206"/>
                      <a:pt x="77" y="207"/>
                    </a:cubicBezTo>
                    <a:cubicBezTo>
                      <a:pt x="76" y="208"/>
                      <a:pt x="75" y="208"/>
                      <a:pt x="74" y="209"/>
                    </a:cubicBezTo>
                    <a:cubicBezTo>
                      <a:pt x="73" y="210"/>
                      <a:pt x="72" y="212"/>
                      <a:pt x="71" y="213"/>
                    </a:cubicBezTo>
                    <a:cubicBezTo>
                      <a:pt x="70" y="214"/>
                      <a:pt x="69" y="215"/>
                      <a:pt x="68" y="216"/>
                    </a:cubicBezTo>
                    <a:cubicBezTo>
                      <a:pt x="66" y="218"/>
                      <a:pt x="65" y="222"/>
                      <a:pt x="61" y="222"/>
                    </a:cubicBezTo>
                    <a:cubicBezTo>
                      <a:pt x="58" y="224"/>
                      <a:pt x="56" y="220"/>
                      <a:pt x="55" y="219"/>
                    </a:cubicBezTo>
                    <a:cubicBezTo>
                      <a:pt x="54" y="219"/>
                      <a:pt x="52" y="219"/>
                      <a:pt x="50" y="218"/>
                    </a:cubicBezTo>
                    <a:cubicBezTo>
                      <a:pt x="47" y="217"/>
                      <a:pt x="45" y="215"/>
                      <a:pt x="43" y="212"/>
                    </a:cubicBezTo>
                    <a:cubicBezTo>
                      <a:pt x="43" y="212"/>
                      <a:pt x="43" y="212"/>
                      <a:pt x="43" y="212"/>
                    </a:cubicBezTo>
                    <a:cubicBezTo>
                      <a:pt x="43" y="212"/>
                      <a:pt x="42" y="212"/>
                      <a:pt x="42" y="212"/>
                    </a:cubicBezTo>
                    <a:cubicBezTo>
                      <a:pt x="43" y="215"/>
                      <a:pt x="44" y="219"/>
                      <a:pt x="47" y="220"/>
                    </a:cubicBezTo>
                    <a:cubicBezTo>
                      <a:pt x="47" y="220"/>
                      <a:pt x="53" y="221"/>
                      <a:pt x="54" y="221"/>
                    </a:cubicBezTo>
                    <a:cubicBezTo>
                      <a:pt x="56" y="223"/>
                      <a:pt x="61" y="226"/>
                      <a:pt x="61" y="228"/>
                    </a:cubicBezTo>
                    <a:cubicBezTo>
                      <a:pt x="60" y="230"/>
                      <a:pt x="62" y="232"/>
                      <a:pt x="60" y="234"/>
                    </a:cubicBezTo>
                    <a:cubicBezTo>
                      <a:pt x="59" y="237"/>
                      <a:pt x="52" y="242"/>
                      <a:pt x="48" y="242"/>
                    </a:cubicBezTo>
                    <a:cubicBezTo>
                      <a:pt x="48" y="241"/>
                      <a:pt x="48" y="241"/>
                      <a:pt x="48" y="240"/>
                    </a:cubicBezTo>
                    <a:cubicBezTo>
                      <a:pt x="47" y="240"/>
                      <a:pt x="46" y="240"/>
                      <a:pt x="45" y="240"/>
                    </a:cubicBezTo>
                    <a:cubicBezTo>
                      <a:pt x="44" y="241"/>
                      <a:pt x="42" y="240"/>
                      <a:pt x="41" y="241"/>
                    </a:cubicBezTo>
                    <a:cubicBezTo>
                      <a:pt x="40" y="242"/>
                      <a:pt x="39" y="244"/>
                      <a:pt x="38" y="244"/>
                    </a:cubicBezTo>
                    <a:cubicBezTo>
                      <a:pt x="35" y="244"/>
                      <a:pt x="32" y="244"/>
                      <a:pt x="28" y="244"/>
                    </a:cubicBezTo>
                    <a:cubicBezTo>
                      <a:pt x="28" y="245"/>
                      <a:pt x="28" y="245"/>
                      <a:pt x="27" y="246"/>
                    </a:cubicBezTo>
                    <a:cubicBezTo>
                      <a:pt x="26" y="246"/>
                      <a:pt x="25" y="246"/>
                      <a:pt x="24" y="246"/>
                    </a:cubicBezTo>
                    <a:cubicBezTo>
                      <a:pt x="24" y="246"/>
                      <a:pt x="23" y="246"/>
                      <a:pt x="22" y="245"/>
                    </a:cubicBezTo>
                    <a:cubicBezTo>
                      <a:pt x="21" y="244"/>
                      <a:pt x="21" y="242"/>
                      <a:pt x="20" y="240"/>
                    </a:cubicBezTo>
                    <a:cubicBezTo>
                      <a:pt x="19" y="241"/>
                      <a:pt x="19" y="241"/>
                      <a:pt x="17" y="241"/>
                    </a:cubicBezTo>
                    <a:cubicBezTo>
                      <a:pt x="17" y="241"/>
                      <a:pt x="17" y="240"/>
                      <a:pt x="17" y="240"/>
                    </a:cubicBezTo>
                    <a:cubicBezTo>
                      <a:pt x="17" y="240"/>
                      <a:pt x="17" y="240"/>
                      <a:pt x="17" y="240"/>
                    </a:cubicBezTo>
                    <a:cubicBezTo>
                      <a:pt x="17" y="239"/>
                      <a:pt x="18" y="237"/>
                      <a:pt x="20" y="237"/>
                    </a:cubicBezTo>
                    <a:cubicBezTo>
                      <a:pt x="21" y="239"/>
                      <a:pt x="22" y="237"/>
                      <a:pt x="24" y="238"/>
                    </a:cubicBezTo>
                    <a:cubicBezTo>
                      <a:pt x="25" y="238"/>
                      <a:pt x="25" y="238"/>
                      <a:pt x="26" y="239"/>
                    </a:cubicBezTo>
                    <a:cubicBezTo>
                      <a:pt x="28" y="239"/>
                      <a:pt x="33" y="238"/>
                      <a:pt x="34" y="237"/>
                    </a:cubicBezTo>
                    <a:cubicBezTo>
                      <a:pt x="32" y="236"/>
                      <a:pt x="30" y="236"/>
                      <a:pt x="29" y="234"/>
                    </a:cubicBezTo>
                    <a:cubicBezTo>
                      <a:pt x="30" y="234"/>
                      <a:pt x="33" y="227"/>
                      <a:pt x="34" y="227"/>
                    </a:cubicBezTo>
                    <a:cubicBezTo>
                      <a:pt x="35" y="227"/>
                      <a:pt x="36" y="227"/>
                      <a:pt x="37" y="227"/>
                    </a:cubicBezTo>
                    <a:cubicBezTo>
                      <a:pt x="37" y="227"/>
                      <a:pt x="40" y="225"/>
                      <a:pt x="40" y="224"/>
                    </a:cubicBezTo>
                    <a:cubicBezTo>
                      <a:pt x="40" y="224"/>
                      <a:pt x="40" y="223"/>
                      <a:pt x="39" y="223"/>
                    </a:cubicBezTo>
                    <a:cubicBezTo>
                      <a:pt x="35" y="224"/>
                      <a:pt x="32" y="225"/>
                      <a:pt x="28" y="226"/>
                    </a:cubicBezTo>
                    <a:cubicBezTo>
                      <a:pt x="27" y="225"/>
                      <a:pt x="27" y="224"/>
                      <a:pt x="25" y="224"/>
                    </a:cubicBezTo>
                    <a:cubicBezTo>
                      <a:pt x="25" y="224"/>
                      <a:pt x="25" y="224"/>
                      <a:pt x="24" y="224"/>
                    </a:cubicBezTo>
                    <a:cubicBezTo>
                      <a:pt x="24" y="223"/>
                      <a:pt x="24" y="223"/>
                      <a:pt x="24" y="222"/>
                    </a:cubicBezTo>
                    <a:cubicBezTo>
                      <a:pt x="24" y="222"/>
                      <a:pt x="25" y="222"/>
                      <a:pt x="26" y="222"/>
                    </a:cubicBezTo>
                    <a:cubicBezTo>
                      <a:pt x="27" y="222"/>
                      <a:pt x="27" y="222"/>
                      <a:pt x="28" y="222"/>
                    </a:cubicBezTo>
                    <a:cubicBezTo>
                      <a:pt x="28" y="221"/>
                      <a:pt x="28" y="221"/>
                      <a:pt x="28" y="220"/>
                    </a:cubicBezTo>
                    <a:cubicBezTo>
                      <a:pt x="26" y="220"/>
                      <a:pt x="23" y="219"/>
                      <a:pt x="23" y="216"/>
                    </a:cubicBezTo>
                    <a:cubicBezTo>
                      <a:pt x="24" y="214"/>
                      <a:pt x="24" y="213"/>
                      <a:pt x="23" y="212"/>
                    </a:cubicBezTo>
                    <a:cubicBezTo>
                      <a:pt x="24" y="211"/>
                      <a:pt x="25" y="210"/>
                      <a:pt x="25" y="210"/>
                    </a:cubicBezTo>
                    <a:cubicBezTo>
                      <a:pt x="26" y="210"/>
                      <a:pt x="27" y="210"/>
                      <a:pt x="28" y="210"/>
                    </a:cubicBezTo>
                    <a:cubicBezTo>
                      <a:pt x="29" y="209"/>
                      <a:pt x="30" y="207"/>
                      <a:pt x="31" y="206"/>
                    </a:cubicBezTo>
                    <a:cubicBezTo>
                      <a:pt x="33" y="207"/>
                      <a:pt x="34" y="207"/>
                      <a:pt x="35" y="207"/>
                    </a:cubicBezTo>
                    <a:cubicBezTo>
                      <a:pt x="35" y="207"/>
                      <a:pt x="35" y="206"/>
                      <a:pt x="36" y="206"/>
                    </a:cubicBezTo>
                    <a:cubicBezTo>
                      <a:pt x="36" y="206"/>
                      <a:pt x="41" y="211"/>
                      <a:pt x="41" y="211"/>
                    </a:cubicBezTo>
                    <a:cubicBezTo>
                      <a:pt x="41" y="209"/>
                      <a:pt x="41" y="209"/>
                      <a:pt x="41" y="207"/>
                    </a:cubicBezTo>
                    <a:cubicBezTo>
                      <a:pt x="43" y="206"/>
                      <a:pt x="46" y="206"/>
                      <a:pt x="49" y="206"/>
                    </a:cubicBezTo>
                    <a:cubicBezTo>
                      <a:pt x="49" y="206"/>
                      <a:pt x="49" y="206"/>
                      <a:pt x="50" y="206"/>
                    </a:cubicBezTo>
                    <a:cubicBezTo>
                      <a:pt x="51" y="205"/>
                      <a:pt x="52" y="204"/>
                      <a:pt x="54" y="202"/>
                    </a:cubicBezTo>
                    <a:cubicBezTo>
                      <a:pt x="53" y="202"/>
                      <a:pt x="54" y="203"/>
                      <a:pt x="53" y="202"/>
                    </a:cubicBezTo>
                    <a:cubicBezTo>
                      <a:pt x="52" y="203"/>
                      <a:pt x="51" y="204"/>
                      <a:pt x="49" y="204"/>
                    </a:cubicBezTo>
                    <a:cubicBezTo>
                      <a:pt x="49" y="204"/>
                      <a:pt x="40" y="204"/>
                      <a:pt x="39" y="204"/>
                    </a:cubicBezTo>
                    <a:cubicBezTo>
                      <a:pt x="39" y="204"/>
                      <a:pt x="38" y="203"/>
                      <a:pt x="38" y="203"/>
                    </a:cubicBezTo>
                    <a:cubicBezTo>
                      <a:pt x="37" y="203"/>
                      <a:pt x="37" y="204"/>
                      <a:pt x="36" y="204"/>
                    </a:cubicBezTo>
                    <a:cubicBezTo>
                      <a:pt x="35" y="204"/>
                      <a:pt x="31" y="204"/>
                      <a:pt x="29" y="203"/>
                    </a:cubicBezTo>
                    <a:cubicBezTo>
                      <a:pt x="28" y="202"/>
                      <a:pt x="28" y="201"/>
                      <a:pt x="28" y="200"/>
                    </a:cubicBezTo>
                    <a:cubicBezTo>
                      <a:pt x="29" y="199"/>
                      <a:pt x="30" y="197"/>
                      <a:pt x="31" y="196"/>
                    </a:cubicBezTo>
                    <a:cubicBezTo>
                      <a:pt x="34" y="195"/>
                      <a:pt x="38" y="196"/>
                      <a:pt x="41" y="195"/>
                    </a:cubicBezTo>
                    <a:cubicBezTo>
                      <a:pt x="41" y="194"/>
                      <a:pt x="42" y="194"/>
                      <a:pt x="42" y="194"/>
                    </a:cubicBezTo>
                    <a:cubicBezTo>
                      <a:pt x="43" y="193"/>
                      <a:pt x="44" y="193"/>
                      <a:pt x="45" y="193"/>
                    </a:cubicBezTo>
                    <a:cubicBezTo>
                      <a:pt x="46" y="194"/>
                      <a:pt x="48" y="196"/>
                      <a:pt x="49" y="196"/>
                    </a:cubicBezTo>
                    <a:cubicBezTo>
                      <a:pt x="50" y="194"/>
                      <a:pt x="49" y="193"/>
                      <a:pt x="49" y="191"/>
                    </a:cubicBezTo>
                    <a:cubicBezTo>
                      <a:pt x="50" y="190"/>
                      <a:pt x="50" y="189"/>
                      <a:pt x="51" y="188"/>
                    </a:cubicBezTo>
                    <a:cubicBezTo>
                      <a:pt x="53" y="187"/>
                      <a:pt x="56" y="187"/>
                      <a:pt x="60" y="187"/>
                    </a:cubicBezTo>
                    <a:cubicBezTo>
                      <a:pt x="60" y="186"/>
                      <a:pt x="61" y="185"/>
                      <a:pt x="61" y="184"/>
                    </a:cubicBezTo>
                    <a:cubicBezTo>
                      <a:pt x="62" y="184"/>
                      <a:pt x="62" y="184"/>
                      <a:pt x="62" y="184"/>
                    </a:cubicBezTo>
                    <a:cubicBezTo>
                      <a:pt x="62" y="184"/>
                      <a:pt x="62" y="184"/>
                      <a:pt x="61" y="183"/>
                    </a:cubicBezTo>
                    <a:cubicBezTo>
                      <a:pt x="60" y="184"/>
                      <a:pt x="57" y="186"/>
                      <a:pt x="55" y="185"/>
                    </a:cubicBezTo>
                    <a:cubicBezTo>
                      <a:pt x="55" y="185"/>
                      <a:pt x="55" y="183"/>
                      <a:pt x="55" y="183"/>
                    </a:cubicBezTo>
                    <a:cubicBezTo>
                      <a:pt x="53" y="183"/>
                      <a:pt x="50" y="184"/>
                      <a:pt x="47" y="184"/>
                    </a:cubicBezTo>
                    <a:cubicBezTo>
                      <a:pt x="47" y="183"/>
                      <a:pt x="47" y="183"/>
                      <a:pt x="47" y="183"/>
                    </a:cubicBezTo>
                    <a:cubicBezTo>
                      <a:pt x="47" y="183"/>
                      <a:pt x="47" y="183"/>
                      <a:pt x="47" y="182"/>
                    </a:cubicBezTo>
                    <a:cubicBezTo>
                      <a:pt x="49" y="182"/>
                      <a:pt x="49" y="181"/>
                      <a:pt x="49" y="178"/>
                    </a:cubicBezTo>
                    <a:cubicBezTo>
                      <a:pt x="51" y="177"/>
                      <a:pt x="51" y="174"/>
                      <a:pt x="51" y="171"/>
                    </a:cubicBezTo>
                    <a:cubicBezTo>
                      <a:pt x="52" y="171"/>
                      <a:pt x="53" y="171"/>
                      <a:pt x="54" y="171"/>
                    </a:cubicBezTo>
                    <a:cubicBezTo>
                      <a:pt x="54" y="171"/>
                      <a:pt x="62" y="172"/>
                      <a:pt x="62" y="172"/>
                    </a:cubicBezTo>
                    <a:cubicBezTo>
                      <a:pt x="63" y="172"/>
                      <a:pt x="63" y="172"/>
                      <a:pt x="63" y="172"/>
                    </a:cubicBezTo>
                    <a:cubicBezTo>
                      <a:pt x="60" y="170"/>
                      <a:pt x="60" y="168"/>
                      <a:pt x="55" y="168"/>
                    </a:cubicBezTo>
                    <a:cubicBezTo>
                      <a:pt x="55" y="167"/>
                      <a:pt x="54" y="167"/>
                      <a:pt x="54" y="166"/>
                    </a:cubicBezTo>
                    <a:cubicBezTo>
                      <a:pt x="54" y="165"/>
                      <a:pt x="54" y="164"/>
                      <a:pt x="54" y="163"/>
                    </a:cubicBezTo>
                    <a:cubicBezTo>
                      <a:pt x="56" y="162"/>
                      <a:pt x="57" y="160"/>
                      <a:pt x="59" y="160"/>
                    </a:cubicBezTo>
                    <a:cubicBezTo>
                      <a:pt x="60" y="159"/>
                      <a:pt x="71" y="161"/>
                      <a:pt x="73" y="161"/>
                    </a:cubicBezTo>
                    <a:cubicBezTo>
                      <a:pt x="73" y="161"/>
                      <a:pt x="73" y="161"/>
                      <a:pt x="73" y="161"/>
                    </a:cubicBezTo>
                    <a:cubicBezTo>
                      <a:pt x="69" y="160"/>
                      <a:pt x="66" y="158"/>
                      <a:pt x="61" y="158"/>
                    </a:cubicBezTo>
                    <a:cubicBezTo>
                      <a:pt x="61" y="157"/>
                      <a:pt x="60" y="157"/>
                      <a:pt x="60" y="155"/>
                    </a:cubicBezTo>
                    <a:cubicBezTo>
                      <a:pt x="60" y="155"/>
                      <a:pt x="60" y="154"/>
                      <a:pt x="60" y="153"/>
                    </a:cubicBezTo>
                    <a:cubicBezTo>
                      <a:pt x="61" y="152"/>
                      <a:pt x="63" y="152"/>
                      <a:pt x="63" y="150"/>
                    </a:cubicBezTo>
                    <a:cubicBezTo>
                      <a:pt x="63" y="150"/>
                      <a:pt x="62" y="150"/>
                      <a:pt x="62" y="150"/>
                    </a:cubicBezTo>
                    <a:cubicBezTo>
                      <a:pt x="61" y="151"/>
                      <a:pt x="59" y="154"/>
                      <a:pt x="58" y="155"/>
                    </a:cubicBezTo>
                    <a:cubicBezTo>
                      <a:pt x="57" y="156"/>
                      <a:pt x="56" y="155"/>
                      <a:pt x="55" y="156"/>
                    </a:cubicBezTo>
                    <a:cubicBezTo>
                      <a:pt x="54" y="157"/>
                      <a:pt x="55" y="159"/>
                      <a:pt x="54" y="160"/>
                    </a:cubicBezTo>
                    <a:cubicBezTo>
                      <a:pt x="53" y="162"/>
                      <a:pt x="50" y="162"/>
                      <a:pt x="49" y="164"/>
                    </a:cubicBezTo>
                    <a:cubicBezTo>
                      <a:pt x="47" y="167"/>
                      <a:pt x="47" y="169"/>
                      <a:pt x="43" y="169"/>
                    </a:cubicBezTo>
                    <a:cubicBezTo>
                      <a:pt x="42" y="169"/>
                      <a:pt x="42" y="169"/>
                      <a:pt x="42" y="168"/>
                    </a:cubicBezTo>
                    <a:cubicBezTo>
                      <a:pt x="42" y="164"/>
                      <a:pt x="43" y="162"/>
                      <a:pt x="43" y="158"/>
                    </a:cubicBezTo>
                    <a:cubicBezTo>
                      <a:pt x="44" y="157"/>
                      <a:pt x="46" y="156"/>
                      <a:pt x="47" y="155"/>
                    </a:cubicBezTo>
                    <a:cubicBezTo>
                      <a:pt x="45" y="154"/>
                      <a:pt x="43" y="153"/>
                      <a:pt x="42" y="152"/>
                    </a:cubicBezTo>
                    <a:cubicBezTo>
                      <a:pt x="42" y="152"/>
                      <a:pt x="42" y="152"/>
                      <a:pt x="42" y="153"/>
                    </a:cubicBezTo>
                    <a:cubicBezTo>
                      <a:pt x="40" y="155"/>
                      <a:pt x="41" y="158"/>
                      <a:pt x="38" y="159"/>
                    </a:cubicBezTo>
                    <a:cubicBezTo>
                      <a:pt x="37" y="158"/>
                      <a:pt x="32" y="157"/>
                      <a:pt x="29" y="157"/>
                    </a:cubicBezTo>
                    <a:cubicBezTo>
                      <a:pt x="29" y="157"/>
                      <a:pt x="29" y="156"/>
                      <a:pt x="29" y="156"/>
                    </a:cubicBezTo>
                    <a:cubicBezTo>
                      <a:pt x="30" y="156"/>
                      <a:pt x="30" y="155"/>
                      <a:pt x="31" y="155"/>
                    </a:cubicBezTo>
                    <a:cubicBezTo>
                      <a:pt x="30" y="154"/>
                      <a:pt x="30" y="154"/>
                      <a:pt x="29" y="154"/>
                    </a:cubicBezTo>
                    <a:cubicBezTo>
                      <a:pt x="28" y="155"/>
                      <a:pt x="27" y="155"/>
                      <a:pt x="26" y="155"/>
                    </a:cubicBezTo>
                    <a:cubicBezTo>
                      <a:pt x="26" y="154"/>
                      <a:pt x="26" y="153"/>
                      <a:pt x="26" y="153"/>
                    </a:cubicBezTo>
                    <a:cubicBezTo>
                      <a:pt x="26" y="152"/>
                      <a:pt x="26" y="152"/>
                      <a:pt x="25" y="152"/>
                    </a:cubicBezTo>
                    <a:cubicBezTo>
                      <a:pt x="24" y="152"/>
                      <a:pt x="24" y="152"/>
                      <a:pt x="23" y="152"/>
                    </a:cubicBezTo>
                    <a:cubicBezTo>
                      <a:pt x="22" y="151"/>
                      <a:pt x="22" y="149"/>
                      <a:pt x="22" y="148"/>
                    </a:cubicBezTo>
                    <a:cubicBezTo>
                      <a:pt x="19" y="144"/>
                      <a:pt x="15" y="145"/>
                      <a:pt x="15" y="139"/>
                    </a:cubicBezTo>
                    <a:cubicBezTo>
                      <a:pt x="16" y="138"/>
                      <a:pt x="15" y="137"/>
                      <a:pt x="16" y="137"/>
                    </a:cubicBezTo>
                    <a:cubicBezTo>
                      <a:pt x="16" y="136"/>
                      <a:pt x="17" y="136"/>
                      <a:pt x="18" y="135"/>
                    </a:cubicBezTo>
                    <a:cubicBezTo>
                      <a:pt x="17" y="134"/>
                      <a:pt x="15" y="132"/>
                      <a:pt x="15" y="130"/>
                    </a:cubicBezTo>
                    <a:cubicBezTo>
                      <a:pt x="14" y="131"/>
                      <a:pt x="14" y="131"/>
                      <a:pt x="14" y="131"/>
                    </a:cubicBezTo>
                    <a:cubicBezTo>
                      <a:pt x="12" y="133"/>
                      <a:pt x="14" y="137"/>
                      <a:pt x="10" y="137"/>
                    </a:cubicBezTo>
                    <a:cubicBezTo>
                      <a:pt x="8" y="135"/>
                      <a:pt x="6" y="136"/>
                      <a:pt x="5" y="134"/>
                    </a:cubicBezTo>
                    <a:cubicBezTo>
                      <a:pt x="3" y="133"/>
                      <a:pt x="4" y="131"/>
                      <a:pt x="3" y="129"/>
                    </a:cubicBezTo>
                    <a:cubicBezTo>
                      <a:pt x="2" y="128"/>
                      <a:pt x="1" y="128"/>
                      <a:pt x="0" y="126"/>
                    </a:cubicBezTo>
                    <a:cubicBezTo>
                      <a:pt x="1" y="125"/>
                      <a:pt x="3" y="124"/>
                      <a:pt x="3" y="122"/>
                    </a:cubicBezTo>
                    <a:cubicBezTo>
                      <a:pt x="2" y="121"/>
                      <a:pt x="3" y="119"/>
                      <a:pt x="4" y="118"/>
                    </a:cubicBezTo>
                    <a:cubicBezTo>
                      <a:pt x="7" y="119"/>
                      <a:pt x="6" y="122"/>
                      <a:pt x="9" y="123"/>
                    </a:cubicBezTo>
                    <a:cubicBezTo>
                      <a:pt x="9" y="122"/>
                      <a:pt x="9" y="122"/>
                      <a:pt x="9" y="122"/>
                    </a:cubicBezTo>
                    <a:cubicBezTo>
                      <a:pt x="9" y="122"/>
                      <a:pt x="9" y="120"/>
                      <a:pt x="9" y="119"/>
                    </a:cubicBezTo>
                    <a:cubicBezTo>
                      <a:pt x="10" y="119"/>
                      <a:pt x="10" y="119"/>
                      <a:pt x="10" y="119"/>
                    </a:cubicBezTo>
                    <a:cubicBezTo>
                      <a:pt x="11" y="118"/>
                      <a:pt x="11" y="118"/>
                      <a:pt x="11" y="118"/>
                    </a:cubicBezTo>
                    <a:cubicBezTo>
                      <a:pt x="10" y="117"/>
                      <a:pt x="8" y="116"/>
                      <a:pt x="8" y="113"/>
                    </a:cubicBezTo>
                    <a:cubicBezTo>
                      <a:pt x="9" y="112"/>
                      <a:pt x="9" y="111"/>
                      <a:pt x="9" y="109"/>
                    </a:cubicBezTo>
                    <a:cubicBezTo>
                      <a:pt x="10" y="109"/>
                      <a:pt x="10" y="109"/>
                      <a:pt x="11" y="109"/>
                    </a:cubicBezTo>
                    <a:cubicBezTo>
                      <a:pt x="12" y="110"/>
                      <a:pt x="13" y="110"/>
                      <a:pt x="13" y="111"/>
                    </a:cubicBezTo>
                    <a:cubicBezTo>
                      <a:pt x="14" y="112"/>
                      <a:pt x="13" y="114"/>
                      <a:pt x="14" y="114"/>
                    </a:cubicBezTo>
                    <a:cubicBezTo>
                      <a:pt x="14" y="115"/>
                      <a:pt x="20" y="118"/>
                      <a:pt x="20" y="118"/>
                    </a:cubicBezTo>
                    <a:cubicBezTo>
                      <a:pt x="20" y="118"/>
                      <a:pt x="21" y="118"/>
                      <a:pt x="22" y="118"/>
                    </a:cubicBezTo>
                    <a:cubicBezTo>
                      <a:pt x="22" y="117"/>
                      <a:pt x="22" y="117"/>
                      <a:pt x="22" y="116"/>
                    </a:cubicBezTo>
                    <a:cubicBezTo>
                      <a:pt x="21" y="115"/>
                      <a:pt x="22" y="113"/>
                      <a:pt x="23" y="112"/>
                    </a:cubicBezTo>
                    <a:cubicBezTo>
                      <a:pt x="21" y="111"/>
                      <a:pt x="21" y="108"/>
                      <a:pt x="21" y="106"/>
                    </a:cubicBezTo>
                    <a:cubicBezTo>
                      <a:pt x="23" y="104"/>
                      <a:pt x="23" y="100"/>
                      <a:pt x="28" y="100"/>
                    </a:cubicBezTo>
                    <a:cubicBezTo>
                      <a:pt x="29" y="102"/>
                      <a:pt x="30" y="102"/>
                      <a:pt x="31" y="104"/>
                    </a:cubicBezTo>
                    <a:cubicBezTo>
                      <a:pt x="31" y="105"/>
                      <a:pt x="32" y="106"/>
                      <a:pt x="32" y="107"/>
                    </a:cubicBezTo>
                    <a:cubicBezTo>
                      <a:pt x="33" y="108"/>
                      <a:pt x="35" y="109"/>
                      <a:pt x="36" y="112"/>
                    </a:cubicBezTo>
                    <a:cubicBezTo>
                      <a:pt x="36" y="114"/>
                      <a:pt x="36" y="116"/>
                      <a:pt x="36" y="118"/>
                    </a:cubicBezTo>
                    <a:cubicBezTo>
                      <a:pt x="36" y="119"/>
                      <a:pt x="38" y="123"/>
                      <a:pt x="37" y="125"/>
                    </a:cubicBezTo>
                    <a:cubicBezTo>
                      <a:pt x="36" y="127"/>
                      <a:pt x="36" y="128"/>
                      <a:pt x="37" y="130"/>
                    </a:cubicBezTo>
                    <a:cubicBezTo>
                      <a:pt x="37" y="131"/>
                      <a:pt x="36" y="132"/>
                      <a:pt x="36" y="132"/>
                    </a:cubicBezTo>
                    <a:cubicBezTo>
                      <a:pt x="36" y="135"/>
                      <a:pt x="37" y="138"/>
                      <a:pt x="39" y="139"/>
                    </a:cubicBezTo>
                    <a:cubicBezTo>
                      <a:pt x="40" y="140"/>
                      <a:pt x="41" y="140"/>
                      <a:pt x="42" y="140"/>
                    </a:cubicBezTo>
                    <a:cubicBezTo>
                      <a:pt x="43" y="139"/>
                      <a:pt x="43" y="139"/>
                      <a:pt x="44" y="138"/>
                    </a:cubicBezTo>
                    <a:cubicBezTo>
                      <a:pt x="48" y="141"/>
                      <a:pt x="48" y="139"/>
                      <a:pt x="47" y="144"/>
                    </a:cubicBezTo>
                    <a:cubicBezTo>
                      <a:pt x="48" y="145"/>
                      <a:pt x="48" y="146"/>
                      <a:pt x="50" y="146"/>
                    </a:cubicBezTo>
                    <a:cubicBezTo>
                      <a:pt x="51" y="145"/>
                      <a:pt x="54" y="145"/>
                      <a:pt x="55" y="144"/>
                    </a:cubicBezTo>
                    <a:cubicBezTo>
                      <a:pt x="55" y="144"/>
                      <a:pt x="55" y="144"/>
                      <a:pt x="55" y="144"/>
                    </a:cubicBezTo>
                    <a:cubicBezTo>
                      <a:pt x="56" y="143"/>
                      <a:pt x="57" y="144"/>
                      <a:pt x="58" y="144"/>
                    </a:cubicBezTo>
                    <a:cubicBezTo>
                      <a:pt x="59" y="141"/>
                      <a:pt x="58" y="137"/>
                      <a:pt x="61" y="136"/>
                    </a:cubicBezTo>
                    <a:cubicBezTo>
                      <a:pt x="63" y="136"/>
                      <a:pt x="63" y="138"/>
                      <a:pt x="65" y="136"/>
                    </a:cubicBezTo>
                    <a:cubicBezTo>
                      <a:pt x="65" y="136"/>
                      <a:pt x="65" y="136"/>
                      <a:pt x="65" y="136"/>
                    </a:cubicBezTo>
                    <a:cubicBezTo>
                      <a:pt x="64" y="135"/>
                      <a:pt x="64" y="135"/>
                      <a:pt x="63" y="134"/>
                    </a:cubicBezTo>
                    <a:cubicBezTo>
                      <a:pt x="64" y="133"/>
                      <a:pt x="64" y="133"/>
                      <a:pt x="64" y="132"/>
                    </a:cubicBezTo>
                    <a:cubicBezTo>
                      <a:pt x="65" y="132"/>
                      <a:pt x="65" y="132"/>
                      <a:pt x="65" y="132"/>
                    </a:cubicBezTo>
                    <a:cubicBezTo>
                      <a:pt x="65" y="131"/>
                      <a:pt x="64" y="131"/>
                      <a:pt x="64" y="131"/>
                    </a:cubicBezTo>
                    <a:cubicBezTo>
                      <a:pt x="64" y="131"/>
                      <a:pt x="64" y="131"/>
                      <a:pt x="63" y="131"/>
                    </a:cubicBezTo>
                    <a:cubicBezTo>
                      <a:pt x="63" y="131"/>
                      <a:pt x="63" y="131"/>
                      <a:pt x="63" y="131"/>
                    </a:cubicBezTo>
                    <a:cubicBezTo>
                      <a:pt x="61" y="134"/>
                      <a:pt x="60" y="137"/>
                      <a:pt x="56" y="137"/>
                    </a:cubicBezTo>
                    <a:cubicBezTo>
                      <a:pt x="55" y="137"/>
                      <a:pt x="55" y="137"/>
                      <a:pt x="55" y="136"/>
                    </a:cubicBezTo>
                    <a:cubicBezTo>
                      <a:pt x="54" y="136"/>
                      <a:pt x="52" y="134"/>
                      <a:pt x="53" y="132"/>
                    </a:cubicBezTo>
                    <a:cubicBezTo>
                      <a:pt x="53" y="132"/>
                      <a:pt x="53" y="131"/>
                      <a:pt x="53" y="130"/>
                    </a:cubicBezTo>
                    <a:cubicBezTo>
                      <a:pt x="53" y="128"/>
                      <a:pt x="50" y="125"/>
                      <a:pt x="50" y="123"/>
                    </a:cubicBezTo>
                    <a:cubicBezTo>
                      <a:pt x="50" y="122"/>
                      <a:pt x="52" y="115"/>
                      <a:pt x="52" y="113"/>
                    </a:cubicBezTo>
                    <a:cubicBezTo>
                      <a:pt x="53" y="113"/>
                      <a:pt x="53" y="112"/>
                      <a:pt x="54" y="112"/>
                    </a:cubicBezTo>
                    <a:cubicBezTo>
                      <a:pt x="55" y="113"/>
                      <a:pt x="56" y="113"/>
                      <a:pt x="57" y="114"/>
                    </a:cubicBezTo>
                    <a:cubicBezTo>
                      <a:pt x="58" y="115"/>
                      <a:pt x="58" y="118"/>
                      <a:pt x="60" y="118"/>
                    </a:cubicBezTo>
                    <a:cubicBezTo>
                      <a:pt x="62" y="118"/>
                      <a:pt x="64" y="118"/>
                      <a:pt x="66" y="118"/>
                    </a:cubicBezTo>
                    <a:cubicBezTo>
                      <a:pt x="67" y="117"/>
                      <a:pt x="69" y="118"/>
                      <a:pt x="70" y="116"/>
                    </a:cubicBezTo>
                    <a:cubicBezTo>
                      <a:pt x="70" y="116"/>
                      <a:pt x="70" y="116"/>
                      <a:pt x="70" y="116"/>
                    </a:cubicBezTo>
                    <a:cubicBezTo>
                      <a:pt x="67" y="116"/>
                      <a:pt x="64" y="116"/>
                      <a:pt x="61" y="116"/>
                    </a:cubicBezTo>
                    <a:cubicBezTo>
                      <a:pt x="61" y="115"/>
                      <a:pt x="60" y="114"/>
                      <a:pt x="60" y="113"/>
                    </a:cubicBezTo>
                    <a:cubicBezTo>
                      <a:pt x="57" y="113"/>
                      <a:pt x="59" y="111"/>
                      <a:pt x="57" y="110"/>
                    </a:cubicBezTo>
                    <a:cubicBezTo>
                      <a:pt x="56" y="109"/>
                      <a:pt x="55" y="109"/>
                      <a:pt x="54" y="108"/>
                    </a:cubicBezTo>
                    <a:cubicBezTo>
                      <a:pt x="54" y="107"/>
                      <a:pt x="54" y="101"/>
                      <a:pt x="55" y="100"/>
                    </a:cubicBezTo>
                    <a:cubicBezTo>
                      <a:pt x="56" y="99"/>
                      <a:pt x="59" y="100"/>
                      <a:pt x="60" y="99"/>
                    </a:cubicBezTo>
                    <a:cubicBezTo>
                      <a:pt x="58" y="98"/>
                      <a:pt x="57" y="97"/>
                      <a:pt x="55" y="96"/>
                    </a:cubicBezTo>
                    <a:cubicBezTo>
                      <a:pt x="55" y="93"/>
                      <a:pt x="54" y="90"/>
                      <a:pt x="54" y="86"/>
                    </a:cubicBezTo>
                    <a:cubicBezTo>
                      <a:pt x="55" y="85"/>
                      <a:pt x="56" y="83"/>
                      <a:pt x="57" y="83"/>
                    </a:cubicBezTo>
                    <a:cubicBezTo>
                      <a:pt x="64" y="79"/>
                      <a:pt x="62" y="89"/>
                      <a:pt x="63" y="93"/>
                    </a:cubicBezTo>
                    <a:cubicBezTo>
                      <a:pt x="64" y="93"/>
                      <a:pt x="63" y="93"/>
                      <a:pt x="64" y="93"/>
                    </a:cubicBezTo>
                    <a:cubicBezTo>
                      <a:pt x="65" y="92"/>
                      <a:pt x="66" y="91"/>
                      <a:pt x="66" y="89"/>
                    </a:cubicBezTo>
                    <a:cubicBezTo>
                      <a:pt x="68" y="87"/>
                      <a:pt x="63" y="84"/>
                      <a:pt x="63" y="81"/>
                    </a:cubicBezTo>
                    <a:cubicBezTo>
                      <a:pt x="64" y="80"/>
                      <a:pt x="64" y="79"/>
                      <a:pt x="64" y="79"/>
                    </a:cubicBezTo>
                    <a:cubicBezTo>
                      <a:pt x="65" y="78"/>
                      <a:pt x="66" y="78"/>
                      <a:pt x="67" y="78"/>
                    </a:cubicBezTo>
                    <a:cubicBezTo>
                      <a:pt x="68" y="79"/>
                      <a:pt x="69" y="78"/>
                      <a:pt x="69" y="81"/>
                    </a:cubicBezTo>
                    <a:cubicBezTo>
                      <a:pt x="69" y="82"/>
                      <a:pt x="69" y="82"/>
                      <a:pt x="69" y="82"/>
                    </a:cubicBezTo>
                    <a:cubicBezTo>
                      <a:pt x="69" y="83"/>
                      <a:pt x="69" y="82"/>
                      <a:pt x="69" y="83"/>
                    </a:cubicBezTo>
                    <a:cubicBezTo>
                      <a:pt x="72" y="83"/>
                      <a:pt x="71" y="84"/>
                      <a:pt x="73" y="84"/>
                    </a:cubicBezTo>
                    <a:cubicBezTo>
                      <a:pt x="74" y="83"/>
                      <a:pt x="74" y="83"/>
                      <a:pt x="74" y="83"/>
                    </a:cubicBezTo>
                    <a:cubicBezTo>
                      <a:pt x="73" y="82"/>
                      <a:pt x="73" y="82"/>
                      <a:pt x="73" y="81"/>
                    </a:cubicBezTo>
                    <a:cubicBezTo>
                      <a:pt x="74" y="80"/>
                      <a:pt x="76" y="80"/>
                      <a:pt x="77" y="79"/>
                    </a:cubicBezTo>
                    <a:cubicBezTo>
                      <a:pt x="77" y="78"/>
                      <a:pt x="77" y="78"/>
                      <a:pt x="77" y="77"/>
                    </a:cubicBezTo>
                    <a:cubicBezTo>
                      <a:pt x="85" y="77"/>
                      <a:pt x="89" y="81"/>
                      <a:pt x="93" y="86"/>
                    </a:cubicBezTo>
                    <a:cubicBezTo>
                      <a:pt x="93" y="86"/>
                      <a:pt x="93" y="86"/>
                      <a:pt x="93" y="86"/>
                    </a:cubicBezTo>
                    <a:cubicBezTo>
                      <a:pt x="93" y="86"/>
                      <a:pt x="93" y="85"/>
                      <a:pt x="93" y="84"/>
                    </a:cubicBezTo>
                    <a:cubicBezTo>
                      <a:pt x="92" y="83"/>
                      <a:pt x="88" y="80"/>
                      <a:pt x="87" y="79"/>
                    </a:cubicBezTo>
                    <a:cubicBezTo>
                      <a:pt x="87" y="77"/>
                      <a:pt x="87" y="77"/>
                      <a:pt x="87" y="76"/>
                    </a:cubicBezTo>
                    <a:cubicBezTo>
                      <a:pt x="85" y="74"/>
                      <a:pt x="83" y="74"/>
                      <a:pt x="81" y="73"/>
                    </a:cubicBezTo>
                    <a:cubicBezTo>
                      <a:pt x="80" y="73"/>
                      <a:pt x="80" y="72"/>
                      <a:pt x="79" y="72"/>
                    </a:cubicBezTo>
                    <a:cubicBezTo>
                      <a:pt x="79" y="72"/>
                      <a:pt x="79" y="71"/>
                      <a:pt x="79" y="71"/>
                    </a:cubicBezTo>
                    <a:cubicBezTo>
                      <a:pt x="78" y="70"/>
                      <a:pt x="77" y="70"/>
                      <a:pt x="76" y="70"/>
                    </a:cubicBezTo>
                    <a:cubicBezTo>
                      <a:pt x="76" y="68"/>
                      <a:pt x="76" y="67"/>
                      <a:pt x="76" y="66"/>
                    </a:cubicBezTo>
                    <a:cubicBezTo>
                      <a:pt x="75" y="64"/>
                      <a:pt x="73" y="63"/>
                      <a:pt x="75" y="60"/>
                    </a:cubicBezTo>
                    <a:cubicBezTo>
                      <a:pt x="75" y="60"/>
                      <a:pt x="76" y="60"/>
                      <a:pt x="77" y="60"/>
                    </a:cubicBezTo>
                    <a:cubicBezTo>
                      <a:pt x="78" y="61"/>
                      <a:pt x="78" y="62"/>
                      <a:pt x="79" y="63"/>
                    </a:cubicBezTo>
                    <a:cubicBezTo>
                      <a:pt x="80" y="62"/>
                      <a:pt x="80" y="62"/>
                      <a:pt x="81" y="62"/>
                    </a:cubicBezTo>
                    <a:cubicBezTo>
                      <a:pt x="81" y="63"/>
                      <a:pt x="81" y="63"/>
                      <a:pt x="82" y="63"/>
                    </a:cubicBezTo>
                    <a:cubicBezTo>
                      <a:pt x="83" y="60"/>
                      <a:pt x="82" y="60"/>
                      <a:pt x="83" y="57"/>
                    </a:cubicBezTo>
                    <a:cubicBezTo>
                      <a:pt x="83" y="57"/>
                      <a:pt x="83" y="57"/>
                      <a:pt x="84" y="55"/>
                    </a:cubicBezTo>
                    <a:cubicBezTo>
                      <a:pt x="80" y="54"/>
                      <a:pt x="78" y="48"/>
                      <a:pt x="77" y="44"/>
                    </a:cubicBezTo>
                    <a:cubicBezTo>
                      <a:pt x="78" y="44"/>
                      <a:pt x="78" y="44"/>
                      <a:pt x="78" y="43"/>
                    </a:cubicBezTo>
                    <a:cubicBezTo>
                      <a:pt x="80" y="44"/>
                      <a:pt x="81" y="45"/>
                      <a:pt x="84" y="46"/>
                    </a:cubicBezTo>
                    <a:cubicBezTo>
                      <a:pt x="86" y="43"/>
                      <a:pt x="89" y="45"/>
                      <a:pt x="91" y="43"/>
                    </a:cubicBezTo>
                    <a:cubicBezTo>
                      <a:pt x="92" y="43"/>
                      <a:pt x="92" y="42"/>
                      <a:pt x="92" y="42"/>
                    </a:cubicBezTo>
                    <a:cubicBezTo>
                      <a:pt x="90" y="41"/>
                      <a:pt x="91" y="40"/>
                      <a:pt x="90" y="38"/>
                    </a:cubicBezTo>
                    <a:cubicBezTo>
                      <a:pt x="90" y="38"/>
                      <a:pt x="89" y="37"/>
                      <a:pt x="89" y="37"/>
                    </a:cubicBezTo>
                    <a:cubicBezTo>
                      <a:pt x="89" y="35"/>
                      <a:pt x="91" y="31"/>
                      <a:pt x="91" y="29"/>
                    </a:cubicBezTo>
                    <a:cubicBezTo>
                      <a:pt x="92" y="29"/>
                      <a:pt x="92" y="29"/>
                      <a:pt x="93" y="29"/>
                    </a:cubicBezTo>
                    <a:cubicBezTo>
                      <a:pt x="94" y="30"/>
                      <a:pt x="94" y="30"/>
                      <a:pt x="95" y="30"/>
                    </a:cubicBezTo>
                    <a:cubicBezTo>
                      <a:pt x="95" y="29"/>
                      <a:pt x="95" y="30"/>
                      <a:pt x="95" y="29"/>
                    </a:cubicBezTo>
                    <a:cubicBezTo>
                      <a:pt x="93" y="27"/>
                      <a:pt x="95" y="26"/>
                      <a:pt x="95" y="24"/>
                    </a:cubicBezTo>
                    <a:cubicBezTo>
                      <a:pt x="94" y="24"/>
                      <a:pt x="94" y="23"/>
                      <a:pt x="93" y="23"/>
                    </a:cubicBezTo>
                    <a:cubicBezTo>
                      <a:pt x="92" y="22"/>
                      <a:pt x="93" y="20"/>
                      <a:pt x="93" y="18"/>
                    </a:cubicBezTo>
                    <a:cubicBezTo>
                      <a:pt x="95" y="17"/>
                      <a:pt x="97" y="16"/>
                      <a:pt x="97" y="13"/>
                    </a:cubicBezTo>
                    <a:cubicBezTo>
                      <a:pt x="98" y="12"/>
                      <a:pt x="98" y="9"/>
                      <a:pt x="98" y="7"/>
                    </a:cubicBezTo>
                    <a:cubicBezTo>
                      <a:pt x="99" y="7"/>
                      <a:pt x="99" y="7"/>
                      <a:pt x="99" y="7"/>
                    </a:cubicBezTo>
                    <a:cubicBezTo>
                      <a:pt x="102" y="8"/>
                      <a:pt x="105" y="7"/>
                      <a:pt x="107" y="8"/>
                    </a:cubicBezTo>
                    <a:cubicBezTo>
                      <a:pt x="109" y="9"/>
                      <a:pt x="109" y="11"/>
                      <a:pt x="110" y="12"/>
                    </a:cubicBezTo>
                    <a:cubicBezTo>
                      <a:pt x="110" y="11"/>
                      <a:pt x="111" y="11"/>
                      <a:pt x="111" y="10"/>
                    </a:cubicBezTo>
                    <a:cubicBezTo>
                      <a:pt x="112" y="10"/>
                      <a:pt x="112" y="10"/>
                      <a:pt x="112" y="10"/>
                    </a:cubicBezTo>
                    <a:cubicBezTo>
                      <a:pt x="113" y="11"/>
                      <a:pt x="116" y="12"/>
                      <a:pt x="117" y="14"/>
                    </a:cubicBezTo>
                    <a:cubicBezTo>
                      <a:pt x="117" y="14"/>
                      <a:pt x="117" y="14"/>
                      <a:pt x="118" y="15"/>
                    </a:cubicBezTo>
                    <a:cubicBezTo>
                      <a:pt x="117" y="16"/>
                      <a:pt x="114" y="21"/>
                      <a:pt x="115" y="21"/>
                    </a:cubicBezTo>
                    <a:cubicBezTo>
                      <a:pt x="115" y="22"/>
                      <a:pt x="115" y="22"/>
                      <a:pt x="115" y="22"/>
                    </a:cubicBezTo>
                    <a:cubicBezTo>
                      <a:pt x="115" y="22"/>
                      <a:pt x="115" y="22"/>
                      <a:pt x="115" y="22"/>
                    </a:cubicBezTo>
                    <a:cubicBezTo>
                      <a:pt x="115" y="22"/>
                      <a:pt x="115" y="22"/>
                      <a:pt x="115" y="21"/>
                    </a:cubicBezTo>
                    <a:cubicBezTo>
                      <a:pt x="116" y="21"/>
                      <a:pt x="116" y="20"/>
                      <a:pt x="117" y="19"/>
                    </a:cubicBezTo>
                    <a:cubicBezTo>
                      <a:pt x="117" y="18"/>
                      <a:pt x="119" y="18"/>
                      <a:pt x="119" y="17"/>
                    </a:cubicBezTo>
                    <a:cubicBezTo>
                      <a:pt x="119" y="17"/>
                      <a:pt x="120" y="17"/>
                      <a:pt x="120" y="17"/>
                    </a:cubicBezTo>
                    <a:cubicBezTo>
                      <a:pt x="121" y="15"/>
                      <a:pt x="120" y="13"/>
                      <a:pt x="121" y="12"/>
                    </a:cubicBezTo>
                    <a:cubicBezTo>
                      <a:pt x="123" y="12"/>
                      <a:pt x="128" y="11"/>
                      <a:pt x="129" y="14"/>
                    </a:cubicBezTo>
                    <a:cubicBezTo>
                      <a:pt x="131" y="16"/>
                      <a:pt x="129" y="20"/>
                      <a:pt x="127" y="22"/>
                    </a:cubicBezTo>
                    <a:cubicBezTo>
                      <a:pt x="127" y="22"/>
                      <a:pt x="127" y="23"/>
                      <a:pt x="128" y="23"/>
                    </a:cubicBezTo>
                    <a:cubicBezTo>
                      <a:pt x="132" y="20"/>
                      <a:pt x="130" y="15"/>
                      <a:pt x="137" y="15"/>
                    </a:cubicBezTo>
                    <a:cubicBezTo>
                      <a:pt x="138" y="16"/>
                      <a:pt x="139" y="16"/>
                      <a:pt x="141" y="16"/>
                    </a:cubicBezTo>
                    <a:cubicBezTo>
                      <a:pt x="142" y="14"/>
                      <a:pt x="144" y="13"/>
                      <a:pt x="145" y="12"/>
                    </a:cubicBezTo>
                    <a:cubicBezTo>
                      <a:pt x="148" y="14"/>
                      <a:pt x="149" y="11"/>
                      <a:pt x="151" y="11"/>
                    </a:cubicBezTo>
                    <a:cubicBezTo>
                      <a:pt x="153" y="11"/>
                      <a:pt x="156" y="12"/>
                      <a:pt x="157" y="12"/>
                    </a:cubicBezTo>
                    <a:cubicBezTo>
                      <a:pt x="159" y="12"/>
                      <a:pt x="161" y="12"/>
                      <a:pt x="164" y="12"/>
                    </a:cubicBezTo>
                    <a:cubicBezTo>
                      <a:pt x="164" y="10"/>
                      <a:pt x="165" y="10"/>
                      <a:pt x="166" y="10"/>
                    </a:cubicBezTo>
                    <a:cubicBezTo>
                      <a:pt x="167" y="9"/>
                      <a:pt x="168" y="8"/>
                      <a:pt x="169" y="7"/>
                    </a:cubicBezTo>
                    <a:cubicBezTo>
                      <a:pt x="173" y="5"/>
                      <a:pt x="180" y="7"/>
                      <a:pt x="185" y="8"/>
                    </a:cubicBezTo>
                    <a:cubicBezTo>
                      <a:pt x="185" y="7"/>
                      <a:pt x="185" y="7"/>
                      <a:pt x="185" y="7"/>
                    </a:cubicBezTo>
                    <a:cubicBezTo>
                      <a:pt x="184" y="6"/>
                      <a:pt x="183" y="5"/>
                      <a:pt x="183" y="3"/>
                    </a:cubicBezTo>
                    <a:cubicBezTo>
                      <a:pt x="184" y="2"/>
                      <a:pt x="185" y="1"/>
                      <a:pt x="187" y="0"/>
                    </a:cubicBezTo>
                    <a:cubicBezTo>
                      <a:pt x="187" y="0"/>
                      <a:pt x="187" y="0"/>
                      <a:pt x="187" y="0"/>
                    </a:cubicBezTo>
                    <a:cubicBezTo>
                      <a:pt x="188" y="2"/>
                      <a:pt x="187" y="3"/>
                      <a:pt x="189" y="4"/>
                    </a:cubicBezTo>
                    <a:cubicBezTo>
                      <a:pt x="189" y="3"/>
                      <a:pt x="190" y="2"/>
                      <a:pt x="190" y="2"/>
                    </a:cubicBezTo>
                    <a:cubicBezTo>
                      <a:pt x="192" y="2"/>
                      <a:pt x="193" y="3"/>
                      <a:pt x="195" y="3"/>
                    </a:cubicBezTo>
                    <a:cubicBezTo>
                      <a:pt x="196" y="2"/>
                      <a:pt x="197" y="1"/>
                      <a:pt x="199" y="1"/>
                    </a:cubicBezTo>
                    <a:cubicBezTo>
                      <a:pt x="200" y="2"/>
                      <a:pt x="200" y="2"/>
                      <a:pt x="202" y="2"/>
                    </a:cubicBezTo>
                    <a:cubicBezTo>
                      <a:pt x="202" y="2"/>
                      <a:pt x="202" y="2"/>
                      <a:pt x="203" y="2"/>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6" name="Freeform 16">
                <a:extLst>
                  <a:ext uri="{FF2B5EF4-FFF2-40B4-BE49-F238E27FC236}">
                    <a16:creationId xmlns:a16="http://schemas.microsoft.com/office/drawing/2014/main" id="{6B89CCD2-72C4-434C-98B9-A0902553F630}"/>
                  </a:ext>
                </a:extLst>
              </p:cNvPr>
              <p:cNvSpPr>
                <a:spLocks/>
              </p:cNvSpPr>
              <p:nvPr/>
            </p:nvSpPr>
            <p:spPr bwMode="auto">
              <a:xfrm>
                <a:off x="-1555750" y="4006851"/>
                <a:ext cx="211138" cy="298450"/>
              </a:xfrm>
              <a:custGeom>
                <a:avLst/>
                <a:gdLst>
                  <a:gd name="T0" fmla="*/ 4 w 56"/>
                  <a:gd name="T1" fmla="*/ 69 h 79"/>
                  <a:gd name="T2" fmla="*/ 11 w 56"/>
                  <a:gd name="T3" fmla="*/ 62 h 79"/>
                  <a:gd name="T4" fmla="*/ 10 w 56"/>
                  <a:gd name="T5" fmla="*/ 56 h 79"/>
                  <a:gd name="T6" fmla="*/ 3 w 56"/>
                  <a:gd name="T7" fmla="*/ 53 h 79"/>
                  <a:gd name="T8" fmla="*/ 0 w 56"/>
                  <a:gd name="T9" fmla="*/ 48 h 79"/>
                  <a:gd name="T10" fmla="*/ 3 w 56"/>
                  <a:gd name="T11" fmla="*/ 50 h 79"/>
                  <a:gd name="T12" fmla="*/ 4 w 56"/>
                  <a:gd name="T13" fmla="*/ 51 h 79"/>
                  <a:gd name="T14" fmla="*/ 6 w 56"/>
                  <a:gd name="T15" fmla="*/ 46 h 79"/>
                  <a:gd name="T16" fmla="*/ 4 w 56"/>
                  <a:gd name="T17" fmla="*/ 32 h 79"/>
                  <a:gd name="T18" fmla="*/ 7 w 56"/>
                  <a:gd name="T19" fmla="*/ 31 h 79"/>
                  <a:gd name="T20" fmla="*/ 14 w 56"/>
                  <a:gd name="T21" fmla="*/ 31 h 79"/>
                  <a:gd name="T22" fmla="*/ 15 w 56"/>
                  <a:gd name="T23" fmla="*/ 34 h 79"/>
                  <a:gd name="T24" fmla="*/ 15 w 56"/>
                  <a:gd name="T25" fmla="*/ 26 h 79"/>
                  <a:gd name="T26" fmla="*/ 19 w 56"/>
                  <a:gd name="T27" fmla="*/ 27 h 79"/>
                  <a:gd name="T28" fmla="*/ 34 w 56"/>
                  <a:gd name="T29" fmla="*/ 14 h 79"/>
                  <a:gd name="T30" fmla="*/ 47 w 56"/>
                  <a:gd name="T31" fmla="*/ 3 h 79"/>
                  <a:gd name="T32" fmla="*/ 53 w 56"/>
                  <a:gd name="T33" fmla="*/ 2 h 79"/>
                  <a:gd name="T34" fmla="*/ 53 w 56"/>
                  <a:gd name="T35" fmla="*/ 15 h 79"/>
                  <a:gd name="T36" fmla="*/ 50 w 56"/>
                  <a:gd name="T37" fmla="*/ 20 h 79"/>
                  <a:gd name="T38" fmla="*/ 49 w 56"/>
                  <a:gd name="T39" fmla="*/ 24 h 79"/>
                  <a:gd name="T40" fmla="*/ 46 w 56"/>
                  <a:gd name="T41" fmla="*/ 30 h 79"/>
                  <a:gd name="T42" fmla="*/ 53 w 56"/>
                  <a:gd name="T43" fmla="*/ 26 h 79"/>
                  <a:gd name="T44" fmla="*/ 56 w 56"/>
                  <a:gd name="T45" fmla="*/ 27 h 79"/>
                  <a:gd name="T46" fmla="*/ 52 w 56"/>
                  <a:gd name="T47" fmla="*/ 35 h 79"/>
                  <a:gd name="T48" fmla="*/ 43 w 56"/>
                  <a:gd name="T49" fmla="*/ 34 h 79"/>
                  <a:gd name="T50" fmla="*/ 41 w 56"/>
                  <a:gd name="T51" fmla="*/ 40 h 79"/>
                  <a:gd name="T52" fmla="*/ 39 w 56"/>
                  <a:gd name="T53" fmla="*/ 53 h 79"/>
                  <a:gd name="T54" fmla="*/ 33 w 56"/>
                  <a:gd name="T55" fmla="*/ 61 h 79"/>
                  <a:gd name="T56" fmla="*/ 26 w 56"/>
                  <a:gd name="T57" fmla="*/ 63 h 79"/>
                  <a:gd name="T58" fmla="*/ 27 w 56"/>
                  <a:gd name="T59" fmla="*/ 67 h 79"/>
                  <a:gd name="T60" fmla="*/ 23 w 56"/>
                  <a:gd name="T61" fmla="*/ 69 h 79"/>
                  <a:gd name="T62" fmla="*/ 20 w 56"/>
                  <a:gd name="T63" fmla="*/ 71 h 79"/>
                  <a:gd name="T64" fmla="*/ 13 w 56"/>
                  <a:gd name="T65" fmla="*/ 78 h 79"/>
                  <a:gd name="T66" fmla="*/ 7 w 56"/>
                  <a:gd name="T67" fmla="*/ 76 h 79"/>
                  <a:gd name="T68" fmla="*/ 2 w 56"/>
                  <a:gd name="T69" fmla="*/ 6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79">
                    <a:moveTo>
                      <a:pt x="2" y="68"/>
                    </a:moveTo>
                    <a:cubicBezTo>
                      <a:pt x="3" y="68"/>
                      <a:pt x="4" y="69"/>
                      <a:pt x="4" y="69"/>
                    </a:cubicBezTo>
                    <a:cubicBezTo>
                      <a:pt x="6" y="68"/>
                      <a:pt x="10" y="64"/>
                      <a:pt x="11" y="63"/>
                    </a:cubicBezTo>
                    <a:cubicBezTo>
                      <a:pt x="10" y="63"/>
                      <a:pt x="10" y="63"/>
                      <a:pt x="11" y="62"/>
                    </a:cubicBezTo>
                    <a:cubicBezTo>
                      <a:pt x="12" y="61"/>
                      <a:pt x="14" y="61"/>
                      <a:pt x="15" y="59"/>
                    </a:cubicBezTo>
                    <a:cubicBezTo>
                      <a:pt x="13" y="59"/>
                      <a:pt x="12" y="57"/>
                      <a:pt x="10" y="56"/>
                    </a:cubicBezTo>
                    <a:cubicBezTo>
                      <a:pt x="9" y="56"/>
                      <a:pt x="8" y="56"/>
                      <a:pt x="7" y="56"/>
                    </a:cubicBezTo>
                    <a:cubicBezTo>
                      <a:pt x="7" y="56"/>
                      <a:pt x="3" y="53"/>
                      <a:pt x="3" y="53"/>
                    </a:cubicBezTo>
                    <a:cubicBezTo>
                      <a:pt x="3" y="52"/>
                      <a:pt x="3" y="52"/>
                      <a:pt x="3" y="51"/>
                    </a:cubicBezTo>
                    <a:cubicBezTo>
                      <a:pt x="2" y="50"/>
                      <a:pt x="0" y="50"/>
                      <a:pt x="0" y="48"/>
                    </a:cubicBezTo>
                    <a:cubicBezTo>
                      <a:pt x="0" y="48"/>
                      <a:pt x="1" y="48"/>
                      <a:pt x="2" y="47"/>
                    </a:cubicBezTo>
                    <a:cubicBezTo>
                      <a:pt x="3" y="48"/>
                      <a:pt x="3" y="48"/>
                      <a:pt x="3" y="50"/>
                    </a:cubicBezTo>
                    <a:cubicBezTo>
                      <a:pt x="3" y="51"/>
                      <a:pt x="3" y="50"/>
                      <a:pt x="3" y="51"/>
                    </a:cubicBezTo>
                    <a:cubicBezTo>
                      <a:pt x="4" y="51"/>
                      <a:pt x="4" y="51"/>
                      <a:pt x="4" y="51"/>
                    </a:cubicBezTo>
                    <a:cubicBezTo>
                      <a:pt x="5" y="50"/>
                      <a:pt x="6" y="49"/>
                      <a:pt x="6" y="47"/>
                    </a:cubicBezTo>
                    <a:cubicBezTo>
                      <a:pt x="6" y="47"/>
                      <a:pt x="6" y="47"/>
                      <a:pt x="6" y="46"/>
                    </a:cubicBezTo>
                    <a:cubicBezTo>
                      <a:pt x="5" y="45"/>
                      <a:pt x="4" y="45"/>
                      <a:pt x="3" y="43"/>
                    </a:cubicBezTo>
                    <a:cubicBezTo>
                      <a:pt x="1" y="40"/>
                      <a:pt x="3" y="35"/>
                      <a:pt x="4" y="32"/>
                    </a:cubicBezTo>
                    <a:cubicBezTo>
                      <a:pt x="5" y="33"/>
                      <a:pt x="5" y="33"/>
                      <a:pt x="6" y="33"/>
                    </a:cubicBezTo>
                    <a:cubicBezTo>
                      <a:pt x="7" y="32"/>
                      <a:pt x="7" y="32"/>
                      <a:pt x="7" y="31"/>
                    </a:cubicBezTo>
                    <a:cubicBezTo>
                      <a:pt x="6" y="30"/>
                      <a:pt x="7" y="27"/>
                      <a:pt x="8" y="27"/>
                    </a:cubicBezTo>
                    <a:cubicBezTo>
                      <a:pt x="10" y="29"/>
                      <a:pt x="13" y="28"/>
                      <a:pt x="14" y="31"/>
                    </a:cubicBezTo>
                    <a:cubicBezTo>
                      <a:pt x="13" y="32"/>
                      <a:pt x="14" y="33"/>
                      <a:pt x="15" y="34"/>
                    </a:cubicBezTo>
                    <a:cubicBezTo>
                      <a:pt x="15" y="34"/>
                      <a:pt x="15" y="34"/>
                      <a:pt x="15" y="34"/>
                    </a:cubicBezTo>
                    <a:cubicBezTo>
                      <a:pt x="17" y="33"/>
                      <a:pt x="17" y="32"/>
                      <a:pt x="17" y="30"/>
                    </a:cubicBezTo>
                    <a:cubicBezTo>
                      <a:pt x="16" y="29"/>
                      <a:pt x="16" y="28"/>
                      <a:pt x="15" y="26"/>
                    </a:cubicBezTo>
                    <a:cubicBezTo>
                      <a:pt x="16" y="26"/>
                      <a:pt x="16" y="26"/>
                      <a:pt x="17" y="26"/>
                    </a:cubicBezTo>
                    <a:cubicBezTo>
                      <a:pt x="18" y="26"/>
                      <a:pt x="19" y="28"/>
                      <a:pt x="19" y="27"/>
                    </a:cubicBezTo>
                    <a:cubicBezTo>
                      <a:pt x="20" y="26"/>
                      <a:pt x="19" y="23"/>
                      <a:pt x="20" y="22"/>
                    </a:cubicBezTo>
                    <a:cubicBezTo>
                      <a:pt x="21" y="20"/>
                      <a:pt x="31" y="15"/>
                      <a:pt x="34" y="14"/>
                    </a:cubicBezTo>
                    <a:cubicBezTo>
                      <a:pt x="34" y="13"/>
                      <a:pt x="34" y="13"/>
                      <a:pt x="34" y="12"/>
                    </a:cubicBezTo>
                    <a:cubicBezTo>
                      <a:pt x="39" y="10"/>
                      <a:pt x="43" y="7"/>
                      <a:pt x="47" y="3"/>
                    </a:cubicBezTo>
                    <a:cubicBezTo>
                      <a:pt x="48" y="2"/>
                      <a:pt x="48" y="1"/>
                      <a:pt x="51" y="0"/>
                    </a:cubicBezTo>
                    <a:cubicBezTo>
                      <a:pt x="51" y="1"/>
                      <a:pt x="52" y="2"/>
                      <a:pt x="53" y="2"/>
                    </a:cubicBezTo>
                    <a:cubicBezTo>
                      <a:pt x="53" y="4"/>
                      <a:pt x="55" y="8"/>
                      <a:pt x="55" y="10"/>
                    </a:cubicBezTo>
                    <a:cubicBezTo>
                      <a:pt x="54" y="11"/>
                      <a:pt x="52" y="14"/>
                      <a:pt x="53" y="15"/>
                    </a:cubicBezTo>
                    <a:cubicBezTo>
                      <a:pt x="54" y="16"/>
                      <a:pt x="54" y="17"/>
                      <a:pt x="54" y="19"/>
                    </a:cubicBezTo>
                    <a:cubicBezTo>
                      <a:pt x="53" y="19"/>
                      <a:pt x="52" y="20"/>
                      <a:pt x="50" y="20"/>
                    </a:cubicBezTo>
                    <a:cubicBezTo>
                      <a:pt x="51" y="21"/>
                      <a:pt x="52" y="22"/>
                      <a:pt x="51" y="22"/>
                    </a:cubicBezTo>
                    <a:cubicBezTo>
                      <a:pt x="51" y="24"/>
                      <a:pt x="50" y="24"/>
                      <a:pt x="49" y="24"/>
                    </a:cubicBezTo>
                    <a:cubicBezTo>
                      <a:pt x="48" y="26"/>
                      <a:pt x="48" y="28"/>
                      <a:pt x="45" y="29"/>
                    </a:cubicBezTo>
                    <a:cubicBezTo>
                      <a:pt x="46" y="29"/>
                      <a:pt x="46" y="29"/>
                      <a:pt x="46" y="30"/>
                    </a:cubicBezTo>
                    <a:cubicBezTo>
                      <a:pt x="47" y="30"/>
                      <a:pt x="47" y="30"/>
                      <a:pt x="49" y="31"/>
                    </a:cubicBezTo>
                    <a:cubicBezTo>
                      <a:pt x="50" y="29"/>
                      <a:pt x="52" y="27"/>
                      <a:pt x="53" y="26"/>
                    </a:cubicBezTo>
                    <a:cubicBezTo>
                      <a:pt x="55" y="26"/>
                      <a:pt x="55" y="26"/>
                      <a:pt x="56" y="26"/>
                    </a:cubicBezTo>
                    <a:cubicBezTo>
                      <a:pt x="56" y="26"/>
                      <a:pt x="56" y="26"/>
                      <a:pt x="56" y="27"/>
                    </a:cubicBezTo>
                    <a:cubicBezTo>
                      <a:pt x="54" y="28"/>
                      <a:pt x="56" y="28"/>
                      <a:pt x="55" y="31"/>
                    </a:cubicBezTo>
                    <a:cubicBezTo>
                      <a:pt x="55" y="32"/>
                      <a:pt x="53" y="34"/>
                      <a:pt x="52" y="35"/>
                    </a:cubicBezTo>
                    <a:cubicBezTo>
                      <a:pt x="48" y="35"/>
                      <a:pt x="47" y="33"/>
                      <a:pt x="44" y="33"/>
                    </a:cubicBezTo>
                    <a:cubicBezTo>
                      <a:pt x="44" y="33"/>
                      <a:pt x="44" y="33"/>
                      <a:pt x="43" y="34"/>
                    </a:cubicBezTo>
                    <a:cubicBezTo>
                      <a:pt x="44" y="35"/>
                      <a:pt x="43" y="38"/>
                      <a:pt x="43" y="39"/>
                    </a:cubicBezTo>
                    <a:cubicBezTo>
                      <a:pt x="42" y="39"/>
                      <a:pt x="41" y="40"/>
                      <a:pt x="41" y="40"/>
                    </a:cubicBezTo>
                    <a:cubicBezTo>
                      <a:pt x="43" y="44"/>
                      <a:pt x="43" y="46"/>
                      <a:pt x="42" y="51"/>
                    </a:cubicBezTo>
                    <a:cubicBezTo>
                      <a:pt x="42" y="52"/>
                      <a:pt x="39" y="53"/>
                      <a:pt x="39" y="53"/>
                    </a:cubicBezTo>
                    <a:cubicBezTo>
                      <a:pt x="38" y="54"/>
                      <a:pt x="38" y="57"/>
                      <a:pt x="37" y="58"/>
                    </a:cubicBezTo>
                    <a:cubicBezTo>
                      <a:pt x="36" y="59"/>
                      <a:pt x="34" y="61"/>
                      <a:pt x="33" y="61"/>
                    </a:cubicBezTo>
                    <a:cubicBezTo>
                      <a:pt x="31" y="61"/>
                      <a:pt x="28" y="60"/>
                      <a:pt x="27" y="60"/>
                    </a:cubicBezTo>
                    <a:cubicBezTo>
                      <a:pt x="26" y="61"/>
                      <a:pt x="26" y="62"/>
                      <a:pt x="26" y="63"/>
                    </a:cubicBezTo>
                    <a:cubicBezTo>
                      <a:pt x="26" y="63"/>
                      <a:pt x="27" y="65"/>
                      <a:pt x="27" y="67"/>
                    </a:cubicBezTo>
                    <a:cubicBezTo>
                      <a:pt x="27" y="67"/>
                      <a:pt x="27" y="67"/>
                      <a:pt x="27" y="67"/>
                    </a:cubicBezTo>
                    <a:cubicBezTo>
                      <a:pt x="26" y="67"/>
                      <a:pt x="25" y="66"/>
                      <a:pt x="24" y="66"/>
                    </a:cubicBezTo>
                    <a:cubicBezTo>
                      <a:pt x="23" y="67"/>
                      <a:pt x="23" y="68"/>
                      <a:pt x="23" y="69"/>
                    </a:cubicBezTo>
                    <a:cubicBezTo>
                      <a:pt x="23" y="69"/>
                      <a:pt x="22" y="69"/>
                      <a:pt x="21" y="69"/>
                    </a:cubicBezTo>
                    <a:cubicBezTo>
                      <a:pt x="21" y="70"/>
                      <a:pt x="20" y="71"/>
                      <a:pt x="20" y="71"/>
                    </a:cubicBezTo>
                    <a:cubicBezTo>
                      <a:pt x="18" y="72"/>
                      <a:pt x="17" y="71"/>
                      <a:pt x="16" y="73"/>
                    </a:cubicBezTo>
                    <a:cubicBezTo>
                      <a:pt x="15" y="75"/>
                      <a:pt x="15" y="77"/>
                      <a:pt x="13" y="78"/>
                    </a:cubicBezTo>
                    <a:cubicBezTo>
                      <a:pt x="11" y="77"/>
                      <a:pt x="11" y="79"/>
                      <a:pt x="9" y="79"/>
                    </a:cubicBezTo>
                    <a:cubicBezTo>
                      <a:pt x="8" y="78"/>
                      <a:pt x="8" y="78"/>
                      <a:pt x="7" y="76"/>
                    </a:cubicBezTo>
                    <a:cubicBezTo>
                      <a:pt x="7" y="76"/>
                      <a:pt x="6" y="76"/>
                      <a:pt x="5" y="75"/>
                    </a:cubicBezTo>
                    <a:cubicBezTo>
                      <a:pt x="3" y="74"/>
                      <a:pt x="2" y="70"/>
                      <a:pt x="2" y="68"/>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87" name="Freeform 17">
                <a:extLst>
                  <a:ext uri="{FF2B5EF4-FFF2-40B4-BE49-F238E27FC236}">
                    <a16:creationId xmlns:a16="http://schemas.microsoft.com/office/drawing/2014/main" id="{FA2F7DD6-340D-4F85-8C77-0228AC654DE1}"/>
                  </a:ext>
                </a:extLst>
              </p:cNvPr>
              <p:cNvSpPr>
                <a:spLocks/>
              </p:cNvSpPr>
              <p:nvPr/>
            </p:nvSpPr>
            <p:spPr bwMode="auto">
              <a:xfrm>
                <a:off x="-1223963" y="4221163"/>
                <a:ext cx="7938" cy="11113"/>
              </a:xfrm>
              <a:custGeom>
                <a:avLst/>
                <a:gdLst>
                  <a:gd name="T0" fmla="*/ 0 w 2"/>
                  <a:gd name="T1" fmla="*/ 0 h 3"/>
                  <a:gd name="T2" fmla="*/ 1 w 2"/>
                  <a:gd name="T3" fmla="*/ 0 h 3"/>
                  <a:gd name="T4" fmla="*/ 2 w 2"/>
                  <a:gd name="T5" fmla="*/ 2 h 3"/>
                  <a:gd name="T6" fmla="*/ 0 w 2"/>
                  <a:gd name="T7" fmla="*/ 3 h 3"/>
                  <a:gd name="T8" fmla="*/ 0 w 2"/>
                  <a:gd name="T9" fmla="*/ 0 h 3"/>
                </a:gdLst>
                <a:ahLst/>
                <a:cxnLst>
                  <a:cxn ang="0">
                    <a:pos x="T0" y="T1"/>
                  </a:cxn>
                  <a:cxn ang="0">
                    <a:pos x="T2" y="T3"/>
                  </a:cxn>
                  <a:cxn ang="0">
                    <a:pos x="T4" y="T5"/>
                  </a:cxn>
                  <a:cxn ang="0">
                    <a:pos x="T6" y="T7"/>
                  </a:cxn>
                  <a:cxn ang="0">
                    <a:pos x="T8" y="T9"/>
                  </a:cxn>
                </a:cxnLst>
                <a:rect l="0" t="0" r="r" b="b"/>
                <a:pathLst>
                  <a:path w="2" h="3">
                    <a:moveTo>
                      <a:pt x="0" y="0"/>
                    </a:moveTo>
                    <a:cubicBezTo>
                      <a:pt x="1" y="0"/>
                      <a:pt x="1" y="0"/>
                      <a:pt x="1" y="0"/>
                    </a:cubicBezTo>
                    <a:cubicBezTo>
                      <a:pt x="2" y="1"/>
                      <a:pt x="2" y="1"/>
                      <a:pt x="2" y="2"/>
                    </a:cubicBezTo>
                    <a:cubicBezTo>
                      <a:pt x="1" y="2"/>
                      <a:pt x="1" y="2"/>
                      <a:pt x="0" y="3"/>
                    </a:cubicBezTo>
                    <a:cubicBezTo>
                      <a:pt x="0" y="1"/>
                      <a:pt x="0" y="2"/>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99" name="Freeform 18">
                <a:extLst>
                  <a:ext uri="{FF2B5EF4-FFF2-40B4-BE49-F238E27FC236}">
                    <a16:creationId xmlns:a16="http://schemas.microsoft.com/office/drawing/2014/main" id="{83BFF39C-D2D1-480E-AA71-79AD81F67104}"/>
                  </a:ext>
                </a:extLst>
              </p:cNvPr>
              <p:cNvSpPr>
                <a:spLocks/>
              </p:cNvSpPr>
              <p:nvPr/>
            </p:nvSpPr>
            <p:spPr bwMode="auto">
              <a:xfrm>
                <a:off x="-1539875" y="4229101"/>
                <a:ext cx="19050" cy="15875"/>
              </a:xfrm>
              <a:custGeom>
                <a:avLst/>
                <a:gdLst>
                  <a:gd name="T0" fmla="*/ 2 w 5"/>
                  <a:gd name="T1" fmla="*/ 0 h 4"/>
                  <a:gd name="T2" fmla="*/ 4 w 5"/>
                  <a:gd name="T3" fmla="*/ 0 h 4"/>
                  <a:gd name="T4" fmla="*/ 4 w 5"/>
                  <a:gd name="T5" fmla="*/ 1 h 4"/>
                  <a:gd name="T6" fmla="*/ 5 w 5"/>
                  <a:gd name="T7" fmla="*/ 4 h 4"/>
                  <a:gd name="T8" fmla="*/ 4 w 5"/>
                  <a:gd name="T9" fmla="*/ 4 h 4"/>
                  <a:gd name="T10" fmla="*/ 1 w 5"/>
                  <a:gd name="T11" fmla="*/ 4 h 4"/>
                  <a:gd name="T12" fmla="*/ 0 w 5"/>
                  <a:gd name="T13" fmla="*/ 3 h 4"/>
                  <a:gd name="T14" fmla="*/ 2 w 5"/>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0"/>
                    </a:moveTo>
                    <a:cubicBezTo>
                      <a:pt x="3" y="0"/>
                      <a:pt x="4" y="0"/>
                      <a:pt x="4" y="0"/>
                    </a:cubicBezTo>
                    <a:cubicBezTo>
                      <a:pt x="4" y="1"/>
                      <a:pt x="4" y="1"/>
                      <a:pt x="4" y="1"/>
                    </a:cubicBezTo>
                    <a:cubicBezTo>
                      <a:pt x="5" y="2"/>
                      <a:pt x="5" y="3"/>
                      <a:pt x="5" y="4"/>
                    </a:cubicBezTo>
                    <a:cubicBezTo>
                      <a:pt x="4" y="4"/>
                      <a:pt x="4" y="4"/>
                      <a:pt x="4" y="4"/>
                    </a:cubicBezTo>
                    <a:cubicBezTo>
                      <a:pt x="3" y="4"/>
                      <a:pt x="1" y="4"/>
                      <a:pt x="1" y="4"/>
                    </a:cubicBezTo>
                    <a:cubicBezTo>
                      <a:pt x="1" y="4"/>
                      <a:pt x="1" y="3"/>
                      <a:pt x="0" y="3"/>
                    </a:cubicBezTo>
                    <a:cubicBezTo>
                      <a:pt x="1" y="2"/>
                      <a:pt x="2" y="1"/>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0" name="Freeform 19">
                <a:extLst>
                  <a:ext uri="{FF2B5EF4-FFF2-40B4-BE49-F238E27FC236}">
                    <a16:creationId xmlns:a16="http://schemas.microsoft.com/office/drawing/2014/main" id="{178C9D09-2C25-400D-B9DE-B348B69DCBFF}"/>
                  </a:ext>
                </a:extLst>
              </p:cNvPr>
              <p:cNvSpPr>
                <a:spLocks/>
              </p:cNvSpPr>
              <p:nvPr/>
            </p:nvSpPr>
            <p:spPr bwMode="auto">
              <a:xfrm>
                <a:off x="-1400175" y="4244976"/>
                <a:ext cx="6350" cy="3175"/>
              </a:xfrm>
              <a:custGeom>
                <a:avLst/>
                <a:gdLst>
                  <a:gd name="T0" fmla="*/ 0 w 2"/>
                  <a:gd name="T1" fmla="*/ 1 h 1"/>
                  <a:gd name="T2" fmla="*/ 1 w 2"/>
                  <a:gd name="T3" fmla="*/ 0 h 1"/>
                  <a:gd name="T4" fmla="*/ 1 w 2"/>
                  <a:gd name="T5" fmla="*/ 0 h 1"/>
                  <a:gd name="T6" fmla="*/ 2 w 2"/>
                  <a:gd name="T7" fmla="*/ 0 h 1"/>
                  <a:gd name="T8" fmla="*/ 2 w 2"/>
                  <a:gd name="T9" fmla="*/ 1 h 1"/>
                  <a:gd name="T10" fmla="*/ 0 w 2"/>
                  <a:gd name="T11" fmla="*/ 1 h 1"/>
                </a:gdLst>
                <a:ahLst/>
                <a:cxnLst>
                  <a:cxn ang="0">
                    <a:pos x="T0" y="T1"/>
                  </a:cxn>
                  <a:cxn ang="0">
                    <a:pos x="T2" y="T3"/>
                  </a:cxn>
                  <a:cxn ang="0">
                    <a:pos x="T4" y="T5"/>
                  </a:cxn>
                  <a:cxn ang="0">
                    <a:pos x="T6" y="T7"/>
                  </a:cxn>
                  <a:cxn ang="0">
                    <a:pos x="T8" y="T9"/>
                  </a:cxn>
                  <a:cxn ang="0">
                    <a:pos x="T10" y="T11"/>
                  </a:cxn>
                </a:cxnLst>
                <a:rect l="0" t="0" r="r" b="b"/>
                <a:pathLst>
                  <a:path w="2" h="1">
                    <a:moveTo>
                      <a:pt x="0" y="1"/>
                    </a:moveTo>
                    <a:cubicBezTo>
                      <a:pt x="1" y="0"/>
                      <a:pt x="1" y="0"/>
                      <a:pt x="1" y="0"/>
                    </a:cubicBezTo>
                    <a:cubicBezTo>
                      <a:pt x="1" y="0"/>
                      <a:pt x="1" y="0"/>
                      <a:pt x="1" y="0"/>
                    </a:cubicBezTo>
                    <a:cubicBezTo>
                      <a:pt x="2" y="0"/>
                      <a:pt x="2" y="0"/>
                      <a:pt x="2" y="0"/>
                    </a:cubicBezTo>
                    <a:cubicBezTo>
                      <a:pt x="2" y="1"/>
                      <a:pt x="2" y="0"/>
                      <a:pt x="2" y="1"/>
                    </a:cubicBezTo>
                    <a:cubicBezTo>
                      <a:pt x="1" y="1"/>
                      <a:pt x="1" y="1"/>
                      <a:pt x="0" y="1"/>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1" name="Freeform 20">
                <a:extLst>
                  <a:ext uri="{FF2B5EF4-FFF2-40B4-BE49-F238E27FC236}">
                    <a16:creationId xmlns:a16="http://schemas.microsoft.com/office/drawing/2014/main" id="{EB1CD167-E5CB-4948-926B-7D69A544E29C}"/>
                  </a:ext>
                </a:extLst>
              </p:cNvPr>
              <p:cNvSpPr>
                <a:spLocks/>
              </p:cNvSpPr>
              <p:nvPr/>
            </p:nvSpPr>
            <p:spPr bwMode="auto">
              <a:xfrm>
                <a:off x="-1581150" y="4281488"/>
                <a:ext cx="14288" cy="7938"/>
              </a:xfrm>
              <a:custGeom>
                <a:avLst/>
                <a:gdLst>
                  <a:gd name="T0" fmla="*/ 1 w 4"/>
                  <a:gd name="T1" fmla="*/ 0 h 2"/>
                  <a:gd name="T2" fmla="*/ 4 w 4"/>
                  <a:gd name="T3" fmla="*/ 0 h 2"/>
                  <a:gd name="T4" fmla="*/ 4 w 4"/>
                  <a:gd name="T5" fmla="*/ 1 h 2"/>
                  <a:gd name="T6" fmla="*/ 4 w 4"/>
                  <a:gd name="T7" fmla="*/ 2 h 2"/>
                  <a:gd name="T8" fmla="*/ 1 w 4"/>
                  <a:gd name="T9" fmla="*/ 2 h 2"/>
                  <a:gd name="T10" fmla="*/ 1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1" y="0"/>
                    </a:moveTo>
                    <a:cubicBezTo>
                      <a:pt x="2" y="0"/>
                      <a:pt x="3" y="0"/>
                      <a:pt x="4" y="0"/>
                    </a:cubicBezTo>
                    <a:cubicBezTo>
                      <a:pt x="4" y="1"/>
                      <a:pt x="4" y="1"/>
                      <a:pt x="4" y="1"/>
                    </a:cubicBezTo>
                    <a:cubicBezTo>
                      <a:pt x="4" y="2"/>
                      <a:pt x="4" y="2"/>
                      <a:pt x="4" y="2"/>
                    </a:cubicBezTo>
                    <a:cubicBezTo>
                      <a:pt x="3" y="2"/>
                      <a:pt x="2" y="2"/>
                      <a:pt x="1" y="2"/>
                    </a:cubicBezTo>
                    <a:cubicBezTo>
                      <a:pt x="0" y="1"/>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2" name="Freeform 21">
                <a:extLst>
                  <a:ext uri="{FF2B5EF4-FFF2-40B4-BE49-F238E27FC236}">
                    <a16:creationId xmlns:a16="http://schemas.microsoft.com/office/drawing/2014/main" id="{0943A296-B0E4-4EA0-A076-199168AAC484}"/>
                  </a:ext>
                </a:extLst>
              </p:cNvPr>
              <p:cNvSpPr>
                <a:spLocks/>
              </p:cNvSpPr>
              <p:nvPr/>
            </p:nvSpPr>
            <p:spPr bwMode="auto">
              <a:xfrm>
                <a:off x="-1570038" y="4297363"/>
                <a:ext cx="14288" cy="14288"/>
              </a:xfrm>
              <a:custGeom>
                <a:avLst/>
                <a:gdLst>
                  <a:gd name="T0" fmla="*/ 3 w 4"/>
                  <a:gd name="T1" fmla="*/ 0 h 4"/>
                  <a:gd name="T2" fmla="*/ 4 w 4"/>
                  <a:gd name="T3" fmla="*/ 2 h 4"/>
                  <a:gd name="T4" fmla="*/ 1 w 4"/>
                  <a:gd name="T5" fmla="*/ 4 h 4"/>
                  <a:gd name="T6" fmla="*/ 0 w 4"/>
                  <a:gd name="T7" fmla="*/ 2 h 4"/>
                  <a:gd name="T8" fmla="*/ 3 w 4"/>
                  <a:gd name="T9" fmla="*/ 0 h 4"/>
                </a:gdLst>
                <a:ahLst/>
                <a:cxnLst>
                  <a:cxn ang="0">
                    <a:pos x="T0" y="T1"/>
                  </a:cxn>
                  <a:cxn ang="0">
                    <a:pos x="T2" y="T3"/>
                  </a:cxn>
                  <a:cxn ang="0">
                    <a:pos x="T4" y="T5"/>
                  </a:cxn>
                  <a:cxn ang="0">
                    <a:pos x="T6" y="T7"/>
                  </a:cxn>
                  <a:cxn ang="0">
                    <a:pos x="T8" y="T9"/>
                  </a:cxn>
                </a:cxnLst>
                <a:rect l="0" t="0" r="r" b="b"/>
                <a:pathLst>
                  <a:path w="4" h="4">
                    <a:moveTo>
                      <a:pt x="3" y="0"/>
                    </a:moveTo>
                    <a:cubicBezTo>
                      <a:pt x="4" y="1"/>
                      <a:pt x="4" y="1"/>
                      <a:pt x="4" y="2"/>
                    </a:cubicBezTo>
                    <a:cubicBezTo>
                      <a:pt x="3" y="3"/>
                      <a:pt x="2" y="4"/>
                      <a:pt x="1" y="4"/>
                    </a:cubicBezTo>
                    <a:cubicBezTo>
                      <a:pt x="0" y="3"/>
                      <a:pt x="0" y="3"/>
                      <a:pt x="0" y="2"/>
                    </a:cubicBezTo>
                    <a:cubicBezTo>
                      <a:pt x="1" y="2"/>
                      <a:pt x="2" y="1"/>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3" name="Freeform 22">
                <a:extLst>
                  <a:ext uri="{FF2B5EF4-FFF2-40B4-BE49-F238E27FC236}">
                    <a16:creationId xmlns:a16="http://schemas.microsoft.com/office/drawing/2014/main" id="{65A2A50C-9E3F-4B8C-A9BC-2E7C06EC8493}"/>
                  </a:ext>
                </a:extLst>
              </p:cNvPr>
              <p:cNvSpPr>
                <a:spLocks/>
              </p:cNvSpPr>
              <p:nvPr/>
            </p:nvSpPr>
            <p:spPr bwMode="auto">
              <a:xfrm>
                <a:off x="-1592263" y="4308476"/>
                <a:ext cx="6350" cy="7938"/>
              </a:xfrm>
              <a:custGeom>
                <a:avLst/>
                <a:gdLst>
                  <a:gd name="T0" fmla="*/ 1 w 2"/>
                  <a:gd name="T1" fmla="*/ 0 h 2"/>
                  <a:gd name="T2" fmla="*/ 2 w 2"/>
                  <a:gd name="T3" fmla="*/ 1 h 2"/>
                  <a:gd name="T4" fmla="*/ 1 w 2"/>
                  <a:gd name="T5" fmla="*/ 2 h 2"/>
                  <a:gd name="T6" fmla="*/ 1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2" y="0"/>
                      <a:pt x="2" y="0"/>
                      <a:pt x="2" y="1"/>
                    </a:cubicBezTo>
                    <a:cubicBezTo>
                      <a:pt x="2" y="2"/>
                      <a:pt x="2" y="2"/>
                      <a:pt x="1" y="2"/>
                    </a:cubicBezTo>
                    <a:cubicBezTo>
                      <a:pt x="1" y="2"/>
                      <a:pt x="1" y="2"/>
                      <a:pt x="1" y="2"/>
                    </a:cubicBezTo>
                    <a:cubicBezTo>
                      <a:pt x="0" y="1"/>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4" name="Freeform 23">
                <a:extLst>
                  <a:ext uri="{FF2B5EF4-FFF2-40B4-BE49-F238E27FC236}">
                    <a16:creationId xmlns:a16="http://schemas.microsoft.com/office/drawing/2014/main" id="{5CD3F429-5A49-4FAE-BD50-2B0F3DBC4BAA}"/>
                  </a:ext>
                </a:extLst>
              </p:cNvPr>
              <p:cNvSpPr>
                <a:spLocks/>
              </p:cNvSpPr>
              <p:nvPr/>
            </p:nvSpPr>
            <p:spPr bwMode="auto">
              <a:xfrm>
                <a:off x="-1641475" y="4316413"/>
                <a:ext cx="104775" cy="244475"/>
              </a:xfrm>
              <a:custGeom>
                <a:avLst/>
                <a:gdLst>
                  <a:gd name="T0" fmla="*/ 23 w 28"/>
                  <a:gd name="T1" fmla="*/ 7 h 65"/>
                  <a:gd name="T2" fmla="*/ 21 w 28"/>
                  <a:gd name="T3" fmla="*/ 7 h 65"/>
                  <a:gd name="T4" fmla="*/ 20 w 28"/>
                  <a:gd name="T5" fmla="*/ 7 h 65"/>
                  <a:gd name="T6" fmla="*/ 20 w 28"/>
                  <a:gd name="T7" fmla="*/ 7 h 65"/>
                  <a:gd name="T8" fmla="*/ 23 w 28"/>
                  <a:gd name="T9" fmla="*/ 11 h 65"/>
                  <a:gd name="T10" fmla="*/ 25 w 28"/>
                  <a:gd name="T11" fmla="*/ 11 h 65"/>
                  <a:gd name="T12" fmla="*/ 25 w 28"/>
                  <a:gd name="T13" fmla="*/ 12 h 65"/>
                  <a:gd name="T14" fmla="*/ 22 w 28"/>
                  <a:gd name="T15" fmla="*/ 16 h 65"/>
                  <a:gd name="T16" fmla="*/ 21 w 28"/>
                  <a:gd name="T17" fmla="*/ 23 h 65"/>
                  <a:gd name="T18" fmla="*/ 18 w 28"/>
                  <a:gd name="T19" fmla="*/ 26 h 65"/>
                  <a:gd name="T20" fmla="*/ 19 w 28"/>
                  <a:gd name="T21" fmla="*/ 28 h 65"/>
                  <a:gd name="T22" fmla="*/ 18 w 28"/>
                  <a:gd name="T23" fmla="*/ 29 h 65"/>
                  <a:gd name="T24" fmla="*/ 20 w 28"/>
                  <a:gd name="T25" fmla="*/ 30 h 65"/>
                  <a:gd name="T26" fmla="*/ 20 w 28"/>
                  <a:gd name="T27" fmla="*/ 30 h 65"/>
                  <a:gd name="T28" fmla="*/ 19 w 28"/>
                  <a:gd name="T29" fmla="*/ 30 h 65"/>
                  <a:gd name="T30" fmla="*/ 15 w 28"/>
                  <a:gd name="T31" fmla="*/ 33 h 65"/>
                  <a:gd name="T32" fmla="*/ 17 w 28"/>
                  <a:gd name="T33" fmla="*/ 36 h 65"/>
                  <a:gd name="T34" fmla="*/ 16 w 28"/>
                  <a:gd name="T35" fmla="*/ 38 h 65"/>
                  <a:gd name="T36" fmla="*/ 19 w 28"/>
                  <a:gd name="T37" fmla="*/ 41 h 65"/>
                  <a:gd name="T38" fmla="*/ 16 w 28"/>
                  <a:gd name="T39" fmla="*/ 46 h 65"/>
                  <a:gd name="T40" fmla="*/ 14 w 28"/>
                  <a:gd name="T41" fmla="*/ 48 h 65"/>
                  <a:gd name="T42" fmla="*/ 15 w 28"/>
                  <a:gd name="T43" fmla="*/ 52 h 65"/>
                  <a:gd name="T44" fmla="*/ 15 w 28"/>
                  <a:gd name="T45" fmla="*/ 55 h 65"/>
                  <a:gd name="T46" fmla="*/ 15 w 28"/>
                  <a:gd name="T47" fmla="*/ 57 h 65"/>
                  <a:gd name="T48" fmla="*/ 17 w 28"/>
                  <a:gd name="T49" fmla="*/ 60 h 65"/>
                  <a:gd name="T50" fmla="*/ 13 w 28"/>
                  <a:gd name="T51" fmla="*/ 65 h 65"/>
                  <a:gd name="T52" fmla="*/ 12 w 28"/>
                  <a:gd name="T53" fmla="*/ 64 h 65"/>
                  <a:gd name="T54" fmla="*/ 10 w 28"/>
                  <a:gd name="T55" fmla="*/ 61 h 65"/>
                  <a:gd name="T56" fmla="*/ 7 w 28"/>
                  <a:gd name="T57" fmla="*/ 59 h 65"/>
                  <a:gd name="T58" fmla="*/ 6 w 28"/>
                  <a:gd name="T59" fmla="*/ 56 h 65"/>
                  <a:gd name="T60" fmla="*/ 4 w 28"/>
                  <a:gd name="T61" fmla="*/ 45 h 65"/>
                  <a:gd name="T62" fmla="*/ 7 w 28"/>
                  <a:gd name="T63" fmla="*/ 38 h 65"/>
                  <a:gd name="T64" fmla="*/ 6 w 28"/>
                  <a:gd name="T65" fmla="*/ 31 h 65"/>
                  <a:gd name="T66" fmla="*/ 8 w 28"/>
                  <a:gd name="T67" fmla="*/ 28 h 65"/>
                  <a:gd name="T68" fmla="*/ 6 w 28"/>
                  <a:gd name="T69" fmla="*/ 24 h 65"/>
                  <a:gd name="T70" fmla="*/ 8 w 28"/>
                  <a:gd name="T71" fmla="*/ 22 h 65"/>
                  <a:gd name="T72" fmla="*/ 12 w 28"/>
                  <a:gd name="T73" fmla="*/ 19 h 65"/>
                  <a:gd name="T74" fmla="*/ 9 w 28"/>
                  <a:gd name="T75" fmla="*/ 18 h 65"/>
                  <a:gd name="T76" fmla="*/ 8 w 28"/>
                  <a:gd name="T77" fmla="*/ 14 h 65"/>
                  <a:gd name="T78" fmla="*/ 7 w 28"/>
                  <a:gd name="T79" fmla="*/ 14 h 65"/>
                  <a:gd name="T80" fmla="*/ 1 w 28"/>
                  <a:gd name="T81" fmla="*/ 13 h 65"/>
                  <a:gd name="T82" fmla="*/ 0 w 28"/>
                  <a:gd name="T83" fmla="*/ 12 h 65"/>
                  <a:gd name="T84" fmla="*/ 1 w 28"/>
                  <a:gd name="T85" fmla="*/ 8 h 65"/>
                  <a:gd name="T86" fmla="*/ 4 w 28"/>
                  <a:gd name="T87" fmla="*/ 3 h 65"/>
                  <a:gd name="T88" fmla="*/ 11 w 28"/>
                  <a:gd name="T89" fmla="*/ 3 h 65"/>
                  <a:gd name="T90" fmla="*/ 13 w 28"/>
                  <a:gd name="T91" fmla="*/ 0 h 65"/>
                  <a:gd name="T92" fmla="*/ 13 w 28"/>
                  <a:gd name="T93" fmla="*/ 1 h 65"/>
                  <a:gd name="T94" fmla="*/ 14 w 28"/>
                  <a:gd name="T95" fmla="*/ 3 h 65"/>
                  <a:gd name="T96" fmla="*/ 15 w 28"/>
                  <a:gd name="T97" fmla="*/ 4 h 65"/>
                  <a:gd name="T98" fmla="*/ 15 w 28"/>
                  <a:gd name="T99" fmla="*/ 4 h 65"/>
                  <a:gd name="T100" fmla="*/ 20 w 28"/>
                  <a:gd name="T101" fmla="*/ 1 h 65"/>
                  <a:gd name="T102" fmla="*/ 21 w 28"/>
                  <a:gd name="T103" fmla="*/ 0 h 65"/>
                  <a:gd name="T104" fmla="*/ 23 w 28"/>
                  <a:gd name="T105" fmla="*/ 4 h 65"/>
                  <a:gd name="T106" fmla="*/ 26 w 28"/>
                  <a:gd name="T107" fmla="*/ 5 h 65"/>
                  <a:gd name="T108" fmla="*/ 23 w 28"/>
                  <a:gd name="T109" fmla="*/ 9 h 65"/>
                  <a:gd name="T110" fmla="*/ 23 w 28"/>
                  <a:gd name="T111"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 h="65">
                    <a:moveTo>
                      <a:pt x="23" y="7"/>
                    </a:moveTo>
                    <a:cubicBezTo>
                      <a:pt x="22" y="7"/>
                      <a:pt x="21" y="6"/>
                      <a:pt x="21" y="7"/>
                    </a:cubicBezTo>
                    <a:cubicBezTo>
                      <a:pt x="20" y="7"/>
                      <a:pt x="20" y="7"/>
                      <a:pt x="20" y="7"/>
                    </a:cubicBezTo>
                    <a:cubicBezTo>
                      <a:pt x="20" y="7"/>
                      <a:pt x="20" y="7"/>
                      <a:pt x="20" y="7"/>
                    </a:cubicBezTo>
                    <a:cubicBezTo>
                      <a:pt x="21" y="8"/>
                      <a:pt x="22" y="10"/>
                      <a:pt x="23" y="11"/>
                    </a:cubicBezTo>
                    <a:cubicBezTo>
                      <a:pt x="23" y="11"/>
                      <a:pt x="24" y="11"/>
                      <a:pt x="25" y="11"/>
                    </a:cubicBezTo>
                    <a:cubicBezTo>
                      <a:pt x="25" y="12"/>
                      <a:pt x="25" y="11"/>
                      <a:pt x="25" y="12"/>
                    </a:cubicBezTo>
                    <a:cubicBezTo>
                      <a:pt x="24" y="14"/>
                      <a:pt x="22" y="14"/>
                      <a:pt x="22" y="16"/>
                    </a:cubicBezTo>
                    <a:cubicBezTo>
                      <a:pt x="23" y="17"/>
                      <a:pt x="21" y="21"/>
                      <a:pt x="21" y="23"/>
                    </a:cubicBezTo>
                    <a:cubicBezTo>
                      <a:pt x="19" y="23"/>
                      <a:pt x="18" y="24"/>
                      <a:pt x="18" y="26"/>
                    </a:cubicBezTo>
                    <a:cubicBezTo>
                      <a:pt x="18" y="27"/>
                      <a:pt x="19" y="27"/>
                      <a:pt x="19" y="28"/>
                    </a:cubicBezTo>
                    <a:cubicBezTo>
                      <a:pt x="18" y="28"/>
                      <a:pt x="18" y="29"/>
                      <a:pt x="18" y="29"/>
                    </a:cubicBezTo>
                    <a:cubicBezTo>
                      <a:pt x="18" y="30"/>
                      <a:pt x="19" y="30"/>
                      <a:pt x="20" y="30"/>
                    </a:cubicBezTo>
                    <a:cubicBezTo>
                      <a:pt x="20" y="30"/>
                      <a:pt x="20" y="30"/>
                      <a:pt x="20" y="30"/>
                    </a:cubicBezTo>
                    <a:cubicBezTo>
                      <a:pt x="19" y="30"/>
                      <a:pt x="19" y="30"/>
                      <a:pt x="19" y="30"/>
                    </a:cubicBezTo>
                    <a:cubicBezTo>
                      <a:pt x="17" y="32"/>
                      <a:pt x="15" y="30"/>
                      <a:pt x="15" y="33"/>
                    </a:cubicBezTo>
                    <a:cubicBezTo>
                      <a:pt x="16" y="34"/>
                      <a:pt x="17" y="35"/>
                      <a:pt x="17" y="36"/>
                    </a:cubicBezTo>
                    <a:cubicBezTo>
                      <a:pt x="16" y="37"/>
                      <a:pt x="16" y="37"/>
                      <a:pt x="16" y="38"/>
                    </a:cubicBezTo>
                    <a:cubicBezTo>
                      <a:pt x="17" y="38"/>
                      <a:pt x="18" y="40"/>
                      <a:pt x="19" y="41"/>
                    </a:cubicBezTo>
                    <a:cubicBezTo>
                      <a:pt x="16" y="42"/>
                      <a:pt x="17" y="43"/>
                      <a:pt x="16" y="46"/>
                    </a:cubicBezTo>
                    <a:cubicBezTo>
                      <a:pt x="16" y="47"/>
                      <a:pt x="15" y="47"/>
                      <a:pt x="14" y="48"/>
                    </a:cubicBezTo>
                    <a:cubicBezTo>
                      <a:pt x="14" y="50"/>
                      <a:pt x="15" y="51"/>
                      <a:pt x="15" y="52"/>
                    </a:cubicBezTo>
                    <a:cubicBezTo>
                      <a:pt x="16" y="54"/>
                      <a:pt x="15" y="54"/>
                      <a:pt x="15" y="55"/>
                    </a:cubicBezTo>
                    <a:cubicBezTo>
                      <a:pt x="15" y="56"/>
                      <a:pt x="15" y="56"/>
                      <a:pt x="15" y="57"/>
                    </a:cubicBezTo>
                    <a:cubicBezTo>
                      <a:pt x="16" y="58"/>
                      <a:pt x="17" y="58"/>
                      <a:pt x="17" y="60"/>
                    </a:cubicBezTo>
                    <a:cubicBezTo>
                      <a:pt x="15" y="61"/>
                      <a:pt x="14" y="62"/>
                      <a:pt x="13" y="65"/>
                    </a:cubicBezTo>
                    <a:cubicBezTo>
                      <a:pt x="12" y="64"/>
                      <a:pt x="13" y="64"/>
                      <a:pt x="12" y="64"/>
                    </a:cubicBezTo>
                    <a:cubicBezTo>
                      <a:pt x="12" y="63"/>
                      <a:pt x="11" y="62"/>
                      <a:pt x="10" y="61"/>
                    </a:cubicBezTo>
                    <a:cubicBezTo>
                      <a:pt x="9" y="60"/>
                      <a:pt x="7" y="60"/>
                      <a:pt x="7" y="59"/>
                    </a:cubicBezTo>
                    <a:cubicBezTo>
                      <a:pt x="6" y="58"/>
                      <a:pt x="7" y="57"/>
                      <a:pt x="6" y="56"/>
                    </a:cubicBezTo>
                    <a:cubicBezTo>
                      <a:pt x="5" y="52"/>
                      <a:pt x="5" y="49"/>
                      <a:pt x="4" y="45"/>
                    </a:cubicBezTo>
                    <a:cubicBezTo>
                      <a:pt x="5" y="44"/>
                      <a:pt x="7" y="40"/>
                      <a:pt x="7" y="38"/>
                    </a:cubicBezTo>
                    <a:cubicBezTo>
                      <a:pt x="5" y="37"/>
                      <a:pt x="6" y="34"/>
                      <a:pt x="6" y="31"/>
                    </a:cubicBezTo>
                    <a:cubicBezTo>
                      <a:pt x="7" y="30"/>
                      <a:pt x="8" y="30"/>
                      <a:pt x="8" y="28"/>
                    </a:cubicBezTo>
                    <a:cubicBezTo>
                      <a:pt x="7" y="27"/>
                      <a:pt x="6" y="26"/>
                      <a:pt x="6" y="24"/>
                    </a:cubicBezTo>
                    <a:cubicBezTo>
                      <a:pt x="7" y="23"/>
                      <a:pt x="7" y="22"/>
                      <a:pt x="8" y="22"/>
                    </a:cubicBezTo>
                    <a:cubicBezTo>
                      <a:pt x="9" y="21"/>
                      <a:pt x="12" y="21"/>
                      <a:pt x="12" y="19"/>
                    </a:cubicBezTo>
                    <a:cubicBezTo>
                      <a:pt x="11" y="18"/>
                      <a:pt x="10" y="18"/>
                      <a:pt x="9" y="18"/>
                    </a:cubicBezTo>
                    <a:cubicBezTo>
                      <a:pt x="9" y="16"/>
                      <a:pt x="9" y="15"/>
                      <a:pt x="8" y="14"/>
                    </a:cubicBezTo>
                    <a:cubicBezTo>
                      <a:pt x="8" y="14"/>
                      <a:pt x="8" y="14"/>
                      <a:pt x="7" y="14"/>
                    </a:cubicBezTo>
                    <a:cubicBezTo>
                      <a:pt x="7" y="14"/>
                      <a:pt x="2" y="14"/>
                      <a:pt x="1" y="13"/>
                    </a:cubicBezTo>
                    <a:cubicBezTo>
                      <a:pt x="0" y="13"/>
                      <a:pt x="1" y="13"/>
                      <a:pt x="0" y="12"/>
                    </a:cubicBezTo>
                    <a:cubicBezTo>
                      <a:pt x="1" y="11"/>
                      <a:pt x="0" y="9"/>
                      <a:pt x="1" y="8"/>
                    </a:cubicBezTo>
                    <a:cubicBezTo>
                      <a:pt x="1" y="6"/>
                      <a:pt x="3" y="4"/>
                      <a:pt x="4" y="3"/>
                    </a:cubicBezTo>
                    <a:cubicBezTo>
                      <a:pt x="6" y="2"/>
                      <a:pt x="9" y="3"/>
                      <a:pt x="11" y="3"/>
                    </a:cubicBezTo>
                    <a:cubicBezTo>
                      <a:pt x="11" y="2"/>
                      <a:pt x="12" y="2"/>
                      <a:pt x="13" y="0"/>
                    </a:cubicBezTo>
                    <a:cubicBezTo>
                      <a:pt x="13" y="1"/>
                      <a:pt x="13" y="0"/>
                      <a:pt x="13" y="1"/>
                    </a:cubicBezTo>
                    <a:cubicBezTo>
                      <a:pt x="14" y="2"/>
                      <a:pt x="13" y="3"/>
                      <a:pt x="14" y="3"/>
                    </a:cubicBezTo>
                    <a:cubicBezTo>
                      <a:pt x="14" y="4"/>
                      <a:pt x="14" y="4"/>
                      <a:pt x="15" y="4"/>
                    </a:cubicBezTo>
                    <a:cubicBezTo>
                      <a:pt x="15" y="4"/>
                      <a:pt x="15" y="4"/>
                      <a:pt x="15" y="4"/>
                    </a:cubicBezTo>
                    <a:cubicBezTo>
                      <a:pt x="17" y="2"/>
                      <a:pt x="16" y="1"/>
                      <a:pt x="20" y="1"/>
                    </a:cubicBezTo>
                    <a:cubicBezTo>
                      <a:pt x="20" y="0"/>
                      <a:pt x="20" y="0"/>
                      <a:pt x="21" y="0"/>
                    </a:cubicBezTo>
                    <a:cubicBezTo>
                      <a:pt x="21" y="1"/>
                      <a:pt x="22" y="4"/>
                      <a:pt x="23" y="4"/>
                    </a:cubicBezTo>
                    <a:cubicBezTo>
                      <a:pt x="25" y="5"/>
                      <a:pt x="25" y="4"/>
                      <a:pt x="26" y="5"/>
                    </a:cubicBezTo>
                    <a:cubicBezTo>
                      <a:pt x="28" y="7"/>
                      <a:pt x="26" y="9"/>
                      <a:pt x="23" y="9"/>
                    </a:cubicBezTo>
                    <a:cubicBezTo>
                      <a:pt x="23" y="8"/>
                      <a:pt x="23" y="8"/>
                      <a:pt x="23" y="7"/>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5" name="Freeform 24">
                <a:extLst>
                  <a:ext uri="{FF2B5EF4-FFF2-40B4-BE49-F238E27FC236}">
                    <a16:creationId xmlns:a16="http://schemas.microsoft.com/office/drawing/2014/main" id="{3C86D616-AB92-4D87-AB06-97D7DC633F2D}"/>
                  </a:ext>
                </a:extLst>
              </p:cNvPr>
              <p:cNvSpPr>
                <a:spLocks/>
              </p:cNvSpPr>
              <p:nvPr/>
            </p:nvSpPr>
            <p:spPr bwMode="auto">
              <a:xfrm>
                <a:off x="-1320800" y="4371976"/>
                <a:ext cx="6350" cy="15875"/>
              </a:xfrm>
              <a:custGeom>
                <a:avLst/>
                <a:gdLst>
                  <a:gd name="T0" fmla="*/ 1 w 2"/>
                  <a:gd name="T1" fmla="*/ 0 h 4"/>
                  <a:gd name="T2" fmla="*/ 2 w 2"/>
                  <a:gd name="T3" fmla="*/ 2 h 4"/>
                  <a:gd name="T4" fmla="*/ 0 w 2"/>
                  <a:gd name="T5" fmla="*/ 4 h 4"/>
                  <a:gd name="T6" fmla="*/ 0 w 2"/>
                  <a:gd name="T7" fmla="*/ 3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0"/>
                      <a:pt x="2" y="0"/>
                      <a:pt x="2" y="2"/>
                    </a:cubicBezTo>
                    <a:cubicBezTo>
                      <a:pt x="1" y="3"/>
                      <a:pt x="2" y="4"/>
                      <a:pt x="0" y="4"/>
                    </a:cubicBezTo>
                    <a:cubicBezTo>
                      <a:pt x="0" y="4"/>
                      <a:pt x="0" y="4"/>
                      <a:pt x="0" y="3"/>
                    </a:cubicBezTo>
                    <a:cubicBezTo>
                      <a:pt x="0" y="2"/>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6" name="Freeform 25">
                <a:extLst>
                  <a:ext uri="{FF2B5EF4-FFF2-40B4-BE49-F238E27FC236}">
                    <a16:creationId xmlns:a16="http://schemas.microsoft.com/office/drawing/2014/main" id="{3E98BA31-B45C-43D8-BC3A-077A09D8F415}"/>
                  </a:ext>
                </a:extLst>
              </p:cNvPr>
              <p:cNvSpPr>
                <a:spLocks/>
              </p:cNvSpPr>
              <p:nvPr/>
            </p:nvSpPr>
            <p:spPr bwMode="auto">
              <a:xfrm>
                <a:off x="-1668463" y="4376738"/>
                <a:ext cx="15875" cy="6350"/>
              </a:xfrm>
              <a:custGeom>
                <a:avLst/>
                <a:gdLst>
                  <a:gd name="T0" fmla="*/ 4 w 4"/>
                  <a:gd name="T1" fmla="*/ 0 h 2"/>
                  <a:gd name="T2" fmla="*/ 4 w 4"/>
                  <a:gd name="T3" fmla="*/ 2 h 2"/>
                  <a:gd name="T4" fmla="*/ 4 w 4"/>
                  <a:gd name="T5" fmla="*/ 2 h 2"/>
                  <a:gd name="T6" fmla="*/ 3 w 4"/>
                  <a:gd name="T7" fmla="*/ 1 h 2"/>
                  <a:gd name="T8" fmla="*/ 0 w 4"/>
                  <a:gd name="T9" fmla="*/ 2 h 2"/>
                  <a:gd name="T10" fmla="*/ 0 w 4"/>
                  <a:gd name="T11" fmla="*/ 1 h 2"/>
                  <a:gd name="T12" fmla="*/ 1 w 4"/>
                  <a:gd name="T13" fmla="*/ 0 h 2"/>
                  <a:gd name="T14" fmla="*/ 4 w 4"/>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2">
                    <a:moveTo>
                      <a:pt x="4" y="0"/>
                    </a:moveTo>
                    <a:cubicBezTo>
                      <a:pt x="4" y="1"/>
                      <a:pt x="4" y="1"/>
                      <a:pt x="4" y="2"/>
                    </a:cubicBezTo>
                    <a:cubicBezTo>
                      <a:pt x="4" y="2"/>
                      <a:pt x="4" y="2"/>
                      <a:pt x="4" y="2"/>
                    </a:cubicBezTo>
                    <a:cubicBezTo>
                      <a:pt x="3" y="2"/>
                      <a:pt x="3" y="1"/>
                      <a:pt x="3" y="1"/>
                    </a:cubicBezTo>
                    <a:cubicBezTo>
                      <a:pt x="1" y="1"/>
                      <a:pt x="1" y="2"/>
                      <a:pt x="0" y="2"/>
                    </a:cubicBezTo>
                    <a:cubicBezTo>
                      <a:pt x="0" y="1"/>
                      <a:pt x="0" y="1"/>
                      <a:pt x="0" y="1"/>
                    </a:cubicBezTo>
                    <a:cubicBezTo>
                      <a:pt x="0" y="0"/>
                      <a:pt x="1" y="0"/>
                      <a:pt x="1" y="0"/>
                    </a:cubicBezTo>
                    <a:cubicBezTo>
                      <a:pt x="2" y="0"/>
                      <a:pt x="2" y="0"/>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7" name="Freeform 26">
                <a:extLst>
                  <a:ext uri="{FF2B5EF4-FFF2-40B4-BE49-F238E27FC236}">
                    <a16:creationId xmlns:a16="http://schemas.microsoft.com/office/drawing/2014/main" id="{1D162D0D-6037-4F57-8085-AA587742C710}"/>
                  </a:ext>
                </a:extLst>
              </p:cNvPr>
              <p:cNvSpPr>
                <a:spLocks/>
              </p:cNvSpPr>
              <p:nvPr/>
            </p:nvSpPr>
            <p:spPr bwMode="auto">
              <a:xfrm>
                <a:off x="-1347788" y="4398963"/>
                <a:ext cx="30163" cy="63500"/>
              </a:xfrm>
              <a:custGeom>
                <a:avLst/>
                <a:gdLst>
                  <a:gd name="T0" fmla="*/ 6 w 8"/>
                  <a:gd name="T1" fmla="*/ 0 h 17"/>
                  <a:gd name="T2" fmla="*/ 8 w 8"/>
                  <a:gd name="T3" fmla="*/ 0 h 17"/>
                  <a:gd name="T4" fmla="*/ 8 w 8"/>
                  <a:gd name="T5" fmla="*/ 2 h 17"/>
                  <a:gd name="T6" fmla="*/ 7 w 8"/>
                  <a:gd name="T7" fmla="*/ 16 h 17"/>
                  <a:gd name="T8" fmla="*/ 4 w 8"/>
                  <a:gd name="T9" fmla="*/ 16 h 17"/>
                  <a:gd name="T10" fmla="*/ 3 w 8"/>
                  <a:gd name="T11" fmla="*/ 17 h 17"/>
                  <a:gd name="T12" fmla="*/ 2 w 8"/>
                  <a:gd name="T13" fmla="*/ 4 h 17"/>
                  <a:gd name="T14" fmla="*/ 4 w 8"/>
                  <a:gd name="T15" fmla="*/ 3 h 17"/>
                  <a:gd name="T16" fmla="*/ 4 w 8"/>
                  <a:gd name="T17" fmla="*/ 1 h 17"/>
                  <a:gd name="T18" fmla="*/ 6 w 8"/>
                  <a:gd name="T19"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7">
                    <a:moveTo>
                      <a:pt x="6" y="0"/>
                    </a:moveTo>
                    <a:cubicBezTo>
                      <a:pt x="7" y="0"/>
                      <a:pt x="7" y="0"/>
                      <a:pt x="8" y="0"/>
                    </a:cubicBezTo>
                    <a:cubicBezTo>
                      <a:pt x="8" y="0"/>
                      <a:pt x="8" y="1"/>
                      <a:pt x="8" y="2"/>
                    </a:cubicBezTo>
                    <a:cubicBezTo>
                      <a:pt x="6" y="5"/>
                      <a:pt x="7" y="12"/>
                      <a:pt x="7" y="16"/>
                    </a:cubicBezTo>
                    <a:cubicBezTo>
                      <a:pt x="6" y="16"/>
                      <a:pt x="6" y="16"/>
                      <a:pt x="4" y="16"/>
                    </a:cubicBezTo>
                    <a:cubicBezTo>
                      <a:pt x="4" y="17"/>
                      <a:pt x="3" y="17"/>
                      <a:pt x="3" y="17"/>
                    </a:cubicBezTo>
                    <a:cubicBezTo>
                      <a:pt x="1" y="15"/>
                      <a:pt x="0" y="7"/>
                      <a:pt x="2" y="4"/>
                    </a:cubicBezTo>
                    <a:cubicBezTo>
                      <a:pt x="3" y="4"/>
                      <a:pt x="3" y="3"/>
                      <a:pt x="4" y="3"/>
                    </a:cubicBezTo>
                    <a:cubicBezTo>
                      <a:pt x="4" y="2"/>
                      <a:pt x="4" y="2"/>
                      <a:pt x="4" y="1"/>
                    </a:cubicBezTo>
                    <a:cubicBezTo>
                      <a:pt x="4" y="0"/>
                      <a:pt x="6" y="0"/>
                      <a:pt x="6"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8" name="Freeform 27">
                <a:extLst>
                  <a:ext uri="{FF2B5EF4-FFF2-40B4-BE49-F238E27FC236}">
                    <a16:creationId xmlns:a16="http://schemas.microsoft.com/office/drawing/2014/main" id="{1F11C644-F439-40CC-B3E6-E90289F27047}"/>
                  </a:ext>
                </a:extLst>
              </p:cNvPr>
              <p:cNvSpPr>
                <a:spLocks/>
              </p:cNvSpPr>
              <p:nvPr/>
            </p:nvSpPr>
            <p:spPr bwMode="auto">
              <a:xfrm>
                <a:off x="-1657350" y="4556126"/>
                <a:ext cx="46038" cy="68263"/>
              </a:xfrm>
              <a:custGeom>
                <a:avLst/>
                <a:gdLst>
                  <a:gd name="T0" fmla="*/ 3 w 12"/>
                  <a:gd name="T1" fmla="*/ 16 h 18"/>
                  <a:gd name="T2" fmla="*/ 5 w 12"/>
                  <a:gd name="T3" fmla="*/ 16 h 18"/>
                  <a:gd name="T4" fmla="*/ 5 w 12"/>
                  <a:gd name="T5" fmla="*/ 17 h 18"/>
                  <a:gd name="T6" fmla="*/ 2 w 12"/>
                  <a:gd name="T7" fmla="*/ 18 h 18"/>
                  <a:gd name="T8" fmla="*/ 0 w 12"/>
                  <a:gd name="T9" fmla="*/ 12 h 18"/>
                  <a:gd name="T10" fmla="*/ 1 w 12"/>
                  <a:gd name="T11" fmla="*/ 9 h 18"/>
                  <a:gd name="T12" fmla="*/ 7 w 12"/>
                  <a:gd name="T13" fmla="*/ 0 h 18"/>
                  <a:gd name="T14" fmla="*/ 11 w 12"/>
                  <a:gd name="T15" fmla="*/ 0 h 18"/>
                  <a:gd name="T16" fmla="*/ 12 w 12"/>
                  <a:gd name="T17" fmla="*/ 1 h 18"/>
                  <a:gd name="T18" fmla="*/ 11 w 12"/>
                  <a:gd name="T19" fmla="*/ 6 h 18"/>
                  <a:gd name="T20" fmla="*/ 12 w 12"/>
                  <a:gd name="T21" fmla="*/ 6 h 18"/>
                  <a:gd name="T22" fmla="*/ 11 w 12"/>
                  <a:gd name="T23" fmla="*/ 8 h 18"/>
                  <a:gd name="T24" fmla="*/ 9 w 12"/>
                  <a:gd name="T25" fmla="*/ 9 h 18"/>
                  <a:gd name="T26" fmla="*/ 8 w 12"/>
                  <a:gd name="T27" fmla="*/ 11 h 18"/>
                  <a:gd name="T28" fmla="*/ 5 w 12"/>
                  <a:gd name="T29" fmla="*/ 12 h 18"/>
                  <a:gd name="T30" fmla="*/ 3 w 12"/>
                  <a:gd name="T31"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8">
                    <a:moveTo>
                      <a:pt x="3" y="16"/>
                    </a:moveTo>
                    <a:cubicBezTo>
                      <a:pt x="4" y="16"/>
                      <a:pt x="4" y="16"/>
                      <a:pt x="5" y="16"/>
                    </a:cubicBezTo>
                    <a:cubicBezTo>
                      <a:pt x="5" y="17"/>
                      <a:pt x="5" y="17"/>
                      <a:pt x="5" y="17"/>
                    </a:cubicBezTo>
                    <a:cubicBezTo>
                      <a:pt x="4" y="18"/>
                      <a:pt x="4" y="18"/>
                      <a:pt x="2" y="18"/>
                    </a:cubicBezTo>
                    <a:cubicBezTo>
                      <a:pt x="1" y="16"/>
                      <a:pt x="0" y="15"/>
                      <a:pt x="0" y="12"/>
                    </a:cubicBezTo>
                    <a:cubicBezTo>
                      <a:pt x="0" y="11"/>
                      <a:pt x="0" y="10"/>
                      <a:pt x="1" y="9"/>
                    </a:cubicBezTo>
                    <a:cubicBezTo>
                      <a:pt x="3" y="7"/>
                      <a:pt x="4" y="1"/>
                      <a:pt x="7" y="0"/>
                    </a:cubicBezTo>
                    <a:cubicBezTo>
                      <a:pt x="8" y="1"/>
                      <a:pt x="9" y="0"/>
                      <a:pt x="11" y="0"/>
                    </a:cubicBezTo>
                    <a:cubicBezTo>
                      <a:pt x="11" y="1"/>
                      <a:pt x="11" y="0"/>
                      <a:pt x="12" y="1"/>
                    </a:cubicBezTo>
                    <a:cubicBezTo>
                      <a:pt x="11" y="2"/>
                      <a:pt x="11" y="5"/>
                      <a:pt x="11" y="6"/>
                    </a:cubicBezTo>
                    <a:cubicBezTo>
                      <a:pt x="11" y="6"/>
                      <a:pt x="12" y="6"/>
                      <a:pt x="12" y="6"/>
                    </a:cubicBezTo>
                    <a:cubicBezTo>
                      <a:pt x="12" y="7"/>
                      <a:pt x="12" y="8"/>
                      <a:pt x="11" y="8"/>
                    </a:cubicBezTo>
                    <a:cubicBezTo>
                      <a:pt x="11" y="8"/>
                      <a:pt x="10" y="9"/>
                      <a:pt x="9" y="9"/>
                    </a:cubicBezTo>
                    <a:cubicBezTo>
                      <a:pt x="9" y="10"/>
                      <a:pt x="9" y="11"/>
                      <a:pt x="8" y="11"/>
                    </a:cubicBezTo>
                    <a:cubicBezTo>
                      <a:pt x="8" y="12"/>
                      <a:pt x="6" y="12"/>
                      <a:pt x="5" y="12"/>
                    </a:cubicBezTo>
                    <a:cubicBezTo>
                      <a:pt x="4" y="14"/>
                      <a:pt x="4" y="14"/>
                      <a:pt x="3" y="16"/>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09" name="Freeform 28">
                <a:extLst>
                  <a:ext uri="{FF2B5EF4-FFF2-40B4-BE49-F238E27FC236}">
                    <a16:creationId xmlns:a16="http://schemas.microsoft.com/office/drawing/2014/main" id="{E40BEF0A-0F88-47CB-A95C-4E7D85FF5F8E}"/>
                  </a:ext>
                </a:extLst>
              </p:cNvPr>
              <p:cNvSpPr>
                <a:spLocks/>
              </p:cNvSpPr>
              <p:nvPr/>
            </p:nvSpPr>
            <p:spPr bwMode="auto">
              <a:xfrm>
                <a:off x="-1449388" y="4556126"/>
                <a:ext cx="19050" cy="11113"/>
              </a:xfrm>
              <a:custGeom>
                <a:avLst/>
                <a:gdLst>
                  <a:gd name="T0" fmla="*/ 2 w 5"/>
                  <a:gd name="T1" fmla="*/ 1 h 3"/>
                  <a:gd name="T2" fmla="*/ 5 w 5"/>
                  <a:gd name="T3" fmla="*/ 1 h 3"/>
                  <a:gd name="T4" fmla="*/ 5 w 5"/>
                  <a:gd name="T5" fmla="*/ 1 h 3"/>
                  <a:gd name="T6" fmla="*/ 0 w 5"/>
                  <a:gd name="T7" fmla="*/ 3 h 3"/>
                  <a:gd name="T8" fmla="*/ 0 w 5"/>
                  <a:gd name="T9" fmla="*/ 2 h 3"/>
                  <a:gd name="T10" fmla="*/ 2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2" y="1"/>
                    </a:moveTo>
                    <a:cubicBezTo>
                      <a:pt x="3" y="0"/>
                      <a:pt x="4" y="1"/>
                      <a:pt x="5" y="1"/>
                    </a:cubicBezTo>
                    <a:cubicBezTo>
                      <a:pt x="5" y="1"/>
                      <a:pt x="5" y="1"/>
                      <a:pt x="5" y="1"/>
                    </a:cubicBezTo>
                    <a:cubicBezTo>
                      <a:pt x="4" y="3"/>
                      <a:pt x="2" y="3"/>
                      <a:pt x="0" y="3"/>
                    </a:cubicBezTo>
                    <a:cubicBezTo>
                      <a:pt x="0" y="3"/>
                      <a:pt x="0" y="3"/>
                      <a:pt x="0" y="2"/>
                    </a:cubicBezTo>
                    <a:cubicBezTo>
                      <a:pt x="1" y="1"/>
                      <a:pt x="1" y="1"/>
                      <a:pt x="2" y="1"/>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0" name="Freeform 29">
                <a:extLst>
                  <a:ext uri="{FF2B5EF4-FFF2-40B4-BE49-F238E27FC236}">
                    <a16:creationId xmlns:a16="http://schemas.microsoft.com/office/drawing/2014/main" id="{D70C18DB-CED3-436B-B91A-FB25E30E85F5}"/>
                  </a:ext>
                </a:extLst>
              </p:cNvPr>
              <p:cNvSpPr>
                <a:spLocks/>
              </p:cNvSpPr>
              <p:nvPr/>
            </p:nvSpPr>
            <p:spPr bwMode="auto">
              <a:xfrm>
                <a:off x="-1419225" y="4564063"/>
                <a:ext cx="44450" cy="49213"/>
              </a:xfrm>
              <a:custGeom>
                <a:avLst/>
                <a:gdLst>
                  <a:gd name="T0" fmla="*/ 5 w 12"/>
                  <a:gd name="T1" fmla="*/ 0 h 13"/>
                  <a:gd name="T2" fmla="*/ 7 w 12"/>
                  <a:gd name="T3" fmla="*/ 0 h 13"/>
                  <a:gd name="T4" fmla="*/ 11 w 12"/>
                  <a:gd name="T5" fmla="*/ 3 h 13"/>
                  <a:gd name="T6" fmla="*/ 11 w 12"/>
                  <a:gd name="T7" fmla="*/ 10 h 13"/>
                  <a:gd name="T8" fmla="*/ 5 w 12"/>
                  <a:gd name="T9" fmla="*/ 13 h 13"/>
                  <a:gd name="T10" fmla="*/ 0 w 12"/>
                  <a:gd name="T11" fmla="*/ 5 h 13"/>
                  <a:gd name="T12" fmla="*/ 0 w 12"/>
                  <a:gd name="T13" fmla="*/ 3 h 13"/>
                  <a:gd name="T14" fmla="*/ 2 w 12"/>
                  <a:gd name="T15" fmla="*/ 1 h 13"/>
                  <a:gd name="T16" fmla="*/ 5 w 12"/>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3">
                    <a:moveTo>
                      <a:pt x="5" y="0"/>
                    </a:moveTo>
                    <a:cubicBezTo>
                      <a:pt x="5" y="0"/>
                      <a:pt x="6" y="0"/>
                      <a:pt x="7" y="0"/>
                    </a:cubicBezTo>
                    <a:cubicBezTo>
                      <a:pt x="8" y="1"/>
                      <a:pt x="10" y="2"/>
                      <a:pt x="11" y="3"/>
                    </a:cubicBezTo>
                    <a:cubicBezTo>
                      <a:pt x="11" y="4"/>
                      <a:pt x="12" y="8"/>
                      <a:pt x="11" y="10"/>
                    </a:cubicBezTo>
                    <a:cubicBezTo>
                      <a:pt x="10" y="12"/>
                      <a:pt x="8" y="13"/>
                      <a:pt x="5" y="13"/>
                    </a:cubicBezTo>
                    <a:cubicBezTo>
                      <a:pt x="4" y="10"/>
                      <a:pt x="0" y="7"/>
                      <a:pt x="0" y="5"/>
                    </a:cubicBezTo>
                    <a:cubicBezTo>
                      <a:pt x="0" y="5"/>
                      <a:pt x="0" y="4"/>
                      <a:pt x="0" y="3"/>
                    </a:cubicBezTo>
                    <a:cubicBezTo>
                      <a:pt x="1" y="3"/>
                      <a:pt x="1" y="1"/>
                      <a:pt x="2" y="1"/>
                    </a:cubicBezTo>
                    <a:cubicBezTo>
                      <a:pt x="3" y="0"/>
                      <a:pt x="4" y="0"/>
                      <a:pt x="5"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1" name="Freeform 30">
                <a:extLst>
                  <a:ext uri="{FF2B5EF4-FFF2-40B4-BE49-F238E27FC236}">
                    <a16:creationId xmlns:a16="http://schemas.microsoft.com/office/drawing/2014/main" id="{D5C57EF7-D8B1-4401-925C-75CAE3294536}"/>
                  </a:ext>
                </a:extLst>
              </p:cNvPr>
              <p:cNvSpPr>
                <a:spLocks/>
              </p:cNvSpPr>
              <p:nvPr/>
            </p:nvSpPr>
            <p:spPr bwMode="auto">
              <a:xfrm>
                <a:off x="-1430338" y="4567238"/>
                <a:ext cx="6350" cy="4763"/>
              </a:xfrm>
              <a:custGeom>
                <a:avLst/>
                <a:gdLst>
                  <a:gd name="T0" fmla="*/ 0 w 2"/>
                  <a:gd name="T1" fmla="*/ 0 h 1"/>
                  <a:gd name="T2" fmla="*/ 1 w 2"/>
                  <a:gd name="T3" fmla="*/ 0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0"/>
                      <a:pt x="1" y="0"/>
                      <a:pt x="1" y="0"/>
                    </a:cubicBezTo>
                    <a:cubicBezTo>
                      <a:pt x="2" y="0"/>
                      <a:pt x="2" y="0"/>
                      <a:pt x="2" y="1"/>
                    </a:cubicBezTo>
                    <a:cubicBezTo>
                      <a:pt x="2" y="1"/>
                      <a:pt x="1" y="1"/>
                      <a:pt x="1" y="1"/>
                    </a:cubicBezTo>
                    <a:cubicBezTo>
                      <a:pt x="1" y="1"/>
                      <a:pt x="0" y="1"/>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2" name="Freeform 31">
                <a:extLst>
                  <a:ext uri="{FF2B5EF4-FFF2-40B4-BE49-F238E27FC236}">
                    <a16:creationId xmlns:a16="http://schemas.microsoft.com/office/drawing/2014/main" id="{7077F5FE-1D94-4983-B72B-E5BCAD6360BD}"/>
                  </a:ext>
                </a:extLst>
              </p:cNvPr>
              <p:cNvSpPr>
                <a:spLocks/>
              </p:cNvSpPr>
              <p:nvPr/>
            </p:nvSpPr>
            <p:spPr bwMode="auto">
              <a:xfrm>
                <a:off x="-1611313" y="4572001"/>
                <a:ext cx="6350" cy="11113"/>
              </a:xfrm>
              <a:custGeom>
                <a:avLst/>
                <a:gdLst>
                  <a:gd name="T0" fmla="*/ 1 w 2"/>
                  <a:gd name="T1" fmla="*/ 0 h 3"/>
                  <a:gd name="T2" fmla="*/ 2 w 2"/>
                  <a:gd name="T3" fmla="*/ 0 h 3"/>
                  <a:gd name="T4" fmla="*/ 2 w 2"/>
                  <a:gd name="T5" fmla="*/ 2 h 3"/>
                  <a:gd name="T6" fmla="*/ 1 w 2"/>
                  <a:gd name="T7" fmla="*/ 3 h 3"/>
                  <a:gd name="T8" fmla="*/ 1 w 2"/>
                  <a:gd name="T9" fmla="*/ 2 h 3"/>
                  <a:gd name="T10" fmla="*/ 0 w 2"/>
                  <a:gd name="T11" fmla="*/ 2 h 3"/>
                  <a:gd name="T12" fmla="*/ 1 w 2"/>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2" h="3">
                    <a:moveTo>
                      <a:pt x="1" y="0"/>
                    </a:moveTo>
                    <a:cubicBezTo>
                      <a:pt x="1" y="0"/>
                      <a:pt x="1" y="0"/>
                      <a:pt x="2" y="0"/>
                    </a:cubicBezTo>
                    <a:cubicBezTo>
                      <a:pt x="2" y="1"/>
                      <a:pt x="2" y="2"/>
                      <a:pt x="2" y="2"/>
                    </a:cubicBezTo>
                    <a:cubicBezTo>
                      <a:pt x="1" y="3"/>
                      <a:pt x="2" y="3"/>
                      <a:pt x="1" y="3"/>
                    </a:cubicBezTo>
                    <a:cubicBezTo>
                      <a:pt x="1" y="3"/>
                      <a:pt x="1" y="3"/>
                      <a:pt x="1" y="2"/>
                    </a:cubicBezTo>
                    <a:cubicBezTo>
                      <a:pt x="0" y="2"/>
                      <a:pt x="0" y="2"/>
                      <a:pt x="0" y="2"/>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3" name="Freeform 32">
                <a:extLst>
                  <a:ext uri="{FF2B5EF4-FFF2-40B4-BE49-F238E27FC236}">
                    <a16:creationId xmlns:a16="http://schemas.microsoft.com/office/drawing/2014/main" id="{CBFEAC7A-759E-4743-ABD0-02D863083BA6}"/>
                  </a:ext>
                </a:extLst>
              </p:cNvPr>
              <p:cNvSpPr>
                <a:spLocks/>
              </p:cNvSpPr>
              <p:nvPr/>
            </p:nvSpPr>
            <p:spPr bwMode="auto">
              <a:xfrm>
                <a:off x="-1374775" y="4605338"/>
                <a:ext cx="26988" cy="33338"/>
              </a:xfrm>
              <a:custGeom>
                <a:avLst/>
                <a:gdLst>
                  <a:gd name="T0" fmla="*/ 4 w 7"/>
                  <a:gd name="T1" fmla="*/ 0 h 9"/>
                  <a:gd name="T2" fmla="*/ 6 w 7"/>
                  <a:gd name="T3" fmla="*/ 1 h 9"/>
                  <a:gd name="T4" fmla="*/ 7 w 7"/>
                  <a:gd name="T5" fmla="*/ 6 h 9"/>
                  <a:gd name="T6" fmla="*/ 2 w 7"/>
                  <a:gd name="T7" fmla="*/ 9 h 9"/>
                  <a:gd name="T8" fmla="*/ 0 w 7"/>
                  <a:gd name="T9" fmla="*/ 4 h 9"/>
                  <a:gd name="T10" fmla="*/ 4 w 7"/>
                  <a:gd name="T11" fmla="*/ 0 h 9"/>
                </a:gdLst>
                <a:ahLst/>
                <a:cxnLst>
                  <a:cxn ang="0">
                    <a:pos x="T0" y="T1"/>
                  </a:cxn>
                  <a:cxn ang="0">
                    <a:pos x="T2" y="T3"/>
                  </a:cxn>
                  <a:cxn ang="0">
                    <a:pos x="T4" y="T5"/>
                  </a:cxn>
                  <a:cxn ang="0">
                    <a:pos x="T6" y="T7"/>
                  </a:cxn>
                  <a:cxn ang="0">
                    <a:pos x="T8" y="T9"/>
                  </a:cxn>
                  <a:cxn ang="0">
                    <a:pos x="T10" y="T11"/>
                  </a:cxn>
                </a:cxnLst>
                <a:rect l="0" t="0" r="r" b="b"/>
                <a:pathLst>
                  <a:path w="7" h="9">
                    <a:moveTo>
                      <a:pt x="4" y="0"/>
                    </a:moveTo>
                    <a:cubicBezTo>
                      <a:pt x="5" y="1"/>
                      <a:pt x="5" y="1"/>
                      <a:pt x="6" y="1"/>
                    </a:cubicBezTo>
                    <a:cubicBezTo>
                      <a:pt x="7" y="3"/>
                      <a:pt x="7" y="4"/>
                      <a:pt x="7" y="6"/>
                    </a:cubicBezTo>
                    <a:cubicBezTo>
                      <a:pt x="5" y="7"/>
                      <a:pt x="5" y="9"/>
                      <a:pt x="2" y="9"/>
                    </a:cubicBezTo>
                    <a:cubicBezTo>
                      <a:pt x="1" y="7"/>
                      <a:pt x="0" y="7"/>
                      <a:pt x="0" y="4"/>
                    </a:cubicBezTo>
                    <a:cubicBezTo>
                      <a:pt x="2" y="3"/>
                      <a:pt x="3" y="2"/>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4" name="Freeform 33">
                <a:extLst>
                  <a:ext uri="{FF2B5EF4-FFF2-40B4-BE49-F238E27FC236}">
                    <a16:creationId xmlns:a16="http://schemas.microsoft.com/office/drawing/2014/main" id="{A56125A5-7179-4C81-834F-FCE0529FCD37}"/>
                  </a:ext>
                </a:extLst>
              </p:cNvPr>
              <p:cNvSpPr>
                <a:spLocks/>
              </p:cNvSpPr>
              <p:nvPr/>
            </p:nvSpPr>
            <p:spPr bwMode="auto">
              <a:xfrm>
                <a:off x="-1663700" y="4632326"/>
                <a:ext cx="6350" cy="3175"/>
              </a:xfrm>
              <a:custGeom>
                <a:avLst/>
                <a:gdLst>
                  <a:gd name="T0" fmla="*/ 0 w 2"/>
                  <a:gd name="T1" fmla="*/ 0 h 1"/>
                  <a:gd name="T2" fmla="*/ 2 w 2"/>
                  <a:gd name="T3" fmla="*/ 0 h 1"/>
                  <a:gd name="T4" fmla="*/ 2 w 2"/>
                  <a:gd name="T5" fmla="*/ 1 h 1"/>
                  <a:gd name="T6" fmla="*/ 0 w 2"/>
                  <a:gd name="T7" fmla="*/ 1 h 1"/>
                  <a:gd name="T8" fmla="*/ 0 w 2"/>
                  <a:gd name="T9" fmla="*/ 1 h 1"/>
                  <a:gd name="T10" fmla="*/ 0 w 2"/>
                  <a:gd name="T11" fmla="*/ 0 h 1"/>
                </a:gdLst>
                <a:ahLst/>
                <a:cxnLst>
                  <a:cxn ang="0">
                    <a:pos x="T0" y="T1"/>
                  </a:cxn>
                  <a:cxn ang="0">
                    <a:pos x="T2" y="T3"/>
                  </a:cxn>
                  <a:cxn ang="0">
                    <a:pos x="T4" y="T5"/>
                  </a:cxn>
                  <a:cxn ang="0">
                    <a:pos x="T6" y="T7"/>
                  </a:cxn>
                  <a:cxn ang="0">
                    <a:pos x="T8" y="T9"/>
                  </a:cxn>
                  <a:cxn ang="0">
                    <a:pos x="T10" y="T11"/>
                  </a:cxn>
                </a:cxnLst>
                <a:rect l="0" t="0" r="r" b="b"/>
                <a:pathLst>
                  <a:path w="2" h="1">
                    <a:moveTo>
                      <a:pt x="0" y="0"/>
                    </a:moveTo>
                    <a:cubicBezTo>
                      <a:pt x="1" y="0"/>
                      <a:pt x="1" y="0"/>
                      <a:pt x="2" y="0"/>
                    </a:cubicBezTo>
                    <a:cubicBezTo>
                      <a:pt x="2" y="0"/>
                      <a:pt x="2" y="0"/>
                      <a:pt x="2" y="1"/>
                    </a:cubicBezTo>
                    <a:cubicBezTo>
                      <a:pt x="1" y="1"/>
                      <a:pt x="1" y="1"/>
                      <a:pt x="0" y="1"/>
                    </a:cubicBezTo>
                    <a:cubicBezTo>
                      <a:pt x="0" y="1"/>
                      <a:pt x="0" y="1"/>
                      <a:pt x="0" y="1"/>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5" name="Freeform 34">
                <a:extLst>
                  <a:ext uri="{FF2B5EF4-FFF2-40B4-BE49-F238E27FC236}">
                    <a16:creationId xmlns:a16="http://schemas.microsoft.com/office/drawing/2014/main" id="{E389D1C1-5B4F-4D7F-88A2-A3D6BFE02C10}"/>
                  </a:ext>
                </a:extLst>
              </p:cNvPr>
              <p:cNvSpPr>
                <a:spLocks/>
              </p:cNvSpPr>
              <p:nvPr/>
            </p:nvSpPr>
            <p:spPr bwMode="auto">
              <a:xfrm>
                <a:off x="-1679575" y="4638676"/>
                <a:ext cx="11113" cy="23813"/>
              </a:xfrm>
              <a:custGeom>
                <a:avLst/>
                <a:gdLst>
                  <a:gd name="T0" fmla="*/ 1 w 3"/>
                  <a:gd name="T1" fmla="*/ 0 h 6"/>
                  <a:gd name="T2" fmla="*/ 2 w 3"/>
                  <a:gd name="T3" fmla="*/ 0 h 6"/>
                  <a:gd name="T4" fmla="*/ 3 w 3"/>
                  <a:gd name="T5" fmla="*/ 2 h 6"/>
                  <a:gd name="T6" fmla="*/ 3 w 3"/>
                  <a:gd name="T7" fmla="*/ 5 h 6"/>
                  <a:gd name="T8" fmla="*/ 1 w 3"/>
                  <a:gd name="T9" fmla="*/ 6 h 6"/>
                  <a:gd name="T10" fmla="*/ 1 w 3"/>
                  <a:gd name="T11" fmla="*/ 5 h 6"/>
                  <a:gd name="T12" fmla="*/ 1 w 3"/>
                  <a:gd name="T13" fmla="*/ 5 h 6"/>
                  <a:gd name="T14" fmla="*/ 1 w 3"/>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6">
                    <a:moveTo>
                      <a:pt x="1" y="0"/>
                    </a:moveTo>
                    <a:cubicBezTo>
                      <a:pt x="2" y="0"/>
                      <a:pt x="2" y="0"/>
                      <a:pt x="2" y="0"/>
                    </a:cubicBezTo>
                    <a:cubicBezTo>
                      <a:pt x="3" y="1"/>
                      <a:pt x="3" y="1"/>
                      <a:pt x="3" y="2"/>
                    </a:cubicBezTo>
                    <a:cubicBezTo>
                      <a:pt x="3" y="3"/>
                      <a:pt x="3" y="4"/>
                      <a:pt x="3" y="5"/>
                    </a:cubicBezTo>
                    <a:cubicBezTo>
                      <a:pt x="3" y="5"/>
                      <a:pt x="2" y="6"/>
                      <a:pt x="1" y="6"/>
                    </a:cubicBezTo>
                    <a:cubicBezTo>
                      <a:pt x="1" y="5"/>
                      <a:pt x="1" y="5"/>
                      <a:pt x="1" y="5"/>
                    </a:cubicBezTo>
                    <a:cubicBezTo>
                      <a:pt x="1" y="5"/>
                      <a:pt x="1" y="5"/>
                      <a:pt x="1" y="5"/>
                    </a:cubicBezTo>
                    <a:cubicBezTo>
                      <a:pt x="1" y="3"/>
                      <a:pt x="0" y="2"/>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6" name="Freeform 35">
                <a:extLst>
                  <a:ext uri="{FF2B5EF4-FFF2-40B4-BE49-F238E27FC236}">
                    <a16:creationId xmlns:a16="http://schemas.microsoft.com/office/drawing/2014/main" id="{29CDA88A-92CA-495E-864C-AE079DC188C5}"/>
                  </a:ext>
                </a:extLst>
              </p:cNvPr>
              <p:cNvSpPr>
                <a:spLocks/>
              </p:cNvSpPr>
              <p:nvPr/>
            </p:nvSpPr>
            <p:spPr bwMode="auto">
              <a:xfrm>
                <a:off x="-1358900" y="4638676"/>
                <a:ext cx="7938" cy="7938"/>
              </a:xfrm>
              <a:custGeom>
                <a:avLst/>
                <a:gdLst>
                  <a:gd name="T0" fmla="*/ 2 w 2"/>
                  <a:gd name="T1" fmla="*/ 0 h 2"/>
                  <a:gd name="T2" fmla="*/ 2 w 2"/>
                  <a:gd name="T3" fmla="*/ 1 h 2"/>
                  <a:gd name="T4" fmla="*/ 1 w 2"/>
                  <a:gd name="T5" fmla="*/ 2 h 2"/>
                  <a:gd name="T6" fmla="*/ 1 w 2"/>
                  <a:gd name="T7" fmla="*/ 2 h 2"/>
                  <a:gd name="T8" fmla="*/ 0 w 2"/>
                  <a:gd name="T9" fmla="*/ 1 h 2"/>
                  <a:gd name="T10" fmla="*/ 2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2" y="0"/>
                    </a:moveTo>
                    <a:cubicBezTo>
                      <a:pt x="2" y="1"/>
                      <a:pt x="2" y="1"/>
                      <a:pt x="2" y="1"/>
                    </a:cubicBezTo>
                    <a:cubicBezTo>
                      <a:pt x="1" y="2"/>
                      <a:pt x="1" y="2"/>
                      <a:pt x="1" y="2"/>
                    </a:cubicBezTo>
                    <a:cubicBezTo>
                      <a:pt x="1" y="2"/>
                      <a:pt x="1" y="2"/>
                      <a:pt x="1" y="2"/>
                    </a:cubicBezTo>
                    <a:cubicBezTo>
                      <a:pt x="0" y="1"/>
                      <a:pt x="0" y="1"/>
                      <a:pt x="0" y="1"/>
                    </a:cubicBezTo>
                    <a:cubicBezTo>
                      <a:pt x="0" y="0"/>
                      <a:pt x="1" y="0"/>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7" name="Freeform 36">
                <a:extLst>
                  <a:ext uri="{FF2B5EF4-FFF2-40B4-BE49-F238E27FC236}">
                    <a16:creationId xmlns:a16="http://schemas.microsoft.com/office/drawing/2014/main" id="{D1F528D9-A4AF-4DE2-87C4-C8D010851BA4}"/>
                  </a:ext>
                </a:extLst>
              </p:cNvPr>
              <p:cNvSpPr>
                <a:spLocks/>
              </p:cNvSpPr>
              <p:nvPr/>
            </p:nvSpPr>
            <p:spPr bwMode="auto">
              <a:xfrm>
                <a:off x="-1385888" y="4646613"/>
                <a:ext cx="7938" cy="7938"/>
              </a:xfrm>
              <a:custGeom>
                <a:avLst/>
                <a:gdLst>
                  <a:gd name="T0" fmla="*/ 1 w 2"/>
                  <a:gd name="T1" fmla="*/ 0 h 2"/>
                  <a:gd name="T2" fmla="*/ 2 w 2"/>
                  <a:gd name="T3" fmla="*/ 1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2" y="0"/>
                      <a:pt x="2" y="0"/>
                      <a:pt x="2" y="1"/>
                    </a:cubicBezTo>
                    <a:cubicBezTo>
                      <a:pt x="2" y="1"/>
                      <a:pt x="2" y="2"/>
                      <a:pt x="1" y="2"/>
                    </a:cubicBezTo>
                    <a:cubicBezTo>
                      <a:pt x="0" y="1"/>
                      <a:pt x="0" y="1"/>
                      <a:pt x="0" y="0"/>
                    </a:cubicBezTo>
                    <a:cubicBezTo>
                      <a:pt x="1" y="0"/>
                      <a:pt x="1"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8" name="Freeform 37">
                <a:extLst>
                  <a:ext uri="{FF2B5EF4-FFF2-40B4-BE49-F238E27FC236}">
                    <a16:creationId xmlns:a16="http://schemas.microsoft.com/office/drawing/2014/main" id="{96E44B5C-C39D-43C1-80AB-12C12D661683}"/>
                  </a:ext>
                </a:extLst>
              </p:cNvPr>
              <p:cNvSpPr>
                <a:spLocks/>
              </p:cNvSpPr>
              <p:nvPr/>
            </p:nvSpPr>
            <p:spPr bwMode="auto">
              <a:xfrm>
                <a:off x="-1479550" y="4699001"/>
                <a:ext cx="55563" cy="57150"/>
              </a:xfrm>
              <a:custGeom>
                <a:avLst/>
                <a:gdLst>
                  <a:gd name="T0" fmla="*/ 14 w 15"/>
                  <a:gd name="T1" fmla="*/ 0 h 15"/>
                  <a:gd name="T2" fmla="*/ 15 w 15"/>
                  <a:gd name="T3" fmla="*/ 3 h 15"/>
                  <a:gd name="T4" fmla="*/ 13 w 15"/>
                  <a:gd name="T5" fmla="*/ 6 h 15"/>
                  <a:gd name="T6" fmla="*/ 1 w 15"/>
                  <a:gd name="T7" fmla="*/ 15 h 15"/>
                  <a:gd name="T8" fmla="*/ 0 w 15"/>
                  <a:gd name="T9" fmla="*/ 12 h 15"/>
                  <a:gd name="T10" fmla="*/ 7 w 15"/>
                  <a:gd name="T11" fmla="*/ 3 h 15"/>
                  <a:gd name="T12" fmla="*/ 14 w 15"/>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 h="15">
                    <a:moveTo>
                      <a:pt x="14" y="0"/>
                    </a:moveTo>
                    <a:cubicBezTo>
                      <a:pt x="15" y="0"/>
                      <a:pt x="15" y="1"/>
                      <a:pt x="15" y="3"/>
                    </a:cubicBezTo>
                    <a:cubicBezTo>
                      <a:pt x="14" y="4"/>
                      <a:pt x="14" y="5"/>
                      <a:pt x="13" y="6"/>
                    </a:cubicBezTo>
                    <a:cubicBezTo>
                      <a:pt x="11" y="10"/>
                      <a:pt x="6" y="14"/>
                      <a:pt x="1" y="15"/>
                    </a:cubicBezTo>
                    <a:cubicBezTo>
                      <a:pt x="1" y="14"/>
                      <a:pt x="1" y="13"/>
                      <a:pt x="0" y="12"/>
                    </a:cubicBezTo>
                    <a:cubicBezTo>
                      <a:pt x="3" y="10"/>
                      <a:pt x="4" y="6"/>
                      <a:pt x="7" y="3"/>
                    </a:cubicBezTo>
                    <a:cubicBezTo>
                      <a:pt x="9" y="2"/>
                      <a:pt x="12" y="1"/>
                      <a:pt x="1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19" name="Freeform 38">
                <a:extLst>
                  <a:ext uri="{FF2B5EF4-FFF2-40B4-BE49-F238E27FC236}">
                    <a16:creationId xmlns:a16="http://schemas.microsoft.com/office/drawing/2014/main" id="{137F9E52-43C9-4393-A3BC-0F4B1BE2C190}"/>
                  </a:ext>
                </a:extLst>
              </p:cNvPr>
              <p:cNvSpPr>
                <a:spLocks/>
              </p:cNvSpPr>
              <p:nvPr/>
            </p:nvSpPr>
            <p:spPr bwMode="auto">
              <a:xfrm>
                <a:off x="-1544638" y="4756151"/>
                <a:ext cx="60325" cy="41275"/>
              </a:xfrm>
              <a:custGeom>
                <a:avLst/>
                <a:gdLst>
                  <a:gd name="T0" fmla="*/ 13 w 16"/>
                  <a:gd name="T1" fmla="*/ 0 h 11"/>
                  <a:gd name="T2" fmla="*/ 14 w 16"/>
                  <a:gd name="T3" fmla="*/ 0 h 11"/>
                  <a:gd name="T4" fmla="*/ 16 w 16"/>
                  <a:gd name="T5" fmla="*/ 1 h 11"/>
                  <a:gd name="T6" fmla="*/ 15 w 16"/>
                  <a:gd name="T7" fmla="*/ 2 h 11"/>
                  <a:gd name="T8" fmla="*/ 12 w 16"/>
                  <a:gd name="T9" fmla="*/ 4 h 11"/>
                  <a:gd name="T10" fmla="*/ 11 w 16"/>
                  <a:gd name="T11" fmla="*/ 6 h 11"/>
                  <a:gd name="T12" fmla="*/ 7 w 16"/>
                  <a:gd name="T13" fmla="*/ 8 h 11"/>
                  <a:gd name="T14" fmla="*/ 6 w 16"/>
                  <a:gd name="T15" fmla="*/ 10 h 11"/>
                  <a:gd name="T16" fmla="*/ 3 w 16"/>
                  <a:gd name="T17" fmla="*/ 11 h 11"/>
                  <a:gd name="T18" fmla="*/ 0 w 16"/>
                  <a:gd name="T19" fmla="*/ 4 h 11"/>
                  <a:gd name="T20" fmla="*/ 3 w 16"/>
                  <a:gd name="T21" fmla="*/ 2 h 11"/>
                  <a:gd name="T22" fmla="*/ 7 w 16"/>
                  <a:gd name="T23" fmla="*/ 2 h 11"/>
                  <a:gd name="T24" fmla="*/ 9 w 16"/>
                  <a:gd name="T25" fmla="*/ 1 h 11"/>
                  <a:gd name="T26" fmla="*/ 13 w 16"/>
                  <a:gd name="T2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11">
                    <a:moveTo>
                      <a:pt x="13" y="0"/>
                    </a:moveTo>
                    <a:cubicBezTo>
                      <a:pt x="13" y="0"/>
                      <a:pt x="14" y="0"/>
                      <a:pt x="14" y="0"/>
                    </a:cubicBezTo>
                    <a:cubicBezTo>
                      <a:pt x="15" y="0"/>
                      <a:pt x="15" y="1"/>
                      <a:pt x="16" y="1"/>
                    </a:cubicBezTo>
                    <a:cubicBezTo>
                      <a:pt x="15" y="2"/>
                      <a:pt x="16" y="2"/>
                      <a:pt x="15" y="2"/>
                    </a:cubicBezTo>
                    <a:cubicBezTo>
                      <a:pt x="15" y="4"/>
                      <a:pt x="14" y="3"/>
                      <a:pt x="12" y="4"/>
                    </a:cubicBezTo>
                    <a:cubicBezTo>
                      <a:pt x="11" y="5"/>
                      <a:pt x="12" y="5"/>
                      <a:pt x="11" y="6"/>
                    </a:cubicBezTo>
                    <a:cubicBezTo>
                      <a:pt x="11" y="7"/>
                      <a:pt x="8" y="7"/>
                      <a:pt x="7" y="8"/>
                    </a:cubicBezTo>
                    <a:cubicBezTo>
                      <a:pt x="7" y="9"/>
                      <a:pt x="7" y="10"/>
                      <a:pt x="6" y="10"/>
                    </a:cubicBezTo>
                    <a:cubicBezTo>
                      <a:pt x="6" y="11"/>
                      <a:pt x="4" y="11"/>
                      <a:pt x="3" y="11"/>
                    </a:cubicBezTo>
                    <a:cubicBezTo>
                      <a:pt x="2" y="9"/>
                      <a:pt x="1" y="7"/>
                      <a:pt x="0" y="4"/>
                    </a:cubicBezTo>
                    <a:cubicBezTo>
                      <a:pt x="1" y="4"/>
                      <a:pt x="2" y="3"/>
                      <a:pt x="3" y="2"/>
                    </a:cubicBezTo>
                    <a:cubicBezTo>
                      <a:pt x="4" y="2"/>
                      <a:pt x="6" y="2"/>
                      <a:pt x="7" y="2"/>
                    </a:cubicBezTo>
                    <a:cubicBezTo>
                      <a:pt x="8" y="2"/>
                      <a:pt x="9" y="1"/>
                      <a:pt x="9" y="1"/>
                    </a:cubicBezTo>
                    <a:cubicBezTo>
                      <a:pt x="11" y="0"/>
                      <a:pt x="12" y="1"/>
                      <a:pt x="1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0" name="Freeform 39">
                <a:extLst>
                  <a:ext uri="{FF2B5EF4-FFF2-40B4-BE49-F238E27FC236}">
                    <a16:creationId xmlns:a16="http://schemas.microsoft.com/office/drawing/2014/main" id="{F34BFFCA-9E9D-4B61-956B-729962716431}"/>
                  </a:ext>
                </a:extLst>
              </p:cNvPr>
              <p:cNvSpPr>
                <a:spLocks/>
              </p:cNvSpPr>
              <p:nvPr/>
            </p:nvSpPr>
            <p:spPr bwMode="auto">
              <a:xfrm>
                <a:off x="-1427163" y="4778376"/>
                <a:ext cx="7938" cy="7938"/>
              </a:xfrm>
              <a:custGeom>
                <a:avLst/>
                <a:gdLst>
                  <a:gd name="T0" fmla="*/ 1 w 2"/>
                  <a:gd name="T1" fmla="*/ 0 h 2"/>
                  <a:gd name="T2" fmla="*/ 2 w 2"/>
                  <a:gd name="T3" fmla="*/ 0 h 2"/>
                  <a:gd name="T4" fmla="*/ 2 w 2"/>
                  <a:gd name="T5" fmla="*/ 2 h 2"/>
                  <a:gd name="T6" fmla="*/ 1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1" y="0"/>
                      <a:pt x="2" y="0"/>
                    </a:cubicBezTo>
                    <a:cubicBezTo>
                      <a:pt x="2" y="1"/>
                      <a:pt x="2" y="1"/>
                      <a:pt x="2" y="2"/>
                    </a:cubicBezTo>
                    <a:cubicBezTo>
                      <a:pt x="2" y="2"/>
                      <a:pt x="2" y="2"/>
                      <a:pt x="1" y="2"/>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1" name="Freeform 40">
                <a:extLst>
                  <a:ext uri="{FF2B5EF4-FFF2-40B4-BE49-F238E27FC236}">
                    <a16:creationId xmlns:a16="http://schemas.microsoft.com/office/drawing/2014/main" id="{FF123C7A-16BD-4D71-856F-FB6D8568CD3F}"/>
                  </a:ext>
                </a:extLst>
              </p:cNvPr>
              <p:cNvSpPr>
                <a:spLocks/>
              </p:cNvSpPr>
              <p:nvPr/>
            </p:nvSpPr>
            <p:spPr bwMode="auto">
              <a:xfrm>
                <a:off x="-741363" y="4794251"/>
                <a:ext cx="60325" cy="36513"/>
              </a:xfrm>
              <a:custGeom>
                <a:avLst/>
                <a:gdLst>
                  <a:gd name="T0" fmla="*/ 14 w 16"/>
                  <a:gd name="T1" fmla="*/ 0 h 10"/>
                  <a:gd name="T2" fmla="*/ 9 w 16"/>
                  <a:gd name="T3" fmla="*/ 1 h 10"/>
                  <a:gd name="T4" fmla="*/ 0 w 16"/>
                  <a:gd name="T5" fmla="*/ 9 h 10"/>
                  <a:gd name="T6" fmla="*/ 0 w 16"/>
                  <a:gd name="T7" fmla="*/ 9 h 10"/>
                  <a:gd name="T8" fmla="*/ 2 w 16"/>
                  <a:gd name="T9" fmla="*/ 10 h 10"/>
                  <a:gd name="T10" fmla="*/ 9 w 16"/>
                  <a:gd name="T11" fmla="*/ 6 h 10"/>
                  <a:gd name="T12" fmla="*/ 13 w 16"/>
                  <a:gd name="T13" fmla="*/ 2 h 10"/>
                  <a:gd name="T14" fmla="*/ 16 w 16"/>
                  <a:gd name="T15" fmla="*/ 0 h 10"/>
                  <a:gd name="T16" fmla="*/ 15 w 16"/>
                  <a:gd name="T17" fmla="*/ 0 h 10"/>
                  <a:gd name="T18" fmla="*/ 14 w 16"/>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4" y="0"/>
                    </a:moveTo>
                    <a:cubicBezTo>
                      <a:pt x="13" y="1"/>
                      <a:pt x="10" y="0"/>
                      <a:pt x="9" y="1"/>
                    </a:cubicBezTo>
                    <a:cubicBezTo>
                      <a:pt x="8" y="1"/>
                      <a:pt x="0" y="8"/>
                      <a:pt x="0" y="9"/>
                    </a:cubicBezTo>
                    <a:cubicBezTo>
                      <a:pt x="0" y="9"/>
                      <a:pt x="0" y="9"/>
                      <a:pt x="0" y="9"/>
                    </a:cubicBezTo>
                    <a:cubicBezTo>
                      <a:pt x="1" y="9"/>
                      <a:pt x="1" y="9"/>
                      <a:pt x="2" y="10"/>
                    </a:cubicBezTo>
                    <a:cubicBezTo>
                      <a:pt x="3" y="8"/>
                      <a:pt x="6" y="7"/>
                      <a:pt x="9" y="6"/>
                    </a:cubicBezTo>
                    <a:cubicBezTo>
                      <a:pt x="10" y="4"/>
                      <a:pt x="12" y="3"/>
                      <a:pt x="13" y="2"/>
                    </a:cubicBezTo>
                    <a:cubicBezTo>
                      <a:pt x="14" y="1"/>
                      <a:pt x="15" y="1"/>
                      <a:pt x="16" y="0"/>
                    </a:cubicBezTo>
                    <a:cubicBezTo>
                      <a:pt x="15" y="0"/>
                      <a:pt x="16" y="0"/>
                      <a:pt x="15" y="0"/>
                    </a:cubicBezTo>
                    <a:cubicBezTo>
                      <a:pt x="15" y="0"/>
                      <a:pt x="14" y="0"/>
                      <a:pt x="1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2" name="Freeform 41">
                <a:extLst>
                  <a:ext uri="{FF2B5EF4-FFF2-40B4-BE49-F238E27FC236}">
                    <a16:creationId xmlns:a16="http://schemas.microsoft.com/office/drawing/2014/main" id="{7195227A-C25E-4806-B940-E58213DF8C34}"/>
                  </a:ext>
                </a:extLst>
              </p:cNvPr>
              <p:cNvSpPr>
                <a:spLocks/>
              </p:cNvSpPr>
              <p:nvPr/>
            </p:nvSpPr>
            <p:spPr bwMode="auto">
              <a:xfrm>
                <a:off x="-1287463" y="4872038"/>
                <a:ext cx="7938" cy="11113"/>
              </a:xfrm>
              <a:custGeom>
                <a:avLst/>
                <a:gdLst>
                  <a:gd name="T0" fmla="*/ 1 w 2"/>
                  <a:gd name="T1" fmla="*/ 0 h 3"/>
                  <a:gd name="T2" fmla="*/ 2 w 2"/>
                  <a:gd name="T3" fmla="*/ 0 h 3"/>
                  <a:gd name="T4" fmla="*/ 2 w 2"/>
                  <a:gd name="T5" fmla="*/ 2 h 3"/>
                  <a:gd name="T6" fmla="*/ 1 w 2"/>
                  <a:gd name="T7" fmla="*/ 3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0"/>
                      <a:pt x="1" y="0"/>
                      <a:pt x="2" y="0"/>
                    </a:cubicBezTo>
                    <a:cubicBezTo>
                      <a:pt x="2" y="1"/>
                      <a:pt x="2" y="1"/>
                      <a:pt x="2" y="2"/>
                    </a:cubicBezTo>
                    <a:cubicBezTo>
                      <a:pt x="2" y="2"/>
                      <a:pt x="2" y="3"/>
                      <a:pt x="1" y="3"/>
                    </a:cubicBezTo>
                    <a:cubicBezTo>
                      <a:pt x="0" y="2"/>
                      <a:pt x="0" y="2"/>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3" name="Freeform 42">
                <a:extLst>
                  <a:ext uri="{FF2B5EF4-FFF2-40B4-BE49-F238E27FC236}">
                    <a16:creationId xmlns:a16="http://schemas.microsoft.com/office/drawing/2014/main" id="{1ECD70DD-F58D-4610-A0F9-1D5577068905}"/>
                  </a:ext>
                </a:extLst>
              </p:cNvPr>
              <p:cNvSpPr>
                <a:spLocks/>
              </p:cNvSpPr>
              <p:nvPr/>
            </p:nvSpPr>
            <p:spPr bwMode="auto">
              <a:xfrm>
                <a:off x="-1449388" y="4883151"/>
                <a:ext cx="188913" cy="252413"/>
              </a:xfrm>
              <a:custGeom>
                <a:avLst/>
                <a:gdLst>
                  <a:gd name="T0" fmla="*/ 47 w 50"/>
                  <a:gd name="T1" fmla="*/ 0 h 67"/>
                  <a:gd name="T2" fmla="*/ 48 w 50"/>
                  <a:gd name="T3" fmla="*/ 1 h 67"/>
                  <a:gd name="T4" fmla="*/ 50 w 50"/>
                  <a:gd name="T5" fmla="*/ 6 h 67"/>
                  <a:gd name="T6" fmla="*/ 48 w 50"/>
                  <a:gd name="T7" fmla="*/ 8 h 67"/>
                  <a:gd name="T8" fmla="*/ 49 w 50"/>
                  <a:gd name="T9" fmla="*/ 12 h 67"/>
                  <a:gd name="T10" fmla="*/ 45 w 50"/>
                  <a:gd name="T11" fmla="*/ 17 h 67"/>
                  <a:gd name="T12" fmla="*/ 45 w 50"/>
                  <a:gd name="T13" fmla="*/ 20 h 67"/>
                  <a:gd name="T14" fmla="*/ 43 w 50"/>
                  <a:gd name="T15" fmla="*/ 23 h 67"/>
                  <a:gd name="T16" fmla="*/ 41 w 50"/>
                  <a:gd name="T17" fmla="*/ 29 h 67"/>
                  <a:gd name="T18" fmla="*/ 40 w 50"/>
                  <a:gd name="T19" fmla="*/ 29 h 67"/>
                  <a:gd name="T20" fmla="*/ 40 w 50"/>
                  <a:gd name="T21" fmla="*/ 31 h 67"/>
                  <a:gd name="T22" fmla="*/ 36 w 50"/>
                  <a:gd name="T23" fmla="*/ 37 h 67"/>
                  <a:gd name="T24" fmla="*/ 34 w 50"/>
                  <a:gd name="T25" fmla="*/ 38 h 67"/>
                  <a:gd name="T26" fmla="*/ 34 w 50"/>
                  <a:gd name="T27" fmla="*/ 42 h 67"/>
                  <a:gd name="T28" fmla="*/ 32 w 50"/>
                  <a:gd name="T29" fmla="*/ 45 h 67"/>
                  <a:gd name="T30" fmla="*/ 28 w 50"/>
                  <a:gd name="T31" fmla="*/ 45 h 67"/>
                  <a:gd name="T32" fmla="*/ 25 w 50"/>
                  <a:gd name="T33" fmla="*/ 43 h 67"/>
                  <a:gd name="T34" fmla="*/ 25 w 50"/>
                  <a:gd name="T35" fmla="*/ 44 h 67"/>
                  <a:gd name="T36" fmla="*/ 28 w 50"/>
                  <a:gd name="T37" fmla="*/ 47 h 67"/>
                  <a:gd name="T38" fmla="*/ 28 w 50"/>
                  <a:gd name="T39" fmla="*/ 58 h 67"/>
                  <a:gd name="T40" fmla="*/ 21 w 50"/>
                  <a:gd name="T41" fmla="*/ 62 h 67"/>
                  <a:gd name="T42" fmla="*/ 18 w 50"/>
                  <a:gd name="T43" fmla="*/ 62 h 67"/>
                  <a:gd name="T44" fmla="*/ 13 w 50"/>
                  <a:gd name="T45" fmla="*/ 67 h 67"/>
                  <a:gd name="T46" fmla="*/ 10 w 50"/>
                  <a:gd name="T47" fmla="*/ 63 h 67"/>
                  <a:gd name="T48" fmla="*/ 11 w 50"/>
                  <a:gd name="T49" fmla="*/ 61 h 67"/>
                  <a:gd name="T50" fmla="*/ 14 w 50"/>
                  <a:gd name="T51" fmla="*/ 57 h 67"/>
                  <a:gd name="T52" fmla="*/ 11 w 50"/>
                  <a:gd name="T53" fmla="*/ 50 h 67"/>
                  <a:gd name="T54" fmla="*/ 14 w 50"/>
                  <a:gd name="T55" fmla="*/ 47 h 67"/>
                  <a:gd name="T56" fmla="*/ 14 w 50"/>
                  <a:gd name="T57" fmla="*/ 46 h 67"/>
                  <a:gd name="T58" fmla="*/ 11 w 50"/>
                  <a:gd name="T59" fmla="*/ 46 h 67"/>
                  <a:gd name="T60" fmla="*/ 1 w 50"/>
                  <a:gd name="T61" fmla="*/ 57 h 67"/>
                  <a:gd name="T62" fmla="*/ 0 w 50"/>
                  <a:gd name="T63" fmla="*/ 57 h 67"/>
                  <a:gd name="T64" fmla="*/ 1 w 50"/>
                  <a:gd name="T65" fmla="*/ 50 h 67"/>
                  <a:gd name="T66" fmla="*/ 3 w 50"/>
                  <a:gd name="T67" fmla="*/ 48 h 67"/>
                  <a:gd name="T68" fmla="*/ 3 w 50"/>
                  <a:gd name="T69" fmla="*/ 43 h 67"/>
                  <a:gd name="T70" fmla="*/ 4 w 50"/>
                  <a:gd name="T71" fmla="*/ 38 h 67"/>
                  <a:gd name="T72" fmla="*/ 11 w 50"/>
                  <a:gd name="T73" fmla="*/ 34 h 67"/>
                  <a:gd name="T74" fmla="*/ 13 w 50"/>
                  <a:gd name="T75" fmla="*/ 36 h 67"/>
                  <a:gd name="T76" fmla="*/ 13 w 50"/>
                  <a:gd name="T77" fmla="*/ 36 h 67"/>
                  <a:gd name="T78" fmla="*/ 13 w 50"/>
                  <a:gd name="T79" fmla="*/ 36 h 67"/>
                  <a:gd name="T80" fmla="*/ 23 w 50"/>
                  <a:gd name="T81" fmla="*/ 29 h 67"/>
                  <a:gd name="T82" fmla="*/ 24 w 50"/>
                  <a:gd name="T83" fmla="*/ 30 h 67"/>
                  <a:gd name="T84" fmla="*/ 24 w 50"/>
                  <a:gd name="T85" fmla="*/ 35 h 67"/>
                  <a:gd name="T86" fmla="*/ 24 w 50"/>
                  <a:gd name="T87" fmla="*/ 35 h 67"/>
                  <a:gd name="T88" fmla="*/ 32 w 50"/>
                  <a:gd name="T89" fmla="*/ 27 h 67"/>
                  <a:gd name="T90" fmla="*/ 30 w 50"/>
                  <a:gd name="T91" fmla="*/ 23 h 67"/>
                  <a:gd name="T92" fmla="*/ 40 w 50"/>
                  <a:gd name="T93" fmla="*/ 13 h 67"/>
                  <a:gd name="T94" fmla="*/ 40 w 50"/>
                  <a:gd name="T95" fmla="*/ 12 h 67"/>
                  <a:gd name="T96" fmla="*/ 46 w 50"/>
                  <a:gd name="T97" fmla="*/ 7 h 67"/>
                  <a:gd name="T98" fmla="*/ 45 w 50"/>
                  <a:gd name="T99" fmla="*/ 5 h 67"/>
                  <a:gd name="T100" fmla="*/ 48 w 50"/>
                  <a:gd name="T101" fmla="*/ 2 h 67"/>
                  <a:gd name="T102" fmla="*/ 47 w 50"/>
                  <a:gd name="T10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67">
                    <a:moveTo>
                      <a:pt x="47" y="0"/>
                    </a:moveTo>
                    <a:cubicBezTo>
                      <a:pt x="48" y="1"/>
                      <a:pt x="48" y="0"/>
                      <a:pt x="48" y="1"/>
                    </a:cubicBezTo>
                    <a:cubicBezTo>
                      <a:pt x="48" y="1"/>
                      <a:pt x="50" y="5"/>
                      <a:pt x="50" y="6"/>
                    </a:cubicBezTo>
                    <a:cubicBezTo>
                      <a:pt x="48" y="6"/>
                      <a:pt x="48" y="6"/>
                      <a:pt x="48" y="8"/>
                    </a:cubicBezTo>
                    <a:cubicBezTo>
                      <a:pt x="49" y="9"/>
                      <a:pt x="49" y="10"/>
                      <a:pt x="49" y="12"/>
                    </a:cubicBezTo>
                    <a:cubicBezTo>
                      <a:pt x="48" y="13"/>
                      <a:pt x="46" y="16"/>
                      <a:pt x="45" y="17"/>
                    </a:cubicBezTo>
                    <a:cubicBezTo>
                      <a:pt x="45" y="18"/>
                      <a:pt x="45" y="19"/>
                      <a:pt x="45" y="20"/>
                    </a:cubicBezTo>
                    <a:cubicBezTo>
                      <a:pt x="44" y="21"/>
                      <a:pt x="43" y="22"/>
                      <a:pt x="43" y="23"/>
                    </a:cubicBezTo>
                    <a:cubicBezTo>
                      <a:pt x="41" y="25"/>
                      <a:pt x="42" y="26"/>
                      <a:pt x="41" y="29"/>
                    </a:cubicBezTo>
                    <a:cubicBezTo>
                      <a:pt x="40" y="29"/>
                      <a:pt x="40" y="29"/>
                      <a:pt x="40" y="29"/>
                    </a:cubicBezTo>
                    <a:cubicBezTo>
                      <a:pt x="40" y="30"/>
                      <a:pt x="40" y="31"/>
                      <a:pt x="40" y="31"/>
                    </a:cubicBezTo>
                    <a:cubicBezTo>
                      <a:pt x="39" y="32"/>
                      <a:pt x="36" y="37"/>
                      <a:pt x="36" y="37"/>
                    </a:cubicBezTo>
                    <a:cubicBezTo>
                      <a:pt x="35" y="38"/>
                      <a:pt x="35" y="37"/>
                      <a:pt x="34" y="38"/>
                    </a:cubicBezTo>
                    <a:cubicBezTo>
                      <a:pt x="33" y="39"/>
                      <a:pt x="34" y="40"/>
                      <a:pt x="34" y="42"/>
                    </a:cubicBezTo>
                    <a:cubicBezTo>
                      <a:pt x="33" y="42"/>
                      <a:pt x="33" y="43"/>
                      <a:pt x="32" y="45"/>
                    </a:cubicBezTo>
                    <a:cubicBezTo>
                      <a:pt x="31" y="45"/>
                      <a:pt x="30" y="45"/>
                      <a:pt x="28" y="45"/>
                    </a:cubicBezTo>
                    <a:cubicBezTo>
                      <a:pt x="28" y="45"/>
                      <a:pt x="25" y="43"/>
                      <a:pt x="25" y="43"/>
                    </a:cubicBezTo>
                    <a:cubicBezTo>
                      <a:pt x="25" y="43"/>
                      <a:pt x="25" y="43"/>
                      <a:pt x="25" y="44"/>
                    </a:cubicBezTo>
                    <a:cubicBezTo>
                      <a:pt x="26" y="45"/>
                      <a:pt x="27" y="46"/>
                      <a:pt x="28" y="47"/>
                    </a:cubicBezTo>
                    <a:cubicBezTo>
                      <a:pt x="27" y="50"/>
                      <a:pt x="28" y="54"/>
                      <a:pt x="28" y="58"/>
                    </a:cubicBezTo>
                    <a:cubicBezTo>
                      <a:pt x="26" y="59"/>
                      <a:pt x="24" y="61"/>
                      <a:pt x="21" y="62"/>
                    </a:cubicBezTo>
                    <a:cubicBezTo>
                      <a:pt x="20" y="62"/>
                      <a:pt x="19" y="61"/>
                      <a:pt x="18" y="62"/>
                    </a:cubicBezTo>
                    <a:cubicBezTo>
                      <a:pt x="16" y="64"/>
                      <a:pt x="17" y="67"/>
                      <a:pt x="13" y="67"/>
                    </a:cubicBezTo>
                    <a:cubicBezTo>
                      <a:pt x="11" y="66"/>
                      <a:pt x="10" y="66"/>
                      <a:pt x="10" y="63"/>
                    </a:cubicBezTo>
                    <a:cubicBezTo>
                      <a:pt x="11" y="62"/>
                      <a:pt x="10" y="61"/>
                      <a:pt x="11" y="61"/>
                    </a:cubicBezTo>
                    <a:cubicBezTo>
                      <a:pt x="12" y="59"/>
                      <a:pt x="14" y="59"/>
                      <a:pt x="14" y="57"/>
                    </a:cubicBezTo>
                    <a:cubicBezTo>
                      <a:pt x="15" y="54"/>
                      <a:pt x="10" y="53"/>
                      <a:pt x="11" y="50"/>
                    </a:cubicBezTo>
                    <a:cubicBezTo>
                      <a:pt x="11" y="49"/>
                      <a:pt x="13" y="48"/>
                      <a:pt x="14" y="47"/>
                    </a:cubicBezTo>
                    <a:cubicBezTo>
                      <a:pt x="14" y="46"/>
                      <a:pt x="14" y="46"/>
                      <a:pt x="14" y="46"/>
                    </a:cubicBezTo>
                    <a:cubicBezTo>
                      <a:pt x="13" y="46"/>
                      <a:pt x="12" y="46"/>
                      <a:pt x="11" y="46"/>
                    </a:cubicBezTo>
                    <a:cubicBezTo>
                      <a:pt x="9" y="49"/>
                      <a:pt x="6" y="57"/>
                      <a:pt x="1" y="57"/>
                    </a:cubicBezTo>
                    <a:cubicBezTo>
                      <a:pt x="1" y="57"/>
                      <a:pt x="1" y="57"/>
                      <a:pt x="0" y="57"/>
                    </a:cubicBezTo>
                    <a:cubicBezTo>
                      <a:pt x="0" y="55"/>
                      <a:pt x="0" y="52"/>
                      <a:pt x="1" y="50"/>
                    </a:cubicBezTo>
                    <a:cubicBezTo>
                      <a:pt x="1" y="49"/>
                      <a:pt x="2" y="48"/>
                      <a:pt x="3" y="48"/>
                    </a:cubicBezTo>
                    <a:cubicBezTo>
                      <a:pt x="3" y="46"/>
                      <a:pt x="2" y="45"/>
                      <a:pt x="3" y="43"/>
                    </a:cubicBezTo>
                    <a:cubicBezTo>
                      <a:pt x="3" y="42"/>
                      <a:pt x="4" y="40"/>
                      <a:pt x="4" y="38"/>
                    </a:cubicBezTo>
                    <a:cubicBezTo>
                      <a:pt x="6" y="37"/>
                      <a:pt x="9" y="35"/>
                      <a:pt x="11" y="34"/>
                    </a:cubicBezTo>
                    <a:cubicBezTo>
                      <a:pt x="12" y="35"/>
                      <a:pt x="12" y="35"/>
                      <a:pt x="13" y="36"/>
                    </a:cubicBezTo>
                    <a:cubicBezTo>
                      <a:pt x="13" y="36"/>
                      <a:pt x="13" y="36"/>
                      <a:pt x="13" y="36"/>
                    </a:cubicBezTo>
                    <a:cubicBezTo>
                      <a:pt x="13" y="36"/>
                      <a:pt x="13" y="36"/>
                      <a:pt x="13" y="36"/>
                    </a:cubicBezTo>
                    <a:cubicBezTo>
                      <a:pt x="16" y="34"/>
                      <a:pt x="18" y="30"/>
                      <a:pt x="23" y="29"/>
                    </a:cubicBezTo>
                    <a:cubicBezTo>
                      <a:pt x="23" y="30"/>
                      <a:pt x="24" y="30"/>
                      <a:pt x="24" y="30"/>
                    </a:cubicBezTo>
                    <a:cubicBezTo>
                      <a:pt x="24" y="32"/>
                      <a:pt x="24" y="34"/>
                      <a:pt x="24" y="35"/>
                    </a:cubicBezTo>
                    <a:cubicBezTo>
                      <a:pt x="24" y="35"/>
                      <a:pt x="24" y="35"/>
                      <a:pt x="24" y="35"/>
                    </a:cubicBezTo>
                    <a:cubicBezTo>
                      <a:pt x="24" y="30"/>
                      <a:pt x="29" y="30"/>
                      <a:pt x="32" y="27"/>
                    </a:cubicBezTo>
                    <a:cubicBezTo>
                      <a:pt x="30" y="26"/>
                      <a:pt x="30" y="25"/>
                      <a:pt x="30" y="23"/>
                    </a:cubicBezTo>
                    <a:cubicBezTo>
                      <a:pt x="33" y="19"/>
                      <a:pt x="36" y="16"/>
                      <a:pt x="40" y="13"/>
                    </a:cubicBezTo>
                    <a:cubicBezTo>
                      <a:pt x="40" y="13"/>
                      <a:pt x="40" y="12"/>
                      <a:pt x="40" y="12"/>
                    </a:cubicBezTo>
                    <a:cubicBezTo>
                      <a:pt x="43" y="10"/>
                      <a:pt x="45" y="10"/>
                      <a:pt x="46" y="7"/>
                    </a:cubicBezTo>
                    <a:cubicBezTo>
                      <a:pt x="45" y="6"/>
                      <a:pt x="45" y="6"/>
                      <a:pt x="45" y="5"/>
                    </a:cubicBezTo>
                    <a:cubicBezTo>
                      <a:pt x="46" y="4"/>
                      <a:pt x="47" y="4"/>
                      <a:pt x="48" y="2"/>
                    </a:cubicBezTo>
                    <a:cubicBezTo>
                      <a:pt x="47" y="2"/>
                      <a:pt x="47" y="1"/>
                      <a:pt x="4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4" name="Freeform 43">
                <a:extLst>
                  <a:ext uri="{FF2B5EF4-FFF2-40B4-BE49-F238E27FC236}">
                    <a16:creationId xmlns:a16="http://schemas.microsoft.com/office/drawing/2014/main" id="{18ADB2EC-0471-430C-AF98-134590991225}"/>
                  </a:ext>
                </a:extLst>
              </p:cNvPr>
              <p:cNvSpPr>
                <a:spLocks/>
              </p:cNvSpPr>
              <p:nvPr/>
            </p:nvSpPr>
            <p:spPr bwMode="auto">
              <a:xfrm>
                <a:off x="-1397000" y="4918076"/>
                <a:ext cx="33338" cy="52388"/>
              </a:xfrm>
              <a:custGeom>
                <a:avLst/>
                <a:gdLst>
                  <a:gd name="T0" fmla="*/ 7 w 9"/>
                  <a:gd name="T1" fmla="*/ 0 h 14"/>
                  <a:gd name="T2" fmla="*/ 8 w 9"/>
                  <a:gd name="T3" fmla="*/ 0 h 14"/>
                  <a:gd name="T4" fmla="*/ 9 w 9"/>
                  <a:gd name="T5" fmla="*/ 3 h 14"/>
                  <a:gd name="T6" fmla="*/ 7 w 9"/>
                  <a:gd name="T7" fmla="*/ 7 h 14"/>
                  <a:gd name="T8" fmla="*/ 7 w 9"/>
                  <a:gd name="T9" fmla="*/ 9 h 14"/>
                  <a:gd name="T10" fmla="*/ 4 w 9"/>
                  <a:gd name="T11" fmla="*/ 11 h 14"/>
                  <a:gd name="T12" fmla="*/ 3 w 9"/>
                  <a:gd name="T13" fmla="*/ 14 h 14"/>
                  <a:gd name="T14" fmla="*/ 1 w 9"/>
                  <a:gd name="T15" fmla="*/ 14 h 14"/>
                  <a:gd name="T16" fmla="*/ 0 w 9"/>
                  <a:gd name="T17" fmla="*/ 11 h 14"/>
                  <a:gd name="T18" fmla="*/ 6 w 9"/>
                  <a:gd name="T19" fmla="*/ 1 h 14"/>
                  <a:gd name="T20" fmla="*/ 7 w 9"/>
                  <a:gd name="T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4">
                    <a:moveTo>
                      <a:pt x="7" y="0"/>
                    </a:moveTo>
                    <a:cubicBezTo>
                      <a:pt x="8" y="0"/>
                      <a:pt x="8" y="0"/>
                      <a:pt x="8" y="0"/>
                    </a:cubicBezTo>
                    <a:cubicBezTo>
                      <a:pt x="9" y="1"/>
                      <a:pt x="9" y="1"/>
                      <a:pt x="9" y="3"/>
                    </a:cubicBezTo>
                    <a:cubicBezTo>
                      <a:pt x="9" y="4"/>
                      <a:pt x="7" y="6"/>
                      <a:pt x="7" y="7"/>
                    </a:cubicBezTo>
                    <a:cubicBezTo>
                      <a:pt x="7" y="8"/>
                      <a:pt x="7" y="9"/>
                      <a:pt x="7" y="9"/>
                    </a:cubicBezTo>
                    <a:cubicBezTo>
                      <a:pt x="6" y="10"/>
                      <a:pt x="5" y="11"/>
                      <a:pt x="4" y="11"/>
                    </a:cubicBezTo>
                    <a:cubicBezTo>
                      <a:pt x="4" y="12"/>
                      <a:pt x="4" y="13"/>
                      <a:pt x="3" y="14"/>
                    </a:cubicBezTo>
                    <a:cubicBezTo>
                      <a:pt x="2" y="14"/>
                      <a:pt x="2" y="14"/>
                      <a:pt x="1" y="14"/>
                    </a:cubicBezTo>
                    <a:cubicBezTo>
                      <a:pt x="1" y="13"/>
                      <a:pt x="1" y="13"/>
                      <a:pt x="0" y="11"/>
                    </a:cubicBezTo>
                    <a:cubicBezTo>
                      <a:pt x="2" y="8"/>
                      <a:pt x="3" y="1"/>
                      <a:pt x="6" y="1"/>
                    </a:cubicBezTo>
                    <a:cubicBezTo>
                      <a:pt x="7" y="1"/>
                      <a:pt x="7" y="1"/>
                      <a:pt x="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5" name="Freeform 44">
                <a:extLst>
                  <a:ext uri="{FF2B5EF4-FFF2-40B4-BE49-F238E27FC236}">
                    <a16:creationId xmlns:a16="http://schemas.microsoft.com/office/drawing/2014/main" id="{4DC23947-14F7-46B5-9BA7-E63D4957F58C}"/>
                  </a:ext>
                </a:extLst>
              </p:cNvPr>
              <p:cNvSpPr>
                <a:spLocks/>
              </p:cNvSpPr>
              <p:nvPr/>
            </p:nvSpPr>
            <p:spPr bwMode="auto">
              <a:xfrm>
                <a:off x="-1114425" y="5053013"/>
                <a:ext cx="15875" cy="19050"/>
              </a:xfrm>
              <a:custGeom>
                <a:avLst/>
                <a:gdLst>
                  <a:gd name="T0" fmla="*/ 0 w 4"/>
                  <a:gd name="T1" fmla="*/ 5 h 5"/>
                  <a:gd name="T2" fmla="*/ 3 w 4"/>
                  <a:gd name="T3" fmla="*/ 0 h 5"/>
                  <a:gd name="T4" fmla="*/ 4 w 4"/>
                  <a:gd name="T5" fmla="*/ 4 h 5"/>
                  <a:gd name="T6" fmla="*/ 3 w 4"/>
                  <a:gd name="T7" fmla="*/ 5 h 5"/>
                  <a:gd name="T8" fmla="*/ 0 w 4"/>
                  <a:gd name="T9" fmla="*/ 5 h 5"/>
                </a:gdLst>
                <a:ahLst/>
                <a:cxnLst>
                  <a:cxn ang="0">
                    <a:pos x="T0" y="T1"/>
                  </a:cxn>
                  <a:cxn ang="0">
                    <a:pos x="T2" y="T3"/>
                  </a:cxn>
                  <a:cxn ang="0">
                    <a:pos x="T4" y="T5"/>
                  </a:cxn>
                  <a:cxn ang="0">
                    <a:pos x="T6" y="T7"/>
                  </a:cxn>
                  <a:cxn ang="0">
                    <a:pos x="T8" y="T9"/>
                  </a:cxn>
                </a:cxnLst>
                <a:rect l="0" t="0" r="r" b="b"/>
                <a:pathLst>
                  <a:path w="4" h="5">
                    <a:moveTo>
                      <a:pt x="0" y="5"/>
                    </a:moveTo>
                    <a:cubicBezTo>
                      <a:pt x="0" y="2"/>
                      <a:pt x="1" y="0"/>
                      <a:pt x="3" y="0"/>
                    </a:cubicBezTo>
                    <a:cubicBezTo>
                      <a:pt x="4" y="1"/>
                      <a:pt x="4" y="2"/>
                      <a:pt x="4" y="4"/>
                    </a:cubicBezTo>
                    <a:cubicBezTo>
                      <a:pt x="4" y="5"/>
                      <a:pt x="3" y="5"/>
                      <a:pt x="3" y="5"/>
                    </a:cubicBezTo>
                    <a:cubicBezTo>
                      <a:pt x="2" y="5"/>
                      <a:pt x="1" y="5"/>
                      <a:pt x="0" y="5"/>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6" name="Freeform 45">
                <a:extLst>
                  <a:ext uri="{FF2B5EF4-FFF2-40B4-BE49-F238E27FC236}">
                    <a16:creationId xmlns:a16="http://schemas.microsoft.com/office/drawing/2014/main" id="{1CE46EC6-704D-41D0-8CA8-ED29165A8472}"/>
                  </a:ext>
                </a:extLst>
              </p:cNvPr>
              <p:cNvSpPr>
                <a:spLocks/>
              </p:cNvSpPr>
              <p:nvPr/>
            </p:nvSpPr>
            <p:spPr bwMode="auto">
              <a:xfrm>
                <a:off x="-1290638" y="5075238"/>
                <a:ext cx="14288" cy="34925"/>
              </a:xfrm>
              <a:custGeom>
                <a:avLst/>
                <a:gdLst>
                  <a:gd name="T0" fmla="*/ 2 w 4"/>
                  <a:gd name="T1" fmla="*/ 0 h 9"/>
                  <a:gd name="T2" fmla="*/ 4 w 4"/>
                  <a:gd name="T3" fmla="*/ 0 h 9"/>
                  <a:gd name="T4" fmla="*/ 3 w 4"/>
                  <a:gd name="T5" fmla="*/ 8 h 9"/>
                  <a:gd name="T6" fmla="*/ 2 w 4"/>
                  <a:gd name="T7" fmla="*/ 9 h 9"/>
                  <a:gd name="T8" fmla="*/ 2 w 4"/>
                  <a:gd name="T9" fmla="*/ 8 h 9"/>
                  <a:gd name="T10" fmla="*/ 2 w 4"/>
                  <a:gd name="T11" fmla="*/ 0 h 9"/>
                </a:gdLst>
                <a:ahLst/>
                <a:cxnLst>
                  <a:cxn ang="0">
                    <a:pos x="T0" y="T1"/>
                  </a:cxn>
                  <a:cxn ang="0">
                    <a:pos x="T2" y="T3"/>
                  </a:cxn>
                  <a:cxn ang="0">
                    <a:pos x="T4" y="T5"/>
                  </a:cxn>
                  <a:cxn ang="0">
                    <a:pos x="T6" y="T7"/>
                  </a:cxn>
                  <a:cxn ang="0">
                    <a:pos x="T8" y="T9"/>
                  </a:cxn>
                  <a:cxn ang="0">
                    <a:pos x="T10" y="T11"/>
                  </a:cxn>
                </a:cxnLst>
                <a:rect l="0" t="0" r="r" b="b"/>
                <a:pathLst>
                  <a:path w="4" h="9">
                    <a:moveTo>
                      <a:pt x="2" y="0"/>
                    </a:moveTo>
                    <a:cubicBezTo>
                      <a:pt x="3" y="0"/>
                      <a:pt x="3" y="0"/>
                      <a:pt x="4" y="0"/>
                    </a:cubicBezTo>
                    <a:cubicBezTo>
                      <a:pt x="4" y="3"/>
                      <a:pt x="4" y="6"/>
                      <a:pt x="3" y="8"/>
                    </a:cubicBezTo>
                    <a:cubicBezTo>
                      <a:pt x="2" y="8"/>
                      <a:pt x="2" y="8"/>
                      <a:pt x="2" y="9"/>
                    </a:cubicBezTo>
                    <a:cubicBezTo>
                      <a:pt x="2" y="8"/>
                      <a:pt x="2" y="8"/>
                      <a:pt x="2" y="8"/>
                    </a:cubicBezTo>
                    <a:cubicBezTo>
                      <a:pt x="0" y="6"/>
                      <a:pt x="1" y="2"/>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7" name="Freeform 46">
                <a:extLst>
                  <a:ext uri="{FF2B5EF4-FFF2-40B4-BE49-F238E27FC236}">
                    <a16:creationId xmlns:a16="http://schemas.microsoft.com/office/drawing/2014/main" id="{C09F5FB8-61AA-4F13-98CB-73F3D01EB757}"/>
                  </a:ext>
                </a:extLst>
              </p:cNvPr>
              <p:cNvSpPr>
                <a:spLocks/>
              </p:cNvSpPr>
              <p:nvPr/>
            </p:nvSpPr>
            <p:spPr bwMode="auto">
              <a:xfrm>
                <a:off x="-1216025" y="5080001"/>
                <a:ext cx="82550" cy="131763"/>
              </a:xfrm>
              <a:custGeom>
                <a:avLst/>
                <a:gdLst>
                  <a:gd name="T0" fmla="*/ 9 w 22"/>
                  <a:gd name="T1" fmla="*/ 0 h 35"/>
                  <a:gd name="T2" fmla="*/ 12 w 22"/>
                  <a:gd name="T3" fmla="*/ 1 h 35"/>
                  <a:gd name="T4" fmla="*/ 18 w 22"/>
                  <a:gd name="T5" fmla="*/ 8 h 35"/>
                  <a:gd name="T6" fmla="*/ 18 w 22"/>
                  <a:gd name="T7" fmla="*/ 13 h 35"/>
                  <a:gd name="T8" fmla="*/ 22 w 22"/>
                  <a:gd name="T9" fmla="*/ 21 h 35"/>
                  <a:gd name="T10" fmla="*/ 21 w 22"/>
                  <a:gd name="T11" fmla="*/ 22 h 35"/>
                  <a:gd name="T12" fmla="*/ 21 w 22"/>
                  <a:gd name="T13" fmla="*/ 31 h 35"/>
                  <a:gd name="T14" fmla="*/ 18 w 22"/>
                  <a:gd name="T15" fmla="*/ 34 h 35"/>
                  <a:gd name="T16" fmla="*/ 7 w 22"/>
                  <a:gd name="T17" fmla="*/ 32 h 35"/>
                  <a:gd name="T18" fmla="*/ 4 w 22"/>
                  <a:gd name="T19" fmla="*/ 26 h 35"/>
                  <a:gd name="T20" fmla="*/ 4 w 22"/>
                  <a:gd name="T21" fmla="*/ 17 h 35"/>
                  <a:gd name="T22" fmla="*/ 3 w 22"/>
                  <a:gd name="T23" fmla="*/ 5 h 35"/>
                  <a:gd name="T24" fmla="*/ 9 w 22"/>
                  <a:gd name="T25"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5">
                    <a:moveTo>
                      <a:pt x="9" y="0"/>
                    </a:moveTo>
                    <a:cubicBezTo>
                      <a:pt x="10" y="0"/>
                      <a:pt x="11" y="0"/>
                      <a:pt x="12" y="1"/>
                    </a:cubicBezTo>
                    <a:cubicBezTo>
                      <a:pt x="15" y="2"/>
                      <a:pt x="17" y="5"/>
                      <a:pt x="18" y="8"/>
                    </a:cubicBezTo>
                    <a:cubicBezTo>
                      <a:pt x="18" y="10"/>
                      <a:pt x="18" y="12"/>
                      <a:pt x="18" y="13"/>
                    </a:cubicBezTo>
                    <a:cubicBezTo>
                      <a:pt x="19" y="16"/>
                      <a:pt x="22" y="18"/>
                      <a:pt x="22" y="21"/>
                    </a:cubicBezTo>
                    <a:cubicBezTo>
                      <a:pt x="22" y="21"/>
                      <a:pt x="21" y="22"/>
                      <a:pt x="21" y="22"/>
                    </a:cubicBezTo>
                    <a:cubicBezTo>
                      <a:pt x="20" y="25"/>
                      <a:pt x="21" y="27"/>
                      <a:pt x="21" y="31"/>
                    </a:cubicBezTo>
                    <a:cubicBezTo>
                      <a:pt x="20" y="32"/>
                      <a:pt x="20" y="33"/>
                      <a:pt x="18" y="34"/>
                    </a:cubicBezTo>
                    <a:cubicBezTo>
                      <a:pt x="16" y="35"/>
                      <a:pt x="8" y="33"/>
                      <a:pt x="7" y="32"/>
                    </a:cubicBezTo>
                    <a:cubicBezTo>
                      <a:pt x="6" y="30"/>
                      <a:pt x="5" y="28"/>
                      <a:pt x="4" y="26"/>
                    </a:cubicBezTo>
                    <a:cubicBezTo>
                      <a:pt x="4" y="23"/>
                      <a:pt x="4" y="20"/>
                      <a:pt x="4" y="17"/>
                    </a:cubicBezTo>
                    <a:cubicBezTo>
                      <a:pt x="3" y="13"/>
                      <a:pt x="0" y="10"/>
                      <a:pt x="3" y="5"/>
                    </a:cubicBezTo>
                    <a:cubicBezTo>
                      <a:pt x="4" y="3"/>
                      <a:pt x="7" y="1"/>
                      <a:pt x="9"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8" name="Freeform 47">
                <a:extLst>
                  <a:ext uri="{FF2B5EF4-FFF2-40B4-BE49-F238E27FC236}">
                    <a16:creationId xmlns:a16="http://schemas.microsoft.com/office/drawing/2014/main" id="{1A745527-230E-446D-91F5-7CE58FF9DD1F}"/>
                  </a:ext>
                </a:extLst>
              </p:cNvPr>
              <p:cNvSpPr>
                <a:spLocks/>
              </p:cNvSpPr>
              <p:nvPr/>
            </p:nvSpPr>
            <p:spPr bwMode="auto">
              <a:xfrm>
                <a:off x="-1423988" y="5102226"/>
                <a:ext cx="7938" cy="7938"/>
              </a:xfrm>
              <a:custGeom>
                <a:avLst/>
                <a:gdLst>
                  <a:gd name="T0" fmla="*/ 1 w 2"/>
                  <a:gd name="T1" fmla="*/ 0 h 2"/>
                  <a:gd name="T2" fmla="*/ 2 w 2"/>
                  <a:gd name="T3" fmla="*/ 2 h 2"/>
                  <a:gd name="T4" fmla="*/ 0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1" y="0"/>
                      <a:pt x="2" y="1"/>
                      <a:pt x="2" y="2"/>
                    </a:cubicBezTo>
                    <a:cubicBezTo>
                      <a:pt x="1" y="2"/>
                      <a:pt x="1" y="2"/>
                      <a:pt x="0" y="1"/>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29" name="Freeform 48">
                <a:extLst>
                  <a:ext uri="{FF2B5EF4-FFF2-40B4-BE49-F238E27FC236}">
                    <a16:creationId xmlns:a16="http://schemas.microsoft.com/office/drawing/2014/main" id="{7655B9B6-39FE-4825-9D71-6A46FD86669E}"/>
                  </a:ext>
                </a:extLst>
              </p:cNvPr>
              <p:cNvSpPr>
                <a:spLocks/>
              </p:cNvSpPr>
              <p:nvPr/>
            </p:nvSpPr>
            <p:spPr bwMode="auto">
              <a:xfrm>
                <a:off x="-1400175" y="5233988"/>
                <a:ext cx="22225" cy="14288"/>
              </a:xfrm>
              <a:custGeom>
                <a:avLst/>
                <a:gdLst>
                  <a:gd name="T0" fmla="*/ 1 w 6"/>
                  <a:gd name="T1" fmla="*/ 0 h 4"/>
                  <a:gd name="T2" fmla="*/ 6 w 6"/>
                  <a:gd name="T3" fmla="*/ 4 h 4"/>
                  <a:gd name="T4" fmla="*/ 5 w 6"/>
                  <a:gd name="T5" fmla="*/ 4 h 4"/>
                  <a:gd name="T6" fmla="*/ 4 w 6"/>
                  <a:gd name="T7" fmla="*/ 2 h 4"/>
                  <a:gd name="T8" fmla="*/ 0 w 6"/>
                  <a:gd name="T9" fmla="*/ 2 h 4"/>
                  <a:gd name="T10" fmla="*/ 0 w 6"/>
                  <a:gd name="T11" fmla="*/ 1 h 4"/>
                  <a:gd name="T12" fmla="*/ 1 w 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1" y="0"/>
                    </a:moveTo>
                    <a:cubicBezTo>
                      <a:pt x="4" y="0"/>
                      <a:pt x="6" y="1"/>
                      <a:pt x="6" y="4"/>
                    </a:cubicBezTo>
                    <a:cubicBezTo>
                      <a:pt x="6" y="4"/>
                      <a:pt x="5" y="4"/>
                      <a:pt x="5" y="4"/>
                    </a:cubicBezTo>
                    <a:cubicBezTo>
                      <a:pt x="5" y="3"/>
                      <a:pt x="4" y="3"/>
                      <a:pt x="4" y="2"/>
                    </a:cubicBezTo>
                    <a:cubicBezTo>
                      <a:pt x="3" y="2"/>
                      <a:pt x="1" y="2"/>
                      <a:pt x="0" y="2"/>
                    </a:cubicBezTo>
                    <a:cubicBezTo>
                      <a:pt x="0" y="1"/>
                      <a:pt x="0" y="1"/>
                      <a:pt x="0" y="1"/>
                    </a:cubicBezTo>
                    <a:cubicBezTo>
                      <a:pt x="0" y="0"/>
                      <a:pt x="0"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0" name="Freeform 49">
                <a:extLst>
                  <a:ext uri="{FF2B5EF4-FFF2-40B4-BE49-F238E27FC236}">
                    <a16:creationId xmlns:a16="http://schemas.microsoft.com/office/drawing/2014/main" id="{1534FF0E-F1F5-4A83-8AC8-D2DD17352FB8}"/>
                  </a:ext>
                </a:extLst>
              </p:cNvPr>
              <p:cNvSpPr>
                <a:spLocks/>
              </p:cNvSpPr>
              <p:nvPr/>
            </p:nvSpPr>
            <p:spPr bwMode="auto">
              <a:xfrm>
                <a:off x="-1254125" y="5245101"/>
                <a:ext cx="7938" cy="7938"/>
              </a:xfrm>
              <a:custGeom>
                <a:avLst/>
                <a:gdLst>
                  <a:gd name="T0" fmla="*/ 0 w 2"/>
                  <a:gd name="T1" fmla="*/ 0 h 2"/>
                  <a:gd name="T2" fmla="*/ 2 w 2"/>
                  <a:gd name="T3" fmla="*/ 0 h 2"/>
                  <a:gd name="T4" fmla="*/ 2 w 2"/>
                  <a:gd name="T5" fmla="*/ 2 h 2"/>
                  <a:gd name="T6" fmla="*/ 0 w 2"/>
                  <a:gd name="T7" fmla="*/ 2 h 2"/>
                  <a:gd name="T8" fmla="*/ 0 w 2"/>
                  <a:gd name="T9" fmla="*/ 0 h 2"/>
                </a:gdLst>
                <a:ahLst/>
                <a:cxnLst>
                  <a:cxn ang="0">
                    <a:pos x="T0" y="T1"/>
                  </a:cxn>
                  <a:cxn ang="0">
                    <a:pos x="T2" y="T3"/>
                  </a:cxn>
                  <a:cxn ang="0">
                    <a:pos x="T4" y="T5"/>
                  </a:cxn>
                  <a:cxn ang="0">
                    <a:pos x="T6" y="T7"/>
                  </a:cxn>
                  <a:cxn ang="0">
                    <a:pos x="T8" y="T9"/>
                  </a:cxn>
                </a:cxnLst>
                <a:rect l="0" t="0" r="r" b="b"/>
                <a:pathLst>
                  <a:path w="2" h="2">
                    <a:moveTo>
                      <a:pt x="0" y="0"/>
                    </a:moveTo>
                    <a:cubicBezTo>
                      <a:pt x="1" y="0"/>
                      <a:pt x="1" y="0"/>
                      <a:pt x="2" y="0"/>
                    </a:cubicBezTo>
                    <a:cubicBezTo>
                      <a:pt x="2" y="0"/>
                      <a:pt x="2" y="1"/>
                      <a:pt x="2" y="2"/>
                    </a:cubicBezTo>
                    <a:cubicBezTo>
                      <a:pt x="2" y="2"/>
                      <a:pt x="1" y="2"/>
                      <a:pt x="0" y="2"/>
                    </a:cubicBezTo>
                    <a:cubicBezTo>
                      <a:pt x="0" y="1"/>
                      <a:pt x="0" y="1"/>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1" name="Freeform 50">
                <a:extLst>
                  <a:ext uri="{FF2B5EF4-FFF2-40B4-BE49-F238E27FC236}">
                    <a16:creationId xmlns:a16="http://schemas.microsoft.com/office/drawing/2014/main" id="{3AB792E4-A546-412B-9EFE-C4EA118C0E8D}"/>
                  </a:ext>
                </a:extLst>
              </p:cNvPr>
              <p:cNvSpPr>
                <a:spLocks/>
              </p:cNvSpPr>
              <p:nvPr/>
            </p:nvSpPr>
            <p:spPr bwMode="auto">
              <a:xfrm>
                <a:off x="-1830388" y="5256213"/>
                <a:ext cx="614363" cy="469900"/>
              </a:xfrm>
              <a:custGeom>
                <a:avLst/>
                <a:gdLst>
                  <a:gd name="T0" fmla="*/ 105 w 163"/>
                  <a:gd name="T1" fmla="*/ 1 h 125"/>
                  <a:gd name="T2" fmla="*/ 113 w 163"/>
                  <a:gd name="T3" fmla="*/ 2 h 125"/>
                  <a:gd name="T4" fmla="*/ 116 w 163"/>
                  <a:gd name="T5" fmla="*/ 4 h 125"/>
                  <a:gd name="T6" fmla="*/ 126 w 163"/>
                  <a:gd name="T7" fmla="*/ 5 h 125"/>
                  <a:gd name="T8" fmla="*/ 131 w 163"/>
                  <a:gd name="T9" fmla="*/ 21 h 125"/>
                  <a:gd name="T10" fmla="*/ 138 w 163"/>
                  <a:gd name="T11" fmla="*/ 36 h 125"/>
                  <a:gd name="T12" fmla="*/ 145 w 163"/>
                  <a:gd name="T13" fmla="*/ 40 h 125"/>
                  <a:gd name="T14" fmla="*/ 138 w 163"/>
                  <a:gd name="T15" fmla="*/ 57 h 125"/>
                  <a:gd name="T16" fmla="*/ 135 w 163"/>
                  <a:gd name="T17" fmla="*/ 59 h 125"/>
                  <a:gd name="T18" fmla="*/ 134 w 163"/>
                  <a:gd name="T19" fmla="*/ 64 h 125"/>
                  <a:gd name="T20" fmla="*/ 134 w 163"/>
                  <a:gd name="T21" fmla="*/ 64 h 125"/>
                  <a:gd name="T22" fmla="*/ 148 w 163"/>
                  <a:gd name="T23" fmla="*/ 59 h 125"/>
                  <a:gd name="T24" fmla="*/ 156 w 163"/>
                  <a:gd name="T25" fmla="*/ 60 h 125"/>
                  <a:gd name="T26" fmla="*/ 160 w 163"/>
                  <a:gd name="T27" fmla="*/ 77 h 125"/>
                  <a:gd name="T28" fmla="*/ 161 w 163"/>
                  <a:gd name="T29" fmla="*/ 83 h 125"/>
                  <a:gd name="T30" fmla="*/ 160 w 163"/>
                  <a:gd name="T31" fmla="*/ 93 h 125"/>
                  <a:gd name="T32" fmla="*/ 157 w 163"/>
                  <a:gd name="T33" fmla="*/ 97 h 125"/>
                  <a:gd name="T34" fmla="*/ 149 w 163"/>
                  <a:gd name="T35" fmla="*/ 105 h 125"/>
                  <a:gd name="T36" fmla="*/ 137 w 163"/>
                  <a:gd name="T37" fmla="*/ 105 h 125"/>
                  <a:gd name="T38" fmla="*/ 136 w 163"/>
                  <a:gd name="T39" fmla="*/ 111 h 125"/>
                  <a:gd name="T40" fmla="*/ 123 w 163"/>
                  <a:gd name="T41" fmla="*/ 124 h 125"/>
                  <a:gd name="T42" fmla="*/ 119 w 163"/>
                  <a:gd name="T43" fmla="*/ 120 h 125"/>
                  <a:gd name="T44" fmla="*/ 103 w 163"/>
                  <a:gd name="T45" fmla="*/ 120 h 125"/>
                  <a:gd name="T46" fmla="*/ 99 w 163"/>
                  <a:gd name="T47" fmla="*/ 120 h 125"/>
                  <a:gd name="T48" fmla="*/ 87 w 163"/>
                  <a:gd name="T49" fmla="*/ 114 h 125"/>
                  <a:gd name="T50" fmla="*/ 86 w 163"/>
                  <a:gd name="T51" fmla="*/ 106 h 125"/>
                  <a:gd name="T52" fmla="*/ 79 w 163"/>
                  <a:gd name="T53" fmla="*/ 105 h 125"/>
                  <a:gd name="T54" fmla="*/ 76 w 163"/>
                  <a:gd name="T55" fmla="*/ 92 h 125"/>
                  <a:gd name="T56" fmla="*/ 62 w 163"/>
                  <a:gd name="T57" fmla="*/ 90 h 125"/>
                  <a:gd name="T58" fmla="*/ 60 w 163"/>
                  <a:gd name="T59" fmla="*/ 100 h 125"/>
                  <a:gd name="T60" fmla="*/ 53 w 163"/>
                  <a:gd name="T61" fmla="*/ 106 h 125"/>
                  <a:gd name="T62" fmla="*/ 49 w 163"/>
                  <a:gd name="T63" fmla="*/ 114 h 125"/>
                  <a:gd name="T64" fmla="*/ 41 w 163"/>
                  <a:gd name="T65" fmla="*/ 111 h 125"/>
                  <a:gd name="T66" fmla="*/ 25 w 163"/>
                  <a:gd name="T67" fmla="*/ 104 h 125"/>
                  <a:gd name="T68" fmla="*/ 15 w 163"/>
                  <a:gd name="T69" fmla="*/ 96 h 125"/>
                  <a:gd name="T70" fmla="*/ 13 w 163"/>
                  <a:gd name="T71" fmla="*/ 93 h 125"/>
                  <a:gd name="T72" fmla="*/ 9 w 163"/>
                  <a:gd name="T73" fmla="*/ 88 h 125"/>
                  <a:gd name="T74" fmla="*/ 1 w 163"/>
                  <a:gd name="T75" fmla="*/ 79 h 125"/>
                  <a:gd name="T76" fmla="*/ 0 w 163"/>
                  <a:gd name="T77" fmla="*/ 74 h 125"/>
                  <a:gd name="T78" fmla="*/ 12 w 163"/>
                  <a:gd name="T79" fmla="*/ 67 h 125"/>
                  <a:gd name="T80" fmla="*/ 21 w 163"/>
                  <a:gd name="T81" fmla="*/ 64 h 125"/>
                  <a:gd name="T82" fmla="*/ 22 w 163"/>
                  <a:gd name="T83" fmla="*/ 60 h 125"/>
                  <a:gd name="T84" fmla="*/ 15 w 163"/>
                  <a:gd name="T85" fmla="*/ 55 h 125"/>
                  <a:gd name="T86" fmla="*/ 22 w 163"/>
                  <a:gd name="T87" fmla="*/ 48 h 125"/>
                  <a:gd name="T88" fmla="*/ 33 w 163"/>
                  <a:gd name="T89" fmla="*/ 47 h 125"/>
                  <a:gd name="T90" fmla="*/ 37 w 163"/>
                  <a:gd name="T91" fmla="*/ 46 h 125"/>
                  <a:gd name="T92" fmla="*/ 37 w 163"/>
                  <a:gd name="T93" fmla="*/ 42 h 125"/>
                  <a:gd name="T94" fmla="*/ 43 w 163"/>
                  <a:gd name="T95" fmla="*/ 29 h 125"/>
                  <a:gd name="T96" fmla="*/ 46 w 163"/>
                  <a:gd name="T97" fmla="*/ 23 h 125"/>
                  <a:gd name="T98" fmla="*/ 57 w 163"/>
                  <a:gd name="T99" fmla="*/ 16 h 125"/>
                  <a:gd name="T100" fmla="*/ 57 w 163"/>
                  <a:gd name="T101" fmla="*/ 18 h 125"/>
                  <a:gd name="T102" fmla="*/ 62 w 163"/>
                  <a:gd name="T103" fmla="*/ 17 h 125"/>
                  <a:gd name="T104" fmla="*/ 70 w 163"/>
                  <a:gd name="T105" fmla="*/ 16 h 125"/>
                  <a:gd name="T106" fmla="*/ 72 w 163"/>
                  <a:gd name="T107" fmla="*/ 10 h 125"/>
                  <a:gd name="T108" fmla="*/ 74 w 163"/>
                  <a:gd name="T109" fmla="*/ 5 h 125"/>
                  <a:gd name="T110" fmla="*/ 83 w 163"/>
                  <a:gd name="T111" fmla="*/ 7 h 125"/>
                  <a:gd name="T112" fmla="*/ 87 w 163"/>
                  <a:gd name="T113" fmla="*/ 5 h 125"/>
                  <a:gd name="T114" fmla="*/ 92 w 163"/>
                  <a:gd name="T115" fmla="*/ 3 h 125"/>
                  <a:gd name="T116" fmla="*/ 96 w 163"/>
                  <a:gd name="T117" fmla="*/ 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3" h="125">
                    <a:moveTo>
                      <a:pt x="101" y="0"/>
                    </a:moveTo>
                    <a:cubicBezTo>
                      <a:pt x="102" y="0"/>
                      <a:pt x="104" y="1"/>
                      <a:pt x="105" y="1"/>
                    </a:cubicBezTo>
                    <a:cubicBezTo>
                      <a:pt x="106" y="1"/>
                      <a:pt x="106" y="1"/>
                      <a:pt x="107" y="1"/>
                    </a:cubicBezTo>
                    <a:cubicBezTo>
                      <a:pt x="108" y="0"/>
                      <a:pt x="112" y="1"/>
                      <a:pt x="113" y="2"/>
                    </a:cubicBezTo>
                    <a:cubicBezTo>
                      <a:pt x="113" y="2"/>
                      <a:pt x="113" y="3"/>
                      <a:pt x="113" y="3"/>
                    </a:cubicBezTo>
                    <a:cubicBezTo>
                      <a:pt x="113" y="3"/>
                      <a:pt x="115" y="4"/>
                      <a:pt x="116" y="4"/>
                    </a:cubicBezTo>
                    <a:cubicBezTo>
                      <a:pt x="117" y="4"/>
                      <a:pt x="118" y="3"/>
                      <a:pt x="118" y="3"/>
                    </a:cubicBezTo>
                    <a:cubicBezTo>
                      <a:pt x="122" y="2"/>
                      <a:pt x="125" y="4"/>
                      <a:pt x="126" y="5"/>
                    </a:cubicBezTo>
                    <a:cubicBezTo>
                      <a:pt x="129" y="9"/>
                      <a:pt x="127" y="15"/>
                      <a:pt x="126" y="19"/>
                    </a:cubicBezTo>
                    <a:cubicBezTo>
                      <a:pt x="128" y="19"/>
                      <a:pt x="130" y="19"/>
                      <a:pt x="131" y="21"/>
                    </a:cubicBezTo>
                    <a:cubicBezTo>
                      <a:pt x="132" y="22"/>
                      <a:pt x="131" y="25"/>
                      <a:pt x="131" y="27"/>
                    </a:cubicBezTo>
                    <a:cubicBezTo>
                      <a:pt x="134" y="29"/>
                      <a:pt x="136" y="33"/>
                      <a:pt x="138" y="36"/>
                    </a:cubicBezTo>
                    <a:cubicBezTo>
                      <a:pt x="140" y="37"/>
                      <a:pt x="139" y="40"/>
                      <a:pt x="142" y="40"/>
                    </a:cubicBezTo>
                    <a:cubicBezTo>
                      <a:pt x="142" y="40"/>
                      <a:pt x="143" y="40"/>
                      <a:pt x="145" y="40"/>
                    </a:cubicBezTo>
                    <a:cubicBezTo>
                      <a:pt x="146" y="43"/>
                      <a:pt x="150" y="48"/>
                      <a:pt x="147" y="52"/>
                    </a:cubicBezTo>
                    <a:cubicBezTo>
                      <a:pt x="144" y="55"/>
                      <a:pt x="141" y="55"/>
                      <a:pt x="138" y="57"/>
                    </a:cubicBezTo>
                    <a:cubicBezTo>
                      <a:pt x="137" y="57"/>
                      <a:pt x="137" y="59"/>
                      <a:pt x="137" y="59"/>
                    </a:cubicBezTo>
                    <a:cubicBezTo>
                      <a:pt x="136" y="59"/>
                      <a:pt x="136" y="59"/>
                      <a:pt x="135" y="59"/>
                    </a:cubicBezTo>
                    <a:cubicBezTo>
                      <a:pt x="135" y="60"/>
                      <a:pt x="136" y="60"/>
                      <a:pt x="136" y="61"/>
                    </a:cubicBezTo>
                    <a:cubicBezTo>
                      <a:pt x="135" y="62"/>
                      <a:pt x="134" y="61"/>
                      <a:pt x="134" y="64"/>
                    </a:cubicBezTo>
                    <a:cubicBezTo>
                      <a:pt x="134" y="64"/>
                      <a:pt x="134" y="64"/>
                      <a:pt x="134" y="64"/>
                    </a:cubicBezTo>
                    <a:cubicBezTo>
                      <a:pt x="134" y="64"/>
                      <a:pt x="134" y="64"/>
                      <a:pt x="134" y="64"/>
                    </a:cubicBezTo>
                    <a:cubicBezTo>
                      <a:pt x="136" y="63"/>
                      <a:pt x="138" y="60"/>
                      <a:pt x="140" y="59"/>
                    </a:cubicBezTo>
                    <a:cubicBezTo>
                      <a:pt x="142" y="58"/>
                      <a:pt x="145" y="60"/>
                      <a:pt x="148" y="59"/>
                    </a:cubicBezTo>
                    <a:cubicBezTo>
                      <a:pt x="149" y="59"/>
                      <a:pt x="150" y="58"/>
                      <a:pt x="152" y="58"/>
                    </a:cubicBezTo>
                    <a:cubicBezTo>
                      <a:pt x="153" y="59"/>
                      <a:pt x="155" y="59"/>
                      <a:pt x="156" y="60"/>
                    </a:cubicBezTo>
                    <a:cubicBezTo>
                      <a:pt x="158" y="63"/>
                      <a:pt x="157" y="68"/>
                      <a:pt x="158" y="71"/>
                    </a:cubicBezTo>
                    <a:cubicBezTo>
                      <a:pt x="159" y="72"/>
                      <a:pt x="159" y="76"/>
                      <a:pt x="160" y="77"/>
                    </a:cubicBezTo>
                    <a:cubicBezTo>
                      <a:pt x="161" y="78"/>
                      <a:pt x="162" y="78"/>
                      <a:pt x="162" y="78"/>
                    </a:cubicBezTo>
                    <a:cubicBezTo>
                      <a:pt x="163" y="80"/>
                      <a:pt x="161" y="82"/>
                      <a:pt x="161" y="83"/>
                    </a:cubicBezTo>
                    <a:cubicBezTo>
                      <a:pt x="161" y="85"/>
                      <a:pt x="162" y="88"/>
                      <a:pt x="161" y="89"/>
                    </a:cubicBezTo>
                    <a:cubicBezTo>
                      <a:pt x="161" y="90"/>
                      <a:pt x="160" y="92"/>
                      <a:pt x="160" y="93"/>
                    </a:cubicBezTo>
                    <a:cubicBezTo>
                      <a:pt x="159" y="94"/>
                      <a:pt x="158" y="94"/>
                      <a:pt x="157" y="94"/>
                    </a:cubicBezTo>
                    <a:cubicBezTo>
                      <a:pt x="157" y="95"/>
                      <a:pt x="157" y="96"/>
                      <a:pt x="157" y="97"/>
                    </a:cubicBezTo>
                    <a:cubicBezTo>
                      <a:pt x="157" y="98"/>
                      <a:pt x="156" y="99"/>
                      <a:pt x="156" y="100"/>
                    </a:cubicBezTo>
                    <a:cubicBezTo>
                      <a:pt x="154" y="101"/>
                      <a:pt x="151" y="104"/>
                      <a:pt x="149" y="105"/>
                    </a:cubicBezTo>
                    <a:cubicBezTo>
                      <a:pt x="147" y="105"/>
                      <a:pt x="144" y="104"/>
                      <a:pt x="143" y="104"/>
                    </a:cubicBezTo>
                    <a:cubicBezTo>
                      <a:pt x="140" y="103"/>
                      <a:pt x="138" y="104"/>
                      <a:pt x="137" y="105"/>
                    </a:cubicBezTo>
                    <a:cubicBezTo>
                      <a:pt x="136" y="106"/>
                      <a:pt x="135" y="106"/>
                      <a:pt x="136" y="108"/>
                    </a:cubicBezTo>
                    <a:cubicBezTo>
                      <a:pt x="136" y="109"/>
                      <a:pt x="136" y="110"/>
                      <a:pt x="136" y="111"/>
                    </a:cubicBezTo>
                    <a:cubicBezTo>
                      <a:pt x="136" y="113"/>
                      <a:pt x="135" y="116"/>
                      <a:pt x="134" y="117"/>
                    </a:cubicBezTo>
                    <a:cubicBezTo>
                      <a:pt x="133" y="119"/>
                      <a:pt x="126" y="124"/>
                      <a:pt x="123" y="124"/>
                    </a:cubicBezTo>
                    <a:cubicBezTo>
                      <a:pt x="122" y="123"/>
                      <a:pt x="121" y="124"/>
                      <a:pt x="120" y="123"/>
                    </a:cubicBezTo>
                    <a:cubicBezTo>
                      <a:pt x="120" y="122"/>
                      <a:pt x="119" y="121"/>
                      <a:pt x="119" y="120"/>
                    </a:cubicBezTo>
                    <a:cubicBezTo>
                      <a:pt x="116" y="118"/>
                      <a:pt x="113" y="116"/>
                      <a:pt x="108" y="116"/>
                    </a:cubicBezTo>
                    <a:cubicBezTo>
                      <a:pt x="107" y="117"/>
                      <a:pt x="105" y="120"/>
                      <a:pt x="103" y="120"/>
                    </a:cubicBezTo>
                    <a:cubicBezTo>
                      <a:pt x="102" y="121"/>
                      <a:pt x="102" y="121"/>
                      <a:pt x="101" y="121"/>
                    </a:cubicBezTo>
                    <a:cubicBezTo>
                      <a:pt x="101" y="120"/>
                      <a:pt x="100" y="120"/>
                      <a:pt x="99" y="120"/>
                    </a:cubicBezTo>
                    <a:cubicBezTo>
                      <a:pt x="93" y="122"/>
                      <a:pt x="87" y="125"/>
                      <a:pt x="87" y="116"/>
                    </a:cubicBezTo>
                    <a:cubicBezTo>
                      <a:pt x="87" y="115"/>
                      <a:pt x="87" y="114"/>
                      <a:pt x="87" y="114"/>
                    </a:cubicBezTo>
                    <a:cubicBezTo>
                      <a:pt x="87" y="112"/>
                      <a:pt x="89" y="112"/>
                      <a:pt x="89" y="109"/>
                    </a:cubicBezTo>
                    <a:cubicBezTo>
                      <a:pt x="88" y="108"/>
                      <a:pt x="87" y="107"/>
                      <a:pt x="86" y="106"/>
                    </a:cubicBezTo>
                    <a:cubicBezTo>
                      <a:pt x="85" y="107"/>
                      <a:pt x="85" y="107"/>
                      <a:pt x="83" y="108"/>
                    </a:cubicBezTo>
                    <a:cubicBezTo>
                      <a:pt x="82" y="106"/>
                      <a:pt x="80" y="106"/>
                      <a:pt x="79" y="105"/>
                    </a:cubicBezTo>
                    <a:cubicBezTo>
                      <a:pt x="78" y="103"/>
                      <a:pt x="75" y="98"/>
                      <a:pt x="75" y="96"/>
                    </a:cubicBezTo>
                    <a:cubicBezTo>
                      <a:pt x="76" y="94"/>
                      <a:pt x="75" y="93"/>
                      <a:pt x="76" y="92"/>
                    </a:cubicBezTo>
                    <a:cubicBezTo>
                      <a:pt x="72" y="89"/>
                      <a:pt x="71" y="85"/>
                      <a:pt x="66" y="84"/>
                    </a:cubicBezTo>
                    <a:cubicBezTo>
                      <a:pt x="66" y="85"/>
                      <a:pt x="63" y="89"/>
                      <a:pt x="62" y="90"/>
                    </a:cubicBezTo>
                    <a:cubicBezTo>
                      <a:pt x="60" y="92"/>
                      <a:pt x="58" y="91"/>
                      <a:pt x="58" y="95"/>
                    </a:cubicBezTo>
                    <a:cubicBezTo>
                      <a:pt x="59" y="96"/>
                      <a:pt x="60" y="98"/>
                      <a:pt x="60" y="100"/>
                    </a:cubicBezTo>
                    <a:cubicBezTo>
                      <a:pt x="60" y="101"/>
                      <a:pt x="60" y="101"/>
                      <a:pt x="60" y="102"/>
                    </a:cubicBezTo>
                    <a:cubicBezTo>
                      <a:pt x="58" y="103"/>
                      <a:pt x="54" y="104"/>
                      <a:pt x="53" y="106"/>
                    </a:cubicBezTo>
                    <a:cubicBezTo>
                      <a:pt x="54" y="107"/>
                      <a:pt x="54" y="108"/>
                      <a:pt x="53" y="109"/>
                    </a:cubicBezTo>
                    <a:cubicBezTo>
                      <a:pt x="53" y="111"/>
                      <a:pt x="50" y="112"/>
                      <a:pt x="49" y="114"/>
                    </a:cubicBezTo>
                    <a:cubicBezTo>
                      <a:pt x="48" y="114"/>
                      <a:pt x="45" y="113"/>
                      <a:pt x="44" y="113"/>
                    </a:cubicBezTo>
                    <a:cubicBezTo>
                      <a:pt x="42" y="112"/>
                      <a:pt x="43" y="111"/>
                      <a:pt x="41" y="111"/>
                    </a:cubicBezTo>
                    <a:cubicBezTo>
                      <a:pt x="38" y="113"/>
                      <a:pt x="31" y="111"/>
                      <a:pt x="30" y="109"/>
                    </a:cubicBezTo>
                    <a:cubicBezTo>
                      <a:pt x="28" y="106"/>
                      <a:pt x="29" y="104"/>
                      <a:pt x="25" y="104"/>
                    </a:cubicBezTo>
                    <a:cubicBezTo>
                      <a:pt x="23" y="103"/>
                      <a:pt x="19" y="103"/>
                      <a:pt x="18" y="103"/>
                    </a:cubicBezTo>
                    <a:cubicBezTo>
                      <a:pt x="17" y="101"/>
                      <a:pt x="16" y="96"/>
                      <a:pt x="15" y="96"/>
                    </a:cubicBezTo>
                    <a:cubicBezTo>
                      <a:pt x="15" y="95"/>
                      <a:pt x="15" y="96"/>
                      <a:pt x="14" y="95"/>
                    </a:cubicBezTo>
                    <a:cubicBezTo>
                      <a:pt x="13" y="95"/>
                      <a:pt x="13" y="94"/>
                      <a:pt x="13" y="93"/>
                    </a:cubicBezTo>
                    <a:cubicBezTo>
                      <a:pt x="12" y="92"/>
                      <a:pt x="11" y="92"/>
                      <a:pt x="10" y="91"/>
                    </a:cubicBezTo>
                    <a:cubicBezTo>
                      <a:pt x="10" y="90"/>
                      <a:pt x="10" y="89"/>
                      <a:pt x="9" y="88"/>
                    </a:cubicBezTo>
                    <a:cubicBezTo>
                      <a:pt x="9" y="87"/>
                      <a:pt x="8" y="87"/>
                      <a:pt x="6" y="86"/>
                    </a:cubicBezTo>
                    <a:cubicBezTo>
                      <a:pt x="4" y="85"/>
                      <a:pt x="3" y="81"/>
                      <a:pt x="1" y="79"/>
                    </a:cubicBezTo>
                    <a:cubicBezTo>
                      <a:pt x="1" y="79"/>
                      <a:pt x="0" y="78"/>
                      <a:pt x="0" y="78"/>
                    </a:cubicBezTo>
                    <a:cubicBezTo>
                      <a:pt x="0" y="77"/>
                      <a:pt x="0" y="76"/>
                      <a:pt x="0" y="74"/>
                    </a:cubicBezTo>
                    <a:cubicBezTo>
                      <a:pt x="2" y="73"/>
                      <a:pt x="4" y="73"/>
                      <a:pt x="6" y="72"/>
                    </a:cubicBezTo>
                    <a:cubicBezTo>
                      <a:pt x="8" y="69"/>
                      <a:pt x="8" y="66"/>
                      <a:pt x="12" y="67"/>
                    </a:cubicBezTo>
                    <a:cubicBezTo>
                      <a:pt x="14" y="68"/>
                      <a:pt x="16" y="67"/>
                      <a:pt x="19" y="68"/>
                    </a:cubicBezTo>
                    <a:cubicBezTo>
                      <a:pt x="19" y="67"/>
                      <a:pt x="20" y="65"/>
                      <a:pt x="21" y="64"/>
                    </a:cubicBezTo>
                    <a:cubicBezTo>
                      <a:pt x="23" y="63"/>
                      <a:pt x="24" y="63"/>
                      <a:pt x="25" y="62"/>
                    </a:cubicBezTo>
                    <a:cubicBezTo>
                      <a:pt x="24" y="61"/>
                      <a:pt x="23" y="60"/>
                      <a:pt x="22" y="60"/>
                    </a:cubicBezTo>
                    <a:cubicBezTo>
                      <a:pt x="22" y="60"/>
                      <a:pt x="21" y="60"/>
                      <a:pt x="20" y="60"/>
                    </a:cubicBezTo>
                    <a:cubicBezTo>
                      <a:pt x="18" y="59"/>
                      <a:pt x="16" y="56"/>
                      <a:pt x="15" y="55"/>
                    </a:cubicBezTo>
                    <a:cubicBezTo>
                      <a:pt x="15" y="54"/>
                      <a:pt x="15" y="52"/>
                      <a:pt x="16" y="51"/>
                    </a:cubicBezTo>
                    <a:cubicBezTo>
                      <a:pt x="18" y="50"/>
                      <a:pt x="19" y="48"/>
                      <a:pt x="22" y="48"/>
                    </a:cubicBezTo>
                    <a:cubicBezTo>
                      <a:pt x="23" y="49"/>
                      <a:pt x="24" y="50"/>
                      <a:pt x="27" y="50"/>
                    </a:cubicBezTo>
                    <a:cubicBezTo>
                      <a:pt x="28" y="49"/>
                      <a:pt x="31" y="47"/>
                      <a:pt x="33" y="47"/>
                    </a:cubicBezTo>
                    <a:cubicBezTo>
                      <a:pt x="34" y="47"/>
                      <a:pt x="35" y="48"/>
                      <a:pt x="36" y="48"/>
                    </a:cubicBezTo>
                    <a:cubicBezTo>
                      <a:pt x="37" y="47"/>
                      <a:pt x="37" y="47"/>
                      <a:pt x="37" y="46"/>
                    </a:cubicBezTo>
                    <a:cubicBezTo>
                      <a:pt x="36" y="45"/>
                      <a:pt x="37" y="45"/>
                      <a:pt x="37" y="44"/>
                    </a:cubicBezTo>
                    <a:cubicBezTo>
                      <a:pt x="37" y="44"/>
                      <a:pt x="37" y="43"/>
                      <a:pt x="37" y="42"/>
                    </a:cubicBezTo>
                    <a:cubicBezTo>
                      <a:pt x="39" y="41"/>
                      <a:pt x="42" y="39"/>
                      <a:pt x="43" y="36"/>
                    </a:cubicBezTo>
                    <a:cubicBezTo>
                      <a:pt x="43" y="33"/>
                      <a:pt x="43" y="31"/>
                      <a:pt x="43" y="29"/>
                    </a:cubicBezTo>
                    <a:cubicBezTo>
                      <a:pt x="43" y="28"/>
                      <a:pt x="45" y="28"/>
                      <a:pt x="45" y="27"/>
                    </a:cubicBezTo>
                    <a:cubicBezTo>
                      <a:pt x="46" y="26"/>
                      <a:pt x="46" y="24"/>
                      <a:pt x="46" y="23"/>
                    </a:cubicBezTo>
                    <a:cubicBezTo>
                      <a:pt x="47" y="18"/>
                      <a:pt x="52" y="16"/>
                      <a:pt x="57" y="16"/>
                    </a:cubicBezTo>
                    <a:cubicBezTo>
                      <a:pt x="57" y="16"/>
                      <a:pt x="57" y="16"/>
                      <a:pt x="57" y="16"/>
                    </a:cubicBezTo>
                    <a:cubicBezTo>
                      <a:pt x="57" y="16"/>
                      <a:pt x="58" y="16"/>
                      <a:pt x="58" y="16"/>
                    </a:cubicBezTo>
                    <a:cubicBezTo>
                      <a:pt x="57" y="17"/>
                      <a:pt x="57" y="17"/>
                      <a:pt x="57" y="18"/>
                    </a:cubicBezTo>
                    <a:cubicBezTo>
                      <a:pt x="57" y="18"/>
                      <a:pt x="57" y="18"/>
                      <a:pt x="58" y="18"/>
                    </a:cubicBezTo>
                    <a:cubicBezTo>
                      <a:pt x="59" y="17"/>
                      <a:pt x="61" y="19"/>
                      <a:pt x="62" y="17"/>
                    </a:cubicBezTo>
                    <a:cubicBezTo>
                      <a:pt x="64" y="19"/>
                      <a:pt x="64" y="19"/>
                      <a:pt x="68" y="19"/>
                    </a:cubicBezTo>
                    <a:cubicBezTo>
                      <a:pt x="69" y="18"/>
                      <a:pt x="69" y="18"/>
                      <a:pt x="70" y="16"/>
                    </a:cubicBezTo>
                    <a:cubicBezTo>
                      <a:pt x="69" y="14"/>
                      <a:pt x="72" y="13"/>
                      <a:pt x="72" y="12"/>
                    </a:cubicBezTo>
                    <a:cubicBezTo>
                      <a:pt x="72" y="12"/>
                      <a:pt x="72" y="11"/>
                      <a:pt x="72" y="10"/>
                    </a:cubicBezTo>
                    <a:cubicBezTo>
                      <a:pt x="72" y="10"/>
                      <a:pt x="73" y="9"/>
                      <a:pt x="73" y="8"/>
                    </a:cubicBezTo>
                    <a:cubicBezTo>
                      <a:pt x="74" y="6"/>
                      <a:pt x="72" y="6"/>
                      <a:pt x="74" y="5"/>
                    </a:cubicBezTo>
                    <a:cubicBezTo>
                      <a:pt x="74" y="5"/>
                      <a:pt x="74" y="5"/>
                      <a:pt x="75" y="4"/>
                    </a:cubicBezTo>
                    <a:cubicBezTo>
                      <a:pt x="76" y="7"/>
                      <a:pt x="79" y="7"/>
                      <a:pt x="83" y="7"/>
                    </a:cubicBezTo>
                    <a:cubicBezTo>
                      <a:pt x="84" y="7"/>
                      <a:pt x="85" y="7"/>
                      <a:pt x="86" y="7"/>
                    </a:cubicBezTo>
                    <a:cubicBezTo>
                      <a:pt x="86" y="7"/>
                      <a:pt x="87" y="5"/>
                      <a:pt x="87" y="5"/>
                    </a:cubicBezTo>
                    <a:cubicBezTo>
                      <a:pt x="89" y="5"/>
                      <a:pt x="90" y="4"/>
                      <a:pt x="91" y="4"/>
                    </a:cubicBezTo>
                    <a:cubicBezTo>
                      <a:pt x="92" y="3"/>
                      <a:pt x="92" y="3"/>
                      <a:pt x="92" y="3"/>
                    </a:cubicBezTo>
                    <a:cubicBezTo>
                      <a:pt x="93" y="3"/>
                      <a:pt x="93" y="3"/>
                      <a:pt x="94" y="2"/>
                    </a:cubicBezTo>
                    <a:cubicBezTo>
                      <a:pt x="95" y="2"/>
                      <a:pt x="95" y="1"/>
                      <a:pt x="96" y="1"/>
                    </a:cubicBezTo>
                    <a:cubicBezTo>
                      <a:pt x="97" y="0"/>
                      <a:pt x="99" y="1"/>
                      <a:pt x="10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2" name="Freeform 51">
                <a:extLst>
                  <a:ext uri="{FF2B5EF4-FFF2-40B4-BE49-F238E27FC236}">
                    <a16:creationId xmlns:a16="http://schemas.microsoft.com/office/drawing/2014/main" id="{BE8FFAE0-0753-443E-BEDE-9465CF467829}"/>
                  </a:ext>
                </a:extLst>
              </p:cNvPr>
              <p:cNvSpPr>
                <a:spLocks/>
              </p:cNvSpPr>
              <p:nvPr/>
            </p:nvSpPr>
            <p:spPr bwMode="auto">
              <a:xfrm>
                <a:off x="-1325563" y="55006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3" name="Freeform 52">
                <a:extLst>
                  <a:ext uri="{FF2B5EF4-FFF2-40B4-BE49-F238E27FC236}">
                    <a16:creationId xmlns:a16="http://schemas.microsoft.com/office/drawing/2014/main" id="{EBBD0AFC-D6C7-4B65-861C-7BFE65F29BE5}"/>
                  </a:ext>
                </a:extLst>
              </p:cNvPr>
              <p:cNvSpPr>
                <a:spLocks/>
              </p:cNvSpPr>
              <p:nvPr/>
            </p:nvSpPr>
            <p:spPr bwMode="auto">
              <a:xfrm>
                <a:off x="-1295400" y="5514976"/>
                <a:ext cx="52388" cy="87313"/>
              </a:xfrm>
              <a:custGeom>
                <a:avLst/>
                <a:gdLst>
                  <a:gd name="T0" fmla="*/ 1 w 14"/>
                  <a:gd name="T1" fmla="*/ 0 h 23"/>
                  <a:gd name="T2" fmla="*/ 0 w 14"/>
                  <a:gd name="T3" fmla="*/ 1 h 23"/>
                  <a:gd name="T4" fmla="*/ 8 w 14"/>
                  <a:gd name="T5" fmla="*/ 10 h 23"/>
                  <a:gd name="T6" fmla="*/ 8 w 14"/>
                  <a:gd name="T7" fmla="*/ 16 h 23"/>
                  <a:gd name="T8" fmla="*/ 6 w 14"/>
                  <a:gd name="T9" fmla="*/ 21 h 23"/>
                  <a:gd name="T10" fmla="*/ 7 w 14"/>
                  <a:gd name="T11" fmla="*/ 21 h 23"/>
                  <a:gd name="T12" fmla="*/ 10 w 14"/>
                  <a:gd name="T13" fmla="*/ 20 h 23"/>
                  <a:gd name="T14" fmla="*/ 13 w 14"/>
                  <a:gd name="T15" fmla="*/ 23 h 23"/>
                  <a:gd name="T16" fmla="*/ 13 w 14"/>
                  <a:gd name="T17" fmla="*/ 23 h 23"/>
                  <a:gd name="T18" fmla="*/ 13 w 14"/>
                  <a:gd name="T19" fmla="*/ 23 h 23"/>
                  <a:gd name="T20" fmla="*/ 13 w 14"/>
                  <a:gd name="T21" fmla="*/ 23 h 23"/>
                  <a:gd name="T22" fmla="*/ 12 w 14"/>
                  <a:gd name="T23" fmla="*/ 19 h 23"/>
                  <a:gd name="T24" fmla="*/ 12 w 14"/>
                  <a:gd name="T25" fmla="*/ 15 h 23"/>
                  <a:gd name="T26" fmla="*/ 12 w 14"/>
                  <a:gd name="T27" fmla="*/ 6 h 23"/>
                  <a:gd name="T28" fmla="*/ 1 w 14"/>
                  <a:gd name="T2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3">
                    <a:moveTo>
                      <a:pt x="1" y="0"/>
                    </a:moveTo>
                    <a:cubicBezTo>
                      <a:pt x="0" y="0"/>
                      <a:pt x="0" y="0"/>
                      <a:pt x="0" y="1"/>
                    </a:cubicBezTo>
                    <a:cubicBezTo>
                      <a:pt x="1" y="2"/>
                      <a:pt x="8" y="9"/>
                      <a:pt x="8" y="10"/>
                    </a:cubicBezTo>
                    <a:cubicBezTo>
                      <a:pt x="8" y="12"/>
                      <a:pt x="8" y="14"/>
                      <a:pt x="8" y="16"/>
                    </a:cubicBezTo>
                    <a:cubicBezTo>
                      <a:pt x="7" y="17"/>
                      <a:pt x="6" y="19"/>
                      <a:pt x="6" y="21"/>
                    </a:cubicBezTo>
                    <a:cubicBezTo>
                      <a:pt x="6" y="21"/>
                      <a:pt x="6" y="21"/>
                      <a:pt x="7" y="21"/>
                    </a:cubicBezTo>
                    <a:cubicBezTo>
                      <a:pt x="7" y="21"/>
                      <a:pt x="9" y="20"/>
                      <a:pt x="10" y="20"/>
                    </a:cubicBezTo>
                    <a:cubicBezTo>
                      <a:pt x="11" y="21"/>
                      <a:pt x="12" y="22"/>
                      <a:pt x="13" y="23"/>
                    </a:cubicBezTo>
                    <a:cubicBezTo>
                      <a:pt x="13" y="23"/>
                      <a:pt x="13" y="23"/>
                      <a:pt x="13" y="23"/>
                    </a:cubicBezTo>
                    <a:cubicBezTo>
                      <a:pt x="13" y="23"/>
                      <a:pt x="13" y="23"/>
                      <a:pt x="13" y="23"/>
                    </a:cubicBezTo>
                    <a:cubicBezTo>
                      <a:pt x="14" y="23"/>
                      <a:pt x="14" y="23"/>
                      <a:pt x="13" y="23"/>
                    </a:cubicBezTo>
                    <a:cubicBezTo>
                      <a:pt x="13" y="21"/>
                      <a:pt x="12" y="20"/>
                      <a:pt x="12" y="19"/>
                    </a:cubicBezTo>
                    <a:cubicBezTo>
                      <a:pt x="11" y="18"/>
                      <a:pt x="12" y="16"/>
                      <a:pt x="12" y="15"/>
                    </a:cubicBezTo>
                    <a:cubicBezTo>
                      <a:pt x="12" y="12"/>
                      <a:pt x="12" y="9"/>
                      <a:pt x="12" y="6"/>
                    </a:cubicBezTo>
                    <a:cubicBezTo>
                      <a:pt x="8" y="3"/>
                      <a:pt x="7"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4" name="Freeform 53">
                <a:extLst>
                  <a:ext uri="{FF2B5EF4-FFF2-40B4-BE49-F238E27FC236}">
                    <a16:creationId xmlns:a16="http://schemas.microsoft.com/office/drawing/2014/main" id="{F2C50A9E-B5C7-40C0-8F46-9D762AAEB4A6}"/>
                  </a:ext>
                </a:extLst>
              </p:cNvPr>
              <p:cNvSpPr>
                <a:spLocks/>
              </p:cNvSpPr>
              <p:nvPr/>
            </p:nvSpPr>
            <p:spPr bwMode="auto">
              <a:xfrm>
                <a:off x="276225" y="6550026"/>
                <a:ext cx="4763" cy="0"/>
              </a:xfrm>
              <a:custGeom>
                <a:avLst/>
                <a:gdLst>
                  <a:gd name="T0" fmla="*/ 0 w 1"/>
                  <a:gd name="T1" fmla="*/ 1 w 1"/>
                  <a:gd name="T2" fmla="*/ 1 w 1"/>
                  <a:gd name="T3" fmla="*/ 0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1" y="0"/>
                    </a:cubicBezTo>
                    <a:cubicBezTo>
                      <a:pt x="1" y="0"/>
                      <a:pt x="1" y="0"/>
                      <a:pt x="1" y="0"/>
                    </a:cubicBezTo>
                    <a:cubicBezTo>
                      <a:pt x="0" y="0"/>
                      <a:pt x="0" y="0"/>
                      <a:pt x="0" y="0"/>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135" name="Freeform 54">
                <a:extLst>
                  <a:ext uri="{FF2B5EF4-FFF2-40B4-BE49-F238E27FC236}">
                    <a16:creationId xmlns:a16="http://schemas.microsoft.com/office/drawing/2014/main" id="{FA2A6CAF-94CE-4595-927A-B478E98C4157}"/>
                  </a:ext>
                </a:extLst>
              </p:cNvPr>
              <p:cNvSpPr>
                <a:spLocks/>
              </p:cNvSpPr>
              <p:nvPr/>
            </p:nvSpPr>
            <p:spPr bwMode="auto">
              <a:xfrm>
                <a:off x="-1204913" y="6599238"/>
                <a:ext cx="7938" cy="11113"/>
              </a:xfrm>
              <a:custGeom>
                <a:avLst/>
                <a:gdLst>
                  <a:gd name="T0" fmla="*/ 0 w 2"/>
                  <a:gd name="T1" fmla="*/ 0 h 3"/>
                  <a:gd name="T2" fmla="*/ 1 w 2"/>
                  <a:gd name="T3" fmla="*/ 0 h 3"/>
                  <a:gd name="T4" fmla="*/ 2 w 2"/>
                  <a:gd name="T5" fmla="*/ 2 h 3"/>
                  <a:gd name="T6" fmla="*/ 1 w 2"/>
                  <a:gd name="T7" fmla="*/ 3 h 3"/>
                  <a:gd name="T8" fmla="*/ 0 w 2"/>
                  <a:gd name="T9" fmla="*/ 1 h 3"/>
                  <a:gd name="T10" fmla="*/ 0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0" y="0"/>
                    </a:moveTo>
                    <a:cubicBezTo>
                      <a:pt x="0" y="0"/>
                      <a:pt x="1" y="0"/>
                      <a:pt x="1" y="0"/>
                    </a:cubicBezTo>
                    <a:cubicBezTo>
                      <a:pt x="2" y="1"/>
                      <a:pt x="2" y="1"/>
                      <a:pt x="2" y="2"/>
                    </a:cubicBezTo>
                    <a:cubicBezTo>
                      <a:pt x="2" y="2"/>
                      <a:pt x="1" y="3"/>
                      <a:pt x="1" y="3"/>
                    </a:cubicBezTo>
                    <a:cubicBezTo>
                      <a:pt x="0" y="2"/>
                      <a:pt x="0" y="2"/>
                      <a:pt x="0" y="1"/>
                    </a:cubicBezTo>
                    <a:cubicBezTo>
                      <a:pt x="0" y="1"/>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grpSp>
        <p:sp>
          <p:nvSpPr>
            <p:cNvPr id="69" name="Oval 68">
              <a:extLst>
                <a:ext uri="{FF2B5EF4-FFF2-40B4-BE49-F238E27FC236}">
                  <a16:creationId xmlns:a16="http://schemas.microsoft.com/office/drawing/2014/main" id="{06853DD2-F7A3-4F4D-99B8-9F18ACCC7C6D}"/>
                </a:ext>
              </a:extLst>
            </p:cNvPr>
            <p:cNvSpPr/>
            <p:nvPr/>
          </p:nvSpPr>
          <p:spPr>
            <a:xfrm>
              <a:off x="7987629" y="3727055"/>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70" name="Oval 69">
              <a:extLst>
                <a:ext uri="{FF2B5EF4-FFF2-40B4-BE49-F238E27FC236}">
                  <a16:creationId xmlns:a16="http://schemas.microsoft.com/office/drawing/2014/main" id="{E565F266-C746-421E-AD1A-7644947B0276}"/>
                </a:ext>
              </a:extLst>
            </p:cNvPr>
            <p:cNvSpPr/>
            <p:nvPr/>
          </p:nvSpPr>
          <p:spPr>
            <a:xfrm>
              <a:off x="8546474" y="4830598"/>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71" name="Oval 70">
              <a:extLst>
                <a:ext uri="{FF2B5EF4-FFF2-40B4-BE49-F238E27FC236}">
                  <a16:creationId xmlns:a16="http://schemas.microsoft.com/office/drawing/2014/main" id="{AE86E24D-D487-4133-BC7F-9630B2AB773E}"/>
                </a:ext>
              </a:extLst>
            </p:cNvPr>
            <p:cNvSpPr/>
            <p:nvPr/>
          </p:nvSpPr>
          <p:spPr>
            <a:xfrm>
              <a:off x="9166350" y="3662815"/>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72" name="Oval 71">
              <a:extLst>
                <a:ext uri="{FF2B5EF4-FFF2-40B4-BE49-F238E27FC236}">
                  <a16:creationId xmlns:a16="http://schemas.microsoft.com/office/drawing/2014/main" id="{3312FAE7-FE41-441A-A5F7-EE72F477C7A8}"/>
                </a:ext>
              </a:extLst>
            </p:cNvPr>
            <p:cNvSpPr/>
            <p:nvPr/>
          </p:nvSpPr>
          <p:spPr>
            <a:xfrm>
              <a:off x="9543898" y="4616376"/>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73" name="Oval 72">
              <a:extLst>
                <a:ext uri="{FF2B5EF4-FFF2-40B4-BE49-F238E27FC236}">
                  <a16:creationId xmlns:a16="http://schemas.microsoft.com/office/drawing/2014/main" id="{CA885DD8-BAA8-481D-8280-0F56E72C8DA1}"/>
                </a:ext>
              </a:extLst>
            </p:cNvPr>
            <p:cNvSpPr/>
            <p:nvPr/>
          </p:nvSpPr>
          <p:spPr>
            <a:xfrm>
              <a:off x="9582210" y="4900150"/>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grpSp>
      <p:cxnSp>
        <p:nvCxnSpPr>
          <p:cNvPr id="144" name="Connector: Elbow 143">
            <a:extLst>
              <a:ext uri="{FF2B5EF4-FFF2-40B4-BE49-F238E27FC236}">
                <a16:creationId xmlns:a16="http://schemas.microsoft.com/office/drawing/2014/main" id="{3591711E-DCB3-4742-BD59-148A69AD38FB}"/>
              </a:ext>
            </a:extLst>
          </p:cNvPr>
          <p:cNvCxnSpPr>
            <a:cxnSpLocks/>
          </p:cNvCxnSpPr>
          <p:nvPr/>
        </p:nvCxnSpPr>
        <p:spPr bwMode="white">
          <a:xfrm flipH="1">
            <a:off x="8351851" y="2571894"/>
            <a:ext cx="1284231" cy="423704"/>
          </a:xfrm>
          <a:prstGeom prst="straightConnector1">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49" name="Oval 148">
            <a:extLst>
              <a:ext uri="{FF2B5EF4-FFF2-40B4-BE49-F238E27FC236}">
                <a16:creationId xmlns:a16="http://schemas.microsoft.com/office/drawing/2014/main" id="{ED53D70F-703C-466E-A8F2-A58F3E660211}"/>
              </a:ext>
            </a:extLst>
          </p:cNvPr>
          <p:cNvSpPr/>
          <p:nvPr/>
        </p:nvSpPr>
        <p:spPr>
          <a:xfrm>
            <a:off x="8029279" y="2641651"/>
            <a:ext cx="45719" cy="45719"/>
          </a:xfrm>
          <a:prstGeom prst="ellipse">
            <a:avLst/>
          </a:prstGeom>
          <a:solidFill>
            <a:srgbClr val="C6007E"/>
          </a:solidFill>
          <a:ln>
            <a:solidFill>
              <a:schemeClr val="bg1"/>
            </a:solidFill>
          </a:ln>
        </p:spPr>
        <p:style>
          <a:lnRef idx="0">
            <a:scrgbClr r="0" g="0" b="0"/>
          </a:lnRef>
          <a:fillRef idx="0">
            <a:scrgbClr r="0" g="0" b="0"/>
          </a:fillRef>
          <a:effectRef idx="0">
            <a:scrgbClr r="0" g="0" b="0"/>
          </a:effectRef>
          <a:fontRef idx="minor">
            <a:schemeClr val="lt1"/>
          </a:fontRef>
        </p:style>
        <p:txBody>
          <a:bodyPr lIns="54611" tIns="54611" rIns="54611" bIns="54611" rtlCol="0" anchor="ctr"/>
          <a:lstStyle/>
          <a:p>
            <a:pPr algn="l"/>
            <a:endParaRPr lang="en-IN" sz="1500" err="1">
              <a:solidFill>
                <a:schemeClr val="bg1"/>
              </a:solidFill>
            </a:endParaRPr>
          </a:p>
        </p:txBody>
      </p:sp>
      <p:grpSp>
        <p:nvGrpSpPr>
          <p:cNvPr id="154" name="Group 153">
            <a:extLst>
              <a:ext uri="{FF2B5EF4-FFF2-40B4-BE49-F238E27FC236}">
                <a16:creationId xmlns:a16="http://schemas.microsoft.com/office/drawing/2014/main" id="{529B9FA5-9A3C-4E99-96CE-DC0926D40A09}"/>
              </a:ext>
            </a:extLst>
          </p:cNvPr>
          <p:cNvGrpSpPr/>
          <p:nvPr/>
        </p:nvGrpSpPr>
        <p:grpSpPr>
          <a:xfrm>
            <a:off x="9590120" y="1569579"/>
            <a:ext cx="1758535" cy="1369920"/>
            <a:chOff x="1565275" y="3284538"/>
            <a:chExt cx="323850" cy="254001"/>
          </a:xfrm>
          <a:solidFill>
            <a:schemeClr val="accent4"/>
          </a:solidFill>
        </p:grpSpPr>
        <p:sp>
          <p:nvSpPr>
            <p:cNvPr id="155" name="Freeform 37">
              <a:extLst>
                <a:ext uri="{FF2B5EF4-FFF2-40B4-BE49-F238E27FC236}">
                  <a16:creationId xmlns:a16="http://schemas.microsoft.com/office/drawing/2014/main" id="{77ED2CA0-C78D-4F5E-B9C0-69A3D27DE3D1}"/>
                </a:ext>
              </a:extLst>
            </p:cNvPr>
            <p:cNvSpPr>
              <a:spLocks noChangeAspect="1"/>
            </p:cNvSpPr>
            <p:nvPr/>
          </p:nvSpPr>
          <p:spPr bwMode="gray">
            <a:xfrm>
              <a:off x="1700213" y="3379788"/>
              <a:ext cx="160338" cy="150813"/>
            </a:xfrm>
            <a:custGeom>
              <a:avLst/>
              <a:gdLst/>
              <a:ahLst/>
              <a:cxnLst>
                <a:cxn ang="0">
                  <a:pos x="190" y="354"/>
                </a:cxn>
                <a:cxn ang="0">
                  <a:pos x="198" y="382"/>
                </a:cxn>
                <a:cxn ang="0">
                  <a:pos x="213" y="403"/>
                </a:cxn>
                <a:cxn ang="0">
                  <a:pos x="237" y="403"/>
                </a:cxn>
                <a:cxn ang="0">
                  <a:pos x="281" y="395"/>
                </a:cxn>
                <a:cxn ang="0">
                  <a:pos x="304" y="376"/>
                </a:cxn>
                <a:cxn ang="0">
                  <a:pos x="316" y="347"/>
                </a:cxn>
                <a:cxn ang="0">
                  <a:pos x="345" y="316"/>
                </a:cxn>
                <a:cxn ang="0">
                  <a:pos x="385" y="286"/>
                </a:cxn>
                <a:cxn ang="0">
                  <a:pos x="376" y="257"/>
                </a:cxn>
                <a:cxn ang="0">
                  <a:pos x="367" y="211"/>
                </a:cxn>
                <a:cxn ang="0">
                  <a:pos x="415" y="167"/>
                </a:cxn>
                <a:cxn ang="0">
                  <a:pos x="420" y="145"/>
                </a:cxn>
                <a:cxn ang="0">
                  <a:pos x="418" y="89"/>
                </a:cxn>
                <a:cxn ang="0">
                  <a:pos x="433" y="70"/>
                </a:cxn>
                <a:cxn ang="0">
                  <a:pos x="390" y="41"/>
                </a:cxn>
                <a:cxn ang="0">
                  <a:pos x="344" y="46"/>
                </a:cxn>
                <a:cxn ang="0">
                  <a:pos x="312" y="0"/>
                </a:cxn>
                <a:cxn ang="0">
                  <a:pos x="271" y="14"/>
                </a:cxn>
                <a:cxn ang="0">
                  <a:pos x="264" y="41"/>
                </a:cxn>
                <a:cxn ang="0">
                  <a:pos x="196" y="40"/>
                </a:cxn>
                <a:cxn ang="0">
                  <a:pos x="181" y="82"/>
                </a:cxn>
                <a:cxn ang="0">
                  <a:pos x="160" y="34"/>
                </a:cxn>
                <a:cxn ang="0">
                  <a:pos x="126" y="35"/>
                </a:cxn>
                <a:cxn ang="0">
                  <a:pos x="79" y="23"/>
                </a:cxn>
                <a:cxn ang="0">
                  <a:pos x="23" y="66"/>
                </a:cxn>
                <a:cxn ang="0">
                  <a:pos x="0" y="76"/>
                </a:cxn>
                <a:cxn ang="0">
                  <a:pos x="4" y="167"/>
                </a:cxn>
                <a:cxn ang="0">
                  <a:pos x="30" y="191"/>
                </a:cxn>
                <a:cxn ang="0">
                  <a:pos x="82" y="185"/>
                </a:cxn>
                <a:cxn ang="0">
                  <a:pos x="145" y="181"/>
                </a:cxn>
                <a:cxn ang="0">
                  <a:pos x="165" y="185"/>
                </a:cxn>
                <a:cxn ang="0">
                  <a:pos x="162" y="208"/>
                </a:cxn>
                <a:cxn ang="0">
                  <a:pos x="166" y="227"/>
                </a:cxn>
                <a:cxn ang="0">
                  <a:pos x="181" y="257"/>
                </a:cxn>
                <a:cxn ang="0">
                  <a:pos x="220" y="304"/>
                </a:cxn>
                <a:cxn ang="0">
                  <a:pos x="193" y="324"/>
                </a:cxn>
                <a:cxn ang="0">
                  <a:pos x="196" y="340"/>
                </a:cxn>
                <a:cxn ang="0">
                  <a:pos x="190" y="354"/>
                </a:cxn>
              </a:cxnLst>
              <a:rect l="0" t="0" r="r" b="b"/>
              <a:pathLst>
                <a:path w="433" h="403">
                  <a:moveTo>
                    <a:pt x="190" y="354"/>
                  </a:moveTo>
                  <a:lnTo>
                    <a:pt x="198" y="382"/>
                  </a:lnTo>
                  <a:lnTo>
                    <a:pt x="213" y="403"/>
                  </a:lnTo>
                  <a:lnTo>
                    <a:pt x="237" y="403"/>
                  </a:lnTo>
                  <a:lnTo>
                    <a:pt x="281" y="395"/>
                  </a:lnTo>
                  <a:lnTo>
                    <a:pt x="304" y="376"/>
                  </a:lnTo>
                  <a:lnTo>
                    <a:pt x="316" y="347"/>
                  </a:lnTo>
                  <a:lnTo>
                    <a:pt x="345" y="316"/>
                  </a:lnTo>
                  <a:lnTo>
                    <a:pt x="385" y="286"/>
                  </a:lnTo>
                  <a:lnTo>
                    <a:pt x="376" y="257"/>
                  </a:lnTo>
                  <a:lnTo>
                    <a:pt x="367" y="211"/>
                  </a:lnTo>
                  <a:lnTo>
                    <a:pt x="415" y="167"/>
                  </a:lnTo>
                  <a:lnTo>
                    <a:pt x="420" y="145"/>
                  </a:lnTo>
                  <a:lnTo>
                    <a:pt x="418" y="89"/>
                  </a:lnTo>
                  <a:lnTo>
                    <a:pt x="433" y="70"/>
                  </a:lnTo>
                  <a:lnTo>
                    <a:pt x="390" y="41"/>
                  </a:lnTo>
                  <a:lnTo>
                    <a:pt x="344" y="46"/>
                  </a:lnTo>
                  <a:lnTo>
                    <a:pt x="312" y="0"/>
                  </a:lnTo>
                  <a:lnTo>
                    <a:pt x="271" y="14"/>
                  </a:lnTo>
                  <a:lnTo>
                    <a:pt x="264" y="41"/>
                  </a:lnTo>
                  <a:lnTo>
                    <a:pt x="196" y="40"/>
                  </a:lnTo>
                  <a:lnTo>
                    <a:pt x="181" y="82"/>
                  </a:lnTo>
                  <a:lnTo>
                    <a:pt x="160" y="34"/>
                  </a:lnTo>
                  <a:lnTo>
                    <a:pt x="126" y="35"/>
                  </a:lnTo>
                  <a:lnTo>
                    <a:pt x="79" y="23"/>
                  </a:lnTo>
                  <a:lnTo>
                    <a:pt x="23" y="66"/>
                  </a:lnTo>
                  <a:lnTo>
                    <a:pt x="0" y="76"/>
                  </a:lnTo>
                  <a:lnTo>
                    <a:pt x="4" y="167"/>
                  </a:lnTo>
                  <a:lnTo>
                    <a:pt x="30" y="191"/>
                  </a:lnTo>
                  <a:lnTo>
                    <a:pt x="82" y="185"/>
                  </a:lnTo>
                  <a:lnTo>
                    <a:pt x="145" y="181"/>
                  </a:lnTo>
                  <a:lnTo>
                    <a:pt x="165" y="185"/>
                  </a:lnTo>
                  <a:lnTo>
                    <a:pt x="162" y="208"/>
                  </a:lnTo>
                  <a:lnTo>
                    <a:pt x="166" y="227"/>
                  </a:lnTo>
                  <a:lnTo>
                    <a:pt x="181" y="257"/>
                  </a:lnTo>
                  <a:lnTo>
                    <a:pt x="220" y="304"/>
                  </a:lnTo>
                  <a:lnTo>
                    <a:pt x="193" y="324"/>
                  </a:lnTo>
                  <a:lnTo>
                    <a:pt x="196" y="340"/>
                  </a:lnTo>
                  <a:lnTo>
                    <a:pt x="190" y="354"/>
                  </a:lnTo>
                  <a:close/>
                </a:path>
              </a:pathLst>
            </a:custGeom>
            <a:grpFill/>
            <a:ln w="6350" cap="flat" cmpd="sng">
              <a:solidFill>
                <a:schemeClr val="bg1"/>
              </a:solidFill>
              <a:prstDash val="solid"/>
              <a:round/>
              <a:headEnd type="none" w="med" len="med"/>
              <a:tailEnd type="none" w="med" len="med"/>
            </a:ln>
            <a:effectLst/>
          </p:spPr>
          <p:txBody>
            <a:bodyPr/>
            <a:lstStyle/>
            <a:p>
              <a:pPr>
                <a:defRPr/>
              </a:pPr>
              <a:endParaRPr lang="en-US" sz="700" kern="0">
                <a:solidFill>
                  <a:schemeClr val="bg1"/>
                </a:solidFill>
                <a:latin typeface="Arial" panose="020B0604020202020204" pitchFamily="34" charset="0"/>
              </a:endParaRPr>
            </a:p>
          </p:txBody>
        </p:sp>
        <p:sp>
          <p:nvSpPr>
            <p:cNvPr id="156" name="Freeform 38">
              <a:extLst>
                <a:ext uri="{FF2B5EF4-FFF2-40B4-BE49-F238E27FC236}">
                  <a16:creationId xmlns:a16="http://schemas.microsoft.com/office/drawing/2014/main" id="{37C52CF4-62E2-49A6-9F3B-5F122FC13879}"/>
                </a:ext>
              </a:extLst>
            </p:cNvPr>
            <p:cNvSpPr>
              <a:spLocks noChangeAspect="1"/>
            </p:cNvSpPr>
            <p:nvPr/>
          </p:nvSpPr>
          <p:spPr bwMode="gray">
            <a:xfrm>
              <a:off x="1595438" y="3397251"/>
              <a:ext cx="185738" cy="141288"/>
            </a:xfrm>
            <a:custGeom>
              <a:avLst/>
              <a:gdLst/>
              <a:ahLst/>
              <a:cxnLst>
                <a:cxn ang="0">
                  <a:pos x="473" y="308"/>
                </a:cxn>
                <a:cxn ang="0">
                  <a:pos x="460" y="306"/>
                </a:cxn>
                <a:cxn ang="0">
                  <a:pos x="422" y="301"/>
                </a:cxn>
                <a:cxn ang="0">
                  <a:pos x="391" y="337"/>
                </a:cxn>
                <a:cxn ang="0">
                  <a:pos x="370" y="355"/>
                </a:cxn>
                <a:cxn ang="0">
                  <a:pos x="351" y="379"/>
                </a:cxn>
                <a:cxn ang="0">
                  <a:pos x="295" y="349"/>
                </a:cxn>
                <a:cxn ang="0">
                  <a:pos x="298" y="304"/>
                </a:cxn>
                <a:cxn ang="0">
                  <a:pos x="276" y="283"/>
                </a:cxn>
                <a:cxn ang="0">
                  <a:pos x="270" y="258"/>
                </a:cxn>
                <a:cxn ang="0">
                  <a:pos x="244" y="286"/>
                </a:cxn>
                <a:cxn ang="0">
                  <a:pos x="235" y="301"/>
                </a:cxn>
                <a:cxn ang="0">
                  <a:pos x="198" y="282"/>
                </a:cxn>
                <a:cxn ang="0">
                  <a:pos x="172" y="225"/>
                </a:cxn>
                <a:cxn ang="0">
                  <a:pos x="165" y="238"/>
                </a:cxn>
                <a:cxn ang="0">
                  <a:pos x="146" y="243"/>
                </a:cxn>
                <a:cxn ang="0">
                  <a:pos x="147" y="324"/>
                </a:cxn>
                <a:cxn ang="0">
                  <a:pos x="91" y="276"/>
                </a:cxn>
                <a:cxn ang="0">
                  <a:pos x="106" y="234"/>
                </a:cxn>
                <a:cxn ang="0">
                  <a:pos x="73" y="211"/>
                </a:cxn>
                <a:cxn ang="0">
                  <a:pos x="34" y="205"/>
                </a:cxn>
                <a:cxn ang="0">
                  <a:pos x="7" y="202"/>
                </a:cxn>
                <a:cxn ang="0">
                  <a:pos x="9" y="187"/>
                </a:cxn>
                <a:cxn ang="0">
                  <a:pos x="25" y="166"/>
                </a:cxn>
                <a:cxn ang="0">
                  <a:pos x="9" y="134"/>
                </a:cxn>
                <a:cxn ang="0">
                  <a:pos x="0" y="115"/>
                </a:cxn>
                <a:cxn ang="0">
                  <a:pos x="9" y="68"/>
                </a:cxn>
                <a:cxn ang="0">
                  <a:pos x="13" y="94"/>
                </a:cxn>
                <a:cxn ang="0">
                  <a:pos x="58" y="105"/>
                </a:cxn>
                <a:cxn ang="0">
                  <a:pos x="78" y="96"/>
                </a:cxn>
                <a:cxn ang="0">
                  <a:pos x="100" y="84"/>
                </a:cxn>
                <a:cxn ang="0">
                  <a:pos x="91" y="51"/>
                </a:cxn>
                <a:cxn ang="0">
                  <a:pos x="132" y="51"/>
                </a:cxn>
                <a:cxn ang="0">
                  <a:pos x="151" y="18"/>
                </a:cxn>
                <a:cxn ang="0">
                  <a:pos x="208" y="27"/>
                </a:cxn>
                <a:cxn ang="0">
                  <a:pos x="223" y="0"/>
                </a:cxn>
                <a:cxn ang="0">
                  <a:pos x="253" y="7"/>
                </a:cxn>
                <a:cxn ang="0">
                  <a:pos x="271" y="25"/>
                </a:cxn>
                <a:cxn ang="0">
                  <a:pos x="283" y="33"/>
                </a:cxn>
                <a:cxn ang="0">
                  <a:pos x="286" y="102"/>
                </a:cxn>
                <a:cxn ang="0">
                  <a:pos x="282" y="117"/>
                </a:cxn>
                <a:cxn ang="0">
                  <a:pos x="313" y="144"/>
                </a:cxn>
                <a:cxn ang="0">
                  <a:pos x="366" y="138"/>
                </a:cxn>
                <a:cxn ang="0">
                  <a:pos x="414" y="135"/>
                </a:cxn>
                <a:cxn ang="0">
                  <a:pos x="445" y="139"/>
                </a:cxn>
                <a:cxn ang="0">
                  <a:pos x="445" y="175"/>
                </a:cxn>
                <a:cxn ang="0">
                  <a:pos x="466" y="216"/>
                </a:cxn>
                <a:cxn ang="0">
                  <a:pos x="502" y="259"/>
                </a:cxn>
                <a:cxn ang="0">
                  <a:pos x="475" y="278"/>
                </a:cxn>
                <a:cxn ang="0">
                  <a:pos x="478" y="294"/>
                </a:cxn>
                <a:cxn ang="0">
                  <a:pos x="473" y="308"/>
                </a:cxn>
              </a:cxnLst>
              <a:rect l="0" t="0" r="r" b="b"/>
              <a:pathLst>
                <a:path w="502" h="379">
                  <a:moveTo>
                    <a:pt x="473" y="308"/>
                  </a:moveTo>
                  <a:lnTo>
                    <a:pt x="460" y="306"/>
                  </a:lnTo>
                  <a:lnTo>
                    <a:pt x="422" y="301"/>
                  </a:lnTo>
                  <a:lnTo>
                    <a:pt x="391" y="337"/>
                  </a:lnTo>
                  <a:lnTo>
                    <a:pt x="370" y="355"/>
                  </a:lnTo>
                  <a:lnTo>
                    <a:pt x="351" y="379"/>
                  </a:lnTo>
                  <a:lnTo>
                    <a:pt x="295" y="349"/>
                  </a:lnTo>
                  <a:lnTo>
                    <a:pt x="298" y="304"/>
                  </a:lnTo>
                  <a:lnTo>
                    <a:pt x="276" y="283"/>
                  </a:lnTo>
                  <a:lnTo>
                    <a:pt x="270" y="258"/>
                  </a:lnTo>
                  <a:lnTo>
                    <a:pt x="244" y="286"/>
                  </a:lnTo>
                  <a:lnTo>
                    <a:pt x="235" y="301"/>
                  </a:lnTo>
                  <a:lnTo>
                    <a:pt x="198" y="282"/>
                  </a:lnTo>
                  <a:lnTo>
                    <a:pt x="172" y="225"/>
                  </a:lnTo>
                  <a:lnTo>
                    <a:pt x="165" y="238"/>
                  </a:lnTo>
                  <a:lnTo>
                    <a:pt x="146" y="243"/>
                  </a:lnTo>
                  <a:lnTo>
                    <a:pt x="147" y="324"/>
                  </a:lnTo>
                  <a:lnTo>
                    <a:pt x="91" y="276"/>
                  </a:lnTo>
                  <a:lnTo>
                    <a:pt x="106" y="234"/>
                  </a:lnTo>
                  <a:lnTo>
                    <a:pt x="73" y="211"/>
                  </a:lnTo>
                  <a:lnTo>
                    <a:pt x="34" y="205"/>
                  </a:lnTo>
                  <a:lnTo>
                    <a:pt x="7" y="202"/>
                  </a:lnTo>
                  <a:lnTo>
                    <a:pt x="9" y="187"/>
                  </a:lnTo>
                  <a:lnTo>
                    <a:pt x="25" y="166"/>
                  </a:lnTo>
                  <a:lnTo>
                    <a:pt x="9" y="134"/>
                  </a:lnTo>
                  <a:lnTo>
                    <a:pt x="0" y="115"/>
                  </a:lnTo>
                  <a:lnTo>
                    <a:pt x="9" y="68"/>
                  </a:lnTo>
                  <a:lnTo>
                    <a:pt x="13" y="94"/>
                  </a:lnTo>
                  <a:lnTo>
                    <a:pt x="58" y="105"/>
                  </a:lnTo>
                  <a:lnTo>
                    <a:pt x="78" y="96"/>
                  </a:lnTo>
                  <a:lnTo>
                    <a:pt x="100" y="84"/>
                  </a:lnTo>
                  <a:lnTo>
                    <a:pt x="91" y="51"/>
                  </a:lnTo>
                  <a:lnTo>
                    <a:pt x="132" y="51"/>
                  </a:lnTo>
                  <a:lnTo>
                    <a:pt x="151" y="18"/>
                  </a:lnTo>
                  <a:lnTo>
                    <a:pt x="208" y="27"/>
                  </a:lnTo>
                  <a:lnTo>
                    <a:pt x="223" y="0"/>
                  </a:lnTo>
                  <a:lnTo>
                    <a:pt x="253" y="7"/>
                  </a:lnTo>
                  <a:lnTo>
                    <a:pt x="271" y="25"/>
                  </a:lnTo>
                  <a:lnTo>
                    <a:pt x="283" y="33"/>
                  </a:lnTo>
                  <a:lnTo>
                    <a:pt x="286" y="102"/>
                  </a:lnTo>
                  <a:lnTo>
                    <a:pt x="282" y="117"/>
                  </a:lnTo>
                  <a:lnTo>
                    <a:pt x="313" y="144"/>
                  </a:lnTo>
                  <a:lnTo>
                    <a:pt x="366" y="138"/>
                  </a:lnTo>
                  <a:lnTo>
                    <a:pt x="414" y="135"/>
                  </a:lnTo>
                  <a:lnTo>
                    <a:pt x="445" y="139"/>
                  </a:lnTo>
                  <a:lnTo>
                    <a:pt x="445" y="175"/>
                  </a:lnTo>
                  <a:lnTo>
                    <a:pt x="466" y="216"/>
                  </a:lnTo>
                  <a:lnTo>
                    <a:pt x="502" y="259"/>
                  </a:lnTo>
                  <a:lnTo>
                    <a:pt x="475" y="278"/>
                  </a:lnTo>
                  <a:lnTo>
                    <a:pt x="478" y="294"/>
                  </a:lnTo>
                  <a:lnTo>
                    <a:pt x="473" y="308"/>
                  </a:lnTo>
                  <a:close/>
                </a:path>
              </a:pathLst>
            </a:custGeom>
            <a:grpFill/>
            <a:ln w="6350" cap="flat" cmpd="sng">
              <a:solidFill>
                <a:schemeClr val="bg1"/>
              </a:solidFill>
              <a:prstDash val="solid"/>
              <a:round/>
              <a:headEnd type="none" w="med" len="med"/>
              <a:tailEnd type="none" w="med" len="med"/>
            </a:ln>
            <a:effectLst/>
          </p:spPr>
          <p:txBody>
            <a:bodyPr/>
            <a:lstStyle/>
            <a:p>
              <a:pPr>
                <a:defRPr/>
              </a:pPr>
              <a:endParaRPr lang="en-US" sz="700" kern="0">
                <a:solidFill>
                  <a:schemeClr val="bg1"/>
                </a:solidFill>
                <a:latin typeface="Arial" panose="020B0604020202020204" pitchFamily="34" charset="0"/>
              </a:endParaRPr>
            </a:p>
          </p:txBody>
        </p:sp>
        <p:sp>
          <p:nvSpPr>
            <p:cNvPr id="157" name="Freeform 39">
              <a:extLst>
                <a:ext uri="{FF2B5EF4-FFF2-40B4-BE49-F238E27FC236}">
                  <a16:creationId xmlns:a16="http://schemas.microsoft.com/office/drawing/2014/main" id="{6525F754-DDC4-4B38-B14B-C5FA5A5C4D43}"/>
                </a:ext>
              </a:extLst>
            </p:cNvPr>
            <p:cNvSpPr>
              <a:spLocks noChangeAspect="1"/>
            </p:cNvSpPr>
            <p:nvPr/>
          </p:nvSpPr>
          <p:spPr bwMode="gray">
            <a:xfrm>
              <a:off x="1565275" y="3311526"/>
              <a:ext cx="165100" cy="125413"/>
            </a:xfrm>
            <a:custGeom>
              <a:avLst/>
              <a:gdLst/>
              <a:ahLst/>
              <a:cxnLst>
                <a:cxn ang="0">
                  <a:pos x="89" y="298"/>
                </a:cxn>
                <a:cxn ang="0">
                  <a:pos x="96" y="324"/>
                </a:cxn>
                <a:cxn ang="0">
                  <a:pos x="141" y="335"/>
                </a:cxn>
                <a:cxn ang="0">
                  <a:pos x="179" y="315"/>
                </a:cxn>
                <a:cxn ang="0">
                  <a:pos x="173" y="281"/>
                </a:cxn>
                <a:cxn ang="0">
                  <a:pos x="210" y="281"/>
                </a:cxn>
                <a:cxn ang="0">
                  <a:pos x="230" y="248"/>
                </a:cxn>
                <a:cxn ang="0">
                  <a:pos x="288" y="255"/>
                </a:cxn>
                <a:cxn ang="0">
                  <a:pos x="308" y="230"/>
                </a:cxn>
                <a:cxn ang="0">
                  <a:pos x="333" y="239"/>
                </a:cxn>
                <a:cxn ang="0">
                  <a:pos x="362" y="261"/>
                </a:cxn>
                <a:cxn ang="0">
                  <a:pos x="386" y="250"/>
                </a:cxn>
                <a:cxn ang="0">
                  <a:pos x="444" y="207"/>
                </a:cxn>
                <a:cxn ang="0">
                  <a:pos x="417" y="186"/>
                </a:cxn>
                <a:cxn ang="0">
                  <a:pos x="386" y="179"/>
                </a:cxn>
                <a:cxn ang="0">
                  <a:pos x="348" y="165"/>
                </a:cxn>
                <a:cxn ang="0">
                  <a:pos x="335" y="128"/>
                </a:cxn>
                <a:cxn ang="0">
                  <a:pos x="306" y="126"/>
                </a:cxn>
                <a:cxn ang="0">
                  <a:pos x="275" y="114"/>
                </a:cxn>
                <a:cxn ang="0">
                  <a:pos x="267" y="67"/>
                </a:cxn>
                <a:cxn ang="0">
                  <a:pos x="230" y="41"/>
                </a:cxn>
                <a:cxn ang="0">
                  <a:pos x="237" y="0"/>
                </a:cxn>
                <a:cxn ang="0">
                  <a:pos x="195" y="0"/>
                </a:cxn>
                <a:cxn ang="0">
                  <a:pos x="182" y="6"/>
                </a:cxn>
                <a:cxn ang="0">
                  <a:pos x="132" y="27"/>
                </a:cxn>
                <a:cxn ang="0">
                  <a:pos x="89" y="37"/>
                </a:cxn>
                <a:cxn ang="0">
                  <a:pos x="0" y="41"/>
                </a:cxn>
                <a:cxn ang="0">
                  <a:pos x="30" y="111"/>
                </a:cxn>
                <a:cxn ang="0">
                  <a:pos x="38" y="149"/>
                </a:cxn>
                <a:cxn ang="0">
                  <a:pos x="51" y="188"/>
                </a:cxn>
                <a:cxn ang="0">
                  <a:pos x="21" y="240"/>
                </a:cxn>
                <a:cxn ang="0">
                  <a:pos x="59" y="269"/>
                </a:cxn>
                <a:cxn ang="0">
                  <a:pos x="90" y="285"/>
                </a:cxn>
                <a:cxn ang="0">
                  <a:pos x="89" y="298"/>
                </a:cxn>
              </a:cxnLst>
              <a:rect l="0" t="0" r="r" b="b"/>
              <a:pathLst>
                <a:path w="444" h="335">
                  <a:moveTo>
                    <a:pt x="89" y="298"/>
                  </a:moveTo>
                  <a:lnTo>
                    <a:pt x="96" y="324"/>
                  </a:lnTo>
                  <a:lnTo>
                    <a:pt x="141" y="335"/>
                  </a:lnTo>
                  <a:lnTo>
                    <a:pt x="179" y="315"/>
                  </a:lnTo>
                  <a:lnTo>
                    <a:pt x="173" y="281"/>
                  </a:lnTo>
                  <a:lnTo>
                    <a:pt x="210" y="281"/>
                  </a:lnTo>
                  <a:lnTo>
                    <a:pt x="230" y="248"/>
                  </a:lnTo>
                  <a:lnTo>
                    <a:pt x="288" y="255"/>
                  </a:lnTo>
                  <a:lnTo>
                    <a:pt x="308" y="230"/>
                  </a:lnTo>
                  <a:lnTo>
                    <a:pt x="333" y="239"/>
                  </a:lnTo>
                  <a:lnTo>
                    <a:pt x="362" y="261"/>
                  </a:lnTo>
                  <a:lnTo>
                    <a:pt x="386" y="250"/>
                  </a:lnTo>
                  <a:lnTo>
                    <a:pt x="444" y="207"/>
                  </a:lnTo>
                  <a:lnTo>
                    <a:pt x="417" y="186"/>
                  </a:lnTo>
                  <a:lnTo>
                    <a:pt x="386" y="179"/>
                  </a:lnTo>
                  <a:lnTo>
                    <a:pt x="348" y="165"/>
                  </a:lnTo>
                  <a:lnTo>
                    <a:pt x="335" y="128"/>
                  </a:lnTo>
                  <a:lnTo>
                    <a:pt x="306" y="126"/>
                  </a:lnTo>
                  <a:lnTo>
                    <a:pt x="275" y="114"/>
                  </a:lnTo>
                  <a:lnTo>
                    <a:pt x="267" y="67"/>
                  </a:lnTo>
                  <a:lnTo>
                    <a:pt x="230" y="41"/>
                  </a:lnTo>
                  <a:lnTo>
                    <a:pt x="237" y="0"/>
                  </a:lnTo>
                  <a:lnTo>
                    <a:pt x="195" y="0"/>
                  </a:lnTo>
                  <a:lnTo>
                    <a:pt x="182" y="6"/>
                  </a:lnTo>
                  <a:lnTo>
                    <a:pt x="132" y="27"/>
                  </a:lnTo>
                  <a:lnTo>
                    <a:pt x="89" y="37"/>
                  </a:lnTo>
                  <a:lnTo>
                    <a:pt x="0" y="41"/>
                  </a:lnTo>
                  <a:lnTo>
                    <a:pt x="30" y="111"/>
                  </a:lnTo>
                  <a:lnTo>
                    <a:pt x="38" y="149"/>
                  </a:lnTo>
                  <a:lnTo>
                    <a:pt x="51" y="188"/>
                  </a:lnTo>
                  <a:lnTo>
                    <a:pt x="21" y="240"/>
                  </a:lnTo>
                  <a:lnTo>
                    <a:pt x="59" y="269"/>
                  </a:lnTo>
                  <a:lnTo>
                    <a:pt x="90" y="285"/>
                  </a:lnTo>
                  <a:lnTo>
                    <a:pt x="89" y="298"/>
                  </a:lnTo>
                  <a:close/>
                </a:path>
              </a:pathLst>
            </a:custGeom>
            <a:grpFill/>
            <a:ln w="6350" cap="flat" cmpd="sng">
              <a:solidFill>
                <a:schemeClr val="bg1"/>
              </a:solidFill>
              <a:prstDash val="solid"/>
              <a:round/>
              <a:headEnd type="none" w="med" len="med"/>
              <a:tailEnd type="none" w="med" len="med"/>
            </a:ln>
            <a:effectLst/>
          </p:spPr>
          <p:txBody>
            <a:bodyPr/>
            <a:lstStyle/>
            <a:p>
              <a:pPr>
                <a:defRPr/>
              </a:pPr>
              <a:endParaRPr lang="en-US" sz="700" kern="0">
                <a:solidFill>
                  <a:schemeClr val="bg1"/>
                </a:solidFill>
                <a:latin typeface="Arial" panose="020B0604020202020204" pitchFamily="34" charset="0"/>
              </a:endParaRPr>
            </a:p>
          </p:txBody>
        </p:sp>
        <p:sp>
          <p:nvSpPr>
            <p:cNvPr id="158" name="Freeform 40">
              <a:extLst>
                <a:ext uri="{FF2B5EF4-FFF2-40B4-BE49-F238E27FC236}">
                  <a16:creationId xmlns:a16="http://schemas.microsoft.com/office/drawing/2014/main" id="{9ACA814C-06B6-4252-8CF2-A629EAA12836}"/>
                </a:ext>
              </a:extLst>
            </p:cNvPr>
            <p:cNvSpPr>
              <a:spLocks noChangeAspect="1"/>
            </p:cNvSpPr>
            <p:nvPr/>
          </p:nvSpPr>
          <p:spPr bwMode="gray">
            <a:xfrm>
              <a:off x="1651000" y="3284538"/>
              <a:ext cx="111125" cy="104775"/>
            </a:xfrm>
            <a:custGeom>
              <a:avLst/>
              <a:gdLst/>
              <a:ahLst/>
              <a:cxnLst>
                <a:cxn ang="0">
                  <a:pos x="215" y="280"/>
                </a:cxn>
                <a:cxn ang="0">
                  <a:pos x="194" y="270"/>
                </a:cxn>
                <a:cxn ang="0">
                  <a:pos x="185" y="256"/>
                </a:cxn>
                <a:cxn ang="0">
                  <a:pos x="159" y="255"/>
                </a:cxn>
                <a:cxn ang="0">
                  <a:pos x="116" y="238"/>
                </a:cxn>
                <a:cxn ang="0">
                  <a:pos x="104" y="201"/>
                </a:cxn>
                <a:cxn ang="0">
                  <a:pos x="80" y="202"/>
                </a:cxn>
                <a:cxn ang="0">
                  <a:pos x="50" y="190"/>
                </a:cxn>
                <a:cxn ang="0">
                  <a:pos x="42" y="183"/>
                </a:cxn>
                <a:cxn ang="0">
                  <a:pos x="36" y="141"/>
                </a:cxn>
                <a:cxn ang="0">
                  <a:pos x="17" y="130"/>
                </a:cxn>
                <a:cxn ang="0">
                  <a:pos x="0" y="117"/>
                </a:cxn>
                <a:cxn ang="0">
                  <a:pos x="2" y="96"/>
                </a:cxn>
                <a:cxn ang="0">
                  <a:pos x="8" y="76"/>
                </a:cxn>
                <a:cxn ang="0">
                  <a:pos x="33" y="66"/>
                </a:cxn>
                <a:cxn ang="0">
                  <a:pos x="71" y="29"/>
                </a:cxn>
                <a:cxn ang="0">
                  <a:pos x="117" y="18"/>
                </a:cxn>
                <a:cxn ang="0">
                  <a:pos x="146" y="0"/>
                </a:cxn>
                <a:cxn ang="0">
                  <a:pos x="170" y="6"/>
                </a:cxn>
                <a:cxn ang="0">
                  <a:pos x="248" y="6"/>
                </a:cxn>
                <a:cxn ang="0">
                  <a:pos x="260" y="27"/>
                </a:cxn>
                <a:cxn ang="0">
                  <a:pos x="278" y="36"/>
                </a:cxn>
                <a:cxn ang="0">
                  <a:pos x="281" y="51"/>
                </a:cxn>
                <a:cxn ang="0">
                  <a:pos x="300" y="63"/>
                </a:cxn>
                <a:cxn ang="0">
                  <a:pos x="276" y="72"/>
                </a:cxn>
                <a:cxn ang="0">
                  <a:pos x="263" y="97"/>
                </a:cxn>
                <a:cxn ang="0">
                  <a:pos x="271" y="133"/>
                </a:cxn>
                <a:cxn ang="0">
                  <a:pos x="266" y="141"/>
                </a:cxn>
                <a:cxn ang="0">
                  <a:pos x="248" y="142"/>
                </a:cxn>
                <a:cxn ang="0">
                  <a:pos x="254" y="174"/>
                </a:cxn>
                <a:cxn ang="0">
                  <a:pos x="225" y="173"/>
                </a:cxn>
                <a:cxn ang="0">
                  <a:pos x="233" y="216"/>
                </a:cxn>
                <a:cxn ang="0">
                  <a:pos x="222" y="261"/>
                </a:cxn>
                <a:cxn ang="0">
                  <a:pos x="215" y="280"/>
                </a:cxn>
              </a:cxnLst>
              <a:rect l="0" t="0" r="r" b="b"/>
              <a:pathLst>
                <a:path w="300" h="280">
                  <a:moveTo>
                    <a:pt x="215" y="280"/>
                  </a:moveTo>
                  <a:lnTo>
                    <a:pt x="194" y="270"/>
                  </a:lnTo>
                  <a:lnTo>
                    <a:pt x="185" y="256"/>
                  </a:lnTo>
                  <a:lnTo>
                    <a:pt x="159" y="255"/>
                  </a:lnTo>
                  <a:lnTo>
                    <a:pt x="116" y="238"/>
                  </a:lnTo>
                  <a:lnTo>
                    <a:pt x="104" y="201"/>
                  </a:lnTo>
                  <a:lnTo>
                    <a:pt x="80" y="202"/>
                  </a:lnTo>
                  <a:lnTo>
                    <a:pt x="50" y="190"/>
                  </a:lnTo>
                  <a:lnTo>
                    <a:pt x="42" y="183"/>
                  </a:lnTo>
                  <a:lnTo>
                    <a:pt x="36" y="141"/>
                  </a:lnTo>
                  <a:lnTo>
                    <a:pt x="17" y="130"/>
                  </a:lnTo>
                  <a:lnTo>
                    <a:pt x="0" y="117"/>
                  </a:lnTo>
                  <a:lnTo>
                    <a:pt x="2" y="96"/>
                  </a:lnTo>
                  <a:lnTo>
                    <a:pt x="8" y="76"/>
                  </a:lnTo>
                  <a:lnTo>
                    <a:pt x="33" y="66"/>
                  </a:lnTo>
                  <a:lnTo>
                    <a:pt x="71" y="29"/>
                  </a:lnTo>
                  <a:lnTo>
                    <a:pt x="117" y="18"/>
                  </a:lnTo>
                  <a:lnTo>
                    <a:pt x="146" y="0"/>
                  </a:lnTo>
                  <a:lnTo>
                    <a:pt x="170" y="6"/>
                  </a:lnTo>
                  <a:lnTo>
                    <a:pt x="248" y="6"/>
                  </a:lnTo>
                  <a:lnTo>
                    <a:pt x="260" y="27"/>
                  </a:lnTo>
                  <a:lnTo>
                    <a:pt x="278" y="36"/>
                  </a:lnTo>
                  <a:lnTo>
                    <a:pt x="281" y="51"/>
                  </a:lnTo>
                  <a:lnTo>
                    <a:pt x="300" y="63"/>
                  </a:lnTo>
                  <a:lnTo>
                    <a:pt x="276" y="72"/>
                  </a:lnTo>
                  <a:lnTo>
                    <a:pt x="263" y="97"/>
                  </a:lnTo>
                  <a:lnTo>
                    <a:pt x="271" y="133"/>
                  </a:lnTo>
                  <a:lnTo>
                    <a:pt x="266" y="141"/>
                  </a:lnTo>
                  <a:lnTo>
                    <a:pt x="248" y="142"/>
                  </a:lnTo>
                  <a:lnTo>
                    <a:pt x="254" y="174"/>
                  </a:lnTo>
                  <a:lnTo>
                    <a:pt x="225" y="173"/>
                  </a:lnTo>
                  <a:lnTo>
                    <a:pt x="233" y="216"/>
                  </a:lnTo>
                  <a:lnTo>
                    <a:pt x="222" y="261"/>
                  </a:lnTo>
                  <a:lnTo>
                    <a:pt x="215" y="280"/>
                  </a:lnTo>
                  <a:close/>
                </a:path>
              </a:pathLst>
            </a:custGeom>
            <a:grpFill/>
            <a:ln w="6350" cap="flat" cmpd="sng">
              <a:solidFill>
                <a:schemeClr val="bg1"/>
              </a:solidFill>
              <a:prstDash val="solid"/>
              <a:round/>
              <a:headEnd type="none" w="med" len="med"/>
              <a:tailEnd type="none" w="med" len="med"/>
            </a:ln>
            <a:effectLst/>
          </p:spPr>
          <p:txBody>
            <a:bodyPr/>
            <a:lstStyle/>
            <a:p>
              <a:pPr>
                <a:defRPr/>
              </a:pPr>
              <a:endParaRPr lang="en-US" sz="700" kern="0">
                <a:solidFill>
                  <a:schemeClr val="bg1"/>
                </a:solidFill>
                <a:latin typeface="Arial" panose="020B0604020202020204" pitchFamily="34" charset="0"/>
              </a:endParaRPr>
            </a:p>
          </p:txBody>
        </p:sp>
        <p:sp>
          <p:nvSpPr>
            <p:cNvPr id="159" name="Freeform 41">
              <a:extLst>
                <a:ext uri="{FF2B5EF4-FFF2-40B4-BE49-F238E27FC236}">
                  <a16:creationId xmlns:a16="http://schemas.microsoft.com/office/drawing/2014/main" id="{2A27D16C-9278-4FA3-A05D-59F7BBD04F2C}"/>
                </a:ext>
              </a:extLst>
            </p:cNvPr>
            <p:cNvSpPr>
              <a:spLocks noChangeAspect="1"/>
            </p:cNvSpPr>
            <p:nvPr/>
          </p:nvSpPr>
          <p:spPr bwMode="gray">
            <a:xfrm>
              <a:off x="1730375" y="3308351"/>
              <a:ext cx="158750" cy="101600"/>
            </a:xfrm>
            <a:custGeom>
              <a:avLst/>
              <a:gdLst/>
              <a:ahLst/>
              <a:cxnLst>
                <a:cxn ang="0">
                  <a:pos x="325" y="215"/>
                </a:cxn>
                <a:cxn ang="0">
                  <a:pos x="313" y="235"/>
                </a:cxn>
                <a:cxn ang="0">
                  <a:pos x="261" y="238"/>
                </a:cxn>
                <a:cxn ang="0">
                  <a:pos x="228" y="192"/>
                </a:cxn>
                <a:cxn ang="0">
                  <a:pos x="187" y="206"/>
                </a:cxn>
                <a:cxn ang="0">
                  <a:pos x="181" y="233"/>
                </a:cxn>
                <a:cxn ang="0">
                  <a:pos x="108" y="233"/>
                </a:cxn>
                <a:cxn ang="0">
                  <a:pos x="99" y="271"/>
                </a:cxn>
                <a:cxn ang="0">
                  <a:pos x="78" y="227"/>
                </a:cxn>
                <a:cxn ang="0">
                  <a:pos x="31" y="226"/>
                </a:cxn>
                <a:cxn ang="0">
                  <a:pos x="0" y="212"/>
                </a:cxn>
                <a:cxn ang="0">
                  <a:pos x="7" y="188"/>
                </a:cxn>
                <a:cxn ang="0">
                  <a:pos x="19" y="149"/>
                </a:cxn>
                <a:cxn ang="0">
                  <a:pos x="10" y="110"/>
                </a:cxn>
                <a:cxn ang="0">
                  <a:pos x="18" y="106"/>
                </a:cxn>
                <a:cxn ang="0">
                  <a:pos x="37" y="107"/>
                </a:cxn>
                <a:cxn ang="0">
                  <a:pos x="33" y="77"/>
                </a:cxn>
                <a:cxn ang="0">
                  <a:pos x="52" y="79"/>
                </a:cxn>
                <a:cxn ang="0">
                  <a:pos x="58" y="65"/>
                </a:cxn>
                <a:cxn ang="0">
                  <a:pos x="49" y="32"/>
                </a:cxn>
                <a:cxn ang="0">
                  <a:pos x="60" y="10"/>
                </a:cxn>
                <a:cxn ang="0">
                  <a:pos x="86" y="0"/>
                </a:cxn>
                <a:cxn ang="0">
                  <a:pos x="148" y="55"/>
                </a:cxn>
                <a:cxn ang="0">
                  <a:pos x="195" y="44"/>
                </a:cxn>
                <a:cxn ang="0">
                  <a:pos x="253" y="38"/>
                </a:cxn>
                <a:cxn ang="0">
                  <a:pos x="313" y="10"/>
                </a:cxn>
                <a:cxn ang="0">
                  <a:pos x="370" y="97"/>
                </a:cxn>
                <a:cxn ang="0">
                  <a:pos x="427" y="164"/>
                </a:cxn>
                <a:cxn ang="0">
                  <a:pos x="372" y="177"/>
                </a:cxn>
                <a:cxn ang="0">
                  <a:pos x="342" y="206"/>
                </a:cxn>
                <a:cxn ang="0">
                  <a:pos x="325" y="215"/>
                </a:cxn>
              </a:cxnLst>
              <a:rect l="0" t="0" r="r" b="b"/>
              <a:pathLst>
                <a:path w="427" h="271">
                  <a:moveTo>
                    <a:pt x="325" y="215"/>
                  </a:moveTo>
                  <a:lnTo>
                    <a:pt x="313" y="235"/>
                  </a:lnTo>
                  <a:lnTo>
                    <a:pt x="261" y="238"/>
                  </a:lnTo>
                  <a:lnTo>
                    <a:pt x="228" y="192"/>
                  </a:lnTo>
                  <a:lnTo>
                    <a:pt x="187" y="206"/>
                  </a:lnTo>
                  <a:lnTo>
                    <a:pt x="181" y="233"/>
                  </a:lnTo>
                  <a:lnTo>
                    <a:pt x="108" y="233"/>
                  </a:lnTo>
                  <a:lnTo>
                    <a:pt x="99" y="271"/>
                  </a:lnTo>
                  <a:lnTo>
                    <a:pt x="78" y="227"/>
                  </a:lnTo>
                  <a:lnTo>
                    <a:pt x="31" y="226"/>
                  </a:lnTo>
                  <a:lnTo>
                    <a:pt x="0" y="212"/>
                  </a:lnTo>
                  <a:lnTo>
                    <a:pt x="7" y="188"/>
                  </a:lnTo>
                  <a:lnTo>
                    <a:pt x="19" y="149"/>
                  </a:lnTo>
                  <a:lnTo>
                    <a:pt x="10" y="110"/>
                  </a:lnTo>
                  <a:lnTo>
                    <a:pt x="18" y="106"/>
                  </a:lnTo>
                  <a:lnTo>
                    <a:pt x="37" y="107"/>
                  </a:lnTo>
                  <a:lnTo>
                    <a:pt x="33" y="77"/>
                  </a:lnTo>
                  <a:lnTo>
                    <a:pt x="52" y="79"/>
                  </a:lnTo>
                  <a:lnTo>
                    <a:pt x="58" y="65"/>
                  </a:lnTo>
                  <a:lnTo>
                    <a:pt x="49" y="32"/>
                  </a:lnTo>
                  <a:lnTo>
                    <a:pt x="60" y="10"/>
                  </a:lnTo>
                  <a:lnTo>
                    <a:pt x="86" y="0"/>
                  </a:lnTo>
                  <a:lnTo>
                    <a:pt x="148" y="55"/>
                  </a:lnTo>
                  <a:lnTo>
                    <a:pt x="195" y="44"/>
                  </a:lnTo>
                  <a:lnTo>
                    <a:pt x="253" y="38"/>
                  </a:lnTo>
                  <a:lnTo>
                    <a:pt x="313" y="10"/>
                  </a:lnTo>
                  <a:lnTo>
                    <a:pt x="370" y="97"/>
                  </a:lnTo>
                  <a:lnTo>
                    <a:pt x="427" y="164"/>
                  </a:lnTo>
                  <a:lnTo>
                    <a:pt x="372" y="177"/>
                  </a:lnTo>
                  <a:lnTo>
                    <a:pt x="342" y="206"/>
                  </a:lnTo>
                  <a:lnTo>
                    <a:pt x="325" y="215"/>
                  </a:lnTo>
                  <a:close/>
                </a:path>
              </a:pathLst>
            </a:custGeom>
            <a:grpFill/>
            <a:ln w="6350" cap="flat" cmpd="sng">
              <a:solidFill>
                <a:schemeClr val="bg1"/>
              </a:solidFill>
              <a:prstDash val="solid"/>
              <a:round/>
              <a:headEnd type="none" w="med" len="med"/>
              <a:tailEnd type="none" w="med" len="med"/>
            </a:ln>
            <a:effectLst/>
          </p:spPr>
          <p:txBody>
            <a:bodyPr/>
            <a:lstStyle/>
            <a:p>
              <a:pPr>
                <a:defRPr/>
              </a:pPr>
              <a:endParaRPr lang="en-US" sz="700" kern="0">
                <a:solidFill>
                  <a:schemeClr val="bg1"/>
                </a:solidFill>
                <a:latin typeface="Arial" panose="020B0604020202020204" pitchFamily="34" charset="0"/>
              </a:endParaRPr>
            </a:p>
          </p:txBody>
        </p:sp>
      </p:grpSp>
      <p:sp>
        <p:nvSpPr>
          <p:cNvPr id="161" name="TextBox 160">
            <a:extLst>
              <a:ext uri="{FF2B5EF4-FFF2-40B4-BE49-F238E27FC236}">
                <a16:creationId xmlns:a16="http://schemas.microsoft.com/office/drawing/2014/main" id="{619820DE-B833-4B40-AEEC-EA40BEA512FF}"/>
              </a:ext>
            </a:extLst>
          </p:cNvPr>
          <p:cNvSpPr txBox="1"/>
          <p:nvPr/>
        </p:nvSpPr>
        <p:spPr>
          <a:xfrm>
            <a:off x="9524747" y="1281597"/>
            <a:ext cx="743250" cy="383247"/>
          </a:xfrm>
          <a:prstGeom prst="rect">
            <a:avLst/>
          </a:prstGeom>
        </p:spPr>
        <p:txBody>
          <a:bodyPr vert="horz" wrap="none" lIns="0" tIns="0" rIns="0" bIns="0" rtlCol="0" anchor="t" anchorCtr="0">
            <a:noAutofit/>
          </a:bodyPr>
          <a:lstStyle/>
          <a:p>
            <a:pPr algn="l"/>
            <a:r>
              <a:rPr lang="en-GB" sz="2400" b="1" dirty="0" err="1">
                <a:solidFill>
                  <a:schemeClr val="tx2"/>
                </a:solidFill>
                <a:latin typeface="+mj-lt"/>
                <a:cs typeface="Arial" panose="020B0604020202020204" pitchFamily="34" charset="0"/>
              </a:rPr>
              <a:t>yy</a:t>
            </a:r>
            <a:endParaRPr lang="en-GB" sz="2400" b="1" dirty="0">
              <a:solidFill>
                <a:schemeClr val="tx2"/>
              </a:solidFill>
              <a:latin typeface="+mj-lt"/>
              <a:cs typeface="Arial" panose="020B0604020202020204" pitchFamily="34" charset="0"/>
            </a:endParaRPr>
          </a:p>
        </p:txBody>
      </p:sp>
      <p:sp>
        <p:nvSpPr>
          <p:cNvPr id="162" name="Oval 161">
            <a:extLst>
              <a:ext uri="{FF2B5EF4-FFF2-40B4-BE49-F238E27FC236}">
                <a16:creationId xmlns:a16="http://schemas.microsoft.com/office/drawing/2014/main" id="{2A6C89CA-A85D-4934-AEE1-8E25CEA42F01}"/>
              </a:ext>
            </a:extLst>
          </p:cNvPr>
          <p:cNvSpPr/>
          <p:nvPr/>
        </p:nvSpPr>
        <p:spPr>
          <a:xfrm>
            <a:off x="10352864" y="2001541"/>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3" name="Oval 162">
            <a:extLst>
              <a:ext uri="{FF2B5EF4-FFF2-40B4-BE49-F238E27FC236}">
                <a16:creationId xmlns:a16="http://schemas.microsoft.com/office/drawing/2014/main" id="{8FFA1384-49CE-4B49-B48B-C444C01FDF68}"/>
              </a:ext>
            </a:extLst>
          </p:cNvPr>
          <p:cNvSpPr/>
          <p:nvPr/>
        </p:nvSpPr>
        <p:spPr>
          <a:xfrm>
            <a:off x="10261360" y="2169634"/>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4" name="Oval 163">
            <a:extLst>
              <a:ext uri="{FF2B5EF4-FFF2-40B4-BE49-F238E27FC236}">
                <a16:creationId xmlns:a16="http://schemas.microsoft.com/office/drawing/2014/main" id="{24A73C83-352C-45EB-A937-15FC97467A3B}"/>
              </a:ext>
            </a:extLst>
          </p:cNvPr>
          <p:cNvSpPr/>
          <p:nvPr/>
        </p:nvSpPr>
        <p:spPr>
          <a:xfrm>
            <a:off x="10195236" y="2119869"/>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5" name="Oval 164">
            <a:extLst>
              <a:ext uri="{FF2B5EF4-FFF2-40B4-BE49-F238E27FC236}">
                <a16:creationId xmlns:a16="http://schemas.microsoft.com/office/drawing/2014/main" id="{85EAE53C-BBFE-4625-8806-7D6DE3C63663}"/>
              </a:ext>
            </a:extLst>
          </p:cNvPr>
          <p:cNvSpPr/>
          <p:nvPr/>
        </p:nvSpPr>
        <p:spPr>
          <a:xfrm>
            <a:off x="10210152" y="2225565"/>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6" name="Oval 165">
            <a:extLst>
              <a:ext uri="{FF2B5EF4-FFF2-40B4-BE49-F238E27FC236}">
                <a16:creationId xmlns:a16="http://schemas.microsoft.com/office/drawing/2014/main" id="{354DC1FA-4F7C-4D5D-89ED-73D7EFC05435}"/>
              </a:ext>
            </a:extLst>
          </p:cNvPr>
          <p:cNvSpPr/>
          <p:nvPr/>
        </p:nvSpPr>
        <p:spPr>
          <a:xfrm>
            <a:off x="10103846" y="2005915"/>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7" name="Oval 166">
            <a:extLst>
              <a:ext uri="{FF2B5EF4-FFF2-40B4-BE49-F238E27FC236}">
                <a16:creationId xmlns:a16="http://schemas.microsoft.com/office/drawing/2014/main" id="{B7BD5BB6-0A64-4542-B311-D41C3EB46288}"/>
              </a:ext>
            </a:extLst>
          </p:cNvPr>
          <p:cNvSpPr/>
          <p:nvPr/>
        </p:nvSpPr>
        <p:spPr>
          <a:xfrm>
            <a:off x="10450590" y="2061811"/>
            <a:ext cx="45719" cy="4571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8" name="Oval 167">
            <a:extLst>
              <a:ext uri="{FF2B5EF4-FFF2-40B4-BE49-F238E27FC236}">
                <a16:creationId xmlns:a16="http://schemas.microsoft.com/office/drawing/2014/main" id="{7F0DA8AA-EA56-442E-9603-9EC16F524217}"/>
              </a:ext>
            </a:extLst>
          </p:cNvPr>
          <p:cNvSpPr/>
          <p:nvPr/>
        </p:nvSpPr>
        <p:spPr>
          <a:xfrm>
            <a:off x="10280021" y="2053964"/>
            <a:ext cx="45719" cy="45719"/>
          </a:xfrm>
          <a:prstGeom prst="ellipse">
            <a:avLst/>
          </a:prstGeom>
          <a:solidFill>
            <a:srgbClr val="C6007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sp>
        <p:nvSpPr>
          <p:cNvPr id="169" name="Oval 168">
            <a:extLst>
              <a:ext uri="{FF2B5EF4-FFF2-40B4-BE49-F238E27FC236}">
                <a16:creationId xmlns:a16="http://schemas.microsoft.com/office/drawing/2014/main" id="{164A36ED-1022-42E7-9A3B-E42302A0D256}"/>
              </a:ext>
            </a:extLst>
          </p:cNvPr>
          <p:cNvSpPr/>
          <p:nvPr/>
        </p:nvSpPr>
        <p:spPr>
          <a:xfrm>
            <a:off x="10300931" y="2119635"/>
            <a:ext cx="48115" cy="45719"/>
          </a:xfrm>
          <a:prstGeom prst="ellipse">
            <a:avLst/>
          </a:prstGeom>
          <a:solidFill>
            <a:srgbClr val="009A4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700">
              <a:solidFill>
                <a:schemeClr val="tx1"/>
              </a:solidFill>
            </a:endParaRPr>
          </a:p>
        </p:txBody>
      </p:sp>
      <p:grpSp>
        <p:nvGrpSpPr>
          <p:cNvPr id="170" name="Group 169">
            <a:extLst>
              <a:ext uri="{FF2B5EF4-FFF2-40B4-BE49-F238E27FC236}">
                <a16:creationId xmlns:a16="http://schemas.microsoft.com/office/drawing/2014/main" id="{EBC63B81-8DF9-4327-BA63-4DF7F1AD5A7C}"/>
              </a:ext>
            </a:extLst>
          </p:cNvPr>
          <p:cNvGrpSpPr/>
          <p:nvPr/>
        </p:nvGrpSpPr>
        <p:grpSpPr>
          <a:xfrm>
            <a:off x="9989064" y="2959341"/>
            <a:ext cx="797858" cy="387192"/>
            <a:chOff x="1223481" y="5432710"/>
            <a:chExt cx="797858" cy="387192"/>
          </a:xfrm>
        </p:grpSpPr>
        <p:sp>
          <p:nvSpPr>
            <p:cNvPr id="171" name="Oval 170">
              <a:extLst>
                <a:ext uri="{FF2B5EF4-FFF2-40B4-BE49-F238E27FC236}">
                  <a16:creationId xmlns:a16="http://schemas.microsoft.com/office/drawing/2014/main" id="{522C041A-9BDE-43FE-8F17-ADF5A1AF0120}"/>
                </a:ext>
              </a:extLst>
            </p:cNvPr>
            <p:cNvSpPr/>
            <p:nvPr/>
          </p:nvSpPr>
          <p:spPr>
            <a:xfrm>
              <a:off x="1223481" y="5691643"/>
              <a:ext cx="72000" cy="72000"/>
            </a:xfrm>
            <a:prstGeom prst="ellipse">
              <a:avLst/>
            </a:prstGeom>
            <a:solidFill>
              <a:srgbClr val="009A4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800">
                <a:solidFill>
                  <a:schemeClr val="tx2"/>
                </a:solidFill>
              </a:endParaRPr>
            </a:p>
          </p:txBody>
        </p:sp>
        <p:sp>
          <p:nvSpPr>
            <p:cNvPr id="172" name="TextBox 171">
              <a:extLst>
                <a:ext uri="{FF2B5EF4-FFF2-40B4-BE49-F238E27FC236}">
                  <a16:creationId xmlns:a16="http://schemas.microsoft.com/office/drawing/2014/main" id="{1ADD1553-7295-4B3E-A6C5-3809828043D6}"/>
                </a:ext>
              </a:extLst>
            </p:cNvPr>
            <p:cNvSpPr txBox="1"/>
            <p:nvPr/>
          </p:nvSpPr>
          <p:spPr>
            <a:xfrm>
              <a:off x="1413307" y="5681422"/>
              <a:ext cx="608032" cy="138480"/>
            </a:xfrm>
            <a:prstGeom prst="rect">
              <a:avLst/>
            </a:prstGeom>
          </p:spPr>
          <p:txBody>
            <a:bodyPr vert="horz" wrap="none" lIns="0" tIns="0" rIns="0" bIns="0" rtlCol="0" anchor="t" anchorCtr="0">
              <a:noAutofit/>
            </a:bodyPr>
            <a:lstStyle/>
            <a:p>
              <a:pPr algn="l"/>
              <a:r>
                <a:rPr lang="en-GB" sz="800">
                  <a:solidFill>
                    <a:schemeClr val="tx2"/>
                  </a:solidFill>
                </a:rPr>
                <a:t>Department store B</a:t>
              </a:r>
            </a:p>
          </p:txBody>
        </p:sp>
        <p:sp>
          <p:nvSpPr>
            <p:cNvPr id="173" name="Oval 172">
              <a:extLst>
                <a:ext uri="{FF2B5EF4-FFF2-40B4-BE49-F238E27FC236}">
                  <a16:creationId xmlns:a16="http://schemas.microsoft.com/office/drawing/2014/main" id="{BA29EDED-8536-477D-AAA2-0459DCF89A3B}"/>
                </a:ext>
              </a:extLst>
            </p:cNvPr>
            <p:cNvSpPr/>
            <p:nvPr/>
          </p:nvSpPr>
          <p:spPr>
            <a:xfrm>
              <a:off x="1223481" y="5442931"/>
              <a:ext cx="72000" cy="72000"/>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800">
                <a:solidFill>
                  <a:schemeClr val="tx2"/>
                </a:solidFill>
              </a:endParaRPr>
            </a:p>
          </p:txBody>
        </p:sp>
        <p:sp>
          <p:nvSpPr>
            <p:cNvPr id="174" name="TextBox 173">
              <a:extLst>
                <a:ext uri="{FF2B5EF4-FFF2-40B4-BE49-F238E27FC236}">
                  <a16:creationId xmlns:a16="http://schemas.microsoft.com/office/drawing/2014/main" id="{A59875FD-AF39-492B-88F5-269ECA421685}"/>
                </a:ext>
              </a:extLst>
            </p:cNvPr>
            <p:cNvSpPr txBox="1"/>
            <p:nvPr/>
          </p:nvSpPr>
          <p:spPr>
            <a:xfrm>
              <a:off x="1413307" y="5432710"/>
              <a:ext cx="608032" cy="138480"/>
            </a:xfrm>
            <a:prstGeom prst="rect">
              <a:avLst/>
            </a:prstGeom>
          </p:spPr>
          <p:txBody>
            <a:bodyPr vert="horz" wrap="none" lIns="0" tIns="0" rIns="0" bIns="0" rtlCol="0" anchor="t" anchorCtr="0">
              <a:noAutofit/>
            </a:bodyPr>
            <a:lstStyle/>
            <a:p>
              <a:pPr algn="l"/>
              <a:r>
                <a:rPr lang="en-GB" sz="800">
                  <a:solidFill>
                    <a:schemeClr val="tx2"/>
                  </a:solidFill>
                </a:rPr>
                <a:t>Boutiques</a:t>
              </a:r>
            </a:p>
          </p:txBody>
        </p:sp>
        <p:sp>
          <p:nvSpPr>
            <p:cNvPr id="175" name="Oval 174">
              <a:extLst>
                <a:ext uri="{FF2B5EF4-FFF2-40B4-BE49-F238E27FC236}">
                  <a16:creationId xmlns:a16="http://schemas.microsoft.com/office/drawing/2014/main" id="{34D135DC-03D5-42A3-BCF0-1ED67507BCCA}"/>
                </a:ext>
              </a:extLst>
            </p:cNvPr>
            <p:cNvSpPr/>
            <p:nvPr/>
          </p:nvSpPr>
          <p:spPr>
            <a:xfrm>
              <a:off x="1223481" y="5565702"/>
              <a:ext cx="72000" cy="72000"/>
            </a:xfrm>
            <a:prstGeom prst="ellipse">
              <a:avLst/>
            </a:prstGeom>
            <a:solidFill>
              <a:srgbClr val="C6007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800">
                <a:solidFill>
                  <a:schemeClr val="tx2"/>
                </a:solidFill>
              </a:endParaRPr>
            </a:p>
          </p:txBody>
        </p:sp>
        <p:sp>
          <p:nvSpPr>
            <p:cNvPr id="176" name="TextBox 175">
              <a:extLst>
                <a:ext uri="{FF2B5EF4-FFF2-40B4-BE49-F238E27FC236}">
                  <a16:creationId xmlns:a16="http://schemas.microsoft.com/office/drawing/2014/main" id="{34120DB0-6AF3-4D14-A7A4-768EE0291EC9}"/>
                </a:ext>
              </a:extLst>
            </p:cNvPr>
            <p:cNvSpPr txBox="1"/>
            <p:nvPr/>
          </p:nvSpPr>
          <p:spPr>
            <a:xfrm>
              <a:off x="1413307" y="5555481"/>
              <a:ext cx="608032" cy="138480"/>
            </a:xfrm>
            <a:prstGeom prst="rect">
              <a:avLst/>
            </a:prstGeom>
          </p:spPr>
          <p:txBody>
            <a:bodyPr vert="horz" wrap="none" lIns="0" tIns="0" rIns="0" bIns="0" rtlCol="0" anchor="t" anchorCtr="0">
              <a:noAutofit/>
            </a:bodyPr>
            <a:lstStyle/>
            <a:p>
              <a:pPr algn="l"/>
              <a:r>
                <a:rPr lang="en-GB" sz="800">
                  <a:solidFill>
                    <a:schemeClr val="tx2"/>
                  </a:solidFill>
                </a:rPr>
                <a:t>Department store A</a:t>
              </a:r>
            </a:p>
          </p:txBody>
        </p:sp>
      </p:grpSp>
      <p:sp>
        <p:nvSpPr>
          <p:cNvPr id="177" name="Oval 176">
            <a:extLst>
              <a:ext uri="{FF2B5EF4-FFF2-40B4-BE49-F238E27FC236}">
                <a16:creationId xmlns:a16="http://schemas.microsoft.com/office/drawing/2014/main" id="{B65FF0AC-3C1C-4BE6-9EE4-123F47EE031F}"/>
              </a:ext>
            </a:extLst>
          </p:cNvPr>
          <p:cNvSpPr/>
          <p:nvPr/>
        </p:nvSpPr>
        <p:spPr bwMode="white">
          <a:xfrm>
            <a:off x="7317742" y="5136291"/>
            <a:ext cx="124363" cy="124363"/>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grpSp>
        <p:nvGrpSpPr>
          <p:cNvPr id="178" name="Group 177">
            <a:extLst>
              <a:ext uri="{FF2B5EF4-FFF2-40B4-BE49-F238E27FC236}">
                <a16:creationId xmlns:a16="http://schemas.microsoft.com/office/drawing/2014/main" id="{8667E6C0-59E3-4F27-9DB1-87418804BFC1}"/>
              </a:ext>
            </a:extLst>
          </p:cNvPr>
          <p:cNvGrpSpPr/>
          <p:nvPr/>
        </p:nvGrpSpPr>
        <p:grpSpPr bwMode="white">
          <a:xfrm>
            <a:off x="7360877" y="4162359"/>
            <a:ext cx="2483731" cy="877163"/>
            <a:chOff x="9122997" y="4155151"/>
            <a:chExt cx="1882623" cy="877163"/>
          </a:xfrm>
        </p:grpSpPr>
        <p:cxnSp>
          <p:nvCxnSpPr>
            <p:cNvPr id="179" name="Straight Connector 178">
              <a:extLst>
                <a:ext uri="{FF2B5EF4-FFF2-40B4-BE49-F238E27FC236}">
                  <a16:creationId xmlns:a16="http://schemas.microsoft.com/office/drawing/2014/main" id="{F6BA14F3-B7EA-4BEE-996A-A19A2FB6D08C}"/>
                </a:ext>
              </a:extLst>
            </p:cNvPr>
            <p:cNvCxnSpPr>
              <a:cxnSpLocks/>
            </p:cNvCxnSpPr>
            <p:nvPr/>
          </p:nvCxnSpPr>
          <p:spPr bwMode="white">
            <a:xfrm>
              <a:off x="9122997" y="4183726"/>
              <a:ext cx="0" cy="848588"/>
            </a:xfrm>
            <a:prstGeom prst="line">
              <a:avLst/>
            </a:prstGeom>
            <a:ln w="6350">
              <a:solidFill>
                <a:srgbClr val="ACEA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0" name="TextBox 179">
              <a:extLst>
                <a:ext uri="{FF2B5EF4-FFF2-40B4-BE49-F238E27FC236}">
                  <a16:creationId xmlns:a16="http://schemas.microsoft.com/office/drawing/2014/main" id="{2778584D-F7C0-4804-8E1A-3C64C01DF608}"/>
                </a:ext>
              </a:extLst>
            </p:cNvPr>
            <p:cNvSpPr txBox="1">
              <a:spLocks/>
            </p:cNvSpPr>
            <p:nvPr/>
          </p:nvSpPr>
          <p:spPr bwMode="white">
            <a:xfrm>
              <a:off x="9187961" y="4155151"/>
              <a:ext cx="1817659" cy="877163"/>
            </a:xfrm>
            <a:prstGeom prst="rect">
              <a:avLst/>
            </a:prstGeom>
            <a:noFill/>
          </p:spPr>
          <p:txBody>
            <a:bodyPr wrap="square" lIns="0" tIns="0" rIns="0" bIns="0" rtlCol="0">
              <a:spAutoFit/>
            </a:bodyPr>
            <a:lstStyle/>
            <a:p>
              <a:pPr defTabSz="914377">
                <a:spcAft>
                  <a:spcPts val="300"/>
                </a:spcAft>
                <a:defRPr/>
              </a:pPr>
              <a:r>
                <a:rPr lang="en-US" sz="1200" b="1" dirty="0">
                  <a:solidFill>
                    <a:schemeClr val="bg1"/>
                  </a:solidFill>
                </a:rPr>
                <a:t>2017</a:t>
              </a:r>
            </a:p>
            <a:p>
              <a:pPr>
                <a:spcAft>
                  <a:spcPts val="300"/>
                </a:spcAft>
                <a:defRPr/>
              </a:pPr>
              <a:r>
                <a:rPr lang="en-GB" sz="1000" dirty="0">
                  <a:solidFill>
                    <a:schemeClr val="bg1"/>
                  </a:solidFill>
                </a:rPr>
                <a:t>Opened Department store A </a:t>
              </a:r>
              <a:r>
                <a:rPr lang="en-GB" sz="1000" dirty="0" err="1">
                  <a:solidFill>
                    <a:schemeClr val="bg1"/>
                  </a:solidFill>
                </a:rPr>
                <a:t>yy</a:t>
              </a:r>
              <a:r>
                <a:rPr lang="en-GB" sz="1000" dirty="0">
                  <a:solidFill>
                    <a:schemeClr val="bg1"/>
                  </a:solidFill>
                </a:rPr>
                <a:t> concession and began trading on Department store A online</a:t>
              </a:r>
            </a:p>
            <a:p>
              <a:pPr>
                <a:spcAft>
                  <a:spcPts val="300"/>
                </a:spcAft>
                <a:defRPr/>
              </a:pPr>
              <a:r>
                <a:rPr lang="en-GB" sz="1000" dirty="0">
                  <a:solidFill>
                    <a:schemeClr val="bg1"/>
                  </a:solidFill>
                </a:rPr>
                <a:t>Opened Boutique E </a:t>
              </a:r>
            </a:p>
          </p:txBody>
        </p:sp>
      </p:grpSp>
      <p:sp>
        <p:nvSpPr>
          <p:cNvPr id="2" name="UpSlide SubSection Marker" hidden="1">
            <a:extLst>
              <a:ext uri="{FF2B5EF4-FFF2-40B4-BE49-F238E27FC236}">
                <a16:creationId xmlns:a16="http://schemas.microsoft.com/office/drawing/2014/main" id="{AEB962E0-E387-4CD6-B7FE-BE69649CF994}"/>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overview</a:t>
            </a:r>
            <a:endParaRPr lang="en-GB" sz="900" dirty="0">
              <a:solidFill>
                <a:schemeClr val="bg1"/>
              </a:solidFill>
            </a:endParaRPr>
          </a:p>
        </p:txBody>
      </p:sp>
      <p:sp>
        <p:nvSpPr>
          <p:cNvPr id="3" name="TextBox 2">
            <a:extLst>
              <a:ext uri="{FF2B5EF4-FFF2-40B4-BE49-F238E27FC236}">
                <a16:creationId xmlns:a16="http://schemas.microsoft.com/office/drawing/2014/main" id="{784E7330-F7E7-41F9-AB90-FB2C5A1D8F82}"/>
              </a:ext>
            </a:extLst>
          </p:cNvPr>
          <p:cNvSpPr txBox="1"/>
          <p:nvPr/>
        </p:nvSpPr>
        <p:spPr>
          <a:xfrm>
            <a:off x="373755" y="2624326"/>
            <a:ext cx="482263" cy="395458"/>
          </a:xfrm>
          <a:prstGeom prst="rect">
            <a:avLst/>
          </a:prstGeom>
        </p:spPr>
        <p:txBody>
          <a:bodyPr vert="horz" wrap="square" lIns="0" tIns="0" rIns="0" bIns="0" rtlCol="0" anchor="t" anchorCtr="0">
            <a:noAutofit/>
          </a:bodyPr>
          <a:lstStyle/>
          <a:p>
            <a:pPr algn="l">
              <a:spcAft>
                <a:spcPts val="600"/>
              </a:spcAft>
            </a:pPr>
            <a:endParaRPr lang="en-GB" sz="1600" b="1" dirty="0">
              <a:solidFill>
                <a:schemeClr val="accent4"/>
              </a:solidFill>
            </a:endParaRPr>
          </a:p>
        </p:txBody>
      </p:sp>
      <p:sp>
        <p:nvSpPr>
          <p:cNvPr id="141" name="Freeform 15">
            <a:extLst>
              <a:ext uri="{FF2B5EF4-FFF2-40B4-BE49-F238E27FC236}">
                <a16:creationId xmlns:a16="http://schemas.microsoft.com/office/drawing/2014/main" id="{E1265842-9F2B-4013-970E-03F4C86CC9DA}"/>
              </a:ext>
            </a:extLst>
          </p:cNvPr>
          <p:cNvSpPr>
            <a:spLocks/>
          </p:cNvSpPr>
          <p:nvPr/>
        </p:nvSpPr>
        <p:spPr bwMode="gray">
          <a:xfrm rot="5400000">
            <a:off x="1603888" y="5036946"/>
            <a:ext cx="139895" cy="268408"/>
          </a:xfrm>
          <a:custGeom>
            <a:avLst/>
            <a:gdLst>
              <a:gd name="connsiteX0" fmla="*/ 4986 w 10000"/>
              <a:gd name="connsiteY0" fmla="*/ 0 h 8974"/>
              <a:gd name="connsiteX1" fmla="*/ 4986 w 10000"/>
              <a:gd name="connsiteY1" fmla="*/ 1026 h 8974"/>
              <a:gd name="connsiteX2" fmla="*/ 0 w 10000"/>
              <a:gd name="connsiteY2" fmla="*/ 1692 h 8974"/>
              <a:gd name="connsiteX3" fmla="*/ 10000 w 10000"/>
              <a:gd name="connsiteY3" fmla="*/ 3013 h 8974"/>
              <a:gd name="connsiteX4" fmla="*/ 0 w 10000"/>
              <a:gd name="connsiteY4" fmla="*/ 4346 h 8974"/>
              <a:gd name="connsiteX5" fmla="*/ 10000 w 10000"/>
              <a:gd name="connsiteY5" fmla="*/ 5667 h 8974"/>
              <a:gd name="connsiteX6" fmla="*/ 0 w 10000"/>
              <a:gd name="connsiteY6" fmla="*/ 6987 h 8974"/>
              <a:gd name="connsiteX7" fmla="*/ 10000 w 10000"/>
              <a:gd name="connsiteY7" fmla="*/ 8321 h 8974"/>
              <a:gd name="connsiteX8" fmla="*/ 10000 w 10000"/>
              <a:gd name="connsiteY8" fmla="*/ 8321 h 8974"/>
              <a:gd name="connsiteX9" fmla="*/ 4986 w 10000"/>
              <a:gd name="connsiteY9" fmla="*/ 8974 h 8974"/>
              <a:gd name="connsiteX0" fmla="*/ 4986 w 10000"/>
              <a:gd name="connsiteY0" fmla="*/ 0 h 8857"/>
              <a:gd name="connsiteX1" fmla="*/ 0 w 10000"/>
              <a:gd name="connsiteY1" fmla="*/ 742 h 8857"/>
              <a:gd name="connsiteX2" fmla="*/ 10000 w 10000"/>
              <a:gd name="connsiteY2" fmla="*/ 2214 h 8857"/>
              <a:gd name="connsiteX3" fmla="*/ 0 w 10000"/>
              <a:gd name="connsiteY3" fmla="*/ 3700 h 8857"/>
              <a:gd name="connsiteX4" fmla="*/ 10000 w 10000"/>
              <a:gd name="connsiteY4" fmla="*/ 5172 h 8857"/>
              <a:gd name="connsiteX5" fmla="*/ 0 w 10000"/>
              <a:gd name="connsiteY5" fmla="*/ 6643 h 8857"/>
              <a:gd name="connsiteX6" fmla="*/ 10000 w 10000"/>
              <a:gd name="connsiteY6" fmla="*/ 8129 h 8857"/>
              <a:gd name="connsiteX7" fmla="*/ 10000 w 10000"/>
              <a:gd name="connsiteY7" fmla="*/ 8129 h 8857"/>
              <a:gd name="connsiteX8" fmla="*/ 4986 w 10000"/>
              <a:gd name="connsiteY8" fmla="*/ 8857 h 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8857">
                <a:moveTo>
                  <a:pt x="4986" y="0"/>
                </a:moveTo>
                <a:lnTo>
                  <a:pt x="0" y="742"/>
                </a:lnTo>
                <a:lnTo>
                  <a:pt x="10000" y="2214"/>
                </a:lnTo>
                <a:lnTo>
                  <a:pt x="0" y="3700"/>
                </a:lnTo>
                <a:lnTo>
                  <a:pt x="10000" y="5172"/>
                </a:lnTo>
                <a:lnTo>
                  <a:pt x="0" y="6643"/>
                </a:lnTo>
                <a:lnTo>
                  <a:pt x="10000" y="8129"/>
                </a:lnTo>
                <a:lnTo>
                  <a:pt x="10000" y="8129"/>
                </a:lnTo>
                <a:lnTo>
                  <a:pt x="4986" y="8857"/>
                </a:lnTo>
              </a:path>
            </a:pathLst>
          </a:custGeom>
          <a:solidFill>
            <a:schemeClr val="bg1"/>
          </a:solidFill>
          <a:ln w="12700" cap="rnd">
            <a:solidFill>
              <a:schemeClr val="accent4"/>
            </a:solidFill>
            <a:round/>
            <a:headEnd type="none" w="sm" len="sm"/>
            <a:tailEnd type="none" w="sm" len="sm"/>
          </a:ln>
          <a:effectLst/>
        </p:spPr>
        <p:txBody>
          <a:bodyPr lIns="58500" tIns="58500" rIns="58500" bIns="58500"/>
          <a:lstStyle/>
          <a:p>
            <a:endParaRPr lang="en-GB" sz="1100">
              <a:solidFill>
                <a:schemeClr val="accent4"/>
              </a:solidFill>
              <a:latin typeface="Univers for KPMG Light" panose="020B0403020202020204" pitchFamily="34" charset="0"/>
              <a:cs typeface="Arial" pitchFamily="34" charset="0"/>
            </a:endParaRPr>
          </a:p>
        </p:txBody>
      </p:sp>
      <p:grpSp>
        <p:nvGrpSpPr>
          <p:cNvPr id="4" name="Group 3">
            <a:extLst>
              <a:ext uri="{FF2B5EF4-FFF2-40B4-BE49-F238E27FC236}">
                <a16:creationId xmlns:a16="http://schemas.microsoft.com/office/drawing/2014/main" id="{7E563A72-CF12-4F27-BA5F-76011D5720BA}"/>
              </a:ext>
            </a:extLst>
          </p:cNvPr>
          <p:cNvGrpSpPr/>
          <p:nvPr>
            <p:custDataLst>
              <p:tags r:id="rId3"/>
            </p:custDataLst>
          </p:nvPr>
        </p:nvGrpSpPr>
        <p:grpSpPr>
          <a:xfrm>
            <a:off x="995364" y="153170"/>
            <a:ext cx="6245240" cy="195814"/>
            <a:chOff x="995364" y="153170"/>
            <a:chExt cx="6245240" cy="195814"/>
          </a:xfrm>
        </p:grpSpPr>
        <p:sp>
          <p:nvSpPr>
            <p:cNvPr id="142" name="Current Section1">
              <a:hlinkClick r:id="rId1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43"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45" name="Other Sections3">
              <a:hlinkClick r:id="rId18"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46" name="Other Sections4">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47" name="Other Sections5">
              <a:hlinkClick r:id="rId20"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4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50" name="Other Sections7">
              <a:hlinkClick r:id="rId21"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473303871"/>
      </p:ext>
    </p:extLst>
  </p:cSld>
  <p:clrMapOvr>
    <a:masterClrMapping/>
  </p:clrMapOvr>
  <p:extLst>
    <p:ext uri="{6950BFC3-D8DA-4A85-94F7-54DA5524770B}">
      <p188:commentRel xmlns:p188="http://schemas.microsoft.com/office/powerpoint/2018/8/main" r:id="rId5"/>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14"/>
                      <a:stretch>
                        <a:fillRect/>
                      </a:stretch>
                    </p:blipFill>
                    <p:spPr>
                      <a:xfrm>
                        <a:off x="1589" y="1589"/>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B197C69-CFFB-4C0D-904B-9EA03971ADCE}"/>
              </a:ext>
            </a:extLst>
          </p:cNvPr>
          <p:cNvSpPr>
            <a:spLocks noGrp="1"/>
          </p:cNvSpPr>
          <p:nvPr>
            <p:ph type="title"/>
          </p:nvPr>
        </p:nvSpPr>
        <p:spPr/>
        <p:txBody>
          <a:bodyPr vert="horz"/>
          <a:lstStyle/>
          <a:p>
            <a:r>
              <a:rPr lang="en-US"/>
              <a:t>Trading overview</a:t>
            </a:r>
          </a:p>
        </p:txBody>
      </p:sp>
      <p:sp>
        <p:nvSpPr>
          <p:cNvPr id="145" name="Text Placeholder 4">
            <a:extLst>
              <a:ext uri="{FF2B5EF4-FFF2-40B4-BE49-F238E27FC236}">
                <a16:creationId xmlns:a16="http://schemas.microsoft.com/office/drawing/2014/main" id="{DDDEB8B5-3ACA-4622-B4AA-20503133E360}"/>
              </a:ext>
            </a:extLst>
          </p:cNvPr>
          <p:cNvSpPr txBox="1">
            <a:spLocks/>
          </p:cNvSpPr>
          <p:nvPr/>
        </p:nvSpPr>
        <p:spPr>
          <a:xfrm>
            <a:off x="1599724" y="4783015"/>
            <a:ext cx="8914557" cy="1207360"/>
          </a:xfrm>
          <a:prstGeom prst="rect">
            <a:avLst/>
          </a:prstGeom>
        </p:spPr>
        <p:txBody>
          <a:bodyPr vert="horz" lIns="0" tIns="5400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900" i="1" kern="1200">
                <a:solidFill>
                  <a:schemeClr val="tx2"/>
                </a:solidFill>
                <a:latin typeface="+mn-lt"/>
                <a:ea typeface="+mn-ea"/>
                <a:cs typeface="+mn-cs"/>
              </a:defRPr>
            </a:lvl6pPr>
            <a:lvl7pPr marL="1008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224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1440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9pPr>
          </a:lstStyle>
          <a:p>
            <a:endParaRPr lang="en-GB"/>
          </a:p>
        </p:txBody>
      </p:sp>
      <p:sp>
        <p:nvSpPr>
          <p:cNvPr id="146" name="Text Box 8">
            <a:extLst>
              <a:ext uri="{FF2B5EF4-FFF2-40B4-BE49-F238E27FC236}">
                <a16:creationId xmlns:a16="http://schemas.microsoft.com/office/drawing/2014/main" id="{2F5728E3-DCA0-490A-BD55-DB27464CDCA6}"/>
              </a:ext>
            </a:extLst>
          </p:cNvPr>
          <p:cNvSpPr txBox="1">
            <a:spLocks noChangeArrowheads="1"/>
          </p:cNvSpPr>
          <p:nvPr>
            <p:custDataLst>
              <p:tags r:id="rId2"/>
            </p:custDataLst>
          </p:nvPr>
        </p:nvSpPr>
        <p:spPr bwMode="gray">
          <a:xfrm>
            <a:off x="1000418" y="5977126"/>
            <a:ext cx="10209616" cy="210314"/>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GB" sz="600">
                <a:solidFill>
                  <a:schemeClr val="tx2"/>
                </a:solidFill>
                <a:cs typeface="Arial" pitchFamily="34" charset="0"/>
              </a:rPr>
              <a:t>Source:	 P-L January 2019, P-L January 2020, P-L January 2021, P-L September 2021 </a:t>
            </a:r>
          </a:p>
          <a:p>
            <a:pPr marL="534988" indent="-534988" defTabSz="762000" eaLnBrk="0" hangingPunct="0">
              <a:spcBef>
                <a:spcPts val="200"/>
              </a:spcBef>
              <a:tabLst>
                <a:tab pos="355600" algn="l"/>
              </a:tabLst>
            </a:pPr>
            <a:r>
              <a:rPr lang="en-GB" sz="600">
                <a:solidFill>
                  <a:schemeClr val="tx2"/>
                </a:solidFill>
                <a:cs typeface="Arial" pitchFamily="34" charset="0"/>
              </a:rPr>
              <a:t>Note: Revenue and contribution relating to sample sales is not presented in the channel analysis above, resulting in a small reconciling difference in FY21 (£10,000) and LTM22 (£79,000) between the sum of the contribution from the channels and overall contribution.</a:t>
            </a:r>
          </a:p>
        </p:txBody>
      </p:sp>
      <p:sp>
        <p:nvSpPr>
          <p:cNvPr id="151" name="Rectangle 4">
            <a:extLst>
              <a:ext uri="{FF2B5EF4-FFF2-40B4-BE49-F238E27FC236}">
                <a16:creationId xmlns:a16="http://schemas.microsoft.com/office/drawing/2014/main" id="{5C7AAFD1-DEEB-4E10-B9F3-E96B3CEE3A67}"/>
              </a:ext>
            </a:extLst>
          </p:cNvPr>
          <p:cNvSpPr>
            <a:spLocks noChangeArrowheads="1"/>
          </p:cNvSpPr>
          <p:nvPr>
            <p:custDataLst>
              <p:tags r:id="rId3"/>
            </p:custDataLst>
          </p:nvPr>
        </p:nvSpPr>
        <p:spPr bwMode="auto">
          <a:xfrm>
            <a:off x="9573600" y="5097512"/>
            <a:ext cx="1620000" cy="540000"/>
          </a:xfrm>
          <a:prstGeom prst="rect">
            <a:avLst/>
          </a:prstGeom>
          <a:solidFill>
            <a:schemeClr val="bg1"/>
          </a:solidFill>
          <a:ln w="12700">
            <a:solidFill>
              <a:srgbClr val="1E49E2"/>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a:t>Net revenue and contribution for the retail channel has been impacted by Covid-19 in LTM22.</a:t>
            </a:r>
          </a:p>
        </p:txBody>
      </p:sp>
      <p:sp>
        <p:nvSpPr>
          <p:cNvPr id="2" name="TextBox 1">
            <a:extLst>
              <a:ext uri="{FF2B5EF4-FFF2-40B4-BE49-F238E27FC236}">
                <a16:creationId xmlns:a16="http://schemas.microsoft.com/office/drawing/2014/main" id="{EF742E09-35DD-404E-B1F6-F782340C9F34}"/>
              </a:ext>
            </a:extLst>
          </p:cNvPr>
          <p:cNvSpPr txBox="1"/>
          <p:nvPr/>
        </p:nvSpPr>
        <p:spPr>
          <a:xfrm>
            <a:off x="4660900" y="1333500"/>
            <a:ext cx="3073400" cy="1295400"/>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pic>
        <p:nvPicPr>
          <p:cNvPr id="16" name="Picture 15">
            <a:extLst>
              <a:ext uri="{FF2B5EF4-FFF2-40B4-BE49-F238E27FC236}">
                <a16:creationId xmlns:a16="http://schemas.microsoft.com/office/drawing/2014/main" id="{1F0A71F8-4649-4947-91E1-F646787592F9}"/>
              </a:ext>
            </a:extLst>
          </p:cNvPr>
          <p:cNvPicPr>
            <a:picLocks noChangeAspect="1"/>
          </p:cNvPicPr>
          <p:nvPr>
            <p:custDataLst>
              <p:tags r:id="rId4"/>
            </p:custDataLst>
          </p:nvPr>
        </p:nvPicPr>
        <p:blipFill>
          <a:blip r:embed="rId15"/>
          <a:stretch>
            <a:fillRect/>
          </a:stretch>
        </p:blipFill>
        <p:spPr>
          <a:xfrm>
            <a:off x="4559300" y="1333501"/>
            <a:ext cx="3073400" cy="1641043"/>
          </a:xfrm>
          <a:prstGeom prst="rect">
            <a:avLst/>
          </a:prstGeom>
        </p:spPr>
      </p:pic>
      <p:pic>
        <p:nvPicPr>
          <p:cNvPr id="10" name="Picture 9">
            <a:extLst>
              <a:ext uri="{FF2B5EF4-FFF2-40B4-BE49-F238E27FC236}">
                <a16:creationId xmlns:a16="http://schemas.microsoft.com/office/drawing/2014/main" id="{7258B6B1-E127-444D-90DB-442AB669B537}"/>
              </a:ext>
            </a:extLst>
          </p:cNvPr>
          <p:cNvPicPr>
            <a:picLocks noChangeAspect="1"/>
          </p:cNvPicPr>
          <p:nvPr>
            <p:custDataLst>
              <p:tags r:id="rId5"/>
            </p:custDataLst>
          </p:nvPr>
        </p:nvPicPr>
        <p:blipFill>
          <a:blip r:embed="rId16"/>
          <a:stretch>
            <a:fillRect/>
          </a:stretch>
        </p:blipFill>
        <p:spPr>
          <a:xfrm>
            <a:off x="2899386" y="4695296"/>
            <a:ext cx="3073400" cy="1187450"/>
          </a:xfrm>
          <a:prstGeom prst="rect">
            <a:avLst/>
          </a:prstGeom>
        </p:spPr>
      </p:pic>
      <p:pic>
        <p:nvPicPr>
          <p:cNvPr id="11" name="Picture 10">
            <a:extLst>
              <a:ext uri="{FF2B5EF4-FFF2-40B4-BE49-F238E27FC236}">
                <a16:creationId xmlns:a16="http://schemas.microsoft.com/office/drawing/2014/main" id="{EF9ABD6A-EEA4-457E-829F-CF5D1B69DD73}"/>
              </a:ext>
            </a:extLst>
          </p:cNvPr>
          <p:cNvPicPr>
            <a:picLocks noChangeAspect="1"/>
          </p:cNvPicPr>
          <p:nvPr>
            <p:custDataLst>
              <p:tags r:id="rId6"/>
            </p:custDataLst>
          </p:nvPr>
        </p:nvPicPr>
        <p:blipFill>
          <a:blip r:embed="rId17"/>
          <a:stretch>
            <a:fillRect/>
          </a:stretch>
        </p:blipFill>
        <p:spPr>
          <a:xfrm>
            <a:off x="6219214" y="4695296"/>
            <a:ext cx="3073400" cy="1187450"/>
          </a:xfrm>
          <a:prstGeom prst="rect">
            <a:avLst/>
          </a:prstGeom>
        </p:spPr>
      </p:pic>
      <p:pic>
        <p:nvPicPr>
          <p:cNvPr id="5" name="Picture 4">
            <a:extLst>
              <a:ext uri="{FF2B5EF4-FFF2-40B4-BE49-F238E27FC236}">
                <a16:creationId xmlns:a16="http://schemas.microsoft.com/office/drawing/2014/main" id="{713595BB-561E-454E-9B80-25F9CB934F2A}"/>
              </a:ext>
            </a:extLst>
          </p:cNvPr>
          <p:cNvPicPr>
            <a:picLocks noChangeAspect="1"/>
          </p:cNvPicPr>
          <p:nvPr>
            <p:custDataLst>
              <p:tags r:id="rId7"/>
            </p:custDataLst>
          </p:nvPr>
        </p:nvPicPr>
        <p:blipFill>
          <a:blip r:embed="rId18"/>
          <a:stretch>
            <a:fillRect/>
          </a:stretch>
        </p:blipFill>
        <p:spPr>
          <a:xfrm>
            <a:off x="981966" y="3166444"/>
            <a:ext cx="3073400" cy="1187450"/>
          </a:xfrm>
          <a:prstGeom prst="rect">
            <a:avLst/>
          </a:prstGeom>
        </p:spPr>
      </p:pic>
      <p:pic>
        <p:nvPicPr>
          <p:cNvPr id="8" name="Picture 7">
            <a:extLst>
              <a:ext uri="{FF2B5EF4-FFF2-40B4-BE49-F238E27FC236}">
                <a16:creationId xmlns:a16="http://schemas.microsoft.com/office/drawing/2014/main" id="{CE460979-9D44-4567-9E51-4CA6C5557F15}"/>
              </a:ext>
            </a:extLst>
          </p:cNvPr>
          <p:cNvPicPr>
            <a:picLocks noChangeAspect="1"/>
          </p:cNvPicPr>
          <p:nvPr>
            <p:custDataLst>
              <p:tags r:id="rId8"/>
            </p:custDataLst>
          </p:nvPr>
        </p:nvPicPr>
        <p:blipFill>
          <a:blip r:embed="rId19"/>
          <a:stretch>
            <a:fillRect/>
          </a:stretch>
        </p:blipFill>
        <p:spPr>
          <a:xfrm>
            <a:off x="4559300" y="3166444"/>
            <a:ext cx="3073400" cy="1187450"/>
          </a:xfrm>
          <a:prstGeom prst="rect">
            <a:avLst/>
          </a:prstGeom>
        </p:spPr>
      </p:pic>
      <p:pic>
        <p:nvPicPr>
          <p:cNvPr id="6" name="Picture 5">
            <a:extLst>
              <a:ext uri="{FF2B5EF4-FFF2-40B4-BE49-F238E27FC236}">
                <a16:creationId xmlns:a16="http://schemas.microsoft.com/office/drawing/2014/main" id="{4AF4DA59-866B-4C90-BA61-10EC0937C9DA}"/>
              </a:ext>
            </a:extLst>
          </p:cNvPr>
          <p:cNvPicPr>
            <a:picLocks noChangeAspect="1"/>
          </p:cNvPicPr>
          <p:nvPr>
            <p:custDataLst>
              <p:tags r:id="rId9"/>
            </p:custDataLst>
          </p:nvPr>
        </p:nvPicPr>
        <p:blipFill>
          <a:blip r:embed="rId20"/>
          <a:stretch>
            <a:fillRect/>
          </a:stretch>
        </p:blipFill>
        <p:spPr>
          <a:xfrm>
            <a:off x="8136634" y="3166445"/>
            <a:ext cx="3073400" cy="1271097"/>
          </a:xfrm>
          <a:prstGeom prst="rect">
            <a:avLst/>
          </a:prstGeom>
        </p:spPr>
      </p:pic>
      <p:cxnSp>
        <p:nvCxnSpPr>
          <p:cNvPr id="22" name="Straight Connector 21">
            <a:extLst>
              <a:ext uri="{FF2B5EF4-FFF2-40B4-BE49-F238E27FC236}">
                <a16:creationId xmlns:a16="http://schemas.microsoft.com/office/drawing/2014/main" id="{BB7EB114-8C11-40EC-AE44-B5D38CF4FE9E}"/>
              </a:ext>
            </a:extLst>
          </p:cNvPr>
          <p:cNvCxnSpPr>
            <a:cxnSpLocks/>
            <a:stCxn id="16" idx="2"/>
            <a:endCxn id="8" idx="0"/>
          </p:cNvCxnSpPr>
          <p:nvPr/>
        </p:nvCxnSpPr>
        <p:spPr>
          <a:xfrm>
            <a:off x="6096000" y="2974544"/>
            <a:ext cx="0" cy="191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F033E39C-58D4-44D7-B50C-3DACD5B0F91E}"/>
              </a:ext>
            </a:extLst>
          </p:cNvPr>
          <p:cNvCxnSpPr>
            <a:cxnSpLocks/>
            <a:stCxn id="16" idx="2"/>
            <a:endCxn id="5" idx="0"/>
          </p:cNvCxnSpPr>
          <p:nvPr/>
        </p:nvCxnSpPr>
        <p:spPr>
          <a:xfrm rot="5400000">
            <a:off x="4211383" y="1281827"/>
            <a:ext cx="191900" cy="3577334"/>
          </a:xfrm>
          <a:prstGeom prst="bentConnector3">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82" name="Connector: Elbow 181">
            <a:extLst>
              <a:ext uri="{FF2B5EF4-FFF2-40B4-BE49-F238E27FC236}">
                <a16:creationId xmlns:a16="http://schemas.microsoft.com/office/drawing/2014/main" id="{E59F2E41-B919-436F-ACF9-449FDF4AAD93}"/>
              </a:ext>
            </a:extLst>
          </p:cNvPr>
          <p:cNvCxnSpPr>
            <a:cxnSpLocks/>
            <a:stCxn id="16" idx="2"/>
          </p:cNvCxnSpPr>
          <p:nvPr/>
        </p:nvCxnSpPr>
        <p:spPr>
          <a:xfrm rot="16200000" flipH="1">
            <a:off x="7788717" y="1281827"/>
            <a:ext cx="191900" cy="3577334"/>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83" name="Connector: Elbow 182">
            <a:extLst>
              <a:ext uri="{FF2B5EF4-FFF2-40B4-BE49-F238E27FC236}">
                <a16:creationId xmlns:a16="http://schemas.microsoft.com/office/drawing/2014/main" id="{4AF9F3A9-1532-49B6-96E5-930F2127CDB9}"/>
              </a:ext>
            </a:extLst>
          </p:cNvPr>
          <p:cNvCxnSpPr>
            <a:cxnSpLocks/>
            <a:stCxn id="8" idx="2"/>
            <a:endCxn id="10" idx="0"/>
          </p:cNvCxnSpPr>
          <p:nvPr/>
        </p:nvCxnSpPr>
        <p:spPr>
          <a:xfrm rot="5400000">
            <a:off x="5095342" y="3694638"/>
            <a:ext cx="341402" cy="1659914"/>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84" name="Connector: Elbow 183">
            <a:extLst>
              <a:ext uri="{FF2B5EF4-FFF2-40B4-BE49-F238E27FC236}">
                <a16:creationId xmlns:a16="http://schemas.microsoft.com/office/drawing/2014/main" id="{2924D1E1-41D6-41D1-A8B7-4198E72C5FAD}"/>
              </a:ext>
            </a:extLst>
          </p:cNvPr>
          <p:cNvCxnSpPr>
            <a:cxnSpLocks/>
            <a:stCxn id="8" idx="2"/>
            <a:endCxn id="11" idx="0"/>
          </p:cNvCxnSpPr>
          <p:nvPr/>
        </p:nvCxnSpPr>
        <p:spPr>
          <a:xfrm rot="16200000" flipH="1">
            <a:off x="6755256" y="3694638"/>
            <a:ext cx="341402" cy="1659914"/>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sp>
        <p:nvSpPr>
          <p:cNvPr id="3" name="UpSlide SubSection Marker" hidden="1">
            <a:extLst>
              <a:ext uri="{FF2B5EF4-FFF2-40B4-BE49-F238E27FC236}">
                <a16:creationId xmlns:a16="http://schemas.microsoft.com/office/drawing/2014/main" id="{995B28C4-4268-4E9B-825A-36C3C6FC4308}"/>
              </a:ext>
            </a:extLst>
          </p:cNvPr>
          <p:cNvSpPr/>
          <p:nvPr>
            <p:custDataLst>
              <p:tags r:id="rId10"/>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overview</a:t>
            </a:r>
            <a:endParaRPr lang="en-GB" sz="900" dirty="0">
              <a:solidFill>
                <a:schemeClr val="bg1"/>
              </a:solidFill>
            </a:endParaRPr>
          </a:p>
        </p:txBody>
      </p:sp>
      <p:grpSp>
        <p:nvGrpSpPr>
          <p:cNvPr id="28" name="Group 27">
            <a:extLst>
              <a:ext uri="{FF2B5EF4-FFF2-40B4-BE49-F238E27FC236}">
                <a16:creationId xmlns:a16="http://schemas.microsoft.com/office/drawing/2014/main" id="{7E563A72-CF12-4F27-BA5F-76011D5720BA}"/>
              </a:ext>
            </a:extLst>
          </p:cNvPr>
          <p:cNvGrpSpPr/>
          <p:nvPr>
            <p:custDataLst>
              <p:tags r:id="rId11"/>
            </p:custDataLst>
          </p:nvPr>
        </p:nvGrpSpPr>
        <p:grpSpPr>
          <a:xfrm>
            <a:off x="995364" y="153170"/>
            <a:ext cx="6245240" cy="195814"/>
            <a:chOff x="995364" y="153170"/>
            <a:chExt cx="6245240" cy="195814"/>
          </a:xfrm>
        </p:grpSpPr>
        <p:sp>
          <p:nvSpPr>
            <p:cNvPr id="29" name="Current Section1">
              <a:hlinkClick r:id="rId2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0" name="Other Sections2">
              <a:hlinkClick r:id="rId2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Other Sections3">
              <a:hlinkClick r:id="rId23"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2" name="Other Sections4">
              <a:hlinkClick r:id="rId24"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5">
              <a:hlinkClick r:id="rId25"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4" name="Other Sections6">
              <a:hlinkClick r:id="rId26"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7">
              <a:hlinkClick r:id="rId27"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7963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B197C69-CFFB-4C0D-904B-9EA03971ADCE}"/>
              </a:ext>
            </a:extLst>
          </p:cNvPr>
          <p:cNvSpPr>
            <a:spLocks noGrp="1"/>
          </p:cNvSpPr>
          <p:nvPr>
            <p:ph type="title"/>
          </p:nvPr>
        </p:nvSpPr>
        <p:spPr/>
        <p:txBody>
          <a:bodyPr vert="horz"/>
          <a:lstStyle/>
          <a:p>
            <a:r>
              <a:rPr lang="en-US"/>
              <a:t>Operational model</a:t>
            </a:r>
          </a:p>
        </p:txBody>
      </p:sp>
      <p:sp>
        <p:nvSpPr>
          <p:cNvPr id="63" name="TextBox 62">
            <a:extLst>
              <a:ext uri="{FF2B5EF4-FFF2-40B4-BE49-F238E27FC236}">
                <a16:creationId xmlns:a16="http://schemas.microsoft.com/office/drawing/2014/main" id="{2DAD1CBE-88C3-4E34-96E7-5EA1FF29A4EB}"/>
              </a:ext>
            </a:extLst>
          </p:cNvPr>
          <p:cNvSpPr txBox="1">
            <a:spLocks/>
          </p:cNvSpPr>
          <p:nvPr/>
        </p:nvSpPr>
        <p:spPr>
          <a:xfrm>
            <a:off x="998397" y="4090174"/>
            <a:ext cx="4974975" cy="1915909"/>
          </a:xfrm>
          <a:prstGeom prst="rect">
            <a:avLst/>
          </a:prstGeom>
          <a:noFill/>
        </p:spPr>
        <p:txBody>
          <a:bodyPr wrap="square" lIns="0" tIns="0" rIns="0" bIns="0">
            <a:spAutoFit/>
          </a:bodyPr>
          <a:lstStyle/>
          <a:p>
            <a:pPr>
              <a:lnSpc>
                <a:spcPct val="95000"/>
              </a:lnSpc>
              <a:spcAft>
                <a:spcPts val="600"/>
              </a:spcAft>
            </a:pPr>
            <a:r>
              <a:rPr lang="en-GB" sz="1000" b="0" dirty="0">
                <a:solidFill>
                  <a:schemeClr val="tx1"/>
                </a:solidFill>
              </a:rPr>
              <a:t>Once products are received from suppliers, they are stored and despatched by a third party logistics provider (3PL) specialising in digital retail, with a warehouse based in </a:t>
            </a:r>
            <a:r>
              <a:rPr lang="en-GB" sz="1000" dirty="0" err="1"/>
              <a:t>yy</a:t>
            </a:r>
            <a:r>
              <a:rPr lang="en-GB" sz="1000" b="0" dirty="0">
                <a:solidFill>
                  <a:schemeClr val="tx1"/>
                </a:solidFill>
              </a:rPr>
              <a:t>.</a:t>
            </a:r>
          </a:p>
          <a:p>
            <a:pPr marL="171450" indent="-171450">
              <a:lnSpc>
                <a:spcPct val="95000"/>
              </a:lnSpc>
              <a:spcAft>
                <a:spcPts val="600"/>
              </a:spcAft>
              <a:buFont typeface="Arial" panose="020B0604020202020204" pitchFamily="34" charset="0"/>
              <a:buChar char="—"/>
            </a:pPr>
            <a:r>
              <a:rPr lang="en-GB" sz="1000" b="0" dirty="0">
                <a:solidFill>
                  <a:schemeClr val="tx1"/>
                </a:solidFill>
              </a:rPr>
              <a:t>Online sales (including international orders) are sent directly from the warehouse to the end customer, using various couriers such as </a:t>
            </a:r>
            <a:r>
              <a:rPr lang="en-GB" sz="1000" b="0" dirty="0" err="1">
                <a:solidFill>
                  <a:schemeClr val="tx1"/>
                </a:solidFill>
              </a:rPr>
              <a:t>yy</a:t>
            </a:r>
            <a:r>
              <a:rPr lang="en-GB" sz="1000" b="0" dirty="0">
                <a:solidFill>
                  <a:schemeClr val="tx1"/>
                </a:solidFill>
              </a:rPr>
              <a:t>, </a:t>
            </a:r>
            <a:r>
              <a:rPr lang="en-GB" sz="1000" b="0" dirty="0" err="1">
                <a:solidFill>
                  <a:schemeClr val="tx1"/>
                </a:solidFill>
              </a:rPr>
              <a:t>yy</a:t>
            </a:r>
            <a:r>
              <a:rPr lang="en-GB" sz="1000" b="0" dirty="0">
                <a:solidFill>
                  <a:schemeClr val="tx1"/>
                </a:solidFill>
              </a:rPr>
              <a:t> and </a:t>
            </a:r>
            <a:r>
              <a:rPr lang="en-GB" sz="1000" b="0" dirty="0" err="1">
                <a:solidFill>
                  <a:schemeClr val="tx1"/>
                </a:solidFill>
              </a:rPr>
              <a:t>yy</a:t>
            </a:r>
            <a:r>
              <a:rPr lang="en-GB" sz="1000" b="0" dirty="0">
                <a:solidFill>
                  <a:schemeClr val="tx1"/>
                </a:solidFill>
              </a:rPr>
              <a:t>.</a:t>
            </a:r>
          </a:p>
          <a:p>
            <a:pPr marL="171450" indent="-171450">
              <a:lnSpc>
                <a:spcPct val="95000"/>
              </a:lnSpc>
              <a:spcAft>
                <a:spcPts val="600"/>
              </a:spcAft>
              <a:buFont typeface="Arial" panose="020B0604020202020204" pitchFamily="34" charset="0"/>
              <a:buChar char="—"/>
            </a:pPr>
            <a:r>
              <a:rPr lang="en-GB" sz="1000" b="0" dirty="0" err="1">
                <a:solidFill>
                  <a:schemeClr val="tx1"/>
                </a:solidFill>
              </a:rPr>
              <a:t>yy</a:t>
            </a:r>
            <a:r>
              <a:rPr lang="en-GB" sz="1000" b="0" dirty="0">
                <a:solidFill>
                  <a:schemeClr val="tx1"/>
                </a:solidFill>
              </a:rPr>
              <a:t> boutiques and concessions are replenished up to five times a week, with the first delivery topping up stock levels and the second delivery consisting of new product that has recently come into the warehouse.</a:t>
            </a:r>
          </a:p>
          <a:p>
            <a:pPr marL="171450" indent="-171450">
              <a:lnSpc>
                <a:spcPct val="95000"/>
              </a:lnSpc>
              <a:spcAft>
                <a:spcPts val="600"/>
              </a:spcAft>
              <a:buFont typeface="Arial" panose="020B0604020202020204" pitchFamily="34" charset="0"/>
              <a:buChar char="—"/>
            </a:pPr>
            <a:r>
              <a:rPr lang="en-GB" sz="1000" b="0" dirty="0">
                <a:solidFill>
                  <a:schemeClr val="tx1"/>
                </a:solidFill>
              </a:rPr>
              <a:t>Y deliver a selection of stock to the Department store A </a:t>
            </a:r>
            <a:r>
              <a:rPr lang="en-GB" sz="1000" b="0" dirty="0" err="1">
                <a:solidFill>
                  <a:schemeClr val="tx1"/>
                </a:solidFill>
              </a:rPr>
              <a:t>yy</a:t>
            </a:r>
            <a:r>
              <a:rPr lang="en-GB" sz="1000" b="0" dirty="0">
                <a:solidFill>
                  <a:schemeClr val="tx1"/>
                </a:solidFill>
              </a:rPr>
              <a:t> warehouse on a weekly basis, from which all Department store A online orders are fulfilled.</a:t>
            </a:r>
          </a:p>
          <a:p>
            <a:pPr marL="171450" indent="-171450">
              <a:lnSpc>
                <a:spcPct val="95000"/>
              </a:lnSpc>
              <a:spcAft>
                <a:spcPts val="600"/>
              </a:spcAft>
              <a:buFont typeface="Arial" panose="020B0604020202020204" pitchFamily="34" charset="0"/>
              <a:buChar char="—"/>
            </a:pPr>
            <a:r>
              <a:rPr lang="en-GB" sz="1000" dirty="0">
                <a:solidFill>
                  <a:schemeClr val="tx1"/>
                </a:solidFill>
              </a:rPr>
              <a:t>Department store B online orders are fulfilled from the Department store B concession.</a:t>
            </a:r>
            <a:endParaRPr lang="en-GB" sz="1000" b="0" dirty="0">
              <a:solidFill>
                <a:schemeClr val="tx1"/>
              </a:solidFill>
            </a:endParaRPr>
          </a:p>
        </p:txBody>
      </p:sp>
      <p:sp>
        <p:nvSpPr>
          <p:cNvPr id="181" name="TextBox 180">
            <a:extLst>
              <a:ext uri="{FF2B5EF4-FFF2-40B4-BE49-F238E27FC236}">
                <a16:creationId xmlns:a16="http://schemas.microsoft.com/office/drawing/2014/main" id="{1F0E33BC-C3A0-427A-8456-1087A81AE95D}"/>
              </a:ext>
            </a:extLst>
          </p:cNvPr>
          <p:cNvSpPr txBox="1">
            <a:spLocks/>
          </p:cNvSpPr>
          <p:nvPr/>
        </p:nvSpPr>
        <p:spPr>
          <a:xfrm>
            <a:off x="998397" y="3705575"/>
            <a:ext cx="497497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Logistics overview</a:t>
            </a:r>
          </a:p>
        </p:txBody>
      </p:sp>
      <p:sp>
        <p:nvSpPr>
          <p:cNvPr id="137" name="Chevron 17">
            <a:extLst>
              <a:ext uri="{FF2B5EF4-FFF2-40B4-BE49-F238E27FC236}">
                <a16:creationId xmlns:a16="http://schemas.microsoft.com/office/drawing/2014/main" id="{BD12C343-92A0-4A15-9DA9-57B3612673A2}"/>
              </a:ext>
            </a:extLst>
          </p:cNvPr>
          <p:cNvSpPr/>
          <p:nvPr/>
        </p:nvSpPr>
        <p:spPr>
          <a:xfrm>
            <a:off x="2457449" y="1335027"/>
            <a:ext cx="1774997" cy="332436"/>
          </a:xfrm>
          <a:prstGeom prst="chevron">
            <a:avLst>
              <a:gd name="adj" fmla="val 36767"/>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n-GB" sz="900" b="1">
                <a:solidFill>
                  <a:schemeClr val="bg1"/>
                </a:solidFill>
              </a:rPr>
              <a:t>Product design &amp; development</a:t>
            </a:r>
          </a:p>
        </p:txBody>
      </p:sp>
      <p:sp>
        <p:nvSpPr>
          <p:cNvPr id="138" name="Chevron 18">
            <a:extLst>
              <a:ext uri="{FF2B5EF4-FFF2-40B4-BE49-F238E27FC236}">
                <a16:creationId xmlns:a16="http://schemas.microsoft.com/office/drawing/2014/main" id="{835DA1EB-0331-44D8-B3A2-C459192521DE}"/>
              </a:ext>
            </a:extLst>
          </p:cNvPr>
          <p:cNvSpPr/>
          <p:nvPr/>
        </p:nvSpPr>
        <p:spPr>
          <a:xfrm>
            <a:off x="1012825" y="1336565"/>
            <a:ext cx="1444624" cy="332436"/>
          </a:xfrm>
          <a:prstGeom prst="chevron">
            <a:avLst>
              <a:gd name="adj" fmla="val 36767"/>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n-GB" sz="900" b="1">
                <a:solidFill>
                  <a:schemeClr val="bg1"/>
                </a:solidFill>
              </a:rPr>
              <a:t>Product concept</a:t>
            </a:r>
          </a:p>
        </p:txBody>
      </p:sp>
      <p:sp>
        <p:nvSpPr>
          <p:cNvPr id="139" name="Chevron 19">
            <a:extLst>
              <a:ext uri="{FF2B5EF4-FFF2-40B4-BE49-F238E27FC236}">
                <a16:creationId xmlns:a16="http://schemas.microsoft.com/office/drawing/2014/main" id="{A2296B28-9731-4772-87F3-E967444B232B}"/>
              </a:ext>
            </a:extLst>
          </p:cNvPr>
          <p:cNvSpPr/>
          <p:nvPr/>
        </p:nvSpPr>
        <p:spPr>
          <a:xfrm>
            <a:off x="4232446" y="1333259"/>
            <a:ext cx="2193887" cy="332436"/>
          </a:xfrm>
          <a:prstGeom prst="chevron">
            <a:avLst>
              <a:gd name="adj" fmla="val 36767"/>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n-GB" sz="900" b="1">
                <a:solidFill>
                  <a:schemeClr val="bg1"/>
                </a:solidFill>
              </a:rPr>
              <a:t>Product selection</a:t>
            </a:r>
          </a:p>
        </p:txBody>
      </p:sp>
      <p:sp>
        <p:nvSpPr>
          <p:cNvPr id="140" name="Chevron 47">
            <a:extLst>
              <a:ext uri="{FF2B5EF4-FFF2-40B4-BE49-F238E27FC236}">
                <a16:creationId xmlns:a16="http://schemas.microsoft.com/office/drawing/2014/main" id="{C4D5FE7D-5B2F-4E3D-833C-37EAB8DF50E1}"/>
              </a:ext>
            </a:extLst>
          </p:cNvPr>
          <p:cNvSpPr/>
          <p:nvPr/>
        </p:nvSpPr>
        <p:spPr>
          <a:xfrm>
            <a:off x="6426333" y="1336565"/>
            <a:ext cx="3060567" cy="332436"/>
          </a:xfrm>
          <a:prstGeom prst="chevron">
            <a:avLst>
              <a:gd name="adj" fmla="val 36767"/>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n-GB" sz="900" b="1">
                <a:solidFill>
                  <a:schemeClr val="bg1"/>
                </a:solidFill>
              </a:rPr>
              <a:t>Product sign off</a:t>
            </a:r>
          </a:p>
        </p:txBody>
      </p:sp>
      <p:sp>
        <p:nvSpPr>
          <p:cNvPr id="141" name="Chevron 49">
            <a:extLst>
              <a:ext uri="{FF2B5EF4-FFF2-40B4-BE49-F238E27FC236}">
                <a16:creationId xmlns:a16="http://schemas.microsoft.com/office/drawing/2014/main" id="{FD865713-0B6C-4497-9805-224D0B60CB2F}"/>
              </a:ext>
            </a:extLst>
          </p:cNvPr>
          <p:cNvSpPr/>
          <p:nvPr/>
        </p:nvSpPr>
        <p:spPr>
          <a:xfrm>
            <a:off x="9486900" y="1330346"/>
            <a:ext cx="1723470" cy="332436"/>
          </a:xfrm>
          <a:prstGeom prst="chevron">
            <a:avLst>
              <a:gd name="adj" fmla="val 36767"/>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n-GB" sz="900" b="1">
                <a:solidFill>
                  <a:schemeClr val="bg1"/>
                </a:solidFill>
              </a:rPr>
              <a:t>Manufacturing</a:t>
            </a:r>
          </a:p>
        </p:txBody>
      </p:sp>
      <p:graphicFrame>
        <p:nvGraphicFramePr>
          <p:cNvPr id="142" name="Table 141">
            <a:extLst>
              <a:ext uri="{FF2B5EF4-FFF2-40B4-BE49-F238E27FC236}">
                <a16:creationId xmlns:a16="http://schemas.microsoft.com/office/drawing/2014/main" id="{3681FF5C-4DDE-478A-B08E-325228D3C346}"/>
              </a:ext>
            </a:extLst>
          </p:cNvPr>
          <p:cNvGraphicFramePr>
            <a:graphicFrameLocks noGrp="1"/>
          </p:cNvGraphicFramePr>
          <p:nvPr/>
        </p:nvGraphicFramePr>
        <p:xfrm>
          <a:off x="1012824" y="1749259"/>
          <a:ext cx="1373323" cy="1866832"/>
        </p:xfrm>
        <a:graphic>
          <a:graphicData uri="http://schemas.openxmlformats.org/drawingml/2006/table">
            <a:tbl>
              <a:tblPr/>
              <a:tblGrid>
                <a:gridCol w="1373323">
                  <a:extLst>
                    <a:ext uri="{9D8B030D-6E8A-4147-A177-3AD203B41FA5}">
                      <a16:colId xmlns:a16="http://schemas.microsoft.com/office/drawing/2014/main" val="20000"/>
                    </a:ext>
                  </a:extLst>
                </a:gridCol>
              </a:tblGrid>
              <a:tr h="1866832">
                <a:tc>
                  <a:txBody>
                    <a:bodyPr/>
                    <a:lstStyle/>
                    <a:p>
                      <a:pPr>
                        <a:spcAft>
                          <a:spcPts val="600"/>
                        </a:spcAft>
                      </a:pPr>
                      <a:r>
                        <a:rPr lang="en-GB" sz="900" u="none">
                          <a:solidFill>
                            <a:schemeClr val="tx1"/>
                          </a:solidFill>
                        </a:rPr>
                        <a:t>The concept process commences 9-10 months in advance of the respective season.</a:t>
                      </a:r>
                    </a:p>
                    <a:p>
                      <a:pPr>
                        <a:spcAft>
                          <a:spcPts val="600"/>
                        </a:spcAft>
                      </a:pPr>
                      <a:r>
                        <a:rPr lang="en-GB" sz="900" u="none">
                          <a:solidFill>
                            <a:schemeClr val="tx1"/>
                          </a:solidFill>
                        </a:rPr>
                        <a:t>Discussion points are key trends, designer shows, fabric trends, prints, colours and key shapes. The founder signs off the concept boards and the design team commence sketches.</a:t>
                      </a:r>
                    </a:p>
                  </a:txBody>
                  <a:tcPr marL="36000" marR="36000" marT="36000" marB="36000">
                    <a:lnL w="12700" cmpd="sng">
                      <a:solidFill>
                        <a:schemeClr val="tx2"/>
                      </a:solidFill>
                      <a:prstDash val="solid"/>
                    </a:lnL>
                    <a:lnR w="12700" cmpd="sng">
                      <a:solidFill>
                        <a:schemeClr val="tx2"/>
                      </a:solidFill>
                      <a:prstDash val="solid"/>
                    </a:lnR>
                    <a:lnT w="12700" cmpd="sng">
                      <a:solidFill>
                        <a:schemeClr val="tx2"/>
                      </a:solidFill>
                      <a:prstDash val="solid"/>
                    </a:lnT>
                    <a:lnB w="12700" cmpd="sng">
                      <a:solidFill>
                        <a:schemeClr val="tx2"/>
                      </a:solidFill>
                      <a:prstDash val="solid"/>
                    </a:lnB>
                  </a:tcPr>
                </a:tc>
                <a:extLst>
                  <a:ext uri="{0D108BD9-81ED-4DB2-BD59-A6C34878D82A}">
                    <a16:rowId xmlns:a16="http://schemas.microsoft.com/office/drawing/2014/main" val="10000"/>
                  </a:ext>
                </a:extLst>
              </a:tr>
            </a:tbl>
          </a:graphicData>
        </a:graphic>
      </p:graphicFrame>
      <p:graphicFrame>
        <p:nvGraphicFramePr>
          <p:cNvPr id="143" name="Table 142">
            <a:extLst>
              <a:ext uri="{FF2B5EF4-FFF2-40B4-BE49-F238E27FC236}">
                <a16:creationId xmlns:a16="http://schemas.microsoft.com/office/drawing/2014/main" id="{3E816D39-9093-4222-AEC1-B5C7CF37CB9F}"/>
              </a:ext>
            </a:extLst>
          </p:cNvPr>
          <p:cNvGraphicFramePr>
            <a:graphicFrameLocks noGrp="1"/>
          </p:cNvGraphicFramePr>
          <p:nvPr/>
        </p:nvGraphicFramePr>
        <p:xfrm>
          <a:off x="2461112" y="1745772"/>
          <a:ext cx="1696369" cy="1870319"/>
        </p:xfrm>
        <a:graphic>
          <a:graphicData uri="http://schemas.openxmlformats.org/drawingml/2006/table">
            <a:tbl>
              <a:tblPr/>
              <a:tblGrid>
                <a:gridCol w="1696369">
                  <a:extLst>
                    <a:ext uri="{9D8B030D-6E8A-4147-A177-3AD203B41FA5}">
                      <a16:colId xmlns:a16="http://schemas.microsoft.com/office/drawing/2014/main" val="20000"/>
                    </a:ext>
                  </a:extLst>
                </a:gridCol>
              </a:tblGrid>
              <a:tr h="1870319">
                <a:tc>
                  <a:txBody>
                    <a:bodyPr/>
                    <a:lstStyle/>
                    <a:p>
                      <a:pPr marL="0" marR="0" lvl="0" indent="0" algn="l" defTabSz="43200" rtl="0" eaLnBrk="1" fontAlgn="auto" latinLnBrk="0" hangingPunct="1">
                        <a:lnSpc>
                          <a:spcPct val="100000"/>
                        </a:lnSpc>
                        <a:spcBef>
                          <a:spcPts val="0"/>
                        </a:spcBef>
                        <a:spcAft>
                          <a:spcPts val="600"/>
                        </a:spcAft>
                        <a:buClrTx/>
                        <a:buSzTx/>
                        <a:buFontTx/>
                        <a:buNone/>
                        <a:tabLst/>
                        <a:defRPr/>
                      </a:pPr>
                      <a:r>
                        <a:rPr lang="en-GB" sz="900" u="none">
                          <a:solidFill>
                            <a:schemeClr val="tx1"/>
                          </a:solidFill>
                        </a:rPr>
                        <a:t>Proposed sketches are presented to the founder in the “sketch and swatch” meetings, with consideration to shape across the categories and core versus innovation.</a:t>
                      </a:r>
                    </a:p>
                    <a:p>
                      <a:pPr marL="0" marR="0" lvl="0" indent="0" algn="l" defTabSz="43200" rtl="0" eaLnBrk="1" fontAlgn="auto" latinLnBrk="0" hangingPunct="1">
                        <a:lnSpc>
                          <a:spcPct val="100000"/>
                        </a:lnSpc>
                        <a:spcBef>
                          <a:spcPts val="0"/>
                        </a:spcBef>
                        <a:spcAft>
                          <a:spcPts val="600"/>
                        </a:spcAft>
                        <a:buClrTx/>
                        <a:buSzTx/>
                        <a:buFontTx/>
                        <a:buNone/>
                        <a:tabLst/>
                        <a:defRPr/>
                      </a:pPr>
                      <a:r>
                        <a:rPr lang="en-GB" sz="900" u="none">
                          <a:solidFill>
                            <a:schemeClr val="tx1"/>
                          </a:solidFill>
                        </a:rPr>
                        <a:t>Specifications for the chosen designs are then sent to suppliers for sample production. Current trends are only incorporated if they are consistent with the brand.</a:t>
                      </a:r>
                    </a:p>
                  </a:txBody>
                  <a:tcPr marL="36000" marR="36000" marT="36000" marB="36000">
                    <a:lnL w="12700" cmpd="sng">
                      <a:solidFill>
                        <a:schemeClr val="tx2"/>
                      </a:solidFill>
                      <a:prstDash val="solid"/>
                    </a:lnL>
                    <a:lnR w="12700" cmpd="sng">
                      <a:solidFill>
                        <a:schemeClr val="tx2"/>
                      </a:solidFill>
                      <a:prstDash val="solid"/>
                    </a:lnR>
                    <a:lnT w="12700" cmpd="sng">
                      <a:solidFill>
                        <a:schemeClr val="tx2"/>
                      </a:solidFill>
                      <a:prstDash val="solid"/>
                    </a:lnT>
                    <a:lnB w="12700" cmpd="sng">
                      <a:solidFill>
                        <a:schemeClr val="tx2"/>
                      </a:solidFill>
                      <a:prstDash val="solid"/>
                    </a:lnB>
                  </a:tcPr>
                </a:tc>
                <a:extLst>
                  <a:ext uri="{0D108BD9-81ED-4DB2-BD59-A6C34878D82A}">
                    <a16:rowId xmlns:a16="http://schemas.microsoft.com/office/drawing/2014/main" val="10000"/>
                  </a:ext>
                </a:extLst>
              </a:tr>
            </a:tbl>
          </a:graphicData>
        </a:graphic>
      </p:graphicFrame>
      <p:graphicFrame>
        <p:nvGraphicFramePr>
          <p:cNvPr id="145" name="Table 144">
            <a:extLst>
              <a:ext uri="{FF2B5EF4-FFF2-40B4-BE49-F238E27FC236}">
                <a16:creationId xmlns:a16="http://schemas.microsoft.com/office/drawing/2014/main" id="{070B7EB6-5888-48FD-BC26-87D3818C0479}"/>
              </a:ext>
            </a:extLst>
          </p:cNvPr>
          <p:cNvGraphicFramePr>
            <a:graphicFrameLocks noGrp="1"/>
          </p:cNvGraphicFramePr>
          <p:nvPr/>
        </p:nvGraphicFramePr>
        <p:xfrm>
          <a:off x="4232446" y="1745772"/>
          <a:ext cx="2118922" cy="1870320"/>
        </p:xfrm>
        <a:graphic>
          <a:graphicData uri="http://schemas.openxmlformats.org/drawingml/2006/table">
            <a:tbl>
              <a:tblPr/>
              <a:tblGrid>
                <a:gridCol w="2118922">
                  <a:extLst>
                    <a:ext uri="{9D8B030D-6E8A-4147-A177-3AD203B41FA5}">
                      <a16:colId xmlns:a16="http://schemas.microsoft.com/office/drawing/2014/main" val="20000"/>
                    </a:ext>
                  </a:extLst>
                </a:gridCol>
              </a:tblGrid>
              <a:tr h="1849579">
                <a:tc>
                  <a:txBody>
                    <a:bodyPr/>
                    <a:lstStyle/>
                    <a:p>
                      <a:pPr>
                        <a:spcAft>
                          <a:spcPts val="600"/>
                        </a:spcAft>
                      </a:pPr>
                      <a:r>
                        <a:rPr lang="en-GB" sz="900" u="none">
                          <a:solidFill>
                            <a:schemeClr val="tx1"/>
                          </a:solidFill>
                        </a:rPr>
                        <a:t>Proto meetings are held each season where all intended styles are presented and reviewed with the founder. </a:t>
                      </a:r>
                    </a:p>
                    <a:p>
                      <a:pPr>
                        <a:spcAft>
                          <a:spcPts val="600"/>
                        </a:spcAft>
                      </a:pPr>
                      <a:r>
                        <a:rPr lang="en-GB" sz="900" u="none">
                          <a:solidFill>
                            <a:schemeClr val="tx1"/>
                          </a:solidFill>
                        </a:rPr>
                        <a:t>Samples are then reviewed by the Buying, Merchandising and Design teams in a “range build meeting” to ensure the end use, colour, continuity, option count and retail prices have all been considered and are accounted for in the collection. </a:t>
                      </a:r>
                    </a:p>
                    <a:p>
                      <a:pPr>
                        <a:spcAft>
                          <a:spcPts val="600"/>
                        </a:spcAft>
                      </a:pPr>
                      <a:r>
                        <a:rPr lang="en-GB" sz="900" u="none">
                          <a:solidFill>
                            <a:schemeClr val="tx1"/>
                          </a:solidFill>
                        </a:rPr>
                        <a:t>14 brochures are produced each year, based on each new collection.</a:t>
                      </a:r>
                    </a:p>
                  </a:txBody>
                  <a:tcPr marL="36000" marR="36000" marT="36000" marB="36000">
                    <a:lnL w="12700" cmpd="sng">
                      <a:solidFill>
                        <a:schemeClr val="tx2"/>
                      </a:solidFill>
                      <a:prstDash val="solid"/>
                    </a:lnL>
                    <a:lnR w="12700" cmpd="sng">
                      <a:solidFill>
                        <a:schemeClr val="tx2"/>
                      </a:solidFill>
                      <a:prstDash val="solid"/>
                    </a:lnR>
                    <a:lnT w="12700" cmpd="sng">
                      <a:solidFill>
                        <a:schemeClr val="tx2"/>
                      </a:solidFill>
                      <a:prstDash val="solid"/>
                    </a:lnT>
                    <a:lnB w="12700" cmpd="sng">
                      <a:solidFill>
                        <a:schemeClr val="tx2"/>
                      </a:solidFill>
                      <a:prstDash val="solid"/>
                    </a:lnB>
                  </a:tcPr>
                </a:tc>
                <a:extLst>
                  <a:ext uri="{0D108BD9-81ED-4DB2-BD59-A6C34878D82A}">
                    <a16:rowId xmlns:a16="http://schemas.microsoft.com/office/drawing/2014/main" val="10000"/>
                  </a:ext>
                </a:extLst>
              </a:tr>
            </a:tbl>
          </a:graphicData>
        </a:graphic>
      </p:graphicFrame>
      <p:graphicFrame>
        <p:nvGraphicFramePr>
          <p:cNvPr id="146" name="Table 145">
            <a:extLst>
              <a:ext uri="{FF2B5EF4-FFF2-40B4-BE49-F238E27FC236}">
                <a16:creationId xmlns:a16="http://schemas.microsoft.com/office/drawing/2014/main" id="{8F0A74B6-7C57-4EE8-B671-BB076D80A6F1}"/>
              </a:ext>
            </a:extLst>
          </p:cNvPr>
          <p:cNvGraphicFramePr>
            <a:graphicFrameLocks noGrp="1"/>
          </p:cNvGraphicFramePr>
          <p:nvPr/>
        </p:nvGraphicFramePr>
        <p:xfrm>
          <a:off x="6426333" y="1745773"/>
          <a:ext cx="2985601" cy="1870320"/>
        </p:xfrm>
        <a:graphic>
          <a:graphicData uri="http://schemas.openxmlformats.org/drawingml/2006/table">
            <a:tbl>
              <a:tblPr/>
              <a:tblGrid>
                <a:gridCol w="2985601">
                  <a:extLst>
                    <a:ext uri="{9D8B030D-6E8A-4147-A177-3AD203B41FA5}">
                      <a16:colId xmlns:a16="http://schemas.microsoft.com/office/drawing/2014/main" val="20000"/>
                    </a:ext>
                  </a:extLst>
                </a:gridCol>
              </a:tblGrid>
              <a:tr h="1870319">
                <a:tc>
                  <a:txBody>
                    <a:bodyPr/>
                    <a:lstStyle/>
                    <a:p>
                      <a:pPr>
                        <a:spcAft>
                          <a:spcPts val="600"/>
                        </a:spcAft>
                      </a:pPr>
                      <a:r>
                        <a:rPr lang="en-GB" sz="900" u="none">
                          <a:solidFill>
                            <a:schemeClr val="tx1"/>
                          </a:solidFill>
                        </a:rPr>
                        <a:t>The final sign off of selected styles, quantities, prices and suppliers is made by the founder 6 months in advance of each season.</a:t>
                      </a:r>
                    </a:p>
                    <a:p>
                      <a:pPr>
                        <a:spcAft>
                          <a:spcPts val="600"/>
                        </a:spcAft>
                      </a:pPr>
                      <a:r>
                        <a:rPr lang="en-GB" sz="900" u="none">
                          <a:solidFill>
                            <a:schemeClr val="tx1"/>
                          </a:solidFill>
                        </a:rPr>
                        <a:t>Bookings are made for longer lead time products (shipped by sea for intake margin gain) and to launch styles early to “test, learnt &amp; roll” (whereby styles are tested early to review demand). Shorter lead time product is only booked on the booking deadline to maintain flexibility. </a:t>
                      </a:r>
                    </a:p>
                    <a:p>
                      <a:pPr>
                        <a:spcAft>
                          <a:spcPts val="600"/>
                        </a:spcAft>
                      </a:pPr>
                      <a:r>
                        <a:rPr lang="en-GB" sz="900" u="none">
                          <a:solidFill>
                            <a:schemeClr val="tx1"/>
                          </a:solidFill>
                        </a:rPr>
                        <a:t>The season collection is presented to the Marketing team who plan the seasonal campaign, email content and shoot imagery.</a:t>
                      </a:r>
                    </a:p>
                  </a:txBody>
                  <a:tcPr marL="36000" marR="36000" marT="36000" marB="36000">
                    <a:lnL w="12700" cmpd="sng">
                      <a:solidFill>
                        <a:schemeClr val="tx2"/>
                      </a:solidFill>
                      <a:prstDash val="solid"/>
                    </a:lnL>
                    <a:lnR w="12700" cmpd="sng">
                      <a:solidFill>
                        <a:schemeClr val="tx2"/>
                      </a:solidFill>
                      <a:prstDash val="solid"/>
                    </a:lnR>
                    <a:lnT w="12700" cmpd="sng">
                      <a:solidFill>
                        <a:schemeClr val="tx2"/>
                      </a:solidFill>
                      <a:prstDash val="solid"/>
                    </a:lnT>
                    <a:lnB w="12700" cmpd="sng">
                      <a:solidFill>
                        <a:schemeClr val="tx2"/>
                      </a:solidFill>
                      <a:prstDash val="solid"/>
                    </a:lnB>
                  </a:tcPr>
                </a:tc>
                <a:extLst>
                  <a:ext uri="{0D108BD9-81ED-4DB2-BD59-A6C34878D82A}">
                    <a16:rowId xmlns:a16="http://schemas.microsoft.com/office/drawing/2014/main" val="10000"/>
                  </a:ext>
                </a:extLst>
              </a:tr>
            </a:tbl>
          </a:graphicData>
        </a:graphic>
      </p:graphicFrame>
      <p:graphicFrame>
        <p:nvGraphicFramePr>
          <p:cNvPr id="147" name="Table 146">
            <a:extLst>
              <a:ext uri="{FF2B5EF4-FFF2-40B4-BE49-F238E27FC236}">
                <a16:creationId xmlns:a16="http://schemas.microsoft.com/office/drawing/2014/main" id="{3A831ECC-4E9B-4FE9-8DE6-17D86D34B0DA}"/>
              </a:ext>
            </a:extLst>
          </p:cNvPr>
          <p:cNvGraphicFramePr>
            <a:graphicFrameLocks noGrp="1"/>
          </p:cNvGraphicFramePr>
          <p:nvPr/>
        </p:nvGraphicFramePr>
        <p:xfrm>
          <a:off x="9486900" y="1745773"/>
          <a:ext cx="1711275" cy="1870320"/>
        </p:xfrm>
        <a:graphic>
          <a:graphicData uri="http://schemas.openxmlformats.org/drawingml/2006/table">
            <a:tbl>
              <a:tblPr/>
              <a:tblGrid>
                <a:gridCol w="1711275">
                  <a:extLst>
                    <a:ext uri="{9D8B030D-6E8A-4147-A177-3AD203B41FA5}">
                      <a16:colId xmlns:a16="http://schemas.microsoft.com/office/drawing/2014/main" val="20000"/>
                    </a:ext>
                  </a:extLst>
                </a:gridCol>
              </a:tblGrid>
              <a:tr h="1870320">
                <a:tc>
                  <a:txBody>
                    <a:bodyPr/>
                    <a:lstStyle/>
                    <a:p>
                      <a:pPr>
                        <a:spcAft>
                          <a:spcPts val="600"/>
                        </a:spcAft>
                      </a:pPr>
                      <a:r>
                        <a:rPr lang="en-GB" sz="900" u="none" dirty="0">
                          <a:solidFill>
                            <a:schemeClr val="tx1"/>
                          </a:solidFill>
                        </a:rPr>
                        <a:t>All manufacturing is outsourced. Y has a supplier base of 25 – 30 suppliers located globally. </a:t>
                      </a:r>
                    </a:p>
                    <a:p>
                      <a:pPr>
                        <a:spcAft>
                          <a:spcPts val="600"/>
                        </a:spcAft>
                      </a:pPr>
                      <a:r>
                        <a:rPr lang="en-GB" sz="900" u="none" dirty="0">
                          <a:solidFill>
                            <a:schemeClr val="tx1"/>
                          </a:solidFill>
                        </a:rPr>
                        <a:t>The average supplier lead time is 4 – 8 weeks for raw material and 4 – 8 weeks for production plus shipping (due to shipping, orders from the Far East will take longer). Fast track orders, using stock fabrics and repeat shapes can be produced quicker.</a:t>
                      </a:r>
                    </a:p>
                  </a:txBody>
                  <a:tcPr marL="36000" marR="36000" marT="36000" marB="36000">
                    <a:lnL w="12700" cmpd="sng">
                      <a:solidFill>
                        <a:schemeClr val="tx2"/>
                      </a:solidFill>
                      <a:prstDash val="solid"/>
                    </a:lnL>
                    <a:lnR w="12700" cmpd="sng">
                      <a:solidFill>
                        <a:schemeClr val="tx2"/>
                      </a:solidFill>
                      <a:prstDash val="solid"/>
                    </a:lnR>
                    <a:lnT w="12700" cmpd="sng">
                      <a:solidFill>
                        <a:schemeClr val="tx2"/>
                      </a:solidFill>
                      <a:prstDash val="solid"/>
                    </a:lnT>
                    <a:lnB w="12700" cmpd="sng">
                      <a:solidFill>
                        <a:schemeClr val="tx2"/>
                      </a:solidFill>
                      <a:prstDash val="solid"/>
                    </a:lnB>
                  </a:tcPr>
                </a:tc>
                <a:extLst>
                  <a:ext uri="{0D108BD9-81ED-4DB2-BD59-A6C34878D82A}">
                    <a16:rowId xmlns:a16="http://schemas.microsoft.com/office/drawing/2014/main" val="10000"/>
                  </a:ext>
                </a:extLst>
              </a:tr>
            </a:tbl>
          </a:graphicData>
        </a:graphic>
      </p:graphicFrame>
      <p:grpSp>
        <p:nvGrpSpPr>
          <p:cNvPr id="148" name="Group 147">
            <a:extLst>
              <a:ext uri="{FF2B5EF4-FFF2-40B4-BE49-F238E27FC236}">
                <a16:creationId xmlns:a16="http://schemas.microsoft.com/office/drawing/2014/main" id="{B3F61675-D8CA-404E-AFE1-C3C5DF063F2A}"/>
              </a:ext>
            </a:extLst>
          </p:cNvPr>
          <p:cNvGrpSpPr/>
          <p:nvPr/>
        </p:nvGrpSpPr>
        <p:grpSpPr>
          <a:xfrm>
            <a:off x="6337745" y="4001041"/>
            <a:ext cx="4823144" cy="2205385"/>
            <a:chOff x="270562" y="3892606"/>
            <a:chExt cx="4823144" cy="2205385"/>
          </a:xfrm>
        </p:grpSpPr>
        <p:sp>
          <p:nvSpPr>
            <p:cNvPr id="150" name="Rectangle 149">
              <a:extLst>
                <a:ext uri="{FF2B5EF4-FFF2-40B4-BE49-F238E27FC236}">
                  <a16:creationId xmlns:a16="http://schemas.microsoft.com/office/drawing/2014/main" id="{B2E27610-9FF6-4AE2-B2EA-856EDDE8AF26}"/>
                </a:ext>
              </a:extLst>
            </p:cNvPr>
            <p:cNvSpPr/>
            <p:nvPr/>
          </p:nvSpPr>
          <p:spPr>
            <a:xfrm rot="5400000">
              <a:off x="1817303" y="5406931"/>
              <a:ext cx="319649" cy="1062471"/>
            </a:xfrm>
            <a:prstGeom prst="rect">
              <a:avLst/>
            </a:prstGeom>
            <a:solidFill>
              <a:srgbClr val="6D207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7200" tIns="7200" rIns="7200" bIns="7200" rtlCol="0" anchor="ctr"/>
            <a:lstStyle/>
            <a:p>
              <a:pPr algn="ctr"/>
              <a:r>
                <a:rPr lang="en-GB" sz="900" b="1"/>
                <a:t>End Customer</a:t>
              </a:r>
            </a:p>
          </p:txBody>
        </p:sp>
        <p:sp>
          <p:nvSpPr>
            <p:cNvPr id="151" name="Rectangle 150">
              <a:extLst>
                <a:ext uri="{FF2B5EF4-FFF2-40B4-BE49-F238E27FC236}">
                  <a16:creationId xmlns:a16="http://schemas.microsoft.com/office/drawing/2014/main" id="{9DED5663-4706-4196-AFA4-109855A247B4}"/>
                </a:ext>
              </a:extLst>
            </p:cNvPr>
            <p:cNvSpPr/>
            <p:nvPr/>
          </p:nvSpPr>
          <p:spPr>
            <a:xfrm>
              <a:off x="2423249" y="3892606"/>
              <a:ext cx="1062471" cy="3128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Suppliers</a:t>
              </a:r>
            </a:p>
          </p:txBody>
        </p:sp>
        <p:sp>
          <p:nvSpPr>
            <p:cNvPr id="152" name="Rectangle 151">
              <a:extLst>
                <a:ext uri="{FF2B5EF4-FFF2-40B4-BE49-F238E27FC236}">
                  <a16:creationId xmlns:a16="http://schemas.microsoft.com/office/drawing/2014/main" id="{AD123B75-3BA1-4F7F-9D9B-650930200A58}"/>
                </a:ext>
              </a:extLst>
            </p:cNvPr>
            <p:cNvSpPr/>
            <p:nvPr/>
          </p:nvSpPr>
          <p:spPr>
            <a:xfrm>
              <a:off x="2423248" y="4303653"/>
              <a:ext cx="1062471" cy="312849"/>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 3PL warehouse</a:t>
              </a:r>
            </a:p>
          </p:txBody>
        </p:sp>
        <p:cxnSp>
          <p:nvCxnSpPr>
            <p:cNvPr id="153" name="Straight Arrow Connector 152">
              <a:extLst>
                <a:ext uri="{FF2B5EF4-FFF2-40B4-BE49-F238E27FC236}">
                  <a16:creationId xmlns:a16="http://schemas.microsoft.com/office/drawing/2014/main" id="{314A7EE5-4020-47C7-A017-565E32DAFD12}"/>
                </a:ext>
              </a:extLst>
            </p:cNvPr>
            <p:cNvCxnSpPr>
              <a:cxnSpLocks/>
              <a:stCxn id="151" idx="2"/>
              <a:endCxn id="152" idx="0"/>
            </p:cNvCxnSpPr>
            <p:nvPr/>
          </p:nvCxnSpPr>
          <p:spPr>
            <a:xfrm flipH="1">
              <a:off x="2954484" y="4205455"/>
              <a:ext cx="1" cy="98198"/>
            </a:xfrm>
            <a:prstGeom prst="straightConnector1">
              <a:avLst/>
            </a:prstGeom>
            <a:ln>
              <a:headEnd w="med" len="sm"/>
              <a:tailEnd type="triangle" w="med" len="sm"/>
            </a:ln>
          </p:spPr>
          <p:style>
            <a:lnRef idx="1">
              <a:schemeClr val="accent5"/>
            </a:lnRef>
            <a:fillRef idx="0">
              <a:schemeClr val="accent5"/>
            </a:fillRef>
            <a:effectRef idx="0">
              <a:schemeClr val="accent5"/>
            </a:effectRef>
            <a:fontRef idx="minor">
              <a:schemeClr val="tx1"/>
            </a:fontRef>
          </p:style>
        </p:cxnSp>
        <p:sp>
          <p:nvSpPr>
            <p:cNvPr id="160" name="Rectangle 159">
              <a:extLst>
                <a:ext uri="{FF2B5EF4-FFF2-40B4-BE49-F238E27FC236}">
                  <a16:creationId xmlns:a16="http://schemas.microsoft.com/office/drawing/2014/main" id="{662852FD-C3C5-4B01-BE1F-7B7D8276EFBD}"/>
                </a:ext>
              </a:extLst>
            </p:cNvPr>
            <p:cNvSpPr/>
            <p:nvPr/>
          </p:nvSpPr>
          <p:spPr>
            <a:xfrm>
              <a:off x="270562" y="5149879"/>
              <a:ext cx="1062471" cy="31284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Online</a:t>
              </a:r>
            </a:p>
          </p:txBody>
        </p:sp>
        <p:sp>
          <p:nvSpPr>
            <p:cNvPr id="182" name="Rectangle 181">
              <a:extLst>
                <a:ext uri="{FF2B5EF4-FFF2-40B4-BE49-F238E27FC236}">
                  <a16:creationId xmlns:a16="http://schemas.microsoft.com/office/drawing/2014/main" id="{0D809FDB-1401-41B1-82BE-48FFD7D8700D}"/>
                </a:ext>
              </a:extLst>
            </p:cNvPr>
            <p:cNvSpPr/>
            <p:nvPr/>
          </p:nvSpPr>
          <p:spPr>
            <a:xfrm>
              <a:off x="2608755" y="5152176"/>
              <a:ext cx="1062471" cy="31284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Concessions</a:t>
              </a:r>
            </a:p>
          </p:txBody>
        </p:sp>
        <p:cxnSp>
          <p:nvCxnSpPr>
            <p:cNvPr id="183" name="Elbow Connector 130">
              <a:extLst>
                <a:ext uri="{FF2B5EF4-FFF2-40B4-BE49-F238E27FC236}">
                  <a16:creationId xmlns:a16="http://schemas.microsoft.com/office/drawing/2014/main" id="{5CF6F497-D2B6-4B42-8975-CAED9AFEBF48}"/>
                </a:ext>
              </a:extLst>
            </p:cNvPr>
            <p:cNvCxnSpPr>
              <a:cxnSpLocks/>
              <a:stCxn id="152" idx="2"/>
              <a:endCxn id="160" idx="0"/>
            </p:cNvCxnSpPr>
            <p:nvPr/>
          </p:nvCxnSpPr>
          <p:spPr>
            <a:xfrm rot="5400000">
              <a:off x="1611453" y="3806847"/>
              <a:ext cx="533377" cy="2152686"/>
            </a:xfrm>
            <a:prstGeom prst="bentConnector3">
              <a:avLst>
                <a:gd name="adj1" fmla="val 16325"/>
              </a:avLst>
            </a:prstGeom>
            <a:ln w="12700">
              <a:solidFill>
                <a:srgbClr val="C6007E"/>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4" name="Elbow Connector 133">
              <a:extLst>
                <a:ext uri="{FF2B5EF4-FFF2-40B4-BE49-F238E27FC236}">
                  <a16:creationId xmlns:a16="http://schemas.microsoft.com/office/drawing/2014/main" id="{92F2A0CA-DA0F-480B-B74D-A2688DD6570E}"/>
                </a:ext>
              </a:extLst>
            </p:cNvPr>
            <p:cNvCxnSpPr>
              <a:cxnSpLocks/>
              <a:stCxn id="152" idx="2"/>
              <a:endCxn id="182" idx="0"/>
            </p:cNvCxnSpPr>
            <p:nvPr/>
          </p:nvCxnSpPr>
          <p:spPr>
            <a:xfrm rot="16200000" flipH="1">
              <a:off x="2779400" y="4791585"/>
              <a:ext cx="535674" cy="185507"/>
            </a:xfrm>
            <a:prstGeom prst="bentConnector3">
              <a:avLst>
                <a:gd name="adj1" fmla="val 16470"/>
              </a:avLst>
            </a:prstGeom>
            <a:ln w="12700">
              <a:solidFill>
                <a:srgbClr val="C6007E"/>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5" name="Straight Arrow Connector 81">
              <a:extLst>
                <a:ext uri="{FF2B5EF4-FFF2-40B4-BE49-F238E27FC236}">
                  <a16:creationId xmlns:a16="http://schemas.microsoft.com/office/drawing/2014/main" id="{C7F161C7-BB2C-433A-9BE6-9AD360278167}"/>
                </a:ext>
              </a:extLst>
            </p:cNvPr>
            <p:cNvCxnSpPr>
              <a:cxnSpLocks/>
              <a:stCxn id="152" idx="2"/>
              <a:endCxn id="190" idx="0"/>
            </p:cNvCxnSpPr>
            <p:nvPr/>
          </p:nvCxnSpPr>
          <p:spPr>
            <a:xfrm rot="5400000">
              <a:off x="2196237" y="4401371"/>
              <a:ext cx="543116" cy="973378"/>
            </a:xfrm>
            <a:prstGeom prst="bentConnector3">
              <a:avLst>
                <a:gd name="adj1" fmla="val 14925"/>
              </a:avLst>
            </a:prstGeom>
            <a:ln w="12700">
              <a:solidFill>
                <a:srgbClr val="C6007E"/>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6" name="Elbow Connector 164">
              <a:extLst>
                <a:ext uri="{FF2B5EF4-FFF2-40B4-BE49-F238E27FC236}">
                  <a16:creationId xmlns:a16="http://schemas.microsoft.com/office/drawing/2014/main" id="{ED0FDF36-57BB-45BD-A1EB-2862E0BFD154}"/>
                </a:ext>
              </a:extLst>
            </p:cNvPr>
            <p:cNvCxnSpPr>
              <a:cxnSpLocks/>
              <a:stCxn id="182" idx="2"/>
              <a:endCxn id="150" idx="0"/>
            </p:cNvCxnSpPr>
            <p:nvPr/>
          </p:nvCxnSpPr>
          <p:spPr>
            <a:xfrm rot="5400000">
              <a:off x="2587606" y="5385782"/>
              <a:ext cx="473142" cy="631628"/>
            </a:xfrm>
            <a:prstGeom prst="bentConnector2">
              <a:avLst/>
            </a:prstGeom>
            <a:ln>
              <a:headEnd w="med" len="sm"/>
              <a:tailEnd type="triangle" w="med" len="sm"/>
            </a:ln>
          </p:spPr>
          <p:style>
            <a:lnRef idx="1">
              <a:schemeClr val="accent4"/>
            </a:lnRef>
            <a:fillRef idx="0">
              <a:schemeClr val="accent4"/>
            </a:fillRef>
            <a:effectRef idx="0">
              <a:schemeClr val="accent4"/>
            </a:effectRef>
            <a:fontRef idx="minor">
              <a:schemeClr val="tx1"/>
            </a:fontRef>
          </p:style>
        </p:cxnSp>
        <p:cxnSp>
          <p:nvCxnSpPr>
            <p:cNvPr id="187" name="Elbow Connector 168">
              <a:extLst>
                <a:ext uri="{FF2B5EF4-FFF2-40B4-BE49-F238E27FC236}">
                  <a16:creationId xmlns:a16="http://schemas.microsoft.com/office/drawing/2014/main" id="{209F31AE-B75E-4E7F-BFB0-FDD72B4C30BB}"/>
                </a:ext>
              </a:extLst>
            </p:cNvPr>
            <p:cNvCxnSpPr>
              <a:cxnSpLocks/>
              <a:stCxn id="160" idx="2"/>
              <a:endCxn id="150" idx="2"/>
            </p:cNvCxnSpPr>
            <p:nvPr/>
          </p:nvCxnSpPr>
          <p:spPr>
            <a:xfrm rot="16200000" flipH="1">
              <a:off x="886126" y="5378400"/>
              <a:ext cx="475439" cy="644094"/>
            </a:xfrm>
            <a:prstGeom prst="bentConnector2">
              <a:avLst/>
            </a:prstGeom>
            <a:ln>
              <a:headEnd w="med" len="sm"/>
              <a:tailEnd type="triangle" w="med" len="sm"/>
            </a:ln>
          </p:spPr>
          <p:style>
            <a:lnRef idx="1">
              <a:schemeClr val="accent4"/>
            </a:lnRef>
            <a:fillRef idx="0">
              <a:schemeClr val="accent4"/>
            </a:fillRef>
            <a:effectRef idx="0">
              <a:schemeClr val="accent4"/>
            </a:effectRef>
            <a:fontRef idx="minor">
              <a:schemeClr val="tx1"/>
            </a:fontRef>
          </p:style>
        </p:cxnSp>
        <p:sp>
          <p:nvSpPr>
            <p:cNvPr id="190" name="Rectangle 189">
              <a:extLst>
                <a:ext uri="{FF2B5EF4-FFF2-40B4-BE49-F238E27FC236}">
                  <a16:creationId xmlns:a16="http://schemas.microsoft.com/office/drawing/2014/main" id="{E94671E7-F082-441B-B9B2-5274B1B2E68F}"/>
                </a:ext>
              </a:extLst>
            </p:cNvPr>
            <p:cNvSpPr/>
            <p:nvPr/>
          </p:nvSpPr>
          <p:spPr>
            <a:xfrm>
              <a:off x="1449870" y="5159618"/>
              <a:ext cx="1062471" cy="31284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err="1"/>
                <a:t>yy</a:t>
              </a:r>
              <a:r>
                <a:rPr lang="en-GB" sz="1000" b="1" dirty="0"/>
                <a:t> boutiques</a:t>
              </a:r>
            </a:p>
          </p:txBody>
        </p:sp>
        <p:cxnSp>
          <p:nvCxnSpPr>
            <p:cNvPr id="191" name="Straight Arrow Connector 190">
              <a:extLst>
                <a:ext uri="{FF2B5EF4-FFF2-40B4-BE49-F238E27FC236}">
                  <a16:creationId xmlns:a16="http://schemas.microsoft.com/office/drawing/2014/main" id="{B55E7DAE-1264-4084-A75B-38E3997F1942}"/>
                </a:ext>
              </a:extLst>
            </p:cNvPr>
            <p:cNvCxnSpPr>
              <a:cxnSpLocks/>
              <a:stCxn id="190" idx="2"/>
              <a:endCxn id="150" idx="1"/>
            </p:cNvCxnSpPr>
            <p:nvPr/>
          </p:nvCxnSpPr>
          <p:spPr>
            <a:xfrm flipH="1">
              <a:off x="1977127" y="5472467"/>
              <a:ext cx="3979" cy="305875"/>
            </a:xfrm>
            <a:prstGeom prst="straightConnector1">
              <a:avLst/>
            </a:prstGeom>
            <a:ln>
              <a:headEnd w="med" len="sm"/>
              <a:tailEnd type="triangle" w="med" len="sm"/>
            </a:ln>
          </p:spPr>
          <p:style>
            <a:lnRef idx="1">
              <a:schemeClr val="accent4"/>
            </a:lnRef>
            <a:fillRef idx="0">
              <a:schemeClr val="accent4"/>
            </a:fillRef>
            <a:effectRef idx="0">
              <a:schemeClr val="accent4"/>
            </a:effectRef>
            <a:fontRef idx="minor">
              <a:schemeClr val="tx1"/>
            </a:fontRef>
          </p:style>
        </p:cxnSp>
        <p:sp>
          <p:nvSpPr>
            <p:cNvPr id="192" name="Rectangle 191">
              <a:extLst>
                <a:ext uri="{FF2B5EF4-FFF2-40B4-BE49-F238E27FC236}">
                  <a16:creationId xmlns:a16="http://schemas.microsoft.com/office/drawing/2014/main" id="{0C44A0BE-2D5E-47B0-BB63-BCBDE3502A52}"/>
                </a:ext>
              </a:extLst>
            </p:cNvPr>
            <p:cNvSpPr/>
            <p:nvPr/>
          </p:nvSpPr>
          <p:spPr>
            <a:xfrm>
              <a:off x="3767639" y="4782437"/>
              <a:ext cx="1326067" cy="312849"/>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Department store A warehouse</a:t>
              </a:r>
            </a:p>
          </p:txBody>
        </p:sp>
        <p:cxnSp>
          <p:nvCxnSpPr>
            <p:cNvPr id="193" name="Elbow Connector 133">
              <a:extLst>
                <a:ext uri="{FF2B5EF4-FFF2-40B4-BE49-F238E27FC236}">
                  <a16:creationId xmlns:a16="http://schemas.microsoft.com/office/drawing/2014/main" id="{6E313A88-A6FE-4E96-94FD-48A09C2517E6}"/>
                </a:ext>
              </a:extLst>
            </p:cNvPr>
            <p:cNvCxnSpPr>
              <a:cxnSpLocks/>
              <a:stCxn id="152" idx="2"/>
              <a:endCxn id="192" idx="0"/>
            </p:cNvCxnSpPr>
            <p:nvPr/>
          </p:nvCxnSpPr>
          <p:spPr>
            <a:xfrm rot="16200000" flipH="1">
              <a:off x="3609611" y="3961374"/>
              <a:ext cx="165935" cy="1476189"/>
            </a:xfrm>
            <a:prstGeom prst="bentConnector3">
              <a:avLst>
                <a:gd name="adj1" fmla="val 50000"/>
              </a:avLst>
            </a:prstGeom>
            <a:ln w="12700">
              <a:solidFill>
                <a:srgbClr val="C6007E"/>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94" name="Elbow Connector 164">
              <a:extLst>
                <a:ext uri="{FF2B5EF4-FFF2-40B4-BE49-F238E27FC236}">
                  <a16:creationId xmlns:a16="http://schemas.microsoft.com/office/drawing/2014/main" id="{A495A610-8FAA-444F-A9FA-1B4044EDC90C}"/>
                </a:ext>
              </a:extLst>
            </p:cNvPr>
            <p:cNvCxnSpPr>
              <a:cxnSpLocks/>
              <a:stCxn id="195" idx="2"/>
              <a:endCxn id="150" idx="0"/>
            </p:cNvCxnSpPr>
            <p:nvPr/>
          </p:nvCxnSpPr>
          <p:spPr>
            <a:xfrm rot="5400000">
              <a:off x="3234103" y="4746728"/>
              <a:ext cx="465700" cy="1917179"/>
            </a:xfrm>
            <a:prstGeom prst="bentConnector2">
              <a:avLst/>
            </a:prstGeom>
            <a:ln>
              <a:headEnd w="med" len="sm"/>
              <a:tailEnd type="triangle" w="med" len="sm"/>
            </a:ln>
          </p:spPr>
          <p:style>
            <a:lnRef idx="1">
              <a:schemeClr val="accent4"/>
            </a:lnRef>
            <a:fillRef idx="0">
              <a:schemeClr val="accent4"/>
            </a:fillRef>
            <a:effectRef idx="0">
              <a:schemeClr val="accent4"/>
            </a:effectRef>
            <a:fontRef idx="minor">
              <a:schemeClr val="tx1"/>
            </a:fontRef>
          </p:style>
        </p:cxnSp>
        <p:sp>
          <p:nvSpPr>
            <p:cNvPr id="195" name="Rectangle 194">
              <a:extLst>
                <a:ext uri="{FF2B5EF4-FFF2-40B4-BE49-F238E27FC236}">
                  <a16:creationId xmlns:a16="http://schemas.microsoft.com/office/drawing/2014/main" id="{0D174BA9-C186-45CE-87E0-8076F77BE47B}"/>
                </a:ext>
              </a:extLst>
            </p:cNvPr>
            <p:cNvSpPr/>
            <p:nvPr/>
          </p:nvSpPr>
          <p:spPr>
            <a:xfrm>
              <a:off x="3767640" y="5159618"/>
              <a:ext cx="1315804" cy="31284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a:t>Department store A online</a:t>
              </a:r>
            </a:p>
          </p:txBody>
        </p:sp>
        <p:cxnSp>
          <p:nvCxnSpPr>
            <p:cNvPr id="196" name="Elbow Connector 133">
              <a:extLst>
                <a:ext uri="{FF2B5EF4-FFF2-40B4-BE49-F238E27FC236}">
                  <a16:creationId xmlns:a16="http://schemas.microsoft.com/office/drawing/2014/main" id="{FB49B27E-1A12-4F3A-920F-D54A03A0EF5F}"/>
                </a:ext>
              </a:extLst>
            </p:cNvPr>
            <p:cNvCxnSpPr>
              <a:cxnSpLocks/>
              <a:stCxn id="192" idx="2"/>
              <a:endCxn id="195" idx="0"/>
            </p:cNvCxnSpPr>
            <p:nvPr/>
          </p:nvCxnSpPr>
          <p:spPr>
            <a:xfrm rot="5400000">
              <a:off x="4395942" y="5124887"/>
              <a:ext cx="64332" cy="5131"/>
            </a:xfrm>
            <a:prstGeom prst="bentConnector3">
              <a:avLst>
                <a:gd name="adj1" fmla="val 50000"/>
              </a:avLst>
            </a:prstGeom>
            <a:ln w="12700">
              <a:solidFill>
                <a:srgbClr val="C6007E"/>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197" name="TextBox 196">
            <a:extLst>
              <a:ext uri="{FF2B5EF4-FFF2-40B4-BE49-F238E27FC236}">
                <a16:creationId xmlns:a16="http://schemas.microsoft.com/office/drawing/2014/main" id="{6E5219E2-C88F-4333-AD03-D0E9C7C149D9}"/>
              </a:ext>
            </a:extLst>
          </p:cNvPr>
          <p:cNvSpPr txBox="1">
            <a:spLocks/>
          </p:cNvSpPr>
          <p:nvPr/>
        </p:nvSpPr>
        <p:spPr>
          <a:xfrm>
            <a:off x="6232738" y="3722351"/>
            <a:ext cx="497497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Logistics operations</a:t>
            </a:r>
          </a:p>
        </p:txBody>
      </p:sp>
      <p:sp>
        <p:nvSpPr>
          <p:cNvPr id="2" name="UpSlide SubSection Marker" hidden="1">
            <a:extLst>
              <a:ext uri="{FF2B5EF4-FFF2-40B4-BE49-F238E27FC236}">
                <a16:creationId xmlns:a16="http://schemas.microsoft.com/office/drawing/2014/main" id="{2355BF9E-4951-44B6-81E3-C744A50178B2}"/>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overview</a:t>
            </a:r>
            <a:endParaRPr lang="en-GB" sz="900" dirty="0">
              <a:solidFill>
                <a:schemeClr val="bg1"/>
              </a:solidFill>
            </a:endParaRPr>
          </a:p>
        </p:txBody>
      </p:sp>
      <p:grpSp>
        <p:nvGrpSpPr>
          <p:cNvPr id="45" name="Group 44">
            <a:extLst>
              <a:ext uri="{FF2B5EF4-FFF2-40B4-BE49-F238E27FC236}">
                <a16:creationId xmlns:a16="http://schemas.microsoft.com/office/drawing/2014/main" id="{7E563A72-CF12-4F27-BA5F-76011D5720BA}"/>
              </a:ext>
            </a:extLst>
          </p:cNvPr>
          <p:cNvGrpSpPr/>
          <p:nvPr>
            <p:custDataLst>
              <p:tags r:id="rId3"/>
            </p:custDataLst>
          </p:nvPr>
        </p:nvGrpSpPr>
        <p:grpSpPr>
          <a:xfrm>
            <a:off x="995364" y="153170"/>
            <a:ext cx="6245240" cy="195814"/>
            <a:chOff x="995364" y="153170"/>
            <a:chExt cx="6245240" cy="195814"/>
          </a:xfrm>
        </p:grpSpPr>
        <p:sp>
          <p:nvSpPr>
            <p:cNvPr id="46" name="Current Section1">
              <a:hlinkClick r:id="rId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7"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8"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9"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0"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1"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75055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Table 77">
            <a:extLst>
              <a:ext uri="{FF2B5EF4-FFF2-40B4-BE49-F238E27FC236}">
                <a16:creationId xmlns:a16="http://schemas.microsoft.com/office/drawing/2014/main" id="{F728A125-36DD-450A-8471-42ECF62029B9}"/>
              </a:ext>
            </a:extLst>
          </p:cNvPr>
          <p:cNvGraphicFramePr>
            <a:graphicFrameLocks noGrp="1"/>
          </p:cNvGraphicFramePr>
          <p:nvPr/>
        </p:nvGraphicFramePr>
        <p:xfrm>
          <a:off x="3182703" y="4348815"/>
          <a:ext cx="1014648" cy="346320"/>
        </p:xfrm>
        <a:graphic>
          <a:graphicData uri="http://schemas.openxmlformats.org/drawingml/2006/table">
            <a:tbl>
              <a:tblPr firstRow="1" bandRow="1">
                <a:tableStyleId>{5C22544A-7EE6-4342-B048-85BDC9FD1C3A}</a:tableStyleId>
              </a:tblPr>
              <a:tblGrid>
                <a:gridCol w="1014648">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AOV</a:t>
                      </a:r>
                    </a:p>
                  </a:txBody>
                  <a:tcPr marL="25200" marR="25200" marT="18000" marB="18000"/>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£142</a:t>
                      </a:r>
                    </a:p>
                  </a:txBody>
                  <a:tcPr marL="25200" marR="25200" marT="18000" marB="18000"/>
                </a:tc>
                <a:extLst>
                  <a:ext uri="{0D108BD9-81ED-4DB2-BD59-A6C34878D82A}">
                    <a16:rowId xmlns:a16="http://schemas.microsoft.com/office/drawing/2014/main" val="10001"/>
                  </a:ext>
                </a:extLst>
              </a:tr>
            </a:tbl>
          </a:graphicData>
        </a:graphic>
      </p:graphicFrame>
      <p:cxnSp>
        <p:nvCxnSpPr>
          <p:cNvPr id="107" name="Straight Connector 106">
            <a:extLst>
              <a:ext uri="{FF2B5EF4-FFF2-40B4-BE49-F238E27FC236}">
                <a16:creationId xmlns:a16="http://schemas.microsoft.com/office/drawing/2014/main" id="{476B8378-D752-49C0-ABA7-893345790E9A}"/>
              </a:ext>
            </a:extLst>
          </p:cNvPr>
          <p:cNvCxnSpPr>
            <a:cxnSpLocks/>
            <a:stCxn id="78" idx="3"/>
            <a:endCxn id="106" idx="1"/>
          </p:cNvCxnSpPr>
          <p:nvPr/>
        </p:nvCxnSpPr>
        <p:spPr>
          <a:xfrm>
            <a:off x="4197351" y="4521975"/>
            <a:ext cx="505914" cy="132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B197C69-CFFB-4C0D-904B-9EA03971ADCE}"/>
              </a:ext>
            </a:extLst>
          </p:cNvPr>
          <p:cNvSpPr>
            <a:spLocks noGrp="1"/>
          </p:cNvSpPr>
          <p:nvPr>
            <p:ph type="title"/>
          </p:nvPr>
        </p:nvSpPr>
        <p:spPr/>
        <p:txBody>
          <a:bodyPr vert="horz"/>
          <a:lstStyle/>
          <a:p>
            <a:r>
              <a:rPr lang="en-US" dirty="0"/>
              <a:t>Online sales drivers</a:t>
            </a:r>
          </a:p>
        </p:txBody>
      </p:sp>
      <p:sp>
        <p:nvSpPr>
          <p:cNvPr id="2" name="Text Placeholder 1">
            <a:extLst>
              <a:ext uri="{FF2B5EF4-FFF2-40B4-BE49-F238E27FC236}">
                <a16:creationId xmlns:a16="http://schemas.microsoft.com/office/drawing/2014/main" id="{10F228BE-0A7F-417F-B472-D593620C9A2B}"/>
              </a:ext>
            </a:extLst>
          </p:cNvPr>
          <p:cNvSpPr>
            <a:spLocks noGrp="1"/>
          </p:cNvSpPr>
          <p:nvPr>
            <p:ph type="body" sz="quarter" idx="10"/>
          </p:nvPr>
        </p:nvSpPr>
        <p:spPr/>
        <p:txBody>
          <a:bodyPr/>
          <a:lstStyle/>
          <a:p>
            <a:pPr>
              <a:spcAft>
                <a:spcPts val="400"/>
              </a:spcAft>
            </a:pPr>
            <a:r>
              <a:rPr lang="en-GB" sz="1000" dirty="0"/>
              <a:t>The key drivers of online sales are traffic, and the associated marketing cost, conversion and average order value. Y’s primary source of traffic is organic and email, driving 27.7% and 19.1% of website traffic in LTM22 respectively. Online sales represents product sales net of VAT and marked down discounts. The cost per acquisition was £72 in LTM22, with acquisition costs relating to brochures and digital media.</a:t>
            </a:r>
          </a:p>
          <a:p>
            <a:endParaRPr lang="en-GB" dirty="0"/>
          </a:p>
        </p:txBody>
      </p:sp>
      <p:graphicFrame>
        <p:nvGraphicFramePr>
          <p:cNvPr id="59" name="Table 58">
            <a:extLst>
              <a:ext uri="{FF2B5EF4-FFF2-40B4-BE49-F238E27FC236}">
                <a16:creationId xmlns:a16="http://schemas.microsoft.com/office/drawing/2014/main" id="{BCD99CC1-8752-4B75-9763-441836E9C3B9}"/>
              </a:ext>
            </a:extLst>
          </p:cNvPr>
          <p:cNvGraphicFramePr>
            <a:graphicFrameLocks noGrp="1"/>
          </p:cNvGraphicFramePr>
          <p:nvPr/>
        </p:nvGraphicFramePr>
        <p:xfrm>
          <a:off x="9666594" y="2418145"/>
          <a:ext cx="1234396" cy="346320"/>
        </p:xfrm>
        <a:graphic>
          <a:graphicData uri="http://schemas.openxmlformats.org/drawingml/2006/table">
            <a:tbl>
              <a:tblPr firstRow="1" bandRow="1">
                <a:tableStyleId>{93296810-A885-4BE3-A3E7-6D5BEEA58F35}</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a:solidFill>
                            <a:schemeClr val="bg1"/>
                          </a:solidFill>
                        </a:rPr>
                        <a:t>Organic</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43.4%</a:t>
                      </a:r>
                    </a:p>
                  </a:txBody>
                  <a:tcPr marL="25200" marR="25200" marT="18000" marB="18000"/>
                </a:tc>
                <a:tc>
                  <a:txBody>
                    <a:bodyPr/>
                    <a:lstStyle/>
                    <a:p>
                      <a:pPr algn="ctr"/>
                      <a:r>
                        <a:rPr lang="en-GB" sz="900" u="none" dirty="0">
                          <a:solidFill>
                            <a:schemeClr val="tx1"/>
                          </a:solidFill>
                        </a:rPr>
                        <a:t>3.3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60" name="Table 59">
            <a:extLst>
              <a:ext uri="{FF2B5EF4-FFF2-40B4-BE49-F238E27FC236}">
                <a16:creationId xmlns:a16="http://schemas.microsoft.com/office/drawing/2014/main" id="{FBE0C9C1-A4CD-4317-B247-3AAA91DF525B}"/>
              </a:ext>
            </a:extLst>
          </p:cNvPr>
          <p:cNvGraphicFramePr>
            <a:graphicFrameLocks noGrp="1"/>
          </p:cNvGraphicFramePr>
          <p:nvPr/>
        </p:nvGraphicFramePr>
        <p:xfrm>
          <a:off x="9670836" y="1923171"/>
          <a:ext cx="1234396" cy="346320"/>
        </p:xfrm>
        <a:graphic>
          <a:graphicData uri="http://schemas.openxmlformats.org/drawingml/2006/table">
            <a:tbl>
              <a:tblPr firstRow="1" bandRow="1">
                <a:tableStyleId>{93296810-A885-4BE3-A3E7-6D5BEEA58F35}</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Email</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29.9%</a:t>
                      </a:r>
                    </a:p>
                  </a:txBody>
                  <a:tcPr marL="25200" marR="25200" marT="18000" marB="18000"/>
                </a:tc>
                <a:tc>
                  <a:txBody>
                    <a:bodyPr/>
                    <a:lstStyle/>
                    <a:p>
                      <a:pPr algn="ctr"/>
                      <a:r>
                        <a:rPr lang="en-GB" sz="900" u="none" dirty="0">
                          <a:solidFill>
                            <a:schemeClr val="tx1"/>
                          </a:solidFill>
                        </a:rPr>
                        <a:t>2.3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61" name="Table 60">
            <a:extLst>
              <a:ext uri="{FF2B5EF4-FFF2-40B4-BE49-F238E27FC236}">
                <a16:creationId xmlns:a16="http://schemas.microsoft.com/office/drawing/2014/main" id="{2F506AD1-4B9D-4FD0-99A1-954AEE03C0C6}"/>
              </a:ext>
            </a:extLst>
          </p:cNvPr>
          <p:cNvGraphicFramePr>
            <a:graphicFrameLocks noGrp="1"/>
          </p:cNvGraphicFramePr>
          <p:nvPr/>
        </p:nvGraphicFramePr>
        <p:xfrm>
          <a:off x="9663687" y="2913119"/>
          <a:ext cx="1234396" cy="346320"/>
        </p:xfrm>
        <a:graphic>
          <a:graphicData uri="http://schemas.openxmlformats.org/drawingml/2006/table">
            <a:tbl>
              <a:tblPr firstRow="1" bandRow="1">
                <a:tableStyleId>{93296810-A885-4BE3-A3E7-6D5BEEA58F35}</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a:solidFill>
                            <a:schemeClr val="bg1"/>
                          </a:solidFill>
                        </a:rPr>
                        <a:t>Direct</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15.3%</a:t>
                      </a:r>
                    </a:p>
                  </a:txBody>
                  <a:tcPr marL="25200" marR="25200" marT="18000" marB="18000"/>
                </a:tc>
                <a:tc>
                  <a:txBody>
                    <a:bodyPr/>
                    <a:lstStyle/>
                    <a:p>
                      <a:pPr algn="ctr"/>
                      <a:r>
                        <a:rPr lang="en-GB" sz="900" u="none" dirty="0">
                          <a:solidFill>
                            <a:schemeClr val="tx1"/>
                          </a:solidFill>
                        </a:rPr>
                        <a:t>1.2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62" name="Table 61">
            <a:extLst>
              <a:ext uri="{FF2B5EF4-FFF2-40B4-BE49-F238E27FC236}">
                <a16:creationId xmlns:a16="http://schemas.microsoft.com/office/drawing/2014/main" id="{BFD99F96-3149-40C2-97B3-6A903487C98B}"/>
              </a:ext>
            </a:extLst>
          </p:cNvPr>
          <p:cNvGraphicFramePr>
            <a:graphicFrameLocks noGrp="1"/>
          </p:cNvGraphicFramePr>
          <p:nvPr/>
        </p:nvGraphicFramePr>
        <p:xfrm>
          <a:off x="9655995" y="3984227"/>
          <a:ext cx="1234396" cy="346320"/>
        </p:xfrm>
        <a:graphic>
          <a:graphicData uri="http://schemas.openxmlformats.org/drawingml/2006/table">
            <a:tbl>
              <a:tblPr firstRow="1" bandRow="1">
                <a:tableStyleId>{F5AB1C69-6EDB-4FF4-983F-18BD219EF322}</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Paid social</a:t>
                      </a:r>
                    </a:p>
                  </a:txBody>
                  <a:tcPr marL="25200" marR="25200" marT="18000" marB="18000">
                    <a:solidFill>
                      <a:srgbClr val="ACEAFF"/>
                    </a:solidFill>
                  </a:tcPr>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79.3%</a:t>
                      </a:r>
                    </a:p>
                  </a:txBody>
                  <a:tcPr marL="25200" marR="25200" marT="18000" marB="18000">
                    <a:solidFill>
                      <a:srgbClr val="ACEAFF">
                        <a:alpha val="24000"/>
                      </a:srgbClr>
                    </a:solidFill>
                  </a:tcPr>
                </a:tc>
                <a:tc>
                  <a:txBody>
                    <a:bodyPr/>
                    <a:lstStyle/>
                    <a:p>
                      <a:pPr algn="ctr"/>
                      <a:r>
                        <a:rPr lang="en-GB" sz="900" u="none" dirty="0">
                          <a:solidFill>
                            <a:schemeClr val="tx1"/>
                          </a:solidFill>
                        </a:rPr>
                        <a:t>3.4 million</a:t>
                      </a:r>
                    </a:p>
                  </a:txBody>
                  <a:tcPr marL="25200" marR="25200" marT="18000" marB="18000">
                    <a:solidFill>
                      <a:srgbClr val="ACEAFF">
                        <a:alpha val="24000"/>
                      </a:srgbClr>
                    </a:solid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51727D34-213C-4330-BF3A-4D0BB2CA72FB}"/>
              </a:ext>
            </a:extLst>
          </p:cNvPr>
          <p:cNvGraphicFramePr>
            <a:graphicFrameLocks noGrp="1"/>
          </p:cNvGraphicFramePr>
          <p:nvPr/>
        </p:nvGraphicFramePr>
        <p:xfrm>
          <a:off x="9655995" y="4475741"/>
          <a:ext cx="1234396" cy="346320"/>
        </p:xfrm>
        <a:graphic>
          <a:graphicData uri="http://schemas.openxmlformats.org/drawingml/2006/table">
            <a:tbl>
              <a:tblPr firstRow="1" bandRow="1">
                <a:tableStyleId>{F5AB1C69-6EDB-4FF4-983F-18BD219EF322}</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Paid search </a:t>
                      </a:r>
                    </a:p>
                  </a:txBody>
                  <a:tcPr marL="25200" marR="25200" marT="18000" marB="18000">
                    <a:solidFill>
                      <a:srgbClr val="ACEAFF"/>
                    </a:solidFill>
                  </a:tcPr>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20.7%</a:t>
                      </a:r>
                    </a:p>
                  </a:txBody>
                  <a:tcPr marL="25200" marR="25200" marT="18000" marB="18000">
                    <a:solidFill>
                      <a:srgbClr val="ACEAFF">
                        <a:alpha val="24000"/>
                      </a:srgbClr>
                    </a:solidFill>
                  </a:tcPr>
                </a:tc>
                <a:tc>
                  <a:txBody>
                    <a:bodyPr/>
                    <a:lstStyle/>
                    <a:p>
                      <a:pPr algn="ctr"/>
                      <a:r>
                        <a:rPr lang="en-GB" sz="900" u="none" dirty="0">
                          <a:solidFill>
                            <a:schemeClr val="tx1"/>
                          </a:solidFill>
                        </a:rPr>
                        <a:t>0.9 million</a:t>
                      </a:r>
                    </a:p>
                  </a:txBody>
                  <a:tcPr marL="25200" marR="25200" marT="18000" marB="18000">
                    <a:solidFill>
                      <a:srgbClr val="ACEAFF">
                        <a:alpha val="24000"/>
                      </a:srgbClr>
                    </a:solidFill>
                  </a:tcPr>
                </a:tc>
                <a:extLst>
                  <a:ext uri="{0D108BD9-81ED-4DB2-BD59-A6C34878D82A}">
                    <a16:rowId xmlns:a16="http://schemas.microsoft.com/office/drawing/2014/main" val="10001"/>
                  </a:ext>
                </a:extLst>
              </a:tr>
            </a:tbl>
          </a:graphicData>
        </a:graphic>
      </p:graphicFrame>
      <p:cxnSp>
        <p:nvCxnSpPr>
          <p:cNvPr id="65" name="Elbow Connector 24">
            <a:extLst>
              <a:ext uri="{FF2B5EF4-FFF2-40B4-BE49-F238E27FC236}">
                <a16:creationId xmlns:a16="http://schemas.microsoft.com/office/drawing/2014/main" id="{C6881D1C-1365-4CF1-8183-2ECB330F42BF}"/>
              </a:ext>
            </a:extLst>
          </p:cNvPr>
          <p:cNvCxnSpPr>
            <a:cxnSpLocks/>
            <a:stCxn id="62" idx="1"/>
            <a:endCxn id="70" idx="3"/>
          </p:cNvCxnSpPr>
          <p:nvPr/>
        </p:nvCxnSpPr>
        <p:spPr>
          <a:xfrm rot="10800000" flipV="1">
            <a:off x="8603573" y="4157386"/>
            <a:ext cx="1052422" cy="266521"/>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Elbow Connector 25">
            <a:extLst>
              <a:ext uri="{FF2B5EF4-FFF2-40B4-BE49-F238E27FC236}">
                <a16:creationId xmlns:a16="http://schemas.microsoft.com/office/drawing/2014/main" id="{5622F0FB-7A5A-4478-A54C-5A14FCC8D2E1}"/>
              </a:ext>
            </a:extLst>
          </p:cNvPr>
          <p:cNvCxnSpPr>
            <a:cxnSpLocks/>
            <a:stCxn id="59" idx="1"/>
            <a:endCxn id="69" idx="3"/>
          </p:cNvCxnSpPr>
          <p:nvPr/>
        </p:nvCxnSpPr>
        <p:spPr>
          <a:xfrm rot="10800000" flipV="1">
            <a:off x="8603574" y="2591304"/>
            <a:ext cx="1063021" cy="25937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Elbow Connector 26">
            <a:extLst>
              <a:ext uri="{FF2B5EF4-FFF2-40B4-BE49-F238E27FC236}">
                <a16:creationId xmlns:a16="http://schemas.microsoft.com/office/drawing/2014/main" id="{9D46CDA7-39DA-4213-941F-2BC58FCA8620}"/>
              </a:ext>
            </a:extLst>
          </p:cNvPr>
          <p:cNvCxnSpPr>
            <a:cxnSpLocks/>
            <a:stCxn id="69" idx="3"/>
            <a:endCxn id="60" idx="1"/>
          </p:cNvCxnSpPr>
          <p:nvPr/>
        </p:nvCxnSpPr>
        <p:spPr>
          <a:xfrm flipV="1">
            <a:off x="8603573" y="2096331"/>
            <a:ext cx="1067263" cy="754353"/>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CA30F7D-4C37-4577-8807-7910BEE418A0}"/>
              </a:ext>
            </a:extLst>
          </p:cNvPr>
          <p:cNvSpPr txBox="1"/>
          <p:nvPr/>
        </p:nvSpPr>
        <p:spPr>
          <a:xfrm>
            <a:off x="9087559" y="2299059"/>
            <a:ext cx="111760" cy="107102"/>
          </a:xfrm>
          <a:prstGeom prst="rect">
            <a:avLst/>
          </a:prstGeom>
          <a:solidFill>
            <a:schemeClr val="bg1"/>
          </a:solidFill>
        </p:spPr>
        <p:txBody>
          <a:bodyPr wrap="square" lIns="36000" tIns="36000" rIns="36000" bIns="36000" rtlCol="0" anchor="ctr">
            <a:noAutofit/>
          </a:bodyPr>
          <a:lstStyle/>
          <a:p>
            <a:pPr algn="ctr">
              <a:spcAft>
                <a:spcPts val="600"/>
              </a:spcAft>
            </a:pPr>
            <a:r>
              <a:rPr lang="en-GB" sz="1000" b="1" dirty="0"/>
              <a:t>+</a:t>
            </a:r>
          </a:p>
        </p:txBody>
      </p:sp>
      <p:graphicFrame>
        <p:nvGraphicFramePr>
          <p:cNvPr id="69" name="Table 68">
            <a:extLst>
              <a:ext uri="{FF2B5EF4-FFF2-40B4-BE49-F238E27FC236}">
                <a16:creationId xmlns:a16="http://schemas.microsoft.com/office/drawing/2014/main" id="{EC90BEA9-F90E-4A12-B55A-D05F525A1651}"/>
              </a:ext>
            </a:extLst>
          </p:cNvPr>
          <p:cNvGraphicFramePr>
            <a:graphicFrameLocks noGrp="1"/>
          </p:cNvGraphicFramePr>
          <p:nvPr/>
        </p:nvGraphicFramePr>
        <p:xfrm>
          <a:off x="7314415" y="2677524"/>
          <a:ext cx="1289158" cy="346320"/>
        </p:xfrm>
        <a:graphic>
          <a:graphicData uri="http://schemas.openxmlformats.org/drawingml/2006/table">
            <a:tbl>
              <a:tblPr firstRow="1" bandRow="1">
                <a:tableStyleId>{7DF18680-E054-41AD-8BC1-D1AEF772440D}</a:tableStyleId>
              </a:tblPr>
              <a:tblGrid>
                <a:gridCol w="644579">
                  <a:extLst>
                    <a:ext uri="{9D8B030D-6E8A-4147-A177-3AD203B41FA5}">
                      <a16:colId xmlns:a16="http://schemas.microsoft.com/office/drawing/2014/main" val="20000"/>
                    </a:ext>
                  </a:extLst>
                </a:gridCol>
                <a:gridCol w="644579">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Organic</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63.9%</a:t>
                      </a:r>
                    </a:p>
                  </a:txBody>
                  <a:tcPr marL="25200" marR="25200" marT="18000" marB="18000"/>
                </a:tc>
                <a:tc>
                  <a:txBody>
                    <a:bodyPr/>
                    <a:lstStyle/>
                    <a:p>
                      <a:pPr algn="ctr"/>
                      <a:r>
                        <a:rPr lang="en-GB" sz="900" u="none" dirty="0">
                          <a:solidFill>
                            <a:schemeClr val="tx1"/>
                          </a:solidFill>
                        </a:rPr>
                        <a:t>7.6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70" name="Table 69">
            <a:extLst>
              <a:ext uri="{FF2B5EF4-FFF2-40B4-BE49-F238E27FC236}">
                <a16:creationId xmlns:a16="http://schemas.microsoft.com/office/drawing/2014/main" id="{2761769A-EA4B-44F0-A45E-7A6118050CA9}"/>
              </a:ext>
            </a:extLst>
          </p:cNvPr>
          <p:cNvGraphicFramePr>
            <a:graphicFrameLocks noGrp="1"/>
          </p:cNvGraphicFramePr>
          <p:nvPr/>
        </p:nvGraphicFramePr>
        <p:xfrm>
          <a:off x="7317319" y="4250748"/>
          <a:ext cx="1286254" cy="346320"/>
        </p:xfrm>
        <a:graphic>
          <a:graphicData uri="http://schemas.openxmlformats.org/drawingml/2006/table">
            <a:tbl>
              <a:tblPr firstRow="1" bandRow="1">
                <a:tableStyleId>{7DF18680-E054-41AD-8BC1-D1AEF772440D}</a:tableStyleId>
              </a:tblPr>
              <a:tblGrid>
                <a:gridCol w="643127">
                  <a:extLst>
                    <a:ext uri="{9D8B030D-6E8A-4147-A177-3AD203B41FA5}">
                      <a16:colId xmlns:a16="http://schemas.microsoft.com/office/drawing/2014/main" val="20000"/>
                    </a:ext>
                  </a:extLst>
                </a:gridCol>
                <a:gridCol w="643127">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Paid</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36.1%</a:t>
                      </a:r>
                    </a:p>
                  </a:txBody>
                  <a:tcPr marL="25200" marR="25200" marT="18000" marB="18000"/>
                </a:tc>
                <a:tc>
                  <a:txBody>
                    <a:bodyPr/>
                    <a:lstStyle/>
                    <a:p>
                      <a:pPr algn="ctr"/>
                      <a:r>
                        <a:rPr lang="en-GB" sz="900" u="none" dirty="0">
                          <a:solidFill>
                            <a:schemeClr val="tx1"/>
                          </a:solidFill>
                        </a:rPr>
                        <a:t> 4.3 million</a:t>
                      </a:r>
                    </a:p>
                  </a:txBody>
                  <a:tcPr marL="25200" marR="25200" marT="18000" marB="18000"/>
                </a:tc>
                <a:extLst>
                  <a:ext uri="{0D108BD9-81ED-4DB2-BD59-A6C34878D82A}">
                    <a16:rowId xmlns:a16="http://schemas.microsoft.com/office/drawing/2014/main" val="10001"/>
                  </a:ext>
                </a:extLst>
              </a:tr>
            </a:tbl>
          </a:graphicData>
        </a:graphic>
      </p:graphicFrame>
      <p:cxnSp>
        <p:nvCxnSpPr>
          <p:cNvPr id="71" name="Straight Connector 22">
            <a:extLst>
              <a:ext uri="{FF2B5EF4-FFF2-40B4-BE49-F238E27FC236}">
                <a16:creationId xmlns:a16="http://schemas.microsoft.com/office/drawing/2014/main" id="{4DDD36A7-3853-4F23-A07E-4B83B2F962FE}"/>
              </a:ext>
            </a:extLst>
          </p:cNvPr>
          <p:cNvCxnSpPr>
            <a:cxnSpLocks/>
            <a:stCxn id="69" idx="3"/>
            <a:endCxn id="61" idx="1"/>
          </p:cNvCxnSpPr>
          <p:nvPr/>
        </p:nvCxnSpPr>
        <p:spPr>
          <a:xfrm>
            <a:off x="8603573" y="2850684"/>
            <a:ext cx="1060114" cy="235595"/>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23">
            <a:extLst>
              <a:ext uri="{FF2B5EF4-FFF2-40B4-BE49-F238E27FC236}">
                <a16:creationId xmlns:a16="http://schemas.microsoft.com/office/drawing/2014/main" id="{290265EA-189E-4861-B3E3-D00E6C68DE0F}"/>
              </a:ext>
            </a:extLst>
          </p:cNvPr>
          <p:cNvCxnSpPr>
            <a:cxnSpLocks/>
            <a:stCxn id="70" idx="3"/>
            <a:endCxn id="64" idx="1"/>
          </p:cNvCxnSpPr>
          <p:nvPr/>
        </p:nvCxnSpPr>
        <p:spPr>
          <a:xfrm>
            <a:off x="8603573" y="4423908"/>
            <a:ext cx="1052422" cy="224993"/>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Elbow Connector 45">
            <a:extLst>
              <a:ext uri="{FF2B5EF4-FFF2-40B4-BE49-F238E27FC236}">
                <a16:creationId xmlns:a16="http://schemas.microsoft.com/office/drawing/2014/main" id="{9EDF143A-529A-4FFE-8D30-64E00476C582}"/>
              </a:ext>
            </a:extLst>
          </p:cNvPr>
          <p:cNvCxnSpPr>
            <a:cxnSpLocks/>
            <a:stCxn id="70" idx="1"/>
            <a:endCxn id="69" idx="1"/>
          </p:cNvCxnSpPr>
          <p:nvPr/>
        </p:nvCxnSpPr>
        <p:spPr>
          <a:xfrm rot="10800000">
            <a:off x="7314415" y="2850684"/>
            <a:ext cx="2904" cy="1573224"/>
          </a:xfrm>
          <a:prstGeom prst="bentConnector3">
            <a:avLst>
              <a:gd name="adj1" fmla="val 7971901"/>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B462BA4-0D7E-4C3B-A2B9-8DA98743F1F8}"/>
              </a:ext>
            </a:extLst>
          </p:cNvPr>
          <p:cNvCxnSpPr>
            <a:cxnSpLocks/>
            <a:stCxn id="102" idx="3"/>
            <a:endCxn id="111" idx="1"/>
          </p:cNvCxnSpPr>
          <p:nvPr/>
        </p:nvCxnSpPr>
        <p:spPr>
          <a:xfrm>
            <a:off x="2197422" y="5558950"/>
            <a:ext cx="7480878"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18514866-4A3D-43A0-95B2-831C0044EBFC}"/>
              </a:ext>
            </a:extLst>
          </p:cNvPr>
          <p:cNvSpPr txBox="1"/>
          <p:nvPr/>
        </p:nvSpPr>
        <p:spPr>
          <a:xfrm>
            <a:off x="5726978" y="5483033"/>
            <a:ext cx="180000" cy="107102"/>
          </a:xfrm>
          <a:prstGeom prst="rect">
            <a:avLst/>
          </a:prstGeom>
          <a:solidFill>
            <a:schemeClr val="bg1"/>
          </a:solidFill>
        </p:spPr>
        <p:txBody>
          <a:bodyPr wrap="square" lIns="54610" tIns="54610" rIns="54610" bIns="54610" rtlCol="0" anchor="ctr">
            <a:noAutofit/>
          </a:bodyPr>
          <a:lstStyle/>
          <a:p>
            <a:pPr algn="ctr">
              <a:spcAft>
                <a:spcPts val="600"/>
              </a:spcAft>
            </a:pPr>
            <a:r>
              <a:rPr lang="en-GB" b="1" dirty="0">
                <a:latin typeface="Arial" panose="020B0604020202020204" pitchFamily="34" charset="0"/>
                <a:cs typeface="Arial" panose="020B0604020202020204" pitchFamily="34" charset="0"/>
              </a:rPr>
              <a:t>—</a:t>
            </a:r>
            <a:endParaRPr lang="en-GB" b="1" dirty="0"/>
          </a:p>
        </p:txBody>
      </p:sp>
      <p:sp>
        <p:nvSpPr>
          <p:cNvPr id="77" name="TextBox 76">
            <a:extLst>
              <a:ext uri="{FF2B5EF4-FFF2-40B4-BE49-F238E27FC236}">
                <a16:creationId xmlns:a16="http://schemas.microsoft.com/office/drawing/2014/main" id="{D18AC1F5-E4AA-4AA1-90C7-7C2019C0601E}"/>
              </a:ext>
            </a:extLst>
          </p:cNvPr>
          <p:cNvSpPr txBox="1"/>
          <p:nvPr/>
        </p:nvSpPr>
        <p:spPr>
          <a:xfrm>
            <a:off x="963030" y="6055923"/>
            <a:ext cx="6955375" cy="143893"/>
          </a:xfrm>
          <a:prstGeom prst="rect">
            <a:avLst/>
          </a:prstGeom>
        </p:spPr>
        <p:txBody>
          <a:bodyPr vert="horz" wrap="square" lIns="0" tIns="0" rIns="0" bIns="0" rtlCol="0" anchor="t" anchorCtr="0">
            <a:noAutofit/>
          </a:bodyPr>
          <a:lstStyle/>
          <a:p>
            <a:r>
              <a:rPr lang="en-GB" sz="600" dirty="0">
                <a:solidFill>
                  <a:schemeClr val="tx2"/>
                </a:solidFill>
              </a:rPr>
              <a:t>Source: </a:t>
            </a:r>
            <a:r>
              <a:rPr lang="en-GB" sz="600" dirty="0">
                <a:solidFill>
                  <a:schemeClr val="tx2"/>
                </a:solidFill>
                <a:cs typeface="Arial" pitchFamily="34" charset="0"/>
              </a:rPr>
              <a:t>Google analytics, Transactional level data.</a:t>
            </a:r>
          </a:p>
          <a:p>
            <a:r>
              <a:rPr lang="en-GB" sz="600" b="1" dirty="0">
                <a:solidFill>
                  <a:schemeClr val="tx2"/>
                </a:solidFill>
                <a:cs typeface="Arial" pitchFamily="34" charset="0"/>
              </a:rPr>
              <a:t>Note:    * Based on transactional level data</a:t>
            </a:r>
            <a:endParaRPr lang="en-GB" sz="600" b="1" dirty="0">
              <a:solidFill>
                <a:schemeClr val="tx2"/>
              </a:solidFill>
            </a:endParaRPr>
          </a:p>
        </p:txBody>
      </p:sp>
      <p:graphicFrame>
        <p:nvGraphicFramePr>
          <p:cNvPr id="79" name="Table 78">
            <a:extLst>
              <a:ext uri="{FF2B5EF4-FFF2-40B4-BE49-F238E27FC236}">
                <a16:creationId xmlns:a16="http://schemas.microsoft.com/office/drawing/2014/main" id="{7D6DDD71-0B28-4385-A9B2-F0B39301C14A}"/>
              </a:ext>
            </a:extLst>
          </p:cNvPr>
          <p:cNvGraphicFramePr>
            <a:graphicFrameLocks noGrp="1"/>
          </p:cNvGraphicFramePr>
          <p:nvPr/>
        </p:nvGraphicFramePr>
        <p:xfrm>
          <a:off x="3776582" y="5385790"/>
          <a:ext cx="1234392" cy="346320"/>
        </p:xfrm>
        <a:graphic>
          <a:graphicData uri="http://schemas.openxmlformats.org/drawingml/2006/table">
            <a:tbl>
              <a:tblPr firstRow="1" bandRow="1">
                <a:tableStyleId>{7DF18680-E054-41AD-8BC1-D1AEF772440D}</a:tableStyleId>
              </a:tblPr>
              <a:tblGrid>
                <a:gridCol w="480464">
                  <a:extLst>
                    <a:ext uri="{9D8B030D-6E8A-4147-A177-3AD203B41FA5}">
                      <a16:colId xmlns:a16="http://schemas.microsoft.com/office/drawing/2014/main" val="20000"/>
                    </a:ext>
                  </a:extLst>
                </a:gridCol>
                <a:gridCol w="753928">
                  <a:extLst>
                    <a:ext uri="{9D8B030D-6E8A-4147-A177-3AD203B41FA5}">
                      <a16:colId xmlns:a16="http://schemas.microsoft.com/office/drawing/2014/main" val="20001"/>
                    </a:ext>
                  </a:extLst>
                </a:gridCol>
              </a:tblGrid>
              <a:tr h="62442">
                <a:tc gridSpan="2">
                  <a:txBody>
                    <a:bodyPr/>
                    <a:lstStyle/>
                    <a:p>
                      <a:pPr algn="ctr"/>
                      <a:r>
                        <a:rPr lang="en-GB" sz="900" u="none" dirty="0">
                          <a:solidFill>
                            <a:schemeClr val="bg1"/>
                          </a:solidFill>
                        </a:rPr>
                        <a:t>Returns</a:t>
                      </a:r>
                    </a:p>
                  </a:txBody>
                  <a:tcPr marL="25200" marR="25200" marT="18000" marB="18000"/>
                </a:tc>
                <a:tc hMerge="1">
                  <a:txBody>
                    <a:bodyPr/>
                    <a:lstStyle/>
                    <a:p>
                      <a:endParaRPr lang="en-GB"/>
                    </a:p>
                  </a:txBody>
                  <a:tcPr/>
                </a:tc>
                <a:extLst>
                  <a:ext uri="{0D108BD9-81ED-4DB2-BD59-A6C34878D82A}">
                    <a16:rowId xmlns:a16="http://schemas.microsoft.com/office/drawing/2014/main" val="10000"/>
                  </a:ext>
                </a:extLst>
              </a:tr>
              <a:tr h="0">
                <a:tc>
                  <a:txBody>
                    <a:bodyPr/>
                    <a:lstStyle/>
                    <a:p>
                      <a:pPr algn="ctr"/>
                      <a:r>
                        <a:rPr lang="en-GB" sz="900" u="none">
                          <a:solidFill>
                            <a:schemeClr val="tx1"/>
                          </a:solidFill>
                        </a:rPr>
                        <a:t>37.6%</a:t>
                      </a:r>
                    </a:p>
                  </a:txBody>
                  <a:tcPr marL="25200" marR="25200" marT="18000" marB="18000"/>
                </a:tc>
                <a:tc>
                  <a:txBody>
                    <a:bodyPr/>
                    <a:lstStyle/>
                    <a:p>
                      <a:pPr algn="ctr"/>
                      <a:r>
                        <a:rPr lang="en-GB" sz="900" u="none" dirty="0">
                          <a:solidFill>
                            <a:schemeClr val="tx1"/>
                          </a:solidFill>
                        </a:rPr>
                        <a:t>£18.9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80" name="Table 79">
            <a:extLst>
              <a:ext uri="{FF2B5EF4-FFF2-40B4-BE49-F238E27FC236}">
                <a16:creationId xmlns:a16="http://schemas.microsoft.com/office/drawing/2014/main" id="{E82E11B0-EEA9-4E1D-8FE1-A951D807B247}"/>
              </a:ext>
            </a:extLst>
          </p:cNvPr>
          <p:cNvGraphicFramePr>
            <a:graphicFrameLocks noGrp="1"/>
          </p:cNvGraphicFramePr>
          <p:nvPr/>
        </p:nvGraphicFramePr>
        <p:xfrm>
          <a:off x="9663687" y="3408093"/>
          <a:ext cx="1234396" cy="346320"/>
        </p:xfrm>
        <a:graphic>
          <a:graphicData uri="http://schemas.openxmlformats.org/drawingml/2006/table">
            <a:tbl>
              <a:tblPr firstRow="1" bandRow="1">
                <a:tableStyleId>{93296810-A885-4BE3-A3E7-6D5BEEA58F35}</a:tableStyleId>
              </a:tblPr>
              <a:tblGrid>
                <a:gridCol w="617198">
                  <a:extLst>
                    <a:ext uri="{9D8B030D-6E8A-4147-A177-3AD203B41FA5}">
                      <a16:colId xmlns:a16="http://schemas.microsoft.com/office/drawing/2014/main" val="20000"/>
                    </a:ext>
                  </a:extLst>
                </a:gridCol>
                <a:gridCol w="617198">
                  <a:extLst>
                    <a:ext uri="{9D8B030D-6E8A-4147-A177-3AD203B41FA5}">
                      <a16:colId xmlns:a16="http://schemas.microsoft.com/office/drawing/2014/main" val="20001"/>
                    </a:ext>
                  </a:extLst>
                </a:gridCol>
              </a:tblGrid>
              <a:tr h="62442">
                <a:tc gridSpan="2">
                  <a:txBody>
                    <a:bodyPr/>
                    <a:lstStyle/>
                    <a:p>
                      <a:pPr algn="ctr"/>
                      <a:r>
                        <a:rPr lang="en-GB" sz="900" u="none">
                          <a:solidFill>
                            <a:schemeClr val="bg1"/>
                          </a:solidFill>
                        </a:rPr>
                        <a:t>Other</a:t>
                      </a:r>
                    </a:p>
                  </a:txBody>
                  <a:tcPr marL="25200" marR="25200" marT="18000" marB="18000"/>
                </a:tc>
                <a:tc hMerge="1">
                  <a:txBody>
                    <a:bodyPr/>
                    <a:lstStyle/>
                    <a:p>
                      <a:endParaRPr lang="en-GB" sz="800">
                        <a:solidFill>
                          <a:schemeClr val="tx1"/>
                        </a:solidFill>
                      </a:endParaRPr>
                    </a:p>
                  </a:txBody>
                  <a:tcPr marL="25200" marR="25200" marT="18000" marB="18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442">
                <a:tc>
                  <a:txBody>
                    <a:bodyPr/>
                    <a:lstStyle/>
                    <a:p>
                      <a:pPr algn="ctr"/>
                      <a:r>
                        <a:rPr lang="en-GB" sz="900" u="none">
                          <a:solidFill>
                            <a:schemeClr val="tx1"/>
                          </a:solidFill>
                        </a:rPr>
                        <a:t>11.4%</a:t>
                      </a:r>
                    </a:p>
                  </a:txBody>
                  <a:tcPr marL="25200" marR="25200" marT="18000" marB="18000"/>
                </a:tc>
                <a:tc>
                  <a:txBody>
                    <a:bodyPr/>
                    <a:lstStyle/>
                    <a:p>
                      <a:pPr algn="ctr"/>
                      <a:r>
                        <a:rPr lang="en-GB" sz="900" u="none" dirty="0">
                          <a:solidFill>
                            <a:schemeClr val="tx1"/>
                          </a:solidFill>
                        </a:rPr>
                        <a:t>0.9 million</a:t>
                      </a:r>
                    </a:p>
                  </a:txBody>
                  <a:tcPr marL="25200" marR="25200" marT="18000" marB="18000"/>
                </a:tc>
                <a:extLst>
                  <a:ext uri="{0D108BD9-81ED-4DB2-BD59-A6C34878D82A}">
                    <a16:rowId xmlns:a16="http://schemas.microsoft.com/office/drawing/2014/main" val="10001"/>
                  </a:ext>
                </a:extLst>
              </a:tr>
            </a:tbl>
          </a:graphicData>
        </a:graphic>
      </p:graphicFrame>
      <p:cxnSp>
        <p:nvCxnSpPr>
          <p:cNvPr id="81" name="Elbow Connector 27">
            <a:extLst>
              <a:ext uri="{FF2B5EF4-FFF2-40B4-BE49-F238E27FC236}">
                <a16:creationId xmlns:a16="http://schemas.microsoft.com/office/drawing/2014/main" id="{727D4432-A086-42A5-9785-DA40E9A60F2E}"/>
              </a:ext>
            </a:extLst>
          </p:cNvPr>
          <p:cNvCxnSpPr>
            <a:cxnSpLocks/>
            <a:stCxn id="80" idx="1"/>
            <a:endCxn id="69" idx="3"/>
          </p:cNvCxnSpPr>
          <p:nvPr/>
        </p:nvCxnSpPr>
        <p:spPr>
          <a:xfrm rot="10800000">
            <a:off x="8603573" y="2850685"/>
            <a:ext cx="1060114" cy="73056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823BBBEC-D608-48BF-BD6E-8DFF7DF6BBE2}"/>
              </a:ext>
            </a:extLst>
          </p:cNvPr>
          <p:cNvSpPr txBox="1"/>
          <p:nvPr/>
        </p:nvSpPr>
        <p:spPr>
          <a:xfrm>
            <a:off x="9081324" y="3280430"/>
            <a:ext cx="111760" cy="107102"/>
          </a:xfrm>
          <a:prstGeom prst="rect">
            <a:avLst/>
          </a:prstGeom>
          <a:solidFill>
            <a:schemeClr val="bg1"/>
          </a:solidFill>
        </p:spPr>
        <p:txBody>
          <a:bodyPr wrap="square" lIns="36000" tIns="36000" rIns="36000" bIns="36000" rtlCol="0" anchor="ctr">
            <a:noAutofit/>
          </a:bodyPr>
          <a:lstStyle/>
          <a:p>
            <a:pPr algn="ctr">
              <a:spcAft>
                <a:spcPts val="600"/>
              </a:spcAft>
            </a:pPr>
            <a:r>
              <a:rPr lang="en-GB" sz="1000" b="1" dirty="0"/>
              <a:t>+</a:t>
            </a:r>
          </a:p>
        </p:txBody>
      </p:sp>
      <p:sp>
        <p:nvSpPr>
          <p:cNvPr id="83" name="Text Placeholder 2">
            <a:extLst>
              <a:ext uri="{FF2B5EF4-FFF2-40B4-BE49-F238E27FC236}">
                <a16:creationId xmlns:a16="http://schemas.microsoft.com/office/drawing/2014/main" id="{AA1518CA-ABB9-42DE-931B-FF00F499914E}"/>
              </a:ext>
            </a:extLst>
          </p:cNvPr>
          <p:cNvSpPr txBox="1">
            <a:spLocks/>
          </p:cNvSpPr>
          <p:nvPr/>
        </p:nvSpPr>
        <p:spPr>
          <a:xfrm>
            <a:off x="963030" y="2216981"/>
            <a:ext cx="2404122" cy="175490"/>
          </a:xfrm>
          <a:prstGeom prst="rect">
            <a:avLst/>
          </a:prstGeom>
          <a:ln>
            <a:noFill/>
          </a:ln>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000" dirty="0"/>
              <a:t>LTM22 online sales origination tree </a:t>
            </a:r>
          </a:p>
        </p:txBody>
      </p:sp>
      <p:graphicFrame>
        <p:nvGraphicFramePr>
          <p:cNvPr id="84" name="Table 83">
            <a:extLst>
              <a:ext uri="{FF2B5EF4-FFF2-40B4-BE49-F238E27FC236}">
                <a16:creationId xmlns:a16="http://schemas.microsoft.com/office/drawing/2014/main" id="{3827F221-DED8-410E-8D25-9F40721C0E2E}"/>
              </a:ext>
            </a:extLst>
          </p:cNvPr>
          <p:cNvGraphicFramePr>
            <a:graphicFrameLocks noGrp="1"/>
          </p:cNvGraphicFramePr>
          <p:nvPr/>
        </p:nvGraphicFramePr>
        <p:xfrm>
          <a:off x="3187175" y="2916544"/>
          <a:ext cx="1015200" cy="346320"/>
        </p:xfrm>
        <a:graphic>
          <a:graphicData uri="http://schemas.openxmlformats.org/drawingml/2006/table">
            <a:tbl>
              <a:tblPr firstRow="1" bandRow="1">
                <a:tableStyleId>{5C22544A-7EE6-4342-B048-85BDC9FD1C3A}</a:tableStyleId>
              </a:tblPr>
              <a:tblGrid>
                <a:gridCol w="1015200">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Orders</a:t>
                      </a:r>
                    </a:p>
                  </a:txBody>
                  <a:tcPr marL="25200" marR="25200" marT="18000" marB="18000"/>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0.2 million</a:t>
                      </a:r>
                    </a:p>
                  </a:txBody>
                  <a:tcPr marL="25200" marR="25200" marT="18000" marB="18000"/>
                </a:tc>
                <a:extLst>
                  <a:ext uri="{0D108BD9-81ED-4DB2-BD59-A6C34878D82A}">
                    <a16:rowId xmlns:a16="http://schemas.microsoft.com/office/drawing/2014/main" val="10001"/>
                  </a:ext>
                </a:extLst>
              </a:tr>
            </a:tbl>
          </a:graphicData>
        </a:graphic>
      </p:graphicFrame>
      <p:cxnSp>
        <p:nvCxnSpPr>
          <p:cNvPr id="85" name="Straight Connector 84">
            <a:extLst>
              <a:ext uri="{FF2B5EF4-FFF2-40B4-BE49-F238E27FC236}">
                <a16:creationId xmlns:a16="http://schemas.microsoft.com/office/drawing/2014/main" id="{A3EECCA9-F1E9-4906-BEBB-4CA6E7218CB7}"/>
              </a:ext>
            </a:extLst>
          </p:cNvPr>
          <p:cNvCxnSpPr>
            <a:cxnSpLocks/>
            <a:stCxn id="113" idx="3"/>
            <a:endCxn id="99" idx="1"/>
          </p:cNvCxnSpPr>
          <p:nvPr/>
        </p:nvCxnSpPr>
        <p:spPr>
          <a:xfrm>
            <a:off x="6252966" y="3646593"/>
            <a:ext cx="78881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86" name="Table 85">
            <a:extLst>
              <a:ext uri="{FF2B5EF4-FFF2-40B4-BE49-F238E27FC236}">
                <a16:creationId xmlns:a16="http://schemas.microsoft.com/office/drawing/2014/main" id="{6B016ECF-B96F-4EF1-9AC4-13858E5F49AF}"/>
              </a:ext>
            </a:extLst>
          </p:cNvPr>
          <p:cNvGraphicFramePr>
            <a:graphicFrameLocks noGrp="1"/>
          </p:cNvGraphicFramePr>
          <p:nvPr/>
        </p:nvGraphicFramePr>
        <p:xfrm>
          <a:off x="963030" y="3596453"/>
          <a:ext cx="1167728" cy="346320"/>
        </p:xfrm>
        <a:graphic>
          <a:graphicData uri="http://schemas.openxmlformats.org/drawingml/2006/table">
            <a:tbl>
              <a:tblPr firstRow="1" bandRow="1">
                <a:tableStyleId>{21E4AEA4-8DFA-4A89-87EB-49C32662AFE0}</a:tableStyleId>
              </a:tblPr>
              <a:tblGrid>
                <a:gridCol w="1167728">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Online net revenue</a:t>
                      </a:r>
                    </a:p>
                  </a:txBody>
                  <a:tcPr marL="25200" marR="25200" marT="18000" marB="18000">
                    <a:solidFill>
                      <a:srgbClr val="00338D"/>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£30.3 million</a:t>
                      </a:r>
                    </a:p>
                  </a:txBody>
                  <a:tcPr marL="25200" marR="25200" marT="18000" marB="18000">
                    <a:solidFill>
                      <a:srgbClr val="00338D">
                        <a:alpha val="24000"/>
                      </a:srgbClr>
                    </a:solidFill>
                  </a:tcPr>
                </a:tc>
                <a:extLst>
                  <a:ext uri="{0D108BD9-81ED-4DB2-BD59-A6C34878D82A}">
                    <a16:rowId xmlns:a16="http://schemas.microsoft.com/office/drawing/2014/main" val="10001"/>
                  </a:ext>
                </a:extLst>
              </a:tr>
            </a:tbl>
          </a:graphicData>
        </a:graphic>
      </p:graphicFrame>
      <p:sp>
        <p:nvSpPr>
          <p:cNvPr id="87" name="TextBox 86">
            <a:extLst>
              <a:ext uri="{FF2B5EF4-FFF2-40B4-BE49-F238E27FC236}">
                <a16:creationId xmlns:a16="http://schemas.microsoft.com/office/drawing/2014/main" id="{CDDA7504-83F9-4931-8DDF-3CBF88234E5E}"/>
              </a:ext>
            </a:extLst>
          </p:cNvPr>
          <p:cNvSpPr txBox="1"/>
          <p:nvPr/>
        </p:nvSpPr>
        <p:spPr>
          <a:xfrm>
            <a:off x="9083235" y="2797687"/>
            <a:ext cx="111760" cy="107102"/>
          </a:xfrm>
          <a:prstGeom prst="rect">
            <a:avLst/>
          </a:prstGeom>
          <a:solidFill>
            <a:schemeClr val="bg1"/>
          </a:solidFill>
        </p:spPr>
        <p:txBody>
          <a:bodyPr wrap="square" lIns="36000" tIns="36000" rIns="36000" bIns="36000" rtlCol="0" anchor="ctr">
            <a:noAutofit/>
          </a:bodyPr>
          <a:lstStyle/>
          <a:p>
            <a:pPr algn="ctr">
              <a:spcAft>
                <a:spcPts val="600"/>
              </a:spcAft>
            </a:pPr>
            <a:r>
              <a:rPr lang="en-GB" sz="1000" b="1" dirty="0"/>
              <a:t>+</a:t>
            </a:r>
          </a:p>
        </p:txBody>
      </p:sp>
      <p:sp>
        <p:nvSpPr>
          <p:cNvPr id="99" name="TextBox 98">
            <a:extLst>
              <a:ext uri="{FF2B5EF4-FFF2-40B4-BE49-F238E27FC236}">
                <a16:creationId xmlns:a16="http://schemas.microsoft.com/office/drawing/2014/main" id="{819FFE1A-0F77-4E8B-90BA-23E0E2A95D3F}"/>
              </a:ext>
            </a:extLst>
          </p:cNvPr>
          <p:cNvSpPr txBox="1"/>
          <p:nvPr/>
        </p:nvSpPr>
        <p:spPr>
          <a:xfrm>
            <a:off x="7041779" y="3593042"/>
            <a:ext cx="111760" cy="107102"/>
          </a:xfrm>
          <a:prstGeom prst="rect">
            <a:avLst/>
          </a:prstGeom>
          <a:solidFill>
            <a:schemeClr val="bg1"/>
          </a:solidFill>
        </p:spPr>
        <p:txBody>
          <a:bodyPr wrap="square" lIns="54610" tIns="54610" rIns="54610" bIns="54610" rtlCol="0" anchor="ctr">
            <a:noAutofit/>
          </a:bodyPr>
          <a:lstStyle/>
          <a:p>
            <a:pPr algn="ctr">
              <a:spcAft>
                <a:spcPts val="600"/>
              </a:spcAft>
            </a:pPr>
            <a:r>
              <a:rPr lang="en-GB" sz="1000" b="1" dirty="0"/>
              <a:t>+</a:t>
            </a:r>
          </a:p>
        </p:txBody>
      </p:sp>
      <p:cxnSp>
        <p:nvCxnSpPr>
          <p:cNvPr id="100" name="Elbow Connector 62">
            <a:extLst>
              <a:ext uri="{FF2B5EF4-FFF2-40B4-BE49-F238E27FC236}">
                <a16:creationId xmlns:a16="http://schemas.microsoft.com/office/drawing/2014/main" id="{B74D82D3-4F10-4B99-BF27-55BC3A9E079F}"/>
              </a:ext>
            </a:extLst>
          </p:cNvPr>
          <p:cNvCxnSpPr>
            <a:cxnSpLocks/>
            <a:stCxn id="84" idx="1"/>
            <a:endCxn id="78" idx="1"/>
          </p:cNvCxnSpPr>
          <p:nvPr/>
        </p:nvCxnSpPr>
        <p:spPr>
          <a:xfrm rot="10800000" flipV="1">
            <a:off x="3182703" y="3089703"/>
            <a:ext cx="4472" cy="1432271"/>
          </a:xfrm>
          <a:prstGeom prst="bentConnector3">
            <a:avLst>
              <a:gd name="adj1" fmla="val 11262522"/>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048BDC2-B93D-4D45-A5ED-0211E500BCEA}"/>
              </a:ext>
            </a:extLst>
          </p:cNvPr>
          <p:cNvCxnSpPr>
            <a:cxnSpLocks/>
            <a:stCxn id="86" idx="3"/>
            <a:endCxn id="110" idx="1"/>
          </p:cNvCxnSpPr>
          <p:nvPr/>
        </p:nvCxnSpPr>
        <p:spPr>
          <a:xfrm flipV="1">
            <a:off x="2130758" y="3759105"/>
            <a:ext cx="501843" cy="1050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02" name="Table 101">
            <a:extLst>
              <a:ext uri="{FF2B5EF4-FFF2-40B4-BE49-F238E27FC236}">
                <a16:creationId xmlns:a16="http://schemas.microsoft.com/office/drawing/2014/main" id="{B2967BB6-55EE-40F9-8FAC-8FD12CA926E8}"/>
              </a:ext>
            </a:extLst>
          </p:cNvPr>
          <p:cNvGraphicFramePr>
            <a:graphicFrameLocks noGrp="1"/>
          </p:cNvGraphicFramePr>
          <p:nvPr/>
        </p:nvGraphicFramePr>
        <p:xfrm>
          <a:off x="963030" y="5385790"/>
          <a:ext cx="1234392" cy="346320"/>
        </p:xfrm>
        <a:graphic>
          <a:graphicData uri="http://schemas.openxmlformats.org/drawingml/2006/table">
            <a:tbl>
              <a:tblPr firstRow="1" bandRow="1">
                <a:tableStyleId>{21E4AEA4-8DFA-4A89-87EB-49C32662AFE0}</a:tableStyleId>
              </a:tblPr>
              <a:tblGrid>
                <a:gridCol w="1234392">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Online sales</a:t>
                      </a:r>
                    </a:p>
                  </a:txBody>
                  <a:tcPr marL="25200" marR="25200" marT="18000" marB="18000">
                    <a:solidFill>
                      <a:srgbClr val="00338D"/>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£50.4 million</a:t>
                      </a:r>
                    </a:p>
                  </a:txBody>
                  <a:tcPr marL="25200" marR="25200" marT="18000" marB="18000">
                    <a:solidFill>
                      <a:srgbClr val="00338D">
                        <a:alpha val="24000"/>
                      </a:srgbClr>
                    </a:solidFill>
                  </a:tcPr>
                </a:tc>
                <a:extLst>
                  <a:ext uri="{0D108BD9-81ED-4DB2-BD59-A6C34878D82A}">
                    <a16:rowId xmlns:a16="http://schemas.microsoft.com/office/drawing/2014/main" val="10001"/>
                  </a:ext>
                </a:extLst>
              </a:tr>
            </a:tbl>
          </a:graphicData>
        </a:graphic>
      </p:graphicFrame>
      <p:graphicFrame>
        <p:nvGraphicFramePr>
          <p:cNvPr id="103" name="Table 102">
            <a:extLst>
              <a:ext uri="{FF2B5EF4-FFF2-40B4-BE49-F238E27FC236}">
                <a16:creationId xmlns:a16="http://schemas.microsoft.com/office/drawing/2014/main" id="{F1BBCD12-D181-4AAC-B9DF-A6382042A041}"/>
              </a:ext>
            </a:extLst>
          </p:cNvPr>
          <p:cNvGraphicFramePr>
            <a:graphicFrameLocks noGrp="1"/>
          </p:cNvGraphicFramePr>
          <p:nvPr/>
        </p:nvGraphicFramePr>
        <p:xfrm>
          <a:off x="5250248" y="4090986"/>
          <a:ext cx="1014650" cy="346320"/>
        </p:xfrm>
        <a:graphic>
          <a:graphicData uri="http://schemas.openxmlformats.org/drawingml/2006/table">
            <a:tbl>
              <a:tblPr firstRow="1" bandRow="1">
                <a:tableStyleId>{073A0DAA-6AF3-43AB-8588-CEC1D06C72B9}</a:tableStyleId>
              </a:tblPr>
              <a:tblGrid>
                <a:gridCol w="1014650">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Basket size</a:t>
                      </a:r>
                    </a:p>
                  </a:txBody>
                  <a:tcPr marL="25200" marR="25200" marT="18000" marB="18000">
                    <a:solidFill>
                      <a:srgbClr val="0C233C"/>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1.35*</a:t>
                      </a:r>
                    </a:p>
                  </a:txBody>
                  <a:tcPr marL="25200" marR="25200" marT="18000" marB="18000">
                    <a:solidFill>
                      <a:srgbClr val="0C233C">
                        <a:alpha val="24000"/>
                      </a:srgbClr>
                    </a:solidFill>
                  </a:tcPr>
                </a:tc>
                <a:extLst>
                  <a:ext uri="{0D108BD9-81ED-4DB2-BD59-A6C34878D82A}">
                    <a16:rowId xmlns:a16="http://schemas.microsoft.com/office/drawing/2014/main" val="10001"/>
                  </a:ext>
                </a:extLst>
              </a:tr>
            </a:tbl>
          </a:graphicData>
        </a:graphic>
      </p:graphicFrame>
      <p:cxnSp>
        <p:nvCxnSpPr>
          <p:cNvPr id="104" name="Elbow Connector 62">
            <a:extLst>
              <a:ext uri="{FF2B5EF4-FFF2-40B4-BE49-F238E27FC236}">
                <a16:creationId xmlns:a16="http://schemas.microsoft.com/office/drawing/2014/main" id="{8DA6B169-6DD7-4AFB-9ACC-10A2DE4CD4CD}"/>
              </a:ext>
            </a:extLst>
          </p:cNvPr>
          <p:cNvCxnSpPr>
            <a:cxnSpLocks/>
            <a:stCxn id="103" idx="1"/>
            <a:endCxn id="105" idx="1"/>
          </p:cNvCxnSpPr>
          <p:nvPr/>
        </p:nvCxnSpPr>
        <p:spPr>
          <a:xfrm rot="10800000" flipV="1">
            <a:off x="5239942" y="4264145"/>
            <a:ext cx="10307" cy="557915"/>
          </a:xfrm>
          <a:prstGeom prst="bentConnector3">
            <a:avLst>
              <a:gd name="adj1" fmla="val 4762133"/>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05" name="Table 104">
            <a:extLst>
              <a:ext uri="{FF2B5EF4-FFF2-40B4-BE49-F238E27FC236}">
                <a16:creationId xmlns:a16="http://schemas.microsoft.com/office/drawing/2014/main" id="{EE90AC76-8B4C-4277-A452-32572796BAF8}"/>
              </a:ext>
            </a:extLst>
          </p:cNvPr>
          <p:cNvGraphicFramePr>
            <a:graphicFrameLocks noGrp="1"/>
          </p:cNvGraphicFramePr>
          <p:nvPr/>
        </p:nvGraphicFramePr>
        <p:xfrm>
          <a:off x="5239941" y="4643989"/>
          <a:ext cx="1014652" cy="356144"/>
        </p:xfrm>
        <a:graphic>
          <a:graphicData uri="http://schemas.openxmlformats.org/drawingml/2006/table">
            <a:tbl>
              <a:tblPr firstRow="1" bandRow="1">
                <a:tableStyleId>{073A0DAA-6AF3-43AB-8588-CEC1D06C72B9}</a:tableStyleId>
              </a:tblPr>
              <a:tblGrid>
                <a:gridCol w="1014652">
                  <a:extLst>
                    <a:ext uri="{9D8B030D-6E8A-4147-A177-3AD203B41FA5}">
                      <a16:colId xmlns:a16="http://schemas.microsoft.com/office/drawing/2014/main" val="20000"/>
                    </a:ext>
                  </a:extLst>
                </a:gridCol>
              </a:tblGrid>
              <a:tr h="182984">
                <a:tc>
                  <a:txBody>
                    <a:bodyPr/>
                    <a:lstStyle/>
                    <a:p>
                      <a:pPr algn="ctr"/>
                      <a:r>
                        <a:rPr lang="en-GB" sz="900" u="none" dirty="0">
                          <a:solidFill>
                            <a:schemeClr val="bg1"/>
                          </a:solidFill>
                        </a:rPr>
                        <a:t>Avg. item value</a:t>
                      </a:r>
                    </a:p>
                  </a:txBody>
                  <a:tcPr marL="25200" marR="25200" marT="18000" marB="18000">
                    <a:solidFill>
                      <a:srgbClr val="0C233C"/>
                    </a:solidFill>
                  </a:tcPr>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£105*</a:t>
                      </a:r>
                    </a:p>
                  </a:txBody>
                  <a:tcPr marL="25200" marR="25200" marT="18000" marB="18000">
                    <a:solidFill>
                      <a:srgbClr val="0C233C">
                        <a:alpha val="24000"/>
                      </a:srgbClr>
                    </a:solidFill>
                  </a:tcPr>
                </a:tc>
                <a:extLst>
                  <a:ext uri="{0D108BD9-81ED-4DB2-BD59-A6C34878D82A}">
                    <a16:rowId xmlns:a16="http://schemas.microsoft.com/office/drawing/2014/main" val="10001"/>
                  </a:ext>
                </a:extLst>
              </a:tr>
            </a:tbl>
          </a:graphicData>
        </a:graphic>
      </p:graphicFrame>
      <p:sp>
        <p:nvSpPr>
          <p:cNvPr id="106" name="TextBox 105">
            <a:extLst>
              <a:ext uri="{FF2B5EF4-FFF2-40B4-BE49-F238E27FC236}">
                <a16:creationId xmlns:a16="http://schemas.microsoft.com/office/drawing/2014/main" id="{8CEEB391-1348-4EA2-BEA9-3455952AD845}"/>
              </a:ext>
            </a:extLst>
          </p:cNvPr>
          <p:cNvSpPr txBox="1"/>
          <p:nvPr/>
        </p:nvSpPr>
        <p:spPr>
          <a:xfrm>
            <a:off x="4703265" y="4475741"/>
            <a:ext cx="111760" cy="95124"/>
          </a:xfrm>
          <a:prstGeom prst="rect">
            <a:avLst/>
          </a:prstGeom>
          <a:solidFill>
            <a:schemeClr val="bg1"/>
          </a:solidFill>
        </p:spPr>
        <p:txBody>
          <a:bodyPr wrap="square" lIns="54610" tIns="54610" rIns="54610" bIns="54610" rtlCol="0" anchor="ctr">
            <a:noAutofit/>
          </a:bodyPr>
          <a:lstStyle/>
          <a:p>
            <a:pPr algn="ctr">
              <a:spcAft>
                <a:spcPts val="600"/>
              </a:spcAft>
            </a:pPr>
            <a:r>
              <a:rPr lang="en-GB" sz="1000" b="1" dirty="0"/>
              <a:t>x</a:t>
            </a:r>
          </a:p>
        </p:txBody>
      </p:sp>
      <p:graphicFrame>
        <p:nvGraphicFramePr>
          <p:cNvPr id="108" name="Table 107">
            <a:extLst>
              <a:ext uri="{FF2B5EF4-FFF2-40B4-BE49-F238E27FC236}">
                <a16:creationId xmlns:a16="http://schemas.microsoft.com/office/drawing/2014/main" id="{D2D51950-40DA-4BCE-A789-A858B88EEEAE}"/>
              </a:ext>
            </a:extLst>
          </p:cNvPr>
          <p:cNvGraphicFramePr>
            <a:graphicFrameLocks noGrp="1"/>
          </p:cNvGraphicFramePr>
          <p:nvPr/>
        </p:nvGraphicFramePr>
        <p:xfrm>
          <a:off x="6590134" y="5385790"/>
          <a:ext cx="1509005" cy="346320"/>
        </p:xfrm>
        <a:graphic>
          <a:graphicData uri="http://schemas.openxmlformats.org/drawingml/2006/table">
            <a:tbl>
              <a:tblPr firstRow="1" bandRow="1">
                <a:tableStyleId>{7DF18680-E054-41AD-8BC1-D1AEF772440D}</a:tableStyleId>
              </a:tblPr>
              <a:tblGrid>
                <a:gridCol w="587352">
                  <a:extLst>
                    <a:ext uri="{9D8B030D-6E8A-4147-A177-3AD203B41FA5}">
                      <a16:colId xmlns:a16="http://schemas.microsoft.com/office/drawing/2014/main" val="20000"/>
                    </a:ext>
                  </a:extLst>
                </a:gridCol>
                <a:gridCol w="921653">
                  <a:extLst>
                    <a:ext uri="{9D8B030D-6E8A-4147-A177-3AD203B41FA5}">
                      <a16:colId xmlns:a16="http://schemas.microsoft.com/office/drawing/2014/main" val="20001"/>
                    </a:ext>
                  </a:extLst>
                </a:gridCol>
              </a:tblGrid>
              <a:tr h="0">
                <a:tc gridSpan="2">
                  <a:txBody>
                    <a:bodyPr/>
                    <a:lstStyle/>
                    <a:p>
                      <a:pPr algn="ctr"/>
                      <a:r>
                        <a:rPr lang="en-GB" sz="900" u="none" dirty="0">
                          <a:solidFill>
                            <a:schemeClr val="bg1"/>
                          </a:solidFill>
                        </a:rPr>
                        <a:t>Promotional discounts</a:t>
                      </a:r>
                    </a:p>
                  </a:txBody>
                  <a:tcPr marL="25200" marR="25200" marT="18000" marB="18000"/>
                </a:tc>
                <a:tc hMerge="1">
                  <a:txBody>
                    <a:bodyPr/>
                    <a:lstStyle/>
                    <a:p>
                      <a:endParaRPr lang="en-GB"/>
                    </a:p>
                  </a:txBody>
                  <a:tcPr/>
                </a:tc>
                <a:extLst>
                  <a:ext uri="{0D108BD9-81ED-4DB2-BD59-A6C34878D82A}">
                    <a16:rowId xmlns:a16="http://schemas.microsoft.com/office/drawing/2014/main" val="10000"/>
                  </a:ext>
                </a:extLst>
              </a:tr>
              <a:tr h="0">
                <a:tc>
                  <a:txBody>
                    <a:bodyPr/>
                    <a:lstStyle/>
                    <a:p>
                      <a:pPr algn="ctr"/>
                      <a:r>
                        <a:rPr lang="en-GB" sz="900" u="none">
                          <a:solidFill>
                            <a:schemeClr val="tx1"/>
                          </a:solidFill>
                        </a:rPr>
                        <a:t>2.4%</a:t>
                      </a:r>
                    </a:p>
                  </a:txBody>
                  <a:tcPr marL="25200" marR="25200" marT="18000" marB="18000"/>
                </a:tc>
                <a:tc>
                  <a:txBody>
                    <a:bodyPr/>
                    <a:lstStyle/>
                    <a:p>
                      <a:pPr algn="ctr"/>
                      <a:r>
                        <a:rPr lang="en-GB" sz="900" u="none" dirty="0">
                          <a:solidFill>
                            <a:schemeClr val="tx1"/>
                          </a:solidFill>
                        </a:rPr>
                        <a:t>£1.2 million</a:t>
                      </a:r>
                    </a:p>
                  </a:txBody>
                  <a:tcPr marL="25200" marR="25200" marT="18000" marB="18000"/>
                </a:tc>
                <a:extLst>
                  <a:ext uri="{0D108BD9-81ED-4DB2-BD59-A6C34878D82A}">
                    <a16:rowId xmlns:a16="http://schemas.microsoft.com/office/drawing/2014/main" val="10001"/>
                  </a:ext>
                </a:extLst>
              </a:tr>
            </a:tbl>
          </a:graphicData>
        </a:graphic>
      </p:graphicFrame>
      <p:sp>
        <p:nvSpPr>
          <p:cNvPr id="109" name="TextBox 108">
            <a:extLst>
              <a:ext uri="{FF2B5EF4-FFF2-40B4-BE49-F238E27FC236}">
                <a16:creationId xmlns:a16="http://schemas.microsoft.com/office/drawing/2014/main" id="{B12C18B4-4C7D-4A52-99C0-08B633FFA606}"/>
              </a:ext>
            </a:extLst>
          </p:cNvPr>
          <p:cNvSpPr txBox="1"/>
          <p:nvPr/>
        </p:nvSpPr>
        <p:spPr>
          <a:xfrm>
            <a:off x="2897002" y="5486737"/>
            <a:ext cx="180000" cy="107102"/>
          </a:xfrm>
          <a:prstGeom prst="rect">
            <a:avLst/>
          </a:prstGeom>
          <a:solidFill>
            <a:schemeClr val="bg1"/>
          </a:solidFill>
        </p:spPr>
        <p:txBody>
          <a:bodyPr wrap="square" lIns="54610" tIns="54610" rIns="54610" bIns="54610" rtlCol="0" anchor="ctr">
            <a:noAutofit/>
          </a:bodyPr>
          <a:lstStyle/>
          <a:p>
            <a:pPr algn="ctr">
              <a:spcAft>
                <a:spcPts val="600"/>
              </a:spcAft>
            </a:pPr>
            <a:r>
              <a:rPr lang="en-GB" b="1" dirty="0">
                <a:latin typeface="Arial" panose="020B0604020202020204" pitchFamily="34" charset="0"/>
                <a:cs typeface="Arial" panose="020B0604020202020204" pitchFamily="34" charset="0"/>
              </a:rPr>
              <a:t>—</a:t>
            </a:r>
            <a:endParaRPr lang="en-GB" b="1" dirty="0"/>
          </a:p>
        </p:txBody>
      </p:sp>
      <p:sp>
        <p:nvSpPr>
          <p:cNvPr id="110" name="TextBox 109">
            <a:extLst>
              <a:ext uri="{FF2B5EF4-FFF2-40B4-BE49-F238E27FC236}">
                <a16:creationId xmlns:a16="http://schemas.microsoft.com/office/drawing/2014/main" id="{FB27A9F9-8A76-441F-8709-8CE2529DF53C}"/>
              </a:ext>
            </a:extLst>
          </p:cNvPr>
          <p:cNvSpPr txBox="1"/>
          <p:nvPr/>
        </p:nvSpPr>
        <p:spPr>
          <a:xfrm>
            <a:off x="2632601" y="3711543"/>
            <a:ext cx="111760" cy="95124"/>
          </a:xfrm>
          <a:prstGeom prst="rect">
            <a:avLst/>
          </a:prstGeom>
          <a:solidFill>
            <a:schemeClr val="bg1"/>
          </a:solidFill>
        </p:spPr>
        <p:txBody>
          <a:bodyPr wrap="square" lIns="54610" tIns="54610" rIns="54610" bIns="54610" rtlCol="0" anchor="ctr">
            <a:noAutofit/>
          </a:bodyPr>
          <a:lstStyle/>
          <a:p>
            <a:pPr algn="ctr">
              <a:spcAft>
                <a:spcPts val="600"/>
              </a:spcAft>
            </a:pPr>
            <a:r>
              <a:rPr lang="en-GB" sz="1000" b="1" dirty="0"/>
              <a:t>x</a:t>
            </a:r>
          </a:p>
        </p:txBody>
      </p:sp>
      <p:graphicFrame>
        <p:nvGraphicFramePr>
          <p:cNvPr id="111" name="Table 110">
            <a:extLst>
              <a:ext uri="{FF2B5EF4-FFF2-40B4-BE49-F238E27FC236}">
                <a16:creationId xmlns:a16="http://schemas.microsoft.com/office/drawing/2014/main" id="{B448ED50-A921-4CC4-BA48-C5D276E69AB9}"/>
              </a:ext>
            </a:extLst>
          </p:cNvPr>
          <p:cNvGraphicFramePr>
            <a:graphicFrameLocks noGrp="1"/>
          </p:cNvGraphicFramePr>
          <p:nvPr/>
        </p:nvGraphicFramePr>
        <p:xfrm>
          <a:off x="9678300" y="5385790"/>
          <a:ext cx="1234396" cy="346320"/>
        </p:xfrm>
        <a:graphic>
          <a:graphicData uri="http://schemas.openxmlformats.org/drawingml/2006/table">
            <a:tbl>
              <a:tblPr firstRow="1" bandRow="1">
                <a:tableStyleId>{5C22544A-7EE6-4342-B048-85BDC9FD1C3A}</a:tableStyleId>
              </a:tblPr>
              <a:tblGrid>
                <a:gridCol w="1234396">
                  <a:extLst>
                    <a:ext uri="{9D8B030D-6E8A-4147-A177-3AD203B41FA5}">
                      <a16:colId xmlns:a16="http://schemas.microsoft.com/office/drawing/2014/main" val="20000"/>
                    </a:ext>
                  </a:extLst>
                </a:gridCol>
              </a:tblGrid>
              <a:tr h="62442">
                <a:tc>
                  <a:txBody>
                    <a:bodyPr/>
                    <a:lstStyle/>
                    <a:p>
                      <a:pPr algn="ctr"/>
                      <a:r>
                        <a:rPr lang="en-GB" sz="900" u="none">
                          <a:solidFill>
                            <a:schemeClr val="bg1"/>
                          </a:solidFill>
                        </a:rPr>
                        <a:t>Online net revenue</a:t>
                      </a:r>
                    </a:p>
                  </a:txBody>
                  <a:tcPr marL="25200" marR="25200" marT="18000" marB="18000"/>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£30.3 million</a:t>
                      </a:r>
                    </a:p>
                  </a:txBody>
                  <a:tcPr marL="25200" marR="25200" marT="18000" marB="18000"/>
                </a:tc>
                <a:extLst>
                  <a:ext uri="{0D108BD9-81ED-4DB2-BD59-A6C34878D82A}">
                    <a16:rowId xmlns:a16="http://schemas.microsoft.com/office/drawing/2014/main" val="10001"/>
                  </a:ext>
                </a:extLst>
              </a:tr>
            </a:tbl>
          </a:graphicData>
        </a:graphic>
      </p:graphicFrame>
      <p:sp>
        <p:nvSpPr>
          <p:cNvPr id="112" name="TextBox 111">
            <a:extLst>
              <a:ext uri="{FF2B5EF4-FFF2-40B4-BE49-F238E27FC236}">
                <a16:creationId xmlns:a16="http://schemas.microsoft.com/office/drawing/2014/main" id="{350B6828-9E13-4A94-84B8-68739EF80F28}"/>
              </a:ext>
            </a:extLst>
          </p:cNvPr>
          <p:cNvSpPr txBox="1"/>
          <p:nvPr/>
        </p:nvSpPr>
        <p:spPr>
          <a:xfrm>
            <a:off x="8782295" y="5505399"/>
            <a:ext cx="180000" cy="107102"/>
          </a:xfrm>
          <a:prstGeom prst="rect">
            <a:avLst/>
          </a:prstGeom>
          <a:solidFill>
            <a:schemeClr val="bg1"/>
          </a:solidFill>
        </p:spPr>
        <p:txBody>
          <a:bodyPr wrap="square" lIns="54610" tIns="54610" rIns="54610" bIns="54610" rtlCol="0" anchor="ctr">
            <a:noAutofit/>
          </a:bodyPr>
          <a:lstStyle/>
          <a:p>
            <a:pPr algn="ctr">
              <a:spcAft>
                <a:spcPts val="600"/>
              </a:spcAft>
            </a:pPr>
            <a:r>
              <a:rPr lang="en-GB" b="1" dirty="0">
                <a:latin typeface="Arial" panose="020B0604020202020204" pitchFamily="34" charset="0"/>
                <a:cs typeface="Arial" panose="020B0604020202020204" pitchFamily="34" charset="0"/>
              </a:rPr>
              <a:t>=</a:t>
            </a:r>
            <a:endParaRPr lang="en-GB" b="1" dirty="0"/>
          </a:p>
        </p:txBody>
      </p:sp>
      <p:graphicFrame>
        <p:nvGraphicFramePr>
          <p:cNvPr id="113" name="Table 112">
            <a:extLst>
              <a:ext uri="{FF2B5EF4-FFF2-40B4-BE49-F238E27FC236}">
                <a16:creationId xmlns:a16="http://schemas.microsoft.com/office/drawing/2014/main" id="{48F5BCEB-080E-4B38-AF87-E3EBD0F70845}"/>
              </a:ext>
            </a:extLst>
          </p:cNvPr>
          <p:cNvGraphicFramePr>
            <a:graphicFrameLocks noGrp="1"/>
          </p:cNvGraphicFramePr>
          <p:nvPr/>
        </p:nvGraphicFramePr>
        <p:xfrm>
          <a:off x="5238314" y="3473433"/>
          <a:ext cx="1014652" cy="346320"/>
        </p:xfrm>
        <a:graphic>
          <a:graphicData uri="http://schemas.openxmlformats.org/drawingml/2006/table">
            <a:tbl>
              <a:tblPr firstRow="1" bandRow="1">
                <a:tableStyleId>{00A15C55-8517-42AA-B614-E9B94910E393}</a:tableStyleId>
              </a:tblPr>
              <a:tblGrid>
                <a:gridCol w="1014652">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Traffic </a:t>
                      </a:r>
                    </a:p>
                  </a:txBody>
                  <a:tcPr marL="25200" marR="25200" marT="18000" marB="18000"/>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11.9 million</a:t>
                      </a:r>
                    </a:p>
                  </a:txBody>
                  <a:tcPr marL="25200" marR="25200" marT="18000" marB="18000"/>
                </a:tc>
                <a:extLst>
                  <a:ext uri="{0D108BD9-81ED-4DB2-BD59-A6C34878D82A}">
                    <a16:rowId xmlns:a16="http://schemas.microsoft.com/office/drawing/2014/main" val="10001"/>
                  </a:ext>
                </a:extLst>
              </a:tr>
            </a:tbl>
          </a:graphicData>
        </a:graphic>
      </p:graphicFrame>
      <p:graphicFrame>
        <p:nvGraphicFramePr>
          <p:cNvPr id="114" name="Table 113">
            <a:extLst>
              <a:ext uri="{FF2B5EF4-FFF2-40B4-BE49-F238E27FC236}">
                <a16:creationId xmlns:a16="http://schemas.microsoft.com/office/drawing/2014/main" id="{F3BFE59A-A305-4148-A7F0-A2397AC2B253}"/>
              </a:ext>
            </a:extLst>
          </p:cNvPr>
          <p:cNvGraphicFramePr>
            <a:graphicFrameLocks noGrp="1"/>
          </p:cNvGraphicFramePr>
          <p:nvPr/>
        </p:nvGraphicFramePr>
        <p:xfrm>
          <a:off x="5238314" y="2298723"/>
          <a:ext cx="1014652" cy="346320"/>
        </p:xfrm>
        <a:graphic>
          <a:graphicData uri="http://schemas.openxmlformats.org/drawingml/2006/table">
            <a:tbl>
              <a:tblPr firstRow="1" bandRow="1">
                <a:tableStyleId>{00A15C55-8517-42AA-B614-E9B94910E393}</a:tableStyleId>
              </a:tblPr>
              <a:tblGrid>
                <a:gridCol w="1014652">
                  <a:extLst>
                    <a:ext uri="{9D8B030D-6E8A-4147-A177-3AD203B41FA5}">
                      <a16:colId xmlns:a16="http://schemas.microsoft.com/office/drawing/2014/main" val="20000"/>
                    </a:ext>
                  </a:extLst>
                </a:gridCol>
              </a:tblGrid>
              <a:tr h="62442">
                <a:tc>
                  <a:txBody>
                    <a:bodyPr/>
                    <a:lstStyle/>
                    <a:p>
                      <a:pPr algn="ctr"/>
                      <a:r>
                        <a:rPr lang="en-GB" sz="900" u="none" dirty="0">
                          <a:solidFill>
                            <a:schemeClr val="bg1"/>
                          </a:solidFill>
                        </a:rPr>
                        <a:t>Conversion </a:t>
                      </a:r>
                    </a:p>
                  </a:txBody>
                  <a:tcPr marL="25200" marR="25200" marT="18000" marB="18000"/>
                </a:tc>
                <a:extLst>
                  <a:ext uri="{0D108BD9-81ED-4DB2-BD59-A6C34878D82A}">
                    <a16:rowId xmlns:a16="http://schemas.microsoft.com/office/drawing/2014/main" val="10000"/>
                  </a:ext>
                </a:extLst>
              </a:tr>
              <a:tr h="62442">
                <a:tc>
                  <a:txBody>
                    <a:bodyPr/>
                    <a:lstStyle/>
                    <a:p>
                      <a:pPr algn="ctr"/>
                      <a:r>
                        <a:rPr lang="en-GB" sz="900" u="none" dirty="0">
                          <a:solidFill>
                            <a:schemeClr val="tx1"/>
                          </a:solidFill>
                        </a:rPr>
                        <a:t>1.8%</a:t>
                      </a:r>
                    </a:p>
                  </a:txBody>
                  <a:tcPr marL="25200" marR="25200" marT="18000" marB="18000"/>
                </a:tc>
                <a:extLst>
                  <a:ext uri="{0D108BD9-81ED-4DB2-BD59-A6C34878D82A}">
                    <a16:rowId xmlns:a16="http://schemas.microsoft.com/office/drawing/2014/main" val="10001"/>
                  </a:ext>
                </a:extLst>
              </a:tr>
            </a:tbl>
          </a:graphicData>
        </a:graphic>
      </p:graphicFrame>
      <p:cxnSp>
        <p:nvCxnSpPr>
          <p:cNvPr id="115" name="Elbow Connector 54">
            <a:extLst>
              <a:ext uri="{FF2B5EF4-FFF2-40B4-BE49-F238E27FC236}">
                <a16:creationId xmlns:a16="http://schemas.microsoft.com/office/drawing/2014/main" id="{2342B70E-917D-4BE5-AA56-ADA8D8049873}"/>
              </a:ext>
            </a:extLst>
          </p:cNvPr>
          <p:cNvCxnSpPr>
            <a:cxnSpLocks/>
            <a:stCxn id="114" idx="1"/>
            <a:endCxn id="113" idx="1"/>
          </p:cNvCxnSpPr>
          <p:nvPr/>
        </p:nvCxnSpPr>
        <p:spPr>
          <a:xfrm rot="10800000" flipV="1">
            <a:off x="5238314" y="2471883"/>
            <a:ext cx="12700" cy="1174710"/>
          </a:xfrm>
          <a:prstGeom prst="bentConnector3">
            <a:avLst>
              <a:gd name="adj1" fmla="val 3710205"/>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A7181708-334C-4E32-A9EF-028117CF691A}"/>
              </a:ext>
            </a:extLst>
          </p:cNvPr>
          <p:cNvSpPr txBox="1"/>
          <p:nvPr/>
        </p:nvSpPr>
        <p:spPr>
          <a:xfrm>
            <a:off x="4706014" y="3021969"/>
            <a:ext cx="111760" cy="127651"/>
          </a:xfrm>
          <a:prstGeom prst="rect">
            <a:avLst/>
          </a:prstGeom>
          <a:solidFill>
            <a:schemeClr val="bg1"/>
          </a:solidFill>
        </p:spPr>
        <p:txBody>
          <a:bodyPr wrap="square" lIns="54610" tIns="54610" rIns="54610" bIns="54610" rtlCol="0" anchor="ctr">
            <a:noAutofit/>
          </a:bodyPr>
          <a:lstStyle/>
          <a:p>
            <a:pPr algn="ctr">
              <a:spcAft>
                <a:spcPts val="600"/>
              </a:spcAft>
            </a:pPr>
            <a:r>
              <a:rPr lang="en-GB" sz="1000" b="1"/>
              <a:t>x</a:t>
            </a:r>
          </a:p>
        </p:txBody>
      </p:sp>
      <p:cxnSp>
        <p:nvCxnSpPr>
          <p:cNvPr id="117" name="Straight Connector 116">
            <a:extLst>
              <a:ext uri="{FF2B5EF4-FFF2-40B4-BE49-F238E27FC236}">
                <a16:creationId xmlns:a16="http://schemas.microsoft.com/office/drawing/2014/main" id="{F552207A-DC1C-4B6C-AC6F-29F66ECB4129}"/>
              </a:ext>
            </a:extLst>
          </p:cNvPr>
          <p:cNvCxnSpPr>
            <a:cxnSpLocks/>
            <a:stCxn id="84" idx="3"/>
            <a:endCxn id="116" idx="1"/>
          </p:cNvCxnSpPr>
          <p:nvPr/>
        </p:nvCxnSpPr>
        <p:spPr>
          <a:xfrm flipV="1">
            <a:off x="4202375" y="3085795"/>
            <a:ext cx="503639" cy="390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B4D59065-33C5-42BF-BC62-4D18885D508D}"/>
              </a:ext>
            </a:extLst>
          </p:cNvPr>
          <p:cNvSpPr txBox="1"/>
          <p:nvPr/>
        </p:nvSpPr>
        <p:spPr>
          <a:xfrm>
            <a:off x="9081324" y="4372236"/>
            <a:ext cx="111760" cy="107102"/>
          </a:xfrm>
          <a:prstGeom prst="rect">
            <a:avLst/>
          </a:prstGeom>
          <a:solidFill>
            <a:schemeClr val="bg1"/>
          </a:solidFill>
        </p:spPr>
        <p:txBody>
          <a:bodyPr wrap="square" lIns="36000" tIns="36000" rIns="36000" bIns="36000" rtlCol="0" anchor="ctr">
            <a:noAutofit/>
          </a:bodyPr>
          <a:lstStyle/>
          <a:p>
            <a:pPr algn="ctr">
              <a:spcAft>
                <a:spcPts val="600"/>
              </a:spcAft>
            </a:pPr>
            <a:r>
              <a:rPr lang="en-GB" sz="1000" b="1" dirty="0"/>
              <a:t>+</a:t>
            </a:r>
          </a:p>
        </p:txBody>
      </p:sp>
      <p:sp>
        <p:nvSpPr>
          <p:cNvPr id="3" name="UpSlide SubSection Marker" hidden="1">
            <a:extLst>
              <a:ext uri="{FF2B5EF4-FFF2-40B4-BE49-F238E27FC236}">
                <a16:creationId xmlns:a16="http://schemas.microsoft.com/office/drawing/2014/main" id="{693B232A-504A-4375-AE06-8CF9DEEB10E4}"/>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overview</a:t>
            </a:r>
            <a:endParaRPr lang="en-GB" sz="900" dirty="0">
              <a:solidFill>
                <a:schemeClr val="bg1"/>
              </a:solidFill>
            </a:endParaRPr>
          </a:p>
        </p:txBody>
      </p:sp>
      <p:sp>
        <p:nvSpPr>
          <p:cNvPr id="122" name="Rectangle: Rounded Corners 121">
            <a:hlinkClick r:id="rId7" action="ppaction://hlinksldjump"/>
            <a:extLst>
              <a:ext uri="{FF2B5EF4-FFF2-40B4-BE49-F238E27FC236}">
                <a16:creationId xmlns:a16="http://schemas.microsoft.com/office/drawing/2014/main" id="{60895578-A3D9-42E3-A27F-9721101E5EDA}"/>
              </a:ext>
            </a:extLst>
          </p:cNvPr>
          <p:cNvSpPr/>
          <p:nvPr/>
        </p:nvSpPr>
        <p:spPr>
          <a:xfrm>
            <a:off x="963030" y="247361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grpSp>
        <p:nvGrpSpPr>
          <p:cNvPr id="63" name="Group 62">
            <a:extLst>
              <a:ext uri="{FF2B5EF4-FFF2-40B4-BE49-F238E27FC236}">
                <a16:creationId xmlns:a16="http://schemas.microsoft.com/office/drawing/2014/main" id="{7E563A72-CF12-4F27-BA5F-76011D5720BA}"/>
              </a:ext>
            </a:extLst>
          </p:cNvPr>
          <p:cNvGrpSpPr/>
          <p:nvPr>
            <p:custDataLst>
              <p:tags r:id="rId3"/>
            </p:custDataLst>
          </p:nvPr>
        </p:nvGrpSpPr>
        <p:grpSpPr>
          <a:xfrm>
            <a:off x="995364" y="153170"/>
            <a:ext cx="6245240" cy="195814"/>
            <a:chOff x="995364" y="153170"/>
            <a:chExt cx="6245240" cy="195814"/>
          </a:xfrm>
        </p:grpSpPr>
        <p:sp>
          <p:nvSpPr>
            <p:cNvPr id="75" name="Current Section1">
              <a:hlinkClick r:id="rId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88"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89"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90"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91"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92"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93"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4377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A11E98A7-7910-430F-8482-845110D88CCF}"/>
              </a:ext>
            </a:extLst>
          </p:cNvPr>
          <p:cNvPicPr>
            <a:picLocks noChangeAspect="1"/>
          </p:cNvPicPr>
          <p:nvPr>
            <p:custDataLst>
              <p:tags r:id="rId1"/>
            </p:custDataLst>
          </p:nvPr>
        </p:nvPicPr>
        <p:blipFill>
          <a:blip r:embed="rId15"/>
          <a:stretch>
            <a:fillRect/>
          </a:stretch>
        </p:blipFill>
        <p:spPr>
          <a:xfrm>
            <a:off x="7963849" y="3750996"/>
            <a:ext cx="3039634" cy="2020328"/>
          </a:xfrm>
          <a:prstGeom prst="rect">
            <a:avLst/>
          </a:prstGeom>
        </p:spPr>
      </p:pic>
      <p:graphicFrame>
        <p:nvGraphicFramePr>
          <p:cNvPr id="7" name="Object 6" hidden="1">
            <a:extLst>
              <a:ext uri="{FF2B5EF4-FFF2-40B4-BE49-F238E27FC236}">
                <a16:creationId xmlns:a16="http://schemas.microsoft.com/office/drawing/2014/main" id="{4C4B1010-668E-4F9F-AAF4-E14FB115F1D4}"/>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6" imgW="395" imgH="394" progId="TCLayout.ActiveDocument.1">
                  <p:embed/>
                </p:oleObj>
              </mc:Choice>
              <mc:Fallback>
                <p:oleObj name="think-cell Slide" r:id="rId16" imgW="395" imgH="394" progId="TCLayout.ActiveDocument.1">
                  <p:embed/>
                  <p:pic>
                    <p:nvPicPr>
                      <p:cNvPr id="7" name="Object 6" hidden="1">
                        <a:extLst>
                          <a:ext uri="{FF2B5EF4-FFF2-40B4-BE49-F238E27FC236}">
                            <a16:creationId xmlns:a16="http://schemas.microsoft.com/office/drawing/2014/main" id="{4C4B1010-668E-4F9F-AAF4-E14FB115F1D4}"/>
                          </a:ext>
                        </a:extLst>
                      </p:cNvPr>
                      <p:cNvPicPr/>
                      <p:nvPr/>
                    </p:nvPicPr>
                    <p:blipFill>
                      <a:blip r:embed="rId17"/>
                      <a:stretch>
                        <a:fillRect/>
                      </a:stretch>
                    </p:blipFill>
                    <p:spPr>
                      <a:xfrm>
                        <a:off x="1589" y="1589"/>
                        <a:ext cx="1588" cy="1588"/>
                      </a:xfrm>
                      <a:prstGeom prst="rect">
                        <a:avLst/>
                      </a:prstGeom>
                    </p:spPr>
                  </p:pic>
                </p:oleObj>
              </mc:Fallback>
            </mc:AlternateContent>
          </a:graphicData>
        </a:graphic>
      </p:graphicFrame>
      <p:sp>
        <p:nvSpPr>
          <p:cNvPr id="120" name="Rectangle: Rounded Corners 119">
            <a:hlinkClick r:id="rId18" action="ppaction://hlinksldjump"/>
            <a:extLst>
              <a:ext uri="{FF2B5EF4-FFF2-40B4-BE49-F238E27FC236}">
                <a16:creationId xmlns:a16="http://schemas.microsoft.com/office/drawing/2014/main" id="{7DA75E49-3563-4EC7-BF5B-F8E48788560F}"/>
              </a:ext>
            </a:extLst>
          </p:cNvPr>
          <p:cNvSpPr/>
          <p:nvPr/>
        </p:nvSpPr>
        <p:spPr>
          <a:xfrm>
            <a:off x="3503614" y="146679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21" name="Rectangle: Rounded Corners 120">
            <a:hlinkClick r:id="rId19" action="ppaction://hlinksldjump"/>
            <a:extLst>
              <a:ext uri="{FF2B5EF4-FFF2-40B4-BE49-F238E27FC236}">
                <a16:creationId xmlns:a16="http://schemas.microsoft.com/office/drawing/2014/main" id="{145C8490-7C3D-4C63-A193-A3A3A22E9484}"/>
              </a:ext>
            </a:extLst>
          </p:cNvPr>
          <p:cNvSpPr/>
          <p:nvPr/>
        </p:nvSpPr>
        <p:spPr>
          <a:xfrm>
            <a:off x="6936147" y="146679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22" name="Rectangle: Rounded Corners 121">
            <a:hlinkClick r:id="rId19" action="ppaction://hlinksldjump"/>
            <a:extLst>
              <a:ext uri="{FF2B5EF4-FFF2-40B4-BE49-F238E27FC236}">
                <a16:creationId xmlns:a16="http://schemas.microsoft.com/office/drawing/2014/main" id="{05913B48-AC46-4955-BAE3-D7CC3A092B22}"/>
              </a:ext>
            </a:extLst>
          </p:cNvPr>
          <p:cNvSpPr/>
          <p:nvPr/>
        </p:nvSpPr>
        <p:spPr>
          <a:xfrm>
            <a:off x="10368682" y="146679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23" name="Rectangle: Rounded Corners 122">
            <a:hlinkClick r:id="rId20" action="ppaction://hlinksldjump"/>
            <a:extLst>
              <a:ext uri="{FF2B5EF4-FFF2-40B4-BE49-F238E27FC236}">
                <a16:creationId xmlns:a16="http://schemas.microsoft.com/office/drawing/2014/main" id="{F723D363-E271-476D-AD0F-7AFD16AD942E}"/>
              </a:ext>
            </a:extLst>
          </p:cNvPr>
          <p:cNvSpPr/>
          <p:nvPr/>
        </p:nvSpPr>
        <p:spPr>
          <a:xfrm>
            <a:off x="3503614" y="3808777"/>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124" name="Rectangle: Rounded Corners 123">
            <a:hlinkClick r:id="rId21" action="ppaction://hlinksldjump"/>
            <a:extLst>
              <a:ext uri="{FF2B5EF4-FFF2-40B4-BE49-F238E27FC236}">
                <a16:creationId xmlns:a16="http://schemas.microsoft.com/office/drawing/2014/main" id="{EA205AC3-5460-4074-9C29-F7B03FC2D90D}"/>
              </a:ext>
            </a:extLst>
          </p:cNvPr>
          <p:cNvSpPr/>
          <p:nvPr/>
        </p:nvSpPr>
        <p:spPr>
          <a:xfrm>
            <a:off x="6936147" y="3808777"/>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25" name="Rectangle: Rounded Corners 124">
            <a:hlinkClick r:id="rId22" action="ppaction://hlinksldjump"/>
            <a:extLst>
              <a:ext uri="{FF2B5EF4-FFF2-40B4-BE49-F238E27FC236}">
                <a16:creationId xmlns:a16="http://schemas.microsoft.com/office/drawing/2014/main" id="{8BB3BD08-F6AE-4C0E-97DC-9D0F222327AA}"/>
              </a:ext>
            </a:extLst>
          </p:cNvPr>
          <p:cNvSpPr/>
          <p:nvPr/>
        </p:nvSpPr>
        <p:spPr>
          <a:xfrm>
            <a:off x="10368682" y="3808777"/>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68" name="Title 1">
            <a:extLst>
              <a:ext uri="{FF2B5EF4-FFF2-40B4-BE49-F238E27FC236}">
                <a16:creationId xmlns:a16="http://schemas.microsoft.com/office/drawing/2014/main" id="{20AC1B8F-70C5-4F7E-8340-0D44788C4C69}"/>
              </a:ext>
            </a:extLst>
          </p:cNvPr>
          <p:cNvSpPr>
            <a:spLocks noGrp="1"/>
          </p:cNvSpPr>
          <p:nvPr>
            <p:ph type="title"/>
          </p:nvPr>
        </p:nvSpPr>
        <p:spPr/>
        <p:txBody>
          <a:bodyPr/>
          <a:lstStyle/>
          <a:p>
            <a:r>
              <a:rPr lang="en-US"/>
              <a:t>Summary financials</a:t>
            </a:r>
          </a:p>
        </p:txBody>
      </p:sp>
      <p:sp>
        <p:nvSpPr>
          <p:cNvPr id="2" name="Text Placeholder 1">
            <a:extLst>
              <a:ext uri="{FF2B5EF4-FFF2-40B4-BE49-F238E27FC236}">
                <a16:creationId xmlns:a16="http://schemas.microsoft.com/office/drawing/2014/main" id="{6A2FFF75-8732-4893-8ADE-260CBF10B5CF}"/>
              </a:ext>
            </a:extLst>
          </p:cNvPr>
          <p:cNvSpPr>
            <a:spLocks noGrp="1"/>
          </p:cNvSpPr>
          <p:nvPr>
            <p:ph type="body" sz="quarter" idx="10"/>
          </p:nvPr>
        </p:nvSpPr>
        <p:spPr/>
        <p:txBody>
          <a:bodyPr/>
          <a:lstStyle/>
          <a:p>
            <a:r>
              <a:rPr lang="en-US"/>
              <a:t>Quality of earnings</a:t>
            </a:r>
          </a:p>
        </p:txBody>
      </p:sp>
      <p:sp>
        <p:nvSpPr>
          <p:cNvPr id="5" name="Text Placeholder 4">
            <a:extLst>
              <a:ext uri="{FF2B5EF4-FFF2-40B4-BE49-F238E27FC236}">
                <a16:creationId xmlns:a16="http://schemas.microsoft.com/office/drawing/2014/main" id="{D5781CEF-E43C-42C2-AFF6-7DF7743F159B}"/>
              </a:ext>
            </a:extLst>
          </p:cNvPr>
          <p:cNvSpPr>
            <a:spLocks noGrp="1"/>
          </p:cNvSpPr>
          <p:nvPr>
            <p:ph type="body" sz="quarter" idx="11"/>
          </p:nvPr>
        </p:nvSpPr>
        <p:spPr/>
        <p:txBody>
          <a:bodyPr/>
          <a:lstStyle/>
          <a:p>
            <a:r>
              <a:rPr lang="en-US"/>
              <a:t>Net working capital</a:t>
            </a:r>
          </a:p>
        </p:txBody>
      </p:sp>
      <p:sp>
        <p:nvSpPr>
          <p:cNvPr id="6" name="Text Placeholder 5">
            <a:extLst>
              <a:ext uri="{FF2B5EF4-FFF2-40B4-BE49-F238E27FC236}">
                <a16:creationId xmlns:a16="http://schemas.microsoft.com/office/drawing/2014/main" id="{67D934D8-293A-4D27-B19E-6E7396084CA5}"/>
              </a:ext>
            </a:extLst>
          </p:cNvPr>
          <p:cNvSpPr>
            <a:spLocks noGrp="1"/>
          </p:cNvSpPr>
          <p:nvPr>
            <p:ph type="body" sz="quarter" idx="12"/>
          </p:nvPr>
        </p:nvSpPr>
        <p:spPr/>
        <p:txBody>
          <a:bodyPr/>
          <a:lstStyle/>
          <a:p>
            <a:r>
              <a:rPr lang="en-US" dirty="0"/>
              <a:t>Net cash</a:t>
            </a:r>
          </a:p>
        </p:txBody>
      </p:sp>
      <p:sp>
        <p:nvSpPr>
          <p:cNvPr id="8" name="Text Placeholder 7">
            <a:extLst>
              <a:ext uri="{FF2B5EF4-FFF2-40B4-BE49-F238E27FC236}">
                <a16:creationId xmlns:a16="http://schemas.microsoft.com/office/drawing/2014/main" id="{B6533525-AB5B-4411-9D27-F474951AF245}"/>
              </a:ext>
            </a:extLst>
          </p:cNvPr>
          <p:cNvSpPr>
            <a:spLocks noGrp="1"/>
          </p:cNvSpPr>
          <p:nvPr>
            <p:ph type="body" sz="quarter" idx="13"/>
          </p:nvPr>
        </p:nvSpPr>
        <p:spPr/>
        <p:txBody>
          <a:bodyPr/>
          <a:lstStyle/>
          <a:p>
            <a:r>
              <a:rPr lang="en-US"/>
              <a:t>Sales by channel</a:t>
            </a:r>
          </a:p>
        </p:txBody>
      </p:sp>
      <p:sp>
        <p:nvSpPr>
          <p:cNvPr id="9" name="Text Placeholder 8">
            <a:extLst>
              <a:ext uri="{FF2B5EF4-FFF2-40B4-BE49-F238E27FC236}">
                <a16:creationId xmlns:a16="http://schemas.microsoft.com/office/drawing/2014/main" id="{FD97E336-3373-4EA8-8086-7D65062E6265}"/>
              </a:ext>
            </a:extLst>
          </p:cNvPr>
          <p:cNvSpPr>
            <a:spLocks noGrp="1"/>
          </p:cNvSpPr>
          <p:nvPr>
            <p:ph type="body" sz="quarter" idx="14"/>
          </p:nvPr>
        </p:nvSpPr>
        <p:spPr/>
        <p:txBody>
          <a:bodyPr/>
          <a:lstStyle/>
          <a:p>
            <a:r>
              <a:rPr lang="en-US"/>
              <a:t>LTM22 product sales by region</a:t>
            </a:r>
          </a:p>
        </p:txBody>
      </p:sp>
      <p:sp>
        <p:nvSpPr>
          <p:cNvPr id="10" name="Text Placeholder 9">
            <a:extLst>
              <a:ext uri="{FF2B5EF4-FFF2-40B4-BE49-F238E27FC236}">
                <a16:creationId xmlns:a16="http://schemas.microsoft.com/office/drawing/2014/main" id="{110A52E3-85AB-4D62-9860-5F5A38BCA8B1}"/>
              </a:ext>
            </a:extLst>
          </p:cNvPr>
          <p:cNvSpPr>
            <a:spLocks noGrp="1"/>
          </p:cNvSpPr>
          <p:nvPr>
            <p:ph type="body" sz="quarter" idx="15"/>
          </p:nvPr>
        </p:nvSpPr>
        <p:spPr/>
        <p:txBody>
          <a:bodyPr/>
          <a:lstStyle/>
          <a:p>
            <a:r>
              <a:rPr lang="en-US" dirty="0"/>
              <a:t>LTM22 Cost base</a:t>
            </a:r>
          </a:p>
        </p:txBody>
      </p:sp>
      <p:sp>
        <p:nvSpPr>
          <p:cNvPr id="93" name="Text Placeholder 12">
            <a:extLst>
              <a:ext uri="{FF2B5EF4-FFF2-40B4-BE49-F238E27FC236}">
                <a16:creationId xmlns:a16="http://schemas.microsoft.com/office/drawing/2014/main" id="{0F7533D9-8C86-46E2-AC53-41B003DC4705}"/>
              </a:ext>
            </a:extLst>
          </p:cNvPr>
          <p:cNvSpPr txBox="1">
            <a:spLocks/>
          </p:cNvSpPr>
          <p:nvPr/>
        </p:nvSpPr>
        <p:spPr>
          <a:xfrm>
            <a:off x="995121" y="5890451"/>
            <a:ext cx="331017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 </a:t>
            </a:r>
            <a:endParaRPr lang="en-US" sz="600" b="0">
              <a:solidFill>
                <a:schemeClr val="tx2"/>
              </a:solidFill>
              <a:latin typeface="Arial" panose="020B0604020202020204" pitchFamily="34" charset="0"/>
            </a:endParaRPr>
          </a:p>
        </p:txBody>
      </p:sp>
      <p:sp>
        <p:nvSpPr>
          <p:cNvPr id="3" name="TextBox 2">
            <a:extLst>
              <a:ext uri="{FF2B5EF4-FFF2-40B4-BE49-F238E27FC236}">
                <a16:creationId xmlns:a16="http://schemas.microsoft.com/office/drawing/2014/main" id="{8DDF630C-37E8-4E39-A570-66C6AA3EBBA7}"/>
              </a:ext>
            </a:extLst>
          </p:cNvPr>
          <p:cNvSpPr txBox="1"/>
          <p:nvPr/>
        </p:nvSpPr>
        <p:spPr>
          <a:xfrm>
            <a:off x="1271165" y="4082497"/>
            <a:ext cx="2702684" cy="888001"/>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sp>
        <p:nvSpPr>
          <p:cNvPr id="15" name="TextBox 14">
            <a:extLst>
              <a:ext uri="{FF2B5EF4-FFF2-40B4-BE49-F238E27FC236}">
                <a16:creationId xmlns:a16="http://schemas.microsoft.com/office/drawing/2014/main" id="{3A986E29-E095-4E13-A046-C25D85EAB2F8}"/>
              </a:ext>
            </a:extLst>
          </p:cNvPr>
          <p:cNvSpPr txBox="1"/>
          <p:nvPr/>
        </p:nvSpPr>
        <p:spPr>
          <a:xfrm>
            <a:off x="4619625" y="4152900"/>
            <a:ext cx="1599589" cy="1062639"/>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sp>
        <p:nvSpPr>
          <p:cNvPr id="20" name="TextBox 19">
            <a:extLst>
              <a:ext uri="{FF2B5EF4-FFF2-40B4-BE49-F238E27FC236}">
                <a16:creationId xmlns:a16="http://schemas.microsoft.com/office/drawing/2014/main" id="{CBB009D5-B48E-44A8-A187-0E77E1322EEA}"/>
              </a:ext>
            </a:extLst>
          </p:cNvPr>
          <p:cNvSpPr txBox="1"/>
          <p:nvPr/>
        </p:nvSpPr>
        <p:spPr>
          <a:xfrm>
            <a:off x="4490806" y="4082497"/>
            <a:ext cx="3195869" cy="1451528"/>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pic>
        <p:nvPicPr>
          <p:cNvPr id="11" name="Picture 10">
            <a:extLst>
              <a:ext uri="{FF2B5EF4-FFF2-40B4-BE49-F238E27FC236}">
                <a16:creationId xmlns:a16="http://schemas.microsoft.com/office/drawing/2014/main" id="{F346A0BE-2450-41AE-8848-1B42DF2E0721}"/>
              </a:ext>
            </a:extLst>
          </p:cNvPr>
          <p:cNvPicPr>
            <a:picLocks noChangeAspect="1"/>
          </p:cNvPicPr>
          <p:nvPr>
            <p:custDataLst>
              <p:tags r:id="rId3"/>
            </p:custDataLst>
          </p:nvPr>
        </p:nvPicPr>
        <p:blipFill>
          <a:blip r:embed="rId23"/>
          <a:stretch>
            <a:fillRect/>
          </a:stretch>
        </p:blipFill>
        <p:spPr>
          <a:xfrm>
            <a:off x="1090381" y="3987376"/>
            <a:ext cx="3195869" cy="1919958"/>
          </a:xfrm>
          <a:prstGeom prst="rect">
            <a:avLst/>
          </a:prstGeom>
        </p:spPr>
      </p:pic>
      <p:sp>
        <p:nvSpPr>
          <p:cNvPr id="25" name="TextBox 24">
            <a:extLst>
              <a:ext uri="{FF2B5EF4-FFF2-40B4-BE49-F238E27FC236}">
                <a16:creationId xmlns:a16="http://schemas.microsoft.com/office/drawing/2014/main" id="{D716CA89-F1C4-4096-9D6B-9BCCCCA50036}"/>
              </a:ext>
            </a:extLst>
          </p:cNvPr>
          <p:cNvSpPr txBox="1"/>
          <p:nvPr/>
        </p:nvSpPr>
        <p:spPr>
          <a:xfrm>
            <a:off x="4490806" y="4039341"/>
            <a:ext cx="3195869" cy="1751859"/>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pic>
        <p:nvPicPr>
          <p:cNvPr id="35" name="Picture 34">
            <a:extLst>
              <a:ext uri="{FF2B5EF4-FFF2-40B4-BE49-F238E27FC236}">
                <a16:creationId xmlns:a16="http://schemas.microsoft.com/office/drawing/2014/main" id="{EF3DF5C0-7DD8-460F-9721-FAEC3B154249}"/>
              </a:ext>
            </a:extLst>
          </p:cNvPr>
          <p:cNvPicPr>
            <a:picLocks noChangeAspect="1"/>
          </p:cNvPicPr>
          <p:nvPr>
            <p:custDataLst>
              <p:tags r:id="rId4"/>
            </p:custDataLst>
          </p:nvPr>
        </p:nvPicPr>
        <p:blipFill>
          <a:blip r:embed="rId24"/>
          <a:stretch>
            <a:fillRect/>
          </a:stretch>
        </p:blipFill>
        <p:spPr>
          <a:xfrm>
            <a:off x="4646793" y="4105276"/>
            <a:ext cx="2956512" cy="1717003"/>
          </a:xfrm>
          <a:prstGeom prst="rect">
            <a:avLst/>
          </a:prstGeom>
        </p:spPr>
      </p:pic>
      <p:sp>
        <p:nvSpPr>
          <p:cNvPr id="85" name="Text Placeholder 12">
            <a:extLst>
              <a:ext uri="{FF2B5EF4-FFF2-40B4-BE49-F238E27FC236}">
                <a16:creationId xmlns:a16="http://schemas.microsoft.com/office/drawing/2014/main" id="{61EA246A-FB91-4F91-97BF-B9C3D8C684DF}"/>
              </a:ext>
            </a:extLst>
          </p:cNvPr>
          <p:cNvSpPr txBox="1">
            <a:spLocks/>
          </p:cNvSpPr>
          <p:nvPr/>
        </p:nvSpPr>
        <p:spPr>
          <a:xfrm>
            <a:off x="4416006" y="5884518"/>
            <a:ext cx="331017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Transactional level data</a:t>
            </a:r>
            <a:endParaRPr lang="en-US" sz="600" b="0">
              <a:solidFill>
                <a:schemeClr val="tx2"/>
              </a:solidFill>
              <a:latin typeface="Arial" panose="020B0604020202020204" pitchFamily="34" charset="0"/>
            </a:endParaRPr>
          </a:p>
        </p:txBody>
      </p:sp>
      <p:sp>
        <p:nvSpPr>
          <p:cNvPr id="31" name="TextBox 30">
            <a:extLst>
              <a:ext uri="{FF2B5EF4-FFF2-40B4-BE49-F238E27FC236}">
                <a16:creationId xmlns:a16="http://schemas.microsoft.com/office/drawing/2014/main" id="{CFC9AF48-18A5-48CC-8D23-EBB26C2DC388}"/>
              </a:ext>
            </a:extLst>
          </p:cNvPr>
          <p:cNvSpPr txBox="1"/>
          <p:nvPr/>
        </p:nvSpPr>
        <p:spPr>
          <a:xfrm>
            <a:off x="7963849" y="4039341"/>
            <a:ext cx="3039634" cy="1751859"/>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sp>
        <p:nvSpPr>
          <p:cNvPr id="87" name="Text Placeholder 12">
            <a:extLst>
              <a:ext uri="{FF2B5EF4-FFF2-40B4-BE49-F238E27FC236}">
                <a16:creationId xmlns:a16="http://schemas.microsoft.com/office/drawing/2014/main" id="{79163F22-3AE8-4F80-A501-542A011FD016}"/>
              </a:ext>
            </a:extLst>
          </p:cNvPr>
          <p:cNvSpPr txBox="1">
            <a:spLocks/>
          </p:cNvSpPr>
          <p:nvPr/>
        </p:nvSpPr>
        <p:spPr>
          <a:xfrm>
            <a:off x="7857151" y="5890451"/>
            <a:ext cx="331017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 </a:t>
            </a:r>
            <a:endParaRPr lang="en-US" sz="600" b="0">
              <a:solidFill>
                <a:schemeClr val="tx2"/>
              </a:solidFill>
              <a:latin typeface="Arial" panose="020B0604020202020204" pitchFamily="34" charset="0"/>
            </a:endParaRPr>
          </a:p>
        </p:txBody>
      </p:sp>
      <p:sp>
        <p:nvSpPr>
          <p:cNvPr id="4" name="TextBox 3">
            <a:extLst>
              <a:ext uri="{FF2B5EF4-FFF2-40B4-BE49-F238E27FC236}">
                <a16:creationId xmlns:a16="http://schemas.microsoft.com/office/drawing/2014/main" id="{E100417B-525B-425E-ACE2-5B0AB7C631F4}"/>
              </a:ext>
            </a:extLst>
          </p:cNvPr>
          <p:cNvSpPr txBox="1"/>
          <p:nvPr/>
        </p:nvSpPr>
        <p:spPr>
          <a:xfrm>
            <a:off x="1090381" y="1782751"/>
            <a:ext cx="3096637" cy="1646249"/>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pic>
        <p:nvPicPr>
          <p:cNvPr id="13" name="Picture 12">
            <a:extLst>
              <a:ext uri="{FF2B5EF4-FFF2-40B4-BE49-F238E27FC236}">
                <a16:creationId xmlns:a16="http://schemas.microsoft.com/office/drawing/2014/main" id="{4907C379-84A9-4003-A441-DFF3ADCC1F8F}"/>
              </a:ext>
            </a:extLst>
          </p:cNvPr>
          <p:cNvPicPr>
            <a:picLocks noChangeAspect="1"/>
          </p:cNvPicPr>
          <p:nvPr>
            <p:custDataLst>
              <p:tags r:id="rId5"/>
            </p:custDataLst>
          </p:nvPr>
        </p:nvPicPr>
        <p:blipFill>
          <a:blip r:embed="rId25"/>
          <a:stretch>
            <a:fillRect/>
          </a:stretch>
        </p:blipFill>
        <p:spPr>
          <a:xfrm>
            <a:off x="1090381" y="1781385"/>
            <a:ext cx="3098800" cy="978491"/>
          </a:xfrm>
          <a:prstGeom prst="rect">
            <a:avLst/>
          </a:prstGeom>
        </p:spPr>
      </p:pic>
      <p:sp>
        <p:nvSpPr>
          <p:cNvPr id="49" name="Text Box 8">
            <a:extLst>
              <a:ext uri="{FF2B5EF4-FFF2-40B4-BE49-F238E27FC236}">
                <a16:creationId xmlns:a16="http://schemas.microsoft.com/office/drawing/2014/main" id="{0AC2DB0A-B928-4AF4-A043-A5E23A4BCECD}"/>
              </a:ext>
            </a:extLst>
          </p:cNvPr>
          <p:cNvSpPr txBox="1">
            <a:spLocks noChangeArrowheads="1"/>
          </p:cNvSpPr>
          <p:nvPr>
            <p:custDataLst>
              <p:tags r:id="rId6"/>
            </p:custDataLst>
          </p:nvPr>
        </p:nvSpPr>
        <p:spPr bwMode="auto">
          <a:xfrm>
            <a:off x="994997" y="3506298"/>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a:solidFill>
                  <a:schemeClr val="tx2"/>
                </a:solidFill>
                <a:cs typeface="Arial" pitchFamily="34" charset="0"/>
              </a:rPr>
              <a:t>Source: 6.1.6.2.1._Adjusted Earnings for FYE Jan 19, Jan 20, Jan21 and Jan 22	</a:t>
            </a:r>
          </a:p>
        </p:txBody>
      </p:sp>
      <p:pic>
        <p:nvPicPr>
          <p:cNvPr id="14" name="Picture 13">
            <a:extLst>
              <a:ext uri="{FF2B5EF4-FFF2-40B4-BE49-F238E27FC236}">
                <a16:creationId xmlns:a16="http://schemas.microsoft.com/office/drawing/2014/main" id="{1AE84C3E-2F55-4087-9505-8B68435017F1}"/>
              </a:ext>
            </a:extLst>
          </p:cNvPr>
          <p:cNvPicPr>
            <a:picLocks noChangeAspect="1"/>
          </p:cNvPicPr>
          <p:nvPr>
            <p:custDataLst>
              <p:tags r:id="rId7"/>
            </p:custDataLst>
          </p:nvPr>
        </p:nvPicPr>
        <p:blipFill>
          <a:blip r:embed="rId26"/>
          <a:stretch>
            <a:fillRect/>
          </a:stretch>
        </p:blipFill>
        <p:spPr>
          <a:xfrm>
            <a:off x="4539340" y="1779014"/>
            <a:ext cx="3098800" cy="1482685"/>
          </a:xfrm>
          <a:prstGeom prst="rect">
            <a:avLst/>
          </a:prstGeom>
        </p:spPr>
      </p:pic>
      <p:pic>
        <p:nvPicPr>
          <p:cNvPr id="30" name="Picture 29">
            <a:extLst>
              <a:ext uri="{FF2B5EF4-FFF2-40B4-BE49-F238E27FC236}">
                <a16:creationId xmlns:a16="http://schemas.microsoft.com/office/drawing/2014/main" id="{ADC9FCC2-3044-477F-90AB-ACA0A0165902}"/>
              </a:ext>
            </a:extLst>
          </p:cNvPr>
          <p:cNvPicPr>
            <a:picLocks noChangeAspect="1"/>
          </p:cNvPicPr>
          <p:nvPr>
            <p:custDataLst>
              <p:tags r:id="rId8"/>
            </p:custDataLst>
          </p:nvPr>
        </p:nvPicPr>
        <p:blipFill>
          <a:blip r:embed="rId27"/>
          <a:stretch>
            <a:fillRect/>
          </a:stretch>
        </p:blipFill>
        <p:spPr>
          <a:xfrm>
            <a:off x="7963849" y="1778716"/>
            <a:ext cx="3098800" cy="973341"/>
          </a:xfrm>
          <a:prstGeom prst="rect">
            <a:avLst/>
          </a:prstGeom>
        </p:spPr>
      </p:pic>
      <p:sp>
        <p:nvSpPr>
          <p:cNvPr id="62" name="Text Box 8">
            <a:extLst>
              <a:ext uri="{FF2B5EF4-FFF2-40B4-BE49-F238E27FC236}">
                <a16:creationId xmlns:a16="http://schemas.microsoft.com/office/drawing/2014/main" id="{9648018A-C897-4545-8E23-F8885E9F4B51}"/>
              </a:ext>
            </a:extLst>
          </p:cNvPr>
          <p:cNvSpPr txBox="1">
            <a:spLocks noChangeArrowheads="1"/>
          </p:cNvSpPr>
          <p:nvPr>
            <p:custDataLst>
              <p:tags r:id="rId9"/>
            </p:custDataLst>
          </p:nvPr>
        </p:nvSpPr>
        <p:spPr bwMode="auto">
          <a:xfrm>
            <a:off x="4425646" y="3513074"/>
            <a:ext cx="3398806" cy="137875"/>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a:solidFill>
                  <a:schemeClr val="tx2"/>
                </a:solidFill>
                <a:cs typeface="Arial" pitchFamily="34" charset="0"/>
              </a:rPr>
              <a:t>Source: P-L January 2019, P-L January 2020, P-L January 2021, P-L September 2021 	</a:t>
            </a:r>
          </a:p>
        </p:txBody>
      </p:sp>
      <p:sp>
        <p:nvSpPr>
          <p:cNvPr id="78" name="Text Box 8">
            <a:extLst>
              <a:ext uri="{FF2B5EF4-FFF2-40B4-BE49-F238E27FC236}">
                <a16:creationId xmlns:a16="http://schemas.microsoft.com/office/drawing/2014/main" id="{4A730F86-C674-4DCA-83DE-618437DF7F25}"/>
              </a:ext>
            </a:extLst>
          </p:cNvPr>
          <p:cNvSpPr txBox="1">
            <a:spLocks noChangeArrowheads="1"/>
          </p:cNvSpPr>
          <p:nvPr>
            <p:custDataLst>
              <p:tags r:id="rId10"/>
            </p:custDataLst>
          </p:nvPr>
        </p:nvSpPr>
        <p:spPr bwMode="auto">
          <a:xfrm>
            <a:off x="7855283" y="3534616"/>
            <a:ext cx="3552097" cy="108000"/>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a:solidFill>
                  <a:schemeClr val="tx2"/>
                </a:solidFill>
                <a:cs typeface="Arial" pitchFamily="34" charset="0"/>
              </a:rPr>
              <a:t>Source: P-L January 2019, P-L January 2020, P-L January 2021, P-L September 2021 	</a:t>
            </a:r>
          </a:p>
        </p:txBody>
      </p:sp>
      <p:sp>
        <p:nvSpPr>
          <p:cNvPr id="12" name="UpSlide SubSection Marker" hidden="1">
            <a:extLst>
              <a:ext uri="{FF2B5EF4-FFF2-40B4-BE49-F238E27FC236}">
                <a16:creationId xmlns:a16="http://schemas.microsoft.com/office/drawing/2014/main" id="{9CD9D85E-16AE-46A4-AB2E-146519272C69}"/>
              </a:ext>
            </a:extLst>
          </p:cNvPr>
          <p:cNvSpPr/>
          <p:nvPr>
            <p:custDataLst>
              <p:tags r:id="rId1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Summary financials</a:t>
            </a:r>
            <a:endParaRPr lang="en-GB" sz="900" dirty="0">
              <a:solidFill>
                <a:schemeClr val="bg1"/>
              </a:solidFill>
            </a:endParaRPr>
          </a:p>
        </p:txBody>
      </p:sp>
      <p:grpSp>
        <p:nvGrpSpPr>
          <p:cNvPr id="43" name="Group 42">
            <a:extLst>
              <a:ext uri="{FF2B5EF4-FFF2-40B4-BE49-F238E27FC236}">
                <a16:creationId xmlns:a16="http://schemas.microsoft.com/office/drawing/2014/main" id="{7E563A72-CF12-4F27-BA5F-76011D5720BA}"/>
              </a:ext>
            </a:extLst>
          </p:cNvPr>
          <p:cNvGrpSpPr/>
          <p:nvPr>
            <p:custDataLst>
              <p:tags r:id="rId12"/>
            </p:custDataLst>
          </p:nvPr>
        </p:nvGrpSpPr>
        <p:grpSpPr>
          <a:xfrm>
            <a:off x="995364" y="153170"/>
            <a:ext cx="6245240" cy="195814"/>
            <a:chOff x="995364" y="153170"/>
            <a:chExt cx="6245240" cy="195814"/>
          </a:xfrm>
        </p:grpSpPr>
        <p:sp>
          <p:nvSpPr>
            <p:cNvPr id="44" name="Current Section1">
              <a:hlinkClick r:id="rId2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5" name="Other Sections2">
              <a:hlinkClick r:id="rId2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6" name="Other Sections3">
              <a:hlinkClick r:id="rId30"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7" name="Other Sections4">
              <a:hlinkClick r:id="rId31"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8" name="Other Sections5">
              <a:hlinkClick r:id="rId32"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0" name="Other Sections6">
              <a:hlinkClick r:id="rId33"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1" name="Other Sections7">
              <a:hlinkClick r:id="rId34"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538061209"/>
      </p:ext>
    </p:extLst>
  </p:cSld>
  <p:clrMapOvr>
    <a:masterClrMapping/>
  </p:clrMapOvr>
  <p:extLst>
    <p:ext uri="{6950BFC3-D8DA-4A85-94F7-54DA5524770B}">
      <p188:commentRel xmlns:p188="http://schemas.microsoft.com/office/powerpoint/2018/8/main" r:id="rId1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B5D253DD-4A1E-4D90-B28C-73123A06ABD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4" progId="TCLayout.ActiveDocument.1">
                  <p:embed/>
                </p:oleObj>
              </mc:Choice>
              <mc:Fallback>
                <p:oleObj name="think-cell Slide" r:id="rId12" imgW="395" imgH="394" progId="TCLayout.ActiveDocument.1">
                  <p:embed/>
                  <p:pic>
                    <p:nvPicPr>
                      <p:cNvPr id="11" name="Object 10" hidden="1">
                        <a:extLst>
                          <a:ext uri="{FF2B5EF4-FFF2-40B4-BE49-F238E27FC236}">
                            <a16:creationId xmlns:a16="http://schemas.microsoft.com/office/drawing/2014/main" id="{B5D253DD-4A1E-4D90-B28C-73123A06ABDA}"/>
                          </a:ext>
                        </a:extLst>
                      </p:cNvPr>
                      <p:cNvPicPr/>
                      <p:nvPr/>
                    </p:nvPicPr>
                    <p:blipFill>
                      <a:blip r:embed="rId13"/>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9DD4205-527C-47EF-85DF-70EAB85BE181}"/>
              </a:ext>
            </a:extLst>
          </p:cNvPr>
          <p:cNvSpPr>
            <a:spLocks noGrp="1"/>
          </p:cNvSpPr>
          <p:nvPr>
            <p:ph type="title"/>
          </p:nvPr>
        </p:nvSpPr>
        <p:spPr/>
        <p:txBody>
          <a:bodyPr vert="horz"/>
          <a:lstStyle/>
          <a:p>
            <a:r>
              <a:rPr lang="en-US"/>
              <a:t>Key financial drivers </a:t>
            </a:r>
          </a:p>
        </p:txBody>
      </p:sp>
      <p:sp>
        <p:nvSpPr>
          <p:cNvPr id="2" name="Text Placeholder 1">
            <a:extLst>
              <a:ext uri="{FF2B5EF4-FFF2-40B4-BE49-F238E27FC236}">
                <a16:creationId xmlns:a16="http://schemas.microsoft.com/office/drawing/2014/main" id="{F1656988-66ED-476E-BB1F-92C27F49C81A}"/>
              </a:ext>
            </a:extLst>
          </p:cNvPr>
          <p:cNvSpPr>
            <a:spLocks noGrp="1"/>
          </p:cNvSpPr>
          <p:nvPr>
            <p:ph type="body" sz="quarter" idx="4294967295"/>
          </p:nvPr>
        </p:nvSpPr>
        <p:spPr>
          <a:xfrm>
            <a:off x="986655" y="1287797"/>
            <a:ext cx="9208271" cy="265113"/>
          </a:xfrm>
        </p:spPr>
        <p:txBody>
          <a:bodyPr/>
          <a:lstStyle/>
          <a:p>
            <a:r>
              <a:rPr lang="en-US" b="1" dirty="0">
                <a:solidFill>
                  <a:srgbClr val="00338D"/>
                </a:solidFill>
                <a:latin typeface="Arial"/>
              </a:rPr>
              <a:t>LTM22 reported financial summary, £’000</a:t>
            </a:r>
            <a:endParaRPr lang="en-US" dirty="0"/>
          </a:p>
        </p:txBody>
      </p:sp>
      <p:graphicFrame>
        <p:nvGraphicFramePr>
          <p:cNvPr id="165" name="Table 164">
            <a:extLst>
              <a:ext uri="{FF2B5EF4-FFF2-40B4-BE49-F238E27FC236}">
                <a16:creationId xmlns:a16="http://schemas.microsoft.com/office/drawing/2014/main" id="{A29D5909-E0F2-4FC9-86E8-8AEC43C81385}"/>
              </a:ext>
            </a:extLst>
          </p:cNvPr>
          <p:cNvGraphicFramePr>
            <a:graphicFrameLocks noGrp="1"/>
          </p:cNvGraphicFramePr>
          <p:nvPr>
            <p:custDataLst>
              <p:tags r:id="rId2"/>
            </p:custDataLst>
            <p:extLst>
              <p:ext uri="{D42A27DB-BD31-4B8C-83A1-F6EECF244321}">
                <p14:modId xmlns:p14="http://schemas.microsoft.com/office/powerpoint/2010/main" val="1101328633"/>
              </p:ext>
            </p:extLst>
          </p:nvPr>
        </p:nvGraphicFramePr>
        <p:xfrm>
          <a:off x="983376" y="4899043"/>
          <a:ext cx="10210224" cy="324123"/>
        </p:xfrm>
        <a:graphic>
          <a:graphicData uri="http://schemas.openxmlformats.org/drawingml/2006/table">
            <a:tbl>
              <a:tblPr firstRow="1" bandRow="1">
                <a:tableStyleId>{5C22544A-7EE6-4342-B048-85BDC9FD1C3A}</a:tableStyleId>
              </a:tblPr>
              <a:tblGrid>
                <a:gridCol w="405512">
                  <a:extLst>
                    <a:ext uri="{9D8B030D-6E8A-4147-A177-3AD203B41FA5}">
                      <a16:colId xmlns:a16="http://schemas.microsoft.com/office/drawing/2014/main" val="20000"/>
                    </a:ext>
                  </a:extLst>
                </a:gridCol>
                <a:gridCol w="389161">
                  <a:extLst>
                    <a:ext uri="{9D8B030D-6E8A-4147-A177-3AD203B41FA5}">
                      <a16:colId xmlns:a16="http://schemas.microsoft.com/office/drawing/2014/main" val="4040066669"/>
                    </a:ext>
                  </a:extLst>
                </a:gridCol>
                <a:gridCol w="322574">
                  <a:extLst>
                    <a:ext uri="{9D8B030D-6E8A-4147-A177-3AD203B41FA5}">
                      <a16:colId xmlns:a16="http://schemas.microsoft.com/office/drawing/2014/main" val="3438329549"/>
                    </a:ext>
                  </a:extLst>
                </a:gridCol>
                <a:gridCol w="384994">
                  <a:extLst>
                    <a:ext uri="{9D8B030D-6E8A-4147-A177-3AD203B41FA5}">
                      <a16:colId xmlns:a16="http://schemas.microsoft.com/office/drawing/2014/main" val="2547974030"/>
                    </a:ext>
                  </a:extLst>
                </a:gridCol>
                <a:gridCol w="415070">
                  <a:extLst>
                    <a:ext uri="{9D8B030D-6E8A-4147-A177-3AD203B41FA5}">
                      <a16:colId xmlns:a16="http://schemas.microsoft.com/office/drawing/2014/main" val="828678148"/>
                    </a:ext>
                  </a:extLst>
                </a:gridCol>
                <a:gridCol w="421086">
                  <a:extLst>
                    <a:ext uri="{9D8B030D-6E8A-4147-A177-3AD203B41FA5}">
                      <a16:colId xmlns:a16="http://schemas.microsoft.com/office/drawing/2014/main" val="842115056"/>
                    </a:ext>
                  </a:extLst>
                </a:gridCol>
                <a:gridCol w="318822">
                  <a:extLst>
                    <a:ext uri="{9D8B030D-6E8A-4147-A177-3AD203B41FA5}">
                      <a16:colId xmlns:a16="http://schemas.microsoft.com/office/drawing/2014/main" val="494031379"/>
                    </a:ext>
                  </a:extLst>
                </a:gridCol>
                <a:gridCol w="391009">
                  <a:extLst>
                    <a:ext uri="{9D8B030D-6E8A-4147-A177-3AD203B41FA5}">
                      <a16:colId xmlns:a16="http://schemas.microsoft.com/office/drawing/2014/main" val="1637366324"/>
                    </a:ext>
                  </a:extLst>
                </a:gridCol>
                <a:gridCol w="405549">
                  <a:extLst>
                    <a:ext uri="{9D8B030D-6E8A-4147-A177-3AD203B41FA5}">
                      <a16:colId xmlns:a16="http://schemas.microsoft.com/office/drawing/2014/main" val="212622082"/>
                    </a:ext>
                  </a:extLst>
                </a:gridCol>
                <a:gridCol w="365102">
                  <a:extLst>
                    <a:ext uri="{9D8B030D-6E8A-4147-A177-3AD203B41FA5}">
                      <a16:colId xmlns:a16="http://schemas.microsoft.com/office/drawing/2014/main" val="3824421591"/>
                    </a:ext>
                  </a:extLst>
                </a:gridCol>
                <a:gridCol w="361813">
                  <a:extLst>
                    <a:ext uri="{9D8B030D-6E8A-4147-A177-3AD203B41FA5}">
                      <a16:colId xmlns:a16="http://schemas.microsoft.com/office/drawing/2014/main" val="1600958326"/>
                    </a:ext>
                  </a:extLst>
                </a:gridCol>
                <a:gridCol w="355234">
                  <a:extLst>
                    <a:ext uri="{9D8B030D-6E8A-4147-A177-3AD203B41FA5}">
                      <a16:colId xmlns:a16="http://schemas.microsoft.com/office/drawing/2014/main" val="3930891544"/>
                    </a:ext>
                  </a:extLst>
                </a:gridCol>
                <a:gridCol w="430887">
                  <a:extLst>
                    <a:ext uri="{9D8B030D-6E8A-4147-A177-3AD203B41FA5}">
                      <a16:colId xmlns:a16="http://schemas.microsoft.com/office/drawing/2014/main" val="2020878689"/>
                    </a:ext>
                  </a:extLst>
                </a:gridCol>
                <a:gridCol w="411151">
                  <a:extLst>
                    <a:ext uri="{9D8B030D-6E8A-4147-A177-3AD203B41FA5}">
                      <a16:colId xmlns:a16="http://schemas.microsoft.com/office/drawing/2014/main" val="2425747000"/>
                    </a:ext>
                  </a:extLst>
                </a:gridCol>
                <a:gridCol w="342077">
                  <a:extLst>
                    <a:ext uri="{9D8B030D-6E8A-4147-A177-3AD203B41FA5}">
                      <a16:colId xmlns:a16="http://schemas.microsoft.com/office/drawing/2014/main" val="2096376530"/>
                    </a:ext>
                  </a:extLst>
                </a:gridCol>
                <a:gridCol w="358524">
                  <a:extLst>
                    <a:ext uri="{9D8B030D-6E8A-4147-A177-3AD203B41FA5}">
                      <a16:colId xmlns:a16="http://schemas.microsoft.com/office/drawing/2014/main" val="4178977032"/>
                    </a:ext>
                  </a:extLst>
                </a:gridCol>
                <a:gridCol w="397994">
                  <a:extLst>
                    <a:ext uri="{9D8B030D-6E8A-4147-A177-3AD203B41FA5}">
                      <a16:colId xmlns:a16="http://schemas.microsoft.com/office/drawing/2014/main" val="1983343642"/>
                    </a:ext>
                  </a:extLst>
                </a:gridCol>
                <a:gridCol w="406817">
                  <a:extLst>
                    <a:ext uri="{9D8B030D-6E8A-4147-A177-3AD203B41FA5}">
                      <a16:colId xmlns:a16="http://schemas.microsoft.com/office/drawing/2014/main" val="558532314"/>
                    </a:ext>
                  </a:extLst>
                </a:gridCol>
                <a:gridCol w="371475">
                  <a:extLst>
                    <a:ext uri="{9D8B030D-6E8A-4147-A177-3AD203B41FA5}">
                      <a16:colId xmlns:a16="http://schemas.microsoft.com/office/drawing/2014/main" val="1485860288"/>
                    </a:ext>
                  </a:extLst>
                </a:gridCol>
                <a:gridCol w="373857">
                  <a:extLst>
                    <a:ext uri="{9D8B030D-6E8A-4147-A177-3AD203B41FA5}">
                      <a16:colId xmlns:a16="http://schemas.microsoft.com/office/drawing/2014/main" val="3253033576"/>
                    </a:ext>
                  </a:extLst>
                </a:gridCol>
                <a:gridCol w="381000">
                  <a:extLst>
                    <a:ext uri="{9D8B030D-6E8A-4147-A177-3AD203B41FA5}">
                      <a16:colId xmlns:a16="http://schemas.microsoft.com/office/drawing/2014/main" val="3422839651"/>
                    </a:ext>
                  </a:extLst>
                </a:gridCol>
                <a:gridCol w="323850">
                  <a:extLst>
                    <a:ext uri="{9D8B030D-6E8A-4147-A177-3AD203B41FA5}">
                      <a16:colId xmlns:a16="http://schemas.microsoft.com/office/drawing/2014/main" val="664099865"/>
                    </a:ext>
                  </a:extLst>
                </a:gridCol>
                <a:gridCol w="409575">
                  <a:extLst>
                    <a:ext uri="{9D8B030D-6E8A-4147-A177-3AD203B41FA5}">
                      <a16:colId xmlns:a16="http://schemas.microsoft.com/office/drawing/2014/main" val="1859651470"/>
                    </a:ext>
                  </a:extLst>
                </a:gridCol>
                <a:gridCol w="368717">
                  <a:extLst>
                    <a:ext uri="{9D8B030D-6E8A-4147-A177-3AD203B41FA5}">
                      <a16:colId xmlns:a16="http://schemas.microsoft.com/office/drawing/2014/main" val="3764916887"/>
                    </a:ext>
                  </a:extLst>
                </a:gridCol>
                <a:gridCol w="376990">
                  <a:extLst>
                    <a:ext uri="{9D8B030D-6E8A-4147-A177-3AD203B41FA5}">
                      <a16:colId xmlns:a16="http://schemas.microsoft.com/office/drawing/2014/main" val="606343343"/>
                    </a:ext>
                  </a:extLst>
                </a:gridCol>
                <a:gridCol w="409073">
                  <a:extLst>
                    <a:ext uri="{9D8B030D-6E8A-4147-A177-3AD203B41FA5}">
                      <a16:colId xmlns:a16="http://schemas.microsoft.com/office/drawing/2014/main" val="300621403"/>
                    </a:ext>
                  </a:extLst>
                </a:gridCol>
                <a:gridCol w="312311">
                  <a:extLst>
                    <a:ext uri="{9D8B030D-6E8A-4147-A177-3AD203B41FA5}">
                      <a16:colId xmlns:a16="http://schemas.microsoft.com/office/drawing/2014/main" val="1999991306"/>
                    </a:ext>
                  </a:extLst>
                </a:gridCol>
              </a:tblGrid>
              <a:tr h="324123">
                <a:tc>
                  <a:txBody>
                    <a:bodyPr/>
                    <a:lstStyle/>
                    <a:p>
                      <a:pPr algn="ctr"/>
                      <a:r>
                        <a:rPr lang="en-US" sz="900" b="1" dirty="0">
                          <a:solidFill>
                            <a:schemeClr val="bg1"/>
                          </a:solidFill>
                        </a:rPr>
                        <a:t>LTM22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900" b="1" dirty="0">
                          <a:solidFill>
                            <a:schemeClr val="tx2"/>
                          </a:solidFill>
                        </a:rPr>
                        <a:t>(35)%</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bg1"/>
                          </a:solidFill>
                        </a:rPr>
                        <a:t>63%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900" b="1">
                          <a:solidFill>
                            <a:schemeClr val="tx2"/>
                          </a:solidFill>
                        </a:rPr>
                        <a:t>(19)%</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bg1"/>
                          </a:solidFill>
                        </a:rPr>
                        <a:t>44%</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algn="ctr"/>
                      <a:r>
                        <a:rPr lang="en-US" sz="900" b="1">
                          <a:solidFill>
                            <a:schemeClr val="tx2"/>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tx2"/>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tx2"/>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bg1"/>
                          </a:solidFill>
                        </a:rPr>
                        <a:t>37%</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algn="ctr"/>
                      <a:r>
                        <a:rPr lang="en-US" sz="900" b="1" dirty="0">
                          <a:solidFill>
                            <a:schemeClr val="tx2"/>
                          </a:solidFill>
                        </a:rPr>
                        <a:t>(8)%</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(9)%</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tx2"/>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a:solidFill>
                            <a:schemeClr val="bg1"/>
                          </a:solidFill>
                        </a:rPr>
                        <a:t>13%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algn="ctr"/>
                      <a:r>
                        <a:rPr lang="en-US" sz="900" b="1" kern="1200" dirty="0">
                          <a:solidFill>
                            <a:schemeClr val="tx2"/>
                          </a:solidFill>
                          <a:latin typeface="+mn-lt"/>
                          <a:ea typeface="+mn-ea"/>
                          <a:cs typeface="+mn-cs"/>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tx2"/>
                          </a:solidFill>
                          <a:latin typeface="+mn-lt"/>
                          <a:ea typeface="+mn-ea"/>
                          <a:cs typeface="+mn-cs"/>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tx2"/>
                          </a:solidFill>
                          <a:latin typeface="+mn-lt"/>
                          <a:ea typeface="+mn-ea"/>
                          <a:cs typeface="+mn-cs"/>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tx2"/>
                          </a:solidFill>
                          <a:latin typeface="+mn-lt"/>
                          <a:ea typeface="+mn-ea"/>
                          <a:cs typeface="+mn-cs"/>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11%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2"/>
                  </a:ext>
                </a:extLst>
              </a:tr>
            </a:tbl>
          </a:graphicData>
        </a:graphic>
      </p:graphicFrame>
      <p:sp>
        <p:nvSpPr>
          <p:cNvPr id="167" name="Text Placeholder 1">
            <a:extLst>
              <a:ext uri="{FF2B5EF4-FFF2-40B4-BE49-F238E27FC236}">
                <a16:creationId xmlns:a16="http://schemas.microsoft.com/office/drawing/2014/main" id="{1EC1F7DB-F911-4C75-A7C3-50AC89FC06AC}"/>
              </a:ext>
            </a:extLst>
          </p:cNvPr>
          <p:cNvSpPr txBox="1">
            <a:spLocks/>
          </p:cNvSpPr>
          <p:nvPr/>
        </p:nvSpPr>
        <p:spPr>
          <a:xfrm>
            <a:off x="998400" y="4714628"/>
            <a:ext cx="10195200" cy="144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dirty="0"/>
              <a:t>% of gross revenue</a:t>
            </a:r>
          </a:p>
        </p:txBody>
      </p:sp>
      <p:sp>
        <p:nvSpPr>
          <p:cNvPr id="10" name="TextBox 9">
            <a:extLst>
              <a:ext uri="{FF2B5EF4-FFF2-40B4-BE49-F238E27FC236}">
                <a16:creationId xmlns:a16="http://schemas.microsoft.com/office/drawing/2014/main" id="{491AB89E-C7BE-4207-B74F-4E45492E3890}"/>
              </a:ext>
            </a:extLst>
          </p:cNvPr>
          <p:cNvSpPr txBox="1"/>
          <p:nvPr/>
        </p:nvSpPr>
        <p:spPr>
          <a:xfrm>
            <a:off x="995121" y="1733550"/>
            <a:ext cx="10195200" cy="3314700"/>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sp>
        <p:nvSpPr>
          <p:cNvPr id="111" name="Text Placeholder 12">
            <a:extLst>
              <a:ext uri="{FF2B5EF4-FFF2-40B4-BE49-F238E27FC236}">
                <a16:creationId xmlns:a16="http://schemas.microsoft.com/office/drawing/2014/main" id="{FF46473A-6F9C-4F20-9C6D-E933E2C3A50B}"/>
              </a:ext>
            </a:extLst>
          </p:cNvPr>
          <p:cNvSpPr txBox="1">
            <a:spLocks/>
          </p:cNvSpPr>
          <p:nvPr/>
        </p:nvSpPr>
        <p:spPr>
          <a:xfrm>
            <a:off x="995121" y="6052501"/>
            <a:ext cx="331017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September 2021 </a:t>
            </a:r>
            <a:endParaRPr lang="en-US" sz="600" b="0">
              <a:solidFill>
                <a:schemeClr val="tx2"/>
              </a:solidFill>
              <a:latin typeface="Arial" panose="020B0604020202020204" pitchFamily="34" charset="0"/>
            </a:endParaRPr>
          </a:p>
        </p:txBody>
      </p:sp>
      <p:sp>
        <p:nvSpPr>
          <p:cNvPr id="112" name="Rectangle 27">
            <a:extLst>
              <a:ext uri="{FF2B5EF4-FFF2-40B4-BE49-F238E27FC236}">
                <a16:creationId xmlns:a16="http://schemas.microsoft.com/office/drawing/2014/main" id="{F719C6D9-CF8F-4F74-BC91-0150CC88F49D}"/>
              </a:ext>
            </a:extLst>
          </p:cNvPr>
          <p:cNvSpPr>
            <a:spLocks noChangeArrowheads="1"/>
          </p:cNvSpPr>
          <p:nvPr>
            <p:custDataLst>
              <p:tags r:id="rId3"/>
            </p:custDataLst>
          </p:nvPr>
        </p:nvSpPr>
        <p:spPr bwMode="gray">
          <a:xfrm>
            <a:off x="3168316" y="2056748"/>
            <a:ext cx="2194501" cy="180000"/>
          </a:xfrm>
          <a:prstGeom prst="rect">
            <a:avLst/>
          </a:prstGeom>
          <a:solidFill>
            <a:schemeClr val="bg1"/>
          </a:solidFill>
          <a:ln w="9525">
            <a:solidFill>
              <a:schemeClr val="tx2"/>
            </a:solidFill>
            <a:miter lim="800000"/>
            <a:headEnd type="none" w="sm" len="sm"/>
            <a:tailEnd type="none" w="sm" len="sm"/>
          </a:ln>
          <a:effectLst/>
        </p:spPr>
        <p:txBody>
          <a:bodyPr lIns="72000" tIns="72000" rIns="72000" bIns="72000" anchor="ctr" anchorCtr="1"/>
          <a:lstStyle/>
          <a:p>
            <a:pPr algn="ctr" defTabSz="761981" eaLnBrk="0" hangingPunct="0"/>
            <a:r>
              <a:rPr lang="en-US" sz="800" dirty="0">
                <a:solidFill>
                  <a:schemeClr val="tx2"/>
                </a:solidFill>
              </a:rPr>
              <a:t>Semi-variable costs</a:t>
            </a:r>
          </a:p>
        </p:txBody>
      </p:sp>
      <p:sp>
        <p:nvSpPr>
          <p:cNvPr id="114" name="Rectangle 27">
            <a:extLst>
              <a:ext uri="{FF2B5EF4-FFF2-40B4-BE49-F238E27FC236}">
                <a16:creationId xmlns:a16="http://schemas.microsoft.com/office/drawing/2014/main" id="{56D31904-B33E-4605-83F6-93E887A69EC3}"/>
              </a:ext>
            </a:extLst>
          </p:cNvPr>
          <p:cNvSpPr>
            <a:spLocks noChangeArrowheads="1"/>
          </p:cNvSpPr>
          <p:nvPr>
            <p:custDataLst>
              <p:tags r:id="rId4"/>
            </p:custDataLst>
          </p:nvPr>
        </p:nvSpPr>
        <p:spPr bwMode="gray">
          <a:xfrm>
            <a:off x="5775158" y="2423545"/>
            <a:ext cx="2903621" cy="180000"/>
          </a:xfrm>
          <a:prstGeom prst="rect">
            <a:avLst/>
          </a:prstGeom>
          <a:solidFill>
            <a:schemeClr val="bg1"/>
          </a:solidFill>
          <a:ln w="9525">
            <a:solidFill>
              <a:schemeClr val="tx2"/>
            </a:solidFill>
            <a:miter lim="800000"/>
            <a:headEnd type="none" w="sm" len="sm"/>
            <a:tailEnd type="none" w="sm" len="sm"/>
          </a:ln>
          <a:effectLst/>
        </p:spPr>
        <p:txBody>
          <a:bodyPr lIns="72000" tIns="72000" rIns="72000" bIns="72000" anchor="ctr" anchorCtr="1"/>
          <a:lstStyle/>
          <a:p>
            <a:pPr algn="ctr" defTabSz="761981" eaLnBrk="0" hangingPunct="0"/>
            <a:r>
              <a:rPr lang="en-US" sz="800">
                <a:solidFill>
                  <a:schemeClr val="tx2"/>
                </a:solidFill>
              </a:rPr>
              <a:t>Overheads</a:t>
            </a:r>
          </a:p>
        </p:txBody>
      </p:sp>
      <p:sp>
        <p:nvSpPr>
          <p:cNvPr id="116" name="Rectangle 27">
            <a:extLst>
              <a:ext uri="{FF2B5EF4-FFF2-40B4-BE49-F238E27FC236}">
                <a16:creationId xmlns:a16="http://schemas.microsoft.com/office/drawing/2014/main" id="{4551945B-9666-418C-969D-E40315C471CB}"/>
              </a:ext>
            </a:extLst>
          </p:cNvPr>
          <p:cNvSpPr>
            <a:spLocks noChangeArrowheads="1"/>
          </p:cNvSpPr>
          <p:nvPr>
            <p:custDataLst>
              <p:tags r:id="rId5"/>
            </p:custDataLst>
          </p:nvPr>
        </p:nvSpPr>
        <p:spPr bwMode="gray">
          <a:xfrm>
            <a:off x="8983580" y="2807366"/>
            <a:ext cx="1884946" cy="180000"/>
          </a:xfrm>
          <a:prstGeom prst="rect">
            <a:avLst/>
          </a:prstGeom>
          <a:solidFill>
            <a:schemeClr val="bg1"/>
          </a:solidFill>
          <a:ln w="9525">
            <a:solidFill>
              <a:schemeClr val="tx2"/>
            </a:solidFill>
            <a:miter lim="800000"/>
            <a:headEnd type="none" w="sm" len="sm"/>
            <a:tailEnd type="none" w="sm" len="sm"/>
          </a:ln>
          <a:effectLst/>
        </p:spPr>
        <p:txBody>
          <a:bodyPr lIns="72000" tIns="72000" rIns="72000" bIns="72000" anchor="ctr" anchorCtr="1"/>
          <a:lstStyle/>
          <a:p>
            <a:pPr algn="ctr" defTabSz="761981" eaLnBrk="0" hangingPunct="0"/>
            <a:r>
              <a:rPr lang="en-US" sz="800">
                <a:solidFill>
                  <a:schemeClr val="tx2"/>
                </a:solidFill>
              </a:rPr>
              <a:t>Items below EBITDA</a:t>
            </a:r>
          </a:p>
        </p:txBody>
      </p:sp>
      <p:sp>
        <p:nvSpPr>
          <p:cNvPr id="4" name="UpSlide SubSection Marker" hidden="1">
            <a:extLst>
              <a:ext uri="{FF2B5EF4-FFF2-40B4-BE49-F238E27FC236}">
                <a16:creationId xmlns:a16="http://schemas.microsoft.com/office/drawing/2014/main" id="{A593B792-A4CD-486B-A096-6B5CD47E7171}"/>
              </a:ext>
            </a:extLst>
          </p:cNvPr>
          <p:cNvSpPr/>
          <p:nvPr>
            <p:custDataLst>
              <p:tags r:id="rId6"/>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Key financial drivers</a:t>
            </a:r>
            <a:endParaRPr lang="en-GB" sz="900" dirty="0">
              <a:solidFill>
                <a:schemeClr val="bg1"/>
              </a:solidFill>
            </a:endParaRPr>
          </a:p>
        </p:txBody>
      </p:sp>
      <p:pic>
        <p:nvPicPr>
          <p:cNvPr id="12" name="Picture 11">
            <a:extLst>
              <a:ext uri="{FF2B5EF4-FFF2-40B4-BE49-F238E27FC236}">
                <a16:creationId xmlns:a16="http://schemas.microsoft.com/office/drawing/2014/main" id="{1FD27CF1-ABF1-41B9-812F-08BF507CA749}"/>
              </a:ext>
            </a:extLst>
          </p:cNvPr>
          <p:cNvPicPr>
            <a:picLocks noChangeAspect="1"/>
          </p:cNvPicPr>
          <p:nvPr>
            <p:custDataLst>
              <p:tags r:id="rId7"/>
            </p:custDataLst>
          </p:nvPr>
        </p:nvPicPr>
        <p:blipFill>
          <a:blip r:embed="rId14"/>
          <a:stretch>
            <a:fillRect/>
          </a:stretch>
        </p:blipFill>
        <p:spPr>
          <a:xfrm>
            <a:off x="859698" y="1350998"/>
            <a:ext cx="10345648" cy="3473539"/>
          </a:xfrm>
          <a:prstGeom prst="rect">
            <a:avLst/>
          </a:prstGeom>
        </p:spPr>
      </p:pic>
      <p:graphicFrame>
        <p:nvGraphicFramePr>
          <p:cNvPr id="32" name="Table 31">
            <a:extLst>
              <a:ext uri="{FF2B5EF4-FFF2-40B4-BE49-F238E27FC236}">
                <a16:creationId xmlns:a16="http://schemas.microsoft.com/office/drawing/2014/main" id="{D0AB7E19-83C9-4B73-BCA3-A45C435BD011}"/>
              </a:ext>
            </a:extLst>
          </p:cNvPr>
          <p:cNvGraphicFramePr>
            <a:graphicFrameLocks noGrp="1"/>
          </p:cNvGraphicFramePr>
          <p:nvPr>
            <p:custDataLst>
              <p:tags r:id="rId8"/>
            </p:custDataLst>
            <p:extLst>
              <p:ext uri="{D42A27DB-BD31-4B8C-83A1-F6EECF244321}">
                <p14:modId xmlns:p14="http://schemas.microsoft.com/office/powerpoint/2010/main" val="2838285432"/>
              </p:ext>
            </p:extLst>
          </p:nvPr>
        </p:nvGraphicFramePr>
        <p:xfrm>
          <a:off x="983376" y="5297387"/>
          <a:ext cx="10210224" cy="324123"/>
        </p:xfrm>
        <a:graphic>
          <a:graphicData uri="http://schemas.openxmlformats.org/drawingml/2006/table">
            <a:tbl>
              <a:tblPr firstRow="1" bandRow="1">
                <a:tableStyleId>{5C22544A-7EE6-4342-B048-85BDC9FD1C3A}</a:tableStyleId>
              </a:tblPr>
              <a:tblGrid>
                <a:gridCol w="405512">
                  <a:extLst>
                    <a:ext uri="{9D8B030D-6E8A-4147-A177-3AD203B41FA5}">
                      <a16:colId xmlns:a16="http://schemas.microsoft.com/office/drawing/2014/main" val="20000"/>
                    </a:ext>
                  </a:extLst>
                </a:gridCol>
                <a:gridCol w="389161">
                  <a:extLst>
                    <a:ext uri="{9D8B030D-6E8A-4147-A177-3AD203B41FA5}">
                      <a16:colId xmlns:a16="http://schemas.microsoft.com/office/drawing/2014/main" val="4040066669"/>
                    </a:ext>
                  </a:extLst>
                </a:gridCol>
                <a:gridCol w="322574">
                  <a:extLst>
                    <a:ext uri="{9D8B030D-6E8A-4147-A177-3AD203B41FA5}">
                      <a16:colId xmlns:a16="http://schemas.microsoft.com/office/drawing/2014/main" val="3438329549"/>
                    </a:ext>
                  </a:extLst>
                </a:gridCol>
                <a:gridCol w="384994">
                  <a:extLst>
                    <a:ext uri="{9D8B030D-6E8A-4147-A177-3AD203B41FA5}">
                      <a16:colId xmlns:a16="http://schemas.microsoft.com/office/drawing/2014/main" val="2547974030"/>
                    </a:ext>
                  </a:extLst>
                </a:gridCol>
                <a:gridCol w="415070">
                  <a:extLst>
                    <a:ext uri="{9D8B030D-6E8A-4147-A177-3AD203B41FA5}">
                      <a16:colId xmlns:a16="http://schemas.microsoft.com/office/drawing/2014/main" val="828678148"/>
                    </a:ext>
                  </a:extLst>
                </a:gridCol>
                <a:gridCol w="421086">
                  <a:extLst>
                    <a:ext uri="{9D8B030D-6E8A-4147-A177-3AD203B41FA5}">
                      <a16:colId xmlns:a16="http://schemas.microsoft.com/office/drawing/2014/main" val="842115056"/>
                    </a:ext>
                  </a:extLst>
                </a:gridCol>
                <a:gridCol w="318822">
                  <a:extLst>
                    <a:ext uri="{9D8B030D-6E8A-4147-A177-3AD203B41FA5}">
                      <a16:colId xmlns:a16="http://schemas.microsoft.com/office/drawing/2014/main" val="494031379"/>
                    </a:ext>
                  </a:extLst>
                </a:gridCol>
                <a:gridCol w="391009">
                  <a:extLst>
                    <a:ext uri="{9D8B030D-6E8A-4147-A177-3AD203B41FA5}">
                      <a16:colId xmlns:a16="http://schemas.microsoft.com/office/drawing/2014/main" val="1637366324"/>
                    </a:ext>
                  </a:extLst>
                </a:gridCol>
                <a:gridCol w="405549">
                  <a:extLst>
                    <a:ext uri="{9D8B030D-6E8A-4147-A177-3AD203B41FA5}">
                      <a16:colId xmlns:a16="http://schemas.microsoft.com/office/drawing/2014/main" val="212622082"/>
                    </a:ext>
                  </a:extLst>
                </a:gridCol>
                <a:gridCol w="365102">
                  <a:extLst>
                    <a:ext uri="{9D8B030D-6E8A-4147-A177-3AD203B41FA5}">
                      <a16:colId xmlns:a16="http://schemas.microsoft.com/office/drawing/2014/main" val="3824421591"/>
                    </a:ext>
                  </a:extLst>
                </a:gridCol>
                <a:gridCol w="361813">
                  <a:extLst>
                    <a:ext uri="{9D8B030D-6E8A-4147-A177-3AD203B41FA5}">
                      <a16:colId xmlns:a16="http://schemas.microsoft.com/office/drawing/2014/main" val="1600958326"/>
                    </a:ext>
                  </a:extLst>
                </a:gridCol>
                <a:gridCol w="355234">
                  <a:extLst>
                    <a:ext uri="{9D8B030D-6E8A-4147-A177-3AD203B41FA5}">
                      <a16:colId xmlns:a16="http://schemas.microsoft.com/office/drawing/2014/main" val="3930891544"/>
                    </a:ext>
                  </a:extLst>
                </a:gridCol>
                <a:gridCol w="430887">
                  <a:extLst>
                    <a:ext uri="{9D8B030D-6E8A-4147-A177-3AD203B41FA5}">
                      <a16:colId xmlns:a16="http://schemas.microsoft.com/office/drawing/2014/main" val="2020878689"/>
                    </a:ext>
                  </a:extLst>
                </a:gridCol>
                <a:gridCol w="411151">
                  <a:extLst>
                    <a:ext uri="{9D8B030D-6E8A-4147-A177-3AD203B41FA5}">
                      <a16:colId xmlns:a16="http://schemas.microsoft.com/office/drawing/2014/main" val="2425747000"/>
                    </a:ext>
                  </a:extLst>
                </a:gridCol>
                <a:gridCol w="342077">
                  <a:extLst>
                    <a:ext uri="{9D8B030D-6E8A-4147-A177-3AD203B41FA5}">
                      <a16:colId xmlns:a16="http://schemas.microsoft.com/office/drawing/2014/main" val="2096376530"/>
                    </a:ext>
                  </a:extLst>
                </a:gridCol>
                <a:gridCol w="358524">
                  <a:extLst>
                    <a:ext uri="{9D8B030D-6E8A-4147-A177-3AD203B41FA5}">
                      <a16:colId xmlns:a16="http://schemas.microsoft.com/office/drawing/2014/main" val="4178977032"/>
                    </a:ext>
                  </a:extLst>
                </a:gridCol>
                <a:gridCol w="397994">
                  <a:extLst>
                    <a:ext uri="{9D8B030D-6E8A-4147-A177-3AD203B41FA5}">
                      <a16:colId xmlns:a16="http://schemas.microsoft.com/office/drawing/2014/main" val="1983343642"/>
                    </a:ext>
                  </a:extLst>
                </a:gridCol>
                <a:gridCol w="406817">
                  <a:extLst>
                    <a:ext uri="{9D8B030D-6E8A-4147-A177-3AD203B41FA5}">
                      <a16:colId xmlns:a16="http://schemas.microsoft.com/office/drawing/2014/main" val="558532314"/>
                    </a:ext>
                  </a:extLst>
                </a:gridCol>
                <a:gridCol w="371475">
                  <a:extLst>
                    <a:ext uri="{9D8B030D-6E8A-4147-A177-3AD203B41FA5}">
                      <a16:colId xmlns:a16="http://schemas.microsoft.com/office/drawing/2014/main" val="1485860288"/>
                    </a:ext>
                  </a:extLst>
                </a:gridCol>
                <a:gridCol w="373857">
                  <a:extLst>
                    <a:ext uri="{9D8B030D-6E8A-4147-A177-3AD203B41FA5}">
                      <a16:colId xmlns:a16="http://schemas.microsoft.com/office/drawing/2014/main" val="3253033576"/>
                    </a:ext>
                  </a:extLst>
                </a:gridCol>
                <a:gridCol w="381000">
                  <a:extLst>
                    <a:ext uri="{9D8B030D-6E8A-4147-A177-3AD203B41FA5}">
                      <a16:colId xmlns:a16="http://schemas.microsoft.com/office/drawing/2014/main" val="3422839651"/>
                    </a:ext>
                  </a:extLst>
                </a:gridCol>
                <a:gridCol w="323850">
                  <a:extLst>
                    <a:ext uri="{9D8B030D-6E8A-4147-A177-3AD203B41FA5}">
                      <a16:colId xmlns:a16="http://schemas.microsoft.com/office/drawing/2014/main" val="664099865"/>
                    </a:ext>
                  </a:extLst>
                </a:gridCol>
                <a:gridCol w="409575">
                  <a:extLst>
                    <a:ext uri="{9D8B030D-6E8A-4147-A177-3AD203B41FA5}">
                      <a16:colId xmlns:a16="http://schemas.microsoft.com/office/drawing/2014/main" val="1859651470"/>
                    </a:ext>
                  </a:extLst>
                </a:gridCol>
                <a:gridCol w="368717">
                  <a:extLst>
                    <a:ext uri="{9D8B030D-6E8A-4147-A177-3AD203B41FA5}">
                      <a16:colId xmlns:a16="http://schemas.microsoft.com/office/drawing/2014/main" val="3764916887"/>
                    </a:ext>
                  </a:extLst>
                </a:gridCol>
                <a:gridCol w="376990">
                  <a:extLst>
                    <a:ext uri="{9D8B030D-6E8A-4147-A177-3AD203B41FA5}">
                      <a16:colId xmlns:a16="http://schemas.microsoft.com/office/drawing/2014/main" val="606343343"/>
                    </a:ext>
                  </a:extLst>
                </a:gridCol>
                <a:gridCol w="409073">
                  <a:extLst>
                    <a:ext uri="{9D8B030D-6E8A-4147-A177-3AD203B41FA5}">
                      <a16:colId xmlns:a16="http://schemas.microsoft.com/office/drawing/2014/main" val="300621403"/>
                    </a:ext>
                  </a:extLst>
                </a:gridCol>
                <a:gridCol w="312311">
                  <a:extLst>
                    <a:ext uri="{9D8B030D-6E8A-4147-A177-3AD203B41FA5}">
                      <a16:colId xmlns:a16="http://schemas.microsoft.com/office/drawing/2014/main" val="1999991306"/>
                    </a:ext>
                  </a:extLst>
                </a:gridCol>
              </a:tblGrid>
              <a:tr h="324123">
                <a:tc>
                  <a:txBody>
                    <a:bodyPr/>
                    <a:lstStyle/>
                    <a:p>
                      <a:pPr algn="ctr"/>
                      <a:r>
                        <a:rPr lang="en-US" sz="900" b="1" dirty="0">
                          <a:solidFill>
                            <a:schemeClr val="bg1"/>
                          </a:solidFill>
                        </a:rPr>
                        <a:t>FY21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900" b="1" dirty="0">
                          <a:solidFill>
                            <a:schemeClr val="accent1"/>
                          </a:solidFill>
                        </a:rPr>
                        <a:t>(32)%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(4)%</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63%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900" b="1" dirty="0">
                          <a:solidFill>
                            <a:schemeClr val="accent1"/>
                          </a:solidFill>
                        </a:rPr>
                        <a:t>(22)%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41%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34%</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900" b="1" dirty="0">
                          <a:solidFill>
                            <a:schemeClr val="accent1"/>
                          </a:solidFill>
                        </a:rPr>
                        <a:t>(7)%</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(4)%</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6%</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900" b="1" kern="1200" dirty="0">
                          <a:solidFill>
                            <a:schemeClr val="accent1"/>
                          </a:solidFill>
                          <a:latin typeface="+mn-lt"/>
                          <a:ea typeface="+mn-ea"/>
                          <a:cs typeface="+mn-cs"/>
                        </a:rPr>
                        <a:t>-</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9%</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5%</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2"/>
                  </a:ext>
                </a:extLst>
              </a:tr>
            </a:tbl>
          </a:graphicData>
        </a:graphic>
      </p:graphicFrame>
      <p:graphicFrame>
        <p:nvGraphicFramePr>
          <p:cNvPr id="33" name="Table 32">
            <a:extLst>
              <a:ext uri="{FF2B5EF4-FFF2-40B4-BE49-F238E27FC236}">
                <a16:creationId xmlns:a16="http://schemas.microsoft.com/office/drawing/2014/main" id="{731BCC97-6348-44B2-9FEB-9F1895434F79}"/>
              </a:ext>
            </a:extLst>
          </p:cNvPr>
          <p:cNvGraphicFramePr>
            <a:graphicFrameLocks noGrp="1"/>
          </p:cNvGraphicFramePr>
          <p:nvPr>
            <p:custDataLst>
              <p:tags r:id="rId9"/>
            </p:custDataLst>
            <p:extLst>
              <p:ext uri="{D42A27DB-BD31-4B8C-83A1-F6EECF244321}">
                <p14:modId xmlns:p14="http://schemas.microsoft.com/office/powerpoint/2010/main" val="415102049"/>
              </p:ext>
            </p:extLst>
          </p:nvPr>
        </p:nvGraphicFramePr>
        <p:xfrm>
          <a:off x="983376" y="5695732"/>
          <a:ext cx="10210224" cy="324123"/>
        </p:xfrm>
        <a:graphic>
          <a:graphicData uri="http://schemas.openxmlformats.org/drawingml/2006/table">
            <a:tbl>
              <a:tblPr firstRow="1" bandRow="1">
                <a:tableStyleId>{5C22544A-7EE6-4342-B048-85BDC9FD1C3A}</a:tableStyleId>
              </a:tblPr>
              <a:tblGrid>
                <a:gridCol w="405512">
                  <a:extLst>
                    <a:ext uri="{9D8B030D-6E8A-4147-A177-3AD203B41FA5}">
                      <a16:colId xmlns:a16="http://schemas.microsoft.com/office/drawing/2014/main" val="20000"/>
                    </a:ext>
                  </a:extLst>
                </a:gridCol>
                <a:gridCol w="389161">
                  <a:extLst>
                    <a:ext uri="{9D8B030D-6E8A-4147-A177-3AD203B41FA5}">
                      <a16:colId xmlns:a16="http://schemas.microsoft.com/office/drawing/2014/main" val="4040066669"/>
                    </a:ext>
                  </a:extLst>
                </a:gridCol>
                <a:gridCol w="322574">
                  <a:extLst>
                    <a:ext uri="{9D8B030D-6E8A-4147-A177-3AD203B41FA5}">
                      <a16:colId xmlns:a16="http://schemas.microsoft.com/office/drawing/2014/main" val="3438329549"/>
                    </a:ext>
                  </a:extLst>
                </a:gridCol>
                <a:gridCol w="384994">
                  <a:extLst>
                    <a:ext uri="{9D8B030D-6E8A-4147-A177-3AD203B41FA5}">
                      <a16:colId xmlns:a16="http://schemas.microsoft.com/office/drawing/2014/main" val="2547974030"/>
                    </a:ext>
                  </a:extLst>
                </a:gridCol>
                <a:gridCol w="415070">
                  <a:extLst>
                    <a:ext uri="{9D8B030D-6E8A-4147-A177-3AD203B41FA5}">
                      <a16:colId xmlns:a16="http://schemas.microsoft.com/office/drawing/2014/main" val="828678148"/>
                    </a:ext>
                  </a:extLst>
                </a:gridCol>
                <a:gridCol w="421086">
                  <a:extLst>
                    <a:ext uri="{9D8B030D-6E8A-4147-A177-3AD203B41FA5}">
                      <a16:colId xmlns:a16="http://schemas.microsoft.com/office/drawing/2014/main" val="842115056"/>
                    </a:ext>
                  </a:extLst>
                </a:gridCol>
                <a:gridCol w="318822">
                  <a:extLst>
                    <a:ext uri="{9D8B030D-6E8A-4147-A177-3AD203B41FA5}">
                      <a16:colId xmlns:a16="http://schemas.microsoft.com/office/drawing/2014/main" val="494031379"/>
                    </a:ext>
                  </a:extLst>
                </a:gridCol>
                <a:gridCol w="391009">
                  <a:extLst>
                    <a:ext uri="{9D8B030D-6E8A-4147-A177-3AD203B41FA5}">
                      <a16:colId xmlns:a16="http://schemas.microsoft.com/office/drawing/2014/main" val="1637366324"/>
                    </a:ext>
                  </a:extLst>
                </a:gridCol>
                <a:gridCol w="405549">
                  <a:extLst>
                    <a:ext uri="{9D8B030D-6E8A-4147-A177-3AD203B41FA5}">
                      <a16:colId xmlns:a16="http://schemas.microsoft.com/office/drawing/2014/main" val="212622082"/>
                    </a:ext>
                  </a:extLst>
                </a:gridCol>
                <a:gridCol w="365102">
                  <a:extLst>
                    <a:ext uri="{9D8B030D-6E8A-4147-A177-3AD203B41FA5}">
                      <a16:colId xmlns:a16="http://schemas.microsoft.com/office/drawing/2014/main" val="3824421591"/>
                    </a:ext>
                  </a:extLst>
                </a:gridCol>
                <a:gridCol w="361813">
                  <a:extLst>
                    <a:ext uri="{9D8B030D-6E8A-4147-A177-3AD203B41FA5}">
                      <a16:colId xmlns:a16="http://schemas.microsoft.com/office/drawing/2014/main" val="1600958326"/>
                    </a:ext>
                  </a:extLst>
                </a:gridCol>
                <a:gridCol w="355234">
                  <a:extLst>
                    <a:ext uri="{9D8B030D-6E8A-4147-A177-3AD203B41FA5}">
                      <a16:colId xmlns:a16="http://schemas.microsoft.com/office/drawing/2014/main" val="3930891544"/>
                    </a:ext>
                  </a:extLst>
                </a:gridCol>
                <a:gridCol w="430887">
                  <a:extLst>
                    <a:ext uri="{9D8B030D-6E8A-4147-A177-3AD203B41FA5}">
                      <a16:colId xmlns:a16="http://schemas.microsoft.com/office/drawing/2014/main" val="2020878689"/>
                    </a:ext>
                  </a:extLst>
                </a:gridCol>
                <a:gridCol w="411151">
                  <a:extLst>
                    <a:ext uri="{9D8B030D-6E8A-4147-A177-3AD203B41FA5}">
                      <a16:colId xmlns:a16="http://schemas.microsoft.com/office/drawing/2014/main" val="2425747000"/>
                    </a:ext>
                  </a:extLst>
                </a:gridCol>
                <a:gridCol w="342077">
                  <a:extLst>
                    <a:ext uri="{9D8B030D-6E8A-4147-A177-3AD203B41FA5}">
                      <a16:colId xmlns:a16="http://schemas.microsoft.com/office/drawing/2014/main" val="2096376530"/>
                    </a:ext>
                  </a:extLst>
                </a:gridCol>
                <a:gridCol w="358524">
                  <a:extLst>
                    <a:ext uri="{9D8B030D-6E8A-4147-A177-3AD203B41FA5}">
                      <a16:colId xmlns:a16="http://schemas.microsoft.com/office/drawing/2014/main" val="4178977032"/>
                    </a:ext>
                  </a:extLst>
                </a:gridCol>
                <a:gridCol w="397994">
                  <a:extLst>
                    <a:ext uri="{9D8B030D-6E8A-4147-A177-3AD203B41FA5}">
                      <a16:colId xmlns:a16="http://schemas.microsoft.com/office/drawing/2014/main" val="1983343642"/>
                    </a:ext>
                  </a:extLst>
                </a:gridCol>
                <a:gridCol w="406817">
                  <a:extLst>
                    <a:ext uri="{9D8B030D-6E8A-4147-A177-3AD203B41FA5}">
                      <a16:colId xmlns:a16="http://schemas.microsoft.com/office/drawing/2014/main" val="558532314"/>
                    </a:ext>
                  </a:extLst>
                </a:gridCol>
                <a:gridCol w="371475">
                  <a:extLst>
                    <a:ext uri="{9D8B030D-6E8A-4147-A177-3AD203B41FA5}">
                      <a16:colId xmlns:a16="http://schemas.microsoft.com/office/drawing/2014/main" val="1485860288"/>
                    </a:ext>
                  </a:extLst>
                </a:gridCol>
                <a:gridCol w="373857">
                  <a:extLst>
                    <a:ext uri="{9D8B030D-6E8A-4147-A177-3AD203B41FA5}">
                      <a16:colId xmlns:a16="http://schemas.microsoft.com/office/drawing/2014/main" val="3253033576"/>
                    </a:ext>
                  </a:extLst>
                </a:gridCol>
                <a:gridCol w="381000">
                  <a:extLst>
                    <a:ext uri="{9D8B030D-6E8A-4147-A177-3AD203B41FA5}">
                      <a16:colId xmlns:a16="http://schemas.microsoft.com/office/drawing/2014/main" val="3422839651"/>
                    </a:ext>
                  </a:extLst>
                </a:gridCol>
                <a:gridCol w="323850">
                  <a:extLst>
                    <a:ext uri="{9D8B030D-6E8A-4147-A177-3AD203B41FA5}">
                      <a16:colId xmlns:a16="http://schemas.microsoft.com/office/drawing/2014/main" val="664099865"/>
                    </a:ext>
                  </a:extLst>
                </a:gridCol>
                <a:gridCol w="409575">
                  <a:extLst>
                    <a:ext uri="{9D8B030D-6E8A-4147-A177-3AD203B41FA5}">
                      <a16:colId xmlns:a16="http://schemas.microsoft.com/office/drawing/2014/main" val="1859651470"/>
                    </a:ext>
                  </a:extLst>
                </a:gridCol>
                <a:gridCol w="368717">
                  <a:extLst>
                    <a:ext uri="{9D8B030D-6E8A-4147-A177-3AD203B41FA5}">
                      <a16:colId xmlns:a16="http://schemas.microsoft.com/office/drawing/2014/main" val="3764916887"/>
                    </a:ext>
                  </a:extLst>
                </a:gridCol>
                <a:gridCol w="376990">
                  <a:extLst>
                    <a:ext uri="{9D8B030D-6E8A-4147-A177-3AD203B41FA5}">
                      <a16:colId xmlns:a16="http://schemas.microsoft.com/office/drawing/2014/main" val="606343343"/>
                    </a:ext>
                  </a:extLst>
                </a:gridCol>
                <a:gridCol w="409073">
                  <a:extLst>
                    <a:ext uri="{9D8B030D-6E8A-4147-A177-3AD203B41FA5}">
                      <a16:colId xmlns:a16="http://schemas.microsoft.com/office/drawing/2014/main" val="300621403"/>
                    </a:ext>
                  </a:extLst>
                </a:gridCol>
                <a:gridCol w="312311">
                  <a:extLst>
                    <a:ext uri="{9D8B030D-6E8A-4147-A177-3AD203B41FA5}">
                      <a16:colId xmlns:a16="http://schemas.microsoft.com/office/drawing/2014/main" val="1999991306"/>
                    </a:ext>
                  </a:extLst>
                </a:gridCol>
              </a:tblGrid>
              <a:tr h="324123">
                <a:tc>
                  <a:txBody>
                    <a:bodyPr/>
                    <a:lstStyle/>
                    <a:p>
                      <a:pPr algn="ctr"/>
                      <a:r>
                        <a:rPr lang="en-US" sz="900" b="1" dirty="0">
                          <a:solidFill>
                            <a:schemeClr val="bg1"/>
                          </a:solidFill>
                        </a:rPr>
                        <a:t>FY20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b="1" dirty="0">
                          <a:solidFill>
                            <a:schemeClr val="accent1"/>
                          </a:solidFill>
                        </a:rPr>
                        <a:t>(33)%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66%</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b="1" dirty="0">
                          <a:solidFill>
                            <a:schemeClr val="accent1"/>
                          </a:solidFill>
                        </a:rPr>
                        <a:t>(23)%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43%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(5)%</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33%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b="1" dirty="0">
                          <a:solidFill>
                            <a:schemeClr val="accent1"/>
                          </a:solidFill>
                        </a:rPr>
                        <a:t>(6)%</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(15)%</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(5)%</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(2)%</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accent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3%</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b="1" kern="1200" dirty="0">
                          <a:solidFill>
                            <a:schemeClr val="accent1"/>
                          </a:solidFill>
                          <a:latin typeface="+mn-lt"/>
                          <a:ea typeface="+mn-ea"/>
                          <a:cs typeface="+mn-cs"/>
                        </a:rPr>
                        <a:t>-</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(4)%</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kern="1200" dirty="0">
                          <a:solidFill>
                            <a:schemeClr val="accent1"/>
                          </a:solidFill>
                          <a:latin typeface="+mn-lt"/>
                          <a:ea typeface="+mn-ea"/>
                          <a:cs typeface="+mn-cs"/>
                        </a:rPr>
                        <a:t>0%</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5E5E5"/>
                    </a:solidFill>
                  </a:tcPr>
                </a:tc>
                <a:tc>
                  <a:txBody>
                    <a:bodyPr/>
                    <a:lstStyle/>
                    <a:p>
                      <a:pPr algn="ctr"/>
                      <a:r>
                        <a:rPr lang="en-US" sz="900" b="1" dirty="0">
                          <a:solidFill>
                            <a:schemeClr val="bg1"/>
                          </a:solidFill>
                        </a:rPr>
                        <a:t>(1)%</a:t>
                      </a:r>
                    </a:p>
                  </a:txBody>
                  <a:tcPr marL="0" marR="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2"/>
                  </a:ext>
                </a:extLst>
              </a:tr>
            </a:tbl>
          </a:graphicData>
        </a:graphic>
      </p:graphicFrame>
      <p:grpSp>
        <p:nvGrpSpPr>
          <p:cNvPr id="24" name="Group 23">
            <a:extLst>
              <a:ext uri="{FF2B5EF4-FFF2-40B4-BE49-F238E27FC236}">
                <a16:creationId xmlns:a16="http://schemas.microsoft.com/office/drawing/2014/main" id="{7E563A72-CF12-4F27-BA5F-76011D5720BA}"/>
              </a:ext>
            </a:extLst>
          </p:cNvPr>
          <p:cNvGrpSpPr/>
          <p:nvPr>
            <p:custDataLst>
              <p:tags r:id="rId10"/>
            </p:custDataLst>
          </p:nvPr>
        </p:nvGrpSpPr>
        <p:grpSpPr>
          <a:xfrm>
            <a:off x="995364" y="153170"/>
            <a:ext cx="6245240" cy="195814"/>
            <a:chOff x="995364" y="153170"/>
            <a:chExt cx="6245240" cy="195814"/>
          </a:xfrm>
        </p:grpSpPr>
        <p:sp>
          <p:nvSpPr>
            <p:cNvPr id="25" name="Current Section1">
              <a:hlinkClick r:id="rId15"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6" name="Other Sections2">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28" name="Other Sections4">
              <a:hlinkClick r:id="rId18"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Other Sections5">
              <a:hlinkClick r:id="rId19"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0" name="Other Sections6">
              <a:hlinkClick r:id="rId20"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1" name="Other Sections7">
              <a:hlinkClick r:id="rId21"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30203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F0A4-D7D6-4541-AD2F-9E4753A975FB}"/>
              </a:ext>
            </a:extLst>
          </p:cNvPr>
          <p:cNvSpPr>
            <a:spLocks noGrp="1"/>
          </p:cNvSpPr>
          <p:nvPr>
            <p:ph type="title"/>
          </p:nvPr>
        </p:nvSpPr>
        <p:spPr/>
        <p:txBody>
          <a:bodyPr/>
          <a:lstStyle/>
          <a:p>
            <a:r>
              <a:rPr lang="en-GB" dirty="0"/>
              <a:t>Headlines </a:t>
            </a:r>
            <a:r>
              <a:rPr lang="en-US" dirty="0"/>
              <a:t>(1/3)</a:t>
            </a:r>
            <a:endParaRPr lang="en-GB" dirty="0"/>
          </a:p>
        </p:txBody>
      </p:sp>
      <p:sp>
        <p:nvSpPr>
          <p:cNvPr id="3" name="Text Placeholder 2">
            <a:extLst>
              <a:ext uri="{FF2B5EF4-FFF2-40B4-BE49-F238E27FC236}">
                <a16:creationId xmlns:a16="http://schemas.microsoft.com/office/drawing/2014/main" id="{DB774134-AE44-4632-B3B8-4B831639F346}"/>
              </a:ext>
            </a:extLst>
          </p:cNvPr>
          <p:cNvSpPr>
            <a:spLocks noGrp="1"/>
          </p:cNvSpPr>
          <p:nvPr>
            <p:ph type="body" sz="quarter" idx="16"/>
          </p:nvPr>
        </p:nvSpPr>
        <p:spPr/>
        <p:txBody>
          <a:bodyPr/>
          <a:lstStyle/>
          <a:p>
            <a:r>
              <a:rPr lang="en-IN" dirty="0"/>
              <a:t>Historical trading</a:t>
            </a:r>
          </a:p>
        </p:txBody>
      </p:sp>
      <p:sp>
        <p:nvSpPr>
          <p:cNvPr id="4" name="Text Placeholder 3">
            <a:extLst>
              <a:ext uri="{FF2B5EF4-FFF2-40B4-BE49-F238E27FC236}">
                <a16:creationId xmlns:a16="http://schemas.microsoft.com/office/drawing/2014/main" id="{F474E0A9-AE60-4899-B029-E793598223FD}"/>
              </a:ext>
            </a:extLst>
          </p:cNvPr>
          <p:cNvSpPr>
            <a:spLocks noGrp="1"/>
          </p:cNvSpPr>
          <p:nvPr>
            <p:ph type="body" sz="quarter" idx="17"/>
          </p:nvPr>
        </p:nvSpPr>
        <p:spPr/>
        <p:txBody>
          <a:bodyPr/>
          <a:lstStyle/>
          <a:p>
            <a:r>
              <a:rPr lang="en-IN" dirty="0"/>
              <a:t>Quality of earnings</a:t>
            </a:r>
          </a:p>
          <a:p>
            <a:endParaRPr lang="en-GB" dirty="0"/>
          </a:p>
        </p:txBody>
      </p:sp>
      <p:sp>
        <p:nvSpPr>
          <p:cNvPr id="5" name="Text Placeholder 4">
            <a:extLst>
              <a:ext uri="{FF2B5EF4-FFF2-40B4-BE49-F238E27FC236}">
                <a16:creationId xmlns:a16="http://schemas.microsoft.com/office/drawing/2014/main" id="{C61BF636-5B0E-44E7-BFEE-1740C5F35BE9}"/>
              </a:ext>
            </a:extLst>
          </p:cNvPr>
          <p:cNvSpPr>
            <a:spLocks noGrp="1"/>
          </p:cNvSpPr>
          <p:nvPr>
            <p:ph type="body" sz="quarter" idx="18"/>
          </p:nvPr>
        </p:nvSpPr>
        <p:spPr/>
        <p:txBody>
          <a:bodyPr/>
          <a:lstStyle/>
          <a:p>
            <a:r>
              <a:rPr lang="en-IN" dirty="0"/>
              <a:t>FY22 Outturn</a:t>
            </a:r>
          </a:p>
        </p:txBody>
      </p:sp>
      <p:sp>
        <p:nvSpPr>
          <p:cNvPr id="6" name="Text Placeholder 5">
            <a:extLst>
              <a:ext uri="{FF2B5EF4-FFF2-40B4-BE49-F238E27FC236}">
                <a16:creationId xmlns:a16="http://schemas.microsoft.com/office/drawing/2014/main" id="{817AF733-B718-4E67-AF7F-011A1084D889}"/>
              </a:ext>
            </a:extLst>
          </p:cNvPr>
          <p:cNvSpPr>
            <a:spLocks noGrp="1"/>
          </p:cNvSpPr>
          <p:nvPr>
            <p:ph type="body" sz="quarter" idx="20"/>
          </p:nvPr>
        </p:nvSpPr>
        <p:spPr/>
        <p:txBody>
          <a:bodyPr/>
          <a:lstStyle/>
          <a:p>
            <a:r>
              <a:rPr lang="en-GB" sz="1000" b="0" noProof="0" dirty="0">
                <a:solidFill>
                  <a:schemeClr val="tx1"/>
                </a:solidFill>
              </a:rPr>
              <a:t>£0.2 million of potential adjustments have been identified increasing LTM22 EBITDA to £7.7 million, as compared to Management’s adjusted EBITDA of £7.5 million. Adjustments include the removal of the week 53 impact, release of accruals and rent reductions. We concur with the majority of Management adjustments and exceptional items although the potential purchaser will need to consider their NED costs.</a:t>
            </a:r>
          </a:p>
          <a:p>
            <a:endParaRPr lang="en-GB" dirty="0"/>
          </a:p>
        </p:txBody>
      </p:sp>
      <p:sp>
        <p:nvSpPr>
          <p:cNvPr id="7" name="Text Placeholder 6">
            <a:extLst>
              <a:ext uri="{FF2B5EF4-FFF2-40B4-BE49-F238E27FC236}">
                <a16:creationId xmlns:a16="http://schemas.microsoft.com/office/drawing/2014/main" id="{718CD64D-4153-434D-A15B-EB138F0A1992}"/>
              </a:ext>
            </a:extLst>
          </p:cNvPr>
          <p:cNvSpPr>
            <a:spLocks noGrp="1"/>
          </p:cNvSpPr>
          <p:nvPr>
            <p:ph type="body" sz="quarter" idx="21"/>
          </p:nvPr>
        </p:nvSpPr>
        <p:spPr/>
        <p:txBody>
          <a:bodyPr/>
          <a:lstStyle/>
          <a:p>
            <a:r>
              <a:rPr lang="en-GB" b="0" noProof="0" dirty="0">
                <a:solidFill>
                  <a:schemeClr val="tx1"/>
                </a:solidFill>
              </a:rPr>
              <a:t>The FY22 outturn EBITDA forecast appears achievable based on historical seasonality, although it is inherently dependent on current revenue and customer acquisition trends being maintained. October 2021 flash sales show that total net revenue was £1.0 million (22.6%) ahead of forecast for that month. Potential quality of earnings adjustments of £0.4 million have been identified.</a:t>
            </a:r>
          </a:p>
          <a:p>
            <a:endParaRPr lang="en-GB" dirty="0"/>
          </a:p>
        </p:txBody>
      </p:sp>
      <p:sp>
        <p:nvSpPr>
          <p:cNvPr id="8" name="Text Placeholder 7">
            <a:extLst>
              <a:ext uri="{FF2B5EF4-FFF2-40B4-BE49-F238E27FC236}">
                <a16:creationId xmlns:a16="http://schemas.microsoft.com/office/drawing/2014/main" id="{8C8F1C9B-7106-4A1F-AA32-BB2B363C074B}"/>
              </a:ext>
            </a:extLst>
          </p:cNvPr>
          <p:cNvSpPr>
            <a:spLocks noGrp="1"/>
          </p:cNvSpPr>
          <p:nvPr>
            <p:ph type="body" sz="quarter" idx="19"/>
          </p:nvPr>
        </p:nvSpPr>
        <p:spPr/>
        <p:txBody>
          <a:bodyPr/>
          <a:lstStyle/>
          <a:p>
            <a:r>
              <a:rPr lang="en-GB" b="0" noProof="0" dirty="0">
                <a:solidFill>
                  <a:schemeClr val="tx1"/>
                </a:solidFill>
              </a:rPr>
              <a:t>Y displayed strong historical trading performance between FY19 and LTM22 with revenue growth of £24.8 million and EBITDA growth from £0.1 million to £7.3 million. This has been driven primarily by strong online sales growth, coupled with increased gross margin and leverage of the cost base. </a:t>
            </a:r>
          </a:p>
          <a:p>
            <a:endParaRPr lang="en-GB" dirty="0"/>
          </a:p>
        </p:txBody>
      </p:sp>
      <p:sp>
        <p:nvSpPr>
          <p:cNvPr id="9" name="Text Placeholder 8">
            <a:extLst>
              <a:ext uri="{FF2B5EF4-FFF2-40B4-BE49-F238E27FC236}">
                <a16:creationId xmlns:a16="http://schemas.microsoft.com/office/drawing/2014/main" id="{DBEE15C3-5B83-420B-9976-2926B4FA3612}"/>
              </a:ext>
            </a:extLst>
          </p:cNvPr>
          <p:cNvSpPr>
            <a:spLocks noGrp="1"/>
          </p:cNvSpPr>
          <p:nvPr>
            <p:ph type="body" sz="quarter" idx="27"/>
          </p:nvPr>
        </p:nvSpPr>
        <p:spPr/>
        <p:txBody>
          <a:bodyPr/>
          <a:lstStyle/>
          <a:p>
            <a:r>
              <a:rPr lang="en-US" dirty="0">
                <a:sym typeface="Wingdings" panose="05000000000000000000" pitchFamily="2" charset="2"/>
              </a:rPr>
              <a:t></a:t>
            </a:r>
            <a:endParaRPr lang="en-US" dirty="0"/>
          </a:p>
        </p:txBody>
      </p:sp>
      <p:sp>
        <p:nvSpPr>
          <p:cNvPr id="10" name="Text Placeholder 9">
            <a:extLst>
              <a:ext uri="{FF2B5EF4-FFF2-40B4-BE49-F238E27FC236}">
                <a16:creationId xmlns:a16="http://schemas.microsoft.com/office/drawing/2014/main" id="{BC1F3F76-4CE8-4278-B96C-BA8B24576F22}"/>
              </a:ext>
            </a:extLst>
          </p:cNvPr>
          <p:cNvSpPr>
            <a:spLocks noGrp="1"/>
          </p:cNvSpPr>
          <p:nvPr>
            <p:ph type="body" sz="quarter" idx="28"/>
          </p:nvPr>
        </p:nvSpPr>
        <p:spPr/>
        <p:txBody>
          <a:bodyPr/>
          <a:lstStyle/>
          <a:p>
            <a:endParaRPr lang="en-GB" dirty="0"/>
          </a:p>
        </p:txBody>
      </p:sp>
      <p:sp>
        <p:nvSpPr>
          <p:cNvPr id="11" name="Text Placeholder 10">
            <a:extLst>
              <a:ext uri="{FF2B5EF4-FFF2-40B4-BE49-F238E27FC236}">
                <a16:creationId xmlns:a16="http://schemas.microsoft.com/office/drawing/2014/main" id="{F4009AA7-239E-450D-8AD2-4E56404C179F}"/>
              </a:ext>
            </a:extLst>
          </p:cNvPr>
          <p:cNvSpPr>
            <a:spLocks noGrp="1"/>
          </p:cNvSpPr>
          <p:nvPr>
            <p:ph type="body" sz="quarter" idx="29"/>
          </p:nvPr>
        </p:nvSpPr>
        <p:spPr/>
        <p:txBody>
          <a:bodyPr/>
          <a:lstStyle/>
          <a:p>
            <a:r>
              <a:rPr lang="en-US" dirty="0">
                <a:sym typeface="Wingdings" panose="05000000000000000000" pitchFamily="2" charset="2"/>
              </a:rPr>
              <a:t></a:t>
            </a:r>
            <a:endParaRPr lang="en-US" dirty="0"/>
          </a:p>
        </p:txBody>
      </p:sp>
      <p:sp>
        <p:nvSpPr>
          <p:cNvPr id="12" name="Text Placeholder 11">
            <a:extLst>
              <a:ext uri="{FF2B5EF4-FFF2-40B4-BE49-F238E27FC236}">
                <a16:creationId xmlns:a16="http://schemas.microsoft.com/office/drawing/2014/main" id="{F875268C-C1F8-4111-A8A5-84287E7D9B54}"/>
              </a:ext>
            </a:extLst>
          </p:cNvPr>
          <p:cNvSpPr>
            <a:spLocks noGrp="1"/>
          </p:cNvSpPr>
          <p:nvPr>
            <p:ph type="body" sz="quarter" idx="30"/>
          </p:nvPr>
        </p:nvSpPr>
        <p:spPr/>
        <p:txBody>
          <a:bodyPr/>
          <a:lstStyle/>
          <a:p>
            <a:r>
              <a:rPr lang="en-US" dirty="0">
                <a:sym typeface="Wingdings" panose="05000000000000000000" pitchFamily="2" charset="2"/>
              </a:rPr>
              <a:t></a:t>
            </a:r>
            <a:endParaRPr lang="en-US" dirty="0"/>
          </a:p>
        </p:txBody>
      </p:sp>
      <p:sp>
        <p:nvSpPr>
          <p:cNvPr id="13" name="Text Placeholder 12">
            <a:extLst>
              <a:ext uri="{FF2B5EF4-FFF2-40B4-BE49-F238E27FC236}">
                <a16:creationId xmlns:a16="http://schemas.microsoft.com/office/drawing/2014/main" id="{00221173-A750-4530-AC08-5CEDBC785586}"/>
              </a:ext>
            </a:extLst>
          </p:cNvPr>
          <p:cNvSpPr>
            <a:spLocks noGrp="1"/>
          </p:cNvSpPr>
          <p:nvPr>
            <p:ph type="body" sz="quarter" idx="31"/>
          </p:nvPr>
        </p:nvSpPr>
        <p:spPr/>
        <p:txBody>
          <a:bodyPr/>
          <a:lstStyle/>
          <a:p>
            <a:r>
              <a:rPr lang="en-US" dirty="0">
                <a:sym typeface="Wingdings" panose="05000000000000000000" pitchFamily="2" charset="2"/>
              </a:rPr>
              <a:t></a:t>
            </a:r>
            <a:endParaRPr lang="en-US" dirty="0"/>
          </a:p>
        </p:txBody>
      </p:sp>
      <p:sp>
        <p:nvSpPr>
          <p:cNvPr id="14" name="Text Placeholder 13">
            <a:extLst>
              <a:ext uri="{FF2B5EF4-FFF2-40B4-BE49-F238E27FC236}">
                <a16:creationId xmlns:a16="http://schemas.microsoft.com/office/drawing/2014/main" id="{115C4B46-CE17-40F9-B282-89FD67B40DF2}"/>
              </a:ext>
            </a:extLst>
          </p:cNvPr>
          <p:cNvSpPr>
            <a:spLocks noGrp="1"/>
          </p:cNvSpPr>
          <p:nvPr>
            <p:ph type="body" sz="quarter" idx="32"/>
          </p:nvPr>
        </p:nvSpPr>
        <p:spPr/>
        <p:txBody>
          <a:bodyPr/>
          <a:lstStyle/>
          <a:p>
            <a:r>
              <a:rPr lang="en-US" dirty="0">
                <a:sym typeface="Wingdings" panose="05000000000000000000" pitchFamily="2" charset="2"/>
              </a:rPr>
              <a:t></a:t>
            </a:r>
            <a:endParaRPr lang="en-US" dirty="0"/>
          </a:p>
        </p:txBody>
      </p:sp>
      <p:sp>
        <p:nvSpPr>
          <p:cNvPr id="15" name="Text Placeholder 14">
            <a:extLst>
              <a:ext uri="{FF2B5EF4-FFF2-40B4-BE49-F238E27FC236}">
                <a16:creationId xmlns:a16="http://schemas.microsoft.com/office/drawing/2014/main" id="{2D8B7430-3E6C-4092-B58F-25808ED298BE}"/>
              </a:ext>
            </a:extLst>
          </p:cNvPr>
          <p:cNvSpPr>
            <a:spLocks noGrp="1"/>
          </p:cNvSpPr>
          <p:nvPr>
            <p:ph type="body" sz="quarter" idx="33"/>
          </p:nvPr>
        </p:nvSpPr>
        <p:spPr/>
        <p:txBody>
          <a:bodyPr/>
          <a:lstStyle/>
          <a:p>
            <a:endParaRPr lang="en-GB" dirty="0"/>
          </a:p>
        </p:txBody>
      </p:sp>
      <p:sp>
        <p:nvSpPr>
          <p:cNvPr id="16" name="Text Placeholder 15">
            <a:extLst>
              <a:ext uri="{FF2B5EF4-FFF2-40B4-BE49-F238E27FC236}">
                <a16:creationId xmlns:a16="http://schemas.microsoft.com/office/drawing/2014/main" id="{8DFDBE96-B0F7-4C9B-BC74-C598665F15B8}"/>
              </a:ext>
            </a:extLst>
          </p:cNvPr>
          <p:cNvSpPr>
            <a:spLocks noGrp="1"/>
          </p:cNvSpPr>
          <p:nvPr>
            <p:ph type="body" sz="quarter" idx="34"/>
          </p:nvPr>
        </p:nvSpPr>
        <p:spPr/>
        <p:txBody>
          <a:bodyPr/>
          <a:lstStyle/>
          <a:p>
            <a:endParaRPr lang="en-GB" dirty="0"/>
          </a:p>
        </p:txBody>
      </p:sp>
      <p:sp>
        <p:nvSpPr>
          <p:cNvPr id="17" name="Text Placeholder 16">
            <a:extLst>
              <a:ext uri="{FF2B5EF4-FFF2-40B4-BE49-F238E27FC236}">
                <a16:creationId xmlns:a16="http://schemas.microsoft.com/office/drawing/2014/main" id="{95ECB7DE-0494-40CC-9BE9-AB3F0D277BB8}"/>
              </a:ext>
            </a:extLst>
          </p:cNvPr>
          <p:cNvSpPr>
            <a:spLocks noGrp="1"/>
          </p:cNvSpPr>
          <p:nvPr>
            <p:ph type="body" sz="quarter" idx="35"/>
          </p:nvPr>
        </p:nvSpPr>
        <p:spPr/>
        <p:txBody>
          <a:bodyPr/>
          <a:lstStyle/>
          <a:p>
            <a:endParaRPr lang="en-GB" dirty="0"/>
          </a:p>
        </p:txBody>
      </p:sp>
      <p:sp>
        <p:nvSpPr>
          <p:cNvPr id="18" name="UpSlide SubSection Marker" hidden="1">
            <a:extLst>
              <a:ext uri="{FF2B5EF4-FFF2-40B4-BE49-F238E27FC236}">
                <a16:creationId xmlns:a16="http://schemas.microsoft.com/office/drawing/2014/main" id="{480028E9-A6E0-487E-B903-176B277FA2A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Headlines</a:t>
            </a:r>
            <a:endParaRPr lang="en-GB" sz="900" dirty="0">
              <a:solidFill>
                <a:schemeClr val="bg1"/>
              </a:solidFill>
            </a:endParaRPr>
          </a:p>
        </p:txBody>
      </p:sp>
      <p:grpSp>
        <p:nvGrpSpPr>
          <p:cNvPr id="34" name="Group 33">
            <a:extLst>
              <a:ext uri="{FF2B5EF4-FFF2-40B4-BE49-F238E27FC236}">
                <a16:creationId xmlns:a16="http://schemas.microsoft.com/office/drawing/2014/main" id="{7E563A72-CF12-4F27-BA5F-76011D5720BA}"/>
              </a:ext>
            </a:extLst>
          </p:cNvPr>
          <p:cNvGrpSpPr/>
          <p:nvPr>
            <p:custDataLst>
              <p:tags r:id="rId2"/>
            </p:custDataLst>
          </p:nvPr>
        </p:nvGrpSpPr>
        <p:grpSpPr>
          <a:xfrm>
            <a:off x="995364" y="153170"/>
            <a:ext cx="6245240" cy="195814"/>
            <a:chOff x="995364" y="153170"/>
            <a:chExt cx="6245240" cy="195814"/>
          </a:xfrm>
        </p:grpSpPr>
        <p:sp>
          <p:nvSpPr>
            <p:cNvPr id="35" name="Current Section1">
              <a:hlinkClick r:id="rId4"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6" name="Other Sections2">
              <a:hlinkClick r:id="rId5"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6"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7"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8"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9"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0"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42" name="Rectangle: Rounded Corners 41">
            <a:hlinkClick r:id="rId11" action="ppaction://hlinksldjump"/>
            <a:extLst>
              <a:ext uri="{FF2B5EF4-FFF2-40B4-BE49-F238E27FC236}">
                <a16:creationId xmlns:a16="http://schemas.microsoft.com/office/drawing/2014/main" id="{713161D8-1655-48BE-B4AB-D8E1BD7CA1CA}"/>
              </a:ext>
            </a:extLst>
          </p:cNvPr>
          <p:cNvSpPr/>
          <p:nvPr/>
        </p:nvSpPr>
        <p:spPr>
          <a:xfrm>
            <a:off x="7020674" y="2287289"/>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3" name="Rectangle: Rounded Corners 42">
            <a:hlinkClick r:id="rId11" action="ppaction://hlinksldjump"/>
            <a:extLst>
              <a:ext uri="{FF2B5EF4-FFF2-40B4-BE49-F238E27FC236}">
                <a16:creationId xmlns:a16="http://schemas.microsoft.com/office/drawing/2014/main" id="{A993E88D-2992-4104-9674-CC210BFF128B}"/>
              </a:ext>
            </a:extLst>
          </p:cNvPr>
          <p:cNvSpPr/>
          <p:nvPr/>
        </p:nvSpPr>
        <p:spPr>
          <a:xfrm>
            <a:off x="7028192" y="338498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44" name="Rectangle: Rounded Corners 43">
            <a:hlinkClick r:id="rId12" action="ppaction://hlinksldjump"/>
            <a:extLst>
              <a:ext uri="{FF2B5EF4-FFF2-40B4-BE49-F238E27FC236}">
                <a16:creationId xmlns:a16="http://schemas.microsoft.com/office/drawing/2014/main" id="{F6E48931-AF40-4ECF-81D9-12D7987C0339}"/>
              </a:ext>
            </a:extLst>
          </p:cNvPr>
          <p:cNvSpPr/>
          <p:nvPr/>
        </p:nvSpPr>
        <p:spPr>
          <a:xfrm>
            <a:off x="7028192" y="4589702"/>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Tree>
    <p:extLst>
      <p:ext uri="{BB962C8B-B14F-4D97-AF65-F5344CB8AC3E}">
        <p14:creationId xmlns:p14="http://schemas.microsoft.com/office/powerpoint/2010/main" val="198059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F0A4-D7D6-4541-AD2F-9E4753A975FB}"/>
              </a:ext>
            </a:extLst>
          </p:cNvPr>
          <p:cNvSpPr>
            <a:spLocks noGrp="1"/>
          </p:cNvSpPr>
          <p:nvPr>
            <p:ph type="title"/>
          </p:nvPr>
        </p:nvSpPr>
        <p:spPr/>
        <p:txBody>
          <a:bodyPr/>
          <a:lstStyle/>
          <a:p>
            <a:r>
              <a:rPr lang="en-GB" dirty="0"/>
              <a:t>Headlines </a:t>
            </a:r>
            <a:r>
              <a:rPr lang="en-US" dirty="0"/>
              <a:t>(2/3)</a:t>
            </a:r>
            <a:endParaRPr lang="en-GB" dirty="0"/>
          </a:p>
        </p:txBody>
      </p:sp>
      <p:sp>
        <p:nvSpPr>
          <p:cNvPr id="3" name="Text Placeholder 2">
            <a:extLst>
              <a:ext uri="{FF2B5EF4-FFF2-40B4-BE49-F238E27FC236}">
                <a16:creationId xmlns:a16="http://schemas.microsoft.com/office/drawing/2014/main" id="{DB774134-AE44-4632-B3B8-4B831639F346}"/>
              </a:ext>
            </a:extLst>
          </p:cNvPr>
          <p:cNvSpPr>
            <a:spLocks noGrp="1"/>
          </p:cNvSpPr>
          <p:nvPr>
            <p:ph type="body" sz="quarter" idx="16"/>
          </p:nvPr>
        </p:nvSpPr>
        <p:spPr/>
        <p:txBody>
          <a:bodyPr/>
          <a:lstStyle/>
          <a:p>
            <a:r>
              <a:rPr lang="en-IN" dirty="0"/>
              <a:t>Forecast FY23-FY25</a:t>
            </a:r>
          </a:p>
        </p:txBody>
      </p:sp>
      <p:sp>
        <p:nvSpPr>
          <p:cNvPr id="4" name="Text Placeholder 3">
            <a:extLst>
              <a:ext uri="{FF2B5EF4-FFF2-40B4-BE49-F238E27FC236}">
                <a16:creationId xmlns:a16="http://schemas.microsoft.com/office/drawing/2014/main" id="{F474E0A9-AE60-4899-B029-E793598223FD}"/>
              </a:ext>
            </a:extLst>
          </p:cNvPr>
          <p:cNvSpPr>
            <a:spLocks noGrp="1"/>
          </p:cNvSpPr>
          <p:nvPr>
            <p:ph type="body" sz="quarter" idx="17"/>
          </p:nvPr>
        </p:nvSpPr>
        <p:spPr/>
        <p:txBody>
          <a:bodyPr/>
          <a:lstStyle/>
          <a:p>
            <a:r>
              <a:rPr lang="en-IN" dirty="0"/>
              <a:t>Net cash</a:t>
            </a:r>
          </a:p>
        </p:txBody>
      </p:sp>
      <p:sp>
        <p:nvSpPr>
          <p:cNvPr id="5" name="Text Placeholder 4">
            <a:extLst>
              <a:ext uri="{FF2B5EF4-FFF2-40B4-BE49-F238E27FC236}">
                <a16:creationId xmlns:a16="http://schemas.microsoft.com/office/drawing/2014/main" id="{C61BF636-5B0E-44E7-BFEE-1740C5F35BE9}"/>
              </a:ext>
            </a:extLst>
          </p:cNvPr>
          <p:cNvSpPr>
            <a:spLocks noGrp="1"/>
          </p:cNvSpPr>
          <p:nvPr>
            <p:ph type="body" sz="quarter" idx="18"/>
          </p:nvPr>
        </p:nvSpPr>
        <p:spPr/>
        <p:txBody>
          <a:bodyPr/>
          <a:lstStyle/>
          <a:p>
            <a:r>
              <a:rPr lang="en-IN" dirty="0"/>
              <a:t>Working capital</a:t>
            </a:r>
          </a:p>
        </p:txBody>
      </p:sp>
      <p:sp>
        <p:nvSpPr>
          <p:cNvPr id="6" name="Text Placeholder 5">
            <a:extLst>
              <a:ext uri="{FF2B5EF4-FFF2-40B4-BE49-F238E27FC236}">
                <a16:creationId xmlns:a16="http://schemas.microsoft.com/office/drawing/2014/main" id="{817AF733-B718-4E67-AF7F-011A1084D889}"/>
              </a:ext>
            </a:extLst>
          </p:cNvPr>
          <p:cNvSpPr>
            <a:spLocks noGrp="1"/>
          </p:cNvSpPr>
          <p:nvPr>
            <p:ph type="body" sz="quarter" idx="20"/>
          </p:nvPr>
        </p:nvSpPr>
        <p:spPr/>
        <p:txBody>
          <a:bodyPr/>
          <a:lstStyle/>
          <a:p>
            <a:r>
              <a:rPr lang="en-GB" b="0" noProof="0" dirty="0">
                <a:solidFill>
                  <a:schemeClr val="tx1"/>
                </a:solidFill>
              </a:rPr>
              <a:t>As at 26 September 2021, Y had reported cash of £12.8 million. We have identified £0.7 million of potential cash like adjustments to reported net cash.  </a:t>
            </a:r>
          </a:p>
          <a:p>
            <a:r>
              <a:rPr lang="en-GB" b="0" noProof="0" dirty="0">
                <a:solidFill>
                  <a:schemeClr val="tx1"/>
                </a:solidFill>
              </a:rPr>
              <a:t>Y has no external borrowings as a result of the cash generative nature of the business. </a:t>
            </a:r>
          </a:p>
        </p:txBody>
      </p:sp>
      <p:sp>
        <p:nvSpPr>
          <p:cNvPr id="7" name="Text Placeholder 6">
            <a:extLst>
              <a:ext uri="{FF2B5EF4-FFF2-40B4-BE49-F238E27FC236}">
                <a16:creationId xmlns:a16="http://schemas.microsoft.com/office/drawing/2014/main" id="{718CD64D-4153-434D-A15B-EB138F0A1992}"/>
              </a:ext>
            </a:extLst>
          </p:cNvPr>
          <p:cNvSpPr>
            <a:spLocks noGrp="1"/>
          </p:cNvSpPr>
          <p:nvPr>
            <p:ph type="body" sz="quarter" idx="21"/>
          </p:nvPr>
        </p:nvSpPr>
        <p:spPr/>
        <p:txBody>
          <a:bodyPr/>
          <a:lstStyle/>
          <a:p>
            <a:r>
              <a:rPr lang="en-GB" b="0" noProof="0" dirty="0">
                <a:solidFill>
                  <a:schemeClr val="tx1"/>
                </a:solidFill>
              </a:rPr>
              <a:t>Y has typically operated with a negative working capital profile, driven by higher trade creditor days, no accounts receivable balances and quarterly VAT payments.</a:t>
            </a:r>
          </a:p>
          <a:p>
            <a:r>
              <a:rPr lang="en-GB" b="0" noProof="0" dirty="0">
                <a:solidFill>
                  <a:schemeClr val="tx1"/>
                </a:solidFill>
              </a:rPr>
              <a:t>On an adjusted basis average NWC decreased from £(1.5) million in FY21 to £(3.4) million in LTM22, due to factors associated with business growth: increased trade creditor balance, returns provision, VAT liability and bonus accrual. </a:t>
            </a:r>
          </a:p>
          <a:p>
            <a:r>
              <a:rPr lang="en-GB" b="0" noProof="0" dirty="0">
                <a:solidFill>
                  <a:schemeClr val="tx1"/>
                </a:solidFill>
              </a:rPr>
              <a:t>On an adjusted basis, September 2021 net working capital is £1.2 million less than the LTM22 average. Adjusted working capital at September 2021 was £0.6 million lower than the 6+6 period adjusted average of £4.0 million.</a:t>
            </a:r>
          </a:p>
        </p:txBody>
      </p:sp>
      <p:sp>
        <p:nvSpPr>
          <p:cNvPr id="8" name="Text Placeholder 7">
            <a:extLst>
              <a:ext uri="{FF2B5EF4-FFF2-40B4-BE49-F238E27FC236}">
                <a16:creationId xmlns:a16="http://schemas.microsoft.com/office/drawing/2014/main" id="{8C8F1C9B-7106-4A1F-AA32-BB2B363C074B}"/>
              </a:ext>
            </a:extLst>
          </p:cNvPr>
          <p:cNvSpPr>
            <a:spLocks noGrp="1"/>
          </p:cNvSpPr>
          <p:nvPr>
            <p:ph type="body" sz="quarter" idx="19"/>
          </p:nvPr>
        </p:nvSpPr>
        <p:spPr/>
        <p:txBody>
          <a:bodyPr/>
          <a:lstStyle/>
          <a:p>
            <a:r>
              <a:rPr lang="en-GB" b="0" noProof="0" dirty="0">
                <a:solidFill>
                  <a:schemeClr val="tx1"/>
                </a:solidFill>
              </a:rPr>
              <a:t>EBITDA is forecast to increase by £14.4 million (38.7% CAGR) from LTM22 to FY25 driven by net revenue growth of £72.0 million, predominantly (90.4%) from Y's online channels. Overall the forecast assumptions appear broadly reasonable based on historical trends however we recommend that you consider the findings of the commercial due diligence when assessing net revenue assumptions beyond FY22. </a:t>
            </a:r>
          </a:p>
        </p:txBody>
      </p:sp>
      <p:sp>
        <p:nvSpPr>
          <p:cNvPr id="9" name="Text Placeholder 8">
            <a:extLst>
              <a:ext uri="{FF2B5EF4-FFF2-40B4-BE49-F238E27FC236}">
                <a16:creationId xmlns:a16="http://schemas.microsoft.com/office/drawing/2014/main" id="{DBEE15C3-5B83-420B-9976-2926B4FA3612}"/>
              </a:ext>
            </a:extLst>
          </p:cNvPr>
          <p:cNvSpPr>
            <a:spLocks noGrp="1"/>
          </p:cNvSpPr>
          <p:nvPr>
            <p:ph type="body" sz="quarter" idx="27"/>
          </p:nvPr>
        </p:nvSpPr>
        <p:spPr/>
        <p:txBody>
          <a:bodyPr/>
          <a:lstStyle/>
          <a:p>
            <a:r>
              <a:rPr lang="en-US" dirty="0">
                <a:sym typeface="Wingdings" panose="05000000000000000000" pitchFamily="2" charset="2"/>
              </a:rPr>
              <a:t></a:t>
            </a:r>
            <a:endParaRPr lang="en-US" dirty="0"/>
          </a:p>
        </p:txBody>
      </p:sp>
      <p:sp>
        <p:nvSpPr>
          <p:cNvPr id="10" name="Text Placeholder 9">
            <a:extLst>
              <a:ext uri="{FF2B5EF4-FFF2-40B4-BE49-F238E27FC236}">
                <a16:creationId xmlns:a16="http://schemas.microsoft.com/office/drawing/2014/main" id="{BC1F3F76-4CE8-4278-B96C-BA8B24576F22}"/>
              </a:ext>
            </a:extLst>
          </p:cNvPr>
          <p:cNvSpPr>
            <a:spLocks noGrp="1"/>
          </p:cNvSpPr>
          <p:nvPr>
            <p:ph type="body" sz="quarter" idx="28"/>
          </p:nvPr>
        </p:nvSpPr>
        <p:spPr/>
        <p:txBody>
          <a:bodyPr/>
          <a:lstStyle/>
          <a:p>
            <a:endParaRPr lang="en-GB" dirty="0"/>
          </a:p>
        </p:txBody>
      </p:sp>
      <p:sp>
        <p:nvSpPr>
          <p:cNvPr id="11" name="Text Placeholder 10">
            <a:extLst>
              <a:ext uri="{FF2B5EF4-FFF2-40B4-BE49-F238E27FC236}">
                <a16:creationId xmlns:a16="http://schemas.microsoft.com/office/drawing/2014/main" id="{F4009AA7-239E-450D-8AD2-4E56404C179F}"/>
              </a:ext>
            </a:extLst>
          </p:cNvPr>
          <p:cNvSpPr>
            <a:spLocks noGrp="1"/>
          </p:cNvSpPr>
          <p:nvPr>
            <p:ph type="body" sz="quarter" idx="29"/>
          </p:nvPr>
        </p:nvSpPr>
        <p:spPr/>
        <p:txBody>
          <a:bodyPr/>
          <a:lstStyle/>
          <a:p>
            <a:r>
              <a:rPr lang="en-US" dirty="0">
                <a:sym typeface="Wingdings" panose="05000000000000000000" pitchFamily="2" charset="2"/>
              </a:rPr>
              <a:t></a:t>
            </a:r>
            <a:endParaRPr lang="en-US" dirty="0"/>
          </a:p>
        </p:txBody>
      </p:sp>
      <p:sp>
        <p:nvSpPr>
          <p:cNvPr id="12" name="Text Placeholder 11">
            <a:extLst>
              <a:ext uri="{FF2B5EF4-FFF2-40B4-BE49-F238E27FC236}">
                <a16:creationId xmlns:a16="http://schemas.microsoft.com/office/drawing/2014/main" id="{F875268C-C1F8-4111-A8A5-84287E7D9B54}"/>
              </a:ext>
            </a:extLst>
          </p:cNvPr>
          <p:cNvSpPr>
            <a:spLocks noGrp="1"/>
          </p:cNvSpPr>
          <p:nvPr>
            <p:ph type="body" sz="quarter" idx="30"/>
          </p:nvPr>
        </p:nvSpPr>
        <p:spPr/>
        <p:txBody>
          <a:bodyPr/>
          <a:lstStyle/>
          <a:p>
            <a:r>
              <a:rPr lang="en-US" dirty="0">
                <a:sym typeface="Wingdings" panose="05000000000000000000" pitchFamily="2" charset="2"/>
              </a:rPr>
              <a:t></a:t>
            </a:r>
            <a:endParaRPr lang="en-US" dirty="0"/>
          </a:p>
        </p:txBody>
      </p:sp>
      <p:sp>
        <p:nvSpPr>
          <p:cNvPr id="13" name="Text Placeholder 12">
            <a:extLst>
              <a:ext uri="{FF2B5EF4-FFF2-40B4-BE49-F238E27FC236}">
                <a16:creationId xmlns:a16="http://schemas.microsoft.com/office/drawing/2014/main" id="{00221173-A750-4530-AC08-5CEDBC785586}"/>
              </a:ext>
            </a:extLst>
          </p:cNvPr>
          <p:cNvSpPr>
            <a:spLocks noGrp="1"/>
          </p:cNvSpPr>
          <p:nvPr>
            <p:ph type="body" sz="quarter" idx="31"/>
          </p:nvPr>
        </p:nvSpPr>
        <p:spPr/>
        <p:txBody>
          <a:bodyPr/>
          <a:lstStyle/>
          <a:p>
            <a:r>
              <a:rPr lang="en-US" dirty="0">
                <a:sym typeface="Wingdings" panose="05000000000000000000" pitchFamily="2" charset="2"/>
              </a:rPr>
              <a:t></a:t>
            </a:r>
            <a:endParaRPr lang="en-US" dirty="0"/>
          </a:p>
        </p:txBody>
      </p:sp>
      <p:sp>
        <p:nvSpPr>
          <p:cNvPr id="14" name="Text Placeholder 13">
            <a:extLst>
              <a:ext uri="{FF2B5EF4-FFF2-40B4-BE49-F238E27FC236}">
                <a16:creationId xmlns:a16="http://schemas.microsoft.com/office/drawing/2014/main" id="{115C4B46-CE17-40F9-B282-89FD67B40DF2}"/>
              </a:ext>
            </a:extLst>
          </p:cNvPr>
          <p:cNvSpPr>
            <a:spLocks noGrp="1"/>
          </p:cNvSpPr>
          <p:nvPr>
            <p:ph type="body" sz="quarter" idx="32"/>
          </p:nvPr>
        </p:nvSpPr>
        <p:spPr/>
        <p:txBody>
          <a:bodyPr/>
          <a:lstStyle/>
          <a:p>
            <a:r>
              <a:rPr lang="en-US" dirty="0">
                <a:sym typeface="Wingdings" panose="05000000000000000000" pitchFamily="2" charset="2"/>
              </a:rPr>
              <a:t></a:t>
            </a:r>
            <a:endParaRPr lang="en-US" dirty="0"/>
          </a:p>
        </p:txBody>
      </p:sp>
      <p:sp>
        <p:nvSpPr>
          <p:cNvPr id="15" name="Text Placeholder 14">
            <a:extLst>
              <a:ext uri="{FF2B5EF4-FFF2-40B4-BE49-F238E27FC236}">
                <a16:creationId xmlns:a16="http://schemas.microsoft.com/office/drawing/2014/main" id="{2D8B7430-3E6C-4092-B58F-25808ED298BE}"/>
              </a:ext>
            </a:extLst>
          </p:cNvPr>
          <p:cNvSpPr>
            <a:spLocks noGrp="1"/>
          </p:cNvSpPr>
          <p:nvPr>
            <p:ph type="body" sz="quarter" idx="33"/>
          </p:nvPr>
        </p:nvSpPr>
        <p:spPr/>
        <p:txBody>
          <a:bodyPr/>
          <a:lstStyle/>
          <a:p>
            <a:endParaRPr lang="en-GB" dirty="0"/>
          </a:p>
        </p:txBody>
      </p:sp>
      <p:sp>
        <p:nvSpPr>
          <p:cNvPr id="16" name="Text Placeholder 15">
            <a:extLst>
              <a:ext uri="{FF2B5EF4-FFF2-40B4-BE49-F238E27FC236}">
                <a16:creationId xmlns:a16="http://schemas.microsoft.com/office/drawing/2014/main" id="{8DFDBE96-B0F7-4C9B-BC74-C598665F15B8}"/>
              </a:ext>
            </a:extLst>
          </p:cNvPr>
          <p:cNvSpPr>
            <a:spLocks noGrp="1"/>
          </p:cNvSpPr>
          <p:nvPr>
            <p:ph type="body" sz="quarter" idx="34"/>
          </p:nvPr>
        </p:nvSpPr>
        <p:spPr/>
        <p:txBody>
          <a:bodyPr/>
          <a:lstStyle/>
          <a:p>
            <a:endParaRPr lang="en-GB" dirty="0"/>
          </a:p>
        </p:txBody>
      </p:sp>
      <p:sp>
        <p:nvSpPr>
          <p:cNvPr id="17" name="Text Placeholder 16">
            <a:extLst>
              <a:ext uri="{FF2B5EF4-FFF2-40B4-BE49-F238E27FC236}">
                <a16:creationId xmlns:a16="http://schemas.microsoft.com/office/drawing/2014/main" id="{95ECB7DE-0494-40CC-9BE9-AB3F0D277BB8}"/>
              </a:ext>
            </a:extLst>
          </p:cNvPr>
          <p:cNvSpPr>
            <a:spLocks noGrp="1"/>
          </p:cNvSpPr>
          <p:nvPr>
            <p:ph type="body" sz="quarter" idx="35"/>
          </p:nvPr>
        </p:nvSpPr>
        <p:spPr/>
        <p:txBody>
          <a:bodyPr/>
          <a:lstStyle/>
          <a:p>
            <a:endParaRPr lang="en-GB" dirty="0"/>
          </a:p>
        </p:txBody>
      </p:sp>
      <p:sp>
        <p:nvSpPr>
          <p:cNvPr id="18" name="UpSlide SubSection Marker" hidden="1">
            <a:extLst>
              <a:ext uri="{FF2B5EF4-FFF2-40B4-BE49-F238E27FC236}">
                <a16:creationId xmlns:a16="http://schemas.microsoft.com/office/drawing/2014/main" id="{480028E9-A6E0-487E-B903-176B277FA2A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Headlines</a:t>
            </a:r>
            <a:endParaRPr lang="en-GB" sz="900" dirty="0">
              <a:solidFill>
                <a:schemeClr val="bg1"/>
              </a:solidFill>
            </a:endParaRPr>
          </a:p>
        </p:txBody>
      </p:sp>
      <p:grpSp>
        <p:nvGrpSpPr>
          <p:cNvPr id="34" name="Group 33">
            <a:extLst>
              <a:ext uri="{FF2B5EF4-FFF2-40B4-BE49-F238E27FC236}">
                <a16:creationId xmlns:a16="http://schemas.microsoft.com/office/drawing/2014/main" id="{7E563A72-CF12-4F27-BA5F-76011D5720BA}"/>
              </a:ext>
            </a:extLst>
          </p:cNvPr>
          <p:cNvGrpSpPr/>
          <p:nvPr>
            <p:custDataLst>
              <p:tags r:id="rId2"/>
            </p:custDataLst>
          </p:nvPr>
        </p:nvGrpSpPr>
        <p:grpSpPr>
          <a:xfrm>
            <a:off x="995364" y="153170"/>
            <a:ext cx="6245240" cy="195814"/>
            <a:chOff x="995364" y="153170"/>
            <a:chExt cx="6245240" cy="195814"/>
          </a:xfrm>
        </p:grpSpPr>
        <p:sp>
          <p:nvSpPr>
            <p:cNvPr id="35" name="Current Section1">
              <a:hlinkClick r:id="rId4"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6" name="Other Sections2">
              <a:hlinkClick r:id="rId5"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6"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7"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8"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9"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0"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32" name="Rectangle: Rounded Corners 31">
            <a:hlinkClick r:id="rId11" action="ppaction://hlinksldjump"/>
            <a:extLst>
              <a:ext uri="{FF2B5EF4-FFF2-40B4-BE49-F238E27FC236}">
                <a16:creationId xmlns:a16="http://schemas.microsoft.com/office/drawing/2014/main" id="{09FF8DEB-6263-4357-88A6-229C64878F31}"/>
              </a:ext>
            </a:extLst>
          </p:cNvPr>
          <p:cNvSpPr/>
          <p:nvPr/>
        </p:nvSpPr>
        <p:spPr>
          <a:xfrm>
            <a:off x="7028192" y="224932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33" name="Rectangle: Rounded Corners 32">
            <a:hlinkClick r:id="rId12" action="ppaction://hlinksldjump"/>
            <a:extLst>
              <a:ext uri="{FF2B5EF4-FFF2-40B4-BE49-F238E27FC236}">
                <a16:creationId xmlns:a16="http://schemas.microsoft.com/office/drawing/2014/main" id="{B826EB66-3AF9-4135-BCA3-36D1152DECF4}"/>
              </a:ext>
            </a:extLst>
          </p:cNvPr>
          <p:cNvSpPr/>
          <p:nvPr/>
        </p:nvSpPr>
        <p:spPr>
          <a:xfrm>
            <a:off x="7020674" y="3429000"/>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5" name="Rectangle: Rounded Corners 44">
            <a:hlinkClick r:id="rId12" action="ppaction://hlinksldjump"/>
            <a:extLst>
              <a:ext uri="{FF2B5EF4-FFF2-40B4-BE49-F238E27FC236}">
                <a16:creationId xmlns:a16="http://schemas.microsoft.com/office/drawing/2014/main" id="{DCCAD59F-DC46-4D23-92E9-07747D319EE2}"/>
              </a:ext>
            </a:extLst>
          </p:cNvPr>
          <p:cNvSpPr/>
          <p:nvPr/>
        </p:nvSpPr>
        <p:spPr>
          <a:xfrm>
            <a:off x="7028192" y="4589702"/>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Tree>
    <p:extLst>
      <p:ext uri="{BB962C8B-B14F-4D97-AF65-F5344CB8AC3E}">
        <p14:creationId xmlns:p14="http://schemas.microsoft.com/office/powerpoint/2010/main" val="613811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F0A4-D7D6-4541-AD2F-9E4753A975FB}"/>
              </a:ext>
            </a:extLst>
          </p:cNvPr>
          <p:cNvSpPr>
            <a:spLocks noGrp="1"/>
          </p:cNvSpPr>
          <p:nvPr>
            <p:ph type="title"/>
          </p:nvPr>
        </p:nvSpPr>
        <p:spPr/>
        <p:txBody>
          <a:bodyPr/>
          <a:lstStyle/>
          <a:p>
            <a:r>
              <a:rPr lang="en-GB" dirty="0"/>
              <a:t>Headlines </a:t>
            </a:r>
            <a:r>
              <a:rPr lang="en-US" dirty="0"/>
              <a:t>(3/3)</a:t>
            </a:r>
            <a:endParaRPr lang="en-GB" dirty="0"/>
          </a:p>
        </p:txBody>
      </p:sp>
      <p:sp>
        <p:nvSpPr>
          <p:cNvPr id="3" name="Text Placeholder 2">
            <a:extLst>
              <a:ext uri="{FF2B5EF4-FFF2-40B4-BE49-F238E27FC236}">
                <a16:creationId xmlns:a16="http://schemas.microsoft.com/office/drawing/2014/main" id="{DB774134-AE44-4632-B3B8-4B831639F346}"/>
              </a:ext>
            </a:extLst>
          </p:cNvPr>
          <p:cNvSpPr>
            <a:spLocks noGrp="1"/>
          </p:cNvSpPr>
          <p:nvPr>
            <p:ph type="body" sz="quarter" idx="16"/>
          </p:nvPr>
        </p:nvSpPr>
        <p:spPr/>
        <p:txBody>
          <a:bodyPr/>
          <a:lstStyle/>
          <a:p>
            <a:r>
              <a:rPr lang="en-IN" dirty="0"/>
              <a:t>Cash flow</a:t>
            </a:r>
          </a:p>
        </p:txBody>
      </p:sp>
      <p:sp>
        <p:nvSpPr>
          <p:cNvPr id="8" name="Text Placeholder 7">
            <a:extLst>
              <a:ext uri="{FF2B5EF4-FFF2-40B4-BE49-F238E27FC236}">
                <a16:creationId xmlns:a16="http://schemas.microsoft.com/office/drawing/2014/main" id="{8C8F1C9B-7106-4A1F-AA32-BB2B363C074B}"/>
              </a:ext>
            </a:extLst>
          </p:cNvPr>
          <p:cNvSpPr>
            <a:spLocks noGrp="1"/>
          </p:cNvSpPr>
          <p:nvPr>
            <p:ph type="body" sz="quarter" idx="19"/>
          </p:nvPr>
        </p:nvSpPr>
        <p:spPr/>
        <p:txBody>
          <a:bodyPr/>
          <a:lstStyle/>
          <a:p>
            <a:r>
              <a:rPr lang="en-GB" b="0" noProof="0" dirty="0">
                <a:solidFill>
                  <a:schemeClr val="tx1"/>
                </a:solidFill>
              </a:rPr>
              <a:t>Operating cash flow conversion has been in excess of 100% historically, largely driven by the business operating with a negative net working capital profile. </a:t>
            </a:r>
          </a:p>
          <a:p>
            <a:r>
              <a:rPr lang="en-GB" b="0" noProof="0" dirty="0">
                <a:solidFill>
                  <a:schemeClr val="tx1"/>
                </a:solidFill>
              </a:rPr>
              <a:t>The cash balance has increased from £1.5 million at January 2019 to £12.8 million at September 2021, predominantly as a result of increased trading.</a:t>
            </a:r>
          </a:p>
        </p:txBody>
      </p:sp>
      <p:sp>
        <p:nvSpPr>
          <p:cNvPr id="9" name="Text Placeholder 8">
            <a:extLst>
              <a:ext uri="{FF2B5EF4-FFF2-40B4-BE49-F238E27FC236}">
                <a16:creationId xmlns:a16="http://schemas.microsoft.com/office/drawing/2014/main" id="{DBEE15C3-5B83-420B-9976-2926B4FA3612}"/>
              </a:ext>
            </a:extLst>
          </p:cNvPr>
          <p:cNvSpPr>
            <a:spLocks noGrp="1"/>
          </p:cNvSpPr>
          <p:nvPr>
            <p:ph type="body" sz="quarter" idx="27"/>
          </p:nvPr>
        </p:nvSpPr>
        <p:spPr/>
        <p:txBody>
          <a:bodyPr/>
          <a:lstStyle/>
          <a:p>
            <a:r>
              <a:rPr lang="en-US" dirty="0">
                <a:sym typeface="Wingdings" panose="05000000000000000000" pitchFamily="2" charset="2"/>
              </a:rPr>
              <a:t></a:t>
            </a:r>
            <a:endParaRPr lang="en-US" dirty="0"/>
          </a:p>
        </p:txBody>
      </p:sp>
      <p:sp>
        <p:nvSpPr>
          <p:cNvPr id="10" name="Text Placeholder 9">
            <a:extLst>
              <a:ext uri="{FF2B5EF4-FFF2-40B4-BE49-F238E27FC236}">
                <a16:creationId xmlns:a16="http://schemas.microsoft.com/office/drawing/2014/main" id="{BC1F3F76-4CE8-4278-B96C-BA8B24576F22}"/>
              </a:ext>
            </a:extLst>
          </p:cNvPr>
          <p:cNvSpPr>
            <a:spLocks noGrp="1"/>
          </p:cNvSpPr>
          <p:nvPr>
            <p:ph type="body" sz="quarter" idx="28"/>
          </p:nvPr>
        </p:nvSpPr>
        <p:spPr/>
        <p:txBody>
          <a:bodyPr/>
          <a:lstStyle/>
          <a:p>
            <a:r>
              <a:rPr lang="en-US" dirty="0">
                <a:sym typeface="Wingdings" panose="05000000000000000000" pitchFamily="2" charset="2"/>
              </a:rPr>
              <a:t></a:t>
            </a:r>
            <a:endParaRPr lang="en-US" dirty="0"/>
          </a:p>
        </p:txBody>
      </p:sp>
      <p:sp>
        <p:nvSpPr>
          <p:cNvPr id="15" name="Text Placeholder 14">
            <a:extLst>
              <a:ext uri="{FF2B5EF4-FFF2-40B4-BE49-F238E27FC236}">
                <a16:creationId xmlns:a16="http://schemas.microsoft.com/office/drawing/2014/main" id="{2D8B7430-3E6C-4092-B58F-25808ED298BE}"/>
              </a:ext>
            </a:extLst>
          </p:cNvPr>
          <p:cNvSpPr>
            <a:spLocks noGrp="1"/>
          </p:cNvSpPr>
          <p:nvPr>
            <p:ph type="body" sz="quarter" idx="33"/>
          </p:nvPr>
        </p:nvSpPr>
        <p:spPr/>
        <p:txBody>
          <a:bodyPr/>
          <a:lstStyle/>
          <a:p>
            <a:endParaRPr lang="en-GB" dirty="0"/>
          </a:p>
        </p:txBody>
      </p:sp>
      <p:sp>
        <p:nvSpPr>
          <p:cNvPr id="18" name="UpSlide SubSection Marker" hidden="1">
            <a:extLst>
              <a:ext uri="{FF2B5EF4-FFF2-40B4-BE49-F238E27FC236}">
                <a16:creationId xmlns:a16="http://schemas.microsoft.com/office/drawing/2014/main" id="{480028E9-A6E0-487E-B903-176B277FA2A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Headlines</a:t>
            </a:r>
            <a:endParaRPr lang="en-GB" sz="900" dirty="0">
              <a:solidFill>
                <a:schemeClr val="bg1"/>
              </a:solidFill>
            </a:endParaRPr>
          </a:p>
        </p:txBody>
      </p:sp>
      <p:grpSp>
        <p:nvGrpSpPr>
          <p:cNvPr id="34" name="Group 33">
            <a:extLst>
              <a:ext uri="{FF2B5EF4-FFF2-40B4-BE49-F238E27FC236}">
                <a16:creationId xmlns:a16="http://schemas.microsoft.com/office/drawing/2014/main" id="{7E563A72-CF12-4F27-BA5F-76011D5720BA}"/>
              </a:ext>
            </a:extLst>
          </p:cNvPr>
          <p:cNvGrpSpPr/>
          <p:nvPr>
            <p:custDataLst>
              <p:tags r:id="rId2"/>
            </p:custDataLst>
          </p:nvPr>
        </p:nvGrpSpPr>
        <p:grpSpPr>
          <a:xfrm>
            <a:off x="995364" y="153170"/>
            <a:ext cx="6245240" cy="195814"/>
            <a:chOff x="995364" y="153170"/>
            <a:chExt cx="6245240" cy="195814"/>
          </a:xfrm>
        </p:grpSpPr>
        <p:sp>
          <p:nvSpPr>
            <p:cNvPr id="35" name="Current Section1">
              <a:hlinkClick r:id="rId4"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6" name="Other Sections2">
              <a:hlinkClick r:id="rId5"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6"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7"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8"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9"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0"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30" name="Rectangle: Rounded Corners 29">
            <a:hlinkClick r:id="rId11" action="ppaction://hlinksldjump"/>
            <a:extLst>
              <a:ext uri="{FF2B5EF4-FFF2-40B4-BE49-F238E27FC236}">
                <a16:creationId xmlns:a16="http://schemas.microsoft.com/office/drawing/2014/main" id="{C7A3E8AA-9328-4F4D-8B17-FD88799D1BF9}"/>
              </a:ext>
            </a:extLst>
          </p:cNvPr>
          <p:cNvSpPr/>
          <p:nvPr/>
        </p:nvSpPr>
        <p:spPr>
          <a:xfrm>
            <a:off x="7028192" y="225406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7" name="Rectangle 46">
            <a:extLst>
              <a:ext uri="{FF2B5EF4-FFF2-40B4-BE49-F238E27FC236}">
                <a16:creationId xmlns:a16="http://schemas.microsoft.com/office/drawing/2014/main" id="{7E42958E-2201-4906-B036-1C8E6824DFA7}"/>
              </a:ext>
            </a:extLst>
          </p:cNvPr>
          <p:cNvSpPr/>
          <p:nvPr/>
        </p:nvSpPr>
        <p:spPr>
          <a:xfrm>
            <a:off x="995361" y="4391247"/>
            <a:ext cx="10201278" cy="106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Tree>
    <p:extLst>
      <p:ext uri="{BB962C8B-B14F-4D97-AF65-F5344CB8AC3E}">
        <p14:creationId xmlns:p14="http://schemas.microsoft.com/office/powerpoint/2010/main" val="1915253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a:lstStyle/>
          <a:p>
            <a:r>
              <a:rPr lang="en-US"/>
              <a:t>Key findings — Financial (1/4)</a:t>
            </a:r>
          </a:p>
        </p:txBody>
      </p:sp>
      <p:sp>
        <p:nvSpPr>
          <p:cNvPr id="33" name="Text Placeholder 32">
            <a:extLst>
              <a:ext uri="{FF2B5EF4-FFF2-40B4-BE49-F238E27FC236}">
                <a16:creationId xmlns:a16="http://schemas.microsoft.com/office/drawing/2014/main" id="{562FA9FF-42DB-49CA-94ED-D62717C2E137}"/>
              </a:ext>
            </a:extLst>
          </p:cNvPr>
          <p:cNvSpPr>
            <a:spLocks noGrp="1"/>
          </p:cNvSpPr>
          <p:nvPr>
            <p:ph type="body" sz="quarter" idx="23"/>
          </p:nvPr>
        </p:nvSpPr>
        <p:spPr/>
        <p:txBody>
          <a:bodyPr/>
          <a:lstStyle/>
          <a:p>
            <a:r>
              <a:rPr lang="fi-FI" b="0" dirty="0">
                <a:solidFill>
                  <a:schemeClr val="tx1"/>
                </a:solidFill>
              </a:rPr>
              <a:t>Revenue increased by £24.8 million (CAGR 56.6%) between FY19 and LTM22 predominantly driven by the online channel which saw strong growth due to investment in digital media, expansion of the product range and increased internationalisation, combined with the shift in consumer behaviour to online during the Covid-19 pandemic (which has been sustained post-lockdowns). The retail channel was impacted by closures and low footfall during the Covid-19 pandemic, however still contributed £2.1 million revenue growth as net two new boutiques and one concession were opened.</a:t>
            </a:r>
          </a:p>
          <a:p>
            <a:r>
              <a:rPr lang="fi-FI" b="0" dirty="0">
                <a:solidFill>
                  <a:schemeClr val="tx1"/>
                </a:solidFill>
              </a:rPr>
              <a:t>EBITDA margin increased from 0.5% in FY19 to 20.6% in LTM22 driven in part by a 4.9ppt increase in gross margin due to increased buying power and improved forecasting reduced the requirement for discounting. The higher mix of online sales also contributed by reducing direct costs as a proportion of revenue, as well as Management leveraging overheads and staff costs to support growth.</a:t>
            </a:r>
          </a:p>
        </p:txBody>
      </p:sp>
      <p:sp>
        <p:nvSpPr>
          <p:cNvPr id="34" name="Text Placeholder 33">
            <a:extLst>
              <a:ext uri="{FF2B5EF4-FFF2-40B4-BE49-F238E27FC236}">
                <a16:creationId xmlns:a16="http://schemas.microsoft.com/office/drawing/2014/main" id="{52E71EBB-EAD5-4422-AE83-632CE6D3C8B3}"/>
              </a:ext>
            </a:extLst>
          </p:cNvPr>
          <p:cNvSpPr>
            <a:spLocks noGrp="1"/>
          </p:cNvSpPr>
          <p:nvPr>
            <p:ph type="body" sz="quarter" idx="24"/>
          </p:nvPr>
        </p:nvSpPr>
        <p:spPr/>
        <p:txBody>
          <a:bodyPr/>
          <a:lstStyle/>
          <a:p>
            <a:r>
              <a:rPr lang="fi-FI" b="0">
                <a:solidFill>
                  <a:schemeClr val="tx1"/>
                </a:solidFill>
              </a:rPr>
              <a:t>Management’s LTM22 adjustments relate to the removal of the Department store A minimum guarantee and the removal of NED costs. FY22 outturn adjustments relate to the removal costs associated with the warehouse relocation and removal of NED costs. We concur with these adjustments.</a:t>
            </a:r>
          </a:p>
          <a:p>
            <a:r>
              <a:rPr lang="fi-FI" b="0">
                <a:solidFill>
                  <a:schemeClr val="tx1"/>
                </a:solidFill>
              </a:rPr>
              <a:t>Potential adjustments identified in the course of our work include:</a:t>
            </a:r>
          </a:p>
          <a:p>
            <a:pPr marL="171450" indent="-171450">
              <a:buFont typeface="Arial" panose="020B0604020202020204" pitchFamily="34" charset="0"/>
              <a:buChar char="•"/>
            </a:pPr>
            <a:r>
              <a:rPr lang="fi-FI" b="0">
                <a:solidFill>
                  <a:schemeClr val="tx1"/>
                </a:solidFill>
              </a:rPr>
              <a:t>Removal of week 53 trading profit from January 2021 (LTM22: £0.2 million);</a:t>
            </a:r>
          </a:p>
          <a:p>
            <a:pPr marL="171450" indent="-171450">
              <a:buFont typeface="Arial" panose="020B0604020202020204" pitchFamily="34" charset="0"/>
              <a:buChar char="•"/>
            </a:pPr>
            <a:r>
              <a:rPr lang="fi-FI" b="0">
                <a:solidFill>
                  <a:schemeClr val="tx1"/>
                </a:solidFill>
              </a:rPr>
              <a:t>Recognition of FX differences compared to budget (LTM22: £0.2 million; FY22O: £0.1 million)</a:t>
            </a:r>
          </a:p>
          <a:p>
            <a:pPr marL="171450" indent="-171450">
              <a:buFont typeface="Arial" panose="020B0604020202020204" pitchFamily="34" charset="0"/>
              <a:buChar char="•"/>
            </a:pPr>
            <a:r>
              <a:rPr lang="fi-FI" b="0">
                <a:solidFill>
                  <a:schemeClr val="tx1"/>
                </a:solidFill>
              </a:rPr>
              <a:t>Reversal of over-accrued costs (LTM22: £0.2 million; FY22O: £(0.2) million)</a:t>
            </a:r>
          </a:p>
          <a:p>
            <a:pPr marL="171450" indent="-171450">
              <a:buFont typeface="Arial" panose="020B0604020202020204" pitchFamily="34" charset="0"/>
              <a:buChar char="•"/>
            </a:pPr>
            <a:r>
              <a:rPr lang="fi-FI" b="0">
                <a:solidFill>
                  <a:schemeClr val="tx1"/>
                </a:solidFill>
              </a:rPr>
              <a:t>Estimated October 2021 outperformance (FY22O: £0.6 million)</a:t>
            </a:r>
          </a:p>
          <a:p>
            <a:endParaRPr lang="fi-FI" b="0">
              <a:solidFill>
                <a:schemeClr val="tx1"/>
              </a:solidFill>
            </a:endParaRPr>
          </a:p>
        </p:txBody>
      </p:sp>
      <p:sp>
        <p:nvSpPr>
          <p:cNvPr id="30" name="Text Placeholder 29">
            <a:extLst>
              <a:ext uri="{FF2B5EF4-FFF2-40B4-BE49-F238E27FC236}">
                <a16:creationId xmlns:a16="http://schemas.microsoft.com/office/drawing/2014/main" id="{67C6D619-EE29-493E-A78E-48B938394EC8}"/>
              </a:ext>
            </a:extLst>
          </p:cNvPr>
          <p:cNvSpPr>
            <a:spLocks noGrp="1"/>
          </p:cNvSpPr>
          <p:nvPr>
            <p:ph type="body" sz="quarter" idx="11"/>
          </p:nvPr>
        </p:nvSpPr>
        <p:spPr>
          <a:xfrm>
            <a:off x="6119933" y="1355320"/>
            <a:ext cx="5036400" cy="252000"/>
          </a:xfrm>
        </p:spPr>
        <p:txBody>
          <a:bodyPr/>
          <a:lstStyle/>
          <a:p>
            <a:r>
              <a:rPr lang="fi-FI"/>
              <a:t>Quality of earnings</a:t>
            </a:r>
          </a:p>
        </p:txBody>
      </p:sp>
      <p:sp>
        <p:nvSpPr>
          <p:cNvPr id="35" name="Text Placeholder 34">
            <a:extLst>
              <a:ext uri="{FF2B5EF4-FFF2-40B4-BE49-F238E27FC236}">
                <a16:creationId xmlns:a16="http://schemas.microsoft.com/office/drawing/2014/main" id="{4FE36288-FFCD-45B0-B2EA-7AC5D15BD143}"/>
              </a:ext>
            </a:extLst>
          </p:cNvPr>
          <p:cNvSpPr>
            <a:spLocks noGrp="1"/>
          </p:cNvSpPr>
          <p:nvPr>
            <p:ph type="body" sz="quarter" idx="25"/>
          </p:nvPr>
        </p:nvSpPr>
        <p:spPr/>
        <p:txBody>
          <a:bodyPr/>
          <a:lstStyle/>
          <a:p>
            <a:r>
              <a:rPr lang="fi-FI"/>
              <a:t>Financial performance</a:t>
            </a:r>
          </a:p>
        </p:txBody>
      </p:sp>
      <p:sp>
        <p:nvSpPr>
          <p:cNvPr id="44" name="Text Placeholder 43">
            <a:extLst>
              <a:ext uri="{FF2B5EF4-FFF2-40B4-BE49-F238E27FC236}">
                <a16:creationId xmlns:a16="http://schemas.microsoft.com/office/drawing/2014/main" id="{525F5072-3FE8-4E4B-8461-9BDF9A699EE9}"/>
              </a:ext>
            </a:extLst>
          </p:cNvPr>
          <p:cNvSpPr>
            <a:spLocks noGrp="1"/>
          </p:cNvSpPr>
          <p:nvPr>
            <p:ph type="body" sz="quarter" idx="54"/>
          </p:nvPr>
        </p:nvSpPr>
        <p:spPr/>
        <p:txBody>
          <a:bodyPr/>
          <a:lstStyle/>
          <a:p>
            <a:r>
              <a:rPr lang="fi-FI" dirty="0"/>
              <a:t>Y displayed strong historical trading performance with 56.6% CAGR growth in revenue and 20.1ppt increase in EBITDA margin between FY19 and LTM22.  </a:t>
            </a:r>
          </a:p>
        </p:txBody>
      </p:sp>
      <p:sp>
        <p:nvSpPr>
          <p:cNvPr id="83" name="Text Placeholder 82">
            <a:extLst>
              <a:ext uri="{FF2B5EF4-FFF2-40B4-BE49-F238E27FC236}">
                <a16:creationId xmlns:a16="http://schemas.microsoft.com/office/drawing/2014/main" id="{C395020E-1DEF-4A76-A915-A878C875AF12}"/>
              </a:ext>
            </a:extLst>
          </p:cNvPr>
          <p:cNvSpPr>
            <a:spLocks noGrp="1"/>
          </p:cNvSpPr>
          <p:nvPr>
            <p:ph type="body" sz="quarter" idx="56"/>
          </p:nvPr>
        </p:nvSpPr>
        <p:spPr/>
        <p:txBody>
          <a:bodyPr/>
          <a:lstStyle/>
          <a:p>
            <a:r>
              <a:rPr lang="en-GB" noProof="0"/>
              <a:t>£0.2 million of potential adjustments have been identified increasing LTM22 EBITDA to £7.7 million, as compared to Management’s adjusted EBITDA of £7.5 million. </a:t>
            </a:r>
            <a:endParaRPr lang="fi-FI"/>
          </a:p>
        </p:txBody>
      </p:sp>
      <p:sp>
        <p:nvSpPr>
          <p:cNvPr id="65" name="Text Placeholder 64">
            <a:extLst>
              <a:ext uri="{FF2B5EF4-FFF2-40B4-BE49-F238E27FC236}">
                <a16:creationId xmlns:a16="http://schemas.microsoft.com/office/drawing/2014/main" id="{5A08CD0C-317F-9051-75F4-91C0C8BE2E3E}"/>
              </a:ext>
            </a:extLst>
          </p:cNvPr>
          <p:cNvSpPr>
            <a:spLocks noGrp="1"/>
          </p:cNvSpPr>
          <p:nvPr>
            <p:ph type="body" sz="quarter" idx="53"/>
          </p:nvPr>
        </p:nvSpPr>
        <p:spPr/>
        <p:txBody>
          <a:bodyPr/>
          <a:lstStyle/>
          <a:p>
            <a:r>
              <a:rPr lang="en-US" noProof="0"/>
              <a:t>Value</a:t>
            </a:r>
          </a:p>
          <a:p>
            <a:r>
              <a:rPr lang="en-US" noProof="0">
                <a:solidFill>
                  <a:srgbClr val="BFBFBF"/>
                </a:solidFill>
              </a:rPr>
              <a:t>SPA</a:t>
            </a:r>
          </a:p>
          <a:p>
            <a:r>
              <a:rPr lang="en-US">
                <a:solidFill>
                  <a:srgbClr val="BFBFBF"/>
                </a:solidFill>
              </a:rPr>
              <a:t>Other</a:t>
            </a:r>
          </a:p>
        </p:txBody>
      </p:sp>
      <p:sp>
        <p:nvSpPr>
          <p:cNvPr id="67" name="Text Placeholder 66">
            <a:extLst>
              <a:ext uri="{FF2B5EF4-FFF2-40B4-BE49-F238E27FC236}">
                <a16:creationId xmlns:a16="http://schemas.microsoft.com/office/drawing/2014/main" id="{2684F2A1-05C1-650D-FA59-F179E2BF450A}"/>
              </a:ext>
            </a:extLst>
          </p:cNvPr>
          <p:cNvSpPr>
            <a:spLocks noGrp="1"/>
          </p:cNvSpPr>
          <p:nvPr>
            <p:ph type="body" sz="quarter" idx="55"/>
          </p:nvPr>
        </p:nvSpPr>
        <p:spPr/>
        <p:txBody>
          <a:bodyPr/>
          <a:lstStyle/>
          <a:p>
            <a:r>
              <a:rPr lang="en-US" noProof="0" dirty="0"/>
              <a:t>Value</a:t>
            </a:r>
          </a:p>
          <a:p>
            <a:r>
              <a:rPr lang="en-US" noProof="0" dirty="0"/>
              <a:t>SPA</a:t>
            </a:r>
          </a:p>
          <a:p>
            <a:r>
              <a:rPr lang="en-US" dirty="0">
                <a:solidFill>
                  <a:srgbClr val="BFBFBF"/>
                </a:solidFill>
              </a:rPr>
              <a:t>Other</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2" name="Text Placeholder 12">
            <a:extLst>
              <a:ext uri="{FF2B5EF4-FFF2-40B4-BE49-F238E27FC236}">
                <a16:creationId xmlns:a16="http://schemas.microsoft.com/office/drawing/2014/main" id="{82BA542F-D9BC-8F2B-A6C1-3481397A6870}"/>
              </a:ext>
            </a:extLst>
          </p:cNvPr>
          <p:cNvSpPr txBox="1">
            <a:spLocks/>
          </p:cNvSpPr>
          <p:nvPr/>
        </p:nvSpPr>
        <p:spPr>
          <a:xfrm>
            <a:off x="995121" y="5880926"/>
            <a:ext cx="3495685"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85" name="Rectangle: Rounded Corners 84">
            <a:hlinkClick r:id="rId9" action="ppaction://hlinksldjump"/>
            <a:extLst>
              <a:ext uri="{FF2B5EF4-FFF2-40B4-BE49-F238E27FC236}">
                <a16:creationId xmlns:a16="http://schemas.microsoft.com/office/drawing/2014/main" id="{7C08350A-4EE7-45B0-8513-3427DC01DD31}"/>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86" name="Rectangle: Rounded Corners 85">
            <a:hlinkClick r:id="rId10" action="ppaction://hlinksldjump"/>
            <a:extLst>
              <a:ext uri="{FF2B5EF4-FFF2-40B4-BE49-F238E27FC236}">
                <a16:creationId xmlns:a16="http://schemas.microsoft.com/office/drawing/2014/main" id="{360D12C8-1842-45CF-82AF-1F164CF12920}"/>
              </a:ext>
            </a:extLst>
          </p:cNvPr>
          <p:cNvSpPr/>
          <p:nvPr/>
        </p:nvSpPr>
        <p:spPr>
          <a:xfrm>
            <a:off x="10472079" y="1370152"/>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 name="UpSlide SubSection Marker" hidden="1">
            <a:extLst>
              <a:ext uri="{FF2B5EF4-FFF2-40B4-BE49-F238E27FC236}">
                <a16:creationId xmlns:a16="http://schemas.microsoft.com/office/drawing/2014/main" id="{B6CB6F5B-64A7-415D-956D-53DEA1DA6E7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Key findings</a:t>
            </a:r>
            <a:endParaRPr lang="en-GB" sz="900" dirty="0">
              <a:solidFill>
                <a:schemeClr val="bg1"/>
              </a:solidFill>
            </a:endParaRPr>
          </a:p>
        </p:txBody>
      </p:sp>
      <p:pic>
        <p:nvPicPr>
          <p:cNvPr id="5" name="Picture 4">
            <a:extLst>
              <a:ext uri="{FF2B5EF4-FFF2-40B4-BE49-F238E27FC236}">
                <a16:creationId xmlns:a16="http://schemas.microsoft.com/office/drawing/2014/main" id="{E9DA8401-D52A-400C-A984-C36E5D585135}"/>
              </a:ext>
            </a:extLst>
          </p:cNvPr>
          <p:cNvPicPr>
            <a:picLocks noChangeAspect="1"/>
          </p:cNvPicPr>
          <p:nvPr>
            <p:custDataLst>
              <p:tags r:id="rId3"/>
            </p:custDataLst>
          </p:nvPr>
        </p:nvPicPr>
        <p:blipFill>
          <a:blip r:embed="rId11"/>
          <a:stretch>
            <a:fillRect/>
          </a:stretch>
        </p:blipFill>
        <p:spPr>
          <a:xfrm>
            <a:off x="964404" y="1660885"/>
            <a:ext cx="5036400" cy="1494919"/>
          </a:xfrm>
          <a:prstGeom prst="rect">
            <a:avLst/>
          </a:prstGeom>
        </p:spPr>
      </p:pic>
      <p:pic>
        <p:nvPicPr>
          <p:cNvPr id="8" name="Picture 7">
            <a:extLst>
              <a:ext uri="{FF2B5EF4-FFF2-40B4-BE49-F238E27FC236}">
                <a16:creationId xmlns:a16="http://schemas.microsoft.com/office/drawing/2014/main" id="{DAA6152D-4221-4030-B85C-972D2E656C7B}"/>
              </a:ext>
            </a:extLst>
          </p:cNvPr>
          <p:cNvPicPr>
            <a:picLocks noChangeAspect="1"/>
          </p:cNvPicPr>
          <p:nvPr>
            <p:custDataLst>
              <p:tags r:id="rId4"/>
            </p:custDataLst>
          </p:nvPr>
        </p:nvPicPr>
        <p:blipFill>
          <a:blip r:embed="rId12"/>
          <a:stretch>
            <a:fillRect/>
          </a:stretch>
        </p:blipFill>
        <p:spPr>
          <a:xfrm>
            <a:off x="6157199" y="1767774"/>
            <a:ext cx="5010033" cy="794673"/>
          </a:xfrm>
          <a:prstGeom prst="rect">
            <a:avLst/>
          </a:prstGeom>
        </p:spPr>
      </p:pic>
      <p:grpSp>
        <p:nvGrpSpPr>
          <p:cNvPr id="26" name="Group 25">
            <a:extLst>
              <a:ext uri="{FF2B5EF4-FFF2-40B4-BE49-F238E27FC236}">
                <a16:creationId xmlns:a16="http://schemas.microsoft.com/office/drawing/2014/main" id="{7E563A72-CF12-4F27-BA5F-76011D5720BA}"/>
              </a:ext>
            </a:extLst>
          </p:cNvPr>
          <p:cNvGrpSpPr/>
          <p:nvPr>
            <p:custDataLst>
              <p:tags r:id="rId5"/>
            </p:custDataLst>
          </p:nvPr>
        </p:nvGrpSpPr>
        <p:grpSpPr>
          <a:xfrm>
            <a:off x="995364" y="153170"/>
            <a:ext cx="6245240" cy="195814"/>
            <a:chOff x="995364" y="153170"/>
            <a:chExt cx="6245240" cy="195814"/>
          </a:xfrm>
        </p:grpSpPr>
        <p:sp>
          <p:nvSpPr>
            <p:cNvPr id="27" name="Current Section1">
              <a:hlinkClick r:id="rId13"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8"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9"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1"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37267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a:lstStyle/>
          <a:p>
            <a:r>
              <a:rPr lang="en-US"/>
              <a:t>Key findings — Financial (2/4)</a:t>
            </a:r>
          </a:p>
        </p:txBody>
      </p:sp>
      <p:sp>
        <p:nvSpPr>
          <p:cNvPr id="33" name="Text Placeholder 32">
            <a:extLst>
              <a:ext uri="{FF2B5EF4-FFF2-40B4-BE49-F238E27FC236}">
                <a16:creationId xmlns:a16="http://schemas.microsoft.com/office/drawing/2014/main" id="{562FA9FF-42DB-49CA-94ED-D62717C2E137}"/>
              </a:ext>
            </a:extLst>
          </p:cNvPr>
          <p:cNvSpPr>
            <a:spLocks noGrp="1"/>
          </p:cNvSpPr>
          <p:nvPr>
            <p:ph type="body" sz="quarter" idx="23"/>
          </p:nvPr>
        </p:nvSpPr>
        <p:spPr>
          <a:xfrm>
            <a:off x="995359" y="3313272"/>
            <a:ext cx="5036400" cy="1823816"/>
          </a:xfrm>
        </p:spPr>
        <p:txBody>
          <a:bodyPr/>
          <a:lstStyle/>
          <a:p>
            <a:r>
              <a:rPr lang="en-GB" sz="1000" b="0" dirty="0">
                <a:solidFill>
                  <a:schemeClr val="tx1"/>
                </a:solidFill>
              </a:rPr>
              <a:t>Y’s sales run rate appears to be largely supportive of the FY22 outturn, however the remaining gap is slightly larger than in FY20. Achievability depends on new customer acquisition in the online channel and no further Covid-19 restrictions impacting the boutiques and concessions. We note October flash results show net revenue overperformance on budget by £1.0 million which lends support to Y reaching its FY22 outturn net revenue budget.</a:t>
            </a:r>
          </a:p>
          <a:p>
            <a:r>
              <a:rPr kumimoji="0" lang="en-GB"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itchFamily="34" charset="0"/>
              </a:rPr>
              <a:t>Improvements in supply and demand forecasting has reduced the requirement to discount in YTD22 causing gross profit margin to be 70.4%, significantly ahead of FY22 outturn gross profit margin of 68.1%.</a:t>
            </a:r>
          </a:p>
          <a:p>
            <a:r>
              <a:rPr lang="fi-FI" b="0" dirty="0">
                <a:solidFill>
                  <a:schemeClr val="tx1"/>
                </a:solidFill>
              </a:rPr>
              <a:t>YTD22 EBITDA margin is broadly in line with FY22 outturn and the YTG22 gap is consistent with FY20.</a:t>
            </a:r>
          </a:p>
        </p:txBody>
      </p:sp>
      <p:sp>
        <p:nvSpPr>
          <p:cNvPr id="34" name="Text Placeholder 33">
            <a:extLst>
              <a:ext uri="{FF2B5EF4-FFF2-40B4-BE49-F238E27FC236}">
                <a16:creationId xmlns:a16="http://schemas.microsoft.com/office/drawing/2014/main" id="{52E71EBB-EAD5-4422-AE83-632CE6D3C8B3}"/>
              </a:ext>
            </a:extLst>
          </p:cNvPr>
          <p:cNvSpPr>
            <a:spLocks noGrp="1"/>
          </p:cNvSpPr>
          <p:nvPr>
            <p:ph type="body" sz="quarter" idx="24"/>
          </p:nvPr>
        </p:nvSpPr>
        <p:spPr>
          <a:xfrm>
            <a:off x="6157200" y="3313271"/>
            <a:ext cx="5036400" cy="1823817"/>
          </a:xfrm>
        </p:spPr>
        <p:txBody>
          <a:bodyPr/>
          <a:lstStyle/>
          <a:p>
            <a:r>
              <a:rPr lang="en-GB" b="0">
                <a:solidFill>
                  <a:schemeClr val="tx1"/>
                </a:solidFill>
              </a:rPr>
              <a:t>Net revenue is forecast to increase by £72.0 million from LTM22 to FY25 (45.3% CAGR), largely due to the online channel (£65.1 million, 44.1% CAGR) which is driven by </a:t>
            </a:r>
            <a:r>
              <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itchFamily="34" charset="0"/>
              </a:rPr>
              <a:t>new customer acquisition and customer behaviour assumptions which are largely supported by the findings of the commercial due diligence report.</a:t>
            </a:r>
          </a:p>
          <a:p>
            <a:r>
              <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itchFamily="34" charset="0"/>
              </a:rPr>
              <a:t>Gross profit margin is assumed to decrease from 68.8% in LTM22 (YTD22 71.6%) to 65.5% in FY25 to guard against any potential future requirement to discount in the forecast period. Management is confident that, based on trading since stores have reopened, current gross profit margin is sustainable in the forecast period</a:t>
            </a:r>
            <a:r>
              <a:rPr lang="en-GB" b="0">
                <a:solidFill>
                  <a:schemeClr val="tx1"/>
                </a:solidFill>
                <a:latin typeface="Arial" panose="020B0604020202020204" pitchFamily="34" charset="0"/>
                <a:cs typeface="Arial" pitchFamily="34" charset="0"/>
              </a:rPr>
              <a:t>.</a:t>
            </a:r>
          </a:p>
          <a:p>
            <a:r>
              <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itchFamily="34" charset="0"/>
              </a:rPr>
              <a:t>Overheads are assumed to increase to support business growth, resulting in a decrease in EBITDA margin in FY23 before slightly increasing in FY24 and FY25.</a:t>
            </a:r>
            <a:endParaRPr lang="fi-FI" b="0">
              <a:solidFill>
                <a:schemeClr val="tx1"/>
              </a:solidFill>
            </a:endParaRPr>
          </a:p>
        </p:txBody>
      </p:sp>
      <p:sp>
        <p:nvSpPr>
          <p:cNvPr id="30" name="Text Placeholder 29">
            <a:extLst>
              <a:ext uri="{FF2B5EF4-FFF2-40B4-BE49-F238E27FC236}">
                <a16:creationId xmlns:a16="http://schemas.microsoft.com/office/drawing/2014/main" id="{67C6D619-EE29-493E-A78E-48B938394EC8}"/>
              </a:ext>
            </a:extLst>
          </p:cNvPr>
          <p:cNvSpPr>
            <a:spLocks noGrp="1"/>
          </p:cNvSpPr>
          <p:nvPr>
            <p:ph type="body" sz="quarter" idx="11"/>
          </p:nvPr>
        </p:nvSpPr>
        <p:spPr/>
        <p:txBody>
          <a:bodyPr/>
          <a:lstStyle/>
          <a:p>
            <a:r>
              <a:rPr lang="fi-FI"/>
              <a:t>Forecast trading </a:t>
            </a:r>
          </a:p>
        </p:txBody>
      </p:sp>
      <p:sp>
        <p:nvSpPr>
          <p:cNvPr id="35" name="Text Placeholder 34">
            <a:extLst>
              <a:ext uri="{FF2B5EF4-FFF2-40B4-BE49-F238E27FC236}">
                <a16:creationId xmlns:a16="http://schemas.microsoft.com/office/drawing/2014/main" id="{4FE36288-FFCD-45B0-B2EA-7AC5D15BD143}"/>
              </a:ext>
            </a:extLst>
          </p:cNvPr>
          <p:cNvSpPr>
            <a:spLocks noGrp="1"/>
          </p:cNvSpPr>
          <p:nvPr>
            <p:ph type="body" sz="quarter" idx="25"/>
          </p:nvPr>
        </p:nvSpPr>
        <p:spPr/>
        <p:txBody>
          <a:bodyPr/>
          <a:lstStyle/>
          <a:p>
            <a:r>
              <a:rPr lang="fi-FI"/>
              <a:t>FY22 outturn and current trading</a:t>
            </a:r>
          </a:p>
        </p:txBody>
      </p:sp>
      <p:sp>
        <p:nvSpPr>
          <p:cNvPr id="44" name="Text Placeholder 43">
            <a:extLst>
              <a:ext uri="{FF2B5EF4-FFF2-40B4-BE49-F238E27FC236}">
                <a16:creationId xmlns:a16="http://schemas.microsoft.com/office/drawing/2014/main" id="{525F5072-3FE8-4E4B-8461-9BDF9A699EE9}"/>
              </a:ext>
            </a:extLst>
          </p:cNvPr>
          <p:cNvSpPr>
            <a:spLocks noGrp="1"/>
          </p:cNvSpPr>
          <p:nvPr>
            <p:ph type="body" sz="quarter" idx="54"/>
          </p:nvPr>
        </p:nvSpPr>
        <p:spPr/>
        <p:txBody>
          <a:bodyPr/>
          <a:lstStyle/>
          <a:p>
            <a:r>
              <a:rPr lang="en-GB"/>
              <a:t>FY22 outturn EBITDA appears to be achievable based on historical performance and current trading as proportionately consistent sales performance and good cost control has driven YTD22 EBITDA margin (22.9%) to be in line with the assumed FY22 outturn margin (23.0%).</a:t>
            </a:r>
          </a:p>
        </p:txBody>
      </p:sp>
      <p:sp>
        <p:nvSpPr>
          <p:cNvPr id="83" name="Text Placeholder 82">
            <a:extLst>
              <a:ext uri="{FF2B5EF4-FFF2-40B4-BE49-F238E27FC236}">
                <a16:creationId xmlns:a16="http://schemas.microsoft.com/office/drawing/2014/main" id="{C395020E-1DEF-4A76-A915-A878C875AF12}"/>
              </a:ext>
            </a:extLst>
          </p:cNvPr>
          <p:cNvSpPr>
            <a:spLocks noGrp="1"/>
          </p:cNvSpPr>
          <p:nvPr>
            <p:ph type="body" sz="quarter" idx="56"/>
          </p:nvPr>
        </p:nvSpPr>
        <p:spPr/>
        <p:txBody>
          <a:bodyPr/>
          <a:lstStyle/>
          <a:p>
            <a:r>
              <a:rPr lang="en-GB"/>
              <a:t>EBITDA is forecast to increase by £14.4 million (38.7% CAGR) over the forecast period driven by net revenue growth of £72.0 million, largely from the online channel. The forecast assumptions appear broadly reasonable based on historical trends. </a:t>
            </a:r>
            <a:endParaRPr lang="fi-FI"/>
          </a:p>
        </p:txBody>
      </p:sp>
      <p:sp>
        <p:nvSpPr>
          <p:cNvPr id="65" name="Text Placeholder 64">
            <a:extLst>
              <a:ext uri="{FF2B5EF4-FFF2-40B4-BE49-F238E27FC236}">
                <a16:creationId xmlns:a16="http://schemas.microsoft.com/office/drawing/2014/main" id="{5A08CD0C-317F-9051-75F4-91C0C8BE2E3E}"/>
              </a:ext>
            </a:extLst>
          </p:cNvPr>
          <p:cNvSpPr>
            <a:spLocks noGrp="1"/>
          </p:cNvSpPr>
          <p:nvPr>
            <p:ph type="body" sz="quarter" idx="53"/>
          </p:nvPr>
        </p:nvSpPr>
        <p:spPr/>
        <p:txBody>
          <a:bodyPr/>
          <a:lstStyle/>
          <a:p>
            <a:r>
              <a:rPr lang="en-US" noProof="0"/>
              <a:t>Value</a:t>
            </a:r>
          </a:p>
          <a:p>
            <a:r>
              <a:rPr lang="en-US" noProof="0"/>
              <a:t>SPA</a:t>
            </a:r>
          </a:p>
          <a:p>
            <a:r>
              <a:rPr lang="en-US">
                <a:solidFill>
                  <a:srgbClr val="BFBFBF"/>
                </a:solidFill>
              </a:rPr>
              <a:t>Other</a:t>
            </a:r>
          </a:p>
        </p:txBody>
      </p:sp>
      <p:sp>
        <p:nvSpPr>
          <p:cNvPr id="67" name="Text Placeholder 66">
            <a:extLst>
              <a:ext uri="{FF2B5EF4-FFF2-40B4-BE49-F238E27FC236}">
                <a16:creationId xmlns:a16="http://schemas.microsoft.com/office/drawing/2014/main" id="{2684F2A1-05C1-650D-FA59-F179E2BF450A}"/>
              </a:ext>
            </a:extLst>
          </p:cNvPr>
          <p:cNvSpPr>
            <a:spLocks noGrp="1"/>
          </p:cNvSpPr>
          <p:nvPr>
            <p:ph type="body" sz="quarter" idx="55"/>
          </p:nvPr>
        </p:nvSpPr>
        <p:spPr/>
        <p:txBody>
          <a:bodyPr/>
          <a:lstStyle/>
          <a:p>
            <a:r>
              <a:rPr lang="en-US" noProof="0"/>
              <a:t>Value</a:t>
            </a:r>
          </a:p>
          <a:p>
            <a:r>
              <a:rPr lang="en-US" noProof="0"/>
              <a:t>SPA</a:t>
            </a:r>
          </a:p>
          <a:p>
            <a:r>
              <a:rPr lang="en-US">
                <a:solidFill>
                  <a:srgbClr val="BFBFBF"/>
                </a:solidFill>
              </a:rPr>
              <a:t>Other</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2" name="Text Placeholder 12">
            <a:extLst>
              <a:ext uri="{FF2B5EF4-FFF2-40B4-BE49-F238E27FC236}">
                <a16:creationId xmlns:a16="http://schemas.microsoft.com/office/drawing/2014/main" id="{82BA542F-D9BC-8F2B-A6C1-3481397A6870}"/>
              </a:ext>
            </a:extLst>
          </p:cNvPr>
          <p:cNvSpPr txBox="1">
            <a:spLocks/>
          </p:cNvSpPr>
          <p:nvPr/>
        </p:nvSpPr>
        <p:spPr>
          <a:xfrm>
            <a:off x="995121" y="5880926"/>
            <a:ext cx="5036400" cy="35394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Note: FY20 is used as a comparison for current trading as FY21 was disrupted by the Covid-19 pandemic. If FY21 was used the EBITDA gap-to-go would be 65.7%</a:t>
            </a:r>
          </a:p>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85" name="Rectangle: Rounded Corners 84">
            <a:hlinkClick r:id="rId9" action="ppaction://hlinksldjump"/>
            <a:extLst>
              <a:ext uri="{FF2B5EF4-FFF2-40B4-BE49-F238E27FC236}">
                <a16:creationId xmlns:a16="http://schemas.microsoft.com/office/drawing/2014/main" id="{7C08350A-4EE7-45B0-8513-3427DC01DD31}"/>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86" name="Rectangle: Rounded Corners 85">
            <a:hlinkClick r:id="rId10" action="ppaction://hlinksldjump"/>
            <a:extLst>
              <a:ext uri="{FF2B5EF4-FFF2-40B4-BE49-F238E27FC236}">
                <a16:creationId xmlns:a16="http://schemas.microsoft.com/office/drawing/2014/main" id="{360D12C8-1842-45CF-82AF-1F164CF12920}"/>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pic>
        <p:nvPicPr>
          <p:cNvPr id="4" name="Picture 3">
            <a:extLst>
              <a:ext uri="{FF2B5EF4-FFF2-40B4-BE49-F238E27FC236}">
                <a16:creationId xmlns:a16="http://schemas.microsoft.com/office/drawing/2014/main" id="{52CEF3BD-8CDA-4100-8FFC-33A237B095B8}"/>
              </a:ext>
            </a:extLst>
          </p:cNvPr>
          <p:cNvPicPr>
            <a:picLocks noChangeAspect="1"/>
          </p:cNvPicPr>
          <p:nvPr>
            <p:custDataLst>
              <p:tags r:id="rId2"/>
            </p:custDataLst>
          </p:nvPr>
        </p:nvPicPr>
        <p:blipFill>
          <a:blip r:embed="rId11"/>
          <a:stretch>
            <a:fillRect/>
          </a:stretch>
        </p:blipFill>
        <p:spPr>
          <a:xfrm>
            <a:off x="995120" y="1618845"/>
            <a:ext cx="4943164" cy="1684542"/>
          </a:xfrm>
          <a:prstGeom prst="rect">
            <a:avLst/>
          </a:prstGeom>
        </p:spPr>
      </p:pic>
      <p:pic>
        <p:nvPicPr>
          <p:cNvPr id="5" name="Picture 4">
            <a:extLst>
              <a:ext uri="{FF2B5EF4-FFF2-40B4-BE49-F238E27FC236}">
                <a16:creationId xmlns:a16="http://schemas.microsoft.com/office/drawing/2014/main" id="{487BF54A-89F3-4E6F-836F-299E5EE8951F}"/>
              </a:ext>
            </a:extLst>
          </p:cNvPr>
          <p:cNvPicPr>
            <a:picLocks noChangeAspect="1"/>
          </p:cNvPicPr>
          <p:nvPr>
            <p:custDataLst>
              <p:tags r:id="rId3"/>
            </p:custDataLst>
          </p:nvPr>
        </p:nvPicPr>
        <p:blipFill>
          <a:blip r:embed="rId12"/>
          <a:stretch>
            <a:fillRect/>
          </a:stretch>
        </p:blipFill>
        <p:spPr>
          <a:xfrm>
            <a:off x="6172091" y="1656044"/>
            <a:ext cx="5036400" cy="1595012"/>
          </a:xfrm>
          <a:prstGeom prst="rect">
            <a:avLst/>
          </a:prstGeom>
        </p:spPr>
      </p:pic>
      <p:sp>
        <p:nvSpPr>
          <p:cNvPr id="3" name="UpSlide SubSection Marker" hidden="1">
            <a:extLst>
              <a:ext uri="{FF2B5EF4-FFF2-40B4-BE49-F238E27FC236}">
                <a16:creationId xmlns:a16="http://schemas.microsoft.com/office/drawing/2014/main" id="{49C67792-75DC-45E9-8B4B-8BE0BAA4EF74}"/>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Key findings</a:t>
            </a:r>
            <a:endParaRPr lang="en-GB" sz="900" dirty="0">
              <a:solidFill>
                <a:schemeClr val="bg1"/>
              </a:solidFill>
            </a:endParaRPr>
          </a:p>
        </p:txBody>
      </p:sp>
      <p:grpSp>
        <p:nvGrpSpPr>
          <p:cNvPr id="26" name="Group 25">
            <a:extLst>
              <a:ext uri="{FF2B5EF4-FFF2-40B4-BE49-F238E27FC236}">
                <a16:creationId xmlns:a16="http://schemas.microsoft.com/office/drawing/2014/main" id="{7E563A72-CF12-4F27-BA5F-76011D5720BA}"/>
              </a:ext>
            </a:extLst>
          </p:cNvPr>
          <p:cNvGrpSpPr/>
          <p:nvPr>
            <p:custDataLst>
              <p:tags r:id="rId5"/>
            </p:custDataLst>
          </p:nvPr>
        </p:nvGrpSpPr>
        <p:grpSpPr>
          <a:xfrm>
            <a:off x="995364" y="153170"/>
            <a:ext cx="6245240" cy="195814"/>
            <a:chOff x="995364" y="153170"/>
            <a:chExt cx="6245240" cy="195814"/>
          </a:xfrm>
        </p:grpSpPr>
        <p:sp>
          <p:nvSpPr>
            <p:cNvPr id="27" name="Current Section1">
              <a:hlinkClick r:id="rId13"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8"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9"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1"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7916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a:lstStyle/>
          <a:p>
            <a:r>
              <a:rPr lang="en-US"/>
              <a:t>Key findings — Financial (3/4)</a:t>
            </a:r>
          </a:p>
        </p:txBody>
      </p:sp>
      <p:sp>
        <p:nvSpPr>
          <p:cNvPr id="11" name="Text Placeholder 10">
            <a:extLst>
              <a:ext uri="{FF2B5EF4-FFF2-40B4-BE49-F238E27FC236}">
                <a16:creationId xmlns:a16="http://schemas.microsoft.com/office/drawing/2014/main" id="{82C5351D-0785-4C7E-8739-A08C554AA08A}"/>
              </a:ext>
            </a:extLst>
          </p:cNvPr>
          <p:cNvSpPr>
            <a:spLocks noGrp="1"/>
          </p:cNvSpPr>
          <p:nvPr>
            <p:ph type="body" sz="quarter" idx="23"/>
          </p:nvPr>
        </p:nvSpPr>
        <p:spPr>
          <a:xfrm>
            <a:off x="988271" y="3329767"/>
            <a:ext cx="5036400" cy="1708089"/>
          </a:xfrm>
        </p:spPr>
        <p:txBody>
          <a:bodyPr/>
          <a:lstStyle/>
          <a:p>
            <a:r>
              <a:rPr lang="en-GB" b="0" dirty="0">
                <a:solidFill>
                  <a:schemeClr val="tx1"/>
                </a:solidFill>
              </a:rPr>
              <a:t>Reported net cash of £12.8 million includes £1.6 million relating to </a:t>
            </a:r>
            <a:r>
              <a:rPr lang="en-GB" b="0" dirty="0" err="1">
                <a:solidFill>
                  <a:schemeClr val="tx1"/>
                </a:solidFill>
              </a:rPr>
              <a:t>yy</a:t>
            </a:r>
            <a:r>
              <a:rPr lang="en-GB" b="0" dirty="0">
                <a:solidFill>
                  <a:schemeClr val="tx1"/>
                </a:solidFill>
              </a:rPr>
              <a:t> receipts. Y has no external borrowings as a result of the cash generative nature of the business.</a:t>
            </a:r>
          </a:p>
          <a:p>
            <a:r>
              <a:rPr lang="en-GB" b="0" u="none" dirty="0">
                <a:solidFill>
                  <a:schemeClr val="tx1"/>
                </a:solidFill>
              </a:rPr>
              <a:t>We note Y has not paid corporation tax historically due to the availability of brought forward losses (£3.3 million remaining as at September 2021 with £5.3 million of profit before tax generated in YTD22).</a:t>
            </a:r>
          </a:p>
          <a:p>
            <a:r>
              <a:rPr kumimoji="0" lang="en-GB"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itchFamily="34" charset="0"/>
              </a:rPr>
              <a:t>We have identified £0.7 million of potential adjustments, mainly comprising £0.8 million of uncleared credit card receipts, partially offset by a £0.1 million </a:t>
            </a:r>
            <a:r>
              <a:rPr kumimoji="0" lang="en-GB" sz="1000" b="0" i="0" u="none" strike="noStrike" kern="1200" cap="none" spc="0" normalizeH="0" baseline="0" noProof="0" dirty="0" err="1">
                <a:ln>
                  <a:noFill/>
                </a:ln>
                <a:solidFill>
                  <a:schemeClr val="tx1"/>
                </a:solidFill>
                <a:effectLst/>
                <a:uLnTx/>
                <a:uFillTx/>
                <a:latin typeface="Arial" panose="020B0604020202020204" pitchFamily="34" charset="0"/>
                <a:ea typeface="+mn-ea"/>
                <a:cs typeface="Arial" pitchFamily="34" charset="0"/>
              </a:rPr>
              <a:t>yy</a:t>
            </a:r>
            <a:r>
              <a:rPr kumimoji="0" lang="en-GB"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itchFamily="34" charset="0"/>
              </a:rPr>
              <a:t> float which we deem to be working capital in nature. Other considerations of £(1.7) million have also been identified which are discussed in further detail in the </a:t>
            </a:r>
            <a:r>
              <a:rPr kumimoji="0" lang="en-GB" sz="1000" i="0" u="none" strike="noStrike" kern="1200" cap="none" spc="0" normalizeH="0" baseline="0" noProof="0" dirty="0">
                <a:ln>
                  <a:noFill/>
                </a:ln>
                <a:solidFill>
                  <a:schemeClr val="tx1"/>
                </a:solidFill>
                <a:effectLst/>
                <a:uLnTx/>
                <a:uFillTx/>
                <a:latin typeface="Arial" panose="020B0604020202020204" pitchFamily="34" charset="0"/>
                <a:ea typeface="+mn-ea"/>
                <a:cs typeface="Arial" pitchFamily="34" charset="0"/>
              </a:rPr>
              <a:t>balance sheet section</a:t>
            </a:r>
            <a:r>
              <a:rPr kumimoji="0" lang="en-GB"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itchFamily="34" charset="0"/>
              </a:rPr>
              <a:t>.</a:t>
            </a:r>
            <a:endParaRPr lang="en-GB" b="0" dirty="0">
              <a:solidFill>
                <a:schemeClr val="tx1"/>
              </a:solidFill>
            </a:endParaRPr>
          </a:p>
        </p:txBody>
      </p:sp>
      <p:sp>
        <p:nvSpPr>
          <p:cNvPr id="12" name="Text Placeholder 11">
            <a:extLst>
              <a:ext uri="{FF2B5EF4-FFF2-40B4-BE49-F238E27FC236}">
                <a16:creationId xmlns:a16="http://schemas.microsoft.com/office/drawing/2014/main" id="{1A9A607A-DC53-43F0-B7E1-5937681E7F18}"/>
              </a:ext>
            </a:extLst>
          </p:cNvPr>
          <p:cNvSpPr>
            <a:spLocks noGrp="1"/>
          </p:cNvSpPr>
          <p:nvPr>
            <p:ph type="body" sz="quarter" idx="24"/>
          </p:nvPr>
        </p:nvSpPr>
        <p:spPr>
          <a:xfrm>
            <a:off x="6157200" y="3557065"/>
            <a:ext cx="5036400" cy="1708090"/>
          </a:xfrm>
        </p:spPr>
        <p:txBody>
          <a:bodyPr/>
          <a:lstStyle/>
          <a:p>
            <a:r>
              <a:rPr lang="en-GB" b="0" dirty="0">
                <a:solidFill>
                  <a:schemeClr val="tx1"/>
                </a:solidFill>
              </a:rPr>
              <a:t>On an adjusted basis average NWC decreased from £(1.5 million) in FY21 to £(3.4 million) in LTM22, largely driven by factors associated with business growth such as an increase in the trade creditor balance, the returns provision, the VAT liability and the bonus accrual. On an adjusted basis, September 2021 NWC is £1.2 million less than the LTM22 average.</a:t>
            </a:r>
          </a:p>
          <a:p>
            <a:pPr marL="0" marR="0" lvl="1" indent="0" algn="l" defTabSz="914400" rtl="0" eaLnBrk="1" fontAlgn="auto" latinLnBrk="0" hangingPunct="1">
              <a:lnSpc>
                <a:spcPts val="1000"/>
              </a:lnSpc>
              <a:spcBef>
                <a:spcPts val="400"/>
              </a:spcBef>
              <a:spcAft>
                <a:spcPts val="0"/>
              </a:spcAft>
              <a:buClrTx/>
              <a:buSzTx/>
              <a:buFont typeface="Arial" pitchFamily="34" charset="0"/>
              <a:buNone/>
              <a:tabLst/>
              <a:defRPr/>
            </a:pPr>
            <a:r>
              <a:rPr kumimoji="0" lang="en-GB" sz="1000" i="0" u="none" strike="noStrike" kern="1200" cap="none" spc="0" normalizeH="0" baseline="0" noProof="0" dirty="0">
                <a:ln>
                  <a:noFill/>
                </a:ln>
                <a:effectLst/>
                <a:uLnTx/>
                <a:uFillTx/>
                <a:latin typeface="Arial" panose="020B0604020202020204" pitchFamily="34" charset="0"/>
                <a:ea typeface="+mn-ea"/>
                <a:cs typeface="Arial" pitchFamily="34" charset="0"/>
              </a:rPr>
              <a:t>We have identified a number of adjustments to, largely relating to the Department store A minimum guarantee accrual, uncleared credit card receipts, and deferred VAT under the government’s Covid-19 scheme. We have also adjusted for a number of accrual and provision releases (see </a:t>
            </a:r>
            <a:r>
              <a:rPr kumimoji="0" lang="en-GB" sz="1000" b="1" i="0" u="none" strike="noStrike" kern="1200" cap="none" spc="0" normalizeH="0" baseline="0" noProof="0" dirty="0">
                <a:ln>
                  <a:noFill/>
                </a:ln>
                <a:effectLst/>
                <a:uLnTx/>
                <a:uFillTx/>
                <a:latin typeface="Arial" panose="020B0604020202020204" pitchFamily="34" charset="0"/>
                <a:ea typeface="+mn-ea"/>
                <a:cs typeface="Arial" pitchFamily="34" charset="0"/>
              </a:rPr>
              <a:t>quality of earnings analysis</a:t>
            </a:r>
            <a:r>
              <a:rPr kumimoji="0" lang="en-GB" sz="1000" i="0" u="none" strike="noStrike" kern="1200" cap="none" spc="0" normalizeH="0" baseline="0" noProof="0" dirty="0">
                <a:ln>
                  <a:noFill/>
                </a:ln>
                <a:effectLst/>
                <a:uLnTx/>
                <a:uFillTx/>
                <a:latin typeface="Arial" panose="020B0604020202020204" pitchFamily="34" charset="0"/>
                <a:ea typeface="+mn-ea"/>
                <a:cs typeface="Arial" pitchFamily="34" charset="0"/>
              </a:rPr>
              <a:t>). </a:t>
            </a:r>
          </a:p>
          <a:p>
            <a:endParaRPr lang="en-GB" b="0" dirty="0">
              <a:solidFill>
                <a:schemeClr val="tx1"/>
              </a:solidFill>
            </a:endParaRPr>
          </a:p>
        </p:txBody>
      </p:sp>
      <p:sp>
        <p:nvSpPr>
          <p:cNvPr id="30" name="Text Placeholder 29">
            <a:extLst>
              <a:ext uri="{FF2B5EF4-FFF2-40B4-BE49-F238E27FC236}">
                <a16:creationId xmlns:a16="http://schemas.microsoft.com/office/drawing/2014/main" id="{67C6D619-EE29-493E-A78E-48B938394EC8}"/>
              </a:ext>
            </a:extLst>
          </p:cNvPr>
          <p:cNvSpPr>
            <a:spLocks noGrp="1"/>
          </p:cNvSpPr>
          <p:nvPr>
            <p:ph type="body" sz="quarter" idx="11"/>
          </p:nvPr>
        </p:nvSpPr>
        <p:spPr/>
        <p:txBody>
          <a:bodyPr/>
          <a:lstStyle/>
          <a:p>
            <a:r>
              <a:rPr lang="fi-FI"/>
              <a:t>Net working capital (NWC)</a:t>
            </a:r>
          </a:p>
        </p:txBody>
      </p:sp>
      <p:sp>
        <p:nvSpPr>
          <p:cNvPr id="35" name="Text Placeholder 34">
            <a:extLst>
              <a:ext uri="{FF2B5EF4-FFF2-40B4-BE49-F238E27FC236}">
                <a16:creationId xmlns:a16="http://schemas.microsoft.com/office/drawing/2014/main" id="{4FE36288-FFCD-45B0-B2EA-7AC5D15BD143}"/>
              </a:ext>
            </a:extLst>
          </p:cNvPr>
          <p:cNvSpPr>
            <a:spLocks noGrp="1"/>
          </p:cNvSpPr>
          <p:nvPr>
            <p:ph type="body" sz="quarter" idx="25"/>
          </p:nvPr>
        </p:nvSpPr>
        <p:spPr/>
        <p:txBody>
          <a:bodyPr/>
          <a:lstStyle/>
          <a:p>
            <a:r>
              <a:rPr lang="fi-FI"/>
              <a:t>Net cash</a:t>
            </a:r>
          </a:p>
        </p:txBody>
      </p:sp>
      <p:sp>
        <p:nvSpPr>
          <p:cNvPr id="13" name="Text Placeholder 12">
            <a:extLst>
              <a:ext uri="{FF2B5EF4-FFF2-40B4-BE49-F238E27FC236}">
                <a16:creationId xmlns:a16="http://schemas.microsoft.com/office/drawing/2014/main" id="{B31905A2-6043-4B4F-B3BC-4FE05C2C0C5E}"/>
              </a:ext>
            </a:extLst>
          </p:cNvPr>
          <p:cNvSpPr>
            <a:spLocks noGrp="1"/>
          </p:cNvSpPr>
          <p:nvPr>
            <p:ph type="body" sz="quarter" idx="54"/>
          </p:nvPr>
        </p:nvSpPr>
        <p:spPr>
          <a:xfrm>
            <a:off x="987436" y="5199303"/>
            <a:ext cx="4608000" cy="676800"/>
          </a:xfrm>
        </p:spPr>
        <p:txBody>
          <a:bodyPr/>
          <a:lstStyle/>
          <a:p>
            <a:r>
              <a:rPr lang="en-GB" dirty="0"/>
              <a:t>We recommend a full tax computation is undertaken prior to any transaction completion as to date there has not been any liability recognised in the accounts.</a:t>
            </a:r>
          </a:p>
        </p:txBody>
      </p:sp>
      <p:sp>
        <p:nvSpPr>
          <p:cNvPr id="22" name="Text Placeholder 21">
            <a:extLst>
              <a:ext uri="{FF2B5EF4-FFF2-40B4-BE49-F238E27FC236}">
                <a16:creationId xmlns:a16="http://schemas.microsoft.com/office/drawing/2014/main" id="{CE43F23B-59C5-4071-842F-C11CD74F8E9E}"/>
              </a:ext>
            </a:extLst>
          </p:cNvPr>
          <p:cNvSpPr>
            <a:spLocks noGrp="1"/>
          </p:cNvSpPr>
          <p:nvPr>
            <p:ph type="body" sz="quarter" idx="56"/>
          </p:nvPr>
        </p:nvSpPr>
        <p:spPr/>
        <p:txBody>
          <a:bodyPr/>
          <a:lstStyle/>
          <a:p>
            <a:r>
              <a:rPr lang="en-GB" dirty="0"/>
              <a:t>Y has typically operated with a NWC profile, driven by higher trade creditor days, no accounts receivable balances and quarterly VAT payments. Potential adjustments of £(0.2) million at September 2021 have been identified.</a:t>
            </a:r>
          </a:p>
        </p:txBody>
      </p:sp>
      <p:sp>
        <p:nvSpPr>
          <p:cNvPr id="65" name="Text Placeholder 64">
            <a:extLst>
              <a:ext uri="{FF2B5EF4-FFF2-40B4-BE49-F238E27FC236}">
                <a16:creationId xmlns:a16="http://schemas.microsoft.com/office/drawing/2014/main" id="{5A08CD0C-317F-9051-75F4-91C0C8BE2E3E}"/>
              </a:ext>
            </a:extLst>
          </p:cNvPr>
          <p:cNvSpPr>
            <a:spLocks noGrp="1"/>
          </p:cNvSpPr>
          <p:nvPr>
            <p:ph type="body" sz="quarter" idx="53"/>
          </p:nvPr>
        </p:nvSpPr>
        <p:spPr/>
        <p:txBody>
          <a:bodyPr/>
          <a:lstStyle/>
          <a:p>
            <a:r>
              <a:rPr lang="en-US" noProof="0"/>
              <a:t>Value</a:t>
            </a:r>
          </a:p>
          <a:p>
            <a:r>
              <a:rPr lang="en-US" noProof="0"/>
              <a:t>SPA</a:t>
            </a:r>
          </a:p>
          <a:p>
            <a:r>
              <a:rPr lang="en-US">
                <a:solidFill>
                  <a:srgbClr val="BFBFBF"/>
                </a:solidFill>
              </a:rPr>
              <a:t>Other</a:t>
            </a:r>
          </a:p>
        </p:txBody>
      </p:sp>
      <p:sp>
        <p:nvSpPr>
          <p:cNvPr id="67" name="Text Placeholder 66">
            <a:extLst>
              <a:ext uri="{FF2B5EF4-FFF2-40B4-BE49-F238E27FC236}">
                <a16:creationId xmlns:a16="http://schemas.microsoft.com/office/drawing/2014/main" id="{2684F2A1-05C1-650D-FA59-F179E2BF450A}"/>
              </a:ext>
            </a:extLst>
          </p:cNvPr>
          <p:cNvSpPr>
            <a:spLocks noGrp="1"/>
          </p:cNvSpPr>
          <p:nvPr>
            <p:ph type="body" sz="quarter" idx="55"/>
          </p:nvPr>
        </p:nvSpPr>
        <p:spPr/>
        <p:txBody>
          <a:bodyPr/>
          <a:lstStyle/>
          <a:p>
            <a:r>
              <a:rPr lang="en-US" noProof="0">
                <a:solidFill>
                  <a:srgbClr val="BFBFBF"/>
                </a:solidFill>
              </a:rPr>
              <a:t>Value</a:t>
            </a:r>
          </a:p>
          <a:p>
            <a:r>
              <a:rPr lang="en-US" noProof="0"/>
              <a:t>SPA</a:t>
            </a:r>
          </a:p>
          <a:p>
            <a:r>
              <a:rPr lang="en-US">
                <a:solidFill>
                  <a:srgbClr val="BFBFBF"/>
                </a:solidFill>
              </a:rPr>
              <a:t>Other</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2" name="Text Placeholder 12">
            <a:extLst>
              <a:ext uri="{FF2B5EF4-FFF2-40B4-BE49-F238E27FC236}">
                <a16:creationId xmlns:a16="http://schemas.microsoft.com/office/drawing/2014/main" id="{82BA542F-D9BC-8F2B-A6C1-3481397A6870}"/>
              </a:ext>
            </a:extLst>
          </p:cNvPr>
          <p:cNvSpPr txBox="1">
            <a:spLocks/>
          </p:cNvSpPr>
          <p:nvPr/>
        </p:nvSpPr>
        <p:spPr>
          <a:xfrm>
            <a:off x="995121" y="5880926"/>
            <a:ext cx="3453442"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85" name="Rectangle: Rounded Corners 84">
            <a:hlinkClick r:id="rId9" action="ppaction://hlinksldjump"/>
            <a:extLst>
              <a:ext uri="{FF2B5EF4-FFF2-40B4-BE49-F238E27FC236}">
                <a16:creationId xmlns:a16="http://schemas.microsoft.com/office/drawing/2014/main" id="{7C08350A-4EE7-45B0-8513-3427DC01DD31}"/>
              </a:ext>
            </a:extLst>
          </p:cNvPr>
          <p:cNvSpPr/>
          <p:nvPr/>
        </p:nvSpPr>
        <p:spPr>
          <a:xfrm>
            <a:off x="5310691" y="1352117"/>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6" name="Rectangle: Rounded Corners 85">
            <a:hlinkClick r:id="rId10" action="ppaction://hlinksldjump"/>
            <a:extLst>
              <a:ext uri="{FF2B5EF4-FFF2-40B4-BE49-F238E27FC236}">
                <a16:creationId xmlns:a16="http://schemas.microsoft.com/office/drawing/2014/main" id="{360D12C8-1842-45CF-82AF-1F164CF12920}"/>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pic>
        <p:nvPicPr>
          <p:cNvPr id="4" name="Picture 3">
            <a:extLst>
              <a:ext uri="{FF2B5EF4-FFF2-40B4-BE49-F238E27FC236}">
                <a16:creationId xmlns:a16="http://schemas.microsoft.com/office/drawing/2014/main" id="{8BF34CB1-7FD6-4A41-9CB4-E40E99E4DD29}"/>
              </a:ext>
            </a:extLst>
          </p:cNvPr>
          <p:cNvPicPr>
            <a:picLocks noChangeAspect="1"/>
          </p:cNvPicPr>
          <p:nvPr>
            <p:custDataLst>
              <p:tags r:id="rId2"/>
            </p:custDataLst>
          </p:nvPr>
        </p:nvPicPr>
        <p:blipFill>
          <a:blip r:embed="rId11"/>
          <a:stretch>
            <a:fillRect/>
          </a:stretch>
        </p:blipFill>
        <p:spPr>
          <a:xfrm>
            <a:off x="6153920" y="1656994"/>
            <a:ext cx="5161779" cy="1826839"/>
          </a:xfrm>
          <a:prstGeom prst="rect">
            <a:avLst/>
          </a:prstGeom>
        </p:spPr>
      </p:pic>
      <p:sp>
        <p:nvSpPr>
          <p:cNvPr id="32" name="Rectangle 31">
            <a:hlinkClick r:id="rId12" action="ppaction://hlinksldjump"/>
            <a:extLst>
              <a:ext uri="{FF2B5EF4-FFF2-40B4-BE49-F238E27FC236}">
                <a16:creationId xmlns:a16="http://schemas.microsoft.com/office/drawing/2014/main" id="{AD3236DC-9E06-4DEF-B350-D8148B361E2B}"/>
              </a:ext>
            </a:extLst>
          </p:cNvPr>
          <p:cNvSpPr/>
          <p:nvPr/>
        </p:nvSpPr>
        <p:spPr>
          <a:xfrm>
            <a:off x="4273741" y="4828314"/>
            <a:ext cx="1308130" cy="20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33" name="Rectangle 32">
            <a:hlinkClick r:id="rId13" action="ppaction://hlinksldjump"/>
            <a:extLst>
              <a:ext uri="{FF2B5EF4-FFF2-40B4-BE49-F238E27FC236}">
                <a16:creationId xmlns:a16="http://schemas.microsoft.com/office/drawing/2014/main" id="{F919D725-54CE-4CEC-BEC0-43CF5A34B0C1}"/>
              </a:ext>
            </a:extLst>
          </p:cNvPr>
          <p:cNvSpPr/>
          <p:nvPr/>
        </p:nvSpPr>
        <p:spPr>
          <a:xfrm>
            <a:off x="7807135" y="4811455"/>
            <a:ext cx="1510094" cy="165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3" name="UpSlide SubSection Marker" hidden="1">
            <a:extLst>
              <a:ext uri="{FF2B5EF4-FFF2-40B4-BE49-F238E27FC236}">
                <a16:creationId xmlns:a16="http://schemas.microsoft.com/office/drawing/2014/main" id="{387F61DA-009D-44FA-B78C-C533B241E7B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Key findings</a:t>
            </a:r>
            <a:endParaRPr lang="en-GB" sz="900" dirty="0">
              <a:solidFill>
                <a:schemeClr val="bg1"/>
              </a:solidFill>
            </a:endParaRPr>
          </a:p>
        </p:txBody>
      </p:sp>
      <p:pic>
        <p:nvPicPr>
          <p:cNvPr id="5" name="Picture 4">
            <a:extLst>
              <a:ext uri="{FF2B5EF4-FFF2-40B4-BE49-F238E27FC236}">
                <a16:creationId xmlns:a16="http://schemas.microsoft.com/office/drawing/2014/main" id="{90EE16E6-D6D3-4663-B08E-6305A3B9B39C}"/>
              </a:ext>
            </a:extLst>
          </p:cNvPr>
          <p:cNvPicPr>
            <a:picLocks noChangeAspect="1"/>
          </p:cNvPicPr>
          <p:nvPr>
            <p:custDataLst>
              <p:tags r:id="rId4"/>
            </p:custDataLst>
          </p:nvPr>
        </p:nvPicPr>
        <p:blipFill>
          <a:blip r:embed="rId14"/>
          <a:stretch>
            <a:fillRect/>
          </a:stretch>
        </p:blipFill>
        <p:spPr>
          <a:xfrm>
            <a:off x="995121" y="1656994"/>
            <a:ext cx="5035550" cy="1509672"/>
          </a:xfrm>
          <a:prstGeom prst="rect">
            <a:avLst/>
          </a:prstGeom>
        </p:spPr>
      </p:pic>
      <p:grpSp>
        <p:nvGrpSpPr>
          <p:cNvPr id="28" name="Group 27">
            <a:extLst>
              <a:ext uri="{FF2B5EF4-FFF2-40B4-BE49-F238E27FC236}">
                <a16:creationId xmlns:a16="http://schemas.microsoft.com/office/drawing/2014/main" id="{7E563A72-CF12-4F27-BA5F-76011D5720BA}"/>
              </a:ext>
            </a:extLst>
          </p:cNvPr>
          <p:cNvGrpSpPr/>
          <p:nvPr>
            <p:custDataLst>
              <p:tags r:id="rId5"/>
            </p:custDataLst>
          </p:nvPr>
        </p:nvGrpSpPr>
        <p:grpSpPr>
          <a:xfrm>
            <a:off x="995364" y="153170"/>
            <a:ext cx="6245240" cy="195814"/>
            <a:chOff x="995364" y="153170"/>
            <a:chExt cx="6245240" cy="195814"/>
          </a:xfrm>
        </p:grpSpPr>
        <p:sp>
          <p:nvSpPr>
            <p:cNvPr id="29" name="Current Section1">
              <a:hlinkClick r:id="rId15"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1" name="Other Sections2">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57197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FD7CDB-1D10-420B-981D-FBFEE9AB0427}"/>
              </a:ext>
            </a:extLst>
          </p:cNvPr>
          <p:cNvPicPr>
            <a:picLocks noChangeAspect="1"/>
          </p:cNvPicPr>
          <p:nvPr>
            <p:custDataLst>
              <p:tags r:id="rId1"/>
            </p:custDataLst>
          </p:nvPr>
        </p:nvPicPr>
        <p:blipFill>
          <a:blip r:embed="rId6"/>
          <a:stretch>
            <a:fillRect/>
          </a:stretch>
        </p:blipFill>
        <p:spPr>
          <a:xfrm>
            <a:off x="995119" y="1652373"/>
            <a:ext cx="5029200" cy="2076433"/>
          </a:xfrm>
          <a:prstGeom prst="rect">
            <a:avLst/>
          </a:prstGeom>
        </p:spPr>
      </p:pic>
      <p:sp>
        <p:nvSpPr>
          <p:cNvPr id="34" name="Text Placeholder 33">
            <a:extLst>
              <a:ext uri="{FF2B5EF4-FFF2-40B4-BE49-F238E27FC236}">
                <a16:creationId xmlns:a16="http://schemas.microsoft.com/office/drawing/2014/main" id="{52E71EBB-EAD5-4422-AE83-632CE6D3C8B3}"/>
              </a:ext>
            </a:extLst>
          </p:cNvPr>
          <p:cNvSpPr>
            <a:spLocks noGrp="1"/>
          </p:cNvSpPr>
          <p:nvPr>
            <p:ph type="body" sz="quarter" idx="24"/>
          </p:nvPr>
        </p:nvSpPr>
        <p:spPr>
          <a:xfrm>
            <a:off x="6157200" y="1657988"/>
            <a:ext cx="5036400" cy="3479101"/>
          </a:xfrm>
        </p:spPr>
        <p:txBody>
          <a:bodyPr/>
          <a:lstStyle/>
          <a:p>
            <a:r>
              <a:rPr lang="en-GB" b="0" dirty="0">
                <a:solidFill>
                  <a:schemeClr val="tx1"/>
                </a:solidFill>
              </a:rPr>
              <a:t>Y’s financial accounts have been audited by </a:t>
            </a:r>
            <a:r>
              <a:rPr lang="en-GB" b="0" dirty="0" err="1">
                <a:solidFill>
                  <a:schemeClr val="tx1"/>
                </a:solidFill>
              </a:rPr>
              <a:t>yy</a:t>
            </a:r>
            <a:r>
              <a:rPr lang="en-GB" b="0" dirty="0">
                <a:solidFill>
                  <a:schemeClr val="tx1"/>
                </a:solidFill>
              </a:rPr>
              <a:t> since FY20 with the FY19 opening balance sheet audited as part of this process. Unqualified audit opinions were received during the historical period. We consider the financial information made available to us was robust and of good quality, and in line with our expectations and experience on similar transactions. We note, however, that in certain points during the year costs were over accrued e.g. photoshoots and freelance staff (see the </a:t>
            </a:r>
            <a:r>
              <a:rPr lang="en-GB" dirty="0">
                <a:solidFill>
                  <a:schemeClr val="tx1"/>
                </a:solidFill>
              </a:rPr>
              <a:t>quality of earnings pages </a:t>
            </a:r>
            <a:r>
              <a:rPr lang="en-GB" b="0" dirty="0">
                <a:solidFill>
                  <a:schemeClr val="tx1"/>
                </a:solidFill>
              </a:rPr>
              <a:t>for further detail), which could result in distorted results on a monthly basis. We note accruals are often released over a period of time rather than the point it is known that costs are no longer required. </a:t>
            </a:r>
          </a:p>
          <a:p>
            <a:r>
              <a:rPr lang="en-GB" dirty="0">
                <a:solidFill>
                  <a:schemeClr val="tx1"/>
                </a:solidFill>
              </a:rPr>
              <a:t>Statutory adjustments </a:t>
            </a:r>
            <a:r>
              <a:rPr lang="en-GB" b="0" dirty="0">
                <a:solidFill>
                  <a:schemeClr val="tx1"/>
                </a:solidFill>
              </a:rPr>
              <a:t>largely relate to reclassifications such as delivery income and direct costs. The variance in net profit between the management and statutory accounts has been minimal in the historical period. </a:t>
            </a:r>
          </a:p>
          <a:p>
            <a:r>
              <a:rPr lang="en-GB" b="0" dirty="0">
                <a:solidFill>
                  <a:schemeClr val="tx1"/>
                </a:solidFill>
              </a:rPr>
              <a:t>We also consider the finance team (which is overseen by the COO) to be fairly lean, historically consisting only of a Finance Manager, a Finance Analyst and a Finance Assistant, albeit the function was strengthened in July 2021 with a finance administrative assistant and the business is looking to hire an Accounts Payable clerk.</a:t>
            </a:r>
          </a:p>
          <a:p>
            <a:r>
              <a:rPr lang="en-GB" b="0" dirty="0">
                <a:solidFill>
                  <a:schemeClr val="tx1"/>
                </a:solidFill>
              </a:rPr>
              <a:t>Y’s CRM systems are currently not sufficiently sophisticated to give a single customer view i.e. they are unable to join up online customers to those that have purchased in boutiques, consequently this reduces the level of understanding of customer behaviour. We understand that a new CRM system is due to be launched in November 2021 to address this.</a:t>
            </a:r>
          </a:p>
          <a:p>
            <a:endParaRPr lang="fi-FI" b="0" dirty="0">
              <a:solidFill>
                <a:schemeClr val="tx1"/>
              </a:solidFill>
            </a:endParaRPr>
          </a:p>
        </p:txBody>
      </p:sp>
      <p:sp>
        <p:nvSpPr>
          <p:cNvPr id="9" name="Rectangle 8">
            <a:hlinkClick r:id="rId7" action="ppaction://hlinksldjump"/>
            <a:extLst>
              <a:ext uri="{FF2B5EF4-FFF2-40B4-BE49-F238E27FC236}">
                <a16:creationId xmlns:a16="http://schemas.microsoft.com/office/drawing/2014/main" id="{BA619A02-F065-4E31-A094-EA7843625B0F}"/>
              </a:ext>
            </a:extLst>
          </p:cNvPr>
          <p:cNvSpPr/>
          <p:nvPr/>
        </p:nvSpPr>
        <p:spPr>
          <a:xfrm>
            <a:off x="10453029" y="2419350"/>
            <a:ext cx="557871" cy="1604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36" name="Rectangle 35">
            <a:hlinkClick r:id="rId7" action="ppaction://hlinksldjump"/>
            <a:extLst>
              <a:ext uri="{FF2B5EF4-FFF2-40B4-BE49-F238E27FC236}">
                <a16:creationId xmlns:a16="http://schemas.microsoft.com/office/drawing/2014/main" id="{8213971F-0527-402B-8F99-E8BABF462DA6}"/>
              </a:ext>
            </a:extLst>
          </p:cNvPr>
          <p:cNvSpPr/>
          <p:nvPr/>
        </p:nvSpPr>
        <p:spPr>
          <a:xfrm>
            <a:off x="6184158" y="2571750"/>
            <a:ext cx="557871" cy="1604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a:lstStyle/>
          <a:p>
            <a:r>
              <a:rPr lang="en-US"/>
              <a:t>Key findings — Financial (4/4)</a:t>
            </a:r>
          </a:p>
        </p:txBody>
      </p:sp>
      <p:sp>
        <p:nvSpPr>
          <p:cNvPr id="33" name="Text Placeholder 32">
            <a:extLst>
              <a:ext uri="{FF2B5EF4-FFF2-40B4-BE49-F238E27FC236}">
                <a16:creationId xmlns:a16="http://schemas.microsoft.com/office/drawing/2014/main" id="{562FA9FF-42DB-49CA-94ED-D62717C2E137}"/>
              </a:ext>
            </a:extLst>
          </p:cNvPr>
          <p:cNvSpPr>
            <a:spLocks noGrp="1"/>
          </p:cNvSpPr>
          <p:nvPr>
            <p:ph type="body" sz="quarter" idx="23"/>
          </p:nvPr>
        </p:nvSpPr>
        <p:spPr>
          <a:xfrm>
            <a:off x="995359" y="3651679"/>
            <a:ext cx="5036400" cy="1464146"/>
          </a:xfrm>
        </p:spPr>
        <p:txBody>
          <a:bodyPr/>
          <a:lstStyle/>
          <a:p>
            <a:pPr marL="0" marR="0" lvl="0" indent="0" algn="l" defTabSz="762000" rtl="0" eaLnBrk="1" fontAlgn="base" latinLnBrk="0" hangingPunct="1">
              <a:lnSpc>
                <a:spcPts val="1000"/>
              </a:lnSpc>
              <a:spcBef>
                <a:spcPts val="400"/>
              </a:spcBef>
              <a:spcAft>
                <a:spcPts val="0"/>
              </a:spcAft>
              <a:buClrTx/>
              <a:buSzTx/>
              <a:buFontTx/>
              <a:buNone/>
              <a:tabLst/>
            </a:pPr>
            <a:r>
              <a:rPr kumimoji="0" lang="en-GB" sz="1000" b="0" i="0" u="none" strike="noStrike" kern="1200" cap="none" spc="0" normalizeH="0" baseline="0" noProof="0" dirty="0">
                <a:ln>
                  <a:noFill/>
                </a:ln>
                <a:solidFill>
                  <a:schemeClr val="tx1"/>
                </a:solidFill>
                <a:effectLst/>
                <a:uLnTx/>
                <a:uFillTx/>
                <a:ea typeface="+mn-ea"/>
                <a:cs typeface="Arial" pitchFamily="34" charset="0"/>
              </a:rPr>
              <a:t>Operating cash flow conversion has consistently been over 100% historically, with the increase in the payables balance exceeding the increase in stock. This is the result of stock days declining across the historical period (largely due to online demand exceeding available stock in LTM22 with new stock lines selling out in 1 -2 weeks) and trade creditor days increasing (driven by increased use of Far East suppliers that have longer credit terms of 60 – 90 days).</a:t>
            </a:r>
          </a:p>
          <a:p>
            <a:pPr marL="0" marR="0" lvl="0" indent="0" algn="l" defTabSz="762000" rtl="0" eaLnBrk="1" fontAlgn="base" latinLnBrk="0" hangingPunct="1">
              <a:lnSpc>
                <a:spcPts val="1000"/>
              </a:lnSpc>
              <a:spcBef>
                <a:spcPts val="400"/>
              </a:spcBef>
              <a:spcAft>
                <a:spcPts val="0"/>
              </a:spcAft>
              <a:buClrTx/>
              <a:buSzTx/>
              <a:buFontTx/>
              <a:buNone/>
              <a:tabLst/>
            </a:pPr>
            <a:r>
              <a:rPr kumimoji="0" lang="en-GB" sz="1000" b="0" i="0" u="none" strike="noStrike" kern="1200" cap="none" spc="0" normalizeH="0" baseline="0" noProof="0" dirty="0">
                <a:ln>
                  <a:noFill/>
                </a:ln>
                <a:solidFill>
                  <a:schemeClr val="tx1"/>
                </a:solidFill>
                <a:effectLst/>
                <a:uLnTx/>
                <a:uFillTx/>
                <a:ea typeface="+mn-ea"/>
                <a:cs typeface="Arial" pitchFamily="34" charset="0"/>
              </a:rPr>
              <a:t>Operating cash conversion was 244.0% in FY21, driven by an increase in the returns provision, a deferral of the February 2020 VAT payment under the government’s Covid-19 scheme, and increased use of suppliers with longer credit terms. </a:t>
            </a:r>
          </a:p>
          <a:p>
            <a:pPr defTabSz="762000" fontAlgn="base">
              <a:lnSpc>
                <a:spcPts val="1000"/>
              </a:lnSpc>
              <a:spcBef>
                <a:spcPts val="400"/>
              </a:spcBef>
              <a:spcAft>
                <a:spcPts val="0"/>
              </a:spcAft>
            </a:pPr>
            <a:r>
              <a:rPr lang="en-GB" b="0" dirty="0">
                <a:solidFill>
                  <a:schemeClr val="tx1"/>
                </a:solidFill>
              </a:rPr>
              <a:t>The cash balance has increased from £1.5 million at January 2019 to £12.8 million at September 2021, predominantly as a result of increased trading.</a:t>
            </a:r>
          </a:p>
          <a:p>
            <a:pPr marL="0" marR="0" lvl="0" indent="0" algn="l" defTabSz="762000" rtl="0" eaLnBrk="1" fontAlgn="base" latinLnBrk="0" hangingPunct="1">
              <a:lnSpc>
                <a:spcPts val="1000"/>
              </a:lnSpc>
              <a:spcBef>
                <a:spcPts val="400"/>
              </a:spcBef>
              <a:spcAft>
                <a:spcPts val="0"/>
              </a:spcAft>
              <a:buClrTx/>
              <a:buSzTx/>
              <a:buFontTx/>
              <a:buNone/>
              <a:tabLst/>
            </a:pPr>
            <a:endParaRPr kumimoji="0" lang="en-GB" sz="1000" b="0" i="0" u="none" strike="noStrike" kern="1200" cap="none" spc="0" normalizeH="0" baseline="0" noProof="0" dirty="0">
              <a:ln>
                <a:noFill/>
              </a:ln>
              <a:solidFill>
                <a:schemeClr val="tx1"/>
              </a:solidFill>
              <a:effectLst/>
              <a:uLnTx/>
              <a:uFillTx/>
              <a:ea typeface="+mn-ea"/>
              <a:cs typeface="Arial" pitchFamily="34" charset="0"/>
            </a:endParaRPr>
          </a:p>
        </p:txBody>
      </p:sp>
      <p:sp>
        <p:nvSpPr>
          <p:cNvPr id="30" name="Text Placeholder 29">
            <a:extLst>
              <a:ext uri="{FF2B5EF4-FFF2-40B4-BE49-F238E27FC236}">
                <a16:creationId xmlns:a16="http://schemas.microsoft.com/office/drawing/2014/main" id="{67C6D619-EE29-493E-A78E-48B938394EC8}"/>
              </a:ext>
            </a:extLst>
          </p:cNvPr>
          <p:cNvSpPr>
            <a:spLocks noGrp="1"/>
          </p:cNvSpPr>
          <p:nvPr>
            <p:ph type="body" sz="quarter" idx="11"/>
          </p:nvPr>
        </p:nvSpPr>
        <p:spPr/>
        <p:txBody>
          <a:bodyPr/>
          <a:lstStyle/>
          <a:p>
            <a:r>
              <a:rPr lang="fi-FI"/>
              <a:t>Control environment</a:t>
            </a:r>
          </a:p>
        </p:txBody>
      </p:sp>
      <p:sp>
        <p:nvSpPr>
          <p:cNvPr id="35" name="Text Placeholder 34">
            <a:extLst>
              <a:ext uri="{FF2B5EF4-FFF2-40B4-BE49-F238E27FC236}">
                <a16:creationId xmlns:a16="http://schemas.microsoft.com/office/drawing/2014/main" id="{4FE36288-FFCD-45B0-B2EA-7AC5D15BD143}"/>
              </a:ext>
            </a:extLst>
          </p:cNvPr>
          <p:cNvSpPr>
            <a:spLocks noGrp="1"/>
          </p:cNvSpPr>
          <p:nvPr>
            <p:ph type="body" sz="quarter" idx="25"/>
          </p:nvPr>
        </p:nvSpPr>
        <p:spPr/>
        <p:txBody>
          <a:bodyPr/>
          <a:lstStyle/>
          <a:p>
            <a:r>
              <a:rPr lang="fi-FI"/>
              <a:t>Cash flow</a:t>
            </a:r>
          </a:p>
        </p:txBody>
      </p:sp>
      <p:sp>
        <p:nvSpPr>
          <p:cNvPr id="44" name="Text Placeholder 43">
            <a:extLst>
              <a:ext uri="{FF2B5EF4-FFF2-40B4-BE49-F238E27FC236}">
                <a16:creationId xmlns:a16="http://schemas.microsoft.com/office/drawing/2014/main" id="{525F5072-3FE8-4E4B-8461-9BDF9A699EE9}"/>
              </a:ext>
            </a:extLst>
          </p:cNvPr>
          <p:cNvSpPr>
            <a:spLocks noGrp="1"/>
          </p:cNvSpPr>
          <p:nvPr>
            <p:ph type="body" sz="quarter" idx="54"/>
          </p:nvPr>
        </p:nvSpPr>
        <p:spPr/>
        <p:txBody>
          <a:bodyPr/>
          <a:lstStyle/>
          <a:p>
            <a:r>
              <a:rPr lang="en-GB"/>
              <a:t>Operating cash flow conversion has been in excess of 100% historically, largely driven by the business operating with a negative net working capital profile. </a:t>
            </a:r>
          </a:p>
        </p:txBody>
      </p:sp>
      <p:sp>
        <p:nvSpPr>
          <p:cNvPr id="83" name="Text Placeholder 82">
            <a:extLst>
              <a:ext uri="{FF2B5EF4-FFF2-40B4-BE49-F238E27FC236}">
                <a16:creationId xmlns:a16="http://schemas.microsoft.com/office/drawing/2014/main" id="{C395020E-1DEF-4A76-A915-A878C875AF12}"/>
              </a:ext>
            </a:extLst>
          </p:cNvPr>
          <p:cNvSpPr>
            <a:spLocks noGrp="1"/>
          </p:cNvSpPr>
          <p:nvPr>
            <p:ph type="body" sz="quarter" idx="56"/>
          </p:nvPr>
        </p:nvSpPr>
        <p:spPr/>
        <p:txBody>
          <a:bodyPr/>
          <a:lstStyle/>
          <a:p>
            <a:r>
              <a:rPr lang="en-GB"/>
              <a:t>The quality of financial information and control environment is strong, which results in good quality robust information. </a:t>
            </a:r>
          </a:p>
        </p:txBody>
      </p:sp>
      <p:sp>
        <p:nvSpPr>
          <p:cNvPr id="65" name="Text Placeholder 64">
            <a:extLst>
              <a:ext uri="{FF2B5EF4-FFF2-40B4-BE49-F238E27FC236}">
                <a16:creationId xmlns:a16="http://schemas.microsoft.com/office/drawing/2014/main" id="{5A08CD0C-317F-9051-75F4-91C0C8BE2E3E}"/>
              </a:ext>
            </a:extLst>
          </p:cNvPr>
          <p:cNvSpPr>
            <a:spLocks noGrp="1"/>
          </p:cNvSpPr>
          <p:nvPr>
            <p:ph type="body" sz="quarter" idx="53"/>
          </p:nvPr>
        </p:nvSpPr>
        <p:spPr/>
        <p:txBody>
          <a:bodyPr/>
          <a:lstStyle/>
          <a:p>
            <a:r>
              <a:rPr lang="en-US" noProof="0"/>
              <a:t>Value</a:t>
            </a:r>
          </a:p>
          <a:p>
            <a:r>
              <a:rPr lang="en-US" noProof="0">
                <a:solidFill>
                  <a:srgbClr val="BFBFBF"/>
                </a:solidFill>
              </a:rPr>
              <a:t>SPA</a:t>
            </a:r>
          </a:p>
          <a:p>
            <a:r>
              <a:rPr lang="en-US">
                <a:solidFill>
                  <a:srgbClr val="BFBFBF"/>
                </a:solidFill>
              </a:rPr>
              <a:t>Other</a:t>
            </a:r>
          </a:p>
        </p:txBody>
      </p:sp>
      <p:sp>
        <p:nvSpPr>
          <p:cNvPr id="67" name="Text Placeholder 66">
            <a:extLst>
              <a:ext uri="{FF2B5EF4-FFF2-40B4-BE49-F238E27FC236}">
                <a16:creationId xmlns:a16="http://schemas.microsoft.com/office/drawing/2014/main" id="{2684F2A1-05C1-650D-FA59-F179E2BF450A}"/>
              </a:ext>
            </a:extLst>
          </p:cNvPr>
          <p:cNvSpPr>
            <a:spLocks noGrp="1"/>
          </p:cNvSpPr>
          <p:nvPr>
            <p:ph type="body" sz="quarter" idx="55"/>
          </p:nvPr>
        </p:nvSpPr>
        <p:spPr/>
        <p:txBody>
          <a:bodyPr/>
          <a:lstStyle/>
          <a:p>
            <a:r>
              <a:rPr lang="en-US" noProof="0">
                <a:solidFill>
                  <a:srgbClr val="BFBFBF"/>
                </a:solidFill>
              </a:rPr>
              <a:t>Value</a:t>
            </a:r>
          </a:p>
          <a:p>
            <a:r>
              <a:rPr lang="en-US" noProof="0">
                <a:solidFill>
                  <a:srgbClr val="BFBFBF"/>
                </a:solidFill>
              </a:rPr>
              <a:t>SPA</a:t>
            </a:r>
          </a:p>
          <a:p>
            <a:r>
              <a:rPr lang="en-US">
                <a:solidFill>
                  <a:srgbClr val="00338D"/>
                </a:solidFill>
              </a:rPr>
              <a:t>Other</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2" name="Text Placeholder 12">
            <a:extLst>
              <a:ext uri="{FF2B5EF4-FFF2-40B4-BE49-F238E27FC236}">
                <a16:creationId xmlns:a16="http://schemas.microsoft.com/office/drawing/2014/main" id="{82BA542F-D9BC-8F2B-A6C1-3481397A6870}"/>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 </a:t>
            </a:r>
            <a:endParaRPr lang="en-US" sz="600" b="0">
              <a:solidFill>
                <a:schemeClr val="tx2"/>
              </a:solidFill>
              <a:latin typeface="Arial" panose="020B0604020202020204" pitchFamily="34" charset="0"/>
            </a:endParaRPr>
          </a:p>
        </p:txBody>
      </p:sp>
      <p:sp>
        <p:nvSpPr>
          <p:cNvPr id="85" name="Rectangle: Rounded Corners 84">
            <a:hlinkClick r:id="rId10" action="ppaction://hlinksldjump"/>
            <a:extLst>
              <a:ext uri="{FF2B5EF4-FFF2-40B4-BE49-F238E27FC236}">
                <a16:creationId xmlns:a16="http://schemas.microsoft.com/office/drawing/2014/main" id="{7C08350A-4EE7-45B0-8513-3427DC01DD31}"/>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86" name="Rectangle: Rounded Corners 85">
            <a:hlinkClick r:id="rId11" action="ppaction://hlinksldjump"/>
            <a:extLst>
              <a:ext uri="{FF2B5EF4-FFF2-40B4-BE49-F238E27FC236}">
                <a16:creationId xmlns:a16="http://schemas.microsoft.com/office/drawing/2014/main" id="{360D12C8-1842-45CF-82AF-1F164CF12920}"/>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3" name="TextBox 2">
            <a:extLst>
              <a:ext uri="{FF2B5EF4-FFF2-40B4-BE49-F238E27FC236}">
                <a16:creationId xmlns:a16="http://schemas.microsoft.com/office/drawing/2014/main" id="{3206FA58-E5D0-4EE2-A237-1A65D7DE872E}"/>
              </a:ext>
            </a:extLst>
          </p:cNvPr>
          <p:cNvSpPr txBox="1"/>
          <p:nvPr/>
        </p:nvSpPr>
        <p:spPr>
          <a:xfrm>
            <a:off x="1005975" y="1657988"/>
            <a:ext cx="5025783" cy="1248245"/>
          </a:xfrm>
          <a:prstGeom prst="rect">
            <a:avLst/>
          </a:prstGeom>
        </p:spPr>
        <p:txBody>
          <a:bodyPr vert="horz" wrap="square" lIns="0" tIns="0" rIns="0" bIns="0" rtlCol="0" anchor="t" anchorCtr="0">
            <a:noAutofit/>
          </a:bodyPr>
          <a:lstStyle/>
          <a:p>
            <a:pPr algn="l">
              <a:spcAft>
                <a:spcPts val="600"/>
              </a:spcAft>
            </a:pPr>
            <a:endParaRPr lang="en-GB" sz="1500" b="1">
              <a:solidFill>
                <a:schemeClr val="tx2"/>
              </a:solidFill>
            </a:endParaRPr>
          </a:p>
        </p:txBody>
      </p:sp>
      <p:sp>
        <p:nvSpPr>
          <p:cNvPr id="5" name="UpSlide SubSection Marker" hidden="1">
            <a:extLst>
              <a:ext uri="{FF2B5EF4-FFF2-40B4-BE49-F238E27FC236}">
                <a16:creationId xmlns:a16="http://schemas.microsoft.com/office/drawing/2014/main" id="{C6E7AF61-7F81-4075-BAF4-4C8B86AFEAF3}"/>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Key findings</a:t>
            </a:r>
            <a:endParaRPr lang="en-GB" sz="900" dirty="0">
              <a:solidFill>
                <a:schemeClr val="bg1"/>
              </a:solidFill>
            </a:endParaRPr>
          </a:p>
        </p:txBody>
      </p:sp>
      <p:sp>
        <p:nvSpPr>
          <p:cNvPr id="11" name="Rectangle 10">
            <a:hlinkClick r:id="rId12" action="ppaction://hlinksldjump"/>
            <a:extLst>
              <a:ext uri="{FF2B5EF4-FFF2-40B4-BE49-F238E27FC236}">
                <a16:creationId xmlns:a16="http://schemas.microsoft.com/office/drawing/2014/main" id="{5DA8412B-4B01-4B1A-9E9D-5C07684A5363}"/>
              </a:ext>
            </a:extLst>
          </p:cNvPr>
          <p:cNvSpPr/>
          <p:nvPr/>
        </p:nvSpPr>
        <p:spPr>
          <a:xfrm>
            <a:off x="6157200" y="3075093"/>
            <a:ext cx="1516987" cy="2091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29" name="Group 28">
            <a:extLst>
              <a:ext uri="{FF2B5EF4-FFF2-40B4-BE49-F238E27FC236}">
                <a16:creationId xmlns:a16="http://schemas.microsoft.com/office/drawing/2014/main" id="{7E563A72-CF12-4F27-BA5F-76011D5720BA}"/>
              </a:ext>
            </a:extLst>
          </p:cNvPr>
          <p:cNvGrpSpPr/>
          <p:nvPr>
            <p:custDataLst>
              <p:tags r:id="rId4"/>
            </p:custDataLst>
          </p:nvPr>
        </p:nvGrpSpPr>
        <p:grpSpPr>
          <a:xfrm>
            <a:off x="995364" y="153170"/>
            <a:ext cx="6245240" cy="195814"/>
            <a:chOff x="995364" y="153170"/>
            <a:chExt cx="6245240" cy="195814"/>
          </a:xfrm>
        </p:grpSpPr>
        <p:sp>
          <p:nvSpPr>
            <p:cNvPr id="31" name="Current Section1">
              <a:hlinkClick r:id="rId13"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2"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63633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hlinkClick r:id="rId21" action="ppaction://hlinksldjump"/>
            <a:extLst>
              <a:ext uri="{FF2B5EF4-FFF2-40B4-BE49-F238E27FC236}">
                <a16:creationId xmlns:a16="http://schemas.microsoft.com/office/drawing/2014/main" id="{91681074-0343-4947-ABF2-2296ACFDE114}"/>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Historical trading</a:t>
            </a:r>
          </a:p>
        </p:txBody>
      </p:sp>
      <p:sp>
        <p:nvSpPr>
          <p:cNvPr id="23" name="TextBox 22">
            <a:hlinkClick r:id="rId22" action="ppaction://hlinksldjump"/>
            <a:extLst>
              <a:ext uri="{FF2B5EF4-FFF2-40B4-BE49-F238E27FC236}">
                <a16:creationId xmlns:a16="http://schemas.microsoft.com/office/drawing/2014/main" id="{3C2C44E9-DE7E-4792-9E3F-C3CA3D9A97DA}"/>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Profit &amp; loss overview</a:t>
            </a:r>
          </a:p>
        </p:txBody>
      </p:sp>
      <p:sp>
        <p:nvSpPr>
          <p:cNvPr id="24" name="TextBox 23">
            <a:hlinkClick r:id="rId23" action="ppaction://hlinksldjump"/>
            <a:extLst>
              <a:ext uri="{FF2B5EF4-FFF2-40B4-BE49-F238E27FC236}">
                <a16:creationId xmlns:a16="http://schemas.microsoft.com/office/drawing/2014/main" id="{C8172716-5404-4DDB-BBFC-2A779A751387}"/>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Quality of earnings</a:t>
            </a:r>
          </a:p>
        </p:txBody>
      </p:sp>
      <p:sp>
        <p:nvSpPr>
          <p:cNvPr id="25" name="TextBox 24">
            <a:hlinkClick r:id="rId24" action="ppaction://hlinksldjump"/>
            <a:extLst>
              <a:ext uri="{FF2B5EF4-FFF2-40B4-BE49-F238E27FC236}">
                <a16:creationId xmlns:a16="http://schemas.microsoft.com/office/drawing/2014/main" id="{8B1FC796-F009-405C-A623-DEA023B3ECB5}"/>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Revenue and EBITDA bridge</a:t>
            </a:r>
          </a:p>
        </p:txBody>
      </p:sp>
      <p:sp>
        <p:nvSpPr>
          <p:cNvPr id="26" name="TextBox 25">
            <a:hlinkClick r:id="rId25" action="ppaction://hlinksldjump"/>
            <a:extLst>
              <a:ext uri="{FF2B5EF4-FFF2-40B4-BE49-F238E27FC236}">
                <a16:creationId xmlns:a16="http://schemas.microsoft.com/office/drawing/2014/main" id="{330458C5-B65F-4DDE-B3B9-07F6A48BFFDE}"/>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Business drivers</a:t>
            </a:r>
          </a:p>
        </p:txBody>
      </p:sp>
      <p:sp>
        <p:nvSpPr>
          <p:cNvPr id="27" name="TextBox 26">
            <a:hlinkClick r:id="rId26" action="ppaction://hlinksldjump"/>
            <a:extLst>
              <a:ext uri="{FF2B5EF4-FFF2-40B4-BE49-F238E27FC236}">
                <a16:creationId xmlns:a16="http://schemas.microsoft.com/office/drawing/2014/main" id="{8B1E0D0E-2A9B-4336-95F4-05280DBF5C51}"/>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Cost base overview</a:t>
            </a:r>
          </a:p>
        </p:txBody>
      </p:sp>
      <p:sp>
        <p:nvSpPr>
          <p:cNvPr id="28" name="TextBox 27">
            <a:hlinkClick r:id="rId21" action="ppaction://hlinksldjump"/>
            <a:extLst>
              <a:ext uri="{FF2B5EF4-FFF2-40B4-BE49-F238E27FC236}">
                <a16:creationId xmlns:a16="http://schemas.microsoft.com/office/drawing/2014/main" id="{B7370E63-51A1-4622-A866-27258F0DE7E2}"/>
              </a:ext>
            </a:extLst>
          </p:cNvPr>
          <p:cNvSpPr txBox="1"/>
          <p:nvPr>
            <p:custDataLst>
              <p:tags r:id="rId8"/>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2.</a:t>
            </a:r>
          </a:p>
        </p:txBody>
      </p:sp>
      <p:sp>
        <p:nvSpPr>
          <p:cNvPr id="29" name="TextBox 28">
            <a:hlinkClick r:id="rId21" action="ppaction://hlinksldjump"/>
            <a:extLst>
              <a:ext uri="{FF2B5EF4-FFF2-40B4-BE49-F238E27FC236}">
                <a16:creationId xmlns:a16="http://schemas.microsoft.com/office/drawing/2014/main" id="{B1394A66-E080-47E4-9A6A-F5E46DBA2B87}"/>
              </a:ext>
            </a:extLst>
          </p:cNvPr>
          <p:cNvSpPr txBox="1"/>
          <p:nvPr>
            <p:custDataLst>
              <p:tags r:id="rId9"/>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19</a:t>
            </a:r>
          </a:p>
        </p:txBody>
      </p:sp>
      <p:sp>
        <p:nvSpPr>
          <p:cNvPr id="30" name="TextBox 29">
            <a:hlinkClick r:id="rId22" action="ppaction://hlinksldjump"/>
            <a:extLst>
              <a:ext uri="{FF2B5EF4-FFF2-40B4-BE49-F238E27FC236}">
                <a16:creationId xmlns:a16="http://schemas.microsoft.com/office/drawing/2014/main" id="{D7C9C95C-0AF3-4E93-A45F-9C1ECE7C047D}"/>
              </a:ext>
            </a:extLst>
          </p:cNvPr>
          <p:cNvSpPr txBox="1"/>
          <p:nvPr>
            <p:custDataLst>
              <p:tags r:id="rId10"/>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2.1</a:t>
            </a:r>
          </a:p>
        </p:txBody>
      </p:sp>
      <p:sp>
        <p:nvSpPr>
          <p:cNvPr id="31" name="TextBox 30">
            <a:hlinkClick r:id="rId23" action="ppaction://hlinksldjump"/>
            <a:extLst>
              <a:ext uri="{FF2B5EF4-FFF2-40B4-BE49-F238E27FC236}">
                <a16:creationId xmlns:a16="http://schemas.microsoft.com/office/drawing/2014/main" id="{2EF064AE-D3DD-4DA9-8BC1-0A294E9917F6}"/>
              </a:ext>
            </a:extLst>
          </p:cNvPr>
          <p:cNvSpPr txBox="1"/>
          <p:nvPr>
            <p:custDataLst>
              <p:tags r:id="rId11"/>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2.2</a:t>
            </a:r>
          </a:p>
        </p:txBody>
      </p:sp>
      <p:sp>
        <p:nvSpPr>
          <p:cNvPr id="32" name="TextBox 31">
            <a:hlinkClick r:id="rId24" action="ppaction://hlinksldjump"/>
            <a:extLst>
              <a:ext uri="{FF2B5EF4-FFF2-40B4-BE49-F238E27FC236}">
                <a16:creationId xmlns:a16="http://schemas.microsoft.com/office/drawing/2014/main" id="{EEDC14B0-A9D8-4042-AE7E-9196E58AF0D3}"/>
              </a:ext>
            </a:extLst>
          </p:cNvPr>
          <p:cNvSpPr txBox="1"/>
          <p:nvPr>
            <p:custDataLst>
              <p:tags r:id="rId12"/>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2.3</a:t>
            </a:r>
          </a:p>
        </p:txBody>
      </p:sp>
      <p:sp>
        <p:nvSpPr>
          <p:cNvPr id="33" name="TextBox 32">
            <a:hlinkClick r:id="rId25" action="ppaction://hlinksldjump"/>
            <a:extLst>
              <a:ext uri="{FF2B5EF4-FFF2-40B4-BE49-F238E27FC236}">
                <a16:creationId xmlns:a16="http://schemas.microsoft.com/office/drawing/2014/main" id="{8E6616AB-E90F-4732-B862-03122F87BAC9}"/>
              </a:ext>
            </a:extLst>
          </p:cNvPr>
          <p:cNvSpPr txBox="1"/>
          <p:nvPr>
            <p:custDataLst>
              <p:tags r:id="rId13"/>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2.4</a:t>
            </a:r>
          </a:p>
        </p:txBody>
      </p:sp>
      <p:sp>
        <p:nvSpPr>
          <p:cNvPr id="34" name="TextBox 33">
            <a:hlinkClick r:id="rId26" action="ppaction://hlinksldjump"/>
            <a:extLst>
              <a:ext uri="{FF2B5EF4-FFF2-40B4-BE49-F238E27FC236}">
                <a16:creationId xmlns:a16="http://schemas.microsoft.com/office/drawing/2014/main" id="{12DEA936-A8DF-4E9A-BD8F-19E9BEE909CE}"/>
              </a:ext>
            </a:extLst>
          </p:cNvPr>
          <p:cNvSpPr txBox="1"/>
          <p:nvPr>
            <p:custDataLst>
              <p:tags r:id="rId14"/>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2.5</a:t>
            </a:r>
          </a:p>
        </p:txBody>
      </p:sp>
      <p:sp>
        <p:nvSpPr>
          <p:cNvPr id="35" name="TextBox 34">
            <a:hlinkClick r:id="rId22" action="ppaction://hlinksldjump"/>
            <a:extLst>
              <a:ext uri="{FF2B5EF4-FFF2-40B4-BE49-F238E27FC236}">
                <a16:creationId xmlns:a16="http://schemas.microsoft.com/office/drawing/2014/main" id="{4871D505-E839-4C1B-9EED-79E3F0CF1501}"/>
              </a:ext>
            </a:extLst>
          </p:cNvPr>
          <p:cNvSpPr txBox="1"/>
          <p:nvPr>
            <p:custDataLst>
              <p:tags r:id="rId15"/>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20</a:t>
            </a:r>
          </a:p>
        </p:txBody>
      </p:sp>
      <p:sp>
        <p:nvSpPr>
          <p:cNvPr id="36" name="TextBox 35">
            <a:hlinkClick r:id="rId23" action="ppaction://hlinksldjump"/>
            <a:extLst>
              <a:ext uri="{FF2B5EF4-FFF2-40B4-BE49-F238E27FC236}">
                <a16:creationId xmlns:a16="http://schemas.microsoft.com/office/drawing/2014/main" id="{DEDDEEF5-D4BC-406C-9BBA-BB02F0159992}"/>
              </a:ext>
            </a:extLst>
          </p:cNvPr>
          <p:cNvSpPr txBox="1"/>
          <p:nvPr>
            <p:custDataLst>
              <p:tags r:id="rId16"/>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21</a:t>
            </a:r>
          </a:p>
        </p:txBody>
      </p:sp>
      <p:sp>
        <p:nvSpPr>
          <p:cNvPr id="37" name="TextBox 36">
            <a:hlinkClick r:id="rId24" action="ppaction://hlinksldjump"/>
            <a:extLst>
              <a:ext uri="{FF2B5EF4-FFF2-40B4-BE49-F238E27FC236}">
                <a16:creationId xmlns:a16="http://schemas.microsoft.com/office/drawing/2014/main" id="{FA97B1F6-0FB0-45F3-BF31-667B74AE6D60}"/>
              </a:ext>
            </a:extLst>
          </p:cNvPr>
          <p:cNvSpPr txBox="1"/>
          <p:nvPr>
            <p:custDataLst>
              <p:tags r:id="rId17"/>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28</a:t>
            </a:r>
          </a:p>
        </p:txBody>
      </p:sp>
      <p:sp>
        <p:nvSpPr>
          <p:cNvPr id="38" name="TextBox 37">
            <a:hlinkClick r:id="rId25" action="ppaction://hlinksldjump"/>
            <a:extLst>
              <a:ext uri="{FF2B5EF4-FFF2-40B4-BE49-F238E27FC236}">
                <a16:creationId xmlns:a16="http://schemas.microsoft.com/office/drawing/2014/main" id="{C92EE74F-AC5A-411D-8F32-DA2F04512126}"/>
              </a:ext>
            </a:extLst>
          </p:cNvPr>
          <p:cNvSpPr txBox="1"/>
          <p:nvPr>
            <p:custDataLst>
              <p:tags r:id="rId18"/>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30</a:t>
            </a:r>
          </a:p>
        </p:txBody>
      </p:sp>
      <p:sp>
        <p:nvSpPr>
          <p:cNvPr id="39" name="TextBox 38">
            <a:hlinkClick r:id="rId26" action="ppaction://hlinksldjump"/>
            <a:extLst>
              <a:ext uri="{FF2B5EF4-FFF2-40B4-BE49-F238E27FC236}">
                <a16:creationId xmlns:a16="http://schemas.microsoft.com/office/drawing/2014/main" id="{1F06AA16-F599-40C8-B286-FC0DB04C0A04}"/>
              </a:ext>
            </a:extLst>
          </p:cNvPr>
          <p:cNvSpPr txBox="1"/>
          <p:nvPr>
            <p:custDataLst>
              <p:tags r:id="rId19"/>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42</a:t>
            </a:r>
          </a:p>
        </p:txBody>
      </p:sp>
    </p:spTree>
    <p:custDataLst>
      <p:tags r:id="rId1"/>
    </p:custDataLst>
    <p:extLst>
      <p:ext uri="{BB962C8B-B14F-4D97-AF65-F5344CB8AC3E}">
        <p14:creationId xmlns:p14="http://schemas.microsoft.com/office/powerpoint/2010/main" val="2671633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19" name="Text Placeholder 18">
            <a:extLst>
              <a:ext uri="{FF2B5EF4-FFF2-40B4-BE49-F238E27FC236}">
                <a16:creationId xmlns:a16="http://schemas.microsoft.com/office/drawing/2014/main" id="{DB46C59B-6155-4A11-9161-40A12BFB7A3D}"/>
              </a:ext>
            </a:extLst>
          </p:cNvPr>
          <p:cNvSpPr>
            <a:spLocks noGrp="1"/>
          </p:cNvSpPr>
          <p:nvPr>
            <p:ph type="body" sz="quarter" idx="10"/>
          </p:nvPr>
        </p:nvSpPr>
        <p:spPr>
          <a:xfrm>
            <a:off x="995361" y="1356166"/>
            <a:ext cx="7593528" cy="445402"/>
          </a:xfrm>
        </p:spPr>
        <p:txBody>
          <a:bodyPr/>
          <a:lstStyle/>
          <a:p>
            <a:r>
              <a:rPr lang="en-GB" dirty="0"/>
              <a:t>EBITDA has grown by £7.3 million between FY19 and LTM22. This has predominantly been delivered by the online channel (£13.6 million contribution) as Retail was heavily impacted in FY21 by enforced enclosures during national lockdowns (£0.3 million reduction in contribution).    </a:t>
            </a:r>
          </a:p>
          <a:p>
            <a:endParaRPr lang="fi-FI" dirty="0"/>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Profit &amp; loss overview</a:t>
            </a:r>
          </a:p>
        </p:txBody>
      </p:sp>
      <p:sp>
        <p:nvSpPr>
          <p:cNvPr id="23" name="Text Placeholder 22">
            <a:extLst>
              <a:ext uri="{FF2B5EF4-FFF2-40B4-BE49-F238E27FC236}">
                <a16:creationId xmlns:a16="http://schemas.microsoft.com/office/drawing/2014/main" id="{D899A74A-0CE7-4119-816E-452637B82DAA}"/>
              </a:ext>
            </a:extLst>
          </p:cNvPr>
          <p:cNvSpPr>
            <a:spLocks noGrp="1"/>
          </p:cNvSpPr>
          <p:nvPr>
            <p:ph type="body" sz="quarter" idx="26"/>
          </p:nvPr>
        </p:nvSpPr>
        <p:spPr>
          <a:xfrm>
            <a:off x="6175863" y="2235228"/>
            <a:ext cx="5017737" cy="3984796"/>
          </a:xfrm>
        </p:spPr>
        <p:txBody>
          <a:bodyPr/>
          <a:lstStyle/>
          <a:p>
            <a:pPr>
              <a:lnSpc>
                <a:spcPct val="95000"/>
              </a:lnSpc>
            </a:pPr>
            <a:r>
              <a:rPr lang="en-GB" sz="980" b="0" dirty="0">
                <a:solidFill>
                  <a:schemeClr val="tx1"/>
                </a:solidFill>
              </a:rPr>
              <a:t>Revenue has increased by CAGR 56.6% from FY19 to LTM22 which is largely due to the online channel (91.2%) driven by business initiatives such as investment in digital media, expansion of the product range and increased internationalisation. </a:t>
            </a:r>
          </a:p>
          <a:p>
            <a:pPr>
              <a:lnSpc>
                <a:spcPct val="95000"/>
              </a:lnSpc>
            </a:pPr>
            <a:r>
              <a:rPr lang="en-GB" sz="980" b="0" u="none" dirty="0">
                <a:solidFill>
                  <a:schemeClr val="tx1"/>
                </a:solidFill>
              </a:rPr>
              <a:t>Furthermore, average order value (AOV) and customer lifetime value (LTV) for online customers has increased across the historical period, driven by a higher mix of full price sales and increased order frequency. </a:t>
            </a:r>
          </a:p>
          <a:p>
            <a:pPr>
              <a:lnSpc>
                <a:spcPct val="95000"/>
              </a:lnSpc>
            </a:pPr>
            <a:r>
              <a:rPr lang="en-GB" sz="980" b="0" dirty="0">
                <a:solidFill>
                  <a:schemeClr val="tx1"/>
                </a:solidFill>
              </a:rPr>
              <a:t>Further detail can be found in the </a:t>
            </a:r>
            <a:r>
              <a:rPr lang="en-GB" sz="980" dirty="0">
                <a:solidFill>
                  <a:schemeClr val="tx1"/>
                </a:solidFill>
              </a:rPr>
              <a:t>online trading </a:t>
            </a:r>
            <a:r>
              <a:rPr lang="en-GB" sz="980" b="0" dirty="0">
                <a:solidFill>
                  <a:schemeClr val="tx1"/>
                </a:solidFill>
              </a:rPr>
              <a:t>and </a:t>
            </a:r>
            <a:r>
              <a:rPr lang="en-GB" sz="980" dirty="0">
                <a:solidFill>
                  <a:schemeClr val="tx1"/>
                </a:solidFill>
              </a:rPr>
              <a:t>retail trading sections</a:t>
            </a:r>
            <a:r>
              <a:rPr lang="en-GB" sz="980" b="0" dirty="0">
                <a:solidFill>
                  <a:schemeClr val="tx1"/>
                </a:solidFill>
              </a:rPr>
              <a:t>.</a:t>
            </a:r>
          </a:p>
          <a:p>
            <a:pPr>
              <a:lnSpc>
                <a:spcPct val="95000"/>
              </a:lnSpc>
            </a:pPr>
            <a:r>
              <a:rPr lang="en-GB" sz="980" b="0" dirty="0">
                <a:solidFill>
                  <a:schemeClr val="tx1"/>
                </a:solidFill>
              </a:rPr>
              <a:t>Gross margin increased by 4.9 ppt, which we understand is predominantly driven by a higher intake margin due to increased buying power and a continued improvement in demand forecasting has led to an enhanced matching of demand and supply – this has mitigated the requirement to discount.</a:t>
            </a:r>
          </a:p>
          <a:p>
            <a:pPr>
              <a:lnSpc>
                <a:spcPct val="95000"/>
              </a:lnSpc>
            </a:pPr>
            <a:r>
              <a:rPr lang="en-GB" sz="980" b="0" dirty="0">
                <a:solidFill>
                  <a:schemeClr val="tx1"/>
                </a:solidFill>
              </a:rPr>
              <a:t>The growth in revenue and gross margin was partially offset by growth in head office costs (£7.0 million), principally driven by:</a:t>
            </a:r>
          </a:p>
          <a:p>
            <a:pPr marL="171450" indent="-171450">
              <a:lnSpc>
                <a:spcPct val="105000"/>
              </a:lnSpc>
              <a:buFont typeface=""/>
              <a:buChar char="—"/>
            </a:pPr>
            <a:r>
              <a:rPr lang="en-GB" sz="980" b="0" dirty="0">
                <a:solidFill>
                  <a:schemeClr val="tx1"/>
                </a:solidFill>
              </a:rPr>
              <a:t>Customer costs (£4.0 million) primarily attributable to Digital Media (£3.3 million) as Y invested heavily in digital marketing in order to stimulate new customer acquisition for the online channel; and</a:t>
            </a:r>
          </a:p>
          <a:p>
            <a:pPr marL="171450" indent="-171450">
              <a:lnSpc>
                <a:spcPct val="95000"/>
              </a:lnSpc>
              <a:buFont typeface=""/>
              <a:buChar char="—"/>
            </a:pPr>
            <a:r>
              <a:rPr lang="en-GB" sz="980" b="0" dirty="0">
                <a:solidFill>
                  <a:schemeClr val="tx1"/>
                </a:solidFill>
              </a:rPr>
              <a:t>Staff costs (£2.0 million) in order to support the increased activity levels. </a:t>
            </a:r>
          </a:p>
          <a:p>
            <a:pPr>
              <a:lnSpc>
                <a:spcPct val="95000"/>
              </a:lnSpc>
            </a:pPr>
            <a:r>
              <a:rPr lang="en-GB" sz="980" b="0" dirty="0">
                <a:solidFill>
                  <a:schemeClr val="tx1"/>
                </a:solidFill>
              </a:rPr>
              <a:t>The FY22 outturn assumes continued growth of the online channel coupled with the recovery of retail post store re-openings. See the </a:t>
            </a:r>
            <a:r>
              <a:rPr lang="en-GB" sz="980" dirty="0">
                <a:solidFill>
                  <a:schemeClr val="tx1"/>
                </a:solidFill>
              </a:rPr>
              <a:t>current trading </a:t>
            </a:r>
            <a:r>
              <a:rPr lang="en-GB" sz="980" b="0" dirty="0">
                <a:solidFill>
                  <a:schemeClr val="tx1"/>
                </a:solidFill>
              </a:rPr>
              <a:t>for further consideration of the FY22 outturn.</a:t>
            </a:r>
          </a:p>
          <a:p>
            <a:pPr>
              <a:lnSpc>
                <a:spcPct val="95000"/>
              </a:lnSpc>
            </a:pPr>
            <a:r>
              <a:rPr lang="en-GB" sz="980" b="0" dirty="0">
                <a:solidFill>
                  <a:schemeClr val="tx1"/>
                </a:solidFill>
              </a:rPr>
              <a:t>Head office costs predominantly relate to marketing costs (including digital media, brochures and photography), head office rent and rates and staff within the head office, all of which are discussed within the </a:t>
            </a:r>
            <a:r>
              <a:rPr lang="en-GB" sz="980" dirty="0">
                <a:solidFill>
                  <a:schemeClr val="tx1"/>
                </a:solidFill>
              </a:rPr>
              <a:t>cost base section </a:t>
            </a:r>
            <a:r>
              <a:rPr lang="en-GB" sz="980" b="0" dirty="0">
                <a:solidFill>
                  <a:schemeClr val="tx1"/>
                </a:solidFill>
              </a:rPr>
              <a:t>along with the equivalent costs for Retail and Online.</a:t>
            </a:r>
          </a:p>
          <a:p>
            <a:endParaRPr lang="fi-FI" b="0" dirty="0">
              <a:solidFill>
                <a:schemeClr val="tx1"/>
              </a:solidFill>
            </a:endParaRPr>
          </a:p>
        </p:txBody>
      </p:sp>
      <p:sp>
        <p:nvSpPr>
          <p:cNvPr id="20" name="Text Placeholder 19">
            <a:extLst>
              <a:ext uri="{FF2B5EF4-FFF2-40B4-BE49-F238E27FC236}">
                <a16:creationId xmlns:a16="http://schemas.microsoft.com/office/drawing/2014/main" id="{9780F237-0AE3-4892-8C11-4669BF539F21}"/>
              </a:ext>
            </a:extLst>
          </p:cNvPr>
          <p:cNvSpPr>
            <a:spLocks noGrp="1"/>
          </p:cNvSpPr>
          <p:nvPr>
            <p:ph type="body" sz="quarter" idx="11"/>
          </p:nvPr>
        </p:nvSpPr>
        <p:spPr>
          <a:xfrm>
            <a:off x="6232253" y="1912838"/>
            <a:ext cx="4969147" cy="264298"/>
          </a:xfrm>
        </p:spPr>
        <p:txBody>
          <a:bodyPr/>
          <a:lstStyle/>
          <a:p>
            <a:r>
              <a:rPr lang="fi-FI"/>
              <a:t>Historical trading</a:t>
            </a:r>
          </a:p>
        </p:txBody>
      </p:sp>
      <p:sp>
        <p:nvSpPr>
          <p:cNvPr id="4" name="Table Placeholder 3">
            <a:extLst>
              <a:ext uri="{FF2B5EF4-FFF2-40B4-BE49-F238E27FC236}">
                <a16:creationId xmlns:a16="http://schemas.microsoft.com/office/drawing/2014/main" id="{D0706E7F-F353-4034-8761-B5EEAC508140}"/>
              </a:ext>
            </a:extLst>
          </p:cNvPr>
          <p:cNvSpPr>
            <a:spLocks noGrp="1"/>
          </p:cNvSpPr>
          <p:nvPr>
            <p:ph type="tbl" sz="quarter" idx="13"/>
          </p:nvPr>
        </p:nvSpPr>
        <p:spPr/>
      </p:sp>
      <p:sp>
        <p:nvSpPr>
          <p:cNvPr id="2" name="Text Placeholder 12">
            <a:extLst>
              <a:ext uri="{FF2B5EF4-FFF2-40B4-BE49-F238E27FC236}">
                <a16:creationId xmlns:a16="http://schemas.microsoft.com/office/drawing/2014/main" id="{7B15CF12-14BF-BFA9-B38C-D642C30341C5}"/>
              </a:ext>
            </a:extLst>
          </p:cNvPr>
          <p:cNvSpPr txBox="1">
            <a:spLocks/>
          </p:cNvSpPr>
          <p:nvPr/>
        </p:nvSpPr>
        <p:spPr>
          <a:xfrm>
            <a:off x="980938" y="5131088"/>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rPr>
              <a:t>Source: </a:t>
            </a:r>
            <a:r>
              <a:rPr lang="en-GB" sz="600" b="0">
                <a:solidFill>
                  <a:schemeClr val="tx2"/>
                </a:solidFill>
                <a:cs typeface="Arial" pitchFamily="34" charset="0"/>
              </a:rPr>
              <a:t>P-L January 2019, P-L January 2020, P-L January 2021, P-L September 2021 </a:t>
            </a:r>
            <a:endParaRPr lang="en-US" sz="600" b="0">
              <a:solidFill>
                <a:schemeClr val="tx2"/>
              </a:solidFill>
            </a:endParaRPr>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36" name="Rectangle 35">
            <a:extLst>
              <a:ext uri="{FF2B5EF4-FFF2-40B4-BE49-F238E27FC236}">
                <a16:creationId xmlns:a16="http://schemas.microsoft.com/office/drawing/2014/main" id="{B981D78B-CB77-969C-8691-098A99E0C421}"/>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37" name="Rectangle 36">
            <a:extLst>
              <a:ext uri="{FF2B5EF4-FFF2-40B4-BE49-F238E27FC236}">
                <a16:creationId xmlns:a16="http://schemas.microsoft.com/office/drawing/2014/main" id="{CFA33AD3-6C49-F124-7C40-568FFB4CBFFB}"/>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38" name="Rectangle 37">
            <a:extLst>
              <a:ext uri="{FF2B5EF4-FFF2-40B4-BE49-F238E27FC236}">
                <a16:creationId xmlns:a16="http://schemas.microsoft.com/office/drawing/2014/main" id="{A6B72CF7-59BD-8978-9CE7-5F733FF2AA80}"/>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9" name="Rectangle 78">
            <a:extLst>
              <a:ext uri="{FF2B5EF4-FFF2-40B4-BE49-F238E27FC236}">
                <a16:creationId xmlns:a16="http://schemas.microsoft.com/office/drawing/2014/main" id="{B3B40125-356F-4A22-8017-4A7FD73C26B4}"/>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30" name="Picture 29">
            <a:extLst>
              <a:ext uri="{FF2B5EF4-FFF2-40B4-BE49-F238E27FC236}">
                <a16:creationId xmlns:a16="http://schemas.microsoft.com/office/drawing/2014/main" id="{1C0A1B69-A8F8-4C19-A33E-7B5F65E1DE76}"/>
              </a:ext>
            </a:extLst>
          </p:cNvPr>
          <p:cNvPicPr>
            <a:picLocks noChangeAspect="1"/>
          </p:cNvPicPr>
          <p:nvPr>
            <p:custDataLst>
              <p:tags r:id="rId3"/>
            </p:custDataLst>
          </p:nvPr>
        </p:nvPicPr>
        <p:blipFill>
          <a:blip r:embed="rId11"/>
          <a:stretch>
            <a:fillRect/>
          </a:stretch>
        </p:blipFill>
        <p:spPr>
          <a:xfrm>
            <a:off x="8743814" y="397609"/>
            <a:ext cx="2475728" cy="1486960"/>
          </a:xfrm>
          <a:prstGeom prst="rect">
            <a:avLst/>
          </a:prstGeom>
        </p:spPr>
      </p:pic>
      <p:sp>
        <p:nvSpPr>
          <p:cNvPr id="40" name="Text Placeholder 12">
            <a:extLst>
              <a:ext uri="{FF2B5EF4-FFF2-40B4-BE49-F238E27FC236}">
                <a16:creationId xmlns:a16="http://schemas.microsoft.com/office/drawing/2014/main" id="{64897DC9-94E2-4F1A-9EA4-B634B0DD211E}"/>
              </a:ext>
            </a:extLst>
          </p:cNvPr>
          <p:cNvSpPr txBox="1">
            <a:spLocks/>
          </p:cNvSpPr>
          <p:nvPr/>
        </p:nvSpPr>
        <p:spPr>
          <a:xfrm>
            <a:off x="995361" y="6127691"/>
            <a:ext cx="3453442"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5" name="UpSlide SubSection Marker" hidden="1">
            <a:extLst>
              <a:ext uri="{FF2B5EF4-FFF2-40B4-BE49-F238E27FC236}">
                <a16:creationId xmlns:a16="http://schemas.microsoft.com/office/drawing/2014/main" id="{00A791E3-FB22-409F-84A4-E835AC7B5E1D}"/>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Profit &amp; loss overview</a:t>
            </a:r>
            <a:endParaRPr lang="en-GB" sz="900" dirty="0">
              <a:solidFill>
                <a:schemeClr val="bg1"/>
              </a:solidFill>
            </a:endParaRPr>
          </a:p>
        </p:txBody>
      </p:sp>
      <p:sp>
        <p:nvSpPr>
          <p:cNvPr id="9" name="Rectangle 8">
            <a:hlinkClick r:id="rId12" action="ppaction://hlinksldjump"/>
            <a:extLst>
              <a:ext uri="{FF2B5EF4-FFF2-40B4-BE49-F238E27FC236}">
                <a16:creationId xmlns:a16="http://schemas.microsoft.com/office/drawing/2014/main" id="{C415AD3B-773E-48D1-B7E7-CDC2A4D49448}"/>
              </a:ext>
            </a:extLst>
          </p:cNvPr>
          <p:cNvSpPr/>
          <p:nvPr/>
        </p:nvSpPr>
        <p:spPr>
          <a:xfrm>
            <a:off x="8067813" y="3230880"/>
            <a:ext cx="940720" cy="198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62" name="Rectangle 61">
            <a:hlinkClick r:id="rId13" action="ppaction://hlinksldjump"/>
            <a:extLst>
              <a:ext uri="{FF2B5EF4-FFF2-40B4-BE49-F238E27FC236}">
                <a16:creationId xmlns:a16="http://schemas.microsoft.com/office/drawing/2014/main" id="{468FFC4F-53C5-4B28-BCBA-EAE1C6F406EC}"/>
              </a:ext>
            </a:extLst>
          </p:cNvPr>
          <p:cNvSpPr/>
          <p:nvPr/>
        </p:nvSpPr>
        <p:spPr>
          <a:xfrm>
            <a:off x="9154929" y="3234268"/>
            <a:ext cx="940720" cy="198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64" name="Rectangle 63">
            <a:hlinkClick r:id="rId14" action="ppaction://hlinksldjump"/>
            <a:extLst>
              <a:ext uri="{FF2B5EF4-FFF2-40B4-BE49-F238E27FC236}">
                <a16:creationId xmlns:a16="http://schemas.microsoft.com/office/drawing/2014/main" id="{E6371821-D342-4FA0-9EFF-F1F328039AB2}"/>
              </a:ext>
            </a:extLst>
          </p:cNvPr>
          <p:cNvSpPr/>
          <p:nvPr/>
        </p:nvSpPr>
        <p:spPr>
          <a:xfrm>
            <a:off x="9008533" y="5248406"/>
            <a:ext cx="940720" cy="198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66" name="Rectangle 65">
            <a:hlinkClick r:id="rId15" action="ppaction://hlinksldjump"/>
            <a:extLst>
              <a:ext uri="{FF2B5EF4-FFF2-40B4-BE49-F238E27FC236}">
                <a16:creationId xmlns:a16="http://schemas.microsoft.com/office/drawing/2014/main" id="{D3ACD038-E23E-4F6C-91B3-C76643B61E2A}"/>
              </a:ext>
            </a:extLst>
          </p:cNvPr>
          <p:cNvSpPr/>
          <p:nvPr/>
        </p:nvSpPr>
        <p:spPr>
          <a:xfrm>
            <a:off x="8334587" y="5904363"/>
            <a:ext cx="940720" cy="198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pic>
        <p:nvPicPr>
          <p:cNvPr id="7" name="Picture 6">
            <a:extLst>
              <a:ext uri="{FF2B5EF4-FFF2-40B4-BE49-F238E27FC236}">
                <a16:creationId xmlns:a16="http://schemas.microsoft.com/office/drawing/2014/main" id="{EA2A21E2-070A-4F12-A86E-09B8ABB28DD8}"/>
              </a:ext>
            </a:extLst>
          </p:cNvPr>
          <p:cNvPicPr>
            <a:picLocks noChangeAspect="1"/>
          </p:cNvPicPr>
          <p:nvPr>
            <p:custDataLst>
              <p:tags r:id="rId5"/>
            </p:custDataLst>
          </p:nvPr>
        </p:nvPicPr>
        <p:blipFill>
          <a:blip r:embed="rId16"/>
          <a:stretch>
            <a:fillRect/>
          </a:stretch>
        </p:blipFill>
        <p:spPr>
          <a:xfrm>
            <a:off x="969333" y="1905751"/>
            <a:ext cx="4991100" cy="4169800"/>
          </a:xfrm>
          <a:prstGeom prst="rect">
            <a:avLst/>
          </a:prstGeom>
        </p:spPr>
      </p:pic>
      <p:grpSp>
        <p:nvGrpSpPr>
          <p:cNvPr id="8" name="Group 7">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9" name="Other Sections1">
              <a:hlinkClick r:id="rId1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1" name="Current Section2">
              <a:hlinkClick r:id="rId18"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2" name="Other Sections3">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3" name="Other Sections4">
              <a:hlinkClick r:id="rId20"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4" name="Other Sections5">
              <a:hlinkClick r:id="rId21"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5" name="Other Sections6">
              <a:hlinkClick r:id="rId22"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6" name="Other Sections7">
              <a:hlinkClick r:id="rId23"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66577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(1/7)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p:txBody>
          <a:bodyPr/>
          <a:lstStyle/>
          <a:p>
            <a:r>
              <a:rPr lang="fi-FI"/>
              <a:t>Exceptional costs</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4815356" y="2235228"/>
            <a:ext cx="3132000" cy="3996132"/>
          </a:xfrm>
        </p:spPr>
        <p:txBody>
          <a:bodyPr/>
          <a:lstStyle/>
          <a:p>
            <a:pPr marL="228600" indent="-228600">
              <a:buFont typeface="+mj-lt"/>
              <a:buAutoNum type="arabicPeriod"/>
            </a:pPr>
            <a:r>
              <a:rPr lang="en-GB" b="0" dirty="0">
                <a:solidFill>
                  <a:schemeClr val="tx1"/>
                </a:solidFill>
              </a:rPr>
              <a:t>Warehouse relocation – Y changed 3PL provider from Logistics A (based in </a:t>
            </a:r>
            <a:r>
              <a:rPr lang="en-GB" b="0" dirty="0" err="1">
                <a:solidFill>
                  <a:schemeClr val="tx1"/>
                </a:solidFill>
              </a:rPr>
              <a:t>yy</a:t>
            </a:r>
            <a:r>
              <a:rPr lang="en-GB" b="0" dirty="0">
                <a:solidFill>
                  <a:schemeClr val="tx1"/>
                </a:solidFill>
              </a:rPr>
              <a:t>) to Logistics C (based in </a:t>
            </a:r>
            <a:r>
              <a:rPr lang="en-GB" b="0" dirty="0" err="1">
                <a:solidFill>
                  <a:schemeClr val="tx1"/>
                </a:solidFill>
              </a:rPr>
              <a:t>yy</a:t>
            </a:r>
            <a:r>
              <a:rPr lang="en-GB" b="0" dirty="0">
                <a:solidFill>
                  <a:schemeClr val="tx1"/>
                </a:solidFill>
              </a:rPr>
              <a:t>) in July 2021, resulting in a warehouse relocation. Although £0.1 million of the expenditure related to the IT migration and was therefore capitalised (in line with the advice provided by the auditors), exceptional expenditure of £0.2 million was incurred in July, largely relating to:</a:t>
            </a:r>
          </a:p>
          <a:p>
            <a:pPr marL="171450" indent="-171450">
              <a:buFont typeface="Arial" panose="020B0604020202020204" pitchFamily="34" charset="0"/>
              <a:buChar char="•"/>
            </a:pPr>
            <a:r>
              <a:rPr lang="en-GB" b="0" dirty="0">
                <a:solidFill>
                  <a:schemeClr val="tx1"/>
                </a:solidFill>
              </a:rPr>
              <a:t>TUPE and redundancy costs (£0.1 million) – staff were given the opportunity to relocate, no employees took up that right and all accepted redundancy;</a:t>
            </a:r>
          </a:p>
          <a:p>
            <a:pPr marL="171450" indent="-171450">
              <a:buFont typeface="Arial" panose="020B0604020202020204" pitchFamily="34" charset="0"/>
              <a:buChar char="•"/>
            </a:pPr>
            <a:r>
              <a:rPr lang="en-GB" b="0" dirty="0">
                <a:solidFill>
                  <a:schemeClr val="tx1"/>
                </a:solidFill>
              </a:rPr>
              <a:t>Logistics A early termination fee (£50,000);</a:t>
            </a:r>
          </a:p>
          <a:p>
            <a:pPr marL="171450" indent="-171450">
              <a:buFont typeface="Arial" panose="020B0604020202020204" pitchFamily="34" charset="0"/>
              <a:buChar char="•"/>
            </a:pPr>
            <a:r>
              <a:rPr lang="en-GB" b="0" dirty="0">
                <a:solidFill>
                  <a:schemeClr val="tx1"/>
                </a:solidFill>
              </a:rPr>
              <a:t>overlapping running costs (£50,000); and </a:t>
            </a:r>
          </a:p>
          <a:p>
            <a:pPr marL="171450" indent="-171450">
              <a:buFont typeface="Arial" panose="020B0604020202020204" pitchFamily="34" charset="0"/>
              <a:buChar char="•"/>
            </a:pPr>
            <a:r>
              <a:rPr lang="en-GB" b="0" dirty="0">
                <a:solidFill>
                  <a:schemeClr val="tx1"/>
                </a:solidFill>
              </a:rPr>
              <a:t>the relocation of stock (£20,000).</a:t>
            </a:r>
          </a:p>
          <a:p>
            <a:r>
              <a:rPr lang="en-GB" b="0" dirty="0">
                <a:solidFill>
                  <a:schemeClr val="tx1"/>
                </a:solidFill>
              </a:rPr>
              <a:t>We agree with the treatment of these costs as exceptional (below EBITDA). </a:t>
            </a:r>
          </a:p>
          <a:p>
            <a:endParaRPr lang="fi-FI" b="0" dirty="0">
              <a:solidFill>
                <a:schemeClr val="tx1"/>
              </a:solidFill>
            </a:endParaRP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8067813" y="2235228"/>
            <a:ext cx="3132000" cy="3632772"/>
          </a:xfrm>
        </p:spPr>
        <p:txBody>
          <a:bodyPr/>
          <a:lstStyle/>
          <a:p>
            <a:pPr marL="228600" indent="-228600">
              <a:buFont typeface="+mj-lt"/>
              <a:buAutoNum type="arabicPeriod" startAt="2"/>
            </a:pPr>
            <a:r>
              <a:rPr lang="en-GB" b="0">
                <a:solidFill>
                  <a:schemeClr val="tx1"/>
                </a:solidFill>
              </a:rPr>
              <a:t>Redundancy costs – The head office was restructured in FY19, resulting in the redundancy of the Head of Finance, Head of Operations and PR Manager, who were indirectly replaced by the COO and the Growth Director. Management has adjusted for the redundancy costs on the basis that they were exceptional. </a:t>
            </a:r>
          </a:p>
          <a:p>
            <a:pPr marL="180972" lvl="3" indent="0">
              <a:buNone/>
            </a:pPr>
            <a:r>
              <a:rPr lang="en-GB"/>
              <a:t>Due to the seniority of the roles, we agree with the treatment of this cost. We have also removed the redundancy accrual for the PR manager from net working capital.</a:t>
            </a:r>
          </a:p>
          <a:p>
            <a:endParaRPr lang="fi-FI" b="0">
              <a:solidFill>
                <a:schemeClr val="tx1"/>
              </a:solidFill>
            </a:endParaRPr>
          </a:p>
        </p:txBody>
      </p:sp>
      <p:sp>
        <p:nvSpPr>
          <p:cNvPr id="2" name="Text Placeholder 1">
            <a:extLst>
              <a:ext uri="{FF2B5EF4-FFF2-40B4-BE49-F238E27FC236}">
                <a16:creationId xmlns:a16="http://schemas.microsoft.com/office/drawing/2014/main" id="{15E06517-56D8-48A7-9C6D-1B212C973645}"/>
              </a:ext>
            </a:extLst>
          </p:cNvPr>
          <p:cNvSpPr>
            <a:spLocks noGrp="1"/>
          </p:cNvSpPr>
          <p:nvPr>
            <p:ph type="body" sz="quarter" idx="10"/>
          </p:nvPr>
        </p:nvSpPr>
        <p:spPr/>
        <p:txBody>
          <a:bodyPr/>
          <a:lstStyle/>
          <a:p>
            <a:r>
              <a:rPr lang="en-GB" sz="1000"/>
              <a:t>In the outturn period Management has identified exceptional costs and accounted for these below EBITDA. Reported EBITDA of £8.0 million in FY22 is therefore exclusive of the below costs.</a:t>
            </a:r>
          </a:p>
          <a:p>
            <a:endParaRPr lang="fi-FI"/>
          </a:p>
        </p:txBody>
      </p:sp>
      <p:sp>
        <p:nvSpPr>
          <p:cNvPr id="20" name="Text Placeholder 12">
            <a:extLst>
              <a:ext uri="{FF2B5EF4-FFF2-40B4-BE49-F238E27FC236}">
                <a16:creationId xmlns:a16="http://schemas.microsoft.com/office/drawing/2014/main" id="{1BCDF587-4BFE-A32A-C4D3-1A634498F6A2}"/>
              </a:ext>
            </a:extLst>
          </p:cNvPr>
          <p:cNvSpPr txBox="1">
            <a:spLocks/>
          </p:cNvSpPr>
          <p:nvPr/>
        </p:nvSpPr>
        <p:spPr>
          <a:xfrm>
            <a:off x="980938" y="573156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rPr>
              <a:t>Source (all): </a:t>
            </a:r>
            <a:r>
              <a:rPr lang="en-GB" sz="600" b="0" dirty="0">
                <a:cs typeface="Arial" pitchFamily="34" charset="0"/>
              </a:rPr>
              <a:t>6.1.6.2.1._Adjusted Earnings for FYE Jan 19, Jan 20, Jan21 and Jan 22</a:t>
            </a:r>
            <a:endParaRPr lang="en-US" sz="600" b="0" dirty="0">
              <a:solidFill>
                <a:schemeClr val="tx2"/>
              </a:solidFill>
            </a:endParaRP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17" name="Picture 16">
            <a:extLst>
              <a:ext uri="{FF2B5EF4-FFF2-40B4-BE49-F238E27FC236}">
                <a16:creationId xmlns:a16="http://schemas.microsoft.com/office/drawing/2014/main" id="{15CD1660-2D08-4328-BC60-B7CA06B0651A}"/>
              </a:ext>
            </a:extLst>
          </p:cNvPr>
          <p:cNvPicPr>
            <a:picLocks noChangeAspect="1"/>
          </p:cNvPicPr>
          <p:nvPr>
            <p:custDataLst>
              <p:tags r:id="rId3"/>
            </p:custDataLst>
          </p:nvPr>
        </p:nvPicPr>
        <p:blipFill>
          <a:blip r:embed="rId10"/>
          <a:stretch>
            <a:fillRect/>
          </a:stretch>
        </p:blipFill>
        <p:spPr>
          <a:xfrm>
            <a:off x="8379761" y="492112"/>
            <a:ext cx="2860030" cy="1427601"/>
          </a:xfrm>
          <a:prstGeom prst="rect">
            <a:avLst/>
          </a:prstGeom>
        </p:spPr>
      </p:pic>
      <p:pic>
        <p:nvPicPr>
          <p:cNvPr id="9" name="Picture 8">
            <a:extLst>
              <a:ext uri="{FF2B5EF4-FFF2-40B4-BE49-F238E27FC236}">
                <a16:creationId xmlns:a16="http://schemas.microsoft.com/office/drawing/2014/main" id="{167171B7-6609-440F-A949-A30C786688BB}"/>
              </a:ext>
            </a:extLst>
          </p:cNvPr>
          <p:cNvPicPr>
            <a:picLocks noChangeAspect="1"/>
          </p:cNvPicPr>
          <p:nvPr>
            <p:custDataLst>
              <p:tags r:id="rId4"/>
            </p:custDataLst>
          </p:nvPr>
        </p:nvPicPr>
        <p:blipFill>
          <a:blip r:embed="rId11"/>
          <a:stretch>
            <a:fillRect/>
          </a:stretch>
        </p:blipFill>
        <p:spPr>
          <a:xfrm>
            <a:off x="998398" y="1903314"/>
            <a:ext cx="3686175" cy="3524145"/>
          </a:xfrm>
          <a:prstGeom prst="rect">
            <a:avLst/>
          </a:prstGeom>
        </p:spPr>
      </p:pic>
      <p:sp>
        <p:nvSpPr>
          <p:cNvPr id="4" name="UpSlide SubSection Marker" hidden="1">
            <a:extLst>
              <a:ext uri="{FF2B5EF4-FFF2-40B4-BE49-F238E27FC236}">
                <a16:creationId xmlns:a16="http://schemas.microsoft.com/office/drawing/2014/main" id="{D4F40DC4-071E-4EDC-A6A4-1C5DFAA19BAA}"/>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4" name="Group 33">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43051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980938" y="2235228"/>
            <a:ext cx="4987471" cy="3996132"/>
          </a:xfrm>
        </p:spPr>
        <p:txBody>
          <a:bodyPr/>
          <a:lstStyle/>
          <a:p>
            <a:pPr marL="228600" indent="-228600">
              <a:spcAft>
                <a:spcPts val="200"/>
              </a:spcAft>
              <a:buFont typeface="+mj-lt"/>
              <a:buAutoNum type="arabicPeriod" startAt="3"/>
            </a:pPr>
            <a:r>
              <a:rPr lang="en-GB" b="0" dirty="0">
                <a:solidFill>
                  <a:schemeClr val="tx1"/>
                </a:solidFill>
              </a:rPr>
              <a:t>Department store A minimum guarantee – There is a £0.2 million minimum guarantee should sales fall short of the minimum requirement. Y accrue for this monthly (on the basis of monthly actual sales vs. the minimum threshold), resulting in a full accrual of £0.2 million at January 2021 and an additional £0.1 million in H1 FY22.  To date, Department store A have not communicated their intention to impose the minimum guarantee, neither have they invoiced for this balance at the date of our report, therefore Management deems it unlikely that it will be enforced given the length of time that has passed and that the stores were closed due to Covid-19.</a:t>
            </a:r>
          </a:p>
          <a:p>
            <a:pPr marL="180972" lvl="3" indent="0">
              <a:spcAft>
                <a:spcPts val="200"/>
              </a:spcAft>
              <a:buNone/>
            </a:pPr>
            <a:r>
              <a:rPr lang="en-GB" dirty="0"/>
              <a:t>Management has released £57,000 relating to the lockdown in May 2021 and the remaining balance (accrued between August 2020 and January 2021) is being released evenly between August 2021 and January 2022 (£0.2 million) for which we have reversed.</a:t>
            </a:r>
          </a:p>
          <a:p>
            <a:pPr marL="180972" lvl="3" indent="0">
              <a:spcAft>
                <a:spcPts val="200"/>
              </a:spcAft>
              <a:buNone/>
            </a:pPr>
            <a:r>
              <a:rPr lang="en-GB" dirty="0"/>
              <a:t>On the basis it seems unlikely that they will be incurred for the periods of closure, we concur with Management’s adjustment and have also removed the accrual from net working capital. </a:t>
            </a:r>
          </a:p>
          <a:p>
            <a:pPr marL="180972" lvl="3" indent="0">
              <a:spcAft>
                <a:spcPts val="200"/>
              </a:spcAft>
              <a:buNone/>
            </a:pPr>
            <a:r>
              <a:rPr lang="en-GB" dirty="0"/>
              <a:t>We note that Management has accrued £43,000 relating to H2 FY22 now that the concessions have reopened and sales continue to be subdued partially due to lower tourist numbers in the concession stores. Management consider this to be a cautious position and whether this balance is enforced is likely to be down to commercial negotiations. </a:t>
            </a:r>
          </a:p>
          <a:p>
            <a:pPr marL="228600" indent="-228600">
              <a:spcAft>
                <a:spcPts val="200"/>
              </a:spcAft>
              <a:buFont typeface="+mj-lt"/>
              <a:buAutoNum type="arabicPeriod" startAt="4"/>
            </a:pPr>
            <a:r>
              <a:rPr lang="en-GB" b="0" dirty="0">
                <a:solidFill>
                  <a:schemeClr val="tx1"/>
                </a:solidFill>
              </a:rPr>
              <a:t>NED costs – This adjustment relates to the full salary for the Chairman, who has an advisory role through attendance at the quarterly Board meetings in addition to meeting with senior management monthly. You would need to consider the cost of your own Board structure post completion.</a:t>
            </a:r>
          </a:p>
          <a:p>
            <a:pPr>
              <a:spcAft>
                <a:spcPts val="200"/>
              </a:spcAft>
            </a:pPr>
            <a:endParaRPr lang="fi-FI" b="0" dirty="0">
              <a:solidFill>
                <a:schemeClr val="tx1"/>
              </a:solidFill>
            </a:endParaRP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6212343" y="2235228"/>
            <a:ext cx="4987471" cy="3632772"/>
          </a:xfrm>
        </p:spPr>
        <p:txBody>
          <a:bodyPr/>
          <a:lstStyle/>
          <a:p>
            <a:pPr marL="228600" indent="-228600">
              <a:spcAft>
                <a:spcPts val="200"/>
              </a:spcAft>
              <a:buFont typeface="+mj-lt"/>
              <a:buAutoNum type="arabicPeriod" startAt="5"/>
            </a:pPr>
            <a:r>
              <a:rPr lang="en-GB" b="0" dirty="0">
                <a:solidFill>
                  <a:schemeClr val="tx1"/>
                </a:solidFill>
              </a:rPr>
              <a:t>October performance – Y performed strongly in October 2021, generating sales £1.0 million higher than assumed in the forecast. We have proposed a potential adjustment to reflect the EBITDA impact as a result of the overperformance. Management has derived the EBITDA impact based on margins achieved in September 2021. Management has confirmed that the cost base should be in line with budgeted levels however we have not been able to confirm this as full management accounts were not available at the date of this report. We recommend you consider the actual October 2021 EBITDA performance once available.</a:t>
            </a:r>
          </a:p>
          <a:p>
            <a:pPr marL="228600" indent="-228600">
              <a:spcAft>
                <a:spcPts val="200"/>
              </a:spcAft>
              <a:buFont typeface="+mj-lt"/>
              <a:buAutoNum type="arabicPeriod" startAt="5"/>
            </a:pPr>
            <a:r>
              <a:rPr lang="en-GB" b="0" dirty="0">
                <a:solidFill>
                  <a:schemeClr val="tx1"/>
                </a:solidFill>
              </a:rPr>
              <a:t>Week 53 impact – The business accounts on a 4-4-5 basis, resulting in the FY21 financial year having a 53rd week. Management accounted for this week within January 2021, resulting in a six week month. Management has provided an EBITDA schedule for this week, based on online gross profit (as both boutiques and concessions were closed under Covid-19 restrictions), fulfilment costs and digital acquisition costs. Direct costs have been estimated on the basis of these costs as a percentage of sales throughout the month of January, whilst acquisition costs relate to the actual costs incurred with </a:t>
            </a:r>
            <a:r>
              <a:rPr lang="en-GB" b="0" dirty="0" err="1">
                <a:solidFill>
                  <a:schemeClr val="tx1"/>
                </a:solidFill>
              </a:rPr>
              <a:t>yy</a:t>
            </a:r>
            <a:r>
              <a:rPr lang="en-GB" b="0" dirty="0">
                <a:solidFill>
                  <a:schemeClr val="tx1"/>
                </a:solidFill>
              </a:rPr>
              <a:t> in the 53rd week. We have made an adjustment to remove the EBITDA generated in the 53rd week.</a:t>
            </a:r>
          </a:p>
          <a:p>
            <a:pPr marL="228600" indent="-228600">
              <a:spcAft>
                <a:spcPts val="200"/>
              </a:spcAft>
              <a:buFont typeface="+mj-lt"/>
              <a:buAutoNum type="arabicPeriod" startAt="7"/>
            </a:pPr>
            <a:r>
              <a:rPr lang="en-GB" b="0" dirty="0">
                <a:solidFill>
                  <a:schemeClr val="tx1"/>
                </a:solidFill>
              </a:rPr>
              <a:t>Head office pay cut – Head office employees received a 20% pay cut in March and April 2020 amidst the uncertainty surrounding the Covid-19 pandemic. However, as this was repaid within the April 2021 payroll and there was no reduction in hours associated with this pay cut, we have adjusted to recognise the full salary costs in the period in which they were earned. </a:t>
            </a:r>
          </a:p>
          <a:p>
            <a:pPr>
              <a:spcAft>
                <a:spcPts val="200"/>
              </a:spcAft>
            </a:pPr>
            <a:endParaRPr lang="fi-FI" b="0" dirty="0">
              <a:solidFill>
                <a:schemeClr val="tx1"/>
              </a:solidFill>
            </a:endParaRPr>
          </a:p>
        </p:txBody>
      </p:sp>
      <p:sp>
        <p:nvSpPr>
          <p:cNvPr id="2" name="Text Placeholder 1">
            <a:extLst>
              <a:ext uri="{FF2B5EF4-FFF2-40B4-BE49-F238E27FC236}">
                <a16:creationId xmlns:a16="http://schemas.microsoft.com/office/drawing/2014/main" id="{15E06517-56D8-48A7-9C6D-1B212C973645}"/>
              </a:ext>
            </a:extLst>
          </p:cNvPr>
          <p:cNvSpPr>
            <a:spLocks noGrp="1"/>
          </p:cNvSpPr>
          <p:nvPr>
            <p:ph type="body" sz="quarter" idx="10"/>
          </p:nvPr>
        </p:nvSpPr>
        <p:spPr>
          <a:xfrm>
            <a:off x="995361" y="1294281"/>
            <a:ext cx="10182078" cy="460800"/>
          </a:xfrm>
        </p:spPr>
        <p:txBody>
          <a:bodyPr/>
          <a:lstStyle/>
          <a:p>
            <a:r>
              <a:rPr lang="en-GB" dirty="0"/>
              <a:t>Management has undertaken an exercise for Project Y to identify adjustments to reported EBITDA that it considers to be one-off or non-recurring in nature such as a minimum guarantee and the NED costs. Throughout the course of our work we have identified a number of additional adjustments that we consider to be one-off, non-recurring or exceptional in nature.</a:t>
            </a:r>
          </a:p>
          <a:p>
            <a:endParaRPr lang="en-GB" dirty="0"/>
          </a:p>
          <a:p>
            <a:endParaRPr lang="fi-FI" dirty="0"/>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a:xfrm>
            <a:off x="1003313" y="1912838"/>
            <a:ext cx="4965096" cy="252000"/>
          </a:xfrm>
        </p:spPr>
        <p:txBody>
          <a:bodyPr/>
          <a:lstStyle/>
          <a:p>
            <a:r>
              <a:rPr lang="fi-FI"/>
              <a:t>Management adjustments</a:t>
            </a:r>
          </a:p>
        </p:txBody>
      </p:sp>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(2/7)</a:t>
            </a: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9" name="Text Placeholder 2">
            <a:extLst>
              <a:ext uri="{FF2B5EF4-FFF2-40B4-BE49-F238E27FC236}">
                <a16:creationId xmlns:a16="http://schemas.microsoft.com/office/drawing/2014/main" id="{45184DDC-39E4-45CB-AFD0-FD68F25B02F1}"/>
              </a:ext>
            </a:extLst>
          </p:cNvPr>
          <p:cNvSpPr txBox="1">
            <a:spLocks/>
          </p:cNvSpPr>
          <p:nvPr/>
        </p:nvSpPr>
        <p:spPr>
          <a:xfrm>
            <a:off x="6212343" y="1912838"/>
            <a:ext cx="4965096" cy="252000"/>
          </a:xfrm>
          <a:prstGeom prst="rect">
            <a:avLst/>
          </a:prstGeom>
          <a:solidFill>
            <a:schemeClr val="tx2"/>
          </a:solidFill>
        </p:spPr>
        <p:txBody>
          <a:bodyPr vert="horz" lIns="72000" tIns="0" rIns="72000" bIns="0" rtlCol="0" anchor="ctr" anchorCtr="0">
            <a:noAutofit/>
          </a:bodyPr>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fi-FI"/>
              <a:t>Potential adjustments</a:t>
            </a:r>
          </a:p>
        </p:txBody>
      </p:sp>
      <p:sp>
        <p:nvSpPr>
          <p:cNvPr id="4" name="UpSlide SubSection Marker" hidden="1">
            <a:extLst>
              <a:ext uri="{FF2B5EF4-FFF2-40B4-BE49-F238E27FC236}">
                <a16:creationId xmlns:a16="http://schemas.microsoft.com/office/drawing/2014/main" id="{EB785F89-5D07-458E-A533-6A6E7421FBD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2" name="Group 31">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99494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(3/7)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a:xfrm>
            <a:off x="1022663" y="1912838"/>
            <a:ext cx="10179093" cy="252000"/>
          </a:xfrm>
        </p:spPr>
        <p:txBody>
          <a:bodyPr/>
          <a:lstStyle/>
          <a:p>
            <a:r>
              <a:rPr lang="fi-FI"/>
              <a:t>Potential adjustments</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4815356" y="2235228"/>
            <a:ext cx="3252457" cy="3996132"/>
          </a:xfrm>
        </p:spPr>
        <p:txBody>
          <a:bodyPr/>
          <a:lstStyle/>
          <a:p>
            <a:pPr marL="228600" indent="-228600">
              <a:buFont typeface="+mj-lt"/>
              <a:buAutoNum type="arabicPeriod" startAt="5"/>
            </a:pPr>
            <a:endParaRPr lang="en-GB" sz="900"/>
          </a:p>
          <a:p>
            <a:endParaRPr lang="fi-FI" sz="900"/>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1009738" y="2235228"/>
            <a:ext cx="4972847" cy="3632772"/>
          </a:xfrm>
        </p:spPr>
        <p:txBody>
          <a:bodyPr/>
          <a:lstStyle/>
          <a:p>
            <a:pPr marL="228600" indent="-228600">
              <a:spcAft>
                <a:spcPts val="200"/>
              </a:spcAft>
              <a:buFont typeface="+mj-lt"/>
              <a:buAutoNum type="arabicPeriod" startAt="8"/>
            </a:pPr>
            <a:r>
              <a:rPr lang="en-GB" sz="950" b="0" dirty="0">
                <a:solidFill>
                  <a:schemeClr val="tx1"/>
                </a:solidFill>
              </a:rPr>
              <a:t>Release of accruals / provisions – A number of provisions and accruals were made by Management during the historical period, however, Management considers that the amounts provided were too high, and have released an element of the provision in the forecast. We have adjusted underlying earnings and net working capital to ensure that the incurred cost and associated accrual is recognised in the correct period. The accruals relate to the following:</a:t>
            </a:r>
          </a:p>
          <a:p>
            <a:pPr marL="466720" lvl="2" indent="-285750">
              <a:spcAft>
                <a:spcPts val="200"/>
              </a:spcAft>
              <a:buFont typeface="+mj-lt"/>
              <a:buAutoNum type="romanLcPeriod"/>
            </a:pPr>
            <a:r>
              <a:rPr lang="en-GB" sz="950" dirty="0"/>
              <a:t>IT licence (£60,000) – An accrual was made in January 2021 for the Magento licence cost on the assumption that Y would move up a price band, but the licence has been renewed at the original rate, with Management releasing this accrual evenly from August 2021 to January 2022. </a:t>
            </a:r>
          </a:p>
          <a:p>
            <a:pPr marL="466720" lvl="2" indent="-285750">
              <a:spcAft>
                <a:spcPts val="200"/>
              </a:spcAft>
              <a:buFont typeface="+mj-lt"/>
              <a:buAutoNum type="romanLcPeriod" startAt="2"/>
            </a:pPr>
            <a:r>
              <a:rPr lang="en-GB" sz="950" dirty="0"/>
              <a:t>Freelance staff (£75,000) – A provision was made in YTD22 for additional freelance resource, mostly in relation to designers, £35,000 of which Management is intending to utilise in the outturn period and release £40,000 evenly from August 2021. On this basis the cost is overstated in LTM22 and we have reallocated planned actual spend into FY22. </a:t>
            </a:r>
          </a:p>
          <a:p>
            <a:pPr marL="466720" lvl="2" indent="-285750">
              <a:spcAft>
                <a:spcPts val="200"/>
              </a:spcAft>
              <a:buFont typeface="+mj-lt"/>
              <a:buAutoNum type="romanLcPeriod" startAt="2"/>
            </a:pPr>
            <a:r>
              <a:rPr lang="en-GB" sz="950" dirty="0"/>
              <a:t>Photoshoot (£51,000) – A £77,000 provision was made between February and April 2021 for shoot days for campaigns that was only partially used. Management plan to utilise the remaining provision (£51,000) during shoots planned between October 2021 and January 2022. We have therefore reallocated the costs between LTM22 and FY22 outturn. </a:t>
            </a:r>
          </a:p>
          <a:p>
            <a:pPr marL="466720" lvl="2" indent="-285750">
              <a:spcAft>
                <a:spcPts val="200"/>
              </a:spcAft>
              <a:buFont typeface="+mj-lt"/>
              <a:buAutoNum type="romanLcPeriod" startAt="2"/>
            </a:pPr>
            <a:r>
              <a:rPr lang="en-GB" sz="950" dirty="0"/>
              <a:t>Travel and entertainment (£35,000) – Management provided for travel costs in H2 FY22 for resumed international trips for buyers. Due to ongoing travel restrictions, Management expect to release these costs in the FY22 outturn. Therefore, the cost incurred in LTM22 is overstated and we have adjusted for this balance. We note Management state the costs will be used to partially offset Christmas party costs. We have not sought to adjust for this as the amount is currently unknown but note that the summer party cost £9,000.</a:t>
            </a:r>
          </a:p>
          <a:p>
            <a:pPr marL="466720" lvl="2" indent="-285750">
              <a:spcAft>
                <a:spcPts val="200"/>
              </a:spcAft>
              <a:buFont typeface="+mj-lt"/>
              <a:buAutoNum type="romanLcPeriod"/>
            </a:pPr>
            <a:endParaRPr lang="en-GB" sz="950" dirty="0"/>
          </a:p>
          <a:p>
            <a:pPr>
              <a:spcAft>
                <a:spcPts val="200"/>
              </a:spcAft>
            </a:pPr>
            <a:endParaRPr lang="fi-FI" sz="950" b="0" dirty="0">
              <a:solidFill>
                <a:schemeClr val="tx1"/>
              </a:solidFill>
            </a:endParaRPr>
          </a:p>
        </p:txBody>
      </p:sp>
      <p:sp>
        <p:nvSpPr>
          <p:cNvPr id="2" name="Text Placeholder 1">
            <a:extLst>
              <a:ext uri="{FF2B5EF4-FFF2-40B4-BE49-F238E27FC236}">
                <a16:creationId xmlns:a16="http://schemas.microsoft.com/office/drawing/2014/main" id="{15E06517-56D8-48A7-9C6D-1B212C973645}"/>
              </a:ext>
            </a:extLst>
          </p:cNvPr>
          <p:cNvSpPr>
            <a:spLocks noGrp="1"/>
          </p:cNvSpPr>
          <p:nvPr>
            <p:ph type="body" sz="quarter" idx="10"/>
          </p:nvPr>
        </p:nvSpPr>
        <p:spPr>
          <a:xfrm>
            <a:off x="995362" y="1340768"/>
            <a:ext cx="10204452" cy="460800"/>
          </a:xfrm>
        </p:spPr>
        <p:txBody>
          <a:bodyPr/>
          <a:lstStyle/>
          <a:p>
            <a:r>
              <a:rPr lang="en-GB" dirty="0"/>
              <a:t>Throughout the course of our work we have identified a number of additional adjustments to EBITDA that we consider to be one-off, non-recurring or exceptional in nature. These include the October flash results showing an overperformance compared to budget, the removal of the week 53 impact and the head office pay cut.</a:t>
            </a:r>
          </a:p>
          <a:p>
            <a:endParaRPr lang="fi-FI" dirty="0"/>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7" name="Text Placeholder 6">
            <a:extLst>
              <a:ext uri="{FF2B5EF4-FFF2-40B4-BE49-F238E27FC236}">
                <a16:creationId xmlns:a16="http://schemas.microsoft.com/office/drawing/2014/main" id="{791B4BEA-BA34-4C41-A5AF-DA5D1D4A111E}"/>
              </a:ext>
            </a:extLst>
          </p:cNvPr>
          <p:cNvSpPr txBox="1">
            <a:spLocks/>
          </p:cNvSpPr>
          <p:nvPr/>
        </p:nvSpPr>
        <p:spPr>
          <a:xfrm>
            <a:off x="6239892" y="2235228"/>
            <a:ext cx="4959922" cy="3632772"/>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spcAft>
                <a:spcPts val="200"/>
              </a:spcAft>
              <a:buFont typeface="+mj-lt"/>
              <a:buAutoNum type="arabicPeriod" startAt="9"/>
            </a:pPr>
            <a:r>
              <a:rPr lang="en-GB" sz="950" dirty="0"/>
              <a:t>Legal fees – Legal fees relating to advice for trademarks were incurred in January 2021 and were accrued from this date. However, Management has commented that the legal fees accrual has been released in the forecast as the legal fees will be capitalised. We have therefore removed this cost from underlying earnings and net working capital.</a:t>
            </a:r>
          </a:p>
          <a:p>
            <a:pPr marL="228600" indent="-228600">
              <a:spcAft>
                <a:spcPts val="200"/>
              </a:spcAft>
              <a:buFont typeface="+mj-lt"/>
              <a:buAutoNum type="arabicPeriod" startAt="9"/>
            </a:pPr>
            <a:r>
              <a:rPr lang="en-GB" sz="950" dirty="0"/>
              <a:t>Boutique G closure costs – The decision was made to close the Boutique G boutique in January 2021 at the end of the lease. Management provided for potential closure costs i.e. dilapidations (£24,000) and redundancy costs (£21,000) in January 2021. However, actual costs incurred totalled £14,000 for dilapidations and approximately £5,000 for PILON, redundancy and holiday pay owed, therefore the remainder of the accrual was released to the P&amp;L in YTD22. As store closures are infrequent, we have removed the closure costs from EBITDA and net working capital. However, we have presented the boutique’s contribution as a memo line historically as the boutique will not contribute to EBITDA in FY22.</a:t>
            </a:r>
          </a:p>
          <a:p>
            <a:pPr marL="228600" indent="-228600">
              <a:spcAft>
                <a:spcPts val="200"/>
              </a:spcAft>
              <a:buFont typeface="+mj-lt"/>
              <a:buAutoNum type="arabicPeriod" startAt="9"/>
            </a:pPr>
            <a:endParaRPr lang="en-GB" sz="950" dirty="0"/>
          </a:p>
          <a:p>
            <a:pPr>
              <a:spcAft>
                <a:spcPts val="200"/>
              </a:spcAft>
            </a:pPr>
            <a:endParaRPr lang="fi-FI" sz="950" dirty="0"/>
          </a:p>
        </p:txBody>
      </p:sp>
      <p:sp>
        <p:nvSpPr>
          <p:cNvPr id="4" name="UpSlide SubSection Marker" hidden="1">
            <a:extLst>
              <a:ext uri="{FF2B5EF4-FFF2-40B4-BE49-F238E27FC236}">
                <a16:creationId xmlns:a16="http://schemas.microsoft.com/office/drawing/2014/main" id="{BF20AC46-225E-41C8-BA34-AF21366C8121}"/>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2" name="Group 31">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9559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(4/7)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a:xfrm>
            <a:off x="980938" y="1912838"/>
            <a:ext cx="10220818" cy="252000"/>
          </a:xfrm>
        </p:spPr>
        <p:txBody>
          <a:bodyPr/>
          <a:lstStyle/>
          <a:p>
            <a:r>
              <a:rPr lang="fi-FI"/>
              <a:t>Potential adjustments (continued)</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1001440" y="2235228"/>
            <a:ext cx="4959881" cy="3996132"/>
          </a:xfrm>
        </p:spPr>
        <p:txBody>
          <a:bodyPr/>
          <a:lstStyle/>
          <a:p>
            <a:pPr marL="228600" indent="-228600">
              <a:spcAft>
                <a:spcPts val="200"/>
              </a:spcAft>
              <a:buFont typeface="+mj-lt"/>
              <a:buAutoNum type="arabicPeriod" startAt="11"/>
            </a:pPr>
            <a:r>
              <a:rPr lang="en-GB" sz="950" b="0" dirty="0">
                <a:solidFill>
                  <a:schemeClr val="tx1"/>
                </a:solidFill>
              </a:rPr>
              <a:t>Sample sales – Any aged stock that cannot be sold via the website is fully written down and either sold via a sample sale or given to charity. Sample sales were held in September 2019 and June 2021, generating sales revenue of £68,000 and £92,000 respectively. Although there are some small overheads incurred in relation to these sales, there is no cost of sales as the products have already been written down. As a result, the cost of the product has been recognised at a different time to when the revenue is recognised. Management has been unable to provide information relating to this in order for an adjustment to be made to both underlying earnings and net working capital to recognise the cost at the same time as the sale. Management has however commented that they plan on holding a sample sale each year and are not projecting to see a significant increase in the revenue generated from the sample sales or the level of stock write offs.</a:t>
            </a:r>
          </a:p>
          <a:p>
            <a:pPr marL="228600" indent="-228600">
              <a:spcAft>
                <a:spcPts val="200"/>
              </a:spcAft>
              <a:buFont typeface="+mj-lt"/>
              <a:buAutoNum type="arabicPeriod" startAt="11"/>
            </a:pPr>
            <a:r>
              <a:rPr lang="en-GB" sz="950" b="0" dirty="0">
                <a:solidFill>
                  <a:schemeClr val="tx1"/>
                </a:solidFill>
              </a:rPr>
              <a:t>Rent reductions -  Due to the impact of Covid-19 on the high-street management was able to agree rent reductions with their landlords in relation to Boutique D, Boutique C, Boutique E and Boutique F. However, these savings were not recorded within the management accounts, but will be posted in the accounting system post completion of the audit process. This adjustment reflects those savings. </a:t>
            </a:r>
          </a:p>
          <a:p>
            <a:pPr marL="228600" indent="-228600">
              <a:spcAft>
                <a:spcPts val="200"/>
              </a:spcAft>
              <a:buFont typeface="+mj-lt"/>
              <a:buAutoNum type="arabicPeriod" startAt="11"/>
            </a:pPr>
            <a:r>
              <a:rPr lang="en-GB" sz="950" b="0" dirty="0">
                <a:solidFill>
                  <a:schemeClr val="tx1"/>
                </a:solidFill>
              </a:rPr>
              <a:t>Returns provision release – Y estimate returns to be approximately 40% of sales, with roughly half occurring in month. An accrual is posted and released each month based on actual returns of the prior month. In January 2021, the returns % was materially lower than budgeted due to the Covid-19 lockdown period (38.2% vs. forecast 43.5% for </a:t>
            </a:r>
            <a:r>
              <a:rPr lang="en-GB" sz="950" b="0" dirty="0" err="1">
                <a:solidFill>
                  <a:schemeClr val="tx1"/>
                </a:solidFill>
              </a:rPr>
              <a:t>yy</a:t>
            </a:r>
            <a:r>
              <a:rPr lang="en-GB" sz="950" b="0" dirty="0">
                <a:solidFill>
                  <a:schemeClr val="tx1"/>
                </a:solidFill>
              </a:rPr>
              <a:t> sales). A true up of £0.2 million was posted for the statutory accounts which we have reflected for the FY21 period. We have not sought to adjust LTM22 as the provision is recalculated on a monthly basis and therefore actual return rates are reflected in the YTD22 period. </a:t>
            </a:r>
          </a:p>
          <a:p>
            <a:pPr marL="228600" indent="-228600">
              <a:spcAft>
                <a:spcPts val="200"/>
              </a:spcAft>
              <a:buFont typeface="+mj-lt"/>
              <a:buAutoNum type="arabicPeriod" startAt="11"/>
            </a:pPr>
            <a:endParaRPr lang="en-GB" sz="950" b="0" dirty="0">
              <a:solidFill>
                <a:schemeClr val="tx1"/>
              </a:solidFill>
            </a:endParaRPr>
          </a:p>
          <a:p>
            <a:pPr marL="466720" lvl="2" indent="-285750">
              <a:spcAft>
                <a:spcPts val="200"/>
              </a:spcAft>
              <a:buFont typeface="+mj-lt"/>
              <a:buAutoNum type="romanLcPeriod" startAt="2"/>
            </a:pPr>
            <a:endParaRPr lang="en-GB" sz="950" dirty="0"/>
          </a:p>
          <a:p>
            <a:pPr marL="466720" lvl="2" indent="-285750">
              <a:spcAft>
                <a:spcPts val="200"/>
              </a:spcAft>
              <a:buFont typeface="+mj-lt"/>
              <a:buAutoNum type="romanLcPeriod" startAt="2"/>
            </a:pPr>
            <a:endParaRPr lang="en-GB" sz="950" dirty="0"/>
          </a:p>
          <a:p>
            <a:pPr>
              <a:spcAft>
                <a:spcPts val="200"/>
              </a:spcAft>
            </a:pPr>
            <a:endParaRPr lang="fi-FI" sz="950" b="0" dirty="0">
              <a:solidFill>
                <a:schemeClr val="tx1"/>
              </a:solidFill>
            </a:endParaRP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6230681" y="2235228"/>
            <a:ext cx="4969133" cy="3632772"/>
          </a:xfrm>
        </p:spPr>
        <p:txBody>
          <a:bodyPr/>
          <a:lstStyle/>
          <a:p>
            <a:pPr marL="228600" indent="-228600">
              <a:spcAft>
                <a:spcPts val="200"/>
              </a:spcAft>
              <a:buFont typeface="+mj-lt"/>
              <a:buAutoNum type="arabicPeriod" startAt="14"/>
            </a:pPr>
            <a:r>
              <a:rPr lang="en-GB" sz="950" b="0" dirty="0">
                <a:solidFill>
                  <a:schemeClr val="tx1"/>
                </a:solidFill>
              </a:rPr>
              <a:t>Business interruption insurance – An insurance pay-out claim of £35,000 was received in July 2021 (FY22) relating to a flood in the Boutique D store in November 2020. The claim was calculated on the lost gross profit during the period of closure, with overall EBITDA impact expected as immaterial. We have therefore realigned the insurance income to match the costs in FY21. This has a net nil impact to EBITDA in LTM22 as both November 2020 and July 2021 are within this period. </a:t>
            </a:r>
          </a:p>
          <a:p>
            <a:pPr marL="228600" indent="-228600">
              <a:spcAft>
                <a:spcPts val="200"/>
              </a:spcAft>
              <a:buFont typeface="+mj-lt"/>
              <a:buAutoNum type="arabicPeriod" startAt="14"/>
            </a:pPr>
            <a:r>
              <a:rPr lang="en-GB" sz="950" b="0" dirty="0">
                <a:solidFill>
                  <a:schemeClr val="tx1"/>
                </a:solidFill>
              </a:rPr>
              <a:t>FX adjustment (cost of sales) – Stock purchased in USD and EUR are posted into stock at the budgeted rates set on an annual basis (currently £1:$1.25 and £1:€1.07). A true up is performed at year end (monthly post January 2021) and posted into cost of sales between the budget rate recognised within stock and the actual invoiced spot rates. We have adjusted LTM22 for the FX recognised within cost of sales that related to months outside of the LTM22 period. </a:t>
            </a:r>
          </a:p>
          <a:p>
            <a:pPr marL="228600" indent="-228600">
              <a:spcAft>
                <a:spcPts val="200"/>
              </a:spcAft>
              <a:buFont typeface="+mj-lt"/>
              <a:buAutoNum type="arabicPeriod" startAt="16"/>
            </a:pPr>
            <a:endParaRPr lang="en-GB" sz="950" b="0" dirty="0">
              <a:solidFill>
                <a:schemeClr val="tx1"/>
              </a:solidFill>
            </a:endParaRPr>
          </a:p>
          <a:p>
            <a:pPr marL="466720" lvl="2" indent="-285750">
              <a:spcAft>
                <a:spcPts val="200"/>
              </a:spcAft>
              <a:buFont typeface="+mj-lt"/>
              <a:buAutoNum type="romanLcPeriod" startAt="2"/>
            </a:pPr>
            <a:endParaRPr lang="en-GB" sz="950" dirty="0"/>
          </a:p>
          <a:p>
            <a:pPr marL="228600" indent="-228600">
              <a:spcAft>
                <a:spcPts val="200"/>
              </a:spcAft>
              <a:buFont typeface="+mj-lt"/>
              <a:buAutoNum type="arabicPeriod" startAt="14"/>
            </a:pPr>
            <a:endParaRPr lang="en-GB" sz="950" b="0" dirty="0">
              <a:solidFill>
                <a:schemeClr val="tx1"/>
              </a:solidFill>
            </a:endParaRPr>
          </a:p>
          <a:p>
            <a:pPr marL="228600" indent="-228600">
              <a:spcAft>
                <a:spcPts val="200"/>
              </a:spcAft>
              <a:buFont typeface="+mj-lt"/>
              <a:buAutoNum type="arabicPeriod" startAt="14"/>
            </a:pPr>
            <a:endParaRPr lang="en-GB" sz="950" b="0" dirty="0">
              <a:solidFill>
                <a:schemeClr val="tx1"/>
              </a:solidFill>
            </a:endParaRPr>
          </a:p>
          <a:p>
            <a:pPr marL="228600" indent="-228600">
              <a:spcAft>
                <a:spcPts val="200"/>
              </a:spcAft>
              <a:buFont typeface="+mj-lt"/>
              <a:buAutoNum type="arabicPeriod" startAt="14"/>
            </a:pPr>
            <a:endParaRPr lang="en-GB" sz="950" b="0" dirty="0">
              <a:solidFill>
                <a:schemeClr val="tx1"/>
              </a:solidFill>
            </a:endParaRPr>
          </a:p>
          <a:p>
            <a:pPr>
              <a:spcAft>
                <a:spcPts val="200"/>
              </a:spcAft>
            </a:pPr>
            <a:endParaRPr lang="fi-FI" sz="950" b="0" dirty="0">
              <a:solidFill>
                <a:schemeClr val="tx1"/>
              </a:solidFill>
            </a:endParaRP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E31138BD-3661-4009-839A-18E3D968584D}"/>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0" name="Group 29">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49342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(5/7)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a:xfrm>
            <a:off x="1003312" y="1912838"/>
            <a:ext cx="5172552" cy="252000"/>
          </a:xfrm>
        </p:spPr>
        <p:txBody>
          <a:bodyPr/>
          <a:lstStyle/>
          <a:p>
            <a:r>
              <a:rPr lang="fi-FI"/>
              <a:t>Potential adjustments (continued)</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998398" y="2235228"/>
            <a:ext cx="4984188" cy="3996132"/>
          </a:xfrm>
        </p:spPr>
        <p:txBody>
          <a:bodyPr/>
          <a:lstStyle/>
          <a:p>
            <a:pPr marL="228600" indent="-228600">
              <a:buFont typeface="+mj-lt"/>
              <a:buAutoNum type="arabicPeriod" startAt="16"/>
            </a:pPr>
            <a:r>
              <a:rPr lang="en-GB" b="0" dirty="0">
                <a:solidFill>
                  <a:schemeClr val="tx1"/>
                </a:solidFill>
              </a:rPr>
              <a:t>FX adjustment (USD sales) – Y records </a:t>
            </a:r>
            <a:r>
              <a:rPr lang="en-GB" b="0" dirty="0" err="1">
                <a:solidFill>
                  <a:schemeClr val="tx1"/>
                </a:solidFill>
              </a:rPr>
              <a:t>yy</a:t>
            </a:r>
            <a:r>
              <a:rPr lang="en-GB" b="0" dirty="0">
                <a:solidFill>
                  <a:schemeClr val="tx1"/>
                </a:solidFill>
              </a:rPr>
              <a:t> sales at a budgeted FX rate (currently £1:$1.25) and then performs a monthly true up between budgeted and actual spot rates. Prior to January 2021, this was performed on an annual basis at year end. We have made an adjustment to reallocate the FX adjustment posted in January-21 that related to months outside of the LTM22 period (£0.1 million).  </a:t>
            </a:r>
            <a:br>
              <a:rPr lang="en-GB" b="0" dirty="0">
                <a:solidFill>
                  <a:schemeClr val="tx1"/>
                </a:solidFill>
              </a:rPr>
            </a:br>
            <a:br>
              <a:rPr lang="en-GB" b="0" dirty="0">
                <a:solidFill>
                  <a:schemeClr val="tx1"/>
                </a:solidFill>
              </a:rPr>
            </a:br>
            <a:r>
              <a:rPr lang="en-GB" b="0" dirty="0">
                <a:solidFill>
                  <a:schemeClr val="tx1"/>
                </a:solidFill>
              </a:rPr>
              <a:t>We note that the FY22 outturn period has been calculated using budgeted FX rates, although a contingency of £0.2 million has been forecast in the accounts to recognise the difference between current and budgeted spot rates. Based on the average spot rate for October 2021, the net revenue would be overstated by approximately £10,000 after adjusting for the contingency of £0.2 million. We have not sought to adjust for this balance due to potential FX fluctuations going forward, although note this may present a small risk to the FY22 outturn presented. </a:t>
            </a:r>
          </a:p>
          <a:p>
            <a:pPr marL="180972" lvl="3" indent="0">
              <a:buNone/>
            </a:pPr>
            <a:r>
              <a:rPr lang="en-GB" dirty="0"/>
              <a:t>We further note that the LTM22, and to a lesser extent FY22 outturn, boutique and concession trading has been impacted by Covid-19 and therefore have presented an indicative lost retail contribution, reflecting performance had the retail portfolio continued to trade in line with FY20 performance. In addition we have shown the impact of lost sales due to stock availability.</a:t>
            </a:r>
          </a:p>
          <a:p>
            <a:pPr marL="180972" lvl="3" indent="0">
              <a:buNone/>
            </a:pPr>
            <a:r>
              <a:rPr lang="en-GB" dirty="0"/>
              <a:t>We would note whilst we have not sought to adjust for it, stock is valued at purchase cost, with no additional costs (such as freight or customs duties) absorbed into the value. Given stock has grown over the forecast period, if freight and duty had been absorbed into stock it’s likely that profit would be higher than what has been presented.</a:t>
            </a:r>
          </a:p>
          <a:p>
            <a:endParaRPr lang="en-GB" b="0" dirty="0">
              <a:solidFill>
                <a:schemeClr val="tx1"/>
              </a:solidFill>
            </a:endParaRPr>
          </a:p>
          <a:p>
            <a:endParaRPr lang="fi-FI" b="0" dirty="0">
              <a:solidFill>
                <a:schemeClr val="tx1"/>
              </a:solidFill>
            </a:endParaRP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3" name="Text Placeholder 5">
            <a:extLst>
              <a:ext uri="{FF2B5EF4-FFF2-40B4-BE49-F238E27FC236}">
                <a16:creationId xmlns:a16="http://schemas.microsoft.com/office/drawing/2014/main" id="{453440A2-5862-45E1-A8EC-DDF7B4AF6CD4}"/>
              </a:ext>
            </a:extLst>
          </p:cNvPr>
          <p:cNvSpPr txBox="1">
            <a:spLocks/>
          </p:cNvSpPr>
          <p:nvPr/>
        </p:nvSpPr>
        <p:spPr>
          <a:xfrm>
            <a:off x="8067813" y="2203559"/>
            <a:ext cx="3133943" cy="3996132"/>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GB" sz="900"/>
          </a:p>
          <a:p>
            <a:pPr marL="466720" lvl="2" indent="-285750">
              <a:buFont typeface="+mj-lt"/>
              <a:buAutoNum type="romanLcPeriod" startAt="2"/>
            </a:pPr>
            <a:endParaRPr lang="en-GB" sz="900"/>
          </a:p>
          <a:p>
            <a:endParaRPr lang="fi-FI" sz="900"/>
          </a:p>
        </p:txBody>
      </p:sp>
      <p:sp>
        <p:nvSpPr>
          <p:cNvPr id="2" name="UpSlide SubSection Marker" hidden="1">
            <a:extLst>
              <a:ext uri="{FF2B5EF4-FFF2-40B4-BE49-F238E27FC236}">
                <a16:creationId xmlns:a16="http://schemas.microsoft.com/office/drawing/2014/main" id="{E06D1512-D1A3-487E-92E0-70C758A160D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0" name="Group 29">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52540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(6/7)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p:txBody>
          <a:bodyPr/>
          <a:lstStyle/>
          <a:p>
            <a:r>
              <a:rPr lang="fi-FI"/>
              <a:t>Other considerations</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4815356" y="2235228"/>
            <a:ext cx="3326191" cy="3996132"/>
          </a:xfrm>
        </p:spPr>
        <p:txBody>
          <a:bodyPr/>
          <a:lstStyle/>
          <a:p>
            <a:pPr marL="228600" indent="-228600">
              <a:spcAft>
                <a:spcPts val="200"/>
              </a:spcAft>
              <a:buFont typeface="+mj-lt"/>
              <a:buAutoNum type="arabicPeriod" startAt="17"/>
            </a:pPr>
            <a:r>
              <a:rPr lang="en-GB" sz="950" b="0" dirty="0">
                <a:solidFill>
                  <a:schemeClr val="tx1"/>
                </a:solidFill>
              </a:rPr>
              <a:t>As part of this exercise, Management has considered the impact of Covid-19 on the business historically, particularly in relation to the enforced retail closures during the lockdown periods.</a:t>
            </a:r>
          </a:p>
          <a:p>
            <a:pPr marL="180972" lvl="3" indent="0">
              <a:spcAft>
                <a:spcPts val="200"/>
              </a:spcAft>
              <a:buNone/>
            </a:pPr>
            <a:r>
              <a:rPr lang="en-GB" sz="950" dirty="0"/>
              <a:t>Covid-19 impact – Management has calculated the impact of the Covid-19 pandemic on the FY21 performance of Y, through consideration of the actual contribution of the boutiques and concessions in this period compared with the budget. Any government assistance such as furlough payments, business rates holidays and small business grants have been netted with this impact, along with rent reductions negotiated with boutique landlords.  </a:t>
            </a:r>
          </a:p>
          <a:p>
            <a:pPr marL="180972" lvl="3" indent="0">
              <a:spcAft>
                <a:spcPts val="200"/>
              </a:spcAft>
              <a:buNone/>
            </a:pPr>
            <a:r>
              <a:rPr lang="en-GB" sz="950" dirty="0"/>
              <a:t>Management has considered the impact on FY22 through consideration of the boutique or concession’s performance in the first 10 weeks of the year (during the second lockdown) compared with the same weeks in FY20, applying the LFL % increase observed since the boutiques reopened. This results in an adjustment of £1.8 million, £1.2 million and £0.1 million in FY21, LTM22 and FY22, respectively.</a:t>
            </a:r>
          </a:p>
          <a:p>
            <a:pPr marL="180972" lvl="3" indent="0">
              <a:spcAft>
                <a:spcPts val="200"/>
              </a:spcAft>
              <a:buNone/>
            </a:pPr>
            <a:r>
              <a:rPr lang="en-GB" sz="950" dirty="0"/>
              <a:t>Whilst we agree that the performance of the boutiques and concessions will have been negatively impacted by the enforced store closures relating to Covid-19 restrictions amidst the pandemic, the business likely also benefitted from online demand, which has not been considered as part of this calculation. </a:t>
            </a:r>
          </a:p>
          <a:p>
            <a:pPr marL="228600" indent="-228600">
              <a:spcAft>
                <a:spcPts val="200"/>
              </a:spcAft>
              <a:buFont typeface="+mj-lt"/>
              <a:buAutoNum type="arabicPeriod" startAt="17"/>
            </a:pPr>
            <a:endParaRPr lang="en-GB" sz="950" b="0" dirty="0">
              <a:solidFill>
                <a:schemeClr val="tx1"/>
              </a:solidFill>
            </a:endParaRPr>
          </a:p>
          <a:p>
            <a:pPr marL="466720" lvl="2" indent="-285750">
              <a:spcAft>
                <a:spcPts val="200"/>
              </a:spcAft>
              <a:buFont typeface="+mj-lt"/>
              <a:buAutoNum type="romanLcPeriod" startAt="2"/>
            </a:pPr>
            <a:endParaRPr lang="en-GB" sz="950" dirty="0"/>
          </a:p>
          <a:p>
            <a:pPr>
              <a:spcAft>
                <a:spcPts val="200"/>
              </a:spcAft>
            </a:pPr>
            <a:endParaRPr lang="fi-FI" sz="950" b="0" dirty="0">
              <a:solidFill>
                <a:schemeClr val="tx1"/>
              </a:solidFill>
            </a:endParaRPr>
          </a:p>
        </p:txBody>
      </p:sp>
      <p:sp>
        <p:nvSpPr>
          <p:cNvPr id="2" name="Text Placeholder 1">
            <a:extLst>
              <a:ext uri="{FF2B5EF4-FFF2-40B4-BE49-F238E27FC236}">
                <a16:creationId xmlns:a16="http://schemas.microsoft.com/office/drawing/2014/main" id="{15E06517-56D8-48A7-9C6D-1B212C973645}"/>
              </a:ext>
            </a:extLst>
          </p:cNvPr>
          <p:cNvSpPr>
            <a:spLocks noGrp="1"/>
          </p:cNvSpPr>
          <p:nvPr>
            <p:ph type="body" sz="quarter" idx="10"/>
          </p:nvPr>
        </p:nvSpPr>
        <p:spPr>
          <a:xfrm>
            <a:off x="995361" y="1340768"/>
            <a:ext cx="10195200" cy="460800"/>
          </a:xfrm>
        </p:spPr>
        <p:txBody>
          <a:bodyPr/>
          <a:lstStyle/>
          <a:p>
            <a:r>
              <a:rPr lang="en-GB" dirty="0"/>
              <a:t>Throughout the course of our work we have identified a number of additional items which may be considered as part of the quality of earnings including lost retail contribution due to the Covid-19 pandemic which is offset by the reduced CPA during May – August 2020, as well as lost sales due to stock outs.</a:t>
            </a:r>
          </a:p>
          <a:p>
            <a:endParaRPr lang="fi-FI" dirty="0"/>
          </a:p>
        </p:txBody>
      </p:sp>
      <p:sp>
        <p:nvSpPr>
          <p:cNvPr id="20" name="Text Placeholder 12">
            <a:extLst>
              <a:ext uri="{FF2B5EF4-FFF2-40B4-BE49-F238E27FC236}">
                <a16:creationId xmlns:a16="http://schemas.microsoft.com/office/drawing/2014/main" id="{1BCDF587-4BFE-A32A-C4D3-1A634498F6A2}"/>
              </a:ext>
            </a:extLst>
          </p:cNvPr>
          <p:cNvSpPr txBox="1">
            <a:spLocks/>
          </p:cNvSpPr>
          <p:nvPr/>
        </p:nvSpPr>
        <p:spPr>
          <a:xfrm>
            <a:off x="1006556" y="428295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rPr>
              <a:t>Source: </a:t>
            </a:r>
            <a:r>
              <a:rPr lang="en-GB" sz="600" b="0" dirty="0">
                <a:cs typeface="Arial" pitchFamily="34" charset="0"/>
              </a:rPr>
              <a:t>6.1.6.2.1._Adjusted Earnings for FYE Jan 19, Jan 20, Jan21 and Jan 22</a:t>
            </a:r>
            <a:endParaRPr lang="en-US" sz="600" b="0" dirty="0">
              <a:solidFill>
                <a:schemeClr val="tx2"/>
              </a:solidFill>
            </a:endParaRP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3" name="Text Placeholder 5">
            <a:extLst>
              <a:ext uri="{FF2B5EF4-FFF2-40B4-BE49-F238E27FC236}">
                <a16:creationId xmlns:a16="http://schemas.microsoft.com/office/drawing/2014/main" id="{453440A2-5862-45E1-A8EC-DDF7B4AF6CD4}"/>
              </a:ext>
            </a:extLst>
          </p:cNvPr>
          <p:cNvSpPr txBox="1">
            <a:spLocks/>
          </p:cNvSpPr>
          <p:nvPr/>
        </p:nvSpPr>
        <p:spPr>
          <a:xfrm>
            <a:off x="8067813" y="2203559"/>
            <a:ext cx="3133943" cy="3996132"/>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spcAft>
                <a:spcPts val="200"/>
              </a:spcAft>
              <a:buFont typeface="+mj-lt"/>
              <a:buAutoNum type="arabicPeriod" startAt="17"/>
            </a:pPr>
            <a:r>
              <a:rPr lang="en-GB" sz="950"/>
              <a:t>(continued) </a:t>
            </a:r>
          </a:p>
          <a:p>
            <a:pPr marL="180972" lvl="3" indent="0">
              <a:spcAft>
                <a:spcPts val="200"/>
              </a:spcAft>
              <a:buNone/>
            </a:pPr>
            <a:r>
              <a:rPr lang="en-GB" sz="950"/>
              <a:t>We have calculated an alternative potential impact of Covid-19 on the business, by considering the FY20 contribution for the LFL boutiques and concessions and the FY21 budgeted contribution for the new boutiques versus actual contribution in the weeks that boutiques and concessions were forced to close as ‘lost retail contribution’ (Other consideration 17a). We note in the period since reopening in week 11 up to week 30 boutiques and concessions are 15.2% up on the comparable period in FY20  Please note that the rent reductions have been netted off this balance.</a:t>
            </a:r>
          </a:p>
          <a:p>
            <a:pPr marL="180972" lvl="3" indent="0">
              <a:spcAft>
                <a:spcPts val="200"/>
              </a:spcAft>
              <a:buNone/>
            </a:pPr>
            <a:r>
              <a:rPr lang="en-GB" sz="950"/>
              <a:t>We have also conducted the equivalent calculation, but with reference to full year performance for the boutique or concession versus full year performance in FY20 or FY21 budget as relevant (17b). The adjustment is incremental to 17a.</a:t>
            </a:r>
          </a:p>
          <a:p>
            <a:pPr marL="228600" lvl="2" indent="-228600">
              <a:spcAft>
                <a:spcPts val="200"/>
              </a:spcAft>
              <a:buFont typeface="+mj-lt"/>
              <a:buAutoNum type="arabicPeriod" startAt="18"/>
            </a:pPr>
            <a:r>
              <a:rPr lang="en-GB" sz="950"/>
              <a:t>Reduced CPA – As the cost per acquisition (CPA) declined in the period May – August 2020, we deem this to be a benefit of Covid-19. We have therefore sought to uplift acquisition costs in these months using the FY20 average CPA of £63.</a:t>
            </a:r>
          </a:p>
          <a:p>
            <a:pPr marL="180972" lvl="3" indent="0">
              <a:spcAft>
                <a:spcPts val="200"/>
              </a:spcAft>
              <a:buNone/>
            </a:pPr>
            <a:endParaRPr lang="en-GB" sz="950"/>
          </a:p>
          <a:p>
            <a:pPr marL="180972" lvl="3" indent="0">
              <a:spcAft>
                <a:spcPts val="200"/>
              </a:spcAft>
              <a:buNone/>
            </a:pPr>
            <a:endParaRPr lang="en-GB" sz="950"/>
          </a:p>
          <a:p>
            <a:pPr>
              <a:spcAft>
                <a:spcPts val="200"/>
              </a:spcAft>
            </a:pPr>
            <a:endParaRPr lang="en-GB" sz="950"/>
          </a:p>
          <a:p>
            <a:pPr marL="466720" lvl="2" indent="-285750">
              <a:spcAft>
                <a:spcPts val="200"/>
              </a:spcAft>
              <a:buFont typeface="+mj-lt"/>
              <a:buAutoNum type="romanLcPeriod" startAt="2"/>
            </a:pPr>
            <a:endParaRPr lang="en-GB" sz="950"/>
          </a:p>
          <a:p>
            <a:pPr>
              <a:spcAft>
                <a:spcPts val="200"/>
              </a:spcAft>
            </a:pPr>
            <a:endParaRPr lang="fi-FI" sz="950"/>
          </a:p>
        </p:txBody>
      </p:sp>
      <p:pic>
        <p:nvPicPr>
          <p:cNvPr id="5" name="Picture 4">
            <a:extLst>
              <a:ext uri="{FF2B5EF4-FFF2-40B4-BE49-F238E27FC236}">
                <a16:creationId xmlns:a16="http://schemas.microsoft.com/office/drawing/2014/main" id="{1D1B345E-60FC-48DE-8D93-300E7720B58A}"/>
              </a:ext>
            </a:extLst>
          </p:cNvPr>
          <p:cNvPicPr>
            <a:picLocks noChangeAspect="1"/>
          </p:cNvPicPr>
          <p:nvPr>
            <p:custDataLst>
              <p:tags r:id="rId3"/>
            </p:custDataLst>
          </p:nvPr>
        </p:nvPicPr>
        <p:blipFill>
          <a:blip r:embed="rId10"/>
          <a:stretch>
            <a:fillRect/>
          </a:stretch>
        </p:blipFill>
        <p:spPr>
          <a:xfrm>
            <a:off x="995366" y="1918286"/>
            <a:ext cx="3686175" cy="2204586"/>
          </a:xfrm>
          <a:prstGeom prst="rect">
            <a:avLst/>
          </a:prstGeom>
        </p:spPr>
      </p:pic>
      <p:sp>
        <p:nvSpPr>
          <p:cNvPr id="4" name="UpSlide SubSection Marker" hidden="1">
            <a:extLst>
              <a:ext uri="{FF2B5EF4-FFF2-40B4-BE49-F238E27FC236}">
                <a16:creationId xmlns:a16="http://schemas.microsoft.com/office/drawing/2014/main" id="{89DBA6BB-1C3D-44C2-9156-0F90403BA066}"/>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3" name="Group 32">
            <a:extLst>
              <a:ext uri="{FF2B5EF4-FFF2-40B4-BE49-F238E27FC236}">
                <a16:creationId xmlns:a16="http://schemas.microsoft.com/office/drawing/2014/main" id="{6053D987-536A-4F5C-A091-BF2D8B3453A5}"/>
              </a:ext>
            </a:extLst>
          </p:cNvPr>
          <p:cNvGrpSpPr/>
          <p:nvPr>
            <p:custDataLst>
              <p:tags r:id="rId5"/>
            </p:custDataLst>
          </p:nvPr>
        </p:nvGrpSpPr>
        <p:grpSpPr>
          <a:xfrm>
            <a:off x="995364" y="153170"/>
            <a:ext cx="6253254" cy="195814"/>
            <a:chOff x="995364" y="153170"/>
            <a:chExt cx="6253254" cy="195814"/>
          </a:xfrm>
        </p:grpSpPr>
        <p:sp>
          <p:nvSpPr>
            <p:cNvPr id="3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63587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(7/7)</a:t>
            </a:r>
          </a:p>
        </p:txBody>
      </p:sp>
      <p:sp>
        <p:nvSpPr>
          <p:cNvPr id="3" name="Text Placeholder 2">
            <a:extLst>
              <a:ext uri="{FF2B5EF4-FFF2-40B4-BE49-F238E27FC236}">
                <a16:creationId xmlns:a16="http://schemas.microsoft.com/office/drawing/2014/main" id="{C4DEB6C6-DA50-4596-9E26-CE54D94BDD1A}"/>
              </a:ext>
            </a:extLst>
          </p:cNvPr>
          <p:cNvSpPr>
            <a:spLocks noGrp="1"/>
          </p:cNvSpPr>
          <p:nvPr>
            <p:ph type="body" sz="quarter" idx="11"/>
          </p:nvPr>
        </p:nvSpPr>
        <p:spPr>
          <a:xfrm>
            <a:off x="1003313" y="1912838"/>
            <a:ext cx="10198444" cy="252000"/>
          </a:xfrm>
        </p:spPr>
        <p:txBody>
          <a:bodyPr/>
          <a:lstStyle/>
          <a:p>
            <a:r>
              <a:rPr lang="fi-FI"/>
              <a:t>Other considerations</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a:xfrm>
            <a:off x="980938" y="2235228"/>
            <a:ext cx="4980383" cy="3996132"/>
          </a:xfrm>
        </p:spPr>
        <p:txBody>
          <a:bodyPr/>
          <a:lstStyle/>
          <a:p>
            <a:pPr marL="228600" indent="-228600">
              <a:buFont typeface="+mj-lt"/>
              <a:buAutoNum type="arabicPeriod" startAt="19"/>
            </a:pPr>
            <a:r>
              <a:rPr lang="en-GB" b="0" dirty="0">
                <a:solidFill>
                  <a:schemeClr val="tx1"/>
                </a:solidFill>
              </a:rPr>
              <a:t>Lost sales contribution due to stock outs – A number of SKUs sold out in 1 – 2 weeks in the period December 2020 – July 2021, resulting in stock outs across a number of product lines as suppliers were unable to produce the volumes required. Y has new agreements in place for increased volumes with suppliers in an attempt to mitigate the risk of future stock outs, and Management has calculated the impact of the stock outs on sales, through consideration of weekly units sold and the potential life cycle of each SKU (adjusted for expected returns) for each sales channel (online, boutiques, and concessions). As we have already considered the loss of revenue in boutiques and concessions through the Covid-19 impact, we have only included the calculated impact on online sales within this other consideration. </a:t>
            </a:r>
            <a:br>
              <a:rPr lang="en-GB" b="0" dirty="0">
                <a:solidFill>
                  <a:schemeClr val="tx1"/>
                </a:solidFill>
              </a:rPr>
            </a:br>
            <a:r>
              <a:rPr lang="en-GB" b="0" dirty="0">
                <a:solidFill>
                  <a:schemeClr val="tx1"/>
                </a:solidFill>
              </a:rPr>
              <a:t>Management has calculated the impact on EBITDA through the inclusion of a blended gross margin based on product cost for each SKU, and the application of the YTD cost as a percentage of sales for variable costs including delivery, warehouse and merchant fees.</a:t>
            </a:r>
          </a:p>
          <a:p>
            <a:pPr marL="180972" lvl="3" indent="0">
              <a:buNone/>
            </a:pPr>
            <a:r>
              <a:rPr lang="en-GB" dirty="0"/>
              <a:t>As it is unclear whether customers may have opted to purchase an alternative product when the SKU was out of stock, it is difficult to determine the full extent of the missed demand and we have therefore included this as an other consideration within our analysis. We also note that Management has not included any marketing costs in this calculation, on the assumption that customers would already be visiting the website.</a:t>
            </a:r>
          </a:p>
          <a:p>
            <a:pPr marL="228600" indent="-228600">
              <a:buFont typeface="+mj-lt"/>
              <a:buAutoNum type="arabicPeriod" startAt="19"/>
            </a:pPr>
            <a:endParaRPr lang="en-GB" b="0" dirty="0">
              <a:solidFill>
                <a:schemeClr val="tx1"/>
              </a:solidFill>
            </a:endParaRPr>
          </a:p>
          <a:p>
            <a:pPr marL="228600" indent="-228600">
              <a:buFont typeface="+mj-lt"/>
              <a:buAutoNum type="arabicPeriod" startAt="19"/>
            </a:pPr>
            <a:endParaRPr lang="en-GB" b="0" dirty="0">
              <a:solidFill>
                <a:schemeClr val="tx1"/>
              </a:solidFill>
            </a:endParaRPr>
          </a:p>
          <a:p>
            <a:pPr marL="466720" lvl="2" indent="-285750">
              <a:buFont typeface="+mj-lt"/>
              <a:buAutoNum type="romanLcPeriod" startAt="2"/>
            </a:pPr>
            <a:endParaRPr lang="en-GB" dirty="0"/>
          </a:p>
          <a:p>
            <a:endParaRPr lang="fi-FI" b="0" dirty="0">
              <a:solidFill>
                <a:schemeClr val="tx1"/>
              </a:solidFill>
            </a:endParaRPr>
          </a:p>
        </p:txBody>
      </p:sp>
      <p:sp>
        <p:nvSpPr>
          <p:cNvPr id="95" name="Text Placeholder 7">
            <a:extLst>
              <a:ext uri="{FF2B5EF4-FFF2-40B4-BE49-F238E27FC236}">
                <a16:creationId xmlns:a16="http://schemas.microsoft.com/office/drawing/2014/main" id="{930A3851-C129-079B-AA80-21BAB602B55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6" name="Text Placeholder 12">
            <a:extLst>
              <a:ext uri="{FF2B5EF4-FFF2-40B4-BE49-F238E27FC236}">
                <a16:creationId xmlns:a16="http://schemas.microsoft.com/office/drawing/2014/main" id="{A5F7110F-7A5E-A37D-AD09-A7A1EE7E318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7" name="Rounded Rectangle 7">
            <a:extLst>
              <a:ext uri="{FF2B5EF4-FFF2-40B4-BE49-F238E27FC236}">
                <a16:creationId xmlns:a16="http://schemas.microsoft.com/office/drawing/2014/main" id="{077AD68D-B1EF-35AB-E5F0-0356F1B0F5B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8" name="Rectangle 97">
            <a:extLst>
              <a:ext uri="{FF2B5EF4-FFF2-40B4-BE49-F238E27FC236}">
                <a16:creationId xmlns:a16="http://schemas.microsoft.com/office/drawing/2014/main" id="{F4313271-8979-25EA-BC84-EBEF39D5824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9" name="Straight Arrow Connector 98">
            <a:extLst>
              <a:ext uri="{FF2B5EF4-FFF2-40B4-BE49-F238E27FC236}">
                <a16:creationId xmlns:a16="http://schemas.microsoft.com/office/drawing/2014/main" id="{556E3C32-5C24-FDE8-BF65-E0A14C55F1B5}"/>
              </a:ext>
            </a:extLst>
          </p:cNvPr>
          <p:cNvCxnSpPr>
            <a:cxnSpLocks/>
            <a:stCxn id="98" idx="2"/>
            <a:endCxn id="9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1" name="Rectangle 110">
            <a:extLst>
              <a:ext uri="{FF2B5EF4-FFF2-40B4-BE49-F238E27FC236}">
                <a16:creationId xmlns:a16="http://schemas.microsoft.com/office/drawing/2014/main" id="{E495D4A0-CDF5-4A15-8813-903F74245460}"/>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2" name="Rectangle 111">
            <a:extLst>
              <a:ext uri="{FF2B5EF4-FFF2-40B4-BE49-F238E27FC236}">
                <a16:creationId xmlns:a16="http://schemas.microsoft.com/office/drawing/2014/main" id="{E3199406-5EA8-4535-BC23-BD03A62909C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3" name="Rectangle 112">
            <a:extLst>
              <a:ext uri="{FF2B5EF4-FFF2-40B4-BE49-F238E27FC236}">
                <a16:creationId xmlns:a16="http://schemas.microsoft.com/office/drawing/2014/main" id="{A960BB65-8669-4AFB-9E7F-58759591944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17" name="Rectangle 116">
            <a:extLst>
              <a:ext uri="{FF2B5EF4-FFF2-40B4-BE49-F238E27FC236}">
                <a16:creationId xmlns:a16="http://schemas.microsoft.com/office/drawing/2014/main" id="{8C2BFDDE-8C80-444C-A371-941FE47C402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3" name="Text Placeholder 5">
            <a:extLst>
              <a:ext uri="{FF2B5EF4-FFF2-40B4-BE49-F238E27FC236}">
                <a16:creationId xmlns:a16="http://schemas.microsoft.com/office/drawing/2014/main" id="{453440A2-5862-45E1-A8EC-DDF7B4AF6CD4}"/>
              </a:ext>
            </a:extLst>
          </p:cNvPr>
          <p:cNvSpPr txBox="1">
            <a:spLocks/>
          </p:cNvSpPr>
          <p:nvPr/>
        </p:nvSpPr>
        <p:spPr>
          <a:xfrm>
            <a:off x="6230681" y="2203559"/>
            <a:ext cx="4971075" cy="3996132"/>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buFont typeface="+mj-lt"/>
              <a:buAutoNum type="arabicPeriod" startAt="20"/>
            </a:pPr>
            <a:r>
              <a:rPr lang="en-GB" dirty="0"/>
              <a:t>Rent free accrual – The rental lease for Boutique A, Boutique C, Boutique B and Boutique F and head office includes a rent free period at the start of the lease. This rent free benefit has been amortised over the period to the next review, resulting in an expense that has been lower than the cash rent payments by £32,000 in FY20, £19,000 in LTM22, and £20,000 in FY22 (with the profit and loss expense higher than cash payments by £45,000 in FY19 and £65,000 in LTM22 due to the rent free periods at Boutique B and Boutique F). We have not adjusted EBITDA for this, however it should be considered when assessing the trend in the underlying earnings of the business. </a:t>
            </a:r>
          </a:p>
          <a:p>
            <a:pPr marL="228600" indent="-228600">
              <a:buFont typeface="+mj-lt"/>
              <a:buAutoNum type="arabicPeriod" startAt="20"/>
            </a:pPr>
            <a:r>
              <a:rPr lang="en-GB" dirty="0"/>
              <a:t>Capitalised internal staff costs – As part of the re-platforming of the website and warehouse relocation in FY19 and FY20, partial costs relating to internal staff were capitalised which represent an ongoing cash cost to the business. Management has forecast that 75% of the Head of IT salary will be capitalised in FY22.</a:t>
            </a:r>
          </a:p>
          <a:p>
            <a:pPr marL="228600" indent="-228600">
              <a:buFont typeface="+mj-lt"/>
              <a:buAutoNum type="arabicPeriod" startAt="20"/>
            </a:pPr>
            <a:r>
              <a:rPr lang="en-GB" dirty="0"/>
              <a:t>Revenue recognition policy – We note Y currently recognises a sale upon customer payment, with a typical despatch time of 1-3 days. Management do not currently post an accrual either side of month end for orders not despatched. </a:t>
            </a:r>
          </a:p>
          <a:p>
            <a:pPr marL="180972" lvl="3" indent="0">
              <a:buNone/>
            </a:pPr>
            <a:endParaRPr lang="en-GB" dirty="0"/>
          </a:p>
          <a:p>
            <a:endParaRPr lang="en-GB" dirty="0"/>
          </a:p>
          <a:p>
            <a:pPr marL="466720" lvl="2" indent="-285750">
              <a:buFont typeface="+mj-lt"/>
              <a:buAutoNum type="romanLcPeriod" startAt="2"/>
            </a:pPr>
            <a:endParaRPr lang="en-GB" dirty="0"/>
          </a:p>
          <a:p>
            <a:endParaRPr lang="fi-FI" dirty="0"/>
          </a:p>
        </p:txBody>
      </p:sp>
      <p:sp>
        <p:nvSpPr>
          <p:cNvPr id="2" name="UpSlide SubSection Marker" hidden="1">
            <a:extLst>
              <a:ext uri="{FF2B5EF4-FFF2-40B4-BE49-F238E27FC236}">
                <a16:creationId xmlns:a16="http://schemas.microsoft.com/office/drawing/2014/main" id="{E6840E21-4F44-448D-B94E-6E5AE2C512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Quality of earnings</a:t>
            </a:r>
            <a:endParaRPr lang="en-GB" sz="900" dirty="0">
              <a:solidFill>
                <a:schemeClr val="bg1"/>
              </a:solidFill>
            </a:endParaRPr>
          </a:p>
        </p:txBody>
      </p:sp>
      <p:grpSp>
        <p:nvGrpSpPr>
          <p:cNvPr id="30" name="Group 29">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1"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3"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93143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8907B9A0-A92C-482D-B569-139EFDC26703}"/>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6" name="Object 15" hidden="1">
                        <a:extLst>
                          <a:ext uri="{FF2B5EF4-FFF2-40B4-BE49-F238E27FC236}">
                            <a16:creationId xmlns:a16="http://schemas.microsoft.com/office/drawing/2014/main" id="{8907B9A0-A92C-482D-B569-139EFDC26703}"/>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DE7D186E-EACC-4CEE-9F25-37BE200ACFEF}"/>
              </a:ext>
            </a:extLst>
          </p:cNvPr>
          <p:cNvSpPr>
            <a:spLocks noGrp="1"/>
          </p:cNvSpPr>
          <p:nvPr>
            <p:ph type="body" sz="quarter" idx="10"/>
          </p:nvPr>
        </p:nvSpPr>
        <p:spPr/>
        <p:txBody>
          <a:bodyPr/>
          <a:lstStyle/>
          <a:p>
            <a:r>
              <a:rPr lang="fi-FI" dirty="0"/>
              <a:t>Revenue has increased by £24.8 million (CAGR 56.6%) across the historical period predominantly driven by the online channel, as investment by Y combined with the market shift of consumers to online during the Covid-19 pandemic (which has sustained post-pandemic) drove higher website traffic, transactions and conversion. Consequently, despite the closure of boutqiues and concessions for much of FY21, the decline in retail sales was more than offset by increased online revenue. </a:t>
            </a:r>
          </a:p>
        </p:txBody>
      </p:sp>
      <p:sp>
        <p:nvSpPr>
          <p:cNvPr id="9" name="Title 8">
            <a:extLst>
              <a:ext uri="{FF2B5EF4-FFF2-40B4-BE49-F238E27FC236}">
                <a16:creationId xmlns:a16="http://schemas.microsoft.com/office/drawing/2014/main" id="{15EB4C87-E77E-495A-8846-69F5422952F8}"/>
              </a:ext>
            </a:extLst>
          </p:cNvPr>
          <p:cNvSpPr>
            <a:spLocks noGrp="1"/>
          </p:cNvSpPr>
          <p:nvPr>
            <p:ph type="title"/>
          </p:nvPr>
        </p:nvSpPr>
        <p:spPr/>
        <p:txBody>
          <a:bodyPr/>
          <a:lstStyle/>
          <a:p>
            <a:r>
              <a:rPr lang="en-US"/>
              <a:t>Revenue bridge</a:t>
            </a:r>
          </a:p>
        </p:txBody>
      </p:sp>
      <p:sp>
        <p:nvSpPr>
          <p:cNvPr id="7" name="Text Placeholder 6">
            <a:extLst>
              <a:ext uri="{FF2B5EF4-FFF2-40B4-BE49-F238E27FC236}">
                <a16:creationId xmlns:a16="http://schemas.microsoft.com/office/drawing/2014/main" id="{52521C22-6086-4AC7-9E1F-8F24C10D40B9}"/>
              </a:ext>
            </a:extLst>
          </p:cNvPr>
          <p:cNvSpPr>
            <a:spLocks noGrp="1"/>
          </p:cNvSpPr>
          <p:nvPr>
            <p:ph type="body" sz="quarter" idx="25"/>
          </p:nvPr>
        </p:nvSpPr>
        <p:spPr/>
        <p:txBody>
          <a:bodyPr/>
          <a:lstStyle/>
          <a:p>
            <a:r>
              <a:rPr lang="fi-FI"/>
              <a:t>FY19-LTM22 historical revenue bridge (£’000)</a:t>
            </a:r>
          </a:p>
        </p:txBody>
      </p:sp>
      <p:sp>
        <p:nvSpPr>
          <p:cNvPr id="5" name="Text Placeholder 4">
            <a:extLst>
              <a:ext uri="{FF2B5EF4-FFF2-40B4-BE49-F238E27FC236}">
                <a16:creationId xmlns:a16="http://schemas.microsoft.com/office/drawing/2014/main" id="{7D705A10-F55C-4ED4-87D9-1E10EC19F9AF}"/>
              </a:ext>
            </a:extLst>
          </p:cNvPr>
          <p:cNvSpPr>
            <a:spLocks noGrp="1"/>
          </p:cNvSpPr>
          <p:nvPr>
            <p:ph type="body" sz="quarter" idx="18"/>
          </p:nvPr>
        </p:nvSpPr>
        <p:spPr>
          <a:xfrm>
            <a:off x="995361" y="3895199"/>
            <a:ext cx="5036400" cy="1981725"/>
          </a:xfrm>
        </p:spPr>
        <p:txBody>
          <a:bodyPr/>
          <a:lstStyle/>
          <a:p>
            <a:pPr>
              <a:defRPr/>
            </a:pPr>
            <a:r>
              <a:rPr lang="en-US" b="1" dirty="0">
                <a:solidFill>
                  <a:schemeClr val="tx2"/>
                </a:solidFill>
              </a:rPr>
              <a:t>Online</a:t>
            </a:r>
          </a:p>
          <a:p>
            <a:pPr defTabSz="762000" fontAlgn="base">
              <a:spcBef>
                <a:spcPts val="200"/>
              </a:spcBef>
            </a:pPr>
            <a:r>
              <a:rPr lang="en-GB" dirty="0">
                <a:solidFill>
                  <a:schemeClr val="tx1"/>
                </a:solidFill>
                <a:latin typeface="Arial" panose="020B0604020202020204" pitchFamily="34" charset="0"/>
                <a:cs typeface="Arial" pitchFamily="34" charset="0"/>
              </a:rPr>
              <a:t>FY19 – FY20: The increase was largely driven by the launch of the </a:t>
            </a:r>
            <a:r>
              <a:rPr lang="en-GB" dirty="0" err="1">
                <a:solidFill>
                  <a:schemeClr val="tx1"/>
                </a:solidFill>
                <a:latin typeface="Arial" panose="020B0604020202020204" pitchFamily="34" charset="0"/>
                <a:cs typeface="Arial" pitchFamily="34" charset="0"/>
              </a:rPr>
              <a:t>yy</a:t>
            </a:r>
            <a:r>
              <a:rPr lang="en-GB" dirty="0">
                <a:solidFill>
                  <a:schemeClr val="tx1"/>
                </a:solidFill>
                <a:latin typeface="Arial" panose="020B0604020202020204" pitchFamily="34" charset="0"/>
                <a:cs typeface="Arial" pitchFamily="34" charset="0"/>
              </a:rPr>
              <a:t> website in March 2019 (£0.6 million), continued growth of the </a:t>
            </a:r>
            <a:r>
              <a:rPr lang="en-GB" dirty="0" err="1">
                <a:solidFill>
                  <a:schemeClr val="tx1"/>
                </a:solidFill>
                <a:latin typeface="Arial" panose="020B0604020202020204" pitchFamily="34" charset="0"/>
                <a:cs typeface="Arial" pitchFamily="34" charset="0"/>
              </a:rPr>
              <a:t>yy</a:t>
            </a:r>
            <a:r>
              <a:rPr lang="en-GB" dirty="0">
                <a:solidFill>
                  <a:schemeClr val="tx1"/>
                </a:solidFill>
                <a:latin typeface="Arial" panose="020B0604020202020204" pitchFamily="34" charset="0"/>
                <a:cs typeface="Arial" pitchFamily="34" charset="0"/>
              </a:rPr>
              <a:t> customer base and an expansion in the product range.</a:t>
            </a:r>
          </a:p>
          <a:p>
            <a:pPr defTabSz="762000" fontAlgn="base">
              <a:spcBef>
                <a:spcPts val="200"/>
              </a:spcBef>
            </a:pPr>
            <a:r>
              <a:rPr lang="en-GB" dirty="0">
                <a:solidFill>
                  <a:schemeClr val="tx1"/>
                </a:solidFill>
                <a:latin typeface="Arial" panose="020B0604020202020204" pitchFamily="34" charset="0"/>
                <a:cs typeface="Arial" pitchFamily="34" charset="0"/>
              </a:rPr>
              <a:t>FY20 – FY21: The significant increase predominantly relates to customer acquisition both in </a:t>
            </a:r>
            <a:r>
              <a:rPr lang="en-GB" dirty="0" err="1">
                <a:solidFill>
                  <a:schemeClr val="tx1"/>
                </a:solidFill>
                <a:latin typeface="Arial" panose="020B0604020202020204" pitchFamily="34" charset="0"/>
                <a:cs typeface="Arial" pitchFamily="34" charset="0"/>
              </a:rPr>
              <a:t>yy</a:t>
            </a:r>
            <a:r>
              <a:rPr lang="en-GB" dirty="0">
                <a:solidFill>
                  <a:schemeClr val="tx1"/>
                </a:solidFill>
                <a:latin typeface="Arial" panose="020B0604020202020204" pitchFamily="34" charset="0"/>
                <a:cs typeface="Arial" pitchFamily="34" charset="0"/>
              </a:rPr>
              <a:t> and internationally from increased marketing spend and enhanced customer communication, but is also partially attributable to the closure of high street stores amidst the Covid-19 pandemic driving increased online demand.</a:t>
            </a:r>
          </a:p>
          <a:p>
            <a:pPr defTabSz="762000" fontAlgn="base">
              <a:spcBef>
                <a:spcPts val="200"/>
              </a:spcBef>
            </a:pPr>
            <a:r>
              <a:rPr lang="en-GB" dirty="0">
                <a:solidFill>
                  <a:schemeClr val="tx1"/>
                </a:solidFill>
                <a:latin typeface="Arial" panose="020B0604020202020204" pitchFamily="34" charset="0"/>
                <a:cs typeface="Arial" pitchFamily="34" charset="0"/>
              </a:rPr>
              <a:t>FY21 – LTM22: Customer acquisition has continued, and Management assert factors including head to toe dressing, higher dress mix and more efficient demand planning has driven higher AOVs and order frequency.</a:t>
            </a:r>
            <a:endParaRPr lang="en-GB" dirty="0">
              <a:solidFill>
                <a:srgbClr val="FF0000"/>
              </a:solidFill>
              <a:latin typeface="Arial" panose="020B0604020202020204" pitchFamily="34" charset="0"/>
              <a:cs typeface="Arial" pitchFamily="34" charset="0"/>
            </a:endParaRPr>
          </a:p>
          <a:p>
            <a:pPr>
              <a:defRPr/>
            </a:pPr>
            <a:endParaRPr lang="en-US" sz="1000" dirty="0"/>
          </a:p>
        </p:txBody>
      </p:sp>
      <p:sp>
        <p:nvSpPr>
          <p:cNvPr id="6" name="Text Placeholder 5">
            <a:extLst>
              <a:ext uri="{FF2B5EF4-FFF2-40B4-BE49-F238E27FC236}">
                <a16:creationId xmlns:a16="http://schemas.microsoft.com/office/drawing/2014/main" id="{203251E9-C89D-4750-890C-A0449B1BBF68}"/>
              </a:ext>
            </a:extLst>
          </p:cNvPr>
          <p:cNvSpPr>
            <a:spLocks noGrp="1"/>
          </p:cNvSpPr>
          <p:nvPr>
            <p:ph type="body" sz="quarter" idx="19"/>
          </p:nvPr>
        </p:nvSpPr>
        <p:spPr>
          <a:xfrm>
            <a:off x="6175864" y="3895199"/>
            <a:ext cx="5023949" cy="1978910"/>
          </a:xfrm>
        </p:spPr>
        <p:txBody>
          <a:bodyPr/>
          <a:lstStyle/>
          <a:p>
            <a:r>
              <a:rPr lang="fi-FI" b="1" dirty="0">
                <a:solidFill>
                  <a:schemeClr val="tx2"/>
                </a:solidFill>
              </a:rPr>
              <a:t>Retail</a:t>
            </a:r>
          </a:p>
          <a:p>
            <a:pPr defTabSz="762000" fontAlgn="base">
              <a:spcBef>
                <a:spcPts val="200"/>
              </a:spcBef>
            </a:pPr>
            <a:r>
              <a:rPr lang="en-GB" sz="1000" dirty="0">
                <a:solidFill>
                  <a:schemeClr val="tx1"/>
                </a:solidFill>
                <a:latin typeface="Arial" panose="020B0604020202020204" pitchFamily="34" charset="0"/>
                <a:cs typeface="Arial" pitchFamily="34" charset="0"/>
              </a:rPr>
              <a:t>FY19 – FY20: The increase was driven by both the opening of Boutique E and a LFL increase of 52.9%, which Management attributes to increased brand awareness, an improved product range in store and styling session offerings. Concession revenue increased due to the full year impact of the Department store A concessions and the increase in floor space in the </a:t>
            </a:r>
            <a:r>
              <a:rPr lang="en-GB" sz="1000" dirty="0" err="1">
                <a:solidFill>
                  <a:schemeClr val="tx1"/>
                </a:solidFill>
                <a:latin typeface="Arial" panose="020B0604020202020204" pitchFamily="34" charset="0"/>
                <a:cs typeface="Arial" pitchFamily="34" charset="0"/>
              </a:rPr>
              <a:t>yy</a:t>
            </a:r>
            <a:r>
              <a:rPr lang="en-GB" sz="1000" dirty="0">
                <a:solidFill>
                  <a:schemeClr val="tx1"/>
                </a:solidFill>
                <a:latin typeface="Arial" panose="020B0604020202020204" pitchFamily="34" charset="0"/>
                <a:cs typeface="Arial" pitchFamily="34" charset="0"/>
              </a:rPr>
              <a:t> concession.</a:t>
            </a:r>
          </a:p>
          <a:p>
            <a:pPr defTabSz="762000" fontAlgn="base">
              <a:spcBef>
                <a:spcPts val="200"/>
              </a:spcBef>
            </a:pPr>
            <a:r>
              <a:rPr lang="en-GB" sz="1000" dirty="0">
                <a:solidFill>
                  <a:schemeClr val="tx1"/>
                </a:solidFill>
                <a:latin typeface="Arial" panose="020B0604020202020204" pitchFamily="34" charset="0"/>
                <a:cs typeface="Arial" pitchFamily="34" charset="0"/>
              </a:rPr>
              <a:t>FY20 – FY21: Both boutique and concession revenue declined as a result of store closures amidst the Covid-19 pandemic.</a:t>
            </a:r>
          </a:p>
          <a:p>
            <a:pPr defTabSz="762000" fontAlgn="base">
              <a:spcBef>
                <a:spcPts val="200"/>
              </a:spcBef>
            </a:pPr>
            <a:r>
              <a:rPr lang="en-GB" sz="1000" dirty="0">
                <a:solidFill>
                  <a:schemeClr val="tx1"/>
                </a:solidFill>
                <a:latin typeface="Arial" panose="020B0604020202020204" pitchFamily="34" charset="0"/>
                <a:cs typeface="Arial" pitchFamily="34" charset="0"/>
              </a:rPr>
              <a:t>FY21 – LTM22: The increase is primarily driven by the recovery in boutique revenue, with YTD September 2021 LFL growth of 40.9% compared with September 2019.</a:t>
            </a:r>
          </a:p>
          <a:p>
            <a:endParaRPr lang="fi-FI" dirty="0">
              <a:solidFill>
                <a:schemeClr val="tx2"/>
              </a:solidFill>
            </a:endParaRPr>
          </a:p>
        </p:txBody>
      </p:sp>
      <p:sp>
        <p:nvSpPr>
          <p:cNvPr id="2" name="Text Placeholder 12">
            <a:extLst>
              <a:ext uri="{FF2B5EF4-FFF2-40B4-BE49-F238E27FC236}">
                <a16:creationId xmlns:a16="http://schemas.microsoft.com/office/drawing/2014/main" id="{72F222C6-0458-8353-C535-1064A5967737}"/>
              </a:ext>
            </a:extLst>
          </p:cNvPr>
          <p:cNvSpPr txBox="1">
            <a:spLocks/>
          </p:cNvSpPr>
          <p:nvPr/>
        </p:nvSpPr>
        <p:spPr>
          <a:xfrm>
            <a:off x="1003312" y="588213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a:t>
            </a:r>
            <a:endParaRPr lang="en-US" sz="600" b="0">
              <a:solidFill>
                <a:schemeClr val="tx2"/>
              </a:solidFill>
              <a:latin typeface="Arial" panose="020B0604020202020204" pitchFamily="34" charset="0"/>
            </a:endParaRPr>
          </a:p>
        </p:txBody>
      </p:sp>
      <p:sp>
        <p:nvSpPr>
          <p:cNvPr id="17" name="Text Placeholder 7">
            <a:extLst>
              <a:ext uri="{FF2B5EF4-FFF2-40B4-BE49-F238E27FC236}">
                <a16:creationId xmlns:a16="http://schemas.microsoft.com/office/drawing/2014/main" id="{188A9BF1-E61B-7171-7A2E-DFBBB6C26EA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23" name="Text Placeholder 12">
            <a:extLst>
              <a:ext uri="{FF2B5EF4-FFF2-40B4-BE49-F238E27FC236}">
                <a16:creationId xmlns:a16="http://schemas.microsoft.com/office/drawing/2014/main" id="{8106C5DC-7EF5-78E8-1543-7CC0AA7A260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4" name="Rounded Rectangle 7">
            <a:extLst>
              <a:ext uri="{FF2B5EF4-FFF2-40B4-BE49-F238E27FC236}">
                <a16:creationId xmlns:a16="http://schemas.microsoft.com/office/drawing/2014/main" id="{723EE86D-2C21-D7D4-C9B0-49214E98D081}"/>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5" name="Rectangle 24">
            <a:extLst>
              <a:ext uri="{FF2B5EF4-FFF2-40B4-BE49-F238E27FC236}">
                <a16:creationId xmlns:a16="http://schemas.microsoft.com/office/drawing/2014/main" id="{28141DA7-CE9C-6882-C14D-0E5471D53C96}"/>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3" name="Straight Arrow Connector 32">
            <a:extLst>
              <a:ext uri="{FF2B5EF4-FFF2-40B4-BE49-F238E27FC236}">
                <a16:creationId xmlns:a16="http://schemas.microsoft.com/office/drawing/2014/main" id="{49A45EFF-ECF0-564A-3E99-0551F213323E}"/>
              </a:ext>
            </a:extLst>
          </p:cNvPr>
          <p:cNvCxnSpPr>
            <a:cxnSpLocks/>
            <a:stCxn id="25" idx="2"/>
            <a:endCxn id="2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BC1D30EE-FA34-4117-82CF-DE20053F865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1" name="Rectangle 90">
            <a:extLst>
              <a:ext uri="{FF2B5EF4-FFF2-40B4-BE49-F238E27FC236}">
                <a16:creationId xmlns:a16="http://schemas.microsoft.com/office/drawing/2014/main" id="{A38A73E0-993F-4144-BA38-835FB66FFB9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2" name="Rectangle 91">
            <a:extLst>
              <a:ext uri="{FF2B5EF4-FFF2-40B4-BE49-F238E27FC236}">
                <a16:creationId xmlns:a16="http://schemas.microsoft.com/office/drawing/2014/main" id="{19B70004-9776-4BA4-B71F-7B27D0A131C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3" name="Rectangle 92">
            <a:extLst>
              <a:ext uri="{FF2B5EF4-FFF2-40B4-BE49-F238E27FC236}">
                <a16:creationId xmlns:a16="http://schemas.microsoft.com/office/drawing/2014/main" id="{3672314C-1924-46FF-8A31-109934371A3B}"/>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4" name="Rectangle 93">
            <a:extLst>
              <a:ext uri="{FF2B5EF4-FFF2-40B4-BE49-F238E27FC236}">
                <a16:creationId xmlns:a16="http://schemas.microsoft.com/office/drawing/2014/main" id="{34972996-12AD-4B3B-A69B-FC043C1754F9}"/>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5" name="Rectangle 94">
            <a:extLst>
              <a:ext uri="{FF2B5EF4-FFF2-40B4-BE49-F238E27FC236}">
                <a16:creationId xmlns:a16="http://schemas.microsoft.com/office/drawing/2014/main" id="{F82BA373-98F1-4343-B056-0A7061EE8DA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6" name="Rectangle 95">
            <a:extLst>
              <a:ext uri="{FF2B5EF4-FFF2-40B4-BE49-F238E27FC236}">
                <a16:creationId xmlns:a16="http://schemas.microsoft.com/office/drawing/2014/main" id="{610E0BE5-BDD9-4DCC-A80E-4E6533447D3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7" name="Rectangle 96">
            <a:extLst>
              <a:ext uri="{FF2B5EF4-FFF2-40B4-BE49-F238E27FC236}">
                <a16:creationId xmlns:a16="http://schemas.microsoft.com/office/drawing/2014/main" id="{6B6C02E3-65F7-4E30-9C1B-A776CBD0A4CE}"/>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8" name="Rectangle 97">
            <a:extLst>
              <a:ext uri="{FF2B5EF4-FFF2-40B4-BE49-F238E27FC236}">
                <a16:creationId xmlns:a16="http://schemas.microsoft.com/office/drawing/2014/main" id="{AC49E725-1BC5-443A-9387-39D10D7FDFB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8" name="Picture 7">
            <a:extLst>
              <a:ext uri="{FF2B5EF4-FFF2-40B4-BE49-F238E27FC236}">
                <a16:creationId xmlns:a16="http://schemas.microsoft.com/office/drawing/2014/main" id="{5C45E972-F2EE-4529-B469-095A2C616A26}"/>
              </a:ext>
            </a:extLst>
          </p:cNvPr>
          <p:cNvPicPr>
            <a:picLocks noChangeAspect="1"/>
          </p:cNvPicPr>
          <p:nvPr>
            <p:custDataLst>
              <p:tags r:id="rId3"/>
            </p:custDataLst>
          </p:nvPr>
        </p:nvPicPr>
        <p:blipFill>
          <a:blip r:embed="rId11"/>
          <a:stretch>
            <a:fillRect/>
          </a:stretch>
        </p:blipFill>
        <p:spPr>
          <a:xfrm>
            <a:off x="1004340" y="2154999"/>
            <a:ext cx="10192299" cy="1662401"/>
          </a:xfrm>
          <a:prstGeom prst="rect">
            <a:avLst/>
          </a:prstGeom>
        </p:spPr>
      </p:pic>
      <p:sp>
        <p:nvSpPr>
          <p:cNvPr id="42" name="Rectangle: Rounded Corners 41">
            <a:hlinkClick r:id="rId12" action="ppaction://hlinksldjump"/>
            <a:extLst>
              <a:ext uri="{FF2B5EF4-FFF2-40B4-BE49-F238E27FC236}">
                <a16:creationId xmlns:a16="http://schemas.microsoft.com/office/drawing/2014/main" id="{94EBF44D-A5F2-4C27-83A6-EFEE2CE7721D}"/>
              </a:ext>
            </a:extLst>
          </p:cNvPr>
          <p:cNvSpPr/>
          <p:nvPr/>
        </p:nvSpPr>
        <p:spPr>
          <a:xfrm>
            <a:off x="5175750" y="387040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3" name="Rectangle: Rounded Corners 42">
            <a:hlinkClick r:id="rId13" action="ppaction://hlinksldjump"/>
            <a:extLst>
              <a:ext uri="{FF2B5EF4-FFF2-40B4-BE49-F238E27FC236}">
                <a16:creationId xmlns:a16="http://schemas.microsoft.com/office/drawing/2014/main" id="{A499270A-78FE-4B64-9EDB-725A7D4B725D}"/>
              </a:ext>
            </a:extLst>
          </p:cNvPr>
          <p:cNvSpPr/>
          <p:nvPr/>
        </p:nvSpPr>
        <p:spPr>
          <a:xfrm>
            <a:off x="10404321" y="387040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4" name="Rounded Rectangle 7">
            <a:extLst>
              <a:ext uri="{FF2B5EF4-FFF2-40B4-BE49-F238E27FC236}">
                <a16:creationId xmlns:a16="http://schemas.microsoft.com/office/drawing/2014/main" id="{11452D19-5056-482D-93E6-4360580E39E9}"/>
              </a:ext>
            </a:extLst>
          </p:cNvPr>
          <p:cNvSpPr/>
          <p:nvPr>
            <p:custDataLst>
              <p:tags r:id="rId4"/>
            </p:custDataLst>
          </p:nvPr>
        </p:nvSpPr>
        <p:spPr>
          <a:xfrm>
            <a:off x="9547341" y="2254478"/>
            <a:ext cx="607313" cy="290404"/>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45" name="Rectangle 44">
            <a:extLst>
              <a:ext uri="{FF2B5EF4-FFF2-40B4-BE49-F238E27FC236}">
                <a16:creationId xmlns:a16="http://schemas.microsoft.com/office/drawing/2014/main" id="{AE2ECF88-8A5E-467A-8238-9B06145F1D7F}"/>
              </a:ext>
            </a:extLst>
          </p:cNvPr>
          <p:cNvSpPr/>
          <p:nvPr/>
        </p:nvSpPr>
        <p:spPr>
          <a:xfrm>
            <a:off x="9377530" y="2646114"/>
            <a:ext cx="966181"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a:solidFill>
                  <a:sysClr val="windowText" lastClr="000000"/>
                </a:solidFill>
              </a:rPr>
              <a:t>Aged stock items were sold at a sample sale in June 2021. </a:t>
            </a:r>
          </a:p>
        </p:txBody>
      </p:sp>
      <p:sp>
        <p:nvSpPr>
          <p:cNvPr id="4" name="UpSlide SubSection Marker" hidden="1">
            <a:extLst>
              <a:ext uri="{FF2B5EF4-FFF2-40B4-BE49-F238E27FC236}">
                <a16:creationId xmlns:a16="http://schemas.microsoft.com/office/drawing/2014/main" id="{C0B2395F-2C4F-423F-BF25-9BCBC6B3DEBC}"/>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Revenue and EBITDA bridge</a:t>
            </a:r>
            <a:endParaRPr lang="en-GB" sz="900" dirty="0">
              <a:solidFill>
                <a:schemeClr val="bg1"/>
              </a:solidFill>
            </a:endParaRPr>
          </a:p>
        </p:txBody>
      </p:sp>
      <p:grpSp>
        <p:nvGrpSpPr>
          <p:cNvPr id="37" name="Group 36">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8"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Current Section2">
              <a:hlinkClick r:id="rId15"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0"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6"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7"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8"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04034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8907B9A0-A92C-482D-B569-139EFDC26703}"/>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6" name="Object 15" hidden="1">
                        <a:extLst>
                          <a:ext uri="{FF2B5EF4-FFF2-40B4-BE49-F238E27FC236}">
                            <a16:creationId xmlns:a16="http://schemas.microsoft.com/office/drawing/2014/main" id="{8907B9A0-A92C-482D-B569-139EFDC26703}"/>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211E30AA-0039-40B6-94F5-A22953C8A0A3}"/>
              </a:ext>
            </a:extLst>
          </p:cNvPr>
          <p:cNvSpPr>
            <a:spLocks noGrp="1"/>
          </p:cNvSpPr>
          <p:nvPr>
            <p:ph type="body" sz="quarter" idx="10"/>
          </p:nvPr>
        </p:nvSpPr>
        <p:spPr/>
        <p:txBody>
          <a:bodyPr/>
          <a:lstStyle/>
          <a:p>
            <a:r>
              <a:rPr lang="en-GB" dirty="0"/>
              <a:t>Y has displayed strong EBITDA growth across the historical period with both the online and retail channels generating positive contribution (with the exception of retail in FY21 when the channel was heavily impacted by store closures during the Covid-19 pandemic). The EBITDA margin has continually improved, from 0.5% in FY19 to 20.6% in LTM22, as the business has leveraged overheads (which are relatively fixed in nature) to grow the online channel.</a:t>
            </a:r>
          </a:p>
          <a:p>
            <a:endParaRPr lang="fi-FI" dirty="0"/>
          </a:p>
        </p:txBody>
      </p:sp>
      <p:sp>
        <p:nvSpPr>
          <p:cNvPr id="9" name="Title 8">
            <a:extLst>
              <a:ext uri="{FF2B5EF4-FFF2-40B4-BE49-F238E27FC236}">
                <a16:creationId xmlns:a16="http://schemas.microsoft.com/office/drawing/2014/main" id="{15EB4C87-E77E-495A-8846-69F5422952F8}"/>
              </a:ext>
            </a:extLst>
          </p:cNvPr>
          <p:cNvSpPr>
            <a:spLocks noGrp="1"/>
          </p:cNvSpPr>
          <p:nvPr>
            <p:ph type="title"/>
          </p:nvPr>
        </p:nvSpPr>
        <p:spPr/>
        <p:txBody>
          <a:bodyPr/>
          <a:lstStyle/>
          <a:p>
            <a:r>
              <a:rPr lang="en-US"/>
              <a:t>EBITDA bridge</a:t>
            </a:r>
          </a:p>
        </p:txBody>
      </p:sp>
      <p:sp>
        <p:nvSpPr>
          <p:cNvPr id="13" name="Text Placeholder 12">
            <a:extLst>
              <a:ext uri="{FF2B5EF4-FFF2-40B4-BE49-F238E27FC236}">
                <a16:creationId xmlns:a16="http://schemas.microsoft.com/office/drawing/2014/main" id="{AFD94623-60A6-488A-915A-34C2D5CFC85A}"/>
              </a:ext>
            </a:extLst>
          </p:cNvPr>
          <p:cNvSpPr>
            <a:spLocks noGrp="1"/>
          </p:cNvSpPr>
          <p:nvPr>
            <p:ph type="body" sz="quarter" idx="25"/>
          </p:nvPr>
        </p:nvSpPr>
        <p:spPr/>
        <p:txBody>
          <a:bodyPr/>
          <a:lstStyle/>
          <a:p>
            <a:r>
              <a:rPr lang="fi-FI"/>
              <a:t>FY19-LTM22 historical EBITDA bridge (£’000)</a:t>
            </a:r>
          </a:p>
        </p:txBody>
      </p:sp>
      <p:sp>
        <p:nvSpPr>
          <p:cNvPr id="2" name="Text Placeholder 12">
            <a:extLst>
              <a:ext uri="{FF2B5EF4-FFF2-40B4-BE49-F238E27FC236}">
                <a16:creationId xmlns:a16="http://schemas.microsoft.com/office/drawing/2014/main" id="{2E405DFD-86AD-4651-160E-238A0714FA66}"/>
              </a:ext>
            </a:extLst>
          </p:cNvPr>
          <p:cNvSpPr txBox="1">
            <a:spLocks/>
          </p:cNvSpPr>
          <p:nvPr/>
        </p:nvSpPr>
        <p:spPr>
          <a:xfrm>
            <a:off x="1003312" y="609043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	</a:t>
            </a:r>
            <a:endParaRPr lang="en-US" sz="600" b="0">
              <a:solidFill>
                <a:schemeClr val="tx2"/>
              </a:solidFill>
              <a:latin typeface="Arial" panose="020B0604020202020204" pitchFamily="34" charset="0"/>
            </a:endParaRPr>
          </a:p>
        </p:txBody>
      </p:sp>
      <p:sp>
        <p:nvSpPr>
          <p:cNvPr id="90" name="Rectangle 89">
            <a:extLst>
              <a:ext uri="{FF2B5EF4-FFF2-40B4-BE49-F238E27FC236}">
                <a16:creationId xmlns:a16="http://schemas.microsoft.com/office/drawing/2014/main" id="{282F6F0C-FA6E-4A07-B1C6-0E968465652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1" name="Rectangle 90">
            <a:extLst>
              <a:ext uri="{FF2B5EF4-FFF2-40B4-BE49-F238E27FC236}">
                <a16:creationId xmlns:a16="http://schemas.microsoft.com/office/drawing/2014/main" id="{053014E6-6A48-449B-A30B-7A45578116B4}"/>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2" name="Rectangle 91">
            <a:extLst>
              <a:ext uri="{FF2B5EF4-FFF2-40B4-BE49-F238E27FC236}">
                <a16:creationId xmlns:a16="http://schemas.microsoft.com/office/drawing/2014/main" id="{2DA86BD8-FE16-4C3A-ABAB-6BC01088FD0D}"/>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3" name="Rectangle 92">
            <a:extLst>
              <a:ext uri="{FF2B5EF4-FFF2-40B4-BE49-F238E27FC236}">
                <a16:creationId xmlns:a16="http://schemas.microsoft.com/office/drawing/2014/main" id="{D3E89118-0A75-4F8D-9A81-D1EE1718C9D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4" name="Rectangle 93">
            <a:extLst>
              <a:ext uri="{FF2B5EF4-FFF2-40B4-BE49-F238E27FC236}">
                <a16:creationId xmlns:a16="http://schemas.microsoft.com/office/drawing/2014/main" id="{528882AF-9E7C-46BF-BD61-B0B30C1418BC}"/>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5" name="Rectangle 94">
            <a:extLst>
              <a:ext uri="{FF2B5EF4-FFF2-40B4-BE49-F238E27FC236}">
                <a16:creationId xmlns:a16="http://schemas.microsoft.com/office/drawing/2014/main" id="{4B913554-3D3E-4D7D-B023-7BC1F9267D1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6" name="Rectangle 95">
            <a:extLst>
              <a:ext uri="{FF2B5EF4-FFF2-40B4-BE49-F238E27FC236}">
                <a16:creationId xmlns:a16="http://schemas.microsoft.com/office/drawing/2014/main" id="{E9AA5186-8C66-44A0-9D8E-8B5ED3CE5E67}"/>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7" name="Rectangle 96">
            <a:extLst>
              <a:ext uri="{FF2B5EF4-FFF2-40B4-BE49-F238E27FC236}">
                <a16:creationId xmlns:a16="http://schemas.microsoft.com/office/drawing/2014/main" id="{59DD3D57-371D-4135-B465-EE29800EC28B}"/>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8" name="Rectangle 97">
            <a:extLst>
              <a:ext uri="{FF2B5EF4-FFF2-40B4-BE49-F238E27FC236}">
                <a16:creationId xmlns:a16="http://schemas.microsoft.com/office/drawing/2014/main" id="{101AD455-5FAD-4EF3-AEE8-F030EC85AD12}"/>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9" name="Text Placeholder 7">
            <a:extLst>
              <a:ext uri="{FF2B5EF4-FFF2-40B4-BE49-F238E27FC236}">
                <a16:creationId xmlns:a16="http://schemas.microsoft.com/office/drawing/2014/main" id="{7A62D14F-1554-4359-B175-9D167DF79FA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0" name="Text Placeholder 12">
            <a:extLst>
              <a:ext uri="{FF2B5EF4-FFF2-40B4-BE49-F238E27FC236}">
                <a16:creationId xmlns:a16="http://schemas.microsoft.com/office/drawing/2014/main" id="{7CDE7FAC-9D24-453A-A2E1-00F9D7DC55A5}"/>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1" name="Rounded Rectangle 7">
            <a:extLst>
              <a:ext uri="{FF2B5EF4-FFF2-40B4-BE49-F238E27FC236}">
                <a16:creationId xmlns:a16="http://schemas.microsoft.com/office/drawing/2014/main" id="{BE6C32D2-1F28-4FEE-9F2F-70D1389D849A}"/>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2" name="Rectangle 101">
            <a:extLst>
              <a:ext uri="{FF2B5EF4-FFF2-40B4-BE49-F238E27FC236}">
                <a16:creationId xmlns:a16="http://schemas.microsoft.com/office/drawing/2014/main" id="{A5CD3B69-487A-4BC6-BA7C-583ED3F3977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03" name="Straight Arrow Connector 102">
            <a:extLst>
              <a:ext uri="{FF2B5EF4-FFF2-40B4-BE49-F238E27FC236}">
                <a16:creationId xmlns:a16="http://schemas.microsoft.com/office/drawing/2014/main" id="{410D317F-9732-4380-9D5B-71572BD6152E}"/>
              </a:ext>
            </a:extLst>
          </p:cNvPr>
          <p:cNvCxnSpPr>
            <a:cxnSpLocks/>
            <a:stCxn id="102" idx="2"/>
            <a:endCxn id="10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3683932-4DE9-4CF2-9B28-ED98413B600D}"/>
              </a:ext>
            </a:extLst>
          </p:cNvPr>
          <p:cNvPicPr>
            <a:picLocks noChangeAspect="1"/>
          </p:cNvPicPr>
          <p:nvPr>
            <p:custDataLst>
              <p:tags r:id="rId3"/>
            </p:custDataLst>
          </p:nvPr>
        </p:nvPicPr>
        <p:blipFill>
          <a:blip r:embed="rId9"/>
          <a:stretch>
            <a:fillRect/>
          </a:stretch>
        </p:blipFill>
        <p:spPr>
          <a:xfrm>
            <a:off x="1015089" y="2199557"/>
            <a:ext cx="10192299" cy="1741635"/>
          </a:xfrm>
          <a:prstGeom prst="rect">
            <a:avLst/>
          </a:prstGeom>
        </p:spPr>
      </p:pic>
      <p:sp>
        <p:nvSpPr>
          <p:cNvPr id="7" name="TextBox 6">
            <a:extLst>
              <a:ext uri="{FF2B5EF4-FFF2-40B4-BE49-F238E27FC236}">
                <a16:creationId xmlns:a16="http://schemas.microsoft.com/office/drawing/2014/main" id="{CF12451F-0729-4E94-B29B-4E8A00859297}"/>
              </a:ext>
            </a:extLst>
          </p:cNvPr>
          <p:cNvSpPr txBox="1"/>
          <p:nvPr/>
        </p:nvSpPr>
        <p:spPr>
          <a:xfrm>
            <a:off x="984612" y="3884057"/>
            <a:ext cx="5001851" cy="2128683"/>
          </a:xfrm>
          <a:prstGeom prst="rect">
            <a:avLst/>
          </a:prstGeom>
        </p:spPr>
        <p:txBody>
          <a:bodyPr vert="horz" wrap="square" lIns="0" tIns="0" rIns="0" bIns="0" rtlCol="0" anchor="t" anchorCtr="0">
            <a:noAutofit/>
          </a:bodyPr>
          <a:lstStyle/>
          <a:p>
            <a:pPr algn="l">
              <a:spcAft>
                <a:spcPts val="600"/>
              </a:spcAft>
            </a:pPr>
            <a:r>
              <a:rPr lang="en-GB" sz="1000" b="1">
                <a:solidFill>
                  <a:schemeClr val="tx2"/>
                </a:solidFill>
              </a:rPr>
              <a:t>Sales</a:t>
            </a:r>
          </a:p>
          <a:p>
            <a:pPr algn="l">
              <a:spcAft>
                <a:spcPts val="600"/>
              </a:spcAft>
            </a:pPr>
            <a:r>
              <a:rPr lang="en-GB" sz="1000"/>
              <a:t>EBITDA growth has historically been driven by sales volume rather than margin, with gross margin remaining broadly constant at  approx. 65.0% across the historical period, before increasing to 69.7% in LTM22 which management attributes to a higher intake margin and a higher mix of full priced sales, predominantly due to improved demand forecasting (see the Cost base section of the report). </a:t>
            </a:r>
          </a:p>
          <a:p>
            <a:pPr algn="l">
              <a:spcAft>
                <a:spcPts val="600"/>
              </a:spcAft>
            </a:pPr>
            <a:r>
              <a:rPr lang="en-GB" sz="1000"/>
              <a:t>The increase in sales volume is largely driven by the online channel, with transactions increasing from 73,000 in FY19 to 214,000 in LTM22.</a:t>
            </a:r>
          </a:p>
          <a:p>
            <a:pPr algn="l">
              <a:spcAft>
                <a:spcPts val="600"/>
              </a:spcAft>
            </a:pPr>
            <a:r>
              <a:rPr lang="en-GB" sz="1000" b="1">
                <a:solidFill>
                  <a:srgbClr val="00338D"/>
                </a:solidFill>
              </a:rPr>
              <a:t>Direct costs</a:t>
            </a:r>
          </a:p>
          <a:p>
            <a:pPr algn="l">
              <a:spcAft>
                <a:spcPts val="600"/>
              </a:spcAft>
            </a:pPr>
            <a:r>
              <a:rPr lang="en-GB" sz="1000"/>
              <a:t>As a percentage of sales has decreased from 23.1% in FY19 to 17.1% in LTM22, principally due a higher mix of online sales (FY19; 71.4%, LTM22; 85.2%) which typically have lower direct costs due to no direct staff or occupancy costs).</a:t>
            </a:r>
          </a:p>
        </p:txBody>
      </p:sp>
      <p:sp>
        <p:nvSpPr>
          <p:cNvPr id="65" name="TextBox 64">
            <a:extLst>
              <a:ext uri="{FF2B5EF4-FFF2-40B4-BE49-F238E27FC236}">
                <a16:creationId xmlns:a16="http://schemas.microsoft.com/office/drawing/2014/main" id="{1B77D7EA-B635-466B-8A83-54310430869A}"/>
              </a:ext>
            </a:extLst>
          </p:cNvPr>
          <p:cNvSpPr txBox="1"/>
          <p:nvPr/>
        </p:nvSpPr>
        <p:spPr>
          <a:xfrm>
            <a:off x="6214887" y="3884586"/>
            <a:ext cx="5001851" cy="2128683"/>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Marketing costs</a:t>
            </a:r>
          </a:p>
          <a:p>
            <a:pPr algn="l">
              <a:spcAft>
                <a:spcPts val="600"/>
              </a:spcAft>
            </a:pPr>
            <a:r>
              <a:rPr lang="en-GB" sz="1000" dirty="0"/>
              <a:t>Increased by £4.0 million over the historical period, driven by a £3.3 million increase in digital marketing following a greater focus on this marketing channel for customer acquisition.</a:t>
            </a:r>
          </a:p>
          <a:p>
            <a:pPr algn="l">
              <a:spcAft>
                <a:spcPts val="600"/>
              </a:spcAft>
            </a:pPr>
            <a:r>
              <a:rPr lang="en-GB" sz="1000" dirty="0"/>
              <a:t> Brochure costs have also increased over the historical period by £0.6 million, £0.5 million of which came in LTM22 as a result of increased demand in the US. Brochure costs have not increased in line with sales growth due to the increased focus on digital marketing.</a:t>
            </a:r>
          </a:p>
          <a:p>
            <a:pPr algn="l">
              <a:spcAft>
                <a:spcPts val="600"/>
              </a:spcAft>
            </a:pPr>
            <a:r>
              <a:rPr lang="en-GB" sz="1000" b="1" dirty="0">
                <a:solidFill>
                  <a:srgbClr val="00338D"/>
                </a:solidFill>
              </a:rPr>
              <a:t>Other overheads</a:t>
            </a:r>
          </a:p>
          <a:p>
            <a:pPr algn="l">
              <a:spcAft>
                <a:spcPts val="600"/>
              </a:spcAft>
            </a:pPr>
            <a:r>
              <a:rPr lang="en-GB" sz="1000" dirty="0"/>
              <a:t>Increased by £3.0 million over the historical period. Largely driven by central staff costs (£2.1 million) driven by a higher headcount to support business growth, particularly in the online channel. Other overheads such as head office rent, general and IT costs have increased as a result of, or to support, business growth.</a:t>
            </a:r>
          </a:p>
          <a:p>
            <a:pPr algn="l">
              <a:spcAft>
                <a:spcPts val="600"/>
              </a:spcAft>
            </a:pPr>
            <a:endParaRPr lang="en-GB" sz="1000" dirty="0"/>
          </a:p>
        </p:txBody>
      </p:sp>
      <p:sp>
        <p:nvSpPr>
          <p:cNvPr id="66" name="Rectangle: Rounded Corners 65">
            <a:hlinkClick r:id="rId10" action="ppaction://hlinksldjump"/>
            <a:extLst>
              <a:ext uri="{FF2B5EF4-FFF2-40B4-BE49-F238E27FC236}">
                <a16:creationId xmlns:a16="http://schemas.microsoft.com/office/drawing/2014/main" id="{6ED409E6-BFB9-4B76-90FE-3FAEA3E96BC7}"/>
              </a:ext>
            </a:extLst>
          </p:cNvPr>
          <p:cNvSpPr/>
          <p:nvPr/>
        </p:nvSpPr>
        <p:spPr>
          <a:xfrm>
            <a:off x="5175750" y="387040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67" name="Rectangle: Rounded Corners 66">
            <a:hlinkClick r:id="rId11" action="ppaction://hlinksldjump"/>
            <a:extLst>
              <a:ext uri="{FF2B5EF4-FFF2-40B4-BE49-F238E27FC236}">
                <a16:creationId xmlns:a16="http://schemas.microsoft.com/office/drawing/2014/main" id="{CD339C51-7EF3-4294-967D-0BFFA7E5ACAF}"/>
              </a:ext>
            </a:extLst>
          </p:cNvPr>
          <p:cNvSpPr/>
          <p:nvPr/>
        </p:nvSpPr>
        <p:spPr>
          <a:xfrm>
            <a:off x="5170850" y="528089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68" name="Rectangle: Rounded Corners 67">
            <a:hlinkClick r:id="rId11" action="ppaction://hlinksldjump"/>
            <a:extLst>
              <a:ext uri="{FF2B5EF4-FFF2-40B4-BE49-F238E27FC236}">
                <a16:creationId xmlns:a16="http://schemas.microsoft.com/office/drawing/2014/main" id="{35FE9B3E-AA67-4D0B-83AD-5D0E45C6F01D}"/>
              </a:ext>
            </a:extLst>
          </p:cNvPr>
          <p:cNvSpPr/>
          <p:nvPr/>
        </p:nvSpPr>
        <p:spPr>
          <a:xfrm>
            <a:off x="10498155" y="3870404"/>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a:t>
            </a:r>
            <a:r>
              <a:rPr lang="en-US" sz="800" b="1" dirty="0">
                <a:solidFill>
                  <a:schemeClr val="bg1"/>
                </a:solidFill>
              </a:rPr>
              <a:t> more</a:t>
            </a:r>
          </a:p>
        </p:txBody>
      </p:sp>
      <p:sp>
        <p:nvSpPr>
          <p:cNvPr id="69" name="Rectangle: Rounded Corners 68">
            <a:hlinkClick r:id="rId11" action="ppaction://hlinksldjump"/>
            <a:extLst>
              <a:ext uri="{FF2B5EF4-FFF2-40B4-BE49-F238E27FC236}">
                <a16:creationId xmlns:a16="http://schemas.microsoft.com/office/drawing/2014/main" id="{B28859D3-5012-4BCD-BA8D-CC40FBF9ED52}"/>
              </a:ext>
            </a:extLst>
          </p:cNvPr>
          <p:cNvSpPr/>
          <p:nvPr/>
        </p:nvSpPr>
        <p:spPr>
          <a:xfrm>
            <a:off x="10498155" y="5175978"/>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3" name="UpSlide SubSection Marker" hidden="1">
            <a:extLst>
              <a:ext uri="{FF2B5EF4-FFF2-40B4-BE49-F238E27FC236}">
                <a16:creationId xmlns:a16="http://schemas.microsoft.com/office/drawing/2014/main" id="{C99F2C76-BDE2-47C7-9C1D-F85830321748}"/>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Revenue and EBITDA bridge</a:t>
            </a:r>
            <a:endParaRPr lang="en-GB" sz="900" dirty="0">
              <a:solidFill>
                <a:schemeClr val="bg1"/>
              </a:solidFill>
            </a:endParaRPr>
          </a:p>
        </p:txBody>
      </p:sp>
      <p:grpSp>
        <p:nvGrpSpPr>
          <p:cNvPr id="37" name="Group 36">
            <a:extLst>
              <a:ext uri="{FF2B5EF4-FFF2-40B4-BE49-F238E27FC236}">
                <a16:creationId xmlns:a16="http://schemas.microsoft.com/office/drawing/2014/main" id="{6053D987-536A-4F5C-A091-BF2D8B3453A5}"/>
              </a:ext>
            </a:extLst>
          </p:cNvPr>
          <p:cNvGrpSpPr/>
          <p:nvPr>
            <p:custDataLst>
              <p:tags r:id="rId5"/>
            </p:custDataLst>
          </p:nvPr>
        </p:nvGrpSpPr>
        <p:grpSpPr>
          <a:xfrm>
            <a:off x="995364" y="153170"/>
            <a:ext cx="6253254" cy="195814"/>
            <a:chOff x="995364" y="153170"/>
            <a:chExt cx="6253254" cy="195814"/>
          </a:xfrm>
        </p:grpSpPr>
        <p:sp>
          <p:nvSpPr>
            <p:cNvPr id="38"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0"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79248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C41DD02-48B4-4B35-8742-4D2BED007694}"/>
              </a:ext>
            </a:extLst>
          </p:cNvPr>
          <p:cNvPicPr>
            <a:picLocks noChangeAspect="1"/>
          </p:cNvPicPr>
          <p:nvPr>
            <p:custDataLst>
              <p:tags r:id="rId1"/>
            </p:custDataLst>
          </p:nvPr>
        </p:nvPicPr>
        <p:blipFill>
          <a:blip r:embed="rId8"/>
          <a:stretch>
            <a:fillRect/>
          </a:stretch>
        </p:blipFill>
        <p:spPr>
          <a:xfrm>
            <a:off x="995361" y="4339622"/>
            <a:ext cx="3690499" cy="1744280"/>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778B4714-9437-4A6E-814B-CBE303C23250}"/>
              </a:ext>
            </a:extLst>
          </p:cNvPr>
          <p:cNvSpPr>
            <a:spLocks noGrp="1"/>
          </p:cNvSpPr>
          <p:nvPr>
            <p:ph type="body" sz="quarter" idx="10"/>
          </p:nvPr>
        </p:nvSpPr>
        <p:spPr/>
        <p:txBody>
          <a:bodyPr/>
          <a:lstStyle/>
          <a:p>
            <a:pPr>
              <a:lnSpc>
                <a:spcPct val="78000"/>
              </a:lnSpc>
            </a:pPr>
            <a:r>
              <a:rPr lang="en-GB" dirty="0"/>
              <a:t>Sales from all channels can be returned within 28 days for a full refund. At Christmas, an extended returns policy is offered. Returns as a percentage of sales is much higher for the online channel than retail, due in part to customers not being able to see/feel the product and ordering multiple sizes. </a:t>
            </a:r>
          </a:p>
          <a:p>
            <a:pPr>
              <a:lnSpc>
                <a:spcPct val="78000"/>
              </a:lnSpc>
            </a:pPr>
            <a:r>
              <a:rPr lang="en-GB" dirty="0"/>
              <a:t>Customers can return online orders in store, although these are processed by head office and recorded within the online channel accounts. Concession returns can only be processed by the concession partner.</a:t>
            </a:r>
          </a:p>
          <a:p>
            <a:pPr>
              <a:lnSpc>
                <a:spcPct val="78000"/>
              </a:lnSpc>
            </a:pPr>
            <a:endParaRPr lang="en-GB" dirty="0"/>
          </a:p>
          <a:p>
            <a:endParaRPr lang="fi-FI" dirty="0"/>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Net sales breakdown (1/2)</a:t>
            </a:r>
          </a:p>
        </p:txBody>
      </p:sp>
      <p:sp>
        <p:nvSpPr>
          <p:cNvPr id="10" name="Text Placeholder 9">
            <a:extLst>
              <a:ext uri="{FF2B5EF4-FFF2-40B4-BE49-F238E27FC236}">
                <a16:creationId xmlns:a16="http://schemas.microsoft.com/office/drawing/2014/main" id="{9FC4BB7C-C4A1-4031-B5ED-D2756823D353}"/>
              </a:ext>
            </a:extLst>
          </p:cNvPr>
          <p:cNvSpPr>
            <a:spLocks noGrp="1"/>
          </p:cNvSpPr>
          <p:nvPr>
            <p:ph type="body" sz="quarter" idx="26"/>
          </p:nvPr>
        </p:nvSpPr>
        <p:spPr/>
        <p:txBody>
          <a:bodyPr/>
          <a:lstStyle/>
          <a:p>
            <a:r>
              <a:rPr lang="en-GB" b="0" dirty="0">
                <a:solidFill>
                  <a:schemeClr val="tx1"/>
                </a:solidFill>
              </a:rPr>
              <a:t>Management has been unable to provide a true gross revenue as online and boutique sales are inclusive of any discounts offered through marked down prices (only promotional discount using codes can be separately identified) or sales, and concession sales are net of both discounts and returns, in line with the self billing invoices received from the concession partner. Consequently we are unable to demonstrate the level of sales at full price across the historical period.</a:t>
            </a:r>
          </a:p>
          <a:p>
            <a:pPr>
              <a:lnSpc>
                <a:spcPct val="90000"/>
              </a:lnSpc>
            </a:pPr>
            <a:r>
              <a:rPr lang="en-GB" b="1" dirty="0">
                <a:solidFill>
                  <a:srgbClr val="00338D"/>
                </a:solidFill>
              </a:rPr>
              <a:t>Sales</a:t>
            </a:r>
          </a:p>
          <a:p>
            <a:pPr>
              <a:lnSpc>
                <a:spcPct val="90000"/>
              </a:lnSpc>
            </a:pPr>
            <a:r>
              <a:rPr lang="en-GB" b="0" dirty="0">
                <a:solidFill>
                  <a:schemeClr val="tx1"/>
                </a:solidFill>
              </a:rPr>
              <a:t>The respective net sales performance for each revenue stream is discussed in the following sections (</a:t>
            </a:r>
            <a:r>
              <a:rPr lang="en-GB" dirty="0">
                <a:solidFill>
                  <a:schemeClr val="tx1"/>
                </a:solidFill>
              </a:rPr>
              <a:t>online </a:t>
            </a:r>
            <a:r>
              <a:rPr lang="en-GB" b="0" dirty="0">
                <a:solidFill>
                  <a:schemeClr val="tx1"/>
                </a:solidFill>
              </a:rPr>
              <a:t>and </a:t>
            </a:r>
            <a:r>
              <a:rPr lang="en-GB" dirty="0">
                <a:solidFill>
                  <a:schemeClr val="tx1"/>
                </a:solidFill>
              </a:rPr>
              <a:t>retail</a:t>
            </a:r>
            <a:r>
              <a:rPr lang="en-GB" b="0" dirty="0">
                <a:solidFill>
                  <a:schemeClr val="tx1"/>
                </a:solidFill>
              </a:rPr>
              <a:t>).</a:t>
            </a:r>
          </a:p>
          <a:p>
            <a:pPr>
              <a:lnSpc>
                <a:spcPct val="90000"/>
              </a:lnSpc>
            </a:pPr>
            <a:r>
              <a:rPr lang="en-GB" b="1" dirty="0">
                <a:solidFill>
                  <a:srgbClr val="00338D"/>
                </a:solidFill>
              </a:rPr>
              <a:t>Online returns</a:t>
            </a:r>
          </a:p>
          <a:p>
            <a:pPr>
              <a:lnSpc>
                <a:spcPct val="90000"/>
              </a:lnSpc>
            </a:pPr>
            <a:r>
              <a:rPr lang="en-GB" b="0" dirty="0">
                <a:solidFill>
                  <a:schemeClr val="tx1"/>
                </a:solidFill>
              </a:rPr>
              <a:t>Online returns as a percentage of sales decreased to 34.5% in FY21 which Management attributes to fewer customers choosing to return orders during the lockdown periods and an increased mix in casual wear, which typically has lower rates of return. </a:t>
            </a:r>
          </a:p>
          <a:p>
            <a:pPr>
              <a:lnSpc>
                <a:spcPct val="90000"/>
              </a:lnSpc>
            </a:pPr>
            <a:r>
              <a:rPr lang="en-GB" b="0" dirty="0">
                <a:solidFill>
                  <a:schemeClr val="tx1"/>
                </a:solidFill>
              </a:rPr>
              <a:t>From FY22, free returns are offered to all customers, regardless of location. The customer delivery charge is refunded by Y when the entire online order is returned. </a:t>
            </a:r>
          </a:p>
          <a:p>
            <a:pPr>
              <a:lnSpc>
                <a:spcPct val="90000"/>
              </a:lnSpc>
            </a:pPr>
            <a:r>
              <a:rPr lang="en-GB" b="1" dirty="0">
                <a:solidFill>
                  <a:srgbClr val="00338D"/>
                </a:solidFill>
              </a:rPr>
              <a:t>Boutique returns</a:t>
            </a:r>
          </a:p>
          <a:p>
            <a:pPr>
              <a:lnSpc>
                <a:spcPct val="90000"/>
              </a:lnSpc>
            </a:pPr>
            <a:r>
              <a:rPr lang="en-GB" b="0" dirty="0">
                <a:solidFill>
                  <a:schemeClr val="tx1"/>
                </a:solidFill>
              </a:rPr>
              <a:t>Boutique returns as a percentage of sales increased to 12.0% in FY21 which Management attributes to the extended returns policy during the pandemic to 90 days, with the returns rate increasing to 30.5% in June 2020 when boutiques first reopened.</a:t>
            </a:r>
          </a:p>
          <a:p>
            <a:endParaRPr lang="fi-FI" dirty="0"/>
          </a:p>
        </p:txBody>
      </p:sp>
      <p:sp>
        <p:nvSpPr>
          <p:cNvPr id="7" name="Text Placeholder 6">
            <a:extLst>
              <a:ext uri="{FF2B5EF4-FFF2-40B4-BE49-F238E27FC236}">
                <a16:creationId xmlns:a16="http://schemas.microsoft.com/office/drawing/2014/main" id="{F93302B4-4AA3-4229-840F-923213957A9B}"/>
              </a:ext>
            </a:extLst>
          </p:cNvPr>
          <p:cNvSpPr>
            <a:spLocks noGrp="1"/>
          </p:cNvSpPr>
          <p:nvPr>
            <p:ph type="body" sz="quarter" idx="11"/>
          </p:nvPr>
        </p:nvSpPr>
        <p:spPr/>
        <p:txBody>
          <a:bodyPr/>
          <a:lstStyle/>
          <a:p>
            <a:r>
              <a:rPr lang="fi-FI" dirty="0"/>
              <a:t>Net sales breakdown</a:t>
            </a:r>
          </a:p>
        </p:txBody>
      </p:sp>
      <p:sp>
        <p:nvSpPr>
          <p:cNvPr id="5" name="Text Placeholder 12">
            <a:extLst>
              <a:ext uri="{FF2B5EF4-FFF2-40B4-BE49-F238E27FC236}">
                <a16:creationId xmlns:a16="http://schemas.microsoft.com/office/drawing/2014/main" id="{B07F0775-E382-7139-4310-44773306A7E9}"/>
              </a:ext>
            </a:extLst>
          </p:cNvPr>
          <p:cNvSpPr txBox="1">
            <a:spLocks/>
          </p:cNvSpPr>
          <p:nvPr/>
        </p:nvSpPr>
        <p:spPr>
          <a:xfrm>
            <a:off x="980938" y="6083902"/>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2" name="Text Placeholder 7">
            <a:extLst>
              <a:ext uri="{FF2B5EF4-FFF2-40B4-BE49-F238E27FC236}">
                <a16:creationId xmlns:a16="http://schemas.microsoft.com/office/drawing/2014/main" id="{CA37FC3F-F2A1-81E5-DE3E-9434C05974F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26" name="Text Placeholder 12">
            <a:extLst>
              <a:ext uri="{FF2B5EF4-FFF2-40B4-BE49-F238E27FC236}">
                <a16:creationId xmlns:a16="http://schemas.microsoft.com/office/drawing/2014/main" id="{A9893B53-E396-7839-442D-387EC1757A58}"/>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30" name="Rounded Rectangle 7">
            <a:extLst>
              <a:ext uri="{FF2B5EF4-FFF2-40B4-BE49-F238E27FC236}">
                <a16:creationId xmlns:a16="http://schemas.microsoft.com/office/drawing/2014/main" id="{D6AC2465-E733-8C41-5BA7-89FB08267A6C}"/>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1" name="Rectangle 30">
            <a:extLst>
              <a:ext uri="{FF2B5EF4-FFF2-40B4-BE49-F238E27FC236}">
                <a16:creationId xmlns:a16="http://schemas.microsoft.com/office/drawing/2014/main" id="{04741DAE-D0F6-FB8C-1019-675A5ADAF7B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2" name="Straight Arrow Connector 31">
            <a:extLst>
              <a:ext uri="{FF2B5EF4-FFF2-40B4-BE49-F238E27FC236}">
                <a16:creationId xmlns:a16="http://schemas.microsoft.com/office/drawing/2014/main" id="{A4A286E9-B864-A278-A902-7A636CB728F3}"/>
              </a:ext>
            </a:extLst>
          </p:cNvPr>
          <p:cNvCxnSpPr>
            <a:cxnSpLocks/>
            <a:stCxn id="31" idx="2"/>
            <a:endCxn id="3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E78A5B0-70C5-4C76-BCF5-34FEC630BA8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2906FB7-1823-4ADC-B570-E5F7C17B958B}"/>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81AC95D3-2CE1-4A6B-868C-E19FBE82B20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7FF82261-B909-4FB5-A51C-0DA0C372BF2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1C05ECF1-EEB7-4E47-9B61-63C168B2A84A}"/>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30B6F19B-7E96-427E-9E87-12BB1A03794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F31C6D3-C84D-4454-8636-D9A7A66B437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FD5FCEC2-3639-46D4-85C4-730331770CC0}"/>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858CB515-52AB-4D3C-85A5-BAFB2414370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8" name="Picture 7">
            <a:extLst>
              <a:ext uri="{FF2B5EF4-FFF2-40B4-BE49-F238E27FC236}">
                <a16:creationId xmlns:a16="http://schemas.microsoft.com/office/drawing/2014/main" id="{914A883F-2433-42C2-BDAA-C63DF6FD6937}"/>
              </a:ext>
            </a:extLst>
          </p:cNvPr>
          <p:cNvPicPr>
            <a:picLocks noChangeAspect="1"/>
          </p:cNvPicPr>
          <p:nvPr>
            <p:custDataLst>
              <p:tags r:id="rId4"/>
            </p:custDataLst>
          </p:nvPr>
        </p:nvPicPr>
        <p:blipFill>
          <a:blip r:embed="rId11"/>
          <a:stretch>
            <a:fillRect/>
          </a:stretch>
        </p:blipFill>
        <p:spPr>
          <a:xfrm>
            <a:off x="995361" y="1912839"/>
            <a:ext cx="3689350" cy="2170732"/>
          </a:xfrm>
          <a:prstGeom prst="rect">
            <a:avLst/>
          </a:prstGeom>
        </p:spPr>
      </p:pic>
      <p:sp>
        <p:nvSpPr>
          <p:cNvPr id="14" name="TextBox 13">
            <a:extLst>
              <a:ext uri="{FF2B5EF4-FFF2-40B4-BE49-F238E27FC236}">
                <a16:creationId xmlns:a16="http://schemas.microsoft.com/office/drawing/2014/main" id="{FEE65930-1C70-41D9-9598-1A079B406C39}"/>
              </a:ext>
            </a:extLst>
          </p:cNvPr>
          <p:cNvSpPr txBox="1"/>
          <p:nvPr/>
        </p:nvSpPr>
        <p:spPr>
          <a:xfrm>
            <a:off x="1003312" y="4161019"/>
            <a:ext cx="1498588" cy="252000"/>
          </a:xfrm>
          <a:prstGeom prst="rect">
            <a:avLst/>
          </a:prstGeom>
        </p:spPr>
        <p:txBody>
          <a:bodyPr vert="horz" wrap="square" lIns="0" tIns="0" rIns="0" bIns="0" rtlCol="0" anchor="t" anchorCtr="0">
            <a:noAutofit/>
          </a:bodyPr>
          <a:lstStyle/>
          <a:p>
            <a:pPr algn="l">
              <a:spcAft>
                <a:spcPts val="600"/>
              </a:spcAft>
            </a:pPr>
            <a:r>
              <a:rPr lang="en-GB" sz="1000" b="1" dirty="0">
                <a:solidFill>
                  <a:srgbClr val="00338D"/>
                </a:solidFill>
              </a:rPr>
              <a:t>Returns as % sales</a:t>
            </a:r>
          </a:p>
        </p:txBody>
      </p:sp>
      <p:sp>
        <p:nvSpPr>
          <p:cNvPr id="3" name="UpSlide SubSection Marker" hidden="1">
            <a:extLst>
              <a:ext uri="{FF2B5EF4-FFF2-40B4-BE49-F238E27FC236}">
                <a16:creationId xmlns:a16="http://schemas.microsoft.com/office/drawing/2014/main" id="{EDFBE8CA-2F23-4BA1-AD5C-69023FA9E5D4}"/>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sp>
        <p:nvSpPr>
          <p:cNvPr id="4" name="Rectangle 3">
            <a:hlinkClick r:id="rId12" action="ppaction://hlinksldjump"/>
            <a:extLst>
              <a:ext uri="{FF2B5EF4-FFF2-40B4-BE49-F238E27FC236}">
                <a16:creationId xmlns:a16="http://schemas.microsoft.com/office/drawing/2014/main" id="{EE274CC9-565C-4A79-BAB6-64E10CEE7461}"/>
              </a:ext>
            </a:extLst>
          </p:cNvPr>
          <p:cNvSpPr/>
          <p:nvPr/>
        </p:nvSpPr>
        <p:spPr>
          <a:xfrm>
            <a:off x="10545600" y="3251200"/>
            <a:ext cx="481387" cy="221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58" name="Rectangle 57">
            <a:hlinkClick r:id="rId13" action="ppaction://hlinksldjump"/>
            <a:extLst>
              <a:ext uri="{FF2B5EF4-FFF2-40B4-BE49-F238E27FC236}">
                <a16:creationId xmlns:a16="http://schemas.microsoft.com/office/drawing/2014/main" id="{46EB1612-3188-4A64-9E9F-7C15B1EA2D60}"/>
              </a:ext>
            </a:extLst>
          </p:cNvPr>
          <p:cNvSpPr/>
          <p:nvPr/>
        </p:nvSpPr>
        <p:spPr>
          <a:xfrm>
            <a:off x="5130137" y="3403599"/>
            <a:ext cx="481387" cy="221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36" name="Group 35">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7"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Current Section2">
              <a:hlinkClick r:id="rId15"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9"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2"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55155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Net sales breakdown (2/2)</a:t>
            </a:r>
          </a:p>
        </p:txBody>
      </p:sp>
      <p:sp>
        <p:nvSpPr>
          <p:cNvPr id="22" name="Text Placeholder 21">
            <a:extLst>
              <a:ext uri="{FF2B5EF4-FFF2-40B4-BE49-F238E27FC236}">
                <a16:creationId xmlns:a16="http://schemas.microsoft.com/office/drawing/2014/main" id="{F2460440-9387-4A18-B677-8E6EBA0A1FF2}"/>
              </a:ext>
            </a:extLst>
          </p:cNvPr>
          <p:cNvSpPr>
            <a:spLocks noGrp="1"/>
          </p:cNvSpPr>
          <p:nvPr>
            <p:ph type="body" sz="quarter" idx="25"/>
          </p:nvPr>
        </p:nvSpPr>
        <p:spPr/>
        <p:txBody>
          <a:bodyPr/>
          <a:lstStyle/>
          <a:p>
            <a:r>
              <a:rPr lang="en-GB" dirty="0"/>
              <a:t>Net sales breakdown (continued)</a:t>
            </a:r>
          </a:p>
        </p:txBody>
      </p:sp>
      <p:sp>
        <p:nvSpPr>
          <p:cNvPr id="23" name="Text Placeholder 22">
            <a:extLst>
              <a:ext uri="{FF2B5EF4-FFF2-40B4-BE49-F238E27FC236}">
                <a16:creationId xmlns:a16="http://schemas.microsoft.com/office/drawing/2014/main" id="{559E27E3-255C-4000-AA6B-DEC6EF70A120}"/>
              </a:ext>
            </a:extLst>
          </p:cNvPr>
          <p:cNvSpPr>
            <a:spLocks noGrp="1"/>
          </p:cNvSpPr>
          <p:nvPr>
            <p:ph type="body" sz="quarter" idx="26"/>
          </p:nvPr>
        </p:nvSpPr>
        <p:spPr/>
        <p:txBody>
          <a:bodyPr/>
          <a:lstStyle/>
          <a:p>
            <a:pPr>
              <a:lnSpc>
                <a:spcPct val="90000"/>
              </a:lnSpc>
            </a:pPr>
            <a:r>
              <a:rPr lang="en-GB" b="1" dirty="0">
                <a:solidFill>
                  <a:srgbClr val="00338D"/>
                </a:solidFill>
              </a:rPr>
              <a:t>Promotional discounts</a:t>
            </a:r>
          </a:p>
          <a:p>
            <a:pPr>
              <a:lnSpc>
                <a:spcPct val="90000"/>
              </a:lnSpc>
            </a:pPr>
            <a:r>
              <a:rPr lang="en-GB" b="0" dirty="0">
                <a:solidFill>
                  <a:schemeClr val="tx1"/>
                </a:solidFill>
              </a:rPr>
              <a:t>Promotional discounts relates to discounts obtained via the use of promotional codes online only, and therefore does not represent full discount i.e. excludes mark down or sale products. Consequently we are unable to present the true level of discounting/full price sales historically.</a:t>
            </a:r>
          </a:p>
          <a:p>
            <a:pPr>
              <a:lnSpc>
                <a:spcPct val="90000"/>
              </a:lnSpc>
            </a:pPr>
            <a:r>
              <a:rPr lang="en-GB" b="0" dirty="0">
                <a:solidFill>
                  <a:schemeClr val="tx1"/>
                </a:solidFill>
              </a:rPr>
              <a:t>The boutique and concession sales line in the table opposite is net of any promotional discounts offered, although we understand that typically marked down sales is a much lower proportion of sales in boutiques compared with online, hence the lower gross margin % achieved within online sales.</a:t>
            </a:r>
          </a:p>
          <a:p>
            <a:pPr>
              <a:lnSpc>
                <a:spcPct val="90000"/>
              </a:lnSpc>
            </a:pPr>
            <a:r>
              <a:rPr lang="en-GB" b="0" dirty="0">
                <a:solidFill>
                  <a:schemeClr val="tx1"/>
                </a:solidFill>
              </a:rPr>
              <a:t>Promotional discounts as a percentage of sales increased to 4.3% in FY21 as Y ran an online promotional code for 30% off in April 2020 due to the uncertainty surrounding Covid-19. This metric has decreased to 2.2% in LTM22 due to fewer promotional events given the level of website traffic and transactions.</a:t>
            </a:r>
          </a:p>
          <a:p>
            <a:endParaRPr lang="en-GB" dirty="0"/>
          </a:p>
        </p:txBody>
      </p:sp>
      <p:sp>
        <p:nvSpPr>
          <p:cNvPr id="2" name="Text Placeholder 7">
            <a:extLst>
              <a:ext uri="{FF2B5EF4-FFF2-40B4-BE49-F238E27FC236}">
                <a16:creationId xmlns:a16="http://schemas.microsoft.com/office/drawing/2014/main" id="{CA37FC3F-F2A1-81E5-DE3E-9434C05974F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26" name="Text Placeholder 12">
            <a:extLst>
              <a:ext uri="{FF2B5EF4-FFF2-40B4-BE49-F238E27FC236}">
                <a16:creationId xmlns:a16="http://schemas.microsoft.com/office/drawing/2014/main" id="{A9893B53-E396-7839-442D-387EC1757A58}"/>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30" name="Rounded Rectangle 7">
            <a:extLst>
              <a:ext uri="{FF2B5EF4-FFF2-40B4-BE49-F238E27FC236}">
                <a16:creationId xmlns:a16="http://schemas.microsoft.com/office/drawing/2014/main" id="{D6AC2465-E733-8C41-5BA7-89FB08267A6C}"/>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1" name="Rectangle 30">
            <a:extLst>
              <a:ext uri="{FF2B5EF4-FFF2-40B4-BE49-F238E27FC236}">
                <a16:creationId xmlns:a16="http://schemas.microsoft.com/office/drawing/2014/main" id="{04741DAE-D0F6-FB8C-1019-675A5ADAF7B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2" name="Straight Arrow Connector 31">
            <a:extLst>
              <a:ext uri="{FF2B5EF4-FFF2-40B4-BE49-F238E27FC236}">
                <a16:creationId xmlns:a16="http://schemas.microsoft.com/office/drawing/2014/main" id="{A4A286E9-B864-A278-A902-7A636CB728F3}"/>
              </a:ext>
            </a:extLst>
          </p:cNvPr>
          <p:cNvCxnSpPr>
            <a:cxnSpLocks/>
            <a:stCxn id="31" idx="2"/>
            <a:endCxn id="3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E78A5B0-70C5-4C76-BCF5-34FEC630BA8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2906FB7-1823-4ADC-B570-E5F7C17B958B}"/>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81AC95D3-2CE1-4A6B-868C-E19FBE82B20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7FF82261-B909-4FB5-A51C-0DA0C372BF2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1C05ECF1-EEB7-4E47-9B61-63C168B2A84A}"/>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30B6F19B-7E96-427E-9E87-12BB1A03794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F31C6D3-C84D-4454-8636-D9A7A66B437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FD5FCEC2-3639-46D4-85C4-730331770CC0}"/>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858CB515-52AB-4D3C-85A5-BAFB2414370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 name="UpSlide SubSection Marker" hidden="1">
            <a:extLst>
              <a:ext uri="{FF2B5EF4-FFF2-40B4-BE49-F238E27FC236}">
                <a16:creationId xmlns:a16="http://schemas.microsoft.com/office/drawing/2014/main" id="{798CBD79-F399-4B1A-B02D-145126DF318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29" name="Group 28">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56012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4" progId="TCLayout.ActiveDocument.1">
                  <p:embed/>
                </p:oleObj>
              </mc:Choice>
              <mc:Fallback>
                <p:oleObj name="think-cell Slide" r:id="rId12"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3"/>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Revenue % seasonality</a:t>
            </a:r>
          </a:p>
        </p:txBody>
      </p:sp>
      <p:sp>
        <p:nvSpPr>
          <p:cNvPr id="26" name="Text Placeholder 25">
            <a:extLst>
              <a:ext uri="{FF2B5EF4-FFF2-40B4-BE49-F238E27FC236}">
                <a16:creationId xmlns:a16="http://schemas.microsoft.com/office/drawing/2014/main" id="{249C431D-395D-4253-9C82-3D397872711D}"/>
              </a:ext>
            </a:extLst>
          </p:cNvPr>
          <p:cNvSpPr>
            <a:spLocks noGrp="1"/>
          </p:cNvSpPr>
          <p:nvPr>
            <p:ph type="body" sz="quarter" idx="61"/>
          </p:nvPr>
        </p:nvSpPr>
        <p:spPr>
          <a:xfrm>
            <a:off x="995359" y="1970600"/>
            <a:ext cx="3312000" cy="252000"/>
          </a:xfrm>
        </p:spPr>
        <p:txBody>
          <a:bodyPr/>
          <a:lstStyle/>
          <a:p>
            <a:r>
              <a:rPr lang="en-GB" dirty="0"/>
              <a:t>Revenue seasonality - online</a:t>
            </a:r>
          </a:p>
        </p:txBody>
      </p:sp>
      <p:sp>
        <p:nvSpPr>
          <p:cNvPr id="27" name="Text Placeholder 26">
            <a:extLst>
              <a:ext uri="{FF2B5EF4-FFF2-40B4-BE49-F238E27FC236}">
                <a16:creationId xmlns:a16="http://schemas.microsoft.com/office/drawing/2014/main" id="{DF902EB2-3BAE-47B0-9FB5-894B0AABE2D6}"/>
              </a:ext>
            </a:extLst>
          </p:cNvPr>
          <p:cNvSpPr>
            <a:spLocks noGrp="1"/>
          </p:cNvSpPr>
          <p:nvPr>
            <p:ph type="body" sz="quarter" idx="62"/>
          </p:nvPr>
        </p:nvSpPr>
        <p:spPr>
          <a:xfrm>
            <a:off x="4442507" y="1970600"/>
            <a:ext cx="3312000" cy="252000"/>
          </a:xfrm>
        </p:spPr>
        <p:txBody>
          <a:bodyPr/>
          <a:lstStyle/>
          <a:p>
            <a:r>
              <a:rPr lang="en-GB" dirty="0"/>
              <a:t>Revenue seasonality - boutique</a:t>
            </a:r>
          </a:p>
        </p:txBody>
      </p:sp>
      <p:sp>
        <p:nvSpPr>
          <p:cNvPr id="28" name="Text Placeholder 27">
            <a:extLst>
              <a:ext uri="{FF2B5EF4-FFF2-40B4-BE49-F238E27FC236}">
                <a16:creationId xmlns:a16="http://schemas.microsoft.com/office/drawing/2014/main" id="{04FC5CC3-ACA4-4030-82E6-6A37FA39B7C2}"/>
              </a:ext>
            </a:extLst>
          </p:cNvPr>
          <p:cNvSpPr>
            <a:spLocks noGrp="1"/>
          </p:cNvSpPr>
          <p:nvPr>
            <p:ph type="body" sz="quarter" idx="63"/>
          </p:nvPr>
        </p:nvSpPr>
        <p:spPr>
          <a:xfrm>
            <a:off x="7891413" y="1970600"/>
            <a:ext cx="3312000" cy="252000"/>
          </a:xfrm>
        </p:spPr>
        <p:txBody>
          <a:bodyPr/>
          <a:lstStyle/>
          <a:p>
            <a:r>
              <a:rPr lang="en-GB" dirty="0"/>
              <a:t>Revenue seasonality - concession</a:t>
            </a:r>
          </a:p>
        </p:txBody>
      </p:sp>
      <p:sp>
        <p:nvSpPr>
          <p:cNvPr id="2" name="Text Placeholder 7">
            <a:extLst>
              <a:ext uri="{FF2B5EF4-FFF2-40B4-BE49-F238E27FC236}">
                <a16:creationId xmlns:a16="http://schemas.microsoft.com/office/drawing/2014/main" id="{E4BFB7FD-40F5-1A57-98AB-39B070CDB9C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7AEAB41-0BB8-2E9E-7CBA-28CAD4AE2C71}"/>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64B13FA1-65A5-80BC-BDE8-1840B99F9EE8}"/>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260B8E89-BB40-9C62-C335-C00D83F47649}"/>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91DB6382-A486-DF09-2378-3387054C2CAA}"/>
              </a:ext>
            </a:extLst>
          </p:cNvPr>
          <p:cNvCxnSpPr>
            <a:cxnSpLocks/>
            <a:stCxn id="7"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756669E9-3E48-4762-8273-8EF971F6F1CA}"/>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D7F174F-CC58-4E3F-B673-535EECFA3BD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AD2E33D9-27D9-4531-B579-61232A6FC77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11E5E96E-4003-44CF-92C0-30936214104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5D58CAE9-F436-49CA-89FF-DAC963134100}"/>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05B02054-2C2E-4603-94CA-F96E15B49AE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BC342EE3-4DCA-45AA-9C58-6784B6F58F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0066B0B2-58FF-49A9-83D5-92AC1B90B0D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49EDE8C6-20CA-4D3B-AE7C-7300446F8F90}"/>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Text Placeholder 5">
            <a:extLst>
              <a:ext uri="{FF2B5EF4-FFF2-40B4-BE49-F238E27FC236}">
                <a16:creationId xmlns:a16="http://schemas.microsoft.com/office/drawing/2014/main" id="{6C8E7A1B-2487-4745-97BD-19D4D40431C6}"/>
              </a:ext>
            </a:extLst>
          </p:cNvPr>
          <p:cNvSpPr txBox="1">
            <a:spLocks/>
          </p:cNvSpPr>
          <p:nvPr/>
        </p:nvSpPr>
        <p:spPr>
          <a:xfrm>
            <a:off x="995361" y="1340768"/>
            <a:ext cx="10195200" cy="460800"/>
          </a:xfrm>
          <a:prstGeom prst="rect">
            <a:avLst/>
          </a:prstGeom>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90000"/>
              </a:lnSpc>
            </a:pPr>
            <a:r>
              <a:rPr lang="en-GB" sz="1000" b="1" dirty="0">
                <a:solidFill>
                  <a:srgbClr val="00338D"/>
                </a:solidFill>
              </a:rPr>
              <a:t>January is a strong month for online sales, as this is when the core end of season sale occurs.</a:t>
            </a:r>
            <a:r>
              <a:rPr lang="en-GB" b="1" dirty="0">
                <a:solidFill>
                  <a:srgbClr val="00338D"/>
                </a:solidFill>
              </a:rPr>
              <a:t> </a:t>
            </a:r>
            <a:r>
              <a:rPr lang="en-GB" sz="1000" b="1" dirty="0">
                <a:solidFill>
                  <a:srgbClr val="00338D"/>
                </a:solidFill>
              </a:rPr>
              <a:t>For the retail channel, revenue peaks at the start of each new SS and AW season in April - May and October. Revenue declines in August as customers tend to be on holiday, although the decline is less distinct for concessions, with demand driven by </a:t>
            </a:r>
            <a:r>
              <a:rPr lang="en-GB" sz="1000" b="1" dirty="0" err="1">
                <a:solidFill>
                  <a:srgbClr val="00338D"/>
                </a:solidFill>
              </a:rPr>
              <a:t>yy</a:t>
            </a:r>
            <a:r>
              <a:rPr lang="en-GB" sz="1000" b="1" dirty="0">
                <a:solidFill>
                  <a:srgbClr val="00338D"/>
                </a:solidFill>
              </a:rPr>
              <a:t> tourists. As the business accounts on a 4-4-5 basis, we have presented weekly sales in the revenue charts opposite to remove the impact of an additional week of trading.</a:t>
            </a:r>
          </a:p>
          <a:p>
            <a:pPr>
              <a:lnSpc>
                <a:spcPct val="90000"/>
              </a:lnSpc>
            </a:pPr>
            <a:endParaRPr lang="en-GB" b="1" dirty="0">
              <a:solidFill>
                <a:srgbClr val="00338D"/>
              </a:solidFill>
            </a:endParaRPr>
          </a:p>
        </p:txBody>
      </p:sp>
      <p:pic>
        <p:nvPicPr>
          <p:cNvPr id="119" name="Picture 118">
            <a:extLst>
              <a:ext uri="{FF2B5EF4-FFF2-40B4-BE49-F238E27FC236}">
                <a16:creationId xmlns:a16="http://schemas.microsoft.com/office/drawing/2014/main" id="{34F26A84-7C93-4DE5-837A-E7B9A0EED5B7}"/>
              </a:ext>
            </a:extLst>
          </p:cNvPr>
          <p:cNvPicPr>
            <a:picLocks noChangeAspect="1"/>
          </p:cNvPicPr>
          <p:nvPr>
            <p:custDataLst>
              <p:tags r:id="rId3"/>
            </p:custDataLst>
          </p:nvPr>
        </p:nvPicPr>
        <p:blipFill>
          <a:blip r:embed="rId14"/>
          <a:stretch>
            <a:fillRect/>
          </a:stretch>
        </p:blipFill>
        <p:spPr>
          <a:xfrm>
            <a:off x="995359" y="2292990"/>
            <a:ext cx="3312000" cy="1732899"/>
          </a:xfrm>
          <a:prstGeom prst="rect">
            <a:avLst/>
          </a:prstGeom>
        </p:spPr>
      </p:pic>
      <p:pic>
        <p:nvPicPr>
          <p:cNvPr id="116" name="Picture 115">
            <a:extLst>
              <a:ext uri="{FF2B5EF4-FFF2-40B4-BE49-F238E27FC236}">
                <a16:creationId xmlns:a16="http://schemas.microsoft.com/office/drawing/2014/main" id="{FF9F70AA-F7BA-499E-AC44-963A9455A68F}"/>
              </a:ext>
            </a:extLst>
          </p:cNvPr>
          <p:cNvPicPr>
            <a:picLocks noChangeAspect="1"/>
          </p:cNvPicPr>
          <p:nvPr>
            <p:custDataLst>
              <p:tags r:id="rId4"/>
            </p:custDataLst>
          </p:nvPr>
        </p:nvPicPr>
        <p:blipFill>
          <a:blip r:embed="rId15"/>
          <a:stretch>
            <a:fillRect/>
          </a:stretch>
        </p:blipFill>
        <p:spPr>
          <a:xfrm>
            <a:off x="4443386" y="2292990"/>
            <a:ext cx="3312000" cy="1718462"/>
          </a:xfrm>
          <a:prstGeom prst="rect">
            <a:avLst/>
          </a:prstGeom>
        </p:spPr>
      </p:pic>
      <p:pic>
        <p:nvPicPr>
          <p:cNvPr id="111" name="Picture 110">
            <a:extLst>
              <a:ext uri="{FF2B5EF4-FFF2-40B4-BE49-F238E27FC236}">
                <a16:creationId xmlns:a16="http://schemas.microsoft.com/office/drawing/2014/main" id="{C0249A17-7CF2-4221-B7B2-7CE13B09E127}"/>
              </a:ext>
            </a:extLst>
          </p:cNvPr>
          <p:cNvPicPr>
            <a:picLocks noChangeAspect="1"/>
          </p:cNvPicPr>
          <p:nvPr>
            <p:custDataLst>
              <p:tags r:id="rId5"/>
            </p:custDataLst>
          </p:nvPr>
        </p:nvPicPr>
        <p:blipFill>
          <a:blip r:embed="rId16"/>
          <a:stretch>
            <a:fillRect/>
          </a:stretch>
        </p:blipFill>
        <p:spPr>
          <a:xfrm>
            <a:off x="7891413" y="2292990"/>
            <a:ext cx="3312000" cy="1729126"/>
          </a:xfrm>
          <a:prstGeom prst="rect">
            <a:avLst/>
          </a:prstGeom>
        </p:spPr>
      </p:pic>
      <p:sp>
        <p:nvSpPr>
          <p:cNvPr id="100" name="Rounded Rectangle 7">
            <a:extLst>
              <a:ext uri="{FF2B5EF4-FFF2-40B4-BE49-F238E27FC236}">
                <a16:creationId xmlns:a16="http://schemas.microsoft.com/office/drawing/2014/main" id="{EBDDE6B4-1134-4DDE-B1DB-6CE42568D9EA}"/>
              </a:ext>
            </a:extLst>
          </p:cNvPr>
          <p:cNvSpPr/>
          <p:nvPr>
            <p:custDataLst>
              <p:tags r:id="rId6"/>
            </p:custDataLst>
          </p:nvPr>
        </p:nvSpPr>
        <p:spPr>
          <a:xfrm>
            <a:off x="2076399" y="2590256"/>
            <a:ext cx="52075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2" name="Rounded Rectangle 7">
            <a:extLst>
              <a:ext uri="{FF2B5EF4-FFF2-40B4-BE49-F238E27FC236}">
                <a16:creationId xmlns:a16="http://schemas.microsoft.com/office/drawing/2014/main" id="{6898C26A-9F5F-4F22-B230-83640CA0A109}"/>
              </a:ext>
            </a:extLst>
          </p:cNvPr>
          <p:cNvSpPr/>
          <p:nvPr>
            <p:custDataLst>
              <p:tags r:id="rId7"/>
            </p:custDataLst>
          </p:nvPr>
        </p:nvSpPr>
        <p:spPr>
          <a:xfrm>
            <a:off x="6436787" y="2461482"/>
            <a:ext cx="325964" cy="26901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3" name="Rounded Rectangle 7">
            <a:extLst>
              <a:ext uri="{FF2B5EF4-FFF2-40B4-BE49-F238E27FC236}">
                <a16:creationId xmlns:a16="http://schemas.microsoft.com/office/drawing/2014/main" id="{4091D374-1917-4870-B7C6-F7F55BCD8A4F}"/>
              </a:ext>
            </a:extLst>
          </p:cNvPr>
          <p:cNvSpPr/>
          <p:nvPr>
            <p:custDataLst>
              <p:tags r:id="rId8"/>
            </p:custDataLst>
          </p:nvPr>
        </p:nvSpPr>
        <p:spPr>
          <a:xfrm>
            <a:off x="9868233" y="2354895"/>
            <a:ext cx="325964" cy="26901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5" name="Oval 104">
            <a:extLst>
              <a:ext uri="{FF2B5EF4-FFF2-40B4-BE49-F238E27FC236}">
                <a16:creationId xmlns:a16="http://schemas.microsoft.com/office/drawing/2014/main" id="{99C91A92-B081-4372-A2A7-13DA129D9FC7}"/>
              </a:ext>
            </a:extLst>
          </p:cNvPr>
          <p:cNvSpPr/>
          <p:nvPr/>
        </p:nvSpPr>
        <p:spPr>
          <a:xfrm>
            <a:off x="2308818" y="2415228"/>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106" name="Oval 105">
            <a:extLst>
              <a:ext uri="{FF2B5EF4-FFF2-40B4-BE49-F238E27FC236}">
                <a16:creationId xmlns:a16="http://schemas.microsoft.com/office/drawing/2014/main" id="{6A7815E5-FDA6-48A7-82DD-97113505ADC6}"/>
              </a:ext>
            </a:extLst>
          </p:cNvPr>
          <p:cNvSpPr/>
          <p:nvPr/>
        </p:nvSpPr>
        <p:spPr>
          <a:xfrm>
            <a:off x="6810197" y="2523991"/>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107" name="Oval 106">
            <a:extLst>
              <a:ext uri="{FF2B5EF4-FFF2-40B4-BE49-F238E27FC236}">
                <a16:creationId xmlns:a16="http://schemas.microsoft.com/office/drawing/2014/main" id="{0A70C6F5-1FCE-4AFF-9F13-BB99341E159D}"/>
              </a:ext>
            </a:extLst>
          </p:cNvPr>
          <p:cNvSpPr/>
          <p:nvPr/>
        </p:nvSpPr>
        <p:spPr>
          <a:xfrm>
            <a:off x="10258224" y="2382853"/>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grpSp>
        <p:nvGrpSpPr>
          <p:cNvPr id="117" name="Group 116">
            <a:extLst>
              <a:ext uri="{FF2B5EF4-FFF2-40B4-BE49-F238E27FC236}">
                <a16:creationId xmlns:a16="http://schemas.microsoft.com/office/drawing/2014/main" id="{50DEC464-8D48-41EB-AD11-5417E1B8D220}"/>
              </a:ext>
            </a:extLst>
          </p:cNvPr>
          <p:cNvGrpSpPr/>
          <p:nvPr/>
        </p:nvGrpSpPr>
        <p:grpSpPr>
          <a:xfrm>
            <a:off x="1526496" y="4242637"/>
            <a:ext cx="2209303" cy="1021701"/>
            <a:chOff x="1514921" y="3893387"/>
            <a:chExt cx="2209303" cy="1021701"/>
          </a:xfrm>
        </p:grpSpPr>
        <p:sp>
          <p:nvSpPr>
            <p:cNvPr id="99" name="Rectangle 98">
              <a:extLst>
                <a:ext uri="{FF2B5EF4-FFF2-40B4-BE49-F238E27FC236}">
                  <a16:creationId xmlns:a16="http://schemas.microsoft.com/office/drawing/2014/main" id="{CA913AA9-33A3-4711-9D5C-E2E8949C56C4}"/>
                </a:ext>
              </a:extLst>
            </p:cNvPr>
            <p:cNvSpPr/>
            <p:nvPr/>
          </p:nvSpPr>
          <p:spPr>
            <a:xfrm>
              <a:off x="1744224" y="3893387"/>
              <a:ext cx="1980000" cy="102170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Management has commented that the decrease in online sales in May and June 2021 was driven by demand exceeding available stock, with new stock lines selling out in 1 – 2 weeks. Y has new agreements in place for increased volumes with suppliers in an attempt to mitigate the risk of future stock outs.</a:t>
              </a:r>
            </a:p>
          </p:txBody>
        </p:sp>
        <p:sp>
          <p:nvSpPr>
            <p:cNvPr id="108" name="Oval 107">
              <a:extLst>
                <a:ext uri="{FF2B5EF4-FFF2-40B4-BE49-F238E27FC236}">
                  <a16:creationId xmlns:a16="http://schemas.microsoft.com/office/drawing/2014/main" id="{A2672F00-15AD-4D79-B74D-E1A68A6084B6}"/>
                </a:ext>
              </a:extLst>
            </p:cNvPr>
            <p:cNvSpPr/>
            <p:nvPr/>
          </p:nvSpPr>
          <p:spPr>
            <a:xfrm>
              <a:off x="1514921" y="4332237"/>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grpSp>
      <p:grpSp>
        <p:nvGrpSpPr>
          <p:cNvPr id="114" name="Group 113">
            <a:extLst>
              <a:ext uri="{FF2B5EF4-FFF2-40B4-BE49-F238E27FC236}">
                <a16:creationId xmlns:a16="http://schemas.microsoft.com/office/drawing/2014/main" id="{6701493E-2F2C-4A66-834B-B10D1016C436}"/>
              </a:ext>
            </a:extLst>
          </p:cNvPr>
          <p:cNvGrpSpPr/>
          <p:nvPr/>
        </p:nvGrpSpPr>
        <p:grpSpPr>
          <a:xfrm>
            <a:off x="5003384" y="4372755"/>
            <a:ext cx="2162480" cy="761464"/>
            <a:chOff x="5003384" y="4023505"/>
            <a:chExt cx="2162480" cy="761464"/>
          </a:xfrm>
        </p:grpSpPr>
        <p:sp>
          <p:nvSpPr>
            <p:cNvPr id="104" name="Rectangle 103">
              <a:extLst>
                <a:ext uri="{FF2B5EF4-FFF2-40B4-BE49-F238E27FC236}">
                  <a16:creationId xmlns:a16="http://schemas.microsoft.com/office/drawing/2014/main" id="{CD893FA1-B054-421F-9AC4-E9D76D0430A2}"/>
                </a:ext>
              </a:extLst>
            </p:cNvPr>
            <p:cNvSpPr/>
            <p:nvPr/>
          </p:nvSpPr>
          <p:spPr>
            <a:xfrm>
              <a:off x="5185864" y="4023505"/>
              <a:ext cx="1980000" cy="76146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There is typically a rebound in sales in September of each year. The more pronounced increase in September 2021, is attributed to an investment in the customer experience, wider product range, wider brand awareness and improved in-shop experience.</a:t>
              </a:r>
            </a:p>
          </p:txBody>
        </p:sp>
        <p:sp>
          <p:nvSpPr>
            <p:cNvPr id="109" name="Oval 108">
              <a:extLst>
                <a:ext uri="{FF2B5EF4-FFF2-40B4-BE49-F238E27FC236}">
                  <a16:creationId xmlns:a16="http://schemas.microsoft.com/office/drawing/2014/main" id="{6F416A28-7450-4925-8208-395DE091F7CD}"/>
                </a:ext>
              </a:extLst>
            </p:cNvPr>
            <p:cNvSpPr/>
            <p:nvPr/>
          </p:nvSpPr>
          <p:spPr>
            <a:xfrm>
              <a:off x="5003384" y="4332237"/>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grpSp>
      <p:sp>
        <p:nvSpPr>
          <p:cNvPr id="49" name="Text Placeholder 12">
            <a:extLst>
              <a:ext uri="{FF2B5EF4-FFF2-40B4-BE49-F238E27FC236}">
                <a16:creationId xmlns:a16="http://schemas.microsoft.com/office/drawing/2014/main" id="{B174FA08-B4D9-422B-8991-20120144742D}"/>
              </a:ext>
            </a:extLst>
          </p:cNvPr>
          <p:cNvSpPr txBox="1">
            <a:spLocks/>
          </p:cNvSpPr>
          <p:nvPr/>
        </p:nvSpPr>
        <p:spPr>
          <a:xfrm>
            <a:off x="995359" y="6072312"/>
            <a:ext cx="3453442"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4" name="UpSlide SubSection Marker" hidden="1">
            <a:extLst>
              <a:ext uri="{FF2B5EF4-FFF2-40B4-BE49-F238E27FC236}">
                <a16:creationId xmlns:a16="http://schemas.microsoft.com/office/drawing/2014/main" id="{51B0DD60-356B-4D98-819C-191BAFF6DCC0}"/>
              </a:ext>
            </a:extLst>
          </p:cNvPr>
          <p:cNvSpPr/>
          <p:nvPr>
            <p:custDataLst>
              <p:tags r:id="rId9"/>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47" name="Group 46">
            <a:extLst>
              <a:ext uri="{FF2B5EF4-FFF2-40B4-BE49-F238E27FC236}">
                <a16:creationId xmlns:a16="http://schemas.microsoft.com/office/drawing/2014/main" id="{6053D987-536A-4F5C-A091-BF2D8B3453A5}"/>
              </a:ext>
            </a:extLst>
          </p:cNvPr>
          <p:cNvGrpSpPr/>
          <p:nvPr>
            <p:custDataLst>
              <p:tags r:id="rId10"/>
            </p:custDataLst>
          </p:nvPr>
        </p:nvGrpSpPr>
        <p:grpSpPr>
          <a:xfrm>
            <a:off x="995364" y="153170"/>
            <a:ext cx="6253254" cy="195814"/>
            <a:chOff x="995364" y="153170"/>
            <a:chExt cx="6253254" cy="195814"/>
          </a:xfrm>
        </p:grpSpPr>
        <p:sp>
          <p:nvSpPr>
            <p:cNvPr id="48" name="Other Sections1">
              <a:hlinkClick r:id="rId1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0" name="Current Section2">
              <a:hlinkClick r:id="rId18"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1" name="Other Sections3">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2" name="Other Sections4">
              <a:hlinkClick r:id="rId20"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3" name="Other Sections5">
              <a:hlinkClick r:id="rId21"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4" name="Other Sections6">
              <a:hlinkClick r:id="rId22"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5" name="Other Sections7">
              <a:hlinkClick r:id="rId23"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9501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815B76C-FF84-4518-9F12-BF15516338E2}"/>
              </a:ext>
            </a:extLst>
          </p:cNvPr>
          <p:cNvPicPr>
            <a:picLocks noChangeAspect="1"/>
          </p:cNvPicPr>
          <p:nvPr>
            <p:custDataLst>
              <p:tags r:id="rId1"/>
            </p:custDataLst>
          </p:nvPr>
        </p:nvPicPr>
        <p:blipFill>
          <a:blip r:embed="rId12"/>
          <a:stretch>
            <a:fillRect/>
          </a:stretch>
        </p:blipFill>
        <p:spPr>
          <a:xfrm>
            <a:off x="7891413" y="2292990"/>
            <a:ext cx="3312000" cy="1730649"/>
          </a:xfrm>
          <a:prstGeom prst="rect">
            <a:avLst/>
          </a:prstGeom>
        </p:spPr>
      </p:pic>
      <p:pic>
        <p:nvPicPr>
          <p:cNvPr id="10" name="Picture 9">
            <a:extLst>
              <a:ext uri="{FF2B5EF4-FFF2-40B4-BE49-F238E27FC236}">
                <a16:creationId xmlns:a16="http://schemas.microsoft.com/office/drawing/2014/main" id="{3854425B-A934-4B87-8E29-B02E982BD1DA}"/>
              </a:ext>
            </a:extLst>
          </p:cNvPr>
          <p:cNvPicPr>
            <a:picLocks noChangeAspect="1"/>
          </p:cNvPicPr>
          <p:nvPr>
            <p:custDataLst>
              <p:tags r:id="rId2"/>
            </p:custDataLst>
          </p:nvPr>
        </p:nvPicPr>
        <p:blipFill>
          <a:blip r:embed="rId13"/>
          <a:stretch>
            <a:fillRect/>
          </a:stretch>
        </p:blipFill>
        <p:spPr>
          <a:xfrm>
            <a:off x="4443386" y="2292990"/>
            <a:ext cx="3312000" cy="1719985"/>
          </a:xfrm>
          <a:prstGeom prst="rect">
            <a:avLst/>
          </a:prstGeom>
        </p:spPr>
      </p:pic>
      <p:pic>
        <p:nvPicPr>
          <p:cNvPr id="5" name="Picture 4">
            <a:extLst>
              <a:ext uri="{FF2B5EF4-FFF2-40B4-BE49-F238E27FC236}">
                <a16:creationId xmlns:a16="http://schemas.microsoft.com/office/drawing/2014/main" id="{90C9B359-BEBA-4D9C-A903-3FD4F5463157}"/>
              </a:ext>
            </a:extLst>
          </p:cNvPr>
          <p:cNvPicPr>
            <a:picLocks noChangeAspect="1"/>
          </p:cNvPicPr>
          <p:nvPr>
            <p:custDataLst>
              <p:tags r:id="rId3"/>
            </p:custDataLst>
          </p:nvPr>
        </p:nvPicPr>
        <p:blipFill>
          <a:blip r:embed="rId14"/>
          <a:stretch>
            <a:fillRect/>
          </a:stretch>
        </p:blipFill>
        <p:spPr>
          <a:xfrm>
            <a:off x="995359" y="2292990"/>
            <a:ext cx="3312000" cy="1732899"/>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4"/>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4" progId="TCLayout.ActiveDocument.1">
                  <p:embed/>
                </p:oleObj>
              </mc:Choice>
              <mc:Fallback>
                <p:oleObj name="think-cell Slide" r:id="rId15"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6"/>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Gross margin % seasonality</a:t>
            </a:r>
          </a:p>
        </p:txBody>
      </p:sp>
      <p:sp>
        <p:nvSpPr>
          <p:cNvPr id="26" name="Text Placeholder 25">
            <a:extLst>
              <a:ext uri="{FF2B5EF4-FFF2-40B4-BE49-F238E27FC236}">
                <a16:creationId xmlns:a16="http://schemas.microsoft.com/office/drawing/2014/main" id="{249C431D-395D-4253-9C82-3D397872711D}"/>
              </a:ext>
            </a:extLst>
          </p:cNvPr>
          <p:cNvSpPr>
            <a:spLocks noGrp="1"/>
          </p:cNvSpPr>
          <p:nvPr>
            <p:ph type="body" sz="quarter" idx="61"/>
          </p:nvPr>
        </p:nvSpPr>
        <p:spPr>
          <a:xfrm>
            <a:off x="995359" y="1970600"/>
            <a:ext cx="3312000" cy="252000"/>
          </a:xfrm>
        </p:spPr>
        <p:txBody>
          <a:bodyPr/>
          <a:lstStyle/>
          <a:p>
            <a:r>
              <a:rPr lang="en-GB" dirty="0"/>
              <a:t>Revenue seasonality - online</a:t>
            </a:r>
          </a:p>
        </p:txBody>
      </p:sp>
      <p:sp>
        <p:nvSpPr>
          <p:cNvPr id="27" name="Text Placeholder 26">
            <a:extLst>
              <a:ext uri="{FF2B5EF4-FFF2-40B4-BE49-F238E27FC236}">
                <a16:creationId xmlns:a16="http://schemas.microsoft.com/office/drawing/2014/main" id="{DF902EB2-3BAE-47B0-9FB5-894B0AABE2D6}"/>
              </a:ext>
            </a:extLst>
          </p:cNvPr>
          <p:cNvSpPr>
            <a:spLocks noGrp="1"/>
          </p:cNvSpPr>
          <p:nvPr>
            <p:ph type="body" sz="quarter" idx="62"/>
          </p:nvPr>
        </p:nvSpPr>
        <p:spPr>
          <a:xfrm>
            <a:off x="4442507" y="1970600"/>
            <a:ext cx="3312000" cy="252000"/>
          </a:xfrm>
        </p:spPr>
        <p:txBody>
          <a:bodyPr/>
          <a:lstStyle/>
          <a:p>
            <a:r>
              <a:rPr lang="en-GB" dirty="0"/>
              <a:t>Revenue seasonality - boutique</a:t>
            </a:r>
          </a:p>
        </p:txBody>
      </p:sp>
      <p:sp>
        <p:nvSpPr>
          <p:cNvPr id="28" name="Text Placeholder 27">
            <a:extLst>
              <a:ext uri="{FF2B5EF4-FFF2-40B4-BE49-F238E27FC236}">
                <a16:creationId xmlns:a16="http://schemas.microsoft.com/office/drawing/2014/main" id="{04FC5CC3-ACA4-4030-82E6-6A37FA39B7C2}"/>
              </a:ext>
            </a:extLst>
          </p:cNvPr>
          <p:cNvSpPr>
            <a:spLocks noGrp="1"/>
          </p:cNvSpPr>
          <p:nvPr>
            <p:ph type="body" sz="quarter" idx="63"/>
          </p:nvPr>
        </p:nvSpPr>
        <p:spPr>
          <a:xfrm>
            <a:off x="7891413" y="1970600"/>
            <a:ext cx="3312000" cy="252000"/>
          </a:xfrm>
        </p:spPr>
        <p:txBody>
          <a:bodyPr/>
          <a:lstStyle/>
          <a:p>
            <a:r>
              <a:rPr lang="en-GB" dirty="0"/>
              <a:t>Revenue seasonality - concession</a:t>
            </a:r>
          </a:p>
        </p:txBody>
      </p:sp>
      <p:sp>
        <p:nvSpPr>
          <p:cNvPr id="2" name="Text Placeholder 7">
            <a:extLst>
              <a:ext uri="{FF2B5EF4-FFF2-40B4-BE49-F238E27FC236}">
                <a16:creationId xmlns:a16="http://schemas.microsoft.com/office/drawing/2014/main" id="{E4BFB7FD-40F5-1A57-98AB-39B070CDB9C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7AEAB41-0BB8-2E9E-7CBA-28CAD4AE2C71}"/>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64B13FA1-65A5-80BC-BDE8-1840B99F9EE8}"/>
              </a:ext>
            </a:extLst>
          </p:cNvPr>
          <p:cNvSpPr/>
          <p:nvPr>
            <p:custDataLst>
              <p:tags r:id="rId5"/>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260B8E89-BB40-9C62-C335-C00D83F47649}"/>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91DB6382-A486-DF09-2378-3387054C2CAA}"/>
              </a:ext>
            </a:extLst>
          </p:cNvPr>
          <p:cNvCxnSpPr>
            <a:cxnSpLocks/>
            <a:stCxn id="7"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756669E9-3E48-4762-8273-8EF971F6F1CA}"/>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D7F174F-CC58-4E3F-B673-535EECFA3BD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AD2E33D9-27D9-4531-B579-61232A6FC77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11E5E96E-4003-44CF-92C0-30936214104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5D58CAE9-F436-49CA-89FF-DAC963134100}"/>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05B02054-2C2E-4603-94CA-F96E15B49AE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BC342EE3-4DCA-45AA-9C58-6784B6F58F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0066B0B2-58FF-49A9-83D5-92AC1B90B0D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49EDE8C6-20CA-4D3B-AE7C-7300446F8F90}"/>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Text Placeholder 5">
            <a:extLst>
              <a:ext uri="{FF2B5EF4-FFF2-40B4-BE49-F238E27FC236}">
                <a16:creationId xmlns:a16="http://schemas.microsoft.com/office/drawing/2014/main" id="{6C8E7A1B-2487-4745-97BD-19D4D40431C6}"/>
              </a:ext>
            </a:extLst>
          </p:cNvPr>
          <p:cNvSpPr txBox="1">
            <a:spLocks/>
          </p:cNvSpPr>
          <p:nvPr/>
        </p:nvSpPr>
        <p:spPr>
          <a:xfrm>
            <a:off x="995361" y="1340768"/>
            <a:ext cx="10195200" cy="460800"/>
          </a:xfrm>
          <a:prstGeom prst="rect">
            <a:avLst/>
          </a:prstGeom>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90000"/>
              </a:lnSpc>
            </a:pPr>
            <a:r>
              <a:rPr lang="en-GB" sz="1000" b="1" dirty="0">
                <a:solidFill>
                  <a:srgbClr val="00338D"/>
                </a:solidFill>
              </a:rPr>
              <a:t>Online gross margin decreases in January, as this is when the core end of season sale occurs (albeit this was not as prominent in January 2021 due to the reduced level of discounting).</a:t>
            </a:r>
            <a:r>
              <a:rPr lang="en-GB" b="1" dirty="0">
                <a:solidFill>
                  <a:srgbClr val="00338D"/>
                </a:solidFill>
              </a:rPr>
              <a:t> </a:t>
            </a:r>
            <a:r>
              <a:rPr lang="en-GB" sz="1000" b="1" dirty="0">
                <a:solidFill>
                  <a:srgbClr val="00338D"/>
                </a:solidFill>
              </a:rPr>
              <a:t>The decline in the gross margin for boutiques is less pronounced in January as boutiques typically sell limited marked down product, with customers sales instead driven by full price new season. As the business accounts on a 4-4-5 basis, we have presented weekly sales in the revenue charts opposite to remove the impact of an additional week of trading.</a:t>
            </a:r>
          </a:p>
          <a:p>
            <a:pPr>
              <a:lnSpc>
                <a:spcPct val="90000"/>
              </a:lnSpc>
            </a:pPr>
            <a:endParaRPr lang="en-GB" b="1" dirty="0">
              <a:solidFill>
                <a:srgbClr val="00338D"/>
              </a:solidFill>
            </a:endParaRPr>
          </a:p>
        </p:txBody>
      </p:sp>
      <p:sp>
        <p:nvSpPr>
          <p:cNvPr id="100" name="Rounded Rectangle 7">
            <a:extLst>
              <a:ext uri="{FF2B5EF4-FFF2-40B4-BE49-F238E27FC236}">
                <a16:creationId xmlns:a16="http://schemas.microsoft.com/office/drawing/2014/main" id="{EBDDE6B4-1134-4DDE-B1DB-6CE42568D9EA}"/>
              </a:ext>
            </a:extLst>
          </p:cNvPr>
          <p:cNvSpPr/>
          <p:nvPr>
            <p:custDataLst>
              <p:tags r:id="rId6"/>
            </p:custDataLst>
          </p:nvPr>
        </p:nvSpPr>
        <p:spPr>
          <a:xfrm>
            <a:off x="2651359" y="2806968"/>
            <a:ext cx="520751" cy="774432"/>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2" name="Rounded Rectangle 7">
            <a:extLst>
              <a:ext uri="{FF2B5EF4-FFF2-40B4-BE49-F238E27FC236}">
                <a16:creationId xmlns:a16="http://schemas.microsoft.com/office/drawing/2014/main" id="{6898C26A-9F5F-4F22-B230-83640CA0A109}"/>
              </a:ext>
            </a:extLst>
          </p:cNvPr>
          <p:cNvSpPr/>
          <p:nvPr>
            <p:custDataLst>
              <p:tags r:id="rId7"/>
            </p:custDataLst>
          </p:nvPr>
        </p:nvSpPr>
        <p:spPr>
          <a:xfrm>
            <a:off x="7315200" y="2402360"/>
            <a:ext cx="313102" cy="1026640"/>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3" name="Rounded Rectangle 7">
            <a:extLst>
              <a:ext uri="{FF2B5EF4-FFF2-40B4-BE49-F238E27FC236}">
                <a16:creationId xmlns:a16="http://schemas.microsoft.com/office/drawing/2014/main" id="{4091D374-1917-4870-B7C6-F7F55BCD8A4F}"/>
              </a:ext>
            </a:extLst>
          </p:cNvPr>
          <p:cNvSpPr/>
          <p:nvPr>
            <p:custDataLst>
              <p:tags r:id="rId8"/>
            </p:custDataLst>
          </p:nvPr>
        </p:nvSpPr>
        <p:spPr>
          <a:xfrm>
            <a:off x="10375269" y="2352719"/>
            <a:ext cx="325964" cy="26901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5" name="Oval 104">
            <a:extLst>
              <a:ext uri="{FF2B5EF4-FFF2-40B4-BE49-F238E27FC236}">
                <a16:creationId xmlns:a16="http://schemas.microsoft.com/office/drawing/2014/main" id="{99C91A92-B081-4372-A2A7-13DA129D9FC7}"/>
              </a:ext>
            </a:extLst>
          </p:cNvPr>
          <p:cNvSpPr/>
          <p:nvPr/>
        </p:nvSpPr>
        <p:spPr>
          <a:xfrm>
            <a:off x="2435359" y="335700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106" name="Oval 105">
            <a:extLst>
              <a:ext uri="{FF2B5EF4-FFF2-40B4-BE49-F238E27FC236}">
                <a16:creationId xmlns:a16="http://schemas.microsoft.com/office/drawing/2014/main" id="{6A7815E5-FDA6-48A7-82DD-97113505ADC6}"/>
              </a:ext>
            </a:extLst>
          </p:cNvPr>
          <p:cNvSpPr/>
          <p:nvPr/>
        </p:nvSpPr>
        <p:spPr>
          <a:xfrm>
            <a:off x="7093864" y="3030927"/>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107" name="Oval 106">
            <a:extLst>
              <a:ext uri="{FF2B5EF4-FFF2-40B4-BE49-F238E27FC236}">
                <a16:creationId xmlns:a16="http://schemas.microsoft.com/office/drawing/2014/main" id="{0A70C6F5-1FCE-4AFF-9F13-BB99341E159D}"/>
              </a:ext>
            </a:extLst>
          </p:cNvPr>
          <p:cNvSpPr/>
          <p:nvPr/>
        </p:nvSpPr>
        <p:spPr>
          <a:xfrm>
            <a:off x="10163256" y="240236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grpSp>
        <p:nvGrpSpPr>
          <p:cNvPr id="117" name="Group 116">
            <a:extLst>
              <a:ext uri="{FF2B5EF4-FFF2-40B4-BE49-F238E27FC236}">
                <a16:creationId xmlns:a16="http://schemas.microsoft.com/office/drawing/2014/main" id="{50DEC464-8D48-41EB-AD11-5417E1B8D220}"/>
              </a:ext>
            </a:extLst>
          </p:cNvPr>
          <p:cNvGrpSpPr/>
          <p:nvPr/>
        </p:nvGrpSpPr>
        <p:grpSpPr>
          <a:xfrm>
            <a:off x="1520559" y="4379560"/>
            <a:ext cx="2242280" cy="376791"/>
            <a:chOff x="1508984" y="4030310"/>
            <a:chExt cx="2242280" cy="376791"/>
          </a:xfrm>
        </p:grpSpPr>
        <p:sp>
          <p:nvSpPr>
            <p:cNvPr id="99" name="Rectangle 98">
              <a:extLst>
                <a:ext uri="{FF2B5EF4-FFF2-40B4-BE49-F238E27FC236}">
                  <a16:creationId xmlns:a16="http://schemas.microsoft.com/office/drawing/2014/main" id="{CA913AA9-33A3-4711-9D5C-E2E8949C56C4}"/>
                </a:ext>
              </a:extLst>
            </p:cNvPr>
            <p:cNvSpPr/>
            <p:nvPr/>
          </p:nvSpPr>
          <p:spPr>
            <a:xfrm>
              <a:off x="1771264" y="4030310"/>
              <a:ext cx="1980000" cy="37679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Gross margin typically declines in August to coincide with the end of season sales.</a:t>
              </a:r>
            </a:p>
          </p:txBody>
        </p:sp>
        <p:sp>
          <p:nvSpPr>
            <p:cNvPr id="108" name="Oval 107">
              <a:extLst>
                <a:ext uri="{FF2B5EF4-FFF2-40B4-BE49-F238E27FC236}">
                  <a16:creationId xmlns:a16="http://schemas.microsoft.com/office/drawing/2014/main" id="{A2672F00-15AD-4D79-B74D-E1A68A6084B6}"/>
                </a:ext>
              </a:extLst>
            </p:cNvPr>
            <p:cNvSpPr/>
            <p:nvPr/>
          </p:nvSpPr>
          <p:spPr>
            <a:xfrm>
              <a:off x="1508984" y="4112813"/>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grpSp>
      <p:grpSp>
        <p:nvGrpSpPr>
          <p:cNvPr id="114" name="Group 113">
            <a:extLst>
              <a:ext uri="{FF2B5EF4-FFF2-40B4-BE49-F238E27FC236}">
                <a16:creationId xmlns:a16="http://schemas.microsoft.com/office/drawing/2014/main" id="{6701493E-2F2C-4A66-834B-B10D1016C436}"/>
              </a:ext>
            </a:extLst>
          </p:cNvPr>
          <p:cNvGrpSpPr/>
          <p:nvPr/>
        </p:nvGrpSpPr>
        <p:grpSpPr>
          <a:xfrm>
            <a:off x="4995356" y="4242638"/>
            <a:ext cx="2170508" cy="582850"/>
            <a:chOff x="4995356" y="3893388"/>
            <a:chExt cx="2170508" cy="582850"/>
          </a:xfrm>
        </p:grpSpPr>
        <p:sp>
          <p:nvSpPr>
            <p:cNvPr id="104" name="Rectangle 103">
              <a:extLst>
                <a:ext uri="{FF2B5EF4-FFF2-40B4-BE49-F238E27FC236}">
                  <a16:creationId xmlns:a16="http://schemas.microsoft.com/office/drawing/2014/main" id="{CD893FA1-B054-421F-9AC4-E9D76D0430A2}"/>
                </a:ext>
              </a:extLst>
            </p:cNvPr>
            <p:cNvSpPr/>
            <p:nvPr/>
          </p:nvSpPr>
          <p:spPr>
            <a:xfrm>
              <a:off x="5185864" y="3893388"/>
              <a:ext cx="1980000" cy="58285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Y moved away from selling marked down product in boutiques in January, as they determined customers were more interested in full price products.</a:t>
              </a:r>
            </a:p>
          </p:txBody>
        </p:sp>
        <p:sp>
          <p:nvSpPr>
            <p:cNvPr id="109" name="Oval 108">
              <a:extLst>
                <a:ext uri="{FF2B5EF4-FFF2-40B4-BE49-F238E27FC236}">
                  <a16:creationId xmlns:a16="http://schemas.microsoft.com/office/drawing/2014/main" id="{6F416A28-7450-4925-8208-395DE091F7CD}"/>
                </a:ext>
              </a:extLst>
            </p:cNvPr>
            <p:cNvSpPr/>
            <p:nvPr/>
          </p:nvSpPr>
          <p:spPr>
            <a:xfrm>
              <a:off x="4995356" y="4112813"/>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grpSp>
      <p:grpSp>
        <p:nvGrpSpPr>
          <p:cNvPr id="55" name="Group 54">
            <a:extLst>
              <a:ext uri="{FF2B5EF4-FFF2-40B4-BE49-F238E27FC236}">
                <a16:creationId xmlns:a16="http://schemas.microsoft.com/office/drawing/2014/main" id="{B71DFBC8-9E41-44D2-A06B-5D1E6CD1DD24}"/>
              </a:ext>
            </a:extLst>
          </p:cNvPr>
          <p:cNvGrpSpPr/>
          <p:nvPr/>
        </p:nvGrpSpPr>
        <p:grpSpPr>
          <a:xfrm>
            <a:off x="8588889" y="4242638"/>
            <a:ext cx="2170508" cy="582850"/>
            <a:chOff x="4995356" y="3893388"/>
            <a:chExt cx="2170508" cy="582850"/>
          </a:xfrm>
        </p:grpSpPr>
        <p:sp>
          <p:nvSpPr>
            <p:cNvPr id="56" name="Rectangle 55">
              <a:extLst>
                <a:ext uri="{FF2B5EF4-FFF2-40B4-BE49-F238E27FC236}">
                  <a16:creationId xmlns:a16="http://schemas.microsoft.com/office/drawing/2014/main" id="{26973463-CB4E-4AF4-A6FD-2A38445DE66E}"/>
                </a:ext>
              </a:extLst>
            </p:cNvPr>
            <p:cNvSpPr/>
            <p:nvPr/>
          </p:nvSpPr>
          <p:spPr>
            <a:xfrm>
              <a:off x="5185864" y="3893388"/>
              <a:ext cx="1980000" cy="58285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The gross margin peak in November 2020 was due to a small </a:t>
              </a:r>
              <a:r>
                <a:rPr lang="en-GB" sz="700" dirty="0" err="1">
                  <a:solidFill>
                    <a:sysClr val="windowText" lastClr="000000"/>
                  </a:solidFill>
                </a:rPr>
                <a:t>misposting</a:t>
              </a:r>
              <a:r>
                <a:rPr lang="en-GB" sz="700" dirty="0">
                  <a:solidFill>
                    <a:sysClr val="windowText" lastClr="000000"/>
                  </a:solidFill>
                </a:rPr>
                <a:t> by management.</a:t>
              </a:r>
            </a:p>
          </p:txBody>
        </p:sp>
        <p:sp>
          <p:nvSpPr>
            <p:cNvPr id="57" name="Oval 56">
              <a:extLst>
                <a:ext uri="{FF2B5EF4-FFF2-40B4-BE49-F238E27FC236}">
                  <a16:creationId xmlns:a16="http://schemas.microsoft.com/office/drawing/2014/main" id="{6EC7B55D-A13D-4067-B57E-E7CCA6E4E700}"/>
                </a:ext>
              </a:extLst>
            </p:cNvPr>
            <p:cNvSpPr/>
            <p:nvPr/>
          </p:nvSpPr>
          <p:spPr>
            <a:xfrm>
              <a:off x="4995356" y="4112813"/>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grpSp>
      <p:sp>
        <p:nvSpPr>
          <p:cNvPr id="52" name="Text Placeholder 12">
            <a:extLst>
              <a:ext uri="{FF2B5EF4-FFF2-40B4-BE49-F238E27FC236}">
                <a16:creationId xmlns:a16="http://schemas.microsoft.com/office/drawing/2014/main" id="{1A777046-7A4A-4769-BA8E-67AF08308D25}"/>
              </a:ext>
            </a:extLst>
          </p:cNvPr>
          <p:cNvSpPr txBox="1">
            <a:spLocks/>
          </p:cNvSpPr>
          <p:nvPr/>
        </p:nvSpPr>
        <p:spPr>
          <a:xfrm>
            <a:off x="995359" y="6146740"/>
            <a:ext cx="3453442"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4" name="UpSlide SubSection Marker" hidden="1">
            <a:extLst>
              <a:ext uri="{FF2B5EF4-FFF2-40B4-BE49-F238E27FC236}">
                <a16:creationId xmlns:a16="http://schemas.microsoft.com/office/drawing/2014/main" id="{F263FD29-114F-4E4F-810F-275E8F07CCD0}"/>
              </a:ext>
            </a:extLst>
          </p:cNvPr>
          <p:cNvSpPr/>
          <p:nvPr>
            <p:custDataLst>
              <p:tags r:id="rId9"/>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50" name="Group 49">
            <a:extLst>
              <a:ext uri="{FF2B5EF4-FFF2-40B4-BE49-F238E27FC236}">
                <a16:creationId xmlns:a16="http://schemas.microsoft.com/office/drawing/2014/main" id="{6053D987-536A-4F5C-A091-BF2D8B3453A5}"/>
              </a:ext>
            </a:extLst>
          </p:cNvPr>
          <p:cNvGrpSpPr/>
          <p:nvPr>
            <p:custDataLst>
              <p:tags r:id="rId10"/>
            </p:custDataLst>
          </p:nvPr>
        </p:nvGrpSpPr>
        <p:grpSpPr>
          <a:xfrm>
            <a:off x="995364" y="153170"/>
            <a:ext cx="6253254" cy="195814"/>
            <a:chOff x="995364" y="153170"/>
            <a:chExt cx="6253254" cy="195814"/>
          </a:xfrm>
        </p:grpSpPr>
        <p:sp>
          <p:nvSpPr>
            <p:cNvPr id="51" name="Other Sections1">
              <a:hlinkClick r:id="rId1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3" name="Current Section2">
              <a:hlinkClick r:id="rId18"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4" name="Other Sections3">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8" name="Other Sections4">
              <a:hlinkClick r:id="rId20"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9" name="Other Sections5">
              <a:hlinkClick r:id="rId21"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0" name="Other Sections6">
              <a:hlinkClick r:id="rId22"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1" name="Other Sections7">
              <a:hlinkClick r:id="rId23"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36065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4E65555-C8FD-4A65-9C6D-AC2828DEA9FE}"/>
              </a:ext>
            </a:extLst>
          </p:cNvPr>
          <p:cNvSpPr/>
          <p:nvPr/>
        </p:nvSpPr>
        <p:spPr>
          <a:xfrm>
            <a:off x="5854254" y="4246280"/>
            <a:ext cx="396425" cy="1377401"/>
          </a:xfrm>
          <a:prstGeom prst="rect">
            <a:avLst/>
          </a:prstGeom>
          <a:pattFill prst="wdDnDiag">
            <a:fgClr>
              <a:srgbClr val="FFF1C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70" name="Rectangle 69">
            <a:extLst>
              <a:ext uri="{FF2B5EF4-FFF2-40B4-BE49-F238E27FC236}">
                <a16:creationId xmlns:a16="http://schemas.microsoft.com/office/drawing/2014/main" id="{5439E3EE-7EA9-4284-B11A-8931C70494D6}"/>
              </a:ext>
            </a:extLst>
          </p:cNvPr>
          <p:cNvSpPr/>
          <p:nvPr/>
        </p:nvSpPr>
        <p:spPr>
          <a:xfrm>
            <a:off x="4649650" y="4246280"/>
            <a:ext cx="396425" cy="1377401"/>
          </a:xfrm>
          <a:prstGeom prst="rect">
            <a:avLst/>
          </a:prstGeom>
          <a:pattFill prst="wdDnDiag">
            <a:fgClr>
              <a:srgbClr val="FFF1C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69" name="Rectangle 68">
            <a:extLst>
              <a:ext uri="{FF2B5EF4-FFF2-40B4-BE49-F238E27FC236}">
                <a16:creationId xmlns:a16="http://schemas.microsoft.com/office/drawing/2014/main" id="{C0CCAE98-7AF3-49BD-B8B0-00BC2C2AFDBB}"/>
              </a:ext>
            </a:extLst>
          </p:cNvPr>
          <p:cNvSpPr/>
          <p:nvPr/>
        </p:nvSpPr>
        <p:spPr>
          <a:xfrm>
            <a:off x="5854254" y="2344366"/>
            <a:ext cx="396425" cy="1377401"/>
          </a:xfrm>
          <a:prstGeom prst="rect">
            <a:avLst/>
          </a:prstGeom>
          <a:pattFill prst="wdDnDiag">
            <a:fgClr>
              <a:srgbClr val="FFF1C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68" name="Rectangle 67">
            <a:extLst>
              <a:ext uri="{FF2B5EF4-FFF2-40B4-BE49-F238E27FC236}">
                <a16:creationId xmlns:a16="http://schemas.microsoft.com/office/drawing/2014/main" id="{AA1C68CA-6011-4C53-99A4-C5ACE3DEFE80}"/>
              </a:ext>
            </a:extLst>
          </p:cNvPr>
          <p:cNvSpPr/>
          <p:nvPr/>
        </p:nvSpPr>
        <p:spPr>
          <a:xfrm>
            <a:off x="4649650" y="2351450"/>
            <a:ext cx="396425" cy="1377401"/>
          </a:xfrm>
          <a:prstGeom prst="rect">
            <a:avLst/>
          </a:prstGeom>
          <a:pattFill prst="wdDnDiag">
            <a:fgClr>
              <a:srgbClr val="FFF1C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2"/>
                      <a:stretch>
                        <a:fillRect/>
                      </a:stretch>
                    </p:blipFill>
                    <p:spPr>
                      <a:xfrm>
                        <a:off x="1589" y="1589"/>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28E341C-C60F-4DEF-B36B-2883532C61EC}"/>
              </a:ext>
            </a:extLst>
          </p:cNvPr>
          <p:cNvSpPr>
            <a:spLocks noGrp="1"/>
          </p:cNvSpPr>
          <p:nvPr>
            <p:ph type="body" sz="quarter" idx="10"/>
          </p:nvPr>
        </p:nvSpPr>
        <p:spPr/>
        <p:txBody>
          <a:bodyPr/>
          <a:lstStyle/>
          <a:p>
            <a:r>
              <a:rPr lang="en-GB" dirty="0"/>
              <a:t>Rolling LTM revenue has been on a clear growth trajectory, with LTM revenue increasing continuously with the exception of LTM revenue contraction between March - May 2020, (the first high street lockdown), returning to growth in June 2020 as high street retail reopened. EBITDA has followed a similar pattern, albeit took longer to return to pre March levels, due to the level of losses incurred during months when retail was closed (i.e. high level of fixed store costs versus nil revenue in the period).  </a:t>
            </a:r>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Rolling LTM revenue and EBITDA</a:t>
            </a:r>
          </a:p>
        </p:txBody>
      </p:sp>
      <p:sp>
        <p:nvSpPr>
          <p:cNvPr id="8" name="Text Placeholder 7">
            <a:extLst>
              <a:ext uri="{FF2B5EF4-FFF2-40B4-BE49-F238E27FC236}">
                <a16:creationId xmlns:a16="http://schemas.microsoft.com/office/drawing/2014/main" id="{3EB11BF6-6EA4-4E18-BE4C-EED5E9DA9D7F}"/>
              </a:ext>
            </a:extLst>
          </p:cNvPr>
          <p:cNvSpPr>
            <a:spLocks noGrp="1"/>
          </p:cNvSpPr>
          <p:nvPr>
            <p:ph type="body" sz="quarter" idx="11"/>
          </p:nvPr>
        </p:nvSpPr>
        <p:spPr>
          <a:xfrm>
            <a:off x="1031916" y="1912838"/>
            <a:ext cx="6386044" cy="252000"/>
          </a:xfrm>
        </p:spPr>
        <p:txBody>
          <a:bodyPr/>
          <a:lstStyle/>
          <a:p>
            <a:r>
              <a:rPr lang="fi-FI" dirty="0"/>
              <a:t>Historical revenue</a:t>
            </a:r>
          </a:p>
        </p:txBody>
      </p:sp>
      <p:sp>
        <p:nvSpPr>
          <p:cNvPr id="5" name="Text Placeholder 12">
            <a:extLst>
              <a:ext uri="{FF2B5EF4-FFF2-40B4-BE49-F238E27FC236}">
                <a16:creationId xmlns:a16="http://schemas.microsoft.com/office/drawing/2014/main" id="{2FD33629-F817-B8AA-5C82-CFD5161DB9E3}"/>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85" name="Rectangle 84">
            <a:extLst>
              <a:ext uri="{FF2B5EF4-FFF2-40B4-BE49-F238E27FC236}">
                <a16:creationId xmlns:a16="http://schemas.microsoft.com/office/drawing/2014/main" id="{A879DCE6-99F5-48F3-A898-76393E32A11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86" name="Rectangle 85">
            <a:extLst>
              <a:ext uri="{FF2B5EF4-FFF2-40B4-BE49-F238E27FC236}">
                <a16:creationId xmlns:a16="http://schemas.microsoft.com/office/drawing/2014/main" id="{EC81F592-1463-4872-BCA0-2E97C551D11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87" name="Rectangle 86">
            <a:extLst>
              <a:ext uri="{FF2B5EF4-FFF2-40B4-BE49-F238E27FC236}">
                <a16:creationId xmlns:a16="http://schemas.microsoft.com/office/drawing/2014/main" id="{82AE5DA6-4960-4791-9ADA-C9D459DF54E4}"/>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88" name="Rectangle 87">
            <a:extLst>
              <a:ext uri="{FF2B5EF4-FFF2-40B4-BE49-F238E27FC236}">
                <a16:creationId xmlns:a16="http://schemas.microsoft.com/office/drawing/2014/main" id="{2C7F6A3D-8D80-4B3F-8F5D-18BF9AD957F0}"/>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89" name="Rectangle 88">
            <a:extLst>
              <a:ext uri="{FF2B5EF4-FFF2-40B4-BE49-F238E27FC236}">
                <a16:creationId xmlns:a16="http://schemas.microsoft.com/office/drawing/2014/main" id="{8890574D-ECFA-4CD0-9A61-23EC4133EC25}"/>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0" name="Rectangle 89">
            <a:extLst>
              <a:ext uri="{FF2B5EF4-FFF2-40B4-BE49-F238E27FC236}">
                <a16:creationId xmlns:a16="http://schemas.microsoft.com/office/drawing/2014/main" id="{E8E0001E-EEF5-444F-B1BB-1CAAC1B1126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1" name="Rectangle 90">
            <a:extLst>
              <a:ext uri="{FF2B5EF4-FFF2-40B4-BE49-F238E27FC236}">
                <a16:creationId xmlns:a16="http://schemas.microsoft.com/office/drawing/2014/main" id="{39B55A80-0161-45D3-96B2-2497CD7B7A0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2" name="Rectangle 91">
            <a:extLst>
              <a:ext uri="{FF2B5EF4-FFF2-40B4-BE49-F238E27FC236}">
                <a16:creationId xmlns:a16="http://schemas.microsoft.com/office/drawing/2014/main" id="{DBE9E423-EDD9-40C5-9756-F468D8DE811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3" name="Rectangle 92">
            <a:extLst>
              <a:ext uri="{FF2B5EF4-FFF2-40B4-BE49-F238E27FC236}">
                <a16:creationId xmlns:a16="http://schemas.microsoft.com/office/drawing/2014/main" id="{2D64DD16-4B09-410F-B3CF-B30DCABAB8A5}"/>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Text Placeholder 7">
            <a:extLst>
              <a:ext uri="{FF2B5EF4-FFF2-40B4-BE49-F238E27FC236}">
                <a16:creationId xmlns:a16="http://schemas.microsoft.com/office/drawing/2014/main" id="{691D7DB8-61A5-4FA6-BC23-21FFE9E934D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5" name="Text Placeholder 12">
            <a:extLst>
              <a:ext uri="{FF2B5EF4-FFF2-40B4-BE49-F238E27FC236}">
                <a16:creationId xmlns:a16="http://schemas.microsoft.com/office/drawing/2014/main" id="{6DE1E22B-0F78-45D8-B55E-52FE8C0ABAC1}"/>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6" name="Rounded Rectangle 7">
            <a:extLst>
              <a:ext uri="{FF2B5EF4-FFF2-40B4-BE49-F238E27FC236}">
                <a16:creationId xmlns:a16="http://schemas.microsoft.com/office/drawing/2014/main" id="{D59F1D12-485D-4C92-9E36-2ACC8ECC1D5A}"/>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7" name="Rectangle 96">
            <a:extLst>
              <a:ext uri="{FF2B5EF4-FFF2-40B4-BE49-F238E27FC236}">
                <a16:creationId xmlns:a16="http://schemas.microsoft.com/office/drawing/2014/main" id="{28C7FEDA-EC81-4DBF-A3FC-2F9A3276FD03}"/>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8" name="Straight Arrow Connector 97">
            <a:extLst>
              <a:ext uri="{FF2B5EF4-FFF2-40B4-BE49-F238E27FC236}">
                <a16:creationId xmlns:a16="http://schemas.microsoft.com/office/drawing/2014/main" id="{01BBF348-C31E-4CF4-A32E-CA3045332A6F}"/>
              </a:ext>
            </a:extLst>
          </p:cNvPr>
          <p:cNvCxnSpPr>
            <a:cxnSpLocks/>
            <a:stCxn id="97" idx="2"/>
            <a:endCxn id="9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6" name="Text Placeholder 7">
            <a:extLst>
              <a:ext uri="{FF2B5EF4-FFF2-40B4-BE49-F238E27FC236}">
                <a16:creationId xmlns:a16="http://schemas.microsoft.com/office/drawing/2014/main" id="{C20C29E3-DE1F-4084-A961-8E207FE2F8B1}"/>
              </a:ext>
            </a:extLst>
          </p:cNvPr>
          <p:cNvSpPr txBox="1">
            <a:spLocks/>
          </p:cNvSpPr>
          <p:nvPr/>
        </p:nvSpPr>
        <p:spPr>
          <a:xfrm>
            <a:off x="1024116" y="3887914"/>
            <a:ext cx="6386044" cy="252000"/>
          </a:xfrm>
          <a:prstGeom prst="rect">
            <a:avLst/>
          </a:prstGeom>
          <a:solidFill>
            <a:schemeClr val="tx2"/>
          </a:solidFill>
        </p:spPr>
        <p:txBody>
          <a:bodyPr vert="horz" lIns="72000" tIns="0" rIns="72000" bIns="0" rtlCol="0" anchor="ctr" anchorCtr="0">
            <a:noAutofit/>
          </a:bodyPr>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fi-FI" dirty="0"/>
              <a:t>Historical EBITDA</a:t>
            </a:r>
          </a:p>
        </p:txBody>
      </p:sp>
      <p:pic>
        <p:nvPicPr>
          <p:cNvPr id="3" name="Picture 2">
            <a:extLst>
              <a:ext uri="{FF2B5EF4-FFF2-40B4-BE49-F238E27FC236}">
                <a16:creationId xmlns:a16="http://schemas.microsoft.com/office/drawing/2014/main" id="{8F6457B8-5D2A-4AA9-BB7B-FFC87198A101}"/>
              </a:ext>
            </a:extLst>
          </p:cNvPr>
          <p:cNvPicPr>
            <a:picLocks noChangeAspect="1"/>
          </p:cNvPicPr>
          <p:nvPr>
            <p:custDataLst>
              <p:tags r:id="rId3"/>
            </p:custDataLst>
          </p:nvPr>
        </p:nvPicPr>
        <p:blipFill>
          <a:blip r:embed="rId13"/>
          <a:stretch>
            <a:fillRect/>
          </a:stretch>
        </p:blipFill>
        <p:spPr>
          <a:xfrm>
            <a:off x="1024116" y="2283151"/>
            <a:ext cx="6378244" cy="1525232"/>
          </a:xfrm>
          <a:prstGeom prst="rect">
            <a:avLst/>
          </a:prstGeom>
        </p:spPr>
      </p:pic>
      <p:sp>
        <p:nvSpPr>
          <p:cNvPr id="61" name="Rectangle 60">
            <a:extLst>
              <a:ext uri="{FF2B5EF4-FFF2-40B4-BE49-F238E27FC236}">
                <a16:creationId xmlns:a16="http://schemas.microsoft.com/office/drawing/2014/main" id="{DDC333AC-9A6B-4555-9D47-5167F0144BFA}"/>
              </a:ext>
            </a:extLst>
          </p:cNvPr>
          <p:cNvSpPr/>
          <p:nvPr/>
        </p:nvSpPr>
        <p:spPr>
          <a:xfrm>
            <a:off x="8773833" y="2053737"/>
            <a:ext cx="1620000" cy="7019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Rolling LTM online sales have displayed continuous growth throughout the historical period, with no discernible reductions when the high street reopened.</a:t>
            </a:r>
          </a:p>
        </p:txBody>
      </p:sp>
      <p:sp>
        <p:nvSpPr>
          <p:cNvPr id="62" name="Rounded Rectangle 7">
            <a:extLst>
              <a:ext uri="{FF2B5EF4-FFF2-40B4-BE49-F238E27FC236}">
                <a16:creationId xmlns:a16="http://schemas.microsoft.com/office/drawing/2014/main" id="{F3026104-4067-4C08-979B-24F79E9A39AD}"/>
              </a:ext>
            </a:extLst>
          </p:cNvPr>
          <p:cNvSpPr/>
          <p:nvPr>
            <p:custDataLst>
              <p:tags r:id="rId4"/>
            </p:custDataLst>
          </p:nvPr>
        </p:nvSpPr>
        <p:spPr>
          <a:xfrm>
            <a:off x="6652699" y="2541954"/>
            <a:ext cx="171165" cy="1238069"/>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3" name="Rounded Rectangle 7">
            <a:extLst>
              <a:ext uri="{FF2B5EF4-FFF2-40B4-BE49-F238E27FC236}">
                <a16:creationId xmlns:a16="http://schemas.microsoft.com/office/drawing/2014/main" id="{4C556EF0-A389-4EDE-B8D1-8F9C321CCD94}"/>
              </a:ext>
            </a:extLst>
          </p:cNvPr>
          <p:cNvSpPr/>
          <p:nvPr>
            <p:custDataLst>
              <p:tags r:id="rId5"/>
            </p:custDataLst>
          </p:nvPr>
        </p:nvSpPr>
        <p:spPr>
          <a:xfrm>
            <a:off x="6615537" y="4579335"/>
            <a:ext cx="208327" cy="1084257"/>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4" name="Oval 63">
            <a:extLst>
              <a:ext uri="{FF2B5EF4-FFF2-40B4-BE49-F238E27FC236}">
                <a16:creationId xmlns:a16="http://schemas.microsoft.com/office/drawing/2014/main" id="{6308DFF9-A0E6-43D7-A796-694917D20EEA}"/>
              </a:ext>
            </a:extLst>
          </p:cNvPr>
          <p:cNvSpPr/>
          <p:nvPr/>
        </p:nvSpPr>
        <p:spPr>
          <a:xfrm>
            <a:off x="6885537" y="3524204"/>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65" name="Oval 64">
            <a:extLst>
              <a:ext uri="{FF2B5EF4-FFF2-40B4-BE49-F238E27FC236}">
                <a16:creationId xmlns:a16="http://schemas.microsoft.com/office/drawing/2014/main" id="{3EAB5EA7-258A-4D85-8B75-91656ACC9C4A}"/>
              </a:ext>
            </a:extLst>
          </p:cNvPr>
          <p:cNvSpPr/>
          <p:nvPr/>
        </p:nvSpPr>
        <p:spPr>
          <a:xfrm>
            <a:off x="6885537" y="5445232"/>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66" name="Rectangle 65">
            <a:extLst>
              <a:ext uri="{FF2B5EF4-FFF2-40B4-BE49-F238E27FC236}">
                <a16:creationId xmlns:a16="http://schemas.microsoft.com/office/drawing/2014/main" id="{605B76E0-547B-457F-939B-721A7B10857D}"/>
              </a:ext>
            </a:extLst>
          </p:cNvPr>
          <p:cNvSpPr/>
          <p:nvPr/>
        </p:nvSpPr>
        <p:spPr>
          <a:xfrm>
            <a:off x="8773833" y="3792723"/>
            <a:ext cx="1620000" cy="7019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August is typically a quieter month as it coincides with when customers tend to be on holiday. Further, gross profit margin is low due to the end of season sale.</a:t>
            </a:r>
          </a:p>
        </p:txBody>
      </p:sp>
      <p:sp>
        <p:nvSpPr>
          <p:cNvPr id="67" name="Oval 66">
            <a:extLst>
              <a:ext uri="{FF2B5EF4-FFF2-40B4-BE49-F238E27FC236}">
                <a16:creationId xmlns:a16="http://schemas.microsoft.com/office/drawing/2014/main" id="{0C7DDD9D-2AB6-43E5-8B1F-A46A6D0187C0}"/>
              </a:ext>
            </a:extLst>
          </p:cNvPr>
          <p:cNvSpPr/>
          <p:nvPr/>
        </p:nvSpPr>
        <p:spPr>
          <a:xfrm>
            <a:off x="8588889" y="4075199"/>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72" name="Rectangle 71">
            <a:extLst>
              <a:ext uri="{FF2B5EF4-FFF2-40B4-BE49-F238E27FC236}">
                <a16:creationId xmlns:a16="http://schemas.microsoft.com/office/drawing/2014/main" id="{85137D14-6D42-4C80-BBF3-B39F266BD7BB}"/>
              </a:ext>
            </a:extLst>
          </p:cNvPr>
          <p:cNvSpPr/>
          <p:nvPr/>
        </p:nvSpPr>
        <p:spPr>
          <a:xfrm>
            <a:off x="998098" y="6052602"/>
            <a:ext cx="298188" cy="146901"/>
          </a:xfrm>
          <a:prstGeom prst="rect">
            <a:avLst/>
          </a:prstGeom>
          <a:pattFill prst="wdDnDiag">
            <a:fgClr>
              <a:srgbClr val="FFF1C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99" name="Text Box 8">
            <a:extLst>
              <a:ext uri="{FF2B5EF4-FFF2-40B4-BE49-F238E27FC236}">
                <a16:creationId xmlns:a16="http://schemas.microsoft.com/office/drawing/2014/main" id="{895499E7-00EE-4EB1-AC40-804D51654472}"/>
              </a:ext>
            </a:extLst>
          </p:cNvPr>
          <p:cNvSpPr txBox="1">
            <a:spLocks noChangeArrowheads="1"/>
          </p:cNvSpPr>
          <p:nvPr>
            <p:custDataLst>
              <p:tags r:id="rId6"/>
            </p:custDataLst>
          </p:nvPr>
        </p:nvSpPr>
        <p:spPr bwMode="auto">
          <a:xfrm>
            <a:off x="1309538" y="6035029"/>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rgbClr val="00338D"/>
                </a:solidFill>
                <a:cs typeface="Arial" pitchFamily="34" charset="0"/>
              </a:rPr>
              <a:t>Period of high street store closure in accordance with the </a:t>
            </a:r>
            <a:r>
              <a:rPr lang="en-GB" sz="600" dirty="0" err="1">
                <a:solidFill>
                  <a:srgbClr val="00338D"/>
                </a:solidFill>
                <a:cs typeface="Arial" pitchFamily="34" charset="0"/>
              </a:rPr>
              <a:t>yy</a:t>
            </a:r>
            <a:r>
              <a:rPr lang="en-GB" sz="600" dirty="0">
                <a:solidFill>
                  <a:srgbClr val="00338D"/>
                </a:solidFill>
                <a:cs typeface="Arial" pitchFamily="34" charset="0"/>
              </a:rPr>
              <a:t> national lockdown	</a:t>
            </a:r>
          </a:p>
        </p:txBody>
      </p:sp>
      <p:pic>
        <p:nvPicPr>
          <p:cNvPr id="7" name="Picture 6">
            <a:extLst>
              <a:ext uri="{FF2B5EF4-FFF2-40B4-BE49-F238E27FC236}">
                <a16:creationId xmlns:a16="http://schemas.microsoft.com/office/drawing/2014/main" id="{E17A50E3-7734-4D78-B706-A6ED38864105}"/>
              </a:ext>
            </a:extLst>
          </p:cNvPr>
          <p:cNvPicPr>
            <a:picLocks noChangeAspect="1"/>
          </p:cNvPicPr>
          <p:nvPr>
            <p:custDataLst>
              <p:tags r:id="rId7"/>
            </p:custDataLst>
          </p:nvPr>
        </p:nvPicPr>
        <p:blipFill>
          <a:blip r:embed="rId14"/>
          <a:stretch>
            <a:fillRect/>
          </a:stretch>
        </p:blipFill>
        <p:spPr>
          <a:xfrm>
            <a:off x="996370" y="4247804"/>
            <a:ext cx="6378244" cy="1526756"/>
          </a:xfrm>
          <a:prstGeom prst="rect">
            <a:avLst/>
          </a:prstGeom>
        </p:spPr>
      </p:pic>
      <p:sp>
        <p:nvSpPr>
          <p:cNvPr id="2" name="UpSlide SubSection Marker" hidden="1">
            <a:extLst>
              <a:ext uri="{FF2B5EF4-FFF2-40B4-BE49-F238E27FC236}">
                <a16:creationId xmlns:a16="http://schemas.microsoft.com/office/drawing/2014/main" id="{79769ADF-5D14-4935-9E29-D44C49614FDA}"/>
              </a:ext>
            </a:extLst>
          </p:cNvPr>
          <p:cNvSpPr/>
          <p:nvPr>
            <p:custDataLst>
              <p:tags r:id="rId8"/>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46" name="Group 45">
            <a:extLst>
              <a:ext uri="{FF2B5EF4-FFF2-40B4-BE49-F238E27FC236}">
                <a16:creationId xmlns:a16="http://schemas.microsoft.com/office/drawing/2014/main" id="{6053D987-536A-4F5C-A091-BF2D8B3453A5}"/>
              </a:ext>
            </a:extLst>
          </p:cNvPr>
          <p:cNvGrpSpPr/>
          <p:nvPr>
            <p:custDataLst>
              <p:tags r:id="rId9"/>
            </p:custDataLst>
          </p:nvPr>
        </p:nvGrpSpPr>
        <p:grpSpPr>
          <a:xfrm>
            <a:off x="995364" y="153170"/>
            <a:ext cx="6253254" cy="195814"/>
            <a:chOff x="995364" y="153170"/>
            <a:chExt cx="6253254" cy="195814"/>
          </a:xfrm>
        </p:grpSpPr>
        <p:sp>
          <p:nvSpPr>
            <p:cNvPr id="47" name="Other Sections1">
              <a:hlinkClick r:id="rId1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8" name="Current Section2">
              <a:hlinkClick r:id="rId16"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9" name="Other Sections3">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0" name="Other Sections4">
              <a:hlinkClick r:id="rId18"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1" name="Other Sections5">
              <a:hlinkClick r:id="rId19"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2" name="Other Sections6">
              <a:hlinkClick r:id="rId20"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3" name="Other Sections7">
              <a:hlinkClick r:id="rId21"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05411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610818-ACFA-4F93-9944-DCEADA3DE5D2}"/>
              </a:ext>
            </a:extLst>
          </p:cNvPr>
          <p:cNvPicPr>
            <a:picLocks noChangeAspect="1"/>
          </p:cNvPicPr>
          <p:nvPr>
            <p:custDataLst>
              <p:tags r:id="rId1"/>
            </p:custDataLst>
          </p:nvPr>
        </p:nvPicPr>
        <p:blipFill>
          <a:blip r:embed="rId7"/>
          <a:stretch>
            <a:fillRect/>
          </a:stretch>
        </p:blipFill>
        <p:spPr>
          <a:xfrm>
            <a:off x="954399" y="2218084"/>
            <a:ext cx="3689350" cy="2168235"/>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778B4714-9437-4A6E-814B-CBE303C23250}"/>
              </a:ext>
            </a:extLst>
          </p:cNvPr>
          <p:cNvSpPr>
            <a:spLocks noGrp="1"/>
          </p:cNvSpPr>
          <p:nvPr>
            <p:ph type="body" sz="quarter" idx="10"/>
          </p:nvPr>
        </p:nvSpPr>
        <p:spPr/>
        <p:txBody>
          <a:bodyPr/>
          <a:lstStyle/>
          <a:p>
            <a:pPr>
              <a:lnSpc>
                <a:spcPct val="87000"/>
              </a:lnSpc>
            </a:pPr>
            <a:r>
              <a:rPr lang="en-GB" dirty="0"/>
              <a:t>Despite the reduction in revenue and contribution for the retail channel during the Covid-19 pandemic (driven by enforced high street store closures), Management has attempted to mitigate the risk of the pandemic on the business through the use of various government schemes and management of the cost base.</a:t>
            </a:r>
          </a:p>
          <a:p>
            <a:pPr>
              <a:lnSpc>
                <a:spcPct val="87000"/>
              </a:lnSpc>
            </a:pPr>
            <a:r>
              <a:rPr lang="en-GB" dirty="0"/>
              <a:t>Although Management assert that the recent growth in the online channel is driven by investment in digital media and an expansion of the product range, online sales likely also benefitted from increased online demand, reflected in the reduction in CPA (cost per acquisition) for the period May – August 2020.</a:t>
            </a:r>
          </a:p>
          <a:p>
            <a:pPr>
              <a:lnSpc>
                <a:spcPct val="87000"/>
              </a:lnSpc>
            </a:pPr>
            <a:endParaRPr lang="en-GB" dirty="0"/>
          </a:p>
          <a:p>
            <a:pPr>
              <a:lnSpc>
                <a:spcPct val="78000"/>
              </a:lnSpc>
            </a:pPr>
            <a:endParaRPr lang="en-GB" dirty="0"/>
          </a:p>
          <a:p>
            <a:endParaRPr lang="fi-FI" dirty="0"/>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Impact of Covid-19</a:t>
            </a:r>
          </a:p>
        </p:txBody>
      </p:sp>
      <p:sp>
        <p:nvSpPr>
          <p:cNvPr id="10" name="Text Placeholder 9">
            <a:extLst>
              <a:ext uri="{FF2B5EF4-FFF2-40B4-BE49-F238E27FC236}">
                <a16:creationId xmlns:a16="http://schemas.microsoft.com/office/drawing/2014/main" id="{9FC4BB7C-C4A1-4031-B5ED-D2756823D353}"/>
              </a:ext>
            </a:extLst>
          </p:cNvPr>
          <p:cNvSpPr>
            <a:spLocks noGrp="1"/>
          </p:cNvSpPr>
          <p:nvPr>
            <p:ph type="body" sz="quarter" idx="26"/>
          </p:nvPr>
        </p:nvSpPr>
        <p:spPr/>
        <p:txBody>
          <a:bodyPr/>
          <a:lstStyle/>
          <a:p>
            <a:pPr>
              <a:spcAft>
                <a:spcPts val="400"/>
              </a:spcAft>
            </a:pPr>
            <a:r>
              <a:rPr lang="en-GB" sz="1000" b="1" dirty="0">
                <a:solidFill>
                  <a:srgbClr val="00338D"/>
                </a:solidFill>
              </a:rPr>
              <a:t>Impact on retail revenue</a:t>
            </a:r>
          </a:p>
          <a:p>
            <a:pPr>
              <a:spcAft>
                <a:spcPts val="400"/>
              </a:spcAft>
            </a:pPr>
            <a:r>
              <a:rPr lang="en-GB" sz="1000" b="0" dirty="0">
                <a:solidFill>
                  <a:schemeClr val="tx1"/>
                </a:solidFill>
              </a:rPr>
              <a:t>The performance of the retail channel has been heavily impacted by the Covid-19 pandemic, with high street closures during the first (March 2020 – June 2020) and second (January 2021 – April 2021) </a:t>
            </a:r>
            <a:r>
              <a:rPr lang="en-GB" sz="1000" b="0" dirty="0" err="1">
                <a:solidFill>
                  <a:schemeClr val="tx1"/>
                </a:solidFill>
              </a:rPr>
              <a:t>yy</a:t>
            </a:r>
            <a:r>
              <a:rPr lang="en-GB" sz="1000" b="0" dirty="0">
                <a:solidFill>
                  <a:schemeClr val="tx1"/>
                </a:solidFill>
              </a:rPr>
              <a:t> lockdowns resulting in a significant loss of revenue. The decision was also made by Management to keep some boutiques closed in the period June 2020 – August 2020 (Boutique A, Boutique C and Boutique F), as footfall from tourists and commuters was deemed to remain negatively impacted from ongoing restrictions.</a:t>
            </a:r>
          </a:p>
          <a:p>
            <a:pPr>
              <a:spcAft>
                <a:spcPts val="400"/>
              </a:spcAft>
            </a:pPr>
            <a:r>
              <a:rPr lang="en-GB" b="1" dirty="0">
                <a:solidFill>
                  <a:srgbClr val="00338D"/>
                </a:solidFill>
              </a:rPr>
              <a:t>Impact on online revenue</a:t>
            </a:r>
          </a:p>
          <a:p>
            <a:pPr>
              <a:spcAft>
                <a:spcPts val="400"/>
              </a:spcAft>
            </a:pPr>
            <a:r>
              <a:rPr lang="en-GB" sz="1000" b="0" dirty="0">
                <a:solidFill>
                  <a:schemeClr val="tx1"/>
                </a:solidFill>
              </a:rPr>
              <a:t>Although the historical growth in the online channel is largely attributable to investment in digital media and the expansion of the product range, online revenue has also benefitted from the closure of high street stores amidst the Covid-19 pandemic driving increased online demand, which in part has resulted in actual performance significantly exceeding budget during the lockdown periods, albeit this has continued post lockdown.</a:t>
            </a:r>
          </a:p>
          <a:p>
            <a:pPr>
              <a:spcAft>
                <a:spcPts val="300"/>
              </a:spcAft>
            </a:pPr>
            <a:r>
              <a:rPr lang="en-GB" sz="1000" b="1" dirty="0">
                <a:solidFill>
                  <a:srgbClr val="00338D"/>
                </a:solidFill>
              </a:rPr>
              <a:t>Impact on costs</a:t>
            </a:r>
          </a:p>
          <a:p>
            <a:pPr>
              <a:spcAft>
                <a:spcPts val="300"/>
              </a:spcAft>
            </a:pPr>
            <a:r>
              <a:rPr lang="en-GB" sz="1000" b="0" dirty="0">
                <a:solidFill>
                  <a:schemeClr val="tx1"/>
                </a:solidFill>
              </a:rPr>
              <a:t>Elements of Y’s cost base have been both positively and negatively impacted by the pandemic, including the following:</a:t>
            </a:r>
          </a:p>
          <a:p>
            <a:pPr>
              <a:spcAft>
                <a:spcPts val="300"/>
              </a:spcAft>
            </a:pPr>
            <a:r>
              <a:rPr lang="en-GB" sz="1000" b="0" dirty="0">
                <a:solidFill>
                  <a:srgbClr val="00338D"/>
                </a:solidFill>
              </a:rPr>
              <a:t>Rent reductions -</a:t>
            </a:r>
            <a:r>
              <a:rPr lang="en-GB" sz="1000" b="0" dirty="0">
                <a:solidFill>
                  <a:schemeClr val="tx1"/>
                </a:solidFill>
              </a:rPr>
              <a:t> Management was able to negotiate rent reductions with the landlords for the Boutique D, Boutique C, Boutique E and Boutique F boutiques (totalling £0.1 million).</a:t>
            </a:r>
          </a:p>
          <a:p>
            <a:pPr>
              <a:spcAft>
                <a:spcPts val="300"/>
              </a:spcAft>
            </a:pPr>
            <a:r>
              <a:rPr lang="en-GB" sz="1000" b="0" dirty="0">
                <a:solidFill>
                  <a:srgbClr val="00338D"/>
                </a:solidFill>
              </a:rPr>
              <a:t>International travel -</a:t>
            </a:r>
            <a:r>
              <a:rPr lang="en-GB" sz="1000" b="0" dirty="0">
                <a:solidFill>
                  <a:schemeClr val="tx1"/>
                </a:solidFill>
              </a:rPr>
              <a:t> Although the buying team typically visit suppliers once per quarter, there has been no international travel since the pandemic started.</a:t>
            </a:r>
          </a:p>
          <a:p>
            <a:pPr>
              <a:spcAft>
                <a:spcPts val="300"/>
              </a:spcAft>
            </a:pPr>
            <a:r>
              <a:rPr lang="en-GB" sz="1000" b="0" dirty="0">
                <a:solidFill>
                  <a:srgbClr val="00338D"/>
                </a:solidFill>
              </a:rPr>
              <a:t>Marketing -</a:t>
            </a:r>
            <a:r>
              <a:rPr lang="en-GB" sz="1000" b="0" dirty="0">
                <a:solidFill>
                  <a:schemeClr val="tx1"/>
                </a:solidFill>
              </a:rPr>
              <a:t> The cost per acquisition (CPA) declined in the period May – August 2020, which was</a:t>
            </a:r>
            <a:r>
              <a:rPr lang="en-GB" sz="1000" b="0" kern="1200" dirty="0">
                <a:solidFill>
                  <a:schemeClr val="tx1"/>
                </a:solidFill>
                <a:latin typeface="+mn-lt"/>
                <a:ea typeface="+mn-ea"/>
                <a:cs typeface="+mn-cs"/>
              </a:rPr>
              <a:t> driven by a combination of reduced digital media rates and the increase in online consumer demand.</a:t>
            </a:r>
          </a:p>
          <a:p>
            <a:endParaRPr lang="fi-FI" dirty="0"/>
          </a:p>
        </p:txBody>
      </p:sp>
      <p:sp>
        <p:nvSpPr>
          <p:cNvPr id="7" name="Text Placeholder 6">
            <a:extLst>
              <a:ext uri="{FF2B5EF4-FFF2-40B4-BE49-F238E27FC236}">
                <a16:creationId xmlns:a16="http://schemas.microsoft.com/office/drawing/2014/main" id="{F93302B4-4AA3-4229-840F-923213957A9B}"/>
              </a:ext>
            </a:extLst>
          </p:cNvPr>
          <p:cNvSpPr>
            <a:spLocks noGrp="1"/>
          </p:cNvSpPr>
          <p:nvPr>
            <p:ph type="body" sz="quarter" idx="11"/>
          </p:nvPr>
        </p:nvSpPr>
        <p:spPr/>
        <p:txBody>
          <a:bodyPr/>
          <a:lstStyle/>
          <a:p>
            <a:r>
              <a:rPr lang="fi-FI" dirty="0"/>
              <a:t>Impact of Covid-19</a:t>
            </a:r>
          </a:p>
        </p:txBody>
      </p:sp>
      <p:sp>
        <p:nvSpPr>
          <p:cNvPr id="5" name="Text Placeholder 12">
            <a:extLst>
              <a:ext uri="{FF2B5EF4-FFF2-40B4-BE49-F238E27FC236}">
                <a16:creationId xmlns:a16="http://schemas.microsoft.com/office/drawing/2014/main" id="{B07F0775-E382-7139-4310-44773306A7E9}"/>
              </a:ext>
            </a:extLst>
          </p:cNvPr>
          <p:cNvSpPr txBox="1">
            <a:spLocks/>
          </p:cNvSpPr>
          <p:nvPr/>
        </p:nvSpPr>
        <p:spPr>
          <a:xfrm>
            <a:off x="954399" y="4456709"/>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2" name="Text Placeholder 7">
            <a:extLst>
              <a:ext uri="{FF2B5EF4-FFF2-40B4-BE49-F238E27FC236}">
                <a16:creationId xmlns:a16="http://schemas.microsoft.com/office/drawing/2014/main" id="{CA37FC3F-F2A1-81E5-DE3E-9434C05974F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26" name="Text Placeholder 12">
            <a:extLst>
              <a:ext uri="{FF2B5EF4-FFF2-40B4-BE49-F238E27FC236}">
                <a16:creationId xmlns:a16="http://schemas.microsoft.com/office/drawing/2014/main" id="{A9893B53-E396-7839-442D-387EC1757A58}"/>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30" name="Rounded Rectangle 7">
            <a:extLst>
              <a:ext uri="{FF2B5EF4-FFF2-40B4-BE49-F238E27FC236}">
                <a16:creationId xmlns:a16="http://schemas.microsoft.com/office/drawing/2014/main" id="{D6AC2465-E733-8C41-5BA7-89FB08267A6C}"/>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1" name="Rectangle 30">
            <a:extLst>
              <a:ext uri="{FF2B5EF4-FFF2-40B4-BE49-F238E27FC236}">
                <a16:creationId xmlns:a16="http://schemas.microsoft.com/office/drawing/2014/main" id="{04741DAE-D0F6-FB8C-1019-675A5ADAF7B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2" name="Straight Arrow Connector 31">
            <a:extLst>
              <a:ext uri="{FF2B5EF4-FFF2-40B4-BE49-F238E27FC236}">
                <a16:creationId xmlns:a16="http://schemas.microsoft.com/office/drawing/2014/main" id="{A4A286E9-B864-A278-A902-7A636CB728F3}"/>
              </a:ext>
            </a:extLst>
          </p:cNvPr>
          <p:cNvCxnSpPr>
            <a:cxnSpLocks/>
            <a:stCxn id="31" idx="2"/>
            <a:endCxn id="3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E78A5B0-70C5-4C76-BCF5-34FEC630BA8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2906FB7-1823-4ADC-B570-E5F7C17B958B}"/>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81AC95D3-2CE1-4A6B-868C-E19FBE82B20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7FF82261-B909-4FB5-A51C-0DA0C372BF2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1C05ECF1-EEB7-4E47-9B61-63C168B2A84A}"/>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30B6F19B-7E96-427E-9E87-12BB1A03794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F31C6D3-C84D-4454-8636-D9A7A66B437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FD5FCEC2-3639-46D4-85C4-730331770CC0}"/>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858CB515-52AB-4D3C-85A5-BAFB2414370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4" name="TextBox 13">
            <a:extLst>
              <a:ext uri="{FF2B5EF4-FFF2-40B4-BE49-F238E27FC236}">
                <a16:creationId xmlns:a16="http://schemas.microsoft.com/office/drawing/2014/main" id="{FEE65930-1C70-41D9-9598-1A079B406C39}"/>
              </a:ext>
            </a:extLst>
          </p:cNvPr>
          <p:cNvSpPr txBox="1"/>
          <p:nvPr/>
        </p:nvSpPr>
        <p:spPr>
          <a:xfrm>
            <a:off x="1028876" y="1980746"/>
            <a:ext cx="2444574" cy="196390"/>
          </a:xfrm>
          <a:prstGeom prst="rect">
            <a:avLst/>
          </a:prstGeom>
        </p:spPr>
        <p:txBody>
          <a:bodyPr vert="horz" wrap="square" lIns="0" tIns="0" rIns="0" bIns="0" rtlCol="0" anchor="t" anchorCtr="0">
            <a:noAutofit/>
          </a:bodyPr>
          <a:lstStyle/>
          <a:p>
            <a:pPr algn="l">
              <a:spcAft>
                <a:spcPts val="600"/>
              </a:spcAft>
            </a:pPr>
            <a:r>
              <a:rPr lang="en-GB" sz="1000" b="1" dirty="0">
                <a:solidFill>
                  <a:srgbClr val="00338D"/>
                </a:solidFill>
              </a:rPr>
              <a:t>Weekly revenue compared with budget</a:t>
            </a:r>
          </a:p>
        </p:txBody>
      </p:sp>
      <p:sp>
        <p:nvSpPr>
          <p:cNvPr id="3" name="UpSlide SubSection Marker" hidden="1">
            <a:extLst>
              <a:ext uri="{FF2B5EF4-FFF2-40B4-BE49-F238E27FC236}">
                <a16:creationId xmlns:a16="http://schemas.microsoft.com/office/drawing/2014/main" id="{32514D76-0FE0-47E4-B87C-D6C36A9A9926}"/>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3" name="Group 32">
            <a:extLst>
              <a:ext uri="{FF2B5EF4-FFF2-40B4-BE49-F238E27FC236}">
                <a16:creationId xmlns:a16="http://schemas.microsoft.com/office/drawing/2014/main" id="{6053D987-536A-4F5C-A091-BF2D8B3453A5}"/>
              </a:ext>
            </a:extLst>
          </p:cNvPr>
          <p:cNvGrpSpPr/>
          <p:nvPr>
            <p:custDataLst>
              <p:tags r:id="rId5"/>
            </p:custDataLst>
          </p:nvPr>
        </p:nvGrpSpPr>
        <p:grpSpPr>
          <a:xfrm>
            <a:off x="995364" y="153170"/>
            <a:ext cx="6253254" cy="195814"/>
            <a:chOff x="995364" y="153170"/>
            <a:chExt cx="6253254" cy="195814"/>
          </a:xfrm>
        </p:grpSpPr>
        <p:sp>
          <p:nvSpPr>
            <p:cNvPr id="34"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82487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Impact of Covid-19</a:t>
            </a:r>
          </a:p>
        </p:txBody>
      </p:sp>
      <p:sp>
        <p:nvSpPr>
          <p:cNvPr id="3" name="Text Placeholder 2">
            <a:extLst>
              <a:ext uri="{FF2B5EF4-FFF2-40B4-BE49-F238E27FC236}">
                <a16:creationId xmlns:a16="http://schemas.microsoft.com/office/drawing/2014/main" id="{A03C5DCF-D91D-4BA3-BC00-DE2DAC48EDE8}"/>
              </a:ext>
            </a:extLst>
          </p:cNvPr>
          <p:cNvSpPr>
            <a:spLocks noGrp="1"/>
          </p:cNvSpPr>
          <p:nvPr>
            <p:ph type="body" sz="quarter" idx="25"/>
          </p:nvPr>
        </p:nvSpPr>
        <p:spPr/>
        <p:txBody>
          <a:bodyPr/>
          <a:lstStyle/>
          <a:p>
            <a:r>
              <a:rPr lang="en-GB" dirty="0"/>
              <a:t>Impact of Covid-19 (continued)</a:t>
            </a:r>
          </a:p>
        </p:txBody>
      </p:sp>
      <p:sp>
        <p:nvSpPr>
          <p:cNvPr id="10" name="Text Placeholder 9">
            <a:extLst>
              <a:ext uri="{FF2B5EF4-FFF2-40B4-BE49-F238E27FC236}">
                <a16:creationId xmlns:a16="http://schemas.microsoft.com/office/drawing/2014/main" id="{9FC4BB7C-C4A1-4031-B5ED-D2756823D353}"/>
              </a:ext>
            </a:extLst>
          </p:cNvPr>
          <p:cNvSpPr>
            <a:spLocks noGrp="1"/>
          </p:cNvSpPr>
          <p:nvPr>
            <p:ph type="body" sz="quarter" idx="24"/>
          </p:nvPr>
        </p:nvSpPr>
        <p:spPr/>
        <p:txBody>
          <a:bodyPr/>
          <a:lstStyle/>
          <a:p>
            <a:pPr>
              <a:spcAft>
                <a:spcPts val="400"/>
              </a:spcAft>
            </a:pPr>
            <a:endParaRPr lang="en-GB" sz="1000" b="0" dirty="0">
              <a:solidFill>
                <a:schemeClr val="tx1"/>
              </a:solidFill>
            </a:endParaRPr>
          </a:p>
          <a:p>
            <a:pPr marL="171450" indent="-171450">
              <a:buFontTx/>
              <a:buChar char="-"/>
            </a:pPr>
            <a:endParaRPr lang="en-GB" sz="1000" b="0" dirty="0">
              <a:solidFill>
                <a:schemeClr val="tx1"/>
              </a:solidFill>
            </a:endParaRPr>
          </a:p>
          <a:p>
            <a:pPr marL="171450" indent="-171450">
              <a:buFontTx/>
              <a:buChar char="-"/>
            </a:pPr>
            <a:endParaRPr lang="en-GB" sz="1000" b="0" dirty="0">
              <a:solidFill>
                <a:schemeClr val="tx1"/>
              </a:solidFill>
            </a:endParaRPr>
          </a:p>
          <a:p>
            <a:endParaRPr lang="fi-FI" dirty="0"/>
          </a:p>
        </p:txBody>
      </p:sp>
      <p:sp>
        <p:nvSpPr>
          <p:cNvPr id="8" name="Text Placeholder 7">
            <a:extLst>
              <a:ext uri="{FF2B5EF4-FFF2-40B4-BE49-F238E27FC236}">
                <a16:creationId xmlns:a16="http://schemas.microsoft.com/office/drawing/2014/main" id="{41F594DA-926C-49BC-A7A3-E6D6221DD97D}"/>
              </a:ext>
            </a:extLst>
          </p:cNvPr>
          <p:cNvSpPr>
            <a:spLocks noGrp="1"/>
          </p:cNvSpPr>
          <p:nvPr>
            <p:ph type="body" sz="quarter" idx="26"/>
          </p:nvPr>
        </p:nvSpPr>
        <p:spPr/>
        <p:txBody>
          <a:bodyPr/>
          <a:lstStyle/>
          <a:p>
            <a:r>
              <a:rPr lang="en-GB" sz="1000" b="1" dirty="0">
                <a:solidFill>
                  <a:srgbClr val="00338D"/>
                </a:solidFill>
              </a:rPr>
              <a:t>Impact on costs (continued)</a:t>
            </a:r>
          </a:p>
          <a:p>
            <a:pPr>
              <a:spcAft>
                <a:spcPts val="300"/>
              </a:spcAft>
            </a:pPr>
            <a:r>
              <a:rPr lang="en-GB" sz="1000" b="0" dirty="0">
                <a:solidFill>
                  <a:srgbClr val="00338D"/>
                </a:solidFill>
              </a:rPr>
              <a:t>Warehouse -</a:t>
            </a:r>
            <a:r>
              <a:rPr lang="en-GB" sz="1000" b="0" dirty="0">
                <a:solidFill>
                  <a:schemeClr val="tx1"/>
                </a:solidFill>
              </a:rPr>
              <a:t> Warehouse productivity declined in FY21 due to social distancing requirements within the Logistics A warehouse resulting in a slower picking speed.</a:t>
            </a:r>
          </a:p>
          <a:p>
            <a:pPr>
              <a:spcAft>
                <a:spcPts val="300"/>
              </a:spcAft>
            </a:pPr>
            <a:r>
              <a:rPr lang="en-GB" dirty="0">
                <a:solidFill>
                  <a:srgbClr val="00338D"/>
                </a:solidFill>
              </a:rPr>
              <a:t>Delivery – </a:t>
            </a:r>
            <a:r>
              <a:rPr lang="en-GB" sz="1000" b="0" dirty="0">
                <a:solidFill>
                  <a:schemeClr val="tx1"/>
                </a:solidFill>
              </a:rPr>
              <a:t>Y has incurred Covid-19 surcharges for delivery costs, particularly in </a:t>
            </a:r>
            <a:r>
              <a:rPr lang="en-GB" sz="1000" b="0" dirty="0" err="1">
                <a:solidFill>
                  <a:schemeClr val="tx1"/>
                </a:solidFill>
              </a:rPr>
              <a:t>yy</a:t>
            </a:r>
            <a:r>
              <a:rPr lang="en-GB" sz="1000" b="0" dirty="0">
                <a:solidFill>
                  <a:schemeClr val="tx1"/>
                </a:solidFill>
              </a:rPr>
              <a:t>.</a:t>
            </a:r>
          </a:p>
          <a:p>
            <a:pPr>
              <a:spcAft>
                <a:spcPts val="300"/>
              </a:spcAft>
            </a:pPr>
            <a:r>
              <a:rPr lang="en-GB" dirty="0">
                <a:solidFill>
                  <a:srgbClr val="00338D"/>
                </a:solidFill>
              </a:rPr>
              <a:t>Fabric costs – </a:t>
            </a:r>
            <a:r>
              <a:rPr lang="en-GB" sz="1000" b="0" dirty="0">
                <a:solidFill>
                  <a:schemeClr val="tx1"/>
                </a:solidFill>
              </a:rPr>
              <a:t>Management has observed an increase in fabric prices, particularly for yarn, during the Covid-19 pandemic and has attempted to mitigate the risk by pre-purchasing fabric in bulk to secure lower prices.</a:t>
            </a:r>
          </a:p>
          <a:p>
            <a:r>
              <a:rPr lang="en-GB" b="1" dirty="0">
                <a:solidFill>
                  <a:srgbClr val="00338D"/>
                </a:solidFill>
              </a:rPr>
              <a:t>Government support</a:t>
            </a:r>
          </a:p>
          <a:p>
            <a:pPr>
              <a:spcAft>
                <a:spcPts val="300"/>
              </a:spcAft>
            </a:pPr>
            <a:r>
              <a:rPr lang="en-GB" sz="1000" b="0" dirty="0">
                <a:solidFill>
                  <a:schemeClr val="tx1"/>
                </a:solidFill>
              </a:rPr>
              <a:t>Y benefitted from a variety of government financial support schemes, including the following:</a:t>
            </a:r>
          </a:p>
          <a:p>
            <a:pPr marL="171450" indent="-171450">
              <a:spcAft>
                <a:spcPts val="300"/>
              </a:spcAft>
              <a:buFontTx/>
              <a:buChar char="-"/>
            </a:pPr>
            <a:r>
              <a:rPr lang="en-GB" sz="1000" b="0" dirty="0">
                <a:solidFill>
                  <a:schemeClr val="tx1"/>
                </a:solidFill>
              </a:rPr>
              <a:t>Furlough payments were received from March 2020 to March 2021, largely relating to boutique and concession employees (totalling £0.4 million).</a:t>
            </a:r>
          </a:p>
          <a:p>
            <a:pPr marL="171450" indent="-171450">
              <a:spcAft>
                <a:spcPts val="300"/>
              </a:spcAft>
              <a:buFontTx/>
              <a:buChar char="-"/>
            </a:pPr>
            <a:r>
              <a:rPr lang="en-GB" sz="1000" b="0" dirty="0">
                <a:solidFill>
                  <a:schemeClr val="tx1"/>
                </a:solidFill>
              </a:rPr>
              <a:t>All boutiques received a 100% rates holiday from March 2020 to June 2021 (totalling £0.5 million) and has received a 66% rates reduction from July 2021 which will extend to March 2022.</a:t>
            </a:r>
          </a:p>
          <a:p>
            <a:pPr marL="171450" indent="-171450">
              <a:spcAft>
                <a:spcPts val="300"/>
              </a:spcAft>
              <a:buFontTx/>
              <a:buChar char="-"/>
            </a:pPr>
            <a:r>
              <a:rPr lang="en-GB" sz="1000" b="0" dirty="0">
                <a:solidFill>
                  <a:schemeClr val="tx1"/>
                </a:solidFill>
              </a:rPr>
              <a:t>The Boutique B and Boutique D boutiques received a small business grant from the government (£25,000) in August 2020 and April 2020 respectively.</a:t>
            </a:r>
          </a:p>
          <a:p>
            <a:pPr marL="171450" indent="-171450">
              <a:spcAft>
                <a:spcPts val="300"/>
              </a:spcAft>
              <a:buFontTx/>
              <a:buChar char="-"/>
            </a:pPr>
            <a:r>
              <a:rPr lang="en-GB" sz="1000" b="0" dirty="0">
                <a:solidFill>
                  <a:schemeClr val="tx1"/>
                </a:solidFill>
              </a:rPr>
              <a:t>The VAT payment for the quarter ended February 2020 (£0.2 million) was deferred from April 2020 to March 2021.</a:t>
            </a:r>
          </a:p>
          <a:p>
            <a:endParaRPr lang="en-GB" dirty="0"/>
          </a:p>
        </p:txBody>
      </p:sp>
      <p:sp>
        <p:nvSpPr>
          <p:cNvPr id="2" name="Text Placeholder 7">
            <a:extLst>
              <a:ext uri="{FF2B5EF4-FFF2-40B4-BE49-F238E27FC236}">
                <a16:creationId xmlns:a16="http://schemas.microsoft.com/office/drawing/2014/main" id="{CA37FC3F-F2A1-81E5-DE3E-9434C05974F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26" name="Text Placeholder 12">
            <a:extLst>
              <a:ext uri="{FF2B5EF4-FFF2-40B4-BE49-F238E27FC236}">
                <a16:creationId xmlns:a16="http://schemas.microsoft.com/office/drawing/2014/main" id="{A9893B53-E396-7839-442D-387EC1757A58}"/>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30" name="Rounded Rectangle 7">
            <a:extLst>
              <a:ext uri="{FF2B5EF4-FFF2-40B4-BE49-F238E27FC236}">
                <a16:creationId xmlns:a16="http://schemas.microsoft.com/office/drawing/2014/main" id="{D6AC2465-E733-8C41-5BA7-89FB08267A6C}"/>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1" name="Rectangle 30">
            <a:extLst>
              <a:ext uri="{FF2B5EF4-FFF2-40B4-BE49-F238E27FC236}">
                <a16:creationId xmlns:a16="http://schemas.microsoft.com/office/drawing/2014/main" id="{04741DAE-D0F6-FB8C-1019-675A5ADAF7B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2" name="Straight Arrow Connector 31">
            <a:extLst>
              <a:ext uri="{FF2B5EF4-FFF2-40B4-BE49-F238E27FC236}">
                <a16:creationId xmlns:a16="http://schemas.microsoft.com/office/drawing/2014/main" id="{A4A286E9-B864-A278-A902-7A636CB728F3}"/>
              </a:ext>
            </a:extLst>
          </p:cNvPr>
          <p:cNvCxnSpPr>
            <a:cxnSpLocks/>
            <a:stCxn id="31" idx="2"/>
            <a:endCxn id="3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E78A5B0-70C5-4C76-BCF5-34FEC630BA8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2906FB7-1823-4ADC-B570-E5F7C17B958B}"/>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81AC95D3-2CE1-4A6B-868C-E19FBE82B20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7FF82261-B909-4FB5-A51C-0DA0C372BF2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1C05ECF1-EEB7-4E47-9B61-63C168B2A84A}"/>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30B6F19B-7E96-427E-9E87-12BB1A03794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F31C6D3-C84D-4454-8636-D9A7A66B437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FD5FCEC2-3639-46D4-85C4-730331770CC0}"/>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858CB515-52AB-4D3C-85A5-BAFB2414370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 name="UpSlide SubSection Marker" hidden="1">
            <a:extLst>
              <a:ext uri="{FF2B5EF4-FFF2-40B4-BE49-F238E27FC236}">
                <a16:creationId xmlns:a16="http://schemas.microsoft.com/office/drawing/2014/main" id="{AECE2451-0F9B-43FE-B630-8BC264C1DA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3" name="Group 32">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46381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4E888605-1860-4F71-93A4-5B2DBD93D723}"/>
              </a:ext>
            </a:extLst>
          </p:cNvPr>
          <p:cNvSpPr>
            <a:spLocks noGrp="1"/>
          </p:cNvSpPr>
          <p:nvPr>
            <p:ph type="body" sz="quarter" idx="10"/>
          </p:nvPr>
        </p:nvSpPr>
        <p:spPr/>
        <p:txBody>
          <a:bodyPr/>
          <a:lstStyle/>
          <a:p>
            <a:pPr>
              <a:lnSpc>
                <a:spcPct val="87000"/>
              </a:lnSpc>
            </a:pPr>
            <a:r>
              <a:rPr lang="en-GB" dirty="0"/>
              <a:t>Trousers, Tops, Dresses and Knitwear are by far the largest contributors to revenue in LTM22 (combined they represent 82.9% of sales). All four categories contribute a broadly similar gross margin percentage at between 74.5% trousers and 77.9% dresses. Footwear (sourced from </a:t>
            </a:r>
            <a:r>
              <a:rPr lang="en-GB" dirty="0" err="1"/>
              <a:t>yy</a:t>
            </a:r>
            <a:r>
              <a:rPr lang="en-GB" dirty="0"/>
              <a:t>) delivers the lowest margin at 66.8% despite its relatively high ASP (£211). Outerwear has the highest ASP at £333.</a:t>
            </a:r>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Revenue and GM by product category (1)</a:t>
            </a:r>
          </a:p>
        </p:txBody>
      </p:sp>
      <p:sp>
        <p:nvSpPr>
          <p:cNvPr id="8" name="Text Placeholder 7">
            <a:extLst>
              <a:ext uri="{FF2B5EF4-FFF2-40B4-BE49-F238E27FC236}">
                <a16:creationId xmlns:a16="http://schemas.microsoft.com/office/drawing/2014/main" id="{108D3166-BE57-4A64-9FC2-365893487347}"/>
              </a:ext>
            </a:extLst>
          </p:cNvPr>
          <p:cNvSpPr>
            <a:spLocks noGrp="1"/>
          </p:cNvSpPr>
          <p:nvPr>
            <p:ph type="body" sz="quarter" idx="11"/>
          </p:nvPr>
        </p:nvSpPr>
        <p:spPr>
          <a:xfrm>
            <a:off x="1043457" y="1912838"/>
            <a:ext cx="6386044" cy="252000"/>
          </a:xfrm>
        </p:spPr>
        <p:txBody>
          <a:bodyPr/>
          <a:lstStyle/>
          <a:p>
            <a:r>
              <a:rPr lang="fi-FI" dirty="0"/>
              <a:t>LTM22 sales and gross margin %</a:t>
            </a:r>
          </a:p>
        </p:txBody>
      </p:sp>
      <p:sp>
        <p:nvSpPr>
          <p:cNvPr id="2" name="Text Placeholder 7">
            <a:extLst>
              <a:ext uri="{FF2B5EF4-FFF2-40B4-BE49-F238E27FC236}">
                <a16:creationId xmlns:a16="http://schemas.microsoft.com/office/drawing/2014/main" id="{F7E8CAFF-FE93-A7F9-CFE9-62307DC0972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5C51784-8C71-5030-032E-921D027546E2}"/>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DC07243E-93DD-87F4-71EE-09177A4F1C1B}"/>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450D6B44-1914-BC3C-8F80-F4D72D465F0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061CCDE9-763E-7AD5-861A-1E6602580FD6}"/>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5F5AE18E-C85D-4708-8AC1-F9449897743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2836C332-3949-415F-ABC9-1B1B83B7054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61E85278-36B6-402B-83F6-459F7B66625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F841508F-1BF5-499D-A81E-6B29B97BC7CF}"/>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13" name="Picture 12">
            <a:extLst>
              <a:ext uri="{FF2B5EF4-FFF2-40B4-BE49-F238E27FC236}">
                <a16:creationId xmlns:a16="http://schemas.microsoft.com/office/drawing/2014/main" id="{F9648BC7-E812-4EA4-B475-E909998BA0CF}"/>
              </a:ext>
            </a:extLst>
          </p:cNvPr>
          <p:cNvPicPr>
            <a:picLocks noChangeAspect="1"/>
          </p:cNvPicPr>
          <p:nvPr>
            <p:custDataLst>
              <p:tags r:id="rId3"/>
            </p:custDataLst>
          </p:nvPr>
        </p:nvPicPr>
        <p:blipFill>
          <a:blip r:embed="rId10"/>
          <a:stretch>
            <a:fillRect/>
          </a:stretch>
        </p:blipFill>
        <p:spPr>
          <a:xfrm>
            <a:off x="1043457" y="2235228"/>
            <a:ext cx="6378244" cy="3632521"/>
          </a:xfrm>
          <a:prstGeom prst="rect">
            <a:avLst/>
          </a:prstGeom>
        </p:spPr>
      </p:pic>
      <p:sp>
        <p:nvSpPr>
          <p:cNvPr id="57" name="Text Box 8">
            <a:extLst>
              <a:ext uri="{FF2B5EF4-FFF2-40B4-BE49-F238E27FC236}">
                <a16:creationId xmlns:a16="http://schemas.microsoft.com/office/drawing/2014/main" id="{C6D1179E-5BD4-4522-8339-B588273FA448}"/>
              </a:ext>
            </a:extLst>
          </p:cNvPr>
          <p:cNvSpPr txBox="1">
            <a:spLocks noChangeArrowheads="1"/>
          </p:cNvSpPr>
          <p:nvPr>
            <p:custDataLst>
              <p:tags r:id="rId4"/>
            </p:custDataLst>
          </p:nvPr>
        </p:nvSpPr>
        <p:spPr bwMode="auto">
          <a:xfrm>
            <a:off x="1043457" y="5865072"/>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rgbClr val="00338D"/>
                </a:solidFill>
                <a:cs typeface="Arial" pitchFamily="34" charset="0"/>
              </a:rPr>
              <a:t>Source:	Transactional level data</a:t>
            </a:r>
          </a:p>
          <a:p>
            <a:pPr marL="346075" indent="-346075" defTabSz="762000" eaLnBrk="0" hangingPunct="0">
              <a:spcBef>
                <a:spcPts val="200"/>
              </a:spcBef>
              <a:tabLst>
                <a:tab pos="355600" algn="l"/>
              </a:tabLst>
            </a:pPr>
            <a:r>
              <a:rPr lang="en-GB" sz="600" dirty="0">
                <a:solidFill>
                  <a:srgbClr val="00338D"/>
                </a:solidFill>
                <a:cs typeface="Arial" pitchFamily="34" charset="0"/>
              </a:rPr>
              <a:t>Note:	(a) The bubble size represents the respective ASP</a:t>
            </a:r>
          </a:p>
        </p:txBody>
      </p:sp>
      <p:sp>
        <p:nvSpPr>
          <p:cNvPr id="5" name="UpSlide SubSection Marker" hidden="1">
            <a:extLst>
              <a:ext uri="{FF2B5EF4-FFF2-40B4-BE49-F238E27FC236}">
                <a16:creationId xmlns:a16="http://schemas.microsoft.com/office/drawing/2014/main" id="{B21DFA23-584A-40AB-B48E-9AE4F40BD486}"/>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1" name="Group 30">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880974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EF336E0C-695E-4F05-9C84-6EEBB3C07068}"/>
              </a:ext>
            </a:extLst>
          </p:cNvPr>
          <p:cNvPicPr>
            <a:picLocks noChangeAspect="1"/>
          </p:cNvPicPr>
          <p:nvPr>
            <p:custDataLst>
              <p:tags r:id="rId1"/>
            </p:custDataLst>
          </p:nvPr>
        </p:nvPicPr>
        <p:blipFill>
          <a:blip r:embed="rId8"/>
          <a:stretch>
            <a:fillRect/>
          </a:stretch>
        </p:blipFill>
        <p:spPr>
          <a:xfrm>
            <a:off x="1043458" y="1912841"/>
            <a:ext cx="6889862" cy="4253578"/>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4E888605-1860-4F71-93A4-5B2DBD93D723}"/>
              </a:ext>
            </a:extLst>
          </p:cNvPr>
          <p:cNvSpPr>
            <a:spLocks noGrp="1"/>
          </p:cNvSpPr>
          <p:nvPr>
            <p:ph type="body" sz="quarter" idx="10"/>
          </p:nvPr>
        </p:nvSpPr>
        <p:spPr/>
        <p:txBody>
          <a:bodyPr/>
          <a:lstStyle/>
          <a:p>
            <a:r>
              <a:rPr lang="en-GB" dirty="0"/>
              <a:t>There has overall been an increase in the ASP at a total level and across each product category driven by a reduced level of discounting; inflationary increases; proportional increases in sales into </a:t>
            </a:r>
            <a:r>
              <a:rPr lang="en-GB" dirty="0" err="1"/>
              <a:t>yy</a:t>
            </a:r>
            <a:r>
              <a:rPr lang="en-GB" dirty="0"/>
              <a:t> and </a:t>
            </a:r>
            <a:r>
              <a:rPr lang="en-GB" dirty="0" err="1"/>
              <a:t>yy</a:t>
            </a:r>
            <a:r>
              <a:rPr lang="en-GB" dirty="0"/>
              <a:t> markets (which have a 20% mark up compared to </a:t>
            </a:r>
            <a:r>
              <a:rPr lang="en-GB" dirty="0" err="1"/>
              <a:t>yy</a:t>
            </a:r>
            <a:r>
              <a:rPr lang="en-GB" dirty="0"/>
              <a:t> market) and category specific amendments in the SKUs within the category e.g. Knitwear – a higher proportion of cashmere.</a:t>
            </a:r>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Revenue and GM by product category (2)</a:t>
            </a:r>
          </a:p>
        </p:txBody>
      </p:sp>
      <p:sp>
        <p:nvSpPr>
          <p:cNvPr id="20" name="Text Placeholder 19">
            <a:extLst>
              <a:ext uri="{FF2B5EF4-FFF2-40B4-BE49-F238E27FC236}">
                <a16:creationId xmlns:a16="http://schemas.microsoft.com/office/drawing/2014/main" id="{2F3AAE63-23A6-4D62-9D52-2EB81234898B}"/>
              </a:ext>
            </a:extLst>
          </p:cNvPr>
          <p:cNvSpPr>
            <a:spLocks noGrp="1"/>
          </p:cNvSpPr>
          <p:nvPr>
            <p:ph type="body" sz="quarter" idx="24"/>
          </p:nvPr>
        </p:nvSpPr>
        <p:spPr>
          <a:xfrm>
            <a:off x="8067813" y="2235228"/>
            <a:ext cx="3134216" cy="3633727"/>
          </a:xfrm>
        </p:spPr>
        <p:txBody>
          <a:bodyPr/>
          <a:lstStyle/>
          <a:p>
            <a:r>
              <a:rPr lang="en-GB" b="0" i="1" dirty="0">
                <a:solidFill>
                  <a:srgbClr val="00338D"/>
                </a:solidFill>
              </a:rPr>
              <a:t>Product sales mix</a:t>
            </a:r>
          </a:p>
          <a:p>
            <a:r>
              <a:rPr lang="en-GB" b="0" dirty="0">
                <a:solidFill>
                  <a:schemeClr val="tx1"/>
                </a:solidFill>
              </a:rPr>
              <a:t>The largest four product categories in all years across the historical period are trousers, tops, dresses and knitwear. There has been a proportional increase in dresses, with a proportional decrease in the other three captions. </a:t>
            </a:r>
          </a:p>
          <a:p>
            <a:pPr lvl="2"/>
            <a:r>
              <a:rPr lang="en-GB" b="0" dirty="0">
                <a:solidFill>
                  <a:schemeClr val="tx1"/>
                </a:solidFill>
              </a:rPr>
              <a:t>Dress sales grew significantly across the historical period as management recognised this was a category that they were not </a:t>
            </a:r>
            <a:r>
              <a:rPr lang="en-GB" dirty="0"/>
              <a:t>fully </a:t>
            </a:r>
            <a:r>
              <a:rPr lang="en-GB" b="0" dirty="0">
                <a:solidFill>
                  <a:schemeClr val="tx1"/>
                </a:solidFill>
              </a:rPr>
              <a:t>serving. Consequently </a:t>
            </a:r>
            <a:r>
              <a:rPr lang="en-GB" dirty="0"/>
              <a:t>there was a soft launch/higher investment </a:t>
            </a:r>
            <a:r>
              <a:rPr lang="en-GB" b="0" dirty="0">
                <a:solidFill>
                  <a:schemeClr val="tx1"/>
                </a:solidFill>
              </a:rPr>
              <a:t>during H1 FY20.</a:t>
            </a:r>
          </a:p>
          <a:p>
            <a:pPr lvl="2"/>
            <a:r>
              <a:rPr lang="en-GB" b="0" dirty="0">
                <a:solidFill>
                  <a:schemeClr val="tx1"/>
                </a:solidFill>
              </a:rPr>
              <a:t>The proportional sale of trousers, tops and knitwear have declined due to the success of dresses, jumpsuits and the launch of footwear in July 2020.</a:t>
            </a:r>
          </a:p>
          <a:p>
            <a:endParaRPr lang="en-GB" dirty="0"/>
          </a:p>
        </p:txBody>
      </p:sp>
      <p:sp>
        <p:nvSpPr>
          <p:cNvPr id="17" name="Text Placeholder 16">
            <a:extLst>
              <a:ext uri="{FF2B5EF4-FFF2-40B4-BE49-F238E27FC236}">
                <a16:creationId xmlns:a16="http://schemas.microsoft.com/office/drawing/2014/main" id="{862B2BBD-176D-4543-BA38-2A282C48C331}"/>
              </a:ext>
            </a:extLst>
          </p:cNvPr>
          <p:cNvSpPr>
            <a:spLocks noGrp="1"/>
          </p:cNvSpPr>
          <p:nvPr>
            <p:ph type="body" sz="quarter" idx="11"/>
          </p:nvPr>
        </p:nvSpPr>
        <p:spPr>
          <a:xfrm>
            <a:off x="8067813" y="1912838"/>
            <a:ext cx="3134216" cy="252000"/>
          </a:xfrm>
        </p:spPr>
        <p:txBody>
          <a:bodyPr/>
          <a:lstStyle/>
          <a:p>
            <a:r>
              <a:rPr lang="en-GB" dirty="0"/>
              <a:t>Overview</a:t>
            </a:r>
          </a:p>
        </p:txBody>
      </p:sp>
      <p:sp>
        <p:nvSpPr>
          <p:cNvPr id="2" name="Text Placeholder 7">
            <a:extLst>
              <a:ext uri="{FF2B5EF4-FFF2-40B4-BE49-F238E27FC236}">
                <a16:creationId xmlns:a16="http://schemas.microsoft.com/office/drawing/2014/main" id="{F7E8CAFF-FE93-A7F9-CFE9-62307DC0972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5C51784-8C71-5030-032E-921D027546E2}"/>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DC07243E-93DD-87F4-71EE-09177A4F1C1B}"/>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450D6B44-1914-BC3C-8F80-F4D72D465F0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061CCDE9-763E-7AD5-861A-1E6602580FD6}"/>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5F5AE18E-C85D-4708-8AC1-F9449897743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2836C332-3949-415F-ABC9-1B1B83B7054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61E85278-36B6-402B-83F6-459F7B66625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F841508F-1BF5-499D-A81E-6B29B97BC7CF}"/>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7" name="Text Box 8">
            <a:extLst>
              <a:ext uri="{FF2B5EF4-FFF2-40B4-BE49-F238E27FC236}">
                <a16:creationId xmlns:a16="http://schemas.microsoft.com/office/drawing/2014/main" id="{C6D1179E-5BD4-4522-8339-B588273FA448}"/>
              </a:ext>
            </a:extLst>
          </p:cNvPr>
          <p:cNvSpPr txBox="1">
            <a:spLocks noChangeArrowheads="1"/>
          </p:cNvSpPr>
          <p:nvPr>
            <p:custDataLst>
              <p:tags r:id="rId4"/>
            </p:custDataLst>
          </p:nvPr>
        </p:nvSpPr>
        <p:spPr bwMode="auto">
          <a:xfrm>
            <a:off x="1043457" y="6104846"/>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rgbClr val="00338D"/>
                </a:solidFill>
                <a:cs typeface="Arial" pitchFamily="34" charset="0"/>
              </a:rPr>
              <a:t>Source:	Transactional level data</a:t>
            </a:r>
          </a:p>
        </p:txBody>
      </p:sp>
      <p:sp>
        <p:nvSpPr>
          <p:cNvPr id="40" name="Rectangle 39">
            <a:extLst>
              <a:ext uri="{FF2B5EF4-FFF2-40B4-BE49-F238E27FC236}">
                <a16:creationId xmlns:a16="http://schemas.microsoft.com/office/drawing/2014/main" id="{297C0886-B0D6-4CD3-8313-E3E01042EB91}"/>
              </a:ext>
            </a:extLst>
          </p:cNvPr>
          <p:cNvSpPr/>
          <p:nvPr/>
        </p:nvSpPr>
        <p:spPr>
          <a:xfrm>
            <a:off x="8925600" y="4954833"/>
            <a:ext cx="1620000" cy="103067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Management attributes the reduction in the ASP of a number of categories in FY20 e.g. Trousers, Tops, Knitwear, Jumpsuits to a higher level of discounting than FY19.</a:t>
            </a:r>
          </a:p>
          <a:p>
            <a:pPr algn="ctr"/>
            <a:r>
              <a:rPr lang="en-GB" sz="700" dirty="0">
                <a:solidFill>
                  <a:sysClr val="windowText" lastClr="000000"/>
                </a:solidFill>
              </a:rPr>
              <a:t>Please note the ASP numbers presented are net of VAT/sales tax.</a:t>
            </a:r>
          </a:p>
        </p:txBody>
      </p:sp>
      <p:sp>
        <p:nvSpPr>
          <p:cNvPr id="5" name="UpSlide SubSection Marker" hidden="1">
            <a:extLst>
              <a:ext uri="{FF2B5EF4-FFF2-40B4-BE49-F238E27FC236}">
                <a16:creationId xmlns:a16="http://schemas.microsoft.com/office/drawing/2014/main" id="{8049E77E-5121-4142-A825-71806477C68D}"/>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3" name="Group 32">
            <a:extLst>
              <a:ext uri="{FF2B5EF4-FFF2-40B4-BE49-F238E27FC236}">
                <a16:creationId xmlns:a16="http://schemas.microsoft.com/office/drawing/2014/main" id="{6053D987-536A-4F5C-A091-BF2D8B3453A5}"/>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97369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Revenue and GM by product category (3)</a:t>
            </a:r>
          </a:p>
        </p:txBody>
      </p:sp>
      <p:sp>
        <p:nvSpPr>
          <p:cNvPr id="17" name="Text Placeholder 16">
            <a:extLst>
              <a:ext uri="{FF2B5EF4-FFF2-40B4-BE49-F238E27FC236}">
                <a16:creationId xmlns:a16="http://schemas.microsoft.com/office/drawing/2014/main" id="{862B2BBD-176D-4543-BA38-2A282C48C331}"/>
              </a:ext>
            </a:extLst>
          </p:cNvPr>
          <p:cNvSpPr>
            <a:spLocks noGrp="1"/>
          </p:cNvSpPr>
          <p:nvPr>
            <p:ph type="body" sz="quarter" idx="11"/>
          </p:nvPr>
        </p:nvSpPr>
        <p:spPr/>
        <p:txBody>
          <a:bodyPr/>
          <a:lstStyle/>
          <a:p>
            <a:r>
              <a:rPr lang="en-GB" dirty="0"/>
              <a:t>Specific movements</a:t>
            </a:r>
          </a:p>
        </p:txBody>
      </p:sp>
      <p:sp>
        <p:nvSpPr>
          <p:cNvPr id="11" name="Text Placeholder 10">
            <a:extLst>
              <a:ext uri="{FF2B5EF4-FFF2-40B4-BE49-F238E27FC236}">
                <a16:creationId xmlns:a16="http://schemas.microsoft.com/office/drawing/2014/main" id="{44EB2D09-0A34-441B-AFDE-BB26A87AD325}"/>
              </a:ext>
            </a:extLst>
          </p:cNvPr>
          <p:cNvSpPr>
            <a:spLocks noGrp="1"/>
          </p:cNvSpPr>
          <p:nvPr>
            <p:ph type="body" sz="quarter" idx="25"/>
          </p:nvPr>
        </p:nvSpPr>
        <p:spPr/>
        <p:txBody>
          <a:bodyPr/>
          <a:lstStyle/>
          <a:p>
            <a:r>
              <a:rPr lang="en-GB" dirty="0"/>
              <a:t>Overview (continued)</a:t>
            </a:r>
          </a:p>
        </p:txBody>
      </p:sp>
      <p:sp>
        <p:nvSpPr>
          <p:cNvPr id="20" name="Text Placeholder 19">
            <a:extLst>
              <a:ext uri="{FF2B5EF4-FFF2-40B4-BE49-F238E27FC236}">
                <a16:creationId xmlns:a16="http://schemas.microsoft.com/office/drawing/2014/main" id="{2F3AAE63-23A6-4D62-9D52-2EB81234898B}"/>
              </a:ext>
            </a:extLst>
          </p:cNvPr>
          <p:cNvSpPr>
            <a:spLocks noGrp="1"/>
          </p:cNvSpPr>
          <p:nvPr>
            <p:ph type="body" sz="quarter" idx="24"/>
          </p:nvPr>
        </p:nvSpPr>
        <p:spPr/>
        <p:txBody>
          <a:bodyPr/>
          <a:lstStyle/>
          <a:p>
            <a:r>
              <a:rPr lang="en-GB" b="0" i="1" dirty="0">
                <a:solidFill>
                  <a:srgbClr val="00338D"/>
                </a:solidFill>
              </a:rPr>
              <a:t>Trousers: </a:t>
            </a:r>
            <a:r>
              <a:rPr lang="en-GB" b="0" dirty="0">
                <a:solidFill>
                  <a:schemeClr val="tx1"/>
                </a:solidFill>
              </a:rPr>
              <a:t>During the historical period the </a:t>
            </a:r>
            <a:r>
              <a:rPr lang="en-GB" b="0" dirty="0" err="1">
                <a:solidFill>
                  <a:schemeClr val="tx1"/>
                </a:solidFill>
              </a:rPr>
              <a:t>yy</a:t>
            </a:r>
            <a:r>
              <a:rPr lang="en-GB" b="0" dirty="0">
                <a:solidFill>
                  <a:schemeClr val="tx1"/>
                </a:solidFill>
              </a:rPr>
              <a:t> increased at a lower rate than for Y as a whole i.e. £89 in FY19 to £101 in LTM22. The remaining increase is predominantly explained by the proportional increase in </a:t>
            </a:r>
            <a:r>
              <a:rPr lang="en-GB" b="0" dirty="0" err="1">
                <a:solidFill>
                  <a:schemeClr val="tx1"/>
                </a:solidFill>
              </a:rPr>
              <a:t>yy</a:t>
            </a:r>
            <a:r>
              <a:rPr lang="en-GB" b="0" dirty="0">
                <a:solidFill>
                  <a:schemeClr val="tx1"/>
                </a:solidFill>
              </a:rPr>
              <a:t> and </a:t>
            </a:r>
            <a:r>
              <a:rPr lang="en-GB" b="0" dirty="0" err="1">
                <a:solidFill>
                  <a:schemeClr val="tx1"/>
                </a:solidFill>
              </a:rPr>
              <a:t>yy</a:t>
            </a:r>
            <a:r>
              <a:rPr lang="en-GB" b="0" dirty="0">
                <a:solidFill>
                  <a:schemeClr val="tx1"/>
                </a:solidFill>
              </a:rPr>
              <a:t> sales market with ASP of £165 and £128 respectively in LTM22. </a:t>
            </a:r>
          </a:p>
          <a:p>
            <a:r>
              <a:rPr lang="en-GB" b="0" i="1" dirty="0">
                <a:solidFill>
                  <a:srgbClr val="00338D"/>
                </a:solidFill>
              </a:rPr>
              <a:t>Dresses: </a:t>
            </a:r>
            <a:r>
              <a:rPr lang="en-GB" b="0" dirty="0">
                <a:solidFill>
                  <a:schemeClr val="tx1"/>
                </a:solidFill>
              </a:rPr>
              <a:t>During FY19 the ASP was lower than subsequent periods due to the mix of products and relatively soft launch. However since this point regional </a:t>
            </a:r>
            <a:r>
              <a:rPr lang="en-GB" b="0" dirty="0" err="1">
                <a:solidFill>
                  <a:schemeClr val="tx1"/>
                </a:solidFill>
              </a:rPr>
              <a:t>ALogistics</a:t>
            </a:r>
            <a:r>
              <a:rPr lang="en-GB" b="0" dirty="0">
                <a:solidFill>
                  <a:schemeClr val="tx1"/>
                </a:solidFill>
              </a:rPr>
              <a:t> B have stabilised and thus the ASP variances are predominately linked to the proportional importance of </a:t>
            </a:r>
            <a:r>
              <a:rPr lang="en-GB" b="0" dirty="0" err="1">
                <a:solidFill>
                  <a:schemeClr val="tx1"/>
                </a:solidFill>
              </a:rPr>
              <a:t>yy</a:t>
            </a:r>
            <a:r>
              <a:rPr lang="en-GB" b="0" dirty="0">
                <a:solidFill>
                  <a:schemeClr val="tx1"/>
                </a:solidFill>
              </a:rPr>
              <a:t> and </a:t>
            </a:r>
            <a:r>
              <a:rPr lang="en-GB" b="0" dirty="0" err="1">
                <a:solidFill>
                  <a:schemeClr val="tx1"/>
                </a:solidFill>
              </a:rPr>
              <a:t>yy</a:t>
            </a:r>
            <a:r>
              <a:rPr lang="en-GB" b="0" dirty="0">
                <a:solidFill>
                  <a:schemeClr val="tx1"/>
                </a:solidFill>
              </a:rPr>
              <a:t> which had an ASP of £207 and £191 respectively compared to £137 in the </a:t>
            </a:r>
            <a:r>
              <a:rPr lang="en-GB" b="0" dirty="0" err="1">
                <a:solidFill>
                  <a:schemeClr val="tx1"/>
                </a:solidFill>
              </a:rPr>
              <a:t>yy</a:t>
            </a:r>
            <a:r>
              <a:rPr lang="en-GB" b="0" dirty="0">
                <a:solidFill>
                  <a:schemeClr val="tx1"/>
                </a:solidFill>
              </a:rPr>
              <a:t> during LTM22.</a:t>
            </a:r>
          </a:p>
          <a:p>
            <a:r>
              <a:rPr lang="en-GB" b="0" i="1" dirty="0">
                <a:solidFill>
                  <a:srgbClr val="00338D"/>
                </a:solidFill>
              </a:rPr>
              <a:t>Knitwear: </a:t>
            </a:r>
            <a:r>
              <a:rPr lang="en-GB" b="0" dirty="0">
                <a:solidFill>
                  <a:schemeClr val="tx1"/>
                </a:solidFill>
              </a:rPr>
              <a:t>The average selling price of knitwear increased from £94 in FY19 to £148 by LTM22.  This is predominantly explained by a mix change with eight of the top 10 sales contributors in LTM22 being cashmere products, opposed to just one cashmere product featuring in the top 10 in FY19.</a:t>
            </a:r>
          </a:p>
          <a:p>
            <a:r>
              <a:rPr lang="en-GB" b="0" i="1" dirty="0">
                <a:solidFill>
                  <a:srgbClr val="00338D"/>
                </a:solidFill>
              </a:rPr>
              <a:t>Skirts: </a:t>
            </a:r>
            <a:r>
              <a:rPr lang="en-GB" b="0" dirty="0">
                <a:solidFill>
                  <a:schemeClr val="tx1"/>
                </a:solidFill>
              </a:rPr>
              <a:t>The average selling price of skirts increased both due to reduction in the level of discounting and product mix. Nine of the top 10 revenue contributors in LTM22 had average sales values of in excess of £120 per unit, six of which were new in LTM22 and the other three new in FY21.</a:t>
            </a:r>
          </a:p>
          <a:p>
            <a:r>
              <a:rPr lang="en-GB" b="0" i="1" dirty="0">
                <a:solidFill>
                  <a:srgbClr val="00338D"/>
                </a:solidFill>
              </a:rPr>
              <a:t>Jumpsuits:</a:t>
            </a:r>
            <a:r>
              <a:rPr lang="en-GB" b="0" dirty="0">
                <a:solidFill>
                  <a:schemeClr val="tx1"/>
                </a:solidFill>
              </a:rPr>
              <a:t> Jumpsuits sales increased from £61,000 in FY19 to £1.2 million in LTM22 due to expansion of the category from 2 SKUs to 47.</a:t>
            </a:r>
          </a:p>
          <a:p>
            <a:r>
              <a:rPr lang="en-GB" b="0" i="1" dirty="0">
                <a:solidFill>
                  <a:srgbClr val="00338D"/>
                </a:solidFill>
              </a:rPr>
              <a:t>Other: </a:t>
            </a:r>
            <a:r>
              <a:rPr lang="en-GB" b="0" dirty="0">
                <a:solidFill>
                  <a:schemeClr val="tx1"/>
                </a:solidFill>
              </a:rPr>
              <a:t>Other delivered a gross margin percentage of 89.9% in LTM22 as it predominantly relates to gift vouchers which attract a 100% gross margin% (as there is no cost associated with them).</a:t>
            </a:r>
          </a:p>
          <a:p>
            <a:endParaRPr lang="en-GB" dirty="0"/>
          </a:p>
        </p:txBody>
      </p:sp>
      <p:sp>
        <p:nvSpPr>
          <p:cNvPr id="12" name="Text Placeholder 11">
            <a:extLst>
              <a:ext uri="{FF2B5EF4-FFF2-40B4-BE49-F238E27FC236}">
                <a16:creationId xmlns:a16="http://schemas.microsoft.com/office/drawing/2014/main" id="{BB5B34F2-5CEB-495F-A750-2BC017052F9F}"/>
              </a:ext>
            </a:extLst>
          </p:cNvPr>
          <p:cNvSpPr>
            <a:spLocks noGrp="1"/>
          </p:cNvSpPr>
          <p:nvPr>
            <p:ph type="body" sz="quarter" idx="26"/>
          </p:nvPr>
        </p:nvSpPr>
        <p:spPr/>
        <p:txBody>
          <a:bodyPr/>
          <a:lstStyle/>
          <a:p>
            <a:r>
              <a:rPr lang="en-GB" b="0" i="1" dirty="0">
                <a:solidFill>
                  <a:srgbClr val="00338D"/>
                </a:solidFill>
              </a:rPr>
              <a:t>GM sales mix</a:t>
            </a:r>
          </a:p>
          <a:p>
            <a:r>
              <a:rPr lang="en-GB" b="0" dirty="0">
                <a:solidFill>
                  <a:schemeClr val="tx1"/>
                </a:solidFill>
              </a:rPr>
              <a:t>The gross margin improvement in LTM22 is predominantly driven by increased buying power and a higher proportion of sales being at full price, due to supply exceeding demand in lots of instances.</a:t>
            </a:r>
          </a:p>
          <a:p>
            <a:pPr>
              <a:lnSpc>
                <a:spcPct val="95000"/>
              </a:lnSpc>
              <a:spcAft>
                <a:spcPts val="400"/>
              </a:spcAft>
            </a:pPr>
            <a:r>
              <a:rPr lang="en-GB" b="0" dirty="0">
                <a:solidFill>
                  <a:schemeClr val="tx1"/>
                </a:solidFill>
              </a:rPr>
              <a:t>The buying power of Y increased in LTM22 following the introduction of a new Production Director in 2020, who leveraged existing supplier contacts and experience to widen the supplier base and negotiate lower purchase prices. </a:t>
            </a:r>
          </a:p>
          <a:p>
            <a:pPr lvl="2">
              <a:lnSpc>
                <a:spcPct val="95000"/>
              </a:lnSpc>
              <a:spcAft>
                <a:spcPts val="400"/>
              </a:spcAft>
            </a:pPr>
            <a:r>
              <a:rPr lang="en-GB" b="0" dirty="0">
                <a:solidFill>
                  <a:schemeClr val="tx1"/>
                </a:solidFill>
              </a:rPr>
              <a:t>The increase in buying power is also partially attributable to the growth of the business I.e. economies of scale). </a:t>
            </a:r>
          </a:p>
          <a:p>
            <a:endParaRPr lang="en-GB" dirty="0"/>
          </a:p>
        </p:txBody>
      </p:sp>
      <p:sp>
        <p:nvSpPr>
          <p:cNvPr id="2" name="Text Placeholder 7">
            <a:extLst>
              <a:ext uri="{FF2B5EF4-FFF2-40B4-BE49-F238E27FC236}">
                <a16:creationId xmlns:a16="http://schemas.microsoft.com/office/drawing/2014/main" id="{F7E8CAFF-FE93-A7F9-CFE9-62307DC0972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5C51784-8C71-5030-032E-921D027546E2}"/>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DC07243E-93DD-87F4-71EE-09177A4F1C1B}"/>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450D6B44-1914-BC3C-8F80-F4D72D465F0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061CCDE9-763E-7AD5-861A-1E6602580FD6}"/>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5F5AE18E-C85D-4708-8AC1-F9449897743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2836C332-3949-415F-ABC9-1B1B83B7054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61E85278-36B6-402B-83F6-459F7B66625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F841508F-1BF5-499D-A81E-6B29B97BC7CF}"/>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D649810F-E9E8-498F-805C-BE1D5D51FE2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1" name="Group 30">
            <a:extLst>
              <a:ext uri="{FF2B5EF4-FFF2-40B4-BE49-F238E27FC236}">
                <a16:creationId xmlns:a16="http://schemas.microsoft.com/office/drawing/2014/main" id="{6053D987-536A-4F5C-A091-BF2D8B3453A5}"/>
              </a:ext>
            </a:extLst>
          </p:cNvPr>
          <p:cNvGrpSpPr/>
          <p:nvPr>
            <p:custDataLst>
              <p:tags r:id="rId4"/>
            </p:custDataLst>
          </p:nvPr>
        </p:nvGrpSpPr>
        <p:grpSpPr>
          <a:xfrm>
            <a:off x="995364" y="153170"/>
            <a:ext cx="6253254" cy="195814"/>
            <a:chOff x="995364" y="153170"/>
            <a:chExt cx="6253254" cy="195814"/>
          </a:xfrm>
        </p:grpSpPr>
        <p:sp>
          <p:nvSpPr>
            <p:cNvPr id="3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7"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12441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1"/>
                      <a:stretch>
                        <a:fillRect/>
                      </a:stretch>
                    </p:blipFill>
                    <p:spPr>
                      <a:xfrm>
                        <a:off x="1589" y="1589"/>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4E888605-1860-4F71-93A4-5B2DBD93D723}"/>
              </a:ext>
            </a:extLst>
          </p:cNvPr>
          <p:cNvSpPr>
            <a:spLocks noGrp="1"/>
          </p:cNvSpPr>
          <p:nvPr>
            <p:ph type="body" sz="quarter" idx="10"/>
          </p:nvPr>
        </p:nvSpPr>
        <p:spPr/>
        <p:txBody>
          <a:bodyPr/>
          <a:lstStyle/>
          <a:p>
            <a:pPr>
              <a:lnSpc>
                <a:spcPct val="95000"/>
              </a:lnSpc>
            </a:pPr>
            <a:r>
              <a:rPr lang="en-GB" dirty="0"/>
              <a:t>Whilst </a:t>
            </a:r>
            <a:r>
              <a:rPr lang="en-GB" dirty="0" err="1"/>
              <a:t>yy</a:t>
            </a:r>
            <a:r>
              <a:rPr lang="en-GB" dirty="0"/>
              <a:t> remains by far the largest market for Y and whilst it has continued to grow in absolute terms (£10.5 million in FY19 to £27.9 million in LTM22) it has reduced as a proportion of total sales from 95.5% to 73.7%. This has arisen both due to growth in </a:t>
            </a:r>
            <a:r>
              <a:rPr lang="en-GB" dirty="0" err="1"/>
              <a:t>yy</a:t>
            </a:r>
            <a:r>
              <a:rPr lang="en-GB" dirty="0"/>
              <a:t> (10.8 ppts as a proportion of total sales) and </a:t>
            </a:r>
            <a:r>
              <a:rPr lang="en-GB" dirty="0" err="1"/>
              <a:t>yy</a:t>
            </a:r>
            <a:r>
              <a:rPr lang="en-GB" dirty="0"/>
              <a:t> (10.9 ppts as a proportion of total sales). The growth in the </a:t>
            </a:r>
            <a:r>
              <a:rPr lang="en-GB" dirty="0" err="1"/>
              <a:t>yy</a:t>
            </a:r>
            <a:r>
              <a:rPr lang="en-GB" dirty="0"/>
              <a:t> has been assisted by the launch of a </a:t>
            </a:r>
            <a:r>
              <a:rPr lang="en-GB" dirty="0" err="1"/>
              <a:t>yy</a:t>
            </a:r>
            <a:r>
              <a:rPr lang="en-GB" dirty="0"/>
              <a:t> website in March 2019; the </a:t>
            </a:r>
            <a:r>
              <a:rPr lang="en-GB" dirty="0" err="1"/>
              <a:t>yy</a:t>
            </a:r>
            <a:r>
              <a:rPr lang="en-GB" dirty="0"/>
              <a:t> has been supported by the use of Global E from February 2021. During the historical period Y had sales in 120 different geographies.</a:t>
            </a:r>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Revenue and GM by region</a:t>
            </a:r>
          </a:p>
        </p:txBody>
      </p:sp>
      <p:sp>
        <p:nvSpPr>
          <p:cNvPr id="2" name="Text Placeholder 7">
            <a:extLst>
              <a:ext uri="{FF2B5EF4-FFF2-40B4-BE49-F238E27FC236}">
                <a16:creationId xmlns:a16="http://schemas.microsoft.com/office/drawing/2014/main" id="{F7E8CAFF-FE93-A7F9-CFE9-62307DC0972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5C51784-8C71-5030-032E-921D027546E2}"/>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DC07243E-93DD-87F4-71EE-09177A4F1C1B}"/>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450D6B44-1914-BC3C-8F80-F4D72D465F0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061CCDE9-763E-7AD5-861A-1E6602580FD6}"/>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5F5AE18E-C85D-4708-8AC1-F9449897743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2836C332-3949-415F-ABC9-1B1B83B7054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61E85278-36B6-402B-83F6-459F7B66625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F841508F-1BF5-499D-A81E-6B29B97BC7CF}"/>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7" name="Text Box 8">
            <a:extLst>
              <a:ext uri="{FF2B5EF4-FFF2-40B4-BE49-F238E27FC236}">
                <a16:creationId xmlns:a16="http://schemas.microsoft.com/office/drawing/2014/main" id="{C6D1179E-5BD4-4522-8339-B588273FA448}"/>
              </a:ext>
            </a:extLst>
          </p:cNvPr>
          <p:cNvSpPr txBox="1">
            <a:spLocks noChangeArrowheads="1"/>
          </p:cNvSpPr>
          <p:nvPr>
            <p:custDataLst>
              <p:tags r:id="rId3"/>
            </p:custDataLst>
          </p:nvPr>
        </p:nvSpPr>
        <p:spPr bwMode="auto">
          <a:xfrm>
            <a:off x="1043457" y="6104846"/>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rgbClr val="00338D"/>
                </a:solidFill>
                <a:cs typeface="Arial" pitchFamily="34" charset="0"/>
              </a:rPr>
              <a:t>Source (all):	Transactional level data</a:t>
            </a:r>
          </a:p>
        </p:txBody>
      </p:sp>
      <p:sp>
        <p:nvSpPr>
          <p:cNvPr id="40" name="Rectangle 39">
            <a:extLst>
              <a:ext uri="{FF2B5EF4-FFF2-40B4-BE49-F238E27FC236}">
                <a16:creationId xmlns:a16="http://schemas.microsoft.com/office/drawing/2014/main" id="{297C0886-B0D6-4CD3-8313-E3E01042EB91}"/>
              </a:ext>
            </a:extLst>
          </p:cNvPr>
          <p:cNvSpPr/>
          <p:nvPr/>
        </p:nvSpPr>
        <p:spPr>
          <a:xfrm>
            <a:off x="8574197" y="2484123"/>
            <a:ext cx="1620000" cy="103067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Of the top 10 geographies in LTM22, the </a:t>
            </a:r>
            <a:r>
              <a:rPr lang="en-GB" sz="700" dirty="0" err="1">
                <a:solidFill>
                  <a:sysClr val="windowText" lastClr="000000"/>
                </a:solidFill>
              </a:rPr>
              <a:t>yy</a:t>
            </a:r>
            <a:r>
              <a:rPr lang="en-GB" sz="700" dirty="0">
                <a:solidFill>
                  <a:sysClr val="windowText" lastClr="000000"/>
                </a:solidFill>
              </a:rPr>
              <a:t> attracts the lowest gross margin. The </a:t>
            </a:r>
            <a:r>
              <a:rPr lang="en-GB" sz="700" dirty="0" err="1">
                <a:solidFill>
                  <a:sysClr val="windowText" lastClr="000000"/>
                </a:solidFill>
              </a:rPr>
              <a:t>yy</a:t>
            </a:r>
            <a:r>
              <a:rPr lang="en-GB" sz="700" dirty="0">
                <a:solidFill>
                  <a:sysClr val="windowText" lastClr="000000"/>
                </a:solidFill>
              </a:rPr>
              <a:t> and </a:t>
            </a:r>
            <a:r>
              <a:rPr lang="en-GB" sz="700" dirty="0" err="1">
                <a:solidFill>
                  <a:sysClr val="windowText" lastClr="000000"/>
                </a:solidFill>
              </a:rPr>
              <a:t>yy</a:t>
            </a:r>
            <a:r>
              <a:rPr lang="en-GB" sz="700" dirty="0">
                <a:solidFill>
                  <a:sysClr val="windowText" lastClr="000000"/>
                </a:solidFill>
              </a:rPr>
              <a:t> have the highest margin as Y adds a mark-up from the </a:t>
            </a:r>
            <a:r>
              <a:rPr lang="en-GB" sz="700" dirty="0" err="1">
                <a:solidFill>
                  <a:sysClr val="windowText" lastClr="000000"/>
                </a:solidFill>
              </a:rPr>
              <a:t>yy</a:t>
            </a:r>
            <a:r>
              <a:rPr lang="en-GB" sz="700" dirty="0">
                <a:solidFill>
                  <a:sysClr val="windowText" lastClr="000000"/>
                </a:solidFill>
              </a:rPr>
              <a:t> price point. Please note, however, this is prior to the allocation of associated carriage costs.</a:t>
            </a:r>
          </a:p>
        </p:txBody>
      </p:sp>
      <p:pic>
        <p:nvPicPr>
          <p:cNvPr id="22" name="Picture 21">
            <a:extLst>
              <a:ext uri="{FF2B5EF4-FFF2-40B4-BE49-F238E27FC236}">
                <a16:creationId xmlns:a16="http://schemas.microsoft.com/office/drawing/2014/main" id="{D938BE5E-5DFC-4356-ACA1-E0D2EDEA66DB}"/>
              </a:ext>
            </a:extLst>
          </p:cNvPr>
          <p:cNvPicPr>
            <a:picLocks noChangeAspect="1"/>
          </p:cNvPicPr>
          <p:nvPr>
            <p:custDataLst>
              <p:tags r:id="rId4"/>
            </p:custDataLst>
          </p:nvPr>
        </p:nvPicPr>
        <p:blipFill>
          <a:blip r:embed="rId12"/>
          <a:stretch>
            <a:fillRect/>
          </a:stretch>
        </p:blipFill>
        <p:spPr>
          <a:xfrm>
            <a:off x="1043458" y="1938242"/>
            <a:ext cx="6889750" cy="2161659"/>
          </a:xfrm>
          <a:prstGeom prst="rect">
            <a:avLst/>
          </a:prstGeom>
        </p:spPr>
      </p:pic>
      <p:pic>
        <p:nvPicPr>
          <p:cNvPr id="18" name="Picture 17">
            <a:extLst>
              <a:ext uri="{FF2B5EF4-FFF2-40B4-BE49-F238E27FC236}">
                <a16:creationId xmlns:a16="http://schemas.microsoft.com/office/drawing/2014/main" id="{0D547F67-3F8E-4CB4-8F33-E8BEFC40FDB8}"/>
              </a:ext>
            </a:extLst>
          </p:cNvPr>
          <p:cNvPicPr>
            <a:picLocks noChangeAspect="1"/>
          </p:cNvPicPr>
          <p:nvPr>
            <p:custDataLst>
              <p:tags r:id="rId5"/>
            </p:custDataLst>
          </p:nvPr>
        </p:nvPicPr>
        <p:blipFill>
          <a:blip r:embed="rId13"/>
          <a:stretch>
            <a:fillRect/>
          </a:stretch>
        </p:blipFill>
        <p:spPr>
          <a:xfrm>
            <a:off x="903758" y="4375553"/>
            <a:ext cx="6889750" cy="1752148"/>
          </a:xfrm>
          <a:prstGeom prst="rect">
            <a:avLst/>
          </a:prstGeom>
        </p:spPr>
      </p:pic>
      <p:sp>
        <p:nvSpPr>
          <p:cNvPr id="21" name="TextBox 20">
            <a:extLst>
              <a:ext uri="{FF2B5EF4-FFF2-40B4-BE49-F238E27FC236}">
                <a16:creationId xmlns:a16="http://schemas.microsoft.com/office/drawing/2014/main" id="{A82C306A-F393-4734-864C-580EA639C032}"/>
              </a:ext>
            </a:extLst>
          </p:cNvPr>
          <p:cNvSpPr txBox="1"/>
          <p:nvPr/>
        </p:nvSpPr>
        <p:spPr>
          <a:xfrm>
            <a:off x="1043457" y="4197350"/>
            <a:ext cx="1534643" cy="176216"/>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LTM sales by region</a:t>
            </a:r>
          </a:p>
        </p:txBody>
      </p:sp>
      <p:sp>
        <p:nvSpPr>
          <p:cNvPr id="5" name="UpSlide SubSection Marker" hidden="1">
            <a:extLst>
              <a:ext uri="{FF2B5EF4-FFF2-40B4-BE49-F238E27FC236}">
                <a16:creationId xmlns:a16="http://schemas.microsoft.com/office/drawing/2014/main" id="{7928C5E9-1340-4D7D-9D41-14D44BF3CE50}"/>
              </a:ext>
            </a:extLst>
          </p:cNvPr>
          <p:cNvSpPr/>
          <p:nvPr>
            <p:custDataLst>
              <p:tags r:id="rId6"/>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3" name="Group 32">
            <a:extLst>
              <a:ext uri="{FF2B5EF4-FFF2-40B4-BE49-F238E27FC236}">
                <a16:creationId xmlns:a16="http://schemas.microsoft.com/office/drawing/2014/main" id="{6053D987-536A-4F5C-A091-BF2D8B3453A5}"/>
              </a:ext>
            </a:extLst>
          </p:cNvPr>
          <p:cNvGrpSpPr/>
          <p:nvPr>
            <p:custDataLst>
              <p:tags r:id="rId7"/>
            </p:custDataLst>
          </p:nvPr>
        </p:nvGrpSpPr>
        <p:grpSpPr>
          <a:xfrm>
            <a:off x="995364" y="153170"/>
            <a:ext cx="6253254" cy="195814"/>
            <a:chOff x="995364" y="153170"/>
            <a:chExt cx="6253254" cy="195814"/>
          </a:xfrm>
        </p:grpSpPr>
        <p:sp>
          <p:nvSpPr>
            <p:cNvPr id="34"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5"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80059355"/>
      </p:ext>
    </p:extLst>
  </p:cSld>
  <p:clrMapOvr>
    <a:masterClrMapping/>
  </p:clrMapOvr>
  <p:extLst>
    <p:ext uri="{6950BFC3-D8DA-4A85-94F7-54DA5524770B}">
      <p188:commentRel xmlns:p188="http://schemas.microsoft.com/office/powerpoint/2018/8/main" r:id="rId9"/>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1EC48DF-1B58-4905-B79D-2EE4B13ED0AA}"/>
              </a:ext>
            </a:extLst>
          </p:cNvPr>
          <p:cNvPicPr>
            <a:picLocks noChangeAspect="1"/>
          </p:cNvPicPr>
          <p:nvPr>
            <p:custDataLst>
              <p:tags r:id="rId1"/>
            </p:custDataLst>
          </p:nvPr>
        </p:nvPicPr>
        <p:blipFill>
          <a:blip r:embed="rId9"/>
          <a:stretch>
            <a:fillRect/>
          </a:stretch>
        </p:blipFill>
        <p:spPr>
          <a:xfrm>
            <a:off x="1058971" y="2113496"/>
            <a:ext cx="6889750" cy="1820710"/>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11"/>
                      <a:stretch>
                        <a:fillRect/>
                      </a:stretch>
                    </p:blipFill>
                    <p:spPr>
                      <a:xfrm>
                        <a:off x="1589" y="1589"/>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4E888605-1860-4F71-93A4-5B2DBD93D723}"/>
              </a:ext>
            </a:extLst>
          </p:cNvPr>
          <p:cNvSpPr>
            <a:spLocks noGrp="1"/>
          </p:cNvSpPr>
          <p:nvPr>
            <p:ph type="body" sz="quarter" idx="10"/>
          </p:nvPr>
        </p:nvSpPr>
        <p:spPr/>
        <p:txBody>
          <a:bodyPr/>
          <a:lstStyle/>
          <a:p>
            <a:r>
              <a:rPr lang="en-GB" dirty="0"/>
              <a:t>The number of SKUs sold by Y has increased significantly over the historical period from 538 in FY19 to 1,273 in LTM22.</a:t>
            </a:r>
          </a:p>
          <a:p>
            <a:r>
              <a:rPr lang="en-GB" dirty="0"/>
              <a:t>Consequently the level of concentration on the top SKUs has reduced, with the top 100 SKUs reducing as a proportion of sales from 56.7% in FY19 to 39.6% in LTM22; on a gross profit basis, this equates to 58.6% and 40.7% respectively.</a:t>
            </a:r>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Business drivers – SKU concentration</a:t>
            </a:r>
          </a:p>
        </p:txBody>
      </p:sp>
      <p:sp>
        <p:nvSpPr>
          <p:cNvPr id="2" name="Text Placeholder 7">
            <a:extLst>
              <a:ext uri="{FF2B5EF4-FFF2-40B4-BE49-F238E27FC236}">
                <a16:creationId xmlns:a16="http://schemas.microsoft.com/office/drawing/2014/main" id="{F7E8CAFF-FE93-A7F9-CFE9-62307DC0972C}"/>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5C51784-8C71-5030-032E-921D027546E2}"/>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DC07243E-93DD-87F4-71EE-09177A4F1C1B}"/>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450D6B44-1914-BC3C-8F80-F4D72D465F0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061CCDE9-763E-7AD5-861A-1E6602580FD6}"/>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5F5AE18E-C85D-4708-8AC1-F9449897743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2836C332-3949-415F-ABC9-1B1B83B7054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61E85278-36B6-402B-83F6-459F7B66625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F841508F-1BF5-499D-A81E-6B29B97BC7CF}"/>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7" name="Text Box 8">
            <a:extLst>
              <a:ext uri="{FF2B5EF4-FFF2-40B4-BE49-F238E27FC236}">
                <a16:creationId xmlns:a16="http://schemas.microsoft.com/office/drawing/2014/main" id="{C6D1179E-5BD4-4522-8339-B588273FA448}"/>
              </a:ext>
            </a:extLst>
          </p:cNvPr>
          <p:cNvSpPr txBox="1">
            <a:spLocks noChangeArrowheads="1"/>
          </p:cNvSpPr>
          <p:nvPr>
            <p:custDataLst>
              <p:tags r:id="rId4"/>
            </p:custDataLst>
          </p:nvPr>
        </p:nvSpPr>
        <p:spPr bwMode="auto">
          <a:xfrm>
            <a:off x="1043457" y="6104846"/>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rgbClr val="00338D"/>
                </a:solidFill>
                <a:cs typeface="Arial" pitchFamily="34" charset="0"/>
              </a:rPr>
              <a:t>Source (all):	Transactional level data</a:t>
            </a:r>
          </a:p>
        </p:txBody>
      </p:sp>
      <p:sp>
        <p:nvSpPr>
          <p:cNvPr id="21" name="TextBox 20">
            <a:extLst>
              <a:ext uri="{FF2B5EF4-FFF2-40B4-BE49-F238E27FC236}">
                <a16:creationId xmlns:a16="http://schemas.microsoft.com/office/drawing/2014/main" id="{A82C306A-F393-4734-864C-580EA639C032}"/>
              </a:ext>
            </a:extLst>
          </p:cNvPr>
          <p:cNvSpPr txBox="1"/>
          <p:nvPr/>
        </p:nvSpPr>
        <p:spPr>
          <a:xfrm>
            <a:off x="1003312" y="1950769"/>
            <a:ext cx="1693393" cy="226367"/>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SKU Pareto LTM22 - Sales</a:t>
            </a:r>
          </a:p>
        </p:txBody>
      </p:sp>
      <p:pic>
        <p:nvPicPr>
          <p:cNvPr id="24" name="Picture 23">
            <a:extLst>
              <a:ext uri="{FF2B5EF4-FFF2-40B4-BE49-F238E27FC236}">
                <a16:creationId xmlns:a16="http://schemas.microsoft.com/office/drawing/2014/main" id="{C341540F-08B2-462F-8FAE-16CDFB4D9EF3}"/>
              </a:ext>
            </a:extLst>
          </p:cNvPr>
          <p:cNvPicPr>
            <a:picLocks noChangeAspect="1"/>
          </p:cNvPicPr>
          <p:nvPr>
            <p:custDataLst>
              <p:tags r:id="rId5"/>
            </p:custDataLst>
          </p:nvPr>
        </p:nvPicPr>
        <p:blipFill>
          <a:blip r:embed="rId12"/>
          <a:stretch>
            <a:fillRect/>
          </a:stretch>
        </p:blipFill>
        <p:spPr>
          <a:xfrm>
            <a:off x="980938" y="3994902"/>
            <a:ext cx="3911598" cy="2024504"/>
          </a:xfrm>
          <a:prstGeom prst="rect">
            <a:avLst/>
          </a:prstGeom>
        </p:spPr>
      </p:pic>
      <p:sp>
        <p:nvSpPr>
          <p:cNvPr id="5" name="UpSlide SubSection Marker" hidden="1">
            <a:extLst>
              <a:ext uri="{FF2B5EF4-FFF2-40B4-BE49-F238E27FC236}">
                <a16:creationId xmlns:a16="http://schemas.microsoft.com/office/drawing/2014/main" id="{E2BBDA11-6D1A-4B91-9FAE-A9BC139F07F1}"/>
              </a:ext>
            </a:extLst>
          </p:cNvPr>
          <p:cNvSpPr/>
          <p:nvPr>
            <p:custDataLst>
              <p:tags r:id="rId6"/>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drivers</a:t>
            </a:r>
            <a:endParaRPr lang="en-GB" sz="900" dirty="0">
              <a:solidFill>
                <a:schemeClr val="bg1"/>
              </a:solidFill>
            </a:endParaRPr>
          </a:p>
        </p:txBody>
      </p:sp>
      <p:grpSp>
        <p:nvGrpSpPr>
          <p:cNvPr id="32" name="Group 31">
            <a:extLst>
              <a:ext uri="{FF2B5EF4-FFF2-40B4-BE49-F238E27FC236}">
                <a16:creationId xmlns:a16="http://schemas.microsoft.com/office/drawing/2014/main" id="{6053D987-536A-4F5C-A091-BF2D8B3453A5}"/>
              </a:ext>
            </a:extLst>
          </p:cNvPr>
          <p:cNvGrpSpPr/>
          <p:nvPr>
            <p:custDataLst>
              <p:tags r:id="rId7"/>
            </p:custDataLst>
          </p:nvPr>
        </p:nvGrpSpPr>
        <p:grpSpPr>
          <a:xfrm>
            <a:off x="995364" y="153170"/>
            <a:ext cx="6253254" cy="195814"/>
            <a:chOff x="995364" y="153170"/>
            <a:chExt cx="6253254" cy="195814"/>
          </a:xfrm>
        </p:grpSpPr>
        <p:sp>
          <p:nvSpPr>
            <p:cNvPr id="33"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4"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57474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A1CD733-855B-456D-B537-8EDE1ACB6F64}"/>
              </a:ext>
            </a:extLst>
          </p:cNvPr>
          <p:cNvPicPr>
            <a:picLocks noChangeAspect="1"/>
          </p:cNvPicPr>
          <p:nvPr>
            <p:custDataLst>
              <p:tags r:id="rId1"/>
            </p:custDataLst>
          </p:nvPr>
        </p:nvPicPr>
        <p:blipFill>
          <a:blip r:embed="rId7"/>
          <a:stretch>
            <a:fillRect/>
          </a:stretch>
        </p:blipFill>
        <p:spPr>
          <a:xfrm>
            <a:off x="998397" y="2058098"/>
            <a:ext cx="3690499" cy="3953997"/>
          </a:xfrm>
          <a:prstGeom prst="rect">
            <a:avLst/>
          </a:prstGeom>
        </p:spPr>
      </p:pic>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5A06DB57-A012-4F0B-B030-08C1F5FB2C04}"/>
              </a:ext>
            </a:extLst>
          </p:cNvPr>
          <p:cNvSpPr>
            <a:spLocks noGrp="1"/>
          </p:cNvSpPr>
          <p:nvPr>
            <p:ph type="body" sz="quarter" idx="10"/>
          </p:nvPr>
        </p:nvSpPr>
        <p:spPr>
          <a:xfrm>
            <a:off x="995361" y="1312416"/>
            <a:ext cx="10195200" cy="460800"/>
          </a:xfrm>
        </p:spPr>
        <p:txBody>
          <a:bodyPr/>
          <a:lstStyle/>
          <a:p>
            <a:r>
              <a:rPr lang="en-GB" dirty="0"/>
              <a:t>The majority of the cost base is variable in nature, representing approximately 72.3% of total costs in LTM22. Direct costs includes cost of sales and costs associated with fulfilment such as warehouse and delivery charges. Management estimates that the majority of overheads are fixed in nature. However, marketing costs are largely variable as they predominantly relate to PPC and the cost of producing and posting brochures to </a:t>
            </a:r>
            <a:r>
              <a:rPr lang="en-GB" dirty="0" err="1"/>
              <a:t>yy</a:t>
            </a:r>
            <a:r>
              <a:rPr lang="en-GB" dirty="0"/>
              <a:t> and </a:t>
            </a:r>
            <a:r>
              <a:rPr lang="en-GB" dirty="0" err="1"/>
              <a:t>yy</a:t>
            </a:r>
            <a:r>
              <a:rPr lang="en-GB" dirty="0"/>
              <a:t> customers. </a:t>
            </a:r>
          </a:p>
          <a:p>
            <a:endParaRPr lang="fi-FI" dirty="0"/>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a:lstStyle/>
          <a:p>
            <a:r>
              <a:rPr lang="en-US" dirty="0"/>
              <a:t>Cost base - Overview</a:t>
            </a:r>
          </a:p>
        </p:txBody>
      </p:sp>
      <p:sp>
        <p:nvSpPr>
          <p:cNvPr id="5" name="Text Placeholder 12">
            <a:extLst>
              <a:ext uri="{FF2B5EF4-FFF2-40B4-BE49-F238E27FC236}">
                <a16:creationId xmlns:a16="http://schemas.microsoft.com/office/drawing/2014/main" id="{A9820E64-ACA8-FC87-156D-7E58161096CF}"/>
              </a:ext>
            </a:extLst>
          </p:cNvPr>
          <p:cNvSpPr txBox="1">
            <a:spLocks/>
          </p:cNvSpPr>
          <p:nvPr/>
        </p:nvSpPr>
        <p:spPr>
          <a:xfrm>
            <a:off x="980938" y="6073257"/>
            <a:ext cx="356566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rgbClr val="00338D"/>
                </a:solidFill>
                <a:latin typeface="Arial" panose="020B0604020202020204" pitchFamily="34" charset="0"/>
              </a:rPr>
              <a:t>Source: </a:t>
            </a:r>
            <a:r>
              <a:rPr lang="en-GB" sz="600" b="0" dirty="0">
                <a:solidFill>
                  <a:srgbClr val="00338D"/>
                </a:solidFill>
                <a:cs typeface="Arial" pitchFamily="34" charset="0"/>
              </a:rPr>
              <a:t>P-L January 2019, P-L January 2020, P-L January 2021, P-L September 2021 	</a:t>
            </a:r>
            <a:endParaRPr lang="en-US" sz="600" b="0" dirty="0">
              <a:solidFill>
                <a:srgbClr val="00338D"/>
              </a:solidFill>
              <a:latin typeface="Arial" panose="020B0604020202020204" pitchFamily="34" charset="0"/>
            </a:endParaRPr>
          </a:p>
        </p:txBody>
      </p:sp>
      <p:sp>
        <p:nvSpPr>
          <p:cNvPr id="2" name="Text Placeholder 7">
            <a:extLst>
              <a:ext uri="{FF2B5EF4-FFF2-40B4-BE49-F238E27FC236}">
                <a16:creationId xmlns:a16="http://schemas.microsoft.com/office/drawing/2014/main" id="{118BC000-3D4E-C480-A1E2-D5398972134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sz="1600"/>
          </a:p>
        </p:txBody>
      </p:sp>
      <p:sp>
        <p:nvSpPr>
          <p:cNvPr id="3" name="Text Placeholder 12">
            <a:extLst>
              <a:ext uri="{FF2B5EF4-FFF2-40B4-BE49-F238E27FC236}">
                <a16:creationId xmlns:a16="http://schemas.microsoft.com/office/drawing/2014/main" id="{FB437E2C-B74A-9067-0FED-651E7995ACC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95B3389E-881C-7900-3ACC-CE21BBCC9198}"/>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6" name="Rectangle 5">
            <a:extLst>
              <a:ext uri="{FF2B5EF4-FFF2-40B4-BE49-F238E27FC236}">
                <a16:creationId xmlns:a16="http://schemas.microsoft.com/office/drawing/2014/main" id="{5D9EB4BA-1EEF-F69C-E083-D84183281983}"/>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5460ABB4-CD34-D7E4-06BD-D9E8D9B69CAC}"/>
              </a:ext>
            </a:extLst>
          </p:cNvPr>
          <p:cNvCxnSpPr>
            <a:cxnSpLocks/>
            <a:stCxn id="6"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B90664FD-4044-4E37-94AA-B8647648FCF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3A376F06-A4BF-4ECB-8959-56669E2D1979}"/>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1" name="Rectangle 90">
            <a:extLst>
              <a:ext uri="{FF2B5EF4-FFF2-40B4-BE49-F238E27FC236}">
                <a16:creationId xmlns:a16="http://schemas.microsoft.com/office/drawing/2014/main" id="{CDE25D04-D1AF-4AB0-B5A2-A7A270526094}"/>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2" name="Rectangle 91">
            <a:extLst>
              <a:ext uri="{FF2B5EF4-FFF2-40B4-BE49-F238E27FC236}">
                <a16:creationId xmlns:a16="http://schemas.microsoft.com/office/drawing/2014/main" id="{87284429-7A77-4CD4-BF75-CE8D5090621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3" name="Rectangle 92">
            <a:extLst>
              <a:ext uri="{FF2B5EF4-FFF2-40B4-BE49-F238E27FC236}">
                <a16:creationId xmlns:a16="http://schemas.microsoft.com/office/drawing/2014/main" id="{2FA5DA49-9042-4D04-8832-E375234CA7F1}"/>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4" name="Rectangle 93">
            <a:extLst>
              <a:ext uri="{FF2B5EF4-FFF2-40B4-BE49-F238E27FC236}">
                <a16:creationId xmlns:a16="http://schemas.microsoft.com/office/drawing/2014/main" id="{1ED278F9-CB9B-4184-85B4-B154C22323D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BD9B265-8C05-473C-B84A-E41FD04A5E97}"/>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9C1C2D8C-4107-4D3F-82C1-5997A83F8EC7}"/>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7" name="Rectangle 96">
            <a:extLst>
              <a:ext uri="{FF2B5EF4-FFF2-40B4-BE49-F238E27FC236}">
                <a16:creationId xmlns:a16="http://schemas.microsoft.com/office/drawing/2014/main" id="{BD842C10-457D-4024-9AD5-9199DA346D55}"/>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7" name="TextBox 56">
            <a:extLst>
              <a:ext uri="{FF2B5EF4-FFF2-40B4-BE49-F238E27FC236}">
                <a16:creationId xmlns:a16="http://schemas.microsoft.com/office/drawing/2014/main" id="{631AF9ED-4B11-460B-A5A3-65ABB4015679}"/>
              </a:ext>
            </a:extLst>
          </p:cNvPr>
          <p:cNvSpPr txBox="1"/>
          <p:nvPr/>
        </p:nvSpPr>
        <p:spPr>
          <a:xfrm>
            <a:off x="1003312" y="1950769"/>
            <a:ext cx="1693393" cy="226367"/>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Cost base</a:t>
            </a:r>
          </a:p>
        </p:txBody>
      </p:sp>
      <p:graphicFrame>
        <p:nvGraphicFramePr>
          <p:cNvPr id="58" name="Table 5">
            <a:extLst>
              <a:ext uri="{FF2B5EF4-FFF2-40B4-BE49-F238E27FC236}">
                <a16:creationId xmlns:a16="http://schemas.microsoft.com/office/drawing/2014/main" id="{ABAB9C37-107D-45E0-AB26-F76DC297F98E}"/>
              </a:ext>
            </a:extLst>
          </p:cNvPr>
          <p:cNvGraphicFramePr>
            <a:graphicFrameLocks noGrp="1"/>
          </p:cNvGraphicFramePr>
          <p:nvPr>
            <p:extLst>
              <p:ext uri="{D42A27DB-BD31-4B8C-83A1-F6EECF244321}">
                <p14:modId xmlns:p14="http://schemas.microsoft.com/office/powerpoint/2010/main" val="3258763810"/>
              </p:ext>
            </p:extLst>
          </p:nvPr>
        </p:nvGraphicFramePr>
        <p:xfrm>
          <a:off x="4000500" y="1912839"/>
          <a:ext cx="7267807" cy="4111584"/>
        </p:xfrm>
        <a:graphic>
          <a:graphicData uri="http://schemas.openxmlformats.org/drawingml/2006/table">
            <a:tbl>
              <a:tblPr firstRow="1" bandRow="1"/>
              <a:tblGrid>
                <a:gridCol w="1023095">
                  <a:extLst>
                    <a:ext uri="{9D8B030D-6E8A-4147-A177-3AD203B41FA5}">
                      <a16:colId xmlns:a16="http://schemas.microsoft.com/office/drawing/2014/main" val="864374706"/>
                    </a:ext>
                  </a:extLst>
                </a:gridCol>
                <a:gridCol w="6244712">
                  <a:extLst>
                    <a:ext uri="{9D8B030D-6E8A-4147-A177-3AD203B41FA5}">
                      <a16:colId xmlns:a16="http://schemas.microsoft.com/office/drawing/2014/main" val="2787472948"/>
                    </a:ext>
                  </a:extLst>
                </a:gridCol>
              </a:tblGrid>
              <a:tr h="242272">
                <a:tc>
                  <a:txBody>
                    <a:bodyPr/>
                    <a:lstStyle/>
                    <a:p>
                      <a:r>
                        <a:rPr lang="en-GB" sz="1000" b="1" u="none" dirty="0">
                          <a:solidFill>
                            <a:schemeClr val="bg1"/>
                          </a:solidFill>
                        </a:rPr>
                        <a:t>Cost area</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r>
                        <a:rPr lang="en-GB" sz="1000" b="1" u="none" dirty="0">
                          <a:solidFill>
                            <a:schemeClr val="bg1"/>
                          </a:solidFill>
                        </a:rPr>
                        <a:t>Overview</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947314838"/>
                  </a:ext>
                </a:extLst>
              </a:tr>
              <a:tr h="530184">
                <a:tc>
                  <a:txBody>
                    <a:bodyPr/>
                    <a:lstStyle/>
                    <a:p>
                      <a:r>
                        <a:rPr lang="en-GB" sz="900" b="0" u="none" dirty="0">
                          <a:solidFill>
                            <a:schemeClr val="bg1"/>
                          </a:solidFill>
                        </a:rPr>
                        <a:t>Cost of sales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800" u="none" dirty="0"/>
                        <a:t>Variable – The cost of sale is inclusive of the cost of the garment purchased, freight costs and customs duties in addition to stock provisions and FX gains and losses made on purchases at the point of payment. The balance is partially offset by the cost of goods relating to returns which have been provided for at month end.</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3756844"/>
                  </a:ext>
                </a:extLst>
              </a:tr>
              <a:tr h="343312">
                <a:tc>
                  <a:txBody>
                    <a:bodyPr/>
                    <a:lstStyle/>
                    <a:p>
                      <a:pPr marL="0" algn="l" defTabSz="43200" rtl="0" eaLnBrk="1" latinLnBrk="0" hangingPunct="1"/>
                      <a:r>
                        <a:rPr lang="en-GB" sz="900" u="none" kern="1200" dirty="0">
                          <a:solidFill>
                            <a:schemeClr val="bg1"/>
                          </a:solidFill>
                          <a:latin typeface="+mn-lt"/>
                          <a:ea typeface="+mn-ea"/>
                          <a:cs typeface="+mn-cs"/>
                        </a:rPr>
                        <a:t>Direct costs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C6007E"/>
                    </a:solidFill>
                  </a:tcPr>
                </a:tc>
                <a:tc>
                  <a:txBody>
                    <a:bodyPr/>
                    <a:lstStyle/>
                    <a:p>
                      <a:pPr marL="0" algn="l" defTabSz="43200" rtl="0" eaLnBrk="1" latinLnBrk="0" hangingPunct="1"/>
                      <a:r>
                        <a:rPr lang="en-GB" sz="800" u="none" kern="1200" dirty="0">
                          <a:solidFill>
                            <a:schemeClr val="tx1"/>
                          </a:solidFill>
                          <a:latin typeface="+mn-lt"/>
                          <a:ea typeface="+mn-ea"/>
                          <a:cs typeface="+mn-cs"/>
                        </a:rPr>
                        <a:t>Variable (36.3%) – Direct variable costs predominantly relate to warehouse and delivery costs, with a partial offset for any delivery income received. Variable costs also relate to merchant fees and Global E fees as well as concession occupancy costs which are charged as a percentage of sales (with a minimum guarantee)</a:t>
                      </a:r>
                    </a:p>
                    <a:p>
                      <a:pPr marL="0" algn="l" defTabSz="43200" rtl="0" eaLnBrk="1" latinLnBrk="0" hangingPunct="1"/>
                      <a:r>
                        <a:rPr lang="en-GB" sz="800" u="none" kern="1200" dirty="0">
                          <a:solidFill>
                            <a:schemeClr val="tx1"/>
                          </a:solidFill>
                          <a:latin typeface="+mn-lt"/>
                          <a:ea typeface="+mn-ea"/>
                          <a:cs typeface="+mn-cs"/>
                        </a:rPr>
                        <a:t>Fixed (63.7%) – Direct fixed costs predominantly relate to staff costs at the boutiques and concessions as well as occupancy costs at the boutiques. </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409042"/>
                  </a:ext>
                </a:extLst>
              </a:tr>
              <a:tr h="0">
                <a:tc>
                  <a:txBody>
                    <a:bodyPr/>
                    <a:lstStyle/>
                    <a:p>
                      <a:r>
                        <a:rPr lang="en-GB" sz="900" u="none" dirty="0">
                          <a:solidFill>
                            <a:schemeClr val="bg1"/>
                          </a:solidFill>
                        </a:rPr>
                        <a:t>Marketing</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A3A1"/>
                    </a:solidFill>
                  </a:tcPr>
                </a:tc>
                <a:tc>
                  <a:txBody>
                    <a:bodyPr/>
                    <a:lstStyle/>
                    <a:p>
                      <a:pPr marL="0" algn="l" defTabSz="43200" rtl="0" eaLnBrk="1" latinLnBrk="0" hangingPunct="1"/>
                      <a:r>
                        <a:rPr lang="en-GB" sz="800" u="none" kern="1200" dirty="0">
                          <a:solidFill>
                            <a:schemeClr val="tx1"/>
                          </a:solidFill>
                          <a:latin typeface="+mn-lt"/>
                          <a:ea typeface="+mn-ea"/>
                          <a:cs typeface="+mn-cs"/>
                        </a:rPr>
                        <a:t>Variable – Marketing costs largely relate to digital media and the costs associated with acquiring customers online through PPC, in addition to the cost of producing and posting brochures to </a:t>
                      </a:r>
                      <a:r>
                        <a:rPr lang="en-GB" sz="800" u="none" kern="1200" dirty="0" err="1">
                          <a:solidFill>
                            <a:schemeClr val="tx1"/>
                          </a:solidFill>
                          <a:latin typeface="+mn-lt"/>
                          <a:ea typeface="+mn-ea"/>
                          <a:cs typeface="+mn-cs"/>
                        </a:rPr>
                        <a:t>yy</a:t>
                      </a:r>
                      <a:r>
                        <a:rPr lang="en-GB" sz="800" u="none" kern="1200" dirty="0">
                          <a:solidFill>
                            <a:schemeClr val="tx1"/>
                          </a:solidFill>
                          <a:latin typeface="+mn-lt"/>
                          <a:ea typeface="+mn-ea"/>
                          <a:cs typeface="+mn-cs"/>
                        </a:rPr>
                        <a:t> and </a:t>
                      </a:r>
                      <a:r>
                        <a:rPr lang="en-GB" sz="800" u="none" kern="1200" dirty="0" err="1">
                          <a:solidFill>
                            <a:schemeClr val="tx1"/>
                          </a:solidFill>
                          <a:latin typeface="+mn-lt"/>
                          <a:ea typeface="+mn-ea"/>
                          <a:cs typeface="+mn-cs"/>
                        </a:rPr>
                        <a:t>yy</a:t>
                      </a:r>
                      <a:r>
                        <a:rPr lang="en-GB" sz="800" u="none" kern="1200" dirty="0">
                          <a:solidFill>
                            <a:schemeClr val="tx1"/>
                          </a:solidFill>
                          <a:latin typeface="+mn-lt"/>
                          <a:ea typeface="+mn-ea"/>
                          <a:cs typeface="+mn-cs"/>
                        </a:rPr>
                        <a:t> customers. Marketing also includes public relations costs.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606459"/>
                  </a:ext>
                </a:extLst>
              </a:tr>
              <a:tr h="133810">
                <a:tc>
                  <a:txBody>
                    <a:bodyPr/>
                    <a:lstStyle/>
                    <a:p>
                      <a:r>
                        <a:rPr lang="en-GB" sz="900" u="none" dirty="0">
                          <a:solidFill>
                            <a:schemeClr val="bg1"/>
                          </a:solidFill>
                        </a:rPr>
                        <a:t>Staff costs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8E7E"/>
                    </a:solidFill>
                  </a:tcPr>
                </a:tc>
                <a:tc>
                  <a:txBody>
                    <a:bodyPr/>
                    <a:lstStyle/>
                    <a:p>
                      <a:r>
                        <a:rPr lang="en-GB" sz="800" u="none" dirty="0"/>
                        <a:t>Fixed – Staff costs includes the salaries and associated payroll costs and benefits for head office employees. This also includes third party freelancers are used for roles impacted by seasonality, such as designers.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4427274"/>
                  </a:ext>
                </a:extLst>
              </a:tr>
              <a:tr h="179153">
                <a:tc>
                  <a:txBody>
                    <a:bodyPr/>
                    <a:lstStyle/>
                    <a:p>
                      <a:r>
                        <a:rPr lang="en-GB" sz="900" u="none" dirty="0">
                          <a:solidFill>
                            <a:schemeClr val="bg1"/>
                          </a:solidFill>
                        </a:rPr>
                        <a:t>Photography</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r>
                        <a:rPr lang="en-GB" sz="800" u="none" dirty="0"/>
                        <a:t>Fixed – Photography costs are inclusive of all costs relating to photoshoots such as models, stylists, and licences for using the imagery on websites and in brochures.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2118897"/>
                  </a:ext>
                </a:extLst>
              </a:tr>
              <a:tr h="281259">
                <a:tc>
                  <a:txBody>
                    <a:bodyPr/>
                    <a:lstStyle/>
                    <a:p>
                      <a:r>
                        <a:rPr lang="en-GB" sz="900" u="none" dirty="0">
                          <a:solidFill>
                            <a:schemeClr val="bg1"/>
                          </a:solidFill>
                        </a:rPr>
                        <a:t>IT</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en-GB" sz="800" u="none"/>
                        <a:t>Fixed – Predominantly relates to license fees for Magento (E-commerce platform) and Optimove (CRM) as well as other general software licenses and support.</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011138"/>
                  </a:ext>
                </a:extLst>
              </a:tr>
              <a:tr h="228600">
                <a:tc>
                  <a:txBody>
                    <a:bodyPr/>
                    <a:lstStyle/>
                    <a:p>
                      <a:r>
                        <a:rPr lang="en-GB" sz="900" u="none" dirty="0">
                          <a:solidFill>
                            <a:schemeClr val="bg1"/>
                          </a:solidFill>
                        </a:rPr>
                        <a:t>General</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GB" sz="800" u="none" dirty="0"/>
                        <a:t>Fixed – Predominantly relates to Freight B fees for shipping samples and fabrics between head office and international suppliers as well as recruitment costs (since FY21), subscriptions and general office expenses.</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175067"/>
                  </a:ext>
                </a:extLst>
              </a:tr>
              <a:tr h="131713">
                <a:tc>
                  <a:txBody>
                    <a:bodyPr/>
                    <a:lstStyle/>
                    <a:p>
                      <a:r>
                        <a:rPr lang="en-GB" sz="900" u="none" dirty="0">
                          <a:solidFill>
                            <a:schemeClr val="bg1"/>
                          </a:solidFill>
                        </a:rPr>
                        <a:t>Head office occupancy</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r>
                        <a:rPr lang="en-GB" sz="800" u="none" dirty="0"/>
                        <a:t>Fixed – Relates to the rent and rates at the head office, plus associated costs such as utilities and maintenance.</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5849650"/>
                  </a:ext>
                </a:extLst>
              </a:tr>
              <a:tr h="144143">
                <a:tc>
                  <a:txBody>
                    <a:bodyPr/>
                    <a:lstStyle/>
                    <a:p>
                      <a:r>
                        <a:rPr lang="en-GB" sz="900" u="none" dirty="0">
                          <a:solidFill>
                            <a:schemeClr val="bg1"/>
                          </a:solidFill>
                        </a:rPr>
                        <a:t>Travel and entertainment</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r>
                        <a:rPr lang="en-GB" sz="800" u="none" dirty="0"/>
                        <a:t>Fixed – Travel and entertainment costs predominantly relate to international and </a:t>
                      </a:r>
                      <a:r>
                        <a:rPr lang="en-GB" sz="800" u="none" dirty="0" err="1"/>
                        <a:t>yy</a:t>
                      </a:r>
                      <a:r>
                        <a:rPr lang="en-GB" sz="800" u="none" dirty="0"/>
                        <a:t> travel, but also includes staff entertaining costs such as costs associated with the Christmas Party.</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97744"/>
                  </a:ext>
                </a:extLst>
              </a:tr>
              <a:tr h="123654">
                <a:tc>
                  <a:txBody>
                    <a:bodyPr/>
                    <a:lstStyle/>
                    <a:p>
                      <a:r>
                        <a:rPr lang="en-GB" sz="900" u="none" dirty="0">
                          <a:solidFill>
                            <a:schemeClr val="bg1"/>
                          </a:solidFill>
                        </a:rPr>
                        <a:t>Professional</a:t>
                      </a:r>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r>
                        <a:rPr lang="en-GB" sz="800" u="none" dirty="0"/>
                        <a:t>Fixed – </a:t>
                      </a:r>
                      <a:r>
                        <a:rPr lang="en-GB" sz="800" u="none" dirty="0">
                          <a:solidFill>
                            <a:schemeClr val="tx1"/>
                          </a:solidFill>
                        </a:rPr>
                        <a:t>Professional costs largely relate to legal fees, audit fees, advisory fees and insurance renewal fees.</a:t>
                      </a:r>
                      <a:endParaRPr lang="en-GB" sz="800" u="none" dirty="0"/>
                    </a:p>
                  </a:txBody>
                  <a:tcPr>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2952712"/>
                  </a:ext>
                </a:extLst>
              </a:tr>
            </a:tbl>
          </a:graphicData>
        </a:graphic>
      </p:graphicFrame>
      <p:sp>
        <p:nvSpPr>
          <p:cNvPr id="16" name="UpSlide SubSection Marker" hidden="1">
            <a:extLst>
              <a:ext uri="{FF2B5EF4-FFF2-40B4-BE49-F238E27FC236}">
                <a16:creationId xmlns:a16="http://schemas.microsoft.com/office/drawing/2014/main" id="{0BDEDDCB-9999-4F57-AC5E-DDCF07610F65}"/>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Cost base overview</a:t>
            </a:r>
            <a:endParaRPr lang="en-GB" sz="900" dirty="0">
              <a:solidFill>
                <a:schemeClr val="bg1"/>
              </a:solidFill>
            </a:endParaRPr>
          </a:p>
        </p:txBody>
      </p:sp>
      <p:grpSp>
        <p:nvGrpSpPr>
          <p:cNvPr id="42" name="Group 41">
            <a:extLst>
              <a:ext uri="{FF2B5EF4-FFF2-40B4-BE49-F238E27FC236}">
                <a16:creationId xmlns:a16="http://schemas.microsoft.com/office/drawing/2014/main" id="{6053D987-536A-4F5C-A091-BF2D8B3453A5}"/>
              </a:ext>
            </a:extLst>
          </p:cNvPr>
          <p:cNvGrpSpPr/>
          <p:nvPr>
            <p:custDataLst>
              <p:tags r:id="rId5"/>
            </p:custDataLst>
          </p:nvPr>
        </p:nvGrpSpPr>
        <p:grpSpPr>
          <a:xfrm>
            <a:off x="995364" y="153170"/>
            <a:ext cx="6253254" cy="195814"/>
            <a:chOff x="995364" y="153170"/>
            <a:chExt cx="6253254" cy="195814"/>
          </a:xfrm>
        </p:grpSpPr>
        <p:sp>
          <p:nvSpPr>
            <p:cNvPr id="4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9"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99720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hlinkClick r:id="rId18" action="ppaction://hlinksldjump"/>
            <a:extLst>
              <a:ext uri="{FF2B5EF4-FFF2-40B4-BE49-F238E27FC236}">
                <a16:creationId xmlns:a16="http://schemas.microsoft.com/office/drawing/2014/main" id="{1BAF2178-1230-4171-A09D-D0F8827E1EBB}"/>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Forecast trading</a:t>
            </a:r>
          </a:p>
        </p:txBody>
      </p:sp>
      <p:sp>
        <p:nvSpPr>
          <p:cNvPr id="20" name="TextBox 19">
            <a:hlinkClick r:id="rId19" action="ppaction://hlinksldjump"/>
            <a:extLst>
              <a:ext uri="{FF2B5EF4-FFF2-40B4-BE49-F238E27FC236}">
                <a16:creationId xmlns:a16="http://schemas.microsoft.com/office/drawing/2014/main" id="{6CF87F8E-6FF9-4F7D-A70B-91176FA9E928}"/>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Current trading and run rate</a:t>
            </a:r>
          </a:p>
        </p:txBody>
      </p:sp>
      <p:sp>
        <p:nvSpPr>
          <p:cNvPr id="21" name="TextBox 20">
            <a:hlinkClick r:id="rId20" action="ppaction://hlinksldjump"/>
            <a:extLst>
              <a:ext uri="{FF2B5EF4-FFF2-40B4-BE49-F238E27FC236}">
                <a16:creationId xmlns:a16="http://schemas.microsoft.com/office/drawing/2014/main" id="{912A9CB5-8554-45FA-A889-A0519EF794E8}"/>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Historical budgeting accuracy</a:t>
            </a:r>
          </a:p>
        </p:txBody>
      </p:sp>
      <p:sp>
        <p:nvSpPr>
          <p:cNvPr id="22" name="TextBox 21">
            <a:hlinkClick r:id="rId21" action="ppaction://hlinksldjump"/>
            <a:extLst>
              <a:ext uri="{FF2B5EF4-FFF2-40B4-BE49-F238E27FC236}">
                <a16:creationId xmlns:a16="http://schemas.microsoft.com/office/drawing/2014/main" id="{E7C2FBDE-475A-41C5-81F5-B2A39AD60968}"/>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Forecast revenue and EBITDA bridge</a:t>
            </a:r>
          </a:p>
        </p:txBody>
      </p:sp>
      <p:sp>
        <p:nvSpPr>
          <p:cNvPr id="23" name="TextBox 22">
            <a:hlinkClick r:id="rId22" action="ppaction://hlinksldjump"/>
            <a:extLst>
              <a:ext uri="{FF2B5EF4-FFF2-40B4-BE49-F238E27FC236}">
                <a16:creationId xmlns:a16="http://schemas.microsoft.com/office/drawing/2014/main" id="{0F4E5563-515A-474E-B71C-3C213C3E7EC1}"/>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Upsides and sensitivities</a:t>
            </a:r>
          </a:p>
        </p:txBody>
      </p:sp>
      <p:sp>
        <p:nvSpPr>
          <p:cNvPr id="24" name="TextBox 23">
            <a:hlinkClick r:id="rId18" action="ppaction://hlinksldjump"/>
            <a:extLst>
              <a:ext uri="{FF2B5EF4-FFF2-40B4-BE49-F238E27FC236}">
                <a16:creationId xmlns:a16="http://schemas.microsoft.com/office/drawing/2014/main" id="{E1F7D643-1221-4ECE-8BAA-B011727DEA5B}"/>
              </a:ext>
            </a:extLst>
          </p:cNvPr>
          <p:cNvSpPr txBox="1"/>
          <p:nvPr>
            <p:custDataLst>
              <p:tags r:id="rId7"/>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3.</a:t>
            </a:r>
          </a:p>
        </p:txBody>
      </p:sp>
      <p:sp>
        <p:nvSpPr>
          <p:cNvPr id="25" name="TextBox 24">
            <a:hlinkClick r:id="rId18" action="ppaction://hlinksldjump"/>
            <a:extLst>
              <a:ext uri="{FF2B5EF4-FFF2-40B4-BE49-F238E27FC236}">
                <a16:creationId xmlns:a16="http://schemas.microsoft.com/office/drawing/2014/main" id="{735F77EE-E95C-4090-909A-FB31DAAC6F05}"/>
              </a:ext>
            </a:extLst>
          </p:cNvPr>
          <p:cNvSpPr txBox="1"/>
          <p:nvPr>
            <p:custDataLst>
              <p:tags r:id="rId8"/>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43</a:t>
            </a:r>
          </a:p>
        </p:txBody>
      </p:sp>
      <p:sp>
        <p:nvSpPr>
          <p:cNvPr id="26" name="TextBox 25">
            <a:hlinkClick r:id="rId19" action="ppaction://hlinksldjump"/>
            <a:extLst>
              <a:ext uri="{FF2B5EF4-FFF2-40B4-BE49-F238E27FC236}">
                <a16:creationId xmlns:a16="http://schemas.microsoft.com/office/drawing/2014/main" id="{29B0E7CA-4645-4942-9EFB-45161C3D043C}"/>
              </a:ext>
            </a:extLst>
          </p:cNvPr>
          <p:cNvSpPr txBox="1"/>
          <p:nvPr>
            <p:custDataLst>
              <p:tags r:id="rId9"/>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3.1</a:t>
            </a:r>
          </a:p>
        </p:txBody>
      </p:sp>
      <p:sp>
        <p:nvSpPr>
          <p:cNvPr id="27" name="TextBox 26">
            <a:hlinkClick r:id="rId20" action="ppaction://hlinksldjump"/>
            <a:extLst>
              <a:ext uri="{FF2B5EF4-FFF2-40B4-BE49-F238E27FC236}">
                <a16:creationId xmlns:a16="http://schemas.microsoft.com/office/drawing/2014/main" id="{400207CF-748D-47C9-ADA0-F7FC8955DBF6}"/>
              </a:ext>
            </a:extLst>
          </p:cNvPr>
          <p:cNvSpPr txBox="1"/>
          <p:nvPr>
            <p:custDataLst>
              <p:tags r:id="rId10"/>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3.2</a:t>
            </a:r>
          </a:p>
        </p:txBody>
      </p:sp>
      <p:sp>
        <p:nvSpPr>
          <p:cNvPr id="28" name="TextBox 27">
            <a:hlinkClick r:id="rId21" action="ppaction://hlinksldjump"/>
            <a:extLst>
              <a:ext uri="{FF2B5EF4-FFF2-40B4-BE49-F238E27FC236}">
                <a16:creationId xmlns:a16="http://schemas.microsoft.com/office/drawing/2014/main" id="{FFF24154-36DF-4F06-A997-905710977518}"/>
              </a:ext>
            </a:extLst>
          </p:cNvPr>
          <p:cNvSpPr txBox="1"/>
          <p:nvPr>
            <p:custDataLst>
              <p:tags r:id="rId11"/>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3.3</a:t>
            </a:r>
          </a:p>
        </p:txBody>
      </p:sp>
      <p:sp>
        <p:nvSpPr>
          <p:cNvPr id="29" name="TextBox 28">
            <a:hlinkClick r:id="rId22" action="ppaction://hlinksldjump"/>
            <a:extLst>
              <a:ext uri="{FF2B5EF4-FFF2-40B4-BE49-F238E27FC236}">
                <a16:creationId xmlns:a16="http://schemas.microsoft.com/office/drawing/2014/main" id="{27780A5E-F609-4AFA-B7C4-0B047F877832}"/>
              </a:ext>
            </a:extLst>
          </p:cNvPr>
          <p:cNvSpPr txBox="1"/>
          <p:nvPr>
            <p:custDataLst>
              <p:tags r:id="rId12"/>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3.4</a:t>
            </a:r>
          </a:p>
        </p:txBody>
      </p:sp>
      <p:sp>
        <p:nvSpPr>
          <p:cNvPr id="30" name="TextBox 29">
            <a:hlinkClick r:id="rId19" action="ppaction://hlinksldjump"/>
            <a:extLst>
              <a:ext uri="{FF2B5EF4-FFF2-40B4-BE49-F238E27FC236}">
                <a16:creationId xmlns:a16="http://schemas.microsoft.com/office/drawing/2014/main" id="{9873FA77-00E9-4D93-816C-4154B5F367B5}"/>
              </a:ext>
            </a:extLst>
          </p:cNvPr>
          <p:cNvSpPr txBox="1"/>
          <p:nvPr>
            <p:custDataLst>
              <p:tags r:id="rId13"/>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44</a:t>
            </a:r>
          </a:p>
        </p:txBody>
      </p:sp>
      <p:sp>
        <p:nvSpPr>
          <p:cNvPr id="31" name="TextBox 30">
            <a:hlinkClick r:id="rId20" action="ppaction://hlinksldjump"/>
            <a:extLst>
              <a:ext uri="{FF2B5EF4-FFF2-40B4-BE49-F238E27FC236}">
                <a16:creationId xmlns:a16="http://schemas.microsoft.com/office/drawing/2014/main" id="{FB22E09C-93F8-486A-B864-BD07E4BBE7C3}"/>
              </a:ext>
            </a:extLst>
          </p:cNvPr>
          <p:cNvSpPr txBox="1"/>
          <p:nvPr>
            <p:custDataLst>
              <p:tags r:id="rId14"/>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45</a:t>
            </a:r>
          </a:p>
        </p:txBody>
      </p:sp>
      <p:sp>
        <p:nvSpPr>
          <p:cNvPr id="32" name="TextBox 31">
            <a:hlinkClick r:id="rId21" action="ppaction://hlinksldjump"/>
            <a:extLst>
              <a:ext uri="{FF2B5EF4-FFF2-40B4-BE49-F238E27FC236}">
                <a16:creationId xmlns:a16="http://schemas.microsoft.com/office/drawing/2014/main" id="{2DE4883C-D256-4F99-985C-750AFEA1663A}"/>
              </a:ext>
            </a:extLst>
          </p:cNvPr>
          <p:cNvSpPr txBox="1"/>
          <p:nvPr>
            <p:custDataLst>
              <p:tags r:id="rId15"/>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46</a:t>
            </a:r>
          </a:p>
        </p:txBody>
      </p:sp>
      <p:sp>
        <p:nvSpPr>
          <p:cNvPr id="33" name="TextBox 32">
            <a:hlinkClick r:id="rId22" action="ppaction://hlinksldjump"/>
            <a:extLst>
              <a:ext uri="{FF2B5EF4-FFF2-40B4-BE49-F238E27FC236}">
                <a16:creationId xmlns:a16="http://schemas.microsoft.com/office/drawing/2014/main" id="{42D82A8E-DDC8-4FEC-B7FC-04E9113F4502}"/>
              </a:ext>
            </a:extLst>
          </p:cNvPr>
          <p:cNvSpPr txBox="1"/>
          <p:nvPr>
            <p:custDataLst>
              <p:tags r:id="rId16"/>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48</a:t>
            </a:r>
          </a:p>
        </p:txBody>
      </p:sp>
    </p:spTree>
    <p:custDataLst>
      <p:tags r:id="rId1"/>
    </p:custDataLst>
    <p:extLst>
      <p:ext uri="{BB962C8B-B14F-4D97-AF65-F5344CB8AC3E}">
        <p14:creationId xmlns:p14="http://schemas.microsoft.com/office/powerpoint/2010/main" val="4101780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20" imgW="395" imgH="394" progId="TCLayout.ActiveDocument.1">
                  <p:embed/>
                </p:oleObj>
              </mc:Choice>
              <mc:Fallback>
                <p:oleObj name="think-cell Slide" r:id="rId20"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21"/>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a:t>Current trading and run rate</a:t>
            </a:r>
          </a:p>
        </p:txBody>
      </p:sp>
      <p:sp>
        <p:nvSpPr>
          <p:cNvPr id="4" name="Text Placeholder 3">
            <a:extLst>
              <a:ext uri="{FF2B5EF4-FFF2-40B4-BE49-F238E27FC236}">
                <a16:creationId xmlns:a16="http://schemas.microsoft.com/office/drawing/2014/main" id="{3AAA71BA-201F-493F-9CC5-2C1B8A3B441A}"/>
              </a:ext>
            </a:extLst>
          </p:cNvPr>
          <p:cNvSpPr>
            <a:spLocks noGrp="1"/>
          </p:cNvSpPr>
          <p:nvPr>
            <p:ph type="body" sz="quarter" idx="10"/>
          </p:nvPr>
        </p:nvSpPr>
        <p:spPr>
          <a:xfrm>
            <a:off x="995361" y="1340768"/>
            <a:ext cx="7720452" cy="460800"/>
          </a:xfrm>
        </p:spPr>
        <p:txBody>
          <a:bodyPr/>
          <a:lstStyle/>
          <a:p>
            <a:pPr>
              <a:lnSpc>
                <a:spcPct val="90000"/>
              </a:lnSpc>
              <a:spcAft>
                <a:spcPts val="400"/>
              </a:spcAft>
            </a:pPr>
            <a:r>
              <a:rPr lang="en-GB" sz="1000" dirty="0"/>
              <a:t>Y has performed strongly in YTD22, significantly outperforming YTD21 and YTD22 budget performance at both a revenue and EBITDA level. The contribution margin also improved driven by high demand reducing the requirement to discount as well as additional warehouse efficiencies. The overhead cost base has been effectively leveraged, generating EBITDA of £6.0 million in YTD22.</a:t>
            </a:r>
          </a:p>
          <a:p>
            <a:endParaRPr lang="en-GB" sz="1000" dirty="0"/>
          </a:p>
          <a:p>
            <a:endParaRPr lang="en-GB" dirty="0"/>
          </a:p>
        </p:txBody>
      </p:sp>
      <p:sp>
        <p:nvSpPr>
          <p:cNvPr id="2" name="Text Placeholder 12">
            <a:extLst>
              <a:ext uri="{FF2B5EF4-FFF2-40B4-BE49-F238E27FC236}">
                <a16:creationId xmlns:a16="http://schemas.microsoft.com/office/drawing/2014/main" id="{69BA13A6-522D-6E3B-F833-59FBD9E7313A}"/>
              </a:ext>
            </a:extLst>
          </p:cNvPr>
          <p:cNvSpPr txBox="1">
            <a:spLocks/>
          </p:cNvSpPr>
          <p:nvPr/>
        </p:nvSpPr>
        <p:spPr>
          <a:xfrm>
            <a:off x="998396" y="5419230"/>
            <a:ext cx="506865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P-L January 2019, P-L January 2020, P-L January 2021, P-L September 2021 , P-L September 2021 </a:t>
            </a:r>
            <a:endParaRPr lang="en-US" sz="600" b="0" dirty="0">
              <a:solidFill>
                <a:schemeClr val="tx2"/>
              </a:solidFill>
              <a:latin typeface="Arial" panose="020B0604020202020204" pitchFamily="34" charset="0"/>
            </a:endParaRPr>
          </a:p>
        </p:txBody>
      </p:sp>
      <p:sp>
        <p:nvSpPr>
          <p:cNvPr id="6" name="Text Placeholder 7">
            <a:extLst>
              <a:ext uri="{FF2B5EF4-FFF2-40B4-BE49-F238E27FC236}">
                <a16:creationId xmlns:a16="http://schemas.microsoft.com/office/drawing/2014/main" id="{EC30CEBE-202F-3312-AE18-0938BDAAC4AB}"/>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8" name="Text Placeholder 12">
            <a:extLst>
              <a:ext uri="{FF2B5EF4-FFF2-40B4-BE49-F238E27FC236}">
                <a16:creationId xmlns:a16="http://schemas.microsoft.com/office/drawing/2014/main" id="{ADE0D163-19C3-95AE-3C7A-DC15C3C77315}"/>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9" name="Rounded Rectangle 7">
            <a:extLst>
              <a:ext uri="{FF2B5EF4-FFF2-40B4-BE49-F238E27FC236}">
                <a16:creationId xmlns:a16="http://schemas.microsoft.com/office/drawing/2014/main" id="{CCEC0109-CFFC-1767-4164-6D1627B6C849}"/>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0" name="Rectangle 19">
            <a:extLst>
              <a:ext uri="{FF2B5EF4-FFF2-40B4-BE49-F238E27FC236}">
                <a16:creationId xmlns:a16="http://schemas.microsoft.com/office/drawing/2014/main" id="{C70F53DF-28E9-54D6-B58D-C4A5D69E411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8" name="Straight Arrow Connector 27">
            <a:extLst>
              <a:ext uri="{FF2B5EF4-FFF2-40B4-BE49-F238E27FC236}">
                <a16:creationId xmlns:a16="http://schemas.microsoft.com/office/drawing/2014/main" id="{725AB248-7025-5EF2-BD4B-C6FAE8519414}"/>
              </a:ext>
            </a:extLst>
          </p:cNvPr>
          <p:cNvCxnSpPr>
            <a:cxnSpLocks/>
            <a:stCxn id="20" idx="2"/>
            <a:endCxn id="1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A034DEB1-C1C2-415D-87FB-4B17A669B8B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9" name="Rectangle 68">
            <a:extLst>
              <a:ext uri="{FF2B5EF4-FFF2-40B4-BE49-F238E27FC236}">
                <a16:creationId xmlns:a16="http://schemas.microsoft.com/office/drawing/2014/main" id="{67BE7144-1079-4F05-A635-00039974A6F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0" name="Rectangle 69">
            <a:extLst>
              <a:ext uri="{FF2B5EF4-FFF2-40B4-BE49-F238E27FC236}">
                <a16:creationId xmlns:a16="http://schemas.microsoft.com/office/drawing/2014/main" id="{220FB71F-9ED1-4F62-9368-ACA7AF005E63}"/>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71" name="Rectangle 70">
            <a:extLst>
              <a:ext uri="{FF2B5EF4-FFF2-40B4-BE49-F238E27FC236}">
                <a16:creationId xmlns:a16="http://schemas.microsoft.com/office/drawing/2014/main" id="{6F7563E6-9955-4AF6-A8B3-CFD3C44879B0}"/>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72" name="Rectangle 71">
            <a:extLst>
              <a:ext uri="{FF2B5EF4-FFF2-40B4-BE49-F238E27FC236}">
                <a16:creationId xmlns:a16="http://schemas.microsoft.com/office/drawing/2014/main" id="{1101EC5D-80B7-4924-829F-637458D3BEC9}"/>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73" name="Rectangle 72">
            <a:extLst>
              <a:ext uri="{FF2B5EF4-FFF2-40B4-BE49-F238E27FC236}">
                <a16:creationId xmlns:a16="http://schemas.microsoft.com/office/drawing/2014/main" id="{0EC2AE80-83FA-4CCD-835A-F4C37A75A3EE}"/>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4" name="Rectangle 73">
            <a:extLst>
              <a:ext uri="{FF2B5EF4-FFF2-40B4-BE49-F238E27FC236}">
                <a16:creationId xmlns:a16="http://schemas.microsoft.com/office/drawing/2014/main" id="{B5A59C34-6658-4178-8FEB-A9E66327CD62}"/>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5" name="Rectangle 74">
            <a:extLst>
              <a:ext uri="{FF2B5EF4-FFF2-40B4-BE49-F238E27FC236}">
                <a16:creationId xmlns:a16="http://schemas.microsoft.com/office/drawing/2014/main" id="{7048EB9C-9CE3-4F7F-AC41-0B5F6ADCF60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6" name="Rectangle 75">
            <a:extLst>
              <a:ext uri="{FF2B5EF4-FFF2-40B4-BE49-F238E27FC236}">
                <a16:creationId xmlns:a16="http://schemas.microsoft.com/office/drawing/2014/main" id="{47B4974A-C2CA-4A0F-B5EA-535BE885874B}"/>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3" name="Picture 2">
            <a:extLst>
              <a:ext uri="{FF2B5EF4-FFF2-40B4-BE49-F238E27FC236}">
                <a16:creationId xmlns:a16="http://schemas.microsoft.com/office/drawing/2014/main" id="{03F4E915-860F-4044-8698-20970B33983B}"/>
              </a:ext>
            </a:extLst>
          </p:cNvPr>
          <p:cNvPicPr>
            <a:picLocks noChangeAspect="1"/>
          </p:cNvPicPr>
          <p:nvPr>
            <p:custDataLst>
              <p:tags r:id="rId3"/>
            </p:custDataLst>
          </p:nvPr>
        </p:nvPicPr>
        <p:blipFill>
          <a:blip r:embed="rId22"/>
          <a:stretch>
            <a:fillRect/>
          </a:stretch>
        </p:blipFill>
        <p:spPr>
          <a:xfrm>
            <a:off x="995361" y="1911597"/>
            <a:ext cx="5038725" cy="3671820"/>
          </a:xfrm>
          <a:prstGeom prst="rect">
            <a:avLst/>
          </a:prstGeom>
        </p:spPr>
      </p:pic>
      <p:pic>
        <p:nvPicPr>
          <p:cNvPr id="50" name="Picture 49">
            <a:extLst>
              <a:ext uri="{FF2B5EF4-FFF2-40B4-BE49-F238E27FC236}">
                <a16:creationId xmlns:a16="http://schemas.microsoft.com/office/drawing/2014/main" id="{20289F7C-D87E-4E90-A211-620BDD3E7918}"/>
              </a:ext>
            </a:extLst>
          </p:cNvPr>
          <p:cNvPicPr>
            <a:picLocks noChangeAspect="1"/>
          </p:cNvPicPr>
          <p:nvPr>
            <p:custDataLst>
              <p:tags r:id="rId4"/>
            </p:custDataLst>
          </p:nvPr>
        </p:nvPicPr>
        <p:blipFill>
          <a:blip r:embed="rId23"/>
          <a:stretch>
            <a:fillRect/>
          </a:stretch>
        </p:blipFill>
        <p:spPr>
          <a:xfrm>
            <a:off x="8735907" y="382990"/>
            <a:ext cx="2457693" cy="1529673"/>
          </a:xfrm>
          <a:prstGeom prst="rect">
            <a:avLst/>
          </a:prstGeom>
        </p:spPr>
      </p:pic>
      <p:sp>
        <p:nvSpPr>
          <p:cNvPr id="80" name="Rectangle 4">
            <a:extLst>
              <a:ext uri="{FF2B5EF4-FFF2-40B4-BE49-F238E27FC236}">
                <a16:creationId xmlns:a16="http://schemas.microsoft.com/office/drawing/2014/main" id="{F9AD48A3-CF6E-4693-822C-6E0BD58165DC}"/>
              </a:ext>
            </a:extLst>
          </p:cNvPr>
          <p:cNvSpPr>
            <a:spLocks noChangeArrowheads="1"/>
          </p:cNvSpPr>
          <p:nvPr>
            <p:custDataLst>
              <p:tags r:id="rId5"/>
            </p:custDataLst>
          </p:nvPr>
        </p:nvSpPr>
        <p:spPr bwMode="auto">
          <a:xfrm>
            <a:off x="9199537" y="2108472"/>
            <a:ext cx="1980000" cy="1066455"/>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YTD22 overheads were budgeted to be significantly higher than YTD21 to facilitate higher sales.</a:t>
            </a:r>
          </a:p>
          <a:p>
            <a:pPr algn="ctr" defTabSz="762000" eaLnBrk="0" hangingPunct="0">
              <a:lnSpc>
                <a:spcPct val="90000"/>
              </a:lnSpc>
              <a:spcBef>
                <a:spcPts val="300"/>
              </a:spcBef>
            </a:pPr>
            <a:r>
              <a:rPr lang="en-GB" sz="700" dirty="0"/>
              <a:t>YTD22 overheads were higher than budget due to customer costs (£0.4 million) to drive online sales, staff costs (£0.1 million) to facilitate increased sales and general costs (£0.1 million) pertaining to higher than expected recruitment and sample postage costs. </a:t>
            </a:r>
          </a:p>
        </p:txBody>
      </p:sp>
      <p:sp>
        <p:nvSpPr>
          <p:cNvPr id="81" name="Rectangle 4">
            <a:extLst>
              <a:ext uri="{FF2B5EF4-FFF2-40B4-BE49-F238E27FC236}">
                <a16:creationId xmlns:a16="http://schemas.microsoft.com/office/drawing/2014/main" id="{185DAA7C-D6FC-45C8-B838-EE8BDF01F996}"/>
              </a:ext>
            </a:extLst>
          </p:cNvPr>
          <p:cNvSpPr>
            <a:spLocks noChangeArrowheads="1"/>
          </p:cNvSpPr>
          <p:nvPr>
            <p:custDataLst>
              <p:tags r:id="rId6"/>
            </p:custDataLst>
          </p:nvPr>
        </p:nvSpPr>
        <p:spPr bwMode="auto">
          <a:xfrm>
            <a:off x="9199537" y="3357623"/>
            <a:ext cx="1980000" cy="1440000"/>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YTD22 budget EBITDA was assumed to be low, in line with historical seasonality. Prior to FY22, YTD EBITDA is typically negative, particularly in February and August, due to a low gross profit margin driven by high return rates and the end of season sales in August. Sales are also typically at their lowest in February, March and August prior to the launch of the SS and AW ranges in April and October respectively.</a:t>
            </a:r>
          </a:p>
          <a:p>
            <a:pPr algn="ctr" defTabSz="762000" eaLnBrk="0" hangingPunct="0">
              <a:lnSpc>
                <a:spcPct val="90000"/>
              </a:lnSpc>
              <a:spcBef>
                <a:spcPts val="300"/>
              </a:spcBef>
            </a:pPr>
            <a:r>
              <a:rPr lang="en-GB" sz="700" dirty="0"/>
              <a:t>This was not the case in YTD22 where high demand drove high sales and no requirement to discount.</a:t>
            </a:r>
          </a:p>
        </p:txBody>
      </p:sp>
      <p:sp>
        <p:nvSpPr>
          <p:cNvPr id="82" name="Rectangle 4">
            <a:extLst>
              <a:ext uri="{FF2B5EF4-FFF2-40B4-BE49-F238E27FC236}">
                <a16:creationId xmlns:a16="http://schemas.microsoft.com/office/drawing/2014/main" id="{55FC738F-F890-4FF6-AF12-F274E3EEA2D1}"/>
              </a:ext>
            </a:extLst>
          </p:cNvPr>
          <p:cNvSpPr>
            <a:spLocks noChangeArrowheads="1"/>
          </p:cNvSpPr>
          <p:nvPr>
            <p:custDataLst>
              <p:tags r:id="rId7"/>
            </p:custDataLst>
          </p:nvPr>
        </p:nvSpPr>
        <p:spPr bwMode="auto">
          <a:xfrm>
            <a:off x="9199537" y="4980319"/>
            <a:ext cx="1980000" cy="732149"/>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YTD22 gross profit margin is particularly high due to high sales demand reducing the requirement to discount. Management has assumed gross profit margin will reduce in the forecast period in line with trading conditions historically experienced.</a:t>
            </a:r>
          </a:p>
        </p:txBody>
      </p:sp>
      <p:sp>
        <p:nvSpPr>
          <p:cNvPr id="83" name="Rectangle 4">
            <a:extLst>
              <a:ext uri="{FF2B5EF4-FFF2-40B4-BE49-F238E27FC236}">
                <a16:creationId xmlns:a16="http://schemas.microsoft.com/office/drawing/2014/main" id="{9E122AE4-97C1-4BA0-AE19-1F2ADB767EC3}"/>
              </a:ext>
            </a:extLst>
          </p:cNvPr>
          <p:cNvSpPr>
            <a:spLocks noChangeArrowheads="1"/>
          </p:cNvSpPr>
          <p:nvPr>
            <p:custDataLst>
              <p:tags r:id="rId8"/>
            </p:custDataLst>
          </p:nvPr>
        </p:nvSpPr>
        <p:spPr bwMode="auto">
          <a:xfrm>
            <a:off x="6938138" y="3126850"/>
            <a:ext cx="1980000" cy="1268937"/>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Owing to uncertainty around the Covid-19 pandemic, Management were particularly cautious when budgeting retail sales for FY22. We note that the budget assumed non-essential retail reopened at the beginning of week 9 (i.e. start of April 2021) however stores actually reopened in week 11. </a:t>
            </a:r>
          </a:p>
          <a:p>
            <a:pPr algn="ctr" defTabSz="762000" eaLnBrk="0" hangingPunct="0">
              <a:lnSpc>
                <a:spcPct val="90000"/>
              </a:lnSpc>
              <a:spcBef>
                <a:spcPts val="300"/>
              </a:spcBef>
            </a:pPr>
            <a:r>
              <a:rPr lang="en-GB" sz="700" dirty="0"/>
              <a:t>Increased brand awareness and product range drove higher customer acquisition and increased existing customer purchases which also contributed to boutiques and concessions exceeding budget and prior year. </a:t>
            </a:r>
          </a:p>
        </p:txBody>
      </p:sp>
      <p:sp>
        <p:nvSpPr>
          <p:cNvPr id="84" name="Rectangle 4">
            <a:extLst>
              <a:ext uri="{FF2B5EF4-FFF2-40B4-BE49-F238E27FC236}">
                <a16:creationId xmlns:a16="http://schemas.microsoft.com/office/drawing/2014/main" id="{FC362995-4EF5-49B4-AA7C-ACDD43DFA012}"/>
              </a:ext>
            </a:extLst>
          </p:cNvPr>
          <p:cNvSpPr>
            <a:spLocks noChangeArrowheads="1"/>
          </p:cNvSpPr>
          <p:nvPr>
            <p:custDataLst>
              <p:tags r:id="rId9"/>
            </p:custDataLst>
          </p:nvPr>
        </p:nvSpPr>
        <p:spPr bwMode="auto">
          <a:xfrm>
            <a:off x="6938138" y="4750512"/>
            <a:ext cx="1980000" cy="961956"/>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Direct costs as a percentage of net revenue in YTD22 were 16.6% compared to a budgeted rate of 22.4% predominantly driven by significantly higher sales than budget leveraging the fixed elements of direct costs (e.g. staff and boutique occupancy costs) as well as an improved picking system and cost savings of changing 3PL provider to Logistics C.</a:t>
            </a:r>
          </a:p>
        </p:txBody>
      </p:sp>
      <p:sp>
        <p:nvSpPr>
          <p:cNvPr id="85" name="Rounded Rectangle 7">
            <a:extLst>
              <a:ext uri="{FF2B5EF4-FFF2-40B4-BE49-F238E27FC236}">
                <a16:creationId xmlns:a16="http://schemas.microsoft.com/office/drawing/2014/main" id="{C72F0B28-48B0-4208-A9BA-12FFCA8AC837}"/>
              </a:ext>
            </a:extLst>
          </p:cNvPr>
          <p:cNvSpPr/>
          <p:nvPr>
            <p:custDataLst>
              <p:tags r:id="rId10"/>
            </p:custDataLst>
          </p:nvPr>
        </p:nvSpPr>
        <p:spPr>
          <a:xfrm>
            <a:off x="3210369" y="2797520"/>
            <a:ext cx="2817862" cy="270475"/>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6" name="Rounded Rectangle 7">
            <a:extLst>
              <a:ext uri="{FF2B5EF4-FFF2-40B4-BE49-F238E27FC236}">
                <a16:creationId xmlns:a16="http://schemas.microsoft.com/office/drawing/2014/main" id="{27E1C674-9C39-4345-8244-EDD732790E57}"/>
              </a:ext>
            </a:extLst>
          </p:cNvPr>
          <p:cNvSpPr/>
          <p:nvPr>
            <p:custDataLst>
              <p:tags r:id="rId11"/>
            </p:custDataLst>
          </p:nvPr>
        </p:nvSpPr>
        <p:spPr>
          <a:xfrm>
            <a:off x="3216224" y="3548182"/>
            <a:ext cx="2817862" cy="155685"/>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7" name="Rounded Rectangle 7">
            <a:extLst>
              <a:ext uri="{FF2B5EF4-FFF2-40B4-BE49-F238E27FC236}">
                <a16:creationId xmlns:a16="http://schemas.microsoft.com/office/drawing/2014/main" id="{52E39598-5783-4566-8BD5-AA614EF155C5}"/>
              </a:ext>
            </a:extLst>
          </p:cNvPr>
          <p:cNvSpPr/>
          <p:nvPr>
            <p:custDataLst>
              <p:tags r:id="rId12"/>
            </p:custDataLst>
          </p:nvPr>
        </p:nvSpPr>
        <p:spPr>
          <a:xfrm>
            <a:off x="3216224" y="4012474"/>
            <a:ext cx="2817862" cy="469565"/>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8" name="Rounded Rectangle 7">
            <a:extLst>
              <a:ext uri="{FF2B5EF4-FFF2-40B4-BE49-F238E27FC236}">
                <a16:creationId xmlns:a16="http://schemas.microsoft.com/office/drawing/2014/main" id="{47F332FF-9C45-4EDE-800B-B10D416EDEBA}"/>
              </a:ext>
            </a:extLst>
          </p:cNvPr>
          <p:cNvSpPr/>
          <p:nvPr>
            <p:custDataLst>
              <p:tags r:id="rId13"/>
            </p:custDataLst>
          </p:nvPr>
        </p:nvSpPr>
        <p:spPr>
          <a:xfrm>
            <a:off x="4302328" y="5030660"/>
            <a:ext cx="375482" cy="179944"/>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9" name="Oval 88">
            <a:extLst>
              <a:ext uri="{FF2B5EF4-FFF2-40B4-BE49-F238E27FC236}">
                <a16:creationId xmlns:a16="http://schemas.microsoft.com/office/drawing/2014/main" id="{CD287772-3D56-4370-9B83-8C09EF4907EE}"/>
              </a:ext>
            </a:extLst>
          </p:cNvPr>
          <p:cNvSpPr/>
          <p:nvPr/>
        </p:nvSpPr>
        <p:spPr>
          <a:xfrm>
            <a:off x="6725439" y="2368298"/>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90" name="Oval 89">
            <a:extLst>
              <a:ext uri="{FF2B5EF4-FFF2-40B4-BE49-F238E27FC236}">
                <a16:creationId xmlns:a16="http://schemas.microsoft.com/office/drawing/2014/main" id="{4C8B30DA-0619-4A96-AE85-F4065CD09493}"/>
              </a:ext>
            </a:extLst>
          </p:cNvPr>
          <p:cNvSpPr/>
          <p:nvPr/>
        </p:nvSpPr>
        <p:spPr>
          <a:xfrm>
            <a:off x="6725439" y="3689318"/>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91" name="Oval 90">
            <a:extLst>
              <a:ext uri="{FF2B5EF4-FFF2-40B4-BE49-F238E27FC236}">
                <a16:creationId xmlns:a16="http://schemas.microsoft.com/office/drawing/2014/main" id="{05509AFE-31A6-4499-A619-FBF8BF1B2DF1}"/>
              </a:ext>
            </a:extLst>
          </p:cNvPr>
          <p:cNvSpPr/>
          <p:nvPr/>
        </p:nvSpPr>
        <p:spPr>
          <a:xfrm>
            <a:off x="6725439" y="515949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sp>
        <p:nvSpPr>
          <p:cNvPr id="92" name="Oval 91">
            <a:extLst>
              <a:ext uri="{FF2B5EF4-FFF2-40B4-BE49-F238E27FC236}">
                <a16:creationId xmlns:a16="http://schemas.microsoft.com/office/drawing/2014/main" id="{9D416599-5FFF-491D-A754-2D106A95064D}"/>
              </a:ext>
            </a:extLst>
          </p:cNvPr>
          <p:cNvSpPr/>
          <p:nvPr/>
        </p:nvSpPr>
        <p:spPr>
          <a:xfrm>
            <a:off x="9010889" y="2567971"/>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4</a:t>
            </a:r>
          </a:p>
        </p:txBody>
      </p:sp>
      <p:sp>
        <p:nvSpPr>
          <p:cNvPr id="93" name="Oval 92">
            <a:extLst>
              <a:ext uri="{FF2B5EF4-FFF2-40B4-BE49-F238E27FC236}">
                <a16:creationId xmlns:a16="http://schemas.microsoft.com/office/drawing/2014/main" id="{B6B49B92-F17A-4679-A647-618730BE8886}"/>
              </a:ext>
            </a:extLst>
          </p:cNvPr>
          <p:cNvSpPr/>
          <p:nvPr/>
        </p:nvSpPr>
        <p:spPr>
          <a:xfrm>
            <a:off x="9010889" y="400203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5</a:t>
            </a:r>
          </a:p>
        </p:txBody>
      </p:sp>
      <p:sp>
        <p:nvSpPr>
          <p:cNvPr id="94" name="Oval 93">
            <a:extLst>
              <a:ext uri="{FF2B5EF4-FFF2-40B4-BE49-F238E27FC236}">
                <a16:creationId xmlns:a16="http://schemas.microsoft.com/office/drawing/2014/main" id="{8CF2A5CB-CEC3-41E9-BA9F-28BB532CCBE5}"/>
              </a:ext>
            </a:extLst>
          </p:cNvPr>
          <p:cNvSpPr/>
          <p:nvPr/>
        </p:nvSpPr>
        <p:spPr>
          <a:xfrm>
            <a:off x="6067056" y="258170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95" name="Oval 94">
            <a:extLst>
              <a:ext uri="{FF2B5EF4-FFF2-40B4-BE49-F238E27FC236}">
                <a16:creationId xmlns:a16="http://schemas.microsoft.com/office/drawing/2014/main" id="{97CBD801-0C9E-4832-ABF0-AD4432AF75C7}"/>
              </a:ext>
            </a:extLst>
          </p:cNvPr>
          <p:cNvSpPr/>
          <p:nvPr/>
        </p:nvSpPr>
        <p:spPr>
          <a:xfrm>
            <a:off x="6067056" y="3548182"/>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sp>
        <p:nvSpPr>
          <p:cNvPr id="96" name="Oval 95">
            <a:extLst>
              <a:ext uri="{FF2B5EF4-FFF2-40B4-BE49-F238E27FC236}">
                <a16:creationId xmlns:a16="http://schemas.microsoft.com/office/drawing/2014/main" id="{AFC736BE-33CC-4212-863F-DA7C7F2B293E}"/>
              </a:ext>
            </a:extLst>
          </p:cNvPr>
          <p:cNvSpPr/>
          <p:nvPr/>
        </p:nvSpPr>
        <p:spPr>
          <a:xfrm>
            <a:off x="6067056" y="4139306"/>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4</a:t>
            </a:r>
          </a:p>
        </p:txBody>
      </p:sp>
      <p:sp>
        <p:nvSpPr>
          <p:cNvPr id="97" name="Oval 96">
            <a:extLst>
              <a:ext uri="{FF2B5EF4-FFF2-40B4-BE49-F238E27FC236}">
                <a16:creationId xmlns:a16="http://schemas.microsoft.com/office/drawing/2014/main" id="{5A31C51B-D8AC-4030-A422-6EE44902F6F3}"/>
              </a:ext>
            </a:extLst>
          </p:cNvPr>
          <p:cNvSpPr/>
          <p:nvPr/>
        </p:nvSpPr>
        <p:spPr>
          <a:xfrm>
            <a:off x="3722839" y="464684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5</a:t>
            </a:r>
          </a:p>
        </p:txBody>
      </p:sp>
      <p:sp>
        <p:nvSpPr>
          <p:cNvPr id="98" name="Oval 97">
            <a:extLst>
              <a:ext uri="{FF2B5EF4-FFF2-40B4-BE49-F238E27FC236}">
                <a16:creationId xmlns:a16="http://schemas.microsoft.com/office/drawing/2014/main" id="{753B072E-CBDC-404B-BD2D-A01F4E8667BA}"/>
              </a:ext>
            </a:extLst>
          </p:cNvPr>
          <p:cNvSpPr/>
          <p:nvPr/>
        </p:nvSpPr>
        <p:spPr>
          <a:xfrm>
            <a:off x="4418069" y="4868705"/>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6</a:t>
            </a:r>
          </a:p>
        </p:txBody>
      </p:sp>
      <p:sp>
        <p:nvSpPr>
          <p:cNvPr id="99" name="Rounded Rectangle 7">
            <a:extLst>
              <a:ext uri="{FF2B5EF4-FFF2-40B4-BE49-F238E27FC236}">
                <a16:creationId xmlns:a16="http://schemas.microsoft.com/office/drawing/2014/main" id="{E0532882-3E32-4E4E-A8CE-7EEE3C8F7264}"/>
              </a:ext>
            </a:extLst>
          </p:cNvPr>
          <p:cNvSpPr/>
          <p:nvPr>
            <p:custDataLst>
              <p:tags r:id="rId14"/>
            </p:custDataLst>
          </p:nvPr>
        </p:nvSpPr>
        <p:spPr>
          <a:xfrm>
            <a:off x="3882064" y="4610896"/>
            <a:ext cx="375482" cy="179944"/>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0" name="Rectangle 4">
            <a:extLst>
              <a:ext uri="{FF2B5EF4-FFF2-40B4-BE49-F238E27FC236}">
                <a16:creationId xmlns:a16="http://schemas.microsoft.com/office/drawing/2014/main" id="{68D1B963-3149-44DF-B6D8-7088B9509362}"/>
              </a:ext>
            </a:extLst>
          </p:cNvPr>
          <p:cNvSpPr>
            <a:spLocks noChangeArrowheads="1"/>
          </p:cNvSpPr>
          <p:nvPr>
            <p:custDataLst>
              <p:tags r:id="rId15"/>
            </p:custDataLst>
          </p:nvPr>
        </p:nvSpPr>
        <p:spPr bwMode="auto">
          <a:xfrm>
            <a:off x="6938138" y="2108472"/>
            <a:ext cx="1980000" cy="663652"/>
          </a:xfrm>
          <a:prstGeom prst="rect">
            <a:avLst/>
          </a:prstGeom>
          <a:solidFill>
            <a:schemeClr val="bg1"/>
          </a:solidFill>
          <a:ln w="12700">
            <a:solidFill>
              <a:schemeClr val="accent1"/>
            </a:solidFill>
            <a:miter lim="800000"/>
            <a:headEnd/>
            <a:tailEnd/>
          </a:ln>
          <a:effectLst/>
        </p:spPr>
        <p:txBody>
          <a:bodyPr lIns="54000" tIns="54000" rIns="54000" bIns="54000" anchor="ctr" anchorCtr="1"/>
          <a:lstStyle/>
          <a:p>
            <a:pPr algn="ctr" defTabSz="762000" eaLnBrk="0" hangingPunct="0">
              <a:lnSpc>
                <a:spcPct val="90000"/>
              </a:lnSpc>
              <a:spcBef>
                <a:spcPts val="300"/>
              </a:spcBef>
            </a:pPr>
            <a:r>
              <a:rPr lang="en-GB" sz="700" dirty="0"/>
              <a:t>Online revenue was £6.9 million and £11.6 million favourable to budget and prior year, respectively. This was driven by significant return customer growth in </a:t>
            </a:r>
            <a:r>
              <a:rPr lang="en-GB" sz="700" dirty="0" err="1"/>
              <a:t>yy</a:t>
            </a:r>
            <a:r>
              <a:rPr lang="en-GB" sz="700" dirty="0"/>
              <a:t> as well as new customer acquisition in </a:t>
            </a:r>
            <a:r>
              <a:rPr lang="en-GB" sz="700" dirty="0" err="1"/>
              <a:t>yy</a:t>
            </a:r>
            <a:r>
              <a:rPr lang="en-GB" sz="700" dirty="0"/>
              <a:t> and </a:t>
            </a:r>
            <a:r>
              <a:rPr lang="en-GB" sz="700" dirty="0" err="1"/>
              <a:t>yy</a:t>
            </a:r>
            <a:r>
              <a:rPr lang="en-GB" sz="700" dirty="0"/>
              <a:t> territories.</a:t>
            </a:r>
          </a:p>
        </p:txBody>
      </p:sp>
      <p:sp>
        <p:nvSpPr>
          <p:cNvPr id="101" name="Oval 100">
            <a:extLst>
              <a:ext uri="{FF2B5EF4-FFF2-40B4-BE49-F238E27FC236}">
                <a16:creationId xmlns:a16="http://schemas.microsoft.com/office/drawing/2014/main" id="{CFE74D78-06F2-4887-8791-04110D6C37FE}"/>
              </a:ext>
            </a:extLst>
          </p:cNvPr>
          <p:cNvSpPr/>
          <p:nvPr/>
        </p:nvSpPr>
        <p:spPr>
          <a:xfrm>
            <a:off x="9010889" y="5241697"/>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6</a:t>
            </a:r>
          </a:p>
        </p:txBody>
      </p:sp>
      <p:sp>
        <p:nvSpPr>
          <p:cNvPr id="102" name="Rounded Rectangle 7">
            <a:extLst>
              <a:ext uri="{FF2B5EF4-FFF2-40B4-BE49-F238E27FC236}">
                <a16:creationId xmlns:a16="http://schemas.microsoft.com/office/drawing/2014/main" id="{53FA2D50-6384-4753-B5D9-EF7B4148B162}"/>
              </a:ext>
            </a:extLst>
          </p:cNvPr>
          <p:cNvSpPr/>
          <p:nvPr>
            <p:custDataLst>
              <p:tags r:id="rId16"/>
            </p:custDataLst>
          </p:nvPr>
        </p:nvSpPr>
        <p:spPr>
          <a:xfrm>
            <a:off x="3210369" y="2601188"/>
            <a:ext cx="2817862" cy="171450"/>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3" name="Oval 102">
            <a:extLst>
              <a:ext uri="{FF2B5EF4-FFF2-40B4-BE49-F238E27FC236}">
                <a16:creationId xmlns:a16="http://schemas.microsoft.com/office/drawing/2014/main" id="{BC5CA19E-0849-4E18-944B-FE2B9833CB20}"/>
              </a:ext>
            </a:extLst>
          </p:cNvPr>
          <p:cNvSpPr/>
          <p:nvPr/>
        </p:nvSpPr>
        <p:spPr>
          <a:xfrm>
            <a:off x="6070079" y="2865492"/>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5" name="UpSlide SubSection Marker" hidden="1">
            <a:extLst>
              <a:ext uri="{FF2B5EF4-FFF2-40B4-BE49-F238E27FC236}">
                <a16:creationId xmlns:a16="http://schemas.microsoft.com/office/drawing/2014/main" id="{5271A2D0-8926-422B-8794-2F0EE70B7D7C}"/>
              </a:ext>
            </a:extLst>
          </p:cNvPr>
          <p:cNvSpPr/>
          <p:nvPr>
            <p:custDataLst>
              <p:tags r:id="rId17"/>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Current trading and run rate</a:t>
            </a:r>
            <a:endParaRPr lang="en-GB" sz="900" dirty="0">
              <a:solidFill>
                <a:schemeClr val="bg1"/>
              </a:solidFill>
            </a:endParaRPr>
          </a:p>
        </p:txBody>
      </p:sp>
      <p:grpSp>
        <p:nvGrpSpPr>
          <p:cNvPr id="7" name="Group 6">
            <a:extLst>
              <a:ext uri="{FF2B5EF4-FFF2-40B4-BE49-F238E27FC236}">
                <a16:creationId xmlns:a16="http://schemas.microsoft.com/office/drawing/2014/main" id="{D73118BD-DA66-4760-95A0-20241FB2B8FC}"/>
              </a:ext>
            </a:extLst>
          </p:cNvPr>
          <p:cNvGrpSpPr/>
          <p:nvPr>
            <p:custDataLst>
              <p:tags r:id="rId18"/>
            </p:custDataLst>
          </p:nvPr>
        </p:nvGrpSpPr>
        <p:grpSpPr>
          <a:xfrm>
            <a:off x="995364" y="153170"/>
            <a:ext cx="6234018" cy="195814"/>
            <a:chOff x="995364" y="153170"/>
            <a:chExt cx="6234018" cy="195814"/>
          </a:xfrm>
        </p:grpSpPr>
        <p:sp>
          <p:nvSpPr>
            <p:cNvPr id="55" name="Other Sections1">
              <a:hlinkClick r:id="rId2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6" name="Other Sections2">
              <a:hlinkClick r:id="rId2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57" name="Current Section3">
              <a:hlinkClick r:id="rId26"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58" name="Other Sections4">
              <a:hlinkClick r:id="rId27"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9" name="Other Sections5">
              <a:hlinkClick r:id="rId28"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0" name="Other Sections6">
              <a:hlinkClick r:id="rId29"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1" name="Other Sections7">
              <a:hlinkClick r:id="rId30"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61491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A3BBE112-EC06-48A8-9D16-5E746A34A3C0}"/>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8" name="Object 17" hidden="1">
                        <a:extLst>
                          <a:ext uri="{FF2B5EF4-FFF2-40B4-BE49-F238E27FC236}">
                            <a16:creationId xmlns:a16="http://schemas.microsoft.com/office/drawing/2014/main" id="{A3BBE112-EC06-48A8-9D16-5E746A34A3C0}"/>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48D68EE-8274-40CA-90E5-E7CC23A314CA}"/>
              </a:ext>
            </a:extLst>
          </p:cNvPr>
          <p:cNvSpPr>
            <a:spLocks noGrp="1"/>
          </p:cNvSpPr>
          <p:nvPr>
            <p:ph type="title"/>
          </p:nvPr>
        </p:nvSpPr>
        <p:spPr/>
        <p:txBody>
          <a:bodyPr/>
          <a:lstStyle/>
          <a:p>
            <a:r>
              <a:rPr lang="en-US" dirty="0"/>
              <a:t>Historical budgeting accuracy</a:t>
            </a:r>
          </a:p>
        </p:txBody>
      </p:sp>
      <p:sp>
        <p:nvSpPr>
          <p:cNvPr id="2" name="Text Placeholder 12">
            <a:extLst>
              <a:ext uri="{FF2B5EF4-FFF2-40B4-BE49-F238E27FC236}">
                <a16:creationId xmlns:a16="http://schemas.microsoft.com/office/drawing/2014/main" id="{413C2CF1-3F14-D12B-E94C-9E6511E57BE9}"/>
              </a:ext>
            </a:extLst>
          </p:cNvPr>
          <p:cNvSpPr txBox="1">
            <a:spLocks/>
          </p:cNvSpPr>
          <p:nvPr/>
        </p:nvSpPr>
        <p:spPr>
          <a:xfrm>
            <a:off x="980938" y="517992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46" name="Text Placeholder 7">
            <a:extLst>
              <a:ext uri="{FF2B5EF4-FFF2-40B4-BE49-F238E27FC236}">
                <a16:creationId xmlns:a16="http://schemas.microsoft.com/office/drawing/2014/main" id="{700C24BB-7700-57B9-61D1-B5E9CEF5BCA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7" name="Text Placeholder 12">
            <a:extLst>
              <a:ext uri="{FF2B5EF4-FFF2-40B4-BE49-F238E27FC236}">
                <a16:creationId xmlns:a16="http://schemas.microsoft.com/office/drawing/2014/main" id="{2086FFD9-CD2C-AC85-226F-C16D02682DD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8" name="Rounded Rectangle 7">
            <a:extLst>
              <a:ext uri="{FF2B5EF4-FFF2-40B4-BE49-F238E27FC236}">
                <a16:creationId xmlns:a16="http://schemas.microsoft.com/office/drawing/2014/main" id="{F9E238DA-DDEA-0D57-8C5B-33D6D972D624}"/>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49" name="Rectangle 48">
            <a:extLst>
              <a:ext uri="{FF2B5EF4-FFF2-40B4-BE49-F238E27FC236}">
                <a16:creationId xmlns:a16="http://schemas.microsoft.com/office/drawing/2014/main" id="{3483B7B3-25DC-D650-83A2-D1A4FE2E7FB8}"/>
              </a:ext>
            </a:extLst>
          </p:cNvPr>
          <p:cNvSpPr/>
          <p:nvPr/>
        </p:nvSpPr>
        <p:spPr>
          <a:xfrm>
            <a:off x="12277120" y="396442"/>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50" name="Straight Arrow Connector 49">
            <a:extLst>
              <a:ext uri="{FF2B5EF4-FFF2-40B4-BE49-F238E27FC236}">
                <a16:creationId xmlns:a16="http://schemas.microsoft.com/office/drawing/2014/main" id="{1FE7E447-5732-091D-1995-23F693B44D0E}"/>
              </a:ext>
            </a:extLst>
          </p:cNvPr>
          <p:cNvCxnSpPr>
            <a:cxnSpLocks/>
            <a:stCxn id="49" idx="2"/>
            <a:endCxn id="48" idx="0"/>
          </p:cNvCxnSpPr>
          <p:nvPr/>
        </p:nvCxnSpPr>
        <p:spPr>
          <a:xfrm flipH="1">
            <a:off x="12680810" y="936442"/>
            <a:ext cx="406310" cy="162216"/>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33B4B115-A504-4BB1-8F6F-D6CF9FC8ADC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02" name="Rectangle 101">
            <a:extLst>
              <a:ext uri="{FF2B5EF4-FFF2-40B4-BE49-F238E27FC236}">
                <a16:creationId xmlns:a16="http://schemas.microsoft.com/office/drawing/2014/main" id="{D189B9A0-99CF-4E1F-8150-5E7E0BEF7F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03" name="Rectangle 102">
            <a:extLst>
              <a:ext uri="{FF2B5EF4-FFF2-40B4-BE49-F238E27FC236}">
                <a16:creationId xmlns:a16="http://schemas.microsoft.com/office/drawing/2014/main" id="{5E6E60A9-D9A9-45CD-A714-0CF880D909D6}"/>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4" name="Rectangle 103">
            <a:extLst>
              <a:ext uri="{FF2B5EF4-FFF2-40B4-BE49-F238E27FC236}">
                <a16:creationId xmlns:a16="http://schemas.microsoft.com/office/drawing/2014/main" id="{B33C590C-C20C-4DA8-927A-F5FBCB150E5C}"/>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05" name="Rectangle 104">
            <a:extLst>
              <a:ext uri="{FF2B5EF4-FFF2-40B4-BE49-F238E27FC236}">
                <a16:creationId xmlns:a16="http://schemas.microsoft.com/office/drawing/2014/main" id="{BE9907FF-FCCA-4B7F-9B57-0288453DAABE}"/>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06" name="Rectangle 105">
            <a:extLst>
              <a:ext uri="{FF2B5EF4-FFF2-40B4-BE49-F238E27FC236}">
                <a16:creationId xmlns:a16="http://schemas.microsoft.com/office/drawing/2014/main" id="{FE39FE50-39F1-4F9D-B652-DC9EEB054EF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07" name="Rectangle 106">
            <a:extLst>
              <a:ext uri="{FF2B5EF4-FFF2-40B4-BE49-F238E27FC236}">
                <a16:creationId xmlns:a16="http://schemas.microsoft.com/office/drawing/2014/main" id="{14C3424E-0BFC-4C44-9661-8D14D6DCB518}"/>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8" name="Rectangle 107">
            <a:extLst>
              <a:ext uri="{FF2B5EF4-FFF2-40B4-BE49-F238E27FC236}">
                <a16:creationId xmlns:a16="http://schemas.microsoft.com/office/drawing/2014/main" id="{74018BC7-988E-4D5E-B3D6-9C0D3E5D868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9" name="Rectangle 108">
            <a:extLst>
              <a:ext uri="{FF2B5EF4-FFF2-40B4-BE49-F238E27FC236}">
                <a16:creationId xmlns:a16="http://schemas.microsoft.com/office/drawing/2014/main" id="{7F9D7F77-0BBE-4F79-89CD-7F4BBEBDDECB}"/>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6" name="Picture 5">
            <a:extLst>
              <a:ext uri="{FF2B5EF4-FFF2-40B4-BE49-F238E27FC236}">
                <a16:creationId xmlns:a16="http://schemas.microsoft.com/office/drawing/2014/main" id="{157224C0-756B-46FF-B405-905EC6126BE5}"/>
              </a:ext>
            </a:extLst>
          </p:cNvPr>
          <p:cNvPicPr>
            <a:picLocks noChangeAspect="1"/>
          </p:cNvPicPr>
          <p:nvPr>
            <p:custDataLst>
              <p:tags r:id="rId3"/>
            </p:custDataLst>
          </p:nvPr>
        </p:nvPicPr>
        <p:blipFill>
          <a:blip r:embed="rId9"/>
          <a:stretch>
            <a:fillRect/>
          </a:stretch>
        </p:blipFill>
        <p:spPr>
          <a:xfrm>
            <a:off x="1015363" y="1912839"/>
            <a:ext cx="7052450" cy="3386770"/>
          </a:xfrm>
          <a:prstGeom prst="rect">
            <a:avLst/>
          </a:prstGeom>
        </p:spPr>
      </p:pic>
      <p:sp>
        <p:nvSpPr>
          <p:cNvPr id="61" name="Text Placeholder 3">
            <a:extLst>
              <a:ext uri="{FF2B5EF4-FFF2-40B4-BE49-F238E27FC236}">
                <a16:creationId xmlns:a16="http://schemas.microsoft.com/office/drawing/2014/main" id="{9181FA57-04CB-43A8-A806-9DEC114CF776}"/>
              </a:ext>
            </a:extLst>
          </p:cNvPr>
          <p:cNvSpPr>
            <a:spLocks noGrp="1"/>
          </p:cNvSpPr>
          <p:nvPr>
            <p:ph type="body" sz="quarter" idx="10"/>
          </p:nvPr>
        </p:nvSpPr>
        <p:spPr>
          <a:xfrm>
            <a:off x="995361" y="1340768"/>
            <a:ext cx="10194960" cy="460800"/>
          </a:xfrm>
        </p:spPr>
        <p:txBody>
          <a:bodyPr/>
          <a:lstStyle/>
          <a:p>
            <a:r>
              <a:rPr lang="en-GB" dirty="0"/>
              <a:t>Historical budgeting accuracy has been inconsistent, although we note that Y has experienced high levels of revenue growth (CAGR: 140.8%) and has been operating within a disruptive retail market. Overall, FY19 and FY20 budgets were relatively accurate at a gross / contribution margin level. </a:t>
            </a:r>
          </a:p>
          <a:p>
            <a:r>
              <a:rPr lang="en-GB" dirty="0"/>
              <a:t>FY21 was heavily impacted by Covid-19, although EBITDA impact was minimal as the business shifted towards online and mitigated costs.</a:t>
            </a:r>
          </a:p>
          <a:p>
            <a:endParaRPr lang="en-GB" sz="1000" dirty="0"/>
          </a:p>
          <a:p>
            <a:endParaRPr lang="en-GB" dirty="0"/>
          </a:p>
        </p:txBody>
      </p:sp>
      <p:sp>
        <p:nvSpPr>
          <p:cNvPr id="63" name="Rectangle 62">
            <a:extLst>
              <a:ext uri="{FF2B5EF4-FFF2-40B4-BE49-F238E27FC236}">
                <a16:creationId xmlns:a16="http://schemas.microsoft.com/office/drawing/2014/main" id="{24A6C00A-4F9C-4DC4-BC7C-B68D8058CA02}"/>
              </a:ext>
            </a:extLst>
          </p:cNvPr>
          <p:cNvSpPr/>
          <p:nvPr/>
        </p:nvSpPr>
        <p:spPr>
          <a:xfrm>
            <a:off x="8391813" y="2487228"/>
            <a:ext cx="1620000" cy="72798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Budgets presented here represent original budgets finalised prior to period start.</a:t>
            </a:r>
          </a:p>
          <a:p>
            <a:pPr algn="ctr"/>
            <a:r>
              <a:rPr lang="en-GB" sz="700" dirty="0">
                <a:solidFill>
                  <a:sysClr val="windowText" lastClr="000000"/>
                </a:solidFill>
              </a:rPr>
              <a:t>The budget setting process is outlined in the </a:t>
            </a:r>
            <a:r>
              <a:rPr lang="en-GB" sz="700" b="1" dirty="0">
                <a:solidFill>
                  <a:sysClr val="windowText" lastClr="000000"/>
                </a:solidFill>
              </a:rPr>
              <a:t>reporting section</a:t>
            </a:r>
            <a:r>
              <a:rPr lang="en-GB" sz="700" dirty="0">
                <a:solidFill>
                  <a:sysClr val="windowText" lastClr="000000"/>
                </a:solidFill>
              </a:rPr>
              <a:t>.</a:t>
            </a:r>
          </a:p>
        </p:txBody>
      </p:sp>
      <p:sp>
        <p:nvSpPr>
          <p:cNvPr id="3" name="UpSlide SubSection Marker" hidden="1">
            <a:extLst>
              <a:ext uri="{FF2B5EF4-FFF2-40B4-BE49-F238E27FC236}">
                <a16:creationId xmlns:a16="http://schemas.microsoft.com/office/drawing/2014/main" id="{014C9740-58BC-4E93-BDF7-5B2EBB18A4C4}"/>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Historical budgeting accuracy</a:t>
            </a:r>
            <a:endParaRPr lang="en-GB" sz="900" dirty="0">
              <a:solidFill>
                <a:schemeClr val="bg1"/>
              </a:solidFill>
            </a:endParaRPr>
          </a:p>
        </p:txBody>
      </p:sp>
      <p:sp>
        <p:nvSpPr>
          <p:cNvPr id="5" name="Rectangle 4">
            <a:hlinkClick r:id="rId10" action="ppaction://hlinksldjump"/>
            <a:extLst>
              <a:ext uri="{FF2B5EF4-FFF2-40B4-BE49-F238E27FC236}">
                <a16:creationId xmlns:a16="http://schemas.microsoft.com/office/drawing/2014/main" id="{1372798A-41D4-49F5-9536-EF7AB9689106}"/>
              </a:ext>
            </a:extLst>
          </p:cNvPr>
          <p:cNvSpPr/>
          <p:nvPr/>
        </p:nvSpPr>
        <p:spPr>
          <a:xfrm>
            <a:off x="8920480" y="3014133"/>
            <a:ext cx="819573" cy="160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32" name="Group 31">
            <a:extLst>
              <a:ext uri="{FF2B5EF4-FFF2-40B4-BE49-F238E27FC236}">
                <a16:creationId xmlns:a16="http://schemas.microsoft.com/office/drawing/2014/main" id="{D73118BD-DA66-4760-95A0-20241FB2B8FC}"/>
              </a:ext>
            </a:extLst>
          </p:cNvPr>
          <p:cNvGrpSpPr/>
          <p:nvPr>
            <p:custDataLst>
              <p:tags r:id="rId5"/>
            </p:custDataLst>
          </p:nvPr>
        </p:nvGrpSpPr>
        <p:grpSpPr>
          <a:xfrm>
            <a:off x="995364" y="153170"/>
            <a:ext cx="6234018" cy="195814"/>
            <a:chOff x="995364" y="153170"/>
            <a:chExt cx="6234018"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36"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0"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79382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4DB8F8EC-452C-41C7-8079-12531EBABA17}"/>
              </a:ext>
            </a:extLst>
          </p:cNvPr>
          <p:cNvSpPr>
            <a:spLocks noGrp="1"/>
          </p:cNvSpPr>
          <p:nvPr>
            <p:ph type="body" sz="quarter" idx="10"/>
          </p:nvPr>
        </p:nvSpPr>
        <p:spPr/>
        <p:txBody>
          <a:bodyPr/>
          <a:lstStyle/>
          <a:p>
            <a:r>
              <a:rPr lang="en-GB" dirty="0"/>
              <a:t>The majority (90.4%) of assumed growth is attributable to the online channel which is driven by new customer acquisition, with the majority of growth coming from </a:t>
            </a:r>
            <a:r>
              <a:rPr lang="en-GB" dirty="0" err="1"/>
              <a:t>yy</a:t>
            </a:r>
            <a:r>
              <a:rPr lang="en-GB" dirty="0"/>
              <a:t> market (£36.8 million). Retail growth is driven by improved LFL performance and the full year effect of non-essential retail reopening and the Department store B concession, along with the assumed opening of new boutiques at the beginning of FY24 and FY25, with growth in existing boutiques assumed at 2% per annum.</a:t>
            </a:r>
          </a:p>
          <a:p>
            <a:endParaRPr lang="fi-FI" dirty="0"/>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a:t>Forecast revenue bridge</a:t>
            </a:r>
          </a:p>
        </p:txBody>
      </p:sp>
      <p:sp>
        <p:nvSpPr>
          <p:cNvPr id="10" name="Text Placeholder 9">
            <a:extLst>
              <a:ext uri="{FF2B5EF4-FFF2-40B4-BE49-F238E27FC236}">
                <a16:creationId xmlns:a16="http://schemas.microsoft.com/office/drawing/2014/main" id="{BA7BBB25-97AD-47AA-A470-E9164EA91A76}"/>
              </a:ext>
            </a:extLst>
          </p:cNvPr>
          <p:cNvSpPr>
            <a:spLocks noGrp="1"/>
          </p:cNvSpPr>
          <p:nvPr>
            <p:ph type="body" sz="quarter" idx="25"/>
          </p:nvPr>
        </p:nvSpPr>
        <p:spPr/>
        <p:txBody>
          <a:bodyPr/>
          <a:lstStyle/>
          <a:p>
            <a:r>
              <a:rPr lang="fi-FI"/>
              <a:t>LTM22-FY25 forecast revenue bridge (£’000)</a:t>
            </a:r>
          </a:p>
        </p:txBody>
      </p:sp>
      <p:sp>
        <p:nvSpPr>
          <p:cNvPr id="6" name="Text Placeholder 5">
            <a:extLst>
              <a:ext uri="{FF2B5EF4-FFF2-40B4-BE49-F238E27FC236}">
                <a16:creationId xmlns:a16="http://schemas.microsoft.com/office/drawing/2014/main" id="{2CCECF11-E896-47FD-A3EC-5A28393AAFB2}"/>
              </a:ext>
            </a:extLst>
          </p:cNvPr>
          <p:cNvSpPr>
            <a:spLocks noGrp="1"/>
          </p:cNvSpPr>
          <p:nvPr>
            <p:ph type="body" sz="quarter" idx="18"/>
          </p:nvPr>
        </p:nvSpPr>
        <p:spPr/>
        <p:txBody>
          <a:bodyPr/>
          <a:lstStyle/>
          <a:p>
            <a:r>
              <a:rPr lang="fi-FI" b="1" dirty="0">
                <a:solidFill>
                  <a:schemeClr val="tx2"/>
                </a:solidFill>
              </a:rPr>
              <a:t>Online</a:t>
            </a:r>
          </a:p>
          <a:p>
            <a:pPr defTabSz="762000" fontAlgn="base">
              <a:spcBef>
                <a:spcPts val="200"/>
              </a:spcBef>
            </a:pPr>
            <a:r>
              <a:rPr lang="en-GB" sz="1000" i="1" dirty="0">
                <a:solidFill>
                  <a:srgbClr val="00338D"/>
                </a:solidFill>
                <a:latin typeface="Arial" panose="020B0604020202020204" pitchFamily="34" charset="0"/>
                <a:cs typeface="Arial" pitchFamily="34" charset="0"/>
              </a:rPr>
              <a:t>LTM22 – FY22: </a:t>
            </a:r>
            <a:r>
              <a:rPr lang="en-GB" sz="1000" dirty="0">
                <a:solidFill>
                  <a:schemeClr val="tx1"/>
                </a:solidFill>
                <a:latin typeface="Arial" panose="020B0604020202020204" pitchFamily="34" charset="0"/>
                <a:cs typeface="Arial" pitchFamily="34" charset="0"/>
              </a:rPr>
              <a:t>FY22 online sales is consistent with current trends.</a:t>
            </a:r>
          </a:p>
          <a:p>
            <a:pPr defTabSz="762000" fontAlgn="base">
              <a:spcBef>
                <a:spcPts val="200"/>
              </a:spcBef>
            </a:pPr>
            <a:r>
              <a:rPr lang="en-GB" sz="1000" i="1" dirty="0">
                <a:solidFill>
                  <a:srgbClr val="00338D"/>
                </a:solidFill>
                <a:latin typeface="Arial" panose="020B0604020202020204" pitchFamily="34" charset="0"/>
                <a:cs typeface="Arial" pitchFamily="34" charset="0"/>
              </a:rPr>
              <a:t>FY22 – FY23: </a:t>
            </a:r>
            <a:r>
              <a:rPr lang="en-GB" sz="1000" dirty="0">
                <a:solidFill>
                  <a:schemeClr val="tx1"/>
                </a:solidFill>
                <a:latin typeface="Arial" panose="020B0604020202020204" pitchFamily="34" charset="0"/>
                <a:cs typeface="Arial" pitchFamily="34" charset="0"/>
              </a:rPr>
              <a:t>FY23 growth is the highest annual percentage increase driven by a higher customer acquisition. Higher growth rates have been assumed in </a:t>
            </a:r>
            <a:r>
              <a:rPr lang="en-GB" sz="1000" dirty="0" err="1">
                <a:solidFill>
                  <a:schemeClr val="tx1"/>
                </a:solidFill>
                <a:latin typeface="Arial" panose="020B0604020202020204" pitchFamily="34" charset="0"/>
                <a:cs typeface="Arial" pitchFamily="34" charset="0"/>
              </a:rPr>
              <a:t>yy</a:t>
            </a:r>
            <a:r>
              <a:rPr lang="en-GB" sz="1000" dirty="0">
                <a:solidFill>
                  <a:schemeClr val="tx1"/>
                </a:solidFill>
                <a:latin typeface="Arial" panose="020B0604020202020204" pitchFamily="34" charset="0"/>
                <a:cs typeface="Arial" pitchFamily="34" charset="0"/>
              </a:rPr>
              <a:t> and </a:t>
            </a:r>
            <a:r>
              <a:rPr lang="en-GB" sz="1000" dirty="0" err="1">
                <a:solidFill>
                  <a:schemeClr val="tx1"/>
                </a:solidFill>
                <a:latin typeface="Arial" panose="020B0604020202020204" pitchFamily="34" charset="0"/>
                <a:cs typeface="Arial" pitchFamily="34" charset="0"/>
              </a:rPr>
              <a:t>yy</a:t>
            </a:r>
            <a:r>
              <a:rPr lang="en-GB" sz="1000" dirty="0">
                <a:solidFill>
                  <a:schemeClr val="tx1"/>
                </a:solidFill>
                <a:latin typeface="Arial" panose="020B0604020202020204" pitchFamily="34" charset="0"/>
                <a:cs typeface="Arial" pitchFamily="34" charset="0"/>
              </a:rPr>
              <a:t> to reflect the lower brand awareness in these territories.</a:t>
            </a:r>
          </a:p>
          <a:p>
            <a:pPr defTabSz="762000" fontAlgn="base">
              <a:spcBef>
                <a:spcPts val="200"/>
              </a:spcBef>
            </a:pPr>
            <a:r>
              <a:rPr lang="en-GB" sz="1000" i="1" dirty="0">
                <a:solidFill>
                  <a:srgbClr val="00338D"/>
                </a:solidFill>
                <a:latin typeface="Arial" panose="020B0604020202020204" pitchFamily="34" charset="0"/>
                <a:cs typeface="Arial" pitchFamily="34" charset="0"/>
              </a:rPr>
              <a:t>FY23 – FY25: </a:t>
            </a:r>
            <a:r>
              <a:rPr lang="en-GB" sz="1000" dirty="0">
                <a:solidFill>
                  <a:schemeClr val="tx1"/>
                </a:solidFill>
                <a:latin typeface="Arial" panose="020B0604020202020204" pitchFamily="34" charset="0"/>
                <a:cs typeface="Arial" pitchFamily="34" charset="0"/>
              </a:rPr>
              <a:t>Management has assumed slower growth rates in FY24 and FY25 which it believes reflects the maturation of the Y brand in these territories. </a:t>
            </a:r>
            <a:endParaRPr lang="en-GB" sz="1000" dirty="0">
              <a:solidFill>
                <a:srgbClr val="FF0000"/>
              </a:solidFill>
              <a:latin typeface="Arial" panose="020B0604020202020204" pitchFamily="34" charset="0"/>
              <a:cs typeface="Arial" pitchFamily="34" charset="0"/>
            </a:endParaRPr>
          </a:p>
          <a:p>
            <a:endParaRPr lang="fi-FI" b="1" dirty="0">
              <a:solidFill>
                <a:schemeClr val="tx2"/>
              </a:solidFill>
            </a:endParaRPr>
          </a:p>
        </p:txBody>
      </p:sp>
      <p:sp>
        <p:nvSpPr>
          <p:cNvPr id="9" name="Text Placeholder 8">
            <a:extLst>
              <a:ext uri="{FF2B5EF4-FFF2-40B4-BE49-F238E27FC236}">
                <a16:creationId xmlns:a16="http://schemas.microsoft.com/office/drawing/2014/main" id="{E8E57C13-8F0C-4F9C-8ABE-EAFF12A92567}"/>
              </a:ext>
            </a:extLst>
          </p:cNvPr>
          <p:cNvSpPr>
            <a:spLocks noGrp="1"/>
          </p:cNvSpPr>
          <p:nvPr>
            <p:ph type="body" sz="quarter" idx="19"/>
          </p:nvPr>
        </p:nvSpPr>
        <p:spPr/>
        <p:txBody>
          <a:bodyPr/>
          <a:lstStyle/>
          <a:p>
            <a:r>
              <a:rPr lang="fi-FI" b="1" dirty="0">
                <a:solidFill>
                  <a:schemeClr val="tx2"/>
                </a:solidFill>
              </a:rPr>
              <a:t>Retail</a:t>
            </a:r>
          </a:p>
          <a:p>
            <a:pPr defTabSz="762000" fontAlgn="base">
              <a:spcBef>
                <a:spcPts val="200"/>
              </a:spcBef>
            </a:pPr>
            <a:r>
              <a:rPr lang="en-GB" sz="1000" i="1" dirty="0">
                <a:solidFill>
                  <a:srgbClr val="00338D"/>
                </a:solidFill>
                <a:latin typeface="Arial" panose="020B0604020202020204" pitchFamily="34" charset="0"/>
                <a:cs typeface="Arial" pitchFamily="34" charset="0"/>
              </a:rPr>
              <a:t>LTM22 – FY22: </a:t>
            </a:r>
            <a:r>
              <a:rPr lang="en-GB" sz="1000" dirty="0">
                <a:solidFill>
                  <a:schemeClr val="tx1"/>
                </a:solidFill>
                <a:latin typeface="Arial" panose="020B0604020202020204" pitchFamily="34" charset="0"/>
                <a:cs typeface="Arial" pitchFamily="34" charset="0"/>
              </a:rPr>
              <a:t>FY22 revenue growth is primarily driven by improved LFL improvement which offsets the average decline in boutiques. Concession revenue growth is driven by Y opening a Department store B concession in May 2021.</a:t>
            </a:r>
          </a:p>
          <a:p>
            <a:pPr defTabSz="762000" fontAlgn="base">
              <a:spcBef>
                <a:spcPts val="200"/>
              </a:spcBef>
            </a:pPr>
            <a:r>
              <a:rPr lang="en-GB" sz="1000" i="1" dirty="0">
                <a:solidFill>
                  <a:srgbClr val="00338D"/>
                </a:solidFill>
                <a:latin typeface="Arial" panose="020B0604020202020204" pitchFamily="34" charset="0"/>
                <a:cs typeface="Arial" pitchFamily="34" charset="0"/>
              </a:rPr>
              <a:t>FY22 – FY23: </a:t>
            </a:r>
            <a:r>
              <a:rPr lang="en-GB" sz="1000" dirty="0">
                <a:solidFill>
                  <a:schemeClr val="tx1"/>
                </a:solidFill>
                <a:latin typeface="Arial" panose="020B0604020202020204" pitchFamily="34" charset="0"/>
                <a:cs typeface="Arial" pitchFamily="34" charset="0"/>
              </a:rPr>
              <a:t>FY23 growth is driven by the full year effect of non-essential retail reopening and the Department store B concession.</a:t>
            </a:r>
          </a:p>
          <a:p>
            <a:pPr defTabSz="762000" fontAlgn="base">
              <a:spcBef>
                <a:spcPts val="200"/>
              </a:spcBef>
            </a:pPr>
            <a:r>
              <a:rPr lang="en-GB" sz="1000" i="1" dirty="0">
                <a:solidFill>
                  <a:srgbClr val="00338D"/>
                </a:solidFill>
                <a:latin typeface="Arial" panose="020B0604020202020204" pitchFamily="34" charset="0"/>
                <a:cs typeface="Arial" pitchFamily="34" charset="0"/>
              </a:rPr>
              <a:t>FY23 – FY25: </a:t>
            </a:r>
            <a:r>
              <a:rPr lang="en-GB" sz="1000" dirty="0">
                <a:solidFill>
                  <a:schemeClr val="tx1"/>
                </a:solidFill>
                <a:latin typeface="Arial" panose="020B0604020202020204" pitchFamily="34" charset="0"/>
                <a:cs typeface="Arial" pitchFamily="34" charset="0"/>
              </a:rPr>
              <a:t>Management has assumed a new boutique opening at the beginning of FY24 and FY25 which drives the majority of retail net revenue growth. </a:t>
            </a:r>
          </a:p>
          <a:p>
            <a:endParaRPr lang="fi-FI" b="1" dirty="0">
              <a:solidFill>
                <a:schemeClr val="tx2"/>
              </a:solidFill>
            </a:endParaRPr>
          </a:p>
        </p:txBody>
      </p:sp>
      <p:sp>
        <p:nvSpPr>
          <p:cNvPr id="2" name="Text Placeholder 12">
            <a:extLst>
              <a:ext uri="{FF2B5EF4-FFF2-40B4-BE49-F238E27FC236}">
                <a16:creationId xmlns:a16="http://schemas.microsoft.com/office/drawing/2014/main" id="{EE54F817-4E4E-51A0-F231-05CC6F2574DE}"/>
              </a:ext>
            </a:extLst>
          </p:cNvPr>
          <p:cNvSpPr txBox="1">
            <a:spLocks/>
          </p:cNvSpPr>
          <p:nvPr/>
        </p:nvSpPr>
        <p:spPr>
          <a:xfrm>
            <a:off x="995121" y="608153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cs typeface="Arial" pitchFamily="34" charset="0"/>
              </a:rPr>
              <a:t>Management accounts; </a:t>
            </a:r>
            <a:r>
              <a:rPr lang="pt-BR" sz="600" b="0" dirty="0">
                <a:cs typeface="Arial" pitchFamily="34" charset="0"/>
              </a:rPr>
              <a:t>6.1.5.4_Y 5YP Model 03112021 </a:t>
            </a:r>
            <a:endParaRPr lang="en-US" sz="600" b="0" dirty="0">
              <a:solidFill>
                <a:schemeClr val="tx2"/>
              </a:solidFill>
              <a:latin typeface="Arial" panose="020B0604020202020204" pitchFamily="34" charset="0"/>
            </a:endParaRPr>
          </a:p>
        </p:txBody>
      </p:sp>
      <p:sp>
        <p:nvSpPr>
          <p:cNvPr id="5" name="Text Placeholder 7">
            <a:extLst>
              <a:ext uri="{FF2B5EF4-FFF2-40B4-BE49-F238E27FC236}">
                <a16:creationId xmlns:a16="http://schemas.microsoft.com/office/drawing/2014/main" id="{8F34EFBC-CB64-CF93-29C4-0FABE0A057A6}"/>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20" name="Text Placeholder 12">
            <a:extLst>
              <a:ext uri="{FF2B5EF4-FFF2-40B4-BE49-F238E27FC236}">
                <a16:creationId xmlns:a16="http://schemas.microsoft.com/office/drawing/2014/main" id="{1BB49713-25E8-3A0C-FFD8-6868333C3A5C}"/>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1" name="Rounded Rectangle 7">
            <a:extLst>
              <a:ext uri="{FF2B5EF4-FFF2-40B4-BE49-F238E27FC236}">
                <a16:creationId xmlns:a16="http://schemas.microsoft.com/office/drawing/2014/main" id="{97ED42FD-138D-6975-A098-0D1EFA757486}"/>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2" name="Rectangle 21">
            <a:extLst>
              <a:ext uri="{FF2B5EF4-FFF2-40B4-BE49-F238E27FC236}">
                <a16:creationId xmlns:a16="http://schemas.microsoft.com/office/drawing/2014/main" id="{A46A7115-729F-EC55-9FB1-A817C2C5622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3" name="Straight Arrow Connector 22">
            <a:extLst>
              <a:ext uri="{FF2B5EF4-FFF2-40B4-BE49-F238E27FC236}">
                <a16:creationId xmlns:a16="http://schemas.microsoft.com/office/drawing/2014/main" id="{3430A923-D1F3-F2E5-CD89-3C0F7EA990A6}"/>
              </a:ext>
            </a:extLst>
          </p:cNvPr>
          <p:cNvCxnSpPr>
            <a:cxnSpLocks/>
            <a:stCxn id="22" idx="2"/>
            <a:endCxn id="2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D0BDA713-0738-4758-9F6A-4E570B5CD030}"/>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7406996E-5411-43D6-AC1D-1A8AF8E9A739}"/>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7CEE1A99-9917-4D46-8587-62A8644C2AA1}"/>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5" name="Rectangle 94">
            <a:extLst>
              <a:ext uri="{FF2B5EF4-FFF2-40B4-BE49-F238E27FC236}">
                <a16:creationId xmlns:a16="http://schemas.microsoft.com/office/drawing/2014/main" id="{735C73EA-BE15-4FC2-9A19-4B184BDC5356}"/>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6" name="Rectangle 95">
            <a:extLst>
              <a:ext uri="{FF2B5EF4-FFF2-40B4-BE49-F238E27FC236}">
                <a16:creationId xmlns:a16="http://schemas.microsoft.com/office/drawing/2014/main" id="{A92ADAD0-BDB9-4486-ABB5-E68B23C201A3}"/>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7" name="Rectangle 96">
            <a:extLst>
              <a:ext uri="{FF2B5EF4-FFF2-40B4-BE49-F238E27FC236}">
                <a16:creationId xmlns:a16="http://schemas.microsoft.com/office/drawing/2014/main" id="{AEF4F39F-0DF8-4B08-B510-FD2099F3B05C}"/>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55DF3C61-EF00-4B68-8CF4-3964E53EC09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E01BB1AA-2381-49E6-BD4B-40C5BE1E99B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0" name="Rectangle 99">
            <a:extLst>
              <a:ext uri="{FF2B5EF4-FFF2-40B4-BE49-F238E27FC236}">
                <a16:creationId xmlns:a16="http://schemas.microsoft.com/office/drawing/2014/main" id="{9AD720E4-027D-4570-81D6-9B86D4F8987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4" name="Picture 3">
            <a:extLst>
              <a:ext uri="{FF2B5EF4-FFF2-40B4-BE49-F238E27FC236}">
                <a16:creationId xmlns:a16="http://schemas.microsoft.com/office/drawing/2014/main" id="{E3FE2DF2-16E1-44E3-A962-4A38AF4F3E6D}"/>
              </a:ext>
            </a:extLst>
          </p:cNvPr>
          <p:cNvPicPr>
            <a:picLocks noChangeAspect="1"/>
          </p:cNvPicPr>
          <p:nvPr>
            <p:custDataLst>
              <p:tags r:id="rId3"/>
            </p:custDataLst>
          </p:nvPr>
        </p:nvPicPr>
        <p:blipFill>
          <a:blip r:embed="rId9"/>
          <a:stretch>
            <a:fillRect/>
          </a:stretch>
        </p:blipFill>
        <p:spPr>
          <a:xfrm>
            <a:off x="995121" y="2235228"/>
            <a:ext cx="10192299" cy="1560077"/>
          </a:xfrm>
          <a:prstGeom prst="rect">
            <a:avLst/>
          </a:prstGeom>
        </p:spPr>
      </p:pic>
      <p:sp>
        <p:nvSpPr>
          <p:cNvPr id="36" name="Rectangle: Rounded Corners 35">
            <a:hlinkClick r:id="" action="ppaction://noaction"/>
            <a:extLst>
              <a:ext uri="{FF2B5EF4-FFF2-40B4-BE49-F238E27FC236}">
                <a16:creationId xmlns:a16="http://schemas.microsoft.com/office/drawing/2014/main" id="{DED4DD18-95B3-4C9D-A335-8B49F4F497B6}"/>
              </a:ext>
            </a:extLst>
          </p:cNvPr>
          <p:cNvSpPr/>
          <p:nvPr/>
        </p:nvSpPr>
        <p:spPr>
          <a:xfrm>
            <a:off x="5175750" y="387040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37" name="Rectangle: Rounded Corners 36">
            <a:hlinkClick r:id="" action="ppaction://noaction"/>
            <a:extLst>
              <a:ext uri="{FF2B5EF4-FFF2-40B4-BE49-F238E27FC236}">
                <a16:creationId xmlns:a16="http://schemas.microsoft.com/office/drawing/2014/main" id="{194D8A64-A1D4-49DD-A3BE-F2D79319EBC4}"/>
              </a:ext>
            </a:extLst>
          </p:cNvPr>
          <p:cNvSpPr/>
          <p:nvPr/>
        </p:nvSpPr>
        <p:spPr>
          <a:xfrm>
            <a:off x="10404321" y="387040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7" name="UpSlide SubSection Marker" hidden="1">
            <a:extLst>
              <a:ext uri="{FF2B5EF4-FFF2-40B4-BE49-F238E27FC236}">
                <a16:creationId xmlns:a16="http://schemas.microsoft.com/office/drawing/2014/main" id="{5A28EE71-C847-4A5D-8A47-E13F52EF7420}"/>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Forecast revenue and EBITDA bridge</a:t>
            </a:r>
            <a:endParaRPr lang="en-GB" sz="900" dirty="0">
              <a:solidFill>
                <a:schemeClr val="bg1"/>
              </a:solidFill>
            </a:endParaRPr>
          </a:p>
        </p:txBody>
      </p:sp>
      <p:grpSp>
        <p:nvGrpSpPr>
          <p:cNvPr id="35" name="Group 34">
            <a:extLst>
              <a:ext uri="{FF2B5EF4-FFF2-40B4-BE49-F238E27FC236}">
                <a16:creationId xmlns:a16="http://schemas.microsoft.com/office/drawing/2014/main" id="{D73118BD-DA66-4760-95A0-20241FB2B8FC}"/>
              </a:ext>
            </a:extLst>
          </p:cNvPr>
          <p:cNvGrpSpPr/>
          <p:nvPr>
            <p:custDataLst>
              <p:tags r:id="rId5"/>
            </p:custDataLst>
          </p:nvPr>
        </p:nvGrpSpPr>
        <p:grpSpPr>
          <a:xfrm>
            <a:off x="995364" y="153170"/>
            <a:ext cx="6234018" cy="195814"/>
            <a:chOff x="995364" y="153170"/>
            <a:chExt cx="6234018" cy="195814"/>
          </a:xfrm>
        </p:grpSpPr>
        <p:sp>
          <p:nvSpPr>
            <p:cNvPr id="3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41"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21801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E3B2BC4A-5D7B-4123-931F-F76EC8FBD01C}"/>
              </a:ext>
            </a:extLst>
          </p:cNvPr>
          <p:cNvSpPr>
            <a:spLocks noGrp="1"/>
          </p:cNvSpPr>
          <p:nvPr>
            <p:ph type="body" sz="quarter" idx="10"/>
          </p:nvPr>
        </p:nvSpPr>
        <p:spPr/>
        <p:txBody>
          <a:bodyPr/>
          <a:lstStyle/>
          <a:p>
            <a:r>
              <a:rPr lang="en-GB"/>
              <a:t>EBITDA is assumed to increase by £14.4 million (38.7% CAGR) over the forecast period, driven by strong sales growth. Gross profit margin is assumed to decline in FY22 and FY23 to guard against any potential requirement to discount, however Management believe the current gross profit margin is sustainable, as evidenced by performance since shops have reopened. Overheads are assumed to increase predominantly driven by staff, occupancy, website management and merchant fees.</a:t>
            </a:r>
          </a:p>
          <a:p>
            <a:endParaRPr lang="en-GB"/>
          </a:p>
          <a:p>
            <a:endParaRPr lang="fi-FI"/>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a:t>Forecast EBITDA bridge</a:t>
            </a:r>
          </a:p>
        </p:txBody>
      </p:sp>
      <p:sp>
        <p:nvSpPr>
          <p:cNvPr id="12" name="Text Placeholder 11">
            <a:extLst>
              <a:ext uri="{FF2B5EF4-FFF2-40B4-BE49-F238E27FC236}">
                <a16:creationId xmlns:a16="http://schemas.microsoft.com/office/drawing/2014/main" id="{55BBDC4E-0EC5-4232-86B4-63EC02822C08}"/>
              </a:ext>
            </a:extLst>
          </p:cNvPr>
          <p:cNvSpPr>
            <a:spLocks noGrp="1"/>
          </p:cNvSpPr>
          <p:nvPr>
            <p:ph type="body" sz="quarter" idx="25"/>
          </p:nvPr>
        </p:nvSpPr>
        <p:spPr/>
        <p:txBody>
          <a:bodyPr/>
          <a:lstStyle/>
          <a:p>
            <a:endParaRPr lang="fi-FI"/>
          </a:p>
        </p:txBody>
      </p:sp>
      <p:sp>
        <p:nvSpPr>
          <p:cNvPr id="4" name="Text Placeholder 3">
            <a:extLst>
              <a:ext uri="{FF2B5EF4-FFF2-40B4-BE49-F238E27FC236}">
                <a16:creationId xmlns:a16="http://schemas.microsoft.com/office/drawing/2014/main" id="{06DEAB01-8A2F-4DD6-8E74-E671DAE4B3F1}"/>
              </a:ext>
            </a:extLst>
          </p:cNvPr>
          <p:cNvSpPr>
            <a:spLocks noGrp="1"/>
          </p:cNvSpPr>
          <p:nvPr>
            <p:ph type="body" sz="quarter" idx="18"/>
          </p:nvPr>
        </p:nvSpPr>
        <p:spPr>
          <a:xfrm>
            <a:off x="995361" y="4059380"/>
            <a:ext cx="5036400" cy="1798294"/>
          </a:xfrm>
        </p:spPr>
        <p:txBody>
          <a:bodyPr/>
          <a:lstStyle/>
          <a:p>
            <a:r>
              <a:rPr lang="fi-FI" b="1">
                <a:solidFill>
                  <a:schemeClr val="tx2"/>
                </a:solidFill>
              </a:rPr>
              <a:t>Gross profit margin</a:t>
            </a:r>
          </a:p>
          <a:p>
            <a:r>
              <a:rPr lang="en-GB"/>
              <a:t>LTM22 gross profit margin was particularly high due to limited discounting as a result of high full price sell through.</a:t>
            </a:r>
          </a:p>
          <a:p>
            <a:r>
              <a:rPr lang="en-GB"/>
              <a:t>Gross profit margin is assumed to decline from 69.7% in LTM22 to 65.9% in FY23 (66.1% and 66.2% in FY24 and FY25, respectively) reflecting more typical trading conditions from FY23 onwards.</a:t>
            </a:r>
          </a:p>
          <a:p>
            <a:r>
              <a:rPr lang="en-GB" b="1">
                <a:solidFill>
                  <a:schemeClr val="tx2"/>
                </a:solidFill>
              </a:rPr>
              <a:t>Direct costs</a:t>
            </a:r>
          </a:p>
          <a:p>
            <a:r>
              <a:rPr lang="en-GB"/>
              <a:t>Assumed to increase in line with net revenue in the forecast period driven by proportionately increased warehouse and fulfilment costs due to a higher mix of online sales; offset by improved contribution margin from the retail portfolio primarily driven by better leverage of staff and occupancy costs which are both assumed to be relatively fixed in the forecast period.</a:t>
            </a:r>
          </a:p>
          <a:p>
            <a:endParaRPr lang="fi-FI" b="1">
              <a:solidFill>
                <a:schemeClr val="tx2"/>
              </a:solidFill>
            </a:endParaRPr>
          </a:p>
        </p:txBody>
      </p:sp>
      <p:sp>
        <p:nvSpPr>
          <p:cNvPr id="8" name="Text Placeholder 7">
            <a:extLst>
              <a:ext uri="{FF2B5EF4-FFF2-40B4-BE49-F238E27FC236}">
                <a16:creationId xmlns:a16="http://schemas.microsoft.com/office/drawing/2014/main" id="{97F969A5-F00F-4A19-AEAB-7EDF0AA69390}"/>
              </a:ext>
            </a:extLst>
          </p:cNvPr>
          <p:cNvSpPr>
            <a:spLocks noGrp="1"/>
          </p:cNvSpPr>
          <p:nvPr>
            <p:ph type="body" sz="quarter" idx="19"/>
          </p:nvPr>
        </p:nvSpPr>
        <p:spPr>
          <a:xfrm>
            <a:off x="6175864" y="4078430"/>
            <a:ext cx="5023949" cy="1795479"/>
          </a:xfrm>
        </p:spPr>
        <p:txBody>
          <a:bodyPr/>
          <a:lstStyle/>
          <a:p>
            <a:r>
              <a:rPr lang="fi-FI" b="1" dirty="0">
                <a:solidFill>
                  <a:schemeClr val="tx2"/>
                </a:solidFill>
              </a:rPr>
              <a:t>Marketing costs</a:t>
            </a:r>
          </a:p>
          <a:p>
            <a:r>
              <a:rPr lang="en-GB" dirty="0"/>
              <a:t>The forecast assumes significantly higher marketing costs to facilitate assumed customer acquisition. CPAs are assumed to increase in each period to reflect a less efficient marketing spend as the business scales and diversifies marketing channels (e.g. SEO and PPC).</a:t>
            </a:r>
          </a:p>
          <a:p>
            <a:r>
              <a:rPr lang="fi-FI" b="1" dirty="0">
                <a:solidFill>
                  <a:schemeClr val="tx2"/>
                </a:solidFill>
              </a:rPr>
              <a:t>Other overheads</a:t>
            </a:r>
          </a:p>
          <a:p>
            <a:r>
              <a:rPr lang="en-GB" dirty="0"/>
              <a:t>Growth is predominantly driven by staff costs relating to a higher head office headcount to support the growth of the online channel. Head office occupancy costs are assumed to increase by £0.4 million as a result of a larger head office since May 2021 and a relocation to larger premises assumed to take place in February 2023.</a:t>
            </a:r>
          </a:p>
          <a:p>
            <a:r>
              <a:rPr lang="en-GB" dirty="0"/>
              <a:t>The remaining overhead captions are assumed to increase over the forecast period to facilitate business growth.</a:t>
            </a:r>
          </a:p>
          <a:p>
            <a:endParaRPr lang="fi-FI" dirty="0"/>
          </a:p>
        </p:txBody>
      </p:sp>
      <p:sp>
        <p:nvSpPr>
          <p:cNvPr id="5" name="Text Placeholder 12">
            <a:extLst>
              <a:ext uri="{FF2B5EF4-FFF2-40B4-BE49-F238E27FC236}">
                <a16:creationId xmlns:a16="http://schemas.microsoft.com/office/drawing/2014/main" id="{74EAF5F0-4B7E-F783-FAE5-1221A0CDCFF7}"/>
              </a:ext>
            </a:extLst>
          </p:cNvPr>
          <p:cNvSpPr txBox="1">
            <a:spLocks/>
          </p:cNvSpPr>
          <p:nvPr/>
        </p:nvSpPr>
        <p:spPr>
          <a:xfrm>
            <a:off x="1004613" y="651611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cs typeface="Arial" pitchFamily="34" charset="0"/>
              </a:rPr>
              <a:t>Management accounts; </a:t>
            </a:r>
            <a:r>
              <a:rPr lang="pt-BR" sz="600" b="0" dirty="0">
                <a:cs typeface="Arial" pitchFamily="34" charset="0"/>
              </a:rPr>
              <a:t>6.1.5.4_Y 5YP Model 03112021 </a:t>
            </a:r>
            <a:r>
              <a:rPr lang="en-GB" sz="600" b="0" dirty="0">
                <a:cs typeface="Arial" pitchFamily="34" charset="0"/>
              </a:rPr>
              <a:t>	</a:t>
            </a:r>
            <a:endParaRPr lang="en-US" sz="600" b="0" dirty="0">
              <a:solidFill>
                <a:schemeClr val="tx2"/>
              </a:solidFill>
              <a:latin typeface="Arial" panose="020B0604020202020204" pitchFamily="34" charset="0"/>
            </a:endParaRPr>
          </a:p>
        </p:txBody>
      </p:sp>
      <p:sp>
        <p:nvSpPr>
          <p:cNvPr id="6" name="Text Placeholder 7">
            <a:extLst>
              <a:ext uri="{FF2B5EF4-FFF2-40B4-BE49-F238E27FC236}">
                <a16:creationId xmlns:a16="http://schemas.microsoft.com/office/drawing/2014/main" id="{E8640896-A977-498A-91B3-0D0F933AAF09}"/>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7" name="Text Placeholder 12">
            <a:extLst>
              <a:ext uri="{FF2B5EF4-FFF2-40B4-BE49-F238E27FC236}">
                <a16:creationId xmlns:a16="http://schemas.microsoft.com/office/drawing/2014/main" id="{285EBA53-4C05-2279-D54B-F06F7FADDFF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 name="Rounded Rectangle 7">
            <a:extLst>
              <a:ext uri="{FF2B5EF4-FFF2-40B4-BE49-F238E27FC236}">
                <a16:creationId xmlns:a16="http://schemas.microsoft.com/office/drawing/2014/main" id="{9F4AE5C2-637E-054D-F32E-78CCE90C7B4A}"/>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 name="Rectangle 9">
            <a:extLst>
              <a:ext uri="{FF2B5EF4-FFF2-40B4-BE49-F238E27FC236}">
                <a16:creationId xmlns:a16="http://schemas.microsoft.com/office/drawing/2014/main" id="{56B1B9B0-38B4-7E4D-78E2-9D22C186E762}"/>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FCCD2A49-F0AE-2833-F2B5-011DE4821DB7}"/>
              </a:ext>
            </a:extLst>
          </p:cNvPr>
          <p:cNvCxnSpPr>
            <a:cxnSpLocks/>
            <a:stCxn id="10" idx="2"/>
            <a:endCxn id="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EDDEC491-BA26-407F-8ECD-48D402D84297}"/>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2" name="Rectangle 91">
            <a:extLst>
              <a:ext uri="{FF2B5EF4-FFF2-40B4-BE49-F238E27FC236}">
                <a16:creationId xmlns:a16="http://schemas.microsoft.com/office/drawing/2014/main" id="{F76284F1-A2DF-4463-9717-6F0AF8B052C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3" name="Rectangle 92">
            <a:extLst>
              <a:ext uri="{FF2B5EF4-FFF2-40B4-BE49-F238E27FC236}">
                <a16:creationId xmlns:a16="http://schemas.microsoft.com/office/drawing/2014/main" id="{D6138CBE-3244-488D-AF36-01E699971EEA}"/>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4" name="Rectangle 93">
            <a:extLst>
              <a:ext uri="{FF2B5EF4-FFF2-40B4-BE49-F238E27FC236}">
                <a16:creationId xmlns:a16="http://schemas.microsoft.com/office/drawing/2014/main" id="{7AB98D60-B743-4E58-B5B5-320F643C9F84}"/>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5" name="Rectangle 94">
            <a:extLst>
              <a:ext uri="{FF2B5EF4-FFF2-40B4-BE49-F238E27FC236}">
                <a16:creationId xmlns:a16="http://schemas.microsoft.com/office/drawing/2014/main" id="{FA78B545-C551-4349-941D-1DA1BCC9334E}"/>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6" name="Rectangle 95">
            <a:extLst>
              <a:ext uri="{FF2B5EF4-FFF2-40B4-BE49-F238E27FC236}">
                <a16:creationId xmlns:a16="http://schemas.microsoft.com/office/drawing/2014/main" id="{4068F747-DAA9-4399-BAC8-B93C77B43DF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7" name="Rectangle 96">
            <a:extLst>
              <a:ext uri="{FF2B5EF4-FFF2-40B4-BE49-F238E27FC236}">
                <a16:creationId xmlns:a16="http://schemas.microsoft.com/office/drawing/2014/main" id="{62C824BD-A9DD-46C5-86CA-A7A819D65F38}"/>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8" name="Rectangle 97">
            <a:extLst>
              <a:ext uri="{FF2B5EF4-FFF2-40B4-BE49-F238E27FC236}">
                <a16:creationId xmlns:a16="http://schemas.microsoft.com/office/drawing/2014/main" id="{BC1E942C-9B07-4D18-AD28-C69A004F2025}"/>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99" name="Rectangle 98">
            <a:extLst>
              <a:ext uri="{FF2B5EF4-FFF2-40B4-BE49-F238E27FC236}">
                <a16:creationId xmlns:a16="http://schemas.microsoft.com/office/drawing/2014/main" id="{D06512F5-9E51-400C-AB0C-9AB9B572A3D7}"/>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17" name="Picture 16">
            <a:extLst>
              <a:ext uri="{FF2B5EF4-FFF2-40B4-BE49-F238E27FC236}">
                <a16:creationId xmlns:a16="http://schemas.microsoft.com/office/drawing/2014/main" id="{49B69DBC-249D-46B1-AC40-D3A8A73184C0}"/>
              </a:ext>
            </a:extLst>
          </p:cNvPr>
          <p:cNvPicPr>
            <a:picLocks noChangeAspect="1"/>
          </p:cNvPicPr>
          <p:nvPr>
            <p:custDataLst>
              <p:tags r:id="rId3"/>
            </p:custDataLst>
          </p:nvPr>
        </p:nvPicPr>
        <p:blipFill>
          <a:blip r:embed="rId10"/>
          <a:stretch>
            <a:fillRect/>
          </a:stretch>
        </p:blipFill>
        <p:spPr>
          <a:xfrm>
            <a:off x="980938" y="2214844"/>
            <a:ext cx="10192299" cy="1906199"/>
          </a:xfrm>
          <a:prstGeom prst="rect">
            <a:avLst/>
          </a:prstGeom>
        </p:spPr>
      </p:pic>
      <p:sp>
        <p:nvSpPr>
          <p:cNvPr id="61" name="Rectangle: Rounded Corners 60">
            <a:hlinkClick r:id="" action="ppaction://noaction"/>
            <a:extLst>
              <a:ext uri="{FF2B5EF4-FFF2-40B4-BE49-F238E27FC236}">
                <a16:creationId xmlns:a16="http://schemas.microsoft.com/office/drawing/2014/main" id="{9C098BA9-A6D8-40F9-B090-F34FAAED0FD5}"/>
              </a:ext>
            </a:extLst>
          </p:cNvPr>
          <p:cNvSpPr/>
          <p:nvPr/>
        </p:nvSpPr>
        <p:spPr>
          <a:xfrm>
            <a:off x="5153432" y="4091719"/>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62" name="Rectangle: Rounded Corners 61">
            <a:hlinkClick r:id="" action="ppaction://noaction"/>
            <a:extLst>
              <a:ext uri="{FF2B5EF4-FFF2-40B4-BE49-F238E27FC236}">
                <a16:creationId xmlns:a16="http://schemas.microsoft.com/office/drawing/2014/main" id="{94DE741F-37DB-4B8D-BDA7-A5B272CCE916}"/>
              </a:ext>
            </a:extLst>
          </p:cNvPr>
          <p:cNvSpPr/>
          <p:nvPr/>
        </p:nvSpPr>
        <p:spPr>
          <a:xfrm>
            <a:off x="5125833" y="510874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63" name="Rectangle: Rounded Corners 62">
            <a:hlinkClick r:id="" action="ppaction://noaction"/>
            <a:extLst>
              <a:ext uri="{FF2B5EF4-FFF2-40B4-BE49-F238E27FC236}">
                <a16:creationId xmlns:a16="http://schemas.microsoft.com/office/drawing/2014/main" id="{3C776120-4221-473B-AA96-ABB104478AE4}"/>
              </a:ext>
            </a:extLst>
          </p:cNvPr>
          <p:cNvSpPr/>
          <p:nvPr/>
        </p:nvSpPr>
        <p:spPr>
          <a:xfrm>
            <a:off x="10515287" y="412104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64" name="Rectangle: Rounded Corners 63">
            <a:hlinkClick r:id="" action="ppaction://noaction"/>
            <a:extLst>
              <a:ext uri="{FF2B5EF4-FFF2-40B4-BE49-F238E27FC236}">
                <a16:creationId xmlns:a16="http://schemas.microsoft.com/office/drawing/2014/main" id="{E95008B9-0528-41D6-BF5E-480DB1657594}"/>
              </a:ext>
            </a:extLst>
          </p:cNvPr>
          <p:cNvSpPr/>
          <p:nvPr/>
        </p:nvSpPr>
        <p:spPr>
          <a:xfrm>
            <a:off x="10489833" y="494533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3" name="UpSlide SubSection Marker" hidden="1">
            <a:extLst>
              <a:ext uri="{FF2B5EF4-FFF2-40B4-BE49-F238E27FC236}">
                <a16:creationId xmlns:a16="http://schemas.microsoft.com/office/drawing/2014/main" id="{E6517254-EB32-48EA-851F-A567E014EBAA}"/>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Forecast revenue and EBITDA bridge</a:t>
            </a:r>
            <a:endParaRPr lang="en-GB" sz="900" dirty="0">
              <a:solidFill>
                <a:schemeClr val="bg1"/>
              </a:solidFill>
            </a:endParaRPr>
          </a:p>
        </p:txBody>
      </p:sp>
      <p:grpSp>
        <p:nvGrpSpPr>
          <p:cNvPr id="37" name="Group 36">
            <a:extLst>
              <a:ext uri="{FF2B5EF4-FFF2-40B4-BE49-F238E27FC236}">
                <a16:creationId xmlns:a16="http://schemas.microsoft.com/office/drawing/2014/main" id="{D73118BD-DA66-4760-95A0-20241FB2B8FC}"/>
              </a:ext>
            </a:extLst>
          </p:cNvPr>
          <p:cNvGrpSpPr/>
          <p:nvPr>
            <p:custDataLst>
              <p:tags r:id="rId5"/>
            </p:custDataLst>
          </p:nvPr>
        </p:nvGrpSpPr>
        <p:grpSpPr>
          <a:xfrm>
            <a:off x="995364" y="153170"/>
            <a:ext cx="6234018" cy="195814"/>
            <a:chOff x="995364" y="153170"/>
            <a:chExt cx="6234018" cy="195814"/>
          </a:xfrm>
        </p:grpSpPr>
        <p:sp>
          <p:nvSpPr>
            <p:cNvPr id="3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41"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154313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dirty="0"/>
              <a:t>Upsides and sensitivities (1/5)</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r>
              <a:rPr lang="en-IN" dirty="0"/>
              <a:t>During our analysis of Management’s forecast assumptions we have identified potential areas of upside and sensitivities to the forecast plan.</a:t>
            </a:r>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30419728"/>
              </p:ext>
            </p:extLst>
          </p:nvPr>
        </p:nvGraphicFramePr>
        <p:xfrm>
          <a:off x="998401" y="1992948"/>
          <a:ext cx="10204346" cy="4144160"/>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213867">
                  <a:extLst>
                    <a:ext uri="{9D8B030D-6E8A-4147-A177-3AD203B41FA5}">
                      <a16:colId xmlns:a16="http://schemas.microsoft.com/office/drawing/2014/main" val="1869424930"/>
                    </a:ext>
                  </a:extLst>
                </a:gridCol>
                <a:gridCol w="1836000">
                  <a:extLst>
                    <a:ext uri="{9D8B030D-6E8A-4147-A177-3AD203B41FA5}">
                      <a16:colId xmlns:a16="http://schemas.microsoft.com/office/drawing/2014/main" val="3989268879"/>
                    </a:ext>
                  </a:extLst>
                </a:gridCol>
              </a:tblGrid>
              <a:tr h="270560">
                <a:tc>
                  <a:txBody>
                    <a:bodyPr/>
                    <a:lstStyle/>
                    <a:p>
                      <a:pPr>
                        <a:lnSpc>
                          <a:spcPct val="100000"/>
                        </a:lnSpc>
                      </a:pPr>
                      <a:endParaRPr lang="en-GB" sz="90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mn-lt"/>
                          <a:ea typeface="+mn-ea"/>
                          <a:cs typeface="+mn-cs"/>
                        </a:rPr>
                        <a:t>Potential EBITDA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chemeClr val="tx2"/>
                          </a:solidFill>
                          <a:effectLst/>
                          <a:uLnTx/>
                          <a:uFillTx/>
                          <a:latin typeface="+mn-lt"/>
                          <a:ea typeface="+mn-ea"/>
                          <a:cs typeface="+mn-cs"/>
                        </a:rPr>
                        <a:t>yy</a:t>
                      </a:r>
                      <a:r>
                        <a:rPr kumimoji="0" lang="en-US" sz="1000" b="1" i="0" u="none" strike="noStrike" kern="1200" cap="none" spc="0" normalizeH="0" baseline="0" noProof="0" dirty="0">
                          <a:ln>
                            <a:noFill/>
                          </a:ln>
                          <a:solidFill>
                            <a:schemeClr val="tx2"/>
                          </a:solidFill>
                          <a:effectLst/>
                          <a:uLnTx/>
                          <a:uFillTx/>
                          <a:latin typeface="+mn-lt"/>
                          <a:ea typeface="+mn-ea"/>
                          <a:cs typeface="+mn-cs"/>
                        </a:rPr>
                        <a:t> customer acquisition</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baseline="0" dirty="0">
                          <a:solidFill>
                            <a:schemeClr val="tx1"/>
                          </a:solidFill>
                          <a:latin typeface="+mn-lt"/>
                          <a:ea typeface="+mn-ea"/>
                          <a:cs typeface="+mn-cs"/>
                        </a:rPr>
                        <a:t>The </a:t>
                      </a:r>
                      <a:r>
                        <a:rPr lang="en-GB" sz="1000" b="0" u="none" strike="noStrike" kern="1200" baseline="0" dirty="0" err="1">
                          <a:solidFill>
                            <a:schemeClr val="tx1"/>
                          </a:solidFill>
                          <a:latin typeface="+mn-lt"/>
                          <a:ea typeface="+mn-ea"/>
                          <a:cs typeface="+mn-cs"/>
                        </a:rPr>
                        <a:t>yy</a:t>
                      </a:r>
                      <a:r>
                        <a:rPr lang="en-GB" sz="1000" b="0" u="none" strike="noStrike" kern="1200" baseline="0" dirty="0">
                          <a:solidFill>
                            <a:schemeClr val="tx1"/>
                          </a:solidFill>
                          <a:latin typeface="+mn-lt"/>
                          <a:ea typeface="+mn-ea"/>
                          <a:cs typeface="+mn-cs"/>
                        </a:rPr>
                        <a:t> online net revenue forecast is underpinned by new customer acquisition. Management has assumed new customer growth to be lower in the forecast period (38.8% CAGR) compared with historical performance (46.4% CAGR). </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baseline="0" dirty="0" err="1">
                          <a:solidFill>
                            <a:schemeClr val="tx1"/>
                          </a:solidFill>
                        </a:rPr>
                        <a:t>yy</a:t>
                      </a:r>
                      <a:r>
                        <a:rPr lang="en-GB" sz="1000" b="0" u="none" strike="noStrike" baseline="0" dirty="0">
                          <a:solidFill>
                            <a:schemeClr val="tx1"/>
                          </a:solidFill>
                        </a:rPr>
                        <a:t> customer acquisition is supported by higher assumed customer acquisition costs in the forecast and we also note that assumed CPAs increase over the forecast at a greater rate than new customer revenue growth and new customer revenue growth is slower than has been achieved historically. However, there is a potential risk/ upside if customer behaviour was to alter in a post Covid-19/less Covid-19 impacted environment.</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We have not sought to quantify the impact of higher or lower customer acquisition on the basis that the commercial due diligence report is supportive of customer acquisition assumptions, albeit it relies on continued marketing investment and CPAs to remain in line with the assumed rates. </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n/a</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8153674"/>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chemeClr val="tx2"/>
                          </a:solidFill>
                          <a:effectLst/>
                          <a:uLnTx/>
                          <a:uFillTx/>
                          <a:latin typeface="+mn-lt"/>
                          <a:ea typeface="+mn-ea"/>
                          <a:cs typeface="+mn-cs"/>
                        </a:rPr>
                        <a:t>yy</a:t>
                      </a:r>
                      <a:r>
                        <a:rPr kumimoji="0" lang="en-US" sz="1000" b="1" i="0" u="none" strike="noStrike" kern="1200" cap="none" spc="0" normalizeH="0" baseline="0" noProof="0" dirty="0">
                          <a:ln>
                            <a:noFill/>
                          </a:ln>
                          <a:solidFill>
                            <a:schemeClr val="tx2"/>
                          </a:solidFill>
                          <a:effectLst/>
                          <a:uLnTx/>
                          <a:uFillTx/>
                          <a:latin typeface="+mn-lt"/>
                          <a:ea typeface="+mn-ea"/>
                          <a:cs typeface="+mn-cs"/>
                        </a:rPr>
                        <a:t> revenue growth</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Significant growth is assumed for the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online channel, based on the Management assumption that there is a large affluent addressable market.</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The commercial due diligence report is supportive of the market opportunity in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but notes that there is no dedicated team to drive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growth or infrastructure to drive expansion. Management believes there is sufficient assumed headcount in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to generate assumed growth in all territories. We note that there is a limited track record to support the forecast assumptions on orders per </a:t>
                      </a:r>
                      <a:r>
                        <a:rPr kumimoji="0" lang="en-GB" sz="1000" b="0" i="0" u="none" strike="noStrike" kern="1200" cap="none" spc="0" normalizeH="0" baseline="0" noProof="0" dirty="0" err="1">
                          <a:ln>
                            <a:noFill/>
                          </a:ln>
                          <a:solidFill>
                            <a:schemeClr val="tx1"/>
                          </a:solidFill>
                          <a:effectLst/>
                          <a:uLnTx/>
                          <a:uFillTx/>
                          <a:latin typeface="+mn-lt"/>
                          <a:ea typeface="+mn-ea"/>
                          <a:cs typeface="+mn-cs"/>
                        </a:rPr>
                        <a:t>orderer</a:t>
                      </a:r>
                      <a:r>
                        <a:rPr kumimoji="0" lang="en-GB" sz="1000" b="0" i="0" u="none" strike="noStrike" kern="1200" cap="none" spc="0" normalizeH="0" baseline="0" noProof="0" dirty="0">
                          <a:ln>
                            <a:noFill/>
                          </a:ln>
                          <a:solidFill>
                            <a:schemeClr val="tx1"/>
                          </a:solidFill>
                          <a:effectLst/>
                          <a:uLnTx/>
                          <a:uFillTx/>
                          <a:latin typeface="+mn-lt"/>
                          <a:ea typeface="+mn-ea"/>
                          <a:cs typeface="+mn-cs"/>
                        </a:rPr>
                        <a:t> and AOV, however, Customer acquisition would again appear to be supported by higher customer acquisition costs.</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We have not sought to quantify the impact of higher or lower customer acquisition however we have proposed a potential sensitivity to reflect the EBITDA impact if orders per </a:t>
                      </a:r>
                      <a:r>
                        <a:rPr lang="en-GB" sz="1000" b="0" u="none" strike="noStrike" kern="1200" dirty="0" err="1">
                          <a:solidFill>
                            <a:schemeClr val="tx1"/>
                          </a:solidFill>
                          <a:latin typeface="+mn-lt"/>
                          <a:ea typeface="+mn-ea"/>
                          <a:cs typeface="+mn-cs"/>
                        </a:rPr>
                        <a:t>orderer</a:t>
                      </a:r>
                      <a:r>
                        <a:rPr lang="en-GB" sz="1000" b="0" u="none" strike="noStrike" kern="1200" dirty="0">
                          <a:solidFill>
                            <a:schemeClr val="tx1"/>
                          </a:solidFill>
                          <a:latin typeface="+mn-lt"/>
                          <a:ea typeface="+mn-ea"/>
                          <a:cs typeface="+mn-cs"/>
                        </a:rPr>
                        <a:t> was to remain in line with FY21 levels. This would represent a £0.1 million, £0.2 million, £0.3 million and £0.4 million EBITDA reduction in FY22, FY23, FY24 and FY25, respectively.</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£1.0m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14104108"/>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08532" y="26381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40" name="AutoShape 6">
            <a:extLst>
              <a:ext uri="{FF2B5EF4-FFF2-40B4-BE49-F238E27FC236}">
                <a16:creationId xmlns:a16="http://schemas.microsoft.com/office/drawing/2014/main" id="{4279D4A2-A9A0-419D-93AB-4A68D3CFE34A}"/>
              </a:ext>
            </a:extLst>
          </p:cNvPr>
          <p:cNvSpPr>
            <a:spLocks noChangeArrowheads="1"/>
          </p:cNvSpPr>
          <p:nvPr/>
        </p:nvSpPr>
        <p:spPr bwMode="gray">
          <a:xfrm flipH="1" flipV="1">
            <a:off x="9108532" y="3236793"/>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0" name="AutoShape 6">
            <a:extLst>
              <a:ext uri="{FF2B5EF4-FFF2-40B4-BE49-F238E27FC236}">
                <a16:creationId xmlns:a16="http://schemas.microsoft.com/office/drawing/2014/main" id="{ECE24D5A-CFA0-479A-97B4-3D3DA87F9AB7}"/>
              </a:ext>
            </a:extLst>
          </p:cNvPr>
          <p:cNvSpPr>
            <a:spLocks noChangeArrowheads="1"/>
          </p:cNvSpPr>
          <p:nvPr/>
        </p:nvSpPr>
        <p:spPr bwMode="gray">
          <a:xfrm flipH="1" flipV="1">
            <a:off x="9108532" y="4856043"/>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 name="UpSlide SubSection Marker" hidden="1">
            <a:extLst>
              <a:ext uri="{FF2B5EF4-FFF2-40B4-BE49-F238E27FC236}">
                <a16:creationId xmlns:a16="http://schemas.microsoft.com/office/drawing/2014/main" id="{D23FEFA0-5421-4E36-99D2-A057026620A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Upsides and sensitivities</a:t>
            </a:r>
            <a:endParaRPr lang="en-GB" sz="900" dirty="0">
              <a:solidFill>
                <a:schemeClr val="bg1"/>
              </a:solidFill>
            </a:endParaRPr>
          </a:p>
        </p:txBody>
      </p:sp>
      <p:grpSp>
        <p:nvGrpSpPr>
          <p:cNvPr id="21" name="Group 20">
            <a:extLst>
              <a:ext uri="{FF2B5EF4-FFF2-40B4-BE49-F238E27FC236}">
                <a16:creationId xmlns:a16="http://schemas.microsoft.com/office/drawing/2014/main" id="{D73118BD-DA66-4760-95A0-20241FB2B8FC}"/>
              </a:ext>
            </a:extLst>
          </p:cNvPr>
          <p:cNvGrpSpPr/>
          <p:nvPr>
            <p:custDataLst>
              <p:tags r:id="rId3"/>
            </p:custDataLst>
          </p:nvPr>
        </p:nvGrpSpPr>
        <p:grpSpPr>
          <a:xfrm>
            <a:off x="995364" y="153170"/>
            <a:ext cx="6234018" cy="195814"/>
            <a:chOff x="995364" y="153170"/>
            <a:chExt cx="623401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2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1"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585672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dirty="0"/>
              <a:t>Upsides and sensitivities (2/5)</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r>
              <a:rPr lang="en-IN" dirty="0"/>
              <a:t>During our analysis of Management’s forecast assumptions we have identified potential areas of upside and sensitivities to the forecast plan.</a:t>
            </a:r>
          </a:p>
          <a:p>
            <a:endParaRPr lang="en-IN" dirty="0"/>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570761716"/>
              </p:ext>
            </p:extLst>
          </p:nvPr>
        </p:nvGraphicFramePr>
        <p:xfrm>
          <a:off x="998401" y="1992948"/>
          <a:ext cx="10204346" cy="4220360"/>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213867">
                  <a:extLst>
                    <a:ext uri="{9D8B030D-6E8A-4147-A177-3AD203B41FA5}">
                      <a16:colId xmlns:a16="http://schemas.microsoft.com/office/drawing/2014/main" val="1869424930"/>
                    </a:ext>
                  </a:extLst>
                </a:gridCol>
                <a:gridCol w="1836000">
                  <a:extLst>
                    <a:ext uri="{9D8B030D-6E8A-4147-A177-3AD203B41FA5}">
                      <a16:colId xmlns:a16="http://schemas.microsoft.com/office/drawing/2014/main" val="3989268879"/>
                    </a:ext>
                  </a:extLst>
                </a:gridCol>
              </a:tblGrid>
              <a:tr h="270560">
                <a:tc>
                  <a:txBody>
                    <a:bodyPr/>
                    <a:lstStyle/>
                    <a:p>
                      <a:pPr>
                        <a:lnSpc>
                          <a:spcPct val="100000"/>
                        </a:lnSpc>
                      </a:pPr>
                      <a:endParaRPr lang="en-GB" sz="900" dirty="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mn-lt"/>
                          <a:ea typeface="+mn-ea"/>
                          <a:cs typeface="+mn-cs"/>
                        </a:rPr>
                        <a:t>Potential EBITDA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chemeClr val="tx2"/>
                          </a:solidFill>
                          <a:effectLst/>
                          <a:uLnTx/>
                          <a:uFillTx/>
                          <a:latin typeface="+mn-lt"/>
                          <a:ea typeface="+mn-ea"/>
                          <a:cs typeface="+mn-cs"/>
                        </a:rPr>
                        <a:t>yy</a:t>
                      </a:r>
                      <a:r>
                        <a:rPr kumimoji="0" lang="en-US" sz="1000" b="1" i="0" u="none" strike="noStrike" kern="1200" cap="none" spc="0" normalizeH="0" baseline="0" noProof="0" dirty="0">
                          <a:ln>
                            <a:noFill/>
                          </a:ln>
                          <a:solidFill>
                            <a:schemeClr val="tx2"/>
                          </a:solidFill>
                          <a:effectLst/>
                          <a:uLnTx/>
                          <a:uFillTx/>
                          <a:latin typeface="+mn-lt"/>
                          <a:ea typeface="+mn-ea"/>
                          <a:cs typeface="+mn-cs"/>
                        </a:rPr>
                        <a:t> revenue</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baseline="0" dirty="0">
                          <a:solidFill>
                            <a:schemeClr val="tx1"/>
                          </a:solidFill>
                          <a:latin typeface="+mn-lt"/>
                          <a:ea typeface="+mn-ea"/>
                          <a:cs typeface="+mn-cs"/>
                        </a:rPr>
                        <a:t>High revenue growth has also been assumed for the </a:t>
                      </a:r>
                      <a:r>
                        <a:rPr lang="en-GB" sz="1000" b="0" u="none" strike="noStrike" kern="1200" baseline="0" dirty="0" err="1">
                          <a:solidFill>
                            <a:schemeClr val="tx1"/>
                          </a:solidFill>
                          <a:latin typeface="+mn-lt"/>
                          <a:ea typeface="+mn-ea"/>
                          <a:cs typeface="+mn-cs"/>
                        </a:rPr>
                        <a:t>yy</a:t>
                      </a:r>
                      <a:r>
                        <a:rPr lang="en-GB" sz="1000" b="0" u="none" strike="noStrike" kern="1200" baseline="0" dirty="0">
                          <a:solidFill>
                            <a:schemeClr val="tx1"/>
                          </a:solidFill>
                          <a:latin typeface="+mn-lt"/>
                          <a:ea typeface="+mn-ea"/>
                          <a:cs typeface="+mn-cs"/>
                        </a:rPr>
                        <a:t> online channel. Whilst Management has identified a number of potential territories on which to focus, there is no specific geographical assumptions in the model.</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baseline="0" dirty="0">
                          <a:solidFill>
                            <a:schemeClr val="tx1"/>
                          </a:solidFill>
                        </a:rPr>
                        <a:t>The commercial due diligence report has stated the difficulty in assessing forecast assumptions given there are not defined territories, however notes that there is opportunity in the markets identified by Management (e.g. </a:t>
                      </a:r>
                      <a:r>
                        <a:rPr lang="en-GB" sz="1000" b="0" u="none" strike="noStrike" baseline="0" dirty="0" err="1">
                          <a:solidFill>
                            <a:schemeClr val="tx1"/>
                          </a:solidFill>
                        </a:rPr>
                        <a:t>yy</a:t>
                      </a:r>
                      <a:r>
                        <a:rPr lang="en-GB" sz="1000" b="0" u="none" strike="noStrike" baseline="0" dirty="0">
                          <a:solidFill>
                            <a:schemeClr val="tx1"/>
                          </a:solidFill>
                        </a:rPr>
                        <a:t>).</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baseline="0" dirty="0">
                          <a:solidFill>
                            <a:schemeClr val="tx1"/>
                          </a:solidFill>
                        </a:rPr>
                        <a:t>We believe customer acquisition is supported by assumed investment in customer acquisition costs in the forecast. Similarly to </a:t>
                      </a:r>
                      <a:r>
                        <a:rPr lang="en-GB" sz="1000" b="0" u="none" strike="noStrike" baseline="0" dirty="0" err="1">
                          <a:solidFill>
                            <a:schemeClr val="tx1"/>
                          </a:solidFill>
                        </a:rPr>
                        <a:t>yy</a:t>
                      </a:r>
                      <a:r>
                        <a:rPr lang="en-GB" sz="1000" b="0" u="none" strike="noStrike" baseline="0" dirty="0">
                          <a:solidFill>
                            <a:schemeClr val="tx1"/>
                          </a:solidFill>
                        </a:rPr>
                        <a:t> market, there is a limited track record to assess forecast assumptions with, especially given </a:t>
                      </a:r>
                      <a:r>
                        <a:rPr lang="en-GB" sz="1000" b="0" u="none" strike="noStrike" baseline="0" dirty="0" err="1">
                          <a:solidFill>
                            <a:schemeClr val="tx1"/>
                          </a:solidFill>
                        </a:rPr>
                        <a:t>yy</a:t>
                      </a:r>
                      <a:r>
                        <a:rPr lang="en-GB" sz="1000" b="0" u="none" strike="noStrike" baseline="0" dirty="0">
                          <a:solidFill>
                            <a:schemeClr val="tx1"/>
                          </a:solidFill>
                        </a:rPr>
                        <a:t> consists of a number of territories.</a:t>
                      </a:r>
                    </a:p>
                    <a:p>
                      <a:pPr marL="171450" indent="-171450" algn="l" defTabSz="914400" rtl="0" eaLnBrk="1" latinLnBrk="0" hangingPunct="1">
                        <a:spcAft>
                          <a:spcPts val="600"/>
                        </a:spcAft>
                        <a:buFont typeface="Arial" panose="020B0604020202020204" pitchFamily="34" charset="0"/>
                        <a:buChar char="•"/>
                      </a:pPr>
                      <a:r>
                        <a:rPr lang="en-GB" sz="1000" b="0" u="none" strike="noStrike" kern="1200" dirty="0">
                          <a:solidFill>
                            <a:schemeClr val="tx1"/>
                          </a:solidFill>
                          <a:latin typeface="+mn-lt"/>
                          <a:ea typeface="+mn-ea"/>
                          <a:cs typeface="+mn-cs"/>
                        </a:rPr>
                        <a:t>We have not sought to quantify the impact of higher or lower customer acquisition. We do note the inherent risk around all forecast assumptions based on the limited track record as well as the fact that there is no specific assumption on which territories Management intends to focus on.</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n/a</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8153674"/>
                  </a:ext>
                </a:extLst>
              </a:tr>
              <a:tr h="596019">
                <a:tc>
                  <a:txBody>
                    <a:bodyPr/>
                    <a:lstStyle/>
                    <a:p>
                      <a:pPr>
                        <a:spcAft>
                          <a:spcPts val="600"/>
                        </a:spcAft>
                      </a:pPr>
                      <a:r>
                        <a:rPr lang="en-GB" sz="1000" b="1" u="none" dirty="0" err="1">
                          <a:solidFill>
                            <a:schemeClr val="tx2"/>
                          </a:solidFill>
                        </a:rPr>
                        <a:t>yy</a:t>
                      </a:r>
                      <a:r>
                        <a:rPr lang="en-GB" sz="1000" b="1" u="none" dirty="0">
                          <a:solidFill>
                            <a:schemeClr val="tx2"/>
                          </a:solidFill>
                        </a:rPr>
                        <a:t> customer quality</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that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orders per </a:t>
                      </a:r>
                      <a:r>
                        <a:rPr kumimoji="0" lang="en-GB" sz="1000" b="0" i="0" u="none" strike="noStrike" kern="1200" cap="none" spc="0" normalizeH="0" baseline="0" noProof="0" dirty="0" err="1">
                          <a:ln>
                            <a:noFill/>
                          </a:ln>
                          <a:solidFill>
                            <a:schemeClr val="tx1"/>
                          </a:solidFill>
                          <a:effectLst/>
                          <a:uLnTx/>
                          <a:uFillTx/>
                          <a:latin typeface="+mn-lt"/>
                          <a:ea typeface="+mn-ea"/>
                          <a:cs typeface="+mn-cs"/>
                        </a:rPr>
                        <a:t>orderer</a:t>
                      </a:r>
                      <a:r>
                        <a:rPr kumimoji="0" lang="en-GB" sz="1000" b="0" i="0" u="none" strike="noStrike" kern="1200" cap="none" spc="0" normalizeH="0" baseline="0" noProof="0" dirty="0">
                          <a:ln>
                            <a:noFill/>
                          </a:ln>
                          <a:solidFill>
                            <a:schemeClr val="tx1"/>
                          </a:solidFill>
                          <a:effectLst/>
                          <a:uLnTx/>
                          <a:uFillTx/>
                          <a:latin typeface="+mn-lt"/>
                          <a:ea typeface="+mn-ea"/>
                          <a:cs typeface="+mn-cs"/>
                        </a:rPr>
                        <a:t> will decline over the forecast period from 1.98 in FY21 to 1.85 in FY25. This is based on the assumption that the quality of customer will decrease as the customer base increases.</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Orders per </a:t>
                      </a:r>
                      <a:r>
                        <a:rPr kumimoji="0" lang="en-GB" sz="1000" b="0" i="0" u="none" strike="noStrike" kern="1200" cap="none" spc="0" normalizeH="0" baseline="0" noProof="0" dirty="0" err="1">
                          <a:ln>
                            <a:noFill/>
                          </a:ln>
                          <a:solidFill>
                            <a:schemeClr val="tx1"/>
                          </a:solidFill>
                          <a:effectLst/>
                          <a:uLnTx/>
                          <a:uFillTx/>
                          <a:latin typeface="+mn-lt"/>
                          <a:ea typeface="+mn-ea"/>
                          <a:cs typeface="+mn-cs"/>
                        </a:rPr>
                        <a:t>orderer</a:t>
                      </a:r>
                      <a:r>
                        <a:rPr kumimoji="0" lang="en-GB" sz="1000" b="0" i="0" u="none" strike="noStrike" kern="1200" cap="none" spc="0" normalizeH="0" baseline="0" noProof="0" dirty="0">
                          <a:ln>
                            <a:noFill/>
                          </a:ln>
                          <a:solidFill>
                            <a:schemeClr val="tx1"/>
                          </a:solidFill>
                          <a:effectLst/>
                          <a:uLnTx/>
                          <a:uFillTx/>
                          <a:latin typeface="+mn-lt"/>
                          <a:ea typeface="+mn-ea"/>
                          <a:cs typeface="+mn-cs"/>
                        </a:rPr>
                        <a:t> have increased from 1.84 in FY19 to 1.98 in FY21. We note that Management intends to implement a new CRM and customer analytics system. We therefore note that the assumed decline is not in line with historical performance (albeit this may have been impacted by Covid-19) or Management incentives.</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Assuming orders per </a:t>
                      </a:r>
                      <a:r>
                        <a:rPr lang="en-GB" sz="1000" b="0" u="none" strike="noStrike" kern="1200" dirty="0" err="1">
                          <a:solidFill>
                            <a:schemeClr val="tx1"/>
                          </a:solidFill>
                          <a:latin typeface="+mn-lt"/>
                          <a:ea typeface="+mn-ea"/>
                          <a:cs typeface="+mn-cs"/>
                        </a:rPr>
                        <a:t>orderer</a:t>
                      </a:r>
                      <a:r>
                        <a:rPr lang="en-GB" sz="1000" b="0" u="none" strike="noStrike" kern="1200" dirty="0">
                          <a:solidFill>
                            <a:schemeClr val="tx1"/>
                          </a:solidFill>
                          <a:latin typeface="+mn-lt"/>
                          <a:ea typeface="+mn-ea"/>
                          <a:cs typeface="+mn-cs"/>
                        </a:rPr>
                        <a:t> rates remained in line with FY21 and assumed contribution margin was achieved, this would represent a potential EBITDA upside of £0.3 million, £1.2 million and £2.2 million in FY23, FY24 and FY25, respectively.</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£3.7m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14104108"/>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08532" y="26381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40" name="AutoShape 6">
            <a:extLst>
              <a:ext uri="{FF2B5EF4-FFF2-40B4-BE49-F238E27FC236}">
                <a16:creationId xmlns:a16="http://schemas.microsoft.com/office/drawing/2014/main" id="{4279D4A2-A9A0-419D-93AB-4A68D3CFE34A}"/>
              </a:ext>
            </a:extLst>
          </p:cNvPr>
          <p:cNvSpPr>
            <a:spLocks noChangeArrowheads="1"/>
          </p:cNvSpPr>
          <p:nvPr/>
        </p:nvSpPr>
        <p:spPr bwMode="gray">
          <a:xfrm flipH="1" flipV="1">
            <a:off x="9108532" y="3236793"/>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0" name="AutoShape 4">
            <a:extLst>
              <a:ext uri="{FF2B5EF4-FFF2-40B4-BE49-F238E27FC236}">
                <a16:creationId xmlns:a16="http://schemas.microsoft.com/office/drawing/2014/main" id="{C7777899-4DD3-42CE-9B12-0AF75DA884FB}"/>
              </a:ext>
            </a:extLst>
          </p:cNvPr>
          <p:cNvSpPr>
            <a:spLocks noChangeArrowheads="1"/>
          </p:cNvSpPr>
          <p:nvPr/>
        </p:nvSpPr>
        <p:spPr bwMode="gray">
          <a:xfrm rot="10800000" flipH="1" flipV="1">
            <a:off x="9108532" y="495592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 name="UpSlide SubSection Marker" hidden="1">
            <a:extLst>
              <a:ext uri="{FF2B5EF4-FFF2-40B4-BE49-F238E27FC236}">
                <a16:creationId xmlns:a16="http://schemas.microsoft.com/office/drawing/2014/main" id="{A3049B32-D55A-4403-8B82-7BD43094C18C}"/>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Upsides and sensitivities</a:t>
            </a:r>
            <a:endParaRPr lang="en-GB" sz="900" dirty="0">
              <a:solidFill>
                <a:schemeClr val="bg1"/>
              </a:solidFill>
            </a:endParaRPr>
          </a:p>
        </p:txBody>
      </p:sp>
      <p:grpSp>
        <p:nvGrpSpPr>
          <p:cNvPr id="21" name="Group 20">
            <a:extLst>
              <a:ext uri="{FF2B5EF4-FFF2-40B4-BE49-F238E27FC236}">
                <a16:creationId xmlns:a16="http://schemas.microsoft.com/office/drawing/2014/main" id="{D73118BD-DA66-4760-95A0-20241FB2B8FC}"/>
              </a:ext>
            </a:extLst>
          </p:cNvPr>
          <p:cNvGrpSpPr/>
          <p:nvPr>
            <p:custDataLst>
              <p:tags r:id="rId3"/>
            </p:custDataLst>
          </p:nvPr>
        </p:nvGrpSpPr>
        <p:grpSpPr>
          <a:xfrm>
            <a:off x="995364" y="153170"/>
            <a:ext cx="6234018" cy="195814"/>
            <a:chOff x="995364" y="153170"/>
            <a:chExt cx="623401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2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1"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95249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dirty="0"/>
              <a:t>Upsides and sensitivities (3/5)</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r>
              <a:rPr lang="en-IN" dirty="0"/>
              <a:t>During our analysis of Management’s forecast assumptions we have identified potential areas of upside and sensitivities to the forecast plan.</a:t>
            </a:r>
          </a:p>
          <a:p>
            <a:endParaRPr lang="en-IN" dirty="0"/>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4082916470"/>
              </p:ext>
            </p:extLst>
          </p:nvPr>
        </p:nvGraphicFramePr>
        <p:xfrm>
          <a:off x="998401" y="1992948"/>
          <a:ext cx="10204346" cy="4144160"/>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213867">
                  <a:extLst>
                    <a:ext uri="{9D8B030D-6E8A-4147-A177-3AD203B41FA5}">
                      <a16:colId xmlns:a16="http://schemas.microsoft.com/office/drawing/2014/main" val="1869424930"/>
                    </a:ext>
                  </a:extLst>
                </a:gridCol>
                <a:gridCol w="1836000">
                  <a:extLst>
                    <a:ext uri="{9D8B030D-6E8A-4147-A177-3AD203B41FA5}">
                      <a16:colId xmlns:a16="http://schemas.microsoft.com/office/drawing/2014/main" val="3989268879"/>
                    </a:ext>
                  </a:extLst>
                </a:gridCol>
              </a:tblGrid>
              <a:tr h="270560">
                <a:tc>
                  <a:txBody>
                    <a:bodyPr/>
                    <a:lstStyle/>
                    <a:p>
                      <a:pPr>
                        <a:lnSpc>
                          <a:spcPct val="100000"/>
                        </a:lnSpc>
                      </a:pPr>
                      <a:endParaRPr lang="en-GB" sz="900" dirty="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mn-lt"/>
                          <a:ea typeface="+mn-ea"/>
                          <a:cs typeface="+mn-cs"/>
                        </a:rPr>
                        <a:t>Potential EBITDA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GB" sz="1000" b="1" u="none" dirty="0" err="1">
                          <a:solidFill>
                            <a:schemeClr val="tx2"/>
                          </a:solidFill>
                        </a:rPr>
                        <a:t>yy</a:t>
                      </a:r>
                      <a:r>
                        <a:rPr lang="en-GB" sz="1000" b="1" u="none" dirty="0">
                          <a:solidFill>
                            <a:schemeClr val="tx2"/>
                          </a:solidFill>
                        </a:rPr>
                        <a:t> AOV</a:t>
                      </a:r>
                    </a:p>
                    <a:p>
                      <a:pPr>
                        <a:spcAft>
                          <a:spcPts val="600"/>
                        </a:spcAft>
                      </a:pPr>
                      <a:endParaRPr lang="en-GB" sz="1000" b="1" u="none" dirty="0">
                        <a:solidFill>
                          <a:schemeClr val="tx2"/>
                        </a:solidFill>
                      </a:endParaRP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baseline="0" dirty="0">
                          <a:solidFill>
                            <a:schemeClr val="tx1"/>
                          </a:solidFill>
                          <a:latin typeface="+mn-lt"/>
                          <a:ea typeface="+mn-ea"/>
                          <a:cs typeface="+mn-cs"/>
                        </a:rPr>
                        <a:t>Management has assumed existing customer AOV to be £219, £220 and £225 in FY23, FY24 and FY25, respectively and new customer AOV to be £206, £208 and £212 in FY23, FY24 and FY25, respectively.</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baseline="0" dirty="0">
                          <a:solidFill>
                            <a:schemeClr val="tx1"/>
                          </a:solidFill>
                        </a:rPr>
                        <a:t>Management has stated that YTD22 </a:t>
                      </a:r>
                      <a:r>
                        <a:rPr lang="en-GB" sz="1000" b="0" u="none" strike="noStrike" baseline="0" dirty="0" err="1">
                          <a:solidFill>
                            <a:schemeClr val="tx1"/>
                          </a:solidFill>
                        </a:rPr>
                        <a:t>yy</a:t>
                      </a:r>
                      <a:r>
                        <a:rPr lang="en-GB" sz="1000" b="0" u="none" strike="noStrike" baseline="0" dirty="0">
                          <a:solidFill>
                            <a:schemeClr val="tx1"/>
                          </a:solidFill>
                        </a:rPr>
                        <a:t> blended AOV is £244 which is in excess of that assumed in the forecast. Management is implementing a number of initiatives in the forecast period, for example investment in a new analytics partner (</a:t>
                      </a:r>
                      <a:r>
                        <a:rPr lang="en-GB" sz="1000" b="0" u="none" strike="noStrike" baseline="0" dirty="0" err="1">
                          <a:solidFill>
                            <a:schemeClr val="tx1"/>
                          </a:solidFill>
                        </a:rPr>
                        <a:t>yy</a:t>
                      </a:r>
                      <a:r>
                        <a:rPr lang="en-GB" sz="1000" b="0" u="none" strike="noStrike" baseline="0" dirty="0">
                          <a:solidFill>
                            <a:schemeClr val="tx1"/>
                          </a:solidFill>
                        </a:rPr>
                        <a:t>) and stretching the price architecture to fill more premium price points with the view to increase AOVs.</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baseline="0" dirty="0">
                          <a:solidFill>
                            <a:schemeClr val="tx1"/>
                          </a:solidFill>
                        </a:rPr>
                        <a:t>We have proposed a potential upside to reflect the EBITDA impact if </a:t>
                      </a:r>
                      <a:r>
                        <a:rPr lang="en-GB" sz="1000" b="0" u="none" strike="noStrike" baseline="0" dirty="0" err="1">
                          <a:solidFill>
                            <a:schemeClr val="tx1"/>
                          </a:solidFill>
                        </a:rPr>
                        <a:t>yy</a:t>
                      </a:r>
                      <a:r>
                        <a:rPr lang="en-GB" sz="1000" b="0" u="none" strike="noStrike" baseline="0" dirty="0">
                          <a:solidFill>
                            <a:schemeClr val="tx1"/>
                          </a:solidFill>
                        </a:rPr>
                        <a:t> AOV was to remain in line with the six month period to May 2021. This could potentially generate a £0.6 million EBITDA increase in FY23 and FY24 and a £40,000 uplift in FY25 if assumed contribution margins are maintained.</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£1.2m</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8153674"/>
                  </a:ext>
                </a:extLst>
              </a:tr>
              <a:tr h="596019">
                <a:tc>
                  <a:txBody>
                    <a:bodyPr/>
                    <a:lstStyle/>
                    <a:p>
                      <a:pPr>
                        <a:spcAft>
                          <a:spcPts val="600"/>
                        </a:spcAft>
                      </a:pPr>
                      <a:r>
                        <a:rPr lang="en-GB" sz="1000" b="1" u="none" dirty="0">
                          <a:solidFill>
                            <a:schemeClr val="tx2"/>
                          </a:solidFill>
                        </a:rPr>
                        <a:t>Boutique I</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Boutique I will open and Boutique A will close in February 2022, however Y was outbid for the original planned site. Management has stated that it is looking for suitable sites however may decide to stay at Boutique A beyond February 2022 if a suitable site cannot be found.</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Based on current LFL performance, the Boutique A boutique is on course to generate the same level of sales as assumed for Boutique I and, due to the smaller boutique footprint, the cost base is also lower. Management has stated that the move to Boutique I would be EBITDA neutral as the sales up lift of moving to Boutique I would likely be offset by lower contribution margin due to the higher staff and occupancy costs. </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We have not sought to quantify the EBITDA impact of moving to an alternative boutique on the basis that a site has not been identified and therefore the cost base nor the associated uplift in sales can be estimated accurately. We note that the forecast includes £175,000 of capex associated to the opening of the Boutique I store. To the extent that Management decides to continue trading from Boutique A, this would represent a cash upside to the model.</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£0.2m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14104108"/>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08532" y="26381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0" name="AutoShape 4">
            <a:extLst>
              <a:ext uri="{FF2B5EF4-FFF2-40B4-BE49-F238E27FC236}">
                <a16:creationId xmlns:a16="http://schemas.microsoft.com/office/drawing/2014/main" id="{C7777899-4DD3-42CE-9B12-0AF75DA884FB}"/>
              </a:ext>
            </a:extLst>
          </p:cNvPr>
          <p:cNvSpPr>
            <a:spLocks noChangeArrowheads="1"/>
          </p:cNvSpPr>
          <p:nvPr/>
        </p:nvSpPr>
        <p:spPr bwMode="gray">
          <a:xfrm rot="10800000" flipH="1" flipV="1">
            <a:off x="9108532" y="47209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 name="UpSlide SubSection Marker" hidden="1">
            <a:extLst>
              <a:ext uri="{FF2B5EF4-FFF2-40B4-BE49-F238E27FC236}">
                <a16:creationId xmlns:a16="http://schemas.microsoft.com/office/drawing/2014/main" id="{74F378CF-20CE-41CA-8833-7453BF04DF3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Upsides and sensitivities</a:t>
            </a:r>
            <a:endParaRPr lang="en-GB" sz="900" dirty="0">
              <a:solidFill>
                <a:schemeClr val="bg1"/>
              </a:solidFill>
            </a:endParaRPr>
          </a:p>
        </p:txBody>
      </p:sp>
      <p:grpSp>
        <p:nvGrpSpPr>
          <p:cNvPr id="19" name="Group 18">
            <a:extLst>
              <a:ext uri="{FF2B5EF4-FFF2-40B4-BE49-F238E27FC236}">
                <a16:creationId xmlns:a16="http://schemas.microsoft.com/office/drawing/2014/main" id="{D73118BD-DA66-4760-95A0-20241FB2B8FC}"/>
              </a:ext>
            </a:extLst>
          </p:cNvPr>
          <p:cNvGrpSpPr/>
          <p:nvPr>
            <p:custDataLst>
              <p:tags r:id="rId3"/>
            </p:custDataLst>
          </p:nvPr>
        </p:nvGrpSpPr>
        <p:grpSpPr>
          <a:xfrm>
            <a:off x="995364" y="153170"/>
            <a:ext cx="6234018" cy="195814"/>
            <a:chOff x="995364" y="153170"/>
            <a:chExt cx="6234018" cy="195814"/>
          </a:xfrm>
        </p:grpSpPr>
        <p:sp>
          <p:nvSpPr>
            <p:cNvPr id="2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25"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29354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dirty="0"/>
              <a:t>Upsides and sensitivities (4/5)</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r>
              <a:rPr lang="en-IN" dirty="0"/>
              <a:t>During our analysis of Management’s forecast assumptions we have identified potential areas of upside and sensitivities to the forecast plan.</a:t>
            </a:r>
          </a:p>
          <a:p>
            <a:endParaRPr lang="en-IN" dirty="0"/>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948061637"/>
              </p:ext>
            </p:extLst>
          </p:nvPr>
        </p:nvGraphicFramePr>
        <p:xfrm>
          <a:off x="998401" y="1992948"/>
          <a:ext cx="10204346" cy="4067960"/>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213867">
                  <a:extLst>
                    <a:ext uri="{9D8B030D-6E8A-4147-A177-3AD203B41FA5}">
                      <a16:colId xmlns:a16="http://schemas.microsoft.com/office/drawing/2014/main" val="1869424930"/>
                    </a:ext>
                  </a:extLst>
                </a:gridCol>
                <a:gridCol w="1836000">
                  <a:extLst>
                    <a:ext uri="{9D8B030D-6E8A-4147-A177-3AD203B41FA5}">
                      <a16:colId xmlns:a16="http://schemas.microsoft.com/office/drawing/2014/main" val="3989268879"/>
                    </a:ext>
                  </a:extLst>
                </a:gridCol>
              </a:tblGrid>
              <a:tr h="270560">
                <a:tc>
                  <a:txBody>
                    <a:bodyPr/>
                    <a:lstStyle/>
                    <a:p>
                      <a:pPr>
                        <a:lnSpc>
                          <a:spcPct val="100000"/>
                        </a:lnSpc>
                      </a:pPr>
                      <a:endParaRPr lang="en-GB" sz="900" dirty="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mn-lt"/>
                          <a:ea typeface="+mn-ea"/>
                          <a:cs typeface="+mn-cs"/>
                        </a:rPr>
                        <a:t>Potential EBITDA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a:spcAft>
                          <a:spcPts val="600"/>
                        </a:spcAft>
                      </a:pPr>
                      <a:r>
                        <a:rPr lang="en-GB" sz="1000" b="1" u="none" dirty="0">
                          <a:solidFill>
                            <a:schemeClr val="tx2"/>
                          </a:solidFill>
                        </a:rPr>
                        <a:t>Gross profit margin</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varying gross profit margins by channel in the forecast period. Assumed gross profit margins for all channels are lower than has been achieved in LTM22 and YTD22 but typically higher than achieved in FY20 (the last normal trading year). This assumption has been included to guard against any potential future requirement to discount in the forecast period.</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Assessing gross profit margin in the forecast period is difficult as it is not possible to determine what normalised trading conditions will be and what level of discounting will be required. We note that Management considers trading post stores re-opening has now normalised and have indicated that the FY23 intake margin is 1.5 ppts greater than in FY20.</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We believe the gross profit margin assumptions in the forecast period (average 66.1% in FY23, FY24 and FY25) are not unreasonable given that Y has achieved better gross profit margin in recent trading (LTM22; 69.7%, YTD22; 70.4%). There is however a risk that the requirement to discount may be greater than assumed (i.e. in line with FY20 (65.2%)), and therefore gross profit margin may be lower than assumed.</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Given the uncertainty outlined opposite, actual gross profit margin in the forecast period could potentially be better or worse than assumed in the forecast. We have therefore calculated an illustrative EBITDA impact if there was to be a 1.0 ppt increase or decrease in the gross profit margin achieved. A 1.0 ppt movement could  generate an EBITDA upside or downside of £0.4 million, £0.7 million, £0.9 million and £1.1 million in FY22, FY23, FY24 and FY25, respectively.</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£3.1m</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4104108"/>
                  </a:ext>
                </a:extLst>
              </a:tr>
              <a:tr h="596019">
                <a:tc>
                  <a:txBody>
                    <a:bodyPr/>
                    <a:lstStyle/>
                    <a:p>
                      <a:pPr>
                        <a:spcAft>
                          <a:spcPts val="600"/>
                        </a:spcAft>
                      </a:pPr>
                      <a:r>
                        <a:rPr lang="en-GB" sz="1000" b="1" u="none" dirty="0">
                          <a:solidFill>
                            <a:schemeClr val="tx2"/>
                          </a:solidFill>
                        </a:rPr>
                        <a:t>Concession revenue</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that relationships with Department store A and Department store B continue in the forecast period. We note that whilst current performance is behind budget, Department store B performance is heavily dependent on international tourism to </a:t>
                      </a:r>
                      <a:r>
                        <a:rPr kumimoji="0" lang="en-GB" sz="1000" b="0" i="0" u="none" strike="noStrike" kern="1200" cap="none" spc="0" normalizeH="0" baseline="0" noProof="0" dirty="0" err="1">
                          <a:ln>
                            <a:noFill/>
                          </a:ln>
                          <a:solidFill>
                            <a:schemeClr val="tx1"/>
                          </a:solidFill>
                          <a:effectLst/>
                          <a:uLnTx/>
                          <a:uFillTx/>
                          <a:latin typeface="+mn-lt"/>
                          <a:ea typeface="+mn-ea"/>
                          <a:cs typeface="+mn-cs"/>
                        </a:rPr>
                        <a:t>yy</a:t>
                      </a:r>
                      <a:r>
                        <a:rPr kumimoji="0" lang="en-GB" sz="1000" b="0" i="0" u="none" strike="noStrike" kern="1200" cap="none" spc="0" normalizeH="0" baseline="0" noProof="0" dirty="0">
                          <a:ln>
                            <a:noFill/>
                          </a:ln>
                          <a:solidFill>
                            <a:schemeClr val="tx1"/>
                          </a:solidFill>
                          <a:effectLst/>
                          <a:uLnTx/>
                          <a:uFillTx/>
                          <a:latin typeface="+mn-lt"/>
                          <a:ea typeface="+mn-ea"/>
                          <a:cs typeface="+mn-cs"/>
                        </a:rPr>
                        <a:t>, which should recover in the near future. </a:t>
                      </a:r>
                      <a:r>
                        <a:rPr lang="en-GB" sz="1000" b="0" u="none" strike="noStrike" kern="1200" dirty="0">
                          <a:solidFill>
                            <a:schemeClr val="tx1"/>
                          </a:solidFill>
                          <a:latin typeface="+mn-lt"/>
                          <a:ea typeface="+mn-ea"/>
                          <a:cs typeface="+mn-cs"/>
                        </a:rPr>
                        <a:t>Assumed contribution is £0.2 million and £0.1 million for Department store A and Department store B, respectively in each period in the forecast.</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£0.6m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38251053"/>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08532" y="26381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40" name="AutoShape 6">
            <a:extLst>
              <a:ext uri="{FF2B5EF4-FFF2-40B4-BE49-F238E27FC236}">
                <a16:creationId xmlns:a16="http://schemas.microsoft.com/office/drawing/2014/main" id="{4279D4A2-A9A0-419D-93AB-4A68D3CFE34A}"/>
              </a:ext>
            </a:extLst>
          </p:cNvPr>
          <p:cNvSpPr>
            <a:spLocks noChangeArrowheads="1"/>
          </p:cNvSpPr>
          <p:nvPr/>
        </p:nvSpPr>
        <p:spPr bwMode="gray">
          <a:xfrm flipH="1" flipV="1">
            <a:off x="9108532" y="3236793"/>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1" name="AutoShape 6">
            <a:extLst>
              <a:ext uri="{FF2B5EF4-FFF2-40B4-BE49-F238E27FC236}">
                <a16:creationId xmlns:a16="http://schemas.microsoft.com/office/drawing/2014/main" id="{46CB365E-C6C8-4C21-A1CF-0539049C1FEA}"/>
              </a:ext>
            </a:extLst>
          </p:cNvPr>
          <p:cNvSpPr>
            <a:spLocks noChangeArrowheads="1"/>
          </p:cNvSpPr>
          <p:nvPr/>
        </p:nvSpPr>
        <p:spPr bwMode="gray">
          <a:xfrm flipH="1" flipV="1">
            <a:off x="9108532" y="5517232"/>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 name="UpSlide SubSection Marker" hidden="1">
            <a:extLst>
              <a:ext uri="{FF2B5EF4-FFF2-40B4-BE49-F238E27FC236}">
                <a16:creationId xmlns:a16="http://schemas.microsoft.com/office/drawing/2014/main" id="{F3DB7C90-08B1-49AF-B5CE-713D447B2BC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Upsides and sensitivities</a:t>
            </a:r>
            <a:endParaRPr lang="en-GB" sz="900" dirty="0">
              <a:solidFill>
                <a:schemeClr val="bg1"/>
              </a:solidFill>
            </a:endParaRPr>
          </a:p>
        </p:txBody>
      </p:sp>
      <p:grpSp>
        <p:nvGrpSpPr>
          <p:cNvPr id="20" name="Group 19">
            <a:extLst>
              <a:ext uri="{FF2B5EF4-FFF2-40B4-BE49-F238E27FC236}">
                <a16:creationId xmlns:a16="http://schemas.microsoft.com/office/drawing/2014/main" id="{D73118BD-DA66-4760-95A0-20241FB2B8FC}"/>
              </a:ext>
            </a:extLst>
          </p:cNvPr>
          <p:cNvGrpSpPr/>
          <p:nvPr>
            <p:custDataLst>
              <p:tags r:id="rId3"/>
            </p:custDataLst>
          </p:nvPr>
        </p:nvGrpSpPr>
        <p:grpSpPr>
          <a:xfrm>
            <a:off x="995364" y="153170"/>
            <a:ext cx="6234018" cy="195814"/>
            <a:chOff x="995364" y="153170"/>
            <a:chExt cx="623401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2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1"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304881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dirty="0"/>
              <a:t>Upsides and sensitivities (5/5)</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r>
              <a:rPr lang="en-IN" dirty="0"/>
              <a:t>During our analysis of Management’s forecast assumptions we have identified potential areas of upside and sensitivities to the forecast plan.</a:t>
            </a:r>
          </a:p>
          <a:p>
            <a:endParaRPr lang="en-IN" dirty="0"/>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2887961374"/>
              </p:ext>
            </p:extLst>
          </p:nvPr>
        </p:nvGraphicFramePr>
        <p:xfrm>
          <a:off x="998401" y="1992948"/>
          <a:ext cx="10204346" cy="4252160"/>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213867">
                  <a:extLst>
                    <a:ext uri="{9D8B030D-6E8A-4147-A177-3AD203B41FA5}">
                      <a16:colId xmlns:a16="http://schemas.microsoft.com/office/drawing/2014/main" val="1869424930"/>
                    </a:ext>
                  </a:extLst>
                </a:gridCol>
                <a:gridCol w="1836000">
                  <a:extLst>
                    <a:ext uri="{9D8B030D-6E8A-4147-A177-3AD203B41FA5}">
                      <a16:colId xmlns:a16="http://schemas.microsoft.com/office/drawing/2014/main" val="3989268879"/>
                    </a:ext>
                  </a:extLst>
                </a:gridCol>
              </a:tblGrid>
              <a:tr h="270560">
                <a:tc>
                  <a:txBody>
                    <a:bodyPr/>
                    <a:lstStyle/>
                    <a:p>
                      <a:pPr>
                        <a:lnSpc>
                          <a:spcPct val="100000"/>
                        </a:lnSpc>
                      </a:pPr>
                      <a:endParaRPr lang="en-GB" sz="900" dirty="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mn-lt"/>
                          <a:ea typeface="+mn-ea"/>
                          <a:cs typeface="+mn-cs"/>
                        </a:rPr>
                        <a:t>Potential cash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a:spcAft>
                          <a:spcPts val="600"/>
                        </a:spcAft>
                      </a:pPr>
                      <a:r>
                        <a:rPr lang="en-GB" sz="1000" b="1" u="none" dirty="0">
                          <a:solidFill>
                            <a:schemeClr val="tx2"/>
                          </a:solidFill>
                        </a:rPr>
                        <a:t>Stock days</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forecast average stock days to be 132, 139 and 143 in FY23, FY24 and FY25, respectively compared with and average of 110 days in the historical period.</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We believe assumed stock days appear to be relatively high, despite the high stock turn since Summer 2020. We also note that average days are higher than in FY20 (107), the last full pre-Covid period.</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We have calculated the illustrative cash impact that a one day decrease in average stock days would generate which equates to a £44,000, £58,000, £72,000 and £105,000 cash upside per day at January 2022, 2023, 2024 and 2025, respectively.</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£0.3m</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4104108"/>
                  </a:ext>
                </a:extLst>
              </a:tr>
              <a:tr h="596019">
                <a:tc>
                  <a:txBody>
                    <a:bodyPr/>
                    <a:lstStyle/>
                    <a:p>
                      <a:pPr>
                        <a:spcAft>
                          <a:spcPts val="600"/>
                        </a:spcAft>
                      </a:pPr>
                      <a:r>
                        <a:rPr lang="en-GB" sz="1000" b="1" u="none" dirty="0">
                          <a:solidFill>
                            <a:schemeClr val="tx2"/>
                          </a:solidFill>
                        </a:rPr>
                        <a:t>Accruals</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chemeClr val="tx1"/>
                          </a:solidFill>
                          <a:effectLst/>
                          <a:uLnTx/>
                          <a:uFillTx/>
                          <a:latin typeface="+mn-lt"/>
                          <a:ea typeface="+mn-ea"/>
                          <a:cs typeface="+mn-cs"/>
                        </a:rPr>
                        <a:t>Management has assumed all accrual balances (with the exception of the increased bonus accrual) will remain flat, at September 2021 levels, in the forecast period. </a:t>
                      </a:r>
                      <a:r>
                        <a:rPr lang="en-GB" sz="1000" b="0" u="none" strike="noStrike" baseline="0" dirty="0">
                          <a:solidFill>
                            <a:schemeClr val="tx1"/>
                          </a:solidFill>
                        </a:rPr>
                        <a:t>A proportion of accruals relate to ongoing business expenses such as Social media A costs, packaging and merchant fees we would expect a portion of the accruals balance to increase broadly in line with business growth. </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We have identified accruals relating to costs we would expect to increase with business growth and grossed them up by the increase in the central overhead costs base (excluding staff costs). This generates an illustrative cash downside of £0.1 million at January 2022 (as September was a high month for accruals due to timing of month end) but cash upsides of £0.1 million, £0.3 million and £0.5 million at January 2023, 2024 and 2025, respectively.</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£0.9m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38251053"/>
                  </a:ext>
                </a:extLst>
              </a:tr>
              <a:tr h="596019">
                <a:tc>
                  <a:txBody>
                    <a:body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GB" sz="1000" b="1" u="none" dirty="0" err="1">
                          <a:solidFill>
                            <a:schemeClr val="tx2"/>
                          </a:solidFill>
                        </a:rPr>
                        <a:t>yy</a:t>
                      </a:r>
                      <a:r>
                        <a:rPr lang="en-GB" sz="1000" b="1" u="none" dirty="0">
                          <a:solidFill>
                            <a:schemeClr val="tx2"/>
                          </a:solidFill>
                        </a:rPr>
                        <a:t> returns provision</a:t>
                      </a:r>
                    </a:p>
                    <a:p>
                      <a:pPr>
                        <a:spcAft>
                          <a:spcPts val="600"/>
                        </a:spcAft>
                      </a:pPr>
                      <a:endParaRPr lang="en-GB" sz="1000" b="1" u="none" dirty="0">
                        <a:solidFill>
                          <a:schemeClr val="tx2"/>
                        </a:solidFill>
                      </a:endParaRP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baseline="0" dirty="0">
                          <a:solidFill>
                            <a:schemeClr val="tx1"/>
                          </a:solidFill>
                          <a:latin typeface="+mn-lt"/>
                          <a:ea typeface="+mn-ea"/>
                          <a:cs typeface="+mn-cs"/>
                        </a:rPr>
                        <a:t>Management has not recognised a returns provision for </a:t>
                      </a:r>
                      <a:r>
                        <a:rPr lang="en-GB" sz="1000" b="0" u="none" strike="noStrike" kern="1200" baseline="0" dirty="0" err="1">
                          <a:solidFill>
                            <a:schemeClr val="tx1"/>
                          </a:solidFill>
                          <a:latin typeface="+mn-lt"/>
                          <a:ea typeface="+mn-ea"/>
                          <a:cs typeface="+mn-cs"/>
                        </a:rPr>
                        <a:t>yy</a:t>
                      </a:r>
                      <a:r>
                        <a:rPr lang="en-GB" sz="1000" b="0" u="none" strike="noStrike" kern="1200" baseline="0" dirty="0">
                          <a:solidFill>
                            <a:schemeClr val="tx1"/>
                          </a:solidFill>
                          <a:latin typeface="+mn-lt"/>
                          <a:ea typeface="+mn-ea"/>
                          <a:cs typeface="+mn-cs"/>
                        </a:rPr>
                        <a:t> returns. Instead the model assumes that returns are made in the month of sale. </a:t>
                      </a:r>
                      <a:r>
                        <a:rPr lang="en-GB" sz="1000" b="0" u="none" strike="noStrike" baseline="0" dirty="0">
                          <a:solidFill>
                            <a:schemeClr val="tx1"/>
                          </a:solidFill>
                        </a:rPr>
                        <a:t>An element of </a:t>
                      </a:r>
                      <a:r>
                        <a:rPr lang="en-GB" sz="1000" b="0" u="none" strike="noStrike" baseline="0" dirty="0" err="1">
                          <a:solidFill>
                            <a:schemeClr val="tx1"/>
                          </a:solidFill>
                        </a:rPr>
                        <a:t>yy</a:t>
                      </a:r>
                      <a:r>
                        <a:rPr lang="en-GB" sz="1000" b="0" u="none" strike="noStrike" baseline="0" dirty="0">
                          <a:solidFill>
                            <a:schemeClr val="tx1"/>
                          </a:solidFill>
                        </a:rPr>
                        <a:t> returns will come in the proceeding months and therefore this is not a realistic assumption.</a:t>
                      </a:r>
                    </a:p>
                    <a:p>
                      <a:pPr marL="171450" marR="0" lvl="0" indent="-171450" algn="l" defTabSz="914400" rtl="0" eaLnBrk="1" fontAlgn="auto" latinLnBrk="0" hangingPunct="1">
                        <a:lnSpc>
                          <a:spcPts val="1200"/>
                        </a:lnSpc>
                        <a:spcBef>
                          <a:spcPts val="0"/>
                        </a:spcBef>
                        <a:spcAft>
                          <a:spcPts val="600"/>
                        </a:spcAft>
                        <a:buClrTx/>
                        <a:buSzTx/>
                        <a:buFont typeface="Arial" panose="020B0604020202020204" pitchFamily="34" charset="0"/>
                        <a:buChar char="•"/>
                        <a:tabLst/>
                        <a:defRPr/>
                      </a:pPr>
                      <a:r>
                        <a:rPr lang="en-GB" sz="1000" b="0" u="none" strike="noStrike" kern="1200" dirty="0">
                          <a:solidFill>
                            <a:schemeClr val="tx1"/>
                          </a:solidFill>
                          <a:latin typeface="+mn-lt"/>
                          <a:ea typeface="+mn-ea"/>
                          <a:cs typeface="+mn-cs"/>
                        </a:rPr>
                        <a:t>We have calculated the impact of the forecast including a </a:t>
                      </a:r>
                      <a:r>
                        <a:rPr lang="en-GB" sz="1000" b="0" u="none" strike="noStrike" kern="1200" dirty="0" err="1">
                          <a:solidFill>
                            <a:schemeClr val="tx1"/>
                          </a:solidFill>
                          <a:latin typeface="+mn-lt"/>
                          <a:ea typeface="+mn-ea"/>
                          <a:cs typeface="+mn-cs"/>
                        </a:rPr>
                        <a:t>yy</a:t>
                      </a:r>
                      <a:r>
                        <a:rPr lang="en-GB" sz="1000" b="0" u="none" strike="noStrike" kern="1200" dirty="0">
                          <a:solidFill>
                            <a:schemeClr val="tx1"/>
                          </a:solidFill>
                          <a:latin typeface="+mn-lt"/>
                          <a:ea typeface="+mn-ea"/>
                          <a:cs typeface="+mn-cs"/>
                        </a:rPr>
                        <a:t> returns provision based on the same methodology that has been used to calculate </a:t>
                      </a:r>
                      <a:r>
                        <a:rPr lang="en-GB" sz="1000" b="0" u="none" strike="noStrike" kern="1200" dirty="0" err="1">
                          <a:solidFill>
                            <a:schemeClr val="tx1"/>
                          </a:solidFill>
                          <a:latin typeface="+mn-lt"/>
                          <a:ea typeface="+mn-ea"/>
                          <a:cs typeface="+mn-cs"/>
                        </a:rPr>
                        <a:t>yy</a:t>
                      </a:r>
                      <a:r>
                        <a:rPr lang="en-GB" sz="1000" b="0" u="none" strike="noStrike" kern="1200" dirty="0">
                          <a:solidFill>
                            <a:schemeClr val="tx1"/>
                          </a:solidFill>
                          <a:latin typeface="+mn-lt"/>
                          <a:ea typeface="+mn-ea"/>
                          <a:cs typeface="+mn-cs"/>
                        </a:rPr>
                        <a:t> and </a:t>
                      </a:r>
                      <a:r>
                        <a:rPr lang="en-GB" sz="1000" b="0" u="none" strike="noStrike" kern="1200" dirty="0" err="1">
                          <a:solidFill>
                            <a:schemeClr val="tx1"/>
                          </a:solidFill>
                          <a:latin typeface="+mn-lt"/>
                          <a:ea typeface="+mn-ea"/>
                          <a:cs typeface="+mn-cs"/>
                        </a:rPr>
                        <a:t>yy</a:t>
                      </a:r>
                      <a:r>
                        <a:rPr lang="en-GB" sz="1000" b="0" u="none" strike="noStrike" kern="1200" dirty="0">
                          <a:solidFill>
                            <a:schemeClr val="tx1"/>
                          </a:solidFill>
                          <a:latin typeface="+mn-lt"/>
                          <a:ea typeface="+mn-ea"/>
                          <a:cs typeface="+mn-cs"/>
                        </a:rPr>
                        <a:t> provisions. This generates and illustrative cash upside of £0.3 million, £0.6 million and £0.8 million at January 2023, 2024 and 2025, respectively.</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dirty="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dirty="0">
                          <a:ln>
                            <a:noFill/>
                          </a:ln>
                          <a:solidFill>
                            <a:schemeClr val="tx2"/>
                          </a:solidFill>
                          <a:effectLst/>
                          <a:uLnTx/>
                          <a:uFillTx/>
                          <a:latin typeface="+mj-lt"/>
                          <a:ea typeface="+mn-ea"/>
                          <a:cs typeface="+mn-cs"/>
                        </a:rPr>
                        <a:t>£1.7m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0457845"/>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08532" y="26381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2" name="AutoShape 4">
            <a:extLst>
              <a:ext uri="{FF2B5EF4-FFF2-40B4-BE49-F238E27FC236}">
                <a16:creationId xmlns:a16="http://schemas.microsoft.com/office/drawing/2014/main" id="{D8828C93-B3A0-4A92-92FF-C986C1E17167}"/>
              </a:ext>
            </a:extLst>
          </p:cNvPr>
          <p:cNvSpPr>
            <a:spLocks noChangeArrowheads="1"/>
          </p:cNvSpPr>
          <p:nvPr/>
        </p:nvSpPr>
        <p:spPr bwMode="gray">
          <a:xfrm rot="10800000" flipH="1" flipV="1">
            <a:off x="9108532" y="407327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4" name="AutoShape 4">
            <a:extLst>
              <a:ext uri="{FF2B5EF4-FFF2-40B4-BE49-F238E27FC236}">
                <a16:creationId xmlns:a16="http://schemas.microsoft.com/office/drawing/2014/main" id="{008ED5DF-292E-457F-BC44-8D1EC6CA9D5D}"/>
              </a:ext>
            </a:extLst>
          </p:cNvPr>
          <p:cNvSpPr>
            <a:spLocks noChangeArrowheads="1"/>
          </p:cNvSpPr>
          <p:nvPr/>
        </p:nvSpPr>
        <p:spPr bwMode="gray">
          <a:xfrm rot="10800000" flipH="1" flipV="1">
            <a:off x="9108532" y="5451224"/>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2" name="UpSlide SubSection Marker" hidden="1">
            <a:extLst>
              <a:ext uri="{FF2B5EF4-FFF2-40B4-BE49-F238E27FC236}">
                <a16:creationId xmlns:a16="http://schemas.microsoft.com/office/drawing/2014/main" id="{8F53E50E-73AB-497F-A6A2-F7EB68B2C0C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Upsides and sensitivities</a:t>
            </a:r>
            <a:endParaRPr lang="en-GB" sz="900" dirty="0">
              <a:solidFill>
                <a:schemeClr val="bg1"/>
              </a:solidFill>
            </a:endParaRPr>
          </a:p>
        </p:txBody>
      </p:sp>
      <p:grpSp>
        <p:nvGrpSpPr>
          <p:cNvPr id="21" name="Group 20">
            <a:extLst>
              <a:ext uri="{FF2B5EF4-FFF2-40B4-BE49-F238E27FC236}">
                <a16:creationId xmlns:a16="http://schemas.microsoft.com/office/drawing/2014/main" id="{D73118BD-DA66-4760-95A0-20241FB2B8FC}"/>
              </a:ext>
            </a:extLst>
          </p:cNvPr>
          <p:cNvGrpSpPr/>
          <p:nvPr>
            <p:custDataLst>
              <p:tags r:id="rId3"/>
            </p:custDataLst>
          </p:nvPr>
        </p:nvGrpSpPr>
        <p:grpSpPr>
          <a:xfrm>
            <a:off x="995364" y="153170"/>
            <a:ext cx="6234018" cy="195814"/>
            <a:chOff x="995364" y="153170"/>
            <a:chExt cx="6234018" cy="195814"/>
          </a:xfrm>
        </p:grpSpPr>
        <p:sp>
          <p:nvSpPr>
            <p:cNvPr id="2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8"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9"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30"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2"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681272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hlinkClick r:id="rId24" action="ppaction://hlinksldjump"/>
            <a:extLst>
              <a:ext uri="{FF2B5EF4-FFF2-40B4-BE49-F238E27FC236}">
                <a16:creationId xmlns:a16="http://schemas.microsoft.com/office/drawing/2014/main" id="{251415B6-F185-4880-A0DE-32984C599710}"/>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Balance sheet</a:t>
            </a:r>
          </a:p>
        </p:txBody>
      </p:sp>
      <p:sp>
        <p:nvSpPr>
          <p:cNvPr id="26" name="TextBox 25">
            <a:hlinkClick r:id="rId25" action="ppaction://hlinksldjump"/>
            <a:extLst>
              <a:ext uri="{FF2B5EF4-FFF2-40B4-BE49-F238E27FC236}">
                <a16:creationId xmlns:a16="http://schemas.microsoft.com/office/drawing/2014/main" id="{3A1DE7E6-02E6-4B75-B2FD-28A262EF00C7}"/>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Balance sheet overview</a:t>
            </a:r>
          </a:p>
        </p:txBody>
      </p:sp>
      <p:sp>
        <p:nvSpPr>
          <p:cNvPr id="27" name="TextBox 26">
            <a:hlinkClick r:id="rId26" action="ppaction://hlinksldjump"/>
            <a:extLst>
              <a:ext uri="{FF2B5EF4-FFF2-40B4-BE49-F238E27FC236}">
                <a16:creationId xmlns:a16="http://schemas.microsoft.com/office/drawing/2014/main" id="{D88876D4-BAE3-40F6-A128-39AF70274A01}"/>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Net working capital overview</a:t>
            </a:r>
          </a:p>
        </p:txBody>
      </p:sp>
      <p:sp>
        <p:nvSpPr>
          <p:cNvPr id="28" name="TextBox 27">
            <a:hlinkClick r:id="rId27" action="ppaction://hlinksldjump"/>
            <a:extLst>
              <a:ext uri="{FF2B5EF4-FFF2-40B4-BE49-F238E27FC236}">
                <a16:creationId xmlns:a16="http://schemas.microsoft.com/office/drawing/2014/main" id="{370D0547-EDFD-4A6E-8ABE-17AB6DE12BCA}"/>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Net cash</a:t>
            </a:r>
          </a:p>
        </p:txBody>
      </p:sp>
      <p:sp>
        <p:nvSpPr>
          <p:cNvPr id="29" name="TextBox 28">
            <a:hlinkClick r:id="rId28" action="ppaction://hlinksldjump"/>
            <a:extLst>
              <a:ext uri="{FF2B5EF4-FFF2-40B4-BE49-F238E27FC236}">
                <a16:creationId xmlns:a16="http://schemas.microsoft.com/office/drawing/2014/main" id="{FC694D96-4C30-4058-8A93-B985DE1EC6CE}"/>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Stock</a:t>
            </a:r>
          </a:p>
        </p:txBody>
      </p:sp>
      <p:sp>
        <p:nvSpPr>
          <p:cNvPr id="30" name="TextBox 29">
            <a:hlinkClick r:id="rId29" action="ppaction://hlinksldjump"/>
            <a:extLst>
              <a:ext uri="{FF2B5EF4-FFF2-40B4-BE49-F238E27FC236}">
                <a16:creationId xmlns:a16="http://schemas.microsoft.com/office/drawing/2014/main" id="{BE8F0727-6CD5-4B95-8E1D-DF566953801B}"/>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Trade creditors</a:t>
            </a:r>
          </a:p>
        </p:txBody>
      </p:sp>
      <p:sp>
        <p:nvSpPr>
          <p:cNvPr id="31" name="TextBox 30">
            <a:hlinkClick r:id="rId30" action="ppaction://hlinksldjump"/>
            <a:extLst>
              <a:ext uri="{FF2B5EF4-FFF2-40B4-BE49-F238E27FC236}">
                <a16:creationId xmlns:a16="http://schemas.microsoft.com/office/drawing/2014/main" id="{D1099E42-6C56-4C02-A3CA-0C2D7E6219D4}"/>
              </a:ext>
            </a:extLst>
          </p:cNvPr>
          <p:cNvSpPr txBox="1"/>
          <p:nvPr>
            <p:custDataLst>
              <p:tags r:id="rId8"/>
            </p:custDataLst>
          </p:nvPr>
        </p:nvSpPr>
        <p:spPr>
          <a:xfrm>
            <a:off x="1735455" y="5303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Accruals and other creditors</a:t>
            </a:r>
          </a:p>
        </p:txBody>
      </p:sp>
      <p:sp>
        <p:nvSpPr>
          <p:cNvPr id="32" name="TextBox 31">
            <a:hlinkClick r:id="rId24" action="ppaction://hlinksldjump"/>
            <a:extLst>
              <a:ext uri="{FF2B5EF4-FFF2-40B4-BE49-F238E27FC236}">
                <a16:creationId xmlns:a16="http://schemas.microsoft.com/office/drawing/2014/main" id="{E8C014F4-2863-4DAE-8920-F51B05A23869}"/>
              </a:ext>
            </a:extLst>
          </p:cNvPr>
          <p:cNvSpPr txBox="1"/>
          <p:nvPr>
            <p:custDataLst>
              <p:tags r:id="rId9"/>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4.</a:t>
            </a:r>
          </a:p>
        </p:txBody>
      </p:sp>
      <p:sp>
        <p:nvSpPr>
          <p:cNvPr id="33" name="TextBox 32">
            <a:hlinkClick r:id="rId24" action="ppaction://hlinksldjump"/>
            <a:extLst>
              <a:ext uri="{FF2B5EF4-FFF2-40B4-BE49-F238E27FC236}">
                <a16:creationId xmlns:a16="http://schemas.microsoft.com/office/drawing/2014/main" id="{6A0B4CF5-902C-420D-BB25-1644C653873D}"/>
              </a:ext>
            </a:extLst>
          </p:cNvPr>
          <p:cNvSpPr txBox="1"/>
          <p:nvPr>
            <p:custDataLst>
              <p:tags r:id="rId10"/>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53</a:t>
            </a:r>
          </a:p>
        </p:txBody>
      </p:sp>
      <p:sp>
        <p:nvSpPr>
          <p:cNvPr id="34" name="TextBox 33">
            <a:hlinkClick r:id="rId25" action="ppaction://hlinksldjump"/>
            <a:extLst>
              <a:ext uri="{FF2B5EF4-FFF2-40B4-BE49-F238E27FC236}">
                <a16:creationId xmlns:a16="http://schemas.microsoft.com/office/drawing/2014/main" id="{8B2BFEFD-AD4E-482A-A9D6-9DCFEABCEC03}"/>
              </a:ext>
            </a:extLst>
          </p:cNvPr>
          <p:cNvSpPr txBox="1"/>
          <p:nvPr>
            <p:custDataLst>
              <p:tags r:id="rId11"/>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4.1</a:t>
            </a:r>
          </a:p>
        </p:txBody>
      </p:sp>
      <p:sp>
        <p:nvSpPr>
          <p:cNvPr id="35" name="TextBox 34">
            <a:hlinkClick r:id="rId26" action="ppaction://hlinksldjump"/>
            <a:extLst>
              <a:ext uri="{FF2B5EF4-FFF2-40B4-BE49-F238E27FC236}">
                <a16:creationId xmlns:a16="http://schemas.microsoft.com/office/drawing/2014/main" id="{E1C4E847-13B2-4C8A-91A2-572B749AD5BC}"/>
              </a:ext>
            </a:extLst>
          </p:cNvPr>
          <p:cNvSpPr txBox="1"/>
          <p:nvPr>
            <p:custDataLst>
              <p:tags r:id="rId12"/>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4.2</a:t>
            </a:r>
          </a:p>
        </p:txBody>
      </p:sp>
      <p:sp>
        <p:nvSpPr>
          <p:cNvPr id="36" name="TextBox 35">
            <a:hlinkClick r:id="rId27" action="ppaction://hlinksldjump"/>
            <a:extLst>
              <a:ext uri="{FF2B5EF4-FFF2-40B4-BE49-F238E27FC236}">
                <a16:creationId xmlns:a16="http://schemas.microsoft.com/office/drawing/2014/main" id="{D6B9721F-E98B-48ED-984E-E2A2E282896C}"/>
              </a:ext>
            </a:extLst>
          </p:cNvPr>
          <p:cNvSpPr txBox="1"/>
          <p:nvPr>
            <p:custDataLst>
              <p:tags r:id="rId13"/>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4.3</a:t>
            </a:r>
          </a:p>
        </p:txBody>
      </p:sp>
      <p:sp>
        <p:nvSpPr>
          <p:cNvPr id="37" name="TextBox 36">
            <a:hlinkClick r:id="rId28" action="ppaction://hlinksldjump"/>
            <a:extLst>
              <a:ext uri="{FF2B5EF4-FFF2-40B4-BE49-F238E27FC236}">
                <a16:creationId xmlns:a16="http://schemas.microsoft.com/office/drawing/2014/main" id="{C6FEA180-FB8C-4802-BB4F-AC332999AD98}"/>
              </a:ext>
            </a:extLst>
          </p:cNvPr>
          <p:cNvSpPr txBox="1"/>
          <p:nvPr>
            <p:custDataLst>
              <p:tags r:id="rId14"/>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4.4</a:t>
            </a:r>
          </a:p>
        </p:txBody>
      </p:sp>
      <p:sp>
        <p:nvSpPr>
          <p:cNvPr id="38" name="TextBox 37">
            <a:hlinkClick r:id="rId29" action="ppaction://hlinksldjump"/>
            <a:extLst>
              <a:ext uri="{FF2B5EF4-FFF2-40B4-BE49-F238E27FC236}">
                <a16:creationId xmlns:a16="http://schemas.microsoft.com/office/drawing/2014/main" id="{A3093347-981E-4857-B924-EFCC73C6B6B1}"/>
              </a:ext>
            </a:extLst>
          </p:cNvPr>
          <p:cNvSpPr txBox="1"/>
          <p:nvPr>
            <p:custDataLst>
              <p:tags r:id="rId15"/>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4.5</a:t>
            </a:r>
          </a:p>
        </p:txBody>
      </p:sp>
      <p:sp>
        <p:nvSpPr>
          <p:cNvPr id="39" name="TextBox 38">
            <a:hlinkClick r:id="rId30" action="ppaction://hlinksldjump"/>
            <a:extLst>
              <a:ext uri="{FF2B5EF4-FFF2-40B4-BE49-F238E27FC236}">
                <a16:creationId xmlns:a16="http://schemas.microsoft.com/office/drawing/2014/main" id="{FD1B881D-D3CA-4DE5-9198-28DF97D9681A}"/>
              </a:ext>
            </a:extLst>
          </p:cNvPr>
          <p:cNvSpPr txBox="1"/>
          <p:nvPr>
            <p:custDataLst>
              <p:tags r:id="rId16"/>
            </p:custDataLst>
          </p:nvPr>
        </p:nvSpPr>
        <p:spPr bwMode="auto">
          <a:xfrm>
            <a:off x="1303409" y="5303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4.6</a:t>
            </a:r>
          </a:p>
        </p:txBody>
      </p:sp>
      <p:sp>
        <p:nvSpPr>
          <p:cNvPr id="40" name="TextBox 39">
            <a:hlinkClick r:id="rId25" action="ppaction://hlinksldjump"/>
            <a:extLst>
              <a:ext uri="{FF2B5EF4-FFF2-40B4-BE49-F238E27FC236}">
                <a16:creationId xmlns:a16="http://schemas.microsoft.com/office/drawing/2014/main" id="{FBFA88E8-E1DA-4424-8346-57CC2771A3F9}"/>
              </a:ext>
            </a:extLst>
          </p:cNvPr>
          <p:cNvSpPr txBox="1"/>
          <p:nvPr>
            <p:custDataLst>
              <p:tags r:id="rId17"/>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54</a:t>
            </a:r>
          </a:p>
        </p:txBody>
      </p:sp>
      <p:sp>
        <p:nvSpPr>
          <p:cNvPr id="41" name="TextBox 40">
            <a:hlinkClick r:id="rId26" action="ppaction://hlinksldjump"/>
            <a:extLst>
              <a:ext uri="{FF2B5EF4-FFF2-40B4-BE49-F238E27FC236}">
                <a16:creationId xmlns:a16="http://schemas.microsoft.com/office/drawing/2014/main" id="{18F19DC2-7F8F-4803-BB1B-625D81689F16}"/>
              </a:ext>
            </a:extLst>
          </p:cNvPr>
          <p:cNvSpPr txBox="1"/>
          <p:nvPr>
            <p:custDataLst>
              <p:tags r:id="rId18"/>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56</a:t>
            </a:r>
          </a:p>
        </p:txBody>
      </p:sp>
      <p:sp>
        <p:nvSpPr>
          <p:cNvPr id="42" name="TextBox 41">
            <a:hlinkClick r:id="rId27" action="ppaction://hlinksldjump"/>
            <a:extLst>
              <a:ext uri="{FF2B5EF4-FFF2-40B4-BE49-F238E27FC236}">
                <a16:creationId xmlns:a16="http://schemas.microsoft.com/office/drawing/2014/main" id="{D55EEAAA-E838-4592-B694-0E8F8AF19A5D}"/>
              </a:ext>
            </a:extLst>
          </p:cNvPr>
          <p:cNvSpPr txBox="1"/>
          <p:nvPr>
            <p:custDataLst>
              <p:tags r:id="rId19"/>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59</a:t>
            </a:r>
          </a:p>
        </p:txBody>
      </p:sp>
      <p:sp>
        <p:nvSpPr>
          <p:cNvPr id="43" name="TextBox 42">
            <a:hlinkClick r:id="rId28" action="ppaction://hlinksldjump"/>
            <a:extLst>
              <a:ext uri="{FF2B5EF4-FFF2-40B4-BE49-F238E27FC236}">
                <a16:creationId xmlns:a16="http://schemas.microsoft.com/office/drawing/2014/main" id="{C0D26FFD-244B-4D27-8482-86B7C68B912C}"/>
              </a:ext>
            </a:extLst>
          </p:cNvPr>
          <p:cNvSpPr txBox="1"/>
          <p:nvPr>
            <p:custDataLst>
              <p:tags r:id="rId20"/>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62</a:t>
            </a:r>
          </a:p>
        </p:txBody>
      </p:sp>
      <p:sp>
        <p:nvSpPr>
          <p:cNvPr id="44" name="TextBox 43">
            <a:hlinkClick r:id="rId29" action="ppaction://hlinksldjump"/>
            <a:extLst>
              <a:ext uri="{FF2B5EF4-FFF2-40B4-BE49-F238E27FC236}">
                <a16:creationId xmlns:a16="http://schemas.microsoft.com/office/drawing/2014/main" id="{A09A516A-EEE5-43D8-9A3D-DF2608B9F81D}"/>
              </a:ext>
            </a:extLst>
          </p:cNvPr>
          <p:cNvSpPr txBox="1"/>
          <p:nvPr>
            <p:custDataLst>
              <p:tags r:id="rId21"/>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67</a:t>
            </a:r>
          </a:p>
        </p:txBody>
      </p:sp>
      <p:sp>
        <p:nvSpPr>
          <p:cNvPr id="45" name="TextBox 44">
            <a:hlinkClick r:id="rId30" action="ppaction://hlinksldjump"/>
            <a:extLst>
              <a:ext uri="{FF2B5EF4-FFF2-40B4-BE49-F238E27FC236}">
                <a16:creationId xmlns:a16="http://schemas.microsoft.com/office/drawing/2014/main" id="{510F645D-2807-423B-9DDB-EAF9A1ECC9C3}"/>
              </a:ext>
            </a:extLst>
          </p:cNvPr>
          <p:cNvSpPr txBox="1"/>
          <p:nvPr>
            <p:custDataLst>
              <p:tags r:id="rId22"/>
            </p:custDataLst>
          </p:nvPr>
        </p:nvSpPr>
        <p:spPr>
          <a:xfrm>
            <a:off x="7004859" y="5303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69</a:t>
            </a:r>
          </a:p>
        </p:txBody>
      </p:sp>
    </p:spTree>
    <p:custDataLst>
      <p:tags r:id="rId1"/>
    </p:custDataLst>
    <p:extLst>
      <p:ext uri="{BB962C8B-B14F-4D97-AF65-F5344CB8AC3E}">
        <p14:creationId xmlns:p14="http://schemas.microsoft.com/office/powerpoint/2010/main" val="518680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D04961E-BCFD-4AEF-B3A5-27D4757556A4}"/>
              </a:ext>
            </a:extLst>
          </p:cNvPr>
          <p:cNvPicPr>
            <a:picLocks noChangeAspect="1"/>
          </p:cNvPicPr>
          <p:nvPr>
            <p:custDataLst>
              <p:tags r:id="rId1"/>
            </p:custDataLst>
          </p:nvPr>
        </p:nvPicPr>
        <p:blipFill>
          <a:blip r:embed="rId8"/>
          <a:stretch>
            <a:fillRect/>
          </a:stretch>
        </p:blipFill>
        <p:spPr>
          <a:xfrm>
            <a:off x="995361" y="1912839"/>
            <a:ext cx="3686175" cy="3665051"/>
          </a:xfrm>
          <a:prstGeom prst="rect">
            <a:avLst/>
          </a:prstGeom>
        </p:spPr>
      </p:pic>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0F293C02-BF79-4A75-A6C8-83D01940229C}"/>
              </a:ext>
            </a:extLst>
          </p:cNvPr>
          <p:cNvSpPr>
            <a:spLocks noGrp="1"/>
          </p:cNvSpPr>
          <p:nvPr>
            <p:ph type="body" sz="quarter" idx="10"/>
          </p:nvPr>
        </p:nvSpPr>
        <p:spPr/>
        <p:txBody>
          <a:bodyPr/>
          <a:lstStyle/>
          <a:p>
            <a:r>
              <a:rPr lang="en-GB"/>
              <a:t>As at September 2021, net assets primarily comprised £1.2 million in fixed assets, £(4.4) million in net working capital and £12.7 million in net cash.</a:t>
            </a:r>
          </a:p>
          <a:p>
            <a:r>
              <a:rPr lang="en-GB"/>
              <a:t>Net working capital has decreased from £(0.2) million at January 2019 to £(4.4) million at September 2021, largely driven by factors associated with business growth such as an increase in the trade creditor balance, the returns provision, the VAT liability (paid in January, April, July and October) and the bonus accrual.</a:t>
            </a:r>
          </a:p>
          <a:p>
            <a:endParaRPr lang="en-GB"/>
          </a:p>
        </p:txBody>
      </p:sp>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a:lstStyle/>
          <a:p>
            <a:r>
              <a:rPr lang="en-US" dirty="0"/>
              <a:t>Balance sheet overview (1/2)</a:t>
            </a:r>
          </a:p>
        </p:txBody>
      </p:sp>
      <p:sp>
        <p:nvSpPr>
          <p:cNvPr id="6" name="Text Placeholder 5">
            <a:extLst>
              <a:ext uri="{FF2B5EF4-FFF2-40B4-BE49-F238E27FC236}">
                <a16:creationId xmlns:a16="http://schemas.microsoft.com/office/drawing/2014/main" id="{EE6FA9E7-003E-43A2-93C8-7F255B6739F4}"/>
              </a:ext>
            </a:extLst>
          </p:cNvPr>
          <p:cNvSpPr>
            <a:spLocks noGrp="1"/>
          </p:cNvSpPr>
          <p:nvPr>
            <p:ph type="body" sz="quarter" idx="26"/>
          </p:nvPr>
        </p:nvSpPr>
        <p:spPr/>
        <p:txBody>
          <a:bodyPr/>
          <a:lstStyle/>
          <a:p>
            <a:pPr>
              <a:lnSpc>
                <a:spcPct val="95000"/>
              </a:lnSpc>
              <a:spcAft>
                <a:spcPts val="400"/>
              </a:spcAft>
            </a:pPr>
            <a:r>
              <a:rPr lang="en-GB" b="1" dirty="0">
                <a:solidFill>
                  <a:schemeClr val="tx2"/>
                </a:solidFill>
              </a:rPr>
              <a:t>Fixed assets</a:t>
            </a:r>
          </a:p>
          <a:p>
            <a:pPr>
              <a:lnSpc>
                <a:spcPct val="95000"/>
              </a:lnSpc>
              <a:spcAft>
                <a:spcPts val="400"/>
              </a:spcAft>
            </a:pPr>
            <a:r>
              <a:rPr lang="en-GB" b="0" dirty="0">
                <a:solidFill>
                  <a:schemeClr val="tx1"/>
                </a:solidFill>
              </a:rPr>
              <a:t>Fixed assets as at 26 September 2021 primarily consists of plant and machinery, website development and IT systems.</a:t>
            </a:r>
            <a:r>
              <a:rPr lang="en-GB" b="0" dirty="0">
                <a:solidFill>
                  <a:srgbClr val="FF0000"/>
                </a:solidFill>
              </a:rPr>
              <a:t> </a:t>
            </a:r>
            <a:r>
              <a:rPr lang="en-GB" b="0" dirty="0">
                <a:solidFill>
                  <a:schemeClr val="tx1"/>
                </a:solidFill>
              </a:rPr>
              <a:t>An additional £0.1 million has been capitalised relating to legal fees for establishing trademarks.</a:t>
            </a:r>
          </a:p>
          <a:p>
            <a:pPr>
              <a:lnSpc>
                <a:spcPct val="95000"/>
              </a:lnSpc>
              <a:spcAft>
                <a:spcPts val="400"/>
              </a:spcAft>
            </a:pPr>
            <a:r>
              <a:rPr lang="en-GB" b="0" dirty="0">
                <a:solidFill>
                  <a:schemeClr val="tx1"/>
                </a:solidFill>
              </a:rPr>
              <a:t>Fixed asset additions are discussed in the </a:t>
            </a:r>
            <a:r>
              <a:rPr lang="en-GB" dirty="0">
                <a:solidFill>
                  <a:schemeClr val="tx1"/>
                </a:solidFill>
              </a:rPr>
              <a:t>Capital expenditure</a:t>
            </a:r>
            <a:r>
              <a:rPr lang="en-GB" b="0" dirty="0">
                <a:solidFill>
                  <a:schemeClr val="tx1"/>
                </a:solidFill>
              </a:rPr>
              <a:t> section of the report.</a:t>
            </a:r>
          </a:p>
          <a:p>
            <a:pPr>
              <a:lnSpc>
                <a:spcPct val="95000"/>
              </a:lnSpc>
              <a:spcAft>
                <a:spcPts val="400"/>
              </a:spcAft>
            </a:pPr>
            <a:r>
              <a:rPr lang="en-GB" b="1" dirty="0">
                <a:solidFill>
                  <a:schemeClr val="tx2"/>
                </a:solidFill>
              </a:rPr>
              <a:t>Net working capital</a:t>
            </a:r>
          </a:p>
          <a:p>
            <a:pPr>
              <a:lnSpc>
                <a:spcPct val="95000"/>
              </a:lnSpc>
              <a:spcAft>
                <a:spcPts val="400"/>
              </a:spcAft>
            </a:pPr>
            <a:r>
              <a:rPr lang="en-GB" b="0" dirty="0">
                <a:solidFill>
                  <a:schemeClr val="tx1"/>
                </a:solidFill>
              </a:rPr>
              <a:t>Y operates with a negative working capital profile driven by high trade creditor days (an average of 48 in LTM22, largely as a result of 60 and 90 days credit terms with some of the largest suppliers), no accounts receivable balances, and quarterly VAT payments.</a:t>
            </a:r>
          </a:p>
          <a:p>
            <a:pPr>
              <a:lnSpc>
                <a:spcPct val="95000"/>
              </a:lnSpc>
              <a:spcAft>
                <a:spcPts val="400"/>
              </a:spcAft>
            </a:pPr>
            <a:r>
              <a:rPr lang="en-GB" b="0" dirty="0">
                <a:solidFill>
                  <a:schemeClr val="tx1"/>
                </a:solidFill>
              </a:rPr>
              <a:t>The stock balance consists of finished goods held in the warehouse, boutiques, concessions, and stock in transit. A stock provision is held on the balance sheet, calculated on the basis of stock ageing.</a:t>
            </a:r>
          </a:p>
          <a:p>
            <a:pPr>
              <a:lnSpc>
                <a:spcPct val="95000"/>
              </a:lnSpc>
              <a:spcAft>
                <a:spcPts val="400"/>
              </a:spcAft>
            </a:pPr>
            <a:r>
              <a:rPr lang="en-GB" b="0" dirty="0">
                <a:solidFill>
                  <a:schemeClr val="tx1"/>
                </a:solidFill>
              </a:rPr>
              <a:t>Y has no accounts receivable balances as it operates a direct to consumer (D2C) business model meaning that all payments are received upfront. The debtors balance relates to cash receipts from sales that are yet to clear the bank and returns that are yet to be processed. We have adjusted for the cash receipts within net cash as they typically clear in 2 - 3 days.</a:t>
            </a:r>
          </a:p>
          <a:p>
            <a:pPr>
              <a:lnSpc>
                <a:spcPct val="95000"/>
              </a:lnSpc>
              <a:spcAft>
                <a:spcPts val="400"/>
              </a:spcAft>
            </a:pPr>
            <a:r>
              <a:rPr lang="en-GB" b="0" dirty="0">
                <a:solidFill>
                  <a:schemeClr val="tx1"/>
                </a:solidFill>
              </a:rPr>
              <a:t>Prepayments and other debtors largely relates to rent, warehouse and IT prepayments. </a:t>
            </a:r>
          </a:p>
          <a:p>
            <a:endParaRPr lang="en-GB" dirty="0"/>
          </a:p>
        </p:txBody>
      </p:sp>
      <p:sp>
        <p:nvSpPr>
          <p:cNvPr id="4" name="Text Placeholder 3">
            <a:extLst>
              <a:ext uri="{FF2B5EF4-FFF2-40B4-BE49-F238E27FC236}">
                <a16:creationId xmlns:a16="http://schemas.microsoft.com/office/drawing/2014/main" id="{8FFF765A-CA33-4C3F-869A-E48580D8ACD7}"/>
              </a:ext>
            </a:extLst>
          </p:cNvPr>
          <p:cNvSpPr>
            <a:spLocks noGrp="1"/>
          </p:cNvSpPr>
          <p:nvPr>
            <p:ph type="body" sz="quarter" idx="11"/>
          </p:nvPr>
        </p:nvSpPr>
        <p:spPr/>
        <p:txBody>
          <a:bodyPr/>
          <a:lstStyle/>
          <a:p>
            <a:r>
              <a:rPr lang="en-GB"/>
              <a:t>Summary net assets</a:t>
            </a:r>
          </a:p>
        </p:txBody>
      </p:sp>
      <p:sp>
        <p:nvSpPr>
          <p:cNvPr id="2" name="Text Placeholder 7">
            <a:extLst>
              <a:ext uri="{FF2B5EF4-FFF2-40B4-BE49-F238E27FC236}">
                <a16:creationId xmlns:a16="http://schemas.microsoft.com/office/drawing/2014/main" id="{F4612D3C-D417-56A9-97CB-5C171923CDC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 name="Text Placeholder 12">
            <a:extLst>
              <a:ext uri="{FF2B5EF4-FFF2-40B4-BE49-F238E27FC236}">
                <a16:creationId xmlns:a16="http://schemas.microsoft.com/office/drawing/2014/main" id="{1E37E2BB-8281-B44F-7431-4FBC19CEE2B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52950567-CA64-2236-B5A1-D67AF08E6E72}"/>
              </a:ext>
            </a:extLst>
          </p:cNvPr>
          <p:cNvSpPr/>
          <p:nvPr>
            <p:custDataLst>
              <p:tags r:id="rId3"/>
            </p:custDataLst>
          </p:nvPr>
        </p:nvSpPr>
        <p:spPr>
          <a:xfrm>
            <a:off x="4275225" y="3603857"/>
            <a:ext cx="406311" cy="202599"/>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E80B07CF-1831-89A0-9A30-CC108845B0AB}"/>
              </a:ext>
            </a:extLst>
          </p:cNvPr>
          <p:cNvSpPr/>
          <p:nvPr/>
        </p:nvSpPr>
        <p:spPr>
          <a:xfrm>
            <a:off x="5185864" y="4884502"/>
            <a:ext cx="1980000" cy="92511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a:solidFill>
                  <a:sysClr val="windowText" lastClr="000000"/>
                </a:solidFill>
              </a:rPr>
              <a:t>Stock and trade creditors are particularly high in September due to high purchases and a build up of stock in advance of the Autumn/ Winter season launch. This is driven by timing of the stock entering the business to avoid delays caused by the issues in the global supply chain.</a:t>
            </a:r>
          </a:p>
        </p:txBody>
      </p:sp>
      <p:sp>
        <p:nvSpPr>
          <p:cNvPr id="68" name="Text Placeholder 12">
            <a:extLst>
              <a:ext uri="{FF2B5EF4-FFF2-40B4-BE49-F238E27FC236}">
                <a16:creationId xmlns:a16="http://schemas.microsoft.com/office/drawing/2014/main" id="{3B2DE952-5744-4DF5-97DF-903B8EA89E3F}"/>
              </a:ext>
            </a:extLst>
          </p:cNvPr>
          <p:cNvSpPr txBox="1">
            <a:spLocks/>
          </p:cNvSpPr>
          <p:nvPr/>
        </p:nvSpPr>
        <p:spPr>
          <a:xfrm>
            <a:off x="995361" y="5596828"/>
            <a:ext cx="3686175"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GB" sz="600" b="0">
                <a:solidFill>
                  <a:schemeClr val="tx2"/>
                </a:solidFill>
                <a:latin typeface="Arial" panose="020B0604020202020204" pitchFamily="34" charset="0"/>
              </a:rPr>
              <a:t>P-L January 2019, P-L January 2020, P-L January 2021, P-L September 2021 :	</a:t>
            </a:r>
            <a:endParaRPr lang="en-US" sz="600" b="0">
              <a:solidFill>
                <a:schemeClr val="tx2"/>
              </a:solidFill>
              <a:latin typeface="Arial" panose="020B0604020202020204" pitchFamily="34" charset="0"/>
            </a:endParaRPr>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1" name="Rectangle 70">
            <a:extLst>
              <a:ext uri="{FF2B5EF4-FFF2-40B4-BE49-F238E27FC236}">
                <a16:creationId xmlns:a16="http://schemas.microsoft.com/office/drawing/2014/main" id="{3A773AFD-844F-4FF0-B2F6-7D72C25D0D6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72" name="Rectangle 71">
            <a:extLst>
              <a:ext uri="{FF2B5EF4-FFF2-40B4-BE49-F238E27FC236}">
                <a16:creationId xmlns:a16="http://schemas.microsoft.com/office/drawing/2014/main" id="{134B8D7D-8766-4524-854C-E1E20FF497A1}"/>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73" name="Rectangle 72">
            <a:extLst>
              <a:ext uri="{FF2B5EF4-FFF2-40B4-BE49-F238E27FC236}">
                <a16:creationId xmlns:a16="http://schemas.microsoft.com/office/drawing/2014/main" id="{F467A5D5-6F20-4B46-96AD-27FB124F155E}"/>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7" name="Rectangle 76">
            <a:extLst>
              <a:ext uri="{FF2B5EF4-FFF2-40B4-BE49-F238E27FC236}">
                <a16:creationId xmlns:a16="http://schemas.microsoft.com/office/drawing/2014/main" id="{5F5E3AF9-47A9-4C28-8DCA-BF658EA39B7B}"/>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80" name="Rounded Rectangle 7">
            <a:extLst>
              <a:ext uri="{FF2B5EF4-FFF2-40B4-BE49-F238E27FC236}">
                <a16:creationId xmlns:a16="http://schemas.microsoft.com/office/drawing/2014/main" id="{57653710-7DE8-4C41-8FE3-419B7673BF2C}"/>
              </a:ext>
            </a:extLst>
          </p:cNvPr>
          <p:cNvSpPr/>
          <p:nvPr>
            <p:custDataLst>
              <p:tags r:id="rId4"/>
            </p:custDataLst>
          </p:nvPr>
        </p:nvSpPr>
        <p:spPr>
          <a:xfrm>
            <a:off x="4275224" y="4061947"/>
            <a:ext cx="406311" cy="202599"/>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cxnSp>
        <p:nvCxnSpPr>
          <p:cNvPr id="26" name="Straight Arrow Connector 25">
            <a:extLst>
              <a:ext uri="{FF2B5EF4-FFF2-40B4-BE49-F238E27FC236}">
                <a16:creationId xmlns:a16="http://schemas.microsoft.com/office/drawing/2014/main" id="{B84044D0-850C-4502-A5BC-2F578488C874}"/>
              </a:ext>
            </a:extLst>
          </p:cNvPr>
          <p:cNvCxnSpPr>
            <a:cxnSpLocks/>
            <a:stCxn id="11" idx="1"/>
            <a:endCxn id="10" idx="3"/>
          </p:cNvCxnSpPr>
          <p:nvPr/>
        </p:nvCxnSpPr>
        <p:spPr>
          <a:xfrm rot="10800000">
            <a:off x="4681536" y="3705158"/>
            <a:ext cx="504328" cy="1641905"/>
          </a:xfrm>
          <a:prstGeom prst="bentConnector3">
            <a:avLst>
              <a:gd name="adj1" fmla="val 6897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25">
            <a:extLst>
              <a:ext uri="{FF2B5EF4-FFF2-40B4-BE49-F238E27FC236}">
                <a16:creationId xmlns:a16="http://schemas.microsoft.com/office/drawing/2014/main" id="{D80429EF-B33E-4F39-81A1-C7EA9220F983}"/>
              </a:ext>
            </a:extLst>
          </p:cNvPr>
          <p:cNvCxnSpPr>
            <a:cxnSpLocks/>
            <a:stCxn id="11" idx="1"/>
            <a:endCxn id="80" idx="3"/>
          </p:cNvCxnSpPr>
          <p:nvPr/>
        </p:nvCxnSpPr>
        <p:spPr>
          <a:xfrm rot="10800000">
            <a:off x="4681536" y="4163248"/>
            <a:ext cx="504329" cy="1183815"/>
          </a:xfrm>
          <a:prstGeom prst="bentConnector3">
            <a:avLst>
              <a:gd name="adj1" fmla="val 70775"/>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hlinkClick r:id="rId11" action="ppaction://hlinksldjump"/>
            <a:extLst>
              <a:ext uri="{FF2B5EF4-FFF2-40B4-BE49-F238E27FC236}">
                <a16:creationId xmlns:a16="http://schemas.microsoft.com/office/drawing/2014/main" id="{22BD2A6D-30C2-401B-B4B0-9CEA12EC7D4C}"/>
              </a:ext>
            </a:extLst>
          </p:cNvPr>
          <p:cNvSpPr/>
          <p:nvPr/>
        </p:nvSpPr>
        <p:spPr>
          <a:xfrm>
            <a:off x="7258050" y="2738573"/>
            <a:ext cx="1114425" cy="1814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5" name="UpSlide SubSection Marker" hidden="1">
            <a:extLst>
              <a:ext uri="{FF2B5EF4-FFF2-40B4-BE49-F238E27FC236}">
                <a16:creationId xmlns:a16="http://schemas.microsoft.com/office/drawing/2014/main" id="{0DE1173F-9D9B-457C-9EB4-ECAB56146322}"/>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Balance sheet overview</a:t>
            </a:r>
            <a:endParaRPr lang="en-GB" sz="900" dirty="0">
              <a:solidFill>
                <a:schemeClr val="bg1"/>
              </a:solidFill>
            </a:endParaRPr>
          </a:p>
        </p:txBody>
      </p:sp>
      <p:grpSp>
        <p:nvGrpSpPr>
          <p:cNvPr id="7" name="Group 6">
            <a:extLst>
              <a:ext uri="{FF2B5EF4-FFF2-40B4-BE49-F238E27FC236}">
                <a16:creationId xmlns:a16="http://schemas.microsoft.com/office/drawing/2014/main" id="{691C1D2E-A393-4D2A-B196-B10092687D68}"/>
              </a:ext>
            </a:extLst>
          </p:cNvPr>
          <p:cNvGrpSpPr/>
          <p:nvPr>
            <p:custDataLst>
              <p:tags r:id="rId6"/>
            </p:custDataLst>
          </p:nvPr>
        </p:nvGrpSpPr>
        <p:grpSpPr>
          <a:xfrm>
            <a:off x="995364" y="153170"/>
            <a:ext cx="6211576" cy="195814"/>
            <a:chOff x="995364" y="153170"/>
            <a:chExt cx="6211576" cy="195814"/>
          </a:xfrm>
        </p:grpSpPr>
        <p:sp>
          <p:nvSpPr>
            <p:cNvPr id="3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45081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2D50B85-31D7-4F3B-8F3E-D72FC8912A00}"/>
              </a:ext>
            </a:extLst>
          </p:cNvPr>
          <p:cNvSpPr>
            <a:spLocks noGrp="1"/>
          </p:cNvSpPr>
          <p:nvPr>
            <p:ph type="body" sz="quarter" idx="26"/>
          </p:nvPr>
        </p:nvSpPr>
        <p:spPr/>
        <p:txBody>
          <a:bodyPr/>
          <a:lstStyle/>
          <a:p>
            <a:pPr>
              <a:lnSpc>
                <a:spcPct val="95000"/>
              </a:lnSpc>
              <a:spcAft>
                <a:spcPts val="400"/>
              </a:spcAft>
            </a:pPr>
            <a:r>
              <a:rPr lang="en-GB" b="1" dirty="0">
                <a:solidFill>
                  <a:schemeClr val="tx2"/>
                </a:solidFill>
              </a:rPr>
              <a:t>Net working capital (cont.)</a:t>
            </a:r>
          </a:p>
          <a:p>
            <a:pPr>
              <a:lnSpc>
                <a:spcPct val="95000"/>
              </a:lnSpc>
              <a:spcAft>
                <a:spcPts val="400"/>
              </a:spcAft>
            </a:pPr>
            <a:r>
              <a:rPr lang="en-GB" b="0" dirty="0">
                <a:solidFill>
                  <a:schemeClr val="tx1"/>
                </a:solidFill>
              </a:rPr>
              <a:t>The trade creditor balance is principally attributable to outstanding invoices with product, marketing and logistics suppliers. Trade creditor days have been on an upward trend throughout the historical period, largely driven by an increase in purchases from suppliers with credit terms of 60 – 90 days.</a:t>
            </a:r>
          </a:p>
          <a:p>
            <a:pPr>
              <a:lnSpc>
                <a:spcPct val="95000"/>
              </a:lnSpc>
              <a:spcAft>
                <a:spcPts val="400"/>
              </a:spcAft>
            </a:pPr>
            <a:r>
              <a:rPr lang="en-GB" b="0" dirty="0">
                <a:solidFill>
                  <a:schemeClr val="tx1"/>
                </a:solidFill>
              </a:rPr>
              <a:t>The accruals and other creditors balance is inclusive of accruals relating to bonus and occupancy, in addition to a returns provision and a VAT liability. The VAT liability is paid in January, April, July and October.</a:t>
            </a:r>
          </a:p>
          <a:p>
            <a:pPr>
              <a:lnSpc>
                <a:spcPct val="95000"/>
              </a:lnSpc>
              <a:spcAft>
                <a:spcPts val="400"/>
              </a:spcAft>
            </a:pPr>
            <a:r>
              <a:rPr lang="en-GB" b="0" dirty="0">
                <a:solidFill>
                  <a:schemeClr val="tx1"/>
                </a:solidFill>
              </a:rPr>
              <a:t>Management has confirmed that there are no off balance sheet liabilities or related party balances as at 26 September 2021.</a:t>
            </a:r>
            <a:endParaRPr lang="en-GB" dirty="0">
              <a:solidFill>
                <a:schemeClr val="tx2"/>
              </a:solidFill>
            </a:endParaRPr>
          </a:p>
          <a:p>
            <a:pPr>
              <a:lnSpc>
                <a:spcPct val="95000"/>
              </a:lnSpc>
              <a:spcAft>
                <a:spcPts val="400"/>
              </a:spcAft>
            </a:pPr>
            <a:r>
              <a:rPr lang="en-GB" b="1" dirty="0">
                <a:solidFill>
                  <a:schemeClr val="tx2"/>
                </a:solidFill>
              </a:rPr>
              <a:t>Net cash</a:t>
            </a:r>
          </a:p>
          <a:p>
            <a:r>
              <a:rPr lang="en-GB" b="0" dirty="0">
                <a:solidFill>
                  <a:schemeClr val="tx1"/>
                </a:solidFill>
              </a:rPr>
              <a:t>See the </a:t>
            </a:r>
            <a:r>
              <a:rPr lang="en-GB" dirty="0">
                <a:solidFill>
                  <a:schemeClr val="tx1"/>
                </a:solidFill>
              </a:rPr>
              <a:t>net cash section</a:t>
            </a:r>
            <a:r>
              <a:rPr lang="en-GB" b="0" dirty="0">
                <a:solidFill>
                  <a:schemeClr val="tx1"/>
                </a:solidFill>
              </a:rPr>
              <a:t> of the report for further detail.</a:t>
            </a:r>
          </a:p>
          <a:p>
            <a:pPr>
              <a:lnSpc>
                <a:spcPct val="95000"/>
              </a:lnSpc>
              <a:spcAft>
                <a:spcPts val="400"/>
              </a:spcAft>
            </a:pPr>
            <a:r>
              <a:rPr lang="en-GB" b="1" dirty="0">
                <a:solidFill>
                  <a:schemeClr val="tx2"/>
                </a:solidFill>
              </a:rPr>
              <a:t>Other</a:t>
            </a:r>
            <a:endParaRPr lang="en-GB" b="1" dirty="0">
              <a:solidFill>
                <a:schemeClr val="tx1"/>
              </a:solidFill>
            </a:endParaRPr>
          </a:p>
          <a:p>
            <a:pPr>
              <a:lnSpc>
                <a:spcPct val="95000"/>
              </a:lnSpc>
              <a:spcAft>
                <a:spcPts val="400"/>
              </a:spcAft>
            </a:pPr>
            <a:r>
              <a:rPr lang="en-GB" b="0" dirty="0">
                <a:solidFill>
                  <a:schemeClr val="tx1"/>
                </a:solidFill>
              </a:rPr>
              <a:t>The financial liability relates to the forward contract hedges in Euro (EUR) and US dollars (USD) which Y has utilised in the past two years in order to hedge foreign exchange risk. </a:t>
            </a:r>
          </a:p>
          <a:p>
            <a:endParaRPr lang="en-GB" dirty="0"/>
          </a:p>
        </p:txBody>
      </p:sp>
      <p:sp>
        <p:nvSpPr>
          <p:cNvPr id="13" name="Rectangle 12">
            <a:hlinkClick r:id="rId5" action="ppaction://hlinksldjump"/>
            <a:extLst>
              <a:ext uri="{FF2B5EF4-FFF2-40B4-BE49-F238E27FC236}">
                <a16:creationId xmlns:a16="http://schemas.microsoft.com/office/drawing/2014/main" id="{3A7FFB3F-FE3A-401B-92B4-D7E6A1A390EA}"/>
              </a:ext>
            </a:extLst>
          </p:cNvPr>
          <p:cNvSpPr/>
          <p:nvPr/>
        </p:nvSpPr>
        <p:spPr>
          <a:xfrm>
            <a:off x="1520456" y="4064797"/>
            <a:ext cx="925033" cy="18607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54610" tIns="54610" rIns="54610" bIns="54610" rtlCol="0" anchor="ctr"/>
          <a:lstStyle/>
          <a:p>
            <a:pPr algn="l"/>
            <a:endParaRPr lang="en-GB" sz="1500" dirty="0" err="1">
              <a:solidFill>
                <a:schemeClr val="bg1"/>
              </a:solidFill>
            </a:endParaRPr>
          </a:p>
        </p:txBody>
      </p:sp>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0F293C02-BF79-4A75-A6C8-83D01940229C}"/>
              </a:ext>
            </a:extLst>
          </p:cNvPr>
          <p:cNvSpPr>
            <a:spLocks noGrp="1"/>
          </p:cNvSpPr>
          <p:nvPr>
            <p:ph type="body" sz="quarter" idx="10"/>
          </p:nvPr>
        </p:nvSpPr>
        <p:spPr/>
        <p:txBody>
          <a:bodyPr/>
          <a:lstStyle/>
          <a:p>
            <a:r>
              <a:rPr lang="en-GB"/>
              <a:t>As at September 2021, net assets primarily comprised £1.2 million in fixed assets, £(4.4) million in net working capital and £12.7 million in net cash.</a:t>
            </a:r>
          </a:p>
          <a:p>
            <a:r>
              <a:rPr lang="en-GB"/>
              <a:t>Net working capital has decreased from £(0.2) million at January 2019 to £(4.4) million at September 2021, largely driven by factors associated with business growth such as an increase in the trade creditor balance, the returns provision, the VAT liability (paid in January, April, July and October) and the bonus accrual.</a:t>
            </a:r>
          </a:p>
          <a:p>
            <a:endParaRPr lang="en-GB"/>
          </a:p>
        </p:txBody>
      </p:sp>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a:lstStyle/>
          <a:p>
            <a:r>
              <a:rPr lang="en-US" dirty="0"/>
              <a:t>Balance sheet overview (2/2)</a:t>
            </a:r>
          </a:p>
        </p:txBody>
      </p:sp>
      <p:sp>
        <p:nvSpPr>
          <p:cNvPr id="5" name="Text Placeholder 4">
            <a:extLst>
              <a:ext uri="{FF2B5EF4-FFF2-40B4-BE49-F238E27FC236}">
                <a16:creationId xmlns:a16="http://schemas.microsoft.com/office/drawing/2014/main" id="{72F96269-4428-4DE1-8335-30EAD22C0BF9}"/>
              </a:ext>
            </a:extLst>
          </p:cNvPr>
          <p:cNvSpPr>
            <a:spLocks noGrp="1"/>
          </p:cNvSpPr>
          <p:nvPr>
            <p:ph type="body" sz="quarter" idx="25"/>
          </p:nvPr>
        </p:nvSpPr>
        <p:spPr/>
        <p:txBody>
          <a:bodyPr/>
          <a:lstStyle/>
          <a:p>
            <a:r>
              <a:rPr lang="en-GB" dirty="0"/>
              <a:t>Summary net assets (continued)</a:t>
            </a:r>
          </a:p>
        </p:txBody>
      </p:sp>
      <p:sp>
        <p:nvSpPr>
          <p:cNvPr id="2" name="Text Placeholder 7">
            <a:extLst>
              <a:ext uri="{FF2B5EF4-FFF2-40B4-BE49-F238E27FC236}">
                <a16:creationId xmlns:a16="http://schemas.microsoft.com/office/drawing/2014/main" id="{F4612D3C-D417-56A9-97CB-5C171923CDC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 name="Text Placeholder 12">
            <a:extLst>
              <a:ext uri="{FF2B5EF4-FFF2-40B4-BE49-F238E27FC236}">
                <a16:creationId xmlns:a16="http://schemas.microsoft.com/office/drawing/2014/main" id="{1E37E2BB-8281-B44F-7431-4FBC19CEE2B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1" name="Rectangle 70">
            <a:extLst>
              <a:ext uri="{FF2B5EF4-FFF2-40B4-BE49-F238E27FC236}">
                <a16:creationId xmlns:a16="http://schemas.microsoft.com/office/drawing/2014/main" id="{3A773AFD-844F-4FF0-B2F6-7D72C25D0D6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72" name="Rectangle 71">
            <a:extLst>
              <a:ext uri="{FF2B5EF4-FFF2-40B4-BE49-F238E27FC236}">
                <a16:creationId xmlns:a16="http://schemas.microsoft.com/office/drawing/2014/main" id="{134B8D7D-8766-4524-854C-E1E20FF497A1}"/>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73" name="Rectangle 72">
            <a:extLst>
              <a:ext uri="{FF2B5EF4-FFF2-40B4-BE49-F238E27FC236}">
                <a16:creationId xmlns:a16="http://schemas.microsoft.com/office/drawing/2014/main" id="{F467A5D5-6F20-4B46-96AD-27FB124F155E}"/>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7" name="Rectangle 76">
            <a:extLst>
              <a:ext uri="{FF2B5EF4-FFF2-40B4-BE49-F238E27FC236}">
                <a16:creationId xmlns:a16="http://schemas.microsoft.com/office/drawing/2014/main" id="{5F5E3AF9-47A9-4C28-8DCA-BF658EA39B7B}"/>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 name="UpSlide SubSection Marker" hidden="1">
            <a:extLst>
              <a:ext uri="{FF2B5EF4-FFF2-40B4-BE49-F238E27FC236}">
                <a16:creationId xmlns:a16="http://schemas.microsoft.com/office/drawing/2014/main" id="{D3F5AAC1-4F29-4350-AFF4-5FC1685A5B18}"/>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Balance sheet overview</a:t>
            </a:r>
            <a:endParaRPr lang="en-GB" sz="900" dirty="0">
              <a:solidFill>
                <a:schemeClr val="bg1"/>
              </a:solidFill>
            </a:endParaRPr>
          </a:p>
        </p:txBody>
      </p:sp>
      <p:grpSp>
        <p:nvGrpSpPr>
          <p:cNvPr id="28" name="Group 27">
            <a:extLst>
              <a:ext uri="{FF2B5EF4-FFF2-40B4-BE49-F238E27FC236}">
                <a16:creationId xmlns:a16="http://schemas.microsoft.com/office/drawing/2014/main" id="{691C1D2E-A393-4D2A-B196-B10092687D68}"/>
              </a:ext>
            </a:extLst>
          </p:cNvPr>
          <p:cNvGrpSpPr/>
          <p:nvPr>
            <p:custDataLst>
              <p:tags r:id="rId3"/>
            </p:custDataLst>
          </p:nvPr>
        </p:nvGrpSpPr>
        <p:grpSpPr>
          <a:xfrm>
            <a:off x="995364" y="153170"/>
            <a:ext cx="6211576" cy="195814"/>
            <a:chOff x="995364" y="153170"/>
            <a:chExt cx="6211576"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2"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3"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4"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926811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9C977A-DDC9-47E9-87D1-16859CCA0001}"/>
              </a:ext>
            </a:extLst>
          </p:cNvPr>
          <p:cNvPicPr>
            <a:picLocks noChangeAspect="1"/>
          </p:cNvPicPr>
          <p:nvPr>
            <p:custDataLst>
              <p:tags r:id="rId1"/>
            </p:custDataLst>
          </p:nvPr>
        </p:nvPicPr>
        <p:blipFill>
          <a:blip r:embed="rId7"/>
          <a:stretch>
            <a:fillRect/>
          </a:stretch>
        </p:blipFill>
        <p:spPr>
          <a:xfrm>
            <a:off x="995361" y="1911601"/>
            <a:ext cx="5038725" cy="4089813"/>
          </a:xfrm>
          <a:prstGeom prst="rect">
            <a:avLst/>
          </a:prstGeom>
        </p:spPr>
      </p:pic>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a:lstStyle/>
          <a:p>
            <a:r>
              <a:rPr lang="en-US"/>
              <a:t>Net working capital — Overview (1/2)</a:t>
            </a:r>
          </a:p>
        </p:txBody>
      </p:sp>
      <p:sp>
        <p:nvSpPr>
          <p:cNvPr id="3" name="Text Placeholder 2">
            <a:extLst>
              <a:ext uri="{FF2B5EF4-FFF2-40B4-BE49-F238E27FC236}">
                <a16:creationId xmlns:a16="http://schemas.microsoft.com/office/drawing/2014/main" id="{CCFB16D7-2EFE-47CF-88F4-0BA907053410}"/>
              </a:ext>
            </a:extLst>
          </p:cNvPr>
          <p:cNvSpPr>
            <a:spLocks noGrp="1"/>
          </p:cNvSpPr>
          <p:nvPr>
            <p:ph type="body" sz="quarter" idx="11"/>
          </p:nvPr>
        </p:nvSpPr>
        <p:spPr/>
        <p:txBody>
          <a:bodyPr/>
          <a:lstStyle/>
          <a:p>
            <a:r>
              <a:rPr lang="fi-FI"/>
              <a:t>Potential adjustments</a:t>
            </a:r>
          </a:p>
        </p:txBody>
      </p:sp>
      <p:sp>
        <p:nvSpPr>
          <p:cNvPr id="2" name="Text Placeholder 1">
            <a:extLst>
              <a:ext uri="{FF2B5EF4-FFF2-40B4-BE49-F238E27FC236}">
                <a16:creationId xmlns:a16="http://schemas.microsoft.com/office/drawing/2014/main" id="{4BBAC539-734B-4DBA-8E92-757D8E86C948}"/>
              </a:ext>
            </a:extLst>
          </p:cNvPr>
          <p:cNvSpPr>
            <a:spLocks noGrp="1"/>
          </p:cNvSpPr>
          <p:nvPr>
            <p:ph type="body" sz="quarter" idx="10"/>
          </p:nvPr>
        </p:nvSpPr>
        <p:spPr>
          <a:xfrm>
            <a:off x="995361" y="1340768"/>
            <a:ext cx="10194960" cy="460800"/>
          </a:xfrm>
        </p:spPr>
        <p:txBody>
          <a:bodyPr/>
          <a:lstStyle/>
          <a:p>
            <a:r>
              <a:rPr lang="en-GB" dirty="0"/>
              <a:t>Adjusted net working capital as at September 2021 is ££1.2 lower than the LTM22 adjusted average. Identified adjustments largely relate to the Department store A minimum guarantee accrual; cash yet to clear held within debtors at month end; and the release of accruals/provisions. We have also presented a 6+6 working capital target as Y is a fast growing business. On this basis, adjusted working capital at September 2021 is a £0.6 million deficit compared to the working capital target. </a:t>
            </a:r>
          </a:p>
          <a:p>
            <a:endParaRPr lang="fi-FI" dirty="0"/>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p:txBody>
          <a:bodyPr/>
          <a:lstStyle/>
          <a:p>
            <a:r>
              <a:rPr lang="fi-FI" b="1" dirty="0">
                <a:solidFill>
                  <a:schemeClr val="tx2"/>
                </a:solidFill>
              </a:rPr>
              <a:t>Underlying earnings</a:t>
            </a:r>
          </a:p>
          <a:p>
            <a:r>
              <a:rPr lang="en-GB" b="0" dirty="0"/>
              <a:t>Adjustments 2, 3, 6, 7, 8, 9, 10, 11, 12, 13, 20 – </a:t>
            </a:r>
            <a:r>
              <a:rPr lang="en-GB" b="0" dirty="0">
                <a:solidFill>
                  <a:schemeClr val="tx1"/>
                </a:solidFill>
              </a:rPr>
              <a:t>See the Underlying earnings section of the report.</a:t>
            </a:r>
          </a:p>
          <a:p>
            <a:r>
              <a:rPr lang="fi-FI" b="1" dirty="0">
                <a:solidFill>
                  <a:schemeClr val="tx2"/>
                </a:solidFill>
              </a:rPr>
              <a:t>Net cash</a:t>
            </a:r>
          </a:p>
          <a:p>
            <a:r>
              <a:rPr lang="en-GB" b="0" dirty="0"/>
              <a:t>Adjustments a, b, c, l – </a:t>
            </a:r>
            <a:r>
              <a:rPr lang="en-GB" b="0" dirty="0">
                <a:solidFill>
                  <a:schemeClr val="tx1"/>
                </a:solidFill>
              </a:rPr>
              <a:t>See the Net cash section of the report.</a:t>
            </a:r>
          </a:p>
          <a:p>
            <a:r>
              <a:rPr lang="fi-FI" b="1" dirty="0">
                <a:solidFill>
                  <a:schemeClr val="tx2"/>
                </a:solidFill>
              </a:rPr>
              <a:t>Other potential adjustments</a:t>
            </a:r>
          </a:p>
          <a:p>
            <a:pPr marL="228600" indent="-228600">
              <a:buFont typeface="+mj-lt"/>
              <a:buAutoNum type="alphaLcPeriod" startAt="13"/>
            </a:pPr>
            <a:r>
              <a:rPr lang="en-GB" b="0" dirty="0"/>
              <a:t>Deferred VAT – </a:t>
            </a:r>
            <a:r>
              <a:rPr lang="en-GB" b="0" dirty="0">
                <a:solidFill>
                  <a:schemeClr val="tx1"/>
                </a:solidFill>
              </a:rPr>
              <a:t>Y utilised the government’s Covid-19 scheme to defer VAT payments relating to the quarter ended February 2020 (£0.2 million). This amount was subsequently paid in full in March 2021. We have adjusted net working capital to remove the deferred element of VAT from April 2020 onwards (as this is when it typically would have been paid).</a:t>
            </a:r>
          </a:p>
          <a:p>
            <a:pPr marL="228600" indent="-228600">
              <a:buFont typeface="+mj-lt"/>
              <a:buAutoNum type="alphaLcPeriod" startAt="13"/>
            </a:pPr>
            <a:r>
              <a:rPr lang="en-GB" b="0" dirty="0"/>
              <a:t>Covid-19: Stock unwind – </a:t>
            </a:r>
            <a:r>
              <a:rPr lang="en-GB" b="0" dirty="0">
                <a:solidFill>
                  <a:schemeClr val="tx1"/>
                </a:solidFill>
              </a:rPr>
              <a:t>There was an unwind of the stock balance from March 2020 to September 2020 as Management limited purchases of stock for the Autumn / Winter season due to the uncertainty surrounding the Covid-19 pandemic. As we deem this to be one-off, we have adjusted the stock balance for September 2020, on the basis of September 2019 stock days. The impact of this unwind on the trade creditor balance is captured in adjustment ‘m’, as the timing of the creditor stretching overlapped with the unwind of stock.</a:t>
            </a:r>
          </a:p>
          <a:p>
            <a:endParaRPr lang="fi-FI" dirty="0">
              <a:solidFill>
                <a:schemeClr val="tx2"/>
              </a:solidFill>
            </a:endParaRPr>
          </a:p>
          <a:p>
            <a:endParaRPr lang="fi-FI" dirty="0"/>
          </a:p>
        </p:txBody>
      </p:sp>
      <p:sp>
        <p:nvSpPr>
          <p:cNvPr id="9" name="Text Placeholder 7">
            <a:extLst>
              <a:ext uri="{FF2B5EF4-FFF2-40B4-BE49-F238E27FC236}">
                <a16:creationId xmlns:a16="http://schemas.microsoft.com/office/drawing/2014/main" id="{7BB24787-48C2-8F28-188C-3AB43793EB9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21" name="Text Placeholder 12">
            <a:extLst>
              <a:ext uri="{FF2B5EF4-FFF2-40B4-BE49-F238E27FC236}">
                <a16:creationId xmlns:a16="http://schemas.microsoft.com/office/drawing/2014/main" id="{9C807EF5-2C1A-19DB-2F3D-3C09820AC0E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2" name="Rounded Rectangle 7">
            <a:extLst>
              <a:ext uri="{FF2B5EF4-FFF2-40B4-BE49-F238E27FC236}">
                <a16:creationId xmlns:a16="http://schemas.microsoft.com/office/drawing/2014/main" id="{DDF6C468-45E8-BF99-FD56-642227471145}"/>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3" name="Rectangle 22">
            <a:extLst>
              <a:ext uri="{FF2B5EF4-FFF2-40B4-BE49-F238E27FC236}">
                <a16:creationId xmlns:a16="http://schemas.microsoft.com/office/drawing/2014/main" id="{2432CE75-1896-5B8C-EEF3-5B84C517739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4" name="Straight Arrow Connector 23">
            <a:extLst>
              <a:ext uri="{FF2B5EF4-FFF2-40B4-BE49-F238E27FC236}">
                <a16:creationId xmlns:a16="http://schemas.microsoft.com/office/drawing/2014/main" id="{E80BDB54-452B-F99E-3F1F-C40E6C55B904}"/>
              </a:ext>
            </a:extLst>
          </p:cNvPr>
          <p:cNvCxnSpPr>
            <a:cxnSpLocks/>
            <a:stCxn id="23" idx="2"/>
            <a:endCxn id="22"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Text Placeholder 12">
            <a:extLst>
              <a:ext uri="{FF2B5EF4-FFF2-40B4-BE49-F238E27FC236}">
                <a16:creationId xmlns:a16="http://schemas.microsoft.com/office/drawing/2014/main" id="{3D2ADE89-82B1-49D6-A6AF-A759C8A1082C}"/>
              </a:ext>
            </a:extLst>
          </p:cNvPr>
          <p:cNvSpPr txBox="1">
            <a:spLocks/>
          </p:cNvSpPr>
          <p:nvPr/>
        </p:nvSpPr>
        <p:spPr>
          <a:xfrm>
            <a:off x="995121" y="601911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274BA603-1EE4-4BCE-A349-0CFF9D3E0E6F}"/>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5" name="Rectangle 94">
            <a:extLst>
              <a:ext uri="{FF2B5EF4-FFF2-40B4-BE49-F238E27FC236}">
                <a16:creationId xmlns:a16="http://schemas.microsoft.com/office/drawing/2014/main" id="{B5BED697-088A-4C40-BB61-65486DB3C223}"/>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6" name="Rectangle 95">
            <a:extLst>
              <a:ext uri="{FF2B5EF4-FFF2-40B4-BE49-F238E27FC236}">
                <a16:creationId xmlns:a16="http://schemas.microsoft.com/office/drawing/2014/main" id="{BF9FAD5C-D786-40F0-AFCF-2F101B66337C}"/>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0" name="Rectangle 99">
            <a:extLst>
              <a:ext uri="{FF2B5EF4-FFF2-40B4-BE49-F238E27FC236}">
                <a16:creationId xmlns:a16="http://schemas.microsoft.com/office/drawing/2014/main" id="{13C07189-B444-44D9-A3D0-8C572A5A6E4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2" name="Rectangle: Rounded Corners 61">
            <a:hlinkClick r:id="rId10" action="ppaction://hlinksldjump"/>
            <a:extLst>
              <a:ext uri="{FF2B5EF4-FFF2-40B4-BE49-F238E27FC236}">
                <a16:creationId xmlns:a16="http://schemas.microsoft.com/office/drawing/2014/main" id="{380621BF-E284-4F89-890A-551053A937D8}"/>
              </a:ext>
            </a:extLst>
          </p:cNvPr>
          <p:cNvSpPr/>
          <p:nvPr/>
        </p:nvSpPr>
        <p:spPr>
          <a:xfrm>
            <a:off x="10444182" y="2234229"/>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63" name="Rectangle: Rounded Corners 62">
            <a:hlinkClick r:id="rId11" action="ppaction://hlinksldjump"/>
            <a:extLst>
              <a:ext uri="{FF2B5EF4-FFF2-40B4-BE49-F238E27FC236}">
                <a16:creationId xmlns:a16="http://schemas.microsoft.com/office/drawing/2014/main" id="{0125D03C-F197-4B25-9243-CBCD4BB6F270}"/>
              </a:ext>
            </a:extLst>
          </p:cNvPr>
          <p:cNvSpPr/>
          <p:nvPr/>
        </p:nvSpPr>
        <p:spPr>
          <a:xfrm>
            <a:off x="10444182" y="2815140"/>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4" name="UpSlide SubSection Marker" hidden="1">
            <a:extLst>
              <a:ext uri="{FF2B5EF4-FFF2-40B4-BE49-F238E27FC236}">
                <a16:creationId xmlns:a16="http://schemas.microsoft.com/office/drawing/2014/main" id="{9975861C-BCE6-410D-8A83-1363B7D8F768}"/>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working capital overview</a:t>
            </a:r>
            <a:endParaRPr lang="en-GB" sz="900" dirty="0">
              <a:solidFill>
                <a:schemeClr val="bg1"/>
              </a:solidFill>
            </a:endParaRPr>
          </a:p>
        </p:txBody>
      </p:sp>
      <p:grpSp>
        <p:nvGrpSpPr>
          <p:cNvPr id="34" name="Group 33">
            <a:extLst>
              <a:ext uri="{FF2B5EF4-FFF2-40B4-BE49-F238E27FC236}">
                <a16:creationId xmlns:a16="http://schemas.microsoft.com/office/drawing/2014/main" id="{691C1D2E-A393-4D2A-B196-B10092687D68}"/>
              </a:ext>
            </a:extLst>
          </p:cNvPr>
          <p:cNvGrpSpPr/>
          <p:nvPr>
            <p:custDataLst>
              <p:tags r:id="rId5"/>
            </p:custDataLst>
          </p:nvPr>
        </p:nvGrpSpPr>
        <p:grpSpPr>
          <a:xfrm>
            <a:off x="995364" y="153170"/>
            <a:ext cx="6211576" cy="195814"/>
            <a:chOff x="995364" y="153170"/>
            <a:chExt cx="6211576" cy="195814"/>
          </a:xfrm>
        </p:grpSpPr>
        <p:sp>
          <p:nvSpPr>
            <p:cNvPr id="3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93513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8615D4CE-7020-4DDA-A920-38FD11F0C03B}"/>
              </a:ext>
            </a:extLst>
          </p:cNvPr>
          <p:cNvPicPr>
            <a:picLocks noChangeAspect="1"/>
          </p:cNvPicPr>
          <p:nvPr>
            <p:custDataLst>
              <p:tags r:id="rId1"/>
            </p:custDataLst>
          </p:nvPr>
        </p:nvPicPr>
        <p:blipFill>
          <a:blip r:embed="rId7"/>
          <a:stretch>
            <a:fillRect/>
          </a:stretch>
        </p:blipFill>
        <p:spPr>
          <a:xfrm>
            <a:off x="995361" y="1911601"/>
            <a:ext cx="5038725" cy="4089813"/>
          </a:xfrm>
          <a:prstGeom prst="rect">
            <a:avLst/>
          </a:prstGeom>
        </p:spPr>
      </p:pic>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a:lstStyle/>
          <a:p>
            <a:r>
              <a:rPr lang="en-US"/>
              <a:t>Net working capital — Overview (2/2)</a:t>
            </a:r>
          </a:p>
        </p:txBody>
      </p:sp>
      <p:sp>
        <p:nvSpPr>
          <p:cNvPr id="3" name="Text Placeholder 2">
            <a:extLst>
              <a:ext uri="{FF2B5EF4-FFF2-40B4-BE49-F238E27FC236}">
                <a16:creationId xmlns:a16="http://schemas.microsoft.com/office/drawing/2014/main" id="{CCFB16D7-2EFE-47CF-88F4-0BA907053410}"/>
              </a:ext>
            </a:extLst>
          </p:cNvPr>
          <p:cNvSpPr>
            <a:spLocks noGrp="1"/>
          </p:cNvSpPr>
          <p:nvPr>
            <p:ph type="body" sz="quarter" idx="11"/>
          </p:nvPr>
        </p:nvSpPr>
        <p:spPr/>
        <p:txBody>
          <a:bodyPr/>
          <a:lstStyle/>
          <a:p>
            <a:r>
              <a:rPr lang="fi-FI"/>
              <a:t>Potential adjustments</a:t>
            </a:r>
          </a:p>
        </p:txBody>
      </p:sp>
      <p:sp>
        <p:nvSpPr>
          <p:cNvPr id="2" name="Text Placeholder 1">
            <a:extLst>
              <a:ext uri="{FF2B5EF4-FFF2-40B4-BE49-F238E27FC236}">
                <a16:creationId xmlns:a16="http://schemas.microsoft.com/office/drawing/2014/main" id="{4BBAC539-734B-4DBA-8E92-757D8E86C948}"/>
              </a:ext>
            </a:extLst>
          </p:cNvPr>
          <p:cNvSpPr>
            <a:spLocks noGrp="1"/>
          </p:cNvSpPr>
          <p:nvPr>
            <p:ph type="body" sz="quarter" idx="10"/>
          </p:nvPr>
        </p:nvSpPr>
        <p:spPr>
          <a:xfrm>
            <a:off x="995361" y="1340768"/>
            <a:ext cx="10194960" cy="460800"/>
          </a:xfrm>
        </p:spPr>
        <p:txBody>
          <a:bodyPr/>
          <a:lstStyle/>
          <a:p>
            <a:r>
              <a:rPr lang="en-GB" dirty="0"/>
              <a:t>Adjusted net working capital as at September 2021 is ££1.2 lower than the LTM22 adjusted average. Identified adjustments largely relate to the Department store A minimum guarantee accrual; cash yet to clear held within debtors at month end; and the release of accruals/provisions. We have also presented a 6+6 working capital target as Y is a fast growing business. On this basis, adjusted working capital at September 2021 is a £0.6 million deficit compared to the working capital target. </a:t>
            </a:r>
          </a:p>
          <a:p>
            <a:endParaRPr lang="fi-FI" dirty="0"/>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p:txBody>
          <a:bodyPr/>
          <a:lstStyle/>
          <a:p>
            <a:r>
              <a:rPr lang="fi-FI" b="1" dirty="0">
                <a:solidFill>
                  <a:schemeClr val="tx2"/>
                </a:solidFill>
              </a:rPr>
              <a:t>Other potential adjustments (continued)</a:t>
            </a:r>
          </a:p>
          <a:p>
            <a:pPr marL="228600" indent="-228600">
              <a:buFont typeface="+mj-lt"/>
              <a:buAutoNum type="alphaLcPeriod" startAt="15"/>
            </a:pPr>
            <a:r>
              <a:rPr lang="en-GB" sz="1000" b="0" dirty="0"/>
              <a:t>Covid-19: Creditor stretching – </a:t>
            </a:r>
            <a:r>
              <a:rPr lang="en-GB" sz="1000" b="0" dirty="0">
                <a:solidFill>
                  <a:schemeClr val="tx1"/>
                </a:solidFill>
              </a:rPr>
              <a:t>Y extended payment terms with some suppliers in an attempt to preserve cash due to the uncertainty surrounding the Covid-19 pandemic. As we deem this to be one-off, we have adjusted the trade creditor balance for the period February 2020 – July 2020 when trade creditor days were unusually high (and to capture the overlapping unwind of stock), on the basis of FY23 trade creditor day seasonality. FY23 has been used rather than FY20 due to a shift in the supplier base from FY20 towards suppliers with longer payment terms.</a:t>
            </a:r>
          </a:p>
          <a:p>
            <a:pPr marL="228600" indent="-228600">
              <a:buFont typeface="+mj-lt"/>
              <a:buAutoNum type="alphaLcPeriod" startAt="15"/>
            </a:pPr>
            <a:r>
              <a:rPr lang="en-GB" sz="1000" b="0" dirty="0"/>
              <a:t>Shareholder funds in creditors –</a:t>
            </a:r>
            <a:r>
              <a:rPr lang="en-GB" sz="1000" b="0" dirty="0">
                <a:solidFill>
                  <a:schemeClr val="tx1"/>
                </a:solidFill>
              </a:rPr>
              <a:t> Capital raised from shareholders during the Autumn / Winter fundraise in FY19 was incorrectly posted to creditors and manually adjusted to capital reserves at year end. We have removed these balances from net working capital.</a:t>
            </a:r>
          </a:p>
          <a:p>
            <a:pPr marL="228600" indent="-228600">
              <a:buFont typeface="+mj-lt"/>
              <a:buAutoNum type="alphaLcPeriod" startAt="15"/>
            </a:pPr>
            <a:r>
              <a:rPr lang="en-GB" sz="1000" b="0" dirty="0"/>
              <a:t>Furlough debtor – </a:t>
            </a:r>
            <a:r>
              <a:rPr lang="en-GB" sz="1000" b="0" dirty="0">
                <a:solidFill>
                  <a:schemeClr val="tx1"/>
                </a:solidFill>
              </a:rPr>
              <a:t>The £45,000 debtor balance relating to the furlough claim in January 2021 has been removed from net working capital as this debtor would not exist under ordinary payroll arrangements.</a:t>
            </a:r>
            <a:endParaRPr lang="en-GB" b="0" dirty="0">
              <a:solidFill>
                <a:schemeClr val="tx1"/>
              </a:solidFill>
            </a:endParaRPr>
          </a:p>
          <a:p>
            <a:endParaRPr lang="fi-FI" dirty="0">
              <a:solidFill>
                <a:schemeClr val="tx2"/>
              </a:solidFill>
            </a:endParaRPr>
          </a:p>
          <a:p>
            <a:endParaRPr lang="fi-FI" dirty="0"/>
          </a:p>
        </p:txBody>
      </p:sp>
      <p:sp>
        <p:nvSpPr>
          <p:cNvPr id="9" name="Text Placeholder 7">
            <a:extLst>
              <a:ext uri="{FF2B5EF4-FFF2-40B4-BE49-F238E27FC236}">
                <a16:creationId xmlns:a16="http://schemas.microsoft.com/office/drawing/2014/main" id="{7BB24787-48C2-8F28-188C-3AB43793EB97}"/>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21" name="Text Placeholder 12">
            <a:extLst>
              <a:ext uri="{FF2B5EF4-FFF2-40B4-BE49-F238E27FC236}">
                <a16:creationId xmlns:a16="http://schemas.microsoft.com/office/drawing/2014/main" id="{9C807EF5-2C1A-19DB-2F3D-3C09820AC0E6}"/>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2" name="Rounded Rectangle 7">
            <a:extLst>
              <a:ext uri="{FF2B5EF4-FFF2-40B4-BE49-F238E27FC236}">
                <a16:creationId xmlns:a16="http://schemas.microsoft.com/office/drawing/2014/main" id="{DDF6C468-45E8-BF99-FD56-642227471145}"/>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3" name="Rectangle 22">
            <a:extLst>
              <a:ext uri="{FF2B5EF4-FFF2-40B4-BE49-F238E27FC236}">
                <a16:creationId xmlns:a16="http://schemas.microsoft.com/office/drawing/2014/main" id="{2432CE75-1896-5B8C-EEF3-5B84C517739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4" name="Straight Arrow Connector 23">
            <a:extLst>
              <a:ext uri="{FF2B5EF4-FFF2-40B4-BE49-F238E27FC236}">
                <a16:creationId xmlns:a16="http://schemas.microsoft.com/office/drawing/2014/main" id="{E80BDB54-452B-F99E-3F1F-C40E6C55B904}"/>
              </a:ext>
            </a:extLst>
          </p:cNvPr>
          <p:cNvCxnSpPr>
            <a:cxnSpLocks/>
            <a:stCxn id="23" idx="2"/>
            <a:endCxn id="22"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Text Placeholder 12">
            <a:extLst>
              <a:ext uri="{FF2B5EF4-FFF2-40B4-BE49-F238E27FC236}">
                <a16:creationId xmlns:a16="http://schemas.microsoft.com/office/drawing/2014/main" id="{3D2ADE89-82B1-49D6-A6AF-A759C8A1082C}"/>
              </a:ext>
            </a:extLst>
          </p:cNvPr>
          <p:cNvSpPr txBox="1">
            <a:spLocks/>
          </p:cNvSpPr>
          <p:nvPr/>
        </p:nvSpPr>
        <p:spPr>
          <a:xfrm>
            <a:off x="995121" y="5990443"/>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274BA603-1EE4-4BCE-A349-0CFF9D3E0E6F}"/>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5" name="Rectangle 94">
            <a:extLst>
              <a:ext uri="{FF2B5EF4-FFF2-40B4-BE49-F238E27FC236}">
                <a16:creationId xmlns:a16="http://schemas.microsoft.com/office/drawing/2014/main" id="{B5BED697-088A-4C40-BB61-65486DB3C223}"/>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6" name="Rectangle 95">
            <a:extLst>
              <a:ext uri="{FF2B5EF4-FFF2-40B4-BE49-F238E27FC236}">
                <a16:creationId xmlns:a16="http://schemas.microsoft.com/office/drawing/2014/main" id="{BF9FAD5C-D786-40F0-AFCF-2F101B66337C}"/>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0" name="Rectangle 99">
            <a:extLst>
              <a:ext uri="{FF2B5EF4-FFF2-40B4-BE49-F238E27FC236}">
                <a16:creationId xmlns:a16="http://schemas.microsoft.com/office/drawing/2014/main" id="{13C07189-B444-44D9-A3D0-8C572A5A6E4E}"/>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 name="UpSlide SubSection Marker" hidden="1">
            <a:extLst>
              <a:ext uri="{FF2B5EF4-FFF2-40B4-BE49-F238E27FC236}">
                <a16:creationId xmlns:a16="http://schemas.microsoft.com/office/drawing/2014/main" id="{04429302-8800-4356-A8A2-7169D597A3DD}"/>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working capital overview</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5"/>
            </p:custDataLst>
          </p:nvPr>
        </p:nvGrpSpPr>
        <p:grpSpPr>
          <a:xfrm>
            <a:off x="995364" y="153170"/>
            <a:ext cx="6211576" cy="195814"/>
            <a:chOff x="995364" y="153170"/>
            <a:chExt cx="6211576" cy="195814"/>
          </a:xfrm>
        </p:grpSpPr>
        <p:sp>
          <p:nvSpPr>
            <p:cNvPr id="3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8"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249347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2C235F-D308-4DD1-BCED-E48BC34E2F07}"/>
              </a:ext>
            </a:extLst>
          </p:cNvPr>
          <p:cNvPicPr>
            <a:picLocks noChangeAspect="1"/>
          </p:cNvPicPr>
          <p:nvPr>
            <p:custDataLst>
              <p:tags r:id="rId1"/>
            </p:custDataLst>
          </p:nvPr>
        </p:nvPicPr>
        <p:blipFill>
          <a:blip r:embed="rId8"/>
          <a:stretch>
            <a:fillRect/>
          </a:stretch>
        </p:blipFill>
        <p:spPr>
          <a:xfrm>
            <a:off x="995363" y="4296512"/>
            <a:ext cx="3819525" cy="1810246"/>
          </a:xfrm>
          <a:prstGeom prst="rect">
            <a:avLst/>
          </a:prstGeom>
        </p:spPr>
      </p:pic>
      <p:pic>
        <p:nvPicPr>
          <p:cNvPr id="19" name="Picture 18">
            <a:extLst>
              <a:ext uri="{FF2B5EF4-FFF2-40B4-BE49-F238E27FC236}">
                <a16:creationId xmlns:a16="http://schemas.microsoft.com/office/drawing/2014/main" id="{486C49B7-50D6-47A3-9692-10E0779D8209}"/>
              </a:ext>
            </a:extLst>
          </p:cNvPr>
          <p:cNvPicPr>
            <a:picLocks noChangeAspect="1"/>
          </p:cNvPicPr>
          <p:nvPr>
            <p:custDataLst>
              <p:tags r:id="rId2"/>
            </p:custDataLst>
          </p:nvPr>
        </p:nvPicPr>
        <p:blipFill>
          <a:blip r:embed="rId9"/>
          <a:stretch>
            <a:fillRect/>
          </a:stretch>
        </p:blipFill>
        <p:spPr>
          <a:xfrm>
            <a:off x="995361" y="2177478"/>
            <a:ext cx="10192299" cy="2067716"/>
          </a:xfrm>
          <a:prstGeom prst="rect">
            <a:avLst/>
          </a:prstGeom>
        </p:spPr>
      </p:pic>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3"/>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1"/>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a:lstStyle/>
          <a:p>
            <a:r>
              <a:rPr lang="en-US"/>
              <a:t>Net working capital — Monthly</a:t>
            </a:r>
          </a:p>
        </p:txBody>
      </p:sp>
      <p:sp>
        <p:nvSpPr>
          <p:cNvPr id="12" name="Text Placeholder 11">
            <a:extLst>
              <a:ext uri="{FF2B5EF4-FFF2-40B4-BE49-F238E27FC236}">
                <a16:creationId xmlns:a16="http://schemas.microsoft.com/office/drawing/2014/main" id="{123FB33E-B11F-4A52-A60B-3125608B3898}"/>
              </a:ext>
            </a:extLst>
          </p:cNvPr>
          <p:cNvSpPr>
            <a:spLocks noGrp="1"/>
          </p:cNvSpPr>
          <p:nvPr>
            <p:ph type="body" sz="quarter" idx="24"/>
          </p:nvPr>
        </p:nvSpPr>
        <p:spPr>
          <a:xfrm>
            <a:off x="4981234" y="4319695"/>
            <a:ext cx="6215403" cy="1631515"/>
          </a:xfrm>
        </p:spPr>
        <p:txBody>
          <a:bodyPr/>
          <a:lstStyle/>
          <a:p>
            <a:r>
              <a:rPr lang="en-GB" b="0" dirty="0">
                <a:solidFill>
                  <a:schemeClr val="tx1"/>
                </a:solidFill>
              </a:rPr>
              <a:t>Reported net working capital has decreased from £(0.2) million at January 2019 to £(4.4) million at September 2021, largely driven by factors associated with business growth such as an increase in the trade creditor balance, the returns provision, the VAT liability (paid in January, April, July and October) and the bonus accrual.</a:t>
            </a:r>
          </a:p>
          <a:p>
            <a:r>
              <a:rPr lang="en-GB" dirty="0"/>
              <a:t>FY22 Outturn/6+6</a:t>
            </a:r>
          </a:p>
          <a:p>
            <a:r>
              <a:rPr lang="en-GB" b="0" dirty="0">
                <a:solidFill>
                  <a:schemeClr val="tx1"/>
                </a:solidFill>
              </a:rPr>
              <a:t>The FY22 outturn period reflects the eight months of actuals to September 2021 as well as four months of forecast working capital. The 6+6 outturn reflects six months actuals to September 2021 as well as six months of forecast working capital.</a:t>
            </a:r>
          </a:p>
          <a:p>
            <a:r>
              <a:rPr lang="en-GB" b="0" dirty="0">
                <a:solidFill>
                  <a:schemeClr val="tx1"/>
                </a:solidFill>
              </a:rPr>
              <a:t>The forecast periods for both periods have been adjusted to reflect the assumed unwind of working capital balances in the forecast that we have identified as potential working capital adjustments</a:t>
            </a:r>
          </a:p>
          <a:p>
            <a:endParaRPr lang="fi-FI" b="0" dirty="0">
              <a:solidFill>
                <a:schemeClr val="tx1"/>
              </a:solidFill>
            </a:endParaRPr>
          </a:p>
        </p:txBody>
      </p:sp>
      <p:sp>
        <p:nvSpPr>
          <p:cNvPr id="15" name="Text Placeholder 14">
            <a:extLst>
              <a:ext uri="{FF2B5EF4-FFF2-40B4-BE49-F238E27FC236}">
                <a16:creationId xmlns:a16="http://schemas.microsoft.com/office/drawing/2014/main" id="{7D11B80A-AA8D-4288-9D2D-509BB5B18DE5}"/>
              </a:ext>
            </a:extLst>
          </p:cNvPr>
          <p:cNvSpPr>
            <a:spLocks noGrp="1"/>
          </p:cNvSpPr>
          <p:nvPr>
            <p:ph type="body" sz="quarter" idx="25"/>
          </p:nvPr>
        </p:nvSpPr>
        <p:spPr/>
        <p:txBody>
          <a:bodyPr/>
          <a:lstStyle/>
          <a:p>
            <a:r>
              <a:rPr lang="fi-FI"/>
              <a:t>Monthly adjusted net working capital</a:t>
            </a:r>
          </a:p>
        </p:txBody>
      </p:sp>
      <p:sp>
        <p:nvSpPr>
          <p:cNvPr id="4" name="Text Placeholder 3">
            <a:extLst>
              <a:ext uri="{FF2B5EF4-FFF2-40B4-BE49-F238E27FC236}">
                <a16:creationId xmlns:a16="http://schemas.microsoft.com/office/drawing/2014/main" id="{A02D791C-017C-4C70-8BE8-CCD73FA50127}"/>
              </a:ext>
            </a:extLst>
          </p:cNvPr>
          <p:cNvSpPr>
            <a:spLocks noGrp="1"/>
          </p:cNvSpPr>
          <p:nvPr>
            <p:ph type="body" sz="quarter" idx="10"/>
          </p:nvPr>
        </p:nvSpPr>
        <p:spPr>
          <a:xfrm>
            <a:off x="995361" y="1340768"/>
            <a:ext cx="10201276" cy="460800"/>
          </a:xfrm>
        </p:spPr>
        <p:txBody>
          <a:bodyPr/>
          <a:lstStyle/>
          <a:p>
            <a:r>
              <a:rPr lang="en-GB" dirty="0"/>
              <a:t>Y has largely operated with a negative working capital profile driven by high trade creditor days, no accounts receivable balances, and quarterly VAT payments. We have sought to adjust net working capital (NWC) for items that we have identified as debt like, exceptional, or one off in nature.</a:t>
            </a:r>
          </a:p>
          <a:p>
            <a:endParaRPr lang="en-GB" dirty="0"/>
          </a:p>
          <a:p>
            <a:endParaRPr lang="fi-FI" dirty="0"/>
          </a:p>
        </p:txBody>
      </p:sp>
      <p:sp>
        <p:nvSpPr>
          <p:cNvPr id="3" name="Text Placeholder 7">
            <a:extLst>
              <a:ext uri="{FF2B5EF4-FFF2-40B4-BE49-F238E27FC236}">
                <a16:creationId xmlns:a16="http://schemas.microsoft.com/office/drawing/2014/main" id="{B091C718-F8FC-6908-76FF-C04E3C36DD56}"/>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22" name="Text Placeholder 12">
            <a:extLst>
              <a:ext uri="{FF2B5EF4-FFF2-40B4-BE49-F238E27FC236}">
                <a16:creationId xmlns:a16="http://schemas.microsoft.com/office/drawing/2014/main" id="{7531031E-5656-48CA-87E4-E0FF5CCB1C5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8" name="Rounded Rectangle 7">
            <a:extLst>
              <a:ext uri="{FF2B5EF4-FFF2-40B4-BE49-F238E27FC236}">
                <a16:creationId xmlns:a16="http://schemas.microsoft.com/office/drawing/2014/main" id="{1B23812A-91A1-6F82-7B85-8F80372B8F9B}"/>
              </a:ext>
            </a:extLst>
          </p:cNvPr>
          <p:cNvSpPr/>
          <p:nvPr>
            <p:custDataLst>
              <p:tags r:id="rId4"/>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5" name="Rectangle 34">
            <a:extLst>
              <a:ext uri="{FF2B5EF4-FFF2-40B4-BE49-F238E27FC236}">
                <a16:creationId xmlns:a16="http://schemas.microsoft.com/office/drawing/2014/main" id="{8C6D7654-F17C-E712-D1D4-2CD3CE0CF0B2}"/>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6" name="Straight Arrow Connector 35">
            <a:extLst>
              <a:ext uri="{FF2B5EF4-FFF2-40B4-BE49-F238E27FC236}">
                <a16:creationId xmlns:a16="http://schemas.microsoft.com/office/drawing/2014/main" id="{87CEF08D-1990-FF43-9D44-88416784A9CF}"/>
              </a:ext>
            </a:extLst>
          </p:cNvPr>
          <p:cNvCxnSpPr>
            <a:cxnSpLocks/>
            <a:stCxn id="35" idx="2"/>
            <a:endCxn id="2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2" name="Text Placeholder 12">
            <a:extLst>
              <a:ext uri="{FF2B5EF4-FFF2-40B4-BE49-F238E27FC236}">
                <a16:creationId xmlns:a16="http://schemas.microsoft.com/office/drawing/2014/main" id="{0DF51F6A-3772-43AE-A972-66DF5D6364F7}"/>
              </a:ext>
            </a:extLst>
          </p:cNvPr>
          <p:cNvSpPr txBox="1">
            <a:spLocks/>
          </p:cNvSpPr>
          <p:nvPr/>
        </p:nvSpPr>
        <p:spPr>
          <a:xfrm>
            <a:off x="993910" y="6142672"/>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rgbClr val="00338D"/>
                </a:solidFill>
              </a:rPr>
              <a:t>Source (all): </a:t>
            </a:r>
            <a:r>
              <a:rPr lang="en-GB" sz="600" b="0" dirty="0">
                <a:solidFill>
                  <a:srgbClr val="00338D"/>
                </a:solidFill>
                <a:cs typeface="Arial" pitchFamily="34" charset="0"/>
              </a:rPr>
              <a:t>P-L January 2019, P-L January 2020, P-L January 2021, P-L September 2021 	</a:t>
            </a:r>
            <a:endParaRPr lang="en-US" sz="600" b="0" dirty="0">
              <a:solidFill>
                <a:srgbClr val="00338D"/>
              </a:solidFill>
            </a:endParaRPr>
          </a:p>
        </p:txBody>
      </p:sp>
      <p:sp>
        <p:nvSpPr>
          <p:cNvPr id="93" name="Rectangle 92">
            <a:extLst>
              <a:ext uri="{FF2B5EF4-FFF2-40B4-BE49-F238E27FC236}">
                <a16:creationId xmlns:a16="http://schemas.microsoft.com/office/drawing/2014/main" id="{A620CBE6-2492-4367-9A6D-DCFE33D51EF1}"/>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7173783B-3F85-45AE-B1B9-C3307E3DEC6F}"/>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A14BF820-8406-4C9A-8BA3-6E92543648D2}"/>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BB722556-953C-4491-A43A-7D9AE17E8BFE}"/>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E0247502-67DD-4185-801A-6D2EA43B1B8A}"/>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30192961-CDBE-4CA8-B929-FC41B7C2E7DE}"/>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4539CBEB-6AF9-4951-B23B-45E3CD5156F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F3B70139-D7D1-49AD-B560-9418F91299E7}"/>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EC2E85B0-4E60-4A4A-965C-F7A587664C1D}"/>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6C636623-1CC5-4C11-8BCD-C57B02080DC0}"/>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working capital overview</a:t>
            </a:r>
            <a:endParaRPr lang="en-GB" sz="900" dirty="0">
              <a:solidFill>
                <a:schemeClr val="bg1"/>
              </a:solidFill>
            </a:endParaRPr>
          </a:p>
        </p:txBody>
      </p:sp>
      <p:grpSp>
        <p:nvGrpSpPr>
          <p:cNvPr id="33" name="Group 32">
            <a:extLst>
              <a:ext uri="{FF2B5EF4-FFF2-40B4-BE49-F238E27FC236}">
                <a16:creationId xmlns:a16="http://schemas.microsoft.com/office/drawing/2014/main" id="{691C1D2E-A393-4D2A-B196-B10092687D68}"/>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7"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8"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9" name="Current Section4">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0"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1"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2"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332462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9713-2512-4B49-B433-1ED29536F273}"/>
              </a:ext>
            </a:extLst>
          </p:cNvPr>
          <p:cNvPicPr>
            <a:picLocks noChangeAspect="1"/>
          </p:cNvPicPr>
          <p:nvPr>
            <p:custDataLst>
              <p:tags r:id="rId1"/>
            </p:custDataLst>
          </p:nvPr>
        </p:nvPicPr>
        <p:blipFill>
          <a:blip r:embed="rId8"/>
          <a:stretch>
            <a:fillRect/>
          </a:stretch>
        </p:blipFill>
        <p:spPr>
          <a:xfrm>
            <a:off x="995361" y="1912839"/>
            <a:ext cx="3686175" cy="3818839"/>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F10ACF5-8B75-4F48-BA82-BEC5870A7D81}"/>
              </a:ext>
            </a:extLst>
          </p:cNvPr>
          <p:cNvSpPr>
            <a:spLocks noGrp="1"/>
          </p:cNvSpPr>
          <p:nvPr>
            <p:ph type="body" sz="quarter" idx="10"/>
          </p:nvPr>
        </p:nvSpPr>
        <p:spPr/>
        <p:txBody>
          <a:bodyPr/>
          <a:lstStyle/>
          <a:p>
            <a:r>
              <a:rPr lang="en-GB" dirty="0"/>
              <a:t>Reported net cash of £12.8 million at 26 September 2021 relates to cash at bank including £1.6 million within an instant drawdown </a:t>
            </a:r>
            <a:r>
              <a:rPr lang="en-GB" dirty="0" err="1"/>
              <a:t>yy</a:t>
            </a:r>
            <a:r>
              <a:rPr lang="en-GB" dirty="0"/>
              <a:t> account. </a:t>
            </a:r>
          </a:p>
          <a:p>
            <a:r>
              <a:rPr lang="en-GB" dirty="0"/>
              <a:t>Management has confirmed that there are no off balance sheet liabilities at September 2021, although we note that no corporation tax liability has been recognised for September 2021 (see taxation section, page 134 for further details).</a:t>
            </a:r>
          </a:p>
          <a:p>
            <a:endParaRPr lang="fi-FI" dirty="0"/>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cash (1/3)</a:t>
            </a:r>
          </a:p>
        </p:txBody>
      </p:sp>
      <p:sp>
        <p:nvSpPr>
          <p:cNvPr id="14" name="Text Placeholder 13">
            <a:extLst>
              <a:ext uri="{FF2B5EF4-FFF2-40B4-BE49-F238E27FC236}">
                <a16:creationId xmlns:a16="http://schemas.microsoft.com/office/drawing/2014/main" id="{A5CBBA60-6D5E-4476-907C-963B48620929}"/>
              </a:ext>
            </a:extLst>
          </p:cNvPr>
          <p:cNvSpPr>
            <a:spLocks noGrp="1"/>
          </p:cNvSpPr>
          <p:nvPr>
            <p:ph type="body" sz="quarter" idx="26"/>
          </p:nvPr>
        </p:nvSpPr>
        <p:spPr/>
        <p:txBody>
          <a:bodyPr/>
          <a:lstStyle/>
          <a:p>
            <a:r>
              <a:rPr lang="en-GB" b="1" dirty="0">
                <a:solidFill>
                  <a:schemeClr val="tx2"/>
                </a:solidFill>
              </a:rPr>
              <a:t>Cash at bank</a:t>
            </a:r>
          </a:p>
          <a:p>
            <a:r>
              <a:rPr lang="en-GB" b="0" dirty="0">
                <a:solidFill>
                  <a:schemeClr val="tx1"/>
                </a:solidFill>
              </a:rPr>
              <a:t>The majority of the cash balance is held in the two main bank accounts: </a:t>
            </a:r>
            <a:r>
              <a:rPr lang="en-GB" b="0" dirty="0" err="1">
                <a:solidFill>
                  <a:schemeClr val="tx1"/>
                </a:solidFill>
              </a:rPr>
              <a:t>yy</a:t>
            </a:r>
            <a:r>
              <a:rPr lang="en-GB" b="0" dirty="0">
                <a:solidFill>
                  <a:schemeClr val="tx1"/>
                </a:solidFill>
              </a:rPr>
              <a:t> account and </a:t>
            </a:r>
            <a:r>
              <a:rPr lang="en-GB" b="0" dirty="0" err="1">
                <a:solidFill>
                  <a:schemeClr val="tx1"/>
                </a:solidFill>
              </a:rPr>
              <a:t>yy</a:t>
            </a:r>
            <a:r>
              <a:rPr lang="en-GB" b="0" dirty="0">
                <a:solidFill>
                  <a:schemeClr val="tx1"/>
                </a:solidFill>
              </a:rPr>
              <a:t> account. There is an additional </a:t>
            </a:r>
            <a:r>
              <a:rPr lang="en-GB" b="0" dirty="0" err="1">
                <a:solidFill>
                  <a:schemeClr val="tx1"/>
                </a:solidFill>
              </a:rPr>
              <a:t>yy</a:t>
            </a:r>
            <a:r>
              <a:rPr lang="en-GB" b="0" dirty="0">
                <a:solidFill>
                  <a:schemeClr val="tx1"/>
                </a:solidFill>
              </a:rPr>
              <a:t> account, with a balance of £1.6 million as at September 2021, which earns a higher interest rate than the current accounts but has instant access. </a:t>
            </a:r>
          </a:p>
          <a:p>
            <a:r>
              <a:rPr lang="en-GB" b="0" dirty="0">
                <a:solidFill>
                  <a:schemeClr val="tx1"/>
                </a:solidFill>
              </a:rPr>
              <a:t>As at September 2021, £1.6 million of the cash balance related to accounts with the payment service provider (PSP) </a:t>
            </a:r>
            <a:r>
              <a:rPr lang="en-GB" b="0" dirty="0" err="1">
                <a:solidFill>
                  <a:schemeClr val="tx1"/>
                </a:solidFill>
              </a:rPr>
              <a:t>yy</a:t>
            </a:r>
            <a:r>
              <a:rPr lang="en-GB" b="0" dirty="0">
                <a:solidFill>
                  <a:schemeClr val="tx1"/>
                </a:solidFill>
              </a:rPr>
              <a:t>. Although sales receipts are received into the </a:t>
            </a:r>
            <a:r>
              <a:rPr lang="en-GB" b="0" dirty="0" err="1">
                <a:solidFill>
                  <a:schemeClr val="tx1"/>
                </a:solidFill>
              </a:rPr>
              <a:t>yy</a:t>
            </a:r>
            <a:r>
              <a:rPr lang="en-GB" b="0" dirty="0">
                <a:solidFill>
                  <a:schemeClr val="tx1"/>
                </a:solidFill>
              </a:rPr>
              <a:t> account immediately, Y has to manually draw down cash from this account into its </a:t>
            </a:r>
            <a:r>
              <a:rPr lang="en-GB" b="0" dirty="0" err="1">
                <a:solidFill>
                  <a:schemeClr val="tx1"/>
                </a:solidFill>
              </a:rPr>
              <a:t>yy</a:t>
            </a:r>
            <a:r>
              <a:rPr lang="en-GB" b="0" dirty="0">
                <a:solidFill>
                  <a:schemeClr val="tx1"/>
                </a:solidFill>
              </a:rPr>
              <a:t> account. </a:t>
            </a:r>
          </a:p>
          <a:p>
            <a:r>
              <a:rPr lang="en-GB" b="1" dirty="0">
                <a:solidFill>
                  <a:schemeClr val="tx2"/>
                </a:solidFill>
              </a:rPr>
              <a:t>Financial liability</a:t>
            </a:r>
          </a:p>
          <a:p>
            <a:r>
              <a:rPr lang="en-GB" b="0" dirty="0">
                <a:solidFill>
                  <a:schemeClr val="tx1"/>
                </a:solidFill>
              </a:rPr>
              <a:t>The financial liability relates to the forward contract hedges in Euro (EUR) and US dollars (USD) which Y has utilised in the past two years in order to hedge FX risk. Y enters forward contracts based on the buying team’s indication of purchases in foreign currencies for the following 12 months. The hedges are retranslated at year end using the spot rate, with any gain or loss taken to the P&amp;L (below EBITDA). The use of forward contracts in USD has reduced recently due to the natural hedge from </a:t>
            </a:r>
            <a:r>
              <a:rPr lang="en-GB" b="0" dirty="0" err="1">
                <a:solidFill>
                  <a:schemeClr val="tx1"/>
                </a:solidFill>
              </a:rPr>
              <a:t>yy</a:t>
            </a:r>
            <a:r>
              <a:rPr lang="en-GB" b="0" dirty="0">
                <a:solidFill>
                  <a:schemeClr val="tx1"/>
                </a:solidFill>
              </a:rPr>
              <a:t> sales.</a:t>
            </a:r>
          </a:p>
          <a:p>
            <a:r>
              <a:rPr lang="en-GB" b="1" dirty="0">
                <a:solidFill>
                  <a:schemeClr val="tx2"/>
                </a:solidFill>
              </a:rPr>
              <a:t>Taxation</a:t>
            </a:r>
          </a:p>
          <a:p>
            <a:r>
              <a:rPr lang="en-GB" b="0" dirty="0">
                <a:solidFill>
                  <a:schemeClr val="tx1"/>
                </a:solidFill>
              </a:rPr>
              <a:t>See adjustment (d) overleaf. </a:t>
            </a:r>
          </a:p>
          <a:p>
            <a:r>
              <a:rPr lang="en-GB" b="1" dirty="0">
                <a:solidFill>
                  <a:schemeClr val="tx2"/>
                </a:solidFill>
              </a:rPr>
              <a:t>Other</a:t>
            </a:r>
          </a:p>
          <a:p>
            <a:r>
              <a:rPr lang="en-GB" b="0" dirty="0">
                <a:solidFill>
                  <a:schemeClr val="tx1"/>
                </a:solidFill>
              </a:rPr>
              <a:t>Y has a number of </a:t>
            </a:r>
            <a:r>
              <a:rPr lang="en-GB" b="0" dirty="0" err="1">
                <a:solidFill>
                  <a:schemeClr val="tx1"/>
                </a:solidFill>
              </a:rPr>
              <a:t>yy</a:t>
            </a:r>
            <a:r>
              <a:rPr lang="en-GB" b="0" dirty="0">
                <a:solidFill>
                  <a:schemeClr val="tx1"/>
                </a:solidFill>
              </a:rPr>
              <a:t> facilities available to them, such as an overdraft and import trade facility, but Management has commented that they are yet to utilise any of these facilities.</a:t>
            </a:r>
          </a:p>
          <a:p>
            <a:endParaRPr lang="en-GB" b="0" dirty="0">
              <a:solidFill>
                <a:schemeClr val="tx1"/>
              </a:solidFill>
            </a:endParaRPr>
          </a:p>
          <a:p>
            <a:endParaRPr lang="en-GB" dirty="0"/>
          </a:p>
        </p:txBody>
      </p:sp>
      <p:sp>
        <p:nvSpPr>
          <p:cNvPr id="12" name="Text Placeholder 11">
            <a:extLst>
              <a:ext uri="{FF2B5EF4-FFF2-40B4-BE49-F238E27FC236}">
                <a16:creationId xmlns:a16="http://schemas.microsoft.com/office/drawing/2014/main" id="{3AF14E94-BC2F-49F5-ACF8-51C577F32468}"/>
              </a:ext>
            </a:extLst>
          </p:cNvPr>
          <p:cNvSpPr>
            <a:spLocks noGrp="1"/>
          </p:cNvSpPr>
          <p:nvPr>
            <p:ph type="body" sz="quarter" idx="11"/>
          </p:nvPr>
        </p:nvSpPr>
        <p:spPr/>
        <p:txBody>
          <a:bodyPr/>
          <a:lstStyle/>
          <a:p>
            <a:r>
              <a:rPr lang="en-GB"/>
              <a:t>Reported net cash</a:t>
            </a:r>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2" name="Text Placeholder 12">
            <a:extLst>
              <a:ext uri="{FF2B5EF4-FFF2-40B4-BE49-F238E27FC236}">
                <a16:creationId xmlns:a16="http://schemas.microsoft.com/office/drawing/2014/main" id="{A6BC11B8-AED1-437F-B421-6C94B9E29AB5}"/>
              </a:ext>
            </a:extLst>
          </p:cNvPr>
          <p:cNvSpPr txBox="1">
            <a:spLocks/>
          </p:cNvSpPr>
          <p:nvPr/>
        </p:nvSpPr>
        <p:spPr>
          <a:xfrm>
            <a:off x="995361" y="575590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rPr>
              <a:t>Source: </a:t>
            </a:r>
            <a:r>
              <a:rPr lang="en-GB" sz="600" b="0">
                <a:solidFill>
                  <a:schemeClr val="tx2"/>
                </a:solidFill>
                <a:cs typeface="Arial" pitchFamily="34" charset="0"/>
              </a:rPr>
              <a:t>P-L January 2019, P-L January 2020, P-L January 2021, P-L September 2021 	</a:t>
            </a:r>
            <a:endParaRPr lang="en-US" sz="600" b="0">
              <a:solidFill>
                <a:schemeClr val="tx2"/>
              </a:solidFill>
            </a:endParaRP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 name="UpSlide SubSection Marker" hidden="1">
            <a:extLst>
              <a:ext uri="{FF2B5EF4-FFF2-40B4-BE49-F238E27FC236}">
                <a16:creationId xmlns:a16="http://schemas.microsoft.com/office/drawing/2014/main" id="{0752A80B-95F5-4160-941E-C2E5935C860E}"/>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cash</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5"/>
            </p:custDataLst>
          </p:nvPr>
        </p:nvGrpSpPr>
        <p:grpSpPr>
          <a:xfrm>
            <a:off x="995364" y="153170"/>
            <a:ext cx="6211576" cy="195814"/>
            <a:chOff x="995364" y="153170"/>
            <a:chExt cx="6211576"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04445443"/>
      </p:ext>
    </p:extLst>
  </p:cSld>
  <p:clrMapOvr>
    <a:masterClrMapping/>
  </p:clrMapOvr>
  <p:extLst>
    <p:ext uri="{6950BFC3-D8DA-4A85-94F7-54DA5524770B}">
      <p188:commentRel xmlns:p188="http://schemas.microsoft.com/office/powerpoint/2018/8/main" r:id="rId7"/>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F10ACF5-8B75-4F48-BA82-BEC5870A7D81}"/>
              </a:ext>
            </a:extLst>
          </p:cNvPr>
          <p:cNvSpPr>
            <a:spLocks noGrp="1"/>
          </p:cNvSpPr>
          <p:nvPr>
            <p:ph type="body" sz="quarter" idx="10"/>
          </p:nvPr>
        </p:nvSpPr>
        <p:spPr/>
        <p:txBody>
          <a:bodyPr/>
          <a:lstStyle/>
          <a:p>
            <a:r>
              <a:rPr lang="en-GB" dirty="0"/>
              <a:t>Adjustments identified during the course of our work increase adjusted net cash by £0.7 million, largely relating to sales receipts yet to clear held within debtors at month end, partially offset by a minimum balance held within the </a:t>
            </a:r>
            <a:r>
              <a:rPr lang="en-GB" dirty="0" err="1"/>
              <a:t>yy</a:t>
            </a:r>
            <a:r>
              <a:rPr lang="en-GB" dirty="0"/>
              <a:t> account to process refunds.</a:t>
            </a:r>
          </a:p>
          <a:p>
            <a:endParaRPr lang="fi-FI" dirty="0"/>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cash (2/3)</a:t>
            </a:r>
          </a:p>
        </p:txBody>
      </p:sp>
      <p:sp>
        <p:nvSpPr>
          <p:cNvPr id="12" name="Text Placeholder 11">
            <a:extLst>
              <a:ext uri="{FF2B5EF4-FFF2-40B4-BE49-F238E27FC236}">
                <a16:creationId xmlns:a16="http://schemas.microsoft.com/office/drawing/2014/main" id="{3AF14E94-BC2F-49F5-ACF8-51C577F32468}"/>
              </a:ext>
            </a:extLst>
          </p:cNvPr>
          <p:cNvSpPr>
            <a:spLocks noGrp="1"/>
          </p:cNvSpPr>
          <p:nvPr>
            <p:ph type="body" sz="quarter" idx="11"/>
          </p:nvPr>
        </p:nvSpPr>
        <p:spPr/>
        <p:txBody>
          <a:bodyPr/>
          <a:lstStyle/>
          <a:p>
            <a:r>
              <a:rPr lang="en-GB" dirty="0"/>
              <a:t>Other considerations</a:t>
            </a:r>
          </a:p>
        </p:txBody>
      </p:sp>
      <p:sp>
        <p:nvSpPr>
          <p:cNvPr id="3" name="Text Placeholder 2">
            <a:extLst>
              <a:ext uri="{FF2B5EF4-FFF2-40B4-BE49-F238E27FC236}">
                <a16:creationId xmlns:a16="http://schemas.microsoft.com/office/drawing/2014/main" id="{EC8A3B58-D2B6-4CC5-A64A-AEE0978CDC9B}"/>
              </a:ext>
            </a:extLst>
          </p:cNvPr>
          <p:cNvSpPr>
            <a:spLocks noGrp="1"/>
          </p:cNvSpPr>
          <p:nvPr>
            <p:ph type="body" sz="quarter" idx="25"/>
          </p:nvPr>
        </p:nvSpPr>
        <p:spPr/>
        <p:txBody>
          <a:bodyPr/>
          <a:lstStyle/>
          <a:p>
            <a:r>
              <a:rPr lang="en-GB" dirty="0"/>
              <a:t>Potential adjustments</a:t>
            </a:r>
          </a:p>
        </p:txBody>
      </p:sp>
      <p:sp>
        <p:nvSpPr>
          <p:cNvPr id="14" name="Text Placeholder 13">
            <a:extLst>
              <a:ext uri="{FF2B5EF4-FFF2-40B4-BE49-F238E27FC236}">
                <a16:creationId xmlns:a16="http://schemas.microsoft.com/office/drawing/2014/main" id="{A5CBBA60-6D5E-4476-907C-963B48620929}"/>
              </a:ext>
            </a:extLst>
          </p:cNvPr>
          <p:cNvSpPr>
            <a:spLocks noGrp="1"/>
          </p:cNvSpPr>
          <p:nvPr>
            <p:ph type="body" sz="quarter" idx="24"/>
          </p:nvPr>
        </p:nvSpPr>
        <p:spPr/>
        <p:txBody>
          <a:bodyPr/>
          <a:lstStyle/>
          <a:p>
            <a:pPr marL="228600" indent="-228600">
              <a:buFont typeface="+mj-lt"/>
              <a:buAutoNum type="alphaLcPeriod" startAt="5"/>
            </a:pPr>
            <a:r>
              <a:rPr lang="en-GB" b="0" dirty="0"/>
              <a:t>Transactions costs – </a:t>
            </a:r>
            <a:r>
              <a:rPr lang="en-GB" b="0" dirty="0">
                <a:solidFill>
                  <a:schemeClr val="tx1"/>
                </a:solidFill>
              </a:rPr>
              <a:t>Management estimates that total sell side transactions fees relating to Project Y will sum to £1.2 million (exclusive of VAT), consisting of the following:</a:t>
            </a:r>
          </a:p>
          <a:p>
            <a:pPr marL="432000" indent="-171450">
              <a:spcAft>
                <a:spcPts val="300"/>
              </a:spcAft>
              <a:buFont typeface="Arial" panose="020B0604020202020204" pitchFamily="34" charset="0"/>
              <a:buChar char="•"/>
            </a:pPr>
            <a:r>
              <a:rPr lang="en-GB" b="0" dirty="0">
                <a:solidFill>
                  <a:schemeClr val="tx1"/>
                </a:solidFill>
              </a:rPr>
              <a:t>Sell side advisory (</a:t>
            </a:r>
            <a:r>
              <a:rPr lang="en-GB" b="0" dirty="0" err="1">
                <a:solidFill>
                  <a:schemeClr val="tx1"/>
                </a:solidFill>
              </a:rPr>
              <a:t>yy</a:t>
            </a:r>
            <a:r>
              <a:rPr lang="en-GB" b="0" dirty="0">
                <a:solidFill>
                  <a:schemeClr val="tx1"/>
                </a:solidFill>
              </a:rPr>
              <a:t>, £50,000)</a:t>
            </a:r>
            <a:endParaRPr lang="en-GB" b="0" dirty="0">
              <a:solidFill>
                <a:srgbClr val="FF0000"/>
              </a:solidFill>
            </a:endParaRPr>
          </a:p>
          <a:p>
            <a:pPr marL="432000" indent="-171450">
              <a:spcAft>
                <a:spcPts val="300"/>
              </a:spcAft>
              <a:buFont typeface="Arial" panose="020B0604020202020204" pitchFamily="34" charset="0"/>
              <a:buChar char="•"/>
            </a:pPr>
            <a:r>
              <a:rPr lang="en-GB" b="0" dirty="0">
                <a:solidFill>
                  <a:schemeClr val="tx1"/>
                </a:solidFill>
              </a:rPr>
              <a:t>Financial and tax due diligence (</a:t>
            </a:r>
            <a:r>
              <a:rPr lang="en-GB" b="0" dirty="0" err="1">
                <a:solidFill>
                  <a:schemeClr val="tx1"/>
                </a:solidFill>
              </a:rPr>
              <a:t>yy</a:t>
            </a:r>
            <a:r>
              <a:rPr lang="en-GB" b="0" dirty="0">
                <a:solidFill>
                  <a:schemeClr val="tx1"/>
                </a:solidFill>
              </a:rPr>
              <a:t>, £0.3 million)</a:t>
            </a:r>
          </a:p>
          <a:p>
            <a:pPr marL="432000" indent="-171450">
              <a:spcAft>
                <a:spcPts val="300"/>
              </a:spcAft>
              <a:buFont typeface="Arial" panose="020B0604020202020204" pitchFamily="34" charset="0"/>
              <a:buChar char="•"/>
            </a:pPr>
            <a:r>
              <a:rPr lang="en-GB" b="0" dirty="0">
                <a:solidFill>
                  <a:schemeClr val="tx1"/>
                </a:solidFill>
              </a:rPr>
              <a:t>Commercial due diligence (</a:t>
            </a:r>
            <a:r>
              <a:rPr lang="en-GB" b="0" dirty="0" err="1">
                <a:solidFill>
                  <a:schemeClr val="tx1"/>
                </a:solidFill>
              </a:rPr>
              <a:t>yy</a:t>
            </a:r>
            <a:r>
              <a:rPr lang="en-GB" b="0" dirty="0">
                <a:solidFill>
                  <a:schemeClr val="tx1"/>
                </a:solidFill>
              </a:rPr>
              <a:t>, £0.4 million)</a:t>
            </a:r>
          </a:p>
          <a:p>
            <a:pPr marL="432000" indent="-171450">
              <a:spcAft>
                <a:spcPts val="300"/>
              </a:spcAft>
              <a:buFont typeface="Arial" panose="020B0604020202020204" pitchFamily="34" charset="0"/>
              <a:buChar char="•"/>
            </a:pPr>
            <a:r>
              <a:rPr lang="en-GB" b="0" dirty="0">
                <a:solidFill>
                  <a:schemeClr val="tx1"/>
                </a:solidFill>
              </a:rPr>
              <a:t>Technology due diligence (</a:t>
            </a:r>
            <a:r>
              <a:rPr lang="en-GB" b="0" dirty="0" err="1">
                <a:solidFill>
                  <a:schemeClr val="tx1"/>
                </a:solidFill>
              </a:rPr>
              <a:t>yy</a:t>
            </a:r>
            <a:r>
              <a:rPr lang="en-GB" b="0" dirty="0">
                <a:solidFill>
                  <a:schemeClr val="tx1"/>
                </a:solidFill>
              </a:rPr>
              <a:t>, £40,000)</a:t>
            </a:r>
          </a:p>
          <a:p>
            <a:pPr marL="432000" indent="-171450">
              <a:spcAft>
                <a:spcPts val="300"/>
              </a:spcAft>
              <a:buFont typeface="Arial" panose="020B0604020202020204" pitchFamily="34" charset="0"/>
              <a:buChar char="•"/>
            </a:pPr>
            <a:r>
              <a:rPr lang="en-GB" b="0" dirty="0">
                <a:solidFill>
                  <a:schemeClr val="tx1"/>
                </a:solidFill>
              </a:rPr>
              <a:t>Legal fees (£0.3 million)</a:t>
            </a:r>
          </a:p>
          <a:p>
            <a:pPr marL="230400">
              <a:spcAft>
                <a:spcPts val="300"/>
              </a:spcAft>
            </a:pPr>
            <a:r>
              <a:rPr lang="en-GB" b="0" dirty="0">
                <a:solidFill>
                  <a:schemeClr val="tx1"/>
                </a:solidFill>
              </a:rPr>
              <a:t>In addition, management are forecasting an exit bonus of £0.3 million. As at September 2021, only £10,000 had been paid and recognised within the Management accounts.</a:t>
            </a:r>
          </a:p>
          <a:p>
            <a:pPr marL="228600" indent="-228600">
              <a:spcAft>
                <a:spcPts val="300"/>
              </a:spcAft>
              <a:buFont typeface="+mj-lt"/>
              <a:buAutoNum type="alphaLcPeriod" startAt="6"/>
            </a:pPr>
            <a:r>
              <a:rPr lang="en-GB" b="0" dirty="0"/>
              <a:t>Forward purchase of stock – </a:t>
            </a:r>
            <a:r>
              <a:rPr lang="en-GB" b="0" dirty="0">
                <a:solidFill>
                  <a:schemeClr val="tx1"/>
                </a:solidFill>
              </a:rPr>
              <a:t>As at September 2021, Management had £0.3 million of fabric purchased on behalf of clothing manufacturers for economies of scale purposes and to ensure stable cost prices. When this fabric is used by suppliers, a credit will be received for the relevant cost held on the balance sheet (£0.1 million received as at October 2021). Whilst Management expect this process to continue for another year and is supporting forecast trading, there is a potential cash benefit should this balance be left to unwind going forward. </a:t>
            </a:r>
          </a:p>
          <a:p>
            <a:pPr marL="228600" indent="-228600">
              <a:spcAft>
                <a:spcPts val="300"/>
              </a:spcAft>
              <a:buFont typeface="+mj-lt"/>
              <a:buAutoNum type="alphaLcPeriod" startAt="6"/>
            </a:pPr>
            <a:r>
              <a:rPr lang="en-GB" b="0" dirty="0"/>
              <a:t>Audit fee overages – </a:t>
            </a:r>
            <a:r>
              <a:rPr lang="en-GB" b="0" dirty="0">
                <a:solidFill>
                  <a:schemeClr val="tx1"/>
                </a:solidFill>
              </a:rPr>
              <a:t>Management expect there will be additional audit fees incurred for the FY21 audit as a result of the deal process overlapping the audit process. To the extent overages are agreed and paid, these should be borne by the vendor. </a:t>
            </a:r>
            <a:endParaRPr lang="en-GB" b="0" dirty="0">
              <a:solidFill>
                <a:srgbClr val="00338D"/>
              </a:solidFill>
            </a:endParaRPr>
          </a:p>
          <a:p>
            <a:endParaRPr lang="en-GB" b="0" dirty="0">
              <a:solidFill>
                <a:schemeClr val="tx1"/>
              </a:solidFill>
            </a:endParaRPr>
          </a:p>
          <a:p>
            <a:endParaRPr lang="en-GB" b="0" dirty="0">
              <a:solidFill>
                <a:schemeClr val="tx1"/>
              </a:solidFill>
            </a:endParaRPr>
          </a:p>
          <a:p>
            <a:endParaRPr lang="en-GB" dirty="0"/>
          </a:p>
        </p:txBody>
      </p:sp>
      <p:sp>
        <p:nvSpPr>
          <p:cNvPr id="4" name="Text Placeholder 3">
            <a:extLst>
              <a:ext uri="{FF2B5EF4-FFF2-40B4-BE49-F238E27FC236}">
                <a16:creationId xmlns:a16="http://schemas.microsoft.com/office/drawing/2014/main" id="{04023DEA-81FB-40B1-96EE-BB3046114D1A}"/>
              </a:ext>
            </a:extLst>
          </p:cNvPr>
          <p:cNvSpPr>
            <a:spLocks noGrp="1"/>
          </p:cNvSpPr>
          <p:nvPr>
            <p:ph type="body" sz="quarter" idx="26"/>
          </p:nvPr>
        </p:nvSpPr>
        <p:spPr/>
        <p:txBody>
          <a:bodyPr/>
          <a:lstStyle/>
          <a:p>
            <a:r>
              <a:rPr lang="en-GB" b="1" dirty="0">
                <a:solidFill>
                  <a:schemeClr val="tx2"/>
                </a:solidFill>
              </a:rPr>
              <a:t>Potential adjustments from net working capital</a:t>
            </a:r>
          </a:p>
          <a:p>
            <a:pPr marL="228600" indent="-228600">
              <a:buAutoNum type="alphaLcPeriod"/>
            </a:pPr>
            <a:r>
              <a:rPr lang="en-GB" b="0" dirty="0" err="1"/>
              <a:t>yy</a:t>
            </a:r>
            <a:r>
              <a:rPr lang="en-GB" b="0" dirty="0"/>
              <a:t> buffer – </a:t>
            </a:r>
            <a:r>
              <a:rPr lang="en-GB" b="0" dirty="0">
                <a:solidFill>
                  <a:schemeClr val="tx1"/>
                </a:solidFill>
              </a:rPr>
              <a:t>As the cash within the </a:t>
            </a:r>
            <a:r>
              <a:rPr lang="en-GB" b="0" dirty="0" err="1">
                <a:solidFill>
                  <a:schemeClr val="tx1"/>
                </a:solidFill>
              </a:rPr>
              <a:t>yy</a:t>
            </a:r>
            <a:r>
              <a:rPr lang="en-GB" b="0" dirty="0">
                <a:solidFill>
                  <a:schemeClr val="tx1"/>
                </a:solidFill>
              </a:rPr>
              <a:t> accounts is accessible we have treated it as net cash. However, we have made an adjustment for the £0.1 million balance that is retained within the accounts (to ensure that refunds can be processed) as we deem this to be working capital in nature.</a:t>
            </a:r>
          </a:p>
          <a:p>
            <a:pPr marL="228600" indent="-228600">
              <a:buAutoNum type="alphaLcPeriod"/>
            </a:pPr>
            <a:r>
              <a:rPr lang="en-GB" b="0" dirty="0"/>
              <a:t>Cash yet to clear within debtors – </a:t>
            </a:r>
            <a:r>
              <a:rPr lang="en-GB" b="0" dirty="0">
                <a:solidFill>
                  <a:schemeClr val="tx1"/>
                </a:solidFill>
              </a:rPr>
              <a:t>The debtors balance includes cash from sales that is yet to clear, in relation to online, boutique and concession sales. As this typically clears within</a:t>
            </a:r>
            <a:r>
              <a:rPr lang="en-GB" b="0" dirty="0">
                <a:solidFill>
                  <a:srgbClr val="FF0000"/>
                </a:solidFill>
              </a:rPr>
              <a:t> </a:t>
            </a:r>
            <a:r>
              <a:rPr lang="en-GB" b="0" dirty="0">
                <a:solidFill>
                  <a:schemeClr val="tx1"/>
                </a:solidFill>
              </a:rPr>
              <a:t>2 – 3 days</a:t>
            </a:r>
            <a:r>
              <a:rPr lang="en-GB" b="0" dirty="0">
                <a:solidFill>
                  <a:srgbClr val="FF0000"/>
                </a:solidFill>
              </a:rPr>
              <a:t> </a:t>
            </a:r>
            <a:r>
              <a:rPr lang="en-GB" b="0" dirty="0">
                <a:solidFill>
                  <a:schemeClr val="tx1"/>
                </a:solidFill>
              </a:rPr>
              <a:t>we have removed this from net working capital and included it as a cash like item. This balance includes an FX adjustment for </a:t>
            </a:r>
            <a:r>
              <a:rPr lang="en-GB" b="0" dirty="0" err="1">
                <a:solidFill>
                  <a:schemeClr val="tx1"/>
                </a:solidFill>
              </a:rPr>
              <a:t>yy</a:t>
            </a:r>
            <a:r>
              <a:rPr lang="en-GB" b="0" dirty="0">
                <a:solidFill>
                  <a:schemeClr val="tx1"/>
                </a:solidFill>
              </a:rPr>
              <a:t> sales based on the actual cash due to be received as sales are recognised on budgeted FX rates. </a:t>
            </a:r>
          </a:p>
          <a:p>
            <a:pPr marL="228600" indent="-228600">
              <a:buAutoNum type="alphaLcPeriod"/>
            </a:pPr>
            <a:r>
              <a:rPr lang="en-GB" b="0" dirty="0"/>
              <a:t>Exceptional warehouse costs </a:t>
            </a:r>
            <a:r>
              <a:rPr lang="en-GB" b="0" dirty="0">
                <a:solidFill>
                  <a:schemeClr val="tx1"/>
                </a:solidFill>
              </a:rPr>
              <a:t>– Relates to an accrual for warehouse move costs recognised below EBITDA between </a:t>
            </a:r>
            <a:r>
              <a:rPr lang="en-GB" b="0" dirty="0" err="1">
                <a:solidFill>
                  <a:schemeClr val="tx1"/>
                </a:solidFill>
              </a:rPr>
              <a:t>yy</a:t>
            </a:r>
            <a:r>
              <a:rPr lang="en-GB" b="0" dirty="0">
                <a:solidFill>
                  <a:schemeClr val="tx1"/>
                </a:solidFill>
              </a:rPr>
              <a:t> and </a:t>
            </a:r>
            <a:r>
              <a:rPr lang="en-GB" b="0" dirty="0" err="1">
                <a:solidFill>
                  <a:schemeClr val="tx1"/>
                </a:solidFill>
              </a:rPr>
              <a:t>yy</a:t>
            </a:r>
            <a:r>
              <a:rPr lang="en-GB" b="0" dirty="0">
                <a:solidFill>
                  <a:schemeClr val="tx1"/>
                </a:solidFill>
              </a:rPr>
              <a:t>. As this relates to restructuring pre completion, we consider this balance to be debt-like in nature. </a:t>
            </a:r>
          </a:p>
          <a:p>
            <a:r>
              <a:rPr lang="en-GB" b="1" dirty="0">
                <a:solidFill>
                  <a:schemeClr val="tx2"/>
                </a:solidFill>
              </a:rPr>
              <a:t>Other potential adjustments</a:t>
            </a:r>
          </a:p>
          <a:p>
            <a:pPr marL="228600" indent="-228600">
              <a:buFont typeface="+mj-lt"/>
              <a:buAutoNum type="alphaLcPeriod" startAt="4"/>
            </a:pPr>
            <a:r>
              <a:rPr lang="en-GB" b="0" dirty="0"/>
              <a:t>Corporation tax - </a:t>
            </a:r>
            <a:r>
              <a:rPr lang="en-GB" b="0" dirty="0">
                <a:solidFill>
                  <a:schemeClr val="tx1"/>
                </a:solidFill>
              </a:rPr>
              <a:t>The September 2021 management accounts do not include an estimate for the corporation tax liability. No tax calculations have been provided for the FY22 period and further work should be undertaken to establish the extent to which a corporation tax creditor should be recognised in the locked box. </a:t>
            </a:r>
            <a:endParaRPr lang="en-GB" b="0" dirty="0">
              <a:highlight>
                <a:srgbClr val="FFFF00"/>
              </a:highlight>
            </a:endParaRP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2428E778-F9E3-4BF4-B925-0B743A3D4ABF}"/>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cash</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189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F10ACF5-8B75-4F48-BA82-BEC5870A7D81}"/>
              </a:ext>
            </a:extLst>
          </p:cNvPr>
          <p:cNvSpPr>
            <a:spLocks noGrp="1"/>
          </p:cNvSpPr>
          <p:nvPr>
            <p:ph type="body" sz="quarter" idx="10"/>
          </p:nvPr>
        </p:nvSpPr>
        <p:spPr/>
        <p:txBody>
          <a:bodyPr/>
          <a:lstStyle/>
          <a:p>
            <a:r>
              <a:rPr lang="en-GB" dirty="0"/>
              <a:t>Adjustments identified during the course of our work increase adjusted net cash by £0.7 million, largely relating to sales receipts yet to clear held within debtors at month end, partially offset by a minimum balance held within the </a:t>
            </a:r>
            <a:r>
              <a:rPr lang="en-GB" dirty="0" err="1"/>
              <a:t>yy</a:t>
            </a:r>
            <a:r>
              <a:rPr lang="en-GB" dirty="0"/>
              <a:t> account to process refunds.</a:t>
            </a:r>
          </a:p>
          <a:p>
            <a:endParaRPr lang="fi-FI" dirty="0"/>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cash (3/3)</a:t>
            </a:r>
          </a:p>
        </p:txBody>
      </p:sp>
      <p:sp>
        <p:nvSpPr>
          <p:cNvPr id="12" name="Text Placeholder 11">
            <a:extLst>
              <a:ext uri="{FF2B5EF4-FFF2-40B4-BE49-F238E27FC236}">
                <a16:creationId xmlns:a16="http://schemas.microsoft.com/office/drawing/2014/main" id="{3AF14E94-BC2F-49F5-ACF8-51C577F32468}"/>
              </a:ext>
            </a:extLst>
          </p:cNvPr>
          <p:cNvSpPr>
            <a:spLocks noGrp="1"/>
          </p:cNvSpPr>
          <p:nvPr>
            <p:ph type="body" sz="quarter" idx="11"/>
          </p:nvPr>
        </p:nvSpPr>
        <p:spPr/>
        <p:txBody>
          <a:bodyPr/>
          <a:lstStyle/>
          <a:p>
            <a:r>
              <a:rPr lang="en-GB" dirty="0"/>
              <a:t>Other considerations (continued)</a:t>
            </a:r>
          </a:p>
        </p:txBody>
      </p:sp>
      <p:sp>
        <p:nvSpPr>
          <p:cNvPr id="3" name="Text Placeholder 2">
            <a:extLst>
              <a:ext uri="{FF2B5EF4-FFF2-40B4-BE49-F238E27FC236}">
                <a16:creationId xmlns:a16="http://schemas.microsoft.com/office/drawing/2014/main" id="{2D668AE1-0855-4CC2-9E62-ECAB013DB6E4}"/>
              </a:ext>
            </a:extLst>
          </p:cNvPr>
          <p:cNvSpPr>
            <a:spLocks noGrp="1"/>
          </p:cNvSpPr>
          <p:nvPr>
            <p:ph type="body" sz="quarter" idx="25"/>
          </p:nvPr>
        </p:nvSpPr>
        <p:spPr/>
        <p:txBody>
          <a:bodyPr/>
          <a:lstStyle/>
          <a:p>
            <a:r>
              <a:rPr lang="en-GB" dirty="0"/>
              <a:t>Other considerations (continued)</a:t>
            </a:r>
          </a:p>
        </p:txBody>
      </p:sp>
      <p:sp>
        <p:nvSpPr>
          <p:cNvPr id="14" name="Text Placeholder 13">
            <a:extLst>
              <a:ext uri="{FF2B5EF4-FFF2-40B4-BE49-F238E27FC236}">
                <a16:creationId xmlns:a16="http://schemas.microsoft.com/office/drawing/2014/main" id="{A5CBBA60-6D5E-4476-907C-963B48620929}"/>
              </a:ext>
            </a:extLst>
          </p:cNvPr>
          <p:cNvSpPr>
            <a:spLocks noGrp="1"/>
          </p:cNvSpPr>
          <p:nvPr>
            <p:ph type="body" sz="quarter" idx="24"/>
          </p:nvPr>
        </p:nvSpPr>
        <p:spPr/>
        <p:txBody>
          <a:bodyPr/>
          <a:lstStyle/>
          <a:p>
            <a:pPr marL="228600" indent="-228600">
              <a:buFont typeface="+mj-lt"/>
              <a:buAutoNum type="alphaLcPeriod" startAt="11"/>
            </a:pPr>
            <a:r>
              <a:rPr lang="en-GB" b="0" dirty="0"/>
              <a:t>Boutique A dilapidations – </a:t>
            </a:r>
            <a:r>
              <a:rPr lang="en-GB" b="0" dirty="0">
                <a:solidFill>
                  <a:schemeClr val="tx1"/>
                </a:solidFill>
              </a:rPr>
              <a:t>Management had previously intended on relocating Boutique A to Boutique I (included within the forecast model) from February 2022 but the arrangement fell through due to another third party taking the lease. Management are continuing to look for a potential new location for heightened brand awareness. Prospective purchasers should consider estimated dilapidation costs of £10,000 in this scenario which have not been provided for on the balance sheet. </a:t>
            </a:r>
          </a:p>
          <a:p>
            <a:pPr marL="228600" indent="-228600">
              <a:buFont typeface="+mj-lt"/>
              <a:buAutoNum type="alphaLcPeriod" startAt="12"/>
            </a:pPr>
            <a:r>
              <a:rPr lang="en-GB" b="0" dirty="0"/>
              <a:t>Crowdfunding accrual – </a:t>
            </a:r>
            <a:r>
              <a:rPr lang="en-GB" b="0" dirty="0">
                <a:solidFill>
                  <a:schemeClr val="tx1"/>
                </a:solidFill>
              </a:rPr>
              <a:t>In FY18 £41,000 was incurred in relation to a video shoot for a crowdfunding campaign. The accrual was released in FY20 as Management had not received the invoice. As there is a possibility that the invoice could still be received, we have included this as an other consideration. We have also adjusted for this within net working capital on the basis that the cost is not operating in nature, but there is no impact on underlying earnings as the cost was initially capitalised against the share premium account as it was considered to be part of the cost of fundraising and issuing new shares. We note that whilst the provision was recognised in FY18 the work was carried out in early 2017 and therefore Management believes there is no risk of an invoice being raised.</a:t>
            </a:r>
          </a:p>
          <a:p>
            <a:pPr marL="228600" indent="-228600">
              <a:buFont typeface="+mj-lt"/>
              <a:buAutoNum type="arabicPeriod" startAt="3"/>
            </a:pPr>
            <a:r>
              <a:rPr lang="en-GB" b="0" dirty="0"/>
              <a:t>Department store A minimum guarantee – </a:t>
            </a:r>
            <a:r>
              <a:rPr lang="en-GB" b="0" dirty="0">
                <a:solidFill>
                  <a:schemeClr val="tx1"/>
                </a:solidFill>
              </a:rPr>
              <a:t>See the </a:t>
            </a:r>
            <a:r>
              <a:rPr lang="en-GB" dirty="0">
                <a:solidFill>
                  <a:schemeClr val="tx1"/>
                </a:solidFill>
              </a:rPr>
              <a:t>quality of earnings section </a:t>
            </a:r>
            <a:r>
              <a:rPr lang="en-GB" b="0" dirty="0">
                <a:solidFill>
                  <a:schemeClr val="tx1"/>
                </a:solidFill>
              </a:rPr>
              <a:t>of the report. Given there has been no agreement to forgive the minimum guarantee by Department store A there is a risk that the liability could become payable. </a:t>
            </a:r>
          </a:p>
          <a:p>
            <a:pPr marL="228600" indent="-228600">
              <a:buFont typeface="+mj-lt"/>
              <a:buAutoNum type="arabicPeriod" startAt="20"/>
            </a:pPr>
            <a:r>
              <a:rPr lang="en-GB" b="0" dirty="0"/>
              <a:t>Rent free accrual – </a:t>
            </a:r>
            <a:r>
              <a:rPr lang="en-GB" b="0" dirty="0">
                <a:solidFill>
                  <a:schemeClr val="tx1"/>
                </a:solidFill>
              </a:rPr>
              <a:t>See the </a:t>
            </a:r>
            <a:r>
              <a:rPr lang="en-GB" dirty="0">
                <a:solidFill>
                  <a:schemeClr val="tx1"/>
                </a:solidFill>
              </a:rPr>
              <a:t>quality of earnings section </a:t>
            </a:r>
            <a:r>
              <a:rPr lang="en-GB" b="0" dirty="0">
                <a:solidFill>
                  <a:schemeClr val="tx1"/>
                </a:solidFill>
              </a:rPr>
              <a:t>of the report. </a:t>
            </a:r>
          </a:p>
          <a:p>
            <a:pPr marL="228600" indent="-228600">
              <a:buFont typeface="+mj-lt"/>
              <a:buAutoNum type="alphaLcPeriod" startAt="10"/>
            </a:pPr>
            <a:endParaRPr lang="en-GB" b="0" dirty="0">
              <a:solidFill>
                <a:schemeClr val="tx1"/>
              </a:solidFill>
            </a:endParaRPr>
          </a:p>
          <a:p>
            <a:pPr marL="228600" indent="-228600">
              <a:buFont typeface="+mj-lt"/>
              <a:buAutoNum type="alphaLcPeriod" startAt="10"/>
            </a:pPr>
            <a:endParaRPr lang="en-GB" b="0" dirty="0"/>
          </a:p>
          <a:p>
            <a:endParaRPr lang="en-GB" b="0" dirty="0">
              <a:solidFill>
                <a:schemeClr val="tx1"/>
              </a:solidFill>
            </a:endParaRPr>
          </a:p>
          <a:p>
            <a:endParaRPr lang="en-GB" dirty="0"/>
          </a:p>
        </p:txBody>
      </p:sp>
      <p:sp>
        <p:nvSpPr>
          <p:cNvPr id="4" name="Text Placeholder 3">
            <a:extLst>
              <a:ext uri="{FF2B5EF4-FFF2-40B4-BE49-F238E27FC236}">
                <a16:creationId xmlns:a16="http://schemas.microsoft.com/office/drawing/2014/main" id="{D498003D-3ED7-4F2F-8A07-18486351C8C1}"/>
              </a:ext>
            </a:extLst>
          </p:cNvPr>
          <p:cNvSpPr>
            <a:spLocks noGrp="1"/>
          </p:cNvSpPr>
          <p:nvPr>
            <p:ph type="body" sz="quarter" idx="26"/>
          </p:nvPr>
        </p:nvSpPr>
        <p:spPr/>
        <p:txBody>
          <a:bodyPr/>
          <a:lstStyle/>
          <a:p>
            <a:pPr marL="228600" indent="-228600">
              <a:buFont typeface="+mj-lt"/>
              <a:buAutoNum type="alphaLcPeriod" startAt="8"/>
            </a:pPr>
            <a:r>
              <a:rPr lang="en-GB" b="0" dirty="0"/>
              <a:t>Financial liability (FX forward contracts) – </a:t>
            </a:r>
            <a:r>
              <a:rPr lang="en-GB" b="0" dirty="0">
                <a:solidFill>
                  <a:schemeClr val="tx1"/>
                </a:solidFill>
              </a:rPr>
              <a:t>As at September 2021, there is a £0.1 million liability held on the balance sheet relating to forward contracts ‘out of the money’ which was previously revalued at the end of January 2021. Management provided an estimated revaluation as at September 2021 and this was an immaterial difference to that recognised on the balance sheet (approx. £1,000). Whilst the valuation of the forward contracts are subject to change, the contracts may be more or less than the exchange rate at the time of purchasing currency and therefore represent a cash outflow / inflow to the business. We note that Management states there is a decreasing need for forward contracts in the business due to the natural hedge opportunities of the growing </a:t>
            </a:r>
            <a:r>
              <a:rPr lang="en-GB" b="0" dirty="0" err="1">
                <a:solidFill>
                  <a:schemeClr val="tx1"/>
                </a:solidFill>
              </a:rPr>
              <a:t>yy</a:t>
            </a:r>
            <a:r>
              <a:rPr lang="en-GB" b="0" dirty="0">
                <a:solidFill>
                  <a:schemeClr val="tx1"/>
                </a:solidFill>
              </a:rPr>
              <a:t> trade. </a:t>
            </a:r>
          </a:p>
          <a:p>
            <a:pPr marL="228600" indent="-228600">
              <a:buFont typeface="+mj-lt"/>
              <a:buAutoNum type="alphaLcPeriod" startAt="8"/>
            </a:pPr>
            <a:r>
              <a:rPr lang="en-GB" b="0" dirty="0" err="1"/>
              <a:t>yy</a:t>
            </a:r>
            <a:r>
              <a:rPr lang="en-GB" b="0" dirty="0"/>
              <a:t> tax liabilities – </a:t>
            </a:r>
            <a:r>
              <a:rPr lang="en-GB" b="0" dirty="0">
                <a:solidFill>
                  <a:schemeClr val="tx1"/>
                </a:solidFill>
              </a:rPr>
              <a:t>Whilst a review of Y’s </a:t>
            </a:r>
            <a:r>
              <a:rPr lang="en-GB" b="0" dirty="0" err="1">
                <a:solidFill>
                  <a:schemeClr val="tx1"/>
                </a:solidFill>
              </a:rPr>
              <a:t>yy</a:t>
            </a:r>
            <a:r>
              <a:rPr lang="en-GB" b="0" dirty="0">
                <a:solidFill>
                  <a:schemeClr val="tx1"/>
                </a:solidFill>
              </a:rPr>
              <a:t> tax position is not within the scope of this report, it is noted that Y has not historically paid </a:t>
            </a:r>
            <a:r>
              <a:rPr lang="en-GB" b="0" dirty="0" err="1">
                <a:solidFill>
                  <a:schemeClr val="tx1"/>
                </a:solidFill>
              </a:rPr>
              <a:t>yy</a:t>
            </a:r>
            <a:r>
              <a:rPr lang="en-GB" b="0" dirty="0">
                <a:solidFill>
                  <a:schemeClr val="tx1"/>
                </a:solidFill>
              </a:rPr>
              <a:t> sales taxes on the basis that no individual state threshold has been breached. However, in recent months, </a:t>
            </a:r>
            <a:r>
              <a:rPr lang="en-GB" b="0" dirty="0" err="1">
                <a:solidFill>
                  <a:schemeClr val="tx1"/>
                </a:solidFill>
              </a:rPr>
              <a:t>yy</a:t>
            </a:r>
            <a:r>
              <a:rPr lang="en-GB" b="0" dirty="0">
                <a:solidFill>
                  <a:schemeClr val="tx1"/>
                </a:solidFill>
              </a:rPr>
              <a:t> sales tax thresholds are expected to have been exceeded for approximately 10 to 15 </a:t>
            </a:r>
            <a:r>
              <a:rPr lang="en-GB" b="0" dirty="0" err="1">
                <a:solidFill>
                  <a:schemeClr val="tx1"/>
                </a:solidFill>
              </a:rPr>
              <a:t>yy</a:t>
            </a:r>
            <a:r>
              <a:rPr lang="en-GB" b="0" dirty="0">
                <a:solidFill>
                  <a:schemeClr val="tx1"/>
                </a:solidFill>
              </a:rPr>
              <a:t> states (with </a:t>
            </a:r>
            <a:r>
              <a:rPr lang="en-GB" b="0" dirty="0" err="1">
                <a:solidFill>
                  <a:schemeClr val="tx1"/>
                </a:solidFill>
              </a:rPr>
              <a:t>yy</a:t>
            </a:r>
            <a:r>
              <a:rPr lang="en-GB" b="0" dirty="0">
                <a:solidFill>
                  <a:schemeClr val="tx1"/>
                </a:solidFill>
              </a:rPr>
              <a:t> and </a:t>
            </a:r>
            <a:r>
              <a:rPr lang="en-GB" b="0" dirty="0" err="1">
                <a:solidFill>
                  <a:schemeClr val="tx1"/>
                </a:solidFill>
              </a:rPr>
              <a:t>yy</a:t>
            </a:r>
            <a:r>
              <a:rPr lang="en-GB" b="0" dirty="0">
                <a:solidFill>
                  <a:schemeClr val="tx1"/>
                </a:solidFill>
              </a:rPr>
              <a:t> being the largest states). Y is currently in the process of engaging </a:t>
            </a:r>
            <a:r>
              <a:rPr lang="en-GB" b="0" dirty="0" err="1">
                <a:solidFill>
                  <a:schemeClr val="tx1"/>
                </a:solidFill>
              </a:rPr>
              <a:t>yy</a:t>
            </a:r>
            <a:r>
              <a:rPr lang="en-GB" b="0" dirty="0">
                <a:solidFill>
                  <a:schemeClr val="tx1"/>
                </a:solidFill>
              </a:rPr>
              <a:t> sales tax specialists, </a:t>
            </a:r>
            <a:r>
              <a:rPr lang="en-GB" b="0" dirty="0" err="1">
                <a:solidFill>
                  <a:schemeClr val="tx1"/>
                </a:solidFill>
              </a:rPr>
              <a:t>yy</a:t>
            </a:r>
            <a:r>
              <a:rPr lang="en-GB" b="0" dirty="0">
                <a:solidFill>
                  <a:schemeClr val="tx1"/>
                </a:solidFill>
              </a:rPr>
              <a:t>, to manage its </a:t>
            </a:r>
            <a:r>
              <a:rPr lang="en-GB" b="0" dirty="0" err="1">
                <a:solidFill>
                  <a:schemeClr val="tx1"/>
                </a:solidFill>
              </a:rPr>
              <a:t>yy</a:t>
            </a:r>
            <a:r>
              <a:rPr lang="en-GB" b="0" dirty="0">
                <a:solidFill>
                  <a:schemeClr val="tx1"/>
                </a:solidFill>
              </a:rPr>
              <a:t> sales tax position. </a:t>
            </a:r>
            <a:r>
              <a:rPr lang="en-GB" b="0" dirty="0" err="1">
                <a:solidFill>
                  <a:schemeClr val="tx1"/>
                </a:solidFill>
              </a:rPr>
              <a:t>yy</a:t>
            </a:r>
            <a:r>
              <a:rPr lang="en-GB" b="0" dirty="0">
                <a:solidFill>
                  <a:schemeClr val="tx1"/>
                </a:solidFill>
              </a:rPr>
              <a:t> sales tax in the region of 9% is expected to start being charged at checkout within the next few months. Management expect any backlog of sales tax payments to be small on the basis that there is typically an initial period of grace from the point thresholds are breached before </a:t>
            </a:r>
            <a:r>
              <a:rPr lang="en-GB" b="0" dirty="0" err="1">
                <a:solidFill>
                  <a:schemeClr val="tx1"/>
                </a:solidFill>
              </a:rPr>
              <a:t>yy</a:t>
            </a:r>
            <a:r>
              <a:rPr lang="en-GB" b="0" dirty="0">
                <a:solidFill>
                  <a:schemeClr val="tx1"/>
                </a:solidFill>
              </a:rPr>
              <a:t> sales tax becomes payable.   </a:t>
            </a:r>
          </a:p>
          <a:p>
            <a:pPr marL="228600" indent="-228600">
              <a:buFont typeface="+mj-lt"/>
              <a:buAutoNum type="alphaLcPeriod" startAt="8"/>
            </a:pPr>
            <a:r>
              <a:rPr lang="en-GB" b="0" dirty="0"/>
              <a:t>Exercise of EMI options – </a:t>
            </a:r>
            <a:r>
              <a:rPr lang="en-GB" b="0" dirty="0">
                <a:solidFill>
                  <a:schemeClr val="tx1"/>
                </a:solidFill>
              </a:rPr>
              <a:t>The company operates an Enterprise Management Incentive scheme. Whilst outside of the scope of this report, we note that the exercise of these options (which will be required to be exercised before completion) will likely give rise to a corporation tax deduction. </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BD83EF3F-3D28-4B5E-A916-8DB0003E14A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Net cash</a:t>
            </a:r>
            <a:endParaRPr lang="en-GB" sz="900" dirty="0">
              <a:solidFill>
                <a:schemeClr val="bg1"/>
              </a:solidFill>
            </a:endParaRPr>
          </a:p>
        </p:txBody>
      </p:sp>
      <p:sp>
        <p:nvSpPr>
          <p:cNvPr id="7" name="Rectangle 6">
            <a:hlinkClick r:id="rId8" action="ppaction://hlinksldjump"/>
            <a:extLst>
              <a:ext uri="{FF2B5EF4-FFF2-40B4-BE49-F238E27FC236}">
                <a16:creationId xmlns:a16="http://schemas.microsoft.com/office/drawing/2014/main" id="{47D0CD79-21A5-4AE0-8A50-65992BD3AF33}"/>
              </a:ext>
            </a:extLst>
          </p:cNvPr>
          <p:cNvSpPr/>
          <p:nvPr/>
        </p:nvSpPr>
        <p:spPr>
          <a:xfrm>
            <a:off x="9326880" y="4951307"/>
            <a:ext cx="1591733"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56" name="Rectangle 55">
            <a:hlinkClick r:id="rId8" action="ppaction://hlinksldjump"/>
            <a:extLst>
              <a:ext uri="{FF2B5EF4-FFF2-40B4-BE49-F238E27FC236}">
                <a16:creationId xmlns:a16="http://schemas.microsoft.com/office/drawing/2014/main" id="{8D4FC61F-8D8E-49DB-A786-3187465FC169}"/>
              </a:ext>
            </a:extLst>
          </p:cNvPr>
          <p:cNvSpPr/>
          <p:nvPr/>
        </p:nvSpPr>
        <p:spPr>
          <a:xfrm>
            <a:off x="8067813" y="5486331"/>
            <a:ext cx="1591733"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34" name="Group 33">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5"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074582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9FB16F47-3A4F-42D2-A2E8-72302489D56D}"/>
              </a:ext>
            </a:extLst>
          </p:cNvPr>
          <p:cNvPicPr>
            <a:picLocks noChangeAspect="1"/>
          </p:cNvPicPr>
          <p:nvPr>
            <p:custDataLst>
              <p:tags r:id="rId1"/>
            </p:custDataLst>
          </p:nvPr>
        </p:nvPicPr>
        <p:blipFill>
          <a:blip r:embed="rId10"/>
          <a:stretch>
            <a:fillRect/>
          </a:stretch>
        </p:blipFill>
        <p:spPr>
          <a:xfrm>
            <a:off x="995361" y="2178523"/>
            <a:ext cx="10192299" cy="1599927"/>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2"/>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Stock (1/5)</a:t>
            </a:r>
          </a:p>
        </p:txBody>
      </p:sp>
      <p:sp>
        <p:nvSpPr>
          <p:cNvPr id="27" name="Text Placeholder 26">
            <a:extLst>
              <a:ext uri="{FF2B5EF4-FFF2-40B4-BE49-F238E27FC236}">
                <a16:creationId xmlns:a16="http://schemas.microsoft.com/office/drawing/2014/main" id="{E5B1F267-FFFE-45D3-8CA1-01F17D0167DE}"/>
              </a:ext>
            </a:extLst>
          </p:cNvPr>
          <p:cNvSpPr>
            <a:spLocks noGrp="1"/>
          </p:cNvSpPr>
          <p:nvPr>
            <p:ph type="body" sz="quarter" idx="24"/>
          </p:nvPr>
        </p:nvSpPr>
        <p:spPr>
          <a:xfrm>
            <a:off x="4815356" y="3893588"/>
            <a:ext cx="6386044" cy="1973812"/>
          </a:xfrm>
        </p:spPr>
        <p:txBody>
          <a:bodyPr/>
          <a:lstStyle/>
          <a:p>
            <a:pPr>
              <a:lnSpc>
                <a:spcPct val="95000"/>
              </a:lnSpc>
              <a:spcAft>
                <a:spcPts val="400"/>
              </a:spcAft>
            </a:pPr>
            <a:r>
              <a:rPr lang="en-GB" dirty="0">
                <a:solidFill>
                  <a:schemeClr val="tx2"/>
                </a:solidFill>
              </a:rPr>
              <a:t>Stock</a:t>
            </a:r>
          </a:p>
          <a:p>
            <a:pPr>
              <a:lnSpc>
                <a:spcPct val="95000"/>
              </a:lnSpc>
              <a:spcAft>
                <a:spcPts val="400"/>
              </a:spcAft>
            </a:pPr>
            <a:r>
              <a:rPr lang="en-GB" b="0" dirty="0">
                <a:solidFill>
                  <a:schemeClr val="tx1"/>
                </a:solidFill>
              </a:rPr>
              <a:t>Stock consists of finished goods held at the warehouse, in boutiques and in concessions, and stock in transit. Stock is valued at purchase cost, with no additional costs (such as freight or customs duties) absorbed into the value. </a:t>
            </a:r>
          </a:p>
          <a:p>
            <a:pPr>
              <a:lnSpc>
                <a:spcPct val="95000"/>
              </a:lnSpc>
              <a:spcAft>
                <a:spcPts val="400"/>
              </a:spcAft>
            </a:pPr>
            <a:r>
              <a:rPr lang="en-GB" b="0" dirty="0">
                <a:solidFill>
                  <a:schemeClr val="tx1"/>
                </a:solidFill>
              </a:rPr>
              <a:t>Stock (net of the provision) has increased from £1.1 million at January 2019 to £6.1 million at September 2021, largely driven by increased trading and an expansion in the product range. However, the stock balance decreased from £2.9 million in March 2020 to £1.8 million in September 2020, as Management limited purchases of products for the Autumn/Winter season given the uncertainty surrounding the Covid-19 pandemic, with this decision communicated to suppliers in April 2020. Management notes that Y experienced limited supply chain issues as a result of the pandemic.</a:t>
            </a:r>
          </a:p>
          <a:p>
            <a:pPr>
              <a:lnSpc>
                <a:spcPct val="95000"/>
              </a:lnSpc>
              <a:spcAft>
                <a:spcPts val="400"/>
              </a:spcAft>
            </a:pPr>
            <a:r>
              <a:rPr lang="en-US" b="0" dirty="0">
                <a:solidFill>
                  <a:schemeClr val="tx1"/>
                </a:solidFill>
              </a:rPr>
              <a:t>Stock days have remained  approximately 110 days in the LTM22 period, with a slight rise in the August and September 2021 due to the early build up of stock for the Autumn / Winter season launch. This was driven by </a:t>
            </a:r>
            <a:r>
              <a:rPr lang="en-GB" b="0" dirty="0">
                <a:solidFill>
                  <a:schemeClr val="tx1"/>
                </a:solidFill>
              </a:rPr>
              <a:t>timing of the stock entering the business to avoid delays caused by the issues in the global supply chain</a:t>
            </a:r>
            <a:r>
              <a:rPr lang="en-US" b="0" dirty="0">
                <a:solidFill>
                  <a:schemeClr val="tx1"/>
                </a:solidFill>
              </a:rPr>
              <a:t>. We note that there is a slight offsetting impact to working capital as some suppliers kept payment terms in line with the originally scheduled delivery dates. </a:t>
            </a:r>
            <a:endParaRPr lang="en-GB" b="0" dirty="0">
              <a:solidFill>
                <a:schemeClr val="tx1"/>
              </a:solidFill>
            </a:endParaRPr>
          </a:p>
          <a:p>
            <a:endParaRPr lang="en-GB" dirty="0"/>
          </a:p>
        </p:txBody>
      </p:sp>
      <p:sp>
        <p:nvSpPr>
          <p:cNvPr id="28" name="Text Placeholder 27">
            <a:extLst>
              <a:ext uri="{FF2B5EF4-FFF2-40B4-BE49-F238E27FC236}">
                <a16:creationId xmlns:a16="http://schemas.microsoft.com/office/drawing/2014/main" id="{01207293-8689-462A-BD17-255CA4058432}"/>
              </a:ext>
            </a:extLst>
          </p:cNvPr>
          <p:cNvSpPr>
            <a:spLocks noGrp="1"/>
          </p:cNvSpPr>
          <p:nvPr>
            <p:ph type="body" sz="quarter" idx="25"/>
          </p:nvPr>
        </p:nvSpPr>
        <p:spPr/>
        <p:txBody>
          <a:bodyPr/>
          <a:lstStyle/>
          <a:p>
            <a:r>
              <a:rPr lang="en-GB" dirty="0"/>
              <a:t>Monthly reported stock and stock days</a:t>
            </a:r>
          </a:p>
        </p:txBody>
      </p:sp>
      <p:sp>
        <p:nvSpPr>
          <p:cNvPr id="23" name="Text Placeholder 22">
            <a:extLst>
              <a:ext uri="{FF2B5EF4-FFF2-40B4-BE49-F238E27FC236}">
                <a16:creationId xmlns:a16="http://schemas.microsoft.com/office/drawing/2014/main" id="{6FC40574-F912-4333-9FFA-EDAD31A287C3}"/>
              </a:ext>
            </a:extLst>
          </p:cNvPr>
          <p:cNvSpPr>
            <a:spLocks noGrp="1"/>
          </p:cNvSpPr>
          <p:nvPr>
            <p:ph type="body" sz="quarter" idx="10"/>
          </p:nvPr>
        </p:nvSpPr>
        <p:spPr>
          <a:xfrm>
            <a:off x="995361" y="1340768"/>
            <a:ext cx="10192299" cy="460800"/>
          </a:xfrm>
        </p:spPr>
        <p:txBody>
          <a:bodyPr/>
          <a:lstStyle/>
          <a:p>
            <a:r>
              <a:rPr lang="en-US" sz="1000" dirty="0"/>
              <a:t>The increase in the stock balance across the historical period is largely associated with business growth. The unwind from March to September 2020 was driven by limited purchases of stock for the Autumn / Winter season due to the uncertainty surrounding the Covid-19 pandemic, resulting in a decrease in stock days to 90 in September 2020 which we have adjusted for in net working capital as we deem this to be one-off.</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3" name="Picture 2">
            <a:extLst>
              <a:ext uri="{FF2B5EF4-FFF2-40B4-BE49-F238E27FC236}">
                <a16:creationId xmlns:a16="http://schemas.microsoft.com/office/drawing/2014/main" id="{7D097D89-759C-44CD-A395-AF2523C6DF2B}"/>
              </a:ext>
            </a:extLst>
          </p:cNvPr>
          <p:cNvPicPr>
            <a:picLocks noChangeAspect="1"/>
          </p:cNvPicPr>
          <p:nvPr>
            <p:custDataLst>
              <p:tags r:id="rId4"/>
            </p:custDataLst>
          </p:nvPr>
        </p:nvPicPr>
        <p:blipFill>
          <a:blip r:embed="rId13"/>
          <a:stretch>
            <a:fillRect/>
          </a:stretch>
        </p:blipFill>
        <p:spPr>
          <a:xfrm>
            <a:off x="995363" y="3934472"/>
            <a:ext cx="3690053" cy="1579555"/>
          </a:xfrm>
          <a:prstGeom prst="rect">
            <a:avLst/>
          </a:prstGeom>
        </p:spPr>
      </p:pic>
      <p:sp>
        <p:nvSpPr>
          <p:cNvPr id="62" name="Text Box 8">
            <a:extLst>
              <a:ext uri="{FF2B5EF4-FFF2-40B4-BE49-F238E27FC236}">
                <a16:creationId xmlns:a16="http://schemas.microsoft.com/office/drawing/2014/main" id="{94C57D4C-0213-4631-B132-5FB829AF61B1}"/>
              </a:ext>
            </a:extLst>
          </p:cNvPr>
          <p:cNvSpPr txBox="1">
            <a:spLocks noChangeArrowheads="1"/>
          </p:cNvSpPr>
          <p:nvPr>
            <p:custDataLst>
              <p:tags r:id="rId5"/>
            </p:custDataLst>
          </p:nvPr>
        </p:nvSpPr>
        <p:spPr bwMode="auto">
          <a:xfrm>
            <a:off x="997937" y="3630797"/>
            <a:ext cx="4127157" cy="262791"/>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a:t>
            </a:r>
          </a:p>
          <a:p>
            <a:pPr marL="346075" indent="-346075" defTabSz="762000" eaLnBrk="0" hangingPunct="0">
              <a:spcBef>
                <a:spcPts val="200"/>
              </a:spcBef>
              <a:tabLst>
                <a:tab pos="355600" algn="l"/>
              </a:tabLst>
            </a:pPr>
            <a:r>
              <a:rPr lang="en-GB" sz="600" dirty="0">
                <a:solidFill>
                  <a:schemeClr val="tx2"/>
                </a:solidFill>
                <a:cs typeface="Arial" pitchFamily="34" charset="0"/>
              </a:rPr>
              <a:t>Note: Stock days have been calculated on a count forward basis using cost of sales as the driver	</a:t>
            </a:r>
          </a:p>
        </p:txBody>
      </p:sp>
      <p:sp>
        <p:nvSpPr>
          <p:cNvPr id="64" name="Text Box 8">
            <a:extLst>
              <a:ext uri="{FF2B5EF4-FFF2-40B4-BE49-F238E27FC236}">
                <a16:creationId xmlns:a16="http://schemas.microsoft.com/office/drawing/2014/main" id="{E3F4BB6F-3F01-43A7-BB85-67DEF7F3D525}"/>
              </a:ext>
            </a:extLst>
          </p:cNvPr>
          <p:cNvSpPr txBox="1">
            <a:spLocks noChangeArrowheads="1"/>
          </p:cNvSpPr>
          <p:nvPr>
            <p:custDataLst>
              <p:tags r:id="rId6"/>
            </p:custDataLst>
          </p:nvPr>
        </p:nvSpPr>
        <p:spPr bwMode="auto">
          <a:xfrm>
            <a:off x="997937" y="5528976"/>
            <a:ext cx="3394076" cy="215900"/>
          </a:xfrm>
          <a:prstGeom prst="rect">
            <a:avLst/>
          </a:prstGeom>
          <a:noFill/>
          <a:ln w="6350">
            <a:noFill/>
            <a:miter lim="800000"/>
            <a:headEnd type="none" w="sm" len="sm"/>
            <a:tailEnd type="none" w="sm" len="sm"/>
          </a:ln>
          <a:effectLst/>
        </p:spPr>
        <p:txBody>
          <a:bodyPr wrap="square" lIns="0" tIns="0" rIns="0" bIns="0" anchor="b">
            <a:noAutofit/>
          </a:bodyPr>
          <a:lstStyle/>
          <a:p>
            <a:pPr marL="534988" indent="-534988" defTabSz="762000" eaLnBrk="0" hangingPunct="0">
              <a:spcBef>
                <a:spcPts val="200"/>
              </a:spcBef>
              <a:tabLst>
                <a:tab pos="355600" algn="l"/>
              </a:tabLst>
            </a:pPr>
            <a:r>
              <a:rPr lang="en-GB" sz="600" dirty="0">
                <a:solidFill>
                  <a:schemeClr val="tx2"/>
                </a:solidFill>
                <a:cs typeface="Arial" pitchFamily="34" charset="0"/>
              </a:rPr>
              <a:t>Note:	(a)	Stock figures within the table are gross and before the provision.</a:t>
            </a:r>
          </a:p>
          <a:p>
            <a:pPr marL="534988" indent="-534988"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 </a:t>
            </a:r>
          </a:p>
        </p:txBody>
      </p:sp>
      <p:sp>
        <p:nvSpPr>
          <p:cNvPr id="2" name="UpSlide SubSection Marker" hidden="1">
            <a:extLst>
              <a:ext uri="{FF2B5EF4-FFF2-40B4-BE49-F238E27FC236}">
                <a16:creationId xmlns:a16="http://schemas.microsoft.com/office/drawing/2014/main" id="{085E24F1-FBC1-4AFF-BA4F-35394E3396DE}"/>
              </a:ext>
            </a:extLst>
          </p:cNvPr>
          <p:cNvSpPr/>
          <p:nvPr>
            <p:custDataLst>
              <p:tags r:id="rId7"/>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Stock</a:t>
            </a:r>
            <a:endParaRPr lang="en-GB" sz="900" dirty="0">
              <a:solidFill>
                <a:schemeClr val="bg1"/>
              </a:solidFill>
            </a:endParaRPr>
          </a:p>
        </p:txBody>
      </p:sp>
      <p:grpSp>
        <p:nvGrpSpPr>
          <p:cNvPr id="34" name="Group 33">
            <a:extLst>
              <a:ext uri="{FF2B5EF4-FFF2-40B4-BE49-F238E27FC236}">
                <a16:creationId xmlns:a16="http://schemas.microsoft.com/office/drawing/2014/main" id="{691C1D2E-A393-4D2A-B196-B10092687D68}"/>
              </a:ext>
            </a:extLst>
          </p:cNvPr>
          <p:cNvGrpSpPr/>
          <p:nvPr>
            <p:custDataLst>
              <p:tags r:id="rId8"/>
            </p:custDataLst>
          </p:nvPr>
        </p:nvGrpSpPr>
        <p:grpSpPr>
          <a:xfrm>
            <a:off x="995364" y="153170"/>
            <a:ext cx="6211576" cy="195814"/>
            <a:chOff x="995364" y="153170"/>
            <a:chExt cx="6211576" cy="195814"/>
          </a:xfrm>
        </p:grpSpPr>
        <p:sp>
          <p:nvSpPr>
            <p:cNvPr id="35"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7"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644501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Stock (2/5)</a:t>
            </a:r>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25"/>
          </p:nvPr>
        </p:nvSpPr>
        <p:spPr/>
        <p:txBody>
          <a:bodyPr/>
          <a:lstStyle/>
          <a:p>
            <a:r>
              <a:rPr lang="en-GB" dirty="0"/>
              <a:t>Stock and stock days (continued)</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26"/>
          </p:nvPr>
        </p:nvSpPr>
        <p:spPr/>
        <p:txBody>
          <a:bodyPr/>
          <a:lstStyle/>
          <a:p>
            <a:pPr>
              <a:lnSpc>
                <a:spcPct val="95000"/>
              </a:lnSpc>
              <a:spcAft>
                <a:spcPts val="400"/>
              </a:spcAft>
            </a:pPr>
            <a:r>
              <a:rPr lang="en-GB" dirty="0">
                <a:solidFill>
                  <a:schemeClr val="tx2"/>
                </a:solidFill>
              </a:rPr>
              <a:t>Stock days</a:t>
            </a:r>
          </a:p>
          <a:p>
            <a:pPr>
              <a:lnSpc>
                <a:spcPct val="95000"/>
              </a:lnSpc>
              <a:spcAft>
                <a:spcPts val="400"/>
              </a:spcAft>
            </a:pPr>
            <a:r>
              <a:rPr lang="en-GB" sz="1000" b="0" dirty="0">
                <a:solidFill>
                  <a:schemeClr val="tx1"/>
                </a:solidFill>
              </a:rPr>
              <a:t>Stock days increased sharply from 114 days at December 2019 to 148 days at January 2020, driven by stock in transit at year end. A significant order of knitwear products ordered from suppliers in the Far East was shipped in late December, in advance of when this product was required, as the suppliers cease production over Chinese New Year. As this is as annual occurrence, we have not sought to adjust for this within net working capital.</a:t>
            </a:r>
            <a:endParaRPr lang="en-US" b="0" dirty="0">
              <a:solidFill>
                <a:schemeClr val="tx1"/>
              </a:solidFill>
            </a:endParaRPr>
          </a:p>
          <a:p>
            <a:pPr>
              <a:lnSpc>
                <a:spcPct val="95000"/>
              </a:lnSpc>
              <a:spcAft>
                <a:spcPts val="400"/>
              </a:spcAft>
            </a:pPr>
            <a:r>
              <a:rPr lang="en-US" b="0" dirty="0">
                <a:solidFill>
                  <a:schemeClr val="tx1"/>
                </a:solidFill>
              </a:rPr>
              <a:t>Stock days have remained  approximately 110 days in the LTM22 period, with a slight rise in the August and September 2021 due to the early build up of stock for the Autumn / Winter season launch. This was driven by </a:t>
            </a:r>
            <a:r>
              <a:rPr lang="en-GB" b="0" dirty="0">
                <a:solidFill>
                  <a:schemeClr val="tx1"/>
                </a:solidFill>
              </a:rPr>
              <a:t>timing of the stock entering the business to avoid delays caused by the issues in the global supply chain</a:t>
            </a:r>
            <a:r>
              <a:rPr lang="en-US" b="0" dirty="0">
                <a:solidFill>
                  <a:schemeClr val="tx1"/>
                </a:solidFill>
              </a:rPr>
              <a:t>. We note that there is a slight offsetting impact to working capital as some suppliers kept payment terms in line with the originally scheduled delivery dates. </a:t>
            </a:r>
            <a:endParaRPr lang="en-GB" b="0" dirty="0">
              <a:solidFill>
                <a:schemeClr val="tx1"/>
              </a:solidFill>
            </a:endParaRP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25578CA3-4BA1-4CAE-9CE5-BD47A0886F1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Stock</a:t>
            </a:r>
            <a:endParaRPr lang="en-GB" sz="900" dirty="0">
              <a:solidFill>
                <a:schemeClr val="bg1"/>
              </a:solidFill>
            </a:endParaRPr>
          </a:p>
        </p:txBody>
      </p:sp>
      <p:grpSp>
        <p:nvGrpSpPr>
          <p:cNvPr id="29" name="Group 28">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3"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225458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Stock (3/5)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Stock</a:t>
            </a:r>
          </a:p>
        </p:txBody>
      </p:sp>
      <p:sp>
        <p:nvSpPr>
          <p:cNvPr id="5" name="Text Placeholder 4">
            <a:extLst>
              <a:ext uri="{FF2B5EF4-FFF2-40B4-BE49-F238E27FC236}">
                <a16:creationId xmlns:a16="http://schemas.microsoft.com/office/drawing/2014/main" id="{EFA3DC0E-A647-4AC4-A172-BFB517CFD1FB}"/>
              </a:ext>
            </a:extLst>
          </p:cNvPr>
          <p:cNvSpPr>
            <a:spLocks noGrp="1"/>
          </p:cNvSpPr>
          <p:nvPr>
            <p:ph type="body" sz="quarter" idx="26"/>
          </p:nvPr>
        </p:nvSpPr>
        <p:spPr/>
        <p:txBody>
          <a:bodyPr/>
          <a:lstStyle/>
          <a:p>
            <a:pPr>
              <a:lnSpc>
                <a:spcPct val="95000"/>
              </a:lnSpc>
              <a:spcAft>
                <a:spcPts val="400"/>
              </a:spcAft>
            </a:pPr>
            <a:r>
              <a:rPr lang="en-GB" sz="1000" dirty="0">
                <a:solidFill>
                  <a:schemeClr val="tx2"/>
                </a:solidFill>
              </a:rPr>
              <a:t>Warehouse stock</a:t>
            </a:r>
          </a:p>
          <a:p>
            <a:pPr>
              <a:lnSpc>
                <a:spcPct val="95000"/>
              </a:lnSpc>
              <a:spcAft>
                <a:spcPts val="400"/>
              </a:spcAft>
            </a:pPr>
            <a:r>
              <a:rPr lang="en-GB" sz="1000" b="0" dirty="0">
                <a:solidFill>
                  <a:schemeClr val="tx1"/>
                </a:solidFill>
              </a:rPr>
              <a:t>All products received from suppliers are first held at the warehouse in </a:t>
            </a:r>
            <a:r>
              <a:rPr lang="en-GB" sz="1000" b="0" dirty="0" err="1">
                <a:solidFill>
                  <a:schemeClr val="tx1"/>
                </a:solidFill>
              </a:rPr>
              <a:t>yy</a:t>
            </a:r>
            <a:r>
              <a:rPr lang="en-GB" sz="1000" b="0" dirty="0">
                <a:solidFill>
                  <a:schemeClr val="tx1"/>
                </a:solidFill>
              </a:rPr>
              <a:t>, operated by a 3PL company, Logistics C (previously Logistics A in </a:t>
            </a:r>
            <a:r>
              <a:rPr lang="en-GB" sz="1000" b="0" dirty="0" err="1">
                <a:solidFill>
                  <a:schemeClr val="tx1"/>
                </a:solidFill>
              </a:rPr>
              <a:t>yy</a:t>
            </a:r>
            <a:r>
              <a:rPr lang="en-GB" sz="1000" b="0" dirty="0">
                <a:solidFill>
                  <a:schemeClr val="tx1"/>
                </a:solidFill>
              </a:rPr>
              <a:t>). The majority of the stock balance therefore relates to stock held in this warehouse.</a:t>
            </a:r>
          </a:p>
          <a:p>
            <a:pPr>
              <a:lnSpc>
                <a:spcPct val="95000"/>
              </a:lnSpc>
              <a:spcAft>
                <a:spcPts val="400"/>
              </a:spcAft>
            </a:pPr>
            <a:r>
              <a:rPr lang="en-GB" sz="1000" b="0" dirty="0">
                <a:solidFill>
                  <a:schemeClr val="tx1"/>
                </a:solidFill>
              </a:rPr>
              <a:t>Stock is valued at purchase cost, with no additional costs (such as freight or customs duties) absorbed into the value.</a:t>
            </a:r>
          </a:p>
          <a:p>
            <a:pPr>
              <a:lnSpc>
                <a:spcPct val="95000"/>
              </a:lnSpc>
              <a:spcAft>
                <a:spcPts val="400"/>
              </a:spcAft>
            </a:pPr>
            <a:r>
              <a:rPr lang="en-GB" sz="1000" b="0" dirty="0">
                <a:solidFill>
                  <a:schemeClr val="tx1"/>
                </a:solidFill>
              </a:rPr>
              <a:t>The warehouse stock balance is inclusive of stock in transit and any provisions for stock relating to the returns provision (see </a:t>
            </a:r>
            <a:r>
              <a:rPr lang="en-GB" sz="1000" dirty="0">
                <a:solidFill>
                  <a:schemeClr val="tx1"/>
                </a:solidFill>
              </a:rPr>
              <a:t>Accruals section</a:t>
            </a:r>
            <a:r>
              <a:rPr lang="en-GB" sz="1000" b="0" dirty="0">
                <a:solidFill>
                  <a:schemeClr val="tx1"/>
                </a:solidFill>
              </a:rPr>
              <a:t>).</a:t>
            </a:r>
          </a:p>
          <a:p>
            <a:pPr>
              <a:lnSpc>
                <a:spcPct val="95000"/>
              </a:lnSpc>
              <a:spcAft>
                <a:spcPts val="400"/>
              </a:spcAft>
            </a:pPr>
            <a:r>
              <a:rPr lang="en-GB" sz="1000" dirty="0">
                <a:solidFill>
                  <a:schemeClr val="tx2"/>
                </a:solidFill>
              </a:rPr>
              <a:t>Boutique stock</a:t>
            </a:r>
          </a:p>
          <a:p>
            <a:pPr>
              <a:lnSpc>
                <a:spcPct val="95000"/>
              </a:lnSpc>
              <a:spcAft>
                <a:spcPts val="400"/>
              </a:spcAft>
            </a:pPr>
            <a:r>
              <a:rPr lang="en-GB" sz="1000" b="0" dirty="0">
                <a:solidFill>
                  <a:schemeClr val="tx1"/>
                </a:solidFill>
              </a:rPr>
              <a:t>A small proportion of the total stock balance is held in the boutique, which are replenished with stock from the warehouse twice a week. The boutique stock balance declined in January 2021 as stock was sent back to the warehouse in order to fulfil online orders.</a:t>
            </a:r>
          </a:p>
          <a:p>
            <a:r>
              <a:rPr lang="en-GB" sz="1000" b="0" dirty="0">
                <a:solidFill>
                  <a:schemeClr val="tx1"/>
                </a:solidFill>
              </a:rPr>
              <a:t>Two boutiques (Boutique A and Boutique D) are also currently being utilised as part of the ‘ship from store’ service, whereby any products that are out of stock online are alternatively picked and distributed from the boutique if it has the product available. Management are looking to expand this service to Boutique B.</a:t>
            </a:r>
          </a:p>
          <a:p>
            <a:endParaRPr lang="en-GB" dirty="0"/>
          </a:p>
        </p:txBody>
      </p:sp>
      <p:sp>
        <p:nvSpPr>
          <p:cNvPr id="7" name="Text Placeholder 6">
            <a:extLst>
              <a:ext uri="{FF2B5EF4-FFF2-40B4-BE49-F238E27FC236}">
                <a16:creationId xmlns:a16="http://schemas.microsoft.com/office/drawing/2014/main" id="{3E2CE551-B06B-444A-8D10-27155EC81AAD}"/>
              </a:ext>
            </a:extLst>
          </p:cNvPr>
          <p:cNvSpPr>
            <a:spLocks noGrp="1"/>
          </p:cNvSpPr>
          <p:nvPr>
            <p:ph type="body" sz="quarter" idx="27"/>
          </p:nvPr>
        </p:nvSpPr>
        <p:spPr/>
        <p:txBody>
          <a:bodyPr/>
          <a:lstStyle/>
          <a:p>
            <a:pPr>
              <a:lnSpc>
                <a:spcPct val="95000"/>
              </a:lnSpc>
              <a:spcAft>
                <a:spcPts val="400"/>
              </a:spcAft>
            </a:pPr>
            <a:r>
              <a:rPr lang="en-GB" sz="1000" dirty="0">
                <a:solidFill>
                  <a:schemeClr val="tx2"/>
                </a:solidFill>
              </a:rPr>
              <a:t>Concession stock</a:t>
            </a:r>
          </a:p>
          <a:p>
            <a:pPr>
              <a:lnSpc>
                <a:spcPct val="95000"/>
              </a:lnSpc>
              <a:spcAft>
                <a:spcPts val="400"/>
              </a:spcAft>
            </a:pPr>
            <a:r>
              <a:rPr lang="en-GB" sz="1000" b="0" dirty="0">
                <a:solidFill>
                  <a:schemeClr val="tx1"/>
                </a:solidFill>
              </a:rPr>
              <a:t>Concession stock relates to both stock held in the concessions (which are replenished twice a week) and stock held in the Department store A </a:t>
            </a:r>
            <a:r>
              <a:rPr lang="en-GB" sz="1000" b="0" dirty="0" err="1">
                <a:solidFill>
                  <a:schemeClr val="tx1"/>
                </a:solidFill>
              </a:rPr>
              <a:t>yy</a:t>
            </a:r>
            <a:r>
              <a:rPr lang="en-GB" sz="1000" b="0" dirty="0">
                <a:solidFill>
                  <a:schemeClr val="tx1"/>
                </a:solidFill>
              </a:rPr>
              <a:t> warehouse (replenished weekly) from which Department store A online orders are fulfilled.</a:t>
            </a:r>
          </a:p>
          <a:p>
            <a:pPr>
              <a:lnSpc>
                <a:spcPct val="95000"/>
              </a:lnSpc>
              <a:spcAft>
                <a:spcPts val="400"/>
              </a:spcAft>
            </a:pPr>
            <a:r>
              <a:rPr lang="en-GB" sz="1000" dirty="0">
                <a:solidFill>
                  <a:schemeClr val="tx2"/>
                </a:solidFill>
              </a:rPr>
              <a:t>Stock - other</a:t>
            </a:r>
          </a:p>
          <a:p>
            <a:pPr>
              <a:lnSpc>
                <a:spcPct val="95000"/>
              </a:lnSpc>
              <a:spcAft>
                <a:spcPts val="400"/>
              </a:spcAft>
            </a:pPr>
            <a:r>
              <a:rPr lang="en-GB" sz="1000" b="0" dirty="0">
                <a:solidFill>
                  <a:schemeClr val="tx1"/>
                </a:solidFill>
              </a:rPr>
              <a:t>The other stock balance relates to fabric that has been purchased in advance in order to secure lower unit prices (particularly in relation to knitwear and cashmere), for which Y will receive a credit note when the goods are shipped (£88,000 received in October 2021) Management intends on continuing to prepay for fabric, at least for the next year, in order to lock in cheaper, consistent cost prices as yarn prices continue to rise, driven by the Covid-19 pandemic. Management has commented that the prepayment is with one supplier, with which they have a good relationship.</a:t>
            </a:r>
            <a:endParaRPr lang="en-GB" sz="1000" b="0" dirty="0">
              <a:solidFill>
                <a:srgbClr val="FF0000"/>
              </a:solidFill>
            </a:endParaRPr>
          </a:p>
          <a:p>
            <a:pPr>
              <a:spcAft>
                <a:spcPts val="300"/>
              </a:spcAft>
            </a:pPr>
            <a:r>
              <a:rPr lang="en-GB" b="0" dirty="0">
                <a:solidFill>
                  <a:schemeClr val="tx1"/>
                </a:solidFill>
              </a:rPr>
              <a:t>A small proportion of the stock balance relates to a prepayment for fabric in order to secure lower unit prices, for which credit notes will be received when the products are shipped.</a:t>
            </a:r>
          </a:p>
          <a:p>
            <a:pPr>
              <a:spcAft>
                <a:spcPts val="300"/>
              </a:spcAft>
            </a:pPr>
            <a:r>
              <a:rPr lang="en-GB" b="0" dirty="0">
                <a:solidFill>
                  <a:schemeClr val="tx1"/>
                </a:solidFill>
              </a:rPr>
              <a:t>A stock provision is held on the balance sheet, calculated on the basis of stock ageing.</a:t>
            </a:r>
          </a:p>
          <a:p>
            <a:endParaRPr lang="en-GB" dirty="0"/>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10"/>
          </p:nvPr>
        </p:nvSpPr>
        <p:spPr>
          <a:xfrm>
            <a:off x="995361" y="1298240"/>
            <a:ext cx="10195200" cy="460800"/>
          </a:xfrm>
        </p:spPr>
        <p:txBody>
          <a:bodyPr/>
          <a:lstStyle/>
          <a:p>
            <a:pPr>
              <a:spcAft>
                <a:spcPts val="300"/>
              </a:spcAft>
            </a:pPr>
            <a:r>
              <a:rPr lang="en-GB" dirty="0"/>
              <a:t>The majority of the stock balance relates to finished goods held at the warehouse. This balance was particularly high at September 2021 due to stock purchased in advance of the Autumn/Winter season launch in October. This was driven by Management ordering stock early to avoid delays caused by global supply chain issues. Boutiques and concessions are replenished up to five times a week with stock from the warehouse, with a selection also delivered weekly to the Department store A </a:t>
            </a:r>
            <a:r>
              <a:rPr lang="en-GB" dirty="0" err="1"/>
              <a:t>yy</a:t>
            </a:r>
            <a:r>
              <a:rPr lang="en-GB" dirty="0"/>
              <a:t> warehouse to fulfil Department store A online orders.</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25" name="Picture 24">
            <a:extLst>
              <a:ext uri="{FF2B5EF4-FFF2-40B4-BE49-F238E27FC236}">
                <a16:creationId xmlns:a16="http://schemas.microsoft.com/office/drawing/2014/main" id="{13F87D95-8B89-41BB-B822-545128014772}"/>
              </a:ext>
            </a:extLst>
          </p:cNvPr>
          <p:cNvPicPr>
            <a:picLocks noChangeAspect="1"/>
          </p:cNvPicPr>
          <p:nvPr>
            <p:custDataLst>
              <p:tags r:id="rId3"/>
            </p:custDataLst>
          </p:nvPr>
        </p:nvPicPr>
        <p:blipFill>
          <a:blip r:embed="rId11"/>
          <a:stretch>
            <a:fillRect/>
          </a:stretch>
        </p:blipFill>
        <p:spPr>
          <a:xfrm>
            <a:off x="995361" y="1912839"/>
            <a:ext cx="3689350" cy="1889125"/>
          </a:xfrm>
          <a:prstGeom prst="rect">
            <a:avLst/>
          </a:prstGeom>
        </p:spPr>
      </p:pic>
      <p:sp>
        <p:nvSpPr>
          <p:cNvPr id="38" name="Rounded Rectangle 7">
            <a:extLst>
              <a:ext uri="{FF2B5EF4-FFF2-40B4-BE49-F238E27FC236}">
                <a16:creationId xmlns:a16="http://schemas.microsoft.com/office/drawing/2014/main" id="{0EF85BE5-685E-4A07-9E27-FFEA6050CB96}"/>
              </a:ext>
            </a:extLst>
          </p:cNvPr>
          <p:cNvSpPr/>
          <p:nvPr>
            <p:custDataLst>
              <p:tags r:id="rId4"/>
            </p:custDataLst>
          </p:nvPr>
        </p:nvSpPr>
        <p:spPr>
          <a:xfrm>
            <a:off x="4238694" y="2348680"/>
            <a:ext cx="425454" cy="181871"/>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9" name="Rectangle 38">
            <a:extLst>
              <a:ext uri="{FF2B5EF4-FFF2-40B4-BE49-F238E27FC236}">
                <a16:creationId xmlns:a16="http://schemas.microsoft.com/office/drawing/2014/main" id="{42A29B42-190C-4DDF-9D93-757D685075E4}"/>
              </a:ext>
            </a:extLst>
          </p:cNvPr>
          <p:cNvSpPr/>
          <p:nvPr/>
        </p:nvSpPr>
        <p:spPr>
          <a:xfrm>
            <a:off x="2168938" y="4143424"/>
            <a:ext cx="1980000" cy="6307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The warehouse stock balance was particularly high as at September 2021 due to high levels of Autumn/ Winter stock due to be launched in stores in October as Management ordered stock early to avoid supply chain delays.</a:t>
            </a:r>
          </a:p>
        </p:txBody>
      </p:sp>
      <p:cxnSp>
        <p:nvCxnSpPr>
          <p:cNvPr id="40" name="Straight Arrow Connector 39">
            <a:extLst>
              <a:ext uri="{FF2B5EF4-FFF2-40B4-BE49-F238E27FC236}">
                <a16:creationId xmlns:a16="http://schemas.microsoft.com/office/drawing/2014/main" id="{DFA5BE7E-7CB5-46DE-AC3F-768C9E5EEB63}"/>
              </a:ext>
            </a:extLst>
          </p:cNvPr>
          <p:cNvCxnSpPr>
            <a:cxnSpLocks/>
            <a:stCxn id="39" idx="3"/>
            <a:endCxn id="38" idx="3"/>
          </p:cNvCxnSpPr>
          <p:nvPr/>
        </p:nvCxnSpPr>
        <p:spPr>
          <a:xfrm flipV="1">
            <a:off x="4148938" y="2439616"/>
            <a:ext cx="515210" cy="2019163"/>
          </a:xfrm>
          <a:prstGeom prst="bentConnector3">
            <a:avLst>
              <a:gd name="adj1" fmla="val 133363"/>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9" name="Text Box 8">
            <a:extLst>
              <a:ext uri="{FF2B5EF4-FFF2-40B4-BE49-F238E27FC236}">
                <a16:creationId xmlns:a16="http://schemas.microsoft.com/office/drawing/2014/main" id="{48ADF81B-9EFE-4344-A69E-96F568492732}"/>
              </a:ext>
            </a:extLst>
          </p:cNvPr>
          <p:cNvSpPr txBox="1">
            <a:spLocks noChangeArrowheads="1"/>
          </p:cNvSpPr>
          <p:nvPr>
            <p:custDataLst>
              <p:tags r:id="rId5"/>
            </p:custDataLst>
          </p:nvPr>
        </p:nvSpPr>
        <p:spPr bwMode="auto">
          <a:xfrm>
            <a:off x="930050" y="3801964"/>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 	</a:t>
            </a:r>
          </a:p>
        </p:txBody>
      </p:sp>
      <p:sp>
        <p:nvSpPr>
          <p:cNvPr id="2" name="UpSlide SubSection Marker" hidden="1">
            <a:extLst>
              <a:ext uri="{FF2B5EF4-FFF2-40B4-BE49-F238E27FC236}">
                <a16:creationId xmlns:a16="http://schemas.microsoft.com/office/drawing/2014/main" id="{5975FB9A-4E7A-4FA8-9815-AB66EDA6B910}"/>
              </a:ext>
            </a:extLst>
          </p:cNvPr>
          <p:cNvSpPr/>
          <p:nvPr>
            <p:custDataLst>
              <p:tags r:id="rId6"/>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Stock</a:t>
            </a:r>
            <a:endParaRPr lang="en-GB" sz="900" dirty="0">
              <a:solidFill>
                <a:schemeClr val="bg1"/>
              </a:solidFill>
            </a:endParaRPr>
          </a:p>
        </p:txBody>
      </p:sp>
      <p:sp>
        <p:nvSpPr>
          <p:cNvPr id="8" name="Rectangle 7">
            <a:hlinkClick r:id="rId12" action="ppaction://hlinksldjump"/>
            <a:extLst>
              <a:ext uri="{FF2B5EF4-FFF2-40B4-BE49-F238E27FC236}">
                <a16:creationId xmlns:a16="http://schemas.microsoft.com/office/drawing/2014/main" id="{052C0931-5670-4088-B782-88DF1F69EA2D}"/>
              </a:ext>
            </a:extLst>
          </p:cNvPr>
          <p:cNvSpPr/>
          <p:nvPr/>
        </p:nvSpPr>
        <p:spPr>
          <a:xfrm>
            <a:off x="6175864" y="3948097"/>
            <a:ext cx="1031076" cy="2784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37" name="Group 36">
            <a:extLst>
              <a:ext uri="{FF2B5EF4-FFF2-40B4-BE49-F238E27FC236}">
                <a16:creationId xmlns:a16="http://schemas.microsoft.com/office/drawing/2014/main" id="{691C1D2E-A393-4D2A-B196-B10092687D68}"/>
              </a:ext>
            </a:extLst>
          </p:cNvPr>
          <p:cNvGrpSpPr/>
          <p:nvPr>
            <p:custDataLst>
              <p:tags r:id="rId7"/>
            </p:custDataLst>
          </p:nvPr>
        </p:nvGrpSpPr>
        <p:grpSpPr>
          <a:xfrm>
            <a:off x="995364" y="153170"/>
            <a:ext cx="6211576" cy="195814"/>
            <a:chOff x="995364" y="153170"/>
            <a:chExt cx="6211576" cy="195814"/>
          </a:xfrm>
        </p:grpSpPr>
        <p:sp>
          <p:nvSpPr>
            <p:cNvPr id="41"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2"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3"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4" name="Current Section4">
              <a:hlinkClick r:id="rId16"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5"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6"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7" name="Other Sections7">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88602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67445AF7-5980-41DC-B89B-9CCAB26A3940}"/>
              </a:ext>
            </a:extLst>
          </p:cNvPr>
          <p:cNvPicPr>
            <a:picLocks noChangeAspect="1"/>
          </p:cNvPicPr>
          <p:nvPr>
            <p:custDataLst>
              <p:tags r:id="rId1"/>
            </p:custDataLst>
          </p:nvPr>
        </p:nvPicPr>
        <p:blipFill>
          <a:blip r:embed="rId10"/>
          <a:stretch>
            <a:fillRect/>
          </a:stretch>
        </p:blipFill>
        <p:spPr>
          <a:xfrm>
            <a:off x="995361" y="1912839"/>
            <a:ext cx="3689350" cy="3133964"/>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2"/>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Stock (4/5)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Stock</a:t>
            </a:r>
          </a:p>
        </p:txBody>
      </p:sp>
      <p:sp>
        <p:nvSpPr>
          <p:cNvPr id="5" name="Text Placeholder 4">
            <a:extLst>
              <a:ext uri="{FF2B5EF4-FFF2-40B4-BE49-F238E27FC236}">
                <a16:creationId xmlns:a16="http://schemas.microsoft.com/office/drawing/2014/main" id="{EFA3DC0E-A647-4AC4-A172-BFB517CFD1FB}"/>
              </a:ext>
            </a:extLst>
          </p:cNvPr>
          <p:cNvSpPr>
            <a:spLocks noGrp="1"/>
          </p:cNvSpPr>
          <p:nvPr>
            <p:ph type="body" sz="quarter" idx="26"/>
          </p:nvPr>
        </p:nvSpPr>
        <p:spPr>
          <a:xfrm>
            <a:off x="4815355" y="2235228"/>
            <a:ext cx="6375205" cy="2960580"/>
          </a:xfrm>
        </p:spPr>
        <p:txBody>
          <a:bodyPr/>
          <a:lstStyle/>
          <a:p>
            <a:pPr>
              <a:lnSpc>
                <a:spcPct val="95000"/>
              </a:lnSpc>
              <a:spcAft>
                <a:spcPts val="400"/>
              </a:spcAft>
            </a:pPr>
            <a:r>
              <a:rPr lang="en-GB" sz="1000" dirty="0">
                <a:solidFill>
                  <a:schemeClr val="tx2"/>
                </a:solidFill>
              </a:rPr>
              <a:t>Stock provision</a:t>
            </a:r>
          </a:p>
          <a:p>
            <a:pPr>
              <a:lnSpc>
                <a:spcPct val="95000"/>
              </a:lnSpc>
              <a:spcAft>
                <a:spcPts val="400"/>
              </a:spcAft>
            </a:pPr>
            <a:r>
              <a:rPr lang="en-GB" sz="1000" b="0" dirty="0">
                <a:solidFill>
                  <a:schemeClr val="tx1"/>
                </a:solidFill>
              </a:rPr>
              <a:t>A stock provision is held on the balance sheet, calculated on the basis of stock ageing only (with no provision held for shrinkage). Any stock still held from the previous season is initially provided for at 50%, whilst any stock older than this is provided for at 100%. The total provision is then reviewed by Management to ensure that the provision is sufficient. Management has commented that the provision has been prudent historically and that there has been limited need to increase the provision following review.</a:t>
            </a:r>
          </a:p>
          <a:p>
            <a:pPr>
              <a:lnSpc>
                <a:spcPct val="95000"/>
              </a:lnSpc>
              <a:spcAft>
                <a:spcPts val="400"/>
              </a:spcAft>
            </a:pPr>
            <a:r>
              <a:rPr lang="en-GB" sz="1000" b="0" dirty="0">
                <a:solidFill>
                  <a:schemeClr val="tx1"/>
                </a:solidFill>
              </a:rPr>
              <a:t>The £0.3 million provision at September 2021 has been calculated on the basis of 100% of stock pre summer season 2021 and an effective provision of 85% for summer season 2021 stock. Management also provide £10,000 per month for YTD potential stock losses / damage.</a:t>
            </a:r>
          </a:p>
          <a:p>
            <a:pPr>
              <a:lnSpc>
                <a:spcPct val="95000"/>
              </a:lnSpc>
              <a:spcAft>
                <a:spcPts val="400"/>
              </a:spcAft>
            </a:pPr>
            <a:r>
              <a:rPr lang="en-GB" b="0" dirty="0">
                <a:solidFill>
                  <a:schemeClr val="tx1"/>
                </a:solidFill>
              </a:rPr>
              <a:t>Aged stock is typically sold at a reduced price on the website but any stock that is not sold is written down and either sold via a sample sale or given to charity, although Management has commented that this is rare.</a:t>
            </a:r>
          </a:p>
          <a:p>
            <a:pPr>
              <a:lnSpc>
                <a:spcPct val="95000"/>
              </a:lnSpc>
              <a:spcAft>
                <a:spcPts val="400"/>
              </a:spcAft>
            </a:pPr>
            <a:r>
              <a:rPr lang="en-GB" b="0" dirty="0">
                <a:solidFill>
                  <a:schemeClr val="tx1"/>
                </a:solidFill>
              </a:rPr>
              <a:t>Sample sales were held in September 2019 and June 2021, generating sales revenue of £68,000 and £92,000 respectively. Although the cost of these products would have been recognised when the stock was written down, Management has been unable to provide information relating to this in order for an adjustment to be made to underlying earnings or net working capital to recognise the cost at the same time as the sale.</a:t>
            </a:r>
          </a:p>
          <a:p>
            <a:pPr>
              <a:lnSpc>
                <a:spcPct val="95000"/>
              </a:lnSpc>
              <a:spcAft>
                <a:spcPts val="400"/>
              </a:spcAft>
            </a:pPr>
            <a:r>
              <a:rPr lang="en-GB" dirty="0">
                <a:solidFill>
                  <a:schemeClr val="tx2"/>
                </a:solidFill>
              </a:rPr>
              <a:t>Stock in transit</a:t>
            </a:r>
          </a:p>
          <a:p>
            <a:pPr>
              <a:lnSpc>
                <a:spcPct val="95000"/>
              </a:lnSpc>
              <a:spcAft>
                <a:spcPts val="400"/>
              </a:spcAft>
            </a:pPr>
            <a:r>
              <a:rPr lang="en-GB" b="0" dirty="0">
                <a:solidFill>
                  <a:schemeClr val="tx1"/>
                </a:solidFill>
              </a:rPr>
              <a:t>Stock invoices received in the month are cross checked against the goods received notes (‘GRNs’) on a monthly basis. Any goods for which the invoices have been received and are still in transit are recorded within the ‘stock in transit’ nominal ledger. We note that Y has Cargo Insurance up to the value of £1,000,000 with xx. Management states that there are very few cases of where goods are shipped and not invoiced.</a:t>
            </a:r>
          </a:p>
          <a:p>
            <a:endParaRPr lang="en-GB" dirty="0"/>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10"/>
          </p:nvPr>
        </p:nvSpPr>
        <p:spPr>
          <a:xfrm>
            <a:off x="995361" y="1298240"/>
            <a:ext cx="10195200" cy="460800"/>
          </a:xfrm>
        </p:spPr>
        <p:txBody>
          <a:bodyPr/>
          <a:lstStyle/>
          <a:p>
            <a:r>
              <a:rPr lang="en-GB" sz="1000" dirty="0"/>
              <a:t>Stock is aged based on the season to which it relates. Over 90% of the stock balance has related to the upcoming or current season at each of the historical dates. PI counts are held at both the Logistics A and Logistics C warehouses, with any large variances adjusted for within the management accounts. A year end stock take was also held at Logistics A, with any significant variances recounted and adjusted in the accounts at year end if required.  Stock takes occur quarterly at the boutiques, with any variances discussed with the merchandising team. Management has commented that there has been minimal warehouse and boutique variances historically.</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8" name="Rounded Rectangle 7">
            <a:extLst>
              <a:ext uri="{FF2B5EF4-FFF2-40B4-BE49-F238E27FC236}">
                <a16:creationId xmlns:a16="http://schemas.microsoft.com/office/drawing/2014/main" id="{0EF85BE5-685E-4A07-9E27-FFEA6050CB96}"/>
              </a:ext>
            </a:extLst>
          </p:cNvPr>
          <p:cNvSpPr/>
          <p:nvPr>
            <p:custDataLst>
              <p:tags r:id="rId4"/>
            </p:custDataLst>
          </p:nvPr>
        </p:nvSpPr>
        <p:spPr>
          <a:xfrm>
            <a:off x="4253022" y="2426648"/>
            <a:ext cx="418213" cy="146133"/>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39" name="Rectangle 38">
            <a:extLst>
              <a:ext uri="{FF2B5EF4-FFF2-40B4-BE49-F238E27FC236}">
                <a16:creationId xmlns:a16="http://schemas.microsoft.com/office/drawing/2014/main" id="{42A29B42-190C-4DDF-9D93-757D685075E4}"/>
              </a:ext>
            </a:extLst>
          </p:cNvPr>
          <p:cNvSpPr/>
          <p:nvPr/>
        </p:nvSpPr>
        <p:spPr>
          <a:xfrm>
            <a:off x="2688832" y="5335870"/>
            <a:ext cx="1980000" cy="70953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Management has provided for 85.0% of the Spring / Summer 2021 stock left which continues to be sold within the sale section of the website. Management consider this to be a prudent provision and that there is potential for the sale price to exceed the provided cost.</a:t>
            </a:r>
          </a:p>
        </p:txBody>
      </p:sp>
      <p:cxnSp>
        <p:nvCxnSpPr>
          <p:cNvPr id="40" name="Straight Arrow Connector 39">
            <a:extLst>
              <a:ext uri="{FF2B5EF4-FFF2-40B4-BE49-F238E27FC236}">
                <a16:creationId xmlns:a16="http://schemas.microsoft.com/office/drawing/2014/main" id="{DFA5BE7E-7CB5-46DE-AC3F-768C9E5EEB63}"/>
              </a:ext>
            </a:extLst>
          </p:cNvPr>
          <p:cNvCxnSpPr>
            <a:cxnSpLocks/>
            <a:stCxn id="39" idx="3"/>
            <a:endCxn id="38" idx="3"/>
          </p:cNvCxnSpPr>
          <p:nvPr/>
        </p:nvCxnSpPr>
        <p:spPr>
          <a:xfrm flipV="1">
            <a:off x="4668832" y="2499715"/>
            <a:ext cx="2403" cy="3190920"/>
          </a:xfrm>
          <a:prstGeom prst="bentConnector3">
            <a:avLst>
              <a:gd name="adj1" fmla="val 6663337"/>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9" name="Text Box 8">
            <a:extLst>
              <a:ext uri="{FF2B5EF4-FFF2-40B4-BE49-F238E27FC236}">
                <a16:creationId xmlns:a16="http://schemas.microsoft.com/office/drawing/2014/main" id="{48ADF81B-9EFE-4344-A69E-96F568492732}"/>
              </a:ext>
            </a:extLst>
          </p:cNvPr>
          <p:cNvSpPr txBox="1">
            <a:spLocks noChangeArrowheads="1"/>
          </p:cNvSpPr>
          <p:nvPr>
            <p:custDataLst>
              <p:tags r:id="rId5"/>
            </p:custDataLst>
          </p:nvPr>
        </p:nvSpPr>
        <p:spPr bwMode="auto">
          <a:xfrm>
            <a:off x="970211" y="5049675"/>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6.1.7.1.1.1_Aged Stock Listing FYE Jan 2019, 2020, 2021 and September 2021	</a:t>
            </a:r>
          </a:p>
        </p:txBody>
      </p:sp>
      <p:sp>
        <p:nvSpPr>
          <p:cNvPr id="48" name="Rectangle 47">
            <a:extLst>
              <a:ext uri="{FF2B5EF4-FFF2-40B4-BE49-F238E27FC236}">
                <a16:creationId xmlns:a16="http://schemas.microsoft.com/office/drawing/2014/main" id="{6BA85E82-A2C8-4C14-95A6-30DB93415F2C}"/>
              </a:ext>
            </a:extLst>
          </p:cNvPr>
          <p:cNvSpPr/>
          <p:nvPr/>
        </p:nvSpPr>
        <p:spPr>
          <a:xfrm>
            <a:off x="666168" y="5335871"/>
            <a:ext cx="1620000" cy="70952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Recognising stock in transit was a policy adopted from FY20. We have not sought to normalise this balance pre FY20 due to the stock in transit information not being readily available.</a:t>
            </a:r>
          </a:p>
        </p:txBody>
      </p:sp>
      <p:sp>
        <p:nvSpPr>
          <p:cNvPr id="50" name="Rounded Rectangle 7">
            <a:extLst>
              <a:ext uri="{FF2B5EF4-FFF2-40B4-BE49-F238E27FC236}">
                <a16:creationId xmlns:a16="http://schemas.microsoft.com/office/drawing/2014/main" id="{6E60BE6B-E584-4DFC-A32E-3B3012CC3AC7}"/>
              </a:ext>
            </a:extLst>
          </p:cNvPr>
          <p:cNvSpPr/>
          <p:nvPr>
            <p:custDataLst>
              <p:tags r:id="rId6"/>
            </p:custDataLst>
          </p:nvPr>
        </p:nvSpPr>
        <p:spPr>
          <a:xfrm>
            <a:off x="2537152" y="3948132"/>
            <a:ext cx="418213" cy="146133"/>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cxnSp>
        <p:nvCxnSpPr>
          <p:cNvPr id="51" name="Straight Arrow Connector 39">
            <a:extLst>
              <a:ext uri="{FF2B5EF4-FFF2-40B4-BE49-F238E27FC236}">
                <a16:creationId xmlns:a16="http://schemas.microsoft.com/office/drawing/2014/main" id="{C38291C5-AF6B-450E-9B1B-F132F3A94344}"/>
              </a:ext>
            </a:extLst>
          </p:cNvPr>
          <p:cNvCxnSpPr>
            <a:cxnSpLocks/>
            <a:stCxn id="48" idx="3"/>
            <a:endCxn id="50" idx="1"/>
          </p:cNvCxnSpPr>
          <p:nvPr/>
        </p:nvCxnSpPr>
        <p:spPr>
          <a:xfrm flipV="1">
            <a:off x="2286168" y="4021199"/>
            <a:ext cx="250984" cy="1669437"/>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UpSlide SubSection Marker" hidden="1">
            <a:extLst>
              <a:ext uri="{FF2B5EF4-FFF2-40B4-BE49-F238E27FC236}">
                <a16:creationId xmlns:a16="http://schemas.microsoft.com/office/drawing/2014/main" id="{AC0E95B1-B5E1-488C-B188-0DC062C4430E}"/>
              </a:ext>
            </a:extLst>
          </p:cNvPr>
          <p:cNvSpPr/>
          <p:nvPr>
            <p:custDataLst>
              <p:tags r:id="rId7"/>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Stock</a:t>
            </a:r>
            <a:endParaRPr lang="en-GB" sz="900" dirty="0">
              <a:solidFill>
                <a:schemeClr val="bg1"/>
              </a:solidFill>
            </a:endParaRPr>
          </a:p>
        </p:txBody>
      </p:sp>
      <p:grpSp>
        <p:nvGrpSpPr>
          <p:cNvPr id="41" name="Group 40">
            <a:extLst>
              <a:ext uri="{FF2B5EF4-FFF2-40B4-BE49-F238E27FC236}">
                <a16:creationId xmlns:a16="http://schemas.microsoft.com/office/drawing/2014/main" id="{691C1D2E-A393-4D2A-B196-B10092687D68}"/>
              </a:ext>
            </a:extLst>
          </p:cNvPr>
          <p:cNvGrpSpPr/>
          <p:nvPr>
            <p:custDataLst>
              <p:tags r:id="rId8"/>
            </p:custDataLst>
          </p:nvPr>
        </p:nvGrpSpPr>
        <p:grpSpPr>
          <a:xfrm>
            <a:off x="995364" y="153170"/>
            <a:ext cx="6211576" cy="195814"/>
            <a:chOff x="995364" y="153170"/>
            <a:chExt cx="6211576" cy="195814"/>
          </a:xfrm>
        </p:grpSpPr>
        <p:sp>
          <p:nvSpPr>
            <p:cNvPr id="42"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3"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4"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5" name="Current Section4">
              <a:hlinkClick r:id="rId16"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6"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7"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Other Sections7">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302900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B74AC4-8C8A-4A27-8F9B-9DC653776D01}"/>
              </a:ext>
            </a:extLst>
          </p:cNvPr>
          <p:cNvPicPr>
            <a:picLocks noChangeAspect="1"/>
          </p:cNvPicPr>
          <p:nvPr>
            <p:custDataLst>
              <p:tags r:id="rId1"/>
            </p:custDataLst>
          </p:nvPr>
        </p:nvPicPr>
        <p:blipFill>
          <a:blip r:embed="rId8"/>
          <a:stretch>
            <a:fillRect/>
          </a:stretch>
        </p:blipFill>
        <p:spPr>
          <a:xfrm>
            <a:off x="995361" y="1912839"/>
            <a:ext cx="3689350" cy="2757095"/>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Stock (5/5)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Stock</a:t>
            </a:r>
          </a:p>
        </p:txBody>
      </p:sp>
      <p:sp>
        <p:nvSpPr>
          <p:cNvPr id="5" name="Text Placeholder 4">
            <a:extLst>
              <a:ext uri="{FF2B5EF4-FFF2-40B4-BE49-F238E27FC236}">
                <a16:creationId xmlns:a16="http://schemas.microsoft.com/office/drawing/2014/main" id="{EFA3DC0E-A647-4AC4-A172-BFB517CFD1FB}"/>
              </a:ext>
            </a:extLst>
          </p:cNvPr>
          <p:cNvSpPr>
            <a:spLocks noGrp="1"/>
          </p:cNvSpPr>
          <p:nvPr>
            <p:ph type="body" sz="quarter" idx="26"/>
          </p:nvPr>
        </p:nvSpPr>
        <p:spPr>
          <a:xfrm>
            <a:off x="4815355" y="2235228"/>
            <a:ext cx="6375205" cy="2960580"/>
          </a:xfrm>
        </p:spPr>
        <p:txBody>
          <a:bodyPr/>
          <a:lstStyle/>
          <a:p>
            <a:pPr>
              <a:lnSpc>
                <a:spcPct val="95000"/>
              </a:lnSpc>
              <a:spcAft>
                <a:spcPts val="400"/>
              </a:spcAft>
            </a:pPr>
            <a:r>
              <a:rPr lang="en-GB" dirty="0">
                <a:solidFill>
                  <a:schemeClr val="tx2"/>
                </a:solidFill>
              </a:rPr>
              <a:t>Stock – returns not yet received</a:t>
            </a:r>
          </a:p>
          <a:p>
            <a:pPr>
              <a:lnSpc>
                <a:spcPct val="95000"/>
              </a:lnSpc>
              <a:spcAft>
                <a:spcPts val="400"/>
              </a:spcAft>
            </a:pPr>
            <a:r>
              <a:rPr lang="en-GB" b="0" dirty="0">
                <a:solidFill>
                  <a:schemeClr val="tx1"/>
                </a:solidFill>
              </a:rPr>
              <a:t>As part of the monthly stock returns provision, Management recognise the estimated value of stock expected to be received as part of the returns process, with the corresponding credit being recognised within cost of sales. This provision is released and trued up on a monthly basis. We note that the returns as at January 2021 were materially lower as a result of the governmental imposed lockdown period. We have illustrated the impact of this in our </a:t>
            </a:r>
            <a:r>
              <a:rPr lang="en-GB" dirty="0">
                <a:solidFill>
                  <a:schemeClr val="tx1"/>
                </a:solidFill>
              </a:rPr>
              <a:t>quality of earnings analysis</a:t>
            </a:r>
            <a:r>
              <a:rPr lang="en-GB" b="0" dirty="0">
                <a:solidFill>
                  <a:schemeClr val="tx1"/>
                </a:solidFill>
              </a:rPr>
              <a:t>. </a:t>
            </a:r>
          </a:p>
          <a:p>
            <a:pPr>
              <a:lnSpc>
                <a:spcPct val="95000"/>
              </a:lnSpc>
            </a:pPr>
            <a:r>
              <a:rPr lang="en-GB" sz="1000" dirty="0">
                <a:solidFill>
                  <a:schemeClr val="tx2"/>
                </a:solidFill>
              </a:rPr>
              <a:t>Stock ageing</a:t>
            </a:r>
          </a:p>
          <a:p>
            <a:pPr>
              <a:lnSpc>
                <a:spcPct val="95000"/>
              </a:lnSpc>
            </a:pPr>
            <a:r>
              <a:rPr lang="en-GB" sz="1000" b="0" dirty="0">
                <a:solidFill>
                  <a:schemeClr val="tx1"/>
                </a:solidFill>
              </a:rPr>
              <a:t>Stock is aged based on the season to which it relates. The majority of the stock balance at each of the historical dates relates to the upcoming season, with 99.3% of the stock held as at September 2021 relating to the current / upcoming season. </a:t>
            </a:r>
          </a:p>
          <a:p>
            <a:pPr>
              <a:lnSpc>
                <a:spcPct val="95000"/>
              </a:lnSpc>
            </a:pPr>
            <a:r>
              <a:rPr lang="en-GB" sz="1000" b="0" dirty="0">
                <a:solidFill>
                  <a:schemeClr val="tx1"/>
                </a:solidFill>
              </a:rPr>
              <a:t>For the ageing analysis we have considered stock for the current season and the upcoming season to be ‘current’. Using this basis, over 90% of the stock balance has been ‘current’ at each of the historical dates. On this basis the provision does not appear to be unreasonable historically.</a:t>
            </a:r>
          </a:p>
          <a:p>
            <a:endParaRPr lang="en-GB" dirty="0"/>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10"/>
          </p:nvPr>
        </p:nvSpPr>
        <p:spPr>
          <a:xfrm>
            <a:off x="995361" y="1298240"/>
            <a:ext cx="10195200" cy="460800"/>
          </a:xfrm>
        </p:spPr>
        <p:txBody>
          <a:bodyPr/>
          <a:lstStyle/>
          <a:p>
            <a:r>
              <a:rPr lang="en-GB" dirty="0"/>
              <a:t>As at September 2021, over 99.3% of the stock balance related to the current or upcoming season. </a:t>
            </a:r>
          </a:p>
          <a:p>
            <a:r>
              <a:rPr lang="en-GB" sz="1000" dirty="0"/>
              <a:t>From our analysis it is apparent that old stock typically sells through, and that a sufficient provision is held to cover old stock that may be at risk. </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9" name="Text Box 8">
            <a:extLst>
              <a:ext uri="{FF2B5EF4-FFF2-40B4-BE49-F238E27FC236}">
                <a16:creationId xmlns:a16="http://schemas.microsoft.com/office/drawing/2014/main" id="{48ADF81B-9EFE-4344-A69E-96F568492732}"/>
              </a:ext>
            </a:extLst>
          </p:cNvPr>
          <p:cNvSpPr txBox="1">
            <a:spLocks noChangeArrowheads="1"/>
          </p:cNvSpPr>
          <p:nvPr>
            <p:custDataLst>
              <p:tags r:id="rId4"/>
            </p:custDataLst>
          </p:nvPr>
        </p:nvSpPr>
        <p:spPr bwMode="auto">
          <a:xfrm>
            <a:off x="970211" y="4641612"/>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6.1.7.1.1.1_Aged Stock Listing FYE Jan 2019, 2020, 2021 and September 2021	</a:t>
            </a:r>
          </a:p>
        </p:txBody>
      </p:sp>
      <p:sp>
        <p:nvSpPr>
          <p:cNvPr id="2" name="UpSlide SubSection Marker" hidden="1">
            <a:extLst>
              <a:ext uri="{FF2B5EF4-FFF2-40B4-BE49-F238E27FC236}">
                <a16:creationId xmlns:a16="http://schemas.microsoft.com/office/drawing/2014/main" id="{402E91C6-3026-4A94-98B3-2B2B71D67C81}"/>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Stock</a:t>
            </a:r>
            <a:endParaRPr lang="en-GB" sz="900" dirty="0">
              <a:solidFill>
                <a:schemeClr val="bg1"/>
              </a:solidFill>
            </a:endParaRPr>
          </a:p>
        </p:txBody>
      </p:sp>
      <p:sp>
        <p:nvSpPr>
          <p:cNvPr id="7" name="Rectangle 6">
            <a:hlinkClick r:id="rId11" action="ppaction://hlinksldjump"/>
            <a:extLst>
              <a:ext uri="{FF2B5EF4-FFF2-40B4-BE49-F238E27FC236}">
                <a16:creationId xmlns:a16="http://schemas.microsoft.com/office/drawing/2014/main" id="{B917284D-E1F9-43FD-8561-4F85B7DE36CC}"/>
              </a:ext>
            </a:extLst>
          </p:cNvPr>
          <p:cNvSpPr/>
          <p:nvPr/>
        </p:nvSpPr>
        <p:spPr>
          <a:xfrm>
            <a:off x="5463356" y="3014133"/>
            <a:ext cx="1743584" cy="160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33" name="Group 32">
            <a:extLst>
              <a:ext uri="{FF2B5EF4-FFF2-40B4-BE49-F238E27FC236}">
                <a16:creationId xmlns:a16="http://schemas.microsoft.com/office/drawing/2014/main" id="{691C1D2E-A393-4D2A-B196-B10092687D68}"/>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Current Section4">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8"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861300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0A594E-5D3B-4569-B2B3-7F44836A68A7}"/>
              </a:ext>
            </a:extLst>
          </p:cNvPr>
          <p:cNvPicPr>
            <a:picLocks noChangeAspect="1"/>
          </p:cNvPicPr>
          <p:nvPr>
            <p:custDataLst>
              <p:tags r:id="rId1"/>
            </p:custDataLst>
          </p:nvPr>
        </p:nvPicPr>
        <p:blipFill>
          <a:blip r:embed="rId10"/>
          <a:stretch>
            <a:fillRect/>
          </a:stretch>
        </p:blipFill>
        <p:spPr>
          <a:xfrm>
            <a:off x="995361" y="2178523"/>
            <a:ext cx="10192299" cy="1601451"/>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2"/>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Trade creditors (1/2)</a:t>
            </a:r>
          </a:p>
        </p:txBody>
      </p:sp>
      <p:sp>
        <p:nvSpPr>
          <p:cNvPr id="27" name="Text Placeholder 26">
            <a:extLst>
              <a:ext uri="{FF2B5EF4-FFF2-40B4-BE49-F238E27FC236}">
                <a16:creationId xmlns:a16="http://schemas.microsoft.com/office/drawing/2014/main" id="{E5B1F267-FFFE-45D3-8CA1-01F17D0167DE}"/>
              </a:ext>
            </a:extLst>
          </p:cNvPr>
          <p:cNvSpPr>
            <a:spLocks noGrp="1"/>
          </p:cNvSpPr>
          <p:nvPr>
            <p:ph type="body" sz="quarter" idx="24"/>
          </p:nvPr>
        </p:nvSpPr>
        <p:spPr>
          <a:xfrm>
            <a:off x="4815356" y="3893588"/>
            <a:ext cx="6386044" cy="1973812"/>
          </a:xfrm>
        </p:spPr>
        <p:txBody>
          <a:bodyPr/>
          <a:lstStyle/>
          <a:p>
            <a:r>
              <a:rPr lang="en-GB" sz="1000" b="1" dirty="0">
                <a:solidFill>
                  <a:schemeClr val="tx2"/>
                </a:solidFill>
              </a:rPr>
              <a:t>Trade creditors and trade creditor days</a:t>
            </a:r>
          </a:p>
          <a:p>
            <a:r>
              <a:rPr lang="en-GB" sz="1000" b="0" dirty="0">
                <a:solidFill>
                  <a:schemeClr val="tx1"/>
                </a:solidFill>
              </a:rPr>
              <a:t>Typical payment terms with Y’s largest suppliers vary from 30 to 90 days.</a:t>
            </a:r>
          </a:p>
          <a:p>
            <a:r>
              <a:rPr lang="en-GB" sz="1000" b="0" dirty="0">
                <a:solidFill>
                  <a:schemeClr val="tx1"/>
                </a:solidFill>
              </a:rPr>
              <a:t>Trade creditor days spiked to 59 days at April 2020 following the agreed extension and stretching of payment terms with some suppliers in order to preserve cash due to Covid-19 uncertainty. As we deem this to be one-off, we have adjusted the trade creditor balance within NWC. </a:t>
            </a:r>
          </a:p>
          <a:p>
            <a:r>
              <a:rPr lang="en-GB" sz="1000" b="0" dirty="0">
                <a:solidFill>
                  <a:schemeClr val="tx1"/>
                </a:solidFill>
              </a:rPr>
              <a:t>Trade creditor days also increased to 60 in December 2020, driven by the shipment of knitwear products from suppliers in the Far East in advance of when the product is required, as the suppliers cease production over Chinese New Year.</a:t>
            </a:r>
            <a:r>
              <a:rPr lang="en-GB" sz="1000" b="0" strike="sngStrike" dirty="0">
                <a:solidFill>
                  <a:schemeClr val="tx1"/>
                </a:solidFill>
              </a:rPr>
              <a:t> </a:t>
            </a:r>
            <a:r>
              <a:rPr lang="en-GB" sz="1000" b="0" dirty="0">
                <a:solidFill>
                  <a:schemeClr val="tx1"/>
                </a:solidFill>
              </a:rPr>
              <a:t>As this is an annual occurrence, we have not sought to adjust for this within net working capital. </a:t>
            </a:r>
          </a:p>
          <a:p>
            <a:endParaRPr lang="en-GB" dirty="0"/>
          </a:p>
        </p:txBody>
      </p:sp>
      <p:sp>
        <p:nvSpPr>
          <p:cNvPr id="28" name="Text Placeholder 27">
            <a:extLst>
              <a:ext uri="{FF2B5EF4-FFF2-40B4-BE49-F238E27FC236}">
                <a16:creationId xmlns:a16="http://schemas.microsoft.com/office/drawing/2014/main" id="{01207293-8689-462A-BD17-255CA4058432}"/>
              </a:ext>
            </a:extLst>
          </p:cNvPr>
          <p:cNvSpPr>
            <a:spLocks noGrp="1"/>
          </p:cNvSpPr>
          <p:nvPr>
            <p:ph type="body" sz="quarter" idx="25"/>
          </p:nvPr>
        </p:nvSpPr>
        <p:spPr/>
        <p:txBody>
          <a:bodyPr/>
          <a:lstStyle/>
          <a:p>
            <a:r>
              <a:rPr lang="en-GB" dirty="0"/>
              <a:t>Monthly reported trade creditors and trade creditors days</a:t>
            </a:r>
          </a:p>
        </p:txBody>
      </p:sp>
      <p:sp>
        <p:nvSpPr>
          <p:cNvPr id="23" name="Text Placeholder 22">
            <a:extLst>
              <a:ext uri="{FF2B5EF4-FFF2-40B4-BE49-F238E27FC236}">
                <a16:creationId xmlns:a16="http://schemas.microsoft.com/office/drawing/2014/main" id="{6FC40574-F912-4333-9FFA-EDAD31A287C3}"/>
              </a:ext>
            </a:extLst>
          </p:cNvPr>
          <p:cNvSpPr>
            <a:spLocks noGrp="1"/>
          </p:cNvSpPr>
          <p:nvPr>
            <p:ph type="body" sz="quarter" idx="10"/>
          </p:nvPr>
        </p:nvSpPr>
        <p:spPr>
          <a:xfrm>
            <a:off x="995361" y="1340768"/>
            <a:ext cx="10192299" cy="460800"/>
          </a:xfrm>
        </p:spPr>
        <p:txBody>
          <a:bodyPr/>
          <a:lstStyle/>
          <a:p>
            <a:r>
              <a:rPr lang="en-GB" dirty="0"/>
              <a:t>The increase in the trade creditor balance across the historical period is largely associated with business growth. The trade creditor balance decreased from April 2020 to July 2020 as Management limited stock purchases for the Autumn / Winter season due to the uncertainty surrounding the Covid-19 pandemic. This resulted in a decrease in trade creditor days to 33 in July 2020 which we have adjusted for in net working capital as we deem this to be one-off.</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2" name="Text Box 8">
            <a:extLst>
              <a:ext uri="{FF2B5EF4-FFF2-40B4-BE49-F238E27FC236}">
                <a16:creationId xmlns:a16="http://schemas.microsoft.com/office/drawing/2014/main" id="{94C57D4C-0213-4631-B132-5FB829AF61B1}"/>
              </a:ext>
            </a:extLst>
          </p:cNvPr>
          <p:cNvSpPr txBox="1">
            <a:spLocks noChangeArrowheads="1"/>
          </p:cNvSpPr>
          <p:nvPr>
            <p:custDataLst>
              <p:tags r:id="rId4"/>
            </p:custDataLst>
          </p:nvPr>
        </p:nvSpPr>
        <p:spPr bwMode="auto">
          <a:xfrm>
            <a:off x="980938" y="3501409"/>
            <a:ext cx="4127157" cy="262791"/>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a:t>
            </a:r>
          </a:p>
        </p:txBody>
      </p:sp>
      <p:sp>
        <p:nvSpPr>
          <p:cNvPr id="64" name="Text Box 8">
            <a:extLst>
              <a:ext uri="{FF2B5EF4-FFF2-40B4-BE49-F238E27FC236}">
                <a16:creationId xmlns:a16="http://schemas.microsoft.com/office/drawing/2014/main" id="{E3F4BB6F-3F01-43A7-BB85-67DEF7F3D525}"/>
              </a:ext>
            </a:extLst>
          </p:cNvPr>
          <p:cNvSpPr txBox="1">
            <a:spLocks noChangeArrowheads="1"/>
          </p:cNvSpPr>
          <p:nvPr>
            <p:custDataLst>
              <p:tags r:id="rId5"/>
            </p:custDataLst>
          </p:nvPr>
        </p:nvSpPr>
        <p:spPr bwMode="auto">
          <a:xfrm>
            <a:off x="990600" y="5409282"/>
            <a:ext cx="3394076" cy="215900"/>
          </a:xfrm>
          <a:prstGeom prst="rect">
            <a:avLst/>
          </a:prstGeom>
          <a:noFill/>
          <a:ln w="6350">
            <a:noFill/>
            <a:miter lim="800000"/>
            <a:headEnd type="none" w="sm" len="sm"/>
            <a:tailEnd type="none" w="sm" len="sm"/>
          </a:ln>
          <a:effectLst/>
        </p:spPr>
        <p:txBody>
          <a:bodyPr wrap="square" lIns="0" tIns="0" rIns="0" bIns="0" anchor="b">
            <a:noAutofit/>
          </a:bodyPr>
          <a:lstStyle/>
          <a:p>
            <a:pPr marL="534988" indent="-534988"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 </a:t>
            </a:r>
          </a:p>
        </p:txBody>
      </p:sp>
      <p:pic>
        <p:nvPicPr>
          <p:cNvPr id="5" name="Picture 4">
            <a:extLst>
              <a:ext uri="{FF2B5EF4-FFF2-40B4-BE49-F238E27FC236}">
                <a16:creationId xmlns:a16="http://schemas.microsoft.com/office/drawing/2014/main" id="{7C4392E7-CFF8-44E5-9BB1-ED7311A238DB}"/>
              </a:ext>
            </a:extLst>
          </p:cNvPr>
          <p:cNvPicPr>
            <a:picLocks noChangeAspect="1"/>
          </p:cNvPicPr>
          <p:nvPr>
            <p:custDataLst>
              <p:tags r:id="rId6"/>
            </p:custDataLst>
          </p:nvPr>
        </p:nvPicPr>
        <p:blipFill>
          <a:blip r:embed="rId13"/>
          <a:stretch>
            <a:fillRect/>
          </a:stretch>
        </p:blipFill>
        <p:spPr>
          <a:xfrm>
            <a:off x="995361" y="3893589"/>
            <a:ext cx="3689350" cy="1607896"/>
          </a:xfrm>
          <a:prstGeom prst="rect">
            <a:avLst/>
          </a:prstGeom>
        </p:spPr>
      </p:pic>
      <p:sp>
        <p:nvSpPr>
          <p:cNvPr id="2" name="UpSlide SubSection Marker" hidden="1">
            <a:extLst>
              <a:ext uri="{FF2B5EF4-FFF2-40B4-BE49-F238E27FC236}">
                <a16:creationId xmlns:a16="http://schemas.microsoft.com/office/drawing/2014/main" id="{82A00765-C20F-4BAA-81A6-90C8AC74B4E5}"/>
              </a:ext>
            </a:extLst>
          </p:cNvPr>
          <p:cNvSpPr/>
          <p:nvPr>
            <p:custDataLst>
              <p:tags r:id="rId7"/>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Trade creditors</a:t>
            </a:r>
            <a:endParaRPr lang="en-GB" sz="900" dirty="0">
              <a:solidFill>
                <a:schemeClr val="bg1"/>
              </a:solidFill>
            </a:endParaRPr>
          </a:p>
        </p:txBody>
      </p:sp>
      <p:grpSp>
        <p:nvGrpSpPr>
          <p:cNvPr id="34" name="Group 33">
            <a:extLst>
              <a:ext uri="{FF2B5EF4-FFF2-40B4-BE49-F238E27FC236}">
                <a16:creationId xmlns:a16="http://schemas.microsoft.com/office/drawing/2014/main" id="{691C1D2E-A393-4D2A-B196-B10092687D68}"/>
              </a:ext>
            </a:extLst>
          </p:cNvPr>
          <p:cNvGrpSpPr/>
          <p:nvPr>
            <p:custDataLst>
              <p:tags r:id="rId8"/>
            </p:custDataLst>
          </p:nvPr>
        </p:nvGrpSpPr>
        <p:grpSpPr>
          <a:xfrm>
            <a:off x="995364" y="153170"/>
            <a:ext cx="6211576" cy="195814"/>
            <a:chOff x="995364" y="153170"/>
            <a:chExt cx="6211576" cy="195814"/>
          </a:xfrm>
        </p:grpSpPr>
        <p:sp>
          <p:nvSpPr>
            <p:cNvPr id="35"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7"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20"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378716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Trade creditors (2/2)</a:t>
            </a:r>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25"/>
          </p:nvPr>
        </p:nvSpPr>
        <p:spPr/>
        <p:txBody>
          <a:bodyPr/>
          <a:lstStyle/>
          <a:p>
            <a:r>
              <a:rPr lang="en-GB" dirty="0"/>
              <a:t>Trade creditors and trade creditor days</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26"/>
          </p:nvPr>
        </p:nvSpPr>
        <p:spPr/>
        <p:txBody>
          <a:bodyPr/>
          <a:lstStyle/>
          <a:p>
            <a:r>
              <a:rPr lang="en-GB" sz="1000" b="0" dirty="0">
                <a:solidFill>
                  <a:schemeClr val="tx1"/>
                </a:solidFill>
              </a:rPr>
              <a:t>Creditor days further reached 67 in September 2021 due a combination of increased use of suppliers with 90 day terms and the earlier build up of stock to mitigate global supply chain issues whilst some suppliers allowing payment in line with the original scheduled payments. We have not sought to normalise this balance, as this represents an ongoing trend of increased credit terms within the business, although we note that a reduction in creditors by one day impacts cash by approximately £85,000.</a:t>
            </a:r>
          </a:p>
          <a:p>
            <a:r>
              <a:rPr lang="en-GB" b="0" dirty="0">
                <a:solidFill>
                  <a:schemeClr val="tx1"/>
                </a:solidFill>
              </a:rPr>
              <a:t>LTM average stock days have been on an upward trend throughout the historical period, largely driven by an increase in purchases from suppliers with credit terms of 60 – 90 days. However, trade creditor days were further stretched in FY21, as Management extended payments terms with some suppliers in an attempt to preserve cash.</a:t>
            </a:r>
          </a:p>
          <a:p>
            <a:endParaRPr lang="en-GB" b="0" dirty="0">
              <a:solidFill>
                <a:schemeClr val="tx1"/>
              </a:solidFill>
            </a:endParaRPr>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BC322C48-5382-43D0-8B08-9DFDBDAFA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Trade creditors</a:t>
            </a:r>
            <a:endParaRPr lang="en-GB" sz="900" dirty="0">
              <a:solidFill>
                <a:schemeClr val="bg1"/>
              </a:solidFill>
            </a:endParaRPr>
          </a:p>
        </p:txBody>
      </p:sp>
      <p:grpSp>
        <p:nvGrpSpPr>
          <p:cNvPr id="29" name="Group 28">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3"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757757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Accruals and other creditors (1/5)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Accruals and other creditors</a:t>
            </a:r>
          </a:p>
        </p:txBody>
      </p:sp>
      <p:sp>
        <p:nvSpPr>
          <p:cNvPr id="5" name="Text Placeholder 4">
            <a:extLst>
              <a:ext uri="{FF2B5EF4-FFF2-40B4-BE49-F238E27FC236}">
                <a16:creationId xmlns:a16="http://schemas.microsoft.com/office/drawing/2014/main" id="{EFA3DC0E-A647-4AC4-A172-BFB517CFD1FB}"/>
              </a:ext>
            </a:extLst>
          </p:cNvPr>
          <p:cNvSpPr>
            <a:spLocks noGrp="1"/>
          </p:cNvSpPr>
          <p:nvPr>
            <p:ph type="body" sz="quarter" idx="26"/>
          </p:nvPr>
        </p:nvSpPr>
        <p:spPr>
          <a:xfrm>
            <a:off x="4815355" y="2235227"/>
            <a:ext cx="6375205" cy="3960009"/>
          </a:xfrm>
        </p:spPr>
        <p:txBody>
          <a:bodyPr/>
          <a:lstStyle/>
          <a:p>
            <a:pPr>
              <a:lnSpc>
                <a:spcPct val="95000"/>
              </a:lnSpc>
              <a:spcAft>
                <a:spcPts val="400"/>
              </a:spcAft>
            </a:pPr>
            <a:r>
              <a:rPr lang="en-GB" dirty="0">
                <a:solidFill>
                  <a:schemeClr val="tx2"/>
                </a:solidFill>
              </a:rPr>
              <a:t>Accruals</a:t>
            </a:r>
          </a:p>
          <a:p>
            <a:pPr>
              <a:lnSpc>
                <a:spcPct val="95000"/>
              </a:lnSpc>
              <a:spcAft>
                <a:spcPts val="400"/>
              </a:spcAft>
            </a:pPr>
            <a:r>
              <a:rPr lang="en-GB" b="0" dirty="0">
                <a:solidFill>
                  <a:schemeClr val="tx1"/>
                </a:solidFill>
              </a:rPr>
              <a:t>The breakdown of accruals is discussed on the following pages.</a:t>
            </a:r>
          </a:p>
          <a:p>
            <a:pPr>
              <a:lnSpc>
                <a:spcPct val="95000"/>
              </a:lnSpc>
              <a:spcAft>
                <a:spcPts val="400"/>
              </a:spcAft>
            </a:pPr>
            <a:r>
              <a:rPr lang="en-GB" dirty="0">
                <a:solidFill>
                  <a:schemeClr val="tx2"/>
                </a:solidFill>
              </a:rPr>
              <a:t>VAT liability</a:t>
            </a:r>
          </a:p>
          <a:p>
            <a:pPr>
              <a:lnSpc>
                <a:spcPct val="95000"/>
              </a:lnSpc>
              <a:spcAft>
                <a:spcPts val="400"/>
              </a:spcAft>
            </a:pPr>
            <a:r>
              <a:rPr lang="en-GB" b="0" dirty="0">
                <a:solidFill>
                  <a:schemeClr val="tx1"/>
                </a:solidFill>
              </a:rPr>
              <a:t>Y is registered for VAT in the </a:t>
            </a:r>
            <a:r>
              <a:rPr lang="en-GB" b="0" dirty="0" err="1">
                <a:solidFill>
                  <a:schemeClr val="tx1"/>
                </a:solidFill>
              </a:rPr>
              <a:t>yy</a:t>
            </a:r>
            <a:r>
              <a:rPr lang="en-GB" b="0" dirty="0">
                <a:solidFill>
                  <a:schemeClr val="tx1"/>
                </a:solidFill>
              </a:rPr>
              <a:t> only, with all international VAT payment for </a:t>
            </a:r>
            <a:r>
              <a:rPr lang="en-GB" b="0" dirty="0" err="1">
                <a:solidFill>
                  <a:schemeClr val="tx1"/>
                </a:solidFill>
              </a:rPr>
              <a:t>yy</a:t>
            </a:r>
            <a:r>
              <a:rPr lang="en-GB" b="0" dirty="0">
                <a:solidFill>
                  <a:schemeClr val="tx1"/>
                </a:solidFill>
              </a:rPr>
              <a:t> handled by Global E. Management is currently in the process of registering for sales tax in the </a:t>
            </a:r>
            <a:r>
              <a:rPr lang="en-GB" b="0" dirty="0" err="1">
                <a:solidFill>
                  <a:schemeClr val="tx1"/>
                </a:solidFill>
              </a:rPr>
              <a:t>yy</a:t>
            </a:r>
            <a:r>
              <a:rPr lang="en-GB" b="0" dirty="0">
                <a:solidFill>
                  <a:schemeClr val="tx1"/>
                </a:solidFill>
              </a:rPr>
              <a:t>. Y deferred the payment of VAT for the quarter ended February 2020 (£0.2 million) but this was subsequently paid in March 2021. We have adjusted for this within our net working capital analysis. VAT is paid quarterly in arrears in January, April, July and October. The balance is higher is September due to increased trading activity and timing within the quarterly VAT cycle.  </a:t>
            </a:r>
            <a:endParaRPr lang="en-GB" b="0" dirty="0">
              <a:solidFill>
                <a:srgbClr val="FF0000"/>
              </a:solidFill>
            </a:endParaRPr>
          </a:p>
          <a:p>
            <a:pPr>
              <a:lnSpc>
                <a:spcPct val="95000"/>
              </a:lnSpc>
              <a:spcAft>
                <a:spcPts val="400"/>
              </a:spcAft>
            </a:pPr>
            <a:r>
              <a:rPr lang="en-GB" dirty="0">
                <a:solidFill>
                  <a:schemeClr val="tx2"/>
                </a:solidFill>
              </a:rPr>
              <a:t>Refund provision</a:t>
            </a:r>
          </a:p>
          <a:p>
            <a:pPr>
              <a:lnSpc>
                <a:spcPct val="95000"/>
              </a:lnSpc>
              <a:spcAft>
                <a:spcPts val="400"/>
              </a:spcAft>
            </a:pPr>
            <a:r>
              <a:rPr lang="en-GB" b="0" dirty="0">
                <a:solidFill>
                  <a:schemeClr val="tx1"/>
                </a:solidFill>
              </a:rPr>
              <a:t>Management calculates a returns provision at month end, on the assumption that approximately 40% of sales are returned (although this varies slightly on a monthly basis), with approximately 20% of returns occurring in month. </a:t>
            </a:r>
          </a:p>
          <a:p>
            <a:pPr marL="315450" lvl="3" indent="-171450">
              <a:lnSpc>
                <a:spcPct val="95000"/>
              </a:lnSpc>
              <a:spcAft>
                <a:spcPts val="400"/>
              </a:spcAft>
              <a:buClr>
                <a:srgbClr val="00338D"/>
              </a:buClr>
              <a:buFont typeface="Arial" panose="020B0604020202020204" pitchFamily="34" charset="0"/>
              <a:buChar char="̶"/>
            </a:pPr>
            <a:r>
              <a:rPr lang="en-GB" b="0" dirty="0">
                <a:solidFill>
                  <a:schemeClr val="tx1"/>
                </a:solidFill>
              </a:rPr>
              <a:t>The provision is calculated as the difference between budgeted returns and returns received into the warehouse relating to sales in that month. </a:t>
            </a:r>
          </a:p>
          <a:p>
            <a:pPr marL="315450" lvl="3" indent="-171450">
              <a:lnSpc>
                <a:spcPct val="95000"/>
              </a:lnSpc>
              <a:spcAft>
                <a:spcPts val="400"/>
              </a:spcAft>
              <a:buClr>
                <a:srgbClr val="00338D"/>
              </a:buClr>
              <a:buFont typeface="Arial" panose="020B0604020202020204" pitchFamily="34" charset="0"/>
              <a:buChar char="̶"/>
            </a:pPr>
            <a:r>
              <a:rPr lang="en-GB" b="0" dirty="0">
                <a:solidFill>
                  <a:schemeClr val="tx1"/>
                </a:solidFill>
              </a:rPr>
              <a:t>A provision is also made for the cost of sales, based on the margin achieved in the month. </a:t>
            </a:r>
          </a:p>
          <a:p>
            <a:pPr>
              <a:lnSpc>
                <a:spcPct val="95000"/>
              </a:lnSpc>
              <a:spcAft>
                <a:spcPts val="400"/>
              </a:spcAft>
            </a:pPr>
            <a:r>
              <a:rPr lang="en-GB" b="0" dirty="0">
                <a:solidFill>
                  <a:schemeClr val="tx1"/>
                </a:solidFill>
              </a:rPr>
              <a:t>The provision for the previous month is typically released (as the returns policy is 28 days) but, in the case of an overprovision, Management review whether to retain some of the provision in the event that there are delays to some returns.</a:t>
            </a:r>
          </a:p>
          <a:p>
            <a:pPr>
              <a:lnSpc>
                <a:spcPct val="95000"/>
              </a:lnSpc>
              <a:spcAft>
                <a:spcPts val="400"/>
              </a:spcAft>
            </a:pPr>
            <a:r>
              <a:rPr lang="en-GB" b="0" dirty="0">
                <a:solidFill>
                  <a:schemeClr val="tx1"/>
                </a:solidFill>
              </a:rPr>
              <a:t>A £0.2 million net post-closing adjustment was posted as part of the statutory accounts process for January 2021 due to materially lower than expected returns caused by the lockdown period (38.2% versus 43.5% for </a:t>
            </a:r>
            <a:r>
              <a:rPr lang="en-GB" b="0" dirty="0" err="1">
                <a:solidFill>
                  <a:schemeClr val="tx1"/>
                </a:solidFill>
              </a:rPr>
              <a:t>yy</a:t>
            </a:r>
            <a:r>
              <a:rPr lang="en-GB" b="0" dirty="0">
                <a:solidFill>
                  <a:schemeClr val="tx1"/>
                </a:solidFill>
              </a:rPr>
              <a:t> sales). We have posted this as part of quality of earnings, but note that this would not impact the LTM22 period as the overprovision would have been released post January 2021, and recalculated every subsequent month.</a:t>
            </a:r>
          </a:p>
          <a:p>
            <a:endParaRPr lang="en-GB" dirty="0"/>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10"/>
          </p:nvPr>
        </p:nvSpPr>
        <p:spPr>
          <a:xfrm>
            <a:off x="970211" y="1180094"/>
            <a:ext cx="10195200" cy="460800"/>
          </a:xfrm>
        </p:spPr>
        <p:txBody>
          <a:bodyPr/>
          <a:lstStyle/>
          <a:p>
            <a:r>
              <a:rPr lang="en-GB" dirty="0"/>
              <a:t>The balance largely relates to the VAT liability and the refund provision. Y deferred the VAT payment for the quarter ended February 2020 (£0.2 million) under the government’s Covid-19 scheme to March 2021. We have adjusted for this within our net working capital analysis. The refund provision is calculated on the basis of budgeted returns compared with actual returns received into the warehouse relating to sales in that month. A provision is also made to the cost of sales balance to reflect expected returns. We have reflected a £0.2 million post-closing adjustment in FY21 due to materially lower than expected returns in January 2021 caused by the Covid-19 lockdown.</a:t>
            </a:r>
            <a:endParaRPr lang="en-GB" dirty="0">
              <a:solidFill>
                <a:srgbClr val="FF0000"/>
              </a:solidFill>
            </a:endParaRPr>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9" name="Text Box 8">
            <a:extLst>
              <a:ext uri="{FF2B5EF4-FFF2-40B4-BE49-F238E27FC236}">
                <a16:creationId xmlns:a16="http://schemas.microsoft.com/office/drawing/2014/main" id="{48ADF81B-9EFE-4344-A69E-96F568492732}"/>
              </a:ext>
            </a:extLst>
          </p:cNvPr>
          <p:cNvSpPr txBox="1">
            <a:spLocks noChangeArrowheads="1"/>
          </p:cNvSpPr>
          <p:nvPr>
            <p:custDataLst>
              <p:tags r:id="rId3"/>
            </p:custDataLst>
          </p:nvPr>
        </p:nvSpPr>
        <p:spPr bwMode="auto">
          <a:xfrm>
            <a:off x="970211" y="3529684"/>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P-L January 2019, P-L January 2020, P-L January 2021, P-L September 2021 	</a:t>
            </a:r>
          </a:p>
        </p:txBody>
      </p:sp>
      <p:pic>
        <p:nvPicPr>
          <p:cNvPr id="8" name="Picture 7">
            <a:extLst>
              <a:ext uri="{FF2B5EF4-FFF2-40B4-BE49-F238E27FC236}">
                <a16:creationId xmlns:a16="http://schemas.microsoft.com/office/drawing/2014/main" id="{04138B4E-318E-4D10-A73E-BB066A39572E}"/>
              </a:ext>
            </a:extLst>
          </p:cNvPr>
          <p:cNvPicPr>
            <a:picLocks noChangeAspect="1"/>
          </p:cNvPicPr>
          <p:nvPr>
            <p:custDataLst>
              <p:tags r:id="rId4"/>
            </p:custDataLst>
          </p:nvPr>
        </p:nvPicPr>
        <p:blipFill>
          <a:blip r:embed="rId10"/>
          <a:stretch>
            <a:fillRect/>
          </a:stretch>
        </p:blipFill>
        <p:spPr>
          <a:xfrm>
            <a:off x="995361" y="1912839"/>
            <a:ext cx="3689350" cy="1652285"/>
          </a:xfrm>
          <a:prstGeom prst="rect">
            <a:avLst/>
          </a:prstGeom>
        </p:spPr>
      </p:pic>
      <p:sp>
        <p:nvSpPr>
          <p:cNvPr id="2" name="UpSlide SubSection Marker" hidden="1">
            <a:extLst>
              <a:ext uri="{FF2B5EF4-FFF2-40B4-BE49-F238E27FC236}">
                <a16:creationId xmlns:a16="http://schemas.microsoft.com/office/drawing/2014/main" id="{0BA83B1B-AAF6-45EA-8914-95E609D93540}"/>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Accruals and other creditors</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6"/>
            </p:custDataLst>
          </p:nvPr>
        </p:nvGrpSpPr>
        <p:grpSpPr>
          <a:xfrm>
            <a:off x="995364" y="153170"/>
            <a:ext cx="6211576" cy="195814"/>
            <a:chOff x="995364" y="153170"/>
            <a:chExt cx="6211576"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840817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Accruals and other creditors (2/5)</a:t>
            </a:r>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25"/>
          </p:nvPr>
        </p:nvSpPr>
        <p:spPr/>
        <p:txBody>
          <a:bodyPr/>
          <a:lstStyle/>
          <a:p>
            <a:r>
              <a:rPr lang="en-GB" dirty="0"/>
              <a:t>Accruals and other creditors (continued)</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26"/>
          </p:nvPr>
        </p:nvSpPr>
        <p:spPr/>
        <p:txBody>
          <a:bodyPr/>
          <a:lstStyle/>
          <a:p>
            <a:pPr>
              <a:lnSpc>
                <a:spcPct val="95000"/>
              </a:lnSpc>
              <a:spcAft>
                <a:spcPts val="400"/>
              </a:spcAft>
            </a:pPr>
            <a:r>
              <a:rPr lang="en-GB" dirty="0">
                <a:solidFill>
                  <a:srgbClr val="00338D"/>
                </a:solidFill>
              </a:rPr>
              <a:t>Taxation</a:t>
            </a:r>
          </a:p>
          <a:p>
            <a:pPr>
              <a:lnSpc>
                <a:spcPct val="95000"/>
              </a:lnSpc>
              <a:spcAft>
                <a:spcPts val="400"/>
              </a:spcAft>
            </a:pPr>
            <a:r>
              <a:rPr lang="en-GB" b="0" dirty="0">
                <a:solidFill>
                  <a:schemeClr val="tx1"/>
                </a:solidFill>
              </a:rPr>
              <a:t>The taxation accrual is the PAYE and NI liability relating to the current month that will be paid in the following month.</a:t>
            </a:r>
            <a:endParaRPr lang="en-GB" b="0" dirty="0">
              <a:solidFill>
                <a:schemeClr val="tx2"/>
              </a:solidFill>
            </a:endParaRPr>
          </a:p>
          <a:p>
            <a:pPr>
              <a:lnSpc>
                <a:spcPct val="95000"/>
              </a:lnSpc>
              <a:spcAft>
                <a:spcPts val="400"/>
              </a:spcAft>
            </a:pPr>
            <a:r>
              <a:rPr lang="en-GB" dirty="0">
                <a:solidFill>
                  <a:schemeClr val="tx2"/>
                </a:solidFill>
              </a:rPr>
              <a:t>Gift card liability</a:t>
            </a:r>
          </a:p>
          <a:p>
            <a:pPr>
              <a:lnSpc>
                <a:spcPct val="95000"/>
              </a:lnSpc>
              <a:spcAft>
                <a:spcPts val="400"/>
              </a:spcAft>
            </a:pPr>
            <a:r>
              <a:rPr lang="en-GB" b="0" dirty="0">
                <a:solidFill>
                  <a:schemeClr val="tx1"/>
                </a:solidFill>
              </a:rPr>
              <a:t>Gift cards are recorded as deferred income at the time of sale, with an unwind of the liability when the gift card is redeemed. VAT is accounted for on redemption. Gift cards have a one year expiry, after which the deferred revenue is released to the P&amp;L, albeit we understand there has been no instances of gift cards expiring historically.</a:t>
            </a:r>
          </a:p>
          <a:p>
            <a:pPr>
              <a:lnSpc>
                <a:spcPct val="95000"/>
              </a:lnSpc>
              <a:spcAft>
                <a:spcPts val="400"/>
              </a:spcAft>
            </a:pPr>
            <a:r>
              <a:rPr lang="en-GB" dirty="0">
                <a:solidFill>
                  <a:schemeClr val="tx2"/>
                </a:solidFill>
              </a:rPr>
              <a:t>Wages</a:t>
            </a:r>
          </a:p>
          <a:p>
            <a:pPr>
              <a:lnSpc>
                <a:spcPct val="95000"/>
              </a:lnSpc>
              <a:spcAft>
                <a:spcPts val="400"/>
              </a:spcAft>
            </a:pPr>
            <a:r>
              <a:rPr lang="en-GB" b="0" dirty="0">
                <a:solidFill>
                  <a:schemeClr val="tx1"/>
                </a:solidFill>
              </a:rPr>
              <a:t>The wage accrual predominantly relates to employee pensions, with employer pension payments made the following month. The accrual at January 2020 also included accrued wages for salaried employees as the payroll payment occurred post year end due to the 4-4-5 financial basis that Y uses. </a:t>
            </a:r>
            <a:endParaRPr lang="en-GB" sz="800" b="0" dirty="0">
              <a:solidFill>
                <a:schemeClr val="tx1"/>
              </a:solidFill>
            </a:endParaRP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3B064AB4-59F4-4AE3-B1D6-7D1D8D14132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Accruals and other creditors</a:t>
            </a:r>
            <a:endParaRPr lang="en-GB" sz="900" dirty="0">
              <a:solidFill>
                <a:schemeClr val="bg1"/>
              </a:solidFill>
            </a:endParaRPr>
          </a:p>
        </p:txBody>
      </p:sp>
      <p:grpSp>
        <p:nvGrpSpPr>
          <p:cNvPr id="29" name="Group 28">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3"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7113831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4AB72C-11A4-4CF5-AB2C-28A2F2A1A0FB}"/>
              </a:ext>
            </a:extLst>
          </p:cNvPr>
          <p:cNvPicPr>
            <a:picLocks noChangeAspect="1"/>
          </p:cNvPicPr>
          <p:nvPr>
            <p:custDataLst>
              <p:tags r:id="rId1"/>
            </p:custDataLst>
          </p:nvPr>
        </p:nvPicPr>
        <p:blipFill>
          <a:blip r:embed="rId8"/>
          <a:stretch>
            <a:fillRect/>
          </a:stretch>
        </p:blipFill>
        <p:spPr>
          <a:xfrm>
            <a:off x="995361" y="1912839"/>
            <a:ext cx="3689350" cy="2794359"/>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Accruals and other creditors (3/5)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Accruals</a:t>
            </a:r>
          </a:p>
        </p:txBody>
      </p:sp>
      <p:sp>
        <p:nvSpPr>
          <p:cNvPr id="5" name="Text Placeholder 4">
            <a:extLst>
              <a:ext uri="{FF2B5EF4-FFF2-40B4-BE49-F238E27FC236}">
                <a16:creationId xmlns:a16="http://schemas.microsoft.com/office/drawing/2014/main" id="{EFA3DC0E-A647-4AC4-A172-BFB517CFD1FB}"/>
              </a:ext>
            </a:extLst>
          </p:cNvPr>
          <p:cNvSpPr>
            <a:spLocks noGrp="1"/>
          </p:cNvSpPr>
          <p:nvPr>
            <p:ph type="body" sz="quarter" idx="26"/>
          </p:nvPr>
        </p:nvSpPr>
        <p:spPr>
          <a:xfrm>
            <a:off x="4815355" y="2235227"/>
            <a:ext cx="6375205" cy="3960009"/>
          </a:xfrm>
        </p:spPr>
        <p:txBody>
          <a:bodyPr/>
          <a:lstStyle/>
          <a:p>
            <a:pPr>
              <a:lnSpc>
                <a:spcPct val="95000"/>
              </a:lnSpc>
              <a:spcAft>
                <a:spcPts val="400"/>
              </a:spcAft>
            </a:pPr>
            <a:r>
              <a:rPr lang="en-GB" b="0" dirty="0"/>
              <a:t>Staff – </a:t>
            </a:r>
            <a:r>
              <a:rPr lang="en-GB" b="0" dirty="0">
                <a:solidFill>
                  <a:schemeClr val="tx1"/>
                </a:solidFill>
              </a:rPr>
              <a:t>The staff accrual predominantly relates to the bonus provision for head office staff. This is significantly higher at January 2021 and September 2021 as the Board agreed to increase the bonus based on Y’s performance. The accrual at September 2021 also includes a provision for freelance staff across a variety of departments that Management are intending to utilise in the outturn period. As the costs in LTM22 are therefore overstated, we have adjusted for this within underlying earnings and net working capital.</a:t>
            </a:r>
          </a:p>
          <a:p>
            <a:pPr>
              <a:lnSpc>
                <a:spcPct val="95000"/>
              </a:lnSpc>
              <a:spcAft>
                <a:spcPts val="400"/>
              </a:spcAft>
            </a:pPr>
            <a:r>
              <a:rPr lang="en-GB" b="0" dirty="0">
                <a:solidFill>
                  <a:schemeClr val="tx1"/>
                </a:solidFill>
              </a:rPr>
              <a:t>Head office employees received a 20% pay cut in March and April 2020 amidst the uncertainty surrounding the pandemic. However, as this was repaid in April 2021, we have made an adjustment to underlying earnings to reflect the cost in the period to which it relates.</a:t>
            </a:r>
          </a:p>
          <a:p>
            <a:pPr>
              <a:lnSpc>
                <a:spcPct val="95000"/>
              </a:lnSpc>
              <a:spcAft>
                <a:spcPts val="400"/>
              </a:spcAft>
            </a:pPr>
            <a:r>
              <a:rPr lang="en-GB" b="0" dirty="0"/>
              <a:t>Manual journals – </a:t>
            </a:r>
            <a:r>
              <a:rPr lang="en-GB" b="0" dirty="0">
                <a:solidFill>
                  <a:schemeClr val="tx1"/>
                </a:solidFill>
              </a:rPr>
              <a:t>Manual journals largely relate to accrued Social media A costs that are yet to be invoiced (£0.4 million at September 2021). The accrual at September 2021 also included a year end debit adjustment for the 20% head office pay cut in March and April 2020 that was repaid in April 2021. We have adjusted for the repayment within underlying earnings and net working capital to align the full salary costs in the year in which they were earned.</a:t>
            </a:r>
          </a:p>
          <a:p>
            <a:pPr>
              <a:lnSpc>
                <a:spcPct val="95000"/>
              </a:lnSpc>
              <a:spcAft>
                <a:spcPts val="400"/>
              </a:spcAft>
            </a:pPr>
            <a:r>
              <a:rPr lang="en-GB" b="0" dirty="0"/>
              <a:t>Occupancy – </a:t>
            </a:r>
            <a:r>
              <a:rPr lang="en-GB" b="0" dirty="0">
                <a:solidFill>
                  <a:schemeClr val="tx1"/>
                </a:solidFill>
              </a:rPr>
              <a:t>The occupancy accrual predominantly relates to the rent free accrual for all properties, including the head office. We have included the rent free accrual as an other consideration within our underlying earnings, net cash and net working capital analysis as the business has benefitted from the rental cash payments being lower than the P&amp;L charge historically. </a:t>
            </a:r>
          </a:p>
          <a:p>
            <a:pPr>
              <a:lnSpc>
                <a:spcPct val="95000"/>
              </a:lnSpc>
              <a:spcAft>
                <a:spcPts val="400"/>
              </a:spcAft>
            </a:pPr>
            <a:r>
              <a:rPr lang="en-GB" b="0" dirty="0"/>
              <a:t>Department store A – </a:t>
            </a:r>
            <a:r>
              <a:rPr lang="en-GB" b="0" dirty="0">
                <a:solidFill>
                  <a:schemeClr val="tx1"/>
                </a:solidFill>
              </a:rPr>
              <a:t>There is a £0.2 million minimum guarantee within the concession arrangement with Department store A </a:t>
            </a:r>
            <a:r>
              <a:rPr lang="en-GB" b="0" dirty="0" err="1">
                <a:solidFill>
                  <a:schemeClr val="tx1"/>
                </a:solidFill>
              </a:rPr>
              <a:t>yy</a:t>
            </a:r>
            <a:r>
              <a:rPr lang="en-GB" b="0" dirty="0">
                <a:solidFill>
                  <a:schemeClr val="tx1"/>
                </a:solidFill>
              </a:rPr>
              <a:t>, which was accrued for at January 2021. A further £0.1 million was accrued for H1 FY22 on a monthly basis (subsequently released in May 2021). The liabilities arose due to enforced stores closures amidst the Covid-19 pandemic. Management has not received any communication in relation to the guarantees; neither does it expect either balance to be paid. Management has started to release the FY21 provision evenly between August 2021 and January 2022. These balances have been adjusted as part of quality of earnings analysis and adjusted net working capital.</a:t>
            </a:r>
          </a:p>
          <a:p>
            <a:endParaRPr lang="en-GB" b="0" dirty="0">
              <a:solidFill>
                <a:schemeClr val="tx1"/>
              </a:solidFill>
            </a:endParaRPr>
          </a:p>
        </p:txBody>
      </p:sp>
      <p:sp>
        <p:nvSpPr>
          <p:cNvPr id="3" name="Text Placeholder 2">
            <a:extLst>
              <a:ext uri="{FF2B5EF4-FFF2-40B4-BE49-F238E27FC236}">
                <a16:creationId xmlns:a16="http://schemas.microsoft.com/office/drawing/2014/main" id="{982B17C3-D4E5-4C09-A293-66BC70785F83}"/>
              </a:ext>
            </a:extLst>
          </p:cNvPr>
          <p:cNvSpPr>
            <a:spLocks noGrp="1"/>
          </p:cNvSpPr>
          <p:nvPr>
            <p:ph type="body" sz="quarter" idx="10"/>
          </p:nvPr>
        </p:nvSpPr>
        <p:spPr>
          <a:xfrm>
            <a:off x="998400" y="1340768"/>
            <a:ext cx="10195200" cy="533399"/>
          </a:xfrm>
        </p:spPr>
        <p:txBody>
          <a:bodyPr/>
          <a:lstStyle/>
          <a:p>
            <a:r>
              <a:rPr lang="en-GB" dirty="0"/>
              <a:t>The accruals balances relating to Department store A minimum guarantee have been adjusted as part of the underlying earnings and net working capital analysis, although we note a potential cash risk should these amounts be enforced. We have also made an adjustment to underlying earnings to reflect the cost of the repaid salary costs to the period which it relates.</a:t>
            </a:r>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9" name="Text Box 8">
            <a:extLst>
              <a:ext uri="{FF2B5EF4-FFF2-40B4-BE49-F238E27FC236}">
                <a16:creationId xmlns:a16="http://schemas.microsoft.com/office/drawing/2014/main" id="{48ADF81B-9EFE-4344-A69E-96F568492732}"/>
              </a:ext>
            </a:extLst>
          </p:cNvPr>
          <p:cNvSpPr txBox="1">
            <a:spLocks noChangeArrowheads="1"/>
          </p:cNvSpPr>
          <p:nvPr>
            <p:custDataLst>
              <p:tags r:id="rId4"/>
            </p:custDataLst>
          </p:nvPr>
        </p:nvSpPr>
        <p:spPr bwMode="auto">
          <a:xfrm>
            <a:off x="1003312" y="4672803"/>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accruals Breakdown FYE Jan 2019 2020 2021; Accruals Breakdown YTD Sept 2021</a:t>
            </a:r>
          </a:p>
        </p:txBody>
      </p:sp>
      <p:sp>
        <p:nvSpPr>
          <p:cNvPr id="7" name="UpSlide SubSection Marker" hidden="1">
            <a:extLst>
              <a:ext uri="{FF2B5EF4-FFF2-40B4-BE49-F238E27FC236}">
                <a16:creationId xmlns:a16="http://schemas.microsoft.com/office/drawing/2014/main" id="{6BE04926-02C2-4FBA-8A66-02E96BF1D483}"/>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Accruals and other creditors</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6"/>
            </p:custDataLst>
          </p:nvPr>
        </p:nvGrpSpPr>
        <p:grpSpPr>
          <a:xfrm>
            <a:off x="995364" y="153170"/>
            <a:ext cx="6211576" cy="195814"/>
            <a:chOff x="995364" y="153170"/>
            <a:chExt cx="6211576"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204900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Accruals and other creditors (4/5)</a:t>
            </a:r>
          </a:p>
        </p:txBody>
      </p:sp>
      <p:sp>
        <p:nvSpPr>
          <p:cNvPr id="4" name="Text Placeholder 3">
            <a:extLst>
              <a:ext uri="{FF2B5EF4-FFF2-40B4-BE49-F238E27FC236}">
                <a16:creationId xmlns:a16="http://schemas.microsoft.com/office/drawing/2014/main" id="{E1E96F7A-25FE-49EA-830E-2B0C7D490E21}"/>
              </a:ext>
            </a:extLst>
          </p:cNvPr>
          <p:cNvSpPr>
            <a:spLocks noGrp="1"/>
          </p:cNvSpPr>
          <p:nvPr>
            <p:ph type="body" sz="quarter" idx="11"/>
          </p:nvPr>
        </p:nvSpPr>
        <p:spPr/>
        <p:txBody>
          <a:bodyPr/>
          <a:lstStyle/>
          <a:p>
            <a:r>
              <a:rPr lang="en-GB" dirty="0"/>
              <a:t>Accruals (continued)</a:t>
            </a:r>
          </a:p>
        </p:txBody>
      </p:sp>
      <p:sp>
        <p:nvSpPr>
          <p:cNvPr id="5" name="Text Placeholder 4">
            <a:extLst>
              <a:ext uri="{FF2B5EF4-FFF2-40B4-BE49-F238E27FC236}">
                <a16:creationId xmlns:a16="http://schemas.microsoft.com/office/drawing/2014/main" id="{CA895194-2EBB-48A8-8543-583F3195BF89}"/>
              </a:ext>
            </a:extLst>
          </p:cNvPr>
          <p:cNvSpPr>
            <a:spLocks noGrp="1"/>
          </p:cNvSpPr>
          <p:nvPr>
            <p:ph type="body" sz="quarter" idx="25"/>
          </p:nvPr>
        </p:nvSpPr>
        <p:spPr/>
        <p:txBody>
          <a:bodyPr/>
          <a:lstStyle/>
          <a:p>
            <a:r>
              <a:rPr lang="en-GB" dirty="0"/>
              <a:t>Accruals (continued)</a:t>
            </a:r>
          </a:p>
        </p:txBody>
      </p:sp>
      <p:sp>
        <p:nvSpPr>
          <p:cNvPr id="2" name="Text Placeholder 1">
            <a:extLst>
              <a:ext uri="{FF2B5EF4-FFF2-40B4-BE49-F238E27FC236}">
                <a16:creationId xmlns:a16="http://schemas.microsoft.com/office/drawing/2014/main" id="{C7C3768C-9158-4304-8CE0-D5FEC93C9A23}"/>
              </a:ext>
            </a:extLst>
          </p:cNvPr>
          <p:cNvSpPr>
            <a:spLocks noGrp="1"/>
          </p:cNvSpPr>
          <p:nvPr>
            <p:ph type="body" sz="quarter" idx="24"/>
          </p:nvPr>
        </p:nvSpPr>
        <p:spPr/>
        <p:txBody>
          <a:bodyPr/>
          <a:lstStyle/>
          <a:p>
            <a:r>
              <a:rPr lang="en-GB" b="0" dirty="0">
                <a:solidFill>
                  <a:schemeClr val="tx2"/>
                </a:solidFill>
              </a:rPr>
              <a:t>IT – </a:t>
            </a:r>
            <a:r>
              <a:rPr lang="en-GB" b="0" dirty="0">
                <a:solidFill>
                  <a:schemeClr val="tx1"/>
                </a:solidFill>
              </a:rPr>
              <a:t>The IT accrual predominantly relates to Magento licence costs that are paid on an annual basis. As the number of transactions increased across the historical period, the business was due to pay a higher scale rate for the licence cost, which was accrued for at year end. However, Magento have continued to invoice at the initial licence cost. Management have forecast a partial release of this accrual on the basis that the licence has since been renewed at the lower rate. We have adjusted for this over-accrual within underlying earnings and net working capital to reflect actual costs incurred. </a:t>
            </a:r>
            <a:endParaRPr lang="en-GB" b="0" dirty="0">
              <a:solidFill>
                <a:srgbClr val="FF0000"/>
              </a:solidFill>
            </a:endParaRPr>
          </a:p>
          <a:p>
            <a:pPr>
              <a:lnSpc>
                <a:spcPct val="95000"/>
              </a:lnSpc>
              <a:spcAft>
                <a:spcPts val="400"/>
              </a:spcAft>
            </a:pPr>
            <a:r>
              <a:rPr lang="en-GB" b="0" dirty="0">
                <a:solidFill>
                  <a:schemeClr val="tx2"/>
                </a:solidFill>
              </a:rPr>
              <a:t>Logistics – </a:t>
            </a:r>
            <a:r>
              <a:rPr lang="en-GB" b="0" dirty="0">
                <a:solidFill>
                  <a:schemeClr val="tx1"/>
                </a:solidFill>
              </a:rPr>
              <a:t>The logistics accrual at September 2021 consists of a provision relating to potential postage refunds (for when the full online order is returned), and a provision for delayed </a:t>
            </a:r>
            <a:r>
              <a:rPr lang="en-GB" b="0" dirty="0" err="1">
                <a:solidFill>
                  <a:schemeClr val="tx1"/>
                </a:solidFill>
              </a:rPr>
              <a:t>yy</a:t>
            </a:r>
            <a:r>
              <a:rPr lang="en-GB" b="0" dirty="0">
                <a:solidFill>
                  <a:schemeClr val="tx1"/>
                </a:solidFill>
              </a:rPr>
              <a:t> customs duty invoices.</a:t>
            </a:r>
          </a:p>
          <a:p>
            <a:pPr>
              <a:lnSpc>
                <a:spcPct val="95000"/>
              </a:lnSpc>
              <a:spcAft>
                <a:spcPts val="400"/>
              </a:spcAft>
            </a:pPr>
            <a:endParaRPr lang="en-GB" sz="200" b="0" dirty="0">
              <a:solidFill>
                <a:schemeClr val="tx1"/>
              </a:solidFill>
            </a:endParaRPr>
          </a:p>
          <a:p>
            <a:pPr>
              <a:lnSpc>
                <a:spcPct val="95000"/>
              </a:lnSpc>
              <a:spcAft>
                <a:spcPts val="400"/>
              </a:spcAft>
            </a:pPr>
            <a:r>
              <a:rPr lang="en-GB" b="0" dirty="0">
                <a:solidFill>
                  <a:schemeClr val="tx2"/>
                </a:solidFill>
              </a:rPr>
              <a:t>Marketing – </a:t>
            </a:r>
            <a:r>
              <a:rPr lang="en-GB" b="0" dirty="0">
                <a:solidFill>
                  <a:schemeClr val="tx1"/>
                </a:solidFill>
              </a:rPr>
              <a:t>The marketing accrual predominantly relates to a provision for potential additional shoot days for campaigns that have not occurred, and so the provision has been released in the forecast. We have therefore adjusted for this provision within underlying earnings and net working capital to reflect actual costs incurred. </a:t>
            </a:r>
            <a:endParaRPr lang="en-GB" b="0" dirty="0">
              <a:solidFill>
                <a:srgbClr val="FF0000"/>
              </a:solidFill>
            </a:endParaRPr>
          </a:p>
          <a:p>
            <a:pPr>
              <a:lnSpc>
                <a:spcPct val="95000"/>
              </a:lnSpc>
              <a:spcAft>
                <a:spcPts val="400"/>
              </a:spcAft>
            </a:pPr>
            <a:r>
              <a:rPr lang="en-GB" b="0" dirty="0">
                <a:solidFill>
                  <a:schemeClr val="tx2"/>
                </a:solidFill>
              </a:rPr>
              <a:t>Samples – </a:t>
            </a:r>
            <a:r>
              <a:rPr lang="en-GB" b="0" dirty="0">
                <a:solidFill>
                  <a:schemeClr val="tx1"/>
                </a:solidFill>
              </a:rPr>
              <a:t>The samples accrual relates to shipment samples and potential fabric liabilities for invoices which were received post year end. </a:t>
            </a:r>
          </a:p>
          <a:p>
            <a:pPr>
              <a:lnSpc>
                <a:spcPct val="95000"/>
              </a:lnSpc>
              <a:spcAft>
                <a:spcPts val="400"/>
              </a:spcAft>
            </a:pPr>
            <a:r>
              <a:rPr lang="en-GB" b="0" dirty="0">
                <a:solidFill>
                  <a:schemeClr val="tx2"/>
                </a:solidFill>
              </a:rPr>
              <a:t>Other – </a:t>
            </a:r>
            <a:r>
              <a:rPr lang="en-GB" b="0" dirty="0">
                <a:solidFill>
                  <a:schemeClr val="tx1"/>
                </a:solidFill>
              </a:rPr>
              <a:t>This accrual predominantly relates to a provision for recruitment costs, relating to the hire of various roles such as advisors and managers. </a:t>
            </a:r>
          </a:p>
          <a:p>
            <a:pPr>
              <a:lnSpc>
                <a:spcPct val="95000"/>
              </a:lnSpc>
              <a:spcAft>
                <a:spcPts val="400"/>
              </a:spcAft>
            </a:pPr>
            <a:r>
              <a:rPr lang="en-GB" b="0" dirty="0">
                <a:solidFill>
                  <a:schemeClr val="tx2"/>
                </a:solidFill>
              </a:rPr>
              <a:t>Exceptional costs – </a:t>
            </a:r>
            <a:r>
              <a:rPr lang="en-GB" b="0" dirty="0">
                <a:solidFill>
                  <a:schemeClr val="tx1"/>
                </a:solidFill>
              </a:rPr>
              <a:t>Relates to costs associated with the warehouse move and recognised below EBITDA. As this balance relates to restructuring pre-completion, we consider this to be debt-like in nature. </a:t>
            </a:r>
          </a:p>
          <a:p>
            <a:endParaRPr lang="en-GB" dirty="0"/>
          </a:p>
        </p:txBody>
      </p:sp>
      <p:sp>
        <p:nvSpPr>
          <p:cNvPr id="7" name="Text Placeholder 6">
            <a:extLst>
              <a:ext uri="{FF2B5EF4-FFF2-40B4-BE49-F238E27FC236}">
                <a16:creationId xmlns:a16="http://schemas.microsoft.com/office/drawing/2014/main" id="{DFBA0676-CF79-4039-A50B-41A426DA025C}"/>
              </a:ext>
            </a:extLst>
          </p:cNvPr>
          <p:cNvSpPr>
            <a:spLocks noGrp="1"/>
          </p:cNvSpPr>
          <p:nvPr>
            <p:ph type="body" sz="quarter" idx="26"/>
          </p:nvPr>
        </p:nvSpPr>
        <p:spPr/>
        <p:txBody>
          <a:bodyPr/>
          <a:lstStyle/>
          <a:p>
            <a:r>
              <a:rPr lang="en-GB" b="0" dirty="0">
                <a:solidFill>
                  <a:schemeClr val="tx2"/>
                </a:solidFill>
              </a:rPr>
              <a:t>Department store A (continued) </a:t>
            </a:r>
            <a:r>
              <a:rPr lang="en-GB" dirty="0">
                <a:solidFill>
                  <a:schemeClr val="tx2"/>
                </a:solidFill>
              </a:rPr>
              <a:t>- </a:t>
            </a:r>
            <a:r>
              <a:rPr lang="en-GB" b="0" dirty="0">
                <a:solidFill>
                  <a:schemeClr val="tx1"/>
                </a:solidFill>
              </a:rPr>
              <a:t>We note that Management has continued to provide for the H2 FY22 period where the concessions reopened but continue to be impacted by reduced tourist numbers. We concur with the adjustments made but potential purchasers may wish to consider the potential risk / upside in relationship to these guarantees. </a:t>
            </a:r>
          </a:p>
          <a:p>
            <a:pPr>
              <a:lnSpc>
                <a:spcPct val="95000"/>
              </a:lnSpc>
              <a:spcAft>
                <a:spcPts val="400"/>
              </a:spcAft>
            </a:pPr>
            <a:r>
              <a:rPr lang="en-GB" b="0" dirty="0">
                <a:solidFill>
                  <a:schemeClr val="tx2"/>
                </a:solidFill>
              </a:rPr>
              <a:t>Packaging – </a:t>
            </a:r>
            <a:r>
              <a:rPr lang="en-GB" b="0" dirty="0">
                <a:solidFill>
                  <a:schemeClr val="tx1"/>
                </a:solidFill>
              </a:rPr>
              <a:t>A bulk order for packaging was made in December 2020 and January 2021 in order to benefit from reduced unit prices but the invoice was not received until after year end. The provisions have been released between August 2021 and January 2022. We have not sought to adjust for this balance as Management state that they intend to use the same methodology to purchase packaging for the FY23 financial year.</a:t>
            </a:r>
          </a:p>
          <a:p>
            <a:pPr>
              <a:lnSpc>
                <a:spcPct val="95000"/>
              </a:lnSpc>
              <a:spcAft>
                <a:spcPts val="400"/>
              </a:spcAft>
            </a:pPr>
            <a:r>
              <a:rPr lang="en-GB" b="0" dirty="0">
                <a:solidFill>
                  <a:schemeClr val="tx2"/>
                </a:solidFill>
              </a:rPr>
              <a:t>Professional fees – </a:t>
            </a:r>
            <a:r>
              <a:rPr lang="en-GB" b="0" dirty="0">
                <a:solidFill>
                  <a:schemeClr val="tx1"/>
                </a:solidFill>
              </a:rPr>
              <a:t>Professional fees relate to both audit costs (including a contingency for overruns reacting to the previous audit, despite this not having been notified by the auditors and the monthly accrual for the audit relating to the current year) and legal costs (relating to trademarks in various countries). Management has commented that the legal fees accrual has been released in the forecast as the legal fees have been capitalised. We have therefore adjusted for the legal fees accrual in underlying earnings and net working capital to reflect the capitalisation of these costs.</a:t>
            </a:r>
          </a:p>
          <a:p>
            <a:pPr>
              <a:lnSpc>
                <a:spcPct val="95000"/>
              </a:lnSpc>
              <a:spcAft>
                <a:spcPts val="400"/>
              </a:spcAft>
            </a:pPr>
            <a:r>
              <a:rPr lang="en-GB" b="0" dirty="0">
                <a:solidFill>
                  <a:schemeClr val="tx2"/>
                </a:solidFill>
              </a:rPr>
              <a:t>Finance charges – </a:t>
            </a:r>
            <a:r>
              <a:rPr lang="en-GB" b="0" dirty="0">
                <a:solidFill>
                  <a:schemeClr val="tx1"/>
                </a:solidFill>
              </a:rPr>
              <a:t>The finance charges accrual relates to merchant fees incurred on in-month sales. The increase to £114,000 at September 2021 relates to the ramp-up in trading and timing of month end date (see appendix 23 for a list of month-end dates.). </a:t>
            </a: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7" name="Text Placeholder 2">
            <a:extLst>
              <a:ext uri="{FF2B5EF4-FFF2-40B4-BE49-F238E27FC236}">
                <a16:creationId xmlns:a16="http://schemas.microsoft.com/office/drawing/2014/main" id="{A19BD949-4A57-402C-8E9C-31AEF8B6EBFD}"/>
              </a:ext>
            </a:extLst>
          </p:cNvPr>
          <p:cNvSpPr>
            <a:spLocks noGrp="1"/>
          </p:cNvSpPr>
          <p:nvPr>
            <p:ph type="body" sz="quarter" idx="10"/>
          </p:nvPr>
        </p:nvSpPr>
        <p:spPr>
          <a:xfrm>
            <a:off x="998400" y="1284064"/>
            <a:ext cx="10195200" cy="533399"/>
          </a:xfrm>
        </p:spPr>
        <p:txBody>
          <a:bodyPr/>
          <a:lstStyle/>
          <a:p>
            <a:r>
              <a:rPr lang="en-GB" dirty="0"/>
              <a:t>Management has made a number of provisions at September 2021 that have subsequently been released within the forecast, largely relating to packaging, IT licence costs, freelance staff and photoshoot costs. We have adjusted for these over-accruals in underlying earnings and net working capital to reflect the actual costs incurred. An accrual was made at January 2021 for legal fees incurred relating to trademarks. As Management have capitalised these costs, and assume a full unwind in the forecast, we have made an adjustment to remove these costs from underlying earnings and net working capital.</a:t>
            </a:r>
          </a:p>
        </p:txBody>
      </p:sp>
      <p:sp>
        <p:nvSpPr>
          <p:cNvPr id="3" name="UpSlide SubSection Marker" hidden="1">
            <a:extLst>
              <a:ext uri="{FF2B5EF4-FFF2-40B4-BE49-F238E27FC236}">
                <a16:creationId xmlns:a16="http://schemas.microsoft.com/office/drawing/2014/main" id="{6717A72D-F226-4C9B-95C8-11A6EF66774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Accruals and other creditors</a:t>
            </a:r>
            <a:endParaRPr lang="en-GB" sz="900" dirty="0">
              <a:solidFill>
                <a:schemeClr val="bg1"/>
              </a:solidFill>
            </a:endParaRPr>
          </a:p>
        </p:txBody>
      </p:sp>
      <p:grpSp>
        <p:nvGrpSpPr>
          <p:cNvPr id="32" name="Group 31">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8324318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Accruals and other creditors (5/5)</a:t>
            </a:r>
          </a:p>
        </p:txBody>
      </p:sp>
      <p:sp>
        <p:nvSpPr>
          <p:cNvPr id="5" name="Text Placeholder 4">
            <a:extLst>
              <a:ext uri="{FF2B5EF4-FFF2-40B4-BE49-F238E27FC236}">
                <a16:creationId xmlns:a16="http://schemas.microsoft.com/office/drawing/2014/main" id="{CA895194-2EBB-48A8-8543-583F3195BF89}"/>
              </a:ext>
            </a:extLst>
          </p:cNvPr>
          <p:cNvSpPr>
            <a:spLocks noGrp="1"/>
          </p:cNvSpPr>
          <p:nvPr>
            <p:ph type="body" sz="quarter" idx="25"/>
          </p:nvPr>
        </p:nvSpPr>
        <p:spPr/>
        <p:txBody>
          <a:bodyPr/>
          <a:lstStyle/>
          <a:p>
            <a:r>
              <a:rPr lang="en-GB" dirty="0"/>
              <a:t>Accruals (continued)</a:t>
            </a:r>
          </a:p>
        </p:txBody>
      </p:sp>
      <p:sp>
        <p:nvSpPr>
          <p:cNvPr id="7" name="Text Placeholder 6">
            <a:extLst>
              <a:ext uri="{FF2B5EF4-FFF2-40B4-BE49-F238E27FC236}">
                <a16:creationId xmlns:a16="http://schemas.microsoft.com/office/drawing/2014/main" id="{DFBA0676-CF79-4039-A50B-41A426DA025C}"/>
              </a:ext>
            </a:extLst>
          </p:cNvPr>
          <p:cNvSpPr>
            <a:spLocks noGrp="1"/>
          </p:cNvSpPr>
          <p:nvPr>
            <p:ph type="body" sz="quarter" idx="26"/>
          </p:nvPr>
        </p:nvSpPr>
        <p:spPr/>
        <p:txBody>
          <a:bodyPr/>
          <a:lstStyle/>
          <a:p>
            <a:pPr>
              <a:lnSpc>
                <a:spcPct val="95000"/>
              </a:lnSpc>
              <a:spcAft>
                <a:spcPts val="400"/>
              </a:spcAft>
            </a:pPr>
            <a:r>
              <a:rPr lang="en-GB" b="0" dirty="0" err="1">
                <a:solidFill>
                  <a:schemeClr val="tx2"/>
                </a:solidFill>
              </a:rPr>
              <a:t>yy</a:t>
            </a:r>
            <a:r>
              <a:rPr lang="en-GB" b="0" dirty="0">
                <a:solidFill>
                  <a:schemeClr val="tx2"/>
                </a:solidFill>
              </a:rPr>
              <a:t> – </a:t>
            </a:r>
            <a:r>
              <a:rPr lang="en-GB" b="0" dirty="0">
                <a:solidFill>
                  <a:schemeClr val="tx1"/>
                </a:solidFill>
              </a:rPr>
              <a:t>This accrual relates to the costs incurred for a video shoot relating to a crowdfunding raise in January 2018. The accrual was released in FY20 as Management had not received the invoice. This has no impact on underlying earnings as the initial entry and release were posted against the Share Premium account as it was considered to be part of the cost of fundraising and issuing of new shares. We have removed this from net working capital on the basis that the cost is not operating in nature.</a:t>
            </a:r>
          </a:p>
          <a:p>
            <a:pPr>
              <a:lnSpc>
                <a:spcPct val="95000"/>
              </a:lnSpc>
              <a:spcAft>
                <a:spcPts val="400"/>
              </a:spcAft>
            </a:pPr>
            <a:r>
              <a:rPr lang="en-GB" b="0" dirty="0">
                <a:solidFill>
                  <a:schemeClr val="tx2"/>
                </a:solidFill>
              </a:rPr>
              <a:t>Boutique G – </a:t>
            </a:r>
            <a:r>
              <a:rPr lang="en-GB" b="0" dirty="0">
                <a:solidFill>
                  <a:schemeClr val="tx1"/>
                </a:solidFill>
              </a:rPr>
              <a:t>This accrual relates to redundancy costs and store closure costs relating to the closure of the Boutique G boutique. Actual costs incurred were lower than the amount accrued, resulting in a partial release of the provision in YTD22. We have adjusted for this within underlying earnings and net working capital to reflect actual costs incurred. </a:t>
            </a:r>
            <a:endParaRPr lang="en-GB" sz="800" b="0" dirty="0">
              <a:solidFill>
                <a:schemeClr val="tx1"/>
              </a:solidFill>
            </a:endParaRPr>
          </a:p>
          <a:p>
            <a:endParaRPr lang="en-GB" dirty="0"/>
          </a:p>
        </p:txBody>
      </p:sp>
      <p:sp>
        <p:nvSpPr>
          <p:cNvPr id="9" name="Text Placeholder 7">
            <a:extLst>
              <a:ext uri="{FF2B5EF4-FFF2-40B4-BE49-F238E27FC236}">
                <a16:creationId xmlns:a16="http://schemas.microsoft.com/office/drawing/2014/main" id="{FEDFEDAF-61D7-56E0-A9B6-3B31E91AD2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6A55659A-26F5-1070-CC26-69C78190AE60}"/>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E241BC9B-DBC8-BBA3-4BE8-51488C1AD74D}"/>
              </a:ext>
            </a:extLst>
          </p:cNvPr>
          <p:cNvSpPr/>
          <p:nvPr>
            <p:custDataLst>
              <p:tags r:id="rId2"/>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D45E5DC4-9E52-3968-475F-17354E076AC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86E126A-493E-7F73-6B8D-BF6C67FF04A1}"/>
              </a:ext>
            </a:extLst>
          </p:cNvPr>
          <p:cNvCxnSpPr>
            <a:cxnSpLocks/>
            <a:stCxn id="17"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87784296-43AA-4B3B-A3C6-1A43F17A2F08}"/>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6" name="Rectangle 95">
            <a:extLst>
              <a:ext uri="{FF2B5EF4-FFF2-40B4-BE49-F238E27FC236}">
                <a16:creationId xmlns:a16="http://schemas.microsoft.com/office/drawing/2014/main" id="{D1B93F04-A511-41F2-B8E0-68FD624CC747}"/>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7" name="Rectangle 96">
            <a:extLst>
              <a:ext uri="{FF2B5EF4-FFF2-40B4-BE49-F238E27FC236}">
                <a16:creationId xmlns:a16="http://schemas.microsoft.com/office/drawing/2014/main" id="{27F5E883-158F-472B-AF2B-A683E78953A7}"/>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01" name="Rectangle 100">
            <a:extLst>
              <a:ext uri="{FF2B5EF4-FFF2-40B4-BE49-F238E27FC236}">
                <a16:creationId xmlns:a16="http://schemas.microsoft.com/office/drawing/2014/main" id="{F0465E2F-0EA0-46D5-9C58-694E4A01437C}"/>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801729F6-46F1-415D-848C-6AF96C3FE06D}"/>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Accruals and other creditors</a:t>
            </a:r>
            <a:endParaRPr lang="en-GB" sz="900" dirty="0">
              <a:solidFill>
                <a:schemeClr val="bg1"/>
              </a:solidFill>
            </a:endParaRPr>
          </a:p>
        </p:txBody>
      </p:sp>
      <p:grpSp>
        <p:nvGrpSpPr>
          <p:cNvPr id="29" name="Group 28">
            <a:extLst>
              <a:ext uri="{FF2B5EF4-FFF2-40B4-BE49-F238E27FC236}">
                <a16:creationId xmlns:a16="http://schemas.microsoft.com/office/drawing/2014/main" id="{691C1D2E-A393-4D2A-B196-B10092687D68}"/>
              </a:ext>
            </a:extLst>
          </p:cNvPr>
          <p:cNvGrpSpPr/>
          <p:nvPr>
            <p:custDataLst>
              <p:tags r:id="rId4"/>
            </p:custDataLst>
          </p:nvPr>
        </p:nvGrpSpPr>
        <p:grpSpPr>
          <a:xfrm>
            <a:off x="995364" y="153170"/>
            <a:ext cx="6211576" cy="195814"/>
            <a:chOff x="995364" y="153170"/>
            <a:chExt cx="6211576"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3"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760613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hlinkClick r:id="rId15" action="ppaction://hlinksldjump"/>
            <a:extLst>
              <a:ext uri="{FF2B5EF4-FFF2-40B4-BE49-F238E27FC236}">
                <a16:creationId xmlns:a16="http://schemas.microsoft.com/office/drawing/2014/main" id="{20A4EA6F-3E98-4AF5-A086-0A9918D650B8}"/>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Cash flows</a:t>
            </a:r>
          </a:p>
        </p:txBody>
      </p:sp>
      <p:sp>
        <p:nvSpPr>
          <p:cNvPr id="17" name="TextBox 16">
            <a:hlinkClick r:id="rId16" action="ppaction://hlinksldjump"/>
            <a:extLst>
              <a:ext uri="{FF2B5EF4-FFF2-40B4-BE49-F238E27FC236}">
                <a16:creationId xmlns:a16="http://schemas.microsoft.com/office/drawing/2014/main" id="{E76342C5-4B6F-4390-A3B7-2F0AD1345D31}"/>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Operating cash flow</a:t>
            </a:r>
          </a:p>
        </p:txBody>
      </p:sp>
      <p:sp>
        <p:nvSpPr>
          <p:cNvPr id="18" name="TextBox 17">
            <a:hlinkClick r:id="rId17" action="ppaction://hlinksldjump"/>
            <a:extLst>
              <a:ext uri="{FF2B5EF4-FFF2-40B4-BE49-F238E27FC236}">
                <a16:creationId xmlns:a16="http://schemas.microsoft.com/office/drawing/2014/main" id="{F49033DF-A2F9-4236-A6CA-06B7182AF5C2}"/>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Capital expenditure</a:t>
            </a:r>
          </a:p>
        </p:txBody>
      </p:sp>
      <p:sp>
        <p:nvSpPr>
          <p:cNvPr id="19" name="TextBox 18">
            <a:hlinkClick r:id="rId18" action="ppaction://hlinksldjump"/>
            <a:extLst>
              <a:ext uri="{FF2B5EF4-FFF2-40B4-BE49-F238E27FC236}">
                <a16:creationId xmlns:a16="http://schemas.microsoft.com/office/drawing/2014/main" id="{FF42C163-BB41-4D12-BF33-762711034386}"/>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Intra-month cash</a:t>
            </a:r>
          </a:p>
        </p:txBody>
      </p:sp>
      <p:sp>
        <p:nvSpPr>
          <p:cNvPr id="20" name="TextBox 19">
            <a:hlinkClick r:id="rId15" action="ppaction://hlinksldjump"/>
            <a:extLst>
              <a:ext uri="{FF2B5EF4-FFF2-40B4-BE49-F238E27FC236}">
                <a16:creationId xmlns:a16="http://schemas.microsoft.com/office/drawing/2014/main" id="{865F6A0D-E91D-4BCB-BCDB-991DBA46B7D6}"/>
              </a:ext>
            </a:extLst>
          </p:cNvPr>
          <p:cNvSpPr txBox="1"/>
          <p:nvPr>
            <p:custDataLst>
              <p:tags r:id="rId6"/>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5.</a:t>
            </a:r>
          </a:p>
        </p:txBody>
      </p:sp>
      <p:sp>
        <p:nvSpPr>
          <p:cNvPr id="21" name="TextBox 20">
            <a:hlinkClick r:id="rId15" action="ppaction://hlinksldjump"/>
            <a:extLst>
              <a:ext uri="{FF2B5EF4-FFF2-40B4-BE49-F238E27FC236}">
                <a16:creationId xmlns:a16="http://schemas.microsoft.com/office/drawing/2014/main" id="{AB03C8B5-4470-49E0-BDE5-F273BA2A1BD7}"/>
              </a:ext>
            </a:extLst>
          </p:cNvPr>
          <p:cNvSpPr txBox="1"/>
          <p:nvPr>
            <p:custDataLst>
              <p:tags r:id="rId7"/>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74</a:t>
            </a:r>
          </a:p>
        </p:txBody>
      </p:sp>
      <p:sp>
        <p:nvSpPr>
          <p:cNvPr id="22" name="TextBox 21">
            <a:hlinkClick r:id="rId16" action="ppaction://hlinksldjump"/>
            <a:extLst>
              <a:ext uri="{FF2B5EF4-FFF2-40B4-BE49-F238E27FC236}">
                <a16:creationId xmlns:a16="http://schemas.microsoft.com/office/drawing/2014/main" id="{ECBB8FC1-8AE8-48C9-868B-ADAD72463CFE}"/>
              </a:ext>
            </a:extLst>
          </p:cNvPr>
          <p:cNvSpPr txBox="1"/>
          <p:nvPr>
            <p:custDataLst>
              <p:tags r:id="rId8"/>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5.1</a:t>
            </a:r>
          </a:p>
        </p:txBody>
      </p:sp>
      <p:sp>
        <p:nvSpPr>
          <p:cNvPr id="23" name="TextBox 22">
            <a:hlinkClick r:id="rId17" action="ppaction://hlinksldjump"/>
            <a:extLst>
              <a:ext uri="{FF2B5EF4-FFF2-40B4-BE49-F238E27FC236}">
                <a16:creationId xmlns:a16="http://schemas.microsoft.com/office/drawing/2014/main" id="{B48137B4-24C2-4256-90F8-F701CD6822B3}"/>
              </a:ext>
            </a:extLst>
          </p:cNvPr>
          <p:cNvSpPr txBox="1"/>
          <p:nvPr>
            <p:custDataLst>
              <p:tags r:id="rId9"/>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5.2</a:t>
            </a:r>
          </a:p>
        </p:txBody>
      </p:sp>
      <p:sp>
        <p:nvSpPr>
          <p:cNvPr id="24" name="TextBox 23">
            <a:hlinkClick r:id="rId18" action="ppaction://hlinksldjump"/>
            <a:extLst>
              <a:ext uri="{FF2B5EF4-FFF2-40B4-BE49-F238E27FC236}">
                <a16:creationId xmlns:a16="http://schemas.microsoft.com/office/drawing/2014/main" id="{91DD97E4-A7D7-46E6-AADA-5F84195518EE}"/>
              </a:ext>
            </a:extLst>
          </p:cNvPr>
          <p:cNvSpPr txBox="1"/>
          <p:nvPr>
            <p:custDataLst>
              <p:tags r:id="rId10"/>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5.3</a:t>
            </a:r>
          </a:p>
        </p:txBody>
      </p:sp>
      <p:sp>
        <p:nvSpPr>
          <p:cNvPr id="25" name="TextBox 24">
            <a:hlinkClick r:id="rId16" action="ppaction://hlinksldjump"/>
            <a:extLst>
              <a:ext uri="{FF2B5EF4-FFF2-40B4-BE49-F238E27FC236}">
                <a16:creationId xmlns:a16="http://schemas.microsoft.com/office/drawing/2014/main" id="{42B0C2A7-781A-49D7-9802-02852920A1E0}"/>
              </a:ext>
            </a:extLst>
          </p:cNvPr>
          <p:cNvSpPr txBox="1"/>
          <p:nvPr>
            <p:custDataLst>
              <p:tags r:id="rId11"/>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75</a:t>
            </a:r>
          </a:p>
        </p:txBody>
      </p:sp>
      <p:sp>
        <p:nvSpPr>
          <p:cNvPr id="26" name="TextBox 25">
            <a:hlinkClick r:id="rId17" action="ppaction://hlinksldjump"/>
            <a:extLst>
              <a:ext uri="{FF2B5EF4-FFF2-40B4-BE49-F238E27FC236}">
                <a16:creationId xmlns:a16="http://schemas.microsoft.com/office/drawing/2014/main" id="{9EF8EDFA-A3BD-4C52-AB46-58E4F24E13A4}"/>
              </a:ext>
            </a:extLst>
          </p:cNvPr>
          <p:cNvSpPr txBox="1"/>
          <p:nvPr>
            <p:custDataLst>
              <p:tags r:id="rId12"/>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76</a:t>
            </a:r>
          </a:p>
        </p:txBody>
      </p:sp>
      <p:sp>
        <p:nvSpPr>
          <p:cNvPr id="27" name="TextBox 26">
            <a:hlinkClick r:id="rId18" action="ppaction://hlinksldjump"/>
            <a:extLst>
              <a:ext uri="{FF2B5EF4-FFF2-40B4-BE49-F238E27FC236}">
                <a16:creationId xmlns:a16="http://schemas.microsoft.com/office/drawing/2014/main" id="{7D4E3834-5364-4D79-B03C-971764CCF84F}"/>
              </a:ext>
            </a:extLst>
          </p:cNvPr>
          <p:cNvSpPr txBox="1"/>
          <p:nvPr>
            <p:custDataLst>
              <p:tags r:id="rId13"/>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77</a:t>
            </a:r>
          </a:p>
        </p:txBody>
      </p:sp>
    </p:spTree>
    <p:custDataLst>
      <p:tags r:id="rId1"/>
    </p:custDataLst>
    <p:extLst>
      <p:ext uri="{BB962C8B-B14F-4D97-AF65-F5344CB8AC3E}">
        <p14:creationId xmlns:p14="http://schemas.microsoft.com/office/powerpoint/2010/main" val="20182947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171245-3886-404A-8B9C-AC957A9AD525}"/>
              </a:ext>
            </a:extLst>
          </p:cNvPr>
          <p:cNvPicPr>
            <a:picLocks noChangeAspect="1"/>
          </p:cNvPicPr>
          <p:nvPr>
            <p:custDataLst>
              <p:tags r:id="rId1"/>
            </p:custDataLst>
          </p:nvPr>
        </p:nvPicPr>
        <p:blipFill>
          <a:blip r:embed="rId13"/>
          <a:stretch>
            <a:fillRect/>
          </a:stretch>
        </p:blipFill>
        <p:spPr>
          <a:xfrm>
            <a:off x="995366" y="1902074"/>
            <a:ext cx="5038725" cy="4014614"/>
          </a:xfrm>
          <a:prstGeom prst="rect">
            <a:avLst/>
          </a:prstGeom>
        </p:spPr>
      </p:pic>
      <p:graphicFrame>
        <p:nvGraphicFramePr>
          <p:cNvPr id="10" name="Object 9" hidden="1">
            <a:extLst>
              <a:ext uri="{FF2B5EF4-FFF2-40B4-BE49-F238E27FC236}">
                <a16:creationId xmlns:a16="http://schemas.microsoft.com/office/drawing/2014/main" id="{2A1A5F1D-5D31-4F0D-816A-570F64998440}"/>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4" progId="TCLayout.ActiveDocument.1">
                  <p:embed/>
                </p:oleObj>
              </mc:Choice>
              <mc:Fallback>
                <p:oleObj name="think-cell Slide" r:id="rId14" imgW="395" imgH="394" progId="TCLayout.ActiveDocument.1">
                  <p:embed/>
                  <p:pic>
                    <p:nvPicPr>
                      <p:cNvPr id="10" name="Object 9" hidden="1">
                        <a:extLst>
                          <a:ext uri="{FF2B5EF4-FFF2-40B4-BE49-F238E27FC236}">
                            <a16:creationId xmlns:a16="http://schemas.microsoft.com/office/drawing/2014/main" id="{2A1A5F1D-5D31-4F0D-816A-570F64998440}"/>
                          </a:ext>
                        </a:extLst>
                      </p:cNvPr>
                      <p:cNvPicPr/>
                      <p:nvPr/>
                    </p:nvPicPr>
                    <p:blipFill>
                      <a:blip r:embed="rId15"/>
                      <a:stretch>
                        <a:fillRect/>
                      </a:stretch>
                    </p:blipFill>
                    <p:spPr>
                      <a:xfrm>
                        <a:off x="1589" y="1589"/>
                        <a:ext cx="1588" cy="1588"/>
                      </a:xfrm>
                      <a:prstGeom prst="rect">
                        <a:avLst/>
                      </a:prstGeom>
                    </p:spPr>
                  </p:pic>
                </p:oleObj>
              </mc:Fallback>
            </mc:AlternateContent>
          </a:graphicData>
        </a:graphic>
      </p:graphicFrame>
      <p:sp>
        <p:nvSpPr>
          <p:cNvPr id="18" name="Text Placeholder 17">
            <a:extLst>
              <a:ext uri="{FF2B5EF4-FFF2-40B4-BE49-F238E27FC236}">
                <a16:creationId xmlns:a16="http://schemas.microsoft.com/office/drawing/2014/main" id="{1CAA784D-5176-459F-BFF6-48F18D40088E}"/>
              </a:ext>
            </a:extLst>
          </p:cNvPr>
          <p:cNvSpPr>
            <a:spLocks noGrp="1"/>
          </p:cNvSpPr>
          <p:nvPr>
            <p:ph type="body" sz="quarter" idx="10"/>
          </p:nvPr>
        </p:nvSpPr>
        <p:spPr/>
        <p:txBody>
          <a:bodyPr/>
          <a:lstStyle/>
          <a:p>
            <a:r>
              <a:rPr lang="en-GB" sz="1000" dirty="0"/>
              <a:t>Y historically has had an operating cash flow in excess of 100% due to operating with a negative working capital, resulting in an increase in cash from £1.5 million </a:t>
            </a:r>
            <a:r>
              <a:rPr lang="en-GB" dirty="0"/>
              <a:t>at January 2019 to £12.8 million as trading has increased. </a:t>
            </a:r>
            <a:r>
              <a:rPr lang="en-GB" sz="1000" dirty="0"/>
              <a:t>Y has benefitted from shareholder contributions, with £0.8 million received in staggered amounts in FY19. The business received £0.5 million from shareholders in December 2020 as a condition of the </a:t>
            </a:r>
            <a:r>
              <a:rPr lang="en-GB" sz="1000" dirty="0" err="1"/>
              <a:t>yy</a:t>
            </a:r>
            <a:r>
              <a:rPr lang="en-GB" sz="1000" dirty="0"/>
              <a:t> facility agreement. </a:t>
            </a:r>
          </a:p>
          <a:p>
            <a:endParaRPr lang="en-GB" dirty="0"/>
          </a:p>
        </p:txBody>
      </p:sp>
      <p:sp>
        <p:nvSpPr>
          <p:cNvPr id="3" name="Title 2">
            <a:extLst>
              <a:ext uri="{FF2B5EF4-FFF2-40B4-BE49-F238E27FC236}">
                <a16:creationId xmlns:a16="http://schemas.microsoft.com/office/drawing/2014/main" id="{9BA0189B-1A01-4E04-8530-BB0271449EEA}"/>
              </a:ext>
            </a:extLst>
          </p:cNvPr>
          <p:cNvSpPr>
            <a:spLocks noGrp="1"/>
          </p:cNvSpPr>
          <p:nvPr>
            <p:ph type="title"/>
          </p:nvPr>
        </p:nvSpPr>
        <p:spPr/>
        <p:txBody>
          <a:bodyPr/>
          <a:lstStyle/>
          <a:p>
            <a:r>
              <a:rPr lang="en-US"/>
              <a:t>Operating cash flow</a:t>
            </a:r>
          </a:p>
        </p:txBody>
      </p:sp>
      <p:sp>
        <p:nvSpPr>
          <p:cNvPr id="4" name="Text Placeholder 7">
            <a:extLst>
              <a:ext uri="{FF2B5EF4-FFF2-40B4-BE49-F238E27FC236}">
                <a16:creationId xmlns:a16="http://schemas.microsoft.com/office/drawing/2014/main" id="{D976B72E-0BAB-7BF1-01D6-16322B7E467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2" name="Text Placeholder 12">
            <a:extLst>
              <a:ext uri="{FF2B5EF4-FFF2-40B4-BE49-F238E27FC236}">
                <a16:creationId xmlns:a16="http://schemas.microsoft.com/office/drawing/2014/main" id="{216F9506-B2AC-7B3D-525E-42F6EA485AAC}"/>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3" name="Rounded Rectangle 7">
            <a:extLst>
              <a:ext uri="{FF2B5EF4-FFF2-40B4-BE49-F238E27FC236}">
                <a16:creationId xmlns:a16="http://schemas.microsoft.com/office/drawing/2014/main" id="{03B1243C-F4A1-AEC1-9A3A-B83B54303488}"/>
              </a:ext>
            </a:extLst>
          </p:cNvPr>
          <p:cNvSpPr/>
          <p:nvPr>
            <p:custDataLst>
              <p:tags r:id="rId3"/>
            </p:custDataLst>
          </p:nvPr>
        </p:nvSpPr>
        <p:spPr>
          <a:xfrm>
            <a:off x="12274499" y="10986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4" name="Rectangle 13">
            <a:extLst>
              <a:ext uri="{FF2B5EF4-FFF2-40B4-BE49-F238E27FC236}">
                <a16:creationId xmlns:a16="http://schemas.microsoft.com/office/drawing/2014/main" id="{7B776030-FBAB-FA4C-FDBD-234068153DC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5" name="Straight Arrow Connector 14">
            <a:extLst>
              <a:ext uri="{FF2B5EF4-FFF2-40B4-BE49-F238E27FC236}">
                <a16:creationId xmlns:a16="http://schemas.microsoft.com/office/drawing/2014/main" id="{68DD4E5B-2E6C-D0D0-41A7-D9B4EFC7A7F4}"/>
              </a:ext>
            </a:extLst>
          </p:cNvPr>
          <p:cNvCxnSpPr>
            <a:cxnSpLocks/>
            <a:stCxn id="14" idx="2"/>
            <a:endCxn id="13"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7" name="Text Placeholder 12">
            <a:extLst>
              <a:ext uri="{FF2B5EF4-FFF2-40B4-BE49-F238E27FC236}">
                <a16:creationId xmlns:a16="http://schemas.microsoft.com/office/drawing/2014/main" id="{CF246F29-D9F6-4F17-B89F-548F41AD6F49}"/>
              </a:ext>
            </a:extLst>
          </p:cNvPr>
          <p:cNvSpPr txBox="1">
            <a:spLocks/>
          </p:cNvSpPr>
          <p:nvPr/>
        </p:nvSpPr>
        <p:spPr>
          <a:xfrm>
            <a:off x="995360" y="6137463"/>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P-L January 2019, P-L January 2020, P-L January 2021, P-L September 2021 	</a:t>
            </a:r>
            <a:endParaRPr lang="en-US" sz="600" b="0" dirty="0">
              <a:solidFill>
                <a:schemeClr val="tx2"/>
              </a:solidFill>
              <a:latin typeface="Arial" panose="020B0604020202020204" pitchFamily="34" charset="0"/>
            </a:endParaRPr>
          </a:p>
        </p:txBody>
      </p:sp>
      <p:sp>
        <p:nvSpPr>
          <p:cNvPr id="64" name="Rectangle 63">
            <a:extLst>
              <a:ext uri="{FF2B5EF4-FFF2-40B4-BE49-F238E27FC236}">
                <a16:creationId xmlns:a16="http://schemas.microsoft.com/office/drawing/2014/main" id="{3735B1FF-57EB-4D8D-AB26-5ACD3F08ABF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5" name="Rectangle 64">
            <a:extLst>
              <a:ext uri="{FF2B5EF4-FFF2-40B4-BE49-F238E27FC236}">
                <a16:creationId xmlns:a16="http://schemas.microsoft.com/office/drawing/2014/main" id="{5BA9608F-62F4-461F-BD34-10C959E3860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9" name="Rectangle 78">
            <a:extLst>
              <a:ext uri="{FF2B5EF4-FFF2-40B4-BE49-F238E27FC236}">
                <a16:creationId xmlns:a16="http://schemas.microsoft.com/office/drawing/2014/main" id="{C292E10C-31C0-475D-AD18-93E2667A1F9F}"/>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80" name="Rectangle 79">
            <a:extLst>
              <a:ext uri="{FF2B5EF4-FFF2-40B4-BE49-F238E27FC236}">
                <a16:creationId xmlns:a16="http://schemas.microsoft.com/office/drawing/2014/main" id="{332683A0-1087-4001-9F32-FF4C91E002B1}"/>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81" name="Rectangle 80">
            <a:extLst>
              <a:ext uri="{FF2B5EF4-FFF2-40B4-BE49-F238E27FC236}">
                <a16:creationId xmlns:a16="http://schemas.microsoft.com/office/drawing/2014/main" id="{C0B4484C-6F49-418D-931B-16FBA8ACEFCE}"/>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82" name="Rectangle 81">
            <a:extLst>
              <a:ext uri="{FF2B5EF4-FFF2-40B4-BE49-F238E27FC236}">
                <a16:creationId xmlns:a16="http://schemas.microsoft.com/office/drawing/2014/main" id="{112FB4C7-1E72-4143-93BC-D0DB4DDD4EE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83" name="Rectangle 82">
            <a:extLst>
              <a:ext uri="{FF2B5EF4-FFF2-40B4-BE49-F238E27FC236}">
                <a16:creationId xmlns:a16="http://schemas.microsoft.com/office/drawing/2014/main" id="{6D0E0C6C-01A8-4A92-8644-527662ECE76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84" name="Rectangle 83">
            <a:extLst>
              <a:ext uri="{FF2B5EF4-FFF2-40B4-BE49-F238E27FC236}">
                <a16:creationId xmlns:a16="http://schemas.microsoft.com/office/drawing/2014/main" id="{7DA477B1-6F5A-47FF-A7CF-62C52B72654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85" name="Rectangle 84">
            <a:extLst>
              <a:ext uri="{FF2B5EF4-FFF2-40B4-BE49-F238E27FC236}">
                <a16:creationId xmlns:a16="http://schemas.microsoft.com/office/drawing/2014/main" id="{2848B4F9-79AA-4E5E-8B18-8930868DE131}"/>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86" name="Rounded Rectangle 7">
            <a:extLst>
              <a:ext uri="{FF2B5EF4-FFF2-40B4-BE49-F238E27FC236}">
                <a16:creationId xmlns:a16="http://schemas.microsoft.com/office/drawing/2014/main" id="{9F801E7A-224F-4E66-8CE1-78FD0EE5C5C7}"/>
              </a:ext>
            </a:extLst>
          </p:cNvPr>
          <p:cNvSpPr/>
          <p:nvPr>
            <p:custDataLst>
              <p:tags r:id="rId4"/>
            </p:custDataLst>
          </p:nvPr>
        </p:nvSpPr>
        <p:spPr>
          <a:xfrm>
            <a:off x="12426899" y="12510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7" name="Rectangle 86">
            <a:extLst>
              <a:ext uri="{FF2B5EF4-FFF2-40B4-BE49-F238E27FC236}">
                <a16:creationId xmlns:a16="http://schemas.microsoft.com/office/drawing/2014/main" id="{8D235158-D6B0-451D-9B5A-7F49B200F6E1}"/>
              </a:ext>
            </a:extLst>
          </p:cNvPr>
          <p:cNvSpPr/>
          <p:nvPr/>
        </p:nvSpPr>
        <p:spPr>
          <a:xfrm>
            <a:off x="6582606" y="4349110"/>
            <a:ext cx="1980000" cy="163254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Operating cash flow conversion was in excess of 200% in FY21. This was due to a number of factors including: </a:t>
            </a:r>
          </a:p>
          <a:p>
            <a:pPr algn="ctr"/>
            <a:r>
              <a:rPr lang="en-GB" sz="700" dirty="0">
                <a:solidFill>
                  <a:sysClr val="windowText" lastClr="000000"/>
                </a:solidFill>
              </a:rPr>
              <a:t>Trade debtors reduced by £0.4 million as unprocessed returns exceeded uncleared cash receipts in January 2021;</a:t>
            </a:r>
          </a:p>
          <a:p>
            <a:pPr algn="ctr"/>
            <a:r>
              <a:rPr lang="en-GB" sz="700" dirty="0">
                <a:solidFill>
                  <a:sysClr val="windowText" lastClr="000000"/>
                </a:solidFill>
              </a:rPr>
              <a:t>£1.9 million increase in accruals and other creditors due to an increased refund provision, deferred VAT due to Covid-19 and delays in the receipt of invoices; and</a:t>
            </a:r>
          </a:p>
          <a:p>
            <a:pPr algn="ctr"/>
            <a:r>
              <a:rPr lang="en-GB" sz="700" dirty="0">
                <a:solidFill>
                  <a:sysClr val="windowText" lastClr="000000"/>
                </a:solidFill>
              </a:rPr>
              <a:t>£1.5 million increase in trade creditors both due to higher levels of purchases and as a result of  purchasing through suppliers that offer longer credit terms i.e. 60-90 days.</a:t>
            </a:r>
          </a:p>
        </p:txBody>
      </p:sp>
      <p:sp>
        <p:nvSpPr>
          <p:cNvPr id="89" name="Rounded Rectangle 7">
            <a:extLst>
              <a:ext uri="{FF2B5EF4-FFF2-40B4-BE49-F238E27FC236}">
                <a16:creationId xmlns:a16="http://schemas.microsoft.com/office/drawing/2014/main" id="{2E760F77-640F-4E50-837D-4983DF4DD24E}"/>
              </a:ext>
            </a:extLst>
          </p:cNvPr>
          <p:cNvSpPr/>
          <p:nvPr>
            <p:custDataLst>
              <p:tags r:id="rId5"/>
            </p:custDataLst>
          </p:nvPr>
        </p:nvSpPr>
        <p:spPr>
          <a:xfrm>
            <a:off x="1059942" y="4610708"/>
            <a:ext cx="4974148" cy="9055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90" name="Rectangle 89">
            <a:extLst>
              <a:ext uri="{FF2B5EF4-FFF2-40B4-BE49-F238E27FC236}">
                <a16:creationId xmlns:a16="http://schemas.microsoft.com/office/drawing/2014/main" id="{ABD44B5E-4B67-4C14-86F4-5C8166A8306F}"/>
              </a:ext>
            </a:extLst>
          </p:cNvPr>
          <p:cNvSpPr/>
          <p:nvPr/>
        </p:nvSpPr>
        <p:spPr>
          <a:xfrm>
            <a:off x="6762606" y="2846877"/>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Relates to proceeds from the issue of share capital.</a:t>
            </a:r>
          </a:p>
        </p:txBody>
      </p:sp>
      <p:sp>
        <p:nvSpPr>
          <p:cNvPr id="92" name="Rounded Rectangle 7">
            <a:extLst>
              <a:ext uri="{FF2B5EF4-FFF2-40B4-BE49-F238E27FC236}">
                <a16:creationId xmlns:a16="http://schemas.microsoft.com/office/drawing/2014/main" id="{27839530-8D9E-4BED-8B73-320F1612BF4A}"/>
              </a:ext>
            </a:extLst>
          </p:cNvPr>
          <p:cNvSpPr/>
          <p:nvPr>
            <p:custDataLst>
              <p:tags r:id="rId6"/>
            </p:custDataLst>
          </p:nvPr>
        </p:nvSpPr>
        <p:spPr>
          <a:xfrm>
            <a:off x="12731699" y="1555858"/>
            <a:ext cx="812621" cy="260238"/>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3" name="Rectangle 92">
            <a:extLst>
              <a:ext uri="{FF2B5EF4-FFF2-40B4-BE49-F238E27FC236}">
                <a16:creationId xmlns:a16="http://schemas.microsoft.com/office/drawing/2014/main" id="{40DD0F14-47DB-468F-B34A-0579E4459C76}"/>
              </a:ext>
            </a:extLst>
          </p:cNvPr>
          <p:cNvSpPr/>
          <p:nvPr/>
        </p:nvSpPr>
        <p:spPr>
          <a:xfrm>
            <a:off x="6762606" y="35979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Capital contributions relate to amounts received from the landlord for the Head Office and Boutique F boutique.</a:t>
            </a:r>
          </a:p>
        </p:txBody>
      </p:sp>
      <p:sp>
        <p:nvSpPr>
          <p:cNvPr id="95" name="Rounded Rectangle 7">
            <a:extLst>
              <a:ext uri="{FF2B5EF4-FFF2-40B4-BE49-F238E27FC236}">
                <a16:creationId xmlns:a16="http://schemas.microsoft.com/office/drawing/2014/main" id="{DD8EA6CC-DF4D-4AB8-9C0B-FA0EAE87FAAA}"/>
              </a:ext>
            </a:extLst>
          </p:cNvPr>
          <p:cNvSpPr/>
          <p:nvPr>
            <p:custDataLst>
              <p:tags r:id="rId7"/>
            </p:custDataLst>
          </p:nvPr>
        </p:nvSpPr>
        <p:spPr>
          <a:xfrm>
            <a:off x="1009283" y="3859891"/>
            <a:ext cx="5024807" cy="114300"/>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6" name="Rectangle 95">
            <a:extLst>
              <a:ext uri="{FF2B5EF4-FFF2-40B4-BE49-F238E27FC236}">
                <a16:creationId xmlns:a16="http://schemas.microsoft.com/office/drawing/2014/main" id="{D7DCBB5B-ED5E-4D79-8D8B-1A2804DBF768}"/>
              </a:ext>
            </a:extLst>
          </p:cNvPr>
          <p:cNvSpPr/>
          <p:nvPr/>
        </p:nvSpPr>
        <p:spPr>
          <a:xfrm>
            <a:off x="6762606" y="2095761"/>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GB" sz="700" dirty="0">
                <a:solidFill>
                  <a:sysClr val="windowText" lastClr="000000"/>
                </a:solidFill>
              </a:rPr>
              <a:t>See the following page for details of historical capital expenditure. </a:t>
            </a:r>
          </a:p>
        </p:txBody>
      </p:sp>
      <p:sp>
        <p:nvSpPr>
          <p:cNvPr id="104" name="Rounded Rectangle 7">
            <a:extLst>
              <a:ext uri="{FF2B5EF4-FFF2-40B4-BE49-F238E27FC236}">
                <a16:creationId xmlns:a16="http://schemas.microsoft.com/office/drawing/2014/main" id="{C91B7FA7-B112-42DF-A223-E77DA4A89C94}"/>
              </a:ext>
            </a:extLst>
          </p:cNvPr>
          <p:cNvSpPr/>
          <p:nvPr>
            <p:custDataLst>
              <p:tags r:id="rId8"/>
            </p:custDataLst>
          </p:nvPr>
        </p:nvSpPr>
        <p:spPr>
          <a:xfrm>
            <a:off x="1059942" y="4712160"/>
            <a:ext cx="4974148" cy="128582"/>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05" name="Rounded Rectangle 7">
            <a:extLst>
              <a:ext uri="{FF2B5EF4-FFF2-40B4-BE49-F238E27FC236}">
                <a16:creationId xmlns:a16="http://schemas.microsoft.com/office/drawing/2014/main" id="{3D4AAE2B-181E-44E5-B9DE-6C20B5321745}"/>
              </a:ext>
            </a:extLst>
          </p:cNvPr>
          <p:cNvSpPr/>
          <p:nvPr>
            <p:custDataLst>
              <p:tags r:id="rId9"/>
            </p:custDataLst>
          </p:nvPr>
        </p:nvSpPr>
        <p:spPr>
          <a:xfrm>
            <a:off x="4792689" y="5733595"/>
            <a:ext cx="425652" cy="190501"/>
          </a:xfrm>
          <a:prstGeom prst="roundRect">
            <a:avLst>
              <a:gd name="adj" fmla="val 21081"/>
            </a:avLst>
          </a:prstGeom>
          <a:noFill/>
          <a:ln w="127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06" name="Oval 105">
            <a:extLst>
              <a:ext uri="{FF2B5EF4-FFF2-40B4-BE49-F238E27FC236}">
                <a16:creationId xmlns:a16="http://schemas.microsoft.com/office/drawing/2014/main" id="{0AAB31EA-ABA7-48BD-AB67-FA5F6AB3480C}"/>
              </a:ext>
            </a:extLst>
          </p:cNvPr>
          <p:cNvSpPr/>
          <p:nvPr/>
        </p:nvSpPr>
        <p:spPr>
          <a:xfrm>
            <a:off x="809587" y="3845234"/>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107" name="Oval 106">
            <a:extLst>
              <a:ext uri="{FF2B5EF4-FFF2-40B4-BE49-F238E27FC236}">
                <a16:creationId xmlns:a16="http://schemas.microsoft.com/office/drawing/2014/main" id="{4FBEE98A-07BA-4871-B61F-5B6DFBC1ECCC}"/>
              </a:ext>
            </a:extLst>
          </p:cNvPr>
          <p:cNvSpPr/>
          <p:nvPr/>
        </p:nvSpPr>
        <p:spPr>
          <a:xfrm>
            <a:off x="6561869" y="2293740"/>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1</a:t>
            </a:r>
          </a:p>
        </p:txBody>
      </p:sp>
      <p:sp>
        <p:nvSpPr>
          <p:cNvPr id="108" name="Oval 107">
            <a:extLst>
              <a:ext uri="{FF2B5EF4-FFF2-40B4-BE49-F238E27FC236}">
                <a16:creationId xmlns:a16="http://schemas.microsoft.com/office/drawing/2014/main" id="{AC53BF0B-E442-49F5-8468-3735A36F2433}"/>
              </a:ext>
            </a:extLst>
          </p:cNvPr>
          <p:cNvSpPr/>
          <p:nvPr/>
        </p:nvSpPr>
        <p:spPr>
          <a:xfrm>
            <a:off x="6561869" y="3044877"/>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109" name="Oval 108">
            <a:extLst>
              <a:ext uri="{FF2B5EF4-FFF2-40B4-BE49-F238E27FC236}">
                <a16:creationId xmlns:a16="http://schemas.microsoft.com/office/drawing/2014/main" id="{BF5ADA66-0C2F-4A26-93FE-5D7D649FB726}"/>
              </a:ext>
            </a:extLst>
          </p:cNvPr>
          <p:cNvSpPr/>
          <p:nvPr/>
        </p:nvSpPr>
        <p:spPr>
          <a:xfrm>
            <a:off x="6561869" y="3818183"/>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sp>
        <p:nvSpPr>
          <p:cNvPr id="110" name="Oval 109">
            <a:extLst>
              <a:ext uri="{FF2B5EF4-FFF2-40B4-BE49-F238E27FC236}">
                <a16:creationId xmlns:a16="http://schemas.microsoft.com/office/drawing/2014/main" id="{033B415E-BF4E-46BC-BCA3-7910C638E92D}"/>
              </a:ext>
            </a:extLst>
          </p:cNvPr>
          <p:cNvSpPr/>
          <p:nvPr/>
        </p:nvSpPr>
        <p:spPr>
          <a:xfrm>
            <a:off x="836938" y="4576809"/>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2</a:t>
            </a:r>
          </a:p>
        </p:txBody>
      </p:sp>
      <p:sp>
        <p:nvSpPr>
          <p:cNvPr id="111" name="Oval 110">
            <a:extLst>
              <a:ext uri="{FF2B5EF4-FFF2-40B4-BE49-F238E27FC236}">
                <a16:creationId xmlns:a16="http://schemas.microsoft.com/office/drawing/2014/main" id="{3DD5FC47-3AF2-439E-842A-1F13896E3E01}"/>
              </a:ext>
            </a:extLst>
          </p:cNvPr>
          <p:cNvSpPr/>
          <p:nvPr/>
        </p:nvSpPr>
        <p:spPr>
          <a:xfrm>
            <a:off x="836938" y="4731666"/>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3</a:t>
            </a:r>
          </a:p>
        </p:txBody>
      </p:sp>
      <p:sp>
        <p:nvSpPr>
          <p:cNvPr id="112" name="Oval 111">
            <a:extLst>
              <a:ext uri="{FF2B5EF4-FFF2-40B4-BE49-F238E27FC236}">
                <a16:creationId xmlns:a16="http://schemas.microsoft.com/office/drawing/2014/main" id="{2C946756-B48D-4B36-97E1-846A62F866B1}"/>
              </a:ext>
            </a:extLst>
          </p:cNvPr>
          <p:cNvSpPr/>
          <p:nvPr/>
        </p:nvSpPr>
        <p:spPr>
          <a:xfrm>
            <a:off x="6398675" y="5093384"/>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4</a:t>
            </a:r>
          </a:p>
        </p:txBody>
      </p:sp>
      <p:sp>
        <p:nvSpPr>
          <p:cNvPr id="113" name="Oval 112">
            <a:extLst>
              <a:ext uri="{FF2B5EF4-FFF2-40B4-BE49-F238E27FC236}">
                <a16:creationId xmlns:a16="http://schemas.microsoft.com/office/drawing/2014/main" id="{C3139176-5996-4777-A142-24615CA64939}"/>
              </a:ext>
            </a:extLst>
          </p:cNvPr>
          <p:cNvSpPr/>
          <p:nvPr/>
        </p:nvSpPr>
        <p:spPr>
          <a:xfrm>
            <a:off x="4815356" y="5597981"/>
            <a:ext cx="144000" cy="1440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800" dirty="0">
                <a:solidFill>
                  <a:schemeClr val="bg1"/>
                </a:solidFill>
              </a:rPr>
              <a:t>4</a:t>
            </a:r>
          </a:p>
        </p:txBody>
      </p:sp>
      <p:sp>
        <p:nvSpPr>
          <p:cNvPr id="2" name="UpSlide SubSection Marker" hidden="1">
            <a:extLst>
              <a:ext uri="{FF2B5EF4-FFF2-40B4-BE49-F238E27FC236}">
                <a16:creationId xmlns:a16="http://schemas.microsoft.com/office/drawing/2014/main" id="{30BAA981-3CE2-4350-8F3F-BBF1D1A1B271}"/>
              </a:ext>
            </a:extLst>
          </p:cNvPr>
          <p:cNvSpPr/>
          <p:nvPr>
            <p:custDataLst>
              <p:tags r:id="rId10"/>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Operating cash flow</a:t>
            </a:r>
            <a:endParaRPr lang="en-GB" sz="900" dirty="0">
              <a:solidFill>
                <a:schemeClr val="bg1"/>
              </a:solidFill>
            </a:endParaRPr>
          </a:p>
        </p:txBody>
      </p:sp>
      <p:grpSp>
        <p:nvGrpSpPr>
          <p:cNvPr id="5" name="Group 4">
            <a:extLst>
              <a:ext uri="{FF2B5EF4-FFF2-40B4-BE49-F238E27FC236}">
                <a16:creationId xmlns:a16="http://schemas.microsoft.com/office/drawing/2014/main" id="{C342875C-8463-4108-A27E-16B19B405FE9}"/>
              </a:ext>
            </a:extLst>
          </p:cNvPr>
          <p:cNvGrpSpPr/>
          <p:nvPr>
            <p:custDataLst>
              <p:tags r:id="rId11"/>
            </p:custDataLst>
          </p:nvPr>
        </p:nvGrpSpPr>
        <p:grpSpPr>
          <a:xfrm>
            <a:off x="995364" y="153170"/>
            <a:ext cx="6213180" cy="195814"/>
            <a:chOff x="995364" y="153170"/>
            <a:chExt cx="6213180" cy="195814"/>
          </a:xfrm>
        </p:grpSpPr>
        <p:sp>
          <p:nvSpPr>
            <p:cNvPr id="48" name="Other Sections1">
              <a:hlinkClick r:id="rId1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9" name="Other Sections2">
              <a:hlinkClick r:id="rId1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50" name="Other Sections3">
              <a:hlinkClick r:id="rId1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1" name="Other Sections4">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2" name="Current Section5">
              <a:hlinkClick r:id="rId20" action="ppaction://hlinksldjump"/>
              <a:extLst>
                <a:ext uri="{FF2B5EF4-FFF2-40B4-BE49-F238E27FC236}">
                  <a16:creationId xmlns:a16="http://schemas.microsoft.com/office/drawing/2014/main" id="{89A61135-1F00-E77F-7C78-5FBA241A5742}"/>
                </a:ext>
              </a:extLst>
            </p:cNvPr>
            <p:cNvSpPr>
              <a:spLocks/>
            </p:cNvSpPr>
            <p:nvPr/>
          </p:nvSpPr>
          <p:spPr>
            <a:xfrm>
              <a:off x="4641932"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Cash flows</a:t>
              </a:r>
            </a:p>
          </p:txBody>
        </p:sp>
        <p:sp>
          <p:nvSpPr>
            <p:cNvPr id="53" name="Other Sections6">
              <a:hlinkClick r:id="rId21" action="ppaction://hlinksldjump"/>
              <a:extLst>
                <a:ext uri="{FF2B5EF4-FFF2-40B4-BE49-F238E27FC236}">
                  <a16:creationId xmlns:a16="http://schemas.microsoft.com/office/drawing/2014/main" id="{8A19844E-D291-CA81-3B22-2B52F21919DA}"/>
                </a:ext>
              </a:extLst>
            </p:cNvPr>
            <p:cNvSpPr>
              <a:spLocks/>
            </p:cNvSpPr>
            <p:nvPr/>
          </p:nvSpPr>
          <p:spPr>
            <a:xfrm>
              <a:off x="533075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4" name="Other Sections7">
              <a:hlinkClick r:id="rId22" action="ppaction://hlinksldjump"/>
              <a:extLst>
                <a:ext uri="{FF2B5EF4-FFF2-40B4-BE49-F238E27FC236}">
                  <a16:creationId xmlns:a16="http://schemas.microsoft.com/office/drawing/2014/main" id="{8A19844E-D291-CA81-3B22-2B52F21919DA}"/>
                </a:ext>
              </a:extLst>
            </p:cNvPr>
            <p:cNvSpPr>
              <a:spLocks/>
            </p:cNvSpPr>
            <p:nvPr/>
          </p:nvSpPr>
          <p:spPr>
            <a:xfrm>
              <a:off x="651971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32927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C75FB17-41FF-488C-A003-9713D66AE1AF}"/>
              </a:ext>
            </a:extLst>
          </p:cNvPr>
          <p:cNvPicPr>
            <a:picLocks noChangeAspect="1"/>
          </p:cNvPicPr>
          <p:nvPr>
            <p:custDataLst>
              <p:tags r:id="rId1"/>
            </p:custDataLst>
          </p:nvPr>
        </p:nvPicPr>
        <p:blipFill>
          <a:blip r:embed="rId6"/>
          <a:stretch>
            <a:fillRect/>
          </a:stretch>
        </p:blipFill>
        <p:spPr>
          <a:xfrm>
            <a:off x="995362" y="1912840"/>
            <a:ext cx="3686175" cy="4224624"/>
          </a:xfrm>
          <a:prstGeom prst="rect">
            <a:avLst/>
          </a:prstGeom>
        </p:spPr>
      </p:pic>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a:lstStyle/>
          <a:p>
            <a:r>
              <a:rPr lang="en-US" dirty="0"/>
              <a:t>Capital expenditure</a:t>
            </a:r>
          </a:p>
        </p:txBody>
      </p:sp>
      <p:sp>
        <p:nvSpPr>
          <p:cNvPr id="3" name="Text Placeholder 2">
            <a:extLst>
              <a:ext uri="{FF2B5EF4-FFF2-40B4-BE49-F238E27FC236}">
                <a16:creationId xmlns:a16="http://schemas.microsoft.com/office/drawing/2014/main" id="{3A374FE7-5E63-41C7-8216-6F781AE893A6}"/>
              </a:ext>
            </a:extLst>
          </p:cNvPr>
          <p:cNvSpPr>
            <a:spLocks noGrp="1"/>
          </p:cNvSpPr>
          <p:nvPr>
            <p:ph type="body" sz="quarter" idx="11"/>
          </p:nvPr>
        </p:nvSpPr>
        <p:spPr/>
        <p:txBody>
          <a:bodyPr/>
          <a:lstStyle/>
          <a:p>
            <a:r>
              <a:rPr lang="en-GB" dirty="0"/>
              <a:t>Capital expenditure summary</a:t>
            </a:r>
          </a:p>
        </p:txBody>
      </p:sp>
      <p:sp>
        <p:nvSpPr>
          <p:cNvPr id="5" name="Text Placeholder 4">
            <a:extLst>
              <a:ext uri="{FF2B5EF4-FFF2-40B4-BE49-F238E27FC236}">
                <a16:creationId xmlns:a16="http://schemas.microsoft.com/office/drawing/2014/main" id="{30E1EE70-0D7B-4B8F-8861-E55D225EB154}"/>
              </a:ext>
            </a:extLst>
          </p:cNvPr>
          <p:cNvSpPr>
            <a:spLocks noGrp="1"/>
          </p:cNvSpPr>
          <p:nvPr>
            <p:ph type="body" sz="quarter" idx="26"/>
          </p:nvPr>
        </p:nvSpPr>
        <p:spPr/>
        <p:txBody>
          <a:bodyPr/>
          <a:lstStyle/>
          <a:p>
            <a:pPr>
              <a:spcAft>
                <a:spcPts val="300"/>
              </a:spcAft>
            </a:pPr>
            <a:r>
              <a:rPr lang="en-GB" b="0" i="1" dirty="0">
                <a:solidFill>
                  <a:srgbClr val="00338D"/>
                </a:solidFill>
              </a:rPr>
              <a:t>Head office - </a:t>
            </a:r>
            <a:r>
              <a:rPr lang="en-GB" b="0" dirty="0">
                <a:solidFill>
                  <a:schemeClr val="tx1"/>
                </a:solidFill>
              </a:rPr>
              <a:t>Capital expenditure relating to the head office has been minimal across the historical period, other than £0.2 million in FY20 relating to the relocation of the head office to </a:t>
            </a:r>
            <a:r>
              <a:rPr lang="en-GB" b="0" dirty="0" err="1">
                <a:solidFill>
                  <a:schemeClr val="tx1"/>
                </a:solidFill>
              </a:rPr>
              <a:t>yy</a:t>
            </a:r>
            <a:r>
              <a:rPr lang="en-GB" b="0" dirty="0">
                <a:solidFill>
                  <a:schemeClr val="tx1"/>
                </a:solidFill>
              </a:rPr>
              <a:t>. </a:t>
            </a:r>
            <a:endParaRPr lang="en-GB" sz="1000" b="0" i="1" dirty="0">
              <a:solidFill>
                <a:srgbClr val="00338D"/>
              </a:solidFill>
            </a:endParaRPr>
          </a:p>
          <a:p>
            <a:pPr>
              <a:spcAft>
                <a:spcPts val="300"/>
              </a:spcAft>
            </a:pPr>
            <a:r>
              <a:rPr lang="en-GB" sz="1000" b="0" i="1" dirty="0">
                <a:solidFill>
                  <a:srgbClr val="00338D"/>
                </a:solidFill>
              </a:rPr>
              <a:t>Boutiques - </a:t>
            </a:r>
            <a:r>
              <a:rPr lang="en-GB" sz="1000" b="0" dirty="0">
                <a:solidFill>
                  <a:schemeClr val="tx1"/>
                </a:solidFill>
              </a:rPr>
              <a:t>Boutique expenditure largely relates to fitting out new boutiques, with £0.1 million incurred in FY19 for Boutique G, £0.3 million in FY20 and £0,2 million in FY21 relating to the Boutique E and Boutique F stores. </a:t>
            </a:r>
          </a:p>
          <a:p>
            <a:pPr>
              <a:spcAft>
                <a:spcPts val="300"/>
              </a:spcAft>
            </a:pPr>
            <a:r>
              <a:rPr lang="en-GB" sz="1000" b="0" i="1" dirty="0">
                <a:solidFill>
                  <a:srgbClr val="00338D"/>
                </a:solidFill>
              </a:rPr>
              <a:t>Concessions - </a:t>
            </a:r>
            <a:r>
              <a:rPr lang="en-GB" sz="1000" b="0" dirty="0">
                <a:solidFill>
                  <a:schemeClr val="tx1"/>
                </a:solidFill>
              </a:rPr>
              <a:t>Concession expenditure has historically related to</a:t>
            </a:r>
            <a:r>
              <a:rPr lang="en-GB" sz="1000" b="0" i="1" dirty="0">
                <a:solidFill>
                  <a:srgbClr val="00338D"/>
                </a:solidFill>
              </a:rPr>
              <a:t> </a:t>
            </a:r>
            <a:r>
              <a:rPr lang="en-GB" sz="1000" b="0" dirty="0">
                <a:solidFill>
                  <a:schemeClr val="tx1"/>
                </a:solidFill>
              </a:rPr>
              <a:t>fitting out new concessions, although this expenditure is considerably lower than for boutiques. The expenditure in FY19 relates to the </a:t>
            </a:r>
            <a:r>
              <a:rPr lang="en-GB" sz="1000" b="0" dirty="0" err="1">
                <a:solidFill>
                  <a:schemeClr val="tx1"/>
                </a:solidFill>
              </a:rPr>
              <a:t>yy</a:t>
            </a:r>
            <a:r>
              <a:rPr lang="en-GB" sz="1000" b="0" dirty="0">
                <a:solidFill>
                  <a:schemeClr val="tx1"/>
                </a:solidFill>
              </a:rPr>
              <a:t> and </a:t>
            </a:r>
            <a:r>
              <a:rPr lang="en-GB" sz="1000" b="0" dirty="0" err="1">
                <a:solidFill>
                  <a:schemeClr val="tx1"/>
                </a:solidFill>
              </a:rPr>
              <a:t>yy</a:t>
            </a:r>
            <a:r>
              <a:rPr lang="en-GB" sz="1000" b="0" dirty="0">
                <a:solidFill>
                  <a:schemeClr val="tx1"/>
                </a:solidFill>
              </a:rPr>
              <a:t> Department store A concessions, with expenditure in FY20 relating to the relocation within the </a:t>
            </a:r>
            <a:r>
              <a:rPr lang="en-GB" sz="1000" b="0" dirty="0" err="1">
                <a:solidFill>
                  <a:schemeClr val="tx1"/>
                </a:solidFill>
              </a:rPr>
              <a:t>yy</a:t>
            </a:r>
            <a:r>
              <a:rPr lang="en-GB" sz="1000" b="0" dirty="0">
                <a:solidFill>
                  <a:schemeClr val="tx1"/>
                </a:solidFill>
              </a:rPr>
              <a:t> Department store A store and expenditure in LTM22 relating to the </a:t>
            </a:r>
            <a:r>
              <a:rPr lang="en-GB" sz="1000" b="0" dirty="0" err="1">
                <a:solidFill>
                  <a:schemeClr val="tx1"/>
                </a:solidFill>
              </a:rPr>
              <a:t>yy</a:t>
            </a:r>
            <a:r>
              <a:rPr lang="en-GB" sz="1000" b="0" dirty="0">
                <a:solidFill>
                  <a:schemeClr val="tx1"/>
                </a:solidFill>
              </a:rPr>
              <a:t> Department store B concession.</a:t>
            </a:r>
          </a:p>
          <a:p>
            <a:pPr>
              <a:spcAft>
                <a:spcPts val="300"/>
              </a:spcAft>
            </a:pPr>
            <a:r>
              <a:rPr lang="en-GB" sz="1000" b="0" i="1" dirty="0">
                <a:solidFill>
                  <a:srgbClr val="00338D"/>
                </a:solidFill>
              </a:rPr>
              <a:t>Website - </a:t>
            </a:r>
            <a:r>
              <a:rPr lang="en-GB" sz="1000" b="0" dirty="0">
                <a:solidFill>
                  <a:schemeClr val="tx1"/>
                </a:solidFill>
              </a:rPr>
              <a:t>Y re-platformed its website in FY20 to Magento2, with costs incurred of £0.3 million spread across the period FY19 – FY20. The re-platform expenditure was inclusive of the capitalisation of costs relating to the IT support officer (£20,000 in FY19 and £11,000 in FY20). </a:t>
            </a:r>
            <a:endParaRPr lang="en-GB" dirty="0"/>
          </a:p>
        </p:txBody>
      </p:sp>
      <p:sp>
        <p:nvSpPr>
          <p:cNvPr id="6" name="Text Placeholder 5">
            <a:extLst>
              <a:ext uri="{FF2B5EF4-FFF2-40B4-BE49-F238E27FC236}">
                <a16:creationId xmlns:a16="http://schemas.microsoft.com/office/drawing/2014/main" id="{CB1911AF-BA2D-4DB3-9AD0-F48636BC0617}"/>
              </a:ext>
            </a:extLst>
          </p:cNvPr>
          <p:cNvSpPr>
            <a:spLocks noGrp="1"/>
          </p:cNvSpPr>
          <p:nvPr>
            <p:ph type="body" sz="quarter" idx="27"/>
          </p:nvPr>
        </p:nvSpPr>
        <p:spPr/>
        <p:txBody>
          <a:bodyPr/>
          <a:lstStyle/>
          <a:p>
            <a:pPr>
              <a:spcAft>
                <a:spcPts val="300"/>
              </a:spcAft>
            </a:pPr>
            <a:r>
              <a:rPr lang="en-GB" sz="1000" b="0" i="1" dirty="0">
                <a:solidFill>
                  <a:srgbClr val="00338D"/>
                </a:solidFill>
              </a:rPr>
              <a:t>Website (continued) - </a:t>
            </a:r>
            <a:r>
              <a:rPr lang="en-GB" sz="1000" b="0" dirty="0">
                <a:solidFill>
                  <a:schemeClr val="tx1"/>
                </a:solidFill>
              </a:rPr>
              <a:t>Other costs throughout the historical period have largely related to optimising the website. </a:t>
            </a:r>
            <a:endParaRPr lang="en-GB" sz="1000" b="0" i="1" dirty="0">
              <a:solidFill>
                <a:srgbClr val="00338D"/>
              </a:solidFill>
            </a:endParaRPr>
          </a:p>
          <a:p>
            <a:pPr>
              <a:spcAft>
                <a:spcPts val="300"/>
              </a:spcAft>
            </a:pPr>
            <a:r>
              <a:rPr lang="en-GB" sz="1000" b="0" i="1" dirty="0">
                <a:solidFill>
                  <a:srgbClr val="00338D"/>
                </a:solidFill>
              </a:rPr>
              <a:t>IT systems - </a:t>
            </a:r>
            <a:r>
              <a:rPr lang="en-GB" sz="1000" b="0" dirty="0">
                <a:solidFill>
                  <a:schemeClr val="tx1"/>
                </a:solidFill>
              </a:rPr>
              <a:t>The stock system and store EPOS system was upgraded in FY20 at a cost of £0.3 million, with costs incurred across the period FY19 – FY20. Other historical expenditure relates to smaller IT projects. Maintenance is nil in FY19 as prior to this Y did not have its own IT systems or an integrated warehouse system. Spend on existing systems is classified as maintenance capex. </a:t>
            </a:r>
          </a:p>
          <a:p>
            <a:pPr>
              <a:spcAft>
                <a:spcPts val="300"/>
              </a:spcAft>
            </a:pPr>
            <a:r>
              <a:rPr lang="en-GB" sz="1000" b="0" i="1" dirty="0">
                <a:solidFill>
                  <a:srgbClr val="00338D"/>
                </a:solidFill>
              </a:rPr>
              <a:t>Office equipment - </a:t>
            </a:r>
            <a:r>
              <a:rPr lang="en-GB" sz="1000" b="0" dirty="0">
                <a:solidFill>
                  <a:schemeClr val="tx1"/>
                </a:solidFill>
              </a:rPr>
              <a:t>Office equipment expenditure largely relates to computer equipment (predominantly laptops) and server works. </a:t>
            </a:r>
            <a:endParaRPr lang="en-GB" sz="1000" b="0" dirty="0">
              <a:solidFill>
                <a:srgbClr val="FF0000"/>
              </a:solidFill>
            </a:endParaRPr>
          </a:p>
          <a:p>
            <a:pPr>
              <a:spcAft>
                <a:spcPts val="300"/>
              </a:spcAft>
            </a:pPr>
            <a:r>
              <a:rPr lang="en-GB" sz="1000" b="0" i="1" dirty="0">
                <a:solidFill>
                  <a:srgbClr val="00338D"/>
                </a:solidFill>
              </a:rPr>
              <a:t>Trademarks - </a:t>
            </a:r>
            <a:r>
              <a:rPr lang="en-GB" sz="1000" b="0" dirty="0">
                <a:solidFill>
                  <a:schemeClr val="tx1"/>
                </a:solidFill>
              </a:rPr>
              <a:t>In the outturn period legal fees relating to establishing trademarks in various countries have been capitalised.</a:t>
            </a:r>
          </a:p>
          <a:p>
            <a:pPr>
              <a:spcAft>
                <a:spcPts val="300"/>
              </a:spcAft>
            </a:pPr>
            <a:r>
              <a:rPr lang="en-GB" sz="1000" b="0" i="1" dirty="0">
                <a:solidFill>
                  <a:srgbClr val="00338D"/>
                </a:solidFill>
              </a:rPr>
              <a:t>Warehouse - </a:t>
            </a:r>
            <a:r>
              <a:rPr lang="en-GB" sz="1000" b="0" dirty="0">
                <a:solidFill>
                  <a:schemeClr val="tx1"/>
                </a:solidFill>
              </a:rPr>
              <a:t>IT migration costs (£0.1 million) were incurred in the outturn period relating to the warehouse move to Logistics C (location of new 3PL provider). This expenditure is inclusive of the capitalisation of salary costs for the Warehouse Project Manager (£34,000).</a:t>
            </a:r>
          </a:p>
          <a:p>
            <a:endParaRPr lang="en-GB" dirty="0"/>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10"/>
          </p:nvPr>
        </p:nvSpPr>
        <p:spPr/>
        <p:txBody>
          <a:bodyPr/>
          <a:lstStyle/>
          <a:p>
            <a:r>
              <a:rPr lang="en-GB" dirty="0"/>
              <a:t>Capital expenditure over the historical period has largely related to new boutique openings and investment in the IT and retail infrastructure, including a re-platforming of the website in FY20, upgraded stock and EPOS systems in FY19/FY20 and continuing upgrades to operational systems (e.g. ship to store and 3PL integration). Capex planned for the outturn period includes initial work for Click and Collect implementation within stores, CRM upgrades and further website platform projects. </a:t>
            </a:r>
          </a:p>
          <a:p>
            <a:endParaRPr lang="en-GB" dirty="0"/>
          </a:p>
          <a:p>
            <a:endParaRPr lang="en-US" dirty="0"/>
          </a:p>
        </p:txBody>
      </p:sp>
      <p:sp>
        <p:nvSpPr>
          <p:cNvPr id="13" name="Text Placeholder 7">
            <a:extLst>
              <a:ext uri="{FF2B5EF4-FFF2-40B4-BE49-F238E27FC236}">
                <a16:creationId xmlns:a16="http://schemas.microsoft.com/office/drawing/2014/main" id="{7D810D17-3380-600E-4A62-6A937FAF0A5F}"/>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sz="1000"/>
          </a:p>
        </p:txBody>
      </p:sp>
      <p:sp>
        <p:nvSpPr>
          <p:cNvPr id="14" name="Text Placeholder 12">
            <a:extLst>
              <a:ext uri="{FF2B5EF4-FFF2-40B4-BE49-F238E27FC236}">
                <a16:creationId xmlns:a16="http://schemas.microsoft.com/office/drawing/2014/main" id="{AA01C17C-8468-09E6-A678-48DABD4111BD}"/>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55" name="Rectangle 54">
            <a:extLst>
              <a:ext uri="{FF2B5EF4-FFF2-40B4-BE49-F238E27FC236}">
                <a16:creationId xmlns:a16="http://schemas.microsoft.com/office/drawing/2014/main" id="{B06D482A-409E-4B42-B617-1777253BE59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6" name="Rectangle 55">
            <a:extLst>
              <a:ext uri="{FF2B5EF4-FFF2-40B4-BE49-F238E27FC236}">
                <a16:creationId xmlns:a16="http://schemas.microsoft.com/office/drawing/2014/main" id="{05B6DC95-9BD5-45DE-97C9-B39B91BE99D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7" name="Rectangle 56">
            <a:extLst>
              <a:ext uri="{FF2B5EF4-FFF2-40B4-BE49-F238E27FC236}">
                <a16:creationId xmlns:a16="http://schemas.microsoft.com/office/drawing/2014/main" id="{FBA0ABE4-F913-49B9-B31F-AA2DC6A27945}"/>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8" name="Rectangle 57">
            <a:extLst>
              <a:ext uri="{FF2B5EF4-FFF2-40B4-BE49-F238E27FC236}">
                <a16:creationId xmlns:a16="http://schemas.microsoft.com/office/drawing/2014/main" id="{3B5DC148-D5F6-47E9-82C1-F38E86E8A8F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59" name="Rectangle 58">
            <a:extLst>
              <a:ext uri="{FF2B5EF4-FFF2-40B4-BE49-F238E27FC236}">
                <a16:creationId xmlns:a16="http://schemas.microsoft.com/office/drawing/2014/main" id="{F2B08A58-587D-476D-BFDC-7E8EDAD7801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0" name="Rectangle 59">
            <a:extLst>
              <a:ext uri="{FF2B5EF4-FFF2-40B4-BE49-F238E27FC236}">
                <a16:creationId xmlns:a16="http://schemas.microsoft.com/office/drawing/2014/main" id="{1C588A33-2593-4B1C-A631-B56315B932EA}"/>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1" name="Rectangle 60">
            <a:extLst>
              <a:ext uri="{FF2B5EF4-FFF2-40B4-BE49-F238E27FC236}">
                <a16:creationId xmlns:a16="http://schemas.microsoft.com/office/drawing/2014/main" id="{F4C55134-A47B-4154-A060-1DB5D85994AB}"/>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2" name="Rectangle 61">
            <a:extLst>
              <a:ext uri="{FF2B5EF4-FFF2-40B4-BE49-F238E27FC236}">
                <a16:creationId xmlns:a16="http://schemas.microsoft.com/office/drawing/2014/main" id="{749DE61F-A93E-4668-9177-6FB3F4E45CE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3" name="Rectangle 62">
            <a:extLst>
              <a:ext uri="{FF2B5EF4-FFF2-40B4-BE49-F238E27FC236}">
                <a16:creationId xmlns:a16="http://schemas.microsoft.com/office/drawing/2014/main" id="{C9EDCEF5-2D65-4EC0-9948-78BBA7CBD2E8}"/>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3" name="Text Placeholder 12">
            <a:extLst>
              <a:ext uri="{FF2B5EF4-FFF2-40B4-BE49-F238E27FC236}">
                <a16:creationId xmlns:a16="http://schemas.microsoft.com/office/drawing/2014/main" id="{05584200-2F3D-4FBA-8E9D-CAC16D01E249}"/>
              </a:ext>
            </a:extLst>
          </p:cNvPr>
          <p:cNvSpPr txBox="1">
            <a:spLocks/>
          </p:cNvSpPr>
          <p:nvPr/>
        </p:nvSpPr>
        <p:spPr>
          <a:xfrm>
            <a:off x="995360" y="6137463"/>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r>
              <a:rPr lang="en-GB" sz="600" b="0" dirty="0">
                <a:solidFill>
                  <a:schemeClr val="tx2"/>
                </a:solidFill>
                <a:latin typeface="Arial" panose="020B0604020202020204" pitchFamily="34" charset="0"/>
              </a:rPr>
              <a:t>6.1.10.1_Historical Capital </a:t>
            </a:r>
            <a:r>
              <a:rPr lang="en-GB" sz="600" b="0" dirty="0" err="1">
                <a:solidFill>
                  <a:schemeClr val="tx2"/>
                </a:solidFill>
                <a:latin typeface="Arial" panose="020B0604020202020204" pitchFamily="34" charset="0"/>
              </a:rPr>
              <a:t>Expediture</a:t>
            </a:r>
            <a:r>
              <a:rPr lang="en-GB" sz="600" b="0" dirty="0">
                <a:solidFill>
                  <a:schemeClr val="tx2"/>
                </a:solidFill>
                <a:latin typeface="Arial" panose="020B0604020202020204" pitchFamily="34" charset="0"/>
              </a:rPr>
              <a:t> FYE Jan 19 to YTD September 2021</a:t>
            </a:r>
            <a:endParaRPr lang="en-US" sz="600" b="0" dirty="0">
              <a:solidFill>
                <a:schemeClr val="tx2"/>
              </a:solidFill>
              <a:latin typeface="Arial" panose="020B0604020202020204" pitchFamily="34" charset="0"/>
            </a:endParaRPr>
          </a:p>
        </p:txBody>
      </p:sp>
      <p:sp>
        <p:nvSpPr>
          <p:cNvPr id="4" name="UpSlide SubSection Marker" hidden="1">
            <a:extLst>
              <a:ext uri="{FF2B5EF4-FFF2-40B4-BE49-F238E27FC236}">
                <a16:creationId xmlns:a16="http://schemas.microsoft.com/office/drawing/2014/main" id="{98C573BA-3B8C-45F6-8432-BA2C64DDBF70}"/>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Capital expenditure</a:t>
            </a:r>
            <a:endParaRPr lang="en-GB" sz="900" dirty="0">
              <a:solidFill>
                <a:schemeClr val="bg1"/>
              </a:solidFill>
            </a:endParaRPr>
          </a:p>
        </p:txBody>
      </p:sp>
      <p:grpSp>
        <p:nvGrpSpPr>
          <p:cNvPr id="30" name="Group 29">
            <a:extLst>
              <a:ext uri="{FF2B5EF4-FFF2-40B4-BE49-F238E27FC236}">
                <a16:creationId xmlns:a16="http://schemas.microsoft.com/office/drawing/2014/main" id="{C342875C-8463-4108-A27E-16B19B405FE9}"/>
              </a:ext>
            </a:extLst>
          </p:cNvPr>
          <p:cNvGrpSpPr/>
          <p:nvPr>
            <p:custDataLst>
              <p:tags r:id="rId4"/>
            </p:custDataLst>
          </p:nvPr>
        </p:nvGrpSpPr>
        <p:grpSpPr>
          <a:xfrm>
            <a:off x="995364" y="153170"/>
            <a:ext cx="6213180" cy="195814"/>
            <a:chOff x="995364" y="153170"/>
            <a:chExt cx="6213180" cy="195814"/>
          </a:xfrm>
        </p:grpSpPr>
        <p:sp>
          <p:nvSpPr>
            <p:cNvPr id="31"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Current Section5">
              <a:hlinkClick r:id="rId13" action="ppaction://hlinksldjump"/>
              <a:extLst>
                <a:ext uri="{FF2B5EF4-FFF2-40B4-BE49-F238E27FC236}">
                  <a16:creationId xmlns:a16="http://schemas.microsoft.com/office/drawing/2014/main" id="{89A61135-1F00-E77F-7C78-5FBA241A5742}"/>
                </a:ext>
              </a:extLst>
            </p:cNvPr>
            <p:cNvSpPr>
              <a:spLocks/>
            </p:cNvSpPr>
            <p:nvPr/>
          </p:nvSpPr>
          <p:spPr>
            <a:xfrm>
              <a:off x="4641932"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Cash flows</a:t>
              </a:r>
            </a:p>
          </p:txBody>
        </p:sp>
        <p:sp>
          <p:nvSpPr>
            <p:cNvPr id="37"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075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971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15923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C234463-6757-49DC-8638-31126D9FAC77}"/>
              </a:ext>
            </a:extLst>
          </p:cNvPr>
          <p:cNvPicPr>
            <a:picLocks noChangeAspect="1"/>
          </p:cNvPicPr>
          <p:nvPr>
            <p:custDataLst>
              <p:tags r:id="rId1"/>
            </p:custDataLst>
          </p:nvPr>
        </p:nvPicPr>
        <p:blipFill>
          <a:blip r:embed="rId7"/>
          <a:stretch>
            <a:fillRect/>
          </a:stretch>
        </p:blipFill>
        <p:spPr>
          <a:xfrm>
            <a:off x="995361" y="2235228"/>
            <a:ext cx="10192299" cy="1622783"/>
          </a:xfrm>
          <a:prstGeom prst="rect">
            <a:avLst/>
          </a:prstGeom>
        </p:spPr>
      </p:pic>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a:lstStyle/>
          <a:p>
            <a:r>
              <a:rPr lang="en-GB" dirty="0"/>
              <a:t>Illustrative intra month cash requirement</a:t>
            </a:r>
          </a:p>
        </p:txBody>
      </p:sp>
      <p:sp>
        <p:nvSpPr>
          <p:cNvPr id="6" name="Text Placeholder 5">
            <a:extLst>
              <a:ext uri="{FF2B5EF4-FFF2-40B4-BE49-F238E27FC236}">
                <a16:creationId xmlns:a16="http://schemas.microsoft.com/office/drawing/2014/main" id="{4781090C-AFDA-486C-B639-0B35C8B944C5}"/>
              </a:ext>
            </a:extLst>
          </p:cNvPr>
          <p:cNvSpPr>
            <a:spLocks noGrp="1"/>
          </p:cNvSpPr>
          <p:nvPr>
            <p:ph type="body" sz="quarter" idx="24"/>
          </p:nvPr>
        </p:nvSpPr>
        <p:spPr/>
        <p:txBody>
          <a:bodyPr/>
          <a:lstStyle/>
          <a:p>
            <a:r>
              <a:rPr lang="en-GB" sz="1000" b="1" dirty="0">
                <a:solidFill>
                  <a:schemeClr val="tx2"/>
                </a:solidFill>
              </a:rPr>
              <a:t>Basis of preparation</a:t>
            </a:r>
          </a:p>
          <a:p>
            <a:r>
              <a:rPr lang="en-GB" sz="1000" b="0" dirty="0">
                <a:solidFill>
                  <a:schemeClr val="tx1"/>
                </a:solidFill>
              </a:rPr>
              <a:t>The cash balances in the chart above reflect daily bank balances of the three main accounts. In addition to this, there is a </a:t>
            </a:r>
            <a:r>
              <a:rPr lang="en-GB" sz="1000" b="0" dirty="0" err="1">
                <a:solidFill>
                  <a:schemeClr val="tx1"/>
                </a:solidFill>
              </a:rPr>
              <a:t>yy</a:t>
            </a:r>
            <a:r>
              <a:rPr lang="en-GB" sz="1000" b="0" dirty="0">
                <a:solidFill>
                  <a:schemeClr val="tx1"/>
                </a:solidFill>
              </a:rPr>
              <a:t> GBP and </a:t>
            </a:r>
            <a:r>
              <a:rPr lang="en-GB" sz="1000" b="0" dirty="0" err="1">
                <a:solidFill>
                  <a:schemeClr val="tx1"/>
                </a:solidFill>
              </a:rPr>
              <a:t>yy</a:t>
            </a:r>
            <a:r>
              <a:rPr lang="en-GB" sz="1000" b="0" dirty="0">
                <a:solidFill>
                  <a:schemeClr val="tx1"/>
                </a:solidFill>
              </a:rPr>
              <a:t> USD account for which daily balances are not available.</a:t>
            </a:r>
          </a:p>
          <a:p>
            <a:r>
              <a:rPr lang="en-GB" sz="1000" b="0" dirty="0">
                <a:solidFill>
                  <a:schemeClr val="tx1"/>
                </a:solidFill>
              </a:rPr>
              <a:t>Foreign currency accounts have been translated using Management’s FX rates. </a:t>
            </a:r>
          </a:p>
          <a:p>
            <a:r>
              <a:rPr lang="en-GB" sz="1000" b="1" dirty="0">
                <a:solidFill>
                  <a:schemeClr val="tx2"/>
                </a:solidFill>
              </a:rPr>
              <a:t>Timing of key payments and receipts</a:t>
            </a:r>
          </a:p>
          <a:p>
            <a:pPr marL="171450" indent="-171450">
              <a:spcAft>
                <a:spcPts val="300"/>
              </a:spcAft>
              <a:buFontTx/>
              <a:buChar char="-"/>
            </a:pPr>
            <a:r>
              <a:rPr lang="en-GB" sz="1000" b="0" dirty="0">
                <a:solidFill>
                  <a:schemeClr val="tx1"/>
                </a:solidFill>
              </a:rPr>
              <a:t>Payroll is paid on last Friday of every month</a:t>
            </a:r>
          </a:p>
          <a:p>
            <a:pPr marL="171450" indent="-171450">
              <a:spcAft>
                <a:spcPts val="300"/>
              </a:spcAft>
              <a:buFontTx/>
              <a:buChar char="-"/>
            </a:pPr>
            <a:r>
              <a:rPr lang="en-GB" sz="1000" b="0" dirty="0">
                <a:solidFill>
                  <a:schemeClr val="tx1"/>
                </a:solidFill>
              </a:rPr>
              <a:t>PAYE and NI is paid monthly on 22</a:t>
            </a:r>
            <a:r>
              <a:rPr lang="en-GB" sz="1000" b="0" baseline="30000" dirty="0">
                <a:solidFill>
                  <a:schemeClr val="tx1"/>
                </a:solidFill>
              </a:rPr>
              <a:t>nd</a:t>
            </a:r>
            <a:r>
              <a:rPr lang="en-GB" sz="1000" b="0" dirty="0">
                <a:solidFill>
                  <a:schemeClr val="tx1"/>
                </a:solidFill>
              </a:rPr>
              <a:t> of the following month</a:t>
            </a:r>
          </a:p>
          <a:p>
            <a:pPr marL="171450" indent="-171450">
              <a:spcAft>
                <a:spcPts val="300"/>
              </a:spcAft>
              <a:buFontTx/>
              <a:buChar char="-"/>
            </a:pPr>
            <a:r>
              <a:rPr lang="en-GB" sz="1000" b="0" dirty="0">
                <a:solidFill>
                  <a:schemeClr val="tx1"/>
                </a:solidFill>
              </a:rPr>
              <a:t>Supplier payment runs are made weekly based on payment terms </a:t>
            </a:r>
          </a:p>
          <a:p>
            <a:pPr marL="171450" indent="-171450">
              <a:spcAft>
                <a:spcPts val="300"/>
              </a:spcAft>
              <a:buFontTx/>
              <a:buChar char="-"/>
            </a:pPr>
            <a:r>
              <a:rPr lang="en-GB" sz="1000" b="0" dirty="0">
                <a:solidFill>
                  <a:schemeClr val="tx1"/>
                </a:solidFill>
              </a:rPr>
              <a:t>VAT is paid quarterly in January, April, July and October</a:t>
            </a:r>
          </a:p>
          <a:p>
            <a:pPr marL="171450" indent="-171450">
              <a:spcAft>
                <a:spcPts val="300"/>
              </a:spcAft>
              <a:buFontTx/>
              <a:buChar char="-"/>
            </a:pPr>
            <a:r>
              <a:rPr lang="en-GB" sz="1000" b="0" dirty="0">
                <a:solidFill>
                  <a:schemeClr val="tx1"/>
                </a:solidFill>
              </a:rPr>
              <a:t>Business rates are paid monthly via instalments</a:t>
            </a:r>
          </a:p>
          <a:p>
            <a:pPr marL="171450" indent="-171450">
              <a:spcAft>
                <a:spcPts val="300"/>
              </a:spcAft>
              <a:buFontTx/>
              <a:buChar char="-"/>
            </a:pPr>
            <a:r>
              <a:rPr lang="en-GB" sz="1000" b="0" dirty="0">
                <a:solidFill>
                  <a:schemeClr val="tx1"/>
                </a:solidFill>
              </a:rPr>
              <a:t>Rent is paid either monthly or quarterly depending on the store lease</a:t>
            </a:r>
          </a:p>
          <a:p>
            <a:endParaRPr lang="en-GB" dirty="0"/>
          </a:p>
        </p:txBody>
      </p:sp>
      <p:sp>
        <p:nvSpPr>
          <p:cNvPr id="7" name="Text Placeholder 6">
            <a:extLst>
              <a:ext uri="{FF2B5EF4-FFF2-40B4-BE49-F238E27FC236}">
                <a16:creationId xmlns:a16="http://schemas.microsoft.com/office/drawing/2014/main" id="{FE33A823-5A27-41CD-8902-2A6DEC01C1FD}"/>
              </a:ext>
            </a:extLst>
          </p:cNvPr>
          <p:cNvSpPr>
            <a:spLocks noGrp="1"/>
          </p:cNvSpPr>
          <p:nvPr>
            <p:ph type="body" sz="quarter" idx="25"/>
          </p:nvPr>
        </p:nvSpPr>
        <p:spPr/>
        <p:txBody>
          <a:bodyPr/>
          <a:lstStyle/>
          <a:p>
            <a:r>
              <a:rPr lang="en-GB" dirty="0"/>
              <a:t>Illustrative intra month cash requirement</a:t>
            </a:r>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10"/>
          </p:nvPr>
        </p:nvSpPr>
        <p:spPr>
          <a:xfrm>
            <a:off x="995361" y="1291934"/>
            <a:ext cx="10192299" cy="460800"/>
          </a:xfrm>
        </p:spPr>
        <p:txBody>
          <a:bodyPr/>
          <a:lstStyle/>
          <a:p>
            <a:r>
              <a:rPr lang="en-GB" sz="1000" dirty="0"/>
              <a:t>The cash balance has been on an upward trend in the past six months driven by an increase in sales associated with business growth. Y has an average intramonth funding requirement of £0.5 million, with a maximum requirement of £1.3 million in July 2021, largely due to an increase in cash from three successive draw downs of the </a:t>
            </a:r>
            <a:r>
              <a:rPr lang="en-GB" sz="1000" dirty="0" err="1"/>
              <a:t>yy</a:t>
            </a:r>
            <a:r>
              <a:rPr lang="en-GB" sz="1000" dirty="0"/>
              <a:t> account. At September 2021, there was a £5,000 difference between the </a:t>
            </a:r>
            <a:r>
              <a:rPr lang="en-GB" sz="1000" dirty="0" err="1"/>
              <a:t>yy</a:t>
            </a:r>
            <a:r>
              <a:rPr lang="en-GB" sz="1000" dirty="0"/>
              <a:t> statement and the amount recognised in the management accounts. Management has stated it will investigate this internally and resolve as appropriate prior to completion.</a:t>
            </a:r>
          </a:p>
          <a:p>
            <a:endParaRPr lang="en-GB" sz="1000" dirty="0"/>
          </a:p>
          <a:p>
            <a:endParaRPr lang="en-GB" sz="1000" dirty="0"/>
          </a:p>
          <a:p>
            <a:endParaRPr lang="en-GB" sz="1000" dirty="0"/>
          </a:p>
        </p:txBody>
      </p:sp>
      <p:sp>
        <p:nvSpPr>
          <p:cNvPr id="13" name="Text Placeholder 7">
            <a:extLst>
              <a:ext uri="{FF2B5EF4-FFF2-40B4-BE49-F238E27FC236}">
                <a16:creationId xmlns:a16="http://schemas.microsoft.com/office/drawing/2014/main" id="{7D810D17-3380-600E-4A62-6A937FAF0A5F}"/>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sz="1000"/>
          </a:p>
        </p:txBody>
      </p:sp>
      <p:sp>
        <p:nvSpPr>
          <p:cNvPr id="14" name="Text Placeholder 12">
            <a:extLst>
              <a:ext uri="{FF2B5EF4-FFF2-40B4-BE49-F238E27FC236}">
                <a16:creationId xmlns:a16="http://schemas.microsoft.com/office/drawing/2014/main" id="{AA01C17C-8468-09E6-A678-48DABD4111BD}"/>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55" name="Rectangle 54">
            <a:extLst>
              <a:ext uri="{FF2B5EF4-FFF2-40B4-BE49-F238E27FC236}">
                <a16:creationId xmlns:a16="http://schemas.microsoft.com/office/drawing/2014/main" id="{B06D482A-409E-4B42-B617-1777253BE59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6" name="Rectangle 55">
            <a:extLst>
              <a:ext uri="{FF2B5EF4-FFF2-40B4-BE49-F238E27FC236}">
                <a16:creationId xmlns:a16="http://schemas.microsoft.com/office/drawing/2014/main" id="{05B6DC95-9BD5-45DE-97C9-B39B91BE99D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7" name="Rectangle 56">
            <a:extLst>
              <a:ext uri="{FF2B5EF4-FFF2-40B4-BE49-F238E27FC236}">
                <a16:creationId xmlns:a16="http://schemas.microsoft.com/office/drawing/2014/main" id="{FBA0ABE4-F913-49B9-B31F-AA2DC6A27945}"/>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8" name="Rectangle 57">
            <a:extLst>
              <a:ext uri="{FF2B5EF4-FFF2-40B4-BE49-F238E27FC236}">
                <a16:creationId xmlns:a16="http://schemas.microsoft.com/office/drawing/2014/main" id="{3B5DC148-D5F6-47E9-82C1-F38E86E8A8F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59" name="Rectangle 58">
            <a:extLst>
              <a:ext uri="{FF2B5EF4-FFF2-40B4-BE49-F238E27FC236}">
                <a16:creationId xmlns:a16="http://schemas.microsoft.com/office/drawing/2014/main" id="{F2B08A58-587D-476D-BFDC-7E8EDAD7801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0" name="Rectangle 59">
            <a:extLst>
              <a:ext uri="{FF2B5EF4-FFF2-40B4-BE49-F238E27FC236}">
                <a16:creationId xmlns:a16="http://schemas.microsoft.com/office/drawing/2014/main" id="{1C588A33-2593-4B1C-A631-B56315B932EA}"/>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1" name="Rectangle 60">
            <a:extLst>
              <a:ext uri="{FF2B5EF4-FFF2-40B4-BE49-F238E27FC236}">
                <a16:creationId xmlns:a16="http://schemas.microsoft.com/office/drawing/2014/main" id="{F4C55134-A47B-4154-A060-1DB5D85994AB}"/>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2" name="Rectangle 61">
            <a:extLst>
              <a:ext uri="{FF2B5EF4-FFF2-40B4-BE49-F238E27FC236}">
                <a16:creationId xmlns:a16="http://schemas.microsoft.com/office/drawing/2014/main" id="{749DE61F-A93E-4668-9177-6FB3F4E45CE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3" name="Rectangle 62">
            <a:extLst>
              <a:ext uri="{FF2B5EF4-FFF2-40B4-BE49-F238E27FC236}">
                <a16:creationId xmlns:a16="http://schemas.microsoft.com/office/drawing/2014/main" id="{C9EDCEF5-2D65-4EC0-9948-78BBA7CBD2E8}"/>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pic>
        <p:nvPicPr>
          <p:cNvPr id="24" name="Picture 23">
            <a:extLst>
              <a:ext uri="{FF2B5EF4-FFF2-40B4-BE49-F238E27FC236}">
                <a16:creationId xmlns:a16="http://schemas.microsoft.com/office/drawing/2014/main" id="{F90F2A01-A817-4E1A-B93A-36A60705A33E}"/>
              </a:ext>
            </a:extLst>
          </p:cNvPr>
          <p:cNvPicPr>
            <a:picLocks noChangeAspect="1"/>
          </p:cNvPicPr>
          <p:nvPr>
            <p:custDataLst>
              <p:tags r:id="rId3"/>
            </p:custDataLst>
          </p:nvPr>
        </p:nvPicPr>
        <p:blipFill>
          <a:blip r:embed="rId10"/>
          <a:stretch>
            <a:fillRect/>
          </a:stretch>
        </p:blipFill>
        <p:spPr>
          <a:xfrm>
            <a:off x="995361" y="3893589"/>
            <a:ext cx="5038725" cy="1751611"/>
          </a:xfrm>
          <a:prstGeom prst="rect">
            <a:avLst/>
          </a:prstGeom>
        </p:spPr>
      </p:pic>
      <p:sp>
        <p:nvSpPr>
          <p:cNvPr id="64" name="Text Placeholder 12">
            <a:extLst>
              <a:ext uri="{FF2B5EF4-FFF2-40B4-BE49-F238E27FC236}">
                <a16:creationId xmlns:a16="http://schemas.microsoft.com/office/drawing/2014/main" id="{80D77DBC-8763-446E-B4B5-2C43BCAB7A7F}"/>
              </a:ext>
            </a:extLst>
          </p:cNvPr>
          <p:cNvSpPr txBox="1">
            <a:spLocks/>
          </p:cNvSpPr>
          <p:nvPr/>
        </p:nvSpPr>
        <p:spPr>
          <a:xfrm>
            <a:off x="1001439" y="563461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(all): </a:t>
            </a:r>
            <a:r>
              <a:rPr lang="en-GB" sz="600" b="0" dirty="0">
                <a:solidFill>
                  <a:schemeClr val="tx2"/>
                </a:solidFill>
                <a:latin typeface="Arial" panose="020B0604020202020204" pitchFamily="34" charset="0"/>
              </a:rPr>
              <a:t>Bank statements	</a:t>
            </a:r>
            <a:endParaRPr lang="en-US" sz="600" b="0" dirty="0">
              <a:solidFill>
                <a:schemeClr val="tx2"/>
              </a:solidFill>
              <a:latin typeface="Arial" panose="020B0604020202020204" pitchFamily="34" charset="0"/>
            </a:endParaRPr>
          </a:p>
        </p:txBody>
      </p:sp>
      <p:sp>
        <p:nvSpPr>
          <p:cNvPr id="3" name="UpSlide SubSection Marker" hidden="1">
            <a:extLst>
              <a:ext uri="{FF2B5EF4-FFF2-40B4-BE49-F238E27FC236}">
                <a16:creationId xmlns:a16="http://schemas.microsoft.com/office/drawing/2014/main" id="{378BE68F-80B9-42AC-8D48-0DC12AAADD0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Intra-month cash</a:t>
            </a:r>
            <a:endParaRPr lang="en-GB" sz="900" dirty="0">
              <a:solidFill>
                <a:schemeClr val="bg1"/>
              </a:solidFill>
            </a:endParaRPr>
          </a:p>
        </p:txBody>
      </p:sp>
      <p:grpSp>
        <p:nvGrpSpPr>
          <p:cNvPr id="30" name="Group 29">
            <a:extLst>
              <a:ext uri="{FF2B5EF4-FFF2-40B4-BE49-F238E27FC236}">
                <a16:creationId xmlns:a16="http://schemas.microsoft.com/office/drawing/2014/main" id="{C342875C-8463-4108-A27E-16B19B405FE9}"/>
              </a:ext>
            </a:extLst>
          </p:cNvPr>
          <p:cNvGrpSpPr/>
          <p:nvPr>
            <p:custDataLst>
              <p:tags r:id="rId5"/>
            </p:custDataLst>
          </p:nvPr>
        </p:nvGrpSpPr>
        <p:grpSpPr>
          <a:xfrm>
            <a:off x="995364" y="153170"/>
            <a:ext cx="6213180" cy="195814"/>
            <a:chOff x="995364" y="153170"/>
            <a:chExt cx="6213180" cy="195814"/>
          </a:xfrm>
        </p:grpSpPr>
        <p:sp>
          <p:nvSpPr>
            <p:cNvPr id="31"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4641932"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Cash flows</a:t>
              </a:r>
            </a:p>
          </p:txBody>
        </p:sp>
        <p:sp>
          <p:nvSpPr>
            <p:cNvPr id="36"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3075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1971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540330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12" action="ppaction://hlinksldjump"/>
            <a:extLst>
              <a:ext uri="{FF2B5EF4-FFF2-40B4-BE49-F238E27FC236}">
                <a16:creationId xmlns:a16="http://schemas.microsoft.com/office/drawing/2014/main" id="{BB6748A7-A85F-4897-B6E9-AE2BBA218D73}"/>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Reporting environment</a:t>
            </a:r>
          </a:p>
        </p:txBody>
      </p:sp>
      <p:sp>
        <p:nvSpPr>
          <p:cNvPr id="14" name="TextBox 13">
            <a:hlinkClick r:id="rId13" action="ppaction://hlinksldjump"/>
            <a:extLst>
              <a:ext uri="{FF2B5EF4-FFF2-40B4-BE49-F238E27FC236}">
                <a16:creationId xmlns:a16="http://schemas.microsoft.com/office/drawing/2014/main" id="{1D6F06B5-2F2E-4806-9BDB-A7AE9E0E7DCB}"/>
              </a:ext>
            </a:extLst>
          </p:cNvPr>
          <p:cNvSpPr txBox="1"/>
          <p:nvPr>
            <p:custDataLst>
              <p:tags r:id="rId3"/>
            </p:custDataLst>
          </p:nvPr>
        </p:nvSpPr>
        <p:spPr>
          <a:xfrm>
            <a:off x="1735455" y="3951428"/>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Financial reporting environment</a:t>
            </a:r>
          </a:p>
        </p:txBody>
      </p:sp>
      <p:sp>
        <p:nvSpPr>
          <p:cNvPr id="15" name="TextBox 14">
            <a:hlinkClick r:id="rId14" action="ppaction://hlinksldjump"/>
            <a:extLst>
              <a:ext uri="{FF2B5EF4-FFF2-40B4-BE49-F238E27FC236}">
                <a16:creationId xmlns:a16="http://schemas.microsoft.com/office/drawing/2014/main" id="{F6226A15-F7A0-479D-8B3B-EB28F6408346}"/>
              </a:ext>
            </a:extLst>
          </p:cNvPr>
          <p:cNvSpPr txBox="1"/>
          <p:nvPr>
            <p:custDataLst>
              <p:tags r:id="rId4"/>
            </p:custDataLst>
          </p:nvPr>
        </p:nvSpPr>
        <p:spPr>
          <a:xfrm>
            <a:off x="1735455" y="4330428"/>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Accounting policies</a:t>
            </a:r>
          </a:p>
        </p:txBody>
      </p:sp>
      <p:sp>
        <p:nvSpPr>
          <p:cNvPr id="16" name="TextBox 15">
            <a:hlinkClick r:id="rId12" action="ppaction://hlinksldjump"/>
            <a:extLst>
              <a:ext uri="{FF2B5EF4-FFF2-40B4-BE49-F238E27FC236}">
                <a16:creationId xmlns:a16="http://schemas.microsoft.com/office/drawing/2014/main" id="{A2A3B7E1-1BB2-43AA-A7D6-6190F499BD7B}"/>
              </a:ext>
            </a:extLst>
          </p:cNvPr>
          <p:cNvSpPr txBox="1"/>
          <p:nvPr>
            <p:custDataLst>
              <p:tags r:id="rId5"/>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6.</a:t>
            </a:r>
          </a:p>
        </p:txBody>
      </p:sp>
      <p:sp>
        <p:nvSpPr>
          <p:cNvPr id="17" name="TextBox 16">
            <a:hlinkClick r:id="rId12" action="ppaction://hlinksldjump"/>
            <a:extLst>
              <a:ext uri="{FF2B5EF4-FFF2-40B4-BE49-F238E27FC236}">
                <a16:creationId xmlns:a16="http://schemas.microsoft.com/office/drawing/2014/main" id="{52156004-E08E-4B4E-85B4-F510F74A72A0}"/>
              </a:ext>
            </a:extLst>
          </p:cNvPr>
          <p:cNvSpPr txBox="1"/>
          <p:nvPr>
            <p:custDataLst>
              <p:tags r:id="rId6"/>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78</a:t>
            </a:r>
          </a:p>
        </p:txBody>
      </p:sp>
      <p:sp>
        <p:nvSpPr>
          <p:cNvPr id="18" name="TextBox 17">
            <a:hlinkClick r:id="rId13" action="ppaction://hlinksldjump"/>
            <a:extLst>
              <a:ext uri="{FF2B5EF4-FFF2-40B4-BE49-F238E27FC236}">
                <a16:creationId xmlns:a16="http://schemas.microsoft.com/office/drawing/2014/main" id="{A5A13FAF-BAF5-4641-B188-D41397915AFF}"/>
              </a:ext>
            </a:extLst>
          </p:cNvPr>
          <p:cNvSpPr txBox="1"/>
          <p:nvPr>
            <p:custDataLst>
              <p:tags r:id="rId7"/>
            </p:custDataLst>
          </p:nvPr>
        </p:nvSpPr>
        <p:spPr bwMode="auto">
          <a:xfrm>
            <a:off x="1303409" y="3951428"/>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6.1</a:t>
            </a:r>
          </a:p>
        </p:txBody>
      </p:sp>
      <p:sp>
        <p:nvSpPr>
          <p:cNvPr id="19" name="TextBox 18">
            <a:hlinkClick r:id="rId14" action="ppaction://hlinksldjump"/>
            <a:extLst>
              <a:ext uri="{FF2B5EF4-FFF2-40B4-BE49-F238E27FC236}">
                <a16:creationId xmlns:a16="http://schemas.microsoft.com/office/drawing/2014/main" id="{970DC1A4-DDA1-44B7-A2A2-3FDA5F54C2CF}"/>
              </a:ext>
            </a:extLst>
          </p:cNvPr>
          <p:cNvSpPr txBox="1"/>
          <p:nvPr>
            <p:custDataLst>
              <p:tags r:id="rId8"/>
            </p:custDataLst>
          </p:nvPr>
        </p:nvSpPr>
        <p:spPr bwMode="auto">
          <a:xfrm>
            <a:off x="1303409" y="4330428"/>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6.2</a:t>
            </a:r>
          </a:p>
        </p:txBody>
      </p:sp>
      <p:sp>
        <p:nvSpPr>
          <p:cNvPr id="20" name="TextBox 19">
            <a:hlinkClick r:id="rId13" action="ppaction://hlinksldjump"/>
            <a:extLst>
              <a:ext uri="{FF2B5EF4-FFF2-40B4-BE49-F238E27FC236}">
                <a16:creationId xmlns:a16="http://schemas.microsoft.com/office/drawing/2014/main" id="{4A79F5A6-25DE-49CB-99C7-F26CF284F7E5}"/>
              </a:ext>
            </a:extLst>
          </p:cNvPr>
          <p:cNvSpPr txBox="1"/>
          <p:nvPr>
            <p:custDataLst>
              <p:tags r:id="rId9"/>
            </p:custDataLst>
          </p:nvPr>
        </p:nvSpPr>
        <p:spPr>
          <a:xfrm>
            <a:off x="7004859" y="3951428"/>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79</a:t>
            </a:r>
          </a:p>
        </p:txBody>
      </p:sp>
      <p:sp>
        <p:nvSpPr>
          <p:cNvPr id="21" name="TextBox 20">
            <a:hlinkClick r:id="rId14" action="ppaction://hlinksldjump"/>
            <a:extLst>
              <a:ext uri="{FF2B5EF4-FFF2-40B4-BE49-F238E27FC236}">
                <a16:creationId xmlns:a16="http://schemas.microsoft.com/office/drawing/2014/main" id="{890A9968-7D14-47C4-8F4E-3AC587626C90}"/>
              </a:ext>
            </a:extLst>
          </p:cNvPr>
          <p:cNvSpPr txBox="1"/>
          <p:nvPr>
            <p:custDataLst>
              <p:tags r:id="rId10"/>
            </p:custDataLst>
          </p:nvPr>
        </p:nvSpPr>
        <p:spPr>
          <a:xfrm>
            <a:off x="7004859" y="4330428"/>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81</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a:lstStyle/>
          <a:p>
            <a:r>
              <a:rPr lang="en-US" dirty="0"/>
              <a:t>Financial reporting environment (1)</a:t>
            </a:r>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10"/>
          </p:nvPr>
        </p:nvSpPr>
        <p:spPr/>
        <p:txBody>
          <a:bodyPr/>
          <a:lstStyle/>
          <a:p>
            <a:r>
              <a:rPr lang="en-US"/>
              <a:t>The information on this page is based on management information and management discussions.  We have not performed any testing of systems or controls, and have not performed an audit or review of any financial information.</a:t>
            </a:r>
          </a:p>
        </p:txBody>
      </p:sp>
      <p:sp>
        <p:nvSpPr>
          <p:cNvPr id="26" name="Text Placeholder 25">
            <a:extLst>
              <a:ext uri="{FF2B5EF4-FFF2-40B4-BE49-F238E27FC236}">
                <a16:creationId xmlns:a16="http://schemas.microsoft.com/office/drawing/2014/main" id="{B6D0E93A-345D-D88D-BB63-389473DFF5BA}"/>
              </a:ext>
            </a:extLst>
          </p:cNvPr>
          <p:cNvSpPr>
            <a:spLocks noGrp="1"/>
          </p:cNvSpPr>
          <p:nvPr>
            <p:ph type="body" sz="quarter" idx="23"/>
          </p:nvPr>
        </p:nvSpPr>
        <p:spPr>
          <a:xfrm>
            <a:off x="995361" y="2235227"/>
            <a:ext cx="5036400" cy="1911971"/>
          </a:xfrm>
        </p:spPr>
        <p:txBody>
          <a:bodyPr/>
          <a:lstStyle/>
          <a:p>
            <a:pPr lvl="1">
              <a:spcAft>
                <a:spcPts val="200"/>
              </a:spcAft>
            </a:pPr>
            <a:r>
              <a:rPr lang="en-GB" sz="900" noProof="0" dirty="0"/>
              <a:t>The company was audited by </a:t>
            </a:r>
            <a:r>
              <a:rPr lang="en-GB" sz="900" noProof="0" dirty="0" err="1"/>
              <a:t>yy</a:t>
            </a:r>
            <a:r>
              <a:rPr lang="en-GB" sz="900" noProof="0" dirty="0"/>
              <a:t> in FY20 and FY21 (with the FY19 opening balances audited as part of the FY20 accounts).</a:t>
            </a:r>
          </a:p>
          <a:p>
            <a:pPr lvl="1">
              <a:spcAft>
                <a:spcPts val="200"/>
              </a:spcAft>
            </a:pPr>
            <a:r>
              <a:rPr lang="en-GB" sz="900" noProof="0" dirty="0"/>
              <a:t>The company accounts under FRS 102 and does not have any non-standard accounting policies. Accounting policies are discussed further on the following page. </a:t>
            </a:r>
          </a:p>
          <a:p>
            <a:pPr>
              <a:spcAft>
                <a:spcPts val="200"/>
              </a:spcAft>
            </a:pPr>
            <a:r>
              <a:rPr lang="en-GB" sz="900" b="0" dirty="0">
                <a:solidFill>
                  <a:srgbClr val="000000"/>
                </a:solidFill>
              </a:rPr>
              <a:t>The budget setting process commences in September. The Finance Manager prepares a forecast model and weekly meetings are held with the Management Team to discuss sales targets, stock and buying which are the key inputs for the model. The cost base required to support these targets is discussed with the relevant teams. </a:t>
            </a:r>
          </a:p>
          <a:p>
            <a:pPr>
              <a:spcAft>
                <a:spcPts val="200"/>
              </a:spcAft>
            </a:pPr>
            <a:r>
              <a:rPr lang="en-GB" sz="900" b="0" dirty="0">
                <a:solidFill>
                  <a:srgbClr val="000000"/>
                </a:solidFill>
              </a:rPr>
              <a:t>The first review is performed by the founder, the COO and the Chairman in November before being presented to the Management Team and subsequently the Board for final approval in the December Board meeting. </a:t>
            </a:r>
          </a:p>
          <a:p>
            <a:pPr>
              <a:spcAft>
                <a:spcPts val="200"/>
              </a:spcAft>
            </a:pPr>
            <a:endParaRPr lang="en-GB" sz="900" b="0" dirty="0">
              <a:solidFill>
                <a:srgbClr val="000000"/>
              </a:solidFill>
            </a:endParaRPr>
          </a:p>
          <a:p>
            <a:pPr>
              <a:spcAft>
                <a:spcPts val="200"/>
              </a:spcAft>
            </a:pPr>
            <a:endParaRPr lang="en-GB" sz="900" b="0" dirty="0">
              <a:solidFill>
                <a:srgbClr val="000000"/>
              </a:solidFill>
            </a:endParaRPr>
          </a:p>
          <a:p>
            <a:pPr>
              <a:spcAft>
                <a:spcPts val="200"/>
              </a:spcAft>
            </a:pPr>
            <a:endParaRPr lang="en-GB" sz="900" b="0" dirty="0">
              <a:solidFill>
                <a:srgbClr val="000000"/>
              </a:solidFill>
            </a:endParaRPr>
          </a:p>
          <a:p>
            <a:pPr>
              <a:spcAft>
                <a:spcPts val="200"/>
              </a:spcAft>
            </a:pPr>
            <a:endParaRPr lang="en-US" sz="900" dirty="0"/>
          </a:p>
        </p:txBody>
      </p:sp>
      <p:sp>
        <p:nvSpPr>
          <p:cNvPr id="27" name="Text Placeholder 26">
            <a:extLst>
              <a:ext uri="{FF2B5EF4-FFF2-40B4-BE49-F238E27FC236}">
                <a16:creationId xmlns:a16="http://schemas.microsoft.com/office/drawing/2014/main" id="{382D9D77-366A-F78E-3086-4760FC4ED6BB}"/>
              </a:ext>
            </a:extLst>
          </p:cNvPr>
          <p:cNvSpPr>
            <a:spLocks noGrp="1"/>
          </p:cNvSpPr>
          <p:nvPr>
            <p:ph type="body" sz="quarter" idx="24"/>
          </p:nvPr>
        </p:nvSpPr>
        <p:spPr/>
        <p:txBody>
          <a:bodyPr/>
          <a:lstStyle/>
          <a:p>
            <a:pPr lvl="1"/>
            <a:r>
              <a:rPr lang="en-US" sz="900" noProof="0" dirty="0"/>
              <a:t>The finance team consists of a Finance Manager, </a:t>
            </a:r>
            <a:r>
              <a:rPr lang="en-GB" sz="900" b="0" dirty="0">
                <a:solidFill>
                  <a:srgbClr val="000000"/>
                </a:solidFill>
              </a:rPr>
              <a:t>a Finance Analyst and a Finance Assistant. A finance Administrative Assistant was hired in July 2021 to support the finance team with increased workload associated with business growth.</a:t>
            </a:r>
          </a:p>
          <a:p>
            <a:pPr lvl="1"/>
            <a:r>
              <a:rPr lang="en-GB" sz="900" b="0" dirty="0">
                <a:solidFill>
                  <a:srgbClr val="000000"/>
                </a:solidFill>
              </a:rPr>
              <a:t>Bank reconciliations, along with other balance sheet reconciliations, are prepared by the finance manager or other members of the finance team and reviewed by the COO as part of the month end process.</a:t>
            </a:r>
          </a:p>
          <a:p>
            <a:pPr lvl="1"/>
            <a:r>
              <a:rPr lang="en-GB" sz="900" b="0" dirty="0">
                <a:solidFill>
                  <a:srgbClr val="000000"/>
                </a:solidFill>
              </a:rPr>
              <a:t>Supplier payments are made through the </a:t>
            </a:r>
            <a:r>
              <a:rPr lang="en-GB" sz="900" b="0" dirty="0" err="1">
                <a:solidFill>
                  <a:srgbClr val="000000"/>
                </a:solidFill>
              </a:rPr>
              <a:t>yy</a:t>
            </a:r>
            <a:r>
              <a:rPr lang="en-GB" sz="900" b="0" dirty="0">
                <a:solidFill>
                  <a:srgbClr val="000000"/>
                </a:solidFill>
              </a:rPr>
              <a:t> net platform which is dual control and requires two approvals for each payment. Each member of the finance team has an approval band for purchases, with a £20,000 limit for Finance Assistant, £300,000 limit for Finance Analyst, £500,000 limit for Finance Manager and £1 million limit for the COO (which is reviewed and amended temporarily to process VAT payments).</a:t>
            </a:r>
          </a:p>
          <a:p>
            <a:pPr lvl="1"/>
            <a:r>
              <a:rPr lang="en-GB" sz="900" b="0" dirty="0">
                <a:solidFill>
                  <a:srgbClr val="000000"/>
                </a:solidFill>
              </a:rPr>
              <a:t>Payroll is outsourced to </a:t>
            </a:r>
            <a:r>
              <a:rPr lang="en-GB" sz="900" b="0" dirty="0" err="1">
                <a:solidFill>
                  <a:srgbClr val="000000"/>
                </a:solidFill>
              </a:rPr>
              <a:t>yy</a:t>
            </a:r>
            <a:r>
              <a:rPr lang="en-GB" sz="900" b="0" dirty="0">
                <a:solidFill>
                  <a:srgbClr val="000000"/>
                </a:solidFill>
              </a:rPr>
              <a:t>, a third party. The salary adjustments and the subsequent payroll reports are reviewed by the COO and Finance Manager and authorised by the COO.</a:t>
            </a:r>
          </a:p>
          <a:p>
            <a:pPr lvl="1"/>
            <a:r>
              <a:rPr lang="en-GB" sz="900" b="0" dirty="0">
                <a:solidFill>
                  <a:srgbClr val="000000"/>
                </a:solidFill>
              </a:rPr>
              <a:t>Payroll is processed through </a:t>
            </a:r>
            <a:r>
              <a:rPr lang="en-GB" sz="900" b="0" dirty="0" err="1">
                <a:solidFill>
                  <a:srgbClr val="000000"/>
                </a:solidFill>
              </a:rPr>
              <a:t>yy</a:t>
            </a:r>
            <a:r>
              <a:rPr lang="en-GB" sz="900" b="0" dirty="0">
                <a:solidFill>
                  <a:srgbClr val="000000"/>
                </a:solidFill>
              </a:rPr>
              <a:t> and paid on the last Friday of each month.</a:t>
            </a:r>
          </a:p>
          <a:p>
            <a:pPr lvl="1"/>
            <a:endParaRPr lang="en-GB" sz="900" b="0" dirty="0">
              <a:solidFill>
                <a:srgbClr val="000000"/>
              </a:solidFill>
            </a:endParaRPr>
          </a:p>
          <a:p>
            <a:pPr lvl="1"/>
            <a:endParaRPr lang="en-GB" sz="900" b="0" dirty="0">
              <a:solidFill>
                <a:srgbClr val="000000"/>
              </a:solidFill>
            </a:endParaRPr>
          </a:p>
          <a:p>
            <a:pPr lvl="1"/>
            <a:endParaRPr lang="en-US" sz="900" noProof="0" dirty="0"/>
          </a:p>
        </p:txBody>
      </p:sp>
      <p:sp>
        <p:nvSpPr>
          <p:cNvPr id="15" name="Text Placeholder 14">
            <a:extLst>
              <a:ext uri="{FF2B5EF4-FFF2-40B4-BE49-F238E27FC236}">
                <a16:creationId xmlns:a16="http://schemas.microsoft.com/office/drawing/2014/main" id="{AC8B6728-7DC4-C37B-836B-60E4D60518E3}"/>
              </a:ext>
            </a:extLst>
          </p:cNvPr>
          <p:cNvSpPr>
            <a:spLocks noGrp="1"/>
          </p:cNvSpPr>
          <p:nvPr>
            <p:ph type="body" sz="quarter" idx="26"/>
          </p:nvPr>
        </p:nvSpPr>
        <p:spPr/>
        <p:txBody>
          <a:bodyPr/>
          <a:lstStyle/>
          <a:p>
            <a:pPr>
              <a:spcAft>
                <a:spcPts val="200"/>
              </a:spcAft>
            </a:pPr>
            <a:r>
              <a:rPr lang="en-GB" sz="900" b="0" dirty="0">
                <a:solidFill>
                  <a:srgbClr val="000000"/>
                </a:solidFill>
              </a:rPr>
              <a:t>The monthly reporting process is typically completed by the third week following the month end. Management accounts are prepared by all members of the finance team and reviewed by the Finance Manager and the COO. The accounts are later reviewed by the Management Team and the Board. The key elements of the management accounts include:</a:t>
            </a:r>
          </a:p>
          <a:p>
            <a:pPr marL="171450" indent="-171450">
              <a:spcBef>
                <a:spcPts val="400"/>
              </a:spcBef>
              <a:spcAft>
                <a:spcPts val="200"/>
              </a:spcAft>
              <a:buFontTx/>
              <a:buChar char="-"/>
            </a:pPr>
            <a:r>
              <a:rPr lang="en-GB" sz="900" b="0" dirty="0">
                <a:solidFill>
                  <a:srgbClr val="000000"/>
                </a:solidFill>
              </a:rPr>
              <a:t>Statement of Profit &amp; Loss (at a business level and at an individual boutique/concession level);</a:t>
            </a:r>
          </a:p>
          <a:p>
            <a:pPr marL="171450" indent="-171450">
              <a:spcBef>
                <a:spcPts val="400"/>
              </a:spcBef>
              <a:spcAft>
                <a:spcPts val="200"/>
              </a:spcAft>
              <a:buFontTx/>
              <a:buChar char="-"/>
            </a:pPr>
            <a:r>
              <a:rPr lang="en-GB" sz="900" b="0" dirty="0">
                <a:solidFill>
                  <a:srgbClr val="000000"/>
                </a:solidFill>
              </a:rPr>
              <a:t>Balance Sheet;</a:t>
            </a:r>
          </a:p>
          <a:p>
            <a:pPr marL="171450" indent="-171450">
              <a:spcBef>
                <a:spcPts val="400"/>
              </a:spcBef>
              <a:spcAft>
                <a:spcPts val="200"/>
              </a:spcAft>
              <a:buFontTx/>
              <a:buChar char="-"/>
            </a:pPr>
            <a:r>
              <a:rPr lang="en-GB" sz="900" b="0" dirty="0">
                <a:solidFill>
                  <a:srgbClr val="000000"/>
                </a:solidFill>
              </a:rPr>
              <a:t>Cash flow.</a:t>
            </a:r>
          </a:p>
          <a:p>
            <a:pPr>
              <a:spcAft>
                <a:spcPts val="200"/>
              </a:spcAft>
            </a:pPr>
            <a:r>
              <a:rPr lang="en-GB" sz="900" b="0" dirty="0">
                <a:solidFill>
                  <a:schemeClr val="tx1"/>
                </a:solidFill>
              </a:rPr>
              <a:t>The Statement of Profit &amp; Loss is presented monthly, along with a monthly budget (to which variances are calculated) and monthly actuals from prior year.</a:t>
            </a:r>
          </a:p>
          <a:p>
            <a:pPr>
              <a:spcAft>
                <a:spcPts val="200"/>
              </a:spcAft>
            </a:pPr>
            <a:r>
              <a:rPr lang="en-GB" sz="900" b="0" dirty="0">
                <a:solidFill>
                  <a:srgbClr val="000000"/>
                </a:solidFill>
              </a:rPr>
              <a:t>KPIs such as sales by channel, new customers, customer acquisition costs, ROAS, product margin % and stock cover are reviewed weekly at the Trade Meeting.</a:t>
            </a:r>
          </a:p>
          <a:p>
            <a:endParaRPr lang="en-GB" sz="900" b="0" dirty="0">
              <a:solidFill>
                <a:schemeClr val="tx1"/>
              </a:solidFill>
            </a:endParaRPr>
          </a:p>
          <a:p>
            <a:endParaRPr lang="en-IN" sz="900" dirty="0"/>
          </a:p>
          <a:p>
            <a:endParaRPr lang="en-IN" sz="900" dirty="0"/>
          </a:p>
        </p:txBody>
      </p:sp>
      <p:sp>
        <p:nvSpPr>
          <p:cNvPr id="32" name="Text Placeholder 31">
            <a:extLst>
              <a:ext uri="{FF2B5EF4-FFF2-40B4-BE49-F238E27FC236}">
                <a16:creationId xmlns:a16="http://schemas.microsoft.com/office/drawing/2014/main" id="{7BF3631D-182B-9749-6EB3-2183298B1FE2}"/>
              </a:ext>
            </a:extLst>
          </p:cNvPr>
          <p:cNvSpPr>
            <a:spLocks noGrp="1"/>
          </p:cNvSpPr>
          <p:nvPr>
            <p:ph type="body" sz="quarter" idx="11"/>
          </p:nvPr>
        </p:nvSpPr>
        <p:spPr/>
        <p:txBody>
          <a:bodyPr/>
          <a:lstStyle/>
          <a:p>
            <a:r>
              <a:rPr lang="en-US" dirty="0"/>
              <a:t>Finance team and control environment</a:t>
            </a:r>
          </a:p>
        </p:txBody>
      </p:sp>
      <p:sp>
        <p:nvSpPr>
          <p:cNvPr id="33" name="Text Placeholder 32">
            <a:extLst>
              <a:ext uri="{FF2B5EF4-FFF2-40B4-BE49-F238E27FC236}">
                <a16:creationId xmlns:a16="http://schemas.microsoft.com/office/drawing/2014/main" id="{304B027B-399A-A368-022D-53FB67040DFB}"/>
              </a:ext>
            </a:extLst>
          </p:cNvPr>
          <p:cNvSpPr>
            <a:spLocks noGrp="1"/>
          </p:cNvSpPr>
          <p:nvPr>
            <p:ph type="body" sz="quarter" idx="25"/>
          </p:nvPr>
        </p:nvSpPr>
        <p:spPr/>
        <p:txBody>
          <a:bodyPr/>
          <a:lstStyle/>
          <a:p>
            <a:r>
              <a:rPr lang="en-IN" dirty="0"/>
              <a:t>External audit and findings and budgeting</a:t>
            </a:r>
          </a:p>
        </p:txBody>
      </p:sp>
      <p:sp>
        <p:nvSpPr>
          <p:cNvPr id="24" name="Text Placeholder 23">
            <a:extLst>
              <a:ext uri="{FF2B5EF4-FFF2-40B4-BE49-F238E27FC236}">
                <a16:creationId xmlns:a16="http://schemas.microsoft.com/office/drawing/2014/main" id="{D2EAD0CF-FF3E-2400-C5DC-A9540469AE5B}"/>
              </a:ext>
            </a:extLst>
          </p:cNvPr>
          <p:cNvSpPr>
            <a:spLocks noGrp="1"/>
          </p:cNvSpPr>
          <p:nvPr>
            <p:ph type="body" sz="quarter" idx="35"/>
          </p:nvPr>
        </p:nvSpPr>
        <p:spPr/>
        <p:txBody>
          <a:bodyPr/>
          <a:lstStyle/>
          <a:p>
            <a:r>
              <a:rPr lang="en-US" dirty="0"/>
              <a:t>Monthly management accounts</a:t>
            </a:r>
          </a:p>
        </p:txBody>
      </p:sp>
      <p:sp>
        <p:nvSpPr>
          <p:cNvPr id="3" name="Text Placeholder 7">
            <a:extLst>
              <a:ext uri="{FF2B5EF4-FFF2-40B4-BE49-F238E27FC236}">
                <a16:creationId xmlns:a16="http://schemas.microsoft.com/office/drawing/2014/main" id="{56E2E6FD-BFE8-6E8A-CDBB-09A1A8F6A9B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 name="Text Placeholder 12">
            <a:extLst>
              <a:ext uri="{FF2B5EF4-FFF2-40B4-BE49-F238E27FC236}">
                <a16:creationId xmlns:a16="http://schemas.microsoft.com/office/drawing/2014/main" id="{0EF2D66F-067F-C587-4355-1D30F74E6871}"/>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5" name="Rectangle 54">
            <a:extLst>
              <a:ext uri="{FF2B5EF4-FFF2-40B4-BE49-F238E27FC236}">
                <a16:creationId xmlns:a16="http://schemas.microsoft.com/office/drawing/2014/main" id="{C777DBAA-8754-4AE1-90F8-1651EC5C8E4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6" name="Rectangle 55">
            <a:extLst>
              <a:ext uri="{FF2B5EF4-FFF2-40B4-BE49-F238E27FC236}">
                <a16:creationId xmlns:a16="http://schemas.microsoft.com/office/drawing/2014/main" id="{2E3232CF-A761-4C8D-9AE2-F7577EB31FB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57" name="Rectangle 56">
            <a:extLst>
              <a:ext uri="{FF2B5EF4-FFF2-40B4-BE49-F238E27FC236}">
                <a16:creationId xmlns:a16="http://schemas.microsoft.com/office/drawing/2014/main" id="{6C260D09-2535-4922-BF12-58A97461AD7C}"/>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1" name="Rectangle 60">
            <a:extLst>
              <a:ext uri="{FF2B5EF4-FFF2-40B4-BE49-F238E27FC236}">
                <a16:creationId xmlns:a16="http://schemas.microsoft.com/office/drawing/2014/main" id="{FA236B02-D649-4516-B89B-5A822F6E6425}"/>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 name="UpSlide SubSection Marker" hidden="1">
            <a:extLst>
              <a:ext uri="{FF2B5EF4-FFF2-40B4-BE49-F238E27FC236}">
                <a16:creationId xmlns:a16="http://schemas.microsoft.com/office/drawing/2014/main" id="{FFC08750-5882-4267-8316-AA8474ACD19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Financial reporting environment</a:t>
            </a:r>
            <a:endParaRPr lang="en-GB" sz="900" dirty="0">
              <a:solidFill>
                <a:schemeClr val="bg1"/>
              </a:solidFill>
            </a:endParaRPr>
          </a:p>
        </p:txBody>
      </p:sp>
      <p:grpSp>
        <p:nvGrpSpPr>
          <p:cNvPr id="5" name="Group 4">
            <a:extLst>
              <a:ext uri="{FF2B5EF4-FFF2-40B4-BE49-F238E27FC236}">
                <a16:creationId xmlns:a16="http://schemas.microsoft.com/office/drawing/2014/main" id="{5C35B17E-D246-4D15-B0A7-7496461BD431}"/>
              </a:ext>
            </a:extLst>
          </p:cNvPr>
          <p:cNvGrpSpPr/>
          <p:nvPr>
            <p:custDataLst>
              <p:tags r:id="rId3"/>
            </p:custDataLst>
          </p:nvPr>
        </p:nvGrpSpPr>
        <p:grpSpPr>
          <a:xfrm>
            <a:off x="995364" y="153170"/>
            <a:ext cx="6259666" cy="195814"/>
            <a:chOff x="995364" y="153170"/>
            <a:chExt cx="6259666" cy="195814"/>
          </a:xfrm>
        </p:grpSpPr>
        <p:sp>
          <p:nvSpPr>
            <p:cNvPr id="31"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9"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02383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a:lstStyle/>
          <a:p>
            <a:r>
              <a:rPr lang="en-US" dirty="0"/>
              <a:t>Financial reporting environment (2)</a:t>
            </a:r>
          </a:p>
        </p:txBody>
      </p:sp>
      <p:sp>
        <p:nvSpPr>
          <p:cNvPr id="26" name="Text Placeholder 25">
            <a:extLst>
              <a:ext uri="{FF2B5EF4-FFF2-40B4-BE49-F238E27FC236}">
                <a16:creationId xmlns:a16="http://schemas.microsoft.com/office/drawing/2014/main" id="{B6D0E93A-345D-D88D-BB63-389473DFF5BA}"/>
              </a:ext>
            </a:extLst>
          </p:cNvPr>
          <p:cNvSpPr>
            <a:spLocks noGrp="1"/>
          </p:cNvSpPr>
          <p:nvPr>
            <p:ph type="body" sz="quarter" idx="23"/>
          </p:nvPr>
        </p:nvSpPr>
        <p:spPr>
          <a:xfrm>
            <a:off x="995361" y="2235227"/>
            <a:ext cx="5036400" cy="1911971"/>
          </a:xfrm>
        </p:spPr>
        <p:txBody>
          <a:bodyPr/>
          <a:lstStyle/>
          <a:p>
            <a:r>
              <a:rPr lang="en-GB" sz="900" b="0" dirty="0" err="1">
                <a:solidFill>
                  <a:srgbClr val="000000"/>
                </a:solidFill>
              </a:rPr>
              <a:t>yy</a:t>
            </a:r>
            <a:r>
              <a:rPr lang="en-GB" sz="900" b="0" dirty="0">
                <a:solidFill>
                  <a:srgbClr val="000000"/>
                </a:solidFill>
              </a:rPr>
              <a:t> is used by the business as the main accounting platform, mostly as a stand alone system - an integrated EPOS system is used within the boutiques but online sales are manually imported into </a:t>
            </a:r>
            <a:r>
              <a:rPr lang="en-GB" sz="900" b="0" dirty="0" err="1">
                <a:solidFill>
                  <a:srgbClr val="000000"/>
                </a:solidFill>
              </a:rPr>
              <a:t>yy</a:t>
            </a:r>
            <a:r>
              <a:rPr lang="en-GB" sz="900" b="0" dirty="0">
                <a:solidFill>
                  <a:srgbClr val="000000"/>
                </a:solidFill>
              </a:rPr>
              <a:t>. In FY20 the website was re-platformed to </a:t>
            </a:r>
            <a:r>
              <a:rPr lang="en-GB" sz="900" b="0" dirty="0" err="1">
                <a:solidFill>
                  <a:srgbClr val="000000"/>
                </a:solidFill>
              </a:rPr>
              <a:t>yy</a:t>
            </a:r>
            <a:r>
              <a:rPr lang="en-GB" sz="900" b="0" dirty="0">
                <a:solidFill>
                  <a:srgbClr val="000000"/>
                </a:solidFill>
              </a:rPr>
              <a:t>. </a:t>
            </a:r>
          </a:p>
          <a:p>
            <a:pPr>
              <a:spcAft>
                <a:spcPts val="200"/>
              </a:spcAft>
            </a:pPr>
            <a:r>
              <a:rPr lang="en-GB" sz="900" b="0" dirty="0">
                <a:solidFill>
                  <a:srgbClr val="000000"/>
                </a:solidFill>
              </a:rPr>
              <a:t>A single ERP system, </a:t>
            </a:r>
            <a:r>
              <a:rPr lang="en-GB" sz="900" b="0" dirty="0" err="1">
                <a:solidFill>
                  <a:srgbClr val="000000"/>
                </a:solidFill>
              </a:rPr>
              <a:t>yy</a:t>
            </a:r>
            <a:r>
              <a:rPr lang="en-GB" sz="900" b="0" dirty="0">
                <a:solidFill>
                  <a:srgbClr val="000000"/>
                </a:solidFill>
              </a:rPr>
              <a:t>, was implemented in FY20 across warehouse management and stock (online and in store). There is no integration between </a:t>
            </a:r>
            <a:r>
              <a:rPr lang="en-GB" sz="900" b="0" dirty="0" err="1">
                <a:solidFill>
                  <a:srgbClr val="000000"/>
                </a:solidFill>
              </a:rPr>
              <a:t>yy</a:t>
            </a:r>
            <a:r>
              <a:rPr lang="en-GB" sz="900" b="0" dirty="0">
                <a:solidFill>
                  <a:srgbClr val="000000"/>
                </a:solidFill>
              </a:rPr>
              <a:t> and </a:t>
            </a:r>
            <a:r>
              <a:rPr lang="en-GB" sz="900" b="0" dirty="0" err="1">
                <a:solidFill>
                  <a:srgbClr val="000000"/>
                </a:solidFill>
              </a:rPr>
              <a:t>yy</a:t>
            </a:r>
            <a:r>
              <a:rPr lang="en-GB" sz="900" b="0" dirty="0">
                <a:solidFill>
                  <a:srgbClr val="000000"/>
                </a:solidFill>
              </a:rPr>
              <a:t>, with all stock movements posted through journals. PI counts are performed regularly by the 3PL provider, Logistics C, with adjustments made for any large variances.</a:t>
            </a:r>
          </a:p>
          <a:p>
            <a:pPr>
              <a:spcAft>
                <a:spcPts val="200"/>
              </a:spcAft>
            </a:pPr>
            <a:endParaRPr lang="en-GB" sz="900" b="0" dirty="0">
              <a:solidFill>
                <a:srgbClr val="000000"/>
              </a:solidFill>
            </a:endParaRPr>
          </a:p>
          <a:p>
            <a:pPr>
              <a:spcAft>
                <a:spcPts val="200"/>
              </a:spcAft>
            </a:pPr>
            <a:endParaRPr lang="en-GB" sz="900" b="0" dirty="0">
              <a:solidFill>
                <a:srgbClr val="000000"/>
              </a:solidFill>
            </a:endParaRPr>
          </a:p>
          <a:p>
            <a:pPr>
              <a:spcAft>
                <a:spcPts val="200"/>
              </a:spcAft>
            </a:pPr>
            <a:endParaRPr lang="en-GB" sz="900" b="0" dirty="0">
              <a:solidFill>
                <a:srgbClr val="000000"/>
              </a:solidFill>
            </a:endParaRPr>
          </a:p>
          <a:p>
            <a:pPr>
              <a:spcAft>
                <a:spcPts val="200"/>
              </a:spcAft>
            </a:pPr>
            <a:endParaRPr lang="en-US" sz="900" dirty="0"/>
          </a:p>
        </p:txBody>
      </p:sp>
      <p:sp>
        <p:nvSpPr>
          <p:cNvPr id="27" name="Text Placeholder 26">
            <a:extLst>
              <a:ext uri="{FF2B5EF4-FFF2-40B4-BE49-F238E27FC236}">
                <a16:creationId xmlns:a16="http://schemas.microsoft.com/office/drawing/2014/main" id="{382D9D77-366A-F78E-3086-4760FC4ED6BB}"/>
              </a:ext>
            </a:extLst>
          </p:cNvPr>
          <p:cNvSpPr>
            <a:spLocks noGrp="1"/>
          </p:cNvSpPr>
          <p:nvPr>
            <p:ph type="body" sz="quarter" idx="24"/>
          </p:nvPr>
        </p:nvSpPr>
        <p:spPr/>
        <p:txBody>
          <a:bodyPr/>
          <a:lstStyle/>
          <a:p>
            <a:r>
              <a:rPr lang="en-GB" sz="900" b="0" dirty="0">
                <a:solidFill>
                  <a:srgbClr val="000000"/>
                </a:solidFill>
              </a:rPr>
              <a:t>Board meetings are held quarterly and are attended by the Management Team and the Board members. As part of these meetings, the monthly management accounts are reviewed (see monthly management accounts section for details of contents).</a:t>
            </a:r>
          </a:p>
          <a:p>
            <a:r>
              <a:rPr lang="en-GB" sz="900" b="0" dirty="0">
                <a:solidFill>
                  <a:srgbClr val="000000"/>
                </a:solidFill>
              </a:rPr>
              <a:t>Corporate strategy meetings are held bi-annually (mid January and mid July) to discuss the direction of the business for the season, including financial planning, the customer model and marketing strategy, the product strategy, the sourcing strategy and any market analysis or opportunities. The meeting is attended by the founder, the Chairman and the management team.</a:t>
            </a:r>
          </a:p>
          <a:p>
            <a:pPr lvl="1"/>
            <a:r>
              <a:rPr lang="en-GB" sz="900" b="0" dirty="0">
                <a:solidFill>
                  <a:srgbClr val="000000"/>
                </a:solidFill>
              </a:rPr>
              <a:t>A number of  other meetings are attended by the founder and the design, marketing, and production teams in relation the development of the season’s products. This includes a “Lessons learnt” meeting where trade and financial information for the season is reviewed and SWOT analysis performed.</a:t>
            </a:r>
          </a:p>
          <a:p>
            <a:pPr lvl="1"/>
            <a:endParaRPr lang="en-GB" sz="900" b="0" dirty="0">
              <a:solidFill>
                <a:srgbClr val="000000"/>
              </a:solidFill>
            </a:endParaRPr>
          </a:p>
          <a:p>
            <a:pPr lvl="1"/>
            <a:endParaRPr lang="en-GB" sz="900" b="0" dirty="0">
              <a:solidFill>
                <a:srgbClr val="000000"/>
              </a:solidFill>
            </a:endParaRPr>
          </a:p>
          <a:p>
            <a:pPr lvl="1"/>
            <a:endParaRPr lang="en-GB" sz="900" b="0" dirty="0">
              <a:solidFill>
                <a:srgbClr val="000000"/>
              </a:solidFill>
            </a:endParaRPr>
          </a:p>
          <a:p>
            <a:pPr lvl="1"/>
            <a:endParaRPr lang="en-US" sz="900" noProof="0" dirty="0"/>
          </a:p>
        </p:txBody>
      </p:sp>
      <p:sp>
        <p:nvSpPr>
          <p:cNvPr id="32" name="Text Placeholder 31">
            <a:extLst>
              <a:ext uri="{FF2B5EF4-FFF2-40B4-BE49-F238E27FC236}">
                <a16:creationId xmlns:a16="http://schemas.microsoft.com/office/drawing/2014/main" id="{7BF3631D-182B-9749-6EB3-2183298B1FE2}"/>
              </a:ext>
            </a:extLst>
          </p:cNvPr>
          <p:cNvSpPr>
            <a:spLocks noGrp="1"/>
          </p:cNvSpPr>
          <p:nvPr>
            <p:ph type="body" sz="quarter" idx="11"/>
          </p:nvPr>
        </p:nvSpPr>
        <p:spPr/>
        <p:txBody>
          <a:bodyPr/>
          <a:lstStyle/>
          <a:p>
            <a:r>
              <a:rPr lang="en-US" dirty="0"/>
              <a:t>Strategic planning</a:t>
            </a:r>
          </a:p>
        </p:txBody>
      </p:sp>
      <p:sp>
        <p:nvSpPr>
          <p:cNvPr id="33" name="Text Placeholder 32">
            <a:extLst>
              <a:ext uri="{FF2B5EF4-FFF2-40B4-BE49-F238E27FC236}">
                <a16:creationId xmlns:a16="http://schemas.microsoft.com/office/drawing/2014/main" id="{304B027B-399A-A368-022D-53FB67040DFB}"/>
              </a:ext>
            </a:extLst>
          </p:cNvPr>
          <p:cNvSpPr>
            <a:spLocks noGrp="1"/>
          </p:cNvSpPr>
          <p:nvPr>
            <p:ph type="body" sz="quarter" idx="25"/>
          </p:nvPr>
        </p:nvSpPr>
        <p:spPr/>
        <p:txBody>
          <a:bodyPr/>
          <a:lstStyle/>
          <a:p>
            <a:r>
              <a:rPr lang="en-IN" dirty="0"/>
              <a:t>Finance systems</a:t>
            </a:r>
          </a:p>
        </p:txBody>
      </p:sp>
      <p:sp>
        <p:nvSpPr>
          <p:cNvPr id="3" name="Text Placeholder 7">
            <a:extLst>
              <a:ext uri="{FF2B5EF4-FFF2-40B4-BE49-F238E27FC236}">
                <a16:creationId xmlns:a16="http://schemas.microsoft.com/office/drawing/2014/main" id="{56E2E6FD-BFE8-6E8A-CDBB-09A1A8F6A9B5}"/>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 name="Text Placeholder 12">
            <a:extLst>
              <a:ext uri="{FF2B5EF4-FFF2-40B4-BE49-F238E27FC236}">
                <a16:creationId xmlns:a16="http://schemas.microsoft.com/office/drawing/2014/main" id="{0EF2D66F-067F-C587-4355-1D30F74E6871}"/>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5" name="Rectangle 54">
            <a:extLst>
              <a:ext uri="{FF2B5EF4-FFF2-40B4-BE49-F238E27FC236}">
                <a16:creationId xmlns:a16="http://schemas.microsoft.com/office/drawing/2014/main" id="{C777DBAA-8754-4AE1-90F8-1651EC5C8E47}"/>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6" name="Rectangle 55">
            <a:extLst>
              <a:ext uri="{FF2B5EF4-FFF2-40B4-BE49-F238E27FC236}">
                <a16:creationId xmlns:a16="http://schemas.microsoft.com/office/drawing/2014/main" id="{2E3232CF-A761-4C8D-9AE2-F7577EB31FB5}"/>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57" name="Rectangle 56">
            <a:extLst>
              <a:ext uri="{FF2B5EF4-FFF2-40B4-BE49-F238E27FC236}">
                <a16:creationId xmlns:a16="http://schemas.microsoft.com/office/drawing/2014/main" id="{6C260D09-2535-4922-BF12-58A97461AD7C}"/>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1" name="Rectangle 60">
            <a:extLst>
              <a:ext uri="{FF2B5EF4-FFF2-40B4-BE49-F238E27FC236}">
                <a16:creationId xmlns:a16="http://schemas.microsoft.com/office/drawing/2014/main" id="{FA236B02-D649-4516-B89B-5A822F6E6425}"/>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 name="UpSlide SubSection Marker" hidden="1">
            <a:extLst>
              <a:ext uri="{FF2B5EF4-FFF2-40B4-BE49-F238E27FC236}">
                <a16:creationId xmlns:a16="http://schemas.microsoft.com/office/drawing/2014/main" id="{63E19A1B-0815-4548-A6A3-1DF5D98DEED1}"/>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Financial reporting environment</a:t>
            </a:r>
            <a:endParaRPr lang="en-GB" sz="900" dirty="0">
              <a:solidFill>
                <a:schemeClr val="bg1"/>
              </a:solidFill>
            </a:endParaRPr>
          </a:p>
        </p:txBody>
      </p:sp>
      <p:grpSp>
        <p:nvGrpSpPr>
          <p:cNvPr id="28" name="Group 27">
            <a:extLst>
              <a:ext uri="{FF2B5EF4-FFF2-40B4-BE49-F238E27FC236}">
                <a16:creationId xmlns:a16="http://schemas.microsoft.com/office/drawing/2014/main" id="{5C35B17E-D246-4D15-B0A7-7496461BD431}"/>
              </a:ext>
            </a:extLst>
          </p:cNvPr>
          <p:cNvGrpSpPr/>
          <p:nvPr>
            <p:custDataLst>
              <p:tags r:id="rId3"/>
            </p:custDataLst>
          </p:nvPr>
        </p:nvGrpSpPr>
        <p:grpSpPr>
          <a:xfrm>
            <a:off x="995364" y="153170"/>
            <a:ext cx="6259666" cy="195814"/>
            <a:chOff x="995364" y="153170"/>
            <a:chExt cx="625966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7"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038743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a:lstStyle/>
          <a:p>
            <a:r>
              <a:rPr lang="en-US" dirty="0"/>
              <a:t>Accounting policies</a:t>
            </a:r>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25"/>
          </p:nvPr>
        </p:nvSpPr>
        <p:spPr/>
        <p:txBody>
          <a:bodyPr/>
          <a:lstStyle/>
          <a:p>
            <a:pPr defTabSz="762000" fontAlgn="base">
              <a:spcBef>
                <a:spcPts val="400"/>
              </a:spcBef>
              <a:spcAft>
                <a:spcPts val="200"/>
              </a:spcAft>
            </a:pPr>
            <a:r>
              <a:rPr lang="en-GB" sz="950" b="0" dirty="0">
                <a:solidFill>
                  <a:schemeClr val="tx1"/>
                </a:solidFill>
                <a:latin typeface="Arial"/>
                <a:cs typeface="Arial"/>
              </a:rPr>
              <a:t>Revenue is measured at fair value, net of discounts, returns, and VAT.</a:t>
            </a:r>
          </a:p>
          <a:p>
            <a:pPr defTabSz="762000" fontAlgn="base">
              <a:spcBef>
                <a:spcPts val="400"/>
              </a:spcBef>
              <a:spcAft>
                <a:spcPts val="200"/>
              </a:spcAft>
            </a:pPr>
            <a:r>
              <a:rPr lang="en-GB" sz="950" b="0" dirty="0">
                <a:solidFill>
                  <a:schemeClr val="tx1"/>
                </a:solidFill>
                <a:latin typeface="Arial"/>
                <a:cs typeface="Arial"/>
              </a:rPr>
              <a:t>Revenue is recognised at the point of sale when the customer pays for the goods. Management has commented that the lead time for despatch is typically 1 – 3 days but no accrual is made either at month end or year end for any orders received that are yet to be despatched. No issues have been raised by the auditors regarding this revenue recognition policy. The difference is unlikely to have been material historically (estimated to be up to £0.4 million at September 2021 based on the last three days of sales) but may become more significant as the business continues to grow.</a:t>
            </a:r>
            <a:endParaRPr lang="en-GB" sz="950" b="0" dirty="0">
              <a:solidFill>
                <a:srgbClr val="FF0000"/>
              </a:solidFill>
              <a:latin typeface="Arial" panose="020B0604020202020204" pitchFamily="34" charset="0"/>
              <a:cs typeface="Arial" pitchFamily="34" charset="0"/>
            </a:endParaRPr>
          </a:p>
        </p:txBody>
      </p:sp>
      <p:sp>
        <p:nvSpPr>
          <p:cNvPr id="3" name="Text Placeholder 2">
            <a:extLst>
              <a:ext uri="{FF2B5EF4-FFF2-40B4-BE49-F238E27FC236}">
                <a16:creationId xmlns:a16="http://schemas.microsoft.com/office/drawing/2014/main" id="{487521AA-CFAC-4AF6-9533-D2FBC764052B}"/>
              </a:ext>
            </a:extLst>
          </p:cNvPr>
          <p:cNvSpPr>
            <a:spLocks noGrp="1"/>
          </p:cNvSpPr>
          <p:nvPr>
            <p:ph type="body" sz="quarter" idx="26"/>
          </p:nvPr>
        </p:nvSpPr>
        <p:spPr/>
        <p:txBody>
          <a:bodyPr/>
          <a:lstStyle/>
          <a:p>
            <a:pPr defTabSz="762000" fontAlgn="base">
              <a:spcBef>
                <a:spcPts val="400"/>
              </a:spcBef>
              <a:spcAft>
                <a:spcPts val="200"/>
              </a:spcAft>
            </a:pPr>
            <a:r>
              <a:rPr lang="en-GB" sz="950" b="0" dirty="0">
                <a:solidFill>
                  <a:schemeClr val="tx1"/>
                </a:solidFill>
                <a:latin typeface="Arial" panose="020B0604020202020204" pitchFamily="34" charset="0"/>
                <a:cs typeface="Arial" pitchFamily="34" charset="0"/>
              </a:rPr>
              <a:t>Stock is measured at the lower of cost and estimated selling price less costs to complete and sell. Stock is valued at purchase cost, with no additional costs (such as freight or customs duties) absorbed into the value. </a:t>
            </a:r>
          </a:p>
          <a:p>
            <a:pPr defTabSz="762000" fontAlgn="base">
              <a:spcBef>
                <a:spcPts val="400"/>
              </a:spcBef>
              <a:spcAft>
                <a:spcPts val="200"/>
              </a:spcAft>
            </a:pPr>
            <a:r>
              <a:rPr lang="en-GB" sz="950" b="0" dirty="0">
                <a:solidFill>
                  <a:schemeClr val="tx1"/>
                </a:solidFill>
                <a:latin typeface="Arial" panose="020B0604020202020204" pitchFamily="34" charset="0"/>
                <a:cs typeface="Arial" pitchFamily="34" charset="0"/>
              </a:rPr>
              <a:t>The company has a stock provision for aged stock based on 50% for stock from the previous season and 100% for any stock older than this. See the stock section of the report for further discussion.</a:t>
            </a:r>
          </a:p>
          <a:p>
            <a:pPr>
              <a:spcAft>
                <a:spcPts val="200"/>
              </a:spcAft>
            </a:pPr>
            <a:endParaRPr lang="en-GB" sz="950" b="0" dirty="0"/>
          </a:p>
        </p:txBody>
      </p:sp>
      <p:sp>
        <p:nvSpPr>
          <p:cNvPr id="4" name="Text Placeholder 3">
            <a:extLst>
              <a:ext uri="{FF2B5EF4-FFF2-40B4-BE49-F238E27FC236}">
                <a16:creationId xmlns:a16="http://schemas.microsoft.com/office/drawing/2014/main" id="{2513C49E-ED81-43C5-8BC2-A3CDBABABC10}"/>
              </a:ext>
            </a:extLst>
          </p:cNvPr>
          <p:cNvSpPr>
            <a:spLocks noGrp="1"/>
          </p:cNvSpPr>
          <p:nvPr>
            <p:ph type="body" sz="quarter" idx="27"/>
          </p:nvPr>
        </p:nvSpPr>
        <p:spPr/>
        <p:txBody>
          <a:bodyPr/>
          <a:lstStyle/>
          <a:p>
            <a:pPr>
              <a:spcAft>
                <a:spcPts val="200"/>
              </a:spcAft>
            </a:pPr>
            <a:r>
              <a:rPr lang="en-GB" sz="950" b="0" dirty="0">
                <a:solidFill>
                  <a:schemeClr val="tx1"/>
                </a:solidFill>
                <a:cs typeface="Arial"/>
              </a:rPr>
              <a:t>The company has a provision for product returns made post month end, which are predominantly made through the online channel. The provision is calculated based on the assumption that approximately 40% of sales are returned (although this varies slightly on a monthly basis due to expected consumer buying patterns and historical trends, and judgements relating to the timing and volume of returns). See the accruals and other creditors section of the report for further discussion.</a:t>
            </a:r>
          </a:p>
          <a:p>
            <a:pPr>
              <a:spcAft>
                <a:spcPts val="200"/>
              </a:spcAft>
            </a:pPr>
            <a:endParaRPr lang="en-GB" sz="950" b="0" dirty="0"/>
          </a:p>
        </p:txBody>
      </p:sp>
      <p:sp>
        <p:nvSpPr>
          <p:cNvPr id="16" name="Text Placeholder 15">
            <a:extLst>
              <a:ext uri="{FF2B5EF4-FFF2-40B4-BE49-F238E27FC236}">
                <a16:creationId xmlns:a16="http://schemas.microsoft.com/office/drawing/2014/main" id="{FF9C891B-0B68-4388-B292-E6B21317D9A0}"/>
              </a:ext>
            </a:extLst>
          </p:cNvPr>
          <p:cNvSpPr>
            <a:spLocks noGrp="1"/>
          </p:cNvSpPr>
          <p:nvPr>
            <p:ph type="body" sz="quarter" idx="79"/>
          </p:nvPr>
        </p:nvSpPr>
        <p:spPr/>
        <p:txBody>
          <a:bodyPr/>
          <a:lstStyle/>
          <a:p>
            <a:pPr defTabSz="762000" fontAlgn="base">
              <a:spcAft>
                <a:spcPts val="200"/>
              </a:spcAft>
            </a:pPr>
            <a:r>
              <a:rPr lang="en-GB" sz="950" b="0" dirty="0">
                <a:solidFill>
                  <a:schemeClr val="tx1"/>
                </a:solidFill>
                <a:latin typeface="Arial" panose="020B0604020202020204" pitchFamily="34" charset="0"/>
                <a:cs typeface="Arial"/>
              </a:rPr>
              <a:t>The minimum threshold for the capitalisation of costs is £800. </a:t>
            </a:r>
          </a:p>
          <a:p>
            <a:pPr defTabSz="762000" fontAlgn="base">
              <a:spcAft>
                <a:spcPts val="200"/>
              </a:spcAft>
            </a:pPr>
            <a:endParaRPr lang="en-GB" sz="950" b="0" dirty="0">
              <a:solidFill>
                <a:schemeClr val="tx1"/>
              </a:solidFill>
              <a:latin typeface="Arial" panose="020B0604020202020204" pitchFamily="34" charset="0"/>
              <a:cs typeface="Arial"/>
            </a:endParaRPr>
          </a:p>
          <a:p>
            <a:pPr defTabSz="762000" fontAlgn="base">
              <a:spcAft>
                <a:spcPts val="200"/>
              </a:spcAft>
            </a:pPr>
            <a:r>
              <a:rPr lang="en-GB" sz="950" b="0" dirty="0">
                <a:solidFill>
                  <a:schemeClr val="tx1"/>
                </a:solidFill>
                <a:latin typeface="Arial" panose="020B0604020202020204" pitchFamily="34" charset="0"/>
                <a:cs typeface="Arial"/>
              </a:rPr>
              <a:t>Tangible assets are depreciated on the following basis:</a:t>
            </a:r>
          </a:p>
          <a:p>
            <a:pPr marL="171450" indent="-171450" defTabSz="762000" fontAlgn="base">
              <a:spcAft>
                <a:spcPts val="200"/>
              </a:spcAft>
              <a:buFont typeface="Arial" panose="020B0604020202020204" pitchFamily="34" charset="0"/>
              <a:buChar char="•"/>
            </a:pPr>
            <a:r>
              <a:rPr lang="en-GB" sz="950" b="0" dirty="0">
                <a:solidFill>
                  <a:schemeClr val="tx1"/>
                </a:solidFill>
                <a:latin typeface="Arial" panose="020B0604020202020204" pitchFamily="34" charset="0"/>
                <a:cs typeface="Arial"/>
              </a:rPr>
              <a:t>Leasehold improvement – 33% straight line</a:t>
            </a:r>
          </a:p>
          <a:p>
            <a:pPr marL="171450" indent="-171450" defTabSz="762000" fontAlgn="base">
              <a:spcAft>
                <a:spcPts val="200"/>
              </a:spcAft>
              <a:buFont typeface="Arial" panose="020B0604020202020204" pitchFamily="34" charset="0"/>
              <a:buChar char="•"/>
            </a:pPr>
            <a:r>
              <a:rPr lang="en-GB" sz="950" b="0" dirty="0">
                <a:solidFill>
                  <a:schemeClr val="tx1"/>
                </a:solidFill>
                <a:latin typeface="Arial" panose="020B0604020202020204" pitchFamily="34" charset="0"/>
                <a:cs typeface="Arial"/>
              </a:rPr>
              <a:t>Fixtures and fittings – 33% straight line</a:t>
            </a:r>
          </a:p>
          <a:p>
            <a:pPr defTabSz="762000" fontAlgn="base">
              <a:spcAft>
                <a:spcPts val="200"/>
              </a:spcAft>
            </a:pPr>
            <a:endParaRPr lang="en-GB" sz="950" b="0" dirty="0">
              <a:solidFill>
                <a:schemeClr val="tx1"/>
              </a:solidFill>
              <a:latin typeface="Arial" panose="020B0604020202020204" pitchFamily="34" charset="0"/>
              <a:cs typeface="Arial"/>
            </a:endParaRPr>
          </a:p>
          <a:p>
            <a:pPr defTabSz="762000" fontAlgn="base">
              <a:spcAft>
                <a:spcPts val="200"/>
              </a:spcAft>
            </a:pPr>
            <a:r>
              <a:rPr lang="en-GB" sz="950" b="0" dirty="0">
                <a:solidFill>
                  <a:schemeClr val="tx1"/>
                </a:solidFill>
                <a:latin typeface="Arial" panose="020B0604020202020204" pitchFamily="34" charset="0"/>
                <a:cs typeface="Arial"/>
              </a:rPr>
              <a:t>Intangible assets are amortised on the following basis:</a:t>
            </a:r>
          </a:p>
          <a:p>
            <a:pPr marL="171450" indent="-171450" defTabSz="762000" fontAlgn="base">
              <a:spcAft>
                <a:spcPts val="200"/>
              </a:spcAft>
              <a:buFont typeface="Arial" panose="020B0604020202020204" pitchFamily="34" charset="0"/>
              <a:buChar char="•"/>
            </a:pPr>
            <a:r>
              <a:rPr lang="en-GB" sz="950" b="0" dirty="0">
                <a:solidFill>
                  <a:schemeClr val="tx1"/>
                </a:solidFill>
                <a:latin typeface="Arial" panose="020B0604020202020204" pitchFamily="34" charset="0"/>
                <a:cs typeface="Arial"/>
              </a:rPr>
              <a:t>Website – 33% straight line</a:t>
            </a:r>
          </a:p>
          <a:p>
            <a:pPr marL="171450" indent="-171450" defTabSz="762000" fontAlgn="base">
              <a:spcAft>
                <a:spcPts val="200"/>
              </a:spcAft>
              <a:buFont typeface="Arial" panose="020B0604020202020204" pitchFamily="34" charset="0"/>
              <a:buChar char="•"/>
            </a:pPr>
            <a:r>
              <a:rPr lang="en-GB" sz="950" b="0" dirty="0">
                <a:solidFill>
                  <a:schemeClr val="tx1"/>
                </a:solidFill>
                <a:latin typeface="Arial" panose="020B0604020202020204" pitchFamily="34" charset="0"/>
                <a:cs typeface="Arial"/>
              </a:rPr>
              <a:t>IT systems – 33% straight line</a:t>
            </a:r>
          </a:p>
          <a:p>
            <a:pPr>
              <a:spcAft>
                <a:spcPts val="200"/>
              </a:spcAft>
            </a:pPr>
            <a:endParaRPr lang="en-GB" sz="950" b="0" dirty="0"/>
          </a:p>
        </p:txBody>
      </p:sp>
      <p:sp>
        <p:nvSpPr>
          <p:cNvPr id="17" name="Text Placeholder 16">
            <a:extLst>
              <a:ext uri="{FF2B5EF4-FFF2-40B4-BE49-F238E27FC236}">
                <a16:creationId xmlns:a16="http://schemas.microsoft.com/office/drawing/2014/main" id="{556933C5-D619-4AEC-978D-03F3DCD72B69}"/>
              </a:ext>
            </a:extLst>
          </p:cNvPr>
          <p:cNvSpPr>
            <a:spLocks noGrp="1"/>
          </p:cNvSpPr>
          <p:nvPr>
            <p:ph type="body" sz="quarter" idx="80"/>
          </p:nvPr>
        </p:nvSpPr>
        <p:spPr/>
        <p:txBody>
          <a:bodyPr/>
          <a:lstStyle/>
          <a:p>
            <a:pPr>
              <a:spcAft>
                <a:spcPts val="200"/>
              </a:spcAft>
            </a:pPr>
            <a:r>
              <a:rPr lang="en-GB" sz="950" b="0" dirty="0">
                <a:solidFill>
                  <a:schemeClr val="tx1"/>
                </a:solidFill>
                <a:latin typeface="Arial"/>
                <a:cs typeface="Arial"/>
              </a:rPr>
              <a:t>A dilapidation provision for the </a:t>
            </a:r>
            <a:r>
              <a:rPr lang="en-GB" sz="950" b="0" dirty="0" err="1">
                <a:solidFill>
                  <a:schemeClr val="tx1"/>
                </a:solidFill>
                <a:latin typeface="Arial"/>
                <a:cs typeface="Arial"/>
              </a:rPr>
              <a:t>yy</a:t>
            </a:r>
            <a:r>
              <a:rPr lang="en-GB" sz="950" b="0" dirty="0">
                <a:solidFill>
                  <a:schemeClr val="tx1"/>
                </a:solidFill>
                <a:latin typeface="Arial"/>
                <a:cs typeface="Arial"/>
              </a:rPr>
              <a:t> boutique was held on the balance sheet until the boutique’s closure in January 2021, when the provision was utilised with a provision release of £26,000 taken to the P&amp;L in FY22. </a:t>
            </a:r>
          </a:p>
          <a:p>
            <a:pPr>
              <a:spcAft>
                <a:spcPts val="200"/>
              </a:spcAft>
            </a:pPr>
            <a:endParaRPr lang="en-GB" sz="950" b="0" dirty="0"/>
          </a:p>
        </p:txBody>
      </p:sp>
      <p:sp>
        <p:nvSpPr>
          <p:cNvPr id="18" name="Text Placeholder 17">
            <a:extLst>
              <a:ext uri="{FF2B5EF4-FFF2-40B4-BE49-F238E27FC236}">
                <a16:creationId xmlns:a16="http://schemas.microsoft.com/office/drawing/2014/main" id="{30897B12-774C-4CCD-A176-39EF84FE6BAA}"/>
              </a:ext>
            </a:extLst>
          </p:cNvPr>
          <p:cNvSpPr>
            <a:spLocks noGrp="1"/>
          </p:cNvSpPr>
          <p:nvPr>
            <p:ph type="body" sz="quarter" idx="81"/>
          </p:nvPr>
        </p:nvSpPr>
        <p:spPr/>
        <p:txBody>
          <a:bodyPr/>
          <a:lstStyle/>
          <a:p>
            <a:pPr defTabSz="762000" fontAlgn="base">
              <a:spcBef>
                <a:spcPts val="400"/>
              </a:spcBef>
              <a:spcAft>
                <a:spcPts val="200"/>
              </a:spcAft>
            </a:pPr>
            <a:r>
              <a:rPr lang="en-GB" sz="950" b="0" dirty="0">
                <a:solidFill>
                  <a:schemeClr val="tx1"/>
                </a:solidFill>
                <a:latin typeface="Arial" panose="020B0604020202020204" pitchFamily="34" charset="0"/>
                <a:cs typeface="Arial" pitchFamily="34" charset="0"/>
              </a:rPr>
              <a:t>The company policy is for all holiday to be utilised in year but, for exceptional circumstances, the company accounts for a holiday pay accrual, whereby the cost of any unused holiday entitlement is recognised in the period in which the employee’s services are received.</a:t>
            </a:r>
          </a:p>
          <a:p>
            <a:pPr defTabSz="762000" fontAlgn="base">
              <a:spcBef>
                <a:spcPts val="400"/>
              </a:spcBef>
              <a:spcAft>
                <a:spcPts val="200"/>
              </a:spcAft>
            </a:pPr>
            <a:r>
              <a:rPr lang="en-GB" sz="950" b="0" dirty="0">
                <a:solidFill>
                  <a:schemeClr val="tx1"/>
                </a:solidFill>
                <a:latin typeface="Arial" panose="020B0604020202020204" pitchFamily="34" charset="0"/>
                <a:cs typeface="Arial" pitchFamily="34" charset="0"/>
              </a:rPr>
              <a:t>The company operates a defined contribution pension scheme, with all contributions expensed in the period to which they relate.</a:t>
            </a:r>
          </a:p>
          <a:p>
            <a:pPr defTabSz="762000" fontAlgn="base">
              <a:spcBef>
                <a:spcPts val="400"/>
              </a:spcBef>
              <a:spcAft>
                <a:spcPts val="200"/>
              </a:spcAft>
            </a:pPr>
            <a:r>
              <a:rPr lang="en-GB" sz="950" b="0" dirty="0">
                <a:solidFill>
                  <a:schemeClr val="tx1"/>
                </a:solidFill>
                <a:latin typeface="Arial" panose="020B0604020202020204" pitchFamily="34" charset="0"/>
                <a:cs typeface="Arial" pitchFamily="34" charset="0"/>
              </a:rPr>
              <a:t>Y capitalises limited staff costs on a percentage allocation basis. See quality of earnings analysis for further discussion. </a:t>
            </a:r>
          </a:p>
          <a:p>
            <a:pPr>
              <a:spcAft>
                <a:spcPts val="200"/>
              </a:spcAft>
            </a:pPr>
            <a:endParaRPr lang="en-GB" sz="950" b="0" dirty="0"/>
          </a:p>
        </p:txBody>
      </p:sp>
      <p:sp>
        <p:nvSpPr>
          <p:cNvPr id="11" name="Text Placeholder 10">
            <a:extLst>
              <a:ext uri="{FF2B5EF4-FFF2-40B4-BE49-F238E27FC236}">
                <a16:creationId xmlns:a16="http://schemas.microsoft.com/office/drawing/2014/main" id="{154DF1AC-31D4-46B8-AD32-91E8035FBA48}"/>
              </a:ext>
            </a:extLst>
          </p:cNvPr>
          <p:cNvSpPr>
            <a:spLocks noGrp="1"/>
          </p:cNvSpPr>
          <p:nvPr>
            <p:ph type="body" sz="quarter" idx="61"/>
          </p:nvPr>
        </p:nvSpPr>
        <p:spPr/>
        <p:txBody>
          <a:bodyPr/>
          <a:lstStyle/>
          <a:p>
            <a:r>
              <a:rPr lang="en-GB" dirty="0"/>
              <a:t>Revenue</a:t>
            </a:r>
          </a:p>
        </p:txBody>
      </p:sp>
      <p:sp>
        <p:nvSpPr>
          <p:cNvPr id="12" name="Text Placeholder 11">
            <a:extLst>
              <a:ext uri="{FF2B5EF4-FFF2-40B4-BE49-F238E27FC236}">
                <a16:creationId xmlns:a16="http://schemas.microsoft.com/office/drawing/2014/main" id="{54AC55E2-547E-448D-93B2-1BB4119ECA1B}"/>
              </a:ext>
            </a:extLst>
          </p:cNvPr>
          <p:cNvSpPr>
            <a:spLocks noGrp="1"/>
          </p:cNvSpPr>
          <p:nvPr>
            <p:ph type="body" sz="quarter" idx="62"/>
          </p:nvPr>
        </p:nvSpPr>
        <p:spPr/>
        <p:txBody>
          <a:bodyPr/>
          <a:lstStyle/>
          <a:p>
            <a:r>
              <a:rPr lang="en-GB" dirty="0"/>
              <a:t>Stock</a:t>
            </a:r>
          </a:p>
        </p:txBody>
      </p:sp>
      <p:sp>
        <p:nvSpPr>
          <p:cNvPr id="15" name="Text Placeholder 14">
            <a:extLst>
              <a:ext uri="{FF2B5EF4-FFF2-40B4-BE49-F238E27FC236}">
                <a16:creationId xmlns:a16="http://schemas.microsoft.com/office/drawing/2014/main" id="{66EA80F5-2329-4901-93B5-1E6285F763BB}"/>
              </a:ext>
            </a:extLst>
          </p:cNvPr>
          <p:cNvSpPr>
            <a:spLocks noGrp="1"/>
          </p:cNvSpPr>
          <p:nvPr>
            <p:ph type="body" sz="quarter" idx="63"/>
          </p:nvPr>
        </p:nvSpPr>
        <p:spPr/>
        <p:txBody>
          <a:bodyPr/>
          <a:lstStyle/>
          <a:p>
            <a:r>
              <a:rPr lang="en-GB" dirty="0"/>
              <a:t>Returns provision</a:t>
            </a:r>
          </a:p>
        </p:txBody>
      </p:sp>
      <p:sp>
        <p:nvSpPr>
          <p:cNvPr id="20" name="Text Placeholder 19">
            <a:extLst>
              <a:ext uri="{FF2B5EF4-FFF2-40B4-BE49-F238E27FC236}">
                <a16:creationId xmlns:a16="http://schemas.microsoft.com/office/drawing/2014/main" id="{10268AE0-9E01-4ACE-A914-624D81AB2AEA}"/>
              </a:ext>
            </a:extLst>
          </p:cNvPr>
          <p:cNvSpPr>
            <a:spLocks noGrp="1"/>
          </p:cNvSpPr>
          <p:nvPr>
            <p:ph type="body" sz="quarter" idx="88"/>
          </p:nvPr>
        </p:nvSpPr>
        <p:spPr/>
        <p:txBody>
          <a:bodyPr/>
          <a:lstStyle/>
          <a:p>
            <a:r>
              <a:rPr lang="en-GB" dirty="0"/>
              <a:t>Fixed assets</a:t>
            </a:r>
          </a:p>
        </p:txBody>
      </p:sp>
      <p:sp>
        <p:nvSpPr>
          <p:cNvPr id="21" name="Text Placeholder 20">
            <a:extLst>
              <a:ext uri="{FF2B5EF4-FFF2-40B4-BE49-F238E27FC236}">
                <a16:creationId xmlns:a16="http://schemas.microsoft.com/office/drawing/2014/main" id="{CE32A658-C814-4EB1-B8B5-34DD795031DB}"/>
              </a:ext>
            </a:extLst>
          </p:cNvPr>
          <p:cNvSpPr>
            <a:spLocks noGrp="1"/>
          </p:cNvSpPr>
          <p:nvPr>
            <p:ph type="body" sz="quarter" idx="89"/>
          </p:nvPr>
        </p:nvSpPr>
        <p:spPr/>
        <p:txBody>
          <a:bodyPr/>
          <a:lstStyle/>
          <a:p>
            <a:r>
              <a:rPr lang="en-GB" dirty="0"/>
              <a:t>Provisions</a:t>
            </a:r>
          </a:p>
        </p:txBody>
      </p:sp>
      <p:sp>
        <p:nvSpPr>
          <p:cNvPr id="23" name="Text Placeholder 22">
            <a:extLst>
              <a:ext uri="{FF2B5EF4-FFF2-40B4-BE49-F238E27FC236}">
                <a16:creationId xmlns:a16="http://schemas.microsoft.com/office/drawing/2014/main" id="{387646D9-13D9-451C-8924-C1432780DC27}"/>
              </a:ext>
            </a:extLst>
          </p:cNvPr>
          <p:cNvSpPr>
            <a:spLocks noGrp="1"/>
          </p:cNvSpPr>
          <p:nvPr>
            <p:ph type="body" sz="quarter" idx="90"/>
          </p:nvPr>
        </p:nvSpPr>
        <p:spPr/>
        <p:txBody>
          <a:bodyPr/>
          <a:lstStyle/>
          <a:p>
            <a:r>
              <a:rPr lang="en-GB" dirty="0"/>
              <a:t>Staff costs and pension</a:t>
            </a:r>
          </a:p>
        </p:txBody>
      </p:sp>
      <p:sp>
        <p:nvSpPr>
          <p:cNvPr id="13" name="Text Placeholder 7">
            <a:extLst>
              <a:ext uri="{FF2B5EF4-FFF2-40B4-BE49-F238E27FC236}">
                <a16:creationId xmlns:a16="http://schemas.microsoft.com/office/drawing/2014/main" id="{7D810D17-3380-600E-4A62-6A937FAF0A5F}"/>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sz="1000"/>
          </a:p>
        </p:txBody>
      </p:sp>
      <p:sp>
        <p:nvSpPr>
          <p:cNvPr id="14" name="Text Placeholder 12">
            <a:extLst>
              <a:ext uri="{FF2B5EF4-FFF2-40B4-BE49-F238E27FC236}">
                <a16:creationId xmlns:a16="http://schemas.microsoft.com/office/drawing/2014/main" id="{AA01C17C-8468-09E6-A678-48DABD4111BD}"/>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55" name="Rectangle 54">
            <a:extLst>
              <a:ext uri="{FF2B5EF4-FFF2-40B4-BE49-F238E27FC236}">
                <a16:creationId xmlns:a16="http://schemas.microsoft.com/office/drawing/2014/main" id="{B06D482A-409E-4B42-B617-1777253BE59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6" name="Rectangle 55">
            <a:extLst>
              <a:ext uri="{FF2B5EF4-FFF2-40B4-BE49-F238E27FC236}">
                <a16:creationId xmlns:a16="http://schemas.microsoft.com/office/drawing/2014/main" id="{05B6DC95-9BD5-45DE-97C9-B39B91BE99D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7" name="Rectangle 56">
            <a:extLst>
              <a:ext uri="{FF2B5EF4-FFF2-40B4-BE49-F238E27FC236}">
                <a16:creationId xmlns:a16="http://schemas.microsoft.com/office/drawing/2014/main" id="{FBA0ABE4-F913-49B9-B31F-AA2DC6A27945}"/>
              </a:ext>
            </a:extLst>
          </p:cNvPr>
          <p:cNvSpPr/>
          <p:nvPr/>
        </p:nvSpPr>
        <p:spPr>
          <a:xfrm>
            <a:off x="-700821" y="191283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8" name="Rectangle 57">
            <a:extLst>
              <a:ext uri="{FF2B5EF4-FFF2-40B4-BE49-F238E27FC236}">
                <a16:creationId xmlns:a16="http://schemas.microsoft.com/office/drawing/2014/main" id="{3B5DC148-D5F6-47E9-82C1-F38E86E8A8F2}"/>
              </a:ext>
            </a:extLst>
          </p:cNvPr>
          <p:cNvSpPr/>
          <p:nvPr/>
        </p:nvSpPr>
        <p:spPr>
          <a:xfrm>
            <a:off x="-700821" y="134076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59" name="Rectangle 58">
            <a:extLst>
              <a:ext uri="{FF2B5EF4-FFF2-40B4-BE49-F238E27FC236}">
                <a16:creationId xmlns:a16="http://schemas.microsoft.com/office/drawing/2014/main" id="{F2B08A58-587D-476D-BFDC-7E8EDAD7801B}"/>
              </a:ext>
            </a:extLst>
          </p:cNvPr>
          <p:cNvSpPr/>
          <p:nvPr/>
        </p:nvSpPr>
        <p:spPr>
          <a:xfrm>
            <a:off x="-700821" y="2235228"/>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0" name="Rectangle 59">
            <a:extLst>
              <a:ext uri="{FF2B5EF4-FFF2-40B4-BE49-F238E27FC236}">
                <a16:creationId xmlns:a16="http://schemas.microsoft.com/office/drawing/2014/main" id="{1C588A33-2593-4B1C-A631-B56315B932EA}"/>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1" name="Rectangle 60">
            <a:extLst>
              <a:ext uri="{FF2B5EF4-FFF2-40B4-BE49-F238E27FC236}">
                <a16:creationId xmlns:a16="http://schemas.microsoft.com/office/drawing/2014/main" id="{F4C55134-A47B-4154-A060-1DB5D85994AB}"/>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2" name="Rectangle 61">
            <a:extLst>
              <a:ext uri="{FF2B5EF4-FFF2-40B4-BE49-F238E27FC236}">
                <a16:creationId xmlns:a16="http://schemas.microsoft.com/office/drawing/2014/main" id="{749DE61F-A93E-4668-9177-6FB3F4E45CE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3" name="Rectangle 62">
            <a:extLst>
              <a:ext uri="{FF2B5EF4-FFF2-40B4-BE49-F238E27FC236}">
                <a16:creationId xmlns:a16="http://schemas.microsoft.com/office/drawing/2014/main" id="{C9EDCEF5-2D65-4EC0-9948-78BBA7CBD2E8}"/>
              </a:ext>
            </a:extLst>
          </p:cNvPr>
          <p:cNvSpPr/>
          <p:nvPr/>
        </p:nvSpPr>
        <p:spPr>
          <a:xfrm>
            <a:off x="-700821" y="389519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DE5722D5-B164-448F-B15F-31ACF0C53408}"/>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Accounting policies</a:t>
            </a:r>
            <a:endParaRPr lang="en-GB" sz="900" dirty="0">
              <a:solidFill>
                <a:schemeClr val="bg1"/>
              </a:solidFill>
            </a:endParaRPr>
          </a:p>
        </p:txBody>
      </p:sp>
      <p:grpSp>
        <p:nvGrpSpPr>
          <p:cNvPr id="36" name="Group 35">
            <a:extLst>
              <a:ext uri="{FF2B5EF4-FFF2-40B4-BE49-F238E27FC236}">
                <a16:creationId xmlns:a16="http://schemas.microsoft.com/office/drawing/2014/main" id="{5C35B17E-D246-4D15-B0A7-7496461BD431}"/>
              </a:ext>
            </a:extLst>
          </p:cNvPr>
          <p:cNvGrpSpPr/>
          <p:nvPr>
            <p:custDataLst>
              <p:tags r:id="rId3"/>
            </p:custDataLst>
          </p:nvPr>
        </p:nvGrpSpPr>
        <p:grpSpPr>
          <a:xfrm>
            <a:off x="995364" y="153170"/>
            <a:ext cx="6259666" cy="195814"/>
            <a:chOff x="995364" y="153170"/>
            <a:chExt cx="6259666" cy="195814"/>
          </a:xfrm>
        </p:grpSpPr>
        <p:sp>
          <p:nvSpPr>
            <p:cNvPr id="37"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2"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43"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838535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7" action="ppaction://hlinksldjump"/>
            <a:extLst>
              <a:ext uri="{FF2B5EF4-FFF2-40B4-BE49-F238E27FC236}">
                <a16:creationId xmlns:a16="http://schemas.microsoft.com/office/drawing/2014/main" id="{5338398F-A334-4001-93DC-AE12F0B5838D}"/>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Appendices</a:t>
            </a:r>
          </a:p>
        </p:txBody>
      </p:sp>
      <p:sp>
        <p:nvSpPr>
          <p:cNvPr id="5" name="TextBox 4">
            <a:hlinkClick r:id="rId28" action="ppaction://hlinksldjump"/>
            <a:extLst>
              <a:ext uri="{FF2B5EF4-FFF2-40B4-BE49-F238E27FC236}">
                <a16:creationId xmlns:a16="http://schemas.microsoft.com/office/drawing/2014/main" id="{D01E9B02-6B39-45A0-BCB7-557B626C859B}"/>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Engagement &amp; data integrity</a:t>
            </a:r>
          </a:p>
        </p:txBody>
      </p:sp>
      <p:sp>
        <p:nvSpPr>
          <p:cNvPr id="6" name="TextBox 5">
            <a:hlinkClick r:id="rId29" action="ppaction://hlinksldjump"/>
            <a:extLst>
              <a:ext uri="{FF2B5EF4-FFF2-40B4-BE49-F238E27FC236}">
                <a16:creationId xmlns:a16="http://schemas.microsoft.com/office/drawing/2014/main" id="{43F4D14A-EDA4-49BA-A617-DB580391AFE2}"/>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Historical trading - online</a:t>
            </a:r>
          </a:p>
        </p:txBody>
      </p:sp>
      <p:sp>
        <p:nvSpPr>
          <p:cNvPr id="7" name="TextBox 6">
            <a:hlinkClick r:id="rId30" action="ppaction://hlinksldjump"/>
            <a:extLst>
              <a:ext uri="{FF2B5EF4-FFF2-40B4-BE49-F238E27FC236}">
                <a16:creationId xmlns:a16="http://schemas.microsoft.com/office/drawing/2014/main" id="{EC73193F-45B1-4ED1-835C-917C485DD3FB}"/>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Historical trading - retail</a:t>
            </a:r>
          </a:p>
        </p:txBody>
      </p:sp>
      <p:sp>
        <p:nvSpPr>
          <p:cNvPr id="8" name="TextBox 7">
            <a:hlinkClick r:id="rId31" action="ppaction://hlinksldjump"/>
            <a:extLst>
              <a:ext uri="{FF2B5EF4-FFF2-40B4-BE49-F238E27FC236}">
                <a16:creationId xmlns:a16="http://schemas.microsoft.com/office/drawing/2014/main" id="{7A5677D8-415C-46A9-B2B1-079599C1565D}"/>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Cost base</a:t>
            </a:r>
          </a:p>
        </p:txBody>
      </p:sp>
      <p:sp>
        <p:nvSpPr>
          <p:cNvPr id="9" name="TextBox 8">
            <a:hlinkClick r:id="rId32" action="ppaction://hlinksldjump"/>
            <a:extLst>
              <a:ext uri="{FF2B5EF4-FFF2-40B4-BE49-F238E27FC236}">
                <a16:creationId xmlns:a16="http://schemas.microsoft.com/office/drawing/2014/main" id="{F9781C90-A605-4050-9D83-A5E181FA92DD}"/>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Trading - other</a:t>
            </a:r>
          </a:p>
        </p:txBody>
      </p:sp>
      <p:sp>
        <p:nvSpPr>
          <p:cNvPr id="10" name="TextBox 9">
            <a:hlinkClick r:id="rId33" action="ppaction://hlinksldjump"/>
            <a:extLst>
              <a:ext uri="{FF2B5EF4-FFF2-40B4-BE49-F238E27FC236}">
                <a16:creationId xmlns:a16="http://schemas.microsoft.com/office/drawing/2014/main" id="{A0223ABD-C1B8-4C8E-874C-EC3C50B423AB}"/>
              </a:ext>
            </a:extLst>
          </p:cNvPr>
          <p:cNvSpPr txBox="1"/>
          <p:nvPr>
            <p:custDataLst>
              <p:tags r:id="rId8"/>
            </p:custDataLst>
          </p:nvPr>
        </p:nvSpPr>
        <p:spPr>
          <a:xfrm>
            <a:off x="1735455" y="5303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Balance sheet breakdowns</a:t>
            </a:r>
          </a:p>
        </p:txBody>
      </p:sp>
      <p:sp>
        <p:nvSpPr>
          <p:cNvPr id="11" name="TextBox 10">
            <a:hlinkClick r:id="rId34" action="ppaction://hlinksldjump"/>
            <a:extLst>
              <a:ext uri="{FF2B5EF4-FFF2-40B4-BE49-F238E27FC236}">
                <a16:creationId xmlns:a16="http://schemas.microsoft.com/office/drawing/2014/main" id="{803992C1-D026-4AFF-99F8-1C698B5A5A22}"/>
              </a:ext>
            </a:extLst>
          </p:cNvPr>
          <p:cNvSpPr txBox="1"/>
          <p:nvPr>
            <p:custDataLst>
              <p:tags r:id="rId9"/>
            </p:custDataLst>
          </p:nvPr>
        </p:nvSpPr>
        <p:spPr>
          <a:xfrm>
            <a:off x="1735455" y="5682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Forecast assumptions</a:t>
            </a:r>
          </a:p>
        </p:txBody>
      </p:sp>
      <p:sp>
        <p:nvSpPr>
          <p:cNvPr id="12" name="TextBox 11">
            <a:hlinkClick r:id="rId27" action="ppaction://hlinksldjump"/>
            <a:extLst>
              <a:ext uri="{FF2B5EF4-FFF2-40B4-BE49-F238E27FC236}">
                <a16:creationId xmlns:a16="http://schemas.microsoft.com/office/drawing/2014/main" id="{606ADA09-BE9F-4EE0-878B-93CD1B1CB7FC}"/>
              </a:ext>
            </a:extLst>
          </p:cNvPr>
          <p:cNvSpPr txBox="1"/>
          <p:nvPr>
            <p:custDataLst>
              <p:tags r:id="rId10"/>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7.</a:t>
            </a:r>
          </a:p>
        </p:txBody>
      </p:sp>
      <p:sp>
        <p:nvSpPr>
          <p:cNvPr id="13" name="TextBox 12">
            <a:hlinkClick r:id="rId27" action="ppaction://hlinksldjump"/>
            <a:extLst>
              <a:ext uri="{FF2B5EF4-FFF2-40B4-BE49-F238E27FC236}">
                <a16:creationId xmlns:a16="http://schemas.microsoft.com/office/drawing/2014/main" id="{9F356D18-A454-4141-A305-31E497DE3948}"/>
              </a:ext>
            </a:extLst>
          </p:cNvPr>
          <p:cNvSpPr txBox="1"/>
          <p:nvPr>
            <p:custDataLst>
              <p:tags r:id="rId11"/>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82</a:t>
            </a:r>
          </a:p>
        </p:txBody>
      </p:sp>
      <p:sp>
        <p:nvSpPr>
          <p:cNvPr id="14" name="TextBox 13">
            <a:hlinkClick r:id="rId28" action="ppaction://hlinksldjump"/>
            <a:extLst>
              <a:ext uri="{FF2B5EF4-FFF2-40B4-BE49-F238E27FC236}">
                <a16:creationId xmlns:a16="http://schemas.microsoft.com/office/drawing/2014/main" id="{8657F5B4-C8C9-4C91-BC54-D7EB4A2C1656}"/>
              </a:ext>
            </a:extLst>
          </p:cNvPr>
          <p:cNvSpPr txBox="1"/>
          <p:nvPr>
            <p:custDataLst>
              <p:tags r:id="rId12"/>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7.1</a:t>
            </a:r>
          </a:p>
        </p:txBody>
      </p:sp>
      <p:sp>
        <p:nvSpPr>
          <p:cNvPr id="15" name="TextBox 14">
            <a:hlinkClick r:id="rId29" action="ppaction://hlinksldjump"/>
            <a:extLst>
              <a:ext uri="{FF2B5EF4-FFF2-40B4-BE49-F238E27FC236}">
                <a16:creationId xmlns:a16="http://schemas.microsoft.com/office/drawing/2014/main" id="{D5702A35-9D41-4A57-9F3E-95291B263829}"/>
              </a:ext>
            </a:extLst>
          </p:cNvPr>
          <p:cNvSpPr txBox="1"/>
          <p:nvPr>
            <p:custDataLst>
              <p:tags r:id="rId13"/>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7.2</a:t>
            </a:r>
          </a:p>
        </p:txBody>
      </p:sp>
      <p:sp>
        <p:nvSpPr>
          <p:cNvPr id="16" name="TextBox 15">
            <a:hlinkClick r:id="rId30" action="ppaction://hlinksldjump"/>
            <a:extLst>
              <a:ext uri="{FF2B5EF4-FFF2-40B4-BE49-F238E27FC236}">
                <a16:creationId xmlns:a16="http://schemas.microsoft.com/office/drawing/2014/main" id="{1471625C-B31B-4050-910D-E0221A81F580}"/>
              </a:ext>
            </a:extLst>
          </p:cNvPr>
          <p:cNvSpPr txBox="1"/>
          <p:nvPr>
            <p:custDataLst>
              <p:tags r:id="rId14"/>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7.3</a:t>
            </a:r>
          </a:p>
        </p:txBody>
      </p:sp>
      <p:sp>
        <p:nvSpPr>
          <p:cNvPr id="17" name="TextBox 16">
            <a:hlinkClick r:id="rId31" action="ppaction://hlinksldjump"/>
            <a:extLst>
              <a:ext uri="{FF2B5EF4-FFF2-40B4-BE49-F238E27FC236}">
                <a16:creationId xmlns:a16="http://schemas.microsoft.com/office/drawing/2014/main" id="{CD41E181-A297-4845-BDF4-4657FD7D23D6}"/>
              </a:ext>
            </a:extLst>
          </p:cNvPr>
          <p:cNvSpPr txBox="1"/>
          <p:nvPr>
            <p:custDataLst>
              <p:tags r:id="rId15"/>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7.4</a:t>
            </a:r>
          </a:p>
        </p:txBody>
      </p:sp>
      <p:sp>
        <p:nvSpPr>
          <p:cNvPr id="18" name="TextBox 17">
            <a:hlinkClick r:id="rId32" action="ppaction://hlinksldjump"/>
            <a:extLst>
              <a:ext uri="{FF2B5EF4-FFF2-40B4-BE49-F238E27FC236}">
                <a16:creationId xmlns:a16="http://schemas.microsoft.com/office/drawing/2014/main" id="{EA60EC5A-09EC-401C-AF9E-70B87A6FC09A}"/>
              </a:ext>
            </a:extLst>
          </p:cNvPr>
          <p:cNvSpPr txBox="1"/>
          <p:nvPr>
            <p:custDataLst>
              <p:tags r:id="rId16"/>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7.5</a:t>
            </a:r>
          </a:p>
        </p:txBody>
      </p:sp>
      <p:sp>
        <p:nvSpPr>
          <p:cNvPr id="19" name="TextBox 18">
            <a:hlinkClick r:id="rId33" action="ppaction://hlinksldjump"/>
            <a:extLst>
              <a:ext uri="{FF2B5EF4-FFF2-40B4-BE49-F238E27FC236}">
                <a16:creationId xmlns:a16="http://schemas.microsoft.com/office/drawing/2014/main" id="{1B3A5147-0794-483C-8547-676F8780C5CE}"/>
              </a:ext>
            </a:extLst>
          </p:cNvPr>
          <p:cNvSpPr txBox="1"/>
          <p:nvPr>
            <p:custDataLst>
              <p:tags r:id="rId17"/>
            </p:custDataLst>
          </p:nvPr>
        </p:nvSpPr>
        <p:spPr bwMode="auto">
          <a:xfrm>
            <a:off x="1303409" y="5303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7.6</a:t>
            </a:r>
          </a:p>
        </p:txBody>
      </p:sp>
      <p:sp>
        <p:nvSpPr>
          <p:cNvPr id="20" name="TextBox 19">
            <a:hlinkClick r:id="rId34" action="ppaction://hlinksldjump"/>
            <a:extLst>
              <a:ext uri="{FF2B5EF4-FFF2-40B4-BE49-F238E27FC236}">
                <a16:creationId xmlns:a16="http://schemas.microsoft.com/office/drawing/2014/main" id="{CAEAFFF2-4A5E-489B-AA3D-BE2E3E68A98A}"/>
              </a:ext>
            </a:extLst>
          </p:cNvPr>
          <p:cNvSpPr txBox="1"/>
          <p:nvPr>
            <p:custDataLst>
              <p:tags r:id="rId18"/>
            </p:custDataLst>
          </p:nvPr>
        </p:nvSpPr>
        <p:spPr bwMode="auto">
          <a:xfrm>
            <a:off x="1303409" y="5682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7.7</a:t>
            </a:r>
          </a:p>
        </p:txBody>
      </p:sp>
      <p:sp>
        <p:nvSpPr>
          <p:cNvPr id="21" name="TextBox 20">
            <a:hlinkClick r:id="rId28" action="ppaction://hlinksldjump"/>
            <a:extLst>
              <a:ext uri="{FF2B5EF4-FFF2-40B4-BE49-F238E27FC236}">
                <a16:creationId xmlns:a16="http://schemas.microsoft.com/office/drawing/2014/main" id="{6AFF36BD-1723-4A74-855A-D9C9028E51E4}"/>
              </a:ext>
            </a:extLst>
          </p:cNvPr>
          <p:cNvSpPr txBox="1"/>
          <p:nvPr>
            <p:custDataLst>
              <p:tags r:id="rId19"/>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83</a:t>
            </a:r>
          </a:p>
        </p:txBody>
      </p:sp>
      <p:sp>
        <p:nvSpPr>
          <p:cNvPr id="22" name="TextBox 21">
            <a:hlinkClick r:id="rId29" action="ppaction://hlinksldjump"/>
            <a:extLst>
              <a:ext uri="{FF2B5EF4-FFF2-40B4-BE49-F238E27FC236}">
                <a16:creationId xmlns:a16="http://schemas.microsoft.com/office/drawing/2014/main" id="{C5960BBB-CFB6-482D-BBC8-CB55E00BD657}"/>
              </a:ext>
            </a:extLst>
          </p:cNvPr>
          <p:cNvSpPr txBox="1"/>
          <p:nvPr>
            <p:custDataLst>
              <p:tags r:id="rId20"/>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98</a:t>
            </a:r>
          </a:p>
        </p:txBody>
      </p:sp>
      <p:sp>
        <p:nvSpPr>
          <p:cNvPr id="23" name="TextBox 22">
            <a:hlinkClick r:id="rId30" action="ppaction://hlinksldjump"/>
            <a:extLst>
              <a:ext uri="{FF2B5EF4-FFF2-40B4-BE49-F238E27FC236}">
                <a16:creationId xmlns:a16="http://schemas.microsoft.com/office/drawing/2014/main" id="{9F78B2BD-9976-4352-A595-85B5127C3022}"/>
              </a:ext>
            </a:extLst>
          </p:cNvPr>
          <p:cNvSpPr txBox="1"/>
          <p:nvPr>
            <p:custDataLst>
              <p:tags r:id="rId21"/>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99</a:t>
            </a:r>
          </a:p>
        </p:txBody>
      </p:sp>
      <p:sp>
        <p:nvSpPr>
          <p:cNvPr id="24" name="TextBox 23">
            <a:hlinkClick r:id="rId31" action="ppaction://hlinksldjump"/>
            <a:extLst>
              <a:ext uri="{FF2B5EF4-FFF2-40B4-BE49-F238E27FC236}">
                <a16:creationId xmlns:a16="http://schemas.microsoft.com/office/drawing/2014/main" id="{F5FCA5A7-4E76-4D93-9362-E60A58D3689A}"/>
              </a:ext>
            </a:extLst>
          </p:cNvPr>
          <p:cNvSpPr txBox="1"/>
          <p:nvPr>
            <p:custDataLst>
              <p:tags r:id="rId22"/>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100</a:t>
            </a:r>
          </a:p>
        </p:txBody>
      </p:sp>
      <p:sp>
        <p:nvSpPr>
          <p:cNvPr id="25" name="TextBox 24">
            <a:hlinkClick r:id="rId32" action="ppaction://hlinksldjump"/>
            <a:extLst>
              <a:ext uri="{FF2B5EF4-FFF2-40B4-BE49-F238E27FC236}">
                <a16:creationId xmlns:a16="http://schemas.microsoft.com/office/drawing/2014/main" id="{95DCC017-8A6F-4338-AEEA-4C6B84C136CC}"/>
              </a:ext>
            </a:extLst>
          </p:cNvPr>
          <p:cNvSpPr txBox="1"/>
          <p:nvPr>
            <p:custDataLst>
              <p:tags r:id="rId23"/>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101</a:t>
            </a:r>
          </a:p>
        </p:txBody>
      </p:sp>
      <p:sp>
        <p:nvSpPr>
          <p:cNvPr id="26" name="TextBox 25">
            <a:hlinkClick r:id="rId33" action="ppaction://hlinksldjump"/>
            <a:extLst>
              <a:ext uri="{FF2B5EF4-FFF2-40B4-BE49-F238E27FC236}">
                <a16:creationId xmlns:a16="http://schemas.microsoft.com/office/drawing/2014/main" id="{BBEAA662-4640-4871-9760-0EB7F8DC867F}"/>
              </a:ext>
            </a:extLst>
          </p:cNvPr>
          <p:cNvSpPr txBox="1"/>
          <p:nvPr>
            <p:custDataLst>
              <p:tags r:id="rId24"/>
            </p:custDataLst>
          </p:nvPr>
        </p:nvSpPr>
        <p:spPr>
          <a:xfrm>
            <a:off x="7004859" y="5303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102</a:t>
            </a:r>
          </a:p>
        </p:txBody>
      </p:sp>
      <p:sp>
        <p:nvSpPr>
          <p:cNvPr id="27" name="TextBox 26">
            <a:hlinkClick r:id="rId34" action="ppaction://hlinksldjump"/>
            <a:extLst>
              <a:ext uri="{FF2B5EF4-FFF2-40B4-BE49-F238E27FC236}">
                <a16:creationId xmlns:a16="http://schemas.microsoft.com/office/drawing/2014/main" id="{71713BF3-E235-45A3-9ED4-7CEFB1D3F26A}"/>
              </a:ext>
            </a:extLst>
          </p:cNvPr>
          <p:cNvSpPr txBox="1"/>
          <p:nvPr>
            <p:custDataLst>
              <p:tags r:id="rId25"/>
            </p:custDataLst>
          </p:nvPr>
        </p:nvSpPr>
        <p:spPr>
          <a:xfrm>
            <a:off x="7004859" y="5682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103</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289860" y="1652448"/>
            <a:ext cx="6321425" cy="696913"/>
          </a:xfrm>
        </p:spPr>
        <p:txBody>
          <a:bodyPr/>
          <a:lstStyle/>
          <a:p>
            <a:r>
              <a:rPr lang="en-GB" dirty="0">
                <a:solidFill>
                  <a:schemeClr val="bg1"/>
                </a:solidFill>
              </a:rPr>
              <a:t>Engagement &amp; data integrity</a:t>
            </a:r>
          </a:p>
        </p:txBody>
      </p:sp>
      <p:sp>
        <p:nvSpPr>
          <p:cNvPr id="5" name="UpSlide SubSection Marker" hidden="1">
            <a:extLst>
              <a:ext uri="{FF2B5EF4-FFF2-40B4-BE49-F238E27FC236}">
                <a16:creationId xmlns:a16="http://schemas.microsoft.com/office/drawing/2014/main" id="{F8AFB3BD-921A-48B8-8C4B-7E62B1733A2E}"/>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spTree>
    <p:extLst>
      <p:ext uri="{BB962C8B-B14F-4D97-AF65-F5344CB8AC3E}">
        <p14:creationId xmlns:p14="http://schemas.microsoft.com/office/powerpoint/2010/main" val="6262432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p:txBody>
          <a:bodyPr vert="horz"/>
          <a:lstStyle/>
          <a:p>
            <a:r>
              <a:rPr lang="en-US"/>
              <a:t>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4294967295"/>
          </p:nvPr>
        </p:nvSpPr>
        <p:spPr bwMode="gray">
          <a:xfrm>
            <a:off x="1003199" y="1330127"/>
            <a:ext cx="10185599" cy="4546800"/>
          </a:xfrm>
        </p:spPr>
        <p:txBody>
          <a:bodyPr/>
          <a:lstStyle/>
          <a:p>
            <a:pPr algn="just">
              <a:defRPr/>
            </a:pPr>
            <a:r>
              <a:rPr lang="en-GB" b="0" spc="-20" dirty="0">
                <a:solidFill>
                  <a:schemeClr val="tx1"/>
                </a:solidFill>
                <a:latin typeface="Arial"/>
              </a:rPr>
              <a:t>Our report is for the benefit and information only of those purchaser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purchaser parties’ legal and other professional advisers) in respect of our work or the report.</a:t>
            </a:r>
          </a:p>
          <a:p>
            <a:pPr algn="just">
              <a:defRPr/>
            </a:pPr>
            <a:r>
              <a:rPr lang="en-GB" b="0" spc="-20" dirty="0">
                <a:solidFill>
                  <a:schemeClr val="tx1"/>
                </a:solidFill>
                <a:latin typeface="Arial"/>
              </a:rPr>
              <a:t>Our work commenced on 12 July 2021 and our fieldwork was completed on 26 November 2021.  We have not undertaken to update our report for events or circumstances arising after that date.</a:t>
            </a:r>
          </a:p>
          <a:p>
            <a:pPr algn="just">
              <a:defRPr/>
            </a:pPr>
            <a:r>
              <a:rPr lang="en-GB" b="0" spc="-20" dirty="0">
                <a:solidFill>
                  <a:schemeClr val="tx1"/>
                </a:solidFill>
                <a:latin typeface="Arial"/>
              </a:rPr>
              <a:t>In preparing our report, our primary source has been Vendor internal management information and representations made to us by management of Vendor. We do not accept responsibility for such information which remains the responsibility of management.  Details of our principal information sources are set out in Appendix 2 and we have satisfied ourselves, so far as possible, that the information presented in our report is consistent with other information which was made available to us in the course of our work in accordance with the terms of our Engagement Letter.  We have not, however, sought to establish the reliability of the sources by reference to other evidence.</a:t>
            </a:r>
          </a:p>
          <a:p>
            <a:pPr algn="just">
              <a:defRPr/>
            </a:pPr>
            <a:r>
              <a:rPr lang="en-GB" b="0" spc="-20" dirty="0">
                <a:solidFill>
                  <a:schemeClr val="tx1"/>
                </a:solidFill>
                <a:latin typeface="Arial"/>
              </a:rPr>
              <a:t>This engagement is not an assurance engagement conducted in accordance with any generally accepted assurance standards and consequently no assurance opinion is expressed.</a:t>
            </a:r>
          </a:p>
          <a:p>
            <a:pPr algn="just">
              <a:defRPr/>
            </a:pPr>
            <a:r>
              <a:rPr lang="en-GB" b="0" spc="-20" dirty="0">
                <a:solidFill>
                  <a:schemeClr val="tx1"/>
                </a:solidFill>
                <a:latin typeface="Arial"/>
              </a:rPr>
              <a:t>Our work has not considered the potential impact on Target's financial information of the transition to IFRS. </a:t>
            </a:r>
          </a:p>
          <a:p>
            <a:pPr algn="just">
              <a:defRPr/>
            </a:pPr>
            <a:r>
              <a:rPr lang="en-GB" b="0" spc="-20" dirty="0">
                <a:solidFill>
                  <a:schemeClr val="tx1"/>
                </a:solidFill>
                <a:latin typeface="Arial"/>
              </a:rPr>
              <a:t>Our report makes reference to ‘KPMG Analysis’; this indicates only that we have (where specified) undertaken certain analytical activities on the underlying data to arrive at the information presented; we do not accept responsibility for the underlying data.</a:t>
            </a:r>
          </a:p>
          <a:p>
            <a:pPr algn="just">
              <a:defRPr/>
            </a:pPr>
            <a:r>
              <a:rPr lang="en-GB" b="0" spc="-20" dirty="0">
                <a:solidFill>
                  <a:schemeClr val="tx1"/>
                </a:solidFill>
                <a:latin typeface="Arial"/>
              </a:rPr>
              <a:t>The analysis of 'normalised'/'underlying' earnings and working capital, adjusted net debt and last twelve months/LTM run rate contained in this report is for illustrative purposes only.  There is no authoritative literature or common standard with respect to the identification of items which may constitute appropriate adjustments to earnings and working capital, be treated as ‘debt’ or  ‘net debt’ or be included in a calculation of ‘run rate’, and the decision as to which items should be included or excluded is highly subjective and judgemental. Furthermore, the items identified are necessarily limited to those that we have identified in course of the work performed by us, which is subject to the restrictions in scope as set out in the engagement letter and has been subject to limitations on our access and in the nature and extent of the information which has been made available to us.  Accordingly there is no basis on which to state whether, in the analysis presented, the items that have been included are appropriately included, or that all items that might be appropriately included have been included.  We have indicated in our report the basis on which items have been included, excluded or adjusted. You may choose to analyse the information presented differently.</a:t>
            </a:r>
          </a:p>
          <a:p>
            <a:pPr algn="just">
              <a:defRPr/>
            </a:pPr>
            <a:r>
              <a:rPr lang="en-GB" b="0" spc="-20" dirty="0">
                <a:solidFill>
                  <a:schemeClr val="tx1"/>
                </a:solidFill>
                <a:latin typeface="Arial"/>
              </a:rPr>
              <a:t>The prospective financial information set out within our report has been prepared by Target; we do not accept responsibility for such information.  We must emphasise that the realisation of the prospective financial information is dependent on the continuing validity of the assumptions on which it is based. The assumptions will need to be reviewed and revised to reflect any such changes in trading patterns, cost structures or the direction of the business as they emerge. In particular, the lack of clarity over Brexit and its implications will continue to result in increased uncertainty, volatility and change (both in areas specific to Target and its industry, and, in the volatility of key macroeconomic variables such as exchange rates, interest rates and inflation). In addition, there is uncertainty over the impact of the Coronavirus on Target’s supply chain, operations and resourcing. We accept no responsibility for the realisation of the prospective financial information.  Actual results are likely to be different from those shown in the prospective financial information because events and circumstances frequently do not occur as expected, and the differences may be material.</a:t>
            </a:r>
          </a:p>
          <a:p>
            <a:pPr algn="just">
              <a:defRPr/>
            </a:pPr>
            <a:r>
              <a:rPr lang="en-GB" b="0" spc="-20" dirty="0">
                <a:solidFill>
                  <a:schemeClr val="tx1"/>
                </a:solidFill>
                <a:latin typeface="Arial"/>
              </a:rPr>
              <a:t>The contents of our report have been reviewed in detail by the directors of Infinity who have confirmed in writing the factual accuracy of this report.</a:t>
            </a:r>
          </a:p>
        </p:txBody>
      </p:sp>
      <p:sp>
        <p:nvSpPr>
          <p:cNvPr id="3" name="UpSlide SubSection Marker" hidden="1">
            <a:extLst>
              <a:ext uri="{FF2B5EF4-FFF2-40B4-BE49-F238E27FC236}">
                <a16:creationId xmlns:a16="http://schemas.microsoft.com/office/drawing/2014/main" id="{EBFFA1D7-0A9F-4C92-AA61-AB4262895F4C}"/>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4" name="Group 3">
            <a:extLst>
              <a:ext uri="{FF2B5EF4-FFF2-40B4-BE49-F238E27FC236}">
                <a16:creationId xmlns:a16="http://schemas.microsoft.com/office/drawing/2014/main" id="{678D4DD8-1FF2-42CC-97AF-29C6742B9CD9}"/>
              </a:ext>
            </a:extLst>
          </p:cNvPr>
          <p:cNvGrpSpPr/>
          <p:nvPr>
            <p:custDataLst>
              <p:tags r:id="rId3"/>
            </p:custDataLst>
          </p:nvPr>
        </p:nvGrpSpPr>
        <p:grpSpPr>
          <a:xfrm>
            <a:off x="995364" y="153170"/>
            <a:ext cx="6213178" cy="195814"/>
            <a:chOff x="995364" y="153170"/>
            <a:chExt cx="6213178" cy="195814"/>
          </a:xfrm>
        </p:grpSpPr>
        <p:sp>
          <p:nvSpPr>
            <p:cNvPr id="14"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5"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6"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7"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8"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9"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0"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45087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8400" y="431800"/>
            <a:ext cx="10195200" cy="533400"/>
          </a:xfrm>
        </p:spPr>
        <p:txBody>
          <a:bodyPr/>
          <a:lstStyle/>
          <a:p>
            <a:r>
              <a:rPr lang="en-US" dirty="0"/>
              <a:t>Basis of preparation</a:t>
            </a:r>
          </a:p>
        </p:txBody>
      </p:sp>
      <p:sp>
        <p:nvSpPr>
          <p:cNvPr id="96" name="UpSlide SubSection Marker" hidden="1">
            <a:extLst>
              <a:ext uri="{FF2B5EF4-FFF2-40B4-BE49-F238E27FC236}">
                <a16:creationId xmlns:a16="http://schemas.microsoft.com/office/drawing/2014/main" id="{DCD4B608-2B7A-E89E-AC22-AFC9E18579F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Engagement &amp; data integrity</a:t>
            </a:r>
            <a:endParaRPr lang="en-US" sz="1600" dirty="0">
              <a:solidFill>
                <a:schemeClr val="bg1"/>
              </a:solidFill>
            </a:endParaRPr>
          </a:p>
        </p:txBody>
      </p:sp>
      <p:sp>
        <p:nvSpPr>
          <p:cNvPr id="78" name="Text Placeholder 5">
            <a:extLst>
              <a:ext uri="{FF2B5EF4-FFF2-40B4-BE49-F238E27FC236}">
                <a16:creationId xmlns:a16="http://schemas.microsoft.com/office/drawing/2014/main" id="{92F9C0EB-31B7-3146-99B5-4B19DF8904E9}"/>
              </a:ext>
            </a:extLst>
          </p:cNvPr>
          <p:cNvSpPr txBox="1">
            <a:spLocks/>
          </p:cNvSpPr>
          <p:nvPr/>
        </p:nvSpPr>
        <p:spPr>
          <a:xfrm>
            <a:off x="3682105" y="1133641"/>
            <a:ext cx="7509485" cy="1815341"/>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US" sz="900" b="0" i="0" u="none" strike="noStrike" kern="1200" cap="none" spc="0" normalizeH="0" baseline="0" noProof="0" dirty="0">
                <a:ln>
                  <a:noFill/>
                </a:ln>
                <a:effectLst/>
                <a:uLnTx/>
                <a:uFillTx/>
                <a:ea typeface="+mn-ea"/>
                <a:cs typeface="+mn-cs"/>
              </a:rPr>
              <a:t>KPMG </a:t>
            </a:r>
            <a:r>
              <a:rPr lang="en-US" sz="900" dirty="0"/>
              <a:t>LLP</a:t>
            </a:r>
            <a:r>
              <a:rPr kumimoji="0" lang="en-US" sz="900" b="0" i="0" u="none" strike="noStrike" kern="1200" cap="none" spc="0" normalizeH="0" baseline="0" noProof="0" dirty="0">
                <a:ln>
                  <a:noFill/>
                </a:ln>
                <a:effectLst/>
                <a:uLnTx/>
                <a:uFillTx/>
                <a:ea typeface="+mn-ea"/>
                <a:cs typeface="+mn-cs"/>
              </a:rPr>
              <a:t> (‘KPMG’) has been engaged by </a:t>
            </a:r>
            <a:r>
              <a:rPr kumimoji="0" lang="en-US" sz="900" b="0" i="0" u="none" strike="noStrike" kern="1200" cap="none" spc="0" normalizeH="0" baseline="0" noProof="0" dirty="0" err="1">
                <a:ln>
                  <a:noFill/>
                </a:ln>
                <a:effectLst/>
                <a:uLnTx/>
                <a:uFillTx/>
                <a:ea typeface="+mn-ea"/>
                <a:cs typeface="+mn-cs"/>
              </a:rPr>
              <a:t>yy</a:t>
            </a:r>
            <a:r>
              <a:rPr kumimoji="0" lang="en-US" sz="900" b="0" i="0" u="none" strike="noStrike" kern="1200" cap="none" spc="0" normalizeH="0" baseline="0" noProof="0" dirty="0">
                <a:ln>
                  <a:noFill/>
                </a:ln>
                <a:effectLst/>
                <a:uLnTx/>
                <a:uFillTx/>
                <a:ea typeface="+mn-ea"/>
                <a:cs typeface="+mn-cs"/>
              </a:rPr>
              <a:t> to prepare a vendor due diligence report in connection with the potential disposal of the business. The report has been prepared in accordance with our engagement letter dated </a:t>
            </a:r>
            <a:r>
              <a:rPr lang="en-US" sz="900" dirty="0"/>
              <a:t>30 September 2021</a:t>
            </a:r>
            <a:r>
              <a:rPr kumimoji="0" lang="en-US" sz="900" b="0" i="0" u="none" strike="noStrike" kern="1200" cap="none" spc="0" normalizeH="0" baseline="0" noProof="0" dirty="0">
                <a:ln>
                  <a:noFill/>
                </a:ln>
                <a:effectLst/>
                <a:uLnTx/>
                <a:uFillTx/>
                <a:ea typeface="+mn-ea"/>
                <a:cs typeface="+mn-cs"/>
              </a:rPr>
              <a:t> </a:t>
            </a:r>
            <a:r>
              <a:rPr kumimoji="0" lang="en-GB" sz="900" b="0" i="0" u="none" strike="noStrike" cap="none" normalizeH="0" baseline="0" dirty="0">
                <a:ln>
                  <a:noFill/>
                </a:ln>
                <a:effectLst/>
              </a:rPr>
              <a:t>as </a:t>
            </a:r>
            <a:r>
              <a:rPr lang="en-GB" sz="900" u="none" dirty="0">
                <a:cs typeface="Times New Roman" pitchFamily="18" charset="0"/>
              </a:rPr>
              <a:t>modified by our variation letter dated 3 November 2021 (the ‘Engagement Letter’)</a:t>
            </a:r>
            <a:r>
              <a:rPr kumimoji="0" lang="en-GB" sz="900" b="0" i="0" u="none" strike="noStrike" cap="none" normalizeH="0" baseline="0" dirty="0">
                <a:ln>
                  <a:noFill/>
                </a:ln>
                <a:effectLst/>
              </a:rPr>
              <a:t> which has been agreed by the Directors of Infinity, the scope of which is included as an </a:t>
            </a:r>
            <a:r>
              <a:rPr kumimoji="0" lang="en-GB" sz="900" b="1" i="0" u="none" strike="noStrike" cap="none" normalizeH="0" baseline="0" dirty="0">
                <a:ln>
                  <a:noFill/>
                </a:ln>
                <a:effectLst/>
              </a:rPr>
              <a:t>Appendix</a:t>
            </a:r>
            <a:r>
              <a:rPr kumimoji="0" lang="en-GB" sz="900" b="0" i="0" u="none" strike="noStrike" cap="none" normalizeH="0" baseline="0" dirty="0">
                <a:ln>
                  <a:noFill/>
                </a:ln>
                <a:effectLst/>
              </a:rPr>
              <a:t> in this report</a:t>
            </a:r>
            <a:r>
              <a:rPr kumimoji="0" lang="en-US" sz="900" b="0" i="0" u="none" strike="noStrike" kern="1200" cap="none" spc="0" normalizeH="0" baseline="0" noProof="0" dirty="0">
                <a:ln>
                  <a:noFill/>
                </a:ln>
                <a:effectLst/>
                <a:uLnTx/>
                <a:uFillTx/>
                <a:ea typeface="+mn-ea"/>
                <a:cs typeface="+mn-cs"/>
              </a:rPr>
              <a:t>. </a:t>
            </a:r>
          </a:p>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US" sz="900" b="0" i="0" u="none" strike="noStrike" kern="1200" cap="none" spc="0" normalizeH="0" baseline="0" noProof="0" dirty="0">
                <a:ln>
                  <a:noFill/>
                </a:ln>
                <a:effectLst/>
                <a:uLnTx/>
                <a:uFillTx/>
                <a:ea typeface="+mn-ea"/>
                <a:cs typeface="+mn-cs"/>
              </a:rPr>
              <a:t>Our work on historical trading comprises the period </a:t>
            </a:r>
            <a:r>
              <a:rPr lang="en-US" sz="900" dirty="0"/>
              <a:t>FY19-LTM22</a:t>
            </a:r>
            <a:r>
              <a:rPr kumimoji="0" lang="en-US" sz="900" b="0" i="0" u="none" strike="noStrike" kern="1200" cap="none" spc="0" normalizeH="0" baseline="0" noProof="0" dirty="0">
                <a:ln>
                  <a:noFill/>
                </a:ln>
                <a:effectLst/>
                <a:uLnTx/>
                <a:uFillTx/>
                <a:ea typeface="+mn-ea"/>
                <a:cs typeface="+mn-cs"/>
              </a:rPr>
              <a:t>. With respect to prospective financial trading, our scope of work includes 2022 budget. We have analyzed the balance sheet as at 31 </a:t>
            </a:r>
            <a:r>
              <a:rPr lang="en-US" sz="900" dirty="0"/>
              <a:t>January </a:t>
            </a:r>
            <a:r>
              <a:rPr kumimoji="0" lang="en-US" sz="900" b="0" i="0" u="none" strike="noStrike" kern="1200" cap="none" spc="0" normalizeH="0" baseline="0" noProof="0" dirty="0">
                <a:ln>
                  <a:noFill/>
                </a:ln>
                <a:effectLst/>
                <a:uLnTx/>
                <a:uFillTx/>
                <a:ea typeface="+mn-ea"/>
                <a:cs typeface="+mn-cs"/>
              </a:rPr>
              <a:t>2019, 2020 and 2021 and September 2021, and our analysis of net working capital was performed on monthly balance sheet captions for the period January 2019 to December 2021.</a:t>
            </a:r>
          </a:p>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GB" sz="900" b="0" i="0" u="none" strike="noStrike" kern="1200" cap="none" spc="0" normalizeH="0" baseline="0" noProof="0" dirty="0">
                <a:ln>
                  <a:noFill/>
                </a:ln>
                <a:effectLst/>
                <a:uLnTx/>
                <a:uFillTx/>
                <a:ea typeface="+mn-ea"/>
                <a:cs typeface="+mn-cs"/>
              </a:rPr>
              <a:t>In some cases our scope has been limited as a result of information not being available, namely:</a:t>
            </a:r>
          </a:p>
          <a:p>
            <a:pPr marL="171450" marR="0" lvl="0" indent="-171450" algn="l" defTabSz="914377"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GB" sz="900" b="0" i="0" u="none" strike="noStrike" kern="1200" cap="none" spc="0" normalizeH="0" baseline="0" noProof="0" dirty="0">
                <a:ln>
                  <a:noFill/>
                </a:ln>
                <a:effectLst/>
                <a:uLnTx/>
                <a:uFillTx/>
                <a:ea typeface="+mn-ea"/>
                <a:cs typeface="+mn-cs"/>
              </a:rPr>
              <a:t>FTE and costs by department;</a:t>
            </a:r>
          </a:p>
          <a:p>
            <a:pPr marL="171450" marR="0" lvl="0" indent="-171450" algn="l" defTabSz="914377"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GB" sz="900" b="0" i="0" u="none" strike="noStrike" kern="1200" cap="none" spc="0" normalizeH="0" baseline="0" noProof="0" dirty="0">
                <a:ln>
                  <a:noFill/>
                </a:ln>
                <a:effectLst/>
                <a:uLnTx/>
                <a:uFillTx/>
                <a:ea typeface="+mn-ea"/>
                <a:cs typeface="+mn-cs"/>
              </a:rPr>
              <a:t>Staff costs split by wages, bonus, NI, pensions;</a:t>
            </a:r>
          </a:p>
          <a:p>
            <a:pPr marL="171450" marR="0" lvl="0" indent="-171450" algn="l" defTabSz="914377"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GB" sz="900" b="0" i="0" u="none" strike="noStrike" kern="1200" cap="none" spc="0" normalizeH="0" baseline="0" noProof="0" dirty="0">
                <a:ln>
                  <a:noFill/>
                </a:ln>
                <a:effectLst/>
                <a:uLnTx/>
                <a:uFillTx/>
                <a:ea typeface="+mn-ea"/>
                <a:cs typeface="+mn-cs"/>
              </a:rPr>
              <a:t>Central general overheads breakdown</a:t>
            </a:r>
          </a:p>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GB" sz="900" b="0" i="0" u="none" strike="noStrike" kern="1200" cap="none" spc="0" normalizeH="0" baseline="0" noProof="0" dirty="0">
                <a:ln>
                  <a:noFill/>
                </a:ln>
                <a:effectLst/>
                <a:uLnTx/>
                <a:uFillTx/>
                <a:ea typeface="+mn-ea"/>
                <a:cs typeface="+mn-cs"/>
              </a:rPr>
              <a:t>For the avoidance of doubt, we have not undertaken any work in respect of any other associated companies, joint ventures or related parties. </a:t>
            </a:r>
            <a:endParaRPr kumimoji="0" lang="en-US" sz="900" b="0" i="0" u="none" strike="noStrike" kern="1200" cap="none" spc="0" normalizeH="0" baseline="0" noProof="0" dirty="0">
              <a:ln>
                <a:noFill/>
              </a:ln>
              <a:effectLst/>
              <a:uLnTx/>
              <a:uFillTx/>
              <a:ea typeface="+mn-ea"/>
              <a:cs typeface="+mn-cs"/>
            </a:endParaRPr>
          </a:p>
          <a:p>
            <a:pPr>
              <a:spcAft>
                <a:spcPts val="200"/>
              </a:spcAft>
              <a:defRPr/>
            </a:pPr>
            <a:r>
              <a:rPr kumimoji="0" lang="en-GB" sz="900" b="0" i="0" u="none" strike="noStrike" cap="none" normalizeH="0" baseline="0" dirty="0">
                <a:ln>
                  <a:noFill/>
                </a:ln>
                <a:effectLst/>
              </a:rPr>
              <a:t>Our report is provided solely for the benefit of parties referred to in our engagement letter and must not be quoted, copied or referenced to or distributed, in whole or in part, without prior written consent. We will not accept responsibility to any other party to whom our report may be shown or who may acquire a copy of our report.</a:t>
            </a:r>
            <a:endParaRPr kumimoji="0" lang="en-US" sz="900" b="0" i="0" u="none" strike="noStrike" kern="1200" cap="none" spc="0" normalizeH="0" baseline="0" noProof="0" dirty="0">
              <a:ln>
                <a:noFill/>
              </a:ln>
              <a:effectLst/>
              <a:uLnTx/>
              <a:uFillTx/>
              <a:ea typeface="+mn-ea"/>
              <a:cs typeface="+mn-cs"/>
            </a:endParaRPr>
          </a:p>
        </p:txBody>
      </p:sp>
      <p:sp>
        <p:nvSpPr>
          <p:cNvPr id="80" name="Text Placeholder 12">
            <a:extLst>
              <a:ext uri="{FF2B5EF4-FFF2-40B4-BE49-F238E27FC236}">
                <a16:creationId xmlns:a16="http://schemas.microsoft.com/office/drawing/2014/main" id="{D94C1F1B-1020-A7DD-D421-DAC1E1933B24}"/>
              </a:ext>
            </a:extLst>
          </p:cNvPr>
          <p:cNvSpPr txBox="1">
            <a:spLocks/>
          </p:cNvSpPr>
          <p:nvPr/>
        </p:nvSpPr>
        <p:spPr>
          <a:xfrm>
            <a:off x="3683979" y="4733168"/>
            <a:ext cx="7509484" cy="1571380"/>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1588" algn="l" defTabSz="762000" rtl="0" eaLnBrk="1" fontAlgn="base" latinLnBrk="0" hangingPunct="1">
              <a:lnSpc>
                <a:spcPct val="100000"/>
              </a:lnSpc>
              <a:spcBef>
                <a:spcPts val="0"/>
              </a:spcBef>
              <a:spcAft>
                <a:spcPts val="300"/>
              </a:spcAft>
              <a:buClr>
                <a:schemeClr val="tx2"/>
              </a:buClr>
              <a:buSzPct val="85000"/>
              <a:buFontTx/>
              <a:buNone/>
              <a:tabLst/>
            </a:pPr>
            <a:r>
              <a:rPr kumimoji="0" lang="en-GB" sz="900" b="0" i="0" u="none" strike="noStrike" cap="none" normalizeH="0" baseline="0" dirty="0">
                <a:ln>
                  <a:noFill/>
                </a:ln>
                <a:solidFill>
                  <a:schemeClr val="tx1"/>
                </a:solidFill>
                <a:effectLst/>
                <a:latin typeface="Arial" panose="020B0604020202020204" pitchFamily="34" charset="0"/>
              </a:rPr>
              <a:t>The sources of information used are noted, wherever possible, in the report. We have not sought to establish the reliability of these sources by reference to evidence independent of Management. We have, however, reviewed the information produced and have satisfied ourselves, so far as possible, that the information presented is consistent with other information obtained by us during the course of the work undertaken to prepare this report.</a:t>
            </a:r>
          </a:p>
          <a:p>
            <a:pPr marL="0" marR="0" lvl="1" indent="1588" algn="l" defTabSz="762000" rtl="0" eaLnBrk="1" fontAlgn="base" latinLnBrk="0" hangingPunct="1">
              <a:lnSpc>
                <a:spcPct val="100000"/>
              </a:lnSpc>
              <a:spcBef>
                <a:spcPts val="0"/>
              </a:spcBef>
              <a:spcAft>
                <a:spcPts val="300"/>
              </a:spcAft>
              <a:buClr>
                <a:schemeClr val="tx2"/>
              </a:buClr>
              <a:buSzPct val="85000"/>
              <a:buFontTx/>
              <a:buNone/>
              <a:tabLst/>
            </a:pPr>
            <a:r>
              <a:rPr kumimoji="0" lang="en-GB" sz="900" b="0" i="0" u="none" strike="noStrike" cap="none" normalizeH="0" baseline="0" dirty="0">
                <a:ln>
                  <a:noFill/>
                </a:ln>
                <a:solidFill>
                  <a:schemeClr val="tx1"/>
                </a:solidFill>
                <a:effectLst/>
                <a:latin typeface="Arial" panose="020B0604020202020204" pitchFamily="34" charset="0"/>
              </a:rPr>
              <a:t>The findings presented in this report are based on certain key sources of information as follows:</a:t>
            </a:r>
          </a:p>
          <a:p>
            <a:pPr marL="216000" marR="0" lvl="2" indent="-216000" algn="l" defTabSz="990570" rtl="0" eaLnBrk="1" fontAlgn="base" latinLnBrk="0" hangingPunct="1">
              <a:lnSpc>
                <a:spcPct val="100000"/>
              </a:lnSpc>
              <a:spcBef>
                <a:spcPts val="0"/>
              </a:spcBef>
              <a:spcAft>
                <a:spcPts val="3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Management accounts</a:t>
            </a:r>
          </a:p>
          <a:p>
            <a:pPr marL="216000" marR="0" lvl="2" indent="-216000" algn="l" defTabSz="990570" rtl="0" eaLnBrk="1" fontAlgn="base" latinLnBrk="0" hangingPunct="1">
              <a:lnSpc>
                <a:spcPct val="100000"/>
              </a:lnSpc>
              <a:spcBef>
                <a:spcPts val="0"/>
              </a:spcBef>
              <a:spcAft>
                <a:spcPts val="3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Specific Management information provided in relation to Q&amp;A</a:t>
            </a:r>
          </a:p>
          <a:p>
            <a:pPr marL="0" marR="0" lvl="2" indent="0" algn="l" defTabSz="990570" rtl="0" eaLnBrk="1" fontAlgn="base" latinLnBrk="0" hangingPunct="1">
              <a:lnSpc>
                <a:spcPct val="100000"/>
              </a:lnSpc>
              <a:spcBef>
                <a:spcPts val="0"/>
              </a:spcBef>
              <a:spcAft>
                <a:spcPts val="300"/>
              </a:spcAft>
              <a:buClr>
                <a:schemeClr val="tx2"/>
              </a:buClr>
              <a:buSzPct val="85000"/>
              <a:buFont typeface="Arial" panose="020B0604020202020204" pitchFamily="34" charset="0"/>
              <a:buNone/>
              <a:tabLst/>
              <a:defRPr/>
            </a:pPr>
            <a:r>
              <a:rPr kumimoji="0" lang="en-GB" sz="900" b="0" i="0" u="none" strike="noStrike" kern="1200" cap="none" normalizeH="0" baseline="0" dirty="0">
                <a:ln>
                  <a:noFill/>
                </a:ln>
                <a:solidFill>
                  <a:schemeClr val="tx1"/>
                </a:solidFill>
                <a:effectLst/>
                <a:latin typeface="+mn-lt"/>
                <a:ea typeface="+mn-ea"/>
                <a:cs typeface="+mn-cs"/>
              </a:rPr>
              <a:t>We have used raw transactional data to perform some analysis e.g. product level (including ASP) and regional analysis. We have used an analysis tool to evaluate this data. This tool has an error tolerance level of 4% which means that the data will not exactly tie to the management accounts. A reconciliation between the transactional level data and the management accounts is included </a:t>
            </a:r>
            <a:r>
              <a:rPr lang="en-GB" sz="900" dirty="0"/>
              <a:t>as</a:t>
            </a:r>
            <a:r>
              <a:rPr kumimoji="0" lang="en-GB" sz="900" b="0" i="0" u="none" strike="noStrike" kern="1200" cap="none" normalizeH="0" baseline="0" dirty="0">
                <a:ln>
                  <a:noFill/>
                </a:ln>
                <a:solidFill>
                  <a:schemeClr val="tx1"/>
                </a:solidFill>
                <a:effectLst/>
                <a:latin typeface="+mn-lt"/>
                <a:ea typeface="+mn-ea"/>
                <a:cs typeface="+mn-cs"/>
              </a:rPr>
              <a:t> an</a:t>
            </a:r>
            <a:r>
              <a:rPr lang="en-GB" sz="900" dirty="0"/>
              <a:t> </a:t>
            </a:r>
            <a:r>
              <a:rPr lang="en-GB" sz="900" b="1" dirty="0"/>
              <a:t>Appendix</a:t>
            </a:r>
            <a:r>
              <a:rPr kumimoji="0" lang="en-GB" sz="900" b="0" i="0" u="none" strike="noStrike" kern="1200" cap="none" normalizeH="0" baseline="0" dirty="0">
                <a:ln>
                  <a:noFill/>
                </a:ln>
                <a:solidFill>
                  <a:schemeClr val="tx1"/>
                </a:solidFill>
                <a:effectLst/>
                <a:latin typeface="+mn-lt"/>
                <a:ea typeface="+mn-ea"/>
                <a:cs typeface="+mn-cs"/>
              </a:rPr>
              <a:t>. </a:t>
            </a:r>
          </a:p>
        </p:txBody>
      </p:sp>
      <p:grpSp>
        <p:nvGrpSpPr>
          <p:cNvPr id="8" name="Group 7">
            <a:extLst>
              <a:ext uri="{FF2B5EF4-FFF2-40B4-BE49-F238E27FC236}">
                <a16:creationId xmlns:a16="http://schemas.microsoft.com/office/drawing/2014/main" id="{801305BE-CCDE-41EA-BDC8-540009AFE18C}"/>
              </a:ext>
            </a:extLst>
          </p:cNvPr>
          <p:cNvGrpSpPr/>
          <p:nvPr/>
        </p:nvGrpSpPr>
        <p:grpSpPr>
          <a:xfrm>
            <a:off x="3685258" y="3429000"/>
            <a:ext cx="7515836" cy="1183808"/>
            <a:chOff x="3683979" y="3145667"/>
            <a:chExt cx="7515836" cy="1183808"/>
          </a:xfrm>
        </p:grpSpPr>
        <p:sp>
          <p:nvSpPr>
            <p:cNvPr id="79" name="Text Placeholder 11">
              <a:extLst>
                <a:ext uri="{FF2B5EF4-FFF2-40B4-BE49-F238E27FC236}">
                  <a16:creationId xmlns:a16="http://schemas.microsoft.com/office/drawing/2014/main" id="{63D4B6AA-403B-45C1-3F4B-312E981A07E2}"/>
                </a:ext>
              </a:extLst>
            </p:cNvPr>
            <p:cNvSpPr txBox="1">
              <a:spLocks/>
            </p:cNvSpPr>
            <p:nvPr/>
          </p:nvSpPr>
          <p:spPr>
            <a:xfrm>
              <a:off x="3683979" y="3145667"/>
              <a:ext cx="7515836"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During the course of our work our main points of contact have been the Management of Target, represented by:</a:t>
              </a:r>
            </a:p>
            <a:p>
              <a:pPr marL="0" marR="0" lvl="0" indent="0" algn="l" defTabSz="914377" rtl="0" eaLnBrk="1" fontAlgn="auto" latinLnBrk="0" hangingPunct="1">
                <a:lnSpc>
                  <a:spcPct val="100000"/>
                </a:lnSpc>
                <a:spcBef>
                  <a:spcPts val="0"/>
                </a:spcBef>
                <a:spcAft>
                  <a:spcPts val="20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377" rtl="0" eaLnBrk="1" fontAlgn="auto" latinLnBrk="0" hangingPunct="1">
                <a:lnSpc>
                  <a:spcPct val="100000"/>
                </a:lnSpc>
                <a:spcBef>
                  <a:spcPts val="0"/>
                </a:spcBef>
                <a:spcAft>
                  <a:spcPts val="200"/>
                </a:spcAft>
                <a:buClrTx/>
                <a:buSzTx/>
                <a:buFontTx/>
                <a:buNone/>
                <a:tabLst/>
                <a:defRPr/>
              </a:pPr>
              <a:endParaRPr lang="en-US" sz="900" dirty="0">
                <a:solidFill>
                  <a:srgbClr val="000000"/>
                </a:solidFill>
                <a:latin typeface="Arial"/>
              </a:endParaRPr>
            </a:p>
            <a:p>
              <a:pPr marL="0" marR="0" lvl="0" indent="0" algn="l" defTabSz="914377" rtl="0" eaLnBrk="1" fontAlgn="auto" latinLnBrk="0" hangingPunct="1">
                <a:lnSpc>
                  <a:spcPct val="100000"/>
                </a:lnSpc>
                <a:spcBef>
                  <a:spcPts val="0"/>
                </a:spcBef>
                <a:spcAft>
                  <a:spcPts val="20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377" rtl="0" eaLnBrk="1" fontAlgn="auto" latinLnBrk="0" hangingPunct="1">
                <a:lnSpc>
                  <a:spcPct val="100000"/>
                </a:lnSpc>
                <a:spcBef>
                  <a:spcPts val="0"/>
                </a:spcBef>
                <a:spcAft>
                  <a:spcPts val="200"/>
                </a:spcAft>
                <a:buClrTx/>
                <a:buSzTx/>
                <a:buFontTx/>
                <a:buNone/>
                <a:tabLst/>
                <a:defRPr/>
              </a:pPr>
              <a:endParaRPr lang="en-US" sz="900" dirty="0">
                <a:solidFill>
                  <a:srgbClr val="000000"/>
                </a:solidFill>
                <a:latin typeface="Arial"/>
              </a:endParaRPr>
            </a:p>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We attended a meeting with Management on [</a:t>
              </a:r>
              <a:r>
                <a:rPr kumimoji="0" lang="en-US" sz="900" b="0" i="0" u="none" strike="noStrike" kern="1200" cap="none" spc="0" normalizeH="0" baseline="0" noProof="0" dirty="0">
                  <a:ln>
                    <a:noFill/>
                  </a:ln>
                  <a:solidFill>
                    <a:srgbClr val="FD349C"/>
                  </a:solidFill>
                  <a:effectLst/>
                  <a:uLnTx/>
                  <a:uFillTx/>
                  <a:latin typeface="Arial"/>
                  <a:ea typeface="+mn-ea"/>
                  <a:cs typeface="+mn-cs"/>
                </a:rPr>
                <a:t>date</a:t>
              </a:r>
              <a:r>
                <a:rPr kumimoji="0" lang="en-US" sz="900" b="0" i="0" u="none" strike="noStrike" kern="1200" cap="none" spc="0" normalizeH="0" baseline="0" noProof="0" dirty="0">
                  <a:ln>
                    <a:noFill/>
                  </a:ln>
                  <a:solidFill>
                    <a:srgbClr val="000000"/>
                  </a:solidFill>
                  <a:effectLst/>
                  <a:uLnTx/>
                  <a:uFillTx/>
                  <a:latin typeface="Arial"/>
                  <a:ea typeface="+mn-ea"/>
                  <a:cs typeface="+mn-cs"/>
                </a:rPr>
                <a:t>], and have had regular follow-up calls with Management and communication through email.</a:t>
              </a:r>
            </a:p>
            <a:p>
              <a:pPr marL="0" marR="0" lvl="0" indent="0" algn="l" defTabSz="914377" rtl="0" eaLnBrk="1" fontAlgn="auto" latinLnBrk="0" hangingPunct="1">
                <a:lnSpc>
                  <a:spcPct val="100000"/>
                </a:lnSpc>
                <a:spcBef>
                  <a:spcPts val="0"/>
                </a:spcBef>
                <a:spcAft>
                  <a:spcPts val="200"/>
                </a:spcAft>
                <a:buClrTx/>
                <a:buSzTx/>
                <a:buFontTx/>
                <a:buNone/>
                <a:tabLst/>
                <a:defRPr/>
              </a:pPr>
              <a:r>
                <a:rPr kumimoji="0" lang="en-US" sz="900" b="0" i="0" u="none" strike="noStrike" kern="1200" cap="none" spc="0" normalizeH="0" baseline="0" noProof="0" dirty="0">
                  <a:ln>
                    <a:noFill/>
                  </a:ln>
                  <a:effectLst/>
                  <a:uLnTx/>
                  <a:uFillTx/>
                  <a:latin typeface="Arial"/>
                  <a:ea typeface="+mn-ea"/>
                  <a:cs typeface="+mn-cs"/>
                </a:rPr>
                <a:t>Overall, we have had good access to Management, who have been helpful and put a significant amount of time and effort into this due diligence process by responding to our questions and requests in a timely manner.</a:t>
              </a:r>
            </a:p>
          </p:txBody>
        </p:sp>
        <p:sp>
          <p:nvSpPr>
            <p:cNvPr id="4" name="TextBox 3">
              <a:extLst>
                <a:ext uri="{FF2B5EF4-FFF2-40B4-BE49-F238E27FC236}">
                  <a16:creationId xmlns:a16="http://schemas.microsoft.com/office/drawing/2014/main" id="{FC317597-5059-4949-AA75-26BE70468A90}"/>
                </a:ext>
              </a:extLst>
            </p:cNvPr>
            <p:cNvSpPr txBox="1"/>
            <p:nvPr/>
          </p:nvSpPr>
          <p:spPr>
            <a:xfrm>
              <a:off x="3768226" y="3314108"/>
              <a:ext cx="7431589" cy="642998"/>
            </a:xfrm>
            <a:prstGeom prst="rect">
              <a:avLst/>
            </a:prstGeom>
          </p:spPr>
          <p:txBody>
            <a:bodyPr vert="horz" wrap="square" lIns="0" tIns="0" rIns="0" bIns="0" numCol="2" rtlCol="0" anchor="t" anchorCtr="0">
              <a:noAutofit/>
            </a:bodyPr>
            <a:lstStyle/>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Founder &amp; Brand Director</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COO</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defRPr/>
              </a:pPr>
              <a:r>
                <a:rPr lang="en-GB" sz="900" b="0" i="0" u="none" kern="0" dirty="0">
                  <a:solidFill>
                    <a:schemeClr val="tx1"/>
                  </a:solidFill>
                  <a:latin typeface="Arial" panose="020B0604020202020204" pitchFamily="34" charset="0"/>
                  <a:ea typeface="+mn-ea"/>
                  <a:cs typeface="Arial" panose="020B0604020202020204" pitchFamily="34" charset="0"/>
                </a:rPr>
                <a:t>Finance Manager</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Customer Director</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Trading Director</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Production Director</a:t>
              </a:r>
            </a:p>
            <a:p>
              <a:pPr marL="171450" marR="0" lvl="2" indent="-171450" algn="l" defTabSz="990570" rtl="0" eaLnBrk="1" fontAlgn="base" latinLnBrk="0" hangingPunct="1">
                <a:lnSpc>
                  <a:spcPct val="100000"/>
                </a:lnSpc>
                <a:spcAft>
                  <a:spcPts val="200"/>
                </a:spcAft>
                <a:buClr>
                  <a:schemeClr val="tx2"/>
                </a:buClr>
                <a:buSzPct val="85000"/>
                <a:buFont typeface="Arial" panose="020B0604020202020204" pitchFamily="34" charset="0"/>
                <a:buChar char="•"/>
                <a:tabLst/>
              </a:pPr>
              <a:r>
                <a:rPr lang="en-GB" sz="900" b="0" i="0" u="none" kern="0" dirty="0">
                  <a:solidFill>
                    <a:schemeClr val="tx1"/>
                  </a:solidFill>
                  <a:latin typeface="Arial" panose="020B0604020202020204" pitchFamily="34" charset="0"/>
                  <a:ea typeface="+mn-ea"/>
                  <a:cs typeface="Arial" panose="020B0604020202020204" pitchFamily="34" charset="0"/>
                </a:rPr>
                <a:t>Design Director</a:t>
              </a:r>
            </a:p>
          </p:txBody>
        </p:sp>
      </p:grpSp>
      <p:sp>
        <p:nvSpPr>
          <p:cNvPr id="3" name="Rectangle 2">
            <a:hlinkClick r:id="rId5" action="ppaction://hlinksldjump"/>
            <a:extLst>
              <a:ext uri="{FF2B5EF4-FFF2-40B4-BE49-F238E27FC236}">
                <a16:creationId xmlns:a16="http://schemas.microsoft.com/office/drawing/2014/main" id="{256969FC-F293-48DB-9954-232EF3657FA9}"/>
              </a:ext>
            </a:extLst>
          </p:cNvPr>
          <p:cNvSpPr/>
          <p:nvPr/>
        </p:nvSpPr>
        <p:spPr>
          <a:xfrm>
            <a:off x="3682105" y="1503680"/>
            <a:ext cx="646055"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114" name="Rectangle 113">
            <a:hlinkClick r:id="rId6" action="ppaction://hlinksldjump"/>
            <a:extLst>
              <a:ext uri="{FF2B5EF4-FFF2-40B4-BE49-F238E27FC236}">
                <a16:creationId xmlns:a16="http://schemas.microsoft.com/office/drawing/2014/main" id="{C3363E07-9E57-477D-8043-73C9B49A948F}"/>
              </a:ext>
            </a:extLst>
          </p:cNvPr>
          <p:cNvSpPr/>
          <p:nvPr/>
        </p:nvSpPr>
        <p:spPr>
          <a:xfrm>
            <a:off x="9639252" y="6101348"/>
            <a:ext cx="646055"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sp>
        <p:nvSpPr>
          <p:cNvPr id="43" name="Text Placeholder 13">
            <a:extLst>
              <a:ext uri="{FF2B5EF4-FFF2-40B4-BE49-F238E27FC236}">
                <a16:creationId xmlns:a16="http://schemas.microsoft.com/office/drawing/2014/main" id="{E489FDF9-04F2-4BA5-B60B-DF8FBF2C9DE4}"/>
              </a:ext>
            </a:extLst>
          </p:cNvPr>
          <p:cNvSpPr txBox="1">
            <a:spLocks/>
          </p:cNvSpPr>
          <p:nvPr/>
        </p:nvSpPr>
        <p:spPr>
          <a:xfrm>
            <a:off x="998401" y="1130685"/>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u="none" strike="noStrike" kern="1200" cap="none" spc="0" normalizeH="0" baseline="0" noProof="0">
                <a:ln>
                  <a:noFill/>
                </a:ln>
                <a:solidFill>
                  <a:srgbClr val="00338D"/>
                </a:solidFill>
                <a:effectLst/>
                <a:uLnTx/>
                <a:uFillTx/>
                <a:latin typeface="KPMG Bold"/>
                <a:ea typeface="+mn-ea"/>
                <a:cs typeface="+mn-cs"/>
              </a:rPr>
              <a:t>Scope of work</a:t>
            </a:r>
            <a:endParaRPr kumimoji="0" lang="en-IN" sz="2800" b="0" i="0" u="none" strike="noStrike" kern="1200" cap="none" spc="0" normalizeH="0" baseline="0" noProof="0" dirty="0">
              <a:ln>
                <a:noFill/>
              </a:ln>
              <a:solidFill>
                <a:srgbClr val="00338D"/>
              </a:solidFill>
              <a:effectLst/>
              <a:uLnTx/>
              <a:uFillTx/>
              <a:latin typeface="KPMG Bold"/>
              <a:ea typeface="+mn-ea"/>
              <a:cs typeface="+mn-cs"/>
            </a:endParaRPr>
          </a:p>
        </p:txBody>
      </p:sp>
      <p:sp>
        <p:nvSpPr>
          <p:cNvPr id="44" name="Text Placeholder 6">
            <a:extLst>
              <a:ext uri="{FF2B5EF4-FFF2-40B4-BE49-F238E27FC236}">
                <a16:creationId xmlns:a16="http://schemas.microsoft.com/office/drawing/2014/main" id="{8EC177D4-FE51-4BD4-BE81-30A9D3ABDD83}"/>
              </a:ext>
            </a:extLst>
          </p:cNvPr>
          <p:cNvSpPr txBox="1">
            <a:spLocks/>
          </p:cNvSpPr>
          <p:nvPr/>
        </p:nvSpPr>
        <p:spPr>
          <a:xfrm>
            <a:off x="966998" y="2285458"/>
            <a:ext cx="57547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Restricted</a:t>
            </a:r>
          </a:p>
        </p:txBody>
      </p:sp>
      <p:sp>
        <p:nvSpPr>
          <p:cNvPr id="45" name="Text Placeholder 6">
            <a:extLst>
              <a:ext uri="{FF2B5EF4-FFF2-40B4-BE49-F238E27FC236}">
                <a16:creationId xmlns:a16="http://schemas.microsoft.com/office/drawing/2014/main" id="{E6A5939D-3188-4049-8D37-211F6A9F316C}"/>
              </a:ext>
            </a:extLst>
          </p:cNvPr>
          <p:cNvSpPr txBox="1">
            <a:spLocks/>
          </p:cNvSpPr>
          <p:nvPr/>
        </p:nvSpPr>
        <p:spPr>
          <a:xfrm>
            <a:off x="2763065" y="2285458"/>
            <a:ext cx="61875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Customary</a:t>
            </a:r>
          </a:p>
        </p:txBody>
      </p:sp>
      <p:sp>
        <p:nvSpPr>
          <p:cNvPr id="46" name="Rectangle: Rounded Corners 45">
            <a:extLst>
              <a:ext uri="{FF2B5EF4-FFF2-40B4-BE49-F238E27FC236}">
                <a16:creationId xmlns:a16="http://schemas.microsoft.com/office/drawing/2014/main" id="{FE353F35-3DC1-4EBC-B7FF-ECAC265DC180}"/>
              </a:ext>
            </a:extLst>
          </p:cNvPr>
          <p:cNvSpPr/>
          <p:nvPr/>
        </p:nvSpPr>
        <p:spPr>
          <a:xfrm>
            <a:off x="2771954" y="1908903"/>
            <a:ext cx="600981" cy="20811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7" name="Rectangle: Rounded Corners 46">
            <a:extLst>
              <a:ext uri="{FF2B5EF4-FFF2-40B4-BE49-F238E27FC236}">
                <a16:creationId xmlns:a16="http://schemas.microsoft.com/office/drawing/2014/main" id="{BDFEB54F-4297-44F9-9CB4-F97AB852EAC9}"/>
              </a:ext>
            </a:extLst>
          </p:cNvPr>
          <p:cNvSpPr/>
          <p:nvPr/>
        </p:nvSpPr>
        <p:spPr>
          <a:xfrm>
            <a:off x="954247" y="1908903"/>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8" name="Rectangle: Rounded Corners 47">
            <a:extLst>
              <a:ext uri="{FF2B5EF4-FFF2-40B4-BE49-F238E27FC236}">
                <a16:creationId xmlns:a16="http://schemas.microsoft.com/office/drawing/2014/main" id="{5A12D3C5-61BC-4B6A-B572-6AAEF45E756E}"/>
              </a:ext>
            </a:extLst>
          </p:cNvPr>
          <p:cNvSpPr/>
          <p:nvPr/>
        </p:nvSpPr>
        <p:spPr>
          <a:xfrm>
            <a:off x="1856504" y="1908903"/>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9" name="Text Placeholder 6">
            <a:extLst>
              <a:ext uri="{FF2B5EF4-FFF2-40B4-BE49-F238E27FC236}">
                <a16:creationId xmlns:a16="http://schemas.microsoft.com/office/drawing/2014/main" id="{45A9C07E-7306-47B7-9A7E-DD54B822352B}"/>
              </a:ext>
            </a:extLst>
          </p:cNvPr>
          <p:cNvSpPr txBox="1">
            <a:spLocks/>
          </p:cNvSpPr>
          <p:nvPr/>
        </p:nvSpPr>
        <p:spPr>
          <a:xfrm>
            <a:off x="1887690" y="2285458"/>
            <a:ext cx="53860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Moderate</a:t>
            </a:r>
          </a:p>
        </p:txBody>
      </p:sp>
      <p:sp>
        <p:nvSpPr>
          <p:cNvPr id="50" name="Text Placeholder 14">
            <a:extLst>
              <a:ext uri="{FF2B5EF4-FFF2-40B4-BE49-F238E27FC236}">
                <a16:creationId xmlns:a16="http://schemas.microsoft.com/office/drawing/2014/main" id="{E21FF2A1-2466-45CC-840D-B7541F381ABF}"/>
              </a:ext>
            </a:extLst>
          </p:cNvPr>
          <p:cNvSpPr txBox="1">
            <a:spLocks/>
          </p:cNvSpPr>
          <p:nvPr/>
        </p:nvSpPr>
        <p:spPr>
          <a:xfrm>
            <a:off x="998401" y="3508745"/>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a:ln>
                  <a:noFill/>
                </a:ln>
                <a:solidFill>
                  <a:srgbClr val="00B8F5"/>
                </a:solidFill>
                <a:effectLst/>
                <a:uLnTx/>
                <a:uFillTx/>
                <a:latin typeface="KPMG Bold"/>
                <a:ea typeface="+mn-ea"/>
                <a:cs typeface="+mn-cs"/>
              </a:rPr>
              <a:t>Access to management</a:t>
            </a:r>
            <a:endParaRPr kumimoji="0" lang="en-US" sz="2800" b="0" i="0" u="none" strike="noStrike" kern="1200" cap="none" spc="0" normalizeH="0" baseline="0" noProof="0" dirty="0">
              <a:ln>
                <a:noFill/>
              </a:ln>
              <a:solidFill>
                <a:srgbClr val="00B8F5"/>
              </a:solidFill>
              <a:effectLst/>
              <a:uLnTx/>
              <a:uFillTx/>
              <a:latin typeface="KPMG Bold"/>
              <a:ea typeface="+mn-ea"/>
              <a:cs typeface="+mn-cs"/>
            </a:endParaRPr>
          </a:p>
        </p:txBody>
      </p:sp>
      <p:sp>
        <p:nvSpPr>
          <p:cNvPr id="51" name="Text Placeholder 6">
            <a:extLst>
              <a:ext uri="{FF2B5EF4-FFF2-40B4-BE49-F238E27FC236}">
                <a16:creationId xmlns:a16="http://schemas.microsoft.com/office/drawing/2014/main" id="{D446527D-8EC9-4AED-8D2D-835921B18643}"/>
              </a:ext>
            </a:extLst>
          </p:cNvPr>
          <p:cNvSpPr txBox="1">
            <a:spLocks/>
          </p:cNvSpPr>
          <p:nvPr/>
        </p:nvSpPr>
        <p:spPr>
          <a:xfrm>
            <a:off x="1011243" y="4378140"/>
            <a:ext cx="304571"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None</a:t>
            </a:r>
          </a:p>
        </p:txBody>
      </p:sp>
      <p:sp>
        <p:nvSpPr>
          <p:cNvPr id="52" name="Text Placeholder 6">
            <a:extLst>
              <a:ext uri="{FF2B5EF4-FFF2-40B4-BE49-F238E27FC236}">
                <a16:creationId xmlns:a16="http://schemas.microsoft.com/office/drawing/2014/main" id="{00F08843-8ADC-495D-8E7E-A7A5336B901F}"/>
              </a:ext>
            </a:extLst>
          </p:cNvPr>
          <p:cNvSpPr txBox="1">
            <a:spLocks/>
          </p:cNvSpPr>
          <p:nvPr/>
        </p:nvSpPr>
        <p:spPr>
          <a:xfrm>
            <a:off x="2856701" y="4378140"/>
            <a:ext cx="310983"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Good</a:t>
            </a:r>
          </a:p>
        </p:txBody>
      </p:sp>
      <p:sp>
        <p:nvSpPr>
          <p:cNvPr id="53" name="Rectangle: Rounded Corners 52">
            <a:extLst>
              <a:ext uri="{FF2B5EF4-FFF2-40B4-BE49-F238E27FC236}">
                <a16:creationId xmlns:a16="http://schemas.microsoft.com/office/drawing/2014/main" id="{71B8D581-2EC9-4504-896F-10F20269154A}"/>
              </a:ext>
            </a:extLst>
          </p:cNvPr>
          <p:cNvSpPr/>
          <p:nvPr/>
        </p:nvSpPr>
        <p:spPr>
          <a:xfrm>
            <a:off x="2726527" y="3994453"/>
            <a:ext cx="600981" cy="208110"/>
          </a:xfrm>
          <a:prstGeom prst="roundRect">
            <a:avLst>
              <a:gd name="adj" fmla="val 50000"/>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4" name="Rectangle: Rounded Corners 53">
            <a:extLst>
              <a:ext uri="{FF2B5EF4-FFF2-40B4-BE49-F238E27FC236}">
                <a16:creationId xmlns:a16="http://schemas.microsoft.com/office/drawing/2014/main" id="{9A010B2C-341E-465B-919B-6FDB56799F70}"/>
              </a:ext>
            </a:extLst>
          </p:cNvPr>
          <p:cNvSpPr/>
          <p:nvPr/>
        </p:nvSpPr>
        <p:spPr>
          <a:xfrm>
            <a:off x="966146" y="4008718"/>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5" name="Rectangle: Rounded Corners 54">
            <a:extLst>
              <a:ext uri="{FF2B5EF4-FFF2-40B4-BE49-F238E27FC236}">
                <a16:creationId xmlns:a16="http://schemas.microsoft.com/office/drawing/2014/main" id="{C4FA0A40-2A88-47B6-9A5A-C9EC3B9609C5}"/>
              </a:ext>
            </a:extLst>
          </p:cNvPr>
          <p:cNvSpPr/>
          <p:nvPr/>
        </p:nvSpPr>
        <p:spPr>
          <a:xfrm>
            <a:off x="1832625" y="4001367"/>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6" name="Text Placeholder 6">
            <a:extLst>
              <a:ext uri="{FF2B5EF4-FFF2-40B4-BE49-F238E27FC236}">
                <a16:creationId xmlns:a16="http://schemas.microsoft.com/office/drawing/2014/main" id="{74F9C1D3-D9B1-4C84-87B0-92AFCD7AB056}"/>
              </a:ext>
            </a:extLst>
          </p:cNvPr>
          <p:cNvSpPr txBox="1">
            <a:spLocks/>
          </p:cNvSpPr>
          <p:nvPr/>
        </p:nvSpPr>
        <p:spPr>
          <a:xfrm>
            <a:off x="1929240" y="4378140"/>
            <a:ext cx="41197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Limited</a:t>
            </a:r>
          </a:p>
        </p:txBody>
      </p:sp>
      <p:sp>
        <p:nvSpPr>
          <p:cNvPr id="57" name="Text Placeholder 15">
            <a:extLst>
              <a:ext uri="{FF2B5EF4-FFF2-40B4-BE49-F238E27FC236}">
                <a16:creationId xmlns:a16="http://schemas.microsoft.com/office/drawing/2014/main" id="{53C2D5DD-E977-4F7F-9719-4A93C3AFEA3B}"/>
              </a:ext>
            </a:extLst>
          </p:cNvPr>
          <p:cNvSpPr txBox="1">
            <a:spLocks/>
          </p:cNvSpPr>
          <p:nvPr/>
        </p:nvSpPr>
        <p:spPr>
          <a:xfrm>
            <a:off x="1011243" y="4815743"/>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7213EA"/>
                </a:solidFill>
                <a:effectLst/>
                <a:uLnTx/>
                <a:uFillTx/>
                <a:latin typeface="KPMG Bold"/>
                <a:ea typeface="+mn-ea"/>
                <a:cs typeface="+mn-cs"/>
              </a:rPr>
              <a:t>Access to information</a:t>
            </a:r>
          </a:p>
        </p:txBody>
      </p:sp>
      <p:sp>
        <p:nvSpPr>
          <p:cNvPr id="58" name="Text Placeholder 6">
            <a:extLst>
              <a:ext uri="{FF2B5EF4-FFF2-40B4-BE49-F238E27FC236}">
                <a16:creationId xmlns:a16="http://schemas.microsoft.com/office/drawing/2014/main" id="{9EC00579-2213-482D-9E17-1044E98CED1C}"/>
              </a:ext>
            </a:extLst>
          </p:cNvPr>
          <p:cNvSpPr txBox="1">
            <a:spLocks/>
          </p:cNvSpPr>
          <p:nvPr/>
        </p:nvSpPr>
        <p:spPr>
          <a:xfrm>
            <a:off x="1000824" y="5670597"/>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chemeClr val="accent5"/>
                </a:solidFill>
              </a:rPr>
              <a:t>Low</a:t>
            </a:r>
          </a:p>
        </p:txBody>
      </p:sp>
      <p:sp>
        <p:nvSpPr>
          <p:cNvPr id="59" name="Text Placeholder 6">
            <a:extLst>
              <a:ext uri="{FF2B5EF4-FFF2-40B4-BE49-F238E27FC236}">
                <a16:creationId xmlns:a16="http://schemas.microsoft.com/office/drawing/2014/main" id="{2812CEB2-F9CD-48C3-BC9D-8DDD2C13D830}"/>
              </a:ext>
            </a:extLst>
          </p:cNvPr>
          <p:cNvSpPr txBox="1">
            <a:spLocks/>
          </p:cNvSpPr>
          <p:nvPr/>
        </p:nvSpPr>
        <p:spPr>
          <a:xfrm>
            <a:off x="2858552" y="5679735"/>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b="0" dirty="0">
                <a:solidFill>
                  <a:schemeClr val="accent5"/>
                </a:solidFill>
              </a:rPr>
              <a:t>High</a:t>
            </a:r>
          </a:p>
        </p:txBody>
      </p:sp>
      <p:sp>
        <p:nvSpPr>
          <p:cNvPr id="60" name="Rectangle: Rounded Corners 59">
            <a:extLst>
              <a:ext uri="{FF2B5EF4-FFF2-40B4-BE49-F238E27FC236}">
                <a16:creationId xmlns:a16="http://schemas.microsoft.com/office/drawing/2014/main" id="{90E6502F-FD78-492B-AC31-DB88AA3EE381}"/>
              </a:ext>
            </a:extLst>
          </p:cNvPr>
          <p:cNvSpPr/>
          <p:nvPr/>
        </p:nvSpPr>
        <p:spPr>
          <a:xfrm>
            <a:off x="2726527" y="5360594"/>
            <a:ext cx="600981" cy="208110"/>
          </a:xfrm>
          <a:prstGeom prst="roundRect">
            <a:avLst>
              <a:gd name="adj" fmla="val 50000"/>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61" name="Rectangle: Rounded Corners 60">
            <a:extLst>
              <a:ext uri="{FF2B5EF4-FFF2-40B4-BE49-F238E27FC236}">
                <a16:creationId xmlns:a16="http://schemas.microsoft.com/office/drawing/2014/main" id="{89751F50-2F07-45EE-BC30-4D09A23D0E21}"/>
              </a:ext>
            </a:extLst>
          </p:cNvPr>
          <p:cNvSpPr/>
          <p:nvPr/>
        </p:nvSpPr>
        <p:spPr>
          <a:xfrm>
            <a:off x="906401" y="5350274"/>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62" name="Rectangle: Rounded Corners 61">
            <a:extLst>
              <a:ext uri="{FF2B5EF4-FFF2-40B4-BE49-F238E27FC236}">
                <a16:creationId xmlns:a16="http://schemas.microsoft.com/office/drawing/2014/main" id="{82FC34E5-2B15-4B42-8ABD-B7DA7119D0D3}"/>
              </a:ext>
            </a:extLst>
          </p:cNvPr>
          <p:cNvSpPr/>
          <p:nvPr/>
        </p:nvSpPr>
        <p:spPr>
          <a:xfrm>
            <a:off x="1858439" y="5344710"/>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63" name="Text Placeholder 6">
            <a:extLst>
              <a:ext uri="{FF2B5EF4-FFF2-40B4-BE49-F238E27FC236}">
                <a16:creationId xmlns:a16="http://schemas.microsoft.com/office/drawing/2014/main" id="{87ED233D-3D33-46E3-8A54-602207520B1B}"/>
              </a:ext>
            </a:extLst>
          </p:cNvPr>
          <p:cNvSpPr txBox="1">
            <a:spLocks/>
          </p:cNvSpPr>
          <p:nvPr/>
        </p:nvSpPr>
        <p:spPr>
          <a:xfrm>
            <a:off x="1952943" y="5677923"/>
            <a:ext cx="455253"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chemeClr val="accent5"/>
                </a:solidFill>
              </a:rPr>
              <a:t>Medium</a:t>
            </a:r>
          </a:p>
        </p:txBody>
      </p:sp>
      <p:cxnSp>
        <p:nvCxnSpPr>
          <p:cNvPr id="64" name="Straight Connector 63">
            <a:extLst>
              <a:ext uri="{FF2B5EF4-FFF2-40B4-BE49-F238E27FC236}">
                <a16:creationId xmlns:a16="http://schemas.microsoft.com/office/drawing/2014/main" id="{AC8ECB2D-707D-445F-86CA-9BC630555688}"/>
              </a:ext>
            </a:extLst>
          </p:cNvPr>
          <p:cNvCxnSpPr/>
          <p:nvPr/>
        </p:nvCxnSpPr>
        <p:spPr>
          <a:xfrm>
            <a:off x="966146" y="3428860"/>
            <a:ext cx="10099523" cy="0"/>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88106-51D7-462D-BD54-FB353E3CD631}"/>
              </a:ext>
            </a:extLst>
          </p:cNvPr>
          <p:cNvCxnSpPr/>
          <p:nvPr/>
        </p:nvCxnSpPr>
        <p:spPr>
          <a:xfrm>
            <a:off x="1017691" y="4730983"/>
            <a:ext cx="10099523" cy="0"/>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678D4DD8-1FF2-42CC-97AF-29C6742B9CD9}"/>
              </a:ext>
            </a:extLst>
          </p:cNvPr>
          <p:cNvGrpSpPr/>
          <p:nvPr>
            <p:custDataLst>
              <p:tags r:id="rId3"/>
            </p:custDataLst>
          </p:nvPr>
        </p:nvGrpSpPr>
        <p:grpSpPr>
          <a:xfrm>
            <a:off x="995364" y="153170"/>
            <a:ext cx="6213178" cy="195814"/>
            <a:chOff x="995364" y="153170"/>
            <a:chExt cx="6213178" cy="195814"/>
          </a:xfrm>
        </p:grpSpPr>
        <p:sp>
          <p:nvSpPr>
            <p:cNvPr id="66"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7"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68"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69"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0"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71"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72"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1253388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7446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GB" sz="1000" b="1" kern="1200" dirty="0">
                          <a:solidFill>
                            <a:schemeClr val="tx2"/>
                          </a:solidFill>
                          <a:latin typeface="+mn-lt"/>
                          <a:ea typeface="+mn-ea"/>
                          <a:cs typeface="+mn-cs"/>
                        </a:rPr>
                        <a:t>Definitions</a:t>
                      </a:r>
                    </a:p>
                  </a:txBody>
                  <a:tcPr marL="54000" marR="54000" marT="54000" marB="54000" horzOverflow="overflow">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0"/>
                        </a:spcBef>
                        <a:spcAft>
                          <a:spcPts val="600"/>
                        </a:spcAft>
                      </a:pPr>
                      <a:r>
                        <a:rPr lang="en-GB" sz="1000" b="0" i="0" u="none" dirty="0">
                          <a:solidFill>
                            <a:schemeClr val="tx1"/>
                          </a:solidFill>
                          <a:latin typeface="Arial" panose="020B0604020202020204" pitchFamily="34" charset="0"/>
                        </a:rPr>
                        <a:t>The following key terms have been used in this scope:</a:t>
                      </a: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dirty="0">
                          <a:solidFill>
                            <a:srgbClr val="00338D"/>
                          </a:solidFill>
                          <a:latin typeface="Arial" panose="020B0604020202020204" pitchFamily="34" charset="0"/>
                        </a:rPr>
                        <a:t>Business:</a:t>
                      </a:r>
                      <a:r>
                        <a:rPr lang="en-GB" sz="1000" b="0" i="0" u="none" dirty="0">
                          <a:solidFill>
                            <a:schemeClr val="tx1"/>
                          </a:solidFill>
                          <a:latin typeface="Arial" panose="020B0604020202020204" pitchFamily="34" charset="0"/>
                        </a:rPr>
                        <a:t> Infinity</a:t>
                      </a: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kern="1200" dirty="0">
                          <a:solidFill>
                            <a:srgbClr val="00338D"/>
                          </a:solidFill>
                          <a:latin typeface="Arial" panose="020B0604020202020204" pitchFamily="34" charset="0"/>
                          <a:ea typeface="+mn-ea"/>
                          <a:cs typeface="+mn-cs"/>
                        </a:rPr>
                        <a:t>Historical Period: </a:t>
                      </a:r>
                      <a:r>
                        <a:rPr lang="en-GB" sz="1000" b="0" i="0" u="none" kern="1200" dirty="0">
                          <a:solidFill>
                            <a:schemeClr val="tx1"/>
                          </a:solidFill>
                          <a:latin typeface="Arial" panose="020B0604020202020204" pitchFamily="34" charset="0"/>
                          <a:ea typeface="+mn-ea"/>
                          <a:cs typeface="+mn-cs"/>
                        </a:rPr>
                        <a:t>Three years ended 31 January 2021 (‘FY19’, ‘FY20’ and 'FY21') and eight months ended 26 September 2021 ('YTD22')</a:t>
                      </a:r>
                      <a:endParaRPr lang="en-GB" sz="1000" b="0" i="0" u="none" dirty="0">
                        <a:solidFill>
                          <a:schemeClr val="tx1"/>
                        </a:solidFill>
                        <a:latin typeface="Arial" panose="020B0604020202020204" pitchFamily="34" charset="0"/>
                      </a:endParaRP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kern="1200" dirty="0">
                          <a:solidFill>
                            <a:srgbClr val="00338D"/>
                          </a:solidFill>
                          <a:latin typeface="Arial" panose="020B0604020202020204" pitchFamily="34" charset="0"/>
                          <a:ea typeface="+mn-ea"/>
                          <a:cs typeface="+mn-cs"/>
                        </a:rPr>
                        <a:t>Current period: </a:t>
                      </a:r>
                      <a:r>
                        <a:rPr lang="en-GB" sz="1000" b="0" i="0" u="none" dirty="0">
                          <a:solidFill>
                            <a:schemeClr val="tx1"/>
                          </a:solidFill>
                          <a:latin typeface="Arial" panose="020B0604020202020204" pitchFamily="34" charset="0"/>
                        </a:rPr>
                        <a:t>The year ending 30 January 2022 (comprising 8 months of actuals and 4 months of expected results)(‘FY22 Outturn’)</a:t>
                      </a: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dirty="0">
                          <a:solidFill>
                            <a:srgbClr val="00338D"/>
                          </a:solidFill>
                          <a:latin typeface="Arial" panose="020B0604020202020204" pitchFamily="34" charset="0"/>
                        </a:rPr>
                        <a:t>Historical Dates:</a:t>
                      </a:r>
                      <a:r>
                        <a:rPr lang="en-GB" sz="1000" b="0" i="0" u="none" dirty="0">
                          <a:solidFill>
                            <a:schemeClr val="tx1"/>
                          </a:solidFill>
                          <a:latin typeface="Arial" panose="020B0604020202020204" pitchFamily="34" charset="0"/>
                        </a:rPr>
                        <a:t>  26 January 2020, 31 January 2021 and 26 September 2021</a:t>
                      </a: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dirty="0">
                          <a:solidFill>
                            <a:srgbClr val="00338D"/>
                          </a:solidFill>
                          <a:latin typeface="Arial" panose="020B0604020202020204" pitchFamily="34" charset="0"/>
                        </a:rPr>
                        <a:t>Latest balance sheet date:  </a:t>
                      </a:r>
                      <a:r>
                        <a:rPr lang="en-GB" sz="1000" b="0" i="1" u="none" dirty="0">
                          <a:solidFill>
                            <a:schemeClr val="tx1"/>
                          </a:solidFill>
                          <a:latin typeface="Arial" panose="020B0604020202020204" pitchFamily="34" charset="0"/>
                        </a:rPr>
                        <a:t>26</a:t>
                      </a:r>
                      <a:r>
                        <a:rPr lang="en-GB" sz="1000" b="1" i="1" u="none" dirty="0">
                          <a:solidFill>
                            <a:srgbClr val="00338D"/>
                          </a:solidFill>
                          <a:latin typeface="Arial" panose="020B0604020202020204" pitchFamily="34" charset="0"/>
                        </a:rPr>
                        <a:t> </a:t>
                      </a:r>
                      <a:r>
                        <a:rPr lang="en-GB" sz="1000" b="0" i="0" u="none" dirty="0">
                          <a:solidFill>
                            <a:schemeClr val="tx1"/>
                          </a:solidFill>
                          <a:latin typeface="Arial" panose="020B0604020202020204" pitchFamily="34" charset="0"/>
                        </a:rPr>
                        <a:t>September 2021</a:t>
                      </a:r>
                    </a:p>
                    <a:p>
                      <a:pPr marL="236538" marR="0" lvl="0" indent="-236538" algn="l" defTabSz="43200" rtl="0" eaLnBrk="1" fontAlgn="auto" latinLnBrk="0" hangingPunct="1">
                        <a:lnSpc>
                          <a:spcPct val="100000"/>
                        </a:lnSpc>
                        <a:spcBef>
                          <a:spcPts val="0"/>
                        </a:spcBef>
                        <a:spcAft>
                          <a:spcPts val="600"/>
                        </a:spcAft>
                        <a:buClr>
                          <a:srgbClr val="00338D"/>
                        </a:buClr>
                        <a:buSzTx/>
                        <a:buFont typeface="Arial" panose="020B0604020202020204" pitchFamily="34" charset="0"/>
                        <a:buChar char="—"/>
                        <a:tabLst/>
                        <a:defRPr/>
                      </a:pPr>
                      <a:r>
                        <a:rPr lang="en-GB" sz="1000" b="1" i="1" u="none" kern="1200" dirty="0">
                          <a:solidFill>
                            <a:srgbClr val="00338D"/>
                          </a:solidFill>
                          <a:latin typeface="Arial" panose="020B0604020202020204" pitchFamily="34" charset="0"/>
                          <a:ea typeface="+mn-ea"/>
                          <a:cs typeface="+mn-cs"/>
                        </a:rPr>
                        <a:t>Current year: </a:t>
                      </a:r>
                      <a:r>
                        <a:rPr lang="en-GB" sz="1000" b="0" i="0" u="none" dirty="0">
                          <a:solidFill>
                            <a:schemeClr val="tx1"/>
                          </a:solidFill>
                          <a:latin typeface="Arial" panose="020B0604020202020204" pitchFamily="34" charset="0"/>
                        </a:rPr>
                        <a:t>The year ending 30 January 2022 (comprising 8 months of actuals and 4 months of expected results)(‘FY22 Outturn’)</a:t>
                      </a:r>
                      <a:endParaRPr lang="en-GB" sz="1000" b="1" i="1" u="none" dirty="0">
                        <a:solidFill>
                          <a:srgbClr val="00338D"/>
                        </a:solidFill>
                        <a:latin typeface="Arial" panose="020B0604020202020204" pitchFamily="34" charset="0"/>
                      </a:endParaRPr>
                    </a:p>
                    <a:p>
                      <a:pPr marL="236538" indent="-236538">
                        <a:lnSpc>
                          <a:spcPct val="100000"/>
                        </a:lnSpc>
                        <a:spcBef>
                          <a:spcPts val="0"/>
                        </a:spcBef>
                        <a:spcAft>
                          <a:spcPts val="600"/>
                        </a:spcAft>
                        <a:buClr>
                          <a:srgbClr val="00338D"/>
                        </a:buClr>
                        <a:buFont typeface="Arial" panose="020B0604020202020204" pitchFamily="34" charset="0"/>
                        <a:buChar char="—"/>
                      </a:pPr>
                      <a:r>
                        <a:rPr lang="en-GB" sz="1000" b="1" i="1" u="none" kern="1200" dirty="0">
                          <a:solidFill>
                            <a:srgbClr val="00338D"/>
                          </a:solidFill>
                          <a:latin typeface="Arial" panose="020B0604020202020204" pitchFamily="34" charset="0"/>
                          <a:ea typeface="+mn-ea"/>
                          <a:cs typeface="+mn-cs"/>
                        </a:rPr>
                        <a:t>Forecast Period: </a:t>
                      </a:r>
                      <a:r>
                        <a:rPr lang="en-GB" sz="1000" b="0" i="0" u="none" kern="1200" dirty="0">
                          <a:solidFill>
                            <a:schemeClr val="tx1"/>
                          </a:solidFill>
                          <a:latin typeface="Arial" panose="020B0604020202020204" pitchFamily="34" charset="0"/>
                          <a:ea typeface="+mn-ea"/>
                          <a:cs typeface="+mn-cs"/>
                        </a:rPr>
                        <a:t>Three years ending 26 January 2025 (FY23, FY24 and FY25)</a:t>
                      </a:r>
                      <a:endParaRPr lang="en-GB" sz="800" b="0" i="0" u="none" kern="1200" dirty="0">
                        <a:solidFill>
                          <a:schemeClr val="tx1"/>
                        </a:solidFill>
                        <a:latin typeface="Arial" panose="020B0604020202020204" pitchFamily="34" charset="0"/>
                        <a:ea typeface="+mn-ea"/>
                        <a:cs typeface="+mn-cs"/>
                      </a:endParaRPr>
                    </a:p>
                  </a:txBody>
                  <a:tcPr marL="54000" marR="54000" marT="54000" marB="54000" horzOverflow="overflow">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endParaRPr lang="en-US" sz="1000" dirty="0">
                        <a:solidFill>
                          <a:srgbClr val="ED2124"/>
                        </a:solidFill>
                        <a:latin typeface="+mn-lt"/>
                        <a:sym typeface="Wingdings" panose="05000000000000000000" pitchFamily="2" charset="2"/>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nSpc>
                          <a:spcPct val="100000"/>
                        </a:lnSpc>
                        <a:spcBef>
                          <a:spcPts val="0"/>
                        </a:spcBef>
                        <a:spcAft>
                          <a:spcPts val="600"/>
                        </a:spcAft>
                        <a:buFont typeface="Arial" panose="020B0604020202020204" pitchFamily="34" charset="0"/>
                        <a:buNone/>
                      </a:pPr>
                      <a:endParaRPr lang="en-US" sz="1000" dirty="0">
                        <a:solidFill>
                          <a:schemeClr val="tx1"/>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a:lnSpc>
                          <a:spcPct val="100000"/>
                        </a:lnSpc>
                        <a:spcBef>
                          <a:spcPts val="0"/>
                        </a:spcBef>
                        <a:spcAft>
                          <a:spcPts val="600"/>
                        </a:spcAft>
                      </a:pPr>
                      <a:r>
                        <a:rPr lang="en-GB" sz="1000" b="1" dirty="0">
                          <a:solidFill>
                            <a:schemeClr val="tx2"/>
                          </a:solidFill>
                          <a:latin typeface="+mn-lt"/>
                        </a:rPr>
                        <a:t>Executive summary and business overview</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Comment on the history and development of the business including:</a:t>
                      </a:r>
                    </a:p>
                    <a:p>
                      <a:pPr marL="637189" lvl="1"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A summary of the evolution of the business and key events impacting on the financial results;</a:t>
                      </a:r>
                    </a:p>
                    <a:p>
                      <a:pPr marL="637189" lvl="1"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Overview of the key products,  channels and territories in which the business operates;</a:t>
                      </a:r>
                    </a:p>
                    <a:p>
                      <a:pPr marL="637189" lvl="1"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Principal operating activities and locations, a description of the business and the evolution of its boutiques and concessions;</a:t>
                      </a:r>
                    </a:p>
                    <a:p>
                      <a:pPr marL="637189" lvl="1"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Corporate/organisational/operational structure, including the existing debt/equity structure.</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the key financials and key performance indicators for the Historical, Outturn and Forecast Periods.</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key findings and conclusions from our work.</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(1/8)</a:t>
            </a:r>
          </a:p>
        </p:txBody>
      </p:sp>
      <p:sp>
        <p:nvSpPr>
          <p:cNvPr id="2" name="UpSlide SubSection Marker" hidden="1">
            <a:extLst>
              <a:ext uri="{FF2B5EF4-FFF2-40B4-BE49-F238E27FC236}">
                <a16:creationId xmlns:a16="http://schemas.microsoft.com/office/drawing/2014/main" id="{1FC5BF2F-26DC-4F8C-80B1-10748DBC7E83}"/>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77887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2556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dirty="0">
                          <a:solidFill>
                            <a:schemeClr val="tx2"/>
                          </a:solidFill>
                          <a:latin typeface="+mn-lt"/>
                        </a:rPr>
                        <a:t>Historical trading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nSpc>
                          <a:spcPct val="100000"/>
                        </a:lnSpc>
                        <a:spcBef>
                          <a:spcPts val="0"/>
                        </a:spcBef>
                        <a:spcAft>
                          <a:spcPts val="600"/>
                        </a:spcAft>
                        <a:buFont typeface="Arial" panose="020B0604020202020204" pitchFamily="34" charset="0"/>
                        <a:buNone/>
                      </a:pPr>
                      <a:r>
                        <a:rPr lang="en-GB" sz="1000" b="1" dirty="0">
                          <a:solidFill>
                            <a:schemeClr val="tx2"/>
                          </a:solidFill>
                          <a:latin typeface="+mn-lt"/>
                        </a:rPr>
                        <a:t>Overview</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the annual trading results of the Business for the Historical Period to include both sales and EBITDA bridges to highlight key drivers of historical growth.</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the annual KPIs commonly used within the business for the Historical Period</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the Business’s seasonality profile of sales and EBITDA for the Historical Period</a:t>
                      </a:r>
                    </a:p>
                    <a:p>
                      <a:pPr marL="180000" indent="-18000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Comment on the historical trend in gross margin and the key factors underlying historical performance.</a:t>
                      </a:r>
                    </a:p>
                    <a:p>
                      <a:pPr marL="0" indent="0" algn="l" defTabSz="914377" rtl="0" eaLnBrk="1" latinLnBrk="0" hangingPunct="1">
                        <a:lnSpc>
                          <a:spcPct val="100000"/>
                        </a:lnSpc>
                        <a:spcBef>
                          <a:spcPts val="0"/>
                        </a:spcBef>
                        <a:spcAft>
                          <a:spcPts val="600"/>
                        </a:spcAft>
                        <a:buFont typeface="Arial" panose="020B0604020202020204" pitchFamily="34" charset="0"/>
                        <a:buNone/>
                      </a:pPr>
                      <a:r>
                        <a:rPr lang="en-GB" sz="1000" b="1" kern="1200" dirty="0">
                          <a:solidFill>
                            <a:schemeClr val="tx2"/>
                          </a:solidFill>
                          <a:latin typeface="+mn-lt"/>
                          <a:ea typeface="+mn-ea"/>
                          <a:cs typeface="+mn-cs"/>
                        </a:rPr>
                        <a:t>Revenue and margin drivers (overall)</a:t>
                      </a:r>
                    </a:p>
                    <a:p>
                      <a:pPr marL="171450" indent="-17145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sales, margin and where relevant contribution for Historical Period and consider key drivers of historical performance by channel (i.e. website, boutiques and concessions), product and geography.</a:t>
                      </a:r>
                    </a:p>
                    <a:p>
                      <a:pPr marL="171450" indent="-17145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the seasonality profile of revenue and gross profit for the Historical Period.</a:t>
                      </a:r>
                    </a:p>
                    <a:p>
                      <a:pPr marL="171450" indent="-17145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the evolution of gross to net deductions (e.g. refunds, discounts, promotions) and the resultant impact on net revenue/gross margin over the Historical Period.</a:t>
                      </a:r>
                    </a:p>
                    <a:p>
                      <a:pPr marL="171450" indent="-171450">
                        <a:lnSpc>
                          <a:spcPct val="100000"/>
                        </a:lnSpc>
                        <a:spcBef>
                          <a:spcPts val="0"/>
                        </a:spcBef>
                        <a:spcAft>
                          <a:spcPts val="600"/>
                        </a:spcAft>
                        <a:buFont typeface="Arial" panose="020B0604020202020204" pitchFamily="34" charset="0"/>
                        <a:buChar char="•"/>
                      </a:pPr>
                      <a:r>
                        <a:rPr lang="en-GB" sz="1000" dirty="0">
                          <a:solidFill>
                            <a:schemeClr val="tx1"/>
                          </a:solidFill>
                          <a:latin typeface="+mn-lt"/>
                        </a:rPr>
                        <a:t>Summarise and comment on revenue generated from “offline” and other income (e.g. rebates, carriage) over the Historical Period</a:t>
                      </a:r>
                    </a:p>
                    <a:p>
                      <a:pPr marL="0" indent="0">
                        <a:lnSpc>
                          <a:spcPct val="100000"/>
                        </a:lnSpc>
                        <a:spcBef>
                          <a:spcPts val="0"/>
                        </a:spcBef>
                        <a:spcAft>
                          <a:spcPts val="600"/>
                        </a:spcAft>
                        <a:buFont typeface="Arial" panose="020B0604020202020204" pitchFamily="34" charset="0"/>
                        <a:buNone/>
                      </a:pPr>
                      <a:endParaRPr lang="en-GB" sz="1000" dirty="0">
                        <a:solidFill>
                          <a:schemeClr val="tx1"/>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(2/8)</a:t>
            </a:r>
          </a:p>
        </p:txBody>
      </p:sp>
      <p:sp>
        <p:nvSpPr>
          <p:cNvPr id="2" name="UpSlide SubSection Marker" hidden="1">
            <a:extLst>
              <a:ext uri="{FF2B5EF4-FFF2-40B4-BE49-F238E27FC236}">
                <a16:creationId xmlns:a16="http://schemas.microsoft.com/office/drawing/2014/main" id="{DC794DBD-DFCA-4B93-ADF2-CDA667A303D8}"/>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59223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7890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dirty="0">
                          <a:solidFill>
                            <a:schemeClr val="tx2"/>
                          </a:solidFill>
                          <a:latin typeface="+mn-lt"/>
                        </a:rPr>
                        <a:t>Historical trading performance</a:t>
                      </a:r>
                    </a:p>
                    <a:p>
                      <a:pPr>
                        <a:lnSpc>
                          <a:spcPct val="100000"/>
                        </a:lnSpc>
                        <a:spcBef>
                          <a:spcPts val="0"/>
                        </a:spcBef>
                        <a:spcAft>
                          <a:spcPts val="600"/>
                        </a:spcAft>
                      </a:pPr>
                      <a:r>
                        <a:rPr lang="en-US" sz="1000" b="1" dirty="0">
                          <a:solidFill>
                            <a:schemeClr val="tx2"/>
                          </a:solidFill>
                          <a:latin typeface="+mn-lt"/>
                        </a:rPr>
                        <a:t>(continued)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nSpc>
                          <a:spcPct val="100000"/>
                        </a:lnSpc>
                        <a:spcBef>
                          <a:spcPts val="0"/>
                        </a:spcBef>
                        <a:spcAft>
                          <a:spcPts val="600"/>
                        </a:spcAft>
                        <a:buFont typeface="Arial" panose="020B0604020202020204" pitchFamily="34" charset="0"/>
                        <a:buNone/>
                      </a:pPr>
                      <a:r>
                        <a:rPr lang="en-GB" sz="1000" b="1" dirty="0">
                          <a:solidFill>
                            <a:schemeClr val="tx2"/>
                          </a:solidFill>
                          <a:latin typeface="+mn-lt"/>
                        </a:rPr>
                        <a:t>Online</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Analyse and comment on key revenue KPIs and drivers, considering the below with, as appropriate, specific analysis in respect of the “Covid-19 cohort”: </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Evolution of customer base and buying patterns, split between new and existing (repeat, reactivated, lapsed) customers considering order frequency, AOV and ASP.</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Active customer retention (number and £), split by appropriate cohort (vintage, demographic, geography).</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Detailed trend analysis of LTV, split by suitable cohort.</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Key drivers of LTV/CAC trend (see below for further scope items in respect of CAC).</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Website traffic, source of traffic and conversion.</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Summarise and comment on the development of the customer base over the historical period, including customer acquisition, retention, churn and lifetime value to the extent information is available, particularly on the Covid-19 cohort</a:t>
                      </a:r>
                    </a:p>
                    <a:p>
                      <a:pPr marL="0" indent="0">
                        <a:lnSpc>
                          <a:spcPct val="100000"/>
                        </a:lnSpc>
                        <a:spcBef>
                          <a:spcPts val="0"/>
                        </a:spcBef>
                        <a:spcAft>
                          <a:spcPts val="600"/>
                        </a:spcAft>
                        <a:buFont typeface="Arial" panose="020B0604020202020204" pitchFamily="34" charset="0"/>
                        <a:buNone/>
                      </a:pPr>
                      <a:r>
                        <a:rPr lang="en-GB" sz="1000" b="1" dirty="0">
                          <a:solidFill>
                            <a:schemeClr val="tx2"/>
                          </a:solidFill>
                          <a:latin typeface="+mn-lt"/>
                        </a:rPr>
                        <a:t>Boutiques</a:t>
                      </a:r>
                    </a:p>
                    <a:p>
                      <a:pPr marL="0" indent="0" algn="l" defTabSz="914377" rtl="0" eaLnBrk="1" latinLnBrk="0" hangingPunct="1">
                        <a:lnSpc>
                          <a:spcPct val="100000"/>
                        </a:lnSpc>
                        <a:spcBef>
                          <a:spcPts val="0"/>
                        </a:spcBef>
                        <a:spcAft>
                          <a:spcPts val="600"/>
                        </a:spcAft>
                        <a:buFont typeface="Arial" panose="020B0604020202020204" pitchFamily="34" charset="0"/>
                        <a:buNone/>
                      </a:pPr>
                      <a:r>
                        <a:rPr lang="en-GB" sz="1000" b="0" kern="1200" dirty="0">
                          <a:solidFill>
                            <a:schemeClr val="tx1"/>
                          </a:solidFill>
                          <a:latin typeface="+mn-lt"/>
                          <a:ea typeface="+mn-ea"/>
                          <a:cs typeface="+mn-cs"/>
                        </a:rPr>
                        <a:t>Summarise the performance of the boutique portfolio and discuss with management the reasons for significant changes over the historical period.</a:t>
                      </a:r>
                    </a:p>
                    <a:p>
                      <a:pPr marL="0" indent="0" algn="l" defTabSz="914377" rtl="0" eaLnBrk="1" latinLnBrk="0" hangingPunct="1">
                        <a:lnSpc>
                          <a:spcPct val="100000"/>
                        </a:lnSpc>
                        <a:spcBef>
                          <a:spcPts val="0"/>
                        </a:spcBef>
                        <a:spcAft>
                          <a:spcPts val="600"/>
                        </a:spcAft>
                        <a:buFont typeface="Arial" panose="020B0604020202020204" pitchFamily="34" charset="0"/>
                        <a:buNone/>
                      </a:pPr>
                      <a:r>
                        <a:rPr lang="en-GB" sz="1000" b="0" kern="1200" dirty="0">
                          <a:solidFill>
                            <a:schemeClr val="tx1"/>
                          </a:solidFill>
                          <a:latin typeface="+mn-lt"/>
                          <a:ea typeface="+mn-ea"/>
                          <a:cs typeface="+mn-cs"/>
                        </a:rPr>
                        <a:t>Identify and comment on the boutiques with outlier performance.  Discuss with management the reasons for this and action plans to resolve underperforming boutiques.</a:t>
                      </a:r>
                    </a:p>
                    <a:p>
                      <a:pPr marL="0" indent="0">
                        <a:lnSpc>
                          <a:spcPct val="100000"/>
                        </a:lnSpc>
                        <a:spcBef>
                          <a:spcPts val="0"/>
                        </a:spcBef>
                        <a:spcAft>
                          <a:spcPts val="600"/>
                        </a:spcAft>
                        <a:buFont typeface="Arial" panose="020B0604020202020204" pitchFamily="34" charset="0"/>
                        <a:buNone/>
                      </a:pPr>
                      <a:r>
                        <a:rPr lang="en-GB" sz="1000" b="1" dirty="0">
                          <a:solidFill>
                            <a:schemeClr val="tx2"/>
                          </a:solidFill>
                          <a:latin typeface="+mn-lt"/>
                        </a:rPr>
                        <a:t>Concessions</a:t>
                      </a:r>
                    </a:p>
                    <a:p>
                      <a:pPr marL="0" indent="0" algn="l" defTabSz="914377" rtl="0" eaLnBrk="1" latinLnBrk="0" hangingPunct="1">
                        <a:lnSpc>
                          <a:spcPct val="100000"/>
                        </a:lnSpc>
                        <a:spcBef>
                          <a:spcPts val="0"/>
                        </a:spcBef>
                        <a:spcAft>
                          <a:spcPts val="600"/>
                        </a:spcAft>
                        <a:buFont typeface="Arial" panose="020B0604020202020204" pitchFamily="34" charset="0"/>
                        <a:buNone/>
                      </a:pPr>
                      <a:r>
                        <a:rPr lang="en-GB" sz="1000" b="0" kern="1200" dirty="0">
                          <a:solidFill>
                            <a:schemeClr val="tx1"/>
                          </a:solidFill>
                          <a:latin typeface="+mn-lt"/>
                          <a:ea typeface="+mn-ea"/>
                          <a:cs typeface="+mn-cs"/>
                        </a:rPr>
                        <a:t>Summarise and comment on sales, margin and where relevant contribution by concession partner over the historical period.</a:t>
                      </a:r>
                    </a:p>
                    <a:p>
                      <a:pPr marL="0" indent="0" algn="l" defTabSz="914377" rtl="0" eaLnBrk="1" latinLnBrk="0" hangingPunct="1">
                        <a:lnSpc>
                          <a:spcPct val="100000"/>
                        </a:lnSpc>
                        <a:spcBef>
                          <a:spcPts val="0"/>
                        </a:spcBef>
                        <a:spcAft>
                          <a:spcPts val="600"/>
                        </a:spcAft>
                        <a:buFont typeface="Arial" panose="020B0604020202020204" pitchFamily="34" charset="0"/>
                        <a:buNone/>
                      </a:pPr>
                      <a:r>
                        <a:rPr lang="en-GB" sz="1000" b="0" kern="1200" dirty="0">
                          <a:solidFill>
                            <a:schemeClr val="tx1"/>
                          </a:solidFill>
                          <a:latin typeface="+mn-lt"/>
                          <a:ea typeface="+mn-ea"/>
                          <a:cs typeface="+mn-cs"/>
                        </a:rPr>
                        <a:t>Summaries the terms of trade with the concessions partners.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(3/8)</a:t>
            </a:r>
          </a:p>
        </p:txBody>
      </p:sp>
      <p:sp>
        <p:nvSpPr>
          <p:cNvPr id="2" name="UpSlide SubSection Marker" hidden="1">
            <a:extLst>
              <a:ext uri="{FF2B5EF4-FFF2-40B4-BE49-F238E27FC236}">
                <a16:creationId xmlns:a16="http://schemas.microsoft.com/office/drawing/2014/main" id="{206F2587-818D-472F-8BC1-772140693E2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760570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3228842901"/>
              </p:ext>
            </p:extLst>
          </p:nvPr>
        </p:nvGraphicFramePr>
        <p:xfrm>
          <a:off x="998401" y="1330326"/>
          <a:ext cx="10199016" cy="44080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dirty="0">
                          <a:solidFill>
                            <a:schemeClr val="tx2"/>
                          </a:solidFill>
                          <a:latin typeface="+mn-lt"/>
                        </a:rPr>
                        <a:t>Historical trading performance</a:t>
                      </a:r>
                    </a:p>
                    <a:p>
                      <a:pPr>
                        <a:lnSpc>
                          <a:spcPct val="100000"/>
                        </a:lnSpc>
                        <a:spcBef>
                          <a:spcPts val="0"/>
                        </a:spcBef>
                        <a:spcAft>
                          <a:spcPts val="600"/>
                        </a:spcAft>
                      </a:pPr>
                      <a:r>
                        <a:rPr lang="en-US" sz="1000" b="1" dirty="0">
                          <a:solidFill>
                            <a:schemeClr val="tx2"/>
                          </a:solidFill>
                          <a:latin typeface="+mn-lt"/>
                        </a:rPr>
                        <a:t>(continued)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nSpc>
                          <a:spcPct val="100000"/>
                        </a:lnSpc>
                        <a:spcBef>
                          <a:spcPts val="0"/>
                        </a:spcBef>
                        <a:spcAft>
                          <a:spcPts val="600"/>
                        </a:spcAft>
                        <a:buFont typeface="Arial" panose="020B0604020202020204" pitchFamily="34" charset="0"/>
                        <a:buNone/>
                      </a:pPr>
                      <a:r>
                        <a:rPr lang="en-GB" sz="1000" b="1" dirty="0">
                          <a:solidFill>
                            <a:schemeClr val="tx2"/>
                          </a:solidFill>
                          <a:latin typeface="+mn-lt"/>
                        </a:rPr>
                        <a:t>Cost base</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Analyse the cost base of the business highlighting key components of:</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cost of sales including cost of goods sold, freight, warehousing, packaging, postage, retro rebates/supplier contributions; </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boutique related costs;  </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Operating and central overheads by major category (such as warehousing, distribution, marketing, customer services), highlighting the fixed and variable elements and where significant investment has been made or cost savings implemented</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Comment on key drivers of costs and trends identified.</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Summarise key suppliers by value/volume of purchases and product type for the historical period and following discussions with management comment on significant changes in supplier base, significant supply contracts including the length of relationship and key contract terms.  </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Comment on the level of FX exposure in the business and how the business manages the risk.</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Summarise and commentary upon key customer acquisition cost drivers in terms of:</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Marketing spend by channel e.g. PPC, </a:t>
                      </a:r>
                      <a:r>
                        <a:rPr lang="en-GB" sz="1000" b="0" dirty="0" err="1">
                          <a:solidFill>
                            <a:schemeClr val="tx1"/>
                          </a:solidFill>
                          <a:latin typeface="+mn-lt"/>
                        </a:rPr>
                        <a:t>yy</a:t>
                      </a:r>
                      <a:r>
                        <a:rPr lang="en-GB" sz="1000" b="0" dirty="0">
                          <a:solidFill>
                            <a:schemeClr val="tx1"/>
                          </a:solidFill>
                          <a:latin typeface="+mn-lt"/>
                        </a:rPr>
                        <a:t>, Social media A, </a:t>
                      </a:r>
                      <a:r>
                        <a:rPr lang="en-GB" sz="1000" b="0" dirty="0" err="1">
                          <a:solidFill>
                            <a:schemeClr val="tx1"/>
                          </a:solidFill>
                          <a:latin typeface="+mn-lt"/>
                        </a:rPr>
                        <a:t>yy</a:t>
                      </a:r>
                      <a:r>
                        <a:rPr lang="en-GB" sz="1000" b="0" dirty="0">
                          <a:solidFill>
                            <a:schemeClr val="tx1"/>
                          </a:solidFill>
                          <a:latin typeface="+mn-lt"/>
                        </a:rPr>
                        <a:t> etc and Cost Per Registration.</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Analysis of CAC trends, split by marketing channel if the data permits.</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Analyse the number of employees and cost per head by function, commenting on bonus and commission arrangements.</a:t>
                      </a:r>
                    </a:p>
                    <a:p>
                      <a:pPr marL="0" indent="0">
                        <a:lnSpc>
                          <a:spcPct val="100000"/>
                        </a:lnSpc>
                        <a:spcBef>
                          <a:spcPts val="0"/>
                        </a:spcBef>
                        <a:spcAft>
                          <a:spcPts val="600"/>
                        </a:spcAft>
                        <a:buFont typeface="Arial" panose="020B0604020202020204" pitchFamily="34" charset="0"/>
                        <a:buNone/>
                      </a:pPr>
                      <a:r>
                        <a:rPr lang="en-GB" sz="1000" b="0" dirty="0">
                          <a:solidFill>
                            <a:schemeClr val="tx1"/>
                          </a:solidFill>
                          <a:latin typeface="+mn-lt"/>
                        </a:rPr>
                        <a:t>Enquire into the existence and impact of significant non-arm’s length or related party transactions and consider the impact of such transactions on the reported results.</a:t>
                      </a:r>
                      <a:endParaRPr lang="en-GB" sz="1000" b="0" kern="1200" dirty="0">
                        <a:solidFill>
                          <a:schemeClr val="tx1"/>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(4/8)</a:t>
            </a:r>
          </a:p>
        </p:txBody>
      </p:sp>
      <p:sp>
        <p:nvSpPr>
          <p:cNvPr id="2" name="UpSlide SubSection Marker" hidden="1">
            <a:extLst>
              <a:ext uri="{FF2B5EF4-FFF2-40B4-BE49-F238E27FC236}">
                <a16:creationId xmlns:a16="http://schemas.microsoft.com/office/drawing/2014/main" id="{2D616469-67EC-4765-82E3-856216C7BB6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720420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03388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dirty="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dirty="0">
                          <a:solidFill>
                            <a:schemeClr val="tx2"/>
                          </a:solidFill>
                          <a:latin typeface="+mn-lt"/>
                        </a:rPr>
                        <a:t>Underlying earnings and run rate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underlying earnings of the business (EBITDA) in the Historical Period taking into account the impact of any one-off, exceptional or non-recurring items, as identified by Management or by us during the course of our work, including any changes or inconsistencies of accounting policies and transactions entered into outside of normal commercial terms.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and comment on items reported below EBITDA during the Historical Period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005840">
                <a:tc>
                  <a:txBody>
                    <a:bodyPr/>
                    <a:lstStyle/>
                    <a:p>
                      <a:pPr>
                        <a:lnSpc>
                          <a:spcPct val="100000"/>
                        </a:lnSpc>
                        <a:spcBef>
                          <a:spcPts val="0"/>
                        </a:spcBef>
                        <a:spcAft>
                          <a:spcPts val="600"/>
                        </a:spcAft>
                      </a:pPr>
                      <a:r>
                        <a:rPr lang="en-GB" sz="1000" b="1" dirty="0">
                          <a:solidFill>
                            <a:schemeClr val="tx2"/>
                          </a:solidFill>
                          <a:latin typeface="+mn-lt"/>
                        </a:rPr>
                        <a:t>Current trading and forecast outturn</a:t>
                      </a:r>
                    </a:p>
                    <a:p>
                      <a:pPr>
                        <a:lnSpc>
                          <a:spcPct val="100000"/>
                        </a:lnSpc>
                        <a:spcBef>
                          <a:spcPts val="0"/>
                        </a:spcBef>
                        <a:spcAft>
                          <a:spcPts val="600"/>
                        </a:spcAft>
                      </a:pPr>
                      <a:endParaRPr lang="en-US" sz="1000" b="1"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compare and comment on the trading performance in YTD22 against prior year and budget.</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impact of Covid-19 on YTD22 results including actions management has taken in respect of Covid-19 and management’s forecast impact for YTG22.</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and comment on the key trend of the rolling LTM revenue and EBITDA.</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and comment on the FY22 outturn with reference to gap to go analysis compared to FY21.</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1083255"/>
                  </a:ext>
                </a:extLst>
              </a:tr>
              <a:tr h="1005840">
                <a:tc>
                  <a:txBody>
                    <a:bodyPr/>
                    <a:lstStyle/>
                    <a:p>
                      <a:pPr>
                        <a:lnSpc>
                          <a:spcPct val="100000"/>
                        </a:lnSpc>
                        <a:spcBef>
                          <a:spcPts val="0"/>
                        </a:spcBef>
                        <a:spcAft>
                          <a:spcPts val="600"/>
                        </a:spcAft>
                      </a:pPr>
                      <a:r>
                        <a:rPr lang="en-GB" sz="1000" b="1" dirty="0">
                          <a:solidFill>
                            <a:schemeClr val="tx2"/>
                          </a:solidFill>
                          <a:latin typeface="+mn-lt"/>
                        </a:rPr>
                        <a:t>Net assets and capital investment</a:t>
                      </a:r>
                    </a:p>
                    <a:p>
                      <a:pPr>
                        <a:lnSpc>
                          <a:spcPct val="100000"/>
                        </a:lnSpc>
                        <a:spcBef>
                          <a:spcPts val="0"/>
                        </a:spcBef>
                        <a:spcAft>
                          <a:spcPts val="600"/>
                        </a:spcAft>
                      </a:pPr>
                      <a:endParaRPr lang="en-US" sz="1000" b="1"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the Business’ balance sheets as at the Historical Dates, commenting on key balance sheet captions and significant movements.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fixed assets as at the Historical Dates and comment on significant changes and trends for the Historical Period.</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capex spend over the Historical Period, and comment on the extent to which the spend is maintenance v expansionary.</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Present an overview of significant operating and finance lease contracts as at the Latest Balance Sheet Date and comment on principal conditions.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4031229"/>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(5/8)</a:t>
            </a:r>
          </a:p>
        </p:txBody>
      </p:sp>
      <p:sp>
        <p:nvSpPr>
          <p:cNvPr id="2" name="UpSlide SubSection Marker" hidden="1">
            <a:extLst>
              <a:ext uri="{FF2B5EF4-FFF2-40B4-BE49-F238E27FC236}">
                <a16:creationId xmlns:a16="http://schemas.microsoft.com/office/drawing/2014/main" id="{4BD472D6-F948-4743-905F-C29D4F2A7B4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67052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7128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GB" sz="1000" b="1" dirty="0">
                          <a:solidFill>
                            <a:schemeClr val="tx2"/>
                          </a:solidFill>
                          <a:latin typeface="+mn-lt"/>
                        </a:rPr>
                        <a:t>Working capital and net debt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typical working capital terms and compare to historical debtor, creditor and stock days.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the monthly working capital of the business over the Historical Period. Comment on Management’s view of working capital normalisation adjustments required and the average, maximum and minimum level of working capital over the Historical Period noting unusual trends and distortions.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basis of stock valuation and provisioning (for obsolescence and stock loss).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and comment on the stock ageing profile and mix profile as at the Historical Dates for evidence as to the existence and extent of potentially obsolete stock.</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debtor ageing profile, the level of bad debt provisions and the historical levels of bad debt write offs. </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the nature and composition of trade creditors, highlighting key factors such as flexibility of payment terms and credit limits.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composition of other debtors, prepayments and accrued income at the Historical Dates, highlighting unusual / one off items. </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other creditors, accruals and deferred income at the Historical Dates, highlighting unusual / one off items.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the returns provision and analyse the returns history over the Historical Period.</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balances with related parties as at the Latest Balance Sheet Date.</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Consider whether elements of working capital have the nature of, and may be reclassified as, net debt and, if so, summarise the potential impact of these adjustments on working capital and net debt at the Latest Balance Sheet Date. </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(6/8)</a:t>
            </a:r>
          </a:p>
        </p:txBody>
      </p:sp>
      <p:sp>
        <p:nvSpPr>
          <p:cNvPr id="2" name="UpSlide SubSection Marker" hidden="1">
            <a:extLst>
              <a:ext uri="{FF2B5EF4-FFF2-40B4-BE49-F238E27FC236}">
                <a16:creationId xmlns:a16="http://schemas.microsoft.com/office/drawing/2014/main" id="{CDBE1E58-B7E4-4495-AF1D-6FB8BFF9649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492145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446744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GB" sz="1000" b="1" dirty="0">
                          <a:solidFill>
                            <a:schemeClr val="tx2"/>
                          </a:solidFill>
                          <a:latin typeface="+mn-lt"/>
                        </a:rPr>
                        <a:t>Working capital and net debt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key elements of net debt including terms of funding facilities.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net debt position as at the Latest Balance Sheet Date and comment on potential adjustments to net debt identified during the course of our work.</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Based on discussions with Management, provide details of any off-balance sheet items including outstanding insurance claims, litigation (current, pending or threatened) and other potential obligations or contingent liabilities. For items noted, discuss with Management their view of the likely amount due and the probability of the various outcomes.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005840">
                <a:tc>
                  <a:txBody>
                    <a:bodyPr/>
                    <a:lstStyle/>
                    <a:p>
                      <a:pPr>
                        <a:lnSpc>
                          <a:spcPct val="100000"/>
                        </a:lnSpc>
                        <a:spcBef>
                          <a:spcPts val="0"/>
                        </a:spcBef>
                        <a:spcAft>
                          <a:spcPts val="600"/>
                        </a:spcAft>
                      </a:pPr>
                      <a:r>
                        <a:rPr lang="en-GB" sz="1000" b="1" dirty="0">
                          <a:solidFill>
                            <a:schemeClr val="tx2"/>
                          </a:solidFill>
                          <a:latin typeface="+mn-lt"/>
                        </a:rPr>
                        <a:t>Cash flows</a:t>
                      </a:r>
                    </a:p>
                    <a:p>
                      <a:pPr>
                        <a:lnSpc>
                          <a:spcPct val="100000"/>
                        </a:lnSpc>
                        <a:spcBef>
                          <a:spcPts val="0"/>
                        </a:spcBef>
                        <a:spcAft>
                          <a:spcPts val="600"/>
                        </a:spcAft>
                      </a:pPr>
                      <a:endParaRPr lang="en-US" sz="1000" b="1"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annual cash flows for the Historical Period. Comment on operating and free cash flow conversion, working capital movements, historical capital expenditure and other cash flows.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intra-month cash flows for the three month period ending on the Latest Balance Sheet date and comment on the extent of intra-month funding requirements.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Analyse and summarise capital expenditure for the Historical Period, with a split between growth and maintenance capex. </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1083255"/>
                  </a:ext>
                </a:extLst>
              </a:tr>
              <a:tr h="1005840">
                <a:tc>
                  <a:txBody>
                    <a:bodyPr/>
                    <a:lstStyle/>
                    <a:p>
                      <a:pPr>
                        <a:lnSpc>
                          <a:spcPct val="100000"/>
                        </a:lnSpc>
                        <a:spcBef>
                          <a:spcPts val="0"/>
                        </a:spcBef>
                        <a:spcAft>
                          <a:spcPts val="600"/>
                        </a:spcAft>
                      </a:pPr>
                      <a:r>
                        <a:rPr lang="en-GB" sz="1000" b="1" dirty="0">
                          <a:solidFill>
                            <a:schemeClr val="tx2"/>
                          </a:solidFill>
                          <a:latin typeface="+mn-lt"/>
                        </a:rPr>
                        <a:t>Projections</a:t>
                      </a:r>
                    </a:p>
                    <a:p>
                      <a:pPr>
                        <a:lnSpc>
                          <a:spcPct val="100000"/>
                        </a:lnSpc>
                        <a:spcBef>
                          <a:spcPts val="0"/>
                        </a:spcBef>
                        <a:spcAft>
                          <a:spcPts val="600"/>
                        </a:spcAft>
                      </a:pPr>
                      <a:endParaRPr lang="en-US" sz="1000" b="1"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projections prepared by Management, presenting profit and loss accounts, balance sheets and cash flow statements for the Forecast Period.</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Present revenue and EBITDA bridges for the Forecast Period, summarising the key drivers of growth.</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Enquire about and describe the significant assumptions used by Management in developing the projections, e.g. in respect of revenue, cost base, and projected levels of working capital and capital expenditure . Compare the significant assumptions used to the historical results for those items.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Comment on and challenge the assumptions that Management considers to be its key assumptions.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4031229"/>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(7/8)</a:t>
            </a:r>
          </a:p>
        </p:txBody>
      </p:sp>
      <p:sp>
        <p:nvSpPr>
          <p:cNvPr id="2" name="UpSlide SubSection Marker" hidden="1">
            <a:extLst>
              <a:ext uri="{FF2B5EF4-FFF2-40B4-BE49-F238E27FC236}">
                <a16:creationId xmlns:a16="http://schemas.microsoft.com/office/drawing/2014/main" id="{5FB392C5-0DE6-407A-A990-7B9097953BF3}"/>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243970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nvPr>
        </p:nvGraphicFramePr>
        <p:xfrm>
          <a:off x="998401" y="1330326"/>
          <a:ext cx="10199016" cy="2621902"/>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0">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0">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0">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0" dirty="0">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728453">
                <a:tc>
                  <a:txBody>
                    <a:bodyPr/>
                    <a:lstStyle/>
                    <a:p>
                      <a:pPr>
                        <a:lnSpc>
                          <a:spcPct val="100000"/>
                        </a:lnSpc>
                        <a:spcBef>
                          <a:spcPts val="0"/>
                        </a:spcBef>
                        <a:spcAft>
                          <a:spcPts val="600"/>
                        </a:spcAft>
                      </a:pPr>
                      <a:r>
                        <a:rPr lang="en-GB" sz="1000" b="1" dirty="0">
                          <a:solidFill>
                            <a:schemeClr val="tx2"/>
                          </a:solidFill>
                          <a:latin typeface="+mn-lt"/>
                        </a:rPr>
                        <a:t>Projections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From enquiries of Management, summarise and comment on the budget setting process, highlighting the accuracy of the previous budgets for FY20 and FY21 compared to actual reported results to give an indication of Management’s past experience in budgeting.</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005840">
                <a:tc>
                  <a:txBody>
                    <a:bodyPr/>
                    <a:lstStyle/>
                    <a:p>
                      <a:pPr>
                        <a:lnSpc>
                          <a:spcPct val="100000"/>
                        </a:lnSpc>
                        <a:spcBef>
                          <a:spcPts val="0"/>
                        </a:spcBef>
                        <a:spcAft>
                          <a:spcPts val="600"/>
                        </a:spcAft>
                      </a:pPr>
                      <a:r>
                        <a:rPr lang="en-GB" sz="1000" b="1" dirty="0">
                          <a:solidFill>
                            <a:schemeClr val="tx2"/>
                          </a:solidFill>
                          <a:latin typeface="+mn-lt"/>
                        </a:rPr>
                        <a:t>Management control and governance</a:t>
                      </a:r>
                    </a:p>
                    <a:p>
                      <a:pPr>
                        <a:lnSpc>
                          <a:spcPct val="100000"/>
                        </a:lnSpc>
                        <a:spcBef>
                          <a:spcPts val="0"/>
                        </a:spcBef>
                        <a:spcAft>
                          <a:spcPts val="600"/>
                        </a:spcAft>
                      </a:pPr>
                      <a:endParaRPr lang="en-US" sz="1000" b="1"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Present and comment on the key accounting policies adopted by the business and their consistency of application over the Historical Period.</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Present an overview of the information used by management to run the business: budgeting procedures; internal controls; and financial systems.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Summarise and comment on the basis of preparation of management accounts and discuss the key controls over this process.</a:t>
                      </a:r>
                    </a:p>
                    <a:p>
                      <a:pPr marL="171450" indent="-171450">
                        <a:lnSpc>
                          <a:spcPct val="100000"/>
                        </a:lnSpc>
                        <a:spcBef>
                          <a:spcPts val="0"/>
                        </a:spcBef>
                        <a:spcAft>
                          <a:spcPts val="600"/>
                        </a:spcAft>
                        <a:buFont typeface="Arial" panose="020B0604020202020204" pitchFamily="34" charset="0"/>
                        <a:buChar char="•"/>
                      </a:pPr>
                      <a:r>
                        <a:rPr lang="en-GB" sz="1000" b="0" dirty="0">
                          <a:solidFill>
                            <a:schemeClr val="tx1"/>
                          </a:solidFill>
                          <a:latin typeface="+mn-lt"/>
                        </a:rPr>
                        <a:t>Comment on the reconciliation between the statutory and management accounts for FY19 and FY20, explaining reconciling items and their impact on the underlying earnings of the business. </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000" dirty="0">
                          <a:solidFill>
                            <a:srgbClr val="2699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1000" dirty="0">
                          <a:solidFill>
                            <a:schemeClr val="tx1"/>
                          </a:solidFill>
                          <a:latin typeface="+mn-lt"/>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1083255"/>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Scope of work (8/8)</a:t>
            </a:r>
          </a:p>
        </p:txBody>
      </p:sp>
      <p:sp>
        <p:nvSpPr>
          <p:cNvPr id="2" name="UpSlide SubSection Marker" hidden="1">
            <a:extLst>
              <a:ext uri="{FF2B5EF4-FFF2-40B4-BE49-F238E27FC236}">
                <a16:creationId xmlns:a16="http://schemas.microsoft.com/office/drawing/2014/main" id="{BC98C624-A15F-4C10-9204-2C00277EF10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4" name="Group 13">
            <a:extLst>
              <a:ext uri="{FF2B5EF4-FFF2-40B4-BE49-F238E27FC236}">
                <a16:creationId xmlns:a16="http://schemas.microsoft.com/office/drawing/2014/main" id="{678D4DD8-1FF2-42CC-97AF-29C6742B9CD9}"/>
              </a:ext>
            </a:extLst>
          </p:cNvPr>
          <p:cNvGrpSpPr/>
          <p:nvPr>
            <p:custDataLst>
              <p:tags r:id="rId4"/>
            </p:custDataLst>
          </p:nvPr>
        </p:nvGrpSpPr>
        <p:grpSpPr>
          <a:xfrm>
            <a:off x="995364" y="153170"/>
            <a:ext cx="6213178" cy="195814"/>
            <a:chOff x="995364" y="153170"/>
            <a:chExt cx="6213178" cy="195814"/>
          </a:xfrm>
        </p:grpSpPr>
        <p:sp>
          <p:nvSpPr>
            <p:cNvPr id="1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6"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7"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1"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593206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dirty="0"/>
              <a:t>Group and management structure</a:t>
            </a:r>
          </a:p>
        </p:txBody>
      </p:sp>
      <p:sp>
        <p:nvSpPr>
          <p:cNvPr id="32" name="Text Box 8">
            <a:extLst>
              <a:ext uri="{FF2B5EF4-FFF2-40B4-BE49-F238E27FC236}">
                <a16:creationId xmlns:a16="http://schemas.microsoft.com/office/drawing/2014/main" id="{54448186-3681-4106-B594-72B79A04C425}"/>
              </a:ext>
            </a:extLst>
          </p:cNvPr>
          <p:cNvSpPr txBox="1">
            <a:spLocks noChangeArrowheads="1"/>
          </p:cNvSpPr>
          <p:nvPr>
            <p:custDataLst>
              <p:tags r:id="rId2"/>
            </p:custDataLst>
          </p:nvPr>
        </p:nvSpPr>
        <p:spPr bwMode="auto">
          <a:xfrm>
            <a:off x="890773" y="5901065"/>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6.3.5.1_Head Office Organisational Chart June 2021	</a:t>
            </a:r>
          </a:p>
        </p:txBody>
      </p:sp>
      <p:sp>
        <p:nvSpPr>
          <p:cNvPr id="33" name="Rectangle 32">
            <a:extLst>
              <a:ext uri="{FF2B5EF4-FFF2-40B4-BE49-F238E27FC236}">
                <a16:creationId xmlns:a16="http://schemas.microsoft.com/office/drawing/2014/main" id="{FED9E6B3-DC4C-43F5-8540-1B12907F7CA8}"/>
              </a:ext>
            </a:extLst>
          </p:cNvPr>
          <p:cNvSpPr/>
          <p:nvPr/>
        </p:nvSpPr>
        <p:spPr>
          <a:xfrm>
            <a:off x="5589398" y="3511241"/>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dirty="0">
                <a:solidFill>
                  <a:schemeClr val="bg1"/>
                </a:solidFill>
              </a:rPr>
              <a:t>Founder &amp; Creative Director</a:t>
            </a:r>
          </a:p>
        </p:txBody>
      </p:sp>
      <p:sp>
        <p:nvSpPr>
          <p:cNvPr id="34" name="Rectangle 33">
            <a:extLst>
              <a:ext uri="{FF2B5EF4-FFF2-40B4-BE49-F238E27FC236}">
                <a16:creationId xmlns:a16="http://schemas.microsoft.com/office/drawing/2014/main" id="{2FB06247-D333-4776-9B2F-2254C3009500}"/>
              </a:ext>
            </a:extLst>
          </p:cNvPr>
          <p:cNvSpPr/>
          <p:nvPr/>
        </p:nvSpPr>
        <p:spPr>
          <a:xfrm>
            <a:off x="101268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Personal Assistant</a:t>
            </a:r>
          </a:p>
        </p:txBody>
      </p:sp>
      <p:sp>
        <p:nvSpPr>
          <p:cNvPr id="36" name="Rectangle 35">
            <a:extLst>
              <a:ext uri="{FF2B5EF4-FFF2-40B4-BE49-F238E27FC236}">
                <a16:creationId xmlns:a16="http://schemas.microsoft.com/office/drawing/2014/main" id="{7E01B600-F50A-4459-B0F9-2228E356525C}"/>
              </a:ext>
            </a:extLst>
          </p:cNvPr>
          <p:cNvSpPr/>
          <p:nvPr/>
        </p:nvSpPr>
        <p:spPr>
          <a:xfrm>
            <a:off x="253825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COO</a:t>
            </a:r>
          </a:p>
        </p:txBody>
      </p:sp>
      <p:sp>
        <p:nvSpPr>
          <p:cNvPr id="37" name="Rectangle 36">
            <a:extLst>
              <a:ext uri="{FF2B5EF4-FFF2-40B4-BE49-F238E27FC236}">
                <a16:creationId xmlns:a16="http://schemas.microsoft.com/office/drawing/2014/main" id="{29A41125-BC1C-4FF6-B094-1D834FEB9E55}"/>
              </a:ext>
            </a:extLst>
          </p:cNvPr>
          <p:cNvSpPr/>
          <p:nvPr/>
        </p:nvSpPr>
        <p:spPr>
          <a:xfrm>
            <a:off x="406382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Brand Communications Director</a:t>
            </a:r>
          </a:p>
        </p:txBody>
      </p:sp>
      <p:sp>
        <p:nvSpPr>
          <p:cNvPr id="38" name="Rectangle 37">
            <a:extLst>
              <a:ext uri="{FF2B5EF4-FFF2-40B4-BE49-F238E27FC236}">
                <a16:creationId xmlns:a16="http://schemas.microsoft.com/office/drawing/2014/main" id="{5B7DDDB9-24E3-498C-A726-1A1BAF3C9001}"/>
              </a:ext>
            </a:extLst>
          </p:cNvPr>
          <p:cNvSpPr/>
          <p:nvPr/>
        </p:nvSpPr>
        <p:spPr>
          <a:xfrm>
            <a:off x="558939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Growth Director</a:t>
            </a:r>
          </a:p>
        </p:txBody>
      </p:sp>
      <p:sp>
        <p:nvSpPr>
          <p:cNvPr id="39" name="Rectangle 38">
            <a:extLst>
              <a:ext uri="{FF2B5EF4-FFF2-40B4-BE49-F238E27FC236}">
                <a16:creationId xmlns:a16="http://schemas.microsoft.com/office/drawing/2014/main" id="{FCD82132-9C0D-46BA-B005-EA99372A4EE9}"/>
              </a:ext>
            </a:extLst>
          </p:cNvPr>
          <p:cNvSpPr/>
          <p:nvPr/>
        </p:nvSpPr>
        <p:spPr>
          <a:xfrm>
            <a:off x="711496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Trading Director</a:t>
            </a:r>
          </a:p>
        </p:txBody>
      </p:sp>
      <p:sp>
        <p:nvSpPr>
          <p:cNvPr id="40" name="Rectangle 39">
            <a:extLst>
              <a:ext uri="{FF2B5EF4-FFF2-40B4-BE49-F238E27FC236}">
                <a16:creationId xmlns:a16="http://schemas.microsoft.com/office/drawing/2014/main" id="{F353F24F-B710-488D-AA42-BE00A178C38E}"/>
              </a:ext>
            </a:extLst>
          </p:cNvPr>
          <p:cNvSpPr/>
          <p:nvPr/>
        </p:nvSpPr>
        <p:spPr>
          <a:xfrm>
            <a:off x="8640539"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Production Director</a:t>
            </a:r>
          </a:p>
        </p:txBody>
      </p:sp>
      <p:sp>
        <p:nvSpPr>
          <p:cNvPr id="41" name="Rectangle 40">
            <a:extLst>
              <a:ext uri="{FF2B5EF4-FFF2-40B4-BE49-F238E27FC236}">
                <a16:creationId xmlns:a16="http://schemas.microsoft.com/office/drawing/2014/main" id="{5CB5222F-0379-4A36-A0B6-504BD1D31A06}"/>
              </a:ext>
            </a:extLst>
          </p:cNvPr>
          <p:cNvSpPr/>
          <p:nvPr/>
        </p:nvSpPr>
        <p:spPr>
          <a:xfrm>
            <a:off x="10166107" y="4114911"/>
            <a:ext cx="1013254"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dirty="0">
                <a:solidFill>
                  <a:schemeClr val="bg1"/>
                </a:solidFill>
              </a:rPr>
              <a:t>Design Director</a:t>
            </a:r>
          </a:p>
        </p:txBody>
      </p:sp>
      <p:cxnSp>
        <p:nvCxnSpPr>
          <p:cNvPr id="42" name="Straight Connector 41">
            <a:extLst>
              <a:ext uri="{FF2B5EF4-FFF2-40B4-BE49-F238E27FC236}">
                <a16:creationId xmlns:a16="http://schemas.microsoft.com/office/drawing/2014/main" id="{435375A0-09D5-4028-B7C0-5C67826CD0B6}"/>
              </a:ext>
            </a:extLst>
          </p:cNvPr>
          <p:cNvCxnSpPr>
            <a:stCxn id="38" idx="0"/>
            <a:endCxn id="33" idx="2"/>
          </p:cNvCxnSpPr>
          <p:nvPr/>
        </p:nvCxnSpPr>
        <p:spPr>
          <a:xfrm rot="16200000" flipV="1">
            <a:off x="6000571" y="4019455"/>
            <a:ext cx="190911" cy="1"/>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749CFADA-49F5-4318-B5DB-E25260069A6D}"/>
              </a:ext>
            </a:extLst>
          </p:cNvPr>
          <p:cNvCxnSpPr>
            <a:stCxn id="34" idx="0"/>
            <a:endCxn id="33" idx="2"/>
          </p:cNvCxnSpPr>
          <p:nvPr/>
        </p:nvCxnSpPr>
        <p:spPr>
          <a:xfrm rot="5400000" flipH="1" flipV="1">
            <a:off x="3712215" y="1731102"/>
            <a:ext cx="190911" cy="457670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DD5170C5-DB43-46F7-8B38-DCC5D589947B}"/>
              </a:ext>
            </a:extLst>
          </p:cNvPr>
          <p:cNvCxnSpPr>
            <a:stCxn id="36" idx="0"/>
            <a:endCxn id="33" idx="2"/>
          </p:cNvCxnSpPr>
          <p:nvPr/>
        </p:nvCxnSpPr>
        <p:spPr>
          <a:xfrm rot="5400000" flipH="1" flipV="1">
            <a:off x="4475000" y="2493887"/>
            <a:ext cx="190911" cy="305113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F23BEC3-9238-423B-979E-988F42ECC96B}"/>
              </a:ext>
            </a:extLst>
          </p:cNvPr>
          <p:cNvCxnSpPr>
            <a:cxnSpLocks/>
            <a:stCxn id="37" idx="0"/>
            <a:endCxn id="33" idx="2"/>
          </p:cNvCxnSpPr>
          <p:nvPr/>
        </p:nvCxnSpPr>
        <p:spPr>
          <a:xfrm rot="5400000" flipH="1" flipV="1">
            <a:off x="5237785" y="3256672"/>
            <a:ext cx="190911" cy="152556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00FBBED8-4C8C-4F72-87E5-682E1D6734F4}"/>
              </a:ext>
            </a:extLst>
          </p:cNvPr>
          <p:cNvCxnSpPr>
            <a:stCxn id="39" idx="0"/>
            <a:endCxn id="33" idx="2"/>
          </p:cNvCxnSpPr>
          <p:nvPr/>
        </p:nvCxnSpPr>
        <p:spPr>
          <a:xfrm rot="16200000" flipV="1">
            <a:off x="6763356" y="3256670"/>
            <a:ext cx="190911" cy="1525571"/>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22027076-2446-4C0A-B251-7F04726293B4}"/>
              </a:ext>
            </a:extLst>
          </p:cNvPr>
          <p:cNvCxnSpPr>
            <a:stCxn id="40" idx="0"/>
            <a:endCxn id="33" idx="2"/>
          </p:cNvCxnSpPr>
          <p:nvPr/>
        </p:nvCxnSpPr>
        <p:spPr>
          <a:xfrm rot="16200000" flipV="1">
            <a:off x="7526141" y="2493885"/>
            <a:ext cx="190911" cy="3051141"/>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A4F0EFED-1FA9-416D-BDEC-469F48C04E32}"/>
              </a:ext>
            </a:extLst>
          </p:cNvPr>
          <p:cNvCxnSpPr>
            <a:stCxn id="41" idx="0"/>
            <a:endCxn id="33" idx="2"/>
          </p:cNvCxnSpPr>
          <p:nvPr/>
        </p:nvCxnSpPr>
        <p:spPr>
          <a:xfrm rot="16200000" flipV="1">
            <a:off x="8288925" y="1731101"/>
            <a:ext cx="190911" cy="4576709"/>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A6A1D271-BAC8-4FCC-9D5D-33B4DFC571D6}"/>
              </a:ext>
            </a:extLst>
          </p:cNvPr>
          <p:cNvSpPr/>
          <p:nvPr/>
        </p:nvSpPr>
        <p:spPr>
          <a:xfrm>
            <a:off x="4066674" y="4777442"/>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Marketing Team</a:t>
            </a:r>
            <a:endParaRPr lang="en-GB" sz="800">
              <a:solidFill>
                <a:schemeClr val="bg1"/>
              </a:solidFill>
            </a:endParaRPr>
          </a:p>
        </p:txBody>
      </p:sp>
      <p:sp>
        <p:nvSpPr>
          <p:cNvPr id="57" name="Rectangle 56">
            <a:extLst>
              <a:ext uri="{FF2B5EF4-FFF2-40B4-BE49-F238E27FC236}">
                <a16:creationId xmlns:a16="http://schemas.microsoft.com/office/drawing/2014/main" id="{5EF973EE-E8A0-44D3-BBF2-AE9778F4DFDC}"/>
              </a:ext>
            </a:extLst>
          </p:cNvPr>
          <p:cNvSpPr/>
          <p:nvPr/>
        </p:nvSpPr>
        <p:spPr>
          <a:xfrm>
            <a:off x="5592419" y="4777442"/>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Web &amp; CRM</a:t>
            </a:r>
            <a:endParaRPr lang="en-GB" sz="800">
              <a:solidFill>
                <a:schemeClr val="bg1"/>
              </a:solidFill>
            </a:endParaRPr>
          </a:p>
        </p:txBody>
      </p:sp>
      <p:sp>
        <p:nvSpPr>
          <p:cNvPr id="58" name="Rectangle 57">
            <a:extLst>
              <a:ext uri="{FF2B5EF4-FFF2-40B4-BE49-F238E27FC236}">
                <a16:creationId xmlns:a16="http://schemas.microsoft.com/office/drawing/2014/main" id="{98277910-042B-41F5-B0F0-D16F225FA5EC}"/>
              </a:ext>
            </a:extLst>
          </p:cNvPr>
          <p:cNvSpPr/>
          <p:nvPr/>
        </p:nvSpPr>
        <p:spPr>
          <a:xfrm>
            <a:off x="7117812" y="4777442"/>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Merchandising Team</a:t>
            </a:r>
            <a:endParaRPr lang="en-GB" sz="800">
              <a:solidFill>
                <a:schemeClr val="bg1"/>
              </a:solidFill>
            </a:endParaRPr>
          </a:p>
        </p:txBody>
      </p:sp>
      <p:sp>
        <p:nvSpPr>
          <p:cNvPr id="59" name="Rectangle 58">
            <a:extLst>
              <a:ext uri="{FF2B5EF4-FFF2-40B4-BE49-F238E27FC236}">
                <a16:creationId xmlns:a16="http://schemas.microsoft.com/office/drawing/2014/main" id="{47C3A6CE-78B4-41AC-BFD4-D3195AC1559B}"/>
              </a:ext>
            </a:extLst>
          </p:cNvPr>
          <p:cNvSpPr/>
          <p:nvPr/>
        </p:nvSpPr>
        <p:spPr>
          <a:xfrm>
            <a:off x="10166107" y="4777442"/>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Design Team</a:t>
            </a:r>
            <a:endParaRPr lang="en-GB" sz="800">
              <a:solidFill>
                <a:schemeClr val="bg1"/>
              </a:solidFill>
            </a:endParaRPr>
          </a:p>
        </p:txBody>
      </p:sp>
      <p:cxnSp>
        <p:nvCxnSpPr>
          <p:cNvPr id="60" name="Straight Connector 59">
            <a:extLst>
              <a:ext uri="{FF2B5EF4-FFF2-40B4-BE49-F238E27FC236}">
                <a16:creationId xmlns:a16="http://schemas.microsoft.com/office/drawing/2014/main" id="{B69B1592-F157-48CD-9075-476C5E289F00}"/>
              </a:ext>
            </a:extLst>
          </p:cNvPr>
          <p:cNvCxnSpPr>
            <a:stCxn id="56" idx="0"/>
            <a:endCxn id="37" idx="2"/>
          </p:cNvCxnSpPr>
          <p:nvPr/>
        </p:nvCxnSpPr>
        <p:spPr>
          <a:xfrm flipH="1" flipV="1">
            <a:off x="4570456" y="4618911"/>
            <a:ext cx="2845" cy="15853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D3E57DA-528A-4483-904B-DCAC7C383CDA}"/>
              </a:ext>
            </a:extLst>
          </p:cNvPr>
          <p:cNvCxnSpPr>
            <a:stCxn id="57" idx="0"/>
            <a:endCxn id="38" idx="2"/>
          </p:cNvCxnSpPr>
          <p:nvPr/>
        </p:nvCxnSpPr>
        <p:spPr>
          <a:xfrm flipH="1" flipV="1">
            <a:off x="6096026" y="4618911"/>
            <a:ext cx="3020" cy="15853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557772-5F6F-42BC-9857-D42B03DF307A}"/>
              </a:ext>
            </a:extLst>
          </p:cNvPr>
          <p:cNvCxnSpPr>
            <a:stCxn id="58" idx="0"/>
            <a:endCxn id="39" idx="2"/>
          </p:cNvCxnSpPr>
          <p:nvPr/>
        </p:nvCxnSpPr>
        <p:spPr>
          <a:xfrm flipH="1" flipV="1">
            <a:off x="7621596" y="4618911"/>
            <a:ext cx="2843" cy="15853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8697B8C-D6E9-4977-8531-890EEA041797}"/>
              </a:ext>
            </a:extLst>
          </p:cNvPr>
          <p:cNvCxnSpPr>
            <a:stCxn id="59" idx="0"/>
            <a:endCxn id="41" idx="2"/>
          </p:cNvCxnSpPr>
          <p:nvPr/>
        </p:nvCxnSpPr>
        <p:spPr>
          <a:xfrm flipV="1">
            <a:off x="10672734" y="4618911"/>
            <a:ext cx="0" cy="15853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24E09E09-56AD-4E52-A53F-EF937DBFFED9}"/>
              </a:ext>
            </a:extLst>
          </p:cNvPr>
          <p:cNvSpPr/>
          <p:nvPr/>
        </p:nvSpPr>
        <p:spPr>
          <a:xfrm>
            <a:off x="890773"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dirty="0">
                <a:solidFill>
                  <a:schemeClr val="bg1"/>
                </a:solidFill>
              </a:rPr>
              <a:t>Finance Team</a:t>
            </a:r>
            <a:endParaRPr lang="en-GB" sz="800" dirty="0">
              <a:solidFill>
                <a:schemeClr val="bg1"/>
              </a:solidFill>
            </a:endParaRPr>
          </a:p>
        </p:txBody>
      </p:sp>
      <p:sp>
        <p:nvSpPr>
          <p:cNvPr id="65" name="Rectangle 64">
            <a:extLst>
              <a:ext uri="{FF2B5EF4-FFF2-40B4-BE49-F238E27FC236}">
                <a16:creationId xmlns:a16="http://schemas.microsoft.com/office/drawing/2014/main" id="{A061F199-1691-4BF8-ABD5-D1DF1EDC08E1}"/>
              </a:ext>
            </a:extLst>
          </p:cNvPr>
          <p:cNvSpPr/>
          <p:nvPr/>
        </p:nvSpPr>
        <p:spPr>
          <a:xfrm>
            <a:off x="2725576"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Operations Team</a:t>
            </a:r>
            <a:endParaRPr lang="en-GB" sz="800">
              <a:solidFill>
                <a:schemeClr val="bg1"/>
              </a:solidFill>
            </a:endParaRPr>
          </a:p>
        </p:txBody>
      </p:sp>
      <p:sp>
        <p:nvSpPr>
          <p:cNvPr id="66" name="Rectangle 65">
            <a:extLst>
              <a:ext uri="{FF2B5EF4-FFF2-40B4-BE49-F238E27FC236}">
                <a16:creationId xmlns:a16="http://schemas.microsoft.com/office/drawing/2014/main" id="{AC267570-6FF3-4810-811A-E0B3E9554B43}"/>
              </a:ext>
            </a:extLst>
          </p:cNvPr>
          <p:cNvSpPr/>
          <p:nvPr/>
        </p:nvSpPr>
        <p:spPr>
          <a:xfrm>
            <a:off x="3782754"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Retail Team</a:t>
            </a:r>
            <a:endParaRPr lang="en-GB" sz="800">
              <a:solidFill>
                <a:schemeClr val="bg1"/>
              </a:solidFill>
            </a:endParaRPr>
          </a:p>
        </p:txBody>
      </p:sp>
      <p:sp>
        <p:nvSpPr>
          <p:cNvPr id="67" name="Rectangle 66">
            <a:extLst>
              <a:ext uri="{FF2B5EF4-FFF2-40B4-BE49-F238E27FC236}">
                <a16:creationId xmlns:a16="http://schemas.microsoft.com/office/drawing/2014/main" id="{140A0D61-837C-4D49-B5DC-BAF4E6091BCE}"/>
              </a:ext>
            </a:extLst>
          </p:cNvPr>
          <p:cNvSpPr/>
          <p:nvPr/>
        </p:nvSpPr>
        <p:spPr>
          <a:xfrm>
            <a:off x="4839932"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IT Team</a:t>
            </a:r>
            <a:endParaRPr lang="en-GB" sz="800">
              <a:solidFill>
                <a:schemeClr val="bg1"/>
              </a:solidFill>
            </a:endParaRPr>
          </a:p>
        </p:txBody>
      </p:sp>
      <p:cxnSp>
        <p:nvCxnSpPr>
          <p:cNvPr id="68" name="Connector: Elbow 67">
            <a:extLst>
              <a:ext uri="{FF2B5EF4-FFF2-40B4-BE49-F238E27FC236}">
                <a16:creationId xmlns:a16="http://schemas.microsoft.com/office/drawing/2014/main" id="{A4E1AF7F-883C-410C-81A5-15CD77464BDC}"/>
              </a:ext>
            </a:extLst>
          </p:cNvPr>
          <p:cNvCxnSpPr>
            <a:cxnSpLocks/>
            <a:stCxn id="64" idx="0"/>
            <a:endCxn id="67" idx="0"/>
          </p:cNvCxnSpPr>
          <p:nvPr/>
        </p:nvCxnSpPr>
        <p:spPr>
          <a:xfrm rot="5400000" flipH="1" flipV="1">
            <a:off x="3371979" y="3530486"/>
            <a:ext cx="12700" cy="3949159"/>
          </a:xfrm>
          <a:prstGeom prst="bentConnector3">
            <a:avLst>
              <a:gd name="adj1" fmla="val 180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31876580-0908-46EF-9A56-1415B2626520}"/>
              </a:ext>
            </a:extLst>
          </p:cNvPr>
          <p:cNvCxnSpPr>
            <a:cxnSpLocks/>
            <a:stCxn id="65" idx="0"/>
            <a:endCxn id="64" idx="0"/>
          </p:cNvCxnSpPr>
          <p:nvPr/>
        </p:nvCxnSpPr>
        <p:spPr>
          <a:xfrm rot="16200000" flipV="1">
            <a:off x="2314802" y="4587663"/>
            <a:ext cx="12700" cy="1834803"/>
          </a:xfrm>
          <a:prstGeom prst="bentConnector3">
            <a:avLst>
              <a:gd name="adj1" fmla="val 180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6F4CFFB0-7C56-4463-B840-B44600990503}"/>
              </a:ext>
            </a:extLst>
          </p:cNvPr>
          <p:cNvCxnSpPr>
            <a:cxnSpLocks/>
            <a:stCxn id="66" idx="0"/>
            <a:endCxn id="65" idx="0"/>
          </p:cNvCxnSpPr>
          <p:nvPr/>
        </p:nvCxnSpPr>
        <p:spPr>
          <a:xfrm rot="16200000" flipV="1">
            <a:off x="3760792" y="4976476"/>
            <a:ext cx="12700" cy="1057178"/>
          </a:xfrm>
          <a:prstGeom prst="bentConnector3">
            <a:avLst>
              <a:gd name="adj1" fmla="val 180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860A6D3-1DA7-4154-9467-1513126A6B03}"/>
              </a:ext>
            </a:extLst>
          </p:cNvPr>
          <p:cNvCxnSpPr>
            <a:cxnSpLocks/>
            <a:endCxn id="36" idx="2"/>
          </p:cNvCxnSpPr>
          <p:nvPr/>
        </p:nvCxnSpPr>
        <p:spPr>
          <a:xfrm flipH="1" flipV="1">
            <a:off x="3044886" y="4618911"/>
            <a:ext cx="5688" cy="67499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A5912CC4-7E8E-4D10-A4F3-2E0881BA378A}"/>
              </a:ext>
            </a:extLst>
          </p:cNvPr>
          <p:cNvSpPr/>
          <p:nvPr/>
        </p:nvSpPr>
        <p:spPr>
          <a:xfrm>
            <a:off x="8130751"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Buying Team</a:t>
            </a:r>
            <a:endParaRPr lang="en-GB" sz="800">
              <a:solidFill>
                <a:schemeClr val="bg1"/>
              </a:solidFill>
            </a:endParaRPr>
          </a:p>
        </p:txBody>
      </p:sp>
      <p:sp>
        <p:nvSpPr>
          <p:cNvPr id="73" name="Rectangle 72">
            <a:extLst>
              <a:ext uri="{FF2B5EF4-FFF2-40B4-BE49-F238E27FC236}">
                <a16:creationId xmlns:a16="http://schemas.microsoft.com/office/drawing/2014/main" id="{E1BF54B5-4556-4171-A5E4-564595DD5807}"/>
              </a:ext>
            </a:extLst>
          </p:cNvPr>
          <p:cNvSpPr/>
          <p:nvPr/>
        </p:nvSpPr>
        <p:spPr>
          <a:xfrm>
            <a:off x="9187929" y="5505065"/>
            <a:ext cx="1013254" cy="396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a:solidFill>
                  <a:schemeClr val="bg1"/>
                </a:solidFill>
              </a:rPr>
              <a:t>Garment Tech Team</a:t>
            </a:r>
            <a:endParaRPr lang="en-GB" sz="800">
              <a:solidFill>
                <a:schemeClr val="bg1"/>
              </a:solidFill>
            </a:endParaRPr>
          </a:p>
        </p:txBody>
      </p:sp>
      <p:cxnSp>
        <p:nvCxnSpPr>
          <p:cNvPr id="74" name="Connector: Elbow 73">
            <a:extLst>
              <a:ext uri="{FF2B5EF4-FFF2-40B4-BE49-F238E27FC236}">
                <a16:creationId xmlns:a16="http://schemas.microsoft.com/office/drawing/2014/main" id="{8B589F3A-F08F-43A1-BF5E-AE5D996C3B37}"/>
              </a:ext>
            </a:extLst>
          </p:cNvPr>
          <p:cNvCxnSpPr>
            <a:cxnSpLocks/>
            <a:stCxn id="72" idx="0"/>
            <a:endCxn id="73" idx="0"/>
          </p:cNvCxnSpPr>
          <p:nvPr/>
        </p:nvCxnSpPr>
        <p:spPr>
          <a:xfrm rot="5400000" flipH="1" flipV="1">
            <a:off x="9165967" y="4976476"/>
            <a:ext cx="12700" cy="1057178"/>
          </a:xfrm>
          <a:prstGeom prst="bentConnector3">
            <a:avLst>
              <a:gd name="adj1" fmla="val 180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EEA4D25-2E52-4999-A94A-E9B32E33FF3C}"/>
              </a:ext>
            </a:extLst>
          </p:cNvPr>
          <p:cNvCxnSpPr>
            <a:cxnSpLocks/>
            <a:endCxn id="40" idx="2"/>
          </p:cNvCxnSpPr>
          <p:nvPr/>
        </p:nvCxnSpPr>
        <p:spPr>
          <a:xfrm flipV="1">
            <a:off x="9147166" y="4618911"/>
            <a:ext cx="0" cy="65227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6" name="Text Placeholder 2">
            <a:extLst>
              <a:ext uri="{FF2B5EF4-FFF2-40B4-BE49-F238E27FC236}">
                <a16:creationId xmlns:a16="http://schemas.microsoft.com/office/drawing/2014/main" id="{9D6435C6-9E42-448C-B473-AF098A133963}"/>
              </a:ext>
            </a:extLst>
          </p:cNvPr>
          <p:cNvSpPr txBox="1">
            <a:spLocks/>
          </p:cNvSpPr>
          <p:nvPr/>
        </p:nvSpPr>
        <p:spPr>
          <a:xfrm>
            <a:off x="1012689" y="3352393"/>
            <a:ext cx="3402000" cy="175607"/>
          </a:xfrm>
          <a:prstGeom prst="rect">
            <a:avLst/>
          </a:prstGeom>
          <a:ln>
            <a:noFill/>
          </a:ln>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900" i="1" kern="1200">
                <a:solidFill>
                  <a:schemeClr val="tx2"/>
                </a:solidFill>
                <a:latin typeface="+mn-lt"/>
                <a:ea typeface="+mn-ea"/>
                <a:cs typeface="+mn-cs"/>
              </a:defRPr>
            </a:lvl6pPr>
            <a:lvl7pPr marL="1008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224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1440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9pPr>
          </a:lstStyle>
          <a:p>
            <a:r>
              <a:rPr lang="en-GB"/>
              <a:t>Management structure</a:t>
            </a:r>
          </a:p>
        </p:txBody>
      </p:sp>
      <p:sp>
        <p:nvSpPr>
          <p:cNvPr id="77" name="Text Placeholder 2">
            <a:extLst>
              <a:ext uri="{FF2B5EF4-FFF2-40B4-BE49-F238E27FC236}">
                <a16:creationId xmlns:a16="http://schemas.microsoft.com/office/drawing/2014/main" id="{1E0E58F3-DF05-4125-8C1D-70DE4C18D3B9}"/>
              </a:ext>
            </a:extLst>
          </p:cNvPr>
          <p:cNvSpPr txBox="1">
            <a:spLocks/>
          </p:cNvSpPr>
          <p:nvPr/>
        </p:nvSpPr>
        <p:spPr>
          <a:xfrm>
            <a:off x="1012689" y="1420775"/>
            <a:ext cx="3402000" cy="175607"/>
          </a:xfrm>
          <a:prstGeom prst="rect">
            <a:avLst/>
          </a:prstGeom>
          <a:ln>
            <a:noFill/>
          </a:ln>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1"/>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900" i="1" kern="1200">
                <a:solidFill>
                  <a:schemeClr val="tx2"/>
                </a:solidFill>
                <a:latin typeface="+mn-lt"/>
                <a:ea typeface="+mn-ea"/>
                <a:cs typeface="+mn-cs"/>
              </a:defRPr>
            </a:lvl6pPr>
            <a:lvl7pPr marL="1008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224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1440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9pPr>
          </a:lstStyle>
          <a:p>
            <a:r>
              <a:rPr lang="en-GB" dirty="0"/>
              <a:t>Group structure</a:t>
            </a:r>
          </a:p>
        </p:txBody>
      </p:sp>
      <p:sp>
        <p:nvSpPr>
          <p:cNvPr id="78" name="Rectangle 77">
            <a:extLst>
              <a:ext uri="{FF2B5EF4-FFF2-40B4-BE49-F238E27FC236}">
                <a16:creationId xmlns:a16="http://schemas.microsoft.com/office/drawing/2014/main" id="{5C6FFD97-66D5-41AB-8C83-ECF773875071}"/>
              </a:ext>
            </a:extLst>
          </p:cNvPr>
          <p:cNvSpPr/>
          <p:nvPr/>
        </p:nvSpPr>
        <p:spPr>
          <a:xfrm>
            <a:off x="1012689"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A</a:t>
            </a:r>
          </a:p>
          <a:p>
            <a:pPr algn="ctr"/>
            <a:r>
              <a:rPr lang="en-GB" sz="800" i="1" dirty="0">
                <a:solidFill>
                  <a:schemeClr val="bg1"/>
                </a:solidFill>
              </a:rPr>
              <a:t>12.4%</a:t>
            </a:r>
          </a:p>
        </p:txBody>
      </p:sp>
      <p:sp>
        <p:nvSpPr>
          <p:cNvPr id="79" name="Rectangle 78">
            <a:extLst>
              <a:ext uri="{FF2B5EF4-FFF2-40B4-BE49-F238E27FC236}">
                <a16:creationId xmlns:a16="http://schemas.microsoft.com/office/drawing/2014/main" id="{6A01C6C4-B8E4-4EF2-9D5F-98F9D3F898C3}"/>
              </a:ext>
            </a:extLst>
          </p:cNvPr>
          <p:cNvSpPr/>
          <p:nvPr/>
        </p:nvSpPr>
        <p:spPr>
          <a:xfrm>
            <a:off x="5589373" y="2553239"/>
            <a:ext cx="1013254" cy="3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 tIns="54000" rIns="25200" bIns="54000" rtlCol="0" anchor="ctr"/>
          <a:lstStyle/>
          <a:p>
            <a:pPr algn="ctr"/>
            <a:r>
              <a:rPr lang="en-GB" sz="800" b="1" dirty="0" err="1">
                <a:solidFill>
                  <a:schemeClr val="bg1"/>
                </a:solidFill>
              </a:rPr>
              <a:t>yy</a:t>
            </a:r>
            <a:endParaRPr lang="en-GB" sz="800" dirty="0">
              <a:solidFill>
                <a:schemeClr val="bg1"/>
              </a:solidFill>
            </a:endParaRPr>
          </a:p>
        </p:txBody>
      </p:sp>
      <p:sp>
        <p:nvSpPr>
          <p:cNvPr id="80" name="Rectangle 79">
            <a:extLst>
              <a:ext uri="{FF2B5EF4-FFF2-40B4-BE49-F238E27FC236}">
                <a16:creationId xmlns:a16="http://schemas.microsoft.com/office/drawing/2014/main" id="{2E042A4F-6C97-4938-9C23-5C41BA6B91B8}"/>
              </a:ext>
            </a:extLst>
          </p:cNvPr>
          <p:cNvSpPr/>
          <p:nvPr/>
        </p:nvSpPr>
        <p:spPr>
          <a:xfrm>
            <a:off x="2320313"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B</a:t>
            </a:r>
          </a:p>
          <a:p>
            <a:pPr algn="ctr"/>
            <a:r>
              <a:rPr lang="en-GB" sz="800" i="1" dirty="0">
                <a:solidFill>
                  <a:schemeClr val="bg1"/>
                </a:solidFill>
              </a:rPr>
              <a:t>12.8%</a:t>
            </a:r>
          </a:p>
        </p:txBody>
      </p:sp>
      <p:sp>
        <p:nvSpPr>
          <p:cNvPr id="81" name="Rectangle 80">
            <a:extLst>
              <a:ext uri="{FF2B5EF4-FFF2-40B4-BE49-F238E27FC236}">
                <a16:creationId xmlns:a16="http://schemas.microsoft.com/office/drawing/2014/main" id="{B96804AE-5F7F-47CD-817E-D015468B8C25}"/>
              </a:ext>
            </a:extLst>
          </p:cNvPr>
          <p:cNvSpPr/>
          <p:nvPr/>
        </p:nvSpPr>
        <p:spPr>
          <a:xfrm>
            <a:off x="3627937"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C </a:t>
            </a:r>
          </a:p>
          <a:p>
            <a:pPr algn="ctr"/>
            <a:r>
              <a:rPr lang="en-GB" sz="800" i="1" dirty="0">
                <a:solidFill>
                  <a:schemeClr val="bg1"/>
                </a:solidFill>
              </a:rPr>
              <a:t>7.1%</a:t>
            </a:r>
          </a:p>
        </p:txBody>
      </p:sp>
      <p:sp>
        <p:nvSpPr>
          <p:cNvPr id="82" name="Rectangle 81">
            <a:extLst>
              <a:ext uri="{FF2B5EF4-FFF2-40B4-BE49-F238E27FC236}">
                <a16:creationId xmlns:a16="http://schemas.microsoft.com/office/drawing/2014/main" id="{0FC9A9D6-90A9-4E14-AE5A-43458202CD26}"/>
              </a:ext>
            </a:extLst>
          </p:cNvPr>
          <p:cNvSpPr/>
          <p:nvPr/>
        </p:nvSpPr>
        <p:spPr>
          <a:xfrm>
            <a:off x="4935561"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D</a:t>
            </a:r>
          </a:p>
          <a:p>
            <a:pPr algn="ctr"/>
            <a:r>
              <a:rPr lang="en-GB" sz="800" i="1" dirty="0">
                <a:solidFill>
                  <a:schemeClr val="bg1"/>
                </a:solidFill>
              </a:rPr>
              <a:t>19.2%</a:t>
            </a:r>
          </a:p>
        </p:txBody>
      </p:sp>
      <p:sp>
        <p:nvSpPr>
          <p:cNvPr id="83" name="Rectangle 82">
            <a:extLst>
              <a:ext uri="{FF2B5EF4-FFF2-40B4-BE49-F238E27FC236}">
                <a16:creationId xmlns:a16="http://schemas.microsoft.com/office/drawing/2014/main" id="{74656451-0E7F-4A6D-8B37-7A6436AF8F7E}"/>
              </a:ext>
            </a:extLst>
          </p:cNvPr>
          <p:cNvSpPr/>
          <p:nvPr/>
        </p:nvSpPr>
        <p:spPr>
          <a:xfrm>
            <a:off x="6243185"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E</a:t>
            </a:r>
          </a:p>
          <a:p>
            <a:pPr algn="ctr"/>
            <a:r>
              <a:rPr lang="en-GB" sz="800" i="1" dirty="0">
                <a:solidFill>
                  <a:schemeClr val="bg1"/>
                </a:solidFill>
              </a:rPr>
              <a:t>9.0%</a:t>
            </a:r>
          </a:p>
        </p:txBody>
      </p:sp>
      <p:sp>
        <p:nvSpPr>
          <p:cNvPr id="84" name="Rectangle 83">
            <a:extLst>
              <a:ext uri="{FF2B5EF4-FFF2-40B4-BE49-F238E27FC236}">
                <a16:creationId xmlns:a16="http://schemas.microsoft.com/office/drawing/2014/main" id="{DC041278-3BA7-4DD4-826D-360F245298F3}"/>
              </a:ext>
            </a:extLst>
          </p:cNvPr>
          <p:cNvSpPr/>
          <p:nvPr/>
        </p:nvSpPr>
        <p:spPr>
          <a:xfrm>
            <a:off x="7550809"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F</a:t>
            </a:r>
          </a:p>
          <a:p>
            <a:pPr algn="ctr"/>
            <a:r>
              <a:rPr lang="en-GB" sz="800" i="1" dirty="0">
                <a:solidFill>
                  <a:schemeClr val="bg1"/>
                </a:solidFill>
              </a:rPr>
              <a:t>34.5%</a:t>
            </a:r>
          </a:p>
        </p:txBody>
      </p:sp>
      <p:sp>
        <p:nvSpPr>
          <p:cNvPr id="85" name="Rectangle 84">
            <a:extLst>
              <a:ext uri="{FF2B5EF4-FFF2-40B4-BE49-F238E27FC236}">
                <a16:creationId xmlns:a16="http://schemas.microsoft.com/office/drawing/2014/main" id="{979F6E12-1036-4D90-9F43-ADA5E582D728}"/>
              </a:ext>
            </a:extLst>
          </p:cNvPr>
          <p:cNvSpPr/>
          <p:nvPr/>
        </p:nvSpPr>
        <p:spPr>
          <a:xfrm>
            <a:off x="8858433"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dirty="0">
                <a:solidFill>
                  <a:schemeClr val="bg1"/>
                </a:solidFill>
              </a:rPr>
              <a:t>Shareholder G </a:t>
            </a:r>
          </a:p>
          <a:p>
            <a:pPr algn="ctr"/>
            <a:r>
              <a:rPr lang="en-GB" sz="800" i="1" dirty="0">
                <a:solidFill>
                  <a:schemeClr val="bg1"/>
                </a:solidFill>
              </a:rPr>
              <a:t>2.0%</a:t>
            </a:r>
          </a:p>
        </p:txBody>
      </p:sp>
      <p:sp>
        <p:nvSpPr>
          <p:cNvPr id="86" name="Rectangle 85">
            <a:extLst>
              <a:ext uri="{FF2B5EF4-FFF2-40B4-BE49-F238E27FC236}">
                <a16:creationId xmlns:a16="http://schemas.microsoft.com/office/drawing/2014/main" id="{7EDA2F82-8121-417B-979D-AA02A6EB6ABC}"/>
              </a:ext>
            </a:extLst>
          </p:cNvPr>
          <p:cNvSpPr/>
          <p:nvPr/>
        </p:nvSpPr>
        <p:spPr>
          <a:xfrm>
            <a:off x="10166057" y="1856139"/>
            <a:ext cx="1013254" cy="41275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GB" sz="800" b="1">
                <a:solidFill>
                  <a:schemeClr val="bg1"/>
                </a:solidFill>
              </a:rPr>
              <a:t>11 further shareholders</a:t>
            </a:r>
          </a:p>
          <a:p>
            <a:pPr algn="ctr"/>
            <a:r>
              <a:rPr lang="en-GB" sz="800" i="1">
                <a:solidFill>
                  <a:schemeClr val="bg1"/>
                </a:solidFill>
              </a:rPr>
              <a:t>3.0%</a:t>
            </a:r>
          </a:p>
        </p:txBody>
      </p:sp>
      <p:cxnSp>
        <p:nvCxnSpPr>
          <p:cNvPr id="87" name="Connector: Elbow 86">
            <a:extLst>
              <a:ext uri="{FF2B5EF4-FFF2-40B4-BE49-F238E27FC236}">
                <a16:creationId xmlns:a16="http://schemas.microsoft.com/office/drawing/2014/main" id="{FB5334B0-63F8-4E08-9F49-9039B2B7AC3A}"/>
              </a:ext>
            </a:extLst>
          </p:cNvPr>
          <p:cNvCxnSpPr>
            <a:cxnSpLocks/>
            <a:stCxn id="79" idx="0"/>
            <a:endCxn id="82" idx="2"/>
          </p:cNvCxnSpPr>
          <p:nvPr/>
        </p:nvCxnSpPr>
        <p:spPr>
          <a:xfrm rot="16200000" flipV="1">
            <a:off x="5626924" y="2084163"/>
            <a:ext cx="284341" cy="653812"/>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D9EC89DF-2501-4053-A125-C4DBDC865F51}"/>
              </a:ext>
            </a:extLst>
          </p:cNvPr>
          <p:cNvCxnSpPr>
            <a:cxnSpLocks/>
            <a:stCxn id="79" idx="0"/>
            <a:endCxn id="86" idx="2"/>
          </p:cNvCxnSpPr>
          <p:nvPr/>
        </p:nvCxnSpPr>
        <p:spPr>
          <a:xfrm rot="5400000" flipH="1" flipV="1">
            <a:off x="8242172" y="122727"/>
            <a:ext cx="284341" cy="4576684"/>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C1579CC9-BCF1-4ACE-A7C9-9E76A511A705}"/>
              </a:ext>
            </a:extLst>
          </p:cNvPr>
          <p:cNvCxnSpPr>
            <a:cxnSpLocks/>
            <a:stCxn id="79" idx="0"/>
            <a:endCxn id="85" idx="2"/>
          </p:cNvCxnSpPr>
          <p:nvPr/>
        </p:nvCxnSpPr>
        <p:spPr>
          <a:xfrm rot="5400000" flipH="1" flipV="1">
            <a:off x="7588360" y="776539"/>
            <a:ext cx="284341" cy="3269060"/>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058FACE2-4C02-472D-A064-914C5A8637C1}"/>
              </a:ext>
            </a:extLst>
          </p:cNvPr>
          <p:cNvCxnSpPr>
            <a:cxnSpLocks/>
            <a:stCxn id="79" idx="0"/>
            <a:endCxn id="84" idx="2"/>
          </p:cNvCxnSpPr>
          <p:nvPr/>
        </p:nvCxnSpPr>
        <p:spPr>
          <a:xfrm rot="5400000" flipH="1" flipV="1">
            <a:off x="6934548" y="1430351"/>
            <a:ext cx="284341" cy="1961436"/>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DB3EE107-F222-4287-960F-31C5BB332CEE}"/>
              </a:ext>
            </a:extLst>
          </p:cNvPr>
          <p:cNvCxnSpPr>
            <a:cxnSpLocks/>
            <a:stCxn id="79" idx="0"/>
            <a:endCxn id="83" idx="2"/>
          </p:cNvCxnSpPr>
          <p:nvPr/>
        </p:nvCxnSpPr>
        <p:spPr>
          <a:xfrm rot="5400000" flipH="1" flipV="1">
            <a:off x="6280736" y="2084163"/>
            <a:ext cx="284341" cy="653812"/>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03017C8B-E430-4F33-AB31-B9C50F7403FC}"/>
              </a:ext>
            </a:extLst>
          </p:cNvPr>
          <p:cNvCxnSpPr>
            <a:cxnSpLocks/>
            <a:stCxn id="79" idx="0"/>
            <a:endCxn id="81" idx="2"/>
          </p:cNvCxnSpPr>
          <p:nvPr/>
        </p:nvCxnSpPr>
        <p:spPr>
          <a:xfrm rot="16200000" flipV="1">
            <a:off x="4973112" y="1430351"/>
            <a:ext cx="284341" cy="1961436"/>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95FB25F5-DA8E-472A-AF8D-8E02DA4FD1C8}"/>
              </a:ext>
            </a:extLst>
          </p:cNvPr>
          <p:cNvCxnSpPr>
            <a:cxnSpLocks/>
            <a:stCxn id="79" idx="0"/>
            <a:endCxn id="80" idx="2"/>
          </p:cNvCxnSpPr>
          <p:nvPr/>
        </p:nvCxnSpPr>
        <p:spPr>
          <a:xfrm rot="16200000" flipV="1">
            <a:off x="4319300" y="776539"/>
            <a:ext cx="284341" cy="3269060"/>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3D996382-1AF8-4995-8E5F-C11522E2B6E4}"/>
              </a:ext>
            </a:extLst>
          </p:cNvPr>
          <p:cNvCxnSpPr>
            <a:cxnSpLocks/>
            <a:stCxn id="79" idx="0"/>
            <a:endCxn id="78" idx="2"/>
          </p:cNvCxnSpPr>
          <p:nvPr/>
        </p:nvCxnSpPr>
        <p:spPr>
          <a:xfrm rot="16200000" flipV="1">
            <a:off x="3665488" y="122727"/>
            <a:ext cx="284341" cy="4576684"/>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Text Box 8">
            <a:extLst>
              <a:ext uri="{FF2B5EF4-FFF2-40B4-BE49-F238E27FC236}">
                <a16:creationId xmlns:a16="http://schemas.microsoft.com/office/drawing/2014/main" id="{3EA87F9E-ADC7-48A5-8BB2-5AD550098A25}"/>
              </a:ext>
            </a:extLst>
          </p:cNvPr>
          <p:cNvSpPr txBox="1">
            <a:spLocks noChangeArrowheads="1"/>
          </p:cNvSpPr>
          <p:nvPr>
            <p:custDataLst>
              <p:tags r:id="rId3"/>
            </p:custDataLst>
          </p:nvPr>
        </p:nvSpPr>
        <p:spPr bwMode="auto">
          <a:xfrm>
            <a:off x="987211" y="2975907"/>
            <a:ext cx="3552097" cy="146133"/>
          </a:xfrm>
          <a:prstGeom prst="rect">
            <a:avLst/>
          </a:prstGeom>
          <a:noFill/>
          <a:ln w="6350">
            <a:noFill/>
            <a:miter lim="800000"/>
            <a:headEnd type="none" w="sm" len="sm"/>
            <a:tailEnd type="none" w="sm" len="sm"/>
          </a:ln>
          <a:effectLst/>
        </p:spPr>
        <p:txBody>
          <a:bodyPr wrap="square" lIns="0" tIns="0" rIns="0" bIns="0" anchor="b">
            <a:noAutofit/>
          </a:bodyPr>
          <a:lstStyle/>
          <a:p>
            <a:pPr marL="346075" indent="-346075" defTabSz="762000" eaLnBrk="0" hangingPunct="0">
              <a:spcBef>
                <a:spcPts val="200"/>
              </a:spcBef>
              <a:tabLst>
                <a:tab pos="355600" algn="l"/>
              </a:tabLst>
            </a:pPr>
            <a:r>
              <a:rPr lang="en-GB" sz="600" dirty="0">
                <a:solidFill>
                  <a:schemeClr val="tx2"/>
                </a:solidFill>
                <a:cs typeface="Arial" pitchFamily="34" charset="0"/>
              </a:rPr>
              <a:t>Source: Infinity – overview pack</a:t>
            </a:r>
          </a:p>
        </p:txBody>
      </p:sp>
      <p:sp>
        <p:nvSpPr>
          <p:cNvPr id="2" name="UpSlide SubSection Marker" hidden="1">
            <a:extLst>
              <a:ext uri="{FF2B5EF4-FFF2-40B4-BE49-F238E27FC236}">
                <a16:creationId xmlns:a16="http://schemas.microsoft.com/office/drawing/2014/main" id="{712F599C-6A5C-4686-BCD4-8DBBD04E7425}"/>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96" name="Group 95">
            <a:extLst>
              <a:ext uri="{FF2B5EF4-FFF2-40B4-BE49-F238E27FC236}">
                <a16:creationId xmlns:a16="http://schemas.microsoft.com/office/drawing/2014/main" id="{678D4DD8-1FF2-42CC-97AF-29C6742B9CD9}"/>
              </a:ext>
            </a:extLst>
          </p:cNvPr>
          <p:cNvGrpSpPr/>
          <p:nvPr>
            <p:custDataLst>
              <p:tags r:id="rId5"/>
            </p:custDataLst>
          </p:nvPr>
        </p:nvGrpSpPr>
        <p:grpSpPr>
          <a:xfrm>
            <a:off x="995364" y="153170"/>
            <a:ext cx="6213178" cy="195814"/>
            <a:chOff x="995364" y="153170"/>
            <a:chExt cx="6213178" cy="195814"/>
          </a:xfrm>
        </p:grpSpPr>
        <p:sp>
          <p:nvSpPr>
            <p:cNvPr id="97"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98"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99"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00"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01"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02"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03" name="Current Section7">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050929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graphicFrame>
        <p:nvGraphicFramePr>
          <p:cNvPr id="26" name="Table 25">
            <a:extLst>
              <a:ext uri="{FF2B5EF4-FFF2-40B4-BE49-F238E27FC236}">
                <a16:creationId xmlns:a16="http://schemas.microsoft.com/office/drawing/2014/main" id="{C3658976-AE81-482D-BFF6-1DC927DE9E0C}"/>
              </a:ext>
            </a:extLst>
          </p:cNvPr>
          <p:cNvGraphicFramePr>
            <a:graphicFrameLocks noGrp="1"/>
          </p:cNvGraphicFramePr>
          <p:nvPr>
            <p:extLst>
              <p:ext uri="{D42A27DB-BD31-4B8C-83A1-F6EECF244321}">
                <p14:modId xmlns:p14="http://schemas.microsoft.com/office/powerpoint/2010/main" val="381918302"/>
              </p:ext>
            </p:extLst>
          </p:nvPr>
        </p:nvGraphicFramePr>
        <p:xfrm>
          <a:off x="998400" y="1330325"/>
          <a:ext cx="4975680" cy="2725920"/>
        </p:xfrm>
        <a:graphic>
          <a:graphicData uri="http://schemas.openxmlformats.org/drawingml/2006/table">
            <a:tbl>
              <a:tblPr firstRow="1" bandRow="1">
                <a:tableStyleId>{5C22544A-7EE6-4342-B048-85BDC9FD1C3A}</a:tableStyleId>
              </a:tblPr>
              <a:tblGrid>
                <a:gridCol w="1473275">
                  <a:extLst>
                    <a:ext uri="{9D8B030D-6E8A-4147-A177-3AD203B41FA5}">
                      <a16:colId xmlns:a16="http://schemas.microsoft.com/office/drawing/2014/main" val="20000"/>
                    </a:ext>
                  </a:extLst>
                </a:gridCol>
                <a:gridCol w="3502405">
                  <a:extLst>
                    <a:ext uri="{9D8B030D-6E8A-4147-A177-3AD203B41FA5}">
                      <a16:colId xmlns:a16="http://schemas.microsoft.com/office/drawing/2014/main" val="2388808081"/>
                    </a:ext>
                  </a:extLst>
                </a:gridCol>
              </a:tblGrid>
              <a:tr h="270560">
                <a:tc gridSpan="2">
                  <a:txBody>
                    <a:bodyPr/>
                    <a:lstStyle/>
                    <a:p>
                      <a:pPr marL="0" algn="l" defTabSz="914423" rtl="0" eaLnBrk="1" latinLnBrk="0" hangingPunct="1"/>
                      <a:r>
                        <a:rPr lang="en-US" sz="1100" b="1" kern="1200">
                          <a:solidFill>
                            <a:schemeClr val="bg1"/>
                          </a:solidFill>
                          <a:latin typeface="+mn-lt"/>
                          <a:ea typeface="+mn-ea"/>
                          <a:cs typeface="+mn-cs"/>
                        </a:rPr>
                        <a:t>Group and entity definitions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569819"/>
                  </a:ext>
                </a:extLst>
              </a:tr>
              <a:tr h="250240">
                <a:tc>
                  <a:txBody>
                    <a:bodyPr/>
                    <a:lstStyle/>
                    <a:p>
                      <a:pPr marL="0" algn="l" defTabSz="914423" rtl="0" eaLnBrk="1" latinLnBrk="0" hangingPunct="1"/>
                      <a:r>
                        <a:rPr lang="en-US" sz="1000" b="1" kern="1200" dirty="0">
                          <a:solidFill>
                            <a:schemeClr val="tx2"/>
                          </a:solidFill>
                          <a:latin typeface="+mn-lt"/>
                          <a:ea typeface="+mn-ea"/>
                          <a:cs typeface="+mn-cs"/>
                        </a:rPr>
                        <a:t>Group</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dirty="0" err="1">
                          <a:solidFill>
                            <a:schemeClr val="tx1"/>
                          </a:solidFill>
                          <a:latin typeface="+mn-lt"/>
                        </a:rPr>
                        <a:t>yy</a:t>
                      </a:r>
                      <a:endParaRPr lang="en-US" sz="10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0560">
                <a:tc gridSpan="2">
                  <a:txBody>
                    <a:bodyPr/>
                    <a:lstStyle/>
                    <a:p>
                      <a:pPr marL="0" algn="l" defTabSz="914423" rtl="0" eaLnBrk="1" latinLnBrk="0" hangingPunct="1"/>
                      <a:r>
                        <a:rPr lang="en-US" sz="1100" b="1" kern="1200" dirty="0">
                          <a:solidFill>
                            <a:schemeClr val="bg1"/>
                          </a:solidFill>
                          <a:latin typeface="+mn-lt"/>
                          <a:ea typeface="+mn-ea"/>
                          <a:cs typeface="+mn-cs"/>
                        </a:rPr>
                        <a:t>Currencies and time periods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773624"/>
                  </a:ext>
                </a:extLst>
              </a:tr>
              <a:tr h="250240">
                <a:tc>
                  <a:txBody>
                    <a:bodyPr/>
                    <a:lstStyle/>
                    <a:p>
                      <a:pPr marL="0" algn="l" defTabSz="914423" rtl="0" eaLnBrk="1" latinLnBrk="0" hangingPunct="1"/>
                      <a:r>
                        <a:rPr lang="en-US" sz="1000" b="1" kern="1200" dirty="0">
                          <a:solidFill>
                            <a:schemeClr val="tx2"/>
                          </a:solidFill>
                          <a:latin typeface="+mn-lt"/>
                          <a:ea typeface="+mn-ea"/>
                          <a:cs typeface="+mn-cs"/>
                        </a:rPr>
                        <a:t>£’000</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dirty="0">
                          <a:solidFill>
                            <a:schemeClr val="tx1"/>
                          </a:solidFill>
                          <a:latin typeface="+mn-lt"/>
                        </a:rPr>
                        <a:t>Pounds in thousands</a:t>
                      </a:r>
                      <a:endParaRPr lang="en-US" sz="10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r>
                        <a:rPr lang="en-US" sz="1000" b="1" u="none" dirty="0">
                          <a:solidFill>
                            <a:srgbClr val="00338D"/>
                          </a:solidFill>
                        </a:rPr>
                        <a:t>FY19</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Accounting period ended 27 January 2019</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5099992"/>
                  </a:ext>
                </a:extLst>
              </a:tr>
              <a:tr h="250240">
                <a:tc>
                  <a:txBody>
                    <a:bodyPr/>
                    <a:lstStyle/>
                    <a:p>
                      <a:r>
                        <a:rPr lang="en-US" sz="1000" b="1" u="none" dirty="0">
                          <a:solidFill>
                            <a:srgbClr val="00338D"/>
                          </a:solidFill>
                        </a:rPr>
                        <a:t>FY20</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Accounting period ended 26 January 2020</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0515423"/>
                  </a:ext>
                </a:extLst>
              </a:tr>
              <a:tr h="250240">
                <a:tc>
                  <a:txBody>
                    <a:bodyPr/>
                    <a:lstStyle/>
                    <a:p>
                      <a:r>
                        <a:rPr lang="en-US" sz="1000" b="1" u="none">
                          <a:solidFill>
                            <a:srgbClr val="00338D"/>
                          </a:solidFill>
                        </a:rPr>
                        <a:t>FY21</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Accounting period ended 31 January 2021</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010257"/>
                  </a:ext>
                </a:extLst>
              </a:tr>
              <a:tr h="250240">
                <a:tc>
                  <a:txBody>
                    <a:bodyPr/>
                    <a:lstStyle/>
                    <a:p>
                      <a:pPr marL="0" algn="l" defTabSz="914423" rtl="0" eaLnBrk="1" latinLnBrk="0" hangingPunct="1"/>
                      <a:r>
                        <a:rPr lang="en-US" sz="1000" b="1" kern="1200">
                          <a:solidFill>
                            <a:schemeClr val="tx2"/>
                          </a:solidFill>
                          <a:latin typeface="+mn-lt"/>
                          <a:ea typeface="+mn-ea"/>
                          <a:cs typeface="+mn-cs"/>
                        </a:rPr>
                        <a:t>YTD</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noProof="0" dirty="0">
                          <a:solidFill>
                            <a:schemeClr val="tx1"/>
                          </a:solidFill>
                          <a:latin typeface="+mn-lt"/>
                        </a:rPr>
                        <a:t>Year to date</a:t>
                      </a:r>
                      <a:endParaRPr lang="en-US" sz="10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412159"/>
                  </a:ext>
                </a:extLst>
              </a:tr>
              <a:tr h="250240">
                <a:tc>
                  <a:txBody>
                    <a:bodyPr/>
                    <a:lstStyle/>
                    <a:p>
                      <a:r>
                        <a:rPr lang="en-US" sz="1000" b="1" u="none" dirty="0">
                          <a:solidFill>
                            <a:srgbClr val="00338D"/>
                          </a:solidFill>
                        </a:rPr>
                        <a:t>YTG</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Year to go</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604121"/>
                  </a:ext>
                </a:extLst>
              </a:tr>
              <a:tr h="392480">
                <a:tc>
                  <a:txBody>
                    <a:bodyPr/>
                    <a:lstStyle/>
                    <a:p>
                      <a:pPr marL="0" algn="l" defTabSz="914423" rtl="0" eaLnBrk="1" latinLnBrk="0" hangingPunct="1"/>
                      <a:r>
                        <a:rPr lang="en-US" sz="1000" b="1" kern="1200" dirty="0">
                          <a:solidFill>
                            <a:schemeClr val="tx2"/>
                          </a:solidFill>
                          <a:latin typeface="+mn-lt"/>
                          <a:ea typeface="+mn-ea"/>
                          <a:cs typeface="+mn-cs"/>
                        </a:rPr>
                        <a:t>LTM22</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Last twelve months to 26 September 2021</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425134"/>
                  </a:ext>
                </a:extLst>
              </a:tr>
            </a:tbl>
          </a:graphicData>
        </a:graphic>
      </p:graphicFrame>
      <p:graphicFrame>
        <p:nvGraphicFramePr>
          <p:cNvPr id="28" name="Table 27">
            <a:extLst>
              <a:ext uri="{FF2B5EF4-FFF2-40B4-BE49-F238E27FC236}">
                <a16:creationId xmlns:a16="http://schemas.microsoft.com/office/drawing/2014/main" id="{BF857A0F-3107-465B-822D-248DEF175458}"/>
              </a:ext>
            </a:extLst>
          </p:cNvPr>
          <p:cNvGraphicFramePr>
            <a:graphicFrameLocks noGrp="1"/>
          </p:cNvGraphicFramePr>
          <p:nvPr/>
        </p:nvGraphicFramePr>
        <p:xfrm>
          <a:off x="6225769" y="1330325"/>
          <a:ext cx="4975680" cy="492220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r>
                        <a:rPr lang="en-US" sz="1000" b="1" u="none" dirty="0">
                          <a:solidFill>
                            <a:srgbClr val="00338D"/>
                          </a:solidFill>
                        </a:rPr>
                        <a:t>3PL</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Third party logistics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r>
                        <a:rPr lang="en-US" sz="1000" b="1" u="none">
                          <a:solidFill>
                            <a:srgbClr val="00338D"/>
                          </a:solidFill>
                        </a:rPr>
                        <a:t>5YP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Five year plan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r>
                        <a:rPr lang="en-US" sz="1000" b="1" u="none">
                          <a:solidFill>
                            <a:srgbClr val="00338D"/>
                          </a:solidFill>
                        </a:rPr>
                        <a:t>act.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Activities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r>
                        <a:rPr lang="en-US" sz="1000" b="1" u="none">
                          <a:solidFill>
                            <a:srgbClr val="00338D"/>
                          </a:solidFill>
                        </a:rPr>
                        <a:t>Adj.</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Adjustments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r>
                        <a:rPr lang="en-US" sz="1000" b="1" u="none">
                          <a:solidFill>
                            <a:srgbClr val="00338D"/>
                          </a:solidFill>
                        </a:rPr>
                        <a:t>AOV</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Average Order Value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r>
                        <a:rPr lang="en-US" sz="1000" b="1" u="none">
                          <a:solidFill>
                            <a:srgbClr val="00338D"/>
                          </a:solidFill>
                        </a:rPr>
                        <a:t>ASP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Average selling price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r>
                        <a:rPr lang="en-US" sz="1000" b="1" u="none">
                          <a:solidFill>
                            <a:srgbClr val="00338D"/>
                          </a:solidFill>
                        </a:rPr>
                        <a:t>Avg.</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Average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240">
                <a:tc>
                  <a:txBody>
                    <a:bodyPr/>
                    <a:lstStyle/>
                    <a:p>
                      <a:r>
                        <a:rPr lang="en-US" sz="1000" b="1" u="none">
                          <a:solidFill>
                            <a:srgbClr val="00338D"/>
                          </a:solidFill>
                        </a:rPr>
                        <a:t>AW</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Autumn / Winter season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240">
                <a:tc>
                  <a:txBody>
                    <a:bodyPr/>
                    <a:lstStyle/>
                    <a:p>
                      <a:r>
                        <a:rPr lang="en-US" sz="1000" b="1" u="none">
                          <a:solidFill>
                            <a:srgbClr val="00338D"/>
                          </a:solidFill>
                        </a:rPr>
                        <a:t>B2B</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Business Customers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240">
                <a:tc>
                  <a:txBody>
                    <a:bodyPr/>
                    <a:lstStyle/>
                    <a:p>
                      <a:r>
                        <a:rPr lang="en-US" sz="1000" b="1" u="none">
                          <a:solidFill>
                            <a:srgbClr val="00338D"/>
                          </a:solidFill>
                        </a:rPr>
                        <a:t>B2C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Individual customers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0240">
                <a:tc>
                  <a:txBody>
                    <a:bodyPr/>
                    <a:lstStyle/>
                    <a:p>
                      <a:r>
                        <a:rPr lang="en-US" sz="1000" b="1" u="none">
                          <a:solidFill>
                            <a:srgbClr val="00338D"/>
                          </a:solidFill>
                        </a:rPr>
                        <a:t>CAC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Customer acquisition cost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0240">
                <a:tc>
                  <a:txBody>
                    <a:bodyPr/>
                    <a:lstStyle/>
                    <a:p>
                      <a:r>
                        <a:rPr lang="en-US" sz="1000" b="1" u="none">
                          <a:solidFill>
                            <a:srgbClr val="00338D"/>
                          </a:solidFill>
                        </a:rPr>
                        <a:t>CAD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Cash against documents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r>
                        <a:rPr lang="en-US" sz="1000" b="1" u="none">
                          <a:solidFill>
                            <a:srgbClr val="00338D"/>
                          </a:solidFill>
                        </a:rPr>
                        <a:t>CAGR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Compounded annual growth rate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2480">
                <a:tc>
                  <a:txBody>
                    <a:bodyPr/>
                    <a:lstStyle/>
                    <a:p>
                      <a:r>
                        <a:rPr lang="en-US" sz="1000" b="1" u="none">
                          <a:solidFill>
                            <a:srgbClr val="00338D"/>
                          </a:solidFill>
                        </a:rPr>
                        <a:t>Capex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Capital expenditure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r>
                        <a:rPr lang="en-US" sz="1000" b="1" u="none">
                          <a:solidFill>
                            <a:srgbClr val="00338D"/>
                          </a:solidFill>
                        </a:rPr>
                        <a:t>CDD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Commercial due diligence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r>
                        <a:rPr lang="en-US" sz="1000" b="1" u="none">
                          <a:solidFill>
                            <a:srgbClr val="00338D"/>
                          </a:solidFill>
                        </a:rPr>
                        <a:t>CJRS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Coronavirus Job Retention Scheme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0240">
                <a:tc>
                  <a:txBody>
                    <a:bodyPr/>
                    <a:lstStyle/>
                    <a:p>
                      <a:r>
                        <a:rPr lang="en-US" sz="1000" b="1" u="none" dirty="0">
                          <a:solidFill>
                            <a:srgbClr val="00338D"/>
                          </a:solidFill>
                        </a:rPr>
                        <a:t>COGS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Cost of goods sold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2404239"/>
                  </a:ext>
                </a:extLst>
              </a:tr>
              <a:tr h="250240">
                <a:tc>
                  <a:txBody>
                    <a:bodyPr/>
                    <a:lstStyle/>
                    <a:p>
                      <a:r>
                        <a:rPr lang="en-US" sz="1000" b="1" u="none" dirty="0">
                          <a:solidFill>
                            <a:srgbClr val="00338D"/>
                          </a:solidFill>
                        </a:rPr>
                        <a:t>Comm.</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Commission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396315"/>
                  </a:ext>
                </a:extLst>
              </a:tr>
            </a:tbl>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 (1/3)</a:t>
            </a:r>
          </a:p>
        </p:txBody>
      </p:sp>
      <p:sp>
        <p:nvSpPr>
          <p:cNvPr id="2" name="UpSlide SubSection Marker" hidden="1">
            <a:extLst>
              <a:ext uri="{FF2B5EF4-FFF2-40B4-BE49-F238E27FC236}">
                <a16:creationId xmlns:a16="http://schemas.microsoft.com/office/drawing/2014/main" id="{32935655-9F65-43C5-9A42-E400D5F34562}"/>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5" name="Group 14">
            <a:extLst>
              <a:ext uri="{FF2B5EF4-FFF2-40B4-BE49-F238E27FC236}">
                <a16:creationId xmlns:a16="http://schemas.microsoft.com/office/drawing/2014/main" id="{678D4DD8-1FF2-42CC-97AF-29C6742B9CD9}"/>
              </a:ext>
            </a:extLst>
          </p:cNvPr>
          <p:cNvGrpSpPr/>
          <p:nvPr>
            <p:custDataLst>
              <p:tags r:id="rId3"/>
            </p:custDataLst>
          </p:nvPr>
        </p:nvGrpSpPr>
        <p:grpSpPr>
          <a:xfrm>
            <a:off x="995364" y="153170"/>
            <a:ext cx="6213178" cy="195814"/>
            <a:chOff x="995364" y="153170"/>
            <a:chExt cx="6213178" cy="195814"/>
          </a:xfrm>
        </p:grpSpPr>
        <p:sp>
          <p:nvSpPr>
            <p:cNvPr id="17"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8"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9"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20"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1"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2"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3"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136385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graphicFrame>
        <p:nvGraphicFramePr>
          <p:cNvPr id="28" name="Table 27">
            <a:extLst>
              <a:ext uri="{FF2B5EF4-FFF2-40B4-BE49-F238E27FC236}">
                <a16:creationId xmlns:a16="http://schemas.microsoft.com/office/drawing/2014/main" id="{BF857A0F-3107-465B-822D-248DEF175458}"/>
              </a:ext>
            </a:extLst>
          </p:cNvPr>
          <p:cNvGraphicFramePr>
            <a:graphicFrameLocks noGrp="1"/>
          </p:cNvGraphicFramePr>
          <p:nvPr/>
        </p:nvGraphicFramePr>
        <p:xfrm>
          <a:off x="6225769" y="1330325"/>
          <a:ext cx="4975680" cy="492220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r>
                        <a:rPr lang="en-US" sz="1000" b="1" u="none" dirty="0">
                          <a:solidFill>
                            <a:srgbClr val="00338D"/>
                          </a:solidFill>
                        </a:rPr>
                        <a:t>HMRC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a:solidFill>
                            <a:srgbClr val="000000"/>
                          </a:solidFill>
                        </a:rPr>
                        <a:t>Her Majesty’s Revenue and Customs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r>
                        <a:rPr lang="en-US" sz="1000" b="1" u="none" dirty="0">
                          <a:solidFill>
                            <a:srgbClr val="00338D"/>
                          </a:solidFill>
                        </a:rPr>
                        <a:t>HR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Human Resource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r>
                        <a:rPr lang="en-US" sz="1000" b="1" u="none">
                          <a:solidFill>
                            <a:srgbClr val="00338D"/>
                          </a:solidFill>
                        </a:rPr>
                        <a:t>IFRS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International Financial Reporting Standards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r>
                        <a:rPr lang="en-US" sz="1000" b="1" u="none">
                          <a:solidFill>
                            <a:srgbClr val="00338D"/>
                          </a:solidFill>
                        </a:rPr>
                        <a:t>Infinity</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Infinity</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r>
                        <a:rPr lang="en-US" sz="1000" b="1" u="none">
                          <a:solidFill>
                            <a:srgbClr val="00338D"/>
                          </a:solidFill>
                        </a:rPr>
                        <a:t>IT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Information Technology</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r>
                        <a:rPr lang="en-US" sz="1000" b="1" u="none">
                          <a:solidFill>
                            <a:srgbClr val="00338D"/>
                          </a:solidFill>
                        </a:rPr>
                        <a:t>KPIs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Key performance indicators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r>
                        <a:rPr lang="en-US" sz="1000" b="1" u="none">
                          <a:solidFill>
                            <a:srgbClr val="00338D"/>
                          </a:solidFill>
                        </a:rPr>
                        <a:t>LFL</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Like for like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240">
                <a:tc>
                  <a:txBody>
                    <a:bodyPr/>
                    <a:lstStyle/>
                    <a:p>
                      <a:r>
                        <a:rPr lang="en-US" sz="1000" b="1" u="none">
                          <a:solidFill>
                            <a:srgbClr val="00338D"/>
                          </a:solidFill>
                        </a:rPr>
                        <a:t>LTM22</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Last twelve months to 26 September 2021</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240">
                <a:tc>
                  <a:txBody>
                    <a:bodyPr/>
                    <a:lstStyle/>
                    <a:p>
                      <a:r>
                        <a:rPr lang="en-US" sz="1000" b="1" u="none">
                          <a:solidFill>
                            <a:srgbClr val="00338D"/>
                          </a:solidFill>
                        </a:rPr>
                        <a:t>LTV</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Lifetime value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240">
                <a:tc>
                  <a:txBody>
                    <a:bodyPr/>
                    <a:lstStyle/>
                    <a:p>
                      <a:r>
                        <a:rPr lang="en-US" sz="1000" b="1" u="none">
                          <a:solidFill>
                            <a:srgbClr val="00338D"/>
                          </a:solidFill>
                        </a:rPr>
                        <a:t>MA</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Management Accounts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0240">
                <a:tc>
                  <a:txBody>
                    <a:bodyPr/>
                    <a:lstStyle/>
                    <a:p>
                      <a:r>
                        <a:rPr lang="en-US" sz="1000" b="1" u="none">
                          <a:solidFill>
                            <a:srgbClr val="00338D"/>
                          </a:solidFill>
                        </a:rPr>
                        <a:t>Management </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The Infinity Management team</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0240">
                <a:tc>
                  <a:txBody>
                    <a:bodyPr/>
                    <a:lstStyle/>
                    <a:p>
                      <a:r>
                        <a:rPr lang="en-US" sz="1000" b="1" u="none">
                          <a:solidFill>
                            <a:srgbClr val="00338D"/>
                          </a:solidFill>
                        </a:rPr>
                        <a:t>NBV</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Net book value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r>
                        <a:rPr lang="en-US" sz="1000" b="1" u="none">
                          <a:solidFill>
                            <a:srgbClr val="00338D"/>
                          </a:solidFill>
                        </a:rPr>
                        <a:t>NCV</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Net customer value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2480">
                <a:tc>
                  <a:txBody>
                    <a:bodyPr/>
                    <a:lstStyle/>
                    <a:p>
                      <a:r>
                        <a:rPr lang="en-US" sz="1000" b="1" u="none">
                          <a:solidFill>
                            <a:srgbClr val="00338D"/>
                          </a:solidFill>
                        </a:rPr>
                        <a:t>NED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Non-executive director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r>
                        <a:rPr lang="en-US" sz="1000" b="1" u="none">
                          <a:solidFill>
                            <a:srgbClr val="00338D"/>
                          </a:solidFill>
                        </a:rPr>
                        <a:t>NI</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National Insurance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r>
                        <a:rPr lang="en-US" sz="1000" b="1" u="none">
                          <a:solidFill>
                            <a:srgbClr val="00338D"/>
                          </a:solidFill>
                        </a:rPr>
                        <a:t>NPD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New product development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0240">
                <a:tc>
                  <a:txBody>
                    <a:bodyPr/>
                    <a:lstStyle/>
                    <a:p>
                      <a:r>
                        <a:rPr lang="en-US" sz="1000" b="1" u="none">
                          <a:solidFill>
                            <a:srgbClr val="00338D"/>
                          </a:solidFill>
                        </a:rPr>
                        <a:t>NWC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Net Working capital</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2404239"/>
                  </a:ext>
                </a:extLst>
              </a:tr>
              <a:tr h="250240">
                <a:tc>
                  <a:txBody>
                    <a:bodyPr/>
                    <a:lstStyle/>
                    <a:p>
                      <a:r>
                        <a:rPr lang="en-US" sz="1000" b="1" u="none">
                          <a:solidFill>
                            <a:srgbClr val="00338D"/>
                          </a:solidFill>
                        </a:rPr>
                        <a:t>OA</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On account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396315"/>
                  </a:ext>
                </a:extLst>
              </a:tr>
            </a:tbl>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 (2/3)</a:t>
            </a:r>
          </a:p>
        </p:txBody>
      </p:sp>
      <p:graphicFrame>
        <p:nvGraphicFramePr>
          <p:cNvPr id="23" name="Table 22">
            <a:extLst>
              <a:ext uri="{FF2B5EF4-FFF2-40B4-BE49-F238E27FC236}">
                <a16:creationId xmlns:a16="http://schemas.microsoft.com/office/drawing/2014/main" id="{8E4823ED-D2E7-4934-872F-C847274AE88D}"/>
              </a:ext>
            </a:extLst>
          </p:cNvPr>
          <p:cNvGraphicFramePr>
            <a:graphicFrameLocks noGrp="1"/>
          </p:cNvGraphicFramePr>
          <p:nvPr/>
        </p:nvGraphicFramePr>
        <p:xfrm>
          <a:off x="998397" y="1344501"/>
          <a:ext cx="4975680" cy="492220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r>
                        <a:rPr lang="en-US" sz="1000" b="1" u="none" dirty="0">
                          <a:solidFill>
                            <a:srgbClr val="00338D"/>
                          </a:solidFill>
                        </a:rPr>
                        <a:t>COO</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Chief Operating Officer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r>
                        <a:rPr lang="en-US" sz="1000" b="1" u="none" dirty="0">
                          <a:solidFill>
                            <a:srgbClr val="00338D"/>
                          </a:solidFill>
                        </a:rPr>
                        <a:t>CPA</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Cost per acquisition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r>
                        <a:rPr lang="en-US" sz="1000" b="1" u="none" dirty="0">
                          <a:solidFill>
                            <a:srgbClr val="00338D"/>
                          </a:solidFill>
                        </a:rPr>
                        <a:t>CPC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Cost per click</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r>
                        <a:rPr lang="en-US" sz="1000" b="1" u="none" dirty="0">
                          <a:solidFill>
                            <a:srgbClr val="00338D"/>
                          </a:solidFill>
                        </a:rPr>
                        <a:t>CRM</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a:solidFill>
                            <a:srgbClr val="000000"/>
                          </a:solidFill>
                        </a:rPr>
                        <a:t>Customer relationship management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r>
                        <a:rPr lang="en-US" sz="1000" b="1" u="none" dirty="0">
                          <a:solidFill>
                            <a:srgbClr val="00338D"/>
                          </a:solidFill>
                        </a:rPr>
                        <a:t>D2C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a:solidFill>
                            <a:srgbClr val="000000"/>
                          </a:solidFill>
                        </a:rPr>
                        <a:t>Direct to customer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r>
                        <a:rPr lang="en-US" sz="1000" b="1" u="none">
                          <a:solidFill>
                            <a:srgbClr val="00338D"/>
                          </a:solidFill>
                        </a:rPr>
                        <a:t>DM</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Direct mail</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r>
                        <a:rPr lang="en-US" sz="1000" b="1" u="none" dirty="0">
                          <a:solidFill>
                            <a:srgbClr val="00338D"/>
                          </a:solidFill>
                        </a:rPr>
                        <a:t>EBITDA</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Earning before interest, tax, depreciation &amp; amortization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240">
                <a:tc>
                  <a:txBody>
                    <a:bodyPr/>
                    <a:lstStyle/>
                    <a:p>
                      <a:r>
                        <a:rPr lang="en-US" sz="1000" b="1" u="none">
                          <a:solidFill>
                            <a:srgbClr val="00338D"/>
                          </a:solidFill>
                        </a:rPr>
                        <a:t>EMI</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Enterprise Management Incentive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240">
                <a:tc>
                  <a:txBody>
                    <a:bodyPr/>
                    <a:lstStyle/>
                    <a:p>
                      <a:r>
                        <a:rPr lang="en-US" sz="1000" b="1" u="none">
                          <a:solidFill>
                            <a:srgbClr val="00338D"/>
                          </a:solidFill>
                        </a:rPr>
                        <a:t>EPOS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Electronic Point of Sale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240">
                <a:tc>
                  <a:txBody>
                    <a:bodyPr/>
                    <a:lstStyle/>
                    <a:p>
                      <a:r>
                        <a:rPr lang="en-US" sz="1000" b="1" u="none">
                          <a:solidFill>
                            <a:srgbClr val="00338D"/>
                          </a:solidFill>
                        </a:rPr>
                        <a:t>ERP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Enterprise resource planning</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0240">
                <a:tc>
                  <a:txBody>
                    <a:bodyPr/>
                    <a:lstStyle/>
                    <a:p>
                      <a:r>
                        <a:rPr lang="en-US" sz="1000" b="1" u="none">
                          <a:solidFill>
                            <a:srgbClr val="00338D"/>
                          </a:solidFill>
                        </a:rPr>
                        <a:t>ERS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Employment-related securities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0240">
                <a:tc>
                  <a:txBody>
                    <a:bodyPr/>
                    <a:lstStyle/>
                    <a:p>
                      <a:r>
                        <a:rPr lang="en-US" sz="1000" b="1" u="none">
                          <a:solidFill>
                            <a:srgbClr val="00338D"/>
                          </a:solidFill>
                        </a:rPr>
                        <a:t>EU</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European union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r>
                        <a:rPr lang="en-US" sz="1000" b="1" u="none" dirty="0">
                          <a:solidFill>
                            <a:srgbClr val="00338D"/>
                          </a:solidFill>
                        </a:rPr>
                        <a:t>EUR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Euro</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2480">
                <a:tc>
                  <a:txBody>
                    <a:bodyPr/>
                    <a:lstStyle/>
                    <a:p>
                      <a:r>
                        <a:rPr lang="en-US" sz="1000" b="1" u="none" dirty="0">
                          <a:solidFill>
                            <a:srgbClr val="00338D"/>
                          </a:solidFill>
                        </a:rPr>
                        <a:t>FAR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Fixed Assets Register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r>
                        <a:rPr lang="en-US" sz="1000" b="1" u="none" dirty="0">
                          <a:solidFill>
                            <a:srgbClr val="00338D"/>
                          </a:solidFill>
                        </a:rPr>
                        <a:t>FRS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Financial reporting standard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r>
                        <a:rPr lang="en-US" sz="1000" b="1" u="none" dirty="0">
                          <a:solidFill>
                            <a:srgbClr val="00338D"/>
                          </a:solidFill>
                        </a:rPr>
                        <a:t>FX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Foreign exchange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0240">
                <a:tc>
                  <a:txBody>
                    <a:bodyPr/>
                    <a:lstStyle/>
                    <a:p>
                      <a:r>
                        <a:rPr lang="en-US" sz="1000" b="1" u="none" dirty="0">
                          <a:solidFill>
                            <a:srgbClr val="00338D"/>
                          </a:solidFill>
                        </a:rPr>
                        <a:t>GBP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Great British Pound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2404239"/>
                  </a:ext>
                </a:extLst>
              </a:tr>
              <a:tr h="250240">
                <a:tc>
                  <a:txBody>
                    <a:bodyPr/>
                    <a:lstStyle/>
                    <a:p>
                      <a:r>
                        <a:rPr lang="en-US" sz="1000" b="1" u="none">
                          <a:solidFill>
                            <a:srgbClr val="00338D"/>
                          </a:solidFill>
                        </a:rPr>
                        <a:t>GP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Gross Profit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396315"/>
                  </a:ext>
                </a:extLst>
              </a:tr>
            </a:tbl>
          </a:graphicData>
        </a:graphic>
      </p:graphicFrame>
      <p:sp>
        <p:nvSpPr>
          <p:cNvPr id="2" name="UpSlide SubSection Marker" hidden="1">
            <a:extLst>
              <a:ext uri="{FF2B5EF4-FFF2-40B4-BE49-F238E27FC236}">
                <a16:creationId xmlns:a16="http://schemas.microsoft.com/office/drawing/2014/main" id="{18FE89EF-CF32-400B-896F-17EBD195D38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15" name="Group 14">
            <a:extLst>
              <a:ext uri="{FF2B5EF4-FFF2-40B4-BE49-F238E27FC236}">
                <a16:creationId xmlns:a16="http://schemas.microsoft.com/office/drawing/2014/main" id="{678D4DD8-1FF2-42CC-97AF-29C6742B9CD9}"/>
              </a:ext>
            </a:extLst>
          </p:cNvPr>
          <p:cNvGrpSpPr/>
          <p:nvPr>
            <p:custDataLst>
              <p:tags r:id="rId3"/>
            </p:custDataLst>
          </p:nvPr>
        </p:nvGrpSpPr>
        <p:grpSpPr>
          <a:xfrm>
            <a:off x="995364" y="153170"/>
            <a:ext cx="6213178" cy="195814"/>
            <a:chOff x="995364" y="153170"/>
            <a:chExt cx="6213178" cy="195814"/>
          </a:xfrm>
        </p:grpSpPr>
        <p:sp>
          <p:nvSpPr>
            <p:cNvPr id="17"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8"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9"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20"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1"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22"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08808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graphicFrame>
        <p:nvGraphicFramePr>
          <p:cNvPr id="28" name="Table 27">
            <a:extLst>
              <a:ext uri="{FF2B5EF4-FFF2-40B4-BE49-F238E27FC236}">
                <a16:creationId xmlns:a16="http://schemas.microsoft.com/office/drawing/2014/main" id="{BF857A0F-3107-465B-822D-248DEF175458}"/>
              </a:ext>
            </a:extLst>
          </p:cNvPr>
          <p:cNvGraphicFramePr>
            <a:graphicFrameLocks noGrp="1"/>
          </p:cNvGraphicFramePr>
          <p:nvPr>
            <p:extLst>
              <p:ext uri="{D42A27DB-BD31-4B8C-83A1-F6EECF244321}">
                <p14:modId xmlns:p14="http://schemas.microsoft.com/office/powerpoint/2010/main" val="3510292544"/>
              </p:ext>
            </p:extLst>
          </p:nvPr>
        </p:nvGraphicFramePr>
        <p:xfrm>
          <a:off x="6225769" y="1330325"/>
          <a:ext cx="4975680" cy="202732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r>
                        <a:rPr lang="en-US" sz="1000" b="1" u="none" dirty="0">
                          <a:solidFill>
                            <a:srgbClr val="00338D"/>
                          </a:solidFill>
                        </a:rPr>
                        <a:t>SME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Small or medium sized enterprise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r>
                        <a:rPr lang="en-US" sz="1000" b="1" u="none">
                          <a:solidFill>
                            <a:srgbClr val="00338D"/>
                          </a:solidFill>
                        </a:rPr>
                        <a:t>SS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Spring / Summer season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r>
                        <a:rPr lang="en-US" sz="1000" b="1" u="none" dirty="0">
                          <a:solidFill>
                            <a:srgbClr val="00338D"/>
                          </a:solidFill>
                        </a:rPr>
                        <a:t>TUPE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Transfer of Undertaking (Protection of Employment)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r>
                        <a:rPr lang="en-US" sz="1000" b="1" u="none" dirty="0">
                          <a:solidFill>
                            <a:srgbClr val="00338D"/>
                          </a:solidFill>
                        </a:rPr>
                        <a:t>xx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xx </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r>
                        <a:rPr lang="en-US" sz="1000" b="1" u="none" dirty="0">
                          <a:solidFill>
                            <a:srgbClr val="00338D"/>
                          </a:solidFill>
                        </a:rPr>
                        <a:t>xx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xx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r>
                        <a:rPr lang="en-US" sz="1000" b="1" u="none" dirty="0">
                          <a:solidFill>
                            <a:srgbClr val="00338D"/>
                          </a:solidFill>
                        </a:rPr>
                        <a:t>USD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US dollars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r>
                        <a:rPr lang="en-US" sz="1000" b="1" u="none">
                          <a:solidFill>
                            <a:srgbClr val="00338D"/>
                          </a:solidFill>
                        </a:rPr>
                        <a:t>VAT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Value Added Tax</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bl>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 (3/3)</a:t>
            </a:r>
          </a:p>
        </p:txBody>
      </p:sp>
      <p:grpSp>
        <p:nvGrpSpPr>
          <p:cNvPr id="27" name="Group 26">
            <a:extLst>
              <a:ext uri="{FF2B5EF4-FFF2-40B4-BE49-F238E27FC236}">
                <a16:creationId xmlns:a16="http://schemas.microsoft.com/office/drawing/2014/main" id="{5082D5B4-929A-48BC-804C-A61C61E0D25D}"/>
              </a:ext>
            </a:extLst>
          </p:cNvPr>
          <p:cNvGrpSpPr/>
          <p:nvPr/>
        </p:nvGrpSpPr>
        <p:grpSpPr>
          <a:xfrm>
            <a:off x="980938" y="129872"/>
            <a:ext cx="9593686" cy="162000"/>
            <a:chOff x="980938" y="129872"/>
            <a:chExt cx="9593686" cy="162000"/>
          </a:xfrm>
        </p:grpSpPr>
        <p:sp>
          <p:nvSpPr>
            <p:cNvPr id="29" name="Rectangle 28">
              <a:hlinkClick r:id="rId7" action="ppaction://hlinksldjump"/>
              <a:extLst>
                <a:ext uri="{FF2B5EF4-FFF2-40B4-BE49-F238E27FC236}">
                  <a16:creationId xmlns:a16="http://schemas.microsoft.com/office/drawing/2014/main" id="{E05D5761-B892-4B55-A00A-FB4927C37705}"/>
                </a:ext>
              </a:extLst>
            </p:cNvPr>
            <p:cNvSpPr/>
            <p:nvPr/>
          </p:nvSpPr>
          <p:spPr>
            <a:xfrm>
              <a:off x="2214969" y="129872"/>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8" action="ppaction://hlinksldjump"/>
              <a:extLst>
                <a:ext uri="{FF2B5EF4-FFF2-40B4-BE49-F238E27FC236}">
                  <a16:creationId xmlns:a16="http://schemas.microsoft.com/office/drawing/2014/main" id="{044AD293-15B9-4A63-B704-F46F4670620C}"/>
                </a:ext>
              </a:extLst>
            </p:cNvPr>
            <p:cNvSpPr/>
            <p:nvPr/>
          </p:nvSpPr>
          <p:spPr>
            <a:xfrm>
              <a:off x="4407154" y="12987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9" action="ppaction://hlinksldjump"/>
              <a:extLst>
                <a:ext uri="{FF2B5EF4-FFF2-40B4-BE49-F238E27FC236}">
                  <a16:creationId xmlns:a16="http://schemas.microsoft.com/office/drawing/2014/main" id="{6C3CB33E-2D32-435E-A893-18CCB582B0E5}"/>
                </a:ext>
              </a:extLst>
            </p:cNvPr>
            <p:cNvSpPr/>
            <p:nvPr/>
          </p:nvSpPr>
          <p:spPr>
            <a:xfrm>
              <a:off x="7875994" y="129872"/>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0" action="ppaction://hlinksldjump"/>
              <a:extLst>
                <a:ext uri="{FF2B5EF4-FFF2-40B4-BE49-F238E27FC236}">
                  <a16:creationId xmlns:a16="http://schemas.microsoft.com/office/drawing/2014/main" id="{CB1BA0AD-F94A-46D5-B9C4-392E8F688A41}"/>
                </a:ext>
              </a:extLst>
            </p:cNvPr>
            <p:cNvSpPr/>
            <p:nvPr/>
          </p:nvSpPr>
          <p:spPr>
            <a:xfrm>
              <a:off x="9710624" y="129872"/>
              <a:ext cx="86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1" action="ppaction://hlinksldjump"/>
              <a:extLst>
                <a:ext uri="{FF2B5EF4-FFF2-40B4-BE49-F238E27FC236}">
                  <a16:creationId xmlns:a16="http://schemas.microsoft.com/office/drawing/2014/main" id="{A4155553-93FB-4F6E-BF3F-C398D57FAC89}"/>
                </a:ext>
              </a:extLst>
            </p:cNvPr>
            <p:cNvSpPr/>
            <p:nvPr/>
          </p:nvSpPr>
          <p:spPr>
            <a:xfrm>
              <a:off x="5383783" y="129872"/>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70BA0F8F-4E00-436B-A20A-FCF5EF04D377}"/>
                </a:ext>
              </a:extLst>
            </p:cNvPr>
            <p:cNvSpPr/>
            <p:nvPr/>
          </p:nvSpPr>
          <p:spPr>
            <a:xfrm>
              <a:off x="980938" y="129872"/>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5" name="Rectangle 34">
              <a:hlinkClick r:id="rId13" action="ppaction://hlinksldjump"/>
              <a:extLst>
                <a:ext uri="{FF2B5EF4-FFF2-40B4-BE49-F238E27FC236}">
                  <a16:creationId xmlns:a16="http://schemas.microsoft.com/office/drawing/2014/main" id="{CC7EE612-3128-441F-99AF-BBCE9CB27FD6}"/>
                </a:ext>
              </a:extLst>
            </p:cNvPr>
            <p:cNvSpPr/>
            <p:nvPr/>
          </p:nvSpPr>
          <p:spPr>
            <a:xfrm>
              <a:off x="3327074" y="129872"/>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4" action="ppaction://hlinksldjump"/>
              <a:extLst>
                <a:ext uri="{FF2B5EF4-FFF2-40B4-BE49-F238E27FC236}">
                  <a16:creationId xmlns:a16="http://schemas.microsoft.com/office/drawing/2014/main" id="{C698F9EF-D5AD-4B06-B877-459B723671A0}"/>
                </a:ext>
              </a:extLst>
            </p:cNvPr>
            <p:cNvSpPr/>
            <p:nvPr/>
          </p:nvSpPr>
          <p:spPr>
            <a:xfrm>
              <a:off x="6171845" y="129872"/>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7" name="Rectangle 36">
              <a:hlinkClick r:id="rId15" action="ppaction://hlinksldjump"/>
              <a:extLst>
                <a:ext uri="{FF2B5EF4-FFF2-40B4-BE49-F238E27FC236}">
                  <a16:creationId xmlns:a16="http://schemas.microsoft.com/office/drawing/2014/main" id="{8D19128B-1D5B-48C5-BC2F-2FC4BBDE07F3}"/>
                </a:ext>
              </a:extLst>
            </p:cNvPr>
            <p:cNvSpPr/>
            <p:nvPr/>
          </p:nvSpPr>
          <p:spPr>
            <a:xfrm>
              <a:off x="6893102" y="129872"/>
              <a:ext cx="948056"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8" name="Rectangle 37">
              <a:hlinkClick r:id="rId11" action="ppaction://hlinksldjump"/>
              <a:extLst>
                <a:ext uri="{FF2B5EF4-FFF2-40B4-BE49-F238E27FC236}">
                  <a16:creationId xmlns:a16="http://schemas.microsoft.com/office/drawing/2014/main" id="{7D3E9870-7F0D-4211-8F27-BDA1B79B317C}"/>
                </a:ext>
              </a:extLst>
            </p:cNvPr>
            <p:cNvSpPr/>
            <p:nvPr/>
          </p:nvSpPr>
          <p:spPr>
            <a:xfrm>
              <a:off x="8533267" y="129872"/>
              <a:ext cx="113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grpSp>
      <p:graphicFrame>
        <p:nvGraphicFramePr>
          <p:cNvPr id="23" name="Table 22">
            <a:extLst>
              <a:ext uri="{FF2B5EF4-FFF2-40B4-BE49-F238E27FC236}">
                <a16:creationId xmlns:a16="http://schemas.microsoft.com/office/drawing/2014/main" id="{8E4823ED-D2E7-4934-872F-C847274AE88D}"/>
              </a:ext>
            </a:extLst>
          </p:cNvPr>
          <p:cNvGraphicFramePr>
            <a:graphicFrameLocks noGrp="1"/>
          </p:cNvGraphicFramePr>
          <p:nvPr/>
        </p:nvGraphicFramePr>
        <p:xfrm>
          <a:off x="998397" y="1344501"/>
          <a:ext cx="4975680" cy="4950502"/>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8699">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3017">
                <a:tc>
                  <a:txBody>
                    <a:bodyPr/>
                    <a:lstStyle/>
                    <a:p>
                      <a:r>
                        <a:rPr lang="en-US" sz="1000" b="1" u="none" dirty="0">
                          <a:solidFill>
                            <a:srgbClr val="00338D"/>
                          </a:solidFill>
                        </a:rPr>
                        <a:t>Occ.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Occupancy</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3017">
                <a:tc>
                  <a:txBody>
                    <a:bodyPr/>
                    <a:lstStyle/>
                    <a:p>
                      <a:r>
                        <a:rPr lang="en-US" sz="1000" b="1" u="none" dirty="0">
                          <a:solidFill>
                            <a:srgbClr val="00338D"/>
                          </a:solidFill>
                        </a:rPr>
                        <a:t>OPW</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Off-payroll Working Rules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3017">
                <a:tc>
                  <a:txBody>
                    <a:bodyPr/>
                    <a:lstStyle/>
                    <a:p>
                      <a:r>
                        <a:rPr lang="en-US" sz="1000" b="1" u="none" dirty="0">
                          <a:solidFill>
                            <a:srgbClr val="00338D"/>
                          </a:solidFill>
                        </a:rPr>
                        <a:t>P&amp;L</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Profit &amp; Loss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3017">
                <a:tc>
                  <a:txBody>
                    <a:bodyPr/>
                    <a:lstStyle/>
                    <a:p>
                      <a:r>
                        <a:rPr lang="en-US" sz="1000" b="1" u="none" dirty="0">
                          <a:solidFill>
                            <a:srgbClr val="00338D"/>
                          </a:solidFill>
                        </a:rPr>
                        <a:t>PAYE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Pay As You Earn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3017">
                <a:tc>
                  <a:txBody>
                    <a:bodyPr/>
                    <a:lstStyle/>
                    <a:p>
                      <a:r>
                        <a:rPr lang="en-US" sz="1000" b="1" u="none" dirty="0">
                          <a:solidFill>
                            <a:srgbClr val="00338D"/>
                          </a:solidFill>
                        </a:rPr>
                        <a:t>PILON</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Payment in lieu of notice</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3017">
                <a:tc>
                  <a:txBody>
                    <a:bodyPr/>
                    <a:lstStyle/>
                    <a:p>
                      <a:r>
                        <a:rPr lang="en-US" sz="1000" b="1" u="none">
                          <a:solidFill>
                            <a:srgbClr val="00338D"/>
                          </a:solidFill>
                        </a:rPr>
                        <a:t>PO</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Purchase order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3017">
                <a:tc>
                  <a:txBody>
                    <a:bodyPr/>
                    <a:lstStyle/>
                    <a:p>
                      <a:r>
                        <a:rPr lang="en-US" sz="1000" b="1" u="none">
                          <a:solidFill>
                            <a:srgbClr val="00338D"/>
                          </a:solidFill>
                        </a:rPr>
                        <a:t>PPC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Pay per click</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3017">
                <a:tc>
                  <a:txBody>
                    <a:bodyPr/>
                    <a:lstStyle/>
                    <a:p>
                      <a:r>
                        <a:rPr lang="en-US" sz="1000" b="1" u="none">
                          <a:solidFill>
                            <a:srgbClr val="00338D"/>
                          </a:solidFill>
                        </a:rPr>
                        <a:t>ppts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Percentage points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3017">
                <a:tc>
                  <a:txBody>
                    <a:bodyPr/>
                    <a:lstStyle/>
                    <a:p>
                      <a:r>
                        <a:rPr lang="en-US" sz="1000" b="1" u="none">
                          <a:solidFill>
                            <a:srgbClr val="00338D"/>
                          </a:solidFill>
                        </a:rPr>
                        <a:t>PR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Public Relations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3017">
                <a:tc>
                  <a:txBody>
                    <a:bodyPr/>
                    <a:lstStyle/>
                    <a:p>
                      <a:r>
                        <a:rPr lang="en-US" sz="1000" b="1" u="none">
                          <a:solidFill>
                            <a:srgbClr val="00338D"/>
                          </a:solidFill>
                        </a:rPr>
                        <a:t>PSA</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PAYE Settlement Agreement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3017">
                <a:tc>
                  <a:txBody>
                    <a:bodyPr/>
                    <a:lstStyle/>
                    <a:p>
                      <a:r>
                        <a:rPr lang="en-US" sz="1000" b="1" u="none">
                          <a:solidFill>
                            <a:srgbClr val="00338D"/>
                          </a:solidFill>
                        </a:rPr>
                        <a:t>PSC</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Personal Service Company</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3017">
                <a:tc>
                  <a:txBody>
                    <a:bodyPr/>
                    <a:lstStyle/>
                    <a:p>
                      <a:r>
                        <a:rPr lang="en-US" sz="1000" b="1" u="none">
                          <a:solidFill>
                            <a:srgbClr val="00338D"/>
                          </a:solidFill>
                        </a:rPr>
                        <a:t>PSP</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Payment Service Provider</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3017">
                <a:tc>
                  <a:txBody>
                    <a:bodyPr/>
                    <a:lstStyle/>
                    <a:p>
                      <a:r>
                        <a:rPr lang="en-US" sz="1000" b="1" u="none">
                          <a:solidFill>
                            <a:srgbClr val="00338D"/>
                          </a:solidFill>
                        </a:rPr>
                        <a:t>R&amp;D </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Research and Development</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6835">
                <a:tc>
                  <a:txBody>
                    <a:bodyPr/>
                    <a:lstStyle/>
                    <a:p>
                      <a:r>
                        <a:rPr lang="en-US" sz="1000" b="1" u="none" dirty="0">
                          <a:solidFill>
                            <a:srgbClr val="00338D"/>
                          </a:solidFill>
                        </a:rPr>
                        <a:t>ROAS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Return on ad spend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3017">
                <a:tc>
                  <a:txBody>
                    <a:bodyPr/>
                    <a:lstStyle/>
                    <a:p>
                      <a:r>
                        <a:rPr lang="en-US" sz="1000" b="1" u="none">
                          <a:solidFill>
                            <a:srgbClr val="00338D"/>
                          </a:solidFill>
                        </a:rPr>
                        <a:t>RoW</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Rest of world</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3017">
                <a:tc>
                  <a:txBody>
                    <a:bodyPr/>
                    <a:lstStyle/>
                    <a:p>
                      <a:r>
                        <a:rPr lang="en-US" sz="1000" b="1" u="none">
                          <a:solidFill>
                            <a:srgbClr val="00338D"/>
                          </a:solidFill>
                        </a:rPr>
                        <a:t>Section 431 elections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Section 431(1) of ITEPA 2003</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3017">
                <a:tc>
                  <a:txBody>
                    <a:bodyPr/>
                    <a:lstStyle/>
                    <a:p>
                      <a:r>
                        <a:rPr lang="en-US" sz="1000" b="1" u="none">
                          <a:solidFill>
                            <a:srgbClr val="00338D"/>
                          </a:solidFill>
                        </a:rPr>
                        <a:t>SEO</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Search engine </a:t>
                      </a:r>
                      <a:r>
                        <a:rPr lang="en-US" sz="1000" b="0" u="none" dirty="0" err="1">
                          <a:solidFill>
                            <a:srgbClr val="000000"/>
                          </a:solidFill>
                        </a:rPr>
                        <a:t>optimisation</a:t>
                      </a:r>
                      <a:endParaRPr lang="en-US" sz="1000" b="0" u="none" dirty="0">
                        <a:solidFill>
                          <a:srgbClr val="000000"/>
                        </a:solidFill>
                      </a:endParaRP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2404239"/>
                  </a:ext>
                </a:extLst>
              </a:tr>
              <a:tr h="198393">
                <a:tc>
                  <a:txBody>
                    <a:bodyPr/>
                    <a:lstStyle/>
                    <a:p>
                      <a:r>
                        <a:rPr lang="en-US" sz="1000" b="1" u="none" dirty="0">
                          <a:solidFill>
                            <a:srgbClr val="00338D"/>
                          </a:solidFill>
                        </a:rPr>
                        <a:t>SKUs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u="none" dirty="0">
                          <a:solidFill>
                            <a:srgbClr val="000000"/>
                          </a:solidFill>
                        </a:rPr>
                        <a:t>Stock Keeping units</a:t>
                      </a:r>
                    </a:p>
                  </a:txBody>
                  <a:tcPr marL="74295" marR="74295" marT="37148" marB="37148">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396315"/>
                  </a:ext>
                </a:extLst>
              </a:tr>
            </a:tbl>
          </a:graphicData>
        </a:graphic>
      </p:graphicFrame>
      <p:sp>
        <p:nvSpPr>
          <p:cNvPr id="2" name="UpSlide SubSection Marker" hidden="1">
            <a:extLst>
              <a:ext uri="{FF2B5EF4-FFF2-40B4-BE49-F238E27FC236}">
                <a16:creationId xmlns:a16="http://schemas.microsoft.com/office/drawing/2014/main" id="{1EF97ACE-A367-4547-992A-58AF58A20C28}"/>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 &amp; data integrity</a:t>
            </a:r>
            <a:endParaRPr lang="en-GB" sz="900" dirty="0">
              <a:solidFill>
                <a:schemeClr val="bg1"/>
              </a:solidFill>
            </a:endParaRPr>
          </a:p>
        </p:txBody>
      </p:sp>
      <p:grpSp>
        <p:nvGrpSpPr>
          <p:cNvPr id="26" name="Group 25">
            <a:extLst>
              <a:ext uri="{FF2B5EF4-FFF2-40B4-BE49-F238E27FC236}">
                <a16:creationId xmlns:a16="http://schemas.microsoft.com/office/drawing/2014/main" id="{678D4DD8-1FF2-42CC-97AF-29C6742B9CD9}"/>
              </a:ext>
            </a:extLst>
          </p:cNvPr>
          <p:cNvGrpSpPr/>
          <p:nvPr>
            <p:custDataLst>
              <p:tags r:id="rId3"/>
            </p:custDataLst>
          </p:nvPr>
        </p:nvGrpSpPr>
        <p:grpSpPr>
          <a:xfrm>
            <a:off x="995364" y="153170"/>
            <a:ext cx="6213178" cy="195814"/>
            <a:chOff x="995364" y="153170"/>
            <a:chExt cx="6213178" cy="195814"/>
          </a:xfrm>
        </p:grpSpPr>
        <p:sp>
          <p:nvSpPr>
            <p:cNvPr id="39" name="Other Sections1">
              <a:hlinkClick r:id="rId1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0"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1" name="Other Sections3">
              <a:hlinkClick r:id="rId17"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2" name="Other Sections4">
              <a:hlinkClick r:id="rId18"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3" name="Other Sections5">
              <a:hlinkClick r:id="rId19"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5" name="Current Section7">
              <a:hlinkClick r:id="rId20"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539646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289860" y="1652448"/>
            <a:ext cx="6321425" cy="696913"/>
          </a:xfrm>
        </p:spPr>
        <p:txBody>
          <a:bodyPr/>
          <a:lstStyle/>
          <a:p>
            <a:r>
              <a:rPr lang="en-GB" dirty="0">
                <a:solidFill>
                  <a:schemeClr val="bg1"/>
                </a:solidFill>
              </a:rPr>
              <a:t>Historical trading - online</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Historical trading - online</a:t>
            </a:r>
            <a:endParaRPr lang="en-GB" sz="900" dirty="0">
              <a:solidFill>
                <a:schemeClr val="bg1"/>
              </a:solidFill>
            </a:endParaRPr>
          </a:p>
        </p:txBody>
      </p:sp>
    </p:spTree>
    <p:extLst>
      <p:ext uri="{BB962C8B-B14F-4D97-AF65-F5344CB8AC3E}">
        <p14:creationId xmlns:p14="http://schemas.microsoft.com/office/powerpoint/2010/main" val="23460415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289860" y="1652448"/>
            <a:ext cx="6321425" cy="696913"/>
          </a:xfrm>
        </p:spPr>
        <p:txBody>
          <a:bodyPr/>
          <a:lstStyle/>
          <a:p>
            <a:r>
              <a:rPr lang="en-GB" dirty="0">
                <a:solidFill>
                  <a:schemeClr val="bg1"/>
                </a:solidFill>
              </a:rPr>
              <a:t>Historical trading - retail</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Historical trading - retail</a:t>
            </a:r>
            <a:endParaRPr lang="en-GB" sz="900" dirty="0">
              <a:solidFill>
                <a:schemeClr val="bg1"/>
              </a:solidFill>
            </a:endParaRPr>
          </a:p>
        </p:txBody>
      </p:sp>
    </p:spTree>
    <p:extLst>
      <p:ext uri="{BB962C8B-B14F-4D97-AF65-F5344CB8AC3E}">
        <p14:creationId xmlns:p14="http://schemas.microsoft.com/office/powerpoint/2010/main" val="38320768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354667" y="1652448"/>
            <a:ext cx="6321425" cy="696913"/>
          </a:xfrm>
        </p:spPr>
        <p:txBody>
          <a:bodyPr/>
          <a:lstStyle/>
          <a:p>
            <a:r>
              <a:rPr lang="en-GB" dirty="0">
                <a:solidFill>
                  <a:schemeClr val="bg1"/>
                </a:solidFill>
              </a:rPr>
              <a:t>Cost base</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Cost base</a:t>
            </a:r>
            <a:endParaRPr lang="en-GB" sz="900" dirty="0">
              <a:solidFill>
                <a:schemeClr val="bg1"/>
              </a:solidFill>
            </a:endParaRPr>
          </a:p>
        </p:txBody>
      </p:sp>
    </p:spTree>
    <p:extLst>
      <p:ext uri="{BB962C8B-B14F-4D97-AF65-F5344CB8AC3E}">
        <p14:creationId xmlns:p14="http://schemas.microsoft.com/office/powerpoint/2010/main" val="7034933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354667" y="1652448"/>
            <a:ext cx="6321425" cy="696913"/>
          </a:xfrm>
        </p:spPr>
        <p:txBody>
          <a:bodyPr/>
          <a:lstStyle/>
          <a:p>
            <a:r>
              <a:rPr lang="en-GB" dirty="0">
                <a:solidFill>
                  <a:schemeClr val="bg1"/>
                </a:solidFill>
              </a:rPr>
              <a:t>Trading - other</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Trading - other</a:t>
            </a:r>
            <a:endParaRPr lang="en-GB" sz="900" dirty="0">
              <a:solidFill>
                <a:schemeClr val="bg1"/>
              </a:solidFill>
            </a:endParaRPr>
          </a:p>
        </p:txBody>
      </p:sp>
    </p:spTree>
    <p:extLst>
      <p:ext uri="{BB962C8B-B14F-4D97-AF65-F5344CB8AC3E}">
        <p14:creationId xmlns:p14="http://schemas.microsoft.com/office/powerpoint/2010/main" val="14817945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219200" y="1652448"/>
            <a:ext cx="6321425" cy="696913"/>
          </a:xfrm>
        </p:spPr>
        <p:txBody>
          <a:bodyPr/>
          <a:lstStyle/>
          <a:p>
            <a:r>
              <a:rPr lang="en-GB" dirty="0">
                <a:solidFill>
                  <a:schemeClr val="bg1"/>
                </a:solidFill>
              </a:rPr>
              <a:t>Balance sheet breakdowns</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Balance sheet breakdowns</a:t>
            </a:r>
            <a:endParaRPr lang="en-GB" sz="900" dirty="0">
              <a:solidFill>
                <a:schemeClr val="bg1"/>
              </a:solidFill>
            </a:endParaRPr>
          </a:p>
        </p:txBody>
      </p:sp>
    </p:spTree>
    <p:extLst>
      <p:ext uri="{BB962C8B-B14F-4D97-AF65-F5344CB8AC3E}">
        <p14:creationId xmlns:p14="http://schemas.microsoft.com/office/powerpoint/2010/main" val="30949732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BB2A-6617-439F-8650-624E577EAC55}"/>
              </a:ext>
            </a:extLst>
          </p:cNvPr>
          <p:cNvSpPr>
            <a:spLocks noGrp="1"/>
          </p:cNvSpPr>
          <p:nvPr>
            <p:ph type="ctrTitle" idx="4294967295"/>
          </p:nvPr>
        </p:nvSpPr>
        <p:spPr>
          <a:xfrm>
            <a:off x="1192107" y="1652448"/>
            <a:ext cx="6321425" cy="696913"/>
          </a:xfrm>
        </p:spPr>
        <p:txBody>
          <a:bodyPr/>
          <a:lstStyle/>
          <a:p>
            <a:r>
              <a:rPr lang="en-GB" dirty="0">
                <a:solidFill>
                  <a:schemeClr val="bg1"/>
                </a:solidFill>
              </a:rPr>
              <a:t>Forecast assumptions</a:t>
            </a:r>
          </a:p>
        </p:txBody>
      </p:sp>
      <p:sp>
        <p:nvSpPr>
          <p:cNvPr id="5" name="UpSlide SubSection Marker" hidden="1">
            <a:extLst>
              <a:ext uri="{FF2B5EF4-FFF2-40B4-BE49-F238E27FC236}">
                <a16:creationId xmlns:a16="http://schemas.microsoft.com/office/drawing/2014/main" id="{E9B81478-BCEB-40C6-82C7-C824A9E4EAA5}"/>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Forecast assumptions</a:t>
            </a:r>
            <a:endParaRPr lang="en-GB" sz="900" dirty="0">
              <a:solidFill>
                <a:schemeClr val="bg1"/>
              </a:solidFill>
            </a:endParaRPr>
          </a:p>
        </p:txBody>
      </p:sp>
    </p:spTree>
    <p:extLst>
      <p:ext uri="{BB962C8B-B14F-4D97-AF65-F5344CB8AC3E}">
        <p14:creationId xmlns:p14="http://schemas.microsoft.com/office/powerpoint/2010/main" val="3077406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dirty="0"/>
              <a:t>© 2023 Copyright owned by one or more of the KPMG International entities. KPMG International entities provide no services to clients. All rights reserved.</a:t>
            </a:r>
          </a:p>
          <a:p>
            <a:pPr lvl="1"/>
            <a:r>
              <a:rPr lang="en-US" altLang="en-US" dirty="0"/>
              <a:t>KPMG refers to the global organization or to one or more of the member firms of KPMG International Limited (“KPMG International”), each of which is a separate legal entity. KPMG International Limited is a private </a:t>
            </a:r>
            <a:r>
              <a:rPr lang="en-US" altLang="en-US" dirty="0" err="1"/>
              <a:t>yy</a:t>
            </a:r>
            <a:r>
              <a:rPr lang="en-US" altLang="en-US" dirty="0"/>
              <a:t> company limited by guarantee and does not provide services to clients. For more detail about our structure please visit </a:t>
            </a:r>
            <a:r>
              <a:rPr lang="en-US" altLang="en-US" dirty="0">
                <a:hlinkClick r:id="rId3" action="ppaction://hlinkfile">
                  <a:extLst>
                    <a:ext uri="{A12FA001-AC4F-418D-AE19-62706E023703}">
                      <ahyp:hlinkClr xmlns:ahyp="http://schemas.microsoft.com/office/drawing/2018/hyperlinkcolor" val="tx"/>
                    </a:ext>
                  </a:extLst>
                </a:hlinkClick>
              </a:rPr>
              <a:t>kpmg.com/governance</a:t>
            </a:r>
            <a:r>
              <a:rPr lang="en-US" altLang="en-US" dirty="0"/>
              <a:t>.</a:t>
            </a:r>
          </a:p>
          <a:p>
            <a:pPr lvl="1"/>
            <a:r>
              <a:rPr lang="en-US" altLang="en-US" dirty="0"/>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dirty="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Forecast assumptions</a:t>
            </a:r>
            <a:endParaRPr lang="en-US" sz="1600" dirty="0">
              <a:solidFill>
                <a:schemeClr val="bg1"/>
              </a:solidFill>
            </a:endParaRPr>
          </a:p>
        </p:txBody>
      </p:sp>
      <p:sp>
        <p:nvSpPr>
          <p:cNvPr id="4" name="Text Placeholder 23">
            <a:extLst>
              <a:ext uri="{FF2B5EF4-FFF2-40B4-BE49-F238E27FC236}">
                <a16:creationId xmlns:a16="http://schemas.microsoft.com/office/drawing/2014/main" id="{C68F83C7-85B8-8119-6CFE-AA5FD9E6B1C3}"/>
              </a:ext>
            </a:extLst>
          </p:cNvPr>
          <p:cNvSpPr txBox="1">
            <a:spLocks/>
          </p:cNvSpPr>
          <p:nvPr/>
        </p:nvSpPr>
        <p:spPr>
          <a:xfrm>
            <a:off x="6219328" y="2904869"/>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Name</a:t>
            </a:r>
          </a:p>
          <a:p>
            <a:pPr lvl="1">
              <a:spcAft>
                <a:spcPts val="300"/>
              </a:spcAft>
            </a:pPr>
            <a:r>
              <a:rPr lang="en-US" sz="900" dirty="0">
                <a:solidFill>
                  <a:schemeClr val="bg1"/>
                </a:solidFill>
                <a:latin typeface="+mn-lt"/>
              </a:rPr>
              <a:t>Partner, Tax Due Diligence</a:t>
            </a:r>
          </a:p>
          <a:p>
            <a:pPr lvl="1" defTabSz="269868">
              <a:spcAft>
                <a:spcPts val="300"/>
              </a:spcAft>
            </a:pPr>
            <a:r>
              <a:rPr lang="en-US" sz="900" b="1" dirty="0">
                <a:solidFill>
                  <a:schemeClr val="bg1"/>
                </a:solidFill>
                <a:latin typeface="+mn-lt"/>
              </a:rPr>
              <a:t>T: </a:t>
            </a:r>
            <a:r>
              <a:rPr lang="en-US" sz="900" dirty="0">
                <a:solidFill>
                  <a:schemeClr val="bg1"/>
                </a:solidFill>
                <a:latin typeface="+mn-lt"/>
              </a:rPr>
              <a:t>+X XXX XXX XXXX</a:t>
            </a:r>
          </a:p>
          <a:p>
            <a:pPr lvl="1" defTabSz="269868">
              <a:spcAft>
                <a:spcPts val="300"/>
              </a:spcAft>
            </a:pPr>
            <a:r>
              <a:rPr lang="en-US" sz="900" b="1" dirty="0">
                <a:solidFill>
                  <a:schemeClr val="bg1"/>
                </a:solidFill>
                <a:latin typeface="+mn-lt"/>
              </a:rPr>
              <a:t>E: </a:t>
            </a:r>
            <a:r>
              <a:rPr lang="en-US" sz="900" dirty="0">
                <a:solidFill>
                  <a:schemeClr val="bg1"/>
                </a:solidFill>
                <a:latin typeface="+mn-lt"/>
              </a:rPr>
              <a:t>xxx.xxx@kpmg.xx</a:t>
            </a:r>
          </a:p>
        </p:txBody>
      </p:sp>
      <p:sp>
        <p:nvSpPr>
          <p:cNvPr id="5" name="Text Placeholder 23">
            <a:extLst>
              <a:ext uri="{FF2B5EF4-FFF2-40B4-BE49-F238E27FC236}">
                <a16:creationId xmlns:a16="http://schemas.microsoft.com/office/drawing/2014/main" id="{4D9978D0-203B-3C56-0652-19B2D80700D8}"/>
              </a:ext>
            </a:extLst>
          </p:cNvPr>
          <p:cNvSpPr txBox="1">
            <a:spLocks/>
          </p:cNvSpPr>
          <p:nvPr/>
        </p:nvSpPr>
        <p:spPr>
          <a:xfrm>
            <a:off x="8831312" y="290487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Name</a:t>
            </a:r>
          </a:p>
          <a:p>
            <a:pPr lvl="1">
              <a:spcAft>
                <a:spcPts val="300"/>
              </a:spcAft>
            </a:pPr>
            <a:r>
              <a:rPr lang="en-US" sz="900" dirty="0">
                <a:solidFill>
                  <a:schemeClr val="bg1"/>
                </a:solidFill>
                <a:latin typeface="+mn-lt"/>
              </a:rPr>
              <a:t>Senior Manager, Tax Due Diligence</a:t>
            </a:r>
          </a:p>
          <a:p>
            <a:pPr lvl="1" defTabSz="269868">
              <a:spcAft>
                <a:spcPts val="300"/>
              </a:spcAft>
            </a:pPr>
            <a:r>
              <a:rPr lang="en-US" sz="900" b="1" dirty="0">
                <a:solidFill>
                  <a:schemeClr val="bg1"/>
                </a:solidFill>
                <a:latin typeface="+mn-lt"/>
              </a:rPr>
              <a:t>T: </a:t>
            </a:r>
            <a:r>
              <a:rPr lang="en-US" sz="900" dirty="0">
                <a:solidFill>
                  <a:schemeClr val="bg1"/>
                </a:solidFill>
                <a:latin typeface="+mn-lt"/>
              </a:rPr>
              <a:t>+X XXX XXX XXXX</a:t>
            </a:r>
          </a:p>
          <a:p>
            <a:pPr lvl="1" defTabSz="269868">
              <a:spcAft>
                <a:spcPts val="300"/>
              </a:spcAft>
            </a:pPr>
            <a:r>
              <a:rPr lang="en-US" sz="900" b="1" dirty="0">
                <a:solidFill>
                  <a:schemeClr val="bg1"/>
                </a:solidFill>
                <a:latin typeface="+mn-lt"/>
              </a:rPr>
              <a:t>E: </a:t>
            </a:r>
            <a:r>
              <a:rPr lang="en-US" sz="900" dirty="0">
                <a:solidFill>
                  <a:schemeClr val="bg1"/>
                </a:solidFill>
                <a:latin typeface="+mn-lt"/>
              </a:rPr>
              <a:t>xxx.xxx@kpmg.xx</a:t>
            </a: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995364" y="2904869"/>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Name</a:t>
            </a:r>
          </a:p>
          <a:p>
            <a:pPr lvl="1">
              <a:spcAft>
                <a:spcPts val="300"/>
              </a:spcAft>
            </a:pPr>
            <a:r>
              <a:rPr lang="en-US" sz="900" dirty="0">
                <a:solidFill>
                  <a:schemeClr val="bg1"/>
                </a:solidFill>
                <a:latin typeface="+mn-lt"/>
              </a:rPr>
              <a:t>Partner, Financial Due Diligence</a:t>
            </a:r>
          </a:p>
          <a:p>
            <a:pPr lvl="1" defTabSz="269868">
              <a:spcAft>
                <a:spcPts val="300"/>
              </a:spcAft>
            </a:pPr>
            <a:r>
              <a:rPr lang="en-US" sz="900" b="1" dirty="0">
                <a:solidFill>
                  <a:schemeClr val="bg1"/>
                </a:solidFill>
                <a:latin typeface="+mn-lt"/>
              </a:rPr>
              <a:t>T: </a:t>
            </a:r>
            <a:r>
              <a:rPr lang="en-US" sz="900" dirty="0">
                <a:solidFill>
                  <a:schemeClr val="bg1"/>
                </a:solidFill>
                <a:latin typeface="+mn-lt"/>
              </a:rPr>
              <a:t>+X XXX XXX XXXX</a:t>
            </a:r>
          </a:p>
          <a:p>
            <a:pPr lvl="1" defTabSz="269868">
              <a:spcAft>
                <a:spcPts val="300"/>
              </a:spcAft>
            </a:pPr>
            <a:r>
              <a:rPr lang="en-US" sz="900" b="1" dirty="0">
                <a:solidFill>
                  <a:schemeClr val="bg1"/>
                </a:solidFill>
                <a:latin typeface="+mn-lt"/>
              </a:rPr>
              <a:t>E: </a:t>
            </a:r>
            <a:r>
              <a:rPr lang="en-US" sz="900" dirty="0">
                <a:solidFill>
                  <a:schemeClr val="bg1"/>
                </a:solidFill>
                <a:latin typeface="+mn-lt"/>
              </a:rPr>
              <a:t>xxx.xxx@kpmg.xx</a:t>
            </a:r>
          </a:p>
        </p:txBody>
      </p:sp>
      <p:sp>
        <p:nvSpPr>
          <p:cNvPr id="7" name="Text Placeholder 21">
            <a:extLst>
              <a:ext uri="{FF2B5EF4-FFF2-40B4-BE49-F238E27FC236}">
                <a16:creationId xmlns:a16="http://schemas.microsoft.com/office/drawing/2014/main" id="{EE2113E4-E907-46B0-9588-FFEC5307AFA0}"/>
              </a:ext>
            </a:extLst>
          </p:cNvPr>
          <p:cNvSpPr txBox="1">
            <a:spLocks/>
          </p:cNvSpPr>
          <p:nvPr/>
        </p:nvSpPr>
        <p:spPr>
          <a:xfrm>
            <a:off x="3607345" y="2904869"/>
            <a:ext cx="2359251" cy="630942"/>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Name</a:t>
            </a:r>
          </a:p>
          <a:p>
            <a:pPr lvl="1" defTabSz="269868">
              <a:spcAft>
                <a:spcPts val="300"/>
              </a:spcAft>
            </a:pPr>
            <a:r>
              <a:rPr lang="en-US" sz="900" dirty="0">
                <a:solidFill>
                  <a:schemeClr val="bg1"/>
                </a:solidFill>
                <a:latin typeface="+mn-lt"/>
              </a:rPr>
              <a:t>Director, Financial Due Diligence</a:t>
            </a:r>
            <a:br>
              <a:rPr lang="en-US" sz="900" dirty="0">
                <a:solidFill>
                  <a:schemeClr val="bg1"/>
                </a:solidFill>
                <a:latin typeface="+mn-lt"/>
              </a:rPr>
            </a:br>
            <a:r>
              <a:rPr lang="en-US" sz="900" b="1" dirty="0">
                <a:solidFill>
                  <a:schemeClr val="bg1"/>
                </a:solidFill>
                <a:latin typeface="+mn-lt"/>
              </a:rPr>
              <a:t>T: </a:t>
            </a:r>
            <a:r>
              <a:rPr lang="en-US" sz="900" dirty="0">
                <a:solidFill>
                  <a:schemeClr val="bg1"/>
                </a:solidFill>
                <a:latin typeface="+mn-lt"/>
              </a:rPr>
              <a:t>+X XXX XXX XXXX</a:t>
            </a:r>
          </a:p>
          <a:p>
            <a:pPr lvl="1" defTabSz="269868">
              <a:spcAft>
                <a:spcPts val="300"/>
              </a:spcAft>
            </a:pPr>
            <a:r>
              <a:rPr lang="en-US" sz="900" b="1" dirty="0">
                <a:solidFill>
                  <a:schemeClr val="bg1"/>
                </a:solidFill>
                <a:latin typeface="+mn-lt"/>
              </a:rPr>
              <a:t>E: </a:t>
            </a:r>
            <a:r>
              <a:rPr lang="en-US" sz="900" dirty="0">
                <a:solidFill>
                  <a:schemeClr val="bg1"/>
                </a:solidFill>
                <a:latin typeface="+mn-lt"/>
              </a:rPr>
              <a:t>xxx.xxx@kpmg.xx</a:t>
            </a:r>
          </a:p>
        </p:txBody>
      </p:sp>
      <p:grpSp>
        <p:nvGrpSpPr>
          <p:cNvPr id="8" name="Group 7">
            <a:extLst>
              <a:ext uri="{FF2B5EF4-FFF2-40B4-BE49-F238E27FC236}">
                <a16:creationId xmlns:a16="http://schemas.microsoft.com/office/drawing/2014/main" id="{A7C0392D-39AF-E8D9-0E36-DDD4B7E06676}"/>
              </a:ext>
            </a:extLst>
          </p:cNvPr>
          <p:cNvGrpSpPr/>
          <p:nvPr/>
        </p:nvGrpSpPr>
        <p:grpSpPr>
          <a:xfrm>
            <a:off x="1003832" y="1987421"/>
            <a:ext cx="646825" cy="799567"/>
            <a:chOff x="998401" y="1330325"/>
            <a:chExt cx="1259681" cy="1679575"/>
          </a:xfrm>
        </p:grpSpPr>
        <p:sp>
          <p:nvSpPr>
            <p:cNvPr id="9" name="Freeform 4">
              <a:extLst>
                <a:ext uri="{FF2B5EF4-FFF2-40B4-BE49-F238E27FC236}">
                  <a16:creationId xmlns:a16="http://schemas.microsoft.com/office/drawing/2014/main" id="{C53D8E88-01FC-B795-3317-15D2D90EC8F7}"/>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10" name="Oval 36">
              <a:extLst>
                <a:ext uri="{FF2B5EF4-FFF2-40B4-BE49-F238E27FC236}">
                  <a16:creationId xmlns:a16="http://schemas.microsoft.com/office/drawing/2014/main" id="{63CA90A9-93C7-DB8D-8E5F-C018DA2F24AD}"/>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37">
              <a:extLst>
                <a:ext uri="{FF2B5EF4-FFF2-40B4-BE49-F238E27FC236}">
                  <a16:creationId xmlns:a16="http://schemas.microsoft.com/office/drawing/2014/main" id="{56CF12E5-5517-35C7-4BDD-B929408B3863}"/>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12" name="Group 11">
            <a:extLst>
              <a:ext uri="{FF2B5EF4-FFF2-40B4-BE49-F238E27FC236}">
                <a16:creationId xmlns:a16="http://schemas.microsoft.com/office/drawing/2014/main" id="{2704F684-BEED-84AD-2D42-C26CB53E5011}"/>
              </a:ext>
            </a:extLst>
          </p:cNvPr>
          <p:cNvGrpSpPr/>
          <p:nvPr/>
        </p:nvGrpSpPr>
        <p:grpSpPr>
          <a:xfrm>
            <a:off x="3604830" y="1987421"/>
            <a:ext cx="646825" cy="799567"/>
            <a:chOff x="998401" y="1330325"/>
            <a:chExt cx="1259681" cy="1679575"/>
          </a:xfrm>
        </p:grpSpPr>
        <p:sp>
          <p:nvSpPr>
            <p:cNvPr id="13" name="Freeform 4">
              <a:extLst>
                <a:ext uri="{FF2B5EF4-FFF2-40B4-BE49-F238E27FC236}">
                  <a16:creationId xmlns:a16="http://schemas.microsoft.com/office/drawing/2014/main" id="{BAA13FD8-DD9F-2F86-2A99-D3D7538A5B13}"/>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14" name="Oval 36">
              <a:extLst>
                <a:ext uri="{FF2B5EF4-FFF2-40B4-BE49-F238E27FC236}">
                  <a16:creationId xmlns:a16="http://schemas.microsoft.com/office/drawing/2014/main" id="{362BD4FB-31A4-52F8-5D83-FC744F593DF8}"/>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37">
              <a:extLst>
                <a:ext uri="{FF2B5EF4-FFF2-40B4-BE49-F238E27FC236}">
                  <a16:creationId xmlns:a16="http://schemas.microsoft.com/office/drawing/2014/main" id="{30B82F64-72E9-77B6-9448-EC9321513C46}"/>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16" name="Group 15">
            <a:extLst>
              <a:ext uri="{FF2B5EF4-FFF2-40B4-BE49-F238E27FC236}">
                <a16:creationId xmlns:a16="http://schemas.microsoft.com/office/drawing/2014/main" id="{3536CC6F-C50B-BDF1-6633-442B747CA61D}"/>
              </a:ext>
            </a:extLst>
          </p:cNvPr>
          <p:cNvGrpSpPr/>
          <p:nvPr/>
        </p:nvGrpSpPr>
        <p:grpSpPr>
          <a:xfrm>
            <a:off x="6219329" y="1987421"/>
            <a:ext cx="646825" cy="799567"/>
            <a:chOff x="998401" y="1330325"/>
            <a:chExt cx="1259681" cy="1679575"/>
          </a:xfrm>
        </p:grpSpPr>
        <p:sp>
          <p:nvSpPr>
            <p:cNvPr id="17" name="Freeform 4">
              <a:extLst>
                <a:ext uri="{FF2B5EF4-FFF2-40B4-BE49-F238E27FC236}">
                  <a16:creationId xmlns:a16="http://schemas.microsoft.com/office/drawing/2014/main" id="{DB68E65B-421F-4387-D044-4EE235C2FCC0}"/>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18" name="Oval 36">
              <a:extLst>
                <a:ext uri="{FF2B5EF4-FFF2-40B4-BE49-F238E27FC236}">
                  <a16:creationId xmlns:a16="http://schemas.microsoft.com/office/drawing/2014/main" id="{D5DC6AE9-BB19-9B5E-2DB2-83A5E1FDAF98}"/>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37">
              <a:extLst>
                <a:ext uri="{FF2B5EF4-FFF2-40B4-BE49-F238E27FC236}">
                  <a16:creationId xmlns:a16="http://schemas.microsoft.com/office/drawing/2014/main" id="{94D07AA9-B145-5C99-6977-C1DFF4A02E55}"/>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20" name="Group 19">
            <a:extLst>
              <a:ext uri="{FF2B5EF4-FFF2-40B4-BE49-F238E27FC236}">
                <a16:creationId xmlns:a16="http://schemas.microsoft.com/office/drawing/2014/main" id="{14C1A15A-5E1B-C38A-0A44-D71FF8FA02FB}"/>
              </a:ext>
            </a:extLst>
          </p:cNvPr>
          <p:cNvGrpSpPr/>
          <p:nvPr/>
        </p:nvGrpSpPr>
        <p:grpSpPr>
          <a:xfrm>
            <a:off x="8849974" y="2010994"/>
            <a:ext cx="646825" cy="799567"/>
            <a:chOff x="998401" y="1330325"/>
            <a:chExt cx="1259681" cy="1679575"/>
          </a:xfrm>
        </p:grpSpPr>
        <p:sp>
          <p:nvSpPr>
            <p:cNvPr id="21" name="Freeform 4">
              <a:extLst>
                <a:ext uri="{FF2B5EF4-FFF2-40B4-BE49-F238E27FC236}">
                  <a16:creationId xmlns:a16="http://schemas.microsoft.com/office/drawing/2014/main" id="{F7769F8E-4E69-4039-2E2D-A99C4422D976}"/>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22" name="Oval 36">
              <a:extLst>
                <a:ext uri="{FF2B5EF4-FFF2-40B4-BE49-F238E27FC236}">
                  <a16:creationId xmlns:a16="http://schemas.microsoft.com/office/drawing/2014/main" id="{4F3C0283-C4A1-A2B0-B572-D9E6091CF17F}"/>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37">
              <a:extLst>
                <a:ext uri="{FF2B5EF4-FFF2-40B4-BE49-F238E27FC236}">
                  <a16:creationId xmlns:a16="http://schemas.microsoft.com/office/drawing/2014/main" id="{02F7713B-F42A-EB99-CBF7-D02589E950B3}"/>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Tree>
    <p:extLst>
      <p:ext uri="{BB962C8B-B14F-4D97-AF65-F5344CB8AC3E}">
        <p14:creationId xmlns:p14="http://schemas.microsoft.com/office/powerpoint/2010/main" val="310396885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82C423D1-C4FD-4191-9741-6F7A7160BAFA}"/>
              </a:ext>
            </a:extLst>
          </p:cNvPr>
          <p:cNvSpPr>
            <a:spLocks noGrp="1"/>
          </p:cNvSpPr>
          <p:nvPr>
            <p:ph type="body" sz="quarter" idx="12"/>
          </p:nvPr>
        </p:nvSpPr>
        <p:spPr/>
        <p:txBody>
          <a:bodyPr/>
          <a:lstStyle/>
          <a:p>
            <a:pPr>
              <a:spcAft>
                <a:spcPts val="300"/>
              </a:spcAft>
              <a:defRPr/>
            </a:pPr>
            <a:r>
              <a:rPr kumimoji="0" lang="en-US" sz="900" b="0" i="0" u="none" strike="noStrike" kern="1200" cap="none" spc="-20" normalizeH="0" baseline="0" noProof="0" dirty="0">
                <a:ln>
                  <a:noFill/>
                </a:ln>
                <a:solidFill>
                  <a:schemeClr val="tx2"/>
                </a:solidFill>
                <a:effectLst/>
                <a:uLnTx/>
                <a:uFillTx/>
                <a:latin typeface="Arial"/>
                <a:ea typeface="+mn-ea"/>
                <a:cs typeface="+mn-cs"/>
              </a:rPr>
              <a:t>[The Directors / The Partners]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2"/>
                </a:solidFill>
                <a:effectLst/>
                <a:uLnTx/>
                <a:uFillTx/>
                <a:latin typeface="Arial"/>
                <a:ea typeface="+mn-ea"/>
                <a:cs typeface="+mn-cs"/>
              </a:rPr>
              <a:t>[Client name]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2"/>
                </a:solidFill>
                <a:effectLst/>
                <a:uLnTx/>
                <a:uFillTx/>
                <a:latin typeface="Arial"/>
                <a:ea typeface="+mn-ea"/>
                <a:cs typeface="+mn-cs"/>
              </a:rPr>
              <a:t>[Address line 1]</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2"/>
                </a:solidFill>
                <a:effectLst/>
                <a:uLnTx/>
                <a:uFillTx/>
                <a:latin typeface="Arial"/>
                <a:ea typeface="+mn-ea"/>
                <a:cs typeface="+mn-cs"/>
              </a:rPr>
              <a:t>[Address line 2]</a:t>
            </a:r>
            <a:endParaRPr kumimoji="0" lang="en-US" sz="9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8" name="Text Placeholder 8">
            <a:extLst>
              <a:ext uri="{FF2B5EF4-FFF2-40B4-BE49-F238E27FC236}">
                <a16:creationId xmlns:a16="http://schemas.microsoft.com/office/drawing/2014/main" id="{E3C7B487-3B55-4E21-AB6E-E33970B8A411}"/>
              </a:ext>
            </a:extLst>
          </p:cNvPr>
          <p:cNvSpPr>
            <a:spLocks noGrp="1"/>
          </p:cNvSpPr>
          <p:nvPr>
            <p:ph type="body" sz="quarter" idx="10"/>
          </p:nvPr>
        </p:nvSpPr>
        <p:spPr/>
        <p:txBody>
          <a:bodyPr/>
          <a:lstStyle/>
          <a:p>
            <a:r>
              <a:rPr lang="en-US" sz="900" b="0" spc="-20" dirty="0">
                <a:solidFill>
                  <a:schemeClr val="tx2"/>
                </a:solidFill>
              </a:rPr>
              <a:t>Dear [Directors / Partners]</a:t>
            </a:r>
          </a:p>
          <a:p>
            <a:r>
              <a:rPr lang="en-US" sz="900" spc="-20" dirty="0">
                <a:solidFill>
                  <a:schemeClr val="tx2"/>
                </a:solidFill>
              </a:rPr>
              <a:t>Project [Project name]</a:t>
            </a:r>
          </a:p>
          <a:p>
            <a:r>
              <a:rPr lang="en-US" sz="900" b="0" spc="-20" dirty="0">
                <a:solidFill>
                  <a:schemeClr val="tx2"/>
                </a:solidFill>
              </a:rPr>
              <a:t>In accordance with the terms of reference set out in our engagement letter dated [date] </a:t>
            </a:r>
            <a:r>
              <a:rPr lang="en-GB" sz="900" b="0" spc="-20" dirty="0">
                <a:solidFill>
                  <a:schemeClr val="tx2"/>
                </a:solidFill>
              </a:rPr>
              <a:t>[as modified by our variation letter dated [date]] </a:t>
            </a:r>
            <a:r>
              <a:rPr lang="en-US" sz="900" b="0" spc="-20" dirty="0">
                <a:solidFill>
                  <a:schemeClr val="tx2"/>
                </a:solidFill>
              </a:rPr>
              <a:t>(“Engagement Letter”), we enclose [a copy of our financial and tax due diligence report (“report”) on [Target name] (“Target”) based on the scope of work agreed with you/</a:t>
            </a:r>
            <a:r>
              <a:rPr lang="en-GB" sz="900" b="0" dirty="0">
                <a:solidFill>
                  <a:schemeClr val="tx2"/>
                </a:solidFill>
                <a:latin typeface="+mn-lt"/>
              </a:rPr>
              <a:t>our [addendum]/[update] </a:t>
            </a:r>
            <a:r>
              <a:rPr lang="en-US" sz="900" b="0" spc="-20" dirty="0">
                <a:solidFill>
                  <a:schemeClr val="tx2"/>
                </a:solidFill>
              </a:rPr>
              <a:t>financial and tax due diligence </a:t>
            </a:r>
            <a:r>
              <a:rPr lang="en-GB" sz="900" b="0" dirty="0">
                <a:solidFill>
                  <a:schemeClr val="tx2"/>
                </a:solidFill>
                <a:latin typeface="+mn-lt"/>
              </a:rPr>
              <a:t>report on [</a:t>
            </a:r>
            <a:r>
              <a:rPr lang="en-US" sz="900" b="0" spc="-20" dirty="0">
                <a:solidFill>
                  <a:schemeClr val="tx2"/>
                </a:solidFill>
              </a:rPr>
              <a:t>Target name </a:t>
            </a:r>
            <a:r>
              <a:rPr lang="en-GB" sz="900" b="0" dirty="0">
                <a:solidFill>
                  <a:schemeClr val="tx2"/>
                </a:solidFill>
                <a:latin typeface="+mn-lt"/>
              </a:rPr>
              <a:t>(‘Target’) (‘report’). The report should be read together with our confidential report on Target dated [</a:t>
            </a:r>
            <a:r>
              <a:rPr lang="en-US" sz="900" b="0" spc="-20" dirty="0">
                <a:solidFill>
                  <a:schemeClr val="tx2"/>
                </a:solidFill>
              </a:rPr>
              <a:t>date</a:t>
            </a:r>
            <a:r>
              <a:rPr lang="en-GB" sz="900" b="0" dirty="0">
                <a:solidFill>
                  <a:schemeClr val="tx2"/>
                </a:solidFill>
                <a:latin typeface="+mn-lt"/>
              </a:rPr>
              <a:t>] (the ‘Initial report’).</a:t>
            </a:r>
            <a:r>
              <a:rPr lang="en-US" sz="900" b="0" spc="-20" dirty="0">
                <a:solidFill>
                  <a:schemeClr val="tx2"/>
                </a:solidFill>
              </a:rPr>
              <a:t>] </a:t>
            </a:r>
          </a:p>
          <a:p>
            <a:r>
              <a:rPr lang="en-US" sz="900" b="0" spc="-20" dirty="0">
                <a:solidFill>
                  <a:schemeClr val="tx2"/>
                </a:solidFill>
              </a:rPr>
              <a:t>Our work [on </a:t>
            </a:r>
            <a:r>
              <a:rPr lang="en-GB" sz="900" b="0" dirty="0">
                <a:solidFill>
                  <a:schemeClr val="tx2"/>
                </a:solidFill>
                <a:latin typeface="+mn-lt"/>
              </a:rPr>
              <a:t>our [addendum]/[update] report</a:t>
            </a:r>
            <a:r>
              <a:rPr lang="en-US" sz="900" b="0" spc="-20" dirty="0">
                <a:solidFill>
                  <a:schemeClr val="tx2"/>
                </a:solidFill>
              </a:rPr>
              <a:t> commenced on [date] and our fieldwork was completed on [date]. We have not undertaken to update our report for events or circumstances arising after that date.</a:t>
            </a:r>
          </a:p>
          <a:p>
            <a:pPr lvl="1"/>
            <a:r>
              <a:rPr lang="en-GB" sz="900" i="1" dirty="0">
                <a:solidFill>
                  <a:schemeClr val="accent6"/>
                </a:solidFill>
                <a:latin typeface="+mn-lt"/>
              </a:rPr>
              <a:t>Use if the report comprises a number of volumes </a:t>
            </a:r>
            <a:r>
              <a:rPr lang="en-GB" sz="900" dirty="0">
                <a:latin typeface="+mn-lt"/>
              </a:rPr>
              <a:t>Our report comprises [  ] volumes as follows:</a:t>
            </a:r>
          </a:p>
          <a:p>
            <a:pPr marL="85725" lvl="1" indent="-85725">
              <a:spcBef>
                <a:spcPts val="0"/>
              </a:spcBef>
              <a:buFont typeface="Wingdings" pitchFamily="2" charset="2"/>
              <a:buChar char="§"/>
            </a:pPr>
            <a:r>
              <a:rPr lang="en-GB" sz="900" dirty="0">
                <a:latin typeface="+mn-lt"/>
              </a:rPr>
              <a:t>Volume 1:  [  ]</a:t>
            </a:r>
          </a:p>
          <a:p>
            <a:pPr marL="85725" lvl="1" indent="-85725">
              <a:spcBef>
                <a:spcPts val="0"/>
              </a:spcBef>
              <a:buFont typeface="Wingdings" pitchFamily="2" charset="2"/>
              <a:buChar char="§"/>
            </a:pPr>
            <a:r>
              <a:rPr lang="en-GB" sz="900" dirty="0">
                <a:latin typeface="+mn-lt"/>
              </a:rPr>
              <a:t>Volume 2:  [   ]]</a:t>
            </a:r>
          </a:p>
          <a:p>
            <a:pPr marL="85725" lvl="1" indent="-85725">
              <a:spcBef>
                <a:spcPts val="0"/>
              </a:spcBef>
            </a:pPr>
            <a:r>
              <a:rPr lang="en-GB" sz="900" dirty="0">
                <a:latin typeface="+mn-lt"/>
              </a:rPr>
              <a:t>All volumes of the report form a single report and should be read together.]</a:t>
            </a:r>
            <a:endParaRPr lang="en-GB" sz="900" dirty="0">
              <a:solidFill>
                <a:srgbClr val="FF0000"/>
              </a:solidFill>
              <a:latin typeface="+mn-lt"/>
            </a:endParaRPr>
          </a:p>
          <a:p>
            <a:pPr lvl="1"/>
            <a:r>
              <a:rPr lang="en-GB" sz="900" b="0" spc="-20" dirty="0">
                <a:solidFill>
                  <a:srgbClr val="00338D"/>
                </a:solidFill>
                <a:latin typeface="Arial" panose="020B0604020202020204" pitchFamily="34" charset="0"/>
                <a:cs typeface="Arial" panose="020B0604020202020204" pitchFamily="34" charset="0"/>
              </a:rPr>
              <a:t>[</a:t>
            </a:r>
            <a:r>
              <a:rPr lang="en-GB" sz="900" b="0" spc="-20" dirty="0"/>
              <a:t>The contents of our report have been reviewed in detail by the directors of [Company/Target] who have confirmed in writing the factual accuracy of this report.] [OR: The directors of [Company/Target] have not confirmed the factual accuracy of this report</a:t>
            </a:r>
            <a:r>
              <a:rPr lang="en-GB" sz="900" dirty="0">
                <a:solidFill>
                  <a:srgbClr val="00338D"/>
                </a:solidFill>
                <a:latin typeface="Arial" panose="020B0604020202020204" pitchFamily="34" charset="0"/>
                <a:cs typeface="Arial" panose="020B0604020202020204" pitchFamily="34" charset="0"/>
              </a:rPr>
              <a:t>. </a:t>
            </a:r>
            <a:r>
              <a:rPr lang="en-GB" sz="900" b="0" i="1" dirty="0">
                <a:solidFill>
                  <a:schemeClr val="accent6"/>
                </a:solidFill>
                <a:latin typeface="Arial" panose="020B0604020202020204" pitchFamily="34" charset="0"/>
                <a:cs typeface="Arial" panose="020B0604020202020204" pitchFamily="34" charset="0"/>
              </a:rPr>
              <a:t>Include reason why factual accuracy confirmation has not been obtained. For example:[We requested such a confirmation but the directors of the [Company/Target] refused [include reasons for refusal and set out any concerns which this has given rise to]/ We did not request such a confirmation [include reasons, for example as access was limited to information in a data room and management presentations, agreed in the engagement letter that factual accuracy wouldn't be sought.</a:t>
            </a:r>
            <a:endParaRPr lang="en-US" sz="900" b="0" spc="-20" dirty="0">
              <a:solidFill>
                <a:schemeClr val="accent6"/>
              </a:solidFill>
            </a:endParaRPr>
          </a:p>
        </p:txBody>
      </p:sp>
      <p:sp>
        <p:nvSpPr>
          <p:cNvPr id="2" name="Text Placeholder 1">
            <a:extLst>
              <a:ext uri="{FF2B5EF4-FFF2-40B4-BE49-F238E27FC236}">
                <a16:creationId xmlns:a16="http://schemas.microsoft.com/office/drawing/2014/main" id="{99F947AA-9F0B-4DB8-A94E-F96A968E72B7}"/>
              </a:ext>
            </a:extLst>
          </p:cNvPr>
          <p:cNvSpPr>
            <a:spLocks noGrp="1"/>
          </p:cNvSpPr>
          <p:nvPr>
            <p:ph type="body" sz="quarter" idx="11"/>
          </p:nvPr>
        </p:nvSpPr>
        <p:spPr>
          <a:xfrm>
            <a:off x="6220800" y="999241"/>
            <a:ext cx="4968000" cy="5096765"/>
          </a:xfrm>
        </p:spPr>
        <p:txBody>
          <a:bodyPr/>
          <a:lstStyle/>
          <a:p>
            <a:r>
              <a:rPr lang="en-GB" sz="900" b="0" spc="-20" dirty="0"/>
              <a:t>[We draw your attention to the following documents</a:t>
            </a:r>
            <a:r>
              <a:rPr lang="en-US" sz="900" b="0" spc="-20" dirty="0"/>
              <a:t> in the appendices which set out the basis and limitations of our work: / We </a:t>
            </a:r>
            <a:r>
              <a:rPr lang="en-GB" sz="900" b="0" spc="-20" dirty="0"/>
              <a:t>draw your attention to the Important Notice in the appendices of each volume and the Basis of Preparation and Scope of Work in </a:t>
            </a:r>
            <a:r>
              <a:rPr lang="en-US" sz="900" b="0" spc="-20" dirty="0"/>
              <a:t>the appendices of Volume 1 which set out the basis and limitations of our work:]</a:t>
            </a:r>
          </a:p>
          <a:p>
            <a:pPr>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GB" sz="900" b="0" spc="-20" dirty="0"/>
          </a:p>
          <a:p>
            <a:pPr marL="0" marR="0" lvl="0" indent="0" algn="l" defTabSz="914400" rtl="0" eaLnBrk="1" fontAlgn="auto" latinLnBrk="0" hangingPunct="1">
              <a:lnSpc>
                <a:spcPct val="100000"/>
              </a:lnSpc>
              <a:spcBef>
                <a:spcPts val="0"/>
              </a:spcBef>
              <a:buClrTx/>
              <a:buSzTx/>
              <a:buFontTx/>
              <a:buNone/>
              <a:tabLst/>
              <a:defRPr/>
            </a:pPr>
            <a:endParaRPr lang="en-GB" sz="900" b="0" spc="-20" dirty="0"/>
          </a:p>
          <a:p>
            <a:pPr marL="0" marR="0" lvl="0" indent="0" algn="l" defTabSz="914400" rtl="0" eaLnBrk="1" fontAlgn="auto" latinLnBrk="0" hangingPunct="1">
              <a:lnSpc>
                <a:spcPct val="100000"/>
              </a:lnSpc>
              <a:spcBef>
                <a:spcPts val="0"/>
              </a:spcBef>
              <a:buClrTx/>
              <a:buSzTx/>
              <a:buFontTx/>
              <a:buNone/>
              <a:tabLst/>
              <a:defRPr/>
            </a:pPr>
            <a:endParaRPr lang="en-GB" sz="900" b="0" spc="-20" dirty="0"/>
          </a:p>
          <a:p>
            <a:pPr marL="0" marR="0" lvl="0" indent="0" algn="l" defTabSz="914400" rtl="0" eaLnBrk="1" fontAlgn="auto" latinLnBrk="0" hangingPunct="1">
              <a:lnSpc>
                <a:spcPct val="100000"/>
              </a:lnSpc>
              <a:spcBef>
                <a:spcPts val="0"/>
              </a:spcBef>
              <a:buClrTx/>
              <a:buSzTx/>
              <a:buFontTx/>
              <a:buNone/>
              <a:tabLst/>
              <a:defRPr/>
            </a:pPr>
            <a:r>
              <a:rPr lang="en-GB" sz="900" b="0" spc="-20" dirty="0"/>
              <a:t>As stated in our Engagement Letter, you have agreed that this final written report supersedes all previous oral, draft or interim advice, reports and presentations, and that no reliance will  be placed by you on any such oral, draft or interim advice, reports or presentations other than at your own risk. </a:t>
            </a:r>
          </a:p>
          <a:p>
            <a:pPr marL="0" marR="0" lvl="0" indent="0" algn="l" defTabSz="914400" rtl="0" eaLnBrk="1" fontAlgn="auto" latinLnBrk="0" hangingPunct="1">
              <a:lnSpc>
                <a:spcPct val="100000"/>
              </a:lnSpc>
              <a:spcBef>
                <a:spcPts val="0"/>
              </a:spcBef>
              <a:buClrTx/>
              <a:buSzTx/>
              <a:buFontTx/>
              <a:buNone/>
              <a:tabLst/>
              <a:defRPr/>
            </a:pPr>
            <a:r>
              <a:rPr lang="en-US" sz="900" b="0" spc="-20" dirty="0"/>
              <a:t>You should note that our findings do not constitute recommendations to you as to whether or not you should proceed with the proposed transaction.</a:t>
            </a:r>
          </a:p>
          <a:p>
            <a:pPr>
              <a:defRPr/>
            </a:pPr>
            <a:r>
              <a:rPr lang="en-GB" sz="900" b="0" spc="-20" dirty="0"/>
              <a:t>This letter is addressed to [the  Directors/Partners] of [Client name].</a:t>
            </a:r>
            <a:endParaRPr lang="en-US" sz="900" b="0" spc="-20" dirty="0"/>
          </a:p>
          <a:p>
            <a:pPr>
              <a:defRPr/>
            </a:pPr>
            <a:r>
              <a:rPr lang="en-GB" sz="900" b="0" spc="-20" dirty="0"/>
              <a:t>It will be for any other party who has entered into an agreement with us to be bound by the terms and conditions of our Engagement Letter and who satisfies the conditions of our agreement with them (‘Other Recipients’) to whom the report may be delivered to determine to what extent the work we were called upon to undertake and the scope of our report, as defined in our Engagement Letter, are likely to satisfy their interests and needs, having regard, inter alia, to the passage of time between the date on which our report is issued and the date on which it is delivered to them, and the fact that our report will not have been updated for any events that may have occurred during that time.</a:t>
            </a:r>
          </a:p>
          <a:p>
            <a:pPr marL="0" marR="0" lvl="0" indent="0" algn="l" defTabSz="914400" rtl="0" eaLnBrk="1" fontAlgn="auto" latinLnBrk="0" hangingPunct="1">
              <a:lnSpc>
                <a:spcPct val="100000"/>
              </a:lnSpc>
              <a:spcBef>
                <a:spcPts val="0"/>
              </a:spcBef>
              <a:buClrTx/>
              <a:buSzTx/>
              <a:buFontTx/>
              <a:buNone/>
              <a:tabLst/>
              <a:defRPr/>
            </a:pPr>
            <a:r>
              <a:rPr lang="en-GB" sz="900" b="0" spc="-20" dirty="0"/>
              <a:t>Our report is for the benefit and information of the addressees of the Engagement Letter (the ‘addressees’) and Other Recipients only and should not be copied, referred to or disclosed, in whole or in part, without our prior written consent, except as specifically permitted in our Engagement Letter.  Our Scope of Work has been agreed by the addressees and to the fullest extent permitted by law, except in relation to the Other Recipients, we will not accept responsibility or liability to any other party (including the addressees’ and Other Recipients’ legal and other professional advisers) in respect of our work or the report. </a:t>
            </a:r>
          </a:p>
          <a:p>
            <a:pPr marL="0" marR="0" lvl="0" indent="0" algn="l" defTabSz="914400" rtl="0" eaLnBrk="1" fontAlgn="auto" latinLnBrk="0" hangingPunct="1">
              <a:lnSpc>
                <a:spcPct val="100000"/>
              </a:lnSpc>
              <a:spcBef>
                <a:spcPts val="0"/>
              </a:spcBef>
              <a:buClrTx/>
              <a:buSzTx/>
              <a:buFontTx/>
              <a:buNone/>
              <a:tabLst/>
              <a:defRPr/>
            </a:pPr>
            <a:r>
              <a:rPr lang="en-US" sz="900" b="0" spc="-20" dirty="0"/>
              <a:t>Yours faithfully</a:t>
            </a:r>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r>
              <a:rPr lang="en-US" sz="900" b="0" spc="-20" dirty="0">
                <a:solidFill>
                  <a:schemeClr val="tx2"/>
                </a:solidFill>
              </a:rPr>
              <a:t>KPMG [legal name]</a:t>
            </a:r>
            <a:endParaRPr lang="en-GB" sz="800" dirty="0">
              <a:solidFill>
                <a:schemeClr val="tx2"/>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FontTx/>
              <a:buNone/>
              <a:tabLst/>
              <a:defRPr/>
            </a:pPr>
            <a:endParaRPr lang="en-US" sz="900" b="0" spc="-20" dirty="0"/>
          </a:p>
        </p:txBody>
      </p:sp>
      <p:grpSp>
        <p:nvGrpSpPr>
          <p:cNvPr id="18" name="Group 17">
            <a:extLst>
              <a:ext uri="{FF2B5EF4-FFF2-40B4-BE49-F238E27FC236}">
                <a16:creationId xmlns:a16="http://schemas.microsoft.com/office/drawing/2014/main" id="{A3C72286-EA9B-4AAE-9156-A58A513506CA}"/>
              </a:ext>
            </a:extLst>
          </p:cNvPr>
          <p:cNvGrpSpPr/>
          <p:nvPr/>
        </p:nvGrpSpPr>
        <p:grpSpPr>
          <a:xfrm>
            <a:off x="6225647" y="1617300"/>
            <a:ext cx="1116000" cy="720000"/>
            <a:chOff x="1003200" y="5297366"/>
            <a:chExt cx="1116000" cy="720000"/>
          </a:xfrm>
        </p:grpSpPr>
        <p:sp>
          <p:nvSpPr>
            <p:cNvPr id="20" name="TextBox 19">
              <a:extLst>
                <a:ext uri="{FF2B5EF4-FFF2-40B4-BE49-F238E27FC236}">
                  <a16:creationId xmlns:a16="http://schemas.microsoft.com/office/drawing/2014/main" id="{63D5CB83-A142-4147-B326-A89BAF7E7D2E}"/>
                </a:ext>
              </a:extLst>
            </p:cNvPr>
            <p:cNvSpPr txBox="1">
              <a:spLocks/>
            </p:cNvSpPr>
            <p:nvPr/>
          </p:nvSpPr>
          <p:spPr>
            <a:xfrm>
              <a:off x="1003200"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Important notice</a:t>
              </a:r>
            </a:p>
          </p:txBody>
        </p:sp>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6B544F89-96E4-40B5-B54D-C77DDA8D6BB2}"/>
                    </a:ext>
                  </a:extLst>
                </p:cNvPr>
                <p:cNvGraphicFramePr>
                  <a:graphicFrameLocks noChangeAspect="1"/>
                </p:cNvGraphicFramePr>
                <p:nvPr>
                  <p:extLst>
                    <p:ext uri="{D42A27DB-BD31-4B8C-83A1-F6EECF244321}">
                      <p14:modId xmlns:p14="http://schemas.microsoft.com/office/powerpoint/2010/main" val="4294062324"/>
                    </p:ext>
                  </p:extLst>
                </p:nvPr>
              </p:nvGraphicFramePr>
              <p:xfrm>
                <a:off x="1003200" y="5465010"/>
                <a:ext cx="1044000" cy="552356"/>
              </p:xfrm>
              <a:graphic>
                <a:graphicData uri="http://schemas.microsoft.com/office/powerpoint/2016/slidezoom">
                  <pslz:sldZm>
                    <pslz:sldZmObj sldId="651" cId="1704508770">
                      <pslz:zmPr id="{F9C56CDC-E3FD-427F-8724-AAFEB9A1587A}" returnToParent="0" transitionDur="1000">
                        <p166:blipFill xmlns:p166="http://schemas.microsoft.com/office/powerpoint/2016/6/main">
                          <a:blip r:embed="rId5"/>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0DE640F1-835E-4659-792C-7A2413E0D1D6}"/>
                    </a:ext>
                  </a:extLst>
                </p:cNvPr>
                <p:cNvPicPr>
                  <a:picLocks noGrp="1" noRot="1" noChangeAspect="1" noMove="1" noResize="1" noEditPoints="1" noAdjustHandles="1" noChangeArrowheads="1" noChangeShapeType="1"/>
                </p:cNvPicPr>
                <p:nvPr/>
              </p:nvPicPr>
              <p:blipFill>
                <a:blip r:embed="rId8"/>
                <a:stretch>
                  <a:fillRect/>
                </a:stretch>
              </p:blipFill>
              <p:spPr>
                <a:xfrm>
                  <a:off x="1003200" y="5419290"/>
                  <a:ext cx="1044000" cy="552356"/>
                </a:xfrm>
                <a:prstGeom prst="rect">
                  <a:avLst/>
                </a:prstGeom>
                <a:ln w="12700">
                  <a:solidFill>
                    <a:schemeClr val="tx2"/>
                  </a:solidFill>
                </a:ln>
              </p:spPr>
            </p:pic>
          </mc:Fallback>
        </mc:AlternateContent>
      </p:grpSp>
      <p:grpSp>
        <p:nvGrpSpPr>
          <p:cNvPr id="22" name="Group 21">
            <a:extLst>
              <a:ext uri="{FF2B5EF4-FFF2-40B4-BE49-F238E27FC236}">
                <a16:creationId xmlns:a16="http://schemas.microsoft.com/office/drawing/2014/main" id="{564C478A-8F6C-445D-958B-5D8FB32122B1}"/>
              </a:ext>
            </a:extLst>
          </p:cNvPr>
          <p:cNvGrpSpPr/>
          <p:nvPr/>
        </p:nvGrpSpPr>
        <p:grpSpPr>
          <a:xfrm>
            <a:off x="7983205" y="1617300"/>
            <a:ext cx="1116000" cy="720000"/>
            <a:chOff x="2651662" y="5297366"/>
            <a:chExt cx="1116000" cy="720000"/>
          </a:xfrm>
        </p:grpSpPr>
        <p:sp>
          <p:nvSpPr>
            <p:cNvPr id="23" name="TextBox 22">
              <a:extLst>
                <a:ext uri="{FF2B5EF4-FFF2-40B4-BE49-F238E27FC236}">
                  <a16:creationId xmlns:a16="http://schemas.microsoft.com/office/drawing/2014/main" id="{7C8AA607-C57A-498F-8165-25C94A7DC98D}"/>
                </a:ext>
              </a:extLst>
            </p:cNvPr>
            <p:cNvSpPr txBox="1">
              <a:spLocks/>
            </p:cNvSpPr>
            <p:nvPr/>
          </p:nvSpPr>
          <p:spPr>
            <a:xfrm>
              <a:off x="2651662"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Basis of preparation</a:t>
              </a:r>
            </a:p>
          </p:txBody>
        </p:sp>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AC620355-2418-4B9E-8767-15A0C606C209}"/>
                    </a:ext>
                  </a:extLst>
                </p:cNvPr>
                <p:cNvGraphicFramePr>
                  <a:graphicFrameLocks noChangeAspect="1"/>
                </p:cNvGraphicFramePr>
                <p:nvPr>
                  <p:extLst>
                    <p:ext uri="{D42A27DB-BD31-4B8C-83A1-F6EECF244321}">
                      <p14:modId xmlns:p14="http://schemas.microsoft.com/office/powerpoint/2010/main" val="3473464327"/>
                    </p:ext>
                  </p:extLst>
                </p:nvPr>
              </p:nvGraphicFramePr>
              <p:xfrm>
                <a:off x="2651662" y="5465010"/>
                <a:ext cx="1044000" cy="552356"/>
              </p:xfrm>
              <a:graphic>
                <a:graphicData uri="http://schemas.microsoft.com/office/powerpoint/2016/slidezoom">
                  <pslz:sldZm>
                    <pslz:sldZmObj sldId="652" cId="2125338827">
                      <pslz:zmPr id="{AF5F6EAF-5FE8-4BA0-A00C-8C47EAD362A5}" returnToParent="0" transitionDur="1000">
                        <p166:blipFill xmlns:p166="http://schemas.microsoft.com/office/powerpoint/2016/6/main">
                          <a:blip r:embed="rId9"/>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24" name="Slide Zoom 23">
                  <a:hlinkClick r:id="rId10" action="ppaction://hlinksldjump"/>
                  <a:extLst>
                    <a:ext uri="{FF2B5EF4-FFF2-40B4-BE49-F238E27FC236}">
                      <a16:creationId xmlns:a16="http://schemas.microsoft.com/office/drawing/2014/main" id="{AC620355-2418-4B9E-8767-15A0C606C209}"/>
                    </a:ext>
                  </a:extLst>
                </p:cNvPr>
                <p:cNvPicPr>
                  <a:picLocks noGrp="1" noRot="1" noChangeAspect="1" noMove="1" noResize="1" noEditPoints="1" noAdjustHandles="1" noChangeArrowheads="1" noChangeShapeType="1"/>
                </p:cNvPicPr>
                <p:nvPr/>
              </p:nvPicPr>
              <p:blipFill>
                <a:blip r:embed="rId11"/>
                <a:stretch>
                  <a:fillRect/>
                </a:stretch>
              </p:blipFill>
              <p:spPr>
                <a:xfrm>
                  <a:off x="2760758" y="5044662"/>
                  <a:ext cx="1044000" cy="552356"/>
                </a:xfrm>
                <a:prstGeom prst="rect">
                  <a:avLst/>
                </a:prstGeom>
                <a:ln w="12700">
                  <a:solidFill>
                    <a:schemeClr val="tx2"/>
                  </a:solidFill>
                </a:ln>
              </p:spPr>
            </p:pic>
          </mc:Fallback>
        </mc:AlternateContent>
      </p:grpSp>
      <p:grpSp>
        <p:nvGrpSpPr>
          <p:cNvPr id="25" name="Group 24">
            <a:extLst>
              <a:ext uri="{FF2B5EF4-FFF2-40B4-BE49-F238E27FC236}">
                <a16:creationId xmlns:a16="http://schemas.microsoft.com/office/drawing/2014/main" id="{75C9DCB0-7BED-4AC9-BA48-8E6E809D4979}"/>
              </a:ext>
            </a:extLst>
          </p:cNvPr>
          <p:cNvGrpSpPr/>
          <p:nvPr/>
        </p:nvGrpSpPr>
        <p:grpSpPr>
          <a:xfrm>
            <a:off x="9740763" y="1617300"/>
            <a:ext cx="1116000" cy="720000"/>
            <a:chOff x="4300123" y="5297366"/>
            <a:chExt cx="1116000" cy="720000"/>
          </a:xfrm>
        </p:grpSpPr>
        <p:sp>
          <p:nvSpPr>
            <p:cNvPr id="26" name="TextBox 25">
              <a:extLst>
                <a:ext uri="{FF2B5EF4-FFF2-40B4-BE49-F238E27FC236}">
                  <a16:creationId xmlns:a16="http://schemas.microsoft.com/office/drawing/2014/main" id="{98BAD410-8729-45A4-A6A5-9462CBC81F57}"/>
                </a:ext>
              </a:extLst>
            </p:cNvPr>
            <p:cNvSpPr txBox="1">
              <a:spLocks/>
            </p:cNvSpPr>
            <p:nvPr/>
          </p:nvSpPr>
          <p:spPr>
            <a:xfrm>
              <a:off x="4300123"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Scope of work</a:t>
              </a:r>
            </a:p>
          </p:txBody>
        </p:sp>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CF51DB96-6C48-4570-9615-B1291150067F}"/>
                    </a:ext>
                  </a:extLst>
                </p:cNvPr>
                <p:cNvGraphicFramePr>
                  <a:graphicFrameLocks noChangeAspect="1"/>
                </p:cNvGraphicFramePr>
                <p:nvPr>
                  <p:extLst>
                    <p:ext uri="{D42A27DB-BD31-4B8C-83A1-F6EECF244321}">
                      <p14:modId xmlns:p14="http://schemas.microsoft.com/office/powerpoint/2010/main" val="1669512429"/>
                    </p:ext>
                  </p:extLst>
                </p:nvPr>
              </p:nvGraphicFramePr>
              <p:xfrm>
                <a:off x="4300123" y="5465010"/>
                <a:ext cx="1044000" cy="552356"/>
              </p:xfrm>
              <a:graphic>
                <a:graphicData uri="http://schemas.microsoft.com/office/powerpoint/2016/slidezoom">
                  <pslz:sldZm>
                    <pslz:sldZmObj sldId="691" cId="4137788745">
                      <pslz:zmPr id="{C41F5FBB-A759-4175-91D4-9D7249D3EE95}" returnToParent="0" transitionDur="1000">
                        <p166:blipFill xmlns:p166="http://schemas.microsoft.com/office/powerpoint/2016/6/main">
                          <a:blip r:embed="rId12"/>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17" name="Slide Zoom 16">
                  <a:hlinkClick r:id="rId13" action="ppaction://hlinksldjump"/>
                  <a:extLst>
                    <a:ext uri="{FF2B5EF4-FFF2-40B4-BE49-F238E27FC236}">
                      <a16:creationId xmlns:a16="http://schemas.microsoft.com/office/drawing/2014/main" id="{8462D4A4-79FA-CAD8-47B5-BFE45774FCC4}"/>
                    </a:ext>
                  </a:extLst>
                </p:cNvPr>
                <p:cNvPicPr>
                  <a:picLocks noGrp="1" noRot="1" noChangeAspect="1" noMove="1" noResize="1" noEditPoints="1" noAdjustHandles="1" noChangeArrowheads="1" noChangeShapeType="1"/>
                </p:cNvPicPr>
                <p:nvPr/>
              </p:nvPicPr>
              <p:blipFill>
                <a:blip r:embed="rId14"/>
                <a:stretch>
                  <a:fillRect/>
                </a:stretch>
              </p:blipFill>
              <p:spPr>
                <a:xfrm>
                  <a:off x="4300123" y="5419290"/>
                  <a:ext cx="1044000" cy="552356"/>
                </a:xfrm>
                <a:prstGeom prst="rect">
                  <a:avLst/>
                </a:prstGeom>
                <a:ln w="12700">
                  <a:solidFill>
                    <a:schemeClr val="tx2"/>
                  </a:solidFill>
                </a:ln>
              </p:spPr>
            </p:pic>
          </mc:Fallback>
        </mc:AlternateContent>
      </p:grpSp>
      <p:sp>
        <p:nvSpPr>
          <p:cNvPr id="29" name="Rectangle 28">
            <a:extLst>
              <a:ext uri="{FF2B5EF4-FFF2-40B4-BE49-F238E27FC236}">
                <a16:creationId xmlns:a16="http://schemas.microsoft.com/office/drawing/2014/main" id="{57AA51A1-D707-40A8-93EB-75004F37EF4B}"/>
              </a:ext>
            </a:extLst>
          </p:cNvPr>
          <p:cNvSpPr/>
          <p:nvPr/>
        </p:nvSpPr>
        <p:spPr>
          <a:xfrm>
            <a:off x="7629798" y="126356"/>
            <a:ext cx="3552986" cy="541174"/>
          </a:xfrm>
          <a:prstGeom prst="rect">
            <a:avLst/>
          </a:prstGeom>
          <a:solidFill>
            <a:schemeClr val="bg1"/>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spAutoFit/>
          </a:bodyPr>
          <a:lstStyle/>
          <a:p>
            <a:pPr algn="ctr"/>
            <a:r>
              <a:rPr lang="en-GB" sz="1400" b="1" dirty="0">
                <a:solidFill>
                  <a:schemeClr val="accent6"/>
                </a:solidFill>
              </a:rPr>
              <a:t>BUYSIDE DD REPORT TRANSMITTAL LETTER – AOR</a:t>
            </a:r>
          </a:p>
        </p:txBody>
      </p:sp>
      <p:sp>
        <p:nvSpPr>
          <p:cNvPr id="30" name="Text Placeholder 1">
            <a:extLst>
              <a:ext uri="{FF2B5EF4-FFF2-40B4-BE49-F238E27FC236}">
                <a16:creationId xmlns:a16="http://schemas.microsoft.com/office/drawing/2014/main" id="{C6294BAF-1516-465E-863A-A410011D6E6A}"/>
              </a:ext>
            </a:extLst>
          </p:cNvPr>
          <p:cNvSpPr txBox="1">
            <a:spLocks/>
          </p:cNvSpPr>
          <p:nvPr/>
        </p:nvSpPr>
        <p:spPr>
          <a:xfrm>
            <a:off x="3318758" y="1332698"/>
            <a:ext cx="2652442" cy="31019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r">
              <a:spcAft>
                <a:spcPts val="300"/>
              </a:spcAft>
              <a:defRPr/>
            </a:pPr>
            <a:r>
              <a:rPr lang="en-US" sz="900" b="0" spc="-20" dirty="0">
                <a:solidFill>
                  <a:srgbClr val="00338D"/>
                </a:solidFill>
                <a:latin typeface="Arial"/>
              </a:rPr>
              <a:t>[</a:t>
            </a:r>
            <a:r>
              <a:rPr lang="en-US" sz="900" b="0" spc="-20" dirty="0">
                <a:solidFill>
                  <a:schemeClr val="tx2"/>
                </a:solidFill>
                <a:latin typeface="Arial"/>
              </a:rPr>
              <a:t>date</a:t>
            </a:r>
            <a:r>
              <a:rPr lang="en-US" sz="900" b="0" spc="-20" dirty="0">
                <a:solidFill>
                  <a:srgbClr val="00338D"/>
                </a:solidFill>
                <a:latin typeface="Arial"/>
              </a:rPr>
              <a:t>]</a:t>
            </a:r>
          </a:p>
        </p:txBody>
      </p:sp>
      <p:sp>
        <p:nvSpPr>
          <p:cNvPr id="31" name="Text Box 17">
            <a:extLst>
              <a:ext uri="{FF2B5EF4-FFF2-40B4-BE49-F238E27FC236}">
                <a16:creationId xmlns:a16="http://schemas.microsoft.com/office/drawing/2014/main" id="{A8C3135A-2DD3-4FB6-8309-714C04102DD2}"/>
              </a:ext>
            </a:extLst>
          </p:cNvPr>
          <p:cNvSpPr txBox="1">
            <a:spLocks noChangeArrowheads="1"/>
          </p:cNvSpPr>
          <p:nvPr/>
        </p:nvSpPr>
        <p:spPr bwMode="gray">
          <a:xfrm>
            <a:off x="83109" y="6351838"/>
            <a:ext cx="838200" cy="463846"/>
          </a:xfrm>
          <a:prstGeom prst="rect">
            <a:avLst/>
          </a:prstGeom>
          <a:solidFill>
            <a:schemeClr val="accent6"/>
          </a:solidFill>
          <a:ln w="6350">
            <a:solidFill>
              <a:schemeClr val="accent6"/>
            </a:solidFill>
            <a:miter lim="800000"/>
            <a:headEnd/>
            <a:tailEnd/>
          </a:ln>
          <a:effectLst/>
        </p:spPr>
        <p:txBody>
          <a:bodyPr lIns="93600" tIns="46800" rIns="93600" bIns="46800">
            <a:spAutoFit/>
          </a:bodyPr>
          <a:lstStyle/>
          <a:p>
            <a:pPr algn="ctr" defTabSz="762000" eaLnBrk="0" hangingPunct="0">
              <a:buClr>
                <a:srgbClr val="003399"/>
              </a:buClr>
              <a:buFont typeface="Times New Roman" pitchFamily="18" charset="0"/>
              <a:buNone/>
            </a:pPr>
            <a:r>
              <a:rPr lang="en-GB" sz="600" b="1" dirty="0">
                <a:solidFill>
                  <a:schemeClr val="bg1"/>
                </a:solidFill>
                <a:latin typeface="Arial" panose="020B0604020202020204" pitchFamily="34" charset="0"/>
                <a:cs typeface="Arial" panose="020B0604020202020204" pitchFamily="34" charset="0"/>
              </a:rPr>
              <a:t>[insert KPMG footer for relevant country]</a:t>
            </a:r>
          </a:p>
          <a:p>
            <a:pPr algn="ctr" defTabSz="762000" eaLnBrk="0" hangingPunct="0">
              <a:buClr>
                <a:srgbClr val="003399"/>
              </a:buClr>
              <a:buFont typeface="Times New Roman" pitchFamily="18" charset="0"/>
              <a:buNone/>
            </a:pPr>
            <a:r>
              <a:rPr lang="en-GB" sz="600" dirty="0">
                <a:solidFill>
                  <a:schemeClr val="bg1"/>
                </a:solidFill>
                <a:latin typeface="Arial" panose="020B0604020202020204" pitchFamily="34" charset="0"/>
                <a:cs typeface="Arial" panose="020B0604020202020204" pitchFamily="34" charset="0"/>
              </a:rPr>
              <a:t>Arial </a:t>
            </a:r>
            <a:r>
              <a:rPr lang="en-GB" sz="600" b="1" dirty="0">
                <a:solidFill>
                  <a:schemeClr val="bg1"/>
                </a:solidFill>
                <a:latin typeface="Arial" panose="020B0604020202020204" pitchFamily="34" charset="0"/>
                <a:cs typeface="Arial" panose="020B0604020202020204" pitchFamily="34" charset="0"/>
              </a:rPr>
              <a:t>5pt</a:t>
            </a:r>
            <a:r>
              <a:rPr lang="en-GB" sz="60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71225785"/>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C5B3AE0C-2954-4477-9877-CB68E1F9EF96}"/>
              </a:ext>
            </a:extLst>
          </p:cNvPr>
          <p:cNvSpPr>
            <a:spLocks noGrp="1"/>
          </p:cNvSpPr>
          <p:nvPr>
            <p:ph type="body" sz="quarter" idx="12"/>
          </p:nvPr>
        </p:nvSpPr>
        <p:spPr>
          <a:xfrm>
            <a:off x="1009215" y="1332698"/>
            <a:ext cx="3945961" cy="750665"/>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The Directors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Purchaser Party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(as defined in the engagement letter dated </a:t>
            </a:r>
            <a:r>
              <a:rPr kumimoji="0" lang="en-US" sz="900" b="0" i="0" u="none" strike="noStrike" kern="1200" cap="none" spc="-20" normalizeH="0" baseline="0" noProof="0" dirty="0">
                <a:ln>
                  <a:noFill/>
                </a:ln>
                <a:solidFill>
                  <a:srgbClr val="000000"/>
                </a:solidFill>
                <a:effectLst/>
                <a:uLnTx/>
                <a:uFillTx/>
                <a:latin typeface="Arial"/>
                <a:ea typeface="+mn-ea"/>
                <a:cs typeface="+mn-cs"/>
              </a:rPr>
              <a:t>[</a:t>
            </a:r>
            <a:r>
              <a:rPr kumimoji="0" lang="en-US" sz="900" b="0" i="0" u="none" strike="noStrike" kern="1200" cap="none" spc="-20" normalizeH="0" baseline="0" noProof="0" dirty="0">
                <a:ln>
                  <a:noFill/>
                </a:ln>
                <a:solidFill>
                  <a:schemeClr val="tx2"/>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a:t>
            </a:r>
            <a:r>
              <a:rPr kumimoji="0" lang="en-US" sz="900" b="0" i="0" u="none" strike="noStrike" kern="1200" cap="none" spc="-20" normalizeH="0" baseline="0" noProof="0" dirty="0">
                <a:ln>
                  <a:noFill/>
                </a:ln>
                <a:solidFill>
                  <a:srgbClr val="00338D"/>
                </a:solidFill>
                <a:effectLst/>
                <a:uLnTx/>
                <a:uFillTx/>
                <a:latin typeface="Arial"/>
                <a:ea typeface="+mn-ea"/>
                <a:cs typeface="+mn-cs"/>
              </a:rPr>
              <a:t>attached in the appendices)</a:t>
            </a:r>
          </a:p>
        </p:txBody>
      </p:sp>
      <p:sp>
        <p:nvSpPr>
          <p:cNvPr id="8" name="Text Placeholder 8">
            <a:extLst>
              <a:ext uri="{FF2B5EF4-FFF2-40B4-BE49-F238E27FC236}">
                <a16:creationId xmlns:a16="http://schemas.microsoft.com/office/drawing/2014/main" id="{8FEE91B1-9277-4A49-B24D-D0DEB8DD7E73}"/>
              </a:ext>
            </a:extLst>
          </p:cNvPr>
          <p:cNvSpPr>
            <a:spLocks noGrp="1"/>
          </p:cNvSpPr>
          <p:nvPr>
            <p:ph type="body" sz="quarter" idx="10"/>
          </p:nvPr>
        </p:nvSpPr>
        <p:spPr/>
        <p:txBody>
          <a:bodyPr/>
          <a:lstStyle/>
          <a:p>
            <a:pPr>
              <a:spcAft>
                <a:spcPts val="300"/>
              </a:spcAft>
            </a:pPr>
            <a:r>
              <a:rPr lang="en-US" sz="900" b="0" spc="-20" dirty="0">
                <a:solidFill>
                  <a:schemeClr val="tx2"/>
                </a:solidFill>
              </a:rPr>
              <a:t>Dear Directors </a:t>
            </a:r>
          </a:p>
          <a:p>
            <a:pPr>
              <a:spcAft>
                <a:spcPts val="300"/>
              </a:spcAft>
            </a:pPr>
            <a:r>
              <a:rPr lang="en-US" sz="900" spc="-20" dirty="0">
                <a:solidFill>
                  <a:schemeClr val="tx2"/>
                </a:solidFill>
              </a:rPr>
              <a:t>Project [Project name] </a:t>
            </a:r>
          </a:p>
          <a:p>
            <a:r>
              <a:rPr lang="en-US" sz="900" b="0" spc="-20" dirty="0">
                <a:solidFill>
                  <a:schemeClr val="tx2"/>
                </a:solidFill>
              </a:rPr>
              <a:t>In accordance with the terms of reference set out in our engagement letter dated [date] </a:t>
            </a:r>
            <a:r>
              <a:rPr lang="en-GB" sz="900" b="0" spc="-20" dirty="0">
                <a:solidFill>
                  <a:schemeClr val="tx2"/>
                </a:solidFill>
              </a:rPr>
              <a:t>[as modified by our variation letter dated [date]] </a:t>
            </a:r>
            <a:r>
              <a:rPr lang="en-US" sz="900" b="0" spc="-20" dirty="0">
                <a:solidFill>
                  <a:schemeClr val="tx2"/>
                </a:solidFill>
              </a:rPr>
              <a:t>(“Engagement Letter”), we enclose [a copy of our financial and tax due diligence report (“report”) on [Target name] (“Target”)/</a:t>
            </a:r>
            <a:r>
              <a:rPr lang="en-GB" sz="900" b="0" dirty="0">
                <a:solidFill>
                  <a:schemeClr val="tx2"/>
                </a:solidFill>
                <a:latin typeface="+mn-lt"/>
              </a:rPr>
              <a:t>our [addendum]/[update] report on [Target Limited (‘Target’) (the ‘report’). The report should be read together with our confidential report on Target dated [   ] (the ‘Initial report’).</a:t>
            </a:r>
            <a:r>
              <a:rPr lang="en-US" sz="900" b="0" spc="-20" dirty="0">
                <a:solidFill>
                  <a:schemeClr val="tx2"/>
                </a:solidFill>
              </a:rPr>
              <a:t>] The Engagement Letter attached in the appendices to this report sets out the agreed scope of our enquiries as agreed with [Vendor].</a:t>
            </a:r>
          </a:p>
          <a:p>
            <a:r>
              <a:rPr lang="en-US" sz="900" b="0" spc="-20" dirty="0">
                <a:solidFill>
                  <a:schemeClr val="tx2"/>
                </a:solidFill>
              </a:rPr>
              <a:t>Our work [on </a:t>
            </a:r>
            <a:r>
              <a:rPr lang="en-GB" sz="900" b="0" dirty="0">
                <a:solidFill>
                  <a:schemeClr val="tx2"/>
                </a:solidFill>
                <a:latin typeface="+mn-lt"/>
              </a:rPr>
              <a:t>our [addendum]/[update] report</a:t>
            </a:r>
            <a:r>
              <a:rPr lang="en-US" sz="900" b="0" spc="-20" dirty="0">
                <a:solidFill>
                  <a:schemeClr val="tx2"/>
                </a:solidFill>
              </a:rPr>
              <a:t> commenced on [date] and our fieldwork was completed on [date]. We have not undertaken to update our report for events or circumstances arising after that date.</a:t>
            </a:r>
          </a:p>
          <a:p>
            <a:pPr lvl="1"/>
            <a:r>
              <a:rPr lang="en-GB" sz="900" i="1" dirty="0">
                <a:solidFill>
                  <a:schemeClr val="accent6"/>
                </a:solidFill>
                <a:latin typeface="+mn-lt"/>
              </a:rPr>
              <a:t>Use if the report comprises a number of volumes </a:t>
            </a:r>
            <a:r>
              <a:rPr lang="en-GB" sz="900" dirty="0">
                <a:latin typeface="+mn-lt"/>
              </a:rPr>
              <a:t>Our report comprises [  ] volumes as follows:</a:t>
            </a:r>
          </a:p>
          <a:p>
            <a:pPr marL="85725" lvl="1" indent="-85725">
              <a:spcBef>
                <a:spcPts val="0"/>
              </a:spcBef>
              <a:buFont typeface="Wingdings" pitchFamily="2" charset="2"/>
              <a:buChar char="§"/>
            </a:pPr>
            <a:r>
              <a:rPr lang="en-GB" sz="900" dirty="0">
                <a:latin typeface="+mn-lt"/>
              </a:rPr>
              <a:t>Volume 1:  [  ]</a:t>
            </a:r>
          </a:p>
          <a:p>
            <a:pPr marL="85725" lvl="1" indent="-85725">
              <a:spcBef>
                <a:spcPts val="0"/>
              </a:spcBef>
              <a:buFont typeface="Wingdings" pitchFamily="2" charset="2"/>
              <a:buChar char="§"/>
            </a:pPr>
            <a:r>
              <a:rPr lang="en-GB" sz="900" dirty="0">
                <a:latin typeface="+mn-lt"/>
              </a:rPr>
              <a:t>Volume 2:  [   ]]</a:t>
            </a:r>
          </a:p>
          <a:p>
            <a:pPr marL="85725" lvl="1" indent="-85725">
              <a:spcBef>
                <a:spcPts val="0"/>
              </a:spcBef>
            </a:pPr>
            <a:r>
              <a:rPr lang="en-GB" sz="900" dirty="0">
                <a:latin typeface="+mn-lt"/>
              </a:rPr>
              <a:t>All volumes of the report form a single report and should be read together.]</a:t>
            </a:r>
            <a:endParaRPr lang="en-GB" sz="900" dirty="0">
              <a:solidFill>
                <a:srgbClr val="FF0000"/>
              </a:solidFill>
              <a:latin typeface="+mn-lt"/>
            </a:endParaRPr>
          </a:p>
          <a:p>
            <a:pPr>
              <a:spcAft>
                <a:spcPts val="300"/>
              </a:spcAft>
              <a:defRPr/>
            </a:pPr>
            <a:r>
              <a:rPr lang="en-GB" sz="900" b="0" spc="-20" dirty="0">
                <a:solidFill>
                  <a:srgbClr val="00338D"/>
                </a:solidFill>
                <a:latin typeface="Arial" panose="020B0604020202020204" pitchFamily="34" charset="0"/>
                <a:cs typeface="Arial" panose="020B0604020202020204" pitchFamily="34" charset="0"/>
              </a:rPr>
              <a:t>[</a:t>
            </a:r>
            <a:r>
              <a:rPr lang="en-GB" sz="900" b="0" spc="-20" dirty="0"/>
              <a:t>The contents of our report have been reviewed in detail by the directors of [Company/Target] who have confirmed in writing the factual accuracy of this report.] </a:t>
            </a:r>
          </a:p>
          <a:p>
            <a:pPr>
              <a:spcAft>
                <a:spcPts val="300"/>
              </a:spcAft>
              <a:defRPr/>
            </a:pPr>
            <a:endParaRPr lang="en-US" sz="900" b="0" spc="-20" dirty="0"/>
          </a:p>
        </p:txBody>
      </p:sp>
      <p:sp>
        <p:nvSpPr>
          <p:cNvPr id="2" name="Text Placeholder 1">
            <a:extLst>
              <a:ext uri="{FF2B5EF4-FFF2-40B4-BE49-F238E27FC236}">
                <a16:creationId xmlns:a16="http://schemas.microsoft.com/office/drawing/2014/main" id="{34CDC662-C685-459A-B875-05B350D6DD6F}"/>
              </a:ext>
            </a:extLst>
          </p:cNvPr>
          <p:cNvSpPr>
            <a:spLocks noGrp="1"/>
          </p:cNvSpPr>
          <p:nvPr>
            <p:ph type="body" sz="quarter" idx="11"/>
          </p:nvPr>
        </p:nvSpPr>
        <p:spPr>
          <a:xfrm>
            <a:off x="6220800" y="2685336"/>
            <a:ext cx="4968000" cy="2731682"/>
          </a:xfrm>
        </p:spPr>
        <p:txBody>
          <a:bodyPr/>
          <a:lstStyle/>
          <a:p>
            <a:pPr marL="0" marR="0" lvl="0" indent="0" algn="l" defTabSz="914400" rtl="0" eaLnBrk="1" fontAlgn="auto" latinLnBrk="0" hangingPunct="1">
              <a:lnSpc>
                <a:spcPct val="100000"/>
              </a:lnSpc>
              <a:spcBef>
                <a:spcPts val="0"/>
              </a:spcBef>
              <a:buClrTx/>
              <a:buSzTx/>
              <a:buFontTx/>
              <a:buNone/>
              <a:tabLst/>
              <a:defRPr/>
            </a:pPr>
            <a:r>
              <a:rPr lang="en-GB" sz="900" b="0" spc="-20" dirty="0"/>
              <a:t>[We draw your attention to the following documents</a:t>
            </a:r>
            <a:r>
              <a:rPr lang="en-US" sz="900" b="0" spc="-20" dirty="0"/>
              <a:t> in the appendices which set out the basis and limitations of our work: / We </a:t>
            </a:r>
            <a:r>
              <a:rPr lang="en-GB" sz="900" b="0" spc="-20" dirty="0"/>
              <a:t>draw your attention to the Important Notice in the appendices of each volume and the Basis of Preparation and Scope of Work in </a:t>
            </a:r>
            <a:r>
              <a:rPr lang="en-US" sz="900" b="0" spc="-20" dirty="0"/>
              <a:t>the appendices of Volume 1 which set out the basis and limitations of our work:]</a:t>
            </a:r>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endParaRPr lang="en-US" sz="900" b="0" spc="-20" dirty="0"/>
          </a:p>
          <a:p>
            <a:pPr marL="0" marR="0" lvl="0" indent="0" algn="l" defTabSz="914400" rtl="0" eaLnBrk="1" fontAlgn="auto" latinLnBrk="0" hangingPunct="1">
              <a:lnSpc>
                <a:spcPct val="100000"/>
              </a:lnSpc>
              <a:spcBef>
                <a:spcPts val="0"/>
              </a:spcBef>
              <a:buClrTx/>
              <a:buSzTx/>
              <a:buFontTx/>
              <a:buNone/>
              <a:tabLst/>
              <a:defRPr/>
            </a:pPr>
            <a:r>
              <a:rPr lang="en-US" sz="900" b="0" spc="-20" dirty="0"/>
              <a:t>You should note that our findings do not constitute recommendations to you as to whether or not you should proceed with the proposed transaction.</a:t>
            </a:r>
          </a:p>
          <a:p>
            <a:pPr marL="0" marR="0" lvl="0" indent="0" algn="l" defTabSz="914400" rtl="0" eaLnBrk="1" fontAlgn="auto" latinLnBrk="0" hangingPunct="1">
              <a:lnSpc>
                <a:spcPct val="100000"/>
              </a:lnSpc>
              <a:spcBef>
                <a:spcPts val="0"/>
              </a:spcBef>
              <a:buClrTx/>
              <a:buSzTx/>
              <a:buFontTx/>
              <a:buNone/>
              <a:tabLst/>
              <a:defRPr/>
            </a:pPr>
            <a:r>
              <a:rPr lang="en-US" sz="900" b="0" spc="-20" dirty="0"/>
              <a:t>Our report is for the benefit and information only of those Purchaser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Purchaser Parties’ legal and other professional advisers) in respect of our work or the report. </a:t>
            </a:r>
          </a:p>
          <a:p>
            <a:pPr marL="0" marR="0" lvl="0" indent="0" algn="l" defTabSz="914400" rtl="0" eaLnBrk="1" fontAlgn="auto" latinLnBrk="0" hangingPunct="1">
              <a:lnSpc>
                <a:spcPct val="100000"/>
              </a:lnSpc>
              <a:spcBef>
                <a:spcPts val="0"/>
              </a:spcBef>
              <a:buClrTx/>
              <a:buSzTx/>
              <a:buFontTx/>
              <a:buNone/>
              <a:tabLst/>
              <a:defRPr/>
            </a:pPr>
            <a:r>
              <a:rPr lang="en-US" sz="900" b="0" spc="-20" dirty="0"/>
              <a:t>Yours faithfully</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KPMG </a:t>
            </a:r>
            <a:r>
              <a:rPr lang="en-US" sz="900" b="0" spc="-20" dirty="0">
                <a:solidFill>
                  <a:schemeClr val="tx2"/>
                </a:solidFill>
              </a:rPr>
              <a:t>[legal name]</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br>
              <a:rPr lang="en-US" sz="900" b="0" spc="-20" dirty="0"/>
            </a:br>
            <a:endParaRPr lang="en-US" sz="900" b="0" spc="-20" dirty="0"/>
          </a:p>
        </p:txBody>
      </p:sp>
      <p:grpSp>
        <p:nvGrpSpPr>
          <p:cNvPr id="17" name="Group 16">
            <a:extLst>
              <a:ext uri="{FF2B5EF4-FFF2-40B4-BE49-F238E27FC236}">
                <a16:creationId xmlns:a16="http://schemas.microsoft.com/office/drawing/2014/main" id="{4F80E9D9-3E8D-470C-B60D-C2EEB42A9D47}"/>
              </a:ext>
            </a:extLst>
          </p:cNvPr>
          <p:cNvGrpSpPr>
            <a:grpSpLocks/>
          </p:cNvGrpSpPr>
          <p:nvPr/>
        </p:nvGrpSpPr>
        <p:grpSpPr>
          <a:xfrm>
            <a:off x="6230224" y="3309544"/>
            <a:ext cx="1116000" cy="720000"/>
            <a:chOff x="1003200" y="5297366"/>
            <a:chExt cx="1116000" cy="720000"/>
          </a:xfrm>
        </p:grpSpPr>
        <p:sp>
          <p:nvSpPr>
            <p:cNvPr id="18" name="TextBox 17">
              <a:extLst>
                <a:ext uri="{FF2B5EF4-FFF2-40B4-BE49-F238E27FC236}">
                  <a16:creationId xmlns:a16="http://schemas.microsoft.com/office/drawing/2014/main" id="{CB2BD3FB-2543-4C8E-AA4A-349817DA00B1}"/>
                </a:ext>
              </a:extLst>
            </p:cNvPr>
            <p:cNvSpPr txBox="1">
              <a:spLocks/>
            </p:cNvSpPr>
            <p:nvPr/>
          </p:nvSpPr>
          <p:spPr>
            <a:xfrm>
              <a:off x="1003200"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Important notice</a:t>
              </a:r>
            </a:p>
          </p:txBody>
        </p:sp>
        <mc:AlternateContent xmlns:mc="http://schemas.openxmlformats.org/markup-compatibility/2006" xmlns:pslz="http://schemas.microsoft.com/office/powerpoint/2016/slidezoom">
          <mc:Choice Requires="pslz">
            <p:graphicFrame>
              <p:nvGraphicFramePr>
                <p:cNvPr id="20" name="Slide Zoom 19">
                  <a:extLst>
                    <a:ext uri="{FF2B5EF4-FFF2-40B4-BE49-F238E27FC236}">
                      <a16:creationId xmlns:a16="http://schemas.microsoft.com/office/drawing/2014/main" id="{402F5AD9-E78B-442B-9906-69F7F5072038}"/>
                    </a:ext>
                  </a:extLst>
                </p:cNvPr>
                <p:cNvGraphicFramePr>
                  <a:graphicFrameLocks noChangeAspect="1"/>
                </p:cNvGraphicFramePr>
                <p:nvPr>
                  <p:extLst>
                    <p:ext uri="{D42A27DB-BD31-4B8C-83A1-F6EECF244321}">
                      <p14:modId xmlns:p14="http://schemas.microsoft.com/office/powerpoint/2010/main" val="4294062324"/>
                    </p:ext>
                  </p:extLst>
                </p:nvPr>
              </p:nvGraphicFramePr>
              <p:xfrm>
                <a:off x="1003200" y="5465010"/>
                <a:ext cx="1044000" cy="552356"/>
              </p:xfrm>
              <a:graphic>
                <a:graphicData uri="http://schemas.microsoft.com/office/powerpoint/2016/slidezoom">
                  <pslz:sldZm>
                    <pslz:sldZmObj sldId="651" cId="1704508770">
                      <pslz:zmPr id="{F9C56CDC-E3FD-427F-8724-AAFEB9A1587A}" returnToParent="0" transitionDur="1000">
                        <p166:blipFill xmlns:p166="http://schemas.microsoft.com/office/powerpoint/2016/6/main">
                          <a:blip r:embed="rId5"/>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6" name="Slide Zoom 5">
                  <a:hlinkClick r:id="rId8" action="ppaction://hlinksldjump"/>
                  <a:extLst>
                    <a:ext uri="{FF2B5EF4-FFF2-40B4-BE49-F238E27FC236}">
                      <a16:creationId xmlns:a16="http://schemas.microsoft.com/office/drawing/2014/main" id="{0DE640F1-835E-4659-792C-7A2413E0D1D6}"/>
                    </a:ext>
                  </a:extLst>
                </p:cNvPr>
                <p:cNvPicPr>
                  <a:picLocks noGrp="1" noRot="1" noChangeAspect="1" noMove="1" noResize="1" noEditPoints="1" noAdjustHandles="1" noChangeArrowheads="1" noChangeShapeType="1"/>
                </p:cNvPicPr>
                <p:nvPr/>
              </p:nvPicPr>
              <p:blipFill>
                <a:blip r:embed="rId9"/>
                <a:stretch>
                  <a:fillRect/>
                </a:stretch>
              </p:blipFill>
              <p:spPr>
                <a:xfrm>
                  <a:off x="1003200" y="5419290"/>
                  <a:ext cx="1044000" cy="552356"/>
                </a:xfrm>
                <a:prstGeom prst="rect">
                  <a:avLst/>
                </a:prstGeom>
                <a:ln w="12700">
                  <a:solidFill>
                    <a:schemeClr val="tx2"/>
                  </a:solidFill>
                </a:ln>
              </p:spPr>
            </p:pic>
          </mc:Fallback>
        </mc:AlternateContent>
      </p:grpSp>
      <p:grpSp>
        <p:nvGrpSpPr>
          <p:cNvPr id="21" name="Group 20">
            <a:extLst>
              <a:ext uri="{FF2B5EF4-FFF2-40B4-BE49-F238E27FC236}">
                <a16:creationId xmlns:a16="http://schemas.microsoft.com/office/drawing/2014/main" id="{E0E7C37C-FB48-442A-BB65-EC82DAE5E5A1}"/>
              </a:ext>
            </a:extLst>
          </p:cNvPr>
          <p:cNvGrpSpPr/>
          <p:nvPr/>
        </p:nvGrpSpPr>
        <p:grpSpPr>
          <a:xfrm>
            <a:off x="7987782" y="3309544"/>
            <a:ext cx="1116000" cy="720000"/>
            <a:chOff x="2651662" y="5297366"/>
            <a:chExt cx="1116000" cy="720000"/>
          </a:xfrm>
        </p:grpSpPr>
        <p:sp>
          <p:nvSpPr>
            <p:cNvPr id="22" name="TextBox 21">
              <a:extLst>
                <a:ext uri="{FF2B5EF4-FFF2-40B4-BE49-F238E27FC236}">
                  <a16:creationId xmlns:a16="http://schemas.microsoft.com/office/drawing/2014/main" id="{3CF469D7-70CD-4A1A-A829-DD5A394C3572}"/>
                </a:ext>
              </a:extLst>
            </p:cNvPr>
            <p:cNvSpPr txBox="1">
              <a:spLocks/>
            </p:cNvSpPr>
            <p:nvPr/>
          </p:nvSpPr>
          <p:spPr>
            <a:xfrm>
              <a:off x="2651662"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Basis of preparation</a:t>
              </a:r>
            </a:p>
          </p:txBody>
        </p:sp>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D6C6404B-ECCF-41C1-BC75-2E37596EB5E6}"/>
                    </a:ext>
                  </a:extLst>
                </p:cNvPr>
                <p:cNvGraphicFramePr>
                  <a:graphicFrameLocks noChangeAspect="1"/>
                </p:cNvGraphicFramePr>
                <p:nvPr>
                  <p:extLst>
                    <p:ext uri="{D42A27DB-BD31-4B8C-83A1-F6EECF244321}">
                      <p14:modId xmlns:p14="http://schemas.microsoft.com/office/powerpoint/2010/main" val="3473464327"/>
                    </p:ext>
                  </p:extLst>
                </p:nvPr>
              </p:nvGraphicFramePr>
              <p:xfrm>
                <a:off x="2651662" y="5465010"/>
                <a:ext cx="1044000" cy="552356"/>
              </p:xfrm>
              <a:graphic>
                <a:graphicData uri="http://schemas.microsoft.com/office/powerpoint/2016/slidezoom">
                  <pslz:sldZm>
                    <pslz:sldZmObj sldId="652" cId="2125338827">
                      <pslz:zmPr id="{AF5F6EAF-5FE8-4BA0-A00C-8C47EAD362A5}" returnToParent="0" transitionDur="1000">
                        <p166:blipFill xmlns:p166="http://schemas.microsoft.com/office/powerpoint/2016/6/main">
                          <a:blip r:embed="rId10"/>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23" name="Slide Zoom 22">
                  <a:hlinkClick r:id="rId11" action="ppaction://hlinksldjump"/>
                  <a:extLst>
                    <a:ext uri="{FF2B5EF4-FFF2-40B4-BE49-F238E27FC236}">
                      <a16:creationId xmlns:a16="http://schemas.microsoft.com/office/drawing/2014/main" id="{D6C6404B-ECCF-41C1-BC75-2E37596EB5E6}"/>
                    </a:ext>
                  </a:extLst>
                </p:cNvPr>
                <p:cNvPicPr>
                  <a:picLocks noGrp="1" noRot="1" noChangeAspect="1" noMove="1" noResize="1" noEditPoints="1" noAdjustHandles="1" noChangeArrowheads="1" noChangeShapeType="1"/>
                </p:cNvPicPr>
                <p:nvPr/>
              </p:nvPicPr>
              <p:blipFill>
                <a:blip r:embed="rId12"/>
                <a:stretch>
                  <a:fillRect/>
                </a:stretch>
              </p:blipFill>
              <p:spPr>
                <a:xfrm>
                  <a:off x="2760758" y="4459183"/>
                  <a:ext cx="1044000" cy="552356"/>
                </a:xfrm>
                <a:prstGeom prst="rect">
                  <a:avLst/>
                </a:prstGeom>
                <a:ln w="12700">
                  <a:solidFill>
                    <a:schemeClr val="tx2"/>
                  </a:solidFill>
                </a:ln>
              </p:spPr>
            </p:pic>
          </mc:Fallback>
        </mc:AlternateContent>
      </p:grpSp>
      <p:grpSp>
        <p:nvGrpSpPr>
          <p:cNvPr id="24" name="Group 23">
            <a:extLst>
              <a:ext uri="{FF2B5EF4-FFF2-40B4-BE49-F238E27FC236}">
                <a16:creationId xmlns:a16="http://schemas.microsoft.com/office/drawing/2014/main" id="{71253B94-F6D2-41A4-ACAB-D1F19371A0F9}"/>
              </a:ext>
            </a:extLst>
          </p:cNvPr>
          <p:cNvGrpSpPr/>
          <p:nvPr/>
        </p:nvGrpSpPr>
        <p:grpSpPr>
          <a:xfrm>
            <a:off x="9745340" y="3309544"/>
            <a:ext cx="1116000" cy="720000"/>
            <a:chOff x="4300123" y="5297366"/>
            <a:chExt cx="1116000" cy="720000"/>
          </a:xfrm>
        </p:grpSpPr>
        <p:sp>
          <p:nvSpPr>
            <p:cNvPr id="25" name="TextBox 24">
              <a:extLst>
                <a:ext uri="{FF2B5EF4-FFF2-40B4-BE49-F238E27FC236}">
                  <a16:creationId xmlns:a16="http://schemas.microsoft.com/office/drawing/2014/main" id="{C9D13774-8A61-4F9A-8989-5C0AE1F4F4A3}"/>
                </a:ext>
              </a:extLst>
            </p:cNvPr>
            <p:cNvSpPr txBox="1">
              <a:spLocks/>
            </p:cNvSpPr>
            <p:nvPr/>
          </p:nvSpPr>
          <p:spPr>
            <a:xfrm>
              <a:off x="4300123"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Scope of work</a:t>
              </a:r>
            </a:p>
          </p:txBody>
        </p:sp>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D6CE25A7-09A0-4B0A-B271-1657460A8F7E}"/>
                    </a:ext>
                  </a:extLst>
                </p:cNvPr>
                <p:cNvGraphicFramePr>
                  <a:graphicFrameLocks noChangeAspect="1"/>
                </p:cNvGraphicFramePr>
                <p:nvPr>
                  <p:extLst>
                    <p:ext uri="{D42A27DB-BD31-4B8C-83A1-F6EECF244321}">
                      <p14:modId xmlns:p14="http://schemas.microsoft.com/office/powerpoint/2010/main" val="1669512429"/>
                    </p:ext>
                  </p:extLst>
                </p:nvPr>
              </p:nvGraphicFramePr>
              <p:xfrm>
                <a:off x="4300123" y="5465010"/>
                <a:ext cx="1044000" cy="552356"/>
              </p:xfrm>
              <a:graphic>
                <a:graphicData uri="http://schemas.microsoft.com/office/powerpoint/2016/slidezoom">
                  <pslz:sldZm>
                    <pslz:sldZmObj sldId="691" cId="4137788745">
                      <pslz:zmPr id="{C41F5FBB-A759-4175-91D4-9D7249D3EE95}" returnToParent="0" transitionDur="1000">
                        <p166:blipFill xmlns:p166="http://schemas.microsoft.com/office/powerpoint/2016/6/main">
                          <a:blip r:embed="rId13"/>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17" name="Slide Zoom 16">
                  <a:hlinkClick r:id="rId14" action="ppaction://hlinksldjump"/>
                  <a:extLst>
                    <a:ext uri="{FF2B5EF4-FFF2-40B4-BE49-F238E27FC236}">
                      <a16:creationId xmlns:a16="http://schemas.microsoft.com/office/drawing/2014/main" id="{8462D4A4-79FA-CAD8-47B5-BFE45774FCC4}"/>
                    </a:ext>
                  </a:extLst>
                </p:cNvPr>
                <p:cNvPicPr>
                  <a:picLocks noGrp="1" noRot="1" noChangeAspect="1" noMove="1" noResize="1" noEditPoints="1" noAdjustHandles="1" noChangeArrowheads="1" noChangeShapeType="1"/>
                </p:cNvPicPr>
                <p:nvPr/>
              </p:nvPicPr>
              <p:blipFill>
                <a:blip r:embed="rId15"/>
                <a:stretch>
                  <a:fillRect/>
                </a:stretch>
              </p:blipFill>
              <p:spPr>
                <a:xfrm>
                  <a:off x="4300123" y="5419290"/>
                  <a:ext cx="1044000" cy="552356"/>
                </a:xfrm>
                <a:prstGeom prst="rect">
                  <a:avLst/>
                </a:prstGeom>
                <a:ln w="12700">
                  <a:solidFill>
                    <a:schemeClr val="tx2"/>
                  </a:solidFill>
                </a:ln>
              </p:spPr>
            </p:pic>
          </mc:Fallback>
        </mc:AlternateContent>
      </p:grpSp>
      <p:sp>
        <p:nvSpPr>
          <p:cNvPr id="28" name="Rectangle 27">
            <a:extLst>
              <a:ext uri="{FF2B5EF4-FFF2-40B4-BE49-F238E27FC236}">
                <a16:creationId xmlns:a16="http://schemas.microsoft.com/office/drawing/2014/main" id="{E6149CFF-34C3-4746-80AF-25844D8DEB2A}"/>
              </a:ext>
            </a:extLst>
          </p:cNvPr>
          <p:cNvSpPr/>
          <p:nvPr/>
        </p:nvSpPr>
        <p:spPr>
          <a:xfrm>
            <a:off x="7635814" y="103829"/>
            <a:ext cx="3552986" cy="264175"/>
          </a:xfrm>
          <a:prstGeom prst="rect">
            <a:avLst/>
          </a:prstGeom>
          <a:solidFill>
            <a:schemeClr val="bg1"/>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spAutoFit/>
          </a:bodyPr>
          <a:lstStyle/>
          <a:p>
            <a:pPr algn="ctr"/>
            <a:r>
              <a:rPr lang="en-GB" sz="1400" b="1" dirty="0">
                <a:solidFill>
                  <a:schemeClr val="accent6"/>
                </a:solidFill>
              </a:rPr>
              <a:t>VDD REPORT TRANSMITTAL LETTER</a:t>
            </a:r>
          </a:p>
        </p:txBody>
      </p:sp>
      <p:sp>
        <p:nvSpPr>
          <p:cNvPr id="29" name="Text Placeholder 1">
            <a:extLst>
              <a:ext uri="{FF2B5EF4-FFF2-40B4-BE49-F238E27FC236}">
                <a16:creationId xmlns:a16="http://schemas.microsoft.com/office/drawing/2014/main" id="{3B06CA25-6C71-4AB8-BD6E-3BD110779692}"/>
              </a:ext>
            </a:extLst>
          </p:cNvPr>
          <p:cNvSpPr txBox="1">
            <a:spLocks/>
          </p:cNvSpPr>
          <p:nvPr/>
        </p:nvSpPr>
        <p:spPr>
          <a:xfrm>
            <a:off x="3318758" y="1332698"/>
            <a:ext cx="2652442" cy="31019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r">
              <a:spcAft>
                <a:spcPts val="300"/>
              </a:spcAft>
              <a:defRPr/>
            </a:pPr>
            <a:r>
              <a:rPr lang="en-US" sz="900" b="0" spc="-20" dirty="0">
                <a:solidFill>
                  <a:srgbClr val="00338D"/>
                </a:solidFill>
                <a:latin typeface="Arial"/>
              </a:rPr>
              <a:t>[</a:t>
            </a:r>
            <a:r>
              <a:rPr lang="en-US" sz="900" b="0" spc="-20" dirty="0">
                <a:solidFill>
                  <a:schemeClr val="tx2"/>
                </a:solidFill>
                <a:latin typeface="Arial"/>
              </a:rPr>
              <a:t>date</a:t>
            </a:r>
            <a:r>
              <a:rPr lang="en-US" sz="900" b="0" spc="-20" dirty="0">
                <a:solidFill>
                  <a:srgbClr val="00338D"/>
                </a:solidFill>
                <a:latin typeface="Arial"/>
              </a:rPr>
              <a:t>]</a:t>
            </a:r>
          </a:p>
        </p:txBody>
      </p:sp>
      <p:sp>
        <p:nvSpPr>
          <p:cNvPr id="30" name="Text Box 17">
            <a:extLst>
              <a:ext uri="{FF2B5EF4-FFF2-40B4-BE49-F238E27FC236}">
                <a16:creationId xmlns:a16="http://schemas.microsoft.com/office/drawing/2014/main" id="{7686C496-0672-41F6-B0B9-0205AB2D453C}"/>
              </a:ext>
            </a:extLst>
          </p:cNvPr>
          <p:cNvSpPr txBox="1">
            <a:spLocks noChangeArrowheads="1"/>
          </p:cNvSpPr>
          <p:nvPr/>
        </p:nvSpPr>
        <p:spPr bwMode="gray">
          <a:xfrm>
            <a:off x="83109" y="6351838"/>
            <a:ext cx="838200" cy="463846"/>
          </a:xfrm>
          <a:prstGeom prst="rect">
            <a:avLst/>
          </a:prstGeom>
          <a:solidFill>
            <a:schemeClr val="accent6"/>
          </a:solidFill>
          <a:ln w="6350">
            <a:solidFill>
              <a:schemeClr val="accent6"/>
            </a:solidFill>
            <a:miter lim="800000"/>
            <a:headEnd/>
            <a:tailEnd/>
          </a:ln>
          <a:effectLst/>
        </p:spPr>
        <p:txBody>
          <a:bodyPr lIns="93600" tIns="46800" rIns="93600" bIns="46800">
            <a:spAutoFit/>
          </a:bodyPr>
          <a:lstStyle/>
          <a:p>
            <a:pPr algn="ctr" defTabSz="762000" eaLnBrk="0" hangingPunct="0">
              <a:buClr>
                <a:srgbClr val="003399"/>
              </a:buClr>
              <a:buFont typeface="Times New Roman" pitchFamily="18" charset="0"/>
              <a:buNone/>
            </a:pPr>
            <a:r>
              <a:rPr lang="en-GB" sz="600" b="1" dirty="0">
                <a:solidFill>
                  <a:schemeClr val="bg1"/>
                </a:solidFill>
                <a:latin typeface="Arial" panose="020B0604020202020204" pitchFamily="34" charset="0"/>
                <a:cs typeface="Arial" panose="020B0604020202020204" pitchFamily="34" charset="0"/>
              </a:rPr>
              <a:t>[insert KPMG footer for relevant country]</a:t>
            </a:r>
          </a:p>
          <a:p>
            <a:pPr algn="ctr" defTabSz="762000" eaLnBrk="0" hangingPunct="0">
              <a:buClr>
                <a:srgbClr val="003399"/>
              </a:buClr>
              <a:buFont typeface="Times New Roman" pitchFamily="18" charset="0"/>
              <a:buNone/>
            </a:pPr>
            <a:r>
              <a:rPr lang="en-GB" sz="600" dirty="0">
                <a:solidFill>
                  <a:schemeClr val="bg1"/>
                </a:solidFill>
                <a:latin typeface="Arial" panose="020B0604020202020204" pitchFamily="34" charset="0"/>
                <a:cs typeface="Arial" panose="020B0604020202020204" pitchFamily="34" charset="0"/>
              </a:rPr>
              <a:t>Arial </a:t>
            </a:r>
            <a:r>
              <a:rPr lang="en-GB" sz="600" b="1" dirty="0">
                <a:solidFill>
                  <a:schemeClr val="bg1"/>
                </a:solidFill>
                <a:latin typeface="Arial" panose="020B0604020202020204" pitchFamily="34" charset="0"/>
                <a:cs typeface="Arial" panose="020B0604020202020204" pitchFamily="34" charset="0"/>
              </a:rPr>
              <a:t>5pt</a:t>
            </a:r>
            <a:r>
              <a:rPr lang="en-GB" sz="60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33373599"/>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2670A0F9-9911-4CC6-8FC2-18364B4B4062}"/>
              </a:ext>
            </a:extLst>
          </p:cNvPr>
          <p:cNvSpPr>
            <a:spLocks noGrp="1"/>
          </p:cNvSpPr>
          <p:nvPr>
            <p:ph type="body" sz="quarter" idx="13"/>
          </p:nvPr>
        </p:nvSpPr>
        <p:spPr>
          <a:xfrm>
            <a:off x="8556861" y="1116048"/>
            <a:ext cx="2652442" cy="310198"/>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p:txBody>
      </p:sp>
      <p:sp>
        <p:nvSpPr>
          <p:cNvPr id="4" name="Text Placeholder 3">
            <a:extLst>
              <a:ext uri="{FF2B5EF4-FFF2-40B4-BE49-F238E27FC236}">
                <a16:creationId xmlns:a16="http://schemas.microsoft.com/office/drawing/2014/main" id="{2D24570B-9079-4877-B9FF-65BDEF5FC2AC}"/>
              </a:ext>
            </a:extLst>
          </p:cNvPr>
          <p:cNvSpPr>
            <a:spLocks noGrp="1"/>
          </p:cNvSpPr>
          <p:nvPr>
            <p:ph type="body" sz="quarter" idx="12"/>
          </p:nvPr>
        </p:nvSpPr>
        <p:spPr>
          <a:xfrm>
            <a:off x="1009216" y="1332698"/>
            <a:ext cx="4961984" cy="750665"/>
          </a:xfrm>
        </p:spPr>
        <p: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The Directors </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Purchaser Party </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(as defined in the engagement letter dated [</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attached in the appendices)</a:t>
            </a:r>
          </a:p>
          <a:p>
            <a:pPr marL="0" marR="0" lvl="0" indent="0" algn="l" defTabSz="914377" rtl="0" eaLnBrk="1" fontAlgn="auto" latinLnBrk="0" hangingPunct="1">
              <a:lnSpc>
                <a:spcPct val="100000"/>
              </a:lnSpc>
              <a:spcBef>
                <a:spcPts val="0"/>
              </a:spcBef>
              <a:spcAft>
                <a:spcPts val="40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Text Placeholder 8">
            <a:extLst>
              <a:ext uri="{FF2B5EF4-FFF2-40B4-BE49-F238E27FC236}">
                <a16:creationId xmlns:a16="http://schemas.microsoft.com/office/drawing/2014/main" id="{62C4F8F0-026A-4E4D-B516-2CBDEEB0944B}"/>
              </a:ext>
            </a:extLst>
          </p:cNvPr>
          <p:cNvSpPr>
            <a:spLocks noGrp="1"/>
          </p:cNvSpPr>
          <p:nvPr>
            <p:ph type="body" sz="quarter" idx="10"/>
          </p:nvPr>
        </p:nvSpPr>
        <p:spPr>
          <a:xfrm>
            <a:off x="1003200" y="2345461"/>
            <a:ext cx="4968000" cy="3071557"/>
          </a:xfrm>
        </p:spPr>
        <p:txBody>
          <a:bodyPr/>
          <a:lstStyle/>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1" i="0" u="none" strike="noStrike" kern="1200" cap="none" spc="-20" normalizeH="0" baseline="0" noProof="0" dirty="0">
                <a:ln>
                  <a:noFill/>
                </a:ln>
                <a:solidFill>
                  <a:srgbClr val="00338D"/>
                </a:solidFill>
                <a:effectLst/>
                <a:uLnTx/>
                <a:uFillTx/>
                <a:latin typeface="Arial"/>
                <a:ea typeface="+mn-ea"/>
                <a:cs typeface="+mn-cs"/>
              </a:rPr>
              <a:t>Project [</a:t>
            </a:r>
            <a:r>
              <a:rPr kumimoji="0" lang="en-US" sz="900" b="1" i="0" u="none" strike="noStrike" kern="1200" cap="none" spc="-20" normalizeH="0" baseline="0" noProof="0" dirty="0">
                <a:ln>
                  <a:noFill/>
                </a:ln>
                <a:solidFill>
                  <a:srgbClr val="FD349C"/>
                </a:solidFill>
                <a:effectLst/>
                <a:uLnTx/>
                <a:uFillTx/>
                <a:latin typeface="Arial"/>
                <a:ea typeface="+mn-ea"/>
                <a:cs typeface="+mn-cs"/>
              </a:rPr>
              <a:t>Project name</a:t>
            </a:r>
            <a:r>
              <a:rPr kumimoji="0" lang="en-US" sz="900" b="1" i="0" u="none" strike="noStrike" kern="1200" cap="none" spc="-20" normalizeH="0" baseline="0" noProof="0" dirty="0">
                <a:ln>
                  <a:noFill/>
                </a:ln>
                <a:solidFill>
                  <a:srgbClr val="00338D"/>
                </a:solidFill>
                <a:effectLst/>
                <a:uLnTx/>
                <a:uFillTx/>
                <a:latin typeface="Arial"/>
                <a:ea typeface="+mn-ea"/>
                <a:cs typeface="+mn-cs"/>
              </a:rPr>
              <a:t>] — Financial, Value and Tax [</a:t>
            </a:r>
            <a:r>
              <a:rPr kumimoji="0" lang="en-US" sz="900" b="1" i="0" u="none" strike="noStrike" kern="1200" cap="none" spc="-20" normalizeH="0" baseline="0" noProof="0" dirty="0">
                <a:ln>
                  <a:noFill/>
                </a:ln>
                <a:solidFill>
                  <a:srgbClr val="FD349C"/>
                </a:solidFill>
                <a:effectLst/>
                <a:uLnTx/>
                <a:uFillTx/>
                <a:latin typeface="Arial"/>
                <a:ea typeface="+mn-ea"/>
                <a:cs typeface="+mn-cs"/>
              </a:rPr>
              <a:t>, HR, IT, etc.</a:t>
            </a:r>
            <a:r>
              <a:rPr kumimoji="0" lang="en-US" sz="900" b="1" i="0" u="none" strike="noStrike" kern="1200" cap="none" spc="-20" normalizeH="0" baseline="0" noProof="0" dirty="0">
                <a:ln>
                  <a:noFill/>
                </a:ln>
                <a:solidFill>
                  <a:srgbClr val="00338D"/>
                </a:solidFill>
                <a:effectLst/>
                <a:uLnTx/>
                <a:uFillTx/>
                <a:latin typeface="Arial"/>
                <a:ea typeface="+mn-ea"/>
                <a:cs typeface="+mn-cs"/>
              </a:rPr>
              <a:t>] due diligence</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In accordance with our Engagement Letter and its attachments, you have agreed that our final draft report shall take precedence over this draft, and that no reliance will be placed by you on any draft report other than at your own risk.</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You will be aware that we have not yet completed the work required to enable us to report in accordance with the terms of reference set out in our Engagement Letter. You should, therefore, bear in mind when considering the draft report that the information contained within it and our preliminary conclusions based thereon may alter or be refined as our work progresses</a:t>
            </a:r>
            <a:r>
              <a:rPr kumimoji="0" lang="en-US" sz="900" b="0" i="0" u="none" strike="noStrike" kern="1200" cap="none" spc="-20" normalizeH="0" baseline="0" noProof="0" dirty="0">
                <a:ln>
                  <a:noFill/>
                </a:ln>
                <a:solidFill>
                  <a:srgbClr val="BC204B"/>
                </a:solidFill>
                <a:effectLst/>
                <a:uLnTx/>
                <a:uFillTx/>
                <a:latin typeface="Arial"/>
                <a:ea typeface="+mn-ea"/>
                <a:cs typeface="+mn-cs"/>
              </a:rPr>
              <a:t>.</a:t>
            </a:r>
            <a:r>
              <a:rPr kumimoji="0" lang="en-US" sz="900" b="0" i="0" u="none" strike="noStrike" kern="1200" cap="none" spc="-20" normalizeH="0" baseline="0" noProof="0" dirty="0">
                <a:ln>
                  <a:noFill/>
                </a:ln>
                <a:solidFill>
                  <a:srgbClr val="000000"/>
                </a:solidFill>
                <a:effectLst/>
                <a:uLnTx/>
                <a:uFillTx/>
                <a:latin typeface="Arial"/>
                <a:ea typeface="+mn-ea"/>
                <a:cs typeface="+mn-cs"/>
              </a:rPr>
              <a:t>] You should note that our findings do not constitute recommendations to you as to whether or not you should proceed with the proposed transaction.</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Our report is confidential and is released to you on the basis that it is not to be copied, referred to or disclosed, in whole or in part, to any other party without our prior written consent, except as specifically provided in our Engagement Letter. The terms of reference for this report have been agreed by the addressees and we will not accept responsibility to any other party to whom the report may be shown or who may acquire a copy of the document.</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would be pleased to receive your observations on our report. Please feel free to contact us to discuss.</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Yours sincerely</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KPMG [</a:t>
            </a:r>
            <a:r>
              <a:rPr kumimoji="0" lang="en-US" sz="900" b="0" i="0" u="none" strike="noStrike" kern="1200" cap="none" spc="-20" normalizeH="0" baseline="0" noProof="0" dirty="0">
                <a:ln>
                  <a:noFill/>
                </a:ln>
                <a:solidFill>
                  <a:srgbClr val="FD349C"/>
                </a:solidFill>
                <a:effectLst/>
                <a:uLnTx/>
                <a:uFillTx/>
                <a:latin typeface="Arial"/>
                <a:ea typeface="+mn-ea"/>
                <a:cs typeface="+mn-cs"/>
              </a:rPr>
              <a:t>legal name</a:t>
            </a:r>
            <a:r>
              <a:rPr kumimoji="0" lang="en-US" sz="900" b="0" i="0" u="none" strike="noStrike" kern="1200" cap="none" spc="-20" normalizeH="0" baseline="0" noProof="0" dirty="0">
                <a:ln>
                  <a:noFill/>
                </a:ln>
                <a:solidFill>
                  <a:srgbClr val="000000"/>
                </a:solidFill>
                <a:effectLst/>
                <a:uLnTx/>
                <a:uFillTx/>
                <a:latin typeface="Arial"/>
                <a:ea typeface="+mn-ea"/>
                <a:cs typeface="+mn-cs"/>
              </a:rPr>
              <a:t>]</a:t>
            </a:r>
            <a:br>
              <a:rPr kumimoji="0" lang="en-US" sz="900" b="0" i="0" u="none" strike="noStrike" kern="1200" cap="none" spc="-20" normalizeH="0" baseline="0" noProof="0" dirty="0">
                <a:ln>
                  <a:noFill/>
                </a:ln>
                <a:solidFill>
                  <a:srgbClr val="000000"/>
                </a:solidFill>
                <a:effectLst/>
                <a:uLnTx/>
                <a:uFillTx/>
                <a:latin typeface="Arial"/>
                <a:ea typeface="+mn-ea"/>
                <a:cs typeface="+mn-cs"/>
              </a:rPr>
            </a:br>
            <a:endParaRPr kumimoji="0" lang="en-US" sz="900" b="0" i="0" u="none" strike="noStrike" kern="1200" cap="none" spc="-20" normalizeH="0" baseline="0" noProof="0" dirty="0">
              <a:ln>
                <a:noFill/>
              </a:ln>
              <a:solidFill>
                <a:srgbClr val="000000"/>
              </a:solidFill>
              <a:effectLst/>
              <a:uLnTx/>
              <a:uFillTx/>
              <a:latin typeface="Arial"/>
              <a:ea typeface="+mn-ea"/>
              <a:cs typeface="+mn-cs"/>
            </a:endParaRP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Partner name</a:t>
            </a:r>
            <a:r>
              <a:rPr kumimoji="0" lang="en-US" sz="900" b="0" i="0" u="none" strike="noStrike" kern="1200" cap="none" spc="-20" normalizeH="0" baseline="0" noProof="0" dirty="0">
                <a:ln>
                  <a:noFill/>
                </a:ln>
                <a:solidFill>
                  <a:srgbClr val="000000"/>
                </a:solidFill>
                <a:effectLst/>
                <a:uLnTx/>
                <a:uFillTx/>
                <a:latin typeface="Arial"/>
                <a:ea typeface="+mn-ea"/>
                <a:cs typeface="+mn-cs"/>
              </a:rPr>
              <a:t>]</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Partner, Deal Advisory</a:t>
            </a:r>
          </a:p>
          <a:p>
            <a:pPr marL="0" marR="0" lvl="0" indent="0" algn="l" defTabSz="914377" rtl="0" eaLnBrk="1" fontAlgn="auto" latinLnBrk="0" hangingPunct="1">
              <a:lnSpc>
                <a:spcPts val="1100"/>
              </a:lnSpc>
              <a:spcBef>
                <a:spcPts val="0"/>
              </a:spcBef>
              <a:spcAft>
                <a:spcPts val="30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Arial"/>
              <a:ea typeface="+mn-ea"/>
              <a:cs typeface="+mn-cs"/>
            </a:endParaRPr>
          </a:p>
        </p:txBody>
      </p:sp>
      <p:sp>
        <p:nvSpPr>
          <p:cNvPr id="63" name="UpSlide SubSection Marker" hidden="1">
            <a:extLst>
              <a:ext uri="{FF2B5EF4-FFF2-40B4-BE49-F238E27FC236}">
                <a16:creationId xmlns:a16="http://schemas.microsoft.com/office/drawing/2014/main" id="{970A8C13-34E3-A879-B3F0-C1E702F3B29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Glossary of terms and abbreviations</a:t>
            </a:r>
            <a:endParaRPr lang="en-US" sz="1600" dirty="0">
              <a:solidFill>
                <a:schemeClr val="bg1"/>
              </a:solidFill>
            </a:endParaRPr>
          </a:p>
        </p:txBody>
      </p:sp>
      <p:sp>
        <p:nvSpPr>
          <p:cNvPr id="30" name="Rectangle 29">
            <a:extLst>
              <a:ext uri="{FF2B5EF4-FFF2-40B4-BE49-F238E27FC236}">
                <a16:creationId xmlns:a16="http://schemas.microsoft.com/office/drawing/2014/main" id="{F027532B-BC24-97AA-6779-F462F651737A}"/>
              </a:ext>
            </a:extLst>
          </p:cNvPr>
          <p:cNvSpPr/>
          <p:nvPr/>
        </p:nvSpPr>
        <p:spPr>
          <a:xfrm>
            <a:off x="7059669" y="431801"/>
            <a:ext cx="1942732" cy="6351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dirty="0">
                <a:solidFill>
                  <a:schemeClr val="bg1"/>
                </a:solidFill>
              </a:rPr>
              <a:t>This page will be deleted from the final draft report and replaced by the following page (addressed to potential purchaser party).</a:t>
            </a:r>
          </a:p>
        </p:txBody>
      </p:sp>
      <p:sp>
        <p:nvSpPr>
          <p:cNvPr id="31" name="Rectangle 30">
            <a:extLst>
              <a:ext uri="{FF2B5EF4-FFF2-40B4-BE49-F238E27FC236}">
                <a16:creationId xmlns:a16="http://schemas.microsoft.com/office/drawing/2014/main" id="{A563C863-5F7C-2914-8AFA-19121C26773F}"/>
              </a:ext>
            </a:extLst>
          </p:cNvPr>
          <p:cNvSpPr/>
          <p:nvPr/>
        </p:nvSpPr>
        <p:spPr>
          <a:xfrm>
            <a:off x="8556861" y="1367879"/>
            <a:ext cx="2622315" cy="623816"/>
          </a:xfrm>
          <a:prstGeom prst="rect">
            <a:avLst/>
          </a:prstGeom>
          <a:solidFill>
            <a:schemeClr val="bg1"/>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US" sz="1200" b="1" dirty="0">
                <a:solidFill>
                  <a:srgbClr val="BC204B"/>
                </a:solidFill>
              </a:rPr>
              <a:t>Note: </a:t>
            </a:r>
            <a:r>
              <a:rPr lang="en-US" sz="1000" dirty="0">
                <a:solidFill>
                  <a:srgbClr val="BC204B"/>
                </a:solidFill>
              </a:rPr>
              <a:t>VDD draft version for the client</a:t>
            </a:r>
          </a:p>
          <a:p>
            <a:r>
              <a:rPr lang="en-US" sz="1000" dirty="0">
                <a:solidFill>
                  <a:srgbClr val="BC204B"/>
                </a:solidFill>
              </a:rPr>
              <a:t>Need to be localized!</a:t>
            </a:r>
          </a:p>
        </p:txBody>
      </p:sp>
      <p:grpSp>
        <p:nvGrpSpPr>
          <p:cNvPr id="86" name="Group 85">
            <a:extLst>
              <a:ext uri="{FF2B5EF4-FFF2-40B4-BE49-F238E27FC236}">
                <a16:creationId xmlns:a16="http://schemas.microsoft.com/office/drawing/2014/main" id="{025FD040-766C-39B0-BFE1-DD229157C9E5}"/>
              </a:ext>
            </a:extLst>
          </p:cNvPr>
          <p:cNvGrpSpPr/>
          <p:nvPr>
            <p:custDataLst>
              <p:tags r:id="rId3"/>
            </p:custDataLst>
          </p:nvPr>
        </p:nvGrpSpPr>
        <p:grpSpPr>
          <a:xfrm>
            <a:off x="995364" y="153170"/>
            <a:ext cx="9138860" cy="195814"/>
            <a:chOff x="995364" y="153170"/>
            <a:chExt cx="9138860" cy="195814"/>
          </a:xfrm>
        </p:grpSpPr>
        <p:sp>
          <p:nvSpPr>
            <p:cNvPr id="87"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8"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89"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90"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91"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92"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93"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94"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95"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96" name="Current Section10">
              <a:hlinkClick r:id="rId8"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849915"/>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939CFF35-7F49-4A6F-BF17-477DF8F7CC5D}"/>
              </a:ext>
            </a:extLst>
          </p:cNvPr>
          <p:cNvSpPr>
            <a:spLocks noGrp="1"/>
          </p:cNvSpPr>
          <p:nvPr>
            <p:ph type="body" sz="quarter" idx="13"/>
          </p:nvPr>
        </p:nvSpPr>
        <p:spPr>
          <a:xfrm>
            <a:off x="8556861" y="1116048"/>
            <a:ext cx="2652442" cy="310198"/>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p:txBody>
      </p:sp>
      <p:sp>
        <p:nvSpPr>
          <p:cNvPr id="3" name="Text Placeholder 2">
            <a:extLst>
              <a:ext uri="{FF2B5EF4-FFF2-40B4-BE49-F238E27FC236}">
                <a16:creationId xmlns:a16="http://schemas.microsoft.com/office/drawing/2014/main" id="{C5B3AE0C-2954-4477-9877-CB68E1F9EF96}"/>
              </a:ext>
            </a:extLst>
          </p:cNvPr>
          <p:cNvSpPr>
            <a:spLocks noGrp="1"/>
          </p:cNvSpPr>
          <p:nvPr>
            <p:ph type="body" sz="quarter" idx="12"/>
          </p:nvPr>
        </p:nvSpPr>
        <p:spPr>
          <a:xfrm>
            <a:off x="1009215" y="1332698"/>
            <a:ext cx="3945961" cy="750665"/>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1"/>
                </a:solidFill>
                <a:effectLst/>
                <a:uLnTx/>
                <a:uFillTx/>
                <a:latin typeface="Arial"/>
                <a:ea typeface="+mn-ea"/>
                <a:cs typeface="+mn-cs"/>
              </a:rPr>
              <a:t>The Directors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1"/>
                </a:solidFill>
                <a:effectLst/>
                <a:uLnTx/>
                <a:uFillTx/>
                <a:latin typeface="Arial"/>
                <a:ea typeface="+mn-ea"/>
                <a:cs typeface="+mn-cs"/>
              </a:rPr>
              <a:t>Purchaser Party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chemeClr val="tx1"/>
                </a:solidFill>
                <a:effectLst/>
                <a:uLnTx/>
                <a:uFillTx/>
                <a:latin typeface="Arial"/>
                <a:ea typeface="+mn-ea"/>
                <a:cs typeface="+mn-cs"/>
              </a:rPr>
              <a:t>(as defined in the engagement letter dated [date] attached in the appendices)</a:t>
            </a:r>
          </a:p>
        </p:txBody>
      </p:sp>
      <p:sp>
        <p:nvSpPr>
          <p:cNvPr id="8" name="Text Placeholder 8">
            <a:extLst>
              <a:ext uri="{FF2B5EF4-FFF2-40B4-BE49-F238E27FC236}">
                <a16:creationId xmlns:a16="http://schemas.microsoft.com/office/drawing/2014/main" id="{8FEE91B1-9277-4A49-B24D-D0DEB8DD7E73}"/>
              </a:ext>
            </a:extLst>
          </p:cNvPr>
          <p:cNvSpPr>
            <a:spLocks noGrp="1"/>
          </p:cNvSpPr>
          <p:nvPr>
            <p:ph type="body" sz="quarter" idx="10"/>
          </p:nvPr>
        </p:nvSpPr>
        <p:spPr>
          <a:xfrm>
            <a:off x="1003200" y="1981488"/>
            <a:ext cx="4968000" cy="3071557"/>
          </a:xfrm>
        </p:spPr>
        <p:txBody>
          <a:bodyPr/>
          <a:lstStyle/>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1" i="0" u="none" strike="noStrike" kern="1200" cap="none" spc="-20" normalizeH="0" baseline="0" noProof="0" dirty="0">
                <a:ln>
                  <a:noFill/>
                </a:ln>
                <a:solidFill>
                  <a:srgbClr val="00338D"/>
                </a:solidFill>
                <a:effectLst/>
                <a:uLnTx/>
                <a:uFillTx/>
                <a:latin typeface="Arial"/>
                <a:ea typeface="+mn-ea"/>
                <a:cs typeface="+mn-cs"/>
              </a:rPr>
              <a:t>Project [</a:t>
            </a:r>
            <a:r>
              <a:rPr kumimoji="0" lang="en-US" sz="900" b="1" i="0" u="none" strike="noStrike" kern="1200" cap="none" spc="-20" normalizeH="0" baseline="0" noProof="0" dirty="0">
                <a:ln>
                  <a:noFill/>
                </a:ln>
                <a:solidFill>
                  <a:srgbClr val="FD349C"/>
                </a:solidFill>
                <a:effectLst/>
                <a:uLnTx/>
                <a:uFillTx/>
                <a:latin typeface="Arial"/>
                <a:ea typeface="+mn-ea"/>
                <a:cs typeface="+mn-cs"/>
              </a:rPr>
              <a:t>Project name</a:t>
            </a:r>
            <a:r>
              <a:rPr kumimoji="0" lang="en-US" sz="900" b="1" i="0" u="none" strike="noStrike" kern="1200" cap="none" spc="-20" normalizeH="0" baseline="0" noProof="0" dirty="0">
                <a:ln>
                  <a:noFill/>
                </a:ln>
                <a:solidFill>
                  <a:srgbClr val="00338D"/>
                </a:solidFill>
                <a:effectLst/>
                <a:uLnTx/>
                <a:uFillTx/>
                <a:latin typeface="Arial"/>
                <a:ea typeface="+mn-ea"/>
                <a:cs typeface="+mn-cs"/>
              </a:rPr>
              <a:t>] — Financial, Value and Tax [</a:t>
            </a:r>
            <a:r>
              <a:rPr kumimoji="0" lang="en-US" sz="900" b="1" i="0" u="none" strike="noStrike" kern="1200" cap="none" spc="-20" normalizeH="0" baseline="0" noProof="0" dirty="0">
                <a:ln>
                  <a:noFill/>
                </a:ln>
                <a:solidFill>
                  <a:srgbClr val="FD349C"/>
                </a:solidFill>
                <a:effectLst/>
                <a:uLnTx/>
                <a:uFillTx/>
                <a:latin typeface="Arial"/>
                <a:ea typeface="+mn-ea"/>
                <a:cs typeface="+mn-cs"/>
              </a:rPr>
              <a:t>, HR, IT, etc.</a:t>
            </a:r>
            <a:r>
              <a:rPr kumimoji="0" lang="en-US" sz="900" b="1" i="0" u="none" strike="noStrike" kern="1200" cap="none" spc="-20" normalizeH="0" baseline="0" noProof="0" dirty="0">
                <a:ln>
                  <a:noFill/>
                </a:ln>
                <a:solidFill>
                  <a:srgbClr val="00338D"/>
                </a:solidFill>
                <a:effectLst/>
                <a:uLnTx/>
                <a:uFillTx/>
                <a:latin typeface="Arial"/>
                <a:ea typeface="+mn-ea"/>
                <a:cs typeface="+mn-cs"/>
              </a:rPr>
              <a:t>] due diligence</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In accordance with the terms of reference set out in our engagement letter dated [</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(“Engagement Letter”), we enclose a copy of our financial, [</a:t>
            </a:r>
            <a:r>
              <a:rPr kumimoji="0" lang="en-US" sz="900" b="0" i="0" u="none" strike="noStrike" kern="1200" cap="none" spc="-20" normalizeH="0" baseline="0" noProof="0" dirty="0">
                <a:ln>
                  <a:noFill/>
                </a:ln>
                <a:solidFill>
                  <a:srgbClr val="FD349C"/>
                </a:solidFill>
                <a:effectLst/>
                <a:uLnTx/>
                <a:uFillTx/>
                <a:latin typeface="Arial"/>
                <a:ea typeface="+mn-ea"/>
                <a:cs typeface="+mn-cs"/>
              </a:rPr>
              <a:t>value</a:t>
            </a:r>
            <a:r>
              <a:rPr kumimoji="0" lang="en-US" sz="900" b="0" i="0" u="none" strike="noStrike" kern="1200" cap="none" spc="-20" normalizeH="0" baseline="0" noProof="0" dirty="0">
                <a:ln>
                  <a:noFill/>
                </a:ln>
                <a:solidFill>
                  <a:srgbClr val="000000"/>
                </a:solidFill>
                <a:effectLst/>
                <a:uLnTx/>
                <a:uFillTx/>
                <a:latin typeface="Arial"/>
                <a:ea typeface="+mn-ea"/>
                <a:cs typeface="+mn-cs"/>
              </a:rPr>
              <a:t>] and tax due diligence report (“report”) on [</a:t>
            </a:r>
            <a:r>
              <a:rPr kumimoji="0" lang="en-US" sz="900" b="0" i="0" u="none" strike="noStrike" kern="1200" cap="none" spc="-20" normalizeH="0" baseline="0" noProof="0" dirty="0">
                <a:ln>
                  <a:noFill/>
                </a:ln>
                <a:solidFill>
                  <a:srgbClr val="FD349C"/>
                </a:solidFill>
                <a:effectLst/>
                <a:uLnTx/>
                <a:uFillTx/>
                <a:latin typeface="Arial"/>
                <a:ea typeface="+mn-ea"/>
                <a:cs typeface="+mn-cs"/>
              </a:rPr>
              <a:t>Target name</a:t>
            </a:r>
            <a:r>
              <a:rPr kumimoji="0" lang="en-US" sz="900" b="0" i="0" u="none" strike="noStrike" kern="1200" cap="none" spc="-20" normalizeH="0" baseline="0" noProof="0" dirty="0">
                <a:ln>
                  <a:noFill/>
                </a:ln>
                <a:solidFill>
                  <a:srgbClr val="000000"/>
                </a:solidFill>
                <a:effectLst/>
                <a:uLnTx/>
                <a:uFillTx/>
                <a:latin typeface="Arial"/>
                <a:ea typeface="+mn-ea"/>
                <a:cs typeface="+mn-cs"/>
              </a:rPr>
              <a:t>] (“Target”). The Engagement Letter attached in the appendices to this report sets out the agreed scope of our enquiries.</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Our work commenced on [</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and our fieldwork for this report was completed on [</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0000"/>
                </a:solidFill>
                <a:effectLst/>
                <a:uLnTx/>
                <a:uFillTx/>
                <a:latin typeface="Arial"/>
                <a:ea typeface="+mn-ea"/>
                <a:cs typeface="+mn-cs"/>
              </a:rPr>
              <a:t>]. We have not undertaken to update our report for events or circumstances arising after that date.</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draw your attention to the following matters:</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Our work on historical trading comprises the financial years ended [</a:t>
            </a:r>
            <a:r>
              <a:rPr kumimoji="0" lang="en-US" sz="900" b="0" i="0" u="none" strike="noStrike" kern="1200" cap="none" spc="-20" normalizeH="0" baseline="0" noProof="0" dirty="0">
                <a:ln>
                  <a:noFill/>
                </a:ln>
                <a:solidFill>
                  <a:srgbClr val="FD349C"/>
                </a:solidFill>
                <a:effectLst/>
                <a:uLnTx/>
                <a:uFillTx/>
                <a:latin typeface="Arial"/>
                <a:ea typeface="+mn-ea"/>
                <a:cs typeface="+mn-cs"/>
              </a:rPr>
              <a:t>December 31, 2020 and 2021, and year-to-date period until June 30, 2023</a:t>
            </a:r>
            <a:r>
              <a:rPr kumimoji="0" lang="en-US" sz="900" b="0" i="0" u="none" strike="noStrike" kern="1200" cap="none" spc="-20" normalizeH="0" baseline="0" noProof="0" dirty="0">
                <a:ln>
                  <a:noFill/>
                </a:ln>
                <a:solidFill>
                  <a:srgbClr val="000000"/>
                </a:solidFill>
                <a:effectLst/>
                <a:uLnTx/>
                <a:uFillTx/>
                <a:latin typeface="Arial"/>
                <a:ea typeface="+mn-ea"/>
                <a:cs typeface="+mn-cs"/>
              </a:rPr>
              <a:t>]. With respect to prospective financial trading, our scope of work includes [</a:t>
            </a:r>
            <a:r>
              <a:rPr kumimoji="0" lang="en-US" sz="900" b="0" i="0" u="none" strike="noStrike" kern="1200" cap="none" spc="-20" normalizeH="0" baseline="0" noProof="0" dirty="0">
                <a:ln>
                  <a:noFill/>
                </a:ln>
                <a:solidFill>
                  <a:srgbClr val="FD349C"/>
                </a:solidFill>
                <a:effectLst/>
                <a:uLnTx/>
                <a:uFillTx/>
                <a:latin typeface="Arial"/>
                <a:ea typeface="+mn-ea"/>
                <a:cs typeface="+mn-cs"/>
              </a:rPr>
              <a:t>2023</a:t>
            </a:r>
            <a:r>
              <a:rPr kumimoji="0" lang="en-US" sz="900" b="0" i="0" u="none" strike="noStrike" kern="1200" cap="none" spc="-20" normalizeH="0" baseline="0" noProof="0" dirty="0">
                <a:ln>
                  <a:noFill/>
                </a:ln>
                <a:solidFill>
                  <a:srgbClr val="000000"/>
                </a:solidFill>
                <a:effectLst/>
                <a:uLnTx/>
                <a:uFillTx/>
                <a:latin typeface="Arial"/>
                <a:ea typeface="+mn-ea"/>
                <a:cs typeface="+mn-cs"/>
              </a:rPr>
              <a:t>] budget and [</a:t>
            </a:r>
            <a:r>
              <a:rPr kumimoji="0" lang="en-US" sz="900" b="0" i="0" u="none" strike="noStrike" kern="1200" cap="none" spc="-20" normalizeH="0" baseline="0" noProof="0" dirty="0">
                <a:ln>
                  <a:noFill/>
                </a:ln>
                <a:solidFill>
                  <a:srgbClr val="FD349C"/>
                </a:solidFill>
                <a:effectLst/>
                <a:uLnTx/>
                <a:uFillTx/>
                <a:latin typeface="Arial"/>
                <a:ea typeface="+mn-ea"/>
                <a:cs typeface="+mn-cs"/>
              </a:rPr>
              <a:t>2023-2024</a:t>
            </a:r>
            <a:r>
              <a:rPr kumimoji="0" lang="en-US" sz="900" b="0" i="0" u="none" strike="noStrike" kern="1200" cap="none" spc="-20" normalizeH="0" baseline="0" noProof="0" dirty="0">
                <a:ln>
                  <a:noFill/>
                </a:ln>
                <a:solidFill>
                  <a:srgbClr val="000000"/>
                </a:solidFill>
                <a:effectLst/>
                <a:uLnTx/>
                <a:uFillTx/>
                <a:latin typeface="Arial"/>
                <a:ea typeface="+mn-ea"/>
                <a:cs typeface="+mn-cs"/>
              </a:rPr>
              <a:t>] forecast.</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have only covered the specific financial and tax issues agreed in the scope of work. We have not covered e.g., commercial, operational, environmental or legal matters [</a:t>
            </a:r>
            <a:r>
              <a:rPr kumimoji="0" lang="en-US" sz="900" b="0" i="0" u="none" strike="noStrike" kern="1200" cap="none" spc="-20" normalizeH="0" baseline="0" noProof="0" dirty="0">
                <a:ln>
                  <a:noFill/>
                </a:ln>
                <a:solidFill>
                  <a:srgbClr val="FD349C"/>
                </a:solidFill>
                <a:effectLst/>
                <a:uLnTx/>
                <a:uFillTx/>
                <a:latin typeface="Arial"/>
                <a:ea typeface="+mn-ea"/>
                <a:cs typeface="+mn-cs"/>
              </a:rPr>
              <a:t>define the coverage</a:t>
            </a:r>
            <a:r>
              <a:rPr kumimoji="0" lang="en-US" sz="900" b="0" i="0" u="none" strike="noStrike" kern="1200" cap="none" spc="-20" normalizeH="0" baseline="0" noProof="0" dirty="0">
                <a:ln>
                  <a:noFill/>
                </a:ln>
                <a:solidFill>
                  <a:srgbClr val="000000"/>
                </a:solidFill>
                <a:effectLst/>
                <a:uLnTx/>
                <a:uFillTx/>
                <a:latin typeface="Arial"/>
                <a:ea typeface="+mn-ea"/>
                <a:cs typeface="+mn-cs"/>
              </a:rPr>
              <a:t>].</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The value creation opportunities shown are indicative estimates only and are based on limited information, high-level analysis and assumptions. The analysis have been carried out using limited data and do not comprise a detailed diagnostic. Accordingly, the analysis needs to be interpreted with caution.</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Please review the following documents in the appendices, which set out the basis and limitations of our work performed:</a:t>
            </a:r>
          </a:p>
        </p:txBody>
      </p:sp>
      <p:sp>
        <p:nvSpPr>
          <p:cNvPr id="2" name="Text Placeholder 1">
            <a:extLst>
              <a:ext uri="{FF2B5EF4-FFF2-40B4-BE49-F238E27FC236}">
                <a16:creationId xmlns:a16="http://schemas.microsoft.com/office/drawing/2014/main" id="{34CDC662-C685-459A-B875-05B350D6DD6F}"/>
              </a:ext>
            </a:extLst>
          </p:cNvPr>
          <p:cNvSpPr>
            <a:spLocks noGrp="1"/>
          </p:cNvSpPr>
          <p:nvPr>
            <p:ph type="body" sz="quarter" idx="11"/>
          </p:nvPr>
        </p:nvSpPr>
        <p:spPr>
          <a:xfrm>
            <a:off x="6220800" y="1981488"/>
            <a:ext cx="4968000" cy="307155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2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 b="0" i="0" u="none" strike="noStrike" kern="1200" cap="none" spc="-2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You should note that our findings do not constitute recommendations to you as to whether or not you should proceed with the proposed transaction.</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Our report is for the benefit and information only of those Purchaser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Purchaser Parties’ legal and other professional advisers) in respect of our work or the report. </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Yours sincerely</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KPMG [</a:t>
            </a:r>
            <a:r>
              <a:rPr lang="en-US" sz="900" b="0" spc="-20" dirty="0">
                <a:solidFill>
                  <a:schemeClr val="accent6"/>
                </a:solidFill>
              </a:rPr>
              <a:t>legal name</a:t>
            </a:r>
            <a:r>
              <a:rPr lang="en-US" sz="900" b="0" spc="-20" dirty="0"/>
              <a:t>]</a:t>
            </a:r>
            <a:br>
              <a:rPr lang="en-US" sz="900" b="0" spc="-20" dirty="0"/>
            </a:br>
            <a:endParaRPr lang="en-US" sz="900" b="0" spc="-20"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a:t>
            </a:r>
            <a:r>
              <a:rPr lang="en-US" sz="900" b="0" spc="-20" dirty="0">
                <a:solidFill>
                  <a:schemeClr val="accent6"/>
                </a:solidFill>
              </a:rPr>
              <a:t>Partner name</a:t>
            </a:r>
            <a:r>
              <a:rPr lang="en-US" sz="900" b="0" spc="-20" dirty="0"/>
              <a:t>]</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sz="900" b="0" spc="-20" dirty="0"/>
              <a:t>Partner, Deal Advisory</a:t>
            </a:r>
          </a:p>
        </p:txBody>
      </p:sp>
      <p:sp>
        <p:nvSpPr>
          <p:cNvPr id="69" name="UpSlide SubSection Marker" hidden="1">
            <a:extLst>
              <a:ext uri="{FF2B5EF4-FFF2-40B4-BE49-F238E27FC236}">
                <a16:creationId xmlns:a16="http://schemas.microsoft.com/office/drawing/2014/main" id="{1D4BE538-8A7C-0DE7-6B88-E96FDAF6DB2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Glossary of terms and abbreviations</a:t>
            </a:r>
            <a:endParaRPr lang="en-US" sz="1600" dirty="0">
              <a:solidFill>
                <a:schemeClr val="bg1"/>
              </a:solidFill>
            </a:endParaRPr>
          </a:p>
        </p:txBody>
      </p:sp>
      <p:grpSp>
        <p:nvGrpSpPr>
          <p:cNvPr id="36" name="Group 35">
            <a:extLst>
              <a:ext uri="{FF2B5EF4-FFF2-40B4-BE49-F238E27FC236}">
                <a16:creationId xmlns:a16="http://schemas.microsoft.com/office/drawing/2014/main" id="{47280E80-2CEE-952D-67A1-460BB38CDCB6}"/>
              </a:ext>
            </a:extLst>
          </p:cNvPr>
          <p:cNvGrpSpPr/>
          <p:nvPr/>
        </p:nvGrpSpPr>
        <p:grpSpPr>
          <a:xfrm>
            <a:off x="1003200" y="5156925"/>
            <a:ext cx="1116000" cy="720000"/>
            <a:chOff x="1003200" y="5297366"/>
            <a:chExt cx="1116000" cy="720000"/>
          </a:xfrm>
        </p:grpSpPr>
        <p:sp>
          <p:nvSpPr>
            <p:cNvPr id="37" name="TextBox 36">
              <a:extLst>
                <a:ext uri="{FF2B5EF4-FFF2-40B4-BE49-F238E27FC236}">
                  <a16:creationId xmlns:a16="http://schemas.microsoft.com/office/drawing/2014/main" id="{2BA24C4C-E7F6-378B-F7D8-CF09FA85E413}"/>
                </a:ext>
              </a:extLst>
            </p:cNvPr>
            <p:cNvSpPr txBox="1">
              <a:spLocks/>
            </p:cNvSpPr>
            <p:nvPr/>
          </p:nvSpPr>
          <p:spPr>
            <a:xfrm>
              <a:off x="1003200"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Important notice</a:t>
              </a:r>
            </a:p>
          </p:txBody>
        </p:sp>
        <mc:AlternateContent xmlns:mc="http://schemas.openxmlformats.org/markup-compatibility/2006" xmlns:pslz="http://schemas.microsoft.com/office/powerpoint/2016/slidezoom">
          <mc:Choice Requires="pslz">
            <p:graphicFrame>
              <p:nvGraphicFramePr>
                <p:cNvPr id="38" name="Slide Zoom 37">
                  <a:extLst>
                    <a:ext uri="{FF2B5EF4-FFF2-40B4-BE49-F238E27FC236}">
                      <a16:creationId xmlns:a16="http://schemas.microsoft.com/office/drawing/2014/main" id="{038EC141-C211-4D5C-67D2-4BC84979DFCE}"/>
                    </a:ext>
                  </a:extLst>
                </p:cNvPr>
                <p:cNvGraphicFramePr>
                  <a:graphicFrameLocks noChangeAspect="1"/>
                </p:cNvGraphicFramePr>
                <p:nvPr>
                  <p:extLst>
                    <p:ext uri="{D42A27DB-BD31-4B8C-83A1-F6EECF244321}">
                      <p14:modId xmlns:p14="http://schemas.microsoft.com/office/powerpoint/2010/main" val="3900446241"/>
                    </p:ext>
                  </p:extLst>
                </p:nvPr>
              </p:nvGraphicFramePr>
              <p:xfrm>
                <a:off x="1003200" y="5465010"/>
                <a:ext cx="1044000" cy="552356"/>
              </p:xfrm>
              <a:graphic>
                <a:graphicData uri="http://schemas.microsoft.com/office/powerpoint/2016/slidezoom">
                  <pslz:sldZm>
                    <pslz:sldZmObj sldId="651" cId="1704508770">
                      <pslz:zmPr id="{F9C56CDC-E3FD-427F-8724-AAFEB9A1587A}" returnToParent="0" transitionDur="1000">
                        <p166:blipFill xmlns:p166="http://schemas.microsoft.com/office/powerpoint/2016/6/main">
                          <a:blip r:embed="rId7"/>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38" name="Slide Zoom 37">
                  <a:hlinkClick r:id="rId8" action="ppaction://hlinksldjump"/>
                  <a:extLst>
                    <a:ext uri="{FF2B5EF4-FFF2-40B4-BE49-F238E27FC236}">
                      <a16:creationId xmlns:a16="http://schemas.microsoft.com/office/drawing/2014/main" id="{038EC141-C211-4D5C-67D2-4BC84979DFCE}"/>
                    </a:ext>
                  </a:extLst>
                </p:cNvPr>
                <p:cNvPicPr>
                  <a:picLocks noGrp="1" noRot="1" noChangeAspect="1" noMove="1" noResize="1" noEditPoints="1" noAdjustHandles="1" noChangeArrowheads="1" noChangeShapeType="1"/>
                </p:cNvPicPr>
                <p:nvPr/>
              </p:nvPicPr>
              <p:blipFill>
                <a:blip r:embed="rId9"/>
                <a:stretch>
                  <a:fillRect/>
                </a:stretch>
              </p:blipFill>
              <p:spPr>
                <a:xfrm>
                  <a:off x="1003200" y="5324569"/>
                  <a:ext cx="1044000" cy="552356"/>
                </a:xfrm>
                <a:prstGeom prst="rect">
                  <a:avLst/>
                </a:prstGeom>
                <a:ln w="12700">
                  <a:solidFill>
                    <a:schemeClr val="tx2"/>
                  </a:solidFill>
                </a:ln>
              </p:spPr>
            </p:pic>
          </mc:Fallback>
        </mc:AlternateContent>
      </p:grpSp>
      <p:grpSp>
        <p:nvGrpSpPr>
          <p:cNvPr id="39" name="Group 38">
            <a:extLst>
              <a:ext uri="{FF2B5EF4-FFF2-40B4-BE49-F238E27FC236}">
                <a16:creationId xmlns:a16="http://schemas.microsoft.com/office/drawing/2014/main" id="{EC0187AC-971C-52EB-140E-D8F976488EE6}"/>
              </a:ext>
            </a:extLst>
          </p:cNvPr>
          <p:cNvGrpSpPr/>
          <p:nvPr/>
        </p:nvGrpSpPr>
        <p:grpSpPr>
          <a:xfrm>
            <a:off x="2651662" y="5156925"/>
            <a:ext cx="1116000" cy="720000"/>
            <a:chOff x="2651662" y="5297366"/>
            <a:chExt cx="1116000" cy="720000"/>
          </a:xfrm>
        </p:grpSpPr>
        <p:sp>
          <p:nvSpPr>
            <p:cNvPr id="40" name="TextBox 39">
              <a:extLst>
                <a:ext uri="{FF2B5EF4-FFF2-40B4-BE49-F238E27FC236}">
                  <a16:creationId xmlns:a16="http://schemas.microsoft.com/office/drawing/2014/main" id="{27E0EC01-9229-9586-B024-9A48C1691BF9}"/>
                </a:ext>
              </a:extLst>
            </p:cNvPr>
            <p:cNvSpPr txBox="1">
              <a:spLocks/>
            </p:cNvSpPr>
            <p:nvPr/>
          </p:nvSpPr>
          <p:spPr>
            <a:xfrm>
              <a:off x="2651662"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Basis of preparation</a:t>
              </a:r>
            </a:p>
          </p:txBody>
        </p:sp>
        <mc:AlternateContent xmlns:mc="http://schemas.openxmlformats.org/markup-compatibility/2006" xmlns:pslz="http://schemas.microsoft.com/office/powerpoint/2016/slidezoom">
          <mc:Choice Requires="pslz">
            <p:graphicFrame>
              <p:nvGraphicFramePr>
                <p:cNvPr id="41" name="Slide Zoom 40">
                  <a:extLst>
                    <a:ext uri="{FF2B5EF4-FFF2-40B4-BE49-F238E27FC236}">
                      <a16:creationId xmlns:a16="http://schemas.microsoft.com/office/drawing/2014/main" id="{33B1769A-B546-C30B-C242-951F0885AC0B}"/>
                    </a:ext>
                  </a:extLst>
                </p:cNvPr>
                <p:cNvGraphicFramePr>
                  <a:graphicFrameLocks noChangeAspect="1"/>
                </p:cNvGraphicFramePr>
                <p:nvPr>
                  <p:extLst>
                    <p:ext uri="{D42A27DB-BD31-4B8C-83A1-F6EECF244321}">
                      <p14:modId xmlns:p14="http://schemas.microsoft.com/office/powerpoint/2010/main" val="582546383"/>
                    </p:ext>
                  </p:extLst>
                </p:nvPr>
              </p:nvGraphicFramePr>
              <p:xfrm>
                <a:off x="2651662" y="5465010"/>
                <a:ext cx="1044000" cy="552356"/>
              </p:xfrm>
              <a:graphic>
                <a:graphicData uri="http://schemas.microsoft.com/office/powerpoint/2016/slidezoom">
                  <pslz:sldZm>
                    <pslz:sldZmObj sldId="652" cId="2125338827">
                      <pslz:zmPr id="{AF5F6EAF-5FE8-4BA0-A00C-8C47EAD362A5}" returnToParent="0" transitionDur="1000">
                        <p166:blipFill xmlns:p166="http://schemas.microsoft.com/office/powerpoint/2016/6/main">
                          <a:blip r:embed="rId10"/>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41" name="Slide Zoom 40">
                  <a:hlinkClick r:id="rId11" action="ppaction://hlinksldjump"/>
                  <a:extLst>
                    <a:ext uri="{FF2B5EF4-FFF2-40B4-BE49-F238E27FC236}">
                      <a16:creationId xmlns:a16="http://schemas.microsoft.com/office/drawing/2014/main" id="{33B1769A-B546-C30B-C242-951F0885AC0B}"/>
                    </a:ext>
                  </a:extLst>
                </p:cNvPr>
                <p:cNvPicPr>
                  <a:picLocks noGrp="1" noRot="1" noChangeAspect="1" noMove="1" noResize="1" noEditPoints="1" noAdjustHandles="1" noChangeArrowheads="1" noChangeShapeType="1"/>
                </p:cNvPicPr>
                <p:nvPr/>
              </p:nvPicPr>
              <p:blipFill>
                <a:blip r:embed="rId12"/>
                <a:stretch>
                  <a:fillRect/>
                </a:stretch>
              </p:blipFill>
              <p:spPr>
                <a:xfrm>
                  <a:off x="2651662" y="5324569"/>
                  <a:ext cx="1044000" cy="552356"/>
                </a:xfrm>
                <a:prstGeom prst="rect">
                  <a:avLst/>
                </a:prstGeom>
                <a:ln w="12700">
                  <a:solidFill>
                    <a:schemeClr val="tx2"/>
                  </a:solidFill>
                </a:ln>
              </p:spPr>
            </p:pic>
          </mc:Fallback>
        </mc:AlternateContent>
      </p:grpSp>
      <p:grpSp>
        <p:nvGrpSpPr>
          <p:cNvPr id="42" name="Group 41">
            <a:extLst>
              <a:ext uri="{FF2B5EF4-FFF2-40B4-BE49-F238E27FC236}">
                <a16:creationId xmlns:a16="http://schemas.microsoft.com/office/drawing/2014/main" id="{892ED3A3-FE94-3641-E9F0-326A8B68F0B5}"/>
              </a:ext>
            </a:extLst>
          </p:cNvPr>
          <p:cNvGrpSpPr/>
          <p:nvPr/>
        </p:nvGrpSpPr>
        <p:grpSpPr>
          <a:xfrm>
            <a:off x="4300123" y="5156925"/>
            <a:ext cx="1116000" cy="720000"/>
            <a:chOff x="4300123" y="5297366"/>
            <a:chExt cx="1116000" cy="720000"/>
          </a:xfrm>
        </p:grpSpPr>
        <p:sp>
          <p:nvSpPr>
            <p:cNvPr id="43" name="TextBox 42">
              <a:extLst>
                <a:ext uri="{FF2B5EF4-FFF2-40B4-BE49-F238E27FC236}">
                  <a16:creationId xmlns:a16="http://schemas.microsoft.com/office/drawing/2014/main" id="{E7C14315-2A55-7B43-5BEC-4EAD07728B4D}"/>
                </a:ext>
              </a:extLst>
            </p:cNvPr>
            <p:cNvSpPr txBox="1">
              <a:spLocks/>
            </p:cNvSpPr>
            <p:nvPr/>
          </p:nvSpPr>
          <p:spPr>
            <a:xfrm>
              <a:off x="4300123" y="52973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Scope of work</a:t>
              </a:r>
            </a:p>
          </p:txBody>
        </p:sp>
        <mc:AlternateContent xmlns:mc="http://schemas.openxmlformats.org/markup-compatibility/2006" xmlns:pslz="http://schemas.microsoft.com/office/powerpoint/2016/slidezoom">
          <mc:Choice Requires="pslz">
            <p:graphicFrame>
              <p:nvGraphicFramePr>
                <p:cNvPr id="44" name="Slide Zoom 43">
                  <a:extLst>
                    <a:ext uri="{FF2B5EF4-FFF2-40B4-BE49-F238E27FC236}">
                      <a16:creationId xmlns:a16="http://schemas.microsoft.com/office/drawing/2014/main" id="{91ABB39C-3789-F836-DCED-B4099240EA57}"/>
                    </a:ext>
                  </a:extLst>
                </p:cNvPr>
                <p:cNvGraphicFramePr>
                  <a:graphicFrameLocks noChangeAspect="1"/>
                </p:cNvGraphicFramePr>
                <p:nvPr>
                  <p:extLst>
                    <p:ext uri="{D42A27DB-BD31-4B8C-83A1-F6EECF244321}">
                      <p14:modId xmlns:p14="http://schemas.microsoft.com/office/powerpoint/2010/main" val="3214669781"/>
                    </p:ext>
                  </p:extLst>
                </p:nvPr>
              </p:nvGraphicFramePr>
              <p:xfrm>
                <a:off x="4300123" y="5465010"/>
                <a:ext cx="1044000" cy="552356"/>
              </p:xfrm>
              <a:graphic>
                <a:graphicData uri="http://schemas.microsoft.com/office/powerpoint/2016/slidezoom">
                  <pslz:sldZm>
                    <pslz:sldZmObj sldId="691" cId="4137788745">
                      <pslz:zmPr id="{C41F5FBB-A759-4175-91D4-9D7249D3EE95}" returnToParent="0" transitionDur="1000">
                        <p166:blipFill xmlns:p166="http://schemas.microsoft.com/office/powerpoint/2016/6/main">
                          <a:blip r:embed="rId13"/>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44" name="Slide Zoom 43">
                  <a:hlinkClick r:id="rId14" action="ppaction://hlinksldjump"/>
                  <a:extLst>
                    <a:ext uri="{FF2B5EF4-FFF2-40B4-BE49-F238E27FC236}">
                      <a16:creationId xmlns:a16="http://schemas.microsoft.com/office/drawing/2014/main" id="{91ABB39C-3789-F836-DCED-B4099240EA57}"/>
                    </a:ext>
                  </a:extLst>
                </p:cNvPr>
                <p:cNvPicPr>
                  <a:picLocks noGrp="1" noRot="1" noChangeAspect="1" noMove="1" noResize="1" noEditPoints="1" noAdjustHandles="1" noChangeArrowheads="1" noChangeShapeType="1"/>
                </p:cNvPicPr>
                <p:nvPr/>
              </p:nvPicPr>
              <p:blipFill>
                <a:blip r:embed="rId15"/>
                <a:stretch>
                  <a:fillRect/>
                </a:stretch>
              </p:blipFill>
              <p:spPr>
                <a:xfrm>
                  <a:off x="4300123" y="5324569"/>
                  <a:ext cx="1044000" cy="552356"/>
                </a:xfrm>
                <a:prstGeom prst="rect">
                  <a:avLst/>
                </a:prstGeom>
                <a:ln w="12700">
                  <a:solidFill>
                    <a:schemeClr val="tx2"/>
                  </a:solidFill>
                </a:ln>
              </p:spPr>
            </p:pic>
          </mc:Fallback>
        </mc:AlternateContent>
      </p:grpSp>
      <p:sp>
        <p:nvSpPr>
          <p:cNvPr id="30" name="Rectangle 29">
            <a:extLst>
              <a:ext uri="{FF2B5EF4-FFF2-40B4-BE49-F238E27FC236}">
                <a16:creationId xmlns:a16="http://schemas.microsoft.com/office/drawing/2014/main" id="{6774351E-4BBD-4D2B-807B-92836C1D56F3}"/>
              </a:ext>
            </a:extLst>
          </p:cNvPr>
          <p:cNvSpPr/>
          <p:nvPr/>
        </p:nvSpPr>
        <p:spPr>
          <a:xfrm>
            <a:off x="9270459" y="1367879"/>
            <a:ext cx="1898988" cy="623816"/>
          </a:xfrm>
          <a:prstGeom prst="rect">
            <a:avLst/>
          </a:prstGeom>
          <a:solidFill>
            <a:schemeClr val="bg1"/>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72000" bIns="108000" rtlCol="0" anchor="ctr"/>
          <a:lstStyle/>
          <a:p>
            <a:r>
              <a:rPr lang="en-US" sz="1200" b="1" dirty="0">
                <a:solidFill>
                  <a:srgbClr val="BC204B"/>
                </a:solidFill>
              </a:rPr>
              <a:t>Note: </a:t>
            </a:r>
            <a:r>
              <a:rPr lang="en-US" sz="1000" dirty="0">
                <a:solidFill>
                  <a:srgbClr val="BC204B"/>
                </a:solidFill>
              </a:rPr>
              <a:t>VDD final draft version Need to be localized!</a:t>
            </a:r>
          </a:p>
        </p:txBody>
      </p:sp>
      <p:grpSp>
        <p:nvGrpSpPr>
          <p:cNvPr id="95" name="Group 94">
            <a:extLst>
              <a:ext uri="{FF2B5EF4-FFF2-40B4-BE49-F238E27FC236}">
                <a16:creationId xmlns:a16="http://schemas.microsoft.com/office/drawing/2014/main" id="{025FD040-766C-39B0-BFE1-DD229157C9E5}"/>
              </a:ext>
            </a:extLst>
          </p:cNvPr>
          <p:cNvGrpSpPr/>
          <p:nvPr>
            <p:custDataLst>
              <p:tags r:id="rId3"/>
            </p:custDataLst>
          </p:nvPr>
        </p:nvGrpSpPr>
        <p:grpSpPr>
          <a:xfrm>
            <a:off x="995364" y="153170"/>
            <a:ext cx="9138860" cy="195814"/>
            <a:chOff x="995364" y="153170"/>
            <a:chExt cx="9138860" cy="195814"/>
          </a:xfrm>
        </p:grpSpPr>
        <p:sp>
          <p:nvSpPr>
            <p:cNvPr id="96" name="Other Sections1">
              <a:hlinkClick r:id="rId1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97"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98"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99"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00"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01"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02"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103"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104"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05" name="Current Section10">
              <a:hlinkClick r:id="rId17"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33373599"/>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18" action="ppaction://hlinksldjump"/>
            <a:extLst>
              <a:ext uri="{FF2B5EF4-FFF2-40B4-BE49-F238E27FC236}">
                <a16:creationId xmlns:a16="http://schemas.microsoft.com/office/drawing/2014/main" id="{2603B344-842A-BDA9-B65E-89F60DA3E049}"/>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Appendices</a:t>
            </a:r>
          </a:p>
        </p:txBody>
      </p:sp>
      <p:sp>
        <p:nvSpPr>
          <p:cNvPr id="5" name="TextBox 4">
            <a:hlinkClick r:id="rId19" action="ppaction://hlinksldjump"/>
            <a:extLst>
              <a:ext uri="{FF2B5EF4-FFF2-40B4-BE49-F238E27FC236}">
                <a16:creationId xmlns:a16="http://schemas.microsoft.com/office/drawing/2014/main" id="{D0C8306D-F51C-53CA-C8BC-4C10E6C199FA}"/>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Important notice</a:t>
            </a:r>
          </a:p>
        </p:txBody>
      </p:sp>
      <p:sp>
        <p:nvSpPr>
          <p:cNvPr id="6" name="TextBox 5">
            <a:hlinkClick r:id="rId20" action="ppaction://hlinksldjump"/>
            <a:extLst>
              <a:ext uri="{FF2B5EF4-FFF2-40B4-BE49-F238E27FC236}">
                <a16:creationId xmlns:a16="http://schemas.microsoft.com/office/drawing/2014/main" id="{C644C8C5-DD5B-5368-FC97-00355022A01F}"/>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Basis of preparation</a:t>
            </a:r>
          </a:p>
        </p:txBody>
      </p:sp>
      <p:sp>
        <p:nvSpPr>
          <p:cNvPr id="7" name="TextBox 6">
            <a:hlinkClick r:id="rId21" action="ppaction://hlinksldjump"/>
            <a:extLst>
              <a:ext uri="{FF2B5EF4-FFF2-40B4-BE49-F238E27FC236}">
                <a16:creationId xmlns:a16="http://schemas.microsoft.com/office/drawing/2014/main" id="{F1EBD79A-7A27-A29B-5A4D-DE45C0C0BCB5}"/>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Scope of work</a:t>
            </a:r>
          </a:p>
        </p:txBody>
      </p:sp>
      <p:sp>
        <p:nvSpPr>
          <p:cNvPr id="8" name="TextBox 7">
            <a:hlinkClick r:id="rId22" action="ppaction://hlinksldjump"/>
            <a:extLst>
              <a:ext uri="{FF2B5EF4-FFF2-40B4-BE49-F238E27FC236}">
                <a16:creationId xmlns:a16="http://schemas.microsoft.com/office/drawing/2014/main" id="{0B5794BA-F15C-4C9A-F9A4-7187EA2F2E1B}"/>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Glossary of terms and abbreviations</a:t>
            </a:r>
          </a:p>
        </p:txBody>
      </p:sp>
      <p:sp>
        <p:nvSpPr>
          <p:cNvPr id="9" name="TextBox 8">
            <a:hlinkClick r:id="rId18" action="ppaction://hlinksldjump"/>
            <a:extLst>
              <a:ext uri="{FF2B5EF4-FFF2-40B4-BE49-F238E27FC236}">
                <a16:creationId xmlns:a16="http://schemas.microsoft.com/office/drawing/2014/main" id="{ED4B80B2-CE1E-3D46-58C7-CCFB0BC4AF49}"/>
              </a:ext>
            </a:extLst>
          </p:cNvPr>
          <p:cNvSpPr txBox="1"/>
          <p:nvPr>
            <p:custDataLst>
              <p:tags r:id="rId7"/>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10.</a:t>
            </a:r>
          </a:p>
        </p:txBody>
      </p:sp>
      <p:sp>
        <p:nvSpPr>
          <p:cNvPr id="10" name="TextBox 9">
            <a:hlinkClick r:id="rId18" action="ppaction://hlinksldjump"/>
            <a:extLst>
              <a:ext uri="{FF2B5EF4-FFF2-40B4-BE49-F238E27FC236}">
                <a16:creationId xmlns:a16="http://schemas.microsoft.com/office/drawing/2014/main" id="{9CCBBEEF-E7A2-D528-DC8E-611259381ADA}"/>
              </a:ext>
            </a:extLst>
          </p:cNvPr>
          <p:cNvSpPr txBox="1"/>
          <p:nvPr>
            <p:custDataLst>
              <p:tags r:id="rId8"/>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68</a:t>
            </a:r>
          </a:p>
        </p:txBody>
      </p:sp>
      <p:sp>
        <p:nvSpPr>
          <p:cNvPr id="11" name="TextBox 10">
            <a:hlinkClick r:id="rId19" action="ppaction://hlinksldjump"/>
            <a:extLst>
              <a:ext uri="{FF2B5EF4-FFF2-40B4-BE49-F238E27FC236}">
                <a16:creationId xmlns:a16="http://schemas.microsoft.com/office/drawing/2014/main" id="{A64B012A-B8C0-7D93-6053-050E4604F611}"/>
              </a:ext>
            </a:extLst>
          </p:cNvPr>
          <p:cNvSpPr txBox="1"/>
          <p:nvPr>
            <p:custDataLst>
              <p:tags r:id="rId9"/>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10.1</a:t>
            </a:r>
          </a:p>
        </p:txBody>
      </p:sp>
      <p:sp>
        <p:nvSpPr>
          <p:cNvPr id="12" name="TextBox 11">
            <a:hlinkClick r:id="rId20" action="ppaction://hlinksldjump"/>
            <a:extLst>
              <a:ext uri="{FF2B5EF4-FFF2-40B4-BE49-F238E27FC236}">
                <a16:creationId xmlns:a16="http://schemas.microsoft.com/office/drawing/2014/main" id="{33BF8A66-5AF0-ED09-DE24-4BF552143C26}"/>
              </a:ext>
            </a:extLst>
          </p:cNvPr>
          <p:cNvSpPr txBox="1"/>
          <p:nvPr>
            <p:custDataLst>
              <p:tags r:id="rId10"/>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10.2</a:t>
            </a:r>
          </a:p>
        </p:txBody>
      </p:sp>
      <p:sp>
        <p:nvSpPr>
          <p:cNvPr id="13" name="TextBox 12">
            <a:hlinkClick r:id="rId21" action="ppaction://hlinksldjump"/>
            <a:extLst>
              <a:ext uri="{FF2B5EF4-FFF2-40B4-BE49-F238E27FC236}">
                <a16:creationId xmlns:a16="http://schemas.microsoft.com/office/drawing/2014/main" id="{C7D880D4-188B-50D8-AAB0-9B694C170657}"/>
              </a:ext>
            </a:extLst>
          </p:cNvPr>
          <p:cNvSpPr txBox="1"/>
          <p:nvPr>
            <p:custDataLst>
              <p:tags r:id="rId11"/>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10.3</a:t>
            </a:r>
          </a:p>
        </p:txBody>
      </p:sp>
      <p:sp>
        <p:nvSpPr>
          <p:cNvPr id="14" name="TextBox 13">
            <a:hlinkClick r:id="rId22" action="ppaction://hlinksldjump"/>
            <a:extLst>
              <a:ext uri="{FF2B5EF4-FFF2-40B4-BE49-F238E27FC236}">
                <a16:creationId xmlns:a16="http://schemas.microsoft.com/office/drawing/2014/main" id="{463B800C-1EC8-00B5-2AB1-8B0F6B27CEF9}"/>
              </a:ext>
            </a:extLst>
          </p:cNvPr>
          <p:cNvSpPr txBox="1"/>
          <p:nvPr>
            <p:custDataLst>
              <p:tags r:id="rId12"/>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10.4</a:t>
            </a:r>
          </a:p>
        </p:txBody>
      </p:sp>
      <p:sp>
        <p:nvSpPr>
          <p:cNvPr id="15" name="TextBox 14">
            <a:hlinkClick r:id="rId19" action="ppaction://hlinksldjump"/>
            <a:extLst>
              <a:ext uri="{FF2B5EF4-FFF2-40B4-BE49-F238E27FC236}">
                <a16:creationId xmlns:a16="http://schemas.microsoft.com/office/drawing/2014/main" id="{87530201-EE85-89E3-A378-B6658A9736FA}"/>
              </a:ext>
            </a:extLst>
          </p:cNvPr>
          <p:cNvSpPr txBox="1"/>
          <p:nvPr>
            <p:custDataLst>
              <p:tags r:id="rId13"/>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69</a:t>
            </a:r>
          </a:p>
        </p:txBody>
      </p:sp>
      <p:sp>
        <p:nvSpPr>
          <p:cNvPr id="16" name="TextBox 15">
            <a:hlinkClick r:id="rId20" action="ppaction://hlinksldjump"/>
            <a:extLst>
              <a:ext uri="{FF2B5EF4-FFF2-40B4-BE49-F238E27FC236}">
                <a16:creationId xmlns:a16="http://schemas.microsoft.com/office/drawing/2014/main" id="{EB91D8ED-5D66-604C-D33E-02E41FE176F3}"/>
              </a:ext>
            </a:extLst>
          </p:cNvPr>
          <p:cNvSpPr txBox="1"/>
          <p:nvPr>
            <p:custDataLst>
              <p:tags r:id="rId14"/>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70</a:t>
            </a:r>
          </a:p>
        </p:txBody>
      </p:sp>
      <p:sp>
        <p:nvSpPr>
          <p:cNvPr id="17" name="TextBox 16">
            <a:hlinkClick r:id="rId21" action="ppaction://hlinksldjump"/>
            <a:extLst>
              <a:ext uri="{FF2B5EF4-FFF2-40B4-BE49-F238E27FC236}">
                <a16:creationId xmlns:a16="http://schemas.microsoft.com/office/drawing/2014/main" id="{96B6632D-D25D-F8FE-3FC5-0DD6700BA3D6}"/>
              </a:ext>
            </a:extLst>
          </p:cNvPr>
          <p:cNvSpPr txBox="1"/>
          <p:nvPr>
            <p:custDataLst>
              <p:tags r:id="rId15"/>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71</a:t>
            </a:r>
          </a:p>
        </p:txBody>
      </p:sp>
      <p:sp>
        <p:nvSpPr>
          <p:cNvPr id="18" name="TextBox 17">
            <a:hlinkClick r:id="rId22" action="ppaction://hlinksldjump"/>
            <a:extLst>
              <a:ext uri="{FF2B5EF4-FFF2-40B4-BE49-F238E27FC236}">
                <a16:creationId xmlns:a16="http://schemas.microsoft.com/office/drawing/2014/main" id="{E158237E-3275-FC24-67A7-672B61F0858C}"/>
              </a:ext>
            </a:extLst>
          </p:cNvPr>
          <p:cNvSpPr txBox="1"/>
          <p:nvPr>
            <p:custDataLst>
              <p:tags r:id="rId16"/>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72</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5362" y="431800"/>
            <a:ext cx="10204452" cy="539750"/>
          </a:xfrm>
        </p:spPr>
        <p:txBody>
          <a:bodyPr vert="horz"/>
          <a:lstStyle/>
          <a:p>
            <a:r>
              <a:rPr lang="en-US" dirty="0"/>
              <a:t>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10"/>
          </p:nvPr>
        </p:nvSpPr>
        <p:spPr>
          <a:xfrm>
            <a:off x="1003200" y="1330125"/>
            <a:ext cx="4968000" cy="4896503"/>
          </a:xfrm>
        </p:spPr>
        <p:txBody>
          <a:bodyPr/>
          <a:lstStyle/>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1" i="0" u="none" strike="noStrike" kern="1200" cap="none" spc="-20" normalizeH="0" baseline="0" noProof="0" dirty="0">
                <a:ln>
                  <a:noFill/>
                </a:ln>
                <a:solidFill>
                  <a:srgbClr val="1E49E2"/>
                </a:solidFill>
                <a:effectLst/>
                <a:uLnTx/>
                <a:uFillTx/>
                <a:latin typeface="Arial"/>
                <a:ea typeface="+mn-ea"/>
                <a:cs typeface="+mn-cs"/>
              </a:rPr>
              <a:t>General</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Our report is for the benefit and information only of those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parties’ legal and other professional advisers) in respect of our work or the report.</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Our work commenced on [</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date</a:t>
            </a:r>
            <a:r>
              <a:rPr kumimoji="0" lang="en-US" sz="700" b="0" i="0" u="none" strike="noStrike" kern="1200" cap="none" spc="-20" normalizeH="0" baseline="0" noProof="0" dirty="0">
                <a:ln>
                  <a:noFill/>
                </a:ln>
                <a:solidFill>
                  <a:srgbClr val="00338D"/>
                </a:solidFill>
                <a:effectLst/>
                <a:uLnTx/>
                <a:uFillTx/>
                <a:latin typeface="Arial"/>
                <a:ea typeface="+mn-ea"/>
                <a:cs typeface="+mn-cs"/>
              </a:rPr>
              <a:t>] and our fieldwork for this report was completed on [</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date</a:t>
            </a:r>
            <a:r>
              <a:rPr kumimoji="0" lang="en-US" sz="700" b="0" i="0" u="none" strike="noStrike" kern="1200" cap="none" spc="-20" normalizeH="0" baseline="0" noProof="0" dirty="0">
                <a:ln>
                  <a:noFill/>
                </a:ln>
                <a:solidFill>
                  <a:srgbClr val="00338D"/>
                </a:solidFill>
                <a:effectLst/>
                <a:uLnTx/>
                <a:uFillTx/>
                <a:latin typeface="Arial"/>
                <a:ea typeface="+mn-ea"/>
                <a:cs typeface="+mn-cs"/>
              </a:rPr>
              <a:t>]. We have not undertaken to update our report for events or circumstances arising after that date.</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In preparing our report, our primary source has been Target’s internal management information and representations made to us by Management of Target. We do not accept responsibility for such information which remains the responsibility of Management. Details of our principal information sources are set out in the basis of preparation and we have satisfied ourselves, so far as possible, that the information presented in our report is consistent with other information that was made available to us in the course of our work in accordance with the terms of our Engagement Letter. We have not, however, sought to establish the reliability of the sources by reference to other evidence.</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This engagement is not an assurance engagement conducted in accordance with any generally accepted assurance standards and consequently no assurance opinion is expressed.</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contents of this report have not been reviewed by the Management of Target and the factual accuracy of this report has not been confirmed by the Management./[</a:t>
            </a:r>
            <a:r>
              <a:rPr kumimoji="0" lang="en-US" sz="700" b="0" i="0" u="none" strike="noStrike" kern="1200" cap="none" spc="-20" normalizeH="0" baseline="0" noProof="0" dirty="0">
                <a:ln>
                  <a:noFill/>
                </a:ln>
                <a:solidFill>
                  <a:srgbClr val="FF0000"/>
                </a:solidFill>
                <a:effectLst/>
                <a:highlight>
                  <a:srgbClr val="FFFF00"/>
                </a:highlight>
                <a:uLnTx/>
                <a:uFillTx/>
                <a:latin typeface="Arial"/>
                <a:ea typeface="+mn-ea"/>
                <a:cs typeface="+mn-cs"/>
              </a:rPr>
              <a:t>The contents of this report have been reviewed by the Management of Target and the factual accuracy of this report has been confirmed.</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We accept no responsibility or liability for the findings or reports of legal and other professional advisers, even though we have referred to their findings and/or reports in our report.</a:t>
            </a:r>
            <a:endParaRPr kumimoji="0" lang="en-US" sz="700" b="0" i="0" u="none" strike="noStrike" kern="1200" cap="none" spc="0" normalizeH="0" baseline="0" noProof="0" dirty="0">
              <a:ln>
                <a:noFill/>
              </a:ln>
              <a:solidFill>
                <a:srgbClr val="00338D"/>
              </a:solidFill>
              <a:effectLst/>
              <a:uLnTx/>
              <a:uFillTx/>
              <a:latin typeface="Arial"/>
              <a:ea typeface="+mn-ea"/>
              <a:cs typeface="+mn-cs"/>
            </a:endParaRP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1" i="0" u="none" strike="noStrike" kern="1200" cap="none" spc="-20" normalizeH="0" baseline="0" noProof="0" dirty="0">
                <a:ln>
                  <a:noFill/>
                </a:ln>
                <a:solidFill>
                  <a:srgbClr val="1E49E2"/>
                </a:solidFill>
                <a:effectLst/>
                <a:uLnTx/>
                <a:uFillTx/>
                <a:latin typeface="Arial"/>
                <a:ea typeface="+mn-ea"/>
                <a:cs typeface="+mn-cs"/>
              </a:rPr>
              <a:t>KPMG approach</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Our report makes reference to ‘KPMG Analysis’; this indicates only that we have (where specified) undertaken certain analytical activities on the underlying data to arrive at the information presented; we do not accept responsibility for the underlying data.</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analysis of 'normalized'/'underlying‘ earnings and working capital is for indicative purposes only. We have sought to illustrate the effect on EBITDA/working capital of adjusting for those items identified in the course of our work that may be considered to be 'non-recurring' or 'exceptional' using criteria established by the Vendors/Target. However the selection and quantification of such adjustments are necessarily judgmental. Because there is no authoritative literature or common standard with respect to the calculation of 'normalized'/'underlying' earnings/working capital, there is no basis to state whether all appropriate and comparable adjustments have been made. In addition, while the adjustments may indeed relate to items which are 'non-recurring' or 'exceptional' or otherwise unrepresentative of the trend, it is possible that earnings/working capital for future periods may be affected by such items, which may be different from the historical items.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last twelve months/LTM run rate analysis has been prepared for illustrative purposes. There is no authoritative literature or common standard with respect to the calculation of 'run rate' EBITDA, and therefore there is no basis on which to state whether, in the illustrative analysis of 'run rate‘ EBITDA, all appropriate and comparable adjustments have been made. We have set out in our report the basis on which items have been included in or excluded from the run rate calculations for particular years. It is for you to satisfy yourselves as to whether the items included or excluded are appropriate for your purposes. The decision as to what items should be included in or excluded from the calculation of 'run rate' EBITDA is highly judgmental; you may choose to interpret the information presented differently.</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prospective financial information set out within our report has been prepared by Target; we do not accept responsibility for such information. We must emphasize that the realization of the prospective financial information is dependent on the continuing validity of the assumptions on which it is based. The assumptions will need to be reviewed and revised to reflect any such changes in trading patterns, cost structures or the direction of the business as they emerge. We accept no responsibility for the realization of the prospective financial information. Actual results are likely to be different from those shown in the prospective financial information because events and circumstances frequently do not occur as expected, and the differences may be material.</a:t>
            </a: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11"/>
          </p:nvPr>
        </p:nvSpPr>
        <p:spPr>
          <a:xfrm>
            <a:off x="6220800" y="1330126"/>
            <a:ext cx="4968000" cy="4896502"/>
          </a:xfrm>
        </p:spPr>
        <p:txBody>
          <a:bodyPr/>
          <a:lstStyle/>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net debt analysis has been prepared to assist in considering those items which may be ‘debt like’. There is no authoritative literature or common standard with respect to the identification of items which may form part of ‘debt’ or ‘net debt’, and the decision as to what items should be included or excluded is highly judgmental. Accordingly, there is no basis on which to state whether in the analysis of net debt, all appropriate and comparable items have been included, and that there are no items that might be judged by some to be inappropriate or that all appropriate adjustments have been made. We have set out in our report the basis on which items have been included, excluded, or adjusted in the net debt analysis. You may choose to analyze the information presented differently.</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Some reporting sections contain links to supplementary data, such as Excel </a:t>
            </a:r>
            <a:r>
              <a:rPr kumimoji="0" lang="en-US" sz="700" b="0" i="0" u="none" strike="noStrike" kern="1200" cap="none" spc="-20" normalizeH="0" baseline="0" noProof="0" dirty="0" err="1">
                <a:ln>
                  <a:noFill/>
                </a:ln>
                <a:solidFill>
                  <a:srgbClr val="00338D"/>
                </a:solidFill>
                <a:effectLst/>
                <a:uLnTx/>
                <a:uFillTx/>
                <a:latin typeface="Arial"/>
                <a:ea typeface="+mn-ea"/>
                <a:cs typeface="+mn-cs"/>
              </a:rPr>
              <a:t>databooks</a:t>
            </a:r>
            <a:r>
              <a:rPr kumimoji="0" lang="en-US" sz="700" b="0" i="0" u="none" strike="noStrike" kern="1200" cap="none" spc="-20" normalizeH="0" baseline="0" noProof="0" dirty="0">
                <a:ln>
                  <a:noFill/>
                </a:ln>
                <a:solidFill>
                  <a:srgbClr val="00338D"/>
                </a:solidFill>
                <a:effectLst/>
                <a:uLnTx/>
                <a:uFillTx/>
                <a:latin typeface="Arial"/>
                <a:ea typeface="+mn-ea"/>
                <a:cs typeface="+mn-cs"/>
              </a:rPr>
              <a:t> and/or Power BI dashboards. Such supplementary data will be available at the time of the delivery of the report and at least [</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one month</a:t>
            </a:r>
            <a:r>
              <a:rPr kumimoji="0" lang="en-US" sz="700" b="0" i="0" u="none" strike="noStrike" kern="1200" cap="none" spc="-20" normalizeH="0" baseline="0" noProof="0" dirty="0">
                <a:ln>
                  <a:noFill/>
                </a:ln>
                <a:solidFill>
                  <a:srgbClr val="00338D"/>
                </a:solidFill>
                <a:effectLst/>
                <a:uLnTx/>
                <a:uFillTx/>
                <a:latin typeface="Arial"/>
                <a:ea typeface="+mn-ea"/>
                <a:cs typeface="+mn-cs"/>
              </a:rPr>
              <a:t>] thereafter. KPMG has no obligation to host the supplementary data thereafter. Access to such supplementary data is limited to the recipients of this report and may not be accessible by any third parties. Gaining access to areas within provided supplementary data or to any other online application of KPMG to where access was not granted is not allowed.</a:t>
            </a:r>
            <a:r>
              <a:rPr kumimoji="0" lang="en-US" sz="700" b="0" i="0" u="none" strike="noStrike" kern="1200" cap="none" spc="-20" normalizeH="0" baseline="0" noProof="0" dirty="0">
                <a:ln>
                  <a:noFill/>
                </a:ln>
                <a:solidFill>
                  <a:srgbClr val="1E49E2"/>
                </a:solidFill>
                <a:effectLst/>
                <a:uLnTx/>
                <a:uFillTx/>
                <a:latin typeface="Arial"/>
                <a:ea typeface="+mn-ea"/>
                <a:cs typeface="+mn-cs"/>
              </a:rPr>
              <a:t> </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Include if Excel/PBI linked to report</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1" i="0" u="none" strike="noStrike" kern="1200" cap="none" spc="-20" normalizeH="0" baseline="0" noProof="0" dirty="0">
                <a:ln>
                  <a:noFill/>
                </a:ln>
                <a:solidFill>
                  <a:srgbClr val="1E49E2"/>
                </a:solidFill>
                <a:effectLst/>
                <a:uLnTx/>
                <a:uFillTx/>
                <a:latin typeface="Arial"/>
                <a:ea typeface="+mn-ea"/>
                <a:cs typeface="+mn-cs"/>
              </a:rPr>
              <a:t>Benchmarking</a:t>
            </a:r>
            <a:r>
              <a:rPr kumimoji="0" lang="en-US" sz="700" b="0" i="0" u="none" strike="noStrike" kern="1200" cap="none" spc="-20" normalizeH="0" baseline="0" noProof="0" dirty="0">
                <a:ln>
                  <a:noFill/>
                </a:ln>
                <a:solidFill>
                  <a:srgbClr val="00338D"/>
                </a:solidFill>
                <a:effectLst/>
                <a:uLnTx/>
                <a:uFillTx/>
                <a:latin typeface="Arial"/>
                <a:ea typeface="+mn-ea"/>
                <a:cs typeface="+mn-cs"/>
              </a:rPr>
              <a:t> [</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Include if separate benchmarking analysis is carried out</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benchmarking analysis is based on information obtained from comparable industries and/or activities. As with any benchmarking analysis there is a risk that the information is not fully comparable. If the benchmarked information is based on aggregated industry information, access to more detailed information could have led to the analyses being presented in another manner or to different data being presented. We accept no responsibility for such differences.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benchmarking analysis presented in this report presents aggregated or company level data collected from third-party data sources as referenced. We accept no responsibility for the correctness of the data obtained from third-party sources.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Benchmarking results should be treated as indicative, as benchmarking results will vary based on the industry segmentation, geography selected, and periodicity. While scoring lower or higher than peers on a select key performance indicators (“KPIs”) may indicate underperformance or superior performance, underlying factors must be understood, including the interaction between different KPIs.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1" i="0" u="none" strike="noStrike" kern="1200" cap="none" spc="-20" normalizeH="0" baseline="0" noProof="0" dirty="0">
                <a:ln>
                  <a:noFill/>
                </a:ln>
                <a:solidFill>
                  <a:srgbClr val="1E49E2"/>
                </a:solidFill>
                <a:effectLst/>
                <a:uLnTx/>
                <a:uFillTx/>
                <a:latin typeface="Arial"/>
                <a:ea typeface="+mn-ea"/>
                <a:cs typeface="+mn-cs"/>
              </a:rPr>
              <a:t>Value creation potential </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r>
              <a:rPr kumimoji="0" lang="en-US" sz="700" b="0" i="0" u="none" strike="noStrike" kern="1200" cap="none" spc="-20" normalizeH="0" baseline="0" noProof="0" dirty="0">
                <a:ln>
                  <a:noFill/>
                </a:ln>
                <a:solidFill>
                  <a:srgbClr val="FD349C"/>
                </a:solidFill>
                <a:effectLst/>
                <a:highlight>
                  <a:srgbClr val="FFFF00"/>
                </a:highlight>
                <a:uLnTx/>
                <a:uFillTx/>
                <a:latin typeface="Arial"/>
                <a:ea typeface="+mn-ea"/>
                <a:cs typeface="+mn-cs"/>
              </a:rPr>
              <a:t>Include if VC work is carried out</a:t>
            </a:r>
            <a:r>
              <a:rPr kumimoji="0" lang="en-US" sz="700" b="0" i="0" u="none" strike="noStrike" kern="1200" cap="none" spc="-20" normalizeH="0" baseline="0" noProof="0" dirty="0">
                <a:ln>
                  <a:noFill/>
                </a:ln>
                <a:solidFill>
                  <a:srgbClr val="00338D"/>
                </a:solidFill>
                <a:effectLst/>
                <a:uLnTx/>
                <a:uFillTx/>
                <a:latin typeface="Arial"/>
                <a:ea typeface="+mn-ea"/>
                <a:cs typeface="+mn-cs"/>
              </a:rPr>
              <a:t>]</a:t>
            </a:r>
            <a:endParaRPr kumimoji="0" lang="en-US" sz="700" b="0" i="0" u="none" strike="noStrike" kern="1200" cap="none" spc="-20" normalizeH="0" baseline="0" noProof="0" dirty="0">
              <a:ln>
                <a:noFill/>
              </a:ln>
              <a:solidFill>
                <a:srgbClr val="1E49E2"/>
              </a:solidFill>
              <a:effectLst/>
              <a:uLnTx/>
              <a:uFillTx/>
              <a:latin typeface="Arial"/>
              <a:ea typeface="+mn-ea"/>
              <a:cs typeface="+mn-cs"/>
            </a:endParaRP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During the course of our work we have attempted to identify potential value creation opportunities to facilitate discussions on areas of potential value enhancement. The value enhancement opportunities shown are indicative estimates only and are based on limited information, high level analysis and assumptions. The opportunity analysis have been carried out using limited data and do not comprise a detailed diagnostic. Accordingly the analysis needs to be interpreted with caution. The assumptions used in the calculation of base case/stretch case upside potential are set forth within our analysis.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KPMG gives no assurance over the achievement of any value enhancement opportunities included in the report. In addition, since the value creation opportunities and the assumptions on which they are based relate to the future they may also be affected by unforeseen events and circumstances. Achievement of any value creation opportunity will also be dependent on the implementation of action plans and the steps taken by management. </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benchmarking information used in the value creation analysis is based upon publicly available information - there can be no guarantee that such information is accurate as of the date it was obtained or that it will continue to be accurate in the future. KPMG have relied upon and assumed, without independent verification, the accuracy and completeness of information available from public sources.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The value enhancement opportunities shown within are not intended to fully capture all the inter-relationships that exist between the individual opportunity areas. As a result, it may not be possible to realize any of the opportunities identified. Any actions that you choose to take as a result of the directional views provided, are the responsibility of the management team. KPMG will not use the information presented to make any decisions or judgement on behalf of management. Such decisions are the responsibility of the management team who must designate an individual who possesses the suitable skill, knowledge and experience to be responsible at all times for the these decisions.</a:t>
            </a:r>
          </a:p>
          <a:p>
            <a:pPr marL="0" marR="0" lvl="0" indent="0" algn="just" defTabSz="914377" rtl="0" eaLnBrk="1" fontAlgn="auto" latinLnBrk="0" hangingPunct="1">
              <a:lnSpc>
                <a:spcPts val="800"/>
              </a:lnSpc>
              <a:spcBef>
                <a:spcPts val="0"/>
              </a:spcBef>
              <a:spcAft>
                <a:spcPts val="200"/>
              </a:spcAft>
              <a:buClrTx/>
              <a:buSzTx/>
              <a:buFontTx/>
              <a:buNone/>
              <a:tabLst/>
              <a:defRPr/>
            </a:pPr>
            <a:r>
              <a:rPr kumimoji="0" lang="en-US" sz="700" b="0" i="0" u="none" strike="noStrike" kern="1200" cap="none" spc="-20" normalizeH="0" baseline="0" noProof="0" dirty="0">
                <a:ln>
                  <a:noFill/>
                </a:ln>
                <a:solidFill>
                  <a:srgbClr val="00338D"/>
                </a:solidFill>
                <a:effectLst/>
                <a:uLnTx/>
                <a:uFillTx/>
                <a:latin typeface="Arial"/>
                <a:ea typeface="+mn-ea"/>
                <a:cs typeface="+mn-cs"/>
              </a:rPr>
              <a:t>In performing the value creation potential analysis we have also recommended certain "Next steps to validate opportunity".  We are happy to discuss how we can support you with these steps, subject to contract.</a:t>
            </a:r>
          </a:p>
        </p:txBody>
      </p:sp>
      <p:sp>
        <p:nvSpPr>
          <p:cNvPr id="76" name="UpSlide SubSection Marker" hidden="1">
            <a:extLst>
              <a:ext uri="{FF2B5EF4-FFF2-40B4-BE49-F238E27FC236}">
                <a16:creationId xmlns:a16="http://schemas.microsoft.com/office/drawing/2014/main" id="{8790AC6F-5EEB-0E96-BC28-41473ED8738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Important notice</a:t>
            </a:r>
            <a:endParaRPr lang="en-US" sz="1600" dirty="0">
              <a:solidFill>
                <a:schemeClr val="bg1"/>
              </a:solidFill>
            </a:endParaRPr>
          </a:p>
        </p:txBody>
      </p:sp>
      <p:grpSp>
        <p:nvGrpSpPr>
          <p:cNvPr id="94" name="Group 93">
            <a:extLst>
              <a:ext uri="{FF2B5EF4-FFF2-40B4-BE49-F238E27FC236}">
                <a16:creationId xmlns:a16="http://schemas.microsoft.com/office/drawing/2014/main" id="{025FD040-766C-39B0-BFE1-DD229157C9E5}"/>
              </a:ext>
            </a:extLst>
          </p:cNvPr>
          <p:cNvGrpSpPr/>
          <p:nvPr>
            <p:custDataLst>
              <p:tags r:id="rId3"/>
            </p:custDataLst>
          </p:nvPr>
        </p:nvGrpSpPr>
        <p:grpSpPr>
          <a:xfrm>
            <a:off x="995364" y="153170"/>
            <a:ext cx="9138860" cy="195814"/>
            <a:chOff x="995364" y="153170"/>
            <a:chExt cx="9138860" cy="195814"/>
          </a:xfrm>
        </p:grpSpPr>
        <p:sp>
          <p:nvSpPr>
            <p:cNvPr id="84"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5"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86"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87"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8"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89"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90"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91"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92"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93" name="Current Section10">
              <a:hlinkClick r:id="rId8"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4508770"/>
      </p:ext>
    </p:extLst>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Isosceles Triangle 25">
            <a:extLst>
              <a:ext uri="{FF2B5EF4-FFF2-40B4-BE49-F238E27FC236}">
                <a16:creationId xmlns:a16="http://schemas.microsoft.com/office/drawing/2014/main" id="{7B66DAC8-FB22-44B3-ABFF-41A17DDC85DA}"/>
              </a:ext>
            </a:extLst>
          </p:cNvPr>
          <p:cNvSpPr/>
          <p:nvPr/>
        </p:nvSpPr>
        <p:spPr>
          <a:xfrm rot="5400000">
            <a:off x="1187717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7" name="Isosceles Triangle 26">
            <a:extLst>
              <a:ext uri="{FF2B5EF4-FFF2-40B4-BE49-F238E27FC236}">
                <a16:creationId xmlns:a16="http://schemas.microsoft.com/office/drawing/2014/main" id="{F88B9862-3616-415F-AEE6-200103420081}"/>
              </a:ext>
            </a:extLst>
          </p:cNvPr>
          <p:cNvSpPr/>
          <p:nvPr/>
        </p:nvSpPr>
        <p:spPr>
          <a:xfrm rot="16200000" flipH="1">
            <a:off x="11315057"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8" name="Oval 27">
            <a:hlinkClick r:id="" action="ppaction://hlinkshowjump?jump=nextslide"/>
            <a:extLst>
              <a:ext uri="{FF2B5EF4-FFF2-40B4-BE49-F238E27FC236}">
                <a16:creationId xmlns:a16="http://schemas.microsoft.com/office/drawing/2014/main" id="{9EB61822-3CD1-4649-B3F7-9F7E2903C52E}"/>
              </a:ext>
            </a:extLst>
          </p:cNvPr>
          <p:cNvSpPr/>
          <p:nvPr/>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9" name="Oval 28">
            <a:hlinkClick r:id="" action="ppaction://hlinkshowjump?jump=previousslide"/>
            <a:extLst>
              <a:ext uri="{FF2B5EF4-FFF2-40B4-BE49-F238E27FC236}">
                <a16:creationId xmlns:a16="http://schemas.microsoft.com/office/drawing/2014/main" id="{B34C3F5F-19EF-4FB3-828D-84EDA9B7DBCB}"/>
              </a:ext>
            </a:extLst>
          </p:cNvPr>
          <p:cNvSpPr/>
          <p:nvPr/>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pic>
        <p:nvPicPr>
          <p:cNvPr id="30" name="Graphic 29" descr="Home">
            <a:hlinkClick r:id="rId2" action="ppaction://hlinksldjump"/>
            <a:extLst>
              <a:ext uri="{FF2B5EF4-FFF2-40B4-BE49-F238E27FC236}">
                <a16:creationId xmlns:a16="http://schemas.microsoft.com/office/drawing/2014/main" id="{051E7E54-3E6C-48A5-8EB2-3D1BF60FB21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8" cy="222478"/>
          </a:xfrm>
          <a:prstGeom prst="rect">
            <a:avLst/>
          </a:prstGeom>
        </p:spPr>
      </p:pic>
      <p:sp>
        <p:nvSpPr>
          <p:cNvPr id="40" name="TextBox 39">
            <a:extLst>
              <a:ext uri="{FF2B5EF4-FFF2-40B4-BE49-F238E27FC236}">
                <a16:creationId xmlns:a16="http://schemas.microsoft.com/office/drawing/2014/main" id="{BD520865-0633-4E08-A5DD-2B7162435F66}"/>
              </a:ext>
            </a:extLst>
          </p:cNvPr>
          <p:cNvSpPr txBox="1">
            <a:spLocks/>
          </p:cNvSpPr>
          <p:nvPr/>
        </p:nvSpPr>
        <p:spPr>
          <a:xfrm>
            <a:off x="998399" y="214800"/>
            <a:ext cx="8618498" cy="156133"/>
          </a:xfrm>
          <a:prstGeom prst="rect">
            <a:avLst/>
          </a:prstGeom>
          <a:noFill/>
        </p:spPr>
        <p:txBody>
          <a:bodyPr wrap="square" lIns="0" tIns="0" rIns="0" bIns="0">
            <a:spAutoFit/>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lang="en-US" sz="1000" dirty="0">
                <a:solidFill>
                  <a:schemeClr val="bg1">
                    <a:lumMod val="75000"/>
                  </a:schemeClr>
                </a:solidFill>
                <a:latin typeface="Arial"/>
              </a:rPr>
              <a:t>Executive summary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Historical trading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Forecast trading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Balance sheet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Cash flows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reporting</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  </a:t>
            </a:r>
            <a:r>
              <a:rPr lang="en-US" sz="1000" dirty="0">
                <a:solidFill>
                  <a:schemeClr val="bg1">
                    <a:lumMod val="75000"/>
                  </a:schemeClr>
                </a:solidFill>
                <a:latin typeface="Arial"/>
              </a:rPr>
              <a:t>Value creation  </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a:t>
            </a:r>
            <a:r>
              <a:rPr lang="en-US" sz="1000" dirty="0">
                <a:solidFill>
                  <a:schemeClr val="bg1">
                    <a:lumMod val="75000"/>
                  </a:schemeClr>
                </a:solidFill>
                <a:latin typeface="Arial"/>
              </a:rPr>
              <a:t>Taxation</a:t>
            </a:r>
            <a:r>
              <a:rPr kumimoji="0" lang="en-US" sz="1000" b="0" i="0" u="none" strike="noStrike" kern="1200" cap="none" spc="0" normalizeH="0" baseline="0" noProof="0" dirty="0">
                <a:ln>
                  <a:noFill/>
                </a:ln>
                <a:solidFill>
                  <a:schemeClr val="bg1">
                    <a:lumMod val="75000"/>
                  </a:schemeClr>
                </a:solidFill>
                <a:effectLst/>
                <a:uLnTx/>
                <a:uFillTx/>
                <a:latin typeface="Arial"/>
                <a:ea typeface="+mn-ea"/>
                <a:cs typeface="+mn-cs"/>
              </a:rPr>
              <a:t>  |  </a:t>
            </a:r>
            <a:r>
              <a:rPr lang="en-US" sz="1000" b="1" dirty="0">
                <a:solidFill>
                  <a:schemeClr val="tx2"/>
                </a:solidFill>
                <a:latin typeface="Arial"/>
              </a:rPr>
              <a:t>Appendices </a:t>
            </a:r>
          </a:p>
        </p:txBody>
      </p:sp>
      <p:sp>
        <p:nvSpPr>
          <p:cNvPr id="41" name="Rectangle 40">
            <a:hlinkClick r:id="" action="ppaction://noaction"/>
            <a:extLst>
              <a:ext uri="{FF2B5EF4-FFF2-40B4-BE49-F238E27FC236}">
                <a16:creationId xmlns:a16="http://schemas.microsoft.com/office/drawing/2014/main" id="{39F4484C-BB43-4DD6-A35D-CC5FC4AB94BF}"/>
              </a:ext>
            </a:extLst>
          </p:cNvPr>
          <p:cNvSpPr/>
          <p:nvPr/>
        </p:nvSpPr>
        <p:spPr>
          <a:xfrm>
            <a:off x="2213396" y="214180"/>
            <a:ext cx="106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58" name="Rectangle 57">
            <a:hlinkClick r:id="" action="ppaction://noaction"/>
            <a:extLst>
              <a:ext uri="{FF2B5EF4-FFF2-40B4-BE49-F238E27FC236}">
                <a16:creationId xmlns:a16="http://schemas.microsoft.com/office/drawing/2014/main" id="{495A8B83-F70D-4E6C-9D4C-07ED45090BD6}"/>
              </a:ext>
            </a:extLst>
          </p:cNvPr>
          <p:cNvSpPr/>
          <p:nvPr/>
        </p:nvSpPr>
        <p:spPr>
          <a:xfrm>
            <a:off x="4418052" y="214180"/>
            <a:ext cx="91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59" name="Rectangle 58">
            <a:hlinkClick r:id="" action="ppaction://noaction"/>
            <a:extLst>
              <a:ext uri="{FF2B5EF4-FFF2-40B4-BE49-F238E27FC236}">
                <a16:creationId xmlns:a16="http://schemas.microsoft.com/office/drawing/2014/main" id="{89F89755-FC1E-4717-A0BB-68554C70E286}"/>
              </a:ext>
            </a:extLst>
          </p:cNvPr>
          <p:cNvSpPr/>
          <p:nvPr/>
        </p:nvSpPr>
        <p:spPr>
          <a:xfrm>
            <a:off x="7882384" y="214180"/>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0" name="Rectangle 59">
            <a:hlinkClick r:id="" action="ppaction://noaction"/>
            <a:extLst>
              <a:ext uri="{FF2B5EF4-FFF2-40B4-BE49-F238E27FC236}">
                <a16:creationId xmlns:a16="http://schemas.microsoft.com/office/drawing/2014/main" id="{EFE03DCB-8A43-474D-B45F-56F996ED00ED}"/>
              </a:ext>
            </a:extLst>
          </p:cNvPr>
          <p:cNvSpPr/>
          <p:nvPr/>
        </p:nvSpPr>
        <p:spPr>
          <a:xfrm>
            <a:off x="8537299" y="214180"/>
            <a:ext cx="82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4" name="Rectangle 63">
            <a:hlinkClick r:id="" action="ppaction://noaction"/>
            <a:extLst>
              <a:ext uri="{FF2B5EF4-FFF2-40B4-BE49-F238E27FC236}">
                <a16:creationId xmlns:a16="http://schemas.microsoft.com/office/drawing/2014/main" id="{518F4322-3CD2-463C-A0B9-84A10FC89CA6}"/>
              </a:ext>
            </a:extLst>
          </p:cNvPr>
          <p:cNvSpPr/>
          <p:nvPr/>
        </p:nvSpPr>
        <p:spPr>
          <a:xfrm>
            <a:off x="5381749" y="214180"/>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5" name="Rectangle 64">
            <a:hlinkClick r:id="rId5" action="ppaction://hlinksldjump"/>
            <a:extLst>
              <a:ext uri="{FF2B5EF4-FFF2-40B4-BE49-F238E27FC236}">
                <a16:creationId xmlns:a16="http://schemas.microsoft.com/office/drawing/2014/main" id="{C4898F6E-28E1-4463-B2E3-AB4099345534}"/>
              </a:ext>
            </a:extLst>
          </p:cNvPr>
          <p:cNvSpPr/>
          <p:nvPr/>
        </p:nvSpPr>
        <p:spPr>
          <a:xfrm>
            <a:off x="990941" y="214180"/>
            <a:ext cx="117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6" name="Rectangle 65">
            <a:hlinkClick r:id="" action="ppaction://noaction"/>
            <a:extLst>
              <a:ext uri="{FF2B5EF4-FFF2-40B4-BE49-F238E27FC236}">
                <a16:creationId xmlns:a16="http://schemas.microsoft.com/office/drawing/2014/main" id="{C9E95FC1-29C3-4E64-9258-E761396A0378}"/>
              </a:ext>
            </a:extLst>
          </p:cNvPr>
          <p:cNvSpPr/>
          <p:nvPr/>
        </p:nvSpPr>
        <p:spPr>
          <a:xfrm>
            <a:off x="3323100" y="214180"/>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7" name="Rectangle 66">
            <a:hlinkClick r:id="" action="ppaction://noaction"/>
            <a:extLst>
              <a:ext uri="{FF2B5EF4-FFF2-40B4-BE49-F238E27FC236}">
                <a16:creationId xmlns:a16="http://schemas.microsoft.com/office/drawing/2014/main" id="{B5CA6744-5A91-447A-9243-86DF018DF6FC}"/>
              </a:ext>
            </a:extLst>
          </p:cNvPr>
          <p:cNvSpPr/>
          <p:nvPr/>
        </p:nvSpPr>
        <p:spPr>
          <a:xfrm>
            <a:off x="6170323" y="214180"/>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68" name="Rectangle 67">
            <a:hlinkClick r:id="" action="ppaction://noaction"/>
            <a:extLst>
              <a:ext uri="{FF2B5EF4-FFF2-40B4-BE49-F238E27FC236}">
                <a16:creationId xmlns:a16="http://schemas.microsoft.com/office/drawing/2014/main" id="{84CE25BF-A29C-4566-B69C-45F34959929F}"/>
              </a:ext>
            </a:extLst>
          </p:cNvPr>
          <p:cNvSpPr/>
          <p:nvPr/>
        </p:nvSpPr>
        <p:spPr>
          <a:xfrm>
            <a:off x="6894106" y="214180"/>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2" name="Text Box 17">
            <a:extLst>
              <a:ext uri="{FF2B5EF4-FFF2-40B4-BE49-F238E27FC236}">
                <a16:creationId xmlns:a16="http://schemas.microsoft.com/office/drawing/2014/main" id="{362ECA0E-0A12-49B2-93B6-4320DF47B4D8}"/>
              </a:ext>
            </a:extLst>
          </p:cNvPr>
          <p:cNvSpPr txBox="1">
            <a:spLocks noChangeArrowheads="1"/>
          </p:cNvSpPr>
          <p:nvPr/>
        </p:nvSpPr>
        <p:spPr bwMode="gray">
          <a:xfrm>
            <a:off x="83109" y="6351838"/>
            <a:ext cx="838200" cy="463846"/>
          </a:xfrm>
          <a:prstGeom prst="rect">
            <a:avLst/>
          </a:prstGeom>
          <a:solidFill>
            <a:schemeClr val="accent6"/>
          </a:solidFill>
          <a:ln w="6350">
            <a:solidFill>
              <a:schemeClr val="accent6"/>
            </a:solidFill>
            <a:miter lim="800000"/>
            <a:headEnd/>
            <a:tailEnd/>
          </a:ln>
          <a:effectLst/>
        </p:spPr>
        <p:txBody>
          <a:bodyPr lIns="93600" tIns="46800" rIns="93600" bIns="46800">
            <a:spAutoFit/>
          </a:bodyPr>
          <a:lstStyle/>
          <a:p>
            <a:pPr algn="ctr" defTabSz="762000" eaLnBrk="0" hangingPunct="0">
              <a:buClr>
                <a:srgbClr val="003399"/>
              </a:buClr>
              <a:buFont typeface="Times New Roman" pitchFamily="18" charset="0"/>
              <a:buNone/>
            </a:pPr>
            <a:r>
              <a:rPr lang="en-GB" sz="600" b="1" dirty="0">
                <a:solidFill>
                  <a:schemeClr val="bg1"/>
                </a:solidFill>
                <a:latin typeface="Arial" panose="020B0604020202020204" pitchFamily="34" charset="0"/>
                <a:cs typeface="Arial" panose="020B0604020202020204" pitchFamily="34" charset="0"/>
              </a:rPr>
              <a:t>[insert KPMG footer for relevant country]</a:t>
            </a:r>
          </a:p>
          <a:p>
            <a:pPr algn="ctr" defTabSz="762000" eaLnBrk="0" hangingPunct="0">
              <a:buClr>
                <a:srgbClr val="003399"/>
              </a:buClr>
              <a:buFont typeface="Times New Roman" pitchFamily="18" charset="0"/>
              <a:buNone/>
            </a:pPr>
            <a:r>
              <a:rPr lang="en-GB" sz="600" dirty="0">
                <a:solidFill>
                  <a:schemeClr val="bg1"/>
                </a:solidFill>
                <a:latin typeface="Arial" panose="020B0604020202020204" pitchFamily="34" charset="0"/>
                <a:cs typeface="Arial" panose="020B0604020202020204" pitchFamily="34" charset="0"/>
              </a:rPr>
              <a:t>Arial </a:t>
            </a:r>
            <a:r>
              <a:rPr lang="en-GB" sz="600" b="1" dirty="0">
                <a:solidFill>
                  <a:schemeClr val="bg1"/>
                </a:solidFill>
                <a:latin typeface="Arial" panose="020B0604020202020204" pitchFamily="34" charset="0"/>
                <a:cs typeface="Arial" panose="020B0604020202020204" pitchFamily="34" charset="0"/>
              </a:rPr>
              <a:t>5pt</a:t>
            </a:r>
            <a:r>
              <a:rPr lang="en-GB" sz="600" dirty="0">
                <a:solidFill>
                  <a:schemeClr val="bg1"/>
                </a:solidFill>
                <a:latin typeface="Arial" panose="020B0604020202020204" pitchFamily="34" charset="0"/>
                <a:cs typeface="Arial" panose="020B0604020202020204" pitchFamily="34" charset="0"/>
              </a:rPr>
              <a:t> </a:t>
            </a:r>
          </a:p>
        </p:txBody>
      </p:sp>
      <p:sp>
        <p:nvSpPr>
          <p:cNvPr id="115" name="Title 1">
            <a:extLst>
              <a:ext uri="{FF2B5EF4-FFF2-40B4-BE49-F238E27FC236}">
                <a16:creationId xmlns:a16="http://schemas.microsoft.com/office/drawing/2014/main" id="{767CDDA0-48F4-4ED8-B64D-52043303CE32}"/>
              </a:ext>
            </a:extLst>
          </p:cNvPr>
          <p:cNvSpPr>
            <a:spLocks noGrp="1"/>
          </p:cNvSpPr>
          <p:nvPr/>
        </p:nvSpPr>
        <p:spPr>
          <a:xfrm>
            <a:off x="999729" y="390721"/>
            <a:ext cx="10204452" cy="53975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dirty="0"/>
              <a:t>Basis of preparation</a:t>
            </a:r>
          </a:p>
        </p:txBody>
      </p:sp>
      <p:sp>
        <p:nvSpPr>
          <p:cNvPr id="116" name="Text Placeholder 11">
            <a:extLst>
              <a:ext uri="{FF2B5EF4-FFF2-40B4-BE49-F238E27FC236}">
                <a16:creationId xmlns:a16="http://schemas.microsoft.com/office/drawing/2014/main" id="{A8BCD5ED-D449-B489-2A8A-F369914F5C9F}"/>
              </a:ext>
            </a:extLst>
          </p:cNvPr>
          <p:cNvSpPr>
            <a:spLocks noGrp="1"/>
          </p:cNvSpPr>
          <p:nvPr/>
        </p:nvSpPr>
        <p:spPr>
          <a:xfrm>
            <a:off x="3732804" y="3048808"/>
            <a:ext cx="7515836" cy="1183808"/>
          </a:xfrm>
          <a:prstGeom prst="rect">
            <a:avLst/>
          </a:prstGeom>
        </p:spPr>
        <p:txBody>
          <a:bodyPr vert="horz" lIns="72000" tIns="0" rIns="72000" bIns="0" rtlCol="0" anchor="t" anchorCtr="0">
            <a:noAutofit/>
          </a:bodyPr>
          <a:lstStyle>
            <a:lvl1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During the course of our work our main points of contact have been the Management of Target, represented by [</a:t>
            </a:r>
            <a:r>
              <a:rPr lang="en-US" dirty="0">
                <a:solidFill>
                  <a:schemeClr val="accent6"/>
                </a:solidFill>
              </a:rPr>
              <a:t>XX and YY</a:t>
            </a:r>
            <a:r>
              <a:rPr lang="en-US" dirty="0"/>
              <a:t>]. </a:t>
            </a:r>
          </a:p>
          <a:p>
            <a:r>
              <a:rPr lang="en-US" dirty="0"/>
              <a:t>[</a:t>
            </a:r>
            <a:r>
              <a:rPr lang="en-US" u="sng" dirty="0"/>
              <a:t>Note which key member of the management team were not available and why]</a:t>
            </a:r>
            <a:endParaRPr lang="en-US" dirty="0"/>
          </a:p>
          <a:p>
            <a:r>
              <a:rPr lang="en-US" dirty="0"/>
              <a:t>We attended a meeting with Management on [</a:t>
            </a:r>
            <a:r>
              <a:rPr lang="en-US" dirty="0">
                <a:solidFill>
                  <a:schemeClr val="accent6"/>
                </a:solidFill>
              </a:rPr>
              <a:t>date</a:t>
            </a:r>
            <a:r>
              <a:rPr lang="en-US" dirty="0"/>
              <a:t>], and have had regular follow-up calls with Management and communication through email.</a:t>
            </a:r>
          </a:p>
          <a:p>
            <a:r>
              <a:rPr lang="en-US" dirty="0"/>
              <a:t>The contents of our report have [not] been reviewed by the Management of Target and the factual accuracy of this report has [not] been confirmed by the Management</a:t>
            </a:r>
            <a:r>
              <a:rPr lang="en-US" dirty="0">
                <a:solidFill>
                  <a:schemeClr val="accent6"/>
                </a:solidFill>
              </a:rPr>
              <a:t>.</a:t>
            </a:r>
            <a:endParaRPr lang="en-US" dirty="0"/>
          </a:p>
        </p:txBody>
      </p:sp>
      <p:sp>
        <p:nvSpPr>
          <p:cNvPr id="117" name="Text Placeholder 12">
            <a:extLst>
              <a:ext uri="{FF2B5EF4-FFF2-40B4-BE49-F238E27FC236}">
                <a16:creationId xmlns:a16="http://schemas.microsoft.com/office/drawing/2014/main" id="{3ED4E243-7016-0892-AEC0-27DEB37D1338}"/>
              </a:ext>
            </a:extLst>
          </p:cNvPr>
          <p:cNvSpPr>
            <a:spLocks noGrp="1"/>
          </p:cNvSpPr>
          <p:nvPr/>
        </p:nvSpPr>
        <p:spPr>
          <a:xfrm>
            <a:off x="3688346" y="4589996"/>
            <a:ext cx="7509484" cy="1257097"/>
          </a:xfrm>
          <a:prstGeom prst="rect">
            <a:avLst/>
          </a:prstGeom>
        </p:spPr>
        <p:txBody>
          <a:bodyPr vert="horz" lIns="72000" tIns="0" rIns="72000" bIns="0" rtlCol="0" anchor="t" anchorCtr="0">
            <a:noAutofit/>
          </a:bodyPr>
          <a:lstStyle>
            <a:lvl1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The requested information has been provided through the virtual data room. As of the date of this report, all available requested information has been provided in a timely manner.</a:t>
            </a:r>
          </a:p>
          <a:p>
            <a:r>
              <a:rPr lang="en-US" dirty="0"/>
              <a:t>Our work has relied on certain key sources of information including, but not limited to; (1) [</a:t>
            </a:r>
            <a:r>
              <a:rPr lang="en-US" dirty="0">
                <a:solidFill>
                  <a:schemeClr val="accent6"/>
                </a:solidFill>
              </a:rPr>
              <a:t>XXXXX, (2) XXXXX, and (3) XXXXX</a:t>
            </a:r>
            <a:r>
              <a:rPr lang="en-US" dirty="0"/>
              <a:t>]. We have had access to granular and relevant data i.e., transactional level), which in our view has formed a good basis for </a:t>
            </a:r>
            <a:r>
              <a:rPr lang="en-US" dirty="0" err="1"/>
              <a:t>analysing</a:t>
            </a:r>
            <a:r>
              <a:rPr lang="en-US" dirty="0"/>
              <a:t> the key drivers of the business. [</a:t>
            </a:r>
            <a:r>
              <a:rPr lang="en-US" dirty="0">
                <a:solidFill>
                  <a:schemeClr val="accent6"/>
                </a:solidFill>
              </a:rPr>
              <a:t>Add any information received from external sources </a:t>
            </a:r>
            <a:r>
              <a:rPr lang="en-US" dirty="0" err="1">
                <a:solidFill>
                  <a:schemeClr val="accent6"/>
                </a:solidFill>
              </a:rPr>
              <a:t>i.e</a:t>
            </a:r>
            <a:r>
              <a:rPr lang="en-US" dirty="0">
                <a:solidFill>
                  <a:schemeClr val="accent6"/>
                </a:solidFill>
              </a:rPr>
              <a:t> Nielson, IR data, Commodity data </a:t>
            </a:r>
            <a:r>
              <a:rPr lang="en-US" dirty="0" err="1">
                <a:solidFill>
                  <a:schemeClr val="accent6"/>
                </a:solidFill>
              </a:rPr>
              <a:t>etc</a:t>
            </a:r>
            <a:r>
              <a:rPr lang="en-US" dirty="0"/>
              <a:t>]</a:t>
            </a:r>
          </a:p>
          <a:p>
            <a:r>
              <a:rPr lang="en-US" dirty="0"/>
              <a:t>[</a:t>
            </a:r>
            <a:r>
              <a:rPr lang="en-US" dirty="0">
                <a:solidFill>
                  <a:schemeClr val="accent6"/>
                </a:solidFill>
              </a:rPr>
              <a:t>Add potential critical information issues, i.e. reconciling issues, omission of certain data, availability of information/KPIs, information that was redacted or withheld due to sensitivity/competition </a:t>
            </a:r>
            <a:r>
              <a:rPr lang="en-US" dirty="0"/>
              <a:t>].</a:t>
            </a:r>
          </a:p>
        </p:txBody>
      </p:sp>
      <p:sp>
        <p:nvSpPr>
          <p:cNvPr id="118" name="Text Placeholder 13">
            <a:extLst>
              <a:ext uri="{FF2B5EF4-FFF2-40B4-BE49-F238E27FC236}">
                <a16:creationId xmlns:a16="http://schemas.microsoft.com/office/drawing/2014/main" id="{8F3551D6-CD86-208E-A03E-A1F1202E1D76}"/>
              </a:ext>
            </a:extLst>
          </p:cNvPr>
          <p:cNvSpPr>
            <a:spLocks noGrp="1"/>
          </p:cNvSpPr>
          <p:nvPr/>
        </p:nvSpPr>
        <p:spPr>
          <a:xfrm>
            <a:off x="942780" y="1574267"/>
            <a:ext cx="2949981" cy="433821"/>
          </a:xfrm>
          <a:prstGeom prst="rect">
            <a:avLst/>
          </a:prstGeom>
        </p:spPr>
        <p:txBody>
          <a:bodyPr vert="horz" lIns="0" tIns="0" rIns="0" bIns="0" rtlCol="0" anchor="t" anchorCtr="0">
            <a:noAutofit/>
          </a:bodyPr>
          <a:lstStyle>
            <a:lvl1pPr marL="0" indent="0" algn="l" defTabSz="914400"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400"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IN" dirty="0"/>
              <a:t> Scope of work</a:t>
            </a:r>
            <a:endParaRPr lang="en-IN" strike="sngStrike" dirty="0"/>
          </a:p>
        </p:txBody>
      </p:sp>
      <p:sp>
        <p:nvSpPr>
          <p:cNvPr id="119" name="Text Placeholder 14">
            <a:extLst>
              <a:ext uri="{FF2B5EF4-FFF2-40B4-BE49-F238E27FC236}">
                <a16:creationId xmlns:a16="http://schemas.microsoft.com/office/drawing/2014/main" id="{E357A639-E408-AB86-EF15-B29766D652D3}"/>
              </a:ext>
            </a:extLst>
          </p:cNvPr>
          <p:cNvSpPr>
            <a:spLocks noGrp="1"/>
          </p:cNvSpPr>
          <p:nvPr/>
        </p:nvSpPr>
        <p:spPr>
          <a:xfrm>
            <a:off x="1002768" y="3104588"/>
            <a:ext cx="2576073" cy="433821"/>
          </a:xfrm>
          <a:prstGeom prst="rect">
            <a:avLst/>
          </a:prstGeom>
        </p:spPr>
        <p:txBody>
          <a:bodyPr vert="horz" lIns="0" tIns="0" rIns="0" bIns="0" rtlCol="0" anchor="t" anchorCtr="0">
            <a:noAutofit/>
          </a:bodyPr>
          <a:lstStyle>
            <a:lvl1pPr marL="0" indent="0" algn="l" defTabSz="914400"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400"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noProof="0" dirty="0"/>
              <a:t>Access to management</a:t>
            </a:r>
          </a:p>
        </p:txBody>
      </p:sp>
      <p:sp>
        <p:nvSpPr>
          <p:cNvPr id="120" name="Text Placeholder 15">
            <a:extLst>
              <a:ext uri="{FF2B5EF4-FFF2-40B4-BE49-F238E27FC236}">
                <a16:creationId xmlns:a16="http://schemas.microsoft.com/office/drawing/2014/main" id="{364B1D78-AD3F-E67D-9047-2BAAA22C02B8}"/>
              </a:ext>
            </a:extLst>
          </p:cNvPr>
          <p:cNvSpPr>
            <a:spLocks noGrp="1"/>
          </p:cNvSpPr>
          <p:nvPr/>
        </p:nvSpPr>
        <p:spPr>
          <a:xfrm>
            <a:off x="950090" y="4589996"/>
            <a:ext cx="3068126" cy="433821"/>
          </a:xfrm>
          <a:prstGeom prst="rect">
            <a:avLst/>
          </a:prstGeom>
        </p:spPr>
        <p:txBody>
          <a:bodyPr vert="horz" lIns="0" tIns="0" rIns="0" bIns="0" rtlCol="0" anchor="t" anchorCtr="0">
            <a:noAutofit/>
          </a:bodyPr>
          <a:lstStyle>
            <a:lvl1pPr marL="0" indent="0" algn="l" defTabSz="914400"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400"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noProof="0" dirty="0"/>
              <a:t> Access to information</a:t>
            </a:r>
          </a:p>
        </p:txBody>
      </p:sp>
      <p:sp>
        <p:nvSpPr>
          <p:cNvPr id="121" name="Text Placeholder 6">
            <a:extLst>
              <a:ext uri="{FF2B5EF4-FFF2-40B4-BE49-F238E27FC236}">
                <a16:creationId xmlns:a16="http://schemas.microsoft.com/office/drawing/2014/main" id="{7DEC96B8-E32F-4973-B70B-982ED7456D66}"/>
              </a:ext>
            </a:extLst>
          </p:cNvPr>
          <p:cNvSpPr txBox="1">
            <a:spLocks/>
          </p:cNvSpPr>
          <p:nvPr/>
        </p:nvSpPr>
        <p:spPr>
          <a:xfrm>
            <a:off x="1005191" y="5528661"/>
            <a:ext cx="234038"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solidFill>
                  <a:schemeClr val="accent5"/>
                </a:solidFill>
              </a:rPr>
              <a:t>Low</a:t>
            </a:r>
          </a:p>
        </p:txBody>
      </p:sp>
      <p:sp>
        <p:nvSpPr>
          <p:cNvPr id="122" name="Text Placeholder 6">
            <a:extLst>
              <a:ext uri="{FF2B5EF4-FFF2-40B4-BE49-F238E27FC236}">
                <a16:creationId xmlns:a16="http://schemas.microsoft.com/office/drawing/2014/main" id="{C620A0BA-21FF-401C-A6E0-CFE412A98804}"/>
              </a:ext>
            </a:extLst>
          </p:cNvPr>
          <p:cNvSpPr txBox="1">
            <a:spLocks/>
          </p:cNvSpPr>
          <p:nvPr/>
        </p:nvSpPr>
        <p:spPr>
          <a:xfrm>
            <a:off x="2862919" y="5537799"/>
            <a:ext cx="262892"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b="0" dirty="0">
                <a:solidFill>
                  <a:schemeClr val="accent5"/>
                </a:solidFill>
              </a:rPr>
              <a:t>High</a:t>
            </a:r>
          </a:p>
        </p:txBody>
      </p:sp>
      <p:sp>
        <p:nvSpPr>
          <p:cNvPr id="123" name="Text Placeholder 6">
            <a:extLst>
              <a:ext uri="{FF2B5EF4-FFF2-40B4-BE49-F238E27FC236}">
                <a16:creationId xmlns:a16="http://schemas.microsoft.com/office/drawing/2014/main" id="{1EF899B3-B037-4660-BB2B-C7F19B974BC3}"/>
              </a:ext>
            </a:extLst>
          </p:cNvPr>
          <p:cNvSpPr txBox="1">
            <a:spLocks/>
          </p:cNvSpPr>
          <p:nvPr/>
        </p:nvSpPr>
        <p:spPr>
          <a:xfrm>
            <a:off x="1015610" y="3973983"/>
            <a:ext cx="304571"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solidFill>
                  <a:srgbClr val="00B8F5"/>
                </a:solidFill>
              </a:rPr>
              <a:t>None</a:t>
            </a:r>
          </a:p>
        </p:txBody>
      </p:sp>
      <p:sp>
        <p:nvSpPr>
          <p:cNvPr id="124" name="Text Placeholder 6">
            <a:extLst>
              <a:ext uri="{FF2B5EF4-FFF2-40B4-BE49-F238E27FC236}">
                <a16:creationId xmlns:a16="http://schemas.microsoft.com/office/drawing/2014/main" id="{78ADB61C-D7FC-4EAB-877F-96968CDE0C11}"/>
              </a:ext>
            </a:extLst>
          </p:cNvPr>
          <p:cNvSpPr txBox="1">
            <a:spLocks/>
          </p:cNvSpPr>
          <p:nvPr/>
        </p:nvSpPr>
        <p:spPr>
          <a:xfrm>
            <a:off x="2861068" y="3973983"/>
            <a:ext cx="310983"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solidFill>
                  <a:srgbClr val="00B8F5"/>
                </a:solidFill>
              </a:rPr>
              <a:t>Good</a:t>
            </a:r>
          </a:p>
        </p:txBody>
      </p:sp>
      <p:sp>
        <p:nvSpPr>
          <p:cNvPr id="125" name="Rectangle 124">
            <a:extLst>
              <a:ext uri="{FF2B5EF4-FFF2-40B4-BE49-F238E27FC236}">
                <a16:creationId xmlns:a16="http://schemas.microsoft.com/office/drawing/2014/main" id="{191ABD3B-D178-4DF7-89A5-84B928426783}"/>
              </a:ext>
            </a:extLst>
          </p:cNvPr>
          <p:cNvSpPr/>
          <p:nvPr/>
        </p:nvSpPr>
        <p:spPr>
          <a:xfrm>
            <a:off x="4538268" y="675745"/>
            <a:ext cx="6665914" cy="68539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GB" sz="900" dirty="0">
                <a:solidFill>
                  <a:schemeClr val="bg1"/>
                </a:solidFill>
              </a:rPr>
              <a:t>Guidance: You will need to agree the classification chosen on each slider with the Engagement Leader and EQCR to ensure there is no ambiguity and ensure it is consistent with the supporting comments provided.</a:t>
            </a:r>
          </a:p>
        </p:txBody>
      </p:sp>
      <p:sp>
        <p:nvSpPr>
          <p:cNvPr id="126" name="Rectangle: Rounded Corners 125">
            <a:extLst>
              <a:ext uri="{FF2B5EF4-FFF2-40B4-BE49-F238E27FC236}">
                <a16:creationId xmlns:a16="http://schemas.microsoft.com/office/drawing/2014/main" id="{180D4D6E-09BE-43A2-BBF1-447EE258FC53}"/>
              </a:ext>
            </a:extLst>
          </p:cNvPr>
          <p:cNvSpPr/>
          <p:nvPr/>
        </p:nvSpPr>
        <p:spPr>
          <a:xfrm>
            <a:off x="2730894" y="3590296"/>
            <a:ext cx="600981" cy="208110"/>
          </a:xfrm>
          <a:prstGeom prst="roundRect">
            <a:avLst>
              <a:gd name="adj" fmla="val 50000"/>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27" name="Rectangle: Rounded Corners 126">
            <a:extLst>
              <a:ext uri="{FF2B5EF4-FFF2-40B4-BE49-F238E27FC236}">
                <a16:creationId xmlns:a16="http://schemas.microsoft.com/office/drawing/2014/main" id="{04EEC278-2376-49A9-9AB5-EF5C4B45F7F4}"/>
              </a:ext>
            </a:extLst>
          </p:cNvPr>
          <p:cNvSpPr/>
          <p:nvPr/>
        </p:nvSpPr>
        <p:spPr>
          <a:xfrm>
            <a:off x="970513" y="3604561"/>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28" name="Rectangle: Rounded Corners 127">
            <a:extLst>
              <a:ext uri="{FF2B5EF4-FFF2-40B4-BE49-F238E27FC236}">
                <a16:creationId xmlns:a16="http://schemas.microsoft.com/office/drawing/2014/main" id="{567C86FD-31C1-4347-A3E0-1BCCC8334C31}"/>
              </a:ext>
            </a:extLst>
          </p:cNvPr>
          <p:cNvSpPr/>
          <p:nvPr/>
        </p:nvSpPr>
        <p:spPr>
          <a:xfrm>
            <a:off x="1836992" y="3597210"/>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29" name="Text Placeholder 6">
            <a:extLst>
              <a:ext uri="{FF2B5EF4-FFF2-40B4-BE49-F238E27FC236}">
                <a16:creationId xmlns:a16="http://schemas.microsoft.com/office/drawing/2014/main" id="{E11CF2A7-92B5-4BCD-BB9C-101883B55844}"/>
              </a:ext>
            </a:extLst>
          </p:cNvPr>
          <p:cNvSpPr txBox="1">
            <a:spLocks/>
          </p:cNvSpPr>
          <p:nvPr/>
        </p:nvSpPr>
        <p:spPr>
          <a:xfrm>
            <a:off x="1933607" y="3973983"/>
            <a:ext cx="411972"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solidFill>
                  <a:srgbClr val="00B8F5"/>
                </a:solidFill>
              </a:rPr>
              <a:t>Limited</a:t>
            </a:r>
          </a:p>
        </p:txBody>
      </p:sp>
      <p:sp>
        <p:nvSpPr>
          <p:cNvPr id="130" name="Rectangle: Rounded Corners 129">
            <a:extLst>
              <a:ext uri="{FF2B5EF4-FFF2-40B4-BE49-F238E27FC236}">
                <a16:creationId xmlns:a16="http://schemas.microsoft.com/office/drawing/2014/main" id="{553BFA61-7FD9-47B6-B417-A49734C2F955}"/>
              </a:ext>
            </a:extLst>
          </p:cNvPr>
          <p:cNvSpPr/>
          <p:nvPr/>
        </p:nvSpPr>
        <p:spPr>
          <a:xfrm>
            <a:off x="979166" y="5199511"/>
            <a:ext cx="600981" cy="208110"/>
          </a:xfrm>
          <a:prstGeom prst="roundRect">
            <a:avLst>
              <a:gd name="adj" fmla="val 50000"/>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31" name="Rectangle: Rounded Corners 130">
            <a:extLst>
              <a:ext uri="{FF2B5EF4-FFF2-40B4-BE49-F238E27FC236}">
                <a16:creationId xmlns:a16="http://schemas.microsoft.com/office/drawing/2014/main" id="{0BEF7897-9F57-413F-98BF-EA84558A6128}"/>
              </a:ext>
            </a:extLst>
          </p:cNvPr>
          <p:cNvSpPr/>
          <p:nvPr/>
        </p:nvSpPr>
        <p:spPr>
          <a:xfrm>
            <a:off x="2730894" y="5213269"/>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32" name="Rectangle: Rounded Corners 131">
            <a:extLst>
              <a:ext uri="{FF2B5EF4-FFF2-40B4-BE49-F238E27FC236}">
                <a16:creationId xmlns:a16="http://schemas.microsoft.com/office/drawing/2014/main" id="{4EE8E994-5648-4258-9EA3-A70AD3EC33E0}"/>
              </a:ext>
            </a:extLst>
          </p:cNvPr>
          <p:cNvSpPr/>
          <p:nvPr/>
        </p:nvSpPr>
        <p:spPr>
          <a:xfrm>
            <a:off x="1862806" y="5202774"/>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bg1"/>
              </a:solidFill>
            </a:endParaRPr>
          </a:p>
        </p:txBody>
      </p:sp>
      <p:sp>
        <p:nvSpPr>
          <p:cNvPr id="133" name="Text Placeholder 6">
            <a:extLst>
              <a:ext uri="{FF2B5EF4-FFF2-40B4-BE49-F238E27FC236}">
                <a16:creationId xmlns:a16="http://schemas.microsoft.com/office/drawing/2014/main" id="{B73596B4-6F44-4B0E-93C8-E9A5865A30EF}"/>
              </a:ext>
            </a:extLst>
          </p:cNvPr>
          <p:cNvSpPr txBox="1">
            <a:spLocks/>
          </p:cNvSpPr>
          <p:nvPr/>
        </p:nvSpPr>
        <p:spPr>
          <a:xfrm>
            <a:off x="1957310" y="5535987"/>
            <a:ext cx="455253" cy="153888"/>
          </a:xfrm>
          <a:prstGeom prst="rect">
            <a:avLst/>
          </a:prstGeom>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solidFill>
                  <a:schemeClr val="accent5"/>
                </a:solidFill>
              </a:rPr>
              <a:t>Medium</a:t>
            </a:r>
          </a:p>
        </p:txBody>
      </p:sp>
      <p:sp>
        <p:nvSpPr>
          <p:cNvPr id="134" name="Rectangle 133">
            <a:extLst>
              <a:ext uri="{FF2B5EF4-FFF2-40B4-BE49-F238E27FC236}">
                <a16:creationId xmlns:a16="http://schemas.microsoft.com/office/drawing/2014/main" id="{E7155872-DA2B-4772-830D-D9A738BCAC27}"/>
              </a:ext>
            </a:extLst>
          </p:cNvPr>
          <p:cNvSpPr/>
          <p:nvPr/>
        </p:nvSpPr>
        <p:spPr>
          <a:xfrm>
            <a:off x="3732804" y="5963925"/>
            <a:ext cx="7226547" cy="503354"/>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900" dirty="0">
                <a:solidFill>
                  <a:schemeClr val="bg1"/>
                </a:solidFill>
              </a:rPr>
              <a:t>Guidance: Consider the following characteristics to comment on the information received: need for reconciliation, completeness of information provided vs IRL, timeliness of information received, response times vs questions raised.	</a:t>
            </a:r>
          </a:p>
        </p:txBody>
      </p:sp>
      <p:sp>
        <p:nvSpPr>
          <p:cNvPr id="135" name="Text Placeholder 6">
            <a:extLst>
              <a:ext uri="{FF2B5EF4-FFF2-40B4-BE49-F238E27FC236}">
                <a16:creationId xmlns:a16="http://schemas.microsoft.com/office/drawing/2014/main" id="{C2C4C05D-6AB6-46E0-BAE5-0A736D62ACEC}"/>
              </a:ext>
            </a:extLst>
          </p:cNvPr>
          <p:cNvSpPr txBox="1">
            <a:spLocks/>
          </p:cNvSpPr>
          <p:nvPr/>
        </p:nvSpPr>
        <p:spPr>
          <a:xfrm>
            <a:off x="971365" y="2444018"/>
            <a:ext cx="575479" cy="153888"/>
          </a:xfrm>
          <a:prstGeom prst="rect">
            <a:avLst/>
          </a:prstGeom>
          <a:noFill/>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t>Restricted</a:t>
            </a:r>
          </a:p>
        </p:txBody>
      </p:sp>
      <p:sp>
        <p:nvSpPr>
          <p:cNvPr id="136" name="Text Placeholder 6">
            <a:extLst>
              <a:ext uri="{FF2B5EF4-FFF2-40B4-BE49-F238E27FC236}">
                <a16:creationId xmlns:a16="http://schemas.microsoft.com/office/drawing/2014/main" id="{74ABDF3C-A86C-4822-8D81-8DEE5FC3B859}"/>
              </a:ext>
            </a:extLst>
          </p:cNvPr>
          <p:cNvSpPr txBox="1">
            <a:spLocks/>
          </p:cNvSpPr>
          <p:nvPr/>
        </p:nvSpPr>
        <p:spPr>
          <a:xfrm>
            <a:off x="2767432" y="2444018"/>
            <a:ext cx="618759" cy="153888"/>
          </a:xfrm>
          <a:prstGeom prst="rect">
            <a:avLst/>
          </a:prstGeom>
          <a:noFill/>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t>Customary</a:t>
            </a:r>
          </a:p>
        </p:txBody>
      </p:sp>
      <p:sp>
        <p:nvSpPr>
          <p:cNvPr id="137" name="Rectangle: Rounded Corners 136">
            <a:extLst>
              <a:ext uri="{FF2B5EF4-FFF2-40B4-BE49-F238E27FC236}">
                <a16:creationId xmlns:a16="http://schemas.microsoft.com/office/drawing/2014/main" id="{8478E331-AFFA-4189-B8E3-3CD932130E71}"/>
              </a:ext>
            </a:extLst>
          </p:cNvPr>
          <p:cNvSpPr/>
          <p:nvPr/>
        </p:nvSpPr>
        <p:spPr>
          <a:xfrm>
            <a:off x="2776321" y="2067463"/>
            <a:ext cx="600981" cy="20811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tx2"/>
              </a:solidFill>
            </a:endParaRPr>
          </a:p>
        </p:txBody>
      </p:sp>
      <p:sp>
        <p:nvSpPr>
          <p:cNvPr id="138" name="Rectangle: Rounded Corners 137">
            <a:extLst>
              <a:ext uri="{FF2B5EF4-FFF2-40B4-BE49-F238E27FC236}">
                <a16:creationId xmlns:a16="http://schemas.microsoft.com/office/drawing/2014/main" id="{A369C659-F44E-4D63-93B5-905B7BC833DC}"/>
              </a:ext>
            </a:extLst>
          </p:cNvPr>
          <p:cNvSpPr/>
          <p:nvPr/>
        </p:nvSpPr>
        <p:spPr>
          <a:xfrm>
            <a:off x="958614" y="2067463"/>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tx2"/>
              </a:solidFill>
            </a:endParaRPr>
          </a:p>
        </p:txBody>
      </p:sp>
      <p:sp>
        <p:nvSpPr>
          <p:cNvPr id="139" name="Rectangle: Rounded Corners 138">
            <a:extLst>
              <a:ext uri="{FF2B5EF4-FFF2-40B4-BE49-F238E27FC236}">
                <a16:creationId xmlns:a16="http://schemas.microsoft.com/office/drawing/2014/main" id="{507F9076-5860-404C-A691-2B33718C5AEC}"/>
              </a:ext>
            </a:extLst>
          </p:cNvPr>
          <p:cNvSpPr/>
          <p:nvPr/>
        </p:nvSpPr>
        <p:spPr>
          <a:xfrm>
            <a:off x="1860871" y="2067463"/>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b-NO" sz="900" err="1">
              <a:solidFill>
                <a:schemeClr val="tx2"/>
              </a:solidFill>
            </a:endParaRPr>
          </a:p>
        </p:txBody>
      </p:sp>
      <p:sp>
        <p:nvSpPr>
          <p:cNvPr id="140" name="Text Placeholder 6">
            <a:extLst>
              <a:ext uri="{FF2B5EF4-FFF2-40B4-BE49-F238E27FC236}">
                <a16:creationId xmlns:a16="http://schemas.microsoft.com/office/drawing/2014/main" id="{96AD6594-3BDA-41D4-B0A7-97563DBF2D36}"/>
              </a:ext>
            </a:extLst>
          </p:cNvPr>
          <p:cNvSpPr txBox="1">
            <a:spLocks/>
          </p:cNvSpPr>
          <p:nvPr/>
        </p:nvSpPr>
        <p:spPr>
          <a:xfrm>
            <a:off x="1892057" y="2444018"/>
            <a:ext cx="538609" cy="153888"/>
          </a:xfrm>
          <a:prstGeom prst="rect">
            <a:avLst/>
          </a:prstGeom>
          <a:noFill/>
          <a:ln>
            <a:noFill/>
          </a:ln>
        </p:spPr>
        <p:txBody>
          <a:bodyPr vert="horz" wrap="none" lIns="0" tIns="0" rIns="0" bIns="0" rtlCol="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0" dirty="0"/>
              <a:t>Moderate</a:t>
            </a:r>
          </a:p>
        </p:txBody>
      </p:sp>
      <p:sp>
        <p:nvSpPr>
          <p:cNvPr id="141" name="Text Placeholder 5">
            <a:extLst>
              <a:ext uri="{FF2B5EF4-FFF2-40B4-BE49-F238E27FC236}">
                <a16:creationId xmlns:a16="http://schemas.microsoft.com/office/drawing/2014/main" id="{D4E45554-E379-EE71-2920-E9054A4521DB}"/>
              </a:ext>
            </a:extLst>
          </p:cNvPr>
          <p:cNvSpPr>
            <a:spLocks noGrp="1"/>
          </p:cNvSpPr>
          <p:nvPr/>
        </p:nvSpPr>
        <p:spPr>
          <a:xfrm>
            <a:off x="3739734" y="1582208"/>
            <a:ext cx="7509485" cy="1349768"/>
          </a:xfrm>
          <a:prstGeom prst="rect">
            <a:avLst/>
          </a:prstGeom>
          <a:solidFill>
            <a:schemeClr val="bg1"/>
          </a:solidFill>
        </p:spPr>
        <p:txBody>
          <a:bodyPr vert="horz" lIns="72000" tIns="0" rIns="72000" bIns="0" rtlCol="0" anchor="t" anchorCtr="0">
            <a:noAutofit/>
          </a:bodyPr>
          <a:lstStyle>
            <a:lvl1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Arial"/>
                <a:ea typeface="+mn-ea"/>
                <a:cs typeface="+mn-cs"/>
              </a:rPr>
              <a:t>KPMG [</a:t>
            </a:r>
            <a:r>
              <a:rPr kumimoji="0" lang="en-US"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b="0" i="0" u="none" strike="noStrike" kern="1200" cap="none" spc="0" normalizeH="0" baseline="0" noProof="0" dirty="0">
                <a:ln>
                  <a:noFill/>
                </a:ln>
                <a:solidFill>
                  <a:srgbClr val="000000"/>
                </a:solidFill>
                <a:effectLst/>
                <a:uLnTx/>
                <a:uFillTx/>
                <a:latin typeface="Arial"/>
                <a:ea typeface="+mn-ea"/>
                <a:cs typeface="+mn-cs"/>
              </a:rPr>
              <a:t>] (‘KPMG’) has been engaged by [</a:t>
            </a:r>
            <a:r>
              <a:rPr kumimoji="0" lang="en-US"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b="0" i="0" u="none" strike="noStrike" kern="1200" cap="none" spc="0" normalizeH="0" baseline="0" noProof="0" dirty="0">
                <a:ln>
                  <a:noFill/>
                </a:ln>
                <a:solidFill>
                  <a:srgbClr val="000000"/>
                </a:solidFill>
                <a:effectLst/>
                <a:uLnTx/>
                <a:uFillTx/>
                <a:latin typeface="Arial"/>
                <a:ea typeface="+mn-ea"/>
                <a:cs typeface="+mn-cs"/>
              </a:rPr>
              <a:t>] to prepare a financial and tax due diligence report in connection with the potential acquisition of [</a:t>
            </a:r>
            <a:r>
              <a:rPr kumimoji="0" lang="en-US"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b="0" i="0" u="none" strike="noStrike" kern="1200" cap="none" spc="0" normalizeH="0" baseline="0" noProof="0" dirty="0">
                <a:ln>
                  <a:noFill/>
                </a:ln>
                <a:solidFill>
                  <a:srgbClr val="000000"/>
                </a:solidFill>
                <a:effectLst/>
                <a:uLnTx/>
                <a:uFillTx/>
                <a:latin typeface="Arial"/>
                <a:ea typeface="+mn-ea"/>
                <a:cs typeface="+mn-cs"/>
              </a:rPr>
              <a:t>] (‘Target’). This report has been prepared in accordance with our engagement letter dated [</a:t>
            </a:r>
            <a:r>
              <a:rPr kumimoji="0" lang="en-US" b="0" i="0" u="none" strike="noStrike" kern="1200" cap="none" spc="0" normalizeH="0" baseline="0" noProof="0" dirty="0">
                <a:ln>
                  <a:noFill/>
                </a:ln>
                <a:solidFill>
                  <a:srgbClr val="FD349C"/>
                </a:solidFill>
                <a:effectLst/>
                <a:uLnTx/>
                <a:uFillTx/>
                <a:latin typeface="Arial"/>
                <a:ea typeface="+mn-ea"/>
                <a:cs typeface="+mn-cs"/>
              </a:rPr>
              <a:t>date</a:t>
            </a:r>
            <a:r>
              <a:rPr lang="en-US" dirty="0">
                <a:solidFill>
                  <a:srgbClr val="000000"/>
                </a:solidFill>
                <a:latin typeface="Arial"/>
              </a:rPr>
              <a:t>]. </a:t>
            </a:r>
            <a:r>
              <a:rPr kumimoji="0" lang="en-US" b="0" i="0" u="none" strike="noStrike" kern="1200" cap="none" spc="0" normalizeH="0" baseline="0" noProof="0" dirty="0">
                <a:ln>
                  <a:noFill/>
                </a:ln>
                <a:solidFill>
                  <a:srgbClr val="000000"/>
                </a:solidFill>
                <a:effectLst/>
                <a:uLnTx/>
                <a:uFillTx/>
                <a:latin typeface="Arial"/>
                <a:ea typeface="+mn-ea"/>
                <a:cs typeface="+mn-cs"/>
              </a:rPr>
              <a:t>Please refer to our detailed </a:t>
            </a:r>
            <a:r>
              <a:rPr kumimoji="0" lang="en-US" b="0" i="0" u="none" strike="noStrike" kern="1200" cap="none" spc="0" normalizeH="0" baseline="0" noProof="0" dirty="0">
                <a:ln>
                  <a:noFill/>
                </a:ln>
                <a:solidFill>
                  <a:srgbClr val="000000"/>
                </a:solidFill>
                <a:effectLst/>
                <a:uLnTx/>
                <a:uFillTx/>
                <a:latin typeface="Arial"/>
                <a:ea typeface="+mn-ea"/>
                <a:cs typeface="+mn-cs"/>
                <a:hlinkClick r:id="" action="ppaction://noaction"/>
              </a:rPr>
              <a:t>scope of work </a:t>
            </a:r>
            <a:r>
              <a:rPr kumimoji="0" lang="en-GB" b="0" i="0" u="none" strike="noStrike" kern="1200" cap="none" spc="0" normalizeH="0" baseline="0" noProof="0" dirty="0">
                <a:ln>
                  <a:noFill/>
                </a:ln>
                <a:solidFill>
                  <a:srgbClr val="000000"/>
                </a:solidFill>
                <a:effectLst/>
                <a:uLnTx/>
                <a:uFillTx/>
                <a:latin typeface="Arial"/>
                <a:ea typeface="+mn-ea"/>
                <a:cs typeface="+mn-cs"/>
              </a:rPr>
              <a:t>which sets out the status of our work and the impact of access or information limitations. </a:t>
            </a:r>
            <a:endParaRPr kumimoji="0" lang="en-US" b="0" i="0" u="none" strike="noStrike" kern="1200" cap="none" spc="0" normalizeH="0" baseline="0" noProof="0" dirty="0">
              <a:ln>
                <a:noFill/>
              </a:ln>
              <a:solidFill>
                <a:srgbClr val="000000"/>
              </a:solidFill>
              <a:effectLst/>
              <a:uLnTx/>
              <a:uFillTx/>
              <a:latin typeface="Arial"/>
              <a:ea typeface="+mn-ea"/>
              <a:cs typeface="+mn-cs"/>
            </a:endParaRPr>
          </a:p>
          <a:p>
            <a:r>
              <a:rPr lang="en-US" dirty="0"/>
              <a:t>[</a:t>
            </a:r>
            <a:r>
              <a:rPr lang="en-US" dirty="0">
                <a:solidFill>
                  <a:srgbClr val="FD349C"/>
                </a:solidFill>
                <a:latin typeface="Arial"/>
              </a:rPr>
              <a:t>Set out any limitations encountered delivering the scope</a:t>
            </a:r>
            <a:r>
              <a:rPr lang="en-US" dirty="0"/>
              <a:t>] </a:t>
            </a:r>
          </a:p>
          <a:p>
            <a:r>
              <a:rPr lang="en-US" dirty="0"/>
              <a:t>[</a:t>
            </a:r>
            <a:r>
              <a:rPr lang="en-US" dirty="0">
                <a:solidFill>
                  <a:srgbClr val="FD349C"/>
                </a:solidFill>
                <a:latin typeface="Arial"/>
              </a:rPr>
              <a:t>On Buyside Top Up Engagements choose “Restricted” if a VDD report is made available and include the VDD Disclaimer</a:t>
            </a:r>
            <a:r>
              <a:rPr lang="en-US" dirty="0"/>
              <a:t>].  </a:t>
            </a:r>
          </a:p>
          <a:p>
            <a:endParaRPr lang="en-US" dirty="0"/>
          </a:p>
        </p:txBody>
      </p:sp>
    </p:spTree>
    <p:extLst>
      <p:ext uri="{BB962C8B-B14F-4D97-AF65-F5344CB8AC3E}">
        <p14:creationId xmlns:p14="http://schemas.microsoft.com/office/powerpoint/2010/main" val="2125338827"/>
      </p:ext>
    </p:extLst>
  </p:cSld>
  <p:clrMapOvr>
    <a:masterClrMapping/>
  </p:clrMapOvr>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8400" y="431800"/>
            <a:ext cx="10195200" cy="533400"/>
          </a:xfrm>
        </p:spPr>
        <p:txBody>
          <a:bodyPr/>
          <a:lstStyle/>
          <a:p>
            <a:r>
              <a:rPr lang="en-US" dirty="0"/>
              <a:t>Basis of preparation</a:t>
            </a:r>
          </a:p>
        </p:txBody>
      </p:sp>
      <p:sp>
        <p:nvSpPr>
          <p:cNvPr id="96" name="UpSlide SubSection Marker" hidden="1">
            <a:extLst>
              <a:ext uri="{FF2B5EF4-FFF2-40B4-BE49-F238E27FC236}">
                <a16:creationId xmlns:a16="http://schemas.microsoft.com/office/drawing/2014/main" id="{DCD4B608-2B7A-E89E-AC22-AFC9E18579F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Basis of preparation</a:t>
            </a:r>
            <a:endParaRPr lang="en-US" sz="1600" dirty="0">
              <a:solidFill>
                <a:schemeClr val="bg1"/>
              </a:solidFill>
            </a:endParaRPr>
          </a:p>
        </p:txBody>
      </p:sp>
      <p:grpSp>
        <p:nvGrpSpPr>
          <p:cNvPr id="72" name="Group 71">
            <a:extLst>
              <a:ext uri="{FF2B5EF4-FFF2-40B4-BE49-F238E27FC236}">
                <a16:creationId xmlns:a16="http://schemas.microsoft.com/office/drawing/2014/main" id="{29B621E3-61D1-201E-CD9E-6C34ABEA0956}"/>
              </a:ext>
            </a:extLst>
          </p:cNvPr>
          <p:cNvGrpSpPr/>
          <p:nvPr/>
        </p:nvGrpSpPr>
        <p:grpSpPr>
          <a:xfrm>
            <a:off x="1000409" y="1742445"/>
            <a:ext cx="2340001" cy="512811"/>
            <a:chOff x="2098102" y="1901069"/>
            <a:chExt cx="2340001" cy="512811"/>
          </a:xfrm>
        </p:grpSpPr>
        <p:sp>
          <p:nvSpPr>
            <p:cNvPr id="73" name="Rectangle: Rounded Corners 72">
              <a:extLst>
                <a:ext uri="{FF2B5EF4-FFF2-40B4-BE49-F238E27FC236}">
                  <a16:creationId xmlns:a16="http://schemas.microsoft.com/office/drawing/2014/main" id="{6E723B00-C023-C3DB-EBCA-50EA442140B5}"/>
                </a:ext>
              </a:extLst>
            </p:cNvPr>
            <p:cNvSpPr/>
            <p:nvPr/>
          </p:nvSpPr>
          <p:spPr>
            <a:xfrm>
              <a:off x="2098103" y="1965217"/>
              <a:ext cx="2340000" cy="159705"/>
            </a:xfrm>
            <a:prstGeom prst="roundRect">
              <a:avLst>
                <a:gd name="adj" fmla="val 50000"/>
              </a:avLst>
            </a:prstGeom>
            <a:solidFill>
              <a:srgbClr val="FFFFFF"/>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4" name="Text Placeholder 6">
              <a:extLst>
                <a:ext uri="{FF2B5EF4-FFF2-40B4-BE49-F238E27FC236}">
                  <a16:creationId xmlns:a16="http://schemas.microsoft.com/office/drawing/2014/main" id="{F2D60E36-550D-9CFC-38DE-623F283B9855}"/>
                </a:ext>
              </a:extLst>
            </p:cNvPr>
            <p:cNvSpPr txBox="1">
              <a:spLocks/>
            </p:cNvSpPr>
            <p:nvPr/>
          </p:nvSpPr>
          <p:spPr>
            <a:xfrm>
              <a:off x="2098102" y="2259992"/>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338D"/>
                  </a:solidFill>
                  <a:effectLst/>
                  <a:uLnTx/>
                  <a:uFillTx/>
                  <a:latin typeface="Arial"/>
                  <a:ea typeface="+mn-ea"/>
                  <a:cs typeface="+mn-cs"/>
                </a:rPr>
                <a:t>Limited </a:t>
              </a:r>
            </a:p>
          </p:txBody>
        </p:sp>
        <p:sp>
          <p:nvSpPr>
            <p:cNvPr id="75" name="Text Placeholder 6">
              <a:extLst>
                <a:ext uri="{FF2B5EF4-FFF2-40B4-BE49-F238E27FC236}">
                  <a16:creationId xmlns:a16="http://schemas.microsoft.com/office/drawing/2014/main" id="{C7E67A91-0757-59D6-0698-54119D3EAA8C}"/>
                </a:ext>
              </a:extLst>
            </p:cNvPr>
            <p:cNvSpPr txBox="1">
              <a:spLocks/>
            </p:cNvSpPr>
            <p:nvPr/>
          </p:nvSpPr>
          <p:spPr>
            <a:xfrm>
              <a:off x="3867410" y="2259992"/>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338D"/>
                  </a:solidFill>
                  <a:effectLst/>
                  <a:uLnTx/>
                  <a:uFillTx/>
                  <a:latin typeface="Arial"/>
                  <a:ea typeface="+mn-ea"/>
                  <a:cs typeface="+mn-cs"/>
                </a:rPr>
                <a:t>Extensive</a:t>
              </a:r>
            </a:p>
          </p:txBody>
        </p:sp>
        <p:sp>
          <p:nvSpPr>
            <p:cNvPr id="76" name="Oval 75">
              <a:extLst>
                <a:ext uri="{FF2B5EF4-FFF2-40B4-BE49-F238E27FC236}">
                  <a16:creationId xmlns:a16="http://schemas.microsoft.com/office/drawing/2014/main" id="{44835C28-5CE6-6CE9-FBC4-60EC20EB331B}"/>
                </a:ext>
              </a:extLst>
            </p:cNvPr>
            <p:cNvSpPr/>
            <p:nvPr/>
          </p:nvSpPr>
          <p:spPr>
            <a:xfrm>
              <a:off x="3535102" y="1901069"/>
              <a:ext cx="288000" cy="288000"/>
            </a:xfrm>
            <a:prstGeom prst="ellips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77" name="Rectangle: Rounded Corners 33">
            <a:extLst>
              <a:ext uri="{FF2B5EF4-FFF2-40B4-BE49-F238E27FC236}">
                <a16:creationId xmlns:a16="http://schemas.microsoft.com/office/drawing/2014/main" id="{C7CF5B90-E6E1-106F-4E81-C13DF57916F6}"/>
              </a:ext>
            </a:extLst>
          </p:cNvPr>
          <p:cNvSpPr/>
          <p:nvPr/>
        </p:nvSpPr>
        <p:spPr>
          <a:xfrm>
            <a:off x="1000410" y="1806254"/>
            <a:ext cx="1534855" cy="159705"/>
          </a:xfrm>
          <a:prstGeom prst="roundRect">
            <a:avLst>
              <a:gd name="adj" fmla="val 50000"/>
            </a:avLst>
          </a:prstGeom>
          <a:solidFill>
            <a:srgbClr val="00338D"/>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8" name="Text Placeholder 5">
            <a:extLst>
              <a:ext uri="{FF2B5EF4-FFF2-40B4-BE49-F238E27FC236}">
                <a16:creationId xmlns:a16="http://schemas.microsoft.com/office/drawing/2014/main" id="{92F9C0EB-31B7-3146-99B5-4B19DF8904E9}"/>
              </a:ext>
            </a:extLst>
          </p:cNvPr>
          <p:cNvSpPr txBox="1">
            <a:spLocks/>
          </p:cNvSpPr>
          <p:nvPr/>
        </p:nvSpPr>
        <p:spPr>
          <a:xfrm>
            <a:off x="3683979" y="1330326"/>
            <a:ext cx="7509485" cy="1514475"/>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KPMG [</a:t>
            </a:r>
            <a:r>
              <a:rPr kumimoji="0" lang="en-US" sz="1000"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sz="1000" b="0" i="0" u="none" strike="noStrike" kern="1200" cap="none" spc="0" normalizeH="0" baseline="0" noProof="0" dirty="0">
                <a:ln>
                  <a:noFill/>
                </a:ln>
                <a:solidFill>
                  <a:srgbClr val="000000"/>
                </a:solidFill>
                <a:effectLst/>
                <a:uLnTx/>
                <a:uFillTx/>
                <a:latin typeface="Arial"/>
                <a:ea typeface="+mn-ea"/>
                <a:cs typeface="+mn-cs"/>
              </a:rPr>
              <a:t>] (‘KPMG’) has been engaged by Client [</a:t>
            </a:r>
            <a:r>
              <a:rPr kumimoji="0" lang="en-US" sz="1000"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sz="1000" b="0" i="0" u="none" strike="noStrike" kern="1200" cap="none" spc="0" normalizeH="0" baseline="0" noProof="0" dirty="0">
                <a:ln>
                  <a:noFill/>
                </a:ln>
                <a:solidFill>
                  <a:srgbClr val="000000"/>
                </a:solidFill>
                <a:effectLst/>
                <a:uLnTx/>
                <a:uFillTx/>
                <a:latin typeface="Arial"/>
                <a:ea typeface="+mn-ea"/>
                <a:cs typeface="+mn-cs"/>
              </a:rPr>
              <a:t>] to prepare a financial and tax due diligence report in connection with the potential acquisition of [</a:t>
            </a:r>
            <a:r>
              <a:rPr kumimoji="0" lang="en-US" sz="1000" b="0" i="0" u="none" strike="noStrike" kern="1200" cap="none" spc="0" normalizeH="0" baseline="0" noProof="0" dirty="0">
                <a:ln>
                  <a:noFill/>
                </a:ln>
                <a:solidFill>
                  <a:srgbClr val="FD349C"/>
                </a:solidFill>
                <a:effectLst/>
                <a:uLnTx/>
                <a:uFillTx/>
                <a:latin typeface="Arial"/>
                <a:ea typeface="+mn-ea"/>
                <a:cs typeface="+mn-cs"/>
              </a:rPr>
              <a:t>full legal name</a:t>
            </a:r>
            <a:r>
              <a:rPr kumimoji="0" lang="en-US" sz="1000" b="0" i="0" u="none" strike="noStrike" kern="1200" cap="none" spc="0" normalizeH="0" baseline="0" noProof="0" dirty="0">
                <a:ln>
                  <a:noFill/>
                </a:ln>
                <a:solidFill>
                  <a:srgbClr val="000000"/>
                </a:solidFill>
                <a:effectLst/>
                <a:uLnTx/>
                <a:uFillTx/>
                <a:latin typeface="Arial"/>
                <a:ea typeface="+mn-ea"/>
                <a:cs typeface="+mn-cs"/>
              </a:rPr>
              <a:t>] (‘Target’). The report has been prepared in accordance with our engagement letter dated [</a:t>
            </a:r>
            <a:r>
              <a:rPr kumimoji="0" lang="en-US" sz="1000" b="0" i="0" u="none" strike="noStrike" kern="1200" cap="none" spc="0" normalizeH="0" baseline="0" noProof="0" dirty="0">
                <a:ln>
                  <a:noFill/>
                </a:ln>
                <a:solidFill>
                  <a:srgbClr val="FD349C"/>
                </a:solidFill>
                <a:effectLst/>
                <a:uLnTx/>
                <a:uFillTx/>
                <a:latin typeface="Arial"/>
                <a:ea typeface="+mn-ea"/>
                <a:cs typeface="+mn-cs"/>
              </a:rPr>
              <a:t>date</a:t>
            </a:r>
            <a:r>
              <a:rPr kumimoji="0" lang="en-US" sz="1000" b="0" i="0" u="none" strike="noStrike" kern="1200" cap="none" spc="0" normalizeH="0" baseline="0" noProof="0" dirty="0">
                <a:ln>
                  <a:noFill/>
                </a:ln>
                <a:solidFill>
                  <a:srgbClr val="000000"/>
                </a:solidFill>
                <a:effectLst/>
                <a:uLnTx/>
                <a:uFillTx/>
                <a:latin typeface="Arial"/>
                <a:ea typeface="+mn-ea"/>
                <a:cs typeface="+mn-cs"/>
              </a:rPr>
              <a:t>], which [</a:t>
            </a:r>
            <a:r>
              <a:rPr kumimoji="0" lang="en-US" sz="1000" b="0" i="0" u="none" strike="noStrike" kern="1200" cap="none" spc="0" normalizeH="0" baseline="0" noProof="0" dirty="0">
                <a:ln>
                  <a:noFill/>
                </a:ln>
                <a:solidFill>
                  <a:srgbClr val="FD349C"/>
                </a:solidFill>
                <a:effectLst/>
                <a:uLnTx/>
                <a:uFillTx/>
                <a:latin typeface="Arial"/>
                <a:ea typeface="+mn-ea"/>
                <a:cs typeface="+mn-cs"/>
              </a:rPr>
              <a:t>will be included in the appendix of the final</a:t>
            </a:r>
            <a:r>
              <a:rPr kumimoji="0" lang="en-US" sz="1000" b="0" i="0" u="none" strike="noStrike" kern="1200" cap="none" spc="0" normalizeH="0" baseline="0" noProof="0" dirty="0">
                <a:ln>
                  <a:noFill/>
                </a:ln>
                <a:solidFill>
                  <a:srgbClr val="000000"/>
                </a:solidFill>
                <a:effectLst/>
                <a:uLnTx/>
                <a:uFillTx/>
                <a:latin typeface="Arial"/>
                <a:ea typeface="+mn-ea"/>
                <a:cs typeface="+mn-cs"/>
              </a:rPr>
              <a:t>] report. </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Our work on historical trading comprises the period [</a:t>
            </a:r>
            <a:r>
              <a:rPr kumimoji="0" lang="en-US" sz="1000" b="0" i="0" u="none" strike="noStrike" kern="1200" cap="none" spc="0" normalizeH="0" baseline="0" noProof="0" dirty="0">
                <a:ln>
                  <a:noFill/>
                </a:ln>
                <a:solidFill>
                  <a:srgbClr val="FD349C"/>
                </a:solidFill>
                <a:effectLst/>
                <a:uLnTx/>
                <a:uFillTx/>
                <a:latin typeface="Arial"/>
                <a:ea typeface="+mn-ea"/>
                <a:cs typeface="+mn-cs"/>
              </a:rPr>
              <a:t>2019 to 2021</a:t>
            </a:r>
            <a:r>
              <a:rPr kumimoji="0" lang="en-US" sz="1000" b="0" i="0" u="none" strike="noStrike" kern="1200" cap="none" spc="0" normalizeH="0" baseline="0" noProof="0" dirty="0">
                <a:ln>
                  <a:noFill/>
                </a:ln>
                <a:solidFill>
                  <a:srgbClr val="000000"/>
                </a:solidFill>
                <a:effectLst/>
                <a:uLnTx/>
                <a:uFillTx/>
                <a:latin typeface="Arial"/>
                <a:ea typeface="+mn-ea"/>
                <a:cs typeface="+mn-cs"/>
              </a:rPr>
              <a:t>]. With respect to prospective financial trading, our scope of work includes [</a:t>
            </a:r>
            <a:r>
              <a:rPr kumimoji="0" lang="en-US" sz="1000" b="0" i="0" u="none" strike="noStrike" kern="1200" cap="none" spc="0" normalizeH="0" baseline="0" noProof="0" dirty="0">
                <a:ln>
                  <a:noFill/>
                </a:ln>
                <a:solidFill>
                  <a:srgbClr val="FD349C"/>
                </a:solidFill>
                <a:effectLst/>
                <a:uLnTx/>
                <a:uFillTx/>
                <a:latin typeface="Arial"/>
                <a:ea typeface="+mn-ea"/>
                <a:cs typeface="+mn-cs"/>
              </a:rPr>
              <a:t>2023</a:t>
            </a:r>
            <a:r>
              <a:rPr kumimoji="0" lang="en-US" sz="1000" b="0" i="0" u="none" strike="noStrike" kern="1200" cap="none" spc="0" normalizeH="0" baseline="0" noProof="0" dirty="0">
                <a:ln>
                  <a:noFill/>
                </a:ln>
                <a:solidFill>
                  <a:srgbClr val="000000"/>
                </a:solidFill>
                <a:effectLst/>
                <a:uLnTx/>
                <a:uFillTx/>
                <a:latin typeface="Arial"/>
                <a:ea typeface="+mn-ea"/>
                <a:cs typeface="+mn-cs"/>
              </a:rPr>
              <a:t>] budget. We have analyzed the balance sheet as at 31 December [</a:t>
            </a:r>
            <a:r>
              <a:rPr kumimoji="0" lang="en-US" sz="1000" b="0" i="0" u="none" strike="noStrike" kern="1200" cap="none" spc="0" normalizeH="0" baseline="0" noProof="0" dirty="0">
                <a:ln>
                  <a:noFill/>
                </a:ln>
                <a:solidFill>
                  <a:srgbClr val="FD349C"/>
                </a:solidFill>
                <a:effectLst/>
                <a:uLnTx/>
                <a:uFillTx/>
                <a:latin typeface="Arial"/>
                <a:ea typeface="+mn-ea"/>
                <a:cs typeface="+mn-cs"/>
              </a:rPr>
              <a:t>2019, 2020 and 2021</a:t>
            </a:r>
            <a:r>
              <a:rPr kumimoji="0" lang="en-US" sz="1000" b="0" i="0" u="none" strike="noStrike" kern="1200" cap="none" spc="0" normalizeH="0" baseline="0" noProof="0" dirty="0">
                <a:ln>
                  <a:noFill/>
                </a:ln>
                <a:solidFill>
                  <a:srgbClr val="000000"/>
                </a:solidFill>
                <a:effectLst/>
                <a:uLnTx/>
                <a:uFillTx/>
                <a:latin typeface="Arial"/>
                <a:ea typeface="+mn-ea"/>
                <a:cs typeface="+mn-cs"/>
              </a:rPr>
              <a:t>], and our analysis of net working capital was performed on monthly balance sheet captions for the period [</a:t>
            </a:r>
            <a:r>
              <a:rPr kumimoji="0" lang="en-US" sz="1000" b="0" i="0" u="none" strike="noStrike" kern="1200" cap="none" spc="0" normalizeH="0" baseline="0" noProof="0" dirty="0">
                <a:ln>
                  <a:noFill/>
                </a:ln>
                <a:solidFill>
                  <a:srgbClr val="FD349C"/>
                </a:solidFill>
                <a:effectLst/>
                <a:uLnTx/>
                <a:uFillTx/>
                <a:latin typeface="Arial"/>
                <a:ea typeface="+mn-ea"/>
                <a:cs typeface="+mn-cs"/>
              </a:rPr>
              <a:t>January 2019 to December 2021</a:t>
            </a:r>
            <a:r>
              <a:rPr kumimoji="0" lang="en-US" sz="10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Our tax review has been focused on key tax risk areas, and is based on information made available by Management, as well as interviews with Management.</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Please refer to the appendices for a detailed </a:t>
            </a:r>
            <a:r>
              <a:rPr kumimoji="0" lang="en-US" sz="1000" b="0" i="0" u="none" strike="noStrike" kern="1200" cap="none" spc="0" normalizeH="0" baseline="0" noProof="0" dirty="0">
                <a:ln>
                  <a:noFill/>
                </a:ln>
                <a:solidFill>
                  <a:srgbClr val="000000"/>
                </a:solidFill>
                <a:effectLst/>
                <a:uLnTx/>
                <a:uFillTx/>
                <a:latin typeface="Arial"/>
                <a:ea typeface="+mn-ea"/>
                <a:cs typeface="+mn-cs"/>
                <a:hlinkClick r:id="" action="ppaction://noaction"/>
              </a:rPr>
              <a:t>scope reconciliation</a:t>
            </a:r>
            <a:r>
              <a:rPr kumimoji="0" lang="en-US" sz="1000" b="0" i="0" u="none" strike="noStrike" kern="1200" cap="none" spc="0" normalizeH="0" baseline="0" noProof="0" dirty="0">
                <a:ln>
                  <a:noFill/>
                </a:ln>
                <a:solidFill>
                  <a:srgbClr val="000000"/>
                </a:solidFill>
                <a:effectLst/>
                <a:uLnTx/>
                <a:uFillTx/>
                <a:latin typeface="Arial"/>
                <a:ea typeface="+mn-ea"/>
                <a:cs typeface="+mn-cs"/>
              </a:rPr>
              <a:t>.</a:t>
            </a:r>
          </a:p>
        </p:txBody>
      </p:sp>
      <p:sp>
        <p:nvSpPr>
          <p:cNvPr id="79" name="Text Placeholder 11">
            <a:extLst>
              <a:ext uri="{FF2B5EF4-FFF2-40B4-BE49-F238E27FC236}">
                <a16:creationId xmlns:a16="http://schemas.microsoft.com/office/drawing/2014/main" id="{63D4B6AA-403B-45C1-3F4B-312E981A07E2}"/>
              </a:ext>
            </a:extLst>
          </p:cNvPr>
          <p:cNvSpPr txBox="1">
            <a:spLocks/>
          </p:cNvSpPr>
          <p:nvPr/>
        </p:nvSpPr>
        <p:spPr>
          <a:xfrm>
            <a:off x="3683979" y="3145667"/>
            <a:ext cx="7515836"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During the course of our work our main points of contact have been the Management of Target, represented by [</a:t>
            </a:r>
            <a:r>
              <a:rPr kumimoji="0" lang="en-US" sz="1000" b="0" i="0" u="none" strike="noStrike" kern="1200" cap="none" spc="0" normalizeH="0" baseline="0" noProof="0">
                <a:ln>
                  <a:noFill/>
                </a:ln>
                <a:solidFill>
                  <a:srgbClr val="FD349C"/>
                </a:solidFill>
                <a:effectLst/>
                <a:uLnTx/>
                <a:uFillTx/>
                <a:latin typeface="Arial"/>
                <a:ea typeface="+mn-ea"/>
                <a:cs typeface="+mn-cs"/>
              </a:rPr>
              <a:t>XX and YY</a:t>
            </a:r>
            <a:r>
              <a:rPr kumimoji="0" lang="en-US" sz="10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We attended a meeting with Management on [</a:t>
            </a:r>
            <a:r>
              <a:rPr kumimoji="0" lang="en-US" sz="1000" b="0" i="0" u="none" strike="noStrike" kern="1200" cap="none" spc="0" normalizeH="0" baseline="0" noProof="0">
                <a:ln>
                  <a:noFill/>
                </a:ln>
                <a:solidFill>
                  <a:srgbClr val="FD349C"/>
                </a:solidFill>
                <a:effectLst/>
                <a:uLnTx/>
                <a:uFillTx/>
                <a:latin typeface="Arial"/>
                <a:ea typeface="+mn-ea"/>
                <a:cs typeface="+mn-cs"/>
              </a:rPr>
              <a:t>date</a:t>
            </a:r>
            <a:r>
              <a:rPr kumimoji="0" lang="en-US" sz="1000" b="0" i="0" u="none" strike="noStrike" kern="1200" cap="none" spc="0" normalizeH="0" baseline="0" noProof="0">
                <a:ln>
                  <a:noFill/>
                </a:ln>
                <a:solidFill>
                  <a:srgbClr val="000000"/>
                </a:solidFill>
                <a:effectLst/>
                <a:uLnTx/>
                <a:uFillTx/>
                <a:latin typeface="Arial"/>
                <a:ea typeface="+mn-ea"/>
                <a:cs typeface="+mn-cs"/>
              </a:rPr>
              <a:t>], and have had regular follow-up calls with Management and communication through email.</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a:t>
            </a:r>
            <a:r>
              <a:rPr kumimoji="0" lang="en-US" sz="1000" b="0" i="0" u="none" strike="noStrike" kern="1200" cap="none" spc="0" normalizeH="0" baseline="0" noProof="0">
                <a:ln>
                  <a:noFill/>
                </a:ln>
                <a:solidFill>
                  <a:srgbClr val="FD349C"/>
                </a:solidFill>
                <a:effectLst/>
                <a:uLnTx/>
                <a:uFillTx/>
                <a:latin typeface="Arial"/>
                <a:ea typeface="+mn-ea"/>
                <a:cs typeface="+mn-cs"/>
              </a:rPr>
              <a:t>Overall, we have had good access to Management, who have been helpful and put a significant amount of time and effort into this due diligence process by responding to our questions and requests in a timely manner.</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D349C"/>
                </a:solidFill>
                <a:effectLst/>
                <a:uLnTx/>
                <a:uFillTx/>
                <a:latin typeface="Arial"/>
                <a:ea typeface="+mn-ea"/>
                <a:cs typeface="+mn-cs"/>
              </a:rPr>
              <a:t>The contents of our report have not been reviewed by the Management of Target and the factual accuracy of this report has not been confirmed by the Management.</a:t>
            </a:r>
            <a:r>
              <a:rPr kumimoji="0" lang="en-US" sz="1000" b="0" i="0" u="none" strike="noStrike" kern="1200" cap="none" spc="0" normalizeH="0" baseline="0" noProof="0">
                <a:ln>
                  <a:noFill/>
                </a:ln>
                <a:solidFill>
                  <a:srgbClr val="000000"/>
                </a:solidFill>
                <a:effectLst/>
                <a:uLnTx/>
                <a:uFillTx/>
                <a:latin typeface="Arial"/>
                <a:ea typeface="+mn-ea"/>
                <a:cs typeface="+mn-cs"/>
              </a:rPr>
              <a:t>]</a:t>
            </a:r>
            <a:endParaRPr kumimoji="0" lang="en-US"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80" name="Text Placeholder 12">
            <a:extLst>
              <a:ext uri="{FF2B5EF4-FFF2-40B4-BE49-F238E27FC236}">
                <a16:creationId xmlns:a16="http://schemas.microsoft.com/office/drawing/2014/main" id="{D94C1F1B-1020-A7DD-D421-DAC1E1933B24}"/>
              </a:ext>
            </a:extLst>
          </p:cNvPr>
          <p:cNvSpPr txBox="1">
            <a:spLocks/>
          </p:cNvSpPr>
          <p:nvPr/>
        </p:nvSpPr>
        <p:spPr>
          <a:xfrm>
            <a:off x="3683979" y="4634514"/>
            <a:ext cx="7509484"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The requested information has been provided through the virtual data room. As of the date of this report, all available requested information has been provided in a timely manner.</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Our work has relied on certain key sources of information including, but not limited to; (1) [</a:t>
            </a:r>
            <a:r>
              <a:rPr kumimoji="0" lang="en-US" sz="1000" b="0" i="0" u="none" strike="noStrike" kern="1200" cap="none" spc="0" normalizeH="0" baseline="0" noProof="0">
                <a:ln>
                  <a:noFill/>
                </a:ln>
                <a:solidFill>
                  <a:srgbClr val="FD349C"/>
                </a:solidFill>
                <a:effectLst/>
                <a:uLnTx/>
                <a:uFillTx/>
                <a:latin typeface="Arial"/>
                <a:ea typeface="+mn-ea"/>
                <a:cs typeface="+mn-cs"/>
              </a:rPr>
              <a:t>XXXXX, (2) XXXXX, and (3) XXXXX</a:t>
            </a:r>
            <a:r>
              <a:rPr kumimoji="0" lang="en-US" sz="1000" b="0" i="0" u="none" strike="noStrike" kern="1200" cap="none" spc="0" normalizeH="0" baseline="0" noProof="0">
                <a:ln>
                  <a:noFill/>
                </a:ln>
                <a:solidFill>
                  <a:srgbClr val="000000"/>
                </a:solidFill>
                <a:effectLst/>
                <a:uLnTx/>
                <a:uFillTx/>
                <a:latin typeface="Arial"/>
                <a:ea typeface="+mn-ea"/>
                <a:cs typeface="+mn-cs"/>
              </a:rPr>
              <a:t>]. We have had access to granular and relevant data i.e., transactional level), which in our view has formed a good basis for analyzing the key drivers of the business.</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a:t>
            </a:r>
            <a:r>
              <a:rPr kumimoji="0" lang="en-US" sz="1000" b="0" i="0" u="none" strike="noStrike" kern="1200" cap="none" spc="0" normalizeH="0" baseline="0" noProof="0">
                <a:ln>
                  <a:noFill/>
                </a:ln>
                <a:solidFill>
                  <a:srgbClr val="FD349C"/>
                </a:solidFill>
                <a:effectLst/>
                <a:uLnTx/>
                <a:uFillTx/>
                <a:latin typeface="Arial"/>
                <a:ea typeface="+mn-ea"/>
                <a:cs typeface="+mn-cs"/>
              </a:rPr>
              <a:t>Add potential critical information issues</a:t>
            </a:r>
            <a:r>
              <a:rPr kumimoji="0" lang="en-US" sz="1000" b="0" i="0" u="none" strike="noStrike" kern="1200" cap="none" spc="0" normalizeH="0" baseline="0" noProof="0">
                <a:ln>
                  <a:noFill/>
                </a:ln>
                <a:solidFill>
                  <a:srgbClr val="000000"/>
                </a:solidFill>
                <a:effectLst/>
                <a:uLnTx/>
                <a:uFillTx/>
                <a:latin typeface="Arial"/>
                <a:ea typeface="+mn-ea"/>
                <a:cs typeface="+mn-cs"/>
              </a:rPr>
              <a:t>].</a:t>
            </a:r>
            <a:endParaRPr kumimoji="0" lang="en-US"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81" name="Text Placeholder 13">
            <a:extLst>
              <a:ext uri="{FF2B5EF4-FFF2-40B4-BE49-F238E27FC236}">
                <a16:creationId xmlns:a16="http://schemas.microsoft.com/office/drawing/2014/main" id="{FF311E7C-79D6-E071-2529-DF1B38A9EFF3}"/>
              </a:ext>
            </a:extLst>
          </p:cNvPr>
          <p:cNvSpPr txBox="1">
            <a:spLocks/>
          </p:cNvSpPr>
          <p:nvPr/>
        </p:nvSpPr>
        <p:spPr>
          <a:xfrm>
            <a:off x="998401" y="1330324"/>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u="none" strike="noStrike" kern="1200" cap="none" spc="0" normalizeH="0" baseline="0" noProof="0">
                <a:ln>
                  <a:noFill/>
                </a:ln>
                <a:solidFill>
                  <a:srgbClr val="00338D"/>
                </a:solidFill>
                <a:effectLst/>
                <a:uLnTx/>
                <a:uFillTx/>
                <a:latin typeface="KPMG Bold"/>
                <a:ea typeface="+mn-ea"/>
                <a:cs typeface="+mn-cs"/>
              </a:rPr>
              <a:t>Scope of work</a:t>
            </a:r>
            <a:endParaRPr kumimoji="0" lang="en-IN" sz="2800" b="0" i="0" u="none" strike="noStrike" kern="1200" cap="none" spc="0" normalizeH="0" baseline="0" noProof="0" dirty="0">
              <a:ln>
                <a:noFill/>
              </a:ln>
              <a:solidFill>
                <a:srgbClr val="00338D"/>
              </a:solidFill>
              <a:effectLst/>
              <a:uLnTx/>
              <a:uFillTx/>
              <a:latin typeface="KPMG Bold"/>
              <a:ea typeface="+mn-ea"/>
              <a:cs typeface="+mn-cs"/>
            </a:endParaRPr>
          </a:p>
        </p:txBody>
      </p:sp>
      <p:sp>
        <p:nvSpPr>
          <p:cNvPr id="82" name="Text Placeholder 14">
            <a:extLst>
              <a:ext uri="{FF2B5EF4-FFF2-40B4-BE49-F238E27FC236}">
                <a16:creationId xmlns:a16="http://schemas.microsoft.com/office/drawing/2014/main" id="{FA15E99B-69C6-8DB2-FB94-6511BBA1FF88}"/>
              </a:ext>
            </a:extLst>
          </p:cNvPr>
          <p:cNvSpPr txBox="1">
            <a:spLocks/>
          </p:cNvSpPr>
          <p:nvPr/>
        </p:nvSpPr>
        <p:spPr>
          <a:xfrm>
            <a:off x="998401" y="3145667"/>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a:ln>
                  <a:noFill/>
                </a:ln>
                <a:solidFill>
                  <a:srgbClr val="00B8F5"/>
                </a:solidFill>
                <a:effectLst/>
                <a:uLnTx/>
                <a:uFillTx/>
                <a:latin typeface="KPMG Bold"/>
                <a:ea typeface="+mn-ea"/>
                <a:cs typeface="+mn-cs"/>
              </a:rPr>
              <a:t>Access to management</a:t>
            </a:r>
            <a:endParaRPr kumimoji="0" lang="en-US" sz="2800" b="0" i="0" u="none" strike="noStrike" kern="1200" cap="none" spc="0" normalizeH="0" baseline="0" noProof="0" dirty="0">
              <a:ln>
                <a:noFill/>
              </a:ln>
              <a:solidFill>
                <a:srgbClr val="00B8F5"/>
              </a:solidFill>
              <a:effectLst/>
              <a:uLnTx/>
              <a:uFillTx/>
              <a:latin typeface="KPMG Bold"/>
              <a:ea typeface="+mn-ea"/>
              <a:cs typeface="+mn-cs"/>
            </a:endParaRPr>
          </a:p>
        </p:txBody>
      </p:sp>
      <p:sp>
        <p:nvSpPr>
          <p:cNvPr id="83" name="Text Placeholder 15">
            <a:extLst>
              <a:ext uri="{FF2B5EF4-FFF2-40B4-BE49-F238E27FC236}">
                <a16:creationId xmlns:a16="http://schemas.microsoft.com/office/drawing/2014/main" id="{231F8A83-990F-466C-B96C-C89489FBEE8B}"/>
              </a:ext>
            </a:extLst>
          </p:cNvPr>
          <p:cNvSpPr txBox="1">
            <a:spLocks/>
          </p:cNvSpPr>
          <p:nvPr/>
        </p:nvSpPr>
        <p:spPr>
          <a:xfrm>
            <a:off x="998401" y="4620481"/>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a:ln>
                  <a:noFill/>
                </a:ln>
                <a:solidFill>
                  <a:srgbClr val="7213EA"/>
                </a:solidFill>
                <a:effectLst/>
                <a:uLnTx/>
                <a:uFillTx/>
                <a:latin typeface="KPMG Bold"/>
                <a:ea typeface="+mn-ea"/>
                <a:cs typeface="+mn-cs"/>
              </a:rPr>
              <a:t>Quality of information</a:t>
            </a:r>
            <a:endParaRPr kumimoji="0" lang="en-US" sz="2800" b="0" i="0" u="none" strike="noStrike" kern="1200" cap="none" spc="0" normalizeH="0" baseline="0" noProof="0" dirty="0">
              <a:ln>
                <a:noFill/>
              </a:ln>
              <a:solidFill>
                <a:srgbClr val="7213EA"/>
              </a:solidFill>
              <a:effectLst/>
              <a:uLnTx/>
              <a:uFillTx/>
              <a:latin typeface="KPMG Bold"/>
              <a:ea typeface="+mn-ea"/>
              <a:cs typeface="+mn-cs"/>
            </a:endParaRPr>
          </a:p>
        </p:txBody>
      </p:sp>
      <p:grpSp>
        <p:nvGrpSpPr>
          <p:cNvPr id="84" name="Group 83">
            <a:extLst>
              <a:ext uri="{FF2B5EF4-FFF2-40B4-BE49-F238E27FC236}">
                <a16:creationId xmlns:a16="http://schemas.microsoft.com/office/drawing/2014/main" id="{D0418B04-6D70-CD5A-C07D-3F085B8F55E5}"/>
              </a:ext>
            </a:extLst>
          </p:cNvPr>
          <p:cNvGrpSpPr/>
          <p:nvPr/>
        </p:nvGrpSpPr>
        <p:grpSpPr>
          <a:xfrm>
            <a:off x="990905" y="3572707"/>
            <a:ext cx="2340001" cy="512811"/>
            <a:chOff x="2098102" y="3572706"/>
            <a:chExt cx="2340001" cy="512811"/>
          </a:xfrm>
        </p:grpSpPr>
        <p:sp>
          <p:nvSpPr>
            <p:cNvPr id="85" name="Text Placeholder 6">
              <a:extLst>
                <a:ext uri="{FF2B5EF4-FFF2-40B4-BE49-F238E27FC236}">
                  <a16:creationId xmlns:a16="http://schemas.microsoft.com/office/drawing/2014/main" id="{77E3D815-64E3-21E7-BB93-EF51DE319CAA}"/>
                </a:ext>
              </a:extLst>
            </p:cNvPr>
            <p:cNvSpPr txBox="1">
              <a:spLocks/>
            </p:cNvSpPr>
            <p:nvPr/>
          </p:nvSpPr>
          <p:spPr>
            <a:xfrm>
              <a:off x="2098102" y="3931629"/>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B8F5"/>
                  </a:solidFill>
                  <a:effectLst/>
                  <a:uLnTx/>
                  <a:uFillTx/>
                  <a:latin typeface="Arial"/>
                  <a:ea typeface="+mn-ea"/>
                  <a:cs typeface="+mn-cs"/>
                </a:rPr>
                <a:t>Limited </a:t>
              </a:r>
            </a:p>
          </p:txBody>
        </p:sp>
        <p:sp>
          <p:nvSpPr>
            <p:cNvPr id="86" name="Text Placeholder 6">
              <a:extLst>
                <a:ext uri="{FF2B5EF4-FFF2-40B4-BE49-F238E27FC236}">
                  <a16:creationId xmlns:a16="http://schemas.microsoft.com/office/drawing/2014/main" id="{FB22B7F6-AA6E-DEE6-8C68-36695BB18165}"/>
                </a:ext>
              </a:extLst>
            </p:cNvPr>
            <p:cNvSpPr txBox="1">
              <a:spLocks/>
            </p:cNvSpPr>
            <p:nvPr/>
          </p:nvSpPr>
          <p:spPr>
            <a:xfrm>
              <a:off x="3867410" y="3931629"/>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B8F5"/>
                  </a:solidFill>
                  <a:effectLst/>
                  <a:uLnTx/>
                  <a:uFillTx/>
                  <a:latin typeface="Arial"/>
                  <a:ea typeface="+mn-ea"/>
                  <a:cs typeface="+mn-cs"/>
                </a:rPr>
                <a:t>Extensive</a:t>
              </a:r>
            </a:p>
          </p:txBody>
        </p:sp>
        <p:sp>
          <p:nvSpPr>
            <p:cNvPr id="87" name="Rectangle: Rounded Corners 86">
              <a:extLst>
                <a:ext uri="{FF2B5EF4-FFF2-40B4-BE49-F238E27FC236}">
                  <a16:creationId xmlns:a16="http://schemas.microsoft.com/office/drawing/2014/main" id="{175B60C5-45D1-7585-C625-AEED270C965A}"/>
                </a:ext>
              </a:extLst>
            </p:cNvPr>
            <p:cNvSpPr/>
            <p:nvPr/>
          </p:nvSpPr>
          <p:spPr>
            <a:xfrm>
              <a:off x="2098103" y="3636854"/>
              <a:ext cx="2340000" cy="159705"/>
            </a:xfrm>
            <a:prstGeom prst="roundRect">
              <a:avLst>
                <a:gd name="adj" fmla="val 50000"/>
              </a:avLst>
            </a:prstGeom>
            <a:solidFill>
              <a:srgbClr val="FFFFFF"/>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21572846-DEF8-2DBF-B068-694EC6405D65}"/>
                </a:ext>
              </a:extLst>
            </p:cNvPr>
            <p:cNvSpPr/>
            <p:nvPr/>
          </p:nvSpPr>
          <p:spPr>
            <a:xfrm>
              <a:off x="3942950" y="3572706"/>
              <a:ext cx="288000" cy="288000"/>
            </a:xfrm>
            <a:prstGeom prst="ellipse">
              <a:avLst/>
            </a:prstGeom>
            <a:solidFill>
              <a:srgbClr val="00B8F5"/>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grpSp>
        <p:nvGrpSpPr>
          <p:cNvPr id="89" name="Group 88">
            <a:extLst>
              <a:ext uri="{FF2B5EF4-FFF2-40B4-BE49-F238E27FC236}">
                <a16:creationId xmlns:a16="http://schemas.microsoft.com/office/drawing/2014/main" id="{CB8777DF-442D-2E63-BF2C-66E48A6818AE}"/>
              </a:ext>
            </a:extLst>
          </p:cNvPr>
          <p:cNvGrpSpPr/>
          <p:nvPr/>
        </p:nvGrpSpPr>
        <p:grpSpPr>
          <a:xfrm>
            <a:off x="1000824" y="5140967"/>
            <a:ext cx="2340001" cy="512811"/>
            <a:chOff x="2098102" y="5018856"/>
            <a:chExt cx="2340001" cy="512811"/>
          </a:xfrm>
        </p:grpSpPr>
        <p:sp>
          <p:nvSpPr>
            <p:cNvPr id="90" name="Text Placeholder 6">
              <a:extLst>
                <a:ext uri="{FF2B5EF4-FFF2-40B4-BE49-F238E27FC236}">
                  <a16:creationId xmlns:a16="http://schemas.microsoft.com/office/drawing/2014/main" id="{3BEF9EFD-76B4-78C8-BECB-324231CA9668}"/>
                </a:ext>
              </a:extLst>
            </p:cNvPr>
            <p:cNvSpPr txBox="1">
              <a:spLocks/>
            </p:cNvSpPr>
            <p:nvPr/>
          </p:nvSpPr>
          <p:spPr>
            <a:xfrm>
              <a:off x="2098102" y="5377779"/>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213EA"/>
                  </a:solidFill>
                  <a:effectLst/>
                  <a:uLnTx/>
                  <a:uFillTx/>
                  <a:latin typeface="Arial"/>
                  <a:ea typeface="+mn-ea"/>
                  <a:cs typeface="+mn-cs"/>
                </a:rPr>
                <a:t>Low</a:t>
              </a:r>
            </a:p>
          </p:txBody>
        </p:sp>
        <p:sp>
          <p:nvSpPr>
            <p:cNvPr id="91" name="Text Placeholder 6">
              <a:extLst>
                <a:ext uri="{FF2B5EF4-FFF2-40B4-BE49-F238E27FC236}">
                  <a16:creationId xmlns:a16="http://schemas.microsoft.com/office/drawing/2014/main" id="{8E3E8956-810F-D69A-FA71-7011884AC7D6}"/>
                </a:ext>
              </a:extLst>
            </p:cNvPr>
            <p:cNvSpPr txBox="1">
              <a:spLocks/>
            </p:cNvSpPr>
            <p:nvPr/>
          </p:nvSpPr>
          <p:spPr>
            <a:xfrm>
              <a:off x="4157555" y="5377779"/>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213EA"/>
                  </a:solidFill>
                  <a:effectLst/>
                  <a:uLnTx/>
                  <a:uFillTx/>
                  <a:latin typeface="Arial"/>
                  <a:ea typeface="+mn-ea"/>
                  <a:cs typeface="+mn-cs"/>
                </a:rPr>
                <a:t>High</a:t>
              </a:r>
            </a:p>
          </p:txBody>
        </p:sp>
        <p:sp>
          <p:nvSpPr>
            <p:cNvPr id="92" name="Rectangle: Rounded Corners 91">
              <a:extLst>
                <a:ext uri="{FF2B5EF4-FFF2-40B4-BE49-F238E27FC236}">
                  <a16:creationId xmlns:a16="http://schemas.microsoft.com/office/drawing/2014/main" id="{43562CAB-C98C-E4CB-3F4F-B2117295C272}"/>
                </a:ext>
              </a:extLst>
            </p:cNvPr>
            <p:cNvSpPr/>
            <p:nvPr/>
          </p:nvSpPr>
          <p:spPr>
            <a:xfrm>
              <a:off x="2098103" y="5083004"/>
              <a:ext cx="2340000" cy="159705"/>
            </a:xfrm>
            <a:prstGeom prst="roundRect">
              <a:avLst>
                <a:gd name="adj" fmla="val 50000"/>
              </a:avLst>
            </a:prstGeom>
            <a:solidFill>
              <a:srgbClr val="FFFFFF"/>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dirty="0">
                <a:ln>
                  <a:noFill/>
                </a:ln>
                <a:solidFill>
                  <a:srgbClr val="FFFFFF"/>
                </a:solidFill>
                <a:effectLst/>
                <a:uLnTx/>
                <a:uFillTx/>
                <a:latin typeface="Arial"/>
                <a:ea typeface="+mn-ea"/>
                <a:cs typeface="+mn-cs"/>
              </a:endParaRPr>
            </a:p>
          </p:txBody>
        </p:sp>
        <p:sp>
          <p:nvSpPr>
            <p:cNvPr id="93" name="Oval 92">
              <a:extLst>
                <a:ext uri="{FF2B5EF4-FFF2-40B4-BE49-F238E27FC236}">
                  <a16:creationId xmlns:a16="http://schemas.microsoft.com/office/drawing/2014/main" id="{BAFB22FA-182D-022C-04CB-3C41CA7BDB93}"/>
                </a:ext>
              </a:extLst>
            </p:cNvPr>
            <p:cNvSpPr/>
            <p:nvPr/>
          </p:nvSpPr>
          <p:spPr>
            <a:xfrm>
              <a:off x="3819220" y="5018856"/>
              <a:ext cx="288000" cy="288000"/>
            </a:xfrm>
            <a:prstGeom prst="ellipse">
              <a:avLst/>
            </a:prstGeom>
            <a:solidFill>
              <a:srgbClr val="7213E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94" name="Rectangle: Rounded Corners 44">
            <a:extLst>
              <a:ext uri="{FF2B5EF4-FFF2-40B4-BE49-F238E27FC236}">
                <a16:creationId xmlns:a16="http://schemas.microsoft.com/office/drawing/2014/main" id="{39B238ED-99E3-D9CB-A31C-086E12BDD9D3}"/>
              </a:ext>
            </a:extLst>
          </p:cNvPr>
          <p:cNvSpPr/>
          <p:nvPr/>
        </p:nvSpPr>
        <p:spPr>
          <a:xfrm>
            <a:off x="990904" y="3636854"/>
            <a:ext cx="2069371" cy="159705"/>
          </a:xfrm>
          <a:prstGeom prst="roundRect">
            <a:avLst>
              <a:gd name="adj" fmla="val 50000"/>
            </a:avLst>
          </a:prstGeom>
          <a:solidFill>
            <a:srgbClr val="00B8F5"/>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95" name="Rectangle: Rounded Corners 50">
            <a:extLst>
              <a:ext uri="{FF2B5EF4-FFF2-40B4-BE49-F238E27FC236}">
                <a16:creationId xmlns:a16="http://schemas.microsoft.com/office/drawing/2014/main" id="{661408E6-F2D8-6A8C-6CC2-D82F8EE100D0}"/>
              </a:ext>
            </a:extLst>
          </p:cNvPr>
          <p:cNvSpPr/>
          <p:nvPr/>
        </p:nvSpPr>
        <p:spPr>
          <a:xfrm>
            <a:off x="1000410" y="5205116"/>
            <a:ext cx="1945991" cy="159705"/>
          </a:xfrm>
          <a:prstGeom prst="roundRect">
            <a:avLst>
              <a:gd name="adj" fmla="val 50000"/>
            </a:avLst>
          </a:prstGeom>
          <a:solidFill>
            <a:srgbClr val="7213EA"/>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dirty="0">
              <a:ln>
                <a:noFill/>
              </a:ln>
              <a:solidFill>
                <a:srgbClr val="FFFFFF"/>
              </a:solidFill>
              <a:effectLst/>
              <a:uLnTx/>
              <a:uFillTx/>
              <a:latin typeface="Arial"/>
              <a:ea typeface="+mn-ea"/>
              <a:cs typeface="+mn-cs"/>
            </a:endParaRPr>
          </a:p>
        </p:txBody>
      </p:sp>
      <p:grpSp>
        <p:nvGrpSpPr>
          <p:cNvPr id="105" name="Group 104">
            <a:extLst>
              <a:ext uri="{FF2B5EF4-FFF2-40B4-BE49-F238E27FC236}">
                <a16:creationId xmlns:a16="http://schemas.microsoft.com/office/drawing/2014/main" id="{025FD040-766C-39B0-BFE1-DD229157C9E5}"/>
              </a:ext>
            </a:extLst>
          </p:cNvPr>
          <p:cNvGrpSpPr/>
          <p:nvPr>
            <p:custDataLst>
              <p:tags r:id="rId3"/>
            </p:custDataLst>
          </p:nvPr>
        </p:nvGrpSpPr>
        <p:grpSpPr>
          <a:xfrm>
            <a:off x="995364" y="153170"/>
            <a:ext cx="9138860" cy="195814"/>
            <a:chOff x="995364" y="153170"/>
            <a:chExt cx="9138860" cy="195814"/>
          </a:xfrm>
        </p:grpSpPr>
        <p:sp>
          <p:nvSpPr>
            <p:cNvPr id="106"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07"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08"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09"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10"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11"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12"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113"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114"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15" name="Current Section10">
              <a:hlinkClick r:id="rId6"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125338827"/>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2115465129"/>
              </p:ext>
            </p:extLst>
          </p:nvPr>
        </p:nvGraphicFramePr>
        <p:xfrm>
          <a:off x="998400" y="1484632"/>
          <a:ext cx="10199014" cy="431518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0">
                <a:tc>
                  <a:txBody>
                    <a:bodyPr/>
                    <a:lstStyle/>
                    <a:p>
                      <a:pPr>
                        <a:lnSpc>
                          <a:spcPct val="97000"/>
                        </a:lnSpc>
                        <a:spcBef>
                          <a:spcPts val="0"/>
                        </a:spcBef>
                        <a:spcAft>
                          <a:spcPts val="600"/>
                        </a:spcAft>
                      </a:pPr>
                      <a:r>
                        <a:rPr lang="en-US" sz="1000" b="1" dirty="0">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dirty="0">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dirty="0">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dirty="0">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dirty="0">
                          <a:solidFill>
                            <a:schemeClr val="tx2"/>
                          </a:solidFill>
                        </a:rPr>
                        <a:t>XXX</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XXX</a:t>
                      </a:r>
                      <a:endParaRPr lang="en-US" sz="900" b="0" i="0" u="none" dirty="0">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dirty="0">
                          <a:solidFill>
                            <a:srgbClr val="269924"/>
                          </a:solidFill>
                          <a:sym typeface="Wingdings" panose="05000000000000000000" pitchFamily="2" charset="2"/>
                        </a:rPr>
                        <a:t>()</a:t>
                      </a:r>
                    </a:p>
                    <a:p>
                      <a:pPr algn="ctr">
                        <a:lnSpc>
                          <a:spcPct val="97000"/>
                        </a:lnSpc>
                        <a:spcBef>
                          <a:spcPts val="0"/>
                        </a:spcBef>
                        <a:spcAft>
                          <a:spcPts val="400"/>
                        </a:spcAft>
                      </a:pPr>
                      <a:r>
                        <a:rPr lang="en-US" sz="1100" dirty="0">
                          <a:solidFill>
                            <a:srgbClr val="ED21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Completed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Partially completed/ongoing</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No material available</a:t>
                      </a:r>
                      <a:endParaRPr lang="en-US" sz="900" b="0" i="0" u="none"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a:lnSpc>
                          <a:spcPct val="100000"/>
                        </a:lnSpc>
                        <a:spcBef>
                          <a:spcPts val="0"/>
                        </a:spcBef>
                        <a:spcAft>
                          <a:spcPts val="600"/>
                        </a:spcAft>
                      </a:pPr>
                      <a:r>
                        <a:rPr lang="en-US" sz="1000" b="1" dirty="0">
                          <a:solidFill>
                            <a:schemeClr val="tx2"/>
                          </a:solidFill>
                        </a:rPr>
                        <a:t>XXX</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XXX</a:t>
                      </a:r>
                      <a:endParaRPr kumimoji="0" lang="en-US" sz="900" b="0" i="0" u="none" strike="noStrike" kern="1200" cap="none" spc="0" normalizeH="0" baseline="0" noProof="0" dirty="0">
                        <a:ln>
                          <a:noFill/>
                        </a:ln>
                        <a:solidFill>
                          <a:schemeClr val="tx2"/>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dirty="0">
                          <a:solidFill>
                            <a:srgbClr val="269924"/>
                          </a:solidFill>
                          <a:sym typeface="Wingdings" panose="05000000000000000000" pitchFamily="2" charset="2"/>
                        </a:rPr>
                        <a:t>()</a:t>
                      </a:r>
                    </a:p>
                    <a:p>
                      <a:pPr algn="ctr">
                        <a:lnSpc>
                          <a:spcPct val="97000"/>
                        </a:lnSpc>
                        <a:spcBef>
                          <a:spcPts val="0"/>
                        </a:spcBef>
                        <a:spcAft>
                          <a:spcPts val="400"/>
                        </a:spcAft>
                      </a:pPr>
                      <a:r>
                        <a:rPr lang="en-US" sz="1100" dirty="0">
                          <a:solidFill>
                            <a:srgbClr val="ED2124"/>
                          </a:solidFill>
                          <a:sym typeface="Wingdings" panose="05000000000000000000" pitchFamily="2" charset="2"/>
                        </a:rPr>
                        <a:t></a:t>
                      </a:r>
                      <a:endParaRPr lang="en-US" sz="1100" kern="1200" dirty="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Completed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Partially completed/ongoing</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No material available</a:t>
                      </a:r>
                      <a:endParaRPr lang="en-US" sz="900" b="0" i="0" u="none"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05840">
                <a:tc>
                  <a:txBody>
                    <a:bodyPr/>
                    <a:lstStyle/>
                    <a:p>
                      <a:pPr>
                        <a:lnSpc>
                          <a:spcPct val="100000"/>
                        </a:lnSpc>
                        <a:spcBef>
                          <a:spcPts val="0"/>
                        </a:spcBef>
                        <a:spcAft>
                          <a:spcPts val="600"/>
                        </a:spcAft>
                      </a:pPr>
                      <a:r>
                        <a:rPr lang="en-US" sz="1000" b="1" dirty="0">
                          <a:solidFill>
                            <a:schemeClr val="tx2"/>
                          </a:solidFill>
                        </a:rPr>
                        <a:t>XXX</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XXX</a:t>
                      </a:r>
                      <a:endParaRPr kumimoji="0" lang="en-US" sz="900" b="0" i="0" u="none" strike="noStrike" kern="1200" cap="none" spc="0" normalizeH="0" baseline="0" noProof="0" dirty="0">
                        <a:ln>
                          <a:noFill/>
                        </a:ln>
                        <a:solidFill>
                          <a:schemeClr val="tx2"/>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dirty="0">
                          <a:solidFill>
                            <a:srgbClr val="269924"/>
                          </a:solidFill>
                          <a:sym typeface="Wingdings" panose="05000000000000000000" pitchFamily="2" charset="2"/>
                        </a:rPr>
                        <a:t>()</a:t>
                      </a:r>
                    </a:p>
                    <a:p>
                      <a:pPr algn="ctr">
                        <a:lnSpc>
                          <a:spcPct val="97000"/>
                        </a:lnSpc>
                        <a:spcBef>
                          <a:spcPts val="0"/>
                        </a:spcBef>
                        <a:spcAft>
                          <a:spcPts val="400"/>
                        </a:spcAft>
                      </a:pPr>
                      <a:r>
                        <a:rPr lang="en-US" sz="1100" dirty="0">
                          <a:solidFill>
                            <a:srgbClr val="ED2124"/>
                          </a:solidFill>
                          <a:sym typeface="Wingdings" panose="05000000000000000000" pitchFamily="2" charset="2"/>
                        </a:rPr>
                        <a:t></a:t>
                      </a:r>
                      <a:endParaRPr lang="en-US" sz="1100" kern="1200" dirty="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Completed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Partially completed/ongoing</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No material available</a:t>
                      </a:r>
                      <a:endParaRPr lang="en-US" sz="900" b="0" i="0" u="none"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005840">
                <a:tc>
                  <a:txBody>
                    <a:bodyPr/>
                    <a:lstStyle/>
                    <a:p>
                      <a:pPr>
                        <a:lnSpc>
                          <a:spcPct val="100000"/>
                        </a:lnSpc>
                        <a:spcBef>
                          <a:spcPts val="0"/>
                        </a:spcBef>
                        <a:spcAft>
                          <a:spcPts val="600"/>
                        </a:spcAft>
                      </a:pPr>
                      <a:r>
                        <a:rPr lang="en-US" sz="1000" b="1" dirty="0">
                          <a:solidFill>
                            <a:schemeClr val="tx2"/>
                          </a:solidFill>
                        </a:rPr>
                        <a:t>XXX</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XXX</a:t>
                      </a:r>
                      <a:endParaRPr kumimoji="0" lang="en-US" sz="900" b="0" i="0" u="none" strike="noStrike" kern="1200" cap="none" spc="0" normalizeH="0" baseline="0" noProof="0" dirty="0">
                        <a:ln>
                          <a:noFill/>
                        </a:ln>
                        <a:solidFill>
                          <a:schemeClr val="tx2"/>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dirty="0">
                          <a:solidFill>
                            <a:srgbClr val="269924"/>
                          </a:solidFill>
                          <a:sym typeface="Wingdings" panose="05000000000000000000" pitchFamily="2" charset="2"/>
                        </a:rPr>
                        <a:t>()</a:t>
                      </a:r>
                    </a:p>
                    <a:p>
                      <a:pPr algn="ctr">
                        <a:lnSpc>
                          <a:spcPct val="97000"/>
                        </a:lnSpc>
                        <a:spcBef>
                          <a:spcPts val="0"/>
                        </a:spcBef>
                        <a:spcAft>
                          <a:spcPts val="400"/>
                        </a:spcAft>
                      </a:pPr>
                      <a:r>
                        <a:rPr lang="en-US" sz="1100" dirty="0">
                          <a:solidFill>
                            <a:srgbClr val="ED2124"/>
                          </a:solidFill>
                          <a:sym typeface="Wingdings" panose="05000000000000000000" pitchFamily="2" charset="2"/>
                        </a:rPr>
                        <a:t></a:t>
                      </a:r>
                      <a:endParaRPr lang="en-US" sz="1100" kern="1200" dirty="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Completed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Partially completed/ongoing</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No material available</a:t>
                      </a:r>
                      <a:endParaRPr lang="en-US" sz="900" b="0" i="0" u="none"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endParaRPr lang="en-US" sz="1600" dirty="0">
              <a:solidFill>
                <a:schemeClr val="bg1"/>
              </a:solidFill>
            </a:endParaRPr>
          </a:p>
        </p:txBody>
      </p:sp>
      <p:grpSp>
        <p:nvGrpSpPr>
          <p:cNvPr id="84" name="Group 83">
            <a:extLst>
              <a:ext uri="{FF2B5EF4-FFF2-40B4-BE49-F238E27FC236}">
                <a16:creationId xmlns:a16="http://schemas.microsoft.com/office/drawing/2014/main" id="{025FD040-766C-39B0-BFE1-DD229157C9E5}"/>
              </a:ext>
            </a:extLst>
          </p:cNvPr>
          <p:cNvGrpSpPr/>
          <p:nvPr>
            <p:custDataLst>
              <p:tags r:id="rId4"/>
            </p:custDataLst>
          </p:nvPr>
        </p:nvGrpSpPr>
        <p:grpSpPr>
          <a:xfrm>
            <a:off x="995364" y="153170"/>
            <a:ext cx="9138860" cy="195814"/>
            <a:chOff x="995364" y="153170"/>
            <a:chExt cx="9138860" cy="195814"/>
          </a:xfrm>
        </p:grpSpPr>
        <p:sp>
          <p:nvSpPr>
            <p:cNvPr id="85"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6"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87"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88"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9"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90"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91"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92"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93"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94" name="Current Section10">
              <a:hlinkClick r:id="rId9"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7788745"/>
      </p:ext>
    </p:extLst>
  </p:cSld>
  <p:clrMapOvr>
    <a:masterClrMapping/>
  </p:clrMapOvr>
</p:sld>
</file>

<file path=ppt/slides/slide10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Glossary of terms and abbreviations</a:t>
            </a:r>
            <a:endParaRPr lang="en-US" sz="1600" dirty="0">
              <a:solidFill>
                <a:schemeClr val="bg1"/>
              </a:solidFill>
            </a:endParaRPr>
          </a:p>
        </p:txBody>
      </p:sp>
      <p:graphicFrame>
        <p:nvGraphicFramePr>
          <p:cNvPr id="29" name="Table 28">
            <a:extLst>
              <a:ext uri="{FF2B5EF4-FFF2-40B4-BE49-F238E27FC236}">
                <a16:creationId xmlns:a16="http://schemas.microsoft.com/office/drawing/2014/main" id="{41BAEF09-76BA-D4D3-E74C-619C13128CDF}"/>
              </a:ext>
            </a:extLst>
          </p:cNvPr>
          <p:cNvGraphicFramePr>
            <a:graphicFrameLocks noGrp="1"/>
          </p:cNvGraphicFramePr>
          <p:nvPr>
            <p:extLst>
              <p:ext uri="{D42A27DB-BD31-4B8C-83A1-F6EECF244321}">
                <p14:modId xmlns:p14="http://schemas.microsoft.com/office/powerpoint/2010/main" val="1563161036"/>
              </p:ext>
            </p:extLst>
          </p:nvPr>
        </p:nvGraphicFramePr>
        <p:xfrm>
          <a:off x="998400" y="1330325"/>
          <a:ext cx="4975680" cy="4614760"/>
        </p:xfrm>
        <a:graphic>
          <a:graphicData uri="http://schemas.openxmlformats.org/drawingml/2006/table">
            <a:tbl>
              <a:tblPr firstRow="1" bandRow="1">
                <a:tableStyleId>{5C22544A-7EE6-4342-B048-85BDC9FD1C3A}</a:tableStyleId>
              </a:tblPr>
              <a:tblGrid>
                <a:gridCol w="1473275">
                  <a:extLst>
                    <a:ext uri="{9D8B030D-6E8A-4147-A177-3AD203B41FA5}">
                      <a16:colId xmlns:a16="http://schemas.microsoft.com/office/drawing/2014/main" val="20000"/>
                    </a:ext>
                  </a:extLst>
                </a:gridCol>
                <a:gridCol w="3502405">
                  <a:extLst>
                    <a:ext uri="{9D8B030D-6E8A-4147-A177-3AD203B41FA5}">
                      <a16:colId xmlns:a16="http://schemas.microsoft.com/office/drawing/2014/main" val="238880808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Group and entity definitions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569819"/>
                  </a:ext>
                </a:extLst>
              </a:tr>
              <a:tr h="250240">
                <a:tc>
                  <a:txBody>
                    <a:bodyPr/>
                    <a:lstStyle/>
                    <a:p>
                      <a:pPr marL="0" algn="l" defTabSz="914423" rtl="0" eaLnBrk="1" latinLnBrk="0" hangingPunct="1"/>
                      <a:r>
                        <a:rPr lang="en-US" sz="900" b="1" kern="1200" dirty="0">
                          <a:solidFill>
                            <a:schemeClr val="tx2"/>
                          </a:solidFill>
                          <a:latin typeface="+mn-lt"/>
                          <a:ea typeface="+mn-ea"/>
                          <a:cs typeface="+mn-cs"/>
                        </a:rPr>
                        <a:t>Group/Target</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Target group [</a:t>
                      </a:r>
                      <a:r>
                        <a:rPr lang="en-US" sz="900" b="0" i="1" dirty="0">
                          <a:solidFill>
                            <a:schemeClr val="accent6"/>
                          </a:solidFill>
                          <a:latin typeface="+mn-lt"/>
                        </a:rPr>
                        <a:t>define</a:t>
                      </a:r>
                      <a:r>
                        <a:rPr lang="en-US" sz="900" b="0" dirty="0">
                          <a:solidFill>
                            <a:schemeClr val="tx1"/>
                          </a:solidFill>
                          <a:latin typeface="+mn-lt"/>
                        </a:rPr>
                        <a:t>]</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pPr marL="0" algn="l" defTabSz="914423" rtl="0" eaLnBrk="1" latinLnBrk="0" hangingPunct="1"/>
                      <a:r>
                        <a:rPr lang="en-US" sz="900" b="1" kern="1200" dirty="0">
                          <a:solidFill>
                            <a:schemeClr val="tx2"/>
                          </a:solidFill>
                          <a:latin typeface="+mn-lt"/>
                          <a:ea typeface="+mn-ea"/>
                          <a:cs typeface="+mn-cs"/>
                        </a:rPr>
                        <a:t>FIN Oy</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Parent Oy</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pPr marL="0" algn="l" defTabSz="914423" rtl="0" eaLnBrk="1" latinLnBrk="0" hangingPunct="1"/>
                      <a:r>
                        <a:rPr lang="en-US" sz="900" b="1" kern="1200" dirty="0">
                          <a:solidFill>
                            <a:schemeClr val="tx2"/>
                          </a:solidFill>
                          <a:latin typeface="+mn-lt"/>
                          <a:ea typeface="+mn-ea"/>
                          <a:cs typeface="+mn-cs"/>
                        </a:rPr>
                        <a:t>SWE AB</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Subsidiary Sweden AB</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0560">
                <a:tc gridSpan="2">
                  <a:txBody>
                    <a:bodyPr/>
                    <a:lstStyle/>
                    <a:p>
                      <a:pPr marL="0" algn="l" defTabSz="914423" rtl="0" eaLnBrk="1" latinLnBrk="0" hangingPunct="1"/>
                      <a:r>
                        <a:rPr lang="en-US" sz="1100" b="1" kern="1200" dirty="0">
                          <a:solidFill>
                            <a:schemeClr val="bg1"/>
                          </a:solidFill>
                          <a:latin typeface="+mn-lt"/>
                          <a:ea typeface="+mn-ea"/>
                          <a:cs typeface="+mn-cs"/>
                        </a:rPr>
                        <a:t>Business area definitions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203518"/>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BA1</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BA2</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70560">
                <a:tc gridSpan="2">
                  <a:txBody>
                    <a:bodyPr/>
                    <a:lstStyle/>
                    <a:p>
                      <a:pPr marL="0" algn="l" defTabSz="914423" rtl="0" eaLnBrk="1" latinLnBrk="0" hangingPunct="1"/>
                      <a:r>
                        <a:rPr lang="en-US" sz="1100" b="1" kern="1200" dirty="0">
                          <a:solidFill>
                            <a:schemeClr val="bg1"/>
                          </a:solidFill>
                          <a:latin typeface="+mn-lt"/>
                          <a:ea typeface="+mn-ea"/>
                          <a:cs typeface="+mn-cs"/>
                        </a:rPr>
                        <a:t>Currencies and time periods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773624"/>
                  </a:ext>
                </a:extLst>
              </a:tr>
              <a:tr h="250240">
                <a:tc>
                  <a:txBody>
                    <a:bodyPr/>
                    <a:lstStyle/>
                    <a:p>
                      <a:pPr marL="0" algn="l" defTabSz="914423" rtl="0" eaLnBrk="1" latinLnBrk="0" hangingPunct="1"/>
                      <a:r>
                        <a:rPr lang="en-US" sz="900" b="1" kern="1200" dirty="0">
                          <a:solidFill>
                            <a:schemeClr val="tx2"/>
                          </a:solidFill>
                          <a:latin typeface="+mn-lt"/>
                          <a:ea typeface="+mn-ea"/>
                          <a:cs typeface="+mn-cs"/>
                        </a:rPr>
                        <a:t>$’000</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Thousand US dollars</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$m</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Million US dollars</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416738"/>
                  </a:ext>
                </a:extLst>
              </a:tr>
              <a:tr h="250240">
                <a:tc>
                  <a:txBody>
                    <a:bodyPr/>
                    <a:lstStyle/>
                    <a:p>
                      <a:pPr marL="0" algn="l" defTabSz="914423" rtl="0" eaLnBrk="1" latinLnBrk="0" hangingPunct="1"/>
                      <a:r>
                        <a:rPr lang="en-US" sz="900" b="1" kern="1200" dirty="0">
                          <a:solidFill>
                            <a:schemeClr val="tx2"/>
                          </a:solidFill>
                          <a:latin typeface="+mn-lt"/>
                          <a:ea typeface="+mn-ea"/>
                          <a:cs typeface="+mn-cs"/>
                        </a:rPr>
                        <a:t>FY</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Financial year (e.g., FY21 = January 1 — December 31, 2021)</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5099992"/>
                  </a:ext>
                </a:extLst>
              </a:tr>
              <a:tr h="250240">
                <a:tc>
                  <a:txBody>
                    <a:bodyPr/>
                    <a:lstStyle/>
                    <a:p>
                      <a:pPr marL="0" algn="l" defTabSz="914423" rtl="0" eaLnBrk="1" latinLnBrk="0" hangingPunct="1"/>
                      <a:r>
                        <a:rPr lang="en-US" sz="900" b="1" kern="1200" dirty="0">
                          <a:solidFill>
                            <a:schemeClr val="tx2"/>
                          </a:solidFill>
                          <a:latin typeface="+mn-lt"/>
                          <a:ea typeface="+mn-ea"/>
                          <a:cs typeface="+mn-cs"/>
                        </a:rPr>
                        <a:t>YTD</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Year to date (e.g., YTD Jun-22 = January 1 — June 30, 2023)</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412159"/>
                  </a:ext>
                </a:extLst>
              </a:tr>
              <a:tr h="392480">
                <a:tc>
                  <a:txBody>
                    <a:bodyPr/>
                    <a:lstStyle/>
                    <a:p>
                      <a:pPr marL="0" algn="l" defTabSz="914423" rtl="0" eaLnBrk="1" latinLnBrk="0" hangingPunct="1"/>
                      <a:r>
                        <a:rPr lang="en-US" sz="900" b="1" kern="1200" dirty="0">
                          <a:solidFill>
                            <a:schemeClr val="tx2"/>
                          </a:solidFill>
                          <a:latin typeface="+mn-lt"/>
                          <a:ea typeface="+mn-ea"/>
                          <a:cs typeface="+mn-cs"/>
                        </a:rPr>
                        <a:t>LTM</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Last 12 months </a:t>
                      </a:r>
                      <a:r>
                        <a:rPr lang="en-US" sz="900" b="0" u="none" noProof="0" dirty="0">
                          <a:solidFill>
                            <a:schemeClr val="tx1"/>
                          </a:solidFill>
                          <a:latin typeface="+mn-lt"/>
                        </a:rPr>
                        <a:t>(e.g., LTM Jun-22</a:t>
                      </a:r>
                      <a:r>
                        <a:rPr lang="en-US" sz="900" b="0" u="none" baseline="0" noProof="0" dirty="0">
                          <a:solidFill>
                            <a:schemeClr val="tx1"/>
                          </a:solidFill>
                          <a:latin typeface="+mn-lt"/>
                        </a:rPr>
                        <a:t> = July 1, 2021 — June 30, 2023)</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425134"/>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Budget (e.g., FY22B = budget for the financial year 2023)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3785632"/>
                  </a:ext>
                </a:extLst>
              </a:tr>
              <a:tr h="392480">
                <a:tc>
                  <a:txBody>
                    <a:bodyPr/>
                    <a:lstStyle/>
                    <a:p>
                      <a:pPr marL="0" algn="l" defTabSz="914423" rtl="0" eaLnBrk="1" latinLnBrk="0" hangingPunct="1"/>
                      <a:r>
                        <a:rPr lang="en-US" sz="900" b="1" kern="1200" dirty="0">
                          <a:solidFill>
                            <a:schemeClr val="tx2"/>
                          </a:solidFill>
                          <a:latin typeface="+mn-lt"/>
                          <a:ea typeface="+mn-ea"/>
                          <a:cs typeface="+mn-cs"/>
                        </a:rPr>
                        <a:t>LE</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tx1"/>
                          </a:solidFill>
                          <a:latin typeface="+mn-lt"/>
                          <a:ea typeface="+mn-ea"/>
                          <a:cs typeface="+mn-cs"/>
                        </a:rPr>
                        <a:t>Latest estimate (e.g., FY22LE = latest estimate for the financial year 2023)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2937560"/>
                  </a:ext>
                </a:extLst>
              </a:tr>
              <a:tr h="250240">
                <a:tc>
                  <a:txBody>
                    <a:bodyPr/>
                    <a:lstStyle/>
                    <a:p>
                      <a:pPr marL="0" algn="l" defTabSz="914423" rtl="0" eaLnBrk="1" latinLnBrk="0" hangingPunct="1"/>
                      <a:r>
                        <a:rPr lang="en-US" sz="900" b="1" kern="1200" dirty="0">
                          <a:solidFill>
                            <a:schemeClr val="tx2"/>
                          </a:solidFill>
                          <a:latin typeface="+mn-lt"/>
                          <a:ea typeface="+mn-ea"/>
                          <a:cs typeface="+mn-cs"/>
                        </a:rPr>
                        <a:t>F</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Forecast (e.g., FY23F = forecast for the financial year 2023)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538049"/>
                  </a:ext>
                </a:extLst>
              </a:tr>
            </a:tbl>
          </a:graphicData>
        </a:graphic>
      </p:graphicFrame>
      <p:graphicFrame>
        <p:nvGraphicFramePr>
          <p:cNvPr id="30" name="Table 29">
            <a:extLst>
              <a:ext uri="{FF2B5EF4-FFF2-40B4-BE49-F238E27FC236}">
                <a16:creationId xmlns:a16="http://schemas.microsoft.com/office/drawing/2014/main" id="{0DDD66C0-BE6A-349C-6552-9DA52489513E}"/>
              </a:ext>
            </a:extLst>
          </p:cNvPr>
          <p:cNvGraphicFramePr>
            <a:graphicFrameLocks noGrp="1"/>
          </p:cNvGraphicFramePr>
          <p:nvPr>
            <p:extLst>
              <p:ext uri="{D42A27DB-BD31-4B8C-83A1-F6EECF244321}">
                <p14:modId xmlns:p14="http://schemas.microsoft.com/office/powerpoint/2010/main" val="1359993124"/>
              </p:ext>
            </p:extLst>
          </p:nvPr>
        </p:nvGraphicFramePr>
        <p:xfrm>
          <a:off x="6225769" y="1330325"/>
          <a:ext cx="4975680" cy="442172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pPr marL="0" algn="l" defTabSz="914423" rtl="0" eaLnBrk="1" latinLnBrk="0" hangingPunct="1"/>
                      <a:r>
                        <a:rPr lang="en-US" sz="900" b="1" kern="1200" dirty="0">
                          <a:solidFill>
                            <a:schemeClr val="tx2"/>
                          </a:solidFill>
                          <a:latin typeface="+mn-lt"/>
                          <a:ea typeface="+mn-ea"/>
                          <a:cs typeface="+mn-cs"/>
                        </a:rPr>
                        <a:t>AP</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Accounts payable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pPr marL="0" algn="l" defTabSz="914423" rtl="0" eaLnBrk="1" latinLnBrk="0" hangingPunct="1"/>
                      <a:r>
                        <a:rPr lang="en-US" sz="900" b="1" kern="1200" dirty="0">
                          <a:solidFill>
                            <a:schemeClr val="tx2"/>
                          </a:solidFill>
                          <a:latin typeface="+mn-lt"/>
                          <a:ea typeface="+mn-ea"/>
                          <a:cs typeface="+mn-cs"/>
                        </a:rPr>
                        <a:t>AR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Accounts receivable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CAGR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Compound annual growth rate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Capex</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Capital expenditure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COGS</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Cost of goods sold</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pPr marL="0" algn="l" defTabSz="914423" rtl="0" eaLnBrk="1" latinLnBrk="0" hangingPunct="1"/>
                      <a:r>
                        <a:rPr lang="en-US" sz="900" b="1" kern="1200" dirty="0">
                          <a:solidFill>
                            <a:schemeClr val="tx2"/>
                          </a:solidFill>
                          <a:latin typeface="+mn-lt"/>
                          <a:ea typeface="+mn-ea"/>
                          <a:cs typeface="+mn-cs"/>
                        </a:rPr>
                        <a:t>DIO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inventory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pPr marL="0" algn="l" defTabSz="914423" rtl="0" eaLnBrk="1" latinLnBrk="0" hangingPunct="1"/>
                      <a:r>
                        <a:rPr lang="en-US" sz="900" b="1" kern="1200" dirty="0">
                          <a:solidFill>
                            <a:schemeClr val="tx2"/>
                          </a:solidFill>
                          <a:latin typeface="+mn-lt"/>
                          <a:ea typeface="+mn-ea"/>
                          <a:cs typeface="+mn-cs"/>
                        </a:rPr>
                        <a:t>DPO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payable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240">
                <a:tc>
                  <a:txBody>
                    <a:bodyPr/>
                    <a:lstStyle/>
                    <a:p>
                      <a:pPr marL="0" algn="l" defTabSz="914423" rtl="0" eaLnBrk="1" latinLnBrk="0" hangingPunct="1"/>
                      <a:r>
                        <a:rPr lang="en-US" sz="900" b="1" kern="1200" dirty="0">
                          <a:solidFill>
                            <a:schemeClr val="tx2"/>
                          </a:solidFill>
                          <a:latin typeface="+mn-lt"/>
                          <a:ea typeface="+mn-ea"/>
                          <a:cs typeface="+mn-cs"/>
                        </a:rPr>
                        <a:t>DSO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sales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EBITDA</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Earnings before interest, tax, depreciation and amortization</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240">
                <a:tc>
                  <a:txBody>
                    <a:bodyPr/>
                    <a:lstStyle/>
                    <a:p>
                      <a:pPr marL="0" algn="l" defTabSz="914423" rtl="0" eaLnBrk="1" latinLnBrk="0" hangingPunct="1"/>
                      <a:r>
                        <a:rPr lang="en-US" sz="900" b="1" kern="1200" dirty="0">
                          <a:solidFill>
                            <a:schemeClr val="tx2"/>
                          </a:solidFill>
                          <a:latin typeface="+mn-lt"/>
                          <a:ea typeface="+mn-ea"/>
                          <a:cs typeface="+mn-cs"/>
                        </a:rPr>
                        <a:t>FTE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Full-time equivalent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0240">
                <a:tc>
                  <a:txBody>
                    <a:bodyPr/>
                    <a:lstStyle/>
                    <a:p>
                      <a:pPr marL="0" algn="l" defTabSz="914423" rtl="0" eaLnBrk="1" latinLnBrk="0" hangingPunct="1"/>
                      <a:r>
                        <a:rPr lang="en-US" sz="900" b="1" kern="1200" dirty="0">
                          <a:solidFill>
                            <a:schemeClr val="tx2"/>
                          </a:solidFill>
                          <a:latin typeface="+mn-lt"/>
                          <a:ea typeface="+mn-ea"/>
                          <a:cs typeface="+mn-cs"/>
                        </a:rPr>
                        <a:t>FYE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Financial year-end</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0240">
                <a:tc>
                  <a:txBody>
                    <a:bodyPr/>
                    <a:lstStyle/>
                    <a:p>
                      <a:pPr marL="0" algn="l" defTabSz="914423" rtl="0" eaLnBrk="1" latinLnBrk="0" hangingPunct="1"/>
                      <a:r>
                        <a:rPr lang="en-US" sz="900" b="1" kern="1200" dirty="0">
                          <a:solidFill>
                            <a:schemeClr val="tx2"/>
                          </a:solidFill>
                          <a:latin typeface="+mn-lt"/>
                          <a:ea typeface="+mn-ea"/>
                          <a:cs typeface="+mn-cs"/>
                        </a:rPr>
                        <a:t>KPI</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Key performance indicator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pPr marL="0" algn="l" defTabSz="914423" rtl="0" eaLnBrk="1" latinLnBrk="0" hangingPunct="1"/>
                      <a:r>
                        <a:rPr lang="en-US" sz="900" b="1" kern="1200" dirty="0">
                          <a:solidFill>
                            <a:schemeClr val="tx2"/>
                          </a:solidFill>
                          <a:latin typeface="+mn-lt"/>
                          <a:ea typeface="+mn-ea"/>
                          <a:cs typeface="+mn-cs"/>
                        </a:rPr>
                        <a:t>LFY</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u="none" noProof="0" dirty="0">
                          <a:solidFill>
                            <a:schemeClr val="tx1"/>
                          </a:solidFill>
                          <a:latin typeface="+mn-lt"/>
                        </a:rPr>
                        <a:t>Latest financial year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2480">
                <a:tc>
                  <a:txBody>
                    <a:bodyPr/>
                    <a:lstStyle/>
                    <a:p>
                      <a:pPr marL="0" algn="l" defTabSz="914423" rtl="0" eaLnBrk="1" latinLnBrk="0" hangingPunct="1"/>
                      <a:r>
                        <a:rPr lang="en-US" sz="900" b="1" kern="1200" dirty="0">
                          <a:solidFill>
                            <a:schemeClr val="tx2"/>
                          </a:solidFill>
                          <a:latin typeface="+mn-lt"/>
                          <a:ea typeface="+mn-ea"/>
                          <a:cs typeface="+mn-cs"/>
                        </a:rPr>
                        <a:t>Management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Management</a:t>
                      </a:r>
                      <a:r>
                        <a:rPr lang="en-US" sz="900" b="0" baseline="0" dirty="0">
                          <a:solidFill>
                            <a:schemeClr val="tx1"/>
                          </a:solidFill>
                          <a:latin typeface="+mn-lt"/>
                        </a:rPr>
                        <a:t> of the target. In this report [</a:t>
                      </a:r>
                      <a:r>
                        <a:rPr lang="en-US" sz="900" b="0" dirty="0">
                          <a:solidFill>
                            <a:schemeClr val="accent6"/>
                          </a:solidFill>
                          <a:latin typeface="+mn-lt"/>
                        </a:rPr>
                        <a:t>xx </a:t>
                      </a:r>
                      <a:r>
                        <a:rPr lang="en-US" sz="900" b="0" dirty="0" err="1">
                          <a:solidFill>
                            <a:schemeClr val="accent6"/>
                          </a:solidFill>
                          <a:latin typeface="+mn-lt"/>
                        </a:rPr>
                        <a:t>xx</a:t>
                      </a:r>
                      <a:r>
                        <a:rPr lang="en-US" sz="900" b="0" dirty="0">
                          <a:solidFill>
                            <a:schemeClr val="accent6"/>
                          </a:solidFill>
                          <a:latin typeface="+mn-lt"/>
                        </a:rPr>
                        <a:t> (CFO) and xx </a:t>
                      </a:r>
                      <a:r>
                        <a:rPr lang="en-US" sz="900" b="0" dirty="0" err="1">
                          <a:solidFill>
                            <a:schemeClr val="accent6"/>
                          </a:solidFill>
                          <a:latin typeface="+mn-lt"/>
                        </a:rPr>
                        <a:t>xx</a:t>
                      </a:r>
                      <a:r>
                        <a:rPr lang="en-US" sz="900" b="0" dirty="0">
                          <a:solidFill>
                            <a:schemeClr val="accent6"/>
                          </a:solidFill>
                          <a:latin typeface="+mn-lt"/>
                        </a:rPr>
                        <a:t> (Business controller)</a:t>
                      </a:r>
                      <a:r>
                        <a:rPr lang="en-US" sz="900" b="0" dirty="0">
                          <a:solidFill>
                            <a:schemeClr val="tx1"/>
                          </a:solidFill>
                          <a:latin typeface="+mn-lt"/>
                        </a:rPr>
                        <a: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pPr marL="0" algn="l" defTabSz="914423" rtl="0" eaLnBrk="1" latinLnBrk="0" hangingPunct="1"/>
                      <a:r>
                        <a:rPr lang="en-US" sz="900" b="1" kern="1200" dirty="0" err="1">
                          <a:solidFill>
                            <a:schemeClr val="tx2"/>
                          </a:solidFill>
                          <a:latin typeface="+mn-lt"/>
                          <a:ea typeface="+mn-ea"/>
                          <a:cs typeface="+mn-cs"/>
                        </a:rPr>
                        <a:t>QoE</a:t>
                      </a:r>
                      <a:endParaRPr lang="en-US" sz="900" b="1" kern="1200" dirty="0">
                        <a:solidFill>
                          <a:schemeClr val="tx2"/>
                        </a:solidFill>
                        <a:latin typeface="+mn-lt"/>
                        <a:ea typeface="+mn-ea"/>
                        <a:cs typeface="+mn-cs"/>
                      </a:endParaRP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Quality of earnings</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SPA</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Sale and purchase agreement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31" name="Rectangle 30">
            <a:extLst>
              <a:ext uri="{FF2B5EF4-FFF2-40B4-BE49-F238E27FC236}">
                <a16:creationId xmlns:a16="http://schemas.microsoft.com/office/drawing/2014/main" id="{86FDAD4C-90F5-478B-9C1B-400EA808DB7A}"/>
              </a:ext>
            </a:extLst>
          </p:cNvPr>
          <p:cNvSpPr/>
          <p:nvPr/>
        </p:nvSpPr>
        <p:spPr>
          <a:xfrm>
            <a:off x="9520199" y="468010"/>
            <a:ext cx="1653540" cy="460983"/>
          </a:xfrm>
          <a:prstGeom prst="rect">
            <a:avLst/>
          </a:prstGeom>
          <a:solidFill>
            <a:schemeClr val="bg1"/>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US" sz="1200" b="1" dirty="0">
                <a:solidFill>
                  <a:srgbClr val="BC204B"/>
                </a:solidFill>
              </a:rPr>
              <a:t>Note: </a:t>
            </a:r>
            <a:r>
              <a:rPr lang="en-US" sz="1000" dirty="0">
                <a:solidFill>
                  <a:srgbClr val="BC204B"/>
                </a:solidFill>
              </a:rPr>
              <a:t>Example only — to be updated!</a:t>
            </a:r>
          </a:p>
        </p:txBody>
      </p:sp>
      <p:grpSp>
        <p:nvGrpSpPr>
          <p:cNvPr id="85" name="Group 84">
            <a:extLst>
              <a:ext uri="{FF2B5EF4-FFF2-40B4-BE49-F238E27FC236}">
                <a16:creationId xmlns:a16="http://schemas.microsoft.com/office/drawing/2014/main" id="{025FD040-766C-39B0-BFE1-DD229157C9E5}"/>
              </a:ext>
            </a:extLst>
          </p:cNvPr>
          <p:cNvGrpSpPr/>
          <p:nvPr>
            <p:custDataLst>
              <p:tags r:id="rId3"/>
            </p:custDataLst>
          </p:nvPr>
        </p:nvGrpSpPr>
        <p:grpSpPr>
          <a:xfrm>
            <a:off x="995364" y="153170"/>
            <a:ext cx="9138860" cy="195814"/>
            <a:chOff x="995364" y="153170"/>
            <a:chExt cx="9138860" cy="195814"/>
          </a:xfrm>
        </p:grpSpPr>
        <p:sp>
          <p:nvSpPr>
            <p:cNvPr id="86"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7" name="Other Sections2">
              <a:hlinkClick r:id="" action="ppaction://noaction"/>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88" name="Other Sections3">
              <a:hlinkClick r:id="" action="ppaction://noaction"/>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89" name="Other Sections4">
              <a:hlinkClick r:id="" action="ppaction://noaction"/>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90" name="Other Sections5">
              <a:hlinkClick r:id="" action="ppaction://noaction"/>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91" name="Other Sections6">
              <a:hlinkClick r:id="" action="ppaction://noaction"/>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92" name="Other Sections7">
              <a:hlinkClick r:id="" action="ppaction://noaction"/>
              <a:extLst>
                <a:ext uri="{FF2B5EF4-FFF2-40B4-BE49-F238E27FC236}">
                  <a16:creationId xmlns:a16="http://schemas.microsoft.com/office/drawing/2014/main" id="{8A19844E-D291-CA81-3B22-2B52F21919DA}"/>
                </a:ext>
              </a:extLst>
            </p:cNvPr>
            <p:cNvSpPr>
              <a:spLocks/>
            </p:cNvSpPr>
            <p:nvPr/>
          </p:nvSpPr>
          <p:spPr>
            <a:xfrm>
              <a:off x="6479643" y="153170"/>
              <a:ext cx="122583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Value creation potential</a:t>
              </a:r>
            </a:p>
          </p:txBody>
        </p:sp>
        <p:sp>
          <p:nvSpPr>
            <p:cNvPr id="93" name="Other Sections8">
              <a:hlinkClick r:id="" action="ppaction://noaction"/>
              <a:extLst>
                <a:ext uri="{FF2B5EF4-FFF2-40B4-BE49-F238E27FC236}">
                  <a16:creationId xmlns:a16="http://schemas.microsoft.com/office/drawing/2014/main" id="{8A19844E-D291-CA81-3B22-2B52F21919DA}"/>
                </a:ext>
              </a:extLst>
            </p:cNvPr>
            <p:cNvSpPr>
              <a:spLocks/>
            </p:cNvSpPr>
            <p:nvPr/>
          </p:nvSpPr>
          <p:spPr>
            <a:xfrm>
              <a:off x="7705473" y="153170"/>
              <a:ext cx="5413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Taxation</a:t>
              </a:r>
            </a:p>
          </p:txBody>
        </p:sp>
        <p:sp>
          <p:nvSpPr>
            <p:cNvPr id="94" name="Other Sections9">
              <a:hlinkClick r:id="" action="ppaction://noaction"/>
              <a:extLst>
                <a:ext uri="{FF2B5EF4-FFF2-40B4-BE49-F238E27FC236}">
                  <a16:creationId xmlns:a16="http://schemas.microsoft.com/office/drawing/2014/main" id="{8A19844E-D291-CA81-3B22-2B52F21919DA}"/>
                </a:ext>
              </a:extLst>
            </p:cNvPr>
            <p:cNvSpPr>
              <a:spLocks/>
            </p:cNvSpPr>
            <p:nvPr/>
          </p:nvSpPr>
          <p:spPr>
            <a:xfrm>
              <a:off x="8246821" y="153170"/>
              <a:ext cx="115850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fr-FR" sz="800">
                  <a:solidFill>
                    <a:schemeClr val="bg2">
                      <a:lumMod val="75000"/>
                    </a:schemeClr>
                  </a:solidFill>
                  <a:latin typeface="Arial" panose="020B0604020202020204" pitchFamily="34" charset="0"/>
                  <a:cs typeface="Arial" panose="020B0604020202020204" pitchFamily="34" charset="0"/>
                </a:rPr>
                <a:t>HR/ESG/IT/Cyber etc.</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95" name="Current Section10">
              <a:hlinkClick r:id="rId8" action="ppaction://hlinksldjump"/>
              <a:extLst>
                <a:ext uri="{FF2B5EF4-FFF2-40B4-BE49-F238E27FC236}">
                  <a16:creationId xmlns:a16="http://schemas.microsoft.com/office/drawing/2014/main" id="{89A61135-1F00-E77F-7C78-5FBA241A5742}"/>
                </a:ext>
              </a:extLst>
            </p:cNvPr>
            <p:cNvSpPr>
              <a:spLocks/>
            </p:cNvSpPr>
            <p:nvPr/>
          </p:nvSpPr>
          <p:spPr>
            <a:xfrm>
              <a:off x="9405325"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13638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UPSLIDE" val="KPM02339_Report (new)_04-05-2022"/>
  <p:tag name="TEMPLATESHORTNAMETAG" val="Diligence+"/>
  <p:tag name="TEMPLATEFULLNAMETAG" val="Diligence+"/>
  <p:tag name="TEMPLATEDETAILSTAG" val="TS team template"/>
  <p:tag name="UPSLIDEVERSION" val="6.8.24.1"/>
  <p:tag name="UPSLIDEPRINTFACINGPAGESDESIGN" val="KPMG Widescreen - UpSlide"/>
  <p:tag name="UPSLIDEPRINTFACINGPAGESLAYOUT" val="TITLE SLIDE Left Horizontal Window_KPMG Blu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gt;.&lt;/AfterSecNum&gt;&#10;        &lt;BeforeSecNum /&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1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24.xml><?xml version="1.0" encoding="utf-8"?>
<p:tagLst xmlns:a="http://schemas.openxmlformats.org/drawingml/2006/main" xmlns:r="http://schemas.openxmlformats.org/officeDocument/2006/relationships" xmlns:p="http://schemas.openxmlformats.org/presentationml/2006/main">
  <p:tag name="ADV_DRAFT" val="TRUE"/>
</p:tagLst>
</file>

<file path=ppt/tags/tag2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6.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8.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9.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31.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3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3.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34.xml><?xml version="1.0" encoding="utf-8"?>
<p:tagLst xmlns:a="http://schemas.openxmlformats.org/drawingml/2006/main" xmlns:r="http://schemas.openxmlformats.org/officeDocument/2006/relationships" xmlns:p="http://schemas.openxmlformats.org/presentationml/2006/main">
  <p:tag name="HIDETOC" val="true"/>
</p:tagLst>
</file>

<file path=ppt/tags/tag35.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9.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40.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1.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42.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43.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44.xml><?xml version="1.0" encoding="utf-8"?>
<p:tagLst xmlns:a="http://schemas.openxmlformats.org/drawingml/2006/main" xmlns:r="http://schemas.openxmlformats.org/officeDocument/2006/relationships" xmlns:p="http://schemas.openxmlformats.org/presentationml/2006/main">
  <p:tag name="HIDETOC" val="true"/>
</p:tagLst>
</file>

<file path=ppt/tags/tag45.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6.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7.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8.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9.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5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51.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52.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53.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54.xml><?xml version="1.0" encoding="utf-8"?>
<p:tagLst xmlns:a="http://schemas.openxmlformats.org/drawingml/2006/main" xmlns:r="http://schemas.openxmlformats.org/officeDocument/2006/relationships" xmlns:p="http://schemas.openxmlformats.org/presentationml/2006/main">
  <p:tag name="HIDETOC" val="true"/>
</p:tagLst>
</file>

<file path=ppt/tags/tag5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56.xml><?xml version="1.0" encoding="utf-8"?>
<p:tagLst xmlns:a="http://schemas.openxmlformats.org/drawingml/2006/main" xmlns:r="http://schemas.openxmlformats.org/officeDocument/2006/relationships" xmlns:p="http://schemas.openxmlformats.org/presentationml/2006/main">
  <p:tag name="HIDETOC" val="true"/>
</p:tagLst>
</file>

<file path=ppt/tags/tag57.xml><?xml version="1.0" encoding="utf-8"?>
<p:tagLst xmlns:a="http://schemas.openxmlformats.org/drawingml/2006/main" xmlns:r="http://schemas.openxmlformats.org/officeDocument/2006/relationships" xmlns:p="http://schemas.openxmlformats.org/presentationml/2006/main">
  <p:tag name="HIDETOC" val="tru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OCSLIDE" val="1"/>
</p:tagLst>
</file>

<file path=ppt/tags/tag6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9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AA"/>
</p:tagLst>
</file>

<file path=ppt/tags/tag106.xml><?xml version="1.0" encoding="utf-8"?>
<p:tagLst xmlns:a="http://schemas.openxmlformats.org/drawingml/2006/main" xmlns:r="http://schemas.openxmlformats.org/officeDocument/2006/relationships" xmlns:p="http://schemas.openxmlformats.org/presentationml/2006/main">
  <p:tag name="TOCSHAPE" val="AA"/>
</p:tagLst>
</file>

<file path=ppt/tags/tag107.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08.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109.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110.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111.xml><?xml version="1.0" encoding="utf-8"?>
<p:tagLst xmlns:a="http://schemas.openxmlformats.org/drawingml/2006/main" xmlns:r="http://schemas.openxmlformats.org/officeDocument/2006/relationships" xmlns:p="http://schemas.openxmlformats.org/presentationml/2006/main">
  <p:tag name="TOCSHAPE" val="807"/>
  <p:tag name="SLIDEINDEX" val="807"/>
</p:tagLst>
</file>

<file path=ppt/tags/tag112.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113.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AA"/>
</p:tagLst>
</file>

<file path=ppt/tags/tag118.xml><?xml version="1.0" encoding="utf-8"?>
<p:tagLst xmlns:a="http://schemas.openxmlformats.org/drawingml/2006/main" xmlns:r="http://schemas.openxmlformats.org/officeDocument/2006/relationships" xmlns:p="http://schemas.openxmlformats.org/presentationml/2006/main">
  <p:tag name="TOCSHAPE" val="AA"/>
</p:tagLst>
</file>

<file path=ppt/tags/tag119.xml><?xml version="1.0" encoding="utf-8"?>
<p:tagLst xmlns:a="http://schemas.openxmlformats.org/drawingml/2006/main" xmlns:r="http://schemas.openxmlformats.org/officeDocument/2006/relationships" xmlns:p="http://schemas.openxmlformats.org/presentationml/2006/main">
  <p:tag name="TOCSHAPE" val="AA"/>
</p:tagLst>
</file>

<file path=ppt/tags/tag120.xml><?xml version="1.0" encoding="utf-8"?>
<p:tagLst xmlns:a="http://schemas.openxmlformats.org/drawingml/2006/main" xmlns:r="http://schemas.openxmlformats.org/officeDocument/2006/relationships" xmlns:p="http://schemas.openxmlformats.org/presentationml/2006/main">
  <p:tag name="TOCSHAPE" val="AA"/>
</p:tagLst>
</file>

<file path=ppt/tags/tag121.xml><?xml version="1.0" encoding="utf-8"?>
<p:tagLst xmlns:a="http://schemas.openxmlformats.org/drawingml/2006/main" xmlns:r="http://schemas.openxmlformats.org/officeDocument/2006/relationships" xmlns:p="http://schemas.openxmlformats.org/presentationml/2006/main">
  <p:tag name="TOCSHAPE" val="AA"/>
</p:tagLst>
</file>

<file path=ppt/tags/tag122.xml><?xml version="1.0" encoding="utf-8"?>
<p:tagLst xmlns:a="http://schemas.openxmlformats.org/drawingml/2006/main" xmlns:r="http://schemas.openxmlformats.org/officeDocument/2006/relationships" xmlns:p="http://schemas.openxmlformats.org/presentationml/2006/main">
  <p:tag name="TOCSHAPE" val="AA"/>
</p:tagLst>
</file>

<file path=ppt/tags/tag123.xml><?xml version="1.0" encoding="utf-8"?>
<p:tagLst xmlns:a="http://schemas.openxmlformats.org/drawingml/2006/main" xmlns:r="http://schemas.openxmlformats.org/officeDocument/2006/relationships" xmlns:p="http://schemas.openxmlformats.org/presentationml/2006/main">
  <p:tag name="TOCSHAPE" val="AA"/>
</p:tagLst>
</file>

<file path=ppt/tags/tag124.xml><?xml version="1.0" encoding="utf-8"?>
<p:tagLst xmlns:a="http://schemas.openxmlformats.org/drawingml/2006/main" xmlns:r="http://schemas.openxmlformats.org/officeDocument/2006/relationships" xmlns:p="http://schemas.openxmlformats.org/presentationml/2006/main">
  <p:tag name="TOCSHAPE" val="AA"/>
</p:tagLst>
</file>

<file path=ppt/tags/tag125.xml><?xml version="1.0" encoding="utf-8"?>
<p:tagLst xmlns:a="http://schemas.openxmlformats.org/drawingml/2006/main" xmlns:r="http://schemas.openxmlformats.org/officeDocument/2006/relationships" xmlns:p="http://schemas.openxmlformats.org/presentationml/2006/main">
  <p:tag name="TOCSHAPE" val="AA"/>
</p:tagLst>
</file>

<file path=ppt/tags/tag126.xml><?xml version="1.0" encoding="utf-8"?>
<p:tagLst xmlns:a="http://schemas.openxmlformats.org/drawingml/2006/main" xmlns:r="http://schemas.openxmlformats.org/officeDocument/2006/relationships" xmlns:p="http://schemas.openxmlformats.org/presentationml/2006/main">
  <p:tag name="TOCSHAPE" val="AA"/>
</p:tagLst>
</file>

<file path=ppt/tags/tag127.xml><?xml version="1.0" encoding="utf-8"?>
<p:tagLst xmlns:a="http://schemas.openxmlformats.org/drawingml/2006/main" xmlns:r="http://schemas.openxmlformats.org/officeDocument/2006/relationships" xmlns:p="http://schemas.openxmlformats.org/presentationml/2006/main">
  <p:tag name="TOCSHAPE" val="AA"/>
</p:tagLst>
</file>

<file path=ppt/tags/tag128.xml><?xml version="1.0" encoding="utf-8"?>
<p:tagLst xmlns:a="http://schemas.openxmlformats.org/drawingml/2006/main" xmlns:r="http://schemas.openxmlformats.org/officeDocument/2006/relationships" xmlns:p="http://schemas.openxmlformats.org/presentationml/2006/main">
  <p:tag name="TOCSHAPE" val="AA"/>
</p:tagLst>
</file>

<file path=ppt/tags/tag129.xml><?xml version="1.0" encoding="utf-8"?>
<p:tagLst xmlns:a="http://schemas.openxmlformats.org/drawingml/2006/main" xmlns:r="http://schemas.openxmlformats.org/officeDocument/2006/relationships" xmlns:p="http://schemas.openxmlformats.org/presentationml/2006/main">
  <p:tag name="TOCSHAPE" val="AA"/>
</p:tagLst>
</file>

<file path=ppt/tags/tag130.xml><?xml version="1.0" encoding="utf-8"?>
<p:tagLst xmlns:a="http://schemas.openxmlformats.org/drawingml/2006/main" xmlns:r="http://schemas.openxmlformats.org/officeDocument/2006/relationships" xmlns:p="http://schemas.openxmlformats.org/presentationml/2006/main">
  <p:tag name="TOCSHAPE" val="AA"/>
</p:tagLst>
</file>

<file path=ppt/tags/tag131.xml><?xml version="1.0" encoding="utf-8"?>
<p:tagLst xmlns:a="http://schemas.openxmlformats.org/drawingml/2006/main" xmlns:r="http://schemas.openxmlformats.org/officeDocument/2006/relationships" xmlns:p="http://schemas.openxmlformats.org/presentationml/2006/main">
  <p:tag name="TOCSHAPE" val="AA"/>
</p:tagLst>
</file>

<file path=ppt/tags/tag132.xml><?xml version="1.0" encoding="utf-8"?>
<p:tagLst xmlns:a="http://schemas.openxmlformats.org/drawingml/2006/main" xmlns:r="http://schemas.openxmlformats.org/officeDocument/2006/relationships" xmlns:p="http://schemas.openxmlformats.org/presentationml/2006/main">
  <p:tag name="TOCSHAPE" val="AA"/>
</p:tagLst>
</file>

<file path=ppt/tags/tag133.xml><?xml version="1.0" encoding="utf-8"?>
<p:tagLst xmlns:a="http://schemas.openxmlformats.org/drawingml/2006/main" xmlns:r="http://schemas.openxmlformats.org/officeDocument/2006/relationships" xmlns:p="http://schemas.openxmlformats.org/presentationml/2006/main">
  <p:tag name="TOCSHAPE" val="AA"/>
</p:tagLst>
</file>

<file path=ppt/tags/tag134.xml><?xml version="1.0" encoding="utf-8"?>
<p:tagLst xmlns:a="http://schemas.openxmlformats.org/drawingml/2006/main" xmlns:r="http://schemas.openxmlformats.org/officeDocument/2006/relationships" xmlns:p="http://schemas.openxmlformats.org/presentationml/2006/main">
  <p:tag name="TOCSHAPE" val="AA"/>
</p:tagLst>
</file>

<file path=ppt/tags/tag135.xml><?xml version="1.0" encoding="utf-8"?>
<p:tagLst xmlns:a="http://schemas.openxmlformats.org/drawingml/2006/main" xmlns:r="http://schemas.openxmlformats.org/officeDocument/2006/relationships" xmlns:p="http://schemas.openxmlformats.org/presentationml/2006/main">
  <p:tag name="TOCSHAPE" val="AA"/>
</p:tagLst>
</file>

<file path=ppt/tags/tag136.xml><?xml version="1.0" encoding="utf-8"?>
<p:tagLst xmlns:a="http://schemas.openxmlformats.org/drawingml/2006/main" xmlns:r="http://schemas.openxmlformats.org/officeDocument/2006/relationships" xmlns:p="http://schemas.openxmlformats.org/presentationml/2006/main">
  <p:tag name="TOCSHAPE" val="AA"/>
</p:tagLst>
</file>

<file path=ppt/tags/tag137.xml><?xml version="1.0" encoding="utf-8"?>
<p:tagLst xmlns:a="http://schemas.openxmlformats.org/drawingml/2006/main" xmlns:r="http://schemas.openxmlformats.org/officeDocument/2006/relationships" xmlns:p="http://schemas.openxmlformats.org/presentationml/2006/main">
  <p:tag name="TOCSHAPE" val="AA"/>
</p:tagLst>
</file>

<file path=ppt/tags/tag138.xml><?xml version="1.0" encoding="utf-8"?>
<p:tagLst xmlns:a="http://schemas.openxmlformats.org/drawingml/2006/main" xmlns:r="http://schemas.openxmlformats.org/officeDocument/2006/relationships" xmlns:p="http://schemas.openxmlformats.org/presentationml/2006/main">
  <p:tag name="TOCSHAPE" val="AA"/>
</p:tagLst>
</file>

<file path=ppt/tags/tag139.xml><?xml version="1.0" encoding="utf-8"?>
<p:tagLst xmlns:a="http://schemas.openxmlformats.org/drawingml/2006/main" xmlns:r="http://schemas.openxmlformats.org/officeDocument/2006/relationships" xmlns:p="http://schemas.openxmlformats.org/presentationml/2006/main">
  <p:tag name="TOCSHAPE" val="AA"/>
</p:tagLst>
</file>

<file path=ppt/tags/tag140.xml><?xml version="1.0" encoding="utf-8"?>
<p:tagLst xmlns:a="http://schemas.openxmlformats.org/drawingml/2006/main" xmlns:r="http://schemas.openxmlformats.org/officeDocument/2006/relationships" xmlns:p="http://schemas.openxmlformats.org/presentationml/2006/main">
  <p:tag name="TOCSHAPE" val="AA"/>
</p:tagLst>
</file>

<file path=ppt/tags/tag141.xml><?xml version="1.0" encoding="utf-8"?>
<p:tagLst xmlns:a="http://schemas.openxmlformats.org/drawingml/2006/main" xmlns:r="http://schemas.openxmlformats.org/officeDocument/2006/relationships" xmlns:p="http://schemas.openxmlformats.org/presentationml/2006/main">
  <p:tag name="TOCSHAPE" val="AA"/>
</p:tagLst>
</file>

<file path=ppt/tags/tag142.xml><?xml version="1.0" encoding="utf-8"?>
<p:tagLst xmlns:a="http://schemas.openxmlformats.org/drawingml/2006/main" xmlns:r="http://schemas.openxmlformats.org/officeDocument/2006/relationships" xmlns:p="http://schemas.openxmlformats.org/presentationml/2006/main">
  <p:tag name="TOCSHAPE" val="AA"/>
</p:tagLst>
</file>

<file path=ppt/tags/tag143.xml><?xml version="1.0" encoding="utf-8"?>
<p:tagLst xmlns:a="http://schemas.openxmlformats.org/drawingml/2006/main" xmlns:r="http://schemas.openxmlformats.org/officeDocument/2006/relationships" xmlns:p="http://schemas.openxmlformats.org/presentationml/2006/main">
  <p:tag name="TOCSHAPE" val="AA"/>
</p:tagLst>
</file>

<file path=ppt/tags/tag144.xml><?xml version="1.0" encoding="utf-8"?>
<p:tagLst xmlns:a="http://schemas.openxmlformats.org/drawingml/2006/main" xmlns:r="http://schemas.openxmlformats.org/officeDocument/2006/relationships" xmlns:p="http://schemas.openxmlformats.org/presentationml/2006/main">
  <p:tag name="TOCSHAPE" val="AA"/>
</p:tagLst>
</file>

<file path=ppt/tags/tag145.xml><?xml version="1.0" encoding="utf-8"?>
<p:tagLst xmlns:a="http://schemas.openxmlformats.org/drawingml/2006/main" xmlns:r="http://schemas.openxmlformats.org/officeDocument/2006/relationships" xmlns:p="http://schemas.openxmlformats.org/presentationml/2006/main">
  <p:tag name="TOCSHAPE" val="AA"/>
</p:tagLst>
</file>

<file path=ppt/tags/tag146.xml><?xml version="1.0" encoding="utf-8"?>
<p:tagLst xmlns:a="http://schemas.openxmlformats.org/drawingml/2006/main" xmlns:r="http://schemas.openxmlformats.org/officeDocument/2006/relationships" xmlns:p="http://schemas.openxmlformats.org/presentationml/2006/main">
  <p:tag name="TOCSHAPE" val="608"/>
  <p:tag name="SLIDEINDEX" val="608"/>
</p:tagLst>
</file>

<file path=ppt/tags/tag147.xml><?xml version="1.0" encoding="utf-8"?>
<p:tagLst xmlns:a="http://schemas.openxmlformats.org/drawingml/2006/main" xmlns:r="http://schemas.openxmlformats.org/officeDocument/2006/relationships" xmlns:p="http://schemas.openxmlformats.org/presentationml/2006/main">
  <p:tag name="TOCSHAPE" val="673"/>
  <p:tag name="SLIDEINDEX" val="673"/>
</p:tagLst>
</file>

<file path=ppt/tags/tag148.xml><?xml version="1.0" encoding="utf-8"?>
<p:tagLst xmlns:a="http://schemas.openxmlformats.org/drawingml/2006/main" xmlns:r="http://schemas.openxmlformats.org/officeDocument/2006/relationships" xmlns:p="http://schemas.openxmlformats.org/presentationml/2006/main">
  <p:tag name="TOCSHAPE" val="1015"/>
  <p:tag name="SLIDEINDEX" val="1015"/>
</p:tagLst>
</file>

<file path=ppt/tags/tag149.xml><?xml version="1.0" encoding="utf-8"?>
<p:tagLst xmlns:a="http://schemas.openxmlformats.org/drawingml/2006/main" xmlns:r="http://schemas.openxmlformats.org/officeDocument/2006/relationships" xmlns:p="http://schemas.openxmlformats.org/presentationml/2006/main">
  <p:tag name="TOCSHAPE" val="2147469897"/>
  <p:tag name="SLIDEINDEX" val="2147469897"/>
</p:tagLst>
</file>

<file path=ppt/tags/tag150.xml><?xml version="1.0" encoding="utf-8"?>
<p:tagLst xmlns:a="http://schemas.openxmlformats.org/drawingml/2006/main" xmlns:r="http://schemas.openxmlformats.org/officeDocument/2006/relationships" xmlns:p="http://schemas.openxmlformats.org/presentationml/2006/main">
  <p:tag name="TOCSHAPE" val="718"/>
  <p:tag name="SLIDEINDEX" val="718"/>
</p:tagLst>
</file>

<file path=ppt/tags/tag151.xml><?xml version="1.0" encoding="utf-8"?>
<p:tagLst xmlns:a="http://schemas.openxmlformats.org/drawingml/2006/main" xmlns:r="http://schemas.openxmlformats.org/officeDocument/2006/relationships" xmlns:p="http://schemas.openxmlformats.org/presentationml/2006/main">
  <p:tag name="TOCSHAPE" val="724"/>
  <p:tag name="SLIDEINDEX" val="724"/>
</p:tagLst>
</file>

<file path=ppt/tags/tag152.xml><?xml version="1.0" encoding="utf-8"?>
<p:tagLst xmlns:a="http://schemas.openxmlformats.org/drawingml/2006/main" xmlns:r="http://schemas.openxmlformats.org/officeDocument/2006/relationships" xmlns:p="http://schemas.openxmlformats.org/presentationml/2006/main">
  <p:tag name="TOCSHAPE" val="728"/>
  <p:tag name="SLIDEINDEX" val="728"/>
</p:tagLst>
</file>

<file path=ppt/tags/tag153.xml><?xml version="1.0" encoding="utf-8"?>
<p:tagLst xmlns:a="http://schemas.openxmlformats.org/drawingml/2006/main" xmlns:r="http://schemas.openxmlformats.org/officeDocument/2006/relationships" xmlns:p="http://schemas.openxmlformats.org/presentationml/2006/main">
  <p:tag name="TOCSHAPE" val="740"/>
  <p:tag name="SLIDEINDEX" val="740"/>
</p:tagLst>
</file>

<file path=ppt/tags/tag154.xml><?xml version="1.0" encoding="utf-8"?>
<p:tagLst xmlns:a="http://schemas.openxmlformats.org/drawingml/2006/main" xmlns:r="http://schemas.openxmlformats.org/officeDocument/2006/relationships" xmlns:p="http://schemas.openxmlformats.org/presentationml/2006/main">
  <p:tag name="TOCSHAPE" val="742"/>
  <p:tag name="SLIDEINDEX" val="742"/>
</p:tagLst>
</file>

<file path=ppt/tags/tag155.xml><?xml version="1.0" encoding="utf-8"?>
<p:tagLst xmlns:a="http://schemas.openxmlformats.org/drawingml/2006/main" xmlns:r="http://schemas.openxmlformats.org/officeDocument/2006/relationships" xmlns:p="http://schemas.openxmlformats.org/presentationml/2006/main">
  <p:tag name="TOCSHAPE" val="750"/>
  <p:tag name="SLIDEINDEX" val="750"/>
</p:tagLst>
</file>

<file path=ppt/tags/tag156.xml><?xml version="1.0" encoding="utf-8"?>
<p:tagLst xmlns:a="http://schemas.openxmlformats.org/drawingml/2006/main" xmlns:r="http://schemas.openxmlformats.org/officeDocument/2006/relationships" xmlns:p="http://schemas.openxmlformats.org/presentationml/2006/main">
  <p:tag name="TOCSHAPE" val="749"/>
  <p:tag name="SLIDEINDEX" val="749"/>
</p:tagLst>
</file>

<file path=ppt/tags/tag157.xml><?xml version="1.0" encoding="utf-8"?>
<p:tagLst xmlns:a="http://schemas.openxmlformats.org/drawingml/2006/main" xmlns:r="http://schemas.openxmlformats.org/officeDocument/2006/relationships" xmlns:p="http://schemas.openxmlformats.org/presentationml/2006/main">
  <p:tag name="TOCSHAPE" val="777"/>
  <p:tag name="SLIDEINDEX" val="777"/>
</p:tagLst>
</file>

<file path=ppt/tags/tag158.xml><?xml version="1.0" encoding="utf-8"?>
<p:tagLst xmlns:a="http://schemas.openxmlformats.org/drawingml/2006/main" xmlns:r="http://schemas.openxmlformats.org/officeDocument/2006/relationships" xmlns:p="http://schemas.openxmlformats.org/presentationml/2006/main">
  <p:tag name="TOCSHAPE" val="752"/>
  <p:tag name="SLIDEINDEX" val="752"/>
</p:tagLst>
</file>

<file path=ppt/tags/tag159.xml><?xml version="1.0" encoding="utf-8"?>
<p:tagLst xmlns:a="http://schemas.openxmlformats.org/drawingml/2006/main" xmlns:r="http://schemas.openxmlformats.org/officeDocument/2006/relationships" xmlns:p="http://schemas.openxmlformats.org/presentationml/2006/main">
  <p:tag name="TOCSHAPE" val="755"/>
  <p:tag name="SLIDEINDEX" val="755"/>
</p:tagLst>
</file>

<file path=ppt/tags/tag160.xml><?xml version="1.0" encoding="utf-8"?>
<p:tagLst xmlns:a="http://schemas.openxmlformats.org/drawingml/2006/main" xmlns:r="http://schemas.openxmlformats.org/officeDocument/2006/relationships" xmlns:p="http://schemas.openxmlformats.org/presentationml/2006/main">
  <p:tag name="TOCSHAPE" val="735"/>
  <p:tag name="SLIDEINDEX" val="735"/>
</p:tagLst>
</file>

<file path=ppt/tags/tag161.xml><?xml version="1.0" encoding="utf-8"?>
<p:tagLst xmlns:a="http://schemas.openxmlformats.org/drawingml/2006/main" xmlns:r="http://schemas.openxmlformats.org/officeDocument/2006/relationships" xmlns:p="http://schemas.openxmlformats.org/presentationml/2006/main">
  <p:tag name="TOCSHAPE" val="727"/>
  <p:tag name="SLIDEINDEX" val="727"/>
</p:tagLst>
</file>

<file path=ppt/tags/tag162.xml><?xml version="1.0" encoding="utf-8"?>
<p:tagLst xmlns:a="http://schemas.openxmlformats.org/drawingml/2006/main" xmlns:r="http://schemas.openxmlformats.org/officeDocument/2006/relationships" xmlns:p="http://schemas.openxmlformats.org/presentationml/2006/main">
  <p:tag name="TOCSHAPE" val="726"/>
  <p:tag name="SLIDEINDEX" val="726"/>
</p:tagLst>
</file>

<file path=ppt/tags/tag163.xml><?xml version="1.0" encoding="utf-8"?>
<p:tagLst xmlns:a="http://schemas.openxmlformats.org/drawingml/2006/main" xmlns:r="http://schemas.openxmlformats.org/officeDocument/2006/relationships" xmlns:p="http://schemas.openxmlformats.org/presentationml/2006/main">
  <p:tag name="TOCSHAPE" val="962"/>
  <p:tag name="SLIDEINDEX" val="962"/>
</p:tagLst>
</file>

<file path=ppt/tags/tag164.xml><?xml version="1.0" encoding="utf-8"?>
<p:tagLst xmlns:a="http://schemas.openxmlformats.org/drawingml/2006/main" xmlns:r="http://schemas.openxmlformats.org/officeDocument/2006/relationships" xmlns:p="http://schemas.openxmlformats.org/presentationml/2006/main">
  <p:tag name="TOCSHAPE" val="968"/>
  <p:tag name="SLIDEINDEX" val="968"/>
</p:tagLst>
</file>

<file path=ppt/tags/tag165.xml><?xml version="1.0" encoding="utf-8"?>
<p:tagLst xmlns:a="http://schemas.openxmlformats.org/drawingml/2006/main" xmlns:r="http://schemas.openxmlformats.org/officeDocument/2006/relationships" xmlns:p="http://schemas.openxmlformats.org/presentationml/2006/main">
  <p:tag name="TOCSHAPE" val="970"/>
  <p:tag name="SLIDEINDEX" val="970"/>
</p:tagLst>
</file>

<file path=ppt/tags/tag166.xml><?xml version="1.0" encoding="utf-8"?>
<p:tagLst xmlns:a="http://schemas.openxmlformats.org/drawingml/2006/main" xmlns:r="http://schemas.openxmlformats.org/officeDocument/2006/relationships" xmlns:p="http://schemas.openxmlformats.org/presentationml/2006/main">
  <p:tag name="TOCSHAPE" val="729"/>
  <p:tag name="SLIDEINDEX" val="729"/>
</p:tagLst>
</file>

<file path=ppt/tags/tag167.xml><?xml version="1.0" encoding="utf-8"?>
<p:tagLst xmlns:a="http://schemas.openxmlformats.org/drawingml/2006/main" xmlns:r="http://schemas.openxmlformats.org/officeDocument/2006/relationships" xmlns:p="http://schemas.openxmlformats.org/presentationml/2006/main">
  <p:tag name="TOCSHAPE" val="862"/>
  <p:tag name="SLIDEINDEX" val="862"/>
</p:tagLst>
</file>

<file path=ppt/tags/tag168.xml><?xml version="1.0" encoding="utf-8"?>
<p:tagLst xmlns:a="http://schemas.openxmlformats.org/drawingml/2006/main" xmlns:r="http://schemas.openxmlformats.org/officeDocument/2006/relationships" xmlns:p="http://schemas.openxmlformats.org/presentationml/2006/main">
  <p:tag name="TOCSHAPE" val="863"/>
  <p:tag name="SLIDEINDEX" val="863"/>
</p:tagLst>
</file>

<file path=ppt/tags/tag169.xml><?xml version="1.0" encoding="utf-8"?>
<p:tagLst xmlns:a="http://schemas.openxmlformats.org/drawingml/2006/main" xmlns:r="http://schemas.openxmlformats.org/officeDocument/2006/relationships" xmlns:p="http://schemas.openxmlformats.org/presentationml/2006/main">
  <p:tag name="TOCSHAPE" val="1006"/>
  <p:tag name="SLIDEINDEX" val="1006"/>
</p:tagLst>
</file>

<file path=ppt/tags/tag170.xml><?xml version="1.0" encoding="utf-8"?>
<p:tagLst xmlns:a="http://schemas.openxmlformats.org/drawingml/2006/main" xmlns:r="http://schemas.openxmlformats.org/officeDocument/2006/relationships" xmlns:p="http://schemas.openxmlformats.org/presentationml/2006/main">
  <p:tag name="TOCSHAPE" val="800"/>
  <p:tag name="SLIDEINDEX" val="800"/>
</p:tagLst>
</file>

<file path=ppt/tags/tag171.xml><?xml version="1.0" encoding="utf-8"?>
<p:tagLst xmlns:a="http://schemas.openxmlformats.org/drawingml/2006/main" xmlns:r="http://schemas.openxmlformats.org/officeDocument/2006/relationships" xmlns:p="http://schemas.openxmlformats.org/presentationml/2006/main">
  <p:tag name="TOCSHAPE" val="1009"/>
  <p:tag name="SLIDEINDEX" val="1009"/>
</p:tagLst>
</file>

<file path=ppt/tags/tag172.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173.xml><?xml version="1.0" encoding="utf-8"?>
<p:tagLst xmlns:a="http://schemas.openxmlformats.org/drawingml/2006/main" xmlns:r="http://schemas.openxmlformats.org/officeDocument/2006/relationships" xmlns:p="http://schemas.openxmlformats.org/presentationml/2006/main">
  <p:tag name="TOCSHAPE" val="1010"/>
  <p:tag name="SLIDEINDEX" val="1010"/>
</p:tagLst>
</file>

<file path=ppt/tags/tag174.xml><?xml version="1.0" encoding="utf-8"?>
<p:tagLst xmlns:a="http://schemas.openxmlformats.org/drawingml/2006/main" xmlns:r="http://schemas.openxmlformats.org/officeDocument/2006/relationships" xmlns:p="http://schemas.openxmlformats.org/presentationml/2006/main">
  <p:tag name="TOCSHAPE" val="1011"/>
  <p:tag name="SLIDEINDEX" val="1011"/>
</p:tagLst>
</file>

<file path=ppt/tags/tag175.xml><?xml version="1.0" encoding="utf-8"?>
<p:tagLst xmlns:a="http://schemas.openxmlformats.org/drawingml/2006/main" xmlns:r="http://schemas.openxmlformats.org/officeDocument/2006/relationships" xmlns:p="http://schemas.openxmlformats.org/presentationml/2006/main">
  <p:tag name="TOCSHAPE" val="1012"/>
  <p:tag name="SLIDEINDEX" val="1012"/>
</p:tagLst>
</file>

<file path=ppt/tags/tag176.xml><?xml version="1.0" encoding="utf-8"?>
<p:tagLst xmlns:a="http://schemas.openxmlformats.org/drawingml/2006/main" xmlns:r="http://schemas.openxmlformats.org/officeDocument/2006/relationships" xmlns:p="http://schemas.openxmlformats.org/presentationml/2006/main">
  <p:tag name="TOCSHAPE" val="1013"/>
  <p:tag name="SLIDEINDEX" val="1013"/>
</p:tagLst>
</file>

<file path=ppt/tags/tag177.xml><?xml version="1.0" encoding="utf-8"?>
<p:tagLst xmlns:a="http://schemas.openxmlformats.org/drawingml/2006/main" xmlns:r="http://schemas.openxmlformats.org/officeDocument/2006/relationships" xmlns:p="http://schemas.openxmlformats.org/presentationml/2006/main">
  <p:tag name="TOCSHAPE" val="1014"/>
  <p:tag name="SLIDEINDEX" val="1014"/>
</p:tagLst>
</file>

<file path=ppt/tags/tag178.xml><?xml version="1.0" encoding="utf-8"?>
<p:tagLst xmlns:a="http://schemas.openxmlformats.org/drawingml/2006/main" xmlns:r="http://schemas.openxmlformats.org/officeDocument/2006/relationships" xmlns:p="http://schemas.openxmlformats.org/presentationml/2006/main">
  <p:tag name="NAME" val="Executive summary"/>
  <p:tag name="CROSSREFGUID" val="d46926f3-4e60-4369-b8b8-4188edaf2f9a"/>
  <p:tag name="SECTION" val="1"/>
</p:tagLst>
</file>

<file path=ppt/tags/tag17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85.xml><?xml version="1.0" encoding="utf-8"?>
<p:tagLst xmlns:a="http://schemas.openxmlformats.org/drawingml/2006/main" xmlns:r="http://schemas.openxmlformats.org/officeDocument/2006/relationships" xmlns:p="http://schemas.openxmlformats.org/presentationml/2006/main">
  <p:tag name="TOCSHAPE" val="AA"/>
</p:tagLst>
</file>

<file path=ppt/tags/tag186.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87.xml><?xml version="1.0" encoding="utf-8"?>
<p:tagLst xmlns:a="http://schemas.openxmlformats.org/drawingml/2006/main" xmlns:r="http://schemas.openxmlformats.org/officeDocument/2006/relationships" xmlns:p="http://schemas.openxmlformats.org/presentationml/2006/main">
  <p:tag name="TOCSHAPE" val="AA"/>
</p:tagLst>
</file>

<file path=ppt/tags/tag188.xml><?xml version="1.0" encoding="utf-8"?>
<p:tagLst xmlns:a="http://schemas.openxmlformats.org/drawingml/2006/main" xmlns:r="http://schemas.openxmlformats.org/officeDocument/2006/relationships" xmlns:p="http://schemas.openxmlformats.org/presentationml/2006/main">
  <p:tag name="TOCSHAPE" val="AA"/>
</p:tagLst>
</file>

<file path=ppt/tags/tag189.xml><?xml version="1.0" encoding="utf-8"?>
<p:tagLst xmlns:a="http://schemas.openxmlformats.org/drawingml/2006/main" xmlns:r="http://schemas.openxmlformats.org/officeDocument/2006/relationships" xmlns:p="http://schemas.openxmlformats.org/presentationml/2006/main">
  <p:tag name="TOCSHAPE" val="AA"/>
</p:tagLst>
</file>

<file path=ppt/tags/tag190.xml><?xml version="1.0" encoding="utf-8"?>
<p:tagLst xmlns:a="http://schemas.openxmlformats.org/drawingml/2006/main" xmlns:r="http://schemas.openxmlformats.org/officeDocument/2006/relationships" xmlns:p="http://schemas.openxmlformats.org/presentationml/2006/main">
  <p:tag name="TOCSHAPE" val="AA"/>
</p:tagLst>
</file>

<file path=ppt/tags/tag191.xml><?xml version="1.0" encoding="utf-8"?>
<p:tagLst xmlns:a="http://schemas.openxmlformats.org/drawingml/2006/main" xmlns:r="http://schemas.openxmlformats.org/officeDocument/2006/relationships" xmlns:p="http://schemas.openxmlformats.org/presentationml/2006/main">
  <p:tag name="TOCSHAPE" val="AA"/>
</p:tagLst>
</file>

<file path=ppt/tags/tag192.xml><?xml version="1.0" encoding="utf-8"?>
<p:tagLst xmlns:a="http://schemas.openxmlformats.org/drawingml/2006/main" xmlns:r="http://schemas.openxmlformats.org/officeDocument/2006/relationships" xmlns:p="http://schemas.openxmlformats.org/presentationml/2006/main">
  <p:tag name="TOCSHAPE" val="608"/>
  <p:tag name="SLIDEINDEX" val="608"/>
</p:tagLst>
</file>

<file path=ppt/tags/tag193.xml><?xml version="1.0" encoding="utf-8"?>
<p:tagLst xmlns:a="http://schemas.openxmlformats.org/drawingml/2006/main" xmlns:r="http://schemas.openxmlformats.org/officeDocument/2006/relationships" xmlns:p="http://schemas.openxmlformats.org/presentationml/2006/main">
  <p:tag name="TOCSHAPE" val="673"/>
  <p:tag name="SLIDEINDEX" val="673"/>
</p:tagLst>
</file>

<file path=ppt/tags/tag194.xml><?xml version="1.0" encoding="utf-8"?>
<p:tagLst xmlns:a="http://schemas.openxmlformats.org/drawingml/2006/main" xmlns:r="http://schemas.openxmlformats.org/officeDocument/2006/relationships" xmlns:p="http://schemas.openxmlformats.org/presentationml/2006/main">
  <p:tag name="TOCSHAPE" val="1015"/>
  <p:tag name="SLIDEINDEX" val="1015"/>
</p:tagLst>
</file>

<file path=ppt/tags/tag195.xml><?xml version="1.0" encoding="utf-8"?>
<p:tagLst xmlns:a="http://schemas.openxmlformats.org/drawingml/2006/main" xmlns:r="http://schemas.openxmlformats.org/officeDocument/2006/relationships" xmlns:p="http://schemas.openxmlformats.org/presentationml/2006/main">
  <p:tag name="TOCSHAPE" val="2147469897"/>
  <p:tag name="SLIDEINDEX" val="2147469897"/>
</p:tagLst>
</file>

<file path=ppt/tags/tag196.xml><?xml version="1.0" encoding="utf-8"?>
<p:tagLst xmlns:a="http://schemas.openxmlformats.org/drawingml/2006/main" xmlns:r="http://schemas.openxmlformats.org/officeDocument/2006/relationships" xmlns:p="http://schemas.openxmlformats.org/presentationml/2006/main">
  <p:tag name="TOCSHAPE" val="718"/>
  <p:tag name="SLIDEINDEX" val="718"/>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ADV_TOP" val="264.8149"/>
  <p:tag name="ADV_LEFT" val="180.25"/>
  <p:tag name="ADV_HEIGHT" val="16.56016"/>
  <p:tag name="ADV_WIDTH" val="283.5"/>
</p:tagLst>
</file>

<file path=ppt/tags/tag202.xml><?xml version="1.0" encoding="utf-8"?>
<p:tagLst xmlns:a="http://schemas.openxmlformats.org/drawingml/2006/main" xmlns:r="http://schemas.openxmlformats.org/officeDocument/2006/relationships" xmlns:p="http://schemas.openxmlformats.org/presentationml/2006/main">
  <p:tag name="FASFONT" val="Univers55"/>
</p:tagLst>
</file>

<file path=ppt/tags/tag203.xml><?xml version="1.0" encoding="utf-8"?>
<p:tagLst xmlns:a="http://schemas.openxmlformats.org/drawingml/2006/main" xmlns:r="http://schemas.openxmlformats.org/officeDocument/2006/relationships" xmlns:p="http://schemas.openxmlformats.org/presentationml/2006/main">
  <p:tag name="LAST UPDATE DATE" val="414255869.389079"/>
  <p:tag name="IMPORTID" val="2222414250766.147409"/>
  <p:tag name="WBLAST" val="https://kpmgoneuk.sharepoint.com/sites/GB-Diligenceplus/Shared Documents/General/Templates/Diligence + Excel formatting Jan23.xlsx"/>
  <p:tag name="USER NAME" val="awalker9"/>
  <p:tag name="TYPE" val="1"/>
  <p:tag name="SOURCENAME" val="Overall "/>
  <p:tag name="SHEETID" val="Trading summary"/>
  <p:tag name="PICTUREAPPEARANCE" val="xlPrinter"/>
  <p:tag name="NORESIZEONUPDATE" val="False"/>
  <p:tag name="HIDDENRANGE" val=""/>
</p:tagLst>
</file>

<file path=ppt/tags/tag204.xml><?xml version="1.0" encoding="utf-8"?>
<p:tagLst xmlns:a="http://schemas.openxmlformats.org/drawingml/2006/main" xmlns:r="http://schemas.openxmlformats.org/officeDocument/2006/relationships" xmlns:p="http://schemas.openxmlformats.org/presentationml/2006/main">
  <p:tag name="LAST UPDATE DATE" val="414255684.209483"/>
  <p:tag name="IMPORTID" val="3971414255525.550531"/>
  <p:tag name="WBLAST" val="https://kpmgoneuk.sharepoint.com/sites/GB-Diligenceplus/Shared Documents/General/Templates/Diligence + Excel formatting Jan23.xlsx"/>
  <p:tag name="USER NAME" val="awalker9"/>
  <p:tag name="TYPE" val="1"/>
  <p:tag name="SOURCENAME" val="Concessions "/>
  <p:tag name="SHEETID" val="Trading summary"/>
  <p:tag name="PICTUREAPPEARANCE" val="xlPrinter"/>
  <p:tag name="NORESIZEONUPDATE" val="False"/>
  <p:tag name="HIDDENRANGE" val=""/>
</p:tagLst>
</file>

<file path=ppt/tags/tag205.xml><?xml version="1.0" encoding="utf-8"?>
<p:tagLst xmlns:a="http://schemas.openxmlformats.org/drawingml/2006/main" xmlns:r="http://schemas.openxmlformats.org/officeDocument/2006/relationships" xmlns:p="http://schemas.openxmlformats.org/presentationml/2006/main">
  <p:tag name="LAST UPDATE DATE" val="414255695.45783"/>
  <p:tag name="IMPORTID" val="5925414255695.45783"/>
  <p:tag name="WBLAST" val="https://kpmgoneuk.sharepoint.com/sites/GB-Diligenceplus/Shared Documents/General/Templates/Diligence + Excel formatting Jan23.xlsx"/>
  <p:tag name="USER NAME" val="awalker9"/>
  <p:tag name="TYPE" val="1"/>
  <p:tag name="SOURCENAME" val="Boutiques "/>
  <p:tag name="SHEETID" val="Trading summary"/>
  <p:tag name="PICTUREAPPEARANCE" val="xlPrinter"/>
  <p:tag name="NORESIZEONUPDATE" val="False"/>
  <p:tag name="HIDDENRANGE" val=""/>
</p:tagLst>
</file>

<file path=ppt/tags/tag206.xml><?xml version="1.0" encoding="utf-8"?>
<p:tagLst xmlns:a="http://schemas.openxmlformats.org/drawingml/2006/main" xmlns:r="http://schemas.openxmlformats.org/officeDocument/2006/relationships" xmlns:p="http://schemas.openxmlformats.org/presentationml/2006/main">
  <p:tag name="LAST UPDATE DATE" val="414255439.926461"/>
  <p:tag name="IMPORTID" val="7295414255439.926461"/>
  <p:tag name="WBLAST" val="https://kpmgoneuk.sharepoint.com/sites/GB-Diligenceplus/Shared Documents/General/Templates/Diligence + Excel formatting Jan23.xlsx"/>
  <p:tag name="USER NAME" val="awalker9"/>
  <p:tag name="TYPE" val="1"/>
  <p:tag name="SOURCENAME" val="Online "/>
  <p:tag name="SHEETID" val="Trading summary"/>
  <p:tag name="PICTUREAPPEARANCE" val="xlPrinter"/>
  <p:tag name="NORESIZEONUPDATE" val="False"/>
  <p:tag name="HIDDENRANGE" val=""/>
</p:tagLst>
</file>

<file path=ppt/tags/tag207.xml><?xml version="1.0" encoding="utf-8"?>
<p:tagLst xmlns:a="http://schemas.openxmlformats.org/drawingml/2006/main" xmlns:r="http://schemas.openxmlformats.org/officeDocument/2006/relationships" xmlns:p="http://schemas.openxmlformats.org/presentationml/2006/main">
  <p:tag name="LAST UPDATE DATE" val="414255510.539309"/>
  <p:tag name="IMPORTID" val="4008414255480.383019"/>
  <p:tag name="WBLAST" val="https://kpmgoneuk.sharepoint.com/sites/GB-Diligenceplus/Shared Documents/General/Templates/Diligence + Excel formatting Jan23.xlsx"/>
  <p:tag name="USER NAME" val="awalker9"/>
  <p:tag name="TYPE" val="1"/>
  <p:tag name="SOURCENAME" val="Retail "/>
  <p:tag name="SHEETID" val="Trading summary"/>
  <p:tag name="PICTUREAPPEARANCE" val="xlPrinter"/>
  <p:tag name="NORESIZEONUPDATE" val="False"/>
  <p:tag name="HIDDENRANGE" val=""/>
</p:tagLst>
</file>

<file path=ppt/tags/tag208.xml><?xml version="1.0" encoding="utf-8"?>
<p:tagLst xmlns:a="http://schemas.openxmlformats.org/drawingml/2006/main" xmlns:r="http://schemas.openxmlformats.org/officeDocument/2006/relationships" xmlns:p="http://schemas.openxmlformats.org/presentationml/2006/main">
  <p:tag name="LAST UPDATE DATE" val="415804829.959063"/>
  <p:tag name="IMPORTID" val="2114414255735.706249"/>
  <p:tag name="WBLAST" val="https://kpmgoneuk.sharepoint.com/sites/GB-Diligenceplus/Shared Documents/General/Templates/Diligence + Excel formatting Jan23.xlsx"/>
  <p:tag name="USER NAME" val="awalker9"/>
  <p:tag name="TYPE" val="1"/>
  <p:tag name="SOURCENAME" val="Head office costs "/>
  <p:tag name="SHEETID" val="Trading summary"/>
  <p:tag name="PICTUREAPPEARANCE" val="xlPrinter"/>
  <p:tag name="NORESIZEONUPDATE" val="False"/>
</p:tagLst>
</file>

<file path=ppt/tags/tag20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7.xml><?xml version="1.0" encoding="utf-8"?>
<p:tagLst xmlns:a="http://schemas.openxmlformats.org/drawingml/2006/main" xmlns:r="http://schemas.openxmlformats.org/officeDocument/2006/relationships" xmlns:p="http://schemas.openxmlformats.org/presentationml/2006/main">
  <p:tag name="LAST UPDATE DATE" val="414179582.383939"/>
  <p:tag name="IMPORTID" val="6493364667299.734194"/>
  <p:tag name="WBLAST" val="https://kpmgoneuk.sharepoint.com/sites/GB-Diligenceplus-ExampleDiligencePlusreports/Shared Documents/Example Diligence Plus reports/Infinity/Project Infinity - PL databook.xlsx"/>
  <p:tag name="USER NAME" val="awalker9"/>
  <p:tag name="TYPE" val="2"/>
  <p:tag name="SOURCENAME" val="Chart7"/>
  <p:tag name="SHEETID" val="LTM22 cost base pie"/>
  <p:tag name="PICTUREAPPEARANCE" val="xlPrinter"/>
  <p:tag name="NORESIZEONUPDATE" val="False"/>
  <p:tag name="HIDDENRANGE" val=""/>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LAST UPDATE DATE" val="414602151.503635"/>
  <p:tag name="IMPORTID" val="6395414177337.946175"/>
  <p:tag name="WBLAST" val="https://kpmgoneuk.sharepoint.com/sites/GB-Diligenceplus-ExampleDiligencePlusreports/Shared Documents/Example Diligence Plus reports/Infinity/Project Infinity - PL databook.xlsx"/>
  <p:tag name="USER NAME" val="awalker9"/>
  <p:tag name="TYPE" val="2"/>
  <p:tag name="SOURCENAME" val="Chart1"/>
  <p:tag name="SHEETID" val="Stacked sales by channel"/>
  <p:tag name="PICTUREAPPEARANCE" val="xlPrinter"/>
  <p:tag name="NORESIZEONUPDATE" val="False"/>
</p:tagLst>
</file>

<file path=ppt/tags/tag220.xml><?xml version="1.0" encoding="utf-8"?>
<p:tagLst xmlns:a="http://schemas.openxmlformats.org/drawingml/2006/main" xmlns:r="http://schemas.openxmlformats.org/officeDocument/2006/relationships" xmlns:p="http://schemas.openxmlformats.org/presentationml/2006/main">
  <p:tag name="LAST UPDATE DATE" val="414179685.498495"/>
  <p:tag name="IMPORTID" val="9358367776449.510297"/>
  <p:tag name="WBLAST" val="https://kpmgoneuk.sharepoint.com/sites/GB-Diligenceplus-ExampleDiligencePlusreports/Shared Documents/Example Diligence Plus reports/Infinity/Project Infinity - SKU analysis v2.xlsx"/>
  <p:tag name="USER NAME" val="awalker9"/>
  <p:tag name="TYPE" val="2"/>
  <p:tag name="SOURCENAME" val="Chart5"/>
  <p:tag name="SHEETID" val="Proportional mix by product"/>
  <p:tag name="PICTUREAPPEARANCE" val="xlPrinter"/>
  <p:tag name="NORESIZEONUPDATE" val="False"/>
  <p:tag name="HIDDENRANGE" val=""/>
</p:tagLst>
</file>

<file path=ppt/tags/tag221.xml><?xml version="1.0" encoding="utf-8"?>
<p:tagLst xmlns:a="http://schemas.openxmlformats.org/drawingml/2006/main" xmlns:r="http://schemas.openxmlformats.org/officeDocument/2006/relationships" xmlns:p="http://schemas.openxmlformats.org/presentationml/2006/main">
  <p:tag name="LAST UPDATE DATE" val="419695977.848153"/>
  <p:tag name="IMPORTID" val="6014414242431.910954"/>
  <p:tag name="WBLAST" val="https://kpmgoneuk.sharepoint.com/sites/GB-Diligenceplus/Shared Documents/General/Templates/Diligence + Excel formatting Jan23.xlsx"/>
  <p:tag name="USER NAME" val="tdorrington"/>
  <p:tag name="TYPE" val="1"/>
  <p:tag name="SOURCENAME" val="Quality of earnings"/>
  <p:tag name="SHEETID" val="QofE"/>
  <p:tag name="PICTUREAPPEARANCE" val="xlPrinter"/>
  <p:tag name="NORESIZEONUPDATE" val="False"/>
</p:tagLst>
</file>

<file path=ppt/tags/tag222.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223.xml><?xml version="1.0" encoding="utf-8"?>
<p:tagLst xmlns:a="http://schemas.openxmlformats.org/drawingml/2006/main" xmlns:r="http://schemas.openxmlformats.org/officeDocument/2006/relationships" xmlns:p="http://schemas.openxmlformats.org/presentationml/2006/main">
  <p:tag name="LAST UPDATE DATE" val="419695993.575481"/>
  <p:tag name="IMPORTID" val="8880414243417.560592"/>
  <p:tag name="WBLAST" val="https://kpmgoneuk.sharepoint.com/sites/GB-Diligenceplus/Shared Documents/General/Templates/Diligence + Excel formatting Jan23.xlsx"/>
  <p:tag name="USER NAME" val="tdorrington"/>
  <p:tag name="TYPE" val="1"/>
  <p:tag name="SOURCENAME" val="Adjusted NWC"/>
  <p:tag name="SHEETID" val="Adj. NWC"/>
  <p:tag name="PICTUREAPPEARANCE" val="xlPrinter"/>
  <p:tag name="NORESIZEONUPDATE" val="False"/>
</p:tagLst>
</file>

<file path=ppt/tags/tag224.xml><?xml version="1.0" encoding="utf-8"?>
<p:tagLst xmlns:a="http://schemas.openxmlformats.org/drawingml/2006/main" xmlns:r="http://schemas.openxmlformats.org/officeDocument/2006/relationships" xmlns:p="http://schemas.openxmlformats.org/presentationml/2006/main">
  <p:tag name="LAST UPDATE DATE" val="414244116.314305"/>
  <p:tag name="IMPORTID" val="4898414244088.748683"/>
  <p:tag name="WBLAST" val="https://kpmgoneuk.sharepoint.com/sites/GB-Diligenceplus/Shared Documents/General/Templates/Diligence + Excel formatting Jan23.xlsx"/>
  <p:tag name="USER NAME" val="awalker9"/>
  <p:tag name="TYPE" val="1"/>
  <p:tag name="SOURCENAME" val="Net cash"/>
  <p:tag name="SHEETID" val="Net debt"/>
  <p:tag name="PICTUREAPPEARANCE" val="xlPrinter"/>
  <p:tag name="NORESIZEONUPDATE" val="False"/>
  <p:tag name="HIDDENRANGE" val=""/>
</p:tagLst>
</file>

<file path=ppt/tags/tag225.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226.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22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ADV_TOP" val="104.7343"/>
  <p:tag name="ADV_LEFT" val="78.99213"/>
  <p:tag name="ADV_HEIGHT" val="315.4"/>
  <p:tag name="ADV_WIDTH" val="391.1811"/>
</p:tagLst>
</file>

<file path=ppt/tags/tag231.xml><?xml version="1.0" encoding="utf-8"?>
<p:tagLst xmlns:a="http://schemas.openxmlformats.org/drawingml/2006/main" xmlns:r="http://schemas.openxmlformats.org/officeDocument/2006/relationships" xmlns:p="http://schemas.openxmlformats.org/presentationml/2006/main">
  <p:tag name="FASFONT" val="Univers55"/>
</p:tagLst>
</file>

<file path=ppt/tags/tag232.xml><?xml version="1.0" encoding="utf-8"?>
<p:tagLst xmlns:a="http://schemas.openxmlformats.org/drawingml/2006/main" xmlns:r="http://schemas.openxmlformats.org/officeDocument/2006/relationships" xmlns:p="http://schemas.openxmlformats.org/presentationml/2006/main">
  <p:tag name="FASFONT" val="Univers55"/>
</p:tagLst>
</file>

<file path=ppt/tags/tag233.xml><?xml version="1.0" encoding="utf-8"?>
<p:tagLst xmlns:a="http://schemas.openxmlformats.org/drawingml/2006/main" xmlns:r="http://schemas.openxmlformats.org/officeDocument/2006/relationships" xmlns:p="http://schemas.openxmlformats.org/presentationml/2006/main">
  <p:tag name="FASFONT" val="Univers55"/>
</p:tagLst>
</file>

<file path=ppt/tags/tag23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5.xml><?xml version="1.0" encoding="utf-8"?>
<p:tagLst xmlns:a="http://schemas.openxmlformats.org/drawingml/2006/main" xmlns:r="http://schemas.openxmlformats.org/officeDocument/2006/relationships" xmlns:p="http://schemas.openxmlformats.org/presentationml/2006/main">
  <p:tag name="LAST UPDATE DATE" val="415981745.709046"/>
  <p:tag name="IMPORTID" val="3733415981481.079137"/>
  <p:tag name="WBLAST" val="https://kpmgoneuk.sharepoint.com/sites/GB-Diligenceplus/Shared Documents/General/Templates/Diligence + Excel formatting Jan23.xlsx"/>
  <p:tag name="USER NAME" val="awalker9"/>
  <p:tag name="TYPE" val="2"/>
  <p:tag name="SOURCENAME" val="Chart 2"/>
  <p:tag name="SHEETID" val="Financial driver bridge"/>
  <p:tag name="PICTUREAPPEARANCE" val="xlPrinter"/>
  <p:tag name="NORESIZEONUPDATE" val="False"/>
</p:tagLst>
</file>

<file path=ppt/tags/tag236.xml><?xml version="1.0" encoding="utf-8"?>
<p:tagLst xmlns:a="http://schemas.openxmlformats.org/drawingml/2006/main" xmlns:r="http://schemas.openxmlformats.org/officeDocument/2006/relationships" xmlns:p="http://schemas.openxmlformats.org/presentationml/2006/main">
  <p:tag name="ADV_TOP" val="104.7343"/>
  <p:tag name="ADV_LEFT" val="78.99213"/>
  <p:tag name="ADV_HEIGHT" val="315.4"/>
  <p:tag name="ADV_WIDTH" val="391.1811"/>
</p:tagLst>
</file>

<file path=ppt/tags/tag237.xml><?xml version="1.0" encoding="utf-8"?>
<p:tagLst xmlns:a="http://schemas.openxmlformats.org/drawingml/2006/main" xmlns:r="http://schemas.openxmlformats.org/officeDocument/2006/relationships" xmlns:p="http://schemas.openxmlformats.org/presentationml/2006/main">
  <p:tag name="ADV_TOP" val="104.7343"/>
  <p:tag name="ADV_LEFT" val="78.99213"/>
  <p:tag name="ADV_HEIGHT" val="315.4"/>
  <p:tag name="ADV_WIDTH" val="391.1811"/>
</p:tagLst>
</file>

<file path=ppt/tags/tag23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4.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7.xml><?xml version="1.0" encoding="utf-8"?>
<p:tagLst xmlns:a="http://schemas.openxmlformats.org/drawingml/2006/main" xmlns:r="http://schemas.openxmlformats.org/officeDocument/2006/relationships" xmlns:p="http://schemas.openxmlformats.org/presentationml/2006/main">
  <p:tag name="LAST UPDATE DATE" val="415806204.774237"/>
  <p:tag name="IMPORTID" val="5133415806134.552438"/>
  <p:tag name="WBLAST" val="https://kpmgoneuk.sharepoint.com/sites/GB-Diligenceplus/Shared Documents/General/Templates/Diligence + Excel formatting Jan23.xlsx"/>
  <p:tag name="USER NAME" val="awalker9"/>
  <p:tag name="TYPE" val="2"/>
  <p:tag name="SOURCENAME" val="Chart1"/>
  <p:tag name="SHEETID" val="Trading summary"/>
  <p:tag name="PICTUREAPPEARANCE" val="xlPrinter"/>
  <p:tag name="NORESIZEONUPDATE" val="False"/>
</p:tagLst>
</file>

<file path=ppt/tags/tag248.xml><?xml version="1.0" encoding="utf-8"?>
<p:tagLst xmlns:a="http://schemas.openxmlformats.org/drawingml/2006/main" xmlns:r="http://schemas.openxmlformats.org/officeDocument/2006/relationships" xmlns:p="http://schemas.openxmlformats.org/presentationml/2006/main">
  <p:tag name="LAST UPDATE DATE" val="419696109.039078"/>
  <p:tag name="IMPORTID" val="9106415365503.906707"/>
  <p:tag name="WBLAST" val="https://kpmgoneuk.sharepoint.com/sites/GB-Diligenceplus/Shared Documents/General/Templates/Diligence + Excel formatting Jan23.xlsx"/>
  <p:tag name="USER NAME" val="tdorrington"/>
  <p:tag name="TYPE" val="1"/>
  <p:tag name="SOURCENAME" val="£'000"/>
  <p:tag name="SHEETID" val="QofE"/>
  <p:tag name="PICTUREAPPEARANCE" val="xlPrinter"/>
  <p:tag name="NORESIZEONUPDATE" val="False"/>
</p:tagLst>
</file>

<file path=ppt/tags/tag24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LAST UPDATE DATE" val="419696151.287993"/>
  <p:tag name="IMPORTID" val="5443414681882.601712"/>
  <p:tag name="WBLAST" val="https://kpmgoneuk.sharepoint.com/sites/GB-Diligenceplus/Shared Documents/General/Templates/Diligence + Excel formatting Jan23.xlsx"/>
  <p:tag name="USER NAME" val="tdorrington"/>
  <p:tag name="TYPE" val="1"/>
  <p:tag name="SOURCENAME" val="Gap to go (YTD September 2021) "/>
  <p:tag name="SHEETID" val="Current trading"/>
  <p:tag name="PICTUREAPPEARANCE" val="xlPrinter"/>
  <p:tag name="NORESIZEONUPDATE" val="False"/>
</p:tagLst>
</file>

<file path=ppt/tags/tag252.xml><?xml version="1.0" encoding="utf-8"?>
<p:tagLst xmlns:a="http://schemas.openxmlformats.org/drawingml/2006/main" xmlns:r="http://schemas.openxmlformats.org/officeDocument/2006/relationships" xmlns:p="http://schemas.openxmlformats.org/presentationml/2006/main">
  <p:tag name="LAST UPDATE DATE" val="414696576.577719"/>
  <p:tag name="IMPORTID" val="182414683908.091078"/>
  <p:tag name="WBLAST" val="https://kpmgoneuk.sharepoint.com/sites/GB-Diligenceplus-ExampleDiligencePlusreports/Shared Documents/Example Diligence Plus reports/Infinity/Project Infinity - PL databook.xlsx"/>
  <p:tag name="USER NAME" val="awalker9"/>
  <p:tag name="TYPE" val="2"/>
  <p:tag name="SOURCENAME" val="Chart1"/>
  <p:tag name="SHEETID" val="Monthly PL (Alt)"/>
  <p:tag name="PICTUREAPPEARANCE" val="xlPrinter"/>
  <p:tag name="NORESIZEONUPDATE" val="False"/>
</p:tagLst>
</file>

<file path=ppt/tags/tag25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6.xml><?xml version="1.0" encoding="utf-8"?>
<p:tagLst xmlns:a="http://schemas.openxmlformats.org/drawingml/2006/main" xmlns:r="http://schemas.openxmlformats.org/officeDocument/2006/relationships" xmlns:p="http://schemas.openxmlformats.org/presentationml/2006/main">
  <p:tag name="LAST UPDATE DATE" val="414769133.472438"/>
  <p:tag name="IMPORTID" val="9856368405714.877244"/>
  <p:tag name="WBLAST" val="https://kpmgoneuk.sharepoint.com/sites/GB-Diligenceplus-ExampleDiligencePlusreports/Shared Documents/Example Diligence Plus reports/Infinity/Project Infinity - BS databook.xlsx"/>
  <p:tag name="USER NAME" val="awalker9"/>
  <p:tag name="TYPE" val="2"/>
  <p:tag name="SOURCENAME" val="Chart 1"/>
  <p:tag name="SHEETID" val="Monthly WC analysis"/>
  <p:tag name="PICTUREAPPEARANCE" val="xlPrinter"/>
  <p:tag name="NORESIZEONUPDATE" val="False"/>
</p:tagLst>
</file>

<file path=ppt/tags/tag25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8.xml><?xml version="1.0" encoding="utf-8"?>
<p:tagLst xmlns:a="http://schemas.openxmlformats.org/drawingml/2006/main" xmlns:r="http://schemas.openxmlformats.org/officeDocument/2006/relationships" xmlns:p="http://schemas.openxmlformats.org/presentationml/2006/main">
  <p:tag name="LAST UPDATE DATE" val="415806244.057598"/>
  <p:tag name="IMPORTID" val="7961415366794.885162"/>
  <p:tag name="WBLAST" val="https://kpmgoneuk.sharepoint.com/sites/GB-Diligenceplus/Shared Documents/General/Templates/Diligence + Excel formatting Jan23.xlsx"/>
  <p:tag name="USER NAME" val="awalker9"/>
  <p:tag name="TYPE" val="1"/>
  <p:tag name="SOURCENAME" val="£'000"/>
  <p:tag name="SHEETID" val="Net debt"/>
  <p:tag name="PICTUREAPPEARANCE" val="xlPrinter"/>
  <p:tag name="NORESIZEONUPDATE" val="False"/>
</p:tagLst>
</file>

<file path=ppt/tags/tag25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0.xml><?xml version="1.0" encoding="utf-8"?>
<p:tagLst xmlns:a="http://schemas.openxmlformats.org/drawingml/2006/main" xmlns:r="http://schemas.openxmlformats.org/officeDocument/2006/relationships" xmlns:p="http://schemas.openxmlformats.org/presentationml/2006/main">
  <p:tag name="LAST UPDATE DATE" val="419696215.580191"/>
  <p:tag name="IMPORTID" val="9713415366845.26112"/>
  <p:tag name="WBLAST" val="https://kpmgoneuk.sharepoint.com/sites/GB-Diligenceplus/Shared Documents/General/Templates/Diligence + Excel formatting Jan23.xlsx"/>
  <p:tag name="USER NAME" val="tdorrington"/>
  <p:tag name="TYPE" val="1"/>
  <p:tag name="SHEETID" val="Cash flow"/>
  <p:tag name="PICTUREAPPEARANCE" val="xlPrinter"/>
  <p:tag name="NORESIZEONUPDATE" val="Fals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4.xml><?xml version="1.0" encoding="utf-8"?>
<p:tagLst xmlns:a="http://schemas.openxmlformats.org/drawingml/2006/main" xmlns:r="http://schemas.openxmlformats.org/officeDocument/2006/relationships" xmlns:p="http://schemas.openxmlformats.org/presentationml/2006/main">
  <p:tag name="NAME" val="Historical trading"/>
  <p:tag name="SECTION" val="2"/>
</p:tagLst>
</file>

<file path=ppt/tags/tag26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26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6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71.xml><?xml version="1.0" encoding="utf-8"?>
<p:tagLst xmlns:a="http://schemas.openxmlformats.org/drawingml/2006/main" xmlns:r="http://schemas.openxmlformats.org/officeDocument/2006/relationships" xmlns:p="http://schemas.openxmlformats.org/presentationml/2006/main">
  <p:tag name="TOCSHAPE" val="AA"/>
</p:tagLst>
</file>

<file path=ppt/tags/tag272.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273.xml><?xml version="1.0" encoding="utf-8"?>
<p:tagLst xmlns:a="http://schemas.openxmlformats.org/drawingml/2006/main" xmlns:r="http://schemas.openxmlformats.org/officeDocument/2006/relationships" xmlns:p="http://schemas.openxmlformats.org/presentationml/2006/main">
  <p:tag name="TOCSHAPE" val="AA"/>
</p:tagLst>
</file>

<file path=ppt/tags/tag274.xml><?xml version="1.0" encoding="utf-8"?>
<p:tagLst xmlns:a="http://schemas.openxmlformats.org/drawingml/2006/main" xmlns:r="http://schemas.openxmlformats.org/officeDocument/2006/relationships" xmlns:p="http://schemas.openxmlformats.org/presentationml/2006/main">
  <p:tag name="TOCSHAPE" val="AA"/>
</p:tagLst>
</file>

<file path=ppt/tags/tag275.xml><?xml version="1.0" encoding="utf-8"?>
<p:tagLst xmlns:a="http://schemas.openxmlformats.org/drawingml/2006/main" xmlns:r="http://schemas.openxmlformats.org/officeDocument/2006/relationships" xmlns:p="http://schemas.openxmlformats.org/presentationml/2006/main">
  <p:tag name="TOCSHAPE" val="AA"/>
</p:tagLst>
</file>

<file path=ppt/tags/tag276.xml><?xml version="1.0" encoding="utf-8"?>
<p:tagLst xmlns:a="http://schemas.openxmlformats.org/drawingml/2006/main" xmlns:r="http://schemas.openxmlformats.org/officeDocument/2006/relationships" xmlns:p="http://schemas.openxmlformats.org/presentationml/2006/main">
  <p:tag name="TOCSHAPE" val="AA"/>
</p:tagLst>
</file>

<file path=ppt/tags/tag277.xml><?xml version="1.0" encoding="utf-8"?>
<p:tagLst xmlns:a="http://schemas.openxmlformats.org/drawingml/2006/main" xmlns:r="http://schemas.openxmlformats.org/officeDocument/2006/relationships" xmlns:p="http://schemas.openxmlformats.org/presentationml/2006/main">
  <p:tag name="TOCSHAPE" val="AA"/>
</p:tagLst>
</file>

<file path=ppt/tags/tag278.xml><?xml version="1.0" encoding="utf-8"?>
<p:tagLst xmlns:a="http://schemas.openxmlformats.org/drawingml/2006/main" xmlns:r="http://schemas.openxmlformats.org/officeDocument/2006/relationships" xmlns:p="http://schemas.openxmlformats.org/presentationml/2006/main">
  <p:tag name="TOCSHAPE" val="724"/>
  <p:tag name="SLIDEINDEX" val="724"/>
</p:tagLst>
</file>

<file path=ppt/tags/tag279.xml><?xml version="1.0" encoding="utf-8"?>
<p:tagLst xmlns:a="http://schemas.openxmlformats.org/drawingml/2006/main" xmlns:r="http://schemas.openxmlformats.org/officeDocument/2006/relationships" xmlns:p="http://schemas.openxmlformats.org/presentationml/2006/main">
  <p:tag name="TOCSHAPE" val="728"/>
  <p:tag name="SLIDEINDEX" val="728"/>
</p:tagLst>
</file>

<file path=ppt/tags/tag280.xml><?xml version="1.0" encoding="utf-8"?>
<p:tagLst xmlns:a="http://schemas.openxmlformats.org/drawingml/2006/main" xmlns:r="http://schemas.openxmlformats.org/officeDocument/2006/relationships" xmlns:p="http://schemas.openxmlformats.org/presentationml/2006/main">
  <p:tag name="TOCSHAPE" val="740"/>
  <p:tag name="SLIDEINDEX" val="740"/>
</p:tagLst>
</file>

<file path=ppt/tags/tag281.xml><?xml version="1.0" encoding="utf-8"?>
<p:tagLst xmlns:a="http://schemas.openxmlformats.org/drawingml/2006/main" xmlns:r="http://schemas.openxmlformats.org/officeDocument/2006/relationships" xmlns:p="http://schemas.openxmlformats.org/presentationml/2006/main">
  <p:tag name="TOCSHAPE" val="742"/>
  <p:tag name="SLIDEINDEX" val="742"/>
</p:tagLst>
</file>

<file path=ppt/tags/tag282.xml><?xml version="1.0" encoding="utf-8"?>
<p:tagLst xmlns:a="http://schemas.openxmlformats.org/drawingml/2006/main" xmlns:r="http://schemas.openxmlformats.org/officeDocument/2006/relationships" xmlns:p="http://schemas.openxmlformats.org/presentationml/2006/main">
  <p:tag name="TOCSHAPE" val="750"/>
  <p:tag name="SLIDEINDEX" val="750"/>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5.xml><?xml version="1.0" encoding="utf-8"?>
<p:tagLst xmlns:a="http://schemas.openxmlformats.org/drawingml/2006/main" xmlns:r="http://schemas.openxmlformats.org/officeDocument/2006/relationships" xmlns:p="http://schemas.openxmlformats.org/presentationml/2006/main">
  <p:tag name="LAST UPDATE DATE" val="414335023.926042"/>
  <p:tag name="IMPORTID" val="84414334892.71698"/>
  <p:tag name="WBLAST" val="https://kpmgoneuk.sharepoint.com/sites/GB-Diligenceplus/Shared Documents/General/Templates/Diligence + Excel formatting Jan23.xlsx"/>
  <p:tag name="USER NAME" val="awalker9"/>
  <p:tag name="TYPE" val="2"/>
  <p:tag name="SOURCENAME" val="Chart1"/>
  <p:tag name="SHEETID" val="Trading summary"/>
  <p:tag name="PICTUREAPPEARANCE" val="xlPrinter"/>
  <p:tag name="NORESIZEONUPDATE" val="False"/>
  <p:tag name="HIDDENRANGE" val=""/>
</p:tagLst>
</file>

<file path=ppt/tags/tag28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7.xml><?xml version="1.0" encoding="utf-8"?>
<p:tagLst xmlns:a="http://schemas.openxmlformats.org/drawingml/2006/main" xmlns:r="http://schemas.openxmlformats.org/officeDocument/2006/relationships" xmlns:p="http://schemas.openxmlformats.org/presentationml/2006/main">
  <p:tag name="LAST UPDATE DATE" val="419696297.858847"/>
  <p:tag name="IMPORTID" val="7560415806635.856674"/>
  <p:tag name="WBLAST" val="https://kpmgoneuk.sharepoint.com/sites/GB-Diligenceplus/Shared Documents/General/Templates/Diligence + Excel formatting Jan23.xlsx"/>
  <p:tag name="USER NAME" val="tdorrington"/>
  <p:tag name="TYPE" val="1"/>
  <p:tag name="SOURCENAME" val="Summary profit and loss"/>
  <p:tag name="SHEETID" val="Summary PL"/>
  <p:tag name="PICTUREAPPEARANCE" val="xlPrinter"/>
  <p:tag name="NORESIZEONUPDATE" val="False"/>
</p:tagLst>
</file>

<file path=ppt/tags/tag28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1.xml><?xml version="1.0" encoding="utf-8"?>
<p:tagLst xmlns:a="http://schemas.openxmlformats.org/drawingml/2006/main" xmlns:r="http://schemas.openxmlformats.org/officeDocument/2006/relationships" xmlns:p="http://schemas.openxmlformats.org/presentationml/2006/main">
  <p:tag name="LAST UPDATE DATE" val="414764971.054948"/>
  <p:tag name="IMPORTID" val="395414763268.302338"/>
  <p:tag name="WBLAST" val="https://kpmgoneuk.sharepoint.com/sites/GB-Diligenceplus/Shared Documents/General/Templates/Diligence + Excel formatting Jan23.xlsx"/>
  <p:tag name="USER NAME" val="awalker9"/>
  <p:tag name="TYPE" val="2"/>
  <p:tag name="SOURCENAME" val="Chart 1"/>
  <p:tag name="SHEETID" val="QofE"/>
  <p:tag name="PICTUREAPPEARANCE" val="xlPrinter"/>
  <p:tag name="NORESIZEONUPDATE" val="False"/>
</p:tagLst>
</file>

<file path=ppt/tags/tag292.xml><?xml version="1.0" encoding="utf-8"?>
<p:tagLst xmlns:a="http://schemas.openxmlformats.org/drawingml/2006/main" xmlns:r="http://schemas.openxmlformats.org/officeDocument/2006/relationships" xmlns:p="http://schemas.openxmlformats.org/presentationml/2006/main">
  <p:tag name="LAST UPDATE DATE" val="419696363.397871"/>
  <p:tag name="IMPORTID" val="553414770626.363307"/>
  <p:tag name="WBLAST" val="https://kpmgoneuk.sharepoint.com/sites/GB-Diligenceplus/Shared Documents/General/Templates/Diligence + Excel formatting Jan23.xlsx"/>
  <p:tag name="USER NAME" val="tdorrington"/>
  <p:tag name="TYPE" val="1"/>
  <p:tag name="SOURCENAME" val="Quality of earnings"/>
  <p:tag name="SHEETID" val="QofE"/>
  <p:tag name="PICTUREAPPEARANCE" val="xlPrinter"/>
  <p:tag name="NORESIZEONUPDATE" val="False"/>
</p:tagLst>
</file>

<file path=ppt/tags/tag2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4.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3.xml><?xml version="1.0" encoding="utf-8"?>
<p:tagLst xmlns:a="http://schemas.openxmlformats.org/drawingml/2006/main" xmlns:r="http://schemas.openxmlformats.org/officeDocument/2006/relationships" xmlns:p="http://schemas.openxmlformats.org/presentationml/2006/main">
  <p:tag name="LAST UPDATE DATE" val="419696399.260085"/>
  <p:tag name="IMPORTID" val="5049414770949.723484"/>
  <p:tag name="WBLAST" val="https://kpmgoneuk.sharepoint.com/sites/GB-Diligenceplus/Shared Documents/General/Templates/Diligence + Excel formatting Jan23.xlsx"/>
  <p:tag name="USER NAME" val="tdorrington"/>
  <p:tag name="TYPE" val="1"/>
  <p:tag name="SOURCENAME" val="Quality of earnings (continued)"/>
  <p:tag name="SHEETID" val="QofE"/>
  <p:tag name="PICTUREAPPEARANCE" val="xlPrinter"/>
  <p:tag name="NORESIZEONUPDATE" val="False"/>
</p:tagLst>
</file>

<file path=ppt/tags/tag31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2.xml><?xml version="1.0" encoding="utf-8"?>
<p:tagLst xmlns:a="http://schemas.openxmlformats.org/drawingml/2006/main" xmlns:r="http://schemas.openxmlformats.org/officeDocument/2006/relationships" xmlns:p="http://schemas.openxmlformats.org/presentationml/2006/main">
  <p:tag name="LAST UPDATE DATE" val="414605375.205535"/>
  <p:tag name="IMPORTID" val="4052368273134.850759"/>
  <p:tag name="WBLAST" val="https://kpmgoneuk.sharepoint.com/sites/GB-Diligenceplus-ExampleDiligencePlusreports/Shared Documents/Example Diligence Plus reports/Infinity/Project Infinity - PL databook.xlsx"/>
  <p:tag name="USER NAME" val="awalker9"/>
  <p:tag name="TYPE" val="2"/>
  <p:tag name="SOURCENAME" val="Chart 1"/>
  <p:tag name="SHEETID" val="Revenue bridge"/>
  <p:tag name="PICTUREAPPEARANCE" val="xlPrinter"/>
  <p:tag name="NORESIZEONUPDATE" val="False"/>
</p:tagLst>
</file>

<file path=ppt/tags/tag32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8.xml><?xml version="1.0" encoding="utf-8"?>
<p:tagLst xmlns:a="http://schemas.openxmlformats.org/drawingml/2006/main" xmlns:r="http://schemas.openxmlformats.org/officeDocument/2006/relationships" xmlns:p="http://schemas.openxmlformats.org/presentationml/2006/main">
  <p:tag name="LAST UPDATE DATE" val="414605502.591685"/>
  <p:tag name="IMPORTID" val="6684365323497.636264"/>
  <p:tag name="WBLAST" val="https://kpmgoneuk.sharepoint.com/sites/GB-Diligenceplus-ExampleDiligencePlusreports/Shared Documents/Example Diligence Plus reports/Infinity/Project Infinity - PL databook.xlsx"/>
  <p:tag name="USER NAME" val="awalker9"/>
  <p:tag name="TYPE" val="2"/>
  <p:tag name="SOURCENAME" val="Chart 1"/>
  <p:tag name="SHEETID" val="EBITDA bridge (Alt)"/>
  <p:tag name="PICTUREAPPEARANCE" val="xlPrinter"/>
  <p:tag name="NORESIZEONUPDATE" val="False"/>
</p:tagLst>
</file>

<file path=ppt/tags/tag3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1.xml><?xml version="1.0" encoding="utf-8"?>
<p:tagLst xmlns:a="http://schemas.openxmlformats.org/drawingml/2006/main" xmlns:r="http://schemas.openxmlformats.org/officeDocument/2006/relationships" xmlns:p="http://schemas.openxmlformats.org/presentationml/2006/main">
  <p:tag name="LAST UPDATE DATE" val="414847564.067878"/>
  <p:tag name="IMPORTID" val="6356414847527.985418"/>
  <p:tag name="WBLAST" val="https://kpmgoneuk.sharepoint.com/sites/GB-Diligenceplus-ExampleDiligencePlusreports/Shared Documents/Example Diligence Plus reports/Infinity/Project Infinity - PL databook.xlsx"/>
  <p:tag name="USER NAME" val="awalker9"/>
  <p:tag name="TYPE" val="2"/>
  <p:tag name="SOURCENAME" val="Chart1"/>
  <p:tag name="SHEETID" val="Monthly PL"/>
  <p:tag name="PICTUREAPPEARANCE" val="xlPrinter"/>
  <p:tag name="NORESIZEONUPDATE" val="False"/>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4.xml><?xml version="1.0" encoding="utf-8"?>
<p:tagLst xmlns:a="http://schemas.openxmlformats.org/drawingml/2006/main" xmlns:r="http://schemas.openxmlformats.org/officeDocument/2006/relationships" xmlns:p="http://schemas.openxmlformats.org/presentationml/2006/main">
  <p:tag name="LAST UPDATE DATE" val="419696439.809528"/>
  <p:tag name="IMPORTID" val="8747414847015.993781"/>
  <p:tag name="WBLAST" val="https://kpmgoneuk.sharepoint.com/sites/GB-Diligenceplus/Shared Documents/General/Templates/Diligence + Excel formatting Jan23.xlsx"/>
  <p:tag name="USER NAME" val="tdorrington"/>
  <p:tag name="TYPE" val="1"/>
  <p:tag name="SOURCENAME" val="Gross to net revenue"/>
  <p:tag name="SHEETID" val="Gross to net sales"/>
  <p:tag name="PICTUREAPPEARANCE" val="xlPrinter"/>
  <p:tag name="NORESIZEONUPDATE" val="False"/>
</p:tagLst>
</file>

<file path=ppt/tags/tag3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3.xml><?xml version="1.0" encoding="utf-8"?>
<p:tagLst xmlns:a="http://schemas.openxmlformats.org/drawingml/2006/main" xmlns:r="http://schemas.openxmlformats.org/officeDocument/2006/relationships" xmlns:p="http://schemas.openxmlformats.org/presentationml/2006/main">
  <p:tag name="LAST UPDATE DATE" val="414849376.265886"/>
  <p:tag name="IMPORTID" val="6193365328069.742999"/>
  <p:tag name="WBLAST" val="https://kpmgoneuk.sharepoint.com/sites/GB-Diligenceplus-ExampleDiligencePlusreports/Shared Documents/Example Diligence Plus reports/Infinity/Project Infinity - PL databook.xlsx"/>
  <p:tag name="USER NAME" val="awalker9"/>
  <p:tag name="TYPE" val="2"/>
  <p:tag name="SOURCENAME" val="Chart 2"/>
  <p:tag name="SHEETID" val="Revenue seasonality"/>
  <p:tag name="PICTUREAPPEARANCE" val="xlPrinter"/>
  <p:tag name="NORESIZEONUPDATE" val="False"/>
</p:tagLst>
</file>

<file path=ppt/tags/tag344.xml><?xml version="1.0" encoding="utf-8"?>
<p:tagLst xmlns:a="http://schemas.openxmlformats.org/drawingml/2006/main" xmlns:r="http://schemas.openxmlformats.org/officeDocument/2006/relationships" xmlns:p="http://schemas.openxmlformats.org/presentationml/2006/main">
  <p:tag name="LAST UPDATE DATE" val="414849327.857341"/>
  <p:tag name="IMPORTID" val="2903365328094.166008"/>
  <p:tag name="WBLAST" val="https://kpmgoneuk.sharepoint.com/sites/GB-Diligenceplus-ExampleDiligencePlusreports/Shared Documents/Example Diligence Plus reports/Infinity/Project Infinity - PL databook.xlsx"/>
  <p:tag name="USER NAME" val="awalker9"/>
  <p:tag name="TYPE" val="2"/>
  <p:tag name="SOURCENAME" val="Chart 3"/>
  <p:tag name="SHEETID" val="Revenue seasonality"/>
  <p:tag name="PICTUREAPPEARANCE" val="xlPrinter"/>
  <p:tag name="NORESIZEONUPDATE" val="False"/>
</p:tagLst>
</file>

<file path=ppt/tags/tag345.xml><?xml version="1.0" encoding="utf-8"?>
<p:tagLst xmlns:a="http://schemas.openxmlformats.org/drawingml/2006/main" xmlns:r="http://schemas.openxmlformats.org/officeDocument/2006/relationships" xmlns:p="http://schemas.openxmlformats.org/presentationml/2006/main">
  <p:tag name="LAST UPDATE DATE" val="414849267.638793"/>
  <p:tag name="IMPORTID" val="8936365328110.760487"/>
  <p:tag name="WBLAST" val="https://kpmgoneuk.sharepoint.com/sites/GB-Diligenceplus-ExampleDiligencePlusreports/Shared Documents/Example Diligence Plus reports/Infinity/Project Infinity - PL databook.xlsx"/>
  <p:tag name="USER NAME" val="awalker9"/>
  <p:tag name="TYPE" val="2"/>
  <p:tag name="SOURCENAME" val="Chart 4"/>
  <p:tag name="SHEETID" val="Revenue seasonality"/>
  <p:tag name="PICTUREAPPEARANCE" val="xlPrinter"/>
  <p:tag name="NORESIZEONUPDATE" val="False"/>
</p:tagLst>
</file>

<file path=ppt/tags/tag34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1.xml><?xml version="1.0" encoding="utf-8"?>
<p:tagLst xmlns:a="http://schemas.openxmlformats.org/drawingml/2006/main" xmlns:r="http://schemas.openxmlformats.org/officeDocument/2006/relationships" xmlns:p="http://schemas.openxmlformats.org/presentationml/2006/main">
  <p:tag name="LAST UPDATE DATE" val="414849747.176651"/>
  <p:tag name="IMPORTID" val="9540365963307.147852"/>
  <p:tag name="WBLAST" val="https://kpmgoneuk.sharepoint.com/sites/GB-Diligenceplus-ExampleDiligencePlusreports/Shared Documents/Example Diligence Plus reports/Infinity/Project Infinity - PL databook.xlsx"/>
  <p:tag name="USER NAME" val="awalker9"/>
  <p:tag name="TYPE" val="2"/>
  <p:tag name="SOURCENAME" val="Chart 4"/>
  <p:tag name="SHEETID" val="GP % seasonality"/>
  <p:tag name="PICTUREAPPEARANCE" val="xlPrinter"/>
  <p:tag name="NORESIZEONUPDATE" val="False"/>
</p:tagLst>
</file>

<file path=ppt/tags/tag352.xml><?xml version="1.0" encoding="utf-8"?>
<p:tagLst xmlns:a="http://schemas.openxmlformats.org/drawingml/2006/main" xmlns:r="http://schemas.openxmlformats.org/officeDocument/2006/relationships" xmlns:p="http://schemas.openxmlformats.org/presentationml/2006/main">
  <p:tag name="LAST UPDATE DATE" val="414849691.043992"/>
  <p:tag name="IMPORTID" val="5995365963296.424477"/>
  <p:tag name="WBLAST" val="https://kpmgoneuk.sharepoint.com/sites/GB-Diligenceplus-ExampleDiligencePlusreports/Shared Documents/Example Diligence Plus reports/Infinity/Project Infinity - PL databook.xlsx"/>
  <p:tag name="USER NAME" val="awalker9"/>
  <p:tag name="TYPE" val="2"/>
  <p:tag name="SOURCENAME" val="Chart 3"/>
  <p:tag name="SHEETID" val="GP % seasonality"/>
  <p:tag name="PICTUREAPPEARANCE" val="xlPrinter"/>
  <p:tag name="NORESIZEONUPDATE" val="False"/>
</p:tagLst>
</file>

<file path=ppt/tags/tag353.xml><?xml version="1.0" encoding="utf-8"?>
<p:tagLst xmlns:a="http://schemas.openxmlformats.org/drawingml/2006/main" xmlns:r="http://schemas.openxmlformats.org/officeDocument/2006/relationships" xmlns:p="http://schemas.openxmlformats.org/presentationml/2006/main">
  <p:tag name="LAST UPDATE DATE" val="414849600.104094"/>
  <p:tag name="IMPORTID" val="6778365963288.112784"/>
  <p:tag name="WBLAST" val="https://kpmgoneuk.sharepoint.com/sites/GB-Diligenceplus-ExampleDiligencePlusreports/Shared Documents/Example Diligence Plus reports/Infinity/Project Infinity - PL databook.xlsx"/>
  <p:tag name="USER NAME" val="awalker9"/>
  <p:tag name="TYPE" val="2"/>
  <p:tag name="SOURCENAME" val="Chart 2"/>
  <p:tag name="SHEETID" val="GP % seasonality"/>
  <p:tag name="PICTUREAPPEARANCE" val="xlPrinter"/>
  <p:tag name="NORESIZEONUPDATE" val="False"/>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3.xml><?xml version="1.0" encoding="utf-8"?>
<p:tagLst xmlns:a="http://schemas.openxmlformats.org/drawingml/2006/main" xmlns:r="http://schemas.openxmlformats.org/officeDocument/2006/relationships" xmlns:p="http://schemas.openxmlformats.org/presentationml/2006/main">
  <p:tag name="LAST UPDATE DATE" val="414850277.062348"/>
  <p:tag name="IMPORTID" val="2347365328323.847994"/>
  <p:tag name="WBLAST" val="https://kpmgoneuk.sharepoint.com/sites/GB-Diligenceplus-ExampleDiligencePlusreports/Shared Documents/Example Diligence Plus reports/Infinity/Project Infinity - PL databook.xlsx"/>
  <p:tag name="USER NAME" val="awalker9"/>
  <p:tag name="TYPE" val="2"/>
  <p:tag name="SOURCENAME" val="Chart1"/>
  <p:tag name="SHEETID" val="Rolling LTM"/>
  <p:tag name="PICTUREAPPEARANCE" val="xlPrinter"/>
  <p:tag name="NORESIZEONUPDATE" val="False"/>
</p:tagLst>
</file>

<file path=ppt/tags/tag36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6.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367.xml><?xml version="1.0" encoding="utf-8"?>
<p:tagLst xmlns:a="http://schemas.openxmlformats.org/drawingml/2006/main" xmlns:r="http://schemas.openxmlformats.org/officeDocument/2006/relationships" xmlns:p="http://schemas.openxmlformats.org/presentationml/2006/main">
  <p:tag name="LAST UPDATE DATE" val="414850333.924498"/>
  <p:tag name="IMPORTID" val="6633365328401.460774"/>
  <p:tag name="WBLAST" val="https://kpmgoneuk.sharepoint.com/sites/GB-Diligenceplus-ExampleDiligencePlusreports/Shared Documents/Example Diligence Plus reports/Infinity/Project Infinity - PL databook.xlsx"/>
  <p:tag name="USER NAME" val="awalker9"/>
  <p:tag name="TYPE" val="2"/>
  <p:tag name="SOURCENAME" val="Chart2"/>
  <p:tag name="SHEETID" val="Rolling LTM"/>
  <p:tag name="PICTUREAPPEARANCE" val="xlPrinter"/>
  <p:tag name="NORESIZEONUPDATE" val="False"/>
</p:tagLst>
</file>

<file path=ppt/tags/tag36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0.xml><?xml version="1.0" encoding="utf-8"?>
<p:tagLst xmlns:a="http://schemas.openxmlformats.org/drawingml/2006/main" xmlns:r="http://schemas.openxmlformats.org/officeDocument/2006/relationships" xmlns:p="http://schemas.openxmlformats.org/presentationml/2006/main">
  <p:tag name="LAST UPDATE DATE" val="414851181.540599"/>
  <p:tag name="IMPORTID" val="1659368377140.285325"/>
  <p:tag name="WBLAST" val="https://kpmgoneuk.sharepoint.com/sites/GB-Diligenceplus-ExampleDiligencePlusreports/Shared Documents/Example Diligence Plus reports/Infinity/Project Infinity - PL databook.xlsx"/>
  <p:tag name="USER NAME" val="awalker9"/>
  <p:tag name="TYPE" val="2"/>
  <p:tag name="SOURCENAME" val="Chart 9"/>
  <p:tag name="SHEETID" val="Average weekly revenue"/>
  <p:tag name="PICTUREAPPEARANCE" val="xlPrinter"/>
  <p:tag name="NORESIZEONUPDATE" val="False"/>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8.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1.xml><?xml version="1.0" encoding="utf-8"?>
<p:tagLst xmlns:a="http://schemas.openxmlformats.org/drawingml/2006/main" xmlns:r="http://schemas.openxmlformats.org/officeDocument/2006/relationships" xmlns:p="http://schemas.openxmlformats.org/presentationml/2006/main">
  <p:tag name="LAST UPDATE DATE" val="414851595.574206"/>
  <p:tag name="IMPORTID" val="9254374343918.692385"/>
  <p:tag name="WBLAST" val="\\ukreadata03\TSREA\WIP\Infinity_21\3. Fieldwork\1. Databooks\Project Infinity - SKU analysis v2.xlsx"/>
  <p:tag name="USER NAME" val="awalker9"/>
  <p:tag name="TYPE" val="2"/>
  <p:tag name="SOURCENAME" val="Chart 1"/>
  <p:tag name="SHEETID" val="Product category analysis"/>
  <p:tag name="PICTUREAPPEARANCE" val="xlPrinter"/>
  <p:tag name="NORESIZEONUPDATE" val="False"/>
</p:tagLst>
</file>

<file path=ppt/tags/tag382.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38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5.xml><?xml version="1.0" encoding="utf-8"?>
<p:tagLst xmlns:a="http://schemas.openxmlformats.org/drawingml/2006/main" xmlns:r="http://schemas.openxmlformats.org/officeDocument/2006/relationships" xmlns:p="http://schemas.openxmlformats.org/presentationml/2006/main">
  <p:tag name="LAST UPDATE DATE" val="414852296.127925"/>
  <p:tag name="IMPORTID" val="4205414852011.719968"/>
  <p:tag name="WBLAST" val="https://kpmgoneuk.sharepoint.com/sites/GB-Diligenceplus/Shared Documents/General/Templates/Diligence + Excel formatting Jan23.xlsx"/>
  <p:tag name="USER NAME" val="awalker9"/>
  <p:tag name="TYPE" val="1"/>
  <p:tag name="SOURCENAME" val="Product category analysis"/>
  <p:tag name="SHEETID" val="Product category analysis"/>
  <p:tag name="PICTUREAPPEARANCE" val="xlPrinter"/>
  <p:tag name="NORESIZEONUPDATE" val="Fals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8.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38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7.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398.xml><?xml version="1.0" encoding="utf-8"?>
<p:tagLst xmlns:a="http://schemas.openxmlformats.org/drawingml/2006/main" xmlns:r="http://schemas.openxmlformats.org/officeDocument/2006/relationships" xmlns:p="http://schemas.openxmlformats.org/presentationml/2006/main">
  <p:tag name="LAST UPDATE DATE" val="414852799.363875"/>
  <p:tag name="IMPORTID" val="5711414852552.617623"/>
  <p:tag name="WBLAST" val="https://kpmgoneuk.sharepoint.com/sites/GB-Diligenceplus/Shared Documents/General/Templates/Diligence + Excel formatting Jan23.xlsx"/>
  <p:tag name="USER NAME" val="awalker9"/>
  <p:tag name="TYPE" val="1"/>
  <p:tag name="SOURCENAME" val="Geography analysis"/>
  <p:tag name="SHEETID" val="Geography analysis"/>
  <p:tag name="PICTUREAPPEARANCE" val="xlPrinter"/>
  <p:tag name="NORESIZEONUPDATE" val="False"/>
</p:tagLst>
</file>

<file path=ppt/tags/tag399.xml><?xml version="1.0" encoding="utf-8"?>
<p:tagLst xmlns:a="http://schemas.openxmlformats.org/drawingml/2006/main" xmlns:r="http://schemas.openxmlformats.org/officeDocument/2006/relationships" xmlns:p="http://schemas.openxmlformats.org/presentationml/2006/main">
  <p:tag name="LAST UPDATE DATE" val="414852736.413522"/>
  <p:tag name="IMPORTID" val="76414852648.86838"/>
  <p:tag name="WBLAST" val="\\ukreadata03\TSREA\WIP\Infinity_21\3. Fieldwork\1. Databooks\Project Infinity - SKU analysis v2.xlsx"/>
  <p:tag name="USER NAME" val="awalker9"/>
  <p:tag name="TYPE" val="2"/>
  <p:tag name="SOURCENAME" val="Chart1"/>
  <p:tag name="SHEETID" val="Proportional mix - LTM"/>
  <p:tag name="PICTUREAPPEARANCE" val="xlPrinter"/>
  <p:tag name="NORESIZEONUPDATE" val="False"/>
</p:tagLst>
</file>

<file path=ppt/tags/tag40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2.xml><?xml version="1.0" encoding="utf-8"?>
<p:tagLst xmlns:a="http://schemas.openxmlformats.org/drawingml/2006/main" xmlns:r="http://schemas.openxmlformats.org/officeDocument/2006/relationships" xmlns:p="http://schemas.openxmlformats.org/presentationml/2006/main">
  <p:tag name="LAST UPDATE DATE" val="414853183.005685"/>
  <p:tag name="IMPORTID" val="2516374353457.467312"/>
  <p:tag name="WBLAST" val="\\ukreadata03\TSREA\WIP\Infinity_21\3. Fieldwork\1. Databooks\Project Infinity - SKU analysis v2.xlsx"/>
  <p:tag name="USER NAME" val="awalker9"/>
  <p:tag name="TYPE" val="2"/>
  <p:tag name="SOURCENAME" val="Chart1"/>
  <p:tag name="SHEETID" val="Pareto chart"/>
  <p:tag name="PICTUREAPPEARANCE" val="xlPrinter"/>
  <p:tag name="NORESIZEONUPDATE" val="False"/>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5.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406.xml><?xml version="1.0" encoding="utf-8"?>
<p:tagLst xmlns:a="http://schemas.openxmlformats.org/drawingml/2006/main" xmlns:r="http://schemas.openxmlformats.org/officeDocument/2006/relationships" xmlns:p="http://schemas.openxmlformats.org/presentationml/2006/main">
  <p:tag name="LAST UPDATE DATE" val="414853242.620655"/>
  <p:tag name="IMPORTID" val="6825414853104.46613"/>
  <p:tag name="WBLAST" val="https://kpmgoneuk.sharepoint.com/sites/GB-Diligenceplus/Shared Documents/General/Templates/Diligence + Excel formatting Jan23.xlsx"/>
  <p:tag name="USER NAME" val="awalker9"/>
  <p:tag name="TYPE" val="1"/>
  <p:tag name="SOURCENAME" val="SKU Concentration"/>
  <p:tag name="SHEETID" val="SKU concentration"/>
  <p:tag name="PICTUREAPPEARANCE" val="xlPrinter"/>
  <p:tag name="NORESIZEONUPDATE" val="False"/>
</p:tagLst>
</file>

<file path=ppt/tags/tag40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9.xml><?xml version="1.0" encoding="utf-8"?>
<p:tagLst xmlns:a="http://schemas.openxmlformats.org/drawingml/2006/main" xmlns:r="http://schemas.openxmlformats.org/officeDocument/2006/relationships" xmlns:p="http://schemas.openxmlformats.org/presentationml/2006/main">
  <p:tag name="LAST UPDATE DATE" val="414853570.038502"/>
  <p:tag name="IMPORTID" val="4716367660642.97812"/>
  <p:tag name="WBLAST" val="https://kpmgoneuk.sharepoint.com/sites/GB-Diligenceplus-ExampleDiligencePlusreports/Shared Documents/Example Diligence Plus reports/Infinity/Project Infinity - PL databook.xlsx"/>
  <p:tag name="USER NAME" val="awalker9"/>
  <p:tag name="TYPE" val="2"/>
  <p:tag name="SOURCENAME" val="Chart1"/>
  <p:tag name="SHEETID" val="Costs chart"/>
  <p:tag name="PICTUREAPPEARANCE" val="xlPrinter"/>
  <p:tag name="NORESIZEONUPDATE" val="False"/>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1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13.xml><?xml version="1.0" encoding="utf-8"?>
<p:tagLst xmlns:a="http://schemas.openxmlformats.org/drawingml/2006/main" xmlns:r="http://schemas.openxmlformats.org/officeDocument/2006/relationships" xmlns:p="http://schemas.openxmlformats.org/presentationml/2006/main">
  <p:tag name="SHAPETYPE" val="BREADCRUMB"/>
</p:tagLst>
</file>

<file path=ppt/tags/tag414.xml><?xml version="1.0" encoding="utf-8"?>
<p:tagLst xmlns:a="http://schemas.openxmlformats.org/drawingml/2006/main" xmlns:r="http://schemas.openxmlformats.org/officeDocument/2006/relationships" xmlns:p="http://schemas.openxmlformats.org/presentationml/2006/main">
  <p:tag name="NAME" val="Forecast trading"/>
  <p:tag name="SECTION" val="3"/>
</p:tagLst>
</file>

<file path=ppt/tags/tag41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1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0.xml><?xml version="1.0" encoding="utf-8"?>
<p:tagLst xmlns:a="http://schemas.openxmlformats.org/drawingml/2006/main" xmlns:r="http://schemas.openxmlformats.org/officeDocument/2006/relationships" xmlns:p="http://schemas.openxmlformats.org/presentationml/2006/main">
  <p:tag name="TOCSHAPE" val="AA"/>
</p:tagLst>
</file>

<file path=ppt/tags/tag421.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422.xml><?xml version="1.0" encoding="utf-8"?>
<p:tagLst xmlns:a="http://schemas.openxmlformats.org/drawingml/2006/main" xmlns:r="http://schemas.openxmlformats.org/officeDocument/2006/relationships" xmlns:p="http://schemas.openxmlformats.org/presentationml/2006/main">
  <p:tag name="TOCSHAPE" val="AA"/>
</p:tagLst>
</file>

<file path=ppt/tags/tag423.xml><?xml version="1.0" encoding="utf-8"?>
<p:tagLst xmlns:a="http://schemas.openxmlformats.org/drawingml/2006/main" xmlns:r="http://schemas.openxmlformats.org/officeDocument/2006/relationships" xmlns:p="http://schemas.openxmlformats.org/presentationml/2006/main">
  <p:tag name="TOCSHAPE" val="AA"/>
</p:tagLst>
</file>

<file path=ppt/tags/tag424.xml><?xml version="1.0" encoding="utf-8"?>
<p:tagLst xmlns:a="http://schemas.openxmlformats.org/drawingml/2006/main" xmlns:r="http://schemas.openxmlformats.org/officeDocument/2006/relationships" xmlns:p="http://schemas.openxmlformats.org/presentationml/2006/main">
  <p:tag name="TOCSHAPE" val="AA"/>
</p:tagLst>
</file>

<file path=ppt/tags/tag425.xml><?xml version="1.0" encoding="utf-8"?>
<p:tagLst xmlns:a="http://schemas.openxmlformats.org/drawingml/2006/main" xmlns:r="http://schemas.openxmlformats.org/officeDocument/2006/relationships" xmlns:p="http://schemas.openxmlformats.org/presentationml/2006/main">
  <p:tag name="TOCSHAPE" val="AA"/>
</p:tagLst>
</file>

<file path=ppt/tags/tag426.xml><?xml version="1.0" encoding="utf-8"?>
<p:tagLst xmlns:a="http://schemas.openxmlformats.org/drawingml/2006/main" xmlns:r="http://schemas.openxmlformats.org/officeDocument/2006/relationships" xmlns:p="http://schemas.openxmlformats.org/presentationml/2006/main">
  <p:tag name="TOCSHAPE" val="749"/>
  <p:tag name="SLIDEINDEX" val="749"/>
</p:tagLst>
</file>

<file path=ppt/tags/tag427.xml><?xml version="1.0" encoding="utf-8"?>
<p:tagLst xmlns:a="http://schemas.openxmlformats.org/drawingml/2006/main" xmlns:r="http://schemas.openxmlformats.org/officeDocument/2006/relationships" xmlns:p="http://schemas.openxmlformats.org/presentationml/2006/main">
  <p:tag name="TOCSHAPE" val="777"/>
  <p:tag name="SLIDEINDEX" val="777"/>
</p:tagLst>
</file>

<file path=ppt/tags/tag428.xml><?xml version="1.0" encoding="utf-8"?>
<p:tagLst xmlns:a="http://schemas.openxmlformats.org/drawingml/2006/main" xmlns:r="http://schemas.openxmlformats.org/officeDocument/2006/relationships" xmlns:p="http://schemas.openxmlformats.org/presentationml/2006/main">
  <p:tag name="TOCSHAPE" val="752"/>
  <p:tag name="SLIDEINDEX" val="752"/>
</p:tagLst>
</file>

<file path=ppt/tags/tag429.xml><?xml version="1.0" encoding="utf-8"?>
<p:tagLst xmlns:a="http://schemas.openxmlformats.org/drawingml/2006/main" xmlns:r="http://schemas.openxmlformats.org/officeDocument/2006/relationships" xmlns:p="http://schemas.openxmlformats.org/presentationml/2006/main">
  <p:tag name="TOCSHAPE" val="755"/>
  <p:tag name="SLIDEINDEX" val="755"/>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32.xml><?xml version="1.0" encoding="utf-8"?>
<p:tagLst xmlns:a="http://schemas.openxmlformats.org/drawingml/2006/main" xmlns:r="http://schemas.openxmlformats.org/officeDocument/2006/relationships" xmlns:p="http://schemas.openxmlformats.org/presentationml/2006/main">
  <p:tag name="LAST UPDATE DATE" val="419696481.216124"/>
  <p:tag name="IMPORTID" val="1014414781477.94352"/>
  <p:tag name="WBLAST" val="https://kpmgoneuk.sharepoint.com/sites/GB-Diligenceplus/Shared Documents/General/Templates/Diligence + Excel formatting Jan23.xlsx"/>
  <p:tag name="USER NAME" val="tdorrington"/>
  <p:tag name="TYPE" val="1"/>
  <p:tag name="SOURCENAME" val="YTD22 performance"/>
  <p:tag name="SHEETID" val="Current trading 2"/>
  <p:tag name="PICTUREAPPEARANCE" val="xlPrinter"/>
  <p:tag name="NORESIZEONUPDATE" val="False"/>
</p:tagLst>
</file>

<file path=ppt/tags/tag433.xml><?xml version="1.0" encoding="utf-8"?>
<p:tagLst xmlns:a="http://schemas.openxmlformats.org/drawingml/2006/main" xmlns:r="http://schemas.openxmlformats.org/officeDocument/2006/relationships" xmlns:p="http://schemas.openxmlformats.org/presentationml/2006/main">
  <p:tag name="LAST UPDATE DATE" val="414782152.783751"/>
  <p:tag name="IMPORTID" val="3660414781906.907351"/>
  <p:tag name="WBLAST" val="https://kpmgoneuk.sharepoint.com/sites/GB-Diligenceplus/Shared Documents/General/Templates/Diligence + Excel formatting Jan23.xlsx"/>
  <p:tag name="USER NAME" val="awalker9"/>
  <p:tag name="TYPE" val="2"/>
  <p:tag name="SOURCENAME" val="Chart1"/>
  <p:tag name="SHEETID" val="Sheet3"/>
  <p:tag name="PICTUREAPPEARANCE" val="xlPrinter"/>
  <p:tag name="NORESIZEONUPDATE" val="False"/>
</p:tagLst>
</file>

<file path=ppt/tags/tag434.xml><?xml version="1.0" encoding="utf-8"?>
<p:tagLst xmlns:a="http://schemas.openxmlformats.org/drawingml/2006/main" xmlns:r="http://schemas.openxmlformats.org/officeDocument/2006/relationships" xmlns:p="http://schemas.openxmlformats.org/presentationml/2006/main">
  <p:tag name="FASFONT" val="Univers55"/>
</p:tagLst>
</file>

<file path=ppt/tags/tag435.xml><?xml version="1.0" encoding="utf-8"?>
<p:tagLst xmlns:a="http://schemas.openxmlformats.org/drawingml/2006/main" xmlns:r="http://schemas.openxmlformats.org/officeDocument/2006/relationships" xmlns:p="http://schemas.openxmlformats.org/presentationml/2006/main">
  <p:tag name="FASFONT" val="Univers55"/>
</p:tagLst>
</file>

<file path=ppt/tags/tag436.xml><?xml version="1.0" encoding="utf-8"?>
<p:tagLst xmlns:a="http://schemas.openxmlformats.org/drawingml/2006/main" xmlns:r="http://schemas.openxmlformats.org/officeDocument/2006/relationships" xmlns:p="http://schemas.openxmlformats.org/presentationml/2006/main">
  <p:tag name="FASFONT" val="Univers55"/>
</p:tagLst>
</file>

<file path=ppt/tags/tag437.xml><?xml version="1.0" encoding="utf-8"?>
<p:tagLst xmlns:a="http://schemas.openxmlformats.org/drawingml/2006/main" xmlns:r="http://schemas.openxmlformats.org/officeDocument/2006/relationships" xmlns:p="http://schemas.openxmlformats.org/presentationml/2006/main">
  <p:tag name="FASFONT" val="Univers55"/>
</p:tagLst>
</file>

<file path=ppt/tags/tag438.xml><?xml version="1.0" encoding="utf-8"?>
<p:tagLst xmlns:a="http://schemas.openxmlformats.org/drawingml/2006/main" xmlns:r="http://schemas.openxmlformats.org/officeDocument/2006/relationships" xmlns:p="http://schemas.openxmlformats.org/presentationml/2006/main">
  <p:tag name="FASFONT" val="Univers55"/>
</p:tagLst>
</file>

<file path=ppt/tags/tag43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4.xml><?xml version="1.0" encoding="utf-8"?>
<p:tagLst xmlns:a="http://schemas.openxmlformats.org/drawingml/2006/main" xmlns:r="http://schemas.openxmlformats.org/officeDocument/2006/relationships" xmlns:p="http://schemas.openxmlformats.org/presentationml/2006/main">
  <p:tag name="FASFONT" val="Univers55"/>
</p:tagLst>
</file>

<file path=ppt/tags/tag44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0.xml><?xml version="1.0" encoding="utf-8"?>
<p:tagLst xmlns:a="http://schemas.openxmlformats.org/drawingml/2006/main" xmlns:r="http://schemas.openxmlformats.org/officeDocument/2006/relationships" xmlns:p="http://schemas.openxmlformats.org/presentationml/2006/main">
  <p:tag name="LAST UPDATE DATE" val="419696596.643761"/>
  <p:tag name="IMPORTID" val="4551414784017.828743"/>
  <p:tag name="WBLAST" val="https://kpmgoneuk.sharepoint.com/sites/GB-Diligenceplus/Shared Documents/General/Templates/Diligence + Excel formatting Jan23.xlsx"/>
  <p:tag name="USER NAME" val="tdorrington"/>
  <p:tag name="TYPE" val="1"/>
  <p:tag name="SOURCENAME" val="Budgeting accuracy"/>
  <p:tag name="SHEETID" val="Budgeting accuracy"/>
  <p:tag name="PICTUREAPPEARANCE" val="xlPrinter"/>
  <p:tag name="NORESIZEONUPDATE" val="False"/>
</p:tagLst>
</file>

<file path=ppt/tags/tag45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5.xml><?xml version="1.0" encoding="utf-8"?>
<p:tagLst xmlns:a="http://schemas.openxmlformats.org/drawingml/2006/main" xmlns:r="http://schemas.openxmlformats.org/officeDocument/2006/relationships" xmlns:p="http://schemas.openxmlformats.org/presentationml/2006/main">
  <p:tag name="LAST UPDATE DATE" val="414601083.662289"/>
  <p:tag name="IMPORTID" val="8620368721379.519184"/>
  <p:tag name="WBLAST" val="https://kpmgoneuk.sharepoint.com/sites/GB-Diligenceplus-ExampleDiligencePlusreports/Shared Documents/Example Diligence Plus reports/Infinity/Project Infinity - forecast databook.xlsx"/>
  <p:tag name="USER NAME" val="awalker9"/>
  <p:tag name="TYPE" val="2"/>
  <p:tag name="SOURCENAME" val="Chart 3"/>
  <p:tag name="SHEETID" val="Net revenue bridge"/>
  <p:tag name="PICTUREAPPEARANCE" val="xlPrinter"/>
  <p:tag name="NORESIZEONUPDATE" val="False"/>
</p:tagLst>
</file>

<file path=ppt/tags/tag45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0.xml><?xml version="1.0" encoding="utf-8"?>
<p:tagLst xmlns:a="http://schemas.openxmlformats.org/drawingml/2006/main" xmlns:r="http://schemas.openxmlformats.org/officeDocument/2006/relationships" xmlns:p="http://schemas.openxmlformats.org/presentationml/2006/main">
  <p:tag name="LAST UPDATE DATE" val="414605703.200556"/>
  <p:tag name="IMPORTID" val="9674368727828.323448"/>
  <p:tag name="WBLAST" val="https://kpmgoneuk.sharepoint.com/sites/GB-Diligenceplus-ExampleDiligencePlusreports/Shared Documents/Example Diligence Plus reports/Infinity/Project Infinity - PL databook.xlsx"/>
  <p:tag name="USER NAME" val="awalker9"/>
  <p:tag name="TYPE" val="2"/>
  <p:tag name="SOURCENAME" val="Chart 1"/>
  <p:tag name="SHEETID" val="Fcast EBITDA bridge (alt)"/>
  <p:tag name="PICTUREAPPEARANCE" val="xlPrinter"/>
  <p:tag name="NORESIZEONUPDATE" val="False"/>
</p:tagLst>
</file>

<file path=ppt/tags/tag4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8.xml><?xml version="1.0" encoding="utf-8"?>
<p:tagLst xmlns:a="http://schemas.openxmlformats.org/drawingml/2006/main" xmlns:r="http://schemas.openxmlformats.org/officeDocument/2006/relationships" xmlns:p="http://schemas.openxmlformats.org/presentationml/2006/main">
  <p:tag name="NAME" val="Balance sheet"/>
  <p:tag name="SECTION" val="4"/>
</p:tagLst>
</file>

<file path=ppt/tags/tag47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6.xml><?xml version="1.0" encoding="utf-8"?>
<p:tagLst xmlns:a="http://schemas.openxmlformats.org/drawingml/2006/main" xmlns:r="http://schemas.openxmlformats.org/officeDocument/2006/relationships" xmlns:p="http://schemas.openxmlformats.org/presentationml/2006/main">
  <p:tag name="TOCSHAPE" val="AA"/>
</p:tagLst>
</file>

<file path=ppt/tags/tag487.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488.xml><?xml version="1.0" encoding="utf-8"?>
<p:tagLst xmlns:a="http://schemas.openxmlformats.org/drawingml/2006/main" xmlns:r="http://schemas.openxmlformats.org/officeDocument/2006/relationships" xmlns:p="http://schemas.openxmlformats.org/presentationml/2006/main">
  <p:tag name="TOCSHAPE" val="AA"/>
</p:tagLst>
</file>

<file path=ppt/tags/tag489.xml><?xml version="1.0" encoding="utf-8"?>
<p:tagLst xmlns:a="http://schemas.openxmlformats.org/drawingml/2006/main" xmlns:r="http://schemas.openxmlformats.org/officeDocument/2006/relationships" xmlns:p="http://schemas.openxmlformats.org/presentationml/2006/main">
  <p:tag name="TOCSHAPE" val="AA"/>
</p:tagLst>
</file>

<file path=ppt/tags/tag490.xml><?xml version="1.0" encoding="utf-8"?>
<p:tagLst xmlns:a="http://schemas.openxmlformats.org/drawingml/2006/main" xmlns:r="http://schemas.openxmlformats.org/officeDocument/2006/relationships" xmlns:p="http://schemas.openxmlformats.org/presentationml/2006/main">
  <p:tag name="TOCSHAPE" val="AA"/>
</p:tagLst>
</file>

<file path=ppt/tags/tag491.xml><?xml version="1.0" encoding="utf-8"?>
<p:tagLst xmlns:a="http://schemas.openxmlformats.org/drawingml/2006/main" xmlns:r="http://schemas.openxmlformats.org/officeDocument/2006/relationships" xmlns:p="http://schemas.openxmlformats.org/presentationml/2006/main">
  <p:tag name="TOCSHAPE" val="AA"/>
</p:tagLst>
</file>

<file path=ppt/tags/tag492.xml><?xml version="1.0" encoding="utf-8"?>
<p:tagLst xmlns:a="http://schemas.openxmlformats.org/drawingml/2006/main" xmlns:r="http://schemas.openxmlformats.org/officeDocument/2006/relationships" xmlns:p="http://schemas.openxmlformats.org/presentationml/2006/main">
  <p:tag name="TOCSHAPE" val="AA"/>
</p:tagLst>
</file>

<file path=ppt/tags/tag493.xml><?xml version="1.0" encoding="utf-8"?>
<p:tagLst xmlns:a="http://schemas.openxmlformats.org/drawingml/2006/main" xmlns:r="http://schemas.openxmlformats.org/officeDocument/2006/relationships" xmlns:p="http://schemas.openxmlformats.org/presentationml/2006/main">
  <p:tag name="TOCSHAPE" val="AA"/>
</p:tagLst>
</file>

<file path=ppt/tags/tag494.xml><?xml version="1.0" encoding="utf-8"?>
<p:tagLst xmlns:a="http://schemas.openxmlformats.org/drawingml/2006/main" xmlns:r="http://schemas.openxmlformats.org/officeDocument/2006/relationships" xmlns:p="http://schemas.openxmlformats.org/presentationml/2006/main">
  <p:tag name="TOCSHAPE" val="735"/>
  <p:tag name="SLIDEINDEX" val="735"/>
</p:tagLst>
</file>

<file path=ppt/tags/tag495.xml><?xml version="1.0" encoding="utf-8"?>
<p:tagLst xmlns:a="http://schemas.openxmlformats.org/drawingml/2006/main" xmlns:r="http://schemas.openxmlformats.org/officeDocument/2006/relationships" xmlns:p="http://schemas.openxmlformats.org/presentationml/2006/main">
  <p:tag name="TOCSHAPE" val="727"/>
  <p:tag name="SLIDEINDEX" val="727"/>
</p:tagLst>
</file>

<file path=ppt/tags/tag496.xml><?xml version="1.0" encoding="utf-8"?>
<p:tagLst xmlns:a="http://schemas.openxmlformats.org/drawingml/2006/main" xmlns:r="http://schemas.openxmlformats.org/officeDocument/2006/relationships" xmlns:p="http://schemas.openxmlformats.org/presentationml/2006/main">
  <p:tag name="TOCSHAPE" val="726"/>
  <p:tag name="SLIDEINDEX" val="726"/>
</p:tagLst>
</file>

<file path=ppt/tags/tag497.xml><?xml version="1.0" encoding="utf-8"?>
<p:tagLst xmlns:a="http://schemas.openxmlformats.org/drawingml/2006/main" xmlns:r="http://schemas.openxmlformats.org/officeDocument/2006/relationships" xmlns:p="http://schemas.openxmlformats.org/presentationml/2006/main">
  <p:tag name="TOCSHAPE" val="962"/>
  <p:tag name="SLIDEINDEX" val="962"/>
</p:tagLst>
</file>

<file path=ppt/tags/tag498.xml><?xml version="1.0" encoding="utf-8"?>
<p:tagLst xmlns:a="http://schemas.openxmlformats.org/drawingml/2006/main" xmlns:r="http://schemas.openxmlformats.org/officeDocument/2006/relationships" xmlns:p="http://schemas.openxmlformats.org/presentationml/2006/main">
  <p:tag name="TOCSHAPE" val="968"/>
  <p:tag name="SLIDEINDEX" val="968"/>
</p:tagLst>
</file>

<file path=ppt/tags/tag499.xml><?xml version="1.0" encoding="utf-8"?>
<p:tagLst xmlns:a="http://schemas.openxmlformats.org/drawingml/2006/main" xmlns:r="http://schemas.openxmlformats.org/officeDocument/2006/relationships" xmlns:p="http://schemas.openxmlformats.org/presentationml/2006/main">
  <p:tag name="TOCSHAPE" val="970"/>
  <p:tag name="SLIDEINDEX" val="970"/>
</p:tagLst>
</file>

<file path=ppt/tags/tag500.xml><?xml version="1.0" encoding="utf-8"?>
<p:tagLst xmlns:a="http://schemas.openxmlformats.org/drawingml/2006/main" xmlns:r="http://schemas.openxmlformats.org/officeDocument/2006/relationships" xmlns:p="http://schemas.openxmlformats.org/presentationml/2006/main">
  <p:tag name="LAST UPDATE DATE" val="414778154.813709"/>
  <p:tag name="IMPORTID" val="3938414778132.895559"/>
  <p:tag name="WBLAST" val="https://kpmgoneuk.sharepoint.com/sites/GB-Diligenceplus/Shared Documents/General/Templates/Diligence + Excel formatting Jan23.xlsx"/>
  <p:tag name="USER NAME" val="awalker9"/>
  <p:tag name="TYPE" val="1"/>
  <p:tag name="SOURCENAME" val="Summary balance sheet"/>
  <p:tag name="SHEETID" val="Summary BS"/>
  <p:tag name="PICTUREAPPEARANCE" val="xlPrinter"/>
  <p:tag name="NORESIZEONUPDATE" val="False"/>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9.xml><?xml version="1.0" encoding="utf-8"?>
<p:tagLst xmlns:a="http://schemas.openxmlformats.org/drawingml/2006/main" xmlns:r="http://schemas.openxmlformats.org/officeDocument/2006/relationships" xmlns:p="http://schemas.openxmlformats.org/presentationml/2006/main">
  <p:tag name="LAST UPDATE DATE" val="414772226.258435"/>
  <p:tag name="IMPORTID" val="775414772181.811049"/>
  <p:tag name="WBLAST" val="https://kpmgoneuk.sharepoint.com/sites/GB-Diligenceplus/Shared Documents/General/Templates/Diligence + Excel formatting Jan23.xlsx"/>
  <p:tag name="USER NAME" val="awalker9"/>
  <p:tag name="TYPE" val="1"/>
  <p:tag name="SOURCENAME" val="Adjusted net working capital"/>
  <p:tag name="SHEETID" val="Adj. NWC"/>
  <p:tag name="PICTUREAPPEARANCE" val="xlPrinter"/>
  <p:tag name="NORESIZEONUPDATE" val="False"/>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1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3.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4.xml><?xml version="1.0" encoding="utf-8"?>
<p:tagLst xmlns:a="http://schemas.openxmlformats.org/drawingml/2006/main" xmlns:r="http://schemas.openxmlformats.org/officeDocument/2006/relationships" xmlns:p="http://schemas.openxmlformats.org/presentationml/2006/main">
  <p:tag name="LAST UPDATE DATE" val="414772226.258435"/>
  <p:tag name="IMPORTID" val="775414772181.811049"/>
  <p:tag name="WBLAST" val="https://kpmgoneuk.sharepoint.com/sites/GB-Diligenceplus/Shared Documents/General/Templates/Diligence + Excel formatting Jan23.xlsx"/>
  <p:tag name="USER NAME" val="awalker9"/>
  <p:tag name="TYPE" val="1"/>
  <p:tag name="SOURCENAME" val="Adjusted net working capital"/>
  <p:tag name="SHEETID" val="Adj. NWC"/>
  <p:tag name="PICTUREAPPEARANCE" val="xlPrinter"/>
  <p:tag name="NORESIZEONUPDATE" val="False"/>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1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9.xml><?xml version="1.0" encoding="utf-8"?>
<p:tagLst xmlns:a="http://schemas.openxmlformats.org/drawingml/2006/main" xmlns:r="http://schemas.openxmlformats.org/officeDocument/2006/relationships" xmlns:p="http://schemas.openxmlformats.org/presentationml/2006/main">
  <p:tag name="LAST UPDATE DATE" val="414772408.779434"/>
  <p:tag name="IMPORTID" val="8880414243417.560592"/>
  <p:tag name="WBLAST" val="https://kpmgoneuk.sharepoint.com/sites/GB-Diligenceplus/Shared Documents/General/Templates/Diligence + Excel formatting Jan23.xlsx"/>
  <p:tag name="USER NAME" val="awalker9"/>
  <p:tag name="TYPE" val="1"/>
  <p:tag name="SOURCENAME" val="Adjusted NWC"/>
  <p:tag name="SHEETID" val="Adj. NWC"/>
  <p:tag name="PICTUREAPPEARANCE" val="xlPrinter"/>
  <p:tag name="NORESIZEONUPDATE" val="False"/>
</p:tagLst>
</file>

<file path=ppt/tags/tag520.xml><?xml version="1.0" encoding="utf-8"?>
<p:tagLst xmlns:a="http://schemas.openxmlformats.org/drawingml/2006/main" xmlns:r="http://schemas.openxmlformats.org/officeDocument/2006/relationships" xmlns:p="http://schemas.openxmlformats.org/presentationml/2006/main">
  <p:tag name="LAST UPDATE DATE" val="414608272.007753"/>
  <p:tag name="IMPORTID" val="9856368405714.877244"/>
  <p:tag name="WBLAST" val="https://kpmgoneuk.sharepoint.com/sites/GB-Diligenceplus-ExampleDiligencePlusreports/Shared Documents/Example Diligence Plus reports/Infinity/Project Infinity - BS databook.xlsx"/>
  <p:tag name="USER NAME" val="awalker9"/>
  <p:tag name="TYPE" val="2"/>
  <p:tag name="SOURCENAME" val="Chart 1"/>
  <p:tag name="SHEETID" val="Monthly WC analysis"/>
  <p:tag name="PICTUREAPPEARANCE" val="xlPrinter"/>
  <p:tag name="NORESIZEONUPDATE" val="False"/>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2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5.xml><?xml version="1.0" encoding="utf-8"?>
<p:tagLst xmlns:a="http://schemas.openxmlformats.org/drawingml/2006/main" xmlns:r="http://schemas.openxmlformats.org/officeDocument/2006/relationships" xmlns:p="http://schemas.openxmlformats.org/presentationml/2006/main">
  <p:tag name="LAST UPDATE DATE" val="414772636.593421"/>
  <p:tag name="IMPORTID" val="9671414772617.139429"/>
  <p:tag name="WBLAST" val="https://kpmgoneuk.sharepoint.com/sites/GB-Diligenceplus/Shared Documents/General/Templates/Diligence + Excel formatting Jan23.xlsx"/>
  <p:tag name="USER NAME" val="awalker9"/>
  <p:tag name="TYPE" val="1"/>
  <p:tag name="SOURCENAME" val="Net cash"/>
  <p:tag name="SHEETID" val="Net debt"/>
  <p:tag name="PICTUREAPPEARANCE" val="xlPrinter"/>
  <p:tag name="NORESIZEONUPDATE" val="False"/>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2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9.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3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3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8.xml><?xml version="1.0" encoding="utf-8"?>
<p:tagLst xmlns:a="http://schemas.openxmlformats.org/drawingml/2006/main" xmlns:r="http://schemas.openxmlformats.org/officeDocument/2006/relationships" xmlns:p="http://schemas.openxmlformats.org/presentationml/2006/main">
  <p:tag name="LAST UPDATE DATE" val="415203913.783837"/>
  <p:tag name="IMPORTID" val="2495365597562.401755"/>
  <p:tag name="WBLAST" val="\\ukreadata03\TSREA\WIP\Infinity_21\3. Fieldwork\1. Databooks\Project Infinity - BS databook.xlsx"/>
  <p:tag name="USER NAME" val="awalker9"/>
  <p:tag name="TYPE" val="2"/>
  <p:tag name="SOURCENAME" val="Chart1"/>
  <p:tag name="SHEETID" val="Monthly days"/>
  <p:tag name="PICTUREAPPEARANCE" val="xlPrinter"/>
  <p:tag name="NORESIZEONUPDATE" val="False"/>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41.xml><?xml version="1.0" encoding="utf-8"?>
<p:tagLst xmlns:a="http://schemas.openxmlformats.org/drawingml/2006/main" xmlns:r="http://schemas.openxmlformats.org/officeDocument/2006/relationships" xmlns:p="http://schemas.openxmlformats.org/presentationml/2006/main">
  <p:tag name="LAST UPDATE DATE" val="419696640.591415"/>
  <p:tag name="IMPORTID" val="7029415204315.157336"/>
  <p:tag name="WBLAST" val="https://kpmgoneuk.sharepoint.com/sites/GB-Diligenceplus/Shared Documents/General/Templates/Diligence + Excel formatting Jan23.xlsx"/>
  <p:tag name="USER NAME" val="tdorrington"/>
  <p:tag name="TYPE" val="1"/>
  <p:tag name="SOURCENAME" val="Stock"/>
  <p:tag name="SHEETID" val="Sheet34"/>
  <p:tag name="PICTUREAPPEARANCE" val="xlPrinter"/>
  <p:tag name="NORESIZEONUPDATE" val="False"/>
</p:tagLst>
</file>

<file path=ppt/tags/tag542.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43.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4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9.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52.xml><?xml version="1.0" encoding="utf-8"?>
<p:tagLst xmlns:a="http://schemas.openxmlformats.org/drawingml/2006/main" xmlns:r="http://schemas.openxmlformats.org/officeDocument/2006/relationships" xmlns:p="http://schemas.openxmlformats.org/presentationml/2006/main">
  <p:tag name="LAST UPDATE DATE" val="415216388.979704"/>
  <p:tag name="IMPORTID" val="4503415205105.237673"/>
  <p:tag name="WBLAST" val="https://kpmgoneuk.sharepoint.com/sites/GB-Diligenceplus/Shared Documents/General/Templates/Diligence + Excel formatting Jan23.xlsx"/>
  <p:tag name="USER NAME" val="awalker9"/>
  <p:tag name="TYPE" val="1"/>
  <p:tag name="SOURCENAME" val="Stock"/>
  <p:tag name="SHEETID" val="Sheet34"/>
  <p:tag name="PICTUREAPPEARANCE" val="xlPrinter"/>
  <p:tag name="NORESIZEONUPDATE" val="False"/>
</p:tagLst>
</file>

<file path=ppt/tags/tag5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54.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7.xml><?xml version="1.0" encoding="utf-8"?>
<p:tagLst xmlns:a="http://schemas.openxmlformats.org/drawingml/2006/main" xmlns:r="http://schemas.openxmlformats.org/officeDocument/2006/relationships" xmlns:p="http://schemas.openxmlformats.org/presentationml/2006/main">
  <p:tag name="LAST UPDATE DATE" val="415216321.661031"/>
  <p:tag name="IMPORTID" val="771415205471.809385"/>
  <p:tag name="WBLAST" val="https://kpmgoneuk.sharepoint.com/sites/GB-Diligenceplus/Shared Documents/General/Templates/Diligence + Excel formatting Jan23.xlsx"/>
  <p:tag name="USER NAME" val="awalker9"/>
  <p:tag name="TYPE" val="1"/>
  <p:tag name="SOURCENAME" val="Aged stock"/>
  <p:tag name="SHEETID" val="Sheet34"/>
  <p:tag name="PICTUREAPPEARANCE" val="xlPrinter"/>
  <p:tag name="NORESIZEONUPDATE" val="False"/>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61.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6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6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5.xml><?xml version="1.0" encoding="utf-8"?>
<p:tagLst xmlns:a="http://schemas.openxmlformats.org/drawingml/2006/main" xmlns:r="http://schemas.openxmlformats.org/officeDocument/2006/relationships" xmlns:p="http://schemas.openxmlformats.org/presentationml/2006/main">
  <p:tag name="LAST UPDATE DATE" val="415216138.632514"/>
  <p:tag name="IMPORTID" val="7083415205765.590111"/>
  <p:tag name="WBLAST" val="https://kpmgoneuk.sharepoint.com/sites/GB-Diligenceplus/Shared Documents/General/Templates/Diligence + Excel formatting Jan23.xlsx"/>
  <p:tag name="USER NAME" val="awalker9"/>
  <p:tag name="TYPE" val="1"/>
  <p:tag name="SOURCENAME" val="Stock ageing"/>
  <p:tag name="SHEETID" val="Sheet34"/>
  <p:tag name="PICTUREAPPEARANCE" val="xlPrinter"/>
  <p:tag name="NORESIZEONUPDATE" val="False"/>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68.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1.xml><?xml version="1.0" encoding="utf-8"?>
<p:tagLst xmlns:a="http://schemas.openxmlformats.org/drawingml/2006/main" xmlns:r="http://schemas.openxmlformats.org/officeDocument/2006/relationships" xmlns:p="http://schemas.openxmlformats.org/presentationml/2006/main">
  <p:tag name="LAST UPDATE DATE" val="415205981.062545"/>
  <p:tag name="IMPORTID" val="38365602725.799219"/>
  <p:tag name="WBLAST" val="\\ukreadata03\TSREA\WIP\Infinity_21\3. Fieldwork\1. Databooks\Project Infinity - BS databook.xlsx"/>
  <p:tag name="USER NAME" val="awalker9"/>
  <p:tag name="TYPE" val="2"/>
  <p:tag name="SOURCENAME" val="Chart1 (2)"/>
  <p:tag name="SHEETID" val="Monthly days"/>
  <p:tag name="PICTUREAPPEARANCE" val="xlPrinter"/>
  <p:tag name="NORESIZEONUPDATE" val="False"/>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74.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75.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76.xml><?xml version="1.0" encoding="utf-8"?>
<p:tagLst xmlns:a="http://schemas.openxmlformats.org/drawingml/2006/main" xmlns:r="http://schemas.openxmlformats.org/officeDocument/2006/relationships" xmlns:p="http://schemas.openxmlformats.org/presentationml/2006/main">
  <p:tag name="LAST UPDATE DATE" val="415206198.74582"/>
  <p:tag name="IMPORTID" val="4175415206172.845536"/>
  <p:tag name="WBLAST" val="https://kpmgoneuk.sharepoint.com/sites/GB-Diligenceplus/Shared Documents/General/Templates/Diligence + Excel formatting Jan23.xlsx"/>
  <p:tag name="USER NAME" val="awalker9"/>
  <p:tag name="TYPE" val="1"/>
  <p:tag name="SOURCENAME" val="Creditors"/>
  <p:tag name="SHEETID" val="Sheet35"/>
  <p:tag name="PICTUREAPPEARANCE" val="xlPrinter"/>
  <p:tag name="NORESIZEONUPDATE" val="False"/>
</p:tagLst>
</file>

<file path=ppt/tags/tag5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8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85.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86.xml><?xml version="1.0" encoding="utf-8"?>
<p:tagLst xmlns:a="http://schemas.openxmlformats.org/drawingml/2006/main" xmlns:r="http://schemas.openxmlformats.org/officeDocument/2006/relationships" xmlns:p="http://schemas.openxmlformats.org/presentationml/2006/main">
  <p:tag name="LAST UPDATE DATE" val="415206525.084"/>
  <p:tag name="IMPORTID" val="6633415206503.950428"/>
  <p:tag name="WBLAST" val="https://kpmgoneuk.sharepoint.com/sites/GB-Diligenceplus/Shared Documents/General/Templates/Diligence + Excel formatting Jan23.xlsx"/>
  <p:tag name="USER NAME" val="awalker9"/>
  <p:tag name="TYPE" val="1"/>
  <p:tag name="SOURCENAME" val="Accruals and other creditors"/>
  <p:tag name="SHEETID" val="Sheet36"/>
  <p:tag name="PICTUREAPPEARANCE" val="xlPrinter"/>
  <p:tag name="NORESIZEONUPDATE" val="False"/>
</p:tagLst>
</file>

<file path=ppt/tags/tag58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3.xml><?xml version="1.0" encoding="utf-8"?>
<p:tagLst xmlns:a="http://schemas.openxmlformats.org/drawingml/2006/main" xmlns:r="http://schemas.openxmlformats.org/officeDocument/2006/relationships" xmlns:p="http://schemas.openxmlformats.org/presentationml/2006/main">
  <p:tag name="LAST UPDATE DATE" val="415207134.437326"/>
  <p:tag name="IMPORTID" val="4651415207134.437326"/>
  <p:tag name="WBLAST" val="https://kpmgoneuk.sharepoint.com/sites/GB-Diligenceplus/Shared Documents/General/Templates/Diligence + Excel formatting Jan23.xlsx"/>
  <p:tag name="USER NAME" val="awalker9"/>
  <p:tag name="TYPE" val="1"/>
  <p:tag name="SOURCENAME" val="Accruals"/>
  <p:tag name="SHEETID" val="Sheet36"/>
  <p:tag name="PICTUREAPPEARANCE" val="xlPrinter"/>
  <p:tag name="NORESIZEONUPDATE" val="False"/>
</p:tagLst>
</file>

<file path=ppt/tags/tag5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6.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59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0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2.xml><?xml version="1.0" encoding="utf-8"?>
<p:tagLst xmlns:a="http://schemas.openxmlformats.org/drawingml/2006/main" xmlns:r="http://schemas.openxmlformats.org/officeDocument/2006/relationships" xmlns:p="http://schemas.openxmlformats.org/presentationml/2006/main">
  <p:tag name="SHAPETYPE" val="BREADCRUMB"/>
</p:tagLst>
</file>

<file path=ppt/tags/tag6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0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607.xml><?xml version="1.0" encoding="utf-8"?>
<p:tagLst xmlns:a="http://schemas.openxmlformats.org/drawingml/2006/main" xmlns:r="http://schemas.openxmlformats.org/officeDocument/2006/relationships" xmlns:p="http://schemas.openxmlformats.org/presentationml/2006/main">
  <p:tag name="NAME" val="Cash flows"/>
  <p:tag name="SECTION" val="5"/>
</p:tagLst>
</file>

<file path=ppt/tags/tag60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0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1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12.xml><?xml version="1.0" encoding="utf-8"?>
<p:tagLst xmlns:a="http://schemas.openxmlformats.org/drawingml/2006/main" xmlns:r="http://schemas.openxmlformats.org/officeDocument/2006/relationships" xmlns:p="http://schemas.openxmlformats.org/presentationml/2006/main">
  <p:tag name="TOCSHAPE" val="AA"/>
</p:tagLst>
</file>

<file path=ppt/tags/tag613.xml><?xml version="1.0" encoding="utf-8"?>
<p:tagLst xmlns:a="http://schemas.openxmlformats.org/drawingml/2006/main" xmlns:r="http://schemas.openxmlformats.org/officeDocument/2006/relationships" xmlns:p="http://schemas.openxmlformats.org/presentationml/2006/main">
  <p:tag name="TOCSHAPE" val="807"/>
  <p:tag name="SLIDEINDEX" val="807"/>
</p:tagLst>
</file>

<file path=ppt/tags/tag614.xml><?xml version="1.0" encoding="utf-8"?>
<p:tagLst xmlns:a="http://schemas.openxmlformats.org/drawingml/2006/main" xmlns:r="http://schemas.openxmlformats.org/officeDocument/2006/relationships" xmlns:p="http://schemas.openxmlformats.org/presentationml/2006/main">
  <p:tag name="TOCSHAPE" val="AA"/>
</p:tagLst>
</file>

<file path=ppt/tags/tag615.xml><?xml version="1.0" encoding="utf-8"?>
<p:tagLst xmlns:a="http://schemas.openxmlformats.org/drawingml/2006/main" xmlns:r="http://schemas.openxmlformats.org/officeDocument/2006/relationships" xmlns:p="http://schemas.openxmlformats.org/presentationml/2006/main">
  <p:tag name="TOCSHAPE" val="AA"/>
</p:tagLst>
</file>

<file path=ppt/tags/tag616.xml><?xml version="1.0" encoding="utf-8"?>
<p:tagLst xmlns:a="http://schemas.openxmlformats.org/drawingml/2006/main" xmlns:r="http://schemas.openxmlformats.org/officeDocument/2006/relationships" xmlns:p="http://schemas.openxmlformats.org/presentationml/2006/main">
  <p:tag name="TOCSHAPE" val="AA"/>
</p:tagLst>
</file>

<file path=ppt/tags/tag617.xml><?xml version="1.0" encoding="utf-8"?>
<p:tagLst xmlns:a="http://schemas.openxmlformats.org/drawingml/2006/main" xmlns:r="http://schemas.openxmlformats.org/officeDocument/2006/relationships" xmlns:p="http://schemas.openxmlformats.org/presentationml/2006/main">
  <p:tag name="TOCSHAPE" val="729"/>
  <p:tag name="SLIDEINDEX" val="729"/>
</p:tagLst>
</file>

<file path=ppt/tags/tag618.xml><?xml version="1.0" encoding="utf-8"?>
<p:tagLst xmlns:a="http://schemas.openxmlformats.org/drawingml/2006/main" xmlns:r="http://schemas.openxmlformats.org/officeDocument/2006/relationships" xmlns:p="http://schemas.openxmlformats.org/presentationml/2006/main">
  <p:tag name="TOCSHAPE" val="862"/>
  <p:tag name="SLIDEINDEX" val="862"/>
</p:tagLst>
</file>

<file path=ppt/tags/tag619.xml><?xml version="1.0" encoding="utf-8"?>
<p:tagLst xmlns:a="http://schemas.openxmlformats.org/drawingml/2006/main" xmlns:r="http://schemas.openxmlformats.org/officeDocument/2006/relationships" xmlns:p="http://schemas.openxmlformats.org/presentationml/2006/main">
  <p:tag name="TOCSHAPE" val="863"/>
  <p:tag name="SLIDEINDEX" val="863"/>
</p:tagLst>
</file>

<file path=ppt/tags/tag620.xml><?xml version="1.0" encoding="utf-8"?>
<p:tagLst xmlns:a="http://schemas.openxmlformats.org/drawingml/2006/main" xmlns:r="http://schemas.openxmlformats.org/officeDocument/2006/relationships" xmlns:p="http://schemas.openxmlformats.org/presentationml/2006/main">
  <p:tag name="LAST UPDATE DATE" val="419696702.454515"/>
  <p:tag name="IMPORTID" val="5174414773506.087351"/>
  <p:tag name="WBLAST" val="https://kpmgoneuk.sharepoint.com/sites/GB-Diligenceplus/Shared Documents/General/Templates/Diligence + Excel formatting Jan23.xlsx"/>
  <p:tag name="USER NAME" val="tdorrington"/>
  <p:tag name="TYPE" val="1"/>
  <p:tag name="SOURCENAME" val="Summary cash flow"/>
  <p:tag name="SHEETID" val="Cash flow"/>
  <p:tag name="PICTUREAPPEARANCE" val="xlPrinter"/>
  <p:tag name="NORESIZEONUPDATE" val="False"/>
</p:tagLst>
</file>

<file path=ppt/tags/tag6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0.xml><?xml version="1.0" encoding="utf-8"?>
<p:tagLst xmlns:a="http://schemas.openxmlformats.org/drawingml/2006/main" xmlns:r="http://schemas.openxmlformats.org/officeDocument/2006/relationships" xmlns:p="http://schemas.openxmlformats.org/presentationml/2006/main">
  <p:tag name="SHAPETYPE" val="BREADCRUMB"/>
</p:tagLst>
</file>

<file path=ppt/tags/tag631.xml><?xml version="1.0" encoding="utf-8"?>
<p:tagLst xmlns:a="http://schemas.openxmlformats.org/drawingml/2006/main" xmlns:r="http://schemas.openxmlformats.org/officeDocument/2006/relationships" xmlns:p="http://schemas.openxmlformats.org/presentationml/2006/main">
  <p:tag name="LAST UPDATE DATE" val="419696831.771918"/>
  <p:tag name="IMPORTID" val="7250414776123.382541"/>
  <p:tag name="WBLAST" val="https://kpmgoneuk.sharepoint.com/sites/GB-Diligenceplus/Shared Documents/General/Templates/Diligence + Excel formatting Jan23.xlsx"/>
  <p:tag name="USER NAME" val="tdorrington"/>
  <p:tag name="TYPE" val="1"/>
  <p:tag name="SOURCENAME" val="Capital expenditure"/>
  <p:tag name="SHEETID" val="Capex"/>
  <p:tag name="PICTUREAPPEARANCE" val="xlPrinter"/>
  <p:tag name="NORESIZEONUPDATE" val="False"/>
</p:tagLst>
</file>

<file path=ppt/tags/tag6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4.xml><?xml version="1.0" encoding="utf-8"?>
<p:tagLst xmlns:a="http://schemas.openxmlformats.org/drawingml/2006/main" xmlns:r="http://schemas.openxmlformats.org/officeDocument/2006/relationships" xmlns:p="http://schemas.openxmlformats.org/presentationml/2006/main">
  <p:tag name="SHAPETYPE" val="BREADCRUMB"/>
</p:tagLst>
</file>

<file path=ppt/tags/tag635.xml><?xml version="1.0" encoding="utf-8"?>
<p:tagLst xmlns:a="http://schemas.openxmlformats.org/drawingml/2006/main" xmlns:r="http://schemas.openxmlformats.org/officeDocument/2006/relationships" xmlns:p="http://schemas.openxmlformats.org/presentationml/2006/main">
  <p:tag name="LAST UPDATE DATE" val="414776846.362948"/>
  <p:tag name="IMPORTID" val="2657364663891.592211"/>
  <p:tag name="WBLAST" val="https://kpmgoneuk.sharepoint.com/sites/GB-Diligenceplus-ExampleDiligencePlusreports/Shared Documents/Example Diligence Plus reports/Infinity/Project Infinity - BS databook.xlsx"/>
  <p:tag name="USER NAME" val="awalker9"/>
  <p:tag name="IMPORTID2" val="_255"/>
  <p:tag name="TYPE" val="2"/>
  <p:tag name="SOURCENAME" val="Chart1"/>
  <p:tag name="SHEETID" val="Intra month Cashflows (2)"/>
  <p:tag name="PICTUREAPPEARANCE" val="xlPrinter"/>
  <p:tag name="NORESIZEONUPDATE" val="False"/>
</p:tagLst>
</file>

<file path=ppt/tags/tag6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7.xml><?xml version="1.0" encoding="utf-8"?>
<p:tagLst xmlns:a="http://schemas.openxmlformats.org/drawingml/2006/main" xmlns:r="http://schemas.openxmlformats.org/officeDocument/2006/relationships" xmlns:p="http://schemas.openxmlformats.org/presentationml/2006/main">
  <p:tag name="LAST UPDATE DATE" val="414777423.943631"/>
  <p:tag name="IMPORTID" val="9758414777273.523683"/>
  <p:tag name="WBLAST" val="https://kpmgoneuk.sharepoint.com/sites/GB-Diligenceplus/Shared Documents/General/Templates/Diligence + Excel formatting Jan23.xlsx"/>
  <p:tag name="USER NAME" val="awalker9"/>
  <p:tag name="TYPE" val="1"/>
  <p:tag name="SOURCENAME" val="Intramonth cash summary"/>
  <p:tag name="SHEETID" val="Cash flow"/>
  <p:tag name="PICTUREAPPEARANCE" val="xlPrinter"/>
  <p:tag name="NORESIZEONUPDATE" val="False"/>
</p:tagLst>
</file>

<file path=ppt/tags/tag63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9.xml><?xml version="1.0" encoding="utf-8"?>
<p:tagLst xmlns:a="http://schemas.openxmlformats.org/drawingml/2006/main" xmlns:r="http://schemas.openxmlformats.org/officeDocument/2006/relationships" xmlns:p="http://schemas.openxmlformats.org/presentationml/2006/main">
  <p:tag name="SHAPETYPE" val="BREADCRUMB"/>
</p:tagLst>
</file>

<file path=ppt/tags/tag640.xml><?xml version="1.0" encoding="utf-8"?>
<p:tagLst xmlns:a="http://schemas.openxmlformats.org/drawingml/2006/main" xmlns:r="http://schemas.openxmlformats.org/officeDocument/2006/relationships" xmlns:p="http://schemas.openxmlformats.org/presentationml/2006/main">
  <p:tag name="NAME" val="Reporting environment"/>
  <p:tag name="SECTION" val="6"/>
</p:tagLst>
</file>

<file path=ppt/tags/tag64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4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4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44.xml><?xml version="1.0" encoding="utf-8"?>
<p:tagLst xmlns:a="http://schemas.openxmlformats.org/drawingml/2006/main" xmlns:r="http://schemas.openxmlformats.org/officeDocument/2006/relationships" xmlns:p="http://schemas.openxmlformats.org/presentationml/2006/main">
  <p:tag name="TOCSHAPE" val="AA"/>
</p:tagLst>
</file>

<file path=ppt/tags/tag645.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646.xml><?xml version="1.0" encoding="utf-8"?>
<p:tagLst xmlns:a="http://schemas.openxmlformats.org/drawingml/2006/main" xmlns:r="http://schemas.openxmlformats.org/officeDocument/2006/relationships" xmlns:p="http://schemas.openxmlformats.org/presentationml/2006/main">
  <p:tag name="TOCSHAPE" val="AA"/>
</p:tagLst>
</file>

<file path=ppt/tags/tag647.xml><?xml version="1.0" encoding="utf-8"?>
<p:tagLst xmlns:a="http://schemas.openxmlformats.org/drawingml/2006/main" xmlns:r="http://schemas.openxmlformats.org/officeDocument/2006/relationships" xmlns:p="http://schemas.openxmlformats.org/presentationml/2006/main">
  <p:tag name="TOCSHAPE" val="AA"/>
</p:tagLst>
</file>

<file path=ppt/tags/tag648.xml><?xml version="1.0" encoding="utf-8"?>
<p:tagLst xmlns:a="http://schemas.openxmlformats.org/drawingml/2006/main" xmlns:r="http://schemas.openxmlformats.org/officeDocument/2006/relationships" xmlns:p="http://schemas.openxmlformats.org/presentationml/2006/main">
  <p:tag name="TOCSHAPE" val="1006"/>
  <p:tag name="SLIDEINDEX" val="1006"/>
</p:tagLst>
</file>

<file path=ppt/tags/tag649.xml><?xml version="1.0" encoding="utf-8"?>
<p:tagLst xmlns:a="http://schemas.openxmlformats.org/drawingml/2006/main" xmlns:r="http://schemas.openxmlformats.org/officeDocument/2006/relationships" xmlns:p="http://schemas.openxmlformats.org/presentationml/2006/main">
  <p:tag name="TOCSHAPE" val="800"/>
  <p:tag name="SLIDEINDEX" val="800"/>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52.xml><?xml version="1.0" encoding="utf-8"?>
<p:tagLst xmlns:a="http://schemas.openxmlformats.org/drawingml/2006/main" xmlns:r="http://schemas.openxmlformats.org/officeDocument/2006/relationships" xmlns:p="http://schemas.openxmlformats.org/presentationml/2006/main">
  <p:tag name="SHAPETYPE" val="BREADCRUMB"/>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55.xml><?xml version="1.0" encoding="utf-8"?>
<p:tagLst xmlns:a="http://schemas.openxmlformats.org/drawingml/2006/main" xmlns:r="http://schemas.openxmlformats.org/officeDocument/2006/relationships" xmlns:p="http://schemas.openxmlformats.org/presentationml/2006/main">
  <p:tag name="SHAPETYPE" val="BREADCRUMB"/>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58.xml><?xml version="1.0" encoding="utf-8"?>
<p:tagLst xmlns:a="http://schemas.openxmlformats.org/drawingml/2006/main" xmlns:r="http://schemas.openxmlformats.org/officeDocument/2006/relationships" xmlns:p="http://schemas.openxmlformats.org/presentationml/2006/main">
  <p:tag name="SHAPETYPE" val="BREADCRUMB"/>
</p:tagLst>
</file>

<file path=ppt/tags/tag659.xml><?xml version="1.0" encoding="utf-8"?>
<p:tagLst xmlns:a="http://schemas.openxmlformats.org/drawingml/2006/main" xmlns:r="http://schemas.openxmlformats.org/officeDocument/2006/relationships" xmlns:p="http://schemas.openxmlformats.org/presentationml/2006/main">
  <p:tag name="NAME" val="Appendices"/>
  <p:tag name="SECTION" val="7"/>
</p:tagLst>
</file>

<file path=ppt/tags/tag66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8.xml><?xml version="1.0" encoding="utf-8"?>
<p:tagLst xmlns:a="http://schemas.openxmlformats.org/drawingml/2006/main" xmlns:r="http://schemas.openxmlformats.org/officeDocument/2006/relationships" xmlns:p="http://schemas.openxmlformats.org/presentationml/2006/main">
  <p:tag name="TOCSHAPE" val="AA"/>
</p:tagLst>
</file>

<file path=ppt/tags/tag669.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670.xml><?xml version="1.0" encoding="utf-8"?>
<p:tagLst xmlns:a="http://schemas.openxmlformats.org/drawingml/2006/main" xmlns:r="http://schemas.openxmlformats.org/officeDocument/2006/relationships" xmlns:p="http://schemas.openxmlformats.org/presentationml/2006/main">
  <p:tag name="TOCSHAPE" val="AA"/>
</p:tagLst>
</file>

<file path=ppt/tags/tag671.xml><?xml version="1.0" encoding="utf-8"?>
<p:tagLst xmlns:a="http://schemas.openxmlformats.org/drawingml/2006/main" xmlns:r="http://schemas.openxmlformats.org/officeDocument/2006/relationships" xmlns:p="http://schemas.openxmlformats.org/presentationml/2006/main">
  <p:tag name="TOCSHAPE" val="AA"/>
</p:tagLst>
</file>

<file path=ppt/tags/tag672.xml><?xml version="1.0" encoding="utf-8"?>
<p:tagLst xmlns:a="http://schemas.openxmlformats.org/drawingml/2006/main" xmlns:r="http://schemas.openxmlformats.org/officeDocument/2006/relationships" xmlns:p="http://schemas.openxmlformats.org/presentationml/2006/main">
  <p:tag name="TOCSHAPE" val="AA"/>
</p:tagLst>
</file>

<file path=ppt/tags/tag673.xml><?xml version="1.0" encoding="utf-8"?>
<p:tagLst xmlns:a="http://schemas.openxmlformats.org/drawingml/2006/main" xmlns:r="http://schemas.openxmlformats.org/officeDocument/2006/relationships" xmlns:p="http://schemas.openxmlformats.org/presentationml/2006/main">
  <p:tag name="TOCSHAPE" val="AA"/>
</p:tagLst>
</file>

<file path=ppt/tags/tag674.xml><?xml version="1.0" encoding="utf-8"?>
<p:tagLst xmlns:a="http://schemas.openxmlformats.org/drawingml/2006/main" xmlns:r="http://schemas.openxmlformats.org/officeDocument/2006/relationships" xmlns:p="http://schemas.openxmlformats.org/presentationml/2006/main">
  <p:tag name="TOCSHAPE" val="AA"/>
</p:tagLst>
</file>

<file path=ppt/tags/tag675.xml><?xml version="1.0" encoding="utf-8"?>
<p:tagLst xmlns:a="http://schemas.openxmlformats.org/drawingml/2006/main" xmlns:r="http://schemas.openxmlformats.org/officeDocument/2006/relationships" xmlns:p="http://schemas.openxmlformats.org/presentationml/2006/main">
  <p:tag name="TOCSHAPE" val="AA"/>
</p:tagLst>
</file>

<file path=ppt/tags/tag676.xml><?xml version="1.0" encoding="utf-8"?>
<p:tagLst xmlns:a="http://schemas.openxmlformats.org/drawingml/2006/main" xmlns:r="http://schemas.openxmlformats.org/officeDocument/2006/relationships" xmlns:p="http://schemas.openxmlformats.org/presentationml/2006/main">
  <p:tag name="TOCSHAPE" val="AA"/>
</p:tagLst>
</file>

<file path=ppt/tags/tag677.xml><?xml version="1.0" encoding="utf-8"?>
<p:tagLst xmlns:a="http://schemas.openxmlformats.org/drawingml/2006/main" xmlns:r="http://schemas.openxmlformats.org/officeDocument/2006/relationships" xmlns:p="http://schemas.openxmlformats.org/presentationml/2006/main">
  <p:tag name="TOCSHAPE" val="1009"/>
  <p:tag name="SLIDEINDEX" val="1009"/>
</p:tagLst>
</file>

<file path=ppt/tags/tag678.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679.xml><?xml version="1.0" encoding="utf-8"?>
<p:tagLst xmlns:a="http://schemas.openxmlformats.org/drawingml/2006/main" xmlns:r="http://schemas.openxmlformats.org/officeDocument/2006/relationships" xmlns:p="http://schemas.openxmlformats.org/presentationml/2006/main">
  <p:tag name="TOCSHAPE" val="1010"/>
  <p:tag name="SLIDEINDEX" val="1010"/>
</p:tagLst>
</file>

<file path=ppt/tags/tag680.xml><?xml version="1.0" encoding="utf-8"?>
<p:tagLst xmlns:a="http://schemas.openxmlformats.org/drawingml/2006/main" xmlns:r="http://schemas.openxmlformats.org/officeDocument/2006/relationships" xmlns:p="http://schemas.openxmlformats.org/presentationml/2006/main">
  <p:tag name="TOCSHAPE" val="1011"/>
  <p:tag name="SLIDEINDEX" val="1011"/>
</p:tagLst>
</file>

<file path=ppt/tags/tag681.xml><?xml version="1.0" encoding="utf-8"?>
<p:tagLst xmlns:a="http://schemas.openxmlformats.org/drawingml/2006/main" xmlns:r="http://schemas.openxmlformats.org/officeDocument/2006/relationships" xmlns:p="http://schemas.openxmlformats.org/presentationml/2006/main">
  <p:tag name="TOCSHAPE" val="1012"/>
  <p:tag name="SLIDEINDEX" val="1012"/>
</p:tagLst>
</file>

<file path=ppt/tags/tag682.xml><?xml version="1.0" encoding="utf-8"?>
<p:tagLst xmlns:a="http://schemas.openxmlformats.org/drawingml/2006/main" xmlns:r="http://schemas.openxmlformats.org/officeDocument/2006/relationships" xmlns:p="http://schemas.openxmlformats.org/presentationml/2006/main">
  <p:tag name="TOCSHAPE" val="1013"/>
  <p:tag name="SLIDEINDEX" val="1013"/>
</p:tagLst>
</file>

<file path=ppt/tags/tag683.xml><?xml version="1.0" encoding="utf-8"?>
<p:tagLst xmlns:a="http://schemas.openxmlformats.org/drawingml/2006/main" xmlns:r="http://schemas.openxmlformats.org/officeDocument/2006/relationships" xmlns:p="http://schemas.openxmlformats.org/presentationml/2006/main">
  <p:tag name="TOCSHAPE" val="1014"/>
  <p:tag name="SLIDEINDEX" val="1014"/>
</p:tagLst>
</file>

<file path=ppt/tags/tag6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688.xml><?xml version="1.0" encoding="utf-8"?>
<p:tagLst xmlns:a="http://schemas.openxmlformats.org/drawingml/2006/main" xmlns:r="http://schemas.openxmlformats.org/officeDocument/2006/relationships" xmlns:p="http://schemas.openxmlformats.org/presentationml/2006/main">
  <p:tag name="CROSSREFGUID" val="ddb72b19-fda2-4358-bb0e-8633705c0354"/>
</p:tagLst>
</file>

<file path=ppt/tags/tag68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90.xml><?xml version="1.0" encoding="utf-8"?>
<p:tagLst xmlns:a="http://schemas.openxmlformats.org/drawingml/2006/main" xmlns:r="http://schemas.openxmlformats.org/officeDocument/2006/relationships" xmlns:p="http://schemas.openxmlformats.org/presentationml/2006/main">
  <p:tag name="SHAPETYPE" val="BREADCRUMB"/>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2.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6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94.xml><?xml version="1.0" encoding="utf-8"?>
<p:tagLst xmlns:a="http://schemas.openxmlformats.org/drawingml/2006/main" xmlns:r="http://schemas.openxmlformats.org/officeDocument/2006/relationships" xmlns:p="http://schemas.openxmlformats.org/presentationml/2006/main">
  <p:tag name="SHAPETYPE" val="BREADCRUMB"/>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6.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69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98.xml><?xml version="1.0" encoding="utf-8"?>
<p:tagLst xmlns:a="http://schemas.openxmlformats.org/drawingml/2006/main" xmlns:r="http://schemas.openxmlformats.org/officeDocument/2006/relationships" xmlns:p="http://schemas.openxmlformats.org/presentationml/2006/main">
  <p:tag name="SHAPETYPE" val="BREADCRUMB"/>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0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02.xml><?xml version="1.0" encoding="utf-8"?>
<p:tagLst xmlns:a="http://schemas.openxmlformats.org/drawingml/2006/main" xmlns:r="http://schemas.openxmlformats.org/officeDocument/2006/relationships" xmlns:p="http://schemas.openxmlformats.org/presentationml/2006/main">
  <p:tag name="SHAPETYPE" val="BREADCRUMB"/>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4.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0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8.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0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2.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1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14.xml><?xml version="1.0" encoding="utf-8"?>
<p:tagLst xmlns:a="http://schemas.openxmlformats.org/drawingml/2006/main" xmlns:r="http://schemas.openxmlformats.org/officeDocument/2006/relationships" xmlns:p="http://schemas.openxmlformats.org/presentationml/2006/main">
  <p:tag name="SHAPETYPE" val="BREADCRUMB"/>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6.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1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18.xml><?xml version="1.0" encoding="utf-8"?>
<p:tagLst xmlns:a="http://schemas.openxmlformats.org/drawingml/2006/main" xmlns:r="http://schemas.openxmlformats.org/officeDocument/2006/relationships" xmlns:p="http://schemas.openxmlformats.org/presentationml/2006/main">
  <p:tag name="SHAPETYPE" val="BREADCRUMB"/>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72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22.xml><?xml version="1.0" encoding="utf-8"?>
<p:tagLst xmlns:a="http://schemas.openxmlformats.org/drawingml/2006/main" xmlns:r="http://schemas.openxmlformats.org/officeDocument/2006/relationships" xmlns:p="http://schemas.openxmlformats.org/presentationml/2006/main">
  <p:tag name="SHAPETYPE" val="BREADCRUMB"/>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4.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725.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72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27.xml><?xml version="1.0" encoding="utf-8"?>
<p:tagLst xmlns:a="http://schemas.openxmlformats.org/drawingml/2006/main" xmlns:r="http://schemas.openxmlformats.org/officeDocument/2006/relationships" xmlns:p="http://schemas.openxmlformats.org/presentationml/2006/main">
  <p:tag name="SHAPETYPE" val="BREADCRUMB"/>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30.xml><?xml version="1.0" encoding="utf-8"?>
<p:tagLst xmlns:a="http://schemas.openxmlformats.org/drawingml/2006/main" xmlns:r="http://schemas.openxmlformats.org/officeDocument/2006/relationships" xmlns:p="http://schemas.openxmlformats.org/presentationml/2006/main">
  <p:tag name="SHAPETYPE" val="BREADCRUMB"/>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73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3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4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4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4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7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4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8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00.xml><?xml version="1.0" encoding="utf-8"?>
<p:tagLst xmlns:a="http://schemas.openxmlformats.org/drawingml/2006/main" xmlns:r="http://schemas.openxmlformats.org/officeDocument/2006/relationships" xmlns:p="http://schemas.openxmlformats.org/presentationml/2006/main">
  <p:tag name="ADV_DRAFT" val="TRUE"/>
</p:tagLst>
</file>

<file path=ppt/tags/tag310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00.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4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00.xml><?xml version="1.0" encoding="utf-8"?>
<p:tagLst xmlns:a="http://schemas.openxmlformats.org/drawingml/2006/main" xmlns:r="http://schemas.openxmlformats.org/officeDocument/2006/relationships" xmlns:p="http://schemas.openxmlformats.org/presentationml/2006/main">
  <p:tag name="ADV_DRAFT" val="TRUE"/>
</p:tagLst>
</file>

<file path=ppt/tags/tag6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64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6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6710.xml><?xml version="1.0" encoding="utf-8"?>
<p:tagLst xmlns:a="http://schemas.openxmlformats.org/drawingml/2006/main" xmlns:r="http://schemas.openxmlformats.org/officeDocument/2006/relationships" xmlns:p="http://schemas.openxmlformats.org/presentationml/2006/main">
  <p:tag name="NAME" val="Appendices"/>
  <p:tag name="SECTION" val="10"/>
</p:tagLst>
</file>

<file path=ppt/tags/tag681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9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0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2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310.xml><?xml version="1.0" encoding="utf-8"?>
<p:tagLst xmlns:a="http://schemas.openxmlformats.org/drawingml/2006/main" xmlns:r="http://schemas.openxmlformats.org/officeDocument/2006/relationships" xmlns:p="http://schemas.openxmlformats.org/presentationml/2006/main">
  <p:tag name="TOCSHAPE" val="AA"/>
</p:tagLst>
</file>

<file path=ppt/tags/tag7410.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7510.xml><?xml version="1.0" encoding="utf-8"?>
<p:tagLst xmlns:a="http://schemas.openxmlformats.org/drawingml/2006/main" xmlns:r="http://schemas.openxmlformats.org/officeDocument/2006/relationships" xmlns:p="http://schemas.openxmlformats.org/presentationml/2006/main">
  <p:tag name="TOCSHAPE" val="AA"/>
</p:tagLst>
</file>

<file path=ppt/tags/tag7610.xml><?xml version="1.0" encoding="utf-8"?>
<p:tagLst xmlns:a="http://schemas.openxmlformats.org/drawingml/2006/main" xmlns:r="http://schemas.openxmlformats.org/officeDocument/2006/relationships" xmlns:p="http://schemas.openxmlformats.org/presentationml/2006/main">
  <p:tag name="TOCSHAPE" val="AA"/>
</p:tagLst>
</file>

<file path=ppt/tags/tag7710.xml><?xml version="1.0" encoding="utf-8"?>
<p:tagLst xmlns:a="http://schemas.openxmlformats.org/drawingml/2006/main" xmlns:r="http://schemas.openxmlformats.org/officeDocument/2006/relationships" xmlns:p="http://schemas.openxmlformats.org/presentationml/2006/main">
  <p:tag name="TOCSHAPE" val="AA"/>
</p:tagLst>
</file>

<file path=ppt/tags/tag7810.xml><?xml version="1.0" encoding="utf-8"?>
<p:tagLst xmlns:a="http://schemas.openxmlformats.org/drawingml/2006/main" xmlns:r="http://schemas.openxmlformats.org/officeDocument/2006/relationships" xmlns:p="http://schemas.openxmlformats.org/presentationml/2006/main">
  <p:tag name="TOCSHAPE" val="AA"/>
</p:tagLst>
</file>

<file path=ppt/tags/tag7910.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8010.xml><?xml version="1.0" encoding="utf-8"?>
<p:tagLst xmlns:a="http://schemas.openxmlformats.org/drawingml/2006/main" xmlns:r="http://schemas.openxmlformats.org/officeDocument/2006/relationships" xmlns:p="http://schemas.openxmlformats.org/presentationml/2006/main">
  <p:tag name="TOCSHAPE" val="652"/>
  <p:tag name="SLIDEINDEX" val="652"/>
</p:tagLst>
</file>

<file path=ppt/tags/tag8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10.xml><?xml version="1.0" encoding="utf-8"?>
<p:tagLst xmlns:a="http://schemas.openxmlformats.org/drawingml/2006/main" xmlns:r="http://schemas.openxmlformats.org/officeDocument/2006/relationships" xmlns:p="http://schemas.openxmlformats.org/presentationml/2006/main">
  <p:tag name="TOCSHAPE" val="691"/>
  <p:tag name="SLIDEINDEX" val="691"/>
</p:tagLst>
</file>

<file path=ppt/tags/tag8210.xml><?xml version="1.0" encoding="utf-8"?>
<p:tagLst xmlns:a="http://schemas.openxmlformats.org/drawingml/2006/main" xmlns:r="http://schemas.openxmlformats.org/officeDocument/2006/relationships" xmlns:p="http://schemas.openxmlformats.org/presentationml/2006/main">
  <p:tag name="TOCSHAPE" val="694"/>
  <p:tag name="SLIDEINDEX" val="694"/>
</p:tagLst>
</file>

<file path=ppt/tags/tag8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85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8610.xml><?xml version="1.0" encoding="utf-8"?>
<p:tagLst xmlns:a="http://schemas.openxmlformats.org/drawingml/2006/main" xmlns:r="http://schemas.openxmlformats.org/officeDocument/2006/relationships" xmlns:p="http://schemas.openxmlformats.org/presentationml/2006/main">
  <p:tag name="CROSSREFGUID" val="ddb72b19-fda2-4358-bb0e-8633705c0354"/>
</p:tagLst>
</file>

<file path=ppt/tags/tag87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88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89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1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9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92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9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95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96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77D40ED-9DF2-4638-AB11-66FF9EB5959A}" vid="{41B3F61E-24F5-4FEC-9FF3-8C424F5CE963}"/>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77D40ED-9DF2-4638-AB11-66FF9EB5959A}" vid="{CDBBC05D-D0B3-4F98-A6F1-E70D42DBC0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77D40ED-9DF2-4638-AB11-66FF9EB5959A}" vid="{41B3F61E-24F5-4FEC-9FF3-8C424F5CE963}"/>
    </a:ext>
  </a:extLst>
</a:theme>
</file>

<file path=ppt/theme/theme1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2" id="{6F9D073B-8B7E-4CCD-B454-11736666544F}" vid="{CB0E54E2-5236-4DAF-8398-713F6E87C91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3" ma:contentTypeDescription="Create a new document." ma:contentTypeScope="" ma:versionID="49ce59d32244fafc3555ac88ddac5b5e">
  <xsd:schema xmlns:xsd="http://www.w3.org/2001/XMLSchema" xmlns:xs="http://www.w3.org/2001/XMLSchema" xmlns:p="http://schemas.microsoft.com/office/2006/metadata/properties" xmlns:ns2="30996f19-b754-4f90-98d6-c022be1420b3" targetNamespace="http://schemas.microsoft.com/office/2006/metadata/properties" ma:root="true" ma:fieldsID="3088549978a36abaff21658d2d0e2d44" ns2:_="">
    <xsd:import namespace="30996f19-b754-4f90-98d6-c022be1420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E72566-D19C-46FB-9549-7A2AD2EE2DB9}">
  <ds:schemaRefs>
    <ds:schemaRef ds:uri="http://schemas.microsoft.com/office/2006/documentManagement/types"/>
    <ds:schemaRef ds:uri="http://schemas.microsoft.com/office/2006/metadata/properties"/>
    <ds:schemaRef ds:uri="http://purl.org/dc/elements/1.1/"/>
    <ds:schemaRef ds:uri="http://purl.org/dc/dcmitype/"/>
    <ds:schemaRef ds:uri="http://purl.org/dc/terms/"/>
    <ds:schemaRef ds:uri="http://schemas.microsoft.com/office/infopath/2007/PartnerControls"/>
    <ds:schemaRef ds:uri="http://schemas.openxmlformats.org/package/2006/metadata/core-properties"/>
    <ds:schemaRef ds:uri="738bc414-7d40-4155-996b-d69b89e6c999"/>
    <ds:schemaRef ds:uri="http://www.w3.org/XML/1998/namespace"/>
    <ds:schemaRef ds:uri="237d7031-c013-4976-ba76-21317a5d1e00"/>
    <ds:schemaRef ds:uri="28f9f7f6-4107-470b-ac82-3b7552cf37a6"/>
  </ds:schemaRefs>
</ds:datastoreItem>
</file>

<file path=customXml/itemProps2.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3.xml><?xml version="1.0" encoding="utf-8"?>
<ds:datastoreItem xmlns:ds="http://schemas.openxmlformats.org/officeDocument/2006/customXml" ds:itemID="{DB618675-CFEB-47D6-9DE2-DBC1795FB82C}"/>
</file>

<file path=docProps/app.xml><?xml version="1.0" encoding="utf-8"?>
<Properties xmlns="http://schemas.openxmlformats.org/officeDocument/2006/extended-properties" xmlns:vt="http://schemas.openxmlformats.org/officeDocument/2006/docPropsVTypes">
  <Template>UpSlideTemplate</Template>
  <TotalTime>1824</TotalTime>
  <Words>33294</Words>
  <Application>Microsoft Office PowerPoint</Application>
  <PresentationFormat>Widescreen</PresentationFormat>
  <Paragraphs>3546</Paragraphs>
  <Slides>103</Slides>
  <Notes>10</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103</vt:i4>
      </vt:variant>
    </vt:vector>
  </HeadingPairs>
  <TitlesOfParts>
    <vt:vector size="109" baseType="lpstr">
      <vt:lpstr>Arial</vt:lpstr>
      <vt:lpstr>KPMG Bold</vt:lpstr>
      <vt:lpstr>Univers for KPMG Light</vt:lpstr>
      <vt:lpstr>KPMG Widescreen - UpSlide</vt:lpstr>
      <vt:lpstr>UpSlide Table Of Content Master (do not edit)</vt:lpstr>
      <vt:lpstr>think-cell Slide</vt:lpstr>
      <vt:lpstr>Project Y </vt:lpstr>
      <vt:lpstr>PowerPoint Presentation</vt:lpstr>
      <vt:lpstr>Contents</vt:lpstr>
      <vt:lpstr>PowerPoint Presentation</vt:lpstr>
      <vt:lpstr>Business overview</vt:lpstr>
      <vt:lpstr>Trading overview</vt:lpstr>
      <vt:lpstr>Operational model</vt:lpstr>
      <vt:lpstr>Online sales drivers</vt:lpstr>
      <vt:lpstr>Summary financials</vt:lpstr>
      <vt:lpstr>Key financial drivers </vt:lpstr>
      <vt:lpstr>Headlines (1/3)</vt:lpstr>
      <vt:lpstr>Headlines (2/3)</vt:lpstr>
      <vt:lpstr>Headlines (3/3)</vt:lpstr>
      <vt:lpstr>Key findings — Financial (1/4)</vt:lpstr>
      <vt:lpstr>Key findings — Financial (2/4)</vt:lpstr>
      <vt:lpstr>Key findings — Financial (3/4)</vt:lpstr>
      <vt:lpstr>Key findings — Financial (4/4)</vt:lpstr>
      <vt:lpstr>PowerPoint Presentation</vt:lpstr>
      <vt:lpstr>Profit &amp; loss overview</vt:lpstr>
      <vt:lpstr>Quality of earnings (1/7)</vt:lpstr>
      <vt:lpstr>Quality of earnings (2/7)</vt:lpstr>
      <vt:lpstr>Quality of earnings (3/7)</vt:lpstr>
      <vt:lpstr>Quality of earnings (4/7)</vt:lpstr>
      <vt:lpstr>Quality of earnings (5/7)</vt:lpstr>
      <vt:lpstr>Quality of earnings (6/7)</vt:lpstr>
      <vt:lpstr>Quality of earnings (7/7)</vt:lpstr>
      <vt:lpstr>Revenue bridge</vt:lpstr>
      <vt:lpstr>EBITDA bridge</vt:lpstr>
      <vt:lpstr>Business drivers — Net sales breakdown (1/2)</vt:lpstr>
      <vt:lpstr>Business drivers — Net sales breakdown (2/2)</vt:lpstr>
      <vt:lpstr>Business drivers — Revenue % seasonality</vt:lpstr>
      <vt:lpstr>Business drivers — Gross margin % seasonality</vt:lpstr>
      <vt:lpstr>Business drivers — Rolling LTM revenue and EBITDA</vt:lpstr>
      <vt:lpstr>Business drivers — Impact of Covid-19</vt:lpstr>
      <vt:lpstr>Business drivers — Impact of Covid-19</vt:lpstr>
      <vt:lpstr>Business drivers - Revenue and GM by product category (1)</vt:lpstr>
      <vt:lpstr>Business drivers - Revenue and GM by product category (2)</vt:lpstr>
      <vt:lpstr>Business drivers - Revenue and GM by product category (3)</vt:lpstr>
      <vt:lpstr>Business drivers - Revenue and GM by region</vt:lpstr>
      <vt:lpstr>Business drivers – SKU concentration</vt:lpstr>
      <vt:lpstr>Cost base - Overview</vt:lpstr>
      <vt:lpstr>PowerPoint Presentation</vt:lpstr>
      <vt:lpstr>Current trading and run rate</vt:lpstr>
      <vt:lpstr>Historical budgeting accuracy</vt:lpstr>
      <vt:lpstr>Forecast revenue bridge</vt:lpstr>
      <vt:lpstr>Forecast EBITDA bridge</vt:lpstr>
      <vt:lpstr>Upsides and sensitivities (1/5)</vt:lpstr>
      <vt:lpstr>Upsides and sensitivities (2/5)</vt:lpstr>
      <vt:lpstr>Upsides and sensitivities (3/5)</vt:lpstr>
      <vt:lpstr>Upsides and sensitivities (4/5)</vt:lpstr>
      <vt:lpstr>Upsides and sensitivities (5/5)</vt:lpstr>
      <vt:lpstr>PowerPoint Presentation</vt:lpstr>
      <vt:lpstr>Balance sheet overview (1/2)</vt:lpstr>
      <vt:lpstr>Balance sheet overview (2/2)</vt:lpstr>
      <vt:lpstr>Net working capital — Overview (1/2)</vt:lpstr>
      <vt:lpstr>Net working capital — Overview (2/2)</vt:lpstr>
      <vt:lpstr>Net working capital — Monthly</vt:lpstr>
      <vt:lpstr>Net cash (1/3)</vt:lpstr>
      <vt:lpstr>Net cash (2/3)</vt:lpstr>
      <vt:lpstr>Net cash (3/3)</vt:lpstr>
      <vt:lpstr>Stock (1/5)</vt:lpstr>
      <vt:lpstr>Stock (2/5)</vt:lpstr>
      <vt:lpstr>Stock (3/5)</vt:lpstr>
      <vt:lpstr>Stock (4/5)</vt:lpstr>
      <vt:lpstr>Stock (5/5)</vt:lpstr>
      <vt:lpstr>Trade creditors (1/2)</vt:lpstr>
      <vt:lpstr>Trade creditors (2/2)</vt:lpstr>
      <vt:lpstr>Accruals and other creditors (1/5)</vt:lpstr>
      <vt:lpstr>Accruals and other creditors (2/5)</vt:lpstr>
      <vt:lpstr>Accruals and other creditors (3/5)</vt:lpstr>
      <vt:lpstr>Accruals and other creditors (4/5)</vt:lpstr>
      <vt:lpstr>Accruals and other creditors (5/5)</vt:lpstr>
      <vt:lpstr>PowerPoint Presentation</vt:lpstr>
      <vt:lpstr>Operating cash flow</vt:lpstr>
      <vt:lpstr>Capital expenditure</vt:lpstr>
      <vt:lpstr>Illustrative intra month cash requirement</vt:lpstr>
      <vt:lpstr>PowerPoint Presentation</vt:lpstr>
      <vt:lpstr>Financial reporting environment (1)</vt:lpstr>
      <vt:lpstr>Financial reporting environment (2)</vt:lpstr>
      <vt:lpstr>Accounting policies</vt:lpstr>
      <vt:lpstr>PowerPoint Presentation</vt:lpstr>
      <vt:lpstr>Engagement &amp; data integrity</vt:lpstr>
      <vt:lpstr>Important notice</vt:lpstr>
      <vt:lpstr>Basis of preparation</vt:lpstr>
      <vt:lpstr>Scope of work (1/8)</vt:lpstr>
      <vt:lpstr>Scope of work (2/8)</vt:lpstr>
      <vt:lpstr>Scope of work (3/8)</vt:lpstr>
      <vt:lpstr>Scope of work (4/8)</vt:lpstr>
      <vt:lpstr>Scope of work (5/8)</vt:lpstr>
      <vt:lpstr>Scope of work (6/8)</vt:lpstr>
      <vt:lpstr>Scope of work (7/8)</vt:lpstr>
      <vt:lpstr>Scope of work (8/8)</vt:lpstr>
      <vt:lpstr>Group and management structure</vt:lpstr>
      <vt:lpstr>Glossary of terms and abbreviations (1/3)</vt:lpstr>
      <vt:lpstr>Glossary of terms and abbreviations (2/3)</vt:lpstr>
      <vt:lpstr>Glossary of terms and abbreviations (3/3)</vt:lpstr>
      <vt:lpstr>Historical trading - online</vt:lpstr>
      <vt:lpstr>Historical trading - retail</vt:lpstr>
      <vt:lpstr>Cost base</vt:lpstr>
      <vt:lpstr>Trading - other</vt:lpstr>
      <vt:lpstr>Balance sheet breakdowns</vt:lpstr>
      <vt:lpstr>Forecast assumptions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UpSlide x Diligence +</dc:title>
  <dc:creator>barry</dc:creator>
  <cp:lastModifiedBy>KGS</cp:lastModifiedBy>
  <cp:revision>32</cp:revision>
  <dcterms:created xsi:type="dcterms:W3CDTF">2023-02-27T18:04:11Z</dcterms:created>
  <dcterms:modified xsi:type="dcterms:W3CDTF">2023-12-13T11:14:22Z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ies>
</file>